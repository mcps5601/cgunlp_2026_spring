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44"/>
  </p:notesMasterIdLst>
  <p:sldIdLst>
    <p:sldId id="508" r:id="rId2"/>
    <p:sldId id="278" r:id="rId3"/>
    <p:sldId id="694" r:id="rId4"/>
    <p:sldId id="734" r:id="rId5"/>
    <p:sldId id="735" r:id="rId6"/>
    <p:sldId id="736" r:id="rId7"/>
    <p:sldId id="737" r:id="rId8"/>
    <p:sldId id="732" r:id="rId9"/>
    <p:sldId id="738" r:id="rId10"/>
    <p:sldId id="674" r:id="rId11"/>
    <p:sldId id="730" r:id="rId12"/>
    <p:sldId id="544" r:id="rId13"/>
    <p:sldId id="545" r:id="rId14"/>
    <p:sldId id="550" r:id="rId15"/>
    <p:sldId id="275" r:id="rId16"/>
    <p:sldId id="731" r:id="rId17"/>
    <p:sldId id="724" r:id="rId18"/>
    <p:sldId id="273" r:id="rId19"/>
    <p:sldId id="721" r:id="rId20"/>
    <p:sldId id="571" r:id="rId21"/>
    <p:sldId id="570" r:id="rId22"/>
    <p:sldId id="733" r:id="rId23"/>
    <p:sldId id="487" r:id="rId24"/>
    <p:sldId id="488" r:id="rId25"/>
    <p:sldId id="489" r:id="rId26"/>
    <p:sldId id="584" r:id="rId27"/>
    <p:sldId id="589" r:id="rId28"/>
    <p:sldId id="588" r:id="rId29"/>
    <p:sldId id="345" r:id="rId30"/>
    <p:sldId id="347" r:id="rId31"/>
    <p:sldId id="572" r:id="rId32"/>
    <p:sldId id="567" r:id="rId33"/>
    <p:sldId id="590" r:id="rId34"/>
    <p:sldId id="591" r:id="rId35"/>
    <p:sldId id="569" r:id="rId36"/>
    <p:sldId id="593" r:id="rId37"/>
    <p:sldId id="490" r:id="rId38"/>
    <p:sldId id="573" r:id="rId39"/>
    <p:sldId id="592" r:id="rId40"/>
    <p:sldId id="560" r:id="rId41"/>
    <p:sldId id="586" r:id="rId42"/>
    <p:sldId id="739" r:id="rId4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F773BFB9-3CF9-6F4C-8A7C-856EA42EA4CE}">
          <p14:sldIdLst>
            <p14:sldId id="508"/>
            <p14:sldId id="278"/>
            <p14:sldId id="694"/>
            <p14:sldId id="734"/>
            <p14:sldId id="735"/>
            <p14:sldId id="736"/>
            <p14:sldId id="737"/>
            <p14:sldId id="732"/>
            <p14:sldId id="738"/>
            <p14:sldId id="674"/>
            <p14:sldId id="730"/>
            <p14:sldId id="544"/>
            <p14:sldId id="545"/>
            <p14:sldId id="550"/>
            <p14:sldId id="275"/>
            <p14:sldId id="731"/>
            <p14:sldId id="724"/>
            <p14:sldId id="273"/>
            <p14:sldId id="721"/>
            <p14:sldId id="571"/>
            <p14:sldId id="570"/>
          </p14:sldIdLst>
        </p14:section>
        <p14:section name="w2v" id="{C3BFDE14-7485-4040-8CE0-9546B35DBBA6}">
          <p14:sldIdLst>
            <p14:sldId id="733"/>
            <p14:sldId id="487"/>
            <p14:sldId id="488"/>
            <p14:sldId id="489"/>
            <p14:sldId id="584"/>
            <p14:sldId id="589"/>
            <p14:sldId id="588"/>
            <p14:sldId id="345"/>
            <p14:sldId id="347"/>
            <p14:sldId id="572"/>
            <p14:sldId id="567"/>
            <p14:sldId id="590"/>
            <p14:sldId id="591"/>
            <p14:sldId id="569"/>
            <p14:sldId id="593"/>
            <p14:sldId id="490"/>
            <p14:sldId id="573"/>
            <p14:sldId id="592"/>
            <p14:sldId id="560"/>
            <p14:sldId id="586"/>
            <p14:sldId id="73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5AED6"/>
    <a:srgbClr val="FF9400"/>
    <a:srgbClr val="FFCE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789"/>
    <p:restoredTop sz="96327"/>
  </p:normalViewPr>
  <p:slideViewPr>
    <p:cSldViewPr snapToGrid="0">
      <p:cViewPr varScale="1">
        <p:scale>
          <a:sx n="173" d="100"/>
          <a:sy n="173" d="100"/>
        </p:scale>
        <p:origin x="200" y="3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3" d="100"/>
          <a:sy n="93" d="100"/>
        </p:scale>
        <p:origin x="3568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DBE83B-754F-B948-8CD7-D8047F5EE2C4}" type="datetimeFigureOut">
              <a:rPr kumimoji="1" lang="zh-TW" altLang="en-US" smtClean="0"/>
              <a:t>2026/3/1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836D1C-D09F-2A41-BBEA-6549EF3DDB6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9514198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TW" altLang="en-US"/>
              <a:t>按一下以編輯母片子標題樣式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dirty="0"/>
              <a:t>3/1/26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553428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3143" y="356088"/>
            <a:ext cx="10918371" cy="1033416"/>
          </a:xfrm>
        </p:spPr>
        <p:txBody>
          <a:bodyPr/>
          <a:lstStyle>
            <a:lvl1pPr marL="0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3143" y="1845734"/>
            <a:ext cx="10918371" cy="40233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400"/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/>
            </a:lvl1pPr>
          </a:lstStyle>
          <a:p>
            <a:endParaRPr lang="en-US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47DAD89E-131D-FDCA-9260-AC4191103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12955" y="6415560"/>
            <a:ext cx="1312025" cy="3651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fld id="{6113E31D-E2AB-40D1-8B51-AFA5AFEF393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8B05C12B-E59D-D8B7-A3B4-27931CBD675F}"/>
              </a:ext>
            </a:extLst>
          </p:cNvPr>
          <p:cNvSpPr txBox="1"/>
          <p:nvPr userDrawn="1"/>
        </p:nvSpPr>
        <p:spPr>
          <a:xfrm>
            <a:off x="423038" y="6442992"/>
            <a:ext cx="557608" cy="268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kumimoji="1" lang="en-US" altLang="zh-TW" sz="1400" dirty="0">
                <a:ea typeface="Nanum Brush Script" panose="03060600000000000000" pitchFamily="66" charset="-127"/>
                <a:cs typeface="Arial" panose="020B0604020202020204" pitchFamily="34" charset="0"/>
              </a:rPr>
              <a:t>NLP</a:t>
            </a:r>
            <a:endParaRPr kumimoji="1" lang="zh-TW" altLang="en-US" sz="1400" dirty="0">
              <a:cs typeface="Arial" panose="020B0604020202020204" pitchFamily="34" charset="0"/>
            </a:endParaRPr>
          </a:p>
        </p:txBody>
      </p:sp>
      <p:pic>
        <p:nvPicPr>
          <p:cNvPr id="7" name="圖形 6" descr="聊天泡泡 外框">
            <a:extLst>
              <a:ext uri="{FF2B5EF4-FFF2-40B4-BE49-F238E27FC236}">
                <a16:creationId xmlns:a16="http://schemas.microsoft.com/office/drawing/2014/main" id="{0B067696-6EA5-0A4A-14B8-D7C17072FE9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1093" y="6388664"/>
            <a:ext cx="377640" cy="377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86838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dirty="0"/>
              <a:t>3/1/26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9116564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dirty="0"/>
              <a:t>3/1/26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DAB314-DF41-49F3-8643-5960470A9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56088"/>
            <a:ext cx="10058400" cy="103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649639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dirty="0"/>
              <a:t>3/1/26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6FF28B-EE0C-0976-1882-688F90260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56088"/>
            <a:ext cx="10058400" cy="103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3792004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dirty="0"/>
              <a:t>3/1/26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8DE478E-C0B1-6FFC-0061-DA2334C3F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56088"/>
            <a:ext cx="10058400" cy="103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6719898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dirty="0"/>
              <a:t>3/1/26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310670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2ABBEA6-7C60-4B02-AE87-00D78D8422AF}" type="datetimeFigureOut">
              <a:rPr lang="en-US" dirty="0"/>
              <a:t>3/1/26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226812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dirty="0"/>
              <a:t>3/1/26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161626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dirty="0"/>
              <a:t>3/1/26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5B6B208-0D45-71D0-C7BE-D6974D30E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56088"/>
            <a:ext cx="10058400" cy="1033416"/>
          </a:xfrm>
        </p:spPr>
        <p:txBody>
          <a:bodyPr/>
          <a:lstStyle>
            <a:lvl1pPr marL="0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10684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dirty="0"/>
              <a:t>3/1/26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143666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676003" y="1355758"/>
            <a:ext cx="10839994" cy="45719"/>
          </a:xfrm>
          <a:prstGeom prst="rect">
            <a:avLst/>
          </a:prstGeom>
          <a:solidFill>
            <a:srgbClr val="FF94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356088"/>
            <a:ext cx="10058400" cy="103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CGU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101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sli.do/event/aHseUsADmWmyndH7bc16jf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0.png"/><Relationship Id="rId4" Type="http://schemas.openxmlformats.org/officeDocument/2006/relationships/image" Target="../media/image16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0.png"/><Relationship Id="rId7" Type="http://schemas.openxmlformats.org/officeDocument/2006/relationships/image" Target="../media/image250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0.png"/><Relationship Id="rId5" Type="http://schemas.openxmlformats.org/officeDocument/2006/relationships/image" Target="../media/image230.png"/><Relationship Id="rId4" Type="http://schemas.openxmlformats.org/officeDocument/2006/relationships/image" Target="../media/image220.png"/><Relationship Id="rId9" Type="http://schemas.openxmlformats.org/officeDocument/2006/relationships/image" Target="../media/image27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圓角矩形 7">
            <a:extLst>
              <a:ext uri="{FF2B5EF4-FFF2-40B4-BE49-F238E27FC236}">
                <a16:creationId xmlns:a16="http://schemas.microsoft.com/office/drawing/2014/main" id="{AA8F8551-2C61-48D1-9E5C-345C10BAAC8B}"/>
              </a:ext>
            </a:extLst>
          </p:cNvPr>
          <p:cNvSpPr/>
          <p:nvPr/>
        </p:nvSpPr>
        <p:spPr>
          <a:xfrm>
            <a:off x="667422" y="1891904"/>
            <a:ext cx="10857156" cy="2857500"/>
          </a:xfrm>
          <a:prstGeom prst="roundRect">
            <a:avLst/>
          </a:prstGeom>
          <a:solidFill>
            <a:srgbClr val="FFCE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8C058193-D513-E805-2BD5-118E50D976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9623" y="2056517"/>
            <a:ext cx="10857156" cy="2758710"/>
          </a:xfrm>
        </p:spPr>
        <p:txBody>
          <a:bodyPr anchor="ctr">
            <a:noAutofit/>
          </a:bodyPr>
          <a:lstStyle/>
          <a:p>
            <a:r>
              <a:rPr kumimoji="1" lang="zh-TW" altLang="en-US" sz="4800" b="1" dirty="0">
                <a:ea typeface="Microsoft JhengHei" panose="020B0604030504040204" pitchFamily="34" charset="-120"/>
              </a:rPr>
              <a:t>自然語言處理與應用</a:t>
            </a:r>
            <a:br>
              <a:rPr kumimoji="1" lang="en-US" altLang="zh-TW" sz="4800" b="1" dirty="0">
                <a:ea typeface="Microsoft JhengHei" panose="020B0604030504040204" pitchFamily="34" charset="-120"/>
              </a:rPr>
            </a:br>
            <a:r>
              <a:rPr kumimoji="1" lang="en-US" altLang="zh-TW" sz="4800" b="1" dirty="0">
                <a:ea typeface="Microsoft JhengHei" panose="020B0604030504040204" pitchFamily="34" charset="-120"/>
              </a:rPr>
              <a:t>Natural Language Processing and Applications</a:t>
            </a:r>
            <a:endParaRPr kumimoji="1" lang="zh-TW" altLang="en-US" sz="4800" b="1" dirty="0">
              <a:ea typeface="Microsoft JhengHei" panose="020B0604030504040204" pitchFamily="34" charset="-12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6598A032-0E8B-F9E1-A926-2F2E78D575C6}"/>
              </a:ext>
            </a:extLst>
          </p:cNvPr>
          <p:cNvSpPr txBox="1"/>
          <p:nvPr/>
        </p:nvSpPr>
        <p:spPr>
          <a:xfrm>
            <a:off x="759623" y="4881049"/>
            <a:ext cx="45605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3600" b="1" dirty="0">
                <a:solidFill>
                  <a:srgbClr val="0070C0"/>
                </a:solidFill>
                <a:latin typeface="+mj-lt"/>
                <a:cs typeface="Calibri" panose="020F0502020204030204" pitchFamily="34" charset="0"/>
              </a:rPr>
              <a:t>文字向量基礎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2F843A79-3FEF-CDAD-6B9A-C5A7AD279D2D}"/>
              </a:ext>
            </a:extLst>
          </p:cNvPr>
          <p:cNvSpPr txBox="1"/>
          <p:nvPr/>
        </p:nvSpPr>
        <p:spPr>
          <a:xfrm>
            <a:off x="759623" y="5914787"/>
            <a:ext cx="41826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000" b="1" dirty="0">
                <a:latin typeface="+mj-lt"/>
                <a:ea typeface="Microsoft JhengHei" panose="020B0604030504040204" pitchFamily="34" charset="-120"/>
                <a:cs typeface="Calibri" panose="020F0502020204030204" pitchFamily="34" charset="0"/>
              </a:rPr>
              <a:t>Instructor: </a:t>
            </a:r>
            <a:r>
              <a:rPr kumimoji="1" lang="zh-TW" altLang="en-US" sz="2000" b="1" dirty="0">
                <a:latin typeface="+mj-lt"/>
                <a:ea typeface="Microsoft JhengHei" panose="020B0604030504040204" pitchFamily="34" charset="-120"/>
                <a:cs typeface="Calibri" panose="020F0502020204030204" pitchFamily="34" charset="0"/>
              </a:rPr>
              <a:t>林英嘉 </a:t>
            </a:r>
            <a:r>
              <a:rPr kumimoji="1" lang="en-US" altLang="zh-TW" sz="2000" b="1" dirty="0">
                <a:latin typeface="+mj-lt"/>
                <a:ea typeface="Microsoft JhengHei" panose="020B0604030504040204" pitchFamily="34" charset="-120"/>
                <a:cs typeface="Calibri" panose="020F0502020204030204" pitchFamily="34" charset="0"/>
              </a:rPr>
              <a:t>(Ying-Jia Lin)</a:t>
            </a:r>
          </a:p>
          <a:p>
            <a:r>
              <a:rPr kumimoji="1" lang="en-US" altLang="zh-TW" sz="2000" b="1" dirty="0">
                <a:latin typeface="+mj-lt"/>
                <a:ea typeface="Microsoft JhengHei" panose="020B0604030504040204" pitchFamily="34" charset="-120"/>
                <a:cs typeface="Calibri" panose="020F0502020204030204" pitchFamily="34" charset="0"/>
              </a:rPr>
              <a:t>2026/03/02</a:t>
            </a:r>
            <a:endParaRPr kumimoji="1" lang="zh-TW" altLang="en-US" sz="2000" b="1" dirty="0">
              <a:latin typeface="+mj-lt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2C0C8410-1877-4FB2-39F9-E0CFE0480E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0118" y="130472"/>
            <a:ext cx="1394460" cy="1394460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A6DEED3F-C826-615A-5EF9-02C833E509E8}"/>
              </a:ext>
            </a:extLst>
          </p:cNvPr>
          <p:cNvSpPr txBox="1"/>
          <p:nvPr/>
        </p:nvSpPr>
        <p:spPr>
          <a:xfrm>
            <a:off x="10149996" y="5391531"/>
            <a:ext cx="15583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dirty="0" err="1"/>
              <a:t>Slido</a:t>
            </a:r>
            <a:endParaRPr kumimoji="1" lang="en" altLang="zh-TW" dirty="0"/>
          </a:p>
          <a:p>
            <a:r>
              <a:rPr kumimoji="1" lang="en" altLang="zh-TW" dirty="0"/>
              <a:t># NLP0302 (</a:t>
            </a:r>
            <a:r>
              <a:rPr kumimoji="1" lang="en" altLang="zh-TW" dirty="0">
                <a:hlinkClick r:id="rId3"/>
              </a:rPr>
              <a:t>Link</a:t>
            </a:r>
            <a:r>
              <a:rPr kumimoji="1" lang="en" altLang="zh-TW" dirty="0"/>
              <a:t>)</a:t>
            </a:r>
            <a:endParaRPr kumimoji="1"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7660833-ED5D-653F-4266-ADA7388E43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4773" y="4941027"/>
            <a:ext cx="1707807" cy="1707807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25D8B8BA-01EA-719E-DB6F-35B59009F0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2346" y="4730501"/>
            <a:ext cx="2108982" cy="2108982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5E320E30-561F-DF85-CC02-2709CD58A10B}"/>
              </a:ext>
            </a:extLst>
          </p:cNvPr>
          <p:cNvSpPr txBox="1"/>
          <p:nvPr/>
        </p:nvSpPr>
        <p:spPr>
          <a:xfrm>
            <a:off x="7303909" y="5642689"/>
            <a:ext cx="1011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dirty="0"/>
              <a:t>GitHub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65992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C729B53-50E5-64FF-C825-124AD6476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Outline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89A3BFD-11F7-B87C-8992-2C59714FB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23B00E6F-FB7E-6C2C-CB88-2CA5416A0A67}"/>
              </a:ext>
            </a:extLst>
          </p:cNvPr>
          <p:cNvSpPr txBox="1"/>
          <p:nvPr/>
        </p:nvSpPr>
        <p:spPr>
          <a:xfrm>
            <a:off x="653143" y="1868198"/>
            <a:ext cx="10918370" cy="2239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b="1" dirty="0">
                <a:solidFill>
                  <a:srgbClr val="0070C0"/>
                </a:solidFill>
              </a:rPr>
              <a:t>文字向量基礎</a:t>
            </a:r>
            <a:endParaRPr kumimoji="1" lang="en-US" altLang="zh-TW" sz="2400" b="1" dirty="0">
              <a:solidFill>
                <a:srgbClr val="0070C0"/>
              </a:solidFill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b="1" dirty="0"/>
              <a:t>Introduction to embeddings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Sentence embeddings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Word embeddings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F0F36C7-FD81-C42F-E30B-986747AB63FE}"/>
              </a:ext>
            </a:extLst>
          </p:cNvPr>
          <p:cNvSpPr/>
          <p:nvPr/>
        </p:nvSpPr>
        <p:spPr>
          <a:xfrm>
            <a:off x="1049154" y="2531444"/>
            <a:ext cx="4649002" cy="49088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439042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FEDECBF-1CAE-1B26-F24E-4954D182A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影像 </a:t>
            </a:r>
            <a:r>
              <a:rPr kumimoji="1" lang="en-US" altLang="zh-TW" dirty="0"/>
              <a:t>vs. </a:t>
            </a:r>
            <a:r>
              <a:rPr kumimoji="1" lang="zh-TW" altLang="en-US" dirty="0"/>
              <a:t>文字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F3E92C2-211B-DA29-2BF2-F4DA33472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EEBC7127-154F-9C33-52B7-035DCE9B3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0022" y="2342347"/>
            <a:ext cx="1469858" cy="1477697"/>
          </a:xfrm>
          <a:prstGeom prst="rect">
            <a:avLst/>
          </a:prstGeom>
        </p:spPr>
      </p:pic>
      <p:cxnSp>
        <p:nvCxnSpPr>
          <p:cNvPr id="6" name="直線箭頭接點 5">
            <a:extLst>
              <a:ext uri="{FF2B5EF4-FFF2-40B4-BE49-F238E27FC236}">
                <a16:creationId xmlns:a16="http://schemas.microsoft.com/office/drawing/2014/main" id="{A1FEA643-C81C-3390-7119-7239A186A66C}"/>
              </a:ext>
            </a:extLst>
          </p:cNvPr>
          <p:cNvCxnSpPr>
            <a:cxnSpLocks/>
          </p:cNvCxnSpPr>
          <p:nvPr/>
        </p:nvCxnSpPr>
        <p:spPr>
          <a:xfrm>
            <a:off x="5055287" y="3138647"/>
            <a:ext cx="56346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字方塊 6">
            <a:extLst>
              <a:ext uri="{FF2B5EF4-FFF2-40B4-BE49-F238E27FC236}">
                <a16:creationId xmlns:a16="http://schemas.microsoft.com/office/drawing/2014/main" id="{9479F864-5932-82AC-74D1-D9567162C935}"/>
              </a:ext>
            </a:extLst>
          </p:cNvPr>
          <p:cNvSpPr txBox="1"/>
          <p:nvPr/>
        </p:nvSpPr>
        <p:spPr>
          <a:xfrm>
            <a:off x="6011516" y="2846259"/>
            <a:ext cx="31515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3200" dirty="0"/>
              <a:t>28</a:t>
            </a:r>
            <a:r>
              <a:rPr kumimoji="1" lang="zh-TW" altLang="en-US" sz="3200" dirty="0"/>
              <a:t> </a:t>
            </a:r>
            <a:r>
              <a:rPr kumimoji="1" lang="en-US" altLang="zh-TW" sz="3200" dirty="0"/>
              <a:t>x</a:t>
            </a:r>
            <a:r>
              <a:rPr kumimoji="1" lang="zh-TW" altLang="en-US" sz="3200" dirty="0"/>
              <a:t> </a:t>
            </a:r>
            <a:r>
              <a:rPr kumimoji="1" lang="en-US" altLang="zh-TW" sz="3200" dirty="0"/>
              <a:t>28 </a:t>
            </a:r>
            <a:r>
              <a:rPr kumimoji="1" lang="zh-TW" altLang="en-US" sz="3200" dirty="0"/>
              <a:t>的矩陣</a:t>
            </a:r>
          </a:p>
        </p:txBody>
      </p:sp>
      <p:cxnSp>
        <p:nvCxnSpPr>
          <p:cNvPr id="9" name="直線箭頭接點 8">
            <a:extLst>
              <a:ext uri="{FF2B5EF4-FFF2-40B4-BE49-F238E27FC236}">
                <a16:creationId xmlns:a16="http://schemas.microsoft.com/office/drawing/2014/main" id="{CD4E822C-A082-FDB9-7FFC-F56ECED87EBE}"/>
              </a:ext>
            </a:extLst>
          </p:cNvPr>
          <p:cNvCxnSpPr>
            <a:cxnSpLocks/>
          </p:cNvCxnSpPr>
          <p:nvPr/>
        </p:nvCxnSpPr>
        <p:spPr>
          <a:xfrm>
            <a:off x="5055287" y="5350667"/>
            <a:ext cx="56346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字方塊 9">
            <a:extLst>
              <a:ext uri="{FF2B5EF4-FFF2-40B4-BE49-F238E27FC236}">
                <a16:creationId xmlns:a16="http://schemas.microsoft.com/office/drawing/2014/main" id="{5DCA2D4B-D5DA-3C8A-91AF-0EA090AB03E1}"/>
              </a:ext>
            </a:extLst>
          </p:cNvPr>
          <p:cNvSpPr txBox="1"/>
          <p:nvPr/>
        </p:nvSpPr>
        <p:spPr>
          <a:xfrm>
            <a:off x="5768056" y="5064011"/>
            <a:ext cx="11984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3200" dirty="0"/>
              <a:t>?</a:t>
            </a:r>
            <a:endParaRPr kumimoji="1" lang="zh-TW" altLang="en-US" sz="3200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65004EEB-8254-10DC-AAC9-C7AF4929FCAB}"/>
              </a:ext>
            </a:extLst>
          </p:cNvPr>
          <p:cNvSpPr txBox="1"/>
          <p:nvPr/>
        </p:nvSpPr>
        <p:spPr>
          <a:xfrm>
            <a:off x="1495082" y="5064011"/>
            <a:ext cx="36662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800" dirty="0"/>
              <a:t>I want to study AI</a:t>
            </a:r>
            <a:endParaRPr kumimoji="1" lang="zh-TW" altLang="en-US" sz="28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29843B0F-F742-2B53-19C8-D013759AC5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9530" y="4563776"/>
            <a:ext cx="2099756" cy="15737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A8116B2D-5703-6D90-8B7E-88FCD7CB1D33}"/>
              </a:ext>
            </a:extLst>
          </p:cNvPr>
          <p:cNvSpPr txBox="1"/>
          <p:nvPr/>
        </p:nvSpPr>
        <p:spPr>
          <a:xfrm>
            <a:off x="7855802" y="6286468"/>
            <a:ext cx="341316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100" dirty="0"/>
              <a:t>Figure source: https://</a:t>
            </a:r>
            <a:r>
              <a:rPr kumimoji="1" lang="en-US" altLang="zh-TW" sz="1100" dirty="0" err="1"/>
              <a:t>kopu.chat</a:t>
            </a:r>
            <a:r>
              <a:rPr kumimoji="1" lang="en-US" altLang="zh-TW" sz="1100" dirty="0"/>
              <a:t>/wp-content/uploads/2017/04/binary-507x380.jpeg</a:t>
            </a:r>
            <a:endParaRPr kumimoji="1" lang="zh-TW" altLang="en-US" sz="1100" dirty="0"/>
          </a:p>
        </p:txBody>
      </p:sp>
    </p:spTree>
    <p:extLst>
      <p:ext uri="{BB962C8B-B14F-4D97-AF65-F5344CB8AC3E}">
        <p14:creationId xmlns:p14="http://schemas.microsoft.com/office/powerpoint/2010/main" val="3903899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3EBBA0F-2A99-0C66-D569-0003EFE15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Embeddings</a:t>
            </a:r>
            <a:r>
              <a:rPr kumimoji="1" lang="zh-TW" altLang="en-US" dirty="0"/>
              <a:t>（嵌入）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97874BB-B58B-DFFF-A237-0C87DE3964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kumimoji="1" lang="zh-TW" altLang="en-US" sz="2400" dirty="0"/>
              <a:t>💡在</a:t>
            </a:r>
            <a:r>
              <a:rPr kumimoji="1" lang="en-US" altLang="zh-TW" sz="2400" dirty="0"/>
              <a:t>NLP </a:t>
            </a:r>
            <a:r>
              <a:rPr kumimoji="1" lang="zh-TW" altLang="en-US" sz="2400" dirty="0"/>
              <a:t>中，</a:t>
            </a:r>
            <a:r>
              <a:rPr kumimoji="1" lang="en" altLang="zh-TW" sz="2400" dirty="0"/>
              <a:t>Embedding</a:t>
            </a:r>
            <a:r>
              <a:rPr kumimoji="1" lang="en-US" altLang="zh-TW" sz="2400" dirty="0"/>
              <a:t>s </a:t>
            </a:r>
            <a:r>
              <a:rPr kumimoji="1" lang="zh-TW" altLang="en-US" sz="2400" dirty="0"/>
              <a:t>代表把文字（</a:t>
            </a:r>
            <a:r>
              <a:rPr kumimoji="1" lang="en" altLang="zh-TW" sz="2400" dirty="0"/>
              <a:t>word</a:t>
            </a:r>
            <a:r>
              <a:rPr kumimoji="1" lang="zh-TW" altLang="en-US" sz="2400" dirty="0"/>
              <a:t> </a:t>
            </a:r>
            <a:r>
              <a:rPr kumimoji="1" lang="en-US" altLang="zh-TW" sz="2400" dirty="0"/>
              <a:t>/ </a:t>
            </a:r>
            <a:r>
              <a:rPr kumimoji="1" lang="en" altLang="zh-TW" sz="2400" dirty="0"/>
              <a:t>token </a:t>
            </a:r>
            <a:r>
              <a:rPr kumimoji="1" lang="en-US" altLang="zh-TW" sz="2400" dirty="0"/>
              <a:t>/ sentence</a:t>
            </a:r>
            <a:r>
              <a:rPr kumimoji="1" lang="zh-TW" altLang="en" sz="2400" dirty="0"/>
              <a:t>）</a:t>
            </a:r>
            <a:r>
              <a:rPr kumimoji="1" lang="zh-TW" altLang="en-US" sz="2400" dirty="0"/>
              <a:t>映射成向量，使得向量之間的距離或方向能反映它在語料中的用法與語意相似性。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2433592-C644-3E8D-048B-AF99A4AC7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圓角矩形 4">
            <a:extLst>
              <a:ext uri="{FF2B5EF4-FFF2-40B4-BE49-F238E27FC236}">
                <a16:creationId xmlns:a16="http://schemas.microsoft.com/office/drawing/2014/main" id="{0954E226-0776-37D2-2937-18DC82C4F3F2}"/>
              </a:ext>
            </a:extLst>
          </p:cNvPr>
          <p:cNvSpPr/>
          <p:nvPr/>
        </p:nvSpPr>
        <p:spPr>
          <a:xfrm>
            <a:off x="1164653" y="3607157"/>
            <a:ext cx="1819175" cy="50051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Tokyo</a:t>
            </a:r>
            <a:endParaRPr kumimoji="1" lang="zh-TW" altLang="en-US" dirty="0"/>
          </a:p>
        </p:txBody>
      </p:sp>
      <p:sp>
        <p:nvSpPr>
          <p:cNvPr id="6" name="圓角矩形 5">
            <a:extLst>
              <a:ext uri="{FF2B5EF4-FFF2-40B4-BE49-F238E27FC236}">
                <a16:creationId xmlns:a16="http://schemas.microsoft.com/office/drawing/2014/main" id="{FAAAF02D-E016-201A-C6CF-99371631A152}"/>
              </a:ext>
            </a:extLst>
          </p:cNvPr>
          <p:cNvSpPr/>
          <p:nvPr/>
        </p:nvSpPr>
        <p:spPr>
          <a:xfrm>
            <a:off x="1164652" y="4225490"/>
            <a:ext cx="1819175" cy="50051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Kuala Lumpur</a:t>
            </a:r>
            <a:endParaRPr kumimoji="1" lang="zh-TW" altLang="en-US" dirty="0"/>
          </a:p>
        </p:txBody>
      </p:sp>
      <p:sp>
        <p:nvSpPr>
          <p:cNvPr id="7" name="圓角矩形 6">
            <a:extLst>
              <a:ext uri="{FF2B5EF4-FFF2-40B4-BE49-F238E27FC236}">
                <a16:creationId xmlns:a16="http://schemas.microsoft.com/office/drawing/2014/main" id="{40A2768E-4967-F0BA-3049-32C5E05E94A0}"/>
              </a:ext>
            </a:extLst>
          </p:cNvPr>
          <p:cNvSpPr/>
          <p:nvPr/>
        </p:nvSpPr>
        <p:spPr>
          <a:xfrm>
            <a:off x="1164651" y="4828039"/>
            <a:ext cx="1819175" cy="50051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Japan</a:t>
            </a:r>
            <a:endParaRPr kumimoji="1" lang="zh-TW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8724B7B-536F-2E9E-1069-5A31F045162C}"/>
              </a:ext>
            </a:extLst>
          </p:cNvPr>
          <p:cNvSpPr/>
          <p:nvPr/>
        </p:nvSpPr>
        <p:spPr>
          <a:xfrm>
            <a:off x="4052235" y="4023360"/>
            <a:ext cx="3311091" cy="136678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Embedding Model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10" name="圓角矩形 9">
            <a:extLst>
              <a:ext uri="{FF2B5EF4-FFF2-40B4-BE49-F238E27FC236}">
                <a16:creationId xmlns:a16="http://schemas.microsoft.com/office/drawing/2014/main" id="{2F993336-647E-29FC-8F6F-45629A309734}"/>
              </a:ext>
            </a:extLst>
          </p:cNvPr>
          <p:cNvSpPr/>
          <p:nvPr/>
        </p:nvSpPr>
        <p:spPr>
          <a:xfrm>
            <a:off x="8181474" y="3597532"/>
            <a:ext cx="3137836" cy="51013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[0.12, 0.33, 0.73, ...]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1" name="圓角矩形 10">
            <a:extLst>
              <a:ext uri="{FF2B5EF4-FFF2-40B4-BE49-F238E27FC236}">
                <a16:creationId xmlns:a16="http://schemas.microsoft.com/office/drawing/2014/main" id="{4B0E274E-4D91-870A-B7A2-F89000E952E3}"/>
              </a:ext>
            </a:extLst>
          </p:cNvPr>
          <p:cNvSpPr/>
          <p:nvPr/>
        </p:nvSpPr>
        <p:spPr>
          <a:xfrm>
            <a:off x="8181474" y="4219708"/>
            <a:ext cx="3137836" cy="51013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[0.24, 0.63, 0.39, ...]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35F1D473-177C-14D1-CC1D-891A143FA0A7}"/>
              </a:ext>
            </a:extLst>
          </p:cNvPr>
          <p:cNvSpPr/>
          <p:nvPr/>
        </p:nvSpPr>
        <p:spPr>
          <a:xfrm>
            <a:off x="8181474" y="5409397"/>
            <a:ext cx="3137836" cy="51013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[0.18, 0.47, 0.75, ...]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24" name="圓角矩形 23">
            <a:extLst>
              <a:ext uri="{FF2B5EF4-FFF2-40B4-BE49-F238E27FC236}">
                <a16:creationId xmlns:a16="http://schemas.microsoft.com/office/drawing/2014/main" id="{574AF2D0-FD46-345C-2D7D-404400D01BA7}"/>
              </a:ext>
            </a:extLst>
          </p:cNvPr>
          <p:cNvSpPr/>
          <p:nvPr/>
        </p:nvSpPr>
        <p:spPr>
          <a:xfrm>
            <a:off x="1164651" y="5419598"/>
            <a:ext cx="1819175" cy="50051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Malaysia</a:t>
            </a:r>
            <a:endParaRPr kumimoji="1" lang="zh-TW" altLang="en-US" dirty="0"/>
          </a:p>
        </p:txBody>
      </p:sp>
      <p:sp>
        <p:nvSpPr>
          <p:cNvPr id="25" name="圓角矩形 24">
            <a:extLst>
              <a:ext uri="{FF2B5EF4-FFF2-40B4-BE49-F238E27FC236}">
                <a16:creationId xmlns:a16="http://schemas.microsoft.com/office/drawing/2014/main" id="{3F33C0D4-F1EC-EDC2-8300-A0D24DEAECE1}"/>
              </a:ext>
            </a:extLst>
          </p:cNvPr>
          <p:cNvSpPr/>
          <p:nvPr/>
        </p:nvSpPr>
        <p:spPr>
          <a:xfrm>
            <a:off x="8181474" y="4814552"/>
            <a:ext cx="3137836" cy="51013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[0.03, 0.86, 0.21, ...]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cxnSp>
        <p:nvCxnSpPr>
          <p:cNvPr id="26" name="直線箭頭接點 25">
            <a:extLst>
              <a:ext uri="{FF2B5EF4-FFF2-40B4-BE49-F238E27FC236}">
                <a16:creationId xmlns:a16="http://schemas.microsoft.com/office/drawing/2014/main" id="{E817877E-0B12-6C24-0C3C-BE79DBF11B7C}"/>
              </a:ext>
            </a:extLst>
          </p:cNvPr>
          <p:cNvCxnSpPr>
            <a:cxnSpLocks/>
          </p:cNvCxnSpPr>
          <p:nvPr/>
        </p:nvCxnSpPr>
        <p:spPr>
          <a:xfrm>
            <a:off x="3276215" y="3864450"/>
            <a:ext cx="48126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箭頭接點 26">
            <a:extLst>
              <a:ext uri="{FF2B5EF4-FFF2-40B4-BE49-F238E27FC236}">
                <a16:creationId xmlns:a16="http://schemas.microsoft.com/office/drawing/2014/main" id="{F3C23116-905C-16EE-97F5-23B58C353DBD}"/>
              </a:ext>
            </a:extLst>
          </p:cNvPr>
          <p:cNvCxnSpPr>
            <a:cxnSpLocks/>
          </p:cNvCxnSpPr>
          <p:nvPr/>
        </p:nvCxnSpPr>
        <p:spPr>
          <a:xfrm>
            <a:off x="3276215" y="4466564"/>
            <a:ext cx="48126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箭頭接點 27">
            <a:extLst>
              <a:ext uri="{FF2B5EF4-FFF2-40B4-BE49-F238E27FC236}">
                <a16:creationId xmlns:a16="http://schemas.microsoft.com/office/drawing/2014/main" id="{1C088A54-A2A6-97EE-0D98-9416CB0DACD0}"/>
              </a:ext>
            </a:extLst>
          </p:cNvPr>
          <p:cNvCxnSpPr>
            <a:cxnSpLocks/>
          </p:cNvCxnSpPr>
          <p:nvPr/>
        </p:nvCxnSpPr>
        <p:spPr>
          <a:xfrm>
            <a:off x="3276215" y="5068678"/>
            <a:ext cx="48126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箭頭接點 28">
            <a:extLst>
              <a:ext uri="{FF2B5EF4-FFF2-40B4-BE49-F238E27FC236}">
                <a16:creationId xmlns:a16="http://schemas.microsoft.com/office/drawing/2014/main" id="{790B9FAE-1943-89AD-F62C-AD3B780826A5}"/>
              </a:ext>
            </a:extLst>
          </p:cNvPr>
          <p:cNvCxnSpPr>
            <a:cxnSpLocks/>
          </p:cNvCxnSpPr>
          <p:nvPr/>
        </p:nvCxnSpPr>
        <p:spPr>
          <a:xfrm>
            <a:off x="3276215" y="5670792"/>
            <a:ext cx="48126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箭頭接點 29">
            <a:extLst>
              <a:ext uri="{FF2B5EF4-FFF2-40B4-BE49-F238E27FC236}">
                <a16:creationId xmlns:a16="http://schemas.microsoft.com/office/drawing/2014/main" id="{9C75A6C5-07A1-5647-DB3F-65E4E731F92A}"/>
              </a:ext>
            </a:extLst>
          </p:cNvPr>
          <p:cNvCxnSpPr>
            <a:cxnSpLocks/>
          </p:cNvCxnSpPr>
          <p:nvPr/>
        </p:nvCxnSpPr>
        <p:spPr>
          <a:xfrm>
            <a:off x="7538602" y="3864450"/>
            <a:ext cx="48126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箭頭接點 30">
            <a:extLst>
              <a:ext uri="{FF2B5EF4-FFF2-40B4-BE49-F238E27FC236}">
                <a16:creationId xmlns:a16="http://schemas.microsoft.com/office/drawing/2014/main" id="{EC76A1E4-990D-A775-AE77-0A88E68FFE2D}"/>
              </a:ext>
            </a:extLst>
          </p:cNvPr>
          <p:cNvCxnSpPr>
            <a:cxnSpLocks/>
          </p:cNvCxnSpPr>
          <p:nvPr/>
        </p:nvCxnSpPr>
        <p:spPr>
          <a:xfrm>
            <a:off x="7538602" y="4466564"/>
            <a:ext cx="48126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箭頭接點 31">
            <a:extLst>
              <a:ext uri="{FF2B5EF4-FFF2-40B4-BE49-F238E27FC236}">
                <a16:creationId xmlns:a16="http://schemas.microsoft.com/office/drawing/2014/main" id="{0E96A30B-3864-C708-749A-9518B711D0BB}"/>
              </a:ext>
            </a:extLst>
          </p:cNvPr>
          <p:cNvCxnSpPr>
            <a:cxnSpLocks/>
          </p:cNvCxnSpPr>
          <p:nvPr/>
        </p:nvCxnSpPr>
        <p:spPr>
          <a:xfrm>
            <a:off x="7538602" y="5068678"/>
            <a:ext cx="48126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箭頭接點 32">
            <a:extLst>
              <a:ext uri="{FF2B5EF4-FFF2-40B4-BE49-F238E27FC236}">
                <a16:creationId xmlns:a16="http://schemas.microsoft.com/office/drawing/2014/main" id="{76841CAA-00CC-6AB5-A684-6CEC13856156}"/>
              </a:ext>
            </a:extLst>
          </p:cNvPr>
          <p:cNvCxnSpPr>
            <a:cxnSpLocks/>
          </p:cNvCxnSpPr>
          <p:nvPr/>
        </p:nvCxnSpPr>
        <p:spPr>
          <a:xfrm>
            <a:off x="7538602" y="5670792"/>
            <a:ext cx="48126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11654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1F87D96-62E5-8E94-9B32-C82F0478D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/>
              <a:t>Embedding: </a:t>
            </a:r>
            <a:r>
              <a:rPr kumimoji="1" lang="zh-TW" altLang="en-US" dirty="0"/>
              <a:t>把</a:t>
            </a:r>
            <a:r>
              <a:rPr kumimoji="1" lang="en-US" altLang="zh-TW" dirty="0"/>
              <a:t>(</a:t>
            </a:r>
            <a:r>
              <a:rPr kumimoji="1" lang="zh-TW" altLang="en-US" dirty="0"/>
              <a:t>語義</a:t>
            </a:r>
            <a:r>
              <a:rPr kumimoji="1" lang="en-US" altLang="zh-TW" dirty="0"/>
              <a:t>)</a:t>
            </a:r>
            <a:r>
              <a:rPr kumimoji="1" lang="zh-TW" altLang="en-US" dirty="0"/>
              <a:t>資訊嵌入到向量中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3AB6339-1B2D-69A0-FCF1-87CBDA38B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</a:t>
            </a:fld>
            <a:endParaRPr lang="en-US" dirty="0"/>
          </a:p>
        </p:txBody>
      </p:sp>
      <p:cxnSp>
        <p:nvCxnSpPr>
          <p:cNvPr id="12" name="直線箭頭接點 11">
            <a:extLst>
              <a:ext uri="{FF2B5EF4-FFF2-40B4-BE49-F238E27FC236}">
                <a16:creationId xmlns:a16="http://schemas.microsoft.com/office/drawing/2014/main" id="{EE590D36-F75C-8688-FB39-73C751427ED6}"/>
              </a:ext>
            </a:extLst>
          </p:cNvPr>
          <p:cNvCxnSpPr>
            <a:cxnSpLocks/>
          </p:cNvCxnSpPr>
          <p:nvPr/>
        </p:nvCxnSpPr>
        <p:spPr>
          <a:xfrm>
            <a:off x="6500678" y="3797889"/>
            <a:ext cx="48126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E91669B5-12A7-6592-FD9C-C4A76DD0FCC9}"/>
              </a:ext>
            </a:extLst>
          </p:cNvPr>
          <p:cNvSpPr txBox="1"/>
          <p:nvPr/>
        </p:nvSpPr>
        <p:spPr>
          <a:xfrm>
            <a:off x="9464338" y="2327440"/>
            <a:ext cx="6737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2800" dirty="0"/>
              <a:t>📍</a:t>
            </a: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CC2C7CD4-1945-EAB2-4D28-6842834CE07C}"/>
              </a:ext>
            </a:extLst>
          </p:cNvPr>
          <p:cNvSpPr txBox="1"/>
          <p:nvPr/>
        </p:nvSpPr>
        <p:spPr>
          <a:xfrm>
            <a:off x="10051480" y="2327440"/>
            <a:ext cx="924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Tokyo</a:t>
            </a:r>
            <a:endParaRPr kumimoji="1" lang="zh-TW" altLang="en-US" dirty="0"/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F5171588-E532-2FBA-799A-CE96EC1836E9}"/>
              </a:ext>
            </a:extLst>
          </p:cNvPr>
          <p:cNvSpPr txBox="1"/>
          <p:nvPr/>
        </p:nvSpPr>
        <p:spPr>
          <a:xfrm>
            <a:off x="8793779" y="3026790"/>
            <a:ext cx="6737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2800" dirty="0"/>
              <a:t>🇯🇵</a:t>
            </a: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20B285CC-B70D-F7D5-0612-4FC83B4D74AD}"/>
              </a:ext>
            </a:extLst>
          </p:cNvPr>
          <p:cNvSpPr txBox="1"/>
          <p:nvPr/>
        </p:nvSpPr>
        <p:spPr>
          <a:xfrm>
            <a:off x="9380921" y="3025196"/>
            <a:ext cx="924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Japan</a:t>
            </a:r>
            <a:endParaRPr kumimoji="1" lang="zh-TW" altLang="en-US" dirty="0"/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46248B53-BABB-1B8F-A194-C27D25C42743}"/>
              </a:ext>
            </a:extLst>
          </p:cNvPr>
          <p:cNvSpPr txBox="1"/>
          <p:nvPr/>
        </p:nvSpPr>
        <p:spPr>
          <a:xfrm>
            <a:off x="8062256" y="4199364"/>
            <a:ext cx="6737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2800" dirty="0"/>
              <a:t>📍</a:t>
            </a: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86D342D0-3366-41FE-E75A-5C421E84549A}"/>
              </a:ext>
            </a:extLst>
          </p:cNvPr>
          <p:cNvSpPr txBox="1"/>
          <p:nvPr/>
        </p:nvSpPr>
        <p:spPr>
          <a:xfrm>
            <a:off x="8649398" y="4199364"/>
            <a:ext cx="16555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Kuala Lumpur</a:t>
            </a: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448BFF37-A6E0-A97A-6200-3676CB6B8D90}"/>
              </a:ext>
            </a:extLst>
          </p:cNvPr>
          <p:cNvSpPr txBox="1"/>
          <p:nvPr/>
        </p:nvSpPr>
        <p:spPr>
          <a:xfrm>
            <a:off x="7417365" y="4790992"/>
            <a:ext cx="6737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2800" dirty="0"/>
              <a:t>🇲🇾</a:t>
            </a: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48F737AB-9F55-EA38-3DAD-977FC3B71BD1}"/>
              </a:ext>
            </a:extLst>
          </p:cNvPr>
          <p:cNvSpPr txBox="1"/>
          <p:nvPr/>
        </p:nvSpPr>
        <p:spPr>
          <a:xfrm>
            <a:off x="8004507" y="4790992"/>
            <a:ext cx="1158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Malaysia</a:t>
            </a:r>
            <a:endParaRPr kumimoji="1" lang="zh-TW" altLang="en-US" dirty="0"/>
          </a:p>
        </p:txBody>
      </p:sp>
      <p:sp>
        <p:nvSpPr>
          <p:cNvPr id="32" name="圓角矩形 31">
            <a:extLst>
              <a:ext uri="{FF2B5EF4-FFF2-40B4-BE49-F238E27FC236}">
                <a16:creationId xmlns:a16="http://schemas.microsoft.com/office/drawing/2014/main" id="{65A608FA-7601-6A80-C542-3162B30C1509}"/>
              </a:ext>
            </a:extLst>
          </p:cNvPr>
          <p:cNvSpPr/>
          <p:nvPr/>
        </p:nvSpPr>
        <p:spPr>
          <a:xfrm>
            <a:off x="764021" y="2645448"/>
            <a:ext cx="1819175" cy="50051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Tokyo</a:t>
            </a:r>
            <a:endParaRPr kumimoji="1" lang="zh-TW" altLang="en-US" dirty="0"/>
          </a:p>
        </p:txBody>
      </p:sp>
      <p:sp>
        <p:nvSpPr>
          <p:cNvPr id="33" name="圓角矩形 32">
            <a:extLst>
              <a:ext uri="{FF2B5EF4-FFF2-40B4-BE49-F238E27FC236}">
                <a16:creationId xmlns:a16="http://schemas.microsoft.com/office/drawing/2014/main" id="{4ED23612-26FB-F238-4975-3845FC20F42D}"/>
              </a:ext>
            </a:extLst>
          </p:cNvPr>
          <p:cNvSpPr/>
          <p:nvPr/>
        </p:nvSpPr>
        <p:spPr>
          <a:xfrm>
            <a:off x="764020" y="3263781"/>
            <a:ext cx="1819175" cy="50051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Kuala Lumpur</a:t>
            </a:r>
            <a:endParaRPr kumimoji="1" lang="zh-TW" altLang="en-US" dirty="0"/>
          </a:p>
        </p:txBody>
      </p:sp>
      <p:sp>
        <p:nvSpPr>
          <p:cNvPr id="34" name="圓角矩形 33">
            <a:extLst>
              <a:ext uri="{FF2B5EF4-FFF2-40B4-BE49-F238E27FC236}">
                <a16:creationId xmlns:a16="http://schemas.microsoft.com/office/drawing/2014/main" id="{521762F5-5F5C-1B3E-D12A-DC273E3E1C3F}"/>
              </a:ext>
            </a:extLst>
          </p:cNvPr>
          <p:cNvSpPr/>
          <p:nvPr/>
        </p:nvSpPr>
        <p:spPr>
          <a:xfrm>
            <a:off x="764019" y="3866330"/>
            <a:ext cx="1819175" cy="50051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Japan</a:t>
            </a:r>
            <a:endParaRPr kumimoji="1" lang="zh-TW" altLang="en-US" dirty="0"/>
          </a:p>
        </p:txBody>
      </p:sp>
      <p:sp>
        <p:nvSpPr>
          <p:cNvPr id="35" name="圓角矩形 34">
            <a:extLst>
              <a:ext uri="{FF2B5EF4-FFF2-40B4-BE49-F238E27FC236}">
                <a16:creationId xmlns:a16="http://schemas.microsoft.com/office/drawing/2014/main" id="{868EF9F0-ABFF-4BCC-7817-3AD86590AD9F}"/>
              </a:ext>
            </a:extLst>
          </p:cNvPr>
          <p:cNvSpPr/>
          <p:nvPr/>
        </p:nvSpPr>
        <p:spPr>
          <a:xfrm>
            <a:off x="764019" y="4457889"/>
            <a:ext cx="1819175" cy="50051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Malaysia</a:t>
            </a:r>
            <a:endParaRPr kumimoji="1" lang="zh-TW" altLang="en-US" dirty="0"/>
          </a:p>
        </p:txBody>
      </p:sp>
      <p:sp>
        <p:nvSpPr>
          <p:cNvPr id="36" name="圓角矩形 35">
            <a:extLst>
              <a:ext uri="{FF2B5EF4-FFF2-40B4-BE49-F238E27FC236}">
                <a16:creationId xmlns:a16="http://schemas.microsoft.com/office/drawing/2014/main" id="{9657F7F7-5EF0-A0CA-CE25-3C99D8EEC057}"/>
              </a:ext>
            </a:extLst>
          </p:cNvPr>
          <p:cNvSpPr/>
          <p:nvPr/>
        </p:nvSpPr>
        <p:spPr>
          <a:xfrm>
            <a:off x="2710608" y="2636399"/>
            <a:ext cx="3137836" cy="51013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[0.12, 0.33, 0.73, ...]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37" name="圓角矩形 36">
            <a:extLst>
              <a:ext uri="{FF2B5EF4-FFF2-40B4-BE49-F238E27FC236}">
                <a16:creationId xmlns:a16="http://schemas.microsoft.com/office/drawing/2014/main" id="{16B4ED22-E950-631E-E376-B1C6718FCFF5}"/>
              </a:ext>
            </a:extLst>
          </p:cNvPr>
          <p:cNvSpPr/>
          <p:nvPr/>
        </p:nvSpPr>
        <p:spPr>
          <a:xfrm>
            <a:off x="2710608" y="3258575"/>
            <a:ext cx="3137836" cy="51013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[0.24, 0.63, 0.39, ...]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38" name="圓角矩形 37">
            <a:extLst>
              <a:ext uri="{FF2B5EF4-FFF2-40B4-BE49-F238E27FC236}">
                <a16:creationId xmlns:a16="http://schemas.microsoft.com/office/drawing/2014/main" id="{347F39E7-0B64-0A09-5C9B-6CE09D0E4FE9}"/>
              </a:ext>
            </a:extLst>
          </p:cNvPr>
          <p:cNvSpPr/>
          <p:nvPr/>
        </p:nvSpPr>
        <p:spPr>
          <a:xfrm>
            <a:off x="2710608" y="4448264"/>
            <a:ext cx="3137836" cy="51013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[0.18, 0.47, 0.75, ...]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39" name="圓角矩形 38">
            <a:extLst>
              <a:ext uri="{FF2B5EF4-FFF2-40B4-BE49-F238E27FC236}">
                <a16:creationId xmlns:a16="http://schemas.microsoft.com/office/drawing/2014/main" id="{76D84773-3F07-1A1A-FE33-132F98CAA8D6}"/>
              </a:ext>
            </a:extLst>
          </p:cNvPr>
          <p:cNvSpPr/>
          <p:nvPr/>
        </p:nvSpPr>
        <p:spPr>
          <a:xfrm>
            <a:off x="2710608" y="3853419"/>
            <a:ext cx="3137836" cy="51013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[0.03, 0.86, 0.21, ...]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28424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B8054-A6EE-BD20-19AC-F1D0EB97D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2D6C5E1-0222-E3AE-DC08-14C271750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>
                <a:ea typeface="Microsoft JhengHei" panose="020B0604030504040204" pitchFamily="34" charset="-120"/>
              </a:rPr>
              <a:t>詞向量視覺化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275D792-04C8-BE4C-82CE-75233B825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F7A581B9-3E0F-432C-79DD-EA34021CE9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292" y="1557721"/>
            <a:ext cx="6011384" cy="5133189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926C9EB6-8670-4FEB-3B06-3185FA3B5DBD}"/>
              </a:ext>
            </a:extLst>
          </p:cNvPr>
          <p:cNvSpPr txBox="1"/>
          <p:nvPr/>
        </p:nvSpPr>
        <p:spPr>
          <a:xfrm>
            <a:off x="7667928" y="3240812"/>
            <a:ext cx="396826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" altLang="zh-TW" sz="2000" b="1" dirty="0"/>
              <a:t>Word embedding model</a:t>
            </a:r>
            <a:r>
              <a:rPr kumimoji="1" lang="en" altLang="zh-TW" sz="2000" dirty="0"/>
              <a:t>: glove-wiki-gigaword-100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" altLang="zh-TW" sz="2000" b="1" dirty="0"/>
              <a:t>Dimension reduction</a:t>
            </a:r>
            <a:r>
              <a:rPr kumimoji="1" lang="en" altLang="zh-TW" sz="2000" dirty="0"/>
              <a:t>: t-SNE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" altLang="zh-TW" sz="2000" b="1" dirty="0"/>
              <a:t>Dataset</a:t>
            </a:r>
            <a:r>
              <a:rPr kumimoji="1" lang="en" altLang="zh-TW" sz="2000" dirty="0"/>
              <a:t>: </a:t>
            </a:r>
            <a:r>
              <a:rPr kumimoji="1" lang="en" altLang="zh-TW" sz="2000" dirty="0" err="1"/>
              <a:t>Mikolov</a:t>
            </a:r>
            <a:r>
              <a:rPr kumimoji="1" lang="en" altLang="zh-TW" sz="2000" dirty="0"/>
              <a:t> et al., 2013</a:t>
            </a:r>
            <a:endParaRPr kumimoji="1" lang="zh-TW" altLang="en-US" sz="2000" dirty="0"/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5806EC74-663E-DA5A-465E-B704FF2C478E}"/>
              </a:ext>
            </a:extLst>
          </p:cNvPr>
          <p:cNvSpPr/>
          <p:nvPr/>
        </p:nvSpPr>
        <p:spPr>
          <a:xfrm>
            <a:off x="1329179" y="2658359"/>
            <a:ext cx="933254" cy="89554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FCAD5A95-CC41-A8A1-E65C-D0D91B36C8F5}"/>
              </a:ext>
            </a:extLst>
          </p:cNvPr>
          <p:cNvSpPr/>
          <p:nvPr/>
        </p:nvSpPr>
        <p:spPr>
          <a:xfrm>
            <a:off x="4922363" y="5702576"/>
            <a:ext cx="771427" cy="63223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8B956508-3B72-955F-FF0A-6858CE7BA4C6}"/>
              </a:ext>
            </a:extLst>
          </p:cNvPr>
          <p:cNvSpPr txBox="1"/>
          <p:nvPr/>
        </p:nvSpPr>
        <p:spPr>
          <a:xfrm>
            <a:off x="7861955" y="5240911"/>
            <a:ext cx="29788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Try it: https://</a:t>
            </a:r>
            <a:r>
              <a:rPr kumimoji="1" lang="en-US" altLang="zh-TW" dirty="0" err="1"/>
              <a:t>www.cs.cmu.edu</a:t>
            </a:r>
            <a:r>
              <a:rPr kumimoji="1" lang="en-US" altLang="zh-TW" dirty="0"/>
              <a:t>/~</a:t>
            </a:r>
            <a:r>
              <a:rPr kumimoji="1" lang="en-US" altLang="zh-TW" dirty="0" err="1"/>
              <a:t>dst</a:t>
            </a:r>
            <a:r>
              <a:rPr kumimoji="1" lang="en-US" altLang="zh-TW" dirty="0"/>
              <a:t>/</a:t>
            </a:r>
            <a:r>
              <a:rPr kumimoji="1" lang="en-US" altLang="zh-TW" dirty="0" err="1"/>
              <a:t>WordEmbeddingDemo</a:t>
            </a:r>
            <a:r>
              <a:rPr kumimoji="1" lang="en-US" altLang="zh-TW" dirty="0"/>
              <a:t>/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41866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1E44CCF-6731-9850-930D-49D8A7EBC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TW" dirty="0"/>
              <a:t>ChatGPT</a:t>
            </a:r>
            <a:r>
              <a:rPr kumimoji="1" lang="zh-TW" altLang="en-US" dirty="0"/>
              <a:t> 也是在根據向量的語義進行回答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4C35798-77DA-B3CF-618E-7B49F11C2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31162DD4-0D12-0666-CFAF-583B69942B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766734"/>
            <a:ext cx="7772400" cy="4648826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D922F23A-4C19-37F2-D0A7-88EEAA8D5269}"/>
              </a:ext>
            </a:extLst>
          </p:cNvPr>
          <p:cNvSpPr/>
          <p:nvPr/>
        </p:nvSpPr>
        <p:spPr>
          <a:xfrm>
            <a:off x="8402855" y="1925052"/>
            <a:ext cx="394636" cy="25025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4A6D530-9D27-8BC5-F84B-8D48DFED6D4D}"/>
              </a:ext>
            </a:extLst>
          </p:cNvPr>
          <p:cNvSpPr/>
          <p:nvPr/>
        </p:nvSpPr>
        <p:spPr>
          <a:xfrm>
            <a:off x="3453866" y="4310513"/>
            <a:ext cx="394636" cy="25025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29220BB-3948-25E9-EEAF-A01D1FDB534F}"/>
              </a:ext>
            </a:extLst>
          </p:cNvPr>
          <p:cNvSpPr/>
          <p:nvPr/>
        </p:nvSpPr>
        <p:spPr>
          <a:xfrm>
            <a:off x="3453865" y="4649243"/>
            <a:ext cx="790875" cy="25025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0430100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F98F0E-AE54-EF1E-DCF8-476FB2442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556DBC2-5E10-636D-F0F0-D6B75F4B0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Outline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892ECC0-10CF-793A-538F-ABD127C80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433F5B32-57E0-7109-E28F-1CA164F6E2C6}"/>
              </a:ext>
            </a:extLst>
          </p:cNvPr>
          <p:cNvSpPr txBox="1"/>
          <p:nvPr/>
        </p:nvSpPr>
        <p:spPr>
          <a:xfrm>
            <a:off x="653143" y="1868198"/>
            <a:ext cx="10918370" cy="2239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b="1" dirty="0">
                <a:solidFill>
                  <a:srgbClr val="0070C0"/>
                </a:solidFill>
              </a:rPr>
              <a:t>文字向量基礎</a:t>
            </a:r>
            <a:endParaRPr kumimoji="1" lang="en-US" altLang="zh-TW" sz="2400" b="1" dirty="0">
              <a:solidFill>
                <a:srgbClr val="0070C0"/>
              </a:solidFill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b="1" dirty="0"/>
              <a:t>Introduction to embeddings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Sentence embeddings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Word embeddings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10CA109-168A-8E5C-4DE6-B191E7C9771E}"/>
              </a:ext>
            </a:extLst>
          </p:cNvPr>
          <p:cNvSpPr/>
          <p:nvPr/>
        </p:nvSpPr>
        <p:spPr>
          <a:xfrm>
            <a:off x="1049154" y="3080084"/>
            <a:ext cx="3753852" cy="49088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486681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77F902-A8B1-A988-1A94-C443B1100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詞向量 </a:t>
            </a:r>
            <a:r>
              <a:rPr kumimoji="1" lang="en-US" altLang="zh-TW" dirty="0"/>
              <a:t>vs. </a:t>
            </a:r>
            <a:r>
              <a:rPr kumimoji="1" lang="zh-TW" altLang="en-US" dirty="0"/>
              <a:t>句向量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ACE0C5D-6568-FD7D-137B-9A91E0428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圓角矩形 4">
            <a:extLst>
              <a:ext uri="{FF2B5EF4-FFF2-40B4-BE49-F238E27FC236}">
                <a16:creationId xmlns:a16="http://schemas.microsoft.com/office/drawing/2014/main" id="{7F4F4F2E-388B-40CF-B0E3-C01F6D708B55}"/>
              </a:ext>
            </a:extLst>
          </p:cNvPr>
          <p:cNvSpPr/>
          <p:nvPr/>
        </p:nvSpPr>
        <p:spPr>
          <a:xfrm>
            <a:off x="999553" y="2573688"/>
            <a:ext cx="1819175" cy="50051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Tokyo</a:t>
            </a:r>
            <a:endParaRPr kumimoji="1" lang="zh-TW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90C2CCC-C776-52DD-E802-C9E7FC88638F}"/>
              </a:ext>
            </a:extLst>
          </p:cNvPr>
          <p:cNvSpPr/>
          <p:nvPr/>
        </p:nvSpPr>
        <p:spPr>
          <a:xfrm>
            <a:off x="3884765" y="2147587"/>
            <a:ext cx="3311091" cy="136678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Word Embedding Model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9" name="圓角矩形 8">
            <a:extLst>
              <a:ext uri="{FF2B5EF4-FFF2-40B4-BE49-F238E27FC236}">
                <a16:creationId xmlns:a16="http://schemas.microsoft.com/office/drawing/2014/main" id="{CC3DAAC0-8440-7C3A-5D34-25FC30B3DBF8}"/>
              </a:ext>
            </a:extLst>
          </p:cNvPr>
          <p:cNvSpPr/>
          <p:nvPr/>
        </p:nvSpPr>
        <p:spPr>
          <a:xfrm>
            <a:off x="8016374" y="2564063"/>
            <a:ext cx="3137836" cy="51013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[0.12, 0.33, 0.73, ...]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4" name="直線箭頭接點 13">
            <a:extLst>
              <a:ext uri="{FF2B5EF4-FFF2-40B4-BE49-F238E27FC236}">
                <a16:creationId xmlns:a16="http://schemas.microsoft.com/office/drawing/2014/main" id="{796EDA35-C181-FBDD-B2F4-73DAB2235996}"/>
              </a:ext>
            </a:extLst>
          </p:cNvPr>
          <p:cNvCxnSpPr>
            <a:cxnSpLocks/>
          </p:cNvCxnSpPr>
          <p:nvPr/>
        </p:nvCxnSpPr>
        <p:spPr>
          <a:xfrm>
            <a:off x="3111115" y="2830981"/>
            <a:ext cx="48126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箭頭接點 17">
            <a:extLst>
              <a:ext uri="{FF2B5EF4-FFF2-40B4-BE49-F238E27FC236}">
                <a16:creationId xmlns:a16="http://schemas.microsoft.com/office/drawing/2014/main" id="{E8E893AB-80DE-B1E7-1BF7-64A24C6C8707}"/>
              </a:ext>
            </a:extLst>
          </p:cNvPr>
          <p:cNvCxnSpPr>
            <a:cxnSpLocks/>
          </p:cNvCxnSpPr>
          <p:nvPr/>
        </p:nvCxnSpPr>
        <p:spPr>
          <a:xfrm>
            <a:off x="7373502" y="2830981"/>
            <a:ext cx="48126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圓角矩形 21">
            <a:extLst>
              <a:ext uri="{FF2B5EF4-FFF2-40B4-BE49-F238E27FC236}">
                <a16:creationId xmlns:a16="http://schemas.microsoft.com/office/drawing/2014/main" id="{75282392-EC48-8BD2-24F3-DC85600E8549}"/>
              </a:ext>
            </a:extLst>
          </p:cNvPr>
          <p:cNvSpPr/>
          <p:nvPr/>
        </p:nvSpPr>
        <p:spPr>
          <a:xfrm>
            <a:off x="999553" y="4716790"/>
            <a:ext cx="1819175" cy="50051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dirty="0"/>
              <a:t>晚餐吃什麼？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B148015-7DD3-2E96-B280-C1A35FC9D08E}"/>
              </a:ext>
            </a:extLst>
          </p:cNvPr>
          <p:cNvSpPr/>
          <p:nvPr/>
        </p:nvSpPr>
        <p:spPr>
          <a:xfrm>
            <a:off x="3884765" y="4290689"/>
            <a:ext cx="3311091" cy="136678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Sentence Embedding Model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24" name="圓角矩形 23">
            <a:extLst>
              <a:ext uri="{FF2B5EF4-FFF2-40B4-BE49-F238E27FC236}">
                <a16:creationId xmlns:a16="http://schemas.microsoft.com/office/drawing/2014/main" id="{5A1743E0-D11C-4BBF-40CB-4D4BCA6F889D}"/>
              </a:ext>
            </a:extLst>
          </p:cNvPr>
          <p:cNvSpPr/>
          <p:nvPr/>
        </p:nvSpPr>
        <p:spPr>
          <a:xfrm>
            <a:off x="8016374" y="4707165"/>
            <a:ext cx="3137836" cy="51013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[0.36, 0.45, 0.78, ...]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cxnSp>
        <p:nvCxnSpPr>
          <p:cNvPr id="25" name="直線箭頭接點 24">
            <a:extLst>
              <a:ext uri="{FF2B5EF4-FFF2-40B4-BE49-F238E27FC236}">
                <a16:creationId xmlns:a16="http://schemas.microsoft.com/office/drawing/2014/main" id="{894BBA79-B992-D34C-E025-4618B0853E2D}"/>
              </a:ext>
            </a:extLst>
          </p:cNvPr>
          <p:cNvCxnSpPr>
            <a:cxnSpLocks/>
          </p:cNvCxnSpPr>
          <p:nvPr/>
        </p:nvCxnSpPr>
        <p:spPr>
          <a:xfrm>
            <a:off x="3111115" y="4974083"/>
            <a:ext cx="48126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箭頭接點 25">
            <a:extLst>
              <a:ext uri="{FF2B5EF4-FFF2-40B4-BE49-F238E27FC236}">
                <a16:creationId xmlns:a16="http://schemas.microsoft.com/office/drawing/2014/main" id="{BFECE3E8-3018-86F6-5151-2CE435C1F2B3}"/>
              </a:ext>
            </a:extLst>
          </p:cNvPr>
          <p:cNvCxnSpPr>
            <a:cxnSpLocks/>
          </p:cNvCxnSpPr>
          <p:nvPr/>
        </p:nvCxnSpPr>
        <p:spPr>
          <a:xfrm>
            <a:off x="7373502" y="4974083"/>
            <a:ext cx="48126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2946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D4D648E-8C1B-FE5E-56F4-3D9459390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Google Search (Retrieval)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98151E4-EEA2-72F9-EF2A-76C6618DE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F0268DD4-2C66-7937-FEC0-902E2DAAEDF4}"/>
              </a:ext>
            </a:extLst>
          </p:cNvPr>
          <p:cNvSpPr txBox="1"/>
          <p:nvPr/>
        </p:nvSpPr>
        <p:spPr>
          <a:xfrm>
            <a:off x="650316" y="1716895"/>
            <a:ext cx="10058399" cy="505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Retrieval: get relevant information from a pool (like a search engine)</a:t>
            </a:r>
          </a:p>
        </p:txBody>
      </p:sp>
      <p:pic>
        <p:nvPicPr>
          <p:cNvPr id="10" name="圖形 9" descr="文件 以實心填滿">
            <a:extLst>
              <a:ext uri="{FF2B5EF4-FFF2-40B4-BE49-F238E27FC236}">
                <a16:creationId xmlns:a16="http://schemas.microsoft.com/office/drawing/2014/main" id="{172A629F-D728-E2B3-33A3-15DE795F32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02663" y="2938462"/>
            <a:ext cx="625084" cy="625084"/>
          </a:xfrm>
          <a:prstGeom prst="rect">
            <a:avLst/>
          </a:prstGeom>
        </p:spPr>
      </p:pic>
      <p:pic>
        <p:nvPicPr>
          <p:cNvPr id="13" name="圖形 12" descr="文件 以實心填滿">
            <a:extLst>
              <a:ext uri="{FF2B5EF4-FFF2-40B4-BE49-F238E27FC236}">
                <a16:creationId xmlns:a16="http://schemas.microsoft.com/office/drawing/2014/main" id="{58F3283D-181E-5F8E-3E23-F9777102C3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77579" y="3083120"/>
            <a:ext cx="625084" cy="625084"/>
          </a:xfrm>
          <a:prstGeom prst="rect">
            <a:avLst/>
          </a:prstGeom>
        </p:spPr>
      </p:pic>
      <p:pic>
        <p:nvPicPr>
          <p:cNvPr id="14" name="圖形 13" descr="文件 以實心填滿">
            <a:extLst>
              <a:ext uri="{FF2B5EF4-FFF2-40B4-BE49-F238E27FC236}">
                <a16:creationId xmlns:a16="http://schemas.microsoft.com/office/drawing/2014/main" id="{17F8B6FF-8EB1-9885-97DC-9444F831CC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90121" y="3498232"/>
            <a:ext cx="625084" cy="625084"/>
          </a:xfrm>
          <a:prstGeom prst="rect">
            <a:avLst/>
          </a:prstGeom>
        </p:spPr>
      </p:pic>
      <p:pic>
        <p:nvPicPr>
          <p:cNvPr id="15" name="圖形 14" descr="文件 以實心填滿">
            <a:extLst>
              <a:ext uri="{FF2B5EF4-FFF2-40B4-BE49-F238E27FC236}">
                <a16:creationId xmlns:a16="http://schemas.microsoft.com/office/drawing/2014/main" id="{09E6E070-5AE5-C228-65EC-83526ABEDC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30194" y="3435240"/>
            <a:ext cx="625084" cy="625084"/>
          </a:xfrm>
          <a:prstGeom prst="rect">
            <a:avLst/>
          </a:prstGeom>
        </p:spPr>
      </p:pic>
      <p:pic>
        <p:nvPicPr>
          <p:cNvPr id="16" name="圖形 15" descr="文件 以實心填滿">
            <a:extLst>
              <a:ext uri="{FF2B5EF4-FFF2-40B4-BE49-F238E27FC236}">
                <a16:creationId xmlns:a16="http://schemas.microsoft.com/office/drawing/2014/main" id="{6AC54C3D-5336-6280-0F05-24AE79B537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50048" y="3747782"/>
            <a:ext cx="625084" cy="625084"/>
          </a:xfrm>
          <a:prstGeom prst="rect">
            <a:avLst/>
          </a:prstGeom>
        </p:spPr>
      </p:pic>
      <p:pic>
        <p:nvPicPr>
          <p:cNvPr id="17" name="圖形 16" descr="文件 以實心填滿">
            <a:extLst>
              <a:ext uri="{FF2B5EF4-FFF2-40B4-BE49-F238E27FC236}">
                <a16:creationId xmlns:a16="http://schemas.microsoft.com/office/drawing/2014/main" id="{3F465E48-EC88-1465-FFC8-4A8B043C36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07248" y="4123316"/>
            <a:ext cx="625084" cy="625084"/>
          </a:xfrm>
          <a:prstGeom prst="rect">
            <a:avLst/>
          </a:prstGeom>
        </p:spPr>
      </p:pic>
      <p:pic>
        <p:nvPicPr>
          <p:cNvPr id="18" name="圖形 17" descr="文件 以實心填滿">
            <a:extLst>
              <a:ext uri="{FF2B5EF4-FFF2-40B4-BE49-F238E27FC236}">
                <a16:creationId xmlns:a16="http://schemas.microsoft.com/office/drawing/2014/main" id="{BB247AD3-C731-51A0-C178-874329CDC6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47321" y="3951358"/>
            <a:ext cx="625084" cy="625084"/>
          </a:xfrm>
          <a:prstGeom prst="rect">
            <a:avLst/>
          </a:prstGeom>
        </p:spPr>
      </p:pic>
      <p:pic>
        <p:nvPicPr>
          <p:cNvPr id="19" name="圖形 18" descr="文件 以實心填滿">
            <a:extLst>
              <a:ext uri="{FF2B5EF4-FFF2-40B4-BE49-F238E27FC236}">
                <a16:creationId xmlns:a16="http://schemas.microsoft.com/office/drawing/2014/main" id="{28CDC015-84EB-E1F7-8604-79CE26FEA7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4422" y="3059706"/>
            <a:ext cx="625084" cy="625084"/>
          </a:xfrm>
          <a:prstGeom prst="rect">
            <a:avLst/>
          </a:prstGeom>
        </p:spPr>
      </p:pic>
      <p:pic>
        <p:nvPicPr>
          <p:cNvPr id="20" name="圖形 19" descr="文件 以實心填滿">
            <a:extLst>
              <a:ext uri="{FF2B5EF4-FFF2-40B4-BE49-F238E27FC236}">
                <a16:creationId xmlns:a16="http://schemas.microsoft.com/office/drawing/2014/main" id="{4B2B553E-56C8-4444-B9F1-A69430364E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02928" y="2615089"/>
            <a:ext cx="625084" cy="625084"/>
          </a:xfrm>
          <a:prstGeom prst="rect">
            <a:avLst/>
          </a:prstGeom>
        </p:spPr>
      </p:pic>
      <p:pic>
        <p:nvPicPr>
          <p:cNvPr id="21" name="圖形 20" descr="文件 以實心填滿">
            <a:extLst>
              <a:ext uri="{FF2B5EF4-FFF2-40B4-BE49-F238E27FC236}">
                <a16:creationId xmlns:a16="http://schemas.microsoft.com/office/drawing/2014/main" id="{10B661B6-29F0-302B-BB0A-CEC74BB110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26001" y="2625920"/>
            <a:ext cx="625084" cy="625084"/>
          </a:xfrm>
          <a:prstGeom prst="rect">
            <a:avLst/>
          </a:prstGeom>
        </p:spPr>
      </p:pic>
      <p:pic>
        <p:nvPicPr>
          <p:cNvPr id="22" name="圖形 21" descr="文件 以實心填滿">
            <a:extLst>
              <a:ext uri="{FF2B5EF4-FFF2-40B4-BE49-F238E27FC236}">
                <a16:creationId xmlns:a16="http://schemas.microsoft.com/office/drawing/2014/main" id="{F9BDE5FB-432F-4D55-75AF-92C96B481A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2848" y="3719751"/>
            <a:ext cx="625084" cy="625084"/>
          </a:xfrm>
          <a:prstGeom prst="rect">
            <a:avLst/>
          </a:prstGeom>
        </p:spPr>
      </p:pic>
      <p:pic>
        <p:nvPicPr>
          <p:cNvPr id="23" name="圖形 22" descr="文件 以實心填滿">
            <a:extLst>
              <a:ext uri="{FF2B5EF4-FFF2-40B4-BE49-F238E27FC236}">
                <a16:creationId xmlns:a16="http://schemas.microsoft.com/office/drawing/2014/main" id="{999F39AE-EB8C-A6A6-B105-434923C069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26001" y="4325050"/>
            <a:ext cx="625084" cy="625084"/>
          </a:xfrm>
          <a:prstGeom prst="rect">
            <a:avLst/>
          </a:prstGeom>
        </p:spPr>
      </p:pic>
      <p:pic>
        <p:nvPicPr>
          <p:cNvPr id="24" name="圖形 23" descr="文件 以實心填滿">
            <a:extLst>
              <a:ext uri="{FF2B5EF4-FFF2-40B4-BE49-F238E27FC236}">
                <a16:creationId xmlns:a16="http://schemas.microsoft.com/office/drawing/2014/main" id="{CDC44DE1-8A45-7EA1-75C1-D888467B01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17652" y="4325050"/>
            <a:ext cx="625084" cy="625084"/>
          </a:xfrm>
          <a:prstGeom prst="rect">
            <a:avLst/>
          </a:prstGeom>
        </p:spPr>
      </p:pic>
      <p:pic>
        <p:nvPicPr>
          <p:cNvPr id="25" name="圖形 24" descr="文件 以實心填滿">
            <a:extLst>
              <a:ext uri="{FF2B5EF4-FFF2-40B4-BE49-F238E27FC236}">
                <a16:creationId xmlns:a16="http://schemas.microsoft.com/office/drawing/2014/main" id="{A34B3C36-8DF5-40B3-D214-5EB95C20D6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92397" y="2873148"/>
            <a:ext cx="625084" cy="625084"/>
          </a:xfrm>
          <a:prstGeom prst="rect">
            <a:avLst/>
          </a:prstGeom>
        </p:spPr>
      </p:pic>
      <p:pic>
        <p:nvPicPr>
          <p:cNvPr id="26" name="圖片 25">
            <a:extLst>
              <a:ext uri="{FF2B5EF4-FFF2-40B4-BE49-F238E27FC236}">
                <a16:creationId xmlns:a16="http://schemas.microsoft.com/office/drawing/2014/main" id="{15FD17FF-A278-92C7-E604-667D6AEC42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7839" y="2970547"/>
            <a:ext cx="4550229" cy="1997485"/>
          </a:xfrm>
          <a:prstGeom prst="rect">
            <a:avLst/>
          </a:prstGeom>
        </p:spPr>
      </p:pic>
      <p:cxnSp>
        <p:nvCxnSpPr>
          <p:cNvPr id="27" name="直線箭頭接點 26">
            <a:extLst>
              <a:ext uri="{FF2B5EF4-FFF2-40B4-BE49-F238E27FC236}">
                <a16:creationId xmlns:a16="http://schemas.microsoft.com/office/drawing/2014/main" id="{3D14403B-4919-F181-F603-019C438275A7}"/>
              </a:ext>
            </a:extLst>
          </p:cNvPr>
          <p:cNvCxnSpPr>
            <a:cxnSpLocks/>
          </p:cNvCxnSpPr>
          <p:nvPr/>
        </p:nvCxnSpPr>
        <p:spPr>
          <a:xfrm>
            <a:off x="3541477" y="3951358"/>
            <a:ext cx="616362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箭頭接點 27">
            <a:extLst>
              <a:ext uri="{FF2B5EF4-FFF2-40B4-BE49-F238E27FC236}">
                <a16:creationId xmlns:a16="http://schemas.microsoft.com/office/drawing/2014/main" id="{26F2C14C-CC2D-1CAD-3DCC-23642EDD839F}"/>
              </a:ext>
            </a:extLst>
          </p:cNvPr>
          <p:cNvCxnSpPr>
            <a:cxnSpLocks/>
          </p:cNvCxnSpPr>
          <p:nvPr/>
        </p:nvCxnSpPr>
        <p:spPr>
          <a:xfrm>
            <a:off x="8708068" y="3951358"/>
            <a:ext cx="616362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圖形 28" descr="文件 以實心填滿">
            <a:extLst>
              <a:ext uri="{FF2B5EF4-FFF2-40B4-BE49-F238E27FC236}">
                <a16:creationId xmlns:a16="http://schemas.microsoft.com/office/drawing/2014/main" id="{671175EA-61E4-F0A6-8375-2DAE98B61A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10629" y="2886777"/>
            <a:ext cx="625084" cy="625084"/>
          </a:xfrm>
          <a:prstGeom prst="rect">
            <a:avLst/>
          </a:prstGeom>
        </p:spPr>
      </p:pic>
      <p:pic>
        <p:nvPicPr>
          <p:cNvPr id="30" name="圖形 29" descr="文件 以實心填滿">
            <a:extLst>
              <a:ext uri="{FF2B5EF4-FFF2-40B4-BE49-F238E27FC236}">
                <a16:creationId xmlns:a16="http://schemas.microsoft.com/office/drawing/2014/main" id="{F138B837-31DE-37E1-DBAC-A5A1249D61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10629" y="3623613"/>
            <a:ext cx="625084" cy="625084"/>
          </a:xfrm>
          <a:prstGeom prst="rect">
            <a:avLst/>
          </a:prstGeom>
        </p:spPr>
      </p:pic>
      <p:pic>
        <p:nvPicPr>
          <p:cNvPr id="31" name="圖形 30" descr="文件 以實心填滿">
            <a:extLst>
              <a:ext uri="{FF2B5EF4-FFF2-40B4-BE49-F238E27FC236}">
                <a16:creationId xmlns:a16="http://schemas.microsoft.com/office/drawing/2014/main" id="{7DAE0468-D4CA-AE7E-C2B5-5D48D0A80F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31214" y="4413333"/>
            <a:ext cx="625084" cy="625084"/>
          </a:xfrm>
          <a:prstGeom prst="rect">
            <a:avLst/>
          </a:prstGeom>
        </p:spPr>
      </p:pic>
      <p:pic>
        <p:nvPicPr>
          <p:cNvPr id="33" name="圖形 32" descr="皇冠 以實心填滿">
            <a:extLst>
              <a:ext uri="{FF2B5EF4-FFF2-40B4-BE49-F238E27FC236}">
                <a16:creationId xmlns:a16="http://schemas.microsoft.com/office/drawing/2014/main" id="{DD3475AB-603B-B609-01CA-575FE78D2FD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86526" y="2618178"/>
            <a:ext cx="448239" cy="448239"/>
          </a:xfrm>
          <a:prstGeom prst="rect">
            <a:avLst/>
          </a:prstGeom>
        </p:spPr>
      </p:pic>
      <p:pic>
        <p:nvPicPr>
          <p:cNvPr id="34" name="圖形 33" descr="皇冠 以實心填滿">
            <a:extLst>
              <a:ext uri="{FF2B5EF4-FFF2-40B4-BE49-F238E27FC236}">
                <a16:creationId xmlns:a16="http://schemas.microsoft.com/office/drawing/2014/main" id="{BDE8A39B-DEFF-B3A0-4EC5-FC37ECE461F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89026" y="3460836"/>
            <a:ext cx="448239" cy="448239"/>
          </a:xfrm>
          <a:prstGeom prst="rect">
            <a:avLst/>
          </a:prstGeom>
        </p:spPr>
      </p:pic>
      <p:pic>
        <p:nvPicPr>
          <p:cNvPr id="35" name="圖形 34" descr="皇冠 以實心填滿">
            <a:extLst>
              <a:ext uri="{FF2B5EF4-FFF2-40B4-BE49-F238E27FC236}">
                <a16:creationId xmlns:a16="http://schemas.microsoft.com/office/drawing/2014/main" id="{96DB55E8-CFDB-1ED9-6D1A-FCDB75E8D8C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86525" y="4258536"/>
            <a:ext cx="448239" cy="448239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4DF9A8DB-A82D-BB24-ABEF-963757BB32AA}"/>
              </a:ext>
            </a:extLst>
          </p:cNvPr>
          <p:cNvSpPr txBox="1"/>
          <p:nvPr/>
        </p:nvSpPr>
        <p:spPr>
          <a:xfrm>
            <a:off x="4633735" y="3995899"/>
            <a:ext cx="25222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1600" dirty="0"/>
              <a:t>誰是 </a:t>
            </a:r>
            <a:r>
              <a:rPr kumimoji="1" lang="en" altLang="zh-TW" sz="1600" dirty="0"/>
              <a:t>Alex Honnold</a:t>
            </a:r>
            <a:r>
              <a:rPr kumimoji="1" lang="zh-TW" altLang="en-US" sz="1600" dirty="0"/>
              <a:t>？</a:t>
            </a:r>
          </a:p>
        </p:txBody>
      </p:sp>
    </p:spTree>
    <p:extLst>
      <p:ext uri="{BB962C8B-B14F-4D97-AF65-F5344CB8AC3E}">
        <p14:creationId xmlns:p14="http://schemas.microsoft.com/office/powerpoint/2010/main" val="10258330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BFA982-E62B-6338-DBEB-D0615E79D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9DDF83B-B1E2-2EC3-9A81-A2E52E1B8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Google Search vs. </a:t>
            </a:r>
            <a:r>
              <a:rPr kumimoji="1" lang="zh-TW" altLang="en-US" dirty="0"/>
              <a:t>向量化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5F0F729-7467-41FC-D5D8-852DC6853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10" name="圖形 9" descr="文件 以實心填滿">
            <a:extLst>
              <a:ext uri="{FF2B5EF4-FFF2-40B4-BE49-F238E27FC236}">
                <a16:creationId xmlns:a16="http://schemas.microsoft.com/office/drawing/2014/main" id="{78FFCC9C-852A-2C3E-C385-3739511F99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02663" y="2938462"/>
            <a:ext cx="625084" cy="625084"/>
          </a:xfrm>
          <a:prstGeom prst="rect">
            <a:avLst/>
          </a:prstGeom>
        </p:spPr>
      </p:pic>
      <p:pic>
        <p:nvPicPr>
          <p:cNvPr id="13" name="圖形 12" descr="文件 以實心填滿">
            <a:extLst>
              <a:ext uri="{FF2B5EF4-FFF2-40B4-BE49-F238E27FC236}">
                <a16:creationId xmlns:a16="http://schemas.microsoft.com/office/drawing/2014/main" id="{01267C15-7567-0A4A-77BA-4C84DB9D97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77579" y="3083120"/>
            <a:ext cx="625084" cy="625084"/>
          </a:xfrm>
          <a:prstGeom prst="rect">
            <a:avLst/>
          </a:prstGeom>
        </p:spPr>
      </p:pic>
      <p:pic>
        <p:nvPicPr>
          <p:cNvPr id="14" name="圖形 13" descr="文件 以實心填滿">
            <a:extLst>
              <a:ext uri="{FF2B5EF4-FFF2-40B4-BE49-F238E27FC236}">
                <a16:creationId xmlns:a16="http://schemas.microsoft.com/office/drawing/2014/main" id="{F1E26FB7-DDD2-633E-6BE0-E7AF58F7BE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90121" y="3498232"/>
            <a:ext cx="625084" cy="625084"/>
          </a:xfrm>
          <a:prstGeom prst="rect">
            <a:avLst/>
          </a:prstGeom>
        </p:spPr>
      </p:pic>
      <p:pic>
        <p:nvPicPr>
          <p:cNvPr id="15" name="圖形 14" descr="文件 以實心填滿">
            <a:extLst>
              <a:ext uri="{FF2B5EF4-FFF2-40B4-BE49-F238E27FC236}">
                <a16:creationId xmlns:a16="http://schemas.microsoft.com/office/drawing/2014/main" id="{9917B0CA-E696-448B-5CBB-DB15B86AB6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30194" y="3435240"/>
            <a:ext cx="625084" cy="625084"/>
          </a:xfrm>
          <a:prstGeom prst="rect">
            <a:avLst/>
          </a:prstGeom>
        </p:spPr>
      </p:pic>
      <p:pic>
        <p:nvPicPr>
          <p:cNvPr id="16" name="圖形 15" descr="文件 以實心填滿">
            <a:extLst>
              <a:ext uri="{FF2B5EF4-FFF2-40B4-BE49-F238E27FC236}">
                <a16:creationId xmlns:a16="http://schemas.microsoft.com/office/drawing/2014/main" id="{C624C4A8-3A8D-98A9-B112-C3B8FE66BC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50048" y="3747782"/>
            <a:ext cx="625084" cy="625084"/>
          </a:xfrm>
          <a:prstGeom prst="rect">
            <a:avLst/>
          </a:prstGeom>
        </p:spPr>
      </p:pic>
      <p:pic>
        <p:nvPicPr>
          <p:cNvPr id="17" name="圖形 16" descr="文件 以實心填滿">
            <a:extLst>
              <a:ext uri="{FF2B5EF4-FFF2-40B4-BE49-F238E27FC236}">
                <a16:creationId xmlns:a16="http://schemas.microsoft.com/office/drawing/2014/main" id="{6DCF9B1C-3F20-28DE-B6B3-2DF4E6EF27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07248" y="4123316"/>
            <a:ext cx="625084" cy="625084"/>
          </a:xfrm>
          <a:prstGeom prst="rect">
            <a:avLst/>
          </a:prstGeom>
        </p:spPr>
      </p:pic>
      <p:pic>
        <p:nvPicPr>
          <p:cNvPr id="18" name="圖形 17" descr="文件 以實心填滿">
            <a:extLst>
              <a:ext uri="{FF2B5EF4-FFF2-40B4-BE49-F238E27FC236}">
                <a16:creationId xmlns:a16="http://schemas.microsoft.com/office/drawing/2014/main" id="{CD9F1FAA-EFB9-C133-FD0B-ADD7EAA7E4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47321" y="3951358"/>
            <a:ext cx="625084" cy="625084"/>
          </a:xfrm>
          <a:prstGeom prst="rect">
            <a:avLst/>
          </a:prstGeom>
        </p:spPr>
      </p:pic>
      <p:pic>
        <p:nvPicPr>
          <p:cNvPr id="19" name="圖形 18" descr="文件 以實心填滿">
            <a:extLst>
              <a:ext uri="{FF2B5EF4-FFF2-40B4-BE49-F238E27FC236}">
                <a16:creationId xmlns:a16="http://schemas.microsoft.com/office/drawing/2014/main" id="{6025A2AC-ADDC-E159-BDA2-0EC91AFA2F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4422" y="3059706"/>
            <a:ext cx="625084" cy="625084"/>
          </a:xfrm>
          <a:prstGeom prst="rect">
            <a:avLst/>
          </a:prstGeom>
        </p:spPr>
      </p:pic>
      <p:pic>
        <p:nvPicPr>
          <p:cNvPr id="20" name="圖形 19" descr="文件 以實心填滿">
            <a:extLst>
              <a:ext uri="{FF2B5EF4-FFF2-40B4-BE49-F238E27FC236}">
                <a16:creationId xmlns:a16="http://schemas.microsoft.com/office/drawing/2014/main" id="{6B5B69D3-621B-3AD9-7E2B-9BF9044D3D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02928" y="2615089"/>
            <a:ext cx="625084" cy="625084"/>
          </a:xfrm>
          <a:prstGeom prst="rect">
            <a:avLst/>
          </a:prstGeom>
        </p:spPr>
      </p:pic>
      <p:pic>
        <p:nvPicPr>
          <p:cNvPr id="21" name="圖形 20" descr="文件 以實心填滿">
            <a:extLst>
              <a:ext uri="{FF2B5EF4-FFF2-40B4-BE49-F238E27FC236}">
                <a16:creationId xmlns:a16="http://schemas.microsoft.com/office/drawing/2014/main" id="{4015EBEC-BF26-F28E-C90E-8FBA74C279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26001" y="2625920"/>
            <a:ext cx="625084" cy="625084"/>
          </a:xfrm>
          <a:prstGeom prst="rect">
            <a:avLst/>
          </a:prstGeom>
        </p:spPr>
      </p:pic>
      <p:pic>
        <p:nvPicPr>
          <p:cNvPr id="22" name="圖形 21" descr="文件 以實心填滿">
            <a:extLst>
              <a:ext uri="{FF2B5EF4-FFF2-40B4-BE49-F238E27FC236}">
                <a16:creationId xmlns:a16="http://schemas.microsoft.com/office/drawing/2014/main" id="{CA8BEAFD-C123-F790-98D8-3667574895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2848" y="3719751"/>
            <a:ext cx="625084" cy="625084"/>
          </a:xfrm>
          <a:prstGeom prst="rect">
            <a:avLst/>
          </a:prstGeom>
        </p:spPr>
      </p:pic>
      <p:pic>
        <p:nvPicPr>
          <p:cNvPr id="23" name="圖形 22" descr="文件 以實心填滿">
            <a:extLst>
              <a:ext uri="{FF2B5EF4-FFF2-40B4-BE49-F238E27FC236}">
                <a16:creationId xmlns:a16="http://schemas.microsoft.com/office/drawing/2014/main" id="{5EE3A1DF-0BBA-46E8-FCD4-46F4AC755E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26001" y="4325050"/>
            <a:ext cx="625084" cy="625084"/>
          </a:xfrm>
          <a:prstGeom prst="rect">
            <a:avLst/>
          </a:prstGeom>
        </p:spPr>
      </p:pic>
      <p:pic>
        <p:nvPicPr>
          <p:cNvPr id="24" name="圖形 23" descr="文件 以實心填滿">
            <a:extLst>
              <a:ext uri="{FF2B5EF4-FFF2-40B4-BE49-F238E27FC236}">
                <a16:creationId xmlns:a16="http://schemas.microsoft.com/office/drawing/2014/main" id="{14AC2017-9840-0E21-5698-B056219EC6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17652" y="4325050"/>
            <a:ext cx="625084" cy="625084"/>
          </a:xfrm>
          <a:prstGeom prst="rect">
            <a:avLst/>
          </a:prstGeom>
        </p:spPr>
      </p:pic>
      <p:pic>
        <p:nvPicPr>
          <p:cNvPr id="25" name="圖形 24" descr="文件 以實心填滿">
            <a:extLst>
              <a:ext uri="{FF2B5EF4-FFF2-40B4-BE49-F238E27FC236}">
                <a16:creationId xmlns:a16="http://schemas.microsoft.com/office/drawing/2014/main" id="{FF0D041D-A70B-30F3-D908-AB1109F19E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92397" y="2873148"/>
            <a:ext cx="625084" cy="625084"/>
          </a:xfrm>
          <a:prstGeom prst="rect">
            <a:avLst/>
          </a:prstGeom>
        </p:spPr>
      </p:pic>
      <p:pic>
        <p:nvPicPr>
          <p:cNvPr id="26" name="圖片 25">
            <a:extLst>
              <a:ext uri="{FF2B5EF4-FFF2-40B4-BE49-F238E27FC236}">
                <a16:creationId xmlns:a16="http://schemas.microsoft.com/office/drawing/2014/main" id="{F0152251-DED6-EE06-35BA-887801A0ED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7839" y="2970547"/>
            <a:ext cx="4550229" cy="1997485"/>
          </a:xfrm>
          <a:prstGeom prst="rect">
            <a:avLst/>
          </a:prstGeom>
        </p:spPr>
      </p:pic>
      <p:cxnSp>
        <p:nvCxnSpPr>
          <p:cNvPr id="27" name="直線箭頭接點 26">
            <a:extLst>
              <a:ext uri="{FF2B5EF4-FFF2-40B4-BE49-F238E27FC236}">
                <a16:creationId xmlns:a16="http://schemas.microsoft.com/office/drawing/2014/main" id="{B658CFDB-BCC0-8FE1-E141-001F5EF07BE8}"/>
              </a:ext>
            </a:extLst>
          </p:cNvPr>
          <p:cNvCxnSpPr>
            <a:cxnSpLocks/>
          </p:cNvCxnSpPr>
          <p:nvPr/>
        </p:nvCxnSpPr>
        <p:spPr>
          <a:xfrm>
            <a:off x="3541477" y="3951358"/>
            <a:ext cx="616362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箭頭接點 27">
            <a:extLst>
              <a:ext uri="{FF2B5EF4-FFF2-40B4-BE49-F238E27FC236}">
                <a16:creationId xmlns:a16="http://schemas.microsoft.com/office/drawing/2014/main" id="{7C4F40BC-2BE1-41F6-7F89-6DD0049E1AEF}"/>
              </a:ext>
            </a:extLst>
          </p:cNvPr>
          <p:cNvCxnSpPr>
            <a:cxnSpLocks/>
          </p:cNvCxnSpPr>
          <p:nvPr/>
        </p:nvCxnSpPr>
        <p:spPr>
          <a:xfrm>
            <a:off x="8708068" y="3951358"/>
            <a:ext cx="616362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圖形 28" descr="文件 以實心填滿">
            <a:extLst>
              <a:ext uri="{FF2B5EF4-FFF2-40B4-BE49-F238E27FC236}">
                <a16:creationId xmlns:a16="http://schemas.microsoft.com/office/drawing/2014/main" id="{ED98C257-C10F-B883-8EB7-2AE6664FBD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10629" y="2886777"/>
            <a:ext cx="625084" cy="625084"/>
          </a:xfrm>
          <a:prstGeom prst="rect">
            <a:avLst/>
          </a:prstGeom>
        </p:spPr>
      </p:pic>
      <p:pic>
        <p:nvPicPr>
          <p:cNvPr id="30" name="圖形 29" descr="文件 以實心填滿">
            <a:extLst>
              <a:ext uri="{FF2B5EF4-FFF2-40B4-BE49-F238E27FC236}">
                <a16:creationId xmlns:a16="http://schemas.microsoft.com/office/drawing/2014/main" id="{EFE5A448-C1C0-3D68-C095-CCE1D1545E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10629" y="3623613"/>
            <a:ext cx="625084" cy="625084"/>
          </a:xfrm>
          <a:prstGeom prst="rect">
            <a:avLst/>
          </a:prstGeom>
        </p:spPr>
      </p:pic>
      <p:pic>
        <p:nvPicPr>
          <p:cNvPr id="31" name="圖形 30" descr="文件 以實心填滿">
            <a:extLst>
              <a:ext uri="{FF2B5EF4-FFF2-40B4-BE49-F238E27FC236}">
                <a16:creationId xmlns:a16="http://schemas.microsoft.com/office/drawing/2014/main" id="{D6D28DEB-78D0-6E78-578A-AE002C763D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31214" y="4413333"/>
            <a:ext cx="625084" cy="625084"/>
          </a:xfrm>
          <a:prstGeom prst="rect">
            <a:avLst/>
          </a:prstGeom>
        </p:spPr>
      </p:pic>
      <p:pic>
        <p:nvPicPr>
          <p:cNvPr id="33" name="圖形 32" descr="皇冠 以實心填滿">
            <a:extLst>
              <a:ext uri="{FF2B5EF4-FFF2-40B4-BE49-F238E27FC236}">
                <a16:creationId xmlns:a16="http://schemas.microsoft.com/office/drawing/2014/main" id="{35C38EEB-E999-9DD6-A8EB-3AD783F4B7A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86526" y="2618178"/>
            <a:ext cx="448239" cy="448239"/>
          </a:xfrm>
          <a:prstGeom prst="rect">
            <a:avLst/>
          </a:prstGeom>
        </p:spPr>
      </p:pic>
      <p:pic>
        <p:nvPicPr>
          <p:cNvPr id="34" name="圖形 33" descr="皇冠 以實心填滿">
            <a:extLst>
              <a:ext uri="{FF2B5EF4-FFF2-40B4-BE49-F238E27FC236}">
                <a16:creationId xmlns:a16="http://schemas.microsoft.com/office/drawing/2014/main" id="{29E3DAEC-5481-82FA-80E1-98D1197C822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89026" y="3460836"/>
            <a:ext cx="448239" cy="448239"/>
          </a:xfrm>
          <a:prstGeom prst="rect">
            <a:avLst/>
          </a:prstGeom>
        </p:spPr>
      </p:pic>
      <p:pic>
        <p:nvPicPr>
          <p:cNvPr id="35" name="圖形 34" descr="皇冠 以實心填滿">
            <a:extLst>
              <a:ext uri="{FF2B5EF4-FFF2-40B4-BE49-F238E27FC236}">
                <a16:creationId xmlns:a16="http://schemas.microsoft.com/office/drawing/2014/main" id="{51AF7DE5-AF6E-B0A6-2ABF-63881F452E6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86525" y="4258536"/>
            <a:ext cx="448239" cy="448239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73E2838A-A6A0-EB13-FE95-080D8D2E6335}"/>
              </a:ext>
            </a:extLst>
          </p:cNvPr>
          <p:cNvSpPr txBox="1"/>
          <p:nvPr/>
        </p:nvSpPr>
        <p:spPr>
          <a:xfrm>
            <a:off x="4633735" y="3995899"/>
            <a:ext cx="25222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1600" dirty="0"/>
              <a:t>誰是 </a:t>
            </a:r>
            <a:r>
              <a:rPr kumimoji="1" lang="en" altLang="zh-TW" sz="1600" dirty="0"/>
              <a:t>Alex Honnold</a:t>
            </a:r>
            <a:r>
              <a:rPr kumimoji="1" lang="zh-TW" altLang="en-US" sz="1600" dirty="0"/>
              <a:t>？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61673A1E-34C0-E4B4-3832-6757285A6475}"/>
              </a:ext>
            </a:extLst>
          </p:cNvPr>
          <p:cNvSpPr txBox="1"/>
          <p:nvPr/>
        </p:nvSpPr>
        <p:spPr>
          <a:xfrm>
            <a:off x="7874761" y="3045430"/>
            <a:ext cx="18864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400" dirty="0">
                <a:solidFill>
                  <a:srgbClr val="0070C0"/>
                </a:solidFill>
              </a:rPr>
              <a:t>[0.15, 0.82, -0.34, ...]</a:t>
            </a:r>
            <a:endParaRPr kumimoji="1" lang="zh-TW" altLang="en-US" sz="1400" dirty="0">
              <a:solidFill>
                <a:srgbClr val="0070C0"/>
              </a:solidFill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46F75BBA-E502-9A3B-1244-F14AC7E4005D}"/>
              </a:ext>
            </a:extLst>
          </p:cNvPr>
          <p:cNvSpPr txBox="1"/>
          <p:nvPr/>
        </p:nvSpPr>
        <p:spPr>
          <a:xfrm>
            <a:off x="7874761" y="3586744"/>
            <a:ext cx="18864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400" dirty="0">
                <a:solidFill>
                  <a:srgbClr val="0070C0"/>
                </a:solidFill>
              </a:rPr>
              <a:t>[0.93, -0.32, 0.43, ...]</a:t>
            </a:r>
            <a:endParaRPr kumimoji="1" lang="zh-TW" altLang="en-US" sz="1400" dirty="0">
              <a:solidFill>
                <a:srgbClr val="0070C0"/>
              </a:solidFill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14828DE0-7E7B-1817-DEC4-AE417D22CA5A}"/>
              </a:ext>
            </a:extLst>
          </p:cNvPr>
          <p:cNvSpPr txBox="1"/>
          <p:nvPr/>
        </p:nvSpPr>
        <p:spPr>
          <a:xfrm>
            <a:off x="7874761" y="4449256"/>
            <a:ext cx="18864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400" dirty="0">
                <a:solidFill>
                  <a:srgbClr val="0070C0"/>
                </a:solidFill>
              </a:rPr>
              <a:t>[0.08, 0.02, 0.83, ...]</a:t>
            </a:r>
            <a:endParaRPr kumimoji="1" lang="zh-TW" altLang="en-US" sz="1400" dirty="0">
              <a:solidFill>
                <a:srgbClr val="0070C0"/>
              </a:solidFill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517AEBA1-69A4-C049-ED59-4D4D2829F18F}"/>
              </a:ext>
            </a:extLst>
          </p:cNvPr>
          <p:cNvSpPr txBox="1"/>
          <p:nvPr/>
        </p:nvSpPr>
        <p:spPr>
          <a:xfrm>
            <a:off x="4687852" y="4211357"/>
            <a:ext cx="18864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400" dirty="0">
                <a:solidFill>
                  <a:srgbClr val="0070C0"/>
                </a:solidFill>
              </a:rPr>
              <a:t>[0.54, 0.95, -0.61, ...]</a:t>
            </a:r>
            <a:endParaRPr kumimoji="1" lang="zh-TW" altLang="en-US" sz="1400" dirty="0">
              <a:solidFill>
                <a:srgbClr val="0070C0"/>
              </a:solidFill>
            </a:endParaRP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15706E48-6DCE-48FE-274D-19356EB0D7AD}"/>
              </a:ext>
            </a:extLst>
          </p:cNvPr>
          <p:cNvSpPr txBox="1"/>
          <p:nvPr/>
        </p:nvSpPr>
        <p:spPr>
          <a:xfrm>
            <a:off x="10596702" y="3074946"/>
            <a:ext cx="9363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>
                <a:solidFill>
                  <a:srgbClr val="0070C0"/>
                </a:solidFill>
              </a:rPr>
              <a:t>99%</a:t>
            </a:r>
            <a:endParaRPr kumimoji="1" lang="zh-TW" altLang="en-US" sz="1600" dirty="0">
              <a:solidFill>
                <a:srgbClr val="0070C0"/>
              </a:solidFill>
            </a:endParaRPr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C6AD7186-1F8A-924F-3A35-1E310407B4DE}"/>
              </a:ext>
            </a:extLst>
          </p:cNvPr>
          <p:cNvSpPr txBox="1"/>
          <p:nvPr/>
        </p:nvSpPr>
        <p:spPr>
          <a:xfrm>
            <a:off x="10596701" y="3766878"/>
            <a:ext cx="9363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>
                <a:solidFill>
                  <a:srgbClr val="0070C0"/>
                </a:solidFill>
              </a:rPr>
              <a:t>98%</a:t>
            </a:r>
            <a:endParaRPr kumimoji="1" lang="zh-TW" altLang="en-US" sz="1600" dirty="0">
              <a:solidFill>
                <a:srgbClr val="0070C0"/>
              </a:solidFill>
            </a:endParaRP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D56FC5BC-36FE-9416-93E9-10E695591453}"/>
              </a:ext>
            </a:extLst>
          </p:cNvPr>
          <p:cNvSpPr txBox="1"/>
          <p:nvPr/>
        </p:nvSpPr>
        <p:spPr>
          <a:xfrm>
            <a:off x="10596701" y="4603144"/>
            <a:ext cx="9363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>
                <a:solidFill>
                  <a:srgbClr val="0070C0"/>
                </a:solidFill>
              </a:rPr>
              <a:t>97%</a:t>
            </a:r>
            <a:endParaRPr kumimoji="1" lang="zh-TW" altLang="en-US" sz="1600" dirty="0">
              <a:solidFill>
                <a:srgbClr val="0070C0"/>
              </a:solidFill>
            </a:endParaRPr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B7B533F0-68AE-8DEE-23A2-DC2011B328E2}"/>
              </a:ext>
            </a:extLst>
          </p:cNvPr>
          <p:cNvSpPr txBox="1"/>
          <p:nvPr/>
        </p:nvSpPr>
        <p:spPr>
          <a:xfrm>
            <a:off x="10596700" y="2316189"/>
            <a:ext cx="9363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1600" b="1" dirty="0">
                <a:solidFill>
                  <a:srgbClr val="0070C0"/>
                </a:solidFill>
              </a:rPr>
              <a:t>相似度</a:t>
            </a:r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CBA0F906-5724-08EA-7777-981E26809658}"/>
              </a:ext>
            </a:extLst>
          </p:cNvPr>
          <p:cNvSpPr txBox="1"/>
          <p:nvPr/>
        </p:nvSpPr>
        <p:spPr>
          <a:xfrm>
            <a:off x="973386" y="5624052"/>
            <a:ext cx="6562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NLP </a:t>
            </a:r>
            <a:r>
              <a:rPr kumimoji="1" lang="zh-TW" altLang="en-US" dirty="0"/>
              <a:t>的 </a:t>
            </a:r>
            <a:r>
              <a:rPr kumimoji="1" lang="en-US" altLang="zh-TW" dirty="0"/>
              <a:t>Embeddings: </a:t>
            </a:r>
            <a:r>
              <a:rPr kumimoji="1" lang="zh-TW" altLang="en-US" dirty="0"/>
              <a:t>語意資訊被嵌入到（高維度）向量空間</a:t>
            </a:r>
          </a:p>
        </p:txBody>
      </p:sp>
    </p:spTree>
    <p:extLst>
      <p:ext uri="{BB962C8B-B14F-4D97-AF65-F5344CB8AC3E}">
        <p14:creationId xmlns:p14="http://schemas.microsoft.com/office/powerpoint/2010/main" val="2988135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5AB24B2-A2A9-D31E-F992-A55764C2F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Bag-of-words Model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D4ACBB0-EE1F-42B8-D008-22160552E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CD4605E-4CBE-A6A7-F2CB-9DFDA9558F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4335" y="1925484"/>
            <a:ext cx="7483329" cy="4457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FA4E0A6D-D7B2-70D5-D256-17368833A259}"/>
              </a:ext>
            </a:extLst>
          </p:cNvPr>
          <p:cNvSpPr txBox="1"/>
          <p:nvPr/>
        </p:nvSpPr>
        <p:spPr>
          <a:xfrm>
            <a:off x="3206110" y="6316632"/>
            <a:ext cx="66315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sz="14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Figure source: https://sfhsu29.medium.com/</a:t>
            </a:r>
            <a:r>
              <a:rPr kumimoji="1" lang="en" altLang="zh-TW" sz="1400" dirty="0" err="1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nlp</a:t>
            </a:r>
            <a:r>
              <a:rPr kumimoji="1" lang="en" altLang="zh-TW" sz="14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-</a:t>
            </a:r>
            <a:r>
              <a:rPr kumimoji="1" lang="zh-TW" altLang="en-US" sz="14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入門</a:t>
            </a:r>
            <a:r>
              <a:rPr kumimoji="1" lang="en" altLang="zh-TW" sz="14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-1-text-classification-sentiment-analysis-</a:t>
            </a:r>
            <a:r>
              <a:rPr kumimoji="1" lang="zh-TW" altLang="en-US" sz="14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極簡易情感分類器</a:t>
            </a:r>
            <a:r>
              <a:rPr kumimoji="1" lang="en" altLang="zh-TW" sz="14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-bag-of-words-naive-bayes-e40d61de9a7f</a:t>
            </a:r>
            <a:endParaRPr kumimoji="1" lang="zh-TW" altLang="en-US" sz="1400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4A98F25-856B-29F9-D7F1-E46DD6722A82}"/>
              </a:ext>
            </a:extLst>
          </p:cNvPr>
          <p:cNvSpPr txBox="1"/>
          <p:nvPr/>
        </p:nvSpPr>
        <p:spPr>
          <a:xfrm>
            <a:off x="3980329" y="1388364"/>
            <a:ext cx="75911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Meaning: Each </a:t>
            </a:r>
            <a:r>
              <a:rPr kumimoji="1" lang="en-US" altLang="zh-TW" sz="2400" dirty="0">
                <a:solidFill>
                  <a:srgbClr val="FF0000"/>
                </a:solidFill>
              </a:rPr>
              <a:t>document</a:t>
            </a:r>
            <a:r>
              <a:rPr kumimoji="1" lang="en-US" altLang="zh-TW" sz="2400" dirty="0"/>
              <a:t> (</a:t>
            </a:r>
            <a:r>
              <a:rPr kumimoji="1" lang="en-US" altLang="zh-TW" sz="2400" dirty="0">
                <a:solidFill>
                  <a:srgbClr val="FF0000"/>
                </a:solidFill>
              </a:rPr>
              <a:t>sentence</a:t>
            </a:r>
            <a:r>
              <a:rPr kumimoji="1" lang="en-US" altLang="zh-TW" sz="2400" dirty="0"/>
              <a:t>) carries a bag of words.</a:t>
            </a:r>
            <a:endParaRPr kumimoji="1"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9367393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9740635-0F78-3FD4-B08C-4E32144CB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/>
              <a:t>Bag-of-words Model (Example 1)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B00982A-DB86-2B5D-278C-E54245FF8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6A60A35-A21F-CE23-52CB-5CA295ACF1C9}"/>
              </a:ext>
            </a:extLst>
          </p:cNvPr>
          <p:cNvSpPr txBox="1"/>
          <p:nvPr/>
        </p:nvSpPr>
        <p:spPr>
          <a:xfrm>
            <a:off x="963083" y="2695755"/>
            <a:ext cx="25222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Corpus</a:t>
            </a:r>
            <a:endParaRPr kumimoji="1" lang="zh-TW" altLang="en-US" sz="2400" dirty="0"/>
          </a:p>
        </p:txBody>
      </p:sp>
      <p:grpSp>
        <p:nvGrpSpPr>
          <p:cNvPr id="7" name="群組 6">
            <a:extLst>
              <a:ext uri="{FF2B5EF4-FFF2-40B4-BE49-F238E27FC236}">
                <a16:creationId xmlns:a16="http://schemas.microsoft.com/office/drawing/2014/main" id="{3FE3A9E6-178C-25EF-10B2-6C50B5EEF52D}"/>
              </a:ext>
            </a:extLst>
          </p:cNvPr>
          <p:cNvGrpSpPr/>
          <p:nvPr/>
        </p:nvGrpSpPr>
        <p:grpSpPr>
          <a:xfrm>
            <a:off x="825925" y="3131964"/>
            <a:ext cx="2798910" cy="1178802"/>
            <a:chOff x="653143" y="4097438"/>
            <a:chExt cx="2798910" cy="1178802"/>
          </a:xfrm>
        </p:grpSpPr>
        <p:sp>
          <p:nvSpPr>
            <p:cNvPr id="8" name="圓角矩形 7">
              <a:extLst>
                <a:ext uri="{FF2B5EF4-FFF2-40B4-BE49-F238E27FC236}">
                  <a16:creationId xmlns:a16="http://schemas.microsoft.com/office/drawing/2014/main" id="{E92724EC-71C4-1DC1-0B1E-C1037BB6A083}"/>
                </a:ext>
              </a:extLst>
            </p:cNvPr>
            <p:cNvSpPr/>
            <p:nvPr/>
          </p:nvSpPr>
          <p:spPr>
            <a:xfrm>
              <a:off x="790303" y="4219072"/>
              <a:ext cx="2522218" cy="400110"/>
            </a:xfrm>
            <a:prstGeom prst="roundRect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TW" dirty="0">
                  <a:solidFill>
                    <a:schemeClr val="tx1"/>
                  </a:solidFill>
                </a:rPr>
                <a:t>I like to eat apple</a:t>
              </a:r>
              <a:endParaRPr kumimoji="1"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9" name="圓角矩形 8">
              <a:extLst>
                <a:ext uri="{FF2B5EF4-FFF2-40B4-BE49-F238E27FC236}">
                  <a16:creationId xmlns:a16="http://schemas.microsoft.com/office/drawing/2014/main" id="{8837E66C-DCE7-BD5F-90DE-0C7D3F49FD21}"/>
                </a:ext>
              </a:extLst>
            </p:cNvPr>
            <p:cNvSpPr/>
            <p:nvPr/>
          </p:nvSpPr>
          <p:spPr>
            <a:xfrm>
              <a:off x="806587" y="4740816"/>
              <a:ext cx="2522219" cy="400110"/>
            </a:xfrm>
            <a:prstGeom prst="roundRect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TW" dirty="0">
                  <a:solidFill>
                    <a:schemeClr val="tx1"/>
                  </a:solidFill>
                </a:rPr>
                <a:t>You like to watch TV</a:t>
              </a:r>
              <a:endParaRPr kumimoji="1"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CBB4CE8B-7A12-1041-CEDE-1EFA5010A0A3}"/>
                </a:ext>
              </a:extLst>
            </p:cNvPr>
            <p:cNvSpPr/>
            <p:nvPr/>
          </p:nvSpPr>
          <p:spPr>
            <a:xfrm>
              <a:off x="653143" y="4097438"/>
              <a:ext cx="2798910" cy="117880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</p:grpSp>
      <p:sp>
        <p:nvSpPr>
          <p:cNvPr id="26" name="向右箭號 25">
            <a:extLst>
              <a:ext uri="{FF2B5EF4-FFF2-40B4-BE49-F238E27FC236}">
                <a16:creationId xmlns:a16="http://schemas.microsoft.com/office/drawing/2014/main" id="{B4D3624E-67C6-F226-19A9-5E5081C8D753}"/>
              </a:ext>
            </a:extLst>
          </p:cNvPr>
          <p:cNvSpPr/>
          <p:nvPr/>
        </p:nvSpPr>
        <p:spPr>
          <a:xfrm rot="19833262">
            <a:off x="3850820" y="3030788"/>
            <a:ext cx="257319" cy="26679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" name="圓角矩形 2">
            <a:extLst>
              <a:ext uri="{FF2B5EF4-FFF2-40B4-BE49-F238E27FC236}">
                <a16:creationId xmlns:a16="http://schemas.microsoft.com/office/drawing/2014/main" id="{E04B12FD-B3E4-C022-DC8B-E6A8776A9925}"/>
              </a:ext>
            </a:extLst>
          </p:cNvPr>
          <p:cNvSpPr/>
          <p:nvPr/>
        </p:nvSpPr>
        <p:spPr>
          <a:xfrm>
            <a:off x="4267465" y="2695753"/>
            <a:ext cx="843382" cy="302786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apple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5" name="圓角矩形 4">
            <a:extLst>
              <a:ext uri="{FF2B5EF4-FFF2-40B4-BE49-F238E27FC236}">
                <a16:creationId xmlns:a16="http://schemas.microsoft.com/office/drawing/2014/main" id="{E61DFEED-A5B8-BAF6-BCF5-95D83687A43E}"/>
              </a:ext>
            </a:extLst>
          </p:cNvPr>
          <p:cNvSpPr/>
          <p:nvPr/>
        </p:nvSpPr>
        <p:spPr>
          <a:xfrm>
            <a:off x="5183333" y="2695753"/>
            <a:ext cx="843382" cy="292094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eat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AB08E2D8-3628-BBD7-6E73-3297EE5695D6}"/>
              </a:ext>
            </a:extLst>
          </p:cNvPr>
          <p:cNvSpPr/>
          <p:nvPr/>
        </p:nvSpPr>
        <p:spPr>
          <a:xfrm>
            <a:off x="6099201" y="2695753"/>
            <a:ext cx="843382" cy="292094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I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3" name="圓角矩形 12">
            <a:extLst>
              <a:ext uri="{FF2B5EF4-FFF2-40B4-BE49-F238E27FC236}">
                <a16:creationId xmlns:a16="http://schemas.microsoft.com/office/drawing/2014/main" id="{85FF19A3-8063-F2CF-6102-AF08A99FA659}"/>
              </a:ext>
            </a:extLst>
          </p:cNvPr>
          <p:cNvSpPr/>
          <p:nvPr/>
        </p:nvSpPr>
        <p:spPr>
          <a:xfrm>
            <a:off x="7015069" y="2695753"/>
            <a:ext cx="843382" cy="292094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like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4" name="圓角矩形 13">
            <a:extLst>
              <a:ext uri="{FF2B5EF4-FFF2-40B4-BE49-F238E27FC236}">
                <a16:creationId xmlns:a16="http://schemas.microsoft.com/office/drawing/2014/main" id="{57CE6C4C-E1A6-CB69-C860-4916218CEDD2}"/>
              </a:ext>
            </a:extLst>
          </p:cNvPr>
          <p:cNvSpPr/>
          <p:nvPr/>
        </p:nvSpPr>
        <p:spPr>
          <a:xfrm>
            <a:off x="9762673" y="2695753"/>
            <a:ext cx="843382" cy="292095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watch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5" name="圓角矩形 14">
            <a:extLst>
              <a:ext uri="{FF2B5EF4-FFF2-40B4-BE49-F238E27FC236}">
                <a16:creationId xmlns:a16="http://schemas.microsoft.com/office/drawing/2014/main" id="{253D99E8-C3E0-6B67-8DBF-2C14ABC8FDBE}"/>
              </a:ext>
            </a:extLst>
          </p:cNvPr>
          <p:cNvSpPr/>
          <p:nvPr/>
        </p:nvSpPr>
        <p:spPr>
          <a:xfrm>
            <a:off x="7930937" y="2695753"/>
            <a:ext cx="843382" cy="292097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to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6" name="圓角矩形 15">
            <a:extLst>
              <a:ext uri="{FF2B5EF4-FFF2-40B4-BE49-F238E27FC236}">
                <a16:creationId xmlns:a16="http://schemas.microsoft.com/office/drawing/2014/main" id="{AB009D8E-ED78-F0F1-C075-AAD83D937301}"/>
              </a:ext>
            </a:extLst>
          </p:cNvPr>
          <p:cNvSpPr/>
          <p:nvPr/>
        </p:nvSpPr>
        <p:spPr>
          <a:xfrm>
            <a:off x="8846805" y="2695753"/>
            <a:ext cx="843382" cy="292097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TV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7" name="圓角矩形 16">
            <a:extLst>
              <a:ext uri="{FF2B5EF4-FFF2-40B4-BE49-F238E27FC236}">
                <a16:creationId xmlns:a16="http://schemas.microsoft.com/office/drawing/2014/main" id="{DCEC4AA4-47D6-DB13-2086-1FE88B9EDC41}"/>
              </a:ext>
            </a:extLst>
          </p:cNvPr>
          <p:cNvSpPr/>
          <p:nvPr/>
        </p:nvSpPr>
        <p:spPr>
          <a:xfrm>
            <a:off x="10678544" y="2695753"/>
            <a:ext cx="843382" cy="292095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you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121B9C91-C1BC-E28E-5CCB-94C79B3403F9}"/>
              </a:ext>
            </a:extLst>
          </p:cNvPr>
          <p:cNvSpPr txBox="1"/>
          <p:nvPr/>
        </p:nvSpPr>
        <p:spPr>
          <a:xfrm>
            <a:off x="5310361" y="2036451"/>
            <a:ext cx="48928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/>
              <a:t>Step 1: Find unique words (vocab)</a:t>
            </a:r>
            <a:endParaRPr kumimoji="1" lang="zh-TW" altLang="en-US" sz="2400" dirty="0"/>
          </a:p>
        </p:txBody>
      </p:sp>
      <p:sp>
        <p:nvSpPr>
          <p:cNvPr id="19" name="向右箭號 18">
            <a:extLst>
              <a:ext uri="{FF2B5EF4-FFF2-40B4-BE49-F238E27FC236}">
                <a16:creationId xmlns:a16="http://schemas.microsoft.com/office/drawing/2014/main" id="{84653EAD-EA51-8EB0-19D0-5BBFCFBC809C}"/>
              </a:ext>
            </a:extLst>
          </p:cNvPr>
          <p:cNvSpPr/>
          <p:nvPr/>
        </p:nvSpPr>
        <p:spPr>
          <a:xfrm rot="5400000">
            <a:off x="7435130" y="3238101"/>
            <a:ext cx="257319" cy="26679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68DF6EA9-D16F-06D1-32F0-C17C2E4B8D82}"/>
              </a:ext>
            </a:extLst>
          </p:cNvPr>
          <p:cNvSpPr txBox="1"/>
          <p:nvPr/>
        </p:nvSpPr>
        <p:spPr>
          <a:xfrm>
            <a:off x="5310361" y="3566982"/>
            <a:ext cx="45373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/>
              <a:t>Step 2: Form document vectors</a:t>
            </a:r>
            <a:endParaRPr kumimoji="1" lang="zh-TW" altLang="en-US" sz="2400" dirty="0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84B69181-7350-18C7-D5DC-27C858BEF802}"/>
              </a:ext>
            </a:extLst>
          </p:cNvPr>
          <p:cNvSpPr txBox="1"/>
          <p:nvPr/>
        </p:nvSpPr>
        <p:spPr>
          <a:xfrm>
            <a:off x="207408" y="3222820"/>
            <a:ext cx="755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D1</a:t>
            </a:r>
            <a:endParaRPr kumimoji="1" lang="zh-TW" altLang="en-US" sz="2400" dirty="0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8834842A-6D35-0D9D-7FE9-F640F6BA5E92}"/>
              </a:ext>
            </a:extLst>
          </p:cNvPr>
          <p:cNvSpPr txBox="1"/>
          <p:nvPr/>
        </p:nvSpPr>
        <p:spPr>
          <a:xfrm>
            <a:off x="223694" y="3743190"/>
            <a:ext cx="755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D2</a:t>
            </a:r>
            <a:endParaRPr kumimoji="1" lang="zh-TW" altLang="en-US" sz="2400" dirty="0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D7EC8323-B978-A3CA-82B8-383A3A0A657E}"/>
              </a:ext>
            </a:extLst>
          </p:cNvPr>
          <p:cNvSpPr txBox="1"/>
          <p:nvPr/>
        </p:nvSpPr>
        <p:spPr>
          <a:xfrm>
            <a:off x="4157098" y="4204855"/>
            <a:ext cx="755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D1</a:t>
            </a:r>
            <a:endParaRPr kumimoji="1" lang="zh-TW" altLang="en-US" sz="2400" dirty="0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A84FA604-B6AD-41CD-0D8D-97FCE09327B8}"/>
              </a:ext>
            </a:extLst>
          </p:cNvPr>
          <p:cNvSpPr txBox="1"/>
          <p:nvPr/>
        </p:nvSpPr>
        <p:spPr>
          <a:xfrm>
            <a:off x="5695601" y="4204855"/>
            <a:ext cx="37363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[1, 1, 1, 1, 1, 0, 0, 0]</a:t>
            </a:r>
            <a:endParaRPr kumimoji="1" lang="zh-TW" altLang="en-US" sz="2400" dirty="0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B1FEB9DA-82FE-D912-F5F1-C117E3A9FAD6}"/>
              </a:ext>
            </a:extLst>
          </p:cNvPr>
          <p:cNvSpPr txBox="1"/>
          <p:nvPr/>
        </p:nvSpPr>
        <p:spPr>
          <a:xfrm>
            <a:off x="5695600" y="4842728"/>
            <a:ext cx="37363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[0, 0, 0, 1, 1, 1, 1, 1]</a:t>
            </a:r>
            <a:endParaRPr kumimoji="1" lang="zh-TW" altLang="en-US" sz="2400" dirty="0"/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7CA77256-622E-1395-FBCD-5C362C6A4B61}"/>
              </a:ext>
            </a:extLst>
          </p:cNvPr>
          <p:cNvSpPr txBox="1"/>
          <p:nvPr/>
        </p:nvSpPr>
        <p:spPr>
          <a:xfrm>
            <a:off x="4157098" y="4842222"/>
            <a:ext cx="755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D2</a:t>
            </a:r>
            <a:endParaRPr kumimoji="1" lang="zh-TW" altLang="en-US" sz="2400" dirty="0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00357487-F59E-0368-870E-025E5B7EBBEF}"/>
              </a:ext>
            </a:extLst>
          </p:cNvPr>
          <p:cNvSpPr txBox="1"/>
          <p:nvPr/>
        </p:nvSpPr>
        <p:spPr>
          <a:xfrm>
            <a:off x="3979478" y="5578582"/>
            <a:ext cx="76560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Notes: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TW" dirty="0"/>
              <a:t>The vector size is equal to the vocab size.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TW" dirty="0"/>
              <a:t>Each position of a vector is corresponding to the position in the vocab.</a:t>
            </a:r>
            <a:endParaRPr kumimoji="1" lang="zh-TW" altLang="en-US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894D74E4-EEBC-72D7-D44D-DB9545EC0D7A}"/>
              </a:ext>
            </a:extLst>
          </p:cNvPr>
          <p:cNvSpPr txBox="1"/>
          <p:nvPr/>
        </p:nvSpPr>
        <p:spPr>
          <a:xfrm>
            <a:off x="6942583" y="1371715"/>
            <a:ext cx="46929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sz="1200" dirty="0"/>
              <a:t>https://</a:t>
            </a:r>
            <a:r>
              <a:rPr kumimoji="1" lang="en" altLang="zh-TW" sz="1200" dirty="0" err="1"/>
              <a:t>github.com</a:t>
            </a:r>
            <a:r>
              <a:rPr kumimoji="1" lang="en" altLang="zh-TW" sz="1200" dirty="0"/>
              <a:t>/mcps5601/CGUNLP_2025_Spring/code/</a:t>
            </a:r>
            <a:r>
              <a:rPr kumimoji="1" lang="en" altLang="zh-TW" sz="1200" dirty="0" err="1"/>
              <a:t>bow.py</a:t>
            </a:r>
            <a:endParaRPr kumimoji="1" lang="zh-TW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4337826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9740635-0F78-3FD4-B08C-4E32144CB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/>
              <a:t>Bag-of-words Model (Example 2)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B00982A-DB86-2B5D-278C-E54245FF8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6A60A35-A21F-CE23-52CB-5CA295ACF1C9}"/>
              </a:ext>
            </a:extLst>
          </p:cNvPr>
          <p:cNvSpPr txBox="1"/>
          <p:nvPr/>
        </p:nvSpPr>
        <p:spPr>
          <a:xfrm>
            <a:off x="963083" y="2695755"/>
            <a:ext cx="25222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Corpus</a:t>
            </a:r>
            <a:endParaRPr kumimoji="1" lang="zh-TW" altLang="en-US" sz="2400" dirty="0"/>
          </a:p>
        </p:txBody>
      </p:sp>
      <p:grpSp>
        <p:nvGrpSpPr>
          <p:cNvPr id="7" name="群組 6">
            <a:extLst>
              <a:ext uri="{FF2B5EF4-FFF2-40B4-BE49-F238E27FC236}">
                <a16:creationId xmlns:a16="http://schemas.microsoft.com/office/drawing/2014/main" id="{3FE3A9E6-178C-25EF-10B2-6C50B5EEF52D}"/>
              </a:ext>
            </a:extLst>
          </p:cNvPr>
          <p:cNvGrpSpPr/>
          <p:nvPr/>
        </p:nvGrpSpPr>
        <p:grpSpPr>
          <a:xfrm>
            <a:off x="825925" y="3131964"/>
            <a:ext cx="2798910" cy="1178802"/>
            <a:chOff x="653143" y="4097438"/>
            <a:chExt cx="2798910" cy="1178802"/>
          </a:xfrm>
        </p:grpSpPr>
        <p:sp>
          <p:nvSpPr>
            <p:cNvPr id="8" name="圓角矩形 7">
              <a:extLst>
                <a:ext uri="{FF2B5EF4-FFF2-40B4-BE49-F238E27FC236}">
                  <a16:creationId xmlns:a16="http://schemas.microsoft.com/office/drawing/2014/main" id="{E92724EC-71C4-1DC1-0B1E-C1037BB6A083}"/>
                </a:ext>
              </a:extLst>
            </p:cNvPr>
            <p:cNvSpPr/>
            <p:nvPr/>
          </p:nvSpPr>
          <p:spPr>
            <a:xfrm>
              <a:off x="790303" y="4219072"/>
              <a:ext cx="2522218" cy="400110"/>
            </a:xfrm>
            <a:prstGeom prst="roundRect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TW" dirty="0">
                  <a:solidFill>
                    <a:schemeClr val="tx1"/>
                  </a:solidFill>
                </a:rPr>
                <a:t>I </a:t>
              </a:r>
              <a:r>
                <a:rPr kumimoji="1" lang="en-US" altLang="zh-TW" dirty="0">
                  <a:solidFill>
                    <a:srgbClr val="FF0000"/>
                  </a:solidFill>
                </a:rPr>
                <a:t>like</a:t>
              </a:r>
              <a:r>
                <a:rPr kumimoji="1" lang="en-US" altLang="zh-TW" dirty="0">
                  <a:solidFill>
                    <a:schemeClr val="tx1"/>
                  </a:solidFill>
                </a:rPr>
                <a:t> like to eat apple</a:t>
              </a:r>
              <a:endParaRPr kumimoji="1"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9" name="圓角矩形 8">
              <a:extLst>
                <a:ext uri="{FF2B5EF4-FFF2-40B4-BE49-F238E27FC236}">
                  <a16:creationId xmlns:a16="http://schemas.microsoft.com/office/drawing/2014/main" id="{8837E66C-DCE7-BD5F-90DE-0C7D3F49FD21}"/>
                </a:ext>
              </a:extLst>
            </p:cNvPr>
            <p:cNvSpPr/>
            <p:nvPr/>
          </p:nvSpPr>
          <p:spPr>
            <a:xfrm>
              <a:off x="806587" y="4740816"/>
              <a:ext cx="2522219" cy="400110"/>
            </a:xfrm>
            <a:prstGeom prst="roundRect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TW" dirty="0">
                  <a:solidFill>
                    <a:schemeClr val="tx1"/>
                  </a:solidFill>
                </a:rPr>
                <a:t>You </a:t>
              </a:r>
              <a:r>
                <a:rPr kumimoji="1" lang="en-US" altLang="zh-TW" dirty="0">
                  <a:solidFill>
                    <a:srgbClr val="FF0000"/>
                  </a:solidFill>
                </a:rPr>
                <a:t>I</a:t>
              </a:r>
              <a:r>
                <a:rPr kumimoji="1" lang="en-US" altLang="zh-TW" dirty="0">
                  <a:solidFill>
                    <a:schemeClr val="tx1"/>
                  </a:solidFill>
                </a:rPr>
                <a:t> like to watch TV</a:t>
              </a:r>
              <a:endParaRPr kumimoji="1"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CBB4CE8B-7A12-1041-CEDE-1EFA5010A0A3}"/>
                </a:ext>
              </a:extLst>
            </p:cNvPr>
            <p:cNvSpPr/>
            <p:nvPr/>
          </p:nvSpPr>
          <p:spPr>
            <a:xfrm>
              <a:off x="653143" y="4097438"/>
              <a:ext cx="2798910" cy="117880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</p:grpSp>
      <p:sp>
        <p:nvSpPr>
          <p:cNvPr id="26" name="向右箭號 25">
            <a:extLst>
              <a:ext uri="{FF2B5EF4-FFF2-40B4-BE49-F238E27FC236}">
                <a16:creationId xmlns:a16="http://schemas.microsoft.com/office/drawing/2014/main" id="{B4D3624E-67C6-F226-19A9-5E5081C8D753}"/>
              </a:ext>
            </a:extLst>
          </p:cNvPr>
          <p:cNvSpPr/>
          <p:nvPr/>
        </p:nvSpPr>
        <p:spPr>
          <a:xfrm rot="19833262">
            <a:off x="3850820" y="3030788"/>
            <a:ext cx="257319" cy="26679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" name="圓角矩形 2">
            <a:extLst>
              <a:ext uri="{FF2B5EF4-FFF2-40B4-BE49-F238E27FC236}">
                <a16:creationId xmlns:a16="http://schemas.microsoft.com/office/drawing/2014/main" id="{E04B12FD-B3E4-C022-DC8B-E6A8776A9925}"/>
              </a:ext>
            </a:extLst>
          </p:cNvPr>
          <p:cNvSpPr/>
          <p:nvPr/>
        </p:nvSpPr>
        <p:spPr>
          <a:xfrm>
            <a:off x="4267465" y="2695753"/>
            <a:ext cx="843382" cy="302786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apple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5" name="圓角矩形 4">
            <a:extLst>
              <a:ext uri="{FF2B5EF4-FFF2-40B4-BE49-F238E27FC236}">
                <a16:creationId xmlns:a16="http://schemas.microsoft.com/office/drawing/2014/main" id="{E61DFEED-A5B8-BAF6-BCF5-95D83687A43E}"/>
              </a:ext>
            </a:extLst>
          </p:cNvPr>
          <p:cNvSpPr/>
          <p:nvPr/>
        </p:nvSpPr>
        <p:spPr>
          <a:xfrm>
            <a:off x="5183333" y="2695753"/>
            <a:ext cx="843382" cy="292094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eat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AB08E2D8-3628-BBD7-6E73-3297EE5695D6}"/>
              </a:ext>
            </a:extLst>
          </p:cNvPr>
          <p:cNvSpPr/>
          <p:nvPr/>
        </p:nvSpPr>
        <p:spPr>
          <a:xfrm>
            <a:off x="6099201" y="2695753"/>
            <a:ext cx="843382" cy="292094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I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3" name="圓角矩形 12">
            <a:extLst>
              <a:ext uri="{FF2B5EF4-FFF2-40B4-BE49-F238E27FC236}">
                <a16:creationId xmlns:a16="http://schemas.microsoft.com/office/drawing/2014/main" id="{85FF19A3-8063-F2CF-6102-AF08A99FA659}"/>
              </a:ext>
            </a:extLst>
          </p:cNvPr>
          <p:cNvSpPr/>
          <p:nvPr/>
        </p:nvSpPr>
        <p:spPr>
          <a:xfrm>
            <a:off x="7015069" y="2695753"/>
            <a:ext cx="843382" cy="292094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like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4" name="圓角矩形 13">
            <a:extLst>
              <a:ext uri="{FF2B5EF4-FFF2-40B4-BE49-F238E27FC236}">
                <a16:creationId xmlns:a16="http://schemas.microsoft.com/office/drawing/2014/main" id="{57CE6C4C-E1A6-CB69-C860-4916218CEDD2}"/>
              </a:ext>
            </a:extLst>
          </p:cNvPr>
          <p:cNvSpPr/>
          <p:nvPr/>
        </p:nvSpPr>
        <p:spPr>
          <a:xfrm>
            <a:off x="9762673" y="2695753"/>
            <a:ext cx="843382" cy="292095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watch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5" name="圓角矩形 14">
            <a:extLst>
              <a:ext uri="{FF2B5EF4-FFF2-40B4-BE49-F238E27FC236}">
                <a16:creationId xmlns:a16="http://schemas.microsoft.com/office/drawing/2014/main" id="{253D99E8-C3E0-6B67-8DBF-2C14ABC8FDBE}"/>
              </a:ext>
            </a:extLst>
          </p:cNvPr>
          <p:cNvSpPr/>
          <p:nvPr/>
        </p:nvSpPr>
        <p:spPr>
          <a:xfrm>
            <a:off x="7930937" y="2695753"/>
            <a:ext cx="843382" cy="292097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to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6" name="圓角矩形 15">
            <a:extLst>
              <a:ext uri="{FF2B5EF4-FFF2-40B4-BE49-F238E27FC236}">
                <a16:creationId xmlns:a16="http://schemas.microsoft.com/office/drawing/2014/main" id="{AB009D8E-ED78-F0F1-C075-AAD83D937301}"/>
              </a:ext>
            </a:extLst>
          </p:cNvPr>
          <p:cNvSpPr/>
          <p:nvPr/>
        </p:nvSpPr>
        <p:spPr>
          <a:xfrm>
            <a:off x="8846805" y="2695753"/>
            <a:ext cx="843382" cy="292097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TV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7" name="圓角矩形 16">
            <a:extLst>
              <a:ext uri="{FF2B5EF4-FFF2-40B4-BE49-F238E27FC236}">
                <a16:creationId xmlns:a16="http://schemas.microsoft.com/office/drawing/2014/main" id="{DCEC4AA4-47D6-DB13-2086-1FE88B9EDC41}"/>
              </a:ext>
            </a:extLst>
          </p:cNvPr>
          <p:cNvSpPr/>
          <p:nvPr/>
        </p:nvSpPr>
        <p:spPr>
          <a:xfrm>
            <a:off x="10678544" y="2695753"/>
            <a:ext cx="843382" cy="292095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you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9" name="向右箭號 18">
            <a:extLst>
              <a:ext uri="{FF2B5EF4-FFF2-40B4-BE49-F238E27FC236}">
                <a16:creationId xmlns:a16="http://schemas.microsoft.com/office/drawing/2014/main" id="{84653EAD-EA51-8EB0-19D0-5BBFCFBC809C}"/>
              </a:ext>
            </a:extLst>
          </p:cNvPr>
          <p:cNvSpPr/>
          <p:nvPr/>
        </p:nvSpPr>
        <p:spPr>
          <a:xfrm rot="5400000">
            <a:off x="7435130" y="3238101"/>
            <a:ext cx="257319" cy="26679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84B69181-7350-18C7-D5DC-27C858BEF802}"/>
              </a:ext>
            </a:extLst>
          </p:cNvPr>
          <p:cNvSpPr txBox="1"/>
          <p:nvPr/>
        </p:nvSpPr>
        <p:spPr>
          <a:xfrm>
            <a:off x="207408" y="3222820"/>
            <a:ext cx="755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D1</a:t>
            </a:r>
            <a:endParaRPr kumimoji="1" lang="zh-TW" altLang="en-US" sz="2400" dirty="0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8834842A-6D35-0D9D-7FE9-F640F6BA5E92}"/>
              </a:ext>
            </a:extLst>
          </p:cNvPr>
          <p:cNvSpPr txBox="1"/>
          <p:nvPr/>
        </p:nvSpPr>
        <p:spPr>
          <a:xfrm>
            <a:off x="223694" y="3743190"/>
            <a:ext cx="755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D2</a:t>
            </a:r>
            <a:endParaRPr kumimoji="1" lang="zh-TW" altLang="en-US" sz="2400" dirty="0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D7EC8323-B978-A3CA-82B8-383A3A0A657E}"/>
              </a:ext>
            </a:extLst>
          </p:cNvPr>
          <p:cNvSpPr txBox="1"/>
          <p:nvPr/>
        </p:nvSpPr>
        <p:spPr>
          <a:xfrm>
            <a:off x="4157098" y="4204855"/>
            <a:ext cx="755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D1</a:t>
            </a:r>
            <a:endParaRPr kumimoji="1" lang="zh-TW" altLang="en-US" sz="2400" dirty="0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A84FA604-B6AD-41CD-0D8D-97FCE09327B8}"/>
              </a:ext>
            </a:extLst>
          </p:cNvPr>
          <p:cNvSpPr txBox="1"/>
          <p:nvPr/>
        </p:nvSpPr>
        <p:spPr>
          <a:xfrm>
            <a:off x="5695601" y="4204855"/>
            <a:ext cx="37363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[1, 1, 1, </a:t>
            </a:r>
            <a:r>
              <a:rPr kumimoji="1" lang="en-US" altLang="zh-TW" sz="2400" dirty="0">
                <a:solidFill>
                  <a:srgbClr val="FF0000"/>
                </a:solidFill>
              </a:rPr>
              <a:t>2</a:t>
            </a:r>
            <a:r>
              <a:rPr kumimoji="1" lang="en-US" altLang="zh-TW" sz="2400" dirty="0"/>
              <a:t>, 1, 0, 0, 0]</a:t>
            </a:r>
            <a:endParaRPr kumimoji="1" lang="zh-TW" altLang="en-US" sz="2400" dirty="0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B1FEB9DA-82FE-D912-F5F1-C117E3A9FAD6}"/>
              </a:ext>
            </a:extLst>
          </p:cNvPr>
          <p:cNvSpPr txBox="1"/>
          <p:nvPr/>
        </p:nvSpPr>
        <p:spPr>
          <a:xfrm>
            <a:off x="5695600" y="4842728"/>
            <a:ext cx="37363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[0, 0, </a:t>
            </a:r>
            <a:r>
              <a:rPr kumimoji="1" lang="en-US" altLang="zh-TW" sz="2400" dirty="0">
                <a:solidFill>
                  <a:srgbClr val="FF0000"/>
                </a:solidFill>
              </a:rPr>
              <a:t>1</a:t>
            </a:r>
            <a:r>
              <a:rPr kumimoji="1" lang="en-US" altLang="zh-TW" sz="2400" dirty="0"/>
              <a:t>, 1, 1, 1, 1, 1]</a:t>
            </a:r>
            <a:endParaRPr kumimoji="1" lang="zh-TW" altLang="en-US" sz="2400" dirty="0"/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7CA77256-622E-1395-FBCD-5C362C6A4B61}"/>
              </a:ext>
            </a:extLst>
          </p:cNvPr>
          <p:cNvSpPr txBox="1"/>
          <p:nvPr/>
        </p:nvSpPr>
        <p:spPr>
          <a:xfrm>
            <a:off x="4157098" y="4842222"/>
            <a:ext cx="755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D2</a:t>
            </a:r>
            <a:endParaRPr kumimoji="1" lang="zh-TW" altLang="en-US" sz="2400" dirty="0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37E08FCD-2311-0815-BFCA-C26F8F29D2B1}"/>
              </a:ext>
            </a:extLst>
          </p:cNvPr>
          <p:cNvSpPr txBox="1"/>
          <p:nvPr/>
        </p:nvSpPr>
        <p:spPr>
          <a:xfrm>
            <a:off x="5310361" y="2036451"/>
            <a:ext cx="48928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/>
              <a:t>Step 1: Find unique words (vocab)</a:t>
            </a:r>
            <a:endParaRPr kumimoji="1" lang="zh-TW" altLang="en-US" sz="2400" dirty="0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5A83F795-000B-B8BE-BE38-A00FA2F5D893}"/>
              </a:ext>
            </a:extLst>
          </p:cNvPr>
          <p:cNvSpPr txBox="1"/>
          <p:nvPr/>
        </p:nvSpPr>
        <p:spPr>
          <a:xfrm>
            <a:off x="5310361" y="3566982"/>
            <a:ext cx="45373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/>
              <a:t>Step 2: Form document vectors</a:t>
            </a:r>
            <a:endParaRPr kumimoji="1" lang="zh-TW" altLang="en-US" sz="2400" dirty="0"/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E53E570C-4F5C-A229-869E-10D02849DA2B}"/>
              </a:ext>
            </a:extLst>
          </p:cNvPr>
          <p:cNvSpPr txBox="1"/>
          <p:nvPr/>
        </p:nvSpPr>
        <p:spPr>
          <a:xfrm>
            <a:off x="3979478" y="5578582"/>
            <a:ext cx="76560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Notes: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TW" dirty="0"/>
              <a:t>The vector size is equal to the vocab size.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TW" dirty="0"/>
              <a:t>Each position of a vector is corresponding to the position in the vocab.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6816600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AB44E-757D-D8FC-C81B-2FF80DAC0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2986563-6974-7813-7E7A-5DA8DF378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altLang="en-US" dirty="0">
                <a:latin typeface="Calibri" panose="020F0502020204030204" pitchFamily="34" charset="0"/>
                <a:ea typeface="新細明體"/>
                <a:cs typeface="+mj-lt"/>
              </a:rPr>
              <a:t>TF-IDF</a:t>
            </a:r>
            <a:endParaRPr 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2424A5D-C1CB-23C6-04B0-ABA052027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15</a:t>
            </a:fld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ADD7B09E-251F-E78D-5347-A7605CF5B98F}"/>
              </a:ext>
            </a:extLst>
          </p:cNvPr>
          <p:cNvSpPr txBox="1"/>
          <p:nvPr/>
        </p:nvSpPr>
        <p:spPr>
          <a:xfrm>
            <a:off x="709205" y="1860899"/>
            <a:ext cx="610307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000" dirty="0">
                <a:ea typeface="新細明體"/>
                <a:cs typeface="Times New Roman" panose="02020603050405020304"/>
              </a:rPr>
              <a:t>TF (Term Frequency; </a:t>
            </a: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/>
              </a:rPr>
              <a:t>詞頻</a:t>
            </a:r>
            <a:r>
              <a:rPr lang="en-US" altLang="zh-TW" sz="2000" dirty="0">
                <a:ea typeface="新細明體"/>
                <a:cs typeface="Times New Roman" panose="02020603050405020304"/>
              </a:rPr>
              <a:t>)</a:t>
            </a:r>
            <a:r>
              <a:rPr lang="en-US" altLang="zh-TW" sz="2000" dirty="0">
                <a:solidFill>
                  <a:srgbClr val="404040"/>
                </a:solidFill>
                <a:ea typeface="新細明體"/>
                <a:cs typeface="Times New Roman" panose="02020603050405020304"/>
              </a:rPr>
              <a:t> 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000" dirty="0">
                <a:ea typeface="新細明體"/>
                <a:cs typeface="Times New Roman" panose="02020603050405020304"/>
              </a:rPr>
              <a:t>IDF (</a:t>
            </a:r>
            <a:r>
              <a:rPr lang="en-US" altLang="zh-TW" sz="2000" dirty="0">
                <a:solidFill>
                  <a:srgbClr val="404040"/>
                </a:solidFill>
                <a:ea typeface="新細明體"/>
                <a:cs typeface="Times New Roman" panose="02020603050405020304"/>
              </a:rPr>
              <a:t>Inverse Document Frequency;</a:t>
            </a:r>
            <a:r>
              <a:rPr lang="zh-TW" altLang="en-US" sz="2000" dirty="0">
                <a:solidFill>
                  <a:srgbClr val="404040"/>
                </a:solidFill>
                <a:ea typeface="新細明體"/>
                <a:cs typeface="Times New Roman" panose="02020603050405020304"/>
              </a:rPr>
              <a:t> </a:t>
            </a: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/>
              </a:rPr>
              <a:t>逆文本頻率</a:t>
            </a:r>
            <a:r>
              <a:rPr lang="en-US" altLang="zh-TW" sz="2000" dirty="0">
                <a:ea typeface="新細明體"/>
                <a:cs typeface="Times New Roman" panose="02020603050405020304"/>
              </a:rPr>
              <a:t>) 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CBB5ED72-91F8-C080-FDD3-48F9C70B3876}"/>
              </a:ext>
            </a:extLst>
          </p:cNvPr>
          <p:cNvSpPr txBox="1"/>
          <p:nvPr/>
        </p:nvSpPr>
        <p:spPr>
          <a:xfrm>
            <a:off x="3798570" y="3364914"/>
            <a:ext cx="21412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TW" sz="3600" b="1" dirty="0"/>
              <a:t>TF x IDF</a:t>
            </a:r>
            <a:endParaRPr lang="zh-TW" altLang="en-US" sz="3600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165A7588-CF1F-0F15-26D3-ABE38741D3B8}"/>
              </a:ext>
            </a:extLst>
          </p:cNvPr>
          <p:cNvSpPr txBox="1"/>
          <p:nvPr/>
        </p:nvSpPr>
        <p:spPr>
          <a:xfrm>
            <a:off x="2400300" y="4475615"/>
            <a:ext cx="16078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>
                <a:solidFill>
                  <a:srgbClr val="FF0000"/>
                </a:solidFill>
              </a:rPr>
              <a:t>某詞出現在該句子的頻率</a:t>
            </a:r>
          </a:p>
        </p:txBody>
      </p:sp>
      <p:cxnSp>
        <p:nvCxnSpPr>
          <p:cNvPr id="15" name="直線箭頭接點 14">
            <a:extLst>
              <a:ext uri="{FF2B5EF4-FFF2-40B4-BE49-F238E27FC236}">
                <a16:creationId xmlns:a16="http://schemas.microsoft.com/office/drawing/2014/main" id="{F3E3F0FF-A6BA-B39C-3E40-A23150165382}"/>
              </a:ext>
            </a:extLst>
          </p:cNvPr>
          <p:cNvCxnSpPr>
            <a:stCxn id="11" idx="0"/>
          </p:cNvCxnSpPr>
          <p:nvPr/>
        </p:nvCxnSpPr>
        <p:spPr>
          <a:xfrm flipV="1">
            <a:off x="3204210" y="4011245"/>
            <a:ext cx="956310" cy="46437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986542C1-CAFA-1D84-9A2A-75FA846DBBEE}"/>
              </a:ext>
            </a:extLst>
          </p:cNvPr>
          <p:cNvSpPr txBox="1"/>
          <p:nvPr/>
        </p:nvSpPr>
        <p:spPr>
          <a:xfrm>
            <a:off x="4640580" y="4475614"/>
            <a:ext cx="16078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>
                <a:solidFill>
                  <a:schemeClr val="accent6"/>
                </a:solidFill>
              </a:rPr>
              <a:t>某詞出現在全部文本的頻率的倒數</a:t>
            </a:r>
          </a:p>
        </p:txBody>
      </p:sp>
      <p:cxnSp>
        <p:nvCxnSpPr>
          <p:cNvPr id="19" name="直線箭頭接點 18">
            <a:extLst>
              <a:ext uri="{FF2B5EF4-FFF2-40B4-BE49-F238E27FC236}">
                <a16:creationId xmlns:a16="http://schemas.microsoft.com/office/drawing/2014/main" id="{F1761E22-9A37-B351-1182-9E33F874F52B}"/>
              </a:ext>
            </a:extLst>
          </p:cNvPr>
          <p:cNvCxnSpPr>
            <a:cxnSpLocks/>
          </p:cNvCxnSpPr>
          <p:nvPr/>
        </p:nvCxnSpPr>
        <p:spPr>
          <a:xfrm flipV="1">
            <a:off x="5374005" y="4008065"/>
            <a:ext cx="0" cy="467549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ED0C2968-06C5-4F50-F254-7CBCF12D7B9A}"/>
              </a:ext>
            </a:extLst>
          </p:cNvPr>
          <p:cNvSpPr txBox="1"/>
          <p:nvPr/>
        </p:nvSpPr>
        <p:spPr>
          <a:xfrm>
            <a:off x="5461636" y="3361734"/>
            <a:ext cx="338327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3600" dirty="0"/>
              <a:t>＝關鍵字分數</a:t>
            </a:r>
          </a:p>
        </p:txBody>
      </p:sp>
    </p:spTree>
    <p:extLst>
      <p:ext uri="{BB962C8B-B14F-4D97-AF65-F5344CB8AC3E}">
        <p14:creationId xmlns:p14="http://schemas.microsoft.com/office/powerpoint/2010/main" val="32578658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AB44E-757D-D8FC-C81B-2FF80DAC0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2986563-6974-7813-7E7A-5DA8DF378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altLang="en-US" dirty="0">
                <a:latin typeface="Calibri" panose="020F0502020204030204" pitchFamily="34" charset="0"/>
                <a:ea typeface="新細明體"/>
                <a:cs typeface="+mj-lt"/>
              </a:rPr>
              <a:t>TF-IDF</a:t>
            </a:r>
            <a:endParaRPr lang="zh-TW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783ED63-9573-0814-626B-AD19607F9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009019"/>
            <a:ext cx="10058400" cy="4241074"/>
          </a:xfrm>
        </p:spPr>
        <p:txBody>
          <a:bodyPr vert="horz" lIns="0" tIns="45720" rIns="0" bIns="45720" rtlCol="0" anchor="t">
            <a:normAutofit/>
          </a:bodyPr>
          <a:lstStyle/>
          <a:p>
            <a:pPr marL="342900" indent="-342900">
              <a:buFont typeface="Wingdings" panose="020F0502020204030204" pitchFamily="34" charset="0"/>
              <a:buChar char="Ø"/>
            </a:pPr>
            <a:r>
              <a:rPr lang="en-US" altLang="zh-TW" sz="2400" dirty="0">
                <a:latin typeface="Calibri" panose="020F0502020204030204" pitchFamily="34" charset="0"/>
                <a:ea typeface="新細明體"/>
                <a:cs typeface="Calibri" panose="020F0502020204030204" pitchFamily="34" charset="0"/>
              </a:rPr>
              <a:t>T</a:t>
            </a:r>
            <a:r>
              <a:rPr lang="zh-TW" sz="2400" dirty="0">
                <a:solidFill>
                  <a:srgbClr val="404040"/>
                </a:solidFill>
                <a:latin typeface="Calibri" panose="020F0502020204030204" pitchFamily="34" charset="0"/>
                <a:ea typeface="新細明體"/>
                <a:cs typeface="Calibri" panose="020F0502020204030204" pitchFamily="34" charset="0"/>
              </a:rPr>
              <a:t>he </a:t>
            </a:r>
            <a:r>
              <a:rPr lang="en-US" altLang="zh-TW" sz="2400" dirty="0">
                <a:solidFill>
                  <a:srgbClr val="404040"/>
                </a:solidFill>
                <a:latin typeface="Calibri" panose="020F0502020204030204" pitchFamily="34" charset="0"/>
                <a:ea typeface="新細明體"/>
                <a:cs typeface="Calibri" panose="020F0502020204030204" pitchFamily="34" charset="0"/>
              </a:rPr>
              <a:t>mathematical representation of TF-IDF:</a:t>
            </a:r>
            <a:endParaRPr lang="zh-TW" altLang="en-US" dirty="0">
              <a:latin typeface="Calibri" panose="020F0502020204030204"/>
              <a:ea typeface="新細明體" panose="02020500000000000000" pitchFamily="18" charset="-120"/>
              <a:cs typeface="Calibri" panose="020F0502020204030204"/>
            </a:endParaRPr>
          </a:p>
          <a:p>
            <a:pPr marL="342900" indent="-342900">
              <a:buFont typeface="Wingdings" panose="020F0502020204030204" pitchFamily="34" charset="0"/>
              <a:buChar char="Ø"/>
            </a:pPr>
            <a:endParaRPr lang="en-US" altLang="zh-TW" sz="2400" dirty="0">
              <a:latin typeface="Calibri" panose="020F0502020204030204" pitchFamily="34" charset="0"/>
              <a:ea typeface="新細明體"/>
              <a:cs typeface="Calibri" panose="020F0502020204030204" pitchFamily="34" charset="0"/>
            </a:endParaRPr>
          </a:p>
          <a:p>
            <a:pPr marL="342900" indent="-342900">
              <a:buFont typeface="Wingdings" panose="020F0502020204030204" pitchFamily="34" charset="0"/>
              <a:buChar char="Ø"/>
            </a:pPr>
            <a:endParaRPr lang="en-US" altLang="zh-TW" sz="2400" dirty="0">
              <a:latin typeface="Calibri" panose="020F0502020204030204" pitchFamily="34" charset="0"/>
              <a:ea typeface="新細明體"/>
              <a:cs typeface="Calibri" panose="020F0502020204030204" pitchFamily="34" charset="0"/>
            </a:endParaRPr>
          </a:p>
          <a:p>
            <a:pPr marL="635000" lvl="1" indent="-342900">
              <a:buFont typeface="Courier New" panose="020F0502020204030204" pitchFamily="34" charset="0"/>
              <a:buChar char="o"/>
            </a:pPr>
            <a:r>
              <a:rPr lang="en-US" altLang="zh-TW" sz="2200" dirty="0">
                <a:latin typeface="Calibri" panose="020F0502020204030204" pitchFamily="34" charset="0"/>
                <a:ea typeface="新細明體"/>
                <a:cs typeface="Calibri" panose="020F0502020204030204" pitchFamily="34" charset="0"/>
              </a:rPr>
              <a:t>Where         is the </a:t>
            </a:r>
            <a:r>
              <a:rPr lang="en-US" altLang="zh-TW" sz="2200" dirty="0" err="1">
                <a:solidFill>
                  <a:srgbClr val="0070C0"/>
                </a:solidFill>
                <a:latin typeface="Calibri" panose="020F0502020204030204" pitchFamily="34" charset="0"/>
                <a:ea typeface="新細明體"/>
                <a:cs typeface="Calibri" panose="020F0502020204030204" pitchFamily="34" charset="0"/>
              </a:rPr>
              <a:t>i-th</a:t>
            </a:r>
            <a:r>
              <a:rPr lang="en-US" altLang="zh-TW" sz="2200" dirty="0">
                <a:solidFill>
                  <a:srgbClr val="0070C0"/>
                </a:solidFill>
                <a:latin typeface="Calibri" panose="020F0502020204030204" pitchFamily="34" charset="0"/>
                <a:ea typeface="新細明體"/>
                <a:cs typeface="Calibri" panose="020F0502020204030204" pitchFamily="34" charset="0"/>
              </a:rPr>
              <a:t> word </a:t>
            </a:r>
            <a:r>
              <a:rPr lang="en-US" altLang="zh-TW" sz="2200" dirty="0">
                <a:latin typeface="Calibri" panose="020F0502020204030204" pitchFamily="34" charset="0"/>
                <a:ea typeface="新細明體"/>
                <a:cs typeface="Calibri" panose="020F0502020204030204" pitchFamily="34" charset="0"/>
              </a:rPr>
              <a:t>in </a:t>
            </a:r>
            <a:r>
              <a:rPr lang="en-US" altLang="zh-TW" sz="2200" dirty="0">
                <a:solidFill>
                  <a:srgbClr val="FF0000"/>
                </a:solidFill>
                <a:latin typeface="Calibri" panose="020F0502020204030204" pitchFamily="34" charset="0"/>
                <a:ea typeface="新細明體"/>
                <a:cs typeface="Calibri" panose="020F0502020204030204" pitchFamily="34" charset="0"/>
              </a:rPr>
              <a:t>the j-</a:t>
            </a:r>
            <a:r>
              <a:rPr lang="en-US" altLang="zh-TW" sz="2200" dirty="0" err="1">
                <a:solidFill>
                  <a:srgbClr val="FF0000"/>
                </a:solidFill>
                <a:latin typeface="Calibri" panose="020F0502020204030204" pitchFamily="34" charset="0"/>
                <a:ea typeface="新細明體"/>
                <a:cs typeface="Calibri" panose="020F0502020204030204" pitchFamily="34" charset="0"/>
              </a:rPr>
              <a:t>th</a:t>
            </a:r>
            <a:r>
              <a:rPr lang="en-US" altLang="zh-TW" sz="2200" dirty="0">
                <a:solidFill>
                  <a:srgbClr val="FF0000"/>
                </a:solidFill>
                <a:latin typeface="Calibri" panose="020F0502020204030204" pitchFamily="34" charset="0"/>
                <a:ea typeface="新細明體"/>
                <a:cs typeface="Calibri" panose="020F0502020204030204" pitchFamily="34" charset="0"/>
              </a:rPr>
              <a:t> document </a:t>
            </a:r>
            <a:r>
              <a:rPr lang="en-US" altLang="zh-TW" sz="2200" dirty="0">
                <a:latin typeface="Calibri" panose="020F0502020204030204" pitchFamily="34" charset="0"/>
                <a:ea typeface="新細明體"/>
                <a:cs typeface="Calibri" panose="020F0502020204030204" pitchFamily="34" charset="0"/>
              </a:rPr>
              <a:t>in the dataset.</a:t>
            </a:r>
          </a:p>
          <a:p>
            <a:pPr marL="342900" indent="-342900">
              <a:buFont typeface="Wingdings" panose="020F0502020204030204" pitchFamily="34" charset="0"/>
              <a:buChar char="Ø"/>
            </a:pPr>
            <a:r>
              <a:rPr lang="en-US" altLang="zh-TW" sz="2400" dirty="0">
                <a:latin typeface="Calibri" panose="020F0502020204030204" pitchFamily="34" charset="0"/>
                <a:ea typeface="新細明體"/>
                <a:cs typeface="Calibri" panose="020F0502020204030204" pitchFamily="34" charset="0"/>
              </a:rPr>
              <a:t>TF (Term Frequency)</a:t>
            </a:r>
            <a:r>
              <a:rPr lang="en-US" altLang="zh-TW" sz="2400" dirty="0">
                <a:solidFill>
                  <a:srgbClr val="404040"/>
                </a:solidFill>
                <a:latin typeface="Calibri" panose="020F0502020204030204" pitchFamily="34" charset="0"/>
                <a:ea typeface="新細明體"/>
                <a:cs typeface="Calibri" panose="020F0502020204030204" pitchFamily="34" charset="0"/>
              </a:rPr>
              <a:t> </a:t>
            </a:r>
          </a:p>
          <a:p>
            <a:pPr marL="635000" lvl="1" indent="-342900">
              <a:buFont typeface="Courier New" panose="020F0502020204030204" pitchFamily="34" charset="0"/>
              <a:buChar char="o"/>
            </a:pPr>
            <a:r>
              <a:rPr lang="en-US" altLang="zh-TW" sz="2200" dirty="0">
                <a:solidFill>
                  <a:srgbClr val="404040"/>
                </a:solidFill>
                <a:latin typeface="Calibri" panose="020F0502020204030204" pitchFamily="34" charset="0"/>
                <a:ea typeface="新細明體"/>
                <a:cs typeface="Calibri" panose="020F0502020204030204" pitchFamily="34" charset="0"/>
              </a:rPr>
              <a:t>Represents the "frequency" of a term appearing in a text.</a:t>
            </a:r>
            <a:endParaRPr lang="en-US" sz="2200" dirty="0"/>
          </a:p>
          <a:p>
            <a:pPr marL="342900" indent="-342900">
              <a:buFont typeface="Wingdings" panose="020F0502020204030204" pitchFamily="34" charset="0"/>
              <a:buChar char="Ø"/>
            </a:pPr>
            <a:r>
              <a:rPr lang="en-US" altLang="zh-TW" sz="2400" dirty="0">
                <a:latin typeface="Calibri" panose="020F0502020204030204" pitchFamily="34" charset="0"/>
                <a:ea typeface="新細明體"/>
                <a:cs typeface="Calibri" panose="020F0502020204030204" pitchFamily="34" charset="0"/>
              </a:rPr>
              <a:t>IDF (</a:t>
            </a:r>
            <a:r>
              <a:rPr lang="en-US" altLang="zh-TW" sz="2400" dirty="0">
                <a:solidFill>
                  <a:srgbClr val="404040"/>
                </a:solidFill>
                <a:latin typeface="Calibri" panose="020F0502020204030204" pitchFamily="34" charset="0"/>
                <a:ea typeface="新細明體"/>
                <a:cs typeface="Calibri" panose="020F0502020204030204" pitchFamily="34" charset="0"/>
              </a:rPr>
              <a:t>Inverse Document Frequency</a:t>
            </a:r>
            <a:r>
              <a:rPr lang="en-US" altLang="zh-TW" sz="2400" dirty="0">
                <a:latin typeface="Calibri" panose="020F0502020204030204" pitchFamily="34" charset="0"/>
                <a:ea typeface="新細明體"/>
                <a:cs typeface="Calibri" panose="020F0502020204030204" pitchFamily="34" charset="0"/>
              </a:rPr>
              <a:t>) </a:t>
            </a:r>
          </a:p>
          <a:p>
            <a:pPr marL="635000" lvl="1" indent="-342900">
              <a:buFont typeface="Courier New" panose="020F0502020204030204" pitchFamily="34" charset="0"/>
              <a:buChar char="o"/>
            </a:pPr>
            <a:r>
              <a:rPr lang="en-US" sz="2200" dirty="0">
                <a:latin typeface="Calibri" panose="020F0502020204030204" pitchFamily="34" charset="0"/>
                <a:ea typeface="+mn-lt"/>
                <a:cs typeface="+mn-lt"/>
              </a:rPr>
              <a:t>Aims for terms to have higher specificity, meaning the fewer texts in the dataset contain the term, the better.</a:t>
            </a:r>
            <a:r>
              <a:rPr lang="en-US" altLang="zh-TW" sz="2200" dirty="0">
                <a:latin typeface="Calibri" panose="020F0502020204030204" pitchFamily="34" charset="0"/>
                <a:ea typeface="新細明體"/>
                <a:cs typeface="Calibri" panose="020F0502020204030204" pitchFamily="34" charset="0"/>
              </a:rPr>
              <a:t> </a:t>
            </a:r>
            <a:endParaRPr lang="en-US" sz="2000" dirty="0">
              <a:ea typeface="Calibri" panose="020F0502020204030204"/>
              <a:cs typeface="Calibri" panose="020F0502020204030204"/>
            </a:endParaRPr>
          </a:p>
          <a:p>
            <a:pPr marL="342900" indent="-342900">
              <a:buFont typeface="Wingdings" panose="020F0502020204030204" pitchFamily="34" charset="0"/>
              <a:buChar char="Ø"/>
            </a:pPr>
            <a:endParaRPr lang="en-US" altLang="zh-TW" sz="2400" dirty="0">
              <a:latin typeface="Calibri" panose="020F0502020204030204" pitchFamily="34" charset="0"/>
              <a:ea typeface="新細明體"/>
              <a:cs typeface="Calibri" panose="020F0502020204030204" pitchFamily="34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2424A5D-C1CB-23C6-04B0-ABA052027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16</a:t>
            </a:fld>
            <a:endParaRPr lang="zh-TW" altLang="en-US"/>
          </a:p>
        </p:txBody>
      </p:sp>
      <p:sp>
        <p:nvSpPr>
          <p:cNvPr id="5" name="箭號: 向右 4">
            <a:extLst>
              <a:ext uri="{FF2B5EF4-FFF2-40B4-BE49-F238E27FC236}">
                <a16:creationId xmlns:a16="http://schemas.microsoft.com/office/drawing/2014/main" id="{A2A3A169-9E90-CFA3-32B5-27A5C179D58B}"/>
              </a:ext>
            </a:extLst>
          </p:cNvPr>
          <p:cNvSpPr/>
          <p:nvPr/>
        </p:nvSpPr>
        <p:spPr>
          <a:xfrm>
            <a:off x="4412832" y="2528207"/>
            <a:ext cx="1138881" cy="740228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rgbClr val="000000"/>
                </a:solidFill>
                <a:ea typeface="新細明體"/>
                <a:cs typeface="Calibri"/>
              </a:rPr>
              <a:t>where</a:t>
            </a:r>
            <a:endParaRPr lang="zh-TW" dirty="0">
              <a:solidFill>
                <a:srgbClr val="000000"/>
              </a:solidFill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88267CF3-527F-509A-CDD6-625EABCC102A}"/>
              </a:ext>
            </a:extLst>
          </p:cNvPr>
          <p:cNvSpPr txBox="1"/>
          <p:nvPr/>
        </p:nvSpPr>
        <p:spPr>
          <a:xfrm>
            <a:off x="1212055" y="2691980"/>
            <a:ext cx="11388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dirty="0">
                <a:solidFill>
                  <a:srgbClr val="404040"/>
                </a:solidFill>
                <a:latin typeface="Calibri" panose="020F0502020204030204" pitchFamily="34" charset="0"/>
                <a:ea typeface="新細明體"/>
                <a:cs typeface="Calibri" panose="020F0502020204030204" pitchFamily="34" charset="0"/>
              </a:rPr>
              <a:t>TF-IDF</a:t>
            </a:r>
            <a:endParaRPr lang="zh-TW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6D190BFE-914C-2DF9-AFA4-4E7FBC06B40C}"/>
                  </a:ext>
                </a:extLst>
              </p:cNvPr>
              <p:cNvSpPr txBox="1"/>
              <p:nvPr/>
            </p:nvSpPr>
            <p:spPr>
              <a:xfrm>
                <a:off x="5267912" y="2502953"/>
                <a:ext cx="2793733" cy="8397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TW" altLang="en-US" sz="2400"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m:rPr>
                              <m:sty m:val="p"/>
                            </m:rPr>
                            <a:rPr lang="en-US" altLang="zh-TW" sz="2400"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TW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zh-TW" altLang="en-US" sz="2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TW" alt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zh-TW" altLang="en-US" sz="2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supHide m:val="on"/>
                              <m:ctrlP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zh-TW" alt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zh-TW" alt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zh-TW" altLang="en-US" sz="24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zh-TW" alt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6D190BFE-914C-2DF9-AFA4-4E7FBC06B4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7912" y="2502953"/>
                <a:ext cx="2793733" cy="839717"/>
              </a:xfrm>
              <a:prstGeom prst="rect">
                <a:avLst/>
              </a:prstGeom>
              <a:blipFill>
                <a:blip r:embed="rId2"/>
                <a:stretch>
                  <a:fillRect t="-29851" b="-10298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0E209317-AEF7-1CFA-9261-9E47EE22EA8A}"/>
                  </a:ext>
                </a:extLst>
              </p:cNvPr>
              <p:cNvSpPr txBox="1"/>
              <p:nvPr/>
            </p:nvSpPr>
            <p:spPr>
              <a:xfrm>
                <a:off x="7889350" y="2452970"/>
                <a:ext cx="3438626" cy="9396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sz="2400" kern="100" smtClean="0"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ID</m:t>
                      </m:r>
                      <m:sSub>
                        <m:sSubPr>
                          <m:ctrlPr>
                            <a:rPr lang="zh-TW" altLang="zh-TW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altLang="zh-TW" sz="2400" kern="10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F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altLang="zh-TW" sz="2400" kern="10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i</m:t>
                          </m:r>
                        </m:sub>
                      </m:sSub>
                      <m:r>
                        <a:rPr lang="en-US" altLang="zh-TW" sz="2400" i="1" kern="100"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=</m:t>
                      </m:r>
                      <m:func>
                        <m:funcPr>
                          <m:ctrlPr>
                            <a:rPr lang="zh-TW" altLang="zh-TW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2400" i="0" kern="10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log</m:t>
                          </m:r>
                        </m:fName>
                        <m:e>
                          <m:f>
                            <m:fPr>
                              <m:ctrlPr>
                                <a:rPr lang="zh-TW" altLang="zh-TW" sz="24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zh-TW" altLang="zh-TW" sz="24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400" i="1" kern="100">
                                      <a:effectLst/>
                                      <a:latin typeface="Cambria Math" panose="02040503050406030204" pitchFamily="18" charset="0"/>
                                      <a:ea typeface="新細明體" panose="02020500000000000000" pitchFamily="18" charset="-120"/>
                                      <a:cs typeface="Times New Roman" panose="02020603050405020304" pitchFamily="18" charset="0"/>
                                    </a:rPr>
                                    <m:t>𝐷</m:t>
                                  </m:r>
                                </m:e>
                              </m:d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zh-TW" altLang="zh-TW" sz="24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lit/>
                                    </m:rPr>
                                    <a:rPr lang="en-US" altLang="zh-TW" sz="2400" i="1" kern="100">
                                      <a:effectLst/>
                                      <a:latin typeface="Cambria Math" panose="02040503050406030204" pitchFamily="18" charset="0"/>
                                      <a:ea typeface="新細明體" panose="02020500000000000000" pitchFamily="18" charset="-120"/>
                                      <a:cs typeface="Times New Roman" panose="02020603050405020304" pitchFamily="18" charset="0"/>
                                    </a:rPr>
                                    <m:t>{</m:t>
                                  </m:r>
                                  <m:r>
                                    <a:rPr lang="en-US" altLang="zh-TW" sz="2400" i="1" kern="100">
                                      <a:effectLst/>
                                      <a:latin typeface="Cambria Math" panose="02040503050406030204" pitchFamily="18" charset="0"/>
                                      <a:ea typeface="新細明體" panose="02020500000000000000" pitchFamily="18" charset="-12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  <m:r>
                                    <a:rPr lang="en-US" altLang="zh-TW" sz="2400" i="1" kern="100">
                                      <a:effectLst/>
                                      <a:latin typeface="Cambria Math" panose="02040503050406030204" pitchFamily="18" charset="0"/>
                                      <a:ea typeface="新細明體" panose="02020500000000000000" pitchFamily="18" charset="-120"/>
                                      <a:cs typeface="Times New Roman" panose="02020603050405020304" pitchFamily="18" charset="0"/>
                                    </a:rPr>
                                    <m:t>:</m:t>
                                  </m:r>
                                  <m:sSub>
                                    <m:sSubPr>
                                      <m:ctrlPr>
                                        <a:rPr lang="zh-TW" altLang="zh-TW" sz="240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400" i="1" kern="100">
                                          <a:effectLst/>
                                          <a:latin typeface="Cambria Math" panose="02040503050406030204" pitchFamily="18" charset="0"/>
                                          <a:ea typeface="新細明體" panose="02020500000000000000" pitchFamily="18" charset="-120"/>
                                          <a:cs typeface="Times New Roman" panose="020206030504050203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altLang="zh-TW" sz="2400" i="1" kern="100">
                                          <a:effectLst/>
                                          <a:latin typeface="Cambria Math" panose="02040503050406030204" pitchFamily="18" charset="0"/>
                                          <a:ea typeface="新細明體" panose="02020500000000000000" pitchFamily="18" charset="-12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TW" sz="2400" kern="100">
                                      <a:effectLst/>
                                      <a:latin typeface="Cambria Math" panose="02040503050406030204" pitchFamily="18" charset="0"/>
                                      <a:ea typeface="新細明體" panose="02020500000000000000" pitchFamily="18" charset="-120"/>
                                      <a:cs typeface="Times New Roman" panose="02020603050405020304" pitchFamily="18" charset="0"/>
                                    </a:rPr>
                                    <m:t>∈</m:t>
                                  </m:r>
                                  <m:sSub>
                                    <m:sSubPr>
                                      <m:ctrlPr>
                                        <a:rPr lang="zh-TW" altLang="zh-TW" sz="240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400" i="1" kern="100">
                                          <a:effectLst/>
                                          <a:latin typeface="Cambria Math" panose="02040503050406030204" pitchFamily="18" charset="0"/>
                                          <a:ea typeface="新細明體" panose="02020500000000000000" pitchFamily="18" charset="-120"/>
                                          <a:cs typeface="Times New Roman" panose="020206030504050203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US" altLang="zh-TW" sz="2400" i="1" kern="100">
                                          <a:effectLst/>
                                          <a:latin typeface="Cambria Math" panose="02040503050406030204" pitchFamily="18" charset="0"/>
                                          <a:ea typeface="新細明體" panose="02020500000000000000" pitchFamily="18" charset="-120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m:rPr>
                                      <m:lit/>
                                    </m:rPr>
                                    <a:rPr lang="en-US" altLang="zh-TW" sz="2400" i="1" kern="100">
                                      <a:effectLst/>
                                      <a:latin typeface="Cambria Math" panose="02040503050406030204" pitchFamily="18" charset="0"/>
                                      <a:ea typeface="新細明體" panose="02020500000000000000" pitchFamily="18" charset="-120"/>
                                      <a:cs typeface="Times New Roman" panose="02020603050405020304" pitchFamily="18" charset="0"/>
                                    </a:rPr>
                                    <m:t>}</m:t>
                                  </m:r>
                                </m:e>
                              </m:d>
                            </m:den>
                          </m:f>
                        </m:e>
                      </m:func>
                    </m:oMath>
                  </m:oMathPara>
                </a14:m>
                <a:endParaRPr lang="zh-TW" altLang="zh-TW" sz="2400" kern="100" dirty="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0E209317-AEF7-1CFA-9261-9E47EE22EA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9350" y="2452970"/>
                <a:ext cx="3438626" cy="939681"/>
              </a:xfrm>
              <a:prstGeom prst="rect">
                <a:avLst/>
              </a:prstGeom>
              <a:blipFill>
                <a:blip r:embed="rId3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FE935C09-5ADA-1FA5-B88F-90A8ECCAE508}"/>
                  </a:ext>
                </a:extLst>
              </p:cNvPr>
              <p:cNvSpPr txBox="1"/>
              <p:nvPr/>
            </p:nvSpPr>
            <p:spPr>
              <a:xfrm>
                <a:off x="2018620" y="2691977"/>
                <a:ext cx="187933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40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zh-TW" altLang="en-US" sz="2400" i="0">
                          <a:latin typeface="Cambria Math" panose="02040503050406030204" pitchFamily="18" charset="0"/>
                        </a:rPr>
                        <m:t>TF</m:t>
                      </m:r>
                      <m:r>
                        <a:rPr lang="zh-TW" altLang="en-US" sz="2400" i="0">
                          <a:latin typeface="Cambria Math" panose="02040503050406030204" pitchFamily="18" charset="0"/>
                        </a:rPr>
                        <m:t>×</m:t>
                      </m:r>
                      <m:r>
                        <m:rPr>
                          <m:sty m:val="p"/>
                        </m:rPr>
                        <a:rPr lang="zh-TW" altLang="en-US" sz="2400" i="0">
                          <a:latin typeface="Cambria Math" panose="02040503050406030204" pitchFamily="18" charset="0"/>
                        </a:rPr>
                        <m:t>IDF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FE935C09-5ADA-1FA5-B88F-90A8ECCAE5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8620" y="2691977"/>
                <a:ext cx="1879333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E3497250-7036-A932-C334-BAC1A376E341}"/>
                  </a:ext>
                </a:extLst>
              </p:cNvPr>
              <p:cNvSpPr txBox="1"/>
              <p:nvPr/>
            </p:nvSpPr>
            <p:spPr>
              <a:xfrm>
                <a:off x="2370186" y="3322052"/>
                <a:ext cx="849151" cy="4914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TW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E3497250-7036-A932-C334-BAC1A376E3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0186" y="3322052"/>
                <a:ext cx="849151" cy="491417"/>
              </a:xfrm>
              <a:prstGeom prst="rect">
                <a:avLst/>
              </a:prstGeom>
              <a:blipFill>
                <a:blip r:embed="rId5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344814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39AD85D-7A97-E57B-EA4D-C31A1FAEB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TF-IDF </a:t>
            </a:r>
            <a:r>
              <a:rPr kumimoji="1" lang="zh-TW" altLang="en-US" dirty="0"/>
              <a:t>為什麼這樣設計？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37A7236-D039-99F9-67EF-7D325E890F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143" y="1783080"/>
            <a:ext cx="10918371" cy="1851660"/>
          </a:xfrm>
        </p:spPr>
        <p:txBody>
          <a:bodyPr/>
          <a:lstStyle/>
          <a:p>
            <a:pPr>
              <a:buNone/>
            </a:pPr>
            <a:r>
              <a:rPr lang="zh-TW" altLang="en-US" dirty="0"/>
              <a:t>想像你撿到了班上三位同學的日記：</a:t>
            </a:r>
            <a:endParaRPr lang="en-US" altLang="zh-TW" dirty="0"/>
          </a:p>
          <a:p>
            <a:pPr>
              <a:buNone/>
            </a:pPr>
            <a:r>
              <a:rPr lang="zh-TW" altLang="en-US" dirty="0"/>
              <a:t>日記 </a:t>
            </a:r>
            <a:r>
              <a:rPr lang="en" altLang="zh-TW" dirty="0"/>
              <a:t>A (</a:t>
            </a:r>
            <a:r>
              <a:rPr lang="zh-TW" altLang="en-US" dirty="0"/>
              <a:t>小明的</a:t>
            </a:r>
            <a:r>
              <a:rPr lang="en-US" altLang="zh-TW" dirty="0"/>
              <a:t>)</a:t>
            </a:r>
            <a:r>
              <a:rPr lang="zh-TW" altLang="en-US" dirty="0"/>
              <a:t>： 「我 今天 去 吃 </a:t>
            </a:r>
            <a:r>
              <a:rPr lang="zh-TW" altLang="en-US" b="1" dirty="0"/>
              <a:t>漢堡</a:t>
            </a:r>
            <a:r>
              <a:rPr lang="zh-TW" altLang="en-US" dirty="0"/>
              <a:t>，</a:t>
            </a:r>
            <a:r>
              <a:rPr lang="zh-TW" altLang="en-US" b="1" dirty="0"/>
              <a:t>漢堡</a:t>
            </a:r>
            <a:r>
              <a:rPr lang="zh-TW" altLang="en-US" dirty="0"/>
              <a:t> 超 好吃。」</a:t>
            </a:r>
          </a:p>
          <a:p>
            <a:pPr>
              <a:buNone/>
            </a:pPr>
            <a:r>
              <a:rPr lang="zh-TW" altLang="en-US" dirty="0"/>
              <a:t>日記 </a:t>
            </a:r>
            <a:r>
              <a:rPr lang="en" altLang="zh-TW" dirty="0"/>
              <a:t>B (</a:t>
            </a:r>
            <a:r>
              <a:rPr lang="zh-TW" altLang="en-US" dirty="0"/>
              <a:t>小華的</a:t>
            </a:r>
            <a:r>
              <a:rPr lang="en-US" altLang="zh-TW" dirty="0"/>
              <a:t>)</a:t>
            </a:r>
            <a:r>
              <a:rPr lang="zh-TW" altLang="en-US" dirty="0"/>
              <a:t>： 「我 今天 去 學校 上課，好 累。」</a:t>
            </a:r>
          </a:p>
          <a:p>
            <a:pPr marL="0" indent="0">
              <a:buNone/>
            </a:pPr>
            <a:r>
              <a:rPr lang="zh-TW" altLang="en-US" dirty="0"/>
              <a:t>日記 </a:t>
            </a:r>
            <a:r>
              <a:rPr lang="en" altLang="zh-TW" dirty="0"/>
              <a:t>C (</a:t>
            </a:r>
            <a:r>
              <a:rPr lang="zh-TW" altLang="en-US" dirty="0"/>
              <a:t>小美的</a:t>
            </a:r>
            <a:r>
              <a:rPr lang="en-US" altLang="zh-TW" dirty="0"/>
              <a:t>)</a:t>
            </a:r>
            <a:r>
              <a:rPr lang="zh-TW" altLang="en-US" dirty="0"/>
              <a:t>： 「我 今天 跟 媽媽 去 買 菜。」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5BC13D3-A45E-293F-A1CD-218C6D24B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17</a:t>
            </a:fld>
            <a:endParaRPr lang="en-US" dirty="0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7792E03E-9E4D-B124-1B22-7401F288A1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7790198"/>
              </p:ext>
            </p:extLst>
          </p:nvPr>
        </p:nvGraphicFramePr>
        <p:xfrm>
          <a:off x="1651725" y="4550170"/>
          <a:ext cx="8888550" cy="17363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4880">
                  <a:extLst>
                    <a:ext uri="{9D8B030D-6E8A-4147-A177-3AD203B41FA5}">
                      <a16:colId xmlns:a16="http://schemas.microsoft.com/office/drawing/2014/main" val="739768950"/>
                    </a:ext>
                  </a:extLst>
                </a:gridCol>
                <a:gridCol w="2176480">
                  <a:extLst>
                    <a:ext uri="{9D8B030D-6E8A-4147-A177-3AD203B41FA5}">
                      <a16:colId xmlns:a16="http://schemas.microsoft.com/office/drawing/2014/main" val="747441107"/>
                    </a:ext>
                  </a:extLst>
                </a:gridCol>
                <a:gridCol w="2071770">
                  <a:extLst>
                    <a:ext uri="{9D8B030D-6E8A-4147-A177-3AD203B41FA5}">
                      <a16:colId xmlns:a16="http://schemas.microsoft.com/office/drawing/2014/main" val="2443716368"/>
                    </a:ext>
                  </a:extLst>
                </a:gridCol>
                <a:gridCol w="1777710">
                  <a:extLst>
                    <a:ext uri="{9D8B030D-6E8A-4147-A177-3AD203B41FA5}">
                      <a16:colId xmlns:a16="http://schemas.microsoft.com/office/drawing/2014/main" val="726600154"/>
                    </a:ext>
                  </a:extLst>
                </a:gridCol>
                <a:gridCol w="1777710">
                  <a:extLst>
                    <a:ext uri="{9D8B030D-6E8A-4147-A177-3AD203B41FA5}">
                      <a16:colId xmlns:a16="http://schemas.microsoft.com/office/drawing/2014/main" val="441836514"/>
                    </a:ext>
                  </a:extLst>
                </a:gridCol>
              </a:tblGrid>
              <a:tr h="434083">
                <a:tc>
                  <a:txBody>
                    <a:bodyPr/>
                    <a:lstStyle/>
                    <a:p>
                      <a:r>
                        <a:rPr lang="zh-TW" altLang="en-US" b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單字</a:t>
                      </a:r>
                      <a:endParaRPr lang="zh-TW" altLang="en-US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TF (</a:t>
                      </a:r>
                      <a:r>
                        <a:rPr lang="zh-TW" altLang="en-US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在這篇很多</a:t>
                      </a:r>
                      <a:r>
                        <a:rPr lang="en-US" altLang="zh-TW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?)</a:t>
                      </a:r>
                      <a:endParaRPr lang="zh-TW" altLang="en-US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" b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IDF (</a:t>
                      </a:r>
                      <a:r>
                        <a:rPr lang="zh-TW" altLang="en-US" b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在別篇很少</a:t>
                      </a:r>
                      <a:r>
                        <a:rPr lang="en-US" altLang="zh-TW" b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?)</a:t>
                      </a:r>
                      <a:endParaRPr lang="zh-TW" altLang="en-US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b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結果 </a:t>
                      </a:r>
                      <a:r>
                        <a:rPr lang="en-US" altLang="zh-TW" b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(</a:t>
                      </a:r>
                      <a:r>
                        <a:rPr lang="en" b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TF-IDF)</a:t>
                      </a:r>
                      <a:endParaRPr lang="en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意義</a:t>
                      </a:r>
                      <a:endParaRPr lang="zh-TW" altLang="en-US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7035748"/>
                  </a:ext>
                </a:extLst>
              </a:tr>
              <a:tr h="434083">
                <a:tc>
                  <a:txBody>
                    <a:bodyPr/>
                    <a:lstStyle/>
                    <a:p>
                      <a:r>
                        <a:rPr lang="zh-TW" altLang="en-US" b="1">
                          <a:effectLst/>
                          <a:latin typeface="Google Sans Text"/>
                        </a:rPr>
                        <a:t>我</a:t>
                      </a:r>
                      <a:endParaRPr lang="zh-TW" altLang="en-US"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>
                          <a:effectLst/>
                          <a:latin typeface="Google Sans Text"/>
                        </a:rPr>
                        <a:t>是 </a:t>
                      </a:r>
                      <a:r>
                        <a:rPr lang="en-US" altLang="zh-TW">
                          <a:effectLst/>
                          <a:latin typeface="Google Sans Text"/>
                        </a:rPr>
                        <a:t>(1</a:t>
                      </a:r>
                      <a:r>
                        <a:rPr lang="zh-TW" altLang="en-US">
                          <a:effectLst/>
                          <a:latin typeface="Google Sans Text"/>
                        </a:rPr>
                        <a:t>次</a:t>
                      </a:r>
                      <a:r>
                        <a:rPr lang="en-US" altLang="zh-TW">
                          <a:effectLst/>
                          <a:latin typeface="Google Sans Text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effectLst/>
                          <a:latin typeface="Google Sans Text"/>
                        </a:rPr>
                        <a:t>否 </a:t>
                      </a:r>
                      <a:r>
                        <a:rPr lang="en-US" altLang="zh-TW" dirty="0">
                          <a:effectLst/>
                          <a:latin typeface="Google Sans Text"/>
                        </a:rPr>
                        <a:t>(</a:t>
                      </a:r>
                      <a:r>
                        <a:rPr lang="zh-TW" altLang="en-US" dirty="0">
                          <a:effectLst/>
                          <a:latin typeface="Google Sans Text"/>
                        </a:rPr>
                        <a:t>每句都有</a:t>
                      </a:r>
                      <a:r>
                        <a:rPr lang="en-US" altLang="zh-TW" dirty="0">
                          <a:effectLst/>
                          <a:latin typeface="Google Sans Text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b="1">
                          <a:effectLst/>
                          <a:latin typeface="Google Sans Text"/>
                        </a:rPr>
                        <a:t>低分</a:t>
                      </a:r>
                      <a:endParaRPr lang="zh-TW" altLang="en-US"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effectLst/>
                          <a:latin typeface="Google Sans Text"/>
                        </a:rPr>
                        <a:t>雜訊</a:t>
                      </a:r>
                      <a:r>
                        <a:rPr lang="en-US" altLang="zh-TW" dirty="0">
                          <a:effectLst/>
                          <a:latin typeface="Google Sans Text"/>
                        </a:rPr>
                        <a:t>/</a:t>
                      </a:r>
                      <a:r>
                        <a:rPr lang="zh-TW" altLang="en-US" dirty="0">
                          <a:effectLst/>
                          <a:latin typeface="Google Sans Text"/>
                        </a:rPr>
                        <a:t>不重要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7842584"/>
                  </a:ext>
                </a:extLst>
              </a:tr>
              <a:tr h="434083">
                <a:tc>
                  <a:txBody>
                    <a:bodyPr/>
                    <a:lstStyle/>
                    <a:p>
                      <a:r>
                        <a:rPr lang="zh-TW" altLang="en-US" b="1">
                          <a:effectLst/>
                          <a:latin typeface="Google Sans Text"/>
                        </a:rPr>
                        <a:t>今天</a:t>
                      </a:r>
                      <a:endParaRPr lang="zh-TW" altLang="en-US"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>
                          <a:effectLst/>
                          <a:latin typeface="Google Sans Text"/>
                        </a:rPr>
                        <a:t>是 </a:t>
                      </a:r>
                      <a:r>
                        <a:rPr lang="en-US" altLang="zh-TW">
                          <a:effectLst/>
                          <a:latin typeface="Google Sans Text"/>
                        </a:rPr>
                        <a:t>(1</a:t>
                      </a:r>
                      <a:r>
                        <a:rPr lang="zh-TW" altLang="en-US">
                          <a:effectLst/>
                          <a:latin typeface="Google Sans Text"/>
                        </a:rPr>
                        <a:t>次</a:t>
                      </a:r>
                      <a:r>
                        <a:rPr lang="en-US" altLang="zh-TW">
                          <a:effectLst/>
                          <a:latin typeface="Google Sans Text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effectLst/>
                          <a:latin typeface="Google Sans Text"/>
                        </a:rPr>
                        <a:t>否 </a:t>
                      </a:r>
                      <a:r>
                        <a:rPr lang="en-US" altLang="zh-TW" dirty="0">
                          <a:effectLst/>
                          <a:latin typeface="Google Sans Text"/>
                        </a:rPr>
                        <a:t>(</a:t>
                      </a:r>
                      <a:r>
                        <a:rPr lang="zh-TW" altLang="en-US" dirty="0">
                          <a:effectLst/>
                          <a:latin typeface="Google Sans Text"/>
                        </a:rPr>
                        <a:t>每句都有</a:t>
                      </a:r>
                      <a:r>
                        <a:rPr lang="en-US" altLang="zh-TW" dirty="0">
                          <a:effectLst/>
                          <a:latin typeface="Google Sans Text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b="1">
                          <a:effectLst/>
                          <a:latin typeface="Google Sans Text"/>
                        </a:rPr>
                        <a:t>低分</a:t>
                      </a:r>
                      <a:endParaRPr lang="zh-TW" altLang="en-US"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effectLst/>
                          <a:latin typeface="Google Sans Text"/>
                        </a:rPr>
                        <a:t>雜訊</a:t>
                      </a:r>
                      <a:r>
                        <a:rPr lang="en-US" altLang="zh-TW" dirty="0">
                          <a:effectLst/>
                          <a:latin typeface="Google Sans Text"/>
                        </a:rPr>
                        <a:t>/</a:t>
                      </a:r>
                      <a:r>
                        <a:rPr lang="zh-TW" altLang="en-US" dirty="0">
                          <a:effectLst/>
                          <a:latin typeface="Google Sans Text"/>
                        </a:rPr>
                        <a:t>不重要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2811438"/>
                  </a:ext>
                </a:extLst>
              </a:tr>
              <a:tr h="434083">
                <a:tc>
                  <a:txBody>
                    <a:bodyPr/>
                    <a:lstStyle/>
                    <a:p>
                      <a:r>
                        <a:rPr lang="zh-TW" altLang="en-US" b="1">
                          <a:effectLst/>
                          <a:latin typeface="Google Sans Text"/>
                        </a:rPr>
                        <a:t>漢堡</a:t>
                      </a:r>
                      <a:endParaRPr lang="zh-TW" altLang="en-US"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b="1" dirty="0">
                          <a:effectLst/>
                          <a:latin typeface="Google Sans Text"/>
                        </a:rPr>
                        <a:t>是 </a:t>
                      </a:r>
                      <a:r>
                        <a:rPr lang="en-US" altLang="zh-TW" b="1" dirty="0">
                          <a:effectLst/>
                          <a:latin typeface="Google Sans Text"/>
                        </a:rPr>
                        <a:t>(2</a:t>
                      </a:r>
                      <a:r>
                        <a:rPr lang="zh-TW" altLang="en-US" b="1" dirty="0">
                          <a:effectLst/>
                          <a:latin typeface="Google Sans Text"/>
                        </a:rPr>
                        <a:t>次</a:t>
                      </a:r>
                      <a:r>
                        <a:rPr lang="en-US" altLang="zh-TW" b="1" dirty="0">
                          <a:effectLst/>
                          <a:latin typeface="Google Sans Text"/>
                        </a:rPr>
                        <a:t>)</a:t>
                      </a:r>
                      <a:endParaRPr lang="zh-TW" altLang="en-US" dirty="0"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b="1" dirty="0">
                          <a:effectLst/>
                          <a:latin typeface="Google Sans Text"/>
                        </a:rPr>
                        <a:t>是 </a:t>
                      </a:r>
                      <a:r>
                        <a:rPr lang="en-US" altLang="zh-TW" b="1" dirty="0">
                          <a:effectLst/>
                          <a:latin typeface="Google Sans Text"/>
                        </a:rPr>
                        <a:t>(</a:t>
                      </a:r>
                      <a:r>
                        <a:rPr lang="zh-TW" altLang="en-US" b="1" dirty="0">
                          <a:effectLst/>
                          <a:latin typeface="Google Sans Text"/>
                        </a:rPr>
                        <a:t>別句都沒提</a:t>
                      </a:r>
                      <a:r>
                        <a:rPr lang="en-US" altLang="zh-TW" b="1" dirty="0">
                          <a:effectLst/>
                          <a:latin typeface="Google Sans Text"/>
                        </a:rPr>
                        <a:t>)</a:t>
                      </a:r>
                      <a:endParaRPr lang="zh-TW" altLang="en-US" dirty="0"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b="1" dirty="0">
                          <a:effectLst/>
                          <a:latin typeface="Google Sans Text"/>
                        </a:rPr>
                        <a:t>高分</a:t>
                      </a:r>
                      <a:endParaRPr lang="zh-TW" altLang="en-US" dirty="0"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b="1" dirty="0">
                          <a:effectLst/>
                          <a:latin typeface="Google Sans Text"/>
                        </a:rPr>
                        <a:t>關鍵字！</a:t>
                      </a:r>
                      <a:endParaRPr lang="zh-TW" altLang="en-US" dirty="0"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9712623"/>
                  </a:ext>
                </a:extLst>
              </a:tr>
            </a:tbl>
          </a:graphicData>
        </a:graphic>
      </p:graphicFrame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42EB35CB-2CB3-2A09-679F-8D6052506EA2}"/>
              </a:ext>
            </a:extLst>
          </p:cNvPr>
          <p:cNvSpPr txBox="1">
            <a:spLocks/>
          </p:cNvSpPr>
          <p:nvPr/>
        </p:nvSpPr>
        <p:spPr>
          <a:xfrm>
            <a:off x="653143" y="3955949"/>
            <a:ext cx="10918371" cy="428749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Calibri" panose="020F0502020204030204" pitchFamily="34" charset="0"/>
              <a:buNone/>
            </a:pPr>
            <a:r>
              <a:rPr lang="zh-TW" altLang="en-US" u="sng" dirty="0"/>
              <a:t>日記 </a:t>
            </a:r>
            <a:r>
              <a:rPr lang="en" altLang="zh-TW" u="sng" dirty="0"/>
              <a:t>A </a:t>
            </a:r>
            <a:r>
              <a:rPr lang="zh-TW" altLang="en-US" dirty="0"/>
              <a:t>裡的內容觀察：</a:t>
            </a:r>
          </a:p>
        </p:txBody>
      </p:sp>
    </p:spTree>
    <p:extLst>
      <p:ext uri="{BB962C8B-B14F-4D97-AF65-F5344CB8AC3E}">
        <p14:creationId xmlns:p14="http://schemas.microsoft.com/office/powerpoint/2010/main" val="141425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8B2A875-7556-3A70-0355-F44705D2C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/>
              <a:t>Sentence</a:t>
            </a:r>
            <a:r>
              <a:rPr kumimoji="1" lang="en" altLang="zh-TW" dirty="0"/>
              <a:t> Embeddings: TF-IDF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CEBF7D3-6475-D0D6-9896-9FEF45BDB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111E53B-5CD2-81B6-5289-A2ADDC253A00}"/>
              </a:ext>
            </a:extLst>
          </p:cNvPr>
          <p:cNvSpPr/>
          <p:nvPr/>
        </p:nvSpPr>
        <p:spPr>
          <a:xfrm>
            <a:off x="1249680" y="1861458"/>
            <a:ext cx="5463540" cy="80554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zh-TW" altLang="en-US" sz="1600" dirty="0">
                <a:solidFill>
                  <a:schemeClr val="tx1"/>
                </a:solidFill>
              </a:rPr>
              <a:t>日記 </a:t>
            </a:r>
            <a:r>
              <a:rPr kumimoji="1" lang="en" altLang="zh-TW" sz="1600" dirty="0">
                <a:solidFill>
                  <a:schemeClr val="tx1"/>
                </a:solidFill>
              </a:rPr>
              <a:t>A (</a:t>
            </a:r>
            <a:r>
              <a:rPr kumimoji="1" lang="zh-TW" altLang="en-US" sz="1600" dirty="0">
                <a:solidFill>
                  <a:schemeClr val="tx1"/>
                </a:solidFill>
              </a:rPr>
              <a:t>小明的</a:t>
            </a:r>
            <a:r>
              <a:rPr kumimoji="1" lang="en-US" altLang="zh-TW" sz="1600" dirty="0">
                <a:solidFill>
                  <a:schemeClr val="tx1"/>
                </a:solidFill>
              </a:rPr>
              <a:t>)</a:t>
            </a:r>
            <a:r>
              <a:rPr kumimoji="1" lang="zh-TW" altLang="en-US" sz="1600" dirty="0">
                <a:solidFill>
                  <a:schemeClr val="tx1"/>
                </a:solidFill>
              </a:rPr>
              <a:t>：「我 今天 去 吃 漢堡，漢堡 超 好吃。」</a:t>
            </a:r>
          </a:p>
          <a:p>
            <a:r>
              <a:rPr kumimoji="1" lang="zh-TW" altLang="en-US" sz="1600" dirty="0">
                <a:solidFill>
                  <a:schemeClr val="tx1"/>
                </a:solidFill>
              </a:rPr>
              <a:t>日記 </a:t>
            </a:r>
            <a:r>
              <a:rPr kumimoji="1" lang="en" altLang="zh-TW" sz="1600" dirty="0">
                <a:solidFill>
                  <a:schemeClr val="tx1"/>
                </a:solidFill>
              </a:rPr>
              <a:t>B (</a:t>
            </a:r>
            <a:r>
              <a:rPr kumimoji="1" lang="zh-TW" altLang="en-US" sz="1600" dirty="0">
                <a:solidFill>
                  <a:schemeClr val="tx1"/>
                </a:solidFill>
              </a:rPr>
              <a:t>小華的</a:t>
            </a:r>
            <a:r>
              <a:rPr kumimoji="1" lang="en-US" altLang="zh-TW" sz="1600" dirty="0">
                <a:solidFill>
                  <a:schemeClr val="tx1"/>
                </a:solidFill>
              </a:rPr>
              <a:t>)</a:t>
            </a:r>
            <a:r>
              <a:rPr kumimoji="1" lang="zh-TW" altLang="en-US" sz="1600" dirty="0">
                <a:solidFill>
                  <a:schemeClr val="tx1"/>
                </a:solidFill>
              </a:rPr>
              <a:t>：「我 今天 去 學校 上課，好累。」</a:t>
            </a:r>
          </a:p>
          <a:p>
            <a:r>
              <a:rPr kumimoji="1" lang="zh-TW" altLang="en-US" sz="1600" dirty="0">
                <a:solidFill>
                  <a:schemeClr val="tx1"/>
                </a:solidFill>
              </a:rPr>
              <a:t>日記 </a:t>
            </a:r>
            <a:r>
              <a:rPr kumimoji="1" lang="en" altLang="zh-TW" sz="1600" dirty="0">
                <a:solidFill>
                  <a:schemeClr val="tx1"/>
                </a:solidFill>
              </a:rPr>
              <a:t>C (</a:t>
            </a:r>
            <a:r>
              <a:rPr kumimoji="1" lang="zh-TW" altLang="en-US" sz="1600" dirty="0">
                <a:solidFill>
                  <a:schemeClr val="tx1"/>
                </a:solidFill>
              </a:rPr>
              <a:t>小美的</a:t>
            </a:r>
            <a:r>
              <a:rPr kumimoji="1" lang="en-US" altLang="zh-TW" sz="1600" dirty="0">
                <a:solidFill>
                  <a:schemeClr val="tx1"/>
                </a:solidFill>
              </a:rPr>
              <a:t>)</a:t>
            </a:r>
            <a:r>
              <a:rPr kumimoji="1" lang="zh-TW" altLang="en-US" sz="1600" dirty="0">
                <a:solidFill>
                  <a:schemeClr val="tx1"/>
                </a:solidFill>
              </a:rPr>
              <a:t>：「我 今天 跟 媽媽 去 買 菜。」</a:t>
            </a:r>
          </a:p>
        </p:txBody>
      </p:sp>
      <p:graphicFrame>
        <p:nvGraphicFramePr>
          <p:cNvPr id="6" name="表格 6">
            <a:extLst>
              <a:ext uri="{FF2B5EF4-FFF2-40B4-BE49-F238E27FC236}">
                <a16:creationId xmlns:a16="http://schemas.microsoft.com/office/drawing/2014/main" id="{7BBA92AB-93AA-25ED-E01D-56DA6E458D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0554847"/>
              </p:ext>
            </p:extLst>
          </p:nvPr>
        </p:nvGraphicFramePr>
        <p:xfrm>
          <a:off x="1249680" y="3863757"/>
          <a:ext cx="10288092" cy="1960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7341">
                  <a:extLst>
                    <a:ext uri="{9D8B030D-6E8A-4147-A177-3AD203B41FA5}">
                      <a16:colId xmlns:a16="http://schemas.microsoft.com/office/drawing/2014/main" val="314890335"/>
                    </a:ext>
                  </a:extLst>
                </a:gridCol>
                <a:gridCol w="857341">
                  <a:extLst>
                    <a:ext uri="{9D8B030D-6E8A-4147-A177-3AD203B41FA5}">
                      <a16:colId xmlns:a16="http://schemas.microsoft.com/office/drawing/2014/main" val="2685169728"/>
                    </a:ext>
                  </a:extLst>
                </a:gridCol>
                <a:gridCol w="857341">
                  <a:extLst>
                    <a:ext uri="{9D8B030D-6E8A-4147-A177-3AD203B41FA5}">
                      <a16:colId xmlns:a16="http://schemas.microsoft.com/office/drawing/2014/main" val="2317320472"/>
                    </a:ext>
                  </a:extLst>
                </a:gridCol>
                <a:gridCol w="857341">
                  <a:extLst>
                    <a:ext uri="{9D8B030D-6E8A-4147-A177-3AD203B41FA5}">
                      <a16:colId xmlns:a16="http://schemas.microsoft.com/office/drawing/2014/main" val="1453491604"/>
                    </a:ext>
                  </a:extLst>
                </a:gridCol>
                <a:gridCol w="857341">
                  <a:extLst>
                    <a:ext uri="{9D8B030D-6E8A-4147-A177-3AD203B41FA5}">
                      <a16:colId xmlns:a16="http://schemas.microsoft.com/office/drawing/2014/main" val="686922626"/>
                    </a:ext>
                  </a:extLst>
                </a:gridCol>
                <a:gridCol w="857341">
                  <a:extLst>
                    <a:ext uri="{9D8B030D-6E8A-4147-A177-3AD203B41FA5}">
                      <a16:colId xmlns:a16="http://schemas.microsoft.com/office/drawing/2014/main" val="1488000936"/>
                    </a:ext>
                  </a:extLst>
                </a:gridCol>
                <a:gridCol w="857341">
                  <a:extLst>
                    <a:ext uri="{9D8B030D-6E8A-4147-A177-3AD203B41FA5}">
                      <a16:colId xmlns:a16="http://schemas.microsoft.com/office/drawing/2014/main" val="3292789934"/>
                    </a:ext>
                  </a:extLst>
                </a:gridCol>
                <a:gridCol w="857341">
                  <a:extLst>
                    <a:ext uri="{9D8B030D-6E8A-4147-A177-3AD203B41FA5}">
                      <a16:colId xmlns:a16="http://schemas.microsoft.com/office/drawing/2014/main" val="2698451912"/>
                    </a:ext>
                  </a:extLst>
                </a:gridCol>
                <a:gridCol w="857341">
                  <a:extLst>
                    <a:ext uri="{9D8B030D-6E8A-4147-A177-3AD203B41FA5}">
                      <a16:colId xmlns:a16="http://schemas.microsoft.com/office/drawing/2014/main" val="1813931681"/>
                    </a:ext>
                  </a:extLst>
                </a:gridCol>
                <a:gridCol w="857341">
                  <a:extLst>
                    <a:ext uri="{9D8B030D-6E8A-4147-A177-3AD203B41FA5}">
                      <a16:colId xmlns:a16="http://schemas.microsoft.com/office/drawing/2014/main" val="1101131846"/>
                    </a:ext>
                  </a:extLst>
                </a:gridCol>
                <a:gridCol w="857341">
                  <a:extLst>
                    <a:ext uri="{9D8B030D-6E8A-4147-A177-3AD203B41FA5}">
                      <a16:colId xmlns:a16="http://schemas.microsoft.com/office/drawing/2014/main" val="3882462916"/>
                    </a:ext>
                  </a:extLst>
                </a:gridCol>
                <a:gridCol w="857341">
                  <a:extLst>
                    <a:ext uri="{9D8B030D-6E8A-4147-A177-3AD203B41FA5}">
                      <a16:colId xmlns:a16="http://schemas.microsoft.com/office/drawing/2014/main" val="4042980728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" dirty="0" err="1"/>
                        <a:t>我</a:t>
                      </a:r>
                      <a:endParaRPr lang="e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" dirty="0" err="1"/>
                        <a:t>今天</a:t>
                      </a:r>
                      <a:endParaRPr lang="e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" dirty="0" err="1"/>
                        <a:t>去</a:t>
                      </a:r>
                      <a:endParaRPr lang="e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" dirty="0" err="1"/>
                        <a:t>吃</a:t>
                      </a:r>
                      <a:endParaRPr lang="e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" dirty="0" err="1"/>
                        <a:t>漢堡</a:t>
                      </a:r>
                      <a:endParaRPr lang="e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" dirty="0" err="1"/>
                        <a:t>超</a:t>
                      </a:r>
                      <a:endParaRPr lang="e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好吃</a:t>
                      </a:r>
                      <a:endParaRPr lang="en" altLang="zh-TW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" dirty="0" err="1"/>
                        <a:t>學校</a:t>
                      </a:r>
                      <a:endParaRPr lang="e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" dirty="0" err="1"/>
                        <a:t>好累</a:t>
                      </a:r>
                      <a:endParaRPr lang="e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" dirty="0" err="1"/>
                        <a:t>跟</a:t>
                      </a:r>
                      <a:endParaRPr lang="e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" dirty="0"/>
                        <a:t>...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160229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TF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1/8</a:t>
                      </a:r>
                    </a:p>
                    <a:p>
                      <a:r>
                        <a:rPr lang="en-US" altLang="zh-TW" sz="1400" dirty="0"/>
                        <a:t>=0.125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1/8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/>
                        <a:t>=0.125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1/8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/>
                        <a:t>=0.125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1/8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/>
                        <a:t>=0.125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en-US" altLang="zh-TW" sz="1400" dirty="0"/>
                        <a:t>/8</a:t>
                      </a:r>
                    </a:p>
                    <a:p>
                      <a:r>
                        <a:rPr lang="en-US" altLang="zh-TW" sz="1400" dirty="0"/>
                        <a:t>=0.25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1/8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/>
                        <a:t>=0.125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1/8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/>
                        <a:t>=0.125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altLang="zh-TW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042810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/>
                        <a:t>IDF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log(3/3)=0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log(3/3)=0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log(3/3)=0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log(3/1)=0.48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log(3/1)=0.48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log(3/1)=0.48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log(3/1)=0.48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log(3/1)=0.48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log(3/1)=0.48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log(3/1)=0.48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altLang="zh-TW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245698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/>
                        <a:t>分數</a:t>
                      </a:r>
                      <a:r>
                        <a:rPr lang="en-US" altLang="zh-TW" sz="1400" dirty="0"/>
                        <a:t>(</a:t>
                      </a:r>
                      <a:r>
                        <a:rPr lang="en-US" altLang="zh-TW" sz="1400" dirty="0" err="1"/>
                        <a:t>TFxIDF</a:t>
                      </a:r>
                      <a:r>
                        <a:rPr lang="en-US" altLang="zh-TW" sz="1400" dirty="0"/>
                        <a:t>)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0.06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solidFill>
                            <a:srgbClr val="FF0000"/>
                          </a:solidFill>
                        </a:rPr>
                        <a:t>0.12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/>
                        <a:t>0.06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/>
                        <a:t>0.06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altLang="zh-TW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8722066"/>
                  </a:ext>
                </a:extLst>
              </a:tr>
            </a:tbl>
          </a:graphicData>
        </a:graphic>
      </p:graphicFrame>
      <p:sp>
        <p:nvSpPr>
          <p:cNvPr id="7" name="文字方塊 6">
            <a:extLst>
              <a:ext uri="{FF2B5EF4-FFF2-40B4-BE49-F238E27FC236}">
                <a16:creationId xmlns:a16="http://schemas.microsoft.com/office/drawing/2014/main" id="{D59B19FA-2FCD-AC94-2BCC-5177B5EED5AF}"/>
              </a:ext>
            </a:extLst>
          </p:cNvPr>
          <p:cNvSpPr txBox="1"/>
          <p:nvPr/>
        </p:nvSpPr>
        <p:spPr>
          <a:xfrm>
            <a:off x="5852160" y="3186956"/>
            <a:ext cx="20802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/>
              <a:t>字典大小</a:t>
            </a:r>
          </a:p>
        </p:txBody>
      </p:sp>
      <p:sp>
        <p:nvSpPr>
          <p:cNvPr id="8" name="右中括弧 7">
            <a:extLst>
              <a:ext uri="{FF2B5EF4-FFF2-40B4-BE49-F238E27FC236}">
                <a16:creationId xmlns:a16="http://schemas.microsoft.com/office/drawing/2014/main" id="{FC434B83-DA06-6944-943C-97D0F154CF4B}"/>
              </a:ext>
            </a:extLst>
          </p:cNvPr>
          <p:cNvSpPr/>
          <p:nvPr/>
        </p:nvSpPr>
        <p:spPr>
          <a:xfrm rot="16200000">
            <a:off x="6961215" y="-476674"/>
            <a:ext cx="207221" cy="8273142"/>
          </a:xfrm>
          <a:prstGeom prst="rightBracke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10" name="肘形接點 9">
            <a:extLst>
              <a:ext uri="{FF2B5EF4-FFF2-40B4-BE49-F238E27FC236}">
                <a16:creationId xmlns:a16="http://schemas.microsoft.com/office/drawing/2014/main" id="{C8BFD7ED-6EA9-B21F-EECF-FDB1D189CE2D}"/>
              </a:ext>
            </a:extLst>
          </p:cNvPr>
          <p:cNvCxnSpPr>
            <a:cxnSpLocks/>
            <a:stCxn id="5" idx="1"/>
            <a:endCxn id="6" idx="1"/>
          </p:cNvCxnSpPr>
          <p:nvPr/>
        </p:nvCxnSpPr>
        <p:spPr>
          <a:xfrm rot="10800000" flipV="1">
            <a:off x="1249680" y="2264229"/>
            <a:ext cx="12700" cy="2579968"/>
          </a:xfrm>
          <a:prstGeom prst="bentConnector3">
            <a:avLst>
              <a:gd name="adj1" fmla="val 1800000"/>
            </a:avLst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69076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C267FBF-8499-CA95-D4F4-0AB49D545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TF-IDF</a:t>
            </a:r>
            <a:r>
              <a:rPr kumimoji="1" lang="zh-TW" altLang="en-US" dirty="0"/>
              <a:t> 的問題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8C2FB13-FF8F-7030-7884-AC7FDA1C2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77069E27-9BEC-D0EF-B2D2-265F25EC533F}"/>
              </a:ext>
            </a:extLst>
          </p:cNvPr>
          <p:cNvSpPr txBox="1"/>
          <p:nvPr/>
        </p:nvSpPr>
        <p:spPr>
          <a:xfrm>
            <a:off x="653143" y="1868198"/>
            <a:ext cx="10918370" cy="280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kumimoji="1" lang="zh-TW" altLang="en-US" sz="2000" dirty="0"/>
              <a:t>在 </a:t>
            </a:r>
            <a:r>
              <a:rPr kumimoji="1" lang="en" altLang="zh-TW" sz="2000" dirty="0"/>
              <a:t>TF-IDF </a:t>
            </a:r>
            <a:r>
              <a:rPr kumimoji="1" lang="zh-TW" altLang="en-US" sz="2000" dirty="0"/>
              <a:t>的世界裡，字跟字是完全獨立的。</a:t>
            </a:r>
            <a:endParaRPr kumimoji="1" lang="en-US" altLang="zh-TW" sz="2000" dirty="0"/>
          </a:p>
          <a:p>
            <a:pPr marL="971550" lvl="1" indent="-5143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000" dirty="0"/>
              <a:t>句子 </a:t>
            </a:r>
            <a:r>
              <a:rPr kumimoji="1" lang="en-US" altLang="zh-TW" sz="2000" dirty="0"/>
              <a:t>A</a:t>
            </a:r>
            <a:r>
              <a:rPr kumimoji="1" lang="zh-TW" altLang="en-US" sz="2000" dirty="0"/>
              <a:t>： 「我很</a:t>
            </a:r>
            <a:r>
              <a:rPr kumimoji="1" lang="zh-TW" altLang="en-US" sz="2000" b="1" dirty="0"/>
              <a:t>快樂</a:t>
            </a:r>
            <a:r>
              <a:rPr kumimoji="1" lang="zh-TW" altLang="en-US" sz="2000" dirty="0"/>
              <a:t>」</a:t>
            </a:r>
          </a:p>
          <a:p>
            <a:pPr marL="971550" lvl="1" indent="-5143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000" dirty="0"/>
              <a:t>句子 </a:t>
            </a:r>
            <a:r>
              <a:rPr kumimoji="1" lang="en-US" altLang="zh-TW" sz="2000" dirty="0"/>
              <a:t>B</a:t>
            </a:r>
            <a:r>
              <a:rPr kumimoji="1" lang="zh-TW" altLang="en-US" sz="2000" dirty="0"/>
              <a:t>： 「我很</a:t>
            </a:r>
            <a:r>
              <a:rPr kumimoji="1" lang="zh-TW" altLang="en-US" sz="2000" b="1" dirty="0"/>
              <a:t>開心</a:t>
            </a:r>
            <a:r>
              <a:rPr kumimoji="1" lang="zh-TW" altLang="en-US" sz="2000" dirty="0"/>
              <a:t>」</a:t>
            </a:r>
            <a:endParaRPr kumimoji="1" lang="en-US" altLang="zh-TW" sz="2000" dirty="0"/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kumimoji="1" lang="zh-TW" altLang="en-US" sz="2000" dirty="0"/>
              <a:t>本質上仍是詞袋模型 </a:t>
            </a:r>
            <a:r>
              <a:rPr kumimoji="1" lang="en-US" altLang="zh-TW" sz="2000" dirty="0"/>
              <a:t>(Bag-of-words) </a:t>
            </a:r>
            <a:r>
              <a:rPr kumimoji="1" lang="zh-TW" altLang="en-US" sz="2000" dirty="0"/>
              <a:t>，不分「順序」</a:t>
            </a:r>
            <a:endParaRPr kumimoji="1" lang="en-US" altLang="zh-TW" sz="2000" dirty="0"/>
          </a:p>
          <a:p>
            <a:pPr marL="971550" lvl="1" indent="-5143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000" dirty="0"/>
              <a:t>句子 </a:t>
            </a:r>
            <a:r>
              <a:rPr kumimoji="1" lang="en-US" altLang="zh-TW" sz="2000" dirty="0"/>
              <a:t>A</a:t>
            </a:r>
            <a:r>
              <a:rPr kumimoji="1" lang="zh-TW" altLang="en-US" sz="2000" dirty="0"/>
              <a:t>： 「</a:t>
            </a:r>
            <a:r>
              <a:rPr kumimoji="1" lang="zh-TW" altLang="en-US" sz="2000" dirty="0">
                <a:solidFill>
                  <a:srgbClr val="FF0000"/>
                </a:solidFill>
              </a:rPr>
              <a:t>小明</a:t>
            </a:r>
            <a:r>
              <a:rPr kumimoji="1" lang="zh-TW" altLang="en-US" sz="2000" dirty="0"/>
              <a:t>喜歡</a:t>
            </a:r>
            <a:r>
              <a:rPr kumimoji="1" lang="zh-TW" altLang="en-US" sz="2000" dirty="0">
                <a:solidFill>
                  <a:srgbClr val="0070C0"/>
                </a:solidFill>
              </a:rPr>
              <a:t>小華</a:t>
            </a:r>
            <a:r>
              <a:rPr kumimoji="1" lang="zh-TW" altLang="en-US" sz="2000" dirty="0"/>
              <a:t>」</a:t>
            </a:r>
          </a:p>
          <a:p>
            <a:pPr marL="971550" lvl="1" indent="-5143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000" dirty="0"/>
              <a:t>句子 </a:t>
            </a:r>
            <a:r>
              <a:rPr kumimoji="1" lang="en-US" altLang="zh-TW" sz="2000" dirty="0"/>
              <a:t>B</a:t>
            </a:r>
            <a:r>
              <a:rPr kumimoji="1" lang="zh-TW" altLang="en-US" sz="2000" dirty="0"/>
              <a:t>： 「</a:t>
            </a:r>
            <a:r>
              <a:rPr kumimoji="1" lang="zh-TW" altLang="en-US" sz="2000" dirty="0">
                <a:solidFill>
                  <a:srgbClr val="0070C0"/>
                </a:solidFill>
              </a:rPr>
              <a:t>小華</a:t>
            </a:r>
            <a:r>
              <a:rPr kumimoji="1" lang="zh-TW" altLang="en-US" sz="2000" dirty="0"/>
              <a:t>喜歡</a:t>
            </a:r>
            <a:r>
              <a:rPr kumimoji="1" lang="zh-TW" altLang="en-US" sz="2000" dirty="0">
                <a:solidFill>
                  <a:srgbClr val="FF0000"/>
                </a:solidFill>
              </a:rPr>
              <a:t>小明</a:t>
            </a:r>
            <a:r>
              <a:rPr kumimoji="1" lang="zh-TW" altLang="en-US" sz="2000" dirty="0"/>
              <a:t>」</a:t>
            </a:r>
            <a:endParaRPr kumimoji="1" lang="en-US" altLang="zh-TW" sz="2000" dirty="0"/>
          </a:p>
        </p:txBody>
      </p:sp>
    </p:spTree>
    <p:extLst>
      <p:ext uri="{BB962C8B-B14F-4D97-AF65-F5344CB8AC3E}">
        <p14:creationId xmlns:p14="http://schemas.microsoft.com/office/powerpoint/2010/main" val="13079910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DF4F19-09CA-7D81-ED5E-FE8B5F583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Retrieval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0D1E47D-13A9-3AA6-F9DE-9B6D9C600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7" name="圓角矩形 6">
            <a:extLst>
              <a:ext uri="{FF2B5EF4-FFF2-40B4-BE49-F238E27FC236}">
                <a16:creationId xmlns:a16="http://schemas.microsoft.com/office/drawing/2014/main" id="{02DA1334-57A2-685F-68AD-1C0170446CF4}"/>
              </a:ext>
            </a:extLst>
          </p:cNvPr>
          <p:cNvSpPr/>
          <p:nvPr/>
        </p:nvSpPr>
        <p:spPr>
          <a:xfrm>
            <a:off x="1997961" y="3449001"/>
            <a:ext cx="1939290" cy="704850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Retriever</a:t>
            </a:r>
          </a:p>
        </p:txBody>
      </p:sp>
      <p:pic>
        <p:nvPicPr>
          <p:cNvPr id="9" name="圖形 8" descr="資料庫 外框">
            <a:extLst>
              <a:ext uri="{FF2B5EF4-FFF2-40B4-BE49-F238E27FC236}">
                <a16:creationId xmlns:a16="http://schemas.microsoft.com/office/drawing/2014/main" id="{1A750FEE-BD69-835D-B503-9BC72DEA68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11965" y="4774443"/>
            <a:ext cx="914400" cy="914400"/>
          </a:xfrm>
          <a:prstGeom prst="rect">
            <a:avLst/>
          </a:prstGeom>
        </p:spPr>
      </p:pic>
      <p:pic>
        <p:nvPicPr>
          <p:cNvPr id="1028" name="Picture 4" descr="undefined">
            <a:extLst>
              <a:ext uri="{FF2B5EF4-FFF2-40B4-BE49-F238E27FC236}">
                <a16:creationId xmlns:a16="http://schemas.microsoft.com/office/drawing/2014/main" id="{61AEFAE3-D0F1-0112-BA15-9CEE854F2B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0225" y="5577707"/>
            <a:ext cx="772651" cy="704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A45DFAE3-5EC4-80FD-6A58-5A2C79D36FD8}"/>
              </a:ext>
            </a:extLst>
          </p:cNvPr>
          <p:cNvSpPr txBox="1"/>
          <p:nvPr/>
        </p:nvSpPr>
        <p:spPr>
          <a:xfrm>
            <a:off x="2052876" y="5606967"/>
            <a:ext cx="18325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b="1" dirty="0"/>
              <a:t>Knowledge Base </a:t>
            </a:r>
            <a:r>
              <a:rPr kumimoji="1" lang="en-US" altLang="zh-TW" dirty="0"/>
              <a:t>(e.g., Wikipedia)</a:t>
            </a:r>
            <a:endParaRPr kumimoji="1" lang="zh-TW" altLang="en-US" dirty="0"/>
          </a:p>
        </p:txBody>
      </p:sp>
      <p:cxnSp>
        <p:nvCxnSpPr>
          <p:cNvPr id="12" name="直線箭頭接點 11">
            <a:extLst>
              <a:ext uri="{FF2B5EF4-FFF2-40B4-BE49-F238E27FC236}">
                <a16:creationId xmlns:a16="http://schemas.microsoft.com/office/drawing/2014/main" id="{7F050A04-5CE8-AA08-06BF-903E9F8C0D15}"/>
              </a:ext>
            </a:extLst>
          </p:cNvPr>
          <p:cNvCxnSpPr/>
          <p:nvPr/>
        </p:nvCxnSpPr>
        <p:spPr>
          <a:xfrm>
            <a:off x="2971796" y="4227778"/>
            <a:ext cx="0" cy="55755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C76AD002-E6EF-6A3C-65C5-4DDBD7E074D9}"/>
              </a:ext>
            </a:extLst>
          </p:cNvPr>
          <p:cNvSpPr/>
          <p:nvPr/>
        </p:nvSpPr>
        <p:spPr>
          <a:xfrm>
            <a:off x="1164688" y="2143845"/>
            <a:ext cx="3627610" cy="53131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Which year was Oppenheimer born?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4" name="直線箭頭接點 13">
            <a:extLst>
              <a:ext uri="{FF2B5EF4-FFF2-40B4-BE49-F238E27FC236}">
                <a16:creationId xmlns:a16="http://schemas.microsoft.com/office/drawing/2014/main" id="{0ADDEC63-99C3-46C2-0727-D3787C6F615A}"/>
              </a:ext>
            </a:extLst>
          </p:cNvPr>
          <p:cNvCxnSpPr/>
          <p:nvPr/>
        </p:nvCxnSpPr>
        <p:spPr>
          <a:xfrm>
            <a:off x="2978492" y="2815248"/>
            <a:ext cx="0" cy="55755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A36DEEA2-78AF-ACEB-5FAB-E088CABCCEB3}"/>
              </a:ext>
            </a:extLst>
          </p:cNvPr>
          <p:cNvSpPr/>
          <p:nvPr/>
        </p:nvSpPr>
        <p:spPr>
          <a:xfrm>
            <a:off x="4296265" y="4663288"/>
            <a:ext cx="3275388" cy="113670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TW" sz="1400" dirty="0">
                <a:solidFill>
                  <a:schemeClr val="tx1"/>
                </a:solidFill>
              </a:rPr>
              <a:t>Robert Oppenheimer (born April 22, 1904, New York, New York, U.S.—died February 18, 1967, Princeton, New Jersey) was an American theoretical physicist and science administrator ...</a:t>
            </a:r>
            <a:endParaRPr kumimoji="1" lang="zh-TW" altLang="en-US" sz="1400" dirty="0">
              <a:solidFill>
                <a:schemeClr val="tx1"/>
              </a:solidFill>
            </a:endParaRPr>
          </a:p>
        </p:txBody>
      </p:sp>
      <p:cxnSp>
        <p:nvCxnSpPr>
          <p:cNvPr id="19" name="直線箭頭接點 18">
            <a:extLst>
              <a:ext uri="{FF2B5EF4-FFF2-40B4-BE49-F238E27FC236}">
                <a16:creationId xmlns:a16="http://schemas.microsoft.com/office/drawing/2014/main" id="{858ACCE5-013D-8F35-DA46-087F0322243B}"/>
              </a:ext>
            </a:extLst>
          </p:cNvPr>
          <p:cNvCxnSpPr>
            <a:cxnSpLocks/>
          </p:cNvCxnSpPr>
          <p:nvPr/>
        </p:nvCxnSpPr>
        <p:spPr>
          <a:xfrm>
            <a:off x="3509321" y="5242763"/>
            <a:ext cx="616362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E1BB2B5C-C1A8-04FC-7251-A7901CBEBA05}"/>
              </a:ext>
            </a:extLst>
          </p:cNvPr>
          <p:cNvSpPr txBox="1"/>
          <p:nvPr/>
        </p:nvSpPr>
        <p:spPr>
          <a:xfrm>
            <a:off x="7561402" y="4909162"/>
            <a:ext cx="14602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b="1" dirty="0"/>
              <a:t>Retrieved Documents</a:t>
            </a:r>
            <a:endParaRPr kumimoji="1" lang="zh-TW" altLang="en-US" b="1" dirty="0"/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AC85B165-E9C9-F1E6-B060-1196B8896D86}"/>
              </a:ext>
            </a:extLst>
          </p:cNvPr>
          <p:cNvSpPr txBox="1"/>
          <p:nvPr/>
        </p:nvSpPr>
        <p:spPr>
          <a:xfrm>
            <a:off x="2059422" y="1774513"/>
            <a:ext cx="1816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b="1" dirty="0"/>
              <a:t>Input Query</a:t>
            </a:r>
            <a:endParaRPr kumimoji="1" lang="zh-TW" altLang="en-US" b="1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45AA9980-5346-0AB9-7B13-B0FAF0E16CC2}"/>
              </a:ext>
            </a:extLst>
          </p:cNvPr>
          <p:cNvSpPr txBox="1"/>
          <p:nvPr/>
        </p:nvSpPr>
        <p:spPr>
          <a:xfrm>
            <a:off x="3204711" y="3295750"/>
            <a:ext cx="16644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800" dirty="0">
                <a:solidFill>
                  <a:srgbClr val="FF0000"/>
                </a:solidFill>
              </a:rPr>
              <a:t>TF-IDF</a:t>
            </a:r>
            <a:endParaRPr kumimoji="1" lang="zh-TW" altLang="en-US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3854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DF4F19-09CA-7D81-ED5E-FE8B5F583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Retrieval-Augmented Generation (RAG)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0D1E47D-13A9-3AA6-F9DE-9B6D9C600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0B6E8991-79DD-7C1B-3152-671CF032EFBD}"/>
              </a:ext>
            </a:extLst>
          </p:cNvPr>
          <p:cNvSpPr txBox="1"/>
          <p:nvPr/>
        </p:nvSpPr>
        <p:spPr>
          <a:xfrm>
            <a:off x="6539869" y="6253298"/>
            <a:ext cx="48291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TW" sz="1200" dirty="0"/>
              <a:t>Gao, </a:t>
            </a:r>
            <a:r>
              <a:rPr lang="en" altLang="zh-TW" sz="1200" dirty="0" err="1"/>
              <a:t>Yunfan</a:t>
            </a:r>
            <a:r>
              <a:rPr lang="en" altLang="zh-TW" sz="1200" dirty="0"/>
              <a:t>, et al. "Retrieval-augmented generation for large language models: A survey." </a:t>
            </a:r>
            <a:r>
              <a:rPr lang="en" altLang="zh-TW" sz="1200" i="1" dirty="0" err="1"/>
              <a:t>arXiv</a:t>
            </a:r>
            <a:r>
              <a:rPr lang="en" altLang="zh-TW" sz="1200" i="1" dirty="0"/>
              <a:t> preprint arXiv:2312.10997</a:t>
            </a:r>
            <a:r>
              <a:rPr lang="en" altLang="zh-TW" sz="1200" dirty="0"/>
              <a:t> (2023).</a:t>
            </a:r>
            <a:endParaRPr lang="zh-TW" altLang="en-US" sz="1200" dirty="0"/>
          </a:p>
        </p:txBody>
      </p:sp>
      <p:sp>
        <p:nvSpPr>
          <p:cNvPr id="3" name="圓角矩形 2">
            <a:extLst>
              <a:ext uri="{FF2B5EF4-FFF2-40B4-BE49-F238E27FC236}">
                <a16:creationId xmlns:a16="http://schemas.microsoft.com/office/drawing/2014/main" id="{C8988D52-663B-D567-332E-91720B0E8320}"/>
              </a:ext>
            </a:extLst>
          </p:cNvPr>
          <p:cNvSpPr/>
          <p:nvPr/>
        </p:nvSpPr>
        <p:spPr>
          <a:xfrm>
            <a:off x="6964270" y="1865990"/>
            <a:ext cx="2057400" cy="113670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/>
              <a:t>Generator</a:t>
            </a:r>
            <a:endParaRPr kumimoji="1" lang="en-US" altLang="zh-TW" dirty="0"/>
          </a:p>
          <a:p>
            <a:pPr algn="ctr"/>
            <a:r>
              <a:rPr kumimoji="1" lang="en-US" altLang="zh-TW" dirty="0"/>
              <a:t>(e.g., LLM)</a:t>
            </a:r>
            <a:endParaRPr kumimoji="1" lang="zh-TW" altLang="en-US" dirty="0"/>
          </a:p>
        </p:txBody>
      </p:sp>
      <p:sp>
        <p:nvSpPr>
          <p:cNvPr id="7" name="圓角矩形 6">
            <a:extLst>
              <a:ext uri="{FF2B5EF4-FFF2-40B4-BE49-F238E27FC236}">
                <a16:creationId xmlns:a16="http://schemas.microsoft.com/office/drawing/2014/main" id="{02DA1334-57A2-685F-68AD-1C0170446CF4}"/>
              </a:ext>
            </a:extLst>
          </p:cNvPr>
          <p:cNvSpPr/>
          <p:nvPr/>
        </p:nvSpPr>
        <p:spPr>
          <a:xfrm>
            <a:off x="1997961" y="3449001"/>
            <a:ext cx="1939290" cy="704850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Retriever</a:t>
            </a:r>
          </a:p>
        </p:txBody>
      </p:sp>
      <p:pic>
        <p:nvPicPr>
          <p:cNvPr id="9" name="圖形 8" descr="資料庫 外框">
            <a:extLst>
              <a:ext uri="{FF2B5EF4-FFF2-40B4-BE49-F238E27FC236}">
                <a16:creationId xmlns:a16="http://schemas.microsoft.com/office/drawing/2014/main" id="{1A750FEE-BD69-835D-B503-9BC72DEA68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11965" y="4774443"/>
            <a:ext cx="914400" cy="914400"/>
          </a:xfrm>
          <a:prstGeom prst="rect">
            <a:avLst/>
          </a:prstGeom>
        </p:spPr>
      </p:pic>
      <p:pic>
        <p:nvPicPr>
          <p:cNvPr id="1028" name="Picture 4" descr="undefined">
            <a:extLst>
              <a:ext uri="{FF2B5EF4-FFF2-40B4-BE49-F238E27FC236}">
                <a16:creationId xmlns:a16="http://schemas.microsoft.com/office/drawing/2014/main" id="{61AEFAE3-D0F1-0112-BA15-9CEE854F2B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0225" y="5577707"/>
            <a:ext cx="772651" cy="704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A45DFAE3-5EC4-80FD-6A58-5A2C79D36FD8}"/>
              </a:ext>
            </a:extLst>
          </p:cNvPr>
          <p:cNvSpPr txBox="1"/>
          <p:nvPr/>
        </p:nvSpPr>
        <p:spPr>
          <a:xfrm>
            <a:off x="2052876" y="5606967"/>
            <a:ext cx="18325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b="1" dirty="0"/>
              <a:t>Knowledge Base </a:t>
            </a:r>
            <a:r>
              <a:rPr kumimoji="1" lang="en-US" altLang="zh-TW" dirty="0"/>
              <a:t>(e.g., Wikipedia)</a:t>
            </a:r>
            <a:endParaRPr kumimoji="1" lang="zh-TW" altLang="en-US" dirty="0"/>
          </a:p>
        </p:txBody>
      </p:sp>
      <p:cxnSp>
        <p:nvCxnSpPr>
          <p:cNvPr id="12" name="直線箭頭接點 11">
            <a:extLst>
              <a:ext uri="{FF2B5EF4-FFF2-40B4-BE49-F238E27FC236}">
                <a16:creationId xmlns:a16="http://schemas.microsoft.com/office/drawing/2014/main" id="{7F050A04-5CE8-AA08-06BF-903E9F8C0D15}"/>
              </a:ext>
            </a:extLst>
          </p:cNvPr>
          <p:cNvCxnSpPr/>
          <p:nvPr/>
        </p:nvCxnSpPr>
        <p:spPr>
          <a:xfrm>
            <a:off x="2971796" y="4227778"/>
            <a:ext cx="0" cy="55755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C76AD002-E6EF-6A3C-65C5-4DDBD7E074D9}"/>
              </a:ext>
            </a:extLst>
          </p:cNvPr>
          <p:cNvSpPr/>
          <p:nvPr/>
        </p:nvSpPr>
        <p:spPr>
          <a:xfrm>
            <a:off x="1164688" y="2143845"/>
            <a:ext cx="3627610" cy="53131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Which year was Oppenheimer born?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4" name="直線箭頭接點 13">
            <a:extLst>
              <a:ext uri="{FF2B5EF4-FFF2-40B4-BE49-F238E27FC236}">
                <a16:creationId xmlns:a16="http://schemas.microsoft.com/office/drawing/2014/main" id="{0ADDEC63-99C3-46C2-0727-D3787C6F615A}"/>
              </a:ext>
            </a:extLst>
          </p:cNvPr>
          <p:cNvCxnSpPr/>
          <p:nvPr/>
        </p:nvCxnSpPr>
        <p:spPr>
          <a:xfrm>
            <a:off x="2978492" y="2815248"/>
            <a:ext cx="0" cy="55755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A36DEEA2-78AF-ACEB-5FAB-E088CABCCEB3}"/>
              </a:ext>
            </a:extLst>
          </p:cNvPr>
          <p:cNvSpPr/>
          <p:nvPr/>
        </p:nvSpPr>
        <p:spPr>
          <a:xfrm>
            <a:off x="4296265" y="4663288"/>
            <a:ext cx="3275388" cy="113670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TW" sz="1400" dirty="0">
                <a:solidFill>
                  <a:schemeClr val="tx1"/>
                </a:solidFill>
              </a:rPr>
              <a:t>Robert Oppenheimer (born April 22, 1904, New York, New York, U.S.—died February 18, 1967, Princeton, New Jersey) was an American theoretical physicist and science administrator ...</a:t>
            </a:r>
            <a:endParaRPr kumimoji="1" lang="zh-TW" altLang="en-US" sz="1400" dirty="0">
              <a:solidFill>
                <a:schemeClr val="tx1"/>
              </a:solidFill>
            </a:endParaRPr>
          </a:p>
        </p:txBody>
      </p:sp>
      <p:cxnSp>
        <p:nvCxnSpPr>
          <p:cNvPr id="16" name="直線箭頭接點 15">
            <a:extLst>
              <a:ext uri="{FF2B5EF4-FFF2-40B4-BE49-F238E27FC236}">
                <a16:creationId xmlns:a16="http://schemas.microsoft.com/office/drawing/2014/main" id="{49282300-B5AC-DA84-2FB7-799C685EC99C}"/>
              </a:ext>
            </a:extLst>
          </p:cNvPr>
          <p:cNvCxnSpPr>
            <a:cxnSpLocks/>
          </p:cNvCxnSpPr>
          <p:nvPr/>
        </p:nvCxnSpPr>
        <p:spPr>
          <a:xfrm>
            <a:off x="5047581" y="2325392"/>
            <a:ext cx="166140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箭頭接點 17">
            <a:extLst>
              <a:ext uri="{FF2B5EF4-FFF2-40B4-BE49-F238E27FC236}">
                <a16:creationId xmlns:a16="http://schemas.microsoft.com/office/drawing/2014/main" id="{8D826703-5B08-8A1A-6482-E3F162A22BE9}"/>
              </a:ext>
            </a:extLst>
          </p:cNvPr>
          <p:cNvCxnSpPr>
            <a:cxnSpLocks/>
          </p:cNvCxnSpPr>
          <p:nvPr/>
        </p:nvCxnSpPr>
        <p:spPr>
          <a:xfrm>
            <a:off x="5047581" y="2586649"/>
            <a:ext cx="166140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箭頭接點 18">
            <a:extLst>
              <a:ext uri="{FF2B5EF4-FFF2-40B4-BE49-F238E27FC236}">
                <a16:creationId xmlns:a16="http://schemas.microsoft.com/office/drawing/2014/main" id="{858ACCE5-013D-8F35-DA46-087F0322243B}"/>
              </a:ext>
            </a:extLst>
          </p:cNvPr>
          <p:cNvCxnSpPr>
            <a:cxnSpLocks/>
          </p:cNvCxnSpPr>
          <p:nvPr/>
        </p:nvCxnSpPr>
        <p:spPr>
          <a:xfrm>
            <a:off x="3509321" y="5242763"/>
            <a:ext cx="616362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箭頭接點 20">
            <a:extLst>
              <a:ext uri="{FF2B5EF4-FFF2-40B4-BE49-F238E27FC236}">
                <a16:creationId xmlns:a16="http://schemas.microsoft.com/office/drawing/2014/main" id="{6AF5415A-9159-FF26-BF54-7E8A7075DCFB}"/>
              </a:ext>
            </a:extLst>
          </p:cNvPr>
          <p:cNvCxnSpPr>
            <a:cxnSpLocks/>
          </p:cNvCxnSpPr>
          <p:nvPr/>
        </p:nvCxnSpPr>
        <p:spPr>
          <a:xfrm flipV="1">
            <a:off x="5838864" y="2651965"/>
            <a:ext cx="0" cy="197031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F76D838D-A7A1-478A-E5F6-E026902F1CA8}"/>
              </a:ext>
            </a:extLst>
          </p:cNvPr>
          <p:cNvSpPr txBox="1"/>
          <p:nvPr/>
        </p:nvSpPr>
        <p:spPr>
          <a:xfrm>
            <a:off x="9614694" y="2140053"/>
            <a:ext cx="22496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TW" sz="1800" dirty="0">
                <a:solidFill>
                  <a:schemeClr val="tx1"/>
                </a:solidFill>
              </a:rPr>
              <a:t>1967 (Without RAG)</a:t>
            </a:r>
          </a:p>
          <a:p>
            <a:r>
              <a:rPr kumimoji="1" lang="en-US" altLang="zh-TW" dirty="0"/>
              <a:t>1904 (With RAG)</a:t>
            </a:r>
            <a:endParaRPr lang="zh-TW" altLang="en-US" dirty="0"/>
          </a:p>
        </p:txBody>
      </p:sp>
      <p:cxnSp>
        <p:nvCxnSpPr>
          <p:cNvPr id="25" name="直線箭頭接點 24">
            <a:extLst>
              <a:ext uri="{FF2B5EF4-FFF2-40B4-BE49-F238E27FC236}">
                <a16:creationId xmlns:a16="http://schemas.microsoft.com/office/drawing/2014/main" id="{CE9DB02D-5C2B-8AC6-1C76-9A1CE09F7222}"/>
              </a:ext>
            </a:extLst>
          </p:cNvPr>
          <p:cNvCxnSpPr>
            <a:cxnSpLocks/>
          </p:cNvCxnSpPr>
          <p:nvPr/>
        </p:nvCxnSpPr>
        <p:spPr>
          <a:xfrm>
            <a:off x="9162380" y="2325392"/>
            <a:ext cx="44142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箭頭接點 28">
            <a:extLst>
              <a:ext uri="{FF2B5EF4-FFF2-40B4-BE49-F238E27FC236}">
                <a16:creationId xmlns:a16="http://schemas.microsoft.com/office/drawing/2014/main" id="{BD476A9C-D893-D93D-1437-12F7E90CC8A3}"/>
              </a:ext>
            </a:extLst>
          </p:cNvPr>
          <p:cNvCxnSpPr>
            <a:cxnSpLocks/>
          </p:cNvCxnSpPr>
          <p:nvPr/>
        </p:nvCxnSpPr>
        <p:spPr>
          <a:xfrm>
            <a:off x="9173266" y="2586649"/>
            <a:ext cx="44142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E1BB2B5C-C1A8-04FC-7251-A7901CBEBA05}"/>
              </a:ext>
            </a:extLst>
          </p:cNvPr>
          <p:cNvSpPr txBox="1"/>
          <p:nvPr/>
        </p:nvSpPr>
        <p:spPr>
          <a:xfrm>
            <a:off x="7561402" y="4909162"/>
            <a:ext cx="14602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b="1" dirty="0"/>
              <a:t>Retrieved Documents</a:t>
            </a:r>
            <a:endParaRPr kumimoji="1" lang="zh-TW" altLang="en-US" b="1" dirty="0"/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852D27A4-BBA9-B933-60FD-6B71F9E83BBA}"/>
              </a:ext>
            </a:extLst>
          </p:cNvPr>
          <p:cNvSpPr txBox="1"/>
          <p:nvPr/>
        </p:nvSpPr>
        <p:spPr>
          <a:xfrm>
            <a:off x="9695704" y="1770817"/>
            <a:ext cx="1810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b="1" dirty="0"/>
              <a:t>LLM Output</a:t>
            </a:r>
            <a:endParaRPr kumimoji="1" lang="zh-TW" altLang="en-US" b="1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2B791C25-F66F-9E06-31F6-CA3160FBE871}"/>
              </a:ext>
            </a:extLst>
          </p:cNvPr>
          <p:cNvSpPr txBox="1"/>
          <p:nvPr/>
        </p:nvSpPr>
        <p:spPr>
          <a:xfrm>
            <a:off x="2059422" y="1774513"/>
            <a:ext cx="1816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b="1" dirty="0"/>
              <a:t>Input Query</a:t>
            </a:r>
            <a:endParaRPr kumimoji="1" lang="zh-TW" altLang="en-US" b="1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8BB34A01-6FF3-61F7-E230-C95B864CD840}"/>
              </a:ext>
            </a:extLst>
          </p:cNvPr>
          <p:cNvSpPr txBox="1"/>
          <p:nvPr/>
        </p:nvSpPr>
        <p:spPr>
          <a:xfrm>
            <a:off x="3204711" y="3295750"/>
            <a:ext cx="16644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800" dirty="0">
                <a:solidFill>
                  <a:srgbClr val="FF0000"/>
                </a:solidFill>
              </a:rPr>
              <a:t>TF-IDF</a:t>
            </a:r>
            <a:endParaRPr kumimoji="1" lang="zh-TW" altLang="en-US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6107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B340F-4CFF-4989-C8F8-5FD827454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2E0BF5B-487C-A590-771F-1B615AE43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Outline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C6E6DDF-B91E-D579-5F64-DA6C13021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7129A909-BF71-C618-B5E9-B727E3F75846}"/>
              </a:ext>
            </a:extLst>
          </p:cNvPr>
          <p:cNvSpPr txBox="1"/>
          <p:nvPr/>
        </p:nvSpPr>
        <p:spPr>
          <a:xfrm>
            <a:off x="653143" y="1868198"/>
            <a:ext cx="10918370" cy="2239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b="1" dirty="0">
                <a:solidFill>
                  <a:srgbClr val="0070C0"/>
                </a:solidFill>
              </a:rPr>
              <a:t>文字向量基礎</a:t>
            </a:r>
            <a:endParaRPr kumimoji="1" lang="en-US" altLang="zh-TW" sz="2400" b="1" dirty="0">
              <a:solidFill>
                <a:srgbClr val="0070C0"/>
              </a:solidFill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b="1" dirty="0"/>
              <a:t>Introduction to embeddings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Sentence embeddings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Word embeddings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295D176-023D-8705-62FA-C6B01814C651}"/>
              </a:ext>
            </a:extLst>
          </p:cNvPr>
          <p:cNvSpPr/>
          <p:nvPr/>
        </p:nvSpPr>
        <p:spPr>
          <a:xfrm>
            <a:off x="1058779" y="3617153"/>
            <a:ext cx="3176337" cy="49088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5799383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F6BAB6-B4AA-13CD-0AD3-7B7F2FB64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Word Representations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CEDA3F6-A6A6-8F7F-229B-612A63712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5" name="圓角矩形 4">
            <a:extLst>
              <a:ext uri="{FF2B5EF4-FFF2-40B4-BE49-F238E27FC236}">
                <a16:creationId xmlns:a16="http://schemas.microsoft.com/office/drawing/2014/main" id="{EF35CB33-6AF5-DE8F-55EB-4C367C73DFD8}"/>
              </a:ext>
            </a:extLst>
          </p:cNvPr>
          <p:cNvSpPr/>
          <p:nvPr/>
        </p:nvSpPr>
        <p:spPr>
          <a:xfrm>
            <a:off x="2319962" y="1771513"/>
            <a:ext cx="1025492" cy="400110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like</a:t>
            </a:r>
            <a:endParaRPr kumimoji="1" lang="zh-TW" altLang="en-US" sz="2000" dirty="0">
              <a:solidFill>
                <a:schemeClr val="tx1"/>
              </a:solidFill>
            </a:endParaRPr>
          </a:p>
        </p:txBody>
      </p:sp>
      <p:sp>
        <p:nvSpPr>
          <p:cNvPr id="6" name="圓角矩形 5">
            <a:extLst>
              <a:ext uri="{FF2B5EF4-FFF2-40B4-BE49-F238E27FC236}">
                <a16:creationId xmlns:a16="http://schemas.microsoft.com/office/drawing/2014/main" id="{DA033C3C-2D29-BBB2-99C3-93553E76DE6E}"/>
              </a:ext>
            </a:extLst>
          </p:cNvPr>
          <p:cNvSpPr/>
          <p:nvPr/>
        </p:nvSpPr>
        <p:spPr>
          <a:xfrm>
            <a:off x="2319962" y="2396430"/>
            <a:ext cx="1025492" cy="400110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apple</a:t>
            </a:r>
            <a:endParaRPr kumimoji="1" lang="zh-TW" altLang="en-US" sz="2000" dirty="0">
              <a:solidFill>
                <a:schemeClr val="tx1"/>
              </a:solidFill>
            </a:endParaRPr>
          </a:p>
        </p:txBody>
      </p:sp>
      <p:cxnSp>
        <p:nvCxnSpPr>
          <p:cNvPr id="7" name="直線箭頭接點 6">
            <a:extLst>
              <a:ext uri="{FF2B5EF4-FFF2-40B4-BE49-F238E27FC236}">
                <a16:creationId xmlns:a16="http://schemas.microsoft.com/office/drawing/2014/main" id="{6FE083B9-4940-4F58-0E92-038EBCF79F68}"/>
              </a:ext>
            </a:extLst>
          </p:cNvPr>
          <p:cNvCxnSpPr>
            <a:cxnSpLocks/>
          </p:cNvCxnSpPr>
          <p:nvPr/>
        </p:nvCxnSpPr>
        <p:spPr>
          <a:xfrm>
            <a:off x="3615218" y="2245888"/>
            <a:ext cx="1198485" cy="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字方塊 7">
            <a:extLst>
              <a:ext uri="{FF2B5EF4-FFF2-40B4-BE49-F238E27FC236}">
                <a16:creationId xmlns:a16="http://schemas.microsoft.com/office/drawing/2014/main" id="{CC1213A1-F77A-DB50-E3F7-FEDF7C3D8CCE}"/>
              </a:ext>
            </a:extLst>
          </p:cNvPr>
          <p:cNvSpPr txBox="1"/>
          <p:nvPr/>
        </p:nvSpPr>
        <p:spPr>
          <a:xfrm>
            <a:off x="4914900" y="1771513"/>
            <a:ext cx="1752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8000" dirty="0"/>
              <a:t>🖥️</a:t>
            </a:r>
            <a:endParaRPr kumimoji="1" lang="zh-TW" altLang="en-US" sz="8000" dirty="0"/>
          </a:p>
        </p:txBody>
      </p:sp>
      <p:cxnSp>
        <p:nvCxnSpPr>
          <p:cNvPr id="9" name="直線箭頭接點 8">
            <a:extLst>
              <a:ext uri="{FF2B5EF4-FFF2-40B4-BE49-F238E27FC236}">
                <a16:creationId xmlns:a16="http://schemas.microsoft.com/office/drawing/2014/main" id="{E652FD1D-9B44-9613-BCFF-F5D5958E1815}"/>
              </a:ext>
            </a:extLst>
          </p:cNvPr>
          <p:cNvCxnSpPr>
            <a:cxnSpLocks/>
          </p:cNvCxnSpPr>
          <p:nvPr/>
        </p:nvCxnSpPr>
        <p:spPr>
          <a:xfrm>
            <a:off x="6667500" y="2245888"/>
            <a:ext cx="1198485" cy="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字方塊 9">
            <a:extLst>
              <a:ext uri="{FF2B5EF4-FFF2-40B4-BE49-F238E27FC236}">
                <a16:creationId xmlns:a16="http://schemas.microsoft.com/office/drawing/2014/main" id="{574D98F1-AA3C-9208-3747-5A61BF904007}"/>
              </a:ext>
            </a:extLst>
          </p:cNvPr>
          <p:cNvSpPr txBox="1"/>
          <p:nvPr/>
        </p:nvSpPr>
        <p:spPr>
          <a:xfrm>
            <a:off x="8054340" y="1945326"/>
            <a:ext cx="5791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3600" b="1" dirty="0"/>
              <a:t>?</a:t>
            </a:r>
            <a:endParaRPr kumimoji="1" lang="zh-TW" altLang="en-US" sz="3600" b="1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E938E0F8-04E3-42A5-80E3-DAC75C6C47CE}"/>
              </a:ext>
            </a:extLst>
          </p:cNvPr>
          <p:cNvSpPr txBox="1"/>
          <p:nvPr/>
        </p:nvSpPr>
        <p:spPr>
          <a:xfrm>
            <a:off x="568132" y="3120496"/>
            <a:ext cx="30324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800" b="1" dirty="0"/>
              <a:t>Basic Approach</a:t>
            </a:r>
            <a:endParaRPr kumimoji="1" lang="zh-TW" altLang="en-US" sz="2800" b="1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805BD7A1-9CB1-647E-B0A3-31D4B4DF87F9}"/>
              </a:ext>
            </a:extLst>
          </p:cNvPr>
          <p:cNvSpPr txBox="1"/>
          <p:nvPr/>
        </p:nvSpPr>
        <p:spPr>
          <a:xfrm>
            <a:off x="823234" y="3911090"/>
            <a:ext cx="25222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Corpus</a:t>
            </a:r>
            <a:endParaRPr kumimoji="1" lang="zh-TW" altLang="en-US" sz="2400" dirty="0"/>
          </a:p>
        </p:txBody>
      </p:sp>
      <p:grpSp>
        <p:nvGrpSpPr>
          <p:cNvPr id="35" name="群組 34">
            <a:extLst>
              <a:ext uri="{FF2B5EF4-FFF2-40B4-BE49-F238E27FC236}">
                <a16:creationId xmlns:a16="http://schemas.microsoft.com/office/drawing/2014/main" id="{AC773989-B87C-D68A-7E2C-7781270984C4}"/>
              </a:ext>
            </a:extLst>
          </p:cNvPr>
          <p:cNvGrpSpPr/>
          <p:nvPr/>
        </p:nvGrpSpPr>
        <p:grpSpPr>
          <a:xfrm>
            <a:off x="686076" y="4347299"/>
            <a:ext cx="2798910" cy="1178802"/>
            <a:chOff x="653143" y="4097438"/>
            <a:chExt cx="2798910" cy="1178802"/>
          </a:xfrm>
        </p:grpSpPr>
        <p:sp>
          <p:nvSpPr>
            <p:cNvPr id="15" name="圓角矩形 14">
              <a:extLst>
                <a:ext uri="{FF2B5EF4-FFF2-40B4-BE49-F238E27FC236}">
                  <a16:creationId xmlns:a16="http://schemas.microsoft.com/office/drawing/2014/main" id="{16178C76-3E8B-9E4C-AFD2-B955C3270965}"/>
                </a:ext>
              </a:extLst>
            </p:cNvPr>
            <p:cNvSpPr/>
            <p:nvPr/>
          </p:nvSpPr>
          <p:spPr>
            <a:xfrm>
              <a:off x="790303" y="4219072"/>
              <a:ext cx="2522218" cy="400110"/>
            </a:xfrm>
            <a:prstGeom prst="roundRect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TW" sz="2000" dirty="0">
                  <a:solidFill>
                    <a:schemeClr val="tx1"/>
                  </a:solidFill>
                </a:rPr>
                <a:t>I like to eat apple</a:t>
              </a:r>
              <a:endParaRPr kumimoji="1" lang="zh-TW" alt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16" name="圓角矩形 15">
              <a:extLst>
                <a:ext uri="{FF2B5EF4-FFF2-40B4-BE49-F238E27FC236}">
                  <a16:creationId xmlns:a16="http://schemas.microsoft.com/office/drawing/2014/main" id="{00D36C8B-72ED-6DC2-EC8D-74F34886FFA8}"/>
                </a:ext>
              </a:extLst>
            </p:cNvPr>
            <p:cNvSpPr/>
            <p:nvPr/>
          </p:nvSpPr>
          <p:spPr>
            <a:xfrm>
              <a:off x="806587" y="4740816"/>
              <a:ext cx="2522219" cy="400110"/>
            </a:xfrm>
            <a:prstGeom prst="roundRect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TW" sz="2000" dirty="0">
                  <a:solidFill>
                    <a:schemeClr val="tx1"/>
                  </a:solidFill>
                </a:rPr>
                <a:t>You like to watch TV</a:t>
              </a:r>
              <a:endParaRPr kumimoji="1" lang="zh-TW" alt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B664C5D4-C1BD-DA8A-031B-F885F27D33C8}"/>
                </a:ext>
              </a:extLst>
            </p:cNvPr>
            <p:cNvSpPr/>
            <p:nvPr/>
          </p:nvSpPr>
          <p:spPr>
            <a:xfrm>
              <a:off x="653143" y="4097438"/>
              <a:ext cx="2798910" cy="117880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</p:grp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BEA2D24D-3AA2-E2AE-1D76-D35CFC1E755D}"/>
              </a:ext>
            </a:extLst>
          </p:cNvPr>
          <p:cNvSpPr txBox="1"/>
          <p:nvPr/>
        </p:nvSpPr>
        <p:spPr>
          <a:xfrm>
            <a:off x="3731708" y="4765595"/>
            <a:ext cx="17511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dirty="0">
                <a:solidFill>
                  <a:srgbClr val="00B050"/>
                </a:solidFill>
              </a:rPr>
              <a:t>Vocabulary</a:t>
            </a:r>
            <a:endParaRPr kumimoji="1" lang="zh-TW" altLang="en-US" sz="2000" dirty="0">
              <a:solidFill>
                <a:srgbClr val="00B050"/>
              </a:solidFill>
            </a:endParaRPr>
          </a:p>
        </p:txBody>
      </p:sp>
      <p:sp>
        <p:nvSpPr>
          <p:cNvPr id="19" name="圓角矩形 18">
            <a:extLst>
              <a:ext uri="{FF2B5EF4-FFF2-40B4-BE49-F238E27FC236}">
                <a16:creationId xmlns:a16="http://schemas.microsoft.com/office/drawing/2014/main" id="{401A8F95-3600-8957-0805-E1F1F2AC90C6}"/>
              </a:ext>
            </a:extLst>
          </p:cNvPr>
          <p:cNvSpPr/>
          <p:nvPr/>
        </p:nvSpPr>
        <p:spPr>
          <a:xfrm>
            <a:off x="5575772" y="3655144"/>
            <a:ext cx="843382" cy="302786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apple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20" name="圓角矩形 19">
            <a:extLst>
              <a:ext uri="{FF2B5EF4-FFF2-40B4-BE49-F238E27FC236}">
                <a16:creationId xmlns:a16="http://schemas.microsoft.com/office/drawing/2014/main" id="{89F2ACED-A2D0-C3C3-68A7-B31F0DA0901C}"/>
              </a:ext>
            </a:extLst>
          </p:cNvPr>
          <p:cNvSpPr/>
          <p:nvPr/>
        </p:nvSpPr>
        <p:spPr>
          <a:xfrm>
            <a:off x="5575772" y="4107460"/>
            <a:ext cx="843382" cy="292094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eat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21" name="圓角矩形 20">
            <a:extLst>
              <a:ext uri="{FF2B5EF4-FFF2-40B4-BE49-F238E27FC236}">
                <a16:creationId xmlns:a16="http://schemas.microsoft.com/office/drawing/2014/main" id="{66070AE8-43B4-F8BF-BEFE-168CAE60C487}"/>
              </a:ext>
            </a:extLst>
          </p:cNvPr>
          <p:cNvSpPr/>
          <p:nvPr/>
        </p:nvSpPr>
        <p:spPr>
          <a:xfrm>
            <a:off x="5575772" y="4549084"/>
            <a:ext cx="843382" cy="292094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I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22" name="圓角矩形 21">
            <a:extLst>
              <a:ext uri="{FF2B5EF4-FFF2-40B4-BE49-F238E27FC236}">
                <a16:creationId xmlns:a16="http://schemas.microsoft.com/office/drawing/2014/main" id="{33600E8E-A145-E547-2303-4EF07FAAF6AF}"/>
              </a:ext>
            </a:extLst>
          </p:cNvPr>
          <p:cNvSpPr/>
          <p:nvPr/>
        </p:nvSpPr>
        <p:spPr>
          <a:xfrm>
            <a:off x="5575772" y="4990708"/>
            <a:ext cx="843382" cy="292094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like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23" name="圓角矩形 22">
            <a:extLst>
              <a:ext uri="{FF2B5EF4-FFF2-40B4-BE49-F238E27FC236}">
                <a16:creationId xmlns:a16="http://schemas.microsoft.com/office/drawing/2014/main" id="{3D0B28C5-A462-85E7-AF9B-A44075CA512D}"/>
              </a:ext>
            </a:extLst>
          </p:cNvPr>
          <p:cNvSpPr/>
          <p:nvPr/>
        </p:nvSpPr>
        <p:spPr>
          <a:xfrm>
            <a:off x="5583392" y="5432332"/>
            <a:ext cx="843382" cy="292095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watch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24" name="圓角矩形 23">
            <a:extLst>
              <a:ext uri="{FF2B5EF4-FFF2-40B4-BE49-F238E27FC236}">
                <a16:creationId xmlns:a16="http://schemas.microsoft.com/office/drawing/2014/main" id="{12619BBF-AB71-9CDC-CDAC-505987D98712}"/>
              </a:ext>
            </a:extLst>
          </p:cNvPr>
          <p:cNvSpPr/>
          <p:nvPr/>
        </p:nvSpPr>
        <p:spPr>
          <a:xfrm>
            <a:off x="5575772" y="5873956"/>
            <a:ext cx="843382" cy="292097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to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1530FAE0-48A7-4AAB-BF03-0AF1482EDE18}"/>
              </a:ext>
            </a:extLst>
          </p:cNvPr>
          <p:cNvSpPr txBox="1"/>
          <p:nvPr/>
        </p:nvSpPr>
        <p:spPr>
          <a:xfrm rot="5400000">
            <a:off x="5862202" y="6162241"/>
            <a:ext cx="4616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...</a:t>
            </a:r>
            <a:endParaRPr kumimoji="1" lang="zh-TW" altLang="en-US" sz="2400" dirty="0"/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199015AF-A281-FB12-0B4D-7A59691A76B2}"/>
              </a:ext>
            </a:extLst>
          </p:cNvPr>
          <p:cNvSpPr txBox="1"/>
          <p:nvPr/>
        </p:nvSpPr>
        <p:spPr>
          <a:xfrm>
            <a:off x="6472494" y="3611827"/>
            <a:ext cx="25326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dirty="0"/>
              <a:t>[1, 0, 0, 0, 0, 0, 0, 0]</a:t>
            </a:r>
            <a:endParaRPr kumimoji="1" lang="zh-TW" altLang="en-US" sz="2000" dirty="0"/>
          </a:p>
        </p:txBody>
      </p:sp>
      <p:sp>
        <p:nvSpPr>
          <p:cNvPr id="27" name="左中括弧 26">
            <a:extLst>
              <a:ext uri="{FF2B5EF4-FFF2-40B4-BE49-F238E27FC236}">
                <a16:creationId xmlns:a16="http://schemas.microsoft.com/office/drawing/2014/main" id="{7DEA1A3D-ED4C-C615-B6B7-A8E6F6ABFA92}"/>
              </a:ext>
            </a:extLst>
          </p:cNvPr>
          <p:cNvSpPr/>
          <p:nvPr/>
        </p:nvSpPr>
        <p:spPr>
          <a:xfrm>
            <a:off x="5360332" y="3762654"/>
            <a:ext cx="143013" cy="2668520"/>
          </a:xfrm>
          <a:prstGeom prst="leftBracket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33CF28B0-50E9-FE47-EF65-FE9007E964A1}"/>
              </a:ext>
            </a:extLst>
          </p:cNvPr>
          <p:cNvSpPr txBox="1"/>
          <p:nvPr/>
        </p:nvSpPr>
        <p:spPr>
          <a:xfrm>
            <a:off x="6472494" y="4053452"/>
            <a:ext cx="25326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dirty="0"/>
              <a:t>[0, 1, 0, 0, 0, 0, 0, 0]</a:t>
            </a:r>
            <a:endParaRPr kumimoji="1" lang="zh-TW" altLang="en-US" sz="2000" dirty="0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9BAE045C-99A9-22BF-F976-7A82B3AEA0AA}"/>
              </a:ext>
            </a:extLst>
          </p:cNvPr>
          <p:cNvSpPr txBox="1"/>
          <p:nvPr/>
        </p:nvSpPr>
        <p:spPr>
          <a:xfrm>
            <a:off x="6472494" y="4495075"/>
            <a:ext cx="25326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dirty="0"/>
              <a:t>[0, 0, 1, 0, 0, 0, 0, 0]</a:t>
            </a:r>
            <a:endParaRPr kumimoji="1" lang="zh-TW" altLang="en-US" sz="2000" dirty="0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E5426A75-33D6-67F2-D0D5-3F11E90CAEF8}"/>
              </a:ext>
            </a:extLst>
          </p:cNvPr>
          <p:cNvSpPr txBox="1"/>
          <p:nvPr/>
        </p:nvSpPr>
        <p:spPr>
          <a:xfrm>
            <a:off x="6472494" y="4936700"/>
            <a:ext cx="25326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dirty="0"/>
              <a:t>[0, 0, 0, 1, 0, 0, 0, 0]</a:t>
            </a:r>
            <a:endParaRPr kumimoji="1" lang="zh-TW" altLang="en-US" sz="2000" dirty="0"/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FB6EAF12-75B6-27A9-2E3B-49267A795C7B}"/>
              </a:ext>
            </a:extLst>
          </p:cNvPr>
          <p:cNvSpPr txBox="1"/>
          <p:nvPr/>
        </p:nvSpPr>
        <p:spPr>
          <a:xfrm>
            <a:off x="6472494" y="5378324"/>
            <a:ext cx="25326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dirty="0"/>
              <a:t>[0, 0, 0, 0, 1, 0, 0, 0]</a:t>
            </a:r>
            <a:endParaRPr kumimoji="1" lang="zh-TW" altLang="en-US" sz="2000" dirty="0"/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6005F137-2959-202F-5E65-77BBE91F906A}"/>
              </a:ext>
            </a:extLst>
          </p:cNvPr>
          <p:cNvSpPr txBox="1"/>
          <p:nvPr/>
        </p:nvSpPr>
        <p:spPr>
          <a:xfrm>
            <a:off x="6472494" y="5819949"/>
            <a:ext cx="25326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dirty="0"/>
              <a:t>[0, 0, 0, 0, 0, 1, 0, 0]</a:t>
            </a:r>
            <a:endParaRPr kumimoji="1" lang="zh-TW" altLang="en-US" sz="2000" dirty="0"/>
          </a:p>
        </p:txBody>
      </p:sp>
      <p:sp>
        <p:nvSpPr>
          <p:cNvPr id="33" name="向右箭號 32">
            <a:extLst>
              <a:ext uri="{FF2B5EF4-FFF2-40B4-BE49-F238E27FC236}">
                <a16:creationId xmlns:a16="http://schemas.microsoft.com/office/drawing/2014/main" id="{3546E0ED-1EAE-77E4-46F3-6CAA06FD63F5}"/>
              </a:ext>
            </a:extLst>
          </p:cNvPr>
          <p:cNvSpPr/>
          <p:nvPr/>
        </p:nvSpPr>
        <p:spPr>
          <a:xfrm>
            <a:off x="3614624" y="4821607"/>
            <a:ext cx="257319" cy="26679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AE8CEF02-5219-F7E1-F8D2-D01EDBB32DA8}"/>
              </a:ext>
            </a:extLst>
          </p:cNvPr>
          <p:cNvSpPr txBox="1"/>
          <p:nvPr/>
        </p:nvSpPr>
        <p:spPr>
          <a:xfrm>
            <a:off x="8989397" y="3631253"/>
            <a:ext cx="31100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dirty="0"/>
              <a:t>One hot encodings with each vector size equal to the vocab size (8 in this case)</a:t>
            </a:r>
            <a:endParaRPr kumimoji="1" lang="zh-TW" altLang="en-US" dirty="0"/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7959437F-0083-D577-939A-673D8133E577}"/>
              </a:ext>
            </a:extLst>
          </p:cNvPr>
          <p:cNvSpPr txBox="1"/>
          <p:nvPr/>
        </p:nvSpPr>
        <p:spPr>
          <a:xfrm>
            <a:off x="8989397" y="4758476"/>
            <a:ext cx="27431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b="1" dirty="0"/>
              <a:t>Pros</a:t>
            </a:r>
            <a:r>
              <a:rPr kumimoji="1" lang="en" altLang="zh-TW" dirty="0"/>
              <a:t>: handy, training-free</a:t>
            </a:r>
          </a:p>
          <a:p>
            <a:r>
              <a:rPr kumimoji="1" lang="en" altLang="zh-TW" b="1" dirty="0"/>
              <a:t>Cons</a:t>
            </a:r>
            <a:r>
              <a:rPr kumimoji="1" lang="en" altLang="zh-TW" dirty="0"/>
              <a:t>: sparse matrix which occupies much memory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279903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74D967F-6129-6EEA-EC79-0D5CE8379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TW" altLang="en-US" dirty="0"/>
              <a:t>詞嵌入：把詞嵌入到向量</a:t>
            </a:r>
            <a:r>
              <a:rPr kumimoji="1" lang="en-US" altLang="zh-TW" dirty="0"/>
              <a:t> </a:t>
            </a:r>
            <a:r>
              <a:rPr kumimoji="1" lang="en" altLang="zh-TW" dirty="0"/>
              <a:t>(Word2Vec)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0D7ADE4-3145-5A62-E184-3740A8F64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5" name="圓角矩形 4">
            <a:extLst>
              <a:ext uri="{FF2B5EF4-FFF2-40B4-BE49-F238E27FC236}">
                <a16:creationId xmlns:a16="http://schemas.microsoft.com/office/drawing/2014/main" id="{ABEA6365-DAA5-3D21-15A3-44E21F0B3E90}"/>
              </a:ext>
            </a:extLst>
          </p:cNvPr>
          <p:cNvSpPr/>
          <p:nvPr/>
        </p:nvSpPr>
        <p:spPr>
          <a:xfrm>
            <a:off x="5126250" y="1976138"/>
            <a:ext cx="1038330" cy="363770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</a:rPr>
              <a:t>Steve</a:t>
            </a:r>
            <a:endParaRPr kumimoji="1"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6" name="圓角矩形 5">
            <a:extLst>
              <a:ext uri="{FF2B5EF4-FFF2-40B4-BE49-F238E27FC236}">
                <a16:creationId xmlns:a16="http://schemas.microsoft.com/office/drawing/2014/main" id="{47BBC121-29B6-5220-CB78-B4D68370D415}"/>
              </a:ext>
            </a:extLst>
          </p:cNvPr>
          <p:cNvSpPr/>
          <p:nvPr/>
        </p:nvSpPr>
        <p:spPr>
          <a:xfrm>
            <a:off x="5126250" y="2428453"/>
            <a:ext cx="1038330" cy="363771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</a:rPr>
              <a:t>Jobs</a:t>
            </a:r>
            <a:endParaRPr kumimoji="1"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7" name="圓角矩形 6">
            <a:extLst>
              <a:ext uri="{FF2B5EF4-FFF2-40B4-BE49-F238E27FC236}">
                <a16:creationId xmlns:a16="http://schemas.microsoft.com/office/drawing/2014/main" id="{1CC73DF7-67C5-E923-B110-F5027E607101}"/>
              </a:ext>
            </a:extLst>
          </p:cNvPr>
          <p:cNvSpPr/>
          <p:nvPr/>
        </p:nvSpPr>
        <p:spPr>
          <a:xfrm>
            <a:off x="5126250" y="2870077"/>
            <a:ext cx="1038330" cy="363773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rgbClr val="FF0000"/>
                </a:solidFill>
              </a:rPr>
              <a:t>[MASK]</a:t>
            </a:r>
            <a:endParaRPr kumimoji="1" lang="zh-TW" altLang="en-US" sz="1600" dirty="0">
              <a:solidFill>
                <a:srgbClr val="FF0000"/>
              </a:solidFill>
            </a:endParaRPr>
          </a:p>
        </p:txBody>
      </p:sp>
      <p:sp>
        <p:nvSpPr>
          <p:cNvPr id="8" name="圓角矩形 7">
            <a:extLst>
              <a:ext uri="{FF2B5EF4-FFF2-40B4-BE49-F238E27FC236}">
                <a16:creationId xmlns:a16="http://schemas.microsoft.com/office/drawing/2014/main" id="{56B8A95F-18DA-D383-DB7E-C39CA36DF52E}"/>
              </a:ext>
            </a:extLst>
          </p:cNvPr>
          <p:cNvSpPr/>
          <p:nvPr/>
        </p:nvSpPr>
        <p:spPr>
          <a:xfrm>
            <a:off x="5126250" y="3311701"/>
            <a:ext cx="1038330" cy="363773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</a:rPr>
              <a:t>Apple</a:t>
            </a:r>
            <a:endParaRPr kumimoji="1"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9" name="圓角矩形 8">
            <a:extLst>
              <a:ext uri="{FF2B5EF4-FFF2-40B4-BE49-F238E27FC236}">
                <a16:creationId xmlns:a16="http://schemas.microsoft.com/office/drawing/2014/main" id="{F5E789D0-102E-9899-6B0E-E72F53B56733}"/>
              </a:ext>
            </a:extLst>
          </p:cNvPr>
          <p:cNvSpPr/>
          <p:nvPr/>
        </p:nvSpPr>
        <p:spPr>
          <a:xfrm>
            <a:off x="5134854" y="3753326"/>
            <a:ext cx="1029726" cy="363773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</a:rPr>
              <a:t>Inc.</a:t>
            </a:r>
            <a:endParaRPr kumimoji="1"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464F8053-1CB6-9280-0786-1F5398B4FB9E}"/>
              </a:ext>
            </a:extLst>
          </p:cNvPr>
          <p:cNvSpPr txBox="1"/>
          <p:nvPr/>
        </p:nvSpPr>
        <p:spPr>
          <a:xfrm>
            <a:off x="5203872" y="1508868"/>
            <a:ext cx="8510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b="1" dirty="0"/>
              <a:t>Input</a:t>
            </a:r>
            <a:endParaRPr kumimoji="1" lang="zh-TW" altLang="en-US" sz="2000" b="1" dirty="0"/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217AB8D6-2DB3-140E-DF9E-4A5CD8120CB8}"/>
              </a:ext>
            </a:extLst>
          </p:cNvPr>
          <p:cNvSpPr/>
          <p:nvPr/>
        </p:nvSpPr>
        <p:spPr>
          <a:xfrm>
            <a:off x="5126250" y="4456485"/>
            <a:ext cx="1038330" cy="363770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rgbClr val="FF0000"/>
                </a:solidFill>
              </a:rPr>
              <a:t>[MASK]</a:t>
            </a:r>
            <a:endParaRPr kumimoji="1" lang="zh-TW" altLang="en-US" sz="1600" dirty="0">
              <a:solidFill>
                <a:srgbClr val="FF0000"/>
              </a:solidFill>
            </a:endParaRPr>
          </a:p>
        </p:txBody>
      </p:sp>
      <p:sp>
        <p:nvSpPr>
          <p:cNvPr id="13" name="圓角矩形 12">
            <a:extLst>
              <a:ext uri="{FF2B5EF4-FFF2-40B4-BE49-F238E27FC236}">
                <a16:creationId xmlns:a16="http://schemas.microsoft.com/office/drawing/2014/main" id="{AC62D52E-CDFE-9BB1-61EF-4CCF984C5F54}"/>
              </a:ext>
            </a:extLst>
          </p:cNvPr>
          <p:cNvSpPr/>
          <p:nvPr/>
        </p:nvSpPr>
        <p:spPr>
          <a:xfrm>
            <a:off x="5126250" y="4908800"/>
            <a:ext cx="1038330" cy="363771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rgbClr val="FF0000"/>
                </a:solidFill>
              </a:rPr>
              <a:t>[MASK]</a:t>
            </a:r>
            <a:endParaRPr kumimoji="1" lang="zh-TW" altLang="en-US" sz="1600" dirty="0">
              <a:solidFill>
                <a:srgbClr val="FF0000"/>
              </a:solidFill>
            </a:endParaRPr>
          </a:p>
        </p:txBody>
      </p:sp>
      <p:sp>
        <p:nvSpPr>
          <p:cNvPr id="14" name="圓角矩形 13">
            <a:extLst>
              <a:ext uri="{FF2B5EF4-FFF2-40B4-BE49-F238E27FC236}">
                <a16:creationId xmlns:a16="http://schemas.microsoft.com/office/drawing/2014/main" id="{5FFE151F-6C37-B885-AA8A-89C81A8E1C02}"/>
              </a:ext>
            </a:extLst>
          </p:cNvPr>
          <p:cNvSpPr/>
          <p:nvPr/>
        </p:nvSpPr>
        <p:spPr>
          <a:xfrm>
            <a:off x="5126250" y="5350424"/>
            <a:ext cx="1038330" cy="363773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</a:rPr>
              <a:t>founded</a:t>
            </a:r>
            <a:endParaRPr kumimoji="1"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5" name="圓角矩形 14">
            <a:extLst>
              <a:ext uri="{FF2B5EF4-FFF2-40B4-BE49-F238E27FC236}">
                <a16:creationId xmlns:a16="http://schemas.microsoft.com/office/drawing/2014/main" id="{1E1E2AE5-0D93-DD14-622D-9071BF79245E}"/>
              </a:ext>
            </a:extLst>
          </p:cNvPr>
          <p:cNvSpPr/>
          <p:nvPr/>
        </p:nvSpPr>
        <p:spPr>
          <a:xfrm>
            <a:off x="5126250" y="5792048"/>
            <a:ext cx="1038330" cy="363773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rgbClr val="FF0000"/>
                </a:solidFill>
              </a:rPr>
              <a:t>[MASK]</a:t>
            </a:r>
            <a:endParaRPr kumimoji="1" lang="zh-TW" altLang="en-US" sz="1600" dirty="0">
              <a:solidFill>
                <a:srgbClr val="FF0000"/>
              </a:solidFill>
            </a:endParaRPr>
          </a:p>
        </p:txBody>
      </p:sp>
      <p:sp>
        <p:nvSpPr>
          <p:cNvPr id="16" name="圓角矩形 15">
            <a:extLst>
              <a:ext uri="{FF2B5EF4-FFF2-40B4-BE49-F238E27FC236}">
                <a16:creationId xmlns:a16="http://schemas.microsoft.com/office/drawing/2014/main" id="{A27E94C1-2F27-B39A-D235-3468AFAFFA21}"/>
              </a:ext>
            </a:extLst>
          </p:cNvPr>
          <p:cNvSpPr/>
          <p:nvPr/>
        </p:nvSpPr>
        <p:spPr>
          <a:xfrm>
            <a:off x="5134854" y="6233673"/>
            <a:ext cx="1029726" cy="363773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rgbClr val="FF0000"/>
                </a:solidFill>
              </a:rPr>
              <a:t>[MASK]</a:t>
            </a:r>
            <a:endParaRPr kumimoji="1" lang="zh-TW" altLang="en-US" sz="1600" dirty="0">
              <a:solidFill>
                <a:srgbClr val="FF0000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7E3AE6E-B645-5F31-3EFE-1ADD783C7660}"/>
              </a:ext>
            </a:extLst>
          </p:cNvPr>
          <p:cNvSpPr/>
          <p:nvPr/>
        </p:nvSpPr>
        <p:spPr>
          <a:xfrm>
            <a:off x="7053942" y="2571436"/>
            <a:ext cx="1726164" cy="96105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b="1" dirty="0">
                <a:solidFill>
                  <a:schemeClr val="tx1"/>
                </a:solidFill>
              </a:rPr>
              <a:t>Word2Vec</a:t>
            </a:r>
          </a:p>
          <a:p>
            <a:pPr algn="ctr"/>
            <a:r>
              <a:rPr kumimoji="1" lang="en-US" altLang="zh-TW" sz="2000" b="1" dirty="0">
                <a:solidFill>
                  <a:schemeClr val="tx1"/>
                </a:solidFill>
              </a:rPr>
              <a:t>(CBOW)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B756E92-B49D-591B-450F-7D841A4E8E92}"/>
              </a:ext>
            </a:extLst>
          </p:cNvPr>
          <p:cNvSpPr/>
          <p:nvPr/>
        </p:nvSpPr>
        <p:spPr>
          <a:xfrm>
            <a:off x="7053942" y="5051783"/>
            <a:ext cx="1726164" cy="96105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b="1" dirty="0">
                <a:solidFill>
                  <a:schemeClr val="tx1"/>
                </a:solidFill>
              </a:rPr>
              <a:t>Word2Vec</a:t>
            </a:r>
          </a:p>
          <a:p>
            <a:pPr algn="ctr"/>
            <a:r>
              <a:rPr kumimoji="1" lang="en-US" altLang="zh-TW" sz="2000" b="1" dirty="0">
                <a:solidFill>
                  <a:schemeClr val="tx1"/>
                </a:solidFill>
              </a:rPr>
              <a:t>(Skip-gram)</a:t>
            </a:r>
            <a:endParaRPr kumimoji="1" lang="zh-TW" altLang="en-US" sz="2000" dirty="0">
              <a:solidFill>
                <a:schemeClr val="tx1"/>
              </a:solidFill>
            </a:endParaRPr>
          </a:p>
        </p:txBody>
      </p:sp>
      <p:sp>
        <p:nvSpPr>
          <p:cNvPr id="19" name="向右箭號 18">
            <a:extLst>
              <a:ext uri="{FF2B5EF4-FFF2-40B4-BE49-F238E27FC236}">
                <a16:creationId xmlns:a16="http://schemas.microsoft.com/office/drawing/2014/main" id="{B6298F9D-954E-9AF2-976C-3D992F35FDEE}"/>
              </a:ext>
            </a:extLst>
          </p:cNvPr>
          <p:cNvSpPr/>
          <p:nvPr/>
        </p:nvSpPr>
        <p:spPr>
          <a:xfrm>
            <a:off x="6411476" y="2870077"/>
            <a:ext cx="399870" cy="36377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0" name="向右箭號 19">
            <a:extLst>
              <a:ext uri="{FF2B5EF4-FFF2-40B4-BE49-F238E27FC236}">
                <a16:creationId xmlns:a16="http://schemas.microsoft.com/office/drawing/2014/main" id="{D9D549DC-66E7-886B-30E5-3E0923B9BCA9}"/>
              </a:ext>
            </a:extLst>
          </p:cNvPr>
          <p:cNvSpPr/>
          <p:nvPr/>
        </p:nvSpPr>
        <p:spPr>
          <a:xfrm>
            <a:off x="6411476" y="5350424"/>
            <a:ext cx="399870" cy="36377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1" name="向右箭號 20">
            <a:extLst>
              <a:ext uri="{FF2B5EF4-FFF2-40B4-BE49-F238E27FC236}">
                <a16:creationId xmlns:a16="http://schemas.microsoft.com/office/drawing/2014/main" id="{51DBA887-8E1F-29F0-817A-C5C7BBB15E7A}"/>
              </a:ext>
            </a:extLst>
          </p:cNvPr>
          <p:cNvSpPr/>
          <p:nvPr/>
        </p:nvSpPr>
        <p:spPr>
          <a:xfrm>
            <a:off x="9022702" y="2870077"/>
            <a:ext cx="399870" cy="36377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2" name="向右箭號 21">
            <a:extLst>
              <a:ext uri="{FF2B5EF4-FFF2-40B4-BE49-F238E27FC236}">
                <a16:creationId xmlns:a16="http://schemas.microsoft.com/office/drawing/2014/main" id="{3020C1B6-28E3-D523-663B-7878A32C14DC}"/>
              </a:ext>
            </a:extLst>
          </p:cNvPr>
          <p:cNvSpPr/>
          <p:nvPr/>
        </p:nvSpPr>
        <p:spPr>
          <a:xfrm>
            <a:off x="9022702" y="5350422"/>
            <a:ext cx="399870" cy="36377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3" name="圓角矩形 22">
            <a:extLst>
              <a:ext uri="{FF2B5EF4-FFF2-40B4-BE49-F238E27FC236}">
                <a16:creationId xmlns:a16="http://schemas.microsoft.com/office/drawing/2014/main" id="{13408D5A-5F0D-DA91-55E3-75255C645246}"/>
              </a:ext>
            </a:extLst>
          </p:cNvPr>
          <p:cNvSpPr/>
          <p:nvPr/>
        </p:nvSpPr>
        <p:spPr>
          <a:xfrm>
            <a:off x="9665168" y="2870077"/>
            <a:ext cx="1029726" cy="363773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rgbClr val="00B050"/>
                </a:solidFill>
              </a:rPr>
              <a:t>founded</a:t>
            </a:r>
            <a:endParaRPr kumimoji="1" lang="zh-TW" altLang="en-US" sz="1600" dirty="0">
              <a:solidFill>
                <a:srgbClr val="00B050"/>
              </a:solidFill>
            </a:endParaRPr>
          </a:p>
        </p:txBody>
      </p:sp>
      <p:sp>
        <p:nvSpPr>
          <p:cNvPr id="25" name="圓角矩形 24">
            <a:extLst>
              <a:ext uri="{FF2B5EF4-FFF2-40B4-BE49-F238E27FC236}">
                <a16:creationId xmlns:a16="http://schemas.microsoft.com/office/drawing/2014/main" id="{A2C0ADAF-4B06-7494-320C-1881B8E359E8}"/>
              </a:ext>
            </a:extLst>
          </p:cNvPr>
          <p:cNvSpPr/>
          <p:nvPr/>
        </p:nvSpPr>
        <p:spPr>
          <a:xfrm>
            <a:off x="9665168" y="4456485"/>
            <a:ext cx="1029726" cy="363773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rgbClr val="00B050"/>
                </a:solidFill>
              </a:rPr>
              <a:t>Steve</a:t>
            </a:r>
            <a:endParaRPr kumimoji="1" lang="zh-TW" altLang="en-US" sz="1600" dirty="0">
              <a:solidFill>
                <a:srgbClr val="00B050"/>
              </a:solidFill>
            </a:endParaRPr>
          </a:p>
        </p:txBody>
      </p:sp>
      <p:sp>
        <p:nvSpPr>
          <p:cNvPr id="26" name="圓角矩形 25">
            <a:extLst>
              <a:ext uri="{FF2B5EF4-FFF2-40B4-BE49-F238E27FC236}">
                <a16:creationId xmlns:a16="http://schemas.microsoft.com/office/drawing/2014/main" id="{6F9B7D74-09CA-1873-9999-4DAAAD78ADBE}"/>
              </a:ext>
            </a:extLst>
          </p:cNvPr>
          <p:cNvSpPr/>
          <p:nvPr/>
        </p:nvSpPr>
        <p:spPr>
          <a:xfrm>
            <a:off x="9665168" y="4908800"/>
            <a:ext cx="1029726" cy="363773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rgbClr val="00B050"/>
                </a:solidFill>
              </a:rPr>
              <a:t>Jobs</a:t>
            </a:r>
            <a:endParaRPr kumimoji="1" lang="zh-TW" altLang="en-US" sz="1600" dirty="0">
              <a:solidFill>
                <a:srgbClr val="00B050"/>
              </a:solidFill>
            </a:endParaRPr>
          </a:p>
        </p:txBody>
      </p:sp>
      <p:sp>
        <p:nvSpPr>
          <p:cNvPr id="27" name="圓角矩形 26">
            <a:extLst>
              <a:ext uri="{FF2B5EF4-FFF2-40B4-BE49-F238E27FC236}">
                <a16:creationId xmlns:a16="http://schemas.microsoft.com/office/drawing/2014/main" id="{2F53890A-216B-C892-85E2-D557B210F1DD}"/>
              </a:ext>
            </a:extLst>
          </p:cNvPr>
          <p:cNvSpPr/>
          <p:nvPr/>
        </p:nvSpPr>
        <p:spPr>
          <a:xfrm>
            <a:off x="9665168" y="5792047"/>
            <a:ext cx="1029726" cy="363773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rgbClr val="00B050"/>
                </a:solidFill>
              </a:rPr>
              <a:t>Apple</a:t>
            </a:r>
            <a:endParaRPr kumimoji="1" lang="zh-TW" altLang="en-US" sz="1600" dirty="0">
              <a:solidFill>
                <a:srgbClr val="00B050"/>
              </a:solidFill>
            </a:endParaRPr>
          </a:p>
        </p:txBody>
      </p:sp>
      <p:sp>
        <p:nvSpPr>
          <p:cNvPr id="28" name="圓角矩形 27">
            <a:extLst>
              <a:ext uri="{FF2B5EF4-FFF2-40B4-BE49-F238E27FC236}">
                <a16:creationId xmlns:a16="http://schemas.microsoft.com/office/drawing/2014/main" id="{9C581A5E-459C-9DB5-1789-60A08665AA6F}"/>
              </a:ext>
            </a:extLst>
          </p:cNvPr>
          <p:cNvSpPr/>
          <p:nvPr/>
        </p:nvSpPr>
        <p:spPr>
          <a:xfrm>
            <a:off x="9665168" y="6233673"/>
            <a:ext cx="1029726" cy="363773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rgbClr val="00B050"/>
                </a:solidFill>
              </a:rPr>
              <a:t>Inc.</a:t>
            </a:r>
            <a:endParaRPr kumimoji="1" lang="zh-TW" altLang="en-US" sz="1600" dirty="0">
              <a:solidFill>
                <a:srgbClr val="00B050"/>
              </a:solidFill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E314A0F9-0710-AAAD-15CA-0C0522C692AA}"/>
              </a:ext>
            </a:extLst>
          </p:cNvPr>
          <p:cNvSpPr txBox="1"/>
          <p:nvPr/>
        </p:nvSpPr>
        <p:spPr>
          <a:xfrm>
            <a:off x="9463560" y="1508868"/>
            <a:ext cx="14375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b="1" dirty="0"/>
              <a:t>Prediction</a:t>
            </a:r>
            <a:endParaRPr kumimoji="1" lang="zh-TW" altLang="en-US" sz="2000" b="1" dirty="0"/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436E2F30-73F8-F34A-01D8-F7B6D011A53F}"/>
              </a:ext>
            </a:extLst>
          </p:cNvPr>
          <p:cNvSpPr txBox="1"/>
          <p:nvPr/>
        </p:nvSpPr>
        <p:spPr>
          <a:xfrm>
            <a:off x="653143" y="1999664"/>
            <a:ext cx="414095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sz="1400" dirty="0"/>
              <a:t>[1] </a:t>
            </a:r>
            <a:r>
              <a:rPr kumimoji="1" lang="en" altLang="zh-TW" sz="1400" dirty="0" err="1"/>
              <a:t>Mikolov</a:t>
            </a:r>
            <a:r>
              <a:rPr kumimoji="1" lang="en" altLang="zh-TW" sz="1400" dirty="0"/>
              <a:t> et al. "Distributed representations of words and phrases and their compositionality." </a:t>
            </a:r>
            <a:r>
              <a:rPr kumimoji="1" lang="en" altLang="zh-TW" sz="1400" dirty="0" err="1"/>
              <a:t>NeurIPS</a:t>
            </a:r>
            <a:r>
              <a:rPr kumimoji="1" lang="en" altLang="zh-TW" sz="1400" dirty="0"/>
              <a:t> 2013.</a:t>
            </a:r>
            <a:endParaRPr kumimoji="1" lang="zh-TW" altLang="en-US" sz="1400" dirty="0"/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A274E792-7344-6280-09CA-B877CD7CD5A0}"/>
              </a:ext>
            </a:extLst>
          </p:cNvPr>
          <p:cNvSpPr txBox="1"/>
          <p:nvPr/>
        </p:nvSpPr>
        <p:spPr>
          <a:xfrm>
            <a:off x="943715" y="3458158"/>
            <a:ext cx="314135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2800" dirty="0"/>
              <a:t>非常大量的語料庫 </a:t>
            </a:r>
            <a:r>
              <a:rPr kumimoji="1" lang="en-US" altLang="zh-TW" sz="2800" dirty="0"/>
              <a:t>(</a:t>
            </a:r>
            <a:r>
              <a:rPr kumimoji="1" lang="zh-TW" altLang="en-US" sz="2800" dirty="0"/>
              <a:t>例如：</a:t>
            </a:r>
            <a:r>
              <a:rPr kumimoji="1" lang="en-US" altLang="zh-TW" sz="2800" dirty="0"/>
              <a:t>Wikipedia)</a:t>
            </a:r>
            <a:endParaRPr kumimoji="1" lang="zh-TW" altLang="en-US" sz="2800" dirty="0"/>
          </a:p>
        </p:txBody>
      </p:sp>
      <p:pic>
        <p:nvPicPr>
          <p:cNvPr id="34" name="圖形 33" descr="文件 以實心填滿">
            <a:extLst>
              <a:ext uri="{FF2B5EF4-FFF2-40B4-BE49-F238E27FC236}">
                <a16:creationId xmlns:a16="http://schemas.microsoft.com/office/drawing/2014/main" id="{7A94258A-95E1-22E2-2BFB-E5C4551FC4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40736" y="4517640"/>
            <a:ext cx="510073" cy="510073"/>
          </a:xfrm>
          <a:prstGeom prst="rect">
            <a:avLst/>
          </a:prstGeom>
        </p:spPr>
      </p:pic>
      <p:pic>
        <p:nvPicPr>
          <p:cNvPr id="35" name="圖形 34" descr="文件 以實心填滿">
            <a:extLst>
              <a:ext uri="{FF2B5EF4-FFF2-40B4-BE49-F238E27FC236}">
                <a16:creationId xmlns:a16="http://schemas.microsoft.com/office/drawing/2014/main" id="{D36976D9-1ED0-257C-AD50-A625D6F5B6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44517" y="4519435"/>
            <a:ext cx="510073" cy="510073"/>
          </a:xfrm>
          <a:prstGeom prst="rect">
            <a:avLst/>
          </a:prstGeom>
        </p:spPr>
      </p:pic>
      <p:pic>
        <p:nvPicPr>
          <p:cNvPr id="36" name="圖形 35" descr="文件 以實心填滿">
            <a:extLst>
              <a:ext uri="{FF2B5EF4-FFF2-40B4-BE49-F238E27FC236}">
                <a16:creationId xmlns:a16="http://schemas.microsoft.com/office/drawing/2014/main" id="{6913D729-0EAF-12BB-F4E8-2C0CF7585A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48298" y="4517639"/>
            <a:ext cx="510073" cy="510073"/>
          </a:xfrm>
          <a:prstGeom prst="rect">
            <a:avLst/>
          </a:prstGeom>
        </p:spPr>
      </p:pic>
      <p:pic>
        <p:nvPicPr>
          <p:cNvPr id="37" name="圖形 36" descr="文件 以實心填滿">
            <a:extLst>
              <a:ext uri="{FF2B5EF4-FFF2-40B4-BE49-F238E27FC236}">
                <a16:creationId xmlns:a16="http://schemas.microsoft.com/office/drawing/2014/main" id="{5F05F6AD-5A45-611C-8D19-EC29E8555C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52079" y="4517639"/>
            <a:ext cx="510073" cy="510073"/>
          </a:xfrm>
          <a:prstGeom prst="rect">
            <a:avLst/>
          </a:prstGeom>
        </p:spPr>
      </p:pic>
      <p:pic>
        <p:nvPicPr>
          <p:cNvPr id="38" name="圖形 37" descr="文件 以實心填滿">
            <a:extLst>
              <a:ext uri="{FF2B5EF4-FFF2-40B4-BE49-F238E27FC236}">
                <a16:creationId xmlns:a16="http://schemas.microsoft.com/office/drawing/2014/main" id="{519DA7A2-4031-31A8-F0E0-8D2C3C43DE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55860" y="4517639"/>
            <a:ext cx="510073" cy="510073"/>
          </a:xfrm>
          <a:prstGeom prst="rect">
            <a:avLst/>
          </a:prstGeom>
        </p:spPr>
      </p:pic>
      <p:pic>
        <p:nvPicPr>
          <p:cNvPr id="39" name="圖形 38" descr="文件 以實心填滿">
            <a:extLst>
              <a:ext uri="{FF2B5EF4-FFF2-40B4-BE49-F238E27FC236}">
                <a16:creationId xmlns:a16="http://schemas.microsoft.com/office/drawing/2014/main" id="{37CDEBF7-B379-DDE6-23A3-1E2848B228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51793" y="5133292"/>
            <a:ext cx="510073" cy="510073"/>
          </a:xfrm>
          <a:prstGeom prst="rect">
            <a:avLst/>
          </a:prstGeom>
        </p:spPr>
      </p:pic>
      <p:pic>
        <p:nvPicPr>
          <p:cNvPr id="40" name="圖形 39" descr="文件 以實心填滿">
            <a:extLst>
              <a:ext uri="{FF2B5EF4-FFF2-40B4-BE49-F238E27FC236}">
                <a16:creationId xmlns:a16="http://schemas.microsoft.com/office/drawing/2014/main" id="{40027F16-03D0-7ABA-5B52-AF4E86B586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55574" y="5135087"/>
            <a:ext cx="510073" cy="510073"/>
          </a:xfrm>
          <a:prstGeom prst="rect">
            <a:avLst/>
          </a:prstGeom>
        </p:spPr>
      </p:pic>
      <p:pic>
        <p:nvPicPr>
          <p:cNvPr id="41" name="圖形 40" descr="文件 以實心填滿">
            <a:extLst>
              <a:ext uri="{FF2B5EF4-FFF2-40B4-BE49-F238E27FC236}">
                <a16:creationId xmlns:a16="http://schemas.microsoft.com/office/drawing/2014/main" id="{4CC14187-67EB-A803-0B66-26EE3B29F4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59355" y="5133291"/>
            <a:ext cx="510073" cy="510073"/>
          </a:xfrm>
          <a:prstGeom prst="rect">
            <a:avLst/>
          </a:prstGeom>
        </p:spPr>
      </p:pic>
      <p:pic>
        <p:nvPicPr>
          <p:cNvPr id="42" name="圖形 41" descr="文件 以實心填滿">
            <a:extLst>
              <a:ext uri="{FF2B5EF4-FFF2-40B4-BE49-F238E27FC236}">
                <a16:creationId xmlns:a16="http://schemas.microsoft.com/office/drawing/2014/main" id="{9A001660-6B26-87AD-6D86-BC65CB4AB8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63136" y="5133291"/>
            <a:ext cx="510073" cy="510073"/>
          </a:xfrm>
          <a:prstGeom prst="rect">
            <a:avLst/>
          </a:prstGeom>
        </p:spPr>
      </p:pic>
      <p:pic>
        <p:nvPicPr>
          <p:cNvPr id="43" name="圖形 42" descr="文件 以實心填滿">
            <a:extLst>
              <a:ext uri="{FF2B5EF4-FFF2-40B4-BE49-F238E27FC236}">
                <a16:creationId xmlns:a16="http://schemas.microsoft.com/office/drawing/2014/main" id="{ACDF1470-4C07-5F00-8E88-AF1B7A2B97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66917" y="5133291"/>
            <a:ext cx="510073" cy="510073"/>
          </a:xfrm>
          <a:prstGeom prst="rect">
            <a:avLst/>
          </a:prstGeom>
        </p:spPr>
      </p:pic>
      <p:sp>
        <p:nvSpPr>
          <p:cNvPr id="47" name="矩形 46">
            <a:extLst>
              <a:ext uri="{FF2B5EF4-FFF2-40B4-BE49-F238E27FC236}">
                <a16:creationId xmlns:a16="http://schemas.microsoft.com/office/drawing/2014/main" id="{2F40236C-E5D3-4E83-D4A2-D6106D7B1381}"/>
              </a:ext>
            </a:extLst>
          </p:cNvPr>
          <p:cNvSpPr/>
          <p:nvPr/>
        </p:nvSpPr>
        <p:spPr>
          <a:xfrm>
            <a:off x="1181127" y="4451761"/>
            <a:ext cx="2641437" cy="1277847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8938517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6030758-72D6-A663-4E57-B0B0CEE51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>
                <a:ea typeface="Microsoft JhengHei" panose="020B0604030504040204" pitchFamily="34" charset="-120"/>
              </a:rPr>
              <a:t>每個字，都是一段向量</a:t>
            </a:r>
            <a:r>
              <a:rPr kumimoji="1" lang="en-US" altLang="zh-TW" dirty="0">
                <a:ea typeface="Microsoft JhengHei" panose="020B0604030504040204" pitchFamily="34" charset="-120"/>
              </a:rPr>
              <a:t> – </a:t>
            </a:r>
            <a:r>
              <a:rPr kumimoji="1" lang="zh-TW" altLang="en-US" dirty="0">
                <a:ea typeface="Microsoft JhengHei" panose="020B0604030504040204" pitchFamily="34" charset="-120"/>
              </a:rPr>
              <a:t>詞向量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A93BF6D-5A69-F709-D836-0505A7646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653E6CD1-A702-D7E3-696C-2CE9995BBA31}"/>
              </a:ext>
            </a:extLst>
          </p:cNvPr>
          <p:cNvSpPr txBox="1"/>
          <p:nvPr/>
        </p:nvSpPr>
        <p:spPr>
          <a:xfrm>
            <a:off x="653143" y="1781790"/>
            <a:ext cx="35974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" altLang="zh-TW" sz="2400" dirty="0"/>
              <a:t>Word2Vec</a:t>
            </a:r>
            <a:r>
              <a:rPr kumimoji="1" lang="zh-TW" altLang="en-US" sz="2400" dirty="0"/>
              <a:t> 的範例長相</a:t>
            </a:r>
            <a:r>
              <a:rPr kumimoji="1" lang="en" altLang="zh-TW" sz="2400" dirty="0"/>
              <a:t>:</a:t>
            </a:r>
            <a:endParaRPr kumimoji="1" lang="zh-TW" altLang="en-US" sz="2400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D6858132-885D-7727-6337-AD6BEC31EF2C}"/>
              </a:ext>
            </a:extLst>
          </p:cNvPr>
          <p:cNvSpPr txBox="1"/>
          <p:nvPr/>
        </p:nvSpPr>
        <p:spPr>
          <a:xfrm>
            <a:off x="3373907" y="3433713"/>
            <a:ext cx="789506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sz="2000" dirty="0">
                <a:solidFill>
                  <a:srgbClr val="0070C0"/>
                </a:solidFill>
              </a:rPr>
              <a:t>apple</a:t>
            </a:r>
            <a:r>
              <a:rPr kumimoji="1" lang="en" altLang="zh-TW" sz="2000" dirty="0"/>
              <a:t> -0.110960 0.016115 -0.004809 0.033589 0.121455 …</a:t>
            </a:r>
          </a:p>
          <a:p>
            <a:r>
              <a:rPr kumimoji="1" lang="en" altLang="zh-TW" sz="2000" dirty="0">
                <a:solidFill>
                  <a:srgbClr val="0070C0"/>
                </a:solidFill>
              </a:rPr>
              <a:t>banana</a:t>
            </a:r>
            <a:r>
              <a:rPr kumimoji="1" lang="en" altLang="zh-TW" sz="2000" dirty="0"/>
              <a:t> -0.027713 -0.015676 0.003314 0.077602 0.159718 …</a:t>
            </a:r>
          </a:p>
          <a:p>
            <a:r>
              <a:rPr kumimoji="1" lang="en" altLang="zh-TW" sz="2000" dirty="0"/>
              <a:t>…</a:t>
            </a:r>
          </a:p>
          <a:p>
            <a:r>
              <a:rPr kumimoji="1" lang="en" altLang="zh-TW" sz="2000" dirty="0"/>
              <a:t>…</a:t>
            </a:r>
          </a:p>
          <a:p>
            <a:r>
              <a:rPr kumimoji="1" lang="en" altLang="zh-TW" sz="2000" dirty="0"/>
              <a:t>…</a:t>
            </a:r>
            <a:endParaRPr kumimoji="1" lang="zh-TW" altLang="en-US" sz="2000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8BA952A9-F907-5BC0-7C30-F83FA491B5B9}"/>
              </a:ext>
            </a:extLst>
          </p:cNvPr>
          <p:cNvSpPr txBox="1"/>
          <p:nvPr/>
        </p:nvSpPr>
        <p:spPr>
          <a:xfrm>
            <a:off x="5635632" y="2633384"/>
            <a:ext cx="33716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" altLang="zh-TW" sz="2000" dirty="0">
                <a:solidFill>
                  <a:srgbClr val="00B050"/>
                </a:solidFill>
              </a:rPr>
              <a:t>Dimension size (e.g., 300)</a:t>
            </a:r>
            <a:endParaRPr kumimoji="1" lang="zh-TW" altLang="en-US" sz="2000" dirty="0">
              <a:solidFill>
                <a:srgbClr val="00B050"/>
              </a:solidFill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57674488-2D13-83A8-AC9E-A3078CDB63CC}"/>
              </a:ext>
            </a:extLst>
          </p:cNvPr>
          <p:cNvSpPr txBox="1"/>
          <p:nvPr/>
        </p:nvSpPr>
        <p:spPr>
          <a:xfrm>
            <a:off x="920890" y="3987710"/>
            <a:ext cx="21131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" altLang="zh-TW" sz="2000" dirty="0">
                <a:solidFill>
                  <a:srgbClr val="00B050"/>
                </a:solidFill>
              </a:rPr>
              <a:t>Vocabulary size</a:t>
            </a:r>
          </a:p>
          <a:p>
            <a:pPr algn="ctr"/>
            <a:r>
              <a:rPr kumimoji="1" lang="en" altLang="zh-TW" sz="2000" dirty="0">
                <a:solidFill>
                  <a:srgbClr val="00B050"/>
                </a:solidFill>
              </a:rPr>
              <a:t>(e.g., 30,000)</a:t>
            </a:r>
            <a:endParaRPr kumimoji="1" lang="zh-TW" altLang="en-US" sz="2000" dirty="0">
              <a:solidFill>
                <a:srgbClr val="00B050"/>
              </a:solidFill>
            </a:endParaRPr>
          </a:p>
        </p:txBody>
      </p:sp>
      <p:sp>
        <p:nvSpPr>
          <p:cNvPr id="11" name="左中括弧 10">
            <a:extLst>
              <a:ext uri="{FF2B5EF4-FFF2-40B4-BE49-F238E27FC236}">
                <a16:creationId xmlns:a16="http://schemas.microsoft.com/office/drawing/2014/main" id="{3E39DB12-6F05-AF06-BCD3-90104E7F4BB0}"/>
              </a:ext>
            </a:extLst>
          </p:cNvPr>
          <p:cNvSpPr/>
          <p:nvPr/>
        </p:nvSpPr>
        <p:spPr>
          <a:xfrm>
            <a:off x="3104768" y="3615582"/>
            <a:ext cx="127737" cy="1658715"/>
          </a:xfrm>
          <a:prstGeom prst="leftBracket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2" name="左中括弧 11">
            <a:extLst>
              <a:ext uri="{FF2B5EF4-FFF2-40B4-BE49-F238E27FC236}">
                <a16:creationId xmlns:a16="http://schemas.microsoft.com/office/drawing/2014/main" id="{D2B670A4-E9EA-3C02-28E4-7E138B8F19E0}"/>
              </a:ext>
            </a:extLst>
          </p:cNvPr>
          <p:cNvSpPr/>
          <p:nvPr/>
        </p:nvSpPr>
        <p:spPr>
          <a:xfrm rot="5400000">
            <a:off x="7317640" y="-29975"/>
            <a:ext cx="198140" cy="6481749"/>
          </a:xfrm>
          <a:prstGeom prst="leftBracket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9709170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47A166D-D01E-0707-F6FF-5F36EE4D6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/>
              <a:t>How to train? (Probabilities of Skip-gram)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7D996A3-6499-101A-A1C9-744B7145E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26</a:t>
            </a:fld>
            <a:endParaRPr 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1A69BF1C-C296-4E80-4317-7958838F22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893" y="2223134"/>
            <a:ext cx="4550508" cy="124334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表格 10">
                <a:extLst>
                  <a:ext uri="{FF2B5EF4-FFF2-40B4-BE49-F238E27FC236}">
                    <a16:creationId xmlns:a16="http://schemas.microsoft.com/office/drawing/2014/main" id="{7E28A268-9E63-6C61-B679-DFDB92A15E3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36764382"/>
                  </p:ext>
                </p:extLst>
              </p:nvPr>
            </p:nvGraphicFramePr>
            <p:xfrm>
              <a:off x="7014866" y="1843850"/>
              <a:ext cx="3981380" cy="200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47411">
                      <a:extLst>
                        <a:ext uri="{9D8B030D-6E8A-4147-A177-3AD203B41FA5}">
                          <a16:colId xmlns:a16="http://schemas.microsoft.com/office/drawing/2014/main" val="3599492535"/>
                        </a:ext>
                      </a:extLst>
                    </a:gridCol>
                    <a:gridCol w="3133969">
                      <a:extLst>
                        <a:ext uri="{9D8B030D-6E8A-4147-A177-3AD203B41FA5}">
                          <a16:colId xmlns:a16="http://schemas.microsoft.com/office/drawing/2014/main" val="69176735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TW" sz="1400" dirty="0">
                              <a:latin typeface="+mn-lt"/>
                              <a:ea typeface="Microsoft JhengHei" panose="020B0604030504040204" pitchFamily="34" charset="-120"/>
                            </a:rPr>
                            <a:t>Symbol</a:t>
                          </a:r>
                          <a:endParaRPr lang="zh-TW" altLang="en-US" sz="1400" dirty="0">
                            <a:latin typeface="+mn-lt"/>
                            <a:ea typeface="Microsoft JhengHei" panose="020B0604030504040204" pitchFamily="34" charset="-12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400" dirty="0">
                              <a:latin typeface="+mn-lt"/>
                              <a:ea typeface="Microsoft JhengHei" panose="020B0604030504040204" pitchFamily="34" charset="-120"/>
                            </a:rPr>
                            <a:t>Meaning</a:t>
                          </a:r>
                          <a:endParaRPr lang="zh-TW" altLang="en-US" sz="1400" dirty="0">
                            <a:latin typeface="+mn-lt"/>
                            <a:ea typeface="Microsoft JhengHei" panose="020B0604030504040204" pitchFamily="34" charset="-12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790882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zh-TW" sz="14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𝑇</m:t>
                                </m:r>
                              </m:oMath>
                            </m:oMathPara>
                          </a14:m>
                          <a:endParaRPr lang="zh-TW" altLang="en-US" sz="1400" dirty="0">
                            <a:latin typeface="+mn-lt"/>
                            <a:ea typeface="Microsoft JhengHei" panose="020B0604030504040204" pitchFamily="34" charset="-12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TW" altLang="en-US" sz="1400" dirty="0">
                              <a:latin typeface="+mn-lt"/>
                              <a:ea typeface="Microsoft JhengHei" panose="020B0604030504040204" pitchFamily="34" charset="-120"/>
                            </a:rPr>
                            <a:t>一個序列</a:t>
                          </a:r>
                          <a:r>
                            <a:rPr lang="en-US" altLang="zh-TW" sz="1400" dirty="0">
                              <a:latin typeface="+mn-lt"/>
                              <a:ea typeface="Microsoft JhengHei" panose="020B0604030504040204" pitchFamily="34" charset="-120"/>
                            </a:rPr>
                            <a:t>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zh-TW" altLang="zh-TW" sz="1400" i="1" kern="1200" smtClean="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4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TW" sz="14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TW" sz="1400" i="1" kern="120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zh-TW" altLang="zh-TW" sz="14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4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TW" sz="14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TW" sz="1400" i="1" kern="120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,</m:t>
                              </m:r>
                              <m:r>
                                <a:rPr lang="zh-TW" altLang="zh-TW" sz="1400" kern="120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…</m:t>
                              </m:r>
                              <m:r>
                                <a:rPr lang="en-US" altLang="zh-TW" sz="1400" i="1" kern="120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zh-TW" altLang="zh-TW" sz="14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4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TW" sz="1400" b="0" i="1" kern="1200" smtClean="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𝑇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TW" sz="1400" dirty="0">
                              <a:latin typeface="+mn-lt"/>
                              <a:ea typeface="Microsoft JhengHei" panose="020B0604030504040204" pitchFamily="34" charset="-120"/>
                            </a:rPr>
                            <a:t>) </a:t>
                          </a:r>
                          <a:r>
                            <a:rPr lang="zh-TW" altLang="en-US" sz="1400" dirty="0">
                              <a:latin typeface="+mn-lt"/>
                              <a:ea typeface="Microsoft JhengHei" panose="020B0604030504040204" pitchFamily="34" charset="-120"/>
                            </a:rPr>
                            <a:t>有</a:t>
                          </a:r>
                          <a:r>
                            <a:rPr lang="en-US" altLang="zh-TW" sz="1400" dirty="0">
                              <a:latin typeface="+mn-lt"/>
                              <a:ea typeface="Microsoft JhengHei" panose="020B0604030504040204" pitchFamily="34" charset="-12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sz="1400" b="0" i="1" kern="1200" smtClean="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𝑇</m:t>
                              </m:r>
                            </m:oMath>
                          </a14:m>
                          <a:r>
                            <a:rPr lang="en-US" altLang="zh-TW" sz="1400" dirty="0">
                              <a:latin typeface="+mn-lt"/>
                              <a:ea typeface="Microsoft JhengHei" panose="020B0604030504040204" pitchFamily="34" charset="-120"/>
                            </a:rPr>
                            <a:t> </a:t>
                          </a:r>
                          <a:r>
                            <a:rPr lang="zh-TW" altLang="en-US" sz="1400" dirty="0">
                              <a:latin typeface="+mn-lt"/>
                              <a:ea typeface="Microsoft JhengHei" panose="020B0604030504040204" pitchFamily="34" charset="-120"/>
                            </a:rPr>
                            <a:t>個字</a:t>
                          </a:r>
                          <a:endParaRPr lang="en-US" altLang="zh-TW" sz="1400" dirty="0">
                            <a:latin typeface="+mn-lt"/>
                            <a:ea typeface="Microsoft JhengHei" panose="020B0604030504040204" pitchFamily="34" charset="-12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2993032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zh-TW" sz="140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𝑐</m:t>
                                </m:r>
                              </m:oMath>
                            </m:oMathPara>
                          </a14:m>
                          <a:endParaRPr lang="zh-TW" altLang="en-US" sz="1400" dirty="0">
                            <a:latin typeface="+mn-lt"/>
                            <a:ea typeface="Microsoft JhengHei" panose="020B0604030504040204" pitchFamily="34" charset="-12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400" dirty="0">
                              <a:latin typeface="+mn-lt"/>
                              <a:ea typeface="Microsoft JhengHei" panose="020B0604030504040204" pitchFamily="34" charset="-120"/>
                            </a:rPr>
                            <a:t>Context window </a:t>
                          </a:r>
                          <a:r>
                            <a:rPr lang="zh-TW" altLang="en-US" sz="1400" dirty="0">
                              <a:latin typeface="+mn-lt"/>
                              <a:ea typeface="Microsoft JhengHei" panose="020B0604030504040204" pitchFamily="34" charset="-120"/>
                            </a:rPr>
                            <a:t>的範圍，以前一頁的例子來說：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sz="1400" i="1" kern="1200" smtClean="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𝑐</m:t>
                              </m:r>
                              <m:r>
                                <a:rPr lang="en-US" altLang="zh-TW" sz="1400" i="1" kern="1200" smtClean="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=4</m:t>
                              </m:r>
                            </m:oMath>
                          </a14:m>
                          <a:endParaRPr lang="zh-TW" altLang="zh-TW" sz="1400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6743672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altLang="zh-TW" sz="1400" i="1" kern="120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4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TW" sz="1400" b="0" i="1" kern="120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𝑡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1400" dirty="0">
                            <a:latin typeface="+mn-lt"/>
                            <a:ea typeface="Microsoft JhengHei" panose="020B0604030504040204" pitchFamily="34" charset="-12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TW" altLang="en-US" sz="1400" kern="1200" dirty="0">
                              <a:solidFill>
                                <a:schemeClr val="dk1"/>
                              </a:solidFill>
                              <a:effectLst/>
                              <a:latin typeface="Microsoft JhengHei" panose="020B0604030504040204" pitchFamily="34" charset="-120"/>
                              <a:ea typeface="Microsoft JhengHei" panose="020B0604030504040204" pitchFamily="34" charset="-120"/>
                              <a:cs typeface="+mn-cs"/>
                            </a:rPr>
                            <a:t>中間的字 </a:t>
                          </a:r>
                          <a:r>
                            <a:rPr lang="en-US" altLang="zh-TW" sz="1400" kern="1200" dirty="0">
                              <a:solidFill>
                                <a:schemeClr val="dk1"/>
                              </a:solidFill>
                              <a:effectLst/>
                              <a:latin typeface="Microsoft JhengHei" panose="020B0604030504040204" pitchFamily="34" charset="-120"/>
                              <a:ea typeface="Microsoft JhengHei" panose="020B0604030504040204" pitchFamily="34" charset="-120"/>
                              <a:cs typeface="+mn-cs"/>
                            </a:rPr>
                            <a:t>(</a:t>
                          </a:r>
                          <a:r>
                            <a:rPr lang="zh-TW" altLang="en-US" sz="1400" kern="1200" dirty="0">
                              <a:solidFill>
                                <a:schemeClr val="dk1"/>
                              </a:solidFill>
                              <a:effectLst/>
                              <a:latin typeface="Microsoft JhengHei" panose="020B0604030504040204" pitchFamily="34" charset="-120"/>
                              <a:ea typeface="Microsoft JhengHei" panose="020B0604030504040204" pitchFamily="34" charset="-120"/>
                              <a:cs typeface="+mn-cs"/>
                            </a:rPr>
                            <a:t>代表</a:t>
                          </a:r>
                          <a:r>
                            <a:rPr lang="en-US" altLang="zh-TW" sz="1400" kern="1200" dirty="0">
                              <a:solidFill>
                                <a:schemeClr val="dk1"/>
                              </a:solidFill>
                              <a:effectLst/>
                              <a:latin typeface="Microsoft JhengHei" panose="020B0604030504040204" pitchFamily="34" charset="-120"/>
                              <a:ea typeface="Microsoft JhengHei" panose="020B0604030504040204" pitchFamily="34" charset="-120"/>
                              <a:cs typeface="+mn-cs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sz="1400" b="0" i="1" kern="1200" smtClean="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𝑡</m:t>
                              </m:r>
                              <m:r>
                                <a:rPr lang="en-US" altLang="zh-TW" sz="1400" b="0" i="1" kern="1200" smtClean="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+</m:t>
                              </m:r>
                              <m:r>
                                <a:rPr lang="en-US" altLang="zh-TW" sz="1400" b="0" i="1" kern="1200" smtClean="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𝑗</m:t>
                              </m:r>
                              <m:r>
                                <a:rPr lang="en-US" altLang="zh-TW" sz="1400" i="1" kern="1200" smtClean="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=</m:t>
                              </m:r>
                              <m:r>
                                <a:rPr lang="en-US" altLang="zh-TW" sz="1400" b="0" i="1" kern="1200" smtClean="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0</m:t>
                              </m:r>
                            </m:oMath>
                          </a14:m>
                          <a:r>
                            <a:rPr lang="en-US" altLang="zh-TW" sz="1400" kern="1200" dirty="0">
                              <a:solidFill>
                                <a:schemeClr val="dk1"/>
                              </a:solidFill>
                              <a:effectLst/>
                              <a:latin typeface="Microsoft JhengHei" panose="020B0604030504040204" pitchFamily="34" charset="-120"/>
                              <a:ea typeface="Microsoft JhengHei" panose="020B0604030504040204" pitchFamily="34" charset="-120"/>
                              <a:cs typeface="+mn-cs"/>
                            </a:rPr>
                            <a:t>)</a:t>
                          </a:r>
                          <a:endParaRPr lang="zh-TW" altLang="zh-TW" sz="1400" kern="1200" dirty="0">
                            <a:solidFill>
                              <a:schemeClr val="dk1"/>
                            </a:solidFill>
                            <a:effectLst/>
                            <a:latin typeface="Microsoft JhengHei" panose="020B0604030504040204" pitchFamily="34" charset="-120"/>
                            <a:ea typeface="Microsoft JhengHei" panose="020B0604030504040204" pitchFamily="34" charset="-120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618124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zh-TW" sz="1400" b="0" i="1" smtClean="0">
                                    <a:latin typeface="Cambria Math" panose="02040503050406030204" pitchFamily="18" charset="0"/>
                                    <a:ea typeface="Microsoft JhengHei" panose="020B0604030504040204" pitchFamily="34" charset="-120"/>
                                  </a:rPr>
                                  <m:t>𝑗</m:t>
                                </m:r>
                              </m:oMath>
                            </m:oMathPara>
                          </a14:m>
                          <a:endParaRPr lang="zh-TW" altLang="en-US" sz="1400" dirty="0">
                            <a:latin typeface="+mn-lt"/>
                            <a:ea typeface="Microsoft JhengHei" panose="020B0604030504040204" pitchFamily="34" charset="-12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TW" altLang="en-US" sz="1400" dirty="0">
                              <a:latin typeface="+mn-lt"/>
                              <a:ea typeface="Microsoft JhengHei" panose="020B0604030504040204" pitchFamily="34" charset="-120"/>
                            </a:rPr>
                            <a:t>與中間字</a:t>
                          </a:r>
                          <a:r>
                            <a:rPr lang="en-US" altLang="zh-TW" sz="1400" dirty="0">
                              <a:latin typeface="+mn-lt"/>
                              <a:ea typeface="Microsoft JhengHei" panose="020B0604030504040204" pitchFamily="34" charset="-12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sz="1400" b="0" i="1" smtClean="0">
                                  <a:latin typeface="Cambria Math" panose="02040503050406030204" pitchFamily="18" charset="0"/>
                                  <a:ea typeface="Microsoft JhengHei" panose="020B0604030504040204" pitchFamily="34" charset="-120"/>
                                </a:rPr>
                                <m:t>𝑡</m:t>
                              </m:r>
                            </m:oMath>
                          </a14:m>
                          <a:r>
                            <a:rPr lang="en-US" altLang="zh-TW" sz="1400" dirty="0">
                              <a:latin typeface="+mn-lt"/>
                              <a:ea typeface="Microsoft JhengHei" panose="020B0604030504040204" pitchFamily="34" charset="-120"/>
                            </a:rPr>
                            <a:t> </a:t>
                          </a:r>
                          <a:r>
                            <a:rPr lang="zh-TW" altLang="en-US" sz="1400" dirty="0">
                              <a:latin typeface="+mn-lt"/>
                              <a:ea typeface="Microsoft JhengHei" panose="020B0604030504040204" pitchFamily="34" charset="-120"/>
                            </a:rPr>
                            <a:t>的差值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4521165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表格 10">
                <a:extLst>
                  <a:ext uri="{FF2B5EF4-FFF2-40B4-BE49-F238E27FC236}">
                    <a16:creationId xmlns:a16="http://schemas.microsoft.com/office/drawing/2014/main" id="{7E28A268-9E63-6C61-B679-DFDB92A15E3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36764382"/>
                  </p:ext>
                </p:extLst>
              </p:nvPr>
            </p:nvGraphicFramePr>
            <p:xfrm>
              <a:off x="7014866" y="1843850"/>
              <a:ext cx="3981380" cy="200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47411">
                      <a:extLst>
                        <a:ext uri="{9D8B030D-6E8A-4147-A177-3AD203B41FA5}">
                          <a16:colId xmlns:a16="http://schemas.microsoft.com/office/drawing/2014/main" val="3599492535"/>
                        </a:ext>
                      </a:extLst>
                    </a:gridCol>
                    <a:gridCol w="3133969">
                      <a:extLst>
                        <a:ext uri="{9D8B030D-6E8A-4147-A177-3AD203B41FA5}">
                          <a16:colId xmlns:a16="http://schemas.microsoft.com/office/drawing/2014/main" val="69176735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TW" sz="1400" dirty="0">
                              <a:latin typeface="+mn-lt"/>
                              <a:ea typeface="Microsoft JhengHei" panose="020B0604030504040204" pitchFamily="34" charset="-120"/>
                            </a:rPr>
                            <a:t>Symbol</a:t>
                          </a:r>
                          <a:endParaRPr lang="zh-TW" altLang="en-US" sz="1400" dirty="0">
                            <a:latin typeface="+mn-lt"/>
                            <a:ea typeface="Microsoft JhengHei" panose="020B0604030504040204" pitchFamily="34" charset="-12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400" dirty="0">
                              <a:latin typeface="+mn-lt"/>
                              <a:ea typeface="Microsoft JhengHei" panose="020B0604030504040204" pitchFamily="34" charset="-120"/>
                            </a:rPr>
                            <a:t>Meaning</a:t>
                          </a:r>
                          <a:endParaRPr lang="zh-TW" altLang="en-US" sz="1400" dirty="0">
                            <a:latin typeface="+mn-lt"/>
                            <a:ea typeface="Microsoft JhengHei" panose="020B0604030504040204" pitchFamily="34" charset="-12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790882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493" t="-100000" r="-373134" b="-34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7530" t="-100000" r="-1215" b="-34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9930326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493" t="-150000" r="-373134" b="-15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7530" t="-150000" r="-1215" b="-15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743672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493" t="-333333" r="-373134" b="-1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7530" t="-333333" r="-1215" b="-10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618124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493" t="-448276" r="-373134" b="-103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7530" t="-448276" r="-1215" b="-1034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45211651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24115B20-4DAB-C725-C688-48E6AEDD9E49}"/>
              </a:ext>
            </a:extLst>
          </p:cNvPr>
          <p:cNvCxnSpPr/>
          <p:nvPr/>
        </p:nvCxnSpPr>
        <p:spPr>
          <a:xfrm>
            <a:off x="3915508" y="3040185"/>
            <a:ext cx="156307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字方塊 9">
            <a:extLst>
              <a:ext uri="{FF2B5EF4-FFF2-40B4-BE49-F238E27FC236}">
                <a16:creationId xmlns:a16="http://schemas.microsoft.com/office/drawing/2014/main" id="{1EC32EA2-689C-3F60-B54A-AB23706D42AB}"/>
              </a:ext>
            </a:extLst>
          </p:cNvPr>
          <p:cNvSpPr txBox="1"/>
          <p:nvPr/>
        </p:nvSpPr>
        <p:spPr>
          <a:xfrm>
            <a:off x="3610708" y="3112001"/>
            <a:ext cx="3001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中間字預測周圍字的機率值</a:t>
            </a:r>
          </a:p>
        </p:txBody>
      </p:sp>
    </p:spTree>
    <p:extLst>
      <p:ext uri="{BB962C8B-B14F-4D97-AF65-F5344CB8AC3E}">
        <p14:creationId xmlns:p14="http://schemas.microsoft.com/office/powerpoint/2010/main" val="1489369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EE911A2-C58C-5D36-DF72-6D0EB97EE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為什麼要取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kumimoji="1" lang="en-US" altLang="zh-TW" dirty="0"/>
              <a:t>log?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4F95218-43F6-B799-D92A-4357BCBC9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30CA7D6-F3CA-8E95-3931-321EFD018A57}"/>
              </a:ext>
            </a:extLst>
          </p:cNvPr>
          <p:cNvSpPr txBox="1"/>
          <p:nvPr/>
        </p:nvSpPr>
        <p:spPr>
          <a:xfrm>
            <a:off x="2117970" y="4428730"/>
            <a:ext cx="6579132" cy="9591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會讓數值範圍變小，使機器學習的最佳化過程穩定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會降低極端值的影響，避免 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outliers 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影響訓練結果</a:t>
            </a:r>
            <a:endParaRPr kumimoji="1" lang="en-US" altLang="zh-TW" sz="2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1012AE67-FE82-7C0B-3D90-6CCB3DC4F7A0}"/>
                  </a:ext>
                </a:extLst>
              </p:cNvPr>
              <p:cNvSpPr txBox="1"/>
              <p:nvPr/>
            </p:nvSpPr>
            <p:spPr>
              <a:xfrm>
                <a:off x="4861170" y="2197649"/>
                <a:ext cx="153181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TW" altLang="en-US" sz="2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240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zh-TW" altLang="en-US" sz="2400" i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zh-TW" altLang="en-US" sz="2400" i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zh-TW" alt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2400" i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zh-TW" altLang="en-US" sz="2400" i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1012AE67-FE82-7C0B-3D90-6CCB3DC4F7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1170" y="2197649"/>
                <a:ext cx="1531815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字方塊 7">
            <a:extLst>
              <a:ext uri="{FF2B5EF4-FFF2-40B4-BE49-F238E27FC236}">
                <a16:creationId xmlns:a16="http://schemas.microsoft.com/office/drawing/2014/main" id="{FB640B93-DA40-1B3E-6490-E4189B748AB9}"/>
              </a:ext>
            </a:extLst>
          </p:cNvPr>
          <p:cNvSpPr txBox="1"/>
          <p:nvPr/>
        </p:nvSpPr>
        <p:spPr>
          <a:xfrm>
            <a:off x="2117970" y="2211754"/>
            <a:ext cx="25087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考慮到一些極端數值：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0934F811-E7A6-0BDD-5B27-54C5D1C38232}"/>
              </a:ext>
            </a:extLst>
          </p:cNvPr>
          <p:cNvSpPr txBox="1"/>
          <p:nvPr/>
        </p:nvSpPr>
        <p:spPr>
          <a:xfrm>
            <a:off x="2117970" y="3083765"/>
            <a:ext cx="25087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如果取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log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之後：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3B9F22AF-6172-105A-4F6A-CEC188E55AC9}"/>
                  </a:ext>
                </a:extLst>
              </p:cNvPr>
              <p:cNvSpPr txBox="1"/>
              <p:nvPr/>
            </p:nvSpPr>
            <p:spPr>
              <a:xfrm>
                <a:off x="4852529" y="3052988"/>
                <a:ext cx="352556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zh-TW" altLang="en-US" sz="2400" i="0" smtClean="0">
                          <a:latin typeface="Cambria Math" panose="02040503050406030204" pitchFamily="18" charset="0"/>
                        </a:rPr>
                        <m:t>log</m:t>
                      </m:r>
                      <m:sSup>
                        <m:sSupPr>
                          <m:ctrlPr>
                            <a:rPr lang="zh-TW" alt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2400" i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zh-TW" altLang="en-US" sz="2400" i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zh-TW" altLang="en-US" sz="2400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zh-TW" altLang="en-US" sz="2400" i="0">
                          <a:latin typeface="Cambria Math" panose="02040503050406030204" pitchFamily="18" charset="0"/>
                        </a:rPr>
                        <m:t>log</m:t>
                      </m:r>
                      <m:sSup>
                        <m:sSupPr>
                          <m:ctrlPr>
                            <a:rPr lang="zh-TW" alt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2400" i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zh-TW" altLang="en-US" sz="2400" i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zh-TW" altLang="en-US" sz="2400" i="0">
                          <a:latin typeface="Cambria Math" panose="02040503050406030204" pitchFamily="18" charset="0"/>
                        </a:rPr>
                        <m:t>=4−3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3B9F22AF-6172-105A-4F6A-CEC188E55A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2529" y="3052988"/>
                <a:ext cx="3525563" cy="461665"/>
              </a:xfrm>
              <a:prstGeom prst="rect">
                <a:avLst/>
              </a:prstGeom>
              <a:blipFill>
                <a:blip r:embed="rId3"/>
                <a:stretch>
                  <a:fillRect b="-1891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字方塊 11">
            <a:extLst>
              <a:ext uri="{FF2B5EF4-FFF2-40B4-BE49-F238E27FC236}">
                <a16:creationId xmlns:a16="http://schemas.microsoft.com/office/drawing/2014/main" id="{9737D913-1A2B-08B8-2D92-9FE6BADA2183}"/>
              </a:ext>
            </a:extLst>
          </p:cNvPr>
          <p:cNvSpPr txBox="1"/>
          <p:nvPr/>
        </p:nvSpPr>
        <p:spPr>
          <a:xfrm>
            <a:off x="3298092" y="6240302"/>
            <a:ext cx="60081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sz="1400" dirty="0"/>
              <a:t>https://</a:t>
            </a:r>
            <a:r>
              <a:rPr kumimoji="1" lang="en" altLang="zh-TW" sz="1400" dirty="0" err="1"/>
              <a:t>datascience.stackexchange.com</a:t>
            </a:r>
            <a:r>
              <a:rPr kumimoji="1" lang="en" altLang="zh-TW" sz="1400" dirty="0"/>
              <a:t>/questions/40089/what-is-the-reason-behind-taking-log-transformation-of-few-continuous-variables</a:t>
            </a:r>
            <a:endParaRPr kumimoji="1" lang="zh-TW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320669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47A166D-D01E-0707-F6FF-5F36EE4D6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How to train? (</a:t>
            </a:r>
            <a:r>
              <a:rPr kumimoji="1" lang="en-US" altLang="zh-TW" dirty="0" err="1"/>
              <a:t>Softmax</a:t>
            </a:r>
            <a:r>
              <a:rPr kumimoji="1" lang="en-US" altLang="zh-TW" dirty="0"/>
              <a:t> of Skip-gram)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7D996A3-6499-101A-A1C9-744B7145E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28</a:t>
            </a:fld>
            <a:endParaRPr 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1A69BF1C-C296-4E80-4317-7958838F22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893" y="2223134"/>
            <a:ext cx="4550508" cy="1243342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44FC616B-24E9-6A86-4962-F6882BF3FC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893" y="4615922"/>
            <a:ext cx="5097585" cy="143472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表格 10">
                <a:extLst>
                  <a:ext uri="{FF2B5EF4-FFF2-40B4-BE49-F238E27FC236}">
                    <a16:creationId xmlns:a16="http://schemas.microsoft.com/office/drawing/2014/main" id="{7E28A268-9E63-6C61-B679-DFDB92A15E3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014866" y="1843850"/>
              <a:ext cx="3981380" cy="16306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47411">
                      <a:extLst>
                        <a:ext uri="{9D8B030D-6E8A-4147-A177-3AD203B41FA5}">
                          <a16:colId xmlns:a16="http://schemas.microsoft.com/office/drawing/2014/main" val="3599492535"/>
                        </a:ext>
                      </a:extLst>
                    </a:gridCol>
                    <a:gridCol w="3133969">
                      <a:extLst>
                        <a:ext uri="{9D8B030D-6E8A-4147-A177-3AD203B41FA5}">
                          <a16:colId xmlns:a16="http://schemas.microsoft.com/office/drawing/2014/main" val="69176735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TW" sz="1400" dirty="0">
                              <a:latin typeface="+mn-lt"/>
                              <a:ea typeface="Microsoft JhengHei" panose="020B0604030504040204" pitchFamily="34" charset="-120"/>
                            </a:rPr>
                            <a:t>Symbol</a:t>
                          </a:r>
                          <a:endParaRPr lang="zh-TW" altLang="en-US" sz="1400" dirty="0">
                            <a:latin typeface="+mn-lt"/>
                            <a:ea typeface="Microsoft JhengHei" panose="020B0604030504040204" pitchFamily="34" charset="-12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400" dirty="0">
                              <a:latin typeface="+mn-lt"/>
                              <a:ea typeface="Microsoft JhengHei" panose="020B0604030504040204" pitchFamily="34" charset="-120"/>
                            </a:rPr>
                            <a:t>Meaning</a:t>
                          </a:r>
                          <a:endParaRPr lang="zh-TW" altLang="en-US" sz="1400" dirty="0">
                            <a:latin typeface="+mn-lt"/>
                            <a:ea typeface="Microsoft JhengHei" panose="020B0604030504040204" pitchFamily="34" charset="-12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790882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TW" sz="1400" dirty="0">
                              <a:latin typeface="+mn-lt"/>
                              <a:ea typeface="Microsoft JhengHei" panose="020B0604030504040204" pitchFamily="34" charset="-120"/>
                            </a:rPr>
                            <a:t>T</a:t>
                          </a:r>
                          <a:endParaRPr lang="zh-TW" altLang="en-US" sz="1400" dirty="0">
                            <a:latin typeface="+mn-lt"/>
                            <a:ea typeface="Microsoft JhengHei" panose="020B0604030504040204" pitchFamily="34" charset="-12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zh-TW" altLang="en-US" sz="1400" dirty="0">
                              <a:latin typeface="+mn-lt"/>
                              <a:ea typeface="Microsoft JhengHei" panose="020B0604030504040204" pitchFamily="34" charset="-120"/>
                            </a:rPr>
                            <a:t>一個序列</a:t>
                          </a:r>
                          <a:r>
                            <a:rPr lang="en-US" altLang="zh-TW" sz="1400" dirty="0">
                              <a:latin typeface="+mn-lt"/>
                              <a:ea typeface="Microsoft JhengHei" panose="020B0604030504040204" pitchFamily="34" charset="-120"/>
                            </a:rPr>
                            <a:t>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zh-TW" altLang="zh-TW" sz="1400" i="1" kern="1200" smtClean="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4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TW" sz="14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TW" sz="1400" i="1" kern="120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zh-TW" altLang="zh-TW" sz="14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4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TW" sz="14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TW" sz="1400" i="1" kern="120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,</m:t>
                              </m:r>
                              <m:r>
                                <a:rPr lang="zh-TW" altLang="zh-TW" sz="1400" kern="120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…</m:t>
                              </m:r>
                              <m:r>
                                <a:rPr lang="en-US" altLang="zh-TW" sz="1400" i="1" kern="120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zh-TW" altLang="zh-TW" sz="14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4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TW" sz="1400" b="0" i="1" kern="1200" smtClean="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𝑇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TW" sz="1400" dirty="0">
                              <a:latin typeface="+mn-lt"/>
                              <a:ea typeface="Microsoft JhengHei" panose="020B0604030504040204" pitchFamily="34" charset="-120"/>
                            </a:rPr>
                            <a:t>) </a:t>
                          </a:r>
                          <a:r>
                            <a:rPr lang="zh-TW" altLang="en-US" sz="1400" dirty="0">
                              <a:latin typeface="+mn-lt"/>
                              <a:ea typeface="Microsoft JhengHei" panose="020B0604030504040204" pitchFamily="34" charset="-120"/>
                            </a:rPr>
                            <a:t>有</a:t>
                          </a:r>
                          <a:r>
                            <a:rPr lang="en-US" altLang="zh-TW" sz="1400" dirty="0">
                              <a:latin typeface="+mn-lt"/>
                              <a:ea typeface="Microsoft JhengHei" panose="020B0604030504040204" pitchFamily="34" charset="-120"/>
                            </a:rPr>
                            <a:t>T</a:t>
                          </a:r>
                          <a:r>
                            <a:rPr lang="zh-TW" altLang="en-US" sz="1400" dirty="0">
                              <a:latin typeface="+mn-lt"/>
                              <a:ea typeface="Microsoft JhengHei" panose="020B0604030504040204" pitchFamily="34" charset="-120"/>
                            </a:rPr>
                            <a:t>個字</a:t>
                          </a:r>
                          <a:endParaRPr lang="en-US" altLang="zh-TW" sz="1400" dirty="0">
                            <a:latin typeface="+mn-lt"/>
                            <a:ea typeface="Microsoft JhengHei" panose="020B0604030504040204" pitchFamily="34" charset="-12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2993032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TW" sz="1400" dirty="0">
                              <a:latin typeface="+mn-lt"/>
                              <a:ea typeface="Microsoft JhengHei" panose="020B0604030504040204" pitchFamily="34" charset="-120"/>
                            </a:rPr>
                            <a:t>c</a:t>
                          </a:r>
                          <a:endParaRPr lang="zh-TW" altLang="en-US" sz="1400" dirty="0">
                            <a:latin typeface="+mn-lt"/>
                            <a:ea typeface="Microsoft JhengHei" panose="020B0604030504040204" pitchFamily="34" charset="-12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400" dirty="0">
                              <a:latin typeface="+mn-lt"/>
                              <a:ea typeface="Microsoft JhengHei" panose="020B0604030504040204" pitchFamily="34" charset="-120"/>
                            </a:rPr>
                            <a:t>Context window </a:t>
                          </a:r>
                          <a:r>
                            <a:rPr lang="zh-TW" altLang="en-US" sz="1400" dirty="0">
                              <a:latin typeface="+mn-lt"/>
                              <a:ea typeface="Microsoft JhengHei" panose="020B0604030504040204" pitchFamily="34" charset="-120"/>
                            </a:rPr>
                            <a:t>的範圍，以前一頁的例子來說：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sz="1400" i="1" kern="1200" smtClean="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𝑐</m:t>
                              </m:r>
                              <m:r>
                                <a:rPr lang="en-US" altLang="zh-TW" sz="1400" i="1" kern="1200" smtClean="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=4</m:t>
                              </m:r>
                            </m:oMath>
                          </a14:m>
                          <a:endParaRPr lang="zh-TW" altLang="zh-TW" sz="1400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6743672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altLang="zh-TW" sz="1400" i="1" kern="120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4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TW" sz="1400" b="0" i="1" kern="120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𝑡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1400" dirty="0">
                            <a:latin typeface="+mn-lt"/>
                            <a:ea typeface="Microsoft JhengHei" panose="020B0604030504040204" pitchFamily="34" charset="-12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TW" altLang="en-US" sz="1400" kern="1200" dirty="0">
                              <a:solidFill>
                                <a:schemeClr val="dk1"/>
                              </a:solidFill>
                              <a:effectLst/>
                              <a:latin typeface="Microsoft JhengHei" panose="020B0604030504040204" pitchFamily="34" charset="-120"/>
                              <a:ea typeface="Microsoft JhengHei" panose="020B0604030504040204" pitchFamily="34" charset="-120"/>
                              <a:cs typeface="+mn-cs"/>
                            </a:rPr>
                            <a:t>中間的字 </a:t>
                          </a:r>
                          <a:r>
                            <a:rPr lang="en-US" altLang="zh-TW" sz="1400" kern="1200" dirty="0">
                              <a:solidFill>
                                <a:schemeClr val="dk1"/>
                              </a:solidFill>
                              <a:effectLst/>
                              <a:latin typeface="Microsoft JhengHei" panose="020B0604030504040204" pitchFamily="34" charset="-120"/>
                              <a:ea typeface="Microsoft JhengHei" panose="020B0604030504040204" pitchFamily="34" charset="-120"/>
                              <a:cs typeface="+mn-cs"/>
                            </a:rPr>
                            <a:t>(</a:t>
                          </a:r>
                          <a:r>
                            <a:rPr lang="zh-TW" altLang="en-US" sz="1400" kern="1200" dirty="0">
                              <a:solidFill>
                                <a:schemeClr val="dk1"/>
                              </a:solidFill>
                              <a:effectLst/>
                              <a:latin typeface="Microsoft JhengHei" panose="020B0604030504040204" pitchFamily="34" charset="-120"/>
                              <a:ea typeface="Microsoft JhengHei" panose="020B0604030504040204" pitchFamily="34" charset="-120"/>
                              <a:cs typeface="+mn-cs"/>
                            </a:rPr>
                            <a:t>代表</a:t>
                          </a:r>
                          <a:r>
                            <a:rPr lang="en-US" altLang="zh-TW" sz="1400" kern="1200" dirty="0">
                              <a:solidFill>
                                <a:schemeClr val="dk1"/>
                              </a:solidFill>
                              <a:effectLst/>
                              <a:latin typeface="Microsoft JhengHei" panose="020B0604030504040204" pitchFamily="34" charset="-120"/>
                              <a:ea typeface="Microsoft JhengHei" panose="020B0604030504040204" pitchFamily="34" charset="-120"/>
                              <a:cs typeface="+mn-cs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sz="1400" b="0" i="1" kern="1200" smtClean="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𝑡</m:t>
                              </m:r>
                              <m:r>
                                <a:rPr lang="en-US" altLang="zh-TW" sz="1400" b="0" i="1" kern="1200" smtClean="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+</m:t>
                              </m:r>
                              <m:r>
                                <a:rPr lang="en-US" altLang="zh-TW" sz="1400" b="0" i="1" kern="1200" smtClean="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𝑗</m:t>
                              </m:r>
                              <m:r>
                                <a:rPr lang="en-US" altLang="zh-TW" sz="1400" i="1" kern="1200" smtClean="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=</m:t>
                              </m:r>
                              <m:r>
                                <a:rPr lang="en-US" altLang="zh-TW" sz="1400" b="0" i="1" kern="1200" smtClean="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0</m:t>
                              </m:r>
                            </m:oMath>
                          </a14:m>
                          <a:r>
                            <a:rPr lang="en-US" altLang="zh-TW" sz="1400" kern="1200" dirty="0">
                              <a:solidFill>
                                <a:schemeClr val="dk1"/>
                              </a:solidFill>
                              <a:effectLst/>
                              <a:latin typeface="Microsoft JhengHei" panose="020B0604030504040204" pitchFamily="34" charset="-120"/>
                              <a:ea typeface="Microsoft JhengHei" panose="020B0604030504040204" pitchFamily="34" charset="-120"/>
                              <a:cs typeface="+mn-cs"/>
                            </a:rPr>
                            <a:t>)</a:t>
                          </a:r>
                          <a:endParaRPr lang="zh-TW" altLang="zh-TW" sz="1400" kern="1200" dirty="0">
                            <a:solidFill>
                              <a:schemeClr val="dk1"/>
                            </a:solidFill>
                            <a:effectLst/>
                            <a:latin typeface="Microsoft JhengHei" panose="020B0604030504040204" pitchFamily="34" charset="-120"/>
                            <a:ea typeface="Microsoft JhengHei" panose="020B0604030504040204" pitchFamily="34" charset="-120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6181249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表格 10">
                <a:extLst>
                  <a:ext uri="{FF2B5EF4-FFF2-40B4-BE49-F238E27FC236}">
                    <a16:creationId xmlns:a16="http://schemas.microsoft.com/office/drawing/2014/main" id="{7E28A268-9E63-6C61-B679-DFDB92A15E3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83831824"/>
                  </p:ext>
                </p:extLst>
              </p:nvPr>
            </p:nvGraphicFramePr>
            <p:xfrm>
              <a:off x="7014866" y="1843850"/>
              <a:ext cx="3981380" cy="16306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47411">
                      <a:extLst>
                        <a:ext uri="{9D8B030D-6E8A-4147-A177-3AD203B41FA5}">
                          <a16:colId xmlns:a16="http://schemas.microsoft.com/office/drawing/2014/main" val="3599492535"/>
                        </a:ext>
                      </a:extLst>
                    </a:gridCol>
                    <a:gridCol w="3133969">
                      <a:extLst>
                        <a:ext uri="{9D8B030D-6E8A-4147-A177-3AD203B41FA5}">
                          <a16:colId xmlns:a16="http://schemas.microsoft.com/office/drawing/2014/main" val="69176735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TW" sz="1400" dirty="0">
                              <a:latin typeface="+mn-lt"/>
                              <a:ea typeface="Microsoft JhengHei" panose="020B0604030504040204" pitchFamily="34" charset="-120"/>
                            </a:rPr>
                            <a:t>Symbol</a:t>
                          </a:r>
                          <a:endParaRPr lang="zh-TW" altLang="en-US" sz="1400" dirty="0">
                            <a:latin typeface="+mn-lt"/>
                            <a:ea typeface="Microsoft JhengHei" panose="020B0604030504040204" pitchFamily="34" charset="-12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400" dirty="0">
                              <a:latin typeface="+mn-lt"/>
                              <a:ea typeface="Microsoft JhengHei" panose="020B0604030504040204" pitchFamily="34" charset="-120"/>
                            </a:rPr>
                            <a:t>Meaning</a:t>
                          </a:r>
                          <a:endParaRPr lang="zh-TW" altLang="en-US" sz="1400" dirty="0">
                            <a:latin typeface="+mn-lt"/>
                            <a:ea typeface="Microsoft JhengHei" panose="020B0604030504040204" pitchFamily="34" charset="-12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790882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TW" sz="1400" dirty="0">
                              <a:latin typeface="+mn-lt"/>
                              <a:ea typeface="Microsoft JhengHei" panose="020B0604030504040204" pitchFamily="34" charset="-120"/>
                            </a:rPr>
                            <a:t>T</a:t>
                          </a:r>
                          <a:endParaRPr lang="zh-TW" altLang="en-US" sz="1400" dirty="0">
                            <a:latin typeface="+mn-lt"/>
                            <a:ea typeface="Microsoft JhengHei" panose="020B0604030504040204" pitchFamily="34" charset="-12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7530" t="-100000" r="-1215" b="-24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9930326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r>
                            <a:rPr lang="en-US" altLang="zh-TW" sz="1400" dirty="0">
                              <a:latin typeface="+mn-lt"/>
                              <a:ea typeface="Microsoft JhengHei" panose="020B0604030504040204" pitchFamily="34" charset="-120"/>
                            </a:rPr>
                            <a:t>c</a:t>
                          </a:r>
                          <a:endParaRPr lang="zh-TW" altLang="en-US" sz="1400" dirty="0">
                            <a:latin typeface="+mn-lt"/>
                            <a:ea typeface="Microsoft JhengHei" panose="020B0604030504040204" pitchFamily="34" charset="-12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7530" t="-146341" r="-1215" b="-7804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743672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493" t="-348276" r="-373134" b="-103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7530" t="-348276" r="-1215" b="-1034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61812497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24115B20-4DAB-C725-C688-48E6AEDD9E49}"/>
              </a:ext>
            </a:extLst>
          </p:cNvPr>
          <p:cNvCxnSpPr/>
          <p:nvPr/>
        </p:nvCxnSpPr>
        <p:spPr>
          <a:xfrm>
            <a:off x="3915508" y="3040185"/>
            <a:ext cx="156307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字方塊 9">
            <a:extLst>
              <a:ext uri="{FF2B5EF4-FFF2-40B4-BE49-F238E27FC236}">
                <a16:creationId xmlns:a16="http://schemas.microsoft.com/office/drawing/2014/main" id="{1EC32EA2-689C-3F60-B54A-AB23706D42AB}"/>
              </a:ext>
            </a:extLst>
          </p:cNvPr>
          <p:cNvSpPr txBox="1"/>
          <p:nvPr/>
        </p:nvSpPr>
        <p:spPr>
          <a:xfrm>
            <a:off x="3610708" y="3112001"/>
            <a:ext cx="3001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中間字預測周圍字的</a:t>
            </a:r>
            <a:r>
              <a:rPr kumimoji="1" lang="zh-TW" altLang="en-US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機率值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表格 10">
                <a:extLst>
                  <a:ext uri="{FF2B5EF4-FFF2-40B4-BE49-F238E27FC236}">
                    <a16:creationId xmlns:a16="http://schemas.microsoft.com/office/drawing/2014/main" id="{EB66E2AC-77F1-C9CF-1A51-C9838DAB0E78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014866" y="4332526"/>
              <a:ext cx="3981380" cy="217728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47411">
                      <a:extLst>
                        <a:ext uri="{9D8B030D-6E8A-4147-A177-3AD203B41FA5}">
                          <a16:colId xmlns:a16="http://schemas.microsoft.com/office/drawing/2014/main" val="3599492535"/>
                        </a:ext>
                      </a:extLst>
                    </a:gridCol>
                    <a:gridCol w="3133969">
                      <a:extLst>
                        <a:ext uri="{9D8B030D-6E8A-4147-A177-3AD203B41FA5}">
                          <a16:colId xmlns:a16="http://schemas.microsoft.com/office/drawing/2014/main" val="69176735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TW" sz="1400" dirty="0">
                              <a:latin typeface="+mn-lt"/>
                              <a:ea typeface="Microsoft JhengHei" panose="020B0604030504040204" pitchFamily="34" charset="-120"/>
                            </a:rPr>
                            <a:t>Symbol</a:t>
                          </a:r>
                          <a:endParaRPr lang="zh-TW" altLang="en-US" sz="1400" dirty="0">
                            <a:latin typeface="+mn-lt"/>
                            <a:ea typeface="Microsoft JhengHei" panose="020B0604030504040204" pitchFamily="34" charset="-12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400" dirty="0">
                              <a:latin typeface="+mn-lt"/>
                              <a:ea typeface="Microsoft JhengHei" panose="020B0604030504040204" pitchFamily="34" charset="-120"/>
                            </a:rPr>
                            <a:t>Meaning</a:t>
                          </a:r>
                          <a:endParaRPr lang="zh-TW" altLang="en-US" sz="1400" dirty="0">
                            <a:latin typeface="+mn-lt"/>
                            <a:ea typeface="Microsoft JhengHei" panose="020B0604030504040204" pitchFamily="34" charset="-12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790882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zh-TW" altLang="zh-TW" sz="1400" i="1" kern="120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14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𝑣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zh-TW" altLang="zh-TW" sz="1400" i="1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1400" i="1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n-US" altLang="zh-TW" sz="1400" i="1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𝑂</m:t>
                                        </m:r>
                                      </m:sub>
                                    </m:sSub>
                                  </m:sub>
                                  <m:sup>
                                    <m:r>
                                      <a:rPr lang="en-US" altLang="zh-TW" sz="14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′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TW" altLang="zh-TW" sz="1400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zh-TW" altLang="en-US" sz="1400" dirty="0">
                              <a:latin typeface="+mn-lt"/>
                              <a:ea typeface="Microsoft JhengHei" panose="020B0604030504040204" pitchFamily="34" charset="-120"/>
                            </a:rPr>
                            <a:t>輸出字的向量 </a:t>
                          </a:r>
                          <a:r>
                            <a:rPr lang="en-US" altLang="zh-TW" sz="1400" dirty="0">
                              <a:latin typeface="+mn-lt"/>
                              <a:ea typeface="Microsoft JhengHei" panose="020B0604030504040204" pitchFamily="34" charset="-120"/>
                            </a:rPr>
                            <a:t>(output word vector)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29930326"/>
                      </a:ext>
                    </a:extLst>
                  </a:tr>
                  <a:tr h="31958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altLang="zh-TW" sz="1400" i="1" kern="120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4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𝑣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zh-TW" altLang="zh-TW" sz="1400" i="1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1400" i="1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n-US" altLang="zh-TW" sz="1400" i="1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𝐼</m:t>
                                        </m:r>
                                      </m:sub>
                                    </m:sSub>
                                  </m:sub>
                                </m:sSub>
                              </m:oMath>
                            </m:oMathPara>
                          </a14:m>
                          <a:endParaRPr lang="zh-TW" altLang="zh-TW" sz="1400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zh-TW" altLang="en-US" sz="1400" dirty="0">
                              <a:latin typeface="+mn-lt"/>
                              <a:ea typeface="Microsoft JhengHei" panose="020B0604030504040204" pitchFamily="34" charset="-120"/>
                            </a:rPr>
                            <a:t>輸入字的向量 </a:t>
                          </a:r>
                          <a:r>
                            <a:rPr lang="en-US" altLang="zh-TW" sz="1400" dirty="0">
                              <a:latin typeface="+mn-lt"/>
                              <a:ea typeface="Microsoft JhengHei" panose="020B0604030504040204" pitchFamily="34" charset="-120"/>
                            </a:rPr>
                            <a:t>(Input word vector)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6743672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altLang="zh-TW" sz="1400" i="1" kern="120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4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TW" sz="1400" b="0" i="1" kern="120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𝑂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1400" dirty="0">
                            <a:latin typeface="+mn-lt"/>
                            <a:ea typeface="Microsoft JhengHei" panose="020B0604030504040204" pitchFamily="34" charset="-12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TW" altLang="en-US" sz="1400" dirty="0">
                              <a:latin typeface="+mn-lt"/>
                              <a:ea typeface="Microsoft JhengHei" panose="020B0604030504040204" pitchFamily="34" charset="-120"/>
                            </a:rPr>
                            <a:t>輸出字</a:t>
                          </a:r>
                          <a:r>
                            <a:rPr lang="en-US" altLang="zh-TW" sz="1400" dirty="0">
                              <a:latin typeface="+mn-lt"/>
                              <a:ea typeface="Microsoft JhengHei" panose="020B0604030504040204" pitchFamily="34" charset="-120"/>
                            </a:rPr>
                            <a:t> (output word)</a:t>
                          </a:r>
                          <a:endParaRPr lang="zh-TW" altLang="zh-TW" sz="1400" kern="1200" dirty="0">
                            <a:solidFill>
                              <a:schemeClr val="dk1"/>
                            </a:solidFill>
                            <a:effectLst/>
                            <a:latin typeface="Microsoft JhengHei" panose="020B0604030504040204" pitchFamily="34" charset="-120"/>
                            <a:ea typeface="Microsoft JhengHei" panose="020B0604030504040204" pitchFamily="34" charset="-120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618124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altLang="zh-TW" sz="1400" i="1" kern="120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4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TW" sz="1400" b="0" i="1" kern="120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𝐼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1400" dirty="0">
                            <a:latin typeface="+mn-lt"/>
                            <a:ea typeface="Microsoft JhengHei" panose="020B0604030504040204" pitchFamily="34" charset="-12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TW" altLang="en-US" sz="1400" dirty="0">
                              <a:latin typeface="+mn-lt"/>
                              <a:ea typeface="Microsoft JhengHei" panose="020B0604030504040204" pitchFamily="34" charset="-120"/>
                            </a:rPr>
                            <a:t>輸入字</a:t>
                          </a:r>
                          <a:r>
                            <a:rPr lang="en-US" altLang="zh-TW" sz="1400" dirty="0">
                              <a:latin typeface="+mn-lt"/>
                              <a:ea typeface="Microsoft JhengHei" panose="020B0604030504040204" pitchFamily="34" charset="-120"/>
                            </a:rPr>
                            <a:t> (input word)</a:t>
                          </a:r>
                          <a:endParaRPr lang="zh-TW" altLang="zh-TW" sz="1400" kern="1200" dirty="0">
                            <a:solidFill>
                              <a:schemeClr val="dk1"/>
                            </a:solidFill>
                            <a:effectLst/>
                            <a:latin typeface="Microsoft JhengHei" panose="020B0604030504040204" pitchFamily="34" charset="-120"/>
                            <a:ea typeface="Microsoft JhengHei" panose="020B0604030504040204" pitchFamily="34" charset="-120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0767100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TW" sz="1400" dirty="0">
                              <a:latin typeface="+mn-lt"/>
                              <a:ea typeface="Microsoft JhengHei" panose="020B0604030504040204" pitchFamily="34" charset="-120"/>
                            </a:rPr>
                            <a:t>W</a:t>
                          </a:r>
                          <a:endParaRPr lang="zh-TW" altLang="en-US" sz="1400" dirty="0">
                            <a:latin typeface="+mn-lt"/>
                            <a:ea typeface="Microsoft JhengHei" panose="020B0604030504040204" pitchFamily="34" charset="-12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zh-TW" altLang="en-US" sz="1400" dirty="0">
                              <a:latin typeface="+mn-lt"/>
                              <a:ea typeface="Microsoft JhengHei" panose="020B0604030504040204" pitchFamily="34" charset="-120"/>
                            </a:rPr>
                            <a:t>字典大小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4521165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表格 10">
                <a:extLst>
                  <a:ext uri="{FF2B5EF4-FFF2-40B4-BE49-F238E27FC236}">
                    <a16:creationId xmlns:a16="http://schemas.microsoft.com/office/drawing/2014/main" id="{EB66E2AC-77F1-C9CF-1A51-C9838DAB0E7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94569035"/>
                  </p:ext>
                </p:extLst>
              </p:nvPr>
            </p:nvGraphicFramePr>
            <p:xfrm>
              <a:off x="7014866" y="4332526"/>
              <a:ext cx="3981380" cy="217728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47411">
                      <a:extLst>
                        <a:ext uri="{9D8B030D-6E8A-4147-A177-3AD203B41FA5}">
                          <a16:colId xmlns:a16="http://schemas.microsoft.com/office/drawing/2014/main" val="3599492535"/>
                        </a:ext>
                      </a:extLst>
                    </a:gridCol>
                    <a:gridCol w="3133969">
                      <a:extLst>
                        <a:ext uri="{9D8B030D-6E8A-4147-A177-3AD203B41FA5}">
                          <a16:colId xmlns:a16="http://schemas.microsoft.com/office/drawing/2014/main" val="69176735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TW" sz="1400" dirty="0">
                              <a:latin typeface="+mn-lt"/>
                              <a:ea typeface="Microsoft JhengHei" panose="020B0604030504040204" pitchFamily="34" charset="-120"/>
                            </a:rPr>
                            <a:t>Symbol</a:t>
                          </a:r>
                          <a:endParaRPr lang="zh-TW" altLang="en-US" sz="1400" dirty="0">
                            <a:latin typeface="+mn-lt"/>
                            <a:ea typeface="Microsoft JhengHei" panose="020B0604030504040204" pitchFamily="34" charset="-12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400" dirty="0">
                              <a:latin typeface="+mn-lt"/>
                              <a:ea typeface="Microsoft JhengHei" panose="020B0604030504040204" pitchFamily="34" charset="-120"/>
                            </a:rPr>
                            <a:t>Meaning</a:t>
                          </a:r>
                          <a:endParaRPr lang="zh-TW" altLang="en-US" sz="1400" dirty="0">
                            <a:latin typeface="+mn-lt"/>
                            <a:ea typeface="Microsoft JhengHei" panose="020B0604030504040204" pitchFamily="34" charset="-12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790882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1493" t="-100000" r="-373134" b="-38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zh-TW" altLang="en-US" sz="1400" dirty="0">
                              <a:latin typeface="+mn-lt"/>
                              <a:ea typeface="Microsoft JhengHei" panose="020B0604030504040204" pitchFamily="34" charset="-120"/>
                            </a:rPr>
                            <a:t>輸出字的向量 </a:t>
                          </a:r>
                          <a:r>
                            <a:rPr lang="en-US" altLang="zh-TW" sz="1400" dirty="0">
                              <a:latin typeface="+mn-lt"/>
                              <a:ea typeface="Microsoft JhengHei" panose="020B0604030504040204" pitchFamily="34" charset="-120"/>
                            </a:rPr>
                            <a:t>(output word vector)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29930326"/>
                      </a:ext>
                    </a:extLst>
                  </a:tr>
                  <a:tr h="323088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1493" t="-240000" r="-373134" b="-36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zh-TW" altLang="en-US" sz="1400" dirty="0">
                              <a:latin typeface="+mn-lt"/>
                              <a:ea typeface="Microsoft JhengHei" panose="020B0604030504040204" pitchFamily="34" charset="-120"/>
                            </a:rPr>
                            <a:t>輸入字的向量 </a:t>
                          </a:r>
                          <a:r>
                            <a:rPr lang="en-US" altLang="zh-TW" sz="1400" dirty="0">
                              <a:latin typeface="+mn-lt"/>
                              <a:ea typeface="Microsoft JhengHei" panose="020B0604030504040204" pitchFamily="34" charset="-120"/>
                            </a:rPr>
                            <a:t>(Input word vector)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6743672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1493" t="-293103" r="-373134" b="-2137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TW" altLang="en-US" sz="1400" dirty="0">
                              <a:latin typeface="+mn-lt"/>
                              <a:ea typeface="Microsoft JhengHei" panose="020B0604030504040204" pitchFamily="34" charset="-120"/>
                            </a:rPr>
                            <a:t>輸出字</a:t>
                          </a:r>
                          <a:r>
                            <a:rPr lang="en-US" altLang="zh-TW" sz="1400" dirty="0">
                              <a:latin typeface="+mn-lt"/>
                              <a:ea typeface="Microsoft JhengHei" panose="020B0604030504040204" pitchFamily="34" charset="-120"/>
                            </a:rPr>
                            <a:t> (output word)</a:t>
                          </a:r>
                          <a:endParaRPr lang="zh-TW" altLang="zh-TW" sz="1400" kern="1200" dirty="0">
                            <a:solidFill>
                              <a:schemeClr val="dk1"/>
                            </a:solidFill>
                            <a:effectLst/>
                            <a:latin typeface="Microsoft JhengHei" panose="020B0604030504040204" pitchFamily="34" charset="-120"/>
                            <a:ea typeface="Microsoft JhengHei" panose="020B0604030504040204" pitchFamily="34" charset="-120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618124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1493" t="-380000" r="-373134" b="-1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TW" altLang="en-US" sz="1400" dirty="0">
                              <a:latin typeface="+mn-lt"/>
                              <a:ea typeface="Microsoft JhengHei" panose="020B0604030504040204" pitchFamily="34" charset="-120"/>
                            </a:rPr>
                            <a:t>輸入字</a:t>
                          </a:r>
                          <a:r>
                            <a:rPr lang="en-US" altLang="zh-TW" sz="1400" dirty="0">
                              <a:latin typeface="+mn-lt"/>
                              <a:ea typeface="Microsoft JhengHei" panose="020B0604030504040204" pitchFamily="34" charset="-120"/>
                            </a:rPr>
                            <a:t> (input word)</a:t>
                          </a:r>
                          <a:endParaRPr lang="zh-TW" altLang="zh-TW" sz="1400" kern="1200" dirty="0">
                            <a:solidFill>
                              <a:schemeClr val="dk1"/>
                            </a:solidFill>
                            <a:effectLst/>
                            <a:latin typeface="Microsoft JhengHei" panose="020B0604030504040204" pitchFamily="34" charset="-120"/>
                            <a:ea typeface="Microsoft JhengHei" panose="020B0604030504040204" pitchFamily="34" charset="-120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0767100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TW" sz="1400" dirty="0">
                              <a:latin typeface="+mn-lt"/>
                              <a:ea typeface="Microsoft JhengHei" panose="020B0604030504040204" pitchFamily="34" charset="-120"/>
                            </a:rPr>
                            <a:t>W</a:t>
                          </a:r>
                          <a:endParaRPr lang="zh-TW" altLang="en-US" sz="1400" dirty="0">
                            <a:latin typeface="+mn-lt"/>
                            <a:ea typeface="Microsoft JhengHei" panose="020B0604030504040204" pitchFamily="34" charset="-12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zh-TW" altLang="en-US" sz="1400" dirty="0">
                              <a:latin typeface="+mn-lt"/>
                              <a:ea typeface="Microsoft JhengHei" panose="020B0604030504040204" pitchFamily="34" charset="-120"/>
                            </a:rPr>
                            <a:t>字典大小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45211651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2A4C73BE-A4E1-9486-830F-375EBAECD6D1}"/>
              </a:ext>
            </a:extLst>
          </p:cNvPr>
          <p:cNvCxnSpPr/>
          <p:nvPr/>
        </p:nvCxnSpPr>
        <p:spPr>
          <a:xfrm>
            <a:off x="3923323" y="5220677"/>
            <a:ext cx="1570893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1C752311-71A1-73B0-2793-25C96BFF2676}"/>
              </a:ext>
            </a:extLst>
          </p:cNvPr>
          <p:cNvCxnSpPr/>
          <p:nvPr/>
        </p:nvCxnSpPr>
        <p:spPr>
          <a:xfrm>
            <a:off x="4462585" y="5967047"/>
            <a:ext cx="1570893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8843666E-21C3-3915-0A2B-FFF2F72D157F}"/>
              </a:ext>
            </a:extLst>
          </p:cNvPr>
          <p:cNvSpPr txBox="1"/>
          <p:nvPr/>
        </p:nvSpPr>
        <p:spPr>
          <a:xfrm>
            <a:off x="4857262" y="6046228"/>
            <a:ext cx="7815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>
                <a:solidFill>
                  <a:srgbClr val="00B05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內積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A343258-9DDF-D41F-91E0-0E70693DB652}"/>
              </a:ext>
            </a:extLst>
          </p:cNvPr>
          <p:cNvSpPr/>
          <p:nvPr/>
        </p:nvSpPr>
        <p:spPr>
          <a:xfrm>
            <a:off x="2813538" y="4601065"/>
            <a:ext cx="3293538" cy="1449585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42200E16-DDF2-61E1-C0CE-04A14F34ECB9}"/>
              </a:ext>
            </a:extLst>
          </p:cNvPr>
          <p:cNvSpPr txBox="1"/>
          <p:nvPr/>
        </p:nvSpPr>
        <p:spPr>
          <a:xfrm>
            <a:off x="2959753" y="4246590"/>
            <a:ext cx="3001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 err="1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Softmax</a:t>
            </a:r>
            <a:r>
              <a:rPr kumimoji="1" lang="en-US" altLang="zh-TW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function</a:t>
            </a:r>
            <a:endParaRPr kumimoji="1" lang="zh-TW" altLang="en-US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6125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 animBg="1"/>
      <p:bldP spid="1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A08D5AE-C260-8409-5134-FEAA50826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Softmax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7B2385D-990A-EC13-0B5F-F3D411256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3555F246-EBF5-6D7F-6888-FE7FB326AF8B}"/>
              </a:ext>
            </a:extLst>
          </p:cNvPr>
          <p:cNvSpPr txBox="1"/>
          <p:nvPr/>
        </p:nvSpPr>
        <p:spPr>
          <a:xfrm>
            <a:off x="1005936" y="1638639"/>
            <a:ext cx="9772554" cy="1697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When generating the next word, `</a:t>
            </a:r>
            <a:r>
              <a:rPr kumimoji="1" lang="en-US" altLang="zh-TW" sz="2400" dirty="0" err="1"/>
              <a:t>softmax</a:t>
            </a:r>
            <a:r>
              <a:rPr kumimoji="1" lang="en-US" altLang="zh-TW" sz="2400" dirty="0"/>
              <a:t>` is performed to get the probabilities among the words in the vocabulary.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 err="1"/>
              <a:t>Softmax</a:t>
            </a:r>
            <a:r>
              <a:rPr kumimoji="1" lang="en-US" altLang="zh-TW" sz="2400" dirty="0"/>
              <a:t> formula: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A772E578-7E60-78AE-AA5F-C26B47B20443}"/>
                  </a:ext>
                </a:extLst>
              </p:cNvPr>
              <p:cNvSpPr txBox="1"/>
              <p:nvPr/>
            </p:nvSpPr>
            <p:spPr>
              <a:xfrm>
                <a:off x="4937436" y="3335707"/>
                <a:ext cx="2378087" cy="10256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en-US" altLang="zh-TW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kumimoji="1" lang="en-US" altLang="zh-TW" sz="2800" b="0" i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  <m:r>
                            <m:rPr>
                              <m:nor/>
                            </m:rPr>
                            <a:rPr kumimoji="1" lang="en-US" altLang="zh-TW" sz="2800" b="0" i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kumimoji="1" lang="en-US" altLang="zh-TW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TW" sz="28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en-US" altLang="zh-TW" sz="2800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  <m:r>
                            <a:rPr kumimoji="1" lang="en-US" altLang="zh-TW" sz="2800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m:rPr>
                              <m:nor/>
                            </m:rPr>
                            <a:rPr kumimoji="1" lang="en-US" altLang="zh-TW" sz="2800" b="0" i="0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m:rPr>
                              <m:nor/>
                            </m:rPr>
                            <a:rPr kumimoji="1" lang="en-US" altLang="zh-TW" sz="2800" b="0" i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ctrlPr>
                                <a:rPr kumimoji="1" lang="en-US" altLang="zh-TW" sz="28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kumimoji="1" lang="en-US" altLang="zh-TW" sz="2800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kumimoji="1" lang="en-US" altLang="zh-TW" sz="28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b>
                            <m:sup>
                              <m:d>
                                <m:dPr>
                                  <m:begChr m:val="|"/>
                                  <m:endChr m:val="|"/>
                                  <m:ctrlPr>
                                    <a:rPr kumimoji="1" lang="en-US" altLang="zh-TW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zh-TW" sz="2800" b="0" i="1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</m:d>
                            </m:sup>
                            <m:e>
                              <m:r>
                                <m:rPr>
                                  <m:nor/>
                                </m:rPr>
                                <a:rPr kumimoji="1" lang="en-US" altLang="zh-TW" sz="2800" b="0" i="0" smtClean="0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e>
                          </m:nary>
                          <m:r>
                            <a:rPr kumimoji="1" lang="en-US" altLang="zh-TW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kumimoji="1" lang="en-US" altLang="zh-TW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TW" sz="28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en-US" altLang="zh-TW" sz="2800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kumimoji="1" lang="en-US" altLang="zh-TW" sz="28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b>
                          </m:sSub>
                          <m:r>
                            <a:rPr kumimoji="1" lang="en-US" altLang="zh-TW" sz="2800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kumimoji="1" lang="en-US" altLang="zh-TW" sz="2800" b="0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kumimoji="1" lang="en-US" altLang="zh-TW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kumimoji="1" lang="zh-TW" altLang="en-US" sz="2800" dirty="0"/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A772E578-7E60-78AE-AA5F-C26B47B204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7436" y="3335707"/>
                <a:ext cx="2378087" cy="1025602"/>
              </a:xfrm>
              <a:prstGeom prst="rect">
                <a:avLst/>
              </a:prstGeom>
              <a:blipFill>
                <a:blip r:embed="rId2"/>
                <a:stretch>
                  <a:fillRect l="-24468" t="-15854" r="-5319" b="-10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26982479-B010-9DAF-FD93-D42900EA063B}"/>
                  </a:ext>
                </a:extLst>
              </p:cNvPr>
              <p:cNvSpPr txBox="1"/>
              <p:nvPr/>
            </p:nvSpPr>
            <p:spPr>
              <a:xfrm>
                <a:off x="1428750" y="4777740"/>
                <a:ext cx="5652506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TW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kumimoji="1" lang="en-US" altLang="zh-TW" sz="24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kumimoji="1" lang="en-US" altLang="zh-TW" sz="2400" dirty="0"/>
                  <a:t>: logits (model outputs before </a:t>
                </a:r>
                <a:r>
                  <a:rPr kumimoji="1" lang="en-US" altLang="zh-TW" sz="2400" dirty="0" err="1"/>
                  <a:t>softmax</a:t>
                </a:r>
                <a:r>
                  <a:rPr kumimoji="1" lang="en-US" altLang="zh-TW" sz="2400" dirty="0"/>
                  <a:t>)</a:t>
                </a:r>
              </a:p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kumimoji="1"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TW" sz="2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kumimoji="1" lang="en-US" altLang="zh-TW" sz="2400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kumimoji="1" lang="en-US" altLang="zh-TW" sz="2400" dirty="0"/>
                  <a:t> size of the vocabulary</a:t>
                </a:r>
              </a:p>
              <a:p>
                <a14:m>
                  <m:oMath xmlns:m="http://schemas.openxmlformats.org/officeDocument/2006/math">
                    <m:r>
                      <a:rPr kumimoji="1" lang="en-US" altLang="zh-TW" sz="2400" b="0" i="1" smtClean="0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kumimoji="1" lang="en-US" altLang="zh-TW" sz="2400" dirty="0">
                    <a:solidFill>
                      <a:schemeClr val="bg1">
                        <a:lumMod val="65000"/>
                      </a:schemeClr>
                    </a:solidFill>
                  </a:rPr>
                  <a:t>: </a:t>
                </a:r>
                <a:r>
                  <a:rPr kumimoji="1" lang="en-US" altLang="zh-TW" sz="2400" dirty="0" err="1">
                    <a:solidFill>
                      <a:schemeClr val="bg1">
                        <a:lumMod val="65000"/>
                      </a:schemeClr>
                    </a:solidFill>
                  </a:rPr>
                  <a:t>softmax</a:t>
                </a:r>
                <a:r>
                  <a:rPr kumimoji="1" lang="en-US" altLang="zh-TW" sz="2400" dirty="0">
                    <a:solidFill>
                      <a:schemeClr val="bg1">
                        <a:lumMod val="65000"/>
                      </a:schemeClr>
                    </a:solidFill>
                  </a:rPr>
                  <a:t> temperature</a:t>
                </a:r>
                <a:endParaRPr kumimoji="1" lang="zh-TW" altLang="en-US" sz="2400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26982479-B010-9DAF-FD93-D42900EA06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8750" y="4777740"/>
                <a:ext cx="5652506" cy="1200329"/>
              </a:xfrm>
              <a:prstGeom prst="rect">
                <a:avLst/>
              </a:prstGeom>
              <a:blipFill>
                <a:blip r:embed="rId3"/>
                <a:stretch>
                  <a:fillRect t="-3158" b="-1052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665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A08D5AE-C260-8409-5134-FEAA50826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Softmax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7B2385D-990A-EC13-0B5F-F3D411256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020DA9EB-B9AF-6D38-1025-9B8643725202}"/>
              </a:ext>
            </a:extLst>
          </p:cNvPr>
          <p:cNvSpPr txBox="1"/>
          <p:nvPr/>
        </p:nvSpPr>
        <p:spPr>
          <a:xfrm>
            <a:off x="3340090" y="2271928"/>
            <a:ext cx="1726651" cy="28050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TW" sz="2400" dirty="0">
                <a:ea typeface="Microsoft JhengHei" panose="020B0604030504040204" pitchFamily="34" charset="-120"/>
              </a:rPr>
              <a:t>the</a:t>
            </a:r>
          </a:p>
          <a:p>
            <a:pPr>
              <a:lnSpc>
                <a:spcPct val="150000"/>
              </a:lnSpc>
            </a:pPr>
            <a:r>
              <a:rPr kumimoji="1" lang="en-US" altLang="zh-TW" sz="2400" dirty="0"/>
              <a:t>am</a:t>
            </a:r>
          </a:p>
          <a:p>
            <a:pPr>
              <a:lnSpc>
                <a:spcPct val="150000"/>
              </a:lnSpc>
            </a:pPr>
            <a:r>
              <a:rPr kumimoji="1" lang="en-US" altLang="zh-TW" sz="2400" dirty="0">
                <a:ea typeface="Microsoft JhengHei" panose="020B0604030504040204" pitchFamily="34" charset="-120"/>
              </a:rPr>
              <a:t>no</a:t>
            </a:r>
          </a:p>
          <a:p>
            <a:pPr>
              <a:lnSpc>
                <a:spcPct val="150000"/>
              </a:lnSpc>
            </a:pPr>
            <a:r>
              <a:rPr kumimoji="1" lang="en" altLang="zh-TW" sz="2400" dirty="0">
                <a:ea typeface="Microsoft JhengHei" panose="020B0604030504040204" pitchFamily="34" charset="-120"/>
              </a:rPr>
              <a:t>a</a:t>
            </a:r>
          </a:p>
          <a:p>
            <a:pPr>
              <a:lnSpc>
                <a:spcPct val="150000"/>
              </a:lnSpc>
            </a:pPr>
            <a:r>
              <a:rPr kumimoji="1" lang="en-US" altLang="zh-TW" sz="2400" dirty="0">
                <a:ea typeface="Microsoft JhengHei" panose="020B0604030504040204" pitchFamily="34" charset="-120"/>
              </a:rPr>
              <a:t>/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BC4CE100-F718-5085-12CA-3D1FF0899A5C}"/>
              </a:ext>
            </a:extLst>
          </p:cNvPr>
          <p:cNvSpPr txBox="1"/>
          <p:nvPr/>
        </p:nvSpPr>
        <p:spPr>
          <a:xfrm>
            <a:off x="4746674" y="2271928"/>
            <a:ext cx="1246720" cy="28050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TW" sz="2400" dirty="0"/>
              <a:t>0.0011</a:t>
            </a:r>
          </a:p>
          <a:p>
            <a:pPr>
              <a:lnSpc>
                <a:spcPct val="150000"/>
              </a:lnSpc>
            </a:pPr>
            <a:r>
              <a:rPr kumimoji="1" lang="en-US" altLang="zh-TW" sz="2400" dirty="0"/>
              <a:t>0.0012</a:t>
            </a:r>
          </a:p>
          <a:p>
            <a:pPr>
              <a:lnSpc>
                <a:spcPct val="150000"/>
              </a:lnSpc>
            </a:pPr>
            <a:r>
              <a:rPr kumimoji="1" lang="en-US" altLang="zh-TW" sz="2400" dirty="0"/>
              <a:t>0.0013</a:t>
            </a:r>
          </a:p>
          <a:p>
            <a:pPr>
              <a:lnSpc>
                <a:spcPct val="150000"/>
              </a:lnSpc>
            </a:pPr>
            <a:r>
              <a:rPr kumimoji="1" lang="en-US" altLang="zh-TW" sz="2400" dirty="0"/>
              <a:t>0.0014</a:t>
            </a:r>
          </a:p>
          <a:p>
            <a:pPr>
              <a:lnSpc>
                <a:spcPct val="150000"/>
              </a:lnSpc>
            </a:pPr>
            <a:r>
              <a:rPr kumimoji="1" lang="en-US" altLang="zh-TW" sz="2400" dirty="0"/>
              <a:t>0.0015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CCCC65D0-3C99-1658-D315-C212C5B6258A}"/>
              </a:ext>
            </a:extLst>
          </p:cNvPr>
          <p:cNvSpPr txBox="1"/>
          <p:nvPr/>
        </p:nvSpPr>
        <p:spPr>
          <a:xfrm>
            <a:off x="3177539" y="1840971"/>
            <a:ext cx="1018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>
                <a:solidFill>
                  <a:srgbClr val="0070C0"/>
                </a:solidFill>
              </a:rPr>
              <a:t>Word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56EACE46-0D57-EBAF-47CD-8AEDC250C9FD}"/>
              </a:ext>
            </a:extLst>
          </p:cNvPr>
          <p:cNvSpPr txBox="1"/>
          <p:nvPr/>
        </p:nvSpPr>
        <p:spPr>
          <a:xfrm>
            <a:off x="4731809" y="1840971"/>
            <a:ext cx="1018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>
                <a:solidFill>
                  <a:srgbClr val="0070C0"/>
                </a:solidFill>
              </a:rPr>
              <a:t>Logits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44E28D99-73B0-63D8-0DFE-D65FC5C19BD2}"/>
              </a:ext>
            </a:extLst>
          </p:cNvPr>
          <p:cNvSpPr txBox="1"/>
          <p:nvPr/>
        </p:nvSpPr>
        <p:spPr>
          <a:xfrm>
            <a:off x="1525335" y="3010118"/>
            <a:ext cx="12963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Example</a:t>
            </a:r>
          </a:p>
          <a:p>
            <a:pPr algn="ctr"/>
            <a:r>
              <a:rPr kumimoji="1" lang="en-US" altLang="zh-TW" sz="2400" dirty="0"/>
              <a:t>Vocab</a:t>
            </a:r>
          </a:p>
        </p:txBody>
      </p:sp>
      <p:cxnSp>
        <p:nvCxnSpPr>
          <p:cNvPr id="13" name="直線箭頭接點 12">
            <a:extLst>
              <a:ext uri="{FF2B5EF4-FFF2-40B4-BE49-F238E27FC236}">
                <a16:creationId xmlns:a16="http://schemas.microsoft.com/office/drawing/2014/main" id="{C2891F03-779D-AA20-806A-BCD2CE0DF3F0}"/>
              </a:ext>
            </a:extLst>
          </p:cNvPr>
          <p:cNvCxnSpPr>
            <a:cxnSpLocks/>
          </p:cNvCxnSpPr>
          <p:nvPr/>
        </p:nvCxnSpPr>
        <p:spPr>
          <a:xfrm>
            <a:off x="6382014" y="2659671"/>
            <a:ext cx="93318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箭頭接點 13">
            <a:extLst>
              <a:ext uri="{FF2B5EF4-FFF2-40B4-BE49-F238E27FC236}">
                <a16:creationId xmlns:a16="http://schemas.microsoft.com/office/drawing/2014/main" id="{9CC1F449-1E69-B73B-1B49-1DBA9F941AAE}"/>
              </a:ext>
            </a:extLst>
          </p:cNvPr>
          <p:cNvCxnSpPr>
            <a:cxnSpLocks/>
          </p:cNvCxnSpPr>
          <p:nvPr/>
        </p:nvCxnSpPr>
        <p:spPr>
          <a:xfrm>
            <a:off x="6382014" y="3212121"/>
            <a:ext cx="93318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箭頭接點 14">
            <a:extLst>
              <a:ext uri="{FF2B5EF4-FFF2-40B4-BE49-F238E27FC236}">
                <a16:creationId xmlns:a16="http://schemas.microsoft.com/office/drawing/2014/main" id="{F543821E-107F-12AA-5934-4B89F9E44B64}"/>
              </a:ext>
            </a:extLst>
          </p:cNvPr>
          <p:cNvCxnSpPr>
            <a:cxnSpLocks/>
          </p:cNvCxnSpPr>
          <p:nvPr/>
        </p:nvCxnSpPr>
        <p:spPr>
          <a:xfrm>
            <a:off x="6382014" y="3768725"/>
            <a:ext cx="93318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箭頭接點 15">
            <a:extLst>
              <a:ext uri="{FF2B5EF4-FFF2-40B4-BE49-F238E27FC236}">
                <a16:creationId xmlns:a16="http://schemas.microsoft.com/office/drawing/2014/main" id="{79C56B4A-26E8-4783-5B11-D8C33409FC5A}"/>
              </a:ext>
            </a:extLst>
          </p:cNvPr>
          <p:cNvCxnSpPr>
            <a:cxnSpLocks/>
          </p:cNvCxnSpPr>
          <p:nvPr/>
        </p:nvCxnSpPr>
        <p:spPr>
          <a:xfrm>
            <a:off x="6382014" y="4332605"/>
            <a:ext cx="93318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箭頭接點 16">
            <a:extLst>
              <a:ext uri="{FF2B5EF4-FFF2-40B4-BE49-F238E27FC236}">
                <a16:creationId xmlns:a16="http://schemas.microsoft.com/office/drawing/2014/main" id="{2C3AFF56-4169-EACA-3AF2-7479A65F42F7}"/>
              </a:ext>
            </a:extLst>
          </p:cNvPr>
          <p:cNvCxnSpPr>
            <a:cxnSpLocks/>
          </p:cNvCxnSpPr>
          <p:nvPr/>
        </p:nvCxnSpPr>
        <p:spPr>
          <a:xfrm>
            <a:off x="6382014" y="4846955"/>
            <a:ext cx="93318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14FC5F6D-C418-2F49-B3B3-F2691D8C7E88}"/>
              </a:ext>
            </a:extLst>
          </p:cNvPr>
          <p:cNvSpPr txBox="1"/>
          <p:nvPr/>
        </p:nvSpPr>
        <p:spPr>
          <a:xfrm>
            <a:off x="7650269" y="1840971"/>
            <a:ext cx="1726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>
                <a:solidFill>
                  <a:srgbClr val="0070C0"/>
                </a:solidFill>
              </a:rPr>
              <a:t>Probability</a:t>
            </a: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EAFD03A0-0B3D-A17F-EE17-AB935AFEC61F}"/>
              </a:ext>
            </a:extLst>
          </p:cNvPr>
          <p:cNvSpPr txBox="1"/>
          <p:nvPr/>
        </p:nvSpPr>
        <p:spPr>
          <a:xfrm>
            <a:off x="7861873" y="2271928"/>
            <a:ext cx="1246720" cy="28050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zh-TW" sz="2400" dirty="0">
                <a:solidFill>
                  <a:srgbClr val="FF0000"/>
                </a:solidFill>
              </a:rPr>
              <a:t>0.78</a:t>
            </a:r>
          </a:p>
          <a:p>
            <a:pPr algn="ctr">
              <a:lnSpc>
                <a:spcPct val="150000"/>
              </a:lnSpc>
            </a:pPr>
            <a:r>
              <a:rPr kumimoji="1" lang="en-US" altLang="zh-TW" sz="2400" dirty="0">
                <a:solidFill>
                  <a:srgbClr val="FF0000"/>
                </a:solidFill>
              </a:rPr>
              <a:t>0.11</a:t>
            </a:r>
          </a:p>
          <a:p>
            <a:pPr algn="ctr">
              <a:lnSpc>
                <a:spcPct val="150000"/>
              </a:lnSpc>
            </a:pPr>
            <a:r>
              <a:rPr kumimoji="1" lang="en-US" altLang="zh-TW" sz="2400" dirty="0">
                <a:solidFill>
                  <a:srgbClr val="FF0000"/>
                </a:solidFill>
              </a:rPr>
              <a:t>0.03</a:t>
            </a:r>
          </a:p>
          <a:p>
            <a:pPr algn="ctr">
              <a:lnSpc>
                <a:spcPct val="150000"/>
              </a:lnSpc>
            </a:pPr>
            <a:r>
              <a:rPr kumimoji="1" lang="en-US" altLang="zh-TW" sz="2400" dirty="0">
                <a:solidFill>
                  <a:srgbClr val="FF0000"/>
                </a:solidFill>
              </a:rPr>
              <a:t>0.02</a:t>
            </a:r>
          </a:p>
          <a:p>
            <a:pPr algn="ctr">
              <a:lnSpc>
                <a:spcPct val="150000"/>
              </a:lnSpc>
            </a:pPr>
            <a:r>
              <a:rPr kumimoji="1" lang="en-US" altLang="zh-TW" sz="2400" dirty="0">
                <a:solidFill>
                  <a:srgbClr val="FF0000"/>
                </a:solidFill>
              </a:rPr>
              <a:t>0.06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4A0F621-2516-5B17-0D65-86B75600F986}"/>
              </a:ext>
            </a:extLst>
          </p:cNvPr>
          <p:cNvSpPr txBox="1"/>
          <p:nvPr/>
        </p:nvSpPr>
        <p:spPr>
          <a:xfrm>
            <a:off x="1649716" y="5549466"/>
            <a:ext cx="81329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kumimoji="1" lang="en-US" altLang="zh-TW" sz="2000" dirty="0"/>
              <a:t>Note that </a:t>
            </a:r>
            <a:r>
              <a:rPr kumimoji="1" lang="en-US" altLang="zh-TW" sz="2000" dirty="0" err="1"/>
              <a:t>softmax</a:t>
            </a:r>
            <a:r>
              <a:rPr kumimoji="1" lang="en-US" altLang="zh-TW" sz="2000" dirty="0"/>
              <a:t> is required for every decoding strategies since we need to find out the next word from a vocabulary.</a:t>
            </a:r>
            <a:endParaRPr kumimoji="1" lang="zh-TW" altLang="en-US" sz="20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7E415FC-24C2-4A1D-4E48-A7B0461A3B34}"/>
              </a:ext>
            </a:extLst>
          </p:cNvPr>
          <p:cNvSpPr/>
          <p:nvPr/>
        </p:nvSpPr>
        <p:spPr>
          <a:xfrm>
            <a:off x="7707831" y="1799453"/>
            <a:ext cx="1582084" cy="3346478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3F76F5D2-7289-BCB3-80A5-D4DB0DB6CCD1}"/>
              </a:ext>
            </a:extLst>
          </p:cNvPr>
          <p:cNvSpPr txBox="1"/>
          <p:nvPr/>
        </p:nvSpPr>
        <p:spPr>
          <a:xfrm>
            <a:off x="7880995" y="5199067"/>
            <a:ext cx="1265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SUM = 1</a:t>
            </a:r>
            <a:endParaRPr kumimoji="1" lang="zh-TW" altLang="en-US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36592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ECE90CA-A8EB-61E1-8616-654B9AE7B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Advanced Techniques of Word2vec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4B1DA38-D71C-D84B-6228-13A4C6BA2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B156F93-77BB-54F3-729D-347E878E7D0E}"/>
              </a:ext>
            </a:extLst>
          </p:cNvPr>
          <p:cNvSpPr txBox="1"/>
          <p:nvPr/>
        </p:nvSpPr>
        <p:spPr>
          <a:xfrm>
            <a:off x="653143" y="1774997"/>
            <a:ext cx="6474488" cy="1697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Speed up </a:t>
            </a:r>
            <a:r>
              <a:rPr kumimoji="1" lang="en-US" altLang="zh-TW" sz="2400" dirty="0">
                <a:solidFill>
                  <a:srgbClr val="FF0000"/>
                </a:solidFill>
              </a:rPr>
              <a:t>the training process </a:t>
            </a:r>
            <a:r>
              <a:rPr kumimoji="1" lang="en-US" altLang="zh-TW" sz="2400" dirty="0"/>
              <a:t>of Word2vec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Hierarchical </a:t>
            </a:r>
            <a:r>
              <a:rPr kumimoji="1" lang="en-US" altLang="zh-TW" sz="2400" dirty="0" err="1"/>
              <a:t>Softmax</a:t>
            </a:r>
            <a:endParaRPr kumimoji="1" lang="en-US" altLang="zh-TW" sz="2400" dirty="0"/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Negative Sampling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9CFC5ACD-353C-9CF5-7275-741F6F0D3200}"/>
              </a:ext>
            </a:extLst>
          </p:cNvPr>
          <p:cNvSpPr txBox="1"/>
          <p:nvPr/>
        </p:nvSpPr>
        <p:spPr>
          <a:xfrm>
            <a:off x="2417236" y="6415560"/>
            <a:ext cx="73901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" altLang="zh-TW" sz="1200" dirty="0" err="1"/>
              <a:t>Mikolov</a:t>
            </a:r>
            <a:r>
              <a:rPr kumimoji="1" lang="en" altLang="zh-TW" sz="1200" dirty="0"/>
              <a:t> et al. "Distributed representations of words and phrases and their compositionality." </a:t>
            </a:r>
            <a:r>
              <a:rPr kumimoji="1" lang="en" altLang="zh-TW" sz="1200" dirty="0" err="1"/>
              <a:t>NeurIPS</a:t>
            </a:r>
            <a:r>
              <a:rPr kumimoji="1" lang="en" altLang="zh-TW" sz="1200" dirty="0"/>
              <a:t> 2013.</a:t>
            </a:r>
            <a:endParaRPr kumimoji="1" lang="zh-TW" altLang="en-US" sz="1200" dirty="0"/>
          </a:p>
        </p:txBody>
      </p:sp>
    </p:spTree>
    <p:extLst>
      <p:ext uri="{BB962C8B-B14F-4D97-AF65-F5344CB8AC3E}">
        <p14:creationId xmlns:p14="http://schemas.microsoft.com/office/powerpoint/2010/main" val="8821806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C5B9393-1699-985A-E66F-F2B388438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Hierarchical </a:t>
            </a:r>
            <a:r>
              <a:rPr kumimoji="1" lang="en-US" altLang="zh-TW" dirty="0" err="1"/>
              <a:t>Softmax</a:t>
            </a:r>
            <a:r>
              <a:rPr kumimoji="1" lang="en-US" altLang="zh-TW" dirty="0"/>
              <a:t> Overview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8A6DC57-0B7A-1B21-F9F0-721D122BD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93135ECE-124D-11AF-7A59-BA36FC346CE3}"/>
              </a:ext>
            </a:extLst>
          </p:cNvPr>
          <p:cNvSpPr txBox="1"/>
          <p:nvPr/>
        </p:nvSpPr>
        <p:spPr>
          <a:xfrm>
            <a:off x="1209723" y="1889819"/>
            <a:ext cx="9772554" cy="28126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0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總目標：近似輸出層，因為在</a:t>
            </a:r>
            <a:r>
              <a:rPr kumimoji="1" lang="en-US" altLang="zh-TW" sz="20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 Vocab size</a:t>
            </a:r>
            <a:r>
              <a:rPr kumimoji="1" lang="zh-TW" altLang="en-US" sz="20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 很大的情況下做 </a:t>
            </a:r>
            <a:r>
              <a:rPr kumimoji="1" lang="en-US" altLang="zh-TW" sz="2000" dirty="0" err="1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Softmax</a:t>
            </a:r>
            <a:r>
              <a:rPr kumimoji="1" lang="en-US" altLang="zh-TW" sz="20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 </a:t>
            </a:r>
            <a:r>
              <a:rPr kumimoji="1" lang="zh-TW" altLang="en-US" sz="20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計算量很大</a:t>
            </a:r>
            <a:endParaRPr kumimoji="1" lang="en-US" altLang="zh-TW" sz="2000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0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訓練流程：</a:t>
            </a:r>
            <a:endParaRPr kumimoji="1" lang="en-US" altLang="zh-TW" sz="2000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0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Step1: </a:t>
            </a:r>
            <a:r>
              <a:rPr kumimoji="1" lang="zh-TW" altLang="en-US" sz="20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把字典的字根據頻率建立出一棵 </a:t>
            </a:r>
            <a:r>
              <a:rPr kumimoji="1" lang="en-US" altLang="zh-TW" sz="20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Huffman Tree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0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Step2: </a:t>
            </a:r>
            <a:r>
              <a:rPr kumimoji="1" lang="zh-TW" altLang="en-US" sz="20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以 </a:t>
            </a:r>
            <a:r>
              <a:rPr kumimoji="1" lang="en-US" altLang="zh-TW" sz="20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internal nodes</a:t>
            </a:r>
            <a:r>
              <a:rPr kumimoji="1" lang="zh-TW" altLang="en-US" sz="20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 的權重</a:t>
            </a:r>
            <a:r>
              <a:rPr kumimoji="1" lang="en-US" altLang="zh-TW" sz="20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 (vectors) </a:t>
            </a:r>
            <a:r>
              <a:rPr kumimoji="1" lang="zh-TW" altLang="en-US" sz="20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代替輸出層，從</a:t>
            </a:r>
            <a:r>
              <a:rPr kumimoji="1" lang="en-US" altLang="zh-TW" sz="20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 root node </a:t>
            </a:r>
            <a:r>
              <a:rPr kumimoji="1" lang="zh-TW" altLang="en-US" sz="20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開始計算往下走每層的機率值 </a:t>
            </a:r>
            <a:r>
              <a:rPr kumimoji="1" lang="en-US" altLang="zh-TW" sz="2000" dirty="0" err="1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Softmax</a:t>
            </a:r>
            <a:r>
              <a:rPr kumimoji="1" lang="en-US" altLang="zh-TW" sz="20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(</a:t>
            </a:r>
            <a:r>
              <a:rPr kumimoji="1" lang="en-US" altLang="zh-TW" sz="2000" dirty="0" err="1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dot_product</a:t>
            </a:r>
            <a:r>
              <a:rPr kumimoji="1" lang="en-US" altLang="zh-TW" sz="20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)</a:t>
            </a:r>
            <a:r>
              <a:rPr kumimoji="1" lang="zh-TW" altLang="en-US" sz="20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，每層都只做二元分類</a:t>
            </a:r>
            <a:endParaRPr kumimoji="1" lang="en-US" altLang="zh-TW" sz="2000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0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Step3: </a:t>
            </a:r>
            <a:r>
              <a:rPr kumimoji="1" lang="zh-TW" altLang="en-US" sz="20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調整</a:t>
            </a:r>
            <a:r>
              <a:rPr kumimoji="1" lang="en-US" altLang="zh-TW" sz="20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 internal nodes</a:t>
            </a:r>
            <a:r>
              <a:rPr kumimoji="1" lang="zh-TW" altLang="en-US" sz="20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 的權重</a:t>
            </a:r>
            <a:endParaRPr kumimoji="1" lang="en-US" altLang="zh-TW" sz="2000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6EB5E1CE-9910-519C-FE18-748C7924E240}"/>
              </a:ext>
            </a:extLst>
          </p:cNvPr>
          <p:cNvSpPr txBox="1"/>
          <p:nvPr/>
        </p:nvSpPr>
        <p:spPr>
          <a:xfrm>
            <a:off x="2759413" y="5016937"/>
            <a:ext cx="6673174" cy="1201804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kumimoji="1" lang="en-US" altLang="zh-TW" sz="16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Huffman Tree </a:t>
            </a:r>
            <a:r>
              <a:rPr kumimoji="1" lang="zh-TW" altLang="en-US" sz="16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是一種最佳前綴編碼樹 </a:t>
            </a:r>
            <a:r>
              <a:rPr kumimoji="1" lang="en-US" altLang="zh-TW" sz="16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(optimal prefix code tree)</a:t>
            </a:r>
            <a:r>
              <a:rPr kumimoji="1" lang="zh-TW" altLang="en-US" sz="16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，其特性是：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16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頻率較高的詞會被分配較短的路徑，使得它們的預測成本較低。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16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頻率較低的詞會有較長的路徑，以減少總體的編碼長度。</a:t>
            </a:r>
            <a:endParaRPr kumimoji="1" lang="en-US" altLang="zh-TW" sz="1600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946ECE48-AAE0-9B92-C96E-93C5AF851F2B}"/>
              </a:ext>
            </a:extLst>
          </p:cNvPr>
          <p:cNvSpPr txBox="1"/>
          <p:nvPr/>
        </p:nvSpPr>
        <p:spPr>
          <a:xfrm>
            <a:off x="2339948" y="6459622"/>
            <a:ext cx="751210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" altLang="zh-TW" sz="1200" dirty="0" err="1"/>
              <a:t>Mikolov</a:t>
            </a:r>
            <a:r>
              <a:rPr kumimoji="1" lang="en" altLang="zh-TW" sz="1200" dirty="0"/>
              <a:t> et al. "Distributed representations of words and phrases and their compositionality." </a:t>
            </a:r>
            <a:r>
              <a:rPr kumimoji="1" lang="en" altLang="zh-TW" sz="1200" dirty="0" err="1"/>
              <a:t>NeurIPS</a:t>
            </a:r>
            <a:r>
              <a:rPr kumimoji="1" lang="en" altLang="zh-TW" sz="1200" dirty="0"/>
              <a:t> 2013.</a:t>
            </a:r>
            <a:endParaRPr kumimoji="1" lang="zh-TW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62707959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E72D76C-5558-BA49-0FD5-062F3165B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Hierarchical </a:t>
            </a:r>
            <a:r>
              <a:rPr kumimoji="1" lang="en-US" altLang="zh-TW" dirty="0" err="1"/>
              <a:t>Softmax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3052845-07E8-DC4E-C5D4-3A086C4A8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D5DDBAD3-B0C6-01AA-9C0C-421B12DB80E4}"/>
              </a:ext>
            </a:extLst>
          </p:cNvPr>
          <p:cNvSpPr/>
          <p:nvPr/>
        </p:nvSpPr>
        <p:spPr>
          <a:xfrm>
            <a:off x="3067454" y="1976834"/>
            <a:ext cx="418290" cy="41829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E3D991CB-CB05-508C-99ED-6210D770E602}"/>
              </a:ext>
            </a:extLst>
          </p:cNvPr>
          <p:cNvSpPr/>
          <p:nvPr/>
        </p:nvSpPr>
        <p:spPr>
          <a:xfrm>
            <a:off x="1494817" y="2859240"/>
            <a:ext cx="418290" cy="41829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28685218-FE5D-864D-0E26-95FB2752E7DC}"/>
              </a:ext>
            </a:extLst>
          </p:cNvPr>
          <p:cNvSpPr/>
          <p:nvPr/>
        </p:nvSpPr>
        <p:spPr>
          <a:xfrm>
            <a:off x="4448783" y="2870476"/>
            <a:ext cx="418290" cy="41829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01854BD1-72BA-D01B-788A-88C9B9154FBA}"/>
              </a:ext>
            </a:extLst>
          </p:cNvPr>
          <p:cNvSpPr/>
          <p:nvPr/>
        </p:nvSpPr>
        <p:spPr>
          <a:xfrm>
            <a:off x="3276599" y="3829692"/>
            <a:ext cx="418290" cy="41829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4A49CB30-5C48-37D5-A99D-E00294ECE49E}"/>
              </a:ext>
            </a:extLst>
          </p:cNvPr>
          <p:cNvSpPr/>
          <p:nvPr/>
        </p:nvSpPr>
        <p:spPr>
          <a:xfrm>
            <a:off x="5431978" y="3829692"/>
            <a:ext cx="418290" cy="41829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E16FDA98-EBF0-54EF-79C4-193A547C6499}"/>
              </a:ext>
            </a:extLst>
          </p:cNvPr>
          <p:cNvSpPr/>
          <p:nvPr/>
        </p:nvSpPr>
        <p:spPr>
          <a:xfrm>
            <a:off x="4657928" y="4983112"/>
            <a:ext cx="418290" cy="41829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FD6D2DA4-522D-BE77-4426-9F2E9DDFF9B7}"/>
              </a:ext>
            </a:extLst>
          </p:cNvPr>
          <p:cNvSpPr/>
          <p:nvPr/>
        </p:nvSpPr>
        <p:spPr>
          <a:xfrm>
            <a:off x="6543472" y="4983112"/>
            <a:ext cx="418290" cy="41829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4B8A2BE7-A63C-97D1-23C0-231FC51B64A1}"/>
              </a:ext>
            </a:extLst>
          </p:cNvPr>
          <p:cNvCxnSpPr>
            <a:cxnSpLocks/>
            <a:stCxn id="5" idx="3"/>
            <a:endCxn id="6" idx="7"/>
          </p:cNvCxnSpPr>
          <p:nvPr/>
        </p:nvCxnSpPr>
        <p:spPr>
          <a:xfrm flipH="1">
            <a:off x="1851850" y="2333867"/>
            <a:ext cx="1276861" cy="5866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407F34B9-5A96-B763-8499-F2E6C800ACA0}"/>
              </a:ext>
            </a:extLst>
          </p:cNvPr>
          <p:cNvCxnSpPr>
            <a:cxnSpLocks/>
            <a:stCxn id="7" idx="1"/>
            <a:endCxn id="5" idx="5"/>
          </p:cNvCxnSpPr>
          <p:nvPr/>
        </p:nvCxnSpPr>
        <p:spPr>
          <a:xfrm flipH="1" flipV="1">
            <a:off x="3424487" y="2333867"/>
            <a:ext cx="1085553" cy="5978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>
            <a:extLst>
              <a:ext uri="{FF2B5EF4-FFF2-40B4-BE49-F238E27FC236}">
                <a16:creationId xmlns:a16="http://schemas.microsoft.com/office/drawing/2014/main" id="{421E559A-DA93-822E-47CA-B4C6B09B4A5D}"/>
              </a:ext>
            </a:extLst>
          </p:cNvPr>
          <p:cNvCxnSpPr>
            <a:cxnSpLocks/>
            <a:stCxn id="7" idx="3"/>
            <a:endCxn id="8" idx="7"/>
          </p:cNvCxnSpPr>
          <p:nvPr/>
        </p:nvCxnSpPr>
        <p:spPr>
          <a:xfrm flipH="1">
            <a:off x="3633632" y="3227509"/>
            <a:ext cx="876408" cy="6634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接點 25">
            <a:extLst>
              <a:ext uri="{FF2B5EF4-FFF2-40B4-BE49-F238E27FC236}">
                <a16:creationId xmlns:a16="http://schemas.microsoft.com/office/drawing/2014/main" id="{04B1DC40-5FC8-DA0D-A591-0159A2F4322B}"/>
              </a:ext>
            </a:extLst>
          </p:cNvPr>
          <p:cNvCxnSpPr>
            <a:cxnSpLocks/>
            <a:stCxn id="7" idx="5"/>
            <a:endCxn id="9" idx="1"/>
          </p:cNvCxnSpPr>
          <p:nvPr/>
        </p:nvCxnSpPr>
        <p:spPr>
          <a:xfrm>
            <a:off x="4805816" y="3227509"/>
            <a:ext cx="687419" cy="6634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接點 28">
            <a:extLst>
              <a:ext uri="{FF2B5EF4-FFF2-40B4-BE49-F238E27FC236}">
                <a16:creationId xmlns:a16="http://schemas.microsoft.com/office/drawing/2014/main" id="{F2B31E7E-2E0B-91A7-651E-D6A1E192FCD6}"/>
              </a:ext>
            </a:extLst>
          </p:cNvPr>
          <p:cNvCxnSpPr>
            <a:cxnSpLocks/>
            <a:stCxn id="9" idx="5"/>
            <a:endCxn id="11" idx="1"/>
          </p:cNvCxnSpPr>
          <p:nvPr/>
        </p:nvCxnSpPr>
        <p:spPr>
          <a:xfrm>
            <a:off x="5789011" y="4186725"/>
            <a:ext cx="815718" cy="8576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B921E7C3-5333-9EDF-1B2D-92BF78BE245B}"/>
              </a:ext>
            </a:extLst>
          </p:cNvPr>
          <p:cNvCxnSpPr>
            <a:cxnSpLocks/>
            <a:stCxn id="9" idx="3"/>
            <a:endCxn id="10" idx="0"/>
          </p:cNvCxnSpPr>
          <p:nvPr/>
        </p:nvCxnSpPr>
        <p:spPr>
          <a:xfrm flipH="1">
            <a:off x="4867073" y="4186725"/>
            <a:ext cx="626162" cy="7963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橢圓 41">
            <a:extLst>
              <a:ext uri="{FF2B5EF4-FFF2-40B4-BE49-F238E27FC236}">
                <a16:creationId xmlns:a16="http://schemas.microsoft.com/office/drawing/2014/main" id="{BCF9B9A3-ED61-7867-7643-D887B08C608E}"/>
              </a:ext>
            </a:extLst>
          </p:cNvPr>
          <p:cNvSpPr/>
          <p:nvPr/>
        </p:nvSpPr>
        <p:spPr>
          <a:xfrm>
            <a:off x="4071836" y="5894270"/>
            <a:ext cx="418290" cy="41829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3" name="橢圓 42">
            <a:extLst>
              <a:ext uri="{FF2B5EF4-FFF2-40B4-BE49-F238E27FC236}">
                <a16:creationId xmlns:a16="http://schemas.microsoft.com/office/drawing/2014/main" id="{77C605DC-A8AB-E899-F125-F03421E39FE4}"/>
              </a:ext>
            </a:extLst>
          </p:cNvPr>
          <p:cNvSpPr/>
          <p:nvPr/>
        </p:nvSpPr>
        <p:spPr>
          <a:xfrm>
            <a:off x="5222307" y="5894270"/>
            <a:ext cx="418290" cy="41829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4" name="橢圓 43">
            <a:extLst>
              <a:ext uri="{FF2B5EF4-FFF2-40B4-BE49-F238E27FC236}">
                <a16:creationId xmlns:a16="http://schemas.microsoft.com/office/drawing/2014/main" id="{9C1EB11B-CD40-E87F-EA92-595B307A5754}"/>
              </a:ext>
            </a:extLst>
          </p:cNvPr>
          <p:cNvSpPr/>
          <p:nvPr/>
        </p:nvSpPr>
        <p:spPr>
          <a:xfrm>
            <a:off x="5987725" y="5894270"/>
            <a:ext cx="418290" cy="41829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5" name="橢圓 44">
            <a:extLst>
              <a:ext uri="{FF2B5EF4-FFF2-40B4-BE49-F238E27FC236}">
                <a16:creationId xmlns:a16="http://schemas.microsoft.com/office/drawing/2014/main" id="{D6F714AD-C8FC-D898-3B53-8A8C21280F7A}"/>
              </a:ext>
            </a:extLst>
          </p:cNvPr>
          <p:cNvSpPr/>
          <p:nvPr/>
        </p:nvSpPr>
        <p:spPr>
          <a:xfrm>
            <a:off x="7093436" y="5894270"/>
            <a:ext cx="418290" cy="41829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6" name="橢圓 45">
            <a:extLst>
              <a:ext uri="{FF2B5EF4-FFF2-40B4-BE49-F238E27FC236}">
                <a16:creationId xmlns:a16="http://schemas.microsoft.com/office/drawing/2014/main" id="{0FE7135A-AFA5-567B-B827-C141EFC1F46B}"/>
              </a:ext>
            </a:extLst>
          </p:cNvPr>
          <p:cNvSpPr/>
          <p:nvPr/>
        </p:nvSpPr>
        <p:spPr>
          <a:xfrm>
            <a:off x="2617090" y="4719773"/>
            <a:ext cx="418290" cy="41829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7" name="橢圓 46">
            <a:extLst>
              <a:ext uri="{FF2B5EF4-FFF2-40B4-BE49-F238E27FC236}">
                <a16:creationId xmlns:a16="http://schemas.microsoft.com/office/drawing/2014/main" id="{E22F7ED3-22B2-EC99-E0C6-EB7445F67F59}"/>
              </a:ext>
            </a:extLst>
          </p:cNvPr>
          <p:cNvSpPr/>
          <p:nvPr/>
        </p:nvSpPr>
        <p:spPr>
          <a:xfrm>
            <a:off x="3674097" y="4727651"/>
            <a:ext cx="418290" cy="41829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8" name="橢圓 47">
            <a:extLst>
              <a:ext uri="{FF2B5EF4-FFF2-40B4-BE49-F238E27FC236}">
                <a16:creationId xmlns:a16="http://schemas.microsoft.com/office/drawing/2014/main" id="{4AA717DA-32C6-4CDB-C1AC-71207A3E18F1}"/>
              </a:ext>
            </a:extLst>
          </p:cNvPr>
          <p:cNvSpPr/>
          <p:nvPr/>
        </p:nvSpPr>
        <p:spPr>
          <a:xfrm>
            <a:off x="879016" y="3768435"/>
            <a:ext cx="418290" cy="41829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9" name="橢圓 48">
            <a:extLst>
              <a:ext uri="{FF2B5EF4-FFF2-40B4-BE49-F238E27FC236}">
                <a16:creationId xmlns:a16="http://schemas.microsoft.com/office/drawing/2014/main" id="{D10EACC2-E70F-B94F-0E81-761B9AE0FD9A}"/>
              </a:ext>
            </a:extLst>
          </p:cNvPr>
          <p:cNvSpPr/>
          <p:nvPr/>
        </p:nvSpPr>
        <p:spPr>
          <a:xfrm>
            <a:off x="1957341" y="3763457"/>
            <a:ext cx="418290" cy="41829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0132DDFA-0062-C9CF-63C1-F0F39EDA286E}"/>
              </a:ext>
            </a:extLst>
          </p:cNvPr>
          <p:cNvCxnSpPr>
            <a:cxnSpLocks/>
            <a:stCxn id="6" idx="3"/>
            <a:endCxn id="48" idx="7"/>
          </p:cNvCxnSpPr>
          <p:nvPr/>
        </p:nvCxnSpPr>
        <p:spPr>
          <a:xfrm flipH="1">
            <a:off x="1236049" y="3216273"/>
            <a:ext cx="320025" cy="613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接點 52">
            <a:extLst>
              <a:ext uri="{FF2B5EF4-FFF2-40B4-BE49-F238E27FC236}">
                <a16:creationId xmlns:a16="http://schemas.microsoft.com/office/drawing/2014/main" id="{5DA5693C-7EB3-5079-036C-9E5AD56A3881}"/>
              </a:ext>
            </a:extLst>
          </p:cNvPr>
          <p:cNvCxnSpPr>
            <a:cxnSpLocks/>
            <a:stCxn id="6" idx="5"/>
            <a:endCxn id="49" idx="0"/>
          </p:cNvCxnSpPr>
          <p:nvPr/>
        </p:nvCxnSpPr>
        <p:spPr>
          <a:xfrm>
            <a:off x="1851850" y="3216273"/>
            <a:ext cx="314636" cy="5471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接點 56">
            <a:extLst>
              <a:ext uri="{FF2B5EF4-FFF2-40B4-BE49-F238E27FC236}">
                <a16:creationId xmlns:a16="http://schemas.microsoft.com/office/drawing/2014/main" id="{A9CDD8D5-549E-C1B6-BA6B-80916C44E2B0}"/>
              </a:ext>
            </a:extLst>
          </p:cNvPr>
          <p:cNvCxnSpPr>
            <a:cxnSpLocks/>
            <a:stCxn id="8" idx="3"/>
            <a:endCxn id="46" idx="7"/>
          </p:cNvCxnSpPr>
          <p:nvPr/>
        </p:nvCxnSpPr>
        <p:spPr>
          <a:xfrm flipH="1">
            <a:off x="2974123" y="4186725"/>
            <a:ext cx="363733" cy="5943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接點 60">
            <a:extLst>
              <a:ext uri="{FF2B5EF4-FFF2-40B4-BE49-F238E27FC236}">
                <a16:creationId xmlns:a16="http://schemas.microsoft.com/office/drawing/2014/main" id="{6426C2BA-7201-F38F-8029-6C5A1B3F9EF3}"/>
              </a:ext>
            </a:extLst>
          </p:cNvPr>
          <p:cNvCxnSpPr>
            <a:cxnSpLocks/>
            <a:stCxn id="8" idx="5"/>
            <a:endCxn id="47" idx="0"/>
          </p:cNvCxnSpPr>
          <p:nvPr/>
        </p:nvCxnSpPr>
        <p:spPr>
          <a:xfrm>
            <a:off x="3633632" y="4186725"/>
            <a:ext cx="249610" cy="5409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接點 63">
            <a:extLst>
              <a:ext uri="{FF2B5EF4-FFF2-40B4-BE49-F238E27FC236}">
                <a16:creationId xmlns:a16="http://schemas.microsoft.com/office/drawing/2014/main" id="{25B01DF6-551D-17EE-9F15-E64552244D90}"/>
              </a:ext>
            </a:extLst>
          </p:cNvPr>
          <p:cNvCxnSpPr>
            <a:cxnSpLocks/>
            <a:stCxn id="10" idx="5"/>
            <a:endCxn id="43" idx="1"/>
          </p:cNvCxnSpPr>
          <p:nvPr/>
        </p:nvCxnSpPr>
        <p:spPr>
          <a:xfrm>
            <a:off x="5014961" y="5340145"/>
            <a:ext cx="268603" cy="6153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接點 66">
            <a:extLst>
              <a:ext uri="{FF2B5EF4-FFF2-40B4-BE49-F238E27FC236}">
                <a16:creationId xmlns:a16="http://schemas.microsoft.com/office/drawing/2014/main" id="{12B8F9C4-6FC8-38D4-E537-BF0E98FC280B}"/>
              </a:ext>
            </a:extLst>
          </p:cNvPr>
          <p:cNvCxnSpPr>
            <a:cxnSpLocks/>
            <a:stCxn id="10" idx="3"/>
            <a:endCxn id="42" idx="7"/>
          </p:cNvCxnSpPr>
          <p:nvPr/>
        </p:nvCxnSpPr>
        <p:spPr>
          <a:xfrm flipH="1">
            <a:off x="4428869" y="5340145"/>
            <a:ext cx="290316" cy="6153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接點 69">
            <a:extLst>
              <a:ext uri="{FF2B5EF4-FFF2-40B4-BE49-F238E27FC236}">
                <a16:creationId xmlns:a16="http://schemas.microsoft.com/office/drawing/2014/main" id="{A238497A-8A51-695A-1132-FBAA9C154DE5}"/>
              </a:ext>
            </a:extLst>
          </p:cNvPr>
          <p:cNvCxnSpPr>
            <a:cxnSpLocks/>
            <a:stCxn id="11" idx="3"/>
            <a:endCxn id="44" idx="0"/>
          </p:cNvCxnSpPr>
          <p:nvPr/>
        </p:nvCxnSpPr>
        <p:spPr>
          <a:xfrm flipH="1">
            <a:off x="6196870" y="5340145"/>
            <a:ext cx="407859" cy="5541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接點 72">
            <a:extLst>
              <a:ext uri="{FF2B5EF4-FFF2-40B4-BE49-F238E27FC236}">
                <a16:creationId xmlns:a16="http://schemas.microsoft.com/office/drawing/2014/main" id="{0945A53D-997A-A262-B770-E5EA4380D7F8}"/>
              </a:ext>
            </a:extLst>
          </p:cNvPr>
          <p:cNvCxnSpPr>
            <a:cxnSpLocks/>
            <a:stCxn id="11" idx="5"/>
            <a:endCxn id="45" idx="0"/>
          </p:cNvCxnSpPr>
          <p:nvPr/>
        </p:nvCxnSpPr>
        <p:spPr>
          <a:xfrm>
            <a:off x="6900505" y="5340145"/>
            <a:ext cx="402076" cy="5541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文字方塊 77">
            <a:extLst>
              <a:ext uri="{FF2B5EF4-FFF2-40B4-BE49-F238E27FC236}">
                <a16:creationId xmlns:a16="http://schemas.microsoft.com/office/drawing/2014/main" id="{53AD8654-DA32-F304-2353-460D91E598A2}"/>
              </a:ext>
            </a:extLst>
          </p:cNvPr>
          <p:cNvSpPr txBox="1"/>
          <p:nvPr/>
        </p:nvSpPr>
        <p:spPr>
          <a:xfrm>
            <a:off x="789600" y="4246215"/>
            <a:ext cx="597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the</a:t>
            </a:r>
            <a:endParaRPr kumimoji="1" lang="zh-TW" altLang="en-US" dirty="0"/>
          </a:p>
        </p:txBody>
      </p:sp>
      <p:sp>
        <p:nvSpPr>
          <p:cNvPr id="81" name="文字方塊 80">
            <a:extLst>
              <a:ext uri="{FF2B5EF4-FFF2-40B4-BE49-F238E27FC236}">
                <a16:creationId xmlns:a16="http://schemas.microsoft.com/office/drawing/2014/main" id="{53313B0B-74B1-36EB-0F39-56608BDC68E6}"/>
              </a:ext>
            </a:extLst>
          </p:cNvPr>
          <p:cNvSpPr txBox="1"/>
          <p:nvPr/>
        </p:nvSpPr>
        <p:spPr>
          <a:xfrm>
            <a:off x="1898587" y="4246215"/>
            <a:ext cx="5628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of</a:t>
            </a:r>
            <a:endParaRPr kumimoji="1" lang="zh-TW" altLang="en-US" dirty="0"/>
          </a:p>
        </p:txBody>
      </p:sp>
      <p:sp>
        <p:nvSpPr>
          <p:cNvPr id="82" name="文字方塊 81">
            <a:extLst>
              <a:ext uri="{FF2B5EF4-FFF2-40B4-BE49-F238E27FC236}">
                <a16:creationId xmlns:a16="http://schemas.microsoft.com/office/drawing/2014/main" id="{4F75ADC5-945F-5171-C048-1251CB79EED0}"/>
              </a:ext>
            </a:extLst>
          </p:cNvPr>
          <p:cNvSpPr txBox="1"/>
          <p:nvPr/>
        </p:nvSpPr>
        <p:spPr>
          <a:xfrm>
            <a:off x="6630483" y="6336702"/>
            <a:ext cx="1441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" altLang="zh-TW" dirty="0"/>
              <a:t>Mangosteen</a:t>
            </a:r>
            <a:endParaRPr kumimoji="1" lang="zh-TW" altLang="en-US" dirty="0"/>
          </a:p>
        </p:txBody>
      </p:sp>
      <p:sp>
        <p:nvSpPr>
          <p:cNvPr id="83" name="文字方塊 82">
            <a:extLst>
              <a:ext uri="{FF2B5EF4-FFF2-40B4-BE49-F238E27FC236}">
                <a16:creationId xmlns:a16="http://schemas.microsoft.com/office/drawing/2014/main" id="{EEAD8AF0-30E1-AA8C-5EC8-FEAA30ACA26B}"/>
              </a:ext>
            </a:extLst>
          </p:cNvPr>
          <p:cNvSpPr txBox="1"/>
          <p:nvPr/>
        </p:nvSpPr>
        <p:spPr>
          <a:xfrm>
            <a:off x="4433212" y="1952983"/>
            <a:ext cx="3179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" altLang="zh-TW" sz="2400" dirty="0"/>
              <a:t>P(</a:t>
            </a:r>
            <a:r>
              <a:rPr kumimoji="1" lang="en" altLang="zh-TW" sz="2400" dirty="0" err="1"/>
              <a:t>Mangosteen|fruit</a:t>
            </a:r>
            <a:r>
              <a:rPr kumimoji="1" lang="en" altLang="zh-TW" sz="2400" dirty="0"/>
              <a:t>)=?</a:t>
            </a:r>
            <a:endParaRPr kumimoji="1" lang="zh-TW" altLang="en-US" sz="2400" dirty="0"/>
          </a:p>
        </p:txBody>
      </p:sp>
      <p:sp>
        <p:nvSpPr>
          <p:cNvPr id="84" name="橢圓 83">
            <a:extLst>
              <a:ext uri="{FF2B5EF4-FFF2-40B4-BE49-F238E27FC236}">
                <a16:creationId xmlns:a16="http://schemas.microsoft.com/office/drawing/2014/main" id="{B590EBE5-530F-A564-FE9D-76F07E99F3C9}"/>
              </a:ext>
            </a:extLst>
          </p:cNvPr>
          <p:cNvSpPr/>
          <p:nvPr/>
        </p:nvSpPr>
        <p:spPr>
          <a:xfrm>
            <a:off x="8443450" y="2006861"/>
            <a:ext cx="418290" cy="41829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85" name="文字方塊 84">
            <a:extLst>
              <a:ext uri="{FF2B5EF4-FFF2-40B4-BE49-F238E27FC236}">
                <a16:creationId xmlns:a16="http://schemas.microsoft.com/office/drawing/2014/main" id="{2136CD60-CB00-86DB-6CDC-82C2B1FAFF63}"/>
              </a:ext>
            </a:extLst>
          </p:cNvPr>
          <p:cNvSpPr txBox="1"/>
          <p:nvPr/>
        </p:nvSpPr>
        <p:spPr>
          <a:xfrm>
            <a:off x="8861740" y="2040701"/>
            <a:ext cx="2956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Internal nodes (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帶有</a:t>
            </a:r>
            <a:r>
              <a:rPr kumimoji="1" lang="en-US" altLang="zh-TW" dirty="0"/>
              <a:t> weights)</a:t>
            </a:r>
            <a:endParaRPr kumimoji="1" lang="zh-TW" altLang="en-US" dirty="0"/>
          </a:p>
        </p:txBody>
      </p:sp>
      <p:sp>
        <p:nvSpPr>
          <p:cNvPr id="87" name="文字方塊 86">
            <a:extLst>
              <a:ext uri="{FF2B5EF4-FFF2-40B4-BE49-F238E27FC236}">
                <a16:creationId xmlns:a16="http://schemas.microsoft.com/office/drawing/2014/main" id="{A8DF796D-90D6-8588-C7CD-35C5F2B50503}"/>
              </a:ext>
            </a:extLst>
          </p:cNvPr>
          <p:cNvSpPr txBox="1"/>
          <p:nvPr/>
        </p:nvSpPr>
        <p:spPr>
          <a:xfrm>
            <a:off x="8874495" y="2674574"/>
            <a:ext cx="29568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字典中的字 </a:t>
            </a:r>
            <a:r>
              <a:rPr kumimoji="1" lang="en-US" altLang="zh-TW" dirty="0"/>
              <a:t>(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越上層詞頻越高，結構為 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Huffman Tree</a:t>
            </a:r>
            <a:r>
              <a:rPr kumimoji="1" lang="en-US" altLang="zh-TW" dirty="0"/>
              <a:t>)</a:t>
            </a:r>
            <a:endParaRPr kumimoji="1" lang="zh-TW" altLang="en-US" dirty="0"/>
          </a:p>
        </p:txBody>
      </p:sp>
      <p:sp>
        <p:nvSpPr>
          <p:cNvPr id="88" name="橢圓 87">
            <a:extLst>
              <a:ext uri="{FF2B5EF4-FFF2-40B4-BE49-F238E27FC236}">
                <a16:creationId xmlns:a16="http://schemas.microsoft.com/office/drawing/2014/main" id="{513F54DA-4659-58BB-3E27-B57F33098436}"/>
              </a:ext>
            </a:extLst>
          </p:cNvPr>
          <p:cNvSpPr/>
          <p:nvPr/>
        </p:nvSpPr>
        <p:spPr>
          <a:xfrm>
            <a:off x="8443450" y="2674574"/>
            <a:ext cx="418290" cy="41829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90" name="直線箭頭接點 89">
            <a:extLst>
              <a:ext uri="{FF2B5EF4-FFF2-40B4-BE49-F238E27FC236}">
                <a16:creationId xmlns:a16="http://schemas.microsoft.com/office/drawing/2014/main" id="{D840112C-CB3E-936F-4370-F6E0473A53CE}"/>
              </a:ext>
            </a:extLst>
          </p:cNvPr>
          <p:cNvCxnSpPr>
            <a:cxnSpLocks/>
          </p:cNvCxnSpPr>
          <p:nvPr/>
        </p:nvCxnSpPr>
        <p:spPr>
          <a:xfrm>
            <a:off x="3518043" y="2395124"/>
            <a:ext cx="460442" cy="250255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文字方塊 93">
                <a:extLst>
                  <a:ext uri="{FF2B5EF4-FFF2-40B4-BE49-F238E27FC236}">
                    <a16:creationId xmlns:a16="http://schemas.microsoft.com/office/drawing/2014/main" id="{B76710FE-C55D-142F-74A4-4E5A8F223739}"/>
                  </a:ext>
                </a:extLst>
              </p:cNvPr>
              <p:cNvSpPr txBox="1"/>
              <p:nvPr/>
            </p:nvSpPr>
            <p:spPr>
              <a:xfrm>
                <a:off x="2723690" y="1446589"/>
                <a:ext cx="110581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TW" sz="2400" b="0" i="0" smtClean="0">
                              <a:latin typeface="Cambria Math" panose="02040503050406030204" pitchFamily="18" charset="0"/>
                            </a:rPr>
                            <m:t>fruit</m:t>
                          </m:r>
                        </m:sub>
                      </m:sSub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94" name="文字方塊 93">
                <a:extLst>
                  <a:ext uri="{FF2B5EF4-FFF2-40B4-BE49-F238E27FC236}">
                    <a16:creationId xmlns:a16="http://schemas.microsoft.com/office/drawing/2014/main" id="{B76710FE-C55D-142F-74A4-4E5A8F2237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3690" y="1446589"/>
                <a:ext cx="1105818" cy="461665"/>
              </a:xfrm>
              <a:prstGeom prst="rect">
                <a:avLst/>
              </a:prstGeom>
              <a:blipFill>
                <a:blip r:embed="rId2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文字方塊 94">
                <a:extLst>
                  <a:ext uri="{FF2B5EF4-FFF2-40B4-BE49-F238E27FC236}">
                    <a16:creationId xmlns:a16="http://schemas.microsoft.com/office/drawing/2014/main" id="{324F6495-FBE0-5B61-C854-4AD13EA29C73}"/>
                  </a:ext>
                </a:extLst>
              </p:cNvPr>
              <p:cNvSpPr txBox="1"/>
              <p:nvPr/>
            </p:nvSpPr>
            <p:spPr>
              <a:xfrm>
                <a:off x="3048862" y="1958826"/>
                <a:ext cx="45617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0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kumimoji="1" lang="en-US" altLang="zh-TW" sz="2000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95" name="文字方塊 94">
                <a:extLst>
                  <a:ext uri="{FF2B5EF4-FFF2-40B4-BE49-F238E27FC236}">
                    <a16:creationId xmlns:a16="http://schemas.microsoft.com/office/drawing/2014/main" id="{324F6495-FBE0-5B61-C854-4AD13EA29C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862" y="1958826"/>
                <a:ext cx="456177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文字方塊 95">
                <a:extLst>
                  <a:ext uri="{FF2B5EF4-FFF2-40B4-BE49-F238E27FC236}">
                    <a16:creationId xmlns:a16="http://schemas.microsoft.com/office/drawing/2014/main" id="{BDCEADBE-773B-B936-C1F6-82761D20F178}"/>
                  </a:ext>
                </a:extLst>
              </p:cNvPr>
              <p:cNvSpPr txBox="1"/>
              <p:nvPr/>
            </p:nvSpPr>
            <p:spPr>
              <a:xfrm>
                <a:off x="1471297" y="2838489"/>
                <a:ext cx="45617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0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kumimoji="1" lang="en-US" altLang="zh-TW" sz="20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96" name="文字方塊 95">
                <a:extLst>
                  <a:ext uri="{FF2B5EF4-FFF2-40B4-BE49-F238E27FC236}">
                    <a16:creationId xmlns:a16="http://schemas.microsoft.com/office/drawing/2014/main" id="{BDCEADBE-773B-B936-C1F6-82761D20F1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1297" y="2838489"/>
                <a:ext cx="456177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文字方塊 96">
                <a:extLst>
                  <a:ext uri="{FF2B5EF4-FFF2-40B4-BE49-F238E27FC236}">
                    <a16:creationId xmlns:a16="http://schemas.microsoft.com/office/drawing/2014/main" id="{EA13BBDB-AE02-C299-7013-97DD88C42B68}"/>
                  </a:ext>
                </a:extLst>
              </p:cNvPr>
              <p:cNvSpPr txBox="1"/>
              <p:nvPr/>
            </p:nvSpPr>
            <p:spPr>
              <a:xfrm>
                <a:off x="4434131" y="2857240"/>
                <a:ext cx="45617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0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kumimoji="1" lang="en-US" altLang="zh-TW" sz="2000" b="0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97" name="文字方塊 96">
                <a:extLst>
                  <a:ext uri="{FF2B5EF4-FFF2-40B4-BE49-F238E27FC236}">
                    <a16:creationId xmlns:a16="http://schemas.microsoft.com/office/drawing/2014/main" id="{EA13BBDB-AE02-C299-7013-97DD88C42B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4131" y="2857240"/>
                <a:ext cx="456177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文字方塊 97">
                <a:extLst>
                  <a:ext uri="{FF2B5EF4-FFF2-40B4-BE49-F238E27FC236}">
                    <a16:creationId xmlns:a16="http://schemas.microsoft.com/office/drawing/2014/main" id="{EBDF330F-170D-2DC1-40F3-16AF445BC19D}"/>
                  </a:ext>
                </a:extLst>
              </p:cNvPr>
              <p:cNvSpPr txBox="1"/>
              <p:nvPr/>
            </p:nvSpPr>
            <p:spPr>
              <a:xfrm>
                <a:off x="3284075" y="3826334"/>
                <a:ext cx="45617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0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kumimoji="1" lang="en-US" altLang="zh-TW" sz="2000" b="0" i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98" name="文字方塊 97">
                <a:extLst>
                  <a:ext uri="{FF2B5EF4-FFF2-40B4-BE49-F238E27FC236}">
                    <a16:creationId xmlns:a16="http://schemas.microsoft.com/office/drawing/2014/main" id="{EBDF330F-170D-2DC1-40F3-16AF445BC1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4075" y="3826334"/>
                <a:ext cx="456177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文字方塊 98">
                <a:extLst>
                  <a:ext uri="{FF2B5EF4-FFF2-40B4-BE49-F238E27FC236}">
                    <a16:creationId xmlns:a16="http://schemas.microsoft.com/office/drawing/2014/main" id="{07CE3336-D42A-6008-51DD-FE04C46F039C}"/>
                  </a:ext>
                </a:extLst>
              </p:cNvPr>
              <p:cNvSpPr txBox="1"/>
              <p:nvPr/>
            </p:nvSpPr>
            <p:spPr>
              <a:xfrm>
                <a:off x="5431452" y="3826334"/>
                <a:ext cx="45617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0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kumimoji="1" lang="en-US" altLang="zh-TW" sz="2000" b="0" i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99" name="文字方塊 98">
                <a:extLst>
                  <a:ext uri="{FF2B5EF4-FFF2-40B4-BE49-F238E27FC236}">
                    <a16:creationId xmlns:a16="http://schemas.microsoft.com/office/drawing/2014/main" id="{07CE3336-D42A-6008-51DD-FE04C46F03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1452" y="3826334"/>
                <a:ext cx="456177" cy="400110"/>
              </a:xfrm>
              <a:prstGeom prst="rect">
                <a:avLst/>
              </a:prstGeom>
              <a:blipFill>
                <a:blip r:embed="rId7"/>
                <a:stretch>
                  <a:fillRect b="-312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文字方塊 99">
                <a:extLst>
                  <a:ext uri="{FF2B5EF4-FFF2-40B4-BE49-F238E27FC236}">
                    <a16:creationId xmlns:a16="http://schemas.microsoft.com/office/drawing/2014/main" id="{03457CE6-A89C-3EEE-8710-048A7ACC01FF}"/>
                  </a:ext>
                </a:extLst>
              </p:cNvPr>
              <p:cNvSpPr txBox="1"/>
              <p:nvPr/>
            </p:nvSpPr>
            <p:spPr>
              <a:xfrm>
                <a:off x="4650064" y="4951696"/>
                <a:ext cx="45617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0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kumimoji="1" lang="en-US" altLang="zh-TW" sz="2000" b="0" i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00" name="文字方塊 99">
                <a:extLst>
                  <a:ext uri="{FF2B5EF4-FFF2-40B4-BE49-F238E27FC236}">
                    <a16:creationId xmlns:a16="http://schemas.microsoft.com/office/drawing/2014/main" id="{03457CE6-A89C-3EEE-8710-048A7ACC01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0064" y="4951696"/>
                <a:ext cx="456177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文字方塊 100">
                <a:extLst>
                  <a:ext uri="{FF2B5EF4-FFF2-40B4-BE49-F238E27FC236}">
                    <a16:creationId xmlns:a16="http://schemas.microsoft.com/office/drawing/2014/main" id="{69DBDC04-683E-B72A-37D9-8983E3284F19}"/>
                  </a:ext>
                </a:extLst>
              </p:cNvPr>
              <p:cNvSpPr txBox="1"/>
              <p:nvPr/>
            </p:nvSpPr>
            <p:spPr>
              <a:xfrm>
                <a:off x="6543472" y="4971418"/>
                <a:ext cx="45617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0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kumimoji="1" lang="en-US" altLang="zh-TW" sz="2000" b="0" i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01" name="文字方塊 100">
                <a:extLst>
                  <a:ext uri="{FF2B5EF4-FFF2-40B4-BE49-F238E27FC236}">
                    <a16:creationId xmlns:a16="http://schemas.microsoft.com/office/drawing/2014/main" id="{69DBDC04-683E-B72A-37D9-8983E3284F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3472" y="4971418"/>
                <a:ext cx="456177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3" name="直線箭頭接點 102">
            <a:extLst>
              <a:ext uri="{FF2B5EF4-FFF2-40B4-BE49-F238E27FC236}">
                <a16:creationId xmlns:a16="http://schemas.microsoft.com/office/drawing/2014/main" id="{1D2878FE-EB2D-6912-86B7-516254E3FAB0}"/>
              </a:ext>
            </a:extLst>
          </p:cNvPr>
          <p:cNvCxnSpPr>
            <a:cxnSpLocks/>
          </p:cNvCxnSpPr>
          <p:nvPr/>
        </p:nvCxnSpPr>
        <p:spPr>
          <a:xfrm>
            <a:off x="4919041" y="3346750"/>
            <a:ext cx="364523" cy="332362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線箭頭接點 104">
            <a:extLst>
              <a:ext uri="{FF2B5EF4-FFF2-40B4-BE49-F238E27FC236}">
                <a16:creationId xmlns:a16="http://schemas.microsoft.com/office/drawing/2014/main" id="{423114CF-EF31-0D65-E64F-21E661AA3398}"/>
              </a:ext>
            </a:extLst>
          </p:cNvPr>
          <p:cNvCxnSpPr>
            <a:cxnSpLocks/>
          </p:cNvCxnSpPr>
          <p:nvPr/>
        </p:nvCxnSpPr>
        <p:spPr>
          <a:xfrm>
            <a:off x="5987725" y="4387411"/>
            <a:ext cx="413074" cy="393619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線箭頭接點 106">
            <a:extLst>
              <a:ext uri="{FF2B5EF4-FFF2-40B4-BE49-F238E27FC236}">
                <a16:creationId xmlns:a16="http://schemas.microsoft.com/office/drawing/2014/main" id="{22240DDC-56A4-8FC1-2E51-1F816260E1A8}"/>
              </a:ext>
            </a:extLst>
          </p:cNvPr>
          <p:cNvCxnSpPr>
            <a:cxnSpLocks/>
          </p:cNvCxnSpPr>
          <p:nvPr/>
        </p:nvCxnSpPr>
        <p:spPr>
          <a:xfrm>
            <a:off x="6954466" y="5420398"/>
            <a:ext cx="246151" cy="393562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文字方塊 109">
            <a:extLst>
              <a:ext uri="{FF2B5EF4-FFF2-40B4-BE49-F238E27FC236}">
                <a16:creationId xmlns:a16="http://schemas.microsoft.com/office/drawing/2014/main" id="{2EB527A4-12A0-E5E9-C72D-F0DBBBCA2298}"/>
              </a:ext>
            </a:extLst>
          </p:cNvPr>
          <p:cNvSpPr txBox="1"/>
          <p:nvPr/>
        </p:nvSpPr>
        <p:spPr>
          <a:xfrm>
            <a:off x="3303468" y="2690900"/>
            <a:ext cx="9974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 err="1"/>
              <a:t>Softmax</a:t>
            </a:r>
            <a:endParaRPr kumimoji="1" lang="zh-TW" altLang="en-US" dirty="0"/>
          </a:p>
        </p:txBody>
      </p:sp>
      <p:sp>
        <p:nvSpPr>
          <p:cNvPr id="111" name="文字方塊 110">
            <a:extLst>
              <a:ext uri="{FF2B5EF4-FFF2-40B4-BE49-F238E27FC236}">
                <a16:creationId xmlns:a16="http://schemas.microsoft.com/office/drawing/2014/main" id="{8B28E3C3-976E-F17D-8A99-3F8B4B5525B2}"/>
              </a:ext>
            </a:extLst>
          </p:cNvPr>
          <p:cNvSpPr txBox="1"/>
          <p:nvPr/>
        </p:nvSpPr>
        <p:spPr>
          <a:xfrm>
            <a:off x="4354924" y="3586842"/>
            <a:ext cx="9974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 err="1"/>
              <a:t>Softmax</a:t>
            </a:r>
            <a:endParaRPr kumimoji="1" lang="zh-TW" altLang="en-US" dirty="0"/>
          </a:p>
        </p:txBody>
      </p:sp>
      <p:sp>
        <p:nvSpPr>
          <p:cNvPr id="112" name="文字方塊 111">
            <a:extLst>
              <a:ext uri="{FF2B5EF4-FFF2-40B4-BE49-F238E27FC236}">
                <a16:creationId xmlns:a16="http://schemas.microsoft.com/office/drawing/2014/main" id="{C8BF67E1-772E-FE60-8806-2D55FE3D088F}"/>
              </a:ext>
            </a:extLst>
          </p:cNvPr>
          <p:cNvSpPr txBox="1"/>
          <p:nvPr/>
        </p:nvSpPr>
        <p:spPr>
          <a:xfrm>
            <a:off x="5334496" y="4605015"/>
            <a:ext cx="9974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 err="1"/>
              <a:t>Softmax</a:t>
            </a:r>
            <a:endParaRPr kumimoji="1" lang="zh-TW" altLang="en-US" dirty="0"/>
          </a:p>
        </p:txBody>
      </p:sp>
      <p:sp>
        <p:nvSpPr>
          <p:cNvPr id="113" name="文字方塊 112">
            <a:extLst>
              <a:ext uri="{FF2B5EF4-FFF2-40B4-BE49-F238E27FC236}">
                <a16:creationId xmlns:a16="http://schemas.microsoft.com/office/drawing/2014/main" id="{38F08AC2-4287-A58C-510A-DA493D3D2266}"/>
              </a:ext>
            </a:extLst>
          </p:cNvPr>
          <p:cNvSpPr txBox="1"/>
          <p:nvPr/>
        </p:nvSpPr>
        <p:spPr>
          <a:xfrm>
            <a:off x="7255396" y="5352352"/>
            <a:ext cx="9974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 err="1"/>
              <a:t>Softmax</a:t>
            </a:r>
            <a:endParaRPr kumimoji="1" lang="zh-TW" altLang="en-US" dirty="0"/>
          </a:p>
        </p:txBody>
      </p:sp>
      <p:sp>
        <p:nvSpPr>
          <p:cNvPr id="114" name="文字方塊 113">
            <a:extLst>
              <a:ext uri="{FF2B5EF4-FFF2-40B4-BE49-F238E27FC236}">
                <a16:creationId xmlns:a16="http://schemas.microsoft.com/office/drawing/2014/main" id="{9A016994-99A7-75A0-1E81-0425CFA6E1E5}"/>
              </a:ext>
            </a:extLst>
          </p:cNvPr>
          <p:cNvSpPr txBox="1"/>
          <p:nvPr/>
        </p:nvSpPr>
        <p:spPr>
          <a:xfrm>
            <a:off x="8639476" y="5432605"/>
            <a:ext cx="29568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訓練目標為</a:t>
            </a:r>
            <a:r>
              <a:rPr kumimoji="1" lang="zh-TW" altLang="en-US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最大化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路徑中每個節點經過</a:t>
            </a:r>
            <a:r>
              <a:rPr kumimoji="1" lang="en-US" altLang="zh-TW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Softmax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後結果相乘的機率值</a:t>
            </a:r>
          </a:p>
        </p:txBody>
      </p:sp>
      <p:sp>
        <p:nvSpPr>
          <p:cNvPr id="115" name="文字方塊 114">
            <a:extLst>
              <a:ext uri="{FF2B5EF4-FFF2-40B4-BE49-F238E27FC236}">
                <a16:creationId xmlns:a16="http://schemas.microsoft.com/office/drawing/2014/main" id="{8736E733-A923-0C16-2A55-B155B4A3A580}"/>
              </a:ext>
            </a:extLst>
          </p:cNvPr>
          <p:cNvSpPr txBox="1"/>
          <p:nvPr/>
        </p:nvSpPr>
        <p:spPr>
          <a:xfrm>
            <a:off x="7975847" y="872796"/>
            <a:ext cx="393651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" altLang="zh-TW" sz="1200" dirty="0" err="1"/>
              <a:t>Mikolov</a:t>
            </a:r>
            <a:r>
              <a:rPr kumimoji="1" lang="en" altLang="zh-TW" sz="1200" dirty="0"/>
              <a:t> et al. "Distributed representations of words and phrases and their compositionality." </a:t>
            </a:r>
            <a:r>
              <a:rPr kumimoji="1" lang="en" altLang="zh-TW" sz="1200" dirty="0" err="1"/>
              <a:t>NeurIPS</a:t>
            </a:r>
            <a:r>
              <a:rPr kumimoji="1" lang="en" altLang="zh-TW" sz="1200" dirty="0"/>
              <a:t> 2013.</a:t>
            </a:r>
            <a:endParaRPr kumimoji="1" lang="zh-TW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331925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" grpId="0"/>
      <p:bldP spid="94" grpId="0"/>
      <p:bldP spid="110" grpId="0"/>
      <p:bldP spid="110" grpId="1"/>
      <p:bldP spid="111" grpId="0"/>
      <p:bldP spid="111" grpId="1"/>
      <p:bldP spid="112" grpId="0"/>
      <p:bldP spid="112" grpId="1"/>
      <p:bldP spid="113" grpId="0"/>
      <p:bldP spid="114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0129443-E50B-2575-8E32-CB551DA76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Negative Sampling Overview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1A745EB-EEBB-9902-0D04-0589C7CC3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5D122DBF-FAF0-4FD8-019C-866337853A62}"/>
              </a:ext>
            </a:extLst>
          </p:cNvPr>
          <p:cNvSpPr txBox="1"/>
          <p:nvPr/>
        </p:nvSpPr>
        <p:spPr>
          <a:xfrm>
            <a:off x="2668215" y="6459622"/>
            <a:ext cx="741968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" altLang="zh-TW" sz="1200" dirty="0" err="1"/>
              <a:t>Mikolov</a:t>
            </a:r>
            <a:r>
              <a:rPr kumimoji="1" lang="en" altLang="zh-TW" sz="1200" dirty="0"/>
              <a:t> et al. "Distributed representations of words and phrases and their compositionality." </a:t>
            </a:r>
            <a:r>
              <a:rPr kumimoji="1" lang="en" altLang="zh-TW" sz="1200" dirty="0" err="1"/>
              <a:t>NeurIPS</a:t>
            </a:r>
            <a:r>
              <a:rPr kumimoji="1" lang="en" altLang="zh-TW" sz="1200" dirty="0"/>
              <a:t> 2013.</a:t>
            </a:r>
            <a:endParaRPr kumimoji="1" lang="zh-TW" alt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C69450B4-2F31-D91C-6B28-1600E3008A67}"/>
                  </a:ext>
                </a:extLst>
              </p:cNvPr>
              <p:cNvSpPr txBox="1"/>
              <p:nvPr/>
            </p:nvSpPr>
            <p:spPr>
              <a:xfrm>
                <a:off x="1209723" y="1889819"/>
                <a:ext cx="9772554" cy="28126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zh-TW" altLang="en-US" sz="2000" dirty="0"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目標：訓練時不更新整個</a:t>
                </a:r>
                <a:r>
                  <a:rPr kumimoji="1" lang="en-US" altLang="zh-TW" sz="2000" dirty="0"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zh-TW" sz="1800" i="1" kern="10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TW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h</m:t>
                        </m:r>
                        <m:r>
                          <a:rPr lang="zh-TW" altLang="zh-TW" sz="1800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→</m:t>
                        </m:r>
                        <m:r>
                          <a:rPr lang="en-US" altLang="zh-TW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kumimoji="1" lang="zh-TW" altLang="en-US" sz="2000" dirty="0"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 </a:t>
                </a:r>
                <a:r>
                  <a:rPr kumimoji="1" lang="en-US" altLang="zh-TW" sz="2000" dirty="0"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(</a:t>
                </a:r>
                <a:r>
                  <a:rPr kumimoji="1" lang="zh-TW" altLang="en-US" sz="2000" dirty="0"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將隱藏狀態轉移至字典大小的分類層</a:t>
                </a:r>
                <a:r>
                  <a:rPr kumimoji="1" lang="en-US" altLang="zh-TW" sz="2000" dirty="0"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)</a:t>
                </a:r>
                <a:r>
                  <a:rPr kumimoji="1" lang="zh-TW" altLang="en-US" sz="2000" dirty="0"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，僅更新正確答案以及採樣到 </a:t>
                </a:r>
                <a:r>
                  <a:rPr kumimoji="1" lang="en-US" altLang="zh-TW" sz="2000" dirty="0"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(sampled) </a:t>
                </a:r>
                <a:r>
                  <a:rPr kumimoji="1" lang="zh-TW" altLang="en-US" sz="2000" dirty="0"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的負向字</a:t>
                </a:r>
                <a:endParaRPr kumimoji="1" lang="en-US" altLang="zh-TW" sz="2000" dirty="0">
                  <a:latin typeface="Calibri" panose="020F0502020204030204" pitchFamily="34" charset="0"/>
                  <a:ea typeface="Microsoft JhengHei" panose="020B0604030504040204" pitchFamily="34" charset="-120"/>
                  <a:cs typeface="Calibri" panose="020F0502020204030204" pitchFamily="34" charset="0"/>
                </a:endParaRPr>
              </a:p>
              <a:p>
                <a:pPr marL="342900" indent="-3429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en-US" altLang="zh-TW" sz="2000" dirty="0"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P(</a:t>
                </a:r>
                <a:r>
                  <a:rPr kumimoji="1" lang="en-US" altLang="zh-TW" sz="2000" dirty="0" err="1"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Mangosteen|fruit</a:t>
                </a:r>
                <a:r>
                  <a:rPr kumimoji="1" lang="en-US" altLang="zh-TW" sz="2000" dirty="0"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)=?</a:t>
                </a:r>
              </a:p>
              <a:p>
                <a:pPr marL="800100" lvl="1" indent="-3429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en-US" altLang="zh-TW" sz="2000" dirty="0"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TV</a:t>
                </a:r>
                <a:r>
                  <a:rPr kumimoji="1" lang="zh-TW" altLang="en-US" sz="2000" dirty="0"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 可能跟</a:t>
                </a:r>
                <a:r>
                  <a:rPr kumimoji="1" lang="en-US" altLang="zh-TW" sz="2000" dirty="0"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 fruit </a:t>
                </a:r>
                <a:r>
                  <a:rPr kumimoji="1" lang="zh-TW" altLang="en-US" sz="2000" dirty="0"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無關</a:t>
                </a:r>
                <a:endParaRPr kumimoji="1" lang="en-US" altLang="zh-TW" sz="2000" dirty="0">
                  <a:latin typeface="Calibri" panose="020F0502020204030204" pitchFamily="34" charset="0"/>
                  <a:ea typeface="Microsoft JhengHei" panose="020B0604030504040204" pitchFamily="34" charset="-120"/>
                  <a:cs typeface="Calibri" panose="020F0502020204030204" pitchFamily="34" charset="0"/>
                </a:endParaRPr>
              </a:p>
              <a:p>
                <a:pPr marL="800100" lvl="1" indent="-3429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en-US" altLang="zh-TW" sz="2000" dirty="0"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python</a:t>
                </a:r>
                <a:r>
                  <a:rPr kumimoji="1" lang="zh-TW" altLang="en-US" sz="2000" dirty="0"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 可能也跟 </a:t>
                </a:r>
                <a:r>
                  <a:rPr kumimoji="1" lang="en-US" altLang="zh-TW" sz="2000" dirty="0"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fruit </a:t>
                </a:r>
                <a:r>
                  <a:rPr kumimoji="1" lang="zh-TW" altLang="en-US" sz="2000" dirty="0"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無關</a:t>
                </a:r>
                <a:endParaRPr kumimoji="1" lang="en-US" altLang="zh-TW" sz="2000" dirty="0">
                  <a:latin typeface="Calibri" panose="020F0502020204030204" pitchFamily="34" charset="0"/>
                  <a:ea typeface="Microsoft JhengHei" panose="020B0604030504040204" pitchFamily="34" charset="-120"/>
                  <a:cs typeface="Calibri" panose="020F0502020204030204" pitchFamily="34" charset="0"/>
                </a:endParaRPr>
              </a:p>
              <a:p>
                <a:pPr marL="342900" indent="-3429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zh-TW" altLang="en-US" sz="2000" dirty="0"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如何採樣負向的字？論文中使用 </a:t>
                </a:r>
                <a:r>
                  <a:rPr kumimoji="1" lang="en-US" altLang="zh-TW" sz="2000" dirty="0"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Uniform Distribution</a:t>
                </a:r>
                <a:r>
                  <a:rPr kumimoji="1" lang="zh-TW" altLang="en-US" sz="2000" dirty="0"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 的小改版</a:t>
                </a:r>
                <a:endParaRPr kumimoji="1" lang="en-US" altLang="zh-TW" sz="2000" dirty="0">
                  <a:latin typeface="Calibri" panose="020F0502020204030204" pitchFamily="34" charset="0"/>
                  <a:ea typeface="Microsoft JhengHei" panose="020B0604030504040204" pitchFamily="34" charset="-12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C69450B4-2F31-D91C-6B28-1600E3008A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9723" y="1889819"/>
                <a:ext cx="9772554" cy="2812693"/>
              </a:xfrm>
              <a:prstGeom prst="rect">
                <a:avLst/>
              </a:prstGeom>
              <a:blipFill>
                <a:blip r:embed="rId2"/>
                <a:stretch>
                  <a:fillRect l="-519" r="-649" b="-269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18589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0129443-E50B-2575-8E32-CB551DA76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Negative Sampling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1A745EB-EEBB-9902-0D04-0589C7CC3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5D122DBF-FAF0-4FD8-019C-866337853A62}"/>
              </a:ext>
            </a:extLst>
          </p:cNvPr>
          <p:cNvSpPr txBox="1"/>
          <p:nvPr/>
        </p:nvSpPr>
        <p:spPr>
          <a:xfrm>
            <a:off x="2351746" y="6488239"/>
            <a:ext cx="748850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" altLang="zh-TW" sz="1200" dirty="0" err="1"/>
              <a:t>Mikolov</a:t>
            </a:r>
            <a:r>
              <a:rPr kumimoji="1" lang="en" altLang="zh-TW" sz="1200" dirty="0"/>
              <a:t> et al. "Distributed representations of words and phrases and their compositionality." </a:t>
            </a:r>
            <a:r>
              <a:rPr kumimoji="1" lang="en" altLang="zh-TW" sz="1200" dirty="0" err="1"/>
              <a:t>NeurIPS</a:t>
            </a:r>
            <a:r>
              <a:rPr kumimoji="1" lang="en" altLang="zh-TW" sz="1200" dirty="0"/>
              <a:t> 2013.</a:t>
            </a:r>
            <a:endParaRPr kumimoji="1" lang="zh-TW" altLang="en-US" sz="1200" dirty="0"/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5672E91F-2E32-5B7E-5789-DDFCC725AAFB}"/>
              </a:ext>
            </a:extLst>
          </p:cNvPr>
          <p:cNvSpPr txBox="1"/>
          <p:nvPr/>
        </p:nvSpPr>
        <p:spPr>
          <a:xfrm>
            <a:off x="653143" y="1861372"/>
            <a:ext cx="3179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" altLang="zh-TW" sz="2400" dirty="0"/>
              <a:t>P(</a:t>
            </a:r>
            <a:r>
              <a:rPr kumimoji="1" lang="en" altLang="zh-TW" sz="2400" dirty="0" err="1"/>
              <a:t>Mangosteen|fruit</a:t>
            </a:r>
            <a:r>
              <a:rPr kumimoji="1" lang="en" altLang="zh-TW" sz="2400" dirty="0"/>
              <a:t>)=?</a:t>
            </a:r>
            <a:endParaRPr kumimoji="1" lang="zh-TW" altLang="en-US" sz="2400" dirty="0"/>
          </a:p>
        </p:txBody>
      </p:sp>
      <p:sp>
        <p:nvSpPr>
          <p:cNvPr id="30" name="圓角矩形 29">
            <a:extLst>
              <a:ext uri="{FF2B5EF4-FFF2-40B4-BE49-F238E27FC236}">
                <a16:creationId xmlns:a16="http://schemas.microsoft.com/office/drawing/2014/main" id="{1CCFAED5-224A-8849-E807-9253986835E2}"/>
              </a:ext>
            </a:extLst>
          </p:cNvPr>
          <p:cNvSpPr/>
          <p:nvPr/>
        </p:nvSpPr>
        <p:spPr>
          <a:xfrm>
            <a:off x="2514928" y="3727496"/>
            <a:ext cx="1321026" cy="739322"/>
          </a:xfrm>
          <a:prstGeom prst="round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Dot product</a:t>
            </a:r>
            <a:endParaRPr kumimoji="1" lang="zh-TW" altLang="en-US" sz="2400" dirty="0">
              <a:solidFill>
                <a:schemeClr val="tx1"/>
              </a:solidFill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  <p:cxnSp>
        <p:nvCxnSpPr>
          <p:cNvPr id="31" name="直線箭頭接點 30">
            <a:extLst>
              <a:ext uri="{FF2B5EF4-FFF2-40B4-BE49-F238E27FC236}">
                <a16:creationId xmlns:a16="http://schemas.microsoft.com/office/drawing/2014/main" id="{72A8C2E1-EC3D-4914-AA91-05A430104517}"/>
              </a:ext>
            </a:extLst>
          </p:cNvPr>
          <p:cNvCxnSpPr>
            <a:cxnSpLocks/>
          </p:cNvCxnSpPr>
          <p:nvPr/>
        </p:nvCxnSpPr>
        <p:spPr>
          <a:xfrm>
            <a:off x="4114800" y="4116664"/>
            <a:ext cx="91775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50817BA9-7665-4411-E539-81AC703A62AC}"/>
              </a:ext>
            </a:extLst>
          </p:cNvPr>
          <p:cNvSpPr txBox="1"/>
          <p:nvPr/>
        </p:nvSpPr>
        <p:spPr>
          <a:xfrm>
            <a:off x="6042043" y="2115155"/>
            <a:ext cx="171160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TV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Mangosteen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NLP</a:t>
            </a:r>
          </a:p>
          <a:p>
            <a:r>
              <a:rPr kumimoji="1" lang="en-US" altLang="zh-TW" dirty="0"/>
              <a:t>...</a:t>
            </a:r>
          </a:p>
          <a:p>
            <a:endParaRPr kumimoji="1" lang="en-US" altLang="zh-TW" dirty="0"/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python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zip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zh-TW" altLang="en-US" dirty="0"/>
              <a:t>。</a:t>
            </a: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F008D59A-2271-990F-457A-A2EDBEA63AEB}"/>
              </a:ext>
            </a:extLst>
          </p:cNvPr>
          <p:cNvSpPr txBox="1"/>
          <p:nvPr/>
        </p:nvSpPr>
        <p:spPr>
          <a:xfrm>
            <a:off x="7587620" y="2115155"/>
            <a:ext cx="124672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0.0001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>
                <a:solidFill>
                  <a:schemeClr val="accent6"/>
                </a:solidFill>
              </a:rPr>
              <a:t>0.600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/>
              <a:t>0.0001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/>
              <a:t>0.0003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/>
              <a:t>0.0001</a:t>
            </a:r>
            <a:endParaRPr kumimoji="1" lang="en-US" altLang="zh-TW" dirty="0">
              <a:solidFill>
                <a:srgbClr val="FF0000"/>
              </a:solidFill>
            </a:endParaRP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/>
              <a:t>0.0001</a:t>
            </a:r>
            <a:endParaRPr kumimoji="1" lang="en-US" altLang="zh-TW" dirty="0">
              <a:solidFill>
                <a:srgbClr val="FF0000"/>
              </a:solidFill>
            </a:endParaRP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/>
              <a:t>0.0001</a:t>
            </a:r>
            <a:endParaRPr kumimoji="1" lang="zh-TW" altLang="en-US" dirty="0"/>
          </a:p>
        </p:txBody>
      </p:sp>
      <p:cxnSp>
        <p:nvCxnSpPr>
          <p:cNvPr id="34" name="直線接點 33">
            <a:extLst>
              <a:ext uri="{FF2B5EF4-FFF2-40B4-BE49-F238E27FC236}">
                <a16:creationId xmlns:a16="http://schemas.microsoft.com/office/drawing/2014/main" id="{1322D015-BC14-4802-4818-39A9B4DF5D75}"/>
              </a:ext>
            </a:extLst>
          </p:cNvPr>
          <p:cNvCxnSpPr/>
          <p:nvPr/>
        </p:nvCxnSpPr>
        <p:spPr>
          <a:xfrm flipV="1">
            <a:off x="5183943" y="2270939"/>
            <a:ext cx="728432" cy="18262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接點 34">
            <a:extLst>
              <a:ext uri="{FF2B5EF4-FFF2-40B4-BE49-F238E27FC236}">
                <a16:creationId xmlns:a16="http://schemas.microsoft.com/office/drawing/2014/main" id="{858816A1-6A3E-ED9F-C773-12BCAA7E84DC}"/>
              </a:ext>
            </a:extLst>
          </p:cNvPr>
          <p:cNvCxnSpPr>
            <a:cxnSpLocks/>
          </p:cNvCxnSpPr>
          <p:nvPr/>
        </p:nvCxnSpPr>
        <p:spPr>
          <a:xfrm flipH="1" flipV="1">
            <a:off x="5183943" y="4194451"/>
            <a:ext cx="728432" cy="18262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右大括弧 36">
            <a:extLst>
              <a:ext uri="{FF2B5EF4-FFF2-40B4-BE49-F238E27FC236}">
                <a16:creationId xmlns:a16="http://schemas.microsoft.com/office/drawing/2014/main" id="{35216031-B41F-F608-C54D-9FBAF2BAFCBB}"/>
              </a:ext>
            </a:extLst>
          </p:cNvPr>
          <p:cNvSpPr/>
          <p:nvPr/>
        </p:nvSpPr>
        <p:spPr>
          <a:xfrm>
            <a:off x="8560419" y="2208970"/>
            <a:ext cx="373278" cy="378268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F026CA4A-9BAA-E7B7-B4DE-E39EE74BC3BB}"/>
              </a:ext>
            </a:extLst>
          </p:cNvPr>
          <p:cNvSpPr txBox="1"/>
          <p:nvPr/>
        </p:nvSpPr>
        <p:spPr>
          <a:xfrm>
            <a:off x="6028213" y="1719590"/>
            <a:ext cx="839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rgbClr val="0070C0"/>
                </a:solidFill>
              </a:rPr>
              <a:t>Vocab</a:t>
            </a:r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4FDCF5D9-269C-0798-EBD9-BBD514381DC1}"/>
              </a:ext>
            </a:extLst>
          </p:cNvPr>
          <p:cNvSpPr txBox="1"/>
          <p:nvPr/>
        </p:nvSpPr>
        <p:spPr>
          <a:xfrm>
            <a:off x="7572756" y="1719590"/>
            <a:ext cx="839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rgbClr val="0070C0"/>
                </a:solidFill>
              </a:rPr>
              <a:t>Prob</a:t>
            </a:r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B95F6156-B647-1788-CFD9-3961762B7CFC}"/>
              </a:ext>
            </a:extLst>
          </p:cNvPr>
          <p:cNvSpPr txBox="1"/>
          <p:nvPr/>
        </p:nvSpPr>
        <p:spPr>
          <a:xfrm>
            <a:off x="3948229" y="3663092"/>
            <a:ext cx="13210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" altLang="zh-TW" sz="2000" dirty="0" err="1"/>
              <a:t>Softmax</a:t>
            </a:r>
            <a:endParaRPr kumimoji="1" lang="zh-TW" altLang="en-US" sz="2000" dirty="0"/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2CA5BAB8-A414-15A2-F9CC-C3393169487F}"/>
              </a:ext>
            </a:extLst>
          </p:cNvPr>
          <p:cNvSpPr txBox="1"/>
          <p:nvPr/>
        </p:nvSpPr>
        <p:spPr>
          <a:xfrm>
            <a:off x="8933697" y="3773991"/>
            <a:ext cx="8396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Vocab</a:t>
            </a:r>
          </a:p>
          <a:p>
            <a:pPr algn="ctr"/>
            <a:r>
              <a:rPr kumimoji="1" lang="en-US" altLang="zh-TW" dirty="0"/>
              <a:t>size</a:t>
            </a:r>
            <a:endParaRPr kumimoji="1" lang="zh-TW" altLang="en-US" dirty="0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0EE27B41-06EF-7090-BEFD-4C90A3D9832A}"/>
              </a:ext>
            </a:extLst>
          </p:cNvPr>
          <p:cNvSpPr/>
          <p:nvPr/>
        </p:nvSpPr>
        <p:spPr>
          <a:xfrm>
            <a:off x="6028213" y="2088922"/>
            <a:ext cx="2532206" cy="38585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D1208734-E938-E1C2-AB01-0CC10DF981E0}"/>
              </a:ext>
            </a:extLst>
          </p:cNvPr>
          <p:cNvSpPr/>
          <p:nvPr/>
        </p:nvSpPr>
        <p:spPr>
          <a:xfrm>
            <a:off x="6023979" y="4354044"/>
            <a:ext cx="2532206" cy="32377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78831E80-7748-7FC7-4BBA-7D25FE36F85A}"/>
              </a:ext>
            </a:extLst>
          </p:cNvPr>
          <p:cNvSpPr txBox="1"/>
          <p:nvPr/>
        </p:nvSpPr>
        <p:spPr>
          <a:xfrm>
            <a:off x="8860275" y="2115155"/>
            <a:ext cx="1561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solidFill>
                  <a:srgbClr val="FF0000"/>
                </a:solidFill>
              </a:rPr>
              <a:t>Negative word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F982E789-47FA-D60C-420D-21C33DBF5C7B}"/>
              </a:ext>
            </a:extLst>
          </p:cNvPr>
          <p:cNvSpPr txBox="1"/>
          <p:nvPr/>
        </p:nvSpPr>
        <p:spPr>
          <a:xfrm>
            <a:off x="8834340" y="4481469"/>
            <a:ext cx="1561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solidFill>
                  <a:srgbClr val="FF0000"/>
                </a:solidFill>
              </a:rPr>
              <a:t>Negative word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018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46" grpId="0" animBg="1"/>
      <p:bldP spid="47" grpId="0"/>
      <p:bldP spid="48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DE57E2B-413E-80E9-3714-C6A53AED8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/>
              <a:t>Negative Sampling Details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19A8D9D-758F-4C48-CE78-69277CC37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31EA04AD-C535-BD34-0835-8552F71ED69C}"/>
              </a:ext>
            </a:extLst>
          </p:cNvPr>
          <p:cNvSpPr txBox="1"/>
          <p:nvPr/>
        </p:nvSpPr>
        <p:spPr>
          <a:xfrm>
            <a:off x="1209723" y="1889819"/>
            <a:ext cx="9772554" cy="22510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Negative words </a:t>
            </a:r>
            <a:r>
              <a:rPr kumimoji="1" lang="zh-TW" altLang="en-US" sz="24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要設定成多少呢？</a:t>
            </a:r>
            <a:endParaRPr kumimoji="1" lang="en-US" altLang="zh-TW" sz="2400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5–20 are useful for small training datasets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2–5</a:t>
            </a:r>
            <a:r>
              <a:rPr kumimoji="1" lang="zh-TW" altLang="en-US" sz="24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 </a:t>
            </a:r>
            <a:r>
              <a:rPr kumimoji="1" lang="en-US" altLang="zh-TW" sz="24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for large training datasets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(Empirical setting; Hyperparameter)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A4243352-1137-C1C7-E7E2-80D9533CAE4F}"/>
              </a:ext>
            </a:extLst>
          </p:cNvPr>
          <p:cNvSpPr txBox="1"/>
          <p:nvPr/>
        </p:nvSpPr>
        <p:spPr>
          <a:xfrm>
            <a:off x="3195587" y="6046228"/>
            <a:ext cx="59015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" altLang="zh-TW" dirty="0"/>
              <a:t>https://</a:t>
            </a:r>
            <a:r>
              <a:rPr kumimoji="1" lang="en" altLang="zh-TW" dirty="0" err="1"/>
              <a:t>radimrehurek.com</a:t>
            </a:r>
            <a:r>
              <a:rPr kumimoji="1" lang="en" altLang="zh-TW" dirty="0"/>
              <a:t>/</a:t>
            </a:r>
            <a:r>
              <a:rPr kumimoji="1" lang="en" altLang="zh-TW" dirty="0" err="1"/>
              <a:t>gensim</a:t>
            </a:r>
            <a:r>
              <a:rPr kumimoji="1" lang="en" altLang="zh-TW" dirty="0"/>
              <a:t>/models/word2vec.html</a:t>
            </a:r>
            <a:endParaRPr kumimoji="1" lang="zh-TW" alt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4BE5800F-CC75-E840-54F6-E28E3A345CA6}"/>
              </a:ext>
            </a:extLst>
          </p:cNvPr>
          <p:cNvSpPr txBox="1"/>
          <p:nvPr/>
        </p:nvSpPr>
        <p:spPr>
          <a:xfrm>
            <a:off x="2415346" y="6459622"/>
            <a:ext cx="736130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" altLang="zh-TW" sz="1200" dirty="0" err="1"/>
              <a:t>Mikolov</a:t>
            </a:r>
            <a:r>
              <a:rPr kumimoji="1" lang="en" altLang="zh-TW" sz="1200" dirty="0"/>
              <a:t> et al. "Distributed representations of words and phrases and their compositionality." </a:t>
            </a:r>
            <a:r>
              <a:rPr kumimoji="1" lang="en" altLang="zh-TW" sz="1200" dirty="0" err="1"/>
              <a:t>NeurIPS</a:t>
            </a:r>
            <a:r>
              <a:rPr kumimoji="1" lang="en" altLang="zh-TW" sz="1200" dirty="0"/>
              <a:t> 2013.</a:t>
            </a:r>
            <a:endParaRPr kumimoji="1" lang="zh-TW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17999397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CE7E392-00F1-61FC-BF38-B0E28AB40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>
                <a:ea typeface="Microsoft JhengHei" panose="020B0604030504040204" pitchFamily="34" charset="-120"/>
              </a:rPr>
              <a:t>詞向量視覺化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638B8CE-C60A-4A78-2541-F84CEF11B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37</a:t>
            </a:fld>
            <a:endParaRPr 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46151C0-B1BF-7497-8E28-2F7BCC4B0F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292" y="1557721"/>
            <a:ext cx="6011384" cy="5133189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3557E704-125A-EF70-D429-ABC780369747}"/>
              </a:ext>
            </a:extLst>
          </p:cNvPr>
          <p:cNvSpPr txBox="1"/>
          <p:nvPr/>
        </p:nvSpPr>
        <p:spPr>
          <a:xfrm>
            <a:off x="7667928" y="3240812"/>
            <a:ext cx="396826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" altLang="zh-TW" sz="2000" b="1" dirty="0"/>
              <a:t>Word embedding model</a:t>
            </a:r>
            <a:r>
              <a:rPr kumimoji="1" lang="en" altLang="zh-TW" sz="2000" dirty="0"/>
              <a:t>: glove-wiki-gigaword-100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" altLang="zh-TW" sz="2000" b="1" dirty="0"/>
              <a:t>Dimension reduction</a:t>
            </a:r>
            <a:r>
              <a:rPr kumimoji="1" lang="en" altLang="zh-TW" sz="2000" dirty="0"/>
              <a:t>: t-SNE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" altLang="zh-TW" sz="2000" b="1" dirty="0"/>
              <a:t>Dataset</a:t>
            </a:r>
            <a:r>
              <a:rPr kumimoji="1" lang="en" altLang="zh-TW" sz="2000" dirty="0"/>
              <a:t>: </a:t>
            </a:r>
            <a:r>
              <a:rPr kumimoji="1" lang="en" altLang="zh-TW" sz="2000" dirty="0" err="1"/>
              <a:t>Mikolov</a:t>
            </a:r>
            <a:r>
              <a:rPr kumimoji="1" lang="en" altLang="zh-TW" sz="2000" dirty="0"/>
              <a:t> et al., 2013</a:t>
            </a:r>
            <a:endParaRPr kumimoji="1" lang="zh-TW" altLang="en-US" sz="2000" dirty="0"/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51778C95-37F2-B28D-A2C8-77A90C6E23DE}"/>
              </a:ext>
            </a:extLst>
          </p:cNvPr>
          <p:cNvSpPr/>
          <p:nvPr/>
        </p:nvSpPr>
        <p:spPr>
          <a:xfrm>
            <a:off x="1329179" y="2658359"/>
            <a:ext cx="933254" cy="89554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3DCDC302-2CFE-CC16-3AD9-85A53F6AE5AD}"/>
              </a:ext>
            </a:extLst>
          </p:cNvPr>
          <p:cNvSpPr/>
          <p:nvPr/>
        </p:nvSpPr>
        <p:spPr>
          <a:xfrm>
            <a:off x="4922363" y="5702576"/>
            <a:ext cx="771427" cy="63223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D0342A97-F928-6D38-D328-DA1982130823}"/>
              </a:ext>
            </a:extLst>
          </p:cNvPr>
          <p:cNvSpPr txBox="1"/>
          <p:nvPr/>
        </p:nvSpPr>
        <p:spPr>
          <a:xfrm>
            <a:off x="7861955" y="5240911"/>
            <a:ext cx="29788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Try it: https://</a:t>
            </a:r>
            <a:r>
              <a:rPr kumimoji="1" lang="en-US" altLang="zh-TW" dirty="0" err="1"/>
              <a:t>www.cs.cmu.edu</a:t>
            </a:r>
            <a:r>
              <a:rPr kumimoji="1" lang="en-US" altLang="zh-TW" dirty="0"/>
              <a:t>/~</a:t>
            </a:r>
            <a:r>
              <a:rPr kumimoji="1" lang="en-US" altLang="zh-TW" dirty="0" err="1"/>
              <a:t>dst</a:t>
            </a:r>
            <a:r>
              <a:rPr kumimoji="1" lang="en-US" altLang="zh-TW" dirty="0"/>
              <a:t>/</a:t>
            </a:r>
            <a:r>
              <a:rPr kumimoji="1" lang="en-US" altLang="zh-TW" dirty="0" err="1"/>
              <a:t>WordEmbeddingDemo</a:t>
            </a:r>
            <a:r>
              <a:rPr kumimoji="1" lang="en-US" altLang="zh-TW" dirty="0"/>
              <a:t>/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45529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0D7C333-BDBC-194B-D818-DC81A3680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TW" dirty="0"/>
              <a:t>Word pairs illustrating the gender relation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3EB1F19-645D-8F69-EB89-1806CEF61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38</a:t>
            </a:fld>
            <a:endParaRPr 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1FBF5070-E7E5-4521-1360-45DC522277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1900" y="2299034"/>
            <a:ext cx="7188200" cy="2628900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C1C1F825-FC5B-4D7C-C308-648ED1EB5E87}"/>
              </a:ext>
            </a:extLst>
          </p:cNvPr>
          <p:cNvSpPr txBox="1"/>
          <p:nvPr/>
        </p:nvSpPr>
        <p:spPr>
          <a:xfrm>
            <a:off x="2085139" y="6332635"/>
            <a:ext cx="80217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" altLang="zh-TW" sz="1400" dirty="0" err="1"/>
              <a:t>Mikolov</a:t>
            </a:r>
            <a:r>
              <a:rPr kumimoji="1" lang="en" altLang="zh-TW" sz="1400" dirty="0"/>
              <a:t> et al. “Linguistic regularities in continuous space word representations.” NAACL 2013.</a:t>
            </a:r>
            <a:endParaRPr kumimoji="1" lang="zh-TW" altLang="en-US" sz="1400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E7203651-94CE-3770-B53D-C131066CF7C2}"/>
              </a:ext>
            </a:extLst>
          </p:cNvPr>
          <p:cNvSpPr txBox="1"/>
          <p:nvPr/>
        </p:nvSpPr>
        <p:spPr>
          <a:xfrm>
            <a:off x="7245626" y="4651514"/>
            <a:ext cx="9337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a</a:t>
            </a:r>
            <a:endParaRPr kumimoji="1" lang="zh-TW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5A190BB5-ABAF-144D-28B1-3CF8D58052EB}"/>
              </a:ext>
            </a:extLst>
          </p:cNvPr>
          <p:cNvSpPr txBox="1"/>
          <p:nvPr/>
        </p:nvSpPr>
        <p:spPr>
          <a:xfrm>
            <a:off x="2631791" y="2872409"/>
            <a:ext cx="538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a</a:t>
            </a:r>
            <a:endParaRPr kumimoji="1" lang="zh-TW" alt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19C55855-23B7-37FB-7136-0E7682D9F53D}"/>
              </a:ext>
            </a:extLst>
          </p:cNvPr>
          <p:cNvSpPr txBox="1"/>
          <p:nvPr/>
        </p:nvSpPr>
        <p:spPr>
          <a:xfrm>
            <a:off x="3864243" y="2114368"/>
            <a:ext cx="538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b</a:t>
            </a:r>
            <a:endParaRPr kumimoji="1" lang="zh-TW" altLang="en-US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812B91C7-36AC-BBCA-3F9C-32929548219A}"/>
              </a:ext>
            </a:extLst>
          </p:cNvPr>
          <p:cNvSpPr txBox="1"/>
          <p:nvPr/>
        </p:nvSpPr>
        <p:spPr>
          <a:xfrm>
            <a:off x="3728408" y="3133183"/>
            <a:ext cx="538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c</a:t>
            </a:r>
            <a:endParaRPr kumimoji="1" lang="zh-TW" altLang="en-US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AED6F9F2-B6D6-01F2-C76E-5BAA1885AD09}"/>
              </a:ext>
            </a:extLst>
          </p:cNvPr>
          <p:cNvSpPr txBox="1"/>
          <p:nvPr/>
        </p:nvSpPr>
        <p:spPr>
          <a:xfrm>
            <a:off x="5143077" y="2424873"/>
            <a:ext cx="538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d</a:t>
            </a:r>
            <a:endParaRPr kumimoji="1" lang="zh-TW" altLang="en-US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8A137B65-8009-7B6B-0985-11571613A7E5}"/>
              </a:ext>
            </a:extLst>
          </p:cNvPr>
          <p:cNvSpPr txBox="1"/>
          <p:nvPr/>
        </p:nvSpPr>
        <p:spPr>
          <a:xfrm>
            <a:off x="4403034" y="1659603"/>
            <a:ext cx="15703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b - a = d - c</a:t>
            </a:r>
          </a:p>
          <a:p>
            <a:pPr algn="ctr"/>
            <a:r>
              <a:rPr kumimoji="1" lang="en-US" altLang="zh-TW" dirty="0"/>
              <a:t>d = b - a + c</a:t>
            </a:r>
            <a:endParaRPr kumimoji="1" lang="zh-TW" altLang="en-US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C7B5A92F-2499-1EF1-8D8E-01959EC93FC6}"/>
              </a:ext>
            </a:extLst>
          </p:cNvPr>
          <p:cNvSpPr txBox="1"/>
          <p:nvPr/>
        </p:nvSpPr>
        <p:spPr>
          <a:xfrm>
            <a:off x="6112328" y="3241741"/>
            <a:ext cx="9337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b</a:t>
            </a:r>
            <a:endParaRPr kumimoji="1" lang="zh-TW" altLang="en-US" dirty="0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5143DD92-2D23-B877-5EE1-3020EE7601BB}"/>
              </a:ext>
            </a:extLst>
          </p:cNvPr>
          <p:cNvSpPr txBox="1"/>
          <p:nvPr/>
        </p:nvSpPr>
        <p:spPr>
          <a:xfrm>
            <a:off x="8978110" y="3688049"/>
            <a:ext cx="9337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c</a:t>
            </a:r>
            <a:endParaRPr kumimoji="1" lang="zh-TW" altLang="en-US" dirty="0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53B0F743-F111-AE30-8AEE-D58877C6D844}"/>
              </a:ext>
            </a:extLst>
          </p:cNvPr>
          <p:cNvSpPr txBox="1"/>
          <p:nvPr/>
        </p:nvSpPr>
        <p:spPr>
          <a:xfrm>
            <a:off x="7752287" y="2328852"/>
            <a:ext cx="9337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d</a:t>
            </a:r>
            <a:endParaRPr kumimoji="1" lang="zh-TW" altLang="en-US" dirty="0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EE02D8FA-6458-8E86-CCDA-622936884687}"/>
              </a:ext>
            </a:extLst>
          </p:cNvPr>
          <p:cNvSpPr txBox="1"/>
          <p:nvPr/>
        </p:nvSpPr>
        <p:spPr>
          <a:xfrm>
            <a:off x="6483392" y="3810954"/>
            <a:ext cx="9337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b - a</a:t>
            </a:r>
            <a:endParaRPr kumimoji="1" lang="zh-TW" altLang="en-US" dirty="0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6FE0401F-66ED-C4EF-2552-36FB25A3CA44}"/>
              </a:ext>
            </a:extLst>
          </p:cNvPr>
          <p:cNvSpPr txBox="1"/>
          <p:nvPr/>
        </p:nvSpPr>
        <p:spPr>
          <a:xfrm>
            <a:off x="8424320" y="2948794"/>
            <a:ext cx="9337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d - c</a:t>
            </a:r>
            <a:endParaRPr kumimoji="1" lang="zh-TW" altLang="en-US" dirty="0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FC67A53A-C277-82B4-B190-57995933F186}"/>
              </a:ext>
            </a:extLst>
          </p:cNvPr>
          <p:cNvSpPr txBox="1"/>
          <p:nvPr/>
        </p:nvSpPr>
        <p:spPr>
          <a:xfrm>
            <a:off x="7971183" y="4331024"/>
            <a:ext cx="9337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c - a</a:t>
            </a:r>
            <a:endParaRPr kumimoji="1" lang="zh-TW" altLang="en-US" dirty="0"/>
          </a:p>
        </p:txBody>
      </p:sp>
      <p:cxnSp>
        <p:nvCxnSpPr>
          <p:cNvPr id="24" name="直線箭頭接點 23">
            <a:extLst>
              <a:ext uri="{FF2B5EF4-FFF2-40B4-BE49-F238E27FC236}">
                <a16:creationId xmlns:a16="http://schemas.microsoft.com/office/drawing/2014/main" id="{11AABA25-EEBC-6E36-55E1-E5D098F4EE0F}"/>
              </a:ext>
            </a:extLst>
          </p:cNvPr>
          <p:cNvCxnSpPr/>
          <p:nvPr/>
        </p:nvCxnSpPr>
        <p:spPr>
          <a:xfrm flipV="1">
            <a:off x="7006256" y="2796803"/>
            <a:ext cx="706233" cy="434999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6F093446-3955-004E-5EE7-68684EB95F24}"/>
              </a:ext>
            </a:extLst>
          </p:cNvPr>
          <p:cNvSpPr txBox="1"/>
          <p:nvPr/>
        </p:nvSpPr>
        <p:spPr>
          <a:xfrm>
            <a:off x="6667816" y="2636795"/>
            <a:ext cx="9337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d - b</a:t>
            </a:r>
            <a:endParaRPr kumimoji="1" lang="zh-TW" altLang="en-US" dirty="0"/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FDF731C4-E3C9-8A66-53A0-B45D6A7764BB}"/>
              </a:ext>
            </a:extLst>
          </p:cNvPr>
          <p:cNvSpPr txBox="1"/>
          <p:nvPr/>
        </p:nvSpPr>
        <p:spPr>
          <a:xfrm>
            <a:off x="6509008" y="5096064"/>
            <a:ext cx="29243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b – a = d – c</a:t>
            </a:r>
          </a:p>
          <a:p>
            <a:pPr algn="ctr"/>
            <a:r>
              <a:rPr kumimoji="1" lang="en-US" altLang="zh-TW" dirty="0"/>
              <a:t>(</a:t>
            </a:r>
            <a:r>
              <a:rPr kumimoji="1" lang="zh-TW" altLang="en-US" dirty="0"/>
              <a:t>移項</a:t>
            </a:r>
            <a:r>
              <a:rPr kumimoji="1" lang="en-US" altLang="zh-TW" dirty="0"/>
              <a:t>) d – b = c - a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47870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3" grpId="0"/>
      <p:bldP spid="8" grpId="0"/>
      <p:bldP spid="10" grpId="0"/>
      <p:bldP spid="11" grpId="0"/>
      <p:bldP spid="12" grpId="0"/>
      <p:bldP spid="14" grpId="0"/>
      <p:bldP spid="18" grpId="0"/>
      <p:bldP spid="19" grpId="0"/>
      <p:bldP spid="20" grpId="0"/>
      <p:bldP spid="21" grpId="0"/>
      <p:bldP spid="22" grpId="0"/>
      <p:bldP spid="25" grpId="0"/>
      <p:bldP spid="26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C5B9393-1699-985A-E66F-F2B388438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Word2Vec</a:t>
            </a:r>
            <a:r>
              <a:rPr kumimoji="1" lang="zh-TW" altLang="en-US"/>
              <a:t> 是淺層神經網路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8A6DC57-0B7A-1B21-F9F0-721D122BD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5684618-5250-1734-F0BE-C0F7A33866D0}"/>
              </a:ext>
            </a:extLst>
          </p:cNvPr>
          <p:cNvSpPr txBox="1"/>
          <p:nvPr/>
        </p:nvSpPr>
        <p:spPr>
          <a:xfrm>
            <a:off x="3271714" y="6459622"/>
            <a:ext cx="79084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sz="1200" dirty="0" err="1"/>
              <a:t>Mikolov</a:t>
            </a:r>
            <a:r>
              <a:rPr kumimoji="1" lang="en" altLang="zh-TW" sz="1200" dirty="0"/>
              <a:t> et al. "Efficient estimation of word representations in vector space." </a:t>
            </a:r>
            <a:r>
              <a:rPr kumimoji="1" lang="en" altLang="zh-TW" sz="1200" dirty="0" err="1"/>
              <a:t>arXiv</a:t>
            </a:r>
            <a:r>
              <a:rPr kumimoji="1" lang="en" altLang="zh-TW" sz="1200" dirty="0"/>
              <a:t> preprint arXiv:1301.3781 (2013).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605A35F8-6D77-AB89-6FF9-9F728078B7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1714" y="1917594"/>
            <a:ext cx="7414846" cy="4427628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6E3D7397-F2E6-A651-59B2-688F0322A96F}"/>
              </a:ext>
            </a:extLst>
          </p:cNvPr>
          <p:cNvSpPr txBox="1"/>
          <p:nvPr/>
        </p:nvSpPr>
        <p:spPr>
          <a:xfrm>
            <a:off x="3970214" y="1519329"/>
            <a:ext cx="11254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W</a:t>
            </a:r>
            <a:r>
              <a:rPr kumimoji="1" lang="en-US" altLang="zh-TW" baseline="-25000" dirty="0"/>
              <a:t>1</a:t>
            </a:r>
            <a:r>
              <a:rPr kumimoji="1" lang="en-US" altLang="zh-TW" dirty="0"/>
              <a:t>: </a:t>
            </a:r>
            <a:r>
              <a:rPr kumimoji="1" lang="en-US" altLang="zh-TW" dirty="0" err="1"/>
              <a:t>NxD</a:t>
            </a:r>
            <a:endParaRPr kumimoji="1" lang="zh-TW" alt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EEE71540-A801-8245-9AF4-1CB3FF2C8E31}"/>
              </a:ext>
            </a:extLst>
          </p:cNvPr>
          <p:cNvSpPr txBox="1"/>
          <p:nvPr/>
        </p:nvSpPr>
        <p:spPr>
          <a:xfrm>
            <a:off x="5231421" y="1519329"/>
            <a:ext cx="11254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W</a:t>
            </a:r>
            <a:r>
              <a:rPr kumimoji="1" lang="en-US" altLang="zh-TW" baseline="-25000" dirty="0"/>
              <a:t>2</a:t>
            </a:r>
            <a:r>
              <a:rPr kumimoji="1" lang="en-US" altLang="zh-TW" dirty="0"/>
              <a:t>: </a:t>
            </a:r>
            <a:r>
              <a:rPr kumimoji="1" lang="en-US" altLang="zh-TW" dirty="0" err="1"/>
              <a:t>DxV</a:t>
            </a:r>
            <a:endParaRPr kumimoji="1"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C4668F31-2D9D-978C-B585-2C258F6E5704}"/>
              </a:ext>
            </a:extLst>
          </p:cNvPr>
          <p:cNvSpPr txBox="1"/>
          <p:nvPr/>
        </p:nvSpPr>
        <p:spPr>
          <a:xfrm>
            <a:off x="7810497" y="1519329"/>
            <a:ext cx="11254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dirty="0"/>
              <a:t>W</a:t>
            </a:r>
            <a:r>
              <a:rPr kumimoji="1" lang="en-US" altLang="zh-TW" sz="2000" baseline="-25000" dirty="0"/>
              <a:t>1</a:t>
            </a:r>
            <a:r>
              <a:rPr kumimoji="1" lang="en-US" altLang="zh-TW" sz="2000" dirty="0"/>
              <a:t>: 1xD</a:t>
            </a:r>
            <a:endParaRPr kumimoji="1" lang="zh-TW" altLang="en-US" sz="2000" dirty="0"/>
          </a:p>
        </p:txBody>
      </p:sp>
      <p:graphicFrame>
        <p:nvGraphicFramePr>
          <p:cNvPr id="10" name="表格 10">
            <a:extLst>
              <a:ext uri="{FF2B5EF4-FFF2-40B4-BE49-F238E27FC236}">
                <a16:creationId xmlns:a16="http://schemas.microsoft.com/office/drawing/2014/main" id="{1CAC76B9-E3DE-466B-D17C-C64CB7498007}"/>
              </a:ext>
            </a:extLst>
          </p:cNvPr>
          <p:cNvGraphicFramePr>
            <a:graphicFrameLocks noGrp="1"/>
          </p:cNvGraphicFramePr>
          <p:nvPr/>
        </p:nvGraphicFramePr>
        <p:xfrm>
          <a:off x="653143" y="2337450"/>
          <a:ext cx="2477477" cy="177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6766">
                  <a:extLst>
                    <a:ext uri="{9D8B030D-6E8A-4147-A177-3AD203B41FA5}">
                      <a16:colId xmlns:a16="http://schemas.microsoft.com/office/drawing/2014/main" val="3599492535"/>
                    </a:ext>
                  </a:extLst>
                </a:gridCol>
                <a:gridCol w="914885">
                  <a:extLst>
                    <a:ext uri="{9D8B030D-6E8A-4147-A177-3AD203B41FA5}">
                      <a16:colId xmlns:a16="http://schemas.microsoft.com/office/drawing/2014/main" val="691767358"/>
                    </a:ext>
                  </a:extLst>
                </a:gridCol>
                <a:gridCol w="825826">
                  <a:extLst>
                    <a:ext uri="{9D8B030D-6E8A-4147-A177-3AD203B41FA5}">
                      <a16:colId xmlns:a16="http://schemas.microsoft.com/office/drawing/2014/main" val="15156791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sz="1400" dirty="0">
                          <a:latin typeface="+mn-lt"/>
                          <a:ea typeface="Microsoft JhengHei" panose="020B0604030504040204" pitchFamily="34" charset="-120"/>
                        </a:rPr>
                        <a:t>Symbol</a:t>
                      </a:r>
                      <a:endParaRPr lang="zh-TW" altLang="en-US" sz="1400" dirty="0">
                        <a:latin typeface="+mn-lt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1400" dirty="0">
                          <a:latin typeface="+mn-lt"/>
                          <a:ea typeface="Microsoft JhengHei" panose="020B0604030504040204" pitchFamily="34" charset="-120"/>
                        </a:rPr>
                        <a:t>Meaning</a:t>
                      </a:r>
                      <a:endParaRPr lang="zh-TW" altLang="en-US" sz="1400" dirty="0">
                        <a:latin typeface="+mn-lt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1400" dirty="0">
                          <a:latin typeface="+mn-lt"/>
                          <a:ea typeface="Microsoft JhengHei" panose="020B0604030504040204" pitchFamily="34" charset="-120"/>
                        </a:rPr>
                        <a:t>Example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9088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400" dirty="0">
                          <a:latin typeface="+mn-lt"/>
                          <a:ea typeface="Microsoft JhengHei" panose="020B0604030504040204" pitchFamily="34" charset="-120"/>
                        </a:rPr>
                        <a:t>N</a:t>
                      </a:r>
                      <a:endParaRPr lang="zh-TW" altLang="en-US" sz="1400" dirty="0">
                        <a:latin typeface="+mn-lt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1400" dirty="0">
                          <a:latin typeface="+mn-lt"/>
                          <a:ea typeface="Microsoft JhengHei" panose="020B0604030504040204" pitchFamily="34" charset="-120"/>
                        </a:rPr>
                        <a:t>輸入數量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1400" dirty="0">
                          <a:latin typeface="+mn-lt"/>
                          <a:ea typeface="Microsoft JhengHei" panose="020B0604030504040204" pitchFamily="34" charset="-120"/>
                        </a:rPr>
                        <a:t>4</a:t>
                      </a:r>
                      <a:endParaRPr lang="zh-TW" altLang="en-US" sz="1400" dirty="0">
                        <a:latin typeface="+mn-lt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99303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400" dirty="0">
                          <a:latin typeface="+mn-lt"/>
                          <a:ea typeface="Microsoft JhengHei" panose="020B0604030504040204" pitchFamily="34" charset="-120"/>
                        </a:rPr>
                        <a:t>D</a:t>
                      </a:r>
                      <a:endParaRPr lang="zh-TW" altLang="en-US" sz="1400" dirty="0">
                        <a:latin typeface="+mn-lt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1400" dirty="0">
                          <a:latin typeface="+mn-lt"/>
                          <a:ea typeface="Microsoft JhengHei" panose="020B0604030504040204" pitchFamily="34" charset="-120"/>
                        </a:rPr>
                        <a:t>Hidden size</a:t>
                      </a:r>
                      <a:endParaRPr lang="zh-TW" altLang="en-US" sz="1400" dirty="0">
                        <a:latin typeface="+mn-lt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1400" dirty="0">
                          <a:latin typeface="+mn-lt"/>
                          <a:ea typeface="Microsoft JhengHei" panose="020B0604030504040204" pitchFamily="34" charset="-120"/>
                        </a:rPr>
                        <a:t>100</a:t>
                      </a:r>
                      <a:endParaRPr lang="zh-TW" altLang="en-US" sz="1400" dirty="0">
                        <a:latin typeface="+mn-lt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74367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400" dirty="0">
                          <a:latin typeface="+mn-lt"/>
                          <a:ea typeface="Microsoft JhengHei" panose="020B0604030504040204" pitchFamily="34" charset="-120"/>
                        </a:rPr>
                        <a:t>V</a:t>
                      </a:r>
                      <a:endParaRPr lang="zh-TW" altLang="en-US" sz="1400" dirty="0">
                        <a:latin typeface="+mn-lt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1400" dirty="0">
                          <a:latin typeface="+mn-lt"/>
                          <a:ea typeface="Microsoft JhengHei" panose="020B0604030504040204" pitchFamily="34" charset="-120"/>
                        </a:rPr>
                        <a:t>字典大小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1400" dirty="0">
                          <a:latin typeface="+mn-lt"/>
                          <a:ea typeface="Microsoft JhengHei" panose="020B0604030504040204" pitchFamily="34" charset="-120"/>
                        </a:rPr>
                        <a:t>100,000</a:t>
                      </a:r>
                      <a:endParaRPr lang="zh-TW" altLang="en-US" sz="1400" dirty="0">
                        <a:latin typeface="+mn-lt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5211651"/>
                  </a:ext>
                </a:extLst>
              </a:tr>
            </a:tbl>
          </a:graphicData>
        </a:graphic>
      </p:graphicFrame>
      <p:sp>
        <p:nvSpPr>
          <p:cNvPr id="11" name="文字方塊 10">
            <a:extLst>
              <a:ext uri="{FF2B5EF4-FFF2-40B4-BE49-F238E27FC236}">
                <a16:creationId xmlns:a16="http://schemas.microsoft.com/office/drawing/2014/main" id="{71BFF1FC-67AF-E0D9-2ACC-7A76E1266EC8}"/>
              </a:ext>
            </a:extLst>
          </p:cNvPr>
          <p:cNvSpPr txBox="1"/>
          <p:nvPr/>
        </p:nvSpPr>
        <p:spPr>
          <a:xfrm>
            <a:off x="9077006" y="1519329"/>
            <a:ext cx="11254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W</a:t>
            </a:r>
            <a:r>
              <a:rPr kumimoji="1" lang="en-US" altLang="zh-TW" baseline="-25000" dirty="0"/>
              <a:t>2</a:t>
            </a:r>
            <a:r>
              <a:rPr kumimoji="1" lang="en-US" altLang="zh-TW" dirty="0"/>
              <a:t>: </a:t>
            </a:r>
            <a:r>
              <a:rPr kumimoji="1" lang="en-US" altLang="zh-TW" dirty="0" err="1"/>
              <a:t>DxV</a:t>
            </a:r>
            <a:endParaRPr kumimoji="1" lang="zh-TW" altLang="en-US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2716C8D4-4173-A7E1-FC53-19B3436FF5D4}"/>
              </a:ext>
            </a:extLst>
          </p:cNvPr>
          <p:cNvSpPr txBox="1"/>
          <p:nvPr/>
        </p:nvSpPr>
        <p:spPr>
          <a:xfrm>
            <a:off x="7656283" y="1519329"/>
            <a:ext cx="3673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(</a:t>
            </a:r>
            <a:endParaRPr kumimoji="1" lang="zh-TW" altLang="en-US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866F849C-F3AC-AE26-1E6C-CE1C993DA3EE}"/>
              </a:ext>
            </a:extLst>
          </p:cNvPr>
          <p:cNvSpPr txBox="1"/>
          <p:nvPr/>
        </p:nvSpPr>
        <p:spPr>
          <a:xfrm>
            <a:off x="10092797" y="1519329"/>
            <a:ext cx="3673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)</a:t>
            </a:r>
            <a:endParaRPr kumimoji="1" lang="zh-TW" altLang="en-US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E97237BE-A4B6-93B9-CFFF-5285ED9214A9}"/>
              </a:ext>
            </a:extLst>
          </p:cNvPr>
          <p:cNvSpPr txBox="1"/>
          <p:nvPr/>
        </p:nvSpPr>
        <p:spPr>
          <a:xfrm>
            <a:off x="10322998" y="1519329"/>
            <a:ext cx="11870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x 4</a:t>
            </a:r>
            <a:r>
              <a:rPr kumimoji="1" lang="zh-TW" altLang="en-US" dirty="0"/>
              <a:t> </a:t>
            </a:r>
            <a:r>
              <a:rPr kumimoji="1" lang="en-US" altLang="zh-TW" dirty="0"/>
              <a:t>times</a:t>
            </a:r>
            <a:endParaRPr kumimoji="1" lang="zh-TW" altLang="en-US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6EBE28C-615D-7316-CC8B-2B9269A604EC}"/>
              </a:ext>
            </a:extLst>
          </p:cNvPr>
          <p:cNvSpPr/>
          <p:nvPr/>
        </p:nvSpPr>
        <p:spPr>
          <a:xfrm>
            <a:off x="6103815" y="2368710"/>
            <a:ext cx="257908" cy="3048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6FEA5C5-A7CE-3AA6-D2CE-76435FB2663D}"/>
              </a:ext>
            </a:extLst>
          </p:cNvPr>
          <p:cNvSpPr/>
          <p:nvPr/>
        </p:nvSpPr>
        <p:spPr>
          <a:xfrm>
            <a:off x="6107723" y="2766975"/>
            <a:ext cx="257908" cy="3048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2ECAFD1-EA6B-7460-EC16-804BB7654A9D}"/>
              </a:ext>
            </a:extLst>
          </p:cNvPr>
          <p:cNvSpPr/>
          <p:nvPr/>
        </p:nvSpPr>
        <p:spPr>
          <a:xfrm>
            <a:off x="9833152" y="3773401"/>
            <a:ext cx="257908" cy="3048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2ABCC2F-D015-31F0-812E-13005164DAD1}"/>
              </a:ext>
            </a:extLst>
          </p:cNvPr>
          <p:cNvSpPr/>
          <p:nvPr/>
        </p:nvSpPr>
        <p:spPr>
          <a:xfrm>
            <a:off x="6092789" y="4418831"/>
            <a:ext cx="257908" cy="3048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22F25D6-5E5F-6719-8F5C-FDD043028F22}"/>
              </a:ext>
            </a:extLst>
          </p:cNvPr>
          <p:cNvSpPr/>
          <p:nvPr/>
        </p:nvSpPr>
        <p:spPr>
          <a:xfrm>
            <a:off x="6092789" y="4844657"/>
            <a:ext cx="257908" cy="3048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D7966743-BC78-31C9-4F9D-713D44C1B398}"/>
              </a:ext>
            </a:extLst>
          </p:cNvPr>
          <p:cNvSpPr txBox="1"/>
          <p:nvPr/>
        </p:nvSpPr>
        <p:spPr>
          <a:xfrm rot="5400000">
            <a:off x="5966697" y="5400975"/>
            <a:ext cx="657189" cy="382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...</a:t>
            </a:r>
            <a:endParaRPr kumimoji="1" lang="zh-TW" altLang="en-US" dirty="0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14491EEE-FA75-9C31-49EF-AF99CEA99884}"/>
              </a:ext>
            </a:extLst>
          </p:cNvPr>
          <p:cNvSpPr txBox="1"/>
          <p:nvPr/>
        </p:nvSpPr>
        <p:spPr>
          <a:xfrm rot="5400000">
            <a:off x="9679706" y="4196872"/>
            <a:ext cx="657189" cy="382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...</a:t>
            </a:r>
            <a:endParaRPr kumimoji="1" lang="zh-TW" altLang="en-US" dirty="0"/>
          </a:p>
        </p:txBody>
      </p:sp>
      <p:sp>
        <p:nvSpPr>
          <p:cNvPr id="23" name="右中括弧 22">
            <a:extLst>
              <a:ext uri="{FF2B5EF4-FFF2-40B4-BE49-F238E27FC236}">
                <a16:creationId xmlns:a16="http://schemas.microsoft.com/office/drawing/2014/main" id="{BFF3FDBA-6E65-1075-18BA-3973B2F9B111}"/>
              </a:ext>
            </a:extLst>
          </p:cNvPr>
          <p:cNvSpPr/>
          <p:nvPr/>
        </p:nvSpPr>
        <p:spPr>
          <a:xfrm>
            <a:off x="6692630" y="2368710"/>
            <a:ext cx="97276" cy="3223742"/>
          </a:xfrm>
          <a:prstGeom prst="rightBracket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3D37D663-EBEC-C52F-E863-83B2CC0F692D}"/>
              </a:ext>
            </a:extLst>
          </p:cNvPr>
          <p:cNvSpPr txBox="1"/>
          <p:nvPr/>
        </p:nvSpPr>
        <p:spPr>
          <a:xfrm>
            <a:off x="6801348" y="3795915"/>
            <a:ext cx="374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V</a:t>
            </a:r>
            <a:endParaRPr kumimoji="1" lang="zh-TW" altLang="en-US" dirty="0"/>
          </a:p>
        </p:txBody>
      </p:sp>
      <p:sp>
        <p:nvSpPr>
          <p:cNvPr id="25" name="右中括弧 24">
            <a:extLst>
              <a:ext uri="{FF2B5EF4-FFF2-40B4-BE49-F238E27FC236}">
                <a16:creationId xmlns:a16="http://schemas.microsoft.com/office/drawing/2014/main" id="{E33FF103-4E3D-0579-C999-531D5601D796}"/>
              </a:ext>
            </a:extLst>
          </p:cNvPr>
          <p:cNvSpPr/>
          <p:nvPr/>
        </p:nvSpPr>
        <p:spPr>
          <a:xfrm>
            <a:off x="10589284" y="2368710"/>
            <a:ext cx="97276" cy="3223742"/>
          </a:xfrm>
          <a:prstGeom prst="rightBracket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5CA0B790-DA48-2075-F1FD-97AA79B3DE3A}"/>
              </a:ext>
            </a:extLst>
          </p:cNvPr>
          <p:cNvSpPr txBox="1"/>
          <p:nvPr/>
        </p:nvSpPr>
        <p:spPr>
          <a:xfrm>
            <a:off x="10698002" y="3795915"/>
            <a:ext cx="374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V</a:t>
            </a:r>
            <a:endParaRPr kumimoji="1" lang="zh-TW" altLang="en-US" dirty="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07D6051-469C-CB12-D771-0EC88A31C45E}"/>
              </a:ext>
            </a:extLst>
          </p:cNvPr>
          <p:cNvSpPr/>
          <p:nvPr/>
        </p:nvSpPr>
        <p:spPr>
          <a:xfrm>
            <a:off x="6109117" y="3166438"/>
            <a:ext cx="257908" cy="3048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02796655-CEED-B79A-18D0-EFB313FF7021}"/>
              </a:ext>
            </a:extLst>
          </p:cNvPr>
          <p:cNvSpPr txBox="1"/>
          <p:nvPr/>
        </p:nvSpPr>
        <p:spPr>
          <a:xfrm rot="5400000">
            <a:off x="5955671" y="3589909"/>
            <a:ext cx="657189" cy="382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...</a:t>
            </a:r>
            <a:endParaRPr kumimoji="1" lang="zh-TW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1D1581E-C75F-9DEF-B2EC-5239F642CA06}"/>
              </a:ext>
            </a:extLst>
          </p:cNvPr>
          <p:cNvSpPr/>
          <p:nvPr/>
        </p:nvSpPr>
        <p:spPr>
          <a:xfrm>
            <a:off x="3970214" y="1461477"/>
            <a:ext cx="1062894" cy="45611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>
              <a:solidFill>
                <a:schemeClr val="tx1"/>
              </a:solidFill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B0AE776-D1A7-2967-16DA-00CC3D7EE460}"/>
              </a:ext>
            </a:extLst>
          </p:cNvPr>
          <p:cNvSpPr/>
          <p:nvPr/>
        </p:nvSpPr>
        <p:spPr>
          <a:xfrm>
            <a:off x="3363138" y="1961656"/>
            <a:ext cx="2247056" cy="37982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A09EAC1-F571-A19B-6E40-16DF71E0D969}"/>
              </a:ext>
            </a:extLst>
          </p:cNvPr>
          <p:cNvSpPr/>
          <p:nvPr/>
        </p:nvSpPr>
        <p:spPr>
          <a:xfrm>
            <a:off x="7336984" y="1959637"/>
            <a:ext cx="2247056" cy="37982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C0CAE6C4-A7EF-F4C3-CB5D-01C80326E258}"/>
              </a:ext>
            </a:extLst>
          </p:cNvPr>
          <p:cNvSpPr/>
          <p:nvPr/>
        </p:nvSpPr>
        <p:spPr>
          <a:xfrm>
            <a:off x="7866545" y="1459456"/>
            <a:ext cx="1062894" cy="45611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>
              <a:solidFill>
                <a:schemeClr val="tx1"/>
              </a:solidFill>
            </a:endParaRP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5D5A0DB1-F56E-5CFE-F72C-C7568B56C240}"/>
              </a:ext>
            </a:extLst>
          </p:cNvPr>
          <p:cNvSpPr txBox="1"/>
          <p:nvPr/>
        </p:nvSpPr>
        <p:spPr>
          <a:xfrm>
            <a:off x="636549" y="4997057"/>
            <a:ext cx="24774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>
                <a:solidFill>
                  <a:srgbClr val="FF0000"/>
                </a:solidFill>
              </a:rPr>
              <a:t>Word embeddings after training</a:t>
            </a:r>
            <a:endParaRPr kumimoji="1" lang="zh-TW" alt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5233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0" grpId="0" animBg="1"/>
      <p:bldP spid="29" grpId="0" animBg="1"/>
      <p:bldP spid="30" grpId="0" animBg="1"/>
      <p:bldP spid="31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7C62884-14FE-B7E3-75EA-869F9C9CB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Embedding Lookup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9BEB593-59D1-AC66-DFE2-9D45E0405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40</a:t>
            </a:fld>
            <a:endParaRPr lang="en-US" dirty="0"/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0F195A59-224D-5C51-A26B-B2D639F5A42F}"/>
              </a:ext>
            </a:extLst>
          </p:cNvPr>
          <p:cNvGraphicFramePr>
            <a:graphicFrameLocks noGrp="1"/>
          </p:cNvGraphicFramePr>
          <p:nvPr/>
        </p:nvGraphicFramePr>
        <p:xfrm>
          <a:off x="1883352" y="1955120"/>
          <a:ext cx="9124725" cy="362327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898935">
                  <a:extLst>
                    <a:ext uri="{9D8B030D-6E8A-4147-A177-3AD203B41FA5}">
                      <a16:colId xmlns:a16="http://schemas.microsoft.com/office/drawing/2014/main" val="414904887"/>
                    </a:ext>
                  </a:extLst>
                </a:gridCol>
                <a:gridCol w="3612895">
                  <a:extLst>
                    <a:ext uri="{9D8B030D-6E8A-4147-A177-3AD203B41FA5}">
                      <a16:colId xmlns:a16="http://schemas.microsoft.com/office/drawing/2014/main" val="3836347131"/>
                    </a:ext>
                  </a:extLst>
                </a:gridCol>
                <a:gridCol w="3612895">
                  <a:extLst>
                    <a:ext uri="{9D8B030D-6E8A-4147-A177-3AD203B41FA5}">
                      <a16:colId xmlns:a16="http://schemas.microsoft.com/office/drawing/2014/main" val="3015099582"/>
                    </a:ext>
                  </a:extLst>
                </a:gridCol>
              </a:tblGrid>
              <a:tr h="452296"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Vocab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Dimension 1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/>
                        <a:t>Dimension 2</a:t>
                      </a:r>
                      <a:endParaRPr lang="zh-TW" altLang="en-US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9892997"/>
                  </a:ext>
                </a:extLst>
              </a:tr>
              <a:tr h="452296">
                <a:tc>
                  <a:txBody>
                    <a:bodyPr/>
                    <a:lstStyle/>
                    <a:p>
                      <a:r>
                        <a:rPr lang="en-US" altLang="zh-TW" sz="2000" dirty="0"/>
                        <a:t>I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2000" dirty="0"/>
                        <a:t>-0.47030617476956654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" altLang="zh-TW" sz="2000" dirty="0"/>
                        <a:t>-4.440892098500626e-16</a:t>
                      </a:r>
                      <a:endParaRPr lang="zh-TW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0432672"/>
                  </a:ext>
                </a:extLst>
              </a:tr>
              <a:tr h="452296">
                <a:tc>
                  <a:txBody>
                    <a:bodyPr/>
                    <a:lstStyle/>
                    <a:p>
                      <a:r>
                        <a:rPr lang="en-US" altLang="zh-TW" sz="2000" dirty="0"/>
                        <a:t>love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" altLang="zh-TW" sz="2000" dirty="0"/>
                        <a:t>-8.326672684688674e-16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2000" dirty="0"/>
                        <a:t>0.4464710977801294</a:t>
                      </a:r>
                      <a:endParaRPr lang="zh-TW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3127588"/>
                  </a:ext>
                </a:extLst>
              </a:tr>
              <a:tr h="452296">
                <a:tc>
                  <a:txBody>
                    <a:bodyPr/>
                    <a:lstStyle/>
                    <a:p>
                      <a:r>
                        <a:rPr lang="en-US" altLang="zh-TW" sz="2000" dirty="0"/>
                        <a:t>do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" altLang="zh-TW" sz="2000" dirty="0"/>
                        <a:t>8.881784197001252e-16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2000" dirty="0"/>
                        <a:t>0.7838949952895327</a:t>
                      </a:r>
                      <a:endParaRPr lang="zh-TW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5057017"/>
                  </a:ext>
                </a:extLst>
              </a:tr>
              <a:tr h="452296">
                <a:tc>
                  <a:txBody>
                    <a:bodyPr/>
                    <a:lstStyle/>
                    <a:p>
                      <a:r>
                        <a:rPr lang="en-US" altLang="zh-TW" sz="2000" dirty="0"/>
                        <a:t>deep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2000" dirty="0"/>
                        <a:t>-0.4915010045415975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" altLang="zh-TW" sz="2000" dirty="0"/>
                        <a:t>-1.3016463110087907e-16</a:t>
                      </a:r>
                      <a:endParaRPr lang="zh-TW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7582313"/>
                  </a:ext>
                </a:extLst>
              </a:tr>
              <a:tr h="452296">
                <a:tc>
                  <a:txBody>
                    <a:bodyPr/>
                    <a:lstStyle/>
                    <a:p>
                      <a:r>
                        <a:rPr lang="en-US" altLang="zh-TW" sz="2000" dirty="0"/>
                        <a:t>learning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" altLang="zh-TW" sz="2000" dirty="0"/>
                        <a:t>-1.582067810090848e-15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2000" dirty="0"/>
                        <a:t>0.4314767609119055</a:t>
                      </a:r>
                      <a:endParaRPr lang="zh-TW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1366270"/>
                  </a:ext>
                </a:extLst>
              </a:tr>
              <a:tr h="452296">
                <a:tc>
                  <a:txBody>
                    <a:bodyPr/>
                    <a:lstStyle/>
                    <a:p>
                      <a:r>
                        <a:rPr lang="en-US" altLang="zh-TW" sz="2000" dirty="0"/>
                        <a:t>NLP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2000" dirty="0"/>
                        <a:t>-0.2523320838384413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" altLang="zh-TW" sz="2000" dirty="0"/>
                        <a:t>-2.1837832516159107e-16</a:t>
                      </a:r>
                      <a:endParaRPr lang="zh-TW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2000942"/>
                  </a:ext>
                </a:extLst>
              </a:tr>
              <a:tr h="452296">
                <a:tc>
                  <a:txBody>
                    <a:bodyPr/>
                    <a:lstStyle/>
                    <a:p>
                      <a:r>
                        <a:rPr lang="en-US" altLang="zh-TW" sz="2000" dirty="0"/>
                        <a:t>programming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2000" dirty="0"/>
                        <a:t>-0.6881623238553303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" altLang="zh-TW" sz="2000" dirty="0"/>
                        <a:t>-1.914220234434739e-16</a:t>
                      </a:r>
                      <a:endParaRPr lang="zh-TW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9166274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47F98E09-3199-A25A-4977-BA4729146826}"/>
              </a:ext>
            </a:extLst>
          </p:cNvPr>
          <p:cNvSpPr txBox="1"/>
          <p:nvPr/>
        </p:nvSpPr>
        <p:spPr>
          <a:xfrm>
            <a:off x="925286" y="2416628"/>
            <a:ext cx="5007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>
                <a:solidFill>
                  <a:srgbClr val="FF0000"/>
                </a:solidFill>
              </a:rPr>
              <a:t>0</a:t>
            </a:r>
            <a:endParaRPr kumimoji="1"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346F0DB0-36A2-C4A4-449F-3C3736DE6F43}"/>
              </a:ext>
            </a:extLst>
          </p:cNvPr>
          <p:cNvSpPr txBox="1"/>
          <p:nvPr/>
        </p:nvSpPr>
        <p:spPr>
          <a:xfrm>
            <a:off x="694004" y="1955277"/>
            <a:ext cx="9798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>
                <a:solidFill>
                  <a:srgbClr val="FF0000"/>
                </a:solidFill>
              </a:rPr>
              <a:t>Index</a:t>
            </a:r>
            <a:endParaRPr kumimoji="1"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28120791-1A8A-11B0-D38C-E5C9FB56B3BA}"/>
              </a:ext>
            </a:extLst>
          </p:cNvPr>
          <p:cNvSpPr txBox="1"/>
          <p:nvPr/>
        </p:nvSpPr>
        <p:spPr>
          <a:xfrm>
            <a:off x="933551" y="2878293"/>
            <a:ext cx="5007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>
                <a:solidFill>
                  <a:srgbClr val="FF0000"/>
                </a:solidFill>
              </a:rPr>
              <a:t>1</a:t>
            </a:r>
            <a:endParaRPr kumimoji="1"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BAC3E7D1-716D-22DA-6DD8-BFDF495612D8}"/>
              </a:ext>
            </a:extLst>
          </p:cNvPr>
          <p:cNvSpPr txBox="1"/>
          <p:nvPr/>
        </p:nvSpPr>
        <p:spPr>
          <a:xfrm>
            <a:off x="925286" y="3339644"/>
            <a:ext cx="5007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>
                <a:solidFill>
                  <a:srgbClr val="FF0000"/>
                </a:solidFill>
              </a:rPr>
              <a:t>2</a:t>
            </a:r>
            <a:endParaRPr kumimoji="1"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8621BBBC-3813-2B26-3B50-1774E59F4ED1}"/>
              </a:ext>
            </a:extLst>
          </p:cNvPr>
          <p:cNvSpPr txBox="1"/>
          <p:nvPr/>
        </p:nvSpPr>
        <p:spPr>
          <a:xfrm>
            <a:off x="933551" y="3801309"/>
            <a:ext cx="5007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>
                <a:solidFill>
                  <a:srgbClr val="FF0000"/>
                </a:solidFill>
              </a:rPr>
              <a:t>3</a:t>
            </a:r>
            <a:endParaRPr kumimoji="1"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E3E46389-1BA8-F3EF-BEB0-037AC262AF41}"/>
              </a:ext>
            </a:extLst>
          </p:cNvPr>
          <p:cNvSpPr txBox="1"/>
          <p:nvPr/>
        </p:nvSpPr>
        <p:spPr>
          <a:xfrm>
            <a:off x="933551" y="4262660"/>
            <a:ext cx="5007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>
                <a:solidFill>
                  <a:srgbClr val="FF0000"/>
                </a:solidFill>
              </a:rPr>
              <a:t>4</a:t>
            </a:r>
            <a:endParaRPr kumimoji="1"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EB2817CE-D44A-4EDC-1998-E80BDF984F0D}"/>
              </a:ext>
            </a:extLst>
          </p:cNvPr>
          <p:cNvSpPr txBox="1"/>
          <p:nvPr/>
        </p:nvSpPr>
        <p:spPr>
          <a:xfrm>
            <a:off x="933551" y="4724325"/>
            <a:ext cx="5007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>
                <a:solidFill>
                  <a:srgbClr val="FF0000"/>
                </a:solidFill>
              </a:rPr>
              <a:t>5</a:t>
            </a:r>
            <a:endParaRPr kumimoji="1"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0D94914C-32EB-0CA3-7FF6-11D48B77C672}"/>
              </a:ext>
            </a:extLst>
          </p:cNvPr>
          <p:cNvSpPr txBox="1"/>
          <p:nvPr/>
        </p:nvSpPr>
        <p:spPr>
          <a:xfrm>
            <a:off x="933551" y="5185676"/>
            <a:ext cx="5007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>
                <a:solidFill>
                  <a:srgbClr val="FF0000"/>
                </a:solidFill>
              </a:rPr>
              <a:t>6</a:t>
            </a:r>
            <a:endParaRPr kumimoji="1" lang="zh-TW" alt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0485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90CB19B-574E-CBD3-6E24-DEBC21C0B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The Two Word2vec Papers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D7F3E2E-4E57-1E22-ED7E-9947F5491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41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E161385A-315D-BFEE-A704-CD5D9864C5B6}"/>
              </a:ext>
            </a:extLst>
          </p:cNvPr>
          <p:cNvSpPr txBox="1"/>
          <p:nvPr/>
        </p:nvSpPr>
        <p:spPr>
          <a:xfrm>
            <a:off x="653143" y="2192761"/>
            <a:ext cx="8834734" cy="2957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zh-TW" dirty="0" err="1">
                <a:ea typeface="Microsoft JhengHei" panose="020B0604030504040204" pitchFamily="34" charset="-120"/>
              </a:rPr>
              <a:t>Mikolov</a:t>
            </a:r>
            <a:r>
              <a:rPr kumimoji="1" lang="en" altLang="zh-TW" dirty="0">
                <a:ea typeface="Microsoft JhengHei" panose="020B0604030504040204" pitchFamily="34" charset="-120"/>
              </a:rPr>
              <a:t> et al. "Efficient estimation of word representations in vector space." </a:t>
            </a:r>
            <a:r>
              <a:rPr kumimoji="1" lang="en" altLang="zh-TW" dirty="0" err="1">
                <a:ea typeface="Microsoft JhengHei" panose="020B0604030504040204" pitchFamily="34" charset="-120"/>
              </a:rPr>
              <a:t>arXiv</a:t>
            </a:r>
            <a:r>
              <a:rPr kumimoji="1" lang="en" altLang="zh-TW" dirty="0">
                <a:ea typeface="Microsoft JhengHei" panose="020B0604030504040204" pitchFamily="34" charset="-120"/>
              </a:rPr>
              <a:t> preprint arXiv:1301.3781 (2013).</a:t>
            </a: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dirty="0">
                <a:ea typeface="Microsoft JhengHei" panose="020B0604030504040204" pitchFamily="34" charset="-120"/>
              </a:rPr>
              <a:t>介紹 </a:t>
            </a:r>
            <a:r>
              <a:rPr kumimoji="1" lang="en-US" altLang="zh-TW" dirty="0">
                <a:ea typeface="Microsoft JhengHei" panose="020B0604030504040204" pitchFamily="34" charset="-120"/>
              </a:rPr>
              <a:t>CBOW </a:t>
            </a:r>
            <a:r>
              <a:rPr kumimoji="1" lang="zh-TW" altLang="en-US" dirty="0">
                <a:ea typeface="Microsoft JhengHei" panose="020B0604030504040204" pitchFamily="34" charset="-120"/>
              </a:rPr>
              <a:t>以及 </a:t>
            </a:r>
            <a:r>
              <a:rPr kumimoji="1" lang="en-US" altLang="zh-TW" dirty="0">
                <a:ea typeface="Microsoft JhengHei" panose="020B0604030504040204" pitchFamily="34" charset="-120"/>
              </a:rPr>
              <a:t>Skip-gram</a:t>
            </a:r>
            <a:endParaRPr kumimoji="1" lang="en" altLang="zh-TW" dirty="0">
              <a:ea typeface="Microsoft JhengHei" panose="020B0604030504040204" pitchFamily="34" charset="-12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zh-TW" dirty="0" err="1">
                <a:ea typeface="Microsoft JhengHei" panose="020B0604030504040204" pitchFamily="34" charset="-120"/>
              </a:rPr>
              <a:t>Mikolov</a:t>
            </a:r>
            <a:r>
              <a:rPr kumimoji="1" lang="en" altLang="zh-TW" dirty="0">
                <a:ea typeface="Microsoft JhengHei" panose="020B0604030504040204" pitchFamily="34" charset="-120"/>
              </a:rPr>
              <a:t> et al. "Distributed representations of words and phrases and their compositionality." </a:t>
            </a:r>
            <a:r>
              <a:rPr kumimoji="1" lang="en" altLang="zh-TW" dirty="0" err="1">
                <a:ea typeface="Microsoft JhengHei" panose="020B0604030504040204" pitchFamily="34" charset="-120"/>
              </a:rPr>
              <a:t>NeurIPS</a:t>
            </a:r>
            <a:r>
              <a:rPr kumimoji="1" lang="en" altLang="zh-TW" dirty="0">
                <a:ea typeface="Microsoft JhengHei" panose="020B0604030504040204" pitchFamily="34" charset="-120"/>
              </a:rPr>
              <a:t> 2013.</a:t>
            </a: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dirty="0">
                <a:ea typeface="Microsoft JhengHei" panose="020B0604030504040204" pitchFamily="34" charset="-120"/>
              </a:rPr>
              <a:t>針對 </a:t>
            </a:r>
            <a:r>
              <a:rPr kumimoji="1" lang="en-US" altLang="zh-TW" dirty="0">
                <a:ea typeface="Microsoft JhengHei" panose="020B0604030504040204" pitchFamily="34" charset="-120"/>
              </a:rPr>
              <a:t>Skip-gram</a:t>
            </a:r>
            <a:r>
              <a:rPr kumimoji="1" lang="zh-TW" altLang="en-US" dirty="0">
                <a:ea typeface="Microsoft JhengHei" panose="020B0604030504040204" pitchFamily="34" charset="-120"/>
              </a:rPr>
              <a:t> 來進行詳細說明，並且介紹加速訓練的方法：</a:t>
            </a:r>
            <a:endParaRPr kumimoji="1" lang="en-US" altLang="zh-TW" dirty="0">
              <a:ea typeface="Microsoft JhengHei" panose="020B0604030504040204" pitchFamily="34" charset="-120"/>
            </a:endParaRPr>
          </a:p>
          <a:p>
            <a:pPr marL="1085850" lvl="2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zh-TW" dirty="0">
                <a:ea typeface="Microsoft JhengHei" panose="020B0604030504040204" pitchFamily="34" charset="-120"/>
              </a:rPr>
              <a:t>(1) Hierarchical </a:t>
            </a:r>
            <a:r>
              <a:rPr kumimoji="1" lang="en" altLang="zh-TW" dirty="0" err="1">
                <a:ea typeface="Microsoft JhengHei" panose="020B0604030504040204" pitchFamily="34" charset="-120"/>
              </a:rPr>
              <a:t>Softmax</a:t>
            </a:r>
            <a:r>
              <a:rPr kumimoji="1" lang="en" altLang="zh-TW" dirty="0">
                <a:ea typeface="Microsoft JhengHei" panose="020B0604030504040204" pitchFamily="34" charset="-120"/>
              </a:rPr>
              <a:t> (2) Negative Sampling</a:t>
            </a:r>
            <a:endParaRPr kumimoji="1" lang="zh-TW" altLang="en-US" dirty="0"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4243004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6CD83C5C-EA61-C255-DF28-E9CFF9EEA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0" y="3065145"/>
            <a:ext cx="3200400" cy="727709"/>
          </a:xfrm>
        </p:spPr>
        <p:txBody>
          <a:bodyPr anchor="ctr">
            <a:normAutofit/>
          </a:bodyPr>
          <a:lstStyle/>
          <a:p>
            <a:r>
              <a:rPr lang="en-US" altLang="zh-TW" sz="4800" dirty="0"/>
              <a:t>Thank you!</a:t>
            </a:r>
            <a:endParaRPr lang="zh-TW" altLang="en-US" sz="48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060AC63-905C-E7E8-4AEA-D711150C4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42</a:t>
            </a:fld>
            <a:endParaRPr lang="en-US" dirty="0"/>
          </a:p>
        </p:txBody>
      </p:sp>
      <p:sp>
        <p:nvSpPr>
          <p:cNvPr id="13" name="內容版面配置區 2">
            <a:extLst>
              <a:ext uri="{FF2B5EF4-FFF2-40B4-BE49-F238E27FC236}">
                <a16:creationId xmlns:a16="http://schemas.microsoft.com/office/drawing/2014/main" id="{AB6151A5-2D6F-3748-8575-59D412696C53}"/>
              </a:ext>
            </a:extLst>
          </p:cNvPr>
          <p:cNvSpPr txBox="1">
            <a:spLocks/>
          </p:cNvSpPr>
          <p:nvPr/>
        </p:nvSpPr>
        <p:spPr>
          <a:xfrm>
            <a:off x="4725880" y="2315977"/>
            <a:ext cx="4737788" cy="2516218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TW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Instructor: </a:t>
            </a:r>
            <a:r>
              <a:rPr kumimoji="1" lang="zh-TW" altLang="en-US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林英嘉</a:t>
            </a:r>
            <a:endParaRPr kumimoji="1" lang="en-US" altLang="zh-TW" sz="3200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  <a:p>
            <a:pPr marL="0" indent="0">
              <a:buFont typeface="Calibri" panose="020F0502020204030204" pitchFamily="34" charset="0"/>
              <a:buNone/>
            </a:pPr>
            <a:r>
              <a:rPr kumimoji="1" lang="en-US" altLang="zh-TW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 ✉️ </a:t>
            </a:r>
            <a:r>
              <a:rPr kumimoji="1" lang="en-US" altLang="zh-TW" sz="3200" dirty="0" err="1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yjlin@cgu.edu.tw</a:t>
            </a:r>
            <a:endParaRPr kumimoji="1" lang="en-US" altLang="zh-TW" sz="3200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  <a:p>
            <a:pPr marL="0" indent="0">
              <a:buFont typeface="Calibri" panose="020F0502020204030204" pitchFamily="34" charset="0"/>
              <a:buNone/>
            </a:pPr>
            <a:r>
              <a:rPr kumimoji="1" lang="en-US" altLang="zh-TW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 TA: </a:t>
            </a:r>
            <a:r>
              <a:rPr kumimoji="1" lang="zh-TW" altLang="en-US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林宣辰</a:t>
            </a:r>
          </a:p>
          <a:p>
            <a:pPr marL="0" indent="0">
              <a:buFont typeface="Calibri" panose="020F0502020204030204" pitchFamily="34" charset="0"/>
              <a:buNone/>
            </a:pPr>
            <a:r>
              <a:rPr kumimoji="1" lang="en-US" altLang="zh-TW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 </a:t>
            </a:r>
            <a:r>
              <a:rPr kumimoji="1" lang="zh-TW" altLang="en-US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✉️ </a:t>
            </a:r>
            <a:r>
              <a:rPr kumimoji="1" lang="en-US" altLang="zh-TW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b1128015@cgu.edu.tw</a:t>
            </a:r>
          </a:p>
        </p:txBody>
      </p:sp>
    </p:spTree>
    <p:extLst>
      <p:ext uri="{BB962C8B-B14F-4D97-AF65-F5344CB8AC3E}">
        <p14:creationId xmlns:p14="http://schemas.microsoft.com/office/powerpoint/2010/main" val="2684697706"/>
      </p:ext>
    </p:extLst>
  </p:cSld>
  <p:clrMapOvr>
    <a:masterClrMapping/>
  </p:clrMapOvr>
</p:sld>
</file>

<file path=ppt/theme/theme1.xml><?xml version="1.0" encoding="utf-8"?>
<a:theme xmlns:a="http://schemas.openxmlformats.org/drawingml/2006/main" name="回顧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urse_template_DL" id="{E71C07C9-5718-B34F-9EA9-A4FDE47A262C}" vid="{F05AA8C9-6C58-904C-AE8A-42257BEE94D0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回顧</Template>
  <TotalTime>2832</TotalTime>
  <Words>2846</Words>
  <Application>Microsoft Macintosh PowerPoint</Application>
  <PresentationFormat>寬螢幕</PresentationFormat>
  <Paragraphs>623</Paragraphs>
  <Slides>42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42</vt:i4>
      </vt:variant>
    </vt:vector>
  </HeadingPairs>
  <TitlesOfParts>
    <vt:vector size="52" baseType="lpstr">
      <vt:lpstr>Microsoft JhengHei</vt:lpstr>
      <vt:lpstr>新細明體</vt:lpstr>
      <vt:lpstr>Google Sans Text</vt:lpstr>
      <vt:lpstr>Nanum Brush Script</vt:lpstr>
      <vt:lpstr>Arial</vt:lpstr>
      <vt:lpstr>Calibri</vt:lpstr>
      <vt:lpstr>Cambria Math</vt:lpstr>
      <vt:lpstr>Courier New</vt:lpstr>
      <vt:lpstr>Wingdings</vt:lpstr>
      <vt:lpstr>回顧</vt:lpstr>
      <vt:lpstr>自然語言處理與應用 Natural Language Processing and Applications</vt:lpstr>
      <vt:lpstr>Outline</vt:lpstr>
      <vt:lpstr>影像 vs. 文字</vt:lpstr>
      <vt:lpstr>Embeddings（嵌入）</vt:lpstr>
      <vt:lpstr>Embedding: 把(語義)資訊嵌入到向量中</vt:lpstr>
      <vt:lpstr>詞向量視覺化</vt:lpstr>
      <vt:lpstr>ChatGPT 也是在根據向量的語義進行回答</vt:lpstr>
      <vt:lpstr>Outline</vt:lpstr>
      <vt:lpstr>詞向量 vs. 句向量</vt:lpstr>
      <vt:lpstr>Google Search (Retrieval)</vt:lpstr>
      <vt:lpstr>Google Search vs. 向量化</vt:lpstr>
      <vt:lpstr>Bag-of-words Model</vt:lpstr>
      <vt:lpstr>Bag-of-words Model (Example 1)</vt:lpstr>
      <vt:lpstr>Bag-of-words Model (Example 2)</vt:lpstr>
      <vt:lpstr>TF-IDF</vt:lpstr>
      <vt:lpstr>TF-IDF</vt:lpstr>
      <vt:lpstr>TF-IDF 為什麼這樣設計？</vt:lpstr>
      <vt:lpstr>Sentence Embeddings: TF-IDF</vt:lpstr>
      <vt:lpstr>TF-IDF 的問題</vt:lpstr>
      <vt:lpstr>Retrieval</vt:lpstr>
      <vt:lpstr>Retrieval-Augmented Generation (RAG)</vt:lpstr>
      <vt:lpstr>Outline</vt:lpstr>
      <vt:lpstr>Word Representations</vt:lpstr>
      <vt:lpstr>詞嵌入：把詞嵌入到向量 (Word2Vec)</vt:lpstr>
      <vt:lpstr>每個字，都是一段向量 – 詞向量</vt:lpstr>
      <vt:lpstr>How to train? (Probabilities of Skip-gram)</vt:lpstr>
      <vt:lpstr>為什麼要取 log?</vt:lpstr>
      <vt:lpstr>How to train? (Softmax of Skip-gram)</vt:lpstr>
      <vt:lpstr>Softmax</vt:lpstr>
      <vt:lpstr>Softmax</vt:lpstr>
      <vt:lpstr>Advanced Techniques of Word2vec</vt:lpstr>
      <vt:lpstr>Hierarchical Softmax Overview</vt:lpstr>
      <vt:lpstr>Hierarchical Softmax</vt:lpstr>
      <vt:lpstr>Negative Sampling Overview</vt:lpstr>
      <vt:lpstr>Negative Sampling</vt:lpstr>
      <vt:lpstr>Negative Sampling Details</vt:lpstr>
      <vt:lpstr>詞向量視覺化</vt:lpstr>
      <vt:lpstr>Word pairs illustrating the gender relation</vt:lpstr>
      <vt:lpstr>Word2Vec 是淺層神經網路</vt:lpstr>
      <vt:lpstr>Embedding Lookup</vt:lpstr>
      <vt:lpstr>The Two Word2vec Papers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深度學習 Deep Learning</dc:title>
  <dc:creator>林英嘉</dc:creator>
  <cp:lastModifiedBy>英嘉 林</cp:lastModifiedBy>
  <cp:revision>534</cp:revision>
  <dcterms:created xsi:type="dcterms:W3CDTF">2025-02-07T09:05:59Z</dcterms:created>
  <dcterms:modified xsi:type="dcterms:W3CDTF">2026-03-01T15:16:00Z</dcterms:modified>
</cp:coreProperties>
</file>