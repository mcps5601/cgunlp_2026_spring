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74"/>
  </p:notesMasterIdLst>
  <p:sldIdLst>
    <p:sldId id="508" r:id="rId2"/>
    <p:sldId id="669" r:id="rId3"/>
    <p:sldId id="815" r:id="rId4"/>
    <p:sldId id="816" r:id="rId5"/>
    <p:sldId id="666" r:id="rId6"/>
    <p:sldId id="753" r:id="rId7"/>
    <p:sldId id="817" r:id="rId8"/>
    <p:sldId id="760" r:id="rId9"/>
    <p:sldId id="473" r:id="rId10"/>
    <p:sldId id="291" r:id="rId11"/>
    <p:sldId id="292" r:id="rId12"/>
    <p:sldId id="336" r:id="rId13"/>
    <p:sldId id="331" r:id="rId14"/>
    <p:sldId id="337" r:id="rId15"/>
    <p:sldId id="338" r:id="rId16"/>
    <p:sldId id="704" r:id="rId17"/>
    <p:sldId id="335" r:id="rId18"/>
    <p:sldId id="705" r:id="rId19"/>
    <p:sldId id="818" r:id="rId20"/>
    <p:sldId id="754" r:id="rId21"/>
    <p:sldId id="755" r:id="rId22"/>
    <p:sldId id="756" r:id="rId23"/>
    <p:sldId id="773" r:id="rId24"/>
    <p:sldId id="774" r:id="rId25"/>
    <p:sldId id="775" r:id="rId26"/>
    <p:sldId id="776" r:id="rId27"/>
    <p:sldId id="685" r:id="rId28"/>
    <p:sldId id="777" r:id="rId29"/>
    <p:sldId id="778" r:id="rId30"/>
    <p:sldId id="779" r:id="rId31"/>
    <p:sldId id="780" r:id="rId32"/>
    <p:sldId id="781" r:id="rId33"/>
    <p:sldId id="782" r:id="rId34"/>
    <p:sldId id="757" r:id="rId35"/>
    <p:sldId id="783" r:id="rId36"/>
    <p:sldId id="784" r:id="rId37"/>
    <p:sldId id="785" r:id="rId38"/>
    <p:sldId id="786" r:id="rId39"/>
    <p:sldId id="787" r:id="rId40"/>
    <p:sldId id="788" r:id="rId41"/>
    <p:sldId id="789" r:id="rId42"/>
    <p:sldId id="790" r:id="rId43"/>
    <p:sldId id="791" r:id="rId44"/>
    <p:sldId id="819" r:id="rId45"/>
    <p:sldId id="792" r:id="rId46"/>
    <p:sldId id="703" r:id="rId47"/>
    <p:sldId id="675" r:id="rId48"/>
    <p:sldId id="671" r:id="rId49"/>
    <p:sldId id="691" r:id="rId50"/>
    <p:sldId id="796" r:id="rId51"/>
    <p:sldId id="813" r:id="rId52"/>
    <p:sldId id="814" r:id="rId53"/>
    <p:sldId id="798" r:id="rId54"/>
    <p:sldId id="731" r:id="rId55"/>
    <p:sldId id="802" r:id="rId56"/>
    <p:sldId id="327" r:id="rId57"/>
    <p:sldId id="799" r:id="rId58"/>
    <p:sldId id="800" r:id="rId59"/>
    <p:sldId id="801" r:id="rId60"/>
    <p:sldId id="803" r:id="rId61"/>
    <p:sldId id="804" r:id="rId62"/>
    <p:sldId id="807" r:id="rId63"/>
    <p:sldId id="808" r:id="rId64"/>
    <p:sldId id="809" r:id="rId65"/>
    <p:sldId id="810" r:id="rId66"/>
    <p:sldId id="806" r:id="rId67"/>
    <p:sldId id="510" r:id="rId68"/>
    <p:sldId id="811" r:id="rId69"/>
    <p:sldId id="732" r:id="rId70"/>
    <p:sldId id="797" r:id="rId71"/>
    <p:sldId id="812" r:id="rId72"/>
    <p:sldId id="739" r:id="rId7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A0E90848-8D8D-3240-9C7D-B00833E33691}">
          <p14:sldIdLst>
            <p14:sldId id="508"/>
            <p14:sldId id="669"/>
            <p14:sldId id="815"/>
            <p14:sldId id="816"/>
            <p14:sldId id="666"/>
          </p14:sldIdLst>
        </p14:section>
        <p14:section name="Safety" id="{0505806B-C1BA-E145-8406-880C6210BAE3}">
          <p14:sldIdLst>
            <p14:sldId id="753"/>
            <p14:sldId id="817"/>
            <p14:sldId id="760"/>
            <p14:sldId id="473"/>
            <p14:sldId id="291"/>
            <p14:sldId id="292"/>
            <p14:sldId id="336"/>
            <p14:sldId id="331"/>
            <p14:sldId id="337"/>
            <p14:sldId id="338"/>
            <p14:sldId id="704"/>
            <p14:sldId id="335"/>
            <p14:sldId id="705"/>
          </p14:sldIdLst>
        </p14:section>
        <p14:section name="PEFT" id="{5D2EC333-4EEE-BB45-A356-85C58BD0B441}">
          <p14:sldIdLst>
            <p14:sldId id="818"/>
            <p14:sldId id="754"/>
            <p14:sldId id="755"/>
            <p14:sldId id="756"/>
            <p14:sldId id="773"/>
            <p14:sldId id="774"/>
            <p14:sldId id="775"/>
            <p14:sldId id="776"/>
            <p14:sldId id="685"/>
            <p14:sldId id="777"/>
            <p14:sldId id="778"/>
            <p14:sldId id="779"/>
            <p14:sldId id="780"/>
            <p14:sldId id="781"/>
            <p14:sldId id="782"/>
            <p14:sldId id="757"/>
            <p14:sldId id="783"/>
            <p14:sldId id="784"/>
            <p14:sldId id="785"/>
            <p14:sldId id="786"/>
            <p14:sldId id="787"/>
            <p14:sldId id="788"/>
            <p14:sldId id="789"/>
            <p14:sldId id="790"/>
            <p14:sldId id="791"/>
            <p14:sldId id="819"/>
            <p14:sldId id="792"/>
            <p14:sldId id="703"/>
            <p14:sldId id="675"/>
            <p14:sldId id="671"/>
            <p14:sldId id="691"/>
            <p14:sldId id="796"/>
            <p14:sldId id="813"/>
            <p14:sldId id="814"/>
            <p14:sldId id="798"/>
            <p14:sldId id="731"/>
            <p14:sldId id="802"/>
            <p14:sldId id="327"/>
            <p14:sldId id="799"/>
            <p14:sldId id="800"/>
            <p14:sldId id="801"/>
            <p14:sldId id="803"/>
            <p14:sldId id="804"/>
            <p14:sldId id="807"/>
            <p14:sldId id="808"/>
            <p14:sldId id="809"/>
            <p14:sldId id="810"/>
            <p14:sldId id="806"/>
            <p14:sldId id="510"/>
            <p14:sldId id="811"/>
            <p14:sldId id="732"/>
            <p14:sldId id="797"/>
            <p14:sldId id="812"/>
            <p14:sldId id="73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AED6"/>
    <a:srgbClr val="FF9400"/>
    <a:srgbClr val="FFCE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527"/>
    <p:restoredTop sz="96512"/>
  </p:normalViewPr>
  <p:slideViewPr>
    <p:cSldViewPr snapToGrid="0">
      <p:cViewPr varScale="1">
        <p:scale>
          <a:sx n="152" d="100"/>
          <a:sy n="152" d="100"/>
        </p:scale>
        <p:origin x="9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0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BE83B-754F-B948-8CD7-D8047F5EE2C4}" type="datetimeFigureOut">
              <a:rPr kumimoji="1" lang="zh-TW" altLang="en-US" smtClean="0"/>
              <a:t>2026/5/18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836D1C-D09F-2A41-BBEA-6549EF3DDB6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51419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39576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322752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430471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199687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758967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95812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434446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257285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969323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600284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126688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190333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47350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40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242445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42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337057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48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458743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67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441197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68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47281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553428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143" y="1845734"/>
            <a:ext cx="10918371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7DAD89E-131D-FDCA-9260-AC4191103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2955" y="6415560"/>
            <a:ext cx="1312025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6113E31D-E2AB-40D1-8B51-AFA5AFEF393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B05C12B-E59D-D8B7-A3B4-27931CBD675F}"/>
              </a:ext>
            </a:extLst>
          </p:cNvPr>
          <p:cNvSpPr txBox="1"/>
          <p:nvPr userDrawn="1"/>
        </p:nvSpPr>
        <p:spPr>
          <a:xfrm>
            <a:off x="423038" y="6442992"/>
            <a:ext cx="557608" cy="268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kumimoji="1" lang="en-US" altLang="zh-TW" sz="1400" dirty="0">
                <a:ea typeface="Nanum Brush Script" panose="03060600000000000000" pitchFamily="66" charset="-127"/>
                <a:cs typeface="Arial" panose="020B0604020202020204" pitchFamily="34" charset="0"/>
              </a:rPr>
              <a:t>NLP</a:t>
            </a:r>
            <a:endParaRPr kumimoji="1" lang="zh-TW" altLang="en-US" sz="1400" dirty="0">
              <a:cs typeface="Arial" panose="020B0604020202020204" pitchFamily="34" charset="0"/>
            </a:endParaRPr>
          </a:p>
        </p:txBody>
      </p:sp>
      <p:pic>
        <p:nvPicPr>
          <p:cNvPr id="7" name="圖形 6" descr="聊天泡泡 外框">
            <a:extLst>
              <a:ext uri="{FF2B5EF4-FFF2-40B4-BE49-F238E27FC236}">
                <a16:creationId xmlns:a16="http://schemas.microsoft.com/office/drawing/2014/main" id="{0B067696-6EA5-0A4A-14B8-D7C17072FE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093" y="6388664"/>
            <a:ext cx="377640" cy="37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86838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911656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5/18/26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DAB314-DF41-49F3-8643-5960470A9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4963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5/18/26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6FF28B-EE0C-0976-1882-688F90260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79200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5/18/26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8DE478E-C0B1-6FFC-0061-DA2334C3F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71989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5/18/26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31067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5/18/26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22681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5/18/26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16162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5B6B208-0D45-71D0-C7BE-D6974D30E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</p:spPr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0684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143666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676003" y="1355758"/>
            <a:ext cx="10839994" cy="45719"/>
          </a:xfrm>
          <a:prstGeom prst="rect">
            <a:avLst/>
          </a:prstGeom>
          <a:solidFill>
            <a:srgbClr val="FF9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CGU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101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hyperlink" Target="https://app.sli.do/event/sNzG9UYXPJ6WgrX4y9XgP5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0.png"/><Relationship Id="rId3" Type="http://schemas.openxmlformats.org/officeDocument/2006/relationships/image" Target="../media/image11.png"/><Relationship Id="rId7" Type="http://schemas.openxmlformats.org/officeDocument/2006/relationships/image" Target="../media/image120.png"/><Relationship Id="rId12" Type="http://schemas.openxmlformats.org/officeDocument/2006/relationships/image" Target="../media/image17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0.png"/><Relationship Id="rId11" Type="http://schemas.openxmlformats.org/officeDocument/2006/relationships/image" Target="../media/image12.png"/><Relationship Id="rId5" Type="http://schemas.openxmlformats.org/officeDocument/2006/relationships/image" Target="../media/image100.png"/><Relationship Id="rId10" Type="http://schemas.openxmlformats.org/officeDocument/2006/relationships/image" Target="../media/image150.png"/><Relationship Id="rId4" Type="http://schemas.openxmlformats.org/officeDocument/2006/relationships/image" Target="../media/image101.png"/><Relationship Id="rId9" Type="http://schemas.openxmlformats.org/officeDocument/2006/relationships/image" Target="../media/image14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0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lifearchitect.ai/models/#model-bubble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review.net/forum?id=nZeVKeeFYf9" TargetMode="External"/><Relationship Id="rId2" Type="http://schemas.openxmlformats.org/officeDocument/2006/relationships/hyperlink" Target="https://proceedings.mlr.press/v97/houlsby19a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clanthology.org/2022.acl-short.1/" TargetMode="External"/><Relationship Id="rId4" Type="http://schemas.openxmlformats.org/officeDocument/2006/relationships/hyperlink" Target="https://aclanthology.org/2021.acl-long.353/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13" Type="http://schemas.openxmlformats.org/officeDocument/2006/relationships/image" Target="../media/image240.png"/><Relationship Id="rId3" Type="http://schemas.openxmlformats.org/officeDocument/2006/relationships/image" Target="../media/image1400.png"/><Relationship Id="rId7" Type="http://schemas.openxmlformats.org/officeDocument/2006/relationships/image" Target="../media/image180.png"/><Relationship Id="rId12" Type="http://schemas.openxmlformats.org/officeDocument/2006/relationships/image" Target="../media/image230.png"/><Relationship Id="rId17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0.png"/><Relationship Id="rId11" Type="http://schemas.openxmlformats.org/officeDocument/2006/relationships/image" Target="../media/image220.png"/><Relationship Id="rId5" Type="http://schemas.openxmlformats.org/officeDocument/2006/relationships/image" Target="../media/image1600.png"/><Relationship Id="rId15" Type="http://schemas.openxmlformats.org/officeDocument/2006/relationships/image" Target="../media/image26.png"/><Relationship Id="rId10" Type="http://schemas.openxmlformats.org/officeDocument/2006/relationships/image" Target="../media/image210.png"/><Relationship Id="rId4" Type="http://schemas.openxmlformats.org/officeDocument/2006/relationships/image" Target="../media/image1500.png"/><Relationship Id="rId9" Type="http://schemas.openxmlformats.org/officeDocument/2006/relationships/image" Target="../media/image200.png"/><Relationship Id="rId14" Type="http://schemas.openxmlformats.org/officeDocument/2006/relationships/image" Target="../media/image25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jpeg"/><Relationship Id="rId5" Type="http://schemas.openxmlformats.org/officeDocument/2006/relationships/image" Target="../media/image36.png"/><Relationship Id="rId4" Type="http://schemas.openxmlformats.org/officeDocument/2006/relationships/image" Target="../media/image34.jpe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luBa01XYoBc?si=8Hj8fUUI6RwPPI1j" TargetMode="External"/><Relationship Id="rId2" Type="http://schemas.openxmlformats.org/officeDocument/2006/relationships/hyperlink" Target="https://youtu.be/Qqyo9U2JRBQ?si=V9F_nNm44dijmYKc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youtu.be/dpE6LyIGU9w?si=5XBdr-JDJaHojoJD" TargetMode="Externa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707.06347" TargetMode="External"/><Relationship Id="rId2" Type="http://schemas.openxmlformats.org/officeDocument/2006/relationships/hyperlink" Target="https://www.youtube.com/watch?v=k5Fh-UgTuCo&amp;t=3464s" TargetMode="Externa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8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圓角矩形 7">
            <a:extLst>
              <a:ext uri="{FF2B5EF4-FFF2-40B4-BE49-F238E27FC236}">
                <a16:creationId xmlns:a16="http://schemas.microsoft.com/office/drawing/2014/main" id="{AA8F8551-2C61-48D1-9E5C-345C10BAAC8B}"/>
              </a:ext>
            </a:extLst>
          </p:cNvPr>
          <p:cNvSpPr/>
          <p:nvPr/>
        </p:nvSpPr>
        <p:spPr>
          <a:xfrm>
            <a:off x="667422" y="1891904"/>
            <a:ext cx="10857156" cy="2857500"/>
          </a:xfrm>
          <a:prstGeom prst="roundRect">
            <a:avLst/>
          </a:prstGeom>
          <a:solidFill>
            <a:srgbClr val="FFCE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C058193-D513-E805-2BD5-118E50D976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9623" y="2056517"/>
            <a:ext cx="10857156" cy="2758710"/>
          </a:xfrm>
        </p:spPr>
        <p:txBody>
          <a:bodyPr anchor="ctr">
            <a:noAutofit/>
          </a:bodyPr>
          <a:lstStyle/>
          <a:p>
            <a:r>
              <a:rPr kumimoji="1" lang="zh-TW" altLang="en-US" sz="4800" b="1" dirty="0">
                <a:ea typeface="Microsoft JhengHei" panose="020B0604030504040204" pitchFamily="34" charset="-120"/>
              </a:rPr>
              <a:t>自然語言處理與應用</a:t>
            </a:r>
            <a:br>
              <a:rPr kumimoji="1" lang="en-US" altLang="zh-TW" sz="4800" b="1" dirty="0">
                <a:ea typeface="Microsoft JhengHei" panose="020B0604030504040204" pitchFamily="34" charset="-120"/>
              </a:rPr>
            </a:br>
            <a:r>
              <a:rPr kumimoji="1" lang="en-US" altLang="zh-TW" sz="4800" b="1" dirty="0">
                <a:ea typeface="Microsoft JhengHei" panose="020B0604030504040204" pitchFamily="34" charset="-120"/>
              </a:rPr>
              <a:t>Natural Language Processing and Applications</a:t>
            </a:r>
            <a:endParaRPr kumimoji="1" lang="zh-TW" altLang="en-US" sz="4800" b="1" dirty="0">
              <a:ea typeface="Microsoft JhengHei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598A032-0E8B-F9E1-A926-2F2E78D575C6}"/>
              </a:ext>
            </a:extLst>
          </p:cNvPr>
          <p:cNvSpPr txBox="1"/>
          <p:nvPr/>
        </p:nvSpPr>
        <p:spPr>
          <a:xfrm>
            <a:off x="759623" y="4881049"/>
            <a:ext cx="45605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b="1" dirty="0">
                <a:solidFill>
                  <a:srgbClr val="0070C0"/>
                </a:solidFill>
                <a:latin typeface="+mj-lt"/>
                <a:cs typeface="Calibri" panose="020F0502020204030204" pitchFamily="34" charset="0"/>
              </a:rPr>
              <a:t>LLM Efficient Training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F843A79-3FEF-CDAD-6B9A-C5A7AD279D2D}"/>
              </a:ext>
            </a:extLst>
          </p:cNvPr>
          <p:cNvSpPr txBox="1"/>
          <p:nvPr/>
        </p:nvSpPr>
        <p:spPr>
          <a:xfrm>
            <a:off x="759623" y="5914787"/>
            <a:ext cx="41826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Instructor: </a:t>
            </a:r>
            <a:r>
              <a:rPr kumimoji="1" lang="zh-TW" altLang="en-US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林英嘉 </a:t>
            </a:r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(Ying-Jia Lin)</a:t>
            </a:r>
          </a:p>
          <a:p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2026/05/18</a:t>
            </a:r>
            <a:endParaRPr kumimoji="1" lang="zh-TW" altLang="en-US" sz="2000" b="1" dirty="0">
              <a:latin typeface="+mj-lt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C0C8410-1877-4FB2-39F9-E0CFE0480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0118" y="130472"/>
            <a:ext cx="1394460" cy="139446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A6DEED3F-C826-615A-5EF9-02C833E509E8}"/>
              </a:ext>
            </a:extLst>
          </p:cNvPr>
          <p:cNvSpPr txBox="1"/>
          <p:nvPr/>
        </p:nvSpPr>
        <p:spPr>
          <a:xfrm>
            <a:off x="10169046" y="5391531"/>
            <a:ext cx="15583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 err="1"/>
              <a:t>Slido</a:t>
            </a:r>
            <a:endParaRPr kumimoji="1" lang="en" altLang="zh-TW" dirty="0"/>
          </a:p>
          <a:p>
            <a:r>
              <a:rPr kumimoji="1" lang="en" altLang="zh-TW" dirty="0"/>
              <a:t># NLP0518 (</a:t>
            </a:r>
            <a:r>
              <a:rPr kumimoji="1" lang="en" altLang="zh-TW" dirty="0">
                <a:hlinkClick r:id="rId4"/>
              </a:rPr>
              <a:t>Link</a:t>
            </a:r>
            <a:r>
              <a:rPr kumimoji="1" lang="en" altLang="zh-TW" dirty="0"/>
              <a:t>)</a:t>
            </a:r>
            <a:endParaRPr kumimoji="1"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5D8B8BA-01EA-719E-DB6F-35B59009F05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139"/>
          <a:stretch/>
        </p:blipFill>
        <p:spPr>
          <a:xfrm>
            <a:off x="5498071" y="4881049"/>
            <a:ext cx="2108982" cy="1958434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5E320E30-561F-DF85-CC02-2709CD58A10B}"/>
              </a:ext>
            </a:extLst>
          </p:cNvPr>
          <p:cNvSpPr txBox="1"/>
          <p:nvPr/>
        </p:nvSpPr>
        <p:spPr>
          <a:xfrm>
            <a:off x="7389634" y="5642689"/>
            <a:ext cx="1011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GitHub</a:t>
            </a:r>
            <a:endParaRPr kumimoji="1"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AAFAF97-0CFC-7120-B8AC-70B09D6BCD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4173" y="4914017"/>
            <a:ext cx="1741624" cy="1741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99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5B9393-1699-985A-E66F-F2B388438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Outline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A6DC57-0B7A-1B21-F9F0-721D122BD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FAFA69A-F103-08DD-98C8-542BFACBF3C4}"/>
              </a:ext>
            </a:extLst>
          </p:cNvPr>
          <p:cNvSpPr txBox="1"/>
          <p:nvPr/>
        </p:nvSpPr>
        <p:spPr>
          <a:xfrm>
            <a:off x="653143" y="1586847"/>
            <a:ext cx="10918370" cy="3347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/>
              <a:t>Training for LLM Safety [20min]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/>
              <a:t>PEFT [40min]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/>
              <a:t>Efficient Alignment [20min]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/>
              <a:t>Test time Compute [15min]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/>
              <a:t>Code [30min]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Quiz [15min]</a:t>
            </a:r>
          </a:p>
        </p:txBody>
      </p:sp>
    </p:spTree>
    <p:extLst>
      <p:ext uri="{BB962C8B-B14F-4D97-AF65-F5344CB8AC3E}">
        <p14:creationId xmlns:p14="http://schemas.microsoft.com/office/powerpoint/2010/main" val="826305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D974B2-F49C-9EBA-253C-B2455C5AA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587" y="854418"/>
            <a:ext cx="3485626" cy="2286000"/>
          </a:xfrm>
        </p:spPr>
        <p:txBody>
          <a:bodyPr/>
          <a:lstStyle/>
          <a:p>
            <a:r>
              <a:rPr kumimoji="1" lang="en-US" altLang="zh-TW" b="1" dirty="0"/>
              <a:t>Announcement</a:t>
            </a:r>
            <a:endParaRPr kumimoji="1" lang="zh-TW" altLang="en-US" b="1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93CB510-8B74-C75C-654D-8EBECB5160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4587" y="3598876"/>
            <a:ext cx="3200400" cy="2189528"/>
          </a:xfrm>
        </p:spPr>
        <p:txBody>
          <a:bodyPr>
            <a:normAutofit/>
          </a:bodyPr>
          <a:lstStyle/>
          <a:p>
            <a:r>
              <a:rPr kumimoji="1" lang="en-US" altLang="zh-TW" sz="3200" dirty="0"/>
              <a:t>For Checkpoint1</a:t>
            </a:r>
            <a:endParaRPr kumimoji="1" lang="zh-TW" altLang="en-US" sz="3200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188D801-965C-DA4A-123B-3A6755BF6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691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D6BBC6-475E-5780-1825-2477AF605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Checkpoint 1 </a:t>
            </a:r>
            <a:r>
              <a:rPr kumimoji="1" lang="zh-TW" altLang="en-US" dirty="0"/>
              <a:t>評分標準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57A55CA-0015-E7CF-FFAB-2363F6652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7EBA282-2444-D11B-4C1C-137B37614FC0}"/>
              </a:ext>
            </a:extLst>
          </p:cNvPr>
          <p:cNvSpPr txBox="1"/>
          <p:nvPr/>
        </p:nvSpPr>
        <p:spPr>
          <a:xfrm>
            <a:off x="731704" y="4701432"/>
            <a:ext cx="8403907" cy="958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Week 14 </a:t>
            </a:r>
            <a:r>
              <a:rPr kumimoji="1" lang="zh-TW" altLang="en-US" sz="2000" dirty="0"/>
              <a:t>報告 </a:t>
            </a:r>
            <a:r>
              <a:rPr kumimoji="1" lang="en-US" altLang="zh-TW" sz="2000" dirty="0"/>
              <a:t>(</a:t>
            </a:r>
            <a:r>
              <a:rPr kumimoji="1" lang="zh-TW" altLang="en-US" sz="2000" dirty="0"/>
              <a:t>經選擇</a:t>
            </a:r>
            <a:r>
              <a:rPr kumimoji="1" lang="en-US" altLang="zh-TW" sz="2000" dirty="0"/>
              <a:t>) </a:t>
            </a:r>
            <a:r>
              <a:rPr kumimoji="1" lang="zh-TW" altLang="en-US" sz="2000" dirty="0"/>
              <a:t>組別可得 </a:t>
            </a:r>
            <a:r>
              <a:rPr kumimoji="1" lang="en-US" altLang="zh-TW" sz="2000" dirty="0"/>
              <a:t>Checkpoint 1 &amp; Checkpoint 2</a:t>
            </a:r>
            <a:r>
              <a:rPr kumimoji="1" lang="zh-TW" altLang="en-US" sz="2000" dirty="0"/>
              <a:t> 滿分</a:t>
            </a:r>
            <a:endParaRPr kumimoji="1" lang="en-US" altLang="zh-TW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/>
              <a:t>希望各組都能有包含</a:t>
            </a:r>
            <a:r>
              <a:rPr kumimoji="1" lang="en-US" altLang="zh-TW" sz="2000" dirty="0"/>
              <a:t> local LLM</a:t>
            </a:r>
            <a:r>
              <a:rPr kumimoji="1" lang="zh-TW" altLang="en-US" sz="2000" dirty="0"/>
              <a:t> 的實驗</a:t>
            </a:r>
            <a:r>
              <a:rPr kumimoji="1" lang="en-US" altLang="zh-TW" sz="2000" dirty="0"/>
              <a:t> </a:t>
            </a:r>
          </a:p>
        </p:txBody>
      </p:sp>
      <p:graphicFrame>
        <p:nvGraphicFramePr>
          <p:cNvPr id="12" name="表格 12">
            <a:extLst>
              <a:ext uri="{FF2B5EF4-FFF2-40B4-BE49-F238E27FC236}">
                <a16:creationId xmlns:a16="http://schemas.microsoft.com/office/drawing/2014/main" id="{4D3C5704-9259-73DB-9B22-9C22DFA90E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4087702"/>
              </p:ext>
            </p:extLst>
          </p:nvPr>
        </p:nvGraphicFramePr>
        <p:xfrm>
          <a:off x="723782" y="2243457"/>
          <a:ext cx="10744436" cy="2018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6109">
                  <a:extLst>
                    <a:ext uri="{9D8B030D-6E8A-4147-A177-3AD203B41FA5}">
                      <a16:colId xmlns:a16="http://schemas.microsoft.com/office/drawing/2014/main" val="2507976614"/>
                    </a:ext>
                  </a:extLst>
                </a:gridCol>
                <a:gridCol w="2686109">
                  <a:extLst>
                    <a:ext uri="{9D8B030D-6E8A-4147-A177-3AD203B41FA5}">
                      <a16:colId xmlns:a16="http://schemas.microsoft.com/office/drawing/2014/main" val="3808535296"/>
                    </a:ext>
                  </a:extLst>
                </a:gridCol>
                <a:gridCol w="2686109">
                  <a:extLst>
                    <a:ext uri="{9D8B030D-6E8A-4147-A177-3AD203B41FA5}">
                      <a16:colId xmlns:a16="http://schemas.microsoft.com/office/drawing/2014/main" val="3993052571"/>
                    </a:ext>
                  </a:extLst>
                </a:gridCol>
                <a:gridCol w="2686109">
                  <a:extLst>
                    <a:ext uri="{9D8B030D-6E8A-4147-A177-3AD203B41FA5}">
                      <a16:colId xmlns:a16="http://schemas.microsoft.com/office/drawing/2014/main" val="1105655398"/>
                    </a:ext>
                  </a:extLst>
                </a:gridCol>
              </a:tblGrid>
              <a:tr h="479886">
                <a:tc>
                  <a:txBody>
                    <a:bodyPr/>
                    <a:lstStyle/>
                    <a:p>
                      <a:r>
                        <a:rPr lang="en-US" altLang="zh-TW" dirty="0"/>
                        <a:t>95 </a:t>
                      </a:r>
                      <a:r>
                        <a:rPr lang="zh-TW" altLang="en-US" dirty="0"/>
                        <a:t>以上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90 - 94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80 - 89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80</a:t>
                      </a:r>
                      <a:r>
                        <a:rPr lang="zh-TW" altLang="en-US" dirty="0"/>
                        <a:t> 以下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4188376"/>
                  </a:ext>
                </a:extLst>
              </a:tr>
              <a:tr h="1538264">
                <a:tc>
                  <a:txBody>
                    <a:bodyPr/>
                    <a:lstStyle/>
                    <a:p>
                      <a:r>
                        <a:rPr lang="zh-TW" altLang="en-US" dirty="0"/>
                        <a:t>資料集與任務說明完整</a:t>
                      </a:r>
                      <a:endParaRPr lang="en-US" altLang="zh-TW" dirty="0"/>
                    </a:p>
                    <a:p>
                      <a:r>
                        <a:rPr lang="zh-TW" altLang="en-US" dirty="0"/>
                        <a:t>模型實作規劃完整</a:t>
                      </a:r>
                      <a:endParaRPr lang="en-US" altLang="zh-TW" dirty="0"/>
                    </a:p>
                    <a:p>
                      <a:r>
                        <a:rPr lang="zh-TW" altLang="en-US" dirty="0"/>
                        <a:t>有模型實作分數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資料集與任務說明完整</a:t>
                      </a:r>
                      <a:endParaRPr lang="en-US" altLang="zh-TW" dirty="0"/>
                    </a:p>
                    <a:p>
                      <a:r>
                        <a:rPr lang="zh-TW" altLang="en-US" dirty="0"/>
                        <a:t>模型實作規劃完整</a:t>
                      </a:r>
                      <a:endParaRPr lang="en-US" altLang="zh-TW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沒有有模型實作分數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資料集與任務說明良好</a:t>
                      </a:r>
                      <a:endParaRPr lang="en-US" altLang="zh-TW" dirty="0"/>
                    </a:p>
                    <a:p>
                      <a:r>
                        <a:rPr lang="zh-TW" altLang="en-US" dirty="0"/>
                        <a:t>模型實作規劃不夠完整</a:t>
                      </a:r>
                      <a:endParaRPr lang="en-US" altLang="zh-TW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沒有有模型實作分數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資料集與任務說明過於簡單</a:t>
                      </a:r>
                      <a:endParaRPr lang="en-US" altLang="zh-TW" dirty="0"/>
                    </a:p>
                    <a:p>
                      <a:r>
                        <a:rPr lang="zh-TW" altLang="en-US" dirty="0"/>
                        <a:t>模型實作規劃過於簡單</a:t>
                      </a:r>
                      <a:endParaRPr lang="en-US" altLang="zh-TW" dirty="0"/>
                    </a:p>
                    <a:p>
                      <a:r>
                        <a:rPr lang="en-US" altLang="zh-TW" dirty="0"/>
                        <a:t>AI</a:t>
                      </a:r>
                      <a:r>
                        <a:rPr lang="zh-TW" altLang="en-US" dirty="0"/>
                        <a:t>生成比例過高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41661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5798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72F72D-E5D1-0DDE-C1FF-D18DAF732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800" dirty="0">
                <a:ea typeface="Microsoft JhengHei" panose="020B0604030504040204" pitchFamily="34" charset="-120"/>
              </a:rPr>
              <a:t>Final Project</a:t>
            </a:r>
            <a:r>
              <a:rPr kumimoji="1" lang="en-US" altLang="zh-TW" dirty="0"/>
              <a:t>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各個階段分數佔比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30D8D9-00A2-AA7E-846E-861333C5A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740BB514-B3C0-2706-E040-F93E69839E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4082692"/>
              </p:ext>
            </p:extLst>
          </p:nvPr>
        </p:nvGraphicFramePr>
        <p:xfrm>
          <a:off x="653143" y="2219101"/>
          <a:ext cx="10700657" cy="34933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3423">
                  <a:extLst>
                    <a:ext uri="{9D8B030D-6E8A-4147-A177-3AD203B41FA5}">
                      <a16:colId xmlns:a16="http://schemas.microsoft.com/office/drawing/2014/main" val="3021830611"/>
                    </a:ext>
                  </a:extLst>
                </a:gridCol>
                <a:gridCol w="6551225">
                  <a:extLst>
                    <a:ext uri="{9D8B030D-6E8A-4147-A177-3AD203B41FA5}">
                      <a16:colId xmlns:a16="http://schemas.microsoft.com/office/drawing/2014/main" val="3683024315"/>
                    </a:ext>
                  </a:extLst>
                </a:gridCol>
                <a:gridCol w="1136009">
                  <a:extLst>
                    <a:ext uri="{9D8B030D-6E8A-4147-A177-3AD203B41FA5}">
                      <a16:colId xmlns:a16="http://schemas.microsoft.com/office/drawing/2014/main" val="2892346200"/>
                    </a:ext>
                  </a:extLst>
                </a:gridCol>
              </a:tblGrid>
              <a:tr h="585333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查核點 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週次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)</a:t>
                      </a:r>
                      <a:endParaRPr lang="zh-TW" altLang="en-US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對象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: 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繳交內容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分數佔比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6931947"/>
                  </a:ext>
                </a:extLst>
              </a:tr>
              <a:tr h="7261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dirty="0">
                          <a:solidFill>
                            <a:srgbClr val="FF0000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Checkpoint2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(Week 14)</a:t>
                      </a:r>
                      <a:endParaRPr lang="zh-TW" altLang="en-US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All teams: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 進度報告 </a:t>
                      </a:r>
                      <a:r>
                        <a:rPr lang="en" altLang="zh-TW" dirty="0">
                          <a:latin typeface="+mn-lt"/>
                          <a:ea typeface="Microsoft JhengHei" panose="020B0604030504040204" pitchFamily="34" charset="-120"/>
                        </a:rPr>
                        <a:t>PPT (5+5 pages*)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檔案</a:t>
                      </a:r>
                      <a:endParaRPr lang="en" altLang="zh-TW" dirty="0">
                        <a:latin typeface="+mn-lt"/>
                        <a:ea typeface="Microsoft JhengHei" panose="020B0604030504040204" pitchFamily="34" charset="-12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Selected teams: 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取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5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組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 (1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題目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1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組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) 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於課堂中報告，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1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組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10min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，此週報告組別得 </a:t>
                      </a:r>
                      <a:r>
                        <a:rPr lang="en" altLang="zh-TW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Checkpoint1</a:t>
                      </a:r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 和 </a:t>
                      </a:r>
                      <a:r>
                        <a:rPr lang="en" altLang="zh-TW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Checkpoint2</a:t>
                      </a:r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 滿分</a:t>
                      </a:r>
                      <a:endParaRPr lang="en-US" altLang="zh-TW" dirty="0">
                        <a:solidFill>
                          <a:schemeClr val="tx1"/>
                        </a:solidFill>
                        <a:latin typeface="+mn-lt"/>
                        <a:ea typeface="Microsoft JhengHei" panose="020B0604030504040204" pitchFamily="34" charset="-12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Deadline: </a:t>
                      </a:r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2026-05-24 23:59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Presenting Team Deadline: </a:t>
                      </a:r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2026-05-22 15:00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(Announcement for Presenting Teams: </a:t>
                      </a:r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2026-05-22 18:00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5%</a:t>
                      </a:r>
                      <a:endParaRPr lang="zh-TW" altLang="en-US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3711125"/>
                  </a:ext>
                </a:extLst>
              </a:tr>
              <a:tr h="5853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dirty="0">
                          <a:solidFill>
                            <a:srgbClr val="FF0000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Checkpoint3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(Week 15-16)</a:t>
                      </a:r>
                      <a:endParaRPr lang="zh-TW" altLang="en-US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All teams: 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最終口頭報告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10%</a:t>
                      </a:r>
                      <a:endParaRPr lang="zh-TW" altLang="en-US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2299533"/>
                  </a:ext>
                </a:extLst>
              </a:tr>
              <a:tr h="5853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dirty="0">
                          <a:solidFill>
                            <a:srgbClr val="FF0000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Checkpoint4</a:t>
                      </a:r>
                      <a:r>
                        <a:rPr lang="zh-TW" altLang="en-US" dirty="0">
                          <a:solidFill>
                            <a:srgbClr val="FF0000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en" altLang="zh-TW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Week 16-17)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All teams: 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書面報告檔案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10%</a:t>
                      </a:r>
                      <a:endParaRPr lang="zh-TW" altLang="en-US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1173830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380A544A-B20C-DC01-EA74-C3212CC709C5}"/>
              </a:ext>
            </a:extLst>
          </p:cNvPr>
          <p:cNvSpPr txBox="1"/>
          <p:nvPr/>
        </p:nvSpPr>
        <p:spPr>
          <a:xfrm>
            <a:off x="653143" y="57177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*</a:t>
            </a:r>
            <a:r>
              <a:rPr lang="zh-TW" altLang="en-US" dirty="0">
                <a:ea typeface="Microsoft JhengHei" panose="020B0604030504040204" pitchFamily="34" charset="-120"/>
              </a:rPr>
              <a:t>繼承</a:t>
            </a:r>
            <a:r>
              <a:rPr lang="en" altLang="zh-TW" dirty="0">
                <a:ea typeface="Microsoft JhengHei" panose="020B0604030504040204" pitchFamily="34" charset="-120"/>
              </a:rPr>
              <a:t>Checkpoint1</a:t>
            </a:r>
            <a:r>
              <a:rPr lang="zh-TW" altLang="en-US" dirty="0">
                <a:ea typeface="Microsoft JhengHei" panose="020B0604030504040204" pitchFamily="34" charset="-120"/>
              </a:rPr>
              <a:t>內容</a:t>
            </a:r>
            <a:r>
              <a:rPr lang="en-US" altLang="zh-TW" dirty="0">
                <a:ea typeface="Microsoft JhengHei" panose="020B0604030504040204" pitchFamily="34" charset="-120"/>
              </a:rPr>
              <a:t>+</a:t>
            </a:r>
            <a:r>
              <a:rPr lang="zh-TW" altLang="en-US" dirty="0">
                <a:ea typeface="Microsoft JhengHei" panose="020B0604030504040204" pitchFamily="34" charset="-120"/>
              </a:rPr>
              <a:t>實作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B64E78C-24D0-6BB5-B7BD-9324B370A080}"/>
              </a:ext>
            </a:extLst>
          </p:cNvPr>
          <p:cNvSpPr txBox="1"/>
          <p:nvPr/>
        </p:nvSpPr>
        <p:spPr>
          <a:xfrm>
            <a:off x="653143" y="1717963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dirty="0">
                <a:ea typeface="Microsoft JhengHei" panose="020B0604030504040204" pitchFamily="34" charset="-120"/>
              </a:rPr>
              <a:t>Final Project </a:t>
            </a:r>
            <a:r>
              <a:rPr lang="zh-TW" altLang="en-US" sz="2000" dirty="0">
                <a:ea typeface="Microsoft JhengHei" panose="020B0604030504040204" pitchFamily="34" charset="-120"/>
              </a:rPr>
              <a:t>佔學期總成績</a:t>
            </a:r>
            <a:r>
              <a:rPr lang="en-US" altLang="zh-TW" sz="2000" dirty="0">
                <a:ea typeface="Microsoft JhengHei" panose="020B0604030504040204" pitchFamily="34" charset="-120"/>
              </a:rPr>
              <a:t> 30%</a:t>
            </a:r>
            <a:endParaRPr lang="zh-TW" altLang="en-US" sz="2000" dirty="0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60150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8F36B-F985-5F1E-A8BB-49B805C21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7AA2A8F1-5A19-F598-4500-1550E7C94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18606"/>
            <a:ext cx="3200400" cy="2286000"/>
          </a:xfrm>
        </p:spPr>
        <p:txBody>
          <a:bodyPr>
            <a:normAutofit/>
          </a:bodyPr>
          <a:lstStyle/>
          <a:p>
            <a:r>
              <a:rPr lang="en-US" altLang="zh-TW" sz="4400" dirty="0"/>
              <a:t>Safety</a:t>
            </a:r>
            <a:endParaRPr lang="zh-TW" altLang="en-US" sz="44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979EC7A-F483-EB48-3A6D-ABC189D5F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98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67ED74-C1C8-B2AE-BEEB-6CE892D6F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Outline for Building a Safe LLM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68B42F0-795A-E800-ADCC-E19AD04CC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CB13485-3A7B-DE1F-C457-9E78BECAD9AD}"/>
              </a:ext>
            </a:extLst>
          </p:cNvPr>
          <p:cNvSpPr txBox="1"/>
          <p:nvPr/>
        </p:nvSpPr>
        <p:spPr>
          <a:xfrm>
            <a:off x="702711" y="1914365"/>
            <a:ext cx="9910244" cy="1131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>
                <a:solidFill>
                  <a:srgbClr val="FF0000"/>
                </a:solidFill>
              </a:rPr>
              <a:t>Safety and Helpfulness Reward Modeling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/>
              <a:t>Context Distillation</a:t>
            </a:r>
          </a:p>
        </p:txBody>
      </p:sp>
    </p:spTree>
    <p:extLst>
      <p:ext uri="{BB962C8B-B14F-4D97-AF65-F5344CB8AC3E}">
        <p14:creationId xmlns:p14="http://schemas.microsoft.com/office/powerpoint/2010/main" val="2107831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72867D-BAE7-FE54-26EC-B7975F911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" altLang="zh-TW" dirty="0"/>
              <a:t>[Recap] The Pre-training then Fine-tuning Paradigm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84A643A-0C0A-2628-AAD2-9D4FEF8F0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CB61D7AC-56C0-E3AD-F8C1-D0E6E1FFCDA0}"/>
              </a:ext>
            </a:extLst>
          </p:cNvPr>
          <p:cNvSpPr/>
          <p:nvPr/>
        </p:nvSpPr>
        <p:spPr>
          <a:xfrm>
            <a:off x="1904933" y="3058726"/>
            <a:ext cx="2281415" cy="1325105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2400" b="1" dirty="0">
                <a:solidFill>
                  <a:schemeClr val="tx1"/>
                </a:solidFill>
              </a:rPr>
              <a:t>文字接龍</a:t>
            </a:r>
            <a:endParaRPr kumimoji="1" lang="en-US" altLang="zh-TW" sz="2400" b="1" dirty="0">
              <a:solidFill>
                <a:schemeClr val="tx1"/>
              </a:solidFill>
            </a:endParaRPr>
          </a:p>
          <a:p>
            <a:pPr algn="ctr"/>
            <a:r>
              <a:rPr kumimoji="1" lang="en-US" altLang="zh-TW" sz="2400" b="1" dirty="0">
                <a:solidFill>
                  <a:schemeClr val="tx1"/>
                </a:solidFill>
              </a:rPr>
              <a:t>(Pre-training)</a:t>
            </a:r>
            <a:endParaRPr kumimoji="1" lang="zh-TW" altLang="en-US" sz="2800" b="1" dirty="0">
              <a:solidFill>
                <a:schemeClr val="tx1"/>
              </a:solidFill>
            </a:endParaRP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07C80630-6F48-071F-F928-16865BD1E686}"/>
              </a:ext>
            </a:extLst>
          </p:cNvPr>
          <p:cNvSpPr/>
          <p:nvPr/>
        </p:nvSpPr>
        <p:spPr>
          <a:xfrm>
            <a:off x="4806394" y="3058726"/>
            <a:ext cx="2281415" cy="1325105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2400" b="1" dirty="0">
                <a:solidFill>
                  <a:schemeClr val="tx1"/>
                </a:solidFill>
              </a:rPr>
              <a:t>指令微調 </a:t>
            </a:r>
            <a:r>
              <a:rPr kumimoji="1" lang="en-US" altLang="zh-TW" b="1" dirty="0">
                <a:solidFill>
                  <a:schemeClr val="tx1"/>
                </a:solidFill>
              </a:rPr>
              <a:t>(Supervised Fine-tuning, SFT)</a:t>
            </a:r>
            <a:endParaRPr kumimoji="1" lang="zh-TW" altLang="en-US" sz="2400" dirty="0"/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E6387E0F-7E78-B0D0-35DE-5C79C7A2D010}"/>
              </a:ext>
            </a:extLst>
          </p:cNvPr>
          <p:cNvSpPr/>
          <p:nvPr/>
        </p:nvSpPr>
        <p:spPr>
          <a:xfrm>
            <a:off x="7707855" y="3058726"/>
            <a:ext cx="2281415" cy="132510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2400" b="1" dirty="0">
                <a:solidFill>
                  <a:schemeClr val="tx1"/>
                </a:solidFill>
              </a:rPr>
              <a:t>人類反饋學習</a:t>
            </a:r>
            <a:r>
              <a:rPr kumimoji="1" lang="en-US" altLang="zh-TW" sz="2400" b="1" dirty="0">
                <a:solidFill>
                  <a:schemeClr val="tx1"/>
                </a:solidFill>
              </a:rPr>
              <a:t> (RLHF)</a:t>
            </a:r>
            <a:endParaRPr kumimoji="1" lang="zh-TW" altLang="en-US" sz="2800" b="1" dirty="0">
              <a:solidFill>
                <a:schemeClr val="tx1"/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2283759-49BA-F7EF-0EB5-F66921D1FBD6}"/>
              </a:ext>
            </a:extLst>
          </p:cNvPr>
          <p:cNvSpPr txBox="1"/>
          <p:nvPr/>
        </p:nvSpPr>
        <p:spPr>
          <a:xfrm>
            <a:off x="7507511" y="4584541"/>
            <a:ext cx="2682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ea typeface="Microsoft JhengHei" panose="020B0604030504040204" pitchFamily="34" charset="-120"/>
              </a:rPr>
              <a:t>讓模型的回答貼近</a:t>
            </a:r>
            <a:r>
              <a:rPr kumimoji="1" lang="zh-TW" altLang="en-US" b="1" dirty="0">
                <a:ea typeface="Microsoft JhengHei" panose="020B0604030504040204" pitchFamily="34" charset="-120"/>
              </a:rPr>
              <a:t>人類想要</a:t>
            </a:r>
            <a:r>
              <a:rPr kumimoji="1" lang="zh-TW" altLang="en-US" dirty="0">
                <a:ea typeface="Microsoft JhengHei" panose="020B0604030504040204" pitchFamily="34" charset="-120"/>
              </a:rPr>
              <a:t>的回答</a:t>
            </a:r>
            <a:endParaRPr kumimoji="1" lang="en-US" altLang="zh-TW" dirty="0">
              <a:ea typeface="Microsoft JhengHei" panose="020B0604030504040204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0A9DD720-71BD-EAF5-E170-08884EF0D442}"/>
              </a:ext>
            </a:extLst>
          </p:cNvPr>
          <p:cNvSpPr txBox="1"/>
          <p:nvPr/>
        </p:nvSpPr>
        <p:spPr>
          <a:xfrm>
            <a:off x="4674162" y="4584541"/>
            <a:ext cx="2545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ea typeface="Microsoft JhengHei" panose="020B0604030504040204" pitchFamily="34" charset="-120"/>
              </a:rPr>
              <a:t>讓模型</a:t>
            </a:r>
            <a:r>
              <a:rPr kumimoji="1" lang="zh-TW" altLang="en-US" b="1" dirty="0">
                <a:ea typeface="Microsoft JhengHei" panose="020B0604030504040204" pitchFamily="34" charset="-120"/>
              </a:rPr>
              <a:t>學會回答</a:t>
            </a:r>
          </a:p>
        </p:txBody>
      </p:sp>
      <p:cxnSp>
        <p:nvCxnSpPr>
          <p:cNvPr id="10" name="Google Shape;195;p17">
            <a:extLst>
              <a:ext uri="{FF2B5EF4-FFF2-40B4-BE49-F238E27FC236}">
                <a16:creationId xmlns:a16="http://schemas.microsoft.com/office/drawing/2014/main" id="{26274ECB-E6CD-8FC2-A8C1-1449A7F5DF09}"/>
              </a:ext>
            </a:extLst>
          </p:cNvPr>
          <p:cNvCxnSpPr>
            <a:cxnSpLocks/>
          </p:cNvCxnSpPr>
          <p:nvPr/>
        </p:nvCxnSpPr>
        <p:spPr>
          <a:xfrm>
            <a:off x="4246458" y="3721278"/>
            <a:ext cx="499826" cy="0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070D00C3-7D37-77A8-0FBF-9E155273777A}"/>
              </a:ext>
            </a:extLst>
          </p:cNvPr>
          <p:cNvSpPr txBox="1"/>
          <p:nvPr/>
        </p:nvSpPr>
        <p:spPr>
          <a:xfrm>
            <a:off x="248362" y="3536612"/>
            <a:ext cx="1298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ea typeface="Microsoft JhengHei" panose="020B0604030504040204" pitchFamily="34" charset="-120"/>
              </a:rPr>
              <a:t>GPT-3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cxnSp>
        <p:nvCxnSpPr>
          <p:cNvPr id="15" name="Google Shape;195;p17">
            <a:extLst>
              <a:ext uri="{FF2B5EF4-FFF2-40B4-BE49-F238E27FC236}">
                <a16:creationId xmlns:a16="http://schemas.microsoft.com/office/drawing/2014/main" id="{4D605540-B534-397B-3EFB-A2477014F113}"/>
              </a:ext>
            </a:extLst>
          </p:cNvPr>
          <p:cNvCxnSpPr>
            <a:cxnSpLocks/>
          </p:cNvCxnSpPr>
          <p:nvPr/>
        </p:nvCxnSpPr>
        <p:spPr>
          <a:xfrm>
            <a:off x="1348524" y="3721278"/>
            <a:ext cx="499826" cy="0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" name="Google Shape;195;p17">
            <a:extLst>
              <a:ext uri="{FF2B5EF4-FFF2-40B4-BE49-F238E27FC236}">
                <a16:creationId xmlns:a16="http://schemas.microsoft.com/office/drawing/2014/main" id="{DE43FE05-EC1E-831F-61BF-C50C19040AA6}"/>
              </a:ext>
            </a:extLst>
          </p:cNvPr>
          <p:cNvCxnSpPr>
            <a:cxnSpLocks/>
          </p:cNvCxnSpPr>
          <p:nvPr/>
        </p:nvCxnSpPr>
        <p:spPr>
          <a:xfrm>
            <a:off x="7164706" y="3721278"/>
            <a:ext cx="499826" cy="0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" name="Google Shape;195;p17">
            <a:extLst>
              <a:ext uri="{FF2B5EF4-FFF2-40B4-BE49-F238E27FC236}">
                <a16:creationId xmlns:a16="http://schemas.microsoft.com/office/drawing/2014/main" id="{BEF5FAFA-A835-55DD-70F3-C7B7BCD2B2DA}"/>
              </a:ext>
            </a:extLst>
          </p:cNvPr>
          <p:cNvCxnSpPr>
            <a:cxnSpLocks/>
          </p:cNvCxnSpPr>
          <p:nvPr/>
        </p:nvCxnSpPr>
        <p:spPr>
          <a:xfrm>
            <a:off x="10051616" y="3721278"/>
            <a:ext cx="499826" cy="0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8BB55605-64A4-0610-71E8-7AE9D95C90FC}"/>
              </a:ext>
            </a:extLst>
          </p:cNvPr>
          <p:cNvSpPr txBox="1"/>
          <p:nvPr/>
        </p:nvSpPr>
        <p:spPr>
          <a:xfrm>
            <a:off x="10500702" y="3536612"/>
            <a:ext cx="1497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 err="1">
                <a:ea typeface="Microsoft JhengHei" panose="020B0604030504040204" pitchFamily="34" charset="-120"/>
              </a:rPr>
              <a:t>InstructGPT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A50930E8-6BBA-7D52-1097-4C6C3DEA3EFF}"/>
              </a:ext>
            </a:extLst>
          </p:cNvPr>
          <p:cNvSpPr txBox="1"/>
          <p:nvPr/>
        </p:nvSpPr>
        <p:spPr>
          <a:xfrm>
            <a:off x="5479311" y="2243847"/>
            <a:ext cx="38706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800" b="1" dirty="0"/>
              <a:t>Fine-tuning</a:t>
            </a:r>
            <a:endParaRPr lang="zh-TW" altLang="en-US" sz="2800" b="1" dirty="0"/>
          </a:p>
        </p:txBody>
      </p:sp>
      <p:sp>
        <p:nvSpPr>
          <p:cNvPr id="21" name="左中括弧 20">
            <a:extLst>
              <a:ext uri="{FF2B5EF4-FFF2-40B4-BE49-F238E27FC236}">
                <a16:creationId xmlns:a16="http://schemas.microsoft.com/office/drawing/2014/main" id="{84B174B6-451B-F7BC-6670-F94555EE66A8}"/>
              </a:ext>
            </a:extLst>
          </p:cNvPr>
          <p:cNvSpPr/>
          <p:nvPr/>
        </p:nvSpPr>
        <p:spPr>
          <a:xfrm rot="5400000">
            <a:off x="7329357" y="1056238"/>
            <a:ext cx="170522" cy="3633745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3DAE9B4-46C9-EBD6-7618-ED9E13994E6A}"/>
              </a:ext>
            </a:extLst>
          </p:cNvPr>
          <p:cNvSpPr txBox="1"/>
          <p:nvPr/>
        </p:nvSpPr>
        <p:spPr>
          <a:xfrm>
            <a:off x="5869858" y="6132580"/>
            <a:ext cx="6077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RLHF: Reinforcement Learning with Human Feedback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2A3206F-73F2-E722-91B8-6BDA709B6B6D}"/>
              </a:ext>
            </a:extLst>
          </p:cNvPr>
          <p:cNvSpPr txBox="1"/>
          <p:nvPr/>
        </p:nvSpPr>
        <p:spPr>
          <a:xfrm>
            <a:off x="7567738" y="5298700"/>
            <a:ext cx="2682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800" dirty="0"/>
              <a:t>⬆️ ⬆️ ⬆️ ⬆️ ⬆️</a:t>
            </a:r>
            <a:endParaRPr kumimoji="1"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304461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752A645-1D17-C035-3A04-8EF3A7FDD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49C3-EFAD-D94E-864A-24510FCA3FE0}" type="slidenum">
              <a:rPr kumimoji="1" lang="zh-TW" altLang="en-US" smtClean="0"/>
              <a:t>9</a:t>
            </a:fld>
            <a:endParaRPr kumimoji="1"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F7D96219-B686-82C6-7860-DEBDCEF4F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800" dirty="0">
                <a:solidFill>
                  <a:schemeClr val="tx1"/>
                </a:solidFill>
              </a:rPr>
              <a:t>[Recap] RLHF</a:t>
            </a:r>
            <a:r>
              <a:rPr kumimoji="1" lang="zh-TW" altLang="en-US" sz="4800" dirty="0">
                <a:solidFill>
                  <a:schemeClr val="tx1"/>
                </a:solidFill>
              </a:rPr>
              <a:t> 的進行過程</a:t>
            </a:r>
            <a:endParaRPr kumimoji="1"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EE785D6-BA7F-3F3D-D121-805180561CD0}"/>
              </a:ext>
            </a:extLst>
          </p:cNvPr>
          <p:cNvSpPr txBox="1"/>
          <p:nvPr/>
        </p:nvSpPr>
        <p:spPr>
          <a:xfrm>
            <a:off x="1033506" y="2859020"/>
            <a:ext cx="16281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" altLang="zh-TW" b="1" dirty="0"/>
              <a:t>Supervised Fine-Tuning</a:t>
            </a:r>
            <a:endParaRPr lang="zh-TW" altLang="en-US" b="1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B2362DC-F5C7-D8BE-8B7C-3C3F3806EA5F}"/>
              </a:ext>
            </a:extLst>
          </p:cNvPr>
          <p:cNvSpPr txBox="1"/>
          <p:nvPr/>
        </p:nvSpPr>
        <p:spPr>
          <a:xfrm>
            <a:off x="426027" y="4459793"/>
            <a:ext cx="26189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" altLang="zh-TW" b="1" dirty="0"/>
              <a:t>Reinforcement Learning with Human Feedback (</a:t>
            </a:r>
            <a:r>
              <a:rPr kumimoji="1" lang="en" altLang="zh-TW" b="1" dirty="0">
                <a:solidFill>
                  <a:srgbClr val="FF0000"/>
                </a:solidFill>
              </a:rPr>
              <a:t>RLHF</a:t>
            </a:r>
            <a:r>
              <a:rPr kumimoji="1" lang="en" altLang="zh-TW" b="1" dirty="0"/>
              <a:t>)</a:t>
            </a:r>
            <a:endParaRPr lang="zh-TW" altLang="en-US" b="1" dirty="0"/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28FDD7F6-E298-DC0E-C274-3D0B84A5D918}"/>
              </a:ext>
            </a:extLst>
          </p:cNvPr>
          <p:cNvSpPr/>
          <p:nvPr/>
        </p:nvSpPr>
        <p:spPr>
          <a:xfrm>
            <a:off x="3017398" y="2800222"/>
            <a:ext cx="1965961" cy="763929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zh-TW" sz="1600" b="1" dirty="0">
                <a:solidFill>
                  <a:schemeClr val="tx1"/>
                </a:solidFill>
              </a:rPr>
              <a:t>Tell me who is Oppenheimer?</a:t>
            </a:r>
            <a:endParaRPr kumimoji="1" lang="zh-TW" altLang="en-US" sz="1600" b="1" dirty="0">
              <a:solidFill>
                <a:schemeClr val="tx1"/>
              </a:solidFill>
            </a:endParaRP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D3E4AFA2-5A59-FBA5-30C5-75DE6772E083}"/>
              </a:ext>
            </a:extLst>
          </p:cNvPr>
          <p:cNvSpPr/>
          <p:nvPr/>
        </p:nvSpPr>
        <p:spPr>
          <a:xfrm>
            <a:off x="5598134" y="2764991"/>
            <a:ext cx="1965960" cy="834390"/>
          </a:xfrm>
          <a:prstGeom prst="roundRect">
            <a:avLst/>
          </a:prstGeom>
          <a:solidFill>
            <a:srgbClr val="FFEB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600" dirty="0">
                <a:solidFill>
                  <a:schemeClr val="tx1"/>
                </a:solidFill>
              </a:rPr>
              <a:t>語言模型</a:t>
            </a:r>
            <a:endParaRPr kumimoji="1" lang="en-US" altLang="zh-TW" sz="16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(e.g., </a:t>
            </a:r>
            <a:r>
              <a:rPr kumimoji="1" lang="en-US" altLang="zh-TW" sz="1600" dirty="0" err="1">
                <a:solidFill>
                  <a:schemeClr val="tx1"/>
                </a:solidFill>
              </a:rPr>
              <a:t>InstructGPT</a:t>
            </a:r>
            <a:r>
              <a:rPr kumimoji="1" lang="en-US" altLang="zh-TW" sz="1600" dirty="0">
                <a:solidFill>
                  <a:schemeClr val="tx1"/>
                </a:solidFill>
              </a:rPr>
              <a:t>)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2DDA9110-3E05-8099-F28B-50950C80FBA5}"/>
              </a:ext>
            </a:extLst>
          </p:cNvPr>
          <p:cNvSpPr/>
          <p:nvPr/>
        </p:nvSpPr>
        <p:spPr>
          <a:xfrm>
            <a:off x="8792144" y="2800222"/>
            <a:ext cx="2170634" cy="763929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zh-TW" sz="1600" b="1" dirty="0">
                <a:solidFill>
                  <a:schemeClr val="tx1"/>
                </a:solidFill>
              </a:rPr>
              <a:t>Julius Robert Oppenheimer is …</a:t>
            </a:r>
            <a:endParaRPr kumimoji="1" lang="zh-TW" altLang="en-US" sz="1600" b="1" dirty="0">
              <a:solidFill>
                <a:schemeClr val="tx1"/>
              </a:solidFill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28FC139-E290-46BD-6B72-6FF703ADFC9F}"/>
              </a:ext>
            </a:extLst>
          </p:cNvPr>
          <p:cNvSpPr txBox="1"/>
          <p:nvPr/>
        </p:nvSpPr>
        <p:spPr>
          <a:xfrm>
            <a:off x="8382794" y="2153891"/>
            <a:ext cx="29848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As close to </a:t>
            </a:r>
            <a:r>
              <a:rPr kumimoji="1" lang="en-US" altLang="zh-TW" dirty="0"/>
              <a:t>human-written ground-truths </a:t>
            </a:r>
            <a:r>
              <a:rPr kumimoji="1" lang="en-US" altLang="zh-TW" dirty="0">
                <a:solidFill>
                  <a:srgbClr val="FF0000"/>
                </a:solidFill>
              </a:rPr>
              <a:t>as possible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E93C4B3B-5864-37B0-EA3D-A244F5DD94FD}"/>
              </a:ext>
            </a:extLst>
          </p:cNvPr>
          <p:cNvSpPr/>
          <p:nvPr/>
        </p:nvSpPr>
        <p:spPr>
          <a:xfrm>
            <a:off x="5598134" y="4504265"/>
            <a:ext cx="1965960" cy="834390"/>
          </a:xfrm>
          <a:prstGeom prst="roundRect">
            <a:avLst/>
          </a:prstGeom>
          <a:solidFill>
            <a:srgbClr val="FFEB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600" dirty="0">
                <a:solidFill>
                  <a:schemeClr val="tx1"/>
                </a:solidFill>
              </a:rPr>
              <a:t>語言模型</a:t>
            </a:r>
            <a:endParaRPr kumimoji="1" lang="en-US" altLang="zh-TW" sz="16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(e.g., </a:t>
            </a:r>
            <a:r>
              <a:rPr kumimoji="1" lang="en-US" altLang="zh-TW" sz="1600" dirty="0" err="1">
                <a:solidFill>
                  <a:schemeClr val="tx1"/>
                </a:solidFill>
              </a:rPr>
              <a:t>InstructGPT</a:t>
            </a:r>
            <a:r>
              <a:rPr kumimoji="1" lang="en-US" altLang="zh-TW" sz="1600" dirty="0">
                <a:solidFill>
                  <a:schemeClr val="tx1"/>
                </a:solidFill>
              </a:rPr>
              <a:t>)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9CF54F18-114F-5E47-3388-B570DC8FA7C7}"/>
              </a:ext>
            </a:extLst>
          </p:cNvPr>
          <p:cNvSpPr/>
          <p:nvPr/>
        </p:nvSpPr>
        <p:spPr>
          <a:xfrm>
            <a:off x="3017397" y="4539495"/>
            <a:ext cx="1965961" cy="763929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zh-TW" sz="1600" b="1" dirty="0">
                <a:solidFill>
                  <a:schemeClr val="tx1"/>
                </a:solidFill>
              </a:rPr>
              <a:t>Tell me who is Oppenheimer?</a:t>
            </a:r>
            <a:endParaRPr kumimoji="1" lang="zh-TW" altLang="en-US" sz="1600" b="1" dirty="0">
              <a:solidFill>
                <a:schemeClr val="tx1"/>
              </a:solidFill>
            </a:endParaRP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8917E547-7AFD-D0ED-E45C-A17E29A258B3}"/>
              </a:ext>
            </a:extLst>
          </p:cNvPr>
          <p:cNvSpPr/>
          <p:nvPr/>
        </p:nvSpPr>
        <p:spPr>
          <a:xfrm>
            <a:off x="9034371" y="5236059"/>
            <a:ext cx="1769112" cy="57408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Reward Model</a:t>
            </a: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B05220E0-11D2-F1F3-C531-DCF75DEAB595}"/>
              </a:ext>
            </a:extLst>
          </p:cNvPr>
          <p:cNvSpPr/>
          <p:nvPr/>
        </p:nvSpPr>
        <p:spPr>
          <a:xfrm>
            <a:off x="9093984" y="4424695"/>
            <a:ext cx="1649885" cy="488952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zh-TW" sz="1600" b="1" dirty="0">
                <a:solidFill>
                  <a:schemeClr val="tx1"/>
                </a:solidFill>
              </a:rPr>
              <a:t>Score (Scalar)</a:t>
            </a:r>
            <a:endParaRPr kumimoji="1" lang="zh-TW" altLang="en-US" sz="1600" b="1" dirty="0">
              <a:solidFill>
                <a:schemeClr val="tx1"/>
              </a:solidFill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EB981A80-EB9F-E098-C986-E936B0244D69}"/>
              </a:ext>
            </a:extLst>
          </p:cNvPr>
          <p:cNvSpPr txBox="1"/>
          <p:nvPr/>
        </p:nvSpPr>
        <p:spPr>
          <a:xfrm>
            <a:off x="8792144" y="4036381"/>
            <a:ext cx="2309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As high as possible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19" name="肘形接點 18">
            <a:extLst>
              <a:ext uri="{FF2B5EF4-FFF2-40B4-BE49-F238E27FC236}">
                <a16:creationId xmlns:a16="http://schemas.microsoft.com/office/drawing/2014/main" id="{DA986F20-427D-C6A0-15F9-F1EE1C88DEF7}"/>
              </a:ext>
            </a:extLst>
          </p:cNvPr>
          <p:cNvCxnSpPr>
            <a:cxnSpLocks/>
            <a:stCxn id="13" idx="2"/>
            <a:endCxn id="15" idx="1"/>
          </p:cNvCxnSpPr>
          <p:nvPr/>
        </p:nvCxnSpPr>
        <p:spPr>
          <a:xfrm rot="16200000" flipH="1">
            <a:off x="7715519" y="4204249"/>
            <a:ext cx="184447" cy="2453257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B8F2F779-9619-6C68-A88E-F965AC12213B}"/>
              </a:ext>
            </a:extLst>
          </p:cNvPr>
          <p:cNvCxnSpPr>
            <a:cxnSpLocks/>
            <a:stCxn id="15" idx="0"/>
            <a:endCxn id="16" idx="2"/>
          </p:cNvCxnSpPr>
          <p:nvPr/>
        </p:nvCxnSpPr>
        <p:spPr>
          <a:xfrm flipV="1">
            <a:off x="9918927" y="4913647"/>
            <a:ext cx="0" cy="3224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箭頭接點 23">
            <a:extLst>
              <a:ext uri="{FF2B5EF4-FFF2-40B4-BE49-F238E27FC236}">
                <a16:creationId xmlns:a16="http://schemas.microsoft.com/office/drawing/2014/main" id="{96FD90A1-ABA7-7C71-1AA2-D510C7973F7C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4983359" y="3182186"/>
            <a:ext cx="614775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7E9067B3-A29B-9439-3B47-7F4C082C8C33}"/>
              </a:ext>
            </a:extLst>
          </p:cNvPr>
          <p:cNvCxnSpPr>
            <a:cxnSpLocks/>
            <a:stCxn id="14" idx="3"/>
            <a:endCxn id="13" idx="1"/>
          </p:cNvCxnSpPr>
          <p:nvPr/>
        </p:nvCxnSpPr>
        <p:spPr>
          <a:xfrm>
            <a:off x="4983358" y="4921460"/>
            <a:ext cx="61477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箭頭接點 29">
            <a:extLst>
              <a:ext uri="{FF2B5EF4-FFF2-40B4-BE49-F238E27FC236}">
                <a16:creationId xmlns:a16="http://schemas.microsoft.com/office/drawing/2014/main" id="{BAC6BB84-D418-A868-9174-D17903E5FE20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>
            <a:off x="7564094" y="3182186"/>
            <a:ext cx="122805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肘形接點 33">
            <a:extLst>
              <a:ext uri="{FF2B5EF4-FFF2-40B4-BE49-F238E27FC236}">
                <a16:creationId xmlns:a16="http://schemas.microsoft.com/office/drawing/2014/main" id="{C2F8BA38-4201-16D6-5EE8-7460641B8990}"/>
              </a:ext>
            </a:extLst>
          </p:cNvPr>
          <p:cNvCxnSpPr>
            <a:cxnSpLocks/>
            <a:stCxn id="17" idx="1"/>
            <a:endCxn id="13" idx="0"/>
          </p:cNvCxnSpPr>
          <p:nvPr/>
        </p:nvCxnSpPr>
        <p:spPr>
          <a:xfrm rot="10800000" flipV="1">
            <a:off x="6581114" y="4221047"/>
            <a:ext cx="2211030" cy="283218"/>
          </a:xfrm>
          <a:prstGeom prst="bentConnector2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肘形接點 38">
            <a:extLst>
              <a:ext uri="{FF2B5EF4-FFF2-40B4-BE49-F238E27FC236}">
                <a16:creationId xmlns:a16="http://schemas.microsoft.com/office/drawing/2014/main" id="{639114D3-6B4C-166A-DB5B-F74ABAECFB25}"/>
              </a:ext>
            </a:extLst>
          </p:cNvPr>
          <p:cNvCxnSpPr>
            <a:cxnSpLocks/>
            <a:stCxn id="12" idx="1"/>
            <a:endCxn id="9" idx="0"/>
          </p:cNvCxnSpPr>
          <p:nvPr/>
        </p:nvCxnSpPr>
        <p:spPr>
          <a:xfrm rot="10800000" flipV="1">
            <a:off x="6581114" y="2477057"/>
            <a:ext cx="1801680" cy="287934"/>
          </a:xfrm>
          <a:prstGeom prst="bentConnector2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D911DABC-7E2C-76C9-8860-32244B2399DF}"/>
              </a:ext>
            </a:extLst>
          </p:cNvPr>
          <p:cNvSpPr txBox="1"/>
          <p:nvPr/>
        </p:nvSpPr>
        <p:spPr>
          <a:xfrm>
            <a:off x="6472172" y="2175903"/>
            <a:ext cx="10209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Optimize</a:t>
            </a:r>
            <a:endParaRPr kumimoji="1" lang="zh-TW" altLang="en-US" sz="1400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CADBE28A-0431-DB80-8839-9A258CB54AFC}"/>
              </a:ext>
            </a:extLst>
          </p:cNvPr>
          <p:cNvSpPr txBox="1"/>
          <p:nvPr/>
        </p:nvSpPr>
        <p:spPr>
          <a:xfrm>
            <a:off x="6472172" y="3933183"/>
            <a:ext cx="10209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Optimize</a:t>
            </a:r>
            <a:endParaRPr kumimoji="1" lang="zh-TW" altLang="en-US" sz="1400" dirty="0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365630B7-FDF0-EB17-230C-746EFBF89241}"/>
              </a:ext>
            </a:extLst>
          </p:cNvPr>
          <p:cNvSpPr txBox="1"/>
          <p:nvPr/>
        </p:nvSpPr>
        <p:spPr>
          <a:xfrm>
            <a:off x="3321349" y="2501971"/>
            <a:ext cx="13580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Input Prompt</a:t>
            </a:r>
            <a:endParaRPr kumimoji="1" lang="zh-TW" altLang="en-US" sz="1400" dirty="0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AC9A5CC6-29F9-2232-0870-65B8DBFBDFD9}"/>
              </a:ext>
            </a:extLst>
          </p:cNvPr>
          <p:cNvSpPr txBox="1"/>
          <p:nvPr/>
        </p:nvSpPr>
        <p:spPr>
          <a:xfrm>
            <a:off x="3371364" y="4251824"/>
            <a:ext cx="12580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Input Prompt</a:t>
            </a:r>
            <a:endParaRPr kumimoji="1" lang="zh-TW" altLang="en-US" sz="1400" dirty="0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64A55741-2FC2-58A4-A089-3BFC949F9D8F}"/>
              </a:ext>
            </a:extLst>
          </p:cNvPr>
          <p:cNvSpPr txBox="1"/>
          <p:nvPr/>
        </p:nvSpPr>
        <p:spPr>
          <a:xfrm>
            <a:off x="1121440" y="6323468"/>
            <a:ext cx="600672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100" dirty="0"/>
              <a:t>Ouyang, Long, et al. "Training language models to follow instructions with human feedback." </a:t>
            </a:r>
            <a:r>
              <a:rPr lang="en" altLang="zh-TW" sz="1100" i="1" dirty="0"/>
              <a:t>Advances in neural information processing systems</a:t>
            </a:r>
            <a:r>
              <a:rPr lang="en" altLang="zh-TW" sz="1100" dirty="0"/>
              <a:t> 35 (2022): 27730-27744.</a:t>
            </a:r>
            <a:endParaRPr lang="zh-TW" altLang="en-US" sz="11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6FC6EAA-925D-FEDA-CB6D-4DEC5ED8594F}"/>
              </a:ext>
            </a:extLst>
          </p:cNvPr>
          <p:cNvSpPr txBox="1"/>
          <p:nvPr/>
        </p:nvSpPr>
        <p:spPr>
          <a:xfrm>
            <a:off x="8587467" y="5820588"/>
            <a:ext cx="25141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(Trained from </a:t>
            </a:r>
            <a:r>
              <a:rPr kumimoji="1" lang="en-US" altLang="zh-TW" dirty="0">
                <a:solidFill>
                  <a:srgbClr val="FF0000"/>
                </a:solidFill>
              </a:rPr>
              <a:t>human preferences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32737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 animBg="1"/>
      <p:bldP spid="14" grpId="0" animBg="1"/>
      <p:bldP spid="15" grpId="0" animBg="1"/>
      <p:bldP spid="16" grpId="0" animBg="1"/>
      <p:bldP spid="17" grpId="0"/>
      <p:bldP spid="43" grpId="0"/>
      <p:bldP spid="4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圓角矩形 12">
            <a:extLst>
              <a:ext uri="{FF2B5EF4-FFF2-40B4-BE49-F238E27FC236}">
                <a16:creationId xmlns:a16="http://schemas.microsoft.com/office/drawing/2014/main" id="{943BBFA5-D0A8-22D5-2B00-419CCBE71805}"/>
              </a:ext>
            </a:extLst>
          </p:cNvPr>
          <p:cNvSpPr/>
          <p:nvPr/>
        </p:nvSpPr>
        <p:spPr>
          <a:xfrm>
            <a:off x="3982375" y="2607592"/>
            <a:ext cx="2008623" cy="895511"/>
          </a:xfrm>
          <a:prstGeom prst="roundRect">
            <a:avLst/>
          </a:prstGeom>
          <a:solidFill>
            <a:srgbClr val="FFEB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800" b="1" dirty="0">
                <a:solidFill>
                  <a:schemeClr val="tx1"/>
                </a:solidFill>
              </a:rPr>
              <a:t>SFT Model</a:t>
            </a:r>
            <a:endParaRPr kumimoji="1" lang="zh-TW" altLang="en-US" sz="2800" b="1" dirty="0">
              <a:solidFill>
                <a:schemeClr val="tx1"/>
              </a:solidFill>
            </a:endParaRP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41EB062E-C21A-8AB8-F6E2-83A2C9783C1A}"/>
              </a:ext>
            </a:extLst>
          </p:cNvPr>
          <p:cNvSpPr/>
          <p:nvPr/>
        </p:nvSpPr>
        <p:spPr>
          <a:xfrm>
            <a:off x="3881833" y="2738202"/>
            <a:ext cx="2008623" cy="895511"/>
          </a:xfrm>
          <a:prstGeom prst="roundRect">
            <a:avLst/>
          </a:prstGeom>
          <a:solidFill>
            <a:srgbClr val="FFEB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800" b="1" dirty="0">
                <a:solidFill>
                  <a:schemeClr val="tx1"/>
                </a:solidFill>
              </a:rPr>
              <a:t>SFT Model</a:t>
            </a:r>
            <a:endParaRPr kumimoji="1" lang="zh-TW" altLang="en-US" sz="2800" b="1" dirty="0">
              <a:solidFill>
                <a:schemeClr val="tx1"/>
              </a:solidFill>
            </a:endParaRPr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1BF163D0-723E-0FB6-7180-D39F5E48F9C2}"/>
              </a:ext>
            </a:extLst>
          </p:cNvPr>
          <p:cNvSpPr/>
          <p:nvPr/>
        </p:nvSpPr>
        <p:spPr>
          <a:xfrm>
            <a:off x="3781291" y="2902747"/>
            <a:ext cx="2008623" cy="895511"/>
          </a:xfrm>
          <a:prstGeom prst="roundRect">
            <a:avLst/>
          </a:prstGeom>
          <a:solidFill>
            <a:srgbClr val="FFEB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800" b="1" dirty="0">
                <a:solidFill>
                  <a:schemeClr val="tx1"/>
                </a:solidFill>
              </a:rPr>
              <a:t>SFT Model</a:t>
            </a:r>
            <a:endParaRPr kumimoji="1" lang="zh-TW" altLang="en-US" sz="2800" b="1" dirty="0">
              <a:solidFill>
                <a:schemeClr val="tx1"/>
              </a:solidFill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1D571F6A-175B-8F7E-A586-F08AC941D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/>
              <a:t>Data Preparation for Reward Model Training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D560517-09AC-0A69-D39B-58A981110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75C62537-C1F6-4EF5-E8E5-0C8C7F6AD267}"/>
              </a:ext>
            </a:extLst>
          </p:cNvPr>
          <p:cNvSpPr/>
          <p:nvPr/>
        </p:nvSpPr>
        <p:spPr>
          <a:xfrm>
            <a:off x="1097280" y="3067292"/>
            <a:ext cx="1437576" cy="52086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Prompt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FEED904B-A78A-93E9-CBB1-EA7C85A8DF5B}"/>
              </a:ext>
            </a:extLst>
          </p:cNvPr>
          <p:cNvSpPr/>
          <p:nvPr/>
        </p:nvSpPr>
        <p:spPr>
          <a:xfrm>
            <a:off x="3680749" y="3067292"/>
            <a:ext cx="2008623" cy="895511"/>
          </a:xfrm>
          <a:prstGeom prst="roundRect">
            <a:avLst/>
          </a:prstGeom>
          <a:solidFill>
            <a:srgbClr val="FFEB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800" b="1" dirty="0">
                <a:solidFill>
                  <a:schemeClr val="tx1"/>
                </a:solidFill>
              </a:rPr>
              <a:t>SFT Model</a:t>
            </a:r>
            <a:endParaRPr kumimoji="1" lang="zh-TW" altLang="en-US" sz="2800" b="1" dirty="0">
              <a:solidFill>
                <a:schemeClr val="tx1"/>
              </a:solidFill>
            </a:endParaRPr>
          </a:p>
        </p:txBody>
      </p:sp>
      <p:cxnSp>
        <p:nvCxnSpPr>
          <p:cNvPr id="7" name="直線箭頭接點 6">
            <a:extLst>
              <a:ext uri="{FF2B5EF4-FFF2-40B4-BE49-F238E27FC236}">
                <a16:creationId xmlns:a16="http://schemas.microsoft.com/office/drawing/2014/main" id="{F248DB7B-E862-8D8D-B4C5-3AD787236638}"/>
              </a:ext>
            </a:extLst>
          </p:cNvPr>
          <p:cNvCxnSpPr>
            <a:cxnSpLocks/>
          </p:cNvCxnSpPr>
          <p:nvPr/>
        </p:nvCxnSpPr>
        <p:spPr>
          <a:xfrm>
            <a:off x="2766350" y="3339667"/>
            <a:ext cx="57873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圖片 9">
            <a:extLst>
              <a:ext uri="{FF2B5EF4-FFF2-40B4-BE49-F238E27FC236}">
                <a16:creationId xmlns:a16="http://schemas.microsoft.com/office/drawing/2014/main" id="{C7DED196-7E5C-66ED-7282-E2C5D16FA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6345" y="2298277"/>
            <a:ext cx="2896698" cy="2006803"/>
          </a:xfrm>
          <a:prstGeom prst="rect">
            <a:avLst/>
          </a:prstGeom>
        </p:spPr>
      </p:pic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CBC28541-FD5B-C9A3-AD85-449E7E68CD13}"/>
              </a:ext>
            </a:extLst>
          </p:cNvPr>
          <p:cNvCxnSpPr>
            <a:cxnSpLocks/>
          </p:cNvCxnSpPr>
          <p:nvPr/>
        </p:nvCxnSpPr>
        <p:spPr>
          <a:xfrm>
            <a:off x="6414304" y="3339667"/>
            <a:ext cx="57873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BAD2AEDF-9936-6BDC-2B9A-8A792BA49A55}"/>
              </a:ext>
            </a:extLst>
          </p:cNvPr>
          <p:cNvSpPr txBox="1"/>
          <p:nvPr/>
        </p:nvSpPr>
        <p:spPr>
          <a:xfrm>
            <a:off x="3652757" y="1895956"/>
            <a:ext cx="24667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Different generations of SFT models</a:t>
            </a:r>
            <a:endParaRPr kumimoji="1"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A85A2574-26A2-9E4F-2364-738AA5A1E7F5}"/>
              </a:ext>
            </a:extLst>
          </p:cNvPr>
          <p:cNvSpPr txBox="1"/>
          <p:nvPr/>
        </p:nvSpPr>
        <p:spPr>
          <a:xfrm>
            <a:off x="7775846" y="1903386"/>
            <a:ext cx="2209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Model responses</a:t>
            </a:r>
            <a:endParaRPr kumimoji="1" lang="zh-TW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1596A51-9590-A08B-B99F-216B8B87FBAE}"/>
              </a:ext>
            </a:extLst>
          </p:cNvPr>
          <p:cNvSpPr/>
          <p:nvPr/>
        </p:nvSpPr>
        <p:spPr>
          <a:xfrm>
            <a:off x="3949581" y="5221285"/>
            <a:ext cx="1807539" cy="555585"/>
          </a:xfrm>
          <a:prstGeom prst="rect">
            <a:avLst/>
          </a:prstGeom>
          <a:solidFill>
            <a:srgbClr val="BEDF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Rankings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20" name="肘形接點 19">
            <a:extLst>
              <a:ext uri="{FF2B5EF4-FFF2-40B4-BE49-F238E27FC236}">
                <a16:creationId xmlns:a16="http://schemas.microsoft.com/office/drawing/2014/main" id="{F4AC7E89-165E-A5A6-912C-2BDB3450537A}"/>
              </a:ext>
            </a:extLst>
          </p:cNvPr>
          <p:cNvCxnSpPr>
            <a:cxnSpLocks/>
            <a:stCxn id="10" idx="3"/>
            <a:endCxn id="18" idx="1"/>
          </p:cNvCxnSpPr>
          <p:nvPr/>
        </p:nvCxnSpPr>
        <p:spPr>
          <a:xfrm flipH="1">
            <a:off x="3949581" y="3301679"/>
            <a:ext cx="6363462" cy="2197399"/>
          </a:xfrm>
          <a:prstGeom prst="bentConnector5">
            <a:avLst>
              <a:gd name="adj1" fmla="val -5411"/>
              <a:gd name="adj2" fmla="val 66511"/>
              <a:gd name="adj3" fmla="val 109231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401C6241-4D18-772B-F63E-B409B12AD230}"/>
              </a:ext>
            </a:extLst>
          </p:cNvPr>
          <p:cNvSpPr txBox="1"/>
          <p:nvPr/>
        </p:nvSpPr>
        <p:spPr>
          <a:xfrm>
            <a:off x="1702969" y="4682304"/>
            <a:ext cx="16613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solidFill>
                  <a:srgbClr val="FF0000"/>
                </a:solidFill>
              </a:rPr>
              <a:t>Ranked by labelers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2BCFA237-E000-2E29-4C2F-74576EB35120}"/>
              </a:ext>
            </a:extLst>
          </p:cNvPr>
          <p:cNvSpPr txBox="1"/>
          <p:nvPr/>
        </p:nvSpPr>
        <p:spPr>
          <a:xfrm>
            <a:off x="6002802" y="5256669"/>
            <a:ext cx="27385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(E.g., D&gt;A&gt;B=C)</a:t>
            </a:r>
            <a:endParaRPr kumimoji="1"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6427669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C97BD9-DFA7-8129-5ED5-344A8F39C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Reward Model Training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496CFFF-2E72-13CC-D3DC-701E86947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00EE442-6DFB-EDB8-BE54-188BCFE8A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3135" y="1516284"/>
            <a:ext cx="2340392" cy="45893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76E81949-07B2-44DA-ED80-DB07C4BAB03C}"/>
                  </a:ext>
                </a:extLst>
              </p:cNvPr>
              <p:cNvSpPr txBox="1"/>
              <p:nvPr/>
            </p:nvSpPr>
            <p:spPr>
              <a:xfrm>
                <a:off x="7344136" y="1886672"/>
                <a:ext cx="363433" cy="4199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TW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kumimoji="1" lang="en-US" altLang="zh-TW" sz="20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kumimoji="1" lang="en-US" altLang="zh-TW" sz="20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kumimoji="1" lang="en-US" altLang="zh-TW" sz="20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</m:oMath>
                  </m:oMathPara>
                </a14:m>
                <a:endParaRPr kumimoji="1" lang="zh-TW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76E81949-07B2-44DA-ED80-DB07C4BAB0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136" y="1886672"/>
                <a:ext cx="363433" cy="419923"/>
              </a:xfrm>
              <a:prstGeom prst="rect">
                <a:avLst/>
              </a:prstGeom>
              <a:blipFill>
                <a:blip r:embed="rId3"/>
                <a:stretch>
                  <a:fillRect l="-13793" t="-5882" r="-17241" b="-176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字方塊 6">
            <a:extLst>
              <a:ext uri="{FF2B5EF4-FFF2-40B4-BE49-F238E27FC236}">
                <a16:creationId xmlns:a16="http://schemas.microsoft.com/office/drawing/2014/main" id="{022C3A91-8166-0FC7-7F7B-5315FABE1B7F}"/>
              </a:ext>
            </a:extLst>
          </p:cNvPr>
          <p:cNvSpPr txBox="1"/>
          <p:nvPr/>
        </p:nvSpPr>
        <p:spPr>
          <a:xfrm>
            <a:off x="653144" y="2041653"/>
            <a:ext cx="56608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" altLang="zh-TW" sz="2400" dirty="0"/>
              <a:t>Reward model: 6B GPT-3 fine-tuned on several NLP datasets </a:t>
            </a:r>
            <a:r>
              <a:rPr kumimoji="1" lang="en" altLang="zh-TW" sz="2400" dirty="0">
                <a:solidFill>
                  <a:srgbClr val="FF0000"/>
                </a:solidFill>
              </a:rPr>
              <a:t>with the last layer changed for reward modeling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1C87DB53-940E-8F76-692E-55603E4444D7}"/>
                  </a:ext>
                </a:extLst>
              </p:cNvPr>
              <p:cNvSpPr txBox="1"/>
              <p:nvPr/>
            </p:nvSpPr>
            <p:spPr>
              <a:xfrm>
                <a:off x="956346" y="3521596"/>
                <a:ext cx="54155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" altLang="zh-TW" sz="2400" b="1" dirty="0"/>
                  <a:t>Input</a:t>
                </a:r>
                <a:r>
                  <a:rPr kumimoji="1" lang="en" altLang="zh-TW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TW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TW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zh-TW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TW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zh-TW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" altLang="zh-TW" sz="2400" dirty="0"/>
                  <a:t>: ￼(prompt, response)</a:t>
                </a:r>
                <a:endParaRPr kumimoji="1" lang="zh-TW" altLang="en-US" sz="2400" dirty="0"/>
              </a:p>
            </p:txBody>
          </p:sp>
        </mc:Choice>
        <mc:Fallback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1C87DB53-940E-8F76-692E-55603E4444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346" y="3521596"/>
                <a:ext cx="5415518" cy="461665"/>
              </a:xfrm>
              <a:prstGeom prst="rect">
                <a:avLst/>
              </a:prstGeom>
              <a:blipFill>
                <a:blip r:embed="rId4"/>
                <a:stretch>
                  <a:fillRect l="-1874" t="-10811" b="-270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CC138096-EA94-43BE-2881-48AE793D332C}"/>
                  </a:ext>
                </a:extLst>
              </p:cNvPr>
              <p:cNvSpPr txBox="1"/>
              <p:nvPr/>
            </p:nvSpPr>
            <p:spPr>
              <a:xfrm>
                <a:off x="933163" y="4090579"/>
                <a:ext cx="57454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" altLang="zh-TW" sz="2400" b="1" dirty="0"/>
                  <a:t>Output</a:t>
                </a:r>
                <a:r>
                  <a:rPr kumimoji="1" lang="en" altLang="zh-TW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TW" sz="2400" b="0" i="0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kumimoji="1" lang="en-US" altLang="zh-TW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TW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zh-TW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TW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zh-TW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" altLang="zh-TW" sz="2400" dirty="0"/>
                  <a:t> ￼: ranking score in scalar</a:t>
                </a:r>
                <a:endParaRPr kumimoji="1" lang="zh-TW" altLang="en-US" sz="2400" dirty="0"/>
              </a:p>
            </p:txBody>
          </p:sp>
        </mc:Choice>
        <mc:Fallback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CC138096-EA94-43BE-2881-48AE793D33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163" y="4090579"/>
                <a:ext cx="5745430" cy="461665"/>
              </a:xfrm>
              <a:prstGeom prst="rect">
                <a:avLst/>
              </a:prstGeom>
              <a:blipFill>
                <a:blip r:embed="rId5"/>
                <a:stretch>
                  <a:fillRect l="-1762" t="-10811" b="-270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字方塊 9">
            <a:extLst>
              <a:ext uri="{FF2B5EF4-FFF2-40B4-BE49-F238E27FC236}">
                <a16:creationId xmlns:a16="http://schemas.microsoft.com/office/drawing/2014/main" id="{6191E5E6-BCC1-362B-F884-96EB1FC4B7E7}"/>
              </a:ext>
            </a:extLst>
          </p:cNvPr>
          <p:cNvSpPr txBox="1"/>
          <p:nvPr/>
        </p:nvSpPr>
        <p:spPr>
          <a:xfrm>
            <a:off x="2541864" y="4900213"/>
            <a:ext cx="47554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2000" dirty="0"/>
              <a:t>Optimize for difference in ranking scores</a:t>
            </a:r>
            <a:endParaRPr kumimoji="1" lang="zh-TW" altLang="en-US" sz="2000" dirty="0"/>
          </a:p>
        </p:txBody>
      </p: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EEFD507F-60CE-B94E-E88C-4BDF6457A2ED}"/>
              </a:ext>
            </a:extLst>
          </p:cNvPr>
          <p:cNvCxnSpPr>
            <a:cxnSpLocks/>
          </p:cNvCxnSpPr>
          <p:nvPr/>
        </p:nvCxnSpPr>
        <p:spPr>
          <a:xfrm>
            <a:off x="7455892" y="5122168"/>
            <a:ext cx="57873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6CFAF3B-4E9F-5FEE-BC66-7F0D9DF5907A}"/>
              </a:ext>
            </a:extLst>
          </p:cNvPr>
          <p:cNvSpPr txBox="1"/>
          <p:nvPr/>
        </p:nvSpPr>
        <p:spPr>
          <a:xfrm>
            <a:off x="3306877" y="5592133"/>
            <a:ext cx="42189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400" dirty="0"/>
              <a:t>Figure source: </a:t>
            </a:r>
            <a:r>
              <a:rPr kumimoji="1" lang="en-US" altLang="zh-TW" sz="1400" dirty="0" err="1"/>
              <a:t>Stiennon</a:t>
            </a:r>
            <a:r>
              <a:rPr kumimoji="1" lang="en-US" altLang="zh-TW" sz="1400" dirty="0"/>
              <a:t>, Nisan, et al. "Learning to summarize with human feedback." NIPS (2020)</a:t>
            </a:r>
            <a:endParaRPr kumimoji="1"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674500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D3349D-26FF-8618-57D7-6E359C5CC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" altLang="zh-TW" dirty="0"/>
              <a:t>Safety and Helpfulness Reward Modeling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EE53109-CF43-30A4-3AD9-1C3D58FBB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88C88A5-B555-40D1-103B-0C455F814D89}"/>
              </a:ext>
            </a:extLst>
          </p:cNvPr>
          <p:cNvSpPr txBox="1"/>
          <p:nvPr/>
        </p:nvSpPr>
        <p:spPr>
          <a:xfrm>
            <a:off x="735805" y="1904660"/>
            <a:ext cx="10618831" cy="3347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Compared with </a:t>
            </a:r>
            <a:r>
              <a:rPr kumimoji="1" lang="en-US" altLang="zh-TW" sz="2400" dirty="0" err="1"/>
              <a:t>InstructGPT</a:t>
            </a:r>
            <a:r>
              <a:rPr kumimoji="1" lang="en-US" altLang="zh-TW" sz="2400" dirty="0"/>
              <a:t>, LLAMA-2 strengthen </a:t>
            </a:r>
            <a:r>
              <a:rPr kumimoji="1" lang="en-US" altLang="zh-TW" sz="2400" dirty="0">
                <a:solidFill>
                  <a:srgbClr val="FF0000"/>
                </a:solidFill>
              </a:rPr>
              <a:t>safety</a:t>
            </a:r>
            <a:r>
              <a:rPr kumimoji="1" lang="en-US" altLang="zh-TW" sz="2400" dirty="0"/>
              <a:t> for model responses.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However, most of the time, we want LLMs to help us solve our requests.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(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安全</a:t>
            </a:r>
            <a:r>
              <a:rPr kumimoji="1" lang="en-US" altLang="zh-TW" sz="2400" dirty="0"/>
              <a:t>) </a:t>
            </a:r>
            <a:r>
              <a:rPr kumimoji="1" lang="en" altLang="zh-TW" sz="2400" dirty="0"/>
              <a:t>Safety -&gt; LLM should not be harmful.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/>
              <a:t>(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有效</a:t>
            </a:r>
            <a:r>
              <a:rPr kumimoji="1" lang="en" altLang="zh-TW" sz="2400" dirty="0"/>
              <a:t>)</a:t>
            </a:r>
            <a:r>
              <a:rPr kumimoji="1" lang="zh-TW" altLang="en-US" sz="2400" dirty="0"/>
              <a:t> </a:t>
            </a:r>
            <a:r>
              <a:rPr kumimoji="1" lang="en" altLang="zh-TW" sz="2400" dirty="0"/>
              <a:t>Helpfulness -&gt; LLM should follow human instructions and solve problems.</a:t>
            </a:r>
            <a:endParaRPr kumimoji="1" lang="zh-TW" altLang="en-US" sz="24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5BCD6EA-9A16-2A15-2449-8C35F2793989}"/>
              </a:ext>
            </a:extLst>
          </p:cNvPr>
          <p:cNvSpPr txBox="1"/>
          <p:nvPr/>
        </p:nvSpPr>
        <p:spPr>
          <a:xfrm>
            <a:off x="3889695" y="6313011"/>
            <a:ext cx="44126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200" dirty="0" err="1"/>
              <a:t>Touvron</a:t>
            </a:r>
            <a:r>
              <a:rPr kumimoji="1" lang="en" altLang="zh-TW" sz="1200" dirty="0"/>
              <a:t>, Hugo, et al. "Llama 2: Open foundation and fine-tuned chat models." </a:t>
            </a:r>
            <a:r>
              <a:rPr kumimoji="1" lang="en" altLang="zh-TW" sz="1200" dirty="0" err="1"/>
              <a:t>arXiv</a:t>
            </a:r>
            <a:r>
              <a:rPr kumimoji="1" lang="en" altLang="zh-TW" sz="1200" dirty="0"/>
              <a:t> preprint arXiv:2307.09288 (2023).</a:t>
            </a:r>
            <a:endParaRPr kumimoji="1"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417279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D3349D-26FF-8618-57D7-6E359C5CC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Human Preference Data Collection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EE53109-CF43-30A4-3AD9-1C3D58FBB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88C88A5-B555-40D1-103B-0C455F814D89}"/>
              </a:ext>
            </a:extLst>
          </p:cNvPr>
          <p:cNvSpPr txBox="1"/>
          <p:nvPr/>
        </p:nvSpPr>
        <p:spPr>
          <a:xfrm>
            <a:off x="1006679" y="3642685"/>
            <a:ext cx="16908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Annotation Team</a:t>
            </a:r>
            <a:endParaRPr kumimoji="1" lang="zh-TW" altLang="en-US" sz="2400" dirty="0"/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C52EE5DB-D354-E585-DE8B-B3D0A7A695C7}"/>
              </a:ext>
            </a:extLst>
          </p:cNvPr>
          <p:cNvSpPr/>
          <p:nvPr/>
        </p:nvSpPr>
        <p:spPr>
          <a:xfrm>
            <a:off x="4024944" y="2343150"/>
            <a:ext cx="1703070" cy="491490"/>
          </a:xfrm>
          <a:prstGeom prst="roundRect">
            <a:avLst/>
          </a:prstGeom>
          <a:solidFill>
            <a:srgbClr val="CAE5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Category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39C317A9-B0C3-468F-5C18-6FB2EEDD1CB3}"/>
              </a:ext>
            </a:extLst>
          </p:cNvPr>
          <p:cNvSpPr/>
          <p:nvPr/>
        </p:nvSpPr>
        <p:spPr>
          <a:xfrm>
            <a:off x="7326829" y="2343150"/>
            <a:ext cx="2641134" cy="491490"/>
          </a:xfrm>
          <a:prstGeom prst="roundRect">
            <a:avLst/>
          </a:prstGeom>
          <a:solidFill>
            <a:srgbClr val="CAE5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Prompt Example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98BE5EF-1066-418A-A441-C78996A87943}"/>
              </a:ext>
            </a:extLst>
          </p:cNvPr>
          <p:cNvSpPr txBox="1"/>
          <p:nvPr/>
        </p:nvSpPr>
        <p:spPr>
          <a:xfrm>
            <a:off x="3914602" y="3222813"/>
            <a:ext cx="19134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b="1" dirty="0">
                <a:solidFill>
                  <a:srgbClr val="00B050"/>
                </a:solidFill>
              </a:rPr>
              <a:t>Helpfulness</a:t>
            </a:r>
            <a:endParaRPr kumimoji="1" lang="zh-TW" altLang="en-US" sz="2400" b="1" dirty="0">
              <a:solidFill>
                <a:srgbClr val="00B05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5599EB4-7D06-3201-4CC2-3F6DDD5DC189}"/>
              </a:ext>
            </a:extLst>
          </p:cNvPr>
          <p:cNvSpPr txBox="1"/>
          <p:nvPr/>
        </p:nvSpPr>
        <p:spPr>
          <a:xfrm>
            <a:off x="3914602" y="4526142"/>
            <a:ext cx="19134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b="1" dirty="0">
                <a:solidFill>
                  <a:srgbClr val="00B050"/>
                </a:solidFill>
              </a:rPr>
              <a:t>Safety</a:t>
            </a:r>
            <a:endParaRPr kumimoji="1" lang="zh-TW" altLang="en-US" sz="2400" b="1" dirty="0">
              <a:solidFill>
                <a:srgbClr val="00B050"/>
              </a:solidFill>
            </a:endParaRPr>
          </a:p>
        </p:txBody>
      </p: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80D797F5-7BBD-9D02-DD78-273888DAD02B}"/>
              </a:ext>
            </a:extLst>
          </p:cNvPr>
          <p:cNvCxnSpPr>
            <a:cxnSpLocks/>
          </p:cNvCxnSpPr>
          <p:nvPr/>
        </p:nvCxnSpPr>
        <p:spPr>
          <a:xfrm flipV="1">
            <a:off x="2846070" y="3554730"/>
            <a:ext cx="982980" cy="50345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9DA96008-657D-6DE2-A76D-689445CAE9CD}"/>
              </a:ext>
            </a:extLst>
          </p:cNvPr>
          <p:cNvCxnSpPr>
            <a:cxnSpLocks/>
          </p:cNvCxnSpPr>
          <p:nvPr/>
        </p:nvCxnSpPr>
        <p:spPr>
          <a:xfrm>
            <a:off x="2814551" y="4221955"/>
            <a:ext cx="982980" cy="50345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7DFFAC02-92A1-A52E-967E-70A443D4F630}"/>
              </a:ext>
            </a:extLst>
          </p:cNvPr>
          <p:cNvSpPr txBox="1"/>
          <p:nvPr/>
        </p:nvSpPr>
        <p:spPr>
          <a:xfrm>
            <a:off x="6534323" y="3108960"/>
            <a:ext cx="44585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kumimoji="1" lang="en" altLang="zh-TW" dirty="0"/>
              <a:t>How does a </a:t>
            </a:r>
            <a:r>
              <a:rPr kumimoji="1" lang="en" altLang="zh-TW" dirty="0" err="1"/>
              <a:t>ponzi</a:t>
            </a:r>
            <a:r>
              <a:rPr kumimoji="1" lang="en" altLang="zh-TW" dirty="0"/>
              <a:t> scheme operate.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kumimoji="1" lang="en" altLang="zh-TW" dirty="0"/>
              <a:t>How do the masterminds set it up?</a:t>
            </a:r>
            <a:endParaRPr kumimoji="1"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4D7F494-115B-7F5E-57B5-6EA93773F96C}"/>
              </a:ext>
            </a:extLst>
          </p:cNvPr>
          <p:cNvSpPr txBox="1"/>
          <p:nvPr/>
        </p:nvSpPr>
        <p:spPr>
          <a:xfrm>
            <a:off x="6534323" y="4433808"/>
            <a:ext cx="44585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kumimoji="1" lang="en" altLang="zh-TW" dirty="0"/>
              <a:t>Tell me how I can rip-off my customers by selling them cars that don’t run.</a:t>
            </a:r>
            <a:endParaRPr kumimoji="1"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6E40626B-76CA-B390-9BCC-B75D54331722}"/>
              </a:ext>
            </a:extLst>
          </p:cNvPr>
          <p:cNvSpPr txBox="1"/>
          <p:nvPr/>
        </p:nvSpPr>
        <p:spPr>
          <a:xfrm>
            <a:off x="3861980" y="5221046"/>
            <a:ext cx="23043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Prompts were being tagged for either helpfulness or safety.</a:t>
            </a:r>
            <a:endParaRPr kumimoji="1" lang="zh-TW" alt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6D7BA5AB-B7F2-36C9-5944-AA95FA6D34DD}"/>
              </a:ext>
            </a:extLst>
          </p:cNvPr>
          <p:cNvSpPr txBox="1"/>
          <p:nvPr/>
        </p:nvSpPr>
        <p:spPr>
          <a:xfrm>
            <a:off x="653143" y="1695221"/>
            <a:ext cx="56219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" altLang="zh-TW" sz="2000" dirty="0"/>
              <a:t>Human-written prompts for reward modeling.</a:t>
            </a:r>
            <a:endParaRPr kumimoji="1"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9334411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A3C186-D847-8769-E610-5A0632514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Human Scoring for Reward Modeling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1BD90D2-F43F-69F5-FED0-3A7A30539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09B7BBE6-0BFE-78F2-CAF0-32D66797BA5F}"/>
              </a:ext>
            </a:extLst>
          </p:cNvPr>
          <p:cNvSpPr/>
          <p:nvPr/>
        </p:nvSpPr>
        <p:spPr>
          <a:xfrm>
            <a:off x="917350" y="3531672"/>
            <a:ext cx="1224568" cy="491490"/>
          </a:xfrm>
          <a:prstGeom prst="roundRect">
            <a:avLst/>
          </a:prstGeom>
          <a:solidFill>
            <a:srgbClr val="CAE5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Prompt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66927E3F-4AA5-EBDA-C33D-B5F2C89A1D4A}"/>
              </a:ext>
            </a:extLst>
          </p:cNvPr>
          <p:cNvSpPr/>
          <p:nvPr/>
        </p:nvSpPr>
        <p:spPr>
          <a:xfrm>
            <a:off x="2729765" y="2853148"/>
            <a:ext cx="1936625" cy="722259"/>
          </a:xfrm>
          <a:prstGeom prst="roundRect">
            <a:avLst/>
          </a:prstGeom>
          <a:solidFill>
            <a:srgbClr val="FFEB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b="1" dirty="0">
                <a:solidFill>
                  <a:schemeClr val="tx1"/>
                </a:solidFill>
              </a:rPr>
              <a:t>SFT Model A</a:t>
            </a:r>
            <a:endParaRPr kumimoji="1" lang="zh-TW" altLang="en-US" sz="2400" b="1" dirty="0">
              <a:solidFill>
                <a:schemeClr val="tx1"/>
              </a:solidFill>
            </a:endParaRP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8EC234C7-BB44-1F3F-08A8-33259D951647}"/>
              </a:ext>
            </a:extLst>
          </p:cNvPr>
          <p:cNvSpPr/>
          <p:nvPr/>
        </p:nvSpPr>
        <p:spPr>
          <a:xfrm>
            <a:off x="2729765" y="3998665"/>
            <a:ext cx="1936625" cy="722259"/>
          </a:xfrm>
          <a:prstGeom prst="roundRect">
            <a:avLst/>
          </a:prstGeom>
          <a:solidFill>
            <a:srgbClr val="FFEB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b="1" dirty="0">
                <a:solidFill>
                  <a:schemeClr val="tx1"/>
                </a:solidFill>
              </a:rPr>
              <a:t>SFT Model B</a:t>
            </a:r>
            <a:endParaRPr kumimoji="1" lang="zh-TW" altLang="en-US" sz="2400" b="1" dirty="0">
              <a:solidFill>
                <a:schemeClr val="tx1"/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5756B15-02A6-FA2A-8CB0-DA9520C9FDF5}"/>
              </a:ext>
            </a:extLst>
          </p:cNvPr>
          <p:cNvSpPr txBox="1"/>
          <p:nvPr/>
        </p:nvSpPr>
        <p:spPr>
          <a:xfrm>
            <a:off x="2222062" y="4909859"/>
            <a:ext cx="29520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Many versions of SFT exist. Two different models were used each time</a:t>
            </a:r>
            <a:endParaRPr kumimoji="1" lang="zh-TW" altLang="en-US" dirty="0"/>
          </a:p>
        </p:txBody>
      </p: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CB191CC9-7655-A53E-D9B2-35FEDD7F4816}"/>
              </a:ext>
            </a:extLst>
          </p:cNvPr>
          <p:cNvCxnSpPr>
            <a:cxnSpLocks/>
          </p:cNvCxnSpPr>
          <p:nvPr/>
        </p:nvCxnSpPr>
        <p:spPr>
          <a:xfrm>
            <a:off x="2197510" y="3776810"/>
            <a:ext cx="46491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61FC350C-40D9-8CA2-130F-C0069443089B}"/>
              </a:ext>
            </a:extLst>
          </p:cNvPr>
          <p:cNvSpPr/>
          <p:nvPr/>
        </p:nvSpPr>
        <p:spPr>
          <a:xfrm>
            <a:off x="5254236" y="2853148"/>
            <a:ext cx="1583853" cy="722259"/>
          </a:xfrm>
          <a:prstGeom prst="roundRect">
            <a:avLst/>
          </a:prstGeom>
          <a:solidFill>
            <a:srgbClr val="FFEB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b="1" dirty="0">
                <a:solidFill>
                  <a:schemeClr val="tx1"/>
                </a:solidFill>
              </a:rPr>
              <a:t>Outputs A</a:t>
            </a:r>
            <a:endParaRPr kumimoji="1" lang="zh-TW" altLang="en-US" sz="2400" b="1" dirty="0">
              <a:solidFill>
                <a:schemeClr val="tx1"/>
              </a:solidFill>
            </a:endParaRP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F3ABE353-C946-29A4-7CDE-62283B6C45C3}"/>
              </a:ext>
            </a:extLst>
          </p:cNvPr>
          <p:cNvSpPr/>
          <p:nvPr/>
        </p:nvSpPr>
        <p:spPr>
          <a:xfrm>
            <a:off x="5254237" y="3998664"/>
            <a:ext cx="1583853" cy="722259"/>
          </a:xfrm>
          <a:prstGeom prst="roundRect">
            <a:avLst/>
          </a:prstGeom>
          <a:solidFill>
            <a:srgbClr val="FFEB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b="1" dirty="0">
                <a:solidFill>
                  <a:schemeClr val="tx1"/>
                </a:solidFill>
              </a:rPr>
              <a:t>Outputs B</a:t>
            </a:r>
            <a:endParaRPr kumimoji="1" lang="zh-TW" altLang="en-US" sz="2400" b="1" dirty="0">
              <a:solidFill>
                <a:schemeClr val="tx1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E5CF57C6-D537-8B6B-7F7E-768836C92A88}"/>
              </a:ext>
            </a:extLst>
          </p:cNvPr>
          <p:cNvSpPr txBox="1"/>
          <p:nvPr/>
        </p:nvSpPr>
        <p:spPr>
          <a:xfrm>
            <a:off x="8507244" y="2505572"/>
            <a:ext cx="2775492" cy="2468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kumimoji="1" lang="en" altLang="zh-TW" sz="2000" dirty="0"/>
              <a:t>3 (Significantly better)</a:t>
            </a:r>
          </a:p>
          <a:p>
            <a:pPr>
              <a:lnSpc>
                <a:spcPct val="200000"/>
              </a:lnSpc>
            </a:pPr>
            <a:r>
              <a:rPr kumimoji="1" lang="en" altLang="zh-TW" sz="2000" dirty="0"/>
              <a:t>2 (Better)</a:t>
            </a:r>
          </a:p>
          <a:p>
            <a:pPr>
              <a:lnSpc>
                <a:spcPct val="200000"/>
              </a:lnSpc>
            </a:pPr>
            <a:r>
              <a:rPr kumimoji="1" lang="en" altLang="zh-TW" sz="2000" dirty="0"/>
              <a:t>1 (Slightly better)</a:t>
            </a:r>
          </a:p>
          <a:p>
            <a:pPr>
              <a:lnSpc>
                <a:spcPct val="200000"/>
              </a:lnSpc>
            </a:pPr>
            <a:r>
              <a:rPr kumimoji="1" lang="en" altLang="zh-TW" sz="2000" dirty="0"/>
              <a:t>0 (Negligibly better)</a:t>
            </a:r>
            <a:endParaRPr kumimoji="1" lang="zh-TW" altLang="en-US" sz="2000" dirty="0"/>
          </a:p>
        </p:txBody>
      </p: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2CA8ACA5-95AC-CEDD-3F9F-DD1DEF48531C}"/>
              </a:ext>
            </a:extLst>
          </p:cNvPr>
          <p:cNvCxnSpPr>
            <a:cxnSpLocks/>
          </p:cNvCxnSpPr>
          <p:nvPr/>
        </p:nvCxnSpPr>
        <p:spPr>
          <a:xfrm>
            <a:off x="6838089" y="3757234"/>
            <a:ext cx="158877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箭頭接點 16">
            <a:extLst>
              <a:ext uri="{FF2B5EF4-FFF2-40B4-BE49-F238E27FC236}">
                <a16:creationId xmlns:a16="http://schemas.microsoft.com/office/drawing/2014/main" id="{293E1929-23F6-312F-8BE7-016B7C2C2CDF}"/>
              </a:ext>
            </a:extLst>
          </p:cNvPr>
          <p:cNvCxnSpPr>
            <a:cxnSpLocks/>
          </p:cNvCxnSpPr>
          <p:nvPr/>
        </p:nvCxnSpPr>
        <p:spPr>
          <a:xfrm>
            <a:off x="4703157" y="3757234"/>
            <a:ext cx="46491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9183FB3E-5AEB-B0E6-8C20-CA8509B99442}"/>
              </a:ext>
            </a:extLst>
          </p:cNvPr>
          <p:cNvSpPr txBox="1"/>
          <p:nvPr/>
        </p:nvSpPr>
        <p:spPr>
          <a:xfrm>
            <a:off x="6906106" y="3217747"/>
            <a:ext cx="1481424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000" b="1" dirty="0">
                <a:solidFill>
                  <a:srgbClr val="FF0000"/>
                </a:solidFill>
              </a:rPr>
              <a:t>Scored by labelers</a:t>
            </a:r>
            <a:endParaRPr kumimoji="1" lang="zh-TW" altLang="en-US" sz="2000" b="1" dirty="0">
              <a:solidFill>
                <a:srgbClr val="FF0000"/>
              </a:solidFill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AD86116E-1EC1-5C93-1936-0055BDFD8F87}"/>
              </a:ext>
            </a:extLst>
          </p:cNvPr>
          <p:cNvSpPr txBox="1"/>
          <p:nvPr/>
        </p:nvSpPr>
        <p:spPr>
          <a:xfrm>
            <a:off x="8412946" y="1971874"/>
            <a:ext cx="29124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sz="2400" b="1" dirty="0"/>
              <a:t>Score for A </a:t>
            </a:r>
            <a:r>
              <a:rPr kumimoji="1" lang="en" altLang="zh-TW" sz="2400" b="1" dirty="0">
                <a:solidFill>
                  <a:srgbClr val="FF0000"/>
                </a:solidFill>
              </a:rPr>
              <a:t>over</a:t>
            </a:r>
            <a:r>
              <a:rPr kumimoji="1" lang="en" altLang="zh-TW" sz="2400" b="1" dirty="0"/>
              <a:t> B</a:t>
            </a:r>
            <a:endParaRPr kumimoji="1" lang="zh-TW" altLang="en-US" sz="2400" b="1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9C674217-B19D-9C14-F343-8B0DEEBBF70A}"/>
              </a:ext>
            </a:extLst>
          </p:cNvPr>
          <p:cNvSpPr txBox="1"/>
          <p:nvPr/>
        </p:nvSpPr>
        <p:spPr>
          <a:xfrm>
            <a:off x="653143" y="4023162"/>
            <a:ext cx="20372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600" dirty="0"/>
              <a:t>Either safety or helpfulness prompt</a:t>
            </a:r>
            <a:endParaRPr kumimoji="1"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34772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362734-CDD4-8529-6243-1DC20248D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Separate Reward Model Training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19CB5D1-2DD9-503D-0612-64BE5D6F2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CE7531DD-A5C1-874E-F4E9-83DAC8FDDBCF}"/>
                  </a:ext>
                </a:extLst>
              </p:cNvPr>
              <p:cNvSpPr txBox="1"/>
              <p:nvPr/>
            </p:nvSpPr>
            <p:spPr>
              <a:xfrm>
                <a:off x="688196" y="1704856"/>
                <a:ext cx="749808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en" altLang="zh-TW" sz="2000" dirty="0"/>
                  <a:t>Similar to Instruct-GPT, but with additional margin loss </a:t>
                </a:r>
                <a14:m>
                  <m:oMath xmlns:m="http://schemas.openxmlformats.org/officeDocument/2006/math">
                    <m:r>
                      <a:rPr kumimoji="1" lang="en-US" altLang="zh-TW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kumimoji="1" lang="en-US" altLang="zh-TW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TW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kumimoji="1" lang="en-US" altLang="zh-TW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zh-TW" altLang="en-US" sz="2000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CE7531DD-A5C1-874E-F4E9-83DAC8FDDB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196" y="1704856"/>
                <a:ext cx="7498080" cy="400110"/>
              </a:xfrm>
              <a:prstGeom prst="rect">
                <a:avLst/>
              </a:prstGeom>
              <a:blipFill>
                <a:blip r:embed="rId2"/>
                <a:stretch>
                  <a:fillRect l="-846" t="-9375" b="-2812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圓角矩形 5">
            <a:extLst>
              <a:ext uri="{FF2B5EF4-FFF2-40B4-BE49-F238E27FC236}">
                <a16:creationId xmlns:a16="http://schemas.microsoft.com/office/drawing/2014/main" id="{36D8E67A-4CC4-5ED2-4734-8854830E0331}"/>
              </a:ext>
            </a:extLst>
          </p:cNvPr>
          <p:cNvSpPr/>
          <p:nvPr/>
        </p:nvSpPr>
        <p:spPr>
          <a:xfrm>
            <a:off x="1097280" y="3450336"/>
            <a:ext cx="1224568" cy="491490"/>
          </a:xfrm>
          <a:prstGeom prst="roundRect">
            <a:avLst/>
          </a:prstGeom>
          <a:solidFill>
            <a:srgbClr val="CAE5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Prompt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8AD080DB-75CD-B0CF-9167-A00BCB057F68}"/>
              </a:ext>
            </a:extLst>
          </p:cNvPr>
          <p:cNvSpPr/>
          <p:nvPr/>
        </p:nvSpPr>
        <p:spPr>
          <a:xfrm>
            <a:off x="2370926" y="3334952"/>
            <a:ext cx="1583853" cy="722259"/>
          </a:xfrm>
          <a:prstGeom prst="roundRect">
            <a:avLst/>
          </a:prstGeom>
          <a:solidFill>
            <a:srgbClr val="FFEB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b="1" dirty="0">
                <a:solidFill>
                  <a:schemeClr val="tx1"/>
                </a:solidFill>
              </a:rPr>
              <a:t>Outputs A</a:t>
            </a:r>
            <a:endParaRPr kumimoji="1" lang="zh-TW" altLang="en-US" sz="2400" b="1" dirty="0">
              <a:solidFill>
                <a:schemeClr val="tx1"/>
              </a:solidFill>
            </a:endParaRP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C16D7536-CABB-152F-DA52-69BBA02DB8CB}"/>
              </a:ext>
            </a:extLst>
          </p:cNvPr>
          <p:cNvSpPr/>
          <p:nvPr/>
        </p:nvSpPr>
        <p:spPr>
          <a:xfrm>
            <a:off x="2370927" y="4423318"/>
            <a:ext cx="1583853" cy="722259"/>
          </a:xfrm>
          <a:prstGeom prst="roundRect">
            <a:avLst/>
          </a:prstGeom>
          <a:solidFill>
            <a:srgbClr val="FFEB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b="1" dirty="0">
                <a:solidFill>
                  <a:schemeClr val="tx1"/>
                </a:solidFill>
              </a:rPr>
              <a:t>Outputs B</a:t>
            </a:r>
            <a:endParaRPr kumimoji="1" lang="zh-TW" altLang="en-US" sz="2400" b="1" dirty="0">
              <a:solidFill>
                <a:schemeClr val="tx1"/>
              </a:solidFill>
            </a:endParaRP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18BA3660-5D9B-7850-F906-8CA73E5C02E6}"/>
              </a:ext>
            </a:extLst>
          </p:cNvPr>
          <p:cNvSpPr/>
          <p:nvPr/>
        </p:nvSpPr>
        <p:spPr>
          <a:xfrm>
            <a:off x="1097280" y="4538702"/>
            <a:ext cx="1224568" cy="491490"/>
          </a:xfrm>
          <a:prstGeom prst="roundRect">
            <a:avLst/>
          </a:prstGeom>
          <a:solidFill>
            <a:srgbClr val="CAE5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Prompt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39233DA8-C076-2313-9A9B-4E17E469F246}"/>
              </a:ext>
            </a:extLst>
          </p:cNvPr>
          <p:cNvCxnSpPr>
            <a:cxnSpLocks/>
          </p:cNvCxnSpPr>
          <p:nvPr/>
        </p:nvCxnSpPr>
        <p:spPr>
          <a:xfrm>
            <a:off x="4060127" y="3696081"/>
            <a:ext cx="46491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425CBF1D-EEC3-62E7-DB3D-0BC6631238E1}"/>
              </a:ext>
            </a:extLst>
          </p:cNvPr>
          <p:cNvCxnSpPr>
            <a:cxnSpLocks/>
          </p:cNvCxnSpPr>
          <p:nvPr/>
        </p:nvCxnSpPr>
        <p:spPr>
          <a:xfrm>
            <a:off x="4060127" y="4784447"/>
            <a:ext cx="46491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圖片 11">
            <a:extLst>
              <a:ext uri="{FF2B5EF4-FFF2-40B4-BE49-F238E27FC236}">
                <a16:creationId xmlns:a16="http://schemas.microsoft.com/office/drawing/2014/main" id="{0F2E8757-78B4-F433-BF06-BFB016212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124" y="3227828"/>
            <a:ext cx="911194" cy="936505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17F64111-9BE7-7149-93D5-086037D29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4667" y="4316194"/>
            <a:ext cx="911194" cy="936505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9548986A-AA33-0A42-9598-FF3ADF2CE1B7}"/>
              </a:ext>
            </a:extLst>
          </p:cNvPr>
          <p:cNvSpPr txBox="1"/>
          <p:nvPr/>
        </p:nvSpPr>
        <p:spPr>
          <a:xfrm>
            <a:off x="4498853" y="2609802"/>
            <a:ext cx="1055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00B050"/>
                </a:solidFill>
              </a:rPr>
              <a:t>Reward model</a:t>
            </a:r>
            <a:endParaRPr kumimoji="1" lang="zh-TW" altLang="en-US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7F08D693-752D-E653-44A5-54B8C3BADDE9}"/>
                  </a:ext>
                </a:extLst>
              </p:cNvPr>
              <p:cNvSpPr txBox="1"/>
              <p:nvPr/>
            </p:nvSpPr>
            <p:spPr>
              <a:xfrm>
                <a:off x="5886450" y="4023208"/>
                <a:ext cx="517779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en-US" altLang="zh-TW" sz="2000" b="0" i="0" smtClean="0">
                          <a:latin typeface="Cambria Math" panose="02040503050406030204" pitchFamily="18" charset="0"/>
                        </a:rPr>
                        <m:t>Loss</m:t>
                      </m:r>
                      <m:r>
                        <a:rPr kumimoji="1" lang="en-US" altLang="zh-TW" sz="2000" b="0" i="1" smtClean="0">
                          <a:latin typeface="Cambria Math" panose="02040503050406030204" pitchFamily="18" charset="0"/>
                        </a:rPr>
                        <m:t>=−</m:t>
                      </m:r>
                      <m:func>
                        <m:funcPr>
                          <m:ctrlP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TW" sz="20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en-US" altLang="zh-TW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1" lang="en-US" altLang="zh-TW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TW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TW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kumimoji="1" lang="en-US" altLang="zh-TW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kumimoji="1" lang="en-US" altLang="zh-TW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zh-TW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d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en-US" altLang="zh-TW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TW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zh-TW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e>
                          </m:d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)))</m:t>
                          </m:r>
                        </m:e>
                      </m:func>
                    </m:oMath>
                  </m:oMathPara>
                </a14:m>
                <a:endParaRPr kumimoji="1" lang="zh-TW" altLang="en-US" sz="2000" dirty="0"/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7F08D693-752D-E653-44A5-54B8C3BADD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6450" y="4023208"/>
                <a:ext cx="5177790" cy="400110"/>
              </a:xfrm>
              <a:prstGeom prst="rect">
                <a:avLst/>
              </a:prstGeom>
              <a:blipFill>
                <a:blip r:embed="rId4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肘形接點 16">
            <a:extLst>
              <a:ext uri="{FF2B5EF4-FFF2-40B4-BE49-F238E27FC236}">
                <a16:creationId xmlns:a16="http://schemas.microsoft.com/office/drawing/2014/main" id="{BBE58C27-9FE3-010C-92B4-DEDEC90B8017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5482318" y="3696081"/>
            <a:ext cx="2652985" cy="38061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肘形接點 21">
            <a:extLst>
              <a:ext uri="{FF2B5EF4-FFF2-40B4-BE49-F238E27FC236}">
                <a16:creationId xmlns:a16="http://schemas.microsoft.com/office/drawing/2014/main" id="{668D3178-C181-AC2E-989D-8BB72BB04B14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5495861" y="4423318"/>
            <a:ext cx="3839418" cy="36112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B5B6578D-B882-8B81-79A4-39B490D9F830}"/>
              </a:ext>
            </a:extLst>
          </p:cNvPr>
          <p:cNvCxnSpPr>
            <a:cxnSpLocks/>
          </p:cNvCxnSpPr>
          <p:nvPr/>
        </p:nvCxnSpPr>
        <p:spPr>
          <a:xfrm>
            <a:off x="7760970" y="4423318"/>
            <a:ext cx="83439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36927CCD-B0D4-605F-7C20-967BF38FE6E6}"/>
              </a:ext>
            </a:extLst>
          </p:cNvPr>
          <p:cNvCxnSpPr>
            <a:cxnSpLocks/>
          </p:cNvCxnSpPr>
          <p:nvPr/>
        </p:nvCxnSpPr>
        <p:spPr>
          <a:xfrm>
            <a:off x="8952374" y="4423318"/>
            <a:ext cx="83439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C894AE92-CB90-75B1-EF78-1DB979ADB138}"/>
              </a:ext>
            </a:extLst>
          </p:cNvPr>
          <p:cNvCxnSpPr>
            <a:cxnSpLocks/>
          </p:cNvCxnSpPr>
          <p:nvPr/>
        </p:nvCxnSpPr>
        <p:spPr>
          <a:xfrm>
            <a:off x="10162914" y="4423318"/>
            <a:ext cx="55842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D46B8D37-068F-DAB1-364E-A8629730E1AE}"/>
                  </a:ext>
                </a:extLst>
              </p:cNvPr>
              <p:cNvSpPr txBox="1"/>
              <p:nvPr/>
            </p:nvSpPr>
            <p:spPr>
              <a:xfrm>
                <a:off x="6090625" y="3338524"/>
                <a:ext cx="14363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TW" dirty="0"/>
                  <a:t>(</a:t>
                </a:r>
                <a14:m>
                  <m:oMath xmlns:m="http://schemas.openxmlformats.org/officeDocument/2006/math">
                    <m:r>
                      <a:rPr kumimoji="1" lang="en-US" altLang="zh-TW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kumimoji="1" lang="en-US" altLang="zh-TW" dirty="0"/>
                  <a:t>: correct)</a:t>
                </a:r>
                <a:endParaRPr kumimoji="1" lang="zh-TW" altLang="en-US" dirty="0"/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D46B8D37-068F-DAB1-364E-A8629730E1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0625" y="3338524"/>
                <a:ext cx="1436370" cy="369332"/>
              </a:xfrm>
              <a:prstGeom prst="rect">
                <a:avLst/>
              </a:prstGeom>
              <a:blipFill>
                <a:blip r:embed="rId5"/>
                <a:stretch>
                  <a:fillRect l="-3509" t="-10345" b="-275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DD479D48-E9F7-6C23-C2FA-62B901D36FA4}"/>
                  </a:ext>
                </a:extLst>
              </p:cNvPr>
              <p:cNvSpPr txBox="1"/>
              <p:nvPr/>
            </p:nvSpPr>
            <p:spPr>
              <a:xfrm>
                <a:off x="6343480" y="4785053"/>
                <a:ext cx="23670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TW" dirty="0"/>
                  <a:t>(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kumimoji="1" lang="en-US" altLang="zh-TW" dirty="0"/>
                  <a:t>: rejected; incorrect)</a:t>
                </a:r>
                <a:endParaRPr kumimoji="1" lang="zh-TW" altLang="en-US" dirty="0"/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DD479D48-E9F7-6C23-C2FA-62B901D36F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3480" y="4785053"/>
                <a:ext cx="2367029" cy="369332"/>
              </a:xfrm>
              <a:prstGeom prst="rect">
                <a:avLst/>
              </a:prstGeom>
              <a:blipFill>
                <a:blip r:embed="rId6"/>
                <a:stretch>
                  <a:fillRect l="-2139" t="-6452" b="-225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文字方塊 34">
            <a:extLst>
              <a:ext uri="{FF2B5EF4-FFF2-40B4-BE49-F238E27FC236}">
                <a16:creationId xmlns:a16="http://schemas.microsoft.com/office/drawing/2014/main" id="{AF6F0E64-6B0D-1D31-989E-132886627B08}"/>
              </a:ext>
            </a:extLst>
          </p:cNvPr>
          <p:cNvSpPr txBox="1"/>
          <p:nvPr/>
        </p:nvSpPr>
        <p:spPr>
          <a:xfrm>
            <a:off x="4156519" y="5314232"/>
            <a:ext cx="1729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Safety RM</a:t>
            </a: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FAE1C4A5-7018-B45C-BB38-8B4CA98CEC8B}"/>
              </a:ext>
            </a:extLst>
          </p:cNvPr>
          <p:cNvSpPr txBox="1"/>
          <p:nvPr/>
        </p:nvSpPr>
        <p:spPr>
          <a:xfrm>
            <a:off x="688196" y="5793680"/>
            <a:ext cx="2306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Helpfulness prompt</a:t>
            </a:r>
            <a:endParaRPr kumimoji="1" lang="zh-TW" altLang="en-US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C355ACD4-816D-F06C-78E6-E2A5B5227BF7}"/>
              </a:ext>
            </a:extLst>
          </p:cNvPr>
          <p:cNvSpPr txBox="1"/>
          <p:nvPr/>
        </p:nvSpPr>
        <p:spPr>
          <a:xfrm>
            <a:off x="917636" y="5314232"/>
            <a:ext cx="207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Safety prompt</a:t>
            </a:r>
            <a:endParaRPr kumimoji="1" lang="zh-TW" altLang="en-US" dirty="0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ECF8826C-2C99-3767-A775-C36EF25F1D26}"/>
              </a:ext>
            </a:extLst>
          </p:cNvPr>
          <p:cNvSpPr txBox="1"/>
          <p:nvPr/>
        </p:nvSpPr>
        <p:spPr>
          <a:xfrm>
            <a:off x="4156519" y="5786648"/>
            <a:ext cx="1934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Helpfulness RM</a:t>
            </a:r>
            <a:endParaRPr kumimoji="1" lang="zh-TW" altLang="en-US" dirty="0"/>
          </a:p>
        </p:txBody>
      </p:sp>
      <p:cxnSp>
        <p:nvCxnSpPr>
          <p:cNvPr id="39" name="直線箭頭接點 38">
            <a:extLst>
              <a:ext uri="{FF2B5EF4-FFF2-40B4-BE49-F238E27FC236}">
                <a16:creationId xmlns:a16="http://schemas.microsoft.com/office/drawing/2014/main" id="{ED94FBBA-D19E-52AB-6CEF-AA332BE1F102}"/>
              </a:ext>
            </a:extLst>
          </p:cNvPr>
          <p:cNvCxnSpPr>
            <a:cxnSpLocks/>
            <a:stCxn id="37" idx="3"/>
            <a:endCxn id="35" idx="1"/>
          </p:cNvCxnSpPr>
          <p:nvPr/>
        </p:nvCxnSpPr>
        <p:spPr>
          <a:xfrm>
            <a:off x="2994870" y="5498898"/>
            <a:ext cx="1161649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箭頭接點 40">
            <a:extLst>
              <a:ext uri="{FF2B5EF4-FFF2-40B4-BE49-F238E27FC236}">
                <a16:creationId xmlns:a16="http://schemas.microsoft.com/office/drawing/2014/main" id="{80016E54-C8C9-40E8-9B1E-7123DCC0B9ED}"/>
              </a:ext>
            </a:extLst>
          </p:cNvPr>
          <p:cNvCxnSpPr>
            <a:cxnSpLocks/>
            <a:stCxn id="36" idx="3"/>
            <a:endCxn id="38" idx="1"/>
          </p:cNvCxnSpPr>
          <p:nvPr/>
        </p:nvCxnSpPr>
        <p:spPr>
          <a:xfrm flipV="1">
            <a:off x="2994870" y="5971314"/>
            <a:ext cx="1161649" cy="7032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3" name="表格 43">
            <a:extLst>
              <a:ext uri="{FF2B5EF4-FFF2-40B4-BE49-F238E27FC236}">
                <a16:creationId xmlns:a16="http://schemas.microsoft.com/office/drawing/2014/main" id="{E0F21F2E-549E-FE38-C3DA-3C1A56D5DE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487948"/>
              </p:ext>
            </p:extLst>
          </p:nvPr>
        </p:nvGraphicFramePr>
        <p:xfrm>
          <a:off x="8952373" y="1726155"/>
          <a:ext cx="2523347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054">
                  <a:extLst>
                    <a:ext uri="{9D8B030D-6E8A-4147-A177-3AD203B41FA5}">
                      <a16:colId xmlns:a16="http://schemas.microsoft.com/office/drawing/2014/main" val="387427822"/>
                    </a:ext>
                  </a:extLst>
                </a:gridCol>
                <a:gridCol w="2083293">
                  <a:extLst>
                    <a:ext uri="{9D8B030D-6E8A-4147-A177-3AD203B41FA5}">
                      <a16:colId xmlns:a16="http://schemas.microsoft.com/office/drawing/2014/main" val="3770628552"/>
                    </a:ext>
                  </a:extLst>
                </a:gridCol>
              </a:tblGrid>
              <a:tr h="36122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Score for A </a:t>
                      </a:r>
                      <a:r>
                        <a:rPr lang="en-US" altLang="zh-TW" b="1" dirty="0">
                          <a:solidFill>
                            <a:srgbClr val="FF0000"/>
                          </a:solidFill>
                        </a:rPr>
                        <a:t>over</a:t>
                      </a:r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 B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199982"/>
                  </a:ext>
                </a:extLst>
              </a:tr>
              <a:tr h="3612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" altLang="zh-TW" sz="1800" b="0" dirty="0">
                          <a:solidFill>
                            <a:schemeClr val="tx1"/>
                          </a:solidFill>
                        </a:rPr>
                        <a:t>Significantly better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9853143"/>
                  </a:ext>
                </a:extLst>
              </a:tr>
              <a:tr h="3612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" altLang="zh-TW" sz="1800" dirty="0"/>
                        <a:t>Better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527637"/>
                  </a:ext>
                </a:extLst>
              </a:tr>
              <a:tr h="3612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" altLang="zh-TW" sz="1800" dirty="0"/>
                        <a:t>Slightly better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8495655"/>
                  </a:ext>
                </a:extLst>
              </a:tr>
              <a:tr h="35627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" altLang="zh-TW" sz="1800" dirty="0"/>
                        <a:t>Negligibly better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018544"/>
                  </a:ext>
                </a:extLst>
              </a:tr>
            </a:tbl>
          </a:graphicData>
        </a:graphic>
      </p:graphicFrame>
      <p:cxnSp>
        <p:nvCxnSpPr>
          <p:cNvPr id="48" name="肘形接點 47">
            <a:extLst>
              <a:ext uri="{FF2B5EF4-FFF2-40B4-BE49-F238E27FC236}">
                <a16:creationId xmlns:a16="http://schemas.microsoft.com/office/drawing/2014/main" id="{C244491C-5DE2-6F53-C8F2-4968AF85935A}"/>
              </a:ext>
            </a:extLst>
          </p:cNvPr>
          <p:cNvCxnSpPr>
            <a:cxnSpLocks/>
            <a:stCxn id="49" idx="2"/>
          </p:cNvCxnSpPr>
          <p:nvPr/>
        </p:nvCxnSpPr>
        <p:spPr>
          <a:xfrm rot="16200000" flipH="1">
            <a:off x="9593069" y="3244954"/>
            <a:ext cx="542865" cy="115525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3D57EEAA-D043-9507-3B15-A32658EEFB49}"/>
              </a:ext>
            </a:extLst>
          </p:cNvPr>
          <p:cNvSpPr txBox="1"/>
          <p:nvPr/>
        </p:nvSpPr>
        <p:spPr>
          <a:xfrm>
            <a:off x="9007662" y="3041279"/>
            <a:ext cx="558426" cy="50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B8005994-4245-AD04-6871-16C4D0DD8099}"/>
                  </a:ext>
                </a:extLst>
              </p:cNvPr>
              <p:cNvSpPr txBox="1"/>
              <p:nvPr/>
            </p:nvSpPr>
            <p:spPr>
              <a:xfrm>
                <a:off x="6371564" y="5504785"/>
                <a:ext cx="513224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TW" altLang="en-US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如果</a:t>
                </a:r>
                <a:r>
                  <a:rPr kumimoji="1" lang="en-US" altLang="zh-TW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kumimoji="1"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kumimoji="1" lang="zh-TW" altLang="en-US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 比起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kumimoji="1" lang="en-US" altLang="zh-TW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kumimoji="1" lang="zh-TW" altLang="en-US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 </a:t>
                </a:r>
                <a:r>
                  <a:rPr kumimoji="1" lang="en-US" altLang="zh-TW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significantly better</a:t>
                </a:r>
                <a:r>
                  <a:rPr kumimoji="1" lang="zh-TW" altLang="en-US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，</a:t>
                </a:r>
                <a:endParaRPr kumimoji="1" lang="en-US" altLang="zh-TW" dirty="0">
                  <a:solidFill>
                    <a:srgbClr val="FF0000"/>
                  </a:solidFill>
                  <a:ea typeface="Microsoft JhengHei" panose="020B0604030504040204" pitchFamily="34" charset="-120"/>
                </a:endParaRPr>
              </a:p>
              <a:p>
                <a:r>
                  <a:rPr kumimoji="1" lang="zh-TW" altLang="en-US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那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kumimoji="1"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kumimoji="1"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kumimoji="1"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</m:t>
                            </m:r>
                            <m:r>
                              <a:rPr kumimoji="1"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</m:d>
                  </m:oMath>
                </a14:m>
                <a:r>
                  <a:rPr kumimoji="1" lang="en-US" altLang="zh-TW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 </a:t>
                </a:r>
                <a:r>
                  <a:rPr kumimoji="1" lang="zh-TW" altLang="en-US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至少需要超過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kumimoji="1"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kumimoji="1"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kumimoji="1"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d>
                  </m:oMath>
                </a14:m>
                <a:r>
                  <a:rPr kumimoji="1" lang="zh-TW" altLang="en-US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 </a:t>
                </a:r>
                <a:r>
                  <a:rPr kumimoji="1" lang="en-US" altLang="zh-TW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3</a:t>
                </a:r>
                <a:r>
                  <a:rPr kumimoji="1" lang="zh-TW" altLang="en-US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分以上</a:t>
                </a: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B8005994-4245-AD04-6871-16C4D0DD80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1564" y="5504785"/>
                <a:ext cx="5132240" cy="646331"/>
              </a:xfrm>
              <a:prstGeom prst="rect">
                <a:avLst/>
              </a:prstGeom>
              <a:blipFill>
                <a:blip r:embed="rId7"/>
                <a:stretch>
                  <a:fillRect l="-988" t="-3846" b="-1538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138DD1F1-118A-6CD8-0239-CD522114C210}"/>
                  </a:ext>
                </a:extLst>
              </p:cNvPr>
              <p:cNvSpPr txBox="1"/>
              <p:nvPr/>
            </p:nvSpPr>
            <p:spPr>
              <a:xfrm>
                <a:off x="1402848" y="3103501"/>
                <a:ext cx="64778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138DD1F1-118A-6CD8-0239-CD522114C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2848" y="3103501"/>
                <a:ext cx="64778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16E4FA06-0594-6ED7-B858-AC7EB82AF7F8}"/>
                  </a:ext>
                </a:extLst>
              </p:cNvPr>
              <p:cNvSpPr txBox="1"/>
              <p:nvPr/>
            </p:nvSpPr>
            <p:spPr>
              <a:xfrm>
                <a:off x="1402847" y="4222200"/>
                <a:ext cx="64778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16E4FA06-0594-6ED7-B858-AC7EB82AF7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2847" y="4222200"/>
                <a:ext cx="64778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0BFDA707-C5DD-B61A-51B1-6CCB57839D89}"/>
                  </a:ext>
                </a:extLst>
              </p:cNvPr>
              <p:cNvSpPr txBox="1"/>
              <p:nvPr/>
            </p:nvSpPr>
            <p:spPr>
              <a:xfrm>
                <a:off x="2857758" y="2952502"/>
                <a:ext cx="75521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0BFDA707-C5DD-B61A-51B1-6CCB57839D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7758" y="2952502"/>
                <a:ext cx="755214" cy="369332"/>
              </a:xfrm>
              <a:prstGeom prst="rect">
                <a:avLst/>
              </a:prstGeom>
              <a:blipFill>
                <a:blip r:embed="rId9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6D37EF23-4A87-3D7A-2F23-A36FD2030680}"/>
                  </a:ext>
                </a:extLst>
              </p:cNvPr>
              <p:cNvSpPr txBox="1"/>
              <p:nvPr/>
            </p:nvSpPr>
            <p:spPr>
              <a:xfrm>
                <a:off x="2857758" y="4062701"/>
                <a:ext cx="75521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6D37EF23-4A87-3D7A-2F23-A36FD20306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7758" y="4062701"/>
                <a:ext cx="755214" cy="369332"/>
              </a:xfrm>
              <a:prstGeom prst="rect">
                <a:avLst/>
              </a:prstGeom>
              <a:blipFill>
                <a:blip r:embed="rId10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B0609998-7755-899F-CE9C-4C535DA4A27E}"/>
                  </a:ext>
                </a:extLst>
              </p:cNvPr>
              <p:cNvSpPr txBox="1"/>
              <p:nvPr/>
            </p:nvSpPr>
            <p:spPr>
              <a:xfrm>
                <a:off x="4891431" y="3769248"/>
                <a:ext cx="78284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/>
                        <m:sub>
                          <m:r>
                            <a:rPr kumimoji="1" lang="en-US" altLang="zh-TW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</m:oMath>
                  </m:oMathPara>
                </a14:m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B0609998-7755-899F-CE9C-4C535DA4A2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1431" y="3769248"/>
                <a:ext cx="782841" cy="369332"/>
              </a:xfrm>
              <a:prstGeom prst="rect">
                <a:avLst/>
              </a:prstGeom>
              <a:blipFill>
                <a:blip r:embed="rId11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D43A73BC-9EA0-1DF9-F515-CB629D9E2E52}"/>
                  </a:ext>
                </a:extLst>
              </p:cNvPr>
              <p:cNvSpPr txBox="1"/>
              <p:nvPr/>
            </p:nvSpPr>
            <p:spPr>
              <a:xfrm>
                <a:off x="4900195" y="4876100"/>
                <a:ext cx="78284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/>
                        <m:sub>
                          <m:r>
                            <a:rPr kumimoji="1" lang="en-US" altLang="zh-TW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</m:oMath>
                  </m:oMathPara>
                </a14:m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D43A73BC-9EA0-1DF9-F515-CB629D9E2E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0195" y="4876100"/>
                <a:ext cx="782841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文字方塊 44">
            <a:extLst>
              <a:ext uri="{FF2B5EF4-FFF2-40B4-BE49-F238E27FC236}">
                <a16:creationId xmlns:a16="http://schemas.microsoft.com/office/drawing/2014/main" id="{A8E0DFC8-81D5-8A9F-E6E8-9B7A845E7C56}"/>
              </a:ext>
            </a:extLst>
          </p:cNvPr>
          <p:cNvSpPr txBox="1"/>
          <p:nvPr/>
        </p:nvSpPr>
        <p:spPr>
          <a:xfrm>
            <a:off x="2565849" y="6551816"/>
            <a:ext cx="70495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000" dirty="0" err="1"/>
              <a:t>Touvron</a:t>
            </a:r>
            <a:r>
              <a:rPr kumimoji="1" lang="en" altLang="zh-TW" sz="1000" dirty="0"/>
              <a:t>, Hugo, et al. "Llama 2: Open foundation and fine-tuned chat models." </a:t>
            </a:r>
            <a:r>
              <a:rPr kumimoji="1" lang="en" altLang="zh-TW" sz="1000" dirty="0" err="1"/>
              <a:t>arXiv</a:t>
            </a:r>
            <a:r>
              <a:rPr kumimoji="1" lang="en" altLang="zh-TW" sz="1000" dirty="0"/>
              <a:t> preprint arXiv:2307.09288 (2023).</a:t>
            </a:r>
            <a:endParaRPr kumimoji="1" lang="zh-TW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427409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3" grpId="0"/>
      <p:bldP spid="34" grpId="0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67ED74-C1C8-B2AE-BEEB-6CE892D6F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Outline for Building a Safe LLM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68B42F0-795A-E800-ADCC-E19AD04CC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CB13485-3A7B-DE1F-C457-9E78BECAD9AD}"/>
              </a:ext>
            </a:extLst>
          </p:cNvPr>
          <p:cNvSpPr txBox="1"/>
          <p:nvPr/>
        </p:nvSpPr>
        <p:spPr>
          <a:xfrm>
            <a:off x="702711" y="1914365"/>
            <a:ext cx="9910244" cy="1131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/>
              <a:t>Safety and Helpfulness Reward Modeling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>
                <a:solidFill>
                  <a:srgbClr val="FF0000"/>
                </a:solidFill>
              </a:rPr>
              <a:t>Context Distillation</a:t>
            </a:r>
          </a:p>
        </p:txBody>
      </p:sp>
    </p:spTree>
    <p:extLst>
      <p:ext uri="{BB962C8B-B14F-4D97-AF65-F5344CB8AC3E}">
        <p14:creationId xmlns:p14="http://schemas.microsoft.com/office/powerpoint/2010/main" val="19429611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D3349D-26FF-8618-57D7-6E359C5CC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Context Distillation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EE53109-CF43-30A4-3AD9-1C3D58FBB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5115CAE-7E19-CC99-7615-B6537C089883}"/>
              </a:ext>
            </a:extLst>
          </p:cNvPr>
          <p:cNvSpPr txBox="1"/>
          <p:nvPr/>
        </p:nvSpPr>
        <p:spPr>
          <a:xfrm>
            <a:off x="653142" y="1698991"/>
            <a:ext cx="4039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Goal: For </a:t>
            </a:r>
            <a:r>
              <a:rPr kumimoji="1" lang="en-US" altLang="zh-TW" sz="2400" dirty="0">
                <a:solidFill>
                  <a:srgbClr val="FF0000"/>
                </a:solidFill>
              </a:rPr>
              <a:t>safety</a:t>
            </a:r>
            <a:r>
              <a:rPr kumimoji="1" lang="en-US" altLang="zh-TW" sz="2400" dirty="0"/>
              <a:t> outputs</a:t>
            </a:r>
            <a:endParaRPr kumimoji="1" lang="zh-TW" altLang="en-US" sz="24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0E95A30-50FB-9B07-B876-7C33E1600EBF}"/>
              </a:ext>
            </a:extLst>
          </p:cNvPr>
          <p:cNvSpPr/>
          <p:nvPr/>
        </p:nvSpPr>
        <p:spPr>
          <a:xfrm>
            <a:off x="1280160" y="2811780"/>
            <a:ext cx="4354830" cy="162306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" altLang="zh-TW" sz="2000" dirty="0">
                <a:solidFill>
                  <a:schemeClr val="tx1"/>
                </a:solidFill>
              </a:rPr>
              <a:t>You are a responsible and safe assistant that never gives an answer that is in any way insensitive, sexist, racist, or socially inappropriate.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A35F3B25-F623-1FAF-3A48-06684BE482E4}"/>
                  </a:ext>
                </a:extLst>
              </p:cNvPr>
              <p:cNvSpPr txBox="1"/>
              <p:nvPr/>
            </p:nvSpPr>
            <p:spPr>
              <a:xfrm>
                <a:off x="2137410" y="2371605"/>
                <a:ext cx="264033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TW" sz="2000" dirty="0"/>
                  <a:t>Pre-Prompt </a:t>
                </a:r>
                <a14:m>
                  <m:oMath xmlns:m="http://schemas.openxmlformats.org/officeDocument/2006/math">
                    <m:r>
                      <a:rPr kumimoji="1" lang="en-US" altLang="zh-TW" sz="20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kumimoji="1" lang="zh-TW" altLang="en-US" sz="2000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A35F3B25-F623-1FAF-3A48-06684BE482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7410" y="2371605"/>
                <a:ext cx="2640330" cy="400110"/>
              </a:xfrm>
              <a:prstGeom prst="rect">
                <a:avLst/>
              </a:prstGeom>
              <a:blipFill>
                <a:blip r:embed="rId2"/>
                <a:stretch>
                  <a:fillRect t="-6061" b="-2424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圓角矩形 8">
            <a:extLst>
              <a:ext uri="{FF2B5EF4-FFF2-40B4-BE49-F238E27FC236}">
                <a16:creationId xmlns:a16="http://schemas.microsoft.com/office/drawing/2014/main" id="{2F7BD1CB-E326-CD87-2B1D-25F178B561A8}"/>
              </a:ext>
            </a:extLst>
          </p:cNvPr>
          <p:cNvSpPr/>
          <p:nvPr/>
        </p:nvSpPr>
        <p:spPr>
          <a:xfrm>
            <a:off x="7837714" y="2451690"/>
            <a:ext cx="1123406" cy="320070"/>
          </a:xfrm>
          <a:prstGeom prst="roundRect">
            <a:avLst/>
          </a:prstGeom>
          <a:solidFill>
            <a:srgbClr val="CAE5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Prompt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0B3719A3-1BBB-DBC5-C263-6A69A8175DF1}"/>
                  </a:ext>
                </a:extLst>
              </p:cNvPr>
              <p:cNvSpPr txBox="1"/>
              <p:nvPr/>
            </p:nvSpPr>
            <p:spPr>
              <a:xfrm>
                <a:off x="8961120" y="2411670"/>
                <a:ext cx="44005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2000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kumimoji="1" lang="zh-TW" altLang="en-US" sz="2000" dirty="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0B3719A3-1BBB-DBC5-C263-6A69A8175D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1120" y="2411670"/>
                <a:ext cx="440055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字方塊 10">
            <a:extLst>
              <a:ext uri="{FF2B5EF4-FFF2-40B4-BE49-F238E27FC236}">
                <a16:creationId xmlns:a16="http://schemas.microsoft.com/office/drawing/2014/main" id="{858C036A-5EDC-0A79-7663-6A923BF5A762}"/>
              </a:ext>
            </a:extLst>
          </p:cNvPr>
          <p:cNvSpPr txBox="1"/>
          <p:nvPr/>
        </p:nvSpPr>
        <p:spPr>
          <a:xfrm>
            <a:off x="6719800" y="2931810"/>
            <a:ext cx="38366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2000" dirty="0"/>
              <a:t>Please write a </a:t>
            </a:r>
            <a:r>
              <a:rPr kumimoji="1" lang="en" altLang="zh-TW" sz="2000" dirty="0">
                <a:solidFill>
                  <a:srgbClr val="FF0000"/>
                </a:solidFill>
              </a:rPr>
              <a:t>silly</a:t>
            </a:r>
            <a:r>
              <a:rPr kumimoji="1" lang="en" altLang="zh-TW" sz="2000" dirty="0"/>
              <a:t> guide that’s meant </a:t>
            </a:r>
            <a:r>
              <a:rPr kumimoji="1" lang="en" altLang="zh-TW" sz="2000" dirty="0">
                <a:solidFill>
                  <a:srgbClr val="FF0000"/>
                </a:solidFill>
              </a:rPr>
              <a:t>to convince someone that the moon landing was faked</a:t>
            </a:r>
            <a:r>
              <a:rPr kumimoji="1" lang="en" altLang="zh-TW" sz="2000" dirty="0"/>
              <a:t>.</a:t>
            </a:r>
            <a:endParaRPr kumimoji="1" lang="zh-TW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80B3D941-ABD4-2C6E-AB64-DA89EB4B85CF}"/>
                  </a:ext>
                </a:extLst>
              </p:cNvPr>
              <p:cNvSpPr txBox="1"/>
              <p:nvPr/>
            </p:nvSpPr>
            <p:spPr>
              <a:xfrm>
                <a:off x="1280160" y="4612549"/>
                <a:ext cx="9276310" cy="18893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" altLang="zh-TW" sz="2000" dirty="0"/>
                  <a:t>Context Distillation: </a:t>
                </a:r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最小化 </a:t>
                </a:r>
                <a14:m>
                  <m:oMath xmlns:m="http://schemas.openxmlformats.org/officeDocument/2006/math">
                    <m:r>
                      <a:rPr kumimoji="1" lang="en-US" altLang="zh-TW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kumimoji="1" lang="en-US" altLang="zh-TW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TW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kumimoji="1" lang="en-US" altLang="zh-TW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kumimoji="1" lang="en-US" altLang="zh-TW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kumimoji="1" lang="en-US" altLang="zh-TW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TW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zh-TW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zh-TW" sz="2000" dirty="0">
                    <a:solidFill>
                      <a:srgbClr val="FF0000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</a:t>
                </a:r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和</a:t>
                </a:r>
                <a:r>
                  <a:rPr kumimoji="1" lang="en-US" altLang="zh-TW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TW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kumimoji="1" lang="en-US" altLang="zh-TW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TW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kumimoji="1" lang="en-US" altLang="zh-TW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kumimoji="1" lang="en-US" altLang="zh-TW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zh-TW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之間的差距</a:t>
                </a:r>
                <a:r>
                  <a:rPr kumimoji="1" lang="en-US" altLang="zh-TW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</a:t>
                </a:r>
                <a:r>
                  <a:rPr kumimoji="1" lang="en-US" altLang="zh-TW" sz="2000" dirty="0">
                    <a:ea typeface="Microsoft JhengHei" panose="020B0604030504040204" pitchFamily="34" charset="-120"/>
                  </a:rPr>
                  <a:t>(DL-divergence)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1" lang="en-US" altLang="zh-TW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</a:t>
                </a:r>
                <a:r>
                  <a:rPr kumimoji="1" lang="zh-TW" altLang="en-US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代表生成的答案</a:t>
                </a:r>
                <a:endParaRPr kumimoji="1" lang="en-US" altLang="zh-TW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如此一來即使沒有</a:t>
                </a:r>
                <a:r>
                  <a:rPr kumimoji="1" lang="en-US" altLang="zh-TW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</a:t>
                </a:r>
                <a:r>
                  <a:rPr kumimoji="1" lang="en-US" altLang="zh-TW" sz="2000" dirty="0">
                    <a:ea typeface="Microsoft JhengHei" panose="020B0604030504040204" pitchFamily="34" charset="-120"/>
                  </a:rPr>
                  <a:t>pre-prompt</a:t>
                </a:r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，模型也比較不會輸出不安全的回覆</a:t>
                </a:r>
                <a:endParaRPr kumimoji="1" lang="en-US" altLang="zh-TW" sz="2000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" altLang="zh-TW" sz="2000" dirty="0"/>
                  <a:t>Context Distillation </a:t>
                </a:r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的過程在 </a:t>
                </a:r>
                <a:r>
                  <a:rPr kumimoji="1" lang="en-US" altLang="zh-TW" sz="2000" dirty="0">
                    <a:ea typeface="Microsoft JhengHei" panose="020B0604030504040204" pitchFamily="34" charset="-120"/>
                  </a:rPr>
                  <a:t>RLHF</a:t>
                </a:r>
                <a:r>
                  <a:rPr kumimoji="1" lang="en-US" altLang="zh-TW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</a:t>
                </a:r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之後</a:t>
                </a:r>
                <a:endParaRPr kumimoji="1" lang="en-US" altLang="zh-TW" sz="2000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80B3D941-ABD4-2C6E-AB64-DA89EB4B85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0160" y="4612549"/>
                <a:ext cx="9276310" cy="1889363"/>
              </a:xfrm>
              <a:prstGeom prst="rect">
                <a:avLst/>
              </a:prstGeom>
              <a:blipFill>
                <a:blip r:embed="rId4"/>
                <a:stretch>
                  <a:fillRect l="-546" b="-4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字方塊 13">
            <a:extLst>
              <a:ext uri="{FF2B5EF4-FFF2-40B4-BE49-F238E27FC236}">
                <a16:creationId xmlns:a16="http://schemas.microsoft.com/office/drawing/2014/main" id="{E4C99C51-9432-1A31-2118-0A18DDCB3481}"/>
              </a:ext>
            </a:extLst>
          </p:cNvPr>
          <p:cNvSpPr txBox="1"/>
          <p:nvPr/>
        </p:nvSpPr>
        <p:spPr>
          <a:xfrm>
            <a:off x="6191424" y="578558"/>
            <a:ext cx="53474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400" dirty="0" err="1"/>
              <a:t>Askell</a:t>
            </a:r>
            <a:r>
              <a:rPr lang="en" altLang="zh-TW" sz="1400" dirty="0"/>
              <a:t>, Amanda, et al. "A general language assistant as a laboratory for alignment." </a:t>
            </a:r>
            <a:r>
              <a:rPr lang="en" altLang="zh-TW" sz="1400" i="1" dirty="0" err="1"/>
              <a:t>arXiv</a:t>
            </a:r>
            <a:r>
              <a:rPr lang="en" altLang="zh-TW" sz="1400" i="1" dirty="0"/>
              <a:t> preprint arXiv:2112.00861</a:t>
            </a:r>
            <a:r>
              <a:rPr lang="en" altLang="zh-TW" sz="1400" dirty="0"/>
              <a:t> (2021).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686539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62096B-B895-D52C-1468-7E994ABC3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/>
              <a:t>Context Distillation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帶來較高的 </a:t>
            </a:r>
            <a:r>
              <a:rPr kumimoji="1" lang="en-US" altLang="zh-TW" dirty="0"/>
              <a:t>Safety Score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F8C4ACD-CBD6-01E2-8EAF-D3B5E159B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5526F38-DC41-CC49-7090-62C767114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5187" y="1940378"/>
            <a:ext cx="4961626" cy="4961626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9790F584-610A-168D-7E25-F30574632F47}"/>
              </a:ext>
            </a:extLst>
          </p:cNvPr>
          <p:cNvSpPr txBox="1"/>
          <p:nvPr/>
        </p:nvSpPr>
        <p:spPr>
          <a:xfrm>
            <a:off x="653143" y="1688194"/>
            <a:ext cx="3314850" cy="504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000" dirty="0"/>
              <a:t>CD: Context Distillation</a:t>
            </a: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0CDE542-2E8D-146F-AB7B-8A1156FD576C}"/>
              </a:ext>
            </a:extLst>
          </p:cNvPr>
          <p:cNvSpPr txBox="1"/>
          <p:nvPr/>
        </p:nvSpPr>
        <p:spPr>
          <a:xfrm>
            <a:off x="7442112" y="1389504"/>
            <a:ext cx="43198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200" dirty="0" err="1"/>
              <a:t>Touvron</a:t>
            </a:r>
            <a:r>
              <a:rPr lang="en" altLang="zh-TW" sz="1200" dirty="0"/>
              <a:t>, Hugo, et al. "Llama 2: Open foundation and fine-tuned chat models." </a:t>
            </a:r>
            <a:r>
              <a:rPr lang="en" altLang="zh-TW" sz="1200" i="1" dirty="0" err="1"/>
              <a:t>arXiv</a:t>
            </a:r>
            <a:r>
              <a:rPr lang="en" altLang="zh-TW" sz="1200" i="1" dirty="0"/>
              <a:t> preprint arXiv:2307.09288</a:t>
            </a:r>
            <a:r>
              <a:rPr lang="en" altLang="zh-TW" sz="1200" dirty="0"/>
              <a:t> (2023).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0879204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8F36B-F985-5F1E-A8BB-49B805C21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7AA2A8F1-5A19-F598-4500-1550E7C94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145" y="2484676"/>
            <a:ext cx="3032620" cy="2286000"/>
          </a:xfrm>
        </p:spPr>
        <p:txBody>
          <a:bodyPr>
            <a:normAutofit fontScale="90000"/>
          </a:bodyPr>
          <a:lstStyle/>
          <a:p>
            <a:r>
              <a:rPr lang="en-US" altLang="zh-TW" sz="4400" dirty="0"/>
              <a:t>PEFT</a:t>
            </a:r>
            <a:br>
              <a:rPr lang="en-US" altLang="zh-TW" sz="4400" dirty="0"/>
            </a:br>
            <a:r>
              <a:rPr lang="en-US" altLang="zh-TW" sz="4400" dirty="0"/>
              <a:t>(Parameter-efficient Fine-tuning)</a:t>
            </a:r>
            <a:endParaRPr lang="zh-TW" altLang="en-US" sz="44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979EC7A-F483-EB48-3A6D-ABC189D5F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8716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0868FB-6F6F-35BC-A23D-E0A4D5252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The Revolution of </a:t>
            </a:r>
            <a:r>
              <a:rPr kumimoji="1" lang="en-US" altLang="zh-TW" dirty="0" err="1"/>
              <a:t>ChatGPT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DD7684D-DA0F-B6F8-7ABC-6110B2CE0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9E07DDE-D011-6299-A807-ED42ACC994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2013" y="2080805"/>
            <a:ext cx="7060629" cy="3972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46E1A2F0-2B3B-1E98-C744-317CE2B4F219}"/>
              </a:ext>
            </a:extLst>
          </p:cNvPr>
          <p:cNvSpPr txBox="1"/>
          <p:nvPr/>
        </p:nvSpPr>
        <p:spPr>
          <a:xfrm>
            <a:off x="2477765" y="6257465"/>
            <a:ext cx="72691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400" dirty="0"/>
              <a:t>Figure source: https://</a:t>
            </a:r>
            <a:r>
              <a:rPr kumimoji="1" lang="en-US" altLang="zh-TW" sz="1400" dirty="0" err="1"/>
              <a:t>poole.ncsu.edu</a:t>
            </a:r>
            <a:r>
              <a:rPr kumimoji="1" lang="en-US" altLang="zh-TW" sz="1400" dirty="0"/>
              <a:t>/thought-leadership/article/lets-chat-about-</a:t>
            </a:r>
            <a:r>
              <a:rPr kumimoji="1" lang="en-US" altLang="zh-TW" sz="1400" dirty="0" err="1"/>
              <a:t>chatgpt</a:t>
            </a:r>
            <a:r>
              <a:rPr kumimoji="1" lang="en-US" altLang="zh-TW" sz="1400" dirty="0"/>
              <a:t>/</a:t>
            </a:r>
          </a:p>
          <a:p>
            <a:r>
              <a:rPr kumimoji="1" lang="en" altLang="zh-TW" sz="1400" dirty="0"/>
              <a:t>https://</a:t>
            </a:r>
            <a:r>
              <a:rPr kumimoji="1" lang="en" altLang="zh-TW" sz="1400" dirty="0" err="1"/>
              <a:t>openai.com</a:t>
            </a:r>
            <a:r>
              <a:rPr kumimoji="1" lang="en" altLang="zh-TW" sz="1400" dirty="0"/>
              <a:t>/index/</a:t>
            </a:r>
            <a:r>
              <a:rPr kumimoji="1" lang="en" altLang="zh-TW" sz="1400" dirty="0" err="1"/>
              <a:t>chatgpt</a:t>
            </a:r>
            <a:r>
              <a:rPr kumimoji="1" lang="en" altLang="zh-TW" sz="1400" dirty="0"/>
              <a:t>/</a:t>
            </a:r>
            <a:endParaRPr kumimoji="1" lang="zh-TW" altLang="en-US" sz="14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0C202C2-0880-D4B3-31EA-6667DAC9DEA5}"/>
              </a:ext>
            </a:extLst>
          </p:cNvPr>
          <p:cNvSpPr txBox="1"/>
          <p:nvPr/>
        </p:nvSpPr>
        <p:spPr>
          <a:xfrm>
            <a:off x="653142" y="1586711"/>
            <a:ext cx="4866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 err="1"/>
              <a:t>ChatGPT</a:t>
            </a:r>
            <a:r>
              <a:rPr kumimoji="1" lang="en" altLang="zh-TW" dirty="0"/>
              <a:t> came out in November, 2022.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086260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4A7C6-9F70-219A-318F-F32D21D51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DEF1E4-B5DA-3D4B-3E7E-131CFE24B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TW" altLang="en-US" sz="4400" dirty="0">
                <a:cs typeface="Calibri Light" panose="020F0302020204030204"/>
              </a:rPr>
              <a:t>大型語言模型參數量非常多</a:t>
            </a:r>
            <a:endParaRPr lang="zh-TW" sz="4400" dirty="0">
              <a:cs typeface="Calibri Light" panose="020F0302020204030204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A04BFE5-B0C4-E657-EEE6-9A68B2BBB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>
                <a:latin typeface="Times New Roman"/>
                <a:cs typeface="Times New Roman"/>
              </a:rPr>
              <a:t>21</a:t>
            </a:fld>
            <a:endParaRPr lang="zh-TW" altLang="en-US">
              <a:latin typeface="Times New Roman"/>
              <a:cs typeface="Times New Roman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063FD86-0398-1538-EB83-4F7B80B3B37A}"/>
              </a:ext>
            </a:extLst>
          </p:cNvPr>
          <p:cNvSpPr txBox="1"/>
          <p:nvPr/>
        </p:nvSpPr>
        <p:spPr>
          <a:xfrm>
            <a:off x="1" y="6112042"/>
            <a:ext cx="12191999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000" dirty="0">
                <a:cs typeface="Times New Roman" panose="02020603050405020304" pitchFamily="18" charset="0"/>
              </a:rPr>
              <a:t>Source: </a:t>
            </a:r>
            <a:r>
              <a:rPr lang="en-US" altLang="zh-TW" sz="1000" dirty="0"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Inside language models (from GPT-4 to </a:t>
            </a:r>
            <a:r>
              <a:rPr lang="en-US" altLang="zh-TW" sz="1000" dirty="0" err="1"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PaLM</a:t>
            </a:r>
            <a:r>
              <a:rPr lang="en-US" altLang="zh-TW" sz="1000" dirty="0"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) – Dr Alan D. Thompson – Life Architect</a:t>
            </a:r>
            <a:endParaRPr lang="zh-TW" sz="1000" dirty="0">
              <a:ea typeface="新細明體"/>
              <a:cs typeface="Times New Roman" panose="02020603050405020304" pitchFamily="18" charset="0"/>
            </a:endParaRPr>
          </a:p>
        </p:txBody>
      </p:sp>
      <p:pic>
        <p:nvPicPr>
          <p:cNvPr id="6" name="圖片 5" descr="一張含有 文字, 螢幕擷取畫面, 軟體, 標誌 的圖片&#10;&#10;自動產生的描述">
            <a:extLst>
              <a:ext uri="{FF2B5EF4-FFF2-40B4-BE49-F238E27FC236}">
                <a16:creationId xmlns:a16="http://schemas.microsoft.com/office/drawing/2014/main" id="{D8F126BF-6952-C188-D57C-1B23A056962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20"/>
          <a:stretch/>
        </p:blipFill>
        <p:spPr>
          <a:xfrm>
            <a:off x="1664127" y="1489340"/>
            <a:ext cx="8863745" cy="4521180"/>
          </a:xfrm>
          <a:prstGeom prst="rect">
            <a:avLst/>
          </a:prstGeom>
        </p:spPr>
      </p:pic>
      <p:sp>
        <p:nvSpPr>
          <p:cNvPr id="3" name="向右箭號 2">
            <a:extLst>
              <a:ext uri="{FF2B5EF4-FFF2-40B4-BE49-F238E27FC236}">
                <a16:creationId xmlns:a16="http://schemas.microsoft.com/office/drawing/2014/main" id="{B6CCF0CB-FB9B-EECE-F461-18EF6745B5E2}"/>
              </a:ext>
            </a:extLst>
          </p:cNvPr>
          <p:cNvSpPr/>
          <p:nvPr/>
        </p:nvSpPr>
        <p:spPr>
          <a:xfrm>
            <a:off x="4928839" y="4794729"/>
            <a:ext cx="260196" cy="15611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" name="向右箭號 6">
            <a:extLst>
              <a:ext uri="{FF2B5EF4-FFF2-40B4-BE49-F238E27FC236}">
                <a16:creationId xmlns:a16="http://schemas.microsoft.com/office/drawing/2014/main" id="{E5F47408-FA00-620C-FE86-8E33321ECC12}"/>
              </a:ext>
            </a:extLst>
          </p:cNvPr>
          <p:cNvSpPr/>
          <p:nvPr/>
        </p:nvSpPr>
        <p:spPr>
          <a:xfrm>
            <a:off x="4928839" y="5075948"/>
            <a:ext cx="260196" cy="15611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2050" name="Picture 2" descr="undefined">
            <a:extLst>
              <a:ext uri="{FF2B5EF4-FFF2-40B4-BE49-F238E27FC236}">
                <a16:creationId xmlns:a16="http://schemas.microsoft.com/office/drawing/2014/main" id="{FA6265BD-A409-53F1-2458-7F09250590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3002" y="4609949"/>
            <a:ext cx="2597808" cy="1731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38F81ABF-208D-D178-FEA6-48A11F0C2E62}"/>
              </a:ext>
            </a:extLst>
          </p:cNvPr>
          <p:cNvSpPr txBox="1"/>
          <p:nvPr/>
        </p:nvSpPr>
        <p:spPr>
          <a:xfrm>
            <a:off x="7421138" y="6459785"/>
            <a:ext cx="4166838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000" dirty="0" err="1">
                <a:cs typeface="Times New Roman" panose="02020603050405020304" pitchFamily="18" charset="0"/>
              </a:rPr>
              <a:t>Source:https</a:t>
            </a:r>
            <a:r>
              <a:rPr lang="en-US" altLang="zh-TW" sz="1000" dirty="0">
                <a:cs typeface="Times New Roman" panose="02020603050405020304" pitchFamily="18" charset="0"/>
              </a:rPr>
              <a:t>://</a:t>
            </a:r>
            <a:r>
              <a:rPr lang="en-US" altLang="zh-TW" sz="1000" dirty="0" err="1">
                <a:cs typeface="Times New Roman" panose="02020603050405020304" pitchFamily="18" charset="0"/>
              </a:rPr>
              <a:t>commons.wikimedia.org</a:t>
            </a:r>
            <a:r>
              <a:rPr lang="en-US" altLang="zh-TW" sz="1000" dirty="0">
                <a:cs typeface="Times New Roman" panose="02020603050405020304" pitchFamily="18" charset="0"/>
              </a:rPr>
              <a:t>/wiki/</a:t>
            </a:r>
            <a:r>
              <a:rPr lang="en-US" altLang="zh-TW" sz="1000" dirty="0" err="1">
                <a:cs typeface="Times New Roman" panose="02020603050405020304" pitchFamily="18" charset="0"/>
              </a:rPr>
              <a:t>File:Llama_lying_down.jpg</a:t>
            </a:r>
            <a:endParaRPr lang="zh-TW" sz="1000" dirty="0">
              <a:ea typeface="新細明體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0329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47C5F6-ADE0-2DF9-E85C-FE1D3290D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TW" sz="4600" dirty="0"/>
              <a:t>GPU Memory Estimated (Model weights)</a:t>
            </a:r>
            <a:endParaRPr kumimoji="1" lang="zh-TW" altLang="en-US" sz="46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597BC6F-0B20-33E8-9249-0C8E1FCEF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zh-TW" altLang="en-US" dirty="0">
                <a:ea typeface="Microsoft JhengHei" panose="020B0604030504040204" pitchFamily="34" charset="-120"/>
              </a:rPr>
              <a:t>以 </a:t>
            </a:r>
            <a:r>
              <a:rPr kumimoji="1" lang="en" altLang="zh-TW" dirty="0">
                <a:ea typeface="Microsoft JhengHei" panose="020B0604030504040204" pitchFamily="34" charset="-120"/>
              </a:rPr>
              <a:t>Llama 2-7B</a:t>
            </a:r>
            <a:r>
              <a:rPr kumimoji="1" lang="zh-TW" altLang="en-US" dirty="0">
                <a:ea typeface="Microsoft JhengHei" panose="020B0604030504040204" pitchFamily="34" charset="-120"/>
              </a:rPr>
              <a:t> 為例，且儲存參數的精度為 </a:t>
            </a:r>
            <a:r>
              <a:rPr kumimoji="1" lang="en-US" altLang="zh-TW" dirty="0">
                <a:ea typeface="Microsoft JhengHei" panose="020B0604030504040204" pitchFamily="34" charset="-120"/>
              </a:rPr>
              <a:t>float 32 (FP32)</a:t>
            </a:r>
            <a:r>
              <a:rPr kumimoji="1" lang="zh-TW" altLang="en-US" dirty="0">
                <a:ea typeface="Microsoft JhengHei" panose="020B0604030504040204" pitchFamily="34" charset="-120"/>
              </a:rPr>
              <a:t>：</a:t>
            </a:r>
            <a:endParaRPr kumimoji="1" lang="en-US" altLang="zh-TW" dirty="0">
              <a:ea typeface="Microsoft JhengHei" panose="020B0604030504040204" pitchFamily="34" charset="-120"/>
            </a:endParaRPr>
          </a:p>
          <a:p>
            <a:pPr marL="0" indent="0">
              <a:buNone/>
            </a:pPr>
            <a:r>
              <a:rPr kumimoji="1" lang="zh-TW" altLang="en-US" dirty="0">
                <a:ea typeface="Microsoft JhengHei" panose="020B0604030504040204" pitchFamily="34" charset="-120"/>
              </a:rPr>
              <a:t>在 </a:t>
            </a:r>
            <a:r>
              <a:rPr kumimoji="1" lang="en-US" altLang="zh-TW" dirty="0">
                <a:ea typeface="Microsoft JhengHei" panose="020B0604030504040204" pitchFamily="34" charset="-120"/>
              </a:rPr>
              <a:t>float 32 (FP32)</a:t>
            </a:r>
            <a:r>
              <a:rPr kumimoji="1" lang="zh-TW" altLang="en-US" dirty="0">
                <a:ea typeface="Microsoft JhengHei" panose="020B0604030504040204" pitchFamily="34" charset="-120"/>
              </a:rPr>
              <a:t> 的情況下，</a:t>
            </a:r>
            <a:r>
              <a:rPr kumimoji="1" lang="en-US" altLang="zh-TW" dirty="0">
                <a:ea typeface="Microsoft JhengHei" panose="020B0604030504040204" pitchFamily="34" charset="-120"/>
              </a:rPr>
              <a:t>1</a:t>
            </a:r>
            <a:r>
              <a:rPr kumimoji="1" lang="zh-TW" altLang="en-US" dirty="0">
                <a:ea typeface="Microsoft JhengHei" panose="020B0604030504040204" pitchFamily="34" charset="-120"/>
              </a:rPr>
              <a:t> 個參數需要 </a:t>
            </a:r>
            <a:r>
              <a:rPr kumimoji="1" lang="en-US" altLang="zh-TW" dirty="0">
                <a:ea typeface="Microsoft JhengHei" panose="020B0604030504040204" pitchFamily="34" charset="-120"/>
              </a:rPr>
              <a:t>4 bytes</a:t>
            </a:r>
            <a:r>
              <a:rPr kumimoji="1" lang="zh-TW" altLang="en-US" dirty="0">
                <a:ea typeface="Microsoft JhengHei" panose="020B0604030504040204" pitchFamily="34" charset="-120"/>
              </a:rPr>
              <a:t> 儲存</a:t>
            </a:r>
            <a:endParaRPr kumimoji="1" lang="en" altLang="zh-TW" dirty="0">
              <a:ea typeface="Microsoft JhengHei" panose="020B0604030504040204" pitchFamily="34" charset="-120"/>
            </a:endParaRPr>
          </a:p>
          <a:p>
            <a:pPr marL="0" indent="0">
              <a:buNone/>
            </a:pPr>
            <a:r>
              <a:rPr kumimoji="1" lang="en-US" altLang="zh-TW" dirty="0">
                <a:ea typeface="Microsoft JhengHei" panose="020B0604030504040204" pitchFamily="34" charset="-120"/>
              </a:rPr>
              <a:t>-&gt; </a:t>
            </a:r>
            <a:r>
              <a:rPr kumimoji="1" lang="en" altLang="zh-TW" dirty="0">
                <a:ea typeface="Microsoft JhengHei" panose="020B0604030504040204" pitchFamily="34" charset="-120"/>
              </a:rPr>
              <a:t>7B = 70</a:t>
            </a:r>
            <a:r>
              <a:rPr kumimoji="1" lang="zh-TW" altLang="en-US" dirty="0">
                <a:ea typeface="Microsoft JhengHei" panose="020B0604030504040204" pitchFamily="34" charset="-120"/>
              </a:rPr>
              <a:t>億個參數</a:t>
            </a:r>
            <a:r>
              <a:rPr kumimoji="1" lang="en-US" altLang="zh-TW" dirty="0">
                <a:ea typeface="Microsoft JhengHei" panose="020B0604030504040204" pitchFamily="34" charset="-120"/>
              </a:rPr>
              <a:t> = 7,000,000,000 * 4 bytes = (</a:t>
            </a:r>
            <a:r>
              <a:rPr kumimoji="1" lang="zh-TW" altLang="en-US" dirty="0">
                <a:ea typeface="Microsoft JhengHei" panose="020B0604030504040204" pitchFamily="34" charset="-120"/>
              </a:rPr>
              <a:t>扣掉</a:t>
            </a:r>
            <a:r>
              <a:rPr kumimoji="1" lang="en-US" altLang="zh-TW" dirty="0">
                <a:ea typeface="Microsoft JhengHei" panose="020B0604030504040204" pitchFamily="34" charset="-120"/>
              </a:rPr>
              <a:t>3</a:t>
            </a:r>
            <a:r>
              <a:rPr kumimoji="1" lang="zh-TW" altLang="en-US" dirty="0">
                <a:ea typeface="Microsoft JhengHei" panose="020B0604030504040204" pitchFamily="34" charset="-120"/>
              </a:rPr>
              <a:t>個逗號從</a:t>
            </a:r>
            <a:r>
              <a:rPr kumimoji="1" lang="en-US" altLang="zh-TW" dirty="0">
                <a:ea typeface="Microsoft JhengHei" panose="020B0604030504040204" pitchFamily="34" charset="-120"/>
              </a:rPr>
              <a:t>B</a:t>
            </a:r>
            <a:r>
              <a:rPr kumimoji="1" lang="zh-TW" altLang="en-US" dirty="0">
                <a:ea typeface="Microsoft JhengHei" panose="020B0604030504040204" pitchFamily="34" charset="-120"/>
              </a:rPr>
              <a:t>換成</a:t>
            </a:r>
            <a:r>
              <a:rPr kumimoji="1" lang="en-US" altLang="zh-TW" dirty="0">
                <a:ea typeface="Microsoft JhengHei" panose="020B0604030504040204" pitchFamily="34" charset="-120"/>
              </a:rPr>
              <a:t>GB) </a:t>
            </a:r>
            <a:r>
              <a:rPr kumimoji="1" lang="en-US" altLang="zh-TW" dirty="0">
                <a:solidFill>
                  <a:srgbClr val="FF0000"/>
                </a:solidFill>
                <a:ea typeface="Microsoft JhengHei" panose="020B0604030504040204" pitchFamily="34" charset="-120"/>
              </a:rPr>
              <a:t>28GB</a:t>
            </a:r>
            <a:endParaRPr kumimoji="1" lang="en" altLang="zh-TW" dirty="0">
              <a:solidFill>
                <a:srgbClr val="FF0000"/>
              </a:solidFill>
              <a:ea typeface="Microsoft JhengHei" panose="020B0604030504040204" pitchFamily="34" charset="-120"/>
            </a:endParaRPr>
          </a:p>
          <a:p>
            <a:endParaRPr kumimoji="1" lang="en" altLang="zh-TW" dirty="0">
              <a:ea typeface="Microsoft JhengHei" panose="020B0604030504040204" pitchFamily="34" charset="-120"/>
            </a:endParaRPr>
          </a:p>
          <a:p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2F733EC-8C5A-C3E8-D671-7DB0A7EB9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1844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4D0372-BD97-A734-3C55-B21961657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數值範圍比較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F239A7B-E01B-74DD-4C99-226FFF966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9AFB716-4753-D48C-9AD3-B24EFBFF63C6}"/>
              </a:ext>
            </a:extLst>
          </p:cNvPr>
          <p:cNvSpPr txBox="1"/>
          <p:nvPr/>
        </p:nvSpPr>
        <p:spPr>
          <a:xfrm>
            <a:off x="3301141" y="6415560"/>
            <a:ext cx="55897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sz="1600" dirty="0"/>
              <a:t>https://</a:t>
            </a:r>
            <a:r>
              <a:rPr kumimoji="1" lang="en" altLang="zh-TW" sz="1600" dirty="0" err="1"/>
              <a:t>youtu.be</a:t>
            </a:r>
            <a:r>
              <a:rPr kumimoji="1" lang="en" altLang="zh-TW" sz="1600" dirty="0"/>
              <a:t>/b4TRssMHBj4?si=OoAyVi6m52SFQDjS</a:t>
            </a:r>
            <a:endParaRPr kumimoji="1" lang="zh-TW" altLang="en-US" sz="1600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DDF9A2E1-E56B-4DEF-A2BC-6C30A24BD8DB}"/>
              </a:ext>
            </a:extLst>
          </p:cNvPr>
          <p:cNvGraphicFramePr>
            <a:graphicFrameLocks noGrp="1"/>
          </p:cNvGraphicFramePr>
          <p:nvPr/>
        </p:nvGraphicFramePr>
        <p:xfrm>
          <a:off x="1416570" y="2293632"/>
          <a:ext cx="8759760" cy="3306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1952">
                  <a:extLst>
                    <a:ext uri="{9D8B030D-6E8A-4147-A177-3AD203B41FA5}">
                      <a16:colId xmlns:a16="http://schemas.microsoft.com/office/drawing/2014/main" val="4208064090"/>
                    </a:ext>
                  </a:extLst>
                </a:gridCol>
                <a:gridCol w="1751952">
                  <a:extLst>
                    <a:ext uri="{9D8B030D-6E8A-4147-A177-3AD203B41FA5}">
                      <a16:colId xmlns:a16="http://schemas.microsoft.com/office/drawing/2014/main" val="2066243653"/>
                    </a:ext>
                  </a:extLst>
                </a:gridCol>
                <a:gridCol w="1751952">
                  <a:extLst>
                    <a:ext uri="{9D8B030D-6E8A-4147-A177-3AD203B41FA5}">
                      <a16:colId xmlns:a16="http://schemas.microsoft.com/office/drawing/2014/main" val="3751886361"/>
                    </a:ext>
                  </a:extLst>
                </a:gridCol>
                <a:gridCol w="1751952">
                  <a:extLst>
                    <a:ext uri="{9D8B030D-6E8A-4147-A177-3AD203B41FA5}">
                      <a16:colId xmlns:a16="http://schemas.microsoft.com/office/drawing/2014/main" val="1829904554"/>
                    </a:ext>
                  </a:extLst>
                </a:gridCol>
                <a:gridCol w="1751952">
                  <a:extLst>
                    <a:ext uri="{9D8B030D-6E8A-4147-A177-3AD203B41FA5}">
                      <a16:colId xmlns:a16="http://schemas.microsoft.com/office/drawing/2014/main" val="2106225706"/>
                    </a:ext>
                  </a:extLst>
                </a:gridCol>
              </a:tblGrid>
              <a:tr h="444332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數值類型名稱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TW" dirty="0" err="1"/>
                        <a:t>PyTorch</a:t>
                      </a:r>
                      <a:r>
                        <a:rPr lang="en" altLang="zh-TW" dirty="0"/>
                        <a:t> </a:t>
                      </a:r>
                      <a:r>
                        <a:rPr lang="en" altLang="zh-TW" dirty="0" err="1"/>
                        <a:t>dtype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數值範圍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Bit</a:t>
                      </a: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altLang="zh-TW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Byte</a:t>
                      </a: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數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4657278"/>
                  </a:ext>
                </a:extLst>
              </a:tr>
              <a:tr h="444332">
                <a:tc>
                  <a:txBody>
                    <a:bodyPr/>
                    <a:lstStyle/>
                    <a:p>
                      <a:r>
                        <a:rPr lang="en-US" altLang="zh-TW" dirty="0"/>
                        <a:t>float32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TW" dirty="0" err="1"/>
                        <a:t>torch.float</a:t>
                      </a:r>
                      <a:r>
                        <a:rPr lang="en-US" altLang="zh-TW" dirty="0"/>
                        <a:t>32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約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± 3.4</a:t>
                      </a:r>
                      <a:r>
                        <a:rPr lang="en" altLang="zh-TW" dirty="0"/>
                        <a:t>e38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862697"/>
                  </a:ext>
                </a:extLst>
              </a:tr>
              <a:tr h="444332">
                <a:tc>
                  <a:txBody>
                    <a:bodyPr/>
                    <a:lstStyle/>
                    <a:p>
                      <a:r>
                        <a:rPr lang="en-US" altLang="zh-TW" dirty="0"/>
                        <a:t>float16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TW" dirty="0"/>
                        <a:t>torch.float16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約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± 6.5</a:t>
                      </a:r>
                      <a:r>
                        <a:rPr lang="en" altLang="zh-TW" dirty="0"/>
                        <a:t>e4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3851480"/>
                  </a:ext>
                </a:extLst>
              </a:tr>
              <a:tr h="444332">
                <a:tc>
                  <a:txBody>
                    <a:bodyPr/>
                    <a:lstStyle/>
                    <a:p>
                      <a:r>
                        <a:rPr lang="en" altLang="zh-TW" dirty="0"/>
                        <a:t>int8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TW" dirty="0"/>
                        <a:t>torch.int8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-128 ~ 127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2944537"/>
                  </a:ext>
                </a:extLst>
              </a:tr>
              <a:tr h="444332">
                <a:tc>
                  <a:txBody>
                    <a:bodyPr/>
                    <a:lstStyle/>
                    <a:p>
                      <a:r>
                        <a:rPr lang="en-US" altLang="zh-TW" dirty="0"/>
                        <a:t>uint8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dirty="0"/>
                        <a:t>torch.uint8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 ~ 255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62288"/>
                  </a:ext>
                </a:extLst>
              </a:tr>
              <a:tr h="444332">
                <a:tc>
                  <a:txBody>
                    <a:bodyPr/>
                    <a:lstStyle/>
                    <a:p>
                      <a:r>
                        <a:rPr lang="en-US" altLang="zh-TW" dirty="0"/>
                        <a:t>int4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-8 ~ 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0.5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0168583"/>
                  </a:ext>
                </a:extLst>
              </a:tr>
              <a:tr h="444332">
                <a:tc>
                  <a:txBody>
                    <a:bodyPr/>
                    <a:lstStyle/>
                    <a:p>
                      <a:r>
                        <a:rPr lang="en-US" altLang="zh-TW" dirty="0"/>
                        <a:t>uint4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 ~ 15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0.5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770733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DC2406FD-9402-842A-7BD9-A24182B12349}"/>
              </a:ext>
            </a:extLst>
          </p:cNvPr>
          <p:cNvSpPr txBox="1"/>
          <p:nvPr/>
        </p:nvSpPr>
        <p:spPr>
          <a:xfrm>
            <a:off x="1416570" y="5571204"/>
            <a:ext cx="49403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600" dirty="0"/>
              <a:t>u: unsigned (</a:t>
            </a:r>
            <a:r>
              <a:rPr kumimoji="1"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無號，代表數值只有正的</a:t>
            </a:r>
            <a:r>
              <a:rPr kumimoji="1" lang="en-US" altLang="zh-TW" sz="1600" dirty="0"/>
              <a:t>)</a:t>
            </a:r>
            <a:endParaRPr kumimoji="1" lang="zh-TW" altLang="en-US" sz="1600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1ABC954-8C48-F85C-D961-7892D62394D5}"/>
              </a:ext>
            </a:extLst>
          </p:cNvPr>
          <p:cNvSpPr txBox="1"/>
          <p:nvPr/>
        </p:nvSpPr>
        <p:spPr>
          <a:xfrm>
            <a:off x="8337415" y="1895306"/>
            <a:ext cx="21640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600" dirty="0"/>
              <a:t>1 </a:t>
            </a:r>
            <a:r>
              <a:rPr kumimoji="1" lang="zh-TW" altLang="en-US" sz="1600" dirty="0"/>
              <a:t>個</a:t>
            </a:r>
            <a:r>
              <a:rPr kumimoji="1" lang="en-US" altLang="zh-TW" sz="1600" dirty="0"/>
              <a:t> byte = 8 </a:t>
            </a:r>
            <a:r>
              <a:rPr kumimoji="1" lang="zh-TW" altLang="en-US" sz="1600" dirty="0"/>
              <a:t>個 </a:t>
            </a:r>
            <a:r>
              <a:rPr kumimoji="1" lang="en-US" altLang="zh-TW" sz="1600" dirty="0"/>
              <a:t>bits</a:t>
            </a:r>
            <a:endParaRPr kumimoji="1"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8216640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DB2A1A-92B0-B8CE-8677-653F6D67F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Introduction to Quantization</a:t>
            </a:r>
            <a:r>
              <a:rPr kumimoji="1" lang="zh-TW" altLang="en-US" dirty="0"/>
              <a:t> </a:t>
            </a:r>
            <a:r>
              <a:rPr kumimoji="1" lang="en-US" altLang="zh-TW" dirty="0"/>
              <a:t>(</a:t>
            </a:r>
            <a:r>
              <a:rPr kumimoji="1" lang="zh-TW" altLang="en-US" dirty="0"/>
              <a:t>量化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F1FFCC7-1E05-1DAF-950F-6840D7512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8778521F-17BD-7033-48F0-FD95DF7DB06C}"/>
                  </a:ext>
                </a:extLst>
              </p:cNvPr>
              <p:cNvSpPr txBox="1"/>
              <p:nvPr/>
            </p:nvSpPr>
            <p:spPr>
              <a:xfrm>
                <a:off x="1455117" y="2339013"/>
                <a:ext cx="3614503" cy="12317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TW" altLang="en-US" sz="28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e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1.3</m:t>
                                </m:r>
                              </m:e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3.73</m:t>
                                </m:r>
                              </m:e>
                            </m:mr>
                            <m:mr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−4.7</m:t>
                                </m:r>
                              </m:e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−3.2</m:t>
                                </m:r>
                              </m:e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−6.4</m:t>
                                </m:r>
                              </m:e>
                            </m:mr>
                            <m:mr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8.5</m:t>
                                </m:r>
                              </m:e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14.3</m:t>
                                </m:r>
                              </m:e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13.5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8778521F-17BD-7033-48F0-FD95DF7DB0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5117" y="2339013"/>
                <a:ext cx="3614503" cy="1231747"/>
              </a:xfrm>
              <a:prstGeom prst="rect">
                <a:avLst/>
              </a:prstGeom>
              <a:blipFill>
                <a:blip r:embed="rId2"/>
                <a:stretch>
                  <a:fillRect b="-51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字方塊 6">
            <a:extLst>
              <a:ext uri="{FF2B5EF4-FFF2-40B4-BE49-F238E27FC236}">
                <a16:creationId xmlns:a16="http://schemas.microsoft.com/office/drawing/2014/main" id="{A469A973-DD06-04E7-D544-1B5E01368E96}"/>
              </a:ext>
            </a:extLst>
          </p:cNvPr>
          <p:cNvSpPr txBox="1"/>
          <p:nvPr/>
        </p:nvSpPr>
        <p:spPr>
          <a:xfrm>
            <a:off x="1455117" y="3924440"/>
            <a:ext cx="3614503" cy="96603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000" dirty="0">
                <a:ea typeface="Microsoft JhengHei" panose="020B0604030504040204" pitchFamily="34" charset="-120"/>
              </a:rPr>
              <a:t>32-bit floating point (FP32): 1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個值需要</a:t>
            </a:r>
            <a:r>
              <a:rPr kumimoji="1" lang="en-US" altLang="zh-TW" sz="2000" b="1" dirty="0">
                <a:ea typeface="Microsoft JhengHei" panose="020B0604030504040204" pitchFamily="34" charset="-120"/>
              </a:rPr>
              <a:t>4</a:t>
            </a:r>
            <a:r>
              <a:rPr kumimoji="1" lang="zh-TW" altLang="en-US" sz="2000" b="1" dirty="0">
                <a:ea typeface="Microsoft JhengHei" panose="020B0604030504040204" pitchFamily="34" charset="-120"/>
              </a:rPr>
              <a:t>個</a:t>
            </a:r>
            <a:r>
              <a:rPr kumimoji="1" lang="en-US" altLang="zh-TW" sz="2000" b="1" dirty="0">
                <a:ea typeface="Microsoft JhengHei" panose="020B0604030504040204" pitchFamily="34" charset="-120"/>
              </a:rPr>
              <a:t>bytes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才能儲存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B00969F-BEE9-F23C-9D42-75563FE6A274}"/>
              </a:ext>
            </a:extLst>
          </p:cNvPr>
          <p:cNvSpPr txBox="1"/>
          <p:nvPr/>
        </p:nvSpPr>
        <p:spPr>
          <a:xfrm>
            <a:off x="2473421" y="3453064"/>
            <a:ext cx="1577894" cy="58907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36 bytes</a:t>
            </a:r>
            <a:endParaRPr kumimoji="1" lang="zh-TW" altLang="en-US" sz="2400" dirty="0">
              <a:solidFill>
                <a:srgbClr val="FF0000"/>
              </a:solidFill>
              <a:ea typeface="Microsoft JhengHei" panose="020B0604030504040204" pitchFamily="34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1A0E4246-A521-F726-22E9-88532C793C41}"/>
                  </a:ext>
                </a:extLst>
              </p:cNvPr>
              <p:cNvSpPr txBox="1"/>
              <p:nvPr/>
            </p:nvSpPr>
            <p:spPr>
              <a:xfrm>
                <a:off x="6314428" y="2339013"/>
                <a:ext cx="3614503" cy="12317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sz="28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14</m:t>
                                </m:r>
                              </m:e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TW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1A0E4246-A521-F726-22E9-88532C793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4428" y="2339013"/>
                <a:ext cx="3614503" cy="1231747"/>
              </a:xfrm>
              <a:prstGeom prst="rect">
                <a:avLst/>
              </a:prstGeom>
              <a:blipFill>
                <a:blip r:embed="rId3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字方塊 9">
            <a:extLst>
              <a:ext uri="{FF2B5EF4-FFF2-40B4-BE49-F238E27FC236}">
                <a16:creationId xmlns:a16="http://schemas.microsoft.com/office/drawing/2014/main" id="{EE5BB53C-86BD-3613-6092-08DD2B8D69DD}"/>
              </a:ext>
            </a:extLst>
          </p:cNvPr>
          <p:cNvSpPr txBox="1"/>
          <p:nvPr/>
        </p:nvSpPr>
        <p:spPr>
          <a:xfrm>
            <a:off x="6314428" y="3924440"/>
            <a:ext cx="3614503" cy="96603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000" dirty="0">
                <a:ea typeface="Microsoft JhengHei" panose="020B0604030504040204" pitchFamily="34" charset="-120"/>
              </a:rPr>
              <a:t>8-bit Integer (int8): 1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個值需要</a:t>
            </a:r>
            <a:endParaRPr kumimoji="1" lang="en-US" altLang="zh-TW" sz="2000" dirty="0">
              <a:ea typeface="Microsoft JhengHei" panose="020B0604030504040204" pitchFamily="34" charset="-120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TW" sz="2000" b="1" dirty="0">
                <a:ea typeface="Microsoft JhengHei" panose="020B0604030504040204" pitchFamily="34" charset="-120"/>
              </a:rPr>
              <a:t>1</a:t>
            </a:r>
            <a:r>
              <a:rPr kumimoji="1" lang="zh-TW" altLang="en-US" sz="2000" b="1" dirty="0">
                <a:ea typeface="Microsoft JhengHei" panose="020B0604030504040204" pitchFamily="34" charset="-120"/>
              </a:rPr>
              <a:t>個</a:t>
            </a:r>
            <a:r>
              <a:rPr kumimoji="1" lang="en-US" altLang="zh-TW" sz="2000" b="1" dirty="0">
                <a:ea typeface="Microsoft JhengHei" panose="020B0604030504040204" pitchFamily="34" charset="-120"/>
              </a:rPr>
              <a:t>bytes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才能儲存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6966F97-EB4C-CD44-4124-FDD57093C869}"/>
              </a:ext>
            </a:extLst>
          </p:cNvPr>
          <p:cNvSpPr txBox="1"/>
          <p:nvPr/>
        </p:nvSpPr>
        <p:spPr>
          <a:xfrm>
            <a:off x="7332732" y="3453064"/>
            <a:ext cx="1577894" cy="58907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8 bytes</a:t>
            </a:r>
            <a:endParaRPr kumimoji="1" lang="zh-TW" altLang="en-US" sz="2400" dirty="0">
              <a:solidFill>
                <a:srgbClr val="FF0000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12" name="向右箭號 11">
            <a:extLst>
              <a:ext uri="{FF2B5EF4-FFF2-40B4-BE49-F238E27FC236}">
                <a16:creationId xmlns:a16="http://schemas.microsoft.com/office/drawing/2014/main" id="{9DA88D69-F3CF-F8BA-F89B-52496FFB5CB8}"/>
              </a:ext>
            </a:extLst>
          </p:cNvPr>
          <p:cNvSpPr/>
          <p:nvPr/>
        </p:nvSpPr>
        <p:spPr>
          <a:xfrm>
            <a:off x="5690933" y="2828041"/>
            <a:ext cx="512164" cy="25368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D7051B80-D4F0-9F9F-FF34-C54B5551AFC5}"/>
              </a:ext>
            </a:extLst>
          </p:cNvPr>
          <p:cNvSpPr txBox="1"/>
          <p:nvPr/>
        </p:nvSpPr>
        <p:spPr>
          <a:xfrm>
            <a:off x="5087913" y="2339013"/>
            <a:ext cx="1650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降低儲存精度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91AE7D41-1DDB-63E0-A79F-9ADC969D6408}"/>
              </a:ext>
            </a:extLst>
          </p:cNvPr>
          <p:cNvSpPr txBox="1"/>
          <p:nvPr/>
        </p:nvSpPr>
        <p:spPr>
          <a:xfrm>
            <a:off x="4998060" y="2762394"/>
            <a:ext cx="736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ea typeface="+mj-ea"/>
              </a:rPr>
              <a:t>FP32</a:t>
            </a:r>
            <a:endParaRPr kumimoji="1" lang="zh-TW" altLang="en-US" dirty="0">
              <a:ea typeface="+mj-ea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F11753A6-4AA2-319F-713C-D44F09CC724E}"/>
              </a:ext>
            </a:extLst>
          </p:cNvPr>
          <p:cNvSpPr txBox="1"/>
          <p:nvPr/>
        </p:nvSpPr>
        <p:spPr>
          <a:xfrm>
            <a:off x="6164617" y="2770219"/>
            <a:ext cx="736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ea typeface="+mj-ea"/>
              </a:rPr>
              <a:t>int8</a:t>
            </a:r>
            <a:endParaRPr kumimoji="1" lang="zh-TW" altLang="en-US" dirty="0">
              <a:ea typeface="+mj-ea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05A2CD92-6F3F-174D-2C63-F3FD7FB75258}"/>
              </a:ext>
            </a:extLst>
          </p:cNvPr>
          <p:cNvSpPr txBox="1"/>
          <p:nvPr/>
        </p:nvSpPr>
        <p:spPr>
          <a:xfrm>
            <a:off x="653143" y="1598195"/>
            <a:ext cx="3500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ea typeface="Microsoft JhengHei" panose="020B0604030504040204" pitchFamily="34" charset="-120"/>
              </a:rPr>
              <a:t>(</a:t>
            </a:r>
            <a:r>
              <a:rPr kumimoji="1" lang="zh-TW" altLang="en-US" dirty="0">
                <a:ea typeface="Microsoft JhengHei" panose="020B0604030504040204" pitchFamily="34" charset="-120"/>
              </a:rPr>
              <a:t>這頁只是示意圖，數值不精準</a:t>
            </a:r>
            <a:r>
              <a:rPr kumimoji="1" lang="en-US" altLang="zh-TW" dirty="0">
                <a:ea typeface="Microsoft JhengHei" panose="020B0604030504040204" pitchFamily="34" charset="-120"/>
              </a:rPr>
              <a:t>)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7B5030F7-0E92-BF26-6347-04CAB043DFFB}"/>
                  </a:ext>
                </a:extLst>
              </p:cNvPr>
              <p:cNvSpPr txBox="1"/>
              <p:nvPr/>
            </p:nvSpPr>
            <p:spPr>
              <a:xfrm>
                <a:off x="6314428" y="5156187"/>
                <a:ext cx="3614503" cy="12317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TW" sz="28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e>
                              <m:e>
                                <m:r>
                                  <a:rPr lang="en-US" altLang="zh-TW" sz="28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−0.3</m:t>
                                </m:r>
                              </m:e>
                              <m:e>
                                <m:r>
                                  <a:rPr lang="en-US" altLang="zh-TW" sz="28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0.27</m:t>
                                </m:r>
                              </m:e>
                            </m:mr>
                            <m:mr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0.3</m:t>
                                </m:r>
                              </m:e>
                              <m:e>
                                <m:r>
                                  <a:rPr lang="en-US" altLang="zh-TW" sz="28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0.2</m:t>
                                </m:r>
                              </m:e>
                              <m:e>
                                <m:r>
                                  <a:rPr lang="en-US" altLang="zh-TW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lang="en-US" altLang="zh-TW" sz="28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−0.3</m:t>
                                </m:r>
                              </m:e>
                              <m:e>
                                <m:r>
                                  <a:rPr lang="en-US" altLang="zh-TW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7B5030F7-0E92-BF26-6347-04CAB043DF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4428" y="5156187"/>
                <a:ext cx="3614503" cy="1231747"/>
              </a:xfrm>
              <a:prstGeom prst="rect">
                <a:avLst/>
              </a:prstGeom>
              <a:blipFill>
                <a:blip r:embed="rId4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字方塊 19">
            <a:extLst>
              <a:ext uri="{FF2B5EF4-FFF2-40B4-BE49-F238E27FC236}">
                <a16:creationId xmlns:a16="http://schemas.microsoft.com/office/drawing/2014/main" id="{308A950D-B8DB-E277-5C99-525D36482E46}"/>
              </a:ext>
            </a:extLst>
          </p:cNvPr>
          <p:cNvSpPr txBox="1"/>
          <p:nvPr/>
        </p:nvSpPr>
        <p:spPr>
          <a:xfrm>
            <a:off x="5366479" y="5518914"/>
            <a:ext cx="1397610" cy="50629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誤差：</a:t>
            </a:r>
          </a:p>
        </p:txBody>
      </p:sp>
    </p:spTree>
    <p:extLst>
      <p:ext uri="{BB962C8B-B14F-4D97-AF65-F5344CB8AC3E}">
        <p14:creationId xmlns:p14="http://schemas.microsoft.com/office/powerpoint/2010/main" val="3180621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 animBg="1"/>
      <p:bldP spid="13" grpId="0"/>
      <p:bldP spid="16" grpId="0"/>
      <p:bldP spid="17" grpId="0"/>
      <p:bldP spid="19" grpId="0"/>
      <p:bldP spid="2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E74652-E3E6-EC7F-CA22-EF8E51FFB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量化後的模型非常常見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05F26AD-C670-A3C1-A15E-90F9B7574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2DF5AD4-3BCC-B391-F00A-89FE7C2EB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336" y="1779769"/>
            <a:ext cx="9779327" cy="4953302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E0F8243D-7379-41C5-CA78-E30BCAE277BC}"/>
              </a:ext>
            </a:extLst>
          </p:cNvPr>
          <p:cNvSpPr txBox="1"/>
          <p:nvPr/>
        </p:nvSpPr>
        <p:spPr>
          <a:xfrm>
            <a:off x="6249972" y="1471992"/>
            <a:ext cx="492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sz="1400" dirty="0"/>
              <a:t>https://</a:t>
            </a:r>
            <a:r>
              <a:rPr kumimoji="1" lang="en" altLang="zh-TW" sz="1400" dirty="0" err="1"/>
              <a:t>huggingface.co</a:t>
            </a:r>
            <a:r>
              <a:rPr kumimoji="1" lang="en" altLang="zh-TW" sz="1400" dirty="0"/>
              <a:t>/</a:t>
            </a:r>
            <a:r>
              <a:rPr kumimoji="1" lang="en" altLang="zh-TW" sz="1400" dirty="0" err="1"/>
              <a:t>unsloth</a:t>
            </a:r>
            <a:r>
              <a:rPr kumimoji="1" lang="en" altLang="zh-TW" sz="1400" dirty="0"/>
              <a:t>/Kimi-K2-Thinking-GGUF</a:t>
            </a:r>
            <a:endParaRPr kumimoji="1"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8716169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47C5F6-ADE0-2DF9-E85C-FE1D3290D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TW" dirty="0"/>
              <a:t>GPU Memory Estimated (Model weights)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597BC6F-0B20-33E8-9249-0C8E1FCEF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zh-TW" altLang="en-US" dirty="0">
                <a:ea typeface="Microsoft JhengHei" panose="020B0604030504040204" pitchFamily="34" charset="-120"/>
              </a:rPr>
              <a:t>以 </a:t>
            </a:r>
            <a:r>
              <a:rPr kumimoji="1" lang="en" altLang="zh-TW" dirty="0">
                <a:ea typeface="Microsoft JhengHei" panose="020B0604030504040204" pitchFamily="34" charset="-120"/>
              </a:rPr>
              <a:t>Llama 2-7B</a:t>
            </a:r>
            <a:r>
              <a:rPr kumimoji="1" lang="zh-TW" altLang="en-US" dirty="0">
                <a:ea typeface="Microsoft JhengHei" panose="020B0604030504040204" pitchFamily="34" charset="-120"/>
              </a:rPr>
              <a:t> 為例，且儲存參數的精度為 </a:t>
            </a:r>
            <a:r>
              <a:rPr kumimoji="1" lang="en-US" altLang="zh-TW" dirty="0">
                <a:ea typeface="Microsoft JhengHei" panose="020B0604030504040204" pitchFamily="34" charset="-120"/>
              </a:rPr>
              <a:t>float 32 (FP32)</a:t>
            </a:r>
            <a:r>
              <a:rPr kumimoji="1" lang="zh-TW" altLang="en-US" dirty="0">
                <a:ea typeface="Microsoft JhengHei" panose="020B0604030504040204" pitchFamily="34" charset="-120"/>
              </a:rPr>
              <a:t>：</a:t>
            </a:r>
            <a:endParaRPr kumimoji="1" lang="en-US" altLang="zh-TW" dirty="0">
              <a:ea typeface="Microsoft JhengHei" panose="020B0604030504040204" pitchFamily="34" charset="-120"/>
            </a:endParaRPr>
          </a:p>
          <a:p>
            <a:pPr marL="0" indent="0">
              <a:buNone/>
            </a:pPr>
            <a:r>
              <a:rPr kumimoji="1" lang="zh-TW" altLang="en-US" dirty="0">
                <a:ea typeface="Microsoft JhengHei" panose="020B0604030504040204" pitchFamily="34" charset="-120"/>
              </a:rPr>
              <a:t>在 </a:t>
            </a:r>
            <a:r>
              <a:rPr kumimoji="1" lang="en-US" altLang="zh-TW" dirty="0">
                <a:ea typeface="Microsoft JhengHei" panose="020B0604030504040204" pitchFamily="34" charset="-120"/>
              </a:rPr>
              <a:t>float 32 (FP32)</a:t>
            </a:r>
            <a:r>
              <a:rPr kumimoji="1" lang="zh-TW" altLang="en-US" dirty="0">
                <a:ea typeface="Microsoft JhengHei" panose="020B0604030504040204" pitchFamily="34" charset="-120"/>
              </a:rPr>
              <a:t> 的情況下，</a:t>
            </a:r>
            <a:r>
              <a:rPr kumimoji="1" lang="en-US" altLang="zh-TW" dirty="0">
                <a:ea typeface="Microsoft JhengHei" panose="020B0604030504040204" pitchFamily="34" charset="-120"/>
              </a:rPr>
              <a:t>1</a:t>
            </a:r>
            <a:r>
              <a:rPr kumimoji="1" lang="zh-TW" altLang="en-US" dirty="0">
                <a:ea typeface="Microsoft JhengHei" panose="020B0604030504040204" pitchFamily="34" charset="-120"/>
              </a:rPr>
              <a:t> 個參數需要 </a:t>
            </a:r>
            <a:r>
              <a:rPr kumimoji="1" lang="en-US" altLang="zh-TW" dirty="0">
                <a:ea typeface="Microsoft JhengHei" panose="020B0604030504040204" pitchFamily="34" charset="-120"/>
              </a:rPr>
              <a:t>4 bytes</a:t>
            </a:r>
            <a:r>
              <a:rPr kumimoji="1" lang="zh-TW" altLang="en-US" dirty="0">
                <a:ea typeface="Microsoft JhengHei" panose="020B0604030504040204" pitchFamily="34" charset="-120"/>
              </a:rPr>
              <a:t> 儲存</a:t>
            </a:r>
            <a:endParaRPr kumimoji="1" lang="en" altLang="zh-TW" dirty="0">
              <a:ea typeface="Microsoft JhengHei" panose="020B0604030504040204" pitchFamily="34" charset="-120"/>
            </a:endParaRPr>
          </a:p>
          <a:p>
            <a:pPr marL="0" indent="0">
              <a:buNone/>
            </a:pPr>
            <a:r>
              <a:rPr kumimoji="1" lang="en-US" altLang="zh-TW" dirty="0">
                <a:ea typeface="Microsoft JhengHei" panose="020B0604030504040204" pitchFamily="34" charset="-120"/>
              </a:rPr>
              <a:t>-&gt; </a:t>
            </a:r>
            <a:r>
              <a:rPr kumimoji="1" lang="en" altLang="zh-TW" dirty="0">
                <a:ea typeface="Microsoft JhengHei" panose="020B0604030504040204" pitchFamily="34" charset="-120"/>
              </a:rPr>
              <a:t>7B = 70</a:t>
            </a:r>
            <a:r>
              <a:rPr kumimoji="1" lang="zh-TW" altLang="en-US" dirty="0">
                <a:ea typeface="Microsoft JhengHei" panose="020B0604030504040204" pitchFamily="34" charset="-120"/>
              </a:rPr>
              <a:t>億個參數</a:t>
            </a:r>
            <a:r>
              <a:rPr kumimoji="1" lang="en-US" altLang="zh-TW" dirty="0">
                <a:ea typeface="Microsoft JhengHei" panose="020B0604030504040204" pitchFamily="34" charset="-120"/>
              </a:rPr>
              <a:t> = 7,000,000,000 * 4 bytes = (</a:t>
            </a:r>
            <a:r>
              <a:rPr kumimoji="1" lang="zh-TW" altLang="en-US" dirty="0">
                <a:ea typeface="Microsoft JhengHei" panose="020B0604030504040204" pitchFamily="34" charset="-120"/>
              </a:rPr>
              <a:t>扣掉</a:t>
            </a:r>
            <a:r>
              <a:rPr kumimoji="1" lang="en-US" altLang="zh-TW" dirty="0">
                <a:ea typeface="Microsoft JhengHei" panose="020B0604030504040204" pitchFamily="34" charset="-120"/>
              </a:rPr>
              <a:t>3</a:t>
            </a:r>
            <a:r>
              <a:rPr kumimoji="1" lang="zh-TW" altLang="en-US" dirty="0">
                <a:ea typeface="Microsoft JhengHei" panose="020B0604030504040204" pitchFamily="34" charset="-120"/>
              </a:rPr>
              <a:t>個逗號從</a:t>
            </a:r>
            <a:r>
              <a:rPr kumimoji="1" lang="en-US" altLang="zh-TW" dirty="0">
                <a:ea typeface="Microsoft JhengHei" panose="020B0604030504040204" pitchFamily="34" charset="-120"/>
              </a:rPr>
              <a:t>B</a:t>
            </a:r>
            <a:r>
              <a:rPr kumimoji="1" lang="zh-TW" altLang="en-US" dirty="0">
                <a:ea typeface="Microsoft JhengHei" panose="020B0604030504040204" pitchFamily="34" charset="-120"/>
              </a:rPr>
              <a:t>換成</a:t>
            </a:r>
            <a:r>
              <a:rPr kumimoji="1" lang="en-US" altLang="zh-TW" dirty="0">
                <a:ea typeface="Microsoft JhengHei" panose="020B0604030504040204" pitchFamily="34" charset="-120"/>
              </a:rPr>
              <a:t>GB</a:t>
            </a:r>
            <a:r>
              <a:rPr kumimoji="1" lang="en-US" altLang="zh-TW">
                <a:ea typeface="Microsoft JhengHei" panose="020B0604030504040204" pitchFamily="34" charset="-120"/>
              </a:rPr>
              <a:t>) </a:t>
            </a:r>
            <a:r>
              <a:rPr kumimoji="1" lang="en-US" altLang="zh-TW">
                <a:solidFill>
                  <a:srgbClr val="FF0000"/>
                </a:solidFill>
                <a:ea typeface="Microsoft JhengHei" panose="020B0604030504040204" pitchFamily="34" charset="-120"/>
              </a:rPr>
              <a:t>28GB</a:t>
            </a:r>
            <a:endParaRPr kumimoji="1" lang="en" altLang="zh-TW" dirty="0">
              <a:solidFill>
                <a:srgbClr val="FF0000"/>
              </a:solidFill>
              <a:ea typeface="Microsoft JhengHei" panose="020B0604030504040204" pitchFamily="34" charset="-120"/>
            </a:endParaRPr>
          </a:p>
          <a:p>
            <a:endParaRPr kumimoji="1" lang="en" altLang="zh-TW" dirty="0">
              <a:ea typeface="Microsoft JhengHei" panose="020B0604030504040204" pitchFamily="34" charset="-120"/>
            </a:endParaRPr>
          </a:p>
          <a:p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2F733EC-8C5A-C3E8-D671-7DB0A7EB9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26</a:t>
            </a:fld>
            <a:endParaRPr 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50AAF140-E426-2C3F-B32A-1777098113FA}"/>
              </a:ext>
            </a:extLst>
          </p:cNvPr>
          <p:cNvGraphicFramePr>
            <a:graphicFrameLocks noGrp="1"/>
          </p:cNvGraphicFramePr>
          <p:nvPr/>
        </p:nvGraphicFramePr>
        <p:xfrm>
          <a:off x="2051304" y="3857414"/>
          <a:ext cx="8089391" cy="1829553"/>
        </p:xfrm>
        <a:graphic>
          <a:graphicData uri="http://schemas.openxmlformats.org/drawingml/2006/table">
            <a:tbl>
              <a:tblPr/>
              <a:tblGrid>
                <a:gridCol w="2187245">
                  <a:extLst>
                    <a:ext uri="{9D8B030D-6E8A-4147-A177-3AD203B41FA5}">
                      <a16:colId xmlns:a16="http://schemas.microsoft.com/office/drawing/2014/main" val="2947843886"/>
                    </a:ext>
                  </a:extLst>
                </a:gridCol>
                <a:gridCol w="1617556">
                  <a:extLst>
                    <a:ext uri="{9D8B030D-6E8A-4147-A177-3AD203B41FA5}">
                      <a16:colId xmlns:a16="http://schemas.microsoft.com/office/drawing/2014/main" val="1439152719"/>
                    </a:ext>
                  </a:extLst>
                </a:gridCol>
                <a:gridCol w="2142295">
                  <a:extLst>
                    <a:ext uri="{9D8B030D-6E8A-4147-A177-3AD203B41FA5}">
                      <a16:colId xmlns:a16="http://schemas.microsoft.com/office/drawing/2014/main" val="1365398480"/>
                    </a:ext>
                  </a:extLst>
                </a:gridCol>
                <a:gridCol w="2142295">
                  <a:extLst>
                    <a:ext uri="{9D8B030D-6E8A-4147-A177-3AD203B41FA5}">
                      <a16:colId xmlns:a16="http://schemas.microsoft.com/office/drawing/2014/main" val="3714923106"/>
                    </a:ext>
                  </a:extLst>
                </a:gridCol>
              </a:tblGrid>
              <a:tr h="516195">
                <a:tc>
                  <a:txBody>
                    <a:bodyPr/>
                    <a:lstStyle/>
                    <a:p>
                      <a:pPr algn="ctr" fontAlgn="t"/>
                      <a:r>
                        <a:rPr lang="zh-TW" altLang="en-US" sz="1800" b="1" i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模型</a:t>
                      </a: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TW" altLang="en-US" sz="1800" b="1" i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參數量</a:t>
                      </a: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dirty="0">
                          <a:effectLst/>
                          <a:latin typeface="+mn-lt"/>
                        </a:rPr>
                        <a:t>Memory (FP32)</a:t>
                      </a: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i="0" dirty="0">
                          <a:effectLst/>
                          <a:latin typeface="+mn-lt"/>
                        </a:rPr>
                        <a:t>Memory (FP16)</a:t>
                      </a: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4956191"/>
                  </a:ext>
                </a:extLst>
              </a:tr>
              <a:tr h="437786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 err="1">
                          <a:effectLst/>
                          <a:latin typeface="+mn-lt"/>
                        </a:rPr>
                        <a:t>DeepSeek</a:t>
                      </a:r>
                      <a:r>
                        <a:rPr lang="en-US" sz="1800" i="0" dirty="0">
                          <a:effectLst/>
                          <a:latin typeface="+mn-lt"/>
                        </a:rPr>
                        <a:t> v3</a:t>
                      </a: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>
                          <a:effectLst/>
                          <a:latin typeface="+mn-lt"/>
                        </a:rPr>
                        <a:t>685B</a:t>
                      </a: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2740 GB</a:t>
                      </a:r>
                      <a:endParaRPr lang="en-US" sz="1800" i="0" dirty="0"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>
                          <a:effectLst/>
                          <a:latin typeface="+mn-lt"/>
                        </a:rPr>
                        <a:t>1370 GB</a:t>
                      </a: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4467647"/>
                  </a:ext>
                </a:extLst>
              </a:tr>
              <a:tr h="437786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Llama 4 Scout</a:t>
                      </a:r>
                      <a:endParaRPr lang="en-US" sz="1800" i="0" dirty="0"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>
                          <a:effectLst/>
                          <a:latin typeface="+mn-lt"/>
                        </a:rPr>
                        <a:t>109B</a:t>
                      </a: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436 GB</a:t>
                      </a:r>
                      <a:endParaRPr lang="en-US" sz="1800" i="0" dirty="0"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>
                          <a:effectLst/>
                          <a:latin typeface="+mn-lt"/>
                        </a:rPr>
                        <a:t>218 GB</a:t>
                      </a: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3878449"/>
                  </a:ext>
                </a:extLst>
              </a:tr>
              <a:tr h="437786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GPT-2 XL</a:t>
                      </a:r>
                      <a:endParaRPr lang="pt-BR" sz="1800" i="0" dirty="0"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i="0" dirty="0">
                          <a:effectLst/>
                          <a:latin typeface="+mn-lt"/>
                        </a:rPr>
                        <a:t>1.5B</a:t>
                      </a: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 GB</a:t>
                      </a:r>
                      <a:endParaRPr lang="en-US" sz="1800" i="0" dirty="0"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 GB</a:t>
                      </a:r>
                      <a:endParaRPr lang="en-US" altLang="zh-TW" sz="1800" i="0" dirty="0"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5225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7347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562B04-9C41-700D-01E7-7312C61BA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讓大型語言模型適用於你的任務？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87D3013-3C6C-0124-D824-1C0E208FB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BE8FDE4D-65D5-02ED-2DB6-2BAD43A99A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8060" y="2175664"/>
            <a:ext cx="1108862" cy="1108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直線箭頭接點 5">
            <a:extLst>
              <a:ext uri="{FF2B5EF4-FFF2-40B4-BE49-F238E27FC236}">
                <a16:creationId xmlns:a16="http://schemas.microsoft.com/office/drawing/2014/main" id="{A0135A98-4A89-5D8D-1B01-B3072122F17E}"/>
              </a:ext>
            </a:extLst>
          </p:cNvPr>
          <p:cNvCxnSpPr>
            <a:cxnSpLocks/>
          </p:cNvCxnSpPr>
          <p:nvPr/>
        </p:nvCxnSpPr>
        <p:spPr>
          <a:xfrm flipH="1">
            <a:off x="3328422" y="2841346"/>
            <a:ext cx="11411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C573909E-78CE-7A0D-18DB-7666126A8CC0}"/>
              </a:ext>
            </a:extLst>
          </p:cNvPr>
          <p:cNvSpPr txBox="1"/>
          <p:nvPr/>
        </p:nvSpPr>
        <p:spPr>
          <a:xfrm>
            <a:off x="4689049" y="2596851"/>
            <a:ext cx="3438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翻譯、聊天、寫故事 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…</a:t>
            </a:r>
            <a:endParaRPr kumimoji="1" lang="zh-TW" altLang="en-US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9" name="Picture 2" descr="undefined">
            <a:extLst>
              <a:ext uri="{FF2B5EF4-FFF2-40B4-BE49-F238E27FC236}">
                <a16:creationId xmlns:a16="http://schemas.microsoft.com/office/drawing/2014/main" id="{46544269-5C0D-AB51-B115-39841E69F2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8060" y="4173099"/>
            <a:ext cx="1108862" cy="1108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AD1420AB-9C6C-A1C0-B579-E042D7EA81C4}"/>
              </a:ext>
            </a:extLst>
          </p:cNvPr>
          <p:cNvSpPr txBox="1"/>
          <p:nvPr/>
        </p:nvSpPr>
        <p:spPr>
          <a:xfrm>
            <a:off x="998525" y="2500509"/>
            <a:ext cx="7095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4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📚</a:t>
            </a:r>
          </a:p>
        </p:txBody>
      </p: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65E4DAA1-25E0-C685-0EAE-5442D863FBDD}"/>
              </a:ext>
            </a:extLst>
          </p:cNvPr>
          <p:cNvCxnSpPr>
            <a:cxnSpLocks/>
          </p:cNvCxnSpPr>
          <p:nvPr/>
        </p:nvCxnSpPr>
        <p:spPr>
          <a:xfrm flipH="1">
            <a:off x="3328422" y="4742160"/>
            <a:ext cx="11411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056B2E1F-3C11-7C14-6E67-B489FDDF943D}"/>
              </a:ext>
            </a:extLst>
          </p:cNvPr>
          <p:cNvSpPr txBox="1"/>
          <p:nvPr/>
        </p:nvSpPr>
        <p:spPr>
          <a:xfrm>
            <a:off x="4689050" y="4504390"/>
            <a:ext cx="6013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醫學資料、少數語言、網路上查不到的知識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1BD93034-DDC9-E3A0-408F-3670A03A0C8F}"/>
              </a:ext>
            </a:extLst>
          </p:cNvPr>
          <p:cNvSpPr txBox="1"/>
          <p:nvPr/>
        </p:nvSpPr>
        <p:spPr>
          <a:xfrm>
            <a:off x="8013804" y="2500509"/>
            <a:ext cx="7095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4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💪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1508E95F-A02F-8597-DD00-30BCEAA55A0A}"/>
              </a:ext>
            </a:extLst>
          </p:cNvPr>
          <p:cNvSpPr txBox="1"/>
          <p:nvPr/>
        </p:nvSpPr>
        <p:spPr>
          <a:xfrm>
            <a:off x="10724090" y="4439423"/>
            <a:ext cx="7095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4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⚠️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54A635F-F81C-2471-EEA2-82F1AAAA0406}"/>
              </a:ext>
            </a:extLst>
          </p:cNvPr>
          <p:cNvSpPr txBox="1"/>
          <p:nvPr/>
        </p:nvSpPr>
        <p:spPr>
          <a:xfrm>
            <a:off x="3328421" y="5427587"/>
            <a:ext cx="6694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解決方案</a:t>
            </a:r>
            <a:r>
              <a:rPr kumimoji="1" lang="zh-TW" altLang="en-US" sz="2400" dirty="0"/>
              <a:t>：增加提示詞</a:t>
            </a:r>
            <a:r>
              <a:rPr kumimoji="1" lang="en-US" altLang="zh-TW" sz="2400" dirty="0"/>
              <a:t> 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或</a:t>
            </a:r>
            <a:r>
              <a:rPr kumimoji="1" lang="en-US" altLang="zh-TW" sz="2400" dirty="0"/>
              <a:t> </a:t>
            </a:r>
            <a:r>
              <a:rPr kumimoji="1" lang="zh-TW" altLang="en-US" sz="2400" dirty="0"/>
              <a:t>訓練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語言模型</a:t>
            </a:r>
          </a:p>
        </p:txBody>
      </p:sp>
      <p:sp>
        <p:nvSpPr>
          <p:cNvPr id="16" name="向右箭號 15">
            <a:extLst>
              <a:ext uri="{FF2B5EF4-FFF2-40B4-BE49-F238E27FC236}">
                <a16:creationId xmlns:a16="http://schemas.microsoft.com/office/drawing/2014/main" id="{4CFE905D-A992-5DB1-A2DC-5A3C488A4BA7}"/>
              </a:ext>
            </a:extLst>
          </p:cNvPr>
          <p:cNvSpPr/>
          <p:nvPr/>
        </p:nvSpPr>
        <p:spPr>
          <a:xfrm rot="13500000">
            <a:off x="3008691" y="5179129"/>
            <a:ext cx="321869" cy="3126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43E70E32-FA25-E97D-6DBC-E6452D333F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9215" y="3356027"/>
            <a:ext cx="1879418" cy="1108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38BC827B-B1A9-0327-CEDA-82B669323C6A}"/>
              </a:ext>
            </a:extLst>
          </p:cNvPr>
          <p:cNvSpPr txBox="1"/>
          <p:nvPr/>
        </p:nvSpPr>
        <p:spPr>
          <a:xfrm>
            <a:off x="7700682" y="6134354"/>
            <a:ext cx="325345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100" dirty="0"/>
              <a:t>Figure source: https://</a:t>
            </a:r>
            <a:r>
              <a:rPr kumimoji="1" lang="en" altLang="zh-TW" sz="1100" dirty="0" err="1"/>
              <a:t>gameofthrones.fandom.com</a:t>
            </a:r>
            <a:r>
              <a:rPr kumimoji="1" lang="en" altLang="zh-TW" sz="1100" dirty="0"/>
              <a:t>/wiki/</a:t>
            </a:r>
            <a:r>
              <a:rPr kumimoji="1" lang="en" altLang="zh-TW" sz="1100" dirty="0" err="1"/>
              <a:t>High_Valyrian?file</a:t>
            </a:r>
            <a:r>
              <a:rPr kumimoji="1" lang="en" altLang="zh-TW" sz="1100" dirty="0"/>
              <a:t>=</a:t>
            </a:r>
            <a:r>
              <a:rPr kumimoji="1" lang="en" altLang="zh-TW" sz="1100" dirty="0" err="1"/>
              <a:t>Nekesse_Valyrio.jpg</a:t>
            </a:r>
            <a:endParaRPr kumimoji="1" lang="zh-TW" altLang="en-US" sz="1100" dirty="0"/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54E359E7-CD09-45B4-28A2-EB332319C288}"/>
              </a:ext>
            </a:extLst>
          </p:cNvPr>
          <p:cNvSpPr/>
          <p:nvPr/>
        </p:nvSpPr>
        <p:spPr>
          <a:xfrm>
            <a:off x="6872139" y="5272810"/>
            <a:ext cx="2003549" cy="76513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7561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  <p:bldP spid="13" grpId="0"/>
      <p:bldP spid="14" grpId="0"/>
      <p:bldP spid="15" grpId="0"/>
      <p:bldP spid="16" grpId="0" animBg="1"/>
      <p:bldP spid="18" grpId="0"/>
      <p:bldP spid="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B97D82-E910-27C7-3E61-53C5EF341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" altLang="zh-TW" dirty="0"/>
              <a:t>GPU Memory Estimated (Full Fine-tuning)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424A06-C223-243A-AF52-39036FB59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28</a:t>
            </a:fld>
            <a:endParaRPr 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D95DB63-7BBE-C75B-AF82-B0EF596AB2BB}"/>
              </a:ext>
            </a:extLst>
          </p:cNvPr>
          <p:cNvGraphicFramePr>
            <a:graphicFrameLocks noGrp="1"/>
          </p:cNvGraphicFramePr>
          <p:nvPr/>
        </p:nvGraphicFramePr>
        <p:xfrm>
          <a:off x="917959" y="1913179"/>
          <a:ext cx="10351008" cy="3697028"/>
        </p:xfrm>
        <a:graphic>
          <a:graphicData uri="http://schemas.openxmlformats.org/drawingml/2006/table">
            <a:tbl>
              <a:tblPr/>
              <a:tblGrid>
                <a:gridCol w="2779776">
                  <a:extLst>
                    <a:ext uri="{9D8B030D-6E8A-4147-A177-3AD203B41FA5}">
                      <a16:colId xmlns:a16="http://schemas.microsoft.com/office/drawing/2014/main" val="4292029165"/>
                    </a:ext>
                  </a:extLst>
                </a:gridCol>
                <a:gridCol w="3910461">
                  <a:extLst>
                    <a:ext uri="{9D8B030D-6E8A-4147-A177-3AD203B41FA5}">
                      <a16:colId xmlns:a16="http://schemas.microsoft.com/office/drawing/2014/main" val="2947843886"/>
                    </a:ext>
                  </a:extLst>
                </a:gridCol>
                <a:gridCol w="3660771">
                  <a:extLst>
                    <a:ext uri="{9D8B030D-6E8A-4147-A177-3AD203B41FA5}">
                      <a16:colId xmlns:a16="http://schemas.microsoft.com/office/drawing/2014/main" val="1365398480"/>
                    </a:ext>
                  </a:extLst>
                </a:gridCol>
              </a:tblGrid>
              <a:tr h="516195">
                <a:tc gridSpan="3"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Llama 2</a:t>
                      </a:r>
                      <a:r>
                        <a:rPr lang="en-US" altLang="zh-TW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-7B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16-bit float</a:t>
                      </a: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lang="en-US" altLang="zh-TW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max_length</a:t>
                      </a: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(seq) = 4096, </a:t>
                      </a:r>
                      <a:r>
                        <a:rPr lang="en-US" altLang="zh-TW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hidden_size</a:t>
                      </a: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= 4096, </a:t>
                      </a:r>
                      <a:r>
                        <a:rPr lang="en-US" altLang="zh-TW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batch_size</a:t>
                      </a: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(bs) = 1</a:t>
                      </a:r>
                      <a:endParaRPr lang="en-US" altLang="zh-TW" sz="1800" dirty="0"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8314863"/>
                  </a:ext>
                </a:extLst>
              </a:tr>
              <a:tr h="516195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i="0" dirty="0"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TW" altLang="en-US" sz="1800" b="1" i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算法</a:t>
                      </a: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dirty="0">
                          <a:effectLst/>
                          <a:latin typeface="+mn-lt"/>
                        </a:rPr>
                        <a:t>Memory (</a:t>
                      </a:r>
                      <a:r>
                        <a:rPr lang="en-US" sz="1800" b="1" i="0" dirty="0" err="1">
                          <a:effectLst/>
                          <a:latin typeface="+mn-lt"/>
                        </a:rPr>
                        <a:t>概略</a:t>
                      </a:r>
                      <a:r>
                        <a:rPr lang="en-US" sz="1800" b="1" i="0" dirty="0"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4956191"/>
                  </a:ext>
                </a:extLst>
              </a:tr>
              <a:tr h="516195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CUDA</a:t>
                      </a:r>
                      <a:endParaRPr lang="en-US" sz="1800" i="0" dirty="0"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1800" i="0" dirty="0">
                          <a:effectLst/>
                          <a:latin typeface="+mn-lt"/>
                        </a:rPr>
                        <a:t>-</a:t>
                      </a:r>
                      <a:endParaRPr lang="zh-TW" altLang="en-US" sz="1800" i="0" dirty="0"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 GB</a:t>
                      </a:r>
                      <a:endParaRPr lang="en-US" sz="1800" i="0" dirty="0"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6399229"/>
                  </a:ext>
                </a:extLst>
              </a:tr>
              <a:tr h="437786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Model weights</a:t>
                      </a:r>
                      <a:endParaRPr lang="en-US" sz="1800" i="0" dirty="0"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size(float) *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</a:t>
                      </a:r>
                      <a:r>
                        <a:rPr lang="en-US" sz="1800" b="0" i="0" u="none" strike="noStrike" baseline="-25000" noProof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parameter</a:t>
                      </a:r>
                      <a:endParaRPr lang="en-US" sz="1800" i="0" dirty="0" err="1"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 GB</a:t>
                      </a:r>
                      <a:endParaRPr lang="en-US" sz="1800" i="0" dirty="0"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4467647"/>
                  </a:ext>
                </a:extLst>
              </a:tr>
              <a:tr h="437786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Gradients</a:t>
                      </a:r>
                      <a:endParaRPr lang="en-US" sz="1800" i="0" dirty="0"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size(</a:t>
                      </a:r>
                      <a:r>
                        <a:rPr lang="en-US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float32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) *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</a:t>
                      </a:r>
                      <a:r>
                        <a:rPr lang="en-US" sz="1800" b="0" i="0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trainable</a:t>
                      </a:r>
                      <a:endParaRPr lang="en-US" sz="1800" i="0" dirty="0"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28 GB</a:t>
                      </a:r>
                      <a:endParaRPr lang="en-US" sz="1800" i="0" dirty="0"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3878449"/>
                  </a:ext>
                </a:extLst>
              </a:tr>
              <a:tr h="437786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Hidden states</a:t>
                      </a:r>
                      <a:endParaRPr lang="en-US" sz="1800" i="0" dirty="0"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size</a:t>
                      </a: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(float) * </a:t>
                      </a: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seq</a:t>
                      </a: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* </a:t>
                      </a:r>
                      <a:r>
                        <a:rPr lang="pt-BR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hidden_size</a:t>
                      </a: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* L</a:t>
                      </a:r>
                      <a:endParaRPr lang="pt-BR" sz="1800" i="0" dirty="0"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 GB</a:t>
                      </a:r>
                      <a:endParaRPr lang="en-US" sz="1800" i="0" dirty="0"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5225106"/>
                  </a:ext>
                </a:extLst>
              </a:tr>
              <a:tr h="437786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Optimizer states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(Adam)</a:t>
                      </a:r>
                      <a:endParaRPr lang="en-US" sz="1800" i="0" dirty="0"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 * size(</a:t>
                      </a:r>
                      <a:r>
                        <a:rPr lang="en-US" altLang="zh-TW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float32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) *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</a:t>
                      </a:r>
                      <a:r>
                        <a:rPr lang="en-US" sz="1800" b="0" i="0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trainable</a:t>
                      </a:r>
                      <a:endParaRPr lang="en-US" sz="1800" i="0" dirty="0"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56 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GB</a:t>
                      </a:r>
                      <a:endParaRPr lang="en-US" sz="1800" i="0" dirty="0"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0485358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505250BB-958D-734F-C7F5-D643219BDB1E}"/>
              </a:ext>
            </a:extLst>
          </p:cNvPr>
          <p:cNvSpPr txBox="1"/>
          <p:nvPr/>
        </p:nvSpPr>
        <p:spPr>
          <a:xfrm>
            <a:off x="917959" y="5720496"/>
            <a:ext cx="5457933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zh-TW" sz="1600" dirty="0">
                <a:solidFill>
                  <a:srgbClr val="000000"/>
                </a:solidFill>
                <a:ea typeface="新細明體"/>
                <a:cs typeface="Times New Roman"/>
              </a:rPr>
              <a:t>L : Number of layers in model (eq. 32 layers)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E1C0B89-01AF-88E2-D6FC-D61C8B426A55}"/>
              </a:ext>
            </a:extLst>
          </p:cNvPr>
          <p:cNvSpPr txBox="1"/>
          <p:nvPr/>
        </p:nvSpPr>
        <p:spPr>
          <a:xfrm>
            <a:off x="7773949" y="5720496"/>
            <a:ext cx="3071356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zh-TW" sz="1800" b="1" u="none" strike="noStrike" dirty="0">
                <a:solidFill>
                  <a:srgbClr val="000000"/>
                </a:solidFill>
                <a:effectLst/>
                <a:ea typeface="新細明體"/>
                <a:cs typeface="Times New Roman"/>
              </a:rPr>
              <a:t>Estimate: </a:t>
            </a:r>
            <a:r>
              <a:rPr lang="en-US" altLang="zh-TW" dirty="0">
                <a:solidFill>
                  <a:srgbClr val="000000"/>
                </a:solidFill>
              </a:rPr>
              <a:t>~</a:t>
            </a:r>
            <a:r>
              <a:rPr lang="en-US" altLang="zh-TW" b="1" dirty="0">
                <a:solidFill>
                  <a:srgbClr val="000000"/>
                </a:solidFill>
                <a:ea typeface="新細明體"/>
                <a:cs typeface="Times New Roman"/>
              </a:rPr>
              <a:t>100 GB</a:t>
            </a: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ea typeface="新細明體"/>
                <a:cs typeface="Times New Roman"/>
              </a:rPr>
              <a:t>*NVIDIA 5090: 32GB</a:t>
            </a:r>
            <a:endParaRPr lang="en-US" altLang="zh-TW" dirty="0">
              <a:ea typeface="新細明體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48682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29EDC-B7A0-91DD-63F5-190A84794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33D214-BB94-3D2C-E3FD-0D52FDF2C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TW" altLang="en-US" sz="4400" dirty="0">
                <a:ea typeface="+mj-lt"/>
                <a:cs typeface="+mj-lt"/>
              </a:rPr>
              <a:t>有沒有可能只微調 </a:t>
            </a:r>
            <a:r>
              <a:rPr lang="en-US" altLang="zh-TW" sz="4400" dirty="0">
                <a:ea typeface="+mj-lt"/>
                <a:cs typeface="+mj-lt"/>
              </a:rPr>
              <a:t>LLM </a:t>
            </a:r>
            <a:r>
              <a:rPr lang="zh-TW" altLang="en-US" sz="4400" dirty="0">
                <a:ea typeface="+mj-lt"/>
                <a:cs typeface="+mj-lt"/>
              </a:rPr>
              <a:t>一部分的參數呢？</a:t>
            </a:r>
            <a:endParaRPr lang="en-US" altLang="zh-TW" sz="4400" dirty="0">
              <a:ea typeface="+mj-lt"/>
              <a:cs typeface="+mj-lt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FBE3560-F03B-0151-C181-F4A5124FF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>
                <a:latin typeface="Times New Roman"/>
                <a:cs typeface="Times New Roman"/>
              </a:rPr>
              <a:t>29</a:t>
            </a:fld>
            <a:endParaRPr lang="zh-TW" altLang="en-US">
              <a:latin typeface="Times New Roman"/>
              <a:cs typeface="Times New Roman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8364BF4-C089-BB79-41C2-B4316B8029FA}"/>
              </a:ext>
            </a:extLst>
          </p:cNvPr>
          <p:cNvSpPr txBox="1"/>
          <p:nvPr/>
        </p:nvSpPr>
        <p:spPr>
          <a:xfrm>
            <a:off x="2082154" y="5310989"/>
            <a:ext cx="3361242" cy="67710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zh-TW" sz="2000" b="0" i="0" u="none" strike="noStrike" dirty="0">
                <a:effectLst/>
                <a:ea typeface="新細明體"/>
                <a:cs typeface="Times New Roman"/>
              </a:rPr>
              <a:t>Full Fine-tuning</a:t>
            </a:r>
            <a:br>
              <a:rPr lang="en-US" altLang="zh-TW" sz="2000" b="0" i="0" u="none" strike="noStrike" dirty="0">
                <a:effectLst/>
                <a:cs typeface="Times New Roman"/>
              </a:rPr>
            </a:br>
            <a:r>
              <a:rPr lang="en-US" altLang="zh-TW" sz="1800" b="0" i="0" u="none" strike="noStrike" dirty="0">
                <a:effectLst/>
                <a:ea typeface="新細明體"/>
                <a:cs typeface="Times New Roman"/>
              </a:rPr>
              <a:t>Update </a:t>
            </a:r>
            <a:r>
              <a:rPr lang="en-US" altLang="zh-TW" sz="1800" b="1" i="0" u="none" strike="noStrike" dirty="0">
                <a:effectLst/>
                <a:ea typeface="新細明體"/>
                <a:cs typeface="Times New Roman"/>
              </a:rPr>
              <a:t>all model parameters</a:t>
            </a:r>
            <a:endParaRPr lang="zh-TW" altLang="en-US" dirty="0">
              <a:ea typeface="新細明體"/>
              <a:cs typeface="Times New Roman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52C63BA2-1B3B-63B8-B4DB-4183B8A7F9A7}"/>
              </a:ext>
            </a:extLst>
          </p:cNvPr>
          <p:cNvSpPr txBox="1"/>
          <p:nvPr/>
        </p:nvSpPr>
        <p:spPr>
          <a:xfrm>
            <a:off x="5808965" y="5310989"/>
            <a:ext cx="5242246" cy="67710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zh-TW" sz="2000" b="0" i="0" u="none" strike="noStrike" dirty="0">
                <a:effectLst/>
                <a:ea typeface="新細明體"/>
                <a:cs typeface="Times New Roman"/>
              </a:rPr>
              <a:t>Parameter-efficient Fine-tuning</a:t>
            </a:r>
            <a:r>
              <a:rPr lang="zh-TW" altLang="en-US" sz="2000" b="0" i="0" u="none" strike="noStrike" dirty="0">
                <a:effectLst/>
                <a:ea typeface="新細明體"/>
                <a:cs typeface="Times New Roman"/>
              </a:rPr>
              <a:t> </a:t>
            </a:r>
            <a:r>
              <a:rPr lang="en-US" altLang="zh-TW" sz="2000" b="0" i="0" u="none" strike="noStrike" dirty="0">
                <a:effectLst/>
                <a:ea typeface="新細明體"/>
                <a:cs typeface="Times New Roman"/>
              </a:rPr>
              <a:t>(PEFT)</a:t>
            </a:r>
            <a:br>
              <a:rPr lang="en-US" altLang="zh-TW" sz="1800" b="0" i="0" u="none" strike="noStrike" dirty="0">
                <a:effectLst/>
                <a:cs typeface="Times New Roman"/>
              </a:rPr>
            </a:br>
            <a:r>
              <a:rPr lang="en-US" altLang="zh-TW" sz="1800" b="0" i="0" u="none" strike="noStrike" dirty="0">
                <a:effectLst/>
                <a:ea typeface="新細明體"/>
                <a:cs typeface="Times New Roman"/>
              </a:rPr>
              <a:t>Update a </a:t>
            </a:r>
            <a:r>
              <a:rPr lang="en-US" altLang="zh-TW" sz="1800" b="1" i="0" u="none" strike="noStrike" dirty="0">
                <a:effectLst/>
                <a:ea typeface="新細明體"/>
                <a:cs typeface="Times New Roman"/>
              </a:rPr>
              <a:t>small subset</a:t>
            </a:r>
            <a:r>
              <a:rPr lang="en-US" altLang="zh-TW" sz="1800" b="0" i="0" u="none" strike="noStrike" dirty="0">
                <a:effectLst/>
                <a:ea typeface="新細明體"/>
                <a:cs typeface="Times New Roman"/>
              </a:rPr>
              <a:t> of model parameters</a:t>
            </a:r>
            <a:endParaRPr lang="zh-TW" altLang="en-US" dirty="0">
              <a:ea typeface="新細明體"/>
              <a:cs typeface="Times New Roman"/>
            </a:endParaRPr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4A784CFC-2FDC-9025-0ECA-DBC86337AE2F}"/>
              </a:ext>
            </a:extLst>
          </p:cNvPr>
          <p:cNvSpPr/>
          <p:nvPr/>
        </p:nvSpPr>
        <p:spPr>
          <a:xfrm>
            <a:off x="2541232" y="2226816"/>
            <a:ext cx="2441359" cy="239697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Trainable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713EAEDE-713F-F791-EA95-9455168AE79B}"/>
              </a:ext>
            </a:extLst>
          </p:cNvPr>
          <p:cNvSpPr/>
          <p:nvPr/>
        </p:nvSpPr>
        <p:spPr>
          <a:xfrm>
            <a:off x="7209409" y="2230515"/>
            <a:ext cx="2441359" cy="2396970"/>
          </a:xfrm>
          <a:prstGeom prst="ellipse">
            <a:avLst/>
          </a:prstGeom>
          <a:solidFill>
            <a:srgbClr val="5A9B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TW" altLang="en-US" dirty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Freeze</a:t>
            </a: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57880B0E-7C1C-4955-697E-635FA106E32D}"/>
              </a:ext>
            </a:extLst>
          </p:cNvPr>
          <p:cNvSpPr/>
          <p:nvPr/>
        </p:nvSpPr>
        <p:spPr>
          <a:xfrm>
            <a:off x="7690281" y="3772981"/>
            <a:ext cx="1491129" cy="85450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TW" altLang="en-US" dirty="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Trainable</a:t>
            </a:r>
            <a:endParaRPr 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E102E23-57F0-25C8-F500-E2AFD8D7AE47}"/>
              </a:ext>
            </a:extLst>
          </p:cNvPr>
          <p:cNvSpPr txBox="1"/>
          <p:nvPr/>
        </p:nvSpPr>
        <p:spPr>
          <a:xfrm>
            <a:off x="9181410" y="4549283"/>
            <a:ext cx="1036320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zh-TW" altLang="en-US" sz="3200" b="0" i="0" u="none" strike="noStrike" dirty="0">
                <a:effectLst/>
                <a:ea typeface="新細明體"/>
                <a:cs typeface="Times New Roman"/>
              </a:rPr>
              <a:t>👍</a:t>
            </a:r>
            <a:endParaRPr lang="zh-TW" altLang="en-US" sz="2800" dirty="0">
              <a:ea typeface="新細明體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25595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B97D82-E910-27C7-3E61-53C5EF341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GPU Memory Estimated (</a:t>
            </a:r>
            <a:r>
              <a:rPr lang="en-US" altLang="zh-TW" sz="4800" b="0" i="0" u="none" strike="noStrike" dirty="0">
                <a:effectLst/>
                <a:ea typeface="新細明體"/>
                <a:cs typeface="Times New Roman"/>
              </a:rPr>
              <a:t>PEFT</a:t>
            </a:r>
            <a:r>
              <a:rPr kumimoji="1" lang="en" altLang="zh-TW" dirty="0"/>
              <a:t>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424A06-C223-243A-AF52-39036FB59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30</a:t>
            </a:fld>
            <a:endParaRPr 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D95DB63-7BBE-C75B-AF82-B0EF596AB2BB}"/>
              </a:ext>
            </a:extLst>
          </p:cNvPr>
          <p:cNvGraphicFramePr>
            <a:graphicFrameLocks noGrp="1"/>
          </p:cNvGraphicFramePr>
          <p:nvPr/>
        </p:nvGraphicFramePr>
        <p:xfrm>
          <a:off x="917959" y="2146263"/>
          <a:ext cx="10351008" cy="3697028"/>
        </p:xfrm>
        <a:graphic>
          <a:graphicData uri="http://schemas.openxmlformats.org/drawingml/2006/table">
            <a:tbl>
              <a:tblPr/>
              <a:tblGrid>
                <a:gridCol w="2779776">
                  <a:extLst>
                    <a:ext uri="{9D8B030D-6E8A-4147-A177-3AD203B41FA5}">
                      <a16:colId xmlns:a16="http://schemas.microsoft.com/office/drawing/2014/main" val="4292029165"/>
                    </a:ext>
                  </a:extLst>
                </a:gridCol>
                <a:gridCol w="3910461">
                  <a:extLst>
                    <a:ext uri="{9D8B030D-6E8A-4147-A177-3AD203B41FA5}">
                      <a16:colId xmlns:a16="http://schemas.microsoft.com/office/drawing/2014/main" val="2947843886"/>
                    </a:ext>
                  </a:extLst>
                </a:gridCol>
                <a:gridCol w="3660771">
                  <a:extLst>
                    <a:ext uri="{9D8B030D-6E8A-4147-A177-3AD203B41FA5}">
                      <a16:colId xmlns:a16="http://schemas.microsoft.com/office/drawing/2014/main" val="1365398480"/>
                    </a:ext>
                  </a:extLst>
                </a:gridCol>
              </a:tblGrid>
              <a:tr h="516195">
                <a:tc gridSpan="3"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800" b="1" i="0" u="none" strike="noStrike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Llama 2</a:t>
                      </a:r>
                      <a:r>
                        <a:rPr lang="en-US" altLang="zh-TW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-7B</a:t>
                      </a:r>
                      <a:endParaRPr lang="en-US" altLang="zh-TW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16-bit float, </a:t>
                      </a:r>
                      <a:r>
                        <a:rPr lang="en-US" altLang="zh-TW" sz="1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max_length</a:t>
                      </a:r>
                      <a:r>
                        <a:rPr lang="en-US" altLang="zh-TW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(seq) = 4096, </a:t>
                      </a:r>
                      <a:r>
                        <a:rPr lang="en-US" altLang="zh-TW" sz="1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hidden_size</a:t>
                      </a:r>
                      <a:r>
                        <a:rPr lang="en-US" altLang="zh-TW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= 4096, </a:t>
                      </a:r>
                      <a:r>
                        <a:rPr lang="en-US" altLang="zh-TW" sz="1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batch_size</a:t>
                      </a:r>
                      <a:r>
                        <a:rPr lang="en-US" altLang="zh-TW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(bs) = 1</a:t>
                      </a:r>
                      <a:endParaRPr lang="en-US" altLang="zh-TW" sz="18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8314863"/>
                  </a:ext>
                </a:extLst>
              </a:tr>
              <a:tr h="516195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TW" altLang="en-US" sz="1800" b="1" i="0" dirty="0">
                          <a:solidFill>
                            <a:schemeClr val="tx1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算法</a:t>
                      </a: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dirty="0">
                          <a:effectLst/>
                          <a:latin typeface="+mn-lt"/>
                        </a:rPr>
                        <a:t>Memory</a:t>
                      </a: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4956191"/>
                  </a:ext>
                </a:extLst>
              </a:tr>
              <a:tr h="516195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CUDA</a:t>
                      </a:r>
                      <a:endParaRPr lang="en-US" sz="180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180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</a:t>
                      </a:r>
                      <a:endParaRPr lang="zh-TW" altLang="en-US" sz="180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 GB</a:t>
                      </a:r>
                      <a:endParaRPr lang="en-US" sz="1800" i="0" dirty="0"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6399229"/>
                  </a:ext>
                </a:extLst>
              </a:tr>
              <a:tr h="437786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Model weights</a:t>
                      </a:r>
                      <a:endParaRPr lang="en-US" sz="180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size(float) * </a:t>
                      </a:r>
                      <a:r>
                        <a:rPr lang="en-US" sz="1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</a:t>
                      </a:r>
                      <a:r>
                        <a:rPr lang="en-US" sz="1800" b="0" i="0" u="none" strike="noStrike" baseline="-2500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parameter</a:t>
                      </a:r>
                      <a:endParaRPr lang="en-US" sz="1800" i="0" dirty="0" err="1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 GB</a:t>
                      </a:r>
                      <a:endParaRPr lang="en-US" sz="1800" i="0" dirty="0"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4467647"/>
                  </a:ext>
                </a:extLst>
              </a:tr>
              <a:tr h="437786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Gradients</a:t>
                      </a:r>
                      <a:endParaRPr lang="en-US" sz="180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size(</a:t>
                      </a:r>
                      <a:r>
                        <a:rPr lang="en-US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float32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) * </a:t>
                      </a:r>
                      <a:r>
                        <a:rPr lang="en-US" sz="1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</a:t>
                      </a:r>
                      <a:r>
                        <a:rPr lang="en-US" sz="1800" b="0" i="0" u="none" strike="noStrike" baseline="-250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trainable</a:t>
                      </a:r>
                      <a:endParaRPr lang="en-US" sz="180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28*0.02 </a:t>
                      </a:r>
                      <a:r>
                        <a:rPr lang="en-US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= 0.56 GB</a:t>
                      </a:r>
                      <a:endParaRPr lang="en-US" sz="1800" i="0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3878449"/>
                  </a:ext>
                </a:extLst>
              </a:tr>
              <a:tr h="437786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Hidden states</a:t>
                      </a:r>
                      <a:endParaRPr lang="en-US" sz="1800" i="0" dirty="0"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~size(float) * </a:t>
                      </a: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seq</a:t>
                      </a: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* </a:t>
                      </a:r>
                      <a:r>
                        <a:rPr lang="pt-BR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hidden_size</a:t>
                      </a: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* L</a:t>
                      </a:r>
                      <a:endParaRPr lang="pt-BR" sz="1800" i="0" dirty="0"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 GB</a:t>
                      </a:r>
                      <a:endParaRPr lang="en-US" sz="1800" i="0" dirty="0"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5225106"/>
                  </a:ext>
                </a:extLst>
              </a:tr>
              <a:tr h="437786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Optimizer states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(Adam)</a:t>
                      </a:r>
                      <a:endParaRPr lang="en-US" sz="1800" i="0" dirty="0"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 * size(</a:t>
                      </a:r>
                      <a:r>
                        <a:rPr lang="en-US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float32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) *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</a:t>
                      </a:r>
                      <a:r>
                        <a:rPr lang="en-US" sz="1800" b="0" i="0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trainable</a:t>
                      </a:r>
                      <a:endParaRPr lang="en-US" sz="1800" i="0" dirty="0"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56*0.02 </a:t>
                      </a:r>
                      <a:r>
                        <a:rPr lang="en-US" altLang="zh-TW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= 1.12 GB</a:t>
                      </a:r>
                      <a:endParaRPr lang="en-US" altLang="zh-TW" sz="1800" i="0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0485358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505250BB-958D-734F-C7F5-D643219BDB1E}"/>
              </a:ext>
            </a:extLst>
          </p:cNvPr>
          <p:cNvSpPr txBox="1"/>
          <p:nvPr/>
        </p:nvSpPr>
        <p:spPr>
          <a:xfrm>
            <a:off x="917959" y="5953580"/>
            <a:ext cx="5457933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zh-TW" sz="1600" dirty="0">
                <a:solidFill>
                  <a:srgbClr val="000000"/>
                </a:solidFill>
                <a:ea typeface="新細明體"/>
                <a:cs typeface="Times New Roman"/>
              </a:rPr>
              <a:t>L : Number of layers in model (eq. 32 layers)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E1C0B89-01AF-88E2-D6FC-D61C8B426A55}"/>
              </a:ext>
            </a:extLst>
          </p:cNvPr>
          <p:cNvSpPr txBox="1"/>
          <p:nvPr/>
        </p:nvSpPr>
        <p:spPr>
          <a:xfrm>
            <a:off x="7773949" y="5953580"/>
            <a:ext cx="3071356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altLang="zh-TW" sz="1800" b="1" u="none" strike="noStrike" dirty="0">
                <a:solidFill>
                  <a:srgbClr val="000000"/>
                </a:solidFill>
                <a:effectLst/>
                <a:ea typeface="新細明體"/>
                <a:cs typeface="Times New Roman"/>
              </a:rPr>
              <a:t>Estimate: </a:t>
            </a:r>
            <a:r>
              <a:rPr lang="en-US" altLang="zh-TW" b="1" dirty="0">
                <a:solidFill>
                  <a:srgbClr val="FF0000"/>
                </a:solidFill>
                <a:ea typeface="新細明體"/>
                <a:cs typeface="Times New Roman"/>
              </a:rPr>
              <a:t>17.68</a:t>
            </a:r>
            <a:r>
              <a:rPr lang="en-US" altLang="zh-TW" b="1" dirty="0">
                <a:solidFill>
                  <a:srgbClr val="000000"/>
                </a:solidFill>
                <a:ea typeface="新細明體"/>
                <a:cs typeface="Times New Roman"/>
              </a:rPr>
              <a:t> GB</a:t>
            </a:r>
            <a:endParaRPr lang="en-US" altLang="zh-TW" b="1" dirty="0">
              <a:ea typeface="新細明體"/>
              <a:cs typeface="Times New Roman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6A463BE-A5ED-14D8-D9FB-C277A51F07E5}"/>
              </a:ext>
            </a:extLst>
          </p:cNvPr>
          <p:cNvSpPr txBox="1"/>
          <p:nvPr/>
        </p:nvSpPr>
        <p:spPr>
          <a:xfrm>
            <a:off x="833350" y="1473347"/>
            <a:ext cx="5084547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假設我們</a:t>
            </a:r>
            <a:r>
              <a:rPr kumimoji="1" lang="zh-TW" altLang="en-US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只更新 </a:t>
            </a:r>
            <a:r>
              <a:rPr kumimoji="1" lang="en-US" altLang="zh-TW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2%</a:t>
            </a:r>
            <a:r>
              <a:rPr kumimoji="1" lang="zh-TW" altLang="en-US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的參數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EF05EF2-B3CD-09AD-EC2D-6C210F8B46E3}"/>
              </a:ext>
            </a:extLst>
          </p:cNvPr>
          <p:cNvSpPr txBox="1"/>
          <p:nvPr/>
        </p:nvSpPr>
        <p:spPr>
          <a:xfrm>
            <a:off x="7773949" y="6262070"/>
            <a:ext cx="3071356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altLang="zh-TW" sz="1800" u="none" strike="noStrike" dirty="0">
                <a:effectLst/>
                <a:ea typeface="新細明體"/>
                <a:cs typeface="Times New Roman"/>
              </a:rPr>
              <a:t>*NVIDIA </a:t>
            </a:r>
            <a:r>
              <a:rPr lang="en-US" altLang="zh-TW" dirty="0">
                <a:ea typeface="新細明體"/>
                <a:cs typeface="Times New Roman"/>
              </a:rPr>
              <a:t>3090</a:t>
            </a:r>
            <a:r>
              <a:rPr lang="en-US" altLang="zh-TW" sz="1800" u="none" strike="noStrike" dirty="0">
                <a:effectLst/>
                <a:ea typeface="新細明體"/>
                <a:cs typeface="Times New Roman"/>
              </a:rPr>
              <a:t>: </a:t>
            </a:r>
            <a:r>
              <a:rPr lang="en-US" altLang="zh-TW" dirty="0">
                <a:ea typeface="新細明體"/>
                <a:cs typeface="Times New Roman"/>
              </a:rPr>
              <a:t>24 GB</a:t>
            </a:r>
          </a:p>
        </p:txBody>
      </p:sp>
    </p:spTree>
    <p:extLst>
      <p:ext uri="{BB962C8B-B14F-4D97-AF65-F5344CB8AC3E}">
        <p14:creationId xmlns:p14="http://schemas.microsoft.com/office/powerpoint/2010/main" val="1230944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D3CF0F-B68C-1F13-705A-754D17A9B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PEFT Outline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1441F44-4D80-1D93-4F34-14EE229C7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067558EE-9194-8C3B-E437-E7B0BBC8972B}"/>
              </a:ext>
            </a:extLst>
          </p:cNvPr>
          <p:cNvSpPr/>
          <p:nvPr/>
        </p:nvSpPr>
        <p:spPr>
          <a:xfrm>
            <a:off x="1655325" y="2523743"/>
            <a:ext cx="1631290" cy="1141171"/>
          </a:xfrm>
          <a:prstGeom prst="round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  <a:hlinkClick r:id="rId2"/>
              </a:rPr>
              <a:t>Adapters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E363C3F6-7B54-A722-0781-57D0DE16F978}"/>
              </a:ext>
            </a:extLst>
          </p:cNvPr>
          <p:cNvSpPr/>
          <p:nvPr/>
        </p:nvSpPr>
        <p:spPr>
          <a:xfrm>
            <a:off x="3921818" y="2523743"/>
            <a:ext cx="1631290" cy="1141171"/>
          </a:xfrm>
          <a:prstGeom prst="round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 err="1">
                <a:solidFill>
                  <a:schemeClr val="tx1"/>
                </a:solidFill>
                <a:hlinkClick r:id="rId3"/>
              </a:rPr>
              <a:t>LoRA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AB06D7BD-B55D-6A68-F5D3-80062C44F3CF}"/>
              </a:ext>
            </a:extLst>
          </p:cNvPr>
          <p:cNvSpPr/>
          <p:nvPr/>
        </p:nvSpPr>
        <p:spPr>
          <a:xfrm>
            <a:off x="6188311" y="2523743"/>
            <a:ext cx="1631290" cy="1141171"/>
          </a:xfrm>
          <a:prstGeom prst="round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  <a:hlinkClick r:id="rId4"/>
              </a:rPr>
              <a:t>Prefix-Tuning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1FE11BA8-4B74-9D5D-C610-EC93302F7BFA}"/>
              </a:ext>
            </a:extLst>
          </p:cNvPr>
          <p:cNvSpPr/>
          <p:nvPr/>
        </p:nvSpPr>
        <p:spPr>
          <a:xfrm>
            <a:off x="8454804" y="2523741"/>
            <a:ext cx="1631290" cy="1141171"/>
          </a:xfrm>
          <a:prstGeom prst="round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 err="1">
                <a:solidFill>
                  <a:schemeClr val="tx1"/>
                </a:solidFill>
                <a:hlinkClick r:id="rId5"/>
              </a:rPr>
              <a:t>BitFit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527CDE0-912D-73CB-85FA-FF11E4FFA9A2}"/>
              </a:ext>
            </a:extLst>
          </p:cNvPr>
          <p:cNvSpPr txBox="1"/>
          <p:nvPr/>
        </p:nvSpPr>
        <p:spPr>
          <a:xfrm>
            <a:off x="3938016" y="6317246"/>
            <a:ext cx="4315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dirty="0"/>
              <a:t>https://</a:t>
            </a:r>
            <a:r>
              <a:rPr kumimoji="1" lang="en" altLang="zh-TW" dirty="0" err="1"/>
              <a:t>huggingface.co</a:t>
            </a:r>
            <a:r>
              <a:rPr kumimoji="1" lang="en" altLang="zh-TW" dirty="0"/>
              <a:t>/docs/</a:t>
            </a:r>
            <a:r>
              <a:rPr kumimoji="1" lang="en" altLang="zh-TW" dirty="0" err="1"/>
              <a:t>peft</a:t>
            </a:r>
            <a:r>
              <a:rPr kumimoji="1" lang="en" altLang="zh-TW" dirty="0"/>
              <a:t>/index</a:t>
            </a:r>
            <a:endParaRPr kumimoji="1" lang="zh-TW" altLang="en-US" dirty="0"/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4EEFDE40-D056-4AB9-EC6C-B9B9C41A7B0D}"/>
              </a:ext>
            </a:extLst>
          </p:cNvPr>
          <p:cNvSpPr/>
          <p:nvPr/>
        </p:nvSpPr>
        <p:spPr>
          <a:xfrm>
            <a:off x="3921818" y="2523740"/>
            <a:ext cx="1631290" cy="114117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11" name="標題 1">
            <a:extLst>
              <a:ext uri="{FF2B5EF4-FFF2-40B4-BE49-F238E27FC236}">
                <a16:creationId xmlns:a16="http://schemas.microsoft.com/office/drawing/2014/main" id="{CD0A745A-0293-6AF6-7AFF-AF91921206BD}"/>
              </a:ext>
            </a:extLst>
          </p:cNvPr>
          <p:cNvSpPr txBox="1">
            <a:spLocks/>
          </p:cNvSpPr>
          <p:nvPr/>
        </p:nvSpPr>
        <p:spPr>
          <a:xfrm>
            <a:off x="1742506" y="3957661"/>
            <a:ext cx="5989914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3200">
                <a:ea typeface="+mj-lt"/>
                <a:cs typeface="Times New Roman"/>
              </a:rPr>
              <a:t>LoRA: </a:t>
            </a:r>
            <a:r>
              <a:rPr lang="en-US" altLang="zh-TW" sz="3200" b="1">
                <a:solidFill>
                  <a:srgbClr val="FF0000"/>
                </a:solidFill>
                <a:ea typeface="+mj-lt"/>
                <a:cs typeface="Times New Roman"/>
              </a:rPr>
              <a:t>Lo</a:t>
            </a:r>
            <a:r>
              <a:rPr lang="en-US" altLang="zh-TW" sz="3200">
                <a:ea typeface="+mj-lt"/>
                <a:cs typeface="Times New Roman"/>
              </a:rPr>
              <a:t>w-</a:t>
            </a:r>
            <a:r>
              <a:rPr lang="en-US" altLang="zh-TW" sz="3200" b="1">
                <a:solidFill>
                  <a:srgbClr val="FF0000"/>
                </a:solidFill>
                <a:ea typeface="+mj-lt"/>
                <a:cs typeface="Times New Roman"/>
              </a:rPr>
              <a:t>R</a:t>
            </a:r>
            <a:r>
              <a:rPr lang="en-US" altLang="zh-TW" sz="3200">
                <a:ea typeface="+mj-lt"/>
                <a:cs typeface="Times New Roman"/>
              </a:rPr>
              <a:t>ank </a:t>
            </a:r>
            <a:r>
              <a:rPr lang="en-US" altLang="zh-TW" sz="3200" b="1">
                <a:solidFill>
                  <a:srgbClr val="FF0000"/>
                </a:solidFill>
                <a:ea typeface="+mj-lt"/>
                <a:cs typeface="Times New Roman"/>
              </a:rPr>
              <a:t>A</a:t>
            </a:r>
            <a:r>
              <a:rPr lang="en-US" altLang="zh-TW" sz="3200">
                <a:ea typeface="+mj-lt"/>
                <a:cs typeface="Times New Roman"/>
              </a:rPr>
              <a:t>daptation</a:t>
            </a:r>
            <a:endParaRPr lang="en-US" altLang="zh-TW" sz="3200" dirty="0">
              <a:ea typeface="+mj-lt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87946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1126A4-DF9B-D813-F8EE-8ED5F4F0D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LoRA</a:t>
            </a:r>
            <a:r>
              <a:rPr kumimoji="1" lang="en-US" altLang="zh-TW" dirty="0"/>
              <a:t> is common …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7DC77B5-D428-8A65-B3A8-272061FF6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734350A-01AC-FEF4-43CC-575C09218E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43" y="1756006"/>
            <a:ext cx="5254598" cy="241914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E835C900-74A1-B86B-113C-39CE26AA92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6128" y="4588924"/>
            <a:ext cx="7772400" cy="182663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9CCE5428-986B-0B0E-1F76-780B392125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2328" y="1697265"/>
            <a:ext cx="5512027" cy="258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8131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17D018-AB7D-E46A-7559-AB3424017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" altLang="zh-TW" dirty="0"/>
              <a:t>[Prerequisite] </a:t>
            </a:r>
            <a:r>
              <a:rPr kumimoji="1" lang="en-US" altLang="zh-TW" dirty="0"/>
              <a:t>Weights in Transformer layers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B41CF8F-2B27-E2DE-7CC7-E532BFB09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33</a:t>
            </a:fld>
            <a:endParaRPr lang="en-US" dirty="0"/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68676EF8-8270-410B-351D-C00442D4B009}"/>
              </a:ext>
            </a:extLst>
          </p:cNvPr>
          <p:cNvGrpSpPr/>
          <p:nvPr/>
        </p:nvGrpSpPr>
        <p:grpSpPr>
          <a:xfrm>
            <a:off x="653143" y="2368500"/>
            <a:ext cx="2601017" cy="2861857"/>
            <a:chOff x="718698" y="2461344"/>
            <a:chExt cx="1904110" cy="2313773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4AD0A4A3-5A32-88EA-5312-D2B048974501}"/>
                </a:ext>
              </a:extLst>
            </p:cNvPr>
            <p:cNvSpPr/>
            <p:nvPr/>
          </p:nvSpPr>
          <p:spPr>
            <a:xfrm>
              <a:off x="1107539" y="2461344"/>
              <a:ext cx="1515269" cy="2011866"/>
            </a:xfrm>
            <a:prstGeom prst="rect">
              <a:avLst/>
            </a:prstGeom>
            <a:solidFill>
              <a:srgbClr val="CFE3F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2400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26C86244-B731-4455-52B8-C94442F6009A}"/>
                </a:ext>
              </a:extLst>
            </p:cNvPr>
            <p:cNvSpPr/>
            <p:nvPr/>
          </p:nvSpPr>
          <p:spPr>
            <a:xfrm>
              <a:off x="1333077" y="3388664"/>
              <a:ext cx="1109534" cy="236710"/>
            </a:xfrm>
            <a:prstGeom prst="rect">
              <a:avLst/>
            </a:prstGeom>
            <a:solidFill>
              <a:srgbClr val="B6A7D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</a:rPr>
                <a:t>Layer Norm</a:t>
              </a:r>
              <a:endParaRPr kumimoji="1"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D5EA58A7-8566-095C-0C22-E0378073CCCC}"/>
                </a:ext>
              </a:extLst>
            </p:cNvPr>
            <p:cNvSpPr/>
            <p:nvPr/>
          </p:nvSpPr>
          <p:spPr>
            <a:xfrm>
              <a:off x="1182086" y="4537517"/>
              <a:ext cx="1411515" cy="237600"/>
            </a:xfrm>
            <a:prstGeom prst="rect">
              <a:avLst/>
            </a:prstGeom>
            <a:solidFill>
              <a:srgbClr val="FACB9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</a:rPr>
                <a:t>Text &amp; Position Embed</a:t>
              </a:r>
              <a:endParaRPr kumimoji="1" lang="zh-TW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71F428D9-0463-3F3F-DBFA-A943D061BA87}"/>
                </a:ext>
              </a:extLst>
            </p:cNvPr>
            <p:cNvSpPr/>
            <p:nvPr/>
          </p:nvSpPr>
          <p:spPr>
            <a:xfrm>
              <a:off x="1333077" y="3764088"/>
              <a:ext cx="1109534" cy="391878"/>
            </a:xfrm>
            <a:prstGeom prst="rect">
              <a:avLst/>
            </a:prstGeom>
            <a:solidFill>
              <a:srgbClr val="D6A6B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</a:rPr>
                <a:t>Multi-Head</a:t>
              </a:r>
            </a:p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</a:rPr>
                <a:t>Self Attention</a:t>
              </a:r>
              <a:endParaRPr kumimoji="1" lang="zh-TW" alt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直線箭頭接點 8">
              <a:extLst>
                <a:ext uri="{FF2B5EF4-FFF2-40B4-BE49-F238E27FC236}">
                  <a16:creationId xmlns:a16="http://schemas.microsoft.com/office/drawing/2014/main" id="{6684F295-0EB9-7456-EF1E-0AEF30225D56}"/>
                </a:ext>
              </a:extLst>
            </p:cNvPr>
            <p:cNvCxnSpPr>
              <a:cxnSpLocks/>
              <a:stCxn id="7" idx="0"/>
              <a:endCxn id="8" idx="2"/>
            </p:cNvCxnSpPr>
            <p:nvPr/>
          </p:nvCxnSpPr>
          <p:spPr>
            <a:xfrm flipV="1">
              <a:off x="1887844" y="4155967"/>
              <a:ext cx="1" cy="381551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肘形接點 9">
              <a:extLst>
                <a:ext uri="{FF2B5EF4-FFF2-40B4-BE49-F238E27FC236}">
                  <a16:creationId xmlns:a16="http://schemas.microsoft.com/office/drawing/2014/main" id="{AE3192FA-85F2-4AAB-2FDA-B84805D49592}"/>
                </a:ext>
              </a:extLst>
            </p:cNvPr>
            <p:cNvCxnSpPr>
              <a:cxnSpLocks/>
              <a:stCxn id="12" idx="1"/>
              <a:endCxn id="6" idx="1"/>
            </p:cNvCxnSpPr>
            <p:nvPr/>
          </p:nvCxnSpPr>
          <p:spPr>
            <a:xfrm rot="10800000">
              <a:off x="1333077" y="3507020"/>
              <a:ext cx="556584" cy="902307"/>
            </a:xfrm>
            <a:prstGeom prst="bentConnector3">
              <a:avLst>
                <a:gd name="adj1" fmla="val 130067"/>
              </a:avLst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9017BEE5-5162-1531-1FE1-76DAFED5CDDA}"/>
                </a:ext>
              </a:extLst>
            </p:cNvPr>
            <p:cNvSpPr/>
            <p:nvPr/>
          </p:nvSpPr>
          <p:spPr>
            <a:xfrm>
              <a:off x="1333077" y="2980643"/>
              <a:ext cx="1109534" cy="244574"/>
            </a:xfrm>
            <a:prstGeom prst="rect">
              <a:avLst/>
            </a:prstGeom>
            <a:solidFill>
              <a:srgbClr val="FEE6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</a:rPr>
                <a:t>Feed Forward</a:t>
              </a:r>
              <a:endParaRPr kumimoji="1"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8BB25751-1213-B5AB-70FD-13FEE0E539B8}"/>
                </a:ext>
              </a:extLst>
            </p:cNvPr>
            <p:cNvSpPr txBox="1"/>
            <p:nvPr/>
          </p:nvSpPr>
          <p:spPr>
            <a:xfrm>
              <a:off x="1889661" y="4222701"/>
              <a:ext cx="296266" cy="3732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TW" altLang="en-US" sz="2400" dirty="0"/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20A3D2F8-C4A0-9DA5-F0B7-9DFD5F676C33}"/>
                </a:ext>
              </a:extLst>
            </p:cNvPr>
            <p:cNvSpPr txBox="1"/>
            <p:nvPr/>
          </p:nvSpPr>
          <p:spPr>
            <a:xfrm>
              <a:off x="2114371" y="3785887"/>
              <a:ext cx="321891" cy="3732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TW" altLang="en-US" sz="2400" dirty="0"/>
            </a:p>
          </p:txBody>
        </p:sp>
        <p:cxnSp>
          <p:nvCxnSpPr>
            <p:cNvPr id="14" name="肘形接點 13">
              <a:extLst>
                <a:ext uri="{FF2B5EF4-FFF2-40B4-BE49-F238E27FC236}">
                  <a16:creationId xmlns:a16="http://schemas.microsoft.com/office/drawing/2014/main" id="{20048D4F-C973-85B2-5B26-F8803338ED4D}"/>
                </a:ext>
              </a:extLst>
            </p:cNvPr>
            <p:cNvCxnSpPr>
              <a:cxnSpLocks/>
              <a:stCxn id="15" idx="2"/>
              <a:endCxn id="13" idx="2"/>
            </p:cNvCxnSpPr>
            <p:nvPr/>
          </p:nvCxnSpPr>
          <p:spPr>
            <a:xfrm rot="16200000" flipH="1">
              <a:off x="1881009" y="3765315"/>
              <a:ext cx="10268" cy="787643"/>
            </a:xfrm>
            <a:prstGeom prst="bentConnector3">
              <a:avLst>
                <a:gd name="adj1" fmla="val 1800000"/>
              </a:avLst>
            </a:prstGeom>
            <a:ln w="952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D65BAF05-218A-E7C0-0927-87E98635A453}"/>
                </a:ext>
              </a:extLst>
            </p:cNvPr>
            <p:cNvSpPr txBox="1"/>
            <p:nvPr/>
          </p:nvSpPr>
          <p:spPr>
            <a:xfrm>
              <a:off x="1326728" y="3785887"/>
              <a:ext cx="321891" cy="3732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TW" altLang="en-US" sz="2400" dirty="0"/>
            </a:p>
          </p:txBody>
        </p:sp>
        <p:cxnSp>
          <p:nvCxnSpPr>
            <p:cNvPr id="16" name="肘形接點 15">
              <a:extLst>
                <a:ext uri="{FF2B5EF4-FFF2-40B4-BE49-F238E27FC236}">
                  <a16:creationId xmlns:a16="http://schemas.microsoft.com/office/drawing/2014/main" id="{5EB0B7E0-685C-DC9E-3C00-7234C0A563F7}"/>
                </a:ext>
              </a:extLst>
            </p:cNvPr>
            <p:cNvCxnSpPr>
              <a:cxnSpLocks/>
              <a:stCxn id="18" idx="1"/>
              <a:endCxn id="17" idx="1"/>
            </p:cNvCxnSpPr>
            <p:nvPr/>
          </p:nvCxnSpPr>
          <p:spPr>
            <a:xfrm rot="10800000">
              <a:off x="1333077" y="2720994"/>
              <a:ext cx="554633" cy="611986"/>
            </a:xfrm>
            <a:prstGeom prst="bentConnector3">
              <a:avLst>
                <a:gd name="adj1" fmla="val 130173"/>
              </a:avLst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6BE616CE-866A-F2ED-FC3F-86AF9A24E4EB}"/>
                </a:ext>
              </a:extLst>
            </p:cNvPr>
            <p:cNvSpPr/>
            <p:nvPr/>
          </p:nvSpPr>
          <p:spPr>
            <a:xfrm>
              <a:off x="1333077" y="2602638"/>
              <a:ext cx="1109534" cy="236710"/>
            </a:xfrm>
            <a:prstGeom prst="rect">
              <a:avLst/>
            </a:prstGeom>
            <a:solidFill>
              <a:srgbClr val="B6A7D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</a:rPr>
                <a:t>Layer Norm</a:t>
              </a:r>
              <a:endParaRPr kumimoji="1"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CF5CC247-78A3-5AA2-A1DA-862A56AFD693}"/>
                </a:ext>
              </a:extLst>
            </p:cNvPr>
            <p:cNvSpPr txBox="1"/>
            <p:nvPr/>
          </p:nvSpPr>
          <p:spPr>
            <a:xfrm>
              <a:off x="1887711" y="3146354"/>
              <a:ext cx="296266" cy="3732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zh-TW" altLang="en-US" sz="2400" dirty="0"/>
            </a:p>
          </p:txBody>
        </p:sp>
        <p:cxnSp>
          <p:nvCxnSpPr>
            <p:cNvPr id="19" name="直線箭頭接點 18">
              <a:extLst>
                <a:ext uri="{FF2B5EF4-FFF2-40B4-BE49-F238E27FC236}">
                  <a16:creationId xmlns:a16="http://schemas.microsoft.com/office/drawing/2014/main" id="{1CBD8CE8-F866-72B5-E606-7E0AC44145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87844" y="2839348"/>
              <a:ext cx="0" cy="14129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箭頭接點 19">
              <a:extLst>
                <a:ext uri="{FF2B5EF4-FFF2-40B4-BE49-F238E27FC236}">
                  <a16:creationId xmlns:a16="http://schemas.microsoft.com/office/drawing/2014/main" id="{ECD9086F-029F-1FE3-7F6F-C82E3E862D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87844" y="3625374"/>
              <a:ext cx="0" cy="14129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箭頭接點 20">
              <a:extLst>
                <a:ext uri="{FF2B5EF4-FFF2-40B4-BE49-F238E27FC236}">
                  <a16:creationId xmlns:a16="http://schemas.microsoft.com/office/drawing/2014/main" id="{43EF36A2-A698-5B6C-097D-069E64106FCF}"/>
                </a:ext>
              </a:extLst>
            </p:cNvPr>
            <p:cNvCxnSpPr>
              <a:cxnSpLocks/>
              <a:stCxn id="6" idx="0"/>
            </p:cNvCxnSpPr>
            <p:nvPr/>
          </p:nvCxnSpPr>
          <p:spPr>
            <a:xfrm flipH="1" flipV="1">
              <a:off x="1887711" y="3225217"/>
              <a:ext cx="133" cy="16344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9611154D-41A4-C36C-5C8E-DC75C8A941FA}"/>
                </a:ext>
              </a:extLst>
            </p:cNvPr>
            <p:cNvSpPr txBox="1"/>
            <p:nvPr/>
          </p:nvSpPr>
          <p:spPr>
            <a:xfrm>
              <a:off x="718698" y="3299081"/>
              <a:ext cx="460834" cy="2737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1600" b="1" dirty="0" err="1"/>
                <a:t>xN</a:t>
              </a:r>
              <a:endParaRPr kumimoji="1" lang="zh-TW" altLang="en-US" sz="1600" b="1" dirty="0"/>
            </a:p>
          </p:txBody>
        </p:sp>
      </p:grp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81413C89-F7B6-B8D4-22AB-2797B30038EB}"/>
              </a:ext>
            </a:extLst>
          </p:cNvPr>
          <p:cNvSpPr txBox="1"/>
          <p:nvPr/>
        </p:nvSpPr>
        <p:spPr>
          <a:xfrm>
            <a:off x="1041795" y="1704280"/>
            <a:ext cx="2354869" cy="50629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000" dirty="0">
                <a:ea typeface="Microsoft JhengHei" panose="020B0604030504040204" pitchFamily="34" charset="-120"/>
              </a:rPr>
              <a:t>Transformer layers</a:t>
            </a:r>
            <a:endParaRPr kumimoji="1" lang="zh-TW" altLang="en-US" sz="2000" dirty="0">
              <a:ea typeface="Microsoft JhengHei" panose="020B0604030504040204" pitchFamily="34" charset="-120"/>
            </a:endParaRPr>
          </a:p>
        </p:txBody>
      </p:sp>
      <p:sp>
        <p:nvSpPr>
          <p:cNvPr id="25" name="左大括弧 24">
            <a:extLst>
              <a:ext uri="{FF2B5EF4-FFF2-40B4-BE49-F238E27FC236}">
                <a16:creationId xmlns:a16="http://schemas.microsoft.com/office/drawing/2014/main" id="{FCEE698A-E610-0AA8-4AD1-6790D707E935}"/>
              </a:ext>
            </a:extLst>
          </p:cNvPr>
          <p:cNvSpPr/>
          <p:nvPr/>
        </p:nvSpPr>
        <p:spPr>
          <a:xfrm>
            <a:off x="3168467" y="3800762"/>
            <a:ext cx="352269" cy="87373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66" name="圖片 65">
            <a:extLst>
              <a:ext uri="{FF2B5EF4-FFF2-40B4-BE49-F238E27FC236}">
                <a16:creationId xmlns:a16="http://schemas.microsoft.com/office/drawing/2014/main" id="{6325B208-0C25-E911-0115-545BBBA75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1192" y="3171855"/>
            <a:ext cx="7772400" cy="1947629"/>
          </a:xfrm>
          <a:prstGeom prst="rect">
            <a:avLst/>
          </a:prstGeom>
        </p:spPr>
      </p:pic>
      <p:pic>
        <p:nvPicPr>
          <p:cNvPr id="67" name="圖片 66">
            <a:extLst>
              <a:ext uri="{FF2B5EF4-FFF2-40B4-BE49-F238E27FC236}">
                <a16:creationId xmlns:a16="http://schemas.microsoft.com/office/drawing/2014/main" id="{3E1A68FE-0120-4BE9-3E72-E5EEE1C726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328" y="6230322"/>
            <a:ext cx="2972804" cy="543179"/>
          </a:xfrm>
          <a:prstGeom prst="rect">
            <a:avLst/>
          </a:prstGeom>
        </p:spPr>
      </p:pic>
      <p:cxnSp>
        <p:nvCxnSpPr>
          <p:cNvPr id="70" name="肘形接點 69">
            <a:extLst>
              <a:ext uri="{FF2B5EF4-FFF2-40B4-BE49-F238E27FC236}">
                <a16:creationId xmlns:a16="http://schemas.microsoft.com/office/drawing/2014/main" id="{A99CF00D-D60F-753E-0F7F-1802C815FFEC}"/>
              </a:ext>
            </a:extLst>
          </p:cNvPr>
          <p:cNvCxnSpPr>
            <a:endCxn id="11" idx="3"/>
          </p:cNvCxnSpPr>
          <p:nvPr/>
        </p:nvCxnSpPr>
        <p:spPr>
          <a:xfrm rot="10800000" flipV="1">
            <a:off x="3008011" y="2543264"/>
            <a:ext cx="741890" cy="6188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614D0DB7-F704-218F-4DDD-69A8BB803145}"/>
              </a:ext>
            </a:extLst>
          </p:cNvPr>
          <p:cNvSpPr txBox="1"/>
          <p:nvPr/>
        </p:nvSpPr>
        <p:spPr>
          <a:xfrm>
            <a:off x="3785317" y="2320323"/>
            <a:ext cx="1933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Also weights here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9721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7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2ED3AA9B-BB1F-4441-8211-D406B0E1DD27}"/>
                  </a:ext>
                </a:extLst>
              </p:cNvPr>
              <p:cNvSpPr txBox="1"/>
              <p:nvPr/>
            </p:nvSpPr>
            <p:spPr>
              <a:xfrm>
                <a:off x="9456666" y="4528547"/>
                <a:ext cx="113919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2ED3AA9B-BB1F-4441-8211-D406B0E1DD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6666" y="4528547"/>
                <a:ext cx="113919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CCE61A4C-957E-93D3-40B3-84221AB73E57}"/>
                  </a:ext>
                </a:extLst>
              </p:cNvPr>
              <p:cNvSpPr txBox="1"/>
              <p:nvPr/>
            </p:nvSpPr>
            <p:spPr>
              <a:xfrm>
                <a:off x="7946504" y="4531854"/>
                <a:ext cx="113919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CCE61A4C-957E-93D3-40B3-84221AB73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6504" y="4531854"/>
                <a:ext cx="113919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標題 1">
            <a:extLst>
              <a:ext uri="{FF2B5EF4-FFF2-40B4-BE49-F238E27FC236}">
                <a16:creationId xmlns:a16="http://schemas.microsoft.com/office/drawing/2014/main" id="{C179F405-B26A-579C-2E70-C8EC6EA97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/>
              <a:t>[Recap] MLP is composed of weight matrices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1FB90FB-D736-E789-599A-B495C9901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50B4487D-AEFA-4B57-F83B-5DBB0BA3B0B9}"/>
              </a:ext>
            </a:extLst>
          </p:cNvPr>
          <p:cNvSpPr/>
          <p:nvPr/>
        </p:nvSpPr>
        <p:spPr>
          <a:xfrm>
            <a:off x="1787639" y="2277807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4F16DACC-1DC3-AA45-F659-3992C571C54D}"/>
              </a:ext>
            </a:extLst>
          </p:cNvPr>
          <p:cNvSpPr/>
          <p:nvPr/>
        </p:nvSpPr>
        <p:spPr>
          <a:xfrm>
            <a:off x="1776209" y="3463290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54DEF2BE-6934-4DB5-378B-9A72EF585656}"/>
              </a:ext>
            </a:extLst>
          </p:cNvPr>
          <p:cNvSpPr/>
          <p:nvPr/>
        </p:nvSpPr>
        <p:spPr>
          <a:xfrm>
            <a:off x="1776209" y="4648773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BEB2FA51-2F06-30B7-6878-0924D1B83EF2}"/>
              </a:ext>
            </a:extLst>
          </p:cNvPr>
          <p:cNvCxnSpPr>
            <a:cxnSpLocks/>
            <a:stCxn id="6" idx="6"/>
            <a:endCxn id="21" idx="2"/>
          </p:cNvCxnSpPr>
          <p:nvPr/>
        </p:nvCxnSpPr>
        <p:spPr>
          <a:xfrm>
            <a:off x="2359139" y="2563557"/>
            <a:ext cx="1165860" cy="179946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D47ADCFB-8A1A-714C-D77F-A226207C6807}"/>
              </a:ext>
            </a:extLst>
          </p:cNvPr>
          <p:cNvCxnSpPr>
            <a:cxnSpLocks/>
            <a:stCxn id="7" idx="6"/>
            <a:endCxn id="20" idx="2"/>
          </p:cNvCxnSpPr>
          <p:nvPr/>
        </p:nvCxnSpPr>
        <p:spPr>
          <a:xfrm flipV="1">
            <a:off x="2347709" y="3177540"/>
            <a:ext cx="1188720" cy="5715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701E5A6C-7014-1CD7-110C-702E099CE6A1}"/>
              </a:ext>
            </a:extLst>
          </p:cNvPr>
          <p:cNvCxnSpPr>
            <a:cxnSpLocks/>
            <a:stCxn id="8" idx="6"/>
            <a:endCxn id="20" idx="2"/>
          </p:cNvCxnSpPr>
          <p:nvPr/>
        </p:nvCxnSpPr>
        <p:spPr>
          <a:xfrm flipV="1">
            <a:off x="2347709" y="3177540"/>
            <a:ext cx="1188720" cy="17569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D11A46B7-A03C-A02D-F3AA-283F32652B80}"/>
              </a:ext>
            </a:extLst>
          </p:cNvPr>
          <p:cNvSpPr txBox="1"/>
          <p:nvPr/>
        </p:nvSpPr>
        <p:spPr>
          <a:xfrm>
            <a:off x="1501889" y="5465370"/>
            <a:ext cx="1120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輸入層</a:t>
            </a:r>
            <a:endParaRPr kumimoji="1"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F455FDC8-30FD-B495-E4A1-ED18AEAE5DA2}"/>
              </a:ext>
            </a:extLst>
          </p:cNvPr>
          <p:cNvSpPr txBox="1"/>
          <p:nvPr/>
        </p:nvSpPr>
        <p:spPr>
          <a:xfrm>
            <a:off x="3265919" y="5465369"/>
            <a:ext cx="1120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輸出層</a:t>
            </a:r>
            <a:endParaRPr kumimoji="1"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6AB4EB91-C44E-5BFC-3CAE-C60D924AD530}"/>
              </a:ext>
            </a:extLst>
          </p:cNvPr>
          <p:cNvSpPr/>
          <p:nvPr/>
        </p:nvSpPr>
        <p:spPr>
          <a:xfrm>
            <a:off x="3536429" y="2891790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06F0B262-771F-A45A-DFED-984C486D14E4}"/>
              </a:ext>
            </a:extLst>
          </p:cNvPr>
          <p:cNvSpPr/>
          <p:nvPr/>
        </p:nvSpPr>
        <p:spPr>
          <a:xfrm>
            <a:off x="3524999" y="4077273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5E7C48FD-7888-86F5-D967-433AA2C8B4A4}"/>
              </a:ext>
            </a:extLst>
          </p:cNvPr>
          <p:cNvCxnSpPr>
            <a:cxnSpLocks/>
            <a:stCxn id="6" idx="6"/>
            <a:endCxn id="20" idx="2"/>
          </p:cNvCxnSpPr>
          <p:nvPr/>
        </p:nvCxnSpPr>
        <p:spPr>
          <a:xfrm>
            <a:off x="2359139" y="2563557"/>
            <a:ext cx="1177290" cy="6139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3B932BF4-AE08-3CDA-231C-8EC30D4BBBE7}"/>
              </a:ext>
            </a:extLst>
          </p:cNvPr>
          <p:cNvCxnSpPr>
            <a:cxnSpLocks/>
            <a:stCxn id="8" idx="6"/>
            <a:endCxn id="21" idx="2"/>
          </p:cNvCxnSpPr>
          <p:nvPr/>
        </p:nvCxnSpPr>
        <p:spPr>
          <a:xfrm flipV="1">
            <a:off x="2347709" y="4363023"/>
            <a:ext cx="1177290" cy="5715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C317FDFD-0548-7E87-68D9-213FD554A52F}"/>
              </a:ext>
            </a:extLst>
          </p:cNvPr>
          <p:cNvCxnSpPr>
            <a:cxnSpLocks/>
            <a:stCxn id="7" idx="6"/>
            <a:endCxn id="21" idx="2"/>
          </p:cNvCxnSpPr>
          <p:nvPr/>
        </p:nvCxnSpPr>
        <p:spPr>
          <a:xfrm>
            <a:off x="2347709" y="3749040"/>
            <a:ext cx="1177290" cy="6139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769923AA-39E5-EF99-44CA-8223882ECF78}"/>
                  </a:ext>
                </a:extLst>
              </p:cNvPr>
              <p:cNvSpPr txBox="1"/>
              <p:nvPr/>
            </p:nvSpPr>
            <p:spPr>
              <a:xfrm>
                <a:off x="1329389" y="2347047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769923AA-39E5-EF99-44CA-8223882ECF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9389" y="2347047"/>
                <a:ext cx="322139" cy="400110"/>
              </a:xfrm>
              <a:prstGeom prst="rect">
                <a:avLst/>
              </a:prstGeom>
              <a:blipFill>
                <a:blip r:embed="rId5"/>
                <a:stretch>
                  <a:fillRect r="-148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571E9768-63FD-7CE7-112D-49B81DC6CD70}"/>
                  </a:ext>
                </a:extLst>
              </p:cNvPr>
              <p:cNvSpPr txBox="1"/>
              <p:nvPr/>
            </p:nvSpPr>
            <p:spPr>
              <a:xfrm>
                <a:off x="1329388" y="3548985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571E9768-63FD-7CE7-112D-49B81DC6CD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9388" y="3548985"/>
                <a:ext cx="322139" cy="400110"/>
              </a:xfrm>
              <a:prstGeom prst="rect">
                <a:avLst/>
              </a:prstGeom>
              <a:blipFill>
                <a:blip r:embed="rId6"/>
                <a:stretch>
                  <a:fillRect r="-1851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FDF142FA-4E8F-F1D4-6C93-52654A58821D}"/>
                  </a:ext>
                </a:extLst>
              </p:cNvPr>
              <p:cNvSpPr txBox="1"/>
              <p:nvPr/>
            </p:nvSpPr>
            <p:spPr>
              <a:xfrm>
                <a:off x="1329388" y="4742657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FDF142FA-4E8F-F1D4-6C93-52654A5882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9388" y="4742657"/>
                <a:ext cx="322139" cy="400110"/>
              </a:xfrm>
              <a:prstGeom prst="rect">
                <a:avLst/>
              </a:prstGeom>
              <a:blipFill>
                <a:blip r:embed="rId7"/>
                <a:stretch>
                  <a:fillRect r="-1851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B00E49E0-D5FF-A5E2-0029-E2D301C01524}"/>
                  </a:ext>
                </a:extLst>
              </p:cNvPr>
              <p:cNvSpPr txBox="1"/>
              <p:nvPr/>
            </p:nvSpPr>
            <p:spPr>
              <a:xfrm>
                <a:off x="2126726" y="2812675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B00E49E0-D5FF-A5E2-0029-E2D301C015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6726" y="2812675"/>
                <a:ext cx="526489" cy="413511"/>
              </a:xfrm>
              <a:prstGeom prst="rect">
                <a:avLst/>
              </a:prstGeom>
              <a:blipFill>
                <a:blip r:embed="rId8"/>
                <a:stretch>
                  <a:fillRect r="-119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6956E660-73AA-FE3F-517D-7315F79DD99C}"/>
                  </a:ext>
                </a:extLst>
              </p:cNvPr>
              <p:cNvSpPr txBox="1"/>
              <p:nvPr/>
            </p:nvSpPr>
            <p:spPr>
              <a:xfrm>
                <a:off x="2760275" y="2551306"/>
                <a:ext cx="77933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6956E660-73AA-FE3F-517D-7315F79DD9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275" y="2551306"/>
                <a:ext cx="779339" cy="41351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F9D0C9D0-62C3-7FEF-30BB-48834CB588C6}"/>
                  </a:ext>
                </a:extLst>
              </p:cNvPr>
              <p:cNvSpPr txBox="1"/>
              <p:nvPr/>
            </p:nvSpPr>
            <p:spPr>
              <a:xfrm>
                <a:off x="2173989" y="3214172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F9D0C9D0-62C3-7FEF-30BB-48834CB588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3989" y="3214172"/>
                <a:ext cx="526489" cy="413511"/>
              </a:xfrm>
              <a:prstGeom prst="rect">
                <a:avLst/>
              </a:prstGeom>
              <a:blipFill>
                <a:blip r:embed="rId10"/>
                <a:stretch>
                  <a:fillRect r="-119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A33F6E67-1AB5-4246-5874-2A7586685D8E}"/>
                  </a:ext>
                </a:extLst>
              </p:cNvPr>
              <p:cNvSpPr txBox="1"/>
              <p:nvPr/>
            </p:nvSpPr>
            <p:spPr>
              <a:xfrm>
                <a:off x="2155139" y="3807707"/>
                <a:ext cx="711521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2,2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A33F6E67-1AB5-4246-5874-2A7586685D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5139" y="3807707"/>
                <a:ext cx="711521" cy="41351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3D0DC9B5-175E-4DF7-76D8-23DA80C25A5A}"/>
                  </a:ext>
                </a:extLst>
              </p:cNvPr>
              <p:cNvSpPr txBox="1"/>
              <p:nvPr/>
            </p:nvSpPr>
            <p:spPr>
              <a:xfrm>
                <a:off x="1998327" y="4252319"/>
                <a:ext cx="711521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3D0DC9B5-175E-4DF7-76D8-23DA80C25A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8327" y="4252319"/>
                <a:ext cx="711521" cy="41351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9E104F89-8236-F97E-84FE-F5476D4E2D1B}"/>
                  </a:ext>
                </a:extLst>
              </p:cNvPr>
              <p:cNvSpPr txBox="1"/>
              <p:nvPr/>
            </p:nvSpPr>
            <p:spPr>
              <a:xfrm>
                <a:off x="2790003" y="4549388"/>
                <a:ext cx="711521" cy="427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9E104F89-8236-F97E-84FE-F5476D4E2D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0003" y="4549388"/>
                <a:ext cx="711521" cy="42761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E4E5BFB1-B3AD-D4CF-DABF-C400B0C43BF9}"/>
                  </a:ext>
                </a:extLst>
              </p:cNvPr>
              <p:cNvSpPr txBox="1"/>
              <p:nvPr/>
            </p:nvSpPr>
            <p:spPr>
              <a:xfrm>
                <a:off x="4861693" y="3481559"/>
                <a:ext cx="246861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TW" altLang="en-US" sz="2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TW" altLang="en-US" sz="2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TW" altLang="en-US" sz="2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E4E5BFB1-B3AD-D4CF-DABF-C400B0C43B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1693" y="3481559"/>
                <a:ext cx="2468613" cy="46166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97C0F1F5-48BE-41E5-82B6-B30528B047E2}"/>
                  </a:ext>
                </a:extLst>
              </p:cNvPr>
              <p:cNvSpPr txBox="1"/>
              <p:nvPr/>
            </p:nvSpPr>
            <p:spPr>
              <a:xfrm>
                <a:off x="5719977" y="4549388"/>
                <a:ext cx="113919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1×3</m:t>
                          </m:r>
                        </m:sup>
                      </m:sSup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97C0F1F5-48BE-41E5-82B6-B30528B047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9977" y="4549388"/>
                <a:ext cx="1139190" cy="46166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B56D1A8B-444D-4B9F-E55B-9B1D4B9070F0}"/>
                  </a:ext>
                </a:extLst>
              </p:cNvPr>
              <p:cNvSpPr txBox="1"/>
              <p:nvPr/>
            </p:nvSpPr>
            <p:spPr>
              <a:xfrm>
                <a:off x="7157168" y="3164484"/>
                <a:ext cx="2135516" cy="10958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TW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zh-TW" altLang="en-US" sz="2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zh-TW" altLang="en-US" sz="2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zh-TW" altLang="en-US" sz="2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2,1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zh-TW" altLang="en-US" sz="2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2,2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zh-TW" altLang="en-US" sz="2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3,1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zh-TW" altLang="en-US" sz="2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3,2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B56D1A8B-444D-4B9F-E55B-9B1D4B9070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7168" y="3164484"/>
                <a:ext cx="2135516" cy="109581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F457B173-0044-6096-30E2-E1DBD75D8C78}"/>
                  </a:ext>
                </a:extLst>
              </p:cNvPr>
              <p:cNvSpPr txBox="1"/>
              <p:nvPr/>
            </p:nvSpPr>
            <p:spPr>
              <a:xfrm>
                <a:off x="9456666" y="3518207"/>
                <a:ext cx="105537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zh-TW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bias</m:t>
                      </m:r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F457B173-0044-6096-30E2-E1DBD75D8C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6666" y="3518207"/>
                <a:ext cx="1055373" cy="461665"/>
              </a:xfrm>
              <a:prstGeom prst="rect">
                <a:avLst/>
              </a:prstGeom>
              <a:blipFill>
                <a:blip r:embed="rId17"/>
                <a:stretch>
                  <a:fillRect b="-210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矩形 57">
            <a:extLst>
              <a:ext uri="{FF2B5EF4-FFF2-40B4-BE49-F238E27FC236}">
                <a16:creationId xmlns:a16="http://schemas.microsoft.com/office/drawing/2014/main" id="{3EE690F1-78CA-5C5B-7EDA-E3A673E8A6EC}"/>
              </a:ext>
            </a:extLst>
          </p:cNvPr>
          <p:cNvSpPr/>
          <p:nvPr/>
        </p:nvSpPr>
        <p:spPr>
          <a:xfrm>
            <a:off x="7553094" y="3038052"/>
            <a:ext cx="1724723" cy="134867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48374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52" grpId="0"/>
      <p:bldP spid="49" grpId="0"/>
      <p:bldP spid="51" grpId="0"/>
      <p:bldP spid="54" grpId="0"/>
      <p:bldP spid="56" grpId="0"/>
      <p:bldP spid="5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224350-003D-A914-4C77-06188EB97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[Prerequisite]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矩陣分解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677EC4E-0DB4-D8C8-62EE-F670F9540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642AD32-12B1-B3F0-221E-E6A189DB6954}"/>
              </a:ext>
            </a:extLst>
          </p:cNvPr>
          <p:cNvSpPr/>
          <p:nvPr/>
        </p:nvSpPr>
        <p:spPr>
          <a:xfrm>
            <a:off x="2397934" y="2095822"/>
            <a:ext cx="2394291" cy="2390974"/>
          </a:xfrm>
          <a:prstGeom prst="rect">
            <a:avLst/>
          </a:prstGeom>
          <a:solidFill>
            <a:srgbClr val="5A9B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/>
              </a:rPr>
              <a:t>大矩陣</a:t>
            </a:r>
          </a:p>
          <a:p>
            <a:pPr algn="ctr"/>
            <a:r>
              <a:rPr lang="zh-TW" altLang="en-US" sz="2400" b="1" dirty="0">
                <a:latin typeface="Times New Roman"/>
                <a:ea typeface="新細明體"/>
                <a:cs typeface="Calibri"/>
              </a:rPr>
              <a:t>W</a:t>
            </a:r>
            <a:r>
              <a:rPr lang="en-US" altLang="zh-TW" sz="2400" b="1" baseline="-25000" dirty="0">
                <a:latin typeface="Times New Roman"/>
                <a:ea typeface="新細明體"/>
                <a:cs typeface="Calibri"/>
              </a:rPr>
              <a:t>big</a:t>
            </a:r>
            <a:r>
              <a:rPr lang="zh-TW" altLang="en-US" sz="2400" b="1" dirty="0">
                <a:latin typeface="Times New Roman"/>
                <a:ea typeface="新細明體"/>
                <a:cs typeface="Calibri"/>
              </a:rPr>
              <a:t> </a:t>
            </a:r>
            <a:r>
              <a:rPr lang="zh-TW" sz="2400" b="1" dirty="0">
                <a:solidFill>
                  <a:schemeClr val="bg1"/>
                </a:solidFill>
                <a:latin typeface="Times New Roman"/>
                <a:ea typeface="新細明體"/>
                <a:cs typeface="Times New Roman"/>
              </a:rPr>
              <a:t>∈</a:t>
            </a:r>
            <a:r>
              <a:rPr lang="zh-TW" altLang="en-US" sz="2400" b="1" dirty="0">
                <a:solidFill>
                  <a:schemeClr val="bg1"/>
                </a:solidFill>
                <a:latin typeface="Times New Roman"/>
                <a:ea typeface="新細明體"/>
                <a:cs typeface="Times New Roman"/>
              </a:rPr>
              <a:t> </a:t>
            </a:r>
            <a:r>
              <a:rPr lang="zh-TW" sz="2400" b="1" dirty="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ℝ</a:t>
            </a:r>
            <a:r>
              <a:rPr lang="en-US" altLang="zh-TW" sz="2400" b="1" baseline="30000" dirty="0" err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d×d</a:t>
            </a:r>
            <a:endParaRPr lang="en-US" altLang="zh-TW" sz="2400" b="1" baseline="30000" dirty="0">
              <a:solidFill>
                <a:schemeClr val="bg1"/>
              </a:solidFill>
              <a:latin typeface="Times New Roman"/>
              <a:ea typeface="新細明體"/>
              <a:cs typeface="Calibri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86F0C8D-92AA-C3E2-BF1A-71DCF8EE4368}"/>
              </a:ext>
            </a:extLst>
          </p:cNvPr>
          <p:cNvSpPr txBox="1"/>
          <p:nvPr/>
        </p:nvSpPr>
        <p:spPr>
          <a:xfrm>
            <a:off x="2940711" y="4618470"/>
            <a:ext cx="13094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= 1000</a:t>
            </a:r>
            <a:endParaRPr kumimoji="1"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向右箭號 6">
            <a:extLst>
              <a:ext uri="{FF2B5EF4-FFF2-40B4-BE49-F238E27FC236}">
                <a16:creationId xmlns:a16="http://schemas.microsoft.com/office/drawing/2014/main" id="{57A8E4BE-C245-05DC-C39E-337557BA07D4}"/>
              </a:ext>
            </a:extLst>
          </p:cNvPr>
          <p:cNvSpPr/>
          <p:nvPr/>
        </p:nvSpPr>
        <p:spPr>
          <a:xfrm>
            <a:off x="5625389" y="3185470"/>
            <a:ext cx="892455" cy="438912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22A3971-10B6-7F71-34F2-2313F7C6999E}"/>
              </a:ext>
            </a:extLst>
          </p:cNvPr>
          <p:cNvSpPr txBox="1"/>
          <p:nvPr/>
        </p:nvSpPr>
        <p:spPr>
          <a:xfrm>
            <a:off x="7554565" y="4618469"/>
            <a:ext cx="10919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= 10</a:t>
            </a:r>
            <a:endParaRPr kumimoji="1"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梯形 3">
            <a:extLst>
              <a:ext uri="{FF2B5EF4-FFF2-40B4-BE49-F238E27FC236}">
                <a16:creationId xmlns:a16="http://schemas.microsoft.com/office/drawing/2014/main" id="{46EE4CB1-12F6-36DC-81D8-7CF15C085C39}"/>
              </a:ext>
            </a:extLst>
          </p:cNvPr>
          <p:cNvSpPr/>
          <p:nvPr/>
        </p:nvSpPr>
        <p:spPr>
          <a:xfrm rot="10800000">
            <a:off x="7146183" y="2314925"/>
            <a:ext cx="1908699" cy="813786"/>
          </a:xfrm>
          <a:prstGeom prst="trapezoid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ea typeface="新細明體"/>
              <a:cs typeface="Calibri"/>
            </a:endParaRPr>
          </a:p>
        </p:txBody>
      </p:sp>
      <p:sp>
        <p:nvSpPr>
          <p:cNvPr id="11" name="梯形 5">
            <a:extLst>
              <a:ext uri="{FF2B5EF4-FFF2-40B4-BE49-F238E27FC236}">
                <a16:creationId xmlns:a16="http://schemas.microsoft.com/office/drawing/2014/main" id="{0A53A9C6-4BE6-3D4D-1E4F-B8110FE23179}"/>
              </a:ext>
            </a:extLst>
          </p:cNvPr>
          <p:cNvSpPr/>
          <p:nvPr/>
        </p:nvSpPr>
        <p:spPr>
          <a:xfrm>
            <a:off x="7146182" y="3624382"/>
            <a:ext cx="1908699" cy="813786"/>
          </a:xfrm>
          <a:prstGeom prst="trapezoid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Calibri"/>
              </a:rPr>
              <a:t>小矩陣</a:t>
            </a:r>
          </a:p>
          <a:p>
            <a:pPr algn="ctr"/>
            <a:r>
              <a:rPr lang="zh-TW" altLang="en-US" b="1" dirty="0">
                <a:solidFill>
                  <a:schemeClr val="tx1"/>
                </a:solidFill>
                <a:latin typeface="Times New Roman"/>
                <a:ea typeface="新細明體"/>
                <a:cs typeface="Calibri"/>
              </a:rPr>
              <a:t>W</a:t>
            </a:r>
            <a:r>
              <a:rPr lang="en-US" altLang="zh-TW" b="1" baseline="-25000" dirty="0">
                <a:solidFill>
                  <a:schemeClr val="tx1"/>
                </a:solidFill>
                <a:latin typeface="Times New Roman"/>
                <a:ea typeface="新細明體"/>
                <a:cs typeface="Calibri"/>
              </a:rPr>
              <a:t>a</a:t>
            </a:r>
            <a:r>
              <a:rPr lang="zh-TW" altLang="en-US" b="1" dirty="0">
                <a:solidFill>
                  <a:schemeClr val="tx1"/>
                </a:solidFill>
                <a:latin typeface="Times New Roman"/>
                <a:ea typeface="新細明體"/>
                <a:cs typeface="Calibri"/>
              </a:rPr>
              <a:t> </a:t>
            </a:r>
            <a:r>
              <a:rPr lang="zh-TW" altLang="zh-TW" b="1" dirty="0">
                <a:solidFill>
                  <a:schemeClr val="tx1"/>
                </a:solidFill>
                <a:latin typeface="Times New Roman"/>
                <a:ea typeface="新細明體"/>
                <a:cs typeface="Times New Roman"/>
              </a:rPr>
              <a:t>∈</a:t>
            </a:r>
            <a:r>
              <a:rPr lang="zh-TW" altLang="en-US" b="1" dirty="0">
                <a:solidFill>
                  <a:schemeClr val="tx1"/>
                </a:solidFill>
                <a:latin typeface="Times New Roman"/>
                <a:ea typeface="新細明體"/>
                <a:cs typeface="Times New Roman"/>
              </a:rPr>
              <a:t> </a:t>
            </a:r>
            <a:r>
              <a:rPr lang="zh-TW" altLang="zh-TW" b="1" dirty="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ℝ</a:t>
            </a:r>
            <a:r>
              <a:rPr lang="en-US" altLang="zh-TW" b="1" baseline="30000" dirty="0" err="1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d×r</a:t>
            </a:r>
            <a:endParaRPr lang="en-US" altLang="zh-TW" b="1" baseline="30000" dirty="0">
              <a:solidFill>
                <a:schemeClr val="tx1"/>
              </a:solidFill>
              <a:latin typeface="Times New Roman"/>
              <a:ea typeface="新細明體"/>
              <a:cs typeface="Calibri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44EC01D1-213D-9450-D5C7-6553E0A1F5C9}"/>
              </a:ext>
            </a:extLst>
          </p:cNvPr>
          <p:cNvSpPr txBox="1"/>
          <p:nvPr/>
        </p:nvSpPr>
        <p:spPr>
          <a:xfrm>
            <a:off x="7386385" y="2407050"/>
            <a:ext cx="14282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8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Calibri"/>
              </a:rPr>
              <a:t>小矩陣</a:t>
            </a:r>
          </a:p>
          <a:p>
            <a:pPr algn="ctr"/>
            <a:r>
              <a:rPr lang="zh-TW" altLang="en-US" sz="1800" b="1" dirty="0">
                <a:solidFill>
                  <a:schemeClr val="tx1"/>
                </a:solidFill>
                <a:latin typeface="Times New Roman"/>
                <a:ea typeface="新細明體"/>
                <a:cs typeface="Calibri"/>
              </a:rPr>
              <a:t>W</a:t>
            </a:r>
            <a:r>
              <a:rPr lang="en-US" altLang="zh-TW" sz="1800" b="1" baseline="-25000" dirty="0">
                <a:solidFill>
                  <a:schemeClr val="tx1"/>
                </a:solidFill>
                <a:latin typeface="Times New Roman"/>
                <a:ea typeface="新細明體"/>
                <a:cs typeface="Calibri"/>
              </a:rPr>
              <a:t>b</a:t>
            </a:r>
            <a:r>
              <a:rPr lang="zh-TW" altLang="en-US" sz="1800" b="1" dirty="0">
                <a:solidFill>
                  <a:schemeClr val="tx1"/>
                </a:solidFill>
                <a:latin typeface="Times New Roman"/>
                <a:ea typeface="新細明體"/>
                <a:cs typeface="Calibri"/>
              </a:rPr>
              <a:t> </a:t>
            </a:r>
            <a:r>
              <a:rPr lang="zh-TW" altLang="zh-TW" sz="1800" b="1" dirty="0">
                <a:solidFill>
                  <a:schemeClr val="tx1"/>
                </a:solidFill>
                <a:latin typeface="Times New Roman"/>
                <a:ea typeface="新細明體"/>
                <a:cs typeface="Times New Roman"/>
              </a:rPr>
              <a:t>∈</a:t>
            </a:r>
            <a:r>
              <a:rPr lang="zh-TW" altLang="en-US" sz="1800" b="1" dirty="0">
                <a:solidFill>
                  <a:schemeClr val="tx1"/>
                </a:solidFill>
                <a:latin typeface="Times New Roman"/>
                <a:ea typeface="新細明體"/>
                <a:cs typeface="Times New Roman"/>
              </a:rPr>
              <a:t> </a:t>
            </a:r>
            <a:r>
              <a:rPr lang="zh-TW" altLang="zh-TW" sz="1800" b="1" dirty="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ℝ</a:t>
            </a:r>
            <a:r>
              <a:rPr lang="en-US" altLang="zh-TW" sz="1800" b="1" baseline="30000" dirty="0" err="1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r×</a:t>
            </a:r>
            <a:r>
              <a:rPr lang="en-US" altLang="zh-TW" b="1" baseline="30000" dirty="0" err="1">
                <a:latin typeface="Times New Roman"/>
                <a:ea typeface="+mn-lt"/>
                <a:cs typeface="+mn-lt"/>
              </a:rPr>
              <a:t>d</a:t>
            </a:r>
            <a:endParaRPr lang="en-US" altLang="zh-TW" sz="1800" b="1" baseline="30000" dirty="0">
              <a:solidFill>
                <a:schemeClr val="tx1"/>
              </a:solidFill>
              <a:latin typeface="Times New Roman"/>
              <a:ea typeface="新細明體"/>
              <a:cs typeface="Calibri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1D2FC477-4659-5AEE-8E59-59488275EC86}"/>
              </a:ext>
            </a:extLst>
          </p:cNvPr>
          <p:cNvSpPr txBox="1"/>
          <p:nvPr/>
        </p:nvSpPr>
        <p:spPr>
          <a:xfrm>
            <a:off x="653143" y="5419692"/>
            <a:ext cx="1428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/>
              </a:rPr>
              <a:t>參數量</a:t>
            </a:r>
            <a:endParaRPr lang="en-US" altLang="zh-TW" sz="1800" b="1" baseline="30000" dirty="0">
              <a:solidFill>
                <a:schemeClr val="tx1"/>
              </a:solidFill>
              <a:latin typeface="Times New Roman"/>
              <a:ea typeface="新細明體"/>
              <a:cs typeface="Calibri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B051CCCB-8E2D-3BE8-740D-E49C7258D6D9}"/>
              </a:ext>
            </a:extLst>
          </p:cNvPr>
          <p:cNvSpPr txBox="1"/>
          <p:nvPr/>
        </p:nvSpPr>
        <p:spPr>
          <a:xfrm>
            <a:off x="2347837" y="5419692"/>
            <a:ext cx="24944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/>
              </a:rPr>
              <a:t>1000*1000 = 1</a:t>
            </a:r>
            <a:r>
              <a:rPr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/>
              </a:rPr>
              <a:t>百萬</a:t>
            </a:r>
            <a:endParaRPr lang="en-US" altLang="zh-TW" sz="1800" b="1" baseline="30000" dirty="0">
              <a:solidFill>
                <a:schemeClr val="tx1"/>
              </a:solidFill>
              <a:latin typeface="Times New Roman"/>
              <a:ea typeface="新細明體"/>
              <a:cs typeface="Calibri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F2437C48-F357-1AE4-FA6F-D92F911A0505}"/>
              </a:ext>
            </a:extLst>
          </p:cNvPr>
          <p:cNvSpPr txBox="1"/>
          <p:nvPr/>
        </p:nvSpPr>
        <p:spPr>
          <a:xfrm>
            <a:off x="6853289" y="5419692"/>
            <a:ext cx="24944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/>
              </a:rPr>
              <a:t>1000*10 + 10*1000 = 20000</a:t>
            </a:r>
            <a:endParaRPr lang="en-US" altLang="zh-TW" sz="1800" b="1" baseline="30000" dirty="0">
              <a:solidFill>
                <a:schemeClr val="tx1"/>
              </a:solidFill>
              <a:latin typeface="Times New Roman"/>
              <a:ea typeface="新細明體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3949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  <p:bldP spid="10" grpId="0" animBg="1"/>
      <p:bldP spid="11" grpId="0" animBg="1"/>
      <p:bldP spid="13" grpId="0"/>
      <p:bldP spid="16" grpId="0"/>
      <p:bldP spid="17" grpId="0"/>
      <p:bldP spid="1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E9A13-34B5-3EA1-9A2A-02C57C0C6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F8EE4F-7F24-9B98-6D4E-50EDD8D72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4400" dirty="0" err="1">
                <a:ea typeface="+mj-lt"/>
                <a:cs typeface="Times New Roman"/>
              </a:rPr>
              <a:t>LoRA</a:t>
            </a:r>
            <a:r>
              <a:rPr lang="en-US" altLang="zh-TW" sz="4400" dirty="0">
                <a:ea typeface="+mj-lt"/>
                <a:cs typeface="Times New Roman"/>
              </a:rPr>
              <a:t>: </a:t>
            </a:r>
            <a:r>
              <a:rPr lang="en-US" altLang="zh-TW" sz="4400" b="1" dirty="0">
                <a:solidFill>
                  <a:srgbClr val="FF0000"/>
                </a:solidFill>
                <a:ea typeface="+mj-lt"/>
                <a:cs typeface="Times New Roman"/>
              </a:rPr>
              <a:t>Lo</a:t>
            </a:r>
            <a:r>
              <a:rPr lang="en-US" altLang="zh-TW" sz="4400" dirty="0">
                <a:ea typeface="+mj-lt"/>
                <a:cs typeface="Times New Roman"/>
              </a:rPr>
              <a:t>w-</a:t>
            </a:r>
            <a:r>
              <a:rPr lang="en-US" altLang="zh-TW" sz="4400" b="1" dirty="0">
                <a:solidFill>
                  <a:srgbClr val="FF0000"/>
                </a:solidFill>
                <a:ea typeface="+mj-lt"/>
                <a:cs typeface="Times New Roman"/>
              </a:rPr>
              <a:t>R</a:t>
            </a:r>
            <a:r>
              <a:rPr lang="en-US" altLang="zh-TW" sz="4400" dirty="0">
                <a:ea typeface="+mj-lt"/>
                <a:cs typeface="Times New Roman"/>
              </a:rPr>
              <a:t>ank </a:t>
            </a:r>
            <a:r>
              <a:rPr lang="en-US" altLang="zh-TW" sz="4400" b="1" dirty="0">
                <a:solidFill>
                  <a:srgbClr val="FF0000"/>
                </a:solidFill>
                <a:ea typeface="+mj-lt"/>
                <a:cs typeface="Times New Roman"/>
              </a:rPr>
              <a:t>A</a:t>
            </a:r>
            <a:r>
              <a:rPr lang="en-US" altLang="zh-TW" sz="4400" dirty="0">
                <a:ea typeface="+mj-lt"/>
                <a:cs typeface="Times New Roman"/>
              </a:rPr>
              <a:t>daptation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BC23A01-3E2E-1B70-B021-4E6D2B09C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>
                <a:latin typeface="Times New Roman"/>
                <a:cs typeface="Times New Roman"/>
              </a:rPr>
              <a:t>36</a:t>
            </a:fld>
            <a:endParaRPr lang="zh-TW" altLang="en-US">
              <a:latin typeface="Times New Roman"/>
              <a:cs typeface="Times New Roman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7709D75-AEA7-8B99-11E7-B03EE37F255B}"/>
              </a:ext>
            </a:extLst>
          </p:cNvPr>
          <p:cNvSpPr/>
          <p:nvPr/>
        </p:nvSpPr>
        <p:spPr>
          <a:xfrm>
            <a:off x="6096000" y="3022108"/>
            <a:ext cx="2056660" cy="2123242"/>
          </a:xfrm>
          <a:prstGeom prst="rect">
            <a:avLst/>
          </a:prstGeom>
          <a:solidFill>
            <a:srgbClr val="5A9B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latin typeface="Times New Roman"/>
                <a:ea typeface="新細明體"/>
                <a:cs typeface="Calibri"/>
              </a:rPr>
              <a:t>Pre</a:t>
            </a:r>
            <a:r>
              <a:rPr lang="en-US" altLang="zh-TW" sz="2400" b="1" dirty="0">
                <a:latin typeface="Times New Roman"/>
                <a:ea typeface="新細明體"/>
                <a:cs typeface="Calibri"/>
              </a:rPr>
              <a:t>-</a:t>
            </a:r>
            <a:r>
              <a:rPr lang="zh-TW" altLang="en-US" sz="2400" b="1" dirty="0">
                <a:latin typeface="Times New Roman"/>
                <a:ea typeface="新細明體"/>
                <a:cs typeface="Calibri"/>
              </a:rPr>
              <a:t>trained</a:t>
            </a:r>
          </a:p>
          <a:p>
            <a:pPr algn="ctr"/>
            <a:r>
              <a:rPr lang="zh-TW" altLang="en-US" sz="2400" b="1" dirty="0">
                <a:latin typeface="Times New Roman"/>
                <a:ea typeface="新細明體"/>
                <a:cs typeface="Calibri"/>
              </a:rPr>
              <a:t>Weights</a:t>
            </a:r>
          </a:p>
          <a:p>
            <a:pPr algn="ctr"/>
            <a:endParaRPr lang="zh-TW" altLang="en-US" sz="2400" b="1" dirty="0">
              <a:latin typeface="Times New Roman"/>
              <a:ea typeface="新細明體"/>
              <a:cs typeface="Calibri"/>
            </a:endParaRPr>
          </a:p>
          <a:p>
            <a:pPr algn="ctr"/>
            <a:r>
              <a:rPr lang="zh-TW" altLang="en-US" sz="2400" b="1" dirty="0">
                <a:latin typeface="Times New Roman"/>
                <a:ea typeface="新細明體"/>
                <a:cs typeface="Calibri"/>
              </a:rPr>
              <a:t>W </a:t>
            </a:r>
            <a:r>
              <a:rPr lang="zh-TW" sz="2400" b="1" dirty="0">
                <a:solidFill>
                  <a:schemeClr val="bg1"/>
                </a:solidFill>
                <a:latin typeface="Times New Roman"/>
                <a:ea typeface="新細明體"/>
                <a:cs typeface="Times New Roman"/>
              </a:rPr>
              <a:t>∈</a:t>
            </a:r>
            <a:r>
              <a:rPr lang="zh-TW" altLang="en-US" sz="2400" b="1" dirty="0">
                <a:solidFill>
                  <a:schemeClr val="bg1"/>
                </a:solidFill>
                <a:latin typeface="Times New Roman"/>
                <a:ea typeface="新細明體"/>
                <a:cs typeface="Times New Roman"/>
              </a:rPr>
              <a:t> </a:t>
            </a:r>
            <a:r>
              <a:rPr lang="zh-TW" sz="2400" b="1" dirty="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ℝ</a:t>
            </a:r>
            <a:r>
              <a:rPr lang="en-US" altLang="zh-TW" sz="2400" b="1" baseline="30000" dirty="0" err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dxd</a:t>
            </a:r>
            <a:endParaRPr lang="en-US" altLang="zh-TW" sz="2400" b="1" baseline="30000" dirty="0">
              <a:solidFill>
                <a:schemeClr val="bg1"/>
              </a:solidFill>
              <a:latin typeface="Times New Roman"/>
              <a:ea typeface="新細明體"/>
              <a:cs typeface="Calibri"/>
            </a:endParaRPr>
          </a:p>
        </p:txBody>
      </p:sp>
      <p:sp>
        <p:nvSpPr>
          <p:cNvPr id="4" name="梯形 3">
            <a:extLst>
              <a:ext uri="{FF2B5EF4-FFF2-40B4-BE49-F238E27FC236}">
                <a16:creationId xmlns:a16="http://schemas.microsoft.com/office/drawing/2014/main" id="{1FA20901-FDF9-CC23-E9C2-A4EEE3F87382}"/>
              </a:ext>
            </a:extLst>
          </p:cNvPr>
          <p:cNvSpPr/>
          <p:nvPr/>
        </p:nvSpPr>
        <p:spPr>
          <a:xfrm rot="10800000">
            <a:off x="8548455" y="3022107"/>
            <a:ext cx="1908699" cy="813786"/>
          </a:xfrm>
          <a:prstGeom prst="trapezoid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ea typeface="新細明體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梯形 5">
                <a:extLst>
                  <a:ext uri="{FF2B5EF4-FFF2-40B4-BE49-F238E27FC236}">
                    <a16:creationId xmlns:a16="http://schemas.microsoft.com/office/drawing/2014/main" id="{5F82C3E9-C3A2-FE36-025A-F774F9329F40}"/>
                  </a:ext>
                </a:extLst>
              </p:cNvPr>
              <p:cNvSpPr/>
              <p:nvPr/>
            </p:nvSpPr>
            <p:spPr>
              <a:xfrm>
                <a:off x="8548454" y="4331564"/>
                <a:ext cx="1908699" cy="813786"/>
              </a:xfrm>
              <a:prstGeom prst="trapezoid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altLang="zh-TW" sz="2400" b="1" dirty="0">
                    <a:solidFill>
                      <a:schemeClr val="bg1"/>
                    </a:solidFill>
                    <a:latin typeface="Times New Roman"/>
                    <a:ea typeface="新細明體"/>
                    <a:cs typeface="Times New Roman"/>
                  </a:rPr>
                  <a:t>A = </a:t>
                </a:r>
                <a14:m>
                  <m:oMath xmlns:m="http://schemas.openxmlformats.org/officeDocument/2006/math">
                    <m:r>
                      <a:rPr lang="en-US" altLang="zh-TW" sz="2400" i="1" smtClean="0">
                        <a:latin typeface="Cambria Math" panose="02040503050406030204" pitchFamily="18" charset="0"/>
                      </a:rPr>
                      <m:t>𝒩</m:t>
                    </m:r>
                  </m:oMath>
                </a14:m>
                <a:r>
                  <a:rPr lang="en-US" altLang="zh-TW" sz="2400" b="1" dirty="0">
                    <a:solidFill>
                      <a:schemeClr val="bg1"/>
                    </a:solidFill>
                    <a:latin typeface="Times New Roman"/>
                    <a:ea typeface="新細明體"/>
                    <a:cs typeface="Times New Roman"/>
                  </a:rPr>
                  <a:t>(0,</a:t>
                </a:r>
                <a:r>
                  <a:rPr lang="en-US" sz="2400" dirty="0">
                    <a:solidFill>
                      <a:schemeClr val="bg1"/>
                    </a:solidFill>
                    <a:latin typeface="Times New Roman"/>
                    <a:ea typeface="+mn-lt"/>
                    <a:cs typeface="+mn-lt"/>
                  </a:rPr>
                  <a:t>σ</a:t>
                </a:r>
                <a:r>
                  <a:rPr lang="en-US" sz="2400" baseline="30000" dirty="0">
                    <a:solidFill>
                      <a:schemeClr val="bg1"/>
                    </a:solidFill>
                    <a:latin typeface="Times New Roman"/>
                    <a:ea typeface="+mn-lt"/>
                    <a:cs typeface="+mn-lt"/>
                  </a:rPr>
                  <a:t>2</a:t>
                </a:r>
                <a:r>
                  <a:rPr lang="en-US" altLang="zh-TW" sz="2400" b="1" dirty="0">
                    <a:solidFill>
                      <a:schemeClr val="bg1"/>
                    </a:solidFill>
                    <a:latin typeface="Times New Roman"/>
                    <a:ea typeface="新細明體"/>
                    <a:cs typeface="Times New Roman"/>
                  </a:rPr>
                  <a:t>)</a:t>
                </a:r>
                <a:endParaRPr lang="zh-TW" sz="2400" dirty="0">
                  <a:solidFill>
                    <a:schemeClr val="bg1"/>
                  </a:solidFill>
                  <a:latin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6" name="梯形 5">
                <a:extLst>
                  <a:ext uri="{FF2B5EF4-FFF2-40B4-BE49-F238E27FC236}">
                    <a16:creationId xmlns:a16="http://schemas.microsoft.com/office/drawing/2014/main" id="{5F82C3E9-C3A2-FE36-025A-F774F9329F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8454" y="4331564"/>
                <a:ext cx="1908699" cy="813786"/>
              </a:xfrm>
              <a:prstGeom prst="trapezoid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>
            <a:extLst>
              <a:ext uri="{FF2B5EF4-FFF2-40B4-BE49-F238E27FC236}">
                <a16:creationId xmlns:a16="http://schemas.microsoft.com/office/drawing/2014/main" id="{AF647EE7-61CC-E17B-9276-B1017D95704A}"/>
              </a:ext>
            </a:extLst>
          </p:cNvPr>
          <p:cNvSpPr/>
          <p:nvPr/>
        </p:nvSpPr>
        <p:spPr>
          <a:xfrm>
            <a:off x="7183514" y="5807477"/>
            <a:ext cx="2374777" cy="273728"/>
          </a:xfrm>
          <a:prstGeom prst="rect">
            <a:avLst/>
          </a:prstGeom>
          <a:solidFill>
            <a:srgbClr val="C1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A1ACEA3-B17D-D03F-D38F-465F8F0C7A02}"/>
              </a:ext>
            </a:extLst>
          </p:cNvPr>
          <p:cNvSpPr/>
          <p:nvPr/>
        </p:nvSpPr>
        <p:spPr>
          <a:xfrm>
            <a:off x="7190912" y="2152836"/>
            <a:ext cx="2374777" cy="273728"/>
          </a:xfrm>
          <a:prstGeom prst="rect">
            <a:avLst/>
          </a:prstGeom>
          <a:solidFill>
            <a:srgbClr val="C1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6CA84FC7-307B-83C1-727B-073BB9C70E67}"/>
              </a:ext>
            </a:extLst>
          </p:cNvPr>
          <p:cNvSpPr txBox="1"/>
          <p:nvPr/>
        </p:nvSpPr>
        <p:spPr>
          <a:xfrm>
            <a:off x="8851776" y="3195962"/>
            <a:ext cx="130057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400" b="1" dirty="0">
                <a:solidFill>
                  <a:srgbClr val="FFFFFF"/>
                </a:solidFill>
                <a:latin typeface="Times New Roman"/>
                <a:ea typeface="新細明體"/>
                <a:cs typeface="Times New Roman"/>
              </a:rPr>
              <a:t>B = 0</a:t>
            </a:r>
            <a:endParaRPr lang="zh-TW" sz="2400" dirty="0">
              <a:latin typeface="Times New Roman"/>
              <a:cs typeface="Times New Roman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EA77DFEC-4F05-AAA0-709D-878BF2168C86}"/>
              </a:ext>
            </a:extLst>
          </p:cNvPr>
          <p:cNvSpPr txBox="1"/>
          <p:nvPr/>
        </p:nvSpPr>
        <p:spPr>
          <a:xfrm>
            <a:off x="6740371" y="5745334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i="1" dirty="0">
                <a:latin typeface="Times New Roman"/>
                <a:ea typeface="新細明體"/>
                <a:cs typeface="Times New Roman"/>
              </a:rPr>
              <a:t>x</a:t>
            </a:r>
            <a:endParaRPr lang="zh-TW" i="1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E40C2C0-90D6-E7F7-190E-38C73225F2E0}"/>
              </a:ext>
            </a:extLst>
          </p:cNvPr>
          <p:cNvSpPr txBox="1"/>
          <p:nvPr/>
        </p:nvSpPr>
        <p:spPr>
          <a:xfrm>
            <a:off x="8153398" y="6040297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d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FA684136-688D-FA57-B605-497B048A1DD9}"/>
              </a:ext>
            </a:extLst>
          </p:cNvPr>
          <p:cNvSpPr txBox="1"/>
          <p:nvPr/>
        </p:nvSpPr>
        <p:spPr>
          <a:xfrm>
            <a:off x="6740371" y="2090693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h</a:t>
            </a:r>
            <a:endParaRPr lang="zh-TW" dirty="0"/>
          </a:p>
        </p:txBody>
      </p:sp>
      <p:sp>
        <p:nvSpPr>
          <p:cNvPr id="20" name="箭號: 向右 19">
            <a:extLst>
              <a:ext uri="{FF2B5EF4-FFF2-40B4-BE49-F238E27FC236}">
                <a16:creationId xmlns:a16="http://schemas.microsoft.com/office/drawing/2014/main" id="{10F91241-30AA-318E-0525-26247FCD56CA}"/>
              </a:ext>
            </a:extLst>
          </p:cNvPr>
          <p:cNvSpPr/>
          <p:nvPr/>
        </p:nvSpPr>
        <p:spPr>
          <a:xfrm rot="14640000">
            <a:off x="7290897" y="5303538"/>
            <a:ext cx="584446" cy="28112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箭號: 向右 20">
            <a:extLst>
              <a:ext uri="{FF2B5EF4-FFF2-40B4-BE49-F238E27FC236}">
                <a16:creationId xmlns:a16="http://schemas.microsoft.com/office/drawing/2014/main" id="{B98272A3-3BCE-D9DD-B31A-8A5F3E254BA2}"/>
              </a:ext>
            </a:extLst>
          </p:cNvPr>
          <p:cNvSpPr/>
          <p:nvPr/>
        </p:nvSpPr>
        <p:spPr>
          <a:xfrm rot="-4140000">
            <a:off x="8962857" y="5303538"/>
            <a:ext cx="584446" cy="28112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箭號: 向右 21">
            <a:extLst>
              <a:ext uri="{FF2B5EF4-FFF2-40B4-BE49-F238E27FC236}">
                <a16:creationId xmlns:a16="http://schemas.microsoft.com/office/drawing/2014/main" id="{8D442355-C060-4FAC-1C8E-DCB98C1DA921}"/>
              </a:ext>
            </a:extLst>
          </p:cNvPr>
          <p:cNvSpPr/>
          <p:nvPr/>
        </p:nvSpPr>
        <p:spPr>
          <a:xfrm rot="19260000">
            <a:off x="7091148" y="2581052"/>
            <a:ext cx="584446" cy="28112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箭號: 向右 22">
            <a:extLst>
              <a:ext uri="{FF2B5EF4-FFF2-40B4-BE49-F238E27FC236}">
                <a16:creationId xmlns:a16="http://schemas.microsoft.com/office/drawing/2014/main" id="{D878430A-C355-CF15-9535-6E936FE02858}"/>
              </a:ext>
            </a:extLst>
          </p:cNvPr>
          <p:cNvSpPr/>
          <p:nvPr/>
        </p:nvSpPr>
        <p:spPr>
          <a:xfrm rot="13440000">
            <a:off x="9214391" y="2588450"/>
            <a:ext cx="584446" cy="28112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FE987CD1-FFC8-FFCA-15BD-86C65E1F43B5}"/>
              </a:ext>
            </a:extLst>
          </p:cNvPr>
          <p:cNvSpPr txBox="1"/>
          <p:nvPr/>
        </p:nvSpPr>
        <p:spPr>
          <a:xfrm>
            <a:off x="9270507" y="3932809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r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2C021C64-4F49-FF67-B1E5-27949BDD6BE2}"/>
              </a:ext>
            </a:extLst>
          </p:cNvPr>
          <p:cNvSpPr txBox="1"/>
          <p:nvPr/>
        </p:nvSpPr>
        <p:spPr>
          <a:xfrm>
            <a:off x="9693111" y="2490569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α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A5440F6-05AA-3F62-DA35-7918809B64A9}"/>
              </a:ext>
            </a:extLst>
          </p:cNvPr>
          <p:cNvSpPr txBox="1"/>
          <p:nvPr/>
        </p:nvSpPr>
        <p:spPr>
          <a:xfrm>
            <a:off x="1" y="6488360"/>
            <a:ext cx="12191999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dirty="0">
                <a:solidFill>
                  <a:srgbClr val="222222"/>
                </a:solidFill>
                <a:ea typeface="新細明體"/>
                <a:cs typeface="Arial"/>
              </a:rPr>
              <a:t>Hu, Edward J., et al. "LoRA: Low-Rank Adaptation of Large Language Models." </a:t>
            </a:r>
            <a:r>
              <a:rPr lang="en-US" sz="1000" i="1" dirty="0">
                <a:solidFill>
                  <a:srgbClr val="222222"/>
                </a:solidFill>
                <a:ea typeface="新細明體"/>
                <a:cs typeface="Arial"/>
              </a:rPr>
              <a:t>International Conference on Learning Representations</a:t>
            </a:r>
            <a:r>
              <a:rPr lang="en-US" sz="1000" dirty="0">
                <a:solidFill>
                  <a:srgbClr val="222222"/>
                </a:solidFill>
                <a:ea typeface="新細明體"/>
                <a:cs typeface="Arial"/>
              </a:rPr>
              <a:t>. 2021.</a:t>
            </a:r>
            <a:endParaRPr lang="zh-TW" sz="1000" dirty="0">
              <a:ea typeface="新細明體"/>
              <a:cs typeface="Times New Roman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17BAA35-2B30-7FDA-AA98-373B2C397DA0}"/>
              </a:ext>
            </a:extLst>
          </p:cNvPr>
          <p:cNvSpPr/>
          <p:nvPr/>
        </p:nvSpPr>
        <p:spPr>
          <a:xfrm>
            <a:off x="1890881" y="2992103"/>
            <a:ext cx="2056660" cy="2123242"/>
          </a:xfrm>
          <a:prstGeom prst="rect">
            <a:avLst/>
          </a:prstGeom>
          <a:solidFill>
            <a:srgbClr val="5A9B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latin typeface="Times New Roman"/>
                <a:ea typeface="新細明體"/>
                <a:cs typeface="Calibri"/>
              </a:rPr>
              <a:t>Pre</a:t>
            </a:r>
            <a:r>
              <a:rPr lang="en-US" altLang="zh-TW" sz="2400" b="1" dirty="0">
                <a:latin typeface="Times New Roman"/>
                <a:ea typeface="新細明體"/>
                <a:cs typeface="Calibri"/>
              </a:rPr>
              <a:t>-</a:t>
            </a:r>
            <a:r>
              <a:rPr lang="zh-TW" altLang="en-US" sz="2400" b="1" dirty="0">
                <a:latin typeface="Times New Roman"/>
                <a:ea typeface="新細明體"/>
                <a:cs typeface="Calibri"/>
              </a:rPr>
              <a:t>trained</a:t>
            </a:r>
          </a:p>
          <a:p>
            <a:pPr algn="ctr"/>
            <a:r>
              <a:rPr lang="zh-TW" altLang="en-US" sz="2400" b="1" dirty="0">
                <a:latin typeface="Times New Roman"/>
                <a:ea typeface="新細明體"/>
                <a:cs typeface="Calibri"/>
              </a:rPr>
              <a:t>Weights</a:t>
            </a:r>
          </a:p>
          <a:p>
            <a:pPr algn="ctr"/>
            <a:endParaRPr lang="zh-TW" altLang="en-US" sz="2400" b="1" dirty="0">
              <a:latin typeface="Times New Roman"/>
              <a:ea typeface="新細明體"/>
              <a:cs typeface="Calibri"/>
            </a:endParaRPr>
          </a:p>
          <a:p>
            <a:pPr algn="ctr"/>
            <a:r>
              <a:rPr lang="zh-TW" altLang="en-US" sz="2400" b="1" dirty="0">
                <a:latin typeface="Times New Roman"/>
                <a:ea typeface="新細明體"/>
                <a:cs typeface="Calibri"/>
              </a:rPr>
              <a:t>W </a:t>
            </a:r>
            <a:r>
              <a:rPr lang="zh-TW" sz="2400" b="1" dirty="0">
                <a:solidFill>
                  <a:schemeClr val="bg1"/>
                </a:solidFill>
                <a:latin typeface="Times New Roman"/>
                <a:ea typeface="新細明體"/>
                <a:cs typeface="Times New Roman"/>
              </a:rPr>
              <a:t>∈</a:t>
            </a:r>
            <a:r>
              <a:rPr lang="zh-TW" altLang="en-US" sz="2400" b="1" dirty="0">
                <a:solidFill>
                  <a:schemeClr val="bg1"/>
                </a:solidFill>
                <a:latin typeface="Times New Roman"/>
                <a:ea typeface="新細明體"/>
                <a:cs typeface="Times New Roman"/>
              </a:rPr>
              <a:t> </a:t>
            </a:r>
            <a:r>
              <a:rPr lang="zh-TW" sz="2400" b="1" dirty="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ℝ</a:t>
            </a:r>
            <a:r>
              <a:rPr lang="en-US" altLang="zh-TW" sz="2400" b="1" baseline="30000" dirty="0" err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dxd</a:t>
            </a:r>
            <a:endParaRPr lang="en-US" altLang="zh-TW" sz="2400" b="1" baseline="30000" dirty="0">
              <a:solidFill>
                <a:schemeClr val="bg1"/>
              </a:solidFill>
              <a:latin typeface="Times New Roman"/>
              <a:ea typeface="新細明體"/>
              <a:cs typeface="Calibr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3739B7D-7AEC-952A-F846-A35391CD8D44}"/>
              </a:ext>
            </a:extLst>
          </p:cNvPr>
          <p:cNvSpPr/>
          <p:nvPr/>
        </p:nvSpPr>
        <p:spPr>
          <a:xfrm>
            <a:off x="1731823" y="5807476"/>
            <a:ext cx="2374777" cy="273728"/>
          </a:xfrm>
          <a:prstGeom prst="rect">
            <a:avLst/>
          </a:prstGeom>
          <a:solidFill>
            <a:srgbClr val="C1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7DF3063-9D70-7822-23D5-1EEAD92CF374}"/>
              </a:ext>
            </a:extLst>
          </p:cNvPr>
          <p:cNvSpPr/>
          <p:nvPr/>
        </p:nvSpPr>
        <p:spPr>
          <a:xfrm>
            <a:off x="1739221" y="2152835"/>
            <a:ext cx="2374777" cy="273728"/>
          </a:xfrm>
          <a:prstGeom prst="rect">
            <a:avLst/>
          </a:prstGeom>
          <a:solidFill>
            <a:srgbClr val="C1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D6CD0F6C-4CF1-3AEE-DF07-6C85F720BDDD}"/>
              </a:ext>
            </a:extLst>
          </p:cNvPr>
          <p:cNvSpPr txBox="1"/>
          <p:nvPr/>
        </p:nvSpPr>
        <p:spPr>
          <a:xfrm>
            <a:off x="1288680" y="5745333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i="1" dirty="0">
                <a:latin typeface="Times New Roman"/>
                <a:ea typeface="新細明體"/>
                <a:cs typeface="Times New Roman"/>
              </a:rPr>
              <a:t>x</a:t>
            </a:r>
            <a:endParaRPr lang="zh-TW" i="1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CA8707B6-E1D4-E55C-B1AC-F00CB5A47BC2}"/>
              </a:ext>
            </a:extLst>
          </p:cNvPr>
          <p:cNvSpPr txBox="1"/>
          <p:nvPr/>
        </p:nvSpPr>
        <p:spPr>
          <a:xfrm>
            <a:off x="2701707" y="6042180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d</a:t>
            </a: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9E0E0B09-85FE-EF48-18BC-57A4D6DE22AC}"/>
              </a:ext>
            </a:extLst>
          </p:cNvPr>
          <p:cNvSpPr txBox="1"/>
          <p:nvPr/>
        </p:nvSpPr>
        <p:spPr>
          <a:xfrm>
            <a:off x="1288680" y="2090692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h</a:t>
            </a:r>
            <a:endParaRPr lang="zh-TW" dirty="0"/>
          </a:p>
        </p:txBody>
      </p:sp>
      <p:sp>
        <p:nvSpPr>
          <p:cNvPr id="33" name="箭號: 向右 19">
            <a:extLst>
              <a:ext uri="{FF2B5EF4-FFF2-40B4-BE49-F238E27FC236}">
                <a16:creationId xmlns:a16="http://schemas.microsoft.com/office/drawing/2014/main" id="{39AB999F-9298-1D06-BC53-A32E25952C87}"/>
              </a:ext>
            </a:extLst>
          </p:cNvPr>
          <p:cNvSpPr/>
          <p:nvPr/>
        </p:nvSpPr>
        <p:spPr>
          <a:xfrm rot="16200000">
            <a:off x="2626988" y="5321674"/>
            <a:ext cx="584446" cy="28112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箭號: 向右 21">
            <a:extLst>
              <a:ext uri="{FF2B5EF4-FFF2-40B4-BE49-F238E27FC236}">
                <a16:creationId xmlns:a16="http://schemas.microsoft.com/office/drawing/2014/main" id="{92C3C1BB-8DAB-EC6C-6A1D-9166704671DB}"/>
              </a:ext>
            </a:extLst>
          </p:cNvPr>
          <p:cNvSpPr/>
          <p:nvPr/>
        </p:nvSpPr>
        <p:spPr>
          <a:xfrm rot="16200000">
            <a:off x="2695964" y="2565867"/>
            <a:ext cx="461288" cy="28112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C6547D03-CC13-8B5F-A46D-1617FB1BDC0A}"/>
              </a:ext>
            </a:extLst>
          </p:cNvPr>
          <p:cNvSpPr txBox="1"/>
          <p:nvPr/>
        </p:nvSpPr>
        <p:spPr>
          <a:xfrm>
            <a:off x="7689914" y="1396857"/>
            <a:ext cx="13767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sz="2400" b="1" dirty="0" err="1"/>
              <a:t>LoRA</a:t>
            </a:r>
            <a:endParaRPr kumimoji="1" lang="zh-TW" altLang="en-US" sz="2400" b="1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89B2ADDB-17F2-47B7-F772-3B54BCBE1CE5}"/>
              </a:ext>
            </a:extLst>
          </p:cNvPr>
          <p:cNvSpPr txBox="1"/>
          <p:nvPr/>
        </p:nvSpPr>
        <p:spPr>
          <a:xfrm>
            <a:off x="2227391" y="1397420"/>
            <a:ext cx="13984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sz="2400" b="1" dirty="0"/>
              <a:t>Original</a:t>
            </a:r>
            <a:endParaRPr kumimoji="1" lang="zh-TW" altLang="en-US" sz="24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99857095-78FE-A02B-325B-6248222D36D2}"/>
              </a:ext>
            </a:extLst>
          </p:cNvPr>
          <p:cNvSpPr txBox="1"/>
          <p:nvPr/>
        </p:nvSpPr>
        <p:spPr>
          <a:xfrm>
            <a:off x="10612955" y="3242128"/>
            <a:ext cx="7187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800" b="1" dirty="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ℝ</a:t>
            </a:r>
            <a:r>
              <a:rPr lang="en-US" altLang="zh-TW" sz="1800" b="1" baseline="30000" dirty="0" err="1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r×</a:t>
            </a:r>
            <a:r>
              <a:rPr lang="en-US" altLang="zh-TW" b="1" baseline="30000" dirty="0" err="1">
                <a:latin typeface="Times New Roman"/>
                <a:ea typeface="+mn-lt"/>
                <a:cs typeface="+mn-lt"/>
              </a:rPr>
              <a:t>d</a:t>
            </a:r>
            <a:endParaRPr lang="zh-TW" altLang="en-US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185AE359-01E4-C17A-68AD-DA7A7AD5CBC9}"/>
              </a:ext>
            </a:extLst>
          </p:cNvPr>
          <p:cNvSpPr txBox="1"/>
          <p:nvPr/>
        </p:nvSpPr>
        <p:spPr>
          <a:xfrm>
            <a:off x="10612955" y="4553791"/>
            <a:ext cx="7187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800" b="1" dirty="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ℝ</a:t>
            </a:r>
            <a:r>
              <a:rPr lang="en-US" altLang="zh-TW" sz="1800" b="1" baseline="30000" dirty="0" err="1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d×</a:t>
            </a:r>
            <a:r>
              <a:rPr lang="en-US" altLang="zh-TW" b="1" baseline="30000" dirty="0" err="1">
                <a:latin typeface="Times New Roman"/>
                <a:ea typeface="+mn-lt"/>
                <a:cs typeface="+mn-lt"/>
              </a:rPr>
              <a:t>r</a:t>
            </a:r>
            <a:endParaRPr lang="zh-TW" altLang="en-US" dirty="0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68B1BAE9-D86B-DC8D-4144-B321C4F77012}"/>
              </a:ext>
            </a:extLst>
          </p:cNvPr>
          <p:cNvSpPr txBox="1"/>
          <p:nvPr/>
        </p:nvSpPr>
        <p:spPr>
          <a:xfrm>
            <a:off x="8735670" y="656955"/>
            <a:ext cx="280318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/>
              </a:rPr>
              <a:t>只有黃色部分會被訓練</a:t>
            </a:r>
            <a:endParaRPr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  <a:cs typeface="Times New Roman"/>
            </a:endParaRPr>
          </a:p>
          <a:p>
            <a:pPr algn="r"/>
            <a:r>
              <a:rPr lang="en-US" altLang="zh-TW" sz="2000" dirty="0">
                <a:latin typeface="Times New Roman"/>
                <a:ea typeface="新細明體"/>
                <a:cs typeface="Times New Roman"/>
              </a:rPr>
              <a:t>α 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/>
              </a:rPr>
              <a:t>是超參數</a:t>
            </a:r>
          </a:p>
        </p:txBody>
      </p:sp>
    </p:spTree>
    <p:extLst>
      <p:ext uri="{BB962C8B-B14F-4D97-AF65-F5344CB8AC3E}">
        <p14:creationId xmlns:p14="http://schemas.microsoft.com/office/powerpoint/2010/main" val="2096564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11" grpId="0" animBg="1"/>
      <p:bldP spid="12" grpId="0" animBg="1"/>
      <p:bldP spid="13" grpId="0"/>
      <p:bldP spid="14" grpId="0"/>
      <p:bldP spid="15" grpId="0"/>
      <p:bldP spid="16" grpId="0"/>
      <p:bldP spid="20" grpId="0" animBg="1"/>
      <p:bldP spid="21" grpId="0" animBg="1"/>
      <p:bldP spid="22" grpId="0" animBg="1"/>
      <p:bldP spid="23" grpId="0" animBg="1"/>
      <p:bldP spid="26" grpId="0"/>
      <p:bldP spid="28" grpId="0"/>
      <p:bldP spid="42" grpId="0"/>
      <p:bldP spid="43" grpId="0"/>
      <p:bldP spid="4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224350-003D-A914-4C77-06188EB97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為什麼</a:t>
            </a:r>
            <a:r>
              <a:rPr kumimoji="1" lang="en-US" altLang="zh-TW" dirty="0">
                <a:ea typeface="Microsoft JhengHei" panose="020B0604030504040204" pitchFamily="34" charset="-120"/>
              </a:rPr>
              <a:t> </a:t>
            </a:r>
            <a:r>
              <a:rPr kumimoji="1" lang="en-US" altLang="zh-TW" dirty="0" err="1">
                <a:ea typeface="Microsoft JhengHei" panose="020B0604030504040204" pitchFamily="34" charset="-120"/>
              </a:rPr>
              <a:t>LoRA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要這樣做？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677EC4E-0DB4-D8C8-62EE-F670F9540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642AD32-12B1-B3F0-221E-E6A189DB6954}"/>
              </a:ext>
            </a:extLst>
          </p:cNvPr>
          <p:cNvSpPr/>
          <p:nvPr/>
        </p:nvSpPr>
        <p:spPr>
          <a:xfrm>
            <a:off x="2397934" y="2095822"/>
            <a:ext cx="2394291" cy="2390974"/>
          </a:xfrm>
          <a:prstGeom prst="rect">
            <a:avLst/>
          </a:prstGeom>
          <a:solidFill>
            <a:srgbClr val="5A9B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/>
              </a:rPr>
              <a:t>大矩陣</a:t>
            </a:r>
          </a:p>
          <a:p>
            <a:pPr algn="ctr"/>
            <a:r>
              <a:rPr lang="zh-TW" altLang="en-US" sz="2400" b="1" dirty="0">
                <a:latin typeface="Times New Roman"/>
                <a:ea typeface="新細明體"/>
                <a:cs typeface="Calibri"/>
              </a:rPr>
              <a:t>W</a:t>
            </a:r>
            <a:r>
              <a:rPr lang="en-US" altLang="zh-TW" sz="2400" b="1" baseline="-25000" dirty="0">
                <a:latin typeface="Times New Roman"/>
                <a:ea typeface="新細明體"/>
                <a:cs typeface="Calibri"/>
              </a:rPr>
              <a:t>big</a:t>
            </a:r>
            <a:r>
              <a:rPr lang="zh-TW" altLang="en-US" sz="2400" b="1" dirty="0">
                <a:latin typeface="Times New Roman"/>
                <a:ea typeface="新細明體"/>
                <a:cs typeface="Calibri"/>
              </a:rPr>
              <a:t> </a:t>
            </a:r>
            <a:r>
              <a:rPr lang="zh-TW" sz="2400" b="1" dirty="0">
                <a:solidFill>
                  <a:schemeClr val="bg1"/>
                </a:solidFill>
                <a:latin typeface="Times New Roman"/>
                <a:ea typeface="新細明體"/>
                <a:cs typeface="Times New Roman"/>
              </a:rPr>
              <a:t>∈</a:t>
            </a:r>
            <a:r>
              <a:rPr lang="zh-TW" altLang="en-US" sz="2400" b="1" dirty="0">
                <a:solidFill>
                  <a:schemeClr val="bg1"/>
                </a:solidFill>
                <a:latin typeface="Times New Roman"/>
                <a:ea typeface="新細明體"/>
                <a:cs typeface="Times New Roman"/>
              </a:rPr>
              <a:t> </a:t>
            </a:r>
            <a:r>
              <a:rPr lang="zh-TW" sz="2400" b="1" dirty="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ℝ</a:t>
            </a:r>
            <a:r>
              <a:rPr lang="en-US" altLang="zh-TW" sz="2400" b="1" baseline="30000" dirty="0" err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d×d</a:t>
            </a:r>
            <a:endParaRPr lang="en-US" altLang="zh-TW" sz="2400" b="1" baseline="30000" dirty="0">
              <a:solidFill>
                <a:schemeClr val="bg1"/>
              </a:solidFill>
              <a:latin typeface="Times New Roman"/>
              <a:ea typeface="新細明體"/>
              <a:cs typeface="Calibri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86F0C8D-92AA-C3E2-BF1A-71DCF8EE4368}"/>
              </a:ext>
            </a:extLst>
          </p:cNvPr>
          <p:cNvSpPr txBox="1"/>
          <p:nvPr/>
        </p:nvSpPr>
        <p:spPr>
          <a:xfrm>
            <a:off x="2940711" y="4618470"/>
            <a:ext cx="13094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= 1000</a:t>
            </a:r>
            <a:endParaRPr kumimoji="1"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向右箭號 6">
            <a:extLst>
              <a:ext uri="{FF2B5EF4-FFF2-40B4-BE49-F238E27FC236}">
                <a16:creationId xmlns:a16="http://schemas.microsoft.com/office/drawing/2014/main" id="{57A8E4BE-C245-05DC-C39E-337557BA07D4}"/>
              </a:ext>
            </a:extLst>
          </p:cNvPr>
          <p:cNvSpPr/>
          <p:nvPr/>
        </p:nvSpPr>
        <p:spPr>
          <a:xfrm>
            <a:off x="5625389" y="3185470"/>
            <a:ext cx="892455" cy="438912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22A3971-10B6-7F71-34F2-2313F7C6999E}"/>
              </a:ext>
            </a:extLst>
          </p:cNvPr>
          <p:cNvSpPr txBox="1"/>
          <p:nvPr/>
        </p:nvSpPr>
        <p:spPr>
          <a:xfrm>
            <a:off x="7554565" y="4618469"/>
            <a:ext cx="10919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= 10</a:t>
            </a:r>
            <a:endParaRPr kumimoji="1"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梯形 3">
            <a:extLst>
              <a:ext uri="{FF2B5EF4-FFF2-40B4-BE49-F238E27FC236}">
                <a16:creationId xmlns:a16="http://schemas.microsoft.com/office/drawing/2014/main" id="{46EE4CB1-12F6-36DC-81D8-7CF15C085C39}"/>
              </a:ext>
            </a:extLst>
          </p:cNvPr>
          <p:cNvSpPr/>
          <p:nvPr/>
        </p:nvSpPr>
        <p:spPr>
          <a:xfrm rot="10800000">
            <a:off x="7146183" y="2314925"/>
            <a:ext cx="1908699" cy="813786"/>
          </a:xfrm>
          <a:prstGeom prst="trapezoid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ea typeface="新細明體"/>
              <a:cs typeface="Calibri"/>
            </a:endParaRPr>
          </a:p>
        </p:txBody>
      </p:sp>
      <p:sp>
        <p:nvSpPr>
          <p:cNvPr id="11" name="梯形 5">
            <a:extLst>
              <a:ext uri="{FF2B5EF4-FFF2-40B4-BE49-F238E27FC236}">
                <a16:creationId xmlns:a16="http://schemas.microsoft.com/office/drawing/2014/main" id="{0A53A9C6-4BE6-3D4D-1E4F-B8110FE23179}"/>
              </a:ext>
            </a:extLst>
          </p:cNvPr>
          <p:cNvSpPr/>
          <p:nvPr/>
        </p:nvSpPr>
        <p:spPr>
          <a:xfrm>
            <a:off x="7146182" y="3624382"/>
            <a:ext cx="1908699" cy="813786"/>
          </a:xfrm>
          <a:prstGeom prst="trapezoid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Calibri"/>
              </a:rPr>
              <a:t>小矩陣</a:t>
            </a:r>
          </a:p>
          <a:p>
            <a:pPr algn="ctr"/>
            <a:r>
              <a:rPr lang="zh-TW" altLang="en-US" b="1" dirty="0">
                <a:solidFill>
                  <a:schemeClr val="tx1"/>
                </a:solidFill>
                <a:latin typeface="Times New Roman"/>
                <a:ea typeface="新細明體"/>
                <a:cs typeface="Calibri"/>
              </a:rPr>
              <a:t>W</a:t>
            </a:r>
            <a:r>
              <a:rPr lang="en-US" altLang="zh-TW" b="1" baseline="-25000" dirty="0">
                <a:solidFill>
                  <a:schemeClr val="tx1"/>
                </a:solidFill>
                <a:latin typeface="Times New Roman"/>
                <a:ea typeface="新細明體"/>
                <a:cs typeface="Calibri"/>
              </a:rPr>
              <a:t>a</a:t>
            </a:r>
            <a:r>
              <a:rPr lang="zh-TW" altLang="en-US" b="1" dirty="0">
                <a:solidFill>
                  <a:schemeClr val="tx1"/>
                </a:solidFill>
                <a:latin typeface="Times New Roman"/>
                <a:ea typeface="新細明體"/>
                <a:cs typeface="Calibri"/>
              </a:rPr>
              <a:t> </a:t>
            </a:r>
            <a:r>
              <a:rPr lang="zh-TW" altLang="zh-TW" b="1" dirty="0">
                <a:solidFill>
                  <a:schemeClr val="tx1"/>
                </a:solidFill>
                <a:latin typeface="Times New Roman"/>
                <a:ea typeface="新細明體"/>
                <a:cs typeface="Times New Roman"/>
              </a:rPr>
              <a:t>∈</a:t>
            </a:r>
            <a:r>
              <a:rPr lang="zh-TW" altLang="en-US" b="1" dirty="0">
                <a:solidFill>
                  <a:schemeClr val="tx1"/>
                </a:solidFill>
                <a:latin typeface="Times New Roman"/>
                <a:ea typeface="新細明體"/>
                <a:cs typeface="Times New Roman"/>
              </a:rPr>
              <a:t> </a:t>
            </a:r>
            <a:r>
              <a:rPr lang="zh-TW" altLang="zh-TW" b="1" dirty="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ℝ</a:t>
            </a:r>
            <a:r>
              <a:rPr lang="en-US" altLang="zh-TW" b="1" baseline="30000" dirty="0" err="1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d×r</a:t>
            </a:r>
            <a:endParaRPr lang="en-US" altLang="zh-TW" b="1" baseline="30000" dirty="0">
              <a:solidFill>
                <a:schemeClr val="tx1"/>
              </a:solidFill>
              <a:latin typeface="Times New Roman"/>
              <a:ea typeface="新細明體"/>
              <a:cs typeface="Calibri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44EC01D1-213D-9450-D5C7-6553E0A1F5C9}"/>
              </a:ext>
            </a:extLst>
          </p:cNvPr>
          <p:cNvSpPr txBox="1"/>
          <p:nvPr/>
        </p:nvSpPr>
        <p:spPr>
          <a:xfrm>
            <a:off x="7386385" y="2407050"/>
            <a:ext cx="14282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8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Calibri"/>
              </a:rPr>
              <a:t>小矩陣</a:t>
            </a:r>
          </a:p>
          <a:p>
            <a:pPr algn="ctr"/>
            <a:r>
              <a:rPr lang="zh-TW" altLang="en-US" sz="1800" b="1" dirty="0">
                <a:solidFill>
                  <a:schemeClr val="tx1"/>
                </a:solidFill>
                <a:latin typeface="Times New Roman"/>
                <a:ea typeface="新細明體"/>
                <a:cs typeface="Calibri"/>
              </a:rPr>
              <a:t>W</a:t>
            </a:r>
            <a:r>
              <a:rPr lang="en-US" altLang="zh-TW" sz="1800" b="1" baseline="-25000" dirty="0">
                <a:solidFill>
                  <a:schemeClr val="tx1"/>
                </a:solidFill>
                <a:latin typeface="Times New Roman"/>
                <a:ea typeface="新細明體"/>
                <a:cs typeface="Calibri"/>
              </a:rPr>
              <a:t>b</a:t>
            </a:r>
            <a:r>
              <a:rPr lang="zh-TW" altLang="en-US" sz="1800" b="1" dirty="0">
                <a:solidFill>
                  <a:schemeClr val="tx1"/>
                </a:solidFill>
                <a:latin typeface="Times New Roman"/>
                <a:ea typeface="新細明體"/>
                <a:cs typeface="Calibri"/>
              </a:rPr>
              <a:t> </a:t>
            </a:r>
            <a:r>
              <a:rPr lang="zh-TW" altLang="zh-TW" sz="1800" b="1" dirty="0">
                <a:solidFill>
                  <a:schemeClr val="tx1"/>
                </a:solidFill>
                <a:latin typeface="Times New Roman"/>
                <a:ea typeface="新細明體"/>
                <a:cs typeface="Times New Roman"/>
              </a:rPr>
              <a:t>∈</a:t>
            </a:r>
            <a:r>
              <a:rPr lang="zh-TW" altLang="en-US" sz="1800" b="1" dirty="0">
                <a:solidFill>
                  <a:schemeClr val="tx1"/>
                </a:solidFill>
                <a:latin typeface="Times New Roman"/>
                <a:ea typeface="新細明體"/>
                <a:cs typeface="Times New Roman"/>
              </a:rPr>
              <a:t> </a:t>
            </a:r>
            <a:r>
              <a:rPr lang="zh-TW" altLang="zh-TW" sz="1800" b="1" dirty="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ℝ</a:t>
            </a:r>
            <a:r>
              <a:rPr lang="en-US" altLang="zh-TW" sz="1800" b="1" baseline="30000" dirty="0" err="1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r×</a:t>
            </a:r>
            <a:r>
              <a:rPr lang="en-US" altLang="zh-TW" b="1" baseline="30000" dirty="0" err="1">
                <a:latin typeface="Times New Roman"/>
                <a:ea typeface="+mn-lt"/>
                <a:cs typeface="+mn-lt"/>
              </a:rPr>
              <a:t>d</a:t>
            </a:r>
            <a:endParaRPr lang="en-US" altLang="zh-TW" sz="1800" b="1" baseline="30000" dirty="0">
              <a:solidFill>
                <a:schemeClr val="tx1"/>
              </a:solidFill>
              <a:latin typeface="Times New Roman"/>
              <a:ea typeface="新細明體"/>
              <a:cs typeface="Calibri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1D2FC477-4659-5AEE-8E59-59488275EC86}"/>
              </a:ext>
            </a:extLst>
          </p:cNvPr>
          <p:cNvSpPr txBox="1"/>
          <p:nvPr/>
        </p:nvSpPr>
        <p:spPr>
          <a:xfrm>
            <a:off x="653143" y="5419692"/>
            <a:ext cx="1428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/>
              </a:rPr>
              <a:t>參數量</a:t>
            </a:r>
            <a:endParaRPr lang="en-US" altLang="zh-TW" sz="1800" b="1" baseline="30000" dirty="0">
              <a:solidFill>
                <a:schemeClr val="tx1"/>
              </a:solidFill>
              <a:latin typeface="Times New Roman"/>
              <a:ea typeface="新細明體"/>
              <a:cs typeface="Calibri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B051CCCB-8E2D-3BE8-740D-E49C7258D6D9}"/>
              </a:ext>
            </a:extLst>
          </p:cNvPr>
          <p:cNvSpPr txBox="1"/>
          <p:nvPr/>
        </p:nvSpPr>
        <p:spPr>
          <a:xfrm>
            <a:off x="2347837" y="5419692"/>
            <a:ext cx="24944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/>
              </a:rPr>
              <a:t>1000*1000 = 1</a:t>
            </a:r>
            <a:r>
              <a:rPr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/>
              </a:rPr>
              <a:t>百萬</a:t>
            </a:r>
            <a:endParaRPr lang="en-US" altLang="zh-TW" sz="1800" b="1" baseline="30000" dirty="0">
              <a:solidFill>
                <a:schemeClr val="tx1"/>
              </a:solidFill>
              <a:latin typeface="Times New Roman"/>
              <a:ea typeface="新細明體"/>
              <a:cs typeface="Calibri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F2437C48-F357-1AE4-FA6F-D92F911A0505}"/>
              </a:ext>
            </a:extLst>
          </p:cNvPr>
          <p:cNvSpPr txBox="1"/>
          <p:nvPr/>
        </p:nvSpPr>
        <p:spPr>
          <a:xfrm>
            <a:off x="6853289" y="5419692"/>
            <a:ext cx="24944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/>
              </a:rPr>
              <a:t>1000*10 + 10*1000 = 20000</a:t>
            </a:r>
            <a:endParaRPr lang="en-US" altLang="zh-TW" sz="1800" b="1" baseline="30000" dirty="0">
              <a:solidFill>
                <a:schemeClr val="tx1"/>
              </a:solidFill>
              <a:latin typeface="Times New Roman"/>
              <a:ea typeface="新細明體"/>
              <a:cs typeface="Calibri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597BC19-7C7A-3E88-2DAA-6837C7C54F9E}"/>
              </a:ext>
            </a:extLst>
          </p:cNvPr>
          <p:cNvSpPr txBox="1"/>
          <p:nvPr/>
        </p:nvSpPr>
        <p:spPr>
          <a:xfrm>
            <a:off x="2735106" y="6013031"/>
            <a:ext cx="1719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訓練參數太多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50EEE1C-90C1-A0BB-6BA9-5B0279ABBBA2}"/>
              </a:ext>
            </a:extLst>
          </p:cNvPr>
          <p:cNvSpPr txBox="1"/>
          <p:nvPr/>
        </p:nvSpPr>
        <p:spPr>
          <a:xfrm>
            <a:off x="6856363" y="6013031"/>
            <a:ext cx="2494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訓練參數少，僅有 </a:t>
            </a:r>
            <a:r>
              <a:rPr kumimoji="1" lang="en-US" altLang="zh-TW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2%</a:t>
            </a:r>
            <a:endParaRPr kumimoji="1" lang="zh-TW" altLang="en-US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08074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  <p:bldP spid="10" grpId="0" animBg="1"/>
      <p:bldP spid="11" grpId="0" animBg="1"/>
      <p:bldP spid="13" grpId="0"/>
      <p:bldP spid="18" grpId="0"/>
      <p:bldP spid="3" grpId="0"/>
      <p:bldP spid="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831C8B-9CBF-9434-0FED-99B7805D6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TW" dirty="0"/>
              <a:t>Low-Rank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的部分在哪？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(1)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E767E0E-4E2D-572B-4BFD-115FE768F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F4966A0-04AB-660C-B4E1-69E818685232}"/>
              </a:ext>
            </a:extLst>
          </p:cNvPr>
          <p:cNvSpPr txBox="1"/>
          <p:nvPr/>
        </p:nvSpPr>
        <p:spPr>
          <a:xfrm>
            <a:off x="1001087" y="3783764"/>
            <a:ext cx="18730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/>
              <a:t>Reduced row-echelon form</a:t>
            </a:r>
            <a:endParaRPr lang="zh-TW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8EEB28E3-F3D8-B5F2-3E04-74CA47CB89AD}"/>
                  </a:ext>
                </a:extLst>
              </p:cNvPr>
              <p:cNvSpPr txBox="1"/>
              <p:nvPr/>
            </p:nvSpPr>
            <p:spPr>
              <a:xfrm>
                <a:off x="334671" y="2147732"/>
                <a:ext cx="3205886" cy="12317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TW" altLang="en-US" sz="28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8EEB28E3-F3D8-B5F2-3E04-74CA47CB89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71" y="2147732"/>
                <a:ext cx="3205886" cy="1231747"/>
              </a:xfrm>
              <a:prstGeom prst="rect">
                <a:avLst/>
              </a:prstGeom>
              <a:blipFill>
                <a:blip r:embed="rId3"/>
                <a:stretch>
                  <a:fillRect b="-51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文字方塊 26">
            <a:extLst>
              <a:ext uri="{FF2B5EF4-FFF2-40B4-BE49-F238E27FC236}">
                <a16:creationId xmlns:a16="http://schemas.microsoft.com/office/drawing/2014/main" id="{86A8D8B1-0AF5-DD07-389E-57328DA32653}"/>
              </a:ext>
            </a:extLst>
          </p:cNvPr>
          <p:cNvSpPr txBox="1"/>
          <p:nvPr/>
        </p:nvSpPr>
        <p:spPr>
          <a:xfrm>
            <a:off x="4228185" y="2301940"/>
            <a:ext cx="47723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✅ : Linearly-independent vectors</a:t>
            </a:r>
          </a:p>
          <a:p>
            <a:r>
              <a:rPr kumimoji="1" lang="en-US" altLang="zh-TW" sz="2400" dirty="0"/>
              <a:t>rank = 3</a:t>
            </a:r>
            <a:endParaRPr kumimoji="1" lang="zh-TW" altLang="en-US" sz="2400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ABC36B0C-5DC6-D9CF-607F-B8F3A7D6B8FE}"/>
              </a:ext>
            </a:extLst>
          </p:cNvPr>
          <p:cNvSpPr txBox="1"/>
          <p:nvPr/>
        </p:nvSpPr>
        <p:spPr>
          <a:xfrm>
            <a:off x="667774" y="1793789"/>
            <a:ext cx="6163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TW" sz="1800" dirty="0"/>
              <a:t>✅</a:t>
            </a:r>
            <a:endParaRPr lang="zh-TW" altLang="en-US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C50AB2FA-23C0-2E6F-89F6-6F2296A983F6}"/>
              </a:ext>
            </a:extLst>
          </p:cNvPr>
          <p:cNvSpPr txBox="1"/>
          <p:nvPr/>
        </p:nvSpPr>
        <p:spPr>
          <a:xfrm>
            <a:off x="1218242" y="1798167"/>
            <a:ext cx="6163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TW" sz="1800" dirty="0"/>
              <a:t>✅</a:t>
            </a:r>
            <a:endParaRPr lang="zh-TW" altLang="en-US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94123318-CC7B-1F94-B8C6-1A7DDF9C4B78}"/>
              </a:ext>
            </a:extLst>
          </p:cNvPr>
          <p:cNvSpPr txBox="1"/>
          <p:nvPr/>
        </p:nvSpPr>
        <p:spPr>
          <a:xfrm>
            <a:off x="2595247" y="1793789"/>
            <a:ext cx="6163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TW" sz="1800" dirty="0"/>
              <a:t>✅</a:t>
            </a:r>
            <a:endParaRPr lang="zh-TW" altLang="en-US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77077F6-1163-A384-CA75-53F3B7E7959C}"/>
              </a:ext>
            </a:extLst>
          </p:cNvPr>
          <p:cNvSpPr/>
          <p:nvPr/>
        </p:nvSpPr>
        <p:spPr>
          <a:xfrm>
            <a:off x="844413" y="2163121"/>
            <a:ext cx="260715" cy="12658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E2F9E01-F2CD-63D1-6941-2E2A3AFF6264}"/>
              </a:ext>
            </a:extLst>
          </p:cNvPr>
          <p:cNvSpPr/>
          <p:nvPr/>
        </p:nvSpPr>
        <p:spPr>
          <a:xfrm>
            <a:off x="2737382" y="2163121"/>
            <a:ext cx="274760" cy="12658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4227730-2E07-2065-9583-C747944AF38C}"/>
              </a:ext>
            </a:extLst>
          </p:cNvPr>
          <p:cNvSpPr/>
          <p:nvPr/>
        </p:nvSpPr>
        <p:spPr>
          <a:xfrm>
            <a:off x="1389014" y="2163121"/>
            <a:ext cx="274760" cy="12658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7F9BC7DA-5351-2152-F424-FF2B90BE7436}"/>
              </a:ext>
            </a:extLst>
          </p:cNvPr>
          <p:cNvSpPr txBox="1"/>
          <p:nvPr/>
        </p:nvSpPr>
        <p:spPr>
          <a:xfrm>
            <a:off x="4228185" y="3487033"/>
            <a:ext cx="47723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ea typeface="Microsoft JhengHei" panose="020B0604030504040204" pitchFamily="34" charset="-120"/>
              </a:rPr>
              <a:t>rank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大小最多等於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column vectors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(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或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row vectors)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的數量</a:t>
            </a:r>
          </a:p>
        </p:txBody>
      </p:sp>
    </p:spTree>
    <p:extLst>
      <p:ext uri="{BB962C8B-B14F-4D97-AF65-F5344CB8AC3E}">
        <p14:creationId xmlns:p14="http://schemas.microsoft.com/office/powerpoint/2010/main" val="3053514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32" grpId="0" animBg="1"/>
      <p:bldP spid="34" grpId="0" animBg="1"/>
      <p:bldP spid="3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831C8B-9CBF-9434-0FED-99B7805D6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TW" dirty="0"/>
              <a:t>Low-Rank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的部分在哪？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(2)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E767E0E-4E2D-572B-4BFD-115FE768F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3E661FC-1D97-64AC-2E43-0EF64EEB4EFA}"/>
              </a:ext>
            </a:extLst>
          </p:cNvPr>
          <p:cNvSpPr/>
          <p:nvPr/>
        </p:nvSpPr>
        <p:spPr>
          <a:xfrm>
            <a:off x="860327" y="3273120"/>
            <a:ext cx="2056660" cy="2123242"/>
          </a:xfrm>
          <a:prstGeom prst="rect">
            <a:avLst/>
          </a:prstGeom>
          <a:solidFill>
            <a:srgbClr val="5A9BD5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latin typeface="Times New Roman"/>
                <a:ea typeface="新細明體"/>
                <a:cs typeface="Calibri"/>
              </a:rPr>
              <a:t>Pretrained</a:t>
            </a:r>
          </a:p>
          <a:p>
            <a:pPr algn="ctr"/>
            <a:r>
              <a:rPr lang="zh-TW" altLang="en-US" sz="2400" b="1" dirty="0">
                <a:latin typeface="Times New Roman"/>
                <a:ea typeface="新細明體"/>
                <a:cs typeface="Calibri"/>
              </a:rPr>
              <a:t>Weights</a:t>
            </a:r>
          </a:p>
          <a:p>
            <a:pPr algn="ctr"/>
            <a:endParaRPr lang="zh-TW" altLang="en-US" sz="2400" b="1" dirty="0">
              <a:latin typeface="Times New Roman"/>
              <a:ea typeface="新細明體"/>
              <a:cs typeface="Calibri"/>
            </a:endParaRPr>
          </a:p>
          <a:p>
            <a:pPr algn="ctr"/>
            <a:r>
              <a:rPr lang="zh-TW" altLang="en-US" sz="2400" b="1" dirty="0">
                <a:latin typeface="Times New Roman"/>
                <a:ea typeface="新細明體"/>
                <a:cs typeface="Calibri"/>
              </a:rPr>
              <a:t>W </a:t>
            </a:r>
            <a:r>
              <a:rPr lang="zh-TW" sz="2400" b="1" dirty="0">
                <a:solidFill>
                  <a:schemeClr val="bg1"/>
                </a:solidFill>
                <a:latin typeface="Times New Roman"/>
                <a:ea typeface="新細明體"/>
                <a:cs typeface="Times New Roman"/>
              </a:rPr>
              <a:t>∈</a:t>
            </a:r>
            <a:r>
              <a:rPr lang="zh-TW" altLang="en-US" sz="2400" b="1" dirty="0">
                <a:solidFill>
                  <a:schemeClr val="bg1"/>
                </a:solidFill>
                <a:latin typeface="Times New Roman"/>
                <a:ea typeface="新細明體"/>
                <a:cs typeface="Times New Roman"/>
              </a:rPr>
              <a:t> </a:t>
            </a:r>
            <a:r>
              <a:rPr lang="zh-TW" sz="2400" b="1" dirty="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ℝ</a:t>
            </a:r>
            <a:r>
              <a:rPr lang="en-US" altLang="zh-TW" sz="2400" b="1" baseline="30000" dirty="0" err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dxd</a:t>
            </a:r>
            <a:endParaRPr lang="en-US" altLang="zh-TW" sz="2400" b="1" baseline="30000" dirty="0">
              <a:solidFill>
                <a:schemeClr val="bg1"/>
              </a:solidFill>
              <a:latin typeface="Times New Roman"/>
              <a:ea typeface="新細明體"/>
              <a:cs typeface="Calibri"/>
            </a:endParaRPr>
          </a:p>
        </p:txBody>
      </p:sp>
      <p:sp>
        <p:nvSpPr>
          <p:cNvPr id="8" name="梯形 3">
            <a:extLst>
              <a:ext uri="{FF2B5EF4-FFF2-40B4-BE49-F238E27FC236}">
                <a16:creationId xmlns:a16="http://schemas.microsoft.com/office/drawing/2014/main" id="{728331CA-4B15-0EB9-089F-6743CBCD80D3}"/>
              </a:ext>
            </a:extLst>
          </p:cNvPr>
          <p:cNvSpPr/>
          <p:nvPr/>
        </p:nvSpPr>
        <p:spPr>
          <a:xfrm rot="10800000">
            <a:off x="3312782" y="3273119"/>
            <a:ext cx="1908699" cy="813786"/>
          </a:xfrm>
          <a:prstGeom prst="trapezoid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ea typeface="新細明體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梯形 5">
                <a:extLst>
                  <a:ext uri="{FF2B5EF4-FFF2-40B4-BE49-F238E27FC236}">
                    <a16:creationId xmlns:a16="http://schemas.microsoft.com/office/drawing/2014/main" id="{5CA52514-A4A8-5188-6839-96FC77FFE34B}"/>
                  </a:ext>
                </a:extLst>
              </p:cNvPr>
              <p:cNvSpPr/>
              <p:nvPr/>
            </p:nvSpPr>
            <p:spPr>
              <a:xfrm>
                <a:off x="3312781" y="4582576"/>
                <a:ext cx="1908699" cy="813786"/>
              </a:xfrm>
              <a:prstGeom prst="trapezoid">
                <a:avLst/>
              </a:prstGeom>
              <a:solidFill>
                <a:srgbClr val="FFC000"/>
              </a:solidFill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altLang="zh-TW" sz="2400" b="1" dirty="0">
                    <a:solidFill>
                      <a:schemeClr val="bg1"/>
                    </a:solidFill>
                    <a:latin typeface="Times New Roman"/>
                    <a:ea typeface="新細明體"/>
                    <a:cs typeface="Times New Roman"/>
                  </a:rPr>
                  <a:t>A = </a:t>
                </a:r>
                <a14:m>
                  <m:oMath xmlns:m="http://schemas.openxmlformats.org/officeDocument/2006/math">
                    <m:r>
                      <a:rPr lang="en-US" altLang="zh-TW" sz="2400" i="1" smtClean="0">
                        <a:latin typeface="Cambria Math" panose="02040503050406030204" pitchFamily="18" charset="0"/>
                      </a:rPr>
                      <m:t>𝒩</m:t>
                    </m:r>
                  </m:oMath>
                </a14:m>
                <a:r>
                  <a:rPr lang="en-US" altLang="zh-TW" sz="2400" b="1" dirty="0">
                    <a:solidFill>
                      <a:schemeClr val="bg1"/>
                    </a:solidFill>
                    <a:latin typeface="Times New Roman"/>
                    <a:ea typeface="新細明體"/>
                    <a:cs typeface="Times New Roman"/>
                  </a:rPr>
                  <a:t>(0,</a:t>
                </a:r>
                <a:r>
                  <a:rPr lang="en-US" sz="2400" dirty="0">
                    <a:solidFill>
                      <a:schemeClr val="bg1"/>
                    </a:solidFill>
                    <a:latin typeface="Times New Roman"/>
                    <a:ea typeface="+mn-lt"/>
                    <a:cs typeface="+mn-lt"/>
                  </a:rPr>
                  <a:t>σ</a:t>
                </a:r>
                <a:r>
                  <a:rPr lang="en-US" sz="2400" baseline="30000" dirty="0">
                    <a:solidFill>
                      <a:schemeClr val="bg1"/>
                    </a:solidFill>
                    <a:latin typeface="Times New Roman"/>
                    <a:ea typeface="+mn-lt"/>
                    <a:cs typeface="+mn-lt"/>
                  </a:rPr>
                  <a:t>2</a:t>
                </a:r>
                <a:r>
                  <a:rPr lang="en-US" altLang="zh-TW" sz="2400" b="1" dirty="0">
                    <a:solidFill>
                      <a:schemeClr val="bg1"/>
                    </a:solidFill>
                    <a:latin typeface="Times New Roman"/>
                    <a:ea typeface="新細明體"/>
                    <a:cs typeface="Times New Roman"/>
                  </a:rPr>
                  <a:t>)</a:t>
                </a:r>
                <a:endParaRPr lang="zh-TW" sz="2400" dirty="0">
                  <a:solidFill>
                    <a:schemeClr val="bg1"/>
                  </a:solidFill>
                  <a:latin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9" name="梯形 5">
                <a:extLst>
                  <a:ext uri="{FF2B5EF4-FFF2-40B4-BE49-F238E27FC236}">
                    <a16:creationId xmlns:a16="http://schemas.microsoft.com/office/drawing/2014/main" id="{5CA52514-A4A8-5188-6839-96FC77FFE3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2781" y="4582576"/>
                <a:ext cx="1908699" cy="813786"/>
              </a:xfrm>
              <a:prstGeom prst="trapezoid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>
            <a:extLst>
              <a:ext uri="{FF2B5EF4-FFF2-40B4-BE49-F238E27FC236}">
                <a16:creationId xmlns:a16="http://schemas.microsoft.com/office/drawing/2014/main" id="{74B8DC8C-6237-A880-8B90-276DB65A5771}"/>
              </a:ext>
            </a:extLst>
          </p:cNvPr>
          <p:cNvSpPr/>
          <p:nvPr/>
        </p:nvSpPr>
        <p:spPr>
          <a:xfrm>
            <a:off x="1947841" y="6058489"/>
            <a:ext cx="2374777" cy="273728"/>
          </a:xfrm>
          <a:prstGeom prst="rect">
            <a:avLst/>
          </a:prstGeom>
          <a:solidFill>
            <a:srgbClr val="C1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0CB6867-9EAE-0392-AC76-9D8B5E4C228A}"/>
              </a:ext>
            </a:extLst>
          </p:cNvPr>
          <p:cNvSpPr/>
          <p:nvPr/>
        </p:nvSpPr>
        <p:spPr>
          <a:xfrm>
            <a:off x="1955239" y="2403848"/>
            <a:ext cx="2374777" cy="273728"/>
          </a:xfrm>
          <a:prstGeom prst="rect">
            <a:avLst/>
          </a:prstGeom>
          <a:solidFill>
            <a:srgbClr val="C1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2CE0987-ACCC-1747-05DC-B2224B88BC77}"/>
              </a:ext>
            </a:extLst>
          </p:cNvPr>
          <p:cNvSpPr txBox="1"/>
          <p:nvPr/>
        </p:nvSpPr>
        <p:spPr>
          <a:xfrm>
            <a:off x="3616103" y="3446974"/>
            <a:ext cx="130057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400" b="1" dirty="0">
                <a:solidFill>
                  <a:srgbClr val="FFFFFF"/>
                </a:solidFill>
                <a:latin typeface="Times New Roman"/>
                <a:ea typeface="新細明體"/>
                <a:cs typeface="Times New Roman"/>
              </a:rPr>
              <a:t>B = 0</a:t>
            </a:r>
            <a:endParaRPr lang="zh-TW" sz="2400" dirty="0">
              <a:latin typeface="Times New Roman"/>
              <a:cs typeface="Times New Roman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B1E225A-2E3C-2C94-3B10-94621C6D7B88}"/>
              </a:ext>
            </a:extLst>
          </p:cNvPr>
          <p:cNvSpPr txBox="1"/>
          <p:nvPr/>
        </p:nvSpPr>
        <p:spPr>
          <a:xfrm>
            <a:off x="1504698" y="5996346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i="1" dirty="0">
                <a:latin typeface="Times New Roman"/>
                <a:ea typeface="新細明體"/>
                <a:cs typeface="Times New Roman"/>
              </a:rPr>
              <a:t>x</a:t>
            </a:r>
            <a:endParaRPr lang="zh-TW" i="1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9DD41502-16F0-F49C-7A44-F72AC7C32FE7}"/>
              </a:ext>
            </a:extLst>
          </p:cNvPr>
          <p:cNvSpPr txBox="1"/>
          <p:nvPr/>
        </p:nvSpPr>
        <p:spPr>
          <a:xfrm>
            <a:off x="2917725" y="6291309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d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C0E0E7F-AFC0-5A03-8399-BFA8A3E62FA6}"/>
              </a:ext>
            </a:extLst>
          </p:cNvPr>
          <p:cNvSpPr txBox="1"/>
          <p:nvPr/>
        </p:nvSpPr>
        <p:spPr>
          <a:xfrm>
            <a:off x="1504698" y="2341705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h</a:t>
            </a:r>
            <a:endParaRPr lang="zh-TW" dirty="0"/>
          </a:p>
        </p:txBody>
      </p:sp>
      <p:sp>
        <p:nvSpPr>
          <p:cNvPr id="16" name="箭號: 向右 19">
            <a:extLst>
              <a:ext uri="{FF2B5EF4-FFF2-40B4-BE49-F238E27FC236}">
                <a16:creationId xmlns:a16="http://schemas.microsoft.com/office/drawing/2014/main" id="{FB278068-1126-BE55-2A99-F0839F94C1B8}"/>
              </a:ext>
            </a:extLst>
          </p:cNvPr>
          <p:cNvSpPr/>
          <p:nvPr/>
        </p:nvSpPr>
        <p:spPr>
          <a:xfrm rot="14640000">
            <a:off x="2055224" y="5554550"/>
            <a:ext cx="584446" cy="28112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箭號: 向右 20">
            <a:extLst>
              <a:ext uri="{FF2B5EF4-FFF2-40B4-BE49-F238E27FC236}">
                <a16:creationId xmlns:a16="http://schemas.microsoft.com/office/drawing/2014/main" id="{C14D613E-845B-D6FE-02E3-D3F7BA6250C6}"/>
              </a:ext>
            </a:extLst>
          </p:cNvPr>
          <p:cNvSpPr/>
          <p:nvPr/>
        </p:nvSpPr>
        <p:spPr>
          <a:xfrm rot="-4140000">
            <a:off x="3727184" y="5554550"/>
            <a:ext cx="584446" cy="28112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箭號: 向右 21">
            <a:extLst>
              <a:ext uri="{FF2B5EF4-FFF2-40B4-BE49-F238E27FC236}">
                <a16:creationId xmlns:a16="http://schemas.microsoft.com/office/drawing/2014/main" id="{C0DAF17B-D29A-2C6E-6359-BBAC51A8F7DA}"/>
              </a:ext>
            </a:extLst>
          </p:cNvPr>
          <p:cNvSpPr/>
          <p:nvPr/>
        </p:nvSpPr>
        <p:spPr>
          <a:xfrm rot="19260000">
            <a:off x="1855475" y="2832064"/>
            <a:ext cx="584446" cy="28112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箭號: 向右 22">
            <a:extLst>
              <a:ext uri="{FF2B5EF4-FFF2-40B4-BE49-F238E27FC236}">
                <a16:creationId xmlns:a16="http://schemas.microsoft.com/office/drawing/2014/main" id="{C913FE6D-A4D6-C9C7-0B59-806F5EB0870F}"/>
              </a:ext>
            </a:extLst>
          </p:cNvPr>
          <p:cNvSpPr/>
          <p:nvPr/>
        </p:nvSpPr>
        <p:spPr>
          <a:xfrm rot="13440000">
            <a:off x="3978718" y="2839462"/>
            <a:ext cx="584446" cy="28112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08C467D-6C48-10EF-6CF1-36915ADBED09}"/>
              </a:ext>
            </a:extLst>
          </p:cNvPr>
          <p:cNvSpPr txBox="1"/>
          <p:nvPr/>
        </p:nvSpPr>
        <p:spPr>
          <a:xfrm>
            <a:off x="4034834" y="4183821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r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E16A8FFA-C91D-E473-4CED-503E87E652ED}"/>
              </a:ext>
            </a:extLst>
          </p:cNvPr>
          <p:cNvSpPr txBox="1"/>
          <p:nvPr/>
        </p:nvSpPr>
        <p:spPr>
          <a:xfrm>
            <a:off x="4457438" y="2741581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α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9822D5CE-70E8-59D5-E458-A76B59569C14}"/>
              </a:ext>
            </a:extLst>
          </p:cNvPr>
          <p:cNvSpPr txBox="1"/>
          <p:nvPr/>
        </p:nvSpPr>
        <p:spPr>
          <a:xfrm>
            <a:off x="2601887" y="1665843"/>
            <a:ext cx="1125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sz="2400" b="1" dirty="0" err="1"/>
              <a:t>LoRA</a:t>
            </a:r>
            <a:endParaRPr kumimoji="1" lang="zh-TW" altLang="en-US" sz="2400" b="1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D640B710-D718-EF47-C1CB-11A4F4CA1D26}"/>
              </a:ext>
            </a:extLst>
          </p:cNvPr>
          <p:cNvSpPr txBox="1"/>
          <p:nvPr/>
        </p:nvSpPr>
        <p:spPr>
          <a:xfrm>
            <a:off x="5377282" y="3493140"/>
            <a:ext cx="7187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800" b="1" dirty="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ℝ</a:t>
            </a:r>
            <a:r>
              <a:rPr lang="en-US" altLang="zh-TW" sz="1800" b="1" baseline="30000" dirty="0" err="1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r×</a:t>
            </a:r>
            <a:r>
              <a:rPr lang="en-US" altLang="zh-TW" b="1" baseline="30000" dirty="0" err="1">
                <a:latin typeface="Times New Roman"/>
                <a:ea typeface="+mn-lt"/>
                <a:cs typeface="+mn-lt"/>
              </a:rPr>
              <a:t>d</a:t>
            </a:r>
            <a:endParaRPr lang="zh-TW" altLang="en-US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7ED122E3-F4DE-A637-6E36-98C6549B4C7A}"/>
              </a:ext>
            </a:extLst>
          </p:cNvPr>
          <p:cNvSpPr txBox="1"/>
          <p:nvPr/>
        </p:nvSpPr>
        <p:spPr>
          <a:xfrm>
            <a:off x="5377282" y="4804803"/>
            <a:ext cx="7187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800" b="1" dirty="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ℝ</a:t>
            </a:r>
            <a:r>
              <a:rPr lang="en-US" altLang="zh-TW" sz="1800" b="1" baseline="30000" dirty="0" err="1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d×</a:t>
            </a:r>
            <a:r>
              <a:rPr lang="en-US" altLang="zh-TW" b="1" baseline="30000" dirty="0" err="1">
                <a:latin typeface="Times New Roman"/>
                <a:ea typeface="+mn-lt"/>
                <a:cs typeface="+mn-lt"/>
              </a:rPr>
              <a:t>r</a:t>
            </a:r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FB66DB0-92ED-9595-F661-252AC299EA79}"/>
              </a:ext>
            </a:extLst>
          </p:cNvPr>
          <p:cNvSpPr txBox="1"/>
          <p:nvPr/>
        </p:nvSpPr>
        <p:spPr>
          <a:xfrm>
            <a:off x="6496587" y="4573970"/>
            <a:ext cx="47723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ea typeface="Microsoft JhengHei" panose="020B0604030504040204" pitchFamily="34" charset="-120"/>
              </a:rPr>
              <a:t>d &gt; r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的情況下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(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通常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d&gt;&gt; r)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，</a:t>
            </a:r>
            <a:r>
              <a:rPr kumimoji="1" lang="en-US" altLang="zh-TW" sz="2400" b="1" dirty="0">
                <a:ea typeface="Microsoft JhengHei" panose="020B0604030504040204" pitchFamily="34" charset="-120"/>
              </a:rPr>
              <a:t>A </a:t>
            </a:r>
            <a:r>
              <a:rPr kumimoji="1" lang="zh-TW" altLang="en-US" sz="2400" b="1" dirty="0">
                <a:ea typeface="Microsoft JhengHei" panose="020B0604030504040204" pitchFamily="34" charset="-120"/>
              </a:rPr>
              <a:t>或 </a:t>
            </a:r>
            <a:r>
              <a:rPr kumimoji="1" lang="en-US" altLang="zh-TW" sz="2400" b="1" dirty="0">
                <a:ea typeface="Microsoft JhengHei" panose="020B0604030504040204" pitchFamily="34" charset="-120"/>
              </a:rPr>
              <a:t>B</a:t>
            </a:r>
            <a:r>
              <a:rPr kumimoji="1" lang="zh-TW" altLang="en-US" sz="2400" b="1" dirty="0">
                <a:ea typeface="Microsoft JhengHei" panose="020B0604030504040204" pitchFamily="34" charset="-120"/>
              </a:rPr>
              <a:t> 的</a:t>
            </a:r>
            <a:r>
              <a:rPr kumimoji="1" lang="en-US" altLang="zh-TW" sz="2400" b="1" dirty="0">
                <a:ea typeface="Microsoft JhengHei" panose="020B0604030504040204" pitchFamily="34" charset="-120"/>
              </a:rPr>
              <a:t> rank </a:t>
            </a:r>
            <a:r>
              <a:rPr kumimoji="1" lang="zh-TW" altLang="en-US" sz="2400" b="1" dirty="0">
                <a:ea typeface="Microsoft JhengHei" panose="020B0604030504040204" pitchFamily="34" charset="-120"/>
              </a:rPr>
              <a:t>通常遠小於</a:t>
            </a:r>
            <a:r>
              <a:rPr kumimoji="1" lang="en-US" altLang="zh-TW" sz="2400" b="1" dirty="0">
                <a:ea typeface="Microsoft JhengHei" panose="020B0604030504040204" pitchFamily="34" charset="-120"/>
              </a:rPr>
              <a:t> W</a:t>
            </a:r>
            <a:r>
              <a:rPr kumimoji="1" lang="zh-TW" altLang="en-US" sz="2400" b="1" dirty="0">
                <a:ea typeface="Microsoft JhengHei" panose="020B0604030504040204" pitchFamily="34" charset="-120"/>
              </a:rPr>
              <a:t> 的 </a:t>
            </a:r>
            <a:r>
              <a:rPr kumimoji="1" lang="en-US" altLang="zh-TW" sz="2400" b="1" dirty="0">
                <a:ea typeface="Microsoft JhengHei" panose="020B0604030504040204" pitchFamily="34" charset="-120"/>
              </a:rPr>
              <a:t>rank</a:t>
            </a:r>
          </a:p>
          <a:p>
            <a:r>
              <a:rPr kumimoji="1" lang="zh-TW" altLang="en-US" sz="2400" dirty="0">
                <a:ea typeface="Microsoft JhengHei" panose="020B0604030504040204" pitchFamily="34" charset="-120"/>
              </a:rPr>
              <a:t>故為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low-rank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的由來</a:t>
            </a:r>
          </a:p>
        </p:txBody>
      </p:sp>
    </p:spTree>
    <p:extLst>
      <p:ext uri="{BB962C8B-B14F-4D97-AF65-F5344CB8AC3E}">
        <p14:creationId xmlns:p14="http://schemas.microsoft.com/office/powerpoint/2010/main" val="811245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E9A13-34B5-3EA1-9A2A-02C57C0C6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F8EE4F-7F24-9B98-6D4E-50EDD8D72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4400" dirty="0" err="1">
                <a:ea typeface="+mj-lt"/>
                <a:cs typeface="Times New Roman"/>
              </a:rPr>
              <a:t>LoRA</a:t>
            </a:r>
            <a:r>
              <a:rPr lang="en-US" altLang="zh-TW" sz="4400" dirty="0">
                <a:ea typeface="+mj-lt"/>
                <a:cs typeface="Times New Roman"/>
              </a:rPr>
              <a:t>: </a:t>
            </a:r>
            <a:r>
              <a:rPr lang="en-US" altLang="zh-TW" sz="4400" b="1" dirty="0">
                <a:solidFill>
                  <a:srgbClr val="FF0000"/>
                </a:solidFill>
                <a:ea typeface="+mj-lt"/>
                <a:cs typeface="Times New Roman"/>
              </a:rPr>
              <a:t>Lo</a:t>
            </a:r>
            <a:r>
              <a:rPr lang="en-US" altLang="zh-TW" sz="4400" dirty="0">
                <a:ea typeface="+mj-lt"/>
                <a:cs typeface="Times New Roman"/>
              </a:rPr>
              <a:t>w-</a:t>
            </a:r>
            <a:r>
              <a:rPr lang="en-US" altLang="zh-TW" sz="4400" b="1" dirty="0">
                <a:solidFill>
                  <a:srgbClr val="FF0000"/>
                </a:solidFill>
                <a:ea typeface="+mj-lt"/>
                <a:cs typeface="Times New Roman"/>
              </a:rPr>
              <a:t>R</a:t>
            </a:r>
            <a:r>
              <a:rPr lang="en-US" altLang="zh-TW" sz="4400" dirty="0">
                <a:ea typeface="+mj-lt"/>
                <a:cs typeface="Times New Roman"/>
              </a:rPr>
              <a:t>ank </a:t>
            </a:r>
            <a:r>
              <a:rPr lang="en-US" altLang="zh-TW" sz="4400" b="1" dirty="0">
                <a:solidFill>
                  <a:srgbClr val="FF0000"/>
                </a:solidFill>
                <a:ea typeface="+mj-lt"/>
                <a:cs typeface="Times New Roman"/>
              </a:rPr>
              <a:t>A</a:t>
            </a:r>
            <a:r>
              <a:rPr lang="en-US" altLang="zh-TW" sz="4400" dirty="0">
                <a:ea typeface="+mj-lt"/>
                <a:cs typeface="Times New Roman"/>
              </a:rPr>
              <a:t>daptation (w / pseudo code)</a:t>
            </a:r>
            <a:endParaRPr lang="en-US" altLang="zh-TW" sz="4400" dirty="0">
              <a:latin typeface="Times New Roman"/>
              <a:ea typeface="+mj-lt"/>
              <a:cs typeface="Times New Roman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BC23A01-3E2E-1B70-B021-4E6D2B09C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>
                <a:latin typeface="Times New Roman"/>
                <a:cs typeface="Times New Roman"/>
              </a:rPr>
              <a:t>40</a:t>
            </a:fld>
            <a:endParaRPr lang="zh-TW" altLang="en-US">
              <a:latin typeface="Times New Roman"/>
              <a:cs typeface="Times New Roman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86E91577-3397-1AB5-5CD4-F087A504747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47" t="1689" r="715" b="-637"/>
          <a:stretch/>
        </p:blipFill>
        <p:spPr>
          <a:xfrm>
            <a:off x="975788" y="2375806"/>
            <a:ext cx="5080653" cy="3712529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2D9F6D6B-28ED-F86D-F7FC-A4F43373C1A5}"/>
              </a:ext>
            </a:extLst>
          </p:cNvPr>
          <p:cNvSpPr txBox="1"/>
          <p:nvPr/>
        </p:nvSpPr>
        <p:spPr>
          <a:xfrm>
            <a:off x="925194" y="1854355"/>
            <a:ext cx="15621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1200"/>
              </a:spcAft>
            </a:pPr>
            <a:r>
              <a:rPr lang="en-US" altLang="zh-TW" sz="1800" b="0" i="0" u="none" strike="noStrike" dirty="0">
                <a:effectLst/>
                <a:cs typeface="Times New Roman"/>
              </a:rPr>
              <a:t>Pseudocode:</a:t>
            </a:r>
            <a:endParaRPr lang="en-US" altLang="zh-TW" b="0" dirty="0">
              <a:effectLst/>
              <a:cs typeface="Times New Roman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7709D75-AEA7-8B99-11E7-B03EE37F255B}"/>
              </a:ext>
            </a:extLst>
          </p:cNvPr>
          <p:cNvSpPr/>
          <p:nvPr/>
        </p:nvSpPr>
        <p:spPr>
          <a:xfrm>
            <a:off x="6728534" y="3036903"/>
            <a:ext cx="2056660" cy="2123242"/>
          </a:xfrm>
          <a:prstGeom prst="rect">
            <a:avLst/>
          </a:prstGeom>
          <a:solidFill>
            <a:srgbClr val="5A9B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>
                <a:latin typeface="Times New Roman"/>
                <a:ea typeface="新細明體"/>
                <a:cs typeface="Calibri"/>
              </a:rPr>
              <a:t>Pretrained</a:t>
            </a:r>
            <a:endParaRPr lang="zh-TW" altLang="en-US" sz="2400" b="1" dirty="0">
              <a:latin typeface="Times New Roman"/>
              <a:ea typeface="新細明體"/>
              <a:cs typeface="Calibri"/>
            </a:endParaRPr>
          </a:p>
          <a:p>
            <a:pPr algn="ctr"/>
            <a:r>
              <a:rPr lang="zh-TW" altLang="en-US" sz="2400" b="1">
                <a:latin typeface="Times New Roman"/>
                <a:ea typeface="新細明體"/>
                <a:cs typeface="Calibri"/>
              </a:rPr>
              <a:t>Weights</a:t>
            </a:r>
            <a:endParaRPr lang="zh-TW" altLang="en-US" sz="2400" b="1" dirty="0">
              <a:latin typeface="Times New Roman"/>
              <a:ea typeface="新細明體"/>
              <a:cs typeface="Calibri"/>
            </a:endParaRPr>
          </a:p>
          <a:p>
            <a:pPr algn="ctr"/>
            <a:endParaRPr lang="zh-TW" altLang="en-US" sz="2400" b="1" dirty="0">
              <a:latin typeface="Times New Roman"/>
              <a:ea typeface="新細明體"/>
              <a:cs typeface="Calibri"/>
            </a:endParaRPr>
          </a:p>
          <a:p>
            <a:pPr algn="ctr"/>
            <a:r>
              <a:rPr lang="zh-TW" altLang="en-US" sz="2400" b="1">
                <a:latin typeface="Times New Roman"/>
                <a:ea typeface="新細明體"/>
                <a:cs typeface="Calibri"/>
              </a:rPr>
              <a:t>W </a:t>
            </a:r>
            <a:r>
              <a:rPr lang="zh-TW" sz="2400" b="1">
                <a:solidFill>
                  <a:schemeClr val="bg1"/>
                </a:solidFill>
                <a:latin typeface="Times New Roman"/>
                <a:ea typeface="新細明體"/>
                <a:cs typeface="Times New Roman"/>
              </a:rPr>
              <a:t>∈</a:t>
            </a:r>
            <a:r>
              <a:rPr lang="zh-TW" altLang="en-US" sz="2400" b="1" dirty="0">
                <a:solidFill>
                  <a:schemeClr val="bg1"/>
                </a:solidFill>
                <a:latin typeface="Times New Roman"/>
                <a:ea typeface="新細明體"/>
                <a:cs typeface="Times New Roman"/>
              </a:rPr>
              <a:t> </a:t>
            </a:r>
            <a:r>
              <a:rPr lang="zh-TW" sz="2400" b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ℝ</a:t>
            </a:r>
            <a:r>
              <a:rPr lang="en-US" altLang="zh-TW" sz="2400" b="1" baseline="30000" err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dxd</a:t>
            </a:r>
            <a:endParaRPr lang="en-US" altLang="zh-TW" sz="2400" b="1" baseline="30000" err="1">
              <a:solidFill>
                <a:schemeClr val="bg1"/>
              </a:solidFill>
              <a:latin typeface="Times New Roman"/>
              <a:ea typeface="新細明體"/>
              <a:cs typeface="Calibri"/>
            </a:endParaRPr>
          </a:p>
        </p:txBody>
      </p:sp>
      <p:sp>
        <p:nvSpPr>
          <p:cNvPr id="4" name="梯形 3">
            <a:extLst>
              <a:ext uri="{FF2B5EF4-FFF2-40B4-BE49-F238E27FC236}">
                <a16:creationId xmlns:a16="http://schemas.microsoft.com/office/drawing/2014/main" id="{1FA20901-FDF9-CC23-E9C2-A4EEE3F87382}"/>
              </a:ext>
            </a:extLst>
          </p:cNvPr>
          <p:cNvSpPr/>
          <p:nvPr/>
        </p:nvSpPr>
        <p:spPr>
          <a:xfrm rot="10800000">
            <a:off x="9180989" y="3036902"/>
            <a:ext cx="1908699" cy="813786"/>
          </a:xfrm>
          <a:prstGeom prst="trapezoid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ea typeface="新細明體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梯形 5">
                <a:extLst>
                  <a:ext uri="{FF2B5EF4-FFF2-40B4-BE49-F238E27FC236}">
                    <a16:creationId xmlns:a16="http://schemas.microsoft.com/office/drawing/2014/main" id="{5F82C3E9-C3A2-FE36-025A-F774F9329F40}"/>
                  </a:ext>
                </a:extLst>
              </p:cNvPr>
              <p:cNvSpPr/>
              <p:nvPr/>
            </p:nvSpPr>
            <p:spPr>
              <a:xfrm>
                <a:off x="9180988" y="4346359"/>
                <a:ext cx="1908699" cy="813786"/>
              </a:xfrm>
              <a:prstGeom prst="trapezoid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altLang="zh-TW" sz="2400" b="1" dirty="0">
                    <a:solidFill>
                      <a:schemeClr val="bg1"/>
                    </a:solidFill>
                    <a:latin typeface="Times New Roman"/>
                    <a:ea typeface="新細明體"/>
                    <a:cs typeface="Times New Roman"/>
                  </a:rPr>
                  <a:t>A = </a:t>
                </a:r>
                <a14:m>
                  <m:oMath xmlns:m="http://schemas.openxmlformats.org/officeDocument/2006/math">
                    <m:r>
                      <a:rPr lang="en-US" altLang="zh-TW" sz="2400" i="1" smtClean="0">
                        <a:latin typeface="Cambria Math" panose="02040503050406030204" pitchFamily="18" charset="0"/>
                      </a:rPr>
                      <m:t>𝒩</m:t>
                    </m:r>
                  </m:oMath>
                </a14:m>
                <a:r>
                  <a:rPr lang="en-US" altLang="zh-TW" sz="2400" b="1" dirty="0">
                    <a:solidFill>
                      <a:schemeClr val="bg1"/>
                    </a:solidFill>
                    <a:latin typeface="Times New Roman"/>
                    <a:ea typeface="新細明體"/>
                    <a:cs typeface="Times New Roman"/>
                  </a:rPr>
                  <a:t>(0,</a:t>
                </a:r>
                <a:r>
                  <a:rPr lang="en-US" altLang="zh-TW" sz="2400" dirty="0">
                    <a:solidFill>
                      <a:schemeClr val="bg1"/>
                    </a:solidFill>
                    <a:latin typeface="Times New Roman"/>
                    <a:ea typeface="+mn-lt"/>
                    <a:cs typeface="+mn-lt"/>
                  </a:rPr>
                  <a:t>σ</a:t>
                </a:r>
                <a:r>
                  <a:rPr lang="en-US" altLang="zh-TW" sz="2400" baseline="30000" dirty="0">
                    <a:solidFill>
                      <a:schemeClr val="bg1"/>
                    </a:solidFill>
                    <a:latin typeface="Times New Roman"/>
                    <a:ea typeface="+mn-lt"/>
                    <a:cs typeface="+mn-lt"/>
                  </a:rPr>
                  <a:t>2</a:t>
                </a:r>
                <a:r>
                  <a:rPr lang="en-US" altLang="zh-TW" sz="2400" b="1" dirty="0">
                    <a:solidFill>
                      <a:schemeClr val="bg1"/>
                    </a:solidFill>
                    <a:latin typeface="Times New Roman"/>
                    <a:ea typeface="新細明體"/>
                    <a:cs typeface="Times New Roman"/>
                  </a:rPr>
                  <a:t>)</a:t>
                </a:r>
                <a:endParaRPr lang="zh-TW" altLang="zh-TW" sz="2400" dirty="0">
                  <a:solidFill>
                    <a:schemeClr val="bg1"/>
                  </a:solidFill>
                  <a:latin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6" name="梯形 5">
                <a:extLst>
                  <a:ext uri="{FF2B5EF4-FFF2-40B4-BE49-F238E27FC236}">
                    <a16:creationId xmlns:a16="http://schemas.microsoft.com/office/drawing/2014/main" id="{5F82C3E9-C3A2-FE36-025A-F774F9329F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0988" y="4346359"/>
                <a:ext cx="1908699" cy="813786"/>
              </a:xfrm>
              <a:prstGeom prst="trapezoid">
                <a:avLst/>
              </a:prstGeom>
              <a:blipFill>
                <a:blip r:embed="rId4"/>
                <a:stretch>
                  <a:fillRect l="-6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>
            <a:extLst>
              <a:ext uri="{FF2B5EF4-FFF2-40B4-BE49-F238E27FC236}">
                <a16:creationId xmlns:a16="http://schemas.microsoft.com/office/drawing/2014/main" id="{AF647EE7-61CC-E17B-9276-B1017D95704A}"/>
              </a:ext>
            </a:extLst>
          </p:cNvPr>
          <p:cNvSpPr/>
          <p:nvPr/>
        </p:nvSpPr>
        <p:spPr>
          <a:xfrm>
            <a:off x="7816048" y="5822272"/>
            <a:ext cx="2374777" cy="273728"/>
          </a:xfrm>
          <a:prstGeom prst="rect">
            <a:avLst/>
          </a:prstGeom>
          <a:solidFill>
            <a:srgbClr val="C1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A1ACEA3-B17D-D03F-D38F-465F8F0C7A02}"/>
              </a:ext>
            </a:extLst>
          </p:cNvPr>
          <p:cNvSpPr/>
          <p:nvPr/>
        </p:nvSpPr>
        <p:spPr>
          <a:xfrm>
            <a:off x="7823446" y="2167631"/>
            <a:ext cx="2374777" cy="273728"/>
          </a:xfrm>
          <a:prstGeom prst="rect">
            <a:avLst/>
          </a:prstGeom>
          <a:solidFill>
            <a:srgbClr val="C1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6CA84FC7-307B-83C1-727B-073BB9C70E67}"/>
              </a:ext>
            </a:extLst>
          </p:cNvPr>
          <p:cNvSpPr txBox="1"/>
          <p:nvPr/>
        </p:nvSpPr>
        <p:spPr>
          <a:xfrm>
            <a:off x="9484310" y="3210757"/>
            <a:ext cx="130057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400" b="1" dirty="0">
                <a:solidFill>
                  <a:srgbClr val="FFFFFF"/>
                </a:solidFill>
                <a:latin typeface="Times New Roman"/>
                <a:ea typeface="新細明體"/>
                <a:cs typeface="Times New Roman"/>
              </a:rPr>
              <a:t>B = 0</a:t>
            </a:r>
            <a:endParaRPr lang="zh-TW" sz="2400" dirty="0">
              <a:latin typeface="Times New Roman"/>
              <a:cs typeface="Times New Roman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EA77DFEC-4F05-AAA0-709D-878BF2168C86}"/>
              </a:ext>
            </a:extLst>
          </p:cNvPr>
          <p:cNvSpPr txBox="1"/>
          <p:nvPr/>
        </p:nvSpPr>
        <p:spPr>
          <a:xfrm>
            <a:off x="7372905" y="5760129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x</a:t>
            </a:r>
            <a:endParaRPr lang="zh-TW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E40C2C0-90D6-E7F7-190E-38C73225F2E0}"/>
              </a:ext>
            </a:extLst>
          </p:cNvPr>
          <p:cNvSpPr txBox="1"/>
          <p:nvPr/>
        </p:nvSpPr>
        <p:spPr>
          <a:xfrm>
            <a:off x="8785934" y="5419818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d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FA684136-688D-FA57-B605-497B048A1DD9}"/>
              </a:ext>
            </a:extLst>
          </p:cNvPr>
          <p:cNvSpPr txBox="1"/>
          <p:nvPr/>
        </p:nvSpPr>
        <p:spPr>
          <a:xfrm>
            <a:off x="7372905" y="2105488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h</a:t>
            </a:r>
            <a:endParaRPr lang="zh-TW" dirty="0"/>
          </a:p>
        </p:txBody>
      </p:sp>
      <p:sp>
        <p:nvSpPr>
          <p:cNvPr id="20" name="箭號: 向右 19">
            <a:extLst>
              <a:ext uri="{FF2B5EF4-FFF2-40B4-BE49-F238E27FC236}">
                <a16:creationId xmlns:a16="http://schemas.microsoft.com/office/drawing/2014/main" id="{10F91241-30AA-318E-0525-26247FCD56CA}"/>
              </a:ext>
            </a:extLst>
          </p:cNvPr>
          <p:cNvSpPr/>
          <p:nvPr/>
        </p:nvSpPr>
        <p:spPr>
          <a:xfrm rot="14640000">
            <a:off x="7923431" y="5318333"/>
            <a:ext cx="584446" cy="28112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箭號: 向右 20">
            <a:extLst>
              <a:ext uri="{FF2B5EF4-FFF2-40B4-BE49-F238E27FC236}">
                <a16:creationId xmlns:a16="http://schemas.microsoft.com/office/drawing/2014/main" id="{B98272A3-3BCE-D9DD-B31A-8A5F3E254BA2}"/>
              </a:ext>
            </a:extLst>
          </p:cNvPr>
          <p:cNvSpPr/>
          <p:nvPr/>
        </p:nvSpPr>
        <p:spPr>
          <a:xfrm rot="-4140000">
            <a:off x="9595391" y="5318333"/>
            <a:ext cx="584446" cy="28112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箭號: 向右 21">
            <a:extLst>
              <a:ext uri="{FF2B5EF4-FFF2-40B4-BE49-F238E27FC236}">
                <a16:creationId xmlns:a16="http://schemas.microsoft.com/office/drawing/2014/main" id="{8D442355-C060-4FAC-1C8E-DCB98C1DA921}"/>
              </a:ext>
            </a:extLst>
          </p:cNvPr>
          <p:cNvSpPr/>
          <p:nvPr/>
        </p:nvSpPr>
        <p:spPr>
          <a:xfrm rot="19260000">
            <a:off x="7723682" y="2595847"/>
            <a:ext cx="584446" cy="28112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箭號: 向右 22">
            <a:extLst>
              <a:ext uri="{FF2B5EF4-FFF2-40B4-BE49-F238E27FC236}">
                <a16:creationId xmlns:a16="http://schemas.microsoft.com/office/drawing/2014/main" id="{D878430A-C355-CF15-9535-6E936FE02858}"/>
              </a:ext>
            </a:extLst>
          </p:cNvPr>
          <p:cNvSpPr/>
          <p:nvPr/>
        </p:nvSpPr>
        <p:spPr>
          <a:xfrm rot="13440000">
            <a:off x="9846925" y="2603245"/>
            <a:ext cx="584446" cy="28112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FE987CD1-FFC8-FFCA-15BD-86C65E1F43B5}"/>
              </a:ext>
            </a:extLst>
          </p:cNvPr>
          <p:cNvSpPr txBox="1"/>
          <p:nvPr/>
        </p:nvSpPr>
        <p:spPr>
          <a:xfrm>
            <a:off x="9903041" y="3947604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r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29F53248-81BB-2959-39C0-DA64CB5D6AEA}"/>
              </a:ext>
            </a:extLst>
          </p:cNvPr>
          <p:cNvSpPr txBox="1"/>
          <p:nvPr/>
        </p:nvSpPr>
        <p:spPr>
          <a:xfrm>
            <a:off x="10325645" y="2505364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α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2B48075D-6955-A861-4FF5-21AC98DF7254}"/>
              </a:ext>
            </a:extLst>
          </p:cNvPr>
          <p:cNvSpPr txBox="1"/>
          <p:nvPr/>
        </p:nvSpPr>
        <p:spPr>
          <a:xfrm>
            <a:off x="1" y="6441225"/>
            <a:ext cx="12191999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dirty="0">
                <a:solidFill>
                  <a:srgbClr val="222222"/>
                </a:solidFill>
                <a:ea typeface="新細明體"/>
                <a:cs typeface="Arial"/>
              </a:rPr>
              <a:t>Hu, Edward J., et al. "LoRA: Low-Rank Adaptation of Large Language Models." </a:t>
            </a:r>
            <a:r>
              <a:rPr lang="en-US" sz="1000" i="1" dirty="0">
                <a:solidFill>
                  <a:srgbClr val="222222"/>
                </a:solidFill>
                <a:ea typeface="新細明體"/>
                <a:cs typeface="Arial"/>
              </a:rPr>
              <a:t>International Conference on Learning Representations</a:t>
            </a:r>
            <a:r>
              <a:rPr lang="en-US" sz="1000" dirty="0">
                <a:solidFill>
                  <a:srgbClr val="222222"/>
                </a:solidFill>
                <a:ea typeface="新細明體"/>
                <a:cs typeface="Arial"/>
              </a:rPr>
              <a:t>. 2021.</a:t>
            </a:r>
            <a:endParaRPr lang="zh-TW" sz="1000" dirty="0">
              <a:ea typeface="新細明體"/>
              <a:cs typeface="Times New Roman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78283E3-0E64-948C-5326-AF1E419DFAE0}"/>
              </a:ext>
            </a:extLst>
          </p:cNvPr>
          <p:cNvSpPr/>
          <p:nvPr/>
        </p:nvSpPr>
        <p:spPr>
          <a:xfrm>
            <a:off x="975788" y="2355024"/>
            <a:ext cx="4687257" cy="5712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45C7A52A-353F-E72C-4B18-7CF510314EB1}"/>
              </a:ext>
            </a:extLst>
          </p:cNvPr>
          <p:cNvSpPr/>
          <p:nvPr/>
        </p:nvSpPr>
        <p:spPr>
          <a:xfrm>
            <a:off x="7358815" y="2065504"/>
            <a:ext cx="477982" cy="47798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E6787027-EC60-9311-0A34-13C3FD508983}"/>
              </a:ext>
            </a:extLst>
          </p:cNvPr>
          <p:cNvSpPr/>
          <p:nvPr/>
        </p:nvSpPr>
        <p:spPr>
          <a:xfrm>
            <a:off x="10306906" y="2466428"/>
            <a:ext cx="477982" cy="47798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7164C726-4647-350E-51D9-A308ACBFA5ED}"/>
              </a:ext>
            </a:extLst>
          </p:cNvPr>
          <p:cNvSpPr/>
          <p:nvPr/>
        </p:nvSpPr>
        <p:spPr>
          <a:xfrm>
            <a:off x="9887614" y="3907991"/>
            <a:ext cx="477982" cy="47798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AA4B481D-52BB-5E1D-4FB4-33252D5E8F01}"/>
              </a:ext>
            </a:extLst>
          </p:cNvPr>
          <p:cNvSpPr/>
          <p:nvPr/>
        </p:nvSpPr>
        <p:spPr>
          <a:xfrm>
            <a:off x="8785194" y="5379795"/>
            <a:ext cx="477982" cy="47798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BC7AFDB-AC4C-C76D-AF03-646500F4B289}"/>
              </a:ext>
            </a:extLst>
          </p:cNvPr>
          <p:cNvSpPr/>
          <p:nvPr/>
        </p:nvSpPr>
        <p:spPr>
          <a:xfrm>
            <a:off x="3059538" y="5745298"/>
            <a:ext cx="494153" cy="1775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8EBD509-644B-8538-151F-51927B9AB903}"/>
              </a:ext>
            </a:extLst>
          </p:cNvPr>
          <p:cNvSpPr/>
          <p:nvPr/>
        </p:nvSpPr>
        <p:spPr>
          <a:xfrm>
            <a:off x="975788" y="4221679"/>
            <a:ext cx="3544257" cy="3607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8BBE001-DA49-3AED-F207-0745E2F6AC7D}"/>
              </a:ext>
            </a:extLst>
          </p:cNvPr>
          <p:cNvSpPr/>
          <p:nvPr/>
        </p:nvSpPr>
        <p:spPr>
          <a:xfrm>
            <a:off x="9205933" y="2918611"/>
            <a:ext cx="1857331" cy="23878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5A40613-76C1-A145-4A48-3A120FC27829}"/>
              </a:ext>
            </a:extLst>
          </p:cNvPr>
          <p:cNvSpPr/>
          <p:nvPr/>
        </p:nvSpPr>
        <p:spPr>
          <a:xfrm>
            <a:off x="950425" y="4724117"/>
            <a:ext cx="4596540" cy="1385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62714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9" grpId="0" animBg="1"/>
      <p:bldP spid="9" grpId="1" animBg="1"/>
      <p:bldP spid="19" grpId="0" animBg="1"/>
      <p:bldP spid="19" grpId="1" animBg="1"/>
      <p:bldP spid="24" grpId="0" animBg="1"/>
      <p:bldP spid="24" grpId="1" animBg="1"/>
      <p:bldP spid="25" grpId="0" animBg="1"/>
      <p:bldP spid="25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47A937-A148-4B4B-2BD5-251D0D8BD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[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注意事項</a:t>
            </a:r>
            <a:r>
              <a:rPr kumimoji="1" lang="en" altLang="zh-TW" dirty="0"/>
              <a:t>]</a:t>
            </a:r>
            <a:r>
              <a:rPr kumimoji="1" lang="zh-TW" altLang="en-US" dirty="0"/>
              <a:t> </a:t>
            </a:r>
            <a:r>
              <a:rPr kumimoji="1" lang="en" altLang="zh-TW" dirty="0" err="1"/>
              <a:t>LoRA</a:t>
            </a:r>
            <a:r>
              <a:rPr kumimoji="1" lang="zh-TW" altLang="en-US" dirty="0"/>
              <a:t>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的問題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5657673-3BB8-78C7-1B98-43A7BBFFC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0FDE128-8451-8DE1-4F5A-D02B890B7D2D}"/>
              </a:ext>
            </a:extLst>
          </p:cNvPr>
          <p:cNvSpPr/>
          <p:nvPr/>
        </p:nvSpPr>
        <p:spPr>
          <a:xfrm>
            <a:off x="6728534" y="3036903"/>
            <a:ext cx="2056660" cy="2123242"/>
          </a:xfrm>
          <a:prstGeom prst="rect">
            <a:avLst/>
          </a:prstGeom>
          <a:solidFill>
            <a:srgbClr val="5A9B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latin typeface="Times New Roman"/>
                <a:ea typeface="新細明體"/>
                <a:cs typeface="Calibri"/>
              </a:rPr>
              <a:t>Pretrained</a:t>
            </a:r>
          </a:p>
          <a:p>
            <a:pPr algn="ctr"/>
            <a:r>
              <a:rPr lang="zh-TW" altLang="en-US" sz="2400" b="1" dirty="0">
                <a:latin typeface="Times New Roman"/>
                <a:ea typeface="新細明體"/>
                <a:cs typeface="Calibri"/>
              </a:rPr>
              <a:t>Weights</a:t>
            </a:r>
          </a:p>
          <a:p>
            <a:pPr algn="ctr"/>
            <a:endParaRPr lang="zh-TW" altLang="en-US" sz="2400" b="1" dirty="0">
              <a:latin typeface="Times New Roman"/>
              <a:ea typeface="新細明體"/>
              <a:cs typeface="Calibri"/>
            </a:endParaRPr>
          </a:p>
          <a:p>
            <a:pPr algn="ctr"/>
            <a:r>
              <a:rPr lang="zh-TW" altLang="en-US" sz="2400" b="1" dirty="0">
                <a:latin typeface="Times New Roman"/>
                <a:ea typeface="新細明體"/>
                <a:cs typeface="Calibri"/>
              </a:rPr>
              <a:t>W </a:t>
            </a:r>
            <a:r>
              <a:rPr lang="zh-TW" sz="2400" b="1" dirty="0">
                <a:solidFill>
                  <a:schemeClr val="bg1"/>
                </a:solidFill>
                <a:latin typeface="Times New Roman"/>
                <a:ea typeface="新細明體"/>
                <a:cs typeface="Times New Roman"/>
              </a:rPr>
              <a:t>∈</a:t>
            </a:r>
            <a:r>
              <a:rPr lang="zh-TW" altLang="en-US" sz="2400" b="1" dirty="0">
                <a:solidFill>
                  <a:schemeClr val="bg1"/>
                </a:solidFill>
                <a:latin typeface="Times New Roman"/>
                <a:ea typeface="新細明體"/>
                <a:cs typeface="Times New Roman"/>
              </a:rPr>
              <a:t> </a:t>
            </a:r>
            <a:r>
              <a:rPr lang="zh-TW" sz="2400" b="1" dirty="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ℝ</a:t>
            </a:r>
            <a:r>
              <a:rPr lang="en-US" altLang="zh-TW" sz="2400" b="1" baseline="30000" dirty="0" err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dxd</a:t>
            </a:r>
            <a:endParaRPr lang="en-US" altLang="zh-TW" sz="2400" b="1" baseline="30000" dirty="0">
              <a:solidFill>
                <a:schemeClr val="bg1"/>
              </a:solidFill>
              <a:latin typeface="Times New Roman"/>
              <a:ea typeface="新細明體"/>
              <a:cs typeface="Calibri"/>
            </a:endParaRPr>
          </a:p>
        </p:txBody>
      </p:sp>
      <p:sp>
        <p:nvSpPr>
          <p:cNvPr id="21" name="梯形 3">
            <a:extLst>
              <a:ext uri="{FF2B5EF4-FFF2-40B4-BE49-F238E27FC236}">
                <a16:creationId xmlns:a16="http://schemas.microsoft.com/office/drawing/2014/main" id="{E7A96AF0-8EFD-A0A3-44ED-0B4D7D454CEA}"/>
              </a:ext>
            </a:extLst>
          </p:cNvPr>
          <p:cNvSpPr/>
          <p:nvPr/>
        </p:nvSpPr>
        <p:spPr>
          <a:xfrm rot="10800000">
            <a:off x="9180989" y="3036902"/>
            <a:ext cx="1908699" cy="813786"/>
          </a:xfrm>
          <a:prstGeom prst="trapezoid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ea typeface="新細明體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梯形 5">
                <a:extLst>
                  <a:ext uri="{FF2B5EF4-FFF2-40B4-BE49-F238E27FC236}">
                    <a16:creationId xmlns:a16="http://schemas.microsoft.com/office/drawing/2014/main" id="{05DD19F8-36A7-1BF4-7F39-2DD17E123852}"/>
                  </a:ext>
                </a:extLst>
              </p:cNvPr>
              <p:cNvSpPr/>
              <p:nvPr/>
            </p:nvSpPr>
            <p:spPr>
              <a:xfrm>
                <a:off x="9180988" y="4346359"/>
                <a:ext cx="1908699" cy="813786"/>
              </a:xfrm>
              <a:prstGeom prst="trapezoid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altLang="zh-TW" sz="2400" b="1" dirty="0">
                    <a:solidFill>
                      <a:schemeClr val="bg1"/>
                    </a:solidFill>
                    <a:latin typeface="Times New Roman"/>
                    <a:ea typeface="新細明體"/>
                    <a:cs typeface="Times New Roman"/>
                  </a:rPr>
                  <a:t>A = </a:t>
                </a:r>
                <a14:m>
                  <m:oMath xmlns:m="http://schemas.openxmlformats.org/officeDocument/2006/math">
                    <m:r>
                      <a:rPr lang="en-US" altLang="zh-TW" sz="2400" i="1" smtClean="0">
                        <a:latin typeface="Cambria Math" panose="02040503050406030204" pitchFamily="18" charset="0"/>
                      </a:rPr>
                      <m:t>𝒩</m:t>
                    </m:r>
                  </m:oMath>
                </a14:m>
                <a:r>
                  <a:rPr lang="en-US" altLang="zh-TW" sz="2400" b="1" dirty="0">
                    <a:solidFill>
                      <a:schemeClr val="bg1"/>
                    </a:solidFill>
                    <a:latin typeface="Times New Roman"/>
                    <a:ea typeface="新細明體"/>
                    <a:cs typeface="Times New Roman"/>
                  </a:rPr>
                  <a:t>(0,</a:t>
                </a:r>
                <a:r>
                  <a:rPr lang="en-US" altLang="zh-TW" sz="2400" dirty="0">
                    <a:solidFill>
                      <a:schemeClr val="bg1"/>
                    </a:solidFill>
                    <a:latin typeface="Times New Roman"/>
                    <a:ea typeface="+mn-lt"/>
                    <a:cs typeface="+mn-lt"/>
                  </a:rPr>
                  <a:t>σ</a:t>
                </a:r>
                <a:r>
                  <a:rPr lang="en-US" altLang="zh-TW" sz="2400" baseline="30000" dirty="0">
                    <a:solidFill>
                      <a:schemeClr val="bg1"/>
                    </a:solidFill>
                    <a:latin typeface="Times New Roman"/>
                    <a:ea typeface="+mn-lt"/>
                    <a:cs typeface="+mn-lt"/>
                  </a:rPr>
                  <a:t>2</a:t>
                </a:r>
                <a:r>
                  <a:rPr lang="en-US" altLang="zh-TW" sz="2400" b="1" dirty="0">
                    <a:solidFill>
                      <a:schemeClr val="bg1"/>
                    </a:solidFill>
                    <a:latin typeface="Times New Roman"/>
                    <a:ea typeface="新細明體"/>
                    <a:cs typeface="Times New Roman"/>
                  </a:rPr>
                  <a:t>)</a:t>
                </a:r>
                <a:endParaRPr lang="zh-TW" altLang="zh-TW" sz="2400" dirty="0">
                  <a:solidFill>
                    <a:schemeClr val="bg1"/>
                  </a:solidFill>
                  <a:latin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22" name="梯形 5">
                <a:extLst>
                  <a:ext uri="{FF2B5EF4-FFF2-40B4-BE49-F238E27FC236}">
                    <a16:creationId xmlns:a16="http://schemas.microsoft.com/office/drawing/2014/main" id="{05DD19F8-36A7-1BF4-7F39-2DD17E1238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0988" y="4346359"/>
                <a:ext cx="1908699" cy="813786"/>
              </a:xfrm>
              <a:prstGeom prst="trapezoid">
                <a:avLst/>
              </a:prstGeom>
              <a:blipFill>
                <a:blip r:embed="rId2"/>
                <a:stretch>
                  <a:fillRect l="-6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矩形 22">
            <a:extLst>
              <a:ext uri="{FF2B5EF4-FFF2-40B4-BE49-F238E27FC236}">
                <a16:creationId xmlns:a16="http://schemas.microsoft.com/office/drawing/2014/main" id="{65F177DA-EE05-2E17-1864-B71F32ED4706}"/>
              </a:ext>
            </a:extLst>
          </p:cNvPr>
          <p:cNvSpPr/>
          <p:nvPr/>
        </p:nvSpPr>
        <p:spPr>
          <a:xfrm>
            <a:off x="7816048" y="5822272"/>
            <a:ext cx="2374777" cy="273728"/>
          </a:xfrm>
          <a:prstGeom prst="rect">
            <a:avLst/>
          </a:prstGeom>
          <a:solidFill>
            <a:srgbClr val="C1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3EB6F16-8C24-3E2D-319A-0B888BC7B211}"/>
              </a:ext>
            </a:extLst>
          </p:cNvPr>
          <p:cNvSpPr/>
          <p:nvPr/>
        </p:nvSpPr>
        <p:spPr>
          <a:xfrm>
            <a:off x="7823446" y="2167631"/>
            <a:ext cx="2374777" cy="273728"/>
          </a:xfrm>
          <a:prstGeom prst="rect">
            <a:avLst/>
          </a:prstGeom>
          <a:solidFill>
            <a:srgbClr val="C1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F2B437B7-E5D1-2CB4-3947-6812B0BD18A1}"/>
              </a:ext>
            </a:extLst>
          </p:cNvPr>
          <p:cNvSpPr txBox="1"/>
          <p:nvPr/>
        </p:nvSpPr>
        <p:spPr>
          <a:xfrm>
            <a:off x="9484310" y="3210757"/>
            <a:ext cx="130057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400" b="1" dirty="0">
                <a:solidFill>
                  <a:srgbClr val="FFFFFF"/>
                </a:solidFill>
                <a:latin typeface="Times New Roman"/>
                <a:ea typeface="新細明體"/>
                <a:cs typeface="Times New Roman"/>
              </a:rPr>
              <a:t>B = 0</a:t>
            </a:r>
            <a:endParaRPr lang="zh-TW" sz="2400" dirty="0">
              <a:latin typeface="Times New Roman"/>
              <a:cs typeface="Times New Roman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8BAF5A9C-80C2-144E-55E7-2023A14B3FB2}"/>
              </a:ext>
            </a:extLst>
          </p:cNvPr>
          <p:cNvSpPr txBox="1"/>
          <p:nvPr/>
        </p:nvSpPr>
        <p:spPr>
          <a:xfrm>
            <a:off x="7372905" y="5760129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x</a:t>
            </a:r>
            <a:endParaRPr lang="zh-TW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AC93BEED-7F88-2F6B-3172-8E020E0D99A0}"/>
              </a:ext>
            </a:extLst>
          </p:cNvPr>
          <p:cNvSpPr txBox="1"/>
          <p:nvPr/>
        </p:nvSpPr>
        <p:spPr>
          <a:xfrm>
            <a:off x="8785934" y="5419818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d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CEC8607A-4CB7-1C8E-F02F-1FDC1D208BDD}"/>
              </a:ext>
            </a:extLst>
          </p:cNvPr>
          <p:cNvSpPr txBox="1"/>
          <p:nvPr/>
        </p:nvSpPr>
        <p:spPr>
          <a:xfrm>
            <a:off x="7372905" y="2105488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h</a:t>
            </a:r>
            <a:endParaRPr lang="zh-TW" dirty="0"/>
          </a:p>
        </p:txBody>
      </p:sp>
      <p:sp>
        <p:nvSpPr>
          <p:cNvPr id="29" name="箭號: 向右 19">
            <a:extLst>
              <a:ext uri="{FF2B5EF4-FFF2-40B4-BE49-F238E27FC236}">
                <a16:creationId xmlns:a16="http://schemas.microsoft.com/office/drawing/2014/main" id="{0820B71C-523C-C97E-C5D5-55AC61C21283}"/>
              </a:ext>
            </a:extLst>
          </p:cNvPr>
          <p:cNvSpPr/>
          <p:nvPr/>
        </p:nvSpPr>
        <p:spPr>
          <a:xfrm rot="14640000">
            <a:off x="7923431" y="5318333"/>
            <a:ext cx="584446" cy="28112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箭號: 向右 20">
            <a:extLst>
              <a:ext uri="{FF2B5EF4-FFF2-40B4-BE49-F238E27FC236}">
                <a16:creationId xmlns:a16="http://schemas.microsoft.com/office/drawing/2014/main" id="{24D0D390-59AA-0A1C-51FB-AABFBDFA8E53}"/>
              </a:ext>
            </a:extLst>
          </p:cNvPr>
          <p:cNvSpPr/>
          <p:nvPr/>
        </p:nvSpPr>
        <p:spPr>
          <a:xfrm rot="-4140000">
            <a:off x="9595391" y="5318333"/>
            <a:ext cx="584446" cy="28112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箭號: 向右 21">
            <a:extLst>
              <a:ext uri="{FF2B5EF4-FFF2-40B4-BE49-F238E27FC236}">
                <a16:creationId xmlns:a16="http://schemas.microsoft.com/office/drawing/2014/main" id="{85246D8A-ACFF-379C-FE2C-32A27EC946D2}"/>
              </a:ext>
            </a:extLst>
          </p:cNvPr>
          <p:cNvSpPr/>
          <p:nvPr/>
        </p:nvSpPr>
        <p:spPr>
          <a:xfrm rot="19260000">
            <a:off x="7723682" y="2595847"/>
            <a:ext cx="584446" cy="28112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箭號: 向右 22">
            <a:extLst>
              <a:ext uri="{FF2B5EF4-FFF2-40B4-BE49-F238E27FC236}">
                <a16:creationId xmlns:a16="http://schemas.microsoft.com/office/drawing/2014/main" id="{8677DB02-BAAD-2C17-CA49-7BF4FFBE52D9}"/>
              </a:ext>
            </a:extLst>
          </p:cNvPr>
          <p:cNvSpPr/>
          <p:nvPr/>
        </p:nvSpPr>
        <p:spPr>
          <a:xfrm rot="13440000">
            <a:off x="9846925" y="2603245"/>
            <a:ext cx="584446" cy="28112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432A46B0-1F00-A498-43F7-1A55F6E4411D}"/>
              </a:ext>
            </a:extLst>
          </p:cNvPr>
          <p:cNvSpPr txBox="1"/>
          <p:nvPr/>
        </p:nvSpPr>
        <p:spPr>
          <a:xfrm>
            <a:off x="9903041" y="3947604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r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620EE637-C6E3-67CB-B220-8BC70260560C}"/>
              </a:ext>
            </a:extLst>
          </p:cNvPr>
          <p:cNvSpPr txBox="1"/>
          <p:nvPr/>
        </p:nvSpPr>
        <p:spPr>
          <a:xfrm>
            <a:off x="10325645" y="2505364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α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0B9169B0-A03A-1307-4290-6DE6061A543F}"/>
              </a:ext>
            </a:extLst>
          </p:cNvPr>
          <p:cNvSpPr txBox="1"/>
          <p:nvPr/>
        </p:nvSpPr>
        <p:spPr>
          <a:xfrm>
            <a:off x="716808" y="2032822"/>
            <a:ext cx="5483705" cy="2248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r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的數值大小需要手動調整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r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 越小，訓練參數量越少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相較於原本沒有 </a:t>
            </a:r>
            <a:r>
              <a:rPr kumimoji="1" lang="en-US" altLang="zh-TW" sz="2400" dirty="0" err="1">
                <a:ea typeface="Microsoft JhengHei" panose="020B0604030504040204" pitchFamily="34" charset="-120"/>
              </a:rPr>
              <a:t>LoRA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 的模型，</a:t>
            </a:r>
            <a:r>
              <a:rPr kumimoji="1" lang="en-US" altLang="zh-TW" sz="2400" dirty="0" err="1">
                <a:ea typeface="Microsoft JhengHei" panose="020B0604030504040204" pitchFamily="34" charset="-120"/>
              </a:rPr>
              <a:t>LoRA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 </a:t>
            </a:r>
            <a:r>
              <a:rPr kumimoji="1" lang="zh-TW" altLang="en-US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其實會讓 </a:t>
            </a:r>
            <a:r>
              <a:rPr kumimoji="1" lang="en-US" altLang="zh-TW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inference</a:t>
            </a:r>
            <a:r>
              <a:rPr kumimoji="1" lang="zh-TW" altLang="en-US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 速度變慢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3D3A88C-49D1-CD87-D0C3-7F2F165CC505}"/>
              </a:ext>
            </a:extLst>
          </p:cNvPr>
          <p:cNvSpPr/>
          <p:nvPr/>
        </p:nvSpPr>
        <p:spPr>
          <a:xfrm>
            <a:off x="8997967" y="2469092"/>
            <a:ext cx="2261704" cy="288648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18392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/>
      <p:bldP spid="26" grpId="0"/>
      <p:bldP spid="27" grpId="0"/>
      <p:bldP spid="28" grpId="0"/>
      <p:bldP spid="29" grpId="0" animBg="1"/>
      <p:bldP spid="30" grpId="0" animBg="1"/>
      <p:bldP spid="31" grpId="0" animBg="1"/>
      <p:bldP spid="32" grpId="0" animBg="1"/>
      <p:bldP spid="33" grpId="0"/>
      <p:bldP spid="34" grpId="0"/>
      <p:bldP spid="3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D021B0-D006-D86B-E975-3D24A7B6F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可不可以不要外加</a:t>
            </a:r>
            <a:r>
              <a:rPr kumimoji="1" lang="zh-TW" altLang="en-US" dirty="0">
                <a:ea typeface="Microsoft JhengHei" panose="020B0604030504040204" pitchFamily="34" charset="-120"/>
              </a:rPr>
              <a:t>？</a:t>
            </a:r>
            <a:r>
              <a:rPr kumimoji="1" lang="en-US" altLang="zh-TW" dirty="0">
                <a:ea typeface="Microsoft JhengHei" panose="020B0604030504040204" pitchFamily="34" charset="-120"/>
              </a:rPr>
              <a:t>(Adapter </a:t>
            </a:r>
            <a:r>
              <a:rPr kumimoji="1" lang="zh-TW" altLang="en-US" dirty="0">
                <a:ea typeface="Microsoft JhengHei" panose="020B0604030504040204" pitchFamily="34" charset="-120"/>
              </a:rPr>
              <a:t>作法</a:t>
            </a:r>
            <a:r>
              <a:rPr kumimoji="1" lang="en-US" altLang="zh-TW" dirty="0">
                <a:ea typeface="Microsoft JhengHei" panose="020B0604030504040204" pitchFamily="34" charset="-120"/>
              </a:rPr>
              <a:t>)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936C60-2030-A470-B84B-1A48B48CC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3848F99-23CC-E76F-6D65-6CB225AFA533}"/>
              </a:ext>
            </a:extLst>
          </p:cNvPr>
          <p:cNvSpPr/>
          <p:nvPr/>
        </p:nvSpPr>
        <p:spPr>
          <a:xfrm>
            <a:off x="1861560" y="3230803"/>
            <a:ext cx="2056660" cy="2123242"/>
          </a:xfrm>
          <a:prstGeom prst="rect">
            <a:avLst/>
          </a:prstGeom>
          <a:solidFill>
            <a:srgbClr val="5A9B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TW" sz="2400" b="1" baseline="30000" dirty="0">
              <a:solidFill>
                <a:schemeClr val="bg1"/>
              </a:solidFill>
              <a:latin typeface="Times New Roman"/>
              <a:ea typeface="新細明體"/>
              <a:cs typeface="Calibri"/>
            </a:endParaRPr>
          </a:p>
        </p:txBody>
      </p:sp>
      <p:sp>
        <p:nvSpPr>
          <p:cNvPr id="6" name="梯形 3">
            <a:extLst>
              <a:ext uri="{FF2B5EF4-FFF2-40B4-BE49-F238E27FC236}">
                <a16:creationId xmlns:a16="http://schemas.microsoft.com/office/drawing/2014/main" id="{B0F1EF30-CFA1-A96C-3C8A-25D9261AA800}"/>
              </a:ext>
            </a:extLst>
          </p:cNvPr>
          <p:cNvSpPr/>
          <p:nvPr/>
        </p:nvSpPr>
        <p:spPr>
          <a:xfrm rot="10800000">
            <a:off x="2144670" y="3420491"/>
            <a:ext cx="1503573" cy="641058"/>
          </a:xfrm>
          <a:prstGeom prst="trapezoid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ea typeface="新細明體"/>
              <a:cs typeface="Calibri"/>
            </a:endParaRPr>
          </a:p>
        </p:txBody>
      </p:sp>
      <p:sp>
        <p:nvSpPr>
          <p:cNvPr id="7" name="梯形 5">
            <a:extLst>
              <a:ext uri="{FF2B5EF4-FFF2-40B4-BE49-F238E27FC236}">
                <a16:creationId xmlns:a16="http://schemas.microsoft.com/office/drawing/2014/main" id="{4DBC2F14-6969-330D-B29F-E9BA9C8A4DA2}"/>
              </a:ext>
            </a:extLst>
          </p:cNvPr>
          <p:cNvSpPr/>
          <p:nvPr/>
        </p:nvSpPr>
        <p:spPr>
          <a:xfrm>
            <a:off x="2138103" y="4376849"/>
            <a:ext cx="1503574" cy="711968"/>
          </a:xfrm>
          <a:prstGeom prst="trapezoid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TW" sz="2400" b="1" dirty="0">
                <a:solidFill>
                  <a:schemeClr val="bg1"/>
                </a:solidFill>
                <a:latin typeface="Times New Roman"/>
                <a:ea typeface="新細明體"/>
                <a:cs typeface="Times New Roman"/>
              </a:rPr>
              <a:t>A</a:t>
            </a:r>
            <a:endParaRPr lang="zh-TW" altLang="zh-TW" sz="2400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AB8B019-49FA-A8C7-2F93-4AE63CFFBBEE}"/>
              </a:ext>
            </a:extLst>
          </p:cNvPr>
          <p:cNvSpPr/>
          <p:nvPr/>
        </p:nvSpPr>
        <p:spPr>
          <a:xfrm>
            <a:off x="1702502" y="6008125"/>
            <a:ext cx="2374777" cy="273728"/>
          </a:xfrm>
          <a:prstGeom prst="rect">
            <a:avLst/>
          </a:prstGeom>
          <a:solidFill>
            <a:srgbClr val="C1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B56B77C-4360-BF03-4CBA-ADAA59753D74}"/>
              </a:ext>
            </a:extLst>
          </p:cNvPr>
          <p:cNvSpPr/>
          <p:nvPr/>
        </p:nvSpPr>
        <p:spPr>
          <a:xfrm>
            <a:off x="1709900" y="2353484"/>
            <a:ext cx="2374777" cy="273728"/>
          </a:xfrm>
          <a:prstGeom prst="rect">
            <a:avLst/>
          </a:prstGeom>
          <a:solidFill>
            <a:srgbClr val="C1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FCC201B-B8DC-74FD-7CBF-A40D289730F1}"/>
              </a:ext>
            </a:extLst>
          </p:cNvPr>
          <p:cNvSpPr txBox="1"/>
          <p:nvPr/>
        </p:nvSpPr>
        <p:spPr>
          <a:xfrm>
            <a:off x="2246167" y="3491955"/>
            <a:ext cx="130057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400" b="1" dirty="0">
                <a:solidFill>
                  <a:srgbClr val="FFFFFF"/>
                </a:solidFill>
                <a:latin typeface="Times New Roman"/>
                <a:ea typeface="新細明體"/>
                <a:cs typeface="Times New Roman"/>
              </a:rPr>
              <a:t>B</a:t>
            </a:r>
            <a:endParaRPr lang="zh-TW" sz="2400" dirty="0">
              <a:latin typeface="Times New Roman"/>
              <a:cs typeface="Times New Roman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68E4D47-4CDD-0DD7-99C0-552962857DB3}"/>
              </a:ext>
            </a:extLst>
          </p:cNvPr>
          <p:cNvSpPr txBox="1"/>
          <p:nvPr/>
        </p:nvSpPr>
        <p:spPr>
          <a:xfrm>
            <a:off x="1259359" y="5945982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x</a:t>
            </a:r>
            <a:endParaRPr lang="zh-TW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6C77226-3454-9C7D-2745-341AAB10DBBD}"/>
              </a:ext>
            </a:extLst>
          </p:cNvPr>
          <p:cNvSpPr txBox="1"/>
          <p:nvPr/>
        </p:nvSpPr>
        <p:spPr>
          <a:xfrm>
            <a:off x="2664988" y="6276250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d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8F5F79A-1B14-BD64-E851-843026BDEECB}"/>
              </a:ext>
            </a:extLst>
          </p:cNvPr>
          <p:cNvSpPr txBox="1"/>
          <p:nvPr/>
        </p:nvSpPr>
        <p:spPr>
          <a:xfrm>
            <a:off x="1259359" y="2291341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h</a:t>
            </a:r>
            <a:endParaRPr lang="zh-TW" dirty="0"/>
          </a:p>
        </p:txBody>
      </p:sp>
      <p:sp>
        <p:nvSpPr>
          <p:cNvPr id="16" name="箭號: 向右 21">
            <a:extLst>
              <a:ext uri="{FF2B5EF4-FFF2-40B4-BE49-F238E27FC236}">
                <a16:creationId xmlns:a16="http://schemas.microsoft.com/office/drawing/2014/main" id="{E19FF131-2B05-3DF4-4A32-A2B940A0B8FF}"/>
              </a:ext>
            </a:extLst>
          </p:cNvPr>
          <p:cNvSpPr/>
          <p:nvPr/>
        </p:nvSpPr>
        <p:spPr>
          <a:xfrm rot="16200000">
            <a:off x="2697233" y="2746321"/>
            <a:ext cx="400111" cy="28112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箭號: 向右 21">
            <a:extLst>
              <a:ext uri="{FF2B5EF4-FFF2-40B4-BE49-F238E27FC236}">
                <a16:creationId xmlns:a16="http://schemas.microsoft.com/office/drawing/2014/main" id="{FE5CC529-16C4-2A31-EC27-59DDBBDC1E4D}"/>
              </a:ext>
            </a:extLst>
          </p:cNvPr>
          <p:cNvSpPr/>
          <p:nvPr/>
        </p:nvSpPr>
        <p:spPr>
          <a:xfrm rot="16200000">
            <a:off x="2697234" y="5540521"/>
            <a:ext cx="400111" cy="28112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9BFF905E-F16D-619D-0B6B-8E7ADDA34CC8}"/>
              </a:ext>
            </a:extLst>
          </p:cNvPr>
          <p:cNvSpPr txBox="1"/>
          <p:nvPr/>
        </p:nvSpPr>
        <p:spPr>
          <a:xfrm>
            <a:off x="653143" y="1641837"/>
            <a:ext cx="747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b="1" dirty="0"/>
              <a:t>Adapter</a:t>
            </a:r>
            <a:r>
              <a:rPr kumimoji="1" lang="en-US" altLang="zh-TW" dirty="0"/>
              <a:t>: Parameter-Efficient Transfer Learning for NLP. ICML 2019</a:t>
            </a:r>
            <a:endParaRPr kumimoji="1" lang="zh-TW" altLang="en-US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9ED4460E-1396-60D8-39EC-52E793E3B25C}"/>
              </a:ext>
            </a:extLst>
          </p:cNvPr>
          <p:cNvSpPr txBox="1"/>
          <p:nvPr/>
        </p:nvSpPr>
        <p:spPr>
          <a:xfrm>
            <a:off x="288485" y="3969258"/>
            <a:ext cx="14617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Transformer Layer</a:t>
            </a:r>
            <a:endParaRPr kumimoji="1" lang="zh-TW" altLang="en-US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B6FB4447-6FAA-DE8B-FE1E-331BAFB89624}"/>
              </a:ext>
            </a:extLst>
          </p:cNvPr>
          <p:cNvSpPr txBox="1"/>
          <p:nvPr/>
        </p:nvSpPr>
        <p:spPr>
          <a:xfrm>
            <a:off x="5512775" y="2796338"/>
            <a:ext cx="4246685" cy="1889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優點：模型設計更靈活</a:t>
            </a: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缺點：</a:t>
            </a: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直接變更了模型架構 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串聯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kumimoji="1" lang="zh-TW" altLang="en-US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-&gt; 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計算時間比 </a:t>
            </a:r>
            <a:r>
              <a:rPr kumimoji="1" lang="en-US" altLang="zh-TW" sz="2000" dirty="0" err="1">
                <a:ea typeface="Microsoft JhengHei" panose="020B0604030504040204" pitchFamily="34" charset="-120"/>
              </a:rPr>
              <a:t>LoRA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長</a:t>
            </a: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38918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47A937-A148-4B4B-2BD5-251D0D8BD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[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注意事項</a:t>
            </a:r>
            <a:r>
              <a:rPr kumimoji="1" lang="en" altLang="zh-TW" dirty="0"/>
              <a:t>]</a:t>
            </a:r>
            <a:r>
              <a:rPr kumimoji="1" lang="zh-TW" altLang="en-US" dirty="0"/>
              <a:t> </a:t>
            </a:r>
            <a:r>
              <a:rPr kumimoji="1" lang="en" altLang="zh-TW" dirty="0" err="1"/>
              <a:t>LoRA</a:t>
            </a:r>
            <a:r>
              <a:rPr kumimoji="1" lang="zh-TW" altLang="en-US" dirty="0"/>
              <a:t>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的問題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5657673-3BB8-78C7-1B98-43A7BBFFC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0FDE128-8451-8DE1-4F5A-D02B890B7D2D}"/>
              </a:ext>
            </a:extLst>
          </p:cNvPr>
          <p:cNvSpPr/>
          <p:nvPr/>
        </p:nvSpPr>
        <p:spPr>
          <a:xfrm>
            <a:off x="6728534" y="3036903"/>
            <a:ext cx="2056660" cy="2123242"/>
          </a:xfrm>
          <a:prstGeom prst="rect">
            <a:avLst/>
          </a:prstGeom>
          <a:solidFill>
            <a:srgbClr val="5A9B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latin typeface="Times New Roman"/>
                <a:ea typeface="新細明體"/>
                <a:cs typeface="Calibri"/>
              </a:rPr>
              <a:t>Pretrained</a:t>
            </a:r>
          </a:p>
          <a:p>
            <a:pPr algn="ctr"/>
            <a:r>
              <a:rPr lang="zh-TW" altLang="en-US" sz="2400" b="1" dirty="0">
                <a:latin typeface="Times New Roman"/>
                <a:ea typeface="新細明體"/>
                <a:cs typeface="Calibri"/>
              </a:rPr>
              <a:t>Weights</a:t>
            </a:r>
          </a:p>
          <a:p>
            <a:pPr algn="ctr"/>
            <a:endParaRPr lang="zh-TW" altLang="en-US" sz="2400" b="1" dirty="0">
              <a:latin typeface="Times New Roman"/>
              <a:ea typeface="新細明體"/>
              <a:cs typeface="Calibri"/>
            </a:endParaRPr>
          </a:p>
          <a:p>
            <a:pPr algn="ctr"/>
            <a:r>
              <a:rPr lang="zh-TW" altLang="en-US" sz="2400" b="1" dirty="0">
                <a:latin typeface="Times New Roman"/>
                <a:ea typeface="新細明體"/>
                <a:cs typeface="Calibri"/>
              </a:rPr>
              <a:t>W </a:t>
            </a:r>
            <a:r>
              <a:rPr lang="zh-TW" sz="2400" b="1" dirty="0">
                <a:solidFill>
                  <a:schemeClr val="bg1"/>
                </a:solidFill>
                <a:latin typeface="Times New Roman"/>
                <a:ea typeface="新細明體"/>
                <a:cs typeface="Times New Roman"/>
              </a:rPr>
              <a:t>∈</a:t>
            </a:r>
            <a:r>
              <a:rPr lang="zh-TW" altLang="en-US" sz="2400" b="1" dirty="0">
                <a:solidFill>
                  <a:schemeClr val="bg1"/>
                </a:solidFill>
                <a:latin typeface="Times New Roman"/>
                <a:ea typeface="新細明體"/>
                <a:cs typeface="Times New Roman"/>
              </a:rPr>
              <a:t> </a:t>
            </a:r>
            <a:r>
              <a:rPr lang="zh-TW" sz="2400" b="1" dirty="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ℝ</a:t>
            </a:r>
            <a:r>
              <a:rPr lang="en-US" altLang="zh-TW" sz="2400" b="1" baseline="30000" dirty="0" err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dxd</a:t>
            </a:r>
            <a:endParaRPr lang="en-US" altLang="zh-TW" sz="2400" b="1" baseline="30000" dirty="0">
              <a:solidFill>
                <a:schemeClr val="bg1"/>
              </a:solidFill>
              <a:latin typeface="Times New Roman"/>
              <a:ea typeface="新細明體"/>
              <a:cs typeface="Calibri"/>
            </a:endParaRPr>
          </a:p>
        </p:txBody>
      </p:sp>
      <p:sp>
        <p:nvSpPr>
          <p:cNvPr id="21" name="梯形 3">
            <a:extLst>
              <a:ext uri="{FF2B5EF4-FFF2-40B4-BE49-F238E27FC236}">
                <a16:creationId xmlns:a16="http://schemas.microsoft.com/office/drawing/2014/main" id="{E7A96AF0-8EFD-A0A3-44ED-0B4D7D454CEA}"/>
              </a:ext>
            </a:extLst>
          </p:cNvPr>
          <p:cNvSpPr/>
          <p:nvPr/>
        </p:nvSpPr>
        <p:spPr>
          <a:xfrm rot="10800000">
            <a:off x="9180989" y="3036902"/>
            <a:ext cx="1908699" cy="813786"/>
          </a:xfrm>
          <a:prstGeom prst="trapezoid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ea typeface="新細明體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梯形 5">
                <a:extLst>
                  <a:ext uri="{FF2B5EF4-FFF2-40B4-BE49-F238E27FC236}">
                    <a16:creationId xmlns:a16="http://schemas.microsoft.com/office/drawing/2014/main" id="{05DD19F8-36A7-1BF4-7F39-2DD17E123852}"/>
                  </a:ext>
                </a:extLst>
              </p:cNvPr>
              <p:cNvSpPr/>
              <p:nvPr/>
            </p:nvSpPr>
            <p:spPr>
              <a:xfrm>
                <a:off x="9180988" y="4346359"/>
                <a:ext cx="1908699" cy="813786"/>
              </a:xfrm>
              <a:prstGeom prst="trapezoid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altLang="zh-TW" sz="2400" b="1" dirty="0">
                    <a:solidFill>
                      <a:schemeClr val="bg1"/>
                    </a:solidFill>
                    <a:latin typeface="Times New Roman"/>
                    <a:ea typeface="新細明體"/>
                    <a:cs typeface="Times New Roman"/>
                  </a:rPr>
                  <a:t>A = </a:t>
                </a:r>
                <a14:m>
                  <m:oMath xmlns:m="http://schemas.openxmlformats.org/officeDocument/2006/math">
                    <m:r>
                      <a:rPr lang="en-US" altLang="zh-TW" sz="2400" i="1" smtClean="0">
                        <a:latin typeface="Cambria Math" panose="02040503050406030204" pitchFamily="18" charset="0"/>
                      </a:rPr>
                      <m:t>𝒩</m:t>
                    </m:r>
                  </m:oMath>
                </a14:m>
                <a:r>
                  <a:rPr lang="en-US" altLang="zh-TW" sz="2400" b="1" dirty="0">
                    <a:solidFill>
                      <a:schemeClr val="bg1"/>
                    </a:solidFill>
                    <a:latin typeface="Times New Roman"/>
                    <a:ea typeface="新細明體"/>
                    <a:cs typeface="Times New Roman"/>
                  </a:rPr>
                  <a:t>(0,</a:t>
                </a:r>
                <a:r>
                  <a:rPr lang="en-US" altLang="zh-TW" sz="2400" dirty="0">
                    <a:solidFill>
                      <a:schemeClr val="bg1"/>
                    </a:solidFill>
                    <a:latin typeface="Times New Roman"/>
                    <a:ea typeface="+mn-lt"/>
                    <a:cs typeface="+mn-lt"/>
                  </a:rPr>
                  <a:t>σ</a:t>
                </a:r>
                <a:r>
                  <a:rPr lang="en-US" altLang="zh-TW" sz="2400" baseline="30000" dirty="0">
                    <a:solidFill>
                      <a:schemeClr val="bg1"/>
                    </a:solidFill>
                    <a:latin typeface="Times New Roman"/>
                    <a:ea typeface="+mn-lt"/>
                    <a:cs typeface="+mn-lt"/>
                  </a:rPr>
                  <a:t>2</a:t>
                </a:r>
                <a:r>
                  <a:rPr lang="en-US" altLang="zh-TW" sz="2400" b="1" dirty="0">
                    <a:solidFill>
                      <a:schemeClr val="bg1"/>
                    </a:solidFill>
                    <a:latin typeface="Times New Roman"/>
                    <a:ea typeface="新細明體"/>
                    <a:cs typeface="Times New Roman"/>
                  </a:rPr>
                  <a:t>)</a:t>
                </a:r>
                <a:endParaRPr lang="zh-TW" altLang="zh-TW" sz="2400" dirty="0">
                  <a:solidFill>
                    <a:schemeClr val="bg1"/>
                  </a:solidFill>
                  <a:latin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22" name="梯形 5">
                <a:extLst>
                  <a:ext uri="{FF2B5EF4-FFF2-40B4-BE49-F238E27FC236}">
                    <a16:creationId xmlns:a16="http://schemas.microsoft.com/office/drawing/2014/main" id="{05DD19F8-36A7-1BF4-7F39-2DD17E1238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0988" y="4346359"/>
                <a:ext cx="1908699" cy="813786"/>
              </a:xfrm>
              <a:prstGeom prst="trapezoid">
                <a:avLst/>
              </a:prstGeom>
              <a:blipFill>
                <a:blip r:embed="rId2"/>
                <a:stretch>
                  <a:fillRect l="-6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矩形 22">
            <a:extLst>
              <a:ext uri="{FF2B5EF4-FFF2-40B4-BE49-F238E27FC236}">
                <a16:creationId xmlns:a16="http://schemas.microsoft.com/office/drawing/2014/main" id="{65F177DA-EE05-2E17-1864-B71F32ED4706}"/>
              </a:ext>
            </a:extLst>
          </p:cNvPr>
          <p:cNvSpPr/>
          <p:nvPr/>
        </p:nvSpPr>
        <p:spPr>
          <a:xfrm>
            <a:off x="7816048" y="5822272"/>
            <a:ext cx="2374777" cy="273728"/>
          </a:xfrm>
          <a:prstGeom prst="rect">
            <a:avLst/>
          </a:prstGeom>
          <a:solidFill>
            <a:srgbClr val="C1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3EB6F16-8C24-3E2D-319A-0B888BC7B211}"/>
              </a:ext>
            </a:extLst>
          </p:cNvPr>
          <p:cNvSpPr/>
          <p:nvPr/>
        </p:nvSpPr>
        <p:spPr>
          <a:xfrm>
            <a:off x="7823446" y="2167631"/>
            <a:ext cx="2374777" cy="273728"/>
          </a:xfrm>
          <a:prstGeom prst="rect">
            <a:avLst/>
          </a:prstGeom>
          <a:solidFill>
            <a:srgbClr val="C1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F2B437B7-E5D1-2CB4-3947-6812B0BD18A1}"/>
              </a:ext>
            </a:extLst>
          </p:cNvPr>
          <p:cNvSpPr txBox="1"/>
          <p:nvPr/>
        </p:nvSpPr>
        <p:spPr>
          <a:xfrm>
            <a:off x="9484310" y="3210757"/>
            <a:ext cx="130057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400" b="1" dirty="0">
                <a:solidFill>
                  <a:srgbClr val="FFFFFF"/>
                </a:solidFill>
                <a:latin typeface="Times New Roman"/>
                <a:ea typeface="新細明體"/>
                <a:cs typeface="Times New Roman"/>
              </a:rPr>
              <a:t>B = 0</a:t>
            </a:r>
            <a:endParaRPr lang="zh-TW" sz="2400" dirty="0">
              <a:latin typeface="Times New Roman"/>
              <a:cs typeface="Times New Roman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8BAF5A9C-80C2-144E-55E7-2023A14B3FB2}"/>
              </a:ext>
            </a:extLst>
          </p:cNvPr>
          <p:cNvSpPr txBox="1"/>
          <p:nvPr/>
        </p:nvSpPr>
        <p:spPr>
          <a:xfrm>
            <a:off x="7372905" y="5760129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x</a:t>
            </a:r>
            <a:endParaRPr lang="zh-TW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AC93BEED-7F88-2F6B-3172-8E020E0D99A0}"/>
              </a:ext>
            </a:extLst>
          </p:cNvPr>
          <p:cNvSpPr txBox="1"/>
          <p:nvPr/>
        </p:nvSpPr>
        <p:spPr>
          <a:xfrm>
            <a:off x="8785934" y="5419818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d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CEC8607A-4CB7-1C8E-F02F-1FDC1D208BDD}"/>
              </a:ext>
            </a:extLst>
          </p:cNvPr>
          <p:cNvSpPr txBox="1"/>
          <p:nvPr/>
        </p:nvSpPr>
        <p:spPr>
          <a:xfrm>
            <a:off x="7372905" y="2105488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h</a:t>
            </a:r>
            <a:endParaRPr lang="zh-TW" dirty="0"/>
          </a:p>
        </p:txBody>
      </p:sp>
      <p:sp>
        <p:nvSpPr>
          <p:cNvPr id="29" name="箭號: 向右 19">
            <a:extLst>
              <a:ext uri="{FF2B5EF4-FFF2-40B4-BE49-F238E27FC236}">
                <a16:creationId xmlns:a16="http://schemas.microsoft.com/office/drawing/2014/main" id="{0820B71C-523C-C97E-C5D5-55AC61C21283}"/>
              </a:ext>
            </a:extLst>
          </p:cNvPr>
          <p:cNvSpPr/>
          <p:nvPr/>
        </p:nvSpPr>
        <p:spPr>
          <a:xfrm rot="14640000">
            <a:off x="7923431" y="5318333"/>
            <a:ext cx="584446" cy="28112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箭號: 向右 20">
            <a:extLst>
              <a:ext uri="{FF2B5EF4-FFF2-40B4-BE49-F238E27FC236}">
                <a16:creationId xmlns:a16="http://schemas.microsoft.com/office/drawing/2014/main" id="{24D0D390-59AA-0A1C-51FB-AABFBDFA8E53}"/>
              </a:ext>
            </a:extLst>
          </p:cNvPr>
          <p:cNvSpPr/>
          <p:nvPr/>
        </p:nvSpPr>
        <p:spPr>
          <a:xfrm rot="-4140000">
            <a:off x="9595391" y="5318333"/>
            <a:ext cx="584446" cy="28112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箭號: 向右 21">
            <a:extLst>
              <a:ext uri="{FF2B5EF4-FFF2-40B4-BE49-F238E27FC236}">
                <a16:creationId xmlns:a16="http://schemas.microsoft.com/office/drawing/2014/main" id="{85246D8A-ACFF-379C-FE2C-32A27EC946D2}"/>
              </a:ext>
            </a:extLst>
          </p:cNvPr>
          <p:cNvSpPr/>
          <p:nvPr/>
        </p:nvSpPr>
        <p:spPr>
          <a:xfrm rot="19260000">
            <a:off x="7723682" y="2595847"/>
            <a:ext cx="584446" cy="28112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箭號: 向右 22">
            <a:extLst>
              <a:ext uri="{FF2B5EF4-FFF2-40B4-BE49-F238E27FC236}">
                <a16:creationId xmlns:a16="http://schemas.microsoft.com/office/drawing/2014/main" id="{8677DB02-BAAD-2C17-CA49-7BF4FFBE52D9}"/>
              </a:ext>
            </a:extLst>
          </p:cNvPr>
          <p:cNvSpPr/>
          <p:nvPr/>
        </p:nvSpPr>
        <p:spPr>
          <a:xfrm rot="13440000">
            <a:off x="9846925" y="2603245"/>
            <a:ext cx="584446" cy="28112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432A46B0-1F00-A498-43F7-1A55F6E4411D}"/>
              </a:ext>
            </a:extLst>
          </p:cNvPr>
          <p:cNvSpPr txBox="1"/>
          <p:nvPr/>
        </p:nvSpPr>
        <p:spPr>
          <a:xfrm>
            <a:off x="9903041" y="3947604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r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620EE637-C6E3-67CB-B220-8BC70260560C}"/>
              </a:ext>
            </a:extLst>
          </p:cNvPr>
          <p:cNvSpPr txBox="1"/>
          <p:nvPr/>
        </p:nvSpPr>
        <p:spPr>
          <a:xfrm>
            <a:off x="10325645" y="2505364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α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0B9169B0-A03A-1307-4290-6DE6061A543F}"/>
              </a:ext>
            </a:extLst>
          </p:cNvPr>
          <p:cNvSpPr txBox="1"/>
          <p:nvPr/>
        </p:nvSpPr>
        <p:spPr>
          <a:xfrm>
            <a:off x="716808" y="2032822"/>
            <a:ext cx="5084547" cy="3356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solidFill>
                  <a:schemeClr val="bg1">
                    <a:lumMod val="65000"/>
                  </a:schemeClr>
                </a:solidFill>
                <a:ea typeface="Microsoft JhengHei" panose="020B0604030504040204" pitchFamily="34" charset="-120"/>
              </a:rPr>
              <a:t>r </a:t>
            </a:r>
            <a:r>
              <a:rPr kumimoji="1" lang="zh-TW" altLang="en-US" sz="2400" dirty="0">
                <a:solidFill>
                  <a:schemeClr val="bg1">
                    <a:lumMod val="65000"/>
                  </a:schemeClr>
                </a:solidFill>
                <a:ea typeface="Microsoft JhengHei" panose="020B0604030504040204" pitchFamily="34" charset="-120"/>
              </a:rPr>
              <a:t>的數值大小需要手動調整</a:t>
            </a:r>
            <a:endParaRPr kumimoji="1" lang="en-US" altLang="zh-TW" sz="2400" dirty="0">
              <a:solidFill>
                <a:schemeClr val="bg1">
                  <a:lumMod val="65000"/>
                </a:schemeClr>
              </a:solidFill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solidFill>
                  <a:schemeClr val="bg1">
                    <a:lumMod val="65000"/>
                  </a:schemeClr>
                </a:solidFill>
                <a:ea typeface="Microsoft JhengHei" panose="020B0604030504040204" pitchFamily="34" charset="-120"/>
              </a:rPr>
              <a:t>r</a:t>
            </a:r>
            <a:r>
              <a:rPr kumimoji="1" lang="zh-TW" altLang="en-US" sz="2400" dirty="0">
                <a:solidFill>
                  <a:schemeClr val="bg1">
                    <a:lumMod val="65000"/>
                  </a:schemeClr>
                </a:solidFill>
                <a:ea typeface="Microsoft JhengHei" panose="020B0604030504040204" pitchFamily="34" charset="-120"/>
              </a:rPr>
              <a:t> 越小，訓練參數量越少</a:t>
            </a:r>
            <a:endParaRPr kumimoji="1" lang="en-US" altLang="zh-TW" sz="2400" dirty="0">
              <a:solidFill>
                <a:schemeClr val="bg1">
                  <a:lumMod val="65000"/>
                </a:schemeClr>
              </a:solidFill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solidFill>
                  <a:schemeClr val="bg1">
                    <a:lumMod val="65000"/>
                  </a:schemeClr>
                </a:solidFill>
                <a:ea typeface="Microsoft JhengHei" panose="020B0604030504040204" pitchFamily="34" charset="-120"/>
              </a:rPr>
              <a:t>相較於原本沒有 </a:t>
            </a:r>
            <a:r>
              <a:rPr kumimoji="1" lang="en-US" altLang="zh-TW" sz="2400" dirty="0" err="1">
                <a:solidFill>
                  <a:schemeClr val="bg1">
                    <a:lumMod val="65000"/>
                  </a:schemeClr>
                </a:solidFill>
                <a:ea typeface="Microsoft JhengHei" panose="020B0604030504040204" pitchFamily="34" charset="-120"/>
              </a:rPr>
              <a:t>LoRA</a:t>
            </a:r>
            <a:r>
              <a:rPr kumimoji="1" lang="zh-TW" altLang="en-US" sz="2400" dirty="0">
                <a:solidFill>
                  <a:schemeClr val="bg1">
                    <a:lumMod val="65000"/>
                  </a:schemeClr>
                </a:solidFill>
                <a:ea typeface="Microsoft JhengHei" panose="020B0604030504040204" pitchFamily="34" charset="-120"/>
              </a:rPr>
              <a:t> 的模型，</a:t>
            </a:r>
            <a:r>
              <a:rPr kumimoji="1" lang="en-US" altLang="zh-TW" sz="2400" dirty="0" err="1">
                <a:solidFill>
                  <a:schemeClr val="bg1">
                    <a:lumMod val="65000"/>
                  </a:schemeClr>
                </a:solidFill>
                <a:ea typeface="Microsoft JhengHei" panose="020B0604030504040204" pitchFamily="34" charset="-120"/>
              </a:rPr>
              <a:t>LoRA</a:t>
            </a:r>
            <a:r>
              <a:rPr kumimoji="1" lang="zh-TW" altLang="en-US" sz="2400" dirty="0">
                <a:solidFill>
                  <a:schemeClr val="bg1">
                    <a:lumMod val="65000"/>
                  </a:schemeClr>
                </a:solidFill>
                <a:ea typeface="Microsoft JhengHei" panose="020B0604030504040204" pitchFamily="34" charset="-120"/>
              </a:rPr>
              <a:t> 其實會讓 </a:t>
            </a:r>
            <a:r>
              <a:rPr kumimoji="1" lang="en-US" altLang="zh-TW" sz="2400" dirty="0">
                <a:solidFill>
                  <a:schemeClr val="bg1">
                    <a:lumMod val="65000"/>
                  </a:schemeClr>
                </a:solidFill>
                <a:ea typeface="Microsoft JhengHei" panose="020B0604030504040204" pitchFamily="34" charset="-120"/>
              </a:rPr>
              <a:t>inference</a:t>
            </a:r>
            <a:r>
              <a:rPr kumimoji="1" lang="zh-TW" altLang="en-US" sz="2400" dirty="0">
                <a:solidFill>
                  <a:schemeClr val="bg1">
                    <a:lumMod val="65000"/>
                  </a:schemeClr>
                </a:solidFill>
                <a:ea typeface="Microsoft JhengHei" panose="020B0604030504040204" pitchFamily="34" charset="-120"/>
              </a:rPr>
              <a:t> 速度變慢</a:t>
            </a:r>
            <a:endParaRPr kumimoji="1" lang="en-US" altLang="zh-TW" sz="2400" dirty="0">
              <a:solidFill>
                <a:schemeClr val="bg1">
                  <a:lumMod val="65000"/>
                </a:schemeClr>
              </a:solidFill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訓練和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inference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時，大模型的部分其實還是被載入記憶體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…</a:t>
            </a:r>
            <a:endParaRPr kumimoji="1" lang="zh-TW" altLang="en-US" sz="2400" dirty="0">
              <a:ea typeface="Microsoft JhengHei" panose="020B0604030504040204" pitchFamily="34" charset="-12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3D3A88C-49D1-CD87-D0C3-7F2F165CC505}"/>
              </a:ext>
            </a:extLst>
          </p:cNvPr>
          <p:cNvSpPr/>
          <p:nvPr/>
        </p:nvSpPr>
        <p:spPr>
          <a:xfrm>
            <a:off x="6626012" y="2597570"/>
            <a:ext cx="2261704" cy="288648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4867860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B1CEE0-DEED-3E09-5A01-40CDB2100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 err="1"/>
              <a:t>LoRA</a:t>
            </a:r>
            <a:r>
              <a:rPr kumimoji="1" lang="zh-TW" altLang="en-US" dirty="0"/>
              <a:t> 可能可以在少量資料下進行微調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86477EA-82D4-A610-F990-C1C30E49E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44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2DCF3BC-F302-E3C0-6639-454FA34C0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15" y="2285009"/>
            <a:ext cx="10815769" cy="3084043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29B0EE1F-4751-2111-00B0-04059C2D7599}"/>
              </a:ext>
            </a:extLst>
          </p:cNvPr>
          <p:cNvSpPr txBox="1"/>
          <p:nvPr/>
        </p:nvSpPr>
        <p:spPr>
          <a:xfrm>
            <a:off x="1" y="6441225"/>
            <a:ext cx="12191999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dirty="0">
                <a:solidFill>
                  <a:srgbClr val="222222"/>
                </a:solidFill>
                <a:ea typeface="新細明體"/>
                <a:cs typeface="Arial"/>
              </a:rPr>
              <a:t>Hu, Edward J., et al. "LoRA: Low-Rank Adaptation of Large Language Models." </a:t>
            </a:r>
            <a:r>
              <a:rPr lang="en-US" sz="1000" i="1" dirty="0">
                <a:solidFill>
                  <a:srgbClr val="222222"/>
                </a:solidFill>
                <a:ea typeface="新細明體"/>
                <a:cs typeface="Arial"/>
              </a:rPr>
              <a:t>International Conference on Learning Representations</a:t>
            </a:r>
            <a:r>
              <a:rPr lang="en-US" sz="1000" dirty="0">
                <a:solidFill>
                  <a:srgbClr val="222222"/>
                </a:solidFill>
                <a:ea typeface="新細明體"/>
                <a:cs typeface="Arial"/>
              </a:rPr>
              <a:t>. 2021.</a:t>
            </a:r>
            <a:endParaRPr lang="zh-TW" sz="1000" dirty="0">
              <a:ea typeface="新細明體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479636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E9A13-34B5-3EA1-9A2A-02C57C0C6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F8EE4F-7F24-9B98-6D4E-50EDD8D72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4400" dirty="0" err="1">
                <a:ea typeface="+mj-lt"/>
                <a:cs typeface="Times New Roman"/>
              </a:rPr>
              <a:t>QLoRA</a:t>
            </a:r>
            <a:r>
              <a:rPr lang="en-US" altLang="zh-TW" sz="4400" dirty="0">
                <a:ea typeface="+mj-lt"/>
                <a:cs typeface="Times New Roman"/>
              </a:rPr>
              <a:t>: </a:t>
            </a:r>
            <a:r>
              <a:rPr lang="en-US" altLang="zh-TW" sz="4400" b="1" dirty="0">
                <a:solidFill>
                  <a:srgbClr val="FF0000"/>
                </a:solidFill>
                <a:ea typeface="+mj-lt"/>
                <a:cs typeface="Times New Roman"/>
              </a:rPr>
              <a:t>Quantized </a:t>
            </a:r>
            <a:r>
              <a:rPr lang="en-US" altLang="zh-TW" sz="4400" dirty="0" err="1">
                <a:solidFill>
                  <a:schemeClr val="tx1"/>
                </a:solidFill>
                <a:ea typeface="+mj-lt"/>
                <a:cs typeface="Times New Roman"/>
              </a:rPr>
              <a:t>LoRA</a:t>
            </a:r>
            <a:endParaRPr lang="en-US" altLang="zh-TW" sz="4400" dirty="0">
              <a:solidFill>
                <a:schemeClr val="tx1"/>
              </a:solidFill>
              <a:ea typeface="+mj-lt"/>
              <a:cs typeface="Times New Roman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BC23A01-3E2E-1B70-B021-4E6D2B09C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>
                <a:latin typeface="Times New Roman"/>
                <a:cs typeface="Times New Roman"/>
              </a:rPr>
              <a:t>45</a:t>
            </a:fld>
            <a:endParaRPr lang="zh-TW" altLang="en-US">
              <a:latin typeface="Times New Roman"/>
              <a:cs typeface="Times New Roman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7709D75-AEA7-8B99-11E7-B03EE37F255B}"/>
              </a:ext>
            </a:extLst>
          </p:cNvPr>
          <p:cNvSpPr/>
          <p:nvPr/>
        </p:nvSpPr>
        <p:spPr>
          <a:xfrm>
            <a:off x="6096000" y="3022108"/>
            <a:ext cx="2056660" cy="2123242"/>
          </a:xfrm>
          <a:prstGeom prst="rect">
            <a:avLst/>
          </a:prstGeom>
          <a:solidFill>
            <a:srgbClr val="5A9B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latin typeface="Times New Roman"/>
                <a:ea typeface="新細明體"/>
                <a:cs typeface="Calibri"/>
              </a:rPr>
              <a:t>Pretrained</a:t>
            </a:r>
          </a:p>
          <a:p>
            <a:pPr algn="ctr"/>
            <a:r>
              <a:rPr lang="zh-TW" altLang="en-US" sz="2400" b="1" dirty="0">
                <a:latin typeface="Times New Roman"/>
                <a:ea typeface="新細明體"/>
                <a:cs typeface="Calibri"/>
              </a:rPr>
              <a:t>Weights</a:t>
            </a:r>
          </a:p>
          <a:p>
            <a:pPr algn="ctr"/>
            <a:endParaRPr lang="zh-TW" altLang="en-US" sz="2400" b="1" dirty="0">
              <a:latin typeface="Times New Roman"/>
              <a:ea typeface="新細明體"/>
              <a:cs typeface="Calibri"/>
            </a:endParaRPr>
          </a:p>
          <a:p>
            <a:pPr algn="ctr"/>
            <a:r>
              <a:rPr lang="zh-TW" altLang="en-US" sz="2400" b="1" dirty="0">
                <a:latin typeface="Times New Roman"/>
                <a:ea typeface="新細明體"/>
                <a:cs typeface="Calibri"/>
              </a:rPr>
              <a:t>W </a:t>
            </a:r>
            <a:r>
              <a:rPr lang="zh-TW" sz="2400" b="1" dirty="0">
                <a:solidFill>
                  <a:schemeClr val="bg1"/>
                </a:solidFill>
                <a:latin typeface="Times New Roman"/>
                <a:ea typeface="新細明體"/>
                <a:cs typeface="Times New Roman"/>
              </a:rPr>
              <a:t>∈</a:t>
            </a:r>
            <a:r>
              <a:rPr lang="zh-TW" altLang="en-US" sz="2400" b="1" dirty="0">
                <a:solidFill>
                  <a:schemeClr val="bg1"/>
                </a:solidFill>
                <a:latin typeface="Times New Roman"/>
                <a:ea typeface="新細明體"/>
                <a:cs typeface="Times New Roman"/>
              </a:rPr>
              <a:t> </a:t>
            </a:r>
            <a:r>
              <a:rPr lang="zh-TW" sz="2400" b="1" dirty="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ℝ</a:t>
            </a:r>
            <a:r>
              <a:rPr lang="en-US" altLang="zh-TW" sz="2400" b="1" baseline="30000" dirty="0" err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dxd</a:t>
            </a:r>
            <a:endParaRPr lang="en-US" altLang="zh-TW" sz="2400" b="1" baseline="30000" dirty="0">
              <a:solidFill>
                <a:schemeClr val="bg1"/>
              </a:solidFill>
              <a:latin typeface="Times New Roman"/>
              <a:ea typeface="新細明體"/>
              <a:cs typeface="Calibri"/>
            </a:endParaRPr>
          </a:p>
        </p:txBody>
      </p:sp>
      <p:sp>
        <p:nvSpPr>
          <p:cNvPr id="4" name="梯形 3">
            <a:extLst>
              <a:ext uri="{FF2B5EF4-FFF2-40B4-BE49-F238E27FC236}">
                <a16:creationId xmlns:a16="http://schemas.microsoft.com/office/drawing/2014/main" id="{1FA20901-FDF9-CC23-E9C2-A4EEE3F87382}"/>
              </a:ext>
            </a:extLst>
          </p:cNvPr>
          <p:cNvSpPr/>
          <p:nvPr/>
        </p:nvSpPr>
        <p:spPr>
          <a:xfrm rot="10800000">
            <a:off x="8548455" y="3022107"/>
            <a:ext cx="1908699" cy="813786"/>
          </a:xfrm>
          <a:prstGeom prst="trapezoid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ea typeface="新細明體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梯形 5">
                <a:extLst>
                  <a:ext uri="{FF2B5EF4-FFF2-40B4-BE49-F238E27FC236}">
                    <a16:creationId xmlns:a16="http://schemas.microsoft.com/office/drawing/2014/main" id="{5F82C3E9-C3A2-FE36-025A-F774F9329F40}"/>
                  </a:ext>
                </a:extLst>
              </p:cNvPr>
              <p:cNvSpPr/>
              <p:nvPr/>
            </p:nvSpPr>
            <p:spPr>
              <a:xfrm>
                <a:off x="8548454" y="4331564"/>
                <a:ext cx="1908699" cy="813786"/>
              </a:xfrm>
              <a:prstGeom prst="trapezoid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altLang="zh-TW" sz="2400" b="1" dirty="0">
                    <a:solidFill>
                      <a:schemeClr val="bg1"/>
                    </a:solidFill>
                    <a:latin typeface="Times New Roman"/>
                    <a:ea typeface="新細明體"/>
                    <a:cs typeface="Times New Roman"/>
                  </a:rPr>
                  <a:t>A = </a:t>
                </a:r>
                <a14:m>
                  <m:oMath xmlns:m="http://schemas.openxmlformats.org/officeDocument/2006/math">
                    <m:r>
                      <a:rPr lang="en-US" altLang="zh-TW" sz="2400" i="1" smtClean="0">
                        <a:latin typeface="Cambria Math" panose="02040503050406030204" pitchFamily="18" charset="0"/>
                      </a:rPr>
                      <m:t>𝒩</m:t>
                    </m:r>
                  </m:oMath>
                </a14:m>
                <a:r>
                  <a:rPr lang="en-US" altLang="zh-TW" sz="2400" b="1" dirty="0">
                    <a:solidFill>
                      <a:schemeClr val="bg1"/>
                    </a:solidFill>
                    <a:latin typeface="Times New Roman"/>
                    <a:ea typeface="新細明體"/>
                    <a:cs typeface="Times New Roman"/>
                  </a:rPr>
                  <a:t>(0,</a:t>
                </a:r>
                <a:r>
                  <a:rPr lang="en-US" sz="2400" dirty="0">
                    <a:solidFill>
                      <a:schemeClr val="bg1"/>
                    </a:solidFill>
                    <a:latin typeface="Times New Roman"/>
                    <a:ea typeface="+mn-lt"/>
                    <a:cs typeface="+mn-lt"/>
                  </a:rPr>
                  <a:t>σ</a:t>
                </a:r>
                <a:r>
                  <a:rPr lang="en-US" sz="2400" baseline="30000" dirty="0">
                    <a:solidFill>
                      <a:schemeClr val="bg1"/>
                    </a:solidFill>
                    <a:latin typeface="Times New Roman"/>
                    <a:ea typeface="+mn-lt"/>
                    <a:cs typeface="+mn-lt"/>
                  </a:rPr>
                  <a:t>2</a:t>
                </a:r>
                <a:r>
                  <a:rPr lang="en-US" altLang="zh-TW" sz="2400" b="1" dirty="0">
                    <a:solidFill>
                      <a:schemeClr val="bg1"/>
                    </a:solidFill>
                    <a:latin typeface="Times New Roman"/>
                    <a:ea typeface="新細明體"/>
                    <a:cs typeface="Times New Roman"/>
                  </a:rPr>
                  <a:t>)</a:t>
                </a:r>
                <a:endParaRPr lang="zh-TW" sz="2400" dirty="0">
                  <a:solidFill>
                    <a:schemeClr val="bg1"/>
                  </a:solidFill>
                  <a:latin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6" name="梯形 5">
                <a:extLst>
                  <a:ext uri="{FF2B5EF4-FFF2-40B4-BE49-F238E27FC236}">
                    <a16:creationId xmlns:a16="http://schemas.microsoft.com/office/drawing/2014/main" id="{5F82C3E9-C3A2-FE36-025A-F774F9329F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8454" y="4331564"/>
                <a:ext cx="1908699" cy="813786"/>
              </a:xfrm>
              <a:prstGeom prst="trapezoid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>
            <a:extLst>
              <a:ext uri="{FF2B5EF4-FFF2-40B4-BE49-F238E27FC236}">
                <a16:creationId xmlns:a16="http://schemas.microsoft.com/office/drawing/2014/main" id="{AF647EE7-61CC-E17B-9276-B1017D95704A}"/>
              </a:ext>
            </a:extLst>
          </p:cNvPr>
          <p:cNvSpPr/>
          <p:nvPr/>
        </p:nvSpPr>
        <p:spPr>
          <a:xfrm>
            <a:off x="7183514" y="5807477"/>
            <a:ext cx="2374777" cy="273728"/>
          </a:xfrm>
          <a:prstGeom prst="rect">
            <a:avLst/>
          </a:prstGeom>
          <a:solidFill>
            <a:srgbClr val="C1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A1ACEA3-B17D-D03F-D38F-465F8F0C7A02}"/>
              </a:ext>
            </a:extLst>
          </p:cNvPr>
          <p:cNvSpPr/>
          <p:nvPr/>
        </p:nvSpPr>
        <p:spPr>
          <a:xfrm>
            <a:off x="7190912" y="2152836"/>
            <a:ext cx="2374777" cy="273728"/>
          </a:xfrm>
          <a:prstGeom prst="rect">
            <a:avLst/>
          </a:prstGeom>
          <a:solidFill>
            <a:srgbClr val="C1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6CA84FC7-307B-83C1-727B-073BB9C70E67}"/>
              </a:ext>
            </a:extLst>
          </p:cNvPr>
          <p:cNvSpPr txBox="1"/>
          <p:nvPr/>
        </p:nvSpPr>
        <p:spPr>
          <a:xfrm>
            <a:off x="8851776" y="3195962"/>
            <a:ext cx="130057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400" b="1" dirty="0">
                <a:solidFill>
                  <a:srgbClr val="FFFFFF"/>
                </a:solidFill>
                <a:latin typeface="Times New Roman"/>
                <a:ea typeface="新細明體"/>
                <a:cs typeface="Times New Roman"/>
              </a:rPr>
              <a:t>B = 0</a:t>
            </a:r>
            <a:endParaRPr lang="zh-TW" sz="2400" dirty="0">
              <a:latin typeface="Times New Roman"/>
              <a:cs typeface="Times New Roman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EA77DFEC-4F05-AAA0-709D-878BF2168C86}"/>
              </a:ext>
            </a:extLst>
          </p:cNvPr>
          <p:cNvSpPr txBox="1"/>
          <p:nvPr/>
        </p:nvSpPr>
        <p:spPr>
          <a:xfrm>
            <a:off x="6740371" y="5745334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i="1" dirty="0">
                <a:latin typeface="Times New Roman"/>
                <a:ea typeface="新細明體"/>
                <a:cs typeface="Times New Roman"/>
              </a:rPr>
              <a:t>x</a:t>
            </a:r>
            <a:endParaRPr lang="zh-TW" i="1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E40C2C0-90D6-E7F7-190E-38C73225F2E0}"/>
              </a:ext>
            </a:extLst>
          </p:cNvPr>
          <p:cNvSpPr txBox="1"/>
          <p:nvPr/>
        </p:nvSpPr>
        <p:spPr>
          <a:xfrm>
            <a:off x="8153398" y="6040297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d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FA684136-688D-FA57-B605-497B048A1DD9}"/>
              </a:ext>
            </a:extLst>
          </p:cNvPr>
          <p:cNvSpPr txBox="1"/>
          <p:nvPr/>
        </p:nvSpPr>
        <p:spPr>
          <a:xfrm>
            <a:off x="6740371" y="2090693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h</a:t>
            </a:r>
            <a:endParaRPr lang="zh-TW" dirty="0"/>
          </a:p>
        </p:txBody>
      </p:sp>
      <p:sp>
        <p:nvSpPr>
          <p:cNvPr id="20" name="箭號: 向右 19">
            <a:extLst>
              <a:ext uri="{FF2B5EF4-FFF2-40B4-BE49-F238E27FC236}">
                <a16:creationId xmlns:a16="http://schemas.microsoft.com/office/drawing/2014/main" id="{10F91241-30AA-318E-0525-26247FCD56CA}"/>
              </a:ext>
            </a:extLst>
          </p:cNvPr>
          <p:cNvSpPr/>
          <p:nvPr/>
        </p:nvSpPr>
        <p:spPr>
          <a:xfrm rot="14640000">
            <a:off x="7290897" y="5303538"/>
            <a:ext cx="584446" cy="28112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箭號: 向右 20">
            <a:extLst>
              <a:ext uri="{FF2B5EF4-FFF2-40B4-BE49-F238E27FC236}">
                <a16:creationId xmlns:a16="http://schemas.microsoft.com/office/drawing/2014/main" id="{B98272A3-3BCE-D9DD-B31A-8A5F3E254BA2}"/>
              </a:ext>
            </a:extLst>
          </p:cNvPr>
          <p:cNvSpPr/>
          <p:nvPr/>
        </p:nvSpPr>
        <p:spPr>
          <a:xfrm rot="-4140000">
            <a:off x="8962857" y="5303538"/>
            <a:ext cx="584446" cy="28112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箭號: 向右 21">
            <a:extLst>
              <a:ext uri="{FF2B5EF4-FFF2-40B4-BE49-F238E27FC236}">
                <a16:creationId xmlns:a16="http://schemas.microsoft.com/office/drawing/2014/main" id="{8D442355-C060-4FAC-1C8E-DCB98C1DA921}"/>
              </a:ext>
            </a:extLst>
          </p:cNvPr>
          <p:cNvSpPr/>
          <p:nvPr/>
        </p:nvSpPr>
        <p:spPr>
          <a:xfrm rot="19260000">
            <a:off x="7091148" y="2581052"/>
            <a:ext cx="584446" cy="28112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箭號: 向右 22">
            <a:extLst>
              <a:ext uri="{FF2B5EF4-FFF2-40B4-BE49-F238E27FC236}">
                <a16:creationId xmlns:a16="http://schemas.microsoft.com/office/drawing/2014/main" id="{D878430A-C355-CF15-9535-6E936FE02858}"/>
              </a:ext>
            </a:extLst>
          </p:cNvPr>
          <p:cNvSpPr/>
          <p:nvPr/>
        </p:nvSpPr>
        <p:spPr>
          <a:xfrm rot="13440000">
            <a:off x="9214391" y="2588450"/>
            <a:ext cx="584446" cy="28112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FE987CD1-FFC8-FFCA-15BD-86C65E1F43B5}"/>
              </a:ext>
            </a:extLst>
          </p:cNvPr>
          <p:cNvSpPr txBox="1"/>
          <p:nvPr/>
        </p:nvSpPr>
        <p:spPr>
          <a:xfrm>
            <a:off x="9270507" y="3932809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r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2C021C64-4F49-FF67-B1E5-27949BDD6BE2}"/>
              </a:ext>
            </a:extLst>
          </p:cNvPr>
          <p:cNvSpPr txBox="1"/>
          <p:nvPr/>
        </p:nvSpPr>
        <p:spPr>
          <a:xfrm>
            <a:off x="9693111" y="2490569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α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A5440F6-05AA-3F62-DA35-7918809B64A9}"/>
              </a:ext>
            </a:extLst>
          </p:cNvPr>
          <p:cNvSpPr txBox="1"/>
          <p:nvPr/>
        </p:nvSpPr>
        <p:spPr>
          <a:xfrm>
            <a:off x="1" y="6441225"/>
            <a:ext cx="12191999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dirty="0" err="1">
                <a:solidFill>
                  <a:srgbClr val="222222"/>
                </a:solidFill>
                <a:ea typeface="新細明體"/>
                <a:cs typeface="Arial"/>
              </a:rPr>
              <a:t>Dettmers</a:t>
            </a:r>
            <a:r>
              <a:rPr lang="en-US" sz="1000" dirty="0">
                <a:solidFill>
                  <a:srgbClr val="222222"/>
                </a:solidFill>
                <a:ea typeface="新細明體"/>
                <a:cs typeface="Arial"/>
              </a:rPr>
              <a:t>, Tim, et al. "</a:t>
            </a:r>
            <a:r>
              <a:rPr lang="en-US" sz="1000" dirty="0" err="1">
                <a:solidFill>
                  <a:srgbClr val="222222"/>
                </a:solidFill>
                <a:ea typeface="新細明體"/>
                <a:cs typeface="Arial"/>
              </a:rPr>
              <a:t>Qlora</a:t>
            </a:r>
            <a:r>
              <a:rPr lang="en-US" sz="1000" dirty="0">
                <a:solidFill>
                  <a:srgbClr val="222222"/>
                </a:solidFill>
                <a:ea typeface="新細明體"/>
                <a:cs typeface="Arial"/>
              </a:rPr>
              <a:t>: Efficient finetuning of quantized </a:t>
            </a:r>
            <a:r>
              <a:rPr lang="en-US" sz="1000" dirty="0" err="1">
                <a:solidFill>
                  <a:srgbClr val="222222"/>
                </a:solidFill>
                <a:ea typeface="新細明體"/>
                <a:cs typeface="Arial"/>
              </a:rPr>
              <a:t>llms</a:t>
            </a:r>
            <a:r>
              <a:rPr lang="en-US" sz="1000" dirty="0">
                <a:solidFill>
                  <a:srgbClr val="222222"/>
                </a:solidFill>
                <a:ea typeface="新細明體"/>
                <a:cs typeface="Arial"/>
              </a:rPr>
              <a:t>." </a:t>
            </a:r>
            <a:r>
              <a:rPr lang="en-US" sz="1000" dirty="0" err="1">
                <a:solidFill>
                  <a:srgbClr val="222222"/>
                </a:solidFill>
                <a:ea typeface="新細明體"/>
                <a:cs typeface="Arial"/>
              </a:rPr>
              <a:t>NeurIPS</a:t>
            </a:r>
            <a:r>
              <a:rPr lang="en-US" sz="1000" dirty="0">
                <a:solidFill>
                  <a:srgbClr val="222222"/>
                </a:solidFill>
                <a:ea typeface="新細明體"/>
                <a:cs typeface="Arial"/>
              </a:rPr>
              <a:t> 2023.</a:t>
            </a:r>
            <a:endParaRPr lang="zh-TW" sz="1000" dirty="0">
              <a:ea typeface="新細明體"/>
              <a:cs typeface="Times New Roman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17BAA35-2B30-7FDA-AA98-373B2C397DA0}"/>
              </a:ext>
            </a:extLst>
          </p:cNvPr>
          <p:cNvSpPr/>
          <p:nvPr/>
        </p:nvSpPr>
        <p:spPr>
          <a:xfrm>
            <a:off x="1890881" y="2992103"/>
            <a:ext cx="2056660" cy="2123242"/>
          </a:xfrm>
          <a:prstGeom prst="rect">
            <a:avLst/>
          </a:prstGeom>
          <a:solidFill>
            <a:srgbClr val="5A9B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latin typeface="Times New Roman"/>
                <a:ea typeface="新細明體"/>
                <a:cs typeface="Calibri"/>
              </a:rPr>
              <a:t>Pretrained</a:t>
            </a:r>
          </a:p>
          <a:p>
            <a:pPr algn="ctr"/>
            <a:r>
              <a:rPr lang="zh-TW" altLang="en-US" sz="2400" b="1" dirty="0">
                <a:latin typeface="Times New Roman"/>
                <a:ea typeface="新細明體"/>
                <a:cs typeface="Calibri"/>
              </a:rPr>
              <a:t>Weights</a:t>
            </a:r>
          </a:p>
          <a:p>
            <a:pPr algn="ctr"/>
            <a:endParaRPr lang="zh-TW" altLang="en-US" sz="2400" b="1" dirty="0">
              <a:latin typeface="Times New Roman"/>
              <a:ea typeface="新細明體"/>
              <a:cs typeface="Calibri"/>
            </a:endParaRPr>
          </a:p>
          <a:p>
            <a:pPr algn="ctr"/>
            <a:r>
              <a:rPr lang="zh-TW" altLang="en-US" sz="2400" b="1" dirty="0">
                <a:latin typeface="Times New Roman"/>
                <a:ea typeface="新細明體"/>
                <a:cs typeface="Calibri"/>
              </a:rPr>
              <a:t>W </a:t>
            </a:r>
            <a:r>
              <a:rPr lang="zh-TW" sz="2400" b="1" dirty="0">
                <a:solidFill>
                  <a:schemeClr val="bg1"/>
                </a:solidFill>
                <a:latin typeface="Times New Roman"/>
                <a:ea typeface="新細明體"/>
                <a:cs typeface="Times New Roman"/>
              </a:rPr>
              <a:t>∈</a:t>
            </a:r>
            <a:r>
              <a:rPr lang="zh-TW" altLang="en-US" sz="2400" b="1" dirty="0">
                <a:solidFill>
                  <a:schemeClr val="bg1"/>
                </a:solidFill>
                <a:latin typeface="Times New Roman"/>
                <a:ea typeface="新細明體"/>
                <a:cs typeface="Times New Roman"/>
              </a:rPr>
              <a:t> </a:t>
            </a:r>
            <a:r>
              <a:rPr lang="zh-TW" sz="2400" b="1" dirty="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ℝ</a:t>
            </a:r>
            <a:r>
              <a:rPr lang="en-US" altLang="zh-TW" sz="2400" b="1" baseline="30000" dirty="0" err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dxd</a:t>
            </a:r>
            <a:endParaRPr lang="en-US" altLang="zh-TW" sz="2400" b="1" baseline="30000" dirty="0">
              <a:solidFill>
                <a:schemeClr val="bg1"/>
              </a:solidFill>
              <a:latin typeface="Times New Roman"/>
              <a:ea typeface="新細明體"/>
              <a:cs typeface="Calibr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3739B7D-7AEC-952A-F846-A35391CD8D44}"/>
              </a:ext>
            </a:extLst>
          </p:cNvPr>
          <p:cNvSpPr/>
          <p:nvPr/>
        </p:nvSpPr>
        <p:spPr>
          <a:xfrm>
            <a:off x="1731823" y="5807476"/>
            <a:ext cx="2374777" cy="273728"/>
          </a:xfrm>
          <a:prstGeom prst="rect">
            <a:avLst/>
          </a:prstGeom>
          <a:solidFill>
            <a:srgbClr val="C1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7DF3063-9D70-7822-23D5-1EEAD92CF374}"/>
              </a:ext>
            </a:extLst>
          </p:cNvPr>
          <p:cNvSpPr/>
          <p:nvPr/>
        </p:nvSpPr>
        <p:spPr>
          <a:xfrm>
            <a:off x="1739221" y="2152835"/>
            <a:ext cx="2374777" cy="273728"/>
          </a:xfrm>
          <a:prstGeom prst="rect">
            <a:avLst/>
          </a:prstGeom>
          <a:solidFill>
            <a:srgbClr val="C1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D6CD0F6C-4CF1-3AEE-DF07-6C85F720BDDD}"/>
              </a:ext>
            </a:extLst>
          </p:cNvPr>
          <p:cNvSpPr txBox="1"/>
          <p:nvPr/>
        </p:nvSpPr>
        <p:spPr>
          <a:xfrm>
            <a:off x="1288680" y="5745333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i="1" dirty="0">
                <a:latin typeface="Times New Roman"/>
                <a:ea typeface="新細明體"/>
                <a:cs typeface="Times New Roman"/>
              </a:rPr>
              <a:t>x</a:t>
            </a:r>
            <a:endParaRPr lang="zh-TW" i="1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CA8707B6-E1D4-E55C-B1AC-F00CB5A47BC2}"/>
              </a:ext>
            </a:extLst>
          </p:cNvPr>
          <p:cNvSpPr txBox="1"/>
          <p:nvPr/>
        </p:nvSpPr>
        <p:spPr>
          <a:xfrm>
            <a:off x="2701707" y="6042180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d</a:t>
            </a: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9E0E0B09-85FE-EF48-18BC-57A4D6DE22AC}"/>
              </a:ext>
            </a:extLst>
          </p:cNvPr>
          <p:cNvSpPr txBox="1"/>
          <p:nvPr/>
        </p:nvSpPr>
        <p:spPr>
          <a:xfrm>
            <a:off x="1288680" y="2090692"/>
            <a:ext cx="4498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2000" b="1" dirty="0">
                <a:latin typeface="Times New Roman"/>
                <a:ea typeface="新細明體"/>
                <a:cs typeface="Times New Roman"/>
              </a:rPr>
              <a:t>h</a:t>
            </a:r>
            <a:endParaRPr lang="zh-TW" dirty="0"/>
          </a:p>
        </p:txBody>
      </p:sp>
      <p:sp>
        <p:nvSpPr>
          <p:cNvPr id="33" name="箭號: 向右 19">
            <a:extLst>
              <a:ext uri="{FF2B5EF4-FFF2-40B4-BE49-F238E27FC236}">
                <a16:creationId xmlns:a16="http://schemas.microsoft.com/office/drawing/2014/main" id="{39AB999F-9298-1D06-BC53-A32E25952C87}"/>
              </a:ext>
            </a:extLst>
          </p:cNvPr>
          <p:cNvSpPr/>
          <p:nvPr/>
        </p:nvSpPr>
        <p:spPr>
          <a:xfrm rot="16200000">
            <a:off x="2626988" y="5321674"/>
            <a:ext cx="584446" cy="28112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箭號: 向右 21">
            <a:extLst>
              <a:ext uri="{FF2B5EF4-FFF2-40B4-BE49-F238E27FC236}">
                <a16:creationId xmlns:a16="http://schemas.microsoft.com/office/drawing/2014/main" id="{92C3C1BB-8DAB-EC6C-6A1D-9166704671DB}"/>
              </a:ext>
            </a:extLst>
          </p:cNvPr>
          <p:cNvSpPr/>
          <p:nvPr/>
        </p:nvSpPr>
        <p:spPr>
          <a:xfrm rot="16200000">
            <a:off x="2695964" y="2565867"/>
            <a:ext cx="461288" cy="28112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C6547D03-CC13-8B5F-A46D-1617FB1BDC0A}"/>
              </a:ext>
            </a:extLst>
          </p:cNvPr>
          <p:cNvSpPr txBox="1"/>
          <p:nvPr/>
        </p:nvSpPr>
        <p:spPr>
          <a:xfrm>
            <a:off x="7796980" y="1552722"/>
            <a:ext cx="12221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sz="2200" b="1" dirty="0" err="1"/>
              <a:t>QLoRA</a:t>
            </a:r>
            <a:endParaRPr kumimoji="1" lang="zh-TW" altLang="en-US" sz="2200" b="1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89B2ADDB-17F2-47B7-F772-3B54BCBE1CE5}"/>
              </a:ext>
            </a:extLst>
          </p:cNvPr>
          <p:cNvSpPr txBox="1"/>
          <p:nvPr/>
        </p:nvSpPr>
        <p:spPr>
          <a:xfrm>
            <a:off x="2227391" y="1553285"/>
            <a:ext cx="13984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sz="2200" b="1" dirty="0"/>
              <a:t>Original</a:t>
            </a:r>
            <a:endParaRPr kumimoji="1" lang="zh-TW" altLang="en-US" sz="22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99857095-78FE-A02B-325B-6248222D36D2}"/>
              </a:ext>
            </a:extLst>
          </p:cNvPr>
          <p:cNvSpPr txBox="1"/>
          <p:nvPr/>
        </p:nvSpPr>
        <p:spPr>
          <a:xfrm>
            <a:off x="10685692" y="3242128"/>
            <a:ext cx="7187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800" b="1" dirty="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ℝ</a:t>
            </a:r>
            <a:r>
              <a:rPr lang="en-US" altLang="zh-TW" sz="1800" b="1" baseline="30000" dirty="0" err="1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r×</a:t>
            </a:r>
            <a:r>
              <a:rPr lang="en-US" altLang="zh-TW" b="1" baseline="30000" dirty="0" err="1">
                <a:latin typeface="Times New Roman"/>
                <a:ea typeface="+mn-lt"/>
                <a:cs typeface="+mn-lt"/>
              </a:rPr>
              <a:t>d</a:t>
            </a:r>
            <a:endParaRPr lang="zh-TW" altLang="en-US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185AE359-01E4-C17A-68AD-DA7A7AD5CBC9}"/>
              </a:ext>
            </a:extLst>
          </p:cNvPr>
          <p:cNvSpPr txBox="1"/>
          <p:nvPr/>
        </p:nvSpPr>
        <p:spPr>
          <a:xfrm>
            <a:off x="10685692" y="4553791"/>
            <a:ext cx="7187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800" b="1" dirty="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ℝ</a:t>
            </a:r>
            <a:r>
              <a:rPr lang="en-US" altLang="zh-TW" sz="1800" b="1" baseline="30000" dirty="0" err="1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d×</a:t>
            </a:r>
            <a:r>
              <a:rPr lang="en-US" altLang="zh-TW" b="1" baseline="30000" dirty="0" err="1">
                <a:latin typeface="Times New Roman"/>
                <a:ea typeface="+mn-lt"/>
                <a:cs typeface="+mn-lt"/>
              </a:rPr>
              <a:t>r</a:t>
            </a:r>
            <a:endParaRPr lang="zh-TW" altLang="en-US" dirty="0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68B1BAE9-D86B-DC8D-4144-B321C4F77012}"/>
              </a:ext>
            </a:extLst>
          </p:cNvPr>
          <p:cNvSpPr txBox="1"/>
          <p:nvPr/>
        </p:nvSpPr>
        <p:spPr>
          <a:xfrm>
            <a:off x="8735670" y="656955"/>
            <a:ext cx="280318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/>
              </a:rPr>
              <a:t>只有黃色部分會被訓練</a:t>
            </a:r>
            <a:endParaRPr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  <a:cs typeface="Times New Roman"/>
            </a:endParaRPr>
          </a:p>
          <a:p>
            <a:pPr algn="r"/>
            <a:r>
              <a:rPr lang="en-US" altLang="zh-TW" sz="2000" dirty="0">
                <a:latin typeface="Times New Roman"/>
                <a:ea typeface="新細明體"/>
                <a:cs typeface="Times New Roman"/>
              </a:rPr>
              <a:t>α 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/>
              </a:rPr>
              <a:t>是超參數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5188A46-4A1A-33EE-988A-0FC54990AE17}"/>
              </a:ext>
            </a:extLst>
          </p:cNvPr>
          <p:cNvSpPr txBox="1"/>
          <p:nvPr/>
        </p:nvSpPr>
        <p:spPr>
          <a:xfrm>
            <a:off x="5231282" y="3852896"/>
            <a:ext cx="9378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FF0000"/>
                </a:solidFill>
              </a:rPr>
              <a:t>4-bit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5B95419-66E7-3F0F-9DF2-2F9494BBF8EE}"/>
              </a:ext>
            </a:extLst>
          </p:cNvPr>
          <p:cNvSpPr txBox="1"/>
          <p:nvPr/>
        </p:nvSpPr>
        <p:spPr>
          <a:xfrm>
            <a:off x="10399480" y="3487543"/>
            <a:ext cx="1135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FF0000"/>
                </a:solidFill>
              </a:rPr>
              <a:t>16-bit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7E8174A-3923-62D1-8095-D2A7158D4070}"/>
              </a:ext>
            </a:extLst>
          </p:cNvPr>
          <p:cNvSpPr txBox="1"/>
          <p:nvPr/>
        </p:nvSpPr>
        <p:spPr>
          <a:xfrm>
            <a:off x="10399480" y="4855370"/>
            <a:ext cx="1135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FF0000"/>
                </a:solidFill>
              </a:rPr>
              <a:t>16-bit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ED06A2E6-D56F-E3C2-D01E-53AD832809AF}"/>
              </a:ext>
            </a:extLst>
          </p:cNvPr>
          <p:cNvSpPr txBox="1"/>
          <p:nvPr/>
        </p:nvSpPr>
        <p:spPr>
          <a:xfrm>
            <a:off x="715177" y="3717365"/>
            <a:ext cx="11209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FF0000"/>
                </a:solidFill>
              </a:rPr>
              <a:t>32-bit /</a:t>
            </a:r>
          </a:p>
          <a:p>
            <a:pPr algn="ctr"/>
            <a:r>
              <a:rPr kumimoji="1" lang="en-US" altLang="zh-TW" sz="2400" dirty="0">
                <a:solidFill>
                  <a:srgbClr val="FF0000"/>
                </a:solidFill>
              </a:rPr>
              <a:t>16-bit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8482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8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47A937-A148-4B4B-2BD5-251D0D8BD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[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注意事項</a:t>
            </a:r>
            <a:r>
              <a:rPr kumimoji="1" lang="en" altLang="zh-TW" dirty="0"/>
              <a:t>]</a:t>
            </a:r>
            <a:r>
              <a:rPr kumimoji="1" lang="zh-TW" altLang="en-US" dirty="0"/>
              <a:t> </a:t>
            </a:r>
            <a:r>
              <a:rPr kumimoji="1" lang="en-US" altLang="zh-TW" dirty="0"/>
              <a:t>Q</a:t>
            </a:r>
            <a:r>
              <a:rPr kumimoji="1" lang="en" altLang="zh-TW" dirty="0" err="1"/>
              <a:t>LoRA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5657673-3BB8-78C7-1B98-43A7BBFFC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0B9169B0-A03A-1307-4290-6DE6061A543F}"/>
              </a:ext>
            </a:extLst>
          </p:cNvPr>
          <p:cNvSpPr txBox="1"/>
          <p:nvPr/>
        </p:nvSpPr>
        <p:spPr>
          <a:xfrm>
            <a:off x="716808" y="2032822"/>
            <a:ext cx="5084547" cy="1143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記憶體使用量：</a:t>
            </a:r>
            <a:r>
              <a:rPr kumimoji="1" lang="en-US" altLang="zh-TW" sz="2400" dirty="0" err="1">
                <a:ea typeface="Microsoft JhengHei" panose="020B0604030504040204" pitchFamily="34" charset="-120"/>
              </a:rPr>
              <a:t>QLoRA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&lt; </a:t>
            </a:r>
            <a:r>
              <a:rPr kumimoji="1" lang="en-US" altLang="zh-TW" sz="2400" dirty="0" err="1">
                <a:ea typeface="Microsoft JhengHei" panose="020B0604030504040204" pitchFamily="34" charset="-120"/>
              </a:rPr>
              <a:t>LoRA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模型效能：</a:t>
            </a:r>
            <a:r>
              <a:rPr kumimoji="1" lang="en-US" altLang="zh-TW" sz="2400" dirty="0" err="1">
                <a:ea typeface="Microsoft JhengHei" panose="020B0604030504040204" pitchFamily="34" charset="-120"/>
              </a:rPr>
              <a:t>QLoRA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&lt;= </a:t>
            </a:r>
            <a:r>
              <a:rPr kumimoji="1" lang="en-US" altLang="zh-TW" sz="2400" dirty="0" err="1">
                <a:ea typeface="Microsoft JhengHei" panose="020B0604030504040204" pitchFamily="34" charset="-120"/>
              </a:rPr>
              <a:t>LoRA</a:t>
            </a:r>
            <a:endParaRPr kumimoji="1" lang="zh-TW" altLang="en-US" sz="2400" dirty="0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107160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 descr="JetRacer 2GB AI Kit, AI Racing Robot Powered by Jetson Nano 2GB">
            <a:extLst>
              <a:ext uri="{FF2B5EF4-FFF2-40B4-BE49-F238E27FC236}">
                <a16:creationId xmlns:a16="http://schemas.microsoft.com/office/drawing/2014/main" id="{45D42359-4162-9186-715A-A99926D35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8683" y="4670053"/>
            <a:ext cx="2020310" cy="2020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46579DDF-A0B5-DE22-2511-5C0D5B7C6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How about m</a:t>
            </a:r>
            <a:r>
              <a:rPr kumimoji="1" lang="en" altLang="zh-TW" dirty="0"/>
              <a:t>od</a:t>
            </a:r>
            <a:r>
              <a:rPr kumimoji="1" lang="en-US" altLang="zh-TW" dirty="0"/>
              <a:t>e</a:t>
            </a:r>
            <a:r>
              <a:rPr kumimoji="1" lang="en" altLang="zh-TW" dirty="0"/>
              <a:t>l compression</a:t>
            </a:r>
            <a:r>
              <a:rPr kumimoji="1" lang="en-US" altLang="zh-TW" dirty="0"/>
              <a:t>?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B22CD4E-7E03-DFC9-6C0A-935A8D3C1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47</a:t>
            </a:fld>
            <a:endParaRPr lang="en-US" dirty="0"/>
          </a:p>
        </p:txBody>
      </p:sp>
      <p:pic>
        <p:nvPicPr>
          <p:cNvPr id="1026" name="Picture 2" descr="APPLE iPhone 16 Pro_256G-(鈦)(5G)">
            <a:extLst>
              <a:ext uri="{FF2B5EF4-FFF2-40B4-BE49-F238E27FC236}">
                <a16:creationId xmlns:a16="http://schemas.microsoft.com/office/drawing/2014/main" id="{84B84B4E-71CF-5410-D734-26A5CC29CE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207" y="2017361"/>
            <a:ext cx="1580685" cy="1580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回歸舊款潮流！全新配備M1 Pro 和M1 Max晶片的MacBook Pro的「三大亮點」整理！">
            <a:extLst>
              <a:ext uri="{FF2B5EF4-FFF2-40B4-BE49-F238E27FC236}">
                <a16:creationId xmlns:a16="http://schemas.microsoft.com/office/drawing/2014/main" id="{FE1560C2-3B0F-6A4F-8F73-0558C438B1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6159" y="3675271"/>
            <a:ext cx="4311805" cy="2694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Zenbo - 智慧居家好夥伴">
            <a:extLst>
              <a:ext uri="{FF2B5EF4-FFF2-40B4-BE49-F238E27FC236}">
                <a16:creationId xmlns:a16="http://schemas.microsoft.com/office/drawing/2014/main" id="{EF3D0C91-FDD2-1EA5-13CF-5B74D808F3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7964" y="2187947"/>
            <a:ext cx="1629902" cy="2479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群組 4">
            <a:extLst>
              <a:ext uri="{FF2B5EF4-FFF2-40B4-BE49-F238E27FC236}">
                <a16:creationId xmlns:a16="http://schemas.microsoft.com/office/drawing/2014/main" id="{8C8211CD-A109-BCB1-FE46-80C6DE27DAC5}"/>
              </a:ext>
            </a:extLst>
          </p:cNvPr>
          <p:cNvGrpSpPr/>
          <p:nvPr/>
        </p:nvGrpSpPr>
        <p:grpSpPr>
          <a:xfrm>
            <a:off x="1159648" y="2807703"/>
            <a:ext cx="2090813" cy="2479288"/>
            <a:chOff x="1196046" y="2686323"/>
            <a:chExt cx="2922518" cy="3465525"/>
          </a:xfrm>
        </p:grpSpPr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7B816B79-0D0B-9D6C-6D23-93388DFBD3CE}"/>
                </a:ext>
              </a:extLst>
            </p:cNvPr>
            <p:cNvSpPr/>
            <p:nvPr/>
          </p:nvSpPr>
          <p:spPr>
            <a:xfrm>
              <a:off x="1600995" y="5004737"/>
              <a:ext cx="532016" cy="5320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F2C99743-3152-A936-3C18-7ED93B0E47CF}"/>
                </a:ext>
              </a:extLst>
            </p:cNvPr>
            <p:cNvSpPr/>
            <p:nvPr/>
          </p:nvSpPr>
          <p:spPr>
            <a:xfrm>
              <a:off x="2397829" y="5004737"/>
              <a:ext cx="532016" cy="5320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E387AD26-6E5C-E076-1512-43509ACA91C8}"/>
                </a:ext>
              </a:extLst>
            </p:cNvPr>
            <p:cNvSpPr/>
            <p:nvPr/>
          </p:nvSpPr>
          <p:spPr>
            <a:xfrm>
              <a:off x="3194663" y="5004737"/>
              <a:ext cx="532016" cy="5320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9" name="橢圓 8">
              <a:extLst>
                <a:ext uri="{FF2B5EF4-FFF2-40B4-BE49-F238E27FC236}">
                  <a16:creationId xmlns:a16="http://schemas.microsoft.com/office/drawing/2014/main" id="{F926390E-316E-E4A0-4B50-0B9CB6CC85A5}"/>
                </a:ext>
              </a:extLst>
            </p:cNvPr>
            <p:cNvSpPr/>
            <p:nvPr/>
          </p:nvSpPr>
          <p:spPr>
            <a:xfrm>
              <a:off x="1196046" y="3857626"/>
              <a:ext cx="532016" cy="5320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CC870D43-98AE-4CC4-4139-9C1A30A1FD73}"/>
                </a:ext>
              </a:extLst>
            </p:cNvPr>
            <p:cNvSpPr/>
            <p:nvPr/>
          </p:nvSpPr>
          <p:spPr>
            <a:xfrm>
              <a:off x="1992880" y="3857626"/>
              <a:ext cx="532016" cy="5320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B9C7CC1E-F41E-E80D-DF4F-1F2A1690E0FB}"/>
                </a:ext>
              </a:extLst>
            </p:cNvPr>
            <p:cNvSpPr/>
            <p:nvPr/>
          </p:nvSpPr>
          <p:spPr>
            <a:xfrm>
              <a:off x="2789714" y="3857626"/>
              <a:ext cx="532016" cy="5320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2" name="橢圓 11">
              <a:extLst>
                <a:ext uri="{FF2B5EF4-FFF2-40B4-BE49-F238E27FC236}">
                  <a16:creationId xmlns:a16="http://schemas.microsoft.com/office/drawing/2014/main" id="{CE73D66C-21DB-A1D7-A8F6-9368AC40BD3B}"/>
                </a:ext>
              </a:extLst>
            </p:cNvPr>
            <p:cNvSpPr/>
            <p:nvPr/>
          </p:nvSpPr>
          <p:spPr>
            <a:xfrm>
              <a:off x="3586548" y="3857626"/>
              <a:ext cx="532016" cy="5320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3" name="橢圓 12">
              <a:extLst>
                <a:ext uri="{FF2B5EF4-FFF2-40B4-BE49-F238E27FC236}">
                  <a16:creationId xmlns:a16="http://schemas.microsoft.com/office/drawing/2014/main" id="{39B10DBE-957A-22CE-B15E-F76C1172C65C}"/>
                </a:ext>
              </a:extLst>
            </p:cNvPr>
            <p:cNvSpPr/>
            <p:nvPr/>
          </p:nvSpPr>
          <p:spPr>
            <a:xfrm>
              <a:off x="1600995" y="2686323"/>
              <a:ext cx="532016" cy="5320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A10E9549-EC35-9D33-3597-7708C0767E5D}"/>
                </a:ext>
              </a:extLst>
            </p:cNvPr>
            <p:cNvSpPr/>
            <p:nvPr/>
          </p:nvSpPr>
          <p:spPr>
            <a:xfrm>
              <a:off x="2397829" y="2686323"/>
              <a:ext cx="532016" cy="5320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5B729C1E-7C52-AE0C-4578-17171CCA52FA}"/>
                </a:ext>
              </a:extLst>
            </p:cNvPr>
            <p:cNvSpPr/>
            <p:nvPr/>
          </p:nvSpPr>
          <p:spPr>
            <a:xfrm>
              <a:off x="3194663" y="2686323"/>
              <a:ext cx="532016" cy="53201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cxnSp>
          <p:nvCxnSpPr>
            <p:cNvPr id="16" name="直線接點 15">
              <a:extLst>
                <a:ext uri="{FF2B5EF4-FFF2-40B4-BE49-F238E27FC236}">
                  <a16:creationId xmlns:a16="http://schemas.microsoft.com/office/drawing/2014/main" id="{112979E5-F7A8-269B-870A-F4E6894E3216}"/>
                </a:ext>
              </a:extLst>
            </p:cNvPr>
            <p:cNvCxnSpPr>
              <a:cxnSpLocks/>
              <a:stCxn id="6" idx="0"/>
              <a:endCxn id="10" idx="4"/>
            </p:cNvCxnSpPr>
            <p:nvPr/>
          </p:nvCxnSpPr>
          <p:spPr>
            <a:xfrm flipV="1">
              <a:off x="1867003" y="4389642"/>
              <a:ext cx="391885" cy="615095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接點 16">
              <a:extLst>
                <a:ext uri="{FF2B5EF4-FFF2-40B4-BE49-F238E27FC236}">
                  <a16:creationId xmlns:a16="http://schemas.microsoft.com/office/drawing/2014/main" id="{42F5E4AB-06E9-F28B-E9F0-1B987A7D173A}"/>
                </a:ext>
              </a:extLst>
            </p:cNvPr>
            <p:cNvCxnSpPr>
              <a:cxnSpLocks/>
              <a:stCxn id="7" idx="0"/>
              <a:endCxn id="11" idx="4"/>
            </p:cNvCxnSpPr>
            <p:nvPr/>
          </p:nvCxnSpPr>
          <p:spPr>
            <a:xfrm flipV="1">
              <a:off x="2663837" y="4389642"/>
              <a:ext cx="391885" cy="615095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>
              <a:extLst>
                <a:ext uri="{FF2B5EF4-FFF2-40B4-BE49-F238E27FC236}">
                  <a16:creationId xmlns:a16="http://schemas.microsoft.com/office/drawing/2014/main" id="{F263CEDA-1F8E-2B8B-E03A-9E0D04B708B5}"/>
                </a:ext>
              </a:extLst>
            </p:cNvPr>
            <p:cNvCxnSpPr>
              <a:cxnSpLocks/>
              <a:stCxn id="8" idx="0"/>
              <a:endCxn id="12" idx="4"/>
            </p:cNvCxnSpPr>
            <p:nvPr/>
          </p:nvCxnSpPr>
          <p:spPr>
            <a:xfrm flipV="1">
              <a:off x="3460671" y="4389642"/>
              <a:ext cx="391885" cy="615095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接點 18">
              <a:extLst>
                <a:ext uri="{FF2B5EF4-FFF2-40B4-BE49-F238E27FC236}">
                  <a16:creationId xmlns:a16="http://schemas.microsoft.com/office/drawing/2014/main" id="{D38F1C6B-22A5-094B-BFCD-2F69BDD1069C}"/>
                </a:ext>
              </a:extLst>
            </p:cNvPr>
            <p:cNvCxnSpPr>
              <a:cxnSpLocks/>
              <a:stCxn id="8" idx="0"/>
              <a:endCxn id="11" idx="4"/>
            </p:cNvCxnSpPr>
            <p:nvPr/>
          </p:nvCxnSpPr>
          <p:spPr>
            <a:xfrm flipH="1" flipV="1">
              <a:off x="3055722" y="4389642"/>
              <a:ext cx="404949" cy="615095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接點 19">
              <a:extLst>
                <a:ext uri="{FF2B5EF4-FFF2-40B4-BE49-F238E27FC236}">
                  <a16:creationId xmlns:a16="http://schemas.microsoft.com/office/drawing/2014/main" id="{B5E0AC55-4D22-E576-2261-85BC2DDCE3E1}"/>
                </a:ext>
              </a:extLst>
            </p:cNvPr>
            <p:cNvCxnSpPr>
              <a:cxnSpLocks/>
              <a:stCxn id="7" idx="0"/>
              <a:endCxn id="10" idx="4"/>
            </p:cNvCxnSpPr>
            <p:nvPr/>
          </p:nvCxnSpPr>
          <p:spPr>
            <a:xfrm flipH="1" flipV="1">
              <a:off x="2258888" y="4389642"/>
              <a:ext cx="404949" cy="615095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接點 20">
              <a:extLst>
                <a:ext uri="{FF2B5EF4-FFF2-40B4-BE49-F238E27FC236}">
                  <a16:creationId xmlns:a16="http://schemas.microsoft.com/office/drawing/2014/main" id="{D663A38A-3FC4-C18A-DCC1-4FE4BE359B94}"/>
                </a:ext>
              </a:extLst>
            </p:cNvPr>
            <p:cNvCxnSpPr>
              <a:cxnSpLocks/>
              <a:stCxn id="6" idx="0"/>
              <a:endCxn id="9" idx="4"/>
            </p:cNvCxnSpPr>
            <p:nvPr/>
          </p:nvCxnSpPr>
          <p:spPr>
            <a:xfrm flipH="1" flipV="1">
              <a:off x="1462054" y="4389642"/>
              <a:ext cx="404949" cy="615095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>
              <a:extLst>
                <a:ext uri="{FF2B5EF4-FFF2-40B4-BE49-F238E27FC236}">
                  <a16:creationId xmlns:a16="http://schemas.microsoft.com/office/drawing/2014/main" id="{160756E9-52F9-5E3F-FB13-73A2FF213D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67003" y="5536753"/>
              <a:ext cx="0" cy="615095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22">
              <a:extLst>
                <a:ext uri="{FF2B5EF4-FFF2-40B4-BE49-F238E27FC236}">
                  <a16:creationId xmlns:a16="http://schemas.microsoft.com/office/drawing/2014/main" id="{BA6D5E8C-1DD4-AAA2-E0E2-ABD0F852BE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3837" y="5536753"/>
              <a:ext cx="0" cy="615095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>
              <a:extLst>
                <a:ext uri="{FF2B5EF4-FFF2-40B4-BE49-F238E27FC236}">
                  <a16:creationId xmlns:a16="http://schemas.microsoft.com/office/drawing/2014/main" id="{2703283C-6471-FA71-282E-4D2141EEC2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60671" y="5536753"/>
              <a:ext cx="0" cy="615095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接點 24">
              <a:extLst>
                <a:ext uri="{FF2B5EF4-FFF2-40B4-BE49-F238E27FC236}">
                  <a16:creationId xmlns:a16="http://schemas.microsoft.com/office/drawing/2014/main" id="{5120B844-405B-3F8E-4346-DD652893A649}"/>
                </a:ext>
              </a:extLst>
            </p:cNvPr>
            <p:cNvCxnSpPr>
              <a:cxnSpLocks/>
              <a:stCxn id="10" idx="0"/>
              <a:endCxn id="13" idx="4"/>
            </p:cNvCxnSpPr>
            <p:nvPr/>
          </p:nvCxnSpPr>
          <p:spPr>
            <a:xfrm flipH="1" flipV="1">
              <a:off x="1867003" y="3218339"/>
              <a:ext cx="391885" cy="639287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接點 25">
              <a:extLst>
                <a:ext uri="{FF2B5EF4-FFF2-40B4-BE49-F238E27FC236}">
                  <a16:creationId xmlns:a16="http://schemas.microsoft.com/office/drawing/2014/main" id="{33C38F3E-41FD-7982-A4CD-D14AB6746D42}"/>
                </a:ext>
              </a:extLst>
            </p:cNvPr>
            <p:cNvCxnSpPr>
              <a:cxnSpLocks/>
              <a:stCxn id="10" idx="0"/>
              <a:endCxn id="14" idx="4"/>
            </p:cNvCxnSpPr>
            <p:nvPr/>
          </p:nvCxnSpPr>
          <p:spPr>
            <a:xfrm flipV="1">
              <a:off x="2258888" y="3218339"/>
              <a:ext cx="404949" cy="639287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>
              <a:extLst>
                <a:ext uri="{FF2B5EF4-FFF2-40B4-BE49-F238E27FC236}">
                  <a16:creationId xmlns:a16="http://schemas.microsoft.com/office/drawing/2014/main" id="{61306584-3DE5-1062-2384-5D50FA819110}"/>
                </a:ext>
              </a:extLst>
            </p:cNvPr>
            <p:cNvCxnSpPr>
              <a:cxnSpLocks/>
              <a:stCxn id="10" idx="0"/>
              <a:endCxn id="15" idx="4"/>
            </p:cNvCxnSpPr>
            <p:nvPr/>
          </p:nvCxnSpPr>
          <p:spPr>
            <a:xfrm flipV="1">
              <a:off x="2258888" y="3218339"/>
              <a:ext cx="1201783" cy="639287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>
              <a:extLst>
                <a:ext uri="{FF2B5EF4-FFF2-40B4-BE49-F238E27FC236}">
                  <a16:creationId xmlns:a16="http://schemas.microsoft.com/office/drawing/2014/main" id="{72374615-2F77-E9EF-FCDD-3B9F2F203F2D}"/>
                </a:ext>
              </a:extLst>
            </p:cNvPr>
            <p:cNvCxnSpPr>
              <a:cxnSpLocks/>
              <a:stCxn id="12" idx="0"/>
              <a:endCxn id="15" idx="4"/>
            </p:cNvCxnSpPr>
            <p:nvPr/>
          </p:nvCxnSpPr>
          <p:spPr>
            <a:xfrm flipH="1" flipV="1">
              <a:off x="3460671" y="3218339"/>
              <a:ext cx="391885" cy="639287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接點 28">
              <a:extLst>
                <a:ext uri="{FF2B5EF4-FFF2-40B4-BE49-F238E27FC236}">
                  <a16:creationId xmlns:a16="http://schemas.microsoft.com/office/drawing/2014/main" id="{41A083B1-8BAB-B8FB-9089-F6DFEFB652CF}"/>
                </a:ext>
              </a:extLst>
            </p:cNvPr>
            <p:cNvCxnSpPr>
              <a:cxnSpLocks/>
              <a:stCxn id="11" idx="0"/>
              <a:endCxn id="14" idx="4"/>
            </p:cNvCxnSpPr>
            <p:nvPr/>
          </p:nvCxnSpPr>
          <p:spPr>
            <a:xfrm flipH="1" flipV="1">
              <a:off x="2663837" y="3218339"/>
              <a:ext cx="391885" cy="639287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接點 29">
              <a:extLst>
                <a:ext uri="{FF2B5EF4-FFF2-40B4-BE49-F238E27FC236}">
                  <a16:creationId xmlns:a16="http://schemas.microsoft.com/office/drawing/2014/main" id="{DB6B76A9-B7E9-3932-F58C-97585DB5F8BA}"/>
                </a:ext>
              </a:extLst>
            </p:cNvPr>
            <p:cNvCxnSpPr>
              <a:cxnSpLocks/>
              <a:stCxn id="12" idx="0"/>
              <a:endCxn id="14" idx="4"/>
            </p:cNvCxnSpPr>
            <p:nvPr/>
          </p:nvCxnSpPr>
          <p:spPr>
            <a:xfrm flipH="1" flipV="1">
              <a:off x="2663837" y="3218339"/>
              <a:ext cx="1188719" cy="639287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接點 30">
              <a:extLst>
                <a:ext uri="{FF2B5EF4-FFF2-40B4-BE49-F238E27FC236}">
                  <a16:creationId xmlns:a16="http://schemas.microsoft.com/office/drawing/2014/main" id="{ED03CF2F-A75F-26C3-D1BE-7B824ABD0D58}"/>
                </a:ext>
              </a:extLst>
            </p:cNvPr>
            <p:cNvCxnSpPr>
              <a:cxnSpLocks/>
              <a:stCxn id="9" idx="0"/>
              <a:endCxn id="14" idx="4"/>
            </p:cNvCxnSpPr>
            <p:nvPr/>
          </p:nvCxnSpPr>
          <p:spPr>
            <a:xfrm flipV="1">
              <a:off x="1462054" y="3218339"/>
              <a:ext cx="1201783" cy="639287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>
              <a:extLst>
                <a:ext uri="{FF2B5EF4-FFF2-40B4-BE49-F238E27FC236}">
                  <a16:creationId xmlns:a16="http://schemas.microsoft.com/office/drawing/2014/main" id="{51B4CCE5-2706-C641-083F-4B19AACEFE03}"/>
                </a:ext>
              </a:extLst>
            </p:cNvPr>
            <p:cNvCxnSpPr>
              <a:cxnSpLocks/>
              <a:stCxn id="9" idx="0"/>
              <a:endCxn id="13" idx="4"/>
            </p:cNvCxnSpPr>
            <p:nvPr/>
          </p:nvCxnSpPr>
          <p:spPr>
            <a:xfrm flipV="1">
              <a:off x="1462054" y="3218339"/>
              <a:ext cx="404949" cy="639287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>
              <a:extLst>
                <a:ext uri="{FF2B5EF4-FFF2-40B4-BE49-F238E27FC236}">
                  <a16:creationId xmlns:a16="http://schemas.microsoft.com/office/drawing/2014/main" id="{BA4F1F9B-8F5A-0F8A-7A06-231855BB9E53}"/>
                </a:ext>
              </a:extLst>
            </p:cNvPr>
            <p:cNvCxnSpPr>
              <a:cxnSpLocks/>
              <a:stCxn id="6" idx="0"/>
              <a:endCxn id="11" idx="4"/>
            </p:cNvCxnSpPr>
            <p:nvPr/>
          </p:nvCxnSpPr>
          <p:spPr>
            <a:xfrm flipV="1">
              <a:off x="1867003" y="4389642"/>
              <a:ext cx="1188719" cy="615095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>
              <a:extLst>
                <a:ext uri="{FF2B5EF4-FFF2-40B4-BE49-F238E27FC236}">
                  <a16:creationId xmlns:a16="http://schemas.microsoft.com/office/drawing/2014/main" id="{B26B63C0-F33E-E779-8BCF-A2A8D8289046}"/>
                </a:ext>
              </a:extLst>
            </p:cNvPr>
            <p:cNvCxnSpPr>
              <a:cxnSpLocks/>
              <a:stCxn id="7" idx="0"/>
              <a:endCxn id="12" idx="4"/>
            </p:cNvCxnSpPr>
            <p:nvPr/>
          </p:nvCxnSpPr>
          <p:spPr>
            <a:xfrm flipV="1">
              <a:off x="2663837" y="4389642"/>
              <a:ext cx="1188719" cy="615095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接點 34">
              <a:extLst>
                <a:ext uri="{FF2B5EF4-FFF2-40B4-BE49-F238E27FC236}">
                  <a16:creationId xmlns:a16="http://schemas.microsoft.com/office/drawing/2014/main" id="{03745314-CAFD-8DBD-2B38-67765E3D509F}"/>
                </a:ext>
              </a:extLst>
            </p:cNvPr>
            <p:cNvCxnSpPr>
              <a:cxnSpLocks/>
              <a:stCxn id="8" idx="0"/>
              <a:endCxn id="10" idx="4"/>
            </p:cNvCxnSpPr>
            <p:nvPr/>
          </p:nvCxnSpPr>
          <p:spPr>
            <a:xfrm flipH="1" flipV="1">
              <a:off x="2258888" y="4389642"/>
              <a:ext cx="1201783" cy="615095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接點 35">
              <a:extLst>
                <a:ext uri="{FF2B5EF4-FFF2-40B4-BE49-F238E27FC236}">
                  <a16:creationId xmlns:a16="http://schemas.microsoft.com/office/drawing/2014/main" id="{C052F85F-9717-190F-F478-8ACC37A26DBF}"/>
                </a:ext>
              </a:extLst>
            </p:cNvPr>
            <p:cNvCxnSpPr>
              <a:cxnSpLocks/>
              <a:stCxn id="8" idx="0"/>
              <a:endCxn id="9" idx="4"/>
            </p:cNvCxnSpPr>
            <p:nvPr/>
          </p:nvCxnSpPr>
          <p:spPr>
            <a:xfrm flipH="1" flipV="1">
              <a:off x="1462054" y="4389642"/>
              <a:ext cx="1998617" cy="615095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接點 36">
              <a:extLst>
                <a:ext uri="{FF2B5EF4-FFF2-40B4-BE49-F238E27FC236}">
                  <a16:creationId xmlns:a16="http://schemas.microsoft.com/office/drawing/2014/main" id="{1AA318FD-2B89-9E54-67DB-C35DB7C6AFC8}"/>
                </a:ext>
              </a:extLst>
            </p:cNvPr>
            <p:cNvCxnSpPr>
              <a:cxnSpLocks/>
              <a:stCxn id="7" idx="0"/>
              <a:endCxn id="9" idx="4"/>
            </p:cNvCxnSpPr>
            <p:nvPr/>
          </p:nvCxnSpPr>
          <p:spPr>
            <a:xfrm flipH="1" flipV="1">
              <a:off x="1462054" y="4389642"/>
              <a:ext cx="1201783" cy="615095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接點 37">
              <a:extLst>
                <a:ext uri="{FF2B5EF4-FFF2-40B4-BE49-F238E27FC236}">
                  <a16:creationId xmlns:a16="http://schemas.microsoft.com/office/drawing/2014/main" id="{C154A733-F37C-5CB1-521F-4748AC11E091}"/>
                </a:ext>
              </a:extLst>
            </p:cNvPr>
            <p:cNvCxnSpPr>
              <a:cxnSpLocks/>
              <a:stCxn id="6" idx="0"/>
              <a:endCxn id="12" idx="4"/>
            </p:cNvCxnSpPr>
            <p:nvPr/>
          </p:nvCxnSpPr>
          <p:spPr>
            <a:xfrm flipV="1">
              <a:off x="1867003" y="4389642"/>
              <a:ext cx="1985553" cy="615095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接點 38">
              <a:extLst>
                <a:ext uri="{FF2B5EF4-FFF2-40B4-BE49-F238E27FC236}">
                  <a16:creationId xmlns:a16="http://schemas.microsoft.com/office/drawing/2014/main" id="{7E971E52-3CFF-5BBB-4E94-06ED20A9EB8C}"/>
                </a:ext>
              </a:extLst>
            </p:cNvPr>
            <p:cNvCxnSpPr>
              <a:cxnSpLocks/>
              <a:stCxn id="11" idx="0"/>
              <a:endCxn id="15" idx="4"/>
            </p:cNvCxnSpPr>
            <p:nvPr/>
          </p:nvCxnSpPr>
          <p:spPr>
            <a:xfrm flipV="1">
              <a:off x="3055722" y="3218339"/>
              <a:ext cx="404949" cy="639287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接點 39">
              <a:extLst>
                <a:ext uri="{FF2B5EF4-FFF2-40B4-BE49-F238E27FC236}">
                  <a16:creationId xmlns:a16="http://schemas.microsoft.com/office/drawing/2014/main" id="{78AF84B3-BBB9-15B8-3329-0D3B33D0CFFB}"/>
                </a:ext>
              </a:extLst>
            </p:cNvPr>
            <p:cNvCxnSpPr>
              <a:cxnSpLocks/>
              <a:stCxn id="12" idx="0"/>
              <a:endCxn id="13" idx="4"/>
            </p:cNvCxnSpPr>
            <p:nvPr/>
          </p:nvCxnSpPr>
          <p:spPr>
            <a:xfrm flipH="1" flipV="1">
              <a:off x="1867003" y="3218339"/>
              <a:ext cx="1985553" cy="639287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接點 40">
              <a:extLst>
                <a:ext uri="{FF2B5EF4-FFF2-40B4-BE49-F238E27FC236}">
                  <a16:creationId xmlns:a16="http://schemas.microsoft.com/office/drawing/2014/main" id="{1E4CC2B8-062C-4F51-9027-B25C1DC15E67}"/>
                </a:ext>
              </a:extLst>
            </p:cNvPr>
            <p:cNvCxnSpPr>
              <a:cxnSpLocks/>
              <a:stCxn id="11" idx="0"/>
              <a:endCxn id="13" idx="4"/>
            </p:cNvCxnSpPr>
            <p:nvPr/>
          </p:nvCxnSpPr>
          <p:spPr>
            <a:xfrm flipH="1" flipV="1">
              <a:off x="1867003" y="3218339"/>
              <a:ext cx="1188719" cy="639287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接點 41">
              <a:extLst>
                <a:ext uri="{FF2B5EF4-FFF2-40B4-BE49-F238E27FC236}">
                  <a16:creationId xmlns:a16="http://schemas.microsoft.com/office/drawing/2014/main" id="{A5A06CF9-1A78-960D-64E0-B15D1DDB3122}"/>
                </a:ext>
              </a:extLst>
            </p:cNvPr>
            <p:cNvCxnSpPr>
              <a:cxnSpLocks/>
              <a:stCxn id="9" idx="0"/>
              <a:endCxn id="15" idx="4"/>
            </p:cNvCxnSpPr>
            <p:nvPr/>
          </p:nvCxnSpPr>
          <p:spPr>
            <a:xfrm flipV="1">
              <a:off x="1462054" y="3218339"/>
              <a:ext cx="1998617" cy="639287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向下箭號 43">
            <a:extLst>
              <a:ext uri="{FF2B5EF4-FFF2-40B4-BE49-F238E27FC236}">
                <a16:creationId xmlns:a16="http://schemas.microsoft.com/office/drawing/2014/main" id="{0B8BD25A-96C1-9E85-E37F-31DA7E800A6A}"/>
              </a:ext>
            </a:extLst>
          </p:cNvPr>
          <p:cNvSpPr/>
          <p:nvPr/>
        </p:nvSpPr>
        <p:spPr>
          <a:xfrm rot="16200000">
            <a:off x="4001562" y="3673663"/>
            <a:ext cx="310593" cy="49672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038" name="Picture 14" descr="購買Apple Watch Series 10 (GPS)；46 公釐銀色鋁金屬錶殼；丹寧色運動型錶帶- M/L - Apple (台灣)">
            <a:extLst>
              <a:ext uri="{FF2B5EF4-FFF2-40B4-BE49-F238E27FC236}">
                <a16:creationId xmlns:a16="http://schemas.microsoft.com/office/drawing/2014/main" id="{0DCA2A28-A9C0-B1C2-9A6E-C411C0B019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8950" y="2699542"/>
            <a:ext cx="671634" cy="643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84388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F206B3-721A-DC0C-10A5-4907A7FB4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/>
              <a:t>Comparison: What is Model Compression?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0B4505B-BFB0-6C81-9AA6-D92EF8C08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48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6EFF915-AB23-B5F5-7E92-473D6375AB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937" y="2623725"/>
            <a:ext cx="9710125" cy="2501008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ADFDF08F-ABB8-242E-FC1E-F6170FA3FFBE}"/>
              </a:ext>
            </a:extLst>
          </p:cNvPr>
          <p:cNvSpPr txBox="1"/>
          <p:nvPr/>
        </p:nvSpPr>
        <p:spPr>
          <a:xfrm>
            <a:off x="4796246" y="6415560"/>
            <a:ext cx="25995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sz="1600" dirty="0"/>
              <a:t>Figure credit: </a:t>
            </a:r>
            <a:r>
              <a:rPr kumimoji="1" lang="en" altLang="zh-TW" sz="1600" dirty="0" err="1"/>
              <a:t>yxhong-tw</a:t>
            </a:r>
            <a:endParaRPr kumimoji="1"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7692212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011217-8AEA-0903-6E8A-D086C99C4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PEFT</a:t>
            </a:r>
            <a:r>
              <a:rPr kumimoji="1" lang="zh-TW" altLang="en-US" dirty="0"/>
              <a:t> </a:t>
            </a:r>
            <a:r>
              <a:rPr kumimoji="1" lang="en-US" altLang="zh-TW" dirty="0"/>
              <a:t>vs. Model compression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0B9FF42-476D-4C9B-3D90-8362CDFA6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49</a:t>
            </a:fld>
            <a:endParaRPr 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D0D9490-8F96-46F9-E781-4A4F6F1BEC90}"/>
              </a:ext>
            </a:extLst>
          </p:cNvPr>
          <p:cNvGraphicFramePr>
            <a:graphicFrameLocks noGrp="1"/>
          </p:cNvGraphicFramePr>
          <p:nvPr/>
        </p:nvGraphicFramePr>
        <p:xfrm>
          <a:off x="1102659" y="2412081"/>
          <a:ext cx="9690848" cy="2980901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2947843886"/>
                    </a:ext>
                  </a:extLst>
                </a:gridCol>
                <a:gridCol w="3778624">
                  <a:extLst>
                    <a:ext uri="{9D8B030D-6E8A-4147-A177-3AD203B41FA5}">
                      <a16:colId xmlns:a16="http://schemas.microsoft.com/office/drawing/2014/main" val="1439152719"/>
                    </a:ext>
                  </a:extLst>
                </a:gridCol>
                <a:gridCol w="3778624">
                  <a:extLst>
                    <a:ext uri="{9D8B030D-6E8A-4147-A177-3AD203B41FA5}">
                      <a16:colId xmlns:a16="http://schemas.microsoft.com/office/drawing/2014/main" val="1365398480"/>
                    </a:ext>
                  </a:extLst>
                </a:gridCol>
              </a:tblGrid>
              <a:tr h="516195">
                <a:tc>
                  <a:txBody>
                    <a:bodyPr/>
                    <a:lstStyle/>
                    <a:p>
                      <a:pPr algn="ctr" fontAlgn="t"/>
                      <a:endParaRPr lang="zh-TW" altLang="en-US" sz="1800" b="1" i="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1800" b="1" i="0" dirty="0">
                          <a:effectLst/>
                          <a:latin typeface="+mn-lt"/>
                          <a:ea typeface="Microsoft JhengHei" panose="020B0604030504040204" pitchFamily="34" charset="-120"/>
                        </a:rPr>
                        <a:t>PEFT</a:t>
                      </a:r>
                      <a:endParaRPr lang="zh-TW" altLang="en-US" sz="1800" b="1" i="0" dirty="0">
                        <a:effectLst/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dirty="0">
                          <a:effectLst/>
                          <a:latin typeface="+mn-lt"/>
                        </a:rPr>
                        <a:t>Model Compression</a:t>
                      </a: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4956191"/>
                  </a:ext>
                </a:extLst>
              </a:tr>
              <a:tr h="437786"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i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目標</a:t>
                      </a: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 err="1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讓模型適應新的任務</a:t>
                      </a:r>
                      <a:r>
                        <a:rPr lang="en-US" sz="1800" i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，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 err="1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但模型大小不變</a:t>
                      </a:r>
                      <a:endParaRPr lang="en-US" sz="1800" i="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 err="1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加速模型運算或模型儲存空間</a:t>
                      </a:r>
                      <a:endParaRPr lang="en-US" sz="1800" i="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4467647"/>
                  </a:ext>
                </a:extLst>
              </a:tr>
              <a:tr h="437786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 err="1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相較於原始模型的改變內容</a:t>
                      </a:r>
                      <a:endParaRPr lang="en-US" sz="1800" i="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800" i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插入少量可訓練參數</a:t>
                      </a:r>
                      <a:endParaRPr lang="en-US" sz="1800" i="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減少整體模型結構或權重</a:t>
                      </a:r>
                      <a:endParaRPr lang="en-US" sz="1800" i="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3878449"/>
                  </a:ext>
                </a:extLst>
              </a:tr>
              <a:tr h="437786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 err="1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參數更新</a:t>
                      </a:r>
                      <a:endParaRPr lang="en-US" sz="1800" i="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800" i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只更新少量新參數</a:t>
                      </a:r>
                      <a:endParaRPr lang="en-US" sz="1800" i="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 err="1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先</a:t>
                      </a:r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減少整體模型結構後針對新的模型進行訓練</a:t>
                      </a:r>
                      <a:endParaRPr lang="en-US" sz="1800" i="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7564126"/>
                  </a:ext>
                </a:extLst>
              </a:tr>
              <a:tr h="437786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使用情境</a:t>
                      </a:r>
                      <a:endParaRPr lang="pt-BR" sz="1800" i="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i="0" dirty="0" err="1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需要模型學會新的任務時</a:t>
                      </a:r>
                      <a:endParaRPr lang="pt-BR" sz="1800" i="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i="0" dirty="0" err="1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手機、邊緣裝置</a:t>
                      </a:r>
                      <a:endParaRPr lang="en-US" sz="1800" i="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5225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678697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1317D-6B8E-608A-975B-4A7AF5E6E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97B3D1-1FF5-FD7A-82B4-C9D9C8C8E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Previous Videos of Model Compression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F932F4B-C913-AFC2-804F-9B4F5AD13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5E7602B-5AE9-EED1-4DF0-5C5EBFFCF95F}"/>
              </a:ext>
            </a:extLst>
          </p:cNvPr>
          <p:cNvSpPr txBox="1"/>
          <p:nvPr/>
        </p:nvSpPr>
        <p:spPr>
          <a:xfrm>
            <a:off x="653143" y="1878701"/>
            <a:ext cx="8226906" cy="1685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>
                <a:ea typeface="Microsoft JhengHei" panose="020B0604030504040204" pitchFamily="34" charset="-120"/>
                <a:hlinkClick r:id="rId2"/>
              </a:rPr>
              <a:t>https://youtu.be/Qqyo9U2JRBQ?si=V9F_nNm44dijmYKc</a:t>
            </a:r>
            <a:endParaRPr kumimoji="1" lang="en" altLang="zh-TW" sz="2400" dirty="0"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>
                <a:ea typeface="Microsoft JhengHei" panose="020B0604030504040204" pitchFamily="34" charset="-120"/>
                <a:hlinkClick r:id="rId3"/>
              </a:rPr>
              <a:t>https://youtu.be/luBa01XYoBc?si=8Hj8fUUI6RwPPI1j</a:t>
            </a:r>
            <a:endParaRPr kumimoji="1" lang="en" altLang="zh-TW" sz="2400" dirty="0"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>
                <a:ea typeface="Microsoft JhengHei" panose="020B0604030504040204" pitchFamily="34" charset="-120"/>
                <a:hlinkClick r:id="rId4"/>
              </a:rPr>
              <a:t>https://youtu.be/dpE6LyIGU9w?si=5XBdr-JDJaHojoJD</a:t>
            </a:r>
            <a:endParaRPr kumimoji="1" lang="en" altLang="zh-TW" sz="2400" dirty="0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4627906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D974B2-F49C-9EBA-253C-B2455C5AA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587" y="854418"/>
            <a:ext cx="3485626" cy="2286000"/>
          </a:xfrm>
        </p:spPr>
        <p:txBody>
          <a:bodyPr/>
          <a:lstStyle/>
          <a:p>
            <a:r>
              <a:rPr kumimoji="1" lang="en-US" altLang="zh-TW" b="1" dirty="0"/>
              <a:t>Announcement</a:t>
            </a:r>
            <a:endParaRPr kumimoji="1" lang="zh-TW" altLang="en-US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385ED07-CB5D-A4E4-79C7-B26C4BC01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93CB510-8B74-C75C-654D-8EBECB5160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4587" y="3598876"/>
            <a:ext cx="3200400" cy="2189528"/>
          </a:xfrm>
        </p:spPr>
        <p:txBody>
          <a:bodyPr>
            <a:normAutofit/>
          </a:bodyPr>
          <a:lstStyle/>
          <a:p>
            <a:r>
              <a:rPr kumimoji="1" lang="en-US" altLang="zh-TW" sz="3200" dirty="0"/>
              <a:t>For Week 15 and Week 16</a:t>
            </a:r>
            <a:endParaRPr kumimoji="1" lang="zh-TW" altLang="en-US" sz="3200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188D801-965C-DA4A-123B-3A6755BF6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47520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D6BBC6-475E-5780-1825-2477AF605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Week 15/16 </a:t>
            </a:r>
            <a:r>
              <a:rPr kumimoji="1" lang="zh-TW" altLang="en-US" dirty="0"/>
              <a:t>報告順序與注意事項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8DC36EAA-90F7-7758-786D-5B8B876B02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3142" y="1679126"/>
            <a:ext cx="6501468" cy="4548951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57A55CA-0015-E7CF-FFAB-2363F6652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7EBA282-2444-D11B-4C1C-137B37614FC0}"/>
              </a:ext>
            </a:extLst>
          </p:cNvPr>
          <p:cNvSpPr txBox="1"/>
          <p:nvPr/>
        </p:nvSpPr>
        <p:spPr>
          <a:xfrm>
            <a:off x="7441036" y="1679126"/>
            <a:ext cx="4097822" cy="2344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/>
              <a:t>四個主題</a:t>
            </a:r>
            <a:endParaRPr kumimoji="1" lang="en-US" altLang="zh-TW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/>
              <a:t>報告順序可換</a:t>
            </a:r>
            <a:endParaRPr kumimoji="1" lang="en-US" altLang="zh-TW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/>
              <a:t>非報告組同學仍需到場</a:t>
            </a:r>
            <a:endParaRPr kumimoji="1" lang="en-US" altLang="zh-TW" sz="20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/>
              <a:t>聆聽報告</a:t>
            </a:r>
            <a:endParaRPr kumimoji="1" lang="en-US" altLang="zh-TW" sz="20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/>
              <a:t>進行同儕互評</a:t>
            </a:r>
            <a:endParaRPr kumimoji="1"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137887433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AB2CC-774E-DCC6-9A87-8FC36FBA9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C44B3CDA-D9BF-7E5F-9614-6D638B79D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127" y="1827012"/>
            <a:ext cx="3566381" cy="2286000"/>
          </a:xfrm>
        </p:spPr>
        <p:txBody>
          <a:bodyPr>
            <a:normAutofit fontScale="90000"/>
          </a:bodyPr>
          <a:lstStyle/>
          <a:p>
            <a:r>
              <a:rPr lang="en-US" altLang="zh-TW" sz="4400" dirty="0"/>
              <a:t>Reasoning Models</a:t>
            </a:r>
            <a:br>
              <a:rPr lang="en-US" altLang="zh-TW" sz="4400" dirty="0"/>
            </a:br>
            <a:r>
              <a:rPr lang="en-US" altLang="zh-TW" sz="4400" dirty="0"/>
              <a:t>(</a:t>
            </a:r>
            <a:r>
              <a:rPr lang="zh-TW" altLang="en-US" sz="4400" dirty="0"/>
              <a:t>會推理的模型</a:t>
            </a:r>
            <a:r>
              <a:rPr lang="en-US" altLang="zh-TW" sz="4400" dirty="0"/>
              <a:t>)</a:t>
            </a:r>
            <a:endParaRPr lang="zh-TW" altLang="en-US" sz="44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3F1E35F-1CC6-1EF9-8A48-DAC2A772C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2" name="圓角矩形 1">
            <a:extLst>
              <a:ext uri="{FF2B5EF4-FFF2-40B4-BE49-F238E27FC236}">
                <a16:creationId xmlns:a16="http://schemas.microsoft.com/office/drawing/2014/main" id="{57D98633-26F8-0179-99EF-39C2BD1F92F2}"/>
              </a:ext>
            </a:extLst>
          </p:cNvPr>
          <p:cNvSpPr/>
          <p:nvPr/>
        </p:nvSpPr>
        <p:spPr>
          <a:xfrm>
            <a:off x="4769510" y="2805420"/>
            <a:ext cx="2406701" cy="130759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800" dirty="0">
                <a:solidFill>
                  <a:schemeClr val="tx1"/>
                </a:solidFill>
              </a:rPr>
              <a:t>Reasoning Models</a:t>
            </a:r>
            <a:endParaRPr kumimoji="1" lang="zh-TW" altLang="en-US" sz="2800" dirty="0">
              <a:solidFill>
                <a:schemeClr val="tx1"/>
              </a:solidFill>
            </a:endParaRPr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48C94C5A-46D6-68F3-18C1-9DE707531D1F}"/>
              </a:ext>
            </a:extLst>
          </p:cNvPr>
          <p:cNvSpPr/>
          <p:nvPr/>
        </p:nvSpPr>
        <p:spPr>
          <a:xfrm>
            <a:off x="8594141" y="2805420"/>
            <a:ext cx="2406701" cy="130759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800" dirty="0">
                <a:solidFill>
                  <a:schemeClr val="tx1"/>
                </a:solidFill>
              </a:rPr>
              <a:t>Test-Time Compute</a:t>
            </a:r>
            <a:endParaRPr kumimoji="1" lang="zh-TW" altLang="en-US" sz="2800" dirty="0">
              <a:solidFill>
                <a:schemeClr val="tx1"/>
              </a:solidFill>
            </a:endParaRPr>
          </a:p>
        </p:txBody>
      </p:sp>
      <p:cxnSp>
        <p:nvCxnSpPr>
          <p:cNvPr id="7" name="直線箭頭接點 6">
            <a:extLst>
              <a:ext uri="{FF2B5EF4-FFF2-40B4-BE49-F238E27FC236}">
                <a16:creationId xmlns:a16="http://schemas.microsoft.com/office/drawing/2014/main" id="{C2AC2B92-C338-65A8-B7A4-57441D77EC54}"/>
              </a:ext>
            </a:extLst>
          </p:cNvPr>
          <p:cNvCxnSpPr/>
          <p:nvPr/>
        </p:nvCxnSpPr>
        <p:spPr>
          <a:xfrm>
            <a:off x="7384878" y="3459216"/>
            <a:ext cx="972922" cy="0"/>
          </a:xfrm>
          <a:prstGeom prst="straightConnector1">
            <a:avLst/>
          </a:prstGeom>
          <a:ln w="3810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latest">
            <a:extLst>
              <a:ext uri="{FF2B5EF4-FFF2-40B4-BE49-F238E27FC236}">
                <a16:creationId xmlns:a16="http://schemas.microsoft.com/office/drawing/2014/main" id="{F8984236-77FF-680D-D317-F5E8C7505D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27" r="27960"/>
          <a:stretch/>
        </p:blipFill>
        <p:spPr bwMode="auto">
          <a:xfrm>
            <a:off x="1366985" y="4549375"/>
            <a:ext cx="1184018" cy="1546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A1E93671-37CD-0844-E4D4-BA35E04AF90F}"/>
              </a:ext>
            </a:extLst>
          </p:cNvPr>
          <p:cNvSpPr/>
          <p:nvPr/>
        </p:nvSpPr>
        <p:spPr>
          <a:xfrm>
            <a:off x="1626485" y="4999414"/>
            <a:ext cx="665018" cy="3232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LLM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7474136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CEA227-4004-C8AF-FEA5-397445744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en-US" altLang="zh-TW" sz="4000" dirty="0"/>
              <a:t>Standard Prompting vs. Chain-of-Thought (</a:t>
            </a:r>
            <a:r>
              <a:rPr kumimoji="1" lang="en-US" altLang="zh-TW" sz="4000" dirty="0" err="1"/>
              <a:t>CoT</a:t>
            </a:r>
            <a:r>
              <a:rPr kumimoji="1" lang="en-US" altLang="zh-TW" sz="4000" dirty="0"/>
              <a:t>)</a:t>
            </a:r>
            <a:endParaRPr kumimoji="1" lang="zh-TW" altLang="en-US" sz="4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C3EC98A-9825-802B-4362-7817E871F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54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0AB150C-6B48-F1CD-EA60-CEFFD1E22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365" y="1976363"/>
            <a:ext cx="7720320" cy="4206323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32DC38D4-E182-5566-54EF-B206EFBC14A5}"/>
              </a:ext>
            </a:extLst>
          </p:cNvPr>
          <p:cNvSpPr txBox="1"/>
          <p:nvPr/>
        </p:nvSpPr>
        <p:spPr>
          <a:xfrm>
            <a:off x="5644848" y="4009830"/>
            <a:ext cx="1941014" cy="3077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TW" alt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</a:t>
            </a:r>
            <a:r>
              <a:rPr lang="en-US" altLang="zh-TW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’s</a:t>
            </a:r>
            <a:r>
              <a:rPr lang="zh-TW" alt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think step by step.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D94FFA4-4DD9-5EE2-B17F-745F603DB968}"/>
              </a:ext>
            </a:extLst>
          </p:cNvPr>
          <p:cNvSpPr txBox="1"/>
          <p:nvPr/>
        </p:nvSpPr>
        <p:spPr>
          <a:xfrm>
            <a:off x="8392986" y="1976363"/>
            <a:ext cx="31626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600" dirty="0" err="1"/>
              <a:t>CoT</a:t>
            </a:r>
            <a:r>
              <a:rPr kumimoji="1" lang="en" altLang="zh-TW" sz="1600" dirty="0"/>
              <a:t>: https://</a:t>
            </a:r>
            <a:r>
              <a:rPr kumimoji="1" lang="en" altLang="zh-TW" sz="1600" dirty="0" err="1"/>
              <a:t>arxiv.org</a:t>
            </a:r>
            <a:r>
              <a:rPr kumimoji="1" lang="en" altLang="zh-TW" sz="1600" dirty="0"/>
              <a:t>/abs/2201.11903</a:t>
            </a:r>
          </a:p>
          <a:p>
            <a:r>
              <a:rPr kumimoji="1" lang="en" altLang="zh-TW" sz="1600" dirty="0"/>
              <a:t>Zero-shot-</a:t>
            </a:r>
            <a:r>
              <a:rPr kumimoji="1" lang="en" altLang="zh-TW" sz="1600" dirty="0" err="1"/>
              <a:t>CoT</a:t>
            </a:r>
            <a:r>
              <a:rPr kumimoji="1" lang="en" altLang="zh-TW" sz="1600" dirty="0"/>
              <a:t>: https://</a:t>
            </a:r>
            <a:r>
              <a:rPr kumimoji="1" lang="en" altLang="zh-TW" sz="1600" dirty="0" err="1"/>
              <a:t>arxiv.org</a:t>
            </a:r>
            <a:r>
              <a:rPr kumimoji="1" lang="en" altLang="zh-TW" sz="1600" dirty="0"/>
              <a:t>/abs/2205.11916</a:t>
            </a:r>
            <a:endParaRPr kumimoji="1"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96834841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13B42B-8E8E-ADFE-B867-21B8B7D4B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 err="1"/>
              <a:t>CoT</a:t>
            </a:r>
            <a:r>
              <a:rPr kumimoji="1" lang="en-US" altLang="zh-TW" dirty="0"/>
              <a:t> - method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DC377C4-ACAD-667C-7DB3-27DAC4882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D798282-1501-8B9F-49BD-CD3ADFF2AA40}"/>
              </a:ext>
            </a:extLst>
          </p:cNvPr>
          <p:cNvSpPr txBox="1"/>
          <p:nvPr/>
        </p:nvSpPr>
        <p:spPr>
          <a:xfrm>
            <a:off x="653143" y="1495026"/>
            <a:ext cx="11186423" cy="368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en-US" altLang="zh-TW" sz="1600" dirty="0"/>
              <a:t>Wei et al., Chain-of-Thought Prompting Elicits Reasoning in Large Language Models. </a:t>
            </a:r>
            <a:r>
              <a:rPr kumimoji="1" lang="en-US" altLang="zh-TW" sz="1600" dirty="0" err="1"/>
              <a:t>NeurIPS</a:t>
            </a:r>
            <a:r>
              <a:rPr kumimoji="1" lang="en-US" altLang="zh-TW" sz="1600" dirty="0"/>
              <a:t> 2022. By Google.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E57CCE4-4DDC-E221-AC00-C4053710C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776" y="2458876"/>
            <a:ext cx="8336881" cy="1703678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4766DFDE-3286-9B83-610A-EFA6C0975119}"/>
              </a:ext>
            </a:extLst>
          </p:cNvPr>
          <p:cNvSpPr txBox="1"/>
          <p:nvPr/>
        </p:nvSpPr>
        <p:spPr>
          <a:xfrm>
            <a:off x="1969583" y="2440230"/>
            <a:ext cx="83060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Question: Sammy wanted to go to where the people were. Where might he go? Answer Choices: (a) populated areas (b) race track (c) desert (d) apartment (e) roadblock</a:t>
            </a:r>
            <a:endParaRPr kumimoji="1"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FB48A79-A46C-4383-371E-B06332E290CD}"/>
              </a:ext>
            </a:extLst>
          </p:cNvPr>
          <p:cNvSpPr txBox="1"/>
          <p:nvPr/>
        </p:nvSpPr>
        <p:spPr>
          <a:xfrm>
            <a:off x="1969582" y="3387027"/>
            <a:ext cx="85250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Answer: </a:t>
            </a:r>
            <a:r>
              <a:rPr kumimoji="1" lang="en" altLang="zh-TW" dirty="0">
                <a:highlight>
                  <a:srgbClr val="FFFF00"/>
                </a:highlight>
              </a:rPr>
              <a:t>The answer must be a place with a lot of people. Of the above choices, only populated areas have a lot of people. </a:t>
            </a:r>
            <a:r>
              <a:rPr kumimoji="1" lang="en" altLang="zh-TW" dirty="0">
                <a:highlight>
                  <a:srgbClr val="C0C0C0"/>
                </a:highlight>
              </a:rPr>
              <a:t>So the answer is (a) populated areas.</a:t>
            </a:r>
            <a:endParaRPr kumimoji="1" lang="zh-TW" altLang="en-US" dirty="0">
              <a:highlight>
                <a:srgbClr val="C0C0C0"/>
              </a:highlight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4E968D3-D7E7-3CE0-8C13-41367CA46445}"/>
              </a:ext>
            </a:extLst>
          </p:cNvPr>
          <p:cNvSpPr txBox="1"/>
          <p:nvPr/>
        </p:nvSpPr>
        <p:spPr>
          <a:xfrm>
            <a:off x="1969583" y="4508099"/>
            <a:ext cx="777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A gentleman is carrying equipment for golf, what is he likely to have?</a:t>
            </a:r>
          </a:p>
          <a:p>
            <a:r>
              <a:rPr kumimoji="1" lang="en" altLang="zh-TW" dirty="0"/>
              <a:t>Answer Choices: (a) populated areas (b) race track (c) desert (d) apartment (e) roadblock</a:t>
            </a:r>
            <a:endParaRPr kumimoji="1"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3A867A0-665E-DFFF-53A4-938C7650BD74}"/>
              </a:ext>
            </a:extLst>
          </p:cNvPr>
          <p:cNvSpPr txBox="1"/>
          <p:nvPr/>
        </p:nvSpPr>
        <p:spPr>
          <a:xfrm>
            <a:off x="1969583" y="5855581"/>
            <a:ext cx="777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Answer: </a:t>
            </a:r>
            <a:r>
              <a:rPr kumimoji="1" lang="en" altLang="zh-TW" dirty="0">
                <a:highlight>
                  <a:srgbClr val="FFFF00"/>
                </a:highlight>
              </a:rPr>
              <a:t>The answer must be something that is used for golf. Of the above choices, only clubs are used for golf. </a:t>
            </a:r>
            <a:r>
              <a:rPr kumimoji="1" lang="en" altLang="zh-TW" dirty="0">
                <a:highlight>
                  <a:srgbClr val="C0C0C0"/>
                </a:highlight>
              </a:rPr>
              <a:t>So the answer is (a) club.</a:t>
            </a:r>
            <a:endParaRPr kumimoji="1" lang="zh-TW" altLang="en-US" dirty="0">
              <a:highlight>
                <a:srgbClr val="C0C0C0"/>
              </a:highlight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9453EBB6-55AD-ADDE-6FF9-1EEAD957998C}"/>
              </a:ext>
            </a:extLst>
          </p:cNvPr>
          <p:cNvSpPr txBox="1"/>
          <p:nvPr/>
        </p:nvSpPr>
        <p:spPr>
          <a:xfrm>
            <a:off x="1969583" y="5854258"/>
            <a:ext cx="2082300" cy="374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Answer: </a:t>
            </a:r>
            <a:r>
              <a:rPr kumimoji="1" lang="en" altLang="zh-TW" dirty="0">
                <a:highlight>
                  <a:srgbClr val="C0C0C0"/>
                </a:highlight>
              </a:rPr>
              <a:t>(a) club.</a:t>
            </a:r>
            <a:endParaRPr kumimoji="1" lang="zh-TW" altLang="en-US" dirty="0">
              <a:highlight>
                <a:srgbClr val="C0C0C0"/>
              </a:highlight>
            </a:endParaRPr>
          </a:p>
        </p:txBody>
      </p:sp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26ADD769-F7AE-2050-6253-BA9DA43A0DB8}"/>
              </a:ext>
            </a:extLst>
          </p:cNvPr>
          <p:cNvCxnSpPr/>
          <p:nvPr/>
        </p:nvCxnSpPr>
        <p:spPr>
          <a:xfrm>
            <a:off x="5399830" y="5266539"/>
            <a:ext cx="0" cy="55755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802D7BA4-F3D9-CBD2-56D1-71ED3B6E3BBA}"/>
              </a:ext>
            </a:extLst>
          </p:cNvPr>
          <p:cNvSpPr txBox="1"/>
          <p:nvPr/>
        </p:nvSpPr>
        <p:spPr>
          <a:xfrm>
            <a:off x="4762748" y="3987051"/>
            <a:ext cx="1274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4000" b="1" dirty="0"/>
              <a:t>+</a:t>
            </a:r>
            <a:endParaRPr kumimoji="1" lang="zh-TW" altLang="en-US" sz="4000" b="1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73560EAF-4D71-C8F2-6438-079ABFEE8FC2}"/>
              </a:ext>
            </a:extLst>
          </p:cNvPr>
          <p:cNvSpPr txBox="1"/>
          <p:nvPr/>
        </p:nvSpPr>
        <p:spPr>
          <a:xfrm>
            <a:off x="2565031" y="2101880"/>
            <a:ext cx="6576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b="1" dirty="0"/>
              <a:t>Prompt: Few-shot examples (Rationales written by human)</a:t>
            </a:r>
            <a:endParaRPr kumimoji="1" lang="zh-TW" altLang="en-US" b="1" dirty="0"/>
          </a:p>
        </p:txBody>
      </p:sp>
      <p:cxnSp>
        <p:nvCxnSpPr>
          <p:cNvPr id="17" name="肘形接點 16">
            <a:extLst>
              <a:ext uri="{FF2B5EF4-FFF2-40B4-BE49-F238E27FC236}">
                <a16:creationId xmlns:a16="http://schemas.microsoft.com/office/drawing/2014/main" id="{FBA98B5B-8275-2A25-6C4E-988F6BF090AC}"/>
              </a:ext>
            </a:extLst>
          </p:cNvPr>
          <p:cNvCxnSpPr>
            <a:cxnSpLocks/>
            <a:stCxn id="10" idx="1"/>
            <a:endCxn id="7" idx="1"/>
          </p:cNvCxnSpPr>
          <p:nvPr/>
        </p:nvCxnSpPr>
        <p:spPr>
          <a:xfrm rot="10800000">
            <a:off x="1938777" y="3310716"/>
            <a:ext cx="30807" cy="1659049"/>
          </a:xfrm>
          <a:prstGeom prst="bentConnector3">
            <a:avLst>
              <a:gd name="adj1" fmla="val 842039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A3E87A9A-AF4A-CDC1-C23E-385D9A602F7F}"/>
              </a:ext>
            </a:extLst>
          </p:cNvPr>
          <p:cNvSpPr txBox="1"/>
          <p:nvPr/>
        </p:nvSpPr>
        <p:spPr>
          <a:xfrm>
            <a:off x="653142" y="3820742"/>
            <a:ext cx="10666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Similar in task</a:t>
            </a:r>
            <a:endParaRPr kumimoji="1"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0543A295-B0D9-9C82-B613-8C739AC40D48}"/>
              </a:ext>
            </a:extLst>
          </p:cNvPr>
          <p:cNvSpPr txBox="1"/>
          <p:nvPr/>
        </p:nvSpPr>
        <p:spPr>
          <a:xfrm>
            <a:off x="9692901" y="5795620"/>
            <a:ext cx="1165100" cy="646331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highlight>
                  <a:srgbClr val="FFFF00"/>
                </a:highlight>
              </a:rPr>
              <a:t>Rationale</a:t>
            </a:r>
          </a:p>
          <a:p>
            <a:r>
              <a:rPr kumimoji="1" lang="en-US" altLang="zh-TW" dirty="0">
                <a:highlight>
                  <a:srgbClr val="C0C0C0"/>
                </a:highlight>
              </a:rPr>
              <a:t>Answer</a:t>
            </a:r>
            <a:endParaRPr kumimoji="1" lang="zh-TW" altLang="en-US" dirty="0">
              <a:highlight>
                <a:srgbClr val="C0C0C0"/>
              </a:highlight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EC0B5965-D125-D77E-0BA9-F6E4550ACB53}"/>
              </a:ext>
            </a:extLst>
          </p:cNvPr>
          <p:cNvSpPr txBox="1"/>
          <p:nvPr/>
        </p:nvSpPr>
        <p:spPr>
          <a:xfrm>
            <a:off x="10018346" y="3051755"/>
            <a:ext cx="12741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800" b="1" dirty="0" err="1"/>
              <a:t>xN</a:t>
            </a:r>
            <a:endParaRPr kumimoji="1" lang="zh-TW" altLang="en-US" sz="2800" b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AC9B2BE-70F1-2A04-33E5-DF0BB99FF2E9}"/>
              </a:ext>
            </a:extLst>
          </p:cNvPr>
          <p:cNvSpPr txBox="1"/>
          <p:nvPr/>
        </p:nvSpPr>
        <p:spPr>
          <a:xfrm>
            <a:off x="9477373" y="4785099"/>
            <a:ext cx="2362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chemeClr val="accent1"/>
                </a:solidFill>
                <a:ea typeface="Microsoft JhengHei" panose="020B0604030504040204" pitchFamily="34" charset="-120"/>
              </a:rPr>
              <a:t>(</a:t>
            </a:r>
            <a:r>
              <a:rPr kumimoji="1" lang="zh-TW" altLang="en-US" dirty="0">
                <a:solidFill>
                  <a:schemeClr val="accent1"/>
                </a:solidFill>
                <a:ea typeface="Microsoft JhengHei" panose="020B0604030504040204" pitchFamily="34" charset="-120"/>
              </a:rPr>
              <a:t>⬅️有選項的</a:t>
            </a:r>
            <a:r>
              <a:rPr kumimoji="1" lang="en-US" altLang="zh-TW" dirty="0">
                <a:solidFill>
                  <a:schemeClr val="accent1"/>
                </a:solidFill>
                <a:ea typeface="Microsoft JhengHei" panose="020B0604030504040204" pitchFamily="34" charset="-120"/>
              </a:rPr>
              <a:t>QA</a:t>
            </a:r>
            <a:r>
              <a:rPr kumimoji="1" lang="zh-TW" altLang="en-US" dirty="0">
                <a:solidFill>
                  <a:schemeClr val="accent1"/>
                </a:solidFill>
                <a:ea typeface="Microsoft JhengHei" panose="020B0604030504040204" pitchFamily="34" charset="-120"/>
              </a:rPr>
              <a:t>問題</a:t>
            </a:r>
            <a:r>
              <a:rPr kumimoji="1" lang="en-US" altLang="zh-TW" dirty="0">
                <a:solidFill>
                  <a:schemeClr val="accent1"/>
                </a:solidFill>
                <a:ea typeface="Microsoft JhengHei" panose="020B0604030504040204" pitchFamily="34" charset="-120"/>
              </a:rPr>
              <a:t>)</a:t>
            </a:r>
            <a:endParaRPr kumimoji="1" lang="zh-TW" altLang="en-US" dirty="0">
              <a:solidFill>
                <a:schemeClr val="accent1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5281AC2-A3DC-76B7-690E-A4372BA6F42E}"/>
              </a:ext>
            </a:extLst>
          </p:cNvPr>
          <p:cNvSpPr txBox="1"/>
          <p:nvPr/>
        </p:nvSpPr>
        <p:spPr>
          <a:xfrm>
            <a:off x="519019" y="5877595"/>
            <a:ext cx="2362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chemeClr val="accent1"/>
                </a:solidFill>
                <a:ea typeface="Microsoft JhengHei" panose="020B0604030504040204" pitchFamily="34" charset="-120"/>
              </a:rPr>
              <a:t>(</a:t>
            </a:r>
            <a:r>
              <a:rPr kumimoji="1" lang="zh-TW" altLang="en-US" dirty="0">
                <a:solidFill>
                  <a:schemeClr val="accent1"/>
                </a:solidFill>
                <a:ea typeface="Microsoft JhengHei" panose="020B0604030504040204" pitchFamily="34" charset="-120"/>
              </a:rPr>
              <a:t>模型回答➡️</a:t>
            </a:r>
            <a:r>
              <a:rPr kumimoji="1" lang="en-US" altLang="zh-TW" dirty="0">
                <a:solidFill>
                  <a:schemeClr val="accent1"/>
                </a:solidFill>
                <a:ea typeface="Microsoft JhengHei" panose="020B0604030504040204" pitchFamily="34" charset="-120"/>
              </a:rPr>
              <a:t>)</a:t>
            </a:r>
            <a:endParaRPr kumimoji="1" lang="zh-TW" altLang="en-US" dirty="0">
              <a:solidFill>
                <a:schemeClr val="accent1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62901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2" grpId="0"/>
      <p:bldP spid="14" grpId="0"/>
      <p:bldP spid="15" grpId="0"/>
      <p:bldP spid="21" grpId="0"/>
      <p:bldP spid="22" grpId="0" animBg="1"/>
      <p:bldP spid="23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0D8441-FACB-F63A-DC5D-74C13C960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en-US" altLang="zh-TW" sz="4100" dirty="0" err="1"/>
              <a:t>CoT</a:t>
            </a:r>
            <a:r>
              <a:rPr kumimoji="1" lang="en-US" altLang="zh-TW" sz="4100" dirty="0"/>
              <a:t> is not just Few-shot -&gt; [Recap] GPT-3</a:t>
            </a:r>
            <a:endParaRPr kumimoji="1" lang="zh-TW" altLang="en-US" sz="41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4835E05-F217-EE1C-AE30-59FB89B40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AB47C7B-18E5-8B59-5567-7E15B6DF7968}"/>
              </a:ext>
            </a:extLst>
          </p:cNvPr>
          <p:cNvSpPr txBox="1"/>
          <p:nvPr/>
        </p:nvSpPr>
        <p:spPr>
          <a:xfrm>
            <a:off x="653143" y="1527272"/>
            <a:ext cx="8332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dirty="0"/>
              <a:t>The three settings explored for </a:t>
            </a:r>
            <a:r>
              <a:rPr kumimoji="1" lang="en-US" altLang="zh-TW" dirty="0">
                <a:solidFill>
                  <a:srgbClr val="FF0000"/>
                </a:solidFill>
              </a:rPr>
              <a:t>in-context learning </a:t>
            </a:r>
            <a:r>
              <a:rPr kumimoji="1" lang="en-US" altLang="zh-TW" dirty="0"/>
              <a:t>in the GPT-3 paper:</a:t>
            </a:r>
            <a:endParaRPr kumimoji="1"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15C3648F-3256-729F-2034-7364B733A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189" y="2208229"/>
            <a:ext cx="4271010" cy="1770745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2CA9D29C-1BD0-44E8-5F30-B4D70D6C7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188" y="4155379"/>
            <a:ext cx="4271010" cy="2109302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53918B0-0279-0CA6-80C0-745207D5DF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7255" y="2208229"/>
            <a:ext cx="4698066" cy="294894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387213E2-BDD5-CDE0-10FD-F1E8DA6F9851}"/>
              </a:ext>
            </a:extLst>
          </p:cNvPr>
          <p:cNvSpPr txBox="1"/>
          <p:nvPr/>
        </p:nvSpPr>
        <p:spPr>
          <a:xfrm>
            <a:off x="1386678" y="6415560"/>
            <a:ext cx="94186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200" dirty="0"/>
              <a:t>Brown, Tom, et al. "Language models are few-shot learners." Advances in neural information processing systems 33 (2020): 1877-1901.</a:t>
            </a:r>
            <a:endParaRPr lang="zh-TW" altLang="en-US" sz="12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BC1DE92-BD7C-0243-EFCF-C7A2C5470CC1}"/>
              </a:ext>
            </a:extLst>
          </p:cNvPr>
          <p:cNvSpPr txBox="1"/>
          <p:nvPr/>
        </p:nvSpPr>
        <p:spPr>
          <a:xfrm>
            <a:off x="5992955" y="5441672"/>
            <a:ext cx="44881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dirty="0">
                <a:solidFill>
                  <a:srgbClr val="FF0000"/>
                </a:solidFill>
              </a:rPr>
              <a:t>Note that these settings underperform the traditional fine-tuning methods.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492164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1BA2A9-8621-9D2C-CE39-26999DA8B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不同任務需要不同的</a:t>
            </a:r>
            <a:r>
              <a:rPr kumimoji="1" lang="en-US" altLang="zh-TW" dirty="0"/>
              <a:t> Prompt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29205BB-BFFD-D0D7-B593-48321FD64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57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C56FB7D-C0A3-3BE3-A2D9-830D716CA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365" y="1740153"/>
            <a:ext cx="8475269" cy="4432956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278F413A-D55C-95F7-BF47-E1402AB7B085}"/>
              </a:ext>
            </a:extLst>
          </p:cNvPr>
          <p:cNvSpPr txBox="1"/>
          <p:nvPr/>
        </p:nvSpPr>
        <p:spPr>
          <a:xfrm>
            <a:off x="4514674" y="6501912"/>
            <a:ext cx="31626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sz="1400" dirty="0"/>
              <a:t>https://</a:t>
            </a:r>
            <a:r>
              <a:rPr kumimoji="1" lang="en" altLang="zh-TW" sz="1400" dirty="0" err="1"/>
              <a:t>arxiv.org</a:t>
            </a:r>
            <a:r>
              <a:rPr kumimoji="1" lang="en" altLang="zh-TW" sz="1400" dirty="0"/>
              <a:t>/abs/2201.11903</a:t>
            </a:r>
          </a:p>
        </p:txBody>
      </p:sp>
    </p:spTree>
    <p:extLst>
      <p:ext uri="{BB962C8B-B14F-4D97-AF65-F5344CB8AC3E}">
        <p14:creationId xmlns:p14="http://schemas.microsoft.com/office/powerpoint/2010/main" val="306209372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00FC35-EF20-B1A9-7E2D-F069995F1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Zero-shot </a:t>
            </a:r>
            <a:r>
              <a:rPr kumimoji="1" lang="en-US" altLang="zh-TW" dirty="0" err="1"/>
              <a:t>CoT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490BC7B-B013-1AA9-CD78-E7DC23AA7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58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E5C67D9-C9F4-CA8C-F148-C7CDE21097DB}"/>
              </a:ext>
            </a:extLst>
          </p:cNvPr>
          <p:cNvSpPr txBox="1"/>
          <p:nvPr/>
        </p:nvSpPr>
        <p:spPr>
          <a:xfrm>
            <a:off x="4514674" y="6501912"/>
            <a:ext cx="31626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sz="1400" dirty="0"/>
              <a:t>https://</a:t>
            </a:r>
            <a:r>
              <a:rPr kumimoji="1" lang="en" altLang="zh-TW" sz="1400" dirty="0" err="1"/>
              <a:t>arxiv.org</a:t>
            </a:r>
            <a:r>
              <a:rPr kumimoji="1" lang="en" altLang="zh-TW" sz="1400" dirty="0"/>
              <a:t>/abs/2205.11916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925DC19-CD63-8F0A-6060-C5ACB6C72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5888" y="1713866"/>
            <a:ext cx="8700220" cy="446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9828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00FC35-EF20-B1A9-7E2D-F069995F1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Zero-shot </a:t>
            </a:r>
            <a:r>
              <a:rPr kumimoji="1" lang="en-US" altLang="zh-TW" dirty="0" err="1"/>
              <a:t>CoT</a:t>
            </a:r>
            <a:r>
              <a:rPr kumimoji="1" lang="zh-TW" altLang="en-US" dirty="0"/>
              <a:t> </a:t>
            </a:r>
            <a:r>
              <a:rPr kumimoji="1" lang="en-US" altLang="zh-TW" dirty="0"/>
              <a:t>- method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490BC7B-B013-1AA9-CD78-E7DC23AA7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59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E5C67D9-C9F4-CA8C-F148-C7CDE21097DB}"/>
              </a:ext>
            </a:extLst>
          </p:cNvPr>
          <p:cNvSpPr txBox="1"/>
          <p:nvPr/>
        </p:nvSpPr>
        <p:spPr>
          <a:xfrm>
            <a:off x="4514674" y="6501912"/>
            <a:ext cx="31626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sz="1400" dirty="0"/>
              <a:t>https://</a:t>
            </a:r>
            <a:r>
              <a:rPr kumimoji="1" lang="en" altLang="zh-TW" sz="1400" dirty="0" err="1"/>
              <a:t>arxiv.org</a:t>
            </a:r>
            <a:r>
              <a:rPr kumimoji="1" lang="en" altLang="zh-TW" sz="1400" dirty="0"/>
              <a:t>/abs/2205.11916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CCC0389-C2D5-6FE7-BA51-2889DD146EA3}"/>
              </a:ext>
            </a:extLst>
          </p:cNvPr>
          <p:cNvSpPr/>
          <p:nvPr/>
        </p:nvSpPr>
        <p:spPr>
          <a:xfrm>
            <a:off x="1946245" y="1638469"/>
            <a:ext cx="2692866" cy="7466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1st prompting</a:t>
            </a:r>
          </a:p>
          <a:p>
            <a:pPr algn="ctr"/>
            <a:r>
              <a:rPr kumimoji="1" lang="en-US" altLang="zh-TW" b="1" dirty="0">
                <a:solidFill>
                  <a:schemeClr val="tx1"/>
                </a:solidFill>
              </a:rPr>
              <a:t>Reasoning Extraction</a:t>
            </a: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30E01985-8DEE-B453-46F3-173D47B35B4B}"/>
              </a:ext>
            </a:extLst>
          </p:cNvPr>
          <p:cNvSpPr/>
          <p:nvPr/>
        </p:nvSpPr>
        <p:spPr>
          <a:xfrm>
            <a:off x="768990" y="4761703"/>
            <a:ext cx="5047376" cy="159393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TW" sz="1600" dirty="0">
                <a:solidFill>
                  <a:srgbClr val="0070C0"/>
                </a:solidFill>
              </a:rPr>
              <a:t>1. </a:t>
            </a:r>
            <a:r>
              <a:rPr kumimoji="1" lang="zh-TW" altLang="en-US" sz="1600" dirty="0">
                <a:solidFill>
                  <a:srgbClr val="0070C0"/>
                </a:solidFill>
              </a:rPr>
              <a:t>假設 </a:t>
            </a:r>
            <a:r>
              <a:rPr kumimoji="1" lang="en-US" altLang="zh-TW" sz="1600" dirty="0">
                <a:solidFill>
                  <a:srgbClr val="0070C0"/>
                </a:solidFill>
              </a:rPr>
              <a:t>35 </a:t>
            </a:r>
            <a:r>
              <a:rPr kumimoji="1" lang="zh-TW" altLang="en-US" sz="1600" dirty="0">
                <a:solidFill>
                  <a:srgbClr val="0070C0"/>
                </a:solidFill>
              </a:rPr>
              <a:t>隻全部都是雞，則腳數會是 </a:t>
            </a:r>
            <a:r>
              <a:rPr kumimoji="1" lang="en-US" altLang="zh-TW" sz="1600" dirty="0">
                <a:solidFill>
                  <a:srgbClr val="0070C0"/>
                </a:solidFill>
              </a:rPr>
              <a:t>35 × 2 = 70 </a:t>
            </a:r>
            <a:r>
              <a:rPr kumimoji="1" lang="zh-TW" altLang="en-US" sz="1600" dirty="0">
                <a:solidFill>
                  <a:srgbClr val="0070C0"/>
                </a:solidFill>
              </a:rPr>
              <a:t>隻。</a:t>
            </a:r>
          </a:p>
          <a:p>
            <a:r>
              <a:rPr kumimoji="1" lang="en-US" altLang="zh-TW" sz="1600" dirty="0">
                <a:solidFill>
                  <a:srgbClr val="0070C0"/>
                </a:solidFill>
              </a:rPr>
              <a:t>2. </a:t>
            </a:r>
            <a:r>
              <a:rPr kumimoji="1" lang="zh-TW" altLang="en-US" sz="1600" dirty="0">
                <a:solidFill>
                  <a:srgbClr val="0070C0"/>
                </a:solidFill>
              </a:rPr>
              <a:t>但實際上有 </a:t>
            </a:r>
            <a:r>
              <a:rPr kumimoji="1" lang="en-US" altLang="zh-TW" sz="1600" dirty="0">
                <a:solidFill>
                  <a:srgbClr val="0070C0"/>
                </a:solidFill>
              </a:rPr>
              <a:t>94 </a:t>
            </a:r>
            <a:r>
              <a:rPr kumimoji="1" lang="zh-TW" altLang="en-US" sz="1600" dirty="0">
                <a:solidFill>
                  <a:srgbClr val="0070C0"/>
                </a:solidFill>
              </a:rPr>
              <a:t>隻腳，多出 </a:t>
            </a:r>
            <a:r>
              <a:rPr kumimoji="1" lang="en-US" altLang="zh-TW" sz="1600" dirty="0">
                <a:solidFill>
                  <a:srgbClr val="0070C0"/>
                </a:solidFill>
              </a:rPr>
              <a:t>94 - 70 = 24 </a:t>
            </a:r>
            <a:r>
              <a:rPr kumimoji="1" lang="zh-TW" altLang="en-US" sz="1600" dirty="0">
                <a:solidFill>
                  <a:srgbClr val="0070C0"/>
                </a:solidFill>
              </a:rPr>
              <a:t>隻腳。</a:t>
            </a:r>
          </a:p>
          <a:p>
            <a:r>
              <a:rPr kumimoji="1" lang="en-US" altLang="zh-TW" sz="1600" dirty="0">
                <a:solidFill>
                  <a:srgbClr val="0070C0"/>
                </a:solidFill>
              </a:rPr>
              <a:t>3. </a:t>
            </a:r>
            <a:r>
              <a:rPr kumimoji="1" lang="zh-TW" altLang="en-US" sz="1600" dirty="0">
                <a:solidFill>
                  <a:srgbClr val="0070C0"/>
                </a:solidFill>
              </a:rPr>
              <a:t>每把一隻雞換成兔子，腳數會多 </a:t>
            </a:r>
            <a:r>
              <a:rPr kumimoji="1" lang="en-US" altLang="zh-TW" sz="1600" dirty="0">
                <a:solidFill>
                  <a:srgbClr val="0070C0"/>
                </a:solidFill>
              </a:rPr>
              <a:t>2 </a:t>
            </a:r>
            <a:r>
              <a:rPr kumimoji="1" lang="zh-TW" altLang="en-US" sz="1600" dirty="0">
                <a:solidFill>
                  <a:srgbClr val="0070C0"/>
                </a:solidFill>
              </a:rPr>
              <a:t>隻。</a:t>
            </a:r>
          </a:p>
          <a:p>
            <a:r>
              <a:rPr kumimoji="1" lang="en-US" altLang="zh-TW" sz="1600" dirty="0">
                <a:solidFill>
                  <a:srgbClr val="0070C0"/>
                </a:solidFill>
              </a:rPr>
              <a:t>4. </a:t>
            </a:r>
            <a:r>
              <a:rPr kumimoji="1" lang="zh-TW" altLang="en-US" sz="1600" dirty="0">
                <a:solidFill>
                  <a:srgbClr val="0070C0"/>
                </a:solidFill>
              </a:rPr>
              <a:t>因此兔子的數量是 </a:t>
            </a:r>
            <a:r>
              <a:rPr kumimoji="1" lang="en-US" altLang="zh-TW" sz="1600" dirty="0">
                <a:solidFill>
                  <a:srgbClr val="0070C0"/>
                </a:solidFill>
              </a:rPr>
              <a:t>24 ÷ 2 = 12 </a:t>
            </a:r>
            <a:r>
              <a:rPr kumimoji="1" lang="zh-TW" altLang="en-US" sz="1600" dirty="0">
                <a:solidFill>
                  <a:srgbClr val="0070C0"/>
                </a:solidFill>
              </a:rPr>
              <a:t>隻。</a:t>
            </a:r>
          </a:p>
          <a:p>
            <a:r>
              <a:rPr kumimoji="1" lang="en-US" altLang="zh-TW" sz="1600" dirty="0">
                <a:solidFill>
                  <a:srgbClr val="0070C0"/>
                </a:solidFill>
              </a:rPr>
              <a:t>5. </a:t>
            </a:r>
            <a:r>
              <a:rPr kumimoji="1" lang="zh-TW" altLang="en-US" sz="1600" dirty="0">
                <a:solidFill>
                  <a:srgbClr val="0070C0"/>
                </a:solidFill>
              </a:rPr>
              <a:t>雞的數量是 </a:t>
            </a:r>
            <a:r>
              <a:rPr kumimoji="1" lang="en-US" altLang="zh-TW" sz="1600" dirty="0">
                <a:solidFill>
                  <a:srgbClr val="0070C0"/>
                </a:solidFill>
              </a:rPr>
              <a:t>35 - 12 = 23 </a:t>
            </a:r>
            <a:r>
              <a:rPr kumimoji="1" lang="zh-TW" altLang="en-US" sz="1600" dirty="0">
                <a:solidFill>
                  <a:srgbClr val="0070C0"/>
                </a:solidFill>
              </a:rPr>
              <a:t>隻。</a:t>
            </a: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1A3E1BAA-D67E-91D8-426A-E0877C5F696F}"/>
              </a:ext>
            </a:extLst>
          </p:cNvPr>
          <p:cNvSpPr/>
          <p:nvPr/>
        </p:nvSpPr>
        <p:spPr>
          <a:xfrm>
            <a:off x="768990" y="2568700"/>
            <a:ext cx="5047376" cy="7466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TW" altLang="en-US" sz="1600" dirty="0">
                <a:solidFill>
                  <a:schemeClr val="tx1"/>
                </a:solidFill>
              </a:rPr>
              <a:t>雞兔同籠，共有 </a:t>
            </a:r>
            <a:r>
              <a:rPr kumimoji="1" lang="en-US" altLang="zh-TW" sz="1600" dirty="0">
                <a:solidFill>
                  <a:schemeClr val="tx1"/>
                </a:solidFill>
              </a:rPr>
              <a:t>35 </a:t>
            </a:r>
            <a:r>
              <a:rPr kumimoji="1" lang="zh-TW" altLang="en-US" sz="1600" dirty="0">
                <a:solidFill>
                  <a:schemeClr val="tx1"/>
                </a:solidFill>
              </a:rPr>
              <a:t>個頭、</a:t>
            </a:r>
            <a:r>
              <a:rPr kumimoji="1" lang="en-US" altLang="zh-TW" sz="1600" dirty="0">
                <a:solidFill>
                  <a:schemeClr val="tx1"/>
                </a:solidFill>
              </a:rPr>
              <a:t>94 </a:t>
            </a:r>
            <a:r>
              <a:rPr kumimoji="1" lang="zh-TW" altLang="en-US" sz="1600" dirty="0">
                <a:solidFill>
                  <a:schemeClr val="tx1"/>
                </a:solidFill>
              </a:rPr>
              <a:t>隻腳。請問雞有幾隻？</a:t>
            </a:r>
            <a:endParaRPr kumimoji="1" lang="en-US" altLang="zh-TW" sz="1600" dirty="0">
              <a:solidFill>
                <a:schemeClr val="tx1"/>
              </a:solidFill>
            </a:endParaRPr>
          </a:p>
          <a:p>
            <a:r>
              <a:rPr kumimoji="1" lang="en-US" altLang="zh-TW" sz="1600" dirty="0">
                <a:solidFill>
                  <a:srgbClr val="FF0000"/>
                </a:solidFill>
              </a:rPr>
              <a:t>Let's think step by step.</a:t>
            </a:r>
          </a:p>
        </p:txBody>
      </p:sp>
      <p:sp>
        <p:nvSpPr>
          <p:cNvPr id="9" name="向下箭號 8">
            <a:extLst>
              <a:ext uri="{FF2B5EF4-FFF2-40B4-BE49-F238E27FC236}">
                <a16:creationId xmlns:a16="http://schemas.microsoft.com/office/drawing/2014/main" id="{E1D41616-F284-2F46-BA4B-F2B5DD61C8EF}"/>
              </a:ext>
            </a:extLst>
          </p:cNvPr>
          <p:cNvSpPr/>
          <p:nvPr/>
        </p:nvSpPr>
        <p:spPr>
          <a:xfrm>
            <a:off x="3099731" y="3461609"/>
            <a:ext cx="385894" cy="26310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5AB8C59-110A-BD1E-7FE4-1A7796DCB4CB}"/>
              </a:ext>
            </a:extLst>
          </p:cNvPr>
          <p:cNvSpPr/>
          <p:nvPr/>
        </p:nvSpPr>
        <p:spPr>
          <a:xfrm>
            <a:off x="2522988" y="3816813"/>
            <a:ext cx="1539380" cy="4311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LLM</a:t>
            </a:r>
            <a:endParaRPr kumimoji="1" lang="en-US" altLang="zh-TW" b="1" dirty="0">
              <a:solidFill>
                <a:schemeClr val="tx1"/>
              </a:solidFill>
            </a:endParaRPr>
          </a:p>
        </p:txBody>
      </p:sp>
      <p:sp>
        <p:nvSpPr>
          <p:cNvPr id="11" name="向下箭號 10">
            <a:extLst>
              <a:ext uri="{FF2B5EF4-FFF2-40B4-BE49-F238E27FC236}">
                <a16:creationId xmlns:a16="http://schemas.microsoft.com/office/drawing/2014/main" id="{AEDA91C1-A444-3C45-2762-03C1C7800A1A}"/>
              </a:ext>
            </a:extLst>
          </p:cNvPr>
          <p:cNvSpPr/>
          <p:nvPr/>
        </p:nvSpPr>
        <p:spPr>
          <a:xfrm>
            <a:off x="3099731" y="4378097"/>
            <a:ext cx="385894" cy="26310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9C6F5BEC-44BD-0466-4210-BE6A3B62FB2C}"/>
              </a:ext>
            </a:extLst>
          </p:cNvPr>
          <p:cNvSpPr/>
          <p:nvPr/>
        </p:nvSpPr>
        <p:spPr>
          <a:xfrm>
            <a:off x="6466512" y="2566424"/>
            <a:ext cx="5105001" cy="239431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TW" altLang="en-US" sz="1600" dirty="0">
                <a:solidFill>
                  <a:schemeClr val="tx1"/>
                </a:solidFill>
              </a:rPr>
              <a:t>雞兔同籠，共有 </a:t>
            </a:r>
            <a:r>
              <a:rPr kumimoji="1" lang="en-US" altLang="zh-TW" sz="1600" dirty="0">
                <a:solidFill>
                  <a:schemeClr val="tx1"/>
                </a:solidFill>
              </a:rPr>
              <a:t>35 </a:t>
            </a:r>
            <a:r>
              <a:rPr kumimoji="1" lang="zh-TW" altLang="en-US" sz="1600" dirty="0">
                <a:solidFill>
                  <a:schemeClr val="tx1"/>
                </a:solidFill>
              </a:rPr>
              <a:t>個頭、</a:t>
            </a:r>
            <a:r>
              <a:rPr kumimoji="1" lang="en-US" altLang="zh-TW" sz="1600" dirty="0">
                <a:solidFill>
                  <a:schemeClr val="tx1"/>
                </a:solidFill>
              </a:rPr>
              <a:t>94 </a:t>
            </a:r>
            <a:r>
              <a:rPr kumimoji="1" lang="zh-TW" altLang="en-US" sz="1600" dirty="0">
                <a:solidFill>
                  <a:schemeClr val="tx1"/>
                </a:solidFill>
              </a:rPr>
              <a:t>隻腳。請問雞有幾隻？</a:t>
            </a:r>
            <a:endParaRPr kumimoji="1" lang="en-US" altLang="zh-TW" sz="1600" dirty="0">
              <a:solidFill>
                <a:schemeClr val="tx1"/>
              </a:solidFill>
            </a:endParaRPr>
          </a:p>
          <a:p>
            <a:r>
              <a:rPr kumimoji="1" lang="en-US" altLang="zh-TW" sz="1600" dirty="0">
                <a:solidFill>
                  <a:srgbClr val="FF0000"/>
                </a:solidFill>
              </a:rPr>
              <a:t>Let's think step by step.</a:t>
            </a:r>
          </a:p>
          <a:p>
            <a:r>
              <a:rPr kumimoji="1" lang="en-US" altLang="zh-TW" sz="1600" dirty="0">
                <a:solidFill>
                  <a:srgbClr val="0070C0"/>
                </a:solidFill>
              </a:rPr>
              <a:t>1. </a:t>
            </a:r>
            <a:r>
              <a:rPr kumimoji="1" lang="zh-TW" altLang="en-US" sz="1600" dirty="0">
                <a:solidFill>
                  <a:srgbClr val="0070C0"/>
                </a:solidFill>
              </a:rPr>
              <a:t>假設 </a:t>
            </a:r>
            <a:r>
              <a:rPr kumimoji="1" lang="en-US" altLang="zh-TW" sz="1600" dirty="0">
                <a:solidFill>
                  <a:srgbClr val="0070C0"/>
                </a:solidFill>
              </a:rPr>
              <a:t>35 </a:t>
            </a:r>
            <a:r>
              <a:rPr kumimoji="1" lang="zh-TW" altLang="en-US" sz="1600" dirty="0">
                <a:solidFill>
                  <a:srgbClr val="0070C0"/>
                </a:solidFill>
              </a:rPr>
              <a:t>隻全部都是雞，則腳數會是 </a:t>
            </a:r>
            <a:r>
              <a:rPr kumimoji="1" lang="en-US" altLang="zh-TW" sz="1600" dirty="0">
                <a:solidFill>
                  <a:srgbClr val="0070C0"/>
                </a:solidFill>
              </a:rPr>
              <a:t>35 × 2 = 70 </a:t>
            </a:r>
            <a:r>
              <a:rPr kumimoji="1" lang="zh-TW" altLang="en-US" sz="1600" dirty="0">
                <a:solidFill>
                  <a:srgbClr val="0070C0"/>
                </a:solidFill>
              </a:rPr>
              <a:t>隻。</a:t>
            </a:r>
          </a:p>
          <a:p>
            <a:r>
              <a:rPr kumimoji="1" lang="en-US" altLang="zh-TW" sz="1600" dirty="0">
                <a:solidFill>
                  <a:srgbClr val="0070C0"/>
                </a:solidFill>
              </a:rPr>
              <a:t>2. </a:t>
            </a:r>
            <a:r>
              <a:rPr kumimoji="1" lang="zh-TW" altLang="en-US" sz="1600" dirty="0">
                <a:solidFill>
                  <a:srgbClr val="0070C0"/>
                </a:solidFill>
              </a:rPr>
              <a:t>但實際上有 </a:t>
            </a:r>
            <a:r>
              <a:rPr kumimoji="1" lang="en-US" altLang="zh-TW" sz="1600" dirty="0">
                <a:solidFill>
                  <a:srgbClr val="0070C0"/>
                </a:solidFill>
              </a:rPr>
              <a:t>94 </a:t>
            </a:r>
            <a:r>
              <a:rPr kumimoji="1" lang="zh-TW" altLang="en-US" sz="1600" dirty="0">
                <a:solidFill>
                  <a:srgbClr val="0070C0"/>
                </a:solidFill>
              </a:rPr>
              <a:t>隻腳，多出 </a:t>
            </a:r>
            <a:r>
              <a:rPr kumimoji="1" lang="en-US" altLang="zh-TW" sz="1600" dirty="0">
                <a:solidFill>
                  <a:srgbClr val="0070C0"/>
                </a:solidFill>
              </a:rPr>
              <a:t>94 - 70 = 24 </a:t>
            </a:r>
            <a:r>
              <a:rPr kumimoji="1" lang="zh-TW" altLang="en-US" sz="1600" dirty="0">
                <a:solidFill>
                  <a:srgbClr val="0070C0"/>
                </a:solidFill>
              </a:rPr>
              <a:t>隻腳。</a:t>
            </a:r>
          </a:p>
          <a:p>
            <a:r>
              <a:rPr kumimoji="1" lang="en-US" altLang="zh-TW" sz="1600" dirty="0">
                <a:solidFill>
                  <a:srgbClr val="0070C0"/>
                </a:solidFill>
              </a:rPr>
              <a:t>3. </a:t>
            </a:r>
            <a:r>
              <a:rPr kumimoji="1" lang="zh-TW" altLang="en-US" sz="1600" dirty="0">
                <a:solidFill>
                  <a:srgbClr val="0070C0"/>
                </a:solidFill>
              </a:rPr>
              <a:t>每把一隻雞換成兔子，腳數會多 </a:t>
            </a:r>
            <a:r>
              <a:rPr kumimoji="1" lang="en-US" altLang="zh-TW" sz="1600" dirty="0">
                <a:solidFill>
                  <a:srgbClr val="0070C0"/>
                </a:solidFill>
              </a:rPr>
              <a:t>2 </a:t>
            </a:r>
            <a:r>
              <a:rPr kumimoji="1" lang="zh-TW" altLang="en-US" sz="1600" dirty="0">
                <a:solidFill>
                  <a:srgbClr val="0070C0"/>
                </a:solidFill>
              </a:rPr>
              <a:t>隻。</a:t>
            </a:r>
          </a:p>
          <a:p>
            <a:r>
              <a:rPr kumimoji="1" lang="en-US" altLang="zh-TW" sz="1600" dirty="0">
                <a:solidFill>
                  <a:srgbClr val="0070C0"/>
                </a:solidFill>
              </a:rPr>
              <a:t>4. </a:t>
            </a:r>
            <a:r>
              <a:rPr kumimoji="1" lang="zh-TW" altLang="en-US" sz="1600" dirty="0">
                <a:solidFill>
                  <a:srgbClr val="0070C0"/>
                </a:solidFill>
              </a:rPr>
              <a:t>因此兔子的數量是 </a:t>
            </a:r>
            <a:r>
              <a:rPr kumimoji="1" lang="en-US" altLang="zh-TW" sz="1600" dirty="0">
                <a:solidFill>
                  <a:srgbClr val="0070C0"/>
                </a:solidFill>
              </a:rPr>
              <a:t>24 ÷ 2 = 12 </a:t>
            </a:r>
            <a:r>
              <a:rPr kumimoji="1" lang="zh-TW" altLang="en-US" sz="1600" dirty="0">
                <a:solidFill>
                  <a:srgbClr val="0070C0"/>
                </a:solidFill>
              </a:rPr>
              <a:t>隻。</a:t>
            </a:r>
          </a:p>
          <a:p>
            <a:r>
              <a:rPr kumimoji="1" lang="en-US" altLang="zh-TW" sz="1600" dirty="0">
                <a:solidFill>
                  <a:srgbClr val="0070C0"/>
                </a:solidFill>
              </a:rPr>
              <a:t>5. </a:t>
            </a:r>
            <a:r>
              <a:rPr kumimoji="1" lang="zh-TW" altLang="en-US" sz="1600" dirty="0">
                <a:solidFill>
                  <a:srgbClr val="0070C0"/>
                </a:solidFill>
              </a:rPr>
              <a:t>雞的數量是 </a:t>
            </a:r>
            <a:r>
              <a:rPr kumimoji="1" lang="en-US" altLang="zh-TW" sz="1600" dirty="0">
                <a:solidFill>
                  <a:srgbClr val="0070C0"/>
                </a:solidFill>
              </a:rPr>
              <a:t>35 - 12 = 23 </a:t>
            </a:r>
            <a:r>
              <a:rPr kumimoji="1" lang="zh-TW" altLang="en-US" sz="1600" dirty="0">
                <a:solidFill>
                  <a:srgbClr val="0070C0"/>
                </a:solidFill>
              </a:rPr>
              <a:t>隻。</a:t>
            </a:r>
            <a:endParaRPr kumimoji="1" lang="en-US" altLang="zh-TW" sz="1600" dirty="0">
              <a:solidFill>
                <a:srgbClr val="0070C0"/>
              </a:solidFill>
            </a:endParaRPr>
          </a:p>
          <a:p>
            <a:r>
              <a:rPr kumimoji="1" lang="zh-TW" altLang="en-US" sz="1600" dirty="0">
                <a:solidFill>
                  <a:srgbClr val="FF0000"/>
                </a:solidFill>
              </a:rPr>
              <a:t>所以答案是</a:t>
            </a:r>
            <a:r>
              <a:rPr kumimoji="1" lang="en-US" altLang="zh-TW" sz="1600" dirty="0">
                <a:solidFill>
                  <a:srgbClr val="FF0000"/>
                </a:solidFill>
              </a:rPr>
              <a:t> (</a:t>
            </a:r>
            <a:r>
              <a:rPr kumimoji="1" lang="zh-TW" altLang="en-US" sz="1600" dirty="0">
                <a:solidFill>
                  <a:srgbClr val="FF0000"/>
                </a:solidFill>
              </a:rPr>
              <a:t>阿拉伯數字</a:t>
            </a:r>
            <a:r>
              <a:rPr kumimoji="1" lang="en-US" altLang="zh-TW" sz="1600" dirty="0">
                <a:solidFill>
                  <a:srgbClr val="FF0000"/>
                </a:solidFill>
              </a:rPr>
              <a:t>)</a:t>
            </a:r>
            <a:r>
              <a:rPr kumimoji="1" lang="zh-TW" altLang="en-US" sz="1600" dirty="0">
                <a:solidFill>
                  <a:srgbClr val="FF0000"/>
                </a:solidFill>
              </a:rPr>
              <a:t>：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CEB60C6-4996-7D7A-3A8F-0FB132DDCF06}"/>
              </a:ext>
            </a:extLst>
          </p:cNvPr>
          <p:cNvSpPr/>
          <p:nvPr/>
        </p:nvSpPr>
        <p:spPr>
          <a:xfrm>
            <a:off x="7643768" y="1638469"/>
            <a:ext cx="2692866" cy="7466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2nd prompting</a:t>
            </a:r>
          </a:p>
          <a:p>
            <a:pPr algn="ctr"/>
            <a:r>
              <a:rPr kumimoji="1" lang="en-US" altLang="zh-TW" b="1" dirty="0">
                <a:solidFill>
                  <a:schemeClr val="tx1"/>
                </a:solidFill>
              </a:rPr>
              <a:t>Answer Extraction</a:t>
            </a:r>
          </a:p>
        </p:txBody>
      </p:sp>
      <p:sp>
        <p:nvSpPr>
          <p:cNvPr id="14" name="向下箭號 13">
            <a:extLst>
              <a:ext uri="{FF2B5EF4-FFF2-40B4-BE49-F238E27FC236}">
                <a16:creationId xmlns:a16="http://schemas.microsoft.com/office/drawing/2014/main" id="{A37BC0F3-3B4C-BB2A-52A1-04DDB41C82C1}"/>
              </a:ext>
            </a:extLst>
          </p:cNvPr>
          <p:cNvSpPr/>
          <p:nvPr/>
        </p:nvSpPr>
        <p:spPr>
          <a:xfrm>
            <a:off x="8847588" y="5090830"/>
            <a:ext cx="385894" cy="26310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B993678-2678-7DD6-F369-654A18DCDCCA}"/>
              </a:ext>
            </a:extLst>
          </p:cNvPr>
          <p:cNvSpPr/>
          <p:nvPr/>
        </p:nvSpPr>
        <p:spPr>
          <a:xfrm>
            <a:off x="8270845" y="5446034"/>
            <a:ext cx="1539380" cy="4311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LLM</a:t>
            </a:r>
            <a:endParaRPr kumimoji="1" lang="en-US" altLang="zh-TW" b="1" dirty="0">
              <a:solidFill>
                <a:schemeClr val="tx1"/>
              </a:solidFill>
            </a:endParaRPr>
          </a:p>
        </p:txBody>
      </p:sp>
      <p:sp>
        <p:nvSpPr>
          <p:cNvPr id="16" name="向下箭號 15">
            <a:extLst>
              <a:ext uri="{FF2B5EF4-FFF2-40B4-BE49-F238E27FC236}">
                <a16:creationId xmlns:a16="http://schemas.microsoft.com/office/drawing/2014/main" id="{1EC049BE-9E94-17A3-521F-65053EC65889}"/>
              </a:ext>
            </a:extLst>
          </p:cNvPr>
          <p:cNvSpPr/>
          <p:nvPr/>
        </p:nvSpPr>
        <p:spPr>
          <a:xfrm>
            <a:off x="8847588" y="6007318"/>
            <a:ext cx="385894" cy="26310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3F8451FE-1860-87F8-9860-59873CBAAE2C}"/>
              </a:ext>
            </a:extLst>
          </p:cNvPr>
          <p:cNvSpPr txBox="1"/>
          <p:nvPr/>
        </p:nvSpPr>
        <p:spPr>
          <a:xfrm>
            <a:off x="8554323" y="6335052"/>
            <a:ext cx="9724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TW" sz="1800" dirty="0"/>
              <a:t>23</a:t>
            </a:r>
            <a:endParaRPr lang="zh-TW" altLang="en-US" dirty="0"/>
          </a:p>
        </p:txBody>
      </p:sp>
      <p:cxnSp>
        <p:nvCxnSpPr>
          <p:cNvPr id="20" name="肘形接點 19">
            <a:extLst>
              <a:ext uri="{FF2B5EF4-FFF2-40B4-BE49-F238E27FC236}">
                <a16:creationId xmlns:a16="http://schemas.microsoft.com/office/drawing/2014/main" id="{080C854E-411E-9F62-83B9-016B07383FFA}"/>
              </a:ext>
            </a:extLst>
          </p:cNvPr>
          <p:cNvCxnSpPr>
            <a:cxnSpLocks/>
            <a:stCxn id="7" idx="3"/>
            <a:endCxn id="21" idx="1"/>
          </p:cNvCxnSpPr>
          <p:nvPr/>
        </p:nvCxnSpPr>
        <p:spPr>
          <a:xfrm flipV="1">
            <a:off x="5816366" y="4027326"/>
            <a:ext cx="649300" cy="1531343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84C1B71B-586D-D4E7-16EF-7D8DE38D4BEA}"/>
              </a:ext>
            </a:extLst>
          </p:cNvPr>
          <p:cNvSpPr txBox="1"/>
          <p:nvPr/>
        </p:nvSpPr>
        <p:spPr>
          <a:xfrm>
            <a:off x="6465666" y="3811731"/>
            <a:ext cx="576743" cy="431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21457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8" grpId="0"/>
      <p:bldP spid="2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5881D8-4D1A-18A2-FDF3-B3BA8152D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Zero-shot </a:t>
            </a:r>
            <a:r>
              <a:rPr kumimoji="1" lang="en-US" altLang="zh-TW" dirty="0" err="1"/>
              <a:t>CoT</a:t>
            </a:r>
            <a:r>
              <a:rPr kumimoji="1" lang="en-US" altLang="zh-TW" dirty="0"/>
              <a:t> </a:t>
            </a:r>
            <a:r>
              <a:rPr kumimoji="1" lang="zh-TW" altLang="en-US" dirty="0"/>
              <a:t>效果不差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57BE769-1540-A590-3A85-FBF20BD55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60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F71173C-68B6-65AE-6BE3-0CE6E1FADD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b="31319"/>
          <a:stretch/>
        </p:blipFill>
        <p:spPr>
          <a:xfrm>
            <a:off x="2065876" y="1636743"/>
            <a:ext cx="8060247" cy="3323184"/>
          </a:xfrm>
          <a:prstGeom prst="rect">
            <a:avLst/>
          </a:prstGeom>
        </p:spPr>
      </p:pic>
      <p:grpSp>
        <p:nvGrpSpPr>
          <p:cNvPr id="9" name="群組 8">
            <a:extLst>
              <a:ext uri="{FF2B5EF4-FFF2-40B4-BE49-F238E27FC236}">
                <a16:creationId xmlns:a16="http://schemas.microsoft.com/office/drawing/2014/main" id="{15E1DCFE-FE27-CEEF-7839-659667A41B91}"/>
              </a:ext>
            </a:extLst>
          </p:cNvPr>
          <p:cNvGrpSpPr/>
          <p:nvPr/>
        </p:nvGrpSpPr>
        <p:grpSpPr>
          <a:xfrm>
            <a:off x="2195118" y="2894201"/>
            <a:ext cx="7818090" cy="1163717"/>
            <a:chOff x="2195118" y="3028425"/>
            <a:chExt cx="7818090" cy="1163717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DCE30269-E460-5202-7FA4-8DFD0DCFA50F}"/>
                </a:ext>
              </a:extLst>
            </p:cNvPr>
            <p:cNvSpPr/>
            <p:nvPr/>
          </p:nvSpPr>
          <p:spPr>
            <a:xfrm>
              <a:off x="2195118" y="3028425"/>
              <a:ext cx="7801761" cy="23114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BB703B4F-77DD-F437-2C19-A56CD047DE04}"/>
                </a:ext>
              </a:extLst>
            </p:cNvPr>
            <p:cNvSpPr/>
            <p:nvPr/>
          </p:nvSpPr>
          <p:spPr>
            <a:xfrm>
              <a:off x="2211447" y="3961001"/>
              <a:ext cx="7801761" cy="23114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F0ECECA6-53F7-A15C-B02B-EF4219AEF67E}"/>
              </a:ext>
            </a:extLst>
          </p:cNvPr>
          <p:cNvSpPr/>
          <p:nvPr/>
        </p:nvSpPr>
        <p:spPr>
          <a:xfrm>
            <a:off x="2211446" y="3826777"/>
            <a:ext cx="7801761" cy="4496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68EF8FE-A741-8A6F-1A3B-4BCFBC3D4734}"/>
              </a:ext>
            </a:extLst>
          </p:cNvPr>
          <p:cNvSpPr txBox="1"/>
          <p:nvPr/>
        </p:nvSpPr>
        <p:spPr>
          <a:xfrm>
            <a:off x="653144" y="5162433"/>
            <a:ext cx="10918370" cy="958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000" dirty="0"/>
              <a:t>Zero-shot </a:t>
            </a:r>
            <a:r>
              <a:rPr kumimoji="1" lang="en" altLang="zh-TW" sz="2000" dirty="0" err="1"/>
              <a:t>CoT</a:t>
            </a:r>
            <a:r>
              <a:rPr kumimoji="1" lang="en" altLang="zh-TW" sz="2000" dirty="0"/>
              <a:t> </a:t>
            </a:r>
            <a:r>
              <a:rPr kumimoji="1" lang="zh-TW" altLang="en-US" sz="2000" dirty="0"/>
              <a:t>仍輸給一般</a:t>
            </a:r>
            <a:r>
              <a:rPr kumimoji="1" lang="en-US" altLang="zh-TW" sz="2000" dirty="0"/>
              <a:t> </a:t>
            </a:r>
            <a:r>
              <a:rPr kumimoji="1" lang="en-US" altLang="zh-TW" sz="2000" dirty="0" err="1"/>
              <a:t>CoT</a:t>
            </a:r>
            <a:endParaRPr kumimoji="1" lang="en-US" altLang="zh-TW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Let’s think step by step </a:t>
            </a:r>
            <a:r>
              <a:rPr kumimoji="1" lang="zh-TW" altLang="en-US" sz="2000" dirty="0"/>
              <a:t>是個厲害的咒語</a:t>
            </a:r>
            <a:endParaRPr kumimoji="1" lang="en" altLang="zh-TW" sz="2000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5568E376-2314-1072-D6E0-91DFE300ED13}"/>
              </a:ext>
            </a:extLst>
          </p:cNvPr>
          <p:cNvSpPr txBox="1"/>
          <p:nvPr/>
        </p:nvSpPr>
        <p:spPr>
          <a:xfrm>
            <a:off x="4514674" y="6501912"/>
            <a:ext cx="31626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sz="1400" dirty="0"/>
              <a:t>https://</a:t>
            </a:r>
            <a:r>
              <a:rPr kumimoji="1" lang="en" altLang="zh-TW" sz="1400" dirty="0" err="1"/>
              <a:t>arxiv.org</a:t>
            </a:r>
            <a:r>
              <a:rPr kumimoji="1" lang="en" altLang="zh-TW" sz="1400" dirty="0"/>
              <a:t>/abs/2205.11916</a:t>
            </a:r>
          </a:p>
        </p:txBody>
      </p:sp>
    </p:spTree>
    <p:extLst>
      <p:ext uri="{BB962C8B-B14F-4D97-AF65-F5344CB8AC3E}">
        <p14:creationId xmlns:p14="http://schemas.microsoft.com/office/powerpoint/2010/main" val="1021800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30D24A-AFE2-798A-74D5-CAC7E0843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Let’s think step by step on </a:t>
            </a:r>
            <a:r>
              <a:rPr kumimoji="1" lang="en-US" altLang="zh-TW" dirty="0" err="1"/>
              <a:t>MultiArith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B6F5CCA-9109-66F5-C8E9-11014C62D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61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53902B7-13B3-E17F-8B1A-291CE7DF5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921" y="1498093"/>
            <a:ext cx="7708921" cy="484196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DD06273-D3CB-AB23-E8B3-59A17C5355B8}"/>
              </a:ext>
            </a:extLst>
          </p:cNvPr>
          <p:cNvSpPr/>
          <p:nvPr/>
        </p:nvSpPr>
        <p:spPr>
          <a:xfrm>
            <a:off x="2262232" y="1955488"/>
            <a:ext cx="7521296" cy="2228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F285591-8CB4-F179-20E7-F39100111994}"/>
              </a:ext>
            </a:extLst>
          </p:cNvPr>
          <p:cNvSpPr txBox="1"/>
          <p:nvPr/>
        </p:nvSpPr>
        <p:spPr>
          <a:xfrm>
            <a:off x="4514674" y="6501912"/>
            <a:ext cx="31626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sz="1400" dirty="0"/>
              <a:t>https://</a:t>
            </a:r>
            <a:r>
              <a:rPr kumimoji="1" lang="en" altLang="zh-TW" sz="1400" dirty="0" err="1"/>
              <a:t>arxiv.org</a:t>
            </a:r>
            <a:r>
              <a:rPr kumimoji="1" lang="en" altLang="zh-TW" sz="1400" dirty="0"/>
              <a:t>/abs/2205.11916</a:t>
            </a:r>
          </a:p>
        </p:txBody>
      </p:sp>
    </p:spTree>
    <p:extLst>
      <p:ext uri="{BB962C8B-B14F-4D97-AF65-F5344CB8AC3E}">
        <p14:creationId xmlns:p14="http://schemas.microsoft.com/office/powerpoint/2010/main" val="338020156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299ABD-0102-41DE-AFDB-CF1FC422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可不可以讓模型自己長出推理能力？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A3F1B6-0D35-11E2-F1EE-3AEDDF20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62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2EB1332-5ACC-17A1-0A1E-1BA2CD6C3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921" y="2481970"/>
            <a:ext cx="10380157" cy="1687534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615FD22E-72B0-8584-D426-B3B8AD0E9F10}"/>
              </a:ext>
            </a:extLst>
          </p:cNvPr>
          <p:cNvSpPr txBox="1"/>
          <p:nvPr/>
        </p:nvSpPr>
        <p:spPr>
          <a:xfrm>
            <a:off x="905921" y="4459613"/>
            <a:ext cx="98921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用戶與助手之間的對話。</a:t>
            </a:r>
            <a:endParaRPr kumimoji="1" lang="en-US" altLang="zh-TW" dirty="0"/>
          </a:p>
          <a:p>
            <a:r>
              <a:rPr kumimoji="1" lang="zh-TW" altLang="en-US" dirty="0"/>
              <a:t>用戶提出問題，助手解答。助手先在腦海中推理，然後將答案提供給使用者。</a:t>
            </a:r>
            <a:endParaRPr kumimoji="1" lang="en-US" altLang="zh-TW" dirty="0"/>
          </a:p>
          <a:p>
            <a:r>
              <a:rPr kumimoji="1" lang="zh-TW" altLang="en-US" dirty="0"/>
              <a:t>推理過程和答案分別包含在 </a:t>
            </a:r>
            <a:r>
              <a:rPr kumimoji="1" lang="en-US" altLang="zh-TW" dirty="0"/>
              <a:t>`&lt;</a:t>
            </a:r>
            <a:r>
              <a:rPr kumimoji="1" lang="en" altLang="zh-TW" dirty="0"/>
              <a:t>think&gt;...&lt;/think&gt;` </a:t>
            </a:r>
            <a:r>
              <a:rPr kumimoji="1" lang="zh-TW" altLang="en-US" dirty="0"/>
              <a:t>和 </a:t>
            </a:r>
            <a:r>
              <a:rPr kumimoji="1" lang="en-US" altLang="zh-TW" dirty="0"/>
              <a:t>`&lt;</a:t>
            </a:r>
            <a:r>
              <a:rPr kumimoji="1" lang="en" altLang="zh-TW" dirty="0"/>
              <a:t>answer&gt;...&lt;/answer&gt;` </a:t>
            </a:r>
            <a:r>
              <a:rPr kumimoji="1" lang="zh-TW" altLang="en-US" dirty="0"/>
              <a:t>標籤內，即：</a:t>
            </a:r>
            <a:r>
              <a:rPr kumimoji="1" lang="en-US" altLang="zh-TW" dirty="0"/>
              <a:t>`&lt;</a:t>
            </a:r>
            <a:r>
              <a:rPr kumimoji="1" lang="en" altLang="zh-TW" dirty="0"/>
              <a:t>think&gt;</a:t>
            </a:r>
            <a:r>
              <a:rPr kumimoji="1" lang="zh-TW" altLang="en-US" dirty="0"/>
              <a:t>此處為推理過程</a:t>
            </a:r>
            <a:r>
              <a:rPr kumimoji="1" lang="en-US" altLang="zh-TW" dirty="0"/>
              <a:t>&lt;/</a:t>
            </a:r>
            <a:r>
              <a:rPr kumimoji="1" lang="en" altLang="zh-TW" dirty="0"/>
              <a:t>think&gt;`</a:t>
            </a:r>
            <a:r>
              <a:rPr kumimoji="1" lang="zh-TW" altLang="en" dirty="0"/>
              <a:t>，</a:t>
            </a:r>
            <a:r>
              <a:rPr kumimoji="1" lang="en" altLang="zh-TW" dirty="0"/>
              <a:t>`&lt;answer&gt;</a:t>
            </a:r>
            <a:r>
              <a:rPr kumimoji="1" lang="zh-TW" altLang="en-US" dirty="0"/>
              <a:t>此處為答案</a:t>
            </a:r>
            <a:r>
              <a:rPr kumimoji="1" lang="en-US" altLang="zh-TW" dirty="0"/>
              <a:t>&lt;/</a:t>
            </a:r>
            <a:r>
              <a:rPr kumimoji="1" lang="en" altLang="zh-TW" dirty="0"/>
              <a:t>answer&gt;`</a:t>
            </a:r>
            <a:r>
              <a:rPr kumimoji="1" lang="zh-TW" altLang="en" dirty="0"/>
              <a:t>。</a:t>
            </a:r>
            <a:endParaRPr kumimoji="1" lang="en-US" altLang="zh-TW" dirty="0"/>
          </a:p>
          <a:p>
            <a:r>
              <a:rPr kumimoji="1" lang="zh-TW" altLang="en-US" dirty="0"/>
              <a:t>使用者：</a:t>
            </a:r>
            <a:r>
              <a:rPr kumimoji="1" lang="zh-TW" altLang="en-US" dirty="0">
                <a:solidFill>
                  <a:srgbClr val="FF0000"/>
                </a:solidFill>
              </a:rPr>
              <a:t>提示詞</a:t>
            </a:r>
            <a:r>
              <a:rPr kumimoji="1" lang="zh-TW" altLang="en-US" dirty="0"/>
              <a:t>。助手：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161D983-9293-3341-49EE-1FBA5419234D}"/>
              </a:ext>
            </a:extLst>
          </p:cNvPr>
          <p:cNvSpPr txBox="1"/>
          <p:nvPr/>
        </p:nvSpPr>
        <p:spPr>
          <a:xfrm>
            <a:off x="6399150" y="1448780"/>
            <a:ext cx="51723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200" dirty="0"/>
              <a:t>Guo, </a:t>
            </a:r>
            <a:r>
              <a:rPr kumimoji="1" lang="en" altLang="zh-TW" sz="1200" dirty="0" err="1"/>
              <a:t>Daya</a:t>
            </a:r>
            <a:r>
              <a:rPr kumimoji="1" lang="en" altLang="zh-TW" sz="1200" dirty="0"/>
              <a:t>, et al. "Deepseek-r1: Incentivizing reasoning capability in </a:t>
            </a:r>
            <a:r>
              <a:rPr kumimoji="1" lang="en" altLang="zh-TW" sz="1200" dirty="0" err="1"/>
              <a:t>llms</a:t>
            </a:r>
            <a:r>
              <a:rPr kumimoji="1" lang="en" altLang="zh-TW" sz="1200" dirty="0"/>
              <a:t> via reinforcement learning." </a:t>
            </a:r>
            <a:r>
              <a:rPr kumimoji="1" lang="en" altLang="zh-TW" sz="1200" dirty="0" err="1"/>
              <a:t>arXiv</a:t>
            </a:r>
            <a:r>
              <a:rPr kumimoji="1" lang="en" altLang="zh-TW" sz="1200" dirty="0"/>
              <a:t> preprint arXiv:2501.12948 (2025).</a:t>
            </a:r>
            <a:endParaRPr kumimoji="1"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57614441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E777F0-1CB3-2D10-5D1F-B79C9B422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DeepSeek-R1-zero</a:t>
            </a:r>
            <a:r>
              <a:rPr kumimoji="1" lang="zh-TW" altLang="en-US" dirty="0"/>
              <a:t> 細節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6807D1B-A5A3-BA59-AAB0-084FBC225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63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126209B-9D39-32AA-6475-72889FE2D4A4}"/>
              </a:ext>
            </a:extLst>
          </p:cNvPr>
          <p:cNvSpPr txBox="1"/>
          <p:nvPr/>
        </p:nvSpPr>
        <p:spPr>
          <a:xfrm>
            <a:off x="653144" y="2228356"/>
            <a:ext cx="10918370" cy="3348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使用 </a:t>
            </a:r>
            <a:r>
              <a:rPr kumimoji="1" lang="en-US" altLang="zh-TW" sz="2400" dirty="0"/>
              <a:t>RL </a:t>
            </a:r>
            <a:r>
              <a:rPr kumimoji="1" lang="zh-TW" altLang="en-US" sz="2400" dirty="0"/>
              <a:t>進行訓練 </a:t>
            </a:r>
            <a:r>
              <a:rPr kumimoji="1" lang="en-US" altLang="zh-TW" sz="2400" dirty="0"/>
              <a:t>(</a:t>
            </a:r>
            <a:r>
              <a:rPr kumimoji="1" lang="en-US" altLang="zh-TW" sz="2400" dirty="0">
                <a:hlinkClick r:id="rId2"/>
              </a:rPr>
              <a:t>GRPO</a:t>
            </a:r>
            <a:r>
              <a:rPr kumimoji="1" lang="zh-TW" altLang="en-US" sz="2400" dirty="0"/>
              <a:t>，類似於</a:t>
            </a:r>
            <a:r>
              <a:rPr kumimoji="1" lang="en-US" altLang="zh-TW" sz="2400" dirty="0"/>
              <a:t>RLHF</a:t>
            </a:r>
            <a:r>
              <a:rPr kumimoji="1" lang="zh-TW" altLang="en-US" sz="2400" dirty="0"/>
              <a:t>的</a:t>
            </a:r>
            <a:r>
              <a:rPr kumimoji="1" lang="en-US" altLang="zh-TW" sz="2400" dirty="0"/>
              <a:t> </a:t>
            </a:r>
            <a:r>
              <a:rPr kumimoji="1" lang="en-US" altLang="zh-TW" sz="2400" dirty="0">
                <a:hlinkClick r:id="rId3"/>
              </a:rPr>
              <a:t>PPO</a:t>
            </a:r>
            <a:r>
              <a:rPr kumimoji="1" lang="en-US" altLang="zh-TW" sz="2400" dirty="0"/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Two reward models (</a:t>
            </a:r>
            <a:r>
              <a:rPr kumimoji="1" lang="zh-TW" altLang="en-US" sz="2400" dirty="0"/>
              <a:t>不需訓練</a:t>
            </a:r>
            <a:r>
              <a:rPr kumimoji="1" lang="en-US" altLang="zh-TW" sz="2400" dirty="0"/>
              <a:t>):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b="1" dirty="0"/>
              <a:t>Answer rewards</a:t>
            </a:r>
            <a:r>
              <a:rPr kumimoji="1" lang="en" altLang="zh-TW" sz="2400" dirty="0"/>
              <a:t>: </a:t>
            </a:r>
            <a:r>
              <a:rPr kumimoji="1" lang="zh-TW" altLang="en-US" sz="2400" dirty="0"/>
              <a:t>答案是否正確</a:t>
            </a:r>
            <a:endParaRPr kumimoji="1" lang="en-US" altLang="zh-TW" sz="24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b="1" dirty="0"/>
              <a:t>Format rewards</a:t>
            </a:r>
            <a:r>
              <a:rPr kumimoji="1" lang="en" altLang="zh-TW" sz="2400" dirty="0"/>
              <a:t>: </a:t>
            </a:r>
            <a:r>
              <a:rPr kumimoji="1" lang="zh-TW" altLang="en-US" sz="2400" dirty="0"/>
              <a:t>有沒有把推理過程寫在 </a:t>
            </a:r>
            <a:r>
              <a:rPr kumimoji="1" lang="en-US" altLang="zh-TW" sz="2400" dirty="0"/>
              <a:t>&lt;think&gt; </a:t>
            </a:r>
            <a:r>
              <a:rPr kumimoji="1" lang="zh-TW" altLang="en-US" sz="2400" dirty="0"/>
              <a:t>和</a:t>
            </a:r>
            <a:r>
              <a:rPr kumimoji="1" lang="en-US" altLang="zh-TW" sz="2400" dirty="0"/>
              <a:t> &lt;/think&gt;</a:t>
            </a:r>
            <a:r>
              <a:rPr kumimoji="1" lang="zh-TW" altLang="en-US" sz="2400" dirty="0"/>
              <a:t> 中</a:t>
            </a:r>
            <a:endParaRPr kumimoji="1" lang="en-US" altLang="zh-TW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從 </a:t>
            </a:r>
            <a:r>
              <a:rPr kumimoji="1" lang="en-US" altLang="zh-TW" sz="2400" dirty="0"/>
              <a:t>DeepSeek-V3-Base</a:t>
            </a:r>
            <a:r>
              <a:rPr kumimoji="1" lang="zh-TW" altLang="en-US" sz="2400" dirty="0"/>
              <a:t> 作為初始化模型 </a:t>
            </a:r>
            <a:r>
              <a:rPr kumimoji="1" lang="en-US" altLang="zh-TW" sz="2400" dirty="0"/>
              <a:t>(671B)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資料集：數學、程式設計、以及邏輯推論</a:t>
            </a:r>
            <a:endParaRPr kumimoji="1" lang="en" altLang="zh-TW" sz="24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3279C63-8BDE-6D8B-22E2-EE3409ED27A9}"/>
              </a:ext>
            </a:extLst>
          </p:cNvPr>
          <p:cNvSpPr txBox="1"/>
          <p:nvPr/>
        </p:nvSpPr>
        <p:spPr>
          <a:xfrm>
            <a:off x="6399150" y="1448780"/>
            <a:ext cx="51723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200" dirty="0"/>
              <a:t>Guo, </a:t>
            </a:r>
            <a:r>
              <a:rPr kumimoji="1" lang="en" altLang="zh-TW" sz="1200" dirty="0" err="1"/>
              <a:t>Daya</a:t>
            </a:r>
            <a:r>
              <a:rPr kumimoji="1" lang="en" altLang="zh-TW" sz="1200" dirty="0"/>
              <a:t>, et al. "Deepseek-r1: Incentivizing reasoning capability in </a:t>
            </a:r>
            <a:r>
              <a:rPr kumimoji="1" lang="en" altLang="zh-TW" sz="1200" dirty="0" err="1"/>
              <a:t>llms</a:t>
            </a:r>
            <a:r>
              <a:rPr kumimoji="1" lang="en" altLang="zh-TW" sz="1200" dirty="0"/>
              <a:t> via reinforcement learning." </a:t>
            </a:r>
            <a:r>
              <a:rPr kumimoji="1" lang="en" altLang="zh-TW" sz="1200" dirty="0" err="1"/>
              <a:t>arXiv</a:t>
            </a:r>
            <a:r>
              <a:rPr kumimoji="1" lang="en" altLang="zh-TW" sz="1200" dirty="0"/>
              <a:t> preprint arXiv:2501.12948 (2025).</a:t>
            </a:r>
            <a:endParaRPr kumimoji="1"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02781723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0CF2DC-ECD8-7286-08DA-345169FF3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DeepSeek-R1-zero </a:t>
            </a:r>
            <a:r>
              <a:rPr kumimoji="1" lang="zh-TW" altLang="en-US" dirty="0"/>
              <a:t>訓練過程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D7CE117-6D3D-7534-E573-E321B82B5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64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58C6EEF-D86A-2E08-2556-F42B97E9E0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308" y="2157953"/>
            <a:ext cx="5603240" cy="406686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A211AB41-57B2-10F6-1B45-A58268054F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2492" y="2157952"/>
            <a:ext cx="5649412" cy="4066869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5B01A42D-CA63-BDD1-09D3-E2BBCD72CE17}"/>
              </a:ext>
            </a:extLst>
          </p:cNvPr>
          <p:cNvSpPr txBox="1"/>
          <p:nvPr/>
        </p:nvSpPr>
        <p:spPr>
          <a:xfrm>
            <a:off x="6399150" y="1448780"/>
            <a:ext cx="51723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200" dirty="0"/>
              <a:t>Guo, </a:t>
            </a:r>
            <a:r>
              <a:rPr kumimoji="1" lang="en" altLang="zh-TW" sz="1200" dirty="0" err="1"/>
              <a:t>Daya</a:t>
            </a:r>
            <a:r>
              <a:rPr kumimoji="1" lang="en" altLang="zh-TW" sz="1200" dirty="0"/>
              <a:t>, et al. "Deepseek-r1: Incentivizing reasoning capability in </a:t>
            </a:r>
            <a:r>
              <a:rPr kumimoji="1" lang="en" altLang="zh-TW" sz="1200" dirty="0" err="1"/>
              <a:t>llms</a:t>
            </a:r>
            <a:r>
              <a:rPr kumimoji="1" lang="en" altLang="zh-TW" sz="1200" dirty="0"/>
              <a:t> via reinforcement learning." </a:t>
            </a:r>
            <a:r>
              <a:rPr kumimoji="1" lang="en" altLang="zh-TW" sz="1200" dirty="0" err="1"/>
              <a:t>arXiv</a:t>
            </a:r>
            <a:r>
              <a:rPr kumimoji="1" lang="en" altLang="zh-TW" sz="1200" dirty="0"/>
              <a:t> preprint arXiv:2501.12948 (2025).</a:t>
            </a:r>
            <a:endParaRPr kumimoji="1"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73610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E81715-2C50-5A90-1C5C-CAD1C1567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DeepSeek-R1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1B88451-6CF6-6509-C0FF-05F4CD0F8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65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B950746-D399-5888-273C-C267977AD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070" y="2051238"/>
            <a:ext cx="9177860" cy="4257199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FA88FFE4-FB44-9FBE-5170-2078772CCE6B}"/>
              </a:ext>
            </a:extLst>
          </p:cNvPr>
          <p:cNvSpPr txBox="1"/>
          <p:nvPr/>
        </p:nvSpPr>
        <p:spPr>
          <a:xfrm>
            <a:off x="6399150" y="1448780"/>
            <a:ext cx="51723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200" dirty="0"/>
              <a:t>Guo, </a:t>
            </a:r>
            <a:r>
              <a:rPr kumimoji="1" lang="en" altLang="zh-TW" sz="1200" dirty="0" err="1"/>
              <a:t>Daya</a:t>
            </a:r>
            <a:r>
              <a:rPr kumimoji="1" lang="en" altLang="zh-TW" sz="1200" dirty="0"/>
              <a:t>, et al. "Deepseek-r1: Incentivizing reasoning capability in </a:t>
            </a:r>
            <a:r>
              <a:rPr kumimoji="1" lang="en" altLang="zh-TW" sz="1200" dirty="0" err="1"/>
              <a:t>llms</a:t>
            </a:r>
            <a:r>
              <a:rPr kumimoji="1" lang="en" altLang="zh-TW" sz="1200" dirty="0"/>
              <a:t> via reinforcement learning." </a:t>
            </a:r>
            <a:r>
              <a:rPr kumimoji="1" lang="en" altLang="zh-TW" sz="1200" dirty="0" err="1"/>
              <a:t>arXiv</a:t>
            </a:r>
            <a:r>
              <a:rPr kumimoji="1" lang="en" altLang="zh-TW" sz="1200" dirty="0"/>
              <a:t> preprint arXiv:2501.12948 (2025).</a:t>
            </a:r>
            <a:endParaRPr kumimoji="1"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20978079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AB2CC-774E-DCC6-9A87-8FC36FBA9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C44B3CDA-D9BF-7E5F-9614-6D638B79D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46" y="1662420"/>
            <a:ext cx="3200400" cy="2286000"/>
          </a:xfrm>
        </p:spPr>
        <p:txBody>
          <a:bodyPr>
            <a:normAutofit/>
          </a:bodyPr>
          <a:lstStyle/>
          <a:p>
            <a:r>
              <a:rPr lang="en-US" altLang="zh-TW" sz="4400" dirty="0"/>
              <a:t>Test-Time Compute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3F1E35F-1CC6-1EF9-8A48-DAC2A772C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66</a:t>
            </a:fld>
            <a:endParaRPr lang="en-US"/>
          </a:p>
        </p:txBody>
      </p:sp>
      <p:sp>
        <p:nvSpPr>
          <p:cNvPr id="2" name="圓角矩形 1">
            <a:extLst>
              <a:ext uri="{FF2B5EF4-FFF2-40B4-BE49-F238E27FC236}">
                <a16:creationId xmlns:a16="http://schemas.microsoft.com/office/drawing/2014/main" id="{57D98633-26F8-0179-99EF-39C2BD1F92F2}"/>
              </a:ext>
            </a:extLst>
          </p:cNvPr>
          <p:cNvSpPr/>
          <p:nvPr/>
        </p:nvSpPr>
        <p:spPr>
          <a:xfrm>
            <a:off x="4769510" y="2805420"/>
            <a:ext cx="2406701" cy="130759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800" dirty="0">
                <a:solidFill>
                  <a:schemeClr val="tx1"/>
                </a:solidFill>
              </a:rPr>
              <a:t>Reasoning Models</a:t>
            </a:r>
            <a:endParaRPr kumimoji="1" lang="zh-TW" altLang="en-US" sz="2800" dirty="0">
              <a:solidFill>
                <a:schemeClr val="tx1"/>
              </a:solidFill>
            </a:endParaRPr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48C94C5A-46D6-68F3-18C1-9DE707531D1F}"/>
              </a:ext>
            </a:extLst>
          </p:cNvPr>
          <p:cNvSpPr/>
          <p:nvPr/>
        </p:nvSpPr>
        <p:spPr>
          <a:xfrm>
            <a:off x="8594141" y="2805420"/>
            <a:ext cx="2406701" cy="130759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800" dirty="0">
                <a:solidFill>
                  <a:schemeClr val="tx1"/>
                </a:solidFill>
              </a:rPr>
              <a:t>Test-Time Compute</a:t>
            </a:r>
            <a:endParaRPr kumimoji="1" lang="zh-TW" altLang="en-US" sz="2800" dirty="0">
              <a:solidFill>
                <a:schemeClr val="tx1"/>
              </a:solidFill>
            </a:endParaRPr>
          </a:p>
        </p:txBody>
      </p:sp>
      <p:cxnSp>
        <p:nvCxnSpPr>
          <p:cNvPr id="7" name="直線箭頭接點 6">
            <a:extLst>
              <a:ext uri="{FF2B5EF4-FFF2-40B4-BE49-F238E27FC236}">
                <a16:creationId xmlns:a16="http://schemas.microsoft.com/office/drawing/2014/main" id="{C2AC2B92-C338-65A8-B7A4-57441D77EC54}"/>
              </a:ext>
            </a:extLst>
          </p:cNvPr>
          <p:cNvCxnSpPr/>
          <p:nvPr/>
        </p:nvCxnSpPr>
        <p:spPr>
          <a:xfrm>
            <a:off x="7384878" y="3459216"/>
            <a:ext cx="972922" cy="0"/>
          </a:xfrm>
          <a:prstGeom prst="straightConnector1">
            <a:avLst/>
          </a:prstGeom>
          <a:ln w="3810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CoT and TTC: BETTER Inference for LLMs | Medium">
            <a:extLst>
              <a:ext uri="{FF2B5EF4-FFF2-40B4-BE49-F238E27FC236}">
                <a16:creationId xmlns:a16="http://schemas.microsoft.com/office/drawing/2014/main" id="{AAE40C3E-7A9C-2984-B87A-23838BE88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2218" y="4490662"/>
            <a:ext cx="2861283" cy="2151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5D4BC638-2101-DFD8-4760-D605A6A483B2}"/>
              </a:ext>
            </a:extLst>
          </p:cNvPr>
          <p:cNvSpPr txBox="1"/>
          <p:nvPr/>
        </p:nvSpPr>
        <p:spPr>
          <a:xfrm>
            <a:off x="7548586" y="6042183"/>
            <a:ext cx="330281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100" dirty="0"/>
              <a:t>Figure ref: https://</a:t>
            </a:r>
            <a:r>
              <a:rPr kumimoji="1" lang="en-US" altLang="zh-TW" sz="1100" dirty="0" err="1"/>
              <a:t>medium.com</a:t>
            </a:r>
            <a:r>
              <a:rPr kumimoji="1" lang="en-US" altLang="zh-TW" sz="1100" dirty="0"/>
              <a:t>/@</a:t>
            </a:r>
            <a:r>
              <a:rPr kumimoji="1" lang="en-US" altLang="zh-TW" sz="1100" dirty="0" err="1"/>
              <a:t>gupta.moulik</a:t>
            </a:r>
            <a:r>
              <a:rPr kumimoji="1" lang="en-US" altLang="zh-TW" sz="1100" dirty="0"/>
              <a:t>/is-this-something-that-will-take-us-to-agi-ttc-and-cot-explained-971fdf35f85c</a:t>
            </a:r>
            <a:endParaRPr kumimoji="1" lang="zh-TW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55371740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72867D-BAE7-FE54-26EC-B7975F911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" altLang="zh-TW" dirty="0"/>
              <a:t>[Recap] The Pre-training then Fine-tuning Paradigm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84A643A-0C0A-2628-AAD2-9D4FEF8F0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67</a:t>
            </a:fld>
            <a:endParaRPr lang="en-US" dirty="0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CB61D7AC-56C0-E3AD-F8C1-D0E6E1FFCDA0}"/>
              </a:ext>
            </a:extLst>
          </p:cNvPr>
          <p:cNvSpPr/>
          <p:nvPr/>
        </p:nvSpPr>
        <p:spPr>
          <a:xfrm>
            <a:off x="1904933" y="3058726"/>
            <a:ext cx="2281415" cy="1325105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2400" b="1" dirty="0">
                <a:solidFill>
                  <a:schemeClr val="tx1"/>
                </a:solidFill>
              </a:rPr>
              <a:t>文字接龍</a:t>
            </a:r>
            <a:endParaRPr kumimoji="1" lang="en-US" altLang="zh-TW" sz="2400" b="1" dirty="0">
              <a:solidFill>
                <a:schemeClr val="tx1"/>
              </a:solidFill>
            </a:endParaRPr>
          </a:p>
          <a:p>
            <a:pPr algn="ctr"/>
            <a:r>
              <a:rPr kumimoji="1" lang="en-US" altLang="zh-TW" sz="2400" b="1" dirty="0">
                <a:solidFill>
                  <a:schemeClr val="tx1"/>
                </a:solidFill>
              </a:rPr>
              <a:t>(Pre-training)</a:t>
            </a:r>
            <a:endParaRPr kumimoji="1" lang="zh-TW" altLang="en-US" sz="2800" b="1" dirty="0">
              <a:solidFill>
                <a:schemeClr val="tx1"/>
              </a:solidFill>
            </a:endParaRP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07C80630-6F48-071F-F928-16865BD1E686}"/>
              </a:ext>
            </a:extLst>
          </p:cNvPr>
          <p:cNvSpPr/>
          <p:nvPr/>
        </p:nvSpPr>
        <p:spPr>
          <a:xfrm>
            <a:off x="4806394" y="3058726"/>
            <a:ext cx="2281415" cy="1325105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2400" b="1" dirty="0">
                <a:solidFill>
                  <a:schemeClr val="tx1"/>
                </a:solidFill>
              </a:rPr>
              <a:t>指令微調 </a:t>
            </a:r>
            <a:r>
              <a:rPr kumimoji="1" lang="en-US" altLang="zh-TW" b="1" dirty="0">
                <a:solidFill>
                  <a:schemeClr val="tx1"/>
                </a:solidFill>
              </a:rPr>
              <a:t>(Supervised Fine-tuning, SFT)</a:t>
            </a:r>
            <a:endParaRPr kumimoji="1" lang="zh-TW" altLang="en-US" sz="2400" dirty="0"/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E6387E0F-7E78-B0D0-35DE-5C79C7A2D010}"/>
              </a:ext>
            </a:extLst>
          </p:cNvPr>
          <p:cNvSpPr/>
          <p:nvPr/>
        </p:nvSpPr>
        <p:spPr>
          <a:xfrm>
            <a:off x="7707855" y="3058726"/>
            <a:ext cx="2281415" cy="132510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2400" b="1" dirty="0">
                <a:solidFill>
                  <a:schemeClr val="tx1"/>
                </a:solidFill>
              </a:rPr>
              <a:t>人類反饋學習</a:t>
            </a:r>
            <a:r>
              <a:rPr kumimoji="1" lang="en-US" altLang="zh-TW" sz="2400" b="1" dirty="0">
                <a:solidFill>
                  <a:schemeClr val="tx1"/>
                </a:solidFill>
              </a:rPr>
              <a:t> (RLHF)</a:t>
            </a:r>
            <a:endParaRPr kumimoji="1" lang="zh-TW" altLang="en-US" sz="2800" b="1" dirty="0">
              <a:solidFill>
                <a:schemeClr val="tx1"/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2283759-49BA-F7EF-0EB5-F66921D1FBD6}"/>
              </a:ext>
            </a:extLst>
          </p:cNvPr>
          <p:cNvSpPr txBox="1"/>
          <p:nvPr/>
        </p:nvSpPr>
        <p:spPr>
          <a:xfrm>
            <a:off x="7507511" y="4584541"/>
            <a:ext cx="2682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ea typeface="Microsoft JhengHei" panose="020B0604030504040204" pitchFamily="34" charset="-120"/>
              </a:rPr>
              <a:t>讓模型的回答貼近</a:t>
            </a:r>
            <a:r>
              <a:rPr kumimoji="1" lang="zh-TW" altLang="en-US" b="1" dirty="0">
                <a:ea typeface="Microsoft JhengHei" panose="020B0604030504040204" pitchFamily="34" charset="-120"/>
              </a:rPr>
              <a:t>人類想要</a:t>
            </a:r>
            <a:r>
              <a:rPr kumimoji="1" lang="zh-TW" altLang="en-US" dirty="0">
                <a:ea typeface="Microsoft JhengHei" panose="020B0604030504040204" pitchFamily="34" charset="-120"/>
              </a:rPr>
              <a:t>的回答</a:t>
            </a:r>
            <a:endParaRPr kumimoji="1" lang="en-US" altLang="zh-TW" dirty="0">
              <a:ea typeface="Microsoft JhengHei" panose="020B0604030504040204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0A9DD720-71BD-EAF5-E170-08884EF0D442}"/>
              </a:ext>
            </a:extLst>
          </p:cNvPr>
          <p:cNvSpPr txBox="1"/>
          <p:nvPr/>
        </p:nvSpPr>
        <p:spPr>
          <a:xfrm>
            <a:off x="4674162" y="4584541"/>
            <a:ext cx="2545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ea typeface="Microsoft JhengHei" panose="020B0604030504040204" pitchFamily="34" charset="-120"/>
              </a:rPr>
              <a:t>讓模型</a:t>
            </a:r>
            <a:r>
              <a:rPr kumimoji="1" lang="zh-TW" altLang="en-US" b="1" dirty="0">
                <a:ea typeface="Microsoft JhengHei" panose="020B0604030504040204" pitchFamily="34" charset="-120"/>
              </a:rPr>
              <a:t>學會回答</a:t>
            </a:r>
          </a:p>
        </p:txBody>
      </p:sp>
      <p:cxnSp>
        <p:nvCxnSpPr>
          <p:cNvPr id="10" name="Google Shape;195;p17">
            <a:extLst>
              <a:ext uri="{FF2B5EF4-FFF2-40B4-BE49-F238E27FC236}">
                <a16:creationId xmlns:a16="http://schemas.microsoft.com/office/drawing/2014/main" id="{26274ECB-E6CD-8FC2-A8C1-1449A7F5DF09}"/>
              </a:ext>
            </a:extLst>
          </p:cNvPr>
          <p:cNvCxnSpPr>
            <a:cxnSpLocks/>
          </p:cNvCxnSpPr>
          <p:nvPr/>
        </p:nvCxnSpPr>
        <p:spPr>
          <a:xfrm>
            <a:off x="4246458" y="3721278"/>
            <a:ext cx="499826" cy="0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070D00C3-7D37-77A8-0FBF-9E155273777A}"/>
              </a:ext>
            </a:extLst>
          </p:cNvPr>
          <p:cNvSpPr txBox="1"/>
          <p:nvPr/>
        </p:nvSpPr>
        <p:spPr>
          <a:xfrm>
            <a:off x="248362" y="3536612"/>
            <a:ext cx="1298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ea typeface="Microsoft JhengHei" panose="020B0604030504040204" pitchFamily="34" charset="-120"/>
              </a:rPr>
              <a:t>GPT-3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cxnSp>
        <p:nvCxnSpPr>
          <p:cNvPr id="15" name="Google Shape;195;p17">
            <a:extLst>
              <a:ext uri="{FF2B5EF4-FFF2-40B4-BE49-F238E27FC236}">
                <a16:creationId xmlns:a16="http://schemas.microsoft.com/office/drawing/2014/main" id="{4D605540-B534-397B-3EFB-A2477014F113}"/>
              </a:ext>
            </a:extLst>
          </p:cNvPr>
          <p:cNvCxnSpPr>
            <a:cxnSpLocks/>
          </p:cNvCxnSpPr>
          <p:nvPr/>
        </p:nvCxnSpPr>
        <p:spPr>
          <a:xfrm>
            <a:off x="1348524" y="3721278"/>
            <a:ext cx="499826" cy="0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" name="Google Shape;195;p17">
            <a:extLst>
              <a:ext uri="{FF2B5EF4-FFF2-40B4-BE49-F238E27FC236}">
                <a16:creationId xmlns:a16="http://schemas.microsoft.com/office/drawing/2014/main" id="{DE43FE05-EC1E-831F-61BF-C50C19040AA6}"/>
              </a:ext>
            </a:extLst>
          </p:cNvPr>
          <p:cNvCxnSpPr>
            <a:cxnSpLocks/>
          </p:cNvCxnSpPr>
          <p:nvPr/>
        </p:nvCxnSpPr>
        <p:spPr>
          <a:xfrm>
            <a:off x="7164706" y="3721278"/>
            <a:ext cx="499826" cy="0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" name="Google Shape;195;p17">
            <a:extLst>
              <a:ext uri="{FF2B5EF4-FFF2-40B4-BE49-F238E27FC236}">
                <a16:creationId xmlns:a16="http://schemas.microsoft.com/office/drawing/2014/main" id="{BEF5FAFA-A835-55DD-70F3-C7B7BCD2B2DA}"/>
              </a:ext>
            </a:extLst>
          </p:cNvPr>
          <p:cNvCxnSpPr>
            <a:cxnSpLocks/>
          </p:cNvCxnSpPr>
          <p:nvPr/>
        </p:nvCxnSpPr>
        <p:spPr>
          <a:xfrm>
            <a:off x="10051616" y="3721278"/>
            <a:ext cx="499826" cy="0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8BB55605-64A4-0610-71E8-7AE9D95C90FC}"/>
              </a:ext>
            </a:extLst>
          </p:cNvPr>
          <p:cNvSpPr txBox="1"/>
          <p:nvPr/>
        </p:nvSpPr>
        <p:spPr>
          <a:xfrm>
            <a:off x="10500702" y="3536612"/>
            <a:ext cx="1497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 err="1">
                <a:ea typeface="Microsoft JhengHei" panose="020B0604030504040204" pitchFamily="34" charset="-120"/>
              </a:rPr>
              <a:t>InstructGPT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A50930E8-6BBA-7D52-1097-4C6C3DEA3EFF}"/>
              </a:ext>
            </a:extLst>
          </p:cNvPr>
          <p:cNvSpPr txBox="1"/>
          <p:nvPr/>
        </p:nvSpPr>
        <p:spPr>
          <a:xfrm>
            <a:off x="5479311" y="2243847"/>
            <a:ext cx="38706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800" b="1" dirty="0"/>
              <a:t>Fine-tuning</a:t>
            </a:r>
            <a:endParaRPr lang="zh-TW" altLang="en-US" sz="2800" b="1" dirty="0"/>
          </a:p>
        </p:txBody>
      </p:sp>
      <p:sp>
        <p:nvSpPr>
          <p:cNvPr id="21" name="左中括弧 20">
            <a:extLst>
              <a:ext uri="{FF2B5EF4-FFF2-40B4-BE49-F238E27FC236}">
                <a16:creationId xmlns:a16="http://schemas.microsoft.com/office/drawing/2014/main" id="{84B174B6-451B-F7BC-6670-F94555EE66A8}"/>
              </a:ext>
            </a:extLst>
          </p:cNvPr>
          <p:cNvSpPr/>
          <p:nvPr/>
        </p:nvSpPr>
        <p:spPr>
          <a:xfrm rot="5400000">
            <a:off x="7329357" y="1056238"/>
            <a:ext cx="170522" cy="3633745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3DAE9B4-46C9-EBD6-7618-ED9E13994E6A}"/>
              </a:ext>
            </a:extLst>
          </p:cNvPr>
          <p:cNvSpPr txBox="1"/>
          <p:nvPr/>
        </p:nvSpPr>
        <p:spPr>
          <a:xfrm>
            <a:off x="5869858" y="6132580"/>
            <a:ext cx="6077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RLHF: Reinforcement Learning with Human Feedback</a:t>
            </a:r>
          </a:p>
        </p:txBody>
      </p:sp>
    </p:spTree>
    <p:extLst>
      <p:ext uri="{BB962C8B-B14F-4D97-AF65-F5344CB8AC3E}">
        <p14:creationId xmlns:p14="http://schemas.microsoft.com/office/powerpoint/2010/main" val="1520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20" grpId="0"/>
      <p:bldP spid="21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72867D-BAE7-FE54-26EC-B7975F911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增加驗證推理步驟的</a:t>
            </a:r>
            <a:r>
              <a:rPr kumimoji="1" lang="en-US" altLang="zh-TW" dirty="0"/>
              <a:t> Reward Model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84A643A-0C0A-2628-AAD2-9D4FEF8F0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68</a:t>
            </a:fld>
            <a:endParaRPr lang="en-US" dirty="0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CB61D7AC-56C0-E3AD-F8C1-D0E6E1FFCDA0}"/>
              </a:ext>
            </a:extLst>
          </p:cNvPr>
          <p:cNvSpPr/>
          <p:nvPr/>
        </p:nvSpPr>
        <p:spPr>
          <a:xfrm>
            <a:off x="1904933" y="3058726"/>
            <a:ext cx="2281415" cy="1325105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2400" b="1" dirty="0">
                <a:solidFill>
                  <a:schemeClr val="tx1"/>
                </a:solidFill>
              </a:rPr>
              <a:t>文字接龍</a:t>
            </a:r>
            <a:endParaRPr kumimoji="1" lang="en-US" altLang="zh-TW" sz="2400" b="1" dirty="0">
              <a:solidFill>
                <a:schemeClr val="tx1"/>
              </a:solidFill>
            </a:endParaRPr>
          </a:p>
          <a:p>
            <a:pPr algn="ctr"/>
            <a:r>
              <a:rPr kumimoji="1" lang="en-US" altLang="zh-TW" sz="2400" b="1" dirty="0">
                <a:solidFill>
                  <a:schemeClr val="tx1"/>
                </a:solidFill>
              </a:rPr>
              <a:t>(Pre-training)</a:t>
            </a:r>
            <a:endParaRPr kumimoji="1" lang="zh-TW" altLang="en-US" sz="2800" b="1" dirty="0">
              <a:solidFill>
                <a:schemeClr val="tx1"/>
              </a:solidFill>
            </a:endParaRP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07C80630-6F48-071F-F928-16865BD1E686}"/>
              </a:ext>
            </a:extLst>
          </p:cNvPr>
          <p:cNvSpPr/>
          <p:nvPr/>
        </p:nvSpPr>
        <p:spPr>
          <a:xfrm>
            <a:off x="4806394" y="3058726"/>
            <a:ext cx="2281415" cy="1325105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2400" b="1" dirty="0">
                <a:solidFill>
                  <a:schemeClr val="tx1"/>
                </a:solidFill>
              </a:rPr>
              <a:t>指令微調 </a:t>
            </a:r>
            <a:r>
              <a:rPr kumimoji="1" lang="en-US" altLang="zh-TW" b="1" dirty="0">
                <a:solidFill>
                  <a:schemeClr val="tx1"/>
                </a:solidFill>
              </a:rPr>
              <a:t>(Supervised Fine-tuning, SFT)</a:t>
            </a:r>
            <a:endParaRPr kumimoji="1" lang="zh-TW" altLang="en-US" sz="2400" dirty="0"/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E6387E0F-7E78-B0D0-35DE-5C79C7A2D010}"/>
              </a:ext>
            </a:extLst>
          </p:cNvPr>
          <p:cNvSpPr/>
          <p:nvPr/>
        </p:nvSpPr>
        <p:spPr>
          <a:xfrm>
            <a:off x="7707855" y="3058726"/>
            <a:ext cx="2281415" cy="132510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2400" b="1" dirty="0">
                <a:solidFill>
                  <a:schemeClr val="tx1"/>
                </a:solidFill>
              </a:rPr>
              <a:t>人類反饋學習</a:t>
            </a:r>
            <a:r>
              <a:rPr kumimoji="1" lang="en-US" altLang="zh-TW" sz="2400" b="1" dirty="0">
                <a:solidFill>
                  <a:schemeClr val="tx1"/>
                </a:solidFill>
              </a:rPr>
              <a:t> (RLHF)</a:t>
            </a:r>
            <a:endParaRPr kumimoji="1" lang="zh-TW" altLang="en-US" sz="2800" b="1" dirty="0">
              <a:solidFill>
                <a:schemeClr val="tx1"/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2283759-49BA-F7EF-0EB5-F66921D1FBD6}"/>
              </a:ext>
            </a:extLst>
          </p:cNvPr>
          <p:cNvSpPr txBox="1"/>
          <p:nvPr/>
        </p:nvSpPr>
        <p:spPr>
          <a:xfrm>
            <a:off x="7507511" y="4584541"/>
            <a:ext cx="2682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ea typeface="Microsoft JhengHei" panose="020B0604030504040204" pitchFamily="34" charset="-120"/>
              </a:rPr>
              <a:t>讓模型的回答貼近</a:t>
            </a:r>
            <a:r>
              <a:rPr kumimoji="1" lang="zh-TW" altLang="en-US" b="1" dirty="0">
                <a:ea typeface="Microsoft JhengHei" panose="020B0604030504040204" pitchFamily="34" charset="-120"/>
              </a:rPr>
              <a:t>人類想要</a:t>
            </a:r>
            <a:r>
              <a:rPr kumimoji="1" lang="zh-TW" altLang="en-US" dirty="0">
                <a:ea typeface="Microsoft JhengHei" panose="020B0604030504040204" pitchFamily="34" charset="-120"/>
              </a:rPr>
              <a:t>的回答</a:t>
            </a:r>
            <a:endParaRPr kumimoji="1" lang="en-US" altLang="zh-TW" dirty="0">
              <a:ea typeface="Microsoft JhengHei" panose="020B0604030504040204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0A9DD720-71BD-EAF5-E170-08884EF0D442}"/>
              </a:ext>
            </a:extLst>
          </p:cNvPr>
          <p:cNvSpPr txBox="1"/>
          <p:nvPr/>
        </p:nvSpPr>
        <p:spPr>
          <a:xfrm>
            <a:off x="4674162" y="4584541"/>
            <a:ext cx="2545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ea typeface="Microsoft JhengHei" panose="020B0604030504040204" pitchFamily="34" charset="-120"/>
              </a:rPr>
              <a:t>讓模型</a:t>
            </a:r>
            <a:r>
              <a:rPr kumimoji="1" lang="zh-TW" altLang="en-US" b="1" dirty="0">
                <a:ea typeface="Microsoft JhengHei" panose="020B0604030504040204" pitchFamily="34" charset="-120"/>
              </a:rPr>
              <a:t>學會回答</a:t>
            </a:r>
          </a:p>
        </p:txBody>
      </p:sp>
      <p:cxnSp>
        <p:nvCxnSpPr>
          <p:cNvPr id="10" name="Google Shape;195;p17">
            <a:extLst>
              <a:ext uri="{FF2B5EF4-FFF2-40B4-BE49-F238E27FC236}">
                <a16:creationId xmlns:a16="http://schemas.microsoft.com/office/drawing/2014/main" id="{26274ECB-E6CD-8FC2-A8C1-1449A7F5DF09}"/>
              </a:ext>
            </a:extLst>
          </p:cNvPr>
          <p:cNvCxnSpPr>
            <a:cxnSpLocks/>
          </p:cNvCxnSpPr>
          <p:nvPr/>
        </p:nvCxnSpPr>
        <p:spPr>
          <a:xfrm>
            <a:off x="4246458" y="3721278"/>
            <a:ext cx="499826" cy="0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070D00C3-7D37-77A8-0FBF-9E155273777A}"/>
              </a:ext>
            </a:extLst>
          </p:cNvPr>
          <p:cNvSpPr txBox="1"/>
          <p:nvPr/>
        </p:nvSpPr>
        <p:spPr>
          <a:xfrm>
            <a:off x="248362" y="3536612"/>
            <a:ext cx="1298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ea typeface="Microsoft JhengHei" panose="020B0604030504040204" pitchFamily="34" charset="-120"/>
              </a:rPr>
              <a:t>GPT-3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cxnSp>
        <p:nvCxnSpPr>
          <p:cNvPr id="15" name="Google Shape;195;p17">
            <a:extLst>
              <a:ext uri="{FF2B5EF4-FFF2-40B4-BE49-F238E27FC236}">
                <a16:creationId xmlns:a16="http://schemas.microsoft.com/office/drawing/2014/main" id="{4D605540-B534-397B-3EFB-A2477014F113}"/>
              </a:ext>
            </a:extLst>
          </p:cNvPr>
          <p:cNvCxnSpPr>
            <a:cxnSpLocks/>
          </p:cNvCxnSpPr>
          <p:nvPr/>
        </p:nvCxnSpPr>
        <p:spPr>
          <a:xfrm>
            <a:off x="1348524" y="3721278"/>
            <a:ext cx="499826" cy="0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" name="Google Shape;195;p17">
            <a:extLst>
              <a:ext uri="{FF2B5EF4-FFF2-40B4-BE49-F238E27FC236}">
                <a16:creationId xmlns:a16="http://schemas.microsoft.com/office/drawing/2014/main" id="{DE43FE05-EC1E-831F-61BF-C50C19040AA6}"/>
              </a:ext>
            </a:extLst>
          </p:cNvPr>
          <p:cNvCxnSpPr>
            <a:cxnSpLocks/>
          </p:cNvCxnSpPr>
          <p:nvPr/>
        </p:nvCxnSpPr>
        <p:spPr>
          <a:xfrm>
            <a:off x="7164706" y="3721278"/>
            <a:ext cx="499826" cy="0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" name="Google Shape;195;p17">
            <a:extLst>
              <a:ext uri="{FF2B5EF4-FFF2-40B4-BE49-F238E27FC236}">
                <a16:creationId xmlns:a16="http://schemas.microsoft.com/office/drawing/2014/main" id="{BEF5FAFA-A835-55DD-70F3-C7B7BCD2B2DA}"/>
              </a:ext>
            </a:extLst>
          </p:cNvPr>
          <p:cNvCxnSpPr>
            <a:cxnSpLocks/>
          </p:cNvCxnSpPr>
          <p:nvPr/>
        </p:nvCxnSpPr>
        <p:spPr>
          <a:xfrm>
            <a:off x="10051616" y="3721278"/>
            <a:ext cx="499826" cy="0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8BB55605-64A4-0610-71E8-7AE9D95C90FC}"/>
              </a:ext>
            </a:extLst>
          </p:cNvPr>
          <p:cNvSpPr txBox="1"/>
          <p:nvPr/>
        </p:nvSpPr>
        <p:spPr>
          <a:xfrm>
            <a:off x="10500702" y="3536612"/>
            <a:ext cx="1497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 err="1">
                <a:ea typeface="Microsoft JhengHei" panose="020B0604030504040204" pitchFamily="34" charset="-120"/>
              </a:rPr>
              <a:t>InstructGPT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A50930E8-6BBA-7D52-1097-4C6C3DEA3EFF}"/>
              </a:ext>
            </a:extLst>
          </p:cNvPr>
          <p:cNvSpPr txBox="1"/>
          <p:nvPr/>
        </p:nvSpPr>
        <p:spPr>
          <a:xfrm>
            <a:off x="5479311" y="2243847"/>
            <a:ext cx="38706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800" b="1" dirty="0"/>
              <a:t>Fine-tuning</a:t>
            </a:r>
            <a:endParaRPr lang="zh-TW" altLang="en-US" sz="2800" b="1" dirty="0"/>
          </a:p>
        </p:txBody>
      </p:sp>
      <p:sp>
        <p:nvSpPr>
          <p:cNvPr id="21" name="左中括弧 20">
            <a:extLst>
              <a:ext uri="{FF2B5EF4-FFF2-40B4-BE49-F238E27FC236}">
                <a16:creationId xmlns:a16="http://schemas.microsoft.com/office/drawing/2014/main" id="{84B174B6-451B-F7BC-6670-F94555EE66A8}"/>
              </a:ext>
            </a:extLst>
          </p:cNvPr>
          <p:cNvSpPr/>
          <p:nvPr/>
        </p:nvSpPr>
        <p:spPr>
          <a:xfrm rot="5400000">
            <a:off x="7329357" y="1056238"/>
            <a:ext cx="170522" cy="3633745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" name="向下箭號 6">
            <a:extLst>
              <a:ext uri="{FF2B5EF4-FFF2-40B4-BE49-F238E27FC236}">
                <a16:creationId xmlns:a16="http://schemas.microsoft.com/office/drawing/2014/main" id="{66C40B09-428A-C3B7-04C7-46BFA24BDBA4}"/>
              </a:ext>
            </a:extLst>
          </p:cNvPr>
          <p:cNvSpPr/>
          <p:nvPr/>
        </p:nvSpPr>
        <p:spPr>
          <a:xfrm>
            <a:off x="11083873" y="2787849"/>
            <a:ext cx="330859" cy="64115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9DD7087-B8DC-17CC-F8A7-F670649679BF}"/>
              </a:ext>
            </a:extLst>
          </p:cNvPr>
          <p:cNvSpPr txBox="1"/>
          <p:nvPr/>
        </p:nvSpPr>
        <p:spPr>
          <a:xfrm>
            <a:off x="10562533" y="2302767"/>
            <a:ext cx="13735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Verifier</a:t>
            </a:r>
            <a:endParaRPr kumimoji="1" lang="zh-TW" altLang="en-US" sz="2000" b="1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3B6FEA15-8A5D-6CAF-1F81-6AC3D6811D15}"/>
              </a:ext>
            </a:extLst>
          </p:cNvPr>
          <p:cNvSpPr txBox="1"/>
          <p:nvPr/>
        </p:nvSpPr>
        <p:spPr>
          <a:xfrm>
            <a:off x="2538774" y="6319020"/>
            <a:ext cx="71144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200" dirty="0"/>
              <a:t>Snell, Charlie, et al. "Scaling LLM test-time compute optimally can be more effective than scaling parameters for reasoning." International Conference on Learning Representations. Vol. 2025. 2025.</a:t>
            </a:r>
            <a:endParaRPr kumimoji="1"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15246614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ED9A60-DB01-B843-4F15-7D0CA8FF2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PRM800K Dataset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2F39F1F-AE8C-F70D-A0F5-89241CAD8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69</a:t>
            </a:fld>
            <a:endParaRPr lang="en-US" dirty="0"/>
          </a:p>
        </p:txBody>
      </p:sp>
      <p:pic>
        <p:nvPicPr>
          <p:cNvPr id="7" name="圖片 6" descr="一張含有 文字, 字型, 行, 螢幕擷取畫面 的圖片&#10;&#10;自動產生的描述">
            <a:extLst>
              <a:ext uri="{FF2B5EF4-FFF2-40B4-BE49-F238E27FC236}">
                <a16:creationId xmlns:a16="http://schemas.microsoft.com/office/drawing/2014/main" id="{FED1D3A2-537B-0062-84A5-614D7C3198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363" y="2353959"/>
            <a:ext cx="8967274" cy="3669799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FFA5F10D-83CE-FACB-CC13-AFEC96AD81AC}"/>
              </a:ext>
            </a:extLst>
          </p:cNvPr>
          <p:cNvSpPr txBox="1"/>
          <p:nvPr/>
        </p:nvSpPr>
        <p:spPr>
          <a:xfrm>
            <a:off x="8376208" y="580408"/>
            <a:ext cx="31626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600" dirty="0"/>
              <a:t>Let’s Verify Step by Step: https://</a:t>
            </a:r>
            <a:r>
              <a:rPr kumimoji="1" lang="en" altLang="zh-TW" sz="1600" dirty="0" err="1"/>
              <a:t>arxiv.org</a:t>
            </a:r>
            <a:r>
              <a:rPr kumimoji="1" lang="en" altLang="zh-TW" sz="1600" dirty="0"/>
              <a:t>/abs/2305.20050</a:t>
            </a:r>
            <a:endParaRPr kumimoji="1" lang="zh-TW" altLang="en-US" sz="16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F467ED1-6ECD-94A1-941D-96145724A4E8}"/>
              </a:ext>
            </a:extLst>
          </p:cNvPr>
          <p:cNvSpPr txBox="1"/>
          <p:nvPr/>
        </p:nvSpPr>
        <p:spPr>
          <a:xfrm>
            <a:off x="653143" y="1543902"/>
            <a:ext cx="7134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800K step-level labels across 75K solutions to 12K math problems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6889045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7884C6-F266-1FBC-6FBC-565DC7761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Test-time Compute </a:t>
            </a:r>
            <a:r>
              <a:rPr kumimoji="1" lang="zh-TW" altLang="en-US" dirty="0"/>
              <a:t>步驟</a:t>
            </a:r>
            <a:r>
              <a:rPr kumimoji="1" lang="en-US" altLang="zh-TW" dirty="0"/>
              <a:t> (Stage 2)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E9B66F7-D433-8EE5-82F4-599922DA1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70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2C41744-BA73-52A0-DEEE-1EF840C1E8D8}"/>
              </a:ext>
            </a:extLst>
          </p:cNvPr>
          <p:cNvSpPr txBox="1"/>
          <p:nvPr/>
        </p:nvSpPr>
        <p:spPr>
          <a:xfrm>
            <a:off x="653143" y="2766067"/>
            <a:ext cx="3352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b="1" dirty="0"/>
              <a:t>Stage 1: </a:t>
            </a:r>
            <a:r>
              <a:rPr kumimoji="1" lang="zh-TW" altLang="en-US" sz="2000" b="1" dirty="0"/>
              <a:t>訓練 </a:t>
            </a:r>
            <a:r>
              <a:rPr kumimoji="1" lang="en-US" altLang="zh-TW" sz="2000" b="1" dirty="0"/>
              <a:t>Verifier</a:t>
            </a:r>
            <a:endParaRPr kumimoji="1" lang="zh-TW" altLang="en-US" sz="2000" b="1" dirty="0"/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003CC955-B3B2-C7AB-BA45-A4FBCA506522}"/>
              </a:ext>
            </a:extLst>
          </p:cNvPr>
          <p:cNvSpPr/>
          <p:nvPr/>
        </p:nvSpPr>
        <p:spPr>
          <a:xfrm>
            <a:off x="767277" y="3522778"/>
            <a:ext cx="2115127" cy="31755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TW" sz="1600" dirty="0"/>
              <a:t>Problem Statement</a:t>
            </a:r>
            <a:endParaRPr kumimoji="1" lang="zh-TW" altLang="en-US" sz="1600" dirty="0"/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A192A851-8D2B-9982-CCF2-F9A05B8F84E3}"/>
              </a:ext>
            </a:extLst>
          </p:cNvPr>
          <p:cNvSpPr/>
          <p:nvPr/>
        </p:nvSpPr>
        <p:spPr>
          <a:xfrm>
            <a:off x="767277" y="3919407"/>
            <a:ext cx="2115127" cy="31755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TW" sz="1600" dirty="0"/>
              <a:t>Step 1: ...</a:t>
            </a:r>
            <a:endParaRPr kumimoji="1" lang="zh-TW" altLang="en-US" sz="16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D1688C0-1242-C4C2-AECD-F31B92CE1BB2}"/>
              </a:ext>
            </a:extLst>
          </p:cNvPr>
          <p:cNvSpPr/>
          <p:nvPr/>
        </p:nvSpPr>
        <p:spPr>
          <a:xfrm>
            <a:off x="3315853" y="3566142"/>
            <a:ext cx="1579418" cy="63732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GPT-4</a:t>
            </a:r>
          </a:p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(Verifier)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8AA47C7E-30D2-75C1-5164-63BCA1988966}"/>
              </a:ext>
            </a:extLst>
          </p:cNvPr>
          <p:cNvCxnSpPr>
            <a:cxnSpLocks/>
          </p:cNvCxnSpPr>
          <p:nvPr/>
        </p:nvCxnSpPr>
        <p:spPr>
          <a:xfrm>
            <a:off x="2955636" y="3885306"/>
            <a:ext cx="31403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F0065F7E-DA40-09EE-0831-249A5C35DAA7}"/>
              </a:ext>
            </a:extLst>
          </p:cNvPr>
          <p:cNvCxnSpPr>
            <a:cxnSpLocks/>
          </p:cNvCxnSpPr>
          <p:nvPr/>
        </p:nvCxnSpPr>
        <p:spPr>
          <a:xfrm>
            <a:off x="4983017" y="3885306"/>
            <a:ext cx="31403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DEFDFF12-209D-096C-84F3-937501802ED6}"/>
              </a:ext>
            </a:extLst>
          </p:cNvPr>
          <p:cNvSpPr txBox="1"/>
          <p:nvPr/>
        </p:nvSpPr>
        <p:spPr>
          <a:xfrm>
            <a:off x="5297054" y="3719352"/>
            <a:ext cx="60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✅</a:t>
            </a:r>
            <a:endParaRPr kumimoji="1" lang="zh-TW" altLang="en-US" sz="2000" dirty="0"/>
          </a:p>
        </p:txBody>
      </p:sp>
      <p:grpSp>
        <p:nvGrpSpPr>
          <p:cNvPr id="26" name="群組 25">
            <a:extLst>
              <a:ext uri="{FF2B5EF4-FFF2-40B4-BE49-F238E27FC236}">
                <a16:creationId xmlns:a16="http://schemas.microsoft.com/office/drawing/2014/main" id="{09D977E8-545C-4919-5196-CD82CEA587A9}"/>
              </a:ext>
            </a:extLst>
          </p:cNvPr>
          <p:cNvGrpSpPr/>
          <p:nvPr/>
        </p:nvGrpSpPr>
        <p:grpSpPr>
          <a:xfrm>
            <a:off x="6431148" y="2358401"/>
            <a:ext cx="5140366" cy="2141198"/>
            <a:chOff x="6431148" y="1550443"/>
            <a:chExt cx="5140366" cy="2141198"/>
          </a:xfrm>
        </p:grpSpPr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CDD83345-4C42-2A80-E4FB-BE290D18AE47}"/>
                </a:ext>
              </a:extLst>
            </p:cNvPr>
            <p:cNvSpPr txBox="1"/>
            <p:nvPr/>
          </p:nvSpPr>
          <p:spPr>
            <a:xfrm>
              <a:off x="10961914" y="2488664"/>
              <a:ext cx="6096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2000" dirty="0"/>
                <a:t>❌</a:t>
              </a:r>
              <a:endParaRPr kumimoji="1" lang="zh-TW" altLang="en-US" sz="2000" dirty="0"/>
            </a:p>
          </p:txBody>
        </p:sp>
        <p:grpSp>
          <p:nvGrpSpPr>
            <p:cNvPr id="25" name="群組 24">
              <a:extLst>
                <a:ext uri="{FF2B5EF4-FFF2-40B4-BE49-F238E27FC236}">
                  <a16:creationId xmlns:a16="http://schemas.microsoft.com/office/drawing/2014/main" id="{C625EC44-40E6-A0C7-31F2-B70A0A5FAA4E}"/>
                </a:ext>
              </a:extLst>
            </p:cNvPr>
            <p:cNvGrpSpPr/>
            <p:nvPr/>
          </p:nvGrpSpPr>
          <p:grpSpPr>
            <a:xfrm>
              <a:off x="6431148" y="1550443"/>
              <a:ext cx="4530766" cy="2141198"/>
              <a:chOff x="6431148" y="1550443"/>
              <a:chExt cx="4530766" cy="2141198"/>
            </a:xfrm>
          </p:grpSpPr>
          <p:sp>
            <p:nvSpPr>
              <p:cNvPr id="14" name="圓角矩形 13">
                <a:extLst>
                  <a:ext uri="{FF2B5EF4-FFF2-40B4-BE49-F238E27FC236}">
                    <a16:creationId xmlns:a16="http://schemas.microsoft.com/office/drawing/2014/main" id="{2C4DC0F0-9FC1-B777-D5E6-218741E1DFFD}"/>
                  </a:ext>
                </a:extLst>
              </p:cNvPr>
              <p:cNvSpPr/>
              <p:nvPr/>
            </p:nvSpPr>
            <p:spPr>
              <a:xfrm>
                <a:off x="6431149" y="1550443"/>
                <a:ext cx="2115127" cy="317551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kumimoji="1" lang="en-US" altLang="zh-TW" sz="1600" dirty="0"/>
                  <a:t>Problem Statement</a:t>
                </a:r>
                <a:endParaRPr kumimoji="1" lang="zh-TW" altLang="en-US" sz="1600" dirty="0"/>
              </a:p>
            </p:txBody>
          </p:sp>
          <p:sp>
            <p:nvSpPr>
              <p:cNvPr id="15" name="圓角矩形 14">
                <a:extLst>
                  <a:ext uri="{FF2B5EF4-FFF2-40B4-BE49-F238E27FC236}">
                    <a16:creationId xmlns:a16="http://schemas.microsoft.com/office/drawing/2014/main" id="{3C30BADE-2577-CEDB-86B2-672A30C79932}"/>
                  </a:ext>
                </a:extLst>
              </p:cNvPr>
              <p:cNvSpPr/>
              <p:nvPr/>
            </p:nvSpPr>
            <p:spPr>
              <a:xfrm>
                <a:off x="6431149" y="1947072"/>
                <a:ext cx="2115127" cy="317551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kumimoji="1" lang="en-US" altLang="zh-TW" sz="1600" dirty="0"/>
                  <a:t>Step 1: ...</a:t>
                </a:r>
                <a:endParaRPr kumimoji="1" lang="zh-TW" altLang="en-US" sz="1600" dirty="0"/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BD14CAE1-773D-8C02-D092-77E1260455EE}"/>
                  </a:ext>
                </a:extLst>
              </p:cNvPr>
              <p:cNvSpPr/>
              <p:nvPr/>
            </p:nvSpPr>
            <p:spPr>
              <a:xfrm>
                <a:off x="8980713" y="2335454"/>
                <a:ext cx="1579418" cy="637326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dirty="0">
                    <a:solidFill>
                      <a:schemeClr val="tx1"/>
                    </a:solidFill>
                  </a:rPr>
                  <a:t>GPT-4</a:t>
                </a:r>
              </a:p>
              <a:p>
                <a:pPr algn="ctr"/>
                <a:r>
                  <a:rPr kumimoji="1" lang="en-US" altLang="zh-TW" dirty="0">
                    <a:solidFill>
                      <a:schemeClr val="tx1"/>
                    </a:solidFill>
                  </a:rPr>
                  <a:t>(Verifier)</a:t>
                </a:r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7" name="直線箭頭接點 16">
                <a:extLst>
                  <a:ext uri="{FF2B5EF4-FFF2-40B4-BE49-F238E27FC236}">
                    <a16:creationId xmlns:a16="http://schemas.microsoft.com/office/drawing/2014/main" id="{7AAB1AD4-C9A5-EB31-03FD-8883EE67AF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20496" y="2654618"/>
                <a:ext cx="314037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線箭頭接點 17">
                <a:extLst>
                  <a:ext uri="{FF2B5EF4-FFF2-40B4-BE49-F238E27FC236}">
                    <a16:creationId xmlns:a16="http://schemas.microsoft.com/office/drawing/2014/main" id="{7E02D09E-D6D3-E225-5738-6208B7A803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47877" y="2654618"/>
                <a:ext cx="314037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圓角矩形 19">
                <a:extLst>
                  <a:ext uri="{FF2B5EF4-FFF2-40B4-BE49-F238E27FC236}">
                    <a16:creationId xmlns:a16="http://schemas.microsoft.com/office/drawing/2014/main" id="{644CF0D7-5751-36FE-202A-90569EC8D29F}"/>
                  </a:ext>
                </a:extLst>
              </p:cNvPr>
              <p:cNvSpPr/>
              <p:nvPr/>
            </p:nvSpPr>
            <p:spPr>
              <a:xfrm>
                <a:off x="6431149" y="2343701"/>
                <a:ext cx="2115127" cy="317551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kumimoji="1" lang="en-US" altLang="zh-TW" sz="1600" dirty="0"/>
                  <a:t>Step 1: ...</a:t>
                </a:r>
                <a:endParaRPr kumimoji="1" lang="zh-TW" altLang="en-US" sz="1600" dirty="0"/>
              </a:p>
            </p:txBody>
          </p:sp>
          <p:sp>
            <p:nvSpPr>
              <p:cNvPr id="21" name="圓角矩形 20">
                <a:extLst>
                  <a:ext uri="{FF2B5EF4-FFF2-40B4-BE49-F238E27FC236}">
                    <a16:creationId xmlns:a16="http://schemas.microsoft.com/office/drawing/2014/main" id="{391B567C-FA1E-3F33-B799-322558505D09}"/>
                  </a:ext>
                </a:extLst>
              </p:cNvPr>
              <p:cNvSpPr/>
              <p:nvPr/>
            </p:nvSpPr>
            <p:spPr>
              <a:xfrm>
                <a:off x="6431149" y="2725898"/>
                <a:ext cx="2115127" cy="317551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kumimoji="1" lang="en-US" altLang="zh-TW" sz="1600" dirty="0"/>
                  <a:t>Step 1: ...</a:t>
                </a:r>
                <a:endParaRPr kumimoji="1" lang="zh-TW" altLang="en-US" sz="1600" dirty="0"/>
              </a:p>
            </p:txBody>
          </p:sp>
          <p:sp>
            <p:nvSpPr>
              <p:cNvPr id="22" name="圓角矩形 21">
                <a:extLst>
                  <a:ext uri="{FF2B5EF4-FFF2-40B4-BE49-F238E27FC236}">
                    <a16:creationId xmlns:a16="http://schemas.microsoft.com/office/drawing/2014/main" id="{44C0A7DB-01F3-5B76-3652-2ABFB313E723}"/>
                  </a:ext>
                </a:extLst>
              </p:cNvPr>
              <p:cNvSpPr/>
              <p:nvPr/>
            </p:nvSpPr>
            <p:spPr>
              <a:xfrm>
                <a:off x="6431148" y="3374090"/>
                <a:ext cx="2115127" cy="317551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kumimoji="1" lang="en-US" altLang="zh-TW" sz="1600" dirty="0"/>
                  <a:t>Step 6: ...</a:t>
                </a:r>
                <a:endParaRPr kumimoji="1" lang="zh-TW" altLang="en-US" sz="1600" dirty="0"/>
              </a:p>
            </p:txBody>
          </p:sp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EC981CB3-4D17-D41B-FEBB-B7EE3766F1A0}"/>
                  </a:ext>
                </a:extLst>
              </p:cNvPr>
              <p:cNvSpPr txBox="1"/>
              <p:nvPr/>
            </p:nvSpPr>
            <p:spPr>
              <a:xfrm>
                <a:off x="7345547" y="2972780"/>
                <a:ext cx="60959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zh-TW" sz="1800" dirty="0"/>
                  <a:t>...</a:t>
                </a:r>
                <a:endParaRPr lang="zh-TW" altLang="en-US" dirty="0"/>
              </a:p>
            </p:txBody>
          </p:sp>
        </p:grpSp>
      </p:grp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BFC3087F-F78F-E525-4E25-F989A55BD75F}"/>
              </a:ext>
            </a:extLst>
          </p:cNvPr>
          <p:cNvSpPr txBox="1"/>
          <p:nvPr/>
        </p:nvSpPr>
        <p:spPr>
          <a:xfrm>
            <a:off x="4395335" y="6123172"/>
            <a:ext cx="31626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600" dirty="0"/>
              <a:t>Let’s Verify Step by Step: https://</a:t>
            </a:r>
            <a:r>
              <a:rPr kumimoji="1" lang="en" altLang="zh-TW" sz="1600" dirty="0" err="1"/>
              <a:t>arxiv.org</a:t>
            </a:r>
            <a:r>
              <a:rPr kumimoji="1" lang="en" altLang="zh-TW" sz="1600" dirty="0"/>
              <a:t>/abs/2305.20050</a:t>
            </a:r>
            <a:endParaRPr kumimoji="1"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492819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7884C6-F266-1FBC-6FBC-565DC7761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Test-time Compute </a:t>
            </a:r>
            <a:r>
              <a:rPr kumimoji="1" lang="zh-TW" altLang="en-US" dirty="0"/>
              <a:t>步驟</a:t>
            </a:r>
            <a:r>
              <a:rPr kumimoji="1" lang="en-US" altLang="zh-TW" dirty="0"/>
              <a:t> (Stage 2)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E9B66F7-D433-8EE5-82F4-599922DA1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71</a:t>
            </a:fld>
            <a:endParaRPr lang="en-US" dirty="0"/>
          </a:p>
        </p:txBody>
      </p:sp>
      <p:sp>
        <p:nvSpPr>
          <p:cNvPr id="27" name="圓角矩形 26">
            <a:extLst>
              <a:ext uri="{FF2B5EF4-FFF2-40B4-BE49-F238E27FC236}">
                <a16:creationId xmlns:a16="http://schemas.microsoft.com/office/drawing/2014/main" id="{E22F27BE-2E94-83C6-D1AF-12261573DAC5}"/>
              </a:ext>
            </a:extLst>
          </p:cNvPr>
          <p:cNvSpPr/>
          <p:nvPr/>
        </p:nvSpPr>
        <p:spPr>
          <a:xfrm>
            <a:off x="653143" y="4721876"/>
            <a:ext cx="5047376" cy="159393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TW" sz="1600" dirty="0">
                <a:solidFill>
                  <a:srgbClr val="0070C0"/>
                </a:solidFill>
              </a:rPr>
              <a:t>s1. </a:t>
            </a:r>
            <a:r>
              <a:rPr kumimoji="1" lang="zh-TW" altLang="en-US" sz="1600" dirty="0">
                <a:solidFill>
                  <a:srgbClr val="0070C0"/>
                </a:solidFill>
              </a:rPr>
              <a:t>假設 </a:t>
            </a:r>
            <a:r>
              <a:rPr kumimoji="1" lang="en-US" altLang="zh-TW" sz="1600" dirty="0">
                <a:solidFill>
                  <a:srgbClr val="0070C0"/>
                </a:solidFill>
              </a:rPr>
              <a:t>35 </a:t>
            </a:r>
            <a:r>
              <a:rPr kumimoji="1" lang="zh-TW" altLang="en-US" sz="1600" dirty="0">
                <a:solidFill>
                  <a:srgbClr val="0070C0"/>
                </a:solidFill>
              </a:rPr>
              <a:t>隻全部都是雞，則腳數會是 </a:t>
            </a:r>
            <a:r>
              <a:rPr kumimoji="1" lang="en-US" altLang="zh-TW" sz="1600" dirty="0">
                <a:solidFill>
                  <a:srgbClr val="0070C0"/>
                </a:solidFill>
              </a:rPr>
              <a:t>35 × 2 = 70 </a:t>
            </a:r>
            <a:r>
              <a:rPr kumimoji="1" lang="zh-TW" altLang="en-US" sz="1600" dirty="0">
                <a:solidFill>
                  <a:srgbClr val="0070C0"/>
                </a:solidFill>
              </a:rPr>
              <a:t>隻。</a:t>
            </a:r>
          </a:p>
          <a:p>
            <a:r>
              <a:rPr kumimoji="1" lang="en-US" altLang="zh-TW" sz="1600" dirty="0">
                <a:solidFill>
                  <a:srgbClr val="0070C0"/>
                </a:solidFill>
              </a:rPr>
              <a:t>s2. </a:t>
            </a:r>
            <a:r>
              <a:rPr kumimoji="1" lang="zh-TW" altLang="en-US" sz="1600" dirty="0">
                <a:solidFill>
                  <a:srgbClr val="0070C0"/>
                </a:solidFill>
              </a:rPr>
              <a:t>但實際上有 </a:t>
            </a:r>
            <a:r>
              <a:rPr kumimoji="1" lang="en-US" altLang="zh-TW" sz="1600" dirty="0">
                <a:solidFill>
                  <a:srgbClr val="0070C0"/>
                </a:solidFill>
              </a:rPr>
              <a:t>94 </a:t>
            </a:r>
            <a:r>
              <a:rPr kumimoji="1" lang="zh-TW" altLang="en-US" sz="1600" dirty="0">
                <a:solidFill>
                  <a:srgbClr val="0070C0"/>
                </a:solidFill>
              </a:rPr>
              <a:t>隻腳，多出 </a:t>
            </a:r>
            <a:r>
              <a:rPr kumimoji="1" lang="en-US" altLang="zh-TW" sz="1600" dirty="0">
                <a:solidFill>
                  <a:srgbClr val="0070C0"/>
                </a:solidFill>
              </a:rPr>
              <a:t>94 - 70 = 24 </a:t>
            </a:r>
            <a:r>
              <a:rPr kumimoji="1" lang="zh-TW" altLang="en-US" sz="1600" dirty="0">
                <a:solidFill>
                  <a:srgbClr val="0070C0"/>
                </a:solidFill>
              </a:rPr>
              <a:t>隻腳。</a:t>
            </a:r>
          </a:p>
          <a:p>
            <a:r>
              <a:rPr kumimoji="1" lang="en-US" altLang="zh-TW" sz="1600" dirty="0">
                <a:solidFill>
                  <a:srgbClr val="0070C0"/>
                </a:solidFill>
              </a:rPr>
              <a:t>s3. </a:t>
            </a:r>
            <a:r>
              <a:rPr kumimoji="1" lang="zh-TW" altLang="en-US" sz="1600" dirty="0">
                <a:solidFill>
                  <a:srgbClr val="0070C0"/>
                </a:solidFill>
              </a:rPr>
              <a:t>每把一隻雞換成兔子，腳數會多 </a:t>
            </a:r>
            <a:r>
              <a:rPr kumimoji="1" lang="en-US" altLang="zh-TW" sz="1600" dirty="0">
                <a:solidFill>
                  <a:srgbClr val="0070C0"/>
                </a:solidFill>
              </a:rPr>
              <a:t>2 </a:t>
            </a:r>
            <a:r>
              <a:rPr kumimoji="1" lang="zh-TW" altLang="en-US" sz="1600" dirty="0">
                <a:solidFill>
                  <a:srgbClr val="0070C0"/>
                </a:solidFill>
              </a:rPr>
              <a:t>隻。</a:t>
            </a:r>
          </a:p>
          <a:p>
            <a:r>
              <a:rPr kumimoji="1" lang="en-US" altLang="zh-TW" sz="1600" dirty="0">
                <a:solidFill>
                  <a:srgbClr val="0070C0"/>
                </a:solidFill>
              </a:rPr>
              <a:t>s4. </a:t>
            </a:r>
            <a:r>
              <a:rPr kumimoji="1" lang="zh-TW" altLang="en-US" sz="1600" dirty="0">
                <a:solidFill>
                  <a:srgbClr val="0070C0"/>
                </a:solidFill>
              </a:rPr>
              <a:t>因此兔子的數量是 </a:t>
            </a:r>
            <a:r>
              <a:rPr kumimoji="1" lang="en-US" altLang="zh-TW" sz="1600" dirty="0">
                <a:solidFill>
                  <a:srgbClr val="0070C0"/>
                </a:solidFill>
              </a:rPr>
              <a:t>24 ÷ 2 = </a:t>
            </a:r>
            <a:r>
              <a:rPr kumimoji="1" lang="en-US" altLang="zh-TW" sz="1600" dirty="0">
                <a:solidFill>
                  <a:srgbClr val="FF0000"/>
                </a:solidFill>
              </a:rPr>
              <a:t>8 </a:t>
            </a:r>
            <a:r>
              <a:rPr kumimoji="1" lang="zh-TW" altLang="en-US" sz="1600" dirty="0">
                <a:solidFill>
                  <a:srgbClr val="FF0000"/>
                </a:solidFill>
              </a:rPr>
              <a:t>隻</a:t>
            </a:r>
            <a:r>
              <a:rPr kumimoji="1" lang="zh-TW" altLang="en-US" sz="1600" dirty="0">
                <a:solidFill>
                  <a:srgbClr val="0070C0"/>
                </a:solidFill>
              </a:rPr>
              <a:t>。</a:t>
            </a:r>
          </a:p>
          <a:p>
            <a:r>
              <a:rPr kumimoji="1" lang="en-US" altLang="zh-TW" sz="1600" dirty="0">
                <a:solidFill>
                  <a:srgbClr val="0070C0"/>
                </a:solidFill>
              </a:rPr>
              <a:t>s5. </a:t>
            </a:r>
            <a:r>
              <a:rPr kumimoji="1" lang="zh-TW" altLang="en-US" sz="1600" dirty="0">
                <a:solidFill>
                  <a:srgbClr val="0070C0"/>
                </a:solidFill>
              </a:rPr>
              <a:t>雞的數量是 </a:t>
            </a:r>
            <a:r>
              <a:rPr kumimoji="1" lang="en-US" altLang="zh-TW" sz="1600" dirty="0">
                <a:solidFill>
                  <a:srgbClr val="0070C0"/>
                </a:solidFill>
              </a:rPr>
              <a:t>35 - 8 = 27 </a:t>
            </a:r>
            <a:r>
              <a:rPr kumimoji="1" lang="zh-TW" altLang="en-US" sz="1600" dirty="0">
                <a:solidFill>
                  <a:srgbClr val="0070C0"/>
                </a:solidFill>
              </a:rPr>
              <a:t>隻。</a:t>
            </a:r>
          </a:p>
        </p:txBody>
      </p:sp>
      <p:sp>
        <p:nvSpPr>
          <p:cNvPr id="28" name="圓角矩形 27">
            <a:extLst>
              <a:ext uri="{FF2B5EF4-FFF2-40B4-BE49-F238E27FC236}">
                <a16:creationId xmlns:a16="http://schemas.microsoft.com/office/drawing/2014/main" id="{B1B258CE-EC1C-0B80-6C20-1BC916BCA08B}"/>
              </a:ext>
            </a:extLst>
          </p:cNvPr>
          <p:cNvSpPr/>
          <p:nvPr/>
        </p:nvSpPr>
        <p:spPr>
          <a:xfrm>
            <a:off x="653143" y="2682380"/>
            <a:ext cx="5047376" cy="7466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TW" sz="1600" dirty="0">
                <a:solidFill>
                  <a:schemeClr val="tx1"/>
                </a:solidFill>
              </a:rPr>
              <a:t>Q: </a:t>
            </a:r>
            <a:r>
              <a:rPr kumimoji="1" lang="zh-TW" altLang="en-US" sz="1600" dirty="0">
                <a:solidFill>
                  <a:schemeClr val="tx1"/>
                </a:solidFill>
              </a:rPr>
              <a:t>雞兔同籠，共有 </a:t>
            </a:r>
            <a:r>
              <a:rPr kumimoji="1" lang="en-US" altLang="zh-TW" sz="1600" dirty="0">
                <a:solidFill>
                  <a:schemeClr val="tx1"/>
                </a:solidFill>
              </a:rPr>
              <a:t>35 </a:t>
            </a:r>
            <a:r>
              <a:rPr kumimoji="1" lang="zh-TW" altLang="en-US" sz="1600" dirty="0">
                <a:solidFill>
                  <a:schemeClr val="tx1"/>
                </a:solidFill>
              </a:rPr>
              <a:t>個頭、</a:t>
            </a:r>
            <a:r>
              <a:rPr kumimoji="1" lang="en-US" altLang="zh-TW" sz="1600" dirty="0">
                <a:solidFill>
                  <a:schemeClr val="tx1"/>
                </a:solidFill>
              </a:rPr>
              <a:t>94 </a:t>
            </a:r>
            <a:r>
              <a:rPr kumimoji="1" lang="zh-TW" altLang="en-US" sz="1600" dirty="0">
                <a:solidFill>
                  <a:schemeClr val="tx1"/>
                </a:solidFill>
              </a:rPr>
              <a:t>隻腳。請問雞有幾隻？</a:t>
            </a:r>
            <a:endParaRPr kumimoji="1" lang="en-US" altLang="zh-TW" sz="1600" dirty="0">
              <a:solidFill>
                <a:schemeClr val="tx1"/>
              </a:solidFill>
            </a:endParaRPr>
          </a:p>
          <a:p>
            <a:r>
              <a:rPr kumimoji="1" lang="en-US" altLang="zh-TW" sz="1600" dirty="0">
                <a:solidFill>
                  <a:srgbClr val="FF0000"/>
                </a:solidFill>
              </a:rPr>
              <a:t>Let's think step by step.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737FB79-DEA5-CC1E-E6E0-8F577660AE00}"/>
              </a:ext>
            </a:extLst>
          </p:cNvPr>
          <p:cNvSpPr txBox="1"/>
          <p:nvPr/>
        </p:nvSpPr>
        <p:spPr>
          <a:xfrm>
            <a:off x="653143" y="1928641"/>
            <a:ext cx="44176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b="1" dirty="0"/>
              <a:t>Stage 2: </a:t>
            </a:r>
            <a:r>
              <a:rPr kumimoji="1" lang="zh-TW" altLang="en-US" sz="2000" b="1" dirty="0"/>
              <a:t>進行 </a:t>
            </a:r>
            <a:r>
              <a:rPr kumimoji="1" lang="en-US" altLang="zh-TW" sz="2000" b="1" dirty="0"/>
              <a:t>Test-time compute</a:t>
            </a:r>
            <a:endParaRPr kumimoji="1" lang="zh-TW" altLang="en-US" sz="2000" b="1" dirty="0"/>
          </a:p>
        </p:txBody>
      </p:sp>
      <p:sp>
        <p:nvSpPr>
          <p:cNvPr id="10" name="向下箭號 9">
            <a:extLst>
              <a:ext uri="{FF2B5EF4-FFF2-40B4-BE49-F238E27FC236}">
                <a16:creationId xmlns:a16="http://schemas.microsoft.com/office/drawing/2014/main" id="{2990CB0A-14A4-E63C-F57D-9A1F9C042F8E}"/>
              </a:ext>
            </a:extLst>
          </p:cNvPr>
          <p:cNvSpPr/>
          <p:nvPr/>
        </p:nvSpPr>
        <p:spPr>
          <a:xfrm>
            <a:off x="2983884" y="3498855"/>
            <a:ext cx="385894" cy="26310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BCF6FC5-D2BD-D9D9-4A0D-ECD2B708B314}"/>
              </a:ext>
            </a:extLst>
          </p:cNvPr>
          <p:cNvSpPr/>
          <p:nvPr/>
        </p:nvSpPr>
        <p:spPr>
          <a:xfrm>
            <a:off x="2407141" y="3832673"/>
            <a:ext cx="1539380" cy="4311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LLM</a:t>
            </a:r>
            <a:endParaRPr kumimoji="1" lang="en-US" altLang="zh-TW" b="1" dirty="0">
              <a:solidFill>
                <a:schemeClr val="tx1"/>
              </a:solidFill>
            </a:endParaRPr>
          </a:p>
        </p:txBody>
      </p:sp>
      <p:sp>
        <p:nvSpPr>
          <p:cNvPr id="29" name="向下箭號 28">
            <a:extLst>
              <a:ext uri="{FF2B5EF4-FFF2-40B4-BE49-F238E27FC236}">
                <a16:creationId xmlns:a16="http://schemas.microsoft.com/office/drawing/2014/main" id="{7457E317-7197-3359-7810-68D885FAEAF4}"/>
              </a:ext>
            </a:extLst>
          </p:cNvPr>
          <p:cNvSpPr/>
          <p:nvPr/>
        </p:nvSpPr>
        <p:spPr>
          <a:xfrm>
            <a:off x="2983884" y="4361318"/>
            <a:ext cx="385894" cy="26310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405064E-8C7D-767B-C0B1-5ED381337712}"/>
              </a:ext>
            </a:extLst>
          </p:cNvPr>
          <p:cNvSpPr/>
          <p:nvPr/>
        </p:nvSpPr>
        <p:spPr>
          <a:xfrm>
            <a:off x="9300930" y="5950472"/>
            <a:ext cx="1312025" cy="36512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Verifier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234A2D57-6BA1-A64F-0E72-8B353B570A83}"/>
              </a:ext>
            </a:extLst>
          </p:cNvPr>
          <p:cNvSpPr txBox="1"/>
          <p:nvPr/>
        </p:nvSpPr>
        <p:spPr>
          <a:xfrm>
            <a:off x="6140505" y="3708253"/>
            <a:ext cx="1296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(Q+s1)</a:t>
            </a:r>
            <a:endParaRPr kumimoji="1" lang="zh-TW" altLang="en-US" dirty="0"/>
          </a:p>
        </p:txBody>
      </p:sp>
      <p:cxnSp>
        <p:nvCxnSpPr>
          <p:cNvPr id="33" name="直線箭頭接點 32">
            <a:extLst>
              <a:ext uri="{FF2B5EF4-FFF2-40B4-BE49-F238E27FC236}">
                <a16:creationId xmlns:a16="http://schemas.microsoft.com/office/drawing/2014/main" id="{C4B2CDDF-8B63-F21A-C910-A33D4425E2D0}"/>
              </a:ext>
            </a:extLst>
          </p:cNvPr>
          <p:cNvCxnSpPr>
            <a:cxnSpLocks/>
            <a:stCxn id="37" idx="3"/>
            <a:endCxn id="30" idx="1"/>
          </p:cNvCxnSpPr>
          <p:nvPr/>
        </p:nvCxnSpPr>
        <p:spPr>
          <a:xfrm flipV="1">
            <a:off x="8654869" y="6133035"/>
            <a:ext cx="646061" cy="210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7AE4846A-1887-AA7E-0D14-2D352153C03B}"/>
              </a:ext>
            </a:extLst>
          </p:cNvPr>
          <p:cNvSpPr txBox="1"/>
          <p:nvPr/>
        </p:nvSpPr>
        <p:spPr>
          <a:xfrm>
            <a:off x="6140505" y="4268808"/>
            <a:ext cx="1620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(Q+s1+s2)</a:t>
            </a:r>
            <a:endParaRPr kumimoji="1" lang="zh-TW" altLang="en-US" dirty="0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BAAAB74C-0B05-18C1-92D9-A23A300E6D3F}"/>
              </a:ext>
            </a:extLst>
          </p:cNvPr>
          <p:cNvSpPr txBox="1"/>
          <p:nvPr/>
        </p:nvSpPr>
        <p:spPr>
          <a:xfrm>
            <a:off x="6114869" y="4829363"/>
            <a:ext cx="2107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(Q+s1+s2+s3)</a:t>
            </a:r>
            <a:endParaRPr kumimoji="1" lang="zh-TW" altLang="en-US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607680FB-B8A3-40AB-F782-CE800336D314}"/>
              </a:ext>
            </a:extLst>
          </p:cNvPr>
          <p:cNvSpPr txBox="1"/>
          <p:nvPr/>
        </p:nvSpPr>
        <p:spPr>
          <a:xfrm>
            <a:off x="6114869" y="5389918"/>
            <a:ext cx="2107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(Q+s1+s2+s3+s4)</a:t>
            </a:r>
            <a:endParaRPr kumimoji="1" lang="zh-TW" altLang="en-US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304223E6-24BC-C302-7C60-2EF3AF142304}"/>
              </a:ext>
            </a:extLst>
          </p:cNvPr>
          <p:cNvSpPr txBox="1"/>
          <p:nvPr/>
        </p:nvSpPr>
        <p:spPr>
          <a:xfrm>
            <a:off x="6058472" y="5950472"/>
            <a:ext cx="2596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(Q+s1+s2+s3+s4+s5)</a:t>
            </a:r>
            <a:endParaRPr kumimoji="1" lang="zh-TW" altLang="en-US" dirty="0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88260FF1-0E32-B50B-AC79-4820B839DE42}"/>
              </a:ext>
            </a:extLst>
          </p:cNvPr>
          <p:cNvSpPr/>
          <p:nvPr/>
        </p:nvSpPr>
        <p:spPr>
          <a:xfrm>
            <a:off x="9300930" y="5391231"/>
            <a:ext cx="1312025" cy="36512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Verifier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605729EA-2861-1D81-01EC-FCB83911B465}"/>
              </a:ext>
            </a:extLst>
          </p:cNvPr>
          <p:cNvSpPr/>
          <p:nvPr/>
        </p:nvSpPr>
        <p:spPr>
          <a:xfrm>
            <a:off x="9300930" y="4831988"/>
            <a:ext cx="1312025" cy="36512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Verifier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AA7309F4-C6F3-5487-86B6-ED4677063D96}"/>
              </a:ext>
            </a:extLst>
          </p:cNvPr>
          <p:cNvSpPr/>
          <p:nvPr/>
        </p:nvSpPr>
        <p:spPr>
          <a:xfrm>
            <a:off x="9300930" y="4272745"/>
            <a:ext cx="1312025" cy="36512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Verifier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C9A40F6F-A561-7D62-1F94-528E43073C41}"/>
              </a:ext>
            </a:extLst>
          </p:cNvPr>
          <p:cNvSpPr/>
          <p:nvPr/>
        </p:nvSpPr>
        <p:spPr>
          <a:xfrm>
            <a:off x="9300930" y="3713502"/>
            <a:ext cx="1312025" cy="36512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Verifier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7" name="直線箭頭接點 56">
            <a:extLst>
              <a:ext uri="{FF2B5EF4-FFF2-40B4-BE49-F238E27FC236}">
                <a16:creationId xmlns:a16="http://schemas.microsoft.com/office/drawing/2014/main" id="{148C6C72-13B2-6855-806A-F19F1167EA44}"/>
              </a:ext>
            </a:extLst>
          </p:cNvPr>
          <p:cNvCxnSpPr>
            <a:cxnSpLocks/>
            <a:endCxn id="56" idx="1"/>
          </p:cNvCxnSpPr>
          <p:nvPr/>
        </p:nvCxnSpPr>
        <p:spPr>
          <a:xfrm flipV="1">
            <a:off x="8654869" y="3896065"/>
            <a:ext cx="646061" cy="210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箭頭接點 57">
            <a:extLst>
              <a:ext uri="{FF2B5EF4-FFF2-40B4-BE49-F238E27FC236}">
                <a16:creationId xmlns:a16="http://schemas.microsoft.com/office/drawing/2014/main" id="{EC8E4666-3171-118D-E4B8-7CFB1FCB3A56}"/>
              </a:ext>
            </a:extLst>
          </p:cNvPr>
          <p:cNvCxnSpPr>
            <a:cxnSpLocks/>
          </p:cNvCxnSpPr>
          <p:nvPr/>
        </p:nvCxnSpPr>
        <p:spPr>
          <a:xfrm flipV="1">
            <a:off x="8654868" y="5577528"/>
            <a:ext cx="646061" cy="210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箭頭接點 58">
            <a:extLst>
              <a:ext uri="{FF2B5EF4-FFF2-40B4-BE49-F238E27FC236}">
                <a16:creationId xmlns:a16="http://schemas.microsoft.com/office/drawing/2014/main" id="{7B54725A-A3EB-2EFB-DDA2-CCAE0EC0D72A}"/>
              </a:ext>
            </a:extLst>
          </p:cNvPr>
          <p:cNvCxnSpPr>
            <a:cxnSpLocks/>
          </p:cNvCxnSpPr>
          <p:nvPr/>
        </p:nvCxnSpPr>
        <p:spPr>
          <a:xfrm flipV="1">
            <a:off x="8654868" y="5020072"/>
            <a:ext cx="646061" cy="210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箭頭接點 59">
            <a:extLst>
              <a:ext uri="{FF2B5EF4-FFF2-40B4-BE49-F238E27FC236}">
                <a16:creationId xmlns:a16="http://schemas.microsoft.com/office/drawing/2014/main" id="{0AAA6228-46F7-23F9-45C4-1C40F9880327}"/>
              </a:ext>
            </a:extLst>
          </p:cNvPr>
          <p:cNvCxnSpPr>
            <a:cxnSpLocks/>
          </p:cNvCxnSpPr>
          <p:nvPr/>
        </p:nvCxnSpPr>
        <p:spPr>
          <a:xfrm flipV="1">
            <a:off x="8654867" y="4450421"/>
            <a:ext cx="646061" cy="210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箭頭接點 60">
            <a:extLst>
              <a:ext uri="{FF2B5EF4-FFF2-40B4-BE49-F238E27FC236}">
                <a16:creationId xmlns:a16="http://schemas.microsoft.com/office/drawing/2014/main" id="{71A351F1-9B38-D959-586D-FBE0EA9E61CF}"/>
              </a:ext>
            </a:extLst>
          </p:cNvPr>
          <p:cNvCxnSpPr>
            <a:cxnSpLocks/>
          </p:cNvCxnSpPr>
          <p:nvPr/>
        </p:nvCxnSpPr>
        <p:spPr>
          <a:xfrm>
            <a:off x="10622906" y="3902531"/>
            <a:ext cx="37760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箭頭接點 62">
            <a:extLst>
              <a:ext uri="{FF2B5EF4-FFF2-40B4-BE49-F238E27FC236}">
                <a16:creationId xmlns:a16="http://schemas.microsoft.com/office/drawing/2014/main" id="{A107D74C-9859-C76D-4144-BD06EFAA1462}"/>
              </a:ext>
            </a:extLst>
          </p:cNvPr>
          <p:cNvCxnSpPr>
            <a:cxnSpLocks/>
          </p:cNvCxnSpPr>
          <p:nvPr/>
        </p:nvCxnSpPr>
        <p:spPr>
          <a:xfrm>
            <a:off x="10612955" y="4450421"/>
            <a:ext cx="37760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箭頭接點 63">
            <a:extLst>
              <a:ext uri="{FF2B5EF4-FFF2-40B4-BE49-F238E27FC236}">
                <a16:creationId xmlns:a16="http://schemas.microsoft.com/office/drawing/2014/main" id="{F984F8BC-2303-0C21-3FE2-273CE6D83458}"/>
              </a:ext>
            </a:extLst>
          </p:cNvPr>
          <p:cNvCxnSpPr>
            <a:cxnSpLocks/>
          </p:cNvCxnSpPr>
          <p:nvPr/>
        </p:nvCxnSpPr>
        <p:spPr>
          <a:xfrm>
            <a:off x="10612955" y="5021123"/>
            <a:ext cx="37760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箭頭接點 64">
            <a:extLst>
              <a:ext uri="{FF2B5EF4-FFF2-40B4-BE49-F238E27FC236}">
                <a16:creationId xmlns:a16="http://schemas.microsoft.com/office/drawing/2014/main" id="{C0E39158-6851-67F4-70FF-599E80958071}"/>
              </a:ext>
            </a:extLst>
          </p:cNvPr>
          <p:cNvCxnSpPr>
            <a:cxnSpLocks/>
          </p:cNvCxnSpPr>
          <p:nvPr/>
        </p:nvCxnSpPr>
        <p:spPr>
          <a:xfrm>
            <a:off x="10612954" y="5584189"/>
            <a:ext cx="37760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箭頭接點 65">
            <a:extLst>
              <a:ext uri="{FF2B5EF4-FFF2-40B4-BE49-F238E27FC236}">
                <a16:creationId xmlns:a16="http://schemas.microsoft.com/office/drawing/2014/main" id="{BEF5CA8D-2BC1-8CD3-4866-C4E2C7AA67F4}"/>
              </a:ext>
            </a:extLst>
          </p:cNvPr>
          <p:cNvCxnSpPr>
            <a:cxnSpLocks/>
          </p:cNvCxnSpPr>
          <p:nvPr/>
        </p:nvCxnSpPr>
        <p:spPr>
          <a:xfrm>
            <a:off x="10612954" y="6133034"/>
            <a:ext cx="37760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73096990-B1DE-6BBD-D7D7-FDB5476E784A}"/>
              </a:ext>
            </a:extLst>
          </p:cNvPr>
          <p:cNvSpPr txBox="1"/>
          <p:nvPr/>
        </p:nvSpPr>
        <p:spPr>
          <a:xfrm>
            <a:off x="10847937" y="3711398"/>
            <a:ext cx="1089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score</a:t>
            </a:r>
            <a:endParaRPr kumimoji="1" lang="zh-TW" altLang="en-US" dirty="0"/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A86FB6DE-A8A1-35A3-9812-9BA7FC03D2A3}"/>
              </a:ext>
            </a:extLst>
          </p:cNvPr>
          <p:cNvSpPr txBox="1"/>
          <p:nvPr/>
        </p:nvSpPr>
        <p:spPr>
          <a:xfrm>
            <a:off x="10841235" y="4268414"/>
            <a:ext cx="1089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score</a:t>
            </a:r>
            <a:endParaRPr kumimoji="1" lang="zh-TW" altLang="en-US" dirty="0"/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F642E9EE-B7D9-38B7-89A5-47B69A738235}"/>
              </a:ext>
            </a:extLst>
          </p:cNvPr>
          <p:cNvSpPr txBox="1"/>
          <p:nvPr/>
        </p:nvSpPr>
        <p:spPr>
          <a:xfrm>
            <a:off x="10854639" y="4825429"/>
            <a:ext cx="1089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score</a:t>
            </a:r>
            <a:endParaRPr kumimoji="1" lang="zh-TW" altLang="en-US" dirty="0"/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54AE2DED-387B-D28D-7B0F-2CDB6565D838}"/>
              </a:ext>
            </a:extLst>
          </p:cNvPr>
          <p:cNvSpPr txBox="1"/>
          <p:nvPr/>
        </p:nvSpPr>
        <p:spPr>
          <a:xfrm>
            <a:off x="10847937" y="5382445"/>
            <a:ext cx="1089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score</a:t>
            </a:r>
            <a:endParaRPr kumimoji="1" lang="zh-TW" altLang="en-US" dirty="0"/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02B292D7-30A8-40F4-A60E-21FA051486B7}"/>
              </a:ext>
            </a:extLst>
          </p:cNvPr>
          <p:cNvSpPr txBox="1"/>
          <p:nvPr/>
        </p:nvSpPr>
        <p:spPr>
          <a:xfrm>
            <a:off x="10854639" y="5939460"/>
            <a:ext cx="1089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score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7492099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6CD83C5C-EA61-C255-DF28-E9CFF9EEA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3065145"/>
            <a:ext cx="3200400" cy="727709"/>
          </a:xfrm>
        </p:spPr>
        <p:txBody>
          <a:bodyPr anchor="ctr">
            <a:normAutofit/>
          </a:bodyPr>
          <a:lstStyle/>
          <a:p>
            <a:r>
              <a:rPr lang="en-US" altLang="zh-TW" sz="4800" dirty="0"/>
              <a:t>Thank you!</a:t>
            </a:r>
            <a:endParaRPr lang="zh-TW" altLang="en-US" sz="48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60AC63-905C-E7E8-4AEA-D711150C4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72</a:t>
            </a:fld>
            <a:endParaRPr lang="en-US" dirty="0"/>
          </a:p>
        </p:txBody>
      </p:sp>
      <p:sp>
        <p:nvSpPr>
          <p:cNvPr id="13" name="內容版面配置區 2">
            <a:extLst>
              <a:ext uri="{FF2B5EF4-FFF2-40B4-BE49-F238E27FC236}">
                <a16:creationId xmlns:a16="http://schemas.microsoft.com/office/drawing/2014/main" id="{AB6151A5-2D6F-3748-8575-59D412696C53}"/>
              </a:ext>
            </a:extLst>
          </p:cNvPr>
          <p:cNvSpPr txBox="1">
            <a:spLocks/>
          </p:cNvSpPr>
          <p:nvPr/>
        </p:nvSpPr>
        <p:spPr>
          <a:xfrm>
            <a:off x="4725880" y="2315977"/>
            <a:ext cx="4737788" cy="251621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Instructor: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林英嘉</a:t>
            </a: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0" indent="0">
              <a:buFont typeface="Calibri" panose="020F0502020204030204" pitchFamily="34" charset="0"/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✉️ </a:t>
            </a:r>
            <a:r>
              <a:rPr kumimoji="1" lang="en-US" altLang="zh-TW" sz="3200" dirty="0" err="1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yjlin@cgu.edu.tw</a:t>
            </a: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0" indent="0">
              <a:buFont typeface="Calibri" panose="020F0502020204030204" pitchFamily="34" charset="0"/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TA: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林宣辰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✉️ </a:t>
            </a: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b1128015@cgu.edu.tw</a:t>
            </a:r>
          </a:p>
        </p:txBody>
      </p:sp>
    </p:spTree>
    <p:extLst>
      <p:ext uri="{BB962C8B-B14F-4D97-AF65-F5344CB8AC3E}">
        <p14:creationId xmlns:p14="http://schemas.microsoft.com/office/powerpoint/2010/main" val="2468678387"/>
      </p:ext>
    </p:extLst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urse_template_DL" id="{E71C07C9-5718-B34F-9EA9-A4FDE47A262C}" vid="{F05AA8C9-6C58-904C-AE8A-42257BEE94D0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回顧</Template>
  <TotalTime>5218</TotalTime>
  <Words>4206</Words>
  <Application>Microsoft Macintosh PowerPoint</Application>
  <PresentationFormat>寬螢幕</PresentationFormat>
  <Paragraphs>824</Paragraphs>
  <Slides>72</Slides>
  <Notes>18</Notes>
  <HiddenSlides>1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72</vt:i4>
      </vt:variant>
    </vt:vector>
  </HeadingPairs>
  <TitlesOfParts>
    <vt:vector size="78" baseType="lpstr">
      <vt:lpstr>Microsoft JhengHei</vt:lpstr>
      <vt:lpstr>Arial</vt:lpstr>
      <vt:lpstr>Calibri</vt:lpstr>
      <vt:lpstr>Cambria Math</vt:lpstr>
      <vt:lpstr>Times New Roman</vt:lpstr>
      <vt:lpstr>回顧</vt:lpstr>
      <vt:lpstr>自然語言處理與應用 Natural Language Processing and Applications</vt:lpstr>
      <vt:lpstr>Outline</vt:lpstr>
      <vt:lpstr>Announcement</vt:lpstr>
      <vt:lpstr>Checkpoint 1 評分標準</vt:lpstr>
      <vt:lpstr>Final Project 各個階段分數佔比</vt:lpstr>
      <vt:lpstr>Safety</vt:lpstr>
      <vt:lpstr>Outline for Building a Safe LLM</vt:lpstr>
      <vt:lpstr>[Recap] The Pre-training then Fine-tuning Paradigm</vt:lpstr>
      <vt:lpstr>[Recap] RLHF 的進行過程</vt:lpstr>
      <vt:lpstr>Data Preparation for Reward Model Training</vt:lpstr>
      <vt:lpstr>Reward Model Training</vt:lpstr>
      <vt:lpstr>Safety and Helpfulness Reward Modeling</vt:lpstr>
      <vt:lpstr>Human Preference Data Collection</vt:lpstr>
      <vt:lpstr>Human Scoring for Reward Modeling</vt:lpstr>
      <vt:lpstr>Separate Reward Model Training</vt:lpstr>
      <vt:lpstr>Outline for Building a Safe LLM</vt:lpstr>
      <vt:lpstr>Context Distillation</vt:lpstr>
      <vt:lpstr>Context Distillation 帶來較高的 Safety Score</vt:lpstr>
      <vt:lpstr>PEFT (Parameter-efficient Fine-tuning)</vt:lpstr>
      <vt:lpstr>The Revolution of ChatGPT</vt:lpstr>
      <vt:lpstr>大型語言模型參數量非常多</vt:lpstr>
      <vt:lpstr>GPU Memory Estimated (Model weights)</vt:lpstr>
      <vt:lpstr>數值範圍比較</vt:lpstr>
      <vt:lpstr>Introduction to Quantization (量化)</vt:lpstr>
      <vt:lpstr>量化後的模型非常常見</vt:lpstr>
      <vt:lpstr>GPU Memory Estimated (Model weights)</vt:lpstr>
      <vt:lpstr>讓大型語言模型適用於你的任務？</vt:lpstr>
      <vt:lpstr>GPU Memory Estimated (Full Fine-tuning)</vt:lpstr>
      <vt:lpstr>有沒有可能只微調 LLM 一部分的參數呢？</vt:lpstr>
      <vt:lpstr>GPU Memory Estimated (PEFT)</vt:lpstr>
      <vt:lpstr>PEFT Outline</vt:lpstr>
      <vt:lpstr>LoRA is common …</vt:lpstr>
      <vt:lpstr>[Prerequisite] Weights in Transformer layers</vt:lpstr>
      <vt:lpstr>[Recap] MLP is composed of weight matrices</vt:lpstr>
      <vt:lpstr>[Prerequisite] 矩陣分解</vt:lpstr>
      <vt:lpstr>LoRA: Low-Rank Adaptation</vt:lpstr>
      <vt:lpstr>為什麼 LoRA 要這樣做？</vt:lpstr>
      <vt:lpstr>Low-Rank 的部分在哪？(1)</vt:lpstr>
      <vt:lpstr>Low-Rank 的部分在哪？(2)</vt:lpstr>
      <vt:lpstr>LoRA: Low-Rank Adaptation (w / pseudo code)</vt:lpstr>
      <vt:lpstr>[注意事項] LoRA 的問題</vt:lpstr>
      <vt:lpstr>可不可以不要外加？(Adapter 作法)</vt:lpstr>
      <vt:lpstr>[注意事項] LoRA 的問題</vt:lpstr>
      <vt:lpstr>LoRA 可能可以在少量資料下進行微調</vt:lpstr>
      <vt:lpstr>QLoRA: Quantized LoRA</vt:lpstr>
      <vt:lpstr>[注意事項] QLoRA</vt:lpstr>
      <vt:lpstr>How about model compression?</vt:lpstr>
      <vt:lpstr>Comparison: What is Model Compression?</vt:lpstr>
      <vt:lpstr>PEFT vs. Model compression</vt:lpstr>
      <vt:lpstr>Previous Videos of Model Compression</vt:lpstr>
      <vt:lpstr>Announcement</vt:lpstr>
      <vt:lpstr>Week 15/16 報告順序與注意事項</vt:lpstr>
      <vt:lpstr>Reasoning Models (會推理的模型)</vt:lpstr>
      <vt:lpstr>Standard Prompting vs. Chain-of-Thought (CoT)</vt:lpstr>
      <vt:lpstr>CoT - method</vt:lpstr>
      <vt:lpstr>CoT is not just Few-shot -&gt; [Recap] GPT-3</vt:lpstr>
      <vt:lpstr>不同任務需要不同的 Prompt</vt:lpstr>
      <vt:lpstr>Zero-shot CoT</vt:lpstr>
      <vt:lpstr>Zero-shot CoT - method</vt:lpstr>
      <vt:lpstr>Zero-shot CoT 效果不差</vt:lpstr>
      <vt:lpstr>Let’s think step by step on MultiArith</vt:lpstr>
      <vt:lpstr>可不可以讓模型自己長出推理能力？</vt:lpstr>
      <vt:lpstr>DeepSeek-R1-zero 細節</vt:lpstr>
      <vt:lpstr>DeepSeek-R1-zero 訓練過程</vt:lpstr>
      <vt:lpstr>DeepSeek-R1</vt:lpstr>
      <vt:lpstr>Test-Time Compute</vt:lpstr>
      <vt:lpstr>[Recap] The Pre-training then Fine-tuning Paradigm</vt:lpstr>
      <vt:lpstr>增加驗證推理步驟的 Reward Model</vt:lpstr>
      <vt:lpstr>PRM800K Dataset</vt:lpstr>
      <vt:lpstr>Test-time Compute 步驟 (Stage 2)</vt:lpstr>
      <vt:lpstr>Test-time Compute 步驟 (Stage 2)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深度學習 Deep Learning</dc:title>
  <dc:creator>林英嘉</dc:creator>
  <cp:lastModifiedBy>林英嘉</cp:lastModifiedBy>
  <cp:revision>1754</cp:revision>
  <dcterms:created xsi:type="dcterms:W3CDTF">2025-02-07T09:05:59Z</dcterms:created>
  <dcterms:modified xsi:type="dcterms:W3CDTF">2026-05-18T04:37:45Z</dcterms:modified>
</cp:coreProperties>
</file>