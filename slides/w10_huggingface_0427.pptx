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5"/>
  </p:notesMasterIdLst>
  <p:sldIdLst>
    <p:sldId id="508" r:id="rId2"/>
    <p:sldId id="263" r:id="rId3"/>
    <p:sldId id="341" r:id="rId4"/>
    <p:sldId id="342" r:id="rId5"/>
    <p:sldId id="265" r:id="rId6"/>
    <p:sldId id="264" r:id="rId7"/>
    <p:sldId id="343" r:id="rId8"/>
    <p:sldId id="344" r:id="rId9"/>
    <p:sldId id="347" r:id="rId10"/>
    <p:sldId id="537" r:id="rId11"/>
    <p:sldId id="345" r:id="rId12"/>
    <p:sldId id="346" r:id="rId13"/>
    <p:sldId id="381" r:id="rId14"/>
    <p:sldId id="350" r:id="rId15"/>
    <p:sldId id="330" r:id="rId16"/>
    <p:sldId id="533" r:id="rId17"/>
    <p:sldId id="357" r:id="rId18"/>
    <p:sldId id="361" r:id="rId19"/>
    <p:sldId id="534" r:id="rId20"/>
    <p:sldId id="539" r:id="rId21"/>
    <p:sldId id="348" r:id="rId22"/>
    <p:sldId id="354" r:id="rId23"/>
    <p:sldId id="535" r:id="rId24"/>
    <p:sldId id="351" r:id="rId25"/>
    <p:sldId id="358" r:id="rId26"/>
    <p:sldId id="359" r:id="rId27"/>
    <p:sldId id="352" r:id="rId28"/>
    <p:sldId id="356" r:id="rId29"/>
    <p:sldId id="353" r:id="rId30"/>
    <p:sldId id="740" r:id="rId31"/>
    <p:sldId id="360" r:id="rId32"/>
    <p:sldId id="363" r:id="rId33"/>
    <p:sldId id="540" r:id="rId34"/>
    <p:sldId id="362" r:id="rId35"/>
    <p:sldId id="366" r:id="rId36"/>
    <p:sldId id="368" r:id="rId37"/>
    <p:sldId id="367" r:id="rId38"/>
    <p:sldId id="536" r:id="rId39"/>
    <p:sldId id="365" r:id="rId40"/>
    <p:sldId id="364" r:id="rId41"/>
    <p:sldId id="742" r:id="rId42"/>
    <p:sldId id="743" r:id="rId43"/>
    <p:sldId id="744" r:id="rId44"/>
    <p:sldId id="745" r:id="rId45"/>
    <p:sldId id="371" r:id="rId46"/>
    <p:sldId id="373" r:id="rId47"/>
    <p:sldId id="374" r:id="rId48"/>
    <p:sldId id="375" r:id="rId49"/>
    <p:sldId id="541" r:id="rId50"/>
    <p:sldId id="389" r:id="rId51"/>
    <p:sldId id="388" r:id="rId52"/>
    <p:sldId id="746" r:id="rId53"/>
    <p:sldId id="739" r:id="rId5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A0E90848-8D8D-3240-9C7D-B00833E33691}">
          <p14:sldIdLst>
            <p14:sldId id="508"/>
            <p14:sldId id="263"/>
            <p14:sldId id="341"/>
            <p14:sldId id="342"/>
            <p14:sldId id="265"/>
            <p14:sldId id="264"/>
            <p14:sldId id="343"/>
            <p14:sldId id="344"/>
            <p14:sldId id="347"/>
            <p14:sldId id="537"/>
            <p14:sldId id="345"/>
            <p14:sldId id="346"/>
            <p14:sldId id="381"/>
            <p14:sldId id="350"/>
            <p14:sldId id="330"/>
            <p14:sldId id="533"/>
            <p14:sldId id="357"/>
            <p14:sldId id="361"/>
            <p14:sldId id="534"/>
            <p14:sldId id="539"/>
            <p14:sldId id="348"/>
            <p14:sldId id="354"/>
            <p14:sldId id="535"/>
            <p14:sldId id="351"/>
            <p14:sldId id="358"/>
            <p14:sldId id="359"/>
            <p14:sldId id="352"/>
            <p14:sldId id="356"/>
            <p14:sldId id="353"/>
            <p14:sldId id="740"/>
            <p14:sldId id="360"/>
            <p14:sldId id="363"/>
            <p14:sldId id="540"/>
            <p14:sldId id="362"/>
            <p14:sldId id="366"/>
            <p14:sldId id="368"/>
            <p14:sldId id="367"/>
            <p14:sldId id="536"/>
            <p14:sldId id="365"/>
            <p14:sldId id="364"/>
            <p14:sldId id="742"/>
            <p14:sldId id="743"/>
            <p14:sldId id="744"/>
            <p14:sldId id="745"/>
            <p14:sldId id="371"/>
            <p14:sldId id="373"/>
            <p14:sldId id="374"/>
            <p14:sldId id="375"/>
            <p14:sldId id="541"/>
            <p14:sldId id="389"/>
            <p14:sldId id="388"/>
            <p14:sldId id="746"/>
            <p14:sldId id="7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ED6"/>
    <a:srgbClr val="FF9400"/>
    <a:srgbClr val="FFC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74"/>
    <p:restoredTop sz="94229"/>
  </p:normalViewPr>
  <p:slideViewPr>
    <p:cSldViewPr snapToGrid="0">
      <p:cViewPr varScale="1">
        <p:scale>
          <a:sx n="142" d="100"/>
          <a:sy n="142" d="100"/>
        </p:scale>
        <p:origin x="184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2026/4/26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39576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22678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42026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0451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17355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F63EE-A5E6-21D9-1A4D-F374B7B68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FB90973-6C65-0317-F536-41DA55DB1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9815E3-D293-E1D7-485C-A9602C75D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3261BE-34A1-6C59-8305-651912C3E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08447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36272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05C12B-E59D-D8B7-A3B4-27931CBD675F}"/>
              </a:ext>
            </a:extLst>
          </p:cNvPr>
          <p:cNvSpPr txBox="1"/>
          <p:nvPr userDrawn="1"/>
        </p:nvSpPr>
        <p:spPr>
          <a:xfrm>
            <a:off x="423038" y="6442992"/>
            <a:ext cx="557608" cy="26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TW" sz="1400" dirty="0">
                <a:ea typeface="Nanum Brush Script" panose="03060600000000000000" pitchFamily="66" charset="-127"/>
                <a:cs typeface="Arial" panose="020B0604020202020204" pitchFamily="34" charset="0"/>
              </a:rPr>
              <a:t>NLP</a:t>
            </a:r>
            <a:endParaRPr kumimoji="1" lang="zh-TW" altLang="en-US" sz="1400" dirty="0">
              <a:cs typeface="Arial" panose="020B0604020202020204" pitchFamily="34" charset="0"/>
            </a:endParaRPr>
          </a:p>
        </p:txBody>
      </p:sp>
      <p:pic>
        <p:nvPicPr>
          <p:cNvPr id="7" name="圖形 6" descr="聊天泡泡 外框">
            <a:extLst>
              <a:ext uri="{FF2B5EF4-FFF2-40B4-BE49-F238E27FC236}">
                <a16:creationId xmlns:a16="http://schemas.microsoft.com/office/drawing/2014/main" id="{0B067696-6EA5-0A4A-14B8-D7C17072FE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093" y="6388664"/>
            <a:ext cx="377640" cy="3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app.sli.do/event/9fT9hqjvSmjj7KsJEgrxzW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hugcyp/LCST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docs/transformers/model_doc/auto#transformers.AutoModelForSeq2SeqLM" TargetMode="External"/><Relationship Id="rId3" Type="http://schemas.openxmlformats.org/officeDocument/2006/relationships/hyperlink" Target="https://huggingface.co/docs/transformers/model_doc/auto#transformers.AutoModelForCausalLM" TargetMode="External"/><Relationship Id="rId7" Type="http://schemas.openxmlformats.org/officeDocument/2006/relationships/hyperlink" Target="https://huggingface.co/docs/transformers/model_doc/bert#transformers.BertForMaskedL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ocs/transformers/model_doc/auto#transformers.AutoModelForMaskedLM" TargetMode="External"/><Relationship Id="rId5" Type="http://schemas.openxmlformats.org/officeDocument/2006/relationships/hyperlink" Target="https://huggingface.co/docs/transformers/en/model_doc/llama#transformers.LlamaForCausalLM" TargetMode="External"/><Relationship Id="rId4" Type="http://schemas.openxmlformats.org/officeDocument/2006/relationships/hyperlink" Target="https://huggingface.co/docs/transformers/model_doc/gpt2#transformers.GPT2LMHeadModel" TargetMode="External"/><Relationship Id="rId9" Type="http://schemas.openxmlformats.org/officeDocument/2006/relationships/hyperlink" Target="https://huggingface.co/docs/transformers/model_doc/t5#transformers.T5ForConditionalGeneration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uer/gpt2-chinese-cluecorpussmal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uggingface/transformers/blob/v4.46.0/src/transformers/modeling_utils.py#L2178" TargetMode="External"/><Relationship Id="rId2" Type="http://schemas.openxmlformats.org/officeDocument/2006/relationships/hyperlink" Target="https://huggingface.co/uer/gpt2-chinese-cluecorpussmal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uggingface/transformers/blob/v4.51.3/src/transformers/modeling_utils.py#L2802-L2807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ocs/transformers/v4.46.0/en/main_classes/text_generation#transformers.GenerationMixin.generate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>
            <a:extLst>
              <a:ext uri="{FF2B5EF4-FFF2-40B4-BE49-F238E27FC236}">
                <a16:creationId xmlns:a16="http://schemas.microsoft.com/office/drawing/2014/main" id="{AA8F8551-2C61-48D1-9E5C-345C10BAAC8B}"/>
              </a:ext>
            </a:extLst>
          </p:cNvPr>
          <p:cNvSpPr/>
          <p:nvPr/>
        </p:nvSpPr>
        <p:spPr>
          <a:xfrm>
            <a:off x="667422" y="1891904"/>
            <a:ext cx="10857156" cy="2857500"/>
          </a:xfrm>
          <a:prstGeom prst="roundRect">
            <a:avLst/>
          </a:prstGeom>
          <a:solidFill>
            <a:srgbClr val="FFC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623" y="2056517"/>
            <a:ext cx="10857156" cy="2758710"/>
          </a:xfrm>
        </p:spPr>
        <p:txBody>
          <a:bodyPr anchor="ctr">
            <a:noAutofit/>
          </a:bodyPr>
          <a:lstStyle/>
          <a:p>
            <a:r>
              <a:rPr kumimoji="1" lang="zh-TW" altLang="en-US" sz="4800" b="1" dirty="0">
                <a:ea typeface="Microsoft JhengHei" panose="020B0604030504040204" pitchFamily="34" charset="-120"/>
              </a:rPr>
              <a:t>自然語言處理與應用</a:t>
            </a:r>
            <a:br>
              <a:rPr kumimoji="1" lang="en-US" altLang="zh-TW" sz="4800" b="1" dirty="0">
                <a:ea typeface="Microsoft JhengHei" panose="020B0604030504040204" pitchFamily="34" charset="-120"/>
              </a:rPr>
            </a:br>
            <a:r>
              <a:rPr kumimoji="1" lang="en-US" altLang="zh-TW" sz="4800" b="1" dirty="0">
                <a:ea typeface="Microsoft JhengHei" panose="020B0604030504040204" pitchFamily="34" charset="-120"/>
              </a:rPr>
              <a:t>Natural Language Processing and Applications</a:t>
            </a:r>
            <a:endParaRPr kumimoji="1" lang="zh-TW" altLang="en-US" sz="4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59623" y="4881049"/>
            <a:ext cx="45605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Hugging Face Tutorial</a:t>
            </a:r>
          </a:p>
          <a:p>
            <a:endParaRPr kumimoji="1" lang="en-US" altLang="zh-TW" sz="2800" b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59623" y="5914787"/>
            <a:ext cx="4182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2026/04/27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118" y="130472"/>
            <a:ext cx="1394460" cy="139446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DEED3F-C826-615A-5EF9-02C833E509E8}"/>
              </a:ext>
            </a:extLst>
          </p:cNvPr>
          <p:cNvSpPr txBox="1"/>
          <p:nvPr/>
        </p:nvSpPr>
        <p:spPr>
          <a:xfrm>
            <a:off x="10169046" y="5391531"/>
            <a:ext cx="1558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Slido</a:t>
            </a:r>
            <a:endParaRPr kumimoji="1" lang="en" altLang="zh-TW" dirty="0"/>
          </a:p>
          <a:p>
            <a:r>
              <a:rPr kumimoji="1" lang="en" altLang="zh-TW" dirty="0"/>
              <a:t># NLP0427 (</a:t>
            </a:r>
            <a:r>
              <a:rPr kumimoji="1" lang="en" altLang="zh-TW" dirty="0">
                <a:hlinkClick r:id="rId4"/>
              </a:rPr>
              <a:t>Link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5D8B8BA-01EA-719E-DB6F-35B59009F0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139"/>
          <a:stretch/>
        </p:blipFill>
        <p:spPr>
          <a:xfrm>
            <a:off x="5498071" y="4881049"/>
            <a:ext cx="2108982" cy="195843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320E30-561F-DF85-CC02-2709CD58A10B}"/>
              </a:ext>
            </a:extLst>
          </p:cNvPr>
          <p:cNvSpPr txBox="1"/>
          <p:nvPr/>
        </p:nvSpPr>
        <p:spPr>
          <a:xfrm>
            <a:off x="7389634" y="5642689"/>
            <a:ext cx="101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GitHub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96BE4E6-0002-BED3-2245-C35B651D12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4410" y="4914017"/>
            <a:ext cx="1748568" cy="174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9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PMingLiU"/>
                <a:cs typeface="Calibri Light"/>
              </a:rPr>
              <a:t>What you will learn in this tutorial</a:t>
            </a:r>
            <a:endParaRPr lang="zh-TW" altLang="en-US" dirty="0">
              <a:ea typeface="PMingLiU"/>
              <a:cs typeface="Calibri Light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</a:t>
            </a:fld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653142" y="1874520"/>
            <a:ext cx="9496697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Training and evaluating GPT-2 / T5 on abstractive summarization</a:t>
            </a: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Dataset: Chinese abstractive summarization</a:t>
            </a: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Objective: Cross-entropy</a:t>
            </a: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Main packages: </a:t>
            </a:r>
            <a:r>
              <a:rPr kumimoji="1" lang="en-US" altLang="zh-TW" sz="2400" dirty="0" err="1"/>
              <a:t>PyTorch</a:t>
            </a:r>
            <a:r>
              <a:rPr kumimoji="1" lang="en-US" altLang="zh-TW" sz="2400" dirty="0"/>
              <a:t>, Hugging Face, ROUGE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2C6EEF-5649-6658-8541-8B4847AB7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 do we need to learn GPT-2?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D00279-4701-6413-DBAB-3D93A3DB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7F4388-77C6-C65D-22DB-444F18BB14D1}"/>
              </a:ext>
            </a:extLst>
          </p:cNvPr>
          <p:cNvSpPr txBox="1"/>
          <p:nvPr/>
        </p:nvSpPr>
        <p:spPr>
          <a:xfrm>
            <a:off x="653143" y="1854856"/>
            <a:ext cx="10258697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GPT-2 is the </a:t>
            </a:r>
            <a:r>
              <a:rPr kumimoji="1" lang="en-US" altLang="zh-TW" sz="2400" b="1" dirty="0">
                <a:solidFill>
                  <a:srgbClr val="FF0000"/>
                </a:solidFill>
              </a:rPr>
              <a:t>last</a:t>
            </a:r>
            <a:r>
              <a:rPr kumimoji="1" lang="en-US" altLang="zh-TW" sz="2400" dirty="0"/>
              <a:t> open-source model in the GPT series from </a:t>
            </a:r>
            <a:r>
              <a:rPr kumimoji="1" lang="en-US" altLang="zh-TW" sz="2400" dirty="0" err="1"/>
              <a:t>OpenAI</a:t>
            </a:r>
            <a:r>
              <a:rPr kumimoji="1" lang="en-US" altLang="zh-TW" sz="24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Language generation is hard, and GPT-2 is a good start point.</a:t>
            </a: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GPT-2 is not big. It is feasible for low-budget machines.</a:t>
            </a: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GPT-2 (12-layer; 124M), GPT-2-medium (24-layer; 345M), GPT-2-large (36-layer; 762M), GPT-2-xl (48-layer; 1.5B)</a:t>
            </a:r>
          </a:p>
        </p:txBody>
      </p:sp>
    </p:spTree>
    <p:extLst>
      <p:ext uri="{BB962C8B-B14F-4D97-AF65-F5344CB8AC3E}">
        <p14:creationId xmlns:p14="http://schemas.microsoft.com/office/powerpoint/2010/main" val="3292999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E8B5BC-5CE3-5E15-09A6-E2A24A71E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Introduction to Text Summarization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B422B6-0A80-A4DD-DAD3-0A93967D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/>
          </a:p>
        </p:txBody>
      </p:sp>
      <p:sp>
        <p:nvSpPr>
          <p:cNvPr id="5" name="Google Shape;75;p11">
            <a:extLst>
              <a:ext uri="{FF2B5EF4-FFF2-40B4-BE49-F238E27FC236}">
                <a16:creationId xmlns:a16="http://schemas.microsoft.com/office/drawing/2014/main" id="{7B7A6D44-403F-4BEB-E315-9DE0AC4E8B51}"/>
              </a:ext>
            </a:extLst>
          </p:cNvPr>
          <p:cNvSpPr txBox="1"/>
          <p:nvPr/>
        </p:nvSpPr>
        <p:spPr>
          <a:xfrm>
            <a:off x="653143" y="1647060"/>
            <a:ext cx="9884397" cy="2341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 sz="2400" dirty="0"/>
              <a:t>Extractive summarization</a:t>
            </a:r>
            <a:endParaRPr sz="2400" dirty="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-US" sz="2400" dirty="0"/>
              <a:t>Generate a short text summary for a document by </a:t>
            </a:r>
            <a:r>
              <a:rPr lang="en-US" sz="2400" dirty="0">
                <a:solidFill>
                  <a:srgbClr val="0070C0"/>
                </a:solidFill>
              </a:rPr>
              <a:t>selecting salient sentences </a:t>
            </a:r>
            <a:r>
              <a:rPr lang="en-US" sz="2400" dirty="0"/>
              <a:t>in the documents.</a:t>
            </a:r>
            <a:endParaRPr sz="2400"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 sz="2400" dirty="0"/>
              <a:t>Abstractive summarization</a:t>
            </a:r>
            <a:endParaRPr sz="2400" dirty="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-US" sz="2400" dirty="0"/>
              <a:t>Generate </a:t>
            </a:r>
            <a:r>
              <a:rPr lang="en-US" sz="2400" dirty="0">
                <a:solidFill>
                  <a:srgbClr val="0070C0"/>
                </a:solidFill>
              </a:rPr>
              <a:t>novel words </a:t>
            </a:r>
            <a:r>
              <a:rPr lang="en-US" sz="2400" dirty="0"/>
              <a:t>and phrases not featured in the source text</a:t>
            </a:r>
            <a:r>
              <a:rPr lang="en-US" sz="2400" dirty="0">
                <a:solidFill>
                  <a:srgbClr val="595959"/>
                </a:solidFill>
              </a:rPr>
              <a:t>.</a:t>
            </a:r>
            <a:endParaRPr sz="24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4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400" dirty="0">
              <a:solidFill>
                <a:srgbClr val="595959"/>
              </a:solidFill>
            </a:endParaRPr>
          </a:p>
        </p:txBody>
      </p:sp>
      <p:pic>
        <p:nvPicPr>
          <p:cNvPr id="6" name="Google Shape;76;p11">
            <a:extLst>
              <a:ext uri="{FF2B5EF4-FFF2-40B4-BE49-F238E27FC236}">
                <a16:creationId xmlns:a16="http://schemas.microsoft.com/office/drawing/2014/main" id="{17D36E7F-0606-8B86-BFC5-36D0B8100D4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6271" y="4159241"/>
            <a:ext cx="4111619" cy="211248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7;p11">
            <a:extLst>
              <a:ext uri="{FF2B5EF4-FFF2-40B4-BE49-F238E27FC236}">
                <a16:creationId xmlns:a16="http://schemas.microsoft.com/office/drawing/2014/main" id="{422B304C-514A-6E96-5D68-63F3DC6FDCBF}"/>
              </a:ext>
            </a:extLst>
          </p:cNvPr>
          <p:cNvSpPr txBox="1"/>
          <p:nvPr/>
        </p:nvSpPr>
        <p:spPr>
          <a:xfrm>
            <a:off x="5338161" y="4246334"/>
            <a:ext cx="6127498" cy="19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Example: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Queen's Birthday holiday road toll stands at zero for the first time since records began.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Ext summary:</a:t>
            </a:r>
            <a:r>
              <a:rPr lang="en-US" dirty="0"/>
              <a:t> The Queen's holiday road toll stands at zero.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Abs summary:</a:t>
            </a:r>
            <a:r>
              <a:rPr lang="en-US" dirty="0"/>
              <a:t> The Queen's holiday slashes road toll.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0809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Task: Chinese Abstractive Summarization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/>
          </a:p>
        </p:txBody>
      </p:sp>
      <p:sp>
        <p:nvSpPr>
          <p:cNvPr id="5" name="文字方塊 4"/>
          <p:cNvSpPr txBox="1"/>
          <p:nvPr/>
        </p:nvSpPr>
        <p:spPr>
          <a:xfrm>
            <a:off x="653143" y="1830540"/>
            <a:ext cx="9726931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Dataset: LCSTS (A Large-Scale Chinese Short Text Summarization Dataset)</a:t>
            </a:r>
            <a:r>
              <a:rPr kumimoji="1" lang="en-US" altLang="zh-TW" sz="2400" baseline="30000" dirty="0"/>
              <a:t>[1]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DCBA79C-BF67-6314-C4A9-0AE74C4AB6AD}"/>
              </a:ext>
            </a:extLst>
          </p:cNvPr>
          <p:cNvSpPr txBox="1"/>
          <p:nvPr/>
        </p:nvSpPr>
        <p:spPr>
          <a:xfrm>
            <a:off x="2255587" y="6271079"/>
            <a:ext cx="768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[1] Hu, </a:t>
            </a:r>
            <a:r>
              <a:rPr kumimoji="1" lang="en" altLang="zh-TW" sz="1200" dirty="0" err="1"/>
              <a:t>Baotian</a:t>
            </a:r>
            <a:r>
              <a:rPr kumimoji="1" lang="en" altLang="zh-TW" sz="1200" dirty="0"/>
              <a:t>, </a:t>
            </a:r>
            <a:r>
              <a:rPr kumimoji="1" lang="en" altLang="zh-TW" sz="1200" dirty="0" err="1"/>
              <a:t>Qingcai</a:t>
            </a:r>
            <a:r>
              <a:rPr kumimoji="1" lang="en" altLang="zh-TW" sz="1200" dirty="0"/>
              <a:t> Chen, and </a:t>
            </a:r>
            <a:r>
              <a:rPr kumimoji="1" lang="en" altLang="zh-TW" sz="1200" dirty="0" err="1"/>
              <a:t>Fangze</a:t>
            </a:r>
            <a:r>
              <a:rPr kumimoji="1" lang="en" altLang="zh-TW" sz="1200" dirty="0"/>
              <a:t> Zhu. "LCSTS: A Large Scale Chinese Short Text Summarization Dataset." Proceedings of the 2015 Conference on Empirical Methods in Natural Language Processing. 2015.</a:t>
            </a:r>
            <a:endParaRPr kumimoji="1" lang="zh-TW" altLang="en-US" sz="1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7414127-45F3-CE88-9B23-9CADAFB708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0" t="11556" r="2064"/>
          <a:stretch/>
        </p:blipFill>
        <p:spPr>
          <a:xfrm>
            <a:off x="1009773" y="3006184"/>
            <a:ext cx="8835390" cy="133139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3D2AF1C-E990-603A-FFDD-CE26837B0C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3" t="19809" r="1567" b="20612"/>
          <a:stretch/>
        </p:blipFill>
        <p:spPr>
          <a:xfrm>
            <a:off x="1009772" y="4807974"/>
            <a:ext cx="9370301" cy="270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30DE02C-3CD9-E0F9-D2B9-1FDF649A4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07" y="1638778"/>
            <a:ext cx="8490385" cy="4887694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4426997" y="1522691"/>
            <a:ext cx="333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TW" dirty="0"/>
              <a:t>https://</a:t>
            </a:r>
            <a:r>
              <a:rPr kumimoji="1" lang="en-GB" altLang="zh-TW" dirty="0" err="1"/>
              <a:t>huggingface.co</a:t>
            </a:r>
            <a:r>
              <a:rPr kumimoji="1" lang="en-GB" altLang="zh-TW" dirty="0"/>
              <a:t>/docs</a:t>
            </a:r>
          </a:p>
        </p:txBody>
      </p:sp>
      <p:sp>
        <p:nvSpPr>
          <p:cNvPr id="11" name="矩形 10"/>
          <p:cNvSpPr/>
          <p:nvPr/>
        </p:nvSpPr>
        <p:spPr>
          <a:xfrm>
            <a:off x="1850807" y="3810000"/>
            <a:ext cx="1867753" cy="4114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3EE213EF-EFDD-3BC2-DF9B-2508C473C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今日著重在 </a:t>
            </a:r>
            <a:r>
              <a:rPr kumimoji="1" lang="en-US" altLang="zh-TW" dirty="0"/>
              <a:t>Hugging Face Transformers</a:t>
            </a:r>
            <a:endParaRPr kumimoji="1"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4A9B99-14A4-6AA3-A645-34D5C585F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Language Model vs. Masked Language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2F1D68-2767-F78E-B1B2-0DFBC74E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BA42D3C9-6E8B-03F7-AF77-5EFA5C42C20D}"/>
              </a:ext>
            </a:extLst>
          </p:cNvPr>
          <p:cNvSpPr/>
          <p:nvPr/>
        </p:nvSpPr>
        <p:spPr>
          <a:xfrm>
            <a:off x="1376039" y="2320150"/>
            <a:ext cx="3293616" cy="852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Casual Language Model</a:t>
            </a:r>
          </a:p>
          <a:p>
            <a:pPr algn="ctr"/>
            <a:r>
              <a:rPr kumimoji="1" lang="en-US" altLang="zh-TW" dirty="0"/>
              <a:t>(E.g., GPT)</a:t>
            </a:r>
            <a:endParaRPr kumimoji="1" lang="zh-TW" alt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183EDB06-78CB-94A9-C38E-551F59CA095C}"/>
              </a:ext>
            </a:extLst>
          </p:cNvPr>
          <p:cNvSpPr/>
          <p:nvPr/>
        </p:nvSpPr>
        <p:spPr>
          <a:xfrm>
            <a:off x="1376039" y="4509920"/>
            <a:ext cx="3293616" cy="852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Masked Language Model</a:t>
            </a:r>
          </a:p>
          <a:p>
            <a:pPr algn="ctr"/>
            <a:r>
              <a:rPr kumimoji="1" lang="en-US" altLang="zh-TW" dirty="0"/>
              <a:t>(E.g., BERT)</a:t>
            </a:r>
            <a:endParaRPr kumimoji="1" lang="zh-TW" altLang="en-US" dirty="0"/>
          </a:p>
        </p:txBody>
      </p:sp>
      <p:sp>
        <p:nvSpPr>
          <p:cNvPr id="78" name="圓角矩形 77">
            <a:extLst>
              <a:ext uri="{FF2B5EF4-FFF2-40B4-BE49-F238E27FC236}">
                <a16:creationId xmlns:a16="http://schemas.microsoft.com/office/drawing/2014/main" id="{66FF5D79-B035-1FCD-3C9F-110B89CA2678}"/>
              </a:ext>
            </a:extLst>
          </p:cNvPr>
          <p:cNvSpPr/>
          <p:nvPr/>
        </p:nvSpPr>
        <p:spPr>
          <a:xfrm>
            <a:off x="5844585" y="4729337"/>
            <a:ext cx="4055873" cy="37595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Masked Language Model (MLM)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79" name="圓角矩形 78">
            <a:extLst>
              <a:ext uri="{FF2B5EF4-FFF2-40B4-BE49-F238E27FC236}">
                <a16:creationId xmlns:a16="http://schemas.microsoft.com/office/drawing/2014/main" id="{A229EF0D-B765-7CA1-BF2D-3D9565F9575D}"/>
              </a:ext>
            </a:extLst>
          </p:cNvPr>
          <p:cNvSpPr/>
          <p:nvPr/>
        </p:nvSpPr>
        <p:spPr>
          <a:xfrm>
            <a:off x="5926316" y="536217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0" name="圓角矩形 79">
            <a:extLst>
              <a:ext uri="{FF2B5EF4-FFF2-40B4-BE49-F238E27FC236}">
                <a16:creationId xmlns:a16="http://schemas.microsoft.com/office/drawing/2014/main" id="{96C861F7-074D-9691-2BB6-9FDB116D0502}"/>
              </a:ext>
            </a:extLst>
          </p:cNvPr>
          <p:cNvSpPr/>
          <p:nvPr/>
        </p:nvSpPr>
        <p:spPr>
          <a:xfrm>
            <a:off x="8840891" y="536217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1" name="圓角矩形 80">
            <a:extLst>
              <a:ext uri="{FF2B5EF4-FFF2-40B4-BE49-F238E27FC236}">
                <a16:creationId xmlns:a16="http://schemas.microsoft.com/office/drawing/2014/main" id="{7FDEB3E5-9150-302F-7BDF-7CFB24FC7847}"/>
              </a:ext>
            </a:extLst>
          </p:cNvPr>
          <p:cNvSpPr/>
          <p:nvPr/>
        </p:nvSpPr>
        <p:spPr>
          <a:xfrm>
            <a:off x="9423808" y="536217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2" name="圓角矩形 81">
            <a:extLst>
              <a:ext uri="{FF2B5EF4-FFF2-40B4-BE49-F238E27FC236}">
                <a16:creationId xmlns:a16="http://schemas.microsoft.com/office/drawing/2014/main" id="{95F2A79D-5053-EDD4-D7B3-06B1221D9598}"/>
              </a:ext>
            </a:extLst>
          </p:cNvPr>
          <p:cNvSpPr/>
          <p:nvPr/>
        </p:nvSpPr>
        <p:spPr>
          <a:xfrm>
            <a:off x="6509231" y="536217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3" name="圓角矩形 82">
            <a:extLst>
              <a:ext uri="{FF2B5EF4-FFF2-40B4-BE49-F238E27FC236}">
                <a16:creationId xmlns:a16="http://schemas.microsoft.com/office/drawing/2014/main" id="{95799C8B-D184-96B0-59E3-5C7A15AC1285}"/>
              </a:ext>
            </a:extLst>
          </p:cNvPr>
          <p:cNvSpPr/>
          <p:nvPr/>
        </p:nvSpPr>
        <p:spPr>
          <a:xfrm>
            <a:off x="7092146" y="536217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4" name="圓角矩形 83">
            <a:extLst>
              <a:ext uri="{FF2B5EF4-FFF2-40B4-BE49-F238E27FC236}">
                <a16:creationId xmlns:a16="http://schemas.microsoft.com/office/drawing/2014/main" id="{2A783EEE-1DE9-B53E-263D-E91C103BA696}"/>
              </a:ext>
            </a:extLst>
          </p:cNvPr>
          <p:cNvSpPr/>
          <p:nvPr/>
        </p:nvSpPr>
        <p:spPr>
          <a:xfrm>
            <a:off x="7675061" y="536217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?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85" name="圓角矩形 84">
            <a:extLst>
              <a:ext uri="{FF2B5EF4-FFF2-40B4-BE49-F238E27FC236}">
                <a16:creationId xmlns:a16="http://schemas.microsoft.com/office/drawing/2014/main" id="{DBCCC2A9-E3DB-8D63-1E24-B6F7EAEC32DB}"/>
              </a:ext>
            </a:extLst>
          </p:cNvPr>
          <p:cNvSpPr/>
          <p:nvPr/>
        </p:nvSpPr>
        <p:spPr>
          <a:xfrm>
            <a:off x="8257976" y="536217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87" name="直線箭頭接點 86">
            <a:extLst>
              <a:ext uri="{FF2B5EF4-FFF2-40B4-BE49-F238E27FC236}">
                <a16:creationId xmlns:a16="http://schemas.microsoft.com/office/drawing/2014/main" id="{C8D139CF-16C5-29BE-B27E-FE19B5666F19}"/>
              </a:ext>
            </a:extLst>
          </p:cNvPr>
          <p:cNvCxnSpPr>
            <a:cxnSpLocks/>
          </p:cNvCxnSpPr>
          <p:nvPr/>
        </p:nvCxnSpPr>
        <p:spPr>
          <a:xfrm flipV="1">
            <a:off x="7889422" y="4508560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箭頭接點 87">
            <a:extLst>
              <a:ext uri="{FF2B5EF4-FFF2-40B4-BE49-F238E27FC236}">
                <a16:creationId xmlns:a16="http://schemas.microsoft.com/office/drawing/2014/main" id="{26B1FDBB-FD30-E940-5E32-D77E11997BED}"/>
              </a:ext>
            </a:extLst>
          </p:cNvPr>
          <p:cNvCxnSpPr>
            <a:cxnSpLocks/>
          </p:cNvCxnSpPr>
          <p:nvPr/>
        </p:nvCxnSpPr>
        <p:spPr>
          <a:xfrm flipV="1">
            <a:off x="9646361" y="512656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箭頭接點 88">
            <a:extLst>
              <a:ext uri="{FF2B5EF4-FFF2-40B4-BE49-F238E27FC236}">
                <a16:creationId xmlns:a16="http://schemas.microsoft.com/office/drawing/2014/main" id="{0AAF2362-0ECD-8031-AACE-2E5AAF65DFD9}"/>
              </a:ext>
            </a:extLst>
          </p:cNvPr>
          <p:cNvCxnSpPr>
            <a:cxnSpLocks/>
          </p:cNvCxnSpPr>
          <p:nvPr/>
        </p:nvCxnSpPr>
        <p:spPr>
          <a:xfrm flipV="1">
            <a:off x="9053554" y="512656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箭頭接點 89">
            <a:extLst>
              <a:ext uri="{FF2B5EF4-FFF2-40B4-BE49-F238E27FC236}">
                <a16:creationId xmlns:a16="http://schemas.microsoft.com/office/drawing/2014/main" id="{FCF101B6-2756-82DD-478A-2A46641B457D}"/>
              </a:ext>
            </a:extLst>
          </p:cNvPr>
          <p:cNvCxnSpPr>
            <a:cxnSpLocks/>
          </p:cNvCxnSpPr>
          <p:nvPr/>
        </p:nvCxnSpPr>
        <p:spPr>
          <a:xfrm flipV="1">
            <a:off x="8470866" y="512656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箭頭接點 90">
            <a:extLst>
              <a:ext uri="{FF2B5EF4-FFF2-40B4-BE49-F238E27FC236}">
                <a16:creationId xmlns:a16="http://schemas.microsoft.com/office/drawing/2014/main" id="{F8325504-EF29-0D15-40C1-DA3F896A233C}"/>
              </a:ext>
            </a:extLst>
          </p:cNvPr>
          <p:cNvCxnSpPr>
            <a:cxnSpLocks/>
          </p:cNvCxnSpPr>
          <p:nvPr/>
        </p:nvCxnSpPr>
        <p:spPr>
          <a:xfrm flipV="1">
            <a:off x="7888178" y="512656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箭頭接點 91">
            <a:extLst>
              <a:ext uri="{FF2B5EF4-FFF2-40B4-BE49-F238E27FC236}">
                <a16:creationId xmlns:a16="http://schemas.microsoft.com/office/drawing/2014/main" id="{1C9BE8B7-8403-33BF-EC8E-F550FC2E7702}"/>
              </a:ext>
            </a:extLst>
          </p:cNvPr>
          <p:cNvCxnSpPr>
            <a:cxnSpLocks/>
          </p:cNvCxnSpPr>
          <p:nvPr/>
        </p:nvCxnSpPr>
        <p:spPr>
          <a:xfrm flipV="1">
            <a:off x="7305490" y="512656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箭頭接點 92">
            <a:extLst>
              <a:ext uri="{FF2B5EF4-FFF2-40B4-BE49-F238E27FC236}">
                <a16:creationId xmlns:a16="http://schemas.microsoft.com/office/drawing/2014/main" id="{A6C29A70-89B0-6619-C9C3-4832089DDD5B}"/>
              </a:ext>
            </a:extLst>
          </p:cNvPr>
          <p:cNvCxnSpPr>
            <a:cxnSpLocks/>
          </p:cNvCxnSpPr>
          <p:nvPr/>
        </p:nvCxnSpPr>
        <p:spPr>
          <a:xfrm flipV="1">
            <a:off x="6722802" y="512656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箭頭接點 93">
            <a:extLst>
              <a:ext uri="{FF2B5EF4-FFF2-40B4-BE49-F238E27FC236}">
                <a16:creationId xmlns:a16="http://schemas.microsoft.com/office/drawing/2014/main" id="{0A977362-784A-EBEF-4A6C-CB7C81BEA4D1}"/>
              </a:ext>
            </a:extLst>
          </p:cNvPr>
          <p:cNvCxnSpPr>
            <a:cxnSpLocks/>
          </p:cNvCxnSpPr>
          <p:nvPr/>
        </p:nvCxnSpPr>
        <p:spPr>
          <a:xfrm flipV="1">
            <a:off x="6140114" y="512656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圓角矩形 94">
            <a:extLst>
              <a:ext uri="{FF2B5EF4-FFF2-40B4-BE49-F238E27FC236}">
                <a16:creationId xmlns:a16="http://schemas.microsoft.com/office/drawing/2014/main" id="{5CB18639-4986-68BA-C456-8964A0FB7603}"/>
              </a:ext>
            </a:extLst>
          </p:cNvPr>
          <p:cNvSpPr/>
          <p:nvPr/>
        </p:nvSpPr>
        <p:spPr>
          <a:xfrm>
            <a:off x="7675061" y="411485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1" name="文字方塊 67">
            <a:extLst>
              <a:ext uri="{FF2B5EF4-FFF2-40B4-BE49-F238E27FC236}">
                <a16:creationId xmlns:a16="http://schemas.microsoft.com/office/drawing/2014/main" id="{DE9D5553-CA0F-B80E-54A9-EB5A2CD981E0}"/>
              </a:ext>
            </a:extLst>
          </p:cNvPr>
          <p:cNvSpPr txBox="1"/>
          <p:nvPr/>
        </p:nvSpPr>
        <p:spPr>
          <a:xfrm>
            <a:off x="7498867" y="5738129"/>
            <a:ext cx="778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/>
              <a:t>(Mask)</a:t>
            </a:r>
            <a:endParaRPr kumimoji="1" lang="zh-TW" altLang="en-US" sz="1200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B5270507-53DE-5414-AAFF-807421231930}"/>
              </a:ext>
            </a:extLst>
          </p:cNvPr>
          <p:cNvSpPr/>
          <p:nvPr/>
        </p:nvSpPr>
        <p:spPr>
          <a:xfrm>
            <a:off x="5844585" y="2520952"/>
            <a:ext cx="4055873" cy="37595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Language Model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7A9E49E6-7E51-54D0-1D0C-5F9180A3F180}"/>
              </a:ext>
            </a:extLst>
          </p:cNvPr>
          <p:cNvSpPr/>
          <p:nvPr/>
        </p:nvSpPr>
        <p:spPr>
          <a:xfrm>
            <a:off x="5926316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10E9D3A9-1833-FA06-B082-5138EFA0511C}"/>
              </a:ext>
            </a:extLst>
          </p:cNvPr>
          <p:cNvSpPr/>
          <p:nvPr/>
        </p:nvSpPr>
        <p:spPr>
          <a:xfrm>
            <a:off x="8840891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C13AA17E-199F-985B-4FA5-08A63595DD32}"/>
              </a:ext>
            </a:extLst>
          </p:cNvPr>
          <p:cNvSpPr/>
          <p:nvPr/>
        </p:nvSpPr>
        <p:spPr>
          <a:xfrm>
            <a:off x="9423808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4142C74B-50F2-A829-6F5F-D9244E9B32F7}"/>
              </a:ext>
            </a:extLst>
          </p:cNvPr>
          <p:cNvSpPr/>
          <p:nvPr/>
        </p:nvSpPr>
        <p:spPr>
          <a:xfrm>
            <a:off x="6509231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C7A6471D-DEF2-A972-ABD6-0E0B72776FB8}"/>
              </a:ext>
            </a:extLst>
          </p:cNvPr>
          <p:cNvSpPr/>
          <p:nvPr/>
        </p:nvSpPr>
        <p:spPr>
          <a:xfrm>
            <a:off x="7092146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955CA625-8AC5-B04B-5C53-FC61695CCCE8}"/>
              </a:ext>
            </a:extLst>
          </p:cNvPr>
          <p:cNvSpPr/>
          <p:nvPr/>
        </p:nvSpPr>
        <p:spPr>
          <a:xfrm>
            <a:off x="7675061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C762F92D-6462-5382-AF0E-47202D0B17D0}"/>
              </a:ext>
            </a:extLst>
          </p:cNvPr>
          <p:cNvSpPr/>
          <p:nvPr/>
        </p:nvSpPr>
        <p:spPr>
          <a:xfrm>
            <a:off x="8257976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7B5DF214-0B7A-F01B-A552-695101D989DA}"/>
              </a:ext>
            </a:extLst>
          </p:cNvPr>
          <p:cNvSpPr/>
          <p:nvPr/>
        </p:nvSpPr>
        <p:spPr>
          <a:xfrm>
            <a:off x="9423808" y="190646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34EF9E62-6350-43A9-CE3B-E7ED8E83EA41}"/>
              </a:ext>
            </a:extLst>
          </p:cNvPr>
          <p:cNvCxnSpPr>
            <a:cxnSpLocks/>
          </p:cNvCxnSpPr>
          <p:nvPr/>
        </p:nvCxnSpPr>
        <p:spPr>
          <a:xfrm flipV="1">
            <a:off x="9642394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8136EDBD-18C5-1DFD-2B6B-1D5F408B955C}"/>
              </a:ext>
            </a:extLst>
          </p:cNvPr>
          <p:cNvCxnSpPr>
            <a:cxnSpLocks/>
          </p:cNvCxnSpPr>
          <p:nvPr/>
        </p:nvCxnSpPr>
        <p:spPr>
          <a:xfrm flipV="1">
            <a:off x="9646361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D8942718-2B8F-88AB-9205-595A7FDBF322}"/>
              </a:ext>
            </a:extLst>
          </p:cNvPr>
          <p:cNvCxnSpPr>
            <a:cxnSpLocks/>
          </p:cNvCxnSpPr>
          <p:nvPr/>
        </p:nvCxnSpPr>
        <p:spPr>
          <a:xfrm flipV="1">
            <a:off x="9053554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95935579-7C1B-B4DF-01B8-913F3457B76A}"/>
              </a:ext>
            </a:extLst>
          </p:cNvPr>
          <p:cNvCxnSpPr>
            <a:cxnSpLocks/>
          </p:cNvCxnSpPr>
          <p:nvPr/>
        </p:nvCxnSpPr>
        <p:spPr>
          <a:xfrm flipV="1">
            <a:off x="8470866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4995756D-7C4C-9C10-1A1A-7C751413E9B6}"/>
              </a:ext>
            </a:extLst>
          </p:cNvPr>
          <p:cNvCxnSpPr>
            <a:cxnSpLocks/>
          </p:cNvCxnSpPr>
          <p:nvPr/>
        </p:nvCxnSpPr>
        <p:spPr>
          <a:xfrm flipV="1">
            <a:off x="7888178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00D76DDE-3A15-06A4-92EB-1590A2F2E695}"/>
              </a:ext>
            </a:extLst>
          </p:cNvPr>
          <p:cNvCxnSpPr>
            <a:cxnSpLocks/>
          </p:cNvCxnSpPr>
          <p:nvPr/>
        </p:nvCxnSpPr>
        <p:spPr>
          <a:xfrm flipV="1">
            <a:off x="7305490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98ABDAFF-F119-EDB7-2B9E-11CCE3345019}"/>
              </a:ext>
            </a:extLst>
          </p:cNvPr>
          <p:cNvCxnSpPr>
            <a:cxnSpLocks/>
          </p:cNvCxnSpPr>
          <p:nvPr/>
        </p:nvCxnSpPr>
        <p:spPr>
          <a:xfrm flipV="1">
            <a:off x="6722802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4BD7985C-F3D2-F65B-5553-C4138FB2DC7E}"/>
              </a:ext>
            </a:extLst>
          </p:cNvPr>
          <p:cNvCxnSpPr>
            <a:cxnSpLocks/>
          </p:cNvCxnSpPr>
          <p:nvPr/>
        </p:nvCxnSpPr>
        <p:spPr>
          <a:xfrm flipV="1">
            <a:off x="6140114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8BDE8906-D7B5-7E1E-3ADC-A1963100B468}"/>
              </a:ext>
            </a:extLst>
          </p:cNvPr>
          <p:cNvSpPr/>
          <p:nvPr/>
        </p:nvSpPr>
        <p:spPr>
          <a:xfrm>
            <a:off x="5926316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D3A2BDA1-215A-90A2-DCC1-08D2F396512E}"/>
              </a:ext>
            </a:extLst>
          </p:cNvPr>
          <p:cNvSpPr/>
          <p:nvPr/>
        </p:nvSpPr>
        <p:spPr>
          <a:xfrm>
            <a:off x="8840891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31240288-8FEC-44DB-B048-FEF210649DF3}"/>
              </a:ext>
            </a:extLst>
          </p:cNvPr>
          <p:cNvSpPr/>
          <p:nvPr/>
        </p:nvSpPr>
        <p:spPr>
          <a:xfrm>
            <a:off x="6509231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549B99E7-48F1-BE2B-F23A-1899C932EA20}"/>
              </a:ext>
            </a:extLst>
          </p:cNvPr>
          <p:cNvSpPr/>
          <p:nvPr/>
        </p:nvSpPr>
        <p:spPr>
          <a:xfrm>
            <a:off x="7092146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A4EFA004-369D-0185-260B-B58BA086F741}"/>
              </a:ext>
            </a:extLst>
          </p:cNvPr>
          <p:cNvSpPr/>
          <p:nvPr/>
        </p:nvSpPr>
        <p:spPr>
          <a:xfrm>
            <a:off x="7675061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513D34C3-B5B3-8CA8-426A-70AA24245771}"/>
              </a:ext>
            </a:extLst>
          </p:cNvPr>
          <p:cNvSpPr/>
          <p:nvPr/>
        </p:nvSpPr>
        <p:spPr>
          <a:xfrm>
            <a:off x="8257976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6D88ED91-CB97-4C30-7AFA-4C92098F0076}"/>
              </a:ext>
            </a:extLst>
          </p:cNvPr>
          <p:cNvCxnSpPr>
            <a:cxnSpLocks/>
          </p:cNvCxnSpPr>
          <p:nvPr/>
        </p:nvCxnSpPr>
        <p:spPr>
          <a:xfrm flipV="1">
            <a:off x="9061214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9A7B143A-ADCE-F227-779C-708A35FC9CB4}"/>
              </a:ext>
            </a:extLst>
          </p:cNvPr>
          <p:cNvCxnSpPr>
            <a:cxnSpLocks/>
          </p:cNvCxnSpPr>
          <p:nvPr/>
        </p:nvCxnSpPr>
        <p:spPr>
          <a:xfrm flipV="1">
            <a:off x="8478526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A556E414-76C9-97EB-F633-AE80A631F9A9}"/>
              </a:ext>
            </a:extLst>
          </p:cNvPr>
          <p:cNvCxnSpPr>
            <a:cxnSpLocks/>
          </p:cNvCxnSpPr>
          <p:nvPr/>
        </p:nvCxnSpPr>
        <p:spPr>
          <a:xfrm flipV="1">
            <a:off x="7895838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495DF970-93EE-DCA7-8E63-D18A15E36D0F}"/>
              </a:ext>
            </a:extLst>
          </p:cNvPr>
          <p:cNvCxnSpPr>
            <a:cxnSpLocks/>
          </p:cNvCxnSpPr>
          <p:nvPr/>
        </p:nvCxnSpPr>
        <p:spPr>
          <a:xfrm flipV="1">
            <a:off x="7313150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61D2E4AD-DE02-AE85-2A05-50A259A88E6D}"/>
              </a:ext>
            </a:extLst>
          </p:cNvPr>
          <p:cNvCxnSpPr>
            <a:cxnSpLocks/>
          </p:cNvCxnSpPr>
          <p:nvPr/>
        </p:nvCxnSpPr>
        <p:spPr>
          <a:xfrm flipV="1">
            <a:off x="6730462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D15A1BB2-400E-DA38-9164-2656B92A1217}"/>
              </a:ext>
            </a:extLst>
          </p:cNvPr>
          <p:cNvCxnSpPr>
            <a:cxnSpLocks/>
          </p:cNvCxnSpPr>
          <p:nvPr/>
        </p:nvCxnSpPr>
        <p:spPr>
          <a:xfrm flipV="1">
            <a:off x="6147774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467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6055D0-A45C-DAD8-0B6D-857A3E13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Language Model vs. Seq2seq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D2A212-34E2-32CC-9CB2-7E77FA73B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DBF41E46-D944-FBAC-03A1-467DC9E3E858}"/>
              </a:ext>
            </a:extLst>
          </p:cNvPr>
          <p:cNvSpPr/>
          <p:nvPr/>
        </p:nvSpPr>
        <p:spPr>
          <a:xfrm>
            <a:off x="967665" y="2320150"/>
            <a:ext cx="3293616" cy="852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Casual Language Model</a:t>
            </a:r>
          </a:p>
          <a:p>
            <a:pPr algn="ctr"/>
            <a:r>
              <a:rPr kumimoji="1" lang="en-US" altLang="zh-TW" dirty="0"/>
              <a:t>(E.g., GPT)</a:t>
            </a:r>
            <a:endParaRPr kumimoji="1" lang="zh-TW" altLang="en-US" dirty="0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DBE0D038-9D7D-A7B1-9AC2-F10098C3DC80}"/>
              </a:ext>
            </a:extLst>
          </p:cNvPr>
          <p:cNvSpPr/>
          <p:nvPr/>
        </p:nvSpPr>
        <p:spPr>
          <a:xfrm>
            <a:off x="967665" y="4509920"/>
            <a:ext cx="3293616" cy="852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Sequence to sequence Model</a:t>
            </a:r>
            <a:endParaRPr kumimoji="1" lang="zh-TW" altLang="en-US" dirty="0"/>
          </a:p>
          <a:p>
            <a:pPr algn="ctr"/>
            <a:r>
              <a:rPr kumimoji="1" lang="en-US" altLang="zh-TW" dirty="0"/>
              <a:t>(E.g., T5; Vanilla Transformers)</a:t>
            </a:r>
            <a:endParaRPr kumimoji="1" lang="zh-TW" altLang="en-US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4F4AE903-56BD-2BEB-D329-EE73CBEB5245}"/>
              </a:ext>
            </a:extLst>
          </p:cNvPr>
          <p:cNvSpPr/>
          <p:nvPr/>
        </p:nvSpPr>
        <p:spPr>
          <a:xfrm>
            <a:off x="4527948" y="4588459"/>
            <a:ext cx="2978792" cy="80796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Encoder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7DF4FD09-A9A1-855F-791D-826D35AE6724}"/>
              </a:ext>
            </a:extLst>
          </p:cNvPr>
          <p:cNvSpPr/>
          <p:nvPr/>
        </p:nvSpPr>
        <p:spPr>
          <a:xfrm>
            <a:off x="8672156" y="4588462"/>
            <a:ext cx="3046365" cy="80796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Decoder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AE669878-E525-49C0-F4DF-B056B322C5C0}"/>
              </a:ext>
            </a:extLst>
          </p:cNvPr>
          <p:cNvSpPr/>
          <p:nvPr/>
        </p:nvSpPr>
        <p:spPr>
          <a:xfrm>
            <a:off x="4563683" y="5716559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1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5C499C5C-B11A-1F9A-AB06-30E078A77F6F}"/>
              </a:ext>
            </a:extLst>
          </p:cNvPr>
          <p:cNvSpPr/>
          <p:nvPr/>
        </p:nvSpPr>
        <p:spPr>
          <a:xfrm>
            <a:off x="4941635" y="5716560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2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863DBD05-9FFE-53C8-895E-DFE8382728F1}"/>
              </a:ext>
            </a:extLst>
          </p:cNvPr>
          <p:cNvSpPr/>
          <p:nvPr/>
        </p:nvSpPr>
        <p:spPr>
          <a:xfrm>
            <a:off x="6831395" y="5716560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7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1AA7D898-04C9-C54B-EBFB-DEE9FFC6C8C4}"/>
              </a:ext>
            </a:extLst>
          </p:cNvPr>
          <p:cNvSpPr/>
          <p:nvPr/>
        </p:nvSpPr>
        <p:spPr>
          <a:xfrm>
            <a:off x="7209346" y="5716558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8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063100D6-7314-EB0D-73C8-9ECCEA1E7F26}"/>
              </a:ext>
            </a:extLst>
          </p:cNvPr>
          <p:cNvSpPr/>
          <p:nvPr/>
        </p:nvSpPr>
        <p:spPr>
          <a:xfrm>
            <a:off x="5319587" y="5716560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3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37F31A33-BB1A-3F77-3832-0D2AF738EF71}"/>
              </a:ext>
            </a:extLst>
          </p:cNvPr>
          <p:cNvSpPr/>
          <p:nvPr/>
        </p:nvSpPr>
        <p:spPr>
          <a:xfrm>
            <a:off x="5697539" y="5716560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4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DBFC0AF8-35CB-4686-048A-5D0A65CFF029}"/>
              </a:ext>
            </a:extLst>
          </p:cNvPr>
          <p:cNvSpPr/>
          <p:nvPr/>
        </p:nvSpPr>
        <p:spPr>
          <a:xfrm>
            <a:off x="6075491" y="5716560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5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D0457C6F-DA59-D183-BA3F-F3013DF50E07}"/>
              </a:ext>
            </a:extLst>
          </p:cNvPr>
          <p:cNvSpPr/>
          <p:nvPr/>
        </p:nvSpPr>
        <p:spPr>
          <a:xfrm>
            <a:off x="6453443" y="5716560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6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A269366F-2E22-FBAF-B3F2-90804A46B418}"/>
              </a:ext>
            </a:extLst>
          </p:cNvPr>
          <p:cNvCxnSpPr>
            <a:cxnSpLocks/>
          </p:cNvCxnSpPr>
          <p:nvPr/>
        </p:nvCxnSpPr>
        <p:spPr>
          <a:xfrm flipV="1">
            <a:off x="4749609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65CA4576-5CA8-18F4-48E6-F9274A3AEE3A}"/>
              </a:ext>
            </a:extLst>
          </p:cNvPr>
          <p:cNvCxnSpPr>
            <a:cxnSpLocks/>
          </p:cNvCxnSpPr>
          <p:nvPr/>
        </p:nvCxnSpPr>
        <p:spPr>
          <a:xfrm flipV="1">
            <a:off x="5125759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F0225A54-76B6-9D00-93C7-A22B989C1B94}"/>
              </a:ext>
            </a:extLst>
          </p:cNvPr>
          <p:cNvCxnSpPr>
            <a:cxnSpLocks/>
          </p:cNvCxnSpPr>
          <p:nvPr/>
        </p:nvCxnSpPr>
        <p:spPr>
          <a:xfrm flipV="1">
            <a:off x="5501909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1F064B0E-BF68-9D6E-EA5E-385042196A7B}"/>
              </a:ext>
            </a:extLst>
          </p:cNvPr>
          <p:cNvCxnSpPr>
            <a:cxnSpLocks/>
          </p:cNvCxnSpPr>
          <p:nvPr/>
        </p:nvCxnSpPr>
        <p:spPr>
          <a:xfrm flipV="1">
            <a:off x="5878059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67405FE3-FE48-C33E-3C19-382A1F80C378}"/>
              </a:ext>
            </a:extLst>
          </p:cNvPr>
          <p:cNvCxnSpPr>
            <a:cxnSpLocks/>
          </p:cNvCxnSpPr>
          <p:nvPr/>
        </p:nvCxnSpPr>
        <p:spPr>
          <a:xfrm flipV="1">
            <a:off x="6254209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AD243CF5-9AEF-58BE-B323-D966E996B45A}"/>
              </a:ext>
            </a:extLst>
          </p:cNvPr>
          <p:cNvCxnSpPr>
            <a:cxnSpLocks/>
          </p:cNvCxnSpPr>
          <p:nvPr/>
        </p:nvCxnSpPr>
        <p:spPr>
          <a:xfrm flipV="1">
            <a:off x="6630359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4B0BF50A-38B2-02E5-A5D1-31DD43ADBDBC}"/>
              </a:ext>
            </a:extLst>
          </p:cNvPr>
          <p:cNvCxnSpPr>
            <a:cxnSpLocks/>
          </p:cNvCxnSpPr>
          <p:nvPr/>
        </p:nvCxnSpPr>
        <p:spPr>
          <a:xfrm flipV="1">
            <a:off x="7006509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4B18EBD0-B9F4-E09A-069B-4C1B97F92828}"/>
              </a:ext>
            </a:extLst>
          </p:cNvPr>
          <p:cNvCxnSpPr>
            <a:cxnSpLocks/>
          </p:cNvCxnSpPr>
          <p:nvPr/>
        </p:nvCxnSpPr>
        <p:spPr>
          <a:xfrm flipV="1">
            <a:off x="7382656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BAA0194E-F83B-3E56-E79F-2DABDB0D8265}"/>
              </a:ext>
            </a:extLst>
          </p:cNvPr>
          <p:cNvCxnSpPr>
            <a:cxnSpLocks/>
          </p:cNvCxnSpPr>
          <p:nvPr/>
        </p:nvCxnSpPr>
        <p:spPr>
          <a:xfrm flipV="1">
            <a:off x="8813856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FDEFCB87-026A-9026-A04F-04EBE5D4D9D1}"/>
              </a:ext>
            </a:extLst>
          </p:cNvPr>
          <p:cNvCxnSpPr>
            <a:cxnSpLocks/>
          </p:cNvCxnSpPr>
          <p:nvPr/>
        </p:nvCxnSpPr>
        <p:spPr>
          <a:xfrm flipV="1">
            <a:off x="9196951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箭頭接點 53">
            <a:extLst>
              <a:ext uri="{FF2B5EF4-FFF2-40B4-BE49-F238E27FC236}">
                <a16:creationId xmlns:a16="http://schemas.microsoft.com/office/drawing/2014/main" id="{9AD805DE-E44D-A647-FDD9-CED47EC77EB8}"/>
              </a:ext>
            </a:extLst>
          </p:cNvPr>
          <p:cNvCxnSpPr>
            <a:cxnSpLocks/>
          </p:cNvCxnSpPr>
          <p:nvPr/>
        </p:nvCxnSpPr>
        <p:spPr>
          <a:xfrm flipV="1">
            <a:off x="9580046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95048278-B1ED-D2AD-AEA3-7DBA264D27CE}"/>
              </a:ext>
            </a:extLst>
          </p:cNvPr>
          <p:cNvCxnSpPr>
            <a:cxnSpLocks/>
          </p:cNvCxnSpPr>
          <p:nvPr/>
        </p:nvCxnSpPr>
        <p:spPr>
          <a:xfrm flipV="1">
            <a:off x="9963141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箭頭接點 55">
            <a:extLst>
              <a:ext uri="{FF2B5EF4-FFF2-40B4-BE49-F238E27FC236}">
                <a16:creationId xmlns:a16="http://schemas.microsoft.com/office/drawing/2014/main" id="{FF48A63D-85BF-4AAB-3045-C67434CCFBDA}"/>
              </a:ext>
            </a:extLst>
          </p:cNvPr>
          <p:cNvCxnSpPr>
            <a:cxnSpLocks/>
          </p:cNvCxnSpPr>
          <p:nvPr/>
        </p:nvCxnSpPr>
        <p:spPr>
          <a:xfrm flipV="1">
            <a:off x="10346236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箭頭接點 56">
            <a:extLst>
              <a:ext uri="{FF2B5EF4-FFF2-40B4-BE49-F238E27FC236}">
                <a16:creationId xmlns:a16="http://schemas.microsoft.com/office/drawing/2014/main" id="{24921AC9-9BDE-6C32-3974-35E0607368AD}"/>
              </a:ext>
            </a:extLst>
          </p:cNvPr>
          <p:cNvCxnSpPr>
            <a:cxnSpLocks/>
          </p:cNvCxnSpPr>
          <p:nvPr/>
        </p:nvCxnSpPr>
        <p:spPr>
          <a:xfrm flipV="1">
            <a:off x="10729331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C4ECA428-F6D6-E108-358F-8C231B4B7BE1}"/>
              </a:ext>
            </a:extLst>
          </p:cNvPr>
          <p:cNvCxnSpPr>
            <a:cxnSpLocks/>
          </p:cNvCxnSpPr>
          <p:nvPr/>
        </p:nvCxnSpPr>
        <p:spPr>
          <a:xfrm flipV="1">
            <a:off x="11112426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箭頭接點 58">
            <a:extLst>
              <a:ext uri="{FF2B5EF4-FFF2-40B4-BE49-F238E27FC236}">
                <a16:creationId xmlns:a16="http://schemas.microsoft.com/office/drawing/2014/main" id="{AD11D974-888E-C6FC-69F2-113494987784}"/>
              </a:ext>
            </a:extLst>
          </p:cNvPr>
          <p:cNvCxnSpPr>
            <a:cxnSpLocks/>
          </p:cNvCxnSpPr>
          <p:nvPr/>
        </p:nvCxnSpPr>
        <p:spPr>
          <a:xfrm flipV="1">
            <a:off x="11495520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圓角矩形 59">
            <a:extLst>
              <a:ext uri="{FF2B5EF4-FFF2-40B4-BE49-F238E27FC236}">
                <a16:creationId xmlns:a16="http://schemas.microsoft.com/office/drawing/2014/main" id="{6BCE7374-7B24-3FC3-C0B4-1EF577EFC40F}"/>
              </a:ext>
            </a:extLst>
          </p:cNvPr>
          <p:cNvSpPr/>
          <p:nvPr/>
        </p:nvSpPr>
        <p:spPr>
          <a:xfrm>
            <a:off x="9408267" y="3965628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3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圓角矩形 60">
            <a:extLst>
              <a:ext uri="{FF2B5EF4-FFF2-40B4-BE49-F238E27FC236}">
                <a16:creationId xmlns:a16="http://schemas.microsoft.com/office/drawing/2014/main" id="{FDA4A1C4-A72B-F82C-EA8D-EE31F9443D95}"/>
              </a:ext>
            </a:extLst>
          </p:cNvPr>
          <p:cNvSpPr/>
          <p:nvPr/>
        </p:nvSpPr>
        <p:spPr>
          <a:xfrm>
            <a:off x="9788278" y="3965629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4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圓角矩形 61">
            <a:extLst>
              <a:ext uri="{FF2B5EF4-FFF2-40B4-BE49-F238E27FC236}">
                <a16:creationId xmlns:a16="http://schemas.microsoft.com/office/drawing/2014/main" id="{8FDB9E3B-46C0-4791-9C33-553BCD853BD9}"/>
              </a:ext>
            </a:extLst>
          </p:cNvPr>
          <p:cNvSpPr/>
          <p:nvPr/>
        </p:nvSpPr>
        <p:spPr>
          <a:xfrm>
            <a:off x="10168289" y="3965629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5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66FE83E0-8079-DABF-A5B7-BACC753275C5}"/>
              </a:ext>
            </a:extLst>
          </p:cNvPr>
          <p:cNvSpPr/>
          <p:nvPr/>
        </p:nvSpPr>
        <p:spPr>
          <a:xfrm>
            <a:off x="10548300" y="3965629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6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53CF6213-9778-E2FA-8D63-D46E1EFF803B}"/>
              </a:ext>
            </a:extLst>
          </p:cNvPr>
          <p:cNvCxnSpPr>
            <a:cxnSpLocks/>
          </p:cNvCxnSpPr>
          <p:nvPr/>
        </p:nvCxnSpPr>
        <p:spPr>
          <a:xfrm flipV="1">
            <a:off x="9581603" y="4331723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箭頭接點 64">
            <a:extLst>
              <a:ext uri="{FF2B5EF4-FFF2-40B4-BE49-F238E27FC236}">
                <a16:creationId xmlns:a16="http://schemas.microsoft.com/office/drawing/2014/main" id="{67A1CB40-B9D1-3A8D-636D-F6200B2140EB}"/>
              </a:ext>
            </a:extLst>
          </p:cNvPr>
          <p:cNvCxnSpPr>
            <a:cxnSpLocks/>
          </p:cNvCxnSpPr>
          <p:nvPr/>
        </p:nvCxnSpPr>
        <p:spPr>
          <a:xfrm flipV="1">
            <a:off x="9965424" y="4331723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06DCB5BA-0B07-38B3-3D14-A83A8C201549}"/>
              </a:ext>
            </a:extLst>
          </p:cNvPr>
          <p:cNvCxnSpPr>
            <a:cxnSpLocks/>
          </p:cNvCxnSpPr>
          <p:nvPr/>
        </p:nvCxnSpPr>
        <p:spPr>
          <a:xfrm flipV="1">
            <a:off x="10349245" y="4331723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箭頭接點 66">
            <a:extLst>
              <a:ext uri="{FF2B5EF4-FFF2-40B4-BE49-F238E27FC236}">
                <a16:creationId xmlns:a16="http://schemas.microsoft.com/office/drawing/2014/main" id="{57AE99A1-1B88-E1B5-1C7C-C1FC52821A37}"/>
              </a:ext>
            </a:extLst>
          </p:cNvPr>
          <p:cNvCxnSpPr>
            <a:cxnSpLocks/>
          </p:cNvCxnSpPr>
          <p:nvPr/>
        </p:nvCxnSpPr>
        <p:spPr>
          <a:xfrm flipV="1">
            <a:off x="10733066" y="4331723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圓角矩形 67">
            <a:extLst>
              <a:ext uri="{FF2B5EF4-FFF2-40B4-BE49-F238E27FC236}">
                <a16:creationId xmlns:a16="http://schemas.microsoft.com/office/drawing/2014/main" id="{16C18930-1813-8D7A-F205-506A81D0B904}"/>
              </a:ext>
            </a:extLst>
          </p:cNvPr>
          <p:cNvSpPr/>
          <p:nvPr/>
        </p:nvSpPr>
        <p:spPr>
          <a:xfrm>
            <a:off x="7726327" y="4842368"/>
            <a:ext cx="770910" cy="3001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Attention</a:t>
            </a:r>
            <a:endParaRPr kumimoji="1" lang="zh-TW" altLang="en-US" sz="1000" dirty="0">
              <a:solidFill>
                <a:schemeClr val="tx1"/>
              </a:solidFill>
            </a:endParaRPr>
          </a:p>
        </p:txBody>
      </p: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F9AFECFB-085C-97F6-F513-CA026F0441AE}"/>
              </a:ext>
            </a:extLst>
          </p:cNvPr>
          <p:cNvCxnSpPr>
            <a:cxnSpLocks/>
            <a:stCxn id="26" idx="3"/>
            <a:endCxn id="68" idx="1"/>
          </p:cNvCxnSpPr>
          <p:nvPr/>
        </p:nvCxnSpPr>
        <p:spPr>
          <a:xfrm>
            <a:off x="7506740" y="4992444"/>
            <a:ext cx="219587" cy="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id="{FEB074F5-86EF-1782-F949-8A6D166CE782}"/>
              </a:ext>
            </a:extLst>
          </p:cNvPr>
          <p:cNvCxnSpPr>
            <a:cxnSpLocks/>
            <a:stCxn id="68" idx="3"/>
            <a:endCxn id="27" idx="1"/>
          </p:cNvCxnSpPr>
          <p:nvPr/>
        </p:nvCxnSpPr>
        <p:spPr>
          <a:xfrm>
            <a:off x="8497237" y="4992447"/>
            <a:ext cx="17491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圓角矩形 70">
            <a:extLst>
              <a:ext uri="{FF2B5EF4-FFF2-40B4-BE49-F238E27FC236}">
                <a16:creationId xmlns:a16="http://schemas.microsoft.com/office/drawing/2014/main" id="{7FC963BB-C730-F477-DD11-26AA7E9C1A01}"/>
              </a:ext>
            </a:extLst>
          </p:cNvPr>
          <p:cNvSpPr/>
          <p:nvPr/>
        </p:nvSpPr>
        <p:spPr>
          <a:xfrm>
            <a:off x="9028256" y="3965629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2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71014BAD-3C90-058B-D21A-C43E5D918572}"/>
              </a:ext>
            </a:extLst>
          </p:cNvPr>
          <p:cNvCxnSpPr>
            <a:cxnSpLocks/>
          </p:cNvCxnSpPr>
          <p:nvPr/>
        </p:nvCxnSpPr>
        <p:spPr>
          <a:xfrm flipV="1">
            <a:off x="9197782" y="4331723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圓角矩形 72">
            <a:extLst>
              <a:ext uri="{FF2B5EF4-FFF2-40B4-BE49-F238E27FC236}">
                <a16:creationId xmlns:a16="http://schemas.microsoft.com/office/drawing/2014/main" id="{5A0A43AF-668B-046A-510B-70A33AC114AC}"/>
              </a:ext>
            </a:extLst>
          </p:cNvPr>
          <p:cNvSpPr/>
          <p:nvPr/>
        </p:nvSpPr>
        <p:spPr>
          <a:xfrm>
            <a:off x="10928311" y="3961096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7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74" name="直線箭頭接點 73">
            <a:extLst>
              <a:ext uri="{FF2B5EF4-FFF2-40B4-BE49-F238E27FC236}">
                <a16:creationId xmlns:a16="http://schemas.microsoft.com/office/drawing/2014/main" id="{5889DB73-5BF4-6F9C-AEB8-391CF7A0C82F}"/>
              </a:ext>
            </a:extLst>
          </p:cNvPr>
          <p:cNvCxnSpPr>
            <a:cxnSpLocks/>
          </p:cNvCxnSpPr>
          <p:nvPr/>
        </p:nvCxnSpPr>
        <p:spPr>
          <a:xfrm flipV="1">
            <a:off x="11116887" y="43271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圓角矩形 74">
            <a:extLst>
              <a:ext uri="{FF2B5EF4-FFF2-40B4-BE49-F238E27FC236}">
                <a16:creationId xmlns:a16="http://schemas.microsoft.com/office/drawing/2014/main" id="{FC5EA9A1-4270-87CD-4522-8BA466F69B38}"/>
              </a:ext>
            </a:extLst>
          </p:cNvPr>
          <p:cNvSpPr/>
          <p:nvPr/>
        </p:nvSpPr>
        <p:spPr>
          <a:xfrm>
            <a:off x="11308321" y="3961095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8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76" name="直線箭頭接點 75">
            <a:extLst>
              <a:ext uri="{FF2B5EF4-FFF2-40B4-BE49-F238E27FC236}">
                <a16:creationId xmlns:a16="http://schemas.microsoft.com/office/drawing/2014/main" id="{763A2135-FFC6-106B-D2A7-F55838A23480}"/>
              </a:ext>
            </a:extLst>
          </p:cNvPr>
          <p:cNvCxnSpPr>
            <a:cxnSpLocks/>
          </p:cNvCxnSpPr>
          <p:nvPr/>
        </p:nvCxnSpPr>
        <p:spPr>
          <a:xfrm flipV="1">
            <a:off x="11500709" y="43271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圓角矩形 76">
            <a:extLst>
              <a:ext uri="{FF2B5EF4-FFF2-40B4-BE49-F238E27FC236}">
                <a16:creationId xmlns:a16="http://schemas.microsoft.com/office/drawing/2014/main" id="{489D1A5F-3383-58A2-08F3-B72F2F45BBCC}"/>
              </a:ext>
            </a:extLst>
          </p:cNvPr>
          <p:cNvSpPr/>
          <p:nvPr/>
        </p:nvSpPr>
        <p:spPr>
          <a:xfrm>
            <a:off x="8648245" y="3961095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1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78" name="直線箭頭接點 77">
            <a:extLst>
              <a:ext uri="{FF2B5EF4-FFF2-40B4-BE49-F238E27FC236}">
                <a16:creationId xmlns:a16="http://schemas.microsoft.com/office/drawing/2014/main" id="{ECC305A4-1D98-99D7-09D3-2C23BBC95B65}"/>
              </a:ext>
            </a:extLst>
          </p:cNvPr>
          <p:cNvCxnSpPr>
            <a:cxnSpLocks/>
          </p:cNvCxnSpPr>
          <p:nvPr/>
        </p:nvCxnSpPr>
        <p:spPr>
          <a:xfrm flipV="1">
            <a:off x="8813961" y="4331723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圓角矩形 196">
            <a:extLst>
              <a:ext uri="{FF2B5EF4-FFF2-40B4-BE49-F238E27FC236}">
                <a16:creationId xmlns:a16="http://schemas.microsoft.com/office/drawing/2014/main" id="{51A44291-E63E-7749-D615-FA1E15D1C2DF}"/>
              </a:ext>
            </a:extLst>
          </p:cNvPr>
          <p:cNvSpPr/>
          <p:nvPr/>
        </p:nvSpPr>
        <p:spPr>
          <a:xfrm>
            <a:off x="9408267" y="5722016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2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198" name="圓角矩形 197">
            <a:extLst>
              <a:ext uri="{FF2B5EF4-FFF2-40B4-BE49-F238E27FC236}">
                <a16:creationId xmlns:a16="http://schemas.microsoft.com/office/drawing/2014/main" id="{6A8F4BD2-7AF6-AB60-0107-704541601483}"/>
              </a:ext>
            </a:extLst>
          </p:cNvPr>
          <p:cNvSpPr/>
          <p:nvPr/>
        </p:nvSpPr>
        <p:spPr>
          <a:xfrm>
            <a:off x="9788278" y="5722017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3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199" name="圓角矩形 198">
            <a:extLst>
              <a:ext uri="{FF2B5EF4-FFF2-40B4-BE49-F238E27FC236}">
                <a16:creationId xmlns:a16="http://schemas.microsoft.com/office/drawing/2014/main" id="{F279F217-730C-E0F0-0E69-9B38FFA0BD75}"/>
              </a:ext>
            </a:extLst>
          </p:cNvPr>
          <p:cNvSpPr/>
          <p:nvPr/>
        </p:nvSpPr>
        <p:spPr>
          <a:xfrm>
            <a:off x="10168289" y="5722017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4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00" name="圓角矩形 199">
            <a:extLst>
              <a:ext uri="{FF2B5EF4-FFF2-40B4-BE49-F238E27FC236}">
                <a16:creationId xmlns:a16="http://schemas.microsoft.com/office/drawing/2014/main" id="{1C46CEF6-E60A-E4C2-AEB3-CCC3B0C25B98}"/>
              </a:ext>
            </a:extLst>
          </p:cNvPr>
          <p:cNvSpPr/>
          <p:nvPr/>
        </p:nvSpPr>
        <p:spPr>
          <a:xfrm>
            <a:off x="10548300" y="5722017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5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01" name="圓角矩形 200">
            <a:extLst>
              <a:ext uri="{FF2B5EF4-FFF2-40B4-BE49-F238E27FC236}">
                <a16:creationId xmlns:a16="http://schemas.microsoft.com/office/drawing/2014/main" id="{0BEBE6E3-C7EA-CAF4-E4D2-AB345A280C8B}"/>
              </a:ext>
            </a:extLst>
          </p:cNvPr>
          <p:cNvSpPr/>
          <p:nvPr/>
        </p:nvSpPr>
        <p:spPr>
          <a:xfrm>
            <a:off x="9028256" y="5722017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1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圓角矩形 201">
            <a:extLst>
              <a:ext uri="{FF2B5EF4-FFF2-40B4-BE49-F238E27FC236}">
                <a16:creationId xmlns:a16="http://schemas.microsoft.com/office/drawing/2014/main" id="{8B6BAC64-E231-F06A-29DA-B57F032FC31E}"/>
              </a:ext>
            </a:extLst>
          </p:cNvPr>
          <p:cNvSpPr/>
          <p:nvPr/>
        </p:nvSpPr>
        <p:spPr>
          <a:xfrm>
            <a:off x="10928311" y="5717484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6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圓角矩形 202">
            <a:extLst>
              <a:ext uri="{FF2B5EF4-FFF2-40B4-BE49-F238E27FC236}">
                <a16:creationId xmlns:a16="http://schemas.microsoft.com/office/drawing/2014/main" id="{62820BA0-0EF4-B79B-F131-1CD9579B0763}"/>
              </a:ext>
            </a:extLst>
          </p:cNvPr>
          <p:cNvSpPr/>
          <p:nvPr/>
        </p:nvSpPr>
        <p:spPr>
          <a:xfrm>
            <a:off x="11308321" y="5717483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7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圓角矩形 203">
            <a:extLst>
              <a:ext uri="{FF2B5EF4-FFF2-40B4-BE49-F238E27FC236}">
                <a16:creationId xmlns:a16="http://schemas.microsoft.com/office/drawing/2014/main" id="{308095FB-D59F-5D09-74BF-05DFD766ABA2}"/>
              </a:ext>
            </a:extLst>
          </p:cNvPr>
          <p:cNvSpPr/>
          <p:nvPr/>
        </p:nvSpPr>
        <p:spPr>
          <a:xfrm>
            <a:off x="8648245" y="5717483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_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圓角矩形 204">
            <a:extLst>
              <a:ext uri="{FF2B5EF4-FFF2-40B4-BE49-F238E27FC236}">
                <a16:creationId xmlns:a16="http://schemas.microsoft.com/office/drawing/2014/main" id="{1F41B6BA-E797-97B8-0EF3-2E15E572D967}"/>
              </a:ext>
            </a:extLst>
          </p:cNvPr>
          <p:cNvSpPr/>
          <p:nvPr/>
        </p:nvSpPr>
        <p:spPr>
          <a:xfrm>
            <a:off x="5844585" y="2520952"/>
            <a:ext cx="4055873" cy="37595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Language Model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206" name="圓角矩形 205">
            <a:extLst>
              <a:ext uri="{FF2B5EF4-FFF2-40B4-BE49-F238E27FC236}">
                <a16:creationId xmlns:a16="http://schemas.microsoft.com/office/drawing/2014/main" id="{A3AAC9E2-C441-6D0C-9F33-4F211C850C77}"/>
              </a:ext>
            </a:extLst>
          </p:cNvPr>
          <p:cNvSpPr/>
          <p:nvPr/>
        </p:nvSpPr>
        <p:spPr>
          <a:xfrm>
            <a:off x="5926316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7" name="圓角矩形 206">
            <a:extLst>
              <a:ext uri="{FF2B5EF4-FFF2-40B4-BE49-F238E27FC236}">
                <a16:creationId xmlns:a16="http://schemas.microsoft.com/office/drawing/2014/main" id="{6D13B643-7034-6339-BF02-1BDC95039575}"/>
              </a:ext>
            </a:extLst>
          </p:cNvPr>
          <p:cNvSpPr/>
          <p:nvPr/>
        </p:nvSpPr>
        <p:spPr>
          <a:xfrm>
            <a:off x="8840891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8" name="圓角矩形 207">
            <a:extLst>
              <a:ext uri="{FF2B5EF4-FFF2-40B4-BE49-F238E27FC236}">
                <a16:creationId xmlns:a16="http://schemas.microsoft.com/office/drawing/2014/main" id="{C0C51650-7109-AF35-3435-31B6CE315030}"/>
              </a:ext>
            </a:extLst>
          </p:cNvPr>
          <p:cNvSpPr/>
          <p:nvPr/>
        </p:nvSpPr>
        <p:spPr>
          <a:xfrm>
            <a:off x="9423808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9" name="圓角矩形 208">
            <a:extLst>
              <a:ext uri="{FF2B5EF4-FFF2-40B4-BE49-F238E27FC236}">
                <a16:creationId xmlns:a16="http://schemas.microsoft.com/office/drawing/2014/main" id="{290BD195-F2E0-9E28-2075-E54311FE8559}"/>
              </a:ext>
            </a:extLst>
          </p:cNvPr>
          <p:cNvSpPr/>
          <p:nvPr/>
        </p:nvSpPr>
        <p:spPr>
          <a:xfrm>
            <a:off x="6509231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10" name="圓角矩形 209">
            <a:extLst>
              <a:ext uri="{FF2B5EF4-FFF2-40B4-BE49-F238E27FC236}">
                <a16:creationId xmlns:a16="http://schemas.microsoft.com/office/drawing/2014/main" id="{F3ED4753-846C-B172-49E4-DDACEAE10876}"/>
              </a:ext>
            </a:extLst>
          </p:cNvPr>
          <p:cNvSpPr/>
          <p:nvPr/>
        </p:nvSpPr>
        <p:spPr>
          <a:xfrm>
            <a:off x="7092146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11" name="圓角矩形 210">
            <a:extLst>
              <a:ext uri="{FF2B5EF4-FFF2-40B4-BE49-F238E27FC236}">
                <a16:creationId xmlns:a16="http://schemas.microsoft.com/office/drawing/2014/main" id="{145FEF27-E92C-18A4-C5F0-32106561DE54}"/>
              </a:ext>
            </a:extLst>
          </p:cNvPr>
          <p:cNvSpPr/>
          <p:nvPr/>
        </p:nvSpPr>
        <p:spPr>
          <a:xfrm>
            <a:off x="7675061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12" name="圓角矩形 211">
            <a:extLst>
              <a:ext uri="{FF2B5EF4-FFF2-40B4-BE49-F238E27FC236}">
                <a16:creationId xmlns:a16="http://schemas.microsoft.com/office/drawing/2014/main" id="{E0E08958-E35D-E61B-841C-6D99F062BBBB}"/>
              </a:ext>
            </a:extLst>
          </p:cNvPr>
          <p:cNvSpPr/>
          <p:nvPr/>
        </p:nvSpPr>
        <p:spPr>
          <a:xfrm>
            <a:off x="8257976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13" name="圓角矩形 212">
            <a:extLst>
              <a:ext uri="{FF2B5EF4-FFF2-40B4-BE49-F238E27FC236}">
                <a16:creationId xmlns:a16="http://schemas.microsoft.com/office/drawing/2014/main" id="{A2BB6D5A-4094-2225-9B93-9C50B7335F67}"/>
              </a:ext>
            </a:extLst>
          </p:cNvPr>
          <p:cNvSpPr/>
          <p:nvPr/>
        </p:nvSpPr>
        <p:spPr>
          <a:xfrm>
            <a:off x="9423808" y="190646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14" name="直線箭頭接點 213">
            <a:extLst>
              <a:ext uri="{FF2B5EF4-FFF2-40B4-BE49-F238E27FC236}">
                <a16:creationId xmlns:a16="http://schemas.microsoft.com/office/drawing/2014/main" id="{BDCBAFB3-2E12-0CC8-6207-D2058379F4A1}"/>
              </a:ext>
            </a:extLst>
          </p:cNvPr>
          <p:cNvCxnSpPr>
            <a:cxnSpLocks/>
          </p:cNvCxnSpPr>
          <p:nvPr/>
        </p:nvCxnSpPr>
        <p:spPr>
          <a:xfrm flipV="1">
            <a:off x="9642394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線箭頭接點 214">
            <a:extLst>
              <a:ext uri="{FF2B5EF4-FFF2-40B4-BE49-F238E27FC236}">
                <a16:creationId xmlns:a16="http://schemas.microsoft.com/office/drawing/2014/main" id="{BB238ADC-07E4-946E-039F-E6501735D845}"/>
              </a:ext>
            </a:extLst>
          </p:cNvPr>
          <p:cNvCxnSpPr>
            <a:cxnSpLocks/>
          </p:cNvCxnSpPr>
          <p:nvPr/>
        </p:nvCxnSpPr>
        <p:spPr>
          <a:xfrm flipV="1">
            <a:off x="9646361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線箭頭接點 215">
            <a:extLst>
              <a:ext uri="{FF2B5EF4-FFF2-40B4-BE49-F238E27FC236}">
                <a16:creationId xmlns:a16="http://schemas.microsoft.com/office/drawing/2014/main" id="{00354EDA-CD8B-B2A4-39FD-5000F51BC959}"/>
              </a:ext>
            </a:extLst>
          </p:cNvPr>
          <p:cNvCxnSpPr>
            <a:cxnSpLocks/>
          </p:cNvCxnSpPr>
          <p:nvPr/>
        </p:nvCxnSpPr>
        <p:spPr>
          <a:xfrm flipV="1">
            <a:off x="9053554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線箭頭接點 216">
            <a:extLst>
              <a:ext uri="{FF2B5EF4-FFF2-40B4-BE49-F238E27FC236}">
                <a16:creationId xmlns:a16="http://schemas.microsoft.com/office/drawing/2014/main" id="{76C38B0A-25CB-24BD-A92D-D4D02502F954}"/>
              </a:ext>
            </a:extLst>
          </p:cNvPr>
          <p:cNvCxnSpPr>
            <a:cxnSpLocks/>
          </p:cNvCxnSpPr>
          <p:nvPr/>
        </p:nvCxnSpPr>
        <p:spPr>
          <a:xfrm flipV="1">
            <a:off x="8470866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線箭頭接點 217">
            <a:extLst>
              <a:ext uri="{FF2B5EF4-FFF2-40B4-BE49-F238E27FC236}">
                <a16:creationId xmlns:a16="http://schemas.microsoft.com/office/drawing/2014/main" id="{2F70C105-B59D-E613-1BEC-9FBB44FC7757}"/>
              </a:ext>
            </a:extLst>
          </p:cNvPr>
          <p:cNvCxnSpPr>
            <a:cxnSpLocks/>
          </p:cNvCxnSpPr>
          <p:nvPr/>
        </p:nvCxnSpPr>
        <p:spPr>
          <a:xfrm flipV="1">
            <a:off x="7888178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線箭頭接點 218">
            <a:extLst>
              <a:ext uri="{FF2B5EF4-FFF2-40B4-BE49-F238E27FC236}">
                <a16:creationId xmlns:a16="http://schemas.microsoft.com/office/drawing/2014/main" id="{3CFE5BD8-0673-A9E7-104B-03D44A6ACB91}"/>
              </a:ext>
            </a:extLst>
          </p:cNvPr>
          <p:cNvCxnSpPr>
            <a:cxnSpLocks/>
          </p:cNvCxnSpPr>
          <p:nvPr/>
        </p:nvCxnSpPr>
        <p:spPr>
          <a:xfrm flipV="1">
            <a:off x="7305490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線箭頭接點 219">
            <a:extLst>
              <a:ext uri="{FF2B5EF4-FFF2-40B4-BE49-F238E27FC236}">
                <a16:creationId xmlns:a16="http://schemas.microsoft.com/office/drawing/2014/main" id="{719E466A-A0CE-23EA-7A9D-AA6EF9736DFF}"/>
              </a:ext>
            </a:extLst>
          </p:cNvPr>
          <p:cNvCxnSpPr>
            <a:cxnSpLocks/>
          </p:cNvCxnSpPr>
          <p:nvPr/>
        </p:nvCxnSpPr>
        <p:spPr>
          <a:xfrm flipV="1">
            <a:off x="6722802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線箭頭接點 220">
            <a:extLst>
              <a:ext uri="{FF2B5EF4-FFF2-40B4-BE49-F238E27FC236}">
                <a16:creationId xmlns:a16="http://schemas.microsoft.com/office/drawing/2014/main" id="{64E32529-C52B-9CF1-F9C2-CB82395F22B0}"/>
              </a:ext>
            </a:extLst>
          </p:cNvPr>
          <p:cNvCxnSpPr>
            <a:cxnSpLocks/>
          </p:cNvCxnSpPr>
          <p:nvPr/>
        </p:nvCxnSpPr>
        <p:spPr>
          <a:xfrm flipV="1">
            <a:off x="6140114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文字方塊 67">
            <a:extLst>
              <a:ext uri="{FF2B5EF4-FFF2-40B4-BE49-F238E27FC236}">
                <a16:creationId xmlns:a16="http://schemas.microsoft.com/office/drawing/2014/main" id="{FB47EEE5-6AFC-D1F7-20B8-4223D4A4C735}"/>
              </a:ext>
            </a:extLst>
          </p:cNvPr>
          <p:cNvSpPr txBox="1"/>
          <p:nvPr/>
        </p:nvSpPr>
        <p:spPr>
          <a:xfrm>
            <a:off x="8432290" y="6039171"/>
            <a:ext cx="778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p:sp>
        <p:nvSpPr>
          <p:cNvPr id="224" name="文字方塊 2">
            <a:extLst>
              <a:ext uri="{FF2B5EF4-FFF2-40B4-BE49-F238E27FC236}">
                <a16:creationId xmlns:a16="http://schemas.microsoft.com/office/drawing/2014/main" id="{89E5C418-49BB-271D-3D44-BC676B920C01}"/>
              </a:ext>
            </a:extLst>
          </p:cNvPr>
          <p:cNvSpPr txBox="1"/>
          <p:nvPr/>
        </p:nvSpPr>
        <p:spPr>
          <a:xfrm>
            <a:off x="9423808" y="3665546"/>
            <a:ext cx="15751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50" dirty="0">
                <a:solidFill>
                  <a:srgbClr val="00B050"/>
                </a:solidFill>
              </a:rPr>
              <a:t>(Target output)</a:t>
            </a:r>
            <a:endParaRPr kumimoji="1" lang="zh-TW" altLang="en-US" sz="1350" dirty="0">
              <a:solidFill>
                <a:srgbClr val="00B050"/>
              </a:solidFill>
            </a:endParaRPr>
          </a:p>
        </p:txBody>
      </p:sp>
      <p:sp>
        <p:nvSpPr>
          <p:cNvPr id="225" name="文字方塊 2">
            <a:extLst>
              <a:ext uri="{FF2B5EF4-FFF2-40B4-BE49-F238E27FC236}">
                <a16:creationId xmlns:a16="http://schemas.microsoft.com/office/drawing/2014/main" id="{06F21140-3827-10FA-3AE5-05D8572121D7}"/>
              </a:ext>
            </a:extLst>
          </p:cNvPr>
          <p:cNvSpPr txBox="1"/>
          <p:nvPr/>
        </p:nvSpPr>
        <p:spPr>
          <a:xfrm>
            <a:off x="5215202" y="6039171"/>
            <a:ext cx="15751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50" dirty="0">
                <a:solidFill>
                  <a:srgbClr val="0070C0"/>
                </a:solidFill>
              </a:rPr>
              <a:t>(Source input)</a:t>
            </a:r>
            <a:endParaRPr kumimoji="1" lang="zh-TW" altLang="en-US" sz="1350" dirty="0">
              <a:solidFill>
                <a:srgbClr val="0070C0"/>
              </a:solidFill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566537AB-AEF3-3F35-7EF1-D5723DDB524E}"/>
              </a:ext>
            </a:extLst>
          </p:cNvPr>
          <p:cNvSpPr/>
          <p:nvPr/>
        </p:nvSpPr>
        <p:spPr>
          <a:xfrm>
            <a:off x="5926316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6BE1DA29-CBFD-022C-7336-F2FC20847E0D}"/>
              </a:ext>
            </a:extLst>
          </p:cNvPr>
          <p:cNvSpPr/>
          <p:nvPr/>
        </p:nvSpPr>
        <p:spPr>
          <a:xfrm>
            <a:off x="8840891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65AB5DE-C950-D2EB-618D-554EABEEDA55}"/>
              </a:ext>
            </a:extLst>
          </p:cNvPr>
          <p:cNvSpPr/>
          <p:nvPr/>
        </p:nvSpPr>
        <p:spPr>
          <a:xfrm>
            <a:off x="6509231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F6BB4CE8-BE0F-2746-2FC1-9F7C77ED6268}"/>
              </a:ext>
            </a:extLst>
          </p:cNvPr>
          <p:cNvSpPr/>
          <p:nvPr/>
        </p:nvSpPr>
        <p:spPr>
          <a:xfrm>
            <a:off x="7092146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82015FE6-515F-6081-A8DC-917B1E93AA91}"/>
              </a:ext>
            </a:extLst>
          </p:cNvPr>
          <p:cNvSpPr/>
          <p:nvPr/>
        </p:nvSpPr>
        <p:spPr>
          <a:xfrm>
            <a:off x="7675061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26CF794B-2FF6-9A25-E4A2-A4B16DA150ED}"/>
              </a:ext>
            </a:extLst>
          </p:cNvPr>
          <p:cNvSpPr/>
          <p:nvPr/>
        </p:nvSpPr>
        <p:spPr>
          <a:xfrm>
            <a:off x="8257976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4B1453B6-C4CA-1429-378C-26A8583E1912}"/>
              </a:ext>
            </a:extLst>
          </p:cNvPr>
          <p:cNvCxnSpPr>
            <a:cxnSpLocks/>
          </p:cNvCxnSpPr>
          <p:nvPr/>
        </p:nvCxnSpPr>
        <p:spPr>
          <a:xfrm flipV="1">
            <a:off x="9061214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AFB944DF-67EE-C850-7BF4-922D45C916FA}"/>
              </a:ext>
            </a:extLst>
          </p:cNvPr>
          <p:cNvCxnSpPr>
            <a:cxnSpLocks/>
          </p:cNvCxnSpPr>
          <p:nvPr/>
        </p:nvCxnSpPr>
        <p:spPr>
          <a:xfrm flipV="1">
            <a:off x="8478526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F5CE4F43-F844-087D-F8DA-890E23D1FFF7}"/>
              </a:ext>
            </a:extLst>
          </p:cNvPr>
          <p:cNvCxnSpPr>
            <a:cxnSpLocks/>
          </p:cNvCxnSpPr>
          <p:nvPr/>
        </p:nvCxnSpPr>
        <p:spPr>
          <a:xfrm flipV="1">
            <a:off x="7895838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C71EC8C1-EF96-E9D1-967D-81AF01B02710}"/>
              </a:ext>
            </a:extLst>
          </p:cNvPr>
          <p:cNvCxnSpPr>
            <a:cxnSpLocks/>
          </p:cNvCxnSpPr>
          <p:nvPr/>
        </p:nvCxnSpPr>
        <p:spPr>
          <a:xfrm flipV="1">
            <a:off x="7313150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BFA2EE8A-E3A2-369A-9987-E92F7B8AC49A}"/>
              </a:ext>
            </a:extLst>
          </p:cNvPr>
          <p:cNvCxnSpPr>
            <a:cxnSpLocks/>
          </p:cNvCxnSpPr>
          <p:nvPr/>
        </p:nvCxnSpPr>
        <p:spPr>
          <a:xfrm flipV="1">
            <a:off x="6730462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5749254A-879D-3A0C-3E48-717D4D3F6150}"/>
              </a:ext>
            </a:extLst>
          </p:cNvPr>
          <p:cNvCxnSpPr>
            <a:cxnSpLocks/>
          </p:cNvCxnSpPr>
          <p:nvPr/>
        </p:nvCxnSpPr>
        <p:spPr>
          <a:xfrm flipV="1">
            <a:off x="6147774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500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A4D746-8014-D032-5ECB-493578C16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Load LCSTS via Hugging Face Dataset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784A44-2D9F-5FDB-6A15-89A1F334E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9</a:t>
            </a:fld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29342D-1920-DD97-E1A8-58FD1A5EF886}"/>
              </a:ext>
            </a:extLst>
          </p:cNvPr>
          <p:cNvSpPr/>
          <p:nvPr/>
        </p:nvSpPr>
        <p:spPr>
          <a:xfrm>
            <a:off x="1447779" y="2598134"/>
            <a:ext cx="9296440" cy="21644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</a:pPr>
            <a:r>
              <a:rPr lang="en" altLang="zh-TW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raw_train</a:t>
            </a: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TW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load_dataset</a:t>
            </a: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 lvl="1">
              <a:lnSpc>
                <a:spcPct val="110000"/>
              </a:lnSpc>
            </a:pPr>
            <a:r>
              <a:rPr lang="en" altLang="zh-TW" sz="2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TW" sz="20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hugcyp</a:t>
            </a:r>
            <a:r>
              <a:rPr lang="en" altLang="zh-TW" sz="2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/LCSTS"</a:t>
            </a: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TW" sz="20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split</a:t>
            </a: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sz="2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"train"</a:t>
            </a: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TW" sz="2000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cache_dir</a:t>
            </a: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sz="2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"./cache/"</a:t>
            </a:r>
            <a:endParaRPr lang="en" altLang="zh-TW" sz="2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10000"/>
              </a:lnSpc>
            </a:pP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" altLang="zh-TW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to_list</a:t>
            </a: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ct val="110000"/>
              </a:lnSpc>
            </a:pPr>
            <a:r>
              <a:rPr lang="en" altLang="zh-TW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raw_val</a:t>
            </a: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TW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load_dataset</a:t>
            </a: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 lvl="1">
              <a:lnSpc>
                <a:spcPct val="110000"/>
              </a:lnSpc>
            </a:pPr>
            <a:r>
              <a:rPr lang="en" altLang="zh-TW" sz="2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TW" sz="20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hugcyp</a:t>
            </a:r>
            <a:r>
              <a:rPr lang="en" altLang="zh-TW" sz="2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/LCSTS"</a:t>
            </a: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TW" sz="20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split</a:t>
            </a: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sz="2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"validation"</a:t>
            </a: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TW" sz="2000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cache_dir</a:t>
            </a: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sz="2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"./cache/"</a:t>
            </a:r>
            <a:endParaRPr lang="en" altLang="zh-TW" sz="2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10000"/>
              </a:lnSpc>
            </a:pP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" altLang="zh-TW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to_list</a:t>
            </a:r>
            <a:r>
              <a:rPr lang="en" altLang="zh-TW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996505F-8B66-C1FE-EA4C-EEA233AA4B39}"/>
              </a:ext>
            </a:extLst>
          </p:cNvPr>
          <p:cNvSpPr txBox="1"/>
          <p:nvPr/>
        </p:nvSpPr>
        <p:spPr>
          <a:xfrm>
            <a:off x="2260846" y="5042516"/>
            <a:ext cx="7670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Sometimes checking the Hugging Face dataset is slow, it will be faster if we transform the dataset object  into a list using </a:t>
            </a:r>
            <a:r>
              <a:rPr lang="en" altLang="zh-TW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TW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to_list</a:t>
            </a:r>
            <a:r>
              <a:rPr lang="en" altLang="zh-TW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  <a:r>
              <a:rPr kumimoji="1" lang="en-US" altLang="zh-TW" dirty="0"/>
              <a:t>. 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23AF9DF-0EE0-FF2F-DB14-78F95E455E54}"/>
              </a:ext>
            </a:extLst>
          </p:cNvPr>
          <p:cNvSpPr txBox="1"/>
          <p:nvPr/>
        </p:nvSpPr>
        <p:spPr>
          <a:xfrm>
            <a:off x="653143" y="1608572"/>
            <a:ext cx="9726931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>
                <a:hlinkClick r:id="rId2"/>
              </a:rPr>
              <a:t>Hugging Face dataset link</a:t>
            </a:r>
            <a:endParaRPr kumimoji="1" lang="en-US" altLang="zh-TW" sz="2400" baseline="30000" dirty="0"/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700813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36515-3767-0A4E-93DE-2F2307146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Let’s try it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E0F5C3-0F04-E5FC-8A45-FCE9CD76D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sz="2400" dirty="0">
                <a:ea typeface="Microsoft JhengHei" panose="020B0604030504040204" pitchFamily="34" charset="-120"/>
              </a:rPr>
              <a:t>1.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用 </a:t>
            </a:r>
            <a:r>
              <a:rPr kumimoji="1" lang="en" altLang="zh-TW" sz="2400" dirty="0" err="1">
                <a:ea typeface="Microsoft JhengHei" panose="020B0604030504040204" pitchFamily="34" charset="-120"/>
              </a:rPr>
              <a:t>load_dataset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()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把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train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和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validation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分開讀進來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r>
              <a:rPr kumimoji="1" lang="en-US" altLang="zh-TW" sz="2400" dirty="0">
                <a:ea typeface="Microsoft JhengHei" panose="020B0604030504040204" pitchFamily="34" charset="-120"/>
              </a:rPr>
              <a:t>2.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把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dataset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轉成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pandas </a:t>
            </a:r>
            <a:r>
              <a:rPr kumimoji="1" lang="en" altLang="zh-TW" sz="2400" dirty="0" err="1">
                <a:ea typeface="Microsoft JhengHei" panose="020B0604030504040204" pitchFamily="34" charset="-120"/>
              </a:rPr>
              <a:t>dataframe</a:t>
            </a:r>
            <a:r>
              <a:rPr kumimoji="1" lang="zh-TW" altLang="en" sz="2400" dirty="0">
                <a:ea typeface="Microsoft JhengHei" panose="020B0604030504040204" pitchFamily="34" charset="-120"/>
              </a:rPr>
              <a:t>，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觀察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1~2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筆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samples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3D89E6-8396-E3DC-2220-EAB1209C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179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Auto Classes (models, tokenizers)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11</a:t>
            </a:fld>
            <a:endParaRPr lang="en-US"/>
          </a:p>
        </p:txBody>
      </p:sp>
      <p:sp>
        <p:nvSpPr>
          <p:cNvPr id="5" name="文字方塊 4"/>
          <p:cNvSpPr txBox="1"/>
          <p:nvPr/>
        </p:nvSpPr>
        <p:spPr>
          <a:xfrm>
            <a:off x="636813" y="1609834"/>
            <a:ext cx="10918371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000" dirty="0"/>
              <a:t>In many cases, the architecture you want to use </a:t>
            </a:r>
            <a:r>
              <a:rPr kumimoji="1" lang="en-US" altLang="zh-TW" sz="2000" b="1" dirty="0"/>
              <a:t>can be guessed</a:t>
            </a:r>
            <a:r>
              <a:rPr kumimoji="1" lang="en-US" altLang="zh-TW" sz="2000" dirty="0"/>
              <a:t> from the name or the path of the pretrained model you are supplying to the </a:t>
            </a:r>
            <a:r>
              <a:rPr kumimoji="1" lang="en-US" altLang="zh-TW" sz="2000" dirty="0" err="1"/>
              <a:t>from_pretrained</a:t>
            </a:r>
            <a:r>
              <a:rPr kumimoji="1" lang="en-US" altLang="zh-TW" sz="2000" dirty="0"/>
              <a:t> method.</a:t>
            </a: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000" dirty="0" err="1"/>
              <a:t>AutoClasses</a:t>
            </a:r>
            <a:r>
              <a:rPr kumimoji="1" lang="en-US" altLang="zh-TW" sz="2000" dirty="0"/>
              <a:t> are here to do this job for you so that you automatically retrieve the relevant model given the name/path to the pretrained weights/config/vocabulary:</a:t>
            </a: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000" dirty="0"/>
              <a:t>Ex: model = </a:t>
            </a:r>
            <a:r>
              <a:rPr kumimoji="1" lang="en-US" altLang="zh-TW" sz="2000" dirty="0" err="1"/>
              <a:t>AutoModel.from_pretrained</a:t>
            </a:r>
            <a:r>
              <a:rPr kumimoji="1" lang="en-US" altLang="zh-TW" sz="2000" dirty="0"/>
              <a:t>('</a:t>
            </a:r>
            <a:r>
              <a:rPr kumimoji="1" lang="en-US" altLang="zh-TW" sz="2000" dirty="0" err="1"/>
              <a:t>bert</a:t>
            </a:r>
            <a:r>
              <a:rPr kumimoji="1" lang="en-US" altLang="zh-TW" sz="2000" dirty="0"/>
              <a:t>-base-cased') will create an instance of the BERT base model (cased).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2849031" y="6415560"/>
            <a:ext cx="6493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zh-TW" sz="1600" dirty="0"/>
              <a:t>https://</a:t>
            </a:r>
            <a:r>
              <a:rPr kumimoji="1" lang="en-GB" altLang="zh-TW" sz="1600" dirty="0" err="1"/>
              <a:t>huggingface.co</a:t>
            </a:r>
            <a:r>
              <a:rPr kumimoji="1" lang="en-GB" altLang="zh-TW" sz="1600" dirty="0"/>
              <a:t>/transformers/v3.0.2/</a:t>
            </a:r>
            <a:r>
              <a:rPr kumimoji="1" lang="en-GB" altLang="zh-TW" sz="1600" dirty="0" err="1"/>
              <a:t>model_doc</a:t>
            </a:r>
            <a:r>
              <a:rPr kumimoji="1" lang="en-GB" altLang="zh-TW" sz="1600" dirty="0"/>
              <a:t>/</a:t>
            </a:r>
            <a:r>
              <a:rPr kumimoji="1" lang="en-GB" altLang="zh-TW" sz="1600" dirty="0" err="1"/>
              <a:t>auto.html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3243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C23CD3-0C84-EFA7-0435-2AC9CCAC0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Generative Models in Auto Classes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7FEFE0-16B2-E2DD-BD3E-A79CBFF8D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12</a:t>
            </a:fld>
            <a:endParaRPr lang="en-US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0DB820C0-DA73-8BE7-1591-C2732A7351D9}"/>
              </a:ext>
            </a:extLst>
          </p:cNvPr>
          <p:cNvSpPr/>
          <p:nvPr/>
        </p:nvSpPr>
        <p:spPr>
          <a:xfrm>
            <a:off x="1376039" y="2097456"/>
            <a:ext cx="3293616" cy="852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Casual Language Model</a:t>
            </a:r>
          </a:p>
          <a:p>
            <a:pPr algn="ctr"/>
            <a:r>
              <a:rPr kumimoji="1" lang="en-US" altLang="zh-TW" dirty="0"/>
              <a:t>(E.g., GPT, Llama)</a:t>
            </a:r>
            <a:endParaRPr kumimoji="1" lang="zh-TW" alt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1CEFBB06-651D-C231-F240-AC2CF8BC7454}"/>
              </a:ext>
            </a:extLst>
          </p:cNvPr>
          <p:cNvSpPr/>
          <p:nvPr/>
        </p:nvSpPr>
        <p:spPr>
          <a:xfrm>
            <a:off x="1376039" y="5102609"/>
            <a:ext cx="3293616" cy="852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Sequence to sequence Model</a:t>
            </a:r>
            <a:endParaRPr kumimoji="1" lang="zh-TW" altLang="en-US" dirty="0"/>
          </a:p>
          <a:p>
            <a:pPr algn="ctr"/>
            <a:r>
              <a:rPr kumimoji="1" lang="en-US" altLang="zh-TW" dirty="0"/>
              <a:t>(E.g., T5; Vanilla Transformers)</a:t>
            </a:r>
            <a:endParaRPr kumimoji="1" lang="zh-TW" altLang="en-US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CDC7D8BE-2BF7-70FF-424F-0643E2AFC561}"/>
              </a:ext>
            </a:extLst>
          </p:cNvPr>
          <p:cNvSpPr/>
          <p:nvPr/>
        </p:nvSpPr>
        <p:spPr>
          <a:xfrm>
            <a:off x="1376039" y="3600033"/>
            <a:ext cx="3293616" cy="852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Masked Language Model</a:t>
            </a:r>
          </a:p>
          <a:p>
            <a:pPr algn="ctr"/>
            <a:r>
              <a:rPr kumimoji="1" lang="en-US" altLang="zh-TW" dirty="0"/>
              <a:t>(E.g., BERT)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F277775-348A-05CF-4F5F-CB19E1561E29}"/>
              </a:ext>
            </a:extLst>
          </p:cNvPr>
          <p:cNvSpPr txBox="1"/>
          <p:nvPr/>
        </p:nvSpPr>
        <p:spPr>
          <a:xfrm>
            <a:off x="5104660" y="2059568"/>
            <a:ext cx="3178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AutoModelForCausalLM</a:t>
            </a:r>
            <a:r>
              <a:rPr kumimoji="1" lang="en-US" altLang="zh-TW" dirty="0"/>
              <a:t> (</a:t>
            </a:r>
            <a:r>
              <a:rPr kumimoji="1" lang="en-US" altLang="zh-TW" dirty="0">
                <a:hlinkClick r:id="rId3"/>
              </a:rPr>
              <a:t>link</a:t>
            </a:r>
            <a:r>
              <a:rPr kumimoji="1" lang="en-US" altLang="zh-TW" dirty="0"/>
              <a:t>)</a:t>
            </a:r>
          </a:p>
          <a:p>
            <a:r>
              <a:rPr kumimoji="1" lang="en-US" altLang="zh-TW" dirty="0"/>
              <a:t>GPT2LMHeadModel (</a:t>
            </a:r>
            <a:r>
              <a:rPr kumimoji="1" lang="en-US" altLang="zh-TW" dirty="0">
                <a:hlinkClick r:id="rId4"/>
              </a:rPr>
              <a:t>link</a:t>
            </a:r>
            <a:r>
              <a:rPr kumimoji="1" lang="en-US" altLang="zh-TW" dirty="0"/>
              <a:t>)</a:t>
            </a:r>
          </a:p>
          <a:p>
            <a:r>
              <a:rPr kumimoji="1" lang="en-US" altLang="zh-TW" dirty="0" err="1"/>
              <a:t>LlamaForCausalLM</a:t>
            </a:r>
            <a:r>
              <a:rPr kumimoji="1" lang="en-US" altLang="zh-TW" dirty="0"/>
              <a:t> (</a:t>
            </a:r>
            <a:r>
              <a:rPr kumimoji="1" lang="en-US" altLang="zh-TW" dirty="0">
                <a:hlinkClick r:id="rId5"/>
              </a:rPr>
              <a:t>link</a:t>
            </a:r>
            <a:r>
              <a:rPr kumimoji="1" lang="en-US" altLang="zh-TW" dirty="0"/>
              <a:t>)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951C332-BB51-DDD5-D455-584C7D837CB2}"/>
              </a:ext>
            </a:extLst>
          </p:cNvPr>
          <p:cNvSpPr txBox="1"/>
          <p:nvPr/>
        </p:nvSpPr>
        <p:spPr>
          <a:xfrm>
            <a:off x="5104660" y="3702995"/>
            <a:ext cx="3437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AutoModelForMaskedLM</a:t>
            </a:r>
            <a:r>
              <a:rPr kumimoji="1" lang="en-US" altLang="zh-TW" dirty="0"/>
              <a:t> (</a:t>
            </a:r>
            <a:r>
              <a:rPr kumimoji="1" lang="en-US" altLang="zh-TW" dirty="0">
                <a:hlinkClick r:id="rId6"/>
              </a:rPr>
              <a:t>link</a:t>
            </a:r>
            <a:r>
              <a:rPr kumimoji="1" lang="en-US" altLang="zh-TW" dirty="0"/>
              <a:t>)</a:t>
            </a:r>
          </a:p>
          <a:p>
            <a:r>
              <a:rPr kumimoji="1" lang="en-US" altLang="zh-TW" dirty="0" err="1"/>
              <a:t>BertForMaskedLM</a:t>
            </a:r>
            <a:r>
              <a:rPr kumimoji="1" lang="en-US" altLang="zh-TW" dirty="0"/>
              <a:t> (</a:t>
            </a:r>
            <a:r>
              <a:rPr kumimoji="1" lang="en-US" altLang="zh-TW" dirty="0">
                <a:hlinkClick r:id="rId7"/>
              </a:rPr>
              <a:t>link</a:t>
            </a:r>
            <a:r>
              <a:rPr kumimoji="1" lang="en-US" altLang="zh-TW" dirty="0"/>
              <a:t>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B5B3AA4-03AD-D2F2-F03B-7468BCA5932A}"/>
              </a:ext>
            </a:extLst>
          </p:cNvPr>
          <p:cNvSpPr txBox="1"/>
          <p:nvPr/>
        </p:nvSpPr>
        <p:spPr>
          <a:xfrm>
            <a:off x="5104660" y="5205571"/>
            <a:ext cx="3932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AutoModelForSeq2SeqLM (</a:t>
            </a:r>
            <a:r>
              <a:rPr kumimoji="1" lang="en-US" altLang="zh-TW" dirty="0">
                <a:hlinkClick r:id="rId8"/>
              </a:rPr>
              <a:t>link</a:t>
            </a:r>
            <a:r>
              <a:rPr kumimoji="1" lang="en-US" altLang="zh-TW" dirty="0"/>
              <a:t>)</a:t>
            </a:r>
          </a:p>
          <a:p>
            <a:r>
              <a:rPr kumimoji="1" lang="en-US" altLang="zh-TW" dirty="0"/>
              <a:t>T5ForConditionalGeneration (</a:t>
            </a:r>
            <a:r>
              <a:rPr kumimoji="1" lang="en-US" altLang="zh-TW" dirty="0">
                <a:hlinkClick r:id="rId9"/>
              </a:rPr>
              <a:t>link</a:t>
            </a:r>
            <a:r>
              <a:rPr kumimoji="1"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6016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Outline</a:t>
            </a:r>
            <a:endParaRPr lang="zh-TW" altLang="en-US" dirty="0">
              <a:ea typeface="新細明體"/>
              <a:cs typeface="Calibri Ligh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13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7DB3AAD-354D-FDDB-AC3F-195AFC38907F}"/>
              </a:ext>
            </a:extLst>
          </p:cNvPr>
          <p:cNvSpPr txBox="1"/>
          <p:nvPr/>
        </p:nvSpPr>
        <p:spPr>
          <a:xfrm>
            <a:off x="653143" y="1813560"/>
            <a:ext cx="8252460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GPT-2 (native </a:t>
            </a:r>
            <a:r>
              <a:rPr kumimoji="1" lang="en-US" altLang="zh-TW" sz="2400" dirty="0" err="1"/>
              <a:t>PyTorch</a:t>
            </a:r>
            <a:r>
              <a:rPr kumimoji="1" lang="en-US" altLang="zh-TW" sz="24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strike="sngStrike" dirty="0"/>
              <a:t>T5 (Hugging Face Dataset and Trainer)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FAC197-7883-1C8A-0456-734B5D918DD9}"/>
              </a:ext>
            </a:extLst>
          </p:cNvPr>
          <p:cNvSpPr/>
          <p:nvPr/>
        </p:nvSpPr>
        <p:spPr>
          <a:xfrm>
            <a:off x="905047" y="1946432"/>
            <a:ext cx="3817398" cy="4517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4020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4739B1-E376-1160-08EA-A12DBBD3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Load the Tokenizer and the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8B1C25-B32E-0EAA-B23B-F43D66EF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14</a:t>
            </a:fld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1C2414-A95A-3E75-0D58-06E62DF42455}"/>
              </a:ext>
            </a:extLst>
          </p:cNvPr>
          <p:cNvSpPr/>
          <p:nvPr/>
        </p:nvSpPr>
        <p:spPr>
          <a:xfrm>
            <a:off x="1213584" y="2558796"/>
            <a:ext cx="9764832" cy="20246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model_name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TW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TW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uer</a:t>
            </a:r>
            <a:r>
              <a:rPr lang="en" altLang="zh-TW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/gpt2-chinese-cluecorpussmall"</a:t>
            </a:r>
            <a:endParaRPr lang="en" altLang="zh-TW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tokenizer = </a:t>
            </a:r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AutoTokenizer.from_pretrained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 lvl="1"/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model_name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lvl="1"/>
            <a:r>
              <a:rPr lang="en" altLang="zh-TW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padding_side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"left”,</a:t>
            </a:r>
          </a:p>
          <a:p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tokenizer.add_special_tokens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({</a:t>
            </a:r>
            <a:r>
              <a:rPr lang="en" altLang="zh-TW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TW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eos_token</a:t>
            </a:r>
            <a:r>
              <a:rPr lang="en" altLang="zh-TW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TW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"&lt;|</a:t>
            </a:r>
            <a:r>
              <a:rPr lang="en" altLang="zh-TW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endoftext</a:t>
            </a:r>
            <a:r>
              <a:rPr lang="en" altLang="zh-TW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|&gt;"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})</a:t>
            </a:r>
          </a:p>
          <a:p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model.resize_token_embeddings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(tokenizer))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9170EAC-CA64-24FC-E0C0-D935579505F9}"/>
              </a:ext>
            </a:extLst>
          </p:cNvPr>
          <p:cNvSpPr txBox="1"/>
          <p:nvPr/>
        </p:nvSpPr>
        <p:spPr>
          <a:xfrm>
            <a:off x="653143" y="1583748"/>
            <a:ext cx="9726931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>
                <a:hlinkClick r:id="rId2"/>
              </a:rPr>
              <a:t>Hugging Face model link</a:t>
            </a:r>
            <a:endParaRPr kumimoji="1" lang="en-US" altLang="zh-TW" sz="2400" baseline="300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055978-06D2-ACB7-4860-00AC417E3D69}"/>
              </a:ext>
            </a:extLst>
          </p:cNvPr>
          <p:cNvSpPr/>
          <p:nvPr/>
        </p:nvSpPr>
        <p:spPr>
          <a:xfrm>
            <a:off x="1714500" y="3429000"/>
            <a:ext cx="2697480" cy="3086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108759B-1D47-31E2-C8D4-D5058918ABA5}"/>
              </a:ext>
            </a:extLst>
          </p:cNvPr>
          <p:cNvSpPr txBox="1"/>
          <p:nvPr/>
        </p:nvSpPr>
        <p:spPr>
          <a:xfrm>
            <a:off x="2497455" y="4766310"/>
            <a:ext cx="1360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Optional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55185457-DEFC-8033-8A95-7B22C0341BB9}"/>
              </a:ext>
            </a:extLst>
          </p:cNvPr>
          <p:cNvCxnSpPr>
            <a:cxnSpLocks/>
          </p:cNvCxnSpPr>
          <p:nvPr/>
        </p:nvCxnSpPr>
        <p:spPr>
          <a:xfrm flipV="1">
            <a:off x="3177540" y="3760470"/>
            <a:ext cx="0" cy="100584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396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Left padding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6" name="內容版面配置區 4"/>
          <p:cNvGraphicFramePr>
            <a:graphicFrameLocks noGrp="1"/>
          </p:cNvGraphicFramePr>
          <p:nvPr/>
        </p:nvGraphicFramePr>
        <p:xfrm>
          <a:off x="1209328" y="2498351"/>
          <a:ext cx="91144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41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70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3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56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56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&lt;s&gt;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Recite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the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first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law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&lt;s&gt;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cs typeface="+mn-lt"/>
                        </a:rPr>
                        <a:t>&lt;pad&gt;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cs typeface="+mn-lt"/>
                        </a:rPr>
                        <a:t>&lt;pad&gt;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&lt;pad&gt;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TW" altLang="en-US" sz="140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&lt;s&gt;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How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are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you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&lt;s&gt;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cs typeface="+mn-lt"/>
                        </a:rPr>
                        <a:t>&lt;pad&gt;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&lt;pad&gt;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&lt;pad&gt;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&lt;pad&gt;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TW" altLang="en-US" sz="140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&lt;s&gt;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Who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is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the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1400" b="0" i="0" u="none" strike="noStrike" noProof="0" dirty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first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president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1400">
                          <a:solidFill>
                            <a:schemeClr val="tx1"/>
                          </a:solidFill>
                          <a:cs typeface="+mn-lt"/>
                        </a:rPr>
                        <a:t>of 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1400">
                          <a:solidFill>
                            <a:schemeClr val="tx1"/>
                          </a:solidFill>
                          <a:cs typeface="+mn-lt"/>
                        </a:rPr>
                        <a:t>U.S.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&lt;s&gt;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TW" sz="1400" b="0" i="0" u="none" strike="noStrike" noProof="0">
                        <a:solidFill>
                          <a:schemeClr val="tx1"/>
                        </a:solidFill>
                        <a:ea typeface="PMingLiU"/>
                        <a:cs typeface="+mn-lt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內容版面配置區 4"/>
          <p:cNvGraphicFramePr/>
          <p:nvPr/>
        </p:nvGraphicFramePr>
        <p:xfrm>
          <a:off x="1195651" y="4506905"/>
          <a:ext cx="914527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85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8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00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85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854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1400" b="0" i="0" u="none" strike="noStrike" noProof="0" dirty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&lt;pad&gt;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&lt;pad&gt;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&lt;pad&gt;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</a:t>
                      </a:r>
                      <a:r>
                        <a:rPr lang="en-US" altLang="zh-TW" sz="1400" b="0" i="0" u="none" strike="noStrike" noProof="0" dirty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s</a:t>
                      </a: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&gt;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Recite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the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first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law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&lt;s&gt;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TW" altLang="en-US" sz="140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1400" b="0" i="0" u="none" strike="noStrike" noProof="0" dirty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&lt;pad&gt;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&lt;pad&gt;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&lt;pad&gt;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&lt;pad&gt;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&lt;s&gt;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How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are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you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&lt;s&gt;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TW" altLang="en-US" sz="140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&lt;s&gt;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Who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is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the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1400" b="0" i="0" u="none" strike="noStrike" noProof="0" dirty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first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zh-TW" altLang="en-US" sz="1400" b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president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1400">
                          <a:solidFill>
                            <a:schemeClr val="tx1"/>
                          </a:solidFill>
                          <a:cs typeface="+mn-lt"/>
                        </a:rPr>
                        <a:t>of 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1400">
                          <a:solidFill>
                            <a:schemeClr val="tx1"/>
                          </a:solidFill>
                          <a:cs typeface="+mn-lt"/>
                        </a:rPr>
                        <a:t>U.S.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400" b="0" i="0" u="none" strike="noStrike" noProof="0">
                          <a:solidFill>
                            <a:schemeClr val="tx1"/>
                          </a:solidFill>
                          <a:ea typeface="PMingLiU"/>
                          <a:cs typeface="+mn-lt"/>
                        </a:rPr>
                        <a:t>&lt;s&gt;</a:t>
                      </a:r>
                    </a:p>
                  </a:txBody>
                  <a:tcPr>
                    <a:solidFill>
                      <a:srgbClr val="D9F7B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TW" sz="1400" b="0" i="0" u="none" strike="noStrike" noProof="0">
                        <a:solidFill>
                          <a:schemeClr val="tx1"/>
                        </a:solidFill>
                        <a:ea typeface="PMingLiU"/>
                        <a:cs typeface="+mn-lt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箭號: 向下 6"/>
          <p:cNvSpPr/>
          <p:nvPr/>
        </p:nvSpPr>
        <p:spPr>
          <a:xfrm rot="5400000">
            <a:off x="4115068" y="4034753"/>
            <a:ext cx="411891" cy="40159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2"/>
          <p:cNvSpPr txBox="1"/>
          <p:nvPr/>
        </p:nvSpPr>
        <p:spPr>
          <a:xfrm>
            <a:off x="4626218" y="4024590"/>
            <a:ext cx="1820626" cy="42960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>
                <a:solidFill>
                  <a:srgbClr val="C00000"/>
                </a:solidFill>
                <a:ea typeface="PMingLiU"/>
                <a:cs typeface="Calibri" panose="020F0502020204030204"/>
              </a:rPr>
              <a:t>Left-padding</a:t>
            </a:r>
            <a:endParaRPr lang="zh-TW" altLang="en-US" sz="2400">
              <a:solidFill>
                <a:srgbClr val="C00000"/>
              </a:solidFill>
            </a:endParaRPr>
          </a:p>
        </p:txBody>
      </p:sp>
      <p:sp>
        <p:nvSpPr>
          <p:cNvPr id="10" name="箭號: 向下 7"/>
          <p:cNvSpPr/>
          <p:nvPr/>
        </p:nvSpPr>
        <p:spPr>
          <a:xfrm>
            <a:off x="9691893" y="2046510"/>
            <a:ext cx="411891" cy="40159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箭號: 向下 10"/>
          <p:cNvSpPr/>
          <p:nvPr/>
        </p:nvSpPr>
        <p:spPr>
          <a:xfrm>
            <a:off x="9697518" y="4087997"/>
            <a:ext cx="411891" cy="40159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內容版面配置區 2"/>
          <p:cNvSpPr txBox="1"/>
          <p:nvPr/>
        </p:nvSpPr>
        <p:spPr>
          <a:xfrm>
            <a:off x="1209487" y="1571376"/>
            <a:ext cx="9984289" cy="675198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>
                <a:solidFill>
                  <a:schemeClr val="tx1"/>
                </a:solidFill>
                <a:ea typeface="PMingLiU"/>
                <a:cs typeface="+mn-lt"/>
              </a:rPr>
              <a:t>In text generation, sometimes we set </a:t>
            </a:r>
            <a:r>
              <a:rPr lang="en-US" altLang="zh-TW" dirty="0" err="1">
                <a:solidFill>
                  <a:srgbClr val="FF0000"/>
                </a:solidFill>
                <a:latin typeface="Comic Sans MS"/>
                <a:ea typeface="PMingLiU"/>
                <a:cs typeface="+mn-lt"/>
              </a:rPr>
              <a:t>padding_side</a:t>
            </a:r>
            <a:r>
              <a:rPr lang="en-US" altLang="zh-TW" dirty="0">
                <a:solidFill>
                  <a:srgbClr val="FF0000"/>
                </a:solidFill>
                <a:latin typeface="Comic Sans MS"/>
                <a:ea typeface="PMingLiU"/>
                <a:cs typeface="+mn-lt"/>
              </a:rPr>
              <a:t>=’left'</a:t>
            </a:r>
            <a:r>
              <a:rPr lang="en-US" altLang="zh-TW" dirty="0">
                <a:solidFill>
                  <a:schemeClr val="tx1"/>
                </a:solidFill>
                <a:ea typeface="PMingLiU"/>
                <a:cs typeface="+mn-lt"/>
              </a:rPr>
              <a:t>, when loading tokenizer.</a:t>
            </a:r>
          </a:p>
          <a:p>
            <a:pPr marL="0" indent="0">
              <a:buNone/>
            </a:pPr>
            <a:endParaRPr lang="en-US" altLang="zh-TW" sz="1800" dirty="0">
              <a:solidFill>
                <a:schemeClr val="tx1"/>
              </a:solidFill>
              <a:ea typeface="PMingLiU"/>
              <a:cs typeface="+mn-lt"/>
            </a:endParaRPr>
          </a:p>
        </p:txBody>
      </p:sp>
      <p:sp>
        <p:nvSpPr>
          <p:cNvPr id="13" name="內容版面配置區 2"/>
          <p:cNvSpPr txBox="1"/>
          <p:nvPr/>
        </p:nvSpPr>
        <p:spPr>
          <a:xfrm>
            <a:off x="7107555" y="4059555"/>
            <a:ext cx="3095625" cy="42989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sz="1600">
                <a:solidFill>
                  <a:schemeClr val="tx1"/>
                </a:solidFill>
                <a:ea typeface="+mn-lt"/>
                <a:cs typeface="+mn-lt"/>
              </a:rPr>
              <a:t>Aligning the</a:t>
            </a:r>
            <a:r>
              <a:rPr lang="zh-TW" altLang="en-US" sz="160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en-US" altLang="en-US" sz="1600">
                <a:solidFill>
                  <a:schemeClr val="tx1"/>
                </a:solidFill>
                <a:ea typeface="+mn-lt"/>
                <a:cs typeface="+mn-lt"/>
              </a:rPr>
              <a:t>new</a:t>
            </a:r>
            <a:r>
              <a:rPr lang="zh-TW" sz="1600">
                <a:solidFill>
                  <a:schemeClr val="tx1"/>
                </a:solidFill>
                <a:ea typeface="+mn-lt"/>
                <a:cs typeface="+mn-lt"/>
              </a:rPr>
              <a:t> tokens.</a:t>
            </a:r>
            <a:endParaRPr lang="zh-TW" altLang="en-US" sz="160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14" name="內容版面配置區 2"/>
          <p:cNvSpPr txBox="1"/>
          <p:nvPr/>
        </p:nvSpPr>
        <p:spPr>
          <a:xfrm>
            <a:off x="4204970" y="1904365"/>
            <a:ext cx="5602605" cy="54356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>
                <a:solidFill>
                  <a:schemeClr val="tx1"/>
                </a:solidFill>
                <a:ea typeface="+mn-lt"/>
                <a:cs typeface="+mn-lt"/>
              </a:rPr>
              <a:t>If padding is at the end of the prompt, new tokens may be generated after the padding, which is illogical.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 animBg="1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8E52CF-5DE6-14BA-4C17-CFEFAFD9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About Padding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6BB11C-8F0F-157E-D4A9-01DC29B4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46B86D7F-B69C-E449-38C4-4EE999291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100294"/>
              </p:ext>
            </p:extLst>
          </p:nvPr>
        </p:nvGraphicFramePr>
        <p:xfrm>
          <a:off x="883023" y="2270559"/>
          <a:ext cx="10425954" cy="2014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307">
                  <a:extLst>
                    <a:ext uri="{9D8B030D-6E8A-4147-A177-3AD203B41FA5}">
                      <a16:colId xmlns:a16="http://schemas.microsoft.com/office/drawing/2014/main" val="2166422960"/>
                    </a:ext>
                  </a:extLst>
                </a:gridCol>
                <a:gridCol w="4235823">
                  <a:extLst>
                    <a:ext uri="{9D8B030D-6E8A-4147-A177-3AD203B41FA5}">
                      <a16:colId xmlns:a16="http://schemas.microsoft.com/office/drawing/2014/main" val="1674033626"/>
                    </a:ext>
                  </a:extLst>
                </a:gridCol>
                <a:gridCol w="4997824">
                  <a:extLst>
                    <a:ext uri="{9D8B030D-6E8A-4147-A177-3AD203B41FA5}">
                      <a16:colId xmlns:a16="http://schemas.microsoft.com/office/drawing/2014/main" val="2373950149"/>
                    </a:ext>
                  </a:extLst>
                </a:gridCol>
              </a:tblGrid>
              <a:tr h="640123">
                <a:tc>
                  <a:txBody>
                    <a:bodyPr/>
                    <a:lstStyle/>
                    <a:p>
                      <a:endParaRPr lang="zh-TW" altLang="en-US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Fine-tuning</a:t>
                      </a:r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Test time (inference)</a:t>
                      </a:r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911825"/>
                  </a:ext>
                </a:extLst>
              </a:tr>
              <a:tr h="734323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策略一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dirty="0"/>
                        <a:t>Left padding + set [PAD] as -100 in labels </a:t>
                      </a:r>
                      <a:r>
                        <a:rPr kumimoji="1" lang="en-US" altLang="zh-TW" sz="1800" dirty="0">
                          <a:solidFill>
                            <a:srgbClr val="FF0000"/>
                          </a:solidFill>
                        </a:rPr>
                        <a:t>(this tutorial)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dirty="0"/>
                        <a:t>Left padding </a:t>
                      </a:r>
                      <a:r>
                        <a:rPr kumimoji="1" lang="en-US" altLang="zh-TW" sz="1800" dirty="0">
                          <a:solidFill>
                            <a:srgbClr val="FF0000"/>
                          </a:solidFill>
                        </a:rPr>
                        <a:t>(this tutorial)</a:t>
                      </a:r>
                      <a:endParaRPr kumimoji="1" lang="en-US" altLang="zh-TW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689106"/>
                  </a:ext>
                </a:extLst>
              </a:tr>
              <a:tr h="640123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策略二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dirty="0"/>
                        <a:t>Right padding + set [PAD] as -100 in labels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dirty="0"/>
                        <a:t>Use </a:t>
                      </a:r>
                      <a:r>
                        <a:rPr kumimoji="1" lang="en-US" altLang="zh-TW" sz="1800" dirty="0" err="1"/>
                        <a:t>test_batch_size</a:t>
                      </a:r>
                      <a:r>
                        <a:rPr kumimoji="1" lang="en-US" altLang="zh-TW" sz="1800" dirty="0"/>
                        <a:t> </a:t>
                      </a:r>
                      <a:r>
                        <a:rPr kumimoji="1" lang="en-US" altLang="zh-TW" sz="1800"/>
                        <a:t>as 1</a:t>
                      </a:r>
                      <a:endParaRPr kumimoji="1" lang="en-US" altLang="zh-TW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9802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9C27D8D4-B6F3-AC59-DB6E-6CD7A7E51430}"/>
              </a:ext>
            </a:extLst>
          </p:cNvPr>
          <p:cNvSpPr txBox="1"/>
          <p:nvPr/>
        </p:nvSpPr>
        <p:spPr>
          <a:xfrm>
            <a:off x="1232534" y="4792063"/>
            <a:ext cx="9726931" cy="1132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altLang="zh-TW" sz="2400" dirty="0">
                <a:ea typeface="Microsoft JhengHei" panose="020B0604030504040204" pitchFamily="34" charset="-120"/>
              </a:rPr>
              <a:t>Fine-tuning</a:t>
            </a:r>
            <a:r>
              <a:rPr lang="zh-TW" altLang="en-US" sz="2400" dirty="0">
                <a:ea typeface="Microsoft JhengHei" panose="020B0604030504040204" pitchFamily="34" charset="-120"/>
              </a:rPr>
              <a:t> 的策略一可搭配 </a:t>
            </a:r>
            <a:r>
              <a:rPr lang="en" altLang="zh-TW" sz="2400" dirty="0">
                <a:ea typeface="Microsoft JhengHei" panose="020B0604030504040204" pitchFamily="34" charset="-120"/>
              </a:rPr>
              <a:t>Test time </a:t>
            </a:r>
            <a:r>
              <a:rPr lang="zh-TW" altLang="en-US" sz="2400" dirty="0">
                <a:ea typeface="Microsoft JhengHei" panose="020B0604030504040204" pitchFamily="34" charset="-120"/>
              </a:rPr>
              <a:t>的任一策略</a:t>
            </a:r>
            <a:endParaRPr lang="en-US" altLang="zh-TW" sz="2400" dirty="0">
              <a:ea typeface="Microsoft JhengHei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altLang="zh-TW" sz="2400" dirty="0">
                <a:ea typeface="Microsoft JhengHei" panose="020B0604030504040204" pitchFamily="34" charset="-120"/>
              </a:rPr>
              <a:t>Fine-tuning</a:t>
            </a:r>
            <a:r>
              <a:rPr lang="zh-TW" altLang="en-US" sz="2400" dirty="0">
                <a:ea typeface="Microsoft JhengHei" panose="020B0604030504040204" pitchFamily="34" charset="-120"/>
              </a:rPr>
              <a:t> 的策略二只建議搭配 </a:t>
            </a:r>
            <a:r>
              <a:rPr lang="en" altLang="zh-TW" sz="2400" dirty="0">
                <a:ea typeface="Microsoft JhengHei" panose="020B0604030504040204" pitchFamily="34" charset="-120"/>
              </a:rPr>
              <a:t>Test time </a:t>
            </a:r>
            <a:r>
              <a:rPr lang="zh-TW" altLang="en-US" sz="2400" dirty="0">
                <a:ea typeface="Microsoft JhengHei" panose="020B0604030504040204" pitchFamily="34" charset="-120"/>
              </a:rPr>
              <a:t>的策略二</a:t>
            </a:r>
          </a:p>
        </p:txBody>
      </p:sp>
    </p:spTree>
    <p:extLst>
      <p:ext uri="{BB962C8B-B14F-4D97-AF65-F5344CB8AC3E}">
        <p14:creationId xmlns:p14="http://schemas.microsoft.com/office/powerpoint/2010/main" val="1142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9DB083-263B-30D2-D3D2-603A1AE60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Set [PAD] as -100 in labels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A21645-89C2-F35B-32D2-C1C0F27E9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17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ADAEE60-F41D-9741-5BA1-8B3F373D390F}"/>
              </a:ext>
            </a:extLst>
          </p:cNvPr>
          <p:cNvSpPr txBox="1"/>
          <p:nvPr/>
        </p:nvSpPr>
        <p:spPr>
          <a:xfrm>
            <a:off x="688521" y="2697880"/>
            <a:ext cx="10814957" cy="25340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" altLang="zh-TW" dirty="0"/>
              <a:t>r"""</a:t>
            </a:r>
          </a:p>
          <a:p>
            <a:pPr>
              <a:lnSpc>
                <a:spcPct val="150000"/>
              </a:lnSpc>
            </a:pPr>
            <a:r>
              <a:rPr kumimoji="1" lang="en" altLang="zh-TW" dirty="0"/>
              <a:t>labels (`</a:t>
            </a:r>
            <a:r>
              <a:rPr kumimoji="1" lang="en" altLang="zh-TW" dirty="0" err="1"/>
              <a:t>torch.LongTensor</a:t>
            </a:r>
            <a:r>
              <a:rPr kumimoji="1" lang="en" altLang="zh-TW" dirty="0"/>
              <a:t>` of shape `(</a:t>
            </a:r>
            <a:r>
              <a:rPr kumimoji="1" lang="en" altLang="zh-TW" dirty="0" err="1"/>
              <a:t>batch_size</a:t>
            </a:r>
            <a:r>
              <a:rPr kumimoji="1" lang="en" altLang="zh-TW" dirty="0"/>
              <a:t>, </a:t>
            </a:r>
            <a:r>
              <a:rPr kumimoji="1" lang="en" altLang="zh-TW" dirty="0" err="1"/>
              <a:t>sequence_length</a:t>
            </a:r>
            <a:r>
              <a:rPr kumimoji="1" lang="en" altLang="zh-TW" dirty="0"/>
              <a:t>)`, *optional*):</a:t>
            </a:r>
          </a:p>
          <a:p>
            <a:pPr>
              <a:lnSpc>
                <a:spcPct val="150000"/>
              </a:lnSpc>
            </a:pPr>
            <a:r>
              <a:rPr kumimoji="1" lang="en" altLang="zh-TW" dirty="0"/>
              <a:t>        Labels for language modeling. Note that the labels **are shifted** inside the model, i.e. you can set</a:t>
            </a:r>
          </a:p>
          <a:p>
            <a:pPr>
              <a:lnSpc>
                <a:spcPct val="150000"/>
              </a:lnSpc>
            </a:pPr>
            <a:r>
              <a:rPr kumimoji="1" lang="en" altLang="zh-TW" dirty="0"/>
              <a:t>        `labels = </a:t>
            </a:r>
            <a:r>
              <a:rPr kumimoji="1" lang="en" altLang="zh-TW" dirty="0" err="1"/>
              <a:t>input_ids</a:t>
            </a:r>
            <a:r>
              <a:rPr kumimoji="1" lang="en" altLang="zh-TW" dirty="0"/>
              <a:t>` Indices are selected in `[-100, 0, ..., </a:t>
            </a:r>
            <a:r>
              <a:rPr kumimoji="1" lang="en" altLang="zh-TW" dirty="0" err="1"/>
              <a:t>config.vocab_size</a:t>
            </a:r>
            <a:r>
              <a:rPr kumimoji="1" lang="en" altLang="zh-TW" dirty="0"/>
              <a:t>]` </a:t>
            </a:r>
            <a:r>
              <a:rPr kumimoji="1" lang="en" altLang="zh-TW" dirty="0">
                <a:solidFill>
                  <a:srgbClr val="FF0000"/>
                </a:solidFill>
              </a:rPr>
              <a:t>All labels set to `-100`</a:t>
            </a:r>
          </a:p>
          <a:p>
            <a:pPr>
              <a:lnSpc>
                <a:spcPct val="150000"/>
              </a:lnSpc>
            </a:pPr>
            <a:r>
              <a:rPr kumimoji="1" lang="en" altLang="zh-TW" dirty="0">
                <a:solidFill>
                  <a:srgbClr val="FF0000"/>
                </a:solidFill>
              </a:rPr>
              <a:t>        are ignored (masked), </a:t>
            </a:r>
            <a:r>
              <a:rPr kumimoji="1" lang="en" altLang="zh-TW" dirty="0"/>
              <a:t>the loss is only computed for labels in `[0, ..., </a:t>
            </a:r>
            <a:r>
              <a:rPr kumimoji="1" lang="en" altLang="zh-TW" dirty="0" err="1"/>
              <a:t>config.vocab_size</a:t>
            </a:r>
            <a:r>
              <a:rPr kumimoji="1" lang="en" altLang="zh-TW" dirty="0"/>
              <a:t>]`</a:t>
            </a:r>
          </a:p>
          <a:p>
            <a:pPr>
              <a:lnSpc>
                <a:spcPct val="150000"/>
              </a:lnSpc>
            </a:pPr>
            <a:r>
              <a:rPr kumimoji="1" lang="en" altLang="zh-TW" dirty="0"/>
              <a:t> """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826344A-D2EA-F976-2E74-C9CEF921E934}"/>
              </a:ext>
            </a:extLst>
          </p:cNvPr>
          <p:cNvSpPr txBox="1"/>
          <p:nvPr/>
        </p:nvSpPr>
        <p:spPr>
          <a:xfrm>
            <a:off x="653142" y="1793512"/>
            <a:ext cx="9687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github.com</a:t>
            </a:r>
            <a:r>
              <a:rPr kumimoji="1" lang="en" altLang="zh-TW" sz="1400" dirty="0"/>
              <a:t>/</a:t>
            </a:r>
            <a:r>
              <a:rPr kumimoji="1" lang="en" altLang="zh-TW" sz="1400" dirty="0" err="1"/>
              <a:t>huggingface</a:t>
            </a:r>
            <a:r>
              <a:rPr kumimoji="1" lang="en" altLang="zh-TW" sz="1400" dirty="0"/>
              <a:t>/transformers/blob/main/</a:t>
            </a:r>
            <a:r>
              <a:rPr kumimoji="1" lang="en" altLang="zh-TW" sz="1400" dirty="0" err="1"/>
              <a:t>src</a:t>
            </a:r>
            <a:r>
              <a:rPr kumimoji="1" lang="en" altLang="zh-TW" sz="1400" dirty="0"/>
              <a:t>/transformers/models/gpt2/modeling_gpt2.py#L1264-L1267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56583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4739B1-E376-1160-08EA-A12DBBD3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Load the Tokenizer and the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8B1C25-B32E-0EAA-B23B-F43D66EF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18</a:t>
            </a:fld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1C2414-A95A-3E75-0D58-06E62DF42455}"/>
              </a:ext>
            </a:extLst>
          </p:cNvPr>
          <p:cNvSpPr/>
          <p:nvPr/>
        </p:nvSpPr>
        <p:spPr>
          <a:xfrm>
            <a:off x="1213584" y="2558796"/>
            <a:ext cx="9764832" cy="20246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model_name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TW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TW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uer</a:t>
            </a:r>
            <a:r>
              <a:rPr lang="en" altLang="zh-TW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/gpt2-chinese-cluecorpussmall"</a:t>
            </a:r>
            <a:endParaRPr lang="en" altLang="zh-TW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tokenizer = </a:t>
            </a:r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AutoTokenizer.from_pretrained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 lvl="1"/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model_name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lvl="1"/>
            <a:r>
              <a:rPr lang="en" altLang="zh-TW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padding_side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"left”,</a:t>
            </a:r>
          </a:p>
          <a:p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tokenizer.add_special_tokens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({</a:t>
            </a:r>
            <a:r>
              <a:rPr lang="en" altLang="zh-TW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TW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eos_token</a:t>
            </a:r>
            <a:r>
              <a:rPr lang="en" altLang="zh-TW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TW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"&lt;|</a:t>
            </a:r>
            <a:r>
              <a:rPr lang="en" altLang="zh-TW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endoftext</a:t>
            </a:r>
            <a:r>
              <a:rPr lang="en" altLang="zh-TW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|&gt;"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})</a:t>
            </a:r>
          </a:p>
          <a:p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model.resize_token_embeddings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(tokenizer))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9170EAC-CA64-24FC-E0C0-D935579505F9}"/>
              </a:ext>
            </a:extLst>
          </p:cNvPr>
          <p:cNvSpPr txBox="1"/>
          <p:nvPr/>
        </p:nvSpPr>
        <p:spPr>
          <a:xfrm>
            <a:off x="1232533" y="1588907"/>
            <a:ext cx="9726931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>
                <a:hlinkClick r:id="rId2"/>
              </a:rPr>
              <a:t>Hugging Face model link</a:t>
            </a:r>
            <a:endParaRPr kumimoji="1" lang="en-US" altLang="zh-TW" sz="2400" baseline="30000" dirty="0"/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endParaRPr kumimoji="1" lang="en-US" altLang="zh-TW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055978-06D2-ACB7-4860-00AC417E3D69}"/>
              </a:ext>
            </a:extLst>
          </p:cNvPr>
          <p:cNvSpPr/>
          <p:nvPr/>
        </p:nvSpPr>
        <p:spPr>
          <a:xfrm>
            <a:off x="1232532" y="4251960"/>
            <a:ext cx="6276975" cy="3086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108759B-1D47-31E2-C8D4-D5058918ABA5}"/>
              </a:ext>
            </a:extLst>
          </p:cNvPr>
          <p:cNvSpPr txBox="1"/>
          <p:nvPr/>
        </p:nvSpPr>
        <p:spPr>
          <a:xfrm>
            <a:off x="2116554" y="4786045"/>
            <a:ext cx="6646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Increasing the size will add newly initialized vectors at the end. Reducing the size will remove vectors from the end. (</a:t>
            </a:r>
            <a:r>
              <a:rPr kumimoji="1" lang="en-US" altLang="zh-TW" dirty="0">
                <a:solidFill>
                  <a:srgbClr val="FF0000"/>
                </a:solidFill>
                <a:hlinkClick r:id="rId3"/>
              </a:rPr>
              <a:t>link</a:t>
            </a:r>
            <a:r>
              <a:rPr kumimoji="1" lang="en-US" altLang="zh-TW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8" name="肘形接點 7">
            <a:extLst>
              <a:ext uri="{FF2B5EF4-FFF2-40B4-BE49-F238E27FC236}">
                <a16:creationId xmlns:a16="http://schemas.microsoft.com/office/drawing/2014/main" id="{F1D094C5-0845-EB31-6D32-FCDDE7BC86AF}"/>
              </a:ext>
            </a:extLst>
          </p:cNvPr>
          <p:cNvCxnSpPr>
            <a:cxnSpLocks/>
          </p:cNvCxnSpPr>
          <p:nvPr/>
        </p:nvCxnSpPr>
        <p:spPr>
          <a:xfrm rot="10800000">
            <a:off x="1213584" y="4406268"/>
            <a:ext cx="866676" cy="702943"/>
          </a:xfrm>
          <a:prstGeom prst="bentConnector3">
            <a:avLst>
              <a:gd name="adj1" fmla="val 15155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979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4739B1-E376-1160-08EA-A12DBBD3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resize_token_embeddings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8B1C25-B32E-0EAA-B23B-F43D66EF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19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9170EAC-CA64-24FC-E0C0-D935579505F9}"/>
              </a:ext>
            </a:extLst>
          </p:cNvPr>
          <p:cNvSpPr txBox="1"/>
          <p:nvPr/>
        </p:nvSpPr>
        <p:spPr>
          <a:xfrm>
            <a:off x="653143" y="1696483"/>
            <a:ext cx="10037717" cy="2447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新增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embedding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的情況：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742950" lvl="1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zh-TW" altLang="en-US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新增的 </a:t>
            </a:r>
            <a:r>
              <a:rPr kumimoji="1" lang="en-US" altLang="zh-TW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embedding </a:t>
            </a:r>
            <a:r>
              <a:rPr kumimoji="1" lang="zh-TW" altLang="en-US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還沒有被訓練過</a:t>
            </a:r>
            <a:endParaRPr kumimoji="1" lang="en-US" altLang="zh-TW" sz="2400" baseline="30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742950" lvl="1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zh-TW" altLang="en-US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透過 </a:t>
            </a:r>
            <a:r>
              <a:rPr kumimoji="1" lang="en-US" altLang="zh-TW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torch </a:t>
            </a:r>
            <a:r>
              <a:rPr kumimoji="1" lang="zh-TW" altLang="en-US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 </a:t>
            </a:r>
            <a:r>
              <a:rPr kumimoji="1" lang="en-US" altLang="zh-TW" sz="2400" baseline="300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nn.Embedding</a:t>
            </a:r>
            <a:r>
              <a:rPr kumimoji="1" lang="en-US" altLang="zh-TW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來新增 </a:t>
            </a:r>
            <a:r>
              <a:rPr kumimoji="1" lang="en-US" altLang="zh-TW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 </a:t>
            </a:r>
            <a:r>
              <a:rPr kumimoji="1" lang="zh-TW" altLang="en-US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的向量</a:t>
            </a:r>
            <a:endParaRPr kumimoji="1" lang="en-US" altLang="zh-TW" sz="2400" baseline="30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742950" lvl="1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https://github.com/huggingface/transformers/blob/v4.51.3/src/transformers/modeling_utils.py#L2802-L2807</a:t>
            </a:r>
            <a:endParaRPr kumimoji="1" lang="en-US" altLang="zh-TW" sz="2400" baseline="30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742950" lvl="1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torch </a:t>
            </a:r>
            <a:r>
              <a:rPr kumimoji="1" lang="zh-TW" altLang="en-US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 </a:t>
            </a:r>
            <a:r>
              <a:rPr kumimoji="1" lang="en-US" altLang="zh-TW" sz="2400" baseline="300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nn.Embedding</a:t>
            </a:r>
            <a:r>
              <a:rPr kumimoji="1" lang="zh-TW" altLang="en-US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的初始化範圍是 </a:t>
            </a:r>
            <a:r>
              <a:rPr kumimoji="1" lang="en-US" altLang="zh-TW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normal distribution 0</a:t>
            </a:r>
            <a:r>
              <a:rPr kumimoji="1" lang="zh-TW" altLang="en-US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到</a:t>
            </a:r>
            <a:r>
              <a:rPr kumimoji="1" lang="en-US" altLang="zh-TW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kumimoji="1" lang="zh-TW" altLang="en-US" sz="24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之間</a:t>
            </a:r>
            <a:endParaRPr kumimoji="1" lang="en-US" altLang="zh-TW" sz="2400" baseline="30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7856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36515-3767-0A4E-93DE-2F2307146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Let’s try it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E0F5C3-0F04-E5FC-8A45-FCE9CD76D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sz="2400" dirty="0">
                <a:ea typeface="Microsoft JhengHei" panose="020B0604030504040204" pitchFamily="34" charset="-120"/>
              </a:rPr>
              <a:t>1.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載入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tokenizer</a:t>
            </a:r>
          </a:p>
          <a:p>
            <a:r>
              <a:rPr kumimoji="1" lang="en-US" altLang="zh-TW" sz="2400" dirty="0">
                <a:ea typeface="Microsoft JhengHei" panose="020B0604030504040204" pitchFamily="34" charset="-120"/>
              </a:rPr>
              <a:t>2.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測試句子：「今天天氣真好」，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print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出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tokenized tokens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3D89E6-8396-E3DC-2220-EAB1209C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572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8EDF4F5-6899-0B96-F8B1-E7911C32B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/>
          <a:lstStyle/>
          <a:p>
            <a:r>
              <a:rPr lang="en-US" dirty="0"/>
              <a:t>Create the </a:t>
            </a:r>
            <a:r>
              <a:rPr lang="en-US" dirty="0" err="1"/>
              <a:t>PyTorch</a:t>
            </a:r>
            <a:r>
              <a:rPr lang="en-US" dirty="0"/>
              <a:t> Dataset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54A677-2CC3-F269-3A56-AA5B2446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113E31D-E2AB-40D1-8B51-AFA5AFEF393A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22E1A8A-3A4F-0204-0364-BC52977FF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058" y="341150"/>
            <a:ext cx="7049922" cy="553650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4E785BB-FB12-7321-B95D-6DB4B780853D}"/>
              </a:ext>
            </a:extLst>
          </p:cNvPr>
          <p:cNvSpPr/>
          <p:nvPr/>
        </p:nvSpPr>
        <p:spPr>
          <a:xfrm>
            <a:off x="5557421" y="1269507"/>
            <a:ext cx="2689934" cy="20684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" name="肘形接點 8">
            <a:extLst>
              <a:ext uri="{FF2B5EF4-FFF2-40B4-BE49-F238E27FC236}">
                <a16:creationId xmlns:a16="http://schemas.microsoft.com/office/drawing/2014/main" id="{E6ECE8E5-0605-0D74-ABAF-39FC5F43F7C4}"/>
              </a:ext>
            </a:extLst>
          </p:cNvPr>
          <p:cNvCxnSpPr>
            <a:cxnSpLocks/>
          </p:cNvCxnSpPr>
          <p:nvPr/>
        </p:nvCxnSpPr>
        <p:spPr>
          <a:xfrm rot="10800000">
            <a:off x="8247358" y="2303758"/>
            <a:ext cx="3256623" cy="1833237"/>
          </a:xfrm>
          <a:prstGeom prst="bentConnector3">
            <a:avLst>
              <a:gd name="adj1" fmla="val -15631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8E92A0F-3463-CD5E-EAD7-BAA95CF16A72}"/>
              </a:ext>
            </a:extLst>
          </p:cNvPr>
          <p:cNvSpPr txBox="1"/>
          <p:nvPr/>
        </p:nvSpPr>
        <p:spPr>
          <a:xfrm>
            <a:off x="8247355" y="1980589"/>
            <a:ext cx="3861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To prevent out-of-vocabulary tokens from being transformed into [UNK]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16595DA-CD37-236D-0E30-59E51CA3A101}"/>
              </a:ext>
            </a:extLst>
          </p:cNvPr>
          <p:cNvSpPr txBox="1"/>
          <p:nvPr/>
        </p:nvSpPr>
        <p:spPr>
          <a:xfrm>
            <a:off x="227861" y="3704390"/>
            <a:ext cx="36590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solidFill>
                  <a:schemeClr val="bg1"/>
                </a:solidFill>
              </a:rPr>
              <a:t>You can use the Hugging Face dataset without building a </a:t>
            </a:r>
            <a:r>
              <a:rPr kumimoji="1" lang="en-US" altLang="zh-TW" sz="2000" dirty="0" err="1">
                <a:solidFill>
                  <a:schemeClr val="bg1"/>
                </a:solidFill>
              </a:rPr>
              <a:t>PyTorch</a:t>
            </a:r>
            <a:r>
              <a:rPr kumimoji="1" lang="en-US" altLang="zh-TW" sz="2000" dirty="0">
                <a:solidFill>
                  <a:schemeClr val="bg1"/>
                </a:solidFill>
              </a:rPr>
              <a:t> dataset class.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solidFill>
                  <a:schemeClr val="bg1"/>
                </a:solidFill>
              </a:rPr>
              <a:t>However, language generation is complicated. We suggest building your first code with native </a:t>
            </a:r>
            <a:r>
              <a:rPr kumimoji="1" lang="en-US" altLang="zh-TW" sz="2000" dirty="0" err="1">
                <a:solidFill>
                  <a:schemeClr val="bg1"/>
                </a:solidFill>
              </a:rPr>
              <a:t>PyTorch</a:t>
            </a:r>
            <a:r>
              <a:rPr kumimoji="1" lang="en-US" altLang="zh-TW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C12BE2-5A4B-17BA-DD5A-3B5159DE9146}"/>
              </a:ext>
            </a:extLst>
          </p:cNvPr>
          <p:cNvSpPr/>
          <p:nvPr/>
        </p:nvSpPr>
        <p:spPr>
          <a:xfrm>
            <a:off x="5190904" y="6123851"/>
            <a:ext cx="4192636" cy="5471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train_set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LCSTSDataset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raw_train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val_set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LCSTSDataset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raw_val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97A8D83-CADB-54E0-589C-BC44B10D899D}"/>
              </a:ext>
            </a:extLst>
          </p:cNvPr>
          <p:cNvSpPr txBox="1"/>
          <p:nvPr/>
        </p:nvSpPr>
        <p:spPr>
          <a:xfrm>
            <a:off x="4598633" y="6206242"/>
            <a:ext cx="798991" cy="382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Run: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753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/>
      <p:bldP spid="19" grpId="0" animBg="1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000" dirty="0"/>
              <a:t>Create the </a:t>
            </a:r>
            <a:r>
              <a:rPr kumimoji="1" lang="en-US" altLang="zh-TW" sz="4000" dirty="0" err="1"/>
              <a:t>PyTorch</a:t>
            </a:r>
            <a:r>
              <a:rPr kumimoji="1" lang="en-US" altLang="zh-TW" sz="4000" dirty="0"/>
              <a:t> </a:t>
            </a:r>
            <a:r>
              <a:rPr kumimoji="1" lang="en-US" altLang="zh-TW" sz="4000" dirty="0" err="1"/>
              <a:t>DataLoader</a:t>
            </a:r>
            <a:r>
              <a:rPr kumimoji="1" lang="en-US" altLang="zh-TW" sz="4000" dirty="0"/>
              <a:t> for Data Batching</a:t>
            </a:r>
            <a:endParaRPr kumimoji="1"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22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2D8E380-E8CE-753D-2F22-738A69BA26BE}"/>
              </a:ext>
            </a:extLst>
          </p:cNvPr>
          <p:cNvSpPr txBox="1"/>
          <p:nvPr/>
        </p:nvSpPr>
        <p:spPr>
          <a:xfrm>
            <a:off x="1232534" y="1944013"/>
            <a:ext cx="9726931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zh-TW" sz="2400" dirty="0"/>
              <a:t>Input data for training (source + summary)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zh-TW" sz="2400" dirty="0"/>
              <a:t>Labels (auto-regressive; thus, basically </a:t>
            </a:r>
            <a:r>
              <a:rPr kumimoji="1" lang="en-US" altLang="zh-TW" sz="2400" dirty="0" err="1"/>
              <a:t>input_ids</a:t>
            </a:r>
            <a:r>
              <a:rPr kumimoji="1" lang="en-US" altLang="zh-TW" sz="2400" dirty="0"/>
              <a:t> themselves)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zh-TW" sz="2400" dirty="0"/>
              <a:t>Input data for predictions (source only)</a:t>
            </a:r>
          </a:p>
        </p:txBody>
      </p:sp>
    </p:spTree>
    <p:extLst>
      <p:ext uri="{BB962C8B-B14F-4D97-AF65-F5344CB8AC3E}">
        <p14:creationId xmlns:p14="http://schemas.microsoft.com/office/powerpoint/2010/main" val="2660211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5A96A69-A3D2-55EF-C7E5-77DAF38F0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040" y="495729"/>
            <a:ext cx="8674139" cy="6006183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7D8E2B-B7D6-F6EA-9F25-AEE8AFCFF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A52764-1ECF-264D-CF16-991E5AF3A8E5}"/>
              </a:ext>
            </a:extLst>
          </p:cNvPr>
          <p:cNvSpPr/>
          <p:nvPr/>
        </p:nvSpPr>
        <p:spPr>
          <a:xfrm>
            <a:off x="4239187" y="762393"/>
            <a:ext cx="6679824" cy="2161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BA3159-741F-7A87-14DB-5F13AC024BE9}"/>
              </a:ext>
            </a:extLst>
          </p:cNvPr>
          <p:cNvSpPr/>
          <p:nvPr/>
        </p:nvSpPr>
        <p:spPr>
          <a:xfrm>
            <a:off x="4239187" y="3125028"/>
            <a:ext cx="7065307" cy="13646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25C78D-21EE-8CAF-06D6-09D954598D4E}"/>
              </a:ext>
            </a:extLst>
          </p:cNvPr>
          <p:cNvSpPr/>
          <p:nvPr/>
        </p:nvSpPr>
        <p:spPr>
          <a:xfrm>
            <a:off x="4239187" y="4646898"/>
            <a:ext cx="7065307" cy="1574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0C556074-A067-3C83-B779-7F2767ADF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>
            <a:noAutofit/>
          </a:bodyPr>
          <a:lstStyle/>
          <a:p>
            <a:r>
              <a:rPr kumimoji="1" lang="en-US" altLang="zh-TW" sz="4000" dirty="0"/>
              <a:t>Overview</a:t>
            </a:r>
            <a:endParaRPr kumimoji="1" lang="zh-TW" altLang="en-US" sz="4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9FF9211-8AE6-5438-6269-0F6F4F1342AE}"/>
              </a:ext>
            </a:extLst>
          </p:cNvPr>
          <p:cNvSpPr txBox="1"/>
          <p:nvPr/>
        </p:nvSpPr>
        <p:spPr>
          <a:xfrm>
            <a:off x="3864562" y="1656168"/>
            <a:ext cx="41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1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06F1D07-789C-59F4-D7FE-6236618B7CB3}"/>
              </a:ext>
            </a:extLst>
          </p:cNvPr>
          <p:cNvSpPr txBox="1"/>
          <p:nvPr/>
        </p:nvSpPr>
        <p:spPr>
          <a:xfrm>
            <a:off x="3864562" y="3576513"/>
            <a:ext cx="41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598DF5A-BA7E-B5B2-1CA9-B60F3D00B8DD}"/>
              </a:ext>
            </a:extLst>
          </p:cNvPr>
          <p:cNvSpPr txBox="1"/>
          <p:nvPr/>
        </p:nvSpPr>
        <p:spPr>
          <a:xfrm>
            <a:off x="3864562" y="5203368"/>
            <a:ext cx="41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3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77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/>
      <p:bldP spid="11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000" dirty="0"/>
              <a:t>Create the </a:t>
            </a:r>
            <a:r>
              <a:rPr kumimoji="1" lang="en-US" altLang="zh-TW" sz="4000" dirty="0" err="1"/>
              <a:t>PyTorch</a:t>
            </a:r>
            <a:r>
              <a:rPr kumimoji="1" lang="en-US" altLang="zh-TW" sz="4000" dirty="0"/>
              <a:t> </a:t>
            </a:r>
            <a:r>
              <a:rPr kumimoji="1" lang="en-US" altLang="zh-TW" sz="4000" dirty="0" err="1"/>
              <a:t>DataLoader</a:t>
            </a:r>
            <a:r>
              <a:rPr kumimoji="1" lang="en-US" altLang="zh-TW" sz="4000" dirty="0"/>
              <a:t> for Data Batching: 1. Input Data for Training</a:t>
            </a:r>
            <a:endParaRPr kumimoji="1"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24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43A86D3-30F9-9575-8BD3-A5A3531C7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759" y="1858054"/>
            <a:ext cx="8182182" cy="3186436"/>
          </a:xfrm>
          <a:prstGeom prst="rect">
            <a:avLst/>
          </a:prstGeom>
        </p:spPr>
      </p:pic>
      <p:sp>
        <p:nvSpPr>
          <p:cNvPr id="9" name="圓角矩形 8">
            <a:extLst>
              <a:ext uri="{FF2B5EF4-FFF2-40B4-BE49-F238E27FC236}">
                <a16:creationId xmlns:a16="http://schemas.microsoft.com/office/drawing/2014/main" id="{606D5B7E-ABD9-B900-EF79-555B7AF2714E}"/>
              </a:ext>
            </a:extLst>
          </p:cNvPr>
          <p:cNvSpPr/>
          <p:nvPr/>
        </p:nvSpPr>
        <p:spPr>
          <a:xfrm>
            <a:off x="2747125" y="5662649"/>
            <a:ext cx="779582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[CLS]</a:t>
            </a:r>
            <a:endParaRPr kumimoji="1" lang="zh-TW" altLang="en-US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742E1412-A7F7-5B5F-E92F-D167B716ADD9}"/>
              </a:ext>
            </a:extLst>
          </p:cNvPr>
          <p:cNvSpPr/>
          <p:nvPr/>
        </p:nvSpPr>
        <p:spPr>
          <a:xfrm>
            <a:off x="3599003" y="5662649"/>
            <a:ext cx="1804978" cy="43500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Source article</a:t>
            </a:r>
            <a:endParaRPr kumimoji="1" lang="zh-TW" altLang="en-US" dirty="0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0D6AF935-16AE-E44E-CC34-9C1D7630C993}"/>
              </a:ext>
            </a:extLst>
          </p:cNvPr>
          <p:cNvSpPr/>
          <p:nvPr/>
        </p:nvSpPr>
        <p:spPr>
          <a:xfrm>
            <a:off x="6328157" y="5662649"/>
            <a:ext cx="1804978" cy="4350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Summary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15AF203E-EB35-9E51-D144-2E9988EBD317}"/>
              </a:ext>
            </a:extLst>
          </p:cNvPr>
          <p:cNvSpPr/>
          <p:nvPr/>
        </p:nvSpPr>
        <p:spPr>
          <a:xfrm>
            <a:off x="5476278" y="5662649"/>
            <a:ext cx="779582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[SEP]</a:t>
            </a:r>
            <a:endParaRPr kumimoji="1" lang="zh-TW" altLang="en-US" dirty="0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6CE5266E-C054-BDA8-FC9F-D21214277671}"/>
              </a:ext>
            </a:extLst>
          </p:cNvPr>
          <p:cNvSpPr/>
          <p:nvPr/>
        </p:nvSpPr>
        <p:spPr>
          <a:xfrm>
            <a:off x="8205431" y="5662649"/>
            <a:ext cx="1695027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/>
              <a:t>&lt;|</a:t>
            </a:r>
            <a:r>
              <a:rPr kumimoji="1" lang="en-US" altLang="zh-TW" sz="1600" dirty="0" err="1"/>
              <a:t>endoftext</a:t>
            </a:r>
            <a:r>
              <a:rPr kumimoji="1" lang="en-US" altLang="zh-TW" sz="1600" dirty="0"/>
              <a:t>|&gt;</a:t>
            </a:r>
            <a:endParaRPr kumimoji="1" lang="zh-TW" altLang="en-US" sz="1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B59C54-67FF-6DF8-B01E-F8A5D816AFEE}"/>
              </a:ext>
            </a:extLst>
          </p:cNvPr>
          <p:cNvSpPr/>
          <p:nvPr/>
        </p:nvSpPr>
        <p:spPr>
          <a:xfrm>
            <a:off x="3136916" y="2405593"/>
            <a:ext cx="6763542" cy="2461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ABB6EF7-6EC1-341E-B2DA-260FAD28676E}"/>
              </a:ext>
            </a:extLst>
          </p:cNvPr>
          <p:cNvSpPr txBox="1"/>
          <p:nvPr/>
        </p:nvSpPr>
        <p:spPr>
          <a:xfrm>
            <a:off x="3624804" y="5193169"/>
            <a:ext cx="552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You can omit the [CLS] token before fine-tuning!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6" name="肘形接點 5">
            <a:extLst>
              <a:ext uri="{FF2B5EF4-FFF2-40B4-BE49-F238E27FC236}">
                <a16:creationId xmlns:a16="http://schemas.microsoft.com/office/drawing/2014/main" id="{4C397CB4-27E1-A507-1A1D-CCF1E9C82B50}"/>
              </a:ext>
            </a:extLst>
          </p:cNvPr>
          <p:cNvCxnSpPr>
            <a:cxnSpLocks/>
            <a:stCxn id="5" idx="1"/>
            <a:endCxn id="9" idx="0"/>
          </p:cNvCxnSpPr>
          <p:nvPr/>
        </p:nvCxnSpPr>
        <p:spPr>
          <a:xfrm rot="10800000" flipV="1">
            <a:off x="3136916" y="5377835"/>
            <a:ext cx="487888" cy="28481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266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CE30E4-737D-E563-ECEB-FBDA3A1D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 err="1"/>
              <a:t>uer</a:t>
            </a:r>
            <a:r>
              <a:rPr kumimoji="1" lang="en" altLang="zh-TW" dirty="0"/>
              <a:t>/gpt2-chinese-cluecorpussmall uses </a:t>
            </a:r>
            <a:r>
              <a:rPr kumimoji="1" lang="en" altLang="zh-TW" dirty="0" err="1"/>
              <a:t>BertTokenizer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0D834E-CCEB-F809-BBEC-975229054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446" y="2020994"/>
            <a:ext cx="5198589" cy="612653"/>
          </a:xfrm>
        </p:spPr>
        <p:txBody>
          <a:bodyPr>
            <a:normAutofit lnSpcReduction="10000"/>
          </a:bodyPr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huggingface.co</a:t>
            </a:r>
            <a:r>
              <a:rPr kumimoji="1" lang="en" altLang="zh-TW" dirty="0"/>
              <a:t>/</a:t>
            </a:r>
            <a:r>
              <a:rPr kumimoji="1" lang="en" altLang="zh-TW" dirty="0" err="1"/>
              <a:t>uer</a:t>
            </a:r>
            <a:r>
              <a:rPr kumimoji="1" lang="en" altLang="zh-TW" dirty="0"/>
              <a:t>/gpt2-chinese-cluecorpussmall/blob/main/config.json#L26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0F551B-9080-81F8-1156-D198FF410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25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B85487F-1799-B342-3FE8-453AACC9C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60" y="2982773"/>
            <a:ext cx="5210235" cy="2255978"/>
          </a:xfrm>
          <a:prstGeom prst="rect">
            <a:avLst/>
          </a:prstGeom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F765AB2-7E83-80DA-98FB-CCBEE419189B}"/>
              </a:ext>
            </a:extLst>
          </p:cNvPr>
          <p:cNvSpPr txBox="1">
            <a:spLocks/>
          </p:cNvSpPr>
          <p:nvPr/>
        </p:nvSpPr>
        <p:spPr>
          <a:xfrm>
            <a:off x="6372925" y="2017151"/>
            <a:ext cx="5198589" cy="612653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/>
              <a:t>https://</a:t>
            </a:r>
            <a:r>
              <a:rPr kumimoji="1" lang="en" altLang="zh-TW" dirty="0" err="1"/>
              <a:t>huggingface.co</a:t>
            </a:r>
            <a:r>
              <a:rPr kumimoji="1" lang="en" altLang="zh-TW" dirty="0"/>
              <a:t>/</a:t>
            </a:r>
            <a:r>
              <a:rPr kumimoji="1" lang="en" altLang="zh-TW" dirty="0" err="1">
                <a:solidFill>
                  <a:srgbClr val="FF0000"/>
                </a:solidFill>
              </a:rPr>
              <a:t>ckiplab</a:t>
            </a:r>
            <a:r>
              <a:rPr kumimoji="1" lang="en" altLang="zh-TW" dirty="0"/>
              <a:t>/</a:t>
            </a:r>
            <a:r>
              <a:rPr kumimoji="1" lang="en" altLang="zh-TW" dirty="0">
                <a:solidFill>
                  <a:srgbClr val="FF0000"/>
                </a:solidFill>
              </a:rPr>
              <a:t>gpt2-base-chinese</a:t>
            </a:r>
            <a:r>
              <a:rPr kumimoji="1" lang="en" altLang="zh-TW" dirty="0"/>
              <a:t>/blob/main/config.json#L32</a:t>
            </a:r>
            <a:endParaRPr kumimoji="1"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3D2758A-FCDB-E59D-23D9-2D524DF2F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034" y="2982773"/>
            <a:ext cx="5557479" cy="226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23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B54DE1-8C45-16B2-A84D-B3D345F6E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English GPT-2 for Text Summarization</a:t>
            </a:r>
            <a:r>
              <a:rPr kumimoji="1" lang="en-US" altLang="zh-TW" baseline="30000" dirty="0"/>
              <a:t>[2]</a:t>
            </a:r>
            <a:endParaRPr kumimoji="1" lang="zh-TW" altLang="en-US" baseline="30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EB351F-D997-575D-9CD2-0DB801D82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708941"/>
            <a:ext cx="10058400" cy="748876"/>
          </a:xfrm>
        </p:spPr>
        <p:txBody>
          <a:bodyPr/>
          <a:lstStyle/>
          <a:p>
            <a:r>
              <a:rPr kumimoji="1" lang="en-US" altLang="zh-TW" dirty="0"/>
              <a:t>&gt; To induce summarization behavior, we can add the text TL;DR: after the article </a:t>
            </a:r>
            <a:r>
              <a:rPr kumimoji="1" lang="en-US" altLang="zh-TW" baseline="30000" dirty="0"/>
              <a:t>[2]</a:t>
            </a:r>
            <a:endParaRPr kumimoji="1" lang="zh-TW" altLang="en-US" baseline="30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F51C0F-AA72-1005-F5A2-14CA484E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26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23D8776-334D-8DF7-26EB-DB6F8D9EE924}"/>
              </a:ext>
            </a:extLst>
          </p:cNvPr>
          <p:cNvSpPr txBox="1"/>
          <p:nvPr/>
        </p:nvSpPr>
        <p:spPr>
          <a:xfrm>
            <a:off x="2356658" y="576072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[2] Radford, A., Wu, J., Child, R., Luan, D., </a:t>
            </a:r>
            <a:r>
              <a:rPr kumimoji="1" lang="en" altLang="zh-TW" sz="1400" dirty="0" err="1"/>
              <a:t>Amodei</a:t>
            </a:r>
            <a:r>
              <a:rPr kumimoji="1" lang="en" altLang="zh-TW" sz="1400" dirty="0"/>
              <a:t>, D., &amp; </a:t>
            </a:r>
            <a:r>
              <a:rPr kumimoji="1" lang="en" altLang="zh-TW" sz="1400" dirty="0" err="1"/>
              <a:t>Sutskever</a:t>
            </a:r>
            <a:r>
              <a:rPr kumimoji="1" lang="en" altLang="zh-TW" sz="1400" dirty="0"/>
              <a:t>, I. (2019). Language models are unsupervised multitask learners. </a:t>
            </a:r>
            <a:r>
              <a:rPr kumimoji="1" lang="en" altLang="zh-TW" sz="1400" dirty="0" err="1"/>
              <a:t>OpenAI</a:t>
            </a:r>
            <a:r>
              <a:rPr kumimoji="1" lang="en" altLang="zh-TW" sz="1400" dirty="0"/>
              <a:t> blog, 1(8), 9.</a:t>
            </a:r>
            <a:endParaRPr kumimoji="1" lang="zh-TW" altLang="en-US" sz="1400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B067C323-53E8-DED0-7530-48203CB29139}"/>
              </a:ext>
            </a:extLst>
          </p:cNvPr>
          <p:cNvSpPr/>
          <p:nvPr/>
        </p:nvSpPr>
        <p:spPr>
          <a:xfrm>
            <a:off x="2438217" y="3428997"/>
            <a:ext cx="758555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[CLS]</a:t>
            </a:r>
            <a:endParaRPr kumimoji="1" lang="zh-TW" altLang="en-US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9E05E0C9-A8D9-1FA7-C851-B49CC086C48D}"/>
              </a:ext>
            </a:extLst>
          </p:cNvPr>
          <p:cNvSpPr/>
          <p:nvPr/>
        </p:nvSpPr>
        <p:spPr>
          <a:xfrm>
            <a:off x="3249187" y="3428997"/>
            <a:ext cx="1756292" cy="43500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Source article</a:t>
            </a:r>
            <a:endParaRPr kumimoji="1" lang="zh-TW" altLang="en-US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3AFE50C0-79C5-9B6F-68D8-E8DC43F33CF2}"/>
              </a:ext>
            </a:extLst>
          </p:cNvPr>
          <p:cNvSpPr/>
          <p:nvPr/>
        </p:nvSpPr>
        <p:spPr>
          <a:xfrm>
            <a:off x="5868864" y="3428997"/>
            <a:ext cx="1756292" cy="4350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Summary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BF67CDCA-9135-9D73-C1F3-B36BA16D8A73}"/>
              </a:ext>
            </a:extLst>
          </p:cNvPr>
          <p:cNvSpPr/>
          <p:nvPr/>
        </p:nvSpPr>
        <p:spPr>
          <a:xfrm>
            <a:off x="5057894" y="3437874"/>
            <a:ext cx="758555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[SEP]</a:t>
            </a:r>
            <a:endParaRPr kumimoji="1" lang="zh-TW" altLang="en-US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050A010B-208D-1C90-07EF-0F106BE24392}"/>
              </a:ext>
            </a:extLst>
          </p:cNvPr>
          <p:cNvSpPr/>
          <p:nvPr/>
        </p:nvSpPr>
        <p:spPr>
          <a:xfrm>
            <a:off x="7677572" y="3446751"/>
            <a:ext cx="1649307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/>
              <a:t>&lt;|</a:t>
            </a:r>
            <a:r>
              <a:rPr kumimoji="1" lang="en-US" altLang="zh-TW" sz="1600" dirty="0" err="1"/>
              <a:t>endoftext</a:t>
            </a:r>
            <a:r>
              <a:rPr kumimoji="1" lang="en-US" altLang="zh-TW" sz="1600" dirty="0"/>
              <a:t>|&gt;</a:t>
            </a:r>
            <a:endParaRPr kumimoji="1" lang="zh-TW" altLang="en-US" sz="16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A288ACC-363D-0CA6-C5E8-4F3C1E086931}"/>
              </a:ext>
            </a:extLst>
          </p:cNvPr>
          <p:cNvSpPr txBox="1"/>
          <p:nvPr/>
        </p:nvSpPr>
        <p:spPr>
          <a:xfrm>
            <a:off x="2105932" y="2569302"/>
            <a:ext cx="779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Ideally, the model may learn [SEP] as a signal to perform summarization. 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41AC7C48-4E07-E648-9E34-B3F852C75FDD}"/>
              </a:ext>
            </a:extLst>
          </p:cNvPr>
          <p:cNvCxnSpPr>
            <a:cxnSpLocks/>
          </p:cNvCxnSpPr>
          <p:nvPr/>
        </p:nvCxnSpPr>
        <p:spPr>
          <a:xfrm>
            <a:off x="5449992" y="2940365"/>
            <a:ext cx="0" cy="44036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BC78392-9639-C854-705F-74C403FBAF64}"/>
              </a:ext>
            </a:extLst>
          </p:cNvPr>
          <p:cNvSpPr txBox="1"/>
          <p:nvPr/>
        </p:nvSpPr>
        <p:spPr>
          <a:xfrm>
            <a:off x="6277883" y="4575150"/>
            <a:ext cx="4649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Ideally, the model may learn &lt;|</a:t>
            </a:r>
            <a:r>
              <a:rPr kumimoji="1" lang="en-US" altLang="zh-TW" dirty="0" err="1">
                <a:solidFill>
                  <a:srgbClr val="FF0000"/>
                </a:solidFill>
              </a:rPr>
              <a:t>endoftext</a:t>
            </a:r>
            <a:r>
              <a:rPr kumimoji="1" lang="en-US" altLang="zh-TW" dirty="0">
                <a:solidFill>
                  <a:srgbClr val="FF0000"/>
                </a:solidFill>
              </a:rPr>
              <a:t>|&gt; as a signal to end generation.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6EB9290F-CCDC-88BD-001D-CCC75D019C3B}"/>
              </a:ext>
            </a:extLst>
          </p:cNvPr>
          <p:cNvCxnSpPr>
            <a:cxnSpLocks/>
          </p:cNvCxnSpPr>
          <p:nvPr/>
        </p:nvCxnSpPr>
        <p:spPr>
          <a:xfrm flipV="1">
            <a:off x="8483234" y="3983337"/>
            <a:ext cx="0" cy="49023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F814A95C-1AC5-36E0-19C0-F2290FE481DB}"/>
              </a:ext>
            </a:extLst>
          </p:cNvPr>
          <p:cNvSpPr/>
          <p:nvPr/>
        </p:nvSpPr>
        <p:spPr>
          <a:xfrm>
            <a:off x="897856" y="2536465"/>
            <a:ext cx="946184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TL;DR</a:t>
            </a:r>
            <a:endParaRPr kumimoji="1" lang="zh-TW" altLang="en-US" dirty="0"/>
          </a:p>
        </p:txBody>
      </p:sp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B82E9AFE-CC31-58A0-3E97-B457D258AC2B}"/>
              </a:ext>
            </a:extLst>
          </p:cNvPr>
          <p:cNvCxnSpPr>
            <a:cxnSpLocks/>
            <a:stCxn id="20" idx="2"/>
            <a:endCxn id="9" idx="2"/>
          </p:cNvCxnSpPr>
          <p:nvPr/>
        </p:nvCxnSpPr>
        <p:spPr>
          <a:xfrm rot="16200000" flipH="1">
            <a:off x="2953356" y="1389063"/>
            <a:ext cx="901409" cy="4066224"/>
          </a:xfrm>
          <a:prstGeom prst="bentConnector3">
            <a:avLst>
              <a:gd name="adj1" fmla="val 125360"/>
            </a:avLst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AFB7E4D-68C3-15E6-4D32-52D3C7A4568C}"/>
              </a:ext>
            </a:extLst>
          </p:cNvPr>
          <p:cNvSpPr txBox="1"/>
          <p:nvPr/>
        </p:nvSpPr>
        <p:spPr>
          <a:xfrm>
            <a:off x="1646258" y="4288695"/>
            <a:ext cx="1728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/>
              <a:t>(You can try it.)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5287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12" grpId="0"/>
      <p:bldP spid="17" grpId="0"/>
      <p:bldP spid="20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000" dirty="0"/>
              <a:t>Create the </a:t>
            </a:r>
            <a:r>
              <a:rPr kumimoji="1" lang="en-US" altLang="zh-TW" sz="4000" dirty="0" err="1"/>
              <a:t>PyTorch</a:t>
            </a:r>
            <a:r>
              <a:rPr kumimoji="1" lang="en-US" altLang="zh-TW" sz="4000" dirty="0"/>
              <a:t> </a:t>
            </a:r>
            <a:r>
              <a:rPr kumimoji="1" lang="en-US" altLang="zh-TW" sz="4000" dirty="0" err="1"/>
              <a:t>DataLoader</a:t>
            </a:r>
            <a:r>
              <a:rPr kumimoji="1" lang="en-US" altLang="zh-TW" sz="4000" dirty="0"/>
              <a:t> for Data Batching:</a:t>
            </a:r>
            <a:r>
              <a:rPr kumimoji="1" lang="zh-TW" altLang="en-US" sz="4000" dirty="0"/>
              <a:t> </a:t>
            </a:r>
            <a:r>
              <a:rPr kumimoji="1" lang="en-US" altLang="zh-TW" sz="4000" dirty="0"/>
              <a:t>2. Labels (auto-regressive)</a:t>
            </a:r>
            <a:endParaRPr kumimoji="1"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27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FABC97E-80A7-3934-304A-C706496DEB94}"/>
              </a:ext>
            </a:extLst>
          </p:cNvPr>
          <p:cNvSpPr txBox="1"/>
          <p:nvPr/>
        </p:nvSpPr>
        <p:spPr>
          <a:xfrm>
            <a:off x="653143" y="1428538"/>
            <a:ext cx="4680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(We are still at the </a:t>
            </a:r>
            <a:r>
              <a:rPr kumimoji="1"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collate_fn</a:t>
            </a:r>
            <a:r>
              <a:rPr kumimoji="1" lang="en-US" altLang="zh-TW" dirty="0"/>
              <a:t> function.)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B18EE10-781E-B828-40D6-AFC60DDBCEA9}"/>
              </a:ext>
            </a:extLst>
          </p:cNvPr>
          <p:cNvSpPr txBox="1"/>
          <p:nvPr/>
        </p:nvSpPr>
        <p:spPr>
          <a:xfrm>
            <a:off x="939814" y="4631277"/>
            <a:ext cx="3102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this is sentence a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4270C95B-807D-AA16-4639-B2DCCCCB5278}"/>
              </a:ext>
            </a:extLst>
          </p:cNvPr>
          <p:cNvSpPr/>
          <p:nvPr/>
        </p:nvSpPr>
        <p:spPr>
          <a:xfrm>
            <a:off x="7139550" y="4703473"/>
            <a:ext cx="885571" cy="34269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this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FC53D097-9E7E-EBC5-B078-4A99385658E8}"/>
              </a:ext>
            </a:extLst>
          </p:cNvPr>
          <p:cNvSpPr/>
          <p:nvPr/>
        </p:nvSpPr>
        <p:spPr>
          <a:xfrm>
            <a:off x="8094962" y="4703473"/>
            <a:ext cx="885571" cy="34269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A86760CB-5215-BB22-2AE7-CE9EA0E4C661}"/>
              </a:ext>
            </a:extLst>
          </p:cNvPr>
          <p:cNvSpPr/>
          <p:nvPr/>
        </p:nvSpPr>
        <p:spPr>
          <a:xfrm>
            <a:off x="9050374" y="4703473"/>
            <a:ext cx="1332774" cy="34269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sentence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831ED304-260A-0DC1-7D45-747C076CD65E}"/>
              </a:ext>
            </a:extLst>
          </p:cNvPr>
          <p:cNvSpPr/>
          <p:nvPr/>
        </p:nvSpPr>
        <p:spPr>
          <a:xfrm>
            <a:off x="10452990" y="4703473"/>
            <a:ext cx="885571" cy="34269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C1484493-48E2-0B46-AE37-C37635AC0369}"/>
              </a:ext>
            </a:extLst>
          </p:cNvPr>
          <p:cNvSpPr/>
          <p:nvPr/>
        </p:nvSpPr>
        <p:spPr>
          <a:xfrm>
            <a:off x="5228726" y="5635035"/>
            <a:ext cx="885571" cy="34269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this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596AD7EE-CCEA-C64E-30F7-9615FA18594A}"/>
              </a:ext>
            </a:extLst>
          </p:cNvPr>
          <p:cNvSpPr/>
          <p:nvPr/>
        </p:nvSpPr>
        <p:spPr>
          <a:xfrm>
            <a:off x="6184138" y="5635035"/>
            <a:ext cx="885571" cy="34269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D5081A7E-9320-EDCE-9294-380A442488AA}"/>
              </a:ext>
            </a:extLst>
          </p:cNvPr>
          <p:cNvSpPr/>
          <p:nvPr/>
        </p:nvSpPr>
        <p:spPr>
          <a:xfrm>
            <a:off x="10452989" y="5635035"/>
            <a:ext cx="885571" cy="34269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b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EF36E3E3-C14B-7EE8-72DA-0B99DE5BCC16}"/>
              </a:ext>
            </a:extLst>
          </p:cNvPr>
          <p:cNvSpPr/>
          <p:nvPr/>
        </p:nvSpPr>
        <p:spPr>
          <a:xfrm>
            <a:off x="8094962" y="5635035"/>
            <a:ext cx="885571" cy="34269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8BB3B3FB-D018-E192-3BE8-9CB53D84E193}"/>
              </a:ext>
            </a:extLst>
          </p:cNvPr>
          <p:cNvSpPr/>
          <p:nvPr/>
        </p:nvSpPr>
        <p:spPr>
          <a:xfrm>
            <a:off x="7139550" y="5635035"/>
            <a:ext cx="885571" cy="34269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221CAA5C-40A0-BD0D-3E31-E18AA6491EFC}"/>
              </a:ext>
            </a:extLst>
          </p:cNvPr>
          <p:cNvSpPr/>
          <p:nvPr/>
        </p:nvSpPr>
        <p:spPr>
          <a:xfrm>
            <a:off x="5228728" y="4703473"/>
            <a:ext cx="885570" cy="3426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[PAD]</a:t>
            </a:r>
            <a:endParaRPr kumimoji="1" lang="zh-TW" altLang="en-US" dirty="0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A0ECE87A-B931-62AB-6723-44CEF2CC1723}"/>
              </a:ext>
            </a:extLst>
          </p:cNvPr>
          <p:cNvSpPr/>
          <p:nvPr/>
        </p:nvSpPr>
        <p:spPr>
          <a:xfrm>
            <a:off x="6184139" y="4703473"/>
            <a:ext cx="885570" cy="3426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[PAD]</a:t>
            </a:r>
            <a:endParaRPr kumimoji="1"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F9D3330-5ED9-0D7D-7C15-41313C4B6FA1}"/>
              </a:ext>
            </a:extLst>
          </p:cNvPr>
          <p:cNvSpPr txBox="1"/>
          <p:nvPr/>
        </p:nvSpPr>
        <p:spPr>
          <a:xfrm>
            <a:off x="4385873" y="5070864"/>
            <a:ext cx="894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labels</a:t>
            </a:r>
            <a:endParaRPr kumimoji="1"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787D3D1-F7A3-AD78-5A3B-29ECE813598E}"/>
              </a:ext>
            </a:extLst>
          </p:cNvPr>
          <p:cNvSpPr txBox="1"/>
          <p:nvPr/>
        </p:nvSpPr>
        <p:spPr>
          <a:xfrm>
            <a:off x="4385863" y="6016948"/>
            <a:ext cx="894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labels</a:t>
            </a:r>
            <a:endParaRPr kumimoji="1"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E66F3FE-89DD-04A7-3ECC-EA25101E9136}"/>
              </a:ext>
            </a:extLst>
          </p:cNvPr>
          <p:cNvSpPr txBox="1"/>
          <p:nvPr/>
        </p:nvSpPr>
        <p:spPr>
          <a:xfrm>
            <a:off x="5270061" y="5070864"/>
            <a:ext cx="754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-100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CC5C335-7AD5-FF16-74A9-7A17D998D8A0}"/>
              </a:ext>
            </a:extLst>
          </p:cNvPr>
          <p:cNvSpPr txBox="1"/>
          <p:nvPr/>
        </p:nvSpPr>
        <p:spPr>
          <a:xfrm>
            <a:off x="6268776" y="5066468"/>
            <a:ext cx="71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-100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8C81FD0A-07AA-F193-2810-BA146072C2D0}"/>
              </a:ext>
            </a:extLst>
          </p:cNvPr>
          <p:cNvSpPr/>
          <p:nvPr/>
        </p:nvSpPr>
        <p:spPr>
          <a:xfrm>
            <a:off x="9050374" y="5635035"/>
            <a:ext cx="1332774" cy="34269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sentence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C5AF5666-3673-F48F-CC43-803E0485B0CA}"/>
              </a:ext>
            </a:extLst>
          </p:cNvPr>
          <p:cNvSpPr txBox="1"/>
          <p:nvPr/>
        </p:nvSpPr>
        <p:spPr>
          <a:xfrm>
            <a:off x="5300869" y="6016948"/>
            <a:ext cx="74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1212</a:t>
            </a:r>
            <a:endParaRPr kumimoji="1"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C8F7D2AD-3A81-09C3-152C-A9745422E3D2}"/>
              </a:ext>
            </a:extLst>
          </p:cNvPr>
          <p:cNvSpPr txBox="1"/>
          <p:nvPr/>
        </p:nvSpPr>
        <p:spPr>
          <a:xfrm>
            <a:off x="6257281" y="6016948"/>
            <a:ext cx="74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318</a:t>
            </a:r>
            <a:endParaRPr kumimoji="1"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1557687C-1C27-0A09-3D3B-19BE6124AC63}"/>
              </a:ext>
            </a:extLst>
          </p:cNvPr>
          <p:cNvSpPr txBox="1"/>
          <p:nvPr/>
        </p:nvSpPr>
        <p:spPr>
          <a:xfrm>
            <a:off x="7213693" y="6016948"/>
            <a:ext cx="74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318</a:t>
            </a:r>
            <a:endParaRPr kumimoji="1"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B48CC0D6-8F8A-921B-355A-F4BD734CAECA}"/>
              </a:ext>
            </a:extLst>
          </p:cNvPr>
          <p:cNvSpPr txBox="1"/>
          <p:nvPr/>
        </p:nvSpPr>
        <p:spPr>
          <a:xfrm>
            <a:off x="8167902" y="6016948"/>
            <a:ext cx="74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318</a:t>
            </a:r>
            <a:endParaRPr kumimoji="1"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6110B7F-2811-D4B9-DF47-7C0AE774F275}"/>
              </a:ext>
            </a:extLst>
          </p:cNvPr>
          <p:cNvSpPr txBox="1"/>
          <p:nvPr/>
        </p:nvSpPr>
        <p:spPr>
          <a:xfrm>
            <a:off x="7206478" y="5070864"/>
            <a:ext cx="74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1212</a:t>
            </a:r>
            <a:endParaRPr kumimoji="1"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8B285FF-358D-83FB-7E9C-57EA4EED8F2B}"/>
              </a:ext>
            </a:extLst>
          </p:cNvPr>
          <p:cNvSpPr txBox="1"/>
          <p:nvPr/>
        </p:nvSpPr>
        <p:spPr>
          <a:xfrm>
            <a:off x="8167902" y="5070864"/>
            <a:ext cx="74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318</a:t>
            </a:r>
            <a:endParaRPr kumimoji="1" lang="zh-TW" altLang="en-US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19AF5F7-596B-F4CC-F281-D386D4109BC1}"/>
              </a:ext>
            </a:extLst>
          </p:cNvPr>
          <p:cNvSpPr txBox="1"/>
          <p:nvPr/>
        </p:nvSpPr>
        <p:spPr>
          <a:xfrm>
            <a:off x="10527683" y="5070864"/>
            <a:ext cx="74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317</a:t>
            </a:r>
            <a:endParaRPr kumimoji="1"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52C6E89-67B9-70FC-4C96-674A76C8A463}"/>
              </a:ext>
            </a:extLst>
          </p:cNvPr>
          <p:cNvSpPr txBox="1"/>
          <p:nvPr/>
        </p:nvSpPr>
        <p:spPr>
          <a:xfrm>
            <a:off x="9346119" y="5070864"/>
            <a:ext cx="74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6827</a:t>
            </a:r>
            <a:endParaRPr kumimoji="1"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14986A8-12D3-C736-4717-32A40844EE83}"/>
              </a:ext>
            </a:extLst>
          </p:cNvPr>
          <p:cNvSpPr txBox="1"/>
          <p:nvPr/>
        </p:nvSpPr>
        <p:spPr>
          <a:xfrm>
            <a:off x="9346119" y="6016948"/>
            <a:ext cx="74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6827</a:t>
            </a:r>
            <a:endParaRPr kumimoji="1"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0DA98C2C-01FB-59C1-B71C-1F972F5DEFD0}"/>
              </a:ext>
            </a:extLst>
          </p:cNvPr>
          <p:cNvSpPr txBox="1"/>
          <p:nvPr/>
        </p:nvSpPr>
        <p:spPr>
          <a:xfrm>
            <a:off x="10527683" y="6016948"/>
            <a:ext cx="74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347</a:t>
            </a:r>
            <a:endParaRPr kumimoji="1" lang="zh-TW" altLang="en-US" dirty="0"/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0E77C04C-BDC5-B753-8F55-70750C049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766" y="2065573"/>
            <a:ext cx="8420468" cy="210336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9E778B7-EF4D-45EE-2397-86111597D4CF}"/>
              </a:ext>
            </a:extLst>
          </p:cNvPr>
          <p:cNvSpPr/>
          <p:nvPr/>
        </p:nvSpPr>
        <p:spPr>
          <a:xfrm>
            <a:off x="3246149" y="2871089"/>
            <a:ext cx="3062175" cy="2202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E61E861-EEE3-232A-4A45-6E73E1B444BC}"/>
              </a:ext>
            </a:extLst>
          </p:cNvPr>
          <p:cNvSpPr txBox="1"/>
          <p:nvPr/>
        </p:nvSpPr>
        <p:spPr>
          <a:xfrm>
            <a:off x="934151" y="5570153"/>
            <a:ext cx="3335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400" dirty="0"/>
              <a:t>this is is is sentence b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71401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BB8031-8433-8972-9676-D5621B952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GPT2LMHeadModel shifts logits and labels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5310C4-0C91-D691-EF38-278A1401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28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B423EC9-2C66-72B2-6FF8-C661CFF4BED9}"/>
              </a:ext>
            </a:extLst>
          </p:cNvPr>
          <p:cNvSpPr txBox="1"/>
          <p:nvPr/>
        </p:nvSpPr>
        <p:spPr>
          <a:xfrm>
            <a:off x="1295920" y="1866046"/>
            <a:ext cx="6023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github.com</a:t>
            </a:r>
            <a:r>
              <a:rPr kumimoji="1" lang="en" altLang="zh-TW" sz="1400" dirty="0"/>
              <a:t>/</a:t>
            </a:r>
            <a:r>
              <a:rPr kumimoji="1" lang="en" altLang="zh-TW" sz="1400" dirty="0" err="1"/>
              <a:t>huggingface</a:t>
            </a:r>
            <a:r>
              <a:rPr kumimoji="1" lang="en" altLang="zh-TW" sz="1400" dirty="0"/>
              <a:t>/transformers/blob/main/</a:t>
            </a:r>
            <a:r>
              <a:rPr kumimoji="1" lang="en" altLang="zh-TW" sz="1400" dirty="0" err="1"/>
              <a:t>src</a:t>
            </a:r>
            <a:r>
              <a:rPr kumimoji="1" lang="en" altLang="zh-TW" sz="1400" dirty="0"/>
              <a:t>/transformers/models/gpt2/modeling_gpt2.py#L1300-L1301</a:t>
            </a:r>
            <a:endParaRPr kumimoji="1" lang="zh-TW" altLang="en-US" sz="14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F5DED3C-11B5-2F13-153E-8F2158F89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920" y="2976993"/>
            <a:ext cx="9600159" cy="22852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8A86C593-4868-F5FF-DCDA-0DAF6D7BC2A3}"/>
              </a:ext>
            </a:extLst>
          </p:cNvPr>
          <p:cNvSpPr txBox="1"/>
          <p:nvPr/>
        </p:nvSpPr>
        <p:spPr>
          <a:xfrm>
            <a:off x="4952636" y="2426073"/>
            <a:ext cx="6023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Shape of </a:t>
            </a:r>
            <a:r>
              <a:rPr kumimoji="1" lang="en-US" altLang="zh-TW" dirty="0" err="1"/>
              <a:t>lm_logits</a:t>
            </a:r>
            <a:r>
              <a:rPr kumimoji="1" lang="en-US" altLang="zh-TW" dirty="0"/>
              <a:t>: [</a:t>
            </a:r>
            <a:r>
              <a:rPr kumimoji="1" lang="en-US" altLang="zh-TW" dirty="0" err="1"/>
              <a:t>batcg_size</a:t>
            </a:r>
            <a:r>
              <a:rPr kumimoji="1" lang="en-US" altLang="zh-TW" dirty="0"/>
              <a:t>, </a:t>
            </a:r>
            <a:r>
              <a:rPr kumimoji="1" lang="en-US" altLang="zh-TW" dirty="0" err="1"/>
              <a:t>seq_length</a:t>
            </a:r>
            <a:r>
              <a:rPr kumimoji="1" lang="en-US" altLang="zh-TW" dirty="0"/>
              <a:t>, </a:t>
            </a:r>
            <a:r>
              <a:rPr kumimoji="1" lang="en-US" altLang="zh-TW" dirty="0" err="1"/>
              <a:t>hidden_size</a:t>
            </a:r>
            <a:r>
              <a:rPr kumimoji="1" lang="en-US" altLang="zh-TW" dirty="0"/>
              <a:t>]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F0B97BD-63CB-7BA9-2466-CA20E0F43DDA}"/>
              </a:ext>
            </a:extLst>
          </p:cNvPr>
          <p:cNvSpPr txBox="1"/>
          <p:nvPr/>
        </p:nvSpPr>
        <p:spPr>
          <a:xfrm>
            <a:off x="7844972" y="3927697"/>
            <a:ext cx="2358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:-1 </a:t>
            </a:r>
            <a:r>
              <a:rPr kumimoji="1" lang="zh-TW" altLang="en-US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代表取到倒數第二個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41A63E3-9DA0-C8D7-A5C8-A9D837450D11}"/>
              </a:ext>
            </a:extLst>
          </p:cNvPr>
          <p:cNvSpPr txBox="1"/>
          <p:nvPr/>
        </p:nvSpPr>
        <p:spPr>
          <a:xfrm>
            <a:off x="7844972" y="4192984"/>
            <a:ext cx="2358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1: </a:t>
            </a:r>
            <a:r>
              <a:rPr kumimoji="1" lang="zh-TW" altLang="en-US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代表答案後移一格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EF929A8-4D40-63C9-654B-FD615C342AAE}"/>
              </a:ext>
            </a:extLst>
          </p:cNvPr>
          <p:cNvSpPr txBox="1"/>
          <p:nvPr/>
        </p:nvSpPr>
        <p:spPr>
          <a:xfrm>
            <a:off x="2804161" y="6016172"/>
            <a:ext cx="6753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.contiguous(): https://</a:t>
            </a:r>
            <a:r>
              <a:rPr kumimoji="1" lang="en-US" altLang="zh-TW" dirty="0" err="1"/>
              <a:t>youtu.be</a:t>
            </a:r>
            <a:r>
              <a:rPr kumimoji="1" lang="en-US" altLang="zh-TW" dirty="0"/>
              <a:t>/FGJSGAt_9Ks?si=GMxxS2Oi742e2BhI&amp;t=1261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3580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圓角矩形 16">
            <a:extLst>
              <a:ext uri="{FF2B5EF4-FFF2-40B4-BE49-F238E27FC236}">
                <a16:creationId xmlns:a16="http://schemas.microsoft.com/office/drawing/2014/main" id="{B1905725-C396-8ABB-56E0-1967E6CF2E85}"/>
              </a:ext>
            </a:extLst>
          </p:cNvPr>
          <p:cNvSpPr/>
          <p:nvPr/>
        </p:nvSpPr>
        <p:spPr>
          <a:xfrm>
            <a:off x="2665353" y="5991676"/>
            <a:ext cx="758555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[CLS]</a:t>
            </a:r>
            <a:endParaRPr kumimoji="1" lang="zh-TW" altLang="en-US" dirty="0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1EB8CFAD-8DFF-2054-EFB0-E364E54E6EB0}"/>
              </a:ext>
            </a:extLst>
          </p:cNvPr>
          <p:cNvSpPr/>
          <p:nvPr/>
        </p:nvSpPr>
        <p:spPr>
          <a:xfrm>
            <a:off x="3476323" y="5991676"/>
            <a:ext cx="1756292" cy="43500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Source article</a:t>
            </a:r>
            <a:endParaRPr kumimoji="1" lang="zh-TW" altLang="en-US" dirty="0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2210E185-531A-E60A-6A76-2B97B7E950F1}"/>
              </a:ext>
            </a:extLst>
          </p:cNvPr>
          <p:cNvSpPr/>
          <p:nvPr/>
        </p:nvSpPr>
        <p:spPr>
          <a:xfrm>
            <a:off x="6096000" y="5991676"/>
            <a:ext cx="1756292" cy="4350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Summary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F8B5CFB4-0472-E7E1-745B-735132176FA0}"/>
              </a:ext>
            </a:extLst>
          </p:cNvPr>
          <p:cNvSpPr/>
          <p:nvPr/>
        </p:nvSpPr>
        <p:spPr>
          <a:xfrm>
            <a:off x="5285030" y="6000553"/>
            <a:ext cx="758555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[SEP]</a:t>
            </a:r>
            <a:endParaRPr kumimoji="1" lang="zh-TW" altLang="en-US" dirty="0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202B6EAF-0537-F478-748A-52F6D0BBB89F}"/>
              </a:ext>
            </a:extLst>
          </p:cNvPr>
          <p:cNvSpPr/>
          <p:nvPr/>
        </p:nvSpPr>
        <p:spPr>
          <a:xfrm>
            <a:off x="7904708" y="6009430"/>
            <a:ext cx="1649307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/>
              <a:t>&lt;|</a:t>
            </a:r>
            <a:r>
              <a:rPr kumimoji="1" lang="en-US" altLang="zh-TW" sz="1600" dirty="0" err="1"/>
              <a:t>endoftext</a:t>
            </a:r>
            <a:r>
              <a:rPr kumimoji="1" lang="en-US" altLang="zh-TW" sz="1600" dirty="0"/>
              <a:t>|&gt;</a:t>
            </a:r>
            <a:endParaRPr kumimoji="1" lang="zh-TW" altLang="en-US" sz="16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4A51910-D4BE-E6E6-0E97-A18020FC5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000" dirty="0"/>
              <a:t>Create the </a:t>
            </a:r>
            <a:r>
              <a:rPr kumimoji="1" lang="en-US" altLang="zh-TW" sz="4000" dirty="0" err="1"/>
              <a:t>PyTorch</a:t>
            </a:r>
            <a:r>
              <a:rPr kumimoji="1" lang="en-US" altLang="zh-TW" sz="4000" dirty="0"/>
              <a:t> </a:t>
            </a:r>
            <a:r>
              <a:rPr kumimoji="1" lang="en-US" altLang="zh-TW" sz="4000" dirty="0" err="1"/>
              <a:t>DataLoader</a:t>
            </a:r>
            <a:r>
              <a:rPr kumimoji="1" lang="en-US" altLang="zh-TW" sz="4000" dirty="0"/>
              <a:t> for Data Batching: 3. Input Data for Predictions</a:t>
            </a:r>
            <a:endParaRPr kumimoji="1" lang="zh-TW" altLang="en-US" sz="4000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92A19B5-A67F-1046-1E74-4525EA0617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405" y="2497929"/>
            <a:ext cx="8264781" cy="253640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B4A6F9-A834-1569-5FFC-9BE8492B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29</a:t>
            </a:fld>
            <a:endParaRPr lang="en-US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C3D5371F-4339-8EC1-5A67-A506939CB075}"/>
              </a:ext>
            </a:extLst>
          </p:cNvPr>
          <p:cNvGrpSpPr/>
          <p:nvPr/>
        </p:nvGrpSpPr>
        <p:grpSpPr>
          <a:xfrm>
            <a:off x="6482947" y="5778189"/>
            <a:ext cx="2837512" cy="944514"/>
            <a:chOff x="6281650" y="5836171"/>
            <a:chExt cx="2837512" cy="944514"/>
          </a:xfrm>
        </p:grpSpPr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8C9D9D99-FE9E-3C79-7C6F-57AB4E128514}"/>
                </a:ext>
              </a:extLst>
            </p:cNvPr>
            <p:cNvCxnSpPr/>
            <p:nvPr/>
          </p:nvCxnSpPr>
          <p:spPr>
            <a:xfrm>
              <a:off x="6281650" y="5875712"/>
              <a:ext cx="2828984" cy="90497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F900EE46-25F5-9433-C640-E4D35648FB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90178" y="5836171"/>
              <a:ext cx="2828984" cy="90497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E51F537E-6CF5-08E9-E00B-62C1FAD0656A}"/>
              </a:ext>
            </a:extLst>
          </p:cNvPr>
          <p:cNvSpPr txBox="1"/>
          <p:nvPr/>
        </p:nvSpPr>
        <p:spPr>
          <a:xfrm>
            <a:off x="653143" y="1417328"/>
            <a:ext cx="4760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(We are still at the </a:t>
            </a:r>
            <a:r>
              <a:rPr kumimoji="1"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collate_fn</a:t>
            </a:r>
            <a:r>
              <a:rPr kumimoji="1" lang="en-US" altLang="zh-TW" dirty="0"/>
              <a:t> function.)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BC5B00F-C592-253A-0706-218787E62264}"/>
              </a:ext>
            </a:extLst>
          </p:cNvPr>
          <p:cNvSpPr txBox="1"/>
          <p:nvPr/>
        </p:nvSpPr>
        <p:spPr>
          <a:xfrm>
            <a:off x="683097" y="1973093"/>
            <a:ext cx="5311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We will use `</a:t>
            </a:r>
            <a:r>
              <a:rPr kumimoji="1"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infer_text</a:t>
            </a:r>
            <a:r>
              <a:rPr kumimoji="1" lang="en-US" altLang="zh-TW" dirty="0"/>
              <a:t>` during </a:t>
            </a:r>
            <a:r>
              <a:rPr kumimoji="1" lang="en-US" altLang="zh-TW" dirty="0">
                <a:solidFill>
                  <a:srgbClr val="FF0000"/>
                </a:solidFill>
              </a:rPr>
              <a:t>evaluations</a:t>
            </a:r>
            <a:r>
              <a:rPr kumimoji="1" lang="en-US" altLang="zh-TW" dirty="0"/>
              <a:t>.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F534D0-7E26-32E1-9558-52DA11A5A2E4}"/>
              </a:ext>
            </a:extLst>
          </p:cNvPr>
          <p:cNvSpPr txBox="1"/>
          <p:nvPr/>
        </p:nvSpPr>
        <p:spPr>
          <a:xfrm>
            <a:off x="3401010" y="5131858"/>
            <a:ext cx="5389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If you omit the [CLS] token during fine-tuning, then you don’t need to add [CLS] before evaluations!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5" name="肘形接點 14">
            <a:extLst>
              <a:ext uri="{FF2B5EF4-FFF2-40B4-BE49-F238E27FC236}">
                <a16:creationId xmlns:a16="http://schemas.microsoft.com/office/drawing/2014/main" id="{46BD7668-D2F4-C73A-AE0D-557BCDED6682}"/>
              </a:ext>
            </a:extLst>
          </p:cNvPr>
          <p:cNvCxnSpPr>
            <a:cxnSpLocks/>
            <a:stCxn id="13" idx="1"/>
            <a:endCxn id="17" idx="0"/>
          </p:cNvCxnSpPr>
          <p:nvPr/>
        </p:nvCxnSpPr>
        <p:spPr>
          <a:xfrm rot="10800000" flipV="1">
            <a:off x="3044632" y="5455024"/>
            <a:ext cx="356379" cy="536652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13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AB745-EEE7-8E89-CF27-2A88FF6F3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0D8BC6-2716-1BB4-704A-047F57DC9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000" dirty="0"/>
              <a:t>Create the </a:t>
            </a:r>
            <a:r>
              <a:rPr kumimoji="1" lang="en-US" altLang="zh-TW" sz="4000" dirty="0" err="1"/>
              <a:t>PyTorch</a:t>
            </a:r>
            <a:r>
              <a:rPr kumimoji="1" lang="en-US" altLang="zh-TW" sz="4000" dirty="0"/>
              <a:t> </a:t>
            </a:r>
            <a:r>
              <a:rPr kumimoji="1" lang="en-US" altLang="zh-TW" sz="4000" dirty="0" err="1"/>
              <a:t>DataLoader</a:t>
            </a:r>
            <a:r>
              <a:rPr kumimoji="1" lang="en-US" altLang="zh-TW" sz="4000" dirty="0"/>
              <a:t> for Data Batching: 1. Input Data for Training [Recap]</a:t>
            </a:r>
            <a:endParaRPr kumimoji="1"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86F264-138F-5805-725E-C5FE73845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30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BF707C6-3784-FA39-5626-10B674AD7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759" y="1858054"/>
            <a:ext cx="8182182" cy="3186436"/>
          </a:xfrm>
          <a:prstGeom prst="rect">
            <a:avLst/>
          </a:prstGeom>
        </p:spPr>
      </p:pic>
      <p:sp>
        <p:nvSpPr>
          <p:cNvPr id="9" name="圓角矩形 8">
            <a:extLst>
              <a:ext uri="{FF2B5EF4-FFF2-40B4-BE49-F238E27FC236}">
                <a16:creationId xmlns:a16="http://schemas.microsoft.com/office/drawing/2014/main" id="{CB01F721-AD2A-7014-4EA9-E282F9D88879}"/>
              </a:ext>
            </a:extLst>
          </p:cNvPr>
          <p:cNvSpPr/>
          <p:nvPr/>
        </p:nvSpPr>
        <p:spPr>
          <a:xfrm>
            <a:off x="2747125" y="5662649"/>
            <a:ext cx="779582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[CLS]</a:t>
            </a:r>
            <a:endParaRPr kumimoji="1" lang="zh-TW" altLang="en-US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7E57671F-BBCB-B9A8-9A13-698A8F095839}"/>
              </a:ext>
            </a:extLst>
          </p:cNvPr>
          <p:cNvSpPr/>
          <p:nvPr/>
        </p:nvSpPr>
        <p:spPr>
          <a:xfrm>
            <a:off x="3599003" y="5662649"/>
            <a:ext cx="1804978" cy="43500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Source article</a:t>
            </a:r>
            <a:endParaRPr kumimoji="1" lang="zh-TW" altLang="en-US" dirty="0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4736E81C-210C-227B-4831-760863D22DBF}"/>
              </a:ext>
            </a:extLst>
          </p:cNvPr>
          <p:cNvSpPr/>
          <p:nvPr/>
        </p:nvSpPr>
        <p:spPr>
          <a:xfrm>
            <a:off x="6328157" y="5662649"/>
            <a:ext cx="1804978" cy="4350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Summary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C3D5A7C-F9F6-E2BB-45F9-0228B7197E13}"/>
              </a:ext>
            </a:extLst>
          </p:cNvPr>
          <p:cNvSpPr/>
          <p:nvPr/>
        </p:nvSpPr>
        <p:spPr>
          <a:xfrm>
            <a:off x="5476278" y="5662649"/>
            <a:ext cx="779582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[SEP]</a:t>
            </a:r>
            <a:endParaRPr kumimoji="1" lang="zh-TW" altLang="en-US" dirty="0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E89A6105-DD05-FEE1-A2B7-78C8608B2945}"/>
              </a:ext>
            </a:extLst>
          </p:cNvPr>
          <p:cNvSpPr/>
          <p:nvPr/>
        </p:nvSpPr>
        <p:spPr>
          <a:xfrm>
            <a:off x="8205431" y="5662649"/>
            <a:ext cx="1695027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/>
              <a:t>&lt;|</a:t>
            </a:r>
            <a:r>
              <a:rPr kumimoji="1" lang="en-US" altLang="zh-TW" sz="1600" dirty="0" err="1"/>
              <a:t>endoftext</a:t>
            </a:r>
            <a:r>
              <a:rPr kumimoji="1" lang="en-US" altLang="zh-TW" sz="1600" dirty="0"/>
              <a:t>|&gt;</a:t>
            </a:r>
            <a:endParaRPr kumimoji="1" lang="zh-TW" altLang="en-US" sz="1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0D35D0-2D88-7650-F134-638DB9DAE24E}"/>
              </a:ext>
            </a:extLst>
          </p:cNvPr>
          <p:cNvSpPr/>
          <p:nvPr/>
        </p:nvSpPr>
        <p:spPr>
          <a:xfrm>
            <a:off x="3136916" y="2405593"/>
            <a:ext cx="6763542" cy="2461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169E46B-8A36-51B6-0676-83B18ADFC563}"/>
              </a:ext>
            </a:extLst>
          </p:cNvPr>
          <p:cNvSpPr txBox="1"/>
          <p:nvPr/>
        </p:nvSpPr>
        <p:spPr>
          <a:xfrm>
            <a:off x="3624804" y="5193169"/>
            <a:ext cx="552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You can omit the [CLS] token before fine-tuning!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6" name="肘形接點 5">
            <a:extLst>
              <a:ext uri="{FF2B5EF4-FFF2-40B4-BE49-F238E27FC236}">
                <a16:creationId xmlns:a16="http://schemas.microsoft.com/office/drawing/2014/main" id="{F282000F-6237-643D-3199-9A8E570FED40}"/>
              </a:ext>
            </a:extLst>
          </p:cNvPr>
          <p:cNvCxnSpPr>
            <a:cxnSpLocks/>
            <a:stCxn id="5" idx="1"/>
            <a:endCxn id="9" idx="0"/>
          </p:cNvCxnSpPr>
          <p:nvPr/>
        </p:nvCxnSpPr>
        <p:spPr>
          <a:xfrm rot="10800000" flipV="1">
            <a:off x="3136916" y="5377835"/>
            <a:ext cx="487888" cy="28481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438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A51910-D4BE-E6E6-0E97-A18020FC5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000" dirty="0"/>
              <a:t>Create the </a:t>
            </a:r>
            <a:r>
              <a:rPr kumimoji="1" lang="en-US" altLang="zh-TW" sz="4000" dirty="0" err="1"/>
              <a:t>PyTorch</a:t>
            </a:r>
            <a:r>
              <a:rPr kumimoji="1" lang="en-US" altLang="zh-TW" sz="4000" dirty="0"/>
              <a:t> </a:t>
            </a:r>
            <a:r>
              <a:rPr kumimoji="1" lang="en-US" altLang="zh-TW" sz="4000" dirty="0" err="1"/>
              <a:t>DataLoader</a:t>
            </a:r>
            <a:r>
              <a:rPr kumimoji="1" lang="en-US" altLang="zh-TW" sz="4000" dirty="0"/>
              <a:t> for Data Batching</a:t>
            </a:r>
            <a:endParaRPr kumimoji="1"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B4A6F9-A834-1569-5FFC-9BE8492B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31</a:t>
            </a:fld>
            <a:endParaRPr lang="en-US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A49CC7D7-9BE2-4965-8C45-E1D3A6F40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856" y="1817849"/>
            <a:ext cx="5507188" cy="3359941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8F4ADFA9-B389-2374-9B06-32CF8246D163}"/>
              </a:ext>
            </a:extLst>
          </p:cNvPr>
          <p:cNvSpPr/>
          <p:nvPr/>
        </p:nvSpPr>
        <p:spPr>
          <a:xfrm>
            <a:off x="3371879" y="2665348"/>
            <a:ext cx="1417291" cy="2607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E1178C-DA55-2D5E-E785-67BCD5550E89}"/>
              </a:ext>
            </a:extLst>
          </p:cNvPr>
          <p:cNvSpPr/>
          <p:nvPr/>
        </p:nvSpPr>
        <p:spPr>
          <a:xfrm>
            <a:off x="3371879" y="4337938"/>
            <a:ext cx="1508731" cy="2607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3F4864B-367B-E8F7-62A4-6B966DD43915}"/>
              </a:ext>
            </a:extLst>
          </p:cNvPr>
          <p:cNvSpPr txBox="1"/>
          <p:nvPr/>
        </p:nvSpPr>
        <p:spPr>
          <a:xfrm>
            <a:off x="5287283" y="2599617"/>
            <a:ext cx="5045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Prevent a model from overfitting on data order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BDD5CF35-B298-3051-FA14-986702E1038D}"/>
              </a:ext>
            </a:extLst>
          </p:cNvPr>
          <p:cNvCxnSpPr>
            <a:cxnSpLocks/>
          </p:cNvCxnSpPr>
          <p:nvPr/>
        </p:nvCxnSpPr>
        <p:spPr>
          <a:xfrm flipH="1">
            <a:off x="4842759" y="2784283"/>
            <a:ext cx="49480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E3CCDB0-C783-D99F-5F00-69916317537B}"/>
              </a:ext>
            </a:extLst>
          </p:cNvPr>
          <p:cNvSpPr txBox="1"/>
          <p:nvPr/>
        </p:nvSpPr>
        <p:spPr>
          <a:xfrm>
            <a:off x="1907813" y="5534758"/>
            <a:ext cx="8859247" cy="791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We don’t need to use the test set because there is no public test labels (summaries).</a:t>
            </a:r>
          </a:p>
          <a:p>
            <a:pPr>
              <a:lnSpc>
                <a:spcPct val="150000"/>
              </a:lnSpc>
            </a:pPr>
            <a:r>
              <a:rPr kumimoji="1" lang="en" altLang="zh-TW" sz="1400" dirty="0"/>
              <a:t>See https://</a:t>
            </a:r>
            <a:r>
              <a:rPr kumimoji="1" lang="en" altLang="zh-TW" sz="1400" dirty="0" err="1"/>
              <a:t>huggingface.co</a:t>
            </a:r>
            <a:r>
              <a:rPr kumimoji="1" lang="en" altLang="zh-TW" sz="1400" dirty="0"/>
              <a:t>/datasets/</a:t>
            </a:r>
            <a:r>
              <a:rPr kumimoji="1" lang="en" altLang="zh-TW" sz="1400" dirty="0" err="1"/>
              <a:t>hugcyp</a:t>
            </a:r>
            <a:r>
              <a:rPr kumimoji="1" lang="en" altLang="zh-TW" sz="1400" dirty="0"/>
              <a:t>/LCSTS/viewer/default/test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736856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66D2B2-FEE0-0505-0EA1-44A85D686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Set</a:t>
            </a:r>
            <a:r>
              <a:rPr kumimoji="1" lang="zh-TW" altLang="en-US" dirty="0"/>
              <a:t> </a:t>
            </a:r>
            <a:r>
              <a:rPr kumimoji="1" lang="en-US" altLang="zh-TW" dirty="0"/>
              <a:t>up Optimizer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BBEDFE-F726-A71F-946A-572537B5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32</a:t>
            </a:fld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B6885A-EB0B-747B-F0E7-492C8ED99A6B}"/>
              </a:ext>
            </a:extLst>
          </p:cNvPr>
          <p:cNvSpPr/>
          <p:nvPr/>
        </p:nvSpPr>
        <p:spPr>
          <a:xfrm>
            <a:off x="1213584" y="2072186"/>
            <a:ext cx="9764832" cy="5615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optimizer = </a:t>
            </a:r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torch.optim.AdamW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model.parameters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" altLang="zh-TW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lr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=LR)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9190D13-9E67-C943-812A-568B5FEDF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704" y="3080077"/>
            <a:ext cx="9852592" cy="214749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E896F71-D7FF-F766-6F5F-E3F4171AE02F}"/>
              </a:ext>
            </a:extLst>
          </p:cNvPr>
          <p:cNvSpPr/>
          <p:nvPr/>
        </p:nvSpPr>
        <p:spPr>
          <a:xfrm>
            <a:off x="3543329" y="4185107"/>
            <a:ext cx="2834611" cy="2607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1294F1-FE78-9DEE-5AF8-00EA2F49CF8E}"/>
              </a:ext>
            </a:extLst>
          </p:cNvPr>
          <p:cNvSpPr/>
          <p:nvPr/>
        </p:nvSpPr>
        <p:spPr>
          <a:xfrm>
            <a:off x="8690639" y="3588539"/>
            <a:ext cx="727681" cy="2748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AD9CAED-6E89-18BB-3101-80ED5E05EF9B}"/>
              </a:ext>
            </a:extLst>
          </p:cNvPr>
          <p:cNvSpPr txBox="1"/>
          <p:nvPr/>
        </p:nvSpPr>
        <p:spPr>
          <a:xfrm>
            <a:off x="3401989" y="6153950"/>
            <a:ext cx="5420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pytorch.org</a:t>
            </a:r>
            <a:r>
              <a:rPr kumimoji="1" lang="en" altLang="zh-TW" sz="1400" dirty="0"/>
              <a:t>/docs/stable/generated/</a:t>
            </a:r>
            <a:r>
              <a:rPr kumimoji="1" lang="en" altLang="zh-TW" sz="1400" dirty="0" err="1"/>
              <a:t>torch.optim.AdamW.html</a:t>
            </a:r>
            <a:endParaRPr kumimoji="1" lang="en" altLang="zh-TW" sz="1400" dirty="0"/>
          </a:p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huggingface.co</a:t>
            </a:r>
            <a:r>
              <a:rPr kumimoji="1" lang="en" altLang="zh-TW" sz="1400" dirty="0"/>
              <a:t>/docs/transformers/</a:t>
            </a:r>
            <a:r>
              <a:rPr kumimoji="1" lang="en" altLang="zh-TW" sz="1400" dirty="0" err="1"/>
              <a:t>main_classes</a:t>
            </a:r>
            <a:r>
              <a:rPr kumimoji="1" lang="en" altLang="zh-TW" sz="1400" dirty="0"/>
              <a:t>/trainer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62077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36515-3767-0A4E-93DE-2F2307146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Let’s try it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E0F5C3-0F04-E5FC-8A45-FCE9CD76D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sz="2400" dirty="0">
                <a:ea typeface="Microsoft JhengHei" panose="020B0604030504040204" pitchFamily="34" charset="-120"/>
              </a:rPr>
              <a:t>1.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開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train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一下模型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3D89E6-8396-E3DC-2220-EAB1209C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509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3AFAE2-D6C5-6DF6-2086-3913C6ECF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Set</a:t>
            </a:r>
            <a:r>
              <a:rPr kumimoji="1" lang="zh-TW" altLang="en-US" dirty="0"/>
              <a:t> </a:t>
            </a:r>
            <a:r>
              <a:rPr kumimoji="1" lang="en-US" altLang="zh-TW" dirty="0"/>
              <a:t>up Evaluation Metric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87D9FE-C980-488D-ECE2-3D4863A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34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83C632D-4746-BD93-2217-6E08B2411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637" y="2177405"/>
            <a:ext cx="7084726" cy="38767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273F043-0A2C-E2DC-6733-CFE47620FC85}"/>
              </a:ext>
            </a:extLst>
          </p:cNvPr>
          <p:cNvSpPr/>
          <p:nvPr/>
        </p:nvSpPr>
        <p:spPr>
          <a:xfrm>
            <a:off x="1213584" y="1653209"/>
            <a:ext cx="3440861" cy="4004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zh-TW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rouge_metric</a:t>
            </a:r>
            <a:r>
              <a:rPr lang="en" altLang="zh-TW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Rouge()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590502E-BB38-15CC-2991-E9D427D38950}"/>
              </a:ext>
            </a:extLst>
          </p:cNvPr>
          <p:cNvSpPr txBox="1"/>
          <p:nvPr/>
        </p:nvSpPr>
        <p:spPr>
          <a:xfrm>
            <a:off x="4654445" y="6054150"/>
            <a:ext cx="33503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/>
              <a:t>https://github.com/pltrdy/rouge</a:t>
            </a:r>
          </a:p>
        </p:txBody>
      </p:sp>
    </p:spTree>
    <p:extLst>
      <p:ext uri="{BB962C8B-B14F-4D97-AF65-F5344CB8AC3E}">
        <p14:creationId xmlns:p14="http://schemas.microsoft.com/office/powerpoint/2010/main" val="2053692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2149C4-2582-7F71-EB09-0A93D9970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Generating step-by-step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B635EF-DB27-9256-7613-BFB0C773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35</a:t>
            </a:fld>
            <a:endParaRPr lang="en-US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49AC714C-F827-037A-3FCD-BB0BE5777A22}"/>
              </a:ext>
            </a:extLst>
          </p:cNvPr>
          <p:cNvSpPr/>
          <p:nvPr/>
        </p:nvSpPr>
        <p:spPr>
          <a:xfrm>
            <a:off x="1337310" y="2868284"/>
            <a:ext cx="2658745" cy="852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Casual Language Model</a:t>
            </a:r>
          </a:p>
          <a:p>
            <a:pPr algn="ctr"/>
            <a:r>
              <a:rPr kumimoji="1" lang="en-US" altLang="zh-TW" dirty="0"/>
              <a:t>(E.g., GPT)</a:t>
            </a:r>
            <a:endParaRPr kumimoji="1" lang="zh-TW" alt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9BDEC50-6D99-BA98-4FFB-74A67A35C54F}"/>
              </a:ext>
            </a:extLst>
          </p:cNvPr>
          <p:cNvSpPr/>
          <p:nvPr/>
        </p:nvSpPr>
        <p:spPr>
          <a:xfrm>
            <a:off x="5122698" y="2777704"/>
            <a:ext cx="5685556" cy="10334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3200" dirty="0">
                <a:solidFill>
                  <a:schemeClr val="tx1"/>
                </a:solidFill>
              </a:rPr>
              <a:t>Language Model</a:t>
            </a:r>
            <a:endParaRPr kumimoji="1"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339BCDA5-F3F5-8AD5-F6CF-2B6122F6D3F2}"/>
              </a:ext>
            </a:extLst>
          </p:cNvPr>
          <p:cNvSpPr/>
          <p:nvPr/>
        </p:nvSpPr>
        <p:spPr>
          <a:xfrm>
            <a:off x="5948426" y="4235219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503D8209-0ED9-88F1-872A-F212562D024F}"/>
              </a:ext>
            </a:extLst>
          </p:cNvPr>
          <p:cNvSpPr/>
          <p:nvPr/>
        </p:nvSpPr>
        <p:spPr>
          <a:xfrm>
            <a:off x="9596426" y="4235219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DFF281D9-34D6-8ECC-0855-A65C3468FBB9}"/>
              </a:ext>
            </a:extLst>
          </p:cNvPr>
          <p:cNvSpPr/>
          <p:nvPr/>
        </p:nvSpPr>
        <p:spPr>
          <a:xfrm>
            <a:off x="10326028" y="4235219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2B4C9DA9-B391-EA4A-29F7-EB50754C4710}"/>
              </a:ext>
            </a:extLst>
          </p:cNvPr>
          <p:cNvSpPr/>
          <p:nvPr/>
        </p:nvSpPr>
        <p:spPr>
          <a:xfrm>
            <a:off x="6678026" y="4235219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B6832E97-9141-8544-5E4B-0DF4D9D60CEA}"/>
              </a:ext>
            </a:extLst>
          </p:cNvPr>
          <p:cNvSpPr/>
          <p:nvPr/>
        </p:nvSpPr>
        <p:spPr>
          <a:xfrm>
            <a:off x="7407626" y="4235219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DD8E0ED-2D97-A4B5-2CC5-C589B38D704C}"/>
              </a:ext>
            </a:extLst>
          </p:cNvPr>
          <p:cNvSpPr/>
          <p:nvPr/>
        </p:nvSpPr>
        <p:spPr>
          <a:xfrm>
            <a:off x="8137226" y="4235219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24435AA9-1ADB-9D13-41F6-BC76462D79C6}"/>
              </a:ext>
            </a:extLst>
          </p:cNvPr>
          <p:cNvSpPr/>
          <p:nvPr/>
        </p:nvSpPr>
        <p:spPr>
          <a:xfrm>
            <a:off x="8866826" y="4235219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4FDFD6AE-A8BD-8997-A7A8-48910425C2A2}"/>
              </a:ext>
            </a:extLst>
          </p:cNvPr>
          <p:cNvSpPr/>
          <p:nvPr/>
        </p:nvSpPr>
        <p:spPr>
          <a:xfrm>
            <a:off x="10326028" y="1977650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3B6B4062-FE10-5049-EC17-81AEA3EBA6A6}"/>
              </a:ext>
            </a:extLst>
          </p:cNvPr>
          <p:cNvCxnSpPr>
            <a:cxnSpLocks/>
          </p:cNvCxnSpPr>
          <p:nvPr/>
        </p:nvCxnSpPr>
        <p:spPr>
          <a:xfrm flipV="1">
            <a:off x="10550418" y="3871511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546A270F-12BF-095A-3449-5DDE2E33C689}"/>
              </a:ext>
            </a:extLst>
          </p:cNvPr>
          <p:cNvCxnSpPr>
            <a:cxnSpLocks/>
          </p:cNvCxnSpPr>
          <p:nvPr/>
        </p:nvCxnSpPr>
        <p:spPr>
          <a:xfrm flipV="1">
            <a:off x="9820816" y="3871511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26AF2137-25BE-E39B-0F95-1FDEE554F5BF}"/>
              </a:ext>
            </a:extLst>
          </p:cNvPr>
          <p:cNvCxnSpPr>
            <a:cxnSpLocks/>
          </p:cNvCxnSpPr>
          <p:nvPr/>
        </p:nvCxnSpPr>
        <p:spPr>
          <a:xfrm flipV="1">
            <a:off x="9091216" y="3871511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D725784D-9F45-34EB-AF5A-5D91DC76A86D}"/>
              </a:ext>
            </a:extLst>
          </p:cNvPr>
          <p:cNvCxnSpPr>
            <a:cxnSpLocks/>
          </p:cNvCxnSpPr>
          <p:nvPr/>
        </p:nvCxnSpPr>
        <p:spPr>
          <a:xfrm flipV="1">
            <a:off x="8361616" y="3871511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6A76CC7C-58BC-FC57-CCA0-B61AB3868D4F}"/>
              </a:ext>
            </a:extLst>
          </p:cNvPr>
          <p:cNvCxnSpPr>
            <a:cxnSpLocks/>
          </p:cNvCxnSpPr>
          <p:nvPr/>
        </p:nvCxnSpPr>
        <p:spPr>
          <a:xfrm flipV="1">
            <a:off x="7632016" y="3871511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3E857CF3-133F-AB32-087D-4D21DA5A5AE5}"/>
              </a:ext>
            </a:extLst>
          </p:cNvPr>
          <p:cNvCxnSpPr>
            <a:cxnSpLocks/>
          </p:cNvCxnSpPr>
          <p:nvPr/>
        </p:nvCxnSpPr>
        <p:spPr>
          <a:xfrm flipV="1">
            <a:off x="6902416" y="3871511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C40E09CF-C1DC-FED2-F740-6F55EAB3CB4A}"/>
              </a:ext>
            </a:extLst>
          </p:cNvPr>
          <p:cNvCxnSpPr>
            <a:cxnSpLocks/>
          </p:cNvCxnSpPr>
          <p:nvPr/>
        </p:nvCxnSpPr>
        <p:spPr>
          <a:xfrm flipV="1">
            <a:off x="6172816" y="3871511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B0EFD98C-CD74-0A6C-135E-884784F295E6}"/>
              </a:ext>
            </a:extLst>
          </p:cNvPr>
          <p:cNvSpPr/>
          <p:nvPr/>
        </p:nvSpPr>
        <p:spPr>
          <a:xfrm>
            <a:off x="5218824" y="4235219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040C4518-1010-AC7E-4714-833381BC1EE9}"/>
              </a:ext>
            </a:extLst>
          </p:cNvPr>
          <p:cNvCxnSpPr>
            <a:cxnSpLocks/>
          </p:cNvCxnSpPr>
          <p:nvPr/>
        </p:nvCxnSpPr>
        <p:spPr>
          <a:xfrm flipV="1">
            <a:off x="5443214" y="3871511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09F19C0A-F109-7E8B-964A-88A50F870A13}"/>
              </a:ext>
            </a:extLst>
          </p:cNvPr>
          <p:cNvSpPr/>
          <p:nvPr/>
        </p:nvSpPr>
        <p:spPr>
          <a:xfrm>
            <a:off x="5218826" y="197765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BECB3D3F-2847-855E-6EA6-D1C447E89441}"/>
              </a:ext>
            </a:extLst>
          </p:cNvPr>
          <p:cNvSpPr/>
          <p:nvPr/>
        </p:nvSpPr>
        <p:spPr>
          <a:xfrm>
            <a:off x="8866826" y="197765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6F7D2E08-170A-AE7A-F18E-9ECFEA78B6CF}"/>
              </a:ext>
            </a:extLst>
          </p:cNvPr>
          <p:cNvSpPr/>
          <p:nvPr/>
        </p:nvSpPr>
        <p:spPr>
          <a:xfrm>
            <a:off x="9596428" y="197765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0D12AB94-4AF0-63CD-8F96-E997CEBF8D40}"/>
              </a:ext>
            </a:extLst>
          </p:cNvPr>
          <p:cNvSpPr/>
          <p:nvPr/>
        </p:nvSpPr>
        <p:spPr>
          <a:xfrm>
            <a:off x="5948426" y="197765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BAB62FDD-086C-698F-E3B9-B03A203772C7}"/>
              </a:ext>
            </a:extLst>
          </p:cNvPr>
          <p:cNvSpPr/>
          <p:nvPr/>
        </p:nvSpPr>
        <p:spPr>
          <a:xfrm>
            <a:off x="6678026" y="197765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15A3D433-700B-6634-9DF0-2C8A97DEF7EF}"/>
              </a:ext>
            </a:extLst>
          </p:cNvPr>
          <p:cNvSpPr/>
          <p:nvPr/>
        </p:nvSpPr>
        <p:spPr>
          <a:xfrm>
            <a:off x="7407626" y="197765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53839EFD-2F25-19FA-3441-E12030E19898}"/>
              </a:ext>
            </a:extLst>
          </p:cNvPr>
          <p:cNvSpPr/>
          <p:nvPr/>
        </p:nvSpPr>
        <p:spPr>
          <a:xfrm>
            <a:off x="8137226" y="197765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18945809-F440-6956-F2CD-62DCC267EA27}"/>
              </a:ext>
            </a:extLst>
          </p:cNvPr>
          <p:cNvCxnSpPr>
            <a:cxnSpLocks/>
          </p:cNvCxnSpPr>
          <p:nvPr/>
        </p:nvCxnSpPr>
        <p:spPr>
          <a:xfrm flipV="1">
            <a:off x="10539574" y="2423830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CB1B7A90-3807-9F9B-018D-CDFC4146143C}"/>
              </a:ext>
            </a:extLst>
          </p:cNvPr>
          <p:cNvCxnSpPr>
            <a:cxnSpLocks/>
          </p:cNvCxnSpPr>
          <p:nvPr/>
        </p:nvCxnSpPr>
        <p:spPr>
          <a:xfrm flipV="1">
            <a:off x="9809972" y="2423830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A8B292CE-341F-559F-CBAF-1053E70A864E}"/>
              </a:ext>
            </a:extLst>
          </p:cNvPr>
          <p:cNvCxnSpPr>
            <a:cxnSpLocks/>
          </p:cNvCxnSpPr>
          <p:nvPr/>
        </p:nvCxnSpPr>
        <p:spPr>
          <a:xfrm flipV="1">
            <a:off x="9080372" y="2423830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A310C3BE-36BC-D39C-F1B6-B9B5CD9672ED}"/>
              </a:ext>
            </a:extLst>
          </p:cNvPr>
          <p:cNvCxnSpPr>
            <a:cxnSpLocks/>
          </p:cNvCxnSpPr>
          <p:nvPr/>
        </p:nvCxnSpPr>
        <p:spPr>
          <a:xfrm flipV="1">
            <a:off x="8350772" y="2423830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DBA30397-217B-BBD3-F22F-EA99AC3410BA}"/>
              </a:ext>
            </a:extLst>
          </p:cNvPr>
          <p:cNvCxnSpPr>
            <a:cxnSpLocks/>
          </p:cNvCxnSpPr>
          <p:nvPr/>
        </p:nvCxnSpPr>
        <p:spPr>
          <a:xfrm flipV="1">
            <a:off x="7621172" y="2423830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7EA91884-40AA-1373-7AA0-5B6B12F8D69A}"/>
              </a:ext>
            </a:extLst>
          </p:cNvPr>
          <p:cNvCxnSpPr>
            <a:cxnSpLocks/>
          </p:cNvCxnSpPr>
          <p:nvPr/>
        </p:nvCxnSpPr>
        <p:spPr>
          <a:xfrm flipV="1">
            <a:off x="6891572" y="2423830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52DA547E-C2A5-56E3-FC44-D4409FF65ABD}"/>
              </a:ext>
            </a:extLst>
          </p:cNvPr>
          <p:cNvCxnSpPr>
            <a:cxnSpLocks/>
          </p:cNvCxnSpPr>
          <p:nvPr/>
        </p:nvCxnSpPr>
        <p:spPr>
          <a:xfrm flipV="1">
            <a:off x="6161972" y="2423830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7D46FB12-8FA6-7FE3-2623-FBD3B2092EC5}"/>
              </a:ext>
            </a:extLst>
          </p:cNvPr>
          <p:cNvCxnSpPr>
            <a:cxnSpLocks/>
          </p:cNvCxnSpPr>
          <p:nvPr/>
        </p:nvCxnSpPr>
        <p:spPr>
          <a:xfrm flipV="1">
            <a:off x="5432370" y="2423830"/>
            <a:ext cx="0" cy="296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98963E8E-691A-DE12-1BE2-27DE2563A949}"/>
              </a:ext>
            </a:extLst>
          </p:cNvPr>
          <p:cNvSpPr txBox="1"/>
          <p:nvPr/>
        </p:nvSpPr>
        <p:spPr>
          <a:xfrm>
            <a:off x="1356576" y="5061880"/>
            <a:ext cx="9726931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Training time: update the model through hidden states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Test time: perform </a:t>
            </a:r>
            <a:r>
              <a:rPr kumimoji="1" lang="en-US" altLang="zh-TW" sz="2400" dirty="0">
                <a:solidFill>
                  <a:srgbClr val="FF0000"/>
                </a:solidFill>
              </a:rPr>
              <a:t>decoding</a:t>
            </a:r>
            <a:r>
              <a:rPr kumimoji="1" lang="en-US" altLang="zh-TW" sz="2400" dirty="0"/>
              <a:t> for each step</a:t>
            </a:r>
          </a:p>
        </p:txBody>
      </p:sp>
    </p:spTree>
    <p:extLst>
      <p:ext uri="{BB962C8B-B14F-4D97-AF65-F5344CB8AC3E}">
        <p14:creationId xmlns:p14="http://schemas.microsoft.com/office/powerpoint/2010/main" val="114479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53441E-ED74-2688-420C-978044E9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Decoding strategies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58D30B-58A2-8B03-046A-93790A0EA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442" y="6319349"/>
            <a:ext cx="5111116" cy="365126"/>
          </a:xfrm>
        </p:spPr>
        <p:txBody>
          <a:bodyPr>
            <a:normAutofit lnSpcReduction="10000"/>
          </a:bodyPr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huggingface.co</a:t>
            </a:r>
            <a:r>
              <a:rPr kumimoji="1" lang="en" altLang="zh-TW" dirty="0"/>
              <a:t>/blog/how-to-generate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2C7B15-1458-839B-09F3-49D813A0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36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EAB9D19-4253-985F-DEB4-082B92D8F93E}"/>
              </a:ext>
            </a:extLst>
          </p:cNvPr>
          <p:cNvSpPr txBox="1"/>
          <p:nvPr/>
        </p:nvSpPr>
        <p:spPr>
          <a:xfrm>
            <a:off x="653143" y="1733687"/>
            <a:ext cx="9726931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Popular decoding strategies:</a:t>
            </a:r>
          </a:p>
          <a:p>
            <a:pPr marL="742950" lvl="1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Greedy decoding</a:t>
            </a:r>
          </a:p>
          <a:p>
            <a:pPr marL="742950" lvl="1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Beam search</a:t>
            </a:r>
          </a:p>
          <a:p>
            <a:pPr marL="742950" lvl="1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Top-k sampling</a:t>
            </a:r>
          </a:p>
          <a:p>
            <a:pPr marL="742950" lvl="1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Top-p sampling</a:t>
            </a:r>
          </a:p>
        </p:txBody>
      </p:sp>
    </p:spTree>
    <p:extLst>
      <p:ext uri="{BB962C8B-B14F-4D97-AF65-F5344CB8AC3E}">
        <p14:creationId xmlns:p14="http://schemas.microsoft.com/office/powerpoint/2010/main" val="5540032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3B23A0-3CF1-43E2-67A6-F256A53A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How to let a model generate step-by-step?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85E871-146E-9C03-785F-EB400A6A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37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0573B1A-C2AB-AC6C-0D31-DB36698409DB}"/>
              </a:ext>
            </a:extLst>
          </p:cNvPr>
          <p:cNvSpPr txBox="1"/>
          <p:nvPr/>
        </p:nvSpPr>
        <p:spPr>
          <a:xfrm>
            <a:off x="593905" y="1873387"/>
            <a:ext cx="9726931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We can use </a:t>
            </a:r>
            <a:r>
              <a:rPr kumimoji="1" lang="en-US" altLang="zh-TW" sz="2400" dirty="0" err="1">
                <a:hlinkClick r:id="rId2"/>
              </a:rPr>
              <a:t>model.generate</a:t>
            </a:r>
            <a:r>
              <a:rPr kumimoji="1" lang="en-US" altLang="zh-TW" sz="2400" dirty="0">
                <a:hlinkClick r:id="rId2"/>
              </a:rPr>
              <a:t>()</a:t>
            </a:r>
            <a:endParaRPr kumimoji="1" lang="en-US" altLang="zh-TW" sz="2400" dirty="0"/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kumimoji="1" lang="en-US" altLang="zh-TW" sz="2400" dirty="0"/>
              <a:t>There are two main advantages of </a:t>
            </a:r>
            <a:r>
              <a:rPr kumimoji="1" lang="en-US" altLang="zh-TW" sz="2400" dirty="0" err="1"/>
              <a:t>model.generate</a:t>
            </a:r>
            <a:r>
              <a:rPr kumimoji="1" lang="en-US" altLang="zh-TW" sz="2400" dirty="0"/>
              <a:t>():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zh-TW" sz="2400" dirty="0"/>
              <a:t>We don’t need to write a decoding loop on our own.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zh-TW" sz="2400" dirty="0"/>
              <a:t>We don’t need to implement decoding strategies by ourselves.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E6626DE-F390-8D7C-A0B5-09F0F9805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5821" y="6319349"/>
            <a:ext cx="5400357" cy="365126"/>
          </a:xfrm>
        </p:spPr>
        <p:txBody>
          <a:bodyPr>
            <a:normAutofit fontScale="85000" lnSpcReduction="10000"/>
          </a:bodyPr>
          <a:lstStyle/>
          <a:p>
            <a:r>
              <a:rPr kumimoji="1" lang="en" altLang="zh-TW" dirty="0"/>
              <a:t>[Useful!!] https://</a:t>
            </a:r>
            <a:r>
              <a:rPr kumimoji="1" lang="en" altLang="zh-TW" dirty="0" err="1"/>
              <a:t>huggingface.co</a:t>
            </a:r>
            <a:r>
              <a:rPr kumimoji="1" lang="en" altLang="zh-TW" dirty="0"/>
              <a:t>/blog/how-to-generate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959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D41DD121-C215-A90A-CE11-A12B58E3F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Pseudo code of a </a:t>
            </a:r>
            <a:r>
              <a:rPr kumimoji="1" lang="en-US" altLang="zh-TW" sz="4800" dirty="0"/>
              <a:t>decoding loop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EB498A-7656-2E1E-B3B9-9B1BDE84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F6F08C-B8E8-F516-898C-DE647A04B373}"/>
              </a:ext>
            </a:extLst>
          </p:cNvPr>
          <p:cNvSpPr/>
          <p:nvPr/>
        </p:nvSpPr>
        <p:spPr>
          <a:xfrm>
            <a:off x="1213584" y="1723991"/>
            <a:ext cx="9764832" cy="48741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for step in range(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max_length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# Forward pass through the model</a:t>
            </a: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outputs = 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model.decoder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input_ids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decoder_input_ids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encoder_outputs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encoder_outputs</a:t>
            </a:r>
            <a:endParaRPr lang="en" altLang="zh-TW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)</a:t>
            </a: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</a:t>
            </a: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# Take the last hidden state's logits</a:t>
            </a: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logits = 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outputs.logits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[-1]  # shape: (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vocab_size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,)</a:t>
            </a:r>
          </a:p>
          <a:p>
            <a:endParaRPr lang="en" altLang="zh-TW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# Apply 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softmax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to get probabilities (optional, since argmax is invariant)</a:t>
            </a: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probs = 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softmax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(logits)</a:t>
            </a:r>
          </a:p>
          <a:p>
            <a:endParaRPr lang="en" altLang="zh-TW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# Select the token with the highest probability (greedy decoding)</a:t>
            </a: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next_token_id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argmax(probs)</a:t>
            </a:r>
          </a:p>
          <a:p>
            <a:endParaRPr lang="en" altLang="zh-TW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# Append the predicted token to the decoder inputs</a:t>
            </a: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decoder_input_ids.append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next_token_id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endParaRPr lang="en" altLang="zh-TW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# If EOS token is generated, stop decoding</a:t>
            </a: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if </a:t>
            </a:r>
            <a:r>
              <a:rPr lang="en" altLang="zh-TW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next_token_id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EOS_TOKEN_ID:</a:t>
            </a:r>
          </a:p>
          <a:p>
            <a:r>
              <a:rPr lang="en" altLang="zh-TW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break</a:t>
            </a:r>
          </a:p>
        </p:txBody>
      </p:sp>
    </p:spTree>
    <p:extLst>
      <p:ext uri="{BB962C8B-B14F-4D97-AF65-F5344CB8AC3E}">
        <p14:creationId xmlns:p14="http://schemas.microsoft.com/office/powerpoint/2010/main" val="23683162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3AFAE2-D6C5-6DF6-2086-3913C6ECF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4800" dirty="0"/>
              <a:t>Perform Evaluations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98E366-3B2C-1B7F-6314-8AB11AA7A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166" y="2102832"/>
            <a:ext cx="10058400" cy="485986"/>
          </a:xfrm>
        </p:spPr>
        <p:txBody>
          <a:bodyPr>
            <a:normAutofit/>
          </a:bodyPr>
          <a:lstStyle/>
          <a:p>
            <a:r>
              <a:rPr kumimoji="1" lang="en-US" altLang="zh-TW" sz="2800" dirty="0"/>
              <a:t>Input:</a:t>
            </a:r>
            <a:endParaRPr kumimoji="1"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87D9FE-C980-488D-ECE2-3D4863A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39</a:t>
            </a:fld>
            <a:endParaRPr 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D3352DAB-8093-521C-79AC-B68555E3B2B2}"/>
              </a:ext>
            </a:extLst>
          </p:cNvPr>
          <p:cNvSpPr txBox="1">
            <a:spLocks/>
          </p:cNvSpPr>
          <p:nvPr/>
        </p:nvSpPr>
        <p:spPr>
          <a:xfrm>
            <a:off x="727166" y="3300363"/>
            <a:ext cx="10058400" cy="4859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800" dirty="0"/>
              <a:t>Expected output of </a:t>
            </a:r>
            <a:r>
              <a:rPr kumimoji="1"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model.generate</a:t>
            </a:r>
            <a:r>
              <a:rPr kumimoji="1"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  <a:endParaRPr kumimoji="1" lang="zh-TW" alt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內容版面配置區 2">
            <a:extLst>
              <a:ext uri="{FF2B5EF4-FFF2-40B4-BE49-F238E27FC236}">
                <a16:creationId xmlns:a16="http://schemas.microsoft.com/office/drawing/2014/main" id="{F4E68DC9-4C4B-0C3E-B03C-C9ABD6E748EE}"/>
              </a:ext>
            </a:extLst>
          </p:cNvPr>
          <p:cNvSpPr txBox="1">
            <a:spLocks/>
          </p:cNvSpPr>
          <p:nvPr/>
        </p:nvSpPr>
        <p:spPr>
          <a:xfrm>
            <a:off x="727166" y="5243141"/>
            <a:ext cx="10058400" cy="4859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800" dirty="0"/>
              <a:t>Gold:</a:t>
            </a:r>
            <a:endParaRPr kumimoji="1" lang="zh-TW" altLang="en-US" sz="2800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F5608256-0ED5-8E44-E3FE-74366E3F6DD8}"/>
              </a:ext>
            </a:extLst>
          </p:cNvPr>
          <p:cNvSpPr/>
          <p:nvPr/>
        </p:nvSpPr>
        <p:spPr>
          <a:xfrm>
            <a:off x="2692767" y="4132396"/>
            <a:ext cx="810970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[CLS]</a:t>
            </a:r>
            <a:endParaRPr kumimoji="1" lang="zh-TW" altLang="en-US" dirty="0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36C74066-E1A3-6F99-F078-6A9053D03F07}"/>
              </a:ext>
            </a:extLst>
          </p:cNvPr>
          <p:cNvSpPr/>
          <p:nvPr/>
        </p:nvSpPr>
        <p:spPr>
          <a:xfrm>
            <a:off x="3543048" y="4132396"/>
            <a:ext cx="1756292" cy="43500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Source article</a:t>
            </a:r>
            <a:endParaRPr kumimoji="1" lang="zh-TW" altLang="en-US" dirty="0"/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39FB46EA-8D55-DBB5-B008-891865533828}"/>
              </a:ext>
            </a:extLst>
          </p:cNvPr>
          <p:cNvSpPr/>
          <p:nvPr/>
        </p:nvSpPr>
        <p:spPr>
          <a:xfrm>
            <a:off x="6188932" y="4132396"/>
            <a:ext cx="1756292" cy="4350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Summary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BA2990EB-6DF3-746A-91B8-2A4A82CCF359}"/>
              </a:ext>
            </a:extLst>
          </p:cNvPr>
          <p:cNvSpPr/>
          <p:nvPr/>
        </p:nvSpPr>
        <p:spPr>
          <a:xfrm>
            <a:off x="5338651" y="4141273"/>
            <a:ext cx="810970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[SEP]</a:t>
            </a:r>
            <a:endParaRPr kumimoji="1" lang="zh-TW" altLang="en-US" dirty="0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307F0ABF-D51B-35C7-670A-3304ED62CD02}"/>
              </a:ext>
            </a:extLst>
          </p:cNvPr>
          <p:cNvSpPr/>
          <p:nvPr/>
        </p:nvSpPr>
        <p:spPr>
          <a:xfrm>
            <a:off x="7984535" y="4122692"/>
            <a:ext cx="1649307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/>
              <a:t>&lt;|</a:t>
            </a:r>
            <a:r>
              <a:rPr kumimoji="1" lang="en-US" altLang="zh-TW" sz="1600" dirty="0" err="1"/>
              <a:t>endoftext</a:t>
            </a:r>
            <a:r>
              <a:rPr kumimoji="1" lang="en-US" altLang="zh-TW" sz="1600" dirty="0"/>
              <a:t>|&gt;</a:t>
            </a:r>
            <a:endParaRPr kumimoji="1" lang="zh-TW" altLang="en-US" sz="1600" dirty="0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4080192A-0945-FB7B-FB26-83AAB5DF98B7}"/>
              </a:ext>
            </a:extLst>
          </p:cNvPr>
          <p:cNvSpPr/>
          <p:nvPr/>
        </p:nvSpPr>
        <p:spPr>
          <a:xfrm>
            <a:off x="2692767" y="2143152"/>
            <a:ext cx="810970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[CLS]</a:t>
            </a:r>
            <a:endParaRPr kumimoji="1" lang="zh-TW" altLang="en-US" dirty="0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5B79F559-509C-A4B4-EC76-1C636559B253}"/>
              </a:ext>
            </a:extLst>
          </p:cNvPr>
          <p:cNvSpPr/>
          <p:nvPr/>
        </p:nvSpPr>
        <p:spPr>
          <a:xfrm>
            <a:off x="3543048" y="2143152"/>
            <a:ext cx="1756292" cy="43500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Source article</a:t>
            </a:r>
            <a:endParaRPr kumimoji="1" lang="zh-TW" altLang="en-US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27B573F0-BC9F-7DFD-D6CB-D3CC75DE387F}"/>
              </a:ext>
            </a:extLst>
          </p:cNvPr>
          <p:cNvSpPr/>
          <p:nvPr/>
        </p:nvSpPr>
        <p:spPr>
          <a:xfrm>
            <a:off x="5338651" y="2152029"/>
            <a:ext cx="810970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[SEP]</a:t>
            </a:r>
            <a:endParaRPr kumimoji="1" lang="zh-TW" altLang="en-US" dirty="0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47A89474-AB23-5F32-CF3F-84E9C788DF46}"/>
              </a:ext>
            </a:extLst>
          </p:cNvPr>
          <p:cNvSpPr/>
          <p:nvPr/>
        </p:nvSpPr>
        <p:spPr>
          <a:xfrm>
            <a:off x="6188932" y="5268631"/>
            <a:ext cx="1756292" cy="4350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Summary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4262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0960C2-470B-048B-1696-1054326F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24295"/>
            <a:ext cx="3200400" cy="2286000"/>
          </a:xfrm>
        </p:spPr>
        <p:txBody>
          <a:bodyPr anchor="b">
            <a:normAutofit/>
          </a:bodyPr>
          <a:lstStyle/>
          <a:p>
            <a:r>
              <a:rPr kumimoji="1" lang="en-US" altLang="zh-TW" sz="4000" dirty="0"/>
              <a:t>Perform Evaluations</a:t>
            </a:r>
            <a:endParaRPr kumimoji="1" lang="zh-TW" altLang="en-US" sz="4000" dirty="0"/>
          </a:p>
        </p:txBody>
      </p:sp>
      <p:pic>
        <p:nvPicPr>
          <p:cNvPr id="7" name="圖片 6" descr="一張含有 文字, 螢幕擷取畫面, 字型 的圖片&#10;&#10;自動產生的描述">
            <a:extLst>
              <a:ext uri="{FF2B5EF4-FFF2-40B4-BE49-F238E27FC236}">
                <a16:creationId xmlns:a16="http://schemas.microsoft.com/office/drawing/2014/main" id="{8D90ECC9-F500-8E0F-7B38-96F8B6857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983" y="307853"/>
            <a:ext cx="7212330" cy="539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7EF5DFD-33E1-CD83-EF30-DB0CEF15F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429000"/>
            <a:ext cx="3200400" cy="2876204"/>
          </a:xfrm>
        </p:spPr>
        <p:txBody>
          <a:bodyPr>
            <a:normAutofit/>
          </a:bodyPr>
          <a:lstStyle/>
          <a:p>
            <a:r>
              <a:rPr lang="en-US" sz="3600" dirty="0"/>
              <a:t>Output Part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71DE0E-0473-38E8-40EB-F80E5CFD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1988" y="6459785"/>
            <a:ext cx="131202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113E31D-E2AB-40D1-8B51-AFA5AFEF393A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sp>
        <p:nvSpPr>
          <p:cNvPr id="18" name="內容版面配置區 2">
            <a:extLst>
              <a:ext uri="{FF2B5EF4-FFF2-40B4-BE49-F238E27FC236}">
                <a16:creationId xmlns:a16="http://schemas.microsoft.com/office/drawing/2014/main" id="{CFB4786D-2F83-615C-E2C4-21375AD7CE39}"/>
              </a:ext>
            </a:extLst>
          </p:cNvPr>
          <p:cNvSpPr txBox="1">
            <a:spLocks/>
          </p:cNvSpPr>
          <p:nvPr/>
        </p:nvSpPr>
        <p:spPr>
          <a:xfrm>
            <a:off x="4229100" y="5765173"/>
            <a:ext cx="6137910" cy="4859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dirty="0"/>
              <a:t>Expected output of </a:t>
            </a:r>
            <a:r>
              <a:rPr kumimoji="1"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model.generate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  <a:endParaRPr kumimoji="1" lang="zh-TW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D4A1C74-4E84-F1AB-8553-A175D06420D5}"/>
              </a:ext>
            </a:extLst>
          </p:cNvPr>
          <p:cNvSpPr/>
          <p:nvPr/>
        </p:nvSpPr>
        <p:spPr>
          <a:xfrm>
            <a:off x="5786541" y="3670757"/>
            <a:ext cx="5695772" cy="2497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DF5B469-2FA2-E7CC-408F-65AB3D6EBC5A}"/>
              </a:ext>
            </a:extLst>
          </p:cNvPr>
          <p:cNvSpPr/>
          <p:nvPr/>
        </p:nvSpPr>
        <p:spPr>
          <a:xfrm>
            <a:off x="6531396" y="4338836"/>
            <a:ext cx="795234" cy="2497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D409B9-196E-C905-25E8-1EFE8164F2F2}"/>
              </a:ext>
            </a:extLst>
          </p:cNvPr>
          <p:cNvSpPr/>
          <p:nvPr/>
        </p:nvSpPr>
        <p:spPr>
          <a:xfrm>
            <a:off x="6738015" y="3211851"/>
            <a:ext cx="588616" cy="2171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574DB804-F4C0-FCAD-8BC9-64686EF00A53}"/>
              </a:ext>
            </a:extLst>
          </p:cNvPr>
          <p:cNvSpPr/>
          <p:nvPr/>
        </p:nvSpPr>
        <p:spPr>
          <a:xfrm>
            <a:off x="4541238" y="6251159"/>
            <a:ext cx="810970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[CLS]</a:t>
            </a:r>
            <a:endParaRPr kumimoji="1" lang="zh-TW" alt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5920F726-E56B-9E5A-EC67-EA688391CFBE}"/>
              </a:ext>
            </a:extLst>
          </p:cNvPr>
          <p:cNvSpPr/>
          <p:nvPr/>
        </p:nvSpPr>
        <p:spPr>
          <a:xfrm>
            <a:off x="5391519" y="6251159"/>
            <a:ext cx="1756292" cy="43500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Source article</a:t>
            </a:r>
            <a:endParaRPr kumimoji="1" lang="zh-TW" alt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AB74D471-5F44-11DE-AF34-752C02BB6C0C}"/>
              </a:ext>
            </a:extLst>
          </p:cNvPr>
          <p:cNvSpPr/>
          <p:nvPr/>
        </p:nvSpPr>
        <p:spPr>
          <a:xfrm>
            <a:off x="8037403" y="6251159"/>
            <a:ext cx="1756292" cy="4350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Summary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8D43391B-DEF8-D950-1E71-4043BE40F8AB}"/>
              </a:ext>
            </a:extLst>
          </p:cNvPr>
          <p:cNvSpPr/>
          <p:nvPr/>
        </p:nvSpPr>
        <p:spPr>
          <a:xfrm>
            <a:off x="7187122" y="6260036"/>
            <a:ext cx="810970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[SEP]</a:t>
            </a:r>
            <a:endParaRPr kumimoji="1" lang="zh-TW" altLang="en-US" dirty="0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905418EA-15FE-64B6-B1F4-E5F0A05C6B13}"/>
              </a:ext>
            </a:extLst>
          </p:cNvPr>
          <p:cNvSpPr/>
          <p:nvPr/>
        </p:nvSpPr>
        <p:spPr>
          <a:xfrm>
            <a:off x="9833006" y="6241455"/>
            <a:ext cx="1649307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/>
              <a:t>&lt;|</a:t>
            </a:r>
            <a:r>
              <a:rPr kumimoji="1" lang="en-US" altLang="zh-TW" sz="1600" dirty="0" err="1"/>
              <a:t>endoftext</a:t>
            </a:r>
            <a:r>
              <a:rPr kumimoji="1" lang="en-US" altLang="zh-TW" sz="1600" dirty="0"/>
              <a:t>|&gt;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199952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AE47B-A2A9-664B-F959-29E1361A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1A2CE2-7BCB-661F-02D3-2921A3B7E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Decoding </a:t>
            </a:r>
            <a:r>
              <a:rPr kumimoji="1" lang="zh-TW" altLang="en-US" dirty="0"/>
              <a:t>後的處理 </a:t>
            </a:r>
            <a:r>
              <a:rPr kumimoji="1" lang="en-US" altLang="zh-TW" dirty="0"/>
              <a:t>(</a:t>
            </a:r>
            <a:r>
              <a:rPr kumimoji="1" lang="zh-TW" altLang="en-US" dirty="0"/>
              <a:t>接續上一頁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BD4D24-E09D-066A-46B7-4EC960E9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41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8C0FCFD-C1CE-8559-85CF-194F03C580C7}"/>
              </a:ext>
            </a:extLst>
          </p:cNvPr>
          <p:cNvSpPr txBox="1"/>
          <p:nvPr/>
        </p:nvSpPr>
        <p:spPr>
          <a:xfrm>
            <a:off x="678757" y="4405093"/>
            <a:ext cx="11246223" cy="1705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b="1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altLang="zh-TW" dirty="0"/>
              <a:t>: </a:t>
            </a:r>
            <a:r>
              <a:rPr lang="zh-TW" altLang="en-US" dirty="0"/>
              <a:t>[CLS] 中國 足協 今 日 宣布 與 國際 足聯 達成 合作 協議 [SEP] 中國 足協 與 國際 簽署 協議 &lt;|endoftext|&gt;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b="1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" altLang="zh-TW" sz="18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.split(</a:t>
            </a:r>
            <a:r>
              <a:rPr lang="en" altLang="zh-TW" sz="1800" b="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TW" sz="1800" b="1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[SEP]</a:t>
            </a:r>
            <a:r>
              <a:rPr lang="en" altLang="zh-TW" sz="1800" b="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TW" sz="18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)[1]</a:t>
            </a:r>
            <a:r>
              <a:rPr lang="en-US" altLang="zh-TW" dirty="0"/>
              <a:t>:</a:t>
            </a:r>
            <a:r>
              <a:rPr lang="zh-TW" altLang="en-US" dirty="0"/>
              <a:t> 中國 足協 與 國際 足聯 簽署 協議 &lt;|endoftext|&gt;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" altLang="zh-TW" sz="18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.replace(</a:t>
            </a:r>
            <a:r>
              <a:rPr lang="en" altLang="zh-TW" dirty="0">
                <a:solidFill>
                  <a:schemeClr val="accent2"/>
                </a:solidFill>
                <a:latin typeface="Menlo" panose="020B0609030804020204" pitchFamily="49" charset="0"/>
              </a:rPr>
              <a:t>" ", ""</a:t>
            </a:r>
            <a:r>
              <a:rPr lang="en" altLang="zh-TW" sz="18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altLang="zh-TW" dirty="0"/>
              <a:t>:</a:t>
            </a:r>
            <a:r>
              <a:rPr lang="zh-TW" altLang="en-US" dirty="0"/>
              <a:t> 中國足協與國際足聯簽署協議&lt;|endoftext|&gt;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" altLang="zh-TW" sz="18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.split(</a:t>
            </a:r>
            <a:r>
              <a:rPr lang="en" altLang="zh-TW" sz="1800" b="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TW" sz="1800" b="1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&lt;|</a:t>
            </a:r>
            <a:r>
              <a:rPr lang="en" altLang="zh-TW" sz="1800" b="1" dirty="0" err="1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endoftext</a:t>
            </a:r>
            <a:r>
              <a:rPr lang="en" altLang="zh-TW" sz="1800" b="1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|&gt;</a:t>
            </a:r>
            <a:r>
              <a:rPr lang="en" altLang="zh-TW" sz="1800" b="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TW" sz="18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)[0]</a:t>
            </a:r>
            <a:r>
              <a:rPr lang="en-US" altLang="zh-TW" dirty="0"/>
              <a:t>:</a:t>
            </a:r>
            <a:r>
              <a:rPr lang="zh-TW" altLang="en-US" dirty="0"/>
              <a:t>中國足協與國際足聯簽署協議</a:t>
            </a:r>
            <a:endParaRPr lang="en" altLang="zh-TW" sz="18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847C88-E714-E02C-7063-A57A4CABC3B3}"/>
              </a:ext>
            </a:extLst>
          </p:cNvPr>
          <p:cNvSpPr/>
          <p:nvPr/>
        </p:nvSpPr>
        <p:spPr>
          <a:xfrm>
            <a:off x="1268506" y="1648745"/>
            <a:ext cx="9654988" cy="2497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output = [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s.split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sz="1600" b="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"[SEP]"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)[1].replace(" ", "").split(</a:t>
            </a:r>
            <a:r>
              <a:rPr lang="en" altLang="zh-TW" sz="1600" b="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"&lt;|</a:t>
            </a:r>
            <a:r>
              <a:rPr lang="en" altLang="zh-TW" sz="1600" b="0" dirty="0" err="1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endoftext</a:t>
            </a:r>
            <a:r>
              <a:rPr lang="en" altLang="zh-TW" sz="1600" b="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|&gt;"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)[0]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for s in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tokenizer.batch_decode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model.generate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    **inputs,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max_new_tokens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=200, </a:t>
            </a:r>
            <a:r>
              <a:rPr lang="en" altLang="zh-TW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Maximum number of tokens to generate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pad_token_id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tokenizer.eos_token_id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)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)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9374009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91079-E3B9-E106-5B3F-F4DEFD754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B7D9CE-3178-3CDB-6685-229A24E6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通常我們會設置 </a:t>
            </a:r>
            <a:r>
              <a:rPr kumimoji="1"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max_new_tokens</a:t>
            </a:r>
            <a:endParaRPr kumimoji="1" lang="zh-TW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EE2A30-C5FE-3F42-91ED-0C6C02151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42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1CAF81A-DCDD-DC81-4807-1D88B06E786A}"/>
              </a:ext>
            </a:extLst>
          </p:cNvPr>
          <p:cNvSpPr txBox="1"/>
          <p:nvPr/>
        </p:nvSpPr>
        <p:spPr>
          <a:xfrm>
            <a:off x="678757" y="4405093"/>
            <a:ext cx="10244737" cy="459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如果你不設 </a:t>
            </a:r>
            <a:r>
              <a:rPr kumimoji="1"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max_new_tokens</a:t>
            </a:r>
            <a:r>
              <a:rPr kumimoji="1" lang="zh-TW" altLang="en-US" dirty="0"/>
              <a:t>，那模型 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outputs</a:t>
            </a:r>
            <a:r>
              <a:rPr kumimoji="1" lang="en-US" altLang="zh-TW" dirty="0"/>
              <a:t> </a:t>
            </a:r>
            <a:r>
              <a:rPr kumimoji="1" lang="zh-TW" altLang="en-US" dirty="0"/>
              <a:t>就會受到 </a:t>
            </a:r>
            <a:r>
              <a:rPr kumimoji="1"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max_length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TW" altLang="en-US" dirty="0"/>
              <a:t>控制：</a:t>
            </a:r>
            <a:endParaRPr lang="en" altLang="zh-TW" sz="18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8E0DE82-AF9F-41ED-A73F-E35FFFF1E27A}"/>
              </a:ext>
            </a:extLst>
          </p:cNvPr>
          <p:cNvSpPr/>
          <p:nvPr/>
        </p:nvSpPr>
        <p:spPr>
          <a:xfrm>
            <a:off x="1268506" y="1648745"/>
            <a:ext cx="9654988" cy="2497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output = [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TW" sz="1600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s.split</a:t>
            </a:r>
            <a:r>
              <a:rPr lang="en" altLang="zh-TW" sz="16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("[SEP]")[1].replace(" ", "").split("&lt;|</a:t>
            </a:r>
            <a:r>
              <a:rPr lang="en" altLang="zh-TW" sz="1600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endoftext</a:t>
            </a:r>
            <a:r>
              <a:rPr lang="en" altLang="zh-TW" sz="16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|&gt;")[0]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for s in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tokenizer.batch_decode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model.generate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    **inputs,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max_new_tokens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=200, </a:t>
            </a:r>
            <a:r>
              <a:rPr lang="en" altLang="zh-TW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Maximum number of tokens to generate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pad_token_id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tokenizer.eos_token_id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)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)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F7BE7F5-C13C-46AD-785A-8712763117B8}"/>
              </a:ext>
            </a:extLst>
          </p:cNvPr>
          <p:cNvSpPr/>
          <p:nvPr/>
        </p:nvSpPr>
        <p:spPr>
          <a:xfrm>
            <a:off x="2692767" y="5133459"/>
            <a:ext cx="810970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[CLS]</a:t>
            </a:r>
            <a:endParaRPr kumimoji="1" lang="zh-TW" alt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51726EF-A000-206C-49DA-5ED7352D32D0}"/>
              </a:ext>
            </a:extLst>
          </p:cNvPr>
          <p:cNvSpPr/>
          <p:nvPr/>
        </p:nvSpPr>
        <p:spPr>
          <a:xfrm>
            <a:off x="3543048" y="5133459"/>
            <a:ext cx="1756292" cy="43500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Source article</a:t>
            </a:r>
            <a:endParaRPr kumimoji="1" lang="zh-TW" alt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A91D1895-EBBC-9B31-7F74-BEAB39CE6769}"/>
              </a:ext>
            </a:extLst>
          </p:cNvPr>
          <p:cNvSpPr/>
          <p:nvPr/>
        </p:nvSpPr>
        <p:spPr>
          <a:xfrm>
            <a:off x="6188932" y="5133459"/>
            <a:ext cx="1756292" cy="4350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Summary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525E04AC-DB1B-A171-9BEC-50E2EA91E218}"/>
              </a:ext>
            </a:extLst>
          </p:cNvPr>
          <p:cNvSpPr/>
          <p:nvPr/>
        </p:nvSpPr>
        <p:spPr>
          <a:xfrm>
            <a:off x="5338651" y="5142336"/>
            <a:ext cx="810970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[SEP]</a:t>
            </a:r>
            <a:endParaRPr kumimoji="1" lang="zh-TW" altLang="en-US" dirty="0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914032CC-087B-3138-854A-8255C5041EE4}"/>
              </a:ext>
            </a:extLst>
          </p:cNvPr>
          <p:cNvSpPr/>
          <p:nvPr/>
        </p:nvSpPr>
        <p:spPr>
          <a:xfrm>
            <a:off x="7984535" y="5123755"/>
            <a:ext cx="1649307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/>
              <a:t>&lt;|</a:t>
            </a:r>
            <a:r>
              <a:rPr kumimoji="1" lang="en-US" altLang="zh-TW" sz="1600" dirty="0" err="1"/>
              <a:t>endoftext</a:t>
            </a:r>
            <a:r>
              <a:rPr kumimoji="1" lang="en-US" altLang="zh-TW" sz="1600" dirty="0"/>
              <a:t>|&gt;</a:t>
            </a:r>
            <a:endParaRPr kumimoji="1" lang="zh-TW" altLang="en-US" sz="1600" dirty="0"/>
          </a:p>
        </p:txBody>
      </p:sp>
      <p:sp>
        <p:nvSpPr>
          <p:cNvPr id="11" name="左中括弧 10">
            <a:extLst>
              <a:ext uri="{FF2B5EF4-FFF2-40B4-BE49-F238E27FC236}">
                <a16:creationId xmlns:a16="http://schemas.microsoft.com/office/drawing/2014/main" id="{CA47E0C5-DB57-5E0B-2556-E5905000D117}"/>
              </a:ext>
            </a:extLst>
          </p:cNvPr>
          <p:cNvSpPr/>
          <p:nvPr/>
        </p:nvSpPr>
        <p:spPr>
          <a:xfrm rot="16200000">
            <a:off x="6096305" y="2290168"/>
            <a:ext cx="134000" cy="6941075"/>
          </a:xfrm>
          <a:prstGeom prst="leftBracke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D1E83F6-F750-1CC6-C896-0BA9F0A8D0E7}"/>
              </a:ext>
            </a:extLst>
          </p:cNvPr>
          <p:cNvSpPr txBox="1"/>
          <p:nvPr/>
        </p:nvSpPr>
        <p:spPr>
          <a:xfrm>
            <a:off x="3787907" y="5791107"/>
            <a:ext cx="4648841" cy="459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18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連</a:t>
            </a:r>
            <a:r>
              <a:rPr lang="en-US" altLang="zh-TW" sz="18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inputs </a:t>
            </a:r>
            <a:r>
              <a:rPr lang="zh-TW" altLang="en-US" sz="18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的部分都算進去 </a:t>
            </a:r>
            <a:r>
              <a:rPr lang="en-US" altLang="zh-TW" sz="18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max_length</a:t>
            </a:r>
            <a:endParaRPr lang="en" altLang="zh-TW" sz="1800" b="0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2998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6BE4F7-3836-288F-AC02-AB5229367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查看 </a:t>
            </a:r>
            <a:r>
              <a:rPr kumimoji="1" lang="en-US" altLang="zh-TW" dirty="0"/>
              <a:t>model config </a:t>
            </a:r>
            <a:r>
              <a:rPr kumimoji="1" lang="zh-TW" altLang="en-US" dirty="0"/>
              <a:t>最簡單的方式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C77DA3-23E9-E75C-EF3F-A2D69CBE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FB36DA2-16E3-459F-5B84-D714E2A5E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70117"/>
            <a:ext cx="7772400" cy="535202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5A117FE-DC13-D81D-4787-677DD6D59D42}"/>
              </a:ext>
            </a:extLst>
          </p:cNvPr>
          <p:cNvSpPr txBox="1"/>
          <p:nvPr/>
        </p:nvSpPr>
        <p:spPr>
          <a:xfrm>
            <a:off x="7185852" y="3822962"/>
            <a:ext cx="4385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huggingface.co</a:t>
            </a:r>
            <a:r>
              <a:rPr kumimoji="1" lang="en" altLang="zh-TW" dirty="0"/>
              <a:t>/</a:t>
            </a:r>
            <a:r>
              <a:rPr kumimoji="1" lang="en" altLang="zh-TW" dirty="0" err="1"/>
              <a:t>uer</a:t>
            </a:r>
            <a:r>
              <a:rPr kumimoji="1" lang="en" altLang="zh-TW" dirty="0"/>
              <a:t>/gpt2-chinese-cluecorpussmall/blob/main/</a:t>
            </a:r>
            <a:r>
              <a:rPr kumimoji="1" lang="en" altLang="zh-TW" dirty="0" err="1"/>
              <a:t>config.json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187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8E4FE-EA5D-0AEA-F60D-62A5F3F0E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33583F-AC6B-848B-2AF3-BB15E6CB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 </a:t>
            </a:r>
            <a:r>
              <a:rPr kumimoji="1" lang="en-US" altLang="zh-TW" dirty="0">
                <a:cs typeface="Consolas" panose="020B0609020204030204" pitchFamily="49" charset="0"/>
              </a:rPr>
              <a:t>batch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生成時要用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 EOS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去替代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TW" dirty="0">
                <a:cs typeface="Consolas" panose="020B0609020204030204" pitchFamily="49" charset="0"/>
              </a:rPr>
              <a:t>Padding</a:t>
            </a:r>
            <a:endParaRPr kumimoji="1" lang="zh-TW" altLang="en-US" dirty="0">
              <a:cs typeface="Consolas" panose="020B0609020204030204" pitchFamily="49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EF685F-A9D4-5905-396A-1658E57AD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44</a:t>
            </a:fld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C81005-C487-B127-EE39-A8BBE47AF61D}"/>
              </a:ext>
            </a:extLst>
          </p:cNvPr>
          <p:cNvSpPr/>
          <p:nvPr/>
        </p:nvSpPr>
        <p:spPr>
          <a:xfrm>
            <a:off x="1268506" y="1648745"/>
            <a:ext cx="9654988" cy="2497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output = [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TW" sz="1600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s.split</a:t>
            </a:r>
            <a:r>
              <a:rPr lang="en" altLang="zh-TW" sz="16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("[SEP]")[1].replace(" ", "").split("&lt;|</a:t>
            </a:r>
            <a:r>
              <a:rPr lang="en" altLang="zh-TW" sz="1600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endoftext</a:t>
            </a:r>
            <a:r>
              <a:rPr lang="en" altLang="zh-TW" sz="16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|&gt;")[0]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for s in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tokenizer.batch_decode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model.generate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    **inputs,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max_new_tokens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=200, </a:t>
            </a:r>
            <a:r>
              <a:rPr lang="en" altLang="zh-TW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Maximum number of tokens to generate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pad_token_id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tokenizer.eos_token_id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)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)</a:t>
            </a:r>
          </a:p>
          <a:p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06A3425-5CFD-9FFB-A16E-A54F77332E58}"/>
              </a:ext>
            </a:extLst>
          </p:cNvPr>
          <p:cNvSpPr/>
          <p:nvPr/>
        </p:nvSpPr>
        <p:spPr>
          <a:xfrm>
            <a:off x="2809312" y="3139999"/>
            <a:ext cx="4299700" cy="2531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52AC32A-4575-82C4-1024-58B2D2E404DD}"/>
              </a:ext>
            </a:extLst>
          </p:cNvPr>
          <p:cNvSpPr txBox="1"/>
          <p:nvPr/>
        </p:nvSpPr>
        <p:spPr>
          <a:xfrm>
            <a:off x="1174377" y="4220427"/>
            <a:ext cx="3648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原因：</a:t>
            </a:r>
            <a:r>
              <a:rPr kumimoji="1" lang="en-US" altLang="zh-TW" dirty="0"/>
              <a:t>GPT-2 </a:t>
            </a:r>
            <a:r>
              <a:rPr kumimoji="1" lang="zh-TW" altLang="en-US" dirty="0"/>
              <a:t>沒有 </a:t>
            </a:r>
            <a:r>
              <a:rPr kumimoji="1" lang="en-US" altLang="zh-TW" dirty="0"/>
              <a:t>[PAD] token!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B73F1A1-A016-67C7-39E6-974E3B147AD5}"/>
              </a:ext>
            </a:extLst>
          </p:cNvPr>
          <p:cNvSpPr txBox="1"/>
          <p:nvPr/>
        </p:nvSpPr>
        <p:spPr>
          <a:xfrm>
            <a:off x="1174376" y="4726708"/>
            <a:ext cx="8588189" cy="128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b="1" dirty="0"/>
              <a:t>假設一個 </a:t>
            </a:r>
            <a:r>
              <a:rPr kumimoji="1" lang="en-US" altLang="zh-TW" b="1" dirty="0"/>
              <a:t>batch</a:t>
            </a:r>
            <a:r>
              <a:rPr kumimoji="1" lang="zh-TW" altLang="en-US" b="1" dirty="0"/>
              <a:t> 在生成時：</a:t>
            </a:r>
            <a:endParaRPr kumimoji="1" lang="en-US" altLang="zh-TW" b="1" dirty="0"/>
          </a:p>
          <a:p>
            <a:pPr>
              <a:lnSpc>
                <a:spcPct val="150000"/>
              </a:lnSpc>
            </a:pPr>
            <a:r>
              <a:rPr kumimoji="1" lang="en-US" altLang="zh-TW" dirty="0"/>
              <a:t>Sent1: </a:t>
            </a:r>
            <a:r>
              <a:rPr kumimoji="1" lang="zh-TW" altLang="en-US" dirty="0"/>
              <a:t>中國 足球 協會</a:t>
            </a:r>
            <a:r>
              <a:rPr kumimoji="1" lang="en-US" altLang="zh-TW" dirty="0"/>
              <a:t> </a:t>
            </a:r>
            <a:r>
              <a:rPr kumimoji="1" lang="zh-TW" altLang="en-US" dirty="0"/>
              <a:t>今天</a:t>
            </a:r>
            <a:r>
              <a:rPr kumimoji="1" lang="en-US" altLang="zh-TW" dirty="0"/>
              <a:t> ... </a:t>
            </a:r>
            <a:r>
              <a:rPr kumimoji="1" lang="en-US" altLang="zh-TW" dirty="0">
                <a:solidFill>
                  <a:srgbClr val="7030A0"/>
                </a:solidFill>
              </a:rPr>
              <a:t>&lt;|</a:t>
            </a:r>
            <a:r>
              <a:rPr kumimoji="1" lang="en-US" altLang="zh-TW" dirty="0" err="1">
                <a:solidFill>
                  <a:srgbClr val="7030A0"/>
                </a:solidFill>
              </a:rPr>
              <a:t>endoftext</a:t>
            </a:r>
            <a:r>
              <a:rPr kumimoji="1" lang="en-US" altLang="zh-TW" dirty="0">
                <a:solidFill>
                  <a:srgbClr val="7030A0"/>
                </a:solidFill>
              </a:rPr>
              <a:t>|&gt;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/>
              <a:t>Sent2: </a:t>
            </a:r>
            <a:r>
              <a:rPr kumimoji="1" lang="zh-TW" altLang="en-US" dirty="0"/>
              <a:t>美國 </a:t>
            </a:r>
            <a:r>
              <a:rPr kumimoji="1" lang="en-US" altLang="zh-TW" dirty="0">
                <a:solidFill>
                  <a:srgbClr val="7030A0"/>
                </a:solidFill>
              </a:rPr>
              <a:t>&lt;|</a:t>
            </a:r>
            <a:r>
              <a:rPr kumimoji="1" lang="en-US" altLang="zh-TW" dirty="0" err="1">
                <a:solidFill>
                  <a:srgbClr val="7030A0"/>
                </a:solidFill>
              </a:rPr>
              <a:t>endoftext</a:t>
            </a:r>
            <a:r>
              <a:rPr kumimoji="1" lang="en-US" altLang="zh-TW" dirty="0">
                <a:solidFill>
                  <a:srgbClr val="7030A0"/>
                </a:solidFill>
              </a:rPr>
              <a:t>|&gt; &lt;|</a:t>
            </a:r>
            <a:r>
              <a:rPr kumimoji="1" lang="en-US" altLang="zh-TW" dirty="0" err="1">
                <a:solidFill>
                  <a:srgbClr val="7030A0"/>
                </a:solidFill>
              </a:rPr>
              <a:t>endoftext</a:t>
            </a:r>
            <a:r>
              <a:rPr kumimoji="1" lang="en-US" altLang="zh-TW" dirty="0">
                <a:solidFill>
                  <a:srgbClr val="7030A0"/>
                </a:solidFill>
              </a:rPr>
              <a:t>|&gt; &lt;|</a:t>
            </a:r>
            <a:r>
              <a:rPr kumimoji="1" lang="en-US" altLang="zh-TW" dirty="0" err="1">
                <a:solidFill>
                  <a:srgbClr val="7030A0"/>
                </a:solidFill>
              </a:rPr>
              <a:t>endoftext</a:t>
            </a:r>
            <a:r>
              <a:rPr kumimoji="1" lang="en-US" altLang="zh-TW" dirty="0">
                <a:solidFill>
                  <a:srgbClr val="7030A0"/>
                </a:solidFill>
              </a:rPr>
              <a:t>|&gt; &lt;|</a:t>
            </a:r>
            <a:r>
              <a:rPr kumimoji="1" lang="en-US" altLang="zh-TW" dirty="0" err="1">
                <a:solidFill>
                  <a:srgbClr val="7030A0"/>
                </a:solidFill>
              </a:rPr>
              <a:t>endoftext</a:t>
            </a:r>
            <a:r>
              <a:rPr kumimoji="1" lang="en-US" altLang="zh-TW" dirty="0">
                <a:solidFill>
                  <a:srgbClr val="7030A0"/>
                </a:solidFill>
              </a:rPr>
              <a:t>|&gt; &lt;|</a:t>
            </a:r>
            <a:r>
              <a:rPr kumimoji="1" lang="en-US" altLang="zh-TW" dirty="0" err="1">
                <a:solidFill>
                  <a:srgbClr val="7030A0"/>
                </a:solidFill>
              </a:rPr>
              <a:t>endoftext</a:t>
            </a:r>
            <a:r>
              <a:rPr kumimoji="1" lang="en-US" altLang="zh-TW" dirty="0">
                <a:solidFill>
                  <a:srgbClr val="7030A0"/>
                </a:solidFill>
              </a:rPr>
              <a:t>|&gt;</a:t>
            </a:r>
            <a:endParaRPr kumimoji="1" lang="zh-TW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11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B124347-A22E-2C1A-35EE-5B8AB8DD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7708" y="6459785"/>
            <a:ext cx="1312025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45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1D8A43D-51EC-26F9-139E-8ABC63090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750" y="812692"/>
            <a:ext cx="7772400" cy="4407408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A5FEC8B6-BF61-1A16-AE92-14B4DB08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9" y="1888361"/>
            <a:ext cx="3200400" cy="2286000"/>
          </a:xfrm>
        </p:spPr>
        <p:txBody>
          <a:bodyPr anchor="b">
            <a:normAutofit/>
          </a:bodyPr>
          <a:lstStyle/>
          <a:p>
            <a:r>
              <a:rPr kumimoji="1" lang="en-US" altLang="zh-TW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do_evaluate</a:t>
            </a:r>
            <a:r>
              <a:rPr kumimoji="1" lang="zh-TW" alt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TW" altLang="en-US" sz="4000" dirty="0"/>
              <a:t>的 </a:t>
            </a:r>
            <a:r>
              <a:rPr kumimoji="1" lang="en-US" altLang="zh-TW" sz="4000" dirty="0">
                <a:latin typeface="Consolas" panose="020B0609020204030204" pitchFamily="49" charset="0"/>
                <a:cs typeface="Consolas" panose="020B0609020204030204" pitchFamily="49" charset="0"/>
              </a:rPr>
              <a:t>targets</a:t>
            </a:r>
            <a:endParaRPr kumimoji="1" lang="zh-TW" altLang="en-US" sz="4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E807DBB8-8FDA-7A99-F1EB-C832472B0785}"/>
              </a:ext>
            </a:extLst>
          </p:cNvPr>
          <p:cNvSpPr txBox="1">
            <a:spLocks/>
          </p:cNvSpPr>
          <p:nvPr/>
        </p:nvSpPr>
        <p:spPr>
          <a:xfrm>
            <a:off x="4229100" y="5765173"/>
            <a:ext cx="7332154" cy="4859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ground_truth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對應 </a:t>
            </a:r>
            <a:r>
              <a:rPr kumimoji="1" lang="en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collate_fn</a:t>
            </a:r>
            <a:r>
              <a:rPr kumimoji="1" lang="en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的 </a:t>
            </a:r>
            <a:r>
              <a:rPr kumimoji="1" lang="en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complete_text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kumimoji="1" lang="en-US" altLang="zh-TW" dirty="0"/>
              <a:t>:</a:t>
            </a:r>
            <a:endParaRPr kumimoji="1" lang="zh-TW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3566784-81CB-C5F3-BDFF-9AAD2D2F6609}"/>
              </a:ext>
            </a:extLst>
          </p:cNvPr>
          <p:cNvSpPr/>
          <p:nvPr/>
        </p:nvSpPr>
        <p:spPr>
          <a:xfrm>
            <a:off x="8779827" y="1261669"/>
            <a:ext cx="2398713" cy="201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" name="圓角矩形 1">
            <a:extLst>
              <a:ext uri="{FF2B5EF4-FFF2-40B4-BE49-F238E27FC236}">
                <a16:creationId xmlns:a16="http://schemas.microsoft.com/office/drawing/2014/main" id="{1F7A8429-C918-CDA2-9DED-8F36D67F16F2}"/>
              </a:ext>
            </a:extLst>
          </p:cNvPr>
          <p:cNvSpPr/>
          <p:nvPr/>
        </p:nvSpPr>
        <p:spPr>
          <a:xfrm>
            <a:off x="4620179" y="6242282"/>
            <a:ext cx="810970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[CLS]</a:t>
            </a:r>
            <a:endParaRPr kumimoji="1" lang="zh-TW" altLang="en-US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152B247A-4181-9EE5-00B7-B720F2783ED8}"/>
              </a:ext>
            </a:extLst>
          </p:cNvPr>
          <p:cNvSpPr/>
          <p:nvPr/>
        </p:nvSpPr>
        <p:spPr>
          <a:xfrm>
            <a:off x="5470460" y="6242282"/>
            <a:ext cx="1756292" cy="43500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Source article</a:t>
            </a:r>
            <a:endParaRPr kumimoji="1" lang="zh-TW" altLang="en-US" dirty="0"/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E6FEEB47-E2EB-D6E1-6C84-FD76E5E54B6A}"/>
              </a:ext>
            </a:extLst>
          </p:cNvPr>
          <p:cNvSpPr/>
          <p:nvPr/>
        </p:nvSpPr>
        <p:spPr>
          <a:xfrm>
            <a:off x="8116344" y="6242282"/>
            <a:ext cx="1756292" cy="4350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Summary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11AA3794-2BE6-94E2-ADD1-13136D1950A3}"/>
              </a:ext>
            </a:extLst>
          </p:cNvPr>
          <p:cNvSpPr/>
          <p:nvPr/>
        </p:nvSpPr>
        <p:spPr>
          <a:xfrm>
            <a:off x="7266063" y="6251159"/>
            <a:ext cx="810970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[SEP]</a:t>
            </a:r>
            <a:endParaRPr kumimoji="1" lang="zh-TW" altLang="en-US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4D5093B6-4FEF-FBF0-3213-20E2A5CE5866}"/>
              </a:ext>
            </a:extLst>
          </p:cNvPr>
          <p:cNvSpPr/>
          <p:nvPr/>
        </p:nvSpPr>
        <p:spPr>
          <a:xfrm>
            <a:off x="9911947" y="6232578"/>
            <a:ext cx="1649307" cy="435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/>
              <a:t>&lt;|</a:t>
            </a:r>
            <a:r>
              <a:rPr kumimoji="1" lang="en-US" altLang="zh-TW" sz="1600" dirty="0" err="1"/>
              <a:t>endoftext</a:t>
            </a:r>
            <a:r>
              <a:rPr kumimoji="1" lang="en-US" altLang="zh-TW" sz="1600" dirty="0"/>
              <a:t>|&gt;</a:t>
            </a:r>
            <a:endParaRPr kumimoji="1" lang="zh-TW" altLang="en-US" sz="16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66E0C2F-6959-F4F7-83E4-5F08D4CD9C45}"/>
              </a:ext>
            </a:extLst>
          </p:cNvPr>
          <p:cNvSpPr txBox="1"/>
          <p:nvPr/>
        </p:nvSpPr>
        <p:spPr>
          <a:xfrm>
            <a:off x="8697653" y="1505582"/>
            <a:ext cx="3338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</a:rPr>
              <a:t>同「</a:t>
            </a:r>
            <a:r>
              <a:rPr kumimoji="1" lang="en-US" altLang="zh-TW" dirty="0">
                <a:solidFill>
                  <a:srgbClr val="FF0000"/>
                </a:solidFill>
              </a:rPr>
              <a:t>Decoding</a:t>
            </a:r>
            <a:r>
              <a:rPr kumimoji="1" lang="zh-TW" altLang="en-US" dirty="0">
                <a:solidFill>
                  <a:srgbClr val="FF0000"/>
                </a:solidFill>
              </a:rPr>
              <a:t>後的處理」那頁</a:t>
            </a:r>
          </a:p>
        </p:txBody>
      </p:sp>
    </p:spTree>
    <p:extLst>
      <p:ext uri="{BB962C8B-B14F-4D97-AF65-F5344CB8AC3E}">
        <p14:creationId xmlns:p14="http://schemas.microsoft.com/office/powerpoint/2010/main" val="6374237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B124347-A22E-2C1A-35EE-5B8AB8DD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7708" y="6459785"/>
            <a:ext cx="1312025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46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1D8A43D-51EC-26F9-139E-8ABC63090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750" y="812692"/>
            <a:ext cx="7772400" cy="4407408"/>
          </a:xfrm>
          <a:prstGeom prst="rect">
            <a:avLst/>
          </a:prstGeom>
        </p:spPr>
      </p:pic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E807DBB8-8FDA-7A99-F1EB-C832472B0785}"/>
              </a:ext>
            </a:extLst>
          </p:cNvPr>
          <p:cNvSpPr txBox="1">
            <a:spLocks/>
          </p:cNvSpPr>
          <p:nvPr/>
        </p:nvSpPr>
        <p:spPr>
          <a:xfrm>
            <a:off x="4526280" y="5765173"/>
            <a:ext cx="6343650" cy="808843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outputs 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和 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targets 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現在都是文字</a:t>
            </a:r>
            <a:endParaRPr kumimoji="1" lang="en-US" altLang="zh-TW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使用結巴斷詞後，才會計算 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ROUGE (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正確答案和預測的重疊率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kumimoji="1" lang="zh-TW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3566784-81CB-C5F3-BDFF-9AAD2D2F6609}"/>
              </a:ext>
            </a:extLst>
          </p:cNvPr>
          <p:cNvSpPr/>
          <p:nvPr/>
        </p:nvSpPr>
        <p:spPr>
          <a:xfrm>
            <a:off x="7202487" y="2166608"/>
            <a:ext cx="3873183" cy="473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300F547E-7D1E-7C4D-3E13-462C750A1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9" y="1888361"/>
            <a:ext cx="3200400" cy="2286000"/>
          </a:xfrm>
        </p:spPr>
        <p:txBody>
          <a:bodyPr anchor="b">
            <a:normAutofit/>
          </a:bodyPr>
          <a:lstStyle/>
          <a:p>
            <a:r>
              <a:rPr kumimoji="1" lang="en-US" altLang="zh-TW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do_evaluate</a:t>
            </a:r>
            <a:r>
              <a:rPr kumimoji="1" lang="zh-TW" alt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TW" altLang="en-US" sz="4000" dirty="0"/>
              <a:t>的 </a:t>
            </a:r>
            <a:r>
              <a:rPr kumimoji="1" lang="en-US" altLang="zh-TW" sz="4000" dirty="0">
                <a:latin typeface="Consolas" panose="020B0609020204030204" pitchFamily="49" charset="0"/>
                <a:cs typeface="Consolas" panose="020B0609020204030204" pitchFamily="49" charset="0"/>
              </a:rPr>
              <a:t>predictions</a:t>
            </a:r>
            <a:endParaRPr kumimoji="1" lang="zh-TW" altLang="en-US" sz="4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7876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B124347-A22E-2C1A-35EE-5B8AB8DD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7708" y="6459785"/>
            <a:ext cx="1312025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47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1D8A43D-51EC-26F9-139E-8ABC63090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750" y="812692"/>
            <a:ext cx="7772400" cy="4407408"/>
          </a:xfrm>
          <a:prstGeom prst="rect">
            <a:avLst/>
          </a:prstGeom>
        </p:spPr>
      </p:pic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E807DBB8-8FDA-7A99-F1EB-C832472B0785}"/>
              </a:ext>
            </a:extLst>
          </p:cNvPr>
          <p:cNvSpPr txBox="1">
            <a:spLocks/>
          </p:cNvSpPr>
          <p:nvPr/>
        </p:nvSpPr>
        <p:spPr>
          <a:xfrm>
            <a:off x="4526280" y="5765173"/>
            <a:ext cx="6343650" cy="8088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avg=True</a:t>
            </a:r>
            <a:r>
              <a:rPr kumimoji="1" lang="en-US" altLang="zh-TW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perform averaging for all the tested instances</a:t>
            </a:r>
            <a:endParaRPr kumimoji="1" lang="zh-TW" altLang="en-US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3566784-81CB-C5F3-BDFF-9AAD2D2F6609}"/>
              </a:ext>
            </a:extLst>
          </p:cNvPr>
          <p:cNvSpPr/>
          <p:nvPr/>
        </p:nvSpPr>
        <p:spPr>
          <a:xfrm>
            <a:off x="5853747" y="3526779"/>
            <a:ext cx="5439093" cy="2451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cxnSp>
        <p:nvCxnSpPr>
          <p:cNvPr id="2" name="直線箭頭接點 1">
            <a:extLst>
              <a:ext uri="{FF2B5EF4-FFF2-40B4-BE49-F238E27FC236}">
                <a16:creationId xmlns:a16="http://schemas.microsoft.com/office/drawing/2014/main" id="{C00103C7-DAED-1072-2A1F-3FCAEC615A13}"/>
              </a:ext>
            </a:extLst>
          </p:cNvPr>
          <p:cNvCxnSpPr>
            <a:cxnSpLocks/>
          </p:cNvCxnSpPr>
          <p:nvPr/>
        </p:nvCxnSpPr>
        <p:spPr>
          <a:xfrm flipV="1">
            <a:off x="9909810" y="3863340"/>
            <a:ext cx="628650" cy="18803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標題 1">
            <a:extLst>
              <a:ext uri="{FF2B5EF4-FFF2-40B4-BE49-F238E27FC236}">
                <a16:creationId xmlns:a16="http://schemas.microsoft.com/office/drawing/2014/main" id="{B7C9F7D9-8A6E-1C4D-7B89-2F0FB3AD1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9" y="1888361"/>
            <a:ext cx="3200400" cy="2286000"/>
          </a:xfrm>
        </p:spPr>
        <p:txBody>
          <a:bodyPr anchor="b">
            <a:normAutofit/>
          </a:bodyPr>
          <a:lstStyle/>
          <a:p>
            <a:r>
              <a:rPr kumimoji="1" lang="en-US" altLang="zh-TW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do_evaluate</a:t>
            </a:r>
            <a:r>
              <a:rPr kumimoji="1" lang="zh-TW" alt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TW" altLang="en-US" sz="4000" dirty="0"/>
              <a:t>的 </a:t>
            </a:r>
            <a:r>
              <a:rPr kumimoji="1" lang="en-US" altLang="zh-TW" sz="4000" dirty="0">
                <a:latin typeface="Consolas" panose="020B0609020204030204" pitchFamily="49" charset="0"/>
                <a:cs typeface="Consolas" panose="020B0609020204030204" pitchFamily="49" charset="0"/>
              </a:rPr>
              <a:t>score</a:t>
            </a:r>
            <a:endParaRPr kumimoji="1" lang="zh-TW" altLang="en-US" sz="4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761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B124347-A22E-2C1A-35EE-5B8AB8DD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7708" y="6459785"/>
            <a:ext cx="1312025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48</a:t>
            </a:fld>
            <a:endParaRPr 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3C7D6FA-A5B6-88C5-DB11-0E1271F99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424" y="666002"/>
            <a:ext cx="7534376" cy="5778793"/>
          </a:xfrm>
          <a:prstGeom prst="rect">
            <a:avLst/>
          </a:prstGeom>
        </p:spPr>
      </p:pic>
      <p:sp>
        <p:nvSpPr>
          <p:cNvPr id="14" name="標題 1">
            <a:extLst>
              <a:ext uri="{FF2B5EF4-FFF2-40B4-BE49-F238E27FC236}">
                <a16:creationId xmlns:a16="http://schemas.microsoft.com/office/drawing/2014/main" id="{B5598BF4-2B28-6257-5468-26804763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44" y="1832583"/>
            <a:ext cx="3200400" cy="2286000"/>
          </a:xfrm>
        </p:spPr>
        <p:txBody>
          <a:bodyPr anchor="b">
            <a:normAutofit/>
          </a:bodyPr>
          <a:lstStyle/>
          <a:p>
            <a:r>
              <a:rPr kumimoji="1" lang="zh-TW" altLang="en-US" sz="4000" dirty="0"/>
              <a:t>完整的</a:t>
            </a:r>
            <a:br>
              <a:rPr kumimoji="1" lang="en-US" altLang="zh-TW" sz="4000" dirty="0"/>
            </a:br>
            <a:r>
              <a:rPr kumimoji="1" lang="en-US" altLang="zh-TW" sz="4000" dirty="0"/>
              <a:t>Training Loop</a:t>
            </a:r>
            <a:endParaRPr kumimoji="1" lang="zh-TW" altLang="en-US" sz="40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94BEA5-1905-122C-B3D4-F5DD9D8CBC27}"/>
              </a:ext>
            </a:extLst>
          </p:cNvPr>
          <p:cNvSpPr/>
          <p:nvPr/>
        </p:nvSpPr>
        <p:spPr>
          <a:xfrm>
            <a:off x="5333606" y="2975583"/>
            <a:ext cx="4964638" cy="2323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F12BF4-FAAD-1A91-DB1D-A7EC91255098}"/>
              </a:ext>
            </a:extLst>
          </p:cNvPr>
          <p:cNvSpPr/>
          <p:nvPr/>
        </p:nvSpPr>
        <p:spPr>
          <a:xfrm>
            <a:off x="5793070" y="5784316"/>
            <a:ext cx="5941730" cy="407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68103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36515-3767-0A4E-93DE-2F2307146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Let’s try it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E0F5C3-0F04-E5FC-8A45-FCE9CD76D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sz="2400" dirty="0">
                <a:ea typeface="Microsoft JhengHei" panose="020B0604030504040204" pitchFamily="34" charset="-120"/>
              </a:rPr>
              <a:t>1.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看一下你自己的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Wandb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3D89E6-8396-E3DC-2220-EAB1209C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0757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17C34C-CE7F-5C89-AACD-A0390458A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T5 </a:t>
            </a:r>
            <a:r>
              <a:rPr kumimoji="1" lang="en-US" altLang="zh-TW" baseline="30000" dirty="0"/>
              <a:t>[4]</a:t>
            </a:r>
            <a:endParaRPr kumimoji="1" lang="zh-TW" altLang="en-US" baseline="30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BE8CCB-2526-80FE-D730-09C067ED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50</a:t>
            </a:fld>
            <a:endParaRPr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4E09FC6-185E-B9E4-D512-6D642902C720}"/>
              </a:ext>
            </a:extLst>
          </p:cNvPr>
          <p:cNvSpPr txBox="1"/>
          <p:nvPr/>
        </p:nvSpPr>
        <p:spPr>
          <a:xfrm>
            <a:off x="5329003" y="816764"/>
            <a:ext cx="62098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400" dirty="0"/>
              <a:t>[4] </a:t>
            </a:r>
            <a:r>
              <a:rPr lang="en" altLang="zh-TW" sz="1400" dirty="0" err="1"/>
              <a:t>Raffel</a:t>
            </a:r>
            <a:r>
              <a:rPr lang="en" altLang="zh-TW" sz="1400" dirty="0"/>
              <a:t>, Colin, et al. "Exploring the limits of transfer learning with a unified text-to-text transformer." </a:t>
            </a:r>
            <a:r>
              <a:rPr lang="en" altLang="zh-TW" sz="1400" i="1" dirty="0"/>
              <a:t>Journal of machine learning research</a:t>
            </a:r>
            <a:r>
              <a:rPr lang="en" altLang="zh-TW" sz="1400" dirty="0"/>
              <a:t> 21.140 (2020): 1-67.</a:t>
            </a:r>
            <a:endParaRPr lang="zh-TW" altLang="en-US" sz="14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9B8A689-7CA3-13BB-E912-D5BA1353B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05210"/>
            <a:ext cx="7772400" cy="429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236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6055D0-A45C-DAD8-0B6D-857A3E13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Language Model vs. Seq2seq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D2A212-34E2-32CC-9CB2-7E77FA73B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51</a:t>
            </a:fld>
            <a:endParaRPr 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DBF41E46-D944-FBAC-03A1-467DC9E3E858}"/>
              </a:ext>
            </a:extLst>
          </p:cNvPr>
          <p:cNvSpPr/>
          <p:nvPr/>
        </p:nvSpPr>
        <p:spPr>
          <a:xfrm>
            <a:off x="967665" y="2320150"/>
            <a:ext cx="3293616" cy="852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Casual Language Model</a:t>
            </a:r>
          </a:p>
          <a:p>
            <a:pPr algn="ctr"/>
            <a:r>
              <a:rPr kumimoji="1" lang="en-US" altLang="zh-TW" dirty="0"/>
              <a:t>(E.g., GPT)</a:t>
            </a:r>
            <a:endParaRPr kumimoji="1" lang="zh-TW" altLang="en-US" dirty="0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DBE0D038-9D7D-A7B1-9AC2-F10098C3DC80}"/>
              </a:ext>
            </a:extLst>
          </p:cNvPr>
          <p:cNvSpPr/>
          <p:nvPr/>
        </p:nvSpPr>
        <p:spPr>
          <a:xfrm>
            <a:off x="967665" y="4509920"/>
            <a:ext cx="3293616" cy="852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Sequence to sequence Model</a:t>
            </a:r>
            <a:endParaRPr kumimoji="1" lang="zh-TW" altLang="en-US" dirty="0"/>
          </a:p>
          <a:p>
            <a:pPr algn="ctr"/>
            <a:r>
              <a:rPr kumimoji="1" lang="en-US" altLang="zh-TW" dirty="0"/>
              <a:t>(E.g., T5; Vanilla Transformers)</a:t>
            </a:r>
            <a:endParaRPr kumimoji="1" lang="zh-TW" altLang="en-US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4F4AE903-56BD-2BEB-D329-EE73CBEB5245}"/>
              </a:ext>
            </a:extLst>
          </p:cNvPr>
          <p:cNvSpPr/>
          <p:nvPr/>
        </p:nvSpPr>
        <p:spPr>
          <a:xfrm>
            <a:off x="4527948" y="4588459"/>
            <a:ext cx="2978792" cy="80796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Encoder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7DF4FD09-A9A1-855F-791D-826D35AE6724}"/>
              </a:ext>
            </a:extLst>
          </p:cNvPr>
          <p:cNvSpPr/>
          <p:nvPr/>
        </p:nvSpPr>
        <p:spPr>
          <a:xfrm>
            <a:off x="8672156" y="4588462"/>
            <a:ext cx="3046365" cy="80796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Decoder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AE669878-E525-49C0-F4DF-B056B322C5C0}"/>
              </a:ext>
            </a:extLst>
          </p:cNvPr>
          <p:cNvSpPr/>
          <p:nvPr/>
        </p:nvSpPr>
        <p:spPr>
          <a:xfrm>
            <a:off x="4563683" y="5716559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1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5C499C5C-B11A-1F9A-AB06-30E078A77F6F}"/>
              </a:ext>
            </a:extLst>
          </p:cNvPr>
          <p:cNvSpPr/>
          <p:nvPr/>
        </p:nvSpPr>
        <p:spPr>
          <a:xfrm>
            <a:off x="4941635" y="5716560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2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863DBD05-9FFE-53C8-895E-DFE8382728F1}"/>
              </a:ext>
            </a:extLst>
          </p:cNvPr>
          <p:cNvSpPr/>
          <p:nvPr/>
        </p:nvSpPr>
        <p:spPr>
          <a:xfrm>
            <a:off x="6831395" y="5716560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7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1AA7D898-04C9-C54B-EBFB-DEE9FFC6C8C4}"/>
              </a:ext>
            </a:extLst>
          </p:cNvPr>
          <p:cNvSpPr/>
          <p:nvPr/>
        </p:nvSpPr>
        <p:spPr>
          <a:xfrm>
            <a:off x="7209346" y="5716558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8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063100D6-7314-EB0D-73C8-9ECCEA1E7F26}"/>
              </a:ext>
            </a:extLst>
          </p:cNvPr>
          <p:cNvSpPr/>
          <p:nvPr/>
        </p:nvSpPr>
        <p:spPr>
          <a:xfrm>
            <a:off x="5319587" y="5716560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3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37F31A33-BB1A-3F77-3832-0D2AF738EF71}"/>
              </a:ext>
            </a:extLst>
          </p:cNvPr>
          <p:cNvSpPr/>
          <p:nvPr/>
        </p:nvSpPr>
        <p:spPr>
          <a:xfrm>
            <a:off x="5697539" y="5716560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4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DBFC0AF8-35CB-4686-048A-5D0A65CFF029}"/>
              </a:ext>
            </a:extLst>
          </p:cNvPr>
          <p:cNvSpPr/>
          <p:nvPr/>
        </p:nvSpPr>
        <p:spPr>
          <a:xfrm>
            <a:off x="6075491" y="5716560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5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D0457C6F-DA59-D183-BA3F-F3013DF50E07}"/>
              </a:ext>
            </a:extLst>
          </p:cNvPr>
          <p:cNvSpPr/>
          <p:nvPr/>
        </p:nvSpPr>
        <p:spPr>
          <a:xfrm>
            <a:off x="6453443" y="5716560"/>
            <a:ext cx="350798" cy="322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x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6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A269366F-2E22-FBAF-B3F2-90804A46B418}"/>
              </a:ext>
            </a:extLst>
          </p:cNvPr>
          <p:cNvCxnSpPr>
            <a:cxnSpLocks/>
          </p:cNvCxnSpPr>
          <p:nvPr/>
        </p:nvCxnSpPr>
        <p:spPr>
          <a:xfrm flipV="1">
            <a:off x="4749609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65CA4576-5CA8-18F4-48E6-F9274A3AEE3A}"/>
              </a:ext>
            </a:extLst>
          </p:cNvPr>
          <p:cNvCxnSpPr>
            <a:cxnSpLocks/>
          </p:cNvCxnSpPr>
          <p:nvPr/>
        </p:nvCxnSpPr>
        <p:spPr>
          <a:xfrm flipV="1">
            <a:off x="5125759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F0225A54-76B6-9D00-93C7-A22B989C1B94}"/>
              </a:ext>
            </a:extLst>
          </p:cNvPr>
          <p:cNvCxnSpPr>
            <a:cxnSpLocks/>
          </p:cNvCxnSpPr>
          <p:nvPr/>
        </p:nvCxnSpPr>
        <p:spPr>
          <a:xfrm flipV="1">
            <a:off x="5501909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1F064B0E-BF68-9D6E-EA5E-385042196A7B}"/>
              </a:ext>
            </a:extLst>
          </p:cNvPr>
          <p:cNvCxnSpPr>
            <a:cxnSpLocks/>
          </p:cNvCxnSpPr>
          <p:nvPr/>
        </p:nvCxnSpPr>
        <p:spPr>
          <a:xfrm flipV="1">
            <a:off x="5878059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67405FE3-FE48-C33E-3C19-382A1F80C378}"/>
              </a:ext>
            </a:extLst>
          </p:cNvPr>
          <p:cNvCxnSpPr>
            <a:cxnSpLocks/>
          </p:cNvCxnSpPr>
          <p:nvPr/>
        </p:nvCxnSpPr>
        <p:spPr>
          <a:xfrm flipV="1">
            <a:off x="6254209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AD243CF5-9AEF-58BE-B323-D966E996B45A}"/>
              </a:ext>
            </a:extLst>
          </p:cNvPr>
          <p:cNvCxnSpPr>
            <a:cxnSpLocks/>
          </p:cNvCxnSpPr>
          <p:nvPr/>
        </p:nvCxnSpPr>
        <p:spPr>
          <a:xfrm flipV="1">
            <a:off x="6630359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4B0BF50A-38B2-02E5-A5D1-31DD43ADBDBC}"/>
              </a:ext>
            </a:extLst>
          </p:cNvPr>
          <p:cNvCxnSpPr>
            <a:cxnSpLocks/>
          </p:cNvCxnSpPr>
          <p:nvPr/>
        </p:nvCxnSpPr>
        <p:spPr>
          <a:xfrm flipV="1">
            <a:off x="7006509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4B18EBD0-B9F4-E09A-069B-4C1B97F92828}"/>
              </a:ext>
            </a:extLst>
          </p:cNvPr>
          <p:cNvCxnSpPr>
            <a:cxnSpLocks/>
          </p:cNvCxnSpPr>
          <p:nvPr/>
        </p:nvCxnSpPr>
        <p:spPr>
          <a:xfrm flipV="1">
            <a:off x="7382656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BAA0194E-F83B-3E56-E79F-2DABDB0D8265}"/>
              </a:ext>
            </a:extLst>
          </p:cNvPr>
          <p:cNvCxnSpPr>
            <a:cxnSpLocks/>
          </p:cNvCxnSpPr>
          <p:nvPr/>
        </p:nvCxnSpPr>
        <p:spPr>
          <a:xfrm flipV="1">
            <a:off x="8813856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FDEFCB87-026A-9026-A04F-04EBE5D4D9D1}"/>
              </a:ext>
            </a:extLst>
          </p:cNvPr>
          <p:cNvCxnSpPr>
            <a:cxnSpLocks/>
          </p:cNvCxnSpPr>
          <p:nvPr/>
        </p:nvCxnSpPr>
        <p:spPr>
          <a:xfrm flipV="1">
            <a:off x="9196951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箭頭接點 53">
            <a:extLst>
              <a:ext uri="{FF2B5EF4-FFF2-40B4-BE49-F238E27FC236}">
                <a16:creationId xmlns:a16="http://schemas.microsoft.com/office/drawing/2014/main" id="{9AD805DE-E44D-A647-FDD9-CED47EC77EB8}"/>
              </a:ext>
            </a:extLst>
          </p:cNvPr>
          <p:cNvCxnSpPr>
            <a:cxnSpLocks/>
          </p:cNvCxnSpPr>
          <p:nvPr/>
        </p:nvCxnSpPr>
        <p:spPr>
          <a:xfrm flipV="1">
            <a:off x="9580046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95048278-B1ED-D2AD-AEA3-7DBA264D27CE}"/>
              </a:ext>
            </a:extLst>
          </p:cNvPr>
          <p:cNvCxnSpPr>
            <a:cxnSpLocks/>
          </p:cNvCxnSpPr>
          <p:nvPr/>
        </p:nvCxnSpPr>
        <p:spPr>
          <a:xfrm flipV="1">
            <a:off x="9963141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箭頭接點 55">
            <a:extLst>
              <a:ext uri="{FF2B5EF4-FFF2-40B4-BE49-F238E27FC236}">
                <a16:creationId xmlns:a16="http://schemas.microsoft.com/office/drawing/2014/main" id="{FF48A63D-85BF-4AAB-3045-C67434CCFBDA}"/>
              </a:ext>
            </a:extLst>
          </p:cNvPr>
          <p:cNvCxnSpPr>
            <a:cxnSpLocks/>
          </p:cNvCxnSpPr>
          <p:nvPr/>
        </p:nvCxnSpPr>
        <p:spPr>
          <a:xfrm flipV="1">
            <a:off x="10346236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箭頭接點 56">
            <a:extLst>
              <a:ext uri="{FF2B5EF4-FFF2-40B4-BE49-F238E27FC236}">
                <a16:creationId xmlns:a16="http://schemas.microsoft.com/office/drawing/2014/main" id="{24921AC9-9BDE-6C32-3974-35E0607368AD}"/>
              </a:ext>
            </a:extLst>
          </p:cNvPr>
          <p:cNvCxnSpPr>
            <a:cxnSpLocks/>
          </p:cNvCxnSpPr>
          <p:nvPr/>
        </p:nvCxnSpPr>
        <p:spPr>
          <a:xfrm flipV="1">
            <a:off x="10729331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C4ECA428-F6D6-E108-358F-8C231B4B7BE1}"/>
              </a:ext>
            </a:extLst>
          </p:cNvPr>
          <p:cNvCxnSpPr>
            <a:cxnSpLocks/>
          </p:cNvCxnSpPr>
          <p:nvPr/>
        </p:nvCxnSpPr>
        <p:spPr>
          <a:xfrm flipV="1">
            <a:off x="11112426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箭頭接點 58">
            <a:extLst>
              <a:ext uri="{FF2B5EF4-FFF2-40B4-BE49-F238E27FC236}">
                <a16:creationId xmlns:a16="http://schemas.microsoft.com/office/drawing/2014/main" id="{AD11D974-888E-C6FC-69F2-113494987784}"/>
              </a:ext>
            </a:extLst>
          </p:cNvPr>
          <p:cNvCxnSpPr>
            <a:cxnSpLocks/>
          </p:cNvCxnSpPr>
          <p:nvPr/>
        </p:nvCxnSpPr>
        <p:spPr>
          <a:xfrm flipV="1">
            <a:off x="11495520" y="54492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圓角矩形 59">
            <a:extLst>
              <a:ext uri="{FF2B5EF4-FFF2-40B4-BE49-F238E27FC236}">
                <a16:creationId xmlns:a16="http://schemas.microsoft.com/office/drawing/2014/main" id="{6BCE7374-7B24-3FC3-C0B4-1EF577EFC40F}"/>
              </a:ext>
            </a:extLst>
          </p:cNvPr>
          <p:cNvSpPr/>
          <p:nvPr/>
        </p:nvSpPr>
        <p:spPr>
          <a:xfrm>
            <a:off x="9408267" y="3965628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3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圓角矩形 60">
            <a:extLst>
              <a:ext uri="{FF2B5EF4-FFF2-40B4-BE49-F238E27FC236}">
                <a16:creationId xmlns:a16="http://schemas.microsoft.com/office/drawing/2014/main" id="{FDA4A1C4-A72B-F82C-EA8D-EE31F9443D95}"/>
              </a:ext>
            </a:extLst>
          </p:cNvPr>
          <p:cNvSpPr/>
          <p:nvPr/>
        </p:nvSpPr>
        <p:spPr>
          <a:xfrm>
            <a:off x="9788278" y="3965629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4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圓角矩形 61">
            <a:extLst>
              <a:ext uri="{FF2B5EF4-FFF2-40B4-BE49-F238E27FC236}">
                <a16:creationId xmlns:a16="http://schemas.microsoft.com/office/drawing/2014/main" id="{8FDB9E3B-46C0-4791-9C33-553BCD853BD9}"/>
              </a:ext>
            </a:extLst>
          </p:cNvPr>
          <p:cNvSpPr/>
          <p:nvPr/>
        </p:nvSpPr>
        <p:spPr>
          <a:xfrm>
            <a:off x="10168289" y="3965629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5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66FE83E0-8079-DABF-A5B7-BACC753275C5}"/>
              </a:ext>
            </a:extLst>
          </p:cNvPr>
          <p:cNvSpPr/>
          <p:nvPr/>
        </p:nvSpPr>
        <p:spPr>
          <a:xfrm>
            <a:off x="10548300" y="3965629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6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53CF6213-9778-E2FA-8D63-D46E1EFF803B}"/>
              </a:ext>
            </a:extLst>
          </p:cNvPr>
          <p:cNvCxnSpPr>
            <a:cxnSpLocks/>
          </p:cNvCxnSpPr>
          <p:nvPr/>
        </p:nvCxnSpPr>
        <p:spPr>
          <a:xfrm flipV="1">
            <a:off x="9581603" y="4331723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箭頭接點 64">
            <a:extLst>
              <a:ext uri="{FF2B5EF4-FFF2-40B4-BE49-F238E27FC236}">
                <a16:creationId xmlns:a16="http://schemas.microsoft.com/office/drawing/2014/main" id="{67A1CB40-B9D1-3A8D-636D-F6200B2140EB}"/>
              </a:ext>
            </a:extLst>
          </p:cNvPr>
          <p:cNvCxnSpPr>
            <a:cxnSpLocks/>
          </p:cNvCxnSpPr>
          <p:nvPr/>
        </p:nvCxnSpPr>
        <p:spPr>
          <a:xfrm flipV="1">
            <a:off x="9965424" y="4331723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06DCB5BA-0B07-38B3-3D14-A83A8C201549}"/>
              </a:ext>
            </a:extLst>
          </p:cNvPr>
          <p:cNvCxnSpPr>
            <a:cxnSpLocks/>
          </p:cNvCxnSpPr>
          <p:nvPr/>
        </p:nvCxnSpPr>
        <p:spPr>
          <a:xfrm flipV="1">
            <a:off x="10349245" y="4331723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箭頭接點 66">
            <a:extLst>
              <a:ext uri="{FF2B5EF4-FFF2-40B4-BE49-F238E27FC236}">
                <a16:creationId xmlns:a16="http://schemas.microsoft.com/office/drawing/2014/main" id="{57AE99A1-1B88-E1B5-1C7C-C1FC52821A37}"/>
              </a:ext>
            </a:extLst>
          </p:cNvPr>
          <p:cNvCxnSpPr>
            <a:cxnSpLocks/>
          </p:cNvCxnSpPr>
          <p:nvPr/>
        </p:nvCxnSpPr>
        <p:spPr>
          <a:xfrm flipV="1">
            <a:off x="10733066" y="4331723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圓角矩形 67">
            <a:extLst>
              <a:ext uri="{FF2B5EF4-FFF2-40B4-BE49-F238E27FC236}">
                <a16:creationId xmlns:a16="http://schemas.microsoft.com/office/drawing/2014/main" id="{16C18930-1813-8D7A-F205-506A81D0B904}"/>
              </a:ext>
            </a:extLst>
          </p:cNvPr>
          <p:cNvSpPr/>
          <p:nvPr/>
        </p:nvSpPr>
        <p:spPr>
          <a:xfrm>
            <a:off x="7726327" y="4842368"/>
            <a:ext cx="770910" cy="3001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Attention</a:t>
            </a:r>
            <a:endParaRPr kumimoji="1" lang="zh-TW" altLang="en-US" sz="1000" dirty="0">
              <a:solidFill>
                <a:schemeClr val="tx1"/>
              </a:solidFill>
            </a:endParaRPr>
          </a:p>
        </p:txBody>
      </p: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F9AFECFB-085C-97F6-F513-CA026F0441AE}"/>
              </a:ext>
            </a:extLst>
          </p:cNvPr>
          <p:cNvCxnSpPr>
            <a:cxnSpLocks/>
            <a:stCxn id="26" idx="3"/>
            <a:endCxn id="68" idx="1"/>
          </p:cNvCxnSpPr>
          <p:nvPr/>
        </p:nvCxnSpPr>
        <p:spPr>
          <a:xfrm>
            <a:off x="7506740" y="4992444"/>
            <a:ext cx="219587" cy="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id="{FEB074F5-86EF-1782-F949-8A6D166CE782}"/>
              </a:ext>
            </a:extLst>
          </p:cNvPr>
          <p:cNvCxnSpPr>
            <a:cxnSpLocks/>
            <a:stCxn id="68" idx="3"/>
            <a:endCxn id="27" idx="1"/>
          </p:cNvCxnSpPr>
          <p:nvPr/>
        </p:nvCxnSpPr>
        <p:spPr>
          <a:xfrm>
            <a:off x="8497237" y="4992447"/>
            <a:ext cx="17491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圓角矩形 70">
            <a:extLst>
              <a:ext uri="{FF2B5EF4-FFF2-40B4-BE49-F238E27FC236}">
                <a16:creationId xmlns:a16="http://schemas.microsoft.com/office/drawing/2014/main" id="{7FC963BB-C730-F477-DD11-26AA7E9C1A01}"/>
              </a:ext>
            </a:extLst>
          </p:cNvPr>
          <p:cNvSpPr/>
          <p:nvPr/>
        </p:nvSpPr>
        <p:spPr>
          <a:xfrm>
            <a:off x="9028256" y="3965629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2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71014BAD-3C90-058B-D21A-C43E5D918572}"/>
              </a:ext>
            </a:extLst>
          </p:cNvPr>
          <p:cNvCxnSpPr>
            <a:cxnSpLocks/>
          </p:cNvCxnSpPr>
          <p:nvPr/>
        </p:nvCxnSpPr>
        <p:spPr>
          <a:xfrm flipV="1">
            <a:off x="9197782" y="4331723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圓角矩形 72">
            <a:extLst>
              <a:ext uri="{FF2B5EF4-FFF2-40B4-BE49-F238E27FC236}">
                <a16:creationId xmlns:a16="http://schemas.microsoft.com/office/drawing/2014/main" id="{5A0A43AF-668B-046A-510B-70A33AC114AC}"/>
              </a:ext>
            </a:extLst>
          </p:cNvPr>
          <p:cNvSpPr/>
          <p:nvPr/>
        </p:nvSpPr>
        <p:spPr>
          <a:xfrm>
            <a:off x="10928311" y="3961096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7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74" name="直線箭頭接點 73">
            <a:extLst>
              <a:ext uri="{FF2B5EF4-FFF2-40B4-BE49-F238E27FC236}">
                <a16:creationId xmlns:a16="http://schemas.microsoft.com/office/drawing/2014/main" id="{5889DB73-5BF4-6F9C-AEB8-391CF7A0C82F}"/>
              </a:ext>
            </a:extLst>
          </p:cNvPr>
          <p:cNvCxnSpPr>
            <a:cxnSpLocks/>
          </p:cNvCxnSpPr>
          <p:nvPr/>
        </p:nvCxnSpPr>
        <p:spPr>
          <a:xfrm flipV="1">
            <a:off x="11116887" y="43271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圓角矩形 74">
            <a:extLst>
              <a:ext uri="{FF2B5EF4-FFF2-40B4-BE49-F238E27FC236}">
                <a16:creationId xmlns:a16="http://schemas.microsoft.com/office/drawing/2014/main" id="{FC5EA9A1-4270-87CD-4522-8BA466F69B38}"/>
              </a:ext>
            </a:extLst>
          </p:cNvPr>
          <p:cNvSpPr/>
          <p:nvPr/>
        </p:nvSpPr>
        <p:spPr>
          <a:xfrm>
            <a:off x="11308321" y="3961095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8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76" name="直線箭頭接點 75">
            <a:extLst>
              <a:ext uri="{FF2B5EF4-FFF2-40B4-BE49-F238E27FC236}">
                <a16:creationId xmlns:a16="http://schemas.microsoft.com/office/drawing/2014/main" id="{763A2135-FFC6-106B-D2A7-F55838A23480}"/>
              </a:ext>
            </a:extLst>
          </p:cNvPr>
          <p:cNvCxnSpPr>
            <a:cxnSpLocks/>
          </p:cNvCxnSpPr>
          <p:nvPr/>
        </p:nvCxnSpPr>
        <p:spPr>
          <a:xfrm flipV="1">
            <a:off x="11500709" y="4327189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圓角矩形 76">
            <a:extLst>
              <a:ext uri="{FF2B5EF4-FFF2-40B4-BE49-F238E27FC236}">
                <a16:creationId xmlns:a16="http://schemas.microsoft.com/office/drawing/2014/main" id="{489D1A5F-3383-58A2-08F3-B72F2F45BBCC}"/>
              </a:ext>
            </a:extLst>
          </p:cNvPr>
          <p:cNvSpPr/>
          <p:nvPr/>
        </p:nvSpPr>
        <p:spPr>
          <a:xfrm>
            <a:off x="8648245" y="3961095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1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78" name="直線箭頭接點 77">
            <a:extLst>
              <a:ext uri="{FF2B5EF4-FFF2-40B4-BE49-F238E27FC236}">
                <a16:creationId xmlns:a16="http://schemas.microsoft.com/office/drawing/2014/main" id="{ECC305A4-1D98-99D7-09D3-2C23BBC95B65}"/>
              </a:ext>
            </a:extLst>
          </p:cNvPr>
          <p:cNvCxnSpPr>
            <a:cxnSpLocks/>
          </p:cNvCxnSpPr>
          <p:nvPr/>
        </p:nvCxnSpPr>
        <p:spPr>
          <a:xfrm flipV="1">
            <a:off x="8813961" y="4331723"/>
            <a:ext cx="0" cy="22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圓角矩形 196">
            <a:extLst>
              <a:ext uri="{FF2B5EF4-FFF2-40B4-BE49-F238E27FC236}">
                <a16:creationId xmlns:a16="http://schemas.microsoft.com/office/drawing/2014/main" id="{51A44291-E63E-7749-D615-FA1E15D1C2DF}"/>
              </a:ext>
            </a:extLst>
          </p:cNvPr>
          <p:cNvSpPr/>
          <p:nvPr/>
        </p:nvSpPr>
        <p:spPr>
          <a:xfrm>
            <a:off x="9408267" y="5722016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2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198" name="圓角矩形 197">
            <a:extLst>
              <a:ext uri="{FF2B5EF4-FFF2-40B4-BE49-F238E27FC236}">
                <a16:creationId xmlns:a16="http://schemas.microsoft.com/office/drawing/2014/main" id="{6A8F4BD2-7AF6-AB60-0107-704541601483}"/>
              </a:ext>
            </a:extLst>
          </p:cNvPr>
          <p:cNvSpPr/>
          <p:nvPr/>
        </p:nvSpPr>
        <p:spPr>
          <a:xfrm>
            <a:off x="9788278" y="5722017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3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199" name="圓角矩形 198">
            <a:extLst>
              <a:ext uri="{FF2B5EF4-FFF2-40B4-BE49-F238E27FC236}">
                <a16:creationId xmlns:a16="http://schemas.microsoft.com/office/drawing/2014/main" id="{F279F217-730C-E0F0-0E69-9B38FFA0BD75}"/>
              </a:ext>
            </a:extLst>
          </p:cNvPr>
          <p:cNvSpPr/>
          <p:nvPr/>
        </p:nvSpPr>
        <p:spPr>
          <a:xfrm>
            <a:off x="10168289" y="5722017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4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00" name="圓角矩形 199">
            <a:extLst>
              <a:ext uri="{FF2B5EF4-FFF2-40B4-BE49-F238E27FC236}">
                <a16:creationId xmlns:a16="http://schemas.microsoft.com/office/drawing/2014/main" id="{1C46CEF6-E60A-E4C2-AEB3-CCC3B0C25B98}"/>
              </a:ext>
            </a:extLst>
          </p:cNvPr>
          <p:cNvSpPr/>
          <p:nvPr/>
        </p:nvSpPr>
        <p:spPr>
          <a:xfrm>
            <a:off x="10548300" y="5722017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5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01" name="圓角矩形 200">
            <a:extLst>
              <a:ext uri="{FF2B5EF4-FFF2-40B4-BE49-F238E27FC236}">
                <a16:creationId xmlns:a16="http://schemas.microsoft.com/office/drawing/2014/main" id="{0BEBE6E3-C7EA-CAF4-E4D2-AB345A280C8B}"/>
              </a:ext>
            </a:extLst>
          </p:cNvPr>
          <p:cNvSpPr/>
          <p:nvPr/>
        </p:nvSpPr>
        <p:spPr>
          <a:xfrm>
            <a:off x="9028256" y="5722017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1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圓角矩形 201">
            <a:extLst>
              <a:ext uri="{FF2B5EF4-FFF2-40B4-BE49-F238E27FC236}">
                <a16:creationId xmlns:a16="http://schemas.microsoft.com/office/drawing/2014/main" id="{8B6BAC64-E231-F06A-29DA-B57F032FC31E}"/>
              </a:ext>
            </a:extLst>
          </p:cNvPr>
          <p:cNvSpPr/>
          <p:nvPr/>
        </p:nvSpPr>
        <p:spPr>
          <a:xfrm>
            <a:off x="10928311" y="5717484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6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圓角矩形 202">
            <a:extLst>
              <a:ext uri="{FF2B5EF4-FFF2-40B4-BE49-F238E27FC236}">
                <a16:creationId xmlns:a16="http://schemas.microsoft.com/office/drawing/2014/main" id="{62820BA0-0EF4-B79B-F131-1CD9579B0763}"/>
              </a:ext>
            </a:extLst>
          </p:cNvPr>
          <p:cNvSpPr/>
          <p:nvPr/>
        </p:nvSpPr>
        <p:spPr>
          <a:xfrm>
            <a:off x="11308321" y="5717483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y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7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圓角矩形 203">
            <a:extLst>
              <a:ext uri="{FF2B5EF4-FFF2-40B4-BE49-F238E27FC236}">
                <a16:creationId xmlns:a16="http://schemas.microsoft.com/office/drawing/2014/main" id="{308095FB-D59F-5D09-74BF-05DFD766ABA2}"/>
              </a:ext>
            </a:extLst>
          </p:cNvPr>
          <p:cNvSpPr/>
          <p:nvPr/>
        </p:nvSpPr>
        <p:spPr>
          <a:xfrm>
            <a:off x="8648245" y="5717483"/>
            <a:ext cx="346711" cy="32261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_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文字方塊 67">
            <a:extLst>
              <a:ext uri="{FF2B5EF4-FFF2-40B4-BE49-F238E27FC236}">
                <a16:creationId xmlns:a16="http://schemas.microsoft.com/office/drawing/2014/main" id="{FB47EEE5-6AFC-D1F7-20B8-4223D4A4C735}"/>
              </a:ext>
            </a:extLst>
          </p:cNvPr>
          <p:cNvSpPr txBox="1"/>
          <p:nvPr/>
        </p:nvSpPr>
        <p:spPr>
          <a:xfrm>
            <a:off x="8432290" y="6039171"/>
            <a:ext cx="778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p:sp>
        <p:nvSpPr>
          <p:cNvPr id="224" name="文字方塊 2">
            <a:extLst>
              <a:ext uri="{FF2B5EF4-FFF2-40B4-BE49-F238E27FC236}">
                <a16:creationId xmlns:a16="http://schemas.microsoft.com/office/drawing/2014/main" id="{89E5C418-49BB-271D-3D44-BC676B920C01}"/>
              </a:ext>
            </a:extLst>
          </p:cNvPr>
          <p:cNvSpPr txBox="1"/>
          <p:nvPr/>
        </p:nvSpPr>
        <p:spPr>
          <a:xfrm>
            <a:off x="9423808" y="3665546"/>
            <a:ext cx="15751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50" dirty="0">
                <a:solidFill>
                  <a:srgbClr val="00B050"/>
                </a:solidFill>
              </a:rPr>
              <a:t>(Target output)</a:t>
            </a:r>
            <a:endParaRPr kumimoji="1" lang="zh-TW" altLang="en-US" sz="1350" dirty="0">
              <a:solidFill>
                <a:srgbClr val="00B050"/>
              </a:solidFill>
            </a:endParaRPr>
          </a:p>
        </p:txBody>
      </p:sp>
      <p:sp>
        <p:nvSpPr>
          <p:cNvPr id="225" name="文字方塊 2">
            <a:extLst>
              <a:ext uri="{FF2B5EF4-FFF2-40B4-BE49-F238E27FC236}">
                <a16:creationId xmlns:a16="http://schemas.microsoft.com/office/drawing/2014/main" id="{06F21140-3827-10FA-3AE5-05D8572121D7}"/>
              </a:ext>
            </a:extLst>
          </p:cNvPr>
          <p:cNvSpPr txBox="1"/>
          <p:nvPr/>
        </p:nvSpPr>
        <p:spPr>
          <a:xfrm>
            <a:off x="5215202" y="6039171"/>
            <a:ext cx="15751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50" dirty="0">
                <a:solidFill>
                  <a:srgbClr val="0070C0"/>
                </a:solidFill>
              </a:rPr>
              <a:t>(Source input)</a:t>
            </a:r>
            <a:endParaRPr kumimoji="1" lang="zh-TW" altLang="en-US" sz="1350" dirty="0">
              <a:solidFill>
                <a:srgbClr val="0070C0"/>
              </a:solidFill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26EDAB87-4000-9DC3-26C6-BAD0E7E84A80}"/>
              </a:ext>
            </a:extLst>
          </p:cNvPr>
          <p:cNvSpPr/>
          <p:nvPr/>
        </p:nvSpPr>
        <p:spPr>
          <a:xfrm>
            <a:off x="5844585" y="2520952"/>
            <a:ext cx="4055873" cy="37595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Language Model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613B694-4E24-4787-7B1A-B17519839B91}"/>
              </a:ext>
            </a:extLst>
          </p:cNvPr>
          <p:cNvSpPr/>
          <p:nvPr/>
        </p:nvSpPr>
        <p:spPr>
          <a:xfrm>
            <a:off x="5926316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77F0C76F-BAD8-DF24-0705-07A24DBFAE30}"/>
              </a:ext>
            </a:extLst>
          </p:cNvPr>
          <p:cNvSpPr/>
          <p:nvPr/>
        </p:nvSpPr>
        <p:spPr>
          <a:xfrm>
            <a:off x="8840891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A0D67BE0-B9EB-420F-70CD-4C0B8F37813F}"/>
              </a:ext>
            </a:extLst>
          </p:cNvPr>
          <p:cNvSpPr/>
          <p:nvPr/>
        </p:nvSpPr>
        <p:spPr>
          <a:xfrm>
            <a:off x="9423808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E81675F7-B711-B777-0FB0-BF1FF02F207F}"/>
              </a:ext>
            </a:extLst>
          </p:cNvPr>
          <p:cNvSpPr/>
          <p:nvPr/>
        </p:nvSpPr>
        <p:spPr>
          <a:xfrm>
            <a:off x="6509231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79968349-79E0-2628-C165-9A5C8B1825BF}"/>
              </a:ext>
            </a:extLst>
          </p:cNvPr>
          <p:cNvSpPr/>
          <p:nvPr/>
        </p:nvSpPr>
        <p:spPr>
          <a:xfrm>
            <a:off x="7092146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96BDD2C6-771C-17CF-914F-9A98962CFF80}"/>
              </a:ext>
            </a:extLst>
          </p:cNvPr>
          <p:cNvSpPr/>
          <p:nvPr/>
        </p:nvSpPr>
        <p:spPr>
          <a:xfrm>
            <a:off x="7675061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56F1FC9-E454-CCA7-B679-E82F06333C38}"/>
              </a:ext>
            </a:extLst>
          </p:cNvPr>
          <p:cNvSpPr/>
          <p:nvPr/>
        </p:nvSpPr>
        <p:spPr>
          <a:xfrm>
            <a:off x="8257976" y="315379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AE9D89AC-AB29-E08D-7378-ACC376C82DDA}"/>
              </a:ext>
            </a:extLst>
          </p:cNvPr>
          <p:cNvSpPr/>
          <p:nvPr/>
        </p:nvSpPr>
        <p:spPr>
          <a:xfrm>
            <a:off x="9423808" y="190646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923EF843-B6E8-05DA-CC4D-34AD24037F24}"/>
              </a:ext>
            </a:extLst>
          </p:cNvPr>
          <p:cNvCxnSpPr>
            <a:cxnSpLocks/>
          </p:cNvCxnSpPr>
          <p:nvPr/>
        </p:nvCxnSpPr>
        <p:spPr>
          <a:xfrm flipV="1">
            <a:off x="9642394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F62C2452-B0BB-CE0B-603B-41D0A1A29C1D}"/>
              </a:ext>
            </a:extLst>
          </p:cNvPr>
          <p:cNvCxnSpPr>
            <a:cxnSpLocks/>
          </p:cNvCxnSpPr>
          <p:nvPr/>
        </p:nvCxnSpPr>
        <p:spPr>
          <a:xfrm flipV="1">
            <a:off x="9646361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86A7B6DC-9CA4-DC31-0A0C-5F448DE7EFE9}"/>
              </a:ext>
            </a:extLst>
          </p:cNvPr>
          <p:cNvCxnSpPr>
            <a:cxnSpLocks/>
          </p:cNvCxnSpPr>
          <p:nvPr/>
        </p:nvCxnSpPr>
        <p:spPr>
          <a:xfrm flipV="1">
            <a:off x="9053554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1AECE19A-4077-A462-39ED-036201C1D85E}"/>
              </a:ext>
            </a:extLst>
          </p:cNvPr>
          <p:cNvCxnSpPr>
            <a:cxnSpLocks/>
          </p:cNvCxnSpPr>
          <p:nvPr/>
        </p:nvCxnSpPr>
        <p:spPr>
          <a:xfrm flipV="1">
            <a:off x="8470866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9639701A-459C-4055-1176-A55DA72682DD}"/>
              </a:ext>
            </a:extLst>
          </p:cNvPr>
          <p:cNvCxnSpPr>
            <a:cxnSpLocks/>
          </p:cNvCxnSpPr>
          <p:nvPr/>
        </p:nvCxnSpPr>
        <p:spPr>
          <a:xfrm flipV="1">
            <a:off x="7888178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4C9FA0EF-88F9-1154-A368-0905C8803121}"/>
              </a:ext>
            </a:extLst>
          </p:cNvPr>
          <p:cNvCxnSpPr>
            <a:cxnSpLocks/>
          </p:cNvCxnSpPr>
          <p:nvPr/>
        </p:nvCxnSpPr>
        <p:spPr>
          <a:xfrm flipV="1">
            <a:off x="7305490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8158D5BA-117F-C3CB-A41F-00890556D612}"/>
              </a:ext>
            </a:extLst>
          </p:cNvPr>
          <p:cNvCxnSpPr>
            <a:cxnSpLocks/>
          </p:cNvCxnSpPr>
          <p:nvPr/>
        </p:nvCxnSpPr>
        <p:spPr>
          <a:xfrm flipV="1">
            <a:off x="6722802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6124F069-EB86-3F22-1997-91FE2FC39760}"/>
              </a:ext>
            </a:extLst>
          </p:cNvPr>
          <p:cNvCxnSpPr>
            <a:cxnSpLocks/>
          </p:cNvCxnSpPr>
          <p:nvPr/>
        </p:nvCxnSpPr>
        <p:spPr>
          <a:xfrm flipV="1">
            <a:off x="6140114" y="2918178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86D24D55-5078-66C3-2F96-A30CB611B3BA}"/>
              </a:ext>
            </a:extLst>
          </p:cNvPr>
          <p:cNvSpPr/>
          <p:nvPr/>
        </p:nvSpPr>
        <p:spPr>
          <a:xfrm>
            <a:off x="5926316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A842956E-4F17-D191-BED9-096377A7221B}"/>
              </a:ext>
            </a:extLst>
          </p:cNvPr>
          <p:cNvSpPr/>
          <p:nvPr/>
        </p:nvSpPr>
        <p:spPr>
          <a:xfrm>
            <a:off x="8840891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6B6E82C2-1A66-8A90-3B52-06025DD81504}"/>
              </a:ext>
            </a:extLst>
          </p:cNvPr>
          <p:cNvSpPr/>
          <p:nvPr/>
        </p:nvSpPr>
        <p:spPr>
          <a:xfrm>
            <a:off x="6509231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圓角矩形 43">
            <a:extLst>
              <a:ext uri="{FF2B5EF4-FFF2-40B4-BE49-F238E27FC236}">
                <a16:creationId xmlns:a16="http://schemas.microsoft.com/office/drawing/2014/main" id="{E6BB074B-CD3C-CDA2-E405-E47F30216046}"/>
              </a:ext>
            </a:extLst>
          </p:cNvPr>
          <p:cNvSpPr/>
          <p:nvPr/>
        </p:nvSpPr>
        <p:spPr>
          <a:xfrm>
            <a:off x="7092146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BF054B1E-63D5-E54F-5FC1-07E55896072C}"/>
              </a:ext>
            </a:extLst>
          </p:cNvPr>
          <p:cNvSpPr/>
          <p:nvPr/>
        </p:nvSpPr>
        <p:spPr>
          <a:xfrm>
            <a:off x="7675061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D528132E-FE11-684F-4242-AE175AE1EEA8}"/>
              </a:ext>
            </a:extLst>
          </p:cNvPr>
          <p:cNvSpPr/>
          <p:nvPr/>
        </p:nvSpPr>
        <p:spPr>
          <a:xfrm>
            <a:off x="8257976" y="190709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092CCD06-C88C-F23E-75AD-E4BA7B1E2764}"/>
              </a:ext>
            </a:extLst>
          </p:cNvPr>
          <p:cNvCxnSpPr>
            <a:cxnSpLocks/>
          </p:cNvCxnSpPr>
          <p:nvPr/>
        </p:nvCxnSpPr>
        <p:spPr>
          <a:xfrm flipV="1">
            <a:off x="9061214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C95DE4CC-2ADC-B522-38A6-2CB42A31A4C5}"/>
              </a:ext>
            </a:extLst>
          </p:cNvPr>
          <p:cNvCxnSpPr>
            <a:cxnSpLocks/>
          </p:cNvCxnSpPr>
          <p:nvPr/>
        </p:nvCxnSpPr>
        <p:spPr>
          <a:xfrm flipV="1">
            <a:off x="8478526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箭頭接點 48">
            <a:extLst>
              <a:ext uri="{FF2B5EF4-FFF2-40B4-BE49-F238E27FC236}">
                <a16:creationId xmlns:a16="http://schemas.microsoft.com/office/drawing/2014/main" id="{8C373CF4-C163-04DC-64A0-67A9371C43B2}"/>
              </a:ext>
            </a:extLst>
          </p:cNvPr>
          <p:cNvCxnSpPr>
            <a:cxnSpLocks/>
          </p:cNvCxnSpPr>
          <p:nvPr/>
        </p:nvCxnSpPr>
        <p:spPr>
          <a:xfrm flipV="1">
            <a:off x="7895838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92872034-134F-3199-4264-FD7A525AAB27}"/>
              </a:ext>
            </a:extLst>
          </p:cNvPr>
          <p:cNvCxnSpPr>
            <a:cxnSpLocks/>
          </p:cNvCxnSpPr>
          <p:nvPr/>
        </p:nvCxnSpPr>
        <p:spPr>
          <a:xfrm flipV="1">
            <a:off x="7313150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40FF2F21-F305-56B0-2FDA-DDDDAB99C32B}"/>
              </a:ext>
            </a:extLst>
          </p:cNvPr>
          <p:cNvCxnSpPr>
            <a:cxnSpLocks/>
          </p:cNvCxnSpPr>
          <p:nvPr/>
        </p:nvCxnSpPr>
        <p:spPr>
          <a:xfrm flipV="1">
            <a:off x="6730462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箭頭接點 78">
            <a:extLst>
              <a:ext uri="{FF2B5EF4-FFF2-40B4-BE49-F238E27FC236}">
                <a16:creationId xmlns:a16="http://schemas.microsoft.com/office/drawing/2014/main" id="{40F5D3CD-2A36-A850-CBE9-E72BA9AB05C0}"/>
              </a:ext>
            </a:extLst>
          </p:cNvPr>
          <p:cNvCxnSpPr>
            <a:cxnSpLocks/>
          </p:cNvCxnSpPr>
          <p:nvPr/>
        </p:nvCxnSpPr>
        <p:spPr>
          <a:xfrm flipV="1">
            <a:off x="6147774" y="2309053"/>
            <a:ext cx="0" cy="205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7316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613636-6ED4-7E3B-9885-A4C7485AC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See `code/t5_summarization.ipynb`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CE320B-02CD-09C1-02F0-A588FE2DC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A3E5103-78CF-8D84-9D5B-E4900D68A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65" y="1716732"/>
            <a:ext cx="9910670" cy="461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603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AB6151A5-2D6F-3748-8575-59D412696C53}"/>
              </a:ext>
            </a:extLst>
          </p:cNvPr>
          <p:cNvSpPr txBox="1">
            <a:spLocks/>
          </p:cNvSpPr>
          <p:nvPr/>
        </p:nvSpPr>
        <p:spPr>
          <a:xfrm>
            <a:off x="4725880" y="2315977"/>
            <a:ext cx="4737788" cy="25162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林宣辰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b1128015@cgu.edu.tw</a:t>
            </a:r>
          </a:p>
        </p:txBody>
      </p:sp>
    </p:spTree>
    <p:extLst>
      <p:ext uri="{BB962C8B-B14F-4D97-AF65-F5344CB8AC3E}">
        <p14:creationId xmlns:p14="http://schemas.microsoft.com/office/powerpoint/2010/main" val="2684697706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4425</TotalTime>
  <Words>3236</Words>
  <Application>Microsoft Macintosh PowerPoint</Application>
  <PresentationFormat>寬螢幕</PresentationFormat>
  <Paragraphs>617</Paragraphs>
  <Slides>53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53</vt:i4>
      </vt:variant>
    </vt:vector>
  </HeadingPairs>
  <TitlesOfParts>
    <vt:vector size="63" baseType="lpstr">
      <vt:lpstr>Microsoft JhengHei</vt:lpstr>
      <vt:lpstr>新細明體</vt:lpstr>
      <vt:lpstr>新細明體</vt:lpstr>
      <vt:lpstr>Nanum Brush Script</vt:lpstr>
      <vt:lpstr>Arial</vt:lpstr>
      <vt:lpstr>Calibri</vt:lpstr>
      <vt:lpstr>Comic Sans MS</vt:lpstr>
      <vt:lpstr>Consolas</vt:lpstr>
      <vt:lpstr>Menlo</vt:lpstr>
      <vt:lpstr>回顧</vt:lpstr>
      <vt:lpstr>自然語言處理與應用 Natural Language Processing and Applications</vt:lpstr>
      <vt:lpstr>What you will learn in this tutorial</vt:lpstr>
      <vt:lpstr>Why do we need to learn GPT-2?</vt:lpstr>
      <vt:lpstr>Introduction to Text Summarization</vt:lpstr>
      <vt:lpstr>Task: Chinese Abstractive Summarization</vt:lpstr>
      <vt:lpstr>今日著重在 Hugging Face Transformers</vt:lpstr>
      <vt:lpstr>Language Model vs. Masked Language Model</vt:lpstr>
      <vt:lpstr>Language Model vs. Seq2seq Model</vt:lpstr>
      <vt:lpstr>Load LCSTS via Hugging Face Dataset</vt:lpstr>
      <vt:lpstr>Let’s try it</vt:lpstr>
      <vt:lpstr>Auto Classes (models, tokenizers)</vt:lpstr>
      <vt:lpstr>Generative Models in Auto Classes</vt:lpstr>
      <vt:lpstr>Outline</vt:lpstr>
      <vt:lpstr>Load the Tokenizer and the Model</vt:lpstr>
      <vt:lpstr>Left padding</vt:lpstr>
      <vt:lpstr>About Padding</vt:lpstr>
      <vt:lpstr>Set [PAD] as -100 in labels </vt:lpstr>
      <vt:lpstr>Load the Tokenizer and the Model</vt:lpstr>
      <vt:lpstr>resize_token_embeddings</vt:lpstr>
      <vt:lpstr>Let’s try it</vt:lpstr>
      <vt:lpstr>Create the PyTorch Dataset</vt:lpstr>
      <vt:lpstr>Create the PyTorch DataLoader for Data Batching</vt:lpstr>
      <vt:lpstr>Overview</vt:lpstr>
      <vt:lpstr>Create the PyTorch DataLoader for Data Batching: 1. Input Data for Training</vt:lpstr>
      <vt:lpstr>uer/gpt2-chinese-cluecorpussmall uses BertTokenizer</vt:lpstr>
      <vt:lpstr>English GPT-2 for Text Summarization[2]</vt:lpstr>
      <vt:lpstr>Create the PyTorch DataLoader for Data Batching: 2. Labels (auto-regressive)</vt:lpstr>
      <vt:lpstr>GPT2LMHeadModel shifts logits and labels</vt:lpstr>
      <vt:lpstr>Create the PyTorch DataLoader for Data Batching: 3. Input Data for Predictions</vt:lpstr>
      <vt:lpstr>Create the PyTorch DataLoader for Data Batching: 1. Input Data for Training [Recap]</vt:lpstr>
      <vt:lpstr>Create the PyTorch DataLoader for Data Batching</vt:lpstr>
      <vt:lpstr>Set up Optimizer</vt:lpstr>
      <vt:lpstr>Let’s try it</vt:lpstr>
      <vt:lpstr>Set up Evaluation Metric</vt:lpstr>
      <vt:lpstr>Generating step-by-step</vt:lpstr>
      <vt:lpstr>Decoding strategies</vt:lpstr>
      <vt:lpstr>How to let a model generate step-by-step?</vt:lpstr>
      <vt:lpstr>Pseudo code of a decoding loop</vt:lpstr>
      <vt:lpstr>Perform Evaluations</vt:lpstr>
      <vt:lpstr>Perform Evaluations</vt:lpstr>
      <vt:lpstr>Decoding 後的處理 (接續上一頁)</vt:lpstr>
      <vt:lpstr>通常我們會設置 max_new_tokens</vt:lpstr>
      <vt:lpstr>查看 model config 最簡單的方式</vt:lpstr>
      <vt:lpstr>在 batch 生成時要用 EOS 去替代 Padding</vt:lpstr>
      <vt:lpstr>do_evaluate 的 targets</vt:lpstr>
      <vt:lpstr>do_evaluate 的 predictions</vt:lpstr>
      <vt:lpstr>do_evaluate 的 score</vt:lpstr>
      <vt:lpstr>完整的 Training Loop</vt:lpstr>
      <vt:lpstr>Let’s try it</vt:lpstr>
      <vt:lpstr>T5 [4]</vt:lpstr>
      <vt:lpstr>Language Model vs. Seq2seq Model</vt:lpstr>
      <vt:lpstr>See `code/t5_summarization.ipynb`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1363</cp:revision>
  <dcterms:created xsi:type="dcterms:W3CDTF">2025-02-07T09:05:59Z</dcterms:created>
  <dcterms:modified xsi:type="dcterms:W3CDTF">2026-04-26T15:39:05Z</dcterms:modified>
</cp:coreProperties>
</file>