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7"/>
  </p:notesMasterIdLst>
  <p:sldIdLst>
    <p:sldId id="508" r:id="rId2"/>
    <p:sldId id="748" r:id="rId3"/>
    <p:sldId id="512" r:id="rId4"/>
    <p:sldId id="516" r:id="rId5"/>
    <p:sldId id="513" r:id="rId6"/>
    <p:sldId id="509" r:id="rId7"/>
    <p:sldId id="510" r:id="rId8"/>
    <p:sldId id="517" r:id="rId9"/>
    <p:sldId id="519" r:id="rId10"/>
    <p:sldId id="520" r:id="rId11"/>
    <p:sldId id="521" r:id="rId12"/>
    <p:sldId id="522" r:id="rId13"/>
    <p:sldId id="523" r:id="rId14"/>
    <p:sldId id="529" r:id="rId15"/>
    <p:sldId id="518" r:id="rId16"/>
    <p:sldId id="749" r:id="rId17"/>
    <p:sldId id="524" r:id="rId18"/>
    <p:sldId id="525" r:id="rId19"/>
    <p:sldId id="526" r:id="rId20"/>
    <p:sldId id="527" r:id="rId21"/>
    <p:sldId id="740" r:id="rId22"/>
    <p:sldId id="741" r:id="rId23"/>
    <p:sldId id="742" r:id="rId24"/>
    <p:sldId id="528" r:id="rId25"/>
    <p:sldId id="743" r:id="rId26"/>
    <p:sldId id="744" r:id="rId27"/>
    <p:sldId id="727" r:id="rId28"/>
    <p:sldId id="747" r:id="rId29"/>
    <p:sldId id="531" r:id="rId30"/>
    <p:sldId id="745" r:id="rId31"/>
    <p:sldId id="746" r:id="rId32"/>
    <p:sldId id="533" r:id="rId33"/>
    <p:sldId id="535" r:id="rId34"/>
    <p:sldId id="666" r:id="rId35"/>
    <p:sldId id="739" r:id="rId3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A0E90848-8D8D-3240-9C7D-B00833E33691}">
          <p14:sldIdLst>
            <p14:sldId id="508"/>
            <p14:sldId id="748"/>
            <p14:sldId id="512"/>
            <p14:sldId id="516"/>
            <p14:sldId id="513"/>
            <p14:sldId id="509"/>
          </p14:sldIdLst>
        </p14:section>
        <p14:section name="LLM Classification Finetuning&#13;LLM Classification Finetuning&#13;" id="{1D7FFD3F-DA08-F94E-9EB3-3ECF72224DCE}">
          <p14:sldIdLst>
            <p14:sldId id="510"/>
            <p14:sldId id="517"/>
            <p14:sldId id="519"/>
            <p14:sldId id="520"/>
            <p14:sldId id="521"/>
          </p14:sldIdLst>
        </p14:section>
        <p14:section name="NBME" id="{F93F54CF-4CDE-6341-9B0B-3D562E110F7D}">
          <p14:sldIdLst>
            <p14:sldId id="522"/>
            <p14:sldId id="523"/>
            <p14:sldId id="529"/>
            <p14:sldId id="518"/>
            <p14:sldId id="749"/>
            <p14:sldId id="524"/>
            <p14:sldId id="525"/>
            <p14:sldId id="526"/>
            <p14:sldId id="527"/>
          </p14:sldIdLst>
        </p14:section>
        <p14:section name="MAP" id="{14C861E0-4E12-CE47-BC01-BDC686D0C875}">
          <p14:sldIdLst>
            <p14:sldId id="740"/>
            <p14:sldId id="741"/>
            <p14:sldId id="742"/>
          </p14:sldIdLst>
        </p14:section>
        <p14:section name="AES" id="{A1568926-4DC0-D940-B670-53C6A40E96D4}">
          <p14:sldIdLst>
            <p14:sldId id="528"/>
            <p14:sldId id="743"/>
            <p14:sldId id="744"/>
          </p14:sldIdLst>
        </p14:section>
        <p14:section name="PII" id="{0602FEE1-F568-454D-B7BA-AB6672ECE78D}">
          <p14:sldIdLst>
            <p14:sldId id="727"/>
            <p14:sldId id="747"/>
            <p14:sldId id="531"/>
            <p14:sldId id="745"/>
            <p14:sldId id="746"/>
          </p14:sldIdLst>
        </p14:section>
        <p14:section name="注意事項" id="{8FFBD57A-F87B-4D42-9D49-82BC4896865B}">
          <p14:sldIdLst>
            <p14:sldId id="533"/>
            <p14:sldId id="535"/>
            <p14:sldId id="666"/>
            <p14:sldId id="73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5AED6"/>
    <a:srgbClr val="FF9400"/>
    <a:srgbClr val="FFCE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54"/>
    <p:restoredTop sz="94270"/>
  </p:normalViewPr>
  <p:slideViewPr>
    <p:cSldViewPr snapToGrid="0">
      <p:cViewPr varScale="1">
        <p:scale>
          <a:sx n="143" d="100"/>
          <a:sy n="143" d="100"/>
        </p:scale>
        <p:origin x="116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3" d="100"/>
          <a:sy n="103" d="100"/>
        </p:scale>
        <p:origin x="3640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BE83B-754F-B948-8CD7-D8047F5EE2C4}" type="datetimeFigureOut">
              <a:rPr kumimoji="1" lang="zh-TW" altLang="en-US" smtClean="0"/>
              <a:t>2026/4/13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836D1C-D09F-2A41-BBEA-6549EF3DDB6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51419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39576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925123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012817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/>
              <a:t>這個任務有點像訓練一個會幫作文評分的 </a:t>
            </a:r>
            <a:r>
              <a:rPr kumimoji="1" lang="en" altLang="zh-TW" dirty="0"/>
              <a:t>AI</a:t>
            </a:r>
            <a:r>
              <a:rPr kumimoji="1" lang="zh-TW" altLang="en" dirty="0"/>
              <a:t>，</a:t>
            </a:r>
            <a:r>
              <a:rPr kumimoji="1" lang="zh-TW" altLang="en-US" dirty="0"/>
              <a:t>也就是模擬老師看完文章後給分數。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109611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26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135151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27463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553428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143" y="1845734"/>
            <a:ext cx="10918371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7DAD89E-131D-FDCA-9260-AC4191103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2955" y="6415560"/>
            <a:ext cx="1312025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6113E31D-E2AB-40D1-8B51-AFA5AFEF393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B05C12B-E59D-D8B7-A3B4-27931CBD675F}"/>
              </a:ext>
            </a:extLst>
          </p:cNvPr>
          <p:cNvSpPr txBox="1"/>
          <p:nvPr userDrawn="1"/>
        </p:nvSpPr>
        <p:spPr>
          <a:xfrm>
            <a:off x="423038" y="6442992"/>
            <a:ext cx="557608" cy="268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</a:pPr>
            <a:r>
              <a:rPr kumimoji="1" lang="en-US" altLang="zh-TW" sz="1400" dirty="0">
                <a:ea typeface="Nanum Brush Script" panose="03060600000000000000" pitchFamily="66" charset="-127"/>
                <a:cs typeface="Arial" panose="020B0604020202020204" pitchFamily="34" charset="0"/>
              </a:rPr>
              <a:t>NLP</a:t>
            </a:r>
            <a:endParaRPr kumimoji="1" lang="zh-TW" altLang="en-US" sz="1400" dirty="0">
              <a:cs typeface="Arial" panose="020B0604020202020204" pitchFamily="34" charset="0"/>
            </a:endParaRPr>
          </a:p>
        </p:txBody>
      </p:sp>
      <p:pic>
        <p:nvPicPr>
          <p:cNvPr id="7" name="圖形 6" descr="聊天泡泡 外框">
            <a:extLst>
              <a:ext uri="{FF2B5EF4-FFF2-40B4-BE49-F238E27FC236}">
                <a16:creationId xmlns:a16="http://schemas.microsoft.com/office/drawing/2014/main" id="{0B067696-6EA5-0A4A-14B8-D7C17072FE9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093" y="6388664"/>
            <a:ext cx="377640" cy="37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86838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911656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DAB314-DF41-49F3-8643-5960470A9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4963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4/13/26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6FF28B-EE0C-0976-1882-688F90260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79200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4/13/26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8DE478E-C0B1-6FFC-0061-DA2334C3F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71989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4/13/26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31067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22681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4/13/26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16162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5B6B208-0D45-71D0-C7BE-D6974D30E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</p:spPr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0684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4/13/26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143666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676003" y="1355758"/>
            <a:ext cx="10839994" cy="45719"/>
          </a:xfrm>
          <a:prstGeom prst="rect">
            <a:avLst/>
          </a:prstGeom>
          <a:solidFill>
            <a:srgbClr val="FF9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CGU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101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hyperlink" Target="https://app.sli.do/event/25L1NdbGFSHiX64RUTZ1YJ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competitions/nbme-score-clinical-patient-notes/overview" TargetMode="External"/><Relationship Id="rId2" Type="http://schemas.openxmlformats.org/officeDocument/2006/relationships/hyperlink" Target="https://www.kaggle.com/competitions/llm-classification-finetuning/overview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kaggle.com/competitions/pii-detection-removal-from-educational-data/overview" TargetMode="External"/><Relationship Id="rId5" Type="http://schemas.openxmlformats.org/officeDocument/2006/relationships/hyperlink" Target="https://www.kaggle.com/competitions/learning-agency-lab-automated-essay-scoring-2/overview" TargetMode="External"/><Relationship Id="rId4" Type="http://schemas.openxmlformats.org/officeDocument/2006/relationships/hyperlink" Target="https://www.kaggle.com/competitions/map-charting-student-math-misunderstandings/overview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code/addisonhoward/lmsys-kerasnlp-starter#%F0%9F%93%AC-%7C-Submission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code/yasufuminakama/nbme-deberta-base-baseline-inference#Submission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storage.googleapis.com/kaggle-forum-message-attachments/2733927/20538/Rubric_%20Holistic%20Essay%20Scoring.pdf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圓角矩形 7">
            <a:extLst>
              <a:ext uri="{FF2B5EF4-FFF2-40B4-BE49-F238E27FC236}">
                <a16:creationId xmlns:a16="http://schemas.microsoft.com/office/drawing/2014/main" id="{AA8F8551-2C61-48D1-9E5C-345C10BAAC8B}"/>
              </a:ext>
            </a:extLst>
          </p:cNvPr>
          <p:cNvSpPr/>
          <p:nvPr/>
        </p:nvSpPr>
        <p:spPr>
          <a:xfrm>
            <a:off x="667422" y="1891904"/>
            <a:ext cx="10857156" cy="2857500"/>
          </a:xfrm>
          <a:prstGeom prst="roundRect">
            <a:avLst/>
          </a:prstGeom>
          <a:solidFill>
            <a:srgbClr val="FFCE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C058193-D513-E805-2BD5-118E50D976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9623" y="2056517"/>
            <a:ext cx="10857156" cy="2758710"/>
          </a:xfrm>
        </p:spPr>
        <p:txBody>
          <a:bodyPr anchor="ctr">
            <a:noAutofit/>
          </a:bodyPr>
          <a:lstStyle/>
          <a:p>
            <a:r>
              <a:rPr kumimoji="1" lang="zh-TW" altLang="en-US" sz="4800" b="1" dirty="0">
                <a:ea typeface="Microsoft JhengHei" panose="020B0604030504040204" pitchFamily="34" charset="-120"/>
              </a:rPr>
              <a:t>自然語言處理與應用</a:t>
            </a:r>
            <a:br>
              <a:rPr kumimoji="1" lang="en-US" altLang="zh-TW" sz="4800" b="1" dirty="0">
                <a:ea typeface="Microsoft JhengHei" panose="020B0604030504040204" pitchFamily="34" charset="-120"/>
              </a:rPr>
            </a:br>
            <a:r>
              <a:rPr kumimoji="1" lang="en-US" altLang="zh-TW" sz="4800" b="1" dirty="0">
                <a:ea typeface="Microsoft JhengHei" panose="020B0604030504040204" pitchFamily="34" charset="-120"/>
              </a:rPr>
              <a:t>Natural Language Processing and Applications</a:t>
            </a:r>
            <a:endParaRPr kumimoji="1" lang="zh-TW" altLang="en-US" sz="4800" b="1" dirty="0">
              <a:ea typeface="Microsoft JhengHei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598A032-0E8B-F9E1-A926-2F2E78D575C6}"/>
              </a:ext>
            </a:extLst>
          </p:cNvPr>
          <p:cNvSpPr txBox="1"/>
          <p:nvPr/>
        </p:nvSpPr>
        <p:spPr>
          <a:xfrm>
            <a:off x="759623" y="4881049"/>
            <a:ext cx="45605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b="1" dirty="0">
                <a:solidFill>
                  <a:srgbClr val="0070C0"/>
                </a:solidFill>
                <a:latin typeface="+mj-lt"/>
                <a:cs typeface="Calibri" panose="020F0502020204030204" pitchFamily="34" charset="0"/>
              </a:rPr>
              <a:t>Project Introduction</a:t>
            </a:r>
          </a:p>
          <a:p>
            <a:endParaRPr kumimoji="1" lang="en-US" altLang="zh-TW" sz="2800" b="1" dirty="0">
              <a:solidFill>
                <a:srgbClr val="0070C0"/>
              </a:solidFill>
              <a:latin typeface="+mj-lt"/>
              <a:cs typeface="Calibri" panose="020F0502020204030204" pitchFamily="34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F843A79-3FEF-CDAD-6B9A-C5A7AD279D2D}"/>
              </a:ext>
            </a:extLst>
          </p:cNvPr>
          <p:cNvSpPr txBox="1"/>
          <p:nvPr/>
        </p:nvSpPr>
        <p:spPr>
          <a:xfrm>
            <a:off x="759623" y="5914787"/>
            <a:ext cx="41826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Instructor: </a:t>
            </a:r>
            <a:r>
              <a:rPr kumimoji="1" lang="zh-TW" altLang="en-US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林英嘉 </a:t>
            </a:r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(Ying-Jia Lin)</a:t>
            </a:r>
          </a:p>
          <a:p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2026/04/13</a:t>
            </a:r>
            <a:endParaRPr kumimoji="1" lang="zh-TW" altLang="en-US" sz="2000" b="1" dirty="0">
              <a:latin typeface="+mj-lt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C0C8410-1877-4FB2-39F9-E0CFE0480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0118" y="130472"/>
            <a:ext cx="1394460" cy="139446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A6DEED3F-C826-615A-5EF9-02C833E509E8}"/>
              </a:ext>
            </a:extLst>
          </p:cNvPr>
          <p:cNvSpPr txBox="1"/>
          <p:nvPr/>
        </p:nvSpPr>
        <p:spPr>
          <a:xfrm>
            <a:off x="10169046" y="5391531"/>
            <a:ext cx="15583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 err="1"/>
              <a:t>Slido</a:t>
            </a:r>
            <a:endParaRPr kumimoji="1" lang="en" altLang="zh-TW" dirty="0"/>
          </a:p>
          <a:p>
            <a:r>
              <a:rPr kumimoji="1" lang="en" altLang="zh-TW" dirty="0"/>
              <a:t># NLP0413 (</a:t>
            </a:r>
            <a:r>
              <a:rPr kumimoji="1" lang="en" altLang="zh-TW" dirty="0">
                <a:hlinkClick r:id="rId4"/>
              </a:rPr>
              <a:t>Link</a:t>
            </a:r>
            <a:r>
              <a:rPr kumimoji="1" lang="en" altLang="zh-TW" dirty="0"/>
              <a:t>)</a:t>
            </a:r>
            <a:endParaRPr kumimoji="1"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5D8B8BA-01EA-719E-DB6F-35B59009F05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139"/>
          <a:stretch/>
        </p:blipFill>
        <p:spPr>
          <a:xfrm>
            <a:off x="5498071" y="4881049"/>
            <a:ext cx="2108982" cy="1958434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5E320E30-561F-DF85-CC02-2709CD58A10B}"/>
              </a:ext>
            </a:extLst>
          </p:cNvPr>
          <p:cNvSpPr txBox="1"/>
          <p:nvPr/>
        </p:nvSpPr>
        <p:spPr>
          <a:xfrm>
            <a:off x="7389634" y="5642689"/>
            <a:ext cx="1011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GitHub</a:t>
            </a:r>
            <a:endParaRPr kumimoji="1"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06E821F-164F-1463-304D-AB66914966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0925" y="4903419"/>
            <a:ext cx="1759010" cy="1759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99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5B9393-1699-985A-E66F-F2B388438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Week 8 Outline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A6DC57-0B7A-1B21-F9F0-721D122BD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FAFA69A-F103-08DD-98C8-542BFACBF3C4}"/>
              </a:ext>
            </a:extLst>
          </p:cNvPr>
          <p:cNvSpPr txBox="1"/>
          <p:nvPr/>
        </p:nvSpPr>
        <p:spPr>
          <a:xfrm>
            <a:off x="653143" y="1636542"/>
            <a:ext cx="10918370" cy="279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Project Introduction (40 min)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Assignment 3 Introduction (50 min)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GPT and language modeling (30 min)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助教宣布事項 </a:t>
            </a:r>
            <a:r>
              <a:rPr kumimoji="1" lang="en-US" altLang="zh-TW" sz="2400" dirty="0"/>
              <a:t>(10 min)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Quiz (10 min)</a:t>
            </a:r>
          </a:p>
        </p:txBody>
      </p:sp>
    </p:spTree>
    <p:extLst>
      <p:ext uri="{BB962C8B-B14F-4D97-AF65-F5344CB8AC3E}">
        <p14:creationId xmlns:p14="http://schemas.microsoft.com/office/powerpoint/2010/main" val="2647002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865971-B0EC-30C9-2033-E2EDCE0F9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What is Kaggle?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E328ABF-DDEA-CADF-66B3-BFE87A3E3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3B87797-E3AE-4EBE-2B62-A4DE081E228D}"/>
              </a:ext>
            </a:extLst>
          </p:cNvPr>
          <p:cNvSpPr txBox="1"/>
          <p:nvPr/>
        </p:nvSpPr>
        <p:spPr>
          <a:xfrm>
            <a:off x="653144" y="1806093"/>
            <a:ext cx="10918370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Kaggle is a platform that provides: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Real-word datasets for machine learning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Competitions with prizes (sometimes with money)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Discussion forum with </a:t>
            </a:r>
            <a:r>
              <a:rPr kumimoji="1" lang="en-US" altLang="zh-TW" sz="2400" dirty="0">
                <a:solidFill>
                  <a:srgbClr val="FF0000"/>
                </a:solidFill>
              </a:rPr>
              <a:t>a lots of code examples</a:t>
            </a:r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AC433184-A31B-F809-1E62-9393DCED2E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5637" y="2127093"/>
            <a:ext cx="2903330" cy="1121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2033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86A6FC-3CAE-286A-D273-24D56F1E7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Kaggle submission types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3D58D4F-7593-7A09-5357-C3C5AF2F4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E3A8C51-FB4D-B396-852C-E7355C49A3D4}"/>
              </a:ext>
            </a:extLst>
          </p:cNvPr>
          <p:cNvSpPr txBox="1"/>
          <p:nvPr/>
        </p:nvSpPr>
        <p:spPr>
          <a:xfrm>
            <a:off x="653144" y="1806093"/>
            <a:ext cx="10918370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Traditional competitions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Upload s</a:t>
            </a:r>
            <a:r>
              <a:rPr kumimoji="1" lang="en-US" altLang="zh-TW" sz="2400" b="1" dirty="0"/>
              <a:t>ubmission file </a:t>
            </a:r>
            <a:r>
              <a:rPr kumimoji="1" lang="en-US" altLang="zh-TW" sz="2400" dirty="0"/>
              <a:t>(e.g., *.csv)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Code / Notebook competitions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Upload </a:t>
            </a:r>
            <a:r>
              <a:rPr kumimoji="1" lang="en-US" altLang="zh-TW" sz="2400" b="1" dirty="0"/>
              <a:t>code</a:t>
            </a:r>
            <a:r>
              <a:rPr kumimoji="1" lang="en-US" altLang="zh-TW" sz="2400" dirty="0"/>
              <a:t> (e.g., *.</a:t>
            </a:r>
            <a:r>
              <a:rPr kumimoji="1" lang="en-US" altLang="zh-TW" sz="2400" dirty="0" err="1"/>
              <a:t>ipynb</a:t>
            </a:r>
            <a:r>
              <a:rPr kumimoji="1" lang="en-US" altLang="zh-TW" sz="2400" dirty="0"/>
              <a:t>)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2F92B4E-ADBE-9A41-2C44-BD43E77C48F1}"/>
              </a:ext>
            </a:extLst>
          </p:cNvPr>
          <p:cNvSpPr/>
          <p:nvPr/>
        </p:nvSpPr>
        <p:spPr>
          <a:xfrm>
            <a:off x="1031184" y="2987846"/>
            <a:ext cx="4256433" cy="52677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34AD1D6-CC47-6744-EBAE-7C9568D54F45}"/>
              </a:ext>
            </a:extLst>
          </p:cNvPr>
          <p:cNvSpPr txBox="1"/>
          <p:nvPr/>
        </p:nvSpPr>
        <p:spPr>
          <a:xfrm>
            <a:off x="5890177" y="3057360"/>
            <a:ext cx="38004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sz="2000" dirty="0">
                <a:solidFill>
                  <a:srgbClr val="FF0000"/>
                </a:solidFill>
                <a:ea typeface="Microsoft JhengHei" panose="020B0604030504040204" pitchFamily="34" charset="-120"/>
              </a:rPr>
              <a:t>本課程</a:t>
            </a:r>
            <a:r>
              <a:rPr kumimoji="1" lang="en-US" altLang="zh-TW" sz="2000" dirty="0">
                <a:solidFill>
                  <a:srgbClr val="FF0000"/>
                </a:solidFill>
                <a:ea typeface="Microsoft JhengHei" panose="020B0604030504040204" pitchFamily="34" charset="-120"/>
              </a:rPr>
              <a:t> Term project </a:t>
            </a:r>
            <a:r>
              <a:rPr kumimoji="1" lang="zh-TW" altLang="en-US" sz="2000" dirty="0">
                <a:solidFill>
                  <a:srgbClr val="FF0000"/>
                </a:solidFill>
                <a:ea typeface="Microsoft JhengHei" panose="020B0604030504040204" pitchFamily="34" charset="-120"/>
              </a:rPr>
              <a:t>採用此方式</a:t>
            </a:r>
          </a:p>
        </p:txBody>
      </p:sp>
    </p:spTree>
    <p:extLst>
      <p:ext uri="{BB962C8B-B14F-4D97-AF65-F5344CB8AC3E}">
        <p14:creationId xmlns:p14="http://schemas.microsoft.com/office/powerpoint/2010/main" val="3836629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326150-9229-070C-3EA6-FF1573D0E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TW" dirty="0"/>
              <a:t>If you play Kaggle a lot …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B2D8725-5CE1-C496-866C-03B0CDB8D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D0A3D66-FB6F-E172-77E1-3DA553E44E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888" y="1453470"/>
            <a:ext cx="7452224" cy="4898123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178CD3BA-FB6F-0517-29D5-3738CD04E054}"/>
              </a:ext>
            </a:extLst>
          </p:cNvPr>
          <p:cNvSpPr txBox="1"/>
          <p:nvPr/>
        </p:nvSpPr>
        <p:spPr>
          <a:xfrm>
            <a:off x="3785152" y="6415559"/>
            <a:ext cx="46216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sz="1600" dirty="0"/>
              <a:t>Figure source: https://</a:t>
            </a:r>
            <a:r>
              <a:rPr kumimoji="1" lang="en" altLang="zh-TW" sz="1600" dirty="0" err="1"/>
              <a:t>www.kaggle.com</a:t>
            </a:r>
            <a:r>
              <a:rPr kumimoji="1" lang="en" altLang="zh-TW" sz="1600" dirty="0"/>
              <a:t>/</a:t>
            </a:r>
            <a:r>
              <a:rPr kumimoji="1" lang="en" altLang="zh-TW" sz="1600" dirty="0" err="1"/>
              <a:t>bestfitting</a:t>
            </a:r>
            <a:endParaRPr kumimoji="1" lang="en" altLang="zh-TW" sz="1600" dirty="0"/>
          </a:p>
        </p:txBody>
      </p:sp>
    </p:spTree>
    <p:extLst>
      <p:ext uri="{BB962C8B-B14F-4D97-AF65-F5344CB8AC3E}">
        <p14:creationId xmlns:p14="http://schemas.microsoft.com/office/powerpoint/2010/main" val="4115165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51B1D80-D444-3D31-A265-F28A35AD4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795B27B8-D9AE-7070-D104-FCBA81464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/>
          <a:lstStyle/>
          <a:p>
            <a:r>
              <a:rPr kumimoji="1" lang="en-US" altLang="zh-TW" dirty="0"/>
              <a:t>Outline of tasks (ALL NLP)</a:t>
            </a:r>
            <a:endParaRPr kumimoji="1" lang="zh-TW" altLang="en-US" dirty="0"/>
          </a:p>
        </p:txBody>
      </p:sp>
      <p:graphicFrame>
        <p:nvGraphicFramePr>
          <p:cNvPr id="7" name="表格 5">
            <a:extLst>
              <a:ext uri="{FF2B5EF4-FFF2-40B4-BE49-F238E27FC236}">
                <a16:creationId xmlns:a16="http://schemas.microsoft.com/office/drawing/2014/main" id="{7030B39B-5917-D7E3-ADA9-6BBB10AEB5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017677"/>
              </p:ext>
            </p:extLst>
          </p:nvPr>
        </p:nvGraphicFramePr>
        <p:xfrm>
          <a:off x="843169" y="1667380"/>
          <a:ext cx="10505661" cy="45833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9310">
                  <a:extLst>
                    <a:ext uri="{9D8B030D-6E8A-4147-A177-3AD203B41FA5}">
                      <a16:colId xmlns:a16="http://schemas.microsoft.com/office/drawing/2014/main" val="2000886551"/>
                    </a:ext>
                  </a:extLst>
                </a:gridCol>
                <a:gridCol w="4367030">
                  <a:extLst>
                    <a:ext uri="{9D8B030D-6E8A-4147-A177-3AD203B41FA5}">
                      <a16:colId xmlns:a16="http://schemas.microsoft.com/office/drawing/2014/main" val="3087572156"/>
                    </a:ext>
                  </a:extLst>
                </a:gridCol>
                <a:gridCol w="2334422">
                  <a:extLst>
                    <a:ext uri="{9D8B030D-6E8A-4147-A177-3AD203B41FA5}">
                      <a16:colId xmlns:a16="http://schemas.microsoft.com/office/drawing/2014/main" val="2381574159"/>
                    </a:ext>
                  </a:extLst>
                </a:gridCol>
                <a:gridCol w="2674899">
                  <a:extLst>
                    <a:ext uri="{9D8B030D-6E8A-4147-A177-3AD203B41FA5}">
                      <a16:colId xmlns:a16="http://schemas.microsoft.com/office/drawing/2014/main" val="1704855946"/>
                    </a:ext>
                  </a:extLst>
                </a:gridCol>
              </a:tblGrid>
              <a:tr h="763897">
                <a:tc>
                  <a:txBody>
                    <a:bodyPr/>
                    <a:lstStyle/>
                    <a:p>
                      <a:r>
                        <a:rPr lang="en-US" altLang="zh-TW" dirty="0"/>
                        <a:t>Platform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Competition Name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Task Type (</a:t>
                      </a:r>
                      <a:r>
                        <a:rPr lang="zh-TW" altLang="en-US" dirty="0"/>
                        <a:t>廣義</a:t>
                      </a:r>
                      <a:r>
                        <a:rPr lang="en-US" altLang="zh-TW" dirty="0"/>
                        <a:t>)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Task Type (</a:t>
                      </a:r>
                      <a:r>
                        <a:rPr lang="zh-TW" altLang="en-US" dirty="0"/>
                        <a:t>狹義</a:t>
                      </a:r>
                      <a:r>
                        <a:rPr lang="en-US" altLang="zh-TW" dirty="0"/>
                        <a:t>)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2026224"/>
                  </a:ext>
                </a:extLst>
              </a:tr>
              <a:tr h="763897">
                <a:tc rowSpan="5">
                  <a:txBody>
                    <a:bodyPr/>
                    <a:lstStyle/>
                    <a:p>
                      <a:r>
                        <a:rPr lang="en-US" altLang="zh-TW" dirty="0"/>
                        <a:t>Kaggle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 altLang="zh-TW" dirty="0">
                          <a:hlinkClick r:id="rId2"/>
                        </a:rPr>
                        <a:t>LLM Classification Finetuning</a:t>
                      </a:r>
                      <a:endParaRPr lang="en" altLang="zh-TW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Text classification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P</a:t>
                      </a:r>
                      <a:r>
                        <a:rPr lang="en" altLang="zh-TW" dirty="0"/>
                        <a:t>reference Ranking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0284731"/>
                  </a:ext>
                </a:extLst>
              </a:tr>
              <a:tr h="763897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TW" dirty="0">
                          <a:hlinkClick r:id="rId3"/>
                        </a:rPr>
                        <a:t>NBME - Score Clinical Patient Notes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Token classification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dirty="0"/>
                        <a:t>Span Extraction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391745"/>
                  </a:ext>
                </a:extLst>
              </a:tr>
              <a:tr h="763897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TW" dirty="0">
                          <a:hlinkClick r:id="rId4"/>
                        </a:rPr>
                        <a:t>MAP - Charting Student Math Misunderstandings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Retrieval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Ranking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9319105"/>
                  </a:ext>
                </a:extLst>
              </a:tr>
              <a:tr h="763897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 altLang="zh-TW" dirty="0">
                          <a:hlinkClick r:id="rId5"/>
                        </a:rPr>
                        <a:t>Learning Agency Lab - Automated Essay Scoring 2.0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Regression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Scoring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1996382"/>
                  </a:ext>
                </a:extLst>
              </a:tr>
              <a:tr h="763897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" altLang="zh-TW" dirty="0">
                          <a:hlinkClick r:id="rId6"/>
                        </a:rPr>
                        <a:t>The Learning Agency Lab - PII Data Detection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Token classification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Named Entity Recognition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(NER)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87257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350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CE2BFE-EAFE-D283-554F-D59185796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TW" dirty="0"/>
              <a:t>LLM Classification Finetuning (intro)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46CE9CF-1713-DA55-DF20-3CE20CEDA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818" y="1439274"/>
            <a:ext cx="10918371" cy="554566"/>
          </a:xfrm>
        </p:spPr>
        <p:txBody>
          <a:bodyPr/>
          <a:lstStyle/>
          <a:p>
            <a:pPr marL="0" indent="0">
              <a:buNone/>
            </a:pPr>
            <a:r>
              <a:rPr lang="en" altLang="zh-TW" b="1" dirty="0"/>
              <a:t>Chatbot Arena: </a:t>
            </a:r>
            <a:r>
              <a:rPr kumimoji="1" lang="en" altLang="zh-TW" dirty="0"/>
              <a:t>https://</a:t>
            </a:r>
            <a:r>
              <a:rPr kumimoji="1" lang="en" altLang="zh-TW" dirty="0" err="1"/>
              <a:t>arena.ai</a:t>
            </a:r>
            <a:r>
              <a:rPr kumimoji="1" lang="en" altLang="zh-TW" dirty="0"/>
              <a:t>/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34ADD00-20E3-260F-B0F4-A29033487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470844E-EC08-8C1C-0F27-CDF1DC970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947" y="1993840"/>
            <a:ext cx="7974106" cy="4696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734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11EC3C-61F2-9EFB-8757-AA9D819E5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" altLang="zh-TW" dirty="0"/>
              <a:t>LLM Classification Finetuning (data example)</a:t>
            </a:r>
            <a:r>
              <a:rPr kumimoji="1" lang="zh-TW" altLang="en-US" dirty="0"/>
              <a:t>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5B1040E-59C8-51D5-CFF6-A598A4238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A62AA2BD-E84E-96FE-3F7B-BE50EC122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814" y="1677795"/>
            <a:ext cx="10918371" cy="4531618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FA84316D-7408-E5DC-761D-4B4283F27D6A}"/>
              </a:ext>
            </a:extLst>
          </p:cNvPr>
          <p:cNvSpPr txBox="1"/>
          <p:nvPr/>
        </p:nvSpPr>
        <p:spPr>
          <a:xfrm>
            <a:off x="2313187" y="1724835"/>
            <a:ext cx="17909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dirty="0">
                <a:ea typeface="Microsoft JhengHei" panose="020B0604030504040204" pitchFamily="34" charset="-120"/>
              </a:rPr>
              <a:t>約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55K rows</a:t>
            </a:r>
            <a:endParaRPr kumimoji="1"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4175234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11EC3C-61F2-9EFB-8757-AA9D819E5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" altLang="zh-TW" dirty="0"/>
              <a:t>LLM Classification Finetuning (data example)</a:t>
            </a:r>
            <a:r>
              <a:rPr kumimoji="1" lang="zh-TW" altLang="en-US" dirty="0"/>
              <a:t> 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5B1040E-59C8-51D5-CFF6-A598A4238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E530131A-69DC-93AB-E8AA-C0851CFB67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323" y="1659699"/>
            <a:ext cx="7772400" cy="5023484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D29C6695-8D57-CB65-F9A0-F63F83FDCC95}"/>
              </a:ext>
            </a:extLst>
          </p:cNvPr>
          <p:cNvSpPr txBox="1"/>
          <p:nvPr/>
        </p:nvSpPr>
        <p:spPr>
          <a:xfrm>
            <a:off x="7321122" y="3117702"/>
            <a:ext cx="39478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dirty="0">
                <a:ea typeface="Microsoft JhengHei" panose="020B0604030504040204" pitchFamily="34" charset="-120"/>
              </a:rPr>
              <a:t>此競賽為 </a:t>
            </a:r>
            <a:r>
              <a:rPr kumimoji="1" lang="en-US" altLang="zh-TW" sz="2400" dirty="0"/>
              <a:t>Code competition</a:t>
            </a:r>
          </a:p>
          <a:p>
            <a:r>
              <a:rPr kumimoji="1" lang="zh-TW" altLang="en-US" sz="2400" dirty="0">
                <a:ea typeface="Microsoft JhengHei" panose="020B0604030504040204" pitchFamily="34" charset="-120"/>
              </a:rPr>
              <a:t>因此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test set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實際上不公開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30376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6C50AB-7F1F-2CCE-BEBB-C9DF26EF4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" altLang="zh-TW" dirty="0"/>
              <a:t>LLM Classification Finetuning (submission)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EFFB2A5-ADAF-2588-078F-A0FE3E530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DD09598-74CA-A4EB-3B58-C0D752EEC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085" y="3106912"/>
            <a:ext cx="10385830" cy="3015704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40E8C508-161A-9B87-BE2E-31E9CD13F1A6}"/>
              </a:ext>
            </a:extLst>
          </p:cNvPr>
          <p:cNvSpPr txBox="1"/>
          <p:nvPr/>
        </p:nvSpPr>
        <p:spPr>
          <a:xfrm>
            <a:off x="778114" y="1798306"/>
            <a:ext cx="106357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上傳到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 Kaggle Leaderboard 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需要實作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 .</a:t>
            </a:r>
            <a:r>
              <a:rPr kumimoji="1" lang="en-US" altLang="zh-TW" sz="2000" dirty="0" err="1">
                <a:ea typeface="Microsoft JhengHei" panose="020B0604030504040204" pitchFamily="34" charset="-120"/>
              </a:rPr>
              <a:t>ipynb</a:t>
            </a:r>
            <a:endParaRPr kumimoji="1" lang="en-US" altLang="zh-TW" sz="2000" dirty="0">
              <a:ea typeface="Microsoft JhengHei" panose="020B0604030504040204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你的 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code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 需要能 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predict </a:t>
            </a:r>
            <a:r>
              <a:rPr kumimoji="1" lang="en-US" altLang="zh-TW" sz="2000" dirty="0" err="1">
                <a:solidFill>
                  <a:srgbClr val="FF0000"/>
                </a:solidFill>
                <a:ea typeface="Microsoft JhengHei" panose="020B0604030504040204" pitchFamily="34" charset="-120"/>
              </a:rPr>
              <a:t>test.csv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 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並產生檔案名稱為 </a:t>
            </a:r>
            <a:r>
              <a:rPr kumimoji="1" lang="en" altLang="zh-TW" sz="2000" dirty="0" err="1">
                <a:solidFill>
                  <a:srgbClr val="FF0000"/>
                </a:solidFill>
                <a:ea typeface="Microsoft JhengHei" panose="020B0604030504040204" pitchFamily="34" charset="-120"/>
              </a:rPr>
              <a:t>submission.csv</a:t>
            </a:r>
            <a:r>
              <a:rPr kumimoji="1" lang="zh-TW" altLang="en-US" sz="2000" dirty="0">
                <a:solidFill>
                  <a:srgbClr val="FF0000"/>
                </a:solidFill>
                <a:ea typeface="Microsoft JhengHei" panose="020B0604030504040204" pitchFamily="34" charset="-120"/>
              </a:rPr>
              <a:t> 的檔案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，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Kaggle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 才能幫你執行程式碼並打分數，可參考 </a:t>
            </a:r>
            <a:r>
              <a:rPr kumimoji="1" lang="en" altLang="zh-TW" sz="2000" dirty="0">
                <a:ea typeface="Microsoft JhengHei" panose="020B0604030504040204" pitchFamily="34" charset="-120"/>
                <a:hlinkClick r:id="rId3"/>
              </a:rPr>
              <a:t>LMSYS: </a:t>
            </a:r>
            <a:r>
              <a:rPr kumimoji="1" lang="en" altLang="zh-TW" sz="2000" dirty="0" err="1">
                <a:ea typeface="Microsoft JhengHei" panose="020B0604030504040204" pitchFamily="34" charset="-120"/>
                <a:hlinkClick r:id="rId3"/>
              </a:rPr>
              <a:t>KerasNLP</a:t>
            </a:r>
            <a:r>
              <a:rPr kumimoji="1" lang="en" altLang="zh-TW" sz="2000" dirty="0">
                <a:ea typeface="Microsoft JhengHei" panose="020B0604030504040204" pitchFamily="34" charset="-120"/>
                <a:hlinkClick r:id="rId3"/>
              </a:rPr>
              <a:t> Starter</a:t>
            </a:r>
            <a:endParaRPr kumimoji="1"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3256401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241438-3FDE-F124-81A8-91881044F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" altLang="zh-TW" dirty="0"/>
              <a:t>LLM Classification Finetuning</a:t>
            </a:r>
            <a:r>
              <a:rPr kumimoji="1" lang="zh-TW" altLang="en-US" dirty="0"/>
              <a:t> </a:t>
            </a:r>
            <a:r>
              <a:rPr kumimoji="1" lang="en-US" altLang="zh-TW" dirty="0"/>
              <a:t>(evaluation)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CC531F9-542B-A072-1E37-1E2C66A6E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F3550865-FB79-DEAF-29A3-CADD09469FC1}"/>
                  </a:ext>
                </a:extLst>
              </p:cNvPr>
              <p:cNvSpPr txBox="1"/>
              <p:nvPr/>
            </p:nvSpPr>
            <p:spPr>
              <a:xfrm>
                <a:off x="778114" y="1798306"/>
                <a:ext cx="10635772" cy="11283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kumimoji="1" lang="en-US" altLang="zh-TW" sz="2400" dirty="0">
                    <a:ea typeface="Microsoft JhengHei" panose="020B0604030504040204" pitchFamily="34" charset="-120"/>
                  </a:rPr>
                  <a:t>Binary cross-entropy</a:t>
                </a:r>
                <a:r>
                  <a:rPr kumimoji="1" lang="zh-TW" altLang="en-US" sz="2400" dirty="0">
                    <a:ea typeface="Microsoft JhengHei" panose="020B0604030504040204" pitchFamily="34" charset="-120"/>
                  </a:rPr>
                  <a:t>，對於任一個</a:t>
                </a:r>
                <a:r>
                  <a:rPr kumimoji="1" lang="en-US" altLang="zh-TW" sz="2400" dirty="0">
                    <a:ea typeface="Microsoft JhengHei" panose="020B0604030504040204" pitchFamily="34" charset="-120"/>
                  </a:rPr>
                  <a:t> class </a:t>
                </a:r>
                <a:r>
                  <a:rPr kumimoji="1" lang="zh-TW" altLang="en-US" sz="2400" dirty="0">
                    <a:ea typeface="Microsoft JhengHei" panose="020B0604030504040204" pitchFamily="34" charset="-120"/>
                  </a:rPr>
                  <a:t>而言 </a:t>
                </a:r>
                <a:r>
                  <a:rPr kumimoji="1" lang="en-US" altLang="zh-TW" sz="2400" dirty="0">
                    <a:ea typeface="Microsoft JhengHei" panose="020B0604030504040204" pitchFamily="34" charset="-120"/>
                  </a:rPr>
                  <a:t>(</a:t>
                </a:r>
                <a:r>
                  <a:rPr kumimoji="1" lang="en-US" altLang="zh-TW" sz="2400" dirty="0" err="1">
                    <a:ea typeface="Microsoft JhengHei" panose="020B0604030504040204" pitchFamily="34" charset="-120"/>
                  </a:rPr>
                  <a:t>win_a</a:t>
                </a:r>
                <a:r>
                  <a:rPr kumimoji="1" lang="en-US" altLang="zh-TW" sz="2400" dirty="0">
                    <a:ea typeface="Microsoft JhengHei" panose="020B0604030504040204" pitchFamily="34" charset="-120"/>
                  </a:rPr>
                  <a:t>, </a:t>
                </a:r>
                <a:r>
                  <a:rPr kumimoji="1" lang="en-US" altLang="zh-TW" sz="2400" dirty="0" err="1">
                    <a:ea typeface="Microsoft JhengHei" panose="020B0604030504040204" pitchFamily="34" charset="-120"/>
                  </a:rPr>
                  <a:t>win_b</a:t>
                </a:r>
                <a:r>
                  <a:rPr kumimoji="1" lang="en-US" altLang="zh-TW" sz="2400" dirty="0">
                    <a:ea typeface="Microsoft JhengHei" panose="020B0604030504040204" pitchFamily="34" charset="-120"/>
                  </a:rPr>
                  <a:t>, tie):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kumimoji="1" lang="en-US" altLang="zh-TW" sz="2000" dirty="0">
                  <a:ea typeface="Microsoft JhengHei" panose="020B0604030504040204" pitchFamily="34" charset="-12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0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TW" sz="2000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log</m:t>
                          </m:r>
                        </m:sub>
                      </m:sSub>
                      <m:d>
                        <m:dPr>
                          <m:ctrlPr>
                            <a:rPr lang="zh-TW" altLang="zh-TW" sz="20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en-US" altLang="zh-TW" sz="20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TW" sz="20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altLang="zh-TW" sz="2000" i="1" kern="10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=−</m:t>
                      </m:r>
                      <m:d>
                        <m:dPr>
                          <m:ctrlPr>
                            <a:rPr lang="zh-TW" altLang="zh-TW" sz="20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m:rPr>
                              <m:sty m:val="p"/>
                            </m:rPr>
                            <a:rPr lang="en-US" altLang="zh-TW" sz="2000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log</m:t>
                          </m:r>
                          <m:d>
                            <m:dPr>
                              <m:ctrlPr>
                                <a:rPr lang="zh-TW" altLang="zh-TW" sz="20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e>
                          </m:d>
                          <m:r>
                            <a:rPr lang="en-US" altLang="zh-TW" sz="20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zh-TW" altLang="zh-TW" sz="20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1−</m:t>
                              </m:r>
                              <m:r>
                                <a:rPr lang="en-US" altLang="zh-TW" sz="20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TW" sz="2000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log</m:t>
                          </m:r>
                          <m:d>
                            <m:dPr>
                              <m:ctrlPr>
                                <a:rPr lang="zh-TW" altLang="zh-TW" sz="20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0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1−</m:t>
                              </m:r>
                              <m:r>
                                <a:rPr lang="en-US" altLang="zh-TW" sz="2000" i="1" kern="100"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TW" altLang="zh-TW" sz="28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F3550865-FB79-DEAF-29A3-CADD09469F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114" y="1798306"/>
                <a:ext cx="10635772" cy="1128322"/>
              </a:xfrm>
              <a:prstGeom prst="rect">
                <a:avLst/>
              </a:prstGeom>
              <a:blipFill>
                <a:blip r:embed="rId2"/>
                <a:stretch>
                  <a:fillRect l="-835" t="-4444" b="-22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71E30D4A-A3B6-8064-7E0B-A40F7F126A4E}"/>
                  </a:ext>
                </a:extLst>
              </p:cNvPr>
              <p:cNvSpPr txBox="1"/>
              <p:nvPr/>
            </p:nvSpPr>
            <p:spPr>
              <a:xfrm>
                <a:off x="3639312" y="3173138"/>
                <a:ext cx="296265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0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kumimoji="1" lang="en-US" altLang="zh-TW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: </a:t>
                </a:r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預測該類別為</a:t>
                </a:r>
                <a:r>
                  <a:rPr kumimoji="1" lang="en-US" altLang="zh-TW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1</a:t>
                </a:r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的機率</a:t>
                </a:r>
                <a:endParaRPr kumimoji="1" lang="en-US" altLang="zh-TW" sz="2000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sz="20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kumimoji="1" lang="en-US" altLang="zh-TW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: </a:t>
                </a:r>
                <a:r>
                  <a:rPr kumimoji="1" lang="zh-TW" altLang="en-US" sz="2000" dirty="0">
                    <a:latin typeface="Microsoft JhengHei" panose="020B0604030504040204" pitchFamily="34" charset="-120"/>
                    <a:ea typeface="Microsoft JhengHei" panose="020B0604030504040204" pitchFamily="34" charset="-120"/>
                  </a:rPr>
                  <a:t>正確答案的類別</a:t>
                </a:r>
                <a:endParaRPr kumimoji="1" lang="en-US" altLang="zh-TW" sz="2000" dirty="0">
                  <a:latin typeface="Microsoft JhengHei" panose="020B0604030504040204" pitchFamily="34" charset="-120"/>
                  <a:ea typeface="Microsoft JhengHei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71E30D4A-A3B6-8064-7E0B-A40F7F126A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9312" y="3173138"/>
                <a:ext cx="2962656" cy="707886"/>
              </a:xfrm>
              <a:prstGeom prst="rect">
                <a:avLst/>
              </a:prstGeom>
              <a:blipFill>
                <a:blip r:embed="rId3"/>
                <a:stretch>
                  <a:fillRect t="-5357" b="-1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字方塊 6">
            <a:extLst>
              <a:ext uri="{FF2B5EF4-FFF2-40B4-BE49-F238E27FC236}">
                <a16:creationId xmlns:a16="http://schemas.microsoft.com/office/drawing/2014/main" id="{044F12DA-4784-6EBE-3898-BBABF9D54FA9}"/>
              </a:ext>
            </a:extLst>
          </p:cNvPr>
          <p:cNvSpPr txBox="1"/>
          <p:nvPr/>
        </p:nvSpPr>
        <p:spPr>
          <a:xfrm>
            <a:off x="778114" y="4209274"/>
            <a:ext cx="106357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kern="100" dirty="0">
                <a:effectLst/>
                <a:ea typeface="Microsoft JhengHei" panose="020B0604030504040204" pitchFamily="34" charset="-120"/>
                <a:cs typeface="Times New Roman" panose="02020603050405020304" pitchFamily="18" charset="0"/>
              </a:rPr>
              <a:t>Leaderboard</a:t>
            </a:r>
            <a:r>
              <a:rPr lang="zh-TW" altLang="en-US" sz="2400" kern="100" dirty="0">
                <a:effectLst/>
                <a:ea typeface="Microsoft JhengHei" panose="020B0604030504040204" pitchFamily="34" charset="-120"/>
                <a:cs typeface="Times New Roman" panose="02020603050405020304" pitchFamily="18" charset="0"/>
              </a:rPr>
              <a:t> 比的是 </a:t>
            </a:r>
            <a:r>
              <a:rPr lang="en-US" altLang="zh-TW" sz="2400" kern="100" dirty="0">
                <a:effectLst/>
                <a:ea typeface="Microsoft JhengHei" panose="020B0604030504040204" pitchFamily="34" charset="-120"/>
                <a:cs typeface="Times New Roman" panose="02020603050405020304" pitchFamily="18" charset="0"/>
              </a:rPr>
              <a:t>test set</a:t>
            </a:r>
            <a:r>
              <a:rPr lang="zh-TW" altLang="en-US" sz="2400" kern="100" dirty="0">
                <a:effectLst/>
                <a:ea typeface="Microsoft JhengHei" panose="020B0604030504040204" pitchFamily="34" charset="-120"/>
                <a:cs typeface="Times New Roman" panose="02020603050405020304" pitchFamily="18" charset="0"/>
              </a:rPr>
              <a:t>的 </a:t>
            </a:r>
            <a:r>
              <a:rPr lang="en-US" altLang="zh-TW" sz="2400" kern="100" dirty="0">
                <a:effectLst/>
                <a:ea typeface="Microsoft JhengHei" panose="020B0604030504040204" pitchFamily="34" charset="-120"/>
                <a:cs typeface="Times New Roman" panose="02020603050405020304" pitchFamily="18" charset="0"/>
              </a:rPr>
              <a:t>Loss </a:t>
            </a:r>
            <a:r>
              <a:rPr lang="zh-TW" altLang="en-US" sz="2400" kern="100" dirty="0">
                <a:effectLst/>
                <a:ea typeface="Microsoft JhengHei" panose="020B0604030504040204" pitchFamily="34" charset="-120"/>
                <a:cs typeface="Times New Roman" panose="02020603050405020304" pitchFamily="18" charset="0"/>
              </a:rPr>
              <a:t>值 </a:t>
            </a:r>
            <a:r>
              <a:rPr lang="en-US" altLang="zh-TW" sz="2400" kern="100" dirty="0">
                <a:effectLst/>
                <a:ea typeface="Microsoft JhengHei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en-US" sz="2400" kern="100" dirty="0">
                <a:effectLst/>
                <a:ea typeface="Microsoft JhengHei" panose="020B0604030504040204" pitchFamily="34" charset="-120"/>
                <a:cs typeface="Times New Roman" panose="02020603050405020304" pitchFamily="18" charset="0"/>
              </a:rPr>
              <a:t>越小越好</a:t>
            </a:r>
            <a:r>
              <a:rPr lang="en-US" altLang="zh-TW" sz="2400" kern="100" dirty="0">
                <a:effectLst/>
                <a:ea typeface="Microsoft JhengHei" panose="020B0604030504040204" pitchFamily="34" charset="-120"/>
                <a:cs typeface="Times New Roman" panose="02020603050405020304" pitchFamily="18" charset="0"/>
              </a:rPr>
              <a:t>)</a:t>
            </a:r>
            <a:endParaRPr lang="zh-TW" altLang="zh-TW" sz="2400" kern="100" dirty="0">
              <a:effectLst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0F78D22-ADF4-CDC4-77D6-052F49FE85AC}"/>
              </a:ext>
            </a:extLst>
          </p:cNvPr>
          <p:cNvSpPr txBox="1"/>
          <p:nvPr/>
        </p:nvSpPr>
        <p:spPr>
          <a:xfrm>
            <a:off x="4159758" y="6415560"/>
            <a:ext cx="38724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400" dirty="0"/>
              <a:t>https://www.kaggle.com/code/metric/log-loss</a:t>
            </a:r>
          </a:p>
        </p:txBody>
      </p:sp>
    </p:spTree>
    <p:extLst>
      <p:ext uri="{BB962C8B-B14F-4D97-AF65-F5344CB8AC3E}">
        <p14:creationId xmlns:p14="http://schemas.microsoft.com/office/powerpoint/2010/main" val="25865218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AA8DB6-143A-7FFB-1ADB-84029D740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TW" dirty="0"/>
              <a:t>NBME - Score Clinical Patient Notes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D82F509-B3F5-5169-E397-8235EE2E4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1538686-8EE7-0396-7D40-FB35F57D4D30}"/>
              </a:ext>
            </a:extLst>
          </p:cNvPr>
          <p:cNvSpPr txBox="1"/>
          <p:nvPr/>
        </p:nvSpPr>
        <p:spPr>
          <a:xfrm>
            <a:off x="778114" y="1588289"/>
            <a:ext cx="10635772" cy="5009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找出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patient note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中的重要特徵，例如：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輸入一篇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patient note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輸出為 </a:t>
            </a:r>
            <a:r>
              <a:rPr kumimoji="1" lang="en" altLang="zh-TW" sz="2400" dirty="0">
                <a:ea typeface="Microsoft JhengHei" panose="020B0604030504040204" pitchFamily="34" charset="-120"/>
              </a:rPr>
              <a:t>“diminished appetite”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競賽的資料：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 err="1">
                <a:ea typeface="Microsoft JhengHei" panose="020B0604030504040204" pitchFamily="34" charset="-120"/>
              </a:rPr>
              <a:t>features.csv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 err="1">
                <a:ea typeface="Microsoft JhengHei" panose="020B0604030504040204" pitchFamily="34" charset="-120"/>
              </a:rPr>
              <a:t>patient_notes.csv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 err="1">
                <a:ea typeface="Microsoft JhengHei" panose="020B0604030504040204" pitchFamily="34" charset="-120"/>
              </a:rPr>
              <a:t>train.csv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 err="1">
                <a:ea typeface="Microsoft JhengHei" panose="020B0604030504040204" pitchFamily="34" charset="-120"/>
              </a:rPr>
              <a:t>test.csv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 err="1">
                <a:ea typeface="Microsoft JhengHei" panose="020B0604030504040204" pitchFamily="34" charset="-120"/>
              </a:rPr>
              <a:t>sample_submission.csv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67713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34634D-61CC-69AE-45C7-A238CFE6D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TW" dirty="0"/>
              <a:t>NBME – patient note example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B51C461-F653-D318-B40A-40A5597DE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3257BA1-2FCB-AA23-FF0F-3E1E6211F69D}"/>
              </a:ext>
            </a:extLst>
          </p:cNvPr>
          <p:cNvSpPr txBox="1"/>
          <p:nvPr/>
        </p:nvSpPr>
        <p:spPr>
          <a:xfrm>
            <a:off x="653143" y="1702852"/>
            <a:ext cx="10635772" cy="586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競賽的實際範例：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B8C46C99-69E1-AF37-FD7D-63DF7F0361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9058182"/>
              </p:ext>
            </p:extLst>
          </p:nvPr>
        </p:nvGraphicFramePr>
        <p:xfrm>
          <a:off x="1501842" y="2938729"/>
          <a:ext cx="9188315" cy="131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88315">
                  <a:extLst>
                    <a:ext uri="{9D8B030D-6E8A-4147-A177-3AD203B41FA5}">
                      <a16:colId xmlns:a16="http://schemas.microsoft.com/office/drawing/2014/main" val="34596536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" altLang="zh-TW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&gt;&gt;&gt; import pandas as pd</a:t>
                      </a:r>
                    </a:p>
                    <a:p>
                      <a:r>
                        <a:rPr lang="en" altLang="zh-TW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&gt;&gt;&gt; </a:t>
                      </a:r>
                      <a:r>
                        <a:rPr lang="en" altLang="zh-TW" sz="20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df</a:t>
                      </a:r>
                      <a:r>
                        <a:rPr lang="en" altLang="zh-TW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= </a:t>
                      </a:r>
                      <a:r>
                        <a:rPr lang="en" altLang="zh-TW" sz="20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pd.read_csv</a:t>
                      </a:r>
                      <a:r>
                        <a:rPr lang="en" altLang="zh-TW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("</a:t>
                      </a:r>
                      <a:r>
                        <a:rPr lang="en" altLang="zh-TW" sz="20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patient_notes.csv</a:t>
                      </a:r>
                      <a:r>
                        <a:rPr lang="en" altLang="zh-TW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")</a:t>
                      </a:r>
                    </a:p>
                    <a:p>
                      <a:r>
                        <a:rPr lang="en" altLang="zh-TW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&gt;&gt;&gt; </a:t>
                      </a:r>
                      <a:r>
                        <a:rPr lang="en" altLang="zh-TW" sz="20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df</a:t>
                      </a:r>
                      <a:r>
                        <a:rPr lang="en" altLang="zh-TW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[</a:t>
                      </a:r>
                      <a:r>
                        <a:rPr lang="en" altLang="zh-TW" sz="20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df</a:t>
                      </a:r>
                      <a:r>
                        <a:rPr lang="en" altLang="zh-TW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["</a:t>
                      </a:r>
                      <a:r>
                        <a:rPr lang="en" altLang="zh-TW" sz="20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pn_num</a:t>
                      </a:r>
                      <a:r>
                        <a:rPr lang="en" altLang="zh-TW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"]==16].</a:t>
                      </a:r>
                      <a:r>
                        <a:rPr lang="en" altLang="zh-TW" sz="20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pn_history.values</a:t>
                      </a:r>
                      <a:r>
                        <a:rPr lang="en" altLang="zh-TW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[0][696:724]</a:t>
                      </a:r>
                    </a:p>
                    <a:p>
                      <a:r>
                        <a:rPr lang="en" altLang="zh-TW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'dad with recent heart </a:t>
                      </a:r>
                      <a:r>
                        <a:rPr lang="en" altLang="zh-TW" sz="20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attcak</a:t>
                      </a:r>
                      <a:r>
                        <a:rPr lang="en" altLang="zh-TW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0656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4413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BF9880-1C25-D401-C583-AE08E8BB8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NBME – patient note example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D3CFEE6-D2F1-44A3-22D4-90DE05386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14</a:t>
            </a:fld>
            <a:endParaRPr lang="en-US" dirty="0"/>
          </a:p>
        </p:txBody>
      </p:sp>
      <p:graphicFrame>
        <p:nvGraphicFramePr>
          <p:cNvPr id="5" name="表格 6">
            <a:extLst>
              <a:ext uri="{FF2B5EF4-FFF2-40B4-BE49-F238E27FC236}">
                <a16:creationId xmlns:a16="http://schemas.microsoft.com/office/drawing/2014/main" id="{400D762C-5348-CE3F-C272-4A45204EB7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800274"/>
              </p:ext>
            </p:extLst>
          </p:nvPr>
        </p:nvGraphicFramePr>
        <p:xfrm>
          <a:off x="1086201" y="1934682"/>
          <a:ext cx="10019598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19598">
                  <a:extLst>
                    <a:ext uri="{9D8B030D-6E8A-4147-A177-3AD203B41FA5}">
                      <a16:colId xmlns:a16="http://schemas.microsoft.com/office/drawing/2014/main" val="34596536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" altLang="zh-TW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HPI: 17yo M presents with palpitations. Patient reports 3-4 months of intermittent episodes of "heart beating/pounding out of my chest." 2 days ago during a soccer game had an episode, but this time had chest pressure and felt as if he were going to pass out (did not lose </a:t>
                      </a:r>
                      <a:r>
                        <a:rPr lang="en" altLang="zh-TW" sz="20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conciousness</a:t>
                      </a:r>
                      <a:r>
                        <a:rPr lang="en" altLang="zh-TW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). Of note patient endorses abusing </a:t>
                      </a:r>
                      <a:r>
                        <a:rPr lang="en" altLang="zh-TW" sz="20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adderall</a:t>
                      </a:r>
                      <a:r>
                        <a:rPr lang="en" altLang="zh-TW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primarily to study (1-3 times per week). Before recent soccer game, took </a:t>
                      </a:r>
                      <a:r>
                        <a:rPr lang="en" altLang="zh-TW" sz="20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adderrall</a:t>
                      </a:r>
                      <a:r>
                        <a:rPr lang="en" altLang="zh-TW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night before and morning of game. Denies shortness of breath, diaphoresis, fevers, chills, headache, fatigue, changes in sleep, changes in vision/hearing, abdominal </a:t>
                      </a:r>
                      <a:r>
                        <a:rPr lang="en" altLang="zh-TW" sz="20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paun</a:t>
                      </a:r>
                      <a:r>
                        <a:rPr lang="en" altLang="zh-TW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changes in bowel or urinary habits. \r\</a:t>
                      </a:r>
                      <a:r>
                        <a:rPr lang="en" altLang="zh-TW" sz="20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nPMHx</a:t>
                      </a:r>
                      <a:r>
                        <a:rPr lang="en" altLang="zh-TW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: none\r\</a:t>
                      </a:r>
                      <a:r>
                        <a:rPr lang="en" altLang="zh-TW" sz="20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nRx</a:t>
                      </a:r>
                      <a:r>
                        <a:rPr lang="en" altLang="zh-TW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: uses friends </a:t>
                      </a:r>
                      <a:r>
                        <a:rPr lang="en" altLang="zh-TW" sz="20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adderrall</a:t>
                      </a:r>
                      <a:r>
                        <a:rPr lang="en" altLang="zh-TW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\r\</a:t>
                      </a:r>
                      <a:r>
                        <a:rPr lang="en" altLang="zh-TW" sz="20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nFHx</a:t>
                      </a:r>
                      <a:r>
                        <a:rPr lang="en" altLang="zh-TW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: mom with "thyroid disease," </a:t>
                      </a:r>
                      <a:r>
                        <a:rPr lang="en" altLang="zh-TW" sz="2000" b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dad with recent heart </a:t>
                      </a:r>
                      <a:r>
                        <a:rPr lang="en" altLang="zh-TW" sz="2000" b="0" dirty="0" err="1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attcak</a:t>
                      </a:r>
                      <a:r>
                        <a:rPr lang="en" altLang="zh-TW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\r\</a:t>
                      </a:r>
                      <a:r>
                        <a:rPr lang="en" altLang="zh-TW" sz="20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nAll</a:t>
                      </a:r>
                      <a:r>
                        <a:rPr lang="en" altLang="zh-TW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: none\r\</a:t>
                      </a:r>
                      <a:r>
                        <a:rPr lang="en" altLang="zh-TW" sz="20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nImmunizations</a:t>
                      </a:r>
                      <a:r>
                        <a:rPr lang="en" altLang="zh-TW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: up to date\r\</a:t>
                      </a:r>
                      <a:r>
                        <a:rPr lang="en" altLang="zh-TW" sz="20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nSHx</a:t>
                      </a:r>
                      <a:r>
                        <a:rPr lang="en" altLang="zh-TW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: Freshmen in college. Endorses 3-4 drinks 3 nights / week (on weekends), denies </a:t>
                      </a:r>
                      <a:r>
                        <a:rPr lang="en" altLang="zh-TW" sz="2000" b="0" dirty="0" err="1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tabacco</a:t>
                      </a:r>
                      <a:r>
                        <a:rPr lang="en" altLang="zh-TW" sz="20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, endorses trying marijuana. Sexually active with girlfriend x 1 year, uses condoms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7065601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BDC18CAB-8883-7F42-ED17-6FF2DF3A9AED}"/>
              </a:ext>
            </a:extLst>
          </p:cNvPr>
          <p:cNvSpPr txBox="1"/>
          <p:nvPr/>
        </p:nvSpPr>
        <p:spPr>
          <a:xfrm>
            <a:off x="1019556" y="1567453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TW" sz="1800" b="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&gt;&gt;&gt; </a:t>
            </a:r>
            <a:r>
              <a:rPr lang="en" altLang="zh-TW" sz="1800" b="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df</a:t>
            </a:r>
            <a:r>
              <a:rPr lang="en" altLang="zh-TW" sz="1800" b="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" altLang="zh-TW" sz="1800" b="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df</a:t>
            </a:r>
            <a:r>
              <a:rPr lang="en" altLang="zh-TW" sz="1800" b="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["</a:t>
            </a:r>
            <a:r>
              <a:rPr lang="en" altLang="zh-TW" sz="1800" b="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pn_num</a:t>
            </a:r>
            <a:r>
              <a:rPr lang="en" altLang="zh-TW" sz="1800" b="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"]==16].</a:t>
            </a:r>
            <a:r>
              <a:rPr lang="en" altLang="zh-TW" sz="1800" b="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pn_history.values</a:t>
            </a:r>
            <a:r>
              <a:rPr lang="en" altLang="zh-TW" sz="1800" b="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274935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26FFBA-53E1-8944-3635-CAB906187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44" y="1691639"/>
            <a:ext cx="3200400" cy="2286000"/>
          </a:xfrm>
        </p:spPr>
        <p:txBody>
          <a:bodyPr>
            <a:normAutofit fontScale="90000"/>
          </a:bodyPr>
          <a:lstStyle/>
          <a:p>
            <a:r>
              <a:rPr kumimoji="1" lang="en" altLang="zh-TW" dirty="0"/>
              <a:t>NBME - Score Clinical Patient Notes</a:t>
            </a:r>
            <a:r>
              <a:rPr kumimoji="1" lang="en-US" altLang="zh-TW" dirty="0"/>
              <a:t> (data</a:t>
            </a:r>
            <a:r>
              <a:rPr kumimoji="1" lang="zh-TW" altLang="en-US" dirty="0"/>
              <a:t> </a:t>
            </a:r>
            <a:r>
              <a:rPr kumimoji="1" lang="en-US" altLang="zh-TW" dirty="0"/>
              <a:t>example - </a:t>
            </a:r>
            <a:r>
              <a:rPr kumimoji="1" lang="en-US" altLang="zh-TW" dirty="0" err="1"/>
              <a:t>train.csv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76379A8-6172-5D44-16BB-823A9A51FA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DF5BDD2-908E-CFC7-1B28-45AFF0E47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C493D31-92BE-9720-46F7-3B416AE8E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882" y="167349"/>
            <a:ext cx="7772400" cy="6057204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D1D671C4-DAF1-D06B-6F45-B0996C481C5C}"/>
              </a:ext>
            </a:extLst>
          </p:cNvPr>
          <p:cNvSpPr txBox="1"/>
          <p:nvPr/>
        </p:nvSpPr>
        <p:spPr>
          <a:xfrm>
            <a:off x="7255664" y="6221796"/>
            <a:ext cx="18791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1600" dirty="0">
                <a:ea typeface="Microsoft JhengHei" panose="020B0604030504040204" pitchFamily="34" charset="-120"/>
              </a:rPr>
              <a:t>每筆資料都有</a:t>
            </a:r>
            <a:r>
              <a:rPr kumimoji="1" lang="en-US" altLang="zh-TW" sz="1600" dirty="0" err="1">
                <a:ea typeface="Microsoft JhengHei" panose="020B0604030504040204" pitchFamily="34" charset="-120"/>
              </a:rPr>
              <a:t>feature_num</a:t>
            </a:r>
            <a:r>
              <a:rPr kumimoji="1" lang="zh-TW" altLang="en-US" sz="1600" dirty="0">
                <a:ea typeface="Microsoft JhengHei" panose="020B0604030504040204" pitchFamily="34" charset="-120"/>
              </a:rPr>
              <a:t>代號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649034A-5744-E372-EDA2-30F6B15BAFFB}"/>
              </a:ext>
            </a:extLst>
          </p:cNvPr>
          <p:cNvSpPr txBox="1"/>
          <p:nvPr/>
        </p:nvSpPr>
        <p:spPr>
          <a:xfrm>
            <a:off x="9534579" y="4499676"/>
            <a:ext cx="13102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1400" dirty="0">
                <a:solidFill>
                  <a:srgbClr val="FF0000"/>
                </a:solidFill>
                <a:ea typeface="Microsoft JhengHei" panose="020B0604030504040204" pitchFamily="34" charset="-120"/>
              </a:rPr>
              <a:t>但有的</a:t>
            </a:r>
            <a:r>
              <a:rPr kumimoji="1" lang="en-US" altLang="zh-TW" sz="1400" dirty="0">
                <a:solidFill>
                  <a:srgbClr val="FF0000"/>
                </a:solidFill>
                <a:ea typeface="Microsoft JhengHei" panose="020B0604030504040204" pitchFamily="34" charset="-120"/>
              </a:rPr>
              <a:t>feature</a:t>
            </a:r>
            <a:r>
              <a:rPr kumimoji="1" lang="zh-TW" altLang="en-US" sz="1400" dirty="0">
                <a:solidFill>
                  <a:srgbClr val="FF0000"/>
                </a:solidFill>
                <a:ea typeface="Microsoft JhengHei" panose="020B0604030504040204" pitchFamily="34" charset="-120"/>
              </a:rPr>
              <a:t>可能沒有標註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0FB61A5-DF33-6837-7363-1080676DCFAD}"/>
              </a:ext>
            </a:extLst>
          </p:cNvPr>
          <p:cNvSpPr/>
          <p:nvPr/>
        </p:nvSpPr>
        <p:spPr>
          <a:xfrm>
            <a:off x="10705536" y="167348"/>
            <a:ext cx="1295746" cy="605444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481845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34634D-61CC-69AE-45C7-A238CFE6D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" altLang="zh-TW" dirty="0"/>
              <a:t>NBME - Score Clinical Patient Notes (data example - </a:t>
            </a:r>
            <a:r>
              <a:rPr kumimoji="1" lang="en" altLang="zh-TW" dirty="0" err="1"/>
              <a:t>features.csv</a:t>
            </a:r>
            <a:r>
              <a:rPr kumimoji="1" lang="en" altLang="zh-TW" dirty="0"/>
              <a:t>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B51C461-F653-D318-B40A-40A5597DE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3257BA1-2FCB-AA23-FF0F-3E1E6211F69D}"/>
              </a:ext>
            </a:extLst>
          </p:cNvPr>
          <p:cNvSpPr txBox="1"/>
          <p:nvPr/>
        </p:nvSpPr>
        <p:spPr>
          <a:xfrm>
            <a:off x="653143" y="1801463"/>
            <a:ext cx="10635772" cy="586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我們可以在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</a:t>
            </a:r>
            <a:r>
              <a:rPr kumimoji="1" lang="en-US" altLang="zh-TW" sz="2400" dirty="0" err="1">
                <a:ea typeface="Microsoft JhengHei" panose="020B0604030504040204" pitchFamily="34" charset="-120"/>
              </a:rPr>
              <a:t>features.csv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中找到 </a:t>
            </a:r>
            <a:r>
              <a:rPr kumimoji="1" lang="en-US" altLang="zh-TW" sz="2400" dirty="0" err="1">
                <a:ea typeface="Microsoft JhengHei" panose="020B0604030504040204" pitchFamily="34" charset="-120"/>
              </a:rPr>
              <a:t>feature_text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(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以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</a:t>
            </a:r>
            <a:r>
              <a:rPr kumimoji="1" lang="en-US" altLang="zh-TW" sz="2400" dirty="0" err="1">
                <a:ea typeface="Microsoft JhengHei" panose="020B0604030504040204" pitchFamily="34" charset="-120"/>
              </a:rPr>
              <a:t>feature_num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去關聯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)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：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4E6C14C-7CDC-454E-DCDA-0E6841D6A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7923" y="3034389"/>
            <a:ext cx="5296154" cy="287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0989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366CCD-0890-FCA8-9D9F-680E5714A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" altLang="zh-TW" dirty="0"/>
              <a:t>NBME - Score Clinical Patient Notes (submission and evaluation)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8727FB9-A42E-07BB-6331-B8C8F973F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E7086AF-A5F2-6EEB-EFA2-2AB69463C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65" y="1650901"/>
            <a:ext cx="3064057" cy="5129784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EDB351C1-DE21-ADC6-BAD4-4C6ADCBA8F3A}"/>
              </a:ext>
            </a:extLst>
          </p:cNvPr>
          <p:cNvSpPr txBox="1"/>
          <p:nvPr/>
        </p:nvSpPr>
        <p:spPr>
          <a:xfrm>
            <a:off x="4663440" y="2053237"/>
            <a:ext cx="6343795" cy="2814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只需要預測 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location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 即可</a:t>
            </a:r>
            <a:endParaRPr kumimoji="1" lang="en-US" altLang="zh-TW" sz="2000" dirty="0"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上傳到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 Kaggle Leaderboard 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需要實作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 .</a:t>
            </a:r>
            <a:r>
              <a:rPr kumimoji="1" lang="en-US" altLang="zh-TW" sz="2000" dirty="0" err="1">
                <a:ea typeface="Microsoft JhengHei" panose="020B0604030504040204" pitchFamily="34" charset="-120"/>
              </a:rPr>
              <a:t>ipynb</a:t>
            </a:r>
            <a:endParaRPr kumimoji="1" lang="en-US" altLang="zh-TW" sz="2000" dirty="0"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ea typeface="Microsoft JhengHei" panose="020B0604030504040204" pitchFamily="34" charset="-120"/>
              </a:rPr>
              <a:t>你的 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code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 需要能 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predict </a:t>
            </a:r>
            <a:r>
              <a:rPr kumimoji="1" lang="en-US" altLang="zh-TW" sz="2000" dirty="0" err="1">
                <a:solidFill>
                  <a:srgbClr val="FF0000"/>
                </a:solidFill>
                <a:ea typeface="Microsoft JhengHei" panose="020B0604030504040204" pitchFamily="34" charset="-120"/>
              </a:rPr>
              <a:t>test.csv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 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並產生檔案名稱為 </a:t>
            </a:r>
            <a:r>
              <a:rPr kumimoji="1" lang="en" altLang="zh-TW" sz="2000" dirty="0" err="1">
                <a:solidFill>
                  <a:srgbClr val="FF0000"/>
                </a:solidFill>
                <a:ea typeface="Microsoft JhengHei" panose="020B0604030504040204" pitchFamily="34" charset="-120"/>
              </a:rPr>
              <a:t>submission.csv</a:t>
            </a:r>
            <a:r>
              <a:rPr kumimoji="1" lang="zh-TW" altLang="en-US" sz="2000" dirty="0">
                <a:solidFill>
                  <a:srgbClr val="FF0000"/>
                </a:solidFill>
                <a:ea typeface="Microsoft JhengHei" panose="020B0604030504040204" pitchFamily="34" charset="-120"/>
              </a:rPr>
              <a:t> 的檔案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，</a:t>
            </a:r>
            <a:r>
              <a:rPr kumimoji="1" lang="en-US" altLang="zh-TW" sz="2000" dirty="0">
                <a:ea typeface="Microsoft JhengHei" panose="020B0604030504040204" pitchFamily="34" charset="-120"/>
              </a:rPr>
              <a:t>Kaggle</a:t>
            </a:r>
            <a:r>
              <a:rPr kumimoji="1" lang="zh-TW" altLang="en-US" sz="2000" dirty="0">
                <a:ea typeface="Microsoft JhengHei" panose="020B0604030504040204" pitchFamily="34" charset="-120"/>
              </a:rPr>
              <a:t> 才能幫你執行程式碼並打分數，可參考 </a:t>
            </a:r>
            <a:r>
              <a:rPr kumimoji="1" lang="en" altLang="zh-TW" sz="2000" dirty="0">
                <a:ea typeface="Microsoft JhengHei" panose="020B0604030504040204" pitchFamily="34" charset="-120"/>
                <a:hlinkClick r:id="rId3"/>
              </a:rPr>
              <a:t>NBME / Deberta-base baseline [inference]</a:t>
            </a:r>
            <a:endParaRPr kumimoji="1"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11734588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A81C3A-0B54-32DE-4517-4252548CC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" altLang="zh-TW" dirty="0"/>
              <a:t>NBME - Score Clinical Patient Notes (evaluation)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57E9524-FD69-4E7C-CDF7-478E660FE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FF93FF-90F1-A5EB-5BB3-1EC8CB7CF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1791935"/>
            <a:ext cx="6345936" cy="4709977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D5887CCF-9A7E-C941-B12E-85B21233BEA3}"/>
              </a:ext>
            </a:extLst>
          </p:cNvPr>
          <p:cNvSpPr txBox="1"/>
          <p:nvPr/>
        </p:nvSpPr>
        <p:spPr>
          <a:xfrm>
            <a:off x="703955" y="1897789"/>
            <a:ext cx="3171898" cy="506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>
                <a:ea typeface="Microsoft JhengHei" panose="020B0604030504040204" pitchFamily="34" charset="-120"/>
              </a:rPr>
              <a:t>Metric: Micro F1-score</a:t>
            </a:r>
            <a:endParaRPr kumimoji="1"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31422230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B780E5-9895-902E-87C0-81EBF485D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Confusion Matrix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6ADE863-07AA-226B-BB76-C060ECA12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19</a:t>
            </a:fld>
            <a:endParaRPr 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0665BB15-E64B-DCDE-5B1E-8D4AB652FA1B}"/>
              </a:ext>
            </a:extLst>
          </p:cNvPr>
          <p:cNvGraphicFramePr>
            <a:graphicFrameLocks noGrp="1"/>
          </p:cNvGraphicFramePr>
          <p:nvPr/>
        </p:nvGraphicFramePr>
        <p:xfrm>
          <a:off x="653143" y="2071824"/>
          <a:ext cx="5586882" cy="3585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2294">
                  <a:extLst>
                    <a:ext uri="{9D8B030D-6E8A-4147-A177-3AD203B41FA5}">
                      <a16:colId xmlns:a16="http://schemas.microsoft.com/office/drawing/2014/main" val="2183311964"/>
                    </a:ext>
                  </a:extLst>
                </a:gridCol>
                <a:gridCol w="1862294">
                  <a:extLst>
                    <a:ext uri="{9D8B030D-6E8A-4147-A177-3AD203B41FA5}">
                      <a16:colId xmlns:a16="http://schemas.microsoft.com/office/drawing/2014/main" val="2298018437"/>
                    </a:ext>
                  </a:extLst>
                </a:gridCol>
                <a:gridCol w="1862294">
                  <a:extLst>
                    <a:ext uri="{9D8B030D-6E8A-4147-A177-3AD203B41FA5}">
                      <a16:colId xmlns:a16="http://schemas.microsoft.com/office/drawing/2014/main" val="1002637503"/>
                    </a:ext>
                  </a:extLst>
                </a:gridCol>
              </a:tblGrid>
              <a:tr h="1195133">
                <a:tc>
                  <a:txBody>
                    <a:bodyPr/>
                    <a:lstStyle/>
                    <a:p>
                      <a:pPr algn="ctr"/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2200" dirty="0">
                          <a:solidFill>
                            <a:schemeClr val="tx1"/>
                          </a:solidFill>
                        </a:rPr>
                        <a:t>Actually positive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" sz="2200" dirty="0">
                          <a:solidFill>
                            <a:schemeClr val="tx1"/>
                          </a:solidFill>
                        </a:rPr>
                        <a:t>Actually negative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552380"/>
                  </a:ext>
                </a:extLst>
              </a:tr>
              <a:tr h="11951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200" b="1" dirty="0">
                          <a:solidFill>
                            <a:schemeClr val="tx1"/>
                          </a:solidFill>
                        </a:rPr>
                        <a:t>Predicted positive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True positive (TP)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False positive (FP)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2971663"/>
                  </a:ext>
                </a:extLst>
              </a:tr>
              <a:tr h="11951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sz="2200" b="1" dirty="0">
                          <a:solidFill>
                            <a:schemeClr val="tx1"/>
                          </a:solidFill>
                        </a:rPr>
                        <a:t>Predicted negative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False negative (FN)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200" dirty="0">
                          <a:solidFill>
                            <a:schemeClr val="tx1"/>
                          </a:solidFill>
                        </a:rPr>
                        <a:t>True negative (TN)</a:t>
                      </a:r>
                      <a:endParaRPr lang="zh-TW" altLang="en-US" sz="2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9883575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F4DC01DB-4A18-233A-1EB0-4FDD5F0A41B0}"/>
              </a:ext>
            </a:extLst>
          </p:cNvPr>
          <p:cNvSpPr txBox="1"/>
          <p:nvPr/>
        </p:nvSpPr>
        <p:spPr>
          <a:xfrm>
            <a:off x="6497760" y="2691862"/>
            <a:ext cx="5151696" cy="2806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Precision = TP / (TP + FP)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模型預測的</a:t>
            </a:r>
            <a:r>
              <a:rPr lang="en-US" altLang="zh-TW" sz="20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TP</a:t>
            </a:r>
            <a:r>
              <a:rPr lang="zh-TW" altLang="en-US" sz="20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比例</a:t>
            </a:r>
            <a:endParaRPr lang="en-US" altLang="zh-TW" sz="2000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Recall = TP / (TP + FN)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True Positive Rate (TPR)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sz="20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F1-score (</a:t>
            </a:r>
            <a:r>
              <a:rPr lang="zh-TW" altLang="en-US" sz="20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廣義</a:t>
            </a:r>
            <a:r>
              <a:rPr lang="en-US" altLang="zh-TW" sz="20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) = 2(Precision*Recall) / (</a:t>
            </a:r>
            <a:r>
              <a:rPr lang="en-US" altLang="zh-TW" sz="20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Precision+Recall</a:t>
            </a:r>
            <a:r>
              <a:rPr lang="en-US" altLang="zh-TW" sz="20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75070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1B2D20-3D7B-CAA6-6461-7AE29B045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Macro vs. Micro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49EA2E5-CF9F-2445-C263-8D5A33BEA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E1D12DC-3932-B535-8B85-FDDCFF53F69B}"/>
              </a:ext>
            </a:extLst>
          </p:cNvPr>
          <p:cNvSpPr txBox="1"/>
          <p:nvPr/>
        </p:nvSpPr>
        <p:spPr>
          <a:xfrm>
            <a:off x="778114" y="1798306"/>
            <a:ext cx="10635772" cy="1694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kern="100" dirty="0">
                <a:effectLst/>
                <a:latin typeface="Calibri" panose="020F0502020204030204" pitchFamily="34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假設總共有</a:t>
            </a:r>
            <a:r>
              <a:rPr kumimoji="1" lang="en-US" altLang="zh-TW" sz="2400" kern="100" dirty="0">
                <a:effectLst/>
                <a:latin typeface="Calibri" panose="020F0502020204030204" pitchFamily="34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100</a:t>
            </a:r>
            <a:r>
              <a:rPr kumimoji="1" lang="zh-TW" altLang="en-US" sz="2400" kern="100" dirty="0">
                <a:effectLst/>
                <a:latin typeface="Calibri" panose="020F0502020204030204" pitchFamily="34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筆資料：</a:t>
            </a:r>
            <a:endParaRPr kumimoji="1" lang="en-US" altLang="zh-TW" sz="2400" kern="100" dirty="0">
              <a:effectLst/>
              <a:latin typeface="Calibri" panose="020F0502020204030204" pitchFamily="34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每一筆都算出一個</a:t>
            </a:r>
            <a:r>
              <a:rPr kumimoji="1" lang="en-US" altLang="zh-TW" sz="24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F1-score</a:t>
            </a:r>
            <a:r>
              <a:rPr kumimoji="1" lang="zh-TW" altLang="en-US" sz="2400" kern="100" dirty="0">
                <a:effectLst/>
                <a:latin typeface="Calibri" panose="020F0502020204030204" pitchFamily="34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，最後取平均 </a:t>
            </a:r>
            <a:r>
              <a:rPr kumimoji="1" lang="en-US" altLang="zh-TW" sz="2400" kern="100" dirty="0">
                <a:effectLst/>
                <a:latin typeface="Calibri" panose="020F0502020204030204" pitchFamily="34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=&gt; </a:t>
            </a:r>
            <a:r>
              <a:rPr kumimoji="1" lang="en-US" altLang="zh-TW" sz="24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Macro</a:t>
            </a:r>
            <a:r>
              <a:rPr kumimoji="1" lang="en-US" altLang="zh-TW" sz="2400" kern="100" dirty="0">
                <a:effectLst/>
                <a:latin typeface="Calibri" panose="020F0502020204030204" pitchFamily="34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F1-score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加總全部</a:t>
            </a:r>
            <a:r>
              <a:rPr kumimoji="1" lang="en-US" altLang="zh-TW" sz="2400" kern="100" dirty="0">
                <a:effectLst/>
                <a:latin typeface="Calibri" panose="020F0502020204030204" pitchFamily="34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100</a:t>
            </a:r>
            <a:r>
              <a:rPr kumimoji="1" lang="zh-TW" altLang="en-US" sz="2400" kern="100" dirty="0">
                <a:effectLst/>
                <a:latin typeface="Calibri" panose="020F0502020204030204" pitchFamily="34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筆的</a:t>
            </a:r>
            <a:r>
              <a:rPr kumimoji="1" lang="en-US" altLang="zh-TW" sz="2400" kern="100" dirty="0">
                <a:effectLst/>
                <a:latin typeface="Calibri" panose="020F0502020204030204" pitchFamily="34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TP, FN </a:t>
            </a:r>
            <a:r>
              <a:rPr kumimoji="1" lang="zh-TW" altLang="en-US" sz="2400" kern="100" dirty="0">
                <a:effectLst/>
                <a:latin typeface="Calibri" panose="020F0502020204030204" pitchFamily="34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以及</a:t>
            </a:r>
            <a:r>
              <a:rPr kumimoji="1" lang="en-US" altLang="zh-TW" sz="2400" kern="100" dirty="0">
                <a:effectLst/>
                <a:latin typeface="Calibri" panose="020F0502020204030204" pitchFamily="34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FP </a:t>
            </a:r>
            <a:r>
              <a:rPr kumimoji="1" lang="zh-TW" altLang="en-US" sz="2400" kern="100" dirty="0">
                <a:effectLst/>
                <a:latin typeface="Calibri" panose="020F0502020204030204" pitchFamily="34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之後，再算出 </a:t>
            </a:r>
            <a:r>
              <a:rPr kumimoji="1" lang="en-US" altLang="zh-TW" sz="2400" kern="100" dirty="0">
                <a:effectLst/>
                <a:latin typeface="Calibri" panose="020F0502020204030204" pitchFamily="34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F1-score =&gt; </a:t>
            </a:r>
            <a:r>
              <a:rPr kumimoji="1" lang="en-US" altLang="zh-TW" sz="24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Micro</a:t>
            </a:r>
            <a:r>
              <a:rPr kumimoji="1" lang="en-US" altLang="zh-TW" sz="2400" kern="100" dirty="0">
                <a:effectLst/>
                <a:latin typeface="Calibri" panose="020F0502020204030204" pitchFamily="34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F1-score</a:t>
            </a:r>
          </a:p>
        </p:txBody>
      </p:sp>
    </p:spTree>
    <p:extLst>
      <p:ext uri="{BB962C8B-B14F-4D97-AF65-F5344CB8AC3E}">
        <p14:creationId xmlns:p14="http://schemas.microsoft.com/office/powerpoint/2010/main" val="41013797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D3AA85-ECC8-2AEB-A781-8517BA248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" altLang="zh-TW" dirty="0"/>
              <a:t>MAP - Charting Student Math Misunderstandings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98EE4AE-16F8-E9AB-18AC-70CCB3220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814" y="1755498"/>
            <a:ext cx="10918371" cy="577753"/>
          </a:xfrm>
        </p:spPr>
        <p:txBody>
          <a:bodyPr/>
          <a:lstStyle/>
          <a:p>
            <a:r>
              <a:rPr kumimoji="1" lang="en-US" altLang="zh-TW" dirty="0"/>
              <a:t>MAP: Misconception Annotation Project</a:t>
            </a:r>
          </a:p>
          <a:p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FE3CA30-9954-7397-8122-7E94BCAE7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45375DD-ACE7-B5A7-E284-FA70A8639EA8}"/>
              </a:ext>
            </a:extLst>
          </p:cNvPr>
          <p:cNvSpPr txBox="1"/>
          <p:nvPr/>
        </p:nvSpPr>
        <p:spPr>
          <a:xfrm>
            <a:off x="778114" y="2423487"/>
            <a:ext cx="10635772" cy="3901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輸入：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Question text, Multiple-choice (MC) answer, </a:t>
            </a:r>
            <a:r>
              <a:rPr kumimoji="1" lang="en-US" altLang="zh-TW" sz="2400" dirty="0" err="1">
                <a:ea typeface="Microsoft JhengHei" panose="020B0604030504040204" pitchFamily="34" charset="-120"/>
              </a:rPr>
              <a:t>StudentExplaination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輸出：數學錯誤的「類型」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 err="1">
                <a:ea typeface="Microsoft JhengHei" panose="020B0604030504040204" pitchFamily="34" charset="-120"/>
              </a:rPr>
              <a:t>Wrong_operation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 err="1">
                <a:ea typeface="Microsoft JhengHei" panose="020B0604030504040204" pitchFamily="34" charset="-120"/>
              </a:rPr>
              <a:t>Wrong_term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Definition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Division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... (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含有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N/A)</a:t>
            </a:r>
          </a:p>
        </p:txBody>
      </p:sp>
    </p:spTree>
    <p:extLst>
      <p:ext uri="{BB962C8B-B14F-4D97-AF65-F5344CB8AC3E}">
        <p14:creationId xmlns:p14="http://schemas.microsoft.com/office/powerpoint/2010/main" val="33561942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BF2C09-E977-5D19-93AC-B04CFDDAA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MAP </a:t>
            </a:r>
            <a:r>
              <a:rPr kumimoji="1" lang="zh-TW" altLang="en-US" dirty="0"/>
              <a:t>資料集範例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FDBCF4C-FBDB-6A6D-E80F-D0063A626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D74305B-4FBC-934E-C2D7-DD6B67448B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148" y="1652745"/>
            <a:ext cx="8103704" cy="4849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6313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CB4AFB-6538-FD2B-C89A-63BA241DE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評估指標：</a:t>
            </a:r>
            <a:r>
              <a:rPr kumimoji="1" lang="en-US" altLang="zh-TW" dirty="0"/>
              <a:t>Mean Average Precision@3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53396BA-29D5-F7B2-68B8-D0CD1F26C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144" y="1875551"/>
            <a:ext cx="6214796" cy="402336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TW" sz="20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Precision = TP / (TP + FP)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TW" altLang="en-US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以檢索的角度：</a:t>
            </a:r>
            <a:endParaRPr lang="en-US" altLang="zh-TW" b="1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TW" sz="2000" dirty="0" err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Precision@k</a:t>
            </a:r>
            <a:r>
              <a:rPr lang="en-US" altLang="zh-TW" sz="20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= </a:t>
            </a:r>
            <a:r>
              <a:rPr lang="zh-TW" altLang="en-US" sz="20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前 </a:t>
            </a:r>
            <a:r>
              <a:rPr lang="en-US" altLang="zh-TW" sz="20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k </a:t>
            </a:r>
            <a:r>
              <a:rPr lang="zh-TW" altLang="en-US" sz="2000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個預測中，正確答案出現的比例</a:t>
            </a:r>
            <a:endParaRPr lang="en-US" altLang="zh-TW" sz="2000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ED6DB1C-C16C-B57A-4312-51C060D03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582C40BE-3469-B634-428B-DF3749FD32DB}"/>
              </a:ext>
            </a:extLst>
          </p:cNvPr>
          <p:cNvSpPr txBox="1">
            <a:spLocks/>
          </p:cNvSpPr>
          <p:nvPr/>
        </p:nvSpPr>
        <p:spPr>
          <a:xfrm>
            <a:off x="6659217" y="1845734"/>
            <a:ext cx="4879639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Calibri" panose="020F0502020204030204" pitchFamily="34" charset="0"/>
              <a:buNone/>
            </a:pPr>
            <a:endParaRPr lang="en-US" altLang="zh-TW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17B2A98-573F-D510-982C-4245665FF3F5}"/>
              </a:ext>
            </a:extLst>
          </p:cNvPr>
          <p:cNvSpPr txBox="1"/>
          <p:nvPr/>
        </p:nvSpPr>
        <p:spPr>
          <a:xfrm>
            <a:off x="7082830" y="1916339"/>
            <a:ext cx="3756156" cy="33650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TW" altLang="en-US" dirty="0"/>
              <a:t>假設某題正解是 </a:t>
            </a:r>
            <a:r>
              <a:rPr kumimoji="1" lang="en" altLang="zh-TW" dirty="0"/>
              <a:t>A</a:t>
            </a:r>
            <a:r>
              <a:rPr kumimoji="1" lang="zh-TW" altLang="en" dirty="0"/>
              <a:t>：</a:t>
            </a:r>
            <a:endParaRPr kumimoji="1" lang="en-US" altLang="zh-TW" dirty="0"/>
          </a:p>
          <a:p>
            <a:pPr>
              <a:lnSpc>
                <a:spcPct val="150000"/>
              </a:lnSpc>
            </a:pPr>
            <a:r>
              <a:rPr kumimoji="1" lang="zh-TW" altLang="en-US" dirty="0"/>
              <a:t>模型預測：</a:t>
            </a:r>
            <a:r>
              <a:rPr kumimoji="1" lang="en-US" altLang="zh-TW" dirty="0"/>
              <a:t>[B, A, C]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è"/>
            </a:pPr>
            <a:r>
              <a:rPr kumimoji="1" lang="en-US" altLang="zh-TW" dirty="0"/>
              <a:t>Precision </a:t>
            </a:r>
            <a:r>
              <a:rPr kumimoji="1" lang="zh-TW" altLang="en-US" dirty="0"/>
              <a:t>為</a:t>
            </a:r>
            <a:r>
              <a:rPr kumimoji="1" lang="en-US" altLang="zh-TW" dirty="0"/>
              <a:t> 1/2 (</a:t>
            </a:r>
            <a:r>
              <a:rPr kumimoji="1" lang="zh-TW" altLang="en-US" dirty="0"/>
              <a:t>因為</a:t>
            </a:r>
            <a:r>
              <a:rPr kumimoji="1" lang="en-US" altLang="zh-TW" dirty="0"/>
              <a:t>A</a:t>
            </a:r>
            <a:r>
              <a:rPr kumimoji="1" lang="zh-TW" altLang="en-US" dirty="0"/>
              <a:t>在第</a:t>
            </a:r>
            <a:r>
              <a:rPr kumimoji="1" lang="en-US" altLang="zh-TW" dirty="0"/>
              <a:t>2</a:t>
            </a:r>
            <a:r>
              <a:rPr kumimoji="1" lang="zh-TW" altLang="en-US" dirty="0"/>
              <a:t>名</a:t>
            </a:r>
            <a:r>
              <a:rPr kumimoji="1" lang="en-US" altLang="zh-TW" dirty="0"/>
              <a:t>)</a:t>
            </a:r>
          </a:p>
          <a:p>
            <a:pPr>
              <a:lnSpc>
                <a:spcPct val="150000"/>
              </a:lnSpc>
            </a:pPr>
            <a:endParaRPr kumimoji="1" lang="en-US" altLang="zh-TW" dirty="0"/>
          </a:p>
          <a:p>
            <a:pPr>
              <a:lnSpc>
                <a:spcPct val="150000"/>
              </a:lnSpc>
            </a:pPr>
            <a:r>
              <a:rPr kumimoji="1" lang="zh-TW" altLang="en-US" dirty="0"/>
              <a:t>假設某題正解是 </a:t>
            </a:r>
            <a:r>
              <a:rPr kumimoji="1" lang="en-US" altLang="zh-TW" dirty="0"/>
              <a:t>B</a:t>
            </a:r>
            <a:r>
              <a:rPr kumimoji="1" lang="zh-TW" altLang="en" dirty="0"/>
              <a:t>：</a:t>
            </a:r>
            <a:endParaRPr kumimoji="1" lang="en-US" altLang="zh-TW" dirty="0"/>
          </a:p>
          <a:p>
            <a:pPr>
              <a:lnSpc>
                <a:spcPct val="150000"/>
              </a:lnSpc>
            </a:pPr>
            <a:r>
              <a:rPr kumimoji="1" lang="zh-TW" altLang="en-US" dirty="0"/>
              <a:t>模型預測：</a:t>
            </a:r>
            <a:r>
              <a:rPr kumimoji="1" lang="en-US" altLang="zh-TW" dirty="0"/>
              <a:t>[B, A, C]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è"/>
            </a:pPr>
            <a:r>
              <a:rPr kumimoji="1" lang="en-US" altLang="zh-TW" dirty="0"/>
              <a:t>Precision </a:t>
            </a:r>
            <a:r>
              <a:rPr kumimoji="1" lang="zh-TW" altLang="en-US" dirty="0"/>
              <a:t>為</a:t>
            </a:r>
            <a:r>
              <a:rPr kumimoji="1" lang="en-US" altLang="zh-TW" dirty="0"/>
              <a:t> 1.0 (</a:t>
            </a:r>
            <a:r>
              <a:rPr kumimoji="1" lang="zh-TW" altLang="en-US" dirty="0"/>
              <a:t>因為</a:t>
            </a:r>
            <a:r>
              <a:rPr kumimoji="1" lang="en-US" altLang="zh-TW" dirty="0"/>
              <a:t>B</a:t>
            </a:r>
            <a:r>
              <a:rPr kumimoji="1" lang="zh-TW" altLang="en-US" dirty="0"/>
              <a:t>在第</a:t>
            </a:r>
            <a:r>
              <a:rPr kumimoji="1" lang="en-US" altLang="zh-TW" dirty="0"/>
              <a:t>1</a:t>
            </a:r>
            <a:r>
              <a:rPr kumimoji="1" lang="zh-TW" altLang="en-US" dirty="0"/>
              <a:t>名</a:t>
            </a:r>
            <a:r>
              <a:rPr kumimoji="1" lang="en-US" altLang="zh-TW" dirty="0"/>
              <a:t>)</a:t>
            </a:r>
          </a:p>
          <a:p>
            <a:pPr>
              <a:lnSpc>
                <a:spcPct val="150000"/>
              </a:lnSpc>
            </a:pPr>
            <a:endParaRPr kumimoji="1"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C2824B8-2312-B083-E1FB-430FFFFC62DE}"/>
              </a:ext>
            </a:extLst>
          </p:cNvPr>
          <p:cNvSpPr txBox="1"/>
          <p:nvPr/>
        </p:nvSpPr>
        <p:spPr>
          <a:xfrm>
            <a:off x="7082830" y="5390562"/>
            <a:ext cx="3525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b="1" dirty="0"/>
              <a:t>MAP = (1/2 + 1.0) / 2 = 0.75</a:t>
            </a:r>
            <a:endParaRPr kumimoji="1"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33283138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A9DF4E-FD7D-9080-B52B-F7E9D1F54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" altLang="zh-TW" dirty="0"/>
              <a:t>Learning Agency Lab - Automated Essay Scoring 2.0 (AES)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97D9F5E-1892-528D-C823-780843273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2FDFA4C-2676-C8D5-E318-D228829580E8}"/>
              </a:ext>
            </a:extLst>
          </p:cNvPr>
          <p:cNvSpPr txBox="1"/>
          <p:nvPr/>
        </p:nvSpPr>
        <p:spPr>
          <a:xfrm>
            <a:off x="778114" y="1798306"/>
            <a:ext cx="10635772" cy="1420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/>
              <a:t>輸入：一篇文章</a:t>
            </a:r>
            <a:endParaRPr kumimoji="1" lang="en-US" altLang="zh-TW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/>
              <a:t>輸出：該文章的分數 </a:t>
            </a:r>
            <a:r>
              <a:rPr kumimoji="1" lang="en-US" altLang="zh-TW" sz="2000" dirty="0"/>
              <a:t>(1</a:t>
            </a:r>
            <a:r>
              <a:rPr kumimoji="1" lang="zh-TW" altLang="en-US" sz="2000" dirty="0"/>
              <a:t> </a:t>
            </a:r>
            <a:r>
              <a:rPr kumimoji="1" lang="en-US" altLang="zh-TW" sz="2000" dirty="0"/>
              <a:t>– 6 </a:t>
            </a:r>
            <a:r>
              <a:rPr kumimoji="1" lang="zh-TW" altLang="en-US" sz="2000" dirty="0"/>
              <a:t>分</a:t>
            </a:r>
            <a:r>
              <a:rPr kumimoji="1" lang="en-US" altLang="zh-TW" sz="2000" dirty="0"/>
              <a:t>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/>
              <a:t>分數的意義詳細說明：</a:t>
            </a:r>
            <a:r>
              <a:rPr kumimoji="1" lang="en-US" altLang="zh-TW" sz="2000" dirty="0">
                <a:hlinkClick r:id="rId3"/>
              </a:rPr>
              <a:t>Link</a:t>
            </a:r>
            <a:endParaRPr kumimoji="1" lang="en-US" altLang="zh-TW" sz="2000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2233FCB1-7AEE-6F36-3C13-34DFAE8EAF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353285"/>
              </p:ext>
            </p:extLst>
          </p:nvPr>
        </p:nvGraphicFramePr>
        <p:xfrm>
          <a:off x="1101587" y="3429000"/>
          <a:ext cx="9988826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4023">
                  <a:extLst>
                    <a:ext uri="{9D8B030D-6E8A-4147-A177-3AD203B41FA5}">
                      <a16:colId xmlns:a16="http://schemas.microsoft.com/office/drawing/2014/main" val="2018909850"/>
                    </a:ext>
                  </a:extLst>
                </a:gridCol>
                <a:gridCol w="9114803">
                  <a:extLst>
                    <a:ext uri="{9D8B030D-6E8A-4147-A177-3AD203B41FA5}">
                      <a16:colId xmlns:a16="http://schemas.microsoft.com/office/drawing/2014/main" val="1166327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分數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意義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5039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表現非常成熟。觀點清楚、論證強、結構流暢、用字句型好，錯誤很少。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147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整體表現很好。內容完整、推理不錯、組織清楚，語言使用也佳，但偶爾有小失誤。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7450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達到基本要求。能表達觀點，也有一定支持與組織，但品質不夠穩，語言和結構上有些小問題。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755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還在發展中。有觀點，但支持不足或不夠一致，組織較弱，語言表達也開始出現明顯問題。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9172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掌握度偏低。觀點模糊、例子不足、結構差，語言錯誤較多，甚至會影響理解。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7323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chemeClr val="tx1"/>
                          </a:solidFill>
                        </a:rPr>
                        <a:t>表現很差。幾乎沒有成形的觀點，內容混亂，語言錯誤嚴重，常常讓人難以理解。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14132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72052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7B714B-2DE3-2668-4C0F-5BECD975A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AES </a:t>
            </a:r>
            <a:r>
              <a:rPr kumimoji="1" lang="zh-TW" altLang="en-US" dirty="0"/>
              <a:t>資料集範例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B07ECFA-13EB-6C3C-B140-C2FF87245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F866DBE-B329-1BD3-3B4D-778563B23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452" y="1663888"/>
            <a:ext cx="4621950" cy="5035085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7208C1B4-374D-2386-964F-9DCA723B3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6439" y="1663888"/>
            <a:ext cx="3363287" cy="4917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6714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E80FAE-0543-8A3A-F61A-622BAAC5B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TW" altLang="en-US" dirty="0"/>
              <a:t>評估指標：</a:t>
            </a:r>
            <a:r>
              <a:rPr kumimoji="1" lang="en-US" altLang="zh-TW" dirty="0"/>
              <a:t>Quadratic Weighted Kappa (QWK)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27086EB-72AB-8701-81FD-6B7AE4C260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TW" sz="2400" i="1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𝑄𝑊𝐾</m:t>
                    </m:r>
                    <m:r>
                      <a:rPr lang="en-US" altLang="zh-TW" sz="2400" i="1" kern="100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=1−</m:t>
                    </m:r>
                    <m:f>
                      <m:fPr>
                        <m:ctrlPr>
                          <a:rPr lang="zh-TW" altLang="zh-TW" sz="2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zh-TW" altLang="zh-TW" sz="24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實際觀察到的不一致程度</m:t>
                        </m:r>
                      </m:num>
                      <m:den>
                        <m:r>
                          <a:rPr lang="zh-TW" altLang="zh-TW" sz="2400" i="1" kern="100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隨機情況下的不一致程度</m:t>
                        </m:r>
                      </m:den>
                    </m:f>
                  </m:oMath>
                </a14:m>
                <a:endParaRPr lang="zh-TW" altLang="zh-TW" sz="2400" kern="100" dirty="0">
                  <a:effectLst/>
                  <a:latin typeface="Microsoft JhengHei" panose="020B0604030504040204" pitchFamily="34" charset="-120"/>
                  <a:ea typeface="Microsoft JhengHei" panose="020B0604030504040204" pitchFamily="34" charset="-12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kumimoji="1" lang="en-US" altLang="zh-TW" sz="2400" dirty="0"/>
              </a:p>
              <a:p>
                <a:pPr marL="0" indent="0">
                  <a:buNone/>
                </a:pPr>
                <a:endParaRPr kumimoji="1" lang="zh-TW" altLang="en-US" sz="2400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27086EB-72AB-8701-81FD-6B7AE4C260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9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D556189-1D59-7A71-0B5B-16CD18DC0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A990FEF-EFF2-597D-BDA3-9AC4CB4AE7BD}"/>
              </a:ext>
            </a:extLst>
          </p:cNvPr>
          <p:cNvSpPr txBox="1"/>
          <p:nvPr/>
        </p:nvSpPr>
        <p:spPr>
          <a:xfrm>
            <a:off x="653143" y="3147091"/>
            <a:ext cx="10635772" cy="2343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/>
              <a:t>「實際觀察到的不一致程度」：代表模型預測與標準分數之間的落差有多大</a:t>
            </a:r>
            <a:endParaRPr kumimoji="1" lang="en-US" altLang="zh-TW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/>
              <a:t>考慮「隨機情況下的不一致程度」：排除資料集具備類別偏差性的可能</a:t>
            </a:r>
            <a:endParaRPr kumimoji="1" lang="en-US" altLang="zh-TW" sz="20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>
                <a:solidFill>
                  <a:schemeClr val="accent1"/>
                </a:solidFill>
              </a:rPr>
              <a:t>避免模型只是剛好猜中常見分數，看起來表現不錯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/>
              <a:t>分數項需要越小越好，但 </a:t>
            </a:r>
            <a:r>
              <a:rPr kumimoji="1" lang="en-US" altLang="zh-TW" sz="2000" dirty="0"/>
              <a:t>QWK = 1 – </a:t>
            </a:r>
            <a:r>
              <a:rPr kumimoji="1" lang="zh-TW" altLang="en-US" sz="2000" dirty="0"/>
              <a:t>分數項</a:t>
            </a:r>
            <a:r>
              <a:rPr kumimoji="1" lang="en-US" altLang="zh-TW" sz="2000" dirty="0"/>
              <a:t> </a:t>
            </a:r>
            <a:r>
              <a:rPr kumimoji="1" lang="zh-TW" altLang="en-US" sz="2000" dirty="0"/>
              <a:t>代表數值越大越好</a:t>
            </a:r>
            <a:endParaRPr kumimoji="1" lang="en-US" altLang="zh-TW" sz="20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000" dirty="0"/>
              <a:t>QWK </a:t>
            </a:r>
            <a:r>
              <a:rPr kumimoji="1" lang="zh-TW" altLang="en-US" sz="2000" dirty="0"/>
              <a:t>越接近 </a:t>
            </a:r>
            <a:r>
              <a:rPr kumimoji="1" lang="en-US" altLang="zh-TW" sz="2000" dirty="0"/>
              <a:t>1</a:t>
            </a:r>
            <a:r>
              <a:rPr kumimoji="1" lang="zh-TW" altLang="en-US" sz="2000" dirty="0"/>
              <a:t>，代表模型與人工評分越一致</a:t>
            </a:r>
            <a:endParaRPr kumimoji="1"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35538557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554A2-2CDC-D39F-C24C-267B2E06D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CFA2ED-B0D5-E809-D255-4E45FEA99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" altLang="zh-TW" dirty="0"/>
              <a:t>The Learning Agency Lab - PII Data Detection</a:t>
            </a:r>
            <a:r>
              <a:rPr kumimoji="1" lang="zh-TW" altLang="en-US" dirty="0"/>
              <a:t> </a:t>
            </a:r>
            <a:r>
              <a:rPr kumimoji="1" lang="en-US" altLang="zh-TW" dirty="0"/>
              <a:t>(NER Recap)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13BD75-C735-93A8-CE91-A2FF010BB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0727" y="2117386"/>
            <a:ext cx="9907468" cy="402336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kumimoji="1" lang="en" altLang="zh-TW" sz="3200" dirty="0">
                <a:highlight>
                  <a:srgbClr val="FFFF00"/>
                </a:highlight>
              </a:rPr>
              <a:t>John Wick</a:t>
            </a:r>
            <a:r>
              <a:rPr kumimoji="1" lang="en" altLang="zh-TW" sz="3200" dirty="0"/>
              <a:t> was admitted to </a:t>
            </a:r>
            <a:r>
              <a:rPr kumimoji="1" lang="en" altLang="zh-TW" sz="3200" dirty="0">
                <a:highlight>
                  <a:srgbClr val="00FFFF"/>
                </a:highlight>
              </a:rPr>
              <a:t>Taipei Veterans General Hospital</a:t>
            </a:r>
            <a:r>
              <a:rPr kumimoji="1" lang="en" altLang="zh-TW" sz="3200" dirty="0"/>
              <a:t> on </a:t>
            </a:r>
            <a:r>
              <a:rPr kumimoji="1" lang="en" altLang="zh-TW" sz="3200" dirty="0">
                <a:highlight>
                  <a:srgbClr val="C0C0C0"/>
                </a:highlight>
              </a:rPr>
              <a:t>March 3, 2023</a:t>
            </a:r>
            <a:r>
              <a:rPr kumimoji="1" lang="en" altLang="zh-TW" sz="3200" dirty="0"/>
              <a:t> due to </a:t>
            </a:r>
            <a:r>
              <a:rPr kumimoji="1" lang="en" altLang="zh-TW" sz="3200" dirty="0">
                <a:highlight>
                  <a:srgbClr val="00FF00"/>
                </a:highlight>
              </a:rPr>
              <a:t>pneumonia</a:t>
            </a:r>
            <a:r>
              <a:rPr kumimoji="1" lang="en" altLang="zh-TW" sz="3200" dirty="0"/>
              <a:t>.</a:t>
            </a:r>
            <a:endParaRPr kumimoji="1" lang="zh-TW" altLang="en-US" sz="32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C6F90A8-B75A-CA3A-C7BE-E97A7FA90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02554F8-6046-6C09-0BA1-12605AB9D607}"/>
              </a:ext>
            </a:extLst>
          </p:cNvPr>
          <p:cNvSpPr txBox="1"/>
          <p:nvPr/>
        </p:nvSpPr>
        <p:spPr>
          <a:xfrm>
            <a:off x="1071335" y="1748054"/>
            <a:ext cx="1426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B-Person</a:t>
            </a:r>
            <a:endParaRPr kumimoji="1"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2F262A5-2DCA-E34A-C116-DDC031955702}"/>
              </a:ext>
            </a:extLst>
          </p:cNvPr>
          <p:cNvSpPr txBox="1"/>
          <p:nvPr/>
        </p:nvSpPr>
        <p:spPr>
          <a:xfrm>
            <a:off x="2062634" y="2023064"/>
            <a:ext cx="1426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E-Person</a:t>
            </a:r>
            <a:endParaRPr kumimoji="1"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68919CC-FBFE-983D-1F0E-0A9E8604D830}"/>
              </a:ext>
            </a:extLst>
          </p:cNvPr>
          <p:cNvSpPr txBox="1"/>
          <p:nvPr/>
        </p:nvSpPr>
        <p:spPr>
          <a:xfrm>
            <a:off x="1349570" y="2991410"/>
            <a:ext cx="1426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E-Location</a:t>
            </a:r>
            <a:endParaRPr kumimoji="1"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D0AAE23-3B60-92D6-8714-7909EA056638}"/>
              </a:ext>
            </a:extLst>
          </p:cNvPr>
          <p:cNvSpPr txBox="1"/>
          <p:nvPr/>
        </p:nvSpPr>
        <p:spPr>
          <a:xfrm>
            <a:off x="6090748" y="1748054"/>
            <a:ext cx="1426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B-Location</a:t>
            </a:r>
            <a:endParaRPr kumimoji="1"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62F1395-3534-5DEF-D29C-98174D924E28}"/>
              </a:ext>
            </a:extLst>
          </p:cNvPr>
          <p:cNvSpPr txBox="1"/>
          <p:nvPr/>
        </p:nvSpPr>
        <p:spPr>
          <a:xfrm>
            <a:off x="3315391" y="2991410"/>
            <a:ext cx="1426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B-Time</a:t>
            </a:r>
            <a:endParaRPr kumimoji="1"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1FD69A32-5FBB-F018-3A2A-A4EB37A0D5E1}"/>
              </a:ext>
            </a:extLst>
          </p:cNvPr>
          <p:cNvSpPr txBox="1"/>
          <p:nvPr/>
        </p:nvSpPr>
        <p:spPr>
          <a:xfrm>
            <a:off x="4900911" y="2991410"/>
            <a:ext cx="1426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E-Time</a:t>
            </a:r>
            <a:endParaRPr kumimoji="1"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315085F0-3A8C-CB1B-395E-DD0E1F3F1736}"/>
              </a:ext>
            </a:extLst>
          </p:cNvPr>
          <p:cNvSpPr txBox="1"/>
          <p:nvPr/>
        </p:nvSpPr>
        <p:spPr>
          <a:xfrm>
            <a:off x="7687454" y="2991410"/>
            <a:ext cx="1426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B-Disease</a:t>
            </a:r>
            <a:endParaRPr kumimoji="1" lang="zh-TW" altLang="en-US" dirty="0"/>
          </a:p>
        </p:txBody>
      </p:sp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F9B36E73-428D-8B40-2E62-7064DD01D2B5}"/>
              </a:ext>
            </a:extLst>
          </p:cNvPr>
          <p:cNvCxnSpPr>
            <a:cxnSpLocks/>
          </p:cNvCxnSpPr>
          <p:nvPr/>
        </p:nvCxnSpPr>
        <p:spPr>
          <a:xfrm>
            <a:off x="1784399" y="2117386"/>
            <a:ext cx="0" cy="36895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F6EFBB7F-0ACB-15A8-56A4-0A42D01F1116}"/>
              </a:ext>
            </a:extLst>
          </p:cNvPr>
          <p:cNvCxnSpPr>
            <a:cxnSpLocks/>
          </p:cNvCxnSpPr>
          <p:nvPr/>
        </p:nvCxnSpPr>
        <p:spPr>
          <a:xfrm>
            <a:off x="2761576" y="2327032"/>
            <a:ext cx="0" cy="19978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箭頭接點 15">
            <a:extLst>
              <a:ext uri="{FF2B5EF4-FFF2-40B4-BE49-F238E27FC236}">
                <a16:creationId xmlns:a16="http://schemas.microsoft.com/office/drawing/2014/main" id="{5E1B1ED5-006E-C78E-694C-5472A0474530}"/>
              </a:ext>
            </a:extLst>
          </p:cNvPr>
          <p:cNvCxnSpPr>
            <a:cxnSpLocks/>
          </p:cNvCxnSpPr>
          <p:nvPr/>
        </p:nvCxnSpPr>
        <p:spPr>
          <a:xfrm>
            <a:off x="6803812" y="2117386"/>
            <a:ext cx="0" cy="36895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箭頭接點 16">
            <a:extLst>
              <a:ext uri="{FF2B5EF4-FFF2-40B4-BE49-F238E27FC236}">
                <a16:creationId xmlns:a16="http://schemas.microsoft.com/office/drawing/2014/main" id="{218C4264-ED67-3C65-E78E-FBEDD89E735A}"/>
              </a:ext>
            </a:extLst>
          </p:cNvPr>
          <p:cNvCxnSpPr>
            <a:cxnSpLocks/>
          </p:cNvCxnSpPr>
          <p:nvPr/>
        </p:nvCxnSpPr>
        <p:spPr>
          <a:xfrm>
            <a:off x="2062634" y="3288740"/>
            <a:ext cx="0" cy="19978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箭頭接點 17">
            <a:extLst>
              <a:ext uri="{FF2B5EF4-FFF2-40B4-BE49-F238E27FC236}">
                <a16:creationId xmlns:a16="http://schemas.microsoft.com/office/drawing/2014/main" id="{AD576AA7-3822-E976-F431-83D613C76420}"/>
              </a:ext>
            </a:extLst>
          </p:cNvPr>
          <p:cNvCxnSpPr>
            <a:cxnSpLocks/>
          </p:cNvCxnSpPr>
          <p:nvPr/>
        </p:nvCxnSpPr>
        <p:spPr>
          <a:xfrm>
            <a:off x="4027056" y="3288740"/>
            <a:ext cx="0" cy="19978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AF709E5A-D726-A7F8-1ACE-BE4DE0A99069}"/>
              </a:ext>
            </a:extLst>
          </p:cNvPr>
          <p:cNvCxnSpPr>
            <a:cxnSpLocks/>
          </p:cNvCxnSpPr>
          <p:nvPr/>
        </p:nvCxnSpPr>
        <p:spPr>
          <a:xfrm>
            <a:off x="5601321" y="3288740"/>
            <a:ext cx="0" cy="19978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22B13CEA-0537-0221-CA05-4FBC01098264}"/>
              </a:ext>
            </a:extLst>
          </p:cNvPr>
          <p:cNvCxnSpPr>
            <a:cxnSpLocks/>
          </p:cNvCxnSpPr>
          <p:nvPr/>
        </p:nvCxnSpPr>
        <p:spPr>
          <a:xfrm>
            <a:off x="8384999" y="3288740"/>
            <a:ext cx="0" cy="19978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99D7E774-B071-2E7E-6ED6-A546F144A8D7}"/>
              </a:ext>
            </a:extLst>
          </p:cNvPr>
          <p:cNvSpPr txBox="1"/>
          <p:nvPr/>
        </p:nvSpPr>
        <p:spPr>
          <a:xfrm>
            <a:off x="7544876" y="1748054"/>
            <a:ext cx="1426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I-Location</a:t>
            </a:r>
            <a:endParaRPr kumimoji="1" lang="zh-TW" altLang="en-US" dirty="0"/>
          </a:p>
        </p:txBody>
      </p:sp>
      <p:cxnSp>
        <p:nvCxnSpPr>
          <p:cNvPr id="22" name="直線箭頭接點 21">
            <a:extLst>
              <a:ext uri="{FF2B5EF4-FFF2-40B4-BE49-F238E27FC236}">
                <a16:creationId xmlns:a16="http://schemas.microsoft.com/office/drawing/2014/main" id="{2F51AAC4-A1FF-DE20-863D-CAD682883666}"/>
              </a:ext>
            </a:extLst>
          </p:cNvPr>
          <p:cNvCxnSpPr>
            <a:cxnSpLocks/>
          </p:cNvCxnSpPr>
          <p:nvPr/>
        </p:nvCxnSpPr>
        <p:spPr>
          <a:xfrm>
            <a:off x="8257940" y="2117386"/>
            <a:ext cx="0" cy="36895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6559D461-8D42-DBFD-496C-6A388C9155B1}"/>
              </a:ext>
            </a:extLst>
          </p:cNvPr>
          <p:cNvSpPr txBox="1"/>
          <p:nvPr/>
        </p:nvSpPr>
        <p:spPr>
          <a:xfrm>
            <a:off x="9113582" y="1748054"/>
            <a:ext cx="1426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I-Location</a:t>
            </a:r>
            <a:endParaRPr kumimoji="1" lang="zh-TW" altLang="en-US" dirty="0"/>
          </a:p>
        </p:txBody>
      </p:sp>
      <p:cxnSp>
        <p:nvCxnSpPr>
          <p:cNvPr id="24" name="直線箭頭接點 23">
            <a:extLst>
              <a:ext uri="{FF2B5EF4-FFF2-40B4-BE49-F238E27FC236}">
                <a16:creationId xmlns:a16="http://schemas.microsoft.com/office/drawing/2014/main" id="{3BD216C6-459B-C6CA-2925-E9586C7D39D1}"/>
              </a:ext>
            </a:extLst>
          </p:cNvPr>
          <p:cNvCxnSpPr>
            <a:cxnSpLocks/>
          </p:cNvCxnSpPr>
          <p:nvPr/>
        </p:nvCxnSpPr>
        <p:spPr>
          <a:xfrm>
            <a:off x="9826646" y="2117386"/>
            <a:ext cx="0" cy="36895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表格 22">
            <a:extLst>
              <a:ext uri="{FF2B5EF4-FFF2-40B4-BE49-F238E27FC236}">
                <a16:creationId xmlns:a16="http://schemas.microsoft.com/office/drawing/2014/main" id="{350917E0-00BD-B61B-59F0-15EB6300A8F4}"/>
              </a:ext>
            </a:extLst>
          </p:cNvPr>
          <p:cNvGraphicFramePr>
            <a:graphicFrameLocks noGrp="1"/>
          </p:cNvGraphicFramePr>
          <p:nvPr/>
        </p:nvGraphicFramePr>
        <p:xfrm>
          <a:off x="8209787" y="4743922"/>
          <a:ext cx="2323472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6088">
                  <a:extLst>
                    <a:ext uri="{9D8B030D-6E8A-4147-A177-3AD203B41FA5}">
                      <a16:colId xmlns:a16="http://schemas.microsoft.com/office/drawing/2014/main" val="2707557049"/>
                    </a:ext>
                  </a:extLst>
                </a:gridCol>
                <a:gridCol w="1597384">
                  <a:extLst>
                    <a:ext uri="{9D8B030D-6E8A-4147-A177-3AD203B41FA5}">
                      <a16:colId xmlns:a16="http://schemas.microsoft.com/office/drawing/2014/main" val="41821105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Meaning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4316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B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Beginning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6700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I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Inside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6311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O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Outside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5578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End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3298110"/>
                  </a:ext>
                </a:extLst>
              </a:tr>
            </a:tbl>
          </a:graphicData>
        </a:graphic>
      </p:graphicFrame>
      <p:sp>
        <p:nvSpPr>
          <p:cNvPr id="26" name="文字方塊 25">
            <a:extLst>
              <a:ext uri="{FF2B5EF4-FFF2-40B4-BE49-F238E27FC236}">
                <a16:creationId xmlns:a16="http://schemas.microsoft.com/office/drawing/2014/main" id="{C80D2233-DDAD-B012-32C2-6523585822D6}"/>
              </a:ext>
            </a:extLst>
          </p:cNvPr>
          <p:cNvSpPr txBox="1"/>
          <p:nvPr/>
        </p:nvSpPr>
        <p:spPr>
          <a:xfrm>
            <a:off x="3000473" y="2281458"/>
            <a:ext cx="1426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>
                <a:solidFill>
                  <a:srgbClr val="FF0000"/>
                </a:solidFill>
              </a:rPr>
              <a:t>O</a:t>
            </a:r>
            <a:endParaRPr kumimoji="1"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CF74A42F-8A8E-D43C-93E5-D16FAA78513F}"/>
              </a:ext>
            </a:extLst>
          </p:cNvPr>
          <p:cNvSpPr txBox="1"/>
          <p:nvPr/>
        </p:nvSpPr>
        <p:spPr>
          <a:xfrm>
            <a:off x="4204532" y="2281458"/>
            <a:ext cx="1426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>
                <a:solidFill>
                  <a:srgbClr val="FF0000"/>
                </a:solidFill>
              </a:rPr>
              <a:t>O</a:t>
            </a:r>
            <a:endParaRPr kumimoji="1"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19F05630-D17B-0D4D-6EAD-6891470C8578}"/>
              </a:ext>
            </a:extLst>
          </p:cNvPr>
          <p:cNvSpPr txBox="1"/>
          <p:nvPr/>
        </p:nvSpPr>
        <p:spPr>
          <a:xfrm>
            <a:off x="5252334" y="2281458"/>
            <a:ext cx="1426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>
                <a:solidFill>
                  <a:srgbClr val="FF0000"/>
                </a:solidFill>
              </a:rPr>
              <a:t>O</a:t>
            </a:r>
            <a:endParaRPr kumimoji="1"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A457AA5B-EEA8-23D9-6805-9EBE7594D071}"/>
              </a:ext>
            </a:extLst>
          </p:cNvPr>
          <p:cNvSpPr txBox="1"/>
          <p:nvPr/>
        </p:nvSpPr>
        <p:spPr>
          <a:xfrm>
            <a:off x="2440138" y="2991410"/>
            <a:ext cx="1426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>
                <a:solidFill>
                  <a:srgbClr val="FF0000"/>
                </a:solidFill>
              </a:rPr>
              <a:t>O</a:t>
            </a:r>
            <a:endParaRPr kumimoji="1"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27687B09-27B1-A394-747D-86C19D8B059E}"/>
              </a:ext>
            </a:extLst>
          </p:cNvPr>
          <p:cNvSpPr txBox="1"/>
          <p:nvPr/>
        </p:nvSpPr>
        <p:spPr>
          <a:xfrm>
            <a:off x="5839089" y="2991410"/>
            <a:ext cx="1426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>
                <a:solidFill>
                  <a:srgbClr val="FF0000"/>
                </a:solidFill>
              </a:rPr>
              <a:t>O</a:t>
            </a:r>
            <a:endParaRPr kumimoji="1" lang="zh-TW" altLang="en-US" b="1" dirty="0">
              <a:solidFill>
                <a:srgbClr val="FF0000"/>
              </a:solidFill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739A140F-2702-B76E-F470-4554DB45214A}"/>
              </a:ext>
            </a:extLst>
          </p:cNvPr>
          <p:cNvSpPr txBox="1"/>
          <p:nvPr/>
        </p:nvSpPr>
        <p:spPr>
          <a:xfrm>
            <a:off x="6461124" y="2991410"/>
            <a:ext cx="1426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>
                <a:solidFill>
                  <a:srgbClr val="FF0000"/>
                </a:solidFill>
              </a:rPr>
              <a:t>O</a:t>
            </a:r>
            <a:endParaRPr kumimoji="1" lang="zh-TW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7827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  <p:bldP spid="7" grpId="0"/>
      <p:bldP spid="8" grpId="0"/>
      <p:bldP spid="9" grpId="0"/>
      <p:bldP spid="10" grpId="0"/>
      <p:bldP spid="11" grpId="0"/>
      <p:bldP spid="21" grpId="0"/>
      <p:bldP spid="23" grpId="0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C539F-45A6-ECE2-F8B1-AD753A9EE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B2F976-0503-9F38-96BD-AD93D9795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" altLang="zh-TW" dirty="0"/>
              <a:t>The Learning Agency Lab - PII Data Detection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AEB5E41-C168-0267-7782-FBAB222A3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935CF12-8636-9AB9-08A0-429F18974C00}"/>
              </a:ext>
            </a:extLst>
          </p:cNvPr>
          <p:cNvSpPr txBox="1"/>
          <p:nvPr/>
        </p:nvSpPr>
        <p:spPr>
          <a:xfrm>
            <a:off x="778114" y="1798306"/>
            <a:ext cx="10635772" cy="1420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/>
              <a:t>任務目標：找出學生文章中的 </a:t>
            </a:r>
            <a:r>
              <a:rPr kumimoji="1" lang="en" altLang="zh-TW" sz="2000" dirty="0"/>
              <a:t>personally identifiable information (PII)</a:t>
            </a:r>
            <a:endParaRPr kumimoji="1" lang="en-US" altLang="zh-TW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/>
              <a:t>輸入：一篇文章</a:t>
            </a:r>
            <a:endParaRPr kumimoji="1" lang="en-US" altLang="zh-TW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000" dirty="0"/>
              <a:t>輸出：每個 </a:t>
            </a:r>
            <a:r>
              <a:rPr kumimoji="1" lang="en-US" altLang="zh-TW" sz="2000" dirty="0"/>
              <a:t>token </a:t>
            </a:r>
            <a:r>
              <a:rPr kumimoji="1" lang="zh-TW" altLang="en-US" sz="2000" dirty="0"/>
              <a:t>的標籤 </a:t>
            </a:r>
            <a:r>
              <a:rPr kumimoji="1" lang="en-US" altLang="zh-TW" sz="2000" dirty="0"/>
              <a:t>(BIO</a:t>
            </a:r>
            <a:r>
              <a:rPr kumimoji="1" lang="zh-TW" altLang="en-US" sz="2000" dirty="0"/>
              <a:t>格式</a:t>
            </a:r>
            <a:r>
              <a:rPr kumimoji="1" lang="en-US" altLang="zh-TW" sz="2000" dirty="0"/>
              <a:t>)</a:t>
            </a:r>
            <a:endParaRPr kumimoji="1" lang="en-US" altLang="zh-TW" sz="2000" dirty="0">
              <a:solidFill>
                <a:srgbClr val="FF0000"/>
              </a:solidFill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74EC8F81-A9A3-5746-6591-A87680A80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462080"/>
            <a:ext cx="7772400" cy="3039832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34953F05-CBC3-187B-7ADE-D549D096DF94}"/>
              </a:ext>
            </a:extLst>
          </p:cNvPr>
          <p:cNvSpPr txBox="1"/>
          <p:nvPr/>
        </p:nvSpPr>
        <p:spPr>
          <a:xfrm>
            <a:off x="5643154" y="2808514"/>
            <a:ext cx="52120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000" dirty="0"/>
              <a:t>但上傳時</a:t>
            </a:r>
            <a:r>
              <a:rPr kumimoji="1" lang="zh-TW" altLang="en-US" sz="2000" dirty="0">
                <a:solidFill>
                  <a:srgbClr val="FF0000"/>
                </a:solidFill>
              </a:rPr>
              <a:t>僅需要提供預測為 </a:t>
            </a:r>
            <a:r>
              <a:rPr kumimoji="1" lang="en" altLang="zh-TW" sz="2000" dirty="0">
                <a:solidFill>
                  <a:srgbClr val="FF0000"/>
                </a:solidFill>
              </a:rPr>
              <a:t>PII </a:t>
            </a:r>
            <a:r>
              <a:rPr kumimoji="1" lang="zh-TW" altLang="en-US" sz="2000" dirty="0">
                <a:solidFill>
                  <a:srgbClr val="FF0000"/>
                </a:solidFill>
              </a:rPr>
              <a:t>的 </a:t>
            </a:r>
            <a:r>
              <a:rPr kumimoji="1" lang="en" altLang="zh-TW" sz="2000" dirty="0">
                <a:solidFill>
                  <a:srgbClr val="FF0000"/>
                </a:solidFill>
              </a:rPr>
              <a:t>tokens</a:t>
            </a:r>
            <a:endParaRPr kumimoji="1" lang="zh-TW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9975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7E78FE5-7907-CD84-B584-320092DA5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8" name="標題 7">
            <a:extLst>
              <a:ext uri="{FF2B5EF4-FFF2-40B4-BE49-F238E27FC236}">
                <a16:creationId xmlns:a16="http://schemas.microsoft.com/office/drawing/2014/main" id="{9AF13746-3A4A-5026-A97E-4FBBB3F5D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PII </a:t>
            </a:r>
            <a:r>
              <a:rPr lang="zh-TW" altLang="en-US" dirty="0"/>
              <a:t>資料集範例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852981E-D917-F0CE-2073-BE4BFD86548E}"/>
              </a:ext>
            </a:extLst>
          </p:cNvPr>
          <p:cNvSpPr txBox="1"/>
          <p:nvPr/>
        </p:nvSpPr>
        <p:spPr>
          <a:xfrm>
            <a:off x="5582952" y="2398309"/>
            <a:ext cx="60976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https://www.kaggle.com/competitions/pii-detection-removal-from-educational-data/data?select=train.json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434A391A-00FE-35A1-6BD4-CDA520B7D0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6977"/>
          <a:stretch/>
        </p:blipFill>
        <p:spPr>
          <a:xfrm>
            <a:off x="1252331" y="1555882"/>
            <a:ext cx="3031434" cy="4946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8196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7CB7E-5268-EFF0-4A1A-19CBBE410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7F63AD2-641E-2B28-649A-3D9CC427A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8" name="標題 7">
            <a:extLst>
              <a:ext uri="{FF2B5EF4-FFF2-40B4-BE49-F238E27FC236}">
                <a16:creationId xmlns:a16="http://schemas.microsoft.com/office/drawing/2014/main" id="{3B5D7795-F31E-21CB-61A4-A9C96E17A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PII </a:t>
            </a:r>
            <a:r>
              <a:rPr lang="zh-TW" altLang="en-US" dirty="0"/>
              <a:t>資料集範例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D336617-044E-0286-1C18-A76612151CAF}"/>
              </a:ext>
            </a:extLst>
          </p:cNvPr>
          <p:cNvSpPr txBox="1"/>
          <p:nvPr/>
        </p:nvSpPr>
        <p:spPr>
          <a:xfrm>
            <a:off x="5827324" y="549630"/>
            <a:ext cx="60976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https://www.kaggle.com/competitions/pii-detection-removal-from-educational-data/data?select=train.json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B9E49FE3-58B2-A916-72DD-1D095D5FE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987" y="1646757"/>
            <a:ext cx="8922026" cy="4951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011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2FC7F5AD-FCFC-1B59-9E78-92A630ED1FC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kumimoji="1" lang="en-US" altLang="zh-TW" dirty="0"/>
                  <a:t>PII</a:t>
                </a:r>
                <a:r>
                  <a:rPr kumimoji="1" lang="zh-TW" altLang="en-US" dirty="0"/>
                  <a:t> 任務的評估指標：</a:t>
                </a:r>
                <a:r>
                  <a:rPr lang="zh-TW" altLang="zh-TW" dirty="0">
                    <a:effectLst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zh-TW" i="1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Ｆ</m:t>
                        </m:r>
                      </m:e>
                      <m:sub>
                        <m:r>
                          <a:rPr lang="en-US" altLang="zh-TW" i="1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𝛽</m:t>
                        </m:r>
                      </m:sub>
                    </m:sSub>
                  </m:oMath>
                </a14:m>
                <a:r>
                  <a:rPr lang="zh-TW" altLang="zh-TW" dirty="0">
                    <a:effectLst/>
                  </a:rPr>
                  <a:t> </a:t>
                </a:r>
                <a:endParaRPr kumimoji="1" lang="zh-TW" altLang="en-US" dirty="0"/>
              </a:p>
            </p:txBody>
          </p:sp>
        </mc:Choice>
        <mc:Fallback xmlns="">
          <p:sp>
            <p:nvSpPr>
              <p:cNvPr id="2" name="標題 1">
                <a:extLst>
                  <a:ext uri="{FF2B5EF4-FFF2-40B4-BE49-F238E27FC236}">
                    <a16:creationId xmlns:a16="http://schemas.microsoft.com/office/drawing/2014/main" id="{2FC7F5AD-FCFC-1B59-9E78-92A630ED1F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555" t="-10843" b="-132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DAA7003-2D6D-A0CB-18F4-0B834F9F1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904F8F42-A3AF-98C5-B733-7AA1869E2DE4}"/>
                  </a:ext>
                </a:extLst>
              </p:cNvPr>
              <p:cNvSpPr txBox="1"/>
              <p:nvPr/>
            </p:nvSpPr>
            <p:spPr>
              <a:xfrm>
                <a:off x="2704391" y="3601263"/>
                <a:ext cx="6097656" cy="8943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TW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𝑃𝑅</m:t>
                          </m:r>
                        </m:num>
                        <m:den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zh-TW" altLang="zh-TW" sz="1800" kern="100" dirty="0">
                  <a:solidFill>
                    <a:schemeClr val="tx1"/>
                  </a:solidFill>
                  <a:effectLst/>
                  <a:latin typeface="Aptos" panose="020B000402020202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  <a:p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904F8F42-A3AF-98C5-B733-7AA1869E2D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4391" y="3601263"/>
                <a:ext cx="6097656" cy="8943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17D7DF10-3D58-FA2E-A658-A2B767111E75}"/>
                  </a:ext>
                </a:extLst>
              </p:cNvPr>
              <p:cNvSpPr txBox="1"/>
              <p:nvPr/>
            </p:nvSpPr>
            <p:spPr>
              <a:xfrm>
                <a:off x="2992624" y="4587023"/>
                <a:ext cx="6097656" cy="6948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1800" i="1" kern="100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TW" altLang="zh-TW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TW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𝛽</m:t>
                          </m:r>
                        </m:sub>
                      </m:sSub>
                      <m:r>
                        <a:rPr lang="en-US" altLang="zh-TW" sz="1800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zh-TW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zh-TW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(1+</m:t>
                          </m:r>
                          <m:sSup>
                            <m:sSupPr>
                              <m:ctrlPr>
                                <a:rPr lang="zh-TW" altLang="zh-TW" sz="18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8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altLang="zh-TW" sz="18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TW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)</m:t>
                          </m:r>
                          <m:r>
                            <a:rPr lang="en-US" altLang="zh-TW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𝑃𝑅</m:t>
                          </m:r>
                        </m:num>
                        <m:den>
                          <m:sSup>
                            <m:sSupPr>
                              <m:ctrlPr>
                                <a:rPr lang="zh-TW" altLang="zh-TW" sz="18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18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en-US" altLang="zh-TW" sz="1800" i="1" kern="10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新細明體" panose="02020500000000000000" pitchFamily="18" charset="-12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TW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𝑃</m:t>
                          </m:r>
                          <m:r>
                            <a:rPr lang="en-US" altLang="zh-TW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TW" sz="1800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17D7DF10-3D58-FA2E-A658-A2B767111E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2624" y="4587023"/>
                <a:ext cx="6097656" cy="694806"/>
              </a:xfrm>
              <a:prstGeom prst="rect">
                <a:avLst/>
              </a:prstGeom>
              <a:blipFill>
                <a:blip r:embed="rId4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字方塊 8">
            <a:extLst>
              <a:ext uri="{FF2B5EF4-FFF2-40B4-BE49-F238E27FC236}">
                <a16:creationId xmlns:a16="http://schemas.microsoft.com/office/drawing/2014/main" id="{A9074FF5-FB17-6720-277F-0594470C63F7}"/>
              </a:ext>
            </a:extLst>
          </p:cNvPr>
          <p:cNvSpPr txBox="1"/>
          <p:nvPr/>
        </p:nvSpPr>
        <p:spPr>
          <a:xfrm>
            <a:off x="653143" y="3723501"/>
            <a:ext cx="4333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假設</a:t>
            </a:r>
            <a:r>
              <a:rPr kumimoji="1" lang="en-US" altLang="zh-TW" dirty="0"/>
              <a:t> P</a:t>
            </a:r>
            <a:r>
              <a:rPr kumimoji="1" lang="zh-TW" altLang="en-US" dirty="0"/>
              <a:t> 代表 </a:t>
            </a:r>
            <a:r>
              <a:rPr kumimoji="1" lang="en-US" altLang="zh-TW" dirty="0"/>
              <a:t>Precision, R</a:t>
            </a:r>
            <a:r>
              <a:rPr kumimoji="1" lang="zh-TW" altLang="en-US" dirty="0"/>
              <a:t> 代表 </a:t>
            </a:r>
            <a:r>
              <a:rPr kumimoji="1" lang="en-US" altLang="zh-TW" dirty="0"/>
              <a:t>Recall</a:t>
            </a:r>
            <a:r>
              <a:rPr kumimoji="1" lang="zh-TW" altLang="en-US" dirty="0"/>
              <a:t>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47D5247E-43A8-C9D7-51C6-C995F6B8A456}"/>
                  </a:ext>
                </a:extLst>
              </p:cNvPr>
              <p:cNvSpPr txBox="1"/>
              <p:nvPr/>
            </p:nvSpPr>
            <p:spPr>
              <a:xfrm>
                <a:off x="3008952" y="5483006"/>
                <a:ext cx="6097656" cy="8698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zh-TW" alt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p>
                              <m:r>
                                <a:rPr lang="zh-TW" alt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f>
                            <m:f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TW" alt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den>
                          </m:f>
                          <m:r>
                            <a:rPr lang="zh-TW" altLang="en-US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TW" altLang="en-US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TW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47D5247E-43A8-C9D7-51C6-C995F6B8A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952" y="5483006"/>
                <a:ext cx="6097656" cy="869854"/>
              </a:xfrm>
              <a:prstGeom prst="rect">
                <a:avLst/>
              </a:prstGeom>
              <a:blipFill>
                <a:blip r:embed="rId5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5C564ACD-8DB6-38F2-B754-AEAD490D9525}"/>
                  </a:ext>
                </a:extLst>
              </p:cNvPr>
              <p:cNvSpPr txBox="1"/>
              <p:nvPr/>
            </p:nvSpPr>
            <p:spPr>
              <a:xfrm>
                <a:off x="653143" y="1991238"/>
                <a:ext cx="6097656" cy="9585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" altLang="zh-TW" sz="2000" dirty="0"/>
                  <a:t>The value of </a:t>
                </a:r>
                <a14:m>
                  <m:oMath xmlns:m="http://schemas.openxmlformats.org/officeDocument/2006/math">
                    <m:r>
                      <a:rPr lang="en-US" altLang="zh-TW" sz="2000" i="1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𝛽</m:t>
                    </m:r>
                    <m:r>
                      <a:rPr lang="en-US" altLang="zh-TW" sz="2000" i="1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" altLang="zh-TW" sz="2000" dirty="0"/>
                  <a:t>is set to 5, which means that recall is weighted </a:t>
                </a:r>
                <a:r>
                  <a:rPr lang="en" altLang="zh-TW" sz="2000" dirty="0">
                    <a:solidFill>
                      <a:srgbClr val="FF0000"/>
                    </a:solidFill>
                  </a:rPr>
                  <a:t>5 times</a:t>
                </a:r>
                <a:r>
                  <a:rPr lang="en" altLang="zh-TW" sz="2000" dirty="0"/>
                  <a:t> more heavily than precision.</a:t>
                </a:r>
                <a:endParaRPr lang="zh-TW" altLang="en-US" sz="2000" dirty="0"/>
              </a:p>
            </p:txBody>
          </p:sp>
        </mc:Choice>
        <mc:Fallback xmlns="">
          <p:sp>
            <p:nvSpPr>
              <p:cNvPr id="13" name="文字方塊 12">
                <a:extLst>
                  <a:ext uri="{FF2B5EF4-FFF2-40B4-BE49-F238E27FC236}">
                    <a16:creationId xmlns:a16="http://schemas.microsoft.com/office/drawing/2014/main" id="{5C564ACD-8DB6-38F2-B754-AEAD490D95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143" y="1991238"/>
                <a:ext cx="6097656" cy="958596"/>
              </a:xfrm>
              <a:prstGeom prst="rect">
                <a:avLst/>
              </a:prstGeom>
              <a:blipFill>
                <a:blip r:embed="rId6"/>
                <a:stretch>
                  <a:fillRect l="-1040" r="-624" b="-103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7F04AEE0-3D50-EA97-5160-D7CE8CE8D529}"/>
                  </a:ext>
                </a:extLst>
              </p:cNvPr>
              <p:cNvSpPr txBox="1"/>
              <p:nvPr/>
            </p:nvSpPr>
            <p:spPr>
              <a:xfrm>
                <a:off x="7394713" y="3723501"/>
                <a:ext cx="22263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TW" altLang="en-US" dirty="0"/>
                  <a:t>那是因為 </a:t>
                </a:r>
                <a14:m>
                  <m:oMath xmlns:m="http://schemas.openxmlformats.org/officeDocument/2006/math">
                    <m:r>
                      <a:rPr lang="en-US" altLang="zh-TW" sz="1800" i="1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𝛽</m:t>
                    </m:r>
                    <m:r>
                      <a:rPr lang="en-US" altLang="zh-TW" sz="1800" b="0" i="1" smtClean="0"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endParaRPr kumimoji="1" lang="zh-TW" altLang="en-US" dirty="0"/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7F04AEE0-3D50-EA97-5160-D7CE8CE8D5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4713" y="3723501"/>
                <a:ext cx="2226365" cy="369332"/>
              </a:xfrm>
              <a:prstGeom prst="rect">
                <a:avLst/>
              </a:prstGeom>
              <a:blipFill>
                <a:blip r:embed="rId7"/>
                <a:stretch>
                  <a:fillRect l="-2273" t="-10000" b="-2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24BC2E2D-ECF8-62B4-0A5E-6E0C507A3ED4}"/>
                  </a:ext>
                </a:extLst>
              </p:cNvPr>
              <p:cNvSpPr txBox="1"/>
              <p:nvPr/>
            </p:nvSpPr>
            <p:spPr>
              <a:xfrm>
                <a:off x="2830664" y="5674991"/>
                <a:ext cx="23555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TW" altLang="en-US" dirty="0"/>
                  <a:t>分子分母同除以</a:t>
                </a:r>
                <a:r>
                  <a:rPr kumimoji="1" lang="en-US" altLang="zh-TW" dirty="0"/>
                  <a:t> </a:t>
                </a:r>
                <a14:m>
                  <m:oMath xmlns:m="http://schemas.openxmlformats.org/officeDocument/2006/math">
                    <m:r>
                      <a:rPr lang="en-US" altLang="zh-TW" sz="1800" i="1" kern="1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rPr>
                      <m:t>𝑃𝑅</m:t>
                    </m:r>
                  </m:oMath>
                </a14:m>
                <a:endParaRPr kumimoji="1" lang="zh-TW" altLang="en-US" dirty="0"/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24BC2E2D-ECF8-62B4-0A5E-6E0C507A3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0664" y="5674991"/>
                <a:ext cx="2355574" cy="369332"/>
              </a:xfrm>
              <a:prstGeom prst="rect">
                <a:avLst/>
              </a:prstGeom>
              <a:blipFill>
                <a:blip r:embed="rId8"/>
                <a:stretch>
                  <a:fillRect l="-2139" t="-6452" b="-193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8880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1" grpId="0"/>
      <p:bldP spid="14" grpId="0"/>
      <p:bldP spid="1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B4BB2F-EC1F-1942-C5BA-BF2D8C862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Project checkpoints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1C906AD-7CDC-C0A3-BEBF-A34A414C5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466A18D-6FA5-9047-5902-5DC0B4DDE78C}"/>
              </a:ext>
            </a:extLst>
          </p:cNvPr>
          <p:cNvSpPr txBox="1"/>
          <p:nvPr/>
        </p:nvSpPr>
        <p:spPr>
          <a:xfrm>
            <a:off x="653144" y="1806093"/>
            <a:ext cx="10918370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Week 9: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期中考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Week 12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: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進度報告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PPT (5 pages)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Week 14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: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進度報告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PPT (5+5 pages), Presentations (selected teams)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Week 15 – Week 16: Final presentations for all teams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Week 17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 結束前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: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繳交</a:t>
            </a:r>
            <a:r>
              <a:rPr kumimoji="1" lang="zh-TW" altLang="en-US" sz="2400" u="sng" dirty="0">
                <a:ea typeface="Microsoft JhengHei" panose="020B0604030504040204" pitchFamily="34" charset="-120"/>
              </a:rPr>
              <a:t>書面報告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(Word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檔案，並非簡報貼上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)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 以及</a:t>
            </a:r>
            <a:r>
              <a:rPr kumimoji="1" lang="zh-TW" altLang="en-US" sz="2400" u="sng" dirty="0">
                <a:ea typeface="Microsoft JhengHei" panose="020B0604030504040204" pitchFamily="34" charset="-120"/>
              </a:rPr>
              <a:t>程式碼</a:t>
            </a:r>
            <a:endParaRPr kumimoji="1" lang="en-US" altLang="zh-TW" sz="2400" u="sng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991607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BF34E6-0A69-57DA-BC2A-E6ED27C72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期末 </a:t>
            </a:r>
            <a:r>
              <a:rPr kumimoji="1" lang="en" altLang="zh-TW" dirty="0">
                <a:ea typeface="Microsoft JhengHei" panose="020B0604030504040204" pitchFamily="34" charset="-120"/>
              </a:rPr>
              <a:t>Project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規定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8E68BF6-C135-FCB7-9736-7FF9FD6D9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2595967-DAAD-6BB4-08EC-BB4083D2C226}"/>
              </a:ext>
            </a:extLst>
          </p:cNvPr>
          <p:cNvSpPr txBox="1"/>
          <p:nvPr/>
        </p:nvSpPr>
        <p:spPr>
          <a:xfrm>
            <a:off x="653144" y="1806093"/>
            <a:ext cx="10918370" cy="280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需要上傳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Kaggle Leaderboard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請留意，每個題目都是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Code competition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，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code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 必須沒有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bug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才能上傳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project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進度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(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至少最後一次書面報告前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)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需涵蓋大型語言模型的實驗，開源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(e.g., Llama)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或閉源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(e.g., </a:t>
            </a:r>
            <a:r>
              <a:rPr kumimoji="1" lang="en-US" altLang="zh-TW" sz="2400" dirty="0" err="1">
                <a:ea typeface="Microsoft JhengHei" panose="020B0604030504040204" pitchFamily="34" charset="-120"/>
              </a:rPr>
              <a:t>ChatGPT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)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模型皆可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每次報告都需要列出每位組員的貢獻內容，以及組員間的工作比重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(%)</a:t>
            </a:r>
          </a:p>
        </p:txBody>
      </p:sp>
    </p:spTree>
    <p:extLst>
      <p:ext uri="{BB962C8B-B14F-4D97-AF65-F5344CB8AC3E}">
        <p14:creationId xmlns:p14="http://schemas.microsoft.com/office/powerpoint/2010/main" val="7843253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72F72D-E5D1-0DDE-C1FF-D18DAF732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800" dirty="0">
                <a:ea typeface="Microsoft JhengHei" panose="020B0604030504040204" pitchFamily="34" charset="-120"/>
              </a:rPr>
              <a:t>Final Project</a:t>
            </a:r>
            <a:r>
              <a:rPr kumimoji="1" lang="en-US" altLang="zh-TW" dirty="0"/>
              <a:t>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各個階段分數佔比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B30D8D9-00A2-AA7E-846E-861333C5A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34</a:t>
            </a:fld>
            <a:endParaRPr 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740BB514-B3C0-2706-E040-F93E69839E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7970979"/>
              </p:ext>
            </p:extLst>
          </p:nvPr>
        </p:nvGraphicFramePr>
        <p:xfrm>
          <a:off x="653142" y="2304626"/>
          <a:ext cx="10700657" cy="32557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3423">
                  <a:extLst>
                    <a:ext uri="{9D8B030D-6E8A-4147-A177-3AD203B41FA5}">
                      <a16:colId xmlns:a16="http://schemas.microsoft.com/office/drawing/2014/main" val="3021830611"/>
                    </a:ext>
                  </a:extLst>
                </a:gridCol>
                <a:gridCol w="6140823">
                  <a:extLst>
                    <a:ext uri="{9D8B030D-6E8A-4147-A177-3AD203B41FA5}">
                      <a16:colId xmlns:a16="http://schemas.microsoft.com/office/drawing/2014/main" val="3683024315"/>
                    </a:ext>
                  </a:extLst>
                </a:gridCol>
                <a:gridCol w="1546411">
                  <a:extLst>
                    <a:ext uri="{9D8B030D-6E8A-4147-A177-3AD203B41FA5}">
                      <a16:colId xmlns:a16="http://schemas.microsoft.com/office/drawing/2014/main" val="2892346200"/>
                    </a:ext>
                  </a:extLst>
                </a:gridCol>
              </a:tblGrid>
              <a:tr h="585333"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查核點 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週次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)</a:t>
                      </a:r>
                      <a:endParaRPr lang="zh-TW" altLang="en-US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對象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: 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繳交內容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分數佔比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6931947"/>
                  </a:ext>
                </a:extLst>
              </a:tr>
              <a:tr h="585333">
                <a:tc>
                  <a:txBody>
                    <a:bodyPr/>
                    <a:lstStyle/>
                    <a:p>
                      <a:r>
                        <a:rPr lang="en" altLang="zh-TW" dirty="0">
                          <a:solidFill>
                            <a:srgbClr val="FF0000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Checkpoint1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(Week 12)</a:t>
                      </a:r>
                      <a:endParaRPr lang="zh-TW" altLang="en-US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All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teams: 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進度報告 </a:t>
                      </a:r>
                      <a:r>
                        <a:rPr lang="en" altLang="zh-TW" dirty="0">
                          <a:latin typeface="+mn-lt"/>
                          <a:ea typeface="Microsoft JhengHei" panose="020B0604030504040204" pitchFamily="34" charset="-120"/>
                        </a:rPr>
                        <a:t>PPT (5 pages)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檔案</a:t>
                      </a:r>
                      <a:endParaRPr lang="en" altLang="zh-TW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5%</a:t>
                      </a:r>
                      <a:endParaRPr lang="zh-TW" altLang="en-US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7866771"/>
                  </a:ext>
                </a:extLst>
              </a:tr>
              <a:tr h="7261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dirty="0">
                          <a:solidFill>
                            <a:srgbClr val="FF0000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Checkpoint2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(Week 14)</a:t>
                      </a:r>
                      <a:endParaRPr lang="zh-TW" altLang="en-US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All teams: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 進度報告 </a:t>
                      </a:r>
                      <a:r>
                        <a:rPr lang="en" altLang="zh-TW" dirty="0">
                          <a:latin typeface="+mn-lt"/>
                          <a:ea typeface="Microsoft JhengHei" panose="020B0604030504040204" pitchFamily="34" charset="-120"/>
                        </a:rPr>
                        <a:t>PPT (5+5 pages*)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檔案</a:t>
                      </a:r>
                      <a:endParaRPr lang="en" altLang="zh-TW" dirty="0">
                        <a:latin typeface="+mn-lt"/>
                        <a:ea typeface="Microsoft JhengHei" panose="020B0604030504040204" pitchFamily="34" charset="-120"/>
                      </a:endParaRPr>
                    </a:p>
                    <a:p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Selected teams: 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取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5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組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 (1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題目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1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組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) 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於課堂中報告，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1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組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10min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，此週報告組別得 </a:t>
                      </a:r>
                      <a:r>
                        <a:rPr lang="en" altLang="zh-TW" dirty="0">
                          <a:solidFill>
                            <a:srgbClr val="FF0000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Checkpoint1</a:t>
                      </a:r>
                      <a:r>
                        <a:rPr lang="zh-TW" altLang="en-US" dirty="0">
                          <a:solidFill>
                            <a:srgbClr val="FF0000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 和 </a:t>
                      </a:r>
                      <a:r>
                        <a:rPr lang="en" altLang="zh-TW" dirty="0">
                          <a:solidFill>
                            <a:srgbClr val="FF0000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Checkpoint2</a:t>
                      </a:r>
                      <a:r>
                        <a:rPr lang="zh-TW" altLang="en-US" dirty="0">
                          <a:solidFill>
                            <a:srgbClr val="FF0000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 滿分</a:t>
                      </a:r>
                      <a:endParaRPr lang="zh-TW" altLang="en-US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5%</a:t>
                      </a:r>
                      <a:endParaRPr lang="zh-TW" altLang="en-US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3711125"/>
                  </a:ext>
                </a:extLst>
              </a:tr>
              <a:tr h="5853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dirty="0">
                          <a:solidFill>
                            <a:srgbClr val="FF0000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Checkpoint3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(Week 15-16)</a:t>
                      </a:r>
                      <a:endParaRPr lang="zh-TW" altLang="en-US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All teams: 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最終口頭報告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10%</a:t>
                      </a:r>
                      <a:endParaRPr lang="zh-TW" altLang="en-US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2299533"/>
                  </a:ext>
                </a:extLst>
              </a:tr>
              <a:tr h="5853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zh-TW" dirty="0">
                          <a:solidFill>
                            <a:srgbClr val="FF0000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Checkpoint4</a:t>
                      </a:r>
                      <a:r>
                        <a:rPr lang="zh-TW" altLang="en-US" dirty="0">
                          <a:solidFill>
                            <a:srgbClr val="FF0000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 </a:t>
                      </a:r>
                      <a:r>
                        <a:rPr lang="en-US" altLang="zh-TW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(</a:t>
                      </a:r>
                      <a:r>
                        <a:rPr lang="en" altLang="zh-TW" dirty="0">
                          <a:solidFill>
                            <a:schemeClr val="tx1"/>
                          </a:solidFill>
                          <a:latin typeface="+mn-lt"/>
                          <a:ea typeface="Microsoft JhengHei" panose="020B0604030504040204" pitchFamily="34" charset="-120"/>
                        </a:rPr>
                        <a:t>Week 16-17)</a:t>
                      </a:r>
                      <a:endParaRPr lang="zh-TW" altLang="en-US" dirty="0">
                        <a:solidFill>
                          <a:schemeClr val="tx1"/>
                        </a:solidFill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All teams: </a:t>
                      </a:r>
                      <a:r>
                        <a:rPr lang="zh-TW" altLang="en-US" dirty="0">
                          <a:latin typeface="+mn-lt"/>
                          <a:ea typeface="Microsoft JhengHei" panose="020B0604030504040204" pitchFamily="34" charset="-120"/>
                        </a:rPr>
                        <a:t>書面報告檔案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+mn-lt"/>
                          <a:ea typeface="Microsoft JhengHei" panose="020B0604030504040204" pitchFamily="34" charset="-120"/>
                        </a:rPr>
                        <a:t>10%</a:t>
                      </a:r>
                      <a:endParaRPr lang="zh-TW" altLang="en-US" dirty="0">
                        <a:latin typeface="+mn-lt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1173830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380A544A-B20C-DC01-EA74-C3212CC709C5}"/>
              </a:ext>
            </a:extLst>
          </p:cNvPr>
          <p:cNvSpPr txBox="1"/>
          <p:nvPr/>
        </p:nvSpPr>
        <p:spPr>
          <a:xfrm>
            <a:off x="653142" y="580329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*</a:t>
            </a:r>
            <a:r>
              <a:rPr lang="zh-TW" altLang="en-US" dirty="0">
                <a:ea typeface="Microsoft JhengHei" panose="020B0604030504040204" pitchFamily="34" charset="-120"/>
              </a:rPr>
              <a:t>繼承</a:t>
            </a:r>
            <a:r>
              <a:rPr lang="en" altLang="zh-TW" dirty="0">
                <a:ea typeface="Microsoft JhengHei" panose="020B0604030504040204" pitchFamily="34" charset="-120"/>
              </a:rPr>
              <a:t>Checkpoint1</a:t>
            </a:r>
            <a:r>
              <a:rPr lang="zh-TW" altLang="en-US" dirty="0">
                <a:ea typeface="Microsoft JhengHei" panose="020B0604030504040204" pitchFamily="34" charset="-120"/>
              </a:rPr>
              <a:t>內容</a:t>
            </a:r>
            <a:r>
              <a:rPr lang="en-US" altLang="zh-TW" dirty="0">
                <a:ea typeface="Microsoft JhengHei" panose="020B0604030504040204" pitchFamily="34" charset="-120"/>
              </a:rPr>
              <a:t>+</a:t>
            </a:r>
            <a:r>
              <a:rPr lang="zh-TW" altLang="en-US" dirty="0">
                <a:ea typeface="Microsoft JhengHei" panose="020B0604030504040204" pitchFamily="34" charset="-120"/>
              </a:rPr>
              <a:t>實作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B64E78C-24D0-6BB5-B7BD-9324B370A080}"/>
              </a:ext>
            </a:extLst>
          </p:cNvPr>
          <p:cNvSpPr txBox="1"/>
          <p:nvPr/>
        </p:nvSpPr>
        <p:spPr>
          <a:xfrm>
            <a:off x="653142" y="1803488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dirty="0">
                <a:ea typeface="Microsoft JhengHei" panose="020B0604030504040204" pitchFamily="34" charset="-120"/>
              </a:rPr>
              <a:t>Final Project </a:t>
            </a:r>
            <a:r>
              <a:rPr lang="zh-TW" altLang="en-US" sz="2000" dirty="0">
                <a:ea typeface="Microsoft JhengHei" panose="020B0604030504040204" pitchFamily="34" charset="-120"/>
              </a:rPr>
              <a:t>佔學期總成績</a:t>
            </a:r>
            <a:r>
              <a:rPr lang="en-US" altLang="zh-TW" sz="2000" dirty="0">
                <a:ea typeface="Microsoft JhengHei" panose="020B0604030504040204" pitchFamily="34" charset="-120"/>
              </a:rPr>
              <a:t> 30%</a:t>
            </a:r>
            <a:endParaRPr lang="zh-TW" altLang="en-US" sz="2000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601509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6CD83C5C-EA61-C255-DF28-E9CFF9EEA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3065145"/>
            <a:ext cx="3200400" cy="727709"/>
          </a:xfrm>
        </p:spPr>
        <p:txBody>
          <a:bodyPr anchor="ctr">
            <a:normAutofit/>
          </a:bodyPr>
          <a:lstStyle/>
          <a:p>
            <a:r>
              <a:rPr lang="en-US" altLang="zh-TW" sz="4800" dirty="0"/>
              <a:t>Thank you!</a:t>
            </a:r>
            <a:endParaRPr lang="zh-TW" altLang="en-US" sz="48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60AC63-905C-E7E8-4AEA-D711150C4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13" name="內容版面配置區 2">
            <a:extLst>
              <a:ext uri="{FF2B5EF4-FFF2-40B4-BE49-F238E27FC236}">
                <a16:creationId xmlns:a16="http://schemas.microsoft.com/office/drawing/2014/main" id="{AB6151A5-2D6F-3748-8575-59D412696C53}"/>
              </a:ext>
            </a:extLst>
          </p:cNvPr>
          <p:cNvSpPr txBox="1">
            <a:spLocks/>
          </p:cNvSpPr>
          <p:nvPr/>
        </p:nvSpPr>
        <p:spPr>
          <a:xfrm>
            <a:off x="4725880" y="2315977"/>
            <a:ext cx="4737788" cy="2516218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Instructor: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林英嘉</a:t>
            </a: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0" indent="0">
              <a:buFont typeface="Calibri" panose="020F0502020204030204" pitchFamily="34" charset="0"/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✉️ </a:t>
            </a:r>
            <a:r>
              <a:rPr kumimoji="1" lang="en-US" altLang="zh-TW" sz="3200" dirty="0" err="1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yjlin@cgu.edu.tw</a:t>
            </a: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0" indent="0">
              <a:buFont typeface="Calibri" panose="020F0502020204030204" pitchFamily="34" charset="0"/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TA: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林宣辰</a:t>
            </a:r>
          </a:p>
          <a:p>
            <a:pPr marL="0" indent="0">
              <a:buFont typeface="Calibri" panose="020F0502020204030204" pitchFamily="34" charset="0"/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✉️ </a:t>
            </a: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b1128015@cgu.edu.tw</a:t>
            </a:r>
          </a:p>
        </p:txBody>
      </p:sp>
    </p:spTree>
    <p:extLst>
      <p:ext uri="{BB962C8B-B14F-4D97-AF65-F5344CB8AC3E}">
        <p14:creationId xmlns:p14="http://schemas.microsoft.com/office/powerpoint/2010/main" val="2684697706"/>
      </p:ext>
    </p:extLst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urse_template_DL" id="{E71C07C9-5718-B34F-9EA9-A4FDE47A262C}" vid="{F05AA8C9-6C58-904C-AE8A-42257BEE94D0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回顧</Template>
  <TotalTime>4174</TotalTime>
  <Words>2036</Words>
  <Application>Microsoft Macintosh PowerPoint</Application>
  <PresentationFormat>寬螢幕</PresentationFormat>
  <Paragraphs>280</Paragraphs>
  <Slides>35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35</vt:i4>
      </vt:variant>
    </vt:vector>
  </HeadingPairs>
  <TitlesOfParts>
    <vt:vector size="44" baseType="lpstr">
      <vt:lpstr>Microsoft JhengHei</vt:lpstr>
      <vt:lpstr>Aptos</vt:lpstr>
      <vt:lpstr>Arial</vt:lpstr>
      <vt:lpstr>Calibri</vt:lpstr>
      <vt:lpstr>Cambria Math</vt:lpstr>
      <vt:lpstr>Consolas</vt:lpstr>
      <vt:lpstr>Times New Roman</vt:lpstr>
      <vt:lpstr>Wingdings</vt:lpstr>
      <vt:lpstr>回顧</vt:lpstr>
      <vt:lpstr>自然語言處理與應用 Natural Language Processing and Applications</vt:lpstr>
      <vt:lpstr>Week 8 Outline</vt:lpstr>
      <vt:lpstr>What is Kaggle?</vt:lpstr>
      <vt:lpstr>Kaggle submission types</vt:lpstr>
      <vt:lpstr>If you play Kaggle a lot …</vt:lpstr>
      <vt:lpstr>Outline of tasks (ALL NLP)</vt:lpstr>
      <vt:lpstr>LLM Classification Finetuning (intro)</vt:lpstr>
      <vt:lpstr>LLM Classification Finetuning (data example) </vt:lpstr>
      <vt:lpstr>LLM Classification Finetuning (data example) </vt:lpstr>
      <vt:lpstr>LLM Classification Finetuning (submission)</vt:lpstr>
      <vt:lpstr>LLM Classification Finetuning (evaluation)</vt:lpstr>
      <vt:lpstr>NBME - Score Clinical Patient Notes</vt:lpstr>
      <vt:lpstr>NBME – patient note example</vt:lpstr>
      <vt:lpstr>NBME – patient note example</vt:lpstr>
      <vt:lpstr>NBME - Score Clinical Patient Notes (data example - train.csv)</vt:lpstr>
      <vt:lpstr>NBME - Score Clinical Patient Notes (data example - features.csv)</vt:lpstr>
      <vt:lpstr>NBME - Score Clinical Patient Notes (submission and evaluation)</vt:lpstr>
      <vt:lpstr>NBME - Score Clinical Patient Notes (evaluation)</vt:lpstr>
      <vt:lpstr>Confusion Matrix</vt:lpstr>
      <vt:lpstr>Macro vs. Micro</vt:lpstr>
      <vt:lpstr>MAP - Charting Student Math Misunderstandings</vt:lpstr>
      <vt:lpstr>MAP 資料集範例</vt:lpstr>
      <vt:lpstr>評估指標：Mean Average Precision@3</vt:lpstr>
      <vt:lpstr>Learning Agency Lab - Automated Essay Scoring 2.0 (AES)</vt:lpstr>
      <vt:lpstr>AES 資料集範例</vt:lpstr>
      <vt:lpstr>評估指標：Quadratic Weighted Kappa (QWK)</vt:lpstr>
      <vt:lpstr>The Learning Agency Lab - PII Data Detection (NER Recap)</vt:lpstr>
      <vt:lpstr>The Learning Agency Lab - PII Data Detection</vt:lpstr>
      <vt:lpstr>PII 資料集範例</vt:lpstr>
      <vt:lpstr>PII 資料集範例</vt:lpstr>
      <vt:lpstr>PII 任務的評估指標： Ｆ_β </vt:lpstr>
      <vt:lpstr>Project checkpoints</vt:lpstr>
      <vt:lpstr>期末 Project 規定</vt:lpstr>
      <vt:lpstr>Final Project 各個階段分數佔比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深度學習 Deep Learning</dc:title>
  <dc:creator>林英嘉</dc:creator>
  <cp:lastModifiedBy>林英嘉</cp:lastModifiedBy>
  <cp:revision>1259</cp:revision>
  <dcterms:created xsi:type="dcterms:W3CDTF">2025-02-07T09:05:59Z</dcterms:created>
  <dcterms:modified xsi:type="dcterms:W3CDTF">2026-04-13T04:51:17Z</dcterms:modified>
</cp:coreProperties>
</file>