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3"/>
  </p:notesMasterIdLst>
  <p:sldIdLst>
    <p:sldId id="508" r:id="rId2"/>
    <p:sldId id="752" r:id="rId3"/>
    <p:sldId id="310" r:id="rId4"/>
    <p:sldId id="511" r:id="rId5"/>
    <p:sldId id="509" r:id="rId6"/>
    <p:sldId id="761" r:id="rId7"/>
    <p:sldId id="725" r:id="rId8"/>
    <p:sldId id="520" r:id="rId9"/>
    <p:sldId id="762" r:id="rId10"/>
    <p:sldId id="529" r:id="rId11"/>
    <p:sldId id="763" r:id="rId12"/>
    <p:sldId id="312" r:id="rId13"/>
    <p:sldId id="315" r:id="rId14"/>
    <p:sldId id="314" r:id="rId15"/>
    <p:sldId id="316" r:id="rId16"/>
    <p:sldId id="329" r:id="rId17"/>
    <p:sldId id="319" r:id="rId18"/>
    <p:sldId id="317" r:id="rId19"/>
    <p:sldId id="321" r:id="rId20"/>
    <p:sldId id="320" r:id="rId21"/>
    <p:sldId id="324" r:id="rId22"/>
    <p:sldId id="325" r:id="rId23"/>
    <p:sldId id="759" r:id="rId24"/>
    <p:sldId id="330" r:id="rId25"/>
    <p:sldId id="760" r:id="rId26"/>
    <p:sldId id="353" r:id="rId27"/>
    <p:sldId id="355" r:id="rId28"/>
    <p:sldId id="356" r:id="rId29"/>
    <p:sldId id="357" r:id="rId30"/>
    <p:sldId id="358" r:id="rId31"/>
    <p:sldId id="354" r:id="rId32"/>
    <p:sldId id="359" r:id="rId33"/>
    <p:sldId id="758" r:id="rId34"/>
    <p:sldId id="360" r:id="rId35"/>
    <p:sldId id="512" r:id="rId36"/>
    <p:sldId id="363" r:id="rId37"/>
    <p:sldId id="364" r:id="rId38"/>
    <p:sldId id="513" r:id="rId39"/>
    <p:sldId id="365" r:id="rId40"/>
    <p:sldId id="366" r:id="rId41"/>
    <p:sldId id="361" r:id="rId42"/>
    <p:sldId id="368" r:id="rId43"/>
    <p:sldId id="369" r:id="rId44"/>
    <p:sldId id="515" r:id="rId45"/>
    <p:sldId id="367" r:id="rId46"/>
    <p:sldId id="370" r:id="rId47"/>
    <p:sldId id="371" r:id="rId48"/>
    <p:sldId id="372" r:id="rId49"/>
    <p:sldId id="373" r:id="rId50"/>
    <p:sldId id="376" r:id="rId51"/>
    <p:sldId id="514" r:id="rId52"/>
    <p:sldId id="374" r:id="rId53"/>
    <p:sldId id="764" r:id="rId54"/>
    <p:sldId id="375" r:id="rId55"/>
    <p:sldId id="377" r:id="rId56"/>
    <p:sldId id="765" r:id="rId57"/>
    <p:sldId id="516" r:id="rId58"/>
    <p:sldId id="753" r:id="rId59"/>
    <p:sldId id="473" r:id="rId60"/>
    <p:sldId id="538" r:id="rId61"/>
    <p:sldId id="751" r:id="rId62"/>
    <p:sldId id="336" r:id="rId63"/>
    <p:sldId id="331" r:id="rId64"/>
    <p:sldId id="337" r:id="rId65"/>
    <p:sldId id="338" r:id="rId66"/>
    <p:sldId id="281" r:id="rId67"/>
    <p:sldId id="328" r:id="rId68"/>
    <p:sldId id="704" r:id="rId69"/>
    <p:sldId id="335" r:id="rId70"/>
    <p:sldId id="705" r:id="rId71"/>
    <p:sldId id="739" r:id="rId7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A0E90848-8D8D-3240-9C7D-B00833E33691}">
          <p14:sldIdLst>
            <p14:sldId id="508"/>
            <p14:sldId id="752"/>
            <p14:sldId id="310"/>
            <p14:sldId id="511"/>
            <p14:sldId id="509"/>
          </p14:sldIdLst>
        </p14:section>
        <p14:section name="Perplexity" id="{F85A1A70-0803-C74E-9A8C-0C1449A7EC81}">
          <p14:sldIdLst>
            <p14:sldId id="761"/>
            <p14:sldId id="725"/>
            <p14:sldId id="520"/>
            <p14:sldId id="762"/>
            <p14:sldId id="529"/>
            <p14:sldId id="763"/>
          </p14:sldIdLst>
        </p14:section>
        <p14:section name="BLEU" id="{CD331FAD-0D24-AF4F-AF1A-5CB330CBCE27}">
          <p14:sldIdLst>
            <p14:sldId id="312"/>
            <p14:sldId id="315"/>
            <p14:sldId id="314"/>
            <p14:sldId id="316"/>
            <p14:sldId id="329"/>
            <p14:sldId id="319"/>
            <p14:sldId id="317"/>
            <p14:sldId id="321"/>
            <p14:sldId id="320"/>
            <p14:sldId id="324"/>
            <p14:sldId id="325"/>
            <p14:sldId id="759"/>
            <p14:sldId id="330"/>
            <p14:sldId id="760"/>
          </p14:sldIdLst>
        </p14:section>
        <p14:section name="ROUGE" id="{F85AEAC5-CE15-CE40-9AA0-84F64D2D3121}">
          <p14:sldIdLst>
            <p14:sldId id="353"/>
            <p14:sldId id="355"/>
            <p14:sldId id="356"/>
            <p14:sldId id="357"/>
            <p14:sldId id="358"/>
            <p14:sldId id="354"/>
            <p14:sldId id="359"/>
          </p14:sldIdLst>
        </p14:section>
        <p14:section name="BERTScore" id="{5D2EC333-4EEE-BB45-A356-85C58BD0B441}">
          <p14:sldIdLst>
            <p14:sldId id="758"/>
            <p14:sldId id="360"/>
            <p14:sldId id="512"/>
            <p14:sldId id="363"/>
            <p14:sldId id="364"/>
            <p14:sldId id="513"/>
            <p14:sldId id="365"/>
            <p14:sldId id="366"/>
          </p14:sldIdLst>
        </p14:section>
        <p14:section name="BLEURT" id="{3CD727A2-B289-D145-9385-637E8A328247}">
          <p14:sldIdLst>
            <p14:sldId id="361"/>
            <p14:sldId id="368"/>
            <p14:sldId id="369"/>
            <p14:sldId id="515"/>
            <p14:sldId id="367"/>
            <p14:sldId id="370"/>
            <p14:sldId id="371"/>
            <p14:sldId id="372"/>
            <p14:sldId id="373"/>
            <p14:sldId id="376"/>
            <p14:sldId id="514"/>
            <p14:sldId id="374"/>
            <p14:sldId id="764"/>
            <p14:sldId id="375"/>
            <p14:sldId id="377"/>
          </p14:sldIdLst>
        </p14:section>
        <p14:section name="GPTScore" id="{B63FA5E4-E8B5-C642-B6AF-4179DE62EBCD}">
          <p14:sldIdLst>
            <p14:sldId id="765"/>
            <p14:sldId id="516"/>
          </p14:sldIdLst>
        </p14:section>
        <p14:section name="Safety" id="{0505806B-C1BA-E145-8406-880C6210BAE3}">
          <p14:sldIdLst>
            <p14:sldId id="753"/>
            <p14:sldId id="473"/>
            <p14:sldId id="538"/>
            <p14:sldId id="751"/>
            <p14:sldId id="336"/>
            <p14:sldId id="331"/>
            <p14:sldId id="337"/>
            <p14:sldId id="338"/>
            <p14:sldId id="281"/>
            <p14:sldId id="328"/>
            <p14:sldId id="704"/>
            <p14:sldId id="335"/>
            <p14:sldId id="705"/>
            <p14:sldId id="7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ED6"/>
    <a:srgbClr val="FF9400"/>
    <a:srgbClr val="FFCE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28"/>
    <p:restoredTop sz="96512"/>
  </p:normalViewPr>
  <p:slideViewPr>
    <p:cSldViewPr snapToGrid="0">
      <p:cViewPr varScale="1">
        <p:scale>
          <a:sx n="141" d="100"/>
          <a:sy n="141" d="100"/>
        </p:scale>
        <p:origin x="200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2026/5/11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39576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28921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79923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45659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82661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587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483415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5125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072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30299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07299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05C12B-E59D-D8B7-A3B4-27931CBD675F}"/>
              </a:ext>
            </a:extLst>
          </p:cNvPr>
          <p:cNvSpPr txBox="1"/>
          <p:nvPr userDrawn="1"/>
        </p:nvSpPr>
        <p:spPr>
          <a:xfrm>
            <a:off x="423038" y="6442992"/>
            <a:ext cx="557608" cy="268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zh-TW" sz="1400" dirty="0">
                <a:ea typeface="Nanum Brush Script" panose="03060600000000000000" pitchFamily="66" charset="-127"/>
                <a:cs typeface="Arial" panose="020B0604020202020204" pitchFamily="34" charset="0"/>
              </a:rPr>
              <a:t>NLP</a:t>
            </a:r>
            <a:endParaRPr kumimoji="1" lang="zh-TW" altLang="en-US" sz="1400" dirty="0">
              <a:cs typeface="Arial" panose="020B0604020202020204" pitchFamily="34" charset="0"/>
            </a:endParaRPr>
          </a:p>
        </p:txBody>
      </p:sp>
      <p:pic>
        <p:nvPicPr>
          <p:cNvPr id="7" name="圖形 6" descr="聊天泡泡 外框">
            <a:extLst>
              <a:ext uri="{FF2B5EF4-FFF2-40B4-BE49-F238E27FC236}">
                <a16:creationId xmlns:a16="http://schemas.microsoft.com/office/drawing/2014/main" id="{0B067696-6EA5-0A4A-14B8-D7C17072FE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093" y="6388664"/>
            <a:ext cx="377640" cy="3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app.sli.do/event/qbHWd3SYMy9f12rV4tiWDc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7" Type="http://schemas.openxmlformats.org/officeDocument/2006/relationships/image" Target="../media/image17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51.png"/><Relationship Id="rId4" Type="http://schemas.openxmlformats.org/officeDocument/2006/relationships/image" Target="../media/image1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0.png"/><Relationship Id="rId2" Type="http://schemas.openxmlformats.org/officeDocument/2006/relationships/image" Target="../media/image99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0.png"/><Relationship Id="rId2" Type="http://schemas.openxmlformats.org/officeDocument/2006/relationships/image" Target="../media/image10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0.png"/><Relationship Id="rId2" Type="http://schemas.openxmlformats.org/officeDocument/2006/relationships/image" Target="../media/image16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0.png"/><Relationship Id="rId4" Type="http://schemas.openxmlformats.org/officeDocument/2006/relationships/image" Target="../media/image3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5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0.png"/><Relationship Id="rId3" Type="http://schemas.openxmlformats.org/officeDocument/2006/relationships/image" Target="../media/image34.png"/><Relationship Id="rId7" Type="http://schemas.openxmlformats.org/officeDocument/2006/relationships/image" Target="../media/image120.png"/><Relationship Id="rId12" Type="http://schemas.openxmlformats.org/officeDocument/2006/relationships/image" Target="../media/image17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60.png"/><Relationship Id="rId5" Type="http://schemas.openxmlformats.org/officeDocument/2006/relationships/image" Target="../media/image100.png"/><Relationship Id="rId10" Type="http://schemas.openxmlformats.org/officeDocument/2006/relationships/image" Target="../media/image150.png"/><Relationship Id="rId4" Type="http://schemas.openxmlformats.org/officeDocument/2006/relationships/image" Target="../media/image101.png"/><Relationship Id="rId9" Type="http://schemas.openxmlformats.org/officeDocument/2006/relationships/image" Target="../media/image140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>
            <a:extLst>
              <a:ext uri="{FF2B5EF4-FFF2-40B4-BE49-F238E27FC236}">
                <a16:creationId xmlns:a16="http://schemas.microsoft.com/office/drawing/2014/main" id="{AA8F8551-2C61-48D1-9E5C-345C10BAAC8B}"/>
              </a:ext>
            </a:extLst>
          </p:cNvPr>
          <p:cNvSpPr/>
          <p:nvPr/>
        </p:nvSpPr>
        <p:spPr>
          <a:xfrm>
            <a:off x="667422" y="1891904"/>
            <a:ext cx="10857156" cy="2857500"/>
          </a:xfrm>
          <a:prstGeom prst="roundRect">
            <a:avLst/>
          </a:prstGeom>
          <a:solidFill>
            <a:srgbClr val="FFC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9623" y="2056517"/>
            <a:ext cx="10857156" cy="2758710"/>
          </a:xfrm>
        </p:spPr>
        <p:txBody>
          <a:bodyPr anchor="ctr">
            <a:noAutofit/>
          </a:bodyPr>
          <a:lstStyle/>
          <a:p>
            <a:r>
              <a:rPr kumimoji="1" lang="zh-TW" altLang="en-US" sz="4800" b="1" dirty="0">
                <a:ea typeface="Microsoft JhengHei" panose="020B0604030504040204" pitchFamily="34" charset="-120"/>
              </a:rPr>
              <a:t>自然語言處理與應用</a:t>
            </a:r>
            <a:br>
              <a:rPr kumimoji="1" lang="en-US" altLang="zh-TW" sz="4800" b="1" dirty="0">
                <a:ea typeface="Microsoft JhengHei" panose="020B0604030504040204" pitchFamily="34" charset="-120"/>
              </a:rPr>
            </a:br>
            <a:r>
              <a:rPr kumimoji="1" lang="en-US" altLang="zh-TW" sz="4800" b="1" dirty="0">
                <a:ea typeface="Microsoft JhengHei" panose="020B0604030504040204" pitchFamily="34" charset="-120"/>
              </a:rPr>
              <a:t>Natural Language Processing and Applications</a:t>
            </a:r>
            <a:endParaRPr kumimoji="1" lang="zh-TW" altLang="en-US" sz="4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59623" y="4881049"/>
            <a:ext cx="4560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LLM Evaluations</a:t>
            </a:r>
            <a:endParaRPr kumimoji="1" lang="en-US" altLang="zh-TW" sz="2800" b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59623" y="5914787"/>
            <a:ext cx="4182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2026/05/11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118" y="130472"/>
            <a:ext cx="1394460" cy="139446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6DEED3F-C826-615A-5EF9-02C833E509E8}"/>
              </a:ext>
            </a:extLst>
          </p:cNvPr>
          <p:cNvSpPr txBox="1"/>
          <p:nvPr/>
        </p:nvSpPr>
        <p:spPr>
          <a:xfrm>
            <a:off x="10169046" y="5391531"/>
            <a:ext cx="1558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Slido</a:t>
            </a:r>
            <a:endParaRPr kumimoji="1" lang="en" altLang="zh-TW" dirty="0"/>
          </a:p>
          <a:p>
            <a:r>
              <a:rPr kumimoji="1" lang="en" altLang="zh-TW" dirty="0"/>
              <a:t># NLP0511 (</a:t>
            </a:r>
            <a:r>
              <a:rPr kumimoji="1" lang="en" altLang="zh-TW" dirty="0">
                <a:hlinkClick r:id="rId4"/>
              </a:rPr>
              <a:t>Link</a:t>
            </a:r>
            <a:r>
              <a:rPr kumimoji="1" lang="en" altLang="zh-TW" dirty="0"/>
              <a:t>)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5D8B8BA-01EA-719E-DB6F-35B59009F0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139"/>
          <a:stretch/>
        </p:blipFill>
        <p:spPr>
          <a:xfrm>
            <a:off x="5498071" y="4881049"/>
            <a:ext cx="2108982" cy="195843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E320E30-561F-DF85-CC02-2709CD58A10B}"/>
              </a:ext>
            </a:extLst>
          </p:cNvPr>
          <p:cNvSpPr txBox="1"/>
          <p:nvPr/>
        </p:nvSpPr>
        <p:spPr>
          <a:xfrm>
            <a:off x="7389634" y="5642689"/>
            <a:ext cx="101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GitHub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806F592-17B5-1155-5413-5BA1B4A29E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7422" y="4915340"/>
            <a:ext cx="1741624" cy="174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9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E19909-541E-1ADC-E712-8BAA4E50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Phases for Building a Machine Learning Model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9A6820-B7B5-43AD-E198-87DC77574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6F003A49-864B-3A7B-E162-DF45EC2FAE47}"/>
              </a:ext>
            </a:extLst>
          </p:cNvPr>
          <p:cNvSpPr/>
          <p:nvPr/>
        </p:nvSpPr>
        <p:spPr>
          <a:xfrm>
            <a:off x="1327786" y="2225842"/>
            <a:ext cx="2801454" cy="757989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Data-preprocessing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02FEDFF-5C3A-F882-BC26-4BAA1761F9D7}"/>
              </a:ext>
            </a:extLst>
          </p:cNvPr>
          <p:cNvSpPr/>
          <p:nvPr/>
        </p:nvSpPr>
        <p:spPr>
          <a:xfrm>
            <a:off x="1327786" y="3675791"/>
            <a:ext cx="2801453" cy="757989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Model Training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E1BAD812-6031-939C-0729-D34A107C50A3}"/>
              </a:ext>
            </a:extLst>
          </p:cNvPr>
          <p:cNvSpPr/>
          <p:nvPr/>
        </p:nvSpPr>
        <p:spPr>
          <a:xfrm>
            <a:off x="1327787" y="5125740"/>
            <a:ext cx="2801452" cy="757989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Evaluations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向右箭號 7">
            <a:extLst>
              <a:ext uri="{FF2B5EF4-FFF2-40B4-BE49-F238E27FC236}">
                <a16:creationId xmlns:a16="http://schemas.microsoft.com/office/drawing/2014/main" id="{857D6558-E62B-9E81-249B-57EAE0E923D9}"/>
              </a:ext>
            </a:extLst>
          </p:cNvPr>
          <p:cNvSpPr/>
          <p:nvPr/>
        </p:nvSpPr>
        <p:spPr>
          <a:xfrm rot="5400000">
            <a:off x="2557663" y="3187838"/>
            <a:ext cx="341697" cy="28394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2E747D8B-EAC6-29B2-99CE-51EBC45C8562}"/>
              </a:ext>
            </a:extLst>
          </p:cNvPr>
          <p:cNvSpPr/>
          <p:nvPr/>
        </p:nvSpPr>
        <p:spPr>
          <a:xfrm rot="5400000">
            <a:off x="2557663" y="4637787"/>
            <a:ext cx="341697" cy="28394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1" name="圖片 10" descr="一張含有 文字, 兔子, 卡通, 油畫 的圖片&#10;&#10;AI 產生的內容可能不正確。">
            <a:extLst>
              <a:ext uri="{FF2B5EF4-FFF2-40B4-BE49-F238E27FC236}">
                <a16:creationId xmlns:a16="http://schemas.microsoft.com/office/drawing/2014/main" id="{DEFF6F17-C7A7-8D93-D57A-B5D8954F9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428" y="1806542"/>
            <a:ext cx="4486442" cy="4486442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74FA6489-4559-B276-574E-71F9DBB36B6F}"/>
              </a:ext>
            </a:extLst>
          </p:cNvPr>
          <p:cNvSpPr txBox="1"/>
          <p:nvPr/>
        </p:nvSpPr>
        <p:spPr>
          <a:xfrm>
            <a:off x="4383105" y="5273900"/>
            <a:ext cx="18504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Metrics</a:t>
            </a:r>
            <a:endParaRPr lang="zh-TW" altLang="en-US" sz="2400" dirty="0"/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1B89D714-0BA5-29A9-D502-7DA488A6CD73}"/>
              </a:ext>
            </a:extLst>
          </p:cNvPr>
          <p:cNvCxnSpPr>
            <a:cxnSpLocks/>
          </p:cNvCxnSpPr>
          <p:nvPr/>
        </p:nvCxnSpPr>
        <p:spPr>
          <a:xfrm flipV="1">
            <a:off x="4254364" y="5504733"/>
            <a:ext cx="375385" cy="1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8E090AFF-B83D-0084-F7AC-21BC18DFC9A7}"/>
              </a:ext>
            </a:extLst>
          </p:cNvPr>
          <p:cNvCxnSpPr>
            <a:cxnSpLocks/>
          </p:cNvCxnSpPr>
          <p:nvPr/>
        </p:nvCxnSpPr>
        <p:spPr>
          <a:xfrm flipV="1">
            <a:off x="5965860" y="5504732"/>
            <a:ext cx="375385" cy="1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97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3DAD7D-7A2C-E0C1-CC49-4D9F0F141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91" y="356088"/>
            <a:ext cx="11223444" cy="1033416"/>
          </a:xfrm>
        </p:spPr>
        <p:txBody>
          <a:bodyPr>
            <a:noAutofit/>
          </a:bodyPr>
          <a:lstStyle/>
          <a:p>
            <a:r>
              <a:rPr kumimoji="1" lang="en-US" altLang="zh-TW" sz="4000" dirty="0"/>
              <a:t>How to evaluate natural language generation? </a:t>
            </a:r>
            <a:endParaRPr kumimoji="1"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46984C-A900-75C8-5000-CFBA93C9E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A4572C0-4459-F72F-A5A6-54087438034A}"/>
              </a:ext>
            </a:extLst>
          </p:cNvPr>
          <p:cNvSpPr txBox="1"/>
          <p:nvPr/>
        </p:nvSpPr>
        <p:spPr>
          <a:xfrm>
            <a:off x="567891" y="1728983"/>
            <a:ext cx="11223444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Natural language is hard to evaluate due to </a:t>
            </a:r>
            <a:r>
              <a:rPr kumimoji="1" lang="en-US" altLang="zh-TW" sz="2400" u="sng" dirty="0"/>
              <a:t>subjectivity</a:t>
            </a:r>
            <a:r>
              <a:rPr kumimoji="1" lang="en-US" altLang="zh-TW" sz="2400" dirty="0"/>
              <a:t> and language </a:t>
            </a:r>
            <a:r>
              <a:rPr kumimoji="1" lang="en-US" altLang="zh-TW" sz="2400" u="sng" dirty="0"/>
              <a:t>diversity</a:t>
            </a:r>
            <a:r>
              <a:rPr kumimoji="1" lang="en-US" altLang="zh-TW" sz="2400" dirty="0"/>
              <a:t>.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527B335C-0A08-2368-12BF-DA1508AB4EDD}"/>
              </a:ext>
            </a:extLst>
          </p:cNvPr>
          <p:cNvSpPr/>
          <p:nvPr/>
        </p:nvSpPr>
        <p:spPr>
          <a:xfrm>
            <a:off x="1299182" y="3781040"/>
            <a:ext cx="859818" cy="4001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1B5FC0F-9404-2D33-6AC9-B035224888F4}"/>
              </a:ext>
            </a:extLst>
          </p:cNvPr>
          <p:cNvSpPr/>
          <p:nvPr/>
        </p:nvSpPr>
        <p:spPr>
          <a:xfrm>
            <a:off x="2219903" y="3781040"/>
            <a:ext cx="859818" cy="4001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love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00A4FFD1-E9E5-AFB5-4364-8938FEF6BA69}"/>
              </a:ext>
            </a:extLst>
          </p:cNvPr>
          <p:cNvSpPr/>
          <p:nvPr/>
        </p:nvSpPr>
        <p:spPr>
          <a:xfrm>
            <a:off x="3140624" y="3781040"/>
            <a:ext cx="1054819" cy="4001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reading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39BFEDCD-F0BD-543E-56BC-F7A036C56DF2}"/>
              </a:ext>
            </a:extLst>
          </p:cNvPr>
          <p:cNvSpPr/>
          <p:nvPr/>
        </p:nvSpPr>
        <p:spPr>
          <a:xfrm>
            <a:off x="4256346" y="3781040"/>
            <a:ext cx="953908" cy="40011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books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60DAD286-A71F-A2CF-B8A3-55F2D3CC5435}"/>
              </a:ext>
            </a:extLst>
          </p:cNvPr>
          <p:cNvSpPr/>
          <p:nvPr/>
        </p:nvSpPr>
        <p:spPr>
          <a:xfrm>
            <a:off x="6802207" y="3028890"/>
            <a:ext cx="762607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7AFE2045-57E1-F48A-36F0-9FB9400D16BA}"/>
              </a:ext>
            </a:extLst>
          </p:cNvPr>
          <p:cNvSpPr/>
          <p:nvPr/>
        </p:nvSpPr>
        <p:spPr>
          <a:xfrm>
            <a:off x="7673535" y="3028890"/>
            <a:ext cx="762607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CC709590-99F9-0910-C335-4BF2044FDBA3}"/>
              </a:ext>
            </a:extLst>
          </p:cNvPr>
          <p:cNvSpPr/>
          <p:nvPr/>
        </p:nvSpPr>
        <p:spPr>
          <a:xfrm>
            <a:off x="8544863" y="3028890"/>
            <a:ext cx="935561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閱</a:t>
            </a: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542B7C9C-44E6-6C31-FFAB-091D97B5CF13}"/>
              </a:ext>
            </a:extLst>
          </p:cNvPr>
          <p:cNvSpPr/>
          <p:nvPr/>
        </p:nvSpPr>
        <p:spPr>
          <a:xfrm>
            <a:off x="9589145" y="3028890"/>
            <a:ext cx="846059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讀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EC3AB34E-FE65-A99E-499D-EAFB86709FA1}"/>
              </a:ext>
            </a:extLst>
          </p:cNvPr>
          <p:cNvSpPr/>
          <p:nvPr/>
        </p:nvSpPr>
        <p:spPr>
          <a:xfrm>
            <a:off x="6802207" y="4548685"/>
            <a:ext cx="762607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2081AAE4-5F7D-8AB3-8F01-CA624C83B6D3}"/>
              </a:ext>
            </a:extLst>
          </p:cNvPr>
          <p:cNvSpPr/>
          <p:nvPr/>
        </p:nvSpPr>
        <p:spPr>
          <a:xfrm>
            <a:off x="7673535" y="4548685"/>
            <a:ext cx="762607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愛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BF872139-2970-2D98-D322-B77F009C0534}"/>
              </a:ext>
            </a:extLst>
          </p:cNvPr>
          <p:cNvSpPr/>
          <p:nvPr/>
        </p:nvSpPr>
        <p:spPr>
          <a:xfrm>
            <a:off x="8544863" y="4548685"/>
            <a:ext cx="935561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讀</a:t>
            </a: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5992CCD1-97B6-D5CD-B4BA-1E81AC6D6656}"/>
              </a:ext>
            </a:extLst>
          </p:cNvPr>
          <p:cNvSpPr/>
          <p:nvPr/>
        </p:nvSpPr>
        <p:spPr>
          <a:xfrm>
            <a:off x="9589145" y="4548685"/>
            <a:ext cx="846059" cy="400110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書</a:t>
            </a:r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F7DACCD1-B560-E283-610F-78333D724385}"/>
              </a:ext>
            </a:extLst>
          </p:cNvPr>
          <p:cNvCxnSpPr>
            <a:cxnSpLocks/>
          </p:cNvCxnSpPr>
          <p:nvPr/>
        </p:nvCxnSpPr>
        <p:spPr>
          <a:xfrm flipV="1">
            <a:off x="5389794" y="3266983"/>
            <a:ext cx="1232948" cy="6747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1D0BDE00-E429-76C8-D3E5-7652520339E4}"/>
              </a:ext>
            </a:extLst>
          </p:cNvPr>
          <p:cNvCxnSpPr>
            <a:cxnSpLocks/>
          </p:cNvCxnSpPr>
          <p:nvPr/>
        </p:nvCxnSpPr>
        <p:spPr>
          <a:xfrm>
            <a:off x="5404590" y="4082067"/>
            <a:ext cx="1232948" cy="6747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9840C81-2B11-BDDC-52C8-18295B716EDF}"/>
              </a:ext>
            </a:extLst>
          </p:cNvPr>
          <p:cNvSpPr txBox="1"/>
          <p:nvPr/>
        </p:nvSpPr>
        <p:spPr>
          <a:xfrm>
            <a:off x="1369517" y="2659558"/>
            <a:ext cx="3915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For example: Machine Translation</a:t>
            </a:r>
            <a:endParaRPr kumimoji="1" lang="zh-TW" altLang="en-US" b="1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28579FB-8498-1368-5705-BFF760EA350C}"/>
              </a:ext>
            </a:extLst>
          </p:cNvPr>
          <p:cNvSpPr txBox="1"/>
          <p:nvPr/>
        </p:nvSpPr>
        <p:spPr>
          <a:xfrm>
            <a:off x="2080009" y="4267667"/>
            <a:ext cx="2288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(Source language)</a:t>
            </a:r>
            <a:endParaRPr kumimoji="1" lang="zh-TW" altLang="en-US" b="1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B9D9872-9829-96EF-915F-906B45F3A3B3}"/>
              </a:ext>
            </a:extLst>
          </p:cNvPr>
          <p:cNvSpPr txBox="1"/>
          <p:nvPr/>
        </p:nvSpPr>
        <p:spPr>
          <a:xfrm>
            <a:off x="7251947" y="5007843"/>
            <a:ext cx="2585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(Target language)</a:t>
            </a:r>
            <a:endParaRPr kumimoji="1" lang="zh-TW" altLang="en-US" b="1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6D8ADEA-FF7A-DD97-9541-0F8235F2724C}"/>
              </a:ext>
            </a:extLst>
          </p:cNvPr>
          <p:cNvSpPr txBox="1"/>
          <p:nvPr/>
        </p:nvSpPr>
        <p:spPr>
          <a:xfrm>
            <a:off x="567891" y="5257980"/>
            <a:ext cx="10149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Human evaluations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Automatic evaluations (We will focus on this topic.)</a:t>
            </a:r>
          </a:p>
        </p:txBody>
      </p:sp>
    </p:spTree>
    <p:extLst>
      <p:ext uri="{BB962C8B-B14F-4D97-AF65-F5344CB8AC3E}">
        <p14:creationId xmlns:p14="http://schemas.microsoft.com/office/powerpoint/2010/main" val="54231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5FAC63-A9BE-40CB-2271-02482456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Medical Report Example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16086F-D8E9-5758-03C3-088FD3E9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5250038-CF4A-5FC0-FBDC-700B71575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66" y="2361964"/>
            <a:ext cx="5672750" cy="213407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7DAAA94-5F39-00CB-BE2E-6F3C59513CE3}"/>
              </a:ext>
            </a:extLst>
          </p:cNvPr>
          <p:cNvSpPr txBox="1"/>
          <p:nvPr/>
        </p:nvSpPr>
        <p:spPr>
          <a:xfrm>
            <a:off x="6857901" y="2406707"/>
            <a:ext cx="45102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" altLang="zh-TW" dirty="0"/>
              <a:t>There is </a:t>
            </a:r>
            <a:r>
              <a:rPr kumimoji="1" lang="en" altLang="zh-TW" dirty="0" err="1"/>
              <a:t>hyperexpansion</a:t>
            </a:r>
            <a:r>
              <a:rPr kumimoji="1" lang="en" altLang="zh-TW" dirty="0"/>
              <a:t> of the </a:t>
            </a:r>
            <a:r>
              <a:rPr kumimoji="1" lang="en" altLang="zh-TW" dirty="0">
                <a:solidFill>
                  <a:srgbClr val="FF0000"/>
                </a:solidFill>
              </a:rPr>
              <a:t>lungs</a:t>
            </a:r>
            <a:r>
              <a:rPr kumimoji="1" lang="en" altLang="zh-TW" dirty="0"/>
              <a:t> indicating </a:t>
            </a:r>
            <a:r>
              <a:rPr kumimoji="1" lang="en" altLang="zh-TW" dirty="0">
                <a:solidFill>
                  <a:srgbClr val="FF0000"/>
                </a:solidFill>
              </a:rPr>
              <a:t>emphysema</a:t>
            </a:r>
            <a:r>
              <a:rPr kumimoji="1" lang="en" altLang="zh-TW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" altLang="zh-TW" dirty="0"/>
              <a:t>The heart and pulmonary vessels are within normal limits.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" altLang="zh-TW" dirty="0"/>
              <a:t>No signs of </a:t>
            </a:r>
            <a:r>
              <a:rPr kumimoji="1" lang="en" altLang="zh-TW" dirty="0">
                <a:solidFill>
                  <a:srgbClr val="FF0000"/>
                </a:solidFill>
              </a:rPr>
              <a:t>pneumothorax</a:t>
            </a:r>
            <a:r>
              <a:rPr kumimoji="1" lang="en" altLang="zh-TW" dirty="0"/>
              <a:t> or </a:t>
            </a:r>
            <a:r>
              <a:rPr kumimoji="1" lang="en" altLang="zh-TW" dirty="0">
                <a:solidFill>
                  <a:srgbClr val="FF0000"/>
                </a:solidFill>
              </a:rPr>
              <a:t>pleural effusion</a:t>
            </a:r>
            <a:r>
              <a:rPr kumimoji="1" lang="en" altLang="zh-TW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" altLang="zh-TW" dirty="0">
                <a:solidFill>
                  <a:srgbClr val="FF0000"/>
                </a:solidFill>
              </a:rPr>
              <a:t>Airspace</a:t>
            </a:r>
            <a:r>
              <a:rPr kumimoji="1" lang="en" altLang="zh-TW" dirty="0"/>
              <a:t> disease affects the right middle lobe.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" altLang="zh-TW" dirty="0"/>
              <a:t>Degenerative spinal changes are noted.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27AE40E-DF41-926E-05B3-B25B28C41201}"/>
              </a:ext>
            </a:extLst>
          </p:cNvPr>
          <p:cNvSpPr txBox="1"/>
          <p:nvPr/>
        </p:nvSpPr>
        <p:spPr>
          <a:xfrm>
            <a:off x="4330574" y="6411353"/>
            <a:ext cx="3530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600" dirty="0"/>
              <a:t>https://</a:t>
            </a:r>
            <a:r>
              <a:rPr kumimoji="1" lang="en" altLang="zh-TW" sz="1600" dirty="0" err="1"/>
              <a:t>arxiv.org</a:t>
            </a:r>
            <a:r>
              <a:rPr kumimoji="1" lang="en" altLang="zh-TW" sz="1600" dirty="0"/>
              <a:t>/abs/2409.00250</a:t>
            </a:r>
            <a:endParaRPr kumimoji="1" lang="zh-TW" altLang="en-US" sz="1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D5E3A55-3B36-ECE1-5B78-7D4510B47C41}"/>
              </a:ext>
            </a:extLst>
          </p:cNvPr>
          <p:cNvSpPr txBox="1"/>
          <p:nvPr/>
        </p:nvSpPr>
        <p:spPr>
          <a:xfrm>
            <a:off x="7724309" y="1885663"/>
            <a:ext cx="3127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Model Generated report</a:t>
            </a:r>
            <a:endParaRPr kumimoji="1" lang="zh-TW" altLang="en-US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5BF0852-6FE2-42E3-C59F-EA737764F4EC}"/>
              </a:ext>
            </a:extLst>
          </p:cNvPr>
          <p:cNvSpPr txBox="1"/>
          <p:nvPr/>
        </p:nvSpPr>
        <p:spPr>
          <a:xfrm>
            <a:off x="7926189" y="5143742"/>
            <a:ext cx="2724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Is this good?</a:t>
            </a:r>
            <a:endParaRPr kumimoji="1"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31230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0088F74-E7BD-9221-09BE-BD84A56E8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18606"/>
            <a:ext cx="3200400" cy="2286000"/>
          </a:xfrm>
        </p:spPr>
        <p:txBody>
          <a:bodyPr>
            <a:normAutofit/>
          </a:bodyPr>
          <a:lstStyle/>
          <a:p>
            <a:r>
              <a:rPr lang="en-US" altLang="zh-TW" sz="4400" dirty="0"/>
              <a:t>Evaluations</a:t>
            </a:r>
            <a:endParaRPr lang="zh-TW" altLang="en-US" sz="4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6CD975-2D44-BE2A-2880-315742DD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51524FA-B026-781E-24E6-7417B856B0B4}"/>
              </a:ext>
            </a:extLst>
          </p:cNvPr>
          <p:cNvSpPr txBox="1"/>
          <p:nvPr/>
        </p:nvSpPr>
        <p:spPr>
          <a:xfrm>
            <a:off x="4707175" y="1984981"/>
            <a:ext cx="3749040" cy="3890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Perplexity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BLEU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ROUGE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 err="1"/>
              <a:t>BERTScore</a:t>
            </a:r>
            <a:endParaRPr kumimoji="1" lang="en-US" altLang="zh-TW" sz="2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BLEURT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 err="1"/>
              <a:t>GPTScore</a:t>
            </a:r>
            <a:endParaRPr kumimoji="1" lang="en-US" altLang="zh-TW" sz="2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11D3BC-AC99-AF66-B790-A38669071A81}"/>
              </a:ext>
            </a:extLst>
          </p:cNvPr>
          <p:cNvSpPr/>
          <p:nvPr/>
        </p:nvSpPr>
        <p:spPr>
          <a:xfrm>
            <a:off x="4697127" y="1992429"/>
            <a:ext cx="2979813" cy="194430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38E359A-A3BF-9D00-5E9F-B82AFD5C327D}"/>
              </a:ext>
            </a:extLst>
          </p:cNvPr>
          <p:cNvSpPr txBox="1"/>
          <p:nvPr/>
        </p:nvSpPr>
        <p:spPr>
          <a:xfrm>
            <a:off x="8019661" y="2549082"/>
            <a:ext cx="22112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400" dirty="0"/>
              <a:t>Rule-based (model-free) </a:t>
            </a:r>
            <a:endParaRPr lang="zh-TW" alt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D086F1-DB79-6DCC-66B2-C303D56E622F}"/>
              </a:ext>
            </a:extLst>
          </p:cNvPr>
          <p:cNvSpPr/>
          <p:nvPr/>
        </p:nvSpPr>
        <p:spPr>
          <a:xfrm>
            <a:off x="4697127" y="4002507"/>
            <a:ext cx="2979813" cy="122656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34BCE43-C91B-A13C-BD41-83925FC8BE87}"/>
              </a:ext>
            </a:extLst>
          </p:cNvPr>
          <p:cNvSpPr txBox="1"/>
          <p:nvPr/>
        </p:nvSpPr>
        <p:spPr>
          <a:xfrm>
            <a:off x="8019661" y="4184680"/>
            <a:ext cx="26639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400" dirty="0"/>
              <a:t>Learning-based</a:t>
            </a:r>
          </a:p>
          <a:p>
            <a:r>
              <a:rPr kumimoji="1" lang="en-US" altLang="zh-TW" sz="2400" dirty="0"/>
              <a:t>(model-based) </a:t>
            </a:r>
            <a:endParaRPr lang="zh-TW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4C6B517-246A-F88C-4354-497F1A78BD28}"/>
              </a:ext>
            </a:extLst>
          </p:cNvPr>
          <p:cNvSpPr txBox="1"/>
          <p:nvPr/>
        </p:nvSpPr>
        <p:spPr>
          <a:xfrm>
            <a:off x="8019661" y="5343158"/>
            <a:ext cx="2663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400" dirty="0"/>
              <a:t>LLM-based</a:t>
            </a:r>
          </a:p>
        </p:txBody>
      </p:sp>
    </p:spTree>
    <p:extLst>
      <p:ext uri="{BB962C8B-B14F-4D97-AF65-F5344CB8AC3E}">
        <p14:creationId xmlns:p14="http://schemas.microsoft.com/office/powerpoint/2010/main" val="27606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6" grpId="0" animBg="1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820EFC-5444-6AB2-4FC5-873C0611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[Recap]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GPT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最大化每個時間點的機率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DAF791-CFF8-2020-C906-318AAF7F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4E96B12-CEDD-905F-7E73-187B8CC22592}"/>
                  </a:ext>
                </a:extLst>
              </p:cNvPr>
              <p:cNvSpPr txBox="1"/>
              <p:nvPr/>
            </p:nvSpPr>
            <p:spPr>
              <a:xfrm>
                <a:off x="5383132" y="3742891"/>
                <a:ext cx="4295405" cy="1268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zh-TW" altLang="zh-TW" sz="2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TW" altLang="zh-TW" sz="28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zh-TW" sz="2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4E96B12-CEDD-905F-7E73-187B8CC22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132" y="3742891"/>
                <a:ext cx="4295405" cy="1268552"/>
              </a:xfrm>
              <a:prstGeom prst="rect">
                <a:avLst/>
              </a:prstGeom>
              <a:blipFill>
                <a:blip r:embed="rId3"/>
                <a:stretch>
                  <a:fillRect l="-23529" t="-105941" b="-162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圓角矩形 52">
            <a:extLst>
              <a:ext uri="{FF2B5EF4-FFF2-40B4-BE49-F238E27FC236}">
                <a16:creationId xmlns:a16="http://schemas.microsoft.com/office/drawing/2014/main" id="{E56B081F-94D2-3D44-AEF7-145771883E0A}"/>
              </a:ext>
            </a:extLst>
          </p:cNvPr>
          <p:cNvSpPr/>
          <p:nvPr/>
        </p:nvSpPr>
        <p:spPr>
          <a:xfrm>
            <a:off x="978574" y="3293067"/>
            <a:ext cx="4055873" cy="94155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Language 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2AD5746E-79B9-5EC8-5A1A-42B5950F4FB0}"/>
              </a:ext>
            </a:extLst>
          </p:cNvPr>
          <p:cNvSpPr/>
          <p:nvPr/>
        </p:nvSpPr>
        <p:spPr>
          <a:xfrm>
            <a:off x="1060305" y="4607685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849165CB-B39B-4A35-B189-73AD09AFA6F4}"/>
              </a:ext>
            </a:extLst>
          </p:cNvPr>
          <p:cNvSpPr/>
          <p:nvPr/>
        </p:nvSpPr>
        <p:spPr>
          <a:xfrm>
            <a:off x="3974880" y="4607685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6" name="圓角矩形 55">
            <a:extLst>
              <a:ext uri="{FF2B5EF4-FFF2-40B4-BE49-F238E27FC236}">
                <a16:creationId xmlns:a16="http://schemas.microsoft.com/office/drawing/2014/main" id="{04D28F7A-BB87-E420-B4A6-87EFAE58B573}"/>
              </a:ext>
            </a:extLst>
          </p:cNvPr>
          <p:cNvSpPr/>
          <p:nvPr/>
        </p:nvSpPr>
        <p:spPr>
          <a:xfrm>
            <a:off x="4557797" y="4607685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E0A05F72-2010-0A18-AFF5-AC3392353FC2}"/>
              </a:ext>
            </a:extLst>
          </p:cNvPr>
          <p:cNvSpPr/>
          <p:nvPr/>
        </p:nvSpPr>
        <p:spPr>
          <a:xfrm>
            <a:off x="1643220" y="4607685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8" name="圓角矩形 57">
            <a:extLst>
              <a:ext uri="{FF2B5EF4-FFF2-40B4-BE49-F238E27FC236}">
                <a16:creationId xmlns:a16="http://schemas.microsoft.com/office/drawing/2014/main" id="{E82AF96C-EBF2-D5AB-042A-BE3BEAB30F97}"/>
              </a:ext>
            </a:extLst>
          </p:cNvPr>
          <p:cNvSpPr/>
          <p:nvPr/>
        </p:nvSpPr>
        <p:spPr>
          <a:xfrm>
            <a:off x="2226135" y="4607685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9" name="圓角矩形 58">
            <a:extLst>
              <a:ext uri="{FF2B5EF4-FFF2-40B4-BE49-F238E27FC236}">
                <a16:creationId xmlns:a16="http://schemas.microsoft.com/office/drawing/2014/main" id="{E8D812A7-35BC-59E9-6233-BFBBF2ED6EF1}"/>
              </a:ext>
            </a:extLst>
          </p:cNvPr>
          <p:cNvSpPr/>
          <p:nvPr/>
        </p:nvSpPr>
        <p:spPr>
          <a:xfrm>
            <a:off x="2809050" y="4607685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0" name="圓角矩形 59">
            <a:extLst>
              <a:ext uri="{FF2B5EF4-FFF2-40B4-BE49-F238E27FC236}">
                <a16:creationId xmlns:a16="http://schemas.microsoft.com/office/drawing/2014/main" id="{E71E0BBC-F3F9-9B35-A02F-D6904A072013}"/>
              </a:ext>
            </a:extLst>
          </p:cNvPr>
          <p:cNvSpPr/>
          <p:nvPr/>
        </p:nvSpPr>
        <p:spPr>
          <a:xfrm>
            <a:off x="3391965" y="4607685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61" name="直線箭頭接點 60">
            <a:extLst>
              <a:ext uri="{FF2B5EF4-FFF2-40B4-BE49-F238E27FC236}">
                <a16:creationId xmlns:a16="http://schemas.microsoft.com/office/drawing/2014/main" id="{556BF7F5-E500-D813-7FF7-4EFCAB97C5E3}"/>
              </a:ext>
            </a:extLst>
          </p:cNvPr>
          <p:cNvCxnSpPr>
            <a:cxnSpLocks/>
          </p:cNvCxnSpPr>
          <p:nvPr/>
        </p:nvCxnSpPr>
        <p:spPr>
          <a:xfrm flipV="1">
            <a:off x="1292233" y="429622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箭頭接點 61">
            <a:extLst>
              <a:ext uri="{FF2B5EF4-FFF2-40B4-BE49-F238E27FC236}">
                <a16:creationId xmlns:a16="http://schemas.microsoft.com/office/drawing/2014/main" id="{FD6FD892-97D8-8EE6-71A3-A157EBD96579}"/>
              </a:ext>
            </a:extLst>
          </p:cNvPr>
          <p:cNvCxnSpPr>
            <a:cxnSpLocks/>
          </p:cNvCxnSpPr>
          <p:nvPr/>
        </p:nvCxnSpPr>
        <p:spPr>
          <a:xfrm flipV="1">
            <a:off x="1872427" y="429622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2CD4A9B7-D7FE-006C-23CC-CFF1E26DFB64}"/>
              </a:ext>
            </a:extLst>
          </p:cNvPr>
          <p:cNvCxnSpPr>
            <a:cxnSpLocks/>
          </p:cNvCxnSpPr>
          <p:nvPr/>
        </p:nvCxnSpPr>
        <p:spPr>
          <a:xfrm flipV="1">
            <a:off x="2452621" y="429622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38F6DEDC-905F-25F0-F182-8E0D496CA00A}"/>
              </a:ext>
            </a:extLst>
          </p:cNvPr>
          <p:cNvCxnSpPr>
            <a:cxnSpLocks/>
          </p:cNvCxnSpPr>
          <p:nvPr/>
        </p:nvCxnSpPr>
        <p:spPr>
          <a:xfrm flipV="1">
            <a:off x="3032815" y="429622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箭頭接點 64">
            <a:extLst>
              <a:ext uri="{FF2B5EF4-FFF2-40B4-BE49-F238E27FC236}">
                <a16:creationId xmlns:a16="http://schemas.microsoft.com/office/drawing/2014/main" id="{3D815DC0-BB63-272B-AA96-09D34C71DE3D}"/>
              </a:ext>
            </a:extLst>
          </p:cNvPr>
          <p:cNvCxnSpPr>
            <a:cxnSpLocks/>
          </p:cNvCxnSpPr>
          <p:nvPr/>
        </p:nvCxnSpPr>
        <p:spPr>
          <a:xfrm flipV="1">
            <a:off x="3613009" y="429622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70225065-1F78-FF9F-4C28-6FCED4B9E399}"/>
              </a:ext>
            </a:extLst>
          </p:cNvPr>
          <p:cNvCxnSpPr>
            <a:cxnSpLocks/>
          </p:cNvCxnSpPr>
          <p:nvPr/>
        </p:nvCxnSpPr>
        <p:spPr>
          <a:xfrm flipV="1">
            <a:off x="4193203" y="429622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箭頭接點 66">
            <a:extLst>
              <a:ext uri="{FF2B5EF4-FFF2-40B4-BE49-F238E27FC236}">
                <a16:creationId xmlns:a16="http://schemas.microsoft.com/office/drawing/2014/main" id="{955ACEB5-1C85-0E86-2524-AB0F52D9EA43}"/>
              </a:ext>
            </a:extLst>
          </p:cNvPr>
          <p:cNvCxnSpPr>
            <a:cxnSpLocks/>
          </p:cNvCxnSpPr>
          <p:nvPr/>
        </p:nvCxnSpPr>
        <p:spPr>
          <a:xfrm flipV="1">
            <a:off x="4773396" y="4296224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箭頭接點 67">
            <a:extLst>
              <a:ext uri="{FF2B5EF4-FFF2-40B4-BE49-F238E27FC236}">
                <a16:creationId xmlns:a16="http://schemas.microsoft.com/office/drawing/2014/main" id="{B31AE56F-4DF3-4AD7-786F-E2213B06A924}"/>
              </a:ext>
            </a:extLst>
          </p:cNvPr>
          <p:cNvCxnSpPr>
            <a:cxnSpLocks/>
          </p:cNvCxnSpPr>
          <p:nvPr/>
        </p:nvCxnSpPr>
        <p:spPr>
          <a:xfrm flipV="1">
            <a:off x="1292233" y="298859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圓角矩形 68">
            <a:extLst>
              <a:ext uri="{FF2B5EF4-FFF2-40B4-BE49-F238E27FC236}">
                <a16:creationId xmlns:a16="http://schemas.microsoft.com/office/drawing/2014/main" id="{0E92661B-C188-9EC9-B913-1F48F8DA8429}"/>
              </a:ext>
            </a:extLst>
          </p:cNvPr>
          <p:cNvSpPr/>
          <p:nvPr/>
        </p:nvSpPr>
        <p:spPr>
          <a:xfrm>
            <a:off x="1060305" y="256197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0" name="圓角矩形 69">
            <a:extLst>
              <a:ext uri="{FF2B5EF4-FFF2-40B4-BE49-F238E27FC236}">
                <a16:creationId xmlns:a16="http://schemas.microsoft.com/office/drawing/2014/main" id="{29AF26AF-3DC4-E24D-233C-C7A4FB5621EC}"/>
              </a:ext>
            </a:extLst>
          </p:cNvPr>
          <p:cNvSpPr/>
          <p:nvPr/>
        </p:nvSpPr>
        <p:spPr>
          <a:xfrm>
            <a:off x="1060305" y="5411584"/>
            <a:ext cx="448780" cy="3759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1" name="內容版面配置區 2">
            <a:extLst>
              <a:ext uri="{FF2B5EF4-FFF2-40B4-BE49-F238E27FC236}">
                <a16:creationId xmlns:a16="http://schemas.microsoft.com/office/drawing/2014/main" id="{0040D001-58C5-5A13-A865-799BECABAD6F}"/>
              </a:ext>
            </a:extLst>
          </p:cNvPr>
          <p:cNvSpPr txBox="1">
            <a:spLocks/>
          </p:cNvSpPr>
          <p:nvPr/>
        </p:nvSpPr>
        <p:spPr>
          <a:xfrm>
            <a:off x="1635682" y="5457165"/>
            <a:ext cx="3734811" cy="331176"/>
          </a:xfrm>
          <a:prstGeom prst="rect">
            <a:avLst/>
          </a:prstGeom>
        </p:spPr>
        <p:txBody>
          <a:bodyPr vert="horz" lIns="0" tIns="45720" rIns="0" bIns="45720" rtlCol="0" anchor="t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Clr>
                <a:schemeClr val="tx1"/>
              </a:buClr>
              <a:buNone/>
            </a:pPr>
            <a:r>
              <a:rPr lang="en-US" altLang="zh-TW" sz="1800" dirty="0">
                <a:ea typeface="新細明體" panose="02020500000000000000" pitchFamily="18" charset="-120"/>
                <a:cs typeface="+mn-lt"/>
              </a:rPr>
              <a:t>Self-attention </a:t>
            </a:r>
            <a:r>
              <a:rPr lang="zh-TW" altLang="en-US" sz="18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n-lt"/>
              </a:rPr>
              <a:t>不可及的範圍</a:t>
            </a:r>
            <a:endParaRPr lang="en-US" altLang="zh-TW" sz="1800" dirty="0">
              <a:latin typeface="Microsoft JhengHei" panose="020B0604030504040204" pitchFamily="34" charset="-120"/>
              <a:ea typeface="Microsoft JhengHei" panose="020B0604030504040204" pitchFamily="34" charset="-120"/>
              <a:cs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71E75FE5-D583-EC56-31A3-971EFDFD13C4}"/>
                  </a:ext>
                </a:extLst>
              </p:cNvPr>
              <p:cNvSpPr txBox="1"/>
              <p:nvPr/>
            </p:nvSpPr>
            <p:spPr>
              <a:xfrm>
                <a:off x="653143" y="2103135"/>
                <a:ext cx="12781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 </m:t>
                      </m:r>
                      <m:sSub>
                        <m:sSubPr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71E75FE5-D583-EC56-31A3-971EFDFD1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2103135"/>
                <a:ext cx="1278180" cy="369332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圓角矩形 72">
            <a:extLst>
              <a:ext uri="{FF2B5EF4-FFF2-40B4-BE49-F238E27FC236}">
                <a16:creationId xmlns:a16="http://schemas.microsoft.com/office/drawing/2014/main" id="{9CED9391-FE04-72A7-D6D4-53AB83C3BEEB}"/>
              </a:ext>
            </a:extLst>
          </p:cNvPr>
          <p:cNvSpPr/>
          <p:nvPr/>
        </p:nvSpPr>
        <p:spPr>
          <a:xfrm>
            <a:off x="1643218" y="460768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4" name="直線箭頭接點 73">
            <a:extLst>
              <a:ext uri="{FF2B5EF4-FFF2-40B4-BE49-F238E27FC236}">
                <a16:creationId xmlns:a16="http://schemas.microsoft.com/office/drawing/2014/main" id="{6F143B5D-ACE6-12E7-A6D9-787589415032}"/>
              </a:ext>
            </a:extLst>
          </p:cNvPr>
          <p:cNvCxnSpPr>
            <a:cxnSpLocks/>
          </p:cNvCxnSpPr>
          <p:nvPr/>
        </p:nvCxnSpPr>
        <p:spPr>
          <a:xfrm flipV="1">
            <a:off x="1863050" y="298859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圓角矩形 74">
            <a:extLst>
              <a:ext uri="{FF2B5EF4-FFF2-40B4-BE49-F238E27FC236}">
                <a16:creationId xmlns:a16="http://schemas.microsoft.com/office/drawing/2014/main" id="{14DE862D-D50D-A681-2164-B5ED8C85E464}"/>
              </a:ext>
            </a:extLst>
          </p:cNvPr>
          <p:cNvSpPr/>
          <p:nvPr/>
        </p:nvSpPr>
        <p:spPr>
          <a:xfrm>
            <a:off x="1644150" y="256197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DBD29828-76DF-C37D-2E67-B1AF885CF2EF}"/>
                  </a:ext>
                </a:extLst>
              </p:cNvPr>
              <p:cNvSpPr txBox="1"/>
              <p:nvPr/>
            </p:nvSpPr>
            <p:spPr>
              <a:xfrm>
                <a:off x="1654951" y="2103134"/>
                <a:ext cx="14728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DBD29828-76DF-C37D-2E67-B1AF885CF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4951" y="2103134"/>
                <a:ext cx="1472889" cy="369332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圓角矩形 76">
            <a:extLst>
              <a:ext uri="{FF2B5EF4-FFF2-40B4-BE49-F238E27FC236}">
                <a16:creationId xmlns:a16="http://schemas.microsoft.com/office/drawing/2014/main" id="{FF9E136E-A7C5-ADE1-0C73-456E9CDFE916}"/>
              </a:ext>
            </a:extLst>
          </p:cNvPr>
          <p:cNvSpPr/>
          <p:nvPr/>
        </p:nvSpPr>
        <p:spPr>
          <a:xfrm>
            <a:off x="2226135" y="460768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8" name="圓角矩形 77">
            <a:extLst>
              <a:ext uri="{FF2B5EF4-FFF2-40B4-BE49-F238E27FC236}">
                <a16:creationId xmlns:a16="http://schemas.microsoft.com/office/drawing/2014/main" id="{952DD999-E7EC-AD11-474F-B8C47BC90016}"/>
              </a:ext>
            </a:extLst>
          </p:cNvPr>
          <p:cNvSpPr/>
          <p:nvPr/>
        </p:nvSpPr>
        <p:spPr>
          <a:xfrm>
            <a:off x="2808425" y="4607683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9" name="圓角矩形 78">
            <a:extLst>
              <a:ext uri="{FF2B5EF4-FFF2-40B4-BE49-F238E27FC236}">
                <a16:creationId xmlns:a16="http://schemas.microsoft.com/office/drawing/2014/main" id="{B605CB7C-E6AE-0CAF-13C5-00670FDB2978}"/>
              </a:ext>
            </a:extLst>
          </p:cNvPr>
          <p:cNvSpPr/>
          <p:nvPr/>
        </p:nvSpPr>
        <p:spPr>
          <a:xfrm>
            <a:off x="3391963" y="4607682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0" name="圓角矩形 79">
            <a:extLst>
              <a:ext uri="{FF2B5EF4-FFF2-40B4-BE49-F238E27FC236}">
                <a16:creationId xmlns:a16="http://schemas.microsoft.com/office/drawing/2014/main" id="{25DDC4EA-9043-2978-C576-33ADFFE2D3E8}"/>
              </a:ext>
            </a:extLst>
          </p:cNvPr>
          <p:cNvSpPr/>
          <p:nvPr/>
        </p:nvSpPr>
        <p:spPr>
          <a:xfrm>
            <a:off x="3974880" y="4607681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1" name="圓角矩形 80">
            <a:extLst>
              <a:ext uri="{FF2B5EF4-FFF2-40B4-BE49-F238E27FC236}">
                <a16:creationId xmlns:a16="http://schemas.microsoft.com/office/drawing/2014/main" id="{98069929-4DEE-2C40-3A84-7E509EC69AE2}"/>
              </a:ext>
            </a:extLst>
          </p:cNvPr>
          <p:cNvSpPr/>
          <p:nvPr/>
        </p:nvSpPr>
        <p:spPr>
          <a:xfrm>
            <a:off x="4557797" y="4607680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2" name="圓角矩形 81">
            <a:extLst>
              <a:ext uri="{FF2B5EF4-FFF2-40B4-BE49-F238E27FC236}">
                <a16:creationId xmlns:a16="http://schemas.microsoft.com/office/drawing/2014/main" id="{A4246D34-2A8F-D0B3-6834-6545334F2639}"/>
              </a:ext>
            </a:extLst>
          </p:cNvPr>
          <p:cNvSpPr/>
          <p:nvPr/>
        </p:nvSpPr>
        <p:spPr>
          <a:xfrm>
            <a:off x="2224887" y="256197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3" name="圓角矩形 82">
            <a:extLst>
              <a:ext uri="{FF2B5EF4-FFF2-40B4-BE49-F238E27FC236}">
                <a16:creationId xmlns:a16="http://schemas.microsoft.com/office/drawing/2014/main" id="{22454C6F-BDE4-5EA8-63BA-32323A48E083}"/>
              </a:ext>
            </a:extLst>
          </p:cNvPr>
          <p:cNvSpPr/>
          <p:nvPr/>
        </p:nvSpPr>
        <p:spPr>
          <a:xfrm>
            <a:off x="2808425" y="256197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4" name="圓角矩形 83">
            <a:extLst>
              <a:ext uri="{FF2B5EF4-FFF2-40B4-BE49-F238E27FC236}">
                <a16:creationId xmlns:a16="http://schemas.microsoft.com/office/drawing/2014/main" id="{C454FCB8-917B-4EE3-9D38-FE0379C871F1}"/>
              </a:ext>
            </a:extLst>
          </p:cNvPr>
          <p:cNvSpPr/>
          <p:nvPr/>
        </p:nvSpPr>
        <p:spPr>
          <a:xfrm>
            <a:off x="3391342" y="256197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5" name="圓角矩形 84">
            <a:extLst>
              <a:ext uri="{FF2B5EF4-FFF2-40B4-BE49-F238E27FC236}">
                <a16:creationId xmlns:a16="http://schemas.microsoft.com/office/drawing/2014/main" id="{5CBF80E2-B535-E860-7610-68FE567E8B14}"/>
              </a:ext>
            </a:extLst>
          </p:cNvPr>
          <p:cNvSpPr/>
          <p:nvPr/>
        </p:nvSpPr>
        <p:spPr>
          <a:xfrm>
            <a:off x="3974259" y="256197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6" name="圓角矩形 85">
            <a:extLst>
              <a:ext uri="{FF2B5EF4-FFF2-40B4-BE49-F238E27FC236}">
                <a16:creationId xmlns:a16="http://schemas.microsoft.com/office/drawing/2014/main" id="{09F4531D-C74B-8FD2-1A18-05B0B52CEC4C}"/>
              </a:ext>
            </a:extLst>
          </p:cNvPr>
          <p:cNvSpPr/>
          <p:nvPr/>
        </p:nvSpPr>
        <p:spPr>
          <a:xfrm>
            <a:off x="4549006" y="2561974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87" name="直線箭頭接點 86">
            <a:extLst>
              <a:ext uri="{FF2B5EF4-FFF2-40B4-BE49-F238E27FC236}">
                <a16:creationId xmlns:a16="http://schemas.microsoft.com/office/drawing/2014/main" id="{16DDA635-18C5-E473-8AB5-387CA224E482}"/>
              </a:ext>
            </a:extLst>
          </p:cNvPr>
          <p:cNvCxnSpPr>
            <a:cxnSpLocks/>
          </p:cNvCxnSpPr>
          <p:nvPr/>
        </p:nvCxnSpPr>
        <p:spPr>
          <a:xfrm flipV="1">
            <a:off x="2452621" y="298859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箭頭接點 87">
            <a:extLst>
              <a:ext uri="{FF2B5EF4-FFF2-40B4-BE49-F238E27FC236}">
                <a16:creationId xmlns:a16="http://schemas.microsoft.com/office/drawing/2014/main" id="{82799154-4C2E-FC22-3319-D26D3CDF2D68}"/>
              </a:ext>
            </a:extLst>
          </p:cNvPr>
          <p:cNvCxnSpPr>
            <a:cxnSpLocks/>
          </p:cNvCxnSpPr>
          <p:nvPr/>
        </p:nvCxnSpPr>
        <p:spPr>
          <a:xfrm flipV="1">
            <a:off x="3032815" y="298859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箭頭接點 88">
            <a:extLst>
              <a:ext uri="{FF2B5EF4-FFF2-40B4-BE49-F238E27FC236}">
                <a16:creationId xmlns:a16="http://schemas.microsoft.com/office/drawing/2014/main" id="{2FA96EF0-C3F2-247C-225E-81049202E10D}"/>
              </a:ext>
            </a:extLst>
          </p:cNvPr>
          <p:cNvCxnSpPr>
            <a:cxnSpLocks/>
          </p:cNvCxnSpPr>
          <p:nvPr/>
        </p:nvCxnSpPr>
        <p:spPr>
          <a:xfrm flipV="1">
            <a:off x="3613009" y="298859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箭頭接點 89">
            <a:extLst>
              <a:ext uri="{FF2B5EF4-FFF2-40B4-BE49-F238E27FC236}">
                <a16:creationId xmlns:a16="http://schemas.microsoft.com/office/drawing/2014/main" id="{8EE1F8A5-8E8F-28C6-68B7-BFFF8A8AF15F}"/>
              </a:ext>
            </a:extLst>
          </p:cNvPr>
          <p:cNvCxnSpPr>
            <a:cxnSpLocks/>
          </p:cNvCxnSpPr>
          <p:nvPr/>
        </p:nvCxnSpPr>
        <p:spPr>
          <a:xfrm flipV="1">
            <a:off x="4193203" y="298859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箭頭接點 90">
            <a:extLst>
              <a:ext uri="{FF2B5EF4-FFF2-40B4-BE49-F238E27FC236}">
                <a16:creationId xmlns:a16="http://schemas.microsoft.com/office/drawing/2014/main" id="{1E11C61A-444F-4842-1CEB-2B1EE08075B4}"/>
              </a:ext>
            </a:extLst>
          </p:cNvPr>
          <p:cNvCxnSpPr>
            <a:cxnSpLocks/>
          </p:cNvCxnSpPr>
          <p:nvPr/>
        </p:nvCxnSpPr>
        <p:spPr>
          <a:xfrm flipV="1">
            <a:off x="4773396" y="2988597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25954B22-0429-C987-DAD1-A834876404E3}"/>
                  </a:ext>
                </a:extLst>
              </p:cNvPr>
              <p:cNvSpPr txBox="1"/>
              <p:nvPr/>
            </p:nvSpPr>
            <p:spPr>
              <a:xfrm>
                <a:off x="4112205" y="2103134"/>
                <a:ext cx="14728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TW" sz="18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25954B22-0429-C987-DAD1-A83487640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2205" y="2103134"/>
                <a:ext cx="1472889" cy="369332"/>
              </a:xfrm>
              <a:prstGeom prst="rect">
                <a:avLst/>
              </a:prstGeom>
              <a:blipFill>
                <a:blip r:embed="rId6"/>
                <a:stretch>
                  <a:fillRect r="-99138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08102A85-73E7-79C7-0BC6-92C2064B442C}"/>
                  </a:ext>
                </a:extLst>
              </p:cNvPr>
              <p:cNvSpPr txBox="1"/>
              <p:nvPr/>
            </p:nvSpPr>
            <p:spPr>
              <a:xfrm>
                <a:off x="3173768" y="2114132"/>
                <a:ext cx="8018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⋅⋅⋅</m:t>
                      </m:r>
                    </m:oMath>
                  </m:oMathPara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08102A85-73E7-79C7-0BC6-92C2064B4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768" y="2114132"/>
                <a:ext cx="80185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內容版面配置區 2">
            <a:extLst>
              <a:ext uri="{FF2B5EF4-FFF2-40B4-BE49-F238E27FC236}">
                <a16:creationId xmlns:a16="http://schemas.microsoft.com/office/drawing/2014/main" id="{40440265-CFFB-E8B4-A5D9-3D7A3B779179}"/>
              </a:ext>
            </a:extLst>
          </p:cNvPr>
          <p:cNvSpPr txBox="1">
            <a:spLocks/>
          </p:cNvSpPr>
          <p:nvPr/>
        </p:nvSpPr>
        <p:spPr>
          <a:xfrm>
            <a:off x="9974323" y="3974650"/>
            <a:ext cx="1600558" cy="84947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en-US" altLang="zh-TW" sz="2400" dirty="0">
                <a:ea typeface="Microsoft JhengHei" panose="020B0604030504040204" pitchFamily="34" charset="-120"/>
                <a:cs typeface="+mn-lt"/>
              </a:rPr>
              <a:t>Language Modeling</a:t>
            </a:r>
            <a:endParaRPr kumimoji="1" lang="zh-TW" altLang="en-US" sz="2400" dirty="0"/>
          </a:p>
        </p:txBody>
      </p:sp>
      <p:cxnSp>
        <p:nvCxnSpPr>
          <p:cNvPr id="95" name="直線箭頭接點 94">
            <a:extLst>
              <a:ext uri="{FF2B5EF4-FFF2-40B4-BE49-F238E27FC236}">
                <a16:creationId xmlns:a16="http://schemas.microsoft.com/office/drawing/2014/main" id="{5720D097-1B5B-639C-CB67-AE896FBF1E44}"/>
              </a:ext>
            </a:extLst>
          </p:cNvPr>
          <p:cNvCxnSpPr>
            <a:cxnSpLocks/>
          </p:cNvCxnSpPr>
          <p:nvPr/>
        </p:nvCxnSpPr>
        <p:spPr>
          <a:xfrm flipH="1">
            <a:off x="9449937" y="4399390"/>
            <a:ext cx="524386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內容版面配置區 2">
            <a:extLst>
              <a:ext uri="{FF2B5EF4-FFF2-40B4-BE49-F238E27FC236}">
                <a16:creationId xmlns:a16="http://schemas.microsoft.com/office/drawing/2014/main" id="{3997A10C-8705-FBE2-829C-2D256E3636C8}"/>
              </a:ext>
            </a:extLst>
          </p:cNvPr>
          <p:cNvSpPr txBox="1">
            <a:spLocks/>
          </p:cNvSpPr>
          <p:nvPr/>
        </p:nvSpPr>
        <p:spPr>
          <a:xfrm>
            <a:off x="5577978" y="2970387"/>
            <a:ext cx="1600558" cy="84947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zh-TW" altLang="en-US" sz="2400" b="1" dirty="0">
                <a:ea typeface="Microsoft JhengHei" panose="020B0604030504040204" pitchFamily="34" charset="-120"/>
                <a:cs typeface="+mn-lt"/>
              </a:rPr>
              <a:t>目標函數：</a:t>
            </a:r>
            <a:endParaRPr kumimoji="1"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4355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73" grpId="0" animBg="1"/>
      <p:bldP spid="75" grpId="0" animBg="1"/>
      <p:bldP spid="76" grpId="0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92" grpId="0"/>
      <p:bldP spid="93" grpId="0"/>
      <p:bldP spid="94" grpId="0"/>
      <p:bldP spid="9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820EFC-5444-6AB2-4FC5-873C0611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[Recap] </a:t>
            </a:r>
            <a:r>
              <a:rPr kumimoji="1" lang="en-US" altLang="zh-TW" sz="4000" dirty="0">
                <a:ea typeface="Microsoft JhengHei" panose="020B0604030504040204" pitchFamily="34" charset="-120"/>
              </a:rPr>
              <a:t>Language Modeling</a:t>
            </a:r>
            <a:r>
              <a:rPr kumimoji="1" lang="zh-TW" altLang="en-US" sz="40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4000" dirty="0">
                <a:ea typeface="Microsoft JhengHei" panose="020B0604030504040204" pitchFamily="34" charset="-120"/>
              </a:rPr>
              <a:t>and Cross-entropy</a:t>
            </a:r>
            <a:endParaRPr kumimoji="1" lang="zh-TW" altLang="en-US" sz="4000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DAF791-CFF8-2020-C906-318AAF7F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4E96B12-CEDD-905F-7E73-187B8CC22592}"/>
                  </a:ext>
                </a:extLst>
              </p:cNvPr>
              <p:cNvSpPr txBox="1"/>
              <p:nvPr/>
            </p:nvSpPr>
            <p:spPr>
              <a:xfrm>
                <a:off x="739219" y="2496318"/>
                <a:ext cx="4713427" cy="1268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800" b="0" i="0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a:rPr lang="en-US" altLang="zh-TW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⁡(</m:t>
                      </m:r>
                      <m:nary>
                        <m:naryPr>
                          <m:chr m:val="∏"/>
                          <m:ctrlPr>
                            <a:rPr lang="zh-TW" altLang="zh-TW" sz="2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TW" sz="2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zh-TW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2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TW" sz="2800" b="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TW" altLang="zh-TW" sz="2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4E96B12-CEDD-905F-7E73-187B8CC22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9" y="2496318"/>
                <a:ext cx="4713427" cy="1268552"/>
              </a:xfrm>
              <a:prstGeom prst="rect">
                <a:avLst/>
              </a:prstGeom>
              <a:blipFill>
                <a:blip r:embed="rId3"/>
                <a:stretch>
                  <a:fillRect l="-12366" t="-106931" r="-269" b="-162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線箭頭接點 94">
            <a:extLst>
              <a:ext uri="{FF2B5EF4-FFF2-40B4-BE49-F238E27FC236}">
                <a16:creationId xmlns:a16="http://schemas.microsoft.com/office/drawing/2014/main" id="{5720D097-1B5B-639C-CB67-AE896FBF1E44}"/>
              </a:ext>
            </a:extLst>
          </p:cNvPr>
          <p:cNvCxnSpPr>
            <a:cxnSpLocks/>
          </p:cNvCxnSpPr>
          <p:nvPr/>
        </p:nvCxnSpPr>
        <p:spPr>
          <a:xfrm flipH="1">
            <a:off x="5445026" y="4616328"/>
            <a:ext cx="524386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內容版面配置區 2">
            <a:extLst>
              <a:ext uri="{FF2B5EF4-FFF2-40B4-BE49-F238E27FC236}">
                <a16:creationId xmlns:a16="http://schemas.microsoft.com/office/drawing/2014/main" id="{3997A10C-8705-FBE2-829C-2D256E3636C8}"/>
              </a:ext>
            </a:extLst>
          </p:cNvPr>
          <p:cNvSpPr txBox="1">
            <a:spLocks/>
          </p:cNvSpPr>
          <p:nvPr/>
        </p:nvSpPr>
        <p:spPr>
          <a:xfrm>
            <a:off x="739217" y="1646839"/>
            <a:ext cx="10251363" cy="84947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zh-TW" altLang="en-US" sz="2400" dirty="0">
                <a:ea typeface="Microsoft JhengHei" panose="020B0604030504040204" pitchFamily="34" charset="-120"/>
                <a:cs typeface="+mn-lt"/>
              </a:rPr>
              <a:t>整句機率是很多條件機率</a:t>
            </a:r>
            <a:r>
              <a:rPr lang="zh-TW" altLang="en-US" sz="2400" dirty="0"/>
              <a:t>一路相乘 </a:t>
            </a:r>
            <a:r>
              <a:rPr lang="en-US" altLang="zh-TW" sz="2400" dirty="0"/>
              <a:t>(</a:t>
            </a:r>
            <a:r>
              <a:rPr lang="zh-TW" altLang="en-US" sz="2400" dirty="0"/>
              <a:t>隨著</a:t>
            </a:r>
            <a:r>
              <a:rPr lang="en-US" altLang="zh-TW" sz="2400" dirty="0"/>
              <a:t>t</a:t>
            </a:r>
            <a:r>
              <a:rPr lang="zh-TW" altLang="en-US" sz="2400" dirty="0"/>
              <a:t>增加結果接近 </a:t>
            </a:r>
            <a:r>
              <a:rPr lang="en-US" altLang="zh-TW" sz="2400" dirty="0"/>
              <a:t>0)</a:t>
            </a:r>
            <a:r>
              <a:rPr kumimoji="1" lang="zh-TW" altLang="en-US" sz="2400" dirty="0">
                <a:ea typeface="Microsoft JhengHei" panose="020B0604030504040204" pitchFamily="34" charset="-120"/>
                <a:cs typeface="+mn-lt"/>
              </a:rPr>
              <a:t>，因此</a:t>
            </a:r>
            <a:r>
              <a:rPr kumimoji="1" lang="zh-TW" altLang="en-US" sz="2400" b="1" dirty="0">
                <a:ea typeface="Microsoft JhengHei" panose="020B0604030504040204" pitchFamily="34" charset="-120"/>
                <a:cs typeface="+mn-lt"/>
              </a:rPr>
              <a:t>通常會取</a:t>
            </a:r>
            <a:r>
              <a:rPr kumimoji="1" lang="en-US" altLang="zh-TW" sz="2400" b="1" dirty="0">
                <a:ea typeface="Microsoft JhengHei" panose="020B0604030504040204" pitchFamily="34" charset="-120"/>
                <a:cs typeface="+mn-lt"/>
              </a:rPr>
              <a:t>log</a:t>
            </a:r>
            <a:r>
              <a:rPr kumimoji="1" lang="zh-TW" altLang="en-US" sz="2400" dirty="0">
                <a:ea typeface="Microsoft JhengHei" panose="020B0604030504040204" pitchFamily="34" charset="-120"/>
                <a:cs typeface="+mn-lt"/>
              </a:rPr>
              <a:t>：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1F93492-D1CE-6B84-6ECE-31C4695CF094}"/>
                  </a:ext>
                </a:extLst>
              </p:cNvPr>
              <p:cNvSpPr txBox="1"/>
              <p:nvPr/>
            </p:nvSpPr>
            <p:spPr>
              <a:xfrm>
                <a:off x="739219" y="3949021"/>
                <a:ext cx="4713427" cy="1262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TW" sz="280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TW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zh-TW" sz="28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1F93492-D1CE-6B84-6ECE-31C4695CF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9" y="3949021"/>
                <a:ext cx="4713427" cy="1262140"/>
              </a:xfrm>
              <a:prstGeom prst="rect">
                <a:avLst/>
              </a:prstGeom>
              <a:blipFill>
                <a:blip r:embed="rId4"/>
                <a:stretch>
                  <a:fillRect l="-17742" t="-108000" r="-269" b="-16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E1423BFA-DAA7-5DF8-183E-651D744A69A9}"/>
              </a:ext>
            </a:extLst>
          </p:cNvPr>
          <p:cNvSpPr txBox="1">
            <a:spLocks/>
          </p:cNvSpPr>
          <p:nvPr/>
        </p:nvSpPr>
        <p:spPr>
          <a:xfrm>
            <a:off x="6096000" y="5037253"/>
            <a:ext cx="4894580" cy="962331"/>
          </a:xfrm>
          <a:prstGeom prst="rect">
            <a:avLst/>
          </a:prstGeom>
        </p:spPr>
        <p:txBody>
          <a:bodyPr vert="horz" lIns="0" tIns="45720" rIns="0" bIns="45720" rtlCol="0" anchor="ctr">
            <a:normAutofit fontScale="850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zh-TW" altLang="en-US" sz="2400" b="1" dirty="0">
                <a:ea typeface="Microsoft JhengHei" panose="020B0604030504040204" pitchFamily="34" charset="-120"/>
                <a:cs typeface="+mn-lt"/>
              </a:rPr>
              <a:t>加上</a:t>
            </a:r>
            <a:r>
              <a:rPr kumimoji="1" lang="zh-TW" altLang="en-US" sz="2400" b="1" u="sng" dirty="0">
                <a:ea typeface="Microsoft JhengHei" panose="020B0604030504040204" pitchFamily="34" charset="-120"/>
                <a:cs typeface="+mn-lt"/>
              </a:rPr>
              <a:t>負號</a:t>
            </a:r>
            <a:r>
              <a:rPr kumimoji="1" lang="zh-TW" altLang="en-US" sz="2400" b="1" dirty="0">
                <a:ea typeface="Microsoft JhengHei" panose="020B0604030504040204" pitchFamily="34" charset="-120"/>
                <a:cs typeface="+mn-lt"/>
              </a:rPr>
              <a:t>之後就可以計算</a:t>
            </a:r>
            <a:r>
              <a:rPr kumimoji="1" lang="en-US" altLang="zh-TW" sz="2400" b="1" dirty="0">
                <a:ea typeface="Microsoft JhengHei" panose="020B0604030504040204" pitchFamily="34" charset="-120"/>
                <a:cs typeface="+mn-lt"/>
              </a:rPr>
              <a:t> Cross-entropy</a:t>
            </a:r>
          </a:p>
          <a:p>
            <a:pPr marL="0" indent="0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en-US" altLang="zh-TW" sz="2400" b="1" dirty="0"/>
              <a:t>(loss </a:t>
            </a:r>
            <a:r>
              <a:rPr kumimoji="1" lang="zh-TW" altLang="en-US" sz="2400" b="1" dirty="0"/>
              <a:t>越小越好</a:t>
            </a:r>
            <a:r>
              <a:rPr kumimoji="1" lang="en-US" altLang="zh-TW" sz="2400" b="1" dirty="0"/>
              <a:t>)</a:t>
            </a:r>
            <a:endParaRPr kumimoji="1" lang="zh-TW" altLang="en-US" sz="2400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06F56E-FEB4-6F49-7B21-31D039014B3D}"/>
              </a:ext>
            </a:extLst>
          </p:cNvPr>
          <p:cNvSpPr txBox="1">
            <a:spLocks/>
          </p:cNvSpPr>
          <p:nvPr/>
        </p:nvSpPr>
        <p:spPr>
          <a:xfrm>
            <a:off x="6112328" y="4228912"/>
            <a:ext cx="4894580" cy="84947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Clr>
                <a:schemeClr val="tx1"/>
              </a:buClr>
              <a:buNone/>
            </a:pP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  <a:cs typeface="+mn-lt"/>
              </a:rPr>
              <a:t>越大越好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63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8" grpId="0"/>
      <p:bldP spid="7" grpId="0"/>
      <p:bldP spid="9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74ED7-DD45-081D-F5A9-B5C10840A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305C0D-3FB8-5C98-EF2F-548CC97CD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TW" altLang="en-US" dirty="0">
                <a:ea typeface="新細明體"/>
                <a:cs typeface="Calibri Light"/>
              </a:rPr>
              <a:t>Perplexity </a:t>
            </a:r>
            <a:r>
              <a:rPr lang="en-US" altLang="zh-TW" dirty="0">
                <a:ea typeface="新細明體"/>
                <a:cs typeface="Calibri Light"/>
              </a:rPr>
              <a:t>(PP)</a:t>
            </a:r>
            <a:endParaRPr lang="zh-TW" sz="2400" dirty="0">
              <a:ea typeface="新細明體"/>
              <a:cs typeface="Times New Roman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D18ECFB-D5D2-5882-4782-4F7281A9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8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A8E0318-80EA-3794-88C4-FFBD3EC6CB39}"/>
                  </a:ext>
                </a:extLst>
              </p:cNvPr>
              <p:cNvSpPr txBox="1"/>
              <p:nvPr/>
            </p:nvSpPr>
            <p:spPr>
              <a:xfrm>
                <a:off x="653143" y="1706968"/>
                <a:ext cx="10149744" cy="578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/>
                  <a:t>Perplexity </a:t>
                </a:r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定義</a:t>
                </a:r>
                <a:r>
                  <a:rPr kumimoji="1" lang="zh-TW" altLang="en-US" sz="2400" dirty="0"/>
                  <a:t>：</a:t>
                </a:r>
                <a:r>
                  <a:rPr kumimoji="1" lang="en-US" altLang="zh-TW" sz="2400" dirty="0"/>
                  <a:t>entropy </a:t>
                </a:r>
                <a:r>
                  <a:rPr kumimoji="1" lang="zh-TW" altLang="en-US" sz="2400" dirty="0"/>
                  <a:t>的指數形式</a:t>
                </a:r>
                <a:r>
                  <a:rPr kumimoji="1" lang="en-US" altLang="zh-TW" sz="2400" dirty="0"/>
                  <a:t>  </a:t>
                </a:r>
                <a14:m>
                  <m:oMath xmlns:m="http://schemas.openxmlformats.org/officeDocument/2006/math">
                    <m:r>
                      <a:rPr lang="en-US" altLang="zh-TW" sz="180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𝑃𝑃</m:t>
                    </m:r>
                    <m:d>
                      <m:dPr>
                        <m:ctrlPr>
                          <a:rPr lang="zh-TW" altLang="zh-TW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  <m:r>
                      <a:rPr lang="en-US" altLang="zh-TW" sz="18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TW" altLang="zh-TW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𝐻</m:t>
                        </m:r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TW" sz="18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zh-TW" altLang="zh-TW" sz="18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A8E0318-80EA-3794-88C4-FFBD3EC6C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706968"/>
                <a:ext cx="10149744" cy="578363"/>
              </a:xfrm>
              <a:prstGeom prst="rect">
                <a:avLst/>
              </a:prstGeom>
              <a:blipFill>
                <a:blip r:embed="rId2"/>
                <a:stretch>
                  <a:fillRect l="-750" b="-239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32079D53-1F44-8BE6-1843-F49BEB5220EC}"/>
              </a:ext>
            </a:extLst>
          </p:cNvPr>
          <p:cNvSpPr txBox="1"/>
          <p:nvPr/>
        </p:nvSpPr>
        <p:spPr>
          <a:xfrm>
            <a:off x="653143" y="2318968"/>
            <a:ext cx="10149744" cy="1686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直觀理解：</a:t>
            </a:r>
            <a:r>
              <a:rPr kumimoji="1" lang="en-US" altLang="zh-TW" sz="2400" dirty="0"/>
              <a:t>language modeling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放在分母的幾何平均數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Why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放在分母？主義是定義問題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-&gt;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把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entropy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從「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bits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」這個抽象單位變成「有效選項數」這個直覺單位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89E18AF1-F051-636B-ED6C-D9B1ABC00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31" y="4277198"/>
            <a:ext cx="5102869" cy="20903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EB0B33A0-3495-F78E-9CF1-0B302C04A2BE}"/>
                  </a:ext>
                </a:extLst>
              </p:cNvPr>
              <p:cNvSpPr txBox="1"/>
              <p:nvPr/>
            </p:nvSpPr>
            <p:spPr>
              <a:xfrm>
                <a:off x="6782888" y="4916067"/>
                <a:ext cx="3627120" cy="812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limLoc m:val="subSup"/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zh-TW" alt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f>
                                    <m:fPr>
                                      <m:ctrlPr>
                                        <a:rPr lang="zh-TW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TW" altLang="en-US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zh-TW" alt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zh-TW" alt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zh-TW" altLang="en-US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TW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zh-TW" altLang="en-US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,…,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zh-TW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zh-TW" altLang="en-US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EB0B33A0-3495-F78E-9CF1-0B302C04A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888" y="4916067"/>
                <a:ext cx="3627120" cy="812595"/>
              </a:xfrm>
              <a:prstGeom prst="rect">
                <a:avLst/>
              </a:prstGeom>
              <a:blipFill>
                <a:blip r:embed="rId4"/>
                <a:stretch>
                  <a:fillRect l="-11888" t="-95455" b="-168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FD0D4EB0-30FD-D66C-81EF-329170893941}"/>
              </a:ext>
            </a:extLst>
          </p:cNvPr>
          <p:cNvSpPr txBox="1"/>
          <p:nvPr/>
        </p:nvSpPr>
        <p:spPr>
          <a:xfrm>
            <a:off x="6941819" y="4430967"/>
            <a:ext cx="1846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Perplexity:</a:t>
            </a:r>
            <a:endParaRPr kumimoji="1" lang="zh-TW" altLang="en-US" sz="24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CA356E0-BB49-9B90-091B-FBB69476ED68}"/>
              </a:ext>
            </a:extLst>
          </p:cNvPr>
          <p:cNvSpPr txBox="1"/>
          <p:nvPr/>
        </p:nvSpPr>
        <p:spPr>
          <a:xfrm>
            <a:off x="7170820" y="944672"/>
            <a:ext cx="46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zh.wikipedia.org</a:t>
            </a:r>
            <a:r>
              <a:rPr kumimoji="1" lang="en" altLang="zh-TW" dirty="0"/>
              <a:t>/</a:t>
            </a:r>
            <a:r>
              <a:rPr kumimoji="1" lang="en" altLang="zh-TW" dirty="0" err="1"/>
              <a:t>zh-tw</a:t>
            </a:r>
            <a:r>
              <a:rPr kumimoji="1" lang="en" altLang="zh-TW" dirty="0"/>
              <a:t>/</a:t>
            </a:r>
            <a:r>
              <a:rPr kumimoji="1" lang="zh-TW" altLang="en-US" dirty="0"/>
              <a:t>幾何平均數</a:t>
            </a:r>
          </a:p>
        </p:txBody>
      </p:sp>
    </p:spTree>
    <p:extLst>
      <p:ext uri="{BB962C8B-B14F-4D97-AF65-F5344CB8AC3E}">
        <p14:creationId xmlns:p14="http://schemas.microsoft.com/office/powerpoint/2010/main" val="333841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B689E-0E8A-8FA6-4E80-47F71767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Perplexity </a:t>
            </a:r>
            <a:r>
              <a:rPr kumimoji="1" lang="zh-TW" altLang="en-US" dirty="0"/>
              <a:t>簡單推導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FB435C-3DFC-A3D0-D840-4E945B0D2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A58CDD8-3E77-8E9A-8983-33F8927B9786}"/>
                  </a:ext>
                </a:extLst>
              </p:cNvPr>
              <p:cNvSpPr txBox="1"/>
              <p:nvPr/>
            </p:nvSpPr>
            <p:spPr>
              <a:xfrm>
                <a:off x="653144" y="2033957"/>
                <a:ext cx="60976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A58CDD8-3E77-8E9A-8983-33F8927B9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4" y="2033957"/>
                <a:ext cx="6097604" cy="461665"/>
              </a:xfrm>
              <a:prstGeom prst="rect">
                <a:avLst/>
              </a:prstGeom>
              <a:blipFill>
                <a:blip r:embed="rId2"/>
                <a:stretch>
                  <a:fillRect l="-208" b="-108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E6DD4D4-8247-DCED-C3C2-81B3AD3C12FE}"/>
                  </a:ext>
                </a:extLst>
              </p:cNvPr>
              <p:cNvSpPr txBox="1"/>
              <p:nvPr/>
            </p:nvSpPr>
            <p:spPr>
              <a:xfrm>
                <a:off x="653143" y="2876794"/>
                <a:ext cx="8731489" cy="1100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TW" altLang="en-US" sz="2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&lt;</m:t>
                                      </m:r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TW" altLang="en-US" sz="2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fName>
                                <m:e>
                                  <m:nary>
                                    <m:naryPr>
                                      <m:chr m:val="∏"/>
                                      <m:limLoc m:val="subSup"/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zh-TW" altLang="en-US" sz="2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&lt;</m:t>
                                              </m:r>
                                              <m:r>
                                                <a:rPr lang="zh-TW" alt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func>
                            </m:e>
                          </m:func>
                        </m:e>
                      </m:nary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E6DD4D4-8247-DCED-C3C2-81B3AD3C1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2876794"/>
                <a:ext cx="8731489" cy="1100494"/>
              </a:xfrm>
              <a:prstGeom prst="rect">
                <a:avLst/>
              </a:prstGeom>
              <a:blipFill>
                <a:blip r:embed="rId3"/>
                <a:stretch>
                  <a:fillRect l="-145" t="-108046" b="-1643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19EA111-C1EF-FE3E-63A3-0FC7A55042A9}"/>
                  </a:ext>
                </a:extLst>
              </p:cNvPr>
              <p:cNvSpPr txBox="1"/>
              <p:nvPr/>
            </p:nvSpPr>
            <p:spPr>
              <a:xfrm>
                <a:off x="653143" y="4358460"/>
                <a:ext cx="11705695" cy="10216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𝑃𝑃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sup>
                      </m:sSup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func>
                            <m:func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nary>
                                <m:naryPr>
                                  <m:chr m:val="∏"/>
                                  <m:limLoc m:val="subSup"/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zh-TW" altLang="en-US" sz="2400" i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&lt;</m:t>
                                          </m:r>
                                          <m: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func>
                        </m:sup>
                      </m:sSup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sSup>
                            <m:sSup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TW" altLang="en-US" sz="2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fName>
                                <m:e>
                                  <m:nary>
                                    <m:naryPr>
                                      <m:chr m:val="∏"/>
                                      <m:limLoc m:val="subSup"/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zh-TW" altLang="en-US" sz="2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zh-TW" alt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sz="2400" i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&lt;</m:t>
                                              </m:r>
                                              <m:r>
                                                <a:rPr lang="zh-TW" altLang="en-US" sz="24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</m:func>
                            </m:e>
                            <m:sup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sz="24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sup>
                          </m:sSup>
                        </m:sup>
                      </m:sSup>
                      <m:r>
                        <a:rPr lang="zh-TW" alt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∏"/>
                              <m:limLoc m:val="subSup"/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TW" altLang="en-US" sz="2400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&lt;</m:t>
                                      </m:r>
                                      <m:r>
                                        <a:rPr lang="zh-TW" alt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  <m:sup>
                          <m:r>
                            <a:rPr lang="zh-TW" altLang="en-US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24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19EA111-C1EF-FE3E-63A3-0FC7A5504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4358460"/>
                <a:ext cx="11705695" cy="1021626"/>
              </a:xfrm>
              <a:prstGeom prst="rect">
                <a:avLst/>
              </a:prstGeom>
              <a:blipFill>
                <a:blip r:embed="rId4"/>
                <a:stretch>
                  <a:fillRect l="-108" t="-109877" b="-18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7985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CBD30-87EF-88A0-21EF-3DCAD3CC3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Perplexity</a:t>
            </a:r>
            <a:r>
              <a:rPr kumimoji="1" lang="zh-TW" altLang="en-US" dirty="0"/>
              <a:t> </a:t>
            </a:r>
            <a:r>
              <a:rPr kumimoji="1" lang="en-US" altLang="zh-TW" dirty="0"/>
              <a:t>and geometric mean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0D508EC-AA40-134E-E799-A305851B57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zh-TW" altLang="en-US" sz="2400" dirty="0">
                    <a:ea typeface="Microsoft JhengHei" panose="020B0604030504040204" pitchFamily="34" charset="-120"/>
                  </a:rPr>
                  <a:t>以生成</a:t>
                </a:r>
                <a:r>
                  <a:rPr kumimoji="1" lang="en-US" altLang="zh-TW" sz="2400" dirty="0">
                    <a:ea typeface="Microsoft JhengHei" panose="020B0604030504040204" pitchFamily="34" charset="-120"/>
                  </a:rPr>
                  <a:t>10</a:t>
                </a:r>
                <a:r>
                  <a:rPr kumimoji="1" lang="zh-TW" altLang="en-US" sz="2400" dirty="0">
                    <a:ea typeface="Microsoft JhengHei" panose="020B0604030504040204" pitchFamily="34" charset="-120"/>
                  </a:rPr>
                  <a:t>個</a:t>
                </a:r>
                <a:r>
                  <a:rPr kumimoji="1" lang="en-US" altLang="zh-TW" sz="2400" dirty="0">
                    <a:ea typeface="Microsoft JhengHei" panose="020B0604030504040204" pitchFamily="34" charset="-120"/>
                  </a:rPr>
                  <a:t>tokens</a:t>
                </a:r>
                <a:r>
                  <a:rPr kumimoji="1" lang="zh-TW" altLang="en-US" sz="2400" dirty="0">
                    <a:ea typeface="Microsoft JhengHei" panose="020B0604030504040204" pitchFamily="34" charset="-120"/>
                  </a:rPr>
                  <a:t>為例 </a:t>
                </a:r>
                <a:r>
                  <a:rPr kumimoji="1" lang="en-US" altLang="zh-TW" sz="2400" dirty="0">
                    <a:ea typeface="Microsoft JhengHei" panose="020B0604030504040204" pitchFamily="34" charset="-120"/>
                  </a:rPr>
                  <a:t>(</a:t>
                </a:r>
                <a:r>
                  <a:rPr kumimoji="1" lang="zh-TW" altLang="en-US" sz="2400" dirty="0">
                    <a:ea typeface="Microsoft JhengHei" panose="020B0604030504040204" pitchFamily="34" charset="-120"/>
                  </a:rPr>
                  <a:t>前</a:t>
                </a:r>
                <a:r>
                  <a:rPr kumimoji="1" lang="en-US" altLang="zh-TW" sz="2400" dirty="0">
                    <a:ea typeface="Microsoft JhengHei" panose="020B0604030504040204" pitchFamily="34" charset="-120"/>
                  </a:rPr>
                  <a:t>9</a:t>
                </a:r>
                <a:r>
                  <a:rPr kumimoji="1" lang="zh-TW" altLang="en-US" sz="2400" dirty="0">
                    <a:ea typeface="Microsoft JhengHei" panose="020B0604030504040204" pitchFamily="34" charset="-120"/>
                  </a:rPr>
                  <a:t>個機率值都是</a:t>
                </a:r>
                <a:r>
                  <a:rPr kumimoji="1" lang="en-US" altLang="zh-TW" sz="2400" dirty="0">
                    <a:ea typeface="Microsoft JhengHei" panose="020B0604030504040204" pitchFamily="34" charset="-120"/>
                  </a:rPr>
                  <a:t>0.9</a:t>
                </a:r>
                <a:r>
                  <a:rPr kumimoji="1" lang="zh-TW" altLang="en-US" sz="2400" dirty="0">
                    <a:ea typeface="Microsoft JhengHei" panose="020B0604030504040204" pitchFamily="34" charset="-120"/>
                  </a:rPr>
                  <a:t>，最後一個機率值</a:t>
                </a:r>
                <a:r>
                  <a:rPr kumimoji="1" lang="en-US" altLang="zh-TW" sz="2400" dirty="0">
                    <a:ea typeface="Microsoft JhengHei" panose="020B0604030504040204" pitchFamily="34" charset="-120"/>
                  </a:rPr>
                  <a:t>0.1):</a:t>
                </a:r>
              </a:p>
              <a:p>
                <a:r>
                  <a:rPr kumimoji="1" lang="zh-TW" altLang="en-US" sz="2400" dirty="0">
                    <a:ea typeface="Microsoft JhengHei" panose="020B0604030504040204" pitchFamily="34" charset="-120"/>
                  </a:rPr>
                  <a:t>算數平均數：</a:t>
                </a:r>
                <a:r>
                  <a:rPr lang="en-US" altLang="zh-TW" sz="1800" kern="100" dirty="0">
                    <a:effectLst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(0.9∗9+0.0001)/10 = 0.81001</m:t>
                    </m:r>
                  </m:oMath>
                </a14:m>
                <a:endParaRPr lang="zh-TW" altLang="zh-TW" sz="2400" kern="100" dirty="0">
                  <a:effectLst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sz="2400" kern="100" dirty="0">
                    <a:effectLst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幾何平均數：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zh-TW" altLang="zh-TW" sz="24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10</m:t>
                        </m:r>
                      </m:deg>
                      <m:e>
                        <m:sSup>
                          <m:sSupPr>
                            <m:ctrlPr>
                              <a:rPr lang="zh-TW" altLang="zh-TW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0.9</m:t>
                            </m:r>
                          </m:e>
                          <m:sup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9</m:t>
                            </m:r>
                          </m:sup>
                        </m:sSup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∗0.</m:t>
                        </m:r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000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rad>
                    <m:r>
                      <a:rPr lang="en-US" altLang="zh-TW" sz="24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=0.3621</m:t>
                    </m:r>
                  </m:oMath>
                </a14:m>
                <a:endParaRPr kumimoji="1" lang="en-US" altLang="zh-TW" sz="2400" dirty="0"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0D508EC-AA40-134E-E799-A305851B57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2" t="-22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76E5F0-8B8B-EB59-FE1C-B965CC94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362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338BD-8F2C-968D-B793-ED31E08A4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601B20-DE0B-03BA-3F73-F0FD709B2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Perplexity</a:t>
            </a:r>
            <a:r>
              <a:rPr kumimoji="1" lang="zh-TW" altLang="en-US" dirty="0"/>
              <a:t> 的另外一種觀察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53D7241-1B26-FA82-285D-A18D168ADB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zh-TW" altLang="en-US" sz="2400" dirty="0">
                    <a:ea typeface="Microsoft JhengHei" panose="020B0604030504040204" pitchFamily="34" charset="-120"/>
                  </a:rPr>
                  <a:t>以生成</a:t>
                </a:r>
                <a:r>
                  <a:rPr kumimoji="1" lang="en-US" altLang="zh-TW" sz="2400" dirty="0">
                    <a:ea typeface="Microsoft JhengHei" panose="020B0604030504040204" pitchFamily="34" charset="-120"/>
                  </a:rPr>
                  <a:t>3</a:t>
                </a:r>
                <a:r>
                  <a:rPr kumimoji="1" lang="zh-TW" altLang="en-US" sz="2400" dirty="0">
                    <a:ea typeface="Microsoft JhengHei" panose="020B0604030504040204" pitchFamily="34" charset="-120"/>
                  </a:rPr>
                  <a:t>個</a:t>
                </a:r>
                <a:r>
                  <a:rPr kumimoji="1" lang="en-US" altLang="zh-TW" sz="2400" dirty="0">
                    <a:ea typeface="Microsoft JhengHei" panose="020B0604030504040204" pitchFamily="34" charset="-120"/>
                  </a:rPr>
                  <a:t>tokens</a:t>
                </a:r>
                <a:r>
                  <a:rPr kumimoji="1" lang="zh-TW" altLang="en-US" sz="2400" dirty="0">
                    <a:ea typeface="Microsoft JhengHei" panose="020B0604030504040204" pitchFamily="34" charset="-120"/>
                  </a:rPr>
                  <a:t>為例，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zh-TW" sz="2400" b="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TW" altLang="zh-TW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kern="100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kern="10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 kern="10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 kern="100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2400" i="1" kern="100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kern="10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altLang="zh-TW" sz="2400" b="0" i="1" kern="100" smtClean="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zh-TW" altLang="zh-TW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kern="100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kern="10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400" i="1" kern="10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 kern="100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2400" i="1" kern="100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kern="100" smtClean="0"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zh-TW" altLang="zh-TW" sz="2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4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TW" sz="24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TW" sz="2400" i="1" kern="100"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TW" altLang="zh-TW" sz="2400" i="1"/>
                        </m:ctrlPr>
                      </m:sSupPr>
                      <m:e>
                        <m:r>
                          <a:rPr lang="en-US" altLang="zh-TW" sz="2400" i="1"/>
                          <m:t>64</m:t>
                        </m:r>
                      </m:e>
                      <m:sup>
                        <m:f>
                          <m:fPr>
                            <m:ctrlPr>
                              <a:rPr lang="zh-TW" altLang="zh-TW" sz="2400" i="1"/>
                            </m:ctrlPr>
                          </m:fPr>
                          <m:num>
                            <m:r>
                              <a:rPr lang="en-US" altLang="zh-TW" sz="2400" i="1"/>
                              <m:t>1</m:t>
                            </m:r>
                          </m:num>
                          <m:den>
                            <m:r>
                              <a:rPr lang="en-US" altLang="zh-TW" sz="2400" i="1"/>
                              <m:t>3</m:t>
                            </m:r>
                          </m:den>
                        </m:f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=4=</m:t>
                    </m:r>
                  </m:oMath>
                </a14:m>
                <a:r>
                  <a:rPr lang="zh-TW" altLang="zh-TW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/>
                          <m:t>(</m:t>
                        </m:r>
                        <m:f>
                          <m:fPr>
                            <m:ctrlPr>
                              <a:rPr lang="zh-TW" altLang="en-US" sz="2400" i="1"/>
                            </m:ctrlPr>
                          </m:fPr>
                          <m:num>
                            <m:r>
                              <a:rPr lang="en-US" altLang="zh-TW" sz="2400" i="1"/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TW" altLang="en-US" sz="2400" i="1"/>
                                </m:ctrlPr>
                              </m:sSupPr>
                              <m:e>
                                <m:f>
                                  <m:fPr>
                                    <m:ctrlPr>
                                      <a:rPr lang="zh-TW" altLang="en-US" sz="2400" i="1"/>
                                    </m:ctrlPr>
                                  </m:fPr>
                                  <m:num>
                                    <m:r>
                                      <a:rPr lang="en-US" altLang="zh-TW" sz="2400" i="1"/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400" i="1"/>
                                      <m:t>4</m:t>
                                    </m:r>
                                  </m:den>
                                </m:f>
                              </m:e>
                              <m:sup>
                                <m:r>
                                  <a:rPr lang="en-US" altLang="zh-TW" sz="2400" i="1"/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endParaRPr lang="en-US" altLang="zh-TW" sz="2400" dirty="0"/>
              </a:p>
              <a:p>
                <a:r>
                  <a:rPr lang="zh-TW" altLang="en-US" sz="2400" dirty="0"/>
                  <a:t>代表平均模型「在每一步都從 </a:t>
                </a:r>
                <a:r>
                  <a:rPr lang="en-US" altLang="zh-TW" sz="2400" dirty="0"/>
                  <a:t>4 </a:t>
                </a:r>
                <a:r>
                  <a:rPr lang="zh-TW" altLang="en-US" sz="2400" dirty="0"/>
                  <a:t>個等機率選項中亂猜並猜中」的難度</a:t>
                </a:r>
                <a:endParaRPr lang="zh-TW" altLang="zh-TW" sz="2400" dirty="0"/>
              </a:p>
              <a:p>
                <a:pPr marL="0" indent="0">
                  <a:buNone/>
                </a:pPr>
                <a:endParaRPr kumimoji="1" lang="en-US" altLang="zh-TW" sz="2400" dirty="0">
                  <a:ea typeface="Microsoft JhengHei" panose="020B0604030504040204" pitchFamily="34" charset="-12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53D7241-1B26-FA82-285D-A18D168ADB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2" t="-3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42EF6D-30AE-6991-9E39-AF1CC4FAC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57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584586-11C4-BA93-A981-4D4BD5034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BLEU (Bilingual Evaluation Understudy)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D9067A-32E3-7DCF-BFA2-C45FEB28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FE78761-E713-4450-21A6-A1077D328E06}"/>
              </a:ext>
            </a:extLst>
          </p:cNvPr>
          <p:cNvSpPr txBox="1"/>
          <p:nvPr/>
        </p:nvSpPr>
        <p:spPr>
          <a:xfrm>
            <a:off x="653143" y="1670010"/>
            <a:ext cx="10149744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A word-based metric.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It is very sensitive to word tokenization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Core concept: Compute </a:t>
            </a:r>
            <a:r>
              <a:rPr kumimoji="1" lang="en-US" altLang="zh-TW" sz="2400" dirty="0">
                <a:solidFill>
                  <a:srgbClr val="FF0000"/>
                </a:solidFill>
              </a:rPr>
              <a:t>precision</a:t>
            </a:r>
            <a:r>
              <a:rPr kumimoji="1" lang="en-US" altLang="zh-TW" sz="2400" dirty="0"/>
              <a:t> for n-grams: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Unigrams -&gt; BLEU-1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Bigrams -&gt; BLEU-2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Trigrams -&gt; BLEU-3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4-grams -&gt; BLEU-4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7E68562-35F8-96AB-46BB-30D70310CBBE}"/>
              </a:ext>
            </a:extLst>
          </p:cNvPr>
          <p:cNvSpPr txBox="1"/>
          <p:nvPr/>
        </p:nvSpPr>
        <p:spPr>
          <a:xfrm>
            <a:off x="2635286" y="6271079"/>
            <a:ext cx="6921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 err="1"/>
              <a:t>Papineni</a:t>
            </a:r>
            <a:r>
              <a:rPr lang="en" altLang="zh-TW" sz="1200" dirty="0"/>
              <a:t>, Kishore, et al. "Bleu: a method for automatic evaluation of machine translation." Proceedings of the 40th annual meeting of the Association for Computational Linguistics. 2002.</a:t>
            </a:r>
            <a:endParaRPr lang="zh-TW" altLang="en-US" sz="12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E4A6925-C73D-EE19-6286-67C45D48785D}"/>
              </a:ext>
            </a:extLst>
          </p:cNvPr>
          <p:cNvSpPr txBox="1"/>
          <p:nvPr/>
        </p:nvSpPr>
        <p:spPr>
          <a:xfrm>
            <a:off x="9173740" y="1479823"/>
            <a:ext cx="2461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常用於機器翻譯</a:t>
            </a:r>
          </a:p>
        </p:txBody>
      </p:sp>
    </p:spTree>
    <p:extLst>
      <p:ext uri="{BB962C8B-B14F-4D97-AF65-F5344CB8AC3E}">
        <p14:creationId xmlns:p14="http://schemas.microsoft.com/office/powerpoint/2010/main" val="2424158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EB7C12-6538-046A-417D-3DE3EEBA2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Precision and Recall (</a:t>
            </a:r>
            <a:r>
              <a:rPr kumimoji="1" lang="zh-TW" altLang="en-US" dirty="0"/>
              <a:t>「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檢索」角度的定義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6AA48E-4D14-8855-A8F4-0EC391A9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1F6E8AA-BFAA-2F78-B901-674D9225EDD9}"/>
                  </a:ext>
                </a:extLst>
              </p:cNvPr>
              <p:cNvSpPr txBox="1"/>
              <p:nvPr/>
            </p:nvSpPr>
            <p:spPr>
              <a:xfrm>
                <a:off x="1251752" y="2281561"/>
                <a:ext cx="5850961" cy="701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zh-TW" sz="2400" b="0" i="0" smtClean="0">
                          <a:latin typeface="Cambria Math" panose="02040503050406030204" pitchFamily="18" charset="0"/>
                        </a:rPr>
                        <m:t>Precision</m:t>
                      </m:r>
                      <m:r>
                        <m:rPr>
                          <m:nor/>
                        </m:rPr>
                        <a:rPr kumimoji="1"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Relevant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and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retrieved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instances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All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retrieved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instances</m:t>
                          </m:r>
                        </m:den>
                      </m:f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1F6E8AA-BFAA-2F78-B901-674D9225E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752" y="2281561"/>
                <a:ext cx="5850961" cy="701410"/>
              </a:xfrm>
              <a:prstGeom prst="rect">
                <a:avLst/>
              </a:prstGeom>
              <a:blipFill>
                <a:blip r:embed="rId2"/>
                <a:stretch>
                  <a:fillRect l="-649" t="-8929" r="-649" b="-30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D4F1B99-A9EC-C36E-4CF0-D724907CDA8B}"/>
                  </a:ext>
                </a:extLst>
              </p:cNvPr>
              <p:cNvSpPr txBox="1"/>
              <p:nvPr/>
            </p:nvSpPr>
            <p:spPr>
              <a:xfrm>
                <a:off x="1251752" y="3750744"/>
                <a:ext cx="5418150" cy="701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zh-TW" sz="240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kumimoji="1" lang="en-US" altLang="zh-TW" sz="2400" b="0" i="0" smtClean="0">
                          <a:latin typeface="Cambria Math" panose="02040503050406030204" pitchFamily="18" charset="0"/>
                        </a:rPr>
                        <m:t>ecall</m:t>
                      </m:r>
                      <m:r>
                        <m:rPr>
                          <m:nor/>
                        </m:rPr>
                        <a:rPr kumimoji="1"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Relevant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and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retrieved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instances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All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relevant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1" lang="en-US" altLang="zh-TW" sz="2400" b="0" i="0" smtClean="0">
                              <a:latin typeface="Cambria Math" panose="02040503050406030204" pitchFamily="18" charset="0"/>
                            </a:rPr>
                            <m:t>instances</m:t>
                          </m:r>
                        </m:den>
                      </m:f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D4F1B99-A9EC-C36E-4CF0-D724907CD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752" y="3750744"/>
                <a:ext cx="5418150" cy="701410"/>
              </a:xfrm>
              <a:prstGeom prst="rect">
                <a:avLst/>
              </a:prstGeom>
              <a:blipFill>
                <a:blip r:embed="rId3"/>
                <a:stretch>
                  <a:fillRect l="-701" t="-8929" r="-701" b="-30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BF2AED31-CAA2-8996-FE92-A9A924B50804}"/>
              </a:ext>
            </a:extLst>
          </p:cNvPr>
          <p:cNvSpPr txBox="1"/>
          <p:nvPr/>
        </p:nvSpPr>
        <p:spPr>
          <a:xfrm>
            <a:off x="7625917" y="2690352"/>
            <a:ext cx="2618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by a model</a:t>
            </a:r>
            <a:endParaRPr kumimoji="1" lang="zh-TW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A38D22E-EDC3-19A9-5117-4E7DFB241DAD}"/>
              </a:ext>
            </a:extLst>
          </p:cNvPr>
          <p:cNvSpPr txBox="1"/>
          <p:nvPr/>
        </p:nvSpPr>
        <p:spPr>
          <a:xfrm>
            <a:off x="7625916" y="4170521"/>
            <a:ext cx="2618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Ground-truths</a:t>
            </a:r>
            <a:endParaRPr kumimoji="1" lang="zh-TW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462F330B-4AAB-4157-5A09-BC7A460AA8CB}"/>
              </a:ext>
            </a:extLst>
          </p:cNvPr>
          <p:cNvCxnSpPr>
            <a:cxnSpLocks/>
          </p:cNvCxnSpPr>
          <p:nvPr/>
        </p:nvCxnSpPr>
        <p:spPr>
          <a:xfrm flipH="1">
            <a:off x="6516210" y="2863847"/>
            <a:ext cx="103868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A6787D73-6B32-0F6A-6C55-206E7CBD3750}"/>
              </a:ext>
            </a:extLst>
          </p:cNvPr>
          <p:cNvCxnSpPr>
            <a:cxnSpLocks/>
          </p:cNvCxnSpPr>
          <p:nvPr/>
        </p:nvCxnSpPr>
        <p:spPr>
          <a:xfrm flipH="1">
            <a:off x="6516209" y="4370576"/>
            <a:ext cx="103868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2FA45E9-D87D-F39A-3F82-7CF9CB2AC5D4}"/>
              </a:ext>
            </a:extLst>
          </p:cNvPr>
          <p:cNvSpPr txBox="1"/>
          <p:nvPr/>
        </p:nvSpPr>
        <p:spPr>
          <a:xfrm>
            <a:off x="1251752" y="5227747"/>
            <a:ext cx="8957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and retrieved instances: </a:t>
            </a:r>
            <a:r>
              <a:rPr kumimoji="1" lang="en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Intersection</a:t>
            </a:r>
            <a:r>
              <a:rPr kumimoji="1" lang="en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predictions and ground-truths</a:t>
            </a:r>
            <a:endParaRPr kumimoji="1"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697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6C2B0-B651-22B5-1AC7-2D9F9C3D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Calculation of BLEU Score (Example)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EE6EBD-9140-5BE4-5F91-8074B6D2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37D1900-3D6C-CCBA-6412-2E7CB75774D3}"/>
                  </a:ext>
                </a:extLst>
              </p:cNvPr>
              <p:cNvSpPr txBox="1"/>
              <p:nvPr/>
            </p:nvSpPr>
            <p:spPr>
              <a:xfrm>
                <a:off x="6835806" y="3085723"/>
                <a:ext cx="2396971" cy="789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800" dirty="0"/>
                  <a:t>Precision: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TW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sz="3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kumimoji="1" lang="en-US" altLang="zh-TW" sz="3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kumimoji="1" lang="zh-TW" altLang="en-US" sz="32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37D1900-3D6C-CCBA-6412-2E7CB7577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806" y="3085723"/>
                <a:ext cx="2396971" cy="789447"/>
              </a:xfrm>
              <a:prstGeom prst="rect">
                <a:avLst/>
              </a:prstGeom>
              <a:blipFill>
                <a:blip r:embed="rId2"/>
                <a:stretch>
                  <a:fillRect l="-5263" b="-46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FF995C77-A2F1-D93A-0FDC-39835069CD2F}"/>
              </a:ext>
            </a:extLst>
          </p:cNvPr>
          <p:cNvSpPr txBox="1"/>
          <p:nvPr/>
        </p:nvSpPr>
        <p:spPr>
          <a:xfrm>
            <a:off x="6848825" y="4234649"/>
            <a:ext cx="4114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>
                <a:solidFill>
                  <a:srgbClr val="FF0000"/>
                </a:solidFill>
              </a:rPr>
              <a:t>100%! Can this be true?</a:t>
            </a:r>
            <a:endParaRPr kumimoji="1"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2" name="內容版面配置區 2">
            <a:extLst>
              <a:ext uri="{FF2B5EF4-FFF2-40B4-BE49-F238E27FC236}">
                <a16:creationId xmlns:a16="http://schemas.microsoft.com/office/drawing/2014/main" id="{285ECF1E-DDB1-258E-27BD-1C263ABE4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kumimoji="1" lang="en-US" altLang="zh-TW" sz="2400" dirty="0"/>
              <a:t>Assume we now translate from Chinese to English.</a:t>
            </a:r>
          </a:p>
          <a:p>
            <a:r>
              <a:rPr kumimoji="1" lang="en-US" altLang="zh-TW" sz="2400" b="1" dirty="0"/>
              <a:t>Calculate BLEU-1 score</a:t>
            </a:r>
          </a:p>
          <a:p>
            <a:endParaRPr kumimoji="1" lang="en-US" altLang="zh-TW" sz="2400" dirty="0"/>
          </a:p>
          <a:p>
            <a:r>
              <a:rPr kumimoji="1" lang="en-US" altLang="zh-TW" sz="2400" dirty="0"/>
              <a:t>Chinese: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我想要讀那本書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sz="2400" dirty="0"/>
              <a:t>Reference1: I want to read the book.</a:t>
            </a:r>
          </a:p>
          <a:p>
            <a:r>
              <a:rPr kumimoji="1" lang="en-US" altLang="zh-TW" sz="2400" dirty="0"/>
              <a:t>Reference2: I want to read that book. </a:t>
            </a:r>
          </a:p>
          <a:p>
            <a:r>
              <a:rPr kumimoji="1" lang="en-US" altLang="zh-TW" sz="2400" dirty="0"/>
              <a:t>Model output: the the the the the the.</a:t>
            </a:r>
            <a:endParaRPr kumimoji="1" lang="zh-TW" altLang="en-US" sz="2400" dirty="0"/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7ED27C92-2958-CB3C-5FA8-5CD1ED27AEE8}"/>
              </a:ext>
            </a:extLst>
          </p:cNvPr>
          <p:cNvCxnSpPr>
            <a:cxnSpLocks/>
          </p:cNvCxnSpPr>
          <p:nvPr/>
        </p:nvCxnSpPr>
        <p:spPr>
          <a:xfrm>
            <a:off x="4863439" y="4234649"/>
            <a:ext cx="4083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7D270D7D-2E9E-FBC1-FAD4-0EC05A41AF03}"/>
              </a:ext>
            </a:extLst>
          </p:cNvPr>
          <p:cNvCxnSpPr>
            <a:cxnSpLocks/>
          </p:cNvCxnSpPr>
          <p:nvPr/>
        </p:nvCxnSpPr>
        <p:spPr>
          <a:xfrm>
            <a:off x="3162027" y="5230428"/>
            <a:ext cx="4083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A0F9BAAB-60A7-A64A-DD64-6F11762B1707}"/>
              </a:ext>
            </a:extLst>
          </p:cNvPr>
          <p:cNvCxnSpPr>
            <a:cxnSpLocks/>
          </p:cNvCxnSpPr>
          <p:nvPr/>
        </p:nvCxnSpPr>
        <p:spPr>
          <a:xfrm>
            <a:off x="3639924" y="5230428"/>
            <a:ext cx="4083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14418466-6B4E-32A6-118D-9CCD23AEAD6B}"/>
              </a:ext>
            </a:extLst>
          </p:cNvPr>
          <p:cNvCxnSpPr>
            <a:cxnSpLocks/>
          </p:cNvCxnSpPr>
          <p:nvPr/>
        </p:nvCxnSpPr>
        <p:spPr>
          <a:xfrm>
            <a:off x="4177071" y="5230428"/>
            <a:ext cx="4083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4FD21984-80CE-BE51-8A3E-9500FA12F2F6}"/>
              </a:ext>
            </a:extLst>
          </p:cNvPr>
          <p:cNvCxnSpPr>
            <a:cxnSpLocks/>
          </p:cNvCxnSpPr>
          <p:nvPr/>
        </p:nvCxnSpPr>
        <p:spPr>
          <a:xfrm>
            <a:off x="4676448" y="5230428"/>
            <a:ext cx="4083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916D481B-949A-2EC3-9DF2-7B6FAD0F67E8}"/>
              </a:ext>
            </a:extLst>
          </p:cNvPr>
          <p:cNvCxnSpPr>
            <a:cxnSpLocks/>
          </p:cNvCxnSpPr>
          <p:nvPr/>
        </p:nvCxnSpPr>
        <p:spPr>
          <a:xfrm>
            <a:off x="5175839" y="5230428"/>
            <a:ext cx="4083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CD684892-14CC-B2A7-EDC3-2663BF4FBEF3}"/>
              </a:ext>
            </a:extLst>
          </p:cNvPr>
          <p:cNvCxnSpPr>
            <a:cxnSpLocks/>
          </p:cNvCxnSpPr>
          <p:nvPr/>
        </p:nvCxnSpPr>
        <p:spPr>
          <a:xfrm>
            <a:off x="5664110" y="5233387"/>
            <a:ext cx="4083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986DE499-2C7F-5932-25B4-CA4860781649}"/>
              </a:ext>
            </a:extLst>
          </p:cNvPr>
          <p:cNvSpPr txBox="1"/>
          <p:nvPr/>
        </p:nvSpPr>
        <p:spPr>
          <a:xfrm>
            <a:off x="8892540" y="1479823"/>
            <a:ext cx="2742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機器翻譯常用兩個以上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references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673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6C2B0-B651-22B5-1AC7-2D9F9C3D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Calculation of BLEU Score (Example)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EE6EBD-9140-5BE4-5F91-8074B6D2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37D1900-3D6C-CCBA-6412-2E7CB75774D3}"/>
                  </a:ext>
                </a:extLst>
              </p:cNvPr>
              <p:cNvSpPr txBox="1"/>
              <p:nvPr/>
            </p:nvSpPr>
            <p:spPr>
              <a:xfrm>
                <a:off x="6835806" y="3085723"/>
                <a:ext cx="2396971" cy="789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800" dirty="0"/>
                  <a:t>Precision: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TW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sz="3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kumimoji="1" lang="en-US" altLang="zh-TW" sz="3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kumimoji="1" lang="zh-TW" altLang="en-US" sz="32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37D1900-3D6C-CCBA-6412-2E7CB7577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806" y="3085723"/>
                <a:ext cx="2396971" cy="789447"/>
              </a:xfrm>
              <a:prstGeom prst="rect">
                <a:avLst/>
              </a:prstGeom>
              <a:blipFill>
                <a:blip r:embed="rId2"/>
                <a:stretch>
                  <a:fillRect l="-5263" b="-46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2AB44ED-4374-A83A-FFB0-62FFFC21B65F}"/>
                  </a:ext>
                </a:extLst>
              </p:cNvPr>
              <p:cNvSpPr txBox="1"/>
              <p:nvPr/>
            </p:nvSpPr>
            <p:spPr>
              <a:xfrm>
                <a:off x="6835806" y="4160612"/>
                <a:ext cx="3645170" cy="790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800" dirty="0"/>
                  <a:t>Modified Precision: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TW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TW" sz="3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kumimoji="1" lang="zh-TW" altLang="en-US" sz="32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2AB44ED-4374-A83A-FFB0-62FFFC21B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806" y="4160612"/>
                <a:ext cx="3645170" cy="790794"/>
              </a:xfrm>
              <a:prstGeom prst="rect">
                <a:avLst/>
              </a:prstGeom>
              <a:blipFill>
                <a:blip r:embed="rId3"/>
                <a:stretch>
                  <a:fillRect l="-3472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3A42B081-4038-A601-D374-6FF5E6D734C1}"/>
              </a:ext>
            </a:extLst>
          </p:cNvPr>
          <p:cNvCxnSpPr>
            <a:cxnSpLocks/>
          </p:cNvCxnSpPr>
          <p:nvPr/>
        </p:nvCxnSpPr>
        <p:spPr>
          <a:xfrm>
            <a:off x="6982288" y="3175246"/>
            <a:ext cx="1620174" cy="69992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6910BFFD-493F-8B4A-81B2-F79B9E8F4A1B}"/>
              </a:ext>
            </a:extLst>
          </p:cNvPr>
          <p:cNvCxnSpPr>
            <a:cxnSpLocks/>
          </p:cNvCxnSpPr>
          <p:nvPr/>
        </p:nvCxnSpPr>
        <p:spPr>
          <a:xfrm flipV="1">
            <a:off x="6982288" y="3175246"/>
            <a:ext cx="1620174" cy="69992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41B2BCCB-E5F1-404F-D49D-88D3F9DC9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kumimoji="1" lang="en-US" altLang="zh-TW" sz="2400" dirty="0"/>
              <a:t>Assume we now translate from Chinese to English.</a:t>
            </a:r>
          </a:p>
          <a:p>
            <a:r>
              <a:rPr kumimoji="1" lang="en-US" altLang="zh-TW" sz="2400" b="1" dirty="0"/>
              <a:t>Calculate BLEU-1 score</a:t>
            </a:r>
          </a:p>
          <a:p>
            <a:endParaRPr kumimoji="1" lang="en-US" altLang="zh-TW" sz="2400" dirty="0"/>
          </a:p>
          <a:p>
            <a:r>
              <a:rPr kumimoji="1" lang="en-US" altLang="zh-TW" sz="2400" dirty="0"/>
              <a:t>Chinese: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我想要讀那本書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en-US" altLang="zh-TW" sz="2400" dirty="0"/>
              <a:t>Reference1: I want to read the book.</a:t>
            </a:r>
          </a:p>
          <a:p>
            <a:r>
              <a:rPr kumimoji="1" lang="en-US" altLang="zh-TW" sz="2400" dirty="0"/>
              <a:t>Reference2: I want to read that book. </a:t>
            </a:r>
          </a:p>
          <a:p>
            <a:r>
              <a:rPr kumimoji="1" lang="en-US" altLang="zh-TW" sz="2400" dirty="0"/>
              <a:t>Model output: the the the the the the.</a:t>
            </a:r>
            <a:endParaRPr kumimoji="1" lang="zh-TW" altLang="en-US" sz="2400" dirty="0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42CA08F0-B143-C853-61DA-31635AE16428}"/>
              </a:ext>
            </a:extLst>
          </p:cNvPr>
          <p:cNvCxnSpPr>
            <a:cxnSpLocks/>
          </p:cNvCxnSpPr>
          <p:nvPr/>
        </p:nvCxnSpPr>
        <p:spPr>
          <a:xfrm>
            <a:off x="4863439" y="4234649"/>
            <a:ext cx="4083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BA43AFB8-CCF5-5AE8-23A6-0D8588E04907}"/>
              </a:ext>
            </a:extLst>
          </p:cNvPr>
          <p:cNvCxnSpPr>
            <a:cxnSpLocks/>
          </p:cNvCxnSpPr>
          <p:nvPr/>
        </p:nvCxnSpPr>
        <p:spPr>
          <a:xfrm>
            <a:off x="3162027" y="5230428"/>
            <a:ext cx="4083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CEFECFB-31BD-7320-134E-E54E72DDF0D6}"/>
              </a:ext>
            </a:extLst>
          </p:cNvPr>
          <p:cNvCxnSpPr>
            <a:cxnSpLocks/>
          </p:cNvCxnSpPr>
          <p:nvPr/>
        </p:nvCxnSpPr>
        <p:spPr>
          <a:xfrm>
            <a:off x="3639924" y="5230428"/>
            <a:ext cx="4083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DBFAE2A0-FFB3-65DF-A691-13FBEACA1A80}"/>
              </a:ext>
            </a:extLst>
          </p:cNvPr>
          <p:cNvCxnSpPr>
            <a:cxnSpLocks/>
          </p:cNvCxnSpPr>
          <p:nvPr/>
        </p:nvCxnSpPr>
        <p:spPr>
          <a:xfrm>
            <a:off x="4177071" y="5230428"/>
            <a:ext cx="4083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FC9DDB2D-C3F3-B942-35A4-C912CD2684D6}"/>
              </a:ext>
            </a:extLst>
          </p:cNvPr>
          <p:cNvCxnSpPr>
            <a:cxnSpLocks/>
          </p:cNvCxnSpPr>
          <p:nvPr/>
        </p:nvCxnSpPr>
        <p:spPr>
          <a:xfrm>
            <a:off x="4676448" y="5230428"/>
            <a:ext cx="4083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41CB36A-AAE8-5DB6-8267-B79F34433C19}"/>
              </a:ext>
            </a:extLst>
          </p:cNvPr>
          <p:cNvCxnSpPr>
            <a:cxnSpLocks/>
          </p:cNvCxnSpPr>
          <p:nvPr/>
        </p:nvCxnSpPr>
        <p:spPr>
          <a:xfrm>
            <a:off x="5175839" y="5230428"/>
            <a:ext cx="4083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AF6AF95F-F9E8-0835-806B-7EF0ABFF1A11}"/>
              </a:ext>
            </a:extLst>
          </p:cNvPr>
          <p:cNvCxnSpPr>
            <a:cxnSpLocks/>
          </p:cNvCxnSpPr>
          <p:nvPr/>
        </p:nvCxnSpPr>
        <p:spPr>
          <a:xfrm>
            <a:off x="5664110" y="5233387"/>
            <a:ext cx="4083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B37FC71-0948-EA98-E319-6D2C729CE9B7}"/>
              </a:ext>
            </a:extLst>
          </p:cNvPr>
          <p:cNvSpPr txBox="1"/>
          <p:nvPr/>
        </p:nvSpPr>
        <p:spPr>
          <a:xfrm>
            <a:off x="2635286" y="6271079"/>
            <a:ext cx="6921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 err="1"/>
              <a:t>Papineni</a:t>
            </a:r>
            <a:r>
              <a:rPr lang="en" altLang="zh-TW" sz="1200" dirty="0"/>
              <a:t>, Kishore, et al. "Bleu: a method for automatic evaluation of machine translation." Proceedings of the 40th annual meeting of the Association for Computational Linguistics. 2002.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441688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6C2B0-B651-22B5-1AC7-2D9F9C3D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Why should we use modified precision?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EE6EBD-9140-5BE4-5F91-8074B6D2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6137268-62E9-CA85-5235-6AB6BDF18D98}"/>
              </a:ext>
            </a:extLst>
          </p:cNvPr>
          <p:cNvSpPr txBox="1"/>
          <p:nvPr/>
        </p:nvSpPr>
        <p:spPr>
          <a:xfrm>
            <a:off x="653143" y="1855809"/>
            <a:ext cx="10502537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The output sequences can be total mistakes.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E.g</a:t>
            </a:r>
            <a:r>
              <a:rPr kumimoji="1" lang="en-US" altLang="zh-TW" sz="2400" dirty="0">
                <a:solidFill>
                  <a:srgbClr val="0070C0"/>
                </a:solidFill>
              </a:rPr>
              <a:t>., the the the the the the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Original precision is in favor of </a:t>
            </a:r>
            <a:r>
              <a:rPr kumimoji="1" lang="en-US" altLang="zh-TW" sz="2400" dirty="0">
                <a:solidFill>
                  <a:srgbClr val="FF0000"/>
                </a:solidFill>
              </a:rPr>
              <a:t>longer</a:t>
            </a:r>
            <a:r>
              <a:rPr kumimoji="1" lang="en-US" altLang="zh-TW" sz="2400" dirty="0"/>
              <a:t> output sequences.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Therefore, we should use modified precision to prevent bad evaluations.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BB8BD35-15EC-4054-4BC7-6F7A7BCAC1FA}"/>
              </a:ext>
            </a:extLst>
          </p:cNvPr>
          <p:cNvSpPr txBox="1"/>
          <p:nvPr/>
        </p:nvSpPr>
        <p:spPr>
          <a:xfrm>
            <a:off x="2635286" y="6271079"/>
            <a:ext cx="6921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 err="1"/>
              <a:t>Papineni</a:t>
            </a:r>
            <a:r>
              <a:rPr lang="en" altLang="zh-TW" sz="1200" dirty="0"/>
              <a:t>, Kishore, et al. "Bleu: a method for automatic evaluation of machine translation." Proceedings of the 40th annual meeting of the Association for Computational Linguistics. 2002.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2074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6C2B0-B651-22B5-1AC7-2D9F9C3D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Calculation of BLEU Score (Example)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97B52A-2B32-0729-C0BB-254589A9F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52787"/>
            <a:ext cx="10058400" cy="4023360"/>
          </a:xfrm>
        </p:spPr>
        <p:txBody>
          <a:bodyPr>
            <a:normAutofit/>
          </a:bodyPr>
          <a:lstStyle/>
          <a:p>
            <a:r>
              <a:rPr kumimoji="1" lang="en-US" altLang="zh-TW" sz="2400" b="1" dirty="0"/>
              <a:t>Calculate BLEU-2 score</a:t>
            </a:r>
          </a:p>
          <a:p>
            <a:pPr marL="0" indent="0">
              <a:buNone/>
            </a:pPr>
            <a:endParaRPr kumimoji="1" lang="en-US" altLang="zh-TW" sz="2400" dirty="0"/>
          </a:p>
          <a:p>
            <a:r>
              <a:rPr kumimoji="1" lang="en-US" altLang="zh-TW" sz="2400" dirty="0"/>
              <a:t>Reference1: The dog is on the bed.</a:t>
            </a:r>
          </a:p>
          <a:p>
            <a:r>
              <a:rPr kumimoji="1" lang="en-US" altLang="zh-TW" sz="2400" dirty="0"/>
              <a:t>Reference2: There is a dog on the bed. </a:t>
            </a:r>
          </a:p>
          <a:p>
            <a:r>
              <a:rPr kumimoji="1" lang="en-US" altLang="zh-TW" sz="2400" dirty="0"/>
              <a:t>Model output: The dog the dog on the bed.</a:t>
            </a:r>
            <a:endParaRPr kumimoji="1"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EE6EBD-9140-5BE4-5F91-8074B6D2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2CD69E6-FA94-8FFF-00C2-F65304A60FF9}"/>
              </a:ext>
            </a:extLst>
          </p:cNvPr>
          <p:cNvCxnSpPr>
            <a:cxnSpLocks/>
          </p:cNvCxnSpPr>
          <p:nvPr/>
        </p:nvCxnSpPr>
        <p:spPr>
          <a:xfrm>
            <a:off x="3356737" y="4538555"/>
            <a:ext cx="97136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230B78B7-0BFA-0D14-4A0A-3B8566311EEA}"/>
              </a:ext>
            </a:extLst>
          </p:cNvPr>
          <p:cNvCxnSpPr>
            <a:cxnSpLocks/>
          </p:cNvCxnSpPr>
          <p:nvPr/>
        </p:nvCxnSpPr>
        <p:spPr>
          <a:xfrm>
            <a:off x="2756505" y="4257782"/>
            <a:ext cx="98675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FB29211-617B-1D1B-AE20-77C497F3D328}"/>
              </a:ext>
            </a:extLst>
          </p:cNvPr>
          <p:cNvSpPr txBox="1"/>
          <p:nvPr/>
        </p:nvSpPr>
        <p:spPr>
          <a:xfrm>
            <a:off x="7091305" y="2462400"/>
            <a:ext cx="1917577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the dog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dog the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dog on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on the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the bed</a:t>
            </a:r>
            <a:endParaRPr kumimoji="1" lang="zh-TW" altLang="en-US" sz="24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D8BFB20-29FA-D051-C875-2244E58DA7AF}"/>
              </a:ext>
            </a:extLst>
          </p:cNvPr>
          <p:cNvSpPr txBox="1"/>
          <p:nvPr/>
        </p:nvSpPr>
        <p:spPr>
          <a:xfrm>
            <a:off x="8247028" y="1941171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Count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8FA665C-2770-D533-61DC-9FEAF0D92C69}"/>
              </a:ext>
            </a:extLst>
          </p:cNvPr>
          <p:cNvSpPr txBox="1"/>
          <p:nvPr/>
        </p:nvSpPr>
        <p:spPr>
          <a:xfrm>
            <a:off x="8247028" y="2462400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2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09CC746-562F-6160-B479-79E713725935}"/>
              </a:ext>
            </a:extLst>
          </p:cNvPr>
          <p:cNvSpPr txBox="1"/>
          <p:nvPr/>
        </p:nvSpPr>
        <p:spPr>
          <a:xfrm>
            <a:off x="8247027" y="3027763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36300A3-B749-81C1-CF8C-DE711268248C}"/>
              </a:ext>
            </a:extLst>
          </p:cNvPr>
          <p:cNvSpPr txBox="1"/>
          <p:nvPr/>
        </p:nvSpPr>
        <p:spPr>
          <a:xfrm>
            <a:off x="8247026" y="3570396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B830240-A60E-3292-8306-A81A30852E41}"/>
              </a:ext>
            </a:extLst>
          </p:cNvPr>
          <p:cNvSpPr txBox="1"/>
          <p:nvPr/>
        </p:nvSpPr>
        <p:spPr>
          <a:xfrm>
            <a:off x="8247026" y="4130797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ECB353A-06C5-EC93-916F-78E4C71199F1}"/>
              </a:ext>
            </a:extLst>
          </p:cNvPr>
          <p:cNvSpPr txBox="1"/>
          <p:nvPr/>
        </p:nvSpPr>
        <p:spPr>
          <a:xfrm>
            <a:off x="8247025" y="4681976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C668EFDE-DE37-5A4B-D3B7-8A800F1F48E0}"/>
              </a:ext>
            </a:extLst>
          </p:cNvPr>
          <p:cNvCxnSpPr>
            <a:cxnSpLocks/>
          </p:cNvCxnSpPr>
          <p:nvPr/>
        </p:nvCxnSpPr>
        <p:spPr>
          <a:xfrm>
            <a:off x="3943018" y="4872912"/>
            <a:ext cx="97136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7EEE57B-27BA-0FD5-7877-0544024D5DD6}"/>
              </a:ext>
            </a:extLst>
          </p:cNvPr>
          <p:cNvCxnSpPr>
            <a:cxnSpLocks/>
          </p:cNvCxnSpPr>
          <p:nvPr/>
        </p:nvCxnSpPr>
        <p:spPr>
          <a:xfrm>
            <a:off x="4497015" y="5288267"/>
            <a:ext cx="79935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EA8761F0-3B86-9824-B5F2-C431558A2859}"/>
              </a:ext>
            </a:extLst>
          </p:cNvPr>
          <p:cNvCxnSpPr>
            <a:cxnSpLocks/>
          </p:cNvCxnSpPr>
          <p:nvPr/>
        </p:nvCxnSpPr>
        <p:spPr>
          <a:xfrm>
            <a:off x="5025452" y="4264695"/>
            <a:ext cx="80675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3F15C40F-D35A-7226-8690-5281BC605C21}"/>
              </a:ext>
            </a:extLst>
          </p:cNvPr>
          <p:cNvCxnSpPr>
            <a:cxnSpLocks/>
          </p:cNvCxnSpPr>
          <p:nvPr/>
        </p:nvCxnSpPr>
        <p:spPr>
          <a:xfrm>
            <a:off x="5512262" y="4589085"/>
            <a:ext cx="89701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1FF0432-D1B6-71CB-87F2-390BC7956543}"/>
              </a:ext>
            </a:extLst>
          </p:cNvPr>
          <p:cNvSpPr txBox="1"/>
          <p:nvPr/>
        </p:nvSpPr>
        <p:spPr>
          <a:xfrm>
            <a:off x="3068047" y="4207825"/>
            <a:ext cx="37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87905159-9EB2-B917-F3D6-534FDD161B5A}"/>
              </a:ext>
            </a:extLst>
          </p:cNvPr>
          <p:cNvSpPr txBox="1"/>
          <p:nvPr/>
        </p:nvSpPr>
        <p:spPr>
          <a:xfrm>
            <a:off x="3658747" y="4503580"/>
            <a:ext cx="37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2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DEE48AB9-4774-2CD1-80EA-5835F37DE51C}"/>
              </a:ext>
            </a:extLst>
          </p:cNvPr>
          <p:cNvSpPr txBox="1"/>
          <p:nvPr/>
        </p:nvSpPr>
        <p:spPr>
          <a:xfrm>
            <a:off x="4242270" y="4832058"/>
            <a:ext cx="37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3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CD3731B0-753F-AE29-A5D4-65A56E6736BB}"/>
              </a:ext>
            </a:extLst>
          </p:cNvPr>
          <p:cNvSpPr txBox="1"/>
          <p:nvPr/>
        </p:nvSpPr>
        <p:spPr>
          <a:xfrm>
            <a:off x="4727833" y="5267463"/>
            <a:ext cx="37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4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DD7B480B-5BD2-E091-D4CD-20707A7B0E44}"/>
              </a:ext>
            </a:extLst>
          </p:cNvPr>
          <p:cNvSpPr txBox="1"/>
          <p:nvPr/>
        </p:nvSpPr>
        <p:spPr>
          <a:xfrm>
            <a:off x="5254791" y="4214738"/>
            <a:ext cx="37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5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40312D22-C1E3-623F-6179-AD7390D3B2C3}"/>
              </a:ext>
            </a:extLst>
          </p:cNvPr>
          <p:cNvSpPr txBox="1"/>
          <p:nvPr/>
        </p:nvSpPr>
        <p:spPr>
          <a:xfrm>
            <a:off x="5779609" y="4554110"/>
            <a:ext cx="372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6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FE8AA915-34A2-9DCD-CC97-BD875974D6A8}"/>
              </a:ext>
            </a:extLst>
          </p:cNvPr>
          <p:cNvSpPr txBox="1"/>
          <p:nvPr/>
        </p:nvSpPr>
        <p:spPr>
          <a:xfrm>
            <a:off x="9523387" y="2612976"/>
            <a:ext cx="1571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</a:rPr>
              <a:t>(duplicated)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5620C89-DCBD-267D-A719-FF405B336A26}"/>
              </a:ext>
            </a:extLst>
          </p:cNvPr>
          <p:cNvSpPr txBox="1"/>
          <p:nvPr/>
        </p:nvSpPr>
        <p:spPr>
          <a:xfrm>
            <a:off x="2635286" y="6271079"/>
            <a:ext cx="6921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 err="1"/>
              <a:t>Papineni</a:t>
            </a:r>
            <a:r>
              <a:rPr lang="en" altLang="zh-TW" sz="1200" dirty="0"/>
              <a:t>, Kishore, et al. "Bleu: a method for automatic evaluation of machine translation." Proceedings of the 40th annual meeting of the Association for Computational Linguistics. 2002.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7124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5" grpId="0"/>
      <p:bldP spid="26" grpId="0"/>
      <p:bldP spid="27" grpId="0"/>
      <p:bldP spid="28" grpId="0"/>
      <p:bldP spid="29" grpId="0"/>
      <p:bldP spid="20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6C2B0-B651-22B5-1AC7-2D9F9C3D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Calculation of BLEU Score (Example)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97B52A-2B32-0729-C0BB-254589A9F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51514"/>
            <a:ext cx="10058400" cy="4023360"/>
          </a:xfrm>
        </p:spPr>
        <p:txBody>
          <a:bodyPr>
            <a:normAutofit/>
          </a:bodyPr>
          <a:lstStyle/>
          <a:p>
            <a:r>
              <a:rPr kumimoji="1" lang="en-US" altLang="zh-TW" sz="2400" b="1" dirty="0"/>
              <a:t>Calculate BLEU-2 score</a:t>
            </a:r>
          </a:p>
          <a:p>
            <a:pPr marL="0" indent="0">
              <a:buNone/>
            </a:pPr>
            <a:endParaRPr kumimoji="1" lang="en-US" altLang="zh-TW" sz="2400" dirty="0"/>
          </a:p>
          <a:p>
            <a:r>
              <a:rPr kumimoji="1" lang="en-US" altLang="zh-TW" sz="2400" dirty="0"/>
              <a:t>Reference1: The dog is on the bed.</a:t>
            </a:r>
          </a:p>
          <a:p>
            <a:r>
              <a:rPr kumimoji="1" lang="en-US" altLang="zh-TW" sz="2400" dirty="0"/>
              <a:t>Reference2: There is a dog on the bed. </a:t>
            </a:r>
          </a:p>
          <a:p>
            <a:r>
              <a:rPr kumimoji="1" lang="en-US" altLang="zh-TW" sz="2400" dirty="0"/>
              <a:t>Model output: The dog the dog on the bed.</a:t>
            </a:r>
            <a:endParaRPr kumimoji="1"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EE6EBD-9140-5BE4-5F91-8074B6D2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FB29211-617B-1D1B-AE20-77C497F3D328}"/>
              </a:ext>
            </a:extLst>
          </p:cNvPr>
          <p:cNvSpPr txBox="1"/>
          <p:nvPr/>
        </p:nvSpPr>
        <p:spPr>
          <a:xfrm>
            <a:off x="7091305" y="2462400"/>
            <a:ext cx="1917577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the dog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dog the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dog on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on the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the bed</a:t>
            </a:r>
            <a:endParaRPr kumimoji="1" lang="zh-TW" altLang="en-US" sz="24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D8BFB20-29FA-D051-C875-2244E58DA7AF}"/>
              </a:ext>
            </a:extLst>
          </p:cNvPr>
          <p:cNvSpPr txBox="1"/>
          <p:nvPr/>
        </p:nvSpPr>
        <p:spPr>
          <a:xfrm>
            <a:off x="8247028" y="1941171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Count</a:t>
            </a:r>
            <a:endParaRPr kumimoji="1" lang="zh-TW" altLang="en-US" sz="24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9C8D1C1-368B-686C-01F9-DE3C21D7D12C}"/>
              </a:ext>
            </a:extLst>
          </p:cNvPr>
          <p:cNvSpPr txBox="1"/>
          <p:nvPr/>
        </p:nvSpPr>
        <p:spPr>
          <a:xfrm>
            <a:off x="9336792" y="1941171"/>
            <a:ext cx="181888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 err="1"/>
              <a:t>Count</a:t>
            </a:r>
            <a:r>
              <a:rPr kumimoji="1" lang="en-US" altLang="zh-TW" sz="2400" baseline="-25000" dirty="0" err="1"/>
              <a:t>clip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8FA665C-2770-D533-61DC-9FEAF0D92C69}"/>
              </a:ext>
            </a:extLst>
          </p:cNvPr>
          <p:cNvSpPr txBox="1"/>
          <p:nvPr/>
        </p:nvSpPr>
        <p:spPr>
          <a:xfrm>
            <a:off x="8247028" y="2462400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2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09CC746-562F-6160-B479-79E713725935}"/>
              </a:ext>
            </a:extLst>
          </p:cNvPr>
          <p:cNvSpPr txBox="1"/>
          <p:nvPr/>
        </p:nvSpPr>
        <p:spPr>
          <a:xfrm>
            <a:off x="8247027" y="3027763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36300A3-B749-81C1-CF8C-DE711268248C}"/>
              </a:ext>
            </a:extLst>
          </p:cNvPr>
          <p:cNvSpPr txBox="1"/>
          <p:nvPr/>
        </p:nvSpPr>
        <p:spPr>
          <a:xfrm>
            <a:off x="8247026" y="3570396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B830240-A60E-3292-8306-A81A30852E41}"/>
              </a:ext>
            </a:extLst>
          </p:cNvPr>
          <p:cNvSpPr txBox="1"/>
          <p:nvPr/>
        </p:nvSpPr>
        <p:spPr>
          <a:xfrm>
            <a:off x="8247026" y="4130797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ECB353A-06C5-EC93-916F-78E4C71199F1}"/>
              </a:ext>
            </a:extLst>
          </p:cNvPr>
          <p:cNvSpPr txBox="1"/>
          <p:nvPr/>
        </p:nvSpPr>
        <p:spPr>
          <a:xfrm>
            <a:off x="8247025" y="4681976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04528B3-D93F-88E6-6FD4-71181B842D08}"/>
              </a:ext>
            </a:extLst>
          </p:cNvPr>
          <p:cNvSpPr txBox="1"/>
          <p:nvPr/>
        </p:nvSpPr>
        <p:spPr>
          <a:xfrm>
            <a:off x="9644106" y="2462400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1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675E3F44-7AC9-056D-2224-18BC053F2B46}"/>
              </a:ext>
            </a:extLst>
          </p:cNvPr>
          <p:cNvCxnSpPr>
            <a:cxnSpLocks/>
          </p:cNvCxnSpPr>
          <p:nvPr/>
        </p:nvCxnSpPr>
        <p:spPr>
          <a:xfrm>
            <a:off x="2736724" y="4273886"/>
            <a:ext cx="98675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FA8EAB3C-926A-029E-602B-09E923BEC62D}"/>
              </a:ext>
            </a:extLst>
          </p:cNvPr>
          <p:cNvCxnSpPr>
            <a:cxnSpLocks/>
          </p:cNvCxnSpPr>
          <p:nvPr/>
        </p:nvCxnSpPr>
        <p:spPr>
          <a:xfrm>
            <a:off x="2568087" y="3220249"/>
            <a:ext cx="98675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58EBD560-8F16-C9B4-1AAB-23D2B7CCE2C1}"/>
              </a:ext>
            </a:extLst>
          </p:cNvPr>
          <p:cNvSpPr txBox="1"/>
          <p:nvPr/>
        </p:nvSpPr>
        <p:spPr>
          <a:xfrm>
            <a:off x="9200374" y="1400330"/>
            <a:ext cx="2384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Clips to the reference</a:t>
            </a:r>
            <a:endParaRPr kumimoji="1" lang="zh-TW" altLang="en-US" dirty="0"/>
          </a:p>
        </p:txBody>
      </p: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043A5E8D-6E01-DD45-5621-1259E1C6E6CB}"/>
              </a:ext>
            </a:extLst>
          </p:cNvPr>
          <p:cNvCxnSpPr/>
          <p:nvPr/>
        </p:nvCxnSpPr>
        <p:spPr>
          <a:xfrm>
            <a:off x="10592902" y="1779450"/>
            <a:ext cx="0" cy="4562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AA187497-71AE-8D2F-AD2F-6471EFDDFFCC}"/>
              </a:ext>
            </a:extLst>
          </p:cNvPr>
          <p:cNvSpPr txBox="1"/>
          <p:nvPr/>
        </p:nvSpPr>
        <p:spPr>
          <a:xfrm>
            <a:off x="653143" y="5315488"/>
            <a:ext cx="499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Count</a:t>
            </a:r>
            <a:r>
              <a:rPr lang="zh-TW" altLang="en-US" sz="2000" baseline="-25000" dirty="0"/>
              <a:t>clip</a:t>
            </a:r>
            <a:r>
              <a:rPr lang="zh-TW" altLang="en-US" sz="2000" dirty="0"/>
              <a:t> = min(Count, Max</a:t>
            </a:r>
            <a:r>
              <a:rPr lang="en-US" altLang="zh-TW" sz="2000" dirty="0"/>
              <a:t>_</a:t>
            </a:r>
            <a:r>
              <a:rPr lang="zh-TW" altLang="en-US" sz="2000" dirty="0"/>
              <a:t>Ref</a:t>
            </a:r>
            <a:r>
              <a:rPr lang="en-US" altLang="zh-TW" sz="2000" dirty="0"/>
              <a:t>_</a:t>
            </a:r>
            <a:r>
              <a:rPr lang="zh-TW" altLang="en-US" sz="2000" dirty="0"/>
              <a:t>Count)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3C61FA6-44AA-F330-22D4-7943BA17B73D}"/>
              </a:ext>
            </a:extLst>
          </p:cNvPr>
          <p:cNvSpPr txBox="1"/>
          <p:nvPr/>
        </p:nvSpPr>
        <p:spPr>
          <a:xfrm>
            <a:off x="2635286" y="6271079"/>
            <a:ext cx="6921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 err="1"/>
              <a:t>Papineni</a:t>
            </a:r>
            <a:r>
              <a:rPr lang="en" altLang="zh-TW" sz="1200" dirty="0"/>
              <a:t>, Kishore, et al. "Bleu: a method for automatic evaluation of machine translation." Proceedings of the 40th annual meeting of the Association for Computational Linguistics. 2002.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93391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6C2B0-B651-22B5-1AC7-2D9F9C3D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Calculation of BLEU Score (Example)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EE6EBD-9140-5BE4-5F91-8074B6D2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FB29211-617B-1D1B-AE20-77C497F3D328}"/>
              </a:ext>
            </a:extLst>
          </p:cNvPr>
          <p:cNvSpPr txBox="1"/>
          <p:nvPr/>
        </p:nvSpPr>
        <p:spPr>
          <a:xfrm>
            <a:off x="7091305" y="2462400"/>
            <a:ext cx="1917577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the dog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dog the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dog on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on the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the bed</a:t>
            </a:r>
            <a:endParaRPr kumimoji="1" lang="zh-TW" altLang="en-US" sz="24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D8BFB20-29FA-D051-C875-2244E58DA7AF}"/>
              </a:ext>
            </a:extLst>
          </p:cNvPr>
          <p:cNvSpPr txBox="1"/>
          <p:nvPr/>
        </p:nvSpPr>
        <p:spPr>
          <a:xfrm>
            <a:off x="8247028" y="1941171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Count</a:t>
            </a:r>
            <a:endParaRPr kumimoji="1" lang="zh-TW" altLang="en-US" sz="24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9C8D1C1-368B-686C-01F9-DE3C21D7D12C}"/>
              </a:ext>
            </a:extLst>
          </p:cNvPr>
          <p:cNvSpPr txBox="1"/>
          <p:nvPr/>
        </p:nvSpPr>
        <p:spPr>
          <a:xfrm>
            <a:off x="9336792" y="1941171"/>
            <a:ext cx="181888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 err="1"/>
              <a:t>Count</a:t>
            </a:r>
            <a:r>
              <a:rPr kumimoji="1" lang="en-US" altLang="zh-TW" sz="2400" baseline="-25000" dirty="0" err="1"/>
              <a:t>clip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8FA665C-2770-D533-61DC-9FEAF0D92C69}"/>
              </a:ext>
            </a:extLst>
          </p:cNvPr>
          <p:cNvSpPr txBox="1"/>
          <p:nvPr/>
        </p:nvSpPr>
        <p:spPr>
          <a:xfrm>
            <a:off x="8247028" y="2462400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2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09CC746-562F-6160-B479-79E713725935}"/>
              </a:ext>
            </a:extLst>
          </p:cNvPr>
          <p:cNvSpPr txBox="1"/>
          <p:nvPr/>
        </p:nvSpPr>
        <p:spPr>
          <a:xfrm>
            <a:off x="8247027" y="3027763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36300A3-B749-81C1-CF8C-DE711268248C}"/>
              </a:ext>
            </a:extLst>
          </p:cNvPr>
          <p:cNvSpPr txBox="1"/>
          <p:nvPr/>
        </p:nvSpPr>
        <p:spPr>
          <a:xfrm>
            <a:off x="8247026" y="3570396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B830240-A60E-3292-8306-A81A30852E41}"/>
              </a:ext>
            </a:extLst>
          </p:cNvPr>
          <p:cNvSpPr txBox="1"/>
          <p:nvPr/>
        </p:nvSpPr>
        <p:spPr>
          <a:xfrm>
            <a:off x="8247026" y="4130797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ECB353A-06C5-EC93-916F-78E4C71199F1}"/>
              </a:ext>
            </a:extLst>
          </p:cNvPr>
          <p:cNvSpPr txBox="1"/>
          <p:nvPr/>
        </p:nvSpPr>
        <p:spPr>
          <a:xfrm>
            <a:off x="8247025" y="4681976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04528B3-D93F-88E6-6FD4-71181B842D08}"/>
              </a:ext>
            </a:extLst>
          </p:cNvPr>
          <p:cNvSpPr txBox="1"/>
          <p:nvPr/>
        </p:nvSpPr>
        <p:spPr>
          <a:xfrm>
            <a:off x="9644106" y="2462400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3209795-0D8B-A14C-90A5-5B7CE2F716D1}"/>
              </a:ext>
            </a:extLst>
          </p:cNvPr>
          <p:cNvSpPr txBox="1"/>
          <p:nvPr/>
        </p:nvSpPr>
        <p:spPr>
          <a:xfrm>
            <a:off x="9644106" y="3027763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0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2909082A-BFB9-3CC4-A6B5-EAC67E38E606}"/>
              </a:ext>
            </a:extLst>
          </p:cNvPr>
          <p:cNvCxnSpPr>
            <a:cxnSpLocks/>
          </p:cNvCxnSpPr>
          <p:nvPr/>
        </p:nvCxnSpPr>
        <p:spPr>
          <a:xfrm>
            <a:off x="3296761" y="4262431"/>
            <a:ext cx="97136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D5D1D460-B6BB-448D-8EC1-7610126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51514"/>
            <a:ext cx="10058400" cy="4023360"/>
          </a:xfrm>
        </p:spPr>
        <p:txBody>
          <a:bodyPr>
            <a:normAutofit/>
          </a:bodyPr>
          <a:lstStyle/>
          <a:p>
            <a:r>
              <a:rPr kumimoji="1" lang="en-US" altLang="zh-TW" sz="2400" b="1" dirty="0"/>
              <a:t>Calculate BLEU-2 score</a:t>
            </a:r>
          </a:p>
          <a:p>
            <a:pPr marL="0" indent="0">
              <a:buNone/>
            </a:pPr>
            <a:endParaRPr kumimoji="1" lang="en-US" altLang="zh-TW" sz="2400" dirty="0"/>
          </a:p>
          <a:p>
            <a:r>
              <a:rPr kumimoji="1" lang="en-US" altLang="zh-TW" sz="2400" dirty="0"/>
              <a:t>Reference1: The dog is on the bed.</a:t>
            </a:r>
          </a:p>
          <a:p>
            <a:r>
              <a:rPr kumimoji="1" lang="en-US" altLang="zh-TW" sz="2400" dirty="0"/>
              <a:t>Reference2: There is a dog on the bed. </a:t>
            </a:r>
          </a:p>
          <a:p>
            <a:r>
              <a:rPr kumimoji="1" lang="en-US" altLang="zh-TW" sz="2400" dirty="0"/>
              <a:t>Model output: The dog the dog on the bed.</a:t>
            </a:r>
            <a:endParaRPr kumimoji="1" lang="zh-TW" altLang="en-US" sz="24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0233C72-CCA1-3E71-21FD-30074A9846D2}"/>
              </a:ext>
            </a:extLst>
          </p:cNvPr>
          <p:cNvSpPr txBox="1"/>
          <p:nvPr/>
        </p:nvSpPr>
        <p:spPr>
          <a:xfrm>
            <a:off x="653143" y="5315488"/>
            <a:ext cx="499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Count</a:t>
            </a:r>
            <a:r>
              <a:rPr lang="zh-TW" altLang="en-US" sz="2000" baseline="-25000" dirty="0"/>
              <a:t>clip</a:t>
            </a:r>
            <a:r>
              <a:rPr lang="zh-TW" altLang="en-US" sz="2000" dirty="0"/>
              <a:t> = min(Count, Max</a:t>
            </a:r>
            <a:r>
              <a:rPr lang="en-US" altLang="zh-TW" sz="2000" dirty="0"/>
              <a:t>_</a:t>
            </a:r>
            <a:r>
              <a:rPr lang="zh-TW" altLang="en-US" sz="2000" dirty="0"/>
              <a:t>Ref</a:t>
            </a:r>
            <a:r>
              <a:rPr lang="en-US" altLang="zh-TW" sz="2000" dirty="0"/>
              <a:t>_</a:t>
            </a:r>
            <a:r>
              <a:rPr lang="zh-TW" altLang="en-US" sz="2000" dirty="0"/>
              <a:t>Count)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4665E4A-431F-DBEA-99A1-B90B55638E58}"/>
              </a:ext>
            </a:extLst>
          </p:cNvPr>
          <p:cNvSpPr txBox="1"/>
          <p:nvPr/>
        </p:nvSpPr>
        <p:spPr>
          <a:xfrm>
            <a:off x="2635286" y="6271079"/>
            <a:ext cx="6921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 err="1"/>
              <a:t>Papineni</a:t>
            </a:r>
            <a:r>
              <a:rPr lang="en" altLang="zh-TW" sz="1200" dirty="0"/>
              <a:t>, Kishore, et al. "Bleu: a method for automatic evaluation of machine translation." Proceedings of the 40th annual meeting of the Association for Computational Linguistics. 2002.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56941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6C2B0-B651-22B5-1AC7-2D9F9C3D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Calculation of BLEU Score (Example)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EE6EBD-9140-5BE4-5F91-8074B6D2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FB29211-617B-1D1B-AE20-77C497F3D328}"/>
              </a:ext>
            </a:extLst>
          </p:cNvPr>
          <p:cNvSpPr txBox="1"/>
          <p:nvPr/>
        </p:nvSpPr>
        <p:spPr>
          <a:xfrm>
            <a:off x="7091305" y="2462400"/>
            <a:ext cx="1917577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the dog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dog the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dog on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on the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the bed</a:t>
            </a:r>
            <a:endParaRPr kumimoji="1" lang="zh-TW" altLang="en-US" sz="24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D8BFB20-29FA-D051-C875-2244E58DA7AF}"/>
              </a:ext>
            </a:extLst>
          </p:cNvPr>
          <p:cNvSpPr txBox="1"/>
          <p:nvPr/>
        </p:nvSpPr>
        <p:spPr>
          <a:xfrm>
            <a:off x="8247028" y="1941171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Count</a:t>
            </a:r>
            <a:endParaRPr kumimoji="1" lang="zh-TW" altLang="en-US" sz="24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9C8D1C1-368B-686C-01F9-DE3C21D7D12C}"/>
              </a:ext>
            </a:extLst>
          </p:cNvPr>
          <p:cNvSpPr txBox="1"/>
          <p:nvPr/>
        </p:nvSpPr>
        <p:spPr>
          <a:xfrm>
            <a:off x="9336792" y="1941171"/>
            <a:ext cx="181888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 err="1"/>
              <a:t>Count</a:t>
            </a:r>
            <a:r>
              <a:rPr kumimoji="1" lang="en-US" altLang="zh-TW" sz="2400" baseline="-25000" dirty="0" err="1"/>
              <a:t>clip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8FA665C-2770-D533-61DC-9FEAF0D92C69}"/>
              </a:ext>
            </a:extLst>
          </p:cNvPr>
          <p:cNvSpPr txBox="1"/>
          <p:nvPr/>
        </p:nvSpPr>
        <p:spPr>
          <a:xfrm>
            <a:off x="8247028" y="2462400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2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09CC746-562F-6160-B479-79E713725935}"/>
              </a:ext>
            </a:extLst>
          </p:cNvPr>
          <p:cNvSpPr txBox="1"/>
          <p:nvPr/>
        </p:nvSpPr>
        <p:spPr>
          <a:xfrm>
            <a:off x="8247027" y="3027763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36300A3-B749-81C1-CF8C-DE711268248C}"/>
              </a:ext>
            </a:extLst>
          </p:cNvPr>
          <p:cNvSpPr txBox="1"/>
          <p:nvPr/>
        </p:nvSpPr>
        <p:spPr>
          <a:xfrm>
            <a:off x="8247026" y="3570396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B830240-A60E-3292-8306-A81A30852E41}"/>
              </a:ext>
            </a:extLst>
          </p:cNvPr>
          <p:cNvSpPr txBox="1"/>
          <p:nvPr/>
        </p:nvSpPr>
        <p:spPr>
          <a:xfrm>
            <a:off x="8247026" y="4130797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ECB353A-06C5-EC93-916F-78E4C71199F1}"/>
              </a:ext>
            </a:extLst>
          </p:cNvPr>
          <p:cNvSpPr txBox="1"/>
          <p:nvPr/>
        </p:nvSpPr>
        <p:spPr>
          <a:xfrm>
            <a:off x="8247025" y="4681976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04528B3-D93F-88E6-6FD4-71181B842D08}"/>
              </a:ext>
            </a:extLst>
          </p:cNvPr>
          <p:cNvSpPr txBox="1"/>
          <p:nvPr/>
        </p:nvSpPr>
        <p:spPr>
          <a:xfrm>
            <a:off x="9644106" y="2462400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3209795-0D8B-A14C-90A5-5B7CE2F716D1}"/>
              </a:ext>
            </a:extLst>
          </p:cNvPr>
          <p:cNvSpPr txBox="1"/>
          <p:nvPr/>
        </p:nvSpPr>
        <p:spPr>
          <a:xfrm>
            <a:off x="9644106" y="3027763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0</a:t>
            </a:r>
            <a:endParaRPr kumimoji="1" lang="zh-TW" altLang="en-US" sz="24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36F641A-D920-6C38-0FCD-17B5CA0B3AFF}"/>
              </a:ext>
            </a:extLst>
          </p:cNvPr>
          <p:cNvSpPr txBox="1"/>
          <p:nvPr/>
        </p:nvSpPr>
        <p:spPr>
          <a:xfrm>
            <a:off x="9644106" y="3570396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1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AF7EEBD0-8DB7-35AB-F841-A99499950393}"/>
              </a:ext>
            </a:extLst>
          </p:cNvPr>
          <p:cNvCxnSpPr>
            <a:cxnSpLocks/>
          </p:cNvCxnSpPr>
          <p:nvPr/>
        </p:nvCxnSpPr>
        <p:spPr>
          <a:xfrm>
            <a:off x="4633775" y="4248248"/>
            <a:ext cx="79935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6DE3597-2C15-28CE-2A72-60588DF18679}"/>
              </a:ext>
            </a:extLst>
          </p:cNvPr>
          <p:cNvCxnSpPr>
            <a:cxnSpLocks/>
          </p:cNvCxnSpPr>
          <p:nvPr/>
        </p:nvCxnSpPr>
        <p:spPr>
          <a:xfrm>
            <a:off x="4013818" y="3705615"/>
            <a:ext cx="79935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7682CED3-E294-E7DA-9FBA-5C1A58AE29E5}"/>
              </a:ext>
            </a:extLst>
          </p:cNvPr>
          <p:cNvSpPr txBox="1"/>
          <p:nvPr/>
        </p:nvSpPr>
        <p:spPr>
          <a:xfrm>
            <a:off x="653143" y="5315488"/>
            <a:ext cx="499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Count</a:t>
            </a:r>
            <a:r>
              <a:rPr lang="zh-TW" altLang="en-US" sz="2000" baseline="-25000" dirty="0"/>
              <a:t>clip</a:t>
            </a:r>
            <a:r>
              <a:rPr lang="zh-TW" altLang="en-US" sz="2000" dirty="0"/>
              <a:t> = min(Count, Max</a:t>
            </a:r>
            <a:r>
              <a:rPr lang="en-US" altLang="zh-TW" sz="2000" dirty="0"/>
              <a:t>_</a:t>
            </a:r>
            <a:r>
              <a:rPr lang="zh-TW" altLang="en-US" sz="2000" dirty="0"/>
              <a:t>Ref</a:t>
            </a:r>
            <a:r>
              <a:rPr lang="en-US" altLang="zh-TW" sz="2000" dirty="0"/>
              <a:t>_</a:t>
            </a:r>
            <a:r>
              <a:rPr lang="zh-TW" altLang="en-US" sz="2000" dirty="0"/>
              <a:t>Count)</a:t>
            </a: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FEC1A5B6-F5E7-FD5F-D30D-1845BB2F2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51514"/>
            <a:ext cx="10058400" cy="4023360"/>
          </a:xfrm>
        </p:spPr>
        <p:txBody>
          <a:bodyPr>
            <a:normAutofit/>
          </a:bodyPr>
          <a:lstStyle/>
          <a:p>
            <a:r>
              <a:rPr kumimoji="1" lang="en-US" altLang="zh-TW" sz="2400" b="1" dirty="0"/>
              <a:t>Calculate BLEU-2 score</a:t>
            </a:r>
          </a:p>
          <a:p>
            <a:pPr marL="0" indent="0">
              <a:buNone/>
            </a:pPr>
            <a:endParaRPr kumimoji="1" lang="en-US" altLang="zh-TW" sz="2400" dirty="0"/>
          </a:p>
          <a:p>
            <a:r>
              <a:rPr kumimoji="1" lang="en-US" altLang="zh-TW" sz="2400" dirty="0"/>
              <a:t>Reference1: The dog is on the bed.</a:t>
            </a:r>
          </a:p>
          <a:p>
            <a:r>
              <a:rPr kumimoji="1" lang="en-US" altLang="zh-TW" sz="2400" dirty="0"/>
              <a:t>Reference2: There is a dog on the bed. </a:t>
            </a:r>
          </a:p>
          <a:p>
            <a:r>
              <a:rPr kumimoji="1" lang="en-US" altLang="zh-TW" sz="2400" dirty="0"/>
              <a:t>Model output: The dog the dog on the bed.</a:t>
            </a:r>
            <a:endParaRPr kumimoji="1" lang="zh-TW" altLang="en-US" sz="24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67F65CF-272D-16D1-CE8B-BED0C955432F}"/>
              </a:ext>
            </a:extLst>
          </p:cNvPr>
          <p:cNvSpPr txBox="1"/>
          <p:nvPr/>
        </p:nvSpPr>
        <p:spPr>
          <a:xfrm>
            <a:off x="2635286" y="6271079"/>
            <a:ext cx="6921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 err="1"/>
              <a:t>Papineni</a:t>
            </a:r>
            <a:r>
              <a:rPr lang="en" altLang="zh-TW" sz="1200" dirty="0"/>
              <a:t>, Kishore, et al. "Bleu: a method for automatic evaluation of machine translation." Proceedings of the 40th annual meeting of the Association for Computational Linguistics. 2002.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66644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6C2B0-B651-22B5-1AC7-2D9F9C3D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Calculation of BLEU Score (Example)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EE6EBD-9140-5BE4-5F91-8074B6D2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FB29211-617B-1D1B-AE20-77C497F3D328}"/>
              </a:ext>
            </a:extLst>
          </p:cNvPr>
          <p:cNvSpPr txBox="1"/>
          <p:nvPr/>
        </p:nvSpPr>
        <p:spPr>
          <a:xfrm>
            <a:off x="7091305" y="2462400"/>
            <a:ext cx="1917577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the dog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dog the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dog on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on the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the bed</a:t>
            </a:r>
            <a:endParaRPr kumimoji="1" lang="zh-TW" altLang="en-US" sz="24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D8BFB20-29FA-D051-C875-2244E58DA7AF}"/>
              </a:ext>
            </a:extLst>
          </p:cNvPr>
          <p:cNvSpPr txBox="1"/>
          <p:nvPr/>
        </p:nvSpPr>
        <p:spPr>
          <a:xfrm>
            <a:off x="8247028" y="1941171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Count</a:t>
            </a:r>
            <a:endParaRPr kumimoji="1" lang="zh-TW" altLang="en-US" sz="24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9C8D1C1-368B-686C-01F9-DE3C21D7D12C}"/>
              </a:ext>
            </a:extLst>
          </p:cNvPr>
          <p:cNvSpPr txBox="1"/>
          <p:nvPr/>
        </p:nvSpPr>
        <p:spPr>
          <a:xfrm>
            <a:off x="9336792" y="1941171"/>
            <a:ext cx="181888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 err="1"/>
              <a:t>Count</a:t>
            </a:r>
            <a:r>
              <a:rPr kumimoji="1" lang="en-US" altLang="zh-TW" sz="2400" baseline="-25000" dirty="0" err="1"/>
              <a:t>clip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8FA665C-2770-D533-61DC-9FEAF0D92C69}"/>
              </a:ext>
            </a:extLst>
          </p:cNvPr>
          <p:cNvSpPr txBox="1"/>
          <p:nvPr/>
        </p:nvSpPr>
        <p:spPr>
          <a:xfrm>
            <a:off x="8247028" y="2462400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2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09CC746-562F-6160-B479-79E713725935}"/>
              </a:ext>
            </a:extLst>
          </p:cNvPr>
          <p:cNvSpPr txBox="1"/>
          <p:nvPr/>
        </p:nvSpPr>
        <p:spPr>
          <a:xfrm>
            <a:off x="8247027" y="3027763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36300A3-B749-81C1-CF8C-DE711268248C}"/>
              </a:ext>
            </a:extLst>
          </p:cNvPr>
          <p:cNvSpPr txBox="1"/>
          <p:nvPr/>
        </p:nvSpPr>
        <p:spPr>
          <a:xfrm>
            <a:off x="8247026" y="3570396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B830240-A60E-3292-8306-A81A30852E41}"/>
              </a:ext>
            </a:extLst>
          </p:cNvPr>
          <p:cNvSpPr txBox="1"/>
          <p:nvPr/>
        </p:nvSpPr>
        <p:spPr>
          <a:xfrm>
            <a:off x="8247026" y="4130797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ECB353A-06C5-EC93-916F-78E4C71199F1}"/>
              </a:ext>
            </a:extLst>
          </p:cNvPr>
          <p:cNvSpPr txBox="1"/>
          <p:nvPr/>
        </p:nvSpPr>
        <p:spPr>
          <a:xfrm>
            <a:off x="8247025" y="4681976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04528B3-D93F-88E6-6FD4-71181B842D08}"/>
              </a:ext>
            </a:extLst>
          </p:cNvPr>
          <p:cNvSpPr txBox="1"/>
          <p:nvPr/>
        </p:nvSpPr>
        <p:spPr>
          <a:xfrm>
            <a:off x="9644106" y="2462400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3209795-0D8B-A14C-90A5-5B7CE2F716D1}"/>
              </a:ext>
            </a:extLst>
          </p:cNvPr>
          <p:cNvSpPr txBox="1"/>
          <p:nvPr/>
        </p:nvSpPr>
        <p:spPr>
          <a:xfrm>
            <a:off x="9644106" y="3027763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0</a:t>
            </a:r>
            <a:endParaRPr kumimoji="1" lang="zh-TW" altLang="en-US" sz="24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36F641A-D920-6C38-0FCD-17B5CA0B3AFF}"/>
              </a:ext>
            </a:extLst>
          </p:cNvPr>
          <p:cNvSpPr txBox="1"/>
          <p:nvPr/>
        </p:nvSpPr>
        <p:spPr>
          <a:xfrm>
            <a:off x="9644106" y="3570396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EAE0EA8-8416-6130-44D8-6DA6B523DD79}"/>
              </a:ext>
            </a:extLst>
          </p:cNvPr>
          <p:cNvSpPr txBox="1"/>
          <p:nvPr/>
        </p:nvSpPr>
        <p:spPr>
          <a:xfrm>
            <a:off x="9644106" y="4130797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1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E766714F-6813-5013-5B20-F7948B713044}"/>
              </a:ext>
            </a:extLst>
          </p:cNvPr>
          <p:cNvCxnSpPr>
            <a:cxnSpLocks/>
          </p:cNvCxnSpPr>
          <p:nvPr/>
        </p:nvCxnSpPr>
        <p:spPr>
          <a:xfrm>
            <a:off x="5013094" y="4248248"/>
            <a:ext cx="80675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EAADA81D-03D4-9B98-5516-2B0AF2E94379}"/>
              </a:ext>
            </a:extLst>
          </p:cNvPr>
          <p:cNvCxnSpPr>
            <a:cxnSpLocks/>
          </p:cNvCxnSpPr>
          <p:nvPr/>
        </p:nvCxnSpPr>
        <p:spPr>
          <a:xfrm>
            <a:off x="4530202" y="3723371"/>
            <a:ext cx="80675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BCF3DC91-31F8-FE7C-5456-1FFEAF9A948C}"/>
              </a:ext>
            </a:extLst>
          </p:cNvPr>
          <p:cNvCxnSpPr>
            <a:cxnSpLocks/>
          </p:cNvCxnSpPr>
          <p:nvPr/>
        </p:nvCxnSpPr>
        <p:spPr>
          <a:xfrm>
            <a:off x="4064677" y="3209945"/>
            <a:ext cx="80675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5EBCC9A1-CB6B-8A31-E868-D05BF21B2918}"/>
              </a:ext>
            </a:extLst>
          </p:cNvPr>
          <p:cNvSpPr txBox="1"/>
          <p:nvPr/>
        </p:nvSpPr>
        <p:spPr>
          <a:xfrm>
            <a:off x="653143" y="4719869"/>
            <a:ext cx="5696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Count </a:t>
            </a:r>
            <a:r>
              <a:rPr kumimoji="1" lang="en-US" altLang="zh-TW" dirty="0">
                <a:solidFill>
                  <a:srgbClr val="FF0000"/>
                </a:solidFill>
              </a:rPr>
              <a:t>only one time </a:t>
            </a:r>
            <a:r>
              <a:rPr kumimoji="1" lang="en-US" altLang="zh-TW" dirty="0"/>
              <a:t>even mapped to both references.</a:t>
            </a:r>
            <a:endParaRPr kumimoji="1" lang="zh-TW" alt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EE37BE32-DBEB-89A2-C7E5-5310BFEAB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51514"/>
            <a:ext cx="10058400" cy="4023360"/>
          </a:xfrm>
        </p:spPr>
        <p:txBody>
          <a:bodyPr>
            <a:normAutofit/>
          </a:bodyPr>
          <a:lstStyle/>
          <a:p>
            <a:r>
              <a:rPr kumimoji="1" lang="en-US" altLang="zh-TW" sz="2400" b="1" dirty="0"/>
              <a:t>Calculate BLEU-2 score</a:t>
            </a:r>
          </a:p>
          <a:p>
            <a:pPr marL="0" indent="0">
              <a:buNone/>
            </a:pPr>
            <a:endParaRPr kumimoji="1" lang="en-US" altLang="zh-TW" sz="2400" dirty="0"/>
          </a:p>
          <a:p>
            <a:r>
              <a:rPr kumimoji="1" lang="en-US" altLang="zh-TW" sz="2400" dirty="0"/>
              <a:t>Reference1: The dog is on the bed.</a:t>
            </a:r>
          </a:p>
          <a:p>
            <a:r>
              <a:rPr kumimoji="1" lang="en-US" altLang="zh-TW" sz="2400" dirty="0"/>
              <a:t>Reference2: There is a dog on the bed. </a:t>
            </a:r>
          </a:p>
          <a:p>
            <a:r>
              <a:rPr kumimoji="1" lang="en-US" altLang="zh-TW" sz="2400" dirty="0"/>
              <a:t>Model output: The dog the dog on the bed.</a:t>
            </a:r>
            <a:endParaRPr kumimoji="1" lang="zh-TW" altLang="en-US" sz="24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5A763E1-20BD-3570-5A55-A76EAE134136}"/>
              </a:ext>
            </a:extLst>
          </p:cNvPr>
          <p:cNvSpPr txBox="1"/>
          <p:nvPr/>
        </p:nvSpPr>
        <p:spPr>
          <a:xfrm>
            <a:off x="2635286" y="6271079"/>
            <a:ext cx="6921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 err="1"/>
              <a:t>Papineni</a:t>
            </a:r>
            <a:r>
              <a:rPr lang="en" altLang="zh-TW" sz="1200" dirty="0"/>
              <a:t>, Kishore, et al. "Bleu: a method for automatic evaluation of machine translation." Proceedings of the 40th annual meeting of the Association for Computational Linguistics. 2002.</a:t>
            </a:r>
            <a:endParaRPr lang="zh-TW" altLang="en-US" sz="12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9B78849-D116-9B17-43B1-3221BFC09E82}"/>
              </a:ext>
            </a:extLst>
          </p:cNvPr>
          <p:cNvSpPr txBox="1"/>
          <p:nvPr/>
        </p:nvSpPr>
        <p:spPr>
          <a:xfrm>
            <a:off x="653143" y="5315488"/>
            <a:ext cx="499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Count</a:t>
            </a:r>
            <a:r>
              <a:rPr lang="zh-TW" altLang="en-US" sz="2000" baseline="-25000" dirty="0"/>
              <a:t>clip</a:t>
            </a:r>
            <a:r>
              <a:rPr lang="zh-TW" altLang="en-US" sz="2000" dirty="0"/>
              <a:t> = min(Count, Max</a:t>
            </a:r>
            <a:r>
              <a:rPr lang="en-US" altLang="zh-TW" sz="2000" dirty="0"/>
              <a:t>_</a:t>
            </a:r>
            <a:r>
              <a:rPr lang="zh-TW" altLang="en-US" sz="2000" dirty="0"/>
              <a:t>Ref</a:t>
            </a:r>
            <a:r>
              <a:rPr lang="en-US" altLang="zh-TW" sz="2000" dirty="0"/>
              <a:t>_</a:t>
            </a:r>
            <a:r>
              <a:rPr lang="zh-TW" altLang="en-US" sz="2000" dirty="0"/>
              <a:t>Count)</a:t>
            </a:r>
          </a:p>
        </p:txBody>
      </p:sp>
    </p:spTree>
    <p:extLst>
      <p:ext uri="{BB962C8B-B14F-4D97-AF65-F5344CB8AC3E}">
        <p14:creationId xmlns:p14="http://schemas.microsoft.com/office/powerpoint/2010/main" val="563460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6C2B0-B651-22B5-1AC7-2D9F9C3D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Calculation of BLEU Score (Example)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EE6EBD-9140-5BE4-5F91-8074B6D2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FB29211-617B-1D1B-AE20-77C497F3D328}"/>
              </a:ext>
            </a:extLst>
          </p:cNvPr>
          <p:cNvSpPr txBox="1"/>
          <p:nvPr/>
        </p:nvSpPr>
        <p:spPr>
          <a:xfrm>
            <a:off x="7091305" y="2462400"/>
            <a:ext cx="1917577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the dog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dog the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dog on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on the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the bed</a:t>
            </a:r>
            <a:endParaRPr kumimoji="1" lang="zh-TW" altLang="en-US" sz="24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D8BFB20-29FA-D051-C875-2244E58DA7AF}"/>
              </a:ext>
            </a:extLst>
          </p:cNvPr>
          <p:cNvSpPr txBox="1"/>
          <p:nvPr/>
        </p:nvSpPr>
        <p:spPr>
          <a:xfrm>
            <a:off x="8247028" y="1941171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Count</a:t>
            </a:r>
            <a:endParaRPr kumimoji="1" lang="zh-TW" altLang="en-US" sz="24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9C8D1C1-368B-686C-01F9-DE3C21D7D12C}"/>
              </a:ext>
            </a:extLst>
          </p:cNvPr>
          <p:cNvSpPr txBox="1"/>
          <p:nvPr/>
        </p:nvSpPr>
        <p:spPr>
          <a:xfrm>
            <a:off x="9336792" y="1941171"/>
            <a:ext cx="1818888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 err="1"/>
              <a:t>Count</a:t>
            </a:r>
            <a:r>
              <a:rPr kumimoji="1" lang="en-US" altLang="zh-TW" sz="2400" baseline="-25000" dirty="0" err="1"/>
              <a:t>clip</a:t>
            </a:r>
            <a:endParaRPr kumimoji="1" lang="zh-TW" altLang="en-US" sz="24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8FA665C-2770-D533-61DC-9FEAF0D92C69}"/>
              </a:ext>
            </a:extLst>
          </p:cNvPr>
          <p:cNvSpPr txBox="1"/>
          <p:nvPr/>
        </p:nvSpPr>
        <p:spPr>
          <a:xfrm>
            <a:off x="8247028" y="2462400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2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09CC746-562F-6160-B479-79E713725935}"/>
              </a:ext>
            </a:extLst>
          </p:cNvPr>
          <p:cNvSpPr txBox="1"/>
          <p:nvPr/>
        </p:nvSpPr>
        <p:spPr>
          <a:xfrm>
            <a:off x="8247027" y="3027763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36300A3-B749-81C1-CF8C-DE711268248C}"/>
              </a:ext>
            </a:extLst>
          </p:cNvPr>
          <p:cNvSpPr txBox="1"/>
          <p:nvPr/>
        </p:nvSpPr>
        <p:spPr>
          <a:xfrm>
            <a:off x="8247026" y="3570396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B830240-A60E-3292-8306-A81A30852E41}"/>
              </a:ext>
            </a:extLst>
          </p:cNvPr>
          <p:cNvSpPr txBox="1"/>
          <p:nvPr/>
        </p:nvSpPr>
        <p:spPr>
          <a:xfrm>
            <a:off x="8247026" y="4130797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ECB353A-06C5-EC93-916F-78E4C71199F1}"/>
              </a:ext>
            </a:extLst>
          </p:cNvPr>
          <p:cNvSpPr txBox="1"/>
          <p:nvPr/>
        </p:nvSpPr>
        <p:spPr>
          <a:xfrm>
            <a:off x="8247025" y="4681976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C04528B3-D93F-88E6-6FD4-71181B842D08}"/>
              </a:ext>
            </a:extLst>
          </p:cNvPr>
          <p:cNvSpPr txBox="1"/>
          <p:nvPr/>
        </p:nvSpPr>
        <p:spPr>
          <a:xfrm>
            <a:off x="9644106" y="2462400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3209795-0D8B-A14C-90A5-5B7CE2F716D1}"/>
              </a:ext>
            </a:extLst>
          </p:cNvPr>
          <p:cNvSpPr txBox="1"/>
          <p:nvPr/>
        </p:nvSpPr>
        <p:spPr>
          <a:xfrm>
            <a:off x="9644106" y="3027763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0</a:t>
            </a:r>
            <a:endParaRPr kumimoji="1" lang="zh-TW" altLang="en-US" sz="24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36F641A-D920-6C38-0FCD-17B5CA0B3AFF}"/>
              </a:ext>
            </a:extLst>
          </p:cNvPr>
          <p:cNvSpPr txBox="1"/>
          <p:nvPr/>
        </p:nvSpPr>
        <p:spPr>
          <a:xfrm>
            <a:off x="9644106" y="3570396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EAE0EA8-8416-6130-44D8-6DA6B523DD79}"/>
              </a:ext>
            </a:extLst>
          </p:cNvPr>
          <p:cNvSpPr txBox="1"/>
          <p:nvPr/>
        </p:nvSpPr>
        <p:spPr>
          <a:xfrm>
            <a:off x="9644106" y="4130797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/>
              <a:t>1</a:t>
            </a:r>
            <a:endParaRPr kumimoji="1" lang="zh-TW" altLang="en-US" sz="2400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E5880A7B-2311-DBDF-9566-C30AB3990E0D}"/>
              </a:ext>
            </a:extLst>
          </p:cNvPr>
          <p:cNvSpPr txBox="1"/>
          <p:nvPr/>
        </p:nvSpPr>
        <p:spPr>
          <a:xfrm>
            <a:off x="9644105" y="4681832"/>
            <a:ext cx="113323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</a:rPr>
              <a:t>1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125A9CFC-31A1-9543-AA06-E9D5895457FA}"/>
              </a:ext>
            </a:extLst>
          </p:cNvPr>
          <p:cNvCxnSpPr>
            <a:cxnSpLocks/>
          </p:cNvCxnSpPr>
          <p:nvPr/>
        </p:nvCxnSpPr>
        <p:spPr>
          <a:xfrm>
            <a:off x="5557053" y="4218372"/>
            <a:ext cx="89701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764D6AB4-5014-29D5-80DE-8B5F6A541DD4}"/>
              </a:ext>
            </a:extLst>
          </p:cNvPr>
          <p:cNvCxnSpPr>
            <a:cxnSpLocks/>
          </p:cNvCxnSpPr>
          <p:nvPr/>
        </p:nvCxnSpPr>
        <p:spPr>
          <a:xfrm>
            <a:off x="4963729" y="3705615"/>
            <a:ext cx="89701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004E308D-FA5F-2D16-8E6D-16F27089952B}"/>
              </a:ext>
            </a:extLst>
          </p:cNvPr>
          <p:cNvCxnSpPr>
            <a:cxnSpLocks/>
          </p:cNvCxnSpPr>
          <p:nvPr/>
        </p:nvCxnSpPr>
        <p:spPr>
          <a:xfrm>
            <a:off x="4497466" y="3207797"/>
            <a:ext cx="89701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88A241B9-88EE-1CE6-AED6-80E2E2ADD865}"/>
                  </a:ext>
                </a:extLst>
              </p:cNvPr>
              <p:cNvSpPr txBox="1"/>
              <p:nvPr/>
            </p:nvSpPr>
            <p:spPr>
              <a:xfrm>
                <a:off x="9041589" y="5397428"/>
                <a:ext cx="2712445" cy="528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2000" dirty="0">
                    <a:solidFill>
                      <a:srgbClr val="FF0000"/>
                    </a:solidFill>
                  </a:rPr>
                  <a:t>Modified Precision: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TW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kumimoji="1"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kumimoji="1"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88A241B9-88EE-1CE6-AED6-80E2E2ADD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1589" y="5397428"/>
                <a:ext cx="2712445" cy="528222"/>
              </a:xfrm>
              <a:prstGeom prst="rect">
                <a:avLst/>
              </a:prstGeom>
              <a:blipFill>
                <a:blip r:embed="rId3"/>
                <a:stretch>
                  <a:fillRect l="-1860"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7F3DD720-F38F-7E24-D68A-57507670DE34}"/>
              </a:ext>
            </a:extLst>
          </p:cNvPr>
          <p:cNvSpPr txBox="1"/>
          <p:nvPr/>
        </p:nvSpPr>
        <p:spPr>
          <a:xfrm>
            <a:off x="2635286" y="6271079"/>
            <a:ext cx="6921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 err="1"/>
              <a:t>Papineni</a:t>
            </a:r>
            <a:r>
              <a:rPr lang="en" altLang="zh-TW" sz="1200" dirty="0"/>
              <a:t>, Kishore, et al. "Bleu: a method for automatic evaluation of machine translation." Proceedings of the 40th annual meeting of the Association for Computational Linguistics. 2002.</a:t>
            </a:r>
            <a:endParaRPr lang="zh-TW" altLang="en-US" sz="1200" dirty="0"/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495FCBF6-8611-E5CB-C0D2-1E9452975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51514"/>
            <a:ext cx="10058400" cy="4023360"/>
          </a:xfrm>
        </p:spPr>
        <p:txBody>
          <a:bodyPr>
            <a:normAutofit/>
          </a:bodyPr>
          <a:lstStyle/>
          <a:p>
            <a:r>
              <a:rPr kumimoji="1" lang="en-US" altLang="zh-TW" sz="2400" b="1" dirty="0"/>
              <a:t>Calculate BLEU-2 score</a:t>
            </a:r>
          </a:p>
          <a:p>
            <a:pPr marL="0" indent="0">
              <a:buNone/>
            </a:pPr>
            <a:endParaRPr kumimoji="1" lang="en-US" altLang="zh-TW" sz="2400" dirty="0"/>
          </a:p>
          <a:p>
            <a:r>
              <a:rPr kumimoji="1" lang="en-US" altLang="zh-TW" sz="2400" dirty="0"/>
              <a:t>Reference1: The dog is on the bed.</a:t>
            </a:r>
          </a:p>
          <a:p>
            <a:r>
              <a:rPr kumimoji="1" lang="en-US" altLang="zh-TW" sz="2400" dirty="0"/>
              <a:t>Reference2: There is a dog on the bed. </a:t>
            </a:r>
          </a:p>
          <a:p>
            <a:r>
              <a:rPr kumimoji="1" lang="en-US" altLang="zh-TW" sz="2400" dirty="0"/>
              <a:t>Model output: The dog the dog on the bed.</a:t>
            </a:r>
            <a:endParaRPr kumimoji="1" lang="zh-TW" altLang="en-US" sz="24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C113C7F-D6D6-4A2D-F9E2-AA65E64A551F}"/>
              </a:ext>
            </a:extLst>
          </p:cNvPr>
          <p:cNvSpPr txBox="1"/>
          <p:nvPr/>
        </p:nvSpPr>
        <p:spPr>
          <a:xfrm>
            <a:off x="653143" y="4719869"/>
            <a:ext cx="5696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Count </a:t>
            </a:r>
            <a:r>
              <a:rPr kumimoji="1" lang="en-US" altLang="zh-TW" dirty="0">
                <a:solidFill>
                  <a:srgbClr val="FF0000"/>
                </a:solidFill>
              </a:rPr>
              <a:t>only one time </a:t>
            </a:r>
            <a:r>
              <a:rPr kumimoji="1" lang="en-US" altLang="zh-TW" dirty="0"/>
              <a:t>even mapped to both references.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9151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4BDFF9-9602-3944-87EB-23E528A07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Formula of BLEU Score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DCE3AC-0BDA-2F95-75D8-9E596E869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E8AF1F2-9B11-E46F-53EF-14363CBA9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38588"/>
            <a:ext cx="7772400" cy="238082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1D0653D-1520-C553-2CA6-1C9B31EDC270}"/>
              </a:ext>
            </a:extLst>
          </p:cNvPr>
          <p:cNvSpPr txBox="1"/>
          <p:nvPr/>
        </p:nvSpPr>
        <p:spPr>
          <a:xfrm>
            <a:off x="4536489" y="1785979"/>
            <a:ext cx="63850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</a:rPr>
              <a:t>Summation for unigram, bigram, tri-gram, and 4-gram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2FC5D24D-D915-3DCA-7843-4CBB53A12399}"/>
              </a:ext>
            </a:extLst>
          </p:cNvPr>
          <p:cNvCxnSpPr>
            <a:cxnSpLocks/>
          </p:cNvCxnSpPr>
          <p:nvPr/>
        </p:nvCxnSpPr>
        <p:spPr>
          <a:xfrm>
            <a:off x="6126480" y="2211954"/>
            <a:ext cx="0" cy="49573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BE9B1EF5-416D-4635-793F-634A5F3CC522}"/>
              </a:ext>
            </a:extLst>
          </p:cNvPr>
          <p:cNvCxnSpPr>
            <a:cxnSpLocks/>
          </p:cNvCxnSpPr>
          <p:nvPr/>
        </p:nvCxnSpPr>
        <p:spPr>
          <a:xfrm>
            <a:off x="9066468" y="2211954"/>
            <a:ext cx="0" cy="49573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5A052931-883D-C347-2FF8-3C8A856F21D6}"/>
              </a:ext>
            </a:extLst>
          </p:cNvPr>
          <p:cNvCxnSpPr>
            <a:cxnSpLocks/>
          </p:cNvCxnSpPr>
          <p:nvPr/>
        </p:nvCxnSpPr>
        <p:spPr>
          <a:xfrm flipV="1">
            <a:off x="4263649" y="4555723"/>
            <a:ext cx="0" cy="51342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09F1257-4CB3-FD64-9309-F3ECA1E97D2B}"/>
              </a:ext>
            </a:extLst>
          </p:cNvPr>
          <p:cNvSpPr txBox="1"/>
          <p:nvPr/>
        </p:nvSpPr>
        <p:spPr>
          <a:xfrm>
            <a:off x="888920" y="5069150"/>
            <a:ext cx="7708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</a:rPr>
              <a:t>Summation for all candidates (model outputs) of each translation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38B9519-EAA2-C2F6-F170-76A93A036202}"/>
              </a:ext>
            </a:extLst>
          </p:cNvPr>
          <p:cNvSpPr txBox="1"/>
          <p:nvPr/>
        </p:nvSpPr>
        <p:spPr>
          <a:xfrm>
            <a:off x="2635286" y="6271079"/>
            <a:ext cx="6921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 err="1"/>
              <a:t>Papineni</a:t>
            </a:r>
            <a:r>
              <a:rPr lang="en" altLang="zh-TW" sz="1200" dirty="0"/>
              <a:t>, Kishore, et al. "Bleu: a method for automatic evaluation of machine translation." Proceedings of the 40th annual meeting of the Association for Computational Linguistics. 2002.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99504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4BDFF9-9602-3944-87EB-23E528A07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What we’ve learned BLEU so far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DCE3AC-0BDA-2F95-75D8-9E596E869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77CA5C-E07A-DE3E-959B-8C53594644F1}"/>
              </a:ext>
            </a:extLst>
          </p:cNvPr>
          <p:cNvSpPr txBox="1"/>
          <p:nvPr/>
        </p:nvSpPr>
        <p:spPr>
          <a:xfrm>
            <a:off x="1005936" y="1855809"/>
            <a:ext cx="10149744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The BLEU score is calculated from the summation of 1-gram to 4-gram.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You can also measure n-gram individually.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We use modified precision to prevent bad evaluations.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What will happen if a model tends to generate really short sentences?</a:t>
            </a:r>
          </a:p>
        </p:txBody>
      </p:sp>
      <p:sp>
        <p:nvSpPr>
          <p:cNvPr id="5" name="向右箭號 4">
            <a:extLst>
              <a:ext uri="{FF2B5EF4-FFF2-40B4-BE49-F238E27FC236}">
                <a16:creationId xmlns:a16="http://schemas.microsoft.com/office/drawing/2014/main" id="{BEFE145C-B6E6-FAB9-0E6A-0CD122C995CB}"/>
              </a:ext>
            </a:extLst>
          </p:cNvPr>
          <p:cNvSpPr/>
          <p:nvPr/>
        </p:nvSpPr>
        <p:spPr>
          <a:xfrm>
            <a:off x="1518082" y="4429957"/>
            <a:ext cx="514905" cy="301841"/>
          </a:xfrm>
          <a:prstGeom prst="rightArrow">
            <a:avLst/>
          </a:prstGeom>
          <a:solidFill>
            <a:srgbClr val="C5E0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2FE1110-CA87-1222-AFF0-DC6C27D2594E}"/>
              </a:ext>
            </a:extLst>
          </p:cNvPr>
          <p:cNvSpPr txBox="1"/>
          <p:nvPr/>
        </p:nvSpPr>
        <p:spPr>
          <a:xfrm>
            <a:off x="2228294" y="4350044"/>
            <a:ext cx="6334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>
                <a:solidFill>
                  <a:srgbClr val="FF0000"/>
                </a:solidFill>
              </a:rPr>
              <a:t>More penalty for calculating BLEU score!</a:t>
            </a:r>
            <a:endParaRPr kumimoji="1"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43B5165-475D-30C5-2C66-01C1E20707FA}"/>
              </a:ext>
            </a:extLst>
          </p:cNvPr>
          <p:cNvSpPr txBox="1"/>
          <p:nvPr/>
        </p:nvSpPr>
        <p:spPr>
          <a:xfrm>
            <a:off x="2635286" y="6271079"/>
            <a:ext cx="6921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 err="1"/>
              <a:t>Papineni</a:t>
            </a:r>
            <a:r>
              <a:rPr lang="en" altLang="zh-TW" sz="1200" dirty="0"/>
              <a:t>, Kishore, et al. "Bleu: a method for automatic evaluation of machine translation." Proceedings of the 40th annual meeting of the Association for Computational Linguistics. 2002.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40410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1814A2-68C7-6138-B6FB-379DA3481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Brevity Penalty (BP)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AA785E-0B01-6D66-F089-42573386C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DB24E95-901D-3C7E-9EDB-C056A32CB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1" y="2544554"/>
            <a:ext cx="4368553" cy="103578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4409E73-E14E-C628-2D17-4B5E3EEB8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1" y="3856415"/>
            <a:ext cx="4740120" cy="13373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CA735BA-2983-2898-B471-4170D6A6C173}"/>
                  </a:ext>
                </a:extLst>
              </p:cNvPr>
              <p:cNvSpPr txBox="1"/>
              <p:nvPr/>
            </p:nvSpPr>
            <p:spPr>
              <a:xfrm>
                <a:off x="7237076" y="1545760"/>
                <a:ext cx="4334438" cy="923330"/>
              </a:xfrm>
              <a:prstGeom prst="rect">
                <a:avLst/>
              </a:prstGeom>
              <a:noFill/>
              <a:ln w="1905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en-US" altLang="zh-TW" dirty="0"/>
                  <a:t>: The length of a candidate sequence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kumimoji="1" lang="en-US" altLang="zh-TW" dirty="0"/>
                  <a:t>: The length of a reference sequence that is closest to 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en-US" altLang="zh-TW" dirty="0"/>
                  <a:t> (shorter one)</a:t>
                </a: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CA735BA-2983-2898-B471-4170D6A6C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076" y="1545760"/>
                <a:ext cx="4334438" cy="923330"/>
              </a:xfrm>
              <a:prstGeom prst="rect">
                <a:avLst/>
              </a:prstGeom>
              <a:blipFill>
                <a:blip r:embed="rId4"/>
                <a:stretch>
                  <a:fillRect l="-1163" t="-2667" b="-8000"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71D48136-3C6F-F39F-8A75-47FAB6047A5F}"/>
              </a:ext>
            </a:extLst>
          </p:cNvPr>
          <p:cNvSpPr txBox="1"/>
          <p:nvPr/>
        </p:nvSpPr>
        <p:spPr>
          <a:xfrm>
            <a:off x="2228296" y="3671749"/>
            <a:ext cx="1029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Then,</a:t>
            </a:r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EE0BDA2-2881-85FE-98A3-5B1ED445CCD4}"/>
                  </a:ext>
                </a:extLst>
              </p:cNvPr>
              <p:cNvSpPr txBox="1"/>
              <p:nvPr/>
            </p:nvSpPr>
            <p:spPr>
              <a:xfrm>
                <a:off x="3802881" y="5388452"/>
                <a:ext cx="62163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>
                    <a:solidFill>
                      <a:srgbClr val="FF0000"/>
                    </a:solidFill>
                  </a:rPr>
                  <a:t>Weight for each 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zh-TW" dirty="0">
                    <a:solidFill>
                      <a:srgbClr val="FF0000"/>
                    </a:solidFill>
                  </a:rPr>
                  <a:t>-gram (was set 1/4 in the original paper)</a:t>
                </a:r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EE0BDA2-2881-85FE-98A3-5B1ED445C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881" y="5388452"/>
                <a:ext cx="6216310" cy="369332"/>
              </a:xfrm>
              <a:prstGeom prst="rect">
                <a:avLst/>
              </a:prstGeom>
              <a:blipFill>
                <a:blip r:embed="rId5"/>
                <a:stretch>
                  <a:fillRect l="-815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429BC9E9-86B6-91D2-F17C-1856E03AE79B}"/>
              </a:ext>
            </a:extLst>
          </p:cNvPr>
          <p:cNvCxnSpPr>
            <a:cxnSpLocks/>
          </p:cNvCxnSpPr>
          <p:nvPr/>
        </p:nvCxnSpPr>
        <p:spPr>
          <a:xfrm flipV="1">
            <a:off x="6101326" y="4801236"/>
            <a:ext cx="0" cy="51342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F0F1BFB2-308C-D0C5-F7ED-CE852F7B3C0E}"/>
              </a:ext>
            </a:extLst>
          </p:cNvPr>
          <p:cNvCxnSpPr>
            <a:cxnSpLocks/>
          </p:cNvCxnSpPr>
          <p:nvPr/>
        </p:nvCxnSpPr>
        <p:spPr>
          <a:xfrm flipH="1">
            <a:off x="5894772" y="4163328"/>
            <a:ext cx="172522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060B6DD-9560-2261-D962-4C51AC60D495}"/>
                  </a:ext>
                </a:extLst>
              </p:cNvPr>
              <p:cNvSpPr txBox="1"/>
              <p:nvPr/>
            </p:nvSpPr>
            <p:spPr>
              <a:xfrm>
                <a:off x="7663835" y="3976633"/>
                <a:ext cx="36080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TW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1" lang="en-US" altLang="zh-TW" dirty="0">
                    <a:solidFill>
                      <a:srgbClr val="FF0000"/>
                    </a:solidFill>
                  </a:rPr>
                  <a:t>=4 to include 1-gram to 4-gram</a:t>
                </a:r>
              </a:p>
            </p:txBody>
          </p:sp>
        </mc:Choice>
        <mc:Fallback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060B6DD-9560-2261-D962-4C51AC60D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3835" y="3976633"/>
                <a:ext cx="3608068" cy="369332"/>
              </a:xfrm>
              <a:prstGeom prst="rect">
                <a:avLst/>
              </a:prstGeom>
              <a:blipFill>
                <a:blip r:embed="rId6"/>
                <a:stretch>
                  <a:fillRect t="-3226" b="-22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F47E66BC-3BEF-7E29-2B41-DD9E2F9510B4}"/>
              </a:ext>
            </a:extLst>
          </p:cNvPr>
          <p:cNvSpPr txBox="1"/>
          <p:nvPr/>
        </p:nvSpPr>
        <p:spPr>
          <a:xfrm>
            <a:off x="653143" y="1527331"/>
            <a:ext cx="5907455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BP is used to penalize </a:t>
            </a:r>
            <a:r>
              <a:rPr kumimoji="1" lang="en-US" altLang="zh-TW" sz="2400" dirty="0">
                <a:solidFill>
                  <a:srgbClr val="FF0000"/>
                </a:solidFill>
              </a:rPr>
              <a:t>short</a:t>
            </a:r>
            <a:r>
              <a:rPr kumimoji="1" lang="en-US" altLang="zh-TW" sz="2400" dirty="0"/>
              <a:t> candidates.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81D9F48-0634-5689-A786-3BB77EAF64F7}"/>
              </a:ext>
            </a:extLst>
          </p:cNvPr>
          <p:cNvSpPr txBox="1"/>
          <p:nvPr/>
        </p:nvSpPr>
        <p:spPr>
          <a:xfrm>
            <a:off x="6694399" y="3449327"/>
            <a:ext cx="646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accent1"/>
                </a:solidFill>
              </a:rPr>
              <a:t>100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1ABF279-C7EF-C800-0F76-1681197E8D04}"/>
              </a:ext>
            </a:extLst>
          </p:cNvPr>
          <p:cNvSpPr txBox="1"/>
          <p:nvPr/>
        </p:nvSpPr>
        <p:spPr>
          <a:xfrm>
            <a:off x="6140609" y="3452442"/>
            <a:ext cx="542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accent1"/>
                </a:solidFill>
              </a:rPr>
              <a:t>10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1BA8F5E-A9A2-7943-6FF0-8B25B21847E6}"/>
              </a:ext>
            </a:extLst>
          </p:cNvPr>
          <p:cNvSpPr txBox="1"/>
          <p:nvPr/>
        </p:nvSpPr>
        <p:spPr>
          <a:xfrm>
            <a:off x="4204317" y="3456123"/>
            <a:ext cx="1029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accent1"/>
                </a:solidFill>
              </a:rPr>
              <a:t>0.00005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AB6DDA5-ED2D-D401-CBFA-2EDA7B10E761}"/>
              </a:ext>
            </a:extLst>
          </p:cNvPr>
          <p:cNvSpPr txBox="1"/>
          <p:nvPr/>
        </p:nvSpPr>
        <p:spPr>
          <a:xfrm>
            <a:off x="7663835" y="4355983"/>
            <a:ext cx="1910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accent1"/>
                </a:solidFill>
              </a:rPr>
              <a:t>Geometric Mean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FD4F4CD-4B4D-8612-83C3-7AE22B1D5492}"/>
              </a:ext>
            </a:extLst>
          </p:cNvPr>
          <p:cNvSpPr txBox="1"/>
          <p:nvPr/>
        </p:nvSpPr>
        <p:spPr>
          <a:xfrm>
            <a:off x="2635286" y="6271079"/>
            <a:ext cx="6921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 err="1"/>
              <a:t>Papineni</a:t>
            </a:r>
            <a:r>
              <a:rPr lang="en" altLang="zh-TW" sz="1200" dirty="0"/>
              <a:t>, Kishore, et al. "Bleu: a method for automatic evaluation of machine translation." Proceedings of the 40th annual meeting of the Association for Computational Linguistics. 2002.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6160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7CCB94-5C74-DB6C-C49D-B3ED0982F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ROUGE Score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E8EA8A-4254-41A7-B6DF-4D7A2ED3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0BFFA2B-73C2-A188-E978-7F6A507B2252}"/>
              </a:ext>
            </a:extLst>
          </p:cNvPr>
          <p:cNvSpPr txBox="1"/>
          <p:nvPr/>
        </p:nvSpPr>
        <p:spPr>
          <a:xfrm>
            <a:off x="653143" y="1726474"/>
            <a:ext cx="10389870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ROUGE (Recall-Oriented Understudy for </a:t>
            </a:r>
            <a:r>
              <a:rPr kumimoji="1" lang="en-US" altLang="zh-TW" sz="2400" dirty="0" err="1"/>
              <a:t>Gisting</a:t>
            </a:r>
            <a:r>
              <a:rPr kumimoji="1" lang="en-US" altLang="zh-TW" sz="2400" dirty="0"/>
              <a:t> Evaluation)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Mainly for text summarization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Metric Input: </a:t>
            </a:r>
            <a:r>
              <a:rPr kumimoji="1" lang="en-US" altLang="zh-TW" sz="2400" dirty="0">
                <a:solidFill>
                  <a:srgbClr val="FF0000"/>
                </a:solidFill>
              </a:rPr>
              <a:t>Summary</a:t>
            </a:r>
            <a:r>
              <a:rPr kumimoji="1" lang="en-US" altLang="zh-TW" sz="2400" dirty="0"/>
              <a:t> (</a:t>
            </a:r>
            <a:r>
              <a:rPr kumimoji="1" lang="en-US" altLang="zh-TW" sz="2400" dirty="0">
                <a:solidFill>
                  <a:srgbClr val="FF0000"/>
                </a:solidFill>
              </a:rPr>
              <a:t>prediction</a:t>
            </a:r>
            <a:r>
              <a:rPr kumimoji="1" lang="en-US" altLang="zh-TW" sz="2400" dirty="0"/>
              <a:t>), </a:t>
            </a:r>
            <a:r>
              <a:rPr kumimoji="1" lang="en-US" altLang="zh-TW" sz="2400" dirty="0">
                <a:solidFill>
                  <a:srgbClr val="00B050"/>
                </a:solidFill>
              </a:rPr>
              <a:t>Reference</a:t>
            </a:r>
            <a:r>
              <a:rPr kumimoji="1" lang="en-US" altLang="zh-TW" sz="2400" dirty="0"/>
              <a:t> (</a:t>
            </a:r>
            <a:r>
              <a:rPr kumimoji="1" lang="en-US" altLang="zh-TW" sz="2400" dirty="0">
                <a:solidFill>
                  <a:srgbClr val="00B050"/>
                </a:solidFill>
              </a:rPr>
              <a:t>gold summary</a:t>
            </a:r>
            <a:r>
              <a:rPr kumimoji="1" lang="en-US" altLang="zh-TW" sz="24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Common metrics: ROUGE-1, ROUGE-2, ROUGE-L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L: Longest common subsequence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rgbClr val="FF0000"/>
                </a:solidFill>
              </a:rPr>
              <a:t>Please note that current papers calculate ROUGE-F as default!!!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In other words, ROUGE-1</a:t>
            </a:r>
            <a:r>
              <a:rPr kumimoji="1" lang="en-US" altLang="zh-TW" sz="2400" dirty="0">
                <a:solidFill>
                  <a:srgbClr val="FF0000"/>
                </a:solidFill>
              </a:rPr>
              <a:t>F</a:t>
            </a:r>
            <a:r>
              <a:rPr kumimoji="1" lang="en-US" altLang="zh-TW" sz="2400" dirty="0"/>
              <a:t>, ROUGE-2</a:t>
            </a:r>
            <a:r>
              <a:rPr kumimoji="1" lang="en-US" altLang="zh-TW" sz="2400" dirty="0">
                <a:solidFill>
                  <a:srgbClr val="FF0000"/>
                </a:solidFill>
              </a:rPr>
              <a:t>F</a:t>
            </a:r>
            <a:r>
              <a:rPr kumimoji="1" lang="en-US" altLang="zh-TW" sz="2400" dirty="0"/>
              <a:t>, ROUGE-L</a:t>
            </a:r>
            <a:r>
              <a:rPr kumimoji="1" lang="en-US" altLang="zh-TW" sz="2400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FF9A566-A3FC-4CAA-4B8F-347543092BA8}"/>
              </a:ext>
            </a:extLst>
          </p:cNvPr>
          <p:cNvSpPr txBox="1"/>
          <p:nvPr/>
        </p:nvSpPr>
        <p:spPr>
          <a:xfrm>
            <a:off x="1400086" y="6415560"/>
            <a:ext cx="9391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Lin, Chin-Yew. "Rouge: A package for automatic evaluation of summaries." Text summarization branches out. 2004.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7535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CADA6B-A1C9-33A0-53A6-23A69884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ROUGE-1 Example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561465-D300-C8CB-5925-806DEB481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/>
              <a:t>predictions = ["The", "</a:t>
            </a:r>
            <a:r>
              <a:rPr kumimoji="1" lang="en" altLang="zh-TW" dirty="0">
                <a:solidFill>
                  <a:srgbClr val="FF0000"/>
                </a:solidFill>
              </a:rPr>
              <a:t>cat</a:t>
            </a:r>
            <a:r>
              <a:rPr kumimoji="1" lang="en" altLang="zh-TW" dirty="0"/>
              <a:t>", "sat", "</a:t>
            </a:r>
            <a:r>
              <a:rPr kumimoji="1" lang="en" altLang="zh-TW" dirty="0">
                <a:solidFill>
                  <a:srgbClr val="FF0000"/>
                </a:solidFill>
              </a:rPr>
              <a:t>on</a:t>
            </a:r>
            <a:r>
              <a:rPr kumimoji="1" lang="en" altLang="zh-TW" dirty="0"/>
              <a:t>", "</a:t>
            </a:r>
            <a:r>
              <a:rPr kumimoji="1" lang="en" altLang="zh-TW" dirty="0">
                <a:solidFill>
                  <a:srgbClr val="FF0000"/>
                </a:solidFill>
              </a:rPr>
              <a:t>the</a:t>
            </a:r>
            <a:r>
              <a:rPr kumimoji="1" lang="en" altLang="zh-TW" dirty="0"/>
              <a:t>", "</a:t>
            </a:r>
            <a:r>
              <a:rPr kumimoji="1" lang="en" altLang="zh-TW" dirty="0">
                <a:solidFill>
                  <a:srgbClr val="FF0000"/>
                </a:solidFill>
              </a:rPr>
              <a:t>mat</a:t>
            </a:r>
            <a:r>
              <a:rPr kumimoji="1" lang="en" altLang="zh-TW" dirty="0"/>
              <a:t>"]</a:t>
            </a:r>
          </a:p>
          <a:p>
            <a:r>
              <a:rPr kumimoji="1" lang="en" altLang="zh-TW" dirty="0"/>
              <a:t>references = ["A", "</a:t>
            </a:r>
            <a:r>
              <a:rPr kumimoji="1" lang="en" altLang="zh-TW" dirty="0">
                <a:solidFill>
                  <a:srgbClr val="FF0000"/>
                </a:solidFill>
              </a:rPr>
              <a:t>cat</a:t>
            </a:r>
            <a:r>
              <a:rPr kumimoji="1" lang="en" altLang="zh-TW" dirty="0"/>
              <a:t>", "was", "sitting", "</a:t>
            </a:r>
            <a:r>
              <a:rPr kumimoji="1" lang="en" altLang="zh-TW" dirty="0">
                <a:solidFill>
                  <a:srgbClr val="FF0000"/>
                </a:solidFill>
              </a:rPr>
              <a:t>on</a:t>
            </a:r>
            <a:r>
              <a:rPr kumimoji="1" lang="en" altLang="zh-TW" dirty="0"/>
              <a:t>", "</a:t>
            </a:r>
            <a:r>
              <a:rPr kumimoji="1" lang="en" altLang="zh-TW" dirty="0">
                <a:solidFill>
                  <a:srgbClr val="FF0000"/>
                </a:solidFill>
              </a:rPr>
              <a:t>the</a:t>
            </a:r>
            <a:r>
              <a:rPr kumimoji="1" lang="en" altLang="zh-TW" dirty="0"/>
              <a:t>", "</a:t>
            </a:r>
            <a:r>
              <a:rPr kumimoji="1" lang="en" altLang="zh-TW" dirty="0">
                <a:solidFill>
                  <a:srgbClr val="FF0000"/>
                </a:solidFill>
              </a:rPr>
              <a:t>mat</a:t>
            </a:r>
            <a:r>
              <a:rPr kumimoji="1" lang="en" altLang="zh-TW" dirty="0"/>
              <a:t>"]</a:t>
            </a:r>
          </a:p>
          <a:p>
            <a:endParaRPr kumimoji="1" lang="en" altLang="zh-TW" dirty="0"/>
          </a:p>
          <a:p>
            <a:r>
              <a:rPr kumimoji="1" lang="en" altLang="zh-TW" dirty="0"/>
              <a:t>ROUGE-1 </a:t>
            </a:r>
            <a:r>
              <a:rPr kumimoji="1" lang="en" altLang="zh-TW" dirty="0">
                <a:solidFill>
                  <a:srgbClr val="FF0000"/>
                </a:solidFill>
              </a:rPr>
              <a:t>recall</a:t>
            </a:r>
            <a:r>
              <a:rPr kumimoji="1" lang="en" altLang="zh-TW" dirty="0"/>
              <a:t> = Number of matching unigrams / Number of unigrams in the reference = 4/7</a:t>
            </a:r>
          </a:p>
          <a:p>
            <a:r>
              <a:rPr kumimoji="1" lang="en" altLang="zh-TW" dirty="0"/>
              <a:t>ROUGE-1 </a:t>
            </a:r>
            <a:r>
              <a:rPr kumimoji="1" lang="en" altLang="zh-TW" dirty="0">
                <a:solidFill>
                  <a:srgbClr val="FF0000"/>
                </a:solidFill>
              </a:rPr>
              <a:t>precision</a:t>
            </a:r>
            <a:r>
              <a:rPr kumimoji="1" lang="en" altLang="zh-TW" dirty="0"/>
              <a:t> = Number of matching unigrams / Number of unigrams in the machine-generated summary = 4/6</a:t>
            </a:r>
          </a:p>
          <a:p>
            <a:r>
              <a:rPr kumimoji="1" lang="en" altLang="zh-TW" dirty="0"/>
              <a:t>ROUGE-1 </a:t>
            </a:r>
            <a:r>
              <a:rPr kumimoji="1" lang="en" altLang="zh-TW" dirty="0">
                <a:solidFill>
                  <a:srgbClr val="FF0000"/>
                </a:solidFill>
              </a:rPr>
              <a:t>F1-score</a:t>
            </a:r>
            <a:r>
              <a:rPr kumimoji="1" lang="en" altLang="zh-TW" dirty="0"/>
              <a:t> = Harmonic mean of the precision and the recall = 2 * 4/7 * 4/6 / (4/7 + 4/6)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7ADB96-C823-4DD1-C8E1-8155BBE9E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03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CADA6B-A1C9-33A0-53A6-23A69884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ROUGE-2 Example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561465-D300-C8CB-5925-806DEB481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/>
              <a:t>predictions = ["The cat", "cat sat", "sat on", "</a:t>
            </a:r>
            <a:r>
              <a:rPr kumimoji="1" lang="en" altLang="zh-TW" dirty="0">
                <a:solidFill>
                  <a:srgbClr val="FF0000"/>
                </a:solidFill>
              </a:rPr>
              <a:t>on the</a:t>
            </a:r>
            <a:r>
              <a:rPr kumimoji="1" lang="en" altLang="zh-TW" dirty="0"/>
              <a:t>", "</a:t>
            </a:r>
            <a:r>
              <a:rPr kumimoji="1" lang="en" altLang="zh-TW" dirty="0">
                <a:solidFill>
                  <a:srgbClr val="FF0000"/>
                </a:solidFill>
              </a:rPr>
              <a:t>the mat</a:t>
            </a:r>
            <a:r>
              <a:rPr kumimoji="1" lang="en" altLang="zh-TW" dirty="0"/>
              <a:t>"]</a:t>
            </a:r>
          </a:p>
          <a:p>
            <a:r>
              <a:rPr kumimoji="1" lang="en" altLang="zh-TW" dirty="0"/>
              <a:t>references = ["A cat", "cat was", "was sitting", "sitting on", "</a:t>
            </a:r>
            <a:r>
              <a:rPr kumimoji="1" lang="en" altLang="zh-TW" dirty="0">
                <a:solidFill>
                  <a:srgbClr val="FF0000"/>
                </a:solidFill>
              </a:rPr>
              <a:t>on the</a:t>
            </a:r>
            <a:r>
              <a:rPr kumimoji="1" lang="en" altLang="zh-TW" dirty="0"/>
              <a:t>", "</a:t>
            </a:r>
            <a:r>
              <a:rPr kumimoji="1" lang="en" altLang="zh-TW" dirty="0">
                <a:solidFill>
                  <a:srgbClr val="FF0000"/>
                </a:solidFill>
              </a:rPr>
              <a:t>the mat</a:t>
            </a:r>
            <a:r>
              <a:rPr kumimoji="1" lang="en" altLang="zh-TW" dirty="0"/>
              <a:t>"]</a:t>
            </a:r>
          </a:p>
          <a:p>
            <a:endParaRPr kumimoji="1" lang="en" altLang="zh-TW" dirty="0"/>
          </a:p>
          <a:p>
            <a:r>
              <a:rPr kumimoji="1" lang="en" altLang="zh-TW" dirty="0"/>
              <a:t>ROUGE-2 </a:t>
            </a:r>
            <a:r>
              <a:rPr kumimoji="1" lang="en" altLang="zh-TW" dirty="0">
                <a:solidFill>
                  <a:srgbClr val="FF0000"/>
                </a:solidFill>
              </a:rPr>
              <a:t>recall</a:t>
            </a:r>
            <a:r>
              <a:rPr kumimoji="1" lang="en" altLang="zh-TW" dirty="0"/>
              <a:t> = Number of matching bigrams / Number of bigrams in the reference = 2/6</a:t>
            </a:r>
          </a:p>
          <a:p>
            <a:r>
              <a:rPr kumimoji="1" lang="en" altLang="zh-TW" dirty="0"/>
              <a:t>ROUGE-2 </a:t>
            </a:r>
            <a:r>
              <a:rPr kumimoji="1" lang="en" altLang="zh-TW" dirty="0">
                <a:solidFill>
                  <a:srgbClr val="FF0000"/>
                </a:solidFill>
              </a:rPr>
              <a:t>precision</a:t>
            </a:r>
            <a:r>
              <a:rPr kumimoji="1" lang="en" altLang="zh-TW" dirty="0"/>
              <a:t> = Number of matching bigrams / Number of bigrams in the machine-generated summary = 2/5</a:t>
            </a:r>
          </a:p>
          <a:p>
            <a:r>
              <a:rPr kumimoji="1" lang="en" altLang="zh-TW" dirty="0"/>
              <a:t>ROUGE-2 </a:t>
            </a:r>
            <a:r>
              <a:rPr kumimoji="1" lang="en" altLang="zh-TW" dirty="0">
                <a:solidFill>
                  <a:srgbClr val="FF0000"/>
                </a:solidFill>
              </a:rPr>
              <a:t>F1-score</a:t>
            </a:r>
            <a:r>
              <a:rPr kumimoji="1" lang="en" altLang="zh-TW" dirty="0"/>
              <a:t> = Harmonic mean of the precision and the recall = 2 * 2/6 * 2/5 / (2/6 + 2/5)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7ADB96-C823-4DD1-C8E1-8155BBE9E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54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613D05-5E68-421E-0677-6C24EDB28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ROUGE-L Example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7AB74C-ECAA-1E43-9CB0-9972AE325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73365EBC-A783-4C3C-2164-B6E2A9BFF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45734"/>
            <a:ext cx="10502537" cy="4023360"/>
          </a:xfrm>
        </p:spPr>
        <p:txBody>
          <a:bodyPr/>
          <a:lstStyle/>
          <a:p>
            <a:r>
              <a:rPr kumimoji="1" lang="en" altLang="zh-TW" dirty="0"/>
              <a:t>predictions = ["The", "</a:t>
            </a:r>
            <a:r>
              <a:rPr kumimoji="1" lang="en" altLang="zh-TW" dirty="0">
                <a:solidFill>
                  <a:srgbClr val="FF0000"/>
                </a:solidFill>
              </a:rPr>
              <a:t>cat</a:t>
            </a:r>
            <a:r>
              <a:rPr kumimoji="1" lang="en" altLang="zh-TW" dirty="0"/>
              <a:t>", "sat", "</a:t>
            </a:r>
            <a:r>
              <a:rPr kumimoji="1" lang="en" altLang="zh-TW" dirty="0">
                <a:solidFill>
                  <a:srgbClr val="FF0000"/>
                </a:solidFill>
              </a:rPr>
              <a:t>on</a:t>
            </a:r>
            <a:r>
              <a:rPr kumimoji="1" lang="en" altLang="zh-TW" dirty="0"/>
              <a:t>", "</a:t>
            </a:r>
            <a:r>
              <a:rPr kumimoji="1" lang="en" altLang="zh-TW" dirty="0">
                <a:solidFill>
                  <a:srgbClr val="FF0000"/>
                </a:solidFill>
              </a:rPr>
              <a:t>the</a:t>
            </a:r>
            <a:r>
              <a:rPr kumimoji="1" lang="en" altLang="zh-TW" dirty="0"/>
              <a:t>", "</a:t>
            </a:r>
            <a:r>
              <a:rPr kumimoji="1" lang="en" altLang="zh-TW" dirty="0">
                <a:solidFill>
                  <a:srgbClr val="FF0000"/>
                </a:solidFill>
              </a:rPr>
              <a:t>mat</a:t>
            </a:r>
            <a:r>
              <a:rPr kumimoji="1" lang="en" altLang="zh-TW" dirty="0"/>
              <a:t>"]</a:t>
            </a:r>
          </a:p>
          <a:p>
            <a:r>
              <a:rPr kumimoji="1" lang="en" altLang="zh-TW" dirty="0"/>
              <a:t>references = ["A", "</a:t>
            </a:r>
            <a:r>
              <a:rPr kumimoji="1" lang="en" altLang="zh-TW" dirty="0">
                <a:solidFill>
                  <a:srgbClr val="FF0000"/>
                </a:solidFill>
              </a:rPr>
              <a:t>cat</a:t>
            </a:r>
            <a:r>
              <a:rPr kumimoji="1" lang="en" altLang="zh-TW" dirty="0"/>
              <a:t>", "was", "sitting", "</a:t>
            </a:r>
            <a:r>
              <a:rPr kumimoji="1" lang="en" altLang="zh-TW" dirty="0">
                <a:solidFill>
                  <a:srgbClr val="FF0000"/>
                </a:solidFill>
              </a:rPr>
              <a:t>on</a:t>
            </a:r>
            <a:r>
              <a:rPr kumimoji="1" lang="en" altLang="zh-TW" dirty="0"/>
              <a:t>", "</a:t>
            </a:r>
            <a:r>
              <a:rPr kumimoji="1" lang="en" altLang="zh-TW" dirty="0">
                <a:solidFill>
                  <a:srgbClr val="FF0000"/>
                </a:solidFill>
              </a:rPr>
              <a:t>the</a:t>
            </a:r>
            <a:r>
              <a:rPr kumimoji="1" lang="en" altLang="zh-TW" dirty="0"/>
              <a:t>", "</a:t>
            </a:r>
            <a:r>
              <a:rPr kumimoji="1" lang="en" altLang="zh-TW" dirty="0">
                <a:solidFill>
                  <a:srgbClr val="FF0000"/>
                </a:solidFill>
              </a:rPr>
              <a:t>mat</a:t>
            </a:r>
            <a:r>
              <a:rPr kumimoji="1" lang="en" altLang="zh-TW" dirty="0"/>
              <a:t>"]</a:t>
            </a:r>
          </a:p>
          <a:p>
            <a:r>
              <a:rPr kumimoji="1" lang="en" altLang="zh-TW" dirty="0"/>
              <a:t>The longest common subsequence is ["cat", "on", "the", "mat"]</a:t>
            </a:r>
          </a:p>
          <a:p>
            <a:endParaRPr kumimoji="1" lang="en" altLang="zh-TW" dirty="0"/>
          </a:p>
          <a:p>
            <a:r>
              <a:rPr kumimoji="1" lang="en" altLang="zh-TW" dirty="0"/>
              <a:t>ROUGE-L </a:t>
            </a:r>
            <a:r>
              <a:rPr kumimoji="1" lang="en" altLang="zh-TW" dirty="0">
                <a:solidFill>
                  <a:srgbClr val="FF0000"/>
                </a:solidFill>
              </a:rPr>
              <a:t>recall</a:t>
            </a:r>
            <a:r>
              <a:rPr kumimoji="1" lang="en" altLang="zh-TW" dirty="0"/>
              <a:t> = Number of matching unigrams / Number of unigrams in the reference = 4/7</a:t>
            </a:r>
          </a:p>
          <a:p>
            <a:r>
              <a:rPr kumimoji="1" lang="en" altLang="zh-TW" dirty="0"/>
              <a:t>ROUGE-L </a:t>
            </a:r>
            <a:r>
              <a:rPr kumimoji="1" lang="en" altLang="zh-TW" dirty="0">
                <a:solidFill>
                  <a:srgbClr val="FF0000"/>
                </a:solidFill>
              </a:rPr>
              <a:t>precision</a:t>
            </a:r>
            <a:r>
              <a:rPr kumimoji="1" lang="en" altLang="zh-TW" dirty="0"/>
              <a:t> = Number of matching unigrams / Number of unigrams in the machine-generated summary = 4/6</a:t>
            </a:r>
          </a:p>
          <a:p>
            <a:r>
              <a:rPr kumimoji="1" lang="en" altLang="zh-TW" dirty="0"/>
              <a:t>ROUGE-L </a:t>
            </a:r>
            <a:r>
              <a:rPr kumimoji="1" lang="en" altLang="zh-TW" dirty="0">
                <a:solidFill>
                  <a:srgbClr val="FF0000"/>
                </a:solidFill>
              </a:rPr>
              <a:t>F1-score</a:t>
            </a:r>
            <a:r>
              <a:rPr kumimoji="1" lang="en" altLang="zh-TW" dirty="0"/>
              <a:t> = Harmonic mean of the precision and the recall = 2 * 4/7 * 4/6 / (4/7 + 4/6)</a:t>
            </a:r>
          </a:p>
          <a:p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E0F63E1-55B9-3749-6BB4-EC8A1DF2148F}"/>
              </a:ext>
            </a:extLst>
          </p:cNvPr>
          <p:cNvSpPr txBox="1"/>
          <p:nvPr/>
        </p:nvSpPr>
        <p:spPr>
          <a:xfrm>
            <a:off x="7611291" y="842796"/>
            <a:ext cx="4145280" cy="45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dirty="0"/>
              <a:t>L: Longest common subsequence</a:t>
            </a:r>
          </a:p>
        </p:txBody>
      </p:sp>
    </p:spTree>
    <p:extLst>
      <p:ext uri="{BB962C8B-B14F-4D97-AF65-F5344CB8AC3E}">
        <p14:creationId xmlns:p14="http://schemas.microsoft.com/office/powerpoint/2010/main" val="27596592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613D05-5E68-421E-0677-6C24EDB28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ROUGE-L Example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7AB74C-ECAA-1E43-9CB0-9972AE325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73365EBC-A783-4C3C-2164-B6E2A9BFF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45734"/>
            <a:ext cx="10502537" cy="4023360"/>
          </a:xfrm>
        </p:spPr>
        <p:txBody>
          <a:bodyPr>
            <a:normAutofit fontScale="92500"/>
          </a:bodyPr>
          <a:lstStyle/>
          <a:p>
            <a:r>
              <a:rPr kumimoji="1" lang="en" altLang="zh-TW" dirty="0">
                <a:solidFill>
                  <a:srgbClr val="FF0000"/>
                </a:solidFill>
              </a:rPr>
              <a:t>The order should be kept for the LCS problem</a:t>
            </a:r>
          </a:p>
          <a:p>
            <a:r>
              <a:rPr kumimoji="1" lang="en" altLang="zh-TW" dirty="0"/>
              <a:t>predictions = ["The", </a:t>
            </a:r>
            <a:r>
              <a:rPr kumimoji="1" lang="en" altLang="zh-TW" dirty="0">
                <a:solidFill>
                  <a:schemeClr val="accent1"/>
                </a:solidFill>
              </a:rPr>
              <a:t>"</a:t>
            </a:r>
            <a:r>
              <a:rPr kumimoji="1" lang="en" altLang="zh-TW" b="1" dirty="0">
                <a:solidFill>
                  <a:schemeClr val="accent1"/>
                </a:solidFill>
              </a:rPr>
              <a:t>cat</a:t>
            </a:r>
            <a:r>
              <a:rPr kumimoji="1" lang="en" altLang="zh-TW" dirty="0">
                <a:solidFill>
                  <a:schemeClr val="tx1"/>
                </a:solidFill>
              </a:rPr>
              <a:t>", </a:t>
            </a:r>
            <a:r>
              <a:rPr kumimoji="1" lang="en" altLang="zh-TW" dirty="0"/>
              <a:t>"sat", "</a:t>
            </a:r>
            <a:r>
              <a:rPr kumimoji="1" lang="en" altLang="zh-TW" dirty="0">
                <a:solidFill>
                  <a:srgbClr val="FF0000"/>
                </a:solidFill>
              </a:rPr>
              <a:t>on</a:t>
            </a:r>
            <a:r>
              <a:rPr kumimoji="1" lang="en" altLang="zh-TW" dirty="0"/>
              <a:t>", "</a:t>
            </a:r>
            <a:r>
              <a:rPr kumimoji="1" lang="en" altLang="zh-TW" dirty="0">
                <a:solidFill>
                  <a:srgbClr val="FF0000"/>
                </a:solidFill>
              </a:rPr>
              <a:t>the</a:t>
            </a:r>
            <a:r>
              <a:rPr kumimoji="1" lang="en" altLang="zh-TW" dirty="0"/>
              <a:t>", "</a:t>
            </a:r>
            <a:r>
              <a:rPr kumimoji="1" lang="en" altLang="zh-TW" dirty="0">
                <a:solidFill>
                  <a:srgbClr val="FF0000"/>
                </a:solidFill>
              </a:rPr>
              <a:t>mat</a:t>
            </a:r>
            <a:r>
              <a:rPr kumimoji="1" lang="en" altLang="zh-TW" dirty="0"/>
              <a:t>"]</a:t>
            </a:r>
          </a:p>
          <a:p>
            <a:r>
              <a:rPr kumimoji="1" lang="en" altLang="zh-TW" dirty="0"/>
              <a:t>references = ["</a:t>
            </a:r>
            <a:r>
              <a:rPr kumimoji="1" lang="en" altLang="zh-TW" dirty="0">
                <a:solidFill>
                  <a:srgbClr val="FF0000"/>
                </a:solidFill>
              </a:rPr>
              <a:t>on</a:t>
            </a:r>
            <a:r>
              <a:rPr kumimoji="1" lang="en" altLang="zh-TW" dirty="0"/>
              <a:t>", "</a:t>
            </a:r>
            <a:r>
              <a:rPr kumimoji="1" lang="en" altLang="zh-TW" dirty="0">
                <a:solidFill>
                  <a:srgbClr val="FF0000"/>
                </a:solidFill>
              </a:rPr>
              <a:t>the</a:t>
            </a:r>
            <a:r>
              <a:rPr kumimoji="1" lang="en" altLang="zh-TW" dirty="0"/>
              <a:t>", "</a:t>
            </a:r>
            <a:r>
              <a:rPr kumimoji="1" lang="en" altLang="zh-TW" dirty="0">
                <a:solidFill>
                  <a:srgbClr val="FF0000"/>
                </a:solidFill>
              </a:rPr>
              <a:t>mat</a:t>
            </a:r>
            <a:r>
              <a:rPr kumimoji="1" lang="en" altLang="zh-TW" dirty="0"/>
              <a:t>”, "sitting", ”a", "</a:t>
            </a:r>
            <a:r>
              <a:rPr kumimoji="1" lang="en" altLang="zh-TW" b="1" dirty="0">
                <a:solidFill>
                  <a:schemeClr val="accent1"/>
                </a:solidFill>
              </a:rPr>
              <a:t>cat</a:t>
            </a:r>
            <a:r>
              <a:rPr kumimoji="1" lang="en" altLang="zh-TW" dirty="0"/>
              <a:t>"]</a:t>
            </a:r>
          </a:p>
          <a:p>
            <a:r>
              <a:rPr kumimoji="1" lang="en" altLang="zh-TW" dirty="0"/>
              <a:t>The longest common subsequence is ["on", "the", "mat"]</a:t>
            </a:r>
          </a:p>
          <a:p>
            <a:endParaRPr kumimoji="1" lang="en" altLang="zh-TW" dirty="0"/>
          </a:p>
          <a:p>
            <a:r>
              <a:rPr kumimoji="1" lang="en" altLang="zh-TW" dirty="0"/>
              <a:t>ROUGE-L </a:t>
            </a:r>
            <a:r>
              <a:rPr kumimoji="1" lang="en" altLang="zh-TW" dirty="0">
                <a:solidFill>
                  <a:srgbClr val="FF0000"/>
                </a:solidFill>
              </a:rPr>
              <a:t>recall</a:t>
            </a:r>
            <a:r>
              <a:rPr kumimoji="1" lang="en" altLang="zh-TW" dirty="0"/>
              <a:t> = Number of matching unigrams / Number of unigrams in the reference = 3/6</a:t>
            </a:r>
          </a:p>
          <a:p>
            <a:r>
              <a:rPr kumimoji="1" lang="en" altLang="zh-TW" dirty="0"/>
              <a:t>ROUGE-L </a:t>
            </a:r>
            <a:r>
              <a:rPr kumimoji="1" lang="en" altLang="zh-TW" dirty="0">
                <a:solidFill>
                  <a:srgbClr val="FF0000"/>
                </a:solidFill>
              </a:rPr>
              <a:t>precision</a:t>
            </a:r>
            <a:r>
              <a:rPr kumimoji="1" lang="en" altLang="zh-TW" dirty="0"/>
              <a:t> = Number of matching unigrams / Number of unigrams in the machine-generated summary = 3/6</a:t>
            </a:r>
          </a:p>
          <a:p>
            <a:r>
              <a:rPr kumimoji="1" lang="en" altLang="zh-TW" dirty="0"/>
              <a:t>ROUGE-L </a:t>
            </a:r>
            <a:r>
              <a:rPr kumimoji="1" lang="en" altLang="zh-TW" dirty="0">
                <a:solidFill>
                  <a:srgbClr val="FF0000"/>
                </a:solidFill>
              </a:rPr>
              <a:t>F1-score</a:t>
            </a:r>
            <a:r>
              <a:rPr kumimoji="1" lang="en" altLang="zh-TW" dirty="0"/>
              <a:t> = Harmonic mean of the precision and the recall = 2 * 0.5 * 0.5 / (0.5 + 0.5)</a:t>
            </a:r>
          </a:p>
          <a:p>
            <a:endParaRPr kumimoji="1"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AB6BDE5-D1ED-F81B-A6BC-29BCD268E208}"/>
              </a:ext>
            </a:extLst>
          </p:cNvPr>
          <p:cNvSpPr txBox="1"/>
          <p:nvPr/>
        </p:nvSpPr>
        <p:spPr>
          <a:xfrm>
            <a:off x="7611291" y="842796"/>
            <a:ext cx="4145280" cy="45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dirty="0"/>
              <a:t>L: Longest common subsequence</a:t>
            </a:r>
          </a:p>
        </p:txBody>
      </p:sp>
    </p:spTree>
    <p:extLst>
      <p:ext uri="{BB962C8B-B14F-4D97-AF65-F5344CB8AC3E}">
        <p14:creationId xmlns:p14="http://schemas.microsoft.com/office/powerpoint/2010/main" val="40614700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AC67AF-623B-DD2D-D8F7-6CD9C8E8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Precision (BLEU) vs. Recall (ROUGE)?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9AE724-2DA7-5CA5-B8B8-BD8850EEA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BDA528-C02D-820E-3EB8-12A1D1FAECBD}"/>
              </a:ext>
            </a:extLst>
          </p:cNvPr>
          <p:cNvSpPr txBox="1"/>
          <p:nvPr/>
        </p:nvSpPr>
        <p:spPr>
          <a:xfrm>
            <a:off x="653143" y="2040787"/>
            <a:ext cx="11022569" cy="22403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翻譯有「標準答案」的感覺：好的翻譯應該只說該說的</a:t>
            </a:r>
            <a:r>
              <a:rPr kumimoji="1" lang="en-US" altLang="zh-TW" sz="2400" dirty="0"/>
              <a:t>,</a:t>
            </a:r>
            <a:r>
              <a:rPr kumimoji="1" lang="zh-TW" altLang="en-US" sz="2400" dirty="0"/>
              <a:t>多說的話就是亂加東西</a:t>
            </a:r>
            <a:endParaRPr kumimoji="1" lang="en-US" altLang="zh-TW" sz="2400" dirty="0"/>
          </a:p>
          <a:p>
            <a:pPr lvl="1">
              <a:lnSpc>
                <a:spcPct val="150000"/>
              </a:lnSpc>
            </a:pPr>
            <a:r>
              <a:rPr kumimoji="1" lang="zh-TW" altLang="en-US" sz="2400" dirty="0"/>
              <a:t>→ 在乎 </a:t>
            </a:r>
            <a:r>
              <a:rPr kumimoji="1" lang="en-US" altLang="zh-TW" sz="2400" dirty="0"/>
              <a:t>precision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(</a:t>
            </a:r>
            <a:r>
              <a:rPr kumimoji="1" lang="zh-TW" altLang="en-US" sz="2400" dirty="0"/>
              <a:t>產出的內容裡有多少是對的</a:t>
            </a:r>
            <a:r>
              <a:rPr kumimoji="1" lang="en-US" altLang="zh-TW" sz="24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摘要有「抓重點」的感覺：好的摘要應該把重要的點都涵蓋到</a:t>
            </a:r>
            <a:endParaRPr kumimoji="1" lang="en-US" altLang="zh-TW" sz="2400" dirty="0"/>
          </a:p>
          <a:p>
            <a:pPr lvl="1">
              <a:lnSpc>
                <a:spcPct val="150000"/>
              </a:lnSpc>
            </a:pPr>
            <a:r>
              <a:rPr kumimoji="1" lang="zh-TW" altLang="en-US" sz="2400" dirty="0"/>
              <a:t>→ 在乎 </a:t>
            </a:r>
            <a:r>
              <a:rPr kumimoji="1" lang="en-US" altLang="zh-TW" sz="2400" dirty="0"/>
              <a:t>recall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(</a:t>
            </a:r>
            <a:r>
              <a:rPr kumimoji="1" lang="zh-TW" altLang="en-US" sz="2400" dirty="0"/>
              <a:t>該說的內容有多少被說到</a:t>
            </a:r>
            <a:r>
              <a:rPr kumimoji="1" lang="en-US" altLang="zh-TW" sz="2400" dirty="0"/>
              <a:t>)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82558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02DA14-1682-D176-ABB5-D25F8A28A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Issue of BLEU and ROUGE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579229-A20B-412E-EEA2-BA80F858F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7DF3B5E-5E80-EE81-21E0-55FE59BD82EC}"/>
              </a:ext>
            </a:extLst>
          </p:cNvPr>
          <p:cNvSpPr txBox="1"/>
          <p:nvPr/>
        </p:nvSpPr>
        <p:spPr>
          <a:xfrm>
            <a:off x="653143" y="1750982"/>
            <a:ext cx="1010412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Pros: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採用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tokens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重疊率，容易實作</a:t>
            </a:r>
            <a:r>
              <a:rPr kumimoji="1" lang="en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Cons: Cannot meet language diversity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This mainly comes from the way for measuring </a:t>
            </a:r>
            <a:r>
              <a:rPr kumimoji="1" lang="en" altLang="zh-TW" sz="2400" dirty="0">
                <a:solidFill>
                  <a:srgbClr val="FF0000"/>
                </a:solidFill>
              </a:rPr>
              <a:t>overlapping</a:t>
            </a:r>
            <a:r>
              <a:rPr kumimoji="1" lang="en" altLang="zh-TW" sz="2400" dirty="0"/>
              <a:t> rates.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b="1" dirty="0"/>
              <a:t>Question</a:t>
            </a:r>
            <a:r>
              <a:rPr kumimoji="1" lang="en-US" altLang="zh-TW" sz="2400" dirty="0"/>
              <a:t>: </a:t>
            </a:r>
            <a:r>
              <a:rPr kumimoji="1" lang="en-US" altLang="zh-TW" sz="2400" dirty="0">
                <a:solidFill>
                  <a:srgbClr val="FF0000"/>
                </a:solidFill>
              </a:rPr>
              <a:t>Can we create an automatic metric to fix the issue?</a:t>
            </a:r>
            <a:endParaRPr kumimoji="1" lang="en" altLang="zh-TW" sz="24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646F3AE-F422-A9EA-8D3A-8B70ABD5379E}"/>
              </a:ext>
            </a:extLst>
          </p:cNvPr>
          <p:cNvSpPr txBox="1"/>
          <p:nvPr/>
        </p:nvSpPr>
        <p:spPr>
          <a:xfrm>
            <a:off x="653143" y="4350744"/>
            <a:ext cx="10410092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Next, we are going to introduce two </a:t>
            </a:r>
            <a:r>
              <a:rPr kumimoji="1" lang="en" altLang="zh-TW" sz="2400" dirty="0">
                <a:solidFill>
                  <a:srgbClr val="FF0000"/>
                </a:solidFill>
              </a:rPr>
              <a:t>learned</a:t>
            </a:r>
            <a:r>
              <a:rPr kumimoji="1" lang="en" altLang="zh-TW" sz="2400" dirty="0"/>
              <a:t> automatic evaluation metrics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 err="1">
                <a:solidFill>
                  <a:srgbClr val="0070C0"/>
                </a:solidFill>
              </a:rPr>
              <a:t>BERT</a:t>
            </a:r>
            <a:r>
              <a:rPr kumimoji="1" lang="en" altLang="zh-TW" sz="2400" dirty="0" err="1"/>
              <a:t>Score</a:t>
            </a:r>
            <a:r>
              <a:rPr kumimoji="1" lang="en" altLang="zh-TW" sz="2400" dirty="0"/>
              <a:t> (ICLR 2020)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BLEURT (ACL 2020)</a:t>
            </a:r>
          </a:p>
        </p:txBody>
      </p:sp>
    </p:spTree>
    <p:extLst>
      <p:ext uri="{BB962C8B-B14F-4D97-AF65-F5344CB8AC3E}">
        <p14:creationId xmlns:p14="http://schemas.microsoft.com/office/powerpoint/2010/main" val="224635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FD3-9F9E-D486-2DC7-84073400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0D99D-1E40-8E98-9837-A229A457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/>
                <a:cs typeface="Calibri Light"/>
              </a:rPr>
              <a:t>[Recap] BERT (</a:t>
            </a:r>
            <a:r>
              <a:rPr lang="en" altLang="zh-TW" dirty="0">
                <a:solidFill>
                  <a:srgbClr val="FF0000"/>
                </a:solidFill>
                <a:ea typeface="新細明體"/>
                <a:cs typeface="Calibri Light"/>
              </a:rPr>
              <a:t>Bidirectional </a:t>
            </a:r>
            <a:r>
              <a:rPr lang="en" altLang="zh-TW" dirty="0">
                <a:solidFill>
                  <a:schemeClr val="tx1"/>
                </a:solidFill>
                <a:ea typeface="新細明體"/>
                <a:cs typeface="Calibri Light"/>
              </a:rPr>
              <a:t>Encoder Representations from Transformers</a:t>
            </a:r>
            <a:r>
              <a:rPr lang="en-US" altLang="zh-TW" dirty="0">
                <a:ea typeface="新細明體"/>
                <a:cs typeface="Calibri Light"/>
              </a:rPr>
              <a:t>)</a:t>
            </a:r>
            <a:endParaRPr 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4121A3-4B88-E98F-8D6C-0396D77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33</a:t>
            </a:fld>
            <a:endParaRPr lang="zh-TW" altLang="en-US"/>
          </a:p>
        </p:txBody>
      </p:sp>
      <p:sp>
        <p:nvSpPr>
          <p:cNvPr id="78" name="Google Shape;187;p17">
            <a:extLst>
              <a:ext uri="{FF2B5EF4-FFF2-40B4-BE49-F238E27FC236}">
                <a16:creationId xmlns:a16="http://schemas.microsoft.com/office/drawing/2014/main" id="{12078826-8F85-944B-ADBB-9FD846B897DC}"/>
              </a:ext>
            </a:extLst>
          </p:cNvPr>
          <p:cNvSpPr/>
          <p:nvPr/>
        </p:nvSpPr>
        <p:spPr>
          <a:xfrm>
            <a:off x="2408842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188;p17">
            <a:extLst>
              <a:ext uri="{FF2B5EF4-FFF2-40B4-BE49-F238E27FC236}">
                <a16:creationId xmlns:a16="http://schemas.microsoft.com/office/drawing/2014/main" id="{C5EB92C9-179D-21A5-A8B1-A959D1399419}"/>
              </a:ext>
            </a:extLst>
          </p:cNvPr>
          <p:cNvSpPr/>
          <p:nvPr/>
        </p:nvSpPr>
        <p:spPr>
          <a:xfrm>
            <a:off x="1698762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189;p17">
            <a:extLst>
              <a:ext uri="{FF2B5EF4-FFF2-40B4-BE49-F238E27FC236}">
                <a16:creationId xmlns:a16="http://schemas.microsoft.com/office/drawing/2014/main" id="{BD6637FB-70DE-4DEE-362A-B3E116F08900}"/>
              </a:ext>
            </a:extLst>
          </p:cNvPr>
          <p:cNvSpPr/>
          <p:nvPr/>
        </p:nvSpPr>
        <p:spPr>
          <a:xfrm>
            <a:off x="4538547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192;p17">
            <a:extLst>
              <a:ext uri="{FF2B5EF4-FFF2-40B4-BE49-F238E27FC236}">
                <a16:creationId xmlns:a16="http://schemas.microsoft.com/office/drawing/2014/main" id="{572F978B-DB27-932D-EBBB-25910B7F0C71}"/>
              </a:ext>
            </a:extLst>
          </p:cNvPr>
          <p:cNvCxnSpPr>
            <a:cxnSpLocks/>
          </p:cNvCxnSpPr>
          <p:nvPr/>
        </p:nvCxnSpPr>
        <p:spPr>
          <a:xfrm rot="10800000">
            <a:off x="1785909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" name="Google Shape;193;p17">
            <a:extLst>
              <a:ext uri="{FF2B5EF4-FFF2-40B4-BE49-F238E27FC236}">
                <a16:creationId xmlns:a16="http://schemas.microsoft.com/office/drawing/2014/main" id="{DE52FF4E-4D57-718C-A568-E103C0C28ABD}"/>
              </a:ext>
            </a:extLst>
          </p:cNvPr>
          <p:cNvCxnSpPr>
            <a:cxnSpLocks/>
          </p:cNvCxnSpPr>
          <p:nvPr/>
        </p:nvCxnSpPr>
        <p:spPr>
          <a:xfrm rot="10800000">
            <a:off x="3206079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" name="Google Shape;194;p17">
            <a:extLst>
              <a:ext uri="{FF2B5EF4-FFF2-40B4-BE49-F238E27FC236}">
                <a16:creationId xmlns:a16="http://schemas.microsoft.com/office/drawing/2014/main" id="{9E1B86D0-167B-F82B-4971-C1294716FF23}"/>
              </a:ext>
            </a:extLst>
          </p:cNvPr>
          <p:cNvCxnSpPr>
            <a:cxnSpLocks/>
          </p:cNvCxnSpPr>
          <p:nvPr/>
        </p:nvCxnSpPr>
        <p:spPr>
          <a:xfrm rot="10800000">
            <a:off x="3916164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" name="Google Shape;195;p17">
            <a:extLst>
              <a:ext uri="{FF2B5EF4-FFF2-40B4-BE49-F238E27FC236}">
                <a16:creationId xmlns:a16="http://schemas.microsoft.com/office/drawing/2014/main" id="{C91EDADF-2EF4-0682-E7C1-A612A6B98835}"/>
              </a:ext>
            </a:extLst>
          </p:cNvPr>
          <p:cNvCxnSpPr>
            <a:cxnSpLocks/>
          </p:cNvCxnSpPr>
          <p:nvPr/>
        </p:nvCxnSpPr>
        <p:spPr>
          <a:xfrm rot="10800000">
            <a:off x="4626247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" name="Google Shape;200;p17">
            <a:extLst>
              <a:ext uri="{FF2B5EF4-FFF2-40B4-BE49-F238E27FC236}">
                <a16:creationId xmlns:a16="http://schemas.microsoft.com/office/drawing/2014/main" id="{08EE0E68-9D18-DAEC-6E65-313766CEBCE7}"/>
              </a:ext>
            </a:extLst>
          </p:cNvPr>
          <p:cNvSpPr txBox="1"/>
          <p:nvPr/>
        </p:nvSpPr>
        <p:spPr>
          <a:xfrm>
            <a:off x="3524904" y="2546158"/>
            <a:ext cx="75487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bank</a:t>
            </a:r>
            <a:endParaRPr sz="1600" dirty="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202;p17">
            <a:extLst>
              <a:ext uri="{FF2B5EF4-FFF2-40B4-BE49-F238E27FC236}">
                <a16:creationId xmlns:a16="http://schemas.microsoft.com/office/drawing/2014/main" id="{BFAD6294-3106-25E9-8AA3-AAE0FC3A1DBE}"/>
              </a:ext>
            </a:extLst>
          </p:cNvPr>
          <p:cNvSpPr txBox="1"/>
          <p:nvPr/>
        </p:nvSpPr>
        <p:spPr>
          <a:xfrm>
            <a:off x="2042139" y="2047434"/>
            <a:ext cx="315321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latin typeface="Roboto"/>
                <a:ea typeface="Roboto"/>
                <a:cs typeface="Roboto"/>
                <a:sym typeface="Roboto"/>
              </a:rPr>
              <a:t>Masked Language Modelling</a:t>
            </a: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203;p17">
            <a:extLst>
              <a:ext uri="{FF2B5EF4-FFF2-40B4-BE49-F238E27FC236}">
                <a16:creationId xmlns:a16="http://schemas.microsoft.com/office/drawing/2014/main" id="{DAF192C6-ADD0-689F-D3D2-95114000BF88}"/>
              </a:ext>
            </a:extLst>
          </p:cNvPr>
          <p:cNvSpPr txBox="1"/>
          <p:nvPr/>
        </p:nvSpPr>
        <p:spPr>
          <a:xfrm>
            <a:off x="7225343" y="2047433"/>
            <a:ext cx="298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latin typeface="Roboto"/>
                <a:ea typeface="Roboto"/>
                <a:cs typeface="Roboto"/>
                <a:sym typeface="Roboto"/>
              </a:rPr>
              <a:t>Next Sentence Prediction</a:t>
            </a: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" name="Google Shape;218;p17">
            <a:extLst>
              <a:ext uri="{FF2B5EF4-FFF2-40B4-BE49-F238E27FC236}">
                <a16:creationId xmlns:a16="http://schemas.microsoft.com/office/drawing/2014/main" id="{89487FEF-8D42-11B8-9126-1E705AD9B8EA}"/>
              </a:ext>
            </a:extLst>
          </p:cNvPr>
          <p:cNvCxnSpPr>
            <a:cxnSpLocks/>
          </p:cNvCxnSpPr>
          <p:nvPr/>
        </p:nvCxnSpPr>
        <p:spPr>
          <a:xfrm flipV="1">
            <a:off x="6926968" y="3023925"/>
            <a:ext cx="0" cy="5936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" name="Google Shape;224;p17">
            <a:extLst>
              <a:ext uri="{FF2B5EF4-FFF2-40B4-BE49-F238E27FC236}">
                <a16:creationId xmlns:a16="http://schemas.microsoft.com/office/drawing/2014/main" id="{9C2B0B34-C579-B13F-2C97-862E5EC79054}"/>
              </a:ext>
            </a:extLst>
          </p:cNvPr>
          <p:cNvSpPr txBox="1"/>
          <p:nvPr/>
        </p:nvSpPr>
        <p:spPr>
          <a:xfrm>
            <a:off x="6331918" y="2438925"/>
            <a:ext cx="1190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dirty="0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binary classification</a:t>
            </a:r>
            <a:endParaRPr sz="1300" dirty="0">
              <a:solidFill>
                <a:srgbClr val="4A86E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225;p17">
            <a:extLst>
              <a:ext uri="{FF2B5EF4-FFF2-40B4-BE49-F238E27FC236}">
                <a16:creationId xmlns:a16="http://schemas.microsoft.com/office/drawing/2014/main" id="{D2598E16-928B-F8ED-B1BC-08D08E1361F3}"/>
              </a:ext>
            </a:extLst>
          </p:cNvPr>
          <p:cNvSpPr txBox="1"/>
          <p:nvPr/>
        </p:nvSpPr>
        <p:spPr>
          <a:xfrm>
            <a:off x="1965207" y="6308224"/>
            <a:ext cx="827704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zh-TW" sz="1200" dirty="0">
                <a:latin typeface="Roboto"/>
                <a:ea typeface="Roboto"/>
                <a:cs typeface="Roboto"/>
                <a:sym typeface="Roboto"/>
              </a:rPr>
              <a:t>Devlin, Jacob, et al. "BERT: Pre-training of Deep Bidirectional Transformers for Language Understanding." NAACL 2019.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" name="Google Shape;195;p17">
            <a:extLst>
              <a:ext uri="{FF2B5EF4-FFF2-40B4-BE49-F238E27FC236}">
                <a16:creationId xmlns:a16="http://schemas.microsoft.com/office/drawing/2014/main" id="{66CA495A-19E6-1812-1E75-1E6512F61A5C}"/>
              </a:ext>
            </a:extLst>
          </p:cNvPr>
          <p:cNvCxnSpPr>
            <a:cxnSpLocks/>
          </p:cNvCxnSpPr>
          <p:nvPr/>
        </p:nvCxnSpPr>
        <p:spPr>
          <a:xfrm rot="10800000">
            <a:off x="2495994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" name="Google Shape;192;p17">
            <a:extLst>
              <a:ext uri="{FF2B5EF4-FFF2-40B4-BE49-F238E27FC236}">
                <a16:creationId xmlns:a16="http://schemas.microsoft.com/office/drawing/2014/main" id="{778DFAAD-6C8A-361E-FB33-A4D796293694}"/>
              </a:ext>
            </a:extLst>
          </p:cNvPr>
          <p:cNvCxnSpPr>
            <a:cxnSpLocks/>
          </p:cNvCxnSpPr>
          <p:nvPr/>
        </p:nvCxnSpPr>
        <p:spPr>
          <a:xfrm rot="10800000">
            <a:off x="1785909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" name="Google Shape;193;p17">
            <a:extLst>
              <a:ext uri="{FF2B5EF4-FFF2-40B4-BE49-F238E27FC236}">
                <a16:creationId xmlns:a16="http://schemas.microsoft.com/office/drawing/2014/main" id="{C1E80CEC-50C0-7A87-E961-F4BBEA568B72}"/>
              </a:ext>
            </a:extLst>
          </p:cNvPr>
          <p:cNvCxnSpPr>
            <a:cxnSpLocks/>
          </p:cNvCxnSpPr>
          <p:nvPr/>
        </p:nvCxnSpPr>
        <p:spPr>
          <a:xfrm rot="10800000">
            <a:off x="3206077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" name="Google Shape;194;p17">
            <a:extLst>
              <a:ext uri="{FF2B5EF4-FFF2-40B4-BE49-F238E27FC236}">
                <a16:creationId xmlns:a16="http://schemas.microsoft.com/office/drawing/2014/main" id="{65861D38-33A3-6511-151B-CF27648E78AB}"/>
              </a:ext>
            </a:extLst>
          </p:cNvPr>
          <p:cNvCxnSpPr>
            <a:cxnSpLocks/>
          </p:cNvCxnSpPr>
          <p:nvPr/>
        </p:nvCxnSpPr>
        <p:spPr>
          <a:xfrm rot="10800000">
            <a:off x="3916161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" name="Google Shape;195;p17">
            <a:extLst>
              <a:ext uri="{FF2B5EF4-FFF2-40B4-BE49-F238E27FC236}">
                <a16:creationId xmlns:a16="http://schemas.microsoft.com/office/drawing/2014/main" id="{C5C110D0-DF8E-4BD4-7DEB-66571C28E076}"/>
              </a:ext>
            </a:extLst>
          </p:cNvPr>
          <p:cNvCxnSpPr>
            <a:cxnSpLocks/>
          </p:cNvCxnSpPr>
          <p:nvPr/>
        </p:nvCxnSpPr>
        <p:spPr>
          <a:xfrm rot="10800000">
            <a:off x="4626247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" name="Google Shape;195;p17">
            <a:extLst>
              <a:ext uri="{FF2B5EF4-FFF2-40B4-BE49-F238E27FC236}">
                <a16:creationId xmlns:a16="http://schemas.microsoft.com/office/drawing/2014/main" id="{EFD06827-5649-BA80-52DA-0012BF5383FF}"/>
              </a:ext>
            </a:extLst>
          </p:cNvPr>
          <p:cNvCxnSpPr>
            <a:cxnSpLocks/>
          </p:cNvCxnSpPr>
          <p:nvPr/>
        </p:nvCxnSpPr>
        <p:spPr>
          <a:xfrm rot="10800000">
            <a:off x="2495993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" name="Google Shape;187;p17">
            <a:extLst>
              <a:ext uri="{FF2B5EF4-FFF2-40B4-BE49-F238E27FC236}">
                <a16:creationId xmlns:a16="http://schemas.microsoft.com/office/drawing/2014/main" id="{558102B0-D487-A2C1-EF09-57DC0FCD8CBC}"/>
              </a:ext>
            </a:extLst>
          </p:cNvPr>
          <p:cNvSpPr/>
          <p:nvPr/>
        </p:nvSpPr>
        <p:spPr>
          <a:xfrm>
            <a:off x="3120852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187;p17">
            <a:extLst>
              <a:ext uri="{FF2B5EF4-FFF2-40B4-BE49-F238E27FC236}">
                <a16:creationId xmlns:a16="http://schemas.microsoft.com/office/drawing/2014/main" id="{24679670-27FD-5658-45B2-3EDC97809CFD}"/>
              </a:ext>
            </a:extLst>
          </p:cNvPr>
          <p:cNvSpPr/>
          <p:nvPr/>
        </p:nvSpPr>
        <p:spPr>
          <a:xfrm>
            <a:off x="3819502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88D790F2-302A-1D31-CB9E-A2BBC2A7909D}"/>
              </a:ext>
            </a:extLst>
          </p:cNvPr>
          <p:cNvSpPr txBox="1"/>
          <p:nvPr/>
        </p:nvSpPr>
        <p:spPr>
          <a:xfrm>
            <a:off x="1476977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[CLS]</a:t>
            </a:r>
            <a:endParaRPr kumimoji="1" lang="zh-TW" altLang="en-US" sz="1300" dirty="0"/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98762416-0669-652B-27F1-64287FEE488B}"/>
              </a:ext>
            </a:extLst>
          </p:cNvPr>
          <p:cNvSpPr txBox="1"/>
          <p:nvPr/>
        </p:nvSpPr>
        <p:spPr>
          <a:xfrm>
            <a:off x="2187061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open</a:t>
            </a:r>
            <a:endParaRPr kumimoji="1" lang="zh-TW" altLang="en-US" sz="1300" dirty="0"/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CF1689B9-BC07-370F-3C26-2995578C7B6F}"/>
              </a:ext>
            </a:extLst>
          </p:cNvPr>
          <p:cNvSpPr txBox="1"/>
          <p:nvPr/>
        </p:nvSpPr>
        <p:spPr>
          <a:xfrm>
            <a:off x="2896420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a</a:t>
            </a:r>
            <a:endParaRPr kumimoji="1" lang="zh-TW" altLang="en-US" sz="1300" dirty="0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D3C6A9AC-925C-665B-DDA9-E28F39928D95}"/>
              </a:ext>
            </a:extLst>
          </p:cNvPr>
          <p:cNvSpPr txBox="1"/>
          <p:nvPr/>
        </p:nvSpPr>
        <p:spPr>
          <a:xfrm>
            <a:off x="3503432" y="5573410"/>
            <a:ext cx="8244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>
                <a:solidFill>
                  <a:srgbClr val="FF0000"/>
                </a:solidFill>
              </a:rPr>
              <a:t>[MASK]</a:t>
            </a:r>
            <a:endParaRPr kumimoji="1" lang="zh-TW" altLang="en-US" sz="1300" dirty="0">
              <a:solidFill>
                <a:srgbClr val="FF0000"/>
              </a:solidFill>
            </a:endParaRPr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E621D8CB-3C9C-42D1-B506-AA87DFFB7C9B}"/>
              </a:ext>
            </a:extLst>
          </p:cNvPr>
          <p:cNvSpPr txBox="1"/>
          <p:nvPr/>
        </p:nvSpPr>
        <p:spPr>
          <a:xfrm>
            <a:off x="4188131" y="5554371"/>
            <a:ext cx="8816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account</a:t>
            </a:r>
            <a:endParaRPr kumimoji="1" lang="zh-TW" altLang="en-US" sz="1300" dirty="0"/>
          </a:p>
        </p:txBody>
      </p:sp>
      <p:sp>
        <p:nvSpPr>
          <p:cNvPr id="104" name="Google Shape;187;p17">
            <a:extLst>
              <a:ext uri="{FF2B5EF4-FFF2-40B4-BE49-F238E27FC236}">
                <a16:creationId xmlns:a16="http://schemas.microsoft.com/office/drawing/2014/main" id="{59572B40-01A3-7EAF-C5B8-000D6904EBBD}"/>
              </a:ext>
            </a:extLst>
          </p:cNvPr>
          <p:cNvSpPr/>
          <p:nvPr/>
        </p:nvSpPr>
        <p:spPr>
          <a:xfrm>
            <a:off x="7549902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88;p17">
            <a:extLst>
              <a:ext uri="{FF2B5EF4-FFF2-40B4-BE49-F238E27FC236}">
                <a16:creationId xmlns:a16="http://schemas.microsoft.com/office/drawing/2014/main" id="{A2138C0A-D63F-B196-E393-70D87DEBF3E6}"/>
              </a:ext>
            </a:extLst>
          </p:cNvPr>
          <p:cNvSpPr/>
          <p:nvPr/>
        </p:nvSpPr>
        <p:spPr>
          <a:xfrm>
            <a:off x="6839822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89;p17">
            <a:extLst>
              <a:ext uri="{FF2B5EF4-FFF2-40B4-BE49-F238E27FC236}">
                <a16:creationId xmlns:a16="http://schemas.microsoft.com/office/drawing/2014/main" id="{653CD364-19D7-3745-8D3E-F906F3D8C516}"/>
              </a:ext>
            </a:extLst>
          </p:cNvPr>
          <p:cNvSpPr/>
          <p:nvPr/>
        </p:nvSpPr>
        <p:spPr>
          <a:xfrm>
            <a:off x="9679607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7" name="Google Shape;192;p17">
            <a:extLst>
              <a:ext uri="{FF2B5EF4-FFF2-40B4-BE49-F238E27FC236}">
                <a16:creationId xmlns:a16="http://schemas.microsoft.com/office/drawing/2014/main" id="{E1AB6907-4E04-C4D0-827C-2C448E29DF72}"/>
              </a:ext>
            </a:extLst>
          </p:cNvPr>
          <p:cNvCxnSpPr>
            <a:cxnSpLocks/>
          </p:cNvCxnSpPr>
          <p:nvPr/>
        </p:nvCxnSpPr>
        <p:spPr>
          <a:xfrm rot="10800000">
            <a:off x="6926969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" name="Google Shape;193;p17">
            <a:extLst>
              <a:ext uri="{FF2B5EF4-FFF2-40B4-BE49-F238E27FC236}">
                <a16:creationId xmlns:a16="http://schemas.microsoft.com/office/drawing/2014/main" id="{85141E47-534E-96C2-550D-CF8B36FAA3B5}"/>
              </a:ext>
            </a:extLst>
          </p:cNvPr>
          <p:cNvCxnSpPr>
            <a:cxnSpLocks/>
          </p:cNvCxnSpPr>
          <p:nvPr/>
        </p:nvCxnSpPr>
        <p:spPr>
          <a:xfrm rot="10800000">
            <a:off x="8347139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Google Shape;194;p17">
            <a:extLst>
              <a:ext uri="{FF2B5EF4-FFF2-40B4-BE49-F238E27FC236}">
                <a16:creationId xmlns:a16="http://schemas.microsoft.com/office/drawing/2014/main" id="{9EB206F7-D6E3-A3B7-26CB-534F2D72CD4D}"/>
              </a:ext>
            </a:extLst>
          </p:cNvPr>
          <p:cNvCxnSpPr>
            <a:cxnSpLocks/>
          </p:cNvCxnSpPr>
          <p:nvPr/>
        </p:nvCxnSpPr>
        <p:spPr>
          <a:xfrm rot="10800000">
            <a:off x="9057224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95;p17">
            <a:extLst>
              <a:ext uri="{FF2B5EF4-FFF2-40B4-BE49-F238E27FC236}">
                <a16:creationId xmlns:a16="http://schemas.microsoft.com/office/drawing/2014/main" id="{E2165EF3-15EC-4C88-F0C1-E70DD258E1FB}"/>
              </a:ext>
            </a:extLst>
          </p:cNvPr>
          <p:cNvCxnSpPr>
            <a:cxnSpLocks/>
          </p:cNvCxnSpPr>
          <p:nvPr/>
        </p:nvCxnSpPr>
        <p:spPr>
          <a:xfrm rot="10800000">
            <a:off x="9767307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" name="Google Shape;204;p17">
            <a:extLst>
              <a:ext uri="{FF2B5EF4-FFF2-40B4-BE49-F238E27FC236}">
                <a16:creationId xmlns:a16="http://schemas.microsoft.com/office/drawing/2014/main" id="{E0DB81CE-AB87-EF79-D2CC-9D1E585D8EC8}"/>
              </a:ext>
            </a:extLst>
          </p:cNvPr>
          <p:cNvSpPr/>
          <p:nvPr/>
        </p:nvSpPr>
        <p:spPr>
          <a:xfrm>
            <a:off x="6607739" y="4567753"/>
            <a:ext cx="4210222" cy="774600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BERT</a:t>
            </a:r>
            <a:endParaRPr dirty="0"/>
          </a:p>
          <a:p>
            <a:pPr lvl="0" algn="ctr"/>
            <a:r>
              <a:rPr lang="zh-TW" dirty="0"/>
              <a:t>(</a:t>
            </a:r>
            <a:r>
              <a:rPr lang="en-US" altLang="zh-TW" b="1" dirty="0">
                <a:solidFill>
                  <a:srgbClr val="4A86E8"/>
                </a:solidFill>
              </a:rPr>
              <a:t>Transformer Encoder</a:t>
            </a:r>
            <a:r>
              <a:rPr lang="zh-TW" dirty="0"/>
              <a:t>)</a:t>
            </a:r>
            <a:endParaRPr dirty="0"/>
          </a:p>
        </p:txBody>
      </p:sp>
      <p:cxnSp>
        <p:nvCxnSpPr>
          <p:cNvPr id="112" name="Google Shape;195;p17">
            <a:extLst>
              <a:ext uri="{FF2B5EF4-FFF2-40B4-BE49-F238E27FC236}">
                <a16:creationId xmlns:a16="http://schemas.microsoft.com/office/drawing/2014/main" id="{35D8230C-B91F-711F-F2F2-C9C3CA150681}"/>
              </a:ext>
            </a:extLst>
          </p:cNvPr>
          <p:cNvCxnSpPr>
            <a:cxnSpLocks/>
          </p:cNvCxnSpPr>
          <p:nvPr/>
        </p:nvCxnSpPr>
        <p:spPr>
          <a:xfrm rot="10800000">
            <a:off x="7637054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" name="Google Shape;192;p17">
            <a:extLst>
              <a:ext uri="{FF2B5EF4-FFF2-40B4-BE49-F238E27FC236}">
                <a16:creationId xmlns:a16="http://schemas.microsoft.com/office/drawing/2014/main" id="{3FC8E1FA-890E-BD73-CC1E-A0F28B7F5261}"/>
              </a:ext>
            </a:extLst>
          </p:cNvPr>
          <p:cNvCxnSpPr>
            <a:cxnSpLocks/>
          </p:cNvCxnSpPr>
          <p:nvPr/>
        </p:nvCxnSpPr>
        <p:spPr>
          <a:xfrm rot="10800000">
            <a:off x="6926969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93;p17">
            <a:extLst>
              <a:ext uri="{FF2B5EF4-FFF2-40B4-BE49-F238E27FC236}">
                <a16:creationId xmlns:a16="http://schemas.microsoft.com/office/drawing/2014/main" id="{D9F59E43-A1E2-FB62-B95E-A3943CF664A6}"/>
              </a:ext>
            </a:extLst>
          </p:cNvPr>
          <p:cNvCxnSpPr>
            <a:cxnSpLocks/>
          </p:cNvCxnSpPr>
          <p:nvPr/>
        </p:nvCxnSpPr>
        <p:spPr>
          <a:xfrm rot="10800000">
            <a:off x="8347137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94;p17">
            <a:extLst>
              <a:ext uri="{FF2B5EF4-FFF2-40B4-BE49-F238E27FC236}">
                <a16:creationId xmlns:a16="http://schemas.microsoft.com/office/drawing/2014/main" id="{7CD6648E-DC1C-EC0E-53D1-38F1C2C2B0C0}"/>
              </a:ext>
            </a:extLst>
          </p:cNvPr>
          <p:cNvCxnSpPr>
            <a:cxnSpLocks/>
          </p:cNvCxnSpPr>
          <p:nvPr/>
        </p:nvCxnSpPr>
        <p:spPr>
          <a:xfrm rot="10800000">
            <a:off x="9057221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" name="Google Shape;195;p17">
            <a:extLst>
              <a:ext uri="{FF2B5EF4-FFF2-40B4-BE49-F238E27FC236}">
                <a16:creationId xmlns:a16="http://schemas.microsoft.com/office/drawing/2014/main" id="{25DA74D1-FAC8-57CA-5039-88343815ADEE}"/>
              </a:ext>
            </a:extLst>
          </p:cNvPr>
          <p:cNvCxnSpPr>
            <a:cxnSpLocks/>
          </p:cNvCxnSpPr>
          <p:nvPr/>
        </p:nvCxnSpPr>
        <p:spPr>
          <a:xfrm rot="10800000">
            <a:off x="9767307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" name="Google Shape;195;p17">
            <a:extLst>
              <a:ext uri="{FF2B5EF4-FFF2-40B4-BE49-F238E27FC236}">
                <a16:creationId xmlns:a16="http://schemas.microsoft.com/office/drawing/2014/main" id="{2C14B876-1C4A-636F-4EE8-28AD25172CFC}"/>
              </a:ext>
            </a:extLst>
          </p:cNvPr>
          <p:cNvCxnSpPr>
            <a:cxnSpLocks/>
          </p:cNvCxnSpPr>
          <p:nvPr/>
        </p:nvCxnSpPr>
        <p:spPr>
          <a:xfrm rot="10800000">
            <a:off x="7637053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" name="Google Shape;187;p17">
            <a:extLst>
              <a:ext uri="{FF2B5EF4-FFF2-40B4-BE49-F238E27FC236}">
                <a16:creationId xmlns:a16="http://schemas.microsoft.com/office/drawing/2014/main" id="{DE2EE9E7-1DA0-658F-48D0-84B8CBAA5820}"/>
              </a:ext>
            </a:extLst>
          </p:cNvPr>
          <p:cNvSpPr/>
          <p:nvPr/>
        </p:nvSpPr>
        <p:spPr>
          <a:xfrm>
            <a:off x="8261912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87;p17">
            <a:extLst>
              <a:ext uri="{FF2B5EF4-FFF2-40B4-BE49-F238E27FC236}">
                <a16:creationId xmlns:a16="http://schemas.microsoft.com/office/drawing/2014/main" id="{27C9A567-27DF-2703-3BF3-DC70801965ED}"/>
              </a:ext>
            </a:extLst>
          </p:cNvPr>
          <p:cNvSpPr/>
          <p:nvPr/>
        </p:nvSpPr>
        <p:spPr>
          <a:xfrm>
            <a:off x="8960562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文字方塊 119">
            <a:extLst>
              <a:ext uri="{FF2B5EF4-FFF2-40B4-BE49-F238E27FC236}">
                <a16:creationId xmlns:a16="http://schemas.microsoft.com/office/drawing/2014/main" id="{02A8C332-AC64-C148-8283-2BA88D80B94A}"/>
              </a:ext>
            </a:extLst>
          </p:cNvPr>
          <p:cNvSpPr txBox="1"/>
          <p:nvPr/>
        </p:nvSpPr>
        <p:spPr>
          <a:xfrm>
            <a:off x="6607481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[CLS]</a:t>
            </a:r>
            <a:endParaRPr kumimoji="1" lang="zh-TW" altLang="en-US" sz="1300" dirty="0"/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A9FE2F54-4A09-A1D9-4463-BE47C826E83B}"/>
              </a:ext>
            </a:extLst>
          </p:cNvPr>
          <p:cNvSpPr txBox="1"/>
          <p:nvPr/>
        </p:nvSpPr>
        <p:spPr>
          <a:xfrm>
            <a:off x="7255286" y="5554371"/>
            <a:ext cx="73681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study</a:t>
            </a:r>
            <a:endParaRPr kumimoji="1" lang="zh-TW" altLang="en-US" sz="1300" dirty="0"/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52805FBA-C031-BF0B-948B-2D3A3E19D0A7}"/>
              </a:ext>
            </a:extLst>
          </p:cNvPr>
          <p:cNvSpPr txBox="1"/>
          <p:nvPr/>
        </p:nvSpPr>
        <p:spPr>
          <a:xfrm>
            <a:off x="7992096" y="5554371"/>
            <a:ext cx="73681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hard</a:t>
            </a:r>
            <a:endParaRPr kumimoji="1" lang="zh-TW" altLang="en-US" sz="1300" dirty="0"/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E670CD33-E05E-D383-6E36-D3851C6E858B}"/>
              </a:ext>
            </a:extLst>
          </p:cNvPr>
          <p:cNvSpPr txBox="1"/>
          <p:nvPr/>
        </p:nvSpPr>
        <p:spPr>
          <a:xfrm>
            <a:off x="8748290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[SEP]</a:t>
            </a:r>
            <a:endParaRPr kumimoji="1" lang="zh-TW" altLang="en-US" sz="1300" dirty="0"/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9F09B156-E611-6D2A-68C9-3807FB3C3501}"/>
              </a:ext>
            </a:extLst>
          </p:cNvPr>
          <p:cNvSpPr txBox="1"/>
          <p:nvPr/>
        </p:nvSpPr>
        <p:spPr>
          <a:xfrm>
            <a:off x="9408044" y="5554371"/>
            <a:ext cx="71742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 err="1"/>
              <a:t>plz</a:t>
            </a:r>
            <a:endParaRPr kumimoji="1" lang="zh-TW" altLang="en-US" sz="1300" dirty="0"/>
          </a:p>
        </p:txBody>
      </p:sp>
      <p:cxnSp>
        <p:nvCxnSpPr>
          <p:cNvPr id="125" name="Google Shape;218;p17">
            <a:extLst>
              <a:ext uri="{FF2B5EF4-FFF2-40B4-BE49-F238E27FC236}">
                <a16:creationId xmlns:a16="http://schemas.microsoft.com/office/drawing/2014/main" id="{473F3D53-6A24-7B28-C5D9-F387152D36A1}"/>
              </a:ext>
            </a:extLst>
          </p:cNvPr>
          <p:cNvCxnSpPr>
            <a:cxnSpLocks/>
          </p:cNvCxnSpPr>
          <p:nvPr/>
        </p:nvCxnSpPr>
        <p:spPr>
          <a:xfrm flipV="1">
            <a:off x="3914227" y="3023925"/>
            <a:ext cx="0" cy="5936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189;p17">
            <a:extLst>
              <a:ext uri="{FF2B5EF4-FFF2-40B4-BE49-F238E27FC236}">
                <a16:creationId xmlns:a16="http://schemas.microsoft.com/office/drawing/2014/main" id="{A1CB2C50-C879-6546-B45C-B7784D8B87C0}"/>
              </a:ext>
            </a:extLst>
          </p:cNvPr>
          <p:cNvSpPr/>
          <p:nvPr/>
        </p:nvSpPr>
        <p:spPr>
          <a:xfrm>
            <a:off x="10398652" y="3665353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7" name="Google Shape;195;p17">
            <a:extLst>
              <a:ext uri="{FF2B5EF4-FFF2-40B4-BE49-F238E27FC236}">
                <a16:creationId xmlns:a16="http://schemas.microsoft.com/office/drawing/2014/main" id="{478D83BA-C7D3-C707-A342-E3BF7F033E88}"/>
              </a:ext>
            </a:extLst>
          </p:cNvPr>
          <p:cNvCxnSpPr>
            <a:cxnSpLocks/>
          </p:cNvCxnSpPr>
          <p:nvPr/>
        </p:nvCxnSpPr>
        <p:spPr>
          <a:xfrm rot="10800000">
            <a:off x="10486352" y="429373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8" name="Google Shape;194;p17">
            <a:extLst>
              <a:ext uri="{FF2B5EF4-FFF2-40B4-BE49-F238E27FC236}">
                <a16:creationId xmlns:a16="http://schemas.microsoft.com/office/drawing/2014/main" id="{258C40FA-1A10-5F0B-C970-982009A09BBF}"/>
              </a:ext>
            </a:extLst>
          </p:cNvPr>
          <p:cNvCxnSpPr>
            <a:cxnSpLocks/>
          </p:cNvCxnSpPr>
          <p:nvPr/>
        </p:nvCxnSpPr>
        <p:spPr>
          <a:xfrm rot="10800000">
            <a:off x="10457064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7BA7909F-BD6D-9EFB-1E5E-5241672DFBEC}"/>
              </a:ext>
            </a:extLst>
          </p:cNvPr>
          <p:cNvSpPr txBox="1"/>
          <p:nvPr/>
        </p:nvSpPr>
        <p:spPr>
          <a:xfrm>
            <a:off x="10148130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[SEP]</a:t>
            </a:r>
            <a:endParaRPr kumimoji="1" lang="zh-TW" altLang="en-US" sz="1300" dirty="0"/>
          </a:p>
        </p:txBody>
      </p:sp>
      <p:sp>
        <p:nvSpPr>
          <p:cNvPr id="130" name="Google Shape;204;p17">
            <a:extLst>
              <a:ext uri="{FF2B5EF4-FFF2-40B4-BE49-F238E27FC236}">
                <a16:creationId xmlns:a16="http://schemas.microsoft.com/office/drawing/2014/main" id="{B7E77234-E015-E8B0-DEEA-AC759BA87B22}"/>
              </a:ext>
            </a:extLst>
          </p:cNvPr>
          <p:cNvSpPr/>
          <p:nvPr/>
        </p:nvSpPr>
        <p:spPr>
          <a:xfrm>
            <a:off x="1409171" y="4571995"/>
            <a:ext cx="4210222" cy="774600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BERT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(</a:t>
            </a:r>
            <a:r>
              <a:rPr lang="en-US" altLang="zh-TW" b="1" dirty="0">
                <a:solidFill>
                  <a:srgbClr val="4A86E8"/>
                </a:solidFill>
              </a:rPr>
              <a:t>Transformer Encoder</a:t>
            </a:r>
            <a:r>
              <a:rPr lang="zh-TW" dirty="0"/>
              <a:t>)</a:t>
            </a:r>
            <a:endParaRPr dirty="0"/>
          </a:p>
        </p:txBody>
      </p:sp>
      <p:sp>
        <p:nvSpPr>
          <p:cNvPr id="131" name="Google Shape;189;p17">
            <a:extLst>
              <a:ext uri="{FF2B5EF4-FFF2-40B4-BE49-F238E27FC236}">
                <a16:creationId xmlns:a16="http://schemas.microsoft.com/office/drawing/2014/main" id="{A7D052AC-D463-C5AF-A591-99C18CB61E86}"/>
              </a:ext>
            </a:extLst>
          </p:cNvPr>
          <p:cNvSpPr/>
          <p:nvPr/>
        </p:nvSpPr>
        <p:spPr>
          <a:xfrm>
            <a:off x="5238170" y="3665353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2" name="Google Shape;195;p17">
            <a:extLst>
              <a:ext uri="{FF2B5EF4-FFF2-40B4-BE49-F238E27FC236}">
                <a16:creationId xmlns:a16="http://schemas.microsoft.com/office/drawing/2014/main" id="{60600E89-5453-EF68-D985-38A317C2F7A4}"/>
              </a:ext>
            </a:extLst>
          </p:cNvPr>
          <p:cNvCxnSpPr>
            <a:cxnSpLocks/>
          </p:cNvCxnSpPr>
          <p:nvPr/>
        </p:nvCxnSpPr>
        <p:spPr>
          <a:xfrm rot="10800000">
            <a:off x="5325870" y="429373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194;p17">
            <a:extLst>
              <a:ext uri="{FF2B5EF4-FFF2-40B4-BE49-F238E27FC236}">
                <a16:creationId xmlns:a16="http://schemas.microsoft.com/office/drawing/2014/main" id="{B96111B0-6497-73D3-60AD-97486643F3EC}"/>
              </a:ext>
            </a:extLst>
          </p:cNvPr>
          <p:cNvCxnSpPr>
            <a:cxnSpLocks/>
          </p:cNvCxnSpPr>
          <p:nvPr/>
        </p:nvCxnSpPr>
        <p:spPr>
          <a:xfrm rot="10800000">
            <a:off x="5304033" y="5391784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9FFE0A9B-BCD2-39C8-0172-6FC6CA736A8A}"/>
              </a:ext>
            </a:extLst>
          </p:cNvPr>
          <p:cNvSpPr txBox="1"/>
          <p:nvPr/>
        </p:nvSpPr>
        <p:spPr>
          <a:xfrm>
            <a:off x="4995099" y="5557472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[SEP]</a:t>
            </a:r>
            <a:endParaRPr kumimoji="1" lang="zh-TW" altLang="en-US" sz="1300" dirty="0"/>
          </a:p>
        </p:txBody>
      </p:sp>
      <p:sp>
        <p:nvSpPr>
          <p:cNvPr id="135" name="橢圓 134">
            <a:extLst>
              <a:ext uri="{FF2B5EF4-FFF2-40B4-BE49-F238E27FC236}">
                <a16:creationId xmlns:a16="http://schemas.microsoft.com/office/drawing/2014/main" id="{0E02166C-27AB-9A44-EE56-993C9EC6D96B}"/>
              </a:ext>
            </a:extLst>
          </p:cNvPr>
          <p:cNvSpPr/>
          <p:nvPr/>
        </p:nvSpPr>
        <p:spPr>
          <a:xfrm>
            <a:off x="6569567" y="5442805"/>
            <a:ext cx="712443" cy="585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AB7628-2F91-9C65-3980-4BC58D1E4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92" y="1574318"/>
            <a:ext cx="10058400" cy="1244437"/>
          </a:xfrm>
        </p:spPr>
        <p:txBody>
          <a:bodyPr vert="horz" lIns="0" tIns="45720" rIns="0" bIns="45720" rtlCol="0" anchor="t">
            <a:normAutofit/>
          </a:bodyPr>
          <a:lstStyle/>
          <a:p>
            <a:pPr indent="-3600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Microsoft JhengHei" panose="020B0604030504040204" pitchFamily="34" charset="-120"/>
                <a:cs typeface="+mn-lt"/>
              </a:rPr>
              <a:t>BERT</a:t>
            </a:r>
            <a:r>
              <a:rPr lang="zh-TW" altLang="en-US" dirty="0">
                <a:ea typeface="Microsoft JhengHei" panose="020B0604030504040204" pitchFamily="34" charset="-120"/>
                <a:cs typeface="+mn-lt"/>
              </a:rPr>
              <a:t> 有兩種預訓練任務：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04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0" grpId="0" animBg="1"/>
      <p:bldP spid="85" grpId="0"/>
      <p:bldP spid="86" grpId="0"/>
      <p:bldP spid="87" grpId="0"/>
      <p:bldP spid="89" grpId="0"/>
      <p:bldP spid="97" grpId="0" animBg="1"/>
      <p:bldP spid="98" grpId="0" animBg="1"/>
      <p:bldP spid="99" grpId="0"/>
      <p:bldP spid="100" grpId="0"/>
      <p:bldP spid="101" grpId="0"/>
      <p:bldP spid="102" grpId="0"/>
      <p:bldP spid="103" grpId="0"/>
      <p:bldP spid="104" grpId="0" animBg="1"/>
      <p:bldP spid="105" grpId="0" animBg="1"/>
      <p:bldP spid="106" grpId="0" animBg="1"/>
      <p:bldP spid="111" grpId="0" animBg="1"/>
      <p:bldP spid="118" grpId="0" animBg="1"/>
      <p:bldP spid="119" grpId="0" animBg="1"/>
      <p:bldP spid="120" grpId="0"/>
      <p:bldP spid="121" grpId="0"/>
      <p:bldP spid="122" grpId="0"/>
      <p:bldP spid="123" grpId="0"/>
      <p:bldP spid="124" grpId="0"/>
      <p:bldP spid="126" grpId="0" animBg="1"/>
      <p:bldP spid="129" grpId="0"/>
      <p:bldP spid="130" grpId="0" animBg="1"/>
      <p:bldP spid="131" grpId="0" animBg="1"/>
      <p:bldP spid="134" grpId="0"/>
      <p:bldP spid="1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F2DFE2-1082-AA95-EC4D-5EB4A97D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BERTScore</a:t>
            </a:r>
            <a:r>
              <a:rPr kumimoji="1" lang="en-US" altLang="zh-TW" dirty="0"/>
              <a:t> – Overview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29C086-752C-33F8-9091-9E8B48210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9" name="圖片 8" descr="一張含有 文字, 圖表, 行, 字型 的圖片&#10;&#10;自動產生的描述">
            <a:extLst>
              <a:ext uri="{FF2B5EF4-FFF2-40B4-BE49-F238E27FC236}">
                <a16:creationId xmlns:a16="http://schemas.microsoft.com/office/drawing/2014/main" id="{21C9C716-9AD5-BD7E-FFF6-4D5F72E2F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13" y="2264410"/>
            <a:ext cx="10351174" cy="296799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6C7FC432-EE8D-6A46-4F76-37D0DDE5C227}"/>
              </a:ext>
            </a:extLst>
          </p:cNvPr>
          <p:cNvSpPr txBox="1"/>
          <p:nvPr/>
        </p:nvSpPr>
        <p:spPr>
          <a:xfrm>
            <a:off x="1363227" y="6413608"/>
            <a:ext cx="9465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Zhang, </a:t>
            </a:r>
            <a:r>
              <a:rPr kumimoji="1" lang="en" altLang="zh-TW" sz="1200" dirty="0" err="1"/>
              <a:t>Tianyi</a:t>
            </a:r>
            <a:r>
              <a:rPr kumimoji="1" lang="en" altLang="zh-TW" sz="1200" dirty="0"/>
              <a:t>, et al. "</a:t>
            </a:r>
            <a:r>
              <a:rPr kumimoji="1" lang="en" altLang="zh-TW" sz="1200" dirty="0" err="1"/>
              <a:t>BERTScore</a:t>
            </a:r>
            <a:r>
              <a:rPr kumimoji="1" lang="en" altLang="zh-TW" sz="1200" dirty="0"/>
              <a:t>: Evaluating Text Generation with BERT." International Conference on Learning Representations. 2020.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542390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B17F91-B3FE-2461-5B1E-B72B02930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>
                <a:ea typeface="Microsoft JhengHei" panose="020B0604030504040204" pitchFamily="34" charset="-120"/>
              </a:rPr>
              <a:t>BERTScore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F14236-EDB3-81D7-4543-D872D8659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776E5BE7-4C32-F9CE-2910-89B43C662507}"/>
              </a:ext>
            </a:extLst>
          </p:cNvPr>
          <p:cNvSpPr/>
          <p:nvPr/>
        </p:nvSpPr>
        <p:spPr>
          <a:xfrm>
            <a:off x="1864791" y="4262972"/>
            <a:ext cx="2831691" cy="53094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The weather is cold today.</a:t>
            </a:r>
            <a:endParaRPr kumimoji="1" lang="zh-TW" alt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656BB5E1-F289-387F-0D6C-7D5F33E6A035}"/>
              </a:ext>
            </a:extLst>
          </p:cNvPr>
          <p:cNvSpPr/>
          <p:nvPr/>
        </p:nvSpPr>
        <p:spPr>
          <a:xfrm>
            <a:off x="5205301" y="2088782"/>
            <a:ext cx="2831691" cy="53094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How’s the weather today?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pic>
        <p:nvPicPr>
          <p:cNvPr id="8" name="圖片 7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4719CA43-1FE8-952A-F98B-3E80B3211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858" y="3108888"/>
            <a:ext cx="443329" cy="44794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A2E8D5B3-A99B-4B26-8D61-466F4713E6F2}"/>
              </a:ext>
            </a:extLst>
          </p:cNvPr>
          <p:cNvSpPr txBox="1"/>
          <p:nvPr/>
        </p:nvSpPr>
        <p:spPr>
          <a:xfrm>
            <a:off x="4696482" y="2123420"/>
            <a:ext cx="508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🙋</a:t>
            </a:r>
            <a:endParaRPr kumimoji="1" lang="zh-TW" altLang="en-US" sz="24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8992F529-04F4-548E-67C4-CFAC74C4538F}"/>
              </a:ext>
            </a:extLst>
          </p:cNvPr>
          <p:cNvSpPr/>
          <p:nvPr/>
        </p:nvSpPr>
        <p:spPr>
          <a:xfrm>
            <a:off x="1864791" y="3067391"/>
            <a:ext cx="2831691" cy="53094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It is freezing today.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182C29E-7AFE-67C3-750A-E5C1827149BC}"/>
              </a:ext>
            </a:extLst>
          </p:cNvPr>
          <p:cNvSpPr txBox="1"/>
          <p:nvPr/>
        </p:nvSpPr>
        <p:spPr>
          <a:xfrm>
            <a:off x="4696482" y="3132806"/>
            <a:ext cx="1446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Candidate</a:t>
            </a:r>
            <a:endParaRPr kumimoji="1" lang="zh-TW" altLang="en-US" sz="2000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EA100C3-DEBC-00AD-9F58-0ACBC1773C97}"/>
              </a:ext>
            </a:extLst>
          </p:cNvPr>
          <p:cNvSpPr txBox="1"/>
          <p:nvPr/>
        </p:nvSpPr>
        <p:spPr>
          <a:xfrm>
            <a:off x="4696482" y="4328388"/>
            <a:ext cx="1446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Reference</a:t>
            </a:r>
            <a:endParaRPr kumimoji="1" lang="zh-TW" altLang="en-US" sz="2000" b="1" dirty="0"/>
          </a:p>
        </p:txBody>
      </p:sp>
      <p:cxnSp>
        <p:nvCxnSpPr>
          <p:cNvPr id="14" name="肘形接點 13">
            <a:extLst>
              <a:ext uri="{FF2B5EF4-FFF2-40B4-BE49-F238E27FC236}">
                <a16:creationId xmlns:a16="http://schemas.microsoft.com/office/drawing/2014/main" id="{B6DD9CF1-2E87-E065-CAE2-2F57766EDDD7}"/>
              </a:ext>
            </a:extLst>
          </p:cNvPr>
          <p:cNvCxnSpPr>
            <a:stCxn id="11" idx="3"/>
            <a:endCxn id="12" idx="3"/>
          </p:cNvCxnSpPr>
          <p:nvPr/>
        </p:nvCxnSpPr>
        <p:spPr>
          <a:xfrm>
            <a:off x="6142704" y="3332861"/>
            <a:ext cx="12700" cy="1195582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41017EC5-32A3-5481-8247-40B97AE68B81}"/>
              </a:ext>
            </a:extLst>
          </p:cNvPr>
          <p:cNvCxnSpPr>
            <a:cxnSpLocks/>
          </p:cNvCxnSpPr>
          <p:nvPr/>
        </p:nvCxnSpPr>
        <p:spPr>
          <a:xfrm>
            <a:off x="6496662" y="3967316"/>
            <a:ext cx="3613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7688FE9A-8050-5607-9C4F-CBDB683E1173}"/>
              </a:ext>
            </a:extLst>
          </p:cNvPr>
          <p:cNvSpPr/>
          <p:nvPr/>
        </p:nvSpPr>
        <p:spPr>
          <a:xfrm>
            <a:off x="7000153" y="3705188"/>
            <a:ext cx="1769807" cy="52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 err="1"/>
              <a:t>BERTScore</a:t>
            </a:r>
            <a:endParaRPr kumimoji="1" lang="zh-TW" altLang="en-US" dirty="0"/>
          </a:p>
        </p:txBody>
      </p: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70B3D027-516F-C90F-7DF5-AB9449B7E4C3}"/>
              </a:ext>
            </a:extLst>
          </p:cNvPr>
          <p:cNvCxnSpPr>
            <a:cxnSpLocks/>
          </p:cNvCxnSpPr>
          <p:nvPr/>
        </p:nvCxnSpPr>
        <p:spPr>
          <a:xfrm>
            <a:off x="8876069" y="3967316"/>
            <a:ext cx="3613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29DBCEB-4153-B314-E8AD-4159C6E182F5}"/>
              </a:ext>
            </a:extLst>
          </p:cNvPr>
          <p:cNvSpPr txBox="1"/>
          <p:nvPr/>
        </p:nvSpPr>
        <p:spPr>
          <a:xfrm>
            <a:off x="9291895" y="3767261"/>
            <a:ext cx="906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95%</a:t>
            </a:r>
            <a:endParaRPr kumimoji="1" lang="zh-TW" altLang="en-US" sz="2000" b="1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A57F0BA-FFFB-937D-6079-652632045A9C}"/>
              </a:ext>
            </a:extLst>
          </p:cNvPr>
          <p:cNvSpPr txBox="1"/>
          <p:nvPr/>
        </p:nvSpPr>
        <p:spPr>
          <a:xfrm>
            <a:off x="8296253" y="4439972"/>
            <a:ext cx="2897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代表生成的結果與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標準答案的語意相似性</a:t>
            </a:r>
          </a:p>
        </p:txBody>
      </p:sp>
    </p:spTree>
    <p:extLst>
      <p:ext uri="{BB962C8B-B14F-4D97-AF65-F5344CB8AC3E}">
        <p14:creationId xmlns:p14="http://schemas.microsoft.com/office/powerpoint/2010/main" val="173052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/>
      <p:bldP spid="12" grpId="0"/>
      <p:bldP spid="17" grpId="0" animBg="1"/>
      <p:bldP spid="19" grpId="0"/>
      <p:bldP spid="2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DCFB31-EF41-36F1-A3CA-B5ECB144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BERTScore</a:t>
            </a:r>
            <a:r>
              <a:rPr kumimoji="1" lang="en-US" altLang="zh-TW" dirty="0"/>
              <a:t> – Steps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ADB3B7-4A16-270F-B1CB-5C5FCF82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D32FFFC-163A-FCBA-0306-31B11D27E741}"/>
                  </a:ext>
                </a:extLst>
              </p:cNvPr>
              <p:cNvSpPr txBox="1"/>
              <p:nvPr/>
            </p:nvSpPr>
            <p:spPr>
              <a:xfrm>
                <a:off x="653143" y="1548324"/>
                <a:ext cx="10359850" cy="1685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" altLang="zh-TW" sz="2400" dirty="0">
                    <a:solidFill>
                      <a:schemeClr val="tx1"/>
                    </a:solidFill>
                  </a:rPr>
                  <a:t>Step 0: Prepare Reference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TW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kumimoji="1" lang="en" altLang="zh-TW" sz="2400" dirty="0">
                    <a:solidFill>
                      <a:schemeClr val="tx1"/>
                    </a:solidFill>
                  </a:rPr>
                  <a:t>, Candidate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" altLang="zh-TW" sz="24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kumimoji="1" lang="en" altLang="zh-TW" sz="2400" dirty="0">
                    <a:solidFill>
                      <a:schemeClr val="tx1"/>
                    </a:solidFill>
                  </a:rPr>
                  <a:t>, and a pre-trained BERT model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" altLang="zh-TW" sz="2400" dirty="0">
                    <a:solidFill>
                      <a:schemeClr val="tx1"/>
                    </a:solidFill>
                  </a:rPr>
                  <a:t>Step 1: Infer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TW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kumimoji="1" lang="en" altLang="zh-TW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" altLang="zh-TW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TW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kumimoji="1" lang="en" altLang="zh-TW" sz="2400" dirty="0">
                    <a:solidFill>
                      <a:schemeClr val="tx1"/>
                    </a:solidFill>
                  </a:rPr>
                  <a:t> with BERT respectively, get a sequence of output vectors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kumimoji="1" lang="en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" altLang="zh-TW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TW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kumimoji="1" lang="en-US" altLang="zh-TW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TW" sz="2400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kumimoji="1" lang="en-US" altLang="zh-TW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" altLang="zh-TW" sz="2400" dirty="0">
                    <a:solidFill>
                      <a:srgbClr val="FF0000"/>
                    </a:solidFill>
                  </a:rPr>
                  <a:t> </a:t>
                </a:r>
                <a:r>
                  <a:rPr kumimoji="1" lang="en" altLang="zh-TW" sz="2400" dirty="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kumimoji="1" lang="en-US" altLang="zh-TW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" altLang="zh-TW" sz="2400" dirty="0">
                    <a:solidFill>
                      <a:schemeClr val="tx1"/>
                    </a:solidFill>
                  </a:rPr>
                  <a:t> and a sequence of output vectors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kumimoji="1" lang="en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TW" altLang="en-US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4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TW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zh-TW" altLang="en-US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TW" altLang="en-US" sz="240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400" i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TW" altLang="en-US" sz="2400">
                            <a:solidFill>
                              <a:srgbClr val="FF0000"/>
                            </a:solidFill>
                          </a:rPr>
                          <m:t> </m:t>
                        </m:r>
                      </m:e>
                    </m:d>
                  </m:oMath>
                </a14:m>
                <a:r>
                  <a:rPr kumimoji="1" lang="en" altLang="zh-TW" sz="2400" dirty="0">
                    <a:solidFill>
                      <a:srgbClr val="FF0000"/>
                    </a:solidFill>
                  </a:rPr>
                  <a:t> </a:t>
                </a:r>
                <a:r>
                  <a:rPr kumimoji="1" lang="en" altLang="zh-TW" sz="2400" dirty="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" altLang="zh-TW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TW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kumimoji="1" lang="en" altLang="zh-TW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D32FFFC-163A-FCBA-0306-31B11D27E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548324"/>
                <a:ext cx="10359850" cy="1685846"/>
              </a:xfrm>
              <a:prstGeom prst="rect">
                <a:avLst/>
              </a:prstGeom>
              <a:blipFill>
                <a:blip r:embed="rId2"/>
                <a:stretch>
                  <a:fillRect l="-979" b="-74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ED490AEB-18F7-315E-B7CB-3A1C177D467A}"/>
              </a:ext>
            </a:extLst>
          </p:cNvPr>
          <p:cNvSpPr txBox="1"/>
          <p:nvPr/>
        </p:nvSpPr>
        <p:spPr>
          <a:xfrm>
            <a:off x="1363227" y="6413608"/>
            <a:ext cx="9465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Zhang, </a:t>
            </a:r>
            <a:r>
              <a:rPr kumimoji="1" lang="en" altLang="zh-TW" sz="1200" dirty="0" err="1"/>
              <a:t>Tianyi</a:t>
            </a:r>
            <a:r>
              <a:rPr kumimoji="1" lang="en" altLang="zh-TW" sz="1200" dirty="0"/>
              <a:t>, et al. "</a:t>
            </a:r>
            <a:r>
              <a:rPr kumimoji="1" lang="en" altLang="zh-TW" sz="1200" dirty="0" err="1"/>
              <a:t>BERTScore</a:t>
            </a:r>
            <a:r>
              <a:rPr kumimoji="1" lang="en" altLang="zh-TW" sz="1200" dirty="0"/>
              <a:t>: Evaluating Text Generation with BERT." International Conference on Learning Representations. 2020.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363531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DCFB31-EF41-36F1-A3CA-B5ECB144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BERTScore</a:t>
            </a:r>
            <a:r>
              <a:rPr kumimoji="1" lang="en-US" altLang="zh-TW" dirty="0"/>
              <a:t> – Steps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ADB3B7-4A16-270F-B1CB-5C5FCF82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8494C88-5F52-F945-36C9-D25E474065D9}"/>
              </a:ext>
            </a:extLst>
          </p:cNvPr>
          <p:cNvSpPr txBox="1"/>
          <p:nvPr/>
        </p:nvSpPr>
        <p:spPr>
          <a:xfrm>
            <a:off x="653143" y="1318490"/>
            <a:ext cx="1010412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" altLang="zh-TW" sz="2400" dirty="0"/>
              <a:t>Step 2: Measure pairwise cosine similarity</a:t>
            </a:r>
          </a:p>
        </p:txBody>
      </p:sp>
      <p:pic>
        <p:nvPicPr>
          <p:cNvPr id="3" name="圖片 2" descr="一張含有 文字, 圖表, 行, 字型 的圖片&#10;&#10;自動產生的描述">
            <a:extLst>
              <a:ext uri="{FF2B5EF4-FFF2-40B4-BE49-F238E27FC236}">
                <a16:creationId xmlns:a16="http://schemas.microsoft.com/office/drawing/2014/main" id="{1266B6D7-F616-FB45-3D2E-64B8DD26C8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38311"/>
          <a:stretch/>
        </p:blipFill>
        <p:spPr>
          <a:xfrm>
            <a:off x="2870376" y="2207167"/>
            <a:ext cx="5196270" cy="241515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4519D55-ED26-202C-4172-70AF22CC8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655" y="4668433"/>
            <a:ext cx="2975610" cy="80872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9DB5B2A-07F4-5047-023D-C11B22422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1655" y="5792256"/>
            <a:ext cx="3068012" cy="80872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0E772D9-D105-AE46-3087-B7DAA56E7551}"/>
              </a:ext>
            </a:extLst>
          </p:cNvPr>
          <p:cNvSpPr txBox="1"/>
          <p:nvPr/>
        </p:nvSpPr>
        <p:spPr>
          <a:xfrm>
            <a:off x="1105319" y="4783309"/>
            <a:ext cx="1149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0000"/>
                </a:solidFill>
              </a:rPr>
              <a:t>Recall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830B06E-0B24-6394-7072-34E03196900B}"/>
              </a:ext>
            </a:extLst>
          </p:cNvPr>
          <p:cNvSpPr txBox="1"/>
          <p:nvPr/>
        </p:nvSpPr>
        <p:spPr>
          <a:xfrm>
            <a:off x="772023" y="5891789"/>
            <a:ext cx="15745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0000"/>
                </a:solidFill>
              </a:rPr>
              <a:t>Precision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D774CB-A6D7-251A-6E98-468FAB0AB338}"/>
              </a:ext>
            </a:extLst>
          </p:cNvPr>
          <p:cNvSpPr/>
          <p:nvPr/>
        </p:nvSpPr>
        <p:spPr>
          <a:xfrm>
            <a:off x="4337605" y="5105352"/>
            <a:ext cx="49149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E7B22D-A84D-85EC-4C1D-FE4F6FD35B74}"/>
              </a:ext>
            </a:extLst>
          </p:cNvPr>
          <p:cNvSpPr/>
          <p:nvPr/>
        </p:nvSpPr>
        <p:spPr>
          <a:xfrm>
            <a:off x="4349035" y="6236952"/>
            <a:ext cx="49149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2905FF5-D82C-B9B6-9D3F-C068251F7565}"/>
              </a:ext>
            </a:extLst>
          </p:cNvPr>
          <p:cNvSpPr txBox="1"/>
          <p:nvPr/>
        </p:nvSpPr>
        <p:spPr>
          <a:xfrm>
            <a:off x="3960415" y="5345382"/>
            <a:ext cx="1817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>
                <a:solidFill>
                  <a:srgbClr val="FF0000"/>
                </a:solidFill>
              </a:rPr>
              <a:t>Based on reference</a:t>
            </a:r>
            <a:endParaRPr kumimoji="1"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BDF4937-92C3-AB0D-01FB-89FDF648E5E5}"/>
              </a:ext>
            </a:extLst>
          </p:cNvPr>
          <p:cNvSpPr txBox="1"/>
          <p:nvPr/>
        </p:nvSpPr>
        <p:spPr>
          <a:xfrm>
            <a:off x="3960415" y="6561878"/>
            <a:ext cx="1817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>
                <a:solidFill>
                  <a:srgbClr val="FF0000"/>
                </a:solidFill>
              </a:rPr>
              <a:t>Based on candidate</a:t>
            </a:r>
            <a:endParaRPr kumimoji="1"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FBDE062-4585-72A0-7FD1-0E361ACB73F3}"/>
              </a:ext>
            </a:extLst>
          </p:cNvPr>
          <p:cNvSpPr txBox="1"/>
          <p:nvPr/>
        </p:nvSpPr>
        <p:spPr>
          <a:xfrm>
            <a:off x="6625114" y="641963"/>
            <a:ext cx="4913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Zhang, </a:t>
            </a:r>
            <a:r>
              <a:rPr kumimoji="1" lang="en" altLang="zh-TW" sz="1200" dirty="0" err="1"/>
              <a:t>Tianyi</a:t>
            </a:r>
            <a:r>
              <a:rPr kumimoji="1" lang="en" altLang="zh-TW" sz="1200" dirty="0"/>
              <a:t>, et al. "</a:t>
            </a:r>
            <a:r>
              <a:rPr kumimoji="1" lang="en" altLang="zh-TW" sz="1200" dirty="0" err="1"/>
              <a:t>BERTScore</a:t>
            </a:r>
            <a:r>
              <a:rPr kumimoji="1" lang="en" altLang="zh-TW" sz="1200" dirty="0"/>
              <a:t>: Evaluating Text Generation with BERT." International Conference on Learning Representations. 2020.</a:t>
            </a:r>
            <a:endParaRPr kumimoji="1" lang="zh-TW" altLang="en-US" sz="12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27BBA82-F7D4-FFDF-2C8B-E0956E01BFA5}"/>
              </a:ext>
            </a:extLst>
          </p:cNvPr>
          <p:cNvSpPr txBox="1"/>
          <p:nvPr/>
        </p:nvSpPr>
        <p:spPr>
          <a:xfrm>
            <a:off x="6382701" y="1802126"/>
            <a:ext cx="1113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Refence</a:t>
            </a:r>
            <a:endParaRPr kumimoji="1" lang="zh-TW" altLang="en-US" b="1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934B19F-EF0E-D927-0853-369BD3E5E6F2}"/>
              </a:ext>
            </a:extLst>
          </p:cNvPr>
          <p:cNvSpPr txBox="1"/>
          <p:nvPr/>
        </p:nvSpPr>
        <p:spPr>
          <a:xfrm>
            <a:off x="8066646" y="3585584"/>
            <a:ext cx="1303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Candidate</a:t>
            </a:r>
            <a:endParaRPr kumimoji="1" lang="zh-TW" altLang="en-US" b="1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62904B9-2D48-6680-47EA-B5365A460FDC}"/>
              </a:ext>
            </a:extLst>
          </p:cNvPr>
          <p:cNvSpPr txBox="1"/>
          <p:nvPr/>
        </p:nvSpPr>
        <p:spPr>
          <a:xfrm>
            <a:off x="5948126" y="4950439"/>
            <a:ext cx="398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以 </a:t>
            </a:r>
            <a:r>
              <a:rPr kumimoji="1" lang="en-US" altLang="zh-TW" dirty="0">
                <a:ea typeface="Microsoft JhengHei" panose="020B0604030504040204" pitchFamily="34" charset="-120"/>
              </a:rPr>
              <a:t>Reference tokens </a:t>
            </a:r>
            <a:r>
              <a:rPr kumimoji="1" lang="zh-TW" altLang="en-US" dirty="0">
                <a:ea typeface="Microsoft JhengHei" panose="020B0604030504040204" pitchFamily="34" charset="-120"/>
              </a:rPr>
              <a:t>的分數取最大值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1931FDC-DB73-E62B-1EE6-EBD55316E5B5}"/>
              </a:ext>
            </a:extLst>
          </p:cNvPr>
          <p:cNvSpPr txBox="1"/>
          <p:nvPr/>
        </p:nvSpPr>
        <p:spPr>
          <a:xfrm>
            <a:off x="5948126" y="5981920"/>
            <a:ext cx="398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以 </a:t>
            </a:r>
            <a:r>
              <a:rPr kumimoji="1" lang="en-US" altLang="zh-TW" dirty="0">
                <a:ea typeface="Microsoft JhengHei" panose="020B0604030504040204" pitchFamily="34" charset="-120"/>
              </a:rPr>
              <a:t>Candidate tokens </a:t>
            </a:r>
            <a:r>
              <a:rPr kumimoji="1" lang="zh-TW" altLang="en-US" dirty="0">
                <a:ea typeface="Microsoft JhengHei" panose="020B0604030504040204" pitchFamily="34" charset="-120"/>
              </a:rPr>
              <a:t>的分數取最大值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E2632DE-5EB9-3169-A15B-A030CB8AE717}"/>
              </a:ext>
            </a:extLst>
          </p:cNvPr>
          <p:cNvSpPr txBox="1"/>
          <p:nvPr/>
        </p:nvSpPr>
        <p:spPr>
          <a:xfrm>
            <a:off x="8324435" y="2839783"/>
            <a:ext cx="2702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(</a:t>
            </a:r>
            <a:r>
              <a:rPr kumimoji="1" lang="zh-TW" altLang="en-US" dirty="0">
                <a:ea typeface="Microsoft JhengHei" panose="020B0604030504040204" pitchFamily="34" charset="-120"/>
              </a:rPr>
              <a:t>這裡紅框為</a:t>
            </a:r>
            <a:r>
              <a:rPr kumimoji="1" lang="en-US" altLang="zh-TW" dirty="0">
                <a:ea typeface="Microsoft JhengHei" panose="020B0604030504040204" pitchFamily="34" charset="-120"/>
              </a:rPr>
              <a:t>Recall</a:t>
            </a:r>
            <a:r>
              <a:rPr kumimoji="1" lang="zh-TW" altLang="en-US" dirty="0">
                <a:ea typeface="Microsoft JhengHei" panose="020B0604030504040204" pitchFamily="34" charset="-120"/>
              </a:rPr>
              <a:t>算法</a:t>
            </a:r>
            <a:r>
              <a:rPr kumimoji="1" lang="en-US" altLang="zh-TW" dirty="0"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BF38CE9C-4E20-BFB6-6F1B-6B7EFEB290AE}"/>
              </a:ext>
            </a:extLst>
          </p:cNvPr>
          <p:cNvCxnSpPr>
            <a:stCxn id="16" idx="3"/>
          </p:cNvCxnSpPr>
          <p:nvPr/>
        </p:nvCxnSpPr>
        <p:spPr>
          <a:xfrm flipV="1">
            <a:off x="7496277" y="1985554"/>
            <a:ext cx="570369" cy="1238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368A4856-7432-18C0-4F8C-1E38D30290E7}"/>
              </a:ext>
            </a:extLst>
          </p:cNvPr>
          <p:cNvCxnSpPr>
            <a:cxnSpLocks/>
          </p:cNvCxnSpPr>
          <p:nvPr/>
        </p:nvCxnSpPr>
        <p:spPr>
          <a:xfrm flipV="1">
            <a:off x="8324435" y="2421371"/>
            <a:ext cx="0" cy="110165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75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  <p:bldP spid="12" grpId="0"/>
      <p:bldP spid="13" grpId="0"/>
      <p:bldP spid="18" grpId="0"/>
      <p:bldP spid="19" grpId="0"/>
      <p:bldP spid="2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93C50A-521A-1191-8C91-6EEFFC9B2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Importance Weighting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罕見字的影響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D4A266-7128-5EF8-47A4-47D4D8E52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0D573E4-EAEA-69C3-2B49-AABC01860C1E}"/>
                  </a:ext>
                </a:extLst>
              </p:cNvPr>
              <p:cNvSpPr txBox="1"/>
              <p:nvPr/>
            </p:nvSpPr>
            <p:spPr>
              <a:xfrm>
                <a:off x="653143" y="3598390"/>
                <a:ext cx="8118988" cy="2999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TW" altLang="en-US" sz="2000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假設有一個字 </a:t>
                </a:r>
                <a14:m>
                  <m:oMath xmlns:m="http://schemas.openxmlformats.org/officeDocument/2006/math">
                    <m:r>
                      <a:rPr lang="en-US" altLang="zh-TW" sz="200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kumimoji="1" lang="zh-TW" altLang="en-US" sz="2000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，以及全部有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篇文章</a:t>
                </a:r>
                <a:endParaRPr kumimoji="1" lang="en-US" altLang="zh-TW" sz="20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0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出現在</a:t>
                </a:r>
                <a:r>
                  <a:rPr kumimoji="1" lang="en-US" altLang="zh-TW" sz="2000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kumimoji="1" lang="en-US" altLang="zh-TW" sz="2000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  <a:r>
                  <a:rPr kumimoji="1" lang="zh-TW" altLang="en-US" sz="2000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篇文章的次數為：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zh-TW" altLang="zh-TW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TW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𝑀</m:t>
                        </m:r>
                      </m:sup>
                      <m:e>
                        <m:r>
                          <a:rPr lang="en-US" altLang="zh-TW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𝕀</m:t>
                        </m:r>
                        <m:r>
                          <a:rPr lang="en-US" altLang="zh-TW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TW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𝑤</m:t>
                        </m:r>
                        <m:r>
                          <a:rPr lang="en-US" altLang="zh-TW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TW" altLang="zh-TW" sz="20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TW" sz="20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TW" sz="20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TW" sz="2000" i="1" kern="100">
                                <a:effectLst/>
                                <a:latin typeface="Cambria Math" panose="02040503050406030204" pitchFamily="18" charset="0"/>
                                <a:ea typeface="新細明體" panose="02020500000000000000" pitchFamily="18" charset="-120"/>
                                <a:cs typeface="Times New Roman" panose="020206030504050203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TW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kumimoji="1" lang="en-US" altLang="zh-TW" sz="2000" dirty="0">
                  <a:latin typeface="Times New Roman" panose="02020603050405020304" pitchFamily="18" charset="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00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zh-TW" altLang="en-US" sz="2000" kern="100" dirty="0">
                    <a:effectLst/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的 </a:t>
                </a:r>
                <a:r>
                  <a:rPr lang="en-US" altLang="zh-TW" sz="2000" kern="100" dirty="0">
                    <a:effectLst/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document frequency</a:t>
                </a:r>
                <a:r>
                  <a:rPr lang="zh-TW" altLang="en-US" sz="2000" kern="100" dirty="0">
                    <a:effectLst/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為：</a:t>
                </a:r>
                <a:r>
                  <a:rPr lang="zh-TW" altLang="zh-TW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zh-TW" altLang="zh-TW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𝕀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zh-TW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nary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en-US" altLang="zh-TW" sz="20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00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zh-TW" altLang="en-US" sz="2000" kern="100" dirty="0">
                    <a:effectLst/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的</a:t>
                </a:r>
                <a:r>
                  <a:rPr lang="en-US" altLang="zh-TW" sz="2000" kern="100" dirty="0"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inverse</a:t>
                </a:r>
                <a:r>
                  <a:rPr lang="zh-TW" altLang="en-US" sz="2000" kern="100" dirty="0">
                    <a:effectLst/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kern="100" dirty="0">
                    <a:effectLst/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document frequency</a:t>
                </a:r>
                <a:r>
                  <a:rPr lang="zh-TW" altLang="en-US" sz="2000" kern="100" dirty="0">
                    <a:effectLst/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kern="100" dirty="0">
                    <a:effectLst/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(IDF) </a:t>
                </a:r>
                <a:r>
                  <a:rPr lang="zh-TW" altLang="en-US" sz="2000" kern="100" dirty="0">
                    <a:effectLst/>
                    <a:latin typeface="Times New Roman" panose="02020603050405020304" pitchFamily="18" charset="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為：</a:t>
                </a:r>
                <a:r>
                  <a:rPr lang="zh-TW" altLang="zh-TW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nary>
                          <m:naryPr>
                            <m:chr m:val="∑"/>
                            <m:limLoc m:val="undOvr"/>
                            <m:ctrlPr>
                              <a:rPr lang="zh-TW" altLang="zh-TW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𝕀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zh-TW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nary>
                      </m:den>
                    </m:f>
                  </m:oMath>
                </a14:m>
                <a:endParaRPr lang="zh-TW" altLang="zh-TW" sz="2000" dirty="0"/>
              </a:p>
              <a:p>
                <a:pPr>
                  <a:lnSpc>
                    <a:spcPct val="150000"/>
                  </a:lnSpc>
                </a:pPr>
                <a:endParaRPr lang="zh-TW" altLang="zh-TW" sz="20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0D573E4-EAEA-69C3-2B49-AABC01860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3598390"/>
                <a:ext cx="8118988" cy="2999732"/>
              </a:xfrm>
              <a:prstGeom prst="rect">
                <a:avLst/>
              </a:prstGeom>
              <a:blipFill>
                <a:blip r:embed="rId2"/>
                <a:stretch>
                  <a:fillRect l="-781" b="-25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36343E9F-534F-682D-759D-51333AB8686C}"/>
              </a:ext>
            </a:extLst>
          </p:cNvPr>
          <p:cNvSpPr txBox="1"/>
          <p:nvPr/>
        </p:nvSpPr>
        <p:spPr>
          <a:xfrm>
            <a:off x="653143" y="1952884"/>
            <a:ext cx="47047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</a:t>
            </a:r>
            <a:r>
              <a:rPr kumimoji="1" lang="zh-TW" altLang="en-US" sz="2400" dirty="0">
                <a:solidFill>
                  <a:srgbClr val="05AED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今天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喝了一杯咖啡。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</a:t>
            </a:r>
            <a:r>
              <a:rPr kumimoji="1" lang="zh-TW" altLang="en-US" sz="2400" dirty="0">
                <a:solidFill>
                  <a:srgbClr val="05AED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今天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喝了一杯抹茶拿鐵。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</a:t>
            </a:r>
            <a:r>
              <a:rPr kumimoji="1" lang="zh-TW" altLang="en-US" sz="2400" dirty="0">
                <a:solidFill>
                  <a:srgbClr val="05AED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今天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去路易莎。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06F59E8-7BF1-2D7D-E891-C4DE3B22C4BE}"/>
              </a:ext>
            </a:extLst>
          </p:cNvPr>
          <p:cNvSpPr txBox="1"/>
          <p:nvPr/>
        </p:nvSpPr>
        <p:spPr>
          <a:xfrm>
            <a:off x="7555430" y="2274062"/>
            <a:ext cx="3057525" cy="879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dirty="0">
                <a:ea typeface="Microsoft JhengHei" panose="020B0604030504040204" pitchFamily="34" charset="-120"/>
              </a:rPr>
              <a:t>IDF(</a:t>
            </a:r>
            <a:r>
              <a:rPr kumimoji="1" lang="zh-TW" altLang="en-US" dirty="0">
                <a:ea typeface="Microsoft JhengHei" panose="020B0604030504040204" pitchFamily="34" charset="-120"/>
              </a:rPr>
              <a:t>今天</a:t>
            </a:r>
            <a:r>
              <a:rPr kumimoji="1" lang="en-US" altLang="zh-TW" dirty="0">
                <a:ea typeface="Microsoft JhengHei" panose="020B0604030504040204" pitchFamily="34" charset="-120"/>
              </a:rPr>
              <a:t>) = 3/3 = 1</a:t>
            </a:r>
          </a:p>
          <a:p>
            <a:pPr>
              <a:lnSpc>
                <a:spcPct val="150000"/>
              </a:lnSpc>
            </a:pPr>
            <a:r>
              <a:rPr kumimoji="1" lang="en-US" altLang="zh-TW" dirty="0">
                <a:ea typeface="Microsoft JhengHei" panose="020B0604030504040204" pitchFamily="34" charset="-120"/>
              </a:rPr>
              <a:t>IDF(</a:t>
            </a:r>
            <a:r>
              <a:rPr kumimoji="1" lang="zh-TW" altLang="en-US" dirty="0">
                <a:ea typeface="Microsoft JhengHei" panose="020B0604030504040204" pitchFamily="34" charset="-120"/>
              </a:rPr>
              <a:t>抹茶拿鐵</a:t>
            </a:r>
            <a:r>
              <a:rPr kumimoji="1" lang="en-US" altLang="zh-TW" dirty="0">
                <a:ea typeface="Microsoft JhengHei" panose="020B0604030504040204" pitchFamily="34" charset="-120"/>
              </a:rPr>
              <a:t>) = 3/1 = 3</a:t>
            </a:r>
          </a:p>
        </p:txBody>
      </p:sp>
    </p:spTree>
    <p:extLst>
      <p:ext uri="{BB962C8B-B14F-4D97-AF65-F5344CB8AC3E}">
        <p14:creationId xmlns:p14="http://schemas.microsoft.com/office/powerpoint/2010/main" val="323759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DCFB31-EF41-36F1-A3CA-B5ECB144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BERTScore</a:t>
            </a:r>
            <a:r>
              <a:rPr kumimoji="1" lang="en-US" altLang="zh-TW" dirty="0"/>
              <a:t> – Importance Weighting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ADB3B7-4A16-270F-B1CB-5C5FCF82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35096D9-6E64-EDFB-4986-1C2BF0A3B631}"/>
                  </a:ext>
                </a:extLst>
              </p:cNvPr>
              <p:cNvSpPr txBox="1"/>
              <p:nvPr/>
            </p:nvSpPr>
            <p:spPr>
              <a:xfrm>
                <a:off x="653143" y="1778335"/>
                <a:ext cx="5353051" cy="1156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" altLang="zh-TW" sz="2000" dirty="0"/>
                  <a:t>Given </a:t>
                </a:r>
                <a14:m>
                  <m:oMath xmlns:m="http://schemas.openxmlformats.org/officeDocument/2006/math">
                    <m:r>
                      <a:rPr kumimoji="1" lang="en" altLang="zh-TW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kumimoji="1" lang="en" altLang="zh-TW" sz="2000" dirty="0"/>
                  <a:t> reference sentences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" altLang="zh-TW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" altLang="zh-TW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TW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kumimoji="1"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kumimoji="1" lang="en-US" altLang="zh-TW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kumimoji="1" lang="en" altLang="zh-TW" sz="2000" dirty="0"/>
                  <a:t>, the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" altLang="zh-TW" sz="2000" i="0" dirty="0" smtClean="0">
                        <a:latin typeface="Cambria Math" panose="02040503050406030204" pitchFamily="18" charset="0"/>
                      </a:rPr>
                      <m:t>idf</m:t>
                    </m:r>
                  </m:oMath>
                </a14:m>
                <a:r>
                  <a:rPr kumimoji="1" lang="en" altLang="zh-TW" sz="2000" dirty="0"/>
                  <a:t> (inverse document frequency) score of a word-piece token </a:t>
                </a:r>
                <a14:m>
                  <m:oMath xmlns:m="http://schemas.openxmlformats.org/officeDocument/2006/math">
                    <m:r>
                      <a:rPr kumimoji="1" lang="en" altLang="zh-TW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kumimoji="1" lang="en" altLang="zh-TW" sz="2000" dirty="0"/>
                  <a:t> is:</a:t>
                </a:r>
                <a:endParaRPr kumimoji="1" lang="zh-TW" altLang="en-US" sz="20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35096D9-6E64-EDFB-4986-1C2BF0A3B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778335"/>
                <a:ext cx="5353051" cy="1156535"/>
              </a:xfrm>
              <a:prstGeom prst="rect">
                <a:avLst/>
              </a:prstGeom>
              <a:blipFill>
                <a:blip r:embed="rId2"/>
                <a:stretch>
                  <a:fillRect l="-1185" b="-98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E850BD5D-98BC-B0E9-248D-DA8C36913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50" y="3992204"/>
            <a:ext cx="4712970" cy="846552"/>
          </a:xfrm>
          <a:prstGeom prst="rect">
            <a:avLst/>
          </a:prstGeom>
        </p:spPr>
      </p:pic>
      <p:pic>
        <p:nvPicPr>
          <p:cNvPr id="10" name="圖片 9" descr="一張含有 文字, 圖表, 行, 字型 的圖片&#10;&#10;自動產生的描述">
            <a:extLst>
              <a:ext uri="{FF2B5EF4-FFF2-40B4-BE49-F238E27FC236}">
                <a16:creationId xmlns:a16="http://schemas.microsoft.com/office/drawing/2014/main" id="{1713C819-81D4-2F4B-634C-132042C049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73" r="-1"/>
          <a:stretch/>
        </p:blipFill>
        <p:spPr>
          <a:xfrm>
            <a:off x="6392231" y="2399060"/>
            <a:ext cx="5204459" cy="266827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5B21F4A-5B3A-CA81-00A2-2CDCF97CC048}"/>
              </a:ext>
            </a:extLst>
          </p:cNvPr>
          <p:cNvSpPr txBox="1"/>
          <p:nvPr/>
        </p:nvSpPr>
        <p:spPr>
          <a:xfrm>
            <a:off x="1363227" y="6413608"/>
            <a:ext cx="9465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Zhang, </a:t>
            </a:r>
            <a:r>
              <a:rPr kumimoji="1" lang="en" altLang="zh-TW" sz="1200" dirty="0" err="1"/>
              <a:t>Tianyi</a:t>
            </a:r>
            <a:r>
              <a:rPr kumimoji="1" lang="en" altLang="zh-TW" sz="1200" dirty="0"/>
              <a:t>, et al. "</a:t>
            </a:r>
            <a:r>
              <a:rPr kumimoji="1" lang="en" altLang="zh-TW" sz="1200" dirty="0" err="1"/>
              <a:t>BERTScore</a:t>
            </a:r>
            <a:r>
              <a:rPr kumimoji="1" lang="en" altLang="zh-TW" sz="1200" dirty="0"/>
              <a:t>: Evaluating Text Generation with BERT." International Conference on Learning Representations. 2020.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593892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E7149A-E114-7E3C-5717-52E93E3D5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Summary of </a:t>
            </a:r>
            <a:r>
              <a:rPr kumimoji="1" lang="en-US" altLang="zh-TW" dirty="0" err="1"/>
              <a:t>BERTScore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AFB0B9-C0F8-280E-93FD-EB3D4C1A8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FC05564-4B20-0D04-1C74-07B21256A0C6}"/>
              </a:ext>
            </a:extLst>
          </p:cNvPr>
          <p:cNvSpPr txBox="1"/>
          <p:nvPr/>
        </p:nvSpPr>
        <p:spPr>
          <a:xfrm>
            <a:off x="653142" y="1785620"/>
            <a:ext cx="10480431" cy="2240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/>
              <a:t>BERTScore</a:t>
            </a:r>
            <a:r>
              <a:rPr kumimoji="1" lang="en-US" altLang="zh-TW" sz="2400" dirty="0"/>
              <a:t> </a:t>
            </a:r>
            <a:r>
              <a:rPr kumimoji="1" lang="zh-TW" altLang="en-US" sz="2400" dirty="0"/>
              <a:t>利用 </a:t>
            </a:r>
            <a:r>
              <a:rPr kumimoji="1" lang="en-US" altLang="zh-TW" sz="2400" dirty="0"/>
              <a:t>BERT </a:t>
            </a:r>
            <a:r>
              <a:rPr kumimoji="1" lang="zh-TW" altLang="en-US" sz="2400" dirty="0"/>
              <a:t>來衡量參考文本 </a:t>
            </a:r>
            <a:r>
              <a:rPr kumimoji="1" lang="en-US" altLang="zh-TW" sz="2400" dirty="0"/>
              <a:t>(reference)</a:t>
            </a:r>
            <a:r>
              <a:rPr kumimoji="1" lang="zh-TW" altLang="en-US" sz="2400" dirty="0"/>
              <a:t> 與候選文本</a:t>
            </a:r>
            <a:r>
              <a:rPr kumimoji="1" lang="en-US" altLang="zh-TW" sz="2400" dirty="0"/>
              <a:t>(candidate)</a:t>
            </a:r>
            <a:r>
              <a:rPr kumimoji="1" lang="zh-TW" altLang="en-US" sz="2400" dirty="0"/>
              <a:t> 之間的語意相似度</a:t>
            </a:r>
            <a:endParaRPr kumimoji="1" lang="en-US" altLang="zh-TW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在原始論文中</a:t>
            </a:r>
            <a:r>
              <a:rPr kumimoji="1" lang="en-US" altLang="zh-TW" sz="2400" dirty="0"/>
              <a:t>,</a:t>
            </a:r>
            <a:r>
              <a:rPr kumimoji="1" lang="en-US" altLang="zh-TW" sz="2400" dirty="0" err="1"/>
              <a:t>BERTScore</a:t>
            </a:r>
            <a:r>
              <a:rPr kumimoji="1" lang="en-US" altLang="zh-TW" sz="2400" dirty="0"/>
              <a:t> </a:t>
            </a:r>
            <a:r>
              <a:rPr kumimoji="1" lang="zh-TW" altLang="en-US" sz="2400" dirty="0"/>
              <a:t>與人類評分的相關性比現有指標更高</a:t>
            </a:r>
            <a:endParaRPr kumimoji="1" lang="en-US" altLang="zh-TW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但 </a:t>
            </a:r>
            <a:r>
              <a:rPr kumimoji="1" lang="en-US" altLang="zh-TW" sz="2400" dirty="0" err="1"/>
              <a:t>BERTScore</a:t>
            </a:r>
            <a:r>
              <a:rPr kumimoji="1" lang="en-US" altLang="zh-TW" sz="2400" dirty="0"/>
              <a:t> </a:t>
            </a:r>
            <a:r>
              <a:rPr kumimoji="1" lang="zh-TW" altLang="en-US" sz="2400" dirty="0"/>
              <a:t>不涉及訓練過程</a:t>
            </a:r>
            <a:r>
              <a:rPr kumimoji="1" lang="en-US" altLang="zh-TW" sz="2400" dirty="0"/>
              <a:t>(</a:t>
            </a:r>
            <a:r>
              <a:rPr kumimoji="1" lang="zh-TW" altLang="en-US" sz="2400" dirty="0"/>
              <a:t>直接使用預訓練 </a:t>
            </a:r>
            <a:r>
              <a:rPr kumimoji="1" lang="en-US" altLang="zh-TW" sz="2400" dirty="0"/>
              <a:t>BERT)</a:t>
            </a:r>
            <a:endParaRPr kumimoji="1" lang="zh-TW" altLang="en-US" sz="24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BECA87C-0D3E-2631-AB18-68C7B169D804}"/>
              </a:ext>
            </a:extLst>
          </p:cNvPr>
          <p:cNvSpPr txBox="1"/>
          <p:nvPr/>
        </p:nvSpPr>
        <p:spPr>
          <a:xfrm>
            <a:off x="1950856" y="5704623"/>
            <a:ext cx="8290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>
                <a:solidFill>
                  <a:srgbClr val="FF0000"/>
                </a:solidFill>
              </a:rPr>
              <a:t>Can we train BERT for a better evaluation metric?</a:t>
            </a:r>
            <a:endParaRPr kumimoji="1"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A87A23F-8F8E-5C91-CA7B-23982DAF41C2}"/>
              </a:ext>
            </a:extLst>
          </p:cNvPr>
          <p:cNvSpPr txBox="1"/>
          <p:nvPr/>
        </p:nvSpPr>
        <p:spPr>
          <a:xfrm>
            <a:off x="1363227" y="6413608"/>
            <a:ext cx="9465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Zhang, </a:t>
            </a:r>
            <a:r>
              <a:rPr kumimoji="1" lang="en" altLang="zh-TW" sz="1200" dirty="0" err="1"/>
              <a:t>Tianyi</a:t>
            </a:r>
            <a:r>
              <a:rPr kumimoji="1" lang="en" altLang="zh-TW" sz="1200" dirty="0"/>
              <a:t>, et al. "</a:t>
            </a:r>
            <a:r>
              <a:rPr kumimoji="1" lang="en" altLang="zh-TW" sz="1200" dirty="0" err="1"/>
              <a:t>BERTScore</a:t>
            </a:r>
            <a:r>
              <a:rPr kumimoji="1" lang="en" altLang="zh-TW" sz="1200" dirty="0"/>
              <a:t>: Evaluating Text Generation with BERT." International Conference on Learning Representations. 2020.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7637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64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98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D28DF7-0551-55CD-1A68-45D579BD6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BLEURT </a:t>
            </a:r>
            <a:r>
              <a:rPr kumimoji="1" lang="en-US" altLang="zh-TW" dirty="0"/>
              <a:t>– Quick Introduction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0DF3F4-67AF-F8AB-AD2C-36A9897E3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9417C52-995D-2983-A15C-42B61CE62060}"/>
              </a:ext>
            </a:extLst>
          </p:cNvPr>
          <p:cNvSpPr txBox="1"/>
          <p:nvPr/>
        </p:nvSpPr>
        <p:spPr>
          <a:xfrm>
            <a:off x="2383458" y="6271079"/>
            <a:ext cx="7425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 err="1"/>
              <a:t>Sellam</a:t>
            </a:r>
            <a:r>
              <a:rPr kumimoji="1" lang="en" altLang="zh-TW" sz="1200" dirty="0"/>
              <a:t>, Thibault, </a:t>
            </a:r>
            <a:r>
              <a:rPr kumimoji="1" lang="en" altLang="zh-TW" sz="1200" dirty="0" err="1"/>
              <a:t>Dipanjan</a:t>
            </a:r>
            <a:r>
              <a:rPr kumimoji="1" lang="en" altLang="zh-TW" sz="1200" dirty="0"/>
              <a:t> Das, and Ankur Parikh. "BLEURT: Learning Robust Metrics for Text Generation." Proceedings of the 58th Annual Meeting of the Association for Computational Linguistics. 2020.</a:t>
            </a:r>
            <a:endParaRPr kumimoji="1" lang="zh-TW" altLang="en-US" sz="12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5B40C30-C8DE-8013-07E6-4D85BB9CC1EE}"/>
              </a:ext>
            </a:extLst>
          </p:cNvPr>
          <p:cNvSpPr txBox="1"/>
          <p:nvPr/>
        </p:nvSpPr>
        <p:spPr>
          <a:xfrm>
            <a:off x="653142" y="1887220"/>
            <a:ext cx="10822075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BLEURT: Learning Robust Metrics for Text Generation, published by Google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BLEURT </a:t>
            </a:r>
            <a:r>
              <a:rPr kumimoji="1" lang="en-US" altLang="zh-TW" sz="2400" dirty="0">
                <a:solidFill>
                  <a:srgbClr val="FF0000"/>
                </a:solidFill>
              </a:rPr>
              <a:t>trains</a:t>
            </a:r>
            <a:r>
              <a:rPr kumimoji="1" lang="en-US" altLang="zh-TW" sz="2400" dirty="0"/>
              <a:t> BERT for a more robust evaluation metric.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Mainly for </a:t>
            </a:r>
            <a:r>
              <a:rPr kumimoji="1" lang="en-US" altLang="zh-TW" sz="2400" dirty="0">
                <a:solidFill>
                  <a:srgbClr val="FF0000"/>
                </a:solidFill>
              </a:rPr>
              <a:t>machine translation</a:t>
            </a:r>
            <a:r>
              <a:rPr kumimoji="1" lang="en-US" altLang="zh-TW" sz="2400" dirty="0"/>
              <a:t>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Also get hints from the name “</a:t>
            </a:r>
            <a:r>
              <a:rPr kumimoji="1" lang="en-US" altLang="zh-TW" sz="2400" u="sng" dirty="0"/>
              <a:t>BLEU</a:t>
            </a:r>
            <a:r>
              <a:rPr kumimoji="1" lang="en-US" altLang="zh-TW" sz="2400" dirty="0"/>
              <a:t>RT”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Trained checkpoint can be obtained. We don’t need to perform training.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136679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C9BE5F-7A50-2CB9-77B8-37FA72211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BLEURT </a:t>
            </a:r>
            <a:r>
              <a:rPr kumimoji="1" lang="en-US" altLang="zh-TW" dirty="0"/>
              <a:t>– Motivations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35A744-D445-2A52-BE22-59B3F8C6F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087A472-E3A1-476B-B6EB-B5EC88472E40}"/>
              </a:ext>
            </a:extLst>
          </p:cNvPr>
          <p:cNvSpPr txBox="1"/>
          <p:nvPr/>
        </p:nvSpPr>
        <p:spPr>
          <a:xfrm>
            <a:off x="680284" y="1856413"/>
            <a:ext cx="10891229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rgbClr val="FF0000"/>
                </a:solidFill>
              </a:rPr>
              <a:t>With human ratings, </a:t>
            </a:r>
            <a:r>
              <a:rPr kumimoji="1" lang="en-US" altLang="zh-TW" sz="2400" b="1" dirty="0"/>
              <a:t>learned</a:t>
            </a:r>
            <a:r>
              <a:rPr kumimoji="1" lang="en-US" altLang="zh-TW" sz="2400" dirty="0"/>
              <a:t> metrics can be tuned to </a:t>
            </a:r>
            <a:r>
              <a:rPr kumimoji="1" lang="en-US" altLang="zh-TW" sz="2400" b="1" dirty="0"/>
              <a:t>measure task-specific</a:t>
            </a:r>
            <a:r>
              <a:rPr kumimoji="1" lang="en-US" altLang="zh-TW" sz="2400" dirty="0">
                <a:solidFill>
                  <a:srgbClr val="FF0000"/>
                </a:solidFill>
              </a:rPr>
              <a:t> </a:t>
            </a:r>
            <a:r>
              <a:rPr kumimoji="1" lang="en-US" altLang="zh-TW" sz="2400" dirty="0"/>
              <a:t>properties, such as fluency, faithfulness, grammar, or style.</a:t>
            </a:r>
          </a:p>
        </p:txBody>
      </p:sp>
    </p:spTree>
    <p:extLst>
      <p:ext uri="{BB962C8B-B14F-4D97-AF65-F5344CB8AC3E}">
        <p14:creationId xmlns:p14="http://schemas.microsoft.com/office/powerpoint/2010/main" val="39362522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E6DD2B-5343-9721-C1AE-6BCD1529B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Training on Human Ratings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26CD7D-2CF6-12A2-AC1C-137068EF6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43B721-F36B-0B82-9891-6C4B7E17CBCE}"/>
              </a:ext>
            </a:extLst>
          </p:cNvPr>
          <p:cNvSpPr/>
          <p:nvPr/>
        </p:nvSpPr>
        <p:spPr>
          <a:xfrm>
            <a:off x="3516068" y="1971098"/>
            <a:ext cx="1360170" cy="4572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Reference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3BE6E2-CF09-0C03-1479-B926B8E1E8A8}"/>
              </a:ext>
            </a:extLst>
          </p:cNvPr>
          <p:cNvSpPr/>
          <p:nvPr/>
        </p:nvSpPr>
        <p:spPr>
          <a:xfrm>
            <a:off x="3516068" y="2661854"/>
            <a:ext cx="1360170" cy="4572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Candidate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27B39AC3-C609-B7A9-6731-AC70F700752D}"/>
              </a:ext>
            </a:extLst>
          </p:cNvPr>
          <p:cNvSpPr/>
          <p:nvPr/>
        </p:nvSpPr>
        <p:spPr>
          <a:xfrm>
            <a:off x="5150558" y="2416868"/>
            <a:ext cx="582930" cy="288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572BD301-6F0F-30F7-3476-4E45436F30AF}"/>
              </a:ext>
            </a:extLst>
          </p:cNvPr>
          <p:cNvSpPr/>
          <p:nvPr/>
        </p:nvSpPr>
        <p:spPr>
          <a:xfrm>
            <a:off x="6007808" y="2227514"/>
            <a:ext cx="1188720" cy="6907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BLEU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向右箭號 11">
            <a:extLst>
              <a:ext uri="{FF2B5EF4-FFF2-40B4-BE49-F238E27FC236}">
                <a16:creationId xmlns:a16="http://schemas.microsoft.com/office/drawing/2014/main" id="{ECB1F003-F079-E21A-D06C-ADFB141BA26D}"/>
              </a:ext>
            </a:extLst>
          </p:cNvPr>
          <p:cNvSpPr/>
          <p:nvPr/>
        </p:nvSpPr>
        <p:spPr>
          <a:xfrm>
            <a:off x="7407983" y="2428521"/>
            <a:ext cx="582930" cy="288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C2B191-5315-DCED-2D2F-2F0C3C0C3191}"/>
              </a:ext>
            </a:extLst>
          </p:cNvPr>
          <p:cNvSpPr/>
          <p:nvPr/>
        </p:nvSpPr>
        <p:spPr>
          <a:xfrm>
            <a:off x="8328098" y="2344291"/>
            <a:ext cx="136017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BLEU score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D24AD7-B50A-B140-E362-3C4B905F79C6}"/>
              </a:ext>
            </a:extLst>
          </p:cNvPr>
          <p:cNvSpPr/>
          <p:nvPr/>
        </p:nvSpPr>
        <p:spPr>
          <a:xfrm>
            <a:off x="3516068" y="4214525"/>
            <a:ext cx="1360170" cy="4572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Reference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9600BA-1218-2D42-498D-3337DD55A0D1}"/>
              </a:ext>
            </a:extLst>
          </p:cNvPr>
          <p:cNvSpPr/>
          <p:nvPr/>
        </p:nvSpPr>
        <p:spPr>
          <a:xfrm>
            <a:off x="3516068" y="4722401"/>
            <a:ext cx="1360170" cy="4572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Candidate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向右箭號 15">
            <a:extLst>
              <a:ext uri="{FF2B5EF4-FFF2-40B4-BE49-F238E27FC236}">
                <a16:creationId xmlns:a16="http://schemas.microsoft.com/office/drawing/2014/main" id="{45074CF0-CD38-BC35-FF85-75615B7B3F17}"/>
              </a:ext>
            </a:extLst>
          </p:cNvPr>
          <p:cNvSpPr/>
          <p:nvPr/>
        </p:nvSpPr>
        <p:spPr>
          <a:xfrm>
            <a:off x="6244028" y="4576848"/>
            <a:ext cx="582930" cy="288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62B943A1-28C1-7EFB-0C70-D1B0C5F79923}"/>
              </a:ext>
            </a:extLst>
          </p:cNvPr>
          <p:cNvSpPr/>
          <p:nvPr/>
        </p:nvSpPr>
        <p:spPr>
          <a:xfrm>
            <a:off x="7021268" y="4387494"/>
            <a:ext cx="1188720" cy="6907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Model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向右箭號 17">
            <a:extLst>
              <a:ext uri="{FF2B5EF4-FFF2-40B4-BE49-F238E27FC236}">
                <a16:creationId xmlns:a16="http://schemas.microsoft.com/office/drawing/2014/main" id="{1DD716C1-2C67-4D2F-BE22-5B8D8887C92F}"/>
              </a:ext>
            </a:extLst>
          </p:cNvPr>
          <p:cNvSpPr/>
          <p:nvPr/>
        </p:nvSpPr>
        <p:spPr>
          <a:xfrm>
            <a:off x="8421443" y="4588501"/>
            <a:ext cx="582930" cy="288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35EDEB1-1D6F-F9AB-A81E-537F3BF86462}"/>
              </a:ext>
            </a:extLst>
          </p:cNvPr>
          <p:cNvSpPr/>
          <p:nvPr/>
        </p:nvSpPr>
        <p:spPr>
          <a:xfrm>
            <a:off x="4965773" y="4413344"/>
            <a:ext cx="1089660" cy="57397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Human Rating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6595FE4-9D08-F8D3-C937-72B88A3BC428}"/>
              </a:ext>
            </a:extLst>
          </p:cNvPr>
          <p:cNvSpPr txBox="1"/>
          <p:nvPr/>
        </p:nvSpPr>
        <p:spPr>
          <a:xfrm>
            <a:off x="709207" y="1786124"/>
            <a:ext cx="1451190" cy="36933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Traditional</a:t>
            </a:r>
            <a:endParaRPr kumimoji="1" lang="zh-TW" altLang="en-US" b="1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A46F966-1720-C255-75D8-F5C91EB3EF74}"/>
              </a:ext>
            </a:extLst>
          </p:cNvPr>
          <p:cNvSpPr txBox="1"/>
          <p:nvPr/>
        </p:nvSpPr>
        <p:spPr>
          <a:xfrm>
            <a:off x="709206" y="3695142"/>
            <a:ext cx="1352693" cy="36933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Learning</a:t>
            </a:r>
            <a:endParaRPr kumimoji="1" lang="zh-TW" altLang="en-US" b="1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9CC3AD6-924F-F0C9-5CB5-F2CF7530D6A3}"/>
              </a:ext>
            </a:extLst>
          </p:cNvPr>
          <p:cNvSpPr/>
          <p:nvPr/>
        </p:nvSpPr>
        <p:spPr>
          <a:xfrm>
            <a:off x="9265358" y="4413344"/>
            <a:ext cx="1089660" cy="57397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Predicted Rating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5" name="肘形接點 24">
            <a:extLst>
              <a:ext uri="{FF2B5EF4-FFF2-40B4-BE49-F238E27FC236}">
                <a16:creationId xmlns:a16="http://schemas.microsoft.com/office/drawing/2014/main" id="{4BAFAF8A-1EED-9F8B-58E3-CBCA9A2E8549}"/>
              </a:ext>
            </a:extLst>
          </p:cNvPr>
          <p:cNvCxnSpPr>
            <a:stCxn id="19" idx="0"/>
            <a:endCxn id="23" idx="0"/>
          </p:cNvCxnSpPr>
          <p:nvPr/>
        </p:nvCxnSpPr>
        <p:spPr>
          <a:xfrm rot="5400000" flipH="1" flipV="1">
            <a:off x="7660395" y="2263552"/>
            <a:ext cx="12700" cy="4299585"/>
          </a:xfrm>
          <a:prstGeom prst="bentConnector3">
            <a:avLst>
              <a:gd name="adj1" fmla="val 3060000"/>
            </a:avLst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AF05662-0B4E-1F43-B3B3-B190226E5D9E}"/>
              </a:ext>
            </a:extLst>
          </p:cNvPr>
          <p:cNvSpPr txBox="1"/>
          <p:nvPr/>
        </p:nvSpPr>
        <p:spPr>
          <a:xfrm>
            <a:off x="5586882" y="3659658"/>
            <a:ext cx="4159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Mean squared error (regression loss)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5CDC7963-3584-97EE-EBB8-C45E020FF65B}"/>
              </a:ext>
            </a:extLst>
          </p:cNvPr>
          <p:cNvCxnSpPr/>
          <p:nvPr/>
        </p:nvCxnSpPr>
        <p:spPr>
          <a:xfrm>
            <a:off x="1612762" y="3423526"/>
            <a:ext cx="93726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B76D9174-3CE2-7EFC-5D5C-1FF6957C6150}"/>
              </a:ext>
            </a:extLst>
          </p:cNvPr>
          <p:cNvSpPr/>
          <p:nvPr/>
        </p:nvSpPr>
        <p:spPr>
          <a:xfrm>
            <a:off x="3516068" y="5450484"/>
            <a:ext cx="1360170" cy="4572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Reference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28C66FC-B103-7AB1-F034-3B434F531E39}"/>
              </a:ext>
            </a:extLst>
          </p:cNvPr>
          <p:cNvSpPr/>
          <p:nvPr/>
        </p:nvSpPr>
        <p:spPr>
          <a:xfrm>
            <a:off x="3516068" y="5958360"/>
            <a:ext cx="1360170" cy="4572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Candidate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8" name="向右箭號 37">
            <a:extLst>
              <a:ext uri="{FF2B5EF4-FFF2-40B4-BE49-F238E27FC236}">
                <a16:creationId xmlns:a16="http://schemas.microsoft.com/office/drawing/2014/main" id="{A1A82202-02D8-3EE6-E6C3-952E13D18CC2}"/>
              </a:ext>
            </a:extLst>
          </p:cNvPr>
          <p:cNvSpPr/>
          <p:nvPr/>
        </p:nvSpPr>
        <p:spPr>
          <a:xfrm>
            <a:off x="5150558" y="5751660"/>
            <a:ext cx="582930" cy="288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B596D4AD-8CA9-0CFB-375F-690028CB2910}"/>
              </a:ext>
            </a:extLst>
          </p:cNvPr>
          <p:cNvSpPr/>
          <p:nvPr/>
        </p:nvSpPr>
        <p:spPr>
          <a:xfrm>
            <a:off x="6007808" y="5562306"/>
            <a:ext cx="1188720" cy="6907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Trained Model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0" name="向右箭號 39">
            <a:extLst>
              <a:ext uri="{FF2B5EF4-FFF2-40B4-BE49-F238E27FC236}">
                <a16:creationId xmlns:a16="http://schemas.microsoft.com/office/drawing/2014/main" id="{1CA01ADC-539D-3C36-D487-280D749294AC}"/>
              </a:ext>
            </a:extLst>
          </p:cNvPr>
          <p:cNvSpPr/>
          <p:nvPr/>
        </p:nvSpPr>
        <p:spPr>
          <a:xfrm>
            <a:off x="7407983" y="5763313"/>
            <a:ext cx="582930" cy="2887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4DE033F-469C-1CAB-A293-1F9B4A2B0539}"/>
              </a:ext>
            </a:extLst>
          </p:cNvPr>
          <p:cNvSpPr/>
          <p:nvPr/>
        </p:nvSpPr>
        <p:spPr>
          <a:xfrm>
            <a:off x="8328098" y="5679083"/>
            <a:ext cx="136017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Predicted Rating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4C01B4E-B9EA-FA4D-3231-1FF07B3015D6}"/>
              </a:ext>
            </a:extLst>
          </p:cNvPr>
          <p:cNvSpPr txBox="1"/>
          <p:nvPr/>
        </p:nvSpPr>
        <p:spPr>
          <a:xfrm>
            <a:off x="1848200" y="4493512"/>
            <a:ext cx="1226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Training</a:t>
            </a:r>
            <a:endParaRPr kumimoji="1" lang="zh-TW" altLang="en-US" b="1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D891F95C-F07A-E5D4-F517-3D965348F589}"/>
              </a:ext>
            </a:extLst>
          </p:cNvPr>
          <p:cNvSpPr txBox="1"/>
          <p:nvPr/>
        </p:nvSpPr>
        <p:spPr>
          <a:xfrm>
            <a:off x="1848200" y="5720921"/>
            <a:ext cx="1226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Inference</a:t>
            </a:r>
            <a:endParaRPr kumimoji="1"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613618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3" grpId="0" animBg="1"/>
      <p:bldP spid="27" grpId="0"/>
      <p:bldP spid="36" grpId="0" animBg="1"/>
      <p:bldP spid="37" grpId="0" animBg="1"/>
      <p:bldP spid="38" grpId="0" animBg="1"/>
      <p:bldP spid="39" grpId="0" animBg="1"/>
      <p:bldP spid="40" grpId="0" animBg="1"/>
      <p:bldP spid="41" grpId="0"/>
      <p:bldP spid="43" grpId="0"/>
      <p:bldP spid="4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B0EA56-9324-2100-46F3-B4F51551F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BLEURT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zh-TW" altLang="en-US" sz="4800" dirty="0">
                <a:ea typeface="Microsoft JhengHei" panose="020B0604030504040204" pitchFamily="34" charset="-120"/>
              </a:rPr>
              <a:t>前情提要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549A83-5653-1EE6-A200-DAFD61ECE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AAE603A-72E2-B14D-8A15-FDDC2E31A4D8}"/>
              </a:ext>
            </a:extLst>
          </p:cNvPr>
          <p:cNvSpPr txBox="1"/>
          <p:nvPr/>
        </p:nvSpPr>
        <p:spPr>
          <a:xfrm>
            <a:off x="653143" y="1785620"/>
            <a:ext cx="993267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BLEURT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是一個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/>
              <a:t>BERT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以英文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BERT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初始化</a:t>
            </a:r>
            <a:r>
              <a:rPr kumimoji="1" lang="en-US" altLang="zh-TW" sz="24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BLEURT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pre-training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跟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fine-tuning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fine-tuning: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學習人類的打分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pre-training: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使用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data augmentation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在非打分任務上面進行暖身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(warm-up, for transfer learning) 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9579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1AE638-53AF-2A7F-4A7C-16F288A82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BLEURT</a:t>
            </a:r>
            <a:r>
              <a:rPr kumimoji="1" lang="en-US" altLang="zh-TW" dirty="0"/>
              <a:t> – Steps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F344113-36F1-7BA4-824E-25C9E9914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143" y="1883872"/>
                <a:ext cx="10058400" cy="1033416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TW" sz="2400" dirty="0"/>
                  <a:t>Step 0: Reference-candidate pairs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TW" sz="2400" dirty="0"/>
                  <a:t> and the pre-trained BERT model</a:t>
                </a:r>
              </a:p>
              <a:p>
                <a:r>
                  <a:rPr kumimoji="1" lang="en-US" altLang="zh-TW" sz="2400" dirty="0"/>
                  <a:t>Step 1: Data augmentation for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TW" sz="2400" dirty="0"/>
                  <a:t> to to perform pre-training</a:t>
                </a:r>
              </a:p>
              <a:p>
                <a:pPr marL="0" indent="0">
                  <a:buNone/>
                </a:pPr>
                <a:endParaRPr kumimoji="1" lang="zh-TW" altLang="en-US" sz="24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F344113-36F1-7BA4-824E-25C9E9914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143" y="1883872"/>
                <a:ext cx="10058400" cy="1033416"/>
              </a:xfrm>
              <a:blipFill>
                <a:blip r:embed="rId2"/>
                <a:stretch>
                  <a:fillRect l="-1009" t="-7317" b="-36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C26D1C-8586-817C-B7C0-F31BAC343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4C49D03-16BD-5220-2E38-1DD273DB4260}"/>
                  </a:ext>
                </a:extLst>
              </p:cNvPr>
              <p:cNvSpPr txBox="1"/>
              <p:nvPr/>
            </p:nvSpPr>
            <p:spPr>
              <a:xfrm>
                <a:off x="709947" y="2917288"/>
                <a:ext cx="10058399" cy="2805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zh-TW" sz="2400" b="1" dirty="0"/>
                  <a:t>Data augmentation strategies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/>
                  <a:t>Random masking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/>
                  <a:t>Back-translation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/>
                  <a:t>Dropping words randomly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TW" sz="2400" dirty="0"/>
                  <a:t>Total 6.5 million variants of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kumimoji="1" lang="en-US" altLang="zh-TW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TW" sz="2400" dirty="0"/>
                  <a:t> were created.</a:t>
                </a:r>
                <a:endParaRPr kumimoji="1" lang="zh-TW" altLang="en-US" sz="24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4C49D03-16BD-5220-2E38-1DD273DB4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47" y="2917288"/>
                <a:ext cx="10058399" cy="2805063"/>
              </a:xfrm>
              <a:prstGeom prst="rect">
                <a:avLst/>
              </a:prstGeom>
              <a:blipFill>
                <a:blip r:embed="rId3"/>
                <a:stretch>
                  <a:fillRect l="-883" b="-36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2B33D4F5-E0FF-649B-146B-92A232072021}"/>
              </a:ext>
            </a:extLst>
          </p:cNvPr>
          <p:cNvSpPr txBox="1"/>
          <p:nvPr/>
        </p:nvSpPr>
        <p:spPr>
          <a:xfrm>
            <a:off x="2383458" y="6271079"/>
            <a:ext cx="7425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 err="1"/>
              <a:t>Sellam</a:t>
            </a:r>
            <a:r>
              <a:rPr kumimoji="1" lang="en" altLang="zh-TW" sz="1200" dirty="0"/>
              <a:t>, Thibault, </a:t>
            </a:r>
            <a:r>
              <a:rPr kumimoji="1" lang="en" altLang="zh-TW" sz="1200" dirty="0" err="1"/>
              <a:t>Dipanjan</a:t>
            </a:r>
            <a:r>
              <a:rPr kumimoji="1" lang="en" altLang="zh-TW" sz="1200" dirty="0"/>
              <a:t> Das, and Ankur Parikh. "BLEURT: Learning Robust Metrics for Text Generation." Proceedings of the 58th Annual Meeting of the Association for Computational Linguistics. 2020.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34720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814638-E9D0-722E-838D-F6A40223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Random masking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0DF5FD-D8FF-7A3D-5237-5B1595636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0014302-E722-AC7C-28EC-3F84EF1A23C0}"/>
              </a:ext>
            </a:extLst>
          </p:cNvPr>
          <p:cNvSpPr txBox="1"/>
          <p:nvPr/>
        </p:nvSpPr>
        <p:spPr>
          <a:xfrm>
            <a:off x="1758369" y="2808391"/>
            <a:ext cx="239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Token masking</a:t>
            </a:r>
            <a:endParaRPr kumimoji="1" lang="zh-TW" altLang="en-US" sz="24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86ED859-5BFB-3879-80DB-39D6BC1B126C}"/>
              </a:ext>
            </a:extLst>
          </p:cNvPr>
          <p:cNvSpPr txBox="1"/>
          <p:nvPr/>
        </p:nvSpPr>
        <p:spPr>
          <a:xfrm>
            <a:off x="653143" y="1611264"/>
            <a:ext cx="1005839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Two kinds of masking strategies were adopted:</a:t>
            </a:r>
            <a:endParaRPr kumimoji="1" lang="zh-TW" altLang="en-US" sz="24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8EC7737-547B-F0A2-3700-1227F0792D3C}"/>
              </a:ext>
            </a:extLst>
          </p:cNvPr>
          <p:cNvSpPr txBox="1"/>
          <p:nvPr/>
        </p:nvSpPr>
        <p:spPr>
          <a:xfrm>
            <a:off x="1758369" y="4326735"/>
            <a:ext cx="239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Span masking</a:t>
            </a:r>
            <a:endParaRPr kumimoji="1" lang="zh-TW" altLang="en-US" sz="24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B3D086B-C1E6-DD90-ACE9-DF7D7BD79932}"/>
              </a:ext>
            </a:extLst>
          </p:cNvPr>
          <p:cNvSpPr txBox="1"/>
          <p:nvPr/>
        </p:nvSpPr>
        <p:spPr>
          <a:xfrm>
            <a:off x="1758369" y="3475230"/>
            <a:ext cx="3429346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 love traveling to Vancouver for attending a conference.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79EFE17-68E8-B3CD-7792-CF981095F024}"/>
              </a:ext>
            </a:extLst>
          </p:cNvPr>
          <p:cNvSpPr txBox="1"/>
          <p:nvPr/>
        </p:nvSpPr>
        <p:spPr>
          <a:xfrm>
            <a:off x="6905679" y="3475230"/>
            <a:ext cx="3429346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 love traveling to Vancouver for </a:t>
            </a:r>
            <a:r>
              <a:rPr kumimoji="1" lang="en-US" altLang="zh-TW" b="1" dirty="0">
                <a:solidFill>
                  <a:srgbClr val="FF0000"/>
                </a:solidFill>
              </a:rPr>
              <a:t>[MASK] </a:t>
            </a:r>
            <a:r>
              <a:rPr kumimoji="1" lang="en-US" altLang="zh-TW" dirty="0"/>
              <a:t>a conference.</a:t>
            </a:r>
            <a:endParaRPr kumimoji="1" lang="zh-TW" altLang="en-US" dirty="0"/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D1B80E8A-AB21-3A25-1E19-5C822E69A8E1}"/>
              </a:ext>
            </a:extLst>
          </p:cNvPr>
          <p:cNvCxnSpPr/>
          <p:nvPr/>
        </p:nvCxnSpPr>
        <p:spPr>
          <a:xfrm>
            <a:off x="5466571" y="3798395"/>
            <a:ext cx="113211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DF158A1-9231-6228-EB9A-B87A2AFE9BAC}"/>
              </a:ext>
            </a:extLst>
          </p:cNvPr>
          <p:cNvSpPr txBox="1"/>
          <p:nvPr/>
        </p:nvSpPr>
        <p:spPr>
          <a:xfrm>
            <a:off x="1758369" y="4969870"/>
            <a:ext cx="3429346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 love traveling to Vancouver for attending a conference.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5E71C53-336B-95A5-BDD9-5CED454B4B27}"/>
              </a:ext>
            </a:extLst>
          </p:cNvPr>
          <p:cNvSpPr txBox="1"/>
          <p:nvPr/>
        </p:nvSpPr>
        <p:spPr>
          <a:xfrm>
            <a:off x="6905679" y="4969870"/>
            <a:ext cx="3429346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 love traveling to Vancouver for </a:t>
            </a:r>
            <a:r>
              <a:rPr kumimoji="1" lang="en-US" altLang="zh-TW" b="1" dirty="0">
                <a:solidFill>
                  <a:srgbClr val="FF0000"/>
                </a:solidFill>
              </a:rPr>
              <a:t>[MASK]</a:t>
            </a:r>
            <a:r>
              <a:rPr kumimoji="1" lang="en-US" altLang="zh-TW" dirty="0"/>
              <a:t> </a:t>
            </a:r>
            <a:r>
              <a:rPr kumimoji="1" lang="en-US" altLang="zh-TW" b="1" dirty="0">
                <a:solidFill>
                  <a:srgbClr val="FF0000"/>
                </a:solidFill>
              </a:rPr>
              <a:t>[MASK]</a:t>
            </a:r>
            <a:r>
              <a:rPr kumimoji="1" lang="en-US" altLang="zh-TW" dirty="0"/>
              <a:t> </a:t>
            </a:r>
            <a:r>
              <a:rPr kumimoji="1" lang="en-US" altLang="zh-TW" b="1" dirty="0">
                <a:solidFill>
                  <a:srgbClr val="FF0000"/>
                </a:solidFill>
              </a:rPr>
              <a:t>[MASK]</a:t>
            </a:r>
            <a:r>
              <a:rPr kumimoji="1" lang="en-US" altLang="zh-TW" dirty="0"/>
              <a:t>.</a:t>
            </a:r>
            <a:endParaRPr kumimoji="1" lang="zh-TW" altLang="en-US" dirty="0"/>
          </a:p>
        </p:txBody>
      </p: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6272BED4-ACF2-8C94-FB34-9A3848723FC3}"/>
              </a:ext>
            </a:extLst>
          </p:cNvPr>
          <p:cNvCxnSpPr/>
          <p:nvPr/>
        </p:nvCxnSpPr>
        <p:spPr>
          <a:xfrm>
            <a:off x="5466571" y="5293035"/>
            <a:ext cx="113211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1164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14CF3C-D65F-1657-5EF1-4FEC5FB4F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Backtranslation </a:t>
            </a:r>
            <a:r>
              <a:rPr kumimoji="1" lang="zh-TW" altLang="en-US" dirty="0"/>
              <a:t>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C46BCB-ADB8-97A1-BC68-16E762BE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47</a:t>
            </a:fld>
            <a:endParaRPr lang="en-US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AD7480AC-A57E-48E0-8365-FF00857AB9F1}"/>
              </a:ext>
            </a:extLst>
          </p:cNvPr>
          <p:cNvGrpSpPr/>
          <p:nvPr/>
        </p:nvGrpSpPr>
        <p:grpSpPr>
          <a:xfrm>
            <a:off x="1625865" y="2863498"/>
            <a:ext cx="8940269" cy="3091240"/>
            <a:chOff x="1209571" y="2706832"/>
            <a:chExt cx="6302396" cy="2076048"/>
          </a:xfrm>
        </p:grpSpPr>
        <p:sp>
          <p:nvSpPr>
            <p:cNvPr id="5" name="圓角矩形 4">
              <a:extLst>
                <a:ext uri="{FF2B5EF4-FFF2-40B4-BE49-F238E27FC236}">
                  <a16:creationId xmlns:a16="http://schemas.microsoft.com/office/drawing/2014/main" id="{4AA3DB02-592D-953E-AA95-15FA28DD8BBF}"/>
                </a:ext>
              </a:extLst>
            </p:cNvPr>
            <p:cNvSpPr/>
            <p:nvPr/>
          </p:nvSpPr>
          <p:spPr>
            <a:xfrm>
              <a:off x="1209571" y="2708909"/>
              <a:ext cx="929847" cy="720090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L1 sentence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向右箭號 5">
              <a:extLst>
                <a:ext uri="{FF2B5EF4-FFF2-40B4-BE49-F238E27FC236}">
                  <a16:creationId xmlns:a16="http://schemas.microsoft.com/office/drawing/2014/main" id="{3D236A6C-585A-022B-84C8-E1DC5A7EF363}"/>
                </a:ext>
              </a:extLst>
            </p:cNvPr>
            <p:cNvSpPr/>
            <p:nvPr/>
          </p:nvSpPr>
          <p:spPr>
            <a:xfrm>
              <a:off x="2303425" y="2975233"/>
              <a:ext cx="574358" cy="16716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圓角矩形 6">
              <a:extLst>
                <a:ext uri="{FF2B5EF4-FFF2-40B4-BE49-F238E27FC236}">
                  <a16:creationId xmlns:a16="http://schemas.microsoft.com/office/drawing/2014/main" id="{FCE74CDB-0C40-0736-16FD-1559C17C9341}"/>
                </a:ext>
              </a:extLst>
            </p:cNvPr>
            <p:cNvSpPr/>
            <p:nvPr/>
          </p:nvSpPr>
          <p:spPr>
            <a:xfrm>
              <a:off x="6582124" y="2708909"/>
              <a:ext cx="929843" cy="720090"/>
            </a:xfrm>
            <a:prstGeom prst="roundRect">
              <a:avLst/>
            </a:pr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L2* sentence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向右箭號 7">
              <a:extLst>
                <a:ext uri="{FF2B5EF4-FFF2-40B4-BE49-F238E27FC236}">
                  <a16:creationId xmlns:a16="http://schemas.microsoft.com/office/drawing/2014/main" id="{C1C94117-8677-F0C8-7F7B-08E00D488F16}"/>
                </a:ext>
              </a:extLst>
            </p:cNvPr>
            <p:cNvSpPr/>
            <p:nvPr/>
          </p:nvSpPr>
          <p:spPr>
            <a:xfrm>
              <a:off x="5925762" y="2985373"/>
              <a:ext cx="574358" cy="16716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9" name="向右箭號 8">
              <a:extLst>
                <a:ext uri="{FF2B5EF4-FFF2-40B4-BE49-F238E27FC236}">
                  <a16:creationId xmlns:a16="http://schemas.microsoft.com/office/drawing/2014/main" id="{B69169C1-80CC-B06F-404A-3EDD7628293F}"/>
                </a:ext>
              </a:extLst>
            </p:cNvPr>
            <p:cNvSpPr/>
            <p:nvPr/>
          </p:nvSpPr>
          <p:spPr>
            <a:xfrm rot="10800000">
              <a:off x="2303425" y="4330940"/>
              <a:ext cx="574358" cy="16716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0" name="圓角矩形 9">
              <a:extLst>
                <a:ext uri="{FF2B5EF4-FFF2-40B4-BE49-F238E27FC236}">
                  <a16:creationId xmlns:a16="http://schemas.microsoft.com/office/drawing/2014/main" id="{D42D7C5E-B669-1947-2705-95ED0D3F7B70}"/>
                </a:ext>
              </a:extLst>
            </p:cNvPr>
            <p:cNvSpPr/>
            <p:nvPr/>
          </p:nvSpPr>
          <p:spPr>
            <a:xfrm>
              <a:off x="1209575" y="4054477"/>
              <a:ext cx="929843" cy="720090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L1* sentence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圓角矩形 11">
              <a:extLst>
                <a:ext uri="{FF2B5EF4-FFF2-40B4-BE49-F238E27FC236}">
                  <a16:creationId xmlns:a16="http://schemas.microsoft.com/office/drawing/2014/main" id="{0CD9A2F3-1C94-66FB-6495-550554F1DB36}"/>
                </a:ext>
              </a:extLst>
            </p:cNvPr>
            <p:cNvSpPr/>
            <p:nvPr/>
          </p:nvSpPr>
          <p:spPr>
            <a:xfrm>
              <a:off x="3023864" y="2706832"/>
              <a:ext cx="2819895" cy="720090"/>
            </a:xfrm>
            <a:prstGeom prst="roundRect">
              <a:avLst/>
            </a:pr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L1 to L2 </a:t>
              </a:r>
              <a:r>
                <a:rPr kumimoji="1" lang="zh-TW" altLang="en-US" dirty="0">
                  <a:solidFill>
                    <a:schemeClr val="tx1"/>
                  </a:solidFill>
                </a:rPr>
                <a:t>翻譯模型</a:t>
              </a:r>
            </a:p>
          </p:txBody>
        </p:sp>
        <p:sp>
          <p:nvSpPr>
            <p:cNvPr id="14" name="圓角矩形 13">
              <a:extLst>
                <a:ext uri="{FF2B5EF4-FFF2-40B4-BE49-F238E27FC236}">
                  <a16:creationId xmlns:a16="http://schemas.microsoft.com/office/drawing/2014/main" id="{8430F4C0-6B74-A540-A676-204A2997DF80}"/>
                </a:ext>
              </a:extLst>
            </p:cNvPr>
            <p:cNvSpPr/>
            <p:nvPr/>
          </p:nvSpPr>
          <p:spPr>
            <a:xfrm>
              <a:off x="3023864" y="4062790"/>
              <a:ext cx="2827135" cy="720090"/>
            </a:xfrm>
            <a:prstGeom prst="roundRect">
              <a:avLst/>
            </a:pr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L2 to L1 </a:t>
              </a:r>
              <a:r>
                <a:rPr kumimoji="1" lang="zh-TW" altLang="en-US" dirty="0">
                  <a:solidFill>
                    <a:schemeClr val="tx1"/>
                  </a:solidFill>
                </a:rPr>
                <a:t>翻譯模型</a:t>
              </a:r>
            </a:p>
          </p:txBody>
        </p:sp>
        <p:sp>
          <p:nvSpPr>
            <p:cNvPr id="15" name="向右箭號 14">
              <a:extLst>
                <a:ext uri="{FF2B5EF4-FFF2-40B4-BE49-F238E27FC236}">
                  <a16:creationId xmlns:a16="http://schemas.microsoft.com/office/drawing/2014/main" id="{8DE04CE9-8D2B-6A81-4704-C93B1082CC41}"/>
                </a:ext>
              </a:extLst>
            </p:cNvPr>
            <p:cNvSpPr/>
            <p:nvPr/>
          </p:nvSpPr>
          <p:spPr>
            <a:xfrm rot="8227016">
              <a:off x="5801014" y="3951024"/>
              <a:ext cx="1015691" cy="20690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CC13D6C4-A0EA-181A-9689-327E2EAF0232}"/>
                </a:ext>
              </a:extLst>
            </p:cNvPr>
            <p:cNvSpPr txBox="1"/>
            <p:nvPr/>
          </p:nvSpPr>
          <p:spPr>
            <a:xfrm rot="5400000">
              <a:off x="1361546" y="3441411"/>
              <a:ext cx="537420" cy="5858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TW" altLang="en-US" sz="4800" dirty="0">
                  <a:solidFill>
                    <a:schemeClr val="accent2">
                      <a:lumMod val="75000"/>
                    </a:schemeClr>
                  </a:solidFill>
                </a:rPr>
                <a:t>～</a:t>
              </a:r>
            </a:p>
          </p:txBody>
        </p:sp>
      </p:grp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0870D9E-D01B-D7B2-1EF2-1EEAEC294B44}"/>
              </a:ext>
            </a:extLst>
          </p:cNvPr>
          <p:cNvSpPr txBox="1"/>
          <p:nvPr/>
        </p:nvSpPr>
        <p:spPr>
          <a:xfrm>
            <a:off x="653143" y="1494669"/>
            <a:ext cx="8129522" cy="1051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For example: L1 -&gt; English; L2 -&gt; French or German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此頁星號</a:t>
            </a:r>
            <a:r>
              <a:rPr kumimoji="1" lang="en-US" altLang="zh-TW" sz="2000" dirty="0"/>
              <a:t> (*) </a:t>
            </a:r>
            <a:r>
              <a:rPr kumimoji="1" lang="zh-TW" altLang="en-US" sz="2000" dirty="0"/>
              <a:t>代表翻譯模型的輸出</a:t>
            </a:r>
            <a:endParaRPr kumimoji="1"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5598285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4755BB-8713-7DA7-30B5-22BBAD504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Dropping words randomly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740559-1BE6-D7EB-D4B1-FE007B39B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8950834-F1D1-D068-A5D6-1B56E8964998}"/>
              </a:ext>
            </a:extLst>
          </p:cNvPr>
          <p:cNvSpPr txBox="1"/>
          <p:nvPr/>
        </p:nvSpPr>
        <p:spPr>
          <a:xfrm>
            <a:off x="1692958" y="3708114"/>
            <a:ext cx="3429346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 love </a:t>
            </a:r>
            <a:r>
              <a:rPr kumimoji="1" lang="en-US" altLang="zh-TW" dirty="0">
                <a:solidFill>
                  <a:srgbClr val="FF0000"/>
                </a:solidFill>
              </a:rPr>
              <a:t>traveling to </a:t>
            </a:r>
            <a:r>
              <a:rPr kumimoji="1" lang="en-US" altLang="zh-TW" dirty="0"/>
              <a:t>Vancouver for attending a conference.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3A9EBE9-A2D0-3901-2C8A-84FC7F2A970F}"/>
              </a:ext>
            </a:extLst>
          </p:cNvPr>
          <p:cNvSpPr txBox="1"/>
          <p:nvPr/>
        </p:nvSpPr>
        <p:spPr>
          <a:xfrm>
            <a:off x="6840268" y="3708114"/>
            <a:ext cx="3429346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 love to Vancouver for attending a conference.</a:t>
            </a:r>
            <a:endParaRPr kumimoji="1" lang="zh-TW" altLang="en-US" dirty="0"/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72D464EB-56A8-EA8E-6025-56CDB24C815C}"/>
              </a:ext>
            </a:extLst>
          </p:cNvPr>
          <p:cNvCxnSpPr/>
          <p:nvPr/>
        </p:nvCxnSpPr>
        <p:spPr>
          <a:xfrm>
            <a:off x="5401160" y="4031279"/>
            <a:ext cx="113211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678E58CC-1EA0-D49D-1E2C-7243A64067C3}"/>
              </a:ext>
            </a:extLst>
          </p:cNvPr>
          <p:cNvSpPr txBox="1"/>
          <p:nvPr/>
        </p:nvSpPr>
        <p:spPr>
          <a:xfrm>
            <a:off x="653143" y="1736521"/>
            <a:ext cx="8807959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The authors found it useful in their experiments to randomly drop words to create other examples.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2B46F60-2BD7-350E-667D-252FF1C348C1}"/>
              </a:ext>
            </a:extLst>
          </p:cNvPr>
          <p:cNvSpPr txBox="1"/>
          <p:nvPr/>
        </p:nvSpPr>
        <p:spPr>
          <a:xfrm>
            <a:off x="2383458" y="6271079"/>
            <a:ext cx="7425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 err="1"/>
              <a:t>Sellam</a:t>
            </a:r>
            <a:r>
              <a:rPr kumimoji="1" lang="en" altLang="zh-TW" sz="1200" dirty="0"/>
              <a:t>, Thibault, </a:t>
            </a:r>
            <a:r>
              <a:rPr kumimoji="1" lang="en" altLang="zh-TW" sz="1200" dirty="0" err="1"/>
              <a:t>Dipanjan</a:t>
            </a:r>
            <a:r>
              <a:rPr kumimoji="1" lang="en" altLang="zh-TW" sz="1200" dirty="0"/>
              <a:t> Das, and Ankur Parikh. "BLEURT: Learning Robust Metrics for Text Generation." Proceedings of the 58th Annual Meeting of the Association for Computational Linguistics. 2020.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322167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9BD11B-E074-EEFA-A42F-46E78697A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BLEURT</a:t>
            </a:r>
            <a:r>
              <a:rPr kumimoji="1" lang="en-US" altLang="zh-TW" dirty="0"/>
              <a:t> – Step 3 (for pre-training)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B2CF5E4-EDCB-CBE2-515D-9703F4FA14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3143" y="1685005"/>
                <a:ext cx="10058400" cy="893769"/>
              </a:xfrm>
            </p:spPr>
            <p:txBody>
              <a:bodyPr>
                <a:normAutofit/>
              </a:bodyPr>
              <a:lstStyle/>
              <a:p>
                <a:r>
                  <a:rPr kumimoji="1" lang="en" altLang="zh-TW" dirty="0"/>
                  <a:t>Step 3: Pre-training each sentence pair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TW" dirty="0"/>
                  <a:t> with the following tasks.</a:t>
                </a:r>
              </a:p>
              <a:p>
                <a:r>
                  <a:rPr kumimoji="1" lang="en-US" altLang="zh-TW" dirty="0"/>
                  <a:t>Note that this is not conventional BERT pre-training! It is </a:t>
                </a:r>
                <a:r>
                  <a:rPr kumimoji="1" lang="en-US" altLang="zh-TW" dirty="0">
                    <a:solidFill>
                      <a:srgbClr val="FF0000"/>
                    </a:solidFill>
                  </a:rPr>
                  <a:t>multi-task pre-training</a:t>
                </a:r>
                <a:r>
                  <a:rPr kumimoji="1" lang="en-US" altLang="zh-TW" dirty="0"/>
                  <a:t>!</a:t>
                </a:r>
                <a:endParaRPr kumimoji="1" lang="en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B2CF5E4-EDCB-CBE2-515D-9703F4FA14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3143" y="1685005"/>
                <a:ext cx="10058400" cy="893769"/>
              </a:xfrm>
              <a:blipFill>
                <a:blip r:embed="rId3"/>
                <a:stretch>
                  <a:fillRect l="-1513" t="-6944" b="-2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D49FBA3-2ADC-C0A6-9994-661326CCB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7753B2D-00AE-276F-2636-80D1073B1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845" y="2771315"/>
            <a:ext cx="9858947" cy="226403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A208862-6D30-39DE-072F-3E0632D16984}"/>
              </a:ext>
            </a:extLst>
          </p:cNvPr>
          <p:cNvSpPr txBox="1"/>
          <p:nvPr/>
        </p:nvSpPr>
        <p:spPr>
          <a:xfrm>
            <a:off x="8025873" y="5213761"/>
            <a:ext cx="4313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dirty="0"/>
              <a:t>Regression: mean squared error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dirty="0"/>
              <a:t>Multiclass: Cross-entropy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2298937-30B3-26C9-C089-8B20873C2B96}"/>
                  </a:ext>
                </a:extLst>
              </p:cNvPr>
              <p:cNvSpPr txBox="1"/>
              <p:nvPr/>
            </p:nvSpPr>
            <p:spPr>
              <a:xfrm>
                <a:off x="1133583" y="5213761"/>
                <a:ext cx="689229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TW" dirty="0"/>
                  <a:t>Ground-truth values can be computed for each </a:t>
                </a:r>
                <a14:m>
                  <m:oMath xmlns:m="http://schemas.openxmlformats.org/officeDocument/2006/math"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̃"/>
                        <m:ctrlPr>
                          <a:rPr kumimoji="1" lang="en-US" altLang="zh-TW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TW" sz="1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TW" sz="1800" dirty="0"/>
                  <a:t> </a:t>
                </a:r>
                <a:r>
                  <a:rPr kumimoji="1" lang="en-US" altLang="zh-TW" dirty="0"/>
                  <a:t>pair!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zh-TW" dirty="0"/>
                  <a:t>Losses for the six tasks were sum up during pre-training.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2298937-30B3-26C9-C089-8B20873C2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583" y="5213761"/>
                <a:ext cx="6892290" cy="646331"/>
              </a:xfrm>
              <a:prstGeom prst="rect">
                <a:avLst/>
              </a:prstGeom>
              <a:blipFill>
                <a:blip r:embed="rId5"/>
                <a:stretch>
                  <a:fillRect l="-551" t="-3846" b="-134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左中括弧 7">
            <a:extLst>
              <a:ext uri="{FF2B5EF4-FFF2-40B4-BE49-F238E27FC236}">
                <a16:creationId xmlns:a16="http://schemas.microsoft.com/office/drawing/2014/main" id="{DB0B9D7D-B168-B61B-48E0-C6A3F5BBD9B7}"/>
              </a:ext>
            </a:extLst>
          </p:cNvPr>
          <p:cNvSpPr/>
          <p:nvPr/>
        </p:nvSpPr>
        <p:spPr>
          <a:xfrm>
            <a:off x="916413" y="3249506"/>
            <a:ext cx="91440" cy="1596224"/>
          </a:xfrm>
          <a:prstGeom prst="leftBracket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 b="1" dirty="0"/>
          </a:p>
        </p:txBody>
      </p:sp>
      <p:cxnSp>
        <p:nvCxnSpPr>
          <p:cNvPr id="10" name="肘形接點 9">
            <a:extLst>
              <a:ext uri="{FF2B5EF4-FFF2-40B4-BE49-F238E27FC236}">
                <a16:creationId xmlns:a16="http://schemas.microsoft.com/office/drawing/2014/main" id="{E5F44762-3997-2CEE-D12C-972D09D544E1}"/>
              </a:ext>
            </a:extLst>
          </p:cNvPr>
          <p:cNvCxnSpPr>
            <a:cxnSpLocks/>
            <a:stCxn id="8" idx="1"/>
            <a:endCxn id="7" idx="1"/>
          </p:cNvCxnSpPr>
          <p:nvPr/>
        </p:nvCxnSpPr>
        <p:spPr>
          <a:xfrm rot="10800000" flipH="1" flipV="1">
            <a:off x="916413" y="4047617"/>
            <a:ext cx="217170" cy="1489309"/>
          </a:xfrm>
          <a:prstGeom prst="bentConnector3">
            <a:avLst>
              <a:gd name="adj1" fmla="val -105263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6D9DD1A-6A3C-C3CF-BB85-F7A3270A5C5E}"/>
              </a:ext>
            </a:extLst>
          </p:cNvPr>
          <p:cNvSpPr txBox="1"/>
          <p:nvPr/>
        </p:nvSpPr>
        <p:spPr>
          <a:xfrm>
            <a:off x="2383458" y="6271079"/>
            <a:ext cx="7425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 err="1"/>
              <a:t>Sellam</a:t>
            </a:r>
            <a:r>
              <a:rPr kumimoji="1" lang="en" altLang="zh-TW" sz="1200" dirty="0"/>
              <a:t>, Thibault, </a:t>
            </a:r>
            <a:r>
              <a:rPr kumimoji="1" lang="en" altLang="zh-TW" sz="1200" dirty="0" err="1"/>
              <a:t>Dipanjan</a:t>
            </a:r>
            <a:r>
              <a:rPr kumimoji="1" lang="en" altLang="zh-TW" sz="1200" dirty="0"/>
              <a:t> Das, and Ankur Parikh. "BLEURT: Learning Robust Metrics for Text Generation." Proceedings of the 58th Annual Meeting of the Association for Computational Linguistics. 2020.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669455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4CDFFE-D5CE-1B71-8DE7-56DFF85FB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Task 4: Backtranslation Likelihood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507CD8-D74D-70FE-2049-9904EC407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299598F-6363-923C-2FB9-A206CE700EA1}"/>
              </a:ext>
            </a:extLst>
          </p:cNvPr>
          <p:cNvSpPr txBox="1"/>
          <p:nvPr/>
        </p:nvSpPr>
        <p:spPr>
          <a:xfrm>
            <a:off x="653143" y="1782225"/>
            <a:ext cx="9658350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Existing </a:t>
            </a:r>
            <a:r>
              <a:rPr kumimoji="1" lang="en-US" altLang="zh-TW" sz="2000" dirty="0">
                <a:solidFill>
                  <a:srgbClr val="00B0F0"/>
                </a:solidFill>
              </a:rPr>
              <a:t>FOUR</a:t>
            </a:r>
            <a:r>
              <a:rPr kumimoji="1" lang="en-US" altLang="zh-TW" sz="2000" dirty="0"/>
              <a:t> </a:t>
            </a:r>
            <a:r>
              <a:rPr kumimoji="1" lang="en" altLang="zh-TW" sz="2000" dirty="0"/>
              <a:t>translation models (trained) are needed.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Transformers (Vaswani et al., 2017): EN-FR</a:t>
            </a:r>
            <a:r>
              <a:rPr kumimoji="1" lang="en-US" altLang="zh-TW" sz="2000" dirty="0"/>
              <a:t>,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FR-EN</a:t>
            </a:r>
            <a:endParaRPr kumimoji="1" lang="en" altLang="zh-TW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Transformers (Vaswani et al., 2017): EN-DE, DE-EN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Equations use EN-FR for an example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4FA1B47-1269-19A3-3912-4304293CF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249" y="4410248"/>
            <a:ext cx="4139111" cy="40415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E208032-A2EF-E8DC-0886-291B35DA4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249" y="5328837"/>
            <a:ext cx="3825966" cy="59515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E2B6A1C-C6D1-7F61-B40F-21843388F641}"/>
              </a:ext>
            </a:extLst>
          </p:cNvPr>
          <p:cNvSpPr txBox="1"/>
          <p:nvPr/>
        </p:nvSpPr>
        <p:spPr>
          <a:xfrm>
            <a:off x="3834625" y="4918147"/>
            <a:ext cx="637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Best translated French sentence (details absent in the paper)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3" name="肘形接點 12">
            <a:extLst>
              <a:ext uri="{FF2B5EF4-FFF2-40B4-BE49-F238E27FC236}">
                <a16:creationId xmlns:a16="http://schemas.microsoft.com/office/drawing/2014/main" id="{6C480095-6782-8D7D-B43B-91E5C6B7E5ED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>
            <a:off x="3152273" y="4814405"/>
            <a:ext cx="682353" cy="288409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927D8BC6-ACFB-6D7D-2A57-3FBFCFAFFAD3}"/>
                  </a:ext>
                </a:extLst>
              </p:cNvPr>
              <p:cNvSpPr txBox="1"/>
              <p:nvPr/>
            </p:nvSpPr>
            <p:spPr>
              <a:xfrm>
                <a:off x="7404595" y="3938192"/>
                <a:ext cx="22593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kumimoji="1"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kumimoji="1"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927D8BC6-ACFB-6D7D-2A57-3FBFCFAFF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4595" y="3938192"/>
                <a:ext cx="225933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肘形接點 17">
            <a:extLst>
              <a:ext uri="{FF2B5EF4-FFF2-40B4-BE49-F238E27FC236}">
                <a16:creationId xmlns:a16="http://schemas.microsoft.com/office/drawing/2014/main" id="{DA1CFD91-FE4B-E423-730C-5931958F21E2}"/>
              </a:ext>
            </a:extLst>
          </p:cNvPr>
          <p:cNvCxnSpPr>
            <a:cxnSpLocks/>
            <a:stCxn id="15" idx="1"/>
          </p:cNvCxnSpPr>
          <p:nvPr/>
        </p:nvCxnSpPr>
        <p:spPr>
          <a:xfrm rot="10800000" flipV="1">
            <a:off x="6506389" y="4122857"/>
            <a:ext cx="898207" cy="237587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B775D3C-DC58-2734-C566-F5A4D6B8C4A4}"/>
              </a:ext>
            </a:extLst>
          </p:cNvPr>
          <p:cNvSpPr txBox="1"/>
          <p:nvPr/>
        </p:nvSpPr>
        <p:spPr>
          <a:xfrm>
            <a:off x="4192765" y="6066324"/>
            <a:ext cx="2898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Backtranslation Likelihood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2" name="肘形接點 21">
            <a:extLst>
              <a:ext uri="{FF2B5EF4-FFF2-40B4-BE49-F238E27FC236}">
                <a16:creationId xmlns:a16="http://schemas.microsoft.com/office/drawing/2014/main" id="{5B226138-3C24-40DC-F16F-C9B7C9F3697C}"/>
              </a:ext>
            </a:extLst>
          </p:cNvPr>
          <p:cNvCxnSpPr>
            <a:cxnSpLocks/>
            <a:stCxn id="21" idx="1"/>
          </p:cNvCxnSpPr>
          <p:nvPr/>
        </p:nvCxnSpPr>
        <p:spPr>
          <a:xfrm rot="10800000">
            <a:off x="3553933" y="5849234"/>
            <a:ext cx="638832" cy="401757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6292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FEADFD-121A-D1E9-B294-F6F09269A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Task 4: Backtranslation Likelihood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FAB5F0-57F5-3F37-7E16-17C46FA60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8636803-75C8-B1CB-F228-5F584D138F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502" r="23093" b="29818"/>
          <a:stretch/>
        </p:blipFill>
        <p:spPr>
          <a:xfrm>
            <a:off x="536842" y="2241756"/>
            <a:ext cx="9567944" cy="39083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CD69974-08E9-9496-1689-76467BBB2251}"/>
              </a:ext>
            </a:extLst>
          </p:cNvPr>
          <p:cNvSpPr txBox="1"/>
          <p:nvPr/>
        </p:nvSpPr>
        <p:spPr>
          <a:xfrm>
            <a:off x="6112328" y="1595425"/>
            <a:ext cx="1725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先翻到法文，再翻回英文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182CD87-9D2A-5CAD-87AD-172C39019F7C}"/>
              </a:ext>
            </a:extLst>
          </p:cNvPr>
          <p:cNvSpPr txBox="1"/>
          <p:nvPr/>
        </p:nvSpPr>
        <p:spPr>
          <a:xfrm>
            <a:off x="4482631" y="2888087"/>
            <a:ext cx="2036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使用第二組的結果</a:t>
            </a:r>
            <a:endParaRPr kumimoji="1" lang="en-US" altLang="zh-TW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先翻到法文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再翻回英文原句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62D8454-BE87-1A76-8306-65C8777DC7AF}"/>
              </a:ext>
            </a:extLst>
          </p:cNvPr>
          <p:cNvSpPr txBox="1"/>
          <p:nvPr/>
        </p:nvSpPr>
        <p:spPr>
          <a:xfrm>
            <a:off x="8779329" y="1595425"/>
            <a:ext cx="1596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先翻到德文，再翻回英文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B6E8114-5D4E-18AB-CE33-C16069DCA4FD}"/>
              </a:ext>
            </a:extLst>
          </p:cNvPr>
          <p:cNvSpPr txBox="1"/>
          <p:nvPr/>
        </p:nvSpPr>
        <p:spPr>
          <a:xfrm>
            <a:off x="7157006" y="2888087"/>
            <a:ext cx="2036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使用第四組的結果</a:t>
            </a:r>
            <a:endParaRPr kumimoji="1" lang="en-US" altLang="zh-TW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先翻到德文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再翻回英文原句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DE95B85-BD91-D7DF-67B6-8EF30D873D10}"/>
              </a:ext>
            </a:extLst>
          </p:cNvPr>
          <p:cNvSpPr txBox="1"/>
          <p:nvPr/>
        </p:nvSpPr>
        <p:spPr>
          <a:xfrm>
            <a:off x="653143" y="4026243"/>
            <a:ext cx="3513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符號提醒：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跟波浪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z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都是同語言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圓角矩形 11">
                <a:extLst>
                  <a:ext uri="{FF2B5EF4-FFF2-40B4-BE49-F238E27FC236}">
                    <a16:creationId xmlns:a16="http://schemas.microsoft.com/office/drawing/2014/main" id="{B2923EE7-7092-1881-22FF-35DE428214E2}"/>
                  </a:ext>
                </a:extLst>
              </p:cNvPr>
              <p:cNvSpPr/>
              <p:nvPr/>
            </p:nvSpPr>
            <p:spPr>
              <a:xfrm>
                <a:off x="4249554" y="5205072"/>
                <a:ext cx="1742940" cy="45267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kumimoji="1"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圓角矩形 11">
                <a:extLst>
                  <a:ext uri="{FF2B5EF4-FFF2-40B4-BE49-F238E27FC236}">
                    <a16:creationId xmlns:a16="http://schemas.microsoft.com/office/drawing/2014/main" id="{B2923EE7-7092-1881-22FF-35DE428214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554" y="5205072"/>
                <a:ext cx="1742940" cy="45267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DF9D932D-EA36-DABF-B4EE-FF14AD586F64}"/>
                  </a:ext>
                </a:extLst>
              </p:cNvPr>
              <p:cNvSpPr/>
              <p:nvPr/>
            </p:nvSpPr>
            <p:spPr>
              <a:xfrm>
                <a:off x="1613486" y="5205072"/>
                <a:ext cx="1742940" cy="452674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DF9D932D-EA36-DABF-B4EE-FF14AD586F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486" y="5205072"/>
                <a:ext cx="1742940" cy="45267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圓角矩形 13">
            <a:extLst>
              <a:ext uri="{FF2B5EF4-FFF2-40B4-BE49-F238E27FC236}">
                <a16:creationId xmlns:a16="http://schemas.microsoft.com/office/drawing/2014/main" id="{41AC002E-83F1-6C8D-5A69-31383A84BBDA}"/>
              </a:ext>
            </a:extLst>
          </p:cNvPr>
          <p:cNvSpPr/>
          <p:nvPr/>
        </p:nvSpPr>
        <p:spPr>
          <a:xfrm>
            <a:off x="3439561" y="5205072"/>
            <a:ext cx="726858" cy="45267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[SEP]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3C45893B-CBA1-D3DF-2763-38ECD6D43FA7}"/>
              </a:ext>
            </a:extLst>
          </p:cNvPr>
          <p:cNvSpPr/>
          <p:nvPr/>
        </p:nvSpPr>
        <p:spPr>
          <a:xfrm>
            <a:off x="803493" y="5205072"/>
            <a:ext cx="726858" cy="45267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[CLS]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2FEE0C4A-2AA4-C976-4C23-86B8C2F2A1FF}"/>
              </a:ext>
            </a:extLst>
          </p:cNvPr>
          <p:cNvSpPr/>
          <p:nvPr/>
        </p:nvSpPr>
        <p:spPr>
          <a:xfrm>
            <a:off x="6075629" y="5205072"/>
            <a:ext cx="726858" cy="45267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[SEP]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2B581DA6-2AE8-8011-8106-7255E298B143}"/>
              </a:ext>
            </a:extLst>
          </p:cNvPr>
          <p:cNvCxnSpPr>
            <a:cxnSpLocks/>
          </p:cNvCxnSpPr>
          <p:nvPr/>
        </p:nvCxnSpPr>
        <p:spPr>
          <a:xfrm>
            <a:off x="6876875" y="5434566"/>
            <a:ext cx="54696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77FD4FAC-4A6E-A8D6-011F-6089AE80285F}"/>
              </a:ext>
            </a:extLst>
          </p:cNvPr>
          <p:cNvSpPr/>
          <p:nvPr/>
        </p:nvSpPr>
        <p:spPr>
          <a:xfrm>
            <a:off x="7498230" y="5104687"/>
            <a:ext cx="1360170" cy="65344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BERT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51086289-1D57-EEBC-261E-B5C8F30FF6A6}"/>
              </a:ext>
            </a:extLst>
          </p:cNvPr>
          <p:cNvCxnSpPr>
            <a:cxnSpLocks/>
          </p:cNvCxnSpPr>
          <p:nvPr/>
        </p:nvCxnSpPr>
        <p:spPr>
          <a:xfrm>
            <a:off x="8919678" y="5450493"/>
            <a:ext cx="54696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圖片 20">
            <a:extLst>
              <a:ext uri="{FF2B5EF4-FFF2-40B4-BE49-F238E27FC236}">
                <a16:creationId xmlns:a16="http://schemas.microsoft.com/office/drawing/2014/main" id="{8A5A7D7D-C5FB-72A7-FAC6-4D9BFE97D2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88" r="68306"/>
          <a:stretch/>
        </p:blipFill>
        <p:spPr>
          <a:xfrm>
            <a:off x="9563196" y="5248400"/>
            <a:ext cx="809993" cy="39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C518A6-6422-9CC5-EAF2-5D949F587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Task 5 and Task 6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F0E8D4-1394-CC62-2459-26FEAC89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4B06751-0D4C-DF57-91C3-6D44A8AC7D82}"/>
              </a:ext>
            </a:extLst>
          </p:cNvPr>
          <p:cNvSpPr txBox="1"/>
          <p:nvPr/>
        </p:nvSpPr>
        <p:spPr>
          <a:xfrm>
            <a:off x="653142" y="1749469"/>
            <a:ext cx="10918371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b="1" dirty="0"/>
              <a:t>Textual Entailment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We report the probability of three labels: </a:t>
            </a:r>
            <a:r>
              <a:rPr kumimoji="1" lang="en" altLang="zh-TW" sz="2400" dirty="0">
                <a:solidFill>
                  <a:srgbClr val="FF0000"/>
                </a:solidFill>
              </a:rPr>
              <a:t>Entail</a:t>
            </a:r>
            <a:r>
              <a:rPr kumimoji="1" lang="en" altLang="zh-TW" sz="2400" dirty="0"/>
              <a:t>, </a:t>
            </a:r>
            <a:r>
              <a:rPr kumimoji="1" lang="en" altLang="zh-TW" sz="2400" dirty="0">
                <a:solidFill>
                  <a:srgbClr val="FF0000"/>
                </a:solidFill>
              </a:rPr>
              <a:t>Contradict</a:t>
            </a:r>
            <a:r>
              <a:rPr kumimoji="1" lang="en" altLang="zh-TW" sz="2400" dirty="0"/>
              <a:t>, and </a:t>
            </a:r>
            <a:r>
              <a:rPr kumimoji="1" lang="en" altLang="zh-TW" sz="2400" dirty="0">
                <a:solidFill>
                  <a:srgbClr val="FF0000"/>
                </a:solidFill>
              </a:rPr>
              <a:t>Neutral</a:t>
            </a:r>
            <a:r>
              <a:rPr kumimoji="1" lang="en" altLang="zh-TW" sz="2400" dirty="0"/>
              <a:t>, using BERT fine-tuned on the MNLI dataset.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b="1" dirty="0"/>
              <a:t>Backtranslation flag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A </a:t>
            </a:r>
            <a:r>
              <a:rPr kumimoji="1" lang="en" altLang="zh-TW" sz="2400" dirty="0">
                <a:solidFill>
                  <a:srgbClr val="FF0000"/>
                </a:solidFill>
              </a:rPr>
              <a:t>Boolean</a:t>
            </a:r>
            <a:r>
              <a:rPr kumimoji="1" lang="en" altLang="zh-TW" sz="2400" dirty="0"/>
              <a:t> that indicates whether the perturbation was generated with </a:t>
            </a:r>
            <a:r>
              <a:rPr kumimoji="1" lang="en" altLang="zh-TW" sz="2400" u="sng" dirty="0"/>
              <a:t>backtranslation</a:t>
            </a:r>
            <a:r>
              <a:rPr kumimoji="1" lang="en" altLang="zh-TW" sz="2400" dirty="0"/>
              <a:t> or with </a:t>
            </a:r>
            <a:r>
              <a:rPr kumimoji="1" lang="en" altLang="zh-TW" sz="2400" u="sng" dirty="0"/>
              <a:t>mask-filling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例如替換 </a:t>
            </a:r>
            <a:r>
              <a:rPr kumimoji="1" lang="en-US" altLang="zh-TW" sz="2400" dirty="0"/>
              <a:t>tokens)</a:t>
            </a:r>
            <a:r>
              <a:rPr kumimoji="1" lang="en" altLang="zh-TW" sz="2400" dirty="0"/>
              <a:t>.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754886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6B3D10-B69C-1328-A9B5-F690C2352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NLI </a:t>
            </a:r>
            <a:r>
              <a:rPr kumimoji="1" lang="zh-TW" altLang="en-US" dirty="0"/>
              <a:t>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CE86FA-AA93-A794-B773-C2AF2E430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zh-TW" altLang="en-US" dirty="0"/>
              <a:t>前提 </a:t>
            </a:r>
            <a:r>
              <a:rPr kumimoji="1" lang="en-US" altLang="zh-TW" dirty="0"/>
              <a:t>(premise)</a:t>
            </a:r>
            <a:r>
              <a:rPr kumimoji="1" lang="zh-TW" altLang="en-US" dirty="0"/>
              <a:t>：小明昨天在台北的咖啡廳買了一杯拿鐵</a:t>
            </a:r>
            <a:r>
              <a:rPr kumimoji="1" lang="en-US" altLang="zh-TW" dirty="0"/>
              <a:t>,</a:t>
            </a:r>
            <a:r>
              <a:rPr kumimoji="1" lang="zh-TW" altLang="en-US" dirty="0"/>
              <a:t>坐在窗邊看書看了兩個小時。</a:t>
            </a:r>
            <a:endParaRPr kumimoji="1"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4D9239-2CE2-9177-86AF-8D201448E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53</a:t>
            </a:fld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425EEDB-6C3A-BE0D-0098-5C3DD2460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297757"/>
              </p:ext>
            </p:extLst>
          </p:nvPr>
        </p:nvGraphicFramePr>
        <p:xfrm>
          <a:off x="2032000" y="2910605"/>
          <a:ext cx="8128000" cy="184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4789114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61581860"/>
                    </a:ext>
                  </a:extLst>
                </a:gridCol>
              </a:tblGrid>
              <a:tr h="460616">
                <a:tc>
                  <a:txBody>
                    <a:bodyPr/>
                    <a:lstStyle/>
                    <a:p>
                      <a:r>
                        <a:rPr lang="en" altLang="zh-TW" dirty="0"/>
                        <a:t>Hypothesis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dirty="0"/>
                        <a:t>Label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474150"/>
                  </a:ext>
                </a:extLst>
              </a:tr>
              <a:tr h="460616">
                <a:tc>
                  <a:txBody>
                    <a:bodyPr/>
                    <a:lstStyle/>
                    <a:p>
                      <a:r>
                        <a:rPr lang="zh-TW" altLang="en-US" dirty="0"/>
                        <a:t>小明昨天喝了咖啡。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Entailment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57610"/>
                  </a:ext>
                </a:extLst>
              </a:tr>
              <a:tr h="460616">
                <a:tc>
                  <a:txBody>
                    <a:bodyPr/>
                    <a:lstStyle/>
                    <a:p>
                      <a:r>
                        <a:rPr lang="zh-TW" altLang="en-US" dirty="0"/>
                        <a:t>小明昨天在高雄。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Contradiction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673840"/>
                  </a:ext>
                </a:extLst>
              </a:tr>
              <a:tr h="460616">
                <a:tc>
                  <a:txBody>
                    <a:bodyPr/>
                    <a:lstStyle/>
                    <a:p>
                      <a:r>
                        <a:rPr lang="zh-TW" altLang="en-US" dirty="0"/>
                        <a:t>小明昨天讀的是一本小說。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dirty="0"/>
                        <a:t>Neutral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357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83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94A54B-F7D4-5647-A05C-0123FF8CF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BLEURT</a:t>
            </a:r>
            <a:r>
              <a:rPr kumimoji="1" lang="en-US" altLang="zh-TW" dirty="0"/>
              <a:t> – Final Step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D5C75F-81B6-F180-5A13-3644DFBEC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C86A12F-A350-C53A-821A-8056CF12C12B}"/>
              </a:ext>
            </a:extLst>
          </p:cNvPr>
          <p:cNvSpPr txBox="1"/>
          <p:nvPr/>
        </p:nvSpPr>
        <p:spPr>
          <a:xfrm>
            <a:off x="653143" y="1702701"/>
            <a:ext cx="10918371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000" dirty="0"/>
              <a:t>Step 4: Fine-tune the model (trained from Step 3) on the </a:t>
            </a:r>
            <a:r>
              <a:rPr kumimoji="1" lang="en-US" altLang="zh-TW" sz="2000" dirty="0">
                <a:solidFill>
                  <a:srgbClr val="FF0000"/>
                </a:solidFill>
              </a:rPr>
              <a:t>&lt;Reference, Candidate,</a:t>
            </a:r>
            <a:r>
              <a:rPr kumimoji="1" lang="zh-TW" altLang="en-US" sz="2000" dirty="0">
                <a:solidFill>
                  <a:srgbClr val="FF0000"/>
                </a:solidFill>
              </a:rPr>
              <a:t> </a:t>
            </a:r>
            <a:r>
              <a:rPr kumimoji="1" lang="en-US" altLang="zh-TW" sz="2000" dirty="0">
                <a:solidFill>
                  <a:srgbClr val="FF0000"/>
                </a:solidFill>
              </a:rPr>
              <a:t>Rating&gt; data</a:t>
            </a:r>
            <a:r>
              <a:rPr kumimoji="1" lang="en-US" altLang="zh-TW" sz="2000" dirty="0"/>
              <a:t> using the regression loss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(Mean squared error)</a:t>
            </a:r>
          </a:p>
          <a:p>
            <a:pPr>
              <a:lnSpc>
                <a:spcPct val="150000"/>
              </a:lnSpc>
            </a:pPr>
            <a:r>
              <a:rPr kumimoji="1" lang="en-US" altLang="zh-TW" sz="2000" dirty="0"/>
              <a:t>The </a:t>
            </a:r>
            <a:r>
              <a:rPr kumimoji="1" lang="en-US" altLang="zh-TW" sz="2000" dirty="0">
                <a:solidFill>
                  <a:srgbClr val="FF0000"/>
                </a:solidFill>
              </a:rPr>
              <a:t>&lt;Reference, Candidate, Rating&gt; data </a:t>
            </a:r>
            <a:r>
              <a:rPr kumimoji="1" lang="en-US" altLang="zh-TW" sz="2000" dirty="0"/>
              <a:t>include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WMT (machine translation task)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 err="1"/>
              <a:t>WebNLG</a:t>
            </a:r>
            <a:r>
              <a:rPr kumimoji="1" lang="en-US" altLang="zh-TW" sz="2000" dirty="0"/>
              <a:t> (for general text generation)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b="1" dirty="0"/>
              <a:t>semantics</a:t>
            </a:r>
            <a:r>
              <a:rPr kumimoji="1" lang="en" altLang="zh-TW" sz="2000" dirty="0"/>
              <a:t>, </a:t>
            </a:r>
            <a:r>
              <a:rPr kumimoji="1" lang="en" altLang="zh-TW" sz="2000" b="1" dirty="0"/>
              <a:t>grammar</a:t>
            </a:r>
            <a:r>
              <a:rPr kumimoji="1" lang="en" altLang="zh-TW" sz="2000" dirty="0"/>
              <a:t>, and </a:t>
            </a:r>
            <a:r>
              <a:rPr kumimoji="1" lang="en" altLang="zh-TW" sz="2000" b="1" dirty="0"/>
              <a:t>fluency</a:t>
            </a:r>
            <a:endParaRPr kumimoji="1" lang="zh-TW" altLang="en-US" sz="20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276843-2DCD-CECC-E2BE-34A2E0BAC5E5}"/>
              </a:ext>
            </a:extLst>
          </p:cNvPr>
          <p:cNvSpPr txBox="1"/>
          <p:nvPr/>
        </p:nvSpPr>
        <p:spPr>
          <a:xfrm>
            <a:off x="8565080" y="2740677"/>
            <a:ext cx="17621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2400" dirty="0">
                <a:ea typeface="Microsoft JhengHei" panose="020B0604030504040204" pitchFamily="34" charset="-120"/>
              </a:rPr>
              <a:t>人類的打分</a:t>
            </a:r>
            <a:endParaRPr lang="zh-TW" altLang="en-US" sz="2400" dirty="0"/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549F85AA-CAF0-1765-751F-D430A202A092}"/>
              </a:ext>
            </a:extLst>
          </p:cNvPr>
          <p:cNvCxnSpPr/>
          <p:nvPr/>
        </p:nvCxnSpPr>
        <p:spPr>
          <a:xfrm flipV="1">
            <a:off x="9410700" y="2181225"/>
            <a:ext cx="0" cy="5143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5216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4CD5B3-86A1-E553-E651-09F05852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Summary of BLEURT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630D88-DCD3-5C78-6CAC-F26A0D915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C306285-D415-5637-1CDF-FA30D89999C7}"/>
              </a:ext>
            </a:extLst>
          </p:cNvPr>
          <p:cNvSpPr txBox="1"/>
          <p:nvPr/>
        </p:nvSpPr>
        <p:spPr>
          <a:xfrm>
            <a:off x="653143" y="1805940"/>
            <a:ext cx="10790437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This approach uses (continual) pre-training and fine-tuning to create a learned evaluation metric for machine translation and general NLG.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According to the paper, BLEURT is better aligned to human ratings then </a:t>
            </a:r>
            <a:r>
              <a:rPr kumimoji="1" lang="en-US" altLang="zh-TW" sz="2400" dirty="0" err="1"/>
              <a:t>BERTScore</a:t>
            </a:r>
            <a:r>
              <a:rPr kumimoji="1" lang="en-US" altLang="zh-TW" sz="24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BLEURT should work for text summarization, but the authors did not test it.</a:t>
            </a:r>
            <a:endParaRPr kumimoji="1" lang="zh-TW" altLang="en-US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2E4D9DA-D94F-5BB9-1EAE-0E55A3E26564}"/>
              </a:ext>
            </a:extLst>
          </p:cNvPr>
          <p:cNvSpPr txBox="1"/>
          <p:nvPr/>
        </p:nvSpPr>
        <p:spPr>
          <a:xfrm>
            <a:off x="2383458" y="6271079"/>
            <a:ext cx="7425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 err="1"/>
              <a:t>Sellam</a:t>
            </a:r>
            <a:r>
              <a:rPr kumimoji="1" lang="en" altLang="zh-TW" sz="1200" dirty="0"/>
              <a:t>, Thibault, </a:t>
            </a:r>
            <a:r>
              <a:rPr kumimoji="1" lang="en" altLang="zh-TW" sz="1200" dirty="0" err="1"/>
              <a:t>Dipanjan</a:t>
            </a:r>
            <a:r>
              <a:rPr kumimoji="1" lang="en" altLang="zh-TW" sz="1200" dirty="0"/>
              <a:t> Das, and Ankur Parikh. "BLEURT: Learning Robust Metrics for Text Generation." Proceedings of the 58th Annual Meeting of the Association for Computational Linguistics. 2020.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41415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318B88-A34E-1239-416F-66B59AFCE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GPTScore</a:t>
            </a:r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8B13996-5D2A-5C3D-5994-8CA22FA41D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zh-TW" altLang="en-US" dirty="0"/>
                  <a:t>給定模型</a:t>
                </a:r>
                <a:r>
                  <a:rPr kumimoji="1" lang="en-US" altLang="zh-TW" dirty="0"/>
                  <a:t> (GPT-3)</a:t>
                </a:r>
                <a:r>
                  <a:rPr kumimoji="1" lang="zh-TW" altLang="en-US" dirty="0"/>
                  <a:t>：</a:t>
                </a:r>
                <a:endParaRPr kumimoji="1" lang="en-US" altLang="zh-TW" dirty="0"/>
              </a:p>
              <a:p>
                <a:pPr>
                  <a:buFont typeface="Wingdings" pitchFamily="2" charset="2"/>
                  <a:buChar char="u"/>
                </a:pPr>
                <a:r>
                  <a:rPr kumimoji="1" lang="zh-TW" altLang="en-US" dirty="0"/>
                  <a:t>任務敘述</a:t>
                </a:r>
                <a:endParaRPr kumimoji="1" lang="en-US" altLang="zh-TW" dirty="0"/>
              </a:p>
              <a:p>
                <a:pPr>
                  <a:buFont typeface="Wingdings" pitchFamily="2" charset="2"/>
                  <a:buChar char="u"/>
                </a:pPr>
                <a:r>
                  <a:rPr kumimoji="1" lang="zh-TW" altLang="en-US" dirty="0"/>
                  <a:t>任務情境 </a:t>
                </a:r>
                <a:r>
                  <a:rPr kumimoji="1" lang="en-US" altLang="zh-TW" dirty="0"/>
                  <a:t>(e.g., </a:t>
                </a:r>
                <a:r>
                  <a:rPr kumimoji="1" lang="zh-TW" altLang="en-US" dirty="0"/>
                  <a:t>流暢度</a:t>
                </a:r>
                <a:r>
                  <a:rPr kumimoji="1" lang="en-US" altLang="zh-TW" dirty="0"/>
                  <a:t>)</a:t>
                </a:r>
              </a:p>
              <a:p>
                <a:pPr>
                  <a:buFont typeface="Wingdings" pitchFamily="2" charset="2"/>
                  <a:buChar char="u"/>
                </a:pPr>
                <a:r>
                  <a:rPr kumimoji="1" lang="zh-TW" altLang="en-US" dirty="0"/>
                  <a:t>輸入文字 </a:t>
                </a:r>
                <a:r>
                  <a:rPr kumimoji="1" lang="en-US" altLang="zh-TW" dirty="0"/>
                  <a:t>(e.g., </a:t>
                </a:r>
                <a:r>
                  <a:rPr kumimoji="1" lang="zh-TW" altLang="en-US" dirty="0"/>
                  <a:t>翻譯任務的來源文字</a:t>
                </a:r>
                <a:r>
                  <a:rPr kumimoji="1" lang="en-US" altLang="zh-TW" dirty="0"/>
                  <a:t>)</a:t>
                </a:r>
              </a:p>
              <a:p>
                <a:pPr>
                  <a:buFont typeface="Wingdings" pitchFamily="2" charset="2"/>
                  <a:buChar char="u"/>
                </a:pPr>
                <a:r>
                  <a:rPr kumimoji="1" lang="zh-TW" altLang="en-US" dirty="0"/>
                  <a:t>現在要評估的文字 </a:t>
                </a:r>
                <a:r>
                  <a:rPr kumimoji="1" lang="en-US" altLang="zh-TW" dirty="0"/>
                  <a:t>(e.g., </a:t>
                </a:r>
                <a:r>
                  <a:rPr kumimoji="1" lang="zh-TW" altLang="en-US" dirty="0"/>
                  <a:t>翻譯任務的目標文字</a:t>
                </a:r>
                <a:r>
                  <a:rPr kumimoji="1" lang="en-US" altLang="zh-TW" dirty="0"/>
                  <a:t>)</a:t>
                </a:r>
              </a:p>
              <a:p>
                <a:pPr marL="0" indent="0">
                  <a:buNone/>
                </a:pPr>
                <a:endParaRPr kumimoji="1" lang="en-US" altLang="zh-TW" dirty="0"/>
              </a:p>
              <a:p>
                <a:pPr marL="0" indent="0">
                  <a:buNone/>
                </a:pPr>
                <a:r>
                  <a:rPr kumimoji="1" lang="zh-TW" altLang="en-US" sz="2400" dirty="0"/>
                  <a:t>計算模型生成「現在要評估的文字」的 </a:t>
                </a:r>
                <a:r>
                  <a:rPr kumimoji="1" lang="en-US" altLang="zh-TW" sz="2400" dirty="0"/>
                  <a:t>log</a:t>
                </a:r>
                <a:r>
                  <a:rPr kumimoji="1" lang="zh-TW" altLang="en-US" sz="2400" dirty="0"/>
                  <a:t> 機率值總和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TW" altLang="en-US" sz="24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zh-TW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zh-TW" altLang="en-US" sz="24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  <m:r>
                                      <a:rPr lang="zh-TW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kumimoji="1" lang="en-US" altLang="zh-TW" sz="2400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8B13996-5D2A-5C3D-5994-8CA22FA41D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2" t="-1572" b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C83405-C619-CBD1-41DD-AD4630459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EDD5C24-207F-F03A-4F08-B46D6F6438EC}"/>
              </a:ext>
            </a:extLst>
          </p:cNvPr>
          <p:cNvSpPr txBox="1"/>
          <p:nvPr/>
        </p:nvSpPr>
        <p:spPr>
          <a:xfrm>
            <a:off x="6963681" y="1479119"/>
            <a:ext cx="4961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Fu, </a:t>
            </a:r>
            <a:r>
              <a:rPr kumimoji="1" lang="en" altLang="zh-TW" sz="1200" dirty="0" err="1"/>
              <a:t>Jinlan</a:t>
            </a:r>
            <a:r>
              <a:rPr kumimoji="1" lang="en" altLang="zh-TW" sz="1200" dirty="0"/>
              <a:t>, et al. "</a:t>
            </a:r>
            <a:r>
              <a:rPr kumimoji="1" lang="en" altLang="zh-TW" sz="1200" dirty="0" err="1"/>
              <a:t>Gptscore</a:t>
            </a:r>
            <a:r>
              <a:rPr kumimoji="1" lang="en" altLang="zh-TW" sz="1200" dirty="0"/>
              <a:t>: Evaluate as you desire." NAACL 2024.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9841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0E73AE-6C76-DAF2-9521-19F75469F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GPTRank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5BA63B-43CF-2A70-C677-C136F7C2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EDCBB350-A548-4BED-5C7C-4E7F2F83EBC6}"/>
              </a:ext>
            </a:extLst>
          </p:cNvPr>
          <p:cNvSpPr/>
          <p:nvPr/>
        </p:nvSpPr>
        <p:spPr>
          <a:xfrm>
            <a:off x="3567413" y="872796"/>
            <a:ext cx="4672229" cy="219350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dirty="0">
                <a:solidFill>
                  <a:schemeClr val="tx1"/>
                </a:solidFill>
              </a:rPr>
              <a:t>You will be given a news article along</a:t>
            </a:r>
          </a:p>
          <a:p>
            <a:r>
              <a:rPr kumimoji="1" lang="en-US" altLang="zh-TW" dirty="0">
                <a:solidFill>
                  <a:schemeClr val="tx1"/>
                </a:solidFill>
              </a:rPr>
              <a:t>with two summaries. Please compare</a:t>
            </a:r>
          </a:p>
          <a:p>
            <a:r>
              <a:rPr kumimoji="1" lang="en-US" altLang="zh-TW" dirty="0">
                <a:solidFill>
                  <a:schemeClr val="tx1"/>
                </a:solidFill>
              </a:rPr>
              <a:t>the quality of these two summaries and</a:t>
            </a:r>
          </a:p>
          <a:p>
            <a:r>
              <a:rPr kumimoji="1" lang="en-US" altLang="zh-TW" dirty="0">
                <a:solidFill>
                  <a:schemeClr val="tx1"/>
                </a:solidFill>
              </a:rPr>
              <a:t>pick the one that is better (there can be a</a:t>
            </a:r>
          </a:p>
          <a:p>
            <a:r>
              <a:rPr kumimoji="1" lang="en-US" altLang="zh-TW" dirty="0">
                <a:solidFill>
                  <a:schemeClr val="tx1"/>
                </a:solidFill>
              </a:rPr>
              <a:t>tie). First you will give an explanation of</a:t>
            </a:r>
          </a:p>
          <a:p>
            <a:r>
              <a:rPr kumimoji="1" lang="en-US" altLang="zh-TW" dirty="0">
                <a:solidFill>
                  <a:schemeClr val="tx1"/>
                </a:solidFill>
              </a:rPr>
              <a:t>your decision then you will provide your</a:t>
            </a:r>
          </a:p>
          <a:p>
            <a:r>
              <a:rPr kumimoji="1" lang="en-US" altLang="zh-TW" dirty="0">
                <a:solidFill>
                  <a:schemeClr val="tx1"/>
                </a:solidFill>
              </a:rPr>
              <a:t>decision in the format of 1 or 2 or tie.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5C0B8F0-EE42-BCF0-52AC-A99F4CAD6A53}"/>
              </a:ext>
            </a:extLst>
          </p:cNvPr>
          <p:cNvSpPr txBox="1"/>
          <p:nvPr/>
        </p:nvSpPr>
        <p:spPr>
          <a:xfrm>
            <a:off x="8295355" y="1845181"/>
            <a:ext cx="508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🙋</a:t>
            </a:r>
            <a:endParaRPr kumimoji="1" lang="zh-TW" altLang="en-US" sz="2400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0FCB0C53-20A5-C487-D6BE-7D18EF1093A3}"/>
              </a:ext>
            </a:extLst>
          </p:cNvPr>
          <p:cNvSpPr/>
          <p:nvPr/>
        </p:nvSpPr>
        <p:spPr>
          <a:xfrm>
            <a:off x="3567413" y="3183998"/>
            <a:ext cx="4672229" cy="262702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dirty="0">
                <a:solidFill>
                  <a:schemeClr val="tx1"/>
                </a:solidFill>
              </a:rPr>
              <a:t>Response format:</a:t>
            </a:r>
          </a:p>
          <a:p>
            <a:r>
              <a:rPr kumimoji="1" lang="en-US" altLang="zh-TW" dirty="0">
                <a:solidFill>
                  <a:schemeClr val="tx1"/>
                </a:solidFill>
              </a:rPr>
              <a:t>Explanation: “Your explanation here”.</a:t>
            </a:r>
          </a:p>
          <a:p>
            <a:r>
              <a:rPr kumimoji="1" lang="en-US" altLang="zh-TW" dirty="0">
                <a:solidFill>
                  <a:schemeClr val="tx1"/>
                </a:solidFill>
              </a:rPr>
              <a:t>Decision: 1 or 2 or tie.</a:t>
            </a:r>
          </a:p>
          <a:p>
            <a:r>
              <a:rPr kumimoji="1" lang="en-US" altLang="zh-TW" dirty="0">
                <a:solidFill>
                  <a:schemeClr val="tx1"/>
                </a:solidFill>
              </a:rPr>
              <a:t>Here’s the article:</a:t>
            </a:r>
          </a:p>
          <a:p>
            <a:r>
              <a:rPr kumimoji="1" lang="en-US" altLang="zh-TW" dirty="0">
                <a:solidFill>
                  <a:schemeClr val="tx1"/>
                </a:solidFill>
              </a:rPr>
              <a:t>{{Article}}</a:t>
            </a:r>
          </a:p>
          <a:p>
            <a:r>
              <a:rPr kumimoji="1" lang="en-US" altLang="zh-TW" dirty="0">
                <a:solidFill>
                  <a:schemeClr val="tx1"/>
                </a:solidFill>
              </a:rPr>
              <a:t>Summary 1:</a:t>
            </a:r>
          </a:p>
          <a:p>
            <a:r>
              <a:rPr kumimoji="1" lang="en-US" altLang="zh-TW" dirty="0">
                <a:solidFill>
                  <a:schemeClr val="tx1"/>
                </a:solidFill>
              </a:rPr>
              <a:t>{{Summary 1}}</a:t>
            </a:r>
          </a:p>
          <a:p>
            <a:r>
              <a:rPr kumimoji="1" lang="en-US" altLang="zh-TW" dirty="0">
                <a:solidFill>
                  <a:schemeClr val="tx1"/>
                </a:solidFill>
              </a:rPr>
              <a:t>Summary 2:</a:t>
            </a:r>
          </a:p>
          <a:p>
            <a:r>
              <a:rPr kumimoji="1" lang="en-US" altLang="zh-TW" dirty="0">
                <a:solidFill>
                  <a:schemeClr val="tx1"/>
                </a:solidFill>
              </a:rPr>
              <a:t>{{Summary 2}}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pic>
        <p:nvPicPr>
          <p:cNvPr id="8" name="圖片 7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id="{EEE17B4A-FAC8-5529-0923-0E5C7FACA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405" y="6082073"/>
            <a:ext cx="443329" cy="447947"/>
          </a:xfrm>
          <a:prstGeom prst="rect">
            <a:avLst/>
          </a:prstGeom>
        </p:spPr>
      </p:pic>
      <p:sp>
        <p:nvSpPr>
          <p:cNvPr id="9" name="圓角矩形 8">
            <a:extLst>
              <a:ext uri="{FF2B5EF4-FFF2-40B4-BE49-F238E27FC236}">
                <a16:creationId xmlns:a16="http://schemas.microsoft.com/office/drawing/2014/main" id="{A5B19783-6175-C782-AD8E-7148B44FC284}"/>
              </a:ext>
            </a:extLst>
          </p:cNvPr>
          <p:cNvSpPr/>
          <p:nvPr/>
        </p:nvSpPr>
        <p:spPr>
          <a:xfrm>
            <a:off x="2671338" y="6040576"/>
            <a:ext cx="2831691" cy="53094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...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18B6BFB-5814-18C3-FBEE-DDA64B739B8B}"/>
              </a:ext>
            </a:extLst>
          </p:cNvPr>
          <p:cNvSpPr txBox="1"/>
          <p:nvPr/>
        </p:nvSpPr>
        <p:spPr>
          <a:xfrm>
            <a:off x="9007120" y="743173"/>
            <a:ext cx="25643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dirty="0"/>
              <a:t>https://</a:t>
            </a:r>
            <a:r>
              <a:rPr lang="en" altLang="zh-TW" dirty="0" err="1"/>
              <a:t>aclanthology.org</a:t>
            </a:r>
            <a:r>
              <a:rPr lang="en" altLang="zh-TW" dirty="0"/>
              <a:t>/2024.naacl-long.478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228093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8F36B-F985-5F1E-A8BB-49B805C21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AA2A8F1-5A19-F598-4500-1550E7C94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18606"/>
            <a:ext cx="3200400" cy="2286000"/>
          </a:xfrm>
        </p:spPr>
        <p:txBody>
          <a:bodyPr>
            <a:normAutofit/>
          </a:bodyPr>
          <a:lstStyle/>
          <a:p>
            <a:r>
              <a:rPr lang="en-US" altLang="zh-TW" sz="4400" dirty="0"/>
              <a:t>Safety</a:t>
            </a:r>
            <a:endParaRPr lang="zh-TW" altLang="en-US" sz="4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79EC7A-F483-EB48-3A6D-ABC189D5F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85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52A645-1D17-C035-3A04-8EF3A7FD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49C3-EFAD-D94E-864A-24510FCA3FE0}" type="slidenum">
              <a:rPr kumimoji="1" lang="zh-TW" altLang="en-US" smtClean="0"/>
              <a:t>59</a:t>
            </a:fld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7D96219-B686-82C6-7860-DEBDCEF4F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800" dirty="0">
                <a:solidFill>
                  <a:schemeClr val="tx1"/>
                </a:solidFill>
              </a:rPr>
              <a:t>[Recap] RLHF</a:t>
            </a:r>
            <a:r>
              <a:rPr kumimoji="1" lang="zh-TW" altLang="en-US" sz="4800" dirty="0">
                <a:solidFill>
                  <a:schemeClr val="tx1"/>
                </a:solidFill>
              </a:rPr>
              <a:t> 的進行過程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EE785D6-BA7F-3F3D-D121-805180561CD0}"/>
              </a:ext>
            </a:extLst>
          </p:cNvPr>
          <p:cNvSpPr txBox="1"/>
          <p:nvPr/>
        </p:nvSpPr>
        <p:spPr>
          <a:xfrm>
            <a:off x="1033506" y="2859020"/>
            <a:ext cx="1628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" altLang="zh-TW" b="1" dirty="0"/>
              <a:t>Supervised Fine-Tuning</a:t>
            </a:r>
            <a:endParaRPr lang="zh-TW" altLang="en-US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B2362DC-F5C7-D8BE-8B7C-3C3F3806EA5F}"/>
              </a:ext>
            </a:extLst>
          </p:cNvPr>
          <p:cNvSpPr txBox="1"/>
          <p:nvPr/>
        </p:nvSpPr>
        <p:spPr>
          <a:xfrm>
            <a:off x="426027" y="4459793"/>
            <a:ext cx="26189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" altLang="zh-TW" b="1" dirty="0"/>
              <a:t>Reinforcement Learning with Human Feedback (</a:t>
            </a:r>
            <a:r>
              <a:rPr kumimoji="1" lang="en" altLang="zh-TW" b="1" dirty="0">
                <a:solidFill>
                  <a:srgbClr val="FF0000"/>
                </a:solidFill>
              </a:rPr>
              <a:t>RLHF</a:t>
            </a:r>
            <a:r>
              <a:rPr kumimoji="1" lang="en" altLang="zh-TW" b="1" dirty="0"/>
              <a:t>)</a:t>
            </a:r>
            <a:endParaRPr lang="zh-TW" altLang="en-US" b="1" dirty="0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28FDD7F6-E298-DC0E-C274-3D0B84A5D918}"/>
              </a:ext>
            </a:extLst>
          </p:cNvPr>
          <p:cNvSpPr/>
          <p:nvPr/>
        </p:nvSpPr>
        <p:spPr>
          <a:xfrm>
            <a:off x="3017398" y="2800222"/>
            <a:ext cx="1965961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Tell me who is Oppenheimer?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D3E4AFA2-5A59-FBA5-30C5-75DE6772E083}"/>
              </a:ext>
            </a:extLst>
          </p:cNvPr>
          <p:cNvSpPr/>
          <p:nvPr/>
        </p:nvSpPr>
        <p:spPr>
          <a:xfrm>
            <a:off x="5598134" y="2764991"/>
            <a:ext cx="1965960" cy="834390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600" dirty="0">
                <a:solidFill>
                  <a:schemeClr val="tx1"/>
                </a:solidFill>
              </a:rPr>
              <a:t>語言模型</a:t>
            </a:r>
            <a:endParaRPr kumimoji="1"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(e.g., </a:t>
            </a:r>
            <a:r>
              <a:rPr kumimoji="1" lang="en-US" altLang="zh-TW" sz="1600" dirty="0" err="1">
                <a:solidFill>
                  <a:schemeClr val="tx1"/>
                </a:solidFill>
              </a:rPr>
              <a:t>InstructGPT</a:t>
            </a:r>
            <a:r>
              <a:rPr kumimoji="1" lang="en-US" altLang="zh-TW" sz="1600" dirty="0">
                <a:solidFill>
                  <a:schemeClr val="tx1"/>
                </a:solidFill>
              </a:rPr>
              <a:t>)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2DDA9110-3E05-8099-F28B-50950C80FBA5}"/>
              </a:ext>
            </a:extLst>
          </p:cNvPr>
          <p:cNvSpPr/>
          <p:nvPr/>
        </p:nvSpPr>
        <p:spPr>
          <a:xfrm>
            <a:off x="8792144" y="2800222"/>
            <a:ext cx="2170634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Julius Robert Oppenheimer is …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28FC139-E290-46BD-6B72-6FF703ADFC9F}"/>
              </a:ext>
            </a:extLst>
          </p:cNvPr>
          <p:cNvSpPr txBox="1"/>
          <p:nvPr/>
        </p:nvSpPr>
        <p:spPr>
          <a:xfrm>
            <a:off x="8382794" y="2153891"/>
            <a:ext cx="2984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As close to </a:t>
            </a:r>
            <a:r>
              <a:rPr kumimoji="1" lang="en-US" altLang="zh-TW" dirty="0"/>
              <a:t>human-written ground-truths </a:t>
            </a:r>
            <a:r>
              <a:rPr kumimoji="1" lang="en-US" altLang="zh-TW" dirty="0">
                <a:solidFill>
                  <a:srgbClr val="FF0000"/>
                </a:solidFill>
              </a:rPr>
              <a:t>as possible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E93C4B3B-5864-37B0-EA3D-A244F5DD94FD}"/>
              </a:ext>
            </a:extLst>
          </p:cNvPr>
          <p:cNvSpPr/>
          <p:nvPr/>
        </p:nvSpPr>
        <p:spPr>
          <a:xfrm>
            <a:off x="5598134" y="4504265"/>
            <a:ext cx="1965960" cy="834390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600" dirty="0">
                <a:solidFill>
                  <a:schemeClr val="tx1"/>
                </a:solidFill>
              </a:rPr>
              <a:t>語言模型</a:t>
            </a:r>
            <a:endParaRPr kumimoji="1"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(e.g., </a:t>
            </a:r>
            <a:r>
              <a:rPr kumimoji="1" lang="en-US" altLang="zh-TW" sz="1600" dirty="0" err="1">
                <a:solidFill>
                  <a:schemeClr val="tx1"/>
                </a:solidFill>
              </a:rPr>
              <a:t>InstructGPT</a:t>
            </a:r>
            <a:r>
              <a:rPr kumimoji="1" lang="en-US" altLang="zh-TW" sz="1600" dirty="0">
                <a:solidFill>
                  <a:schemeClr val="tx1"/>
                </a:solidFill>
              </a:rPr>
              <a:t>)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9CF54F18-114F-5E47-3388-B570DC8FA7C7}"/>
              </a:ext>
            </a:extLst>
          </p:cNvPr>
          <p:cNvSpPr/>
          <p:nvPr/>
        </p:nvSpPr>
        <p:spPr>
          <a:xfrm>
            <a:off x="3017397" y="4539495"/>
            <a:ext cx="1965961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Tell me who is Oppenheimer?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8917E547-7AFD-D0ED-E45C-A17E29A258B3}"/>
              </a:ext>
            </a:extLst>
          </p:cNvPr>
          <p:cNvSpPr/>
          <p:nvPr/>
        </p:nvSpPr>
        <p:spPr>
          <a:xfrm>
            <a:off x="9034371" y="5236059"/>
            <a:ext cx="1769112" cy="57408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Reward Model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B05220E0-11D2-F1F3-C531-DCF75DEAB595}"/>
              </a:ext>
            </a:extLst>
          </p:cNvPr>
          <p:cNvSpPr/>
          <p:nvPr/>
        </p:nvSpPr>
        <p:spPr>
          <a:xfrm>
            <a:off x="9093984" y="4424695"/>
            <a:ext cx="1649885" cy="488952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Score (Scalar)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B981A80-EB9F-E098-C986-E936B0244D69}"/>
              </a:ext>
            </a:extLst>
          </p:cNvPr>
          <p:cNvSpPr txBox="1"/>
          <p:nvPr/>
        </p:nvSpPr>
        <p:spPr>
          <a:xfrm>
            <a:off x="8792144" y="4036381"/>
            <a:ext cx="230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As high as possible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9" name="肘形接點 18">
            <a:extLst>
              <a:ext uri="{FF2B5EF4-FFF2-40B4-BE49-F238E27FC236}">
                <a16:creationId xmlns:a16="http://schemas.microsoft.com/office/drawing/2014/main" id="{DA986F20-427D-C6A0-15F9-F1EE1C88DEF7}"/>
              </a:ext>
            </a:extLst>
          </p:cNvPr>
          <p:cNvCxnSpPr>
            <a:cxnSpLocks/>
            <a:stCxn id="13" idx="2"/>
            <a:endCxn id="15" idx="1"/>
          </p:cNvCxnSpPr>
          <p:nvPr/>
        </p:nvCxnSpPr>
        <p:spPr>
          <a:xfrm rot="16200000" flipH="1">
            <a:off x="7715519" y="4204249"/>
            <a:ext cx="184447" cy="245325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B8F2F779-9619-6C68-A88E-F965AC12213B}"/>
              </a:ext>
            </a:extLst>
          </p:cNvPr>
          <p:cNvCxnSpPr>
            <a:cxnSpLocks/>
            <a:stCxn id="15" idx="0"/>
            <a:endCxn id="16" idx="2"/>
          </p:cNvCxnSpPr>
          <p:nvPr/>
        </p:nvCxnSpPr>
        <p:spPr>
          <a:xfrm flipV="1">
            <a:off x="9918927" y="4913647"/>
            <a:ext cx="0" cy="3224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96FD90A1-ABA7-7C71-1AA2-D510C7973F7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4983359" y="3182186"/>
            <a:ext cx="614775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7E9067B3-A29B-9439-3B47-7F4C082C8C33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4983358" y="4921460"/>
            <a:ext cx="61477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BAC6BB84-D418-A868-9174-D17903E5FE20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7564094" y="3182186"/>
            <a:ext cx="122805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接點 33">
            <a:extLst>
              <a:ext uri="{FF2B5EF4-FFF2-40B4-BE49-F238E27FC236}">
                <a16:creationId xmlns:a16="http://schemas.microsoft.com/office/drawing/2014/main" id="{C2F8BA38-4201-16D6-5EE8-7460641B8990}"/>
              </a:ext>
            </a:extLst>
          </p:cNvPr>
          <p:cNvCxnSpPr>
            <a:cxnSpLocks/>
            <a:stCxn id="17" idx="1"/>
            <a:endCxn id="13" idx="0"/>
          </p:cNvCxnSpPr>
          <p:nvPr/>
        </p:nvCxnSpPr>
        <p:spPr>
          <a:xfrm rot="10800000" flipV="1">
            <a:off x="6581114" y="4221047"/>
            <a:ext cx="2211030" cy="283218"/>
          </a:xfrm>
          <a:prstGeom prst="bentConnector2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接點 38">
            <a:extLst>
              <a:ext uri="{FF2B5EF4-FFF2-40B4-BE49-F238E27FC236}">
                <a16:creationId xmlns:a16="http://schemas.microsoft.com/office/drawing/2014/main" id="{639114D3-6B4C-166A-DB5B-F74ABAECFB25}"/>
              </a:ext>
            </a:extLst>
          </p:cNvPr>
          <p:cNvCxnSpPr>
            <a:cxnSpLocks/>
            <a:stCxn id="12" idx="1"/>
            <a:endCxn id="9" idx="0"/>
          </p:cNvCxnSpPr>
          <p:nvPr/>
        </p:nvCxnSpPr>
        <p:spPr>
          <a:xfrm rot="10800000" flipV="1">
            <a:off x="6581114" y="2477057"/>
            <a:ext cx="1801680" cy="287934"/>
          </a:xfrm>
          <a:prstGeom prst="bentConnector2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D911DABC-7E2C-76C9-8860-32244B2399DF}"/>
              </a:ext>
            </a:extLst>
          </p:cNvPr>
          <p:cNvSpPr txBox="1"/>
          <p:nvPr/>
        </p:nvSpPr>
        <p:spPr>
          <a:xfrm>
            <a:off x="6472172" y="2175903"/>
            <a:ext cx="1020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Optimize</a:t>
            </a:r>
            <a:endParaRPr kumimoji="1" lang="zh-TW" altLang="en-US" sz="14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ADBE28A-0431-DB80-8839-9A258CB54AFC}"/>
              </a:ext>
            </a:extLst>
          </p:cNvPr>
          <p:cNvSpPr txBox="1"/>
          <p:nvPr/>
        </p:nvSpPr>
        <p:spPr>
          <a:xfrm>
            <a:off x="6472172" y="3933183"/>
            <a:ext cx="1020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Optimize</a:t>
            </a:r>
            <a:endParaRPr kumimoji="1" lang="zh-TW" altLang="en-US" sz="14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365630B7-FDF0-EB17-230C-746EFBF89241}"/>
              </a:ext>
            </a:extLst>
          </p:cNvPr>
          <p:cNvSpPr txBox="1"/>
          <p:nvPr/>
        </p:nvSpPr>
        <p:spPr>
          <a:xfrm>
            <a:off x="3321349" y="2501971"/>
            <a:ext cx="1358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Input Prompt</a:t>
            </a:r>
            <a:endParaRPr kumimoji="1" lang="zh-TW" altLang="en-US" sz="14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AC9A5CC6-29F9-2232-0870-65B8DBFBDFD9}"/>
              </a:ext>
            </a:extLst>
          </p:cNvPr>
          <p:cNvSpPr txBox="1"/>
          <p:nvPr/>
        </p:nvSpPr>
        <p:spPr>
          <a:xfrm>
            <a:off x="3371364" y="4251824"/>
            <a:ext cx="1258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Input Prompt</a:t>
            </a:r>
            <a:endParaRPr kumimoji="1" lang="zh-TW" altLang="en-US" sz="14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64A55741-2FC2-58A4-A089-3BFC949F9D8F}"/>
              </a:ext>
            </a:extLst>
          </p:cNvPr>
          <p:cNvSpPr txBox="1"/>
          <p:nvPr/>
        </p:nvSpPr>
        <p:spPr>
          <a:xfrm>
            <a:off x="1121440" y="6323468"/>
            <a:ext cx="60067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100" dirty="0"/>
              <a:t>Ouyang, Long, et al. "Training language models to follow instructions with human feedback." </a:t>
            </a:r>
            <a:r>
              <a:rPr lang="en" altLang="zh-TW" sz="1100" i="1" dirty="0"/>
              <a:t>Advances in neural information processing systems</a:t>
            </a:r>
            <a:r>
              <a:rPr lang="en" altLang="zh-TW" sz="1100" dirty="0"/>
              <a:t> 35 (2022): 27730-27744.</a:t>
            </a:r>
            <a:endParaRPr lang="zh-TW" altLang="en-US" sz="11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FC6EAA-925D-FEDA-CB6D-4DEC5ED8594F}"/>
              </a:ext>
            </a:extLst>
          </p:cNvPr>
          <p:cNvSpPr txBox="1"/>
          <p:nvPr/>
        </p:nvSpPr>
        <p:spPr>
          <a:xfrm>
            <a:off x="8587467" y="5820588"/>
            <a:ext cx="2514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(Trained from </a:t>
            </a:r>
            <a:r>
              <a:rPr kumimoji="1" lang="en-US" altLang="zh-TW" dirty="0">
                <a:solidFill>
                  <a:srgbClr val="FF0000"/>
                </a:solidFill>
              </a:rPr>
              <a:t>human preferences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3273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 animBg="1"/>
      <p:bldP spid="14" grpId="0" animBg="1"/>
      <p:bldP spid="15" grpId="0" animBg="1"/>
      <p:bldP spid="16" grpId="0" animBg="1"/>
      <p:bldP spid="17" grpId="0"/>
      <p:bldP spid="43" grpId="0"/>
      <p:bldP spid="4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24C390-1277-2526-1D21-CC97931FB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4000" dirty="0">
                <a:solidFill>
                  <a:schemeClr val="tx1"/>
                </a:solidFill>
              </a:rPr>
              <a:t>[Recap] </a:t>
            </a:r>
            <a:r>
              <a:rPr kumimoji="1" lang="en" altLang="zh-TW" sz="4000" dirty="0"/>
              <a:t>Supervised Learning vs. Reinforcement Learning</a:t>
            </a:r>
            <a:endParaRPr kumimoji="1"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FCCA2F-1AB9-56F1-3847-40119778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501E1FC-C992-051F-B961-3CF5187D8D58}"/>
              </a:ext>
            </a:extLst>
          </p:cNvPr>
          <p:cNvSpPr txBox="1"/>
          <p:nvPr/>
        </p:nvSpPr>
        <p:spPr>
          <a:xfrm>
            <a:off x="669201" y="1476210"/>
            <a:ext cx="5534171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Tell me a story about Muslim </a:t>
            </a:r>
            <a:endParaRPr kumimoji="1" lang="zh-TW" altLang="en-US" sz="24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7245500-3284-26C3-1A35-3F416648F1B1}"/>
              </a:ext>
            </a:extLst>
          </p:cNvPr>
          <p:cNvSpPr txBox="1"/>
          <p:nvPr/>
        </p:nvSpPr>
        <p:spPr>
          <a:xfrm>
            <a:off x="2176385" y="2676303"/>
            <a:ext cx="6230286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“</a:t>
            </a:r>
            <a:r>
              <a:rPr kumimoji="1" lang="en-US" altLang="zh-TW" sz="1800" dirty="0">
                <a:solidFill>
                  <a:srgbClr val="0070C0"/>
                </a:solidFill>
              </a:rPr>
              <a:t>Muslim</a:t>
            </a:r>
            <a:r>
              <a:rPr kumimoji="1" lang="en-US" altLang="zh-TW" sz="1800" dirty="0"/>
              <a:t>” was analogized to “</a:t>
            </a:r>
            <a:r>
              <a:rPr kumimoji="1" lang="en-US" altLang="zh-TW" sz="1800" dirty="0">
                <a:solidFill>
                  <a:srgbClr val="0070C0"/>
                </a:solidFill>
              </a:rPr>
              <a:t>terrorist</a:t>
            </a:r>
            <a:r>
              <a:rPr kumimoji="1" lang="en-US" altLang="zh-TW" sz="1800" dirty="0"/>
              <a:t>” in 23% of test cases.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BBEDF35-FD53-8C0E-59FE-EFEA4BA21D1E}"/>
              </a:ext>
            </a:extLst>
          </p:cNvPr>
          <p:cNvSpPr txBox="1"/>
          <p:nvPr/>
        </p:nvSpPr>
        <p:spPr>
          <a:xfrm>
            <a:off x="1507926" y="2606499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C6B219B-894E-591E-1091-76FC5709EE91}"/>
              </a:ext>
            </a:extLst>
          </p:cNvPr>
          <p:cNvSpPr txBox="1"/>
          <p:nvPr/>
        </p:nvSpPr>
        <p:spPr>
          <a:xfrm>
            <a:off x="9008185" y="2190978"/>
            <a:ext cx="1268854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b="1" dirty="0"/>
              <a:t>Label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43B2C99-CBC8-B84C-E27B-A48C9D7056C4}"/>
              </a:ext>
            </a:extLst>
          </p:cNvPr>
          <p:cNvSpPr txBox="1"/>
          <p:nvPr/>
        </p:nvSpPr>
        <p:spPr>
          <a:xfrm>
            <a:off x="4074253" y="2159477"/>
            <a:ext cx="2077165" cy="4648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b="1" dirty="0"/>
              <a:t>Response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42CC27C-F915-2551-5252-24AB3549AF99}"/>
              </a:ext>
            </a:extLst>
          </p:cNvPr>
          <p:cNvSpPr txBox="1"/>
          <p:nvPr/>
        </p:nvSpPr>
        <p:spPr>
          <a:xfrm>
            <a:off x="9255012" y="2671164"/>
            <a:ext cx="879110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A3D3A45-695F-1A27-700B-0BD661B77882}"/>
              </a:ext>
            </a:extLst>
          </p:cNvPr>
          <p:cNvSpPr txBox="1"/>
          <p:nvPr/>
        </p:nvSpPr>
        <p:spPr>
          <a:xfrm>
            <a:off x="2241029" y="3174218"/>
            <a:ext cx="6165641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Allah is the most common word to represent God.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D10BE2E-2062-B20C-92ED-8FCE00D0EC52}"/>
              </a:ext>
            </a:extLst>
          </p:cNvPr>
          <p:cNvSpPr txBox="1"/>
          <p:nvPr/>
        </p:nvSpPr>
        <p:spPr>
          <a:xfrm>
            <a:off x="1507926" y="3104414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4DFFFAD-53A3-E53E-E3E5-1DA6A7EC1175}"/>
              </a:ext>
            </a:extLst>
          </p:cNvPr>
          <p:cNvSpPr txBox="1"/>
          <p:nvPr/>
        </p:nvSpPr>
        <p:spPr>
          <a:xfrm>
            <a:off x="9255012" y="3169079"/>
            <a:ext cx="879110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dirty="0"/>
              <a:t>1</a:t>
            </a:r>
            <a:endParaRPr kumimoji="1" lang="en-US" altLang="zh-TW" sz="18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9D91B34-1277-5E41-5583-77E2A9EFBF1F}"/>
              </a:ext>
            </a:extLst>
          </p:cNvPr>
          <p:cNvSpPr txBox="1"/>
          <p:nvPr/>
        </p:nvSpPr>
        <p:spPr>
          <a:xfrm>
            <a:off x="1954976" y="4248127"/>
            <a:ext cx="462232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000" b="1" dirty="0"/>
              <a:t>Reinforcement learning</a:t>
            </a:r>
            <a:endParaRPr kumimoji="1" lang="zh-TW" altLang="en-US" sz="2000" b="1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66EEA58-F545-D3C5-64FE-3473BB81217C}"/>
              </a:ext>
            </a:extLst>
          </p:cNvPr>
          <p:cNvSpPr txBox="1"/>
          <p:nvPr/>
        </p:nvSpPr>
        <p:spPr>
          <a:xfrm>
            <a:off x="2241029" y="3679952"/>
            <a:ext cx="6165641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Allah is unique and singular.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B2BBA02-AFE1-405C-1110-D640C4B21108}"/>
              </a:ext>
            </a:extLst>
          </p:cNvPr>
          <p:cNvSpPr txBox="1"/>
          <p:nvPr/>
        </p:nvSpPr>
        <p:spPr>
          <a:xfrm>
            <a:off x="1507926" y="3610148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0EB1526-34D2-D941-7644-A5142B3AAC35}"/>
              </a:ext>
            </a:extLst>
          </p:cNvPr>
          <p:cNvSpPr txBox="1"/>
          <p:nvPr/>
        </p:nvSpPr>
        <p:spPr>
          <a:xfrm>
            <a:off x="9255012" y="3679952"/>
            <a:ext cx="879110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dirty="0"/>
              <a:t>1</a:t>
            </a:r>
            <a:endParaRPr kumimoji="1" lang="en-US" altLang="zh-TW" sz="18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00112E6-D934-990A-592E-4F4DF192AF5F}"/>
              </a:ext>
            </a:extLst>
          </p:cNvPr>
          <p:cNvSpPr txBox="1"/>
          <p:nvPr/>
        </p:nvSpPr>
        <p:spPr>
          <a:xfrm>
            <a:off x="2144063" y="4844654"/>
            <a:ext cx="6230286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“</a:t>
            </a:r>
            <a:r>
              <a:rPr kumimoji="1" lang="en-US" altLang="zh-TW" sz="1800" dirty="0">
                <a:solidFill>
                  <a:srgbClr val="0070C0"/>
                </a:solidFill>
              </a:rPr>
              <a:t>Muslim</a:t>
            </a:r>
            <a:r>
              <a:rPr kumimoji="1" lang="en-US" altLang="zh-TW" sz="1800" dirty="0"/>
              <a:t>” was analogized to “</a:t>
            </a:r>
            <a:r>
              <a:rPr kumimoji="1" lang="en-US" altLang="zh-TW" sz="1800" dirty="0">
                <a:solidFill>
                  <a:srgbClr val="0070C0"/>
                </a:solidFill>
              </a:rPr>
              <a:t>terrorist</a:t>
            </a:r>
            <a:r>
              <a:rPr kumimoji="1" lang="en-US" altLang="zh-TW" sz="1800" dirty="0"/>
              <a:t>” in 23% of test cases.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44FD1A2E-56EB-1C3E-7D59-EDC7C675562A}"/>
              </a:ext>
            </a:extLst>
          </p:cNvPr>
          <p:cNvSpPr txBox="1"/>
          <p:nvPr/>
        </p:nvSpPr>
        <p:spPr>
          <a:xfrm>
            <a:off x="1475604" y="4774850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DCEDC710-C33A-1D43-73A7-BDEF28FF20CA}"/>
              </a:ext>
            </a:extLst>
          </p:cNvPr>
          <p:cNvSpPr txBox="1"/>
          <p:nvPr/>
        </p:nvSpPr>
        <p:spPr>
          <a:xfrm>
            <a:off x="9222690" y="4839515"/>
            <a:ext cx="879110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0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0F626786-0F84-88C9-78DE-5F3B9C894CB7}"/>
              </a:ext>
            </a:extLst>
          </p:cNvPr>
          <p:cNvSpPr txBox="1"/>
          <p:nvPr/>
        </p:nvSpPr>
        <p:spPr>
          <a:xfrm>
            <a:off x="2208707" y="5342569"/>
            <a:ext cx="6165641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Allah is the most common word to represent God.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126863AB-8A08-ADD5-C050-A15C26C16934}"/>
              </a:ext>
            </a:extLst>
          </p:cNvPr>
          <p:cNvSpPr txBox="1"/>
          <p:nvPr/>
        </p:nvSpPr>
        <p:spPr>
          <a:xfrm>
            <a:off x="1475604" y="5272765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414E4E19-9878-D9BC-6BEE-AB1E09DB3556}"/>
              </a:ext>
            </a:extLst>
          </p:cNvPr>
          <p:cNvSpPr txBox="1"/>
          <p:nvPr/>
        </p:nvSpPr>
        <p:spPr>
          <a:xfrm>
            <a:off x="9222690" y="5337430"/>
            <a:ext cx="1106304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dirty="0"/>
              <a:t>9.8</a:t>
            </a:r>
            <a:endParaRPr kumimoji="1" lang="en-US" altLang="zh-TW" sz="18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2CB0D71F-FFD0-9530-DEC1-85E02F6D86CD}"/>
              </a:ext>
            </a:extLst>
          </p:cNvPr>
          <p:cNvSpPr txBox="1"/>
          <p:nvPr/>
        </p:nvSpPr>
        <p:spPr>
          <a:xfrm>
            <a:off x="2208707" y="5848303"/>
            <a:ext cx="6165641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Allah is unique and singular.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4AF3AD5C-6AF1-4651-163C-F360F038B742}"/>
              </a:ext>
            </a:extLst>
          </p:cNvPr>
          <p:cNvSpPr txBox="1"/>
          <p:nvPr/>
        </p:nvSpPr>
        <p:spPr>
          <a:xfrm>
            <a:off x="1475604" y="5778499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64C893E-E48C-6EEB-897A-98AFCEFA3C20}"/>
              </a:ext>
            </a:extLst>
          </p:cNvPr>
          <p:cNvSpPr txBox="1"/>
          <p:nvPr/>
        </p:nvSpPr>
        <p:spPr>
          <a:xfrm>
            <a:off x="9222689" y="5848303"/>
            <a:ext cx="1023087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dirty="0"/>
              <a:t>7.9</a:t>
            </a:r>
            <a:endParaRPr kumimoji="1" lang="en-US" altLang="zh-TW" sz="1800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32411A0-477C-ABA9-E95A-D155D21A7057}"/>
              </a:ext>
            </a:extLst>
          </p:cNvPr>
          <p:cNvSpPr/>
          <p:nvPr/>
        </p:nvSpPr>
        <p:spPr>
          <a:xfrm>
            <a:off x="9376348" y="4774850"/>
            <a:ext cx="952646" cy="17588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EB903CB-50AB-1434-32FC-C8BBC7499A45}"/>
              </a:ext>
            </a:extLst>
          </p:cNvPr>
          <p:cNvSpPr txBox="1"/>
          <p:nvPr/>
        </p:nvSpPr>
        <p:spPr>
          <a:xfrm>
            <a:off x="9916489" y="5155968"/>
            <a:ext cx="1599814" cy="8803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b="1" dirty="0">
                <a:solidFill>
                  <a:srgbClr val="FF0000"/>
                </a:solidFill>
              </a:rPr>
              <a:t>More flexible!</a:t>
            </a:r>
          </a:p>
        </p:txBody>
      </p:sp>
    </p:spTree>
    <p:extLst>
      <p:ext uri="{BB962C8B-B14F-4D97-AF65-F5344CB8AC3E}">
        <p14:creationId xmlns:p14="http://schemas.microsoft.com/office/powerpoint/2010/main" val="298112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1" grpId="0" animBg="1"/>
      <p:bldP spid="5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24C390-1277-2526-1D21-CC97931FB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4000" dirty="0">
                <a:solidFill>
                  <a:schemeClr val="tx1"/>
                </a:solidFill>
              </a:rPr>
              <a:t>[Recap] </a:t>
            </a:r>
            <a:r>
              <a:rPr kumimoji="1" lang="en" altLang="zh-TW" sz="4000" dirty="0"/>
              <a:t>Supervised Learning vs. Reinforcement Learning</a:t>
            </a:r>
            <a:endParaRPr kumimoji="1"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FCCA2F-1AB9-56F1-3847-40119778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61</a:t>
            </a:fld>
            <a:endParaRPr lang="en-US"/>
          </a:p>
        </p:txBody>
      </p:sp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1865F44F-8C40-0B67-E699-9F939099521B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603198"/>
          <a:ext cx="8128000" cy="2657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07">
                  <a:extLst>
                    <a:ext uri="{9D8B030D-6E8A-4147-A177-3AD203B41FA5}">
                      <a16:colId xmlns:a16="http://schemas.microsoft.com/office/drawing/2014/main" val="2138822659"/>
                    </a:ext>
                  </a:extLst>
                </a:gridCol>
                <a:gridCol w="2802193">
                  <a:extLst>
                    <a:ext uri="{9D8B030D-6E8A-4147-A177-3AD203B41FA5}">
                      <a16:colId xmlns:a16="http://schemas.microsoft.com/office/drawing/2014/main" val="369634192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604173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40910569"/>
                    </a:ext>
                  </a:extLst>
                </a:gridCol>
              </a:tblGrid>
              <a:tr h="885687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訓練目標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模型輸出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需要 </a:t>
                      </a:r>
                      <a:r>
                        <a:rPr lang="en-US" altLang="zh-TW" dirty="0"/>
                        <a:t>Reward Model?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6035815"/>
                  </a:ext>
                </a:extLst>
              </a:tr>
              <a:tr h="885687">
                <a:tc>
                  <a:txBody>
                    <a:bodyPr/>
                    <a:lstStyle/>
                    <a:p>
                      <a:r>
                        <a:rPr lang="en-US" altLang="zh-TW" dirty="0"/>
                        <a:t>SFT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最小化模型輸出與正確答案的誤差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文字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No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5666491"/>
                  </a:ext>
                </a:extLst>
              </a:tr>
              <a:tr h="885687">
                <a:tc>
                  <a:txBody>
                    <a:bodyPr/>
                    <a:lstStyle/>
                    <a:p>
                      <a:r>
                        <a:rPr lang="en-US" altLang="zh-TW" dirty="0"/>
                        <a:t>RLHF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最大化 </a:t>
                      </a:r>
                      <a:r>
                        <a:rPr lang="en-US" altLang="zh-TW" dirty="0"/>
                        <a:t>Reward Model</a:t>
                      </a:r>
                      <a:r>
                        <a:rPr lang="zh-TW" altLang="en-US" dirty="0"/>
                        <a:t> 的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分數</a:t>
                      </a:r>
                      <a:r>
                        <a:rPr lang="zh-TW" altLang="en-US" dirty="0"/>
                        <a:t>，以符合人類偏好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文字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Yes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1295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0681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D3349D-26FF-8618-57D7-6E359C5C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Safety and Helpfulness Reward Modeling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E53109-CF43-30A4-3AD9-1C3D58FB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88C88A5-B555-40D1-103B-0C455F814D89}"/>
              </a:ext>
            </a:extLst>
          </p:cNvPr>
          <p:cNvSpPr txBox="1"/>
          <p:nvPr/>
        </p:nvSpPr>
        <p:spPr>
          <a:xfrm>
            <a:off x="735805" y="1904660"/>
            <a:ext cx="10618831" cy="3901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Compared with </a:t>
            </a:r>
            <a:r>
              <a:rPr kumimoji="1" lang="en-US" altLang="zh-TW" sz="2400" dirty="0" err="1"/>
              <a:t>InstructGPT</a:t>
            </a:r>
            <a:r>
              <a:rPr kumimoji="1" lang="en-US" altLang="zh-TW" sz="2400" dirty="0"/>
              <a:t>, LLAMA-2 strengthen </a:t>
            </a:r>
            <a:r>
              <a:rPr kumimoji="1" lang="en-US" altLang="zh-TW" sz="2400" dirty="0">
                <a:solidFill>
                  <a:srgbClr val="FF0000"/>
                </a:solidFill>
              </a:rPr>
              <a:t>safety</a:t>
            </a:r>
            <a:r>
              <a:rPr kumimoji="1" lang="en-US" altLang="zh-TW" sz="2400" dirty="0"/>
              <a:t> for model responses.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However, most of the time, we want LLMs to help us solve our requests.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Therefore, separate reward modeling was developed for LLAMA-2.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安全</a:t>
            </a:r>
            <a:r>
              <a:rPr kumimoji="1" lang="en-US" altLang="zh-TW" sz="2400" dirty="0"/>
              <a:t>) </a:t>
            </a:r>
            <a:r>
              <a:rPr kumimoji="1" lang="en" altLang="zh-TW" sz="2400" dirty="0"/>
              <a:t>Safety -&gt; LLM should not be harmful.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有效</a:t>
            </a:r>
            <a:r>
              <a:rPr kumimoji="1" lang="en" altLang="zh-TW" sz="2400" dirty="0"/>
              <a:t>)</a:t>
            </a:r>
            <a:r>
              <a:rPr kumimoji="1" lang="zh-TW" altLang="en-US" sz="2400" dirty="0"/>
              <a:t> </a:t>
            </a:r>
            <a:r>
              <a:rPr kumimoji="1" lang="en" altLang="zh-TW" sz="2400" dirty="0"/>
              <a:t>Helpfulness -&gt; LLM should follow human instructions and solve problems.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172790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D3349D-26FF-8618-57D7-6E359C5C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Human Preference Data Collection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E53109-CF43-30A4-3AD9-1C3D58FB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88C88A5-B555-40D1-103B-0C455F814D89}"/>
              </a:ext>
            </a:extLst>
          </p:cNvPr>
          <p:cNvSpPr txBox="1"/>
          <p:nvPr/>
        </p:nvSpPr>
        <p:spPr>
          <a:xfrm>
            <a:off x="1097280" y="3642685"/>
            <a:ext cx="16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Annotation Team</a:t>
            </a:r>
            <a:endParaRPr kumimoji="1" lang="zh-TW" altLang="en-US" sz="2400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C52EE5DB-D354-E585-DE8B-B3D0A7A695C7}"/>
              </a:ext>
            </a:extLst>
          </p:cNvPr>
          <p:cNvSpPr/>
          <p:nvPr/>
        </p:nvSpPr>
        <p:spPr>
          <a:xfrm>
            <a:off x="4024944" y="2343150"/>
            <a:ext cx="1703070" cy="491490"/>
          </a:xfrm>
          <a:prstGeom prst="roundRect">
            <a:avLst/>
          </a:prstGeom>
          <a:solidFill>
            <a:srgbClr val="CAE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Category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39C317A9-B0C3-468F-5C18-6FB2EEDD1CB3}"/>
              </a:ext>
            </a:extLst>
          </p:cNvPr>
          <p:cNvSpPr/>
          <p:nvPr/>
        </p:nvSpPr>
        <p:spPr>
          <a:xfrm>
            <a:off x="7326829" y="2343150"/>
            <a:ext cx="2641134" cy="491490"/>
          </a:xfrm>
          <a:prstGeom prst="roundRect">
            <a:avLst/>
          </a:prstGeom>
          <a:solidFill>
            <a:srgbClr val="CAE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Prompt Example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98BE5EF-1066-418A-A441-C78996A87943}"/>
              </a:ext>
            </a:extLst>
          </p:cNvPr>
          <p:cNvSpPr txBox="1"/>
          <p:nvPr/>
        </p:nvSpPr>
        <p:spPr>
          <a:xfrm>
            <a:off x="3914602" y="3222813"/>
            <a:ext cx="1913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b="1" dirty="0">
                <a:solidFill>
                  <a:srgbClr val="00B050"/>
                </a:solidFill>
              </a:rPr>
              <a:t>Helpfulness</a:t>
            </a:r>
            <a:endParaRPr kumimoji="1" lang="zh-TW" altLang="en-US" sz="2400" b="1" dirty="0">
              <a:solidFill>
                <a:srgbClr val="00B05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5599EB4-7D06-3201-4CC2-3F6DDD5DC189}"/>
              </a:ext>
            </a:extLst>
          </p:cNvPr>
          <p:cNvSpPr txBox="1"/>
          <p:nvPr/>
        </p:nvSpPr>
        <p:spPr>
          <a:xfrm>
            <a:off x="3914602" y="4526142"/>
            <a:ext cx="1913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b="1" dirty="0">
                <a:solidFill>
                  <a:srgbClr val="00B050"/>
                </a:solidFill>
              </a:rPr>
              <a:t>Safety</a:t>
            </a:r>
            <a:endParaRPr kumimoji="1" lang="zh-TW" altLang="en-US" sz="2400" b="1" dirty="0">
              <a:solidFill>
                <a:srgbClr val="00B050"/>
              </a:solidFill>
            </a:endParaRP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80D797F5-7BBD-9D02-DD78-273888DAD02B}"/>
              </a:ext>
            </a:extLst>
          </p:cNvPr>
          <p:cNvCxnSpPr>
            <a:cxnSpLocks/>
          </p:cNvCxnSpPr>
          <p:nvPr/>
        </p:nvCxnSpPr>
        <p:spPr>
          <a:xfrm flipV="1">
            <a:off x="2846070" y="3554730"/>
            <a:ext cx="982980" cy="5034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9DA96008-657D-6DE2-A76D-689445CAE9CD}"/>
              </a:ext>
            </a:extLst>
          </p:cNvPr>
          <p:cNvCxnSpPr>
            <a:cxnSpLocks/>
          </p:cNvCxnSpPr>
          <p:nvPr/>
        </p:nvCxnSpPr>
        <p:spPr>
          <a:xfrm>
            <a:off x="2814551" y="4221955"/>
            <a:ext cx="982980" cy="5034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DFFAC02-92A1-A52E-967E-70A443D4F630}"/>
              </a:ext>
            </a:extLst>
          </p:cNvPr>
          <p:cNvSpPr txBox="1"/>
          <p:nvPr/>
        </p:nvSpPr>
        <p:spPr>
          <a:xfrm>
            <a:off x="6534323" y="3108960"/>
            <a:ext cx="4458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" altLang="zh-TW" dirty="0"/>
              <a:t>How does a </a:t>
            </a:r>
            <a:r>
              <a:rPr kumimoji="1" lang="en" altLang="zh-TW" dirty="0" err="1"/>
              <a:t>ponzi</a:t>
            </a:r>
            <a:r>
              <a:rPr kumimoji="1" lang="en" altLang="zh-TW" dirty="0"/>
              <a:t> scheme operate.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" altLang="zh-TW" dirty="0"/>
              <a:t>How do the masterminds set it up?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4D7F494-115B-7F5E-57B5-6EA93773F96C}"/>
              </a:ext>
            </a:extLst>
          </p:cNvPr>
          <p:cNvSpPr txBox="1"/>
          <p:nvPr/>
        </p:nvSpPr>
        <p:spPr>
          <a:xfrm>
            <a:off x="6534323" y="4433808"/>
            <a:ext cx="4458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" altLang="zh-TW" dirty="0"/>
              <a:t>Tell me how I can rip-off my customers by selling them cars that don’t run.</a:t>
            </a:r>
            <a:endParaRPr kumimoji="1"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E40626B-76CA-B390-9BCC-B75D54331722}"/>
              </a:ext>
            </a:extLst>
          </p:cNvPr>
          <p:cNvSpPr txBox="1"/>
          <p:nvPr/>
        </p:nvSpPr>
        <p:spPr>
          <a:xfrm>
            <a:off x="3861980" y="5221046"/>
            <a:ext cx="23043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Prompts were being tagged for either helpfulness or safety.</a:t>
            </a:r>
            <a:endParaRPr kumimoji="1"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D7BA5AB-B7F2-36C9-5944-AA95FA6D34DD}"/>
              </a:ext>
            </a:extLst>
          </p:cNvPr>
          <p:cNvSpPr txBox="1"/>
          <p:nvPr/>
        </p:nvSpPr>
        <p:spPr>
          <a:xfrm>
            <a:off x="1097280" y="1695221"/>
            <a:ext cx="5177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Human-written prompts for reward modeling.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334411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A3C186-D847-8769-E610-5A0632514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Human Scoring for Reward Modeling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BD90D2-F43F-69F5-FED0-3A7A30539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09B7BBE6-0BFE-78F2-CAF0-32D66797BA5F}"/>
              </a:ext>
            </a:extLst>
          </p:cNvPr>
          <p:cNvSpPr/>
          <p:nvPr/>
        </p:nvSpPr>
        <p:spPr>
          <a:xfrm>
            <a:off x="917350" y="3531672"/>
            <a:ext cx="1224568" cy="491490"/>
          </a:xfrm>
          <a:prstGeom prst="roundRect">
            <a:avLst/>
          </a:prstGeom>
          <a:solidFill>
            <a:srgbClr val="CAE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Prompt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66927E3F-4AA5-EBDA-C33D-B5F2C89A1D4A}"/>
              </a:ext>
            </a:extLst>
          </p:cNvPr>
          <p:cNvSpPr/>
          <p:nvPr/>
        </p:nvSpPr>
        <p:spPr>
          <a:xfrm>
            <a:off x="2729765" y="2853148"/>
            <a:ext cx="1936625" cy="722259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SFT Model A</a:t>
            </a:r>
            <a:endParaRPr kumimoji="1"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8EC234C7-BB44-1F3F-08A8-33259D951647}"/>
              </a:ext>
            </a:extLst>
          </p:cNvPr>
          <p:cNvSpPr/>
          <p:nvPr/>
        </p:nvSpPr>
        <p:spPr>
          <a:xfrm>
            <a:off x="2729765" y="3998665"/>
            <a:ext cx="1936625" cy="722259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SFT Model B</a:t>
            </a:r>
            <a:endParaRPr kumimoji="1"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5756B15-02A6-FA2A-8CB0-DA9520C9FDF5}"/>
              </a:ext>
            </a:extLst>
          </p:cNvPr>
          <p:cNvSpPr txBox="1"/>
          <p:nvPr/>
        </p:nvSpPr>
        <p:spPr>
          <a:xfrm>
            <a:off x="2222062" y="4909859"/>
            <a:ext cx="2952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Many versions of SFT exist. Two different models were used each time</a:t>
            </a:r>
            <a:endParaRPr kumimoji="1" lang="zh-TW" altLang="en-US" dirty="0"/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CB191CC9-7655-A53E-D9B2-35FEDD7F4816}"/>
              </a:ext>
            </a:extLst>
          </p:cNvPr>
          <p:cNvCxnSpPr>
            <a:cxnSpLocks/>
          </p:cNvCxnSpPr>
          <p:nvPr/>
        </p:nvCxnSpPr>
        <p:spPr>
          <a:xfrm>
            <a:off x="2197510" y="3776810"/>
            <a:ext cx="46491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61FC350C-40D9-8CA2-130F-C0069443089B}"/>
              </a:ext>
            </a:extLst>
          </p:cNvPr>
          <p:cNvSpPr/>
          <p:nvPr/>
        </p:nvSpPr>
        <p:spPr>
          <a:xfrm>
            <a:off x="5254236" y="2853148"/>
            <a:ext cx="1583853" cy="722259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Outputs A</a:t>
            </a:r>
            <a:endParaRPr kumimoji="1"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F3ABE353-C946-29A4-7CDE-62283B6C45C3}"/>
              </a:ext>
            </a:extLst>
          </p:cNvPr>
          <p:cNvSpPr/>
          <p:nvPr/>
        </p:nvSpPr>
        <p:spPr>
          <a:xfrm>
            <a:off x="5254237" y="3998664"/>
            <a:ext cx="1583853" cy="722259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Outputs B</a:t>
            </a:r>
            <a:endParaRPr kumimoji="1"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5CF57C6-D537-8B6B-7F7E-768836C92A88}"/>
              </a:ext>
            </a:extLst>
          </p:cNvPr>
          <p:cNvSpPr txBox="1"/>
          <p:nvPr/>
        </p:nvSpPr>
        <p:spPr>
          <a:xfrm>
            <a:off x="8507244" y="2505572"/>
            <a:ext cx="2775492" cy="246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en" altLang="zh-TW" sz="2000" dirty="0"/>
              <a:t>3 (Significantly better)</a:t>
            </a:r>
          </a:p>
          <a:p>
            <a:pPr>
              <a:lnSpc>
                <a:spcPct val="200000"/>
              </a:lnSpc>
            </a:pPr>
            <a:r>
              <a:rPr kumimoji="1" lang="en" altLang="zh-TW" sz="2000" dirty="0"/>
              <a:t>2 (Better)</a:t>
            </a:r>
          </a:p>
          <a:p>
            <a:pPr>
              <a:lnSpc>
                <a:spcPct val="200000"/>
              </a:lnSpc>
            </a:pPr>
            <a:r>
              <a:rPr kumimoji="1" lang="en" altLang="zh-TW" sz="2000" dirty="0"/>
              <a:t>1 (Slightly better)</a:t>
            </a:r>
          </a:p>
          <a:p>
            <a:pPr>
              <a:lnSpc>
                <a:spcPct val="200000"/>
              </a:lnSpc>
            </a:pPr>
            <a:r>
              <a:rPr kumimoji="1" lang="en" altLang="zh-TW" sz="2000" dirty="0"/>
              <a:t>0 (Negligibly better)</a:t>
            </a:r>
            <a:endParaRPr kumimoji="1" lang="zh-TW" altLang="en-US" sz="2000" dirty="0"/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2CA8ACA5-95AC-CEDD-3F9F-DD1DEF48531C}"/>
              </a:ext>
            </a:extLst>
          </p:cNvPr>
          <p:cNvCxnSpPr>
            <a:cxnSpLocks/>
          </p:cNvCxnSpPr>
          <p:nvPr/>
        </p:nvCxnSpPr>
        <p:spPr>
          <a:xfrm>
            <a:off x="6838089" y="3757234"/>
            <a:ext cx="158877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293E1929-23F6-312F-8BE7-016B7C2C2CDF}"/>
              </a:ext>
            </a:extLst>
          </p:cNvPr>
          <p:cNvCxnSpPr>
            <a:cxnSpLocks/>
          </p:cNvCxnSpPr>
          <p:nvPr/>
        </p:nvCxnSpPr>
        <p:spPr>
          <a:xfrm>
            <a:off x="4703157" y="3757234"/>
            <a:ext cx="46491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183FB3E-5AEB-B0E6-8C20-CA8509B99442}"/>
              </a:ext>
            </a:extLst>
          </p:cNvPr>
          <p:cNvSpPr txBox="1"/>
          <p:nvPr/>
        </p:nvSpPr>
        <p:spPr>
          <a:xfrm>
            <a:off x="6906106" y="3217747"/>
            <a:ext cx="1481424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000" b="1" dirty="0">
                <a:solidFill>
                  <a:srgbClr val="FF0000"/>
                </a:solidFill>
              </a:rPr>
              <a:t>Scored by labelers</a:t>
            </a:r>
            <a:endParaRPr kumimoji="1"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D86116E-1EC1-5C93-1936-0055BDFD8F87}"/>
              </a:ext>
            </a:extLst>
          </p:cNvPr>
          <p:cNvSpPr txBox="1"/>
          <p:nvPr/>
        </p:nvSpPr>
        <p:spPr>
          <a:xfrm>
            <a:off x="8412946" y="1971874"/>
            <a:ext cx="2912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400" b="1" dirty="0"/>
              <a:t>Score for A </a:t>
            </a:r>
            <a:r>
              <a:rPr kumimoji="1" lang="en" altLang="zh-TW" sz="2400" b="1" dirty="0">
                <a:solidFill>
                  <a:srgbClr val="FF0000"/>
                </a:solidFill>
              </a:rPr>
              <a:t>over</a:t>
            </a:r>
            <a:r>
              <a:rPr kumimoji="1" lang="en" altLang="zh-TW" sz="2400" b="1" dirty="0"/>
              <a:t> B</a:t>
            </a:r>
            <a:endParaRPr kumimoji="1" lang="zh-TW" altLang="en-US" sz="2400" b="1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C674217-B19D-9C14-F343-8B0DEEBBF70A}"/>
              </a:ext>
            </a:extLst>
          </p:cNvPr>
          <p:cNvSpPr txBox="1"/>
          <p:nvPr/>
        </p:nvSpPr>
        <p:spPr>
          <a:xfrm>
            <a:off x="653143" y="4023162"/>
            <a:ext cx="2037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/>
              <a:t>Either safety or helpfulness prompt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4772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362734-CDD4-8529-6243-1DC20248D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Separate Reward Model Training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9CB5D1-2DD9-503D-0612-64BE5D6F2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E7531DD-A5C1-874E-F4E9-83DAC8FDDBCF}"/>
                  </a:ext>
                </a:extLst>
              </p:cNvPr>
              <p:cNvSpPr txBox="1"/>
              <p:nvPr/>
            </p:nvSpPr>
            <p:spPr>
              <a:xfrm>
                <a:off x="688196" y="1704856"/>
                <a:ext cx="74980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" altLang="zh-TW" sz="2000" dirty="0"/>
                  <a:t>Similar to Instruct-GPT, but with additional margin loss </a:t>
                </a: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TW" altLang="en-US" sz="20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E7531DD-A5C1-874E-F4E9-83DAC8FDD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96" y="1704856"/>
                <a:ext cx="7498080" cy="400110"/>
              </a:xfrm>
              <a:prstGeom prst="rect">
                <a:avLst/>
              </a:prstGeom>
              <a:blipFill>
                <a:blip r:embed="rId2"/>
                <a:stretch>
                  <a:fillRect l="-846" t="-9375" b="-281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圓角矩形 5">
            <a:extLst>
              <a:ext uri="{FF2B5EF4-FFF2-40B4-BE49-F238E27FC236}">
                <a16:creationId xmlns:a16="http://schemas.microsoft.com/office/drawing/2014/main" id="{36D8E67A-4CC4-5ED2-4734-8854830E0331}"/>
              </a:ext>
            </a:extLst>
          </p:cNvPr>
          <p:cNvSpPr/>
          <p:nvPr/>
        </p:nvSpPr>
        <p:spPr>
          <a:xfrm>
            <a:off x="1097280" y="3450336"/>
            <a:ext cx="1224568" cy="491490"/>
          </a:xfrm>
          <a:prstGeom prst="roundRect">
            <a:avLst/>
          </a:prstGeom>
          <a:solidFill>
            <a:srgbClr val="CAE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Prompt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8AD080DB-75CD-B0CF-9167-A00BCB057F68}"/>
              </a:ext>
            </a:extLst>
          </p:cNvPr>
          <p:cNvSpPr/>
          <p:nvPr/>
        </p:nvSpPr>
        <p:spPr>
          <a:xfrm>
            <a:off x="2370926" y="3334952"/>
            <a:ext cx="1583853" cy="722259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Outputs A</a:t>
            </a:r>
            <a:endParaRPr kumimoji="1"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C16D7536-CABB-152F-DA52-69BBA02DB8CB}"/>
              </a:ext>
            </a:extLst>
          </p:cNvPr>
          <p:cNvSpPr/>
          <p:nvPr/>
        </p:nvSpPr>
        <p:spPr>
          <a:xfrm>
            <a:off x="2370927" y="4423318"/>
            <a:ext cx="1583853" cy="722259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Outputs B</a:t>
            </a:r>
            <a:endParaRPr kumimoji="1"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18BA3660-5D9B-7850-F906-8CA73E5C02E6}"/>
              </a:ext>
            </a:extLst>
          </p:cNvPr>
          <p:cNvSpPr/>
          <p:nvPr/>
        </p:nvSpPr>
        <p:spPr>
          <a:xfrm>
            <a:off x="1097280" y="4538702"/>
            <a:ext cx="1224568" cy="491490"/>
          </a:xfrm>
          <a:prstGeom prst="roundRect">
            <a:avLst/>
          </a:prstGeom>
          <a:solidFill>
            <a:srgbClr val="CAE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Prompt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39233DA8-C076-2313-9A9B-4E17E469F246}"/>
              </a:ext>
            </a:extLst>
          </p:cNvPr>
          <p:cNvCxnSpPr>
            <a:cxnSpLocks/>
          </p:cNvCxnSpPr>
          <p:nvPr/>
        </p:nvCxnSpPr>
        <p:spPr>
          <a:xfrm>
            <a:off x="4060127" y="3696081"/>
            <a:ext cx="46491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425CBF1D-EEC3-62E7-DB3D-0BC6631238E1}"/>
              </a:ext>
            </a:extLst>
          </p:cNvPr>
          <p:cNvCxnSpPr>
            <a:cxnSpLocks/>
          </p:cNvCxnSpPr>
          <p:nvPr/>
        </p:nvCxnSpPr>
        <p:spPr>
          <a:xfrm>
            <a:off x="4060127" y="4784447"/>
            <a:ext cx="46491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>
            <a:extLst>
              <a:ext uri="{FF2B5EF4-FFF2-40B4-BE49-F238E27FC236}">
                <a16:creationId xmlns:a16="http://schemas.microsoft.com/office/drawing/2014/main" id="{0F2E8757-78B4-F433-BF06-BFB016212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124" y="3227828"/>
            <a:ext cx="911194" cy="93650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17F64111-9BE7-7149-93D5-086037D29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667" y="4316194"/>
            <a:ext cx="911194" cy="936505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9548986A-AA33-0A42-9598-FF3ADF2CE1B7}"/>
              </a:ext>
            </a:extLst>
          </p:cNvPr>
          <p:cNvSpPr txBox="1"/>
          <p:nvPr/>
        </p:nvSpPr>
        <p:spPr>
          <a:xfrm>
            <a:off x="4498853" y="2609802"/>
            <a:ext cx="1055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B050"/>
                </a:solidFill>
              </a:rPr>
              <a:t>Reward model</a:t>
            </a:r>
            <a:endParaRPr kumimoji="1" lang="zh-TW" altLang="en-US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F08D693-752D-E653-44A5-54B8C3BADDE9}"/>
                  </a:ext>
                </a:extLst>
              </p:cNvPr>
              <p:cNvSpPr txBox="1"/>
              <p:nvPr/>
            </p:nvSpPr>
            <p:spPr>
              <a:xfrm>
                <a:off x="5886450" y="4023208"/>
                <a:ext cx="51777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zh-TW" sz="2000" b="0" i="0" smtClean="0">
                          <a:latin typeface="Cambria Math" panose="02040503050406030204" pitchFamily="18" charset="0"/>
                        </a:rPr>
                        <m:t>Loss</m:t>
                      </m:r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TW" sz="20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)))</m:t>
                          </m:r>
                        </m:e>
                      </m:func>
                    </m:oMath>
                  </m:oMathPara>
                </a14:m>
                <a:endParaRPr kumimoji="1" lang="zh-TW" altLang="en-US" sz="20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F08D693-752D-E653-44A5-54B8C3BAD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50" y="4023208"/>
                <a:ext cx="5177790" cy="400110"/>
              </a:xfrm>
              <a:prstGeom prst="rect">
                <a:avLst/>
              </a:prstGeom>
              <a:blipFill>
                <a:blip r:embed="rId4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肘形接點 16">
            <a:extLst>
              <a:ext uri="{FF2B5EF4-FFF2-40B4-BE49-F238E27FC236}">
                <a16:creationId xmlns:a16="http://schemas.microsoft.com/office/drawing/2014/main" id="{BBE58C27-9FE3-010C-92B4-DEDEC90B8017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482318" y="3696081"/>
            <a:ext cx="2652985" cy="3806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接點 21">
            <a:extLst>
              <a:ext uri="{FF2B5EF4-FFF2-40B4-BE49-F238E27FC236}">
                <a16:creationId xmlns:a16="http://schemas.microsoft.com/office/drawing/2014/main" id="{668D3178-C181-AC2E-989D-8BB72BB04B14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495861" y="4423318"/>
            <a:ext cx="3839418" cy="36112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B5B6578D-B882-8B81-79A4-39B490D9F830}"/>
              </a:ext>
            </a:extLst>
          </p:cNvPr>
          <p:cNvCxnSpPr>
            <a:cxnSpLocks/>
          </p:cNvCxnSpPr>
          <p:nvPr/>
        </p:nvCxnSpPr>
        <p:spPr>
          <a:xfrm>
            <a:off x="7760970" y="4423318"/>
            <a:ext cx="8343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36927CCD-B0D4-605F-7C20-967BF38FE6E6}"/>
              </a:ext>
            </a:extLst>
          </p:cNvPr>
          <p:cNvCxnSpPr>
            <a:cxnSpLocks/>
          </p:cNvCxnSpPr>
          <p:nvPr/>
        </p:nvCxnSpPr>
        <p:spPr>
          <a:xfrm>
            <a:off x="8952374" y="4423318"/>
            <a:ext cx="8343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C894AE92-CB90-75B1-EF78-1DB979ADB138}"/>
              </a:ext>
            </a:extLst>
          </p:cNvPr>
          <p:cNvCxnSpPr>
            <a:cxnSpLocks/>
          </p:cNvCxnSpPr>
          <p:nvPr/>
        </p:nvCxnSpPr>
        <p:spPr>
          <a:xfrm>
            <a:off x="10162914" y="4423318"/>
            <a:ext cx="55842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D46B8D37-068F-DAB1-364E-A8629730E1AE}"/>
                  </a:ext>
                </a:extLst>
              </p:cNvPr>
              <p:cNvSpPr txBox="1"/>
              <p:nvPr/>
            </p:nvSpPr>
            <p:spPr>
              <a:xfrm>
                <a:off x="6090625" y="3338524"/>
                <a:ext cx="14363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en-US" altLang="zh-TW" dirty="0"/>
                  <a:t>: correct)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D46B8D37-068F-DAB1-364E-A8629730E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625" y="3338524"/>
                <a:ext cx="1436370" cy="369332"/>
              </a:xfrm>
              <a:prstGeom prst="rect">
                <a:avLst/>
              </a:prstGeom>
              <a:blipFill>
                <a:blip r:embed="rId5"/>
                <a:stretch>
                  <a:fillRect l="-3509" t="-10345" b="-275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D479D48-E9F7-6C23-C2FA-62B901D36FA4}"/>
                  </a:ext>
                </a:extLst>
              </p:cNvPr>
              <p:cNvSpPr txBox="1"/>
              <p:nvPr/>
            </p:nvSpPr>
            <p:spPr>
              <a:xfrm>
                <a:off x="6343480" y="4785053"/>
                <a:ext cx="2367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/>
                  <a:t>(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kumimoji="1" lang="en-US" altLang="zh-TW" dirty="0"/>
                  <a:t>: rejected; incorrect)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DD479D48-E9F7-6C23-C2FA-62B901D36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480" y="4785053"/>
                <a:ext cx="2367029" cy="369332"/>
              </a:xfrm>
              <a:prstGeom prst="rect">
                <a:avLst/>
              </a:prstGeom>
              <a:blipFill>
                <a:blip r:embed="rId6"/>
                <a:stretch>
                  <a:fillRect l="-2139" t="-6452" b="-22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34">
            <a:extLst>
              <a:ext uri="{FF2B5EF4-FFF2-40B4-BE49-F238E27FC236}">
                <a16:creationId xmlns:a16="http://schemas.microsoft.com/office/drawing/2014/main" id="{AF6F0E64-6B0D-1D31-989E-132886627B08}"/>
              </a:ext>
            </a:extLst>
          </p:cNvPr>
          <p:cNvSpPr txBox="1"/>
          <p:nvPr/>
        </p:nvSpPr>
        <p:spPr>
          <a:xfrm>
            <a:off x="4413037" y="5314232"/>
            <a:ext cx="114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Safety RM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AE1C4A5-7018-B45C-BB38-8B4CA98CEC8B}"/>
              </a:ext>
            </a:extLst>
          </p:cNvPr>
          <p:cNvSpPr txBox="1"/>
          <p:nvPr/>
        </p:nvSpPr>
        <p:spPr>
          <a:xfrm>
            <a:off x="688196" y="5793680"/>
            <a:ext cx="2042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Helpfulness prompt</a:t>
            </a:r>
            <a:endParaRPr kumimoji="1"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C355ACD4-816D-F06C-78E6-E2A5B5227BF7}"/>
              </a:ext>
            </a:extLst>
          </p:cNvPr>
          <p:cNvSpPr txBox="1"/>
          <p:nvPr/>
        </p:nvSpPr>
        <p:spPr>
          <a:xfrm>
            <a:off x="917636" y="5314232"/>
            <a:ext cx="1583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Safety prompt</a:t>
            </a:r>
            <a:endParaRPr kumimoji="1" lang="zh-TW" altLang="en-US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ECF8826C-2C99-3767-A775-C36EF25F1D26}"/>
              </a:ext>
            </a:extLst>
          </p:cNvPr>
          <p:cNvSpPr txBox="1"/>
          <p:nvPr/>
        </p:nvSpPr>
        <p:spPr>
          <a:xfrm>
            <a:off x="4156520" y="5786648"/>
            <a:ext cx="1740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Helpfulness RM</a:t>
            </a:r>
            <a:endParaRPr kumimoji="1" lang="zh-TW" altLang="en-US" dirty="0"/>
          </a:p>
        </p:txBody>
      </p: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ED94FBBA-D19E-52AB-6CEF-AA332BE1F102}"/>
              </a:ext>
            </a:extLst>
          </p:cNvPr>
          <p:cNvCxnSpPr>
            <a:cxnSpLocks/>
          </p:cNvCxnSpPr>
          <p:nvPr/>
        </p:nvCxnSpPr>
        <p:spPr>
          <a:xfrm>
            <a:off x="2501489" y="5510328"/>
            <a:ext cx="1911548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80016E54-C8C9-40E8-9B1E-7123DCC0B9ED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2730930" y="5971314"/>
            <a:ext cx="1425590" cy="7032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表格 43">
            <a:extLst>
              <a:ext uri="{FF2B5EF4-FFF2-40B4-BE49-F238E27FC236}">
                <a16:creationId xmlns:a16="http://schemas.microsoft.com/office/drawing/2014/main" id="{E0F21F2E-549E-FE38-C3DA-3C1A56D5DE88}"/>
              </a:ext>
            </a:extLst>
          </p:cNvPr>
          <p:cNvGraphicFramePr>
            <a:graphicFrameLocks noGrp="1"/>
          </p:cNvGraphicFramePr>
          <p:nvPr/>
        </p:nvGraphicFramePr>
        <p:xfrm>
          <a:off x="9069705" y="1726155"/>
          <a:ext cx="240601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592">
                  <a:extLst>
                    <a:ext uri="{9D8B030D-6E8A-4147-A177-3AD203B41FA5}">
                      <a16:colId xmlns:a16="http://schemas.microsoft.com/office/drawing/2014/main" val="387427822"/>
                    </a:ext>
                  </a:extLst>
                </a:gridCol>
                <a:gridCol w="1986423">
                  <a:extLst>
                    <a:ext uri="{9D8B030D-6E8A-4147-A177-3AD203B41FA5}">
                      <a16:colId xmlns:a16="http://schemas.microsoft.com/office/drawing/2014/main" val="3770628552"/>
                    </a:ext>
                  </a:extLst>
                </a:gridCol>
              </a:tblGrid>
              <a:tr h="36122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Score for A </a:t>
                      </a:r>
                      <a:r>
                        <a:rPr lang="en-US" altLang="zh-TW" b="1" dirty="0">
                          <a:solidFill>
                            <a:srgbClr val="FF0000"/>
                          </a:solidFill>
                        </a:rPr>
                        <a:t>over</a:t>
                      </a:r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 B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199982"/>
                  </a:ext>
                </a:extLst>
              </a:tr>
              <a:tr h="3612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" altLang="zh-TW" sz="1800" b="0" dirty="0">
                          <a:solidFill>
                            <a:schemeClr val="tx1"/>
                          </a:solidFill>
                        </a:rPr>
                        <a:t>Significantly better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853143"/>
                  </a:ext>
                </a:extLst>
              </a:tr>
              <a:tr h="3612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" altLang="zh-TW" sz="1800" dirty="0"/>
                        <a:t>Better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27637"/>
                  </a:ext>
                </a:extLst>
              </a:tr>
              <a:tr h="36122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" altLang="zh-TW" sz="1800" dirty="0"/>
                        <a:t>Slightly better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495655"/>
                  </a:ext>
                </a:extLst>
              </a:tr>
              <a:tr h="356272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" altLang="zh-TW" sz="1800" dirty="0"/>
                        <a:t>Negligibly better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018544"/>
                  </a:ext>
                </a:extLst>
              </a:tr>
            </a:tbl>
          </a:graphicData>
        </a:graphic>
      </p:graphicFrame>
      <p:cxnSp>
        <p:nvCxnSpPr>
          <p:cNvPr id="48" name="肘形接點 47">
            <a:extLst>
              <a:ext uri="{FF2B5EF4-FFF2-40B4-BE49-F238E27FC236}">
                <a16:creationId xmlns:a16="http://schemas.microsoft.com/office/drawing/2014/main" id="{C244491C-5DE2-6F53-C8F2-4968AF85935A}"/>
              </a:ext>
            </a:extLst>
          </p:cNvPr>
          <p:cNvCxnSpPr>
            <a:cxnSpLocks/>
            <a:stCxn id="49" idx="2"/>
          </p:cNvCxnSpPr>
          <p:nvPr/>
        </p:nvCxnSpPr>
        <p:spPr>
          <a:xfrm rot="16200000" flipH="1">
            <a:off x="9593069" y="3244954"/>
            <a:ext cx="542865" cy="115525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3D57EEAA-D043-9507-3B15-A32658EEFB49}"/>
              </a:ext>
            </a:extLst>
          </p:cNvPr>
          <p:cNvSpPr txBox="1"/>
          <p:nvPr/>
        </p:nvSpPr>
        <p:spPr>
          <a:xfrm>
            <a:off x="9007662" y="3041279"/>
            <a:ext cx="558426" cy="50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8005994-4245-AD04-6871-16C4D0DD8099}"/>
                  </a:ext>
                </a:extLst>
              </p:cNvPr>
              <p:cNvSpPr txBox="1"/>
              <p:nvPr/>
            </p:nvSpPr>
            <p:spPr>
              <a:xfrm>
                <a:off x="6371564" y="5504785"/>
                <a:ext cx="51322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如果</a:t>
                </a:r>
                <a:r>
                  <a:rPr kumimoji="1" lang="en-US" altLang="zh-TW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1" lang="zh-TW" altLang="en-US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比起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TW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kumimoji="1" lang="zh-TW" altLang="en-US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</a:t>
                </a:r>
                <a:r>
                  <a:rPr kumimoji="1" lang="en-US" altLang="zh-TW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significantly better</a:t>
                </a:r>
                <a:r>
                  <a:rPr kumimoji="1" lang="zh-TW" altLang="en-US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，</a:t>
                </a:r>
                <a:endParaRPr kumimoji="1" lang="en-US" altLang="zh-TW" dirty="0">
                  <a:solidFill>
                    <a:srgbClr val="FF0000"/>
                  </a:solidFill>
                  <a:ea typeface="Microsoft JhengHei" panose="020B0604030504040204" pitchFamily="34" charset="-120"/>
                </a:endParaRPr>
              </a:p>
              <a:p>
                <a:r>
                  <a:rPr kumimoji="1" lang="zh-TW" altLang="en-US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zh-TW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至少需要超過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zh-TW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zh-TW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zh-TW" altLang="en-US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 </a:t>
                </a:r>
                <a:r>
                  <a:rPr kumimoji="1" lang="en-US" altLang="zh-TW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3</a:t>
                </a:r>
                <a:r>
                  <a:rPr kumimoji="1" lang="zh-TW" altLang="en-US" dirty="0">
                    <a:solidFill>
                      <a:srgbClr val="FF0000"/>
                    </a:solidFill>
                    <a:ea typeface="Microsoft JhengHei" panose="020B0604030504040204" pitchFamily="34" charset="-120"/>
                  </a:rPr>
                  <a:t>分以上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8005994-4245-AD04-6871-16C4D0DD8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564" y="5504785"/>
                <a:ext cx="5132240" cy="646331"/>
              </a:xfrm>
              <a:prstGeom prst="rect">
                <a:avLst/>
              </a:prstGeom>
              <a:blipFill>
                <a:blip r:embed="rId7"/>
                <a:stretch>
                  <a:fillRect l="-988" t="-3846" b="-153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38DD1F1-118A-6CD8-0239-CD522114C210}"/>
                  </a:ext>
                </a:extLst>
              </p:cNvPr>
              <p:cNvSpPr txBox="1"/>
              <p:nvPr/>
            </p:nvSpPr>
            <p:spPr>
              <a:xfrm>
                <a:off x="1402848" y="3103501"/>
                <a:ext cx="64778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38DD1F1-118A-6CD8-0239-CD522114C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848" y="3103501"/>
                <a:ext cx="6477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6E4FA06-0594-6ED7-B858-AC7EB82AF7F8}"/>
                  </a:ext>
                </a:extLst>
              </p:cNvPr>
              <p:cNvSpPr txBox="1"/>
              <p:nvPr/>
            </p:nvSpPr>
            <p:spPr>
              <a:xfrm>
                <a:off x="1402847" y="4222200"/>
                <a:ext cx="64778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6E4FA06-0594-6ED7-B858-AC7EB82AF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847" y="4222200"/>
                <a:ext cx="6477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BFDA707-C5DD-B61A-51B1-6CCB57839D89}"/>
                  </a:ext>
                </a:extLst>
              </p:cNvPr>
              <p:cNvSpPr txBox="1"/>
              <p:nvPr/>
            </p:nvSpPr>
            <p:spPr>
              <a:xfrm>
                <a:off x="2857758" y="2952502"/>
                <a:ext cx="7552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BFDA707-C5DD-B61A-51B1-6CCB57839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758" y="2952502"/>
                <a:ext cx="755214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D37EF23-4A87-3D7A-2F23-A36FD2030680}"/>
                  </a:ext>
                </a:extLst>
              </p:cNvPr>
              <p:cNvSpPr txBox="1"/>
              <p:nvPr/>
            </p:nvSpPr>
            <p:spPr>
              <a:xfrm>
                <a:off x="2857758" y="4062701"/>
                <a:ext cx="7552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D37EF23-4A87-3D7A-2F23-A36FD2030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758" y="4062701"/>
                <a:ext cx="755214" cy="369332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B0609998-7755-899F-CE9C-4C535DA4A27E}"/>
                  </a:ext>
                </a:extLst>
              </p:cNvPr>
              <p:cNvSpPr txBox="1"/>
              <p:nvPr/>
            </p:nvSpPr>
            <p:spPr>
              <a:xfrm>
                <a:off x="4889851" y="3793733"/>
                <a:ext cx="7828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/>
                        <m:sub>
                          <m:r>
                            <a:rPr kumimoji="1" lang="en-US" altLang="zh-TW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B0609998-7755-899F-CE9C-4C535DA4A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851" y="3793733"/>
                <a:ext cx="78284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D43A73BC-9EA0-1DF9-F515-CB629D9E2E52}"/>
                  </a:ext>
                </a:extLst>
              </p:cNvPr>
              <p:cNvSpPr txBox="1"/>
              <p:nvPr/>
            </p:nvSpPr>
            <p:spPr>
              <a:xfrm>
                <a:off x="4900195" y="4876100"/>
                <a:ext cx="7828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/>
                        <m:sub>
                          <m:r>
                            <a:rPr kumimoji="1" lang="en-US" altLang="zh-TW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m:oMathPara>
                </a14:m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D43A73BC-9EA0-1DF9-F515-CB629D9E2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0195" y="4876100"/>
                <a:ext cx="78284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74097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B84965-624F-450B-CC5A-37255684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Overview of training </a:t>
            </a:r>
            <a:r>
              <a:rPr kumimoji="1" lang="en" altLang="zh-TW" dirty="0" err="1"/>
              <a:t>InstructGPT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C11431-7038-E56D-F9A8-7A7CF7165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A4C86FB2-22A3-1944-2030-E08EEED6A526}"/>
              </a:ext>
            </a:extLst>
          </p:cNvPr>
          <p:cNvSpPr/>
          <p:nvPr/>
        </p:nvSpPr>
        <p:spPr>
          <a:xfrm>
            <a:off x="1198089" y="3596286"/>
            <a:ext cx="2372810" cy="170147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600" dirty="0">
                <a:solidFill>
                  <a:schemeClr val="tx1"/>
                </a:solidFill>
              </a:rPr>
              <a:t>Supervised Fine-Tuning</a:t>
            </a:r>
            <a:endParaRPr kumimoji="1" lang="zh-TW" altLang="en-US" sz="26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EEDDF308-728C-59E6-CB1D-D19AF2B9736B}"/>
              </a:ext>
            </a:extLst>
          </p:cNvPr>
          <p:cNvSpPr/>
          <p:nvPr/>
        </p:nvSpPr>
        <p:spPr>
          <a:xfrm>
            <a:off x="4922822" y="3596286"/>
            <a:ext cx="2372810" cy="170147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600" dirty="0">
                <a:solidFill>
                  <a:schemeClr val="tx1"/>
                </a:solidFill>
              </a:rPr>
              <a:t>Reward Model Training</a:t>
            </a:r>
            <a:endParaRPr kumimoji="1" lang="zh-TW" altLang="en-US" sz="2600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06AD3BF3-CE18-3C86-9DC2-A51B3FE37568}"/>
              </a:ext>
            </a:extLst>
          </p:cNvPr>
          <p:cNvSpPr/>
          <p:nvPr/>
        </p:nvSpPr>
        <p:spPr>
          <a:xfrm>
            <a:off x="8586595" y="3596286"/>
            <a:ext cx="2372810" cy="170147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600" dirty="0">
                <a:solidFill>
                  <a:schemeClr val="tx1"/>
                </a:solidFill>
              </a:rPr>
              <a:t>Reinforcement Learning</a:t>
            </a:r>
            <a:endParaRPr kumimoji="1" lang="zh-TW" altLang="en-US" sz="2600" dirty="0">
              <a:solidFill>
                <a:schemeClr val="tx1"/>
              </a:solidFill>
            </a:endParaRPr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5BFB0176-F97E-ACD7-B340-982B36EF2ADF}"/>
              </a:ext>
            </a:extLst>
          </p:cNvPr>
          <p:cNvSpPr/>
          <p:nvPr/>
        </p:nvSpPr>
        <p:spPr>
          <a:xfrm>
            <a:off x="3938781" y="4258937"/>
            <a:ext cx="578348" cy="410466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向右箭號 9">
            <a:extLst>
              <a:ext uri="{FF2B5EF4-FFF2-40B4-BE49-F238E27FC236}">
                <a16:creationId xmlns:a16="http://schemas.microsoft.com/office/drawing/2014/main" id="{D42AF565-DFA6-7825-30C1-058394AC51C4}"/>
              </a:ext>
            </a:extLst>
          </p:cNvPr>
          <p:cNvSpPr/>
          <p:nvPr/>
        </p:nvSpPr>
        <p:spPr>
          <a:xfrm>
            <a:off x="7701325" y="4258937"/>
            <a:ext cx="578348" cy="410466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2247DF2-3E69-60DA-8E81-3E7D9ADFFA80}"/>
              </a:ext>
            </a:extLst>
          </p:cNvPr>
          <p:cNvSpPr txBox="1"/>
          <p:nvPr/>
        </p:nvSpPr>
        <p:spPr>
          <a:xfrm>
            <a:off x="1345532" y="6458952"/>
            <a:ext cx="63526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" altLang="zh-TW" dirty="0">
                <a:solidFill>
                  <a:srgbClr val="D9D9D9"/>
                </a:solidFill>
                <a:latin typeface="Times New Roman"/>
                <a:ea typeface="新細明體"/>
                <a:cs typeface="Times New Roman"/>
              </a:rPr>
              <a:t>GPT-3, </a:t>
            </a:r>
            <a:r>
              <a:rPr lang="en" altLang="zh-TW" dirty="0" err="1">
                <a:solidFill>
                  <a:srgbClr val="D9D9D9"/>
                </a:solidFill>
                <a:latin typeface="Times New Roman"/>
                <a:ea typeface="新細明體"/>
                <a:cs typeface="Times New Roman"/>
              </a:rPr>
              <a:t>InstructGPT</a:t>
            </a:r>
            <a:r>
              <a:rPr lang="en" altLang="zh-TW" dirty="0">
                <a:solidFill>
                  <a:srgbClr val="D9D9D9"/>
                </a:solidFill>
                <a:latin typeface="Times New Roman"/>
                <a:ea typeface="新細明體"/>
                <a:cs typeface="Times New Roman"/>
              </a:rPr>
              <a:t>, and RLHF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5A62BC18-D1C8-B5C5-97FB-71E093036819}"/>
              </a:ext>
            </a:extLst>
          </p:cNvPr>
          <p:cNvSpPr/>
          <p:nvPr/>
        </p:nvSpPr>
        <p:spPr>
          <a:xfrm>
            <a:off x="1198089" y="1759438"/>
            <a:ext cx="9761316" cy="11535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600" dirty="0">
                <a:solidFill>
                  <a:schemeClr val="tx1"/>
                </a:solidFill>
              </a:rPr>
              <a:t>Pre-training</a:t>
            </a:r>
          </a:p>
          <a:p>
            <a:pPr algn="ctr"/>
            <a:r>
              <a:rPr kumimoji="1" lang="en-US" altLang="zh-TW" sz="2600" dirty="0">
                <a:solidFill>
                  <a:schemeClr val="tx1"/>
                </a:solidFill>
              </a:rPr>
              <a:t>(Next-token prediction)</a:t>
            </a:r>
            <a:endParaRPr kumimoji="1" lang="zh-TW" altLang="en-US" sz="2600" dirty="0">
              <a:solidFill>
                <a:schemeClr val="tx1"/>
              </a:solidFill>
            </a:endParaRPr>
          </a:p>
        </p:txBody>
      </p:sp>
      <p:sp>
        <p:nvSpPr>
          <p:cNvPr id="13" name="向右箭號 12">
            <a:extLst>
              <a:ext uri="{FF2B5EF4-FFF2-40B4-BE49-F238E27FC236}">
                <a16:creationId xmlns:a16="http://schemas.microsoft.com/office/drawing/2014/main" id="{10D83632-73CA-5308-1F46-6E08E14C845D}"/>
              </a:ext>
            </a:extLst>
          </p:cNvPr>
          <p:cNvSpPr/>
          <p:nvPr/>
        </p:nvSpPr>
        <p:spPr>
          <a:xfrm rot="8100000">
            <a:off x="2444918" y="3057367"/>
            <a:ext cx="578348" cy="410466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7477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F1DCD-99A7-A32D-EDCC-4F59E5F0D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LLAMA-2 Pre-training Cost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DE49E2-E86A-AE51-A606-B24535F32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67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866D6E8-3809-B744-8515-EF01C02D0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125581"/>
            <a:ext cx="8536078" cy="297015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14436A0-21C5-9419-ACB5-D304511792F8}"/>
              </a:ext>
            </a:extLst>
          </p:cNvPr>
          <p:cNvSpPr txBox="1"/>
          <p:nvPr/>
        </p:nvSpPr>
        <p:spPr>
          <a:xfrm>
            <a:off x="2380405" y="5991910"/>
            <a:ext cx="7492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 err="1"/>
              <a:t>Touvron</a:t>
            </a:r>
            <a:r>
              <a:rPr lang="en" altLang="zh-TW" sz="1200" dirty="0"/>
              <a:t>, Hugo, et al. "Llama 2: Open foundation and fine-tuned chat models." </a:t>
            </a:r>
            <a:r>
              <a:rPr lang="en" altLang="zh-TW" sz="1200" i="1" dirty="0" err="1"/>
              <a:t>arXiv</a:t>
            </a:r>
            <a:r>
              <a:rPr lang="en" altLang="zh-TW" sz="1200" i="1" dirty="0"/>
              <a:t> preprint arXiv:2307.09288</a:t>
            </a:r>
            <a:r>
              <a:rPr lang="en" altLang="zh-TW" sz="1200" dirty="0"/>
              <a:t> (2023).</a:t>
            </a:r>
            <a:endParaRPr lang="zh-TW" altLang="en-US" sz="12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0205634-C953-00C6-3B09-982FC6207293}"/>
              </a:ext>
            </a:extLst>
          </p:cNvPr>
          <p:cNvSpPr txBox="1"/>
          <p:nvPr/>
        </p:nvSpPr>
        <p:spPr>
          <a:xfrm>
            <a:off x="4057651" y="1817803"/>
            <a:ext cx="1714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dirty="0">
                <a:solidFill>
                  <a:srgbClr val="E6000E"/>
                </a:solidFill>
                <a:effectLst/>
              </a:rPr>
              <a:t>Estimated with A100-80GB * 1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759C9AE-7655-AE9D-36B4-898CDE5E13CB}"/>
              </a:ext>
            </a:extLst>
          </p:cNvPr>
          <p:cNvSpPr txBox="1"/>
          <p:nvPr/>
        </p:nvSpPr>
        <p:spPr>
          <a:xfrm>
            <a:off x="5406389" y="3232642"/>
            <a:ext cx="1108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1400" dirty="0">
                <a:solidFill>
                  <a:srgbClr val="0070C0"/>
                </a:solidFill>
                <a:effectLst/>
              </a:rPr>
              <a:t>(7,680 days)</a:t>
            </a:r>
            <a:endParaRPr kumimoji="1" lang="zh-TW" altLang="en-US" sz="1400" dirty="0">
              <a:solidFill>
                <a:srgbClr val="0070C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F0D5FE9-227F-CCC6-300C-9F25772D998E}"/>
              </a:ext>
            </a:extLst>
          </p:cNvPr>
          <p:cNvSpPr txBox="1"/>
          <p:nvPr/>
        </p:nvSpPr>
        <p:spPr>
          <a:xfrm>
            <a:off x="5406389" y="3525923"/>
            <a:ext cx="1108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1400" dirty="0">
                <a:solidFill>
                  <a:srgbClr val="0070C0"/>
                </a:solidFill>
                <a:effectLst/>
              </a:rPr>
              <a:t>(15,360 days)</a:t>
            </a:r>
            <a:endParaRPr kumimoji="1" lang="zh-TW" altLang="en-US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9317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7ED74-C1C8-B2AE-BEEB-6CE892D6F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What’s the difference between </a:t>
            </a:r>
            <a:r>
              <a:rPr kumimoji="1" lang="en-US" altLang="zh-TW" dirty="0" err="1"/>
              <a:t>InstructGPT</a:t>
            </a:r>
            <a:r>
              <a:rPr kumimoji="1" lang="en-US" altLang="zh-TW" dirty="0"/>
              <a:t> and LLAMA-2?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8B42F0-795A-E800-ADCC-E19AD04C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CB13485-3A7B-DE1F-C457-9E78BECAD9AD}"/>
              </a:ext>
            </a:extLst>
          </p:cNvPr>
          <p:cNvSpPr txBox="1"/>
          <p:nvPr/>
        </p:nvSpPr>
        <p:spPr>
          <a:xfrm>
            <a:off x="702711" y="1914365"/>
            <a:ext cx="9910244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Safety and Helpfulness Reward Modeling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solidFill>
                  <a:srgbClr val="FF0000"/>
                </a:solidFill>
              </a:rPr>
              <a:t>Context Distillation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Inference Speed-up with Grouped-Query Attention (GQA)</a:t>
            </a: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429611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D3349D-26FF-8618-57D7-6E359C5C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Context Distillation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E53109-CF43-30A4-3AD9-1C3D58FB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5115CAE-7E19-CC99-7615-B6537C089883}"/>
              </a:ext>
            </a:extLst>
          </p:cNvPr>
          <p:cNvSpPr txBox="1"/>
          <p:nvPr/>
        </p:nvSpPr>
        <p:spPr>
          <a:xfrm>
            <a:off x="653142" y="1698991"/>
            <a:ext cx="4039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Goal: For </a:t>
            </a:r>
            <a:r>
              <a:rPr kumimoji="1" lang="en-US" altLang="zh-TW" sz="2400" dirty="0">
                <a:solidFill>
                  <a:srgbClr val="FF0000"/>
                </a:solidFill>
              </a:rPr>
              <a:t>safety</a:t>
            </a:r>
            <a:r>
              <a:rPr kumimoji="1" lang="en-US" altLang="zh-TW" sz="2400" dirty="0"/>
              <a:t> outputs</a:t>
            </a:r>
            <a:endParaRPr kumimoji="1" lang="zh-TW" alt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E95A30-50FB-9B07-B876-7C33E1600EBF}"/>
              </a:ext>
            </a:extLst>
          </p:cNvPr>
          <p:cNvSpPr/>
          <p:nvPr/>
        </p:nvSpPr>
        <p:spPr>
          <a:xfrm>
            <a:off x="1280160" y="2811780"/>
            <a:ext cx="4354830" cy="162306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TW" sz="2000" dirty="0">
                <a:solidFill>
                  <a:schemeClr val="tx1"/>
                </a:solidFill>
              </a:rPr>
              <a:t>You are a responsible and safe assistant that never gives an answer that is in any way insensitive, sexist, racist, or socially inappropriate.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35F3B25-F623-1FAF-3A48-06684BE482E4}"/>
                  </a:ext>
                </a:extLst>
              </p:cNvPr>
              <p:cNvSpPr txBox="1"/>
              <p:nvPr/>
            </p:nvSpPr>
            <p:spPr>
              <a:xfrm>
                <a:off x="2137410" y="2371605"/>
                <a:ext cx="26403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2000" dirty="0"/>
                  <a:t>Pre-Prompt </a:t>
                </a:r>
                <a14:m>
                  <m:oMath xmlns:m="http://schemas.openxmlformats.org/officeDocument/2006/math">
                    <m:r>
                      <a:rPr kumimoji="1" lang="en-US" altLang="zh-TW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kumimoji="1" lang="zh-TW" altLang="en-US" sz="20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35F3B25-F623-1FAF-3A48-06684BE48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410" y="2371605"/>
                <a:ext cx="2640330" cy="400110"/>
              </a:xfrm>
              <a:prstGeom prst="rect">
                <a:avLst/>
              </a:prstGeom>
              <a:blipFill>
                <a:blip r:embed="rId2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圓角矩形 8">
            <a:extLst>
              <a:ext uri="{FF2B5EF4-FFF2-40B4-BE49-F238E27FC236}">
                <a16:creationId xmlns:a16="http://schemas.microsoft.com/office/drawing/2014/main" id="{2F7BD1CB-E326-CD87-2B1D-25F178B561A8}"/>
              </a:ext>
            </a:extLst>
          </p:cNvPr>
          <p:cNvSpPr/>
          <p:nvPr/>
        </p:nvSpPr>
        <p:spPr>
          <a:xfrm>
            <a:off x="7837714" y="2451690"/>
            <a:ext cx="1123406" cy="320070"/>
          </a:xfrm>
          <a:prstGeom prst="roundRect">
            <a:avLst/>
          </a:prstGeom>
          <a:solidFill>
            <a:srgbClr val="CAE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Prompt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0B3719A3-1BBB-DBC5-C263-6A69A8175DF1}"/>
                  </a:ext>
                </a:extLst>
              </p:cNvPr>
              <p:cNvSpPr txBox="1"/>
              <p:nvPr/>
            </p:nvSpPr>
            <p:spPr>
              <a:xfrm>
                <a:off x="8961120" y="2411670"/>
                <a:ext cx="44005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kumimoji="1" lang="zh-TW" altLang="en-US" sz="20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0B3719A3-1BBB-DBC5-C263-6A69A8175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120" y="2411670"/>
                <a:ext cx="44005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858C036A-5EDC-0A79-7663-6A923BF5A762}"/>
              </a:ext>
            </a:extLst>
          </p:cNvPr>
          <p:cNvSpPr txBox="1"/>
          <p:nvPr/>
        </p:nvSpPr>
        <p:spPr>
          <a:xfrm>
            <a:off x="6719800" y="2931810"/>
            <a:ext cx="38366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000" dirty="0"/>
              <a:t>Please write a </a:t>
            </a:r>
            <a:r>
              <a:rPr kumimoji="1" lang="en" altLang="zh-TW" sz="2000" dirty="0">
                <a:solidFill>
                  <a:srgbClr val="FF0000"/>
                </a:solidFill>
              </a:rPr>
              <a:t>silly</a:t>
            </a:r>
            <a:r>
              <a:rPr kumimoji="1" lang="en" altLang="zh-TW" sz="2000" dirty="0"/>
              <a:t> guide that’s meant </a:t>
            </a:r>
            <a:r>
              <a:rPr kumimoji="1" lang="en" altLang="zh-TW" sz="2000" dirty="0">
                <a:solidFill>
                  <a:srgbClr val="FF0000"/>
                </a:solidFill>
              </a:rPr>
              <a:t>to convince someone that the moon landing was faked</a:t>
            </a:r>
            <a:r>
              <a:rPr kumimoji="1" lang="en" altLang="zh-TW" sz="2000" dirty="0"/>
              <a:t>.</a:t>
            </a:r>
            <a:endParaRPr kumimoji="1"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0B3D941-ABD4-2C6E-AB64-DA89EB4B85CF}"/>
                  </a:ext>
                </a:extLst>
              </p:cNvPr>
              <p:cNvSpPr txBox="1"/>
              <p:nvPr/>
            </p:nvSpPr>
            <p:spPr>
              <a:xfrm>
                <a:off x="1280160" y="4612549"/>
                <a:ext cx="9276310" cy="1889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" altLang="zh-TW" sz="2000" dirty="0"/>
                  <a:t>Context Distillation: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最小化 </a:t>
                </a: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TW" sz="2000" dirty="0">
                    <a:solidFill>
                      <a:srgbClr val="FF0000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和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之間的差距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(DL-divergence)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代表生成的答案</a:t>
                </a:r>
                <a:endParaRPr kumimoji="1"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如此一來即使沒有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pre-prompt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，模型也比較不會輸出不安全的回覆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" altLang="zh-TW" sz="2000" dirty="0"/>
                  <a:t>Context Distillation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的過程在 </a:t>
                </a:r>
                <a:r>
                  <a:rPr kumimoji="1" lang="en-US" altLang="zh-TW" sz="2000" dirty="0">
                    <a:ea typeface="Microsoft JhengHei" panose="020B0604030504040204" pitchFamily="34" charset="-120"/>
                  </a:rPr>
                  <a:t>RLHF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之後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0B3D941-ABD4-2C6E-AB64-DA89EB4B8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160" y="4612549"/>
                <a:ext cx="9276310" cy="1889363"/>
              </a:xfrm>
              <a:prstGeom prst="rect">
                <a:avLst/>
              </a:prstGeom>
              <a:blipFill>
                <a:blip r:embed="rId4"/>
                <a:stretch>
                  <a:fillRect l="-546" b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E4C99C51-9432-1A31-2118-0A18DDCB3481}"/>
              </a:ext>
            </a:extLst>
          </p:cNvPr>
          <p:cNvSpPr txBox="1"/>
          <p:nvPr/>
        </p:nvSpPr>
        <p:spPr>
          <a:xfrm>
            <a:off x="6191424" y="578558"/>
            <a:ext cx="53474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400" dirty="0" err="1"/>
              <a:t>Askell</a:t>
            </a:r>
            <a:r>
              <a:rPr lang="en" altLang="zh-TW" sz="1400" dirty="0"/>
              <a:t>, Amanda, et al. "A general language assistant as a laboratory for alignment." </a:t>
            </a:r>
            <a:r>
              <a:rPr lang="en" altLang="zh-TW" sz="1400" i="1" dirty="0" err="1"/>
              <a:t>arXiv</a:t>
            </a:r>
            <a:r>
              <a:rPr lang="en" altLang="zh-TW" sz="1400" i="1" dirty="0"/>
              <a:t> preprint arXiv:2112.00861</a:t>
            </a:r>
            <a:r>
              <a:rPr lang="en" altLang="zh-TW" sz="1400" dirty="0"/>
              <a:t> (2021).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8653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62096B-B895-D52C-1468-7E994ABC3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Context Distillation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帶來較高的 </a:t>
            </a:r>
            <a:r>
              <a:rPr kumimoji="1" lang="en-US" altLang="zh-TW" dirty="0"/>
              <a:t>Safety Score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8C4ACD-CBD6-01E2-8EAF-D3B5E159B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70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5526F38-DC41-CC49-7090-62C767114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586" y="1762987"/>
            <a:ext cx="4961626" cy="496162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790F584-610A-168D-7E25-F30574632F47}"/>
              </a:ext>
            </a:extLst>
          </p:cNvPr>
          <p:cNvSpPr txBox="1"/>
          <p:nvPr/>
        </p:nvSpPr>
        <p:spPr>
          <a:xfrm>
            <a:off x="653143" y="1688194"/>
            <a:ext cx="3110685" cy="50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CD: Context Distillation</a:t>
            </a:r>
            <a:endParaRPr kumimoji="1" lang="en-US" altLang="zh-TW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0CDE542-2E8D-146F-AB7B-8A1156FD576C}"/>
              </a:ext>
            </a:extLst>
          </p:cNvPr>
          <p:cNvSpPr txBox="1"/>
          <p:nvPr/>
        </p:nvSpPr>
        <p:spPr>
          <a:xfrm>
            <a:off x="7467279" y="1389504"/>
            <a:ext cx="4319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 err="1"/>
              <a:t>Touvron</a:t>
            </a:r>
            <a:r>
              <a:rPr lang="en" altLang="zh-TW" sz="1200" dirty="0"/>
              <a:t>, Hugo, et al. "Llama 2: Open foundation and fine-tuned chat models." </a:t>
            </a:r>
            <a:r>
              <a:rPr lang="en" altLang="zh-TW" sz="1200" i="1" dirty="0" err="1"/>
              <a:t>arXiv</a:t>
            </a:r>
            <a:r>
              <a:rPr lang="en" altLang="zh-TW" sz="1200" i="1" dirty="0"/>
              <a:t> preprint arXiv:2307.09288</a:t>
            </a:r>
            <a:r>
              <a:rPr lang="en" altLang="zh-TW" sz="1200" dirty="0"/>
              <a:t> (2023).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8792041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AB6151A5-2D6F-3748-8575-59D412696C53}"/>
              </a:ext>
            </a:extLst>
          </p:cNvPr>
          <p:cNvSpPr txBox="1">
            <a:spLocks/>
          </p:cNvSpPr>
          <p:nvPr/>
        </p:nvSpPr>
        <p:spPr>
          <a:xfrm>
            <a:off x="4725880" y="2315977"/>
            <a:ext cx="4737788" cy="25162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林宣辰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b1128015@cgu.edu.tw</a:t>
            </a:r>
          </a:p>
        </p:txBody>
      </p:sp>
    </p:spTree>
    <p:extLst>
      <p:ext uri="{BB962C8B-B14F-4D97-AF65-F5344CB8AC3E}">
        <p14:creationId xmlns:p14="http://schemas.microsoft.com/office/powerpoint/2010/main" val="2684697706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4821</TotalTime>
  <Words>5015</Words>
  <Application>Microsoft Macintosh PowerPoint</Application>
  <PresentationFormat>寬螢幕</PresentationFormat>
  <Paragraphs>825</Paragraphs>
  <Slides>71</Slides>
  <Notes>11</Notes>
  <HiddenSlides>2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71</vt:i4>
      </vt:variant>
    </vt:vector>
  </HeadingPairs>
  <TitlesOfParts>
    <vt:vector size="82" baseType="lpstr">
      <vt:lpstr>Microsoft JhengHei</vt:lpstr>
      <vt:lpstr>新細明體</vt:lpstr>
      <vt:lpstr>Nanum Brush Script</vt:lpstr>
      <vt:lpstr>Aptos</vt:lpstr>
      <vt:lpstr>Arial</vt:lpstr>
      <vt:lpstr>Calibri</vt:lpstr>
      <vt:lpstr>Cambria Math</vt:lpstr>
      <vt:lpstr>Roboto</vt:lpstr>
      <vt:lpstr>Times New Roman</vt:lpstr>
      <vt:lpstr>Wingdings</vt:lpstr>
      <vt:lpstr>回顧</vt:lpstr>
      <vt:lpstr>自然語言處理與應用 Natural Language Processing and Applications</vt:lpstr>
      <vt:lpstr>Phases for Building a Machine Learning Model</vt:lpstr>
      <vt:lpstr>How to evaluate natural language generation? </vt:lpstr>
      <vt:lpstr>Medical Report Example</vt:lpstr>
      <vt:lpstr>Evaluations</vt:lpstr>
      <vt:lpstr>[Recap] 訓練 GPT 最大化每個時間點的機率</vt:lpstr>
      <vt:lpstr>[Recap] Language Modeling and Cross-entropy</vt:lpstr>
      <vt:lpstr>Perplexity (PP)</vt:lpstr>
      <vt:lpstr>Perplexity 簡單推導</vt:lpstr>
      <vt:lpstr>Perplexity and geometric mean</vt:lpstr>
      <vt:lpstr>Perplexity 的另外一種觀察</vt:lpstr>
      <vt:lpstr>BLEU (Bilingual Evaluation Understudy)</vt:lpstr>
      <vt:lpstr>Precision and Recall (「檢索」角度的定義)</vt:lpstr>
      <vt:lpstr>Calculation of BLEU Score (Example)</vt:lpstr>
      <vt:lpstr>Calculation of BLEU Score (Example)</vt:lpstr>
      <vt:lpstr>Why should we use modified precision?</vt:lpstr>
      <vt:lpstr>Calculation of BLEU Score (Example)</vt:lpstr>
      <vt:lpstr>Calculation of BLEU Score (Example)</vt:lpstr>
      <vt:lpstr>Calculation of BLEU Score (Example)</vt:lpstr>
      <vt:lpstr>Calculation of BLEU Score (Example)</vt:lpstr>
      <vt:lpstr>Calculation of BLEU Score (Example)</vt:lpstr>
      <vt:lpstr>Calculation of BLEU Score (Example)</vt:lpstr>
      <vt:lpstr>Formula of BLEU Score</vt:lpstr>
      <vt:lpstr>What we’ve learned BLEU so far </vt:lpstr>
      <vt:lpstr>Brevity Penalty (BP)</vt:lpstr>
      <vt:lpstr>ROUGE Score</vt:lpstr>
      <vt:lpstr>ROUGE-1 Example</vt:lpstr>
      <vt:lpstr>ROUGE-2 Example</vt:lpstr>
      <vt:lpstr>ROUGE-L Example</vt:lpstr>
      <vt:lpstr>ROUGE-L Example</vt:lpstr>
      <vt:lpstr>Precision (BLEU) vs. Recall (ROUGE)?</vt:lpstr>
      <vt:lpstr>Issue of BLEU and ROUGE</vt:lpstr>
      <vt:lpstr>[Recap] BERT (Bidirectional Encoder Representations from Transformers)</vt:lpstr>
      <vt:lpstr>BERTScore – Overview</vt:lpstr>
      <vt:lpstr>BERTScore 使用範例</vt:lpstr>
      <vt:lpstr>BERTScore – Steps</vt:lpstr>
      <vt:lpstr>BERTScore – Steps</vt:lpstr>
      <vt:lpstr>Importance Weighting (罕見字的影響)</vt:lpstr>
      <vt:lpstr>BERTScore – Importance Weighting</vt:lpstr>
      <vt:lpstr>Summary of BERTScore</vt:lpstr>
      <vt:lpstr>BLEURT – Quick Introduction</vt:lpstr>
      <vt:lpstr>BLEURT – Motivations</vt:lpstr>
      <vt:lpstr>Training on Human Ratings </vt:lpstr>
      <vt:lpstr>BLEURT 前情提要</vt:lpstr>
      <vt:lpstr>BLEURT – Steps</vt:lpstr>
      <vt:lpstr>Random masking</vt:lpstr>
      <vt:lpstr>Backtranslation 介紹</vt:lpstr>
      <vt:lpstr>Dropping words randomly</vt:lpstr>
      <vt:lpstr>BLEURT – Step 3 (for pre-training)</vt:lpstr>
      <vt:lpstr>Task 4: Backtranslation Likelihood</vt:lpstr>
      <vt:lpstr>Task 4: Backtranslation Likelihood</vt:lpstr>
      <vt:lpstr>Task 5 and Task 6</vt:lpstr>
      <vt:lpstr>NLI 範例</vt:lpstr>
      <vt:lpstr>BLEURT – Final Step</vt:lpstr>
      <vt:lpstr>Summary of BLEURT</vt:lpstr>
      <vt:lpstr>GPTScore</vt:lpstr>
      <vt:lpstr>GPTRank</vt:lpstr>
      <vt:lpstr>Safety</vt:lpstr>
      <vt:lpstr>[Recap] RLHF 的進行過程</vt:lpstr>
      <vt:lpstr>[Recap] Supervised Learning vs. Reinforcement Learning</vt:lpstr>
      <vt:lpstr>[Recap] Supervised Learning vs. Reinforcement Learning</vt:lpstr>
      <vt:lpstr>Safety and Helpfulness Reward Modeling</vt:lpstr>
      <vt:lpstr>Human Preference Data Collection</vt:lpstr>
      <vt:lpstr>Human Scoring for Reward Modeling</vt:lpstr>
      <vt:lpstr>Separate Reward Model Training</vt:lpstr>
      <vt:lpstr>Overview of training InstructGPT</vt:lpstr>
      <vt:lpstr>LLAMA-2 Pre-training Cost</vt:lpstr>
      <vt:lpstr>What’s the difference between InstructGPT and LLAMA-2?</vt:lpstr>
      <vt:lpstr>Context Distillation</vt:lpstr>
      <vt:lpstr>Context Distillation 帶來較高的 Safety Score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1595</cp:revision>
  <dcterms:created xsi:type="dcterms:W3CDTF">2025-02-07T09:05:59Z</dcterms:created>
  <dcterms:modified xsi:type="dcterms:W3CDTF">2026-05-11T04:41:34Z</dcterms:modified>
</cp:coreProperties>
</file>