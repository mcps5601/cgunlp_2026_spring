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7"/>
  </p:notesMasterIdLst>
  <p:sldIdLst>
    <p:sldId id="508" r:id="rId2"/>
    <p:sldId id="815" r:id="rId3"/>
    <p:sldId id="666" r:id="rId4"/>
    <p:sldId id="699" r:id="rId5"/>
    <p:sldId id="828" r:id="rId6"/>
    <p:sldId id="707" r:id="rId7"/>
    <p:sldId id="832" r:id="rId8"/>
    <p:sldId id="669" r:id="rId9"/>
    <p:sldId id="301" r:id="rId10"/>
    <p:sldId id="753" r:id="rId11"/>
    <p:sldId id="748" r:id="rId12"/>
    <p:sldId id="829" r:id="rId13"/>
    <p:sldId id="526" r:id="rId14"/>
    <p:sldId id="830" r:id="rId15"/>
    <p:sldId id="256" r:id="rId16"/>
    <p:sldId id="822" r:id="rId17"/>
    <p:sldId id="820" r:id="rId18"/>
    <p:sldId id="818" r:id="rId19"/>
    <p:sldId id="819" r:id="rId20"/>
    <p:sldId id="821" r:id="rId21"/>
    <p:sldId id="562" r:id="rId22"/>
    <p:sldId id="260" r:id="rId23"/>
    <p:sldId id="305" r:id="rId24"/>
    <p:sldId id="306" r:id="rId25"/>
    <p:sldId id="307" r:id="rId26"/>
    <p:sldId id="559" r:id="rId27"/>
    <p:sldId id="560" r:id="rId28"/>
    <p:sldId id="574" r:id="rId29"/>
    <p:sldId id="823" r:id="rId30"/>
    <p:sldId id="825" r:id="rId31"/>
    <p:sldId id="824" r:id="rId32"/>
    <p:sldId id="826" r:id="rId33"/>
    <p:sldId id="827" r:id="rId34"/>
    <p:sldId id="571" r:id="rId35"/>
    <p:sldId id="573" r:id="rId36"/>
    <p:sldId id="566" r:id="rId37"/>
    <p:sldId id="302" r:id="rId38"/>
    <p:sldId id="577" r:id="rId39"/>
    <p:sldId id="262" r:id="rId40"/>
    <p:sldId id="582" r:id="rId41"/>
    <p:sldId id="583" r:id="rId42"/>
    <p:sldId id="831" r:id="rId43"/>
    <p:sldId id="584" r:id="rId44"/>
    <p:sldId id="303" r:id="rId45"/>
    <p:sldId id="739" r:id="rId4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E90848-8D8D-3240-9C7D-B00833E33691}">
          <p14:sldIdLst>
            <p14:sldId id="508"/>
            <p14:sldId id="815"/>
            <p14:sldId id="666"/>
            <p14:sldId id="699"/>
            <p14:sldId id="828"/>
            <p14:sldId id="707"/>
            <p14:sldId id="832"/>
            <p14:sldId id="669"/>
            <p14:sldId id="301"/>
            <p14:sldId id="753"/>
            <p14:sldId id="748"/>
            <p14:sldId id="829"/>
            <p14:sldId id="526"/>
            <p14:sldId id="830"/>
            <p14:sldId id="256"/>
            <p14:sldId id="822"/>
            <p14:sldId id="820"/>
            <p14:sldId id="818"/>
            <p14:sldId id="819"/>
            <p14:sldId id="821"/>
            <p14:sldId id="562"/>
          </p14:sldIdLst>
        </p14:section>
        <p14:section name="離散化" id="{B9D7F427-2E3B-844E-A309-0E764A5EB56F}">
          <p14:sldIdLst>
            <p14:sldId id="260"/>
            <p14:sldId id="305"/>
            <p14:sldId id="306"/>
          </p14:sldIdLst>
        </p14:section>
        <p14:section name="SSM的好處" id="{4E70A9FC-044E-5F4D-82D9-E1E3C9A84928}">
          <p14:sldIdLst>
            <p14:sldId id="307"/>
            <p14:sldId id="559"/>
            <p14:sldId id="560"/>
            <p14:sldId id="574"/>
            <p14:sldId id="823"/>
            <p14:sldId id="825"/>
            <p14:sldId id="824"/>
            <p14:sldId id="826"/>
            <p14:sldId id="827"/>
            <p14:sldId id="571"/>
            <p14:sldId id="573"/>
            <p14:sldId id="566"/>
            <p14:sldId id="302"/>
            <p14:sldId id="577"/>
            <p14:sldId id="262"/>
            <p14:sldId id="582"/>
            <p14:sldId id="583"/>
            <p14:sldId id="831"/>
            <p14:sldId id="584"/>
            <p14:sldId id="303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83"/>
    <p:restoredTop sz="96966"/>
  </p:normalViewPr>
  <p:slideViewPr>
    <p:cSldViewPr snapToGrid="0">
      <p:cViewPr varScale="1">
        <p:scale>
          <a:sx n="95" d="100"/>
          <a:sy n="95" d="100"/>
        </p:scale>
        <p:origin x="19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2:32:29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22966 14129 8191,'19'0'0,"-3"0"0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2026/5/25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57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227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5913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今天的內容來自這篇</a:t>
            </a:r>
            <a:r>
              <a:rPr kumimoji="1" lang="en-US" altLang="zh-TW" dirty="0"/>
              <a:t>paper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4742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4176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sz="105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BB1E5-1AD1-0245-A1A8-A806F86872B3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0020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BB1E5-1AD1-0245-A1A8-A806F86872B3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55512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059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4328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79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BB1E5-1AD1-0245-A1A8-A806F86872B3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0538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BB1E5-1AD1-0245-A1A8-A806F86872B3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123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x7ow7VmpfXCCqnsxgtqT2Y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190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review.net/forum?id=uYLFoz1vlA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14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38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53.png"/><Relationship Id="rId5" Type="http://schemas.openxmlformats.org/officeDocument/2006/relationships/image" Target="../media/image430.png"/><Relationship Id="rId15" Type="http://schemas.openxmlformats.org/officeDocument/2006/relationships/image" Target="../media/image530.png"/><Relationship Id="rId10" Type="http://schemas.openxmlformats.org/officeDocument/2006/relationships/image" Target="../media/image480.png"/><Relationship Id="rId4" Type="http://schemas.openxmlformats.org/officeDocument/2006/relationships/image" Target="../media/image40.png"/><Relationship Id="rId9" Type="http://schemas.openxmlformats.org/officeDocument/2006/relationships/image" Target="../media/image52.png"/><Relationship Id="rId14" Type="http://schemas.openxmlformats.org/officeDocument/2006/relationships/image" Target="../media/image5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17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6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67.png"/><Relationship Id="rId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70.png"/><Relationship Id="rId9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7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78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76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77.png"/><Relationship Id="rId3" Type="http://schemas.openxmlformats.org/officeDocument/2006/relationships/image" Target="../media/image79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80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3.png"/><Relationship Id="rId3" Type="http://schemas.openxmlformats.org/officeDocument/2006/relationships/image" Target="../media/image82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78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80.png"/><Relationship Id="rId7" Type="http://schemas.openxmlformats.org/officeDocument/2006/relationships/image" Target="../media/image820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1.png"/><Relationship Id="rId5" Type="http://schemas.openxmlformats.org/officeDocument/2006/relationships/image" Target="../media/image800.png"/><Relationship Id="rId4" Type="http://schemas.openxmlformats.org/officeDocument/2006/relationships/image" Target="../media/image790.png"/><Relationship Id="rId9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0.png"/><Relationship Id="rId7" Type="http://schemas.openxmlformats.org/officeDocument/2006/relationships/image" Target="../media/image88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Mamba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2026/05/25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NLP0525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5EF4346-E6E1-1199-5E02-D8011C295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925" y="4906216"/>
            <a:ext cx="1759125" cy="175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974B2-F49C-9EBA-253C-B2455C5A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87" y="854418"/>
            <a:ext cx="3485626" cy="2286000"/>
          </a:xfrm>
        </p:spPr>
        <p:txBody>
          <a:bodyPr/>
          <a:lstStyle/>
          <a:p>
            <a:r>
              <a:rPr kumimoji="1" lang="en-US" altLang="zh-TW" b="1" dirty="0"/>
              <a:t>Announcement</a:t>
            </a:r>
            <a:endParaRPr kumimoji="1" lang="zh-TW" altLang="en-US" b="1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3CB510-8B74-C75C-654D-8EBECB516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587" y="3598876"/>
            <a:ext cx="3200400" cy="2189528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For Checkpoint3</a:t>
            </a:r>
            <a:endParaRPr kumimoji="1" lang="zh-TW" altLang="en-US" sz="32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188D801-965C-DA4A-123B-3A6755BF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91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72F72D-E5D1-0DDE-C1FF-D18DAF7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Microsoft JhengHei" panose="020B0604030504040204" pitchFamily="34" charset="-120"/>
              </a:rPr>
              <a:t>Final Project</a:t>
            </a:r>
            <a:r>
              <a:rPr kumimoji="1" lang="en-US" altLang="zh-TW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各個階段分數佔比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0D8D9-00A2-AA7E-846E-861333C5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0BB514-B3C0-2706-E040-F93E69839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53219"/>
              </p:ext>
            </p:extLst>
          </p:nvPr>
        </p:nvGraphicFramePr>
        <p:xfrm>
          <a:off x="745671" y="2229858"/>
          <a:ext cx="10825843" cy="400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315">
                  <a:extLst>
                    <a:ext uri="{9D8B030D-6E8A-4147-A177-3AD203B41FA5}">
                      <a16:colId xmlns:a16="http://schemas.microsoft.com/office/drawing/2014/main" val="3021830611"/>
                    </a:ext>
                  </a:extLst>
                </a:gridCol>
                <a:gridCol w="8401722">
                  <a:extLst>
                    <a:ext uri="{9D8B030D-6E8A-4147-A177-3AD203B41FA5}">
                      <a16:colId xmlns:a16="http://schemas.microsoft.com/office/drawing/2014/main" val="3683024315"/>
                    </a:ext>
                  </a:extLst>
                </a:gridCol>
                <a:gridCol w="727806">
                  <a:extLst>
                    <a:ext uri="{9D8B030D-6E8A-4147-A177-3AD203B41FA5}">
                      <a16:colId xmlns:a16="http://schemas.microsoft.com/office/drawing/2014/main" val="2892346200"/>
                    </a:ext>
                  </a:extLst>
                </a:gridCol>
              </a:tblGrid>
              <a:tr h="963448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查核點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週次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對象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繳交內容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分數佔比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931947"/>
                  </a:ext>
                </a:extLst>
              </a:tr>
              <a:tr h="9268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Checkpoint3</a:t>
                      </a:r>
                      <a:endParaRPr lang="en-US" altLang="zh-TW" dirty="0">
                        <a:solidFill>
                          <a:srgbClr val="FF0000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15-16)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最終口頭報告</a:t>
                      </a:r>
                      <a:endParaRPr lang="en-US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99533"/>
                  </a:ext>
                </a:extLst>
              </a:tr>
              <a:tr h="211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Checkpoint4</a:t>
                      </a:r>
                      <a:endParaRPr lang="en-US" altLang="zh-TW" dirty="0">
                        <a:solidFill>
                          <a:srgbClr val="FF0000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Week 16-17)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書面報告檔案，須包含：</a:t>
                      </a:r>
                      <a:endParaRPr lang="en-US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可執行之程式碼與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altLang="zh-TW" dirty="0" err="1">
                          <a:latin typeface="+mn-lt"/>
                          <a:ea typeface="Microsoft JhengHei" panose="020B0604030504040204" pitchFamily="34" charset="-120"/>
                        </a:rPr>
                        <a:t>README.md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套件安裝與執行步驟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，請壓縮為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.zip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檔案，繳交檔案中請勿包含模型權重檔案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模型權重請上傳至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Hugging Face)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，檔名請命名為 </a:t>
                      </a: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NLP_teamN_checkpoint4.zip</a:t>
                      </a:r>
                      <a:endParaRPr lang="en-US" altLang="zh-TW" dirty="0">
                        <a:solidFill>
                          <a:srgbClr val="FF0000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Word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檔案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請勿直接貼上簡報內容，必須以文字敘述搭配圖片或表格呈現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，檔名請命名為 </a:t>
                      </a: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NLP_teamN_checkpoint4.docx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73830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FB64E78C-24D0-6BB5-B7BD-9324B370A080}"/>
              </a:ext>
            </a:extLst>
          </p:cNvPr>
          <p:cNvSpPr txBox="1"/>
          <p:nvPr/>
        </p:nvSpPr>
        <p:spPr>
          <a:xfrm>
            <a:off x="653143" y="171796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Microsoft JhengHei" panose="020B0604030504040204" pitchFamily="34" charset="-120"/>
              </a:rPr>
              <a:t>Final Project </a:t>
            </a:r>
            <a:r>
              <a:rPr lang="zh-TW" altLang="en-US" sz="2000" dirty="0">
                <a:ea typeface="Microsoft JhengHei" panose="020B0604030504040204" pitchFamily="34" charset="-120"/>
              </a:rPr>
              <a:t>佔學期總成績</a:t>
            </a:r>
            <a:r>
              <a:rPr lang="en-US" altLang="zh-TW" sz="2000" dirty="0">
                <a:ea typeface="Microsoft JhengHei" panose="020B0604030504040204" pitchFamily="34" charset="-120"/>
              </a:rPr>
              <a:t> 30%</a:t>
            </a:r>
            <a:endParaRPr lang="zh-TW" altLang="en-US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015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F3C48-DF46-658E-F671-279B1A9C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Checkpoint 3</a:t>
            </a:r>
            <a:r>
              <a:rPr kumimoji="1" lang="zh-TW" altLang="en-US" dirty="0"/>
              <a:t> </a:t>
            </a:r>
            <a:r>
              <a:rPr kumimoji="1" lang="en-US" altLang="zh-TW" dirty="0"/>
              <a:t>(for W15 / W16 oral)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43670A-B06D-9467-BD2E-4462194A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C5DBF66-0FCE-666C-1CC2-2EDC7C9F0D77}"/>
              </a:ext>
            </a:extLst>
          </p:cNvPr>
          <p:cNvSpPr txBox="1"/>
          <p:nvPr/>
        </p:nvSpPr>
        <p:spPr>
          <a:xfrm>
            <a:off x="653143" y="1878701"/>
            <a:ext cx="8226906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一組至多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18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分鐘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時間包括老師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QA 3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分鐘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老師</a:t>
            </a:r>
            <a:r>
              <a:rPr kumimoji="1" lang="en-US" altLang="zh-TW" sz="24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 QA</a:t>
            </a:r>
            <a:r>
              <a:rPr kumimoji="1" lang="zh-TW" altLang="en-US" sz="24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：給建議為主，問問題為輔</a:t>
            </a:r>
            <a:endParaRPr kumimoji="1" lang="en-US" altLang="zh-TW" sz="2400" dirty="0">
              <a:solidFill>
                <a:schemeClr val="accent1"/>
              </a:solidFill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15: 8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組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共約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144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分鐘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16: 8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組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共約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144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分鐘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343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0047C-F05D-C1C0-F509-10FD84CA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Checkpoint 3</a:t>
            </a:r>
            <a:r>
              <a:rPr kumimoji="1" lang="zh-TW" altLang="en-US" dirty="0"/>
              <a:t> </a:t>
            </a:r>
            <a:r>
              <a:rPr kumimoji="1" lang="en-US" altLang="zh-TW" dirty="0"/>
              <a:t>(for W15 / W16 oral)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E0BAD2-A6A8-DCC4-ABC6-81304DA0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83D932A-1A5A-A890-F14B-08981D61C0AA}"/>
              </a:ext>
            </a:extLst>
          </p:cNvPr>
          <p:cNvSpPr txBox="1"/>
          <p:nvPr/>
        </p:nvSpPr>
        <p:spPr>
          <a:xfrm>
            <a:off x="653143" y="1878701"/>
            <a:ext cx="8226906" cy="497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Checkpoint 3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有兩種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deadlines: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7B01FF-ACB8-E679-EA5B-D60A68E12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36704"/>
            <a:ext cx="7772400" cy="225571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4BFA41D-0235-EE61-9FE7-0DC8574CF686}"/>
              </a:ext>
            </a:extLst>
          </p:cNvPr>
          <p:cNvSpPr/>
          <p:nvPr/>
        </p:nvSpPr>
        <p:spPr>
          <a:xfrm>
            <a:off x="5192785" y="3959604"/>
            <a:ext cx="2709644" cy="4362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0899A14-0DE4-55B0-A72E-BFD02334EC02}"/>
              </a:ext>
            </a:extLst>
          </p:cNvPr>
          <p:cNvSpPr txBox="1"/>
          <p:nvPr/>
        </p:nvSpPr>
        <p:spPr>
          <a:xfrm>
            <a:off x="653142" y="5105612"/>
            <a:ext cx="10101543" cy="497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這是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hard deadlines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，老師會於上課前將各組的檔案準備至講桌電腦以節省時間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463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15 / Week 16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之前要繳交什麼？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474574"/>
            <a:ext cx="10918370" cy="5145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一組繳交一份，請上傳至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E-Learning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檔名：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NLP_teamN_checkpoint3.pdf </a:t>
            </a:r>
            <a:r>
              <a:rPr kumimoji="1" lang="zh-TW" altLang="en-US" sz="1700" b="1" dirty="0">
                <a:ea typeface="Microsoft JhengHei" panose="020B0604030504040204" pitchFamily="34" charset="-120"/>
              </a:rPr>
              <a:t>與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NLP_teamN_checkpoint3.pptx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1700" dirty="0">
                <a:solidFill>
                  <a:srgbClr val="FF0000"/>
                </a:solidFill>
                <a:ea typeface="Microsoft JhengHei" panose="020B0604030504040204" pitchFamily="34" charset="-120"/>
              </a:rPr>
              <a:t>(both pdf</a:t>
            </a:r>
            <a:r>
              <a:rPr kumimoji="1" lang="zh-TW" altLang="en-US" sz="17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en-US" altLang="zh-TW" sz="1700" dirty="0">
                <a:solidFill>
                  <a:srgbClr val="FF0000"/>
                </a:solidFill>
                <a:ea typeface="Microsoft JhengHei" panose="020B0604030504040204" pitchFamily="34" charset="-120"/>
              </a:rPr>
              <a:t>&amp; pptx)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1700" dirty="0">
                <a:ea typeface="Microsoft JhengHei" panose="020B0604030504040204" pitchFamily="34" charset="-120"/>
              </a:rPr>
              <a:t>(Optional) NLP_teamN_checkpoint3_oral.pdf 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與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NLP_teamN_checkpoint3_oral.pptx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前</a:t>
            </a:r>
            <a:r>
              <a:rPr kumimoji="1" lang="en-US" altLang="zh-TW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11</a:t>
            </a:r>
            <a:r>
              <a:rPr kumimoji="1" lang="zh-TW" altLang="en-US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頁</a:t>
            </a:r>
            <a:r>
              <a:rPr kumimoji="1" lang="en-US" altLang="zh-TW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 (</a:t>
            </a:r>
            <a:r>
              <a:rPr kumimoji="1" lang="zh-TW" altLang="en-US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含首頁</a:t>
            </a:r>
            <a:r>
              <a:rPr kumimoji="1" lang="en-US" altLang="zh-TW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)</a:t>
            </a:r>
            <a:r>
              <a:rPr kumimoji="1" lang="zh-TW" altLang="en-US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：</a:t>
            </a:r>
            <a:r>
              <a:rPr kumimoji="1" lang="en" altLang="zh-TW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Checkpoint1+Checkpoint2 </a:t>
            </a:r>
            <a:r>
              <a:rPr kumimoji="1" lang="zh-TW" altLang="en-US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原始簡報內容</a:t>
            </a:r>
            <a:r>
              <a:rPr kumimoji="1" lang="en-US" altLang="zh-TW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 (</a:t>
            </a:r>
            <a:r>
              <a:rPr kumimoji="1" lang="zh-TW" altLang="en-US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如有需要，可修改</a:t>
            </a:r>
            <a:r>
              <a:rPr kumimoji="1" lang="en-US" altLang="zh-TW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17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如果你們組別本來頁數就很多，那可能不只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11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 頁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後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頁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或更多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：加入新進度</a:t>
            </a:r>
            <a:endParaRPr kumimoji="1" lang="en-US" altLang="zh-TW" sz="1700" dirty="0"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實作的方法介紹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代表各組</a:t>
            </a:r>
            <a:r>
              <a:rPr kumimoji="1" lang="zh-TW" altLang="en-US" sz="1700" b="1" dirty="0">
                <a:ea typeface="Microsoft JhengHei" panose="020B0604030504040204" pitchFamily="34" charset="-120"/>
              </a:rPr>
              <a:t>須完成完整實作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，可以包含：</a:t>
            </a:r>
            <a:endParaRPr kumimoji="1" lang="en-US" altLang="zh-TW" sz="1700" dirty="0">
              <a:ea typeface="Microsoft JhengHei" panose="020B0604030504040204" pitchFamily="34" charset="-12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資料前處理、模型介紹、訓練策略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如 </a:t>
            </a:r>
            <a:r>
              <a:rPr kumimoji="1" lang="en" altLang="zh-TW" sz="1700" dirty="0">
                <a:ea typeface="Microsoft JhengHei" panose="020B0604030504040204" pitchFamily="34" charset="-120"/>
              </a:rPr>
              <a:t>loss function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 設計、模型訓練組合等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等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…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實驗結果比較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含實驗設定說明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：</a:t>
            </a:r>
            <a:endParaRPr kumimoji="1" lang="en-US" altLang="zh-TW" sz="1700" dirty="0">
              <a:ea typeface="Microsoft JhengHei" panose="020B0604030504040204" pitchFamily="34" charset="-12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需要有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(1) </a:t>
            </a:r>
            <a:r>
              <a:rPr kumimoji="1" lang="zh-TW" altLang="en-US" sz="1700" b="1" dirty="0">
                <a:ea typeface="Microsoft JhengHei" panose="020B0604030504040204" pitchFamily="34" charset="-120"/>
              </a:rPr>
              <a:t>不同模型之間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(2) </a:t>
            </a:r>
            <a:r>
              <a:rPr kumimoji="1" lang="zh-TW" altLang="en-US" sz="1700" b="1" dirty="0">
                <a:ea typeface="Microsoft JhengHei" panose="020B0604030504040204" pitchFamily="34" charset="-120"/>
              </a:rPr>
              <a:t>不同 </a:t>
            </a:r>
            <a:r>
              <a:rPr kumimoji="1" lang="en-US" altLang="zh-TW" sz="1700" b="1" dirty="0">
                <a:ea typeface="Microsoft JhengHei" panose="020B0604030504040204" pitchFamily="34" charset="-120"/>
              </a:rPr>
              <a:t>checkpoints </a:t>
            </a:r>
            <a:r>
              <a:rPr kumimoji="1" lang="zh-TW" altLang="en-US" sz="1700" b="1" dirty="0">
                <a:ea typeface="Microsoft JhengHei" panose="020B0604030504040204" pitchFamily="34" charset="-120"/>
              </a:rPr>
              <a:t>之間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(3) 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如果有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1700" b="1" dirty="0">
                <a:ea typeface="Microsoft JhengHei" panose="020B0604030504040204" pitchFamily="34" charset="-120"/>
              </a:rPr>
              <a:t>其他</a:t>
            </a:r>
            <a:r>
              <a:rPr kumimoji="1" lang="en-US" altLang="zh-TW" sz="1700" b="1" dirty="0">
                <a:ea typeface="Microsoft JhengHei" panose="020B0604030504040204" pitchFamily="34" charset="-120"/>
              </a:rPr>
              <a:t> code</a:t>
            </a:r>
            <a:r>
              <a:rPr kumimoji="1" lang="zh-TW" altLang="en-US" sz="1700" b="1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1700" dirty="0">
                <a:solidFill>
                  <a:srgbClr val="FF0000"/>
                </a:solidFill>
                <a:ea typeface="Microsoft JhengHei" panose="020B0604030504040204" pitchFamily="34" charset="-120"/>
              </a:rPr>
              <a:t>的比較</a:t>
            </a:r>
            <a:endParaRPr kumimoji="1" lang="en-US" altLang="zh-TW" sz="17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1700" dirty="0">
                <a:ea typeface="Microsoft JhengHei" panose="020B0604030504040204" pitchFamily="34" charset="-120"/>
              </a:rPr>
              <a:t>Kaggle Leaderboard 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名次或分數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請截圖貼到簡報中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時程規劃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再來還要簡單測試什麼？用表格列出未來 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1-2 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週內的可能測試與安排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1700" dirty="0">
                <a:ea typeface="Microsoft JhengHei" panose="020B0604030504040204" pitchFamily="34" charset="-120"/>
              </a:rPr>
              <a:t>針對</a:t>
            </a:r>
            <a:r>
              <a:rPr kumimoji="1" lang="en-US" altLang="zh-TW" sz="1700" dirty="0">
                <a:ea typeface="Microsoft JhengHei" panose="020B0604030504040204" pitchFamily="34" charset="-120"/>
              </a:rPr>
              <a:t> </a:t>
            </a:r>
            <a:r>
              <a:rPr kumimoji="1" lang="en" altLang="zh-TW" sz="1700" dirty="0">
                <a:solidFill>
                  <a:srgbClr val="0070C0"/>
                </a:solidFill>
                <a:ea typeface="Microsoft JhengHei" panose="020B0604030504040204" pitchFamily="34" charset="-120"/>
              </a:rPr>
              <a:t>Checkpoint3 </a:t>
            </a:r>
            <a:r>
              <a:rPr kumimoji="1" lang="zh-TW" altLang="en-US" sz="1700" dirty="0">
                <a:ea typeface="Microsoft JhengHei" panose="020B0604030504040204" pitchFamily="34" charset="-120"/>
              </a:rPr>
              <a:t>之前的小組分工細節，置於最後一頁</a:t>
            </a:r>
            <a:endParaRPr kumimoji="1" lang="en-US" altLang="zh-TW" sz="17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070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F3C48-DF46-658E-F671-279B1A9C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Checkpoint 4</a:t>
            </a:r>
            <a:r>
              <a:rPr kumimoji="1" lang="zh-TW" altLang="en-US" dirty="0"/>
              <a:t> </a:t>
            </a:r>
            <a:r>
              <a:rPr kumimoji="1" lang="en-US" altLang="zh-TW" dirty="0"/>
              <a:t>Deadline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43670A-B06D-9467-BD2E-4462194A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226B93-F28E-6FAC-5CFB-08B83CFF9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85" y="2048313"/>
            <a:ext cx="9890630" cy="390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Mamba [85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[15 min]</a:t>
            </a:r>
            <a:endParaRPr kumimoji="1" lang="en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Presentations [50 min]</a:t>
            </a:r>
          </a:p>
        </p:txBody>
      </p:sp>
    </p:spTree>
    <p:extLst>
      <p:ext uri="{BB962C8B-B14F-4D97-AF65-F5344CB8AC3E}">
        <p14:creationId xmlns:p14="http://schemas.microsoft.com/office/powerpoint/2010/main" val="82630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8C746-DBA3-0753-1350-FE26EBC6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Problems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DFF0C1-630C-A074-17E0-BEC830A2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9244E36-0A23-3639-F384-5E5067C19C8D}"/>
              </a:ext>
            </a:extLst>
          </p:cNvPr>
          <p:cNvSpPr txBox="1"/>
          <p:nvPr/>
        </p:nvSpPr>
        <p:spPr>
          <a:xfrm>
            <a:off x="653143" y="1668976"/>
            <a:ext cx="8226906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Quadratic scaling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with respect to the window length</a:t>
            </a:r>
          </a:p>
        </p:txBody>
      </p:sp>
    </p:spTree>
    <p:extLst>
      <p:ext uri="{BB962C8B-B14F-4D97-AF65-F5344CB8AC3E}">
        <p14:creationId xmlns:p14="http://schemas.microsoft.com/office/powerpoint/2010/main" val="244850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95AC75-7511-5747-8B0E-C3D022BE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[Recap] Self-Attention (Transformer)</a:t>
            </a:r>
            <a:r>
              <a:rPr kumimoji="1" lang="zh-TW" altLang="en-US" dirty="0"/>
              <a:t> 過程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198081-C049-BBE5-9674-DDAE6BD48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6A606F1-C0F0-DFB8-A11C-122FBFCF2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94" y="1842003"/>
            <a:ext cx="9603412" cy="48708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EC12656-76DC-CFCA-B98A-5B8448F3BEC2}"/>
              </a:ext>
            </a:extLst>
          </p:cNvPr>
          <p:cNvSpPr txBox="1"/>
          <p:nvPr/>
        </p:nvSpPr>
        <p:spPr>
          <a:xfrm>
            <a:off x="8052620" y="1411626"/>
            <a:ext cx="3657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50" dirty="0"/>
              <a:t>Vaswani et al. "Attention is all you need." </a:t>
            </a:r>
            <a:r>
              <a:rPr kumimoji="1" lang="en" altLang="zh-TW" sz="1050" dirty="0" err="1"/>
              <a:t>NeurIPS</a:t>
            </a:r>
            <a:r>
              <a:rPr kumimoji="1" lang="en" altLang="zh-TW" sz="1050" dirty="0"/>
              <a:t> 2017.</a:t>
            </a:r>
          </a:p>
          <a:p>
            <a:r>
              <a:rPr kumimoji="1" lang="en" altLang="zh-TW" sz="1050" dirty="0"/>
              <a:t>https://</a:t>
            </a:r>
            <a:r>
              <a:rPr kumimoji="1" lang="en" altLang="zh-TW" sz="1050" dirty="0" err="1"/>
              <a:t>research.google</a:t>
            </a:r>
            <a:r>
              <a:rPr kumimoji="1" lang="en" altLang="zh-TW" sz="1050" dirty="0"/>
              <a:t>/blog/transformer-a-novel-neural-network-architecture-for-language-understanding/</a:t>
            </a:r>
            <a:endParaRPr kumimoji="1" lang="zh-TW" alt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1E8D8A60-206B-9359-50C3-33F99346807F}"/>
                  </a:ext>
                </a:extLst>
              </p14:cNvPr>
              <p14:cNvContentPartPr/>
              <p14:nvPr/>
            </p14:nvContentPartPr>
            <p14:xfrm>
              <a:off x="8267760" y="5086440"/>
              <a:ext cx="12960" cy="360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1E8D8A60-206B-9359-50C3-33F9934680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8400" y="5077080"/>
                <a:ext cx="316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559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2775-BA93-B785-6304-578382A8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A711A-1FB9-8768-018A-D99C7331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[Recap] Self-Attention (Transformer)</a:t>
            </a:r>
            <a:r>
              <a:rPr kumimoji="1" lang="zh-TW" altLang="en-US" dirty="0"/>
              <a:t> 過程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514E42-B09E-5F46-7BFA-63FA2E33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629FF2-8D4F-082B-664E-C31B58B34C84}"/>
              </a:ext>
            </a:extLst>
          </p:cNvPr>
          <p:cNvSpPr txBox="1"/>
          <p:nvPr/>
        </p:nvSpPr>
        <p:spPr>
          <a:xfrm>
            <a:off x="8052620" y="1411626"/>
            <a:ext cx="3657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50" dirty="0"/>
              <a:t>Vaswani et al. "Attention is all you need." </a:t>
            </a:r>
            <a:r>
              <a:rPr kumimoji="1" lang="en" altLang="zh-TW" sz="1050" dirty="0" err="1"/>
              <a:t>NeurIPS</a:t>
            </a:r>
            <a:r>
              <a:rPr kumimoji="1" lang="en" altLang="zh-TW" sz="1050" dirty="0"/>
              <a:t> 2017.</a:t>
            </a:r>
          </a:p>
          <a:p>
            <a:r>
              <a:rPr kumimoji="1" lang="en" altLang="zh-TW" sz="1050" dirty="0"/>
              <a:t>https://</a:t>
            </a:r>
            <a:r>
              <a:rPr kumimoji="1" lang="en" altLang="zh-TW" sz="1050" dirty="0" err="1"/>
              <a:t>research.google</a:t>
            </a:r>
            <a:r>
              <a:rPr kumimoji="1" lang="en" altLang="zh-TW" sz="1050" dirty="0"/>
              <a:t>/blog/transformer-a-novel-neural-network-architecture-for-language-understanding/</a:t>
            </a:r>
            <a:endParaRPr kumimoji="1" lang="zh-TW" altLang="en-US" sz="105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F7FD14F-720C-3F78-78DF-32503652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57" y="1836807"/>
            <a:ext cx="9714486" cy="4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53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8C746-DBA3-0753-1350-FE26EBC6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Problems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DFF0C1-630C-A074-17E0-BEC830A2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9244E36-0A23-3639-F384-5E5067C19C8D}"/>
              </a:ext>
            </a:extLst>
          </p:cNvPr>
          <p:cNvSpPr txBox="1"/>
          <p:nvPr/>
        </p:nvSpPr>
        <p:spPr>
          <a:xfrm>
            <a:off x="653142" y="1668976"/>
            <a:ext cx="10084765" cy="334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Quadratic scaling with respect to the window length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attention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要算「每個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token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對每個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token</a:t>
            </a:r>
            <a:r>
              <a:rPr kumimoji="1" lang="zh-TW" altLang="en" sz="2400" dirty="0">
                <a:ea typeface="Microsoft JhengHei" panose="020B0604030504040204" pitchFamily="34" charset="-120"/>
              </a:rPr>
              <a:t>」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，假設一序列長度為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L</a:t>
            </a:r>
            <a:endParaRPr kumimoji="1" lang="en" altLang="zh-TW" sz="24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token 1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要對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L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個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token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各算一個分數 →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L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次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token 2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也要對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L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個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token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各算一次 →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L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次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…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token L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同樣 →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L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次</a:t>
            </a:r>
            <a:endParaRPr kumimoji="1" lang="en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871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34632-1925-DED6-ABF9-99E9101D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ea typeface="Microsoft JhengHei" panose="020B0604030504040204" pitchFamily="34" charset="-120"/>
              </a:rPr>
              <a:t>為什麼 </a:t>
            </a:r>
            <a:r>
              <a:rPr kumimoji="1" lang="en-US" altLang="zh-TW" dirty="0">
                <a:ea typeface="Microsoft JhengHei" panose="020B0604030504040204" pitchFamily="34" charset="-120"/>
              </a:rPr>
              <a:t>Transformers </a:t>
            </a:r>
            <a:r>
              <a:rPr kumimoji="1" lang="zh-TW" altLang="en-US" dirty="0">
                <a:ea typeface="Microsoft JhengHei" panose="020B0604030504040204" pitchFamily="34" charset="-120"/>
              </a:rPr>
              <a:t>可以平行化？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37672B-4E61-A146-0784-0A62D7E2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8250A1-BEB4-61A1-6F07-5433DEFD6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44" y="2378948"/>
            <a:ext cx="2765086" cy="3450957"/>
          </a:xfrm>
          <a:prstGeom prst="rect">
            <a:avLst/>
          </a:prstGeom>
        </p:spPr>
      </p:pic>
      <p:sp>
        <p:nvSpPr>
          <p:cNvPr id="6" name="圓角矩形 5">
            <a:extLst>
              <a:ext uri="{FF2B5EF4-FFF2-40B4-BE49-F238E27FC236}">
                <a16:creationId xmlns:a16="http://schemas.microsoft.com/office/drawing/2014/main" id="{50745F76-BCA4-CF78-F4BE-CC059C9C5E66}"/>
              </a:ext>
            </a:extLst>
          </p:cNvPr>
          <p:cNvSpPr/>
          <p:nvPr/>
        </p:nvSpPr>
        <p:spPr>
          <a:xfrm>
            <a:off x="5286399" y="614972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9C815E1-E390-94FE-3B0C-2541453CF7E5}"/>
              </a:ext>
            </a:extLst>
          </p:cNvPr>
          <p:cNvSpPr txBox="1"/>
          <p:nvPr/>
        </p:nvSpPr>
        <p:spPr>
          <a:xfrm>
            <a:off x="5861542" y="6178818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07179721-A00D-70F9-E0B9-B7D199E2B83F}"/>
              </a:ext>
            </a:extLst>
          </p:cNvPr>
          <p:cNvSpPr/>
          <p:nvPr/>
        </p:nvSpPr>
        <p:spPr>
          <a:xfrm>
            <a:off x="7734909" y="614972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3C4D787-EFD9-A8BE-C118-31679759D4A0}"/>
              </a:ext>
            </a:extLst>
          </p:cNvPr>
          <p:cNvSpPr txBox="1"/>
          <p:nvPr/>
        </p:nvSpPr>
        <p:spPr>
          <a:xfrm>
            <a:off x="8294219" y="617157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9114E970-6D06-8883-69F2-AC2FFA14557A}"/>
              </a:ext>
            </a:extLst>
          </p:cNvPr>
          <p:cNvSpPr/>
          <p:nvPr/>
        </p:nvSpPr>
        <p:spPr>
          <a:xfrm>
            <a:off x="10155423" y="6144693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D70E040-DB77-5805-20E8-637906B04D89}"/>
              </a:ext>
            </a:extLst>
          </p:cNvPr>
          <p:cNvSpPr txBox="1"/>
          <p:nvPr/>
        </p:nvSpPr>
        <p:spPr>
          <a:xfrm>
            <a:off x="10731099" y="617948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15C3A9E0-5231-9712-211B-F2543263D056}"/>
              </a:ext>
            </a:extLst>
          </p:cNvPr>
          <p:cNvSpPr/>
          <p:nvPr/>
        </p:nvSpPr>
        <p:spPr>
          <a:xfrm>
            <a:off x="9554464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5B26178-0D41-620D-92E0-C21F1A858AB7}"/>
              </a:ext>
            </a:extLst>
          </p:cNvPr>
          <p:cNvSpPr/>
          <p:nvPr/>
        </p:nvSpPr>
        <p:spPr>
          <a:xfrm>
            <a:off x="10130090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79815C8-E81D-DC79-5550-8E3356121A36}"/>
              </a:ext>
            </a:extLst>
          </p:cNvPr>
          <p:cNvSpPr/>
          <p:nvPr/>
        </p:nvSpPr>
        <p:spPr>
          <a:xfrm>
            <a:off x="10711761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ADD29C84-8D9E-E259-1D7D-EC0C2203643F}"/>
              </a:ext>
            </a:extLst>
          </p:cNvPr>
          <p:cNvSpPr/>
          <p:nvPr/>
        </p:nvSpPr>
        <p:spPr>
          <a:xfrm>
            <a:off x="7153938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2CB7E018-5210-57E9-0114-3AB680FE07B3}"/>
              </a:ext>
            </a:extLst>
          </p:cNvPr>
          <p:cNvSpPr/>
          <p:nvPr/>
        </p:nvSpPr>
        <p:spPr>
          <a:xfrm>
            <a:off x="7729564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AB014BF2-81E8-25AD-3BA9-D63775853E00}"/>
              </a:ext>
            </a:extLst>
          </p:cNvPr>
          <p:cNvSpPr/>
          <p:nvPr/>
        </p:nvSpPr>
        <p:spPr>
          <a:xfrm>
            <a:off x="8311235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07F6C340-CAF8-D2E3-1412-CEFFB7AA4162}"/>
              </a:ext>
            </a:extLst>
          </p:cNvPr>
          <p:cNvSpPr/>
          <p:nvPr/>
        </p:nvSpPr>
        <p:spPr>
          <a:xfrm>
            <a:off x="4704315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A2587DFD-21BD-CDE2-5D60-FAD3BA577A0A}"/>
              </a:ext>
            </a:extLst>
          </p:cNvPr>
          <p:cNvSpPr/>
          <p:nvPr/>
        </p:nvSpPr>
        <p:spPr>
          <a:xfrm>
            <a:off x="5279941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1979137F-8769-9695-7637-80134D5BA169}"/>
              </a:ext>
            </a:extLst>
          </p:cNvPr>
          <p:cNvSpPr/>
          <p:nvPr/>
        </p:nvSpPr>
        <p:spPr>
          <a:xfrm>
            <a:off x="5861612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8BD889CF-9484-0C82-70C0-6340D918B3E9}"/>
              </a:ext>
            </a:extLst>
          </p:cNvPr>
          <p:cNvSpPr/>
          <p:nvPr/>
        </p:nvSpPr>
        <p:spPr>
          <a:xfrm>
            <a:off x="7135071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69BDE403-6F2B-2A4A-A376-248D173FC50A}"/>
              </a:ext>
            </a:extLst>
          </p:cNvPr>
          <p:cNvSpPr/>
          <p:nvPr/>
        </p:nvSpPr>
        <p:spPr>
          <a:xfrm>
            <a:off x="7712548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71E6B737-A27E-9B79-CD6B-948592E1FA13}"/>
              </a:ext>
            </a:extLst>
          </p:cNvPr>
          <p:cNvSpPr/>
          <p:nvPr/>
        </p:nvSpPr>
        <p:spPr>
          <a:xfrm>
            <a:off x="8294219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B71A2F6-89FA-437E-911F-6ECCE0DE0856}"/>
              </a:ext>
            </a:extLst>
          </p:cNvPr>
          <p:cNvSpPr/>
          <p:nvPr/>
        </p:nvSpPr>
        <p:spPr>
          <a:xfrm rot="16200000">
            <a:off x="5266864" y="2670685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75455F1-1A19-97DA-1A63-86C922D54717}"/>
              </a:ext>
            </a:extLst>
          </p:cNvPr>
          <p:cNvSpPr txBox="1"/>
          <p:nvPr/>
        </p:nvSpPr>
        <p:spPr>
          <a:xfrm>
            <a:off x="5338224" y="302962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86E813EF-10BA-8164-EA0E-7646D39428B3}"/>
              </a:ext>
            </a:extLst>
          </p:cNvPr>
          <p:cNvSpPr/>
          <p:nvPr/>
        </p:nvSpPr>
        <p:spPr>
          <a:xfrm rot="16200000">
            <a:off x="5265078" y="3260459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09BE094-8006-8567-2B01-7E1A261C401B}"/>
              </a:ext>
            </a:extLst>
          </p:cNvPr>
          <p:cNvSpPr txBox="1"/>
          <p:nvPr/>
        </p:nvSpPr>
        <p:spPr>
          <a:xfrm>
            <a:off x="5336438" y="361940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497FDF6-6E6B-CACA-AD68-09882C9FB31F}"/>
              </a:ext>
            </a:extLst>
          </p:cNvPr>
          <p:cNvSpPr/>
          <p:nvPr/>
        </p:nvSpPr>
        <p:spPr>
          <a:xfrm rot="16200000">
            <a:off x="5259842" y="2080910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4B6D927-ED3F-30DF-7A82-B1BEB8F9C1F9}"/>
              </a:ext>
            </a:extLst>
          </p:cNvPr>
          <p:cNvSpPr txBox="1"/>
          <p:nvPr/>
        </p:nvSpPr>
        <p:spPr>
          <a:xfrm>
            <a:off x="5331202" y="243985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DBE572CA-6E7D-04A6-5ED2-C9A5276AABCF}"/>
              </a:ext>
            </a:extLst>
          </p:cNvPr>
          <p:cNvSpPr/>
          <p:nvPr/>
        </p:nvSpPr>
        <p:spPr>
          <a:xfrm rot="16200000">
            <a:off x="10069103" y="267068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6D73BE6-9C95-6F38-F654-FBC3629F1DE7}"/>
              </a:ext>
            </a:extLst>
          </p:cNvPr>
          <p:cNvSpPr txBox="1"/>
          <p:nvPr/>
        </p:nvSpPr>
        <p:spPr>
          <a:xfrm>
            <a:off x="10140463" y="302962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3D84D303-7B5B-C0CB-60A6-6ACAC5096849}"/>
              </a:ext>
            </a:extLst>
          </p:cNvPr>
          <p:cNvSpPr/>
          <p:nvPr/>
        </p:nvSpPr>
        <p:spPr>
          <a:xfrm rot="16200000">
            <a:off x="10067317" y="3260460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D09C80F-9497-4E1F-EF28-F577821AE9AA}"/>
              </a:ext>
            </a:extLst>
          </p:cNvPr>
          <p:cNvSpPr txBox="1"/>
          <p:nvPr/>
        </p:nvSpPr>
        <p:spPr>
          <a:xfrm>
            <a:off x="10138677" y="361940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76BA6002-F22B-2534-E7EB-97C846B2E2BE}"/>
              </a:ext>
            </a:extLst>
          </p:cNvPr>
          <p:cNvSpPr/>
          <p:nvPr/>
        </p:nvSpPr>
        <p:spPr>
          <a:xfrm rot="16200000">
            <a:off x="10062081" y="2080911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DAD992D-C285-0814-141D-78D30180B5F4}"/>
              </a:ext>
            </a:extLst>
          </p:cNvPr>
          <p:cNvSpPr txBox="1"/>
          <p:nvPr/>
        </p:nvSpPr>
        <p:spPr>
          <a:xfrm>
            <a:off x="10133441" y="243985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6A02C634-C3E5-CA5F-30E9-2F145997B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49" y="5820305"/>
            <a:ext cx="2972804" cy="543179"/>
          </a:xfrm>
          <a:prstGeom prst="rect">
            <a:avLst/>
          </a:prstGeom>
        </p:spPr>
      </p:pic>
      <p:sp>
        <p:nvSpPr>
          <p:cNvPr id="61" name="文字方塊 60">
            <a:extLst>
              <a:ext uri="{FF2B5EF4-FFF2-40B4-BE49-F238E27FC236}">
                <a16:creationId xmlns:a16="http://schemas.microsoft.com/office/drawing/2014/main" id="{C520CD93-873C-463D-AF8C-A1DDD87CCA79}"/>
              </a:ext>
            </a:extLst>
          </p:cNvPr>
          <p:cNvSpPr txBox="1"/>
          <p:nvPr/>
        </p:nvSpPr>
        <p:spPr>
          <a:xfrm>
            <a:off x="5069918" y="1504369"/>
            <a:ext cx="556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自注意力機制可以利用矩陣乘積來進行平行化計算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C9D9FE6-4146-C56B-E668-E84FB1F3BDE9}"/>
              </a:ext>
            </a:extLst>
          </p:cNvPr>
          <p:cNvSpPr/>
          <p:nvPr/>
        </p:nvSpPr>
        <p:spPr>
          <a:xfrm>
            <a:off x="4704315" y="1912366"/>
            <a:ext cx="6362773" cy="252517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ADCB5F9-BA0B-0BF2-5398-5CFFBFF82156}"/>
                  </a:ext>
                </a:extLst>
              </p:cNvPr>
              <p:cNvSpPr txBox="1"/>
              <p:nvPr/>
            </p:nvSpPr>
            <p:spPr>
              <a:xfrm>
                <a:off x="5170106" y="1897689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ADCB5F9-BA0B-0BF2-5398-5CFFBFF82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6" y="1897689"/>
                <a:ext cx="686909" cy="461665"/>
              </a:xfrm>
              <a:prstGeom prst="rect">
                <a:avLst/>
              </a:prstGeom>
              <a:blipFill>
                <a:blip r:embed="rId5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338EB73-7A7A-1E1C-F380-BE0988980C28}"/>
                  </a:ext>
                </a:extLst>
              </p:cNvPr>
              <p:cNvSpPr txBox="1"/>
              <p:nvPr/>
            </p:nvSpPr>
            <p:spPr>
              <a:xfrm>
                <a:off x="7639828" y="1897689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baseline="30000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338EB73-7A7A-1E1C-F380-BE0988980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28" y="1897689"/>
                <a:ext cx="68690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9649E02-9C83-7F4F-C360-3872FF98D2F6}"/>
                  </a:ext>
                </a:extLst>
              </p:cNvPr>
              <p:cNvSpPr txBox="1"/>
              <p:nvPr/>
            </p:nvSpPr>
            <p:spPr>
              <a:xfrm>
                <a:off x="9994521" y="1894352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9649E02-9C83-7F4F-C360-3872FF98D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521" y="1894352"/>
                <a:ext cx="68690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A23F0C9-C20A-2C50-004E-F213D1CB681A}"/>
              </a:ext>
            </a:extLst>
          </p:cNvPr>
          <p:cNvSpPr txBox="1"/>
          <p:nvPr/>
        </p:nvSpPr>
        <p:spPr>
          <a:xfrm>
            <a:off x="9981159" y="4068205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v</a:t>
            </a:r>
            <a:endParaRPr kumimoji="1" lang="zh-TW" altLang="en-US" baseline="-25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6DFDC0E-0195-B0B8-3023-708C64EC10D0}"/>
              </a:ext>
            </a:extLst>
          </p:cNvPr>
          <p:cNvSpPr txBox="1"/>
          <p:nvPr/>
        </p:nvSpPr>
        <p:spPr>
          <a:xfrm>
            <a:off x="5143043" y="4074554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51F3D3-FCD0-B930-B86E-B1048D8098B7}"/>
              </a:ext>
            </a:extLst>
          </p:cNvPr>
          <p:cNvSpPr txBox="1"/>
          <p:nvPr/>
        </p:nvSpPr>
        <p:spPr>
          <a:xfrm>
            <a:off x="7625979" y="4070697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</a:t>
            </a:r>
            <a:r>
              <a:rPr kumimoji="1" lang="en-US" altLang="zh-TW" baseline="-25000" dirty="0"/>
              <a:t>k </a:t>
            </a:r>
            <a:r>
              <a:rPr kumimoji="1" lang="en-US" altLang="zh-TW" dirty="0"/>
              <a:t>x N</a:t>
            </a:r>
            <a:endParaRPr kumimoji="1" lang="zh-TW" altLang="en-US" baseline="-25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87E2A89-6805-53F1-922F-5A0A7785DDBF}"/>
              </a:ext>
            </a:extLst>
          </p:cNvPr>
          <p:cNvSpPr txBox="1"/>
          <p:nvPr/>
        </p:nvSpPr>
        <p:spPr>
          <a:xfrm>
            <a:off x="822444" y="1810993"/>
            <a:ext cx="2546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通常設置 </a:t>
            </a:r>
            <a:r>
              <a:rPr kumimoji="1" lang="en-US" altLang="zh-TW" dirty="0" err="1">
                <a:solidFill>
                  <a:srgbClr val="0070C0"/>
                </a:solidFill>
              </a:rPr>
              <a:t>d</a:t>
            </a:r>
            <a:r>
              <a:rPr kumimoji="1" lang="en-US" altLang="zh-TW" baseline="-25000" dirty="0" err="1">
                <a:solidFill>
                  <a:srgbClr val="0070C0"/>
                </a:solidFill>
              </a:rPr>
              <a:t>q</a:t>
            </a:r>
            <a:r>
              <a:rPr kumimoji="1" lang="en-US" altLang="zh-TW" baseline="-25000" dirty="0">
                <a:solidFill>
                  <a:srgbClr val="0070C0"/>
                </a:solidFill>
              </a:rPr>
              <a:t>  </a:t>
            </a:r>
            <a:r>
              <a:rPr kumimoji="1" lang="en-US" altLang="zh-TW" dirty="0">
                <a:solidFill>
                  <a:srgbClr val="0070C0"/>
                </a:solidFill>
              </a:rPr>
              <a:t>= d</a:t>
            </a:r>
            <a:r>
              <a:rPr kumimoji="1" lang="en-US" altLang="zh-TW" baseline="-25000" dirty="0">
                <a:solidFill>
                  <a:srgbClr val="0070C0"/>
                </a:solidFill>
              </a:rPr>
              <a:t>k</a:t>
            </a:r>
            <a:r>
              <a:rPr kumimoji="1" lang="en-US" altLang="zh-TW" dirty="0">
                <a:solidFill>
                  <a:srgbClr val="0070C0"/>
                </a:solidFill>
              </a:rPr>
              <a:t> = d</a:t>
            </a:r>
            <a:r>
              <a:rPr kumimoji="1" lang="en-US" altLang="zh-TW" baseline="-25000" dirty="0">
                <a:solidFill>
                  <a:srgbClr val="0070C0"/>
                </a:solidFill>
              </a:rPr>
              <a:t>v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873072C-93E4-FA21-5E7C-100A4F7EDEB3}"/>
              </a:ext>
            </a:extLst>
          </p:cNvPr>
          <p:cNvSpPr txBox="1"/>
          <p:nvPr/>
        </p:nvSpPr>
        <p:spPr>
          <a:xfrm>
            <a:off x="855799" y="1439777"/>
            <a:ext cx="3113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d</a:t>
            </a:r>
            <a:r>
              <a:rPr kumimoji="1" lang="en-US" altLang="zh-TW" sz="1600" baseline="-25000" dirty="0">
                <a:solidFill>
                  <a:srgbClr val="0070C0"/>
                </a:solidFill>
                <a:ea typeface="Microsoft JhengHei" panose="020B0604030504040204" pitchFamily="34" charset="-120"/>
              </a:rPr>
              <a:t>k </a:t>
            </a:r>
            <a:r>
              <a:rPr kumimoji="1" lang="en-US" altLang="zh-TW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: queries</a:t>
            </a:r>
            <a:r>
              <a:rPr kumimoji="1" lang="zh-TW" altLang="en-US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 和 </a:t>
            </a:r>
            <a:r>
              <a:rPr kumimoji="1" lang="en-US" altLang="zh-TW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keys </a:t>
            </a:r>
            <a:r>
              <a:rPr kumimoji="1" lang="zh-TW" altLang="en-US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的維度大小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ADADD24-90A7-6BA7-B587-A3A16503F0F4}"/>
              </a:ext>
            </a:extLst>
          </p:cNvPr>
          <p:cNvGrpSpPr/>
          <p:nvPr/>
        </p:nvGrpSpPr>
        <p:grpSpPr>
          <a:xfrm>
            <a:off x="5555417" y="4082111"/>
            <a:ext cx="5231042" cy="381135"/>
            <a:chOff x="5555417" y="4082111"/>
            <a:chExt cx="5231042" cy="381135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8A6E456D-BA68-F512-5076-DAB3AE5C3458}"/>
                </a:ext>
              </a:extLst>
            </p:cNvPr>
            <p:cNvSpPr/>
            <p:nvPr/>
          </p:nvSpPr>
          <p:spPr>
            <a:xfrm>
              <a:off x="7639828" y="4082111"/>
              <a:ext cx="381135" cy="381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482A743-8AB6-AB5E-8A2B-E478A200F125}"/>
                </a:ext>
              </a:extLst>
            </p:cNvPr>
            <p:cNvSpPr/>
            <p:nvPr/>
          </p:nvSpPr>
          <p:spPr>
            <a:xfrm>
              <a:off x="5555417" y="4082111"/>
              <a:ext cx="381135" cy="381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92A9913F-19FE-EB23-D530-52568699FA66}"/>
                </a:ext>
              </a:extLst>
            </p:cNvPr>
            <p:cNvSpPr/>
            <p:nvPr/>
          </p:nvSpPr>
          <p:spPr>
            <a:xfrm>
              <a:off x="10405324" y="4082111"/>
              <a:ext cx="381135" cy="381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982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82737B-6611-F2B4-E7FE-6E484017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Transformer </a:t>
            </a:r>
            <a:r>
              <a:rPr kumimoji="1" lang="zh-TW" altLang="en-US" dirty="0"/>
              <a:t>計算量為 </a:t>
            </a:r>
            <a:r>
              <a:rPr kumimoji="1" lang="en-US" altLang="zh-TW" dirty="0"/>
              <a:t>O(L</a:t>
            </a:r>
            <a:r>
              <a:rPr kumimoji="1" lang="en-US" altLang="zh-TW" baseline="30000" dirty="0"/>
              <a:t>2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0AD25B-181A-9B49-FBC7-3F4A27D1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3357C1-3031-7052-6C82-BBD8A0CCA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2003242"/>
            <a:ext cx="7031173" cy="261662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8D31DE9-3AF1-2BE0-A9E5-097CDA82D3C7}"/>
              </a:ext>
            </a:extLst>
          </p:cNvPr>
          <p:cNvSpPr txBox="1"/>
          <p:nvPr/>
        </p:nvSpPr>
        <p:spPr>
          <a:xfrm>
            <a:off x="7575259" y="3370276"/>
            <a:ext cx="163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答案為 </a:t>
            </a:r>
            <a:r>
              <a:rPr kumimoji="1" lang="en-US" altLang="zh-TW" dirty="0" err="1">
                <a:solidFill>
                  <a:srgbClr val="FF0000"/>
                </a:solidFill>
              </a:rPr>
              <a:t>NxN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ABD355-F3BC-DABD-E375-97C832DDC97B}"/>
              </a:ext>
            </a:extLst>
          </p:cNvPr>
          <p:cNvSpPr txBox="1"/>
          <p:nvPr/>
        </p:nvSpPr>
        <p:spPr>
          <a:xfrm>
            <a:off x="1072593" y="5027919"/>
            <a:ext cx="8226906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長度為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1k -&gt;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計算</a:t>
            </a:r>
            <a:r>
              <a:rPr kumimoji="1" lang="en-US" altLang="zh-TW" sz="20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1</a:t>
            </a:r>
            <a:r>
              <a:rPr kumimoji="1" lang="zh-TW" altLang="en-US" sz="20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百萬次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得到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Attention score matrix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長度為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2k -&gt;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計算</a:t>
            </a:r>
            <a:r>
              <a:rPr kumimoji="1" lang="en-US" altLang="zh-TW" sz="20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4</a:t>
            </a:r>
            <a:r>
              <a:rPr kumimoji="1" lang="zh-TW" altLang="en-US" sz="20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百萬次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得到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Attention score matrix</a:t>
            </a:r>
            <a:endParaRPr kumimoji="1" lang="en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80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87043F-6009-01AF-AE9B-FFA12A19A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kumimoji="1" lang="en-US" altLang="zh-TW" sz="4800" dirty="0"/>
              <a:t>Linear-Time Sequence Modeling with Selective State Spaces</a:t>
            </a:r>
            <a:endParaRPr kumimoji="1" lang="zh-TW" altLang="en-US" sz="4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5DAFE8-931C-C86F-349D-2014466C9CED}"/>
              </a:ext>
            </a:extLst>
          </p:cNvPr>
          <p:cNvSpPr txBox="1"/>
          <p:nvPr/>
        </p:nvSpPr>
        <p:spPr>
          <a:xfrm>
            <a:off x="4542408" y="3699152"/>
            <a:ext cx="3107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dirty="0">
                <a:solidFill>
                  <a:srgbClr val="0070C0"/>
                </a:solidFill>
              </a:rPr>
              <a:t>Albert Gu</a:t>
            </a:r>
            <a:r>
              <a:rPr kumimoji="1" lang="en" altLang="zh-TW" sz="2400" baseline="30000" dirty="0">
                <a:solidFill>
                  <a:srgbClr val="0070C0"/>
                </a:solidFill>
              </a:rPr>
              <a:t>1</a:t>
            </a:r>
            <a:r>
              <a:rPr kumimoji="1" lang="en" altLang="zh-TW" sz="2400" dirty="0">
                <a:solidFill>
                  <a:srgbClr val="0070C0"/>
                </a:solidFill>
              </a:rPr>
              <a:t>, Tri Dao</a:t>
            </a:r>
            <a:r>
              <a:rPr kumimoji="1" lang="en" altLang="zh-TW" sz="2400" baseline="30000" dirty="0">
                <a:solidFill>
                  <a:srgbClr val="0070C0"/>
                </a:solidFill>
              </a:rPr>
              <a:t>2</a:t>
            </a:r>
            <a:r>
              <a:rPr kumimoji="1" lang="en" altLang="zh-TW" sz="2400" dirty="0">
                <a:solidFill>
                  <a:srgbClr val="0070C0"/>
                </a:solidFill>
              </a:rPr>
              <a:t> 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41F32A-0B15-70F8-549A-17E524A5FC9D}"/>
              </a:ext>
            </a:extLst>
          </p:cNvPr>
          <p:cNvSpPr txBox="1"/>
          <p:nvPr/>
        </p:nvSpPr>
        <p:spPr>
          <a:xfrm>
            <a:off x="2186866" y="4367814"/>
            <a:ext cx="7818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aseline="30000" dirty="0"/>
              <a:t>1</a:t>
            </a:r>
            <a:r>
              <a:rPr kumimoji="1" lang="en" altLang="zh-TW" sz="2000" dirty="0"/>
              <a:t>Machine Learning Department, Carnegie Mellon University and </a:t>
            </a:r>
            <a:r>
              <a:rPr kumimoji="1" lang="en" altLang="zh-TW" sz="2000" baseline="30000" dirty="0"/>
              <a:t>2</a:t>
            </a:r>
            <a:r>
              <a:rPr kumimoji="1" lang="en" altLang="zh-TW" sz="2000" dirty="0"/>
              <a:t>Department of Computer Science, Princeton University</a:t>
            </a:r>
            <a:endParaRPr kumimoji="1" lang="zh-TW" altLang="en-US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B4FE62B-11E6-0C0D-536D-4F105374E308}"/>
              </a:ext>
            </a:extLst>
          </p:cNvPr>
          <p:cNvSpPr txBox="1"/>
          <p:nvPr/>
        </p:nvSpPr>
        <p:spPr>
          <a:xfrm>
            <a:off x="3126420" y="5221142"/>
            <a:ext cx="5939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/>
              <a:t>Conference on Language Modeling </a:t>
            </a:r>
            <a:r>
              <a:rPr kumimoji="1" lang="en-US" altLang="zh-TW" sz="2000" dirty="0"/>
              <a:t>(COLM), 2024</a:t>
            </a:r>
            <a:endParaRPr kumimoji="1" lang="zh-TW" altLang="en-US" sz="2000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A8B66FE-9E62-424A-EC0A-F8AE1EADF441}"/>
              </a:ext>
            </a:extLst>
          </p:cNvPr>
          <p:cNvCxnSpPr>
            <a:cxnSpLocks/>
          </p:cNvCxnSpPr>
          <p:nvPr/>
        </p:nvCxnSpPr>
        <p:spPr>
          <a:xfrm>
            <a:off x="2869035" y="3393347"/>
            <a:ext cx="611557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47F790A-4D6E-61D2-6AF0-2340CC2EF15F}"/>
              </a:ext>
            </a:extLst>
          </p:cNvPr>
          <p:cNvCxnSpPr>
            <a:cxnSpLocks/>
          </p:cNvCxnSpPr>
          <p:nvPr/>
        </p:nvCxnSpPr>
        <p:spPr>
          <a:xfrm>
            <a:off x="7768206" y="2748793"/>
            <a:ext cx="251809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22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1FE48E-61A5-ECEB-5FB3-719522DB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Terminology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6DF3EF-3B50-C847-6AB0-25DB0DC0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23CA658-4E09-BFFF-8CAA-A87134EEA7B2}"/>
              </a:ext>
            </a:extLst>
          </p:cNvPr>
          <p:cNvSpPr txBox="1"/>
          <p:nvPr/>
        </p:nvSpPr>
        <p:spPr>
          <a:xfrm>
            <a:off x="653144" y="1861167"/>
            <a:ext cx="1091837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S4: </a:t>
            </a:r>
            <a:r>
              <a:rPr kumimoji="1" lang="zh-TW" altLang="en-US" sz="2400" dirty="0"/>
              <a:t>基本的 </a:t>
            </a:r>
            <a:r>
              <a:rPr kumimoji="1" lang="en-US" altLang="zh-TW" sz="2400" dirty="0"/>
              <a:t>state space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S6: Mamba</a:t>
            </a:r>
            <a:r>
              <a:rPr kumimoji="1" lang="zh-TW" altLang="en-US" sz="2400" dirty="0"/>
              <a:t>，沿用 </a:t>
            </a:r>
            <a:r>
              <a:rPr kumimoji="1" lang="en-US" altLang="zh-TW" sz="2400" dirty="0"/>
              <a:t>S4 </a:t>
            </a:r>
            <a:r>
              <a:rPr kumimoji="1" lang="zh-TW" altLang="en-US" sz="2400" dirty="0"/>
              <a:t>的概念，但是 </a:t>
            </a:r>
            <a:r>
              <a:rPr kumimoji="1" lang="en-US" altLang="zh-TW" sz="2400" dirty="0"/>
              <a:t>SSM</a:t>
            </a:r>
            <a:r>
              <a:rPr kumimoji="1" lang="zh-TW" altLang="en-US" sz="2400" dirty="0"/>
              <a:t> 會依據不同 </a:t>
            </a:r>
            <a:r>
              <a:rPr kumimoji="1" lang="en-US" altLang="zh-TW" sz="2400" dirty="0"/>
              <a:t>token </a:t>
            </a:r>
            <a:r>
              <a:rPr kumimoji="1" lang="zh-TW" altLang="en-US" sz="2400" dirty="0"/>
              <a:t>位置而有不同 ➡️ </a:t>
            </a:r>
            <a:r>
              <a:rPr kumimoji="1" lang="en-US" altLang="zh-TW" sz="2400" dirty="0"/>
              <a:t>time-variant</a:t>
            </a:r>
            <a:r>
              <a:rPr kumimoji="1" lang="zh-TW" altLang="en-US" sz="2400" dirty="0"/>
              <a:t>，也就是 </a:t>
            </a:r>
            <a:r>
              <a:rPr kumimoji="1" lang="en" altLang="zh-TW" sz="2400" b="1" dirty="0">
                <a:solidFill>
                  <a:schemeClr val="accent1"/>
                </a:solidFill>
              </a:rPr>
              <a:t>Selective</a:t>
            </a:r>
            <a:r>
              <a:rPr kumimoji="1" lang="en" altLang="zh-TW" sz="2400" dirty="0"/>
              <a:t> State Space Model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9B32737-357A-90B0-85BC-A2E70B04BAF1}"/>
              </a:ext>
            </a:extLst>
          </p:cNvPr>
          <p:cNvSpPr txBox="1"/>
          <p:nvPr/>
        </p:nvSpPr>
        <p:spPr>
          <a:xfrm>
            <a:off x="1337089" y="6314136"/>
            <a:ext cx="9517822" cy="375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kumimoji="1" lang="en-US" altLang="zh-TW" sz="1400" dirty="0">
                <a:hlinkClick r:id="rId2"/>
              </a:rPr>
              <a:t>[ICLR 2022] Efficiently Modeling Long Sequences with Structured State Spaces</a:t>
            </a:r>
            <a:r>
              <a:rPr kumimoji="1" lang="en-US" altLang="zh-TW" sz="1400" dirty="0"/>
              <a:t> (</a:t>
            </a:r>
            <a:r>
              <a:rPr kumimoji="1" lang="en-US" altLang="zh-TW" sz="1400" b="1" dirty="0"/>
              <a:t>S4</a:t>
            </a:r>
            <a:r>
              <a:rPr kumimoji="1" lang="en-US" altLang="zh-TW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1284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346014-6025-3D8A-BD91-461DD306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</a:t>
            </a:r>
            <a:r>
              <a:rPr kumimoji="1" lang="en-US" altLang="zh-TW" dirty="0"/>
              <a:t> State Space Models (SSM)?</a:t>
            </a:r>
            <a:r>
              <a:rPr kumimoji="1" lang="zh-TW" altLang="en-US" dirty="0"/>
              <a:t> </a:t>
            </a:r>
            <a:r>
              <a:rPr kumimoji="1" lang="en-US" altLang="zh-TW" dirty="0"/>
              <a:t>(0)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C18C34-048A-CC8E-C8F5-85ACC3C1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ECB750-353D-B056-B540-3A2292D1DFF0}"/>
              </a:ext>
            </a:extLst>
          </p:cNvPr>
          <p:cNvSpPr txBox="1"/>
          <p:nvPr/>
        </p:nvSpPr>
        <p:spPr>
          <a:xfrm>
            <a:off x="653144" y="1659999"/>
            <a:ext cx="1091837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State Space Models </a:t>
            </a:r>
            <a:r>
              <a:rPr kumimoji="1" lang="zh-TW" altLang="en-US" sz="2400" dirty="0"/>
              <a:t>源於控制理論，</a:t>
            </a:r>
            <a:r>
              <a:rPr lang="zh-TW" altLang="en-US" sz="2400" dirty="0"/>
              <a:t>離散化後的遞迴形式如下</a:t>
            </a:r>
            <a:endParaRPr lang="en-US" altLang="zh-TW" sz="2400" dirty="0"/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" sz="2400" dirty="0"/>
              <a:t>「</a:t>
            </a:r>
            <a:r>
              <a:rPr kumimoji="1" lang="en" altLang="zh-TW" sz="2400" dirty="0"/>
              <a:t>state space</a:t>
            </a:r>
            <a:r>
              <a:rPr kumimoji="1" lang="zh-TW" altLang="en" sz="2400" dirty="0"/>
              <a:t>」</a:t>
            </a:r>
            <a:r>
              <a:rPr kumimoji="1" lang="zh-TW" altLang="en-US" sz="2400" dirty="0"/>
              <a:t>指的是「那個狀態變數 </a:t>
            </a:r>
            <a:r>
              <a:rPr kumimoji="1" lang="en" altLang="zh-TW" sz="2400" dirty="0"/>
              <a:t>h </a:t>
            </a:r>
            <a:r>
              <a:rPr kumimoji="1" lang="zh-TW" altLang="en-US" sz="2400" dirty="0"/>
              <a:t>所有可能取值構成的空間」</a:t>
            </a:r>
            <a:r>
              <a:rPr kumimoji="1" lang="en-US" altLang="zh-TW" sz="2400" dirty="0"/>
              <a:t>——</a:t>
            </a:r>
            <a:r>
              <a:rPr kumimoji="1" lang="zh-TW" altLang="en-US" sz="2400" dirty="0"/>
              <a:t>是系統內部記憶的狀態空間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RNN </a:t>
            </a:r>
            <a:r>
              <a:rPr kumimoji="1" lang="zh-TW" altLang="en-US" sz="2400" dirty="0"/>
              <a:t>若扣除非線性轉換，廣義上是一種 </a:t>
            </a:r>
            <a:r>
              <a:rPr kumimoji="1" lang="en-US" altLang="zh-TW" sz="2400" dirty="0"/>
              <a:t>SSM</a:t>
            </a:r>
            <a:r>
              <a:rPr kumimoji="1" lang="zh-TW" altLang="en-US" sz="2400" dirty="0"/>
              <a:t>，但不屬於 </a:t>
            </a:r>
            <a:r>
              <a:rPr kumimoji="1" lang="en-US" altLang="zh-TW" sz="2400" dirty="0"/>
              <a:t>S4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因為 </a:t>
            </a:r>
            <a:r>
              <a:rPr kumimoji="1" lang="en-US" altLang="zh-TW" sz="2400" dirty="0"/>
              <a:t>S4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(Mamba </a:t>
            </a:r>
            <a:r>
              <a:rPr kumimoji="1" lang="zh-TW" altLang="en-US" sz="2400" dirty="0"/>
              <a:t>前身</a:t>
            </a:r>
            <a:r>
              <a:rPr kumimoji="1" lang="en-US" altLang="zh-TW" sz="2400" dirty="0"/>
              <a:t>)</a:t>
            </a:r>
            <a:r>
              <a:rPr kumimoji="1" lang="zh-TW" altLang="en-US" sz="2400" dirty="0"/>
              <a:t> 中的</a:t>
            </a:r>
            <a:r>
              <a:rPr kumimoji="1" lang="en-US" altLang="zh-TW" sz="2400" dirty="0"/>
              <a:t> SSM </a:t>
            </a:r>
            <a:r>
              <a:rPr kumimoji="1" lang="zh-TW" altLang="en-US" sz="2400" dirty="0"/>
              <a:t>被設計為可平行化，過程需為線性</a:t>
            </a:r>
            <a:endParaRPr kumimoji="1" lang="en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E29D63F-84CA-5653-2781-EF1619171921}"/>
                  </a:ext>
                </a:extLst>
              </p:cNvPr>
              <p:cNvSpPr txBox="1"/>
              <p:nvPr/>
            </p:nvSpPr>
            <p:spPr>
              <a:xfrm>
                <a:off x="3048762" y="2343837"/>
                <a:ext cx="60944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E29D63F-84CA-5653-2781-EF1619171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62" y="2343837"/>
                <a:ext cx="6094476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2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346014-6025-3D8A-BD91-461DD306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</a:t>
            </a:r>
            <a:r>
              <a:rPr kumimoji="1" lang="en-US" altLang="zh-TW" dirty="0"/>
              <a:t> State Space Models (SSM)?</a:t>
            </a:r>
            <a:r>
              <a:rPr kumimoji="1" lang="zh-TW" altLang="en-US" dirty="0"/>
              <a:t> </a:t>
            </a:r>
            <a:r>
              <a:rPr kumimoji="1" lang="en-US" altLang="zh-TW" dirty="0"/>
              <a:t>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C18C34-048A-CC8E-C8F5-85ACC3C1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5D50672-A0B5-407C-7B77-E57EC0377247}"/>
              </a:ext>
            </a:extLst>
          </p:cNvPr>
          <p:cNvSpPr txBox="1"/>
          <p:nvPr/>
        </p:nvSpPr>
        <p:spPr>
          <a:xfrm>
            <a:off x="653143" y="1560352"/>
            <a:ext cx="216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RNN Recap</a:t>
            </a:r>
            <a:endParaRPr kumimoji="1" lang="zh-TW" altLang="en-US" b="1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73DAADDA-DE43-FA41-253E-B7E436AFAD69}"/>
              </a:ext>
            </a:extLst>
          </p:cNvPr>
          <p:cNvGrpSpPr/>
          <p:nvPr/>
        </p:nvGrpSpPr>
        <p:grpSpPr>
          <a:xfrm>
            <a:off x="2375336" y="2201200"/>
            <a:ext cx="1966371" cy="3009684"/>
            <a:chOff x="2375336" y="2201200"/>
            <a:chExt cx="1966371" cy="3009684"/>
          </a:xfrm>
        </p:grpSpPr>
        <p:pic>
          <p:nvPicPr>
            <p:cNvPr id="7" name="圖片 6" descr="一張含有 圖表, 螢幕擷取畫面, 行, 設計 的圖片&#10;&#10;自動產生的描述">
              <a:extLst>
                <a:ext uri="{FF2B5EF4-FFF2-40B4-BE49-F238E27FC236}">
                  <a16:creationId xmlns:a16="http://schemas.microsoft.com/office/drawing/2014/main" id="{059AF447-6AE0-B6CC-4351-70047807F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193" b="4767"/>
            <a:stretch/>
          </p:blipFill>
          <p:spPr>
            <a:xfrm>
              <a:off x="2375336" y="2201200"/>
              <a:ext cx="1966371" cy="3009684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2C2FA14-858E-A839-B564-0E34EA24F0F7}"/>
                </a:ext>
              </a:extLst>
            </p:cNvPr>
            <p:cNvSpPr txBox="1"/>
            <p:nvPr/>
          </p:nvSpPr>
          <p:spPr>
            <a:xfrm>
              <a:off x="3988158" y="3495669"/>
              <a:ext cx="35354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/>
                <a:t>U</a:t>
              </a:r>
              <a:endParaRPr kumimoji="1" lang="zh-TW" altLang="en-US" sz="1600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D1B0B6BE-9B99-176F-A362-A2CF33C6BA01}"/>
                </a:ext>
              </a:extLst>
            </p:cNvPr>
            <p:cNvSpPr txBox="1"/>
            <p:nvPr/>
          </p:nvSpPr>
          <p:spPr>
            <a:xfrm>
              <a:off x="2722724" y="4235445"/>
              <a:ext cx="35354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/>
                <a:t>W</a:t>
              </a:r>
              <a:endParaRPr kumimoji="1" lang="zh-TW" altLang="en-US" sz="1600" dirty="0"/>
            </a:p>
          </p:txBody>
        </p:sp>
      </p:grpSp>
      <p:sp>
        <p:nvSpPr>
          <p:cNvPr id="11" name="橢圓 10">
            <a:extLst>
              <a:ext uri="{FF2B5EF4-FFF2-40B4-BE49-F238E27FC236}">
                <a16:creationId xmlns:a16="http://schemas.microsoft.com/office/drawing/2014/main" id="{57B8B16A-22BA-5BC8-8C12-79F87F01E7A8}"/>
              </a:ext>
            </a:extLst>
          </p:cNvPr>
          <p:cNvSpPr/>
          <p:nvPr/>
        </p:nvSpPr>
        <p:spPr>
          <a:xfrm>
            <a:off x="2719134" y="4213272"/>
            <a:ext cx="360727" cy="3607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/>
              <p:nvPr/>
            </p:nvSpPr>
            <p:spPr>
              <a:xfrm>
                <a:off x="4692682" y="2963469"/>
                <a:ext cx="5667470" cy="1287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dirty="0" err="1"/>
                  <a:t>x</a:t>
                </a:r>
                <a14:m>
                  <m:oMath xmlns:m="http://schemas.openxmlformats.org/officeDocument/2006/math">
                    <m:r>
                      <a:rPr lang="en-US" altLang="zh-TW" b="0" i="1" kern="100" baseline="-2500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kern="10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/>
                  <a:t>: (1, 512), 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代表輸入序列位置 </a:t>
                </a:r>
                <a:r>
                  <a:rPr kumimoji="1" lang="en-US" altLang="zh-TW" dirty="0"/>
                  <a:t>(token index)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dirty="0"/>
                  <a:t>W: (512, 768)</a:t>
                </a:r>
                <a:endParaRPr kumimoji="1" lang="zh-TW" altLang="en-US" baseline="-250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682" y="2963469"/>
                <a:ext cx="5667470" cy="1287468"/>
              </a:xfrm>
              <a:prstGeom prst="rect">
                <a:avLst/>
              </a:prstGeom>
              <a:blipFill>
                <a:blip r:embed="rId3"/>
                <a:stretch>
                  <a:fillRect l="-893" b="-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C437F97-36BA-D183-2554-9F726688B7E8}"/>
                  </a:ext>
                </a:extLst>
              </p:cNvPr>
              <p:cNvSpPr txBox="1"/>
              <p:nvPr/>
            </p:nvSpPr>
            <p:spPr>
              <a:xfrm>
                <a:off x="6509857" y="3790922"/>
                <a:ext cx="5061657" cy="466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➡️ 相當於 </a:t>
                </a:r>
                <a:r>
                  <a:rPr kumimoji="1" lang="en-US" altLang="zh-TW" dirty="0"/>
                  <a:t>W</a:t>
                </a:r>
                <a:r>
                  <a:rPr kumimoji="1" lang="zh-TW" altLang="en-US" dirty="0"/>
                  <a:t> 在高維度空間中處理 </a:t>
                </a:r>
                <a:r>
                  <a:rPr kumimoji="1" lang="en-US" altLang="zh-TW" dirty="0"/>
                  <a:t>x</a:t>
                </a:r>
                <a14:m>
                  <m:oMath xmlns:m="http://schemas.openxmlformats.org/officeDocument/2006/math">
                    <m:r>
                      <a:rPr lang="en-US" altLang="zh-TW" b="0" i="1" kern="100" baseline="-2500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的資訊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C437F97-36BA-D183-2554-9F726688B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857" y="3790922"/>
                <a:ext cx="5061657" cy="466859"/>
              </a:xfrm>
              <a:prstGeom prst="rect">
                <a:avLst/>
              </a:prstGeom>
              <a:blipFill>
                <a:blip r:embed="rId4"/>
                <a:stretch>
                  <a:fillRect l="-1000"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811FF78-8916-5EA0-A9D8-476C2486EFD4}"/>
                  </a:ext>
                </a:extLst>
              </p:cNvPr>
              <p:cNvSpPr txBox="1"/>
              <p:nvPr/>
            </p:nvSpPr>
            <p:spPr>
              <a:xfrm>
                <a:off x="3112849" y="4848243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811FF78-8916-5EA0-A9D8-476C2486E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849" y="4848243"/>
                <a:ext cx="33674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0EBDB0D-4923-1FF8-ED2C-AB60C58125A9}"/>
              </a:ext>
            </a:extLst>
          </p:cNvPr>
          <p:cNvSpPr txBox="1"/>
          <p:nvPr/>
        </p:nvSpPr>
        <p:spPr>
          <a:xfrm>
            <a:off x="65863" y="4664174"/>
            <a:ext cx="2717527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dirty="0"/>
              <a:t>輸入序列中的任一</a:t>
            </a:r>
            <a:r>
              <a:rPr kumimoji="1" lang="en-US" altLang="zh-TW" dirty="0"/>
              <a:t> token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863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/>
      <p:bldP spid="13" grpId="0"/>
      <p:bldP spid="15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346014-6025-3D8A-BD91-461DD306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</a:t>
            </a:r>
            <a:r>
              <a:rPr kumimoji="1" lang="en-US" altLang="zh-TW" dirty="0"/>
              <a:t> State Space Models (SSM)?</a:t>
            </a:r>
            <a:r>
              <a:rPr kumimoji="1" lang="zh-TW" altLang="en-US" dirty="0"/>
              <a:t> </a:t>
            </a:r>
            <a:r>
              <a:rPr kumimoji="1"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C18C34-048A-CC8E-C8F5-85ACC3C1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73DAADDA-DE43-FA41-253E-B7E436AFAD69}"/>
              </a:ext>
            </a:extLst>
          </p:cNvPr>
          <p:cNvGrpSpPr/>
          <p:nvPr/>
        </p:nvGrpSpPr>
        <p:grpSpPr>
          <a:xfrm>
            <a:off x="2375336" y="2201200"/>
            <a:ext cx="1966371" cy="3009684"/>
            <a:chOff x="2375336" y="2201200"/>
            <a:chExt cx="1966371" cy="3009684"/>
          </a:xfrm>
        </p:grpSpPr>
        <p:pic>
          <p:nvPicPr>
            <p:cNvPr id="7" name="圖片 6" descr="一張含有 圖表, 螢幕擷取畫面, 行, 設計 的圖片&#10;&#10;自動產生的描述">
              <a:extLst>
                <a:ext uri="{FF2B5EF4-FFF2-40B4-BE49-F238E27FC236}">
                  <a16:creationId xmlns:a16="http://schemas.microsoft.com/office/drawing/2014/main" id="{059AF447-6AE0-B6CC-4351-70047807F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193" b="4767"/>
            <a:stretch/>
          </p:blipFill>
          <p:spPr>
            <a:xfrm>
              <a:off x="2375336" y="2201200"/>
              <a:ext cx="1966371" cy="3009684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2C2FA14-858E-A839-B564-0E34EA24F0F7}"/>
                </a:ext>
              </a:extLst>
            </p:cNvPr>
            <p:cNvSpPr txBox="1"/>
            <p:nvPr/>
          </p:nvSpPr>
          <p:spPr>
            <a:xfrm>
              <a:off x="3988158" y="3495669"/>
              <a:ext cx="35354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/>
                <a:t>U</a:t>
              </a:r>
              <a:endParaRPr kumimoji="1" lang="zh-TW" altLang="en-US" sz="1600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D1B0B6BE-9B99-176F-A362-A2CF33C6BA01}"/>
                </a:ext>
              </a:extLst>
            </p:cNvPr>
            <p:cNvSpPr txBox="1"/>
            <p:nvPr/>
          </p:nvSpPr>
          <p:spPr>
            <a:xfrm>
              <a:off x="2722724" y="4235445"/>
              <a:ext cx="35354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/>
                <a:t>W</a:t>
              </a:r>
              <a:endParaRPr kumimoji="1" lang="zh-TW" alt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/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x</a:t>
                </a:r>
                <a14:m>
                  <m:oMath xmlns:m="http://schemas.openxmlformats.org/officeDocument/2006/math">
                    <m:r>
                      <a:rPr lang="en-US" altLang="zh-TW" b="0" i="1" kern="100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/>
                  <a:t>: (1,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)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blipFill>
                <a:blip r:embed="rId3"/>
                <a:stretch>
                  <a:fillRect l="-169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C437F97-36BA-D183-2554-9F726688B7E8}"/>
                  </a:ext>
                </a:extLst>
              </p:cNvPr>
              <p:cNvSpPr txBox="1"/>
              <p:nvPr/>
            </p:nvSpPr>
            <p:spPr>
              <a:xfrm>
                <a:off x="4817128" y="3722606"/>
                <a:ext cx="6896335" cy="1287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➡️ 有</a:t>
                </a:r>
                <a:r>
                  <a:rPr kumimoji="1" lang="en-US" altLang="zh-TW" dirty="0"/>
                  <a:t> </a:t>
                </a:r>
                <a:r>
                  <a:rPr kumimoji="1" lang="en-US" altLang="zh-TW" b="1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個不同的 </a:t>
                </a:r>
                <a:r>
                  <a:rPr kumimoji="1" lang="en-US" altLang="zh-TW" dirty="0"/>
                  <a:t>SSMs</a:t>
                </a:r>
                <a:r>
                  <a:rPr kumimoji="1" lang="zh-TW" altLang="en-US" dirty="0"/>
                  <a:t> 在個別處理 </a:t>
                </a:r>
                <a:r>
                  <a:rPr kumimoji="1" lang="en-US" altLang="zh-TW" dirty="0"/>
                  <a:t>x</a:t>
                </a:r>
                <a14:m>
                  <m:oMath xmlns:m="http://schemas.openxmlformats.org/officeDocument/2006/math">
                    <m:r>
                      <a:rPr lang="en-US" altLang="zh-TW" b="0" i="1" kern="100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的資訊</a:t>
                </a:r>
                <a:endParaRPr kumimoji="1"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⚠️ 注意：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跟 </a:t>
                </a:r>
                <a:r>
                  <a:rPr kumimoji="1" lang="en-US" altLang="zh-TW" dirty="0"/>
                  <a:t>output </a:t>
                </a:r>
                <a:r>
                  <a:rPr kumimoji="1" lang="zh-TW" altLang="en-US" dirty="0"/>
                  <a:t>都是 </a:t>
                </a:r>
                <a:r>
                  <a:rPr kumimoji="1" lang="en-US" altLang="zh-TW" dirty="0"/>
                  <a:t>scalar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➡️ 在 </a:t>
                </a:r>
                <a:r>
                  <a:rPr kumimoji="1" lang="en-US" altLang="zh-TW" dirty="0"/>
                  <a:t>embedding </a:t>
                </a:r>
                <a:r>
                  <a:rPr kumimoji="1" lang="zh-TW" altLang="en-US" dirty="0"/>
                  <a:t>空間中再劃出隱藏空間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C437F97-36BA-D183-2554-9F726688B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128" y="3722606"/>
                <a:ext cx="6896335" cy="1287853"/>
              </a:xfrm>
              <a:prstGeom prst="rect">
                <a:avLst/>
              </a:prstGeom>
              <a:blipFill>
                <a:blip r:embed="rId4"/>
                <a:stretch>
                  <a:fillRect l="-735" b="-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B06D1C8-2E31-8B9D-0120-2A173D335C26}"/>
                  </a:ext>
                </a:extLst>
              </p:cNvPr>
              <p:cNvSpPr txBox="1"/>
              <p:nvPr/>
            </p:nvSpPr>
            <p:spPr>
              <a:xfrm>
                <a:off x="2775263" y="4856158"/>
                <a:ext cx="11612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B06D1C8-2E31-8B9D-0120-2A173D335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263" y="4856158"/>
                <a:ext cx="116128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9BBE4634-806B-1741-EFF6-99310544DEFD}"/>
              </a:ext>
            </a:extLst>
          </p:cNvPr>
          <p:cNvSpPr/>
          <p:nvPr/>
        </p:nvSpPr>
        <p:spPr>
          <a:xfrm>
            <a:off x="1122674" y="5330908"/>
            <a:ext cx="813816" cy="4663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x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5C1C00-AF41-471C-3022-8AEBC126E048}"/>
              </a:ext>
            </a:extLst>
          </p:cNvPr>
          <p:cNvSpPr/>
          <p:nvPr/>
        </p:nvSpPr>
        <p:spPr>
          <a:xfrm>
            <a:off x="2411912" y="2907792"/>
            <a:ext cx="1885768" cy="2339668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475055AA-F1FD-E0CC-9E40-1944756E19D6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 flipV="1">
            <a:off x="1936490" y="5247460"/>
            <a:ext cx="1418306" cy="31662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110FF59-B596-2210-BB82-C718366EC402}"/>
              </a:ext>
            </a:extLst>
          </p:cNvPr>
          <p:cNvSpPr txBox="1"/>
          <p:nvPr/>
        </p:nvSpPr>
        <p:spPr>
          <a:xfrm>
            <a:off x="2315403" y="5478934"/>
            <a:ext cx="2078786" cy="45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dirty="0"/>
              <a:t>Embedding</a:t>
            </a:r>
            <a:r>
              <a:rPr kumimoji="1" lang="zh-TW" altLang="en-US" dirty="0"/>
              <a:t> 空間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69D5216-B24A-C664-8A28-5B86BE46FE9B}"/>
                  </a:ext>
                </a:extLst>
              </p:cNvPr>
              <p:cNvSpPr txBox="1"/>
              <p:nvPr/>
            </p:nvSpPr>
            <p:spPr>
              <a:xfrm>
                <a:off x="2375336" y="5890601"/>
                <a:ext cx="18736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TW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∈{0,1,…</m:t>
                      </m:r>
                      <m:r>
                        <a:rPr lang="en-US" altLang="zh-TW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zh-TW" sz="1800" kern="100" dirty="0">
                  <a:solidFill>
                    <a:srgbClr val="FF0000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69D5216-B24A-C664-8A28-5B86BE46F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336" y="5890601"/>
                <a:ext cx="1873604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E16759E-7375-D21F-0B38-18925148E356}"/>
                  </a:ext>
                </a:extLst>
              </p:cNvPr>
              <p:cNvSpPr txBox="1"/>
              <p:nvPr/>
            </p:nvSpPr>
            <p:spPr>
              <a:xfrm>
                <a:off x="1493006" y="5489475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E16759E-7375-D21F-0B38-18925148E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006" y="5489475"/>
                <a:ext cx="33674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547E077-964C-E460-9502-FF1B16CF96A2}"/>
                  </a:ext>
                </a:extLst>
              </p:cNvPr>
              <p:cNvSpPr txBox="1"/>
              <p:nvPr/>
            </p:nvSpPr>
            <p:spPr>
              <a:xfrm>
                <a:off x="2764983" y="2458935"/>
                <a:ext cx="11612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547E077-964C-E460-9502-FF1B16CF9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983" y="2458935"/>
                <a:ext cx="116128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9FABA923-AD64-FCB9-9F98-A68254102E85}"/>
              </a:ext>
            </a:extLst>
          </p:cNvPr>
          <p:cNvSpPr txBox="1"/>
          <p:nvPr/>
        </p:nvSpPr>
        <p:spPr>
          <a:xfrm>
            <a:off x="4050792" y="2871131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43538A0-9CE6-BEEF-6DE8-B0F28866ACDB}"/>
                  </a:ext>
                </a:extLst>
              </p:cNvPr>
              <p:cNvSpPr txBox="1"/>
              <p:nvPr/>
            </p:nvSpPr>
            <p:spPr>
              <a:xfrm>
                <a:off x="3158203" y="3637514"/>
                <a:ext cx="2530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43538A0-9CE6-BEEF-6DE8-B0F28866A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203" y="3637514"/>
                <a:ext cx="25300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18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346014-6025-3D8A-BD91-461DD306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S4 </a:t>
            </a:r>
            <a:r>
              <a:rPr kumimoji="1" lang="zh-TW" altLang="en-US" dirty="0"/>
              <a:t>中的</a:t>
            </a:r>
            <a:r>
              <a:rPr kumimoji="1" lang="en-US" altLang="zh-TW" dirty="0"/>
              <a:t> SSM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C18C34-048A-CC8E-C8F5-85ACC3C1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/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x</a:t>
                </a:r>
                <a14:m>
                  <m:oMath xmlns:m="http://schemas.openxmlformats.org/officeDocument/2006/math">
                    <m:r>
                      <a:rPr lang="en-US" altLang="zh-TW" b="0" i="1" kern="100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/>
                  <a:t>: (1,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)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blipFill>
                <a:blip r:embed="rId2"/>
                <a:stretch>
                  <a:fillRect l="-169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9BBE4634-806B-1741-EFF6-99310544DEFD}"/>
              </a:ext>
            </a:extLst>
          </p:cNvPr>
          <p:cNvSpPr/>
          <p:nvPr/>
        </p:nvSpPr>
        <p:spPr>
          <a:xfrm>
            <a:off x="1314698" y="5356921"/>
            <a:ext cx="813816" cy="4663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x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E16759E-7375-D21F-0B38-18925148E356}"/>
                  </a:ext>
                </a:extLst>
              </p:cNvPr>
              <p:cNvSpPr txBox="1"/>
              <p:nvPr/>
            </p:nvSpPr>
            <p:spPr>
              <a:xfrm>
                <a:off x="1685030" y="5515488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E16759E-7375-D21F-0B38-18925148E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030" y="5515488"/>
                <a:ext cx="336745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10">
            <a:extLst>
              <a:ext uri="{FF2B5EF4-FFF2-40B4-BE49-F238E27FC236}">
                <a16:creationId xmlns:a16="http://schemas.microsoft.com/office/drawing/2014/main" id="{1FDFFC7A-9F13-6A29-A243-9ABE839D6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469659"/>
              </p:ext>
            </p:extLst>
          </p:nvPr>
        </p:nvGraphicFramePr>
        <p:xfrm>
          <a:off x="3061027" y="539349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932170DD-7A34-9CE4-B4A6-868494A07191}"/>
              </a:ext>
            </a:extLst>
          </p:cNvPr>
          <p:cNvSpPr txBox="1"/>
          <p:nvPr/>
        </p:nvSpPr>
        <p:spPr>
          <a:xfrm>
            <a:off x="2379411" y="5462115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➡️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C33B7A6-4BBD-8F9D-10A1-E47775FA475F}"/>
                  </a:ext>
                </a:extLst>
              </p:cNvPr>
              <p:cNvSpPr txBox="1"/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C33B7A6-4BBD-8F9D-10A1-E47775FA4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E773E63-A8EB-134A-BDBE-4ECDAFA94330}"/>
                  </a:ext>
                </a:extLst>
              </p:cNvPr>
              <p:cNvSpPr txBox="1"/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E773E63-A8EB-134A-BDBE-4ECDAFA94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963618C-702A-0586-ED8F-254D066976AA}"/>
                  </a:ext>
                </a:extLst>
              </p:cNvPr>
              <p:cNvSpPr txBox="1"/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963618C-702A-0586-ED8F-254D06697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D979C87-9464-C58A-9C1D-8377375C4127}"/>
                  </a:ext>
                </a:extLst>
              </p:cNvPr>
              <p:cNvSpPr txBox="1"/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D979C87-9464-C58A-9C1D-8377375C4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287A612-D7A1-A0E7-DCA4-7536A3D95ECD}"/>
                  </a:ext>
                </a:extLst>
              </p:cNvPr>
              <p:cNvSpPr txBox="1"/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287A612-D7A1-A0E7-DCA4-7536A3D95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8E62C986-3F8E-BFC7-1169-B31D618A0DDD}"/>
                  </a:ext>
                </a:extLst>
              </p:cNvPr>
              <p:cNvSpPr txBox="1"/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8E62C986-3F8E-BFC7-1169-B31D618A0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D1E07F84-7080-FB6B-6CA8-F0FF5AA65E8F}"/>
                  </a:ext>
                </a:extLst>
              </p:cNvPr>
              <p:cNvSpPr txBox="1"/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D1E07F84-7080-FB6B-6CA8-F0FF5AA65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B37BE5C-A2B0-556F-78AD-C7491261212D}"/>
                  </a:ext>
                </a:extLst>
              </p:cNvPr>
              <p:cNvSpPr txBox="1"/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B37BE5C-A2B0-556F-78AD-C74912612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5147F03-5E59-42F8-5BB2-607940D7B333}"/>
                  </a:ext>
                </a:extLst>
              </p:cNvPr>
              <p:cNvSpPr txBox="1"/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5147F03-5E59-42F8-5BB2-607940D7B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EF8F330-67CE-B87F-9C94-067E74A20DB4}"/>
                  </a:ext>
                </a:extLst>
              </p:cNvPr>
              <p:cNvSpPr txBox="1"/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−5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EF8F330-67CE-B87F-9C94-067E74A20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0A3A75A-41AD-3EBC-CE0E-B8A5B6215E33}"/>
                  </a:ext>
                </a:extLst>
              </p:cNvPr>
              <p:cNvSpPr txBox="1"/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0A3A75A-41AD-3EBC-CE0E-B8A5B6215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9FABA923-AD64-FCB9-9F98-A68254102E85}"/>
              </a:ext>
            </a:extLst>
          </p:cNvPr>
          <p:cNvSpPr txBox="1"/>
          <p:nvPr/>
        </p:nvSpPr>
        <p:spPr>
          <a:xfrm>
            <a:off x="2820908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0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86D06B6-EB88-35FA-4252-FE40379BC785}"/>
              </a:ext>
            </a:extLst>
          </p:cNvPr>
          <p:cNvSpPr txBox="1"/>
          <p:nvPr/>
        </p:nvSpPr>
        <p:spPr>
          <a:xfrm>
            <a:off x="3563039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A45A943-662E-2851-C3C0-F31AA4FDD874}"/>
              </a:ext>
            </a:extLst>
          </p:cNvPr>
          <p:cNvSpPr txBox="1"/>
          <p:nvPr/>
        </p:nvSpPr>
        <p:spPr>
          <a:xfrm>
            <a:off x="4306254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F157FBB-F1B6-8B60-FB08-1A9CA2ECA690}"/>
              </a:ext>
            </a:extLst>
          </p:cNvPr>
          <p:cNvSpPr txBox="1"/>
          <p:nvPr/>
        </p:nvSpPr>
        <p:spPr>
          <a:xfrm>
            <a:off x="5048927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7887335-6EED-269E-92C8-F3F4F7973902}"/>
              </a:ext>
            </a:extLst>
          </p:cNvPr>
          <p:cNvSpPr txBox="1"/>
          <p:nvPr/>
        </p:nvSpPr>
        <p:spPr>
          <a:xfrm>
            <a:off x="5791600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2DF0374-DC33-6BE1-3842-C26FA3371051}"/>
              </a:ext>
            </a:extLst>
          </p:cNvPr>
          <p:cNvSpPr txBox="1"/>
          <p:nvPr/>
        </p:nvSpPr>
        <p:spPr>
          <a:xfrm>
            <a:off x="720379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D-5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B0459DB-74A3-B273-49EB-782C7FACC45B}"/>
              </a:ext>
            </a:extLst>
          </p:cNvPr>
          <p:cNvSpPr txBox="1"/>
          <p:nvPr/>
        </p:nvSpPr>
        <p:spPr>
          <a:xfrm>
            <a:off x="7967038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60B3C69-C9CB-131C-ED74-98B691714002}"/>
              </a:ext>
            </a:extLst>
          </p:cNvPr>
          <p:cNvSpPr txBox="1"/>
          <p:nvPr/>
        </p:nvSpPr>
        <p:spPr>
          <a:xfrm>
            <a:off x="8730285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83A6C6E-B2FF-09A9-06AD-E5A3DBAA8872}"/>
              </a:ext>
            </a:extLst>
          </p:cNvPr>
          <p:cNvSpPr txBox="1"/>
          <p:nvPr/>
        </p:nvSpPr>
        <p:spPr>
          <a:xfrm>
            <a:off x="949353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0F1B261-738A-B184-ABFB-D6BB5FF3205D}"/>
              </a:ext>
            </a:extLst>
          </p:cNvPr>
          <p:cNvSpPr txBox="1"/>
          <p:nvPr/>
        </p:nvSpPr>
        <p:spPr>
          <a:xfrm>
            <a:off x="10256778" y="4017706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D0D7FA93-296D-3196-9362-3AA09FF272A4}"/>
              </a:ext>
            </a:extLst>
          </p:cNvPr>
          <p:cNvGrpSpPr/>
          <p:nvPr/>
        </p:nvGrpSpPr>
        <p:grpSpPr>
          <a:xfrm>
            <a:off x="3433556" y="4394522"/>
            <a:ext cx="7380447" cy="881566"/>
            <a:chOff x="3433556" y="4394522"/>
            <a:chExt cx="7380447" cy="881566"/>
          </a:xfrm>
        </p:grpSpPr>
        <p:cxnSp>
          <p:nvCxnSpPr>
            <p:cNvPr id="49" name="直線箭頭接點 48">
              <a:extLst>
                <a:ext uri="{FF2B5EF4-FFF2-40B4-BE49-F238E27FC236}">
                  <a16:creationId xmlns:a16="http://schemas.microsoft.com/office/drawing/2014/main" id="{D5653AE7-310D-37B1-B0FF-220F6EDBC8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55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箭頭接點 49">
              <a:extLst>
                <a:ext uri="{FF2B5EF4-FFF2-40B4-BE49-F238E27FC236}">
                  <a16:creationId xmlns:a16="http://schemas.microsoft.com/office/drawing/2014/main" id="{0C9ADF91-F5C0-7724-EA6E-2986D1476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88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箭頭接點 50">
              <a:extLst>
                <a:ext uri="{FF2B5EF4-FFF2-40B4-BE49-F238E27FC236}">
                  <a16:creationId xmlns:a16="http://schemas.microsoft.com/office/drawing/2014/main" id="{148C4E6B-44C6-9905-AFBE-CCECF1878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8902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箭頭接點 51">
              <a:extLst>
                <a:ext uri="{FF2B5EF4-FFF2-40B4-BE49-F238E27FC236}">
                  <a16:creationId xmlns:a16="http://schemas.microsoft.com/office/drawing/2014/main" id="{4F3EAFC7-A429-218A-23FB-B54B1721F6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89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箭頭接點 52">
              <a:extLst>
                <a:ext uri="{FF2B5EF4-FFF2-40B4-BE49-F238E27FC236}">
                  <a16:creationId xmlns:a16="http://schemas.microsoft.com/office/drawing/2014/main" id="{886A7585-7E97-9BA6-C2DB-6BC7ED8302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424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箭頭接點 53">
              <a:extLst>
                <a:ext uri="{FF2B5EF4-FFF2-40B4-BE49-F238E27FC236}">
                  <a16:creationId xmlns:a16="http://schemas.microsoft.com/office/drawing/2014/main" id="{022CEDA2-C404-D1EB-376A-5FB90A75FB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31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箭頭接點 54">
              <a:extLst>
                <a:ext uri="{FF2B5EF4-FFF2-40B4-BE49-F238E27FC236}">
                  <a16:creationId xmlns:a16="http://schemas.microsoft.com/office/drawing/2014/main" id="{D1550B30-35DF-1268-1B90-870185C796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663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箭頭接點 55">
              <a:extLst>
                <a:ext uri="{FF2B5EF4-FFF2-40B4-BE49-F238E27FC236}">
                  <a16:creationId xmlns:a16="http://schemas.microsoft.com/office/drawing/2014/main" id="{420C08E1-5475-9012-4321-663DBA950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8657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箭頭接點 56">
              <a:extLst>
                <a:ext uri="{FF2B5EF4-FFF2-40B4-BE49-F238E27FC236}">
                  <a16:creationId xmlns:a16="http://schemas.microsoft.com/office/drawing/2014/main" id="{4E98FADD-EA5A-EB14-D5D1-3330CF366D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765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箭頭接點 57">
              <a:extLst>
                <a:ext uri="{FF2B5EF4-FFF2-40B4-BE49-F238E27FC236}">
                  <a16:creationId xmlns:a16="http://schemas.microsoft.com/office/drawing/2014/main" id="{C52958F8-AE46-32B0-3D92-502770634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400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9" name="表格 10">
            <a:extLst>
              <a:ext uri="{FF2B5EF4-FFF2-40B4-BE49-F238E27FC236}">
                <a16:creationId xmlns:a16="http://schemas.microsoft.com/office/drawing/2014/main" id="{B24BFDC7-7F28-25E7-CCB5-5160C3616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18384"/>
              </p:ext>
            </p:extLst>
          </p:nvPr>
        </p:nvGraphicFramePr>
        <p:xfrm>
          <a:off x="3056067" y="252670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grpSp>
        <p:nvGrpSpPr>
          <p:cNvPr id="77" name="群組 76">
            <a:extLst>
              <a:ext uri="{FF2B5EF4-FFF2-40B4-BE49-F238E27FC236}">
                <a16:creationId xmlns:a16="http://schemas.microsoft.com/office/drawing/2014/main" id="{5647F245-B7EA-DF66-0216-E7082725699B}"/>
              </a:ext>
            </a:extLst>
          </p:cNvPr>
          <p:cNvGrpSpPr/>
          <p:nvPr/>
        </p:nvGrpSpPr>
        <p:grpSpPr>
          <a:xfrm>
            <a:off x="3438931" y="3043845"/>
            <a:ext cx="7380447" cy="881566"/>
            <a:chOff x="3438931" y="3043845"/>
            <a:chExt cx="7380447" cy="881566"/>
          </a:xfrm>
        </p:grpSpPr>
        <p:cxnSp>
          <p:nvCxnSpPr>
            <p:cNvPr id="60" name="直線箭頭接點 59">
              <a:extLst>
                <a:ext uri="{FF2B5EF4-FFF2-40B4-BE49-F238E27FC236}">
                  <a16:creationId xmlns:a16="http://schemas.microsoft.com/office/drawing/2014/main" id="{8FD91ED6-9B4D-F558-0FF7-E3135D4D3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93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箭頭接點 60">
              <a:extLst>
                <a:ext uri="{FF2B5EF4-FFF2-40B4-BE49-F238E27FC236}">
                  <a16:creationId xmlns:a16="http://schemas.microsoft.com/office/drawing/2014/main" id="{AC73609B-B72E-CCE6-1DAF-59F0349C1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25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箭頭接點 61">
              <a:extLst>
                <a:ext uri="{FF2B5EF4-FFF2-40B4-BE49-F238E27FC236}">
                  <a16:creationId xmlns:a16="http://schemas.microsoft.com/office/drawing/2014/main" id="{20787C00-9DB9-85B4-06C0-63BCABB60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4277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箭頭接點 62">
              <a:extLst>
                <a:ext uri="{FF2B5EF4-FFF2-40B4-BE49-F238E27FC236}">
                  <a16:creationId xmlns:a16="http://schemas.microsoft.com/office/drawing/2014/main" id="{352753BF-587A-BDA8-E83C-AE05DF5B7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27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箭頭接點 63">
              <a:extLst>
                <a:ext uri="{FF2B5EF4-FFF2-40B4-BE49-F238E27FC236}">
                  <a16:creationId xmlns:a16="http://schemas.microsoft.com/office/drawing/2014/main" id="{DF43A27C-11E7-23CA-908D-7245F0E9AE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962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箭頭接點 64">
              <a:extLst>
                <a:ext uri="{FF2B5EF4-FFF2-40B4-BE49-F238E27FC236}">
                  <a16:creationId xmlns:a16="http://schemas.microsoft.com/office/drawing/2014/main" id="{E551AAD3-A2A5-FDE8-9FC1-1D70E1F87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868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箭頭接點 65">
              <a:extLst>
                <a:ext uri="{FF2B5EF4-FFF2-40B4-BE49-F238E27FC236}">
                  <a16:creationId xmlns:a16="http://schemas.microsoft.com/office/drawing/2014/main" id="{8167A138-F42F-1404-D39D-3E233BF1FE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01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箭頭接點 66">
              <a:extLst>
                <a:ext uri="{FF2B5EF4-FFF2-40B4-BE49-F238E27FC236}">
                  <a16:creationId xmlns:a16="http://schemas.microsoft.com/office/drawing/2014/main" id="{980C67F1-3308-F378-D2B3-4594C3D15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4032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箭頭接點 67">
              <a:extLst>
                <a:ext uri="{FF2B5EF4-FFF2-40B4-BE49-F238E27FC236}">
                  <a16:creationId xmlns:a16="http://schemas.microsoft.com/office/drawing/2014/main" id="{37E45D06-75C8-4063-C0E2-7664AED462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302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箭頭接點 68">
              <a:extLst>
                <a:ext uri="{FF2B5EF4-FFF2-40B4-BE49-F238E27FC236}">
                  <a16:creationId xmlns:a16="http://schemas.microsoft.com/office/drawing/2014/main" id="{C032BCD2-3DDF-7299-1820-04DA3B4B9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937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93F83A21-2399-BC52-7EFD-C21A482DEEEC}"/>
              </a:ext>
            </a:extLst>
          </p:cNvPr>
          <p:cNvSpPr txBox="1"/>
          <p:nvPr/>
        </p:nvSpPr>
        <p:spPr>
          <a:xfrm>
            <a:off x="2379411" y="2552226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⬅️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38BBB61B-94BE-1876-1B38-BD2E4B45D751}"/>
                  </a:ext>
                </a:extLst>
              </p:cNvPr>
              <p:cNvSpPr txBox="1"/>
              <p:nvPr/>
            </p:nvSpPr>
            <p:spPr>
              <a:xfrm>
                <a:off x="672382" y="2388955"/>
                <a:ext cx="1736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第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sz="18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i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/>
                  <a:t>個 </a:t>
                </a:r>
                <a:r>
                  <a:rPr kumimoji="1" lang="en-US" altLang="zh-TW" dirty="0"/>
                  <a:t>token </a:t>
                </a:r>
                <a:r>
                  <a:rPr kumimoji="1" lang="zh-TW" altLang="en-US" dirty="0"/>
                  <a:t>的 </a:t>
                </a:r>
                <a:r>
                  <a:rPr kumimoji="1" lang="en-US" altLang="zh-TW" dirty="0"/>
                  <a:t>hidden state</a:t>
                </a: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38BBB61B-94BE-1876-1B38-BD2E4B45D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82" y="2388955"/>
                <a:ext cx="1736441" cy="646331"/>
              </a:xfrm>
              <a:prstGeom prst="rect">
                <a:avLst/>
              </a:prstGeom>
              <a:blipFill>
                <a:blip r:embed="rId15"/>
                <a:stretch>
                  <a:fillRect l="-2899" t="-7692" r="-2174"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CD359BC5-797C-5C5D-5670-333F52FF12E8}"/>
                  </a:ext>
                </a:extLst>
              </p:cNvPr>
              <p:cNvSpPr txBox="1"/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CD359BC5-797C-5C5D-5670-333F52FF1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98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D9E00-D19B-9A8D-1507-6456436C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每個維度都有一個獨立的</a:t>
            </a:r>
            <a:r>
              <a:rPr kumimoji="1" lang="en-US" altLang="zh-TW" dirty="0"/>
              <a:t> SSM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5AC63A-17D4-2F19-B154-F54C3608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21</a:t>
            </a:fld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5EE795-1791-FBDF-6D89-24D3522B4BAE}"/>
              </a:ext>
            </a:extLst>
          </p:cNvPr>
          <p:cNvSpPr txBox="1"/>
          <p:nvPr/>
        </p:nvSpPr>
        <p:spPr>
          <a:xfrm>
            <a:off x="3553767" y="6400412"/>
            <a:ext cx="5084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github.com</a:t>
            </a:r>
            <a:r>
              <a:rPr kumimoji="1" lang="en" altLang="zh-TW" sz="1200" dirty="0"/>
              <a:t>/</a:t>
            </a:r>
            <a:r>
              <a:rPr kumimoji="1" lang="en" altLang="zh-TW" sz="1200" dirty="0" err="1"/>
              <a:t>hkproj</a:t>
            </a:r>
            <a:r>
              <a:rPr kumimoji="1" lang="en" altLang="zh-TW" sz="1200" dirty="0"/>
              <a:t>/mamba-notes/blob/main/</a:t>
            </a:r>
            <a:r>
              <a:rPr kumimoji="1" lang="en" altLang="zh-TW" sz="1200" dirty="0" err="1"/>
              <a:t>Mamba_Slides.pdf</a:t>
            </a:r>
            <a:endParaRPr kumimoji="1" lang="zh-TW" altLang="en-US" sz="1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DE92D7C-6B37-E427-AE8D-B97C7D307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91032"/>
            <a:ext cx="5680150" cy="360382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0433B0F-4723-B67A-99FA-1C4B2CCE2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190" y="2242762"/>
            <a:ext cx="4397883" cy="360382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45C40D4-A31F-A949-CAFE-E3F8BF52B191}"/>
              </a:ext>
            </a:extLst>
          </p:cNvPr>
          <p:cNvSpPr txBox="1"/>
          <p:nvPr/>
        </p:nvSpPr>
        <p:spPr>
          <a:xfrm>
            <a:off x="653144" y="1490739"/>
            <a:ext cx="10918370" cy="49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Transformer (multi-head attention) </a:t>
            </a:r>
            <a:r>
              <a:rPr kumimoji="1" lang="zh-TW" altLang="en-US" sz="2000" dirty="0"/>
              <a:t>也有類似的過程</a:t>
            </a:r>
            <a:endParaRPr kumimoji="1" lang="en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335927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8768C1-E40C-CBFE-CF04-CB455960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SSM </a:t>
            </a:r>
            <a:r>
              <a:rPr kumimoji="1" lang="zh-TW" altLang="en-US" dirty="0"/>
              <a:t>與 </a:t>
            </a:r>
            <a:r>
              <a:rPr kumimoji="1" lang="en" altLang="zh-TW" dirty="0"/>
              <a:t>S4 </a:t>
            </a:r>
            <a:r>
              <a:rPr kumimoji="1" lang="zh-TW" altLang="en-US" dirty="0"/>
              <a:t>中的 </a:t>
            </a:r>
            <a:r>
              <a:rPr kumimoji="1" lang="en" altLang="zh-TW" dirty="0"/>
              <a:t>Differential Equation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765DBA-EF93-BFCA-F1A7-ED291A3B3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791568"/>
            <a:ext cx="10515600" cy="7869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" altLang="zh-TW" dirty="0"/>
              <a:t>Structured state space models (S4)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EEDD39-18E9-8A75-EEF1-96F277A4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22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EDA24D-0793-0306-C8E6-C14C6E76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99" y="3229430"/>
            <a:ext cx="3492500" cy="101600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FCC1CEB-8B84-31D9-2B6B-A051822B0730}"/>
              </a:ext>
            </a:extLst>
          </p:cNvPr>
          <p:cNvGraphicFramePr>
            <a:graphicFrameLocks noGrp="1"/>
          </p:cNvGraphicFramePr>
          <p:nvPr/>
        </p:nvGraphicFramePr>
        <p:xfrm>
          <a:off x="5426111" y="3121222"/>
          <a:ext cx="576887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058">
                  <a:extLst>
                    <a:ext uri="{9D8B030D-6E8A-4147-A177-3AD203B41FA5}">
                      <a16:colId xmlns:a16="http://schemas.microsoft.com/office/drawing/2014/main" val="1851550988"/>
                    </a:ext>
                  </a:extLst>
                </a:gridCol>
                <a:gridCol w="2378856">
                  <a:extLst>
                    <a:ext uri="{9D8B030D-6E8A-4147-A177-3AD203B41FA5}">
                      <a16:colId xmlns:a16="http://schemas.microsoft.com/office/drawing/2014/main" val="61911324"/>
                    </a:ext>
                  </a:extLst>
                </a:gridCol>
                <a:gridCol w="1922957">
                  <a:extLst>
                    <a:ext uri="{9D8B030D-6E8A-4147-A177-3AD203B41FA5}">
                      <a16:colId xmlns:a16="http://schemas.microsoft.com/office/drawing/2014/main" val="2601136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符號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意義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Time-variant?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122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x(t)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Inputs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✅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196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h(t)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Hidden state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✅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258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h’(t)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Hidden state </a:t>
                      </a:r>
                      <a:r>
                        <a:rPr lang="zh-TW" altLang="en-US" dirty="0"/>
                        <a:t>改變量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✅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015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Memory Gate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❌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73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Input Gate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❌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654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Output Gate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❌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5854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D305ACA-3EE7-E21A-555D-4FC760F46FC2}"/>
              </a:ext>
            </a:extLst>
          </p:cNvPr>
          <p:cNvSpPr/>
          <p:nvPr/>
        </p:nvSpPr>
        <p:spPr>
          <a:xfrm>
            <a:off x="1090299" y="3219382"/>
            <a:ext cx="3492500" cy="528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6071119-C096-811A-2273-B88EF78A412E}"/>
              </a:ext>
            </a:extLst>
          </p:cNvPr>
          <p:cNvSpPr txBox="1"/>
          <p:nvPr/>
        </p:nvSpPr>
        <p:spPr>
          <a:xfrm>
            <a:off x="1535287" y="2845026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Differential Equation!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84C4D28-6250-E696-8850-462FD327BE3E}"/>
              </a:ext>
            </a:extLst>
          </p:cNvPr>
          <p:cNvSpPr txBox="1"/>
          <p:nvPr/>
        </p:nvSpPr>
        <p:spPr>
          <a:xfrm>
            <a:off x="838200" y="6259810"/>
            <a:ext cx="5084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Gu, Albert, Karan Goel, and Christopher Re. "Efficiently Modeling Long Sequences with Structured State Spaces." ICLR 2022.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51968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A9610871-EDCE-B0E6-08F2-E72C501BB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178" y="3266673"/>
            <a:ext cx="6972300" cy="1143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3D81CB3-BC9E-6CEB-20A7-E2180D24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Differential Equation (𝑡</a:t>
            </a:r>
            <a:r>
              <a:rPr kumimoji="1" lang="zh-TW" altLang="en-US"/>
              <a:t> 以</a:t>
            </a:r>
            <a:r>
              <a:rPr kumimoji="1" lang="en-US" altLang="zh-TW" dirty="0"/>
              <a:t> token</a:t>
            </a:r>
            <a:r>
              <a:rPr kumimoji="1" lang="zh-TW" altLang="en-US" dirty="0"/>
              <a:t> 為單位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8F1533-3A55-118C-86B4-0015D829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23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1627A60-5205-D625-5392-B3604D43CA72}"/>
              </a:ext>
            </a:extLst>
          </p:cNvPr>
          <p:cNvSpPr txBox="1"/>
          <p:nvPr/>
        </p:nvSpPr>
        <p:spPr>
          <a:xfrm>
            <a:off x="3868512" y="2484090"/>
            <a:ext cx="3939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FF0000"/>
                </a:solidFill>
              </a:rPr>
              <a:t>透過 </a:t>
            </a:r>
            <a:r>
              <a:rPr kumimoji="1" lang="en" altLang="zh-TW" sz="2400" dirty="0">
                <a:solidFill>
                  <a:srgbClr val="FF0000"/>
                </a:solidFill>
              </a:rPr>
              <a:t>zero-order hold</a:t>
            </a:r>
            <a:r>
              <a:rPr kumimoji="1" lang="zh-TW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zh-TW" sz="2400" dirty="0">
                <a:solidFill>
                  <a:srgbClr val="FF0000"/>
                </a:solidFill>
              </a:rPr>
              <a:t>(ZOH) </a:t>
            </a:r>
            <a:r>
              <a:rPr kumimoji="1" lang="zh-TW" altLang="en-US" sz="2400" dirty="0">
                <a:solidFill>
                  <a:srgbClr val="FF0000"/>
                </a:solidFill>
              </a:rPr>
              <a:t>進行離散化</a:t>
            </a: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4BBC1B63-93DC-50B8-96D9-901ED718BC57}"/>
              </a:ext>
            </a:extLst>
          </p:cNvPr>
          <p:cNvSpPr/>
          <p:nvPr/>
        </p:nvSpPr>
        <p:spPr>
          <a:xfrm>
            <a:off x="5336929" y="3517880"/>
            <a:ext cx="1034980" cy="160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269D6-D18A-F2FE-6F57-32B289B824DE}"/>
              </a:ext>
            </a:extLst>
          </p:cNvPr>
          <p:cNvSpPr/>
          <p:nvPr/>
        </p:nvSpPr>
        <p:spPr>
          <a:xfrm>
            <a:off x="6409944" y="3377459"/>
            <a:ext cx="3128446" cy="8309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330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C88CF1-1506-E263-C7EA-CDC12068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離散化 </a:t>
            </a:r>
            <a:r>
              <a:rPr kumimoji="1" lang="en-US" altLang="zh-TW" dirty="0"/>
              <a:t>(Discretization) </a:t>
            </a:r>
            <a:r>
              <a:rPr kumimoji="1" lang="zh-TW" altLang="en-US" dirty="0"/>
              <a:t>簡單推導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737485-E7D8-EBEB-10F1-DB80365F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24</a:t>
            </a:fld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5CB6EE7-FE31-9EA9-CC27-17ACE9AE4C98}"/>
              </a:ext>
            </a:extLst>
          </p:cNvPr>
          <p:cNvSpPr txBox="1"/>
          <p:nvPr/>
        </p:nvSpPr>
        <p:spPr>
          <a:xfrm>
            <a:off x="653143" y="1956428"/>
            <a:ext cx="7430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/>
              <a:t>https://</a:t>
            </a:r>
            <a:r>
              <a:rPr kumimoji="1" lang="en" altLang="zh-TW" sz="2000" dirty="0" err="1"/>
              <a:t>www.youtube.com</a:t>
            </a:r>
            <a:r>
              <a:rPr kumimoji="1" lang="en" altLang="zh-TW" sz="2000" dirty="0"/>
              <a:t>/</a:t>
            </a:r>
            <a:r>
              <a:rPr kumimoji="1" lang="en" altLang="zh-TW" sz="2000" dirty="0" err="1"/>
              <a:t>watch?v</a:t>
            </a:r>
            <a:r>
              <a:rPr kumimoji="1" lang="en" altLang="zh-TW" sz="2000" dirty="0"/>
              <a:t>=8Q_tqwpTpVU&amp;t=602s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64459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390FD1-3E64-5443-7CAA-B3A1D925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SSM </a:t>
            </a:r>
            <a:r>
              <a:rPr kumimoji="1" lang="zh-TW" altLang="en-US" dirty="0"/>
              <a:t>的好處？全域卷積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F638D6-4865-13E6-68FC-9DB30D254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我們已經發現 </a:t>
            </a:r>
            <a:r>
              <a:rPr kumimoji="1" lang="en-US" altLang="zh-TW" dirty="0"/>
              <a:t>SSM </a:t>
            </a:r>
            <a:r>
              <a:rPr kumimoji="1" lang="zh-TW" altLang="en-US" dirty="0"/>
              <a:t>是 </a:t>
            </a:r>
            <a:r>
              <a:rPr kumimoji="1" lang="en-US" altLang="zh-TW" dirty="0"/>
              <a:t>RNN</a:t>
            </a:r>
          </a:p>
          <a:p>
            <a:r>
              <a:rPr kumimoji="1" lang="zh-TW" altLang="en-US" dirty="0"/>
              <a:t>然而，</a:t>
            </a:r>
            <a:r>
              <a:rPr kumimoji="1" lang="en-US" altLang="zh-TW" dirty="0"/>
              <a:t>RNN</a:t>
            </a:r>
            <a:r>
              <a:rPr kumimoji="1" lang="zh-TW" altLang="en-US" dirty="0"/>
              <a:t> 的問題：無法平行化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0DF69C-1E61-CEC7-1B24-1756ECA4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25</a:t>
            </a:fld>
            <a:endParaRPr kumimoji="1"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F040A13-54B5-A013-E311-74C20A9070A6}"/>
              </a:ext>
            </a:extLst>
          </p:cNvPr>
          <p:cNvGrpSpPr/>
          <p:nvPr/>
        </p:nvGrpSpPr>
        <p:grpSpPr>
          <a:xfrm>
            <a:off x="2919466" y="3230346"/>
            <a:ext cx="5594220" cy="2946617"/>
            <a:chOff x="6150937" y="2255394"/>
            <a:chExt cx="4487970" cy="2287450"/>
          </a:xfrm>
        </p:grpSpPr>
        <p:pic>
          <p:nvPicPr>
            <p:cNvPr id="7" name="圖片 6" descr="一張含有 文字, 螢幕擷取畫面, 字型, 圖表 的圖片&#10;&#10;自動產生的描述">
              <a:extLst>
                <a:ext uri="{FF2B5EF4-FFF2-40B4-BE49-F238E27FC236}">
                  <a16:creationId xmlns:a16="http://schemas.microsoft.com/office/drawing/2014/main" id="{832751D6-9D62-3A9D-8C80-42A63C091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50937" y="2255394"/>
              <a:ext cx="4487970" cy="22874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098ACE5E-8BD9-C2BA-EE29-467B4368139A}"/>
                    </a:ext>
                  </a:extLst>
                </p:cNvPr>
                <p:cNvSpPr txBox="1"/>
                <p:nvPr/>
              </p:nvSpPr>
              <p:spPr>
                <a:xfrm>
                  <a:off x="7466963" y="3681668"/>
                  <a:ext cx="301840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TW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098ACE5E-8BD9-C2BA-EE29-467B43681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6963" y="3681668"/>
                  <a:ext cx="301840" cy="30822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41717804-E439-8717-3865-63D0F909E171}"/>
                    </a:ext>
                  </a:extLst>
                </p:cNvPr>
                <p:cNvSpPr txBox="1"/>
                <p:nvPr/>
              </p:nvSpPr>
              <p:spPr>
                <a:xfrm>
                  <a:off x="7078067" y="3033739"/>
                  <a:ext cx="228255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TW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41717804-E439-8717-3865-63D0F909E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8067" y="3033739"/>
                  <a:ext cx="228255" cy="3082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72295FD1-87E2-E2E3-A01F-D21DB0E2EC59}"/>
                    </a:ext>
                  </a:extLst>
                </p:cNvPr>
                <p:cNvSpPr txBox="1"/>
                <p:nvPr/>
              </p:nvSpPr>
              <p:spPr>
                <a:xfrm>
                  <a:off x="8610600" y="3678041"/>
                  <a:ext cx="301840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TW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72295FD1-87E2-E2E3-A01F-D21DB0E2E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3678041"/>
                  <a:ext cx="301840" cy="3082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C09C1823-59BF-8D63-B96C-1DD98E645AD1}"/>
                    </a:ext>
                  </a:extLst>
                </p:cNvPr>
                <p:cNvSpPr txBox="1"/>
                <p:nvPr/>
              </p:nvSpPr>
              <p:spPr>
                <a:xfrm>
                  <a:off x="9754237" y="3678041"/>
                  <a:ext cx="301840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TW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C09C1823-59BF-8D63-B96C-1DD98E645A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4237" y="3678041"/>
                  <a:ext cx="301840" cy="3082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28091681-7A2F-C959-3AF2-7CECD68E80F1}"/>
                    </a:ext>
                  </a:extLst>
                </p:cNvPr>
                <p:cNvSpPr txBox="1"/>
                <p:nvPr/>
              </p:nvSpPr>
              <p:spPr>
                <a:xfrm>
                  <a:off x="8224574" y="3033739"/>
                  <a:ext cx="228255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TW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28091681-7A2F-C959-3AF2-7CECD68E8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574" y="3033739"/>
                  <a:ext cx="228255" cy="3082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B60776C-8989-05D1-C328-023BF35AB311}"/>
                    </a:ext>
                  </a:extLst>
                </p:cNvPr>
                <p:cNvSpPr txBox="1"/>
                <p:nvPr/>
              </p:nvSpPr>
              <p:spPr>
                <a:xfrm>
                  <a:off x="9349516" y="3033739"/>
                  <a:ext cx="228255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TW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2B60776C-8989-05D1-C328-023BF35AB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9516" y="3033739"/>
                  <a:ext cx="228255" cy="3082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D1BEE4F-4D12-3C35-BC97-B094C11BA52D}"/>
                    </a:ext>
                  </a:extLst>
                </p:cNvPr>
                <p:cNvSpPr txBox="1"/>
                <p:nvPr/>
              </p:nvSpPr>
              <p:spPr>
                <a:xfrm>
                  <a:off x="7503755" y="2800752"/>
                  <a:ext cx="228255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5D1BEE4F-4D12-3C35-BC97-B094C11BA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3755" y="2800752"/>
                  <a:ext cx="228255" cy="30822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04B9D6FE-9224-E0B7-7337-8F8A8710F404}"/>
                    </a:ext>
                  </a:extLst>
                </p:cNvPr>
                <p:cNvSpPr txBox="1"/>
                <p:nvPr/>
              </p:nvSpPr>
              <p:spPr>
                <a:xfrm>
                  <a:off x="8648811" y="2800752"/>
                  <a:ext cx="228255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04B9D6FE-9224-E0B7-7337-8F8A8710F4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811" y="2800752"/>
                  <a:ext cx="228255" cy="30822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DC916378-4A4B-3B5B-8F38-AF9414FF1246}"/>
                    </a:ext>
                  </a:extLst>
                </p:cNvPr>
                <p:cNvSpPr txBox="1"/>
                <p:nvPr/>
              </p:nvSpPr>
              <p:spPr>
                <a:xfrm>
                  <a:off x="9754237" y="2794531"/>
                  <a:ext cx="228255" cy="30822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DC916378-4A4B-3B5B-8F38-AF9414FF1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4237" y="2794531"/>
                  <a:ext cx="228255" cy="30822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0BD12353-E353-3D5E-127E-77B2F8018B3F}"/>
              </a:ext>
            </a:extLst>
          </p:cNvPr>
          <p:cNvGrpSpPr/>
          <p:nvPr/>
        </p:nvGrpSpPr>
        <p:grpSpPr>
          <a:xfrm>
            <a:off x="8894417" y="1845734"/>
            <a:ext cx="2617546" cy="913176"/>
            <a:chOff x="6263639" y="1599942"/>
            <a:chExt cx="2617546" cy="913176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B2CDA17-467B-ED26-396B-392799D56C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53009"/>
            <a:stretch/>
          </p:blipFill>
          <p:spPr>
            <a:xfrm>
              <a:off x="6263639" y="1599942"/>
              <a:ext cx="2617545" cy="913176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C01EFB1-57EB-8912-C477-E565583D0B95}"/>
                </a:ext>
              </a:extLst>
            </p:cNvPr>
            <p:cNvSpPr/>
            <p:nvPr/>
          </p:nvSpPr>
          <p:spPr>
            <a:xfrm>
              <a:off x="6329778" y="1644004"/>
              <a:ext cx="2551407" cy="7304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4201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9A113-2B1C-78D1-3DA5-4DD71500F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SSM </a:t>
            </a:r>
            <a:r>
              <a:rPr kumimoji="1" lang="zh-TW" altLang="en-US" dirty="0"/>
              <a:t>的好處？全域卷積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B95C98-2A83-CFAF-9E6E-913DDA2C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26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CA13891-DB67-8AE2-DF05-45E902943A91}"/>
              </a:ext>
            </a:extLst>
          </p:cNvPr>
          <p:cNvGrpSpPr/>
          <p:nvPr/>
        </p:nvGrpSpPr>
        <p:grpSpPr>
          <a:xfrm>
            <a:off x="4768938" y="1567783"/>
            <a:ext cx="2617546" cy="913176"/>
            <a:chOff x="6263639" y="1599942"/>
            <a:chExt cx="2617546" cy="913176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2963FC1-4FAB-6FEC-A87E-5B34901375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3009"/>
            <a:stretch/>
          </p:blipFill>
          <p:spPr>
            <a:xfrm>
              <a:off x="6263639" y="1599942"/>
              <a:ext cx="2617545" cy="913176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C405F71-691A-7C23-3548-BD406187F468}"/>
                </a:ext>
              </a:extLst>
            </p:cNvPr>
            <p:cNvSpPr/>
            <p:nvPr/>
          </p:nvSpPr>
          <p:spPr>
            <a:xfrm>
              <a:off x="6329778" y="1644004"/>
              <a:ext cx="2551407" cy="7304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0F634E3-BC6D-584A-888B-F6BDDB3D3AD7}"/>
                  </a:ext>
                </a:extLst>
              </p:cNvPr>
              <p:cNvSpPr txBox="1"/>
              <p:nvPr/>
            </p:nvSpPr>
            <p:spPr>
              <a:xfrm>
                <a:off x="838200" y="2767642"/>
                <a:ext cx="609452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TW" alt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0F634E3-BC6D-584A-888B-F6BDDB3D3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67642"/>
                <a:ext cx="6094520" cy="369909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1936CFB-0A15-2C3C-999D-E434E3E08A46}"/>
                  </a:ext>
                </a:extLst>
              </p:cNvPr>
              <p:cNvSpPr txBox="1"/>
              <p:nvPr/>
            </p:nvSpPr>
            <p:spPr>
              <a:xfrm>
                <a:off x="4524723" y="2767642"/>
                <a:ext cx="157800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zh-TW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1936CFB-0A15-2C3C-999D-E434E3E08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723" y="2767642"/>
                <a:ext cx="1578006" cy="369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9AF0286-CF24-94A5-E370-F32DD2D8FD12}"/>
                  </a:ext>
                </a:extLst>
              </p:cNvPr>
              <p:cNvSpPr txBox="1"/>
              <p:nvPr/>
            </p:nvSpPr>
            <p:spPr>
              <a:xfrm>
                <a:off x="838200" y="3309111"/>
                <a:ext cx="5546325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zh-TW" alt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9AF0286-CF24-94A5-E370-F32DD2D8F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09111"/>
                <a:ext cx="5546325" cy="369909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6BA708F-F5CB-A211-C3BD-92E8422CF1EB}"/>
                  </a:ext>
                </a:extLst>
              </p:cNvPr>
              <p:cNvSpPr txBox="1"/>
              <p:nvPr/>
            </p:nvSpPr>
            <p:spPr>
              <a:xfrm>
                <a:off x="7895206" y="2765134"/>
                <a:ext cx="1401192" cy="36990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TW" alt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zh-TW" altLang="en-US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6BA708F-F5CB-A211-C3BD-92E8422CF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206" y="2765134"/>
                <a:ext cx="1401192" cy="3699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70209D9-6EB0-D259-C271-EE44BEEB9A34}"/>
                  </a:ext>
                </a:extLst>
              </p:cNvPr>
              <p:cNvSpPr txBox="1"/>
              <p:nvPr/>
            </p:nvSpPr>
            <p:spPr>
              <a:xfrm>
                <a:off x="5554462" y="3292859"/>
                <a:ext cx="27432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zh-TW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70209D9-6EB0-D259-C271-EE44BEEB9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62" y="3292859"/>
                <a:ext cx="2743200" cy="369909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8917CAF-44BA-94A0-1737-C716CD1C3DDD}"/>
                  </a:ext>
                </a:extLst>
              </p:cNvPr>
              <p:cNvSpPr txBox="1"/>
              <p:nvPr/>
            </p:nvSpPr>
            <p:spPr>
              <a:xfrm>
                <a:off x="838200" y="3836836"/>
                <a:ext cx="679807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zh-TW" alt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8917CAF-44BA-94A0-1737-C716CD1C3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36836"/>
                <a:ext cx="6798076" cy="369909"/>
              </a:xfrm>
              <a:prstGeom prst="rect">
                <a:avLst/>
              </a:prstGeom>
              <a:blipFill>
                <a:blip r:embed="rId9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CE81EAF-DA23-A1F7-D909-333FB6D800A3}"/>
                  </a:ext>
                </a:extLst>
              </p:cNvPr>
              <p:cNvSpPr txBox="1"/>
              <p:nvPr/>
            </p:nvSpPr>
            <p:spPr>
              <a:xfrm>
                <a:off x="7895205" y="3278688"/>
                <a:ext cx="2288959" cy="36990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TW" alt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zh-TW" altLang="en-US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CE81EAF-DA23-A1F7-D909-333FB6D80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205" y="3278688"/>
                <a:ext cx="2288959" cy="3699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2100475-B0FA-4F6F-B8DD-FC85F5F4FFE1}"/>
                  </a:ext>
                </a:extLst>
              </p:cNvPr>
              <p:cNvSpPr txBox="1"/>
              <p:nvPr/>
            </p:nvSpPr>
            <p:spPr>
              <a:xfrm>
                <a:off x="3478566" y="4344751"/>
                <a:ext cx="3669437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2100475-B0FA-4F6F-B8DD-FC85F5F4F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566" y="4344751"/>
                <a:ext cx="3669437" cy="369909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30FBA77-2424-2AC1-EE53-160CC73A47F9}"/>
                  </a:ext>
                </a:extLst>
              </p:cNvPr>
              <p:cNvSpPr txBox="1"/>
              <p:nvPr/>
            </p:nvSpPr>
            <p:spPr>
              <a:xfrm>
                <a:off x="3478566" y="4852666"/>
                <a:ext cx="3669437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30FBA77-2424-2AC1-EE53-160CC73A4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566" y="4852666"/>
                <a:ext cx="3669437" cy="369909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2B2E46A-060C-AEF8-21C1-4D0CBF80DD0E}"/>
                  </a:ext>
                </a:extLst>
              </p:cNvPr>
              <p:cNvSpPr txBox="1"/>
              <p:nvPr/>
            </p:nvSpPr>
            <p:spPr>
              <a:xfrm>
                <a:off x="7889286" y="4877639"/>
                <a:ext cx="3238094" cy="36990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TW" alt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2B2E46A-060C-AEF8-21C1-4D0CBF80D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86" y="4877639"/>
                <a:ext cx="3238094" cy="3699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93EF9F8-DA6A-0C03-FAA0-E9E393CED00A}"/>
                  </a:ext>
                </a:extLst>
              </p:cNvPr>
              <p:cNvSpPr txBox="1"/>
              <p:nvPr/>
            </p:nvSpPr>
            <p:spPr>
              <a:xfrm>
                <a:off x="7889285" y="5432214"/>
                <a:ext cx="3927597" cy="36990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TW" alt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TW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93EF9F8-DA6A-0C03-FAA0-E9E393CED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85" y="5432214"/>
                <a:ext cx="3927597" cy="36990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0070C0"/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10A97CBE-26FA-DFDC-57A4-242AEA4493D7}"/>
              </a:ext>
            </a:extLst>
          </p:cNvPr>
          <p:cNvSpPr txBox="1"/>
          <p:nvPr/>
        </p:nvSpPr>
        <p:spPr>
          <a:xfrm>
            <a:off x="6431281" y="5484826"/>
            <a:ext cx="154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找到規律 ➡️</a:t>
            </a:r>
          </a:p>
        </p:txBody>
      </p:sp>
    </p:spTree>
    <p:extLst>
      <p:ext uri="{BB962C8B-B14F-4D97-AF65-F5344CB8AC3E}">
        <p14:creationId xmlns:p14="http://schemas.microsoft.com/office/powerpoint/2010/main" val="363473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 animBg="1"/>
      <p:bldP spid="16" grpId="0"/>
      <p:bldP spid="17" grpId="0"/>
      <p:bldP spid="19" grpId="0" animBg="1"/>
      <p:bldP spid="20" grpId="0"/>
      <p:bldP spid="21" grpId="0"/>
      <p:bldP spid="23" grpId="0" animBg="1"/>
      <p:bldP spid="24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C8D005E-EF93-E71E-D429-685F339A5B3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SSM </a:t>
                </a:r>
                <a:r>
                  <a:rPr kumimoji="1" lang="zh-TW" altLang="en-US" dirty="0"/>
                  <a:t>的好處？全域卷積 </a:t>
                </a:r>
                <a:r>
                  <a:rPr kumimoji="1" lang="en-US" altLang="zh-TW" dirty="0"/>
                  <a:t>(</a:t>
                </a:r>
                <a:r>
                  <a:rPr kumimoji="1" lang="zh-TW" altLang="en-US" dirty="0"/>
                  <a:t>以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為例</a:t>
                </a:r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C8D005E-EF93-E71E-D429-685F339A5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DAC379-00B2-054C-C6A3-C761DE687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27</a:t>
            </a:fld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B3AC00-93B8-5C3F-35A4-B5580BB412C0}"/>
                  </a:ext>
                </a:extLst>
              </p:cNvPr>
              <p:cNvSpPr txBox="1"/>
              <p:nvPr/>
            </p:nvSpPr>
            <p:spPr>
              <a:xfrm>
                <a:off x="2696962" y="2114282"/>
                <a:ext cx="679807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B3AC00-93B8-5C3F-35A4-B5580BB41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962" y="2114282"/>
                <a:ext cx="6798076" cy="369909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A693D4A-0553-D458-92D8-554B815D734D}"/>
                  </a:ext>
                </a:extLst>
              </p:cNvPr>
              <p:cNvSpPr txBox="1"/>
              <p:nvPr/>
            </p:nvSpPr>
            <p:spPr>
              <a:xfrm>
                <a:off x="4436985" y="3185805"/>
                <a:ext cx="3318030" cy="947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TW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zh-TW" altLang="en-US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̅"/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zh-TW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TW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zh-TW" altLang="en-US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acc>
                                  <m:accPr>
                                    <m:chr m:val="̅"/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zh-TW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TW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zh-TW" altLang="en-US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  <m:acc>
                                  <m:accPr>
                                    <m:chr m:val="̅"/>
                                    <m:ctrlP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TW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A693D4A-0553-D458-92D8-554B815D7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985" y="3185805"/>
                <a:ext cx="3318030" cy="947182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A5ECE430-CBB8-90A4-0831-90165A242E43}"/>
              </a:ext>
            </a:extLst>
          </p:cNvPr>
          <p:cNvSpPr txBox="1"/>
          <p:nvPr/>
        </p:nvSpPr>
        <p:spPr>
          <a:xfrm>
            <a:off x="4900474" y="3948321"/>
            <a:ext cx="1429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輸入序列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A0907CD-1692-2FC5-2EDA-132B41554635}"/>
              </a:ext>
            </a:extLst>
          </p:cNvPr>
          <p:cNvSpPr txBox="1"/>
          <p:nvPr/>
        </p:nvSpPr>
        <p:spPr>
          <a:xfrm>
            <a:off x="6251360" y="4235604"/>
            <a:ext cx="1429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卷積核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132DFBD-BD67-1430-AE21-95A400B0E6B3}"/>
                  </a:ext>
                </a:extLst>
              </p:cNvPr>
              <p:cNvSpPr txBox="1"/>
              <p:nvPr/>
            </p:nvSpPr>
            <p:spPr>
              <a:xfrm>
                <a:off x="1056392" y="5135033"/>
                <a:ext cx="10079217" cy="369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💡 代表在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kumimoji="1" lang="zh-TW" altLang="en-US" dirty="0">
                    <a:solidFill>
                      <a:srgbClr val="FF0000"/>
                    </a:solidFill>
                  </a:rPr>
                  <a:t> 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>
                    <a:solidFill>
                      <a:srgbClr val="FF0000"/>
                    </a:solidFill>
                  </a:rPr>
                  <a:t>不隨時間變動的情況下</a:t>
                </a:r>
                <a:r>
                  <a:rPr kumimoji="1" lang="zh-TW" altLang="en-US" dirty="0"/>
                  <a:t>，輸入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的序列，</a:t>
                </a:r>
                <a:r>
                  <a:rPr kumimoji="1" lang="en-US" altLang="zh-TW" dirty="0"/>
                  <a:t>SSM </a:t>
                </a:r>
                <a:r>
                  <a:rPr kumimoji="1" lang="zh-TW" altLang="en-US" dirty="0">
                    <a:solidFill>
                      <a:srgbClr val="FF0000"/>
                    </a:solidFill>
                  </a:rPr>
                  <a:t>其實還是能夠平行化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132DFBD-BD67-1430-AE21-95A400B0E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92" y="5135033"/>
                <a:ext cx="10079217" cy="369909"/>
              </a:xfrm>
              <a:prstGeom prst="rect">
                <a:avLst/>
              </a:prstGeom>
              <a:blipFill>
                <a:blip r:embed="rId5"/>
                <a:stretch>
                  <a:fillRect l="-504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5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2B70DE-CA04-B5C8-B6E3-69C97C7A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更多卷積的想像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507A14-1EBE-98CA-ED8B-A3FEAA7A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" altLang="zh-TW" sz="2800" dirty="0"/>
              <a:t>https://</a:t>
            </a:r>
            <a:r>
              <a:rPr kumimoji="1" lang="en" altLang="zh-TW" sz="2800" dirty="0" err="1"/>
              <a:t>github.com</a:t>
            </a:r>
            <a:r>
              <a:rPr kumimoji="1" lang="en" altLang="zh-TW" sz="2800" dirty="0"/>
              <a:t>/</a:t>
            </a:r>
            <a:r>
              <a:rPr kumimoji="1" lang="en" altLang="zh-TW" sz="2800" dirty="0" err="1"/>
              <a:t>hkproj</a:t>
            </a:r>
            <a:r>
              <a:rPr kumimoji="1" lang="en" altLang="zh-TW" sz="2800" dirty="0"/>
              <a:t>/mamba-notes/blob/main/</a:t>
            </a:r>
            <a:r>
              <a:rPr kumimoji="1" lang="en" altLang="zh-TW" sz="2800" dirty="0" err="1"/>
              <a:t>Mamba_Slides.pdf</a:t>
            </a:r>
            <a:endParaRPr kumimoji="1" lang="en" altLang="zh-TW" sz="2800" dirty="0"/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P.16 – P.20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DCB527-FB46-39F6-0014-ACCFFF0A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2424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346014-6025-3D8A-BD91-461DD306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S4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SSM </a:t>
            </a:r>
            <a:r>
              <a:rPr kumimoji="1" lang="zh-TW" altLang="en-US" dirty="0"/>
              <a:t>流程 </a:t>
            </a:r>
            <a:r>
              <a:rPr kumimoji="1" lang="en-US" altLang="zh-TW" dirty="0"/>
              <a:t>overview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C18C34-048A-CC8E-C8F5-85ACC3C1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/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x</a:t>
                </a:r>
                <a14:m>
                  <m:oMath xmlns:m="http://schemas.openxmlformats.org/officeDocument/2006/math">
                    <m:r>
                      <a:rPr lang="en-US" altLang="zh-TW" i="1" kern="100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/>
                  <a:t>: (1,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)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EA923E-9BBB-8D01-7234-7301ED577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blipFill>
                <a:blip r:embed="rId2"/>
                <a:stretch>
                  <a:fillRect l="-169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C437F97-36BA-D183-2554-9F726688B7E8}"/>
                  </a:ext>
                </a:extLst>
              </p:cNvPr>
              <p:cNvSpPr txBox="1"/>
              <p:nvPr/>
            </p:nvSpPr>
            <p:spPr>
              <a:xfrm>
                <a:off x="4817128" y="3722606"/>
                <a:ext cx="6896335" cy="1287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➡️ 有</a:t>
                </a:r>
                <a:r>
                  <a:rPr kumimoji="1" lang="en-US" altLang="zh-TW" dirty="0"/>
                  <a:t> </a:t>
                </a:r>
                <a:r>
                  <a:rPr kumimoji="1" lang="en-US" altLang="zh-TW" b="1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個 </a:t>
                </a:r>
                <a:r>
                  <a:rPr kumimoji="1" lang="en-US" altLang="zh-TW" dirty="0"/>
                  <a:t>SSMs</a:t>
                </a:r>
                <a:r>
                  <a:rPr kumimoji="1" lang="zh-TW" altLang="en-US" dirty="0"/>
                  <a:t> 在個別處理 </a:t>
                </a:r>
                <a:r>
                  <a:rPr kumimoji="1" lang="en-US" altLang="zh-TW" dirty="0"/>
                  <a:t>x</a:t>
                </a:r>
                <a14:m>
                  <m:oMath xmlns:m="http://schemas.openxmlformats.org/officeDocument/2006/math">
                    <m:r>
                      <a:rPr lang="en-US" altLang="zh-TW" b="0" i="1" kern="100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的資訊</a:t>
                </a:r>
                <a:endParaRPr kumimoji="1"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⚠️ 注意：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跟 </a:t>
                </a:r>
                <a:r>
                  <a:rPr kumimoji="1" lang="en-US" altLang="zh-TW" dirty="0"/>
                  <a:t>output </a:t>
                </a:r>
                <a:r>
                  <a:rPr kumimoji="1" lang="zh-TW" altLang="en-US" dirty="0"/>
                  <a:t>都是 </a:t>
                </a:r>
                <a:r>
                  <a:rPr kumimoji="1" lang="en-US" altLang="zh-TW" dirty="0"/>
                  <a:t>scalar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➡️ 在 </a:t>
                </a:r>
                <a:r>
                  <a:rPr kumimoji="1" lang="en-US" altLang="zh-TW" dirty="0"/>
                  <a:t>embedding </a:t>
                </a:r>
                <a:r>
                  <a:rPr kumimoji="1" lang="zh-TW" altLang="en-US" dirty="0"/>
                  <a:t>空間中再劃出隱藏空間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C437F97-36BA-D183-2554-9F726688B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128" y="3722606"/>
                <a:ext cx="6896335" cy="1287853"/>
              </a:xfrm>
              <a:prstGeom prst="rect">
                <a:avLst/>
              </a:prstGeom>
              <a:blipFill>
                <a:blip r:embed="rId3"/>
                <a:stretch>
                  <a:fillRect l="-735" b="-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BBE4634-806B-1741-EFF6-99310544DEFD}"/>
                  </a:ext>
                </a:extLst>
              </p:cNvPr>
              <p:cNvSpPr/>
              <p:nvPr/>
            </p:nvSpPr>
            <p:spPr>
              <a:xfrm>
                <a:off x="1122674" y="5330908"/>
                <a:ext cx="813816" cy="4663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BBE4634-806B-1741-EFF6-99310544D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674" y="5330908"/>
                <a:ext cx="813816" cy="4663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BF5C1C00-AF41-471C-3022-8AEBC126E048}"/>
              </a:ext>
            </a:extLst>
          </p:cNvPr>
          <p:cNvSpPr/>
          <p:nvPr/>
        </p:nvSpPr>
        <p:spPr>
          <a:xfrm>
            <a:off x="2411911" y="2893393"/>
            <a:ext cx="1966371" cy="239064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475055AA-F1FD-E0CC-9E40-1944756E19D6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 flipV="1">
            <a:off x="1936490" y="5284036"/>
            <a:ext cx="1458607" cy="2800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110FF59-B596-2210-BB82-C718366EC402}"/>
              </a:ext>
            </a:extLst>
          </p:cNvPr>
          <p:cNvSpPr txBox="1"/>
          <p:nvPr/>
        </p:nvSpPr>
        <p:spPr>
          <a:xfrm>
            <a:off x="2315403" y="5478934"/>
            <a:ext cx="2078786" cy="45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dirty="0"/>
              <a:t>Embedding</a:t>
            </a:r>
            <a:r>
              <a:rPr kumimoji="1" lang="zh-TW" altLang="en-US" dirty="0"/>
              <a:t> 空間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69D5216-B24A-C664-8A28-5B86BE46FE9B}"/>
                  </a:ext>
                </a:extLst>
              </p:cNvPr>
              <p:cNvSpPr txBox="1"/>
              <p:nvPr/>
            </p:nvSpPr>
            <p:spPr>
              <a:xfrm>
                <a:off x="2375336" y="5890601"/>
                <a:ext cx="18736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TW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∈{0,1,…</m:t>
                      </m:r>
                      <m:r>
                        <a:rPr lang="en-US" altLang="zh-TW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zh-TW" sz="1800" kern="100" dirty="0">
                  <a:solidFill>
                    <a:srgbClr val="FF0000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69D5216-B24A-C664-8A28-5B86BE46F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336" y="5890601"/>
                <a:ext cx="1873604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9FABA923-AD64-FCB9-9F98-A68254102E85}"/>
              </a:ext>
            </a:extLst>
          </p:cNvPr>
          <p:cNvSpPr txBox="1"/>
          <p:nvPr/>
        </p:nvSpPr>
        <p:spPr>
          <a:xfrm>
            <a:off x="4148613" y="2856817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45FB237-CA21-3960-9A12-131A8F4B1B94}"/>
                  </a:ext>
                </a:extLst>
              </p:cNvPr>
              <p:cNvSpPr/>
              <p:nvPr/>
            </p:nvSpPr>
            <p:spPr>
              <a:xfrm>
                <a:off x="2745401" y="3729172"/>
                <a:ext cx="1214325" cy="70848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45FB237-CA21-3960-9A12-131A8F4B1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01" y="3729172"/>
                <a:ext cx="1214325" cy="7084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2E3FB7E-AD45-4945-406D-33D7BDC7E364}"/>
                  </a:ext>
                </a:extLst>
              </p:cNvPr>
              <p:cNvSpPr/>
              <p:nvPr/>
            </p:nvSpPr>
            <p:spPr>
              <a:xfrm>
                <a:off x="2945655" y="2922211"/>
                <a:ext cx="813816" cy="4663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2E3FB7E-AD45-4945-406D-33D7BDC7E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5" y="2922211"/>
                <a:ext cx="813816" cy="466344"/>
              </a:xfrm>
              <a:prstGeom prst="rect">
                <a:avLst/>
              </a:prstGeom>
              <a:blipFill>
                <a:blip r:embed="rId7"/>
                <a:stretch>
                  <a:fillRect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C543CE4-0B09-EA42-C73D-E8833745C30C}"/>
                  </a:ext>
                </a:extLst>
              </p:cNvPr>
              <p:cNvSpPr/>
              <p:nvPr/>
            </p:nvSpPr>
            <p:spPr>
              <a:xfrm>
                <a:off x="2945655" y="4772011"/>
                <a:ext cx="813816" cy="4663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C543CE4-0B09-EA42-C73D-E8833745C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5" y="4772011"/>
                <a:ext cx="813816" cy="4663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5CCBA18F-58FF-8990-6ABB-F7F11EC4C30F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flipH="1" flipV="1">
            <a:off x="3352563" y="3388555"/>
            <a:ext cx="1" cy="340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A7524BA6-90FD-696B-7DE4-90B272ED5554}"/>
              </a:ext>
            </a:extLst>
          </p:cNvPr>
          <p:cNvCxnSpPr>
            <a:cxnSpLocks/>
            <a:stCxn id="16" idx="0"/>
            <a:endCxn id="3" idx="2"/>
          </p:cNvCxnSpPr>
          <p:nvPr/>
        </p:nvCxnSpPr>
        <p:spPr>
          <a:xfrm flipV="1">
            <a:off x="3352563" y="4437659"/>
            <a:ext cx="1" cy="3343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接點 30">
            <a:extLst>
              <a:ext uri="{FF2B5EF4-FFF2-40B4-BE49-F238E27FC236}">
                <a16:creationId xmlns:a16="http://schemas.microsoft.com/office/drawing/2014/main" id="{6EE1088C-4427-1567-841C-55AE4F87689A}"/>
              </a:ext>
            </a:extLst>
          </p:cNvPr>
          <p:cNvCxnSpPr>
            <a:cxnSpLocks/>
            <a:stCxn id="33" idx="0"/>
          </p:cNvCxnSpPr>
          <p:nvPr/>
        </p:nvCxnSpPr>
        <p:spPr>
          <a:xfrm rot="16200000" flipH="1">
            <a:off x="3147764" y="4076628"/>
            <a:ext cx="694913" cy="12700"/>
          </a:xfrm>
          <a:prstGeom prst="bentConnector5">
            <a:avLst>
              <a:gd name="adj1" fmla="val -32896"/>
              <a:gd name="adj2" fmla="val 4353157"/>
              <a:gd name="adj3" fmla="val 1328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CB86F02-D9F7-2DA1-6839-D09CD8ADF2B6}"/>
              </a:ext>
            </a:extLst>
          </p:cNvPr>
          <p:cNvSpPr txBox="1"/>
          <p:nvPr/>
        </p:nvSpPr>
        <p:spPr>
          <a:xfrm>
            <a:off x="3271554" y="3729172"/>
            <a:ext cx="44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FBC44CB7-139D-CF4D-6D91-F973D8FABBD3}"/>
                  </a:ext>
                </a:extLst>
              </p:cNvPr>
              <p:cNvSpPr txBox="1"/>
              <p:nvPr/>
            </p:nvSpPr>
            <p:spPr>
              <a:xfrm>
                <a:off x="3959726" y="3913838"/>
                <a:ext cx="48410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FBC44CB7-139D-CF4D-6D91-F973D8FAB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726" y="3913838"/>
                <a:ext cx="484106" cy="3699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65E8FEB-C965-3A29-768B-38A3D3B81A24}"/>
                  </a:ext>
                </a:extLst>
              </p:cNvPr>
              <p:cNvSpPr txBox="1"/>
              <p:nvPr/>
            </p:nvSpPr>
            <p:spPr>
              <a:xfrm>
                <a:off x="2945654" y="4450319"/>
                <a:ext cx="479651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65E8FEB-C965-3A29-768B-38A3D3B81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4" y="4450319"/>
                <a:ext cx="479651" cy="3699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E47E37E-40B5-6F18-8FAD-928769B03CBE}"/>
                  </a:ext>
                </a:extLst>
              </p:cNvPr>
              <p:cNvSpPr txBox="1"/>
              <p:nvPr/>
            </p:nvSpPr>
            <p:spPr>
              <a:xfrm>
                <a:off x="2945654" y="3394820"/>
                <a:ext cx="479651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E47E37E-40B5-6F18-8FAD-928769B03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4" y="3394820"/>
                <a:ext cx="479651" cy="3699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793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8FE64-F906-9830-3649-456EEB0D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S4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SSM </a:t>
            </a:r>
            <a:r>
              <a:rPr kumimoji="1" lang="zh-TW" altLang="en-US" dirty="0"/>
              <a:t>流程：維度變化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104CFF-1430-E1AD-16AE-7C53A107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D6B7FFD-458F-F9B9-D588-B8FA034ACA61}"/>
              </a:ext>
            </a:extLst>
          </p:cNvPr>
          <p:cNvSpPr txBox="1"/>
          <p:nvPr/>
        </p:nvSpPr>
        <p:spPr>
          <a:xfrm>
            <a:off x="653143" y="1950091"/>
            <a:ext cx="3893690" cy="45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dirty="0"/>
              <a:t>任一個 </a:t>
            </a:r>
            <a:r>
              <a:rPr kumimoji="1" lang="en-US" altLang="zh-TW" dirty="0"/>
              <a:t>SSM </a:t>
            </a:r>
            <a:r>
              <a:rPr kumimoji="1" lang="zh-TW" altLang="en-US" dirty="0"/>
              <a:t>內部在做的事情：</a:t>
            </a:r>
            <a:endParaRPr kumimoji="1"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20238DF-0008-5FCC-70A2-BEC12F2A8C0E}"/>
                  </a:ext>
                </a:extLst>
              </p:cNvPr>
              <p:cNvSpPr txBox="1"/>
              <p:nvPr/>
            </p:nvSpPr>
            <p:spPr>
              <a:xfrm>
                <a:off x="5477038" y="2503227"/>
                <a:ext cx="6094476" cy="552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20238DF-0008-5FCC-70A2-BEC12F2A8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8" y="2503227"/>
                <a:ext cx="6094476" cy="5529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B95765C-3BC7-8892-AD48-6BD202A80B46}"/>
                  </a:ext>
                </a:extLst>
              </p:cNvPr>
              <p:cNvSpPr txBox="1"/>
              <p:nvPr/>
            </p:nvSpPr>
            <p:spPr>
              <a:xfrm>
                <a:off x="5477038" y="3907452"/>
                <a:ext cx="6094476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B95765C-3BC7-8892-AD48-6BD202A80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38" y="3907452"/>
                <a:ext cx="6094476" cy="542136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B5C9E43-20D8-2C3C-461C-580786051398}"/>
                  </a:ext>
                </a:extLst>
              </p:cNvPr>
              <p:cNvSpPr/>
              <p:nvPr/>
            </p:nvSpPr>
            <p:spPr>
              <a:xfrm>
                <a:off x="1122674" y="5330908"/>
                <a:ext cx="813816" cy="4663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B5C9E43-20D8-2C3C-461C-580786051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674" y="5330908"/>
                <a:ext cx="813816" cy="4663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510F6DDD-1F5F-D6F2-01E6-DD0E0A0D5204}"/>
              </a:ext>
            </a:extLst>
          </p:cNvPr>
          <p:cNvSpPr/>
          <p:nvPr/>
        </p:nvSpPr>
        <p:spPr>
          <a:xfrm>
            <a:off x="2411911" y="2893393"/>
            <a:ext cx="1966371" cy="2390643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5A44A3FF-F96A-303E-F42C-D30E8C55AF72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1936490" y="5284036"/>
            <a:ext cx="1458607" cy="2800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83C09C5-8CEE-5CFE-7FA2-85DE47EC7A8E}"/>
              </a:ext>
            </a:extLst>
          </p:cNvPr>
          <p:cNvSpPr txBox="1"/>
          <p:nvPr/>
        </p:nvSpPr>
        <p:spPr>
          <a:xfrm>
            <a:off x="2315403" y="5478934"/>
            <a:ext cx="2078786" cy="45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dirty="0"/>
              <a:t>Embedding</a:t>
            </a:r>
            <a:r>
              <a:rPr kumimoji="1" lang="zh-TW" altLang="en-US" dirty="0"/>
              <a:t> 空間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519BAFE-4540-3F07-182D-97F1EBCCDA33}"/>
                  </a:ext>
                </a:extLst>
              </p:cNvPr>
              <p:cNvSpPr txBox="1"/>
              <p:nvPr/>
            </p:nvSpPr>
            <p:spPr>
              <a:xfrm>
                <a:off x="2375336" y="5890601"/>
                <a:ext cx="18736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TW" sz="1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∈{0,1,…</m:t>
                      </m:r>
                      <m:r>
                        <a:rPr lang="en-US" altLang="zh-TW" sz="1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zh-TW" sz="18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519BAFE-4540-3F07-182D-97F1EBCCD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336" y="5890601"/>
                <a:ext cx="1873604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3C62DC70-F349-B76C-D496-14C42B601E61}"/>
              </a:ext>
            </a:extLst>
          </p:cNvPr>
          <p:cNvSpPr txBox="1"/>
          <p:nvPr/>
        </p:nvSpPr>
        <p:spPr>
          <a:xfrm>
            <a:off x="4148613" y="2856817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SSM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9EDA718-994F-0311-6DCE-3FC6F9D530A0}"/>
                  </a:ext>
                </a:extLst>
              </p:cNvPr>
              <p:cNvSpPr/>
              <p:nvPr/>
            </p:nvSpPr>
            <p:spPr>
              <a:xfrm>
                <a:off x="2745401" y="3729172"/>
                <a:ext cx="1214325" cy="70848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9EDA718-994F-0311-6DCE-3FC6F9D53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01" y="3729172"/>
                <a:ext cx="1214325" cy="7084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7F5FEB8-E33F-064B-DBA0-2BFAB214F5F9}"/>
                  </a:ext>
                </a:extLst>
              </p:cNvPr>
              <p:cNvSpPr/>
              <p:nvPr/>
            </p:nvSpPr>
            <p:spPr>
              <a:xfrm>
                <a:off x="2945655" y="2922211"/>
                <a:ext cx="813816" cy="4663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7F5FEB8-E33F-064B-DBA0-2BFAB214F5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5" y="2922211"/>
                <a:ext cx="813816" cy="466344"/>
              </a:xfrm>
              <a:prstGeom prst="rect">
                <a:avLst/>
              </a:prstGeom>
              <a:blipFill>
                <a:blip r:embed="rId7"/>
                <a:stretch>
                  <a:fillRect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35143EA-82A3-7423-A253-16ED1AE84E5D}"/>
                  </a:ext>
                </a:extLst>
              </p:cNvPr>
              <p:cNvSpPr/>
              <p:nvPr/>
            </p:nvSpPr>
            <p:spPr>
              <a:xfrm>
                <a:off x="2945655" y="4772011"/>
                <a:ext cx="813816" cy="4663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35143EA-82A3-7423-A253-16ED1AE84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5" y="4772011"/>
                <a:ext cx="813816" cy="4663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A0783F88-811F-85EE-5E4E-68A6E4A7ACBA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3352563" y="3388555"/>
            <a:ext cx="1" cy="340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0DDF8794-3BF9-0DBE-297A-21EAACC27A7E}"/>
              </a:ext>
            </a:extLst>
          </p:cNvPr>
          <p:cNvCxnSpPr>
            <a:cxnSpLocks/>
            <a:stCxn id="16" idx="0"/>
            <a:endCxn id="14" idx="2"/>
          </p:cNvCxnSpPr>
          <p:nvPr/>
        </p:nvCxnSpPr>
        <p:spPr>
          <a:xfrm flipV="1">
            <a:off x="3352563" y="4437659"/>
            <a:ext cx="1" cy="3343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13A221FC-5F88-19FE-2CF0-092A1041C1B1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H="1">
            <a:off x="3147764" y="4076628"/>
            <a:ext cx="694913" cy="12700"/>
          </a:xfrm>
          <a:prstGeom prst="bentConnector5">
            <a:avLst>
              <a:gd name="adj1" fmla="val -32896"/>
              <a:gd name="adj2" fmla="val 4353157"/>
              <a:gd name="adj3" fmla="val 1328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721890B-BE99-0279-94E9-C7187EF745E7}"/>
              </a:ext>
            </a:extLst>
          </p:cNvPr>
          <p:cNvSpPr txBox="1"/>
          <p:nvPr/>
        </p:nvSpPr>
        <p:spPr>
          <a:xfrm>
            <a:off x="3271554" y="3729172"/>
            <a:ext cx="44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37BDED1-F3FE-B5BF-EF42-19F7B1A8558F}"/>
                  </a:ext>
                </a:extLst>
              </p:cNvPr>
              <p:cNvSpPr txBox="1"/>
              <p:nvPr/>
            </p:nvSpPr>
            <p:spPr>
              <a:xfrm>
                <a:off x="3959726" y="3913838"/>
                <a:ext cx="48410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37BDED1-F3FE-B5BF-EF42-19F7B1A85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726" y="3913838"/>
                <a:ext cx="484106" cy="3699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FB2C1FB-A916-5349-1AB6-A8A25BD20069}"/>
                  </a:ext>
                </a:extLst>
              </p:cNvPr>
              <p:cNvSpPr txBox="1"/>
              <p:nvPr/>
            </p:nvSpPr>
            <p:spPr>
              <a:xfrm>
                <a:off x="2945654" y="4450319"/>
                <a:ext cx="479651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FB2C1FB-A916-5349-1AB6-A8A25BD20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4" y="4450319"/>
                <a:ext cx="479651" cy="3699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53D5E3D-7CBB-028B-EA30-FCB82E71CA8F}"/>
                  </a:ext>
                </a:extLst>
              </p:cNvPr>
              <p:cNvSpPr txBox="1"/>
              <p:nvPr/>
            </p:nvSpPr>
            <p:spPr>
              <a:xfrm>
                <a:off x="2945654" y="3394820"/>
                <a:ext cx="479651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53D5E3D-7CBB-028B-EA30-FCB82E71C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654" y="3394820"/>
                <a:ext cx="479651" cy="3699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CE13AA14-32F6-C4B5-D9D4-1ED8A8F9AE84}"/>
              </a:ext>
            </a:extLst>
          </p:cNvPr>
          <p:cNvSpPr txBox="1"/>
          <p:nvPr/>
        </p:nvSpPr>
        <p:spPr>
          <a:xfrm>
            <a:off x="6904558" y="2950548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Nx1</a:t>
            </a:r>
            <a:endParaRPr kumimoji="1"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81BA12B-55F5-C3E2-BCBC-B6C3FC8B8C26}"/>
              </a:ext>
            </a:extLst>
          </p:cNvPr>
          <p:cNvSpPr txBox="1"/>
          <p:nvPr/>
        </p:nvSpPr>
        <p:spPr>
          <a:xfrm>
            <a:off x="9340384" y="2922211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1x1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A37B955-1F3F-03F3-E12A-ADC421A3F2E2}"/>
              </a:ext>
            </a:extLst>
          </p:cNvPr>
          <p:cNvSpPr txBox="1"/>
          <p:nvPr/>
        </p:nvSpPr>
        <p:spPr>
          <a:xfrm>
            <a:off x="8946590" y="2227470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Nx1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A82A493-FCD6-06AB-39DF-64D354140ED8}"/>
              </a:ext>
            </a:extLst>
          </p:cNvPr>
          <p:cNvSpPr txBox="1"/>
          <p:nvPr/>
        </p:nvSpPr>
        <p:spPr>
          <a:xfrm>
            <a:off x="7660537" y="2227470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solidFill>
                  <a:srgbClr val="0070C0"/>
                </a:solidFill>
              </a:rPr>
              <a:t>NxN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E3B4202-EAE0-3F1D-3A65-2D382AB3330E}"/>
              </a:ext>
            </a:extLst>
          </p:cNvPr>
          <p:cNvSpPr txBox="1"/>
          <p:nvPr/>
        </p:nvSpPr>
        <p:spPr>
          <a:xfrm>
            <a:off x="8209689" y="2950548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Nx1</a:t>
            </a:r>
            <a:endParaRPr kumimoji="1"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40C15CB-43A9-25FD-FD74-D4A1E9C58E28}"/>
              </a:ext>
            </a:extLst>
          </p:cNvPr>
          <p:cNvSpPr txBox="1"/>
          <p:nvPr/>
        </p:nvSpPr>
        <p:spPr>
          <a:xfrm>
            <a:off x="8834552" y="4316852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Nx1</a:t>
            </a:r>
            <a:endParaRPr kumimoji="1"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0B3379C-ECE5-94D5-6196-C87141652D33}"/>
              </a:ext>
            </a:extLst>
          </p:cNvPr>
          <p:cNvSpPr txBox="1"/>
          <p:nvPr/>
        </p:nvSpPr>
        <p:spPr>
          <a:xfrm>
            <a:off x="7665274" y="4316852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1x1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F8C29B9-C804-5057-031C-7EFA798DD9E1}"/>
              </a:ext>
            </a:extLst>
          </p:cNvPr>
          <p:cNvSpPr txBox="1"/>
          <p:nvPr/>
        </p:nvSpPr>
        <p:spPr>
          <a:xfrm>
            <a:off x="8470817" y="3653734"/>
            <a:ext cx="67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1xN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2D513D2D-8635-E136-5436-249D50AC90CF}"/>
              </a:ext>
            </a:extLst>
          </p:cNvPr>
          <p:cNvSpPr txBox="1"/>
          <p:nvPr/>
        </p:nvSpPr>
        <p:spPr>
          <a:xfrm>
            <a:off x="2072157" y="3938678"/>
            <a:ext cx="679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➡️</a:t>
            </a:r>
            <a:endParaRPr kumimoji="1" lang="zh-TW" altLang="en-US" sz="24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FBA4707-B851-8AD7-CEF0-22469B464712}"/>
              </a:ext>
            </a:extLst>
          </p:cNvPr>
          <p:cNvSpPr txBox="1"/>
          <p:nvPr/>
        </p:nvSpPr>
        <p:spPr>
          <a:xfrm>
            <a:off x="2065893" y="2990567"/>
            <a:ext cx="679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➡️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94CD0AF-FA75-D42E-FDFB-804ED710FF08}"/>
                  </a:ext>
                </a:extLst>
              </p:cNvPr>
              <p:cNvSpPr txBox="1"/>
              <p:nvPr/>
            </p:nvSpPr>
            <p:spPr>
              <a:xfrm>
                <a:off x="5769864" y="5238355"/>
                <a:ext cx="5202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000" dirty="0"/>
                  <a:t>⚠️ S4 </a:t>
                </a:r>
                <a:r>
                  <a:rPr kumimoji="1" lang="zh-TW" altLang="en-US" sz="2000" dirty="0"/>
                  <a:t>的問題：</a:t>
                </a:r>
                <a:r>
                  <a:rPr kumimoji="1" lang="en-US" altLang="zh-TW" sz="2000" dirty="0"/>
                  <a:t>SSM </a:t>
                </a:r>
                <a:r>
                  <a:rPr kumimoji="1" lang="zh-TW" altLang="en-US" sz="2000" dirty="0"/>
                  <a:t>有 </a:t>
                </a:r>
                <a:r>
                  <a:rPr kumimoji="1" lang="en-US" altLang="zh-TW" sz="2000" dirty="0"/>
                  <a:t>D</a:t>
                </a:r>
                <a:r>
                  <a:rPr kumimoji="1" lang="zh-TW" altLang="en-US" sz="2000" dirty="0"/>
                  <a:t> 個，</a:t>
                </a:r>
                <a:r>
                  <a:rPr kumimoji="1" lang="zh-TW" altLang="en-US" sz="2000" dirty="0">
                    <a:solidFill>
                      <a:srgbClr val="FF0000"/>
                    </a:solidFill>
                  </a:rPr>
                  <a:t>但沒有</a:t>
                </a:r>
                <a:r>
                  <a:rPr lang="en-US" altLang="zh-TW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sz="2000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sz="2000" dirty="0">
                    <a:solidFill>
                      <a:srgbClr val="FF0000"/>
                    </a:solidFill>
                  </a:rPr>
                  <a:t>個</a:t>
                </a:r>
                <a:endParaRPr kumimoji="1" lang="en-US" altLang="zh-TW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94CD0AF-FA75-D42E-FDFB-804ED710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864" y="5238355"/>
                <a:ext cx="5202936" cy="400110"/>
              </a:xfrm>
              <a:prstGeom prst="rect">
                <a:avLst/>
              </a:prstGeom>
              <a:blipFill>
                <a:blip r:embed="rId12"/>
                <a:stretch>
                  <a:fillRect l="-1217" t="-9091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061B5D3E-ABDC-B945-D28A-C298789BC04D}"/>
                  </a:ext>
                </a:extLst>
              </p:cNvPr>
              <p:cNvSpPr txBox="1"/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kern="100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/>
                  <a:t>: (1,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)</a:t>
                </a: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061B5D3E-ABDC-B945-D28A-C298789BC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blipFill>
                <a:blip r:embed="rId13"/>
                <a:stretch>
                  <a:fillRect l="-169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07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2" grpId="1"/>
      <p:bldP spid="33" grpId="0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8B6A4AA-83CC-86A7-A50B-0635EB9B2D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zh-TW" dirty="0"/>
                  <a:t>S4 </a:t>
                </a:r>
                <a:r>
                  <a:rPr kumimoji="1" lang="zh-TW" altLang="en-US" dirty="0"/>
                  <a:t>的問題：不同的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共享相同的 </a:t>
                </a:r>
                <a:r>
                  <a:rPr kumimoji="1" lang="en-US" altLang="zh-TW" dirty="0"/>
                  <a:t>SSMs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8B6A4AA-83CC-86A7-A50B-0635EB9B2D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8434" r="-1161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188E15-68BB-2816-B77C-FCB0B765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6BFA7D2E-CE71-8FC1-54FE-86FB36176EA4}"/>
                  </a:ext>
                </a:extLst>
              </p:cNvPr>
              <p:cNvSpPr txBox="1"/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kern="100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/>
                  <a:t>: (1,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)</a:t>
                </a: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6BFA7D2E-CE71-8FC1-54FE-86FB36176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blipFill>
                <a:blip r:embed="rId4"/>
                <a:stretch>
                  <a:fillRect l="-169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2C1225D-1305-4AA0-6C29-55CF14700A8D}"/>
                  </a:ext>
                </a:extLst>
              </p:cNvPr>
              <p:cNvSpPr/>
              <p:nvPr/>
            </p:nvSpPr>
            <p:spPr>
              <a:xfrm>
                <a:off x="1314698" y="5356921"/>
                <a:ext cx="813816" cy="4663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2C1225D-1305-4AA0-6C29-55CF14700A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698" y="5356921"/>
                <a:ext cx="813816" cy="4663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表格 10">
            <a:extLst>
              <a:ext uri="{FF2B5EF4-FFF2-40B4-BE49-F238E27FC236}">
                <a16:creationId xmlns:a16="http://schemas.microsoft.com/office/drawing/2014/main" id="{3A12A24B-480F-D53A-AE38-41B6B24D0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555909"/>
              </p:ext>
            </p:extLst>
          </p:nvPr>
        </p:nvGraphicFramePr>
        <p:xfrm>
          <a:off x="3061027" y="539349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sp>
        <p:nvSpPr>
          <p:cNvPr id="62" name="文字方塊 61">
            <a:extLst>
              <a:ext uri="{FF2B5EF4-FFF2-40B4-BE49-F238E27FC236}">
                <a16:creationId xmlns:a16="http://schemas.microsoft.com/office/drawing/2014/main" id="{BB116612-8E19-231A-F937-365C16FF4096}"/>
              </a:ext>
            </a:extLst>
          </p:cNvPr>
          <p:cNvSpPr txBox="1"/>
          <p:nvPr/>
        </p:nvSpPr>
        <p:spPr>
          <a:xfrm>
            <a:off x="2379411" y="5462115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➡️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3DEFE7F-4B2A-70A6-3274-CF42E59D0C8D}"/>
                  </a:ext>
                </a:extLst>
              </p:cNvPr>
              <p:cNvSpPr txBox="1"/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3DEFE7F-4B2A-70A6-3274-CF42E59D0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1BEEDE1-8D08-151C-9860-88BE99D56E0F}"/>
                  </a:ext>
                </a:extLst>
              </p:cNvPr>
              <p:cNvSpPr txBox="1"/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1BEEDE1-8D08-151C-9860-88BE99D5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D9325B4-7DF1-21A8-CF61-8EFB785CCA96}"/>
                  </a:ext>
                </a:extLst>
              </p:cNvPr>
              <p:cNvSpPr txBox="1"/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D9325B4-7DF1-21A8-CF61-8EFB785CC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316B165-A819-D968-B4A5-22D8BE6A9420}"/>
                  </a:ext>
                </a:extLst>
              </p:cNvPr>
              <p:cNvSpPr txBox="1"/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316B165-A819-D968-B4A5-22D8BE6A9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EF904A96-FF05-BB81-590F-099F0872B385}"/>
                  </a:ext>
                </a:extLst>
              </p:cNvPr>
              <p:cNvSpPr txBox="1"/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EF904A96-FF05-BB81-590F-099F0872B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FDFC94D-04CF-2459-2B95-24D8DE7BA52E}"/>
                  </a:ext>
                </a:extLst>
              </p:cNvPr>
              <p:cNvSpPr txBox="1"/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FDFC94D-04CF-2459-2B95-24D8DE7BA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02D4F37-86F7-FF17-E773-EDCCB33EA2B7}"/>
                  </a:ext>
                </a:extLst>
              </p:cNvPr>
              <p:cNvSpPr txBox="1"/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02D4F37-86F7-FF17-E773-EDCCB33EA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C3C267D9-B7D5-DE40-6588-9D0AAC2167EA}"/>
                  </a:ext>
                </a:extLst>
              </p:cNvPr>
              <p:cNvSpPr txBox="1"/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C3C267D9-B7D5-DE40-6588-9D0AAC216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574B4BF0-A0D7-AFE1-EA55-2B7437E5241A}"/>
                  </a:ext>
                </a:extLst>
              </p:cNvPr>
              <p:cNvSpPr txBox="1"/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574B4BF0-A0D7-AFE1-EA55-2B7437E52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7325662-80C6-64EB-0F54-2AA9A533488D}"/>
                  </a:ext>
                </a:extLst>
              </p:cNvPr>
              <p:cNvSpPr txBox="1"/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−5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7325662-80C6-64EB-0F54-2AA9A5334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A74B0D6-6AA8-876C-B84C-92428EAE874A}"/>
                  </a:ext>
                </a:extLst>
              </p:cNvPr>
              <p:cNvSpPr txBox="1"/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A74B0D6-6AA8-876C-B84C-92428EAE8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群組 84">
            <a:extLst>
              <a:ext uri="{FF2B5EF4-FFF2-40B4-BE49-F238E27FC236}">
                <a16:creationId xmlns:a16="http://schemas.microsoft.com/office/drawing/2014/main" id="{51229B95-2942-88B4-385F-502393FB909E}"/>
              </a:ext>
            </a:extLst>
          </p:cNvPr>
          <p:cNvGrpSpPr/>
          <p:nvPr/>
        </p:nvGrpSpPr>
        <p:grpSpPr>
          <a:xfrm>
            <a:off x="3433556" y="4394522"/>
            <a:ext cx="7380447" cy="881566"/>
            <a:chOff x="3433556" y="4394522"/>
            <a:chExt cx="7380447" cy="881566"/>
          </a:xfrm>
        </p:grpSpPr>
        <p:cxnSp>
          <p:nvCxnSpPr>
            <p:cNvPr id="86" name="直線箭頭接點 85">
              <a:extLst>
                <a:ext uri="{FF2B5EF4-FFF2-40B4-BE49-F238E27FC236}">
                  <a16:creationId xmlns:a16="http://schemas.microsoft.com/office/drawing/2014/main" id="{5DCB4826-106C-6802-0323-7B24BE693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55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箭頭接點 86">
              <a:extLst>
                <a:ext uri="{FF2B5EF4-FFF2-40B4-BE49-F238E27FC236}">
                  <a16:creationId xmlns:a16="http://schemas.microsoft.com/office/drawing/2014/main" id="{9394AA9A-2A2B-1C85-50B2-59325441C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88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箭頭接點 87">
              <a:extLst>
                <a:ext uri="{FF2B5EF4-FFF2-40B4-BE49-F238E27FC236}">
                  <a16:creationId xmlns:a16="http://schemas.microsoft.com/office/drawing/2014/main" id="{73027284-EE64-6095-35A9-B8BF8B3FC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8902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箭頭接點 88">
              <a:extLst>
                <a:ext uri="{FF2B5EF4-FFF2-40B4-BE49-F238E27FC236}">
                  <a16:creationId xmlns:a16="http://schemas.microsoft.com/office/drawing/2014/main" id="{0C7FE3E9-289D-41BA-9118-F1CF1E85F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89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箭頭接點 89">
              <a:extLst>
                <a:ext uri="{FF2B5EF4-FFF2-40B4-BE49-F238E27FC236}">
                  <a16:creationId xmlns:a16="http://schemas.microsoft.com/office/drawing/2014/main" id="{74B44691-B803-AFAE-4A48-4FE9332CC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424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箭頭接點 90">
              <a:extLst>
                <a:ext uri="{FF2B5EF4-FFF2-40B4-BE49-F238E27FC236}">
                  <a16:creationId xmlns:a16="http://schemas.microsoft.com/office/drawing/2014/main" id="{10266446-1CB5-C735-1E87-864FD8839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31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箭頭接點 91">
              <a:extLst>
                <a:ext uri="{FF2B5EF4-FFF2-40B4-BE49-F238E27FC236}">
                  <a16:creationId xmlns:a16="http://schemas.microsoft.com/office/drawing/2014/main" id="{3926AEBF-774B-74A7-F4EE-30F7F14CD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663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箭頭接點 92">
              <a:extLst>
                <a:ext uri="{FF2B5EF4-FFF2-40B4-BE49-F238E27FC236}">
                  <a16:creationId xmlns:a16="http://schemas.microsoft.com/office/drawing/2014/main" id="{F4F78E58-1B89-DB89-3A54-9C1D1C32D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8657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箭頭接點 93">
              <a:extLst>
                <a:ext uri="{FF2B5EF4-FFF2-40B4-BE49-F238E27FC236}">
                  <a16:creationId xmlns:a16="http://schemas.microsoft.com/office/drawing/2014/main" id="{6277E8A1-EF0D-0710-F12C-EE90538410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765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箭頭接點 94">
              <a:extLst>
                <a:ext uri="{FF2B5EF4-FFF2-40B4-BE49-F238E27FC236}">
                  <a16:creationId xmlns:a16="http://schemas.microsoft.com/office/drawing/2014/main" id="{3A888948-E2F9-27F5-C542-7C6A0546A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400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6" name="表格 10">
            <a:extLst>
              <a:ext uri="{FF2B5EF4-FFF2-40B4-BE49-F238E27FC236}">
                <a16:creationId xmlns:a16="http://schemas.microsoft.com/office/drawing/2014/main" id="{0A7C8401-F24B-906F-0643-107CEA0D0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760829"/>
              </p:ext>
            </p:extLst>
          </p:nvPr>
        </p:nvGraphicFramePr>
        <p:xfrm>
          <a:off x="3056067" y="252670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grpSp>
        <p:nvGrpSpPr>
          <p:cNvPr id="97" name="群組 96">
            <a:extLst>
              <a:ext uri="{FF2B5EF4-FFF2-40B4-BE49-F238E27FC236}">
                <a16:creationId xmlns:a16="http://schemas.microsoft.com/office/drawing/2014/main" id="{86C807AB-6F8F-45DB-F951-5D7AD79EB75F}"/>
              </a:ext>
            </a:extLst>
          </p:cNvPr>
          <p:cNvGrpSpPr/>
          <p:nvPr/>
        </p:nvGrpSpPr>
        <p:grpSpPr>
          <a:xfrm>
            <a:off x="3438931" y="3043845"/>
            <a:ext cx="7380447" cy="881566"/>
            <a:chOff x="3438931" y="3043845"/>
            <a:chExt cx="7380447" cy="881566"/>
          </a:xfrm>
        </p:grpSpPr>
        <p:cxnSp>
          <p:nvCxnSpPr>
            <p:cNvPr id="98" name="直線箭頭接點 97">
              <a:extLst>
                <a:ext uri="{FF2B5EF4-FFF2-40B4-BE49-F238E27FC236}">
                  <a16:creationId xmlns:a16="http://schemas.microsoft.com/office/drawing/2014/main" id="{F11F7C99-DA58-1A83-4617-A3B21548C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93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箭頭接點 98">
              <a:extLst>
                <a:ext uri="{FF2B5EF4-FFF2-40B4-BE49-F238E27FC236}">
                  <a16:creationId xmlns:a16="http://schemas.microsoft.com/office/drawing/2014/main" id="{5D7C7CDC-DC80-DFEE-32F5-761D1FF5C1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25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箭頭接點 99">
              <a:extLst>
                <a:ext uri="{FF2B5EF4-FFF2-40B4-BE49-F238E27FC236}">
                  <a16:creationId xmlns:a16="http://schemas.microsoft.com/office/drawing/2014/main" id="{862135E6-AB61-0472-4B9A-0D9D3F029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4277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箭頭接點 100">
              <a:extLst>
                <a:ext uri="{FF2B5EF4-FFF2-40B4-BE49-F238E27FC236}">
                  <a16:creationId xmlns:a16="http://schemas.microsoft.com/office/drawing/2014/main" id="{4B0D436F-F723-3A4C-11FE-BBF938E52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27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箭頭接點 101">
              <a:extLst>
                <a:ext uri="{FF2B5EF4-FFF2-40B4-BE49-F238E27FC236}">
                  <a16:creationId xmlns:a16="http://schemas.microsoft.com/office/drawing/2014/main" id="{BC1DD99F-CAB7-E445-BD2E-C564CAD21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962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箭頭接點 102">
              <a:extLst>
                <a:ext uri="{FF2B5EF4-FFF2-40B4-BE49-F238E27FC236}">
                  <a16:creationId xmlns:a16="http://schemas.microsoft.com/office/drawing/2014/main" id="{AB42B95B-0E05-66B7-170F-D6392C3EB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868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箭頭接點 103">
              <a:extLst>
                <a:ext uri="{FF2B5EF4-FFF2-40B4-BE49-F238E27FC236}">
                  <a16:creationId xmlns:a16="http://schemas.microsoft.com/office/drawing/2014/main" id="{20E0E8CB-23A5-3FFA-CDF4-12A43028C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01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箭頭接點 104">
              <a:extLst>
                <a:ext uri="{FF2B5EF4-FFF2-40B4-BE49-F238E27FC236}">
                  <a16:creationId xmlns:a16="http://schemas.microsoft.com/office/drawing/2014/main" id="{247E66C1-D31B-C644-F98C-5DD2AAB924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4032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箭頭接點 105">
              <a:extLst>
                <a:ext uri="{FF2B5EF4-FFF2-40B4-BE49-F238E27FC236}">
                  <a16:creationId xmlns:a16="http://schemas.microsoft.com/office/drawing/2014/main" id="{AD5D99B7-976C-6C6A-7BBF-F73837F5C7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302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箭頭接點 106">
              <a:extLst>
                <a:ext uri="{FF2B5EF4-FFF2-40B4-BE49-F238E27FC236}">
                  <a16:creationId xmlns:a16="http://schemas.microsoft.com/office/drawing/2014/main" id="{239BCC32-658B-C337-5F06-4B0E624E4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937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DCCBAF19-7494-0052-E180-D193E23F70B8}"/>
              </a:ext>
            </a:extLst>
          </p:cNvPr>
          <p:cNvSpPr txBox="1"/>
          <p:nvPr/>
        </p:nvSpPr>
        <p:spPr>
          <a:xfrm>
            <a:off x="2379411" y="2552226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⬅️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FD3BE056-3C09-D000-8945-EBF89A94F1DA}"/>
                  </a:ext>
                </a:extLst>
              </p:cNvPr>
              <p:cNvSpPr txBox="1"/>
              <p:nvPr/>
            </p:nvSpPr>
            <p:spPr>
              <a:xfrm>
                <a:off x="672382" y="2388955"/>
                <a:ext cx="1736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第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sz="18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i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/>
                  <a:t>個 </a:t>
                </a:r>
                <a:r>
                  <a:rPr kumimoji="1" lang="en-US" altLang="zh-TW" dirty="0"/>
                  <a:t>token </a:t>
                </a:r>
                <a:r>
                  <a:rPr kumimoji="1" lang="zh-TW" altLang="en-US" dirty="0"/>
                  <a:t>的 </a:t>
                </a:r>
                <a:r>
                  <a:rPr kumimoji="1" lang="en-US" altLang="zh-TW" dirty="0"/>
                  <a:t>hidden state</a:t>
                </a:r>
              </a:p>
            </p:txBody>
          </p:sp>
        </mc:Choice>
        <mc:Fallback xmlns="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FD3BE056-3C09-D000-8945-EBF89A94F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82" y="2388955"/>
                <a:ext cx="1736441" cy="646331"/>
              </a:xfrm>
              <a:prstGeom prst="rect">
                <a:avLst/>
              </a:prstGeom>
              <a:blipFill>
                <a:blip r:embed="rId17"/>
                <a:stretch>
                  <a:fillRect l="-2899" t="-7692" r="-2174"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96EFF51-6CD2-86B7-E6C8-9126F9DAC345}"/>
                  </a:ext>
                </a:extLst>
              </p:cNvPr>
              <p:cNvSpPr txBox="1"/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96EFF51-6CD2-86B7-E6C8-9126F9DA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F167BC2F-6535-4D14-0B93-C852A61072C4}"/>
              </a:ext>
            </a:extLst>
          </p:cNvPr>
          <p:cNvSpPr txBox="1"/>
          <p:nvPr/>
        </p:nvSpPr>
        <p:spPr>
          <a:xfrm>
            <a:off x="2820908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0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C7F0857C-835D-841F-DD51-38FBE857C154}"/>
              </a:ext>
            </a:extLst>
          </p:cNvPr>
          <p:cNvSpPr txBox="1"/>
          <p:nvPr/>
        </p:nvSpPr>
        <p:spPr>
          <a:xfrm>
            <a:off x="3563039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FD08F245-A892-57ED-6975-A2ECC653D432}"/>
              </a:ext>
            </a:extLst>
          </p:cNvPr>
          <p:cNvSpPr txBox="1"/>
          <p:nvPr/>
        </p:nvSpPr>
        <p:spPr>
          <a:xfrm>
            <a:off x="4306254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A7D8194C-96AF-EE55-1BC6-5573AD7D3748}"/>
              </a:ext>
            </a:extLst>
          </p:cNvPr>
          <p:cNvSpPr txBox="1"/>
          <p:nvPr/>
        </p:nvSpPr>
        <p:spPr>
          <a:xfrm>
            <a:off x="5048927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C749977C-E4A7-0053-3AE4-D1C04434E23A}"/>
              </a:ext>
            </a:extLst>
          </p:cNvPr>
          <p:cNvSpPr txBox="1"/>
          <p:nvPr/>
        </p:nvSpPr>
        <p:spPr>
          <a:xfrm>
            <a:off x="5791600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6BD986F7-0CEF-5775-55D2-E404E36985BE}"/>
              </a:ext>
            </a:extLst>
          </p:cNvPr>
          <p:cNvSpPr txBox="1"/>
          <p:nvPr/>
        </p:nvSpPr>
        <p:spPr>
          <a:xfrm>
            <a:off x="720379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D-5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600B98C-0C23-EA0B-4A97-528C66ED2A44}"/>
              </a:ext>
            </a:extLst>
          </p:cNvPr>
          <p:cNvSpPr txBox="1"/>
          <p:nvPr/>
        </p:nvSpPr>
        <p:spPr>
          <a:xfrm>
            <a:off x="7967038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5556E035-4BDC-5024-C4ED-AE39ED9E30FA}"/>
              </a:ext>
            </a:extLst>
          </p:cNvPr>
          <p:cNvSpPr txBox="1"/>
          <p:nvPr/>
        </p:nvSpPr>
        <p:spPr>
          <a:xfrm>
            <a:off x="8730285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F2D98E0-6018-FA4A-C406-E91A56643D32}"/>
              </a:ext>
            </a:extLst>
          </p:cNvPr>
          <p:cNvSpPr txBox="1"/>
          <p:nvPr/>
        </p:nvSpPr>
        <p:spPr>
          <a:xfrm>
            <a:off x="949353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12669031-28C7-CCFB-B319-FE25E9E77A33}"/>
              </a:ext>
            </a:extLst>
          </p:cNvPr>
          <p:cNvSpPr txBox="1"/>
          <p:nvPr/>
        </p:nvSpPr>
        <p:spPr>
          <a:xfrm>
            <a:off x="10256778" y="4017706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98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188E15-68BB-2816-B77C-FCB0B765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6BFA7D2E-CE71-8FC1-54FE-86FB36176EA4}"/>
                  </a:ext>
                </a:extLst>
              </p:cNvPr>
              <p:cNvSpPr txBox="1"/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en-US" altLang="zh-TW" dirty="0"/>
                  <a:t>: (1,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)</a:t>
                </a: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6BFA7D2E-CE71-8FC1-54FE-86FB36176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blipFill>
                <a:blip r:embed="rId3"/>
                <a:stretch>
                  <a:fillRect l="-169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2C1225D-1305-4AA0-6C29-55CF14700A8D}"/>
                  </a:ext>
                </a:extLst>
              </p:cNvPr>
              <p:cNvSpPr/>
              <p:nvPr/>
            </p:nvSpPr>
            <p:spPr>
              <a:xfrm>
                <a:off x="1314698" y="5356921"/>
                <a:ext cx="813816" cy="4663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2C1225D-1305-4AA0-6C29-55CF14700A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698" y="5356921"/>
                <a:ext cx="813816" cy="466344"/>
              </a:xfrm>
              <a:prstGeom prst="rect">
                <a:avLst/>
              </a:prstGeom>
              <a:blipFill>
                <a:blip r:embed="rId4"/>
                <a:stretch>
                  <a:fillRect l="-1538" b="-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表格 10">
            <a:extLst>
              <a:ext uri="{FF2B5EF4-FFF2-40B4-BE49-F238E27FC236}">
                <a16:creationId xmlns:a16="http://schemas.microsoft.com/office/drawing/2014/main" id="{3A12A24B-480F-D53A-AE38-41B6B24D0A64}"/>
              </a:ext>
            </a:extLst>
          </p:cNvPr>
          <p:cNvGraphicFramePr>
            <a:graphicFrameLocks noGrp="1"/>
          </p:cNvGraphicFramePr>
          <p:nvPr/>
        </p:nvGraphicFramePr>
        <p:xfrm>
          <a:off x="3061027" y="539349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sp>
        <p:nvSpPr>
          <p:cNvPr id="62" name="文字方塊 61">
            <a:extLst>
              <a:ext uri="{FF2B5EF4-FFF2-40B4-BE49-F238E27FC236}">
                <a16:creationId xmlns:a16="http://schemas.microsoft.com/office/drawing/2014/main" id="{BB116612-8E19-231A-F937-365C16FF4096}"/>
              </a:ext>
            </a:extLst>
          </p:cNvPr>
          <p:cNvSpPr txBox="1"/>
          <p:nvPr/>
        </p:nvSpPr>
        <p:spPr>
          <a:xfrm>
            <a:off x="2379411" y="5462115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➡️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3DEFE7F-4B2A-70A6-3274-CF42E59D0C8D}"/>
                  </a:ext>
                </a:extLst>
              </p:cNvPr>
              <p:cNvSpPr txBox="1"/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3DEFE7F-4B2A-70A6-3274-CF42E59D0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1BEEDE1-8D08-151C-9860-88BE99D56E0F}"/>
                  </a:ext>
                </a:extLst>
              </p:cNvPr>
              <p:cNvSpPr txBox="1"/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1BEEDE1-8D08-151C-9860-88BE99D5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D9325B4-7DF1-21A8-CF61-8EFB785CCA96}"/>
                  </a:ext>
                </a:extLst>
              </p:cNvPr>
              <p:cNvSpPr txBox="1"/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D9325B4-7DF1-21A8-CF61-8EFB785CC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316B165-A819-D968-B4A5-22D8BE6A9420}"/>
                  </a:ext>
                </a:extLst>
              </p:cNvPr>
              <p:cNvSpPr txBox="1"/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316B165-A819-D968-B4A5-22D8BE6A9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EF904A96-FF05-BB81-590F-099F0872B385}"/>
                  </a:ext>
                </a:extLst>
              </p:cNvPr>
              <p:cNvSpPr txBox="1"/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EF904A96-FF05-BB81-590F-099F0872B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FDFC94D-04CF-2459-2B95-24D8DE7BA52E}"/>
                  </a:ext>
                </a:extLst>
              </p:cNvPr>
              <p:cNvSpPr txBox="1"/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FDFC94D-04CF-2459-2B95-24D8DE7BA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02D4F37-86F7-FF17-E773-EDCCB33EA2B7}"/>
                  </a:ext>
                </a:extLst>
              </p:cNvPr>
              <p:cNvSpPr txBox="1"/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02D4F37-86F7-FF17-E773-EDCCB33EA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C3C267D9-B7D5-DE40-6588-9D0AAC2167EA}"/>
                  </a:ext>
                </a:extLst>
              </p:cNvPr>
              <p:cNvSpPr txBox="1"/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C3C267D9-B7D5-DE40-6588-9D0AAC216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574B4BF0-A0D7-AFE1-EA55-2B7437E5241A}"/>
                  </a:ext>
                </a:extLst>
              </p:cNvPr>
              <p:cNvSpPr txBox="1"/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574B4BF0-A0D7-AFE1-EA55-2B7437E52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7325662-80C6-64EB-0F54-2AA9A533488D}"/>
                  </a:ext>
                </a:extLst>
              </p:cNvPr>
              <p:cNvSpPr txBox="1"/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−5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7325662-80C6-64EB-0F54-2AA9A5334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A74B0D6-6AA8-876C-B84C-92428EAE874A}"/>
                  </a:ext>
                </a:extLst>
              </p:cNvPr>
              <p:cNvSpPr txBox="1"/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A74B0D6-6AA8-876C-B84C-92428EAE8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群組 84">
            <a:extLst>
              <a:ext uri="{FF2B5EF4-FFF2-40B4-BE49-F238E27FC236}">
                <a16:creationId xmlns:a16="http://schemas.microsoft.com/office/drawing/2014/main" id="{51229B95-2942-88B4-385F-502393FB909E}"/>
              </a:ext>
            </a:extLst>
          </p:cNvPr>
          <p:cNvGrpSpPr/>
          <p:nvPr/>
        </p:nvGrpSpPr>
        <p:grpSpPr>
          <a:xfrm>
            <a:off x="3433556" y="4394522"/>
            <a:ext cx="7380447" cy="881566"/>
            <a:chOff x="3433556" y="4394522"/>
            <a:chExt cx="7380447" cy="881566"/>
          </a:xfrm>
        </p:grpSpPr>
        <p:cxnSp>
          <p:nvCxnSpPr>
            <p:cNvPr id="86" name="直線箭頭接點 85">
              <a:extLst>
                <a:ext uri="{FF2B5EF4-FFF2-40B4-BE49-F238E27FC236}">
                  <a16:creationId xmlns:a16="http://schemas.microsoft.com/office/drawing/2014/main" id="{5DCB4826-106C-6802-0323-7B24BE693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55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箭頭接點 86">
              <a:extLst>
                <a:ext uri="{FF2B5EF4-FFF2-40B4-BE49-F238E27FC236}">
                  <a16:creationId xmlns:a16="http://schemas.microsoft.com/office/drawing/2014/main" id="{9394AA9A-2A2B-1C85-50B2-59325441C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88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箭頭接點 87">
              <a:extLst>
                <a:ext uri="{FF2B5EF4-FFF2-40B4-BE49-F238E27FC236}">
                  <a16:creationId xmlns:a16="http://schemas.microsoft.com/office/drawing/2014/main" id="{73027284-EE64-6095-35A9-B8BF8B3FC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8902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箭頭接點 88">
              <a:extLst>
                <a:ext uri="{FF2B5EF4-FFF2-40B4-BE49-F238E27FC236}">
                  <a16:creationId xmlns:a16="http://schemas.microsoft.com/office/drawing/2014/main" id="{0C7FE3E9-289D-41BA-9118-F1CF1E85F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89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箭頭接點 89">
              <a:extLst>
                <a:ext uri="{FF2B5EF4-FFF2-40B4-BE49-F238E27FC236}">
                  <a16:creationId xmlns:a16="http://schemas.microsoft.com/office/drawing/2014/main" id="{74B44691-B803-AFAE-4A48-4FE9332CC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424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箭頭接點 90">
              <a:extLst>
                <a:ext uri="{FF2B5EF4-FFF2-40B4-BE49-F238E27FC236}">
                  <a16:creationId xmlns:a16="http://schemas.microsoft.com/office/drawing/2014/main" id="{10266446-1CB5-C735-1E87-864FD8839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31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箭頭接點 91">
              <a:extLst>
                <a:ext uri="{FF2B5EF4-FFF2-40B4-BE49-F238E27FC236}">
                  <a16:creationId xmlns:a16="http://schemas.microsoft.com/office/drawing/2014/main" id="{3926AEBF-774B-74A7-F4EE-30F7F14CD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663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箭頭接點 92">
              <a:extLst>
                <a:ext uri="{FF2B5EF4-FFF2-40B4-BE49-F238E27FC236}">
                  <a16:creationId xmlns:a16="http://schemas.microsoft.com/office/drawing/2014/main" id="{F4F78E58-1B89-DB89-3A54-9C1D1C32D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8657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箭頭接點 93">
              <a:extLst>
                <a:ext uri="{FF2B5EF4-FFF2-40B4-BE49-F238E27FC236}">
                  <a16:creationId xmlns:a16="http://schemas.microsoft.com/office/drawing/2014/main" id="{6277E8A1-EF0D-0710-F12C-EE90538410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765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箭頭接點 94">
              <a:extLst>
                <a:ext uri="{FF2B5EF4-FFF2-40B4-BE49-F238E27FC236}">
                  <a16:creationId xmlns:a16="http://schemas.microsoft.com/office/drawing/2014/main" id="{3A888948-E2F9-27F5-C542-7C6A0546A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400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6" name="表格 10">
            <a:extLst>
              <a:ext uri="{FF2B5EF4-FFF2-40B4-BE49-F238E27FC236}">
                <a16:creationId xmlns:a16="http://schemas.microsoft.com/office/drawing/2014/main" id="{0A7C8401-F24B-906F-0643-107CEA0D0E3F}"/>
              </a:ext>
            </a:extLst>
          </p:cNvPr>
          <p:cNvGraphicFramePr>
            <a:graphicFrameLocks noGrp="1"/>
          </p:cNvGraphicFramePr>
          <p:nvPr/>
        </p:nvGraphicFramePr>
        <p:xfrm>
          <a:off x="3056067" y="252670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grpSp>
        <p:nvGrpSpPr>
          <p:cNvPr id="97" name="群組 96">
            <a:extLst>
              <a:ext uri="{FF2B5EF4-FFF2-40B4-BE49-F238E27FC236}">
                <a16:creationId xmlns:a16="http://schemas.microsoft.com/office/drawing/2014/main" id="{86C807AB-6F8F-45DB-F951-5D7AD79EB75F}"/>
              </a:ext>
            </a:extLst>
          </p:cNvPr>
          <p:cNvGrpSpPr/>
          <p:nvPr/>
        </p:nvGrpSpPr>
        <p:grpSpPr>
          <a:xfrm>
            <a:off x="3438931" y="3043845"/>
            <a:ext cx="7380447" cy="881566"/>
            <a:chOff x="3438931" y="3043845"/>
            <a:chExt cx="7380447" cy="881566"/>
          </a:xfrm>
        </p:grpSpPr>
        <p:cxnSp>
          <p:nvCxnSpPr>
            <p:cNvPr id="98" name="直線箭頭接點 97">
              <a:extLst>
                <a:ext uri="{FF2B5EF4-FFF2-40B4-BE49-F238E27FC236}">
                  <a16:creationId xmlns:a16="http://schemas.microsoft.com/office/drawing/2014/main" id="{F11F7C99-DA58-1A83-4617-A3B21548C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93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箭頭接點 98">
              <a:extLst>
                <a:ext uri="{FF2B5EF4-FFF2-40B4-BE49-F238E27FC236}">
                  <a16:creationId xmlns:a16="http://schemas.microsoft.com/office/drawing/2014/main" id="{5D7C7CDC-DC80-DFEE-32F5-761D1FF5C1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25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箭頭接點 99">
              <a:extLst>
                <a:ext uri="{FF2B5EF4-FFF2-40B4-BE49-F238E27FC236}">
                  <a16:creationId xmlns:a16="http://schemas.microsoft.com/office/drawing/2014/main" id="{862135E6-AB61-0472-4B9A-0D9D3F029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4277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箭頭接點 100">
              <a:extLst>
                <a:ext uri="{FF2B5EF4-FFF2-40B4-BE49-F238E27FC236}">
                  <a16:creationId xmlns:a16="http://schemas.microsoft.com/office/drawing/2014/main" id="{4B0D436F-F723-3A4C-11FE-BBF938E52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27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箭頭接點 101">
              <a:extLst>
                <a:ext uri="{FF2B5EF4-FFF2-40B4-BE49-F238E27FC236}">
                  <a16:creationId xmlns:a16="http://schemas.microsoft.com/office/drawing/2014/main" id="{BC1DD99F-CAB7-E445-BD2E-C564CAD21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962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箭頭接點 102">
              <a:extLst>
                <a:ext uri="{FF2B5EF4-FFF2-40B4-BE49-F238E27FC236}">
                  <a16:creationId xmlns:a16="http://schemas.microsoft.com/office/drawing/2014/main" id="{AB42B95B-0E05-66B7-170F-D6392C3EB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868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箭頭接點 103">
              <a:extLst>
                <a:ext uri="{FF2B5EF4-FFF2-40B4-BE49-F238E27FC236}">
                  <a16:creationId xmlns:a16="http://schemas.microsoft.com/office/drawing/2014/main" id="{20E0E8CB-23A5-3FFA-CDF4-12A43028C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01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箭頭接點 104">
              <a:extLst>
                <a:ext uri="{FF2B5EF4-FFF2-40B4-BE49-F238E27FC236}">
                  <a16:creationId xmlns:a16="http://schemas.microsoft.com/office/drawing/2014/main" id="{247E66C1-D31B-C644-F98C-5DD2AAB924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4032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箭頭接點 105">
              <a:extLst>
                <a:ext uri="{FF2B5EF4-FFF2-40B4-BE49-F238E27FC236}">
                  <a16:creationId xmlns:a16="http://schemas.microsoft.com/office/drawing/2014/main" id="{AD5D99B7-976C-6C6A-7BBF-F73837F5C7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302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箭頭接點 106">
              <a:extLst>
                <a:ext uri="{FF2B5EF4-FFF2-40B4-BE49-F238E27FC236}">
                  <a16:creationId xmlns:a16="http://schemas.microsoft.com/office/drawing/2014/main" id="{239BCC32-658B-C337-5F06-4B0E624E4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937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DCCBAF19-7494-0052-E180-D193E23F70B8}"/>
              </a:ext>
            </a:extLst>
          </p:cNvPr>
          <p:cNvSpPr txBox="1"/>
          <p:nvPr/>
        </p:nvSpPr>
        <p:spPr>
          <a:xfrm>
            <a:off x="2379411" y="2552226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⬅️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FD3BE056-3C09-D000-8945-EBF89A94F1DA}"/>
                  </a:ext>
                </a:extLst>
              </p:cNvPr>
              <p:cNvSpPr txBox="1"/>
              <p:nvPr/>
            </p:nvSpPr>
            <p:spPr>
              <a:xfrm>
                <a:off x="329193" y="2388955"/>
                <a:ext cx="20979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第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sz="18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18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kumimoji="1" lang="en-US" altLang="zh-TW" i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/>
                  <a:t>個 </a:t>
                </a:r>
                <a:r>
                  <a:rPr kumimoji="1" lang="en-US" altLang="zh-TW" dirty="0"/>
                  <a:t>token </a:t>
                </a:r>
                <a:r>
                  <a:rPr kumimoji="1" lang="zh-TW" altLang="en-US" dirty="0"/>
                  <a:t>的 </a:t>
                </a:r>
                <a:r>
                  <a:rPr kumimoji="1" lang="en-US" altLang="zh-TW" dirty="0"/>
                  <a:t>hidden state</a:t>
                </a:r>
              </a:p>
            </p:txBody>
          </p:sp>
        </mc:Choice>
        <mc:Fallback xmlns="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FD3BE056-3C09-D000-8945-EBF89A94F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93" y="2388955"/>
                <a:ext cx="2097919" cy="646331"/>
              </a:xfrm>
              <a:prstGeom prst="rect">
                <a:avLst/>
              </a:prstGeom>
              <a:blipFill>
                <a:blip r:embed="rId16"/>
                <a:stretch>
                  <a:fillRect l="-1796" t="-7692"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96EFF51-6CD2-86B7-E6C8-9126F9DAC345}"/>
                  </a:ext>
                </a:extLst>
              </p:cNvPr>
              <p:cNvSpPr txBox="1"/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96EFF51-6CD2-86B7-E6C8-9126F9DA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F167BC2F-6535-4D14-0B93-C852A61072C4}"/>
              </a:ext>
            </a:extLst>
          </p:cNvPr>
          <p:cNvSpPr txBox="1"/>
          <p:nvPr/>
        </p:nvSpPr>
        <p:spPr>
          <a:xfrm>
            <a:off x="2820908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0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C7F0857C-835D-841F-DD51-38FBE857C154}"/>
              </a:ext>
            </a:extLst>
          </p:cNvPr>
          <p:cNvSpPr txBox="1"/>
          <p:nvPr/>
        </p:nvSpPr>
        <p:spPr>
          <a:xfrm>
            <a:off x="3563039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FD08F245-A892-57ED-6975-A2ECC653D432}"/>
              </a:ext>
            </a:extLst>
          </p:cNvPr>
          <p:cNvSpPr txBox="1"/>
          <p:nvPr/>
        </p:nvSpPr>
        <p:spPr>
          <a:xfrm>
            <a:off x="4306254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A7D8194C-96AF-EE55-1BC6-5573AD7D3748}"/>
              </a:ext>
            </a:extLst>
          </p:cNvPr>
          <p:cNvSpPr txBox="1"/>
          <p:nvPr/>
        </p:nvSpPr>
        <p:spPr>
          <a:xfrm>
            <a:off x="5048927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C749977C-E4A7-0053-3AE4-D1C04434E23A}"/>
              </a:ext>
            </a:extLst>
          </p:cNvPr>
          <p:cNvSpPr txBox="1"/>
          <p:nvPr/>
        </p:nvSpPr>
        <p:spPr>
          <a:xfrm>
            <a:off x="5791600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6BD986F7-0CEF-5775-55D2-E404E36985BE}"/>
              </a:ext>
            </a:extLst>
          </p:cNvPr>
          <p:cNvSpPr txBox="1"/>
          <p:nvPr/>
        </p:nvSpPr>
        <p:spPr>
          <a:xfrm>
            <a:off x="720379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D-5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600B98C-0C23-EA0B-4A97-528C66ED2A44}"/>
              </a:ext>
            </a:extLst>
          </p:cNvPr>
          <p:cNvSpPr txBox="1"/>
          <p:nvPr/>
        </p:nvSpPr>
        <p:spPr>
          <a:xfrm>
            <a:off x="7967038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5556E035-4BDC-5024-C4ED-AE39ED9E30FA}"/>
              </a:ext>
            </a:extLst>
          </p:cNvPr>
          <p:cNvSpPr txBox="1"/>
          <p:nvPr/>
        </p:nvSpPr>
        <p:spPr>
          <a:xfrm>
            <a:off x="8730285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F2D98E0-6018-FA4A-C406-E91A56643D32}"/>
              </a:ext>
            </a:extLst>
          </p:cNvPr>
          <p:cNvSpPr txBox="1"/>
          <p:nvPr/>
        </p:nvSpPr>
        <p:spPr>
          <a:xfrm>
            <a:off x="949353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12669031-28C7-CCFB-B319-FE25E9E77A33}"/>
              </a:ext>
            </a:extLst>
          </p:cNvPr>
          <p:cNvSpPr txBox="1"/>
          <p:nvPr/>
        </p:nvSpPr>
        <p:spPr>
          <a:xfrm>
            <a:off x="10256778" y="4017706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DD002BAD-0E87-AD6A-B451-CD539B665E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TW" dirty="0"/>
                  <a:t>S4 </a:t>
                </a:r>
                <a:r>
                  <a:rPr kumimoji="1" lang="zh-TW" altLang="en-US" dirty="0"/>
                  <a:t>的問題：不同的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共享相同的 </a:t>
                </a:r>
                <a:r>
                  <a:rPr kumimoji="1" lang="en-US" altLang="zh-TW" dirty="0"/>
                  <a:t>SSMs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DD002BAD-0E87-AD6A-B451-CD539B665E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  <a:blipFill>
                <a:blip r:embed="rId18"/>
                <a:stretch>
                  <a:fillRect l="-2555" t="-8434" r="-1161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B75ABAE9-2966-5117-107E-2025D9592456}"/>
              </a:ext>
            </a:extLst>
          </p:cNvPr>
          <p:cNvSpPr txBox="1"/>
          <p:nvPr/>
        </p:nvSpPr>
        <p:spPr>
          <a:xfrm>
            <a:off x="323699" y="3756784"/>
            <a:ext cx="2732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沒有 𝑛 個</a:t>
            </a:r>
            <a:r>
              <a:rPr kumimoji="1" lang="en-US" altLang="zh-TW" dirty="0"/>
              <a:t> SSMs</a:t>
            </a:r>
          </a:p>
          <a:p>
            <a:r>
              <a:rPr kumimoji="1" lang="zh-TW" altLang="en-US" dirty="0"/>
              <a:t>代表</a:t>
            </a:r>
            <a:r>
              <a:rPr kumimoji="1" lang="en-US" altLang="zh-TW" dirty="0"/>
              <a:t>SSM </a:t>
            </a:r>
            <a:r>
              <a:rPr kumimoji="1" lang="zh-TW" altLang="en-US" dirty="0"/>
              <a:t>不會隨著文字資訊變化 </a:t>
            </a:r>
            <a:r>
              <a:rPr kumimoji="1" lang="en-US" altLang="zh-TW" dirty="0"/>
              <a:t>(time-invariant)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000C881-7F67-1C38-ACEB-407B3EA0B6EC}"/>
              </a:ext>
            </a:extLst>
          </p:cNvPr>
          <p:cNvSpPr txBox="1"/>
          <p:nvPr/>
        </p:nvSpPr>
        <p:spPr>
          <a:xfrm>
            <a:off x="2753084" y="4073500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➡️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BBF91F-26FF-477C-531D-3B134B2082D6}"/>
              </a:ext>
            </a:extLst>
          </p:cNvPr>
          <p:cNvSpPr/>
          <p:nvPr/>
        </p:nvSpPr>
        <p:spPr>
          <a:xfrm>
            <a:off x="323699" y="3657600"/>
            <a:ext cx="11078869" cy="1051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154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188E15-68BB-2816-B77C-FCB0B765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6BFA7D2E-CE71-8FC1-54FE-86FB36176EA4}"/>
                  </a:ext>
                </a:extLst>
              </p:cNvPr>
              <p:cNvSpPr txBox="1"/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dirty="0"/>
                  <a:t>假設 </a:t>
                </a:r>
                <a:r>
                  <a:rPr kumimoji="1" lang="en-US" altLang="zh-TW" dirty="0"/>
                  <a:t>shape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zh-TW" dirty="0"/>
                  <a:t>: (1,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D</a:t>
                </a:r>
                <a:r>
                  <a:rPr kumimoji="1" lang="en-US" altLang="zh-TW" dirty="0"/>
                  <a:t>)</a:t>
                </a: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6BFA7D2E-CE71-8FC1-54FE-86FB36176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13505"/>
                <a:ext cx="2983048" cy="456856"/>
              </a:xfrm>
              <a:prstGeom prst="rect">
                <a:avLst/>
              </a:prstGeom>
              <a:blipFill>
                <a:blip r:embed="rId3"/>
                <a:stretch>
                  <a:fillRect l="-169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2C1225D-1305-4AA0-6C29-55CF14700A8D}"/>
                  </a:ext>
                </a:extLst>
              </p:cNvPr>
              <p:cNvSpPr/>
              <p:nvPr/>
            </p:nvSpPr>
            <p:spPr>
              <a:xfrm>
                <a:off x="1314698" y="5356921"/>
                <a:ext cx="813816" cy="4663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2C1225D-1305-4AA0-6C29-55CF14700A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698" y="5356921"/>
                <a:ext cx="813816" cy="4663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表格 10">
            <a:extLst>
              <a:ext uri="{FF2B5EF4-FFF2-40B4-BE49-F238E27FC236}">
                <a16:creationId xmlns:a16="http://schemas.microsoft.com/office/drawing/2014/main" id="{3A12A24B-480F-D53A-AE38-41B6B24D0A64}"/>
              </a:ext>
            </a:extLst>
          </p:cNvPr>
          <p:cNvGraphicFramePr>
            <a:graphicFrameLocks noGrp="1"/>
          </p:cNvGraphicFramePr>
          <p:nvPr/>
        </p:nvGraphicFramePr>
        <p:xfrm>
          <a:off x="3061027" y="539349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sp>
        <p:nvSpPr>
          <p:cNvPr id="62" name="文字方塊 61">
            <a:extLst>
              <a:ext uri="{FF2B5EF4-FFF2-40B4-BE49-F238E27FC236}">
                <a16:creationId xmlns:a16="http://schemas.microsoft.com/office/drawing/2014/main" id="{BB116612-8E19-231A-F937-365C16FF4096}"/>
              </a:ext>
            </a:extLst>
          </p:cNvPr>
          <p:cNvSpPr txBox="1"/>
          <p:nvPr/>
        </p:nvSpPr>
        <p:spPr>
          <a:xfrm>
            <a:off x="2379411" y="5462115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➡️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3DEFE7F-4B2A-70A6-3274-CF42E59D0C8D}"/>
                  </a:ext>
                </a:extLst>
              </p:cNvPr>
              <p:cNvSpPr txBox="1"/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3DEFE7F-4B2A-70A6-3274-CF42E59D0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294" y="5867262"/>
                <a:ext cx="33674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1BEEDE1-8D08-151C-9860-88BE99D56E0F}"/>
                  </a:ext>
                </a:extLst>
              </p:cNvPr>
              <p:cNvSpPr txBox="1"/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1BEEDE1-8D08-151C-9860-88BE99D56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630" y="5867262"/>
                <a:ext cx="33674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D9325B4-7DF1-21A8-CF61-8EFB785CCA96}"/>
                  </a:ext>
                </a:extLst>
              </p:cNvPr>
              <p:cNvSpPr txBox="1"/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D9325B4-7DF1-21A8-CF61-8EFB785CC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243" y="5867262"/>
                <a:ext cx="33674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316B165-A819-D968-B4A5-22D8BE6A9420}"/>
                  </a:ext>
                </a:extLst>
              </p:cNvPr>
              <p:cNvSpPr txBox="1"/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1316B165-A819-D968-B4A5-22D8BE6A9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288" y="5867262"/>
                <a:ext cx="33674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EF904A96-FF05-BB81-590F-099F0872B385}"/>
                  </a:ext>
                </a:extLst>
              </p:cNvPr>
              <p:cNvSpPr txBox="1"/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EF904A96-FF05-BB81-590F-099F0872B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192" y="5867262"/>
                <a:ext cx="33674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FDFC94D-04CF-2459-2B95-24D8DE7BA52E}"/>
                  </a:ext>
                </a:extLst>
              </p:cNvPr>
              <p:cNvSpPr txBox="1"/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FDFC94D-04CF-2459-2B95-24D8DE7BA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980" y="5860957"/>
                <a:ext cx="75004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02D4F37-86F7-FF17-E773-EDCCB33EA2B7}"/>
                  </a:ext>
                </a:extLst>
              </p:cNvPr>
              <p:cNvSpPr txBox="1"/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−2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502D4F37-86F7-FF17-E773-EDCCB33EA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565" y="5860957"/>
                <a:ext cx="75004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C3C267D9-B7D5-DE40-6588-9D0AAC2167EA}"/>
                  </a:ext>
                </a:extLst>
              </p:cNvPr>
              <p:cNvSpPr txBox="1"/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−3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C3C267D9-B7D5-DE40-6588-9D0AAC216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031" y="5860957"/>
                <a:ext cx="75004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574B4BF0-A0D7-AFE1-EA55-2B7437E5241A}"/>
                  </a:ext>
                </a:extLst>
              </p:cNvPr>
              <p:cNvSpPr txBox="1"/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−4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574B4BF0-A0D7-AFE1-EA55-2B7437E52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616" y="5860957"/>
                <a:ext cx="750046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7325662-80C6-64EB-0F54-2AA9A533488D}"/>
                  </a:ext>
                </a:extLst>
              </p:cNvPr>
              <p:cNvSpPr txBox="1"/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−5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7325662-80C6-64EB-0F54-2AA9A5334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201" y="5860957"/>
                <a:ext cx="750046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A74B0D6-6AA8-876C-B84C-92428EAE874A}"/>
                  </a:ext>
                </a:extLst>
              </p:cNvPr>
              <p:cNvSpPr txBox="1"/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1A74B0D6-6AA8-876C-B84C-92428EAE8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457" y="5860957"/>
                <a:ext cx="336745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群組 84">
            <a:extLst>
              <a:ext uri="{FF2B5EF4-FFF2-40B4-BE49-F238E27FC236}">
                <a16:creationId xmlns:a16="http://schemas.microsoft.com/office/drawing/2014/main" id="{51229B95-2942-88B4-385F-502393FB909E}"/>
              </a:ext>
            </a:extLst>
          </p:cNvPr>
          <p:cNvGrpSpPr/>
          <p:nvPr/>
        </p:nvGrpSpPr>
        <p:grpSpPr>
          <a:xfrm>
            <a:off x="3433556" y="4394522"/>
            <a:ext cx="7380447" cy="881566"/>
            <a:chOff x="3433556" y="4394522"/>
            <a:chExt cx="7380447" cy="881566"/>
          </a:xfrm>
        </p:grpSpPr>
        <p:cxnSp>
          <p:nvCxnSpPr>
            <p:cNvPr id="86" name="直線箭頭接點 85">
              <a:extLst>
                <a:ext uri="{FF2B5EF4-FFF2-40B4-BE49-F238E27FC236}">
                  <a16:creationId xmlns:a16="http://schemas.microsoft.com/office/drawing/2014/main" id="{5DCB4826-106C-6802-0323-7B24BE693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55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箭頭接點 86">
              <a:extLst>
                <a:ext uri="{FF2B5EF4-FFF2-40B4-BE49-F238E27FC236}">
                  <a16:creationId xmlns:a16="http://schemas.microsoft.com/office/drawing/2014/main" id="{9394AA9A-2A2B-1C85-50B2-59325441C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88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箭頭接點 87">
              <a:extLst>
                <a:ext uri="{FF2B5EF4-FFF2-40B4-BE49-F238E27FC236}">
                  <a16:creationId xmlns:a16="http://schemas.microsoft.com/office/drawing/2014/main" id="{73027284-EE64-6095-35A9-B8BF8B3FC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8902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箭頭接點 88">
              <a:extLst>
                <a:ext uri="{FF2B5EF4-FFF2-40B4-BE49-F238E27FC236}">
                  <a16:creationId xmlns:a16="http://schemas.microsoft.com/office/drawing/2014/main" id="{0C7FE3E9-289D-41BA-9118-F1CF1E85F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89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箭頭接點 89">
              <a:extLst>
                <a:ext uri="{FF2B5EF4-FFF2-40B4-BE49-F238E27FC236}">
                  <a16:creationId xmlns:a16="http://schemas.microsoft.com/office/drawing/2014/main" id="{74B44691-B803-AFAE-4A48-4FE9332CC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4248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箭頭接點 90">
              <a:extLst>
                <a:ext uri="{FF2B5EF4-FFF2-40B4-BE49-F238E27FC236}">
                  <a16:creationId xmlns:a16="http://schemas.microsoft.com/office/drawing/2014/main" id="{10266446-1CB5-C735-1E87-864FD8839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311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箭頭接點 91">
              <a:extLst>
                <a:ext uri="{FF2B5EF4-FFF2-40B4-BE49-F238E27FC236}">
                  <a16:creationId xmlns:a16="http://schemas.microsoft.com/office/drawing/2014/main" id="{3926AEBF-774B-74A7-F4EE-30F7F14CD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6636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箭頭接點 92">
              <a:extLst>
                <a:ext uri="{FF2B5EF4-FFF2-40B4-BE49-F238E27FC236}">
                  <a16:creationId xmlns:a16="http://schemas.microsoft.com/office/drawing/2014/main" id="{F4F78E58-1B89-DB89-3A54-9C1D1C32D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8657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箭頭接點 93">
              <a:extLst>
                <a:ext uri="{FF2B5EF4-FFF2-40B4-BE49-F238E27FC236}">
                  <a16:creationId xmlns:a16="http://schemas.microsoft.com/office/drawing/2014/main" id="{6277E8A1-EF0D-0710-F12C-EE90538410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765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箭頭接點 94">
              <a:extLst>
                <a:ext uri="{FF2B5EF4-FFF2-40B4-BE49-F238E27FC236}">
                  <a16:creationId xmlns:a16="http://schemas.microsoft.com/office/drawing/2014/main" id="{3A888948-E2F9-27F5-C542-7C6A0546A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4003" y="4394522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6" name="表格 10">
            <a:extLst>
              <a:ext uri="{FF2B5EF4-FFF2-40B4-BE49-F238E27FC236}">
                <a16:creationId xmlns:a16="http://schemas.microsoft.com/office/drawing/2014/main" id="{0A7C8401-F24B-906F-0643-107CEA0D0E3F}"/>
              </a:ext>
            </a:extLst>
          </p:cNvPr>
          <p:cNvGraphicFramePr>
            <a:graphicFrameLocks noGrp="1"/>
          </p:cNvGraphicFramePr>
          <p:nvPr/>
        </p:nvGraphicFramePr>
        <p:xfrm>
          <a:off x="3056067" y="252670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331382465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16267904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650445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2498319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9804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6846233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9330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47986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91295780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30818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71608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i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36497"/>
                  </a:ext>
                </a:extLst>
              </a:tr>
            </a:tbl>
          </a:graphicData>
        </a:graphic>
      </p:graphicFrame>
      <p:grpSp>
        <p:nvGrpSpPr>
          <p:cNvPr id="97" name="群組 96">
            <a:extLst>
              <a:ext uri="{FF2B5EF4-FFF2-40B4-BE49-F238E27FC236}">
                <a16:creationId xmlns:a16="http://schemas.microsoft.com/office/drawing/2014/main" id="{86C807AB-6F8F-45DB-F951-5D7AD79EB75F}"/>
              </a:ext>
            </a:extLst>
          </p:cNvPr>
          <p:cNvGrpSpPr/>
          <p:nvPr/>
        </p:nvGrpSpPr>
        <p:grpSpPr>
          <a:xfrm>
            <a:off x="3438931" y="3043845"/>
            <a:ext cx="7380447" cy="881566"/>
            <a:chOff x="3438931" y="3043845"/>
            <a:chExt cx="7380447" cy="881566"/>
          </a:xfrm>
        </p:grpSpPr>
        <p:cxnSp>
          <p:nvCxnSpPr>
            <p:cNvPr id="98" name="直線箭頭接點 97">
              <a:extLst>
                <a:ext uri="{FF2B5EF4-FFF2-40B4-BE49-F238E27FC236}">
                  <a16:creationId xmlns:a16="http://schemas.microsoft.com/office/drawing/2014/main" id="{F11F7C99-DA58-1A83-4617-A3B21548C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93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箭頭接點 98">
              <a:extLst>
                <a:ext uri="{FF2B5EF4-FFF2-40B4-BE49-F238E27FC236}">
                  <a16:creationId xmlns:a16="http://schemas.microsoft.com/office/drawing/2014/main" id="{5D7C7CDC-DC80-DFEE-32F5-761D1FF5C1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25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箭頭接點 99">
              <a:extLst>
                <a:ext uri="{FF2B5EF4-FFF2-40B4-BE49-F238E27FC236}">
                  <a16:creationId xmlns:a16="http://schemas.microsoft.com/office/drawing/2014/main" id="{862135E6-AB61-0472-4B9A-0D9D3F029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4277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箭頭接點 100">
              <a:extLst>
                <a:ext uri="{FF2B5EF4-FFF2-40B4-BE49-F238E27FC236}">
                  <a16:creationId xmlns:a16="http://schemas.microsoft.com/office/drawing/2014/main" id="{4B0D436F-F723-3A4C-11FE-BBF938E52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27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箭頭接點 101">
              <a:extLst>
                <a:ext uri="{FF2B5EF4-FFF2-40B4-BE49-F238E27FC236}">
                  <a16:creationId xmlns:a16="http://schemas.microsoft.com/office/drawing/2014/main" id="{BC1DD99F-CAB7-E445-BD2E-C564CAD21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9623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箭頭接點 102">
              <a:extLst>
                <a:ext uri="{FF2B5EF4-FFF2-40B4-BE49-F238E27FC236}">
                  <a16:creationId xmlns:a16="http://schemas.microsoft.com/office/drawing/2014/main" id="{AB42B95B-0E05-66B7-170F-D6392C3EB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8686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箭頭接點 103">
              <a:extLst>
                <a:ext uri="{FF2B5EF4-FFF2-40B4-BE49-F238E27FC236}">
                  <a16:creationId xmlns:a16="http://schemas.microsoft.com/office/drawing/2014/main" id="{20E0E8CB-23A5-3FFA-CDF4-12A43028C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011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箭頭接點 104">
              <a:extLst>
                <a:ext uri="{FF2B5EF4-FFF2-40B4-BE49-F238E27FC236}">
                  <a16:creationId xmlns:a16="http://schemas.microsoft.com/office/drawing/2014/main" id="{247E66C1-D31B-C644-F98C-5DD2AAB924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4032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箭頭接點 105">
              <a:extLst>
                <a:ext uri="{FF2B5EF4-FFF2-40B4-BE49-F238E27FC236}">
                  <a16:creationId xmlns:a16="http://schemas.microsoft.com/office/drawing/2014/main" id="{AD5D99B7-976C-6C6A-7BBF-F73837F5C7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302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箭頭接點 106">
              <a:extLst>
                <a:ext uri="{FF2B5EF4-FFF2-40B4-BE49-F238E27FC236}">
                  <a16:creationId xmlns:a16="http://schemas.microsoft.com/office/drawing/2014/main" id="{239BCC32-658B-C337-5F06-4B0E624E4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9378" y="3043845"/>
              <a:ext cx="0" cy="8815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DCCBAF19-7494-0052-E180-D193E23F70B8}"/>
              </a:ext>
            </a:extLst>
          </p:cNvPr>
          <p:cNvSpPr txBox="1"/>
          <p:nvPr/>
        </p:nvSpPr>
        <p:spPr>
          <a:xfrm>
            <a:off x="2379411" y="2552226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⬅️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96EFF51-6CD2-86B7-E6C8-9126F9DAC345}"/>
                  </a:ext>
                </a:extLst>
              </p:cNvPr>
              <p:cNvSpPr txBox="1"/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kumimoji="1" lang="zh-TW" altLang="en-US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96EFF51-6CD2-86B7-E6C8-9126F9DA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513" y="5860956"/>
                <a:ext cx="336745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F167BC2F-6535-4D14-0B93-C852A61072C4}"/>
              </a:ext>
            </a:extLst>
          </p:cNvPr>
          <p:cNvSpPr txBox="1"/>
          <p:nvPr/>
        </p:nvSpPr>
        <p:spPr>
          <a:xfrm>
            <a:off x="2820908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0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C7F0857C-835D-841F-DD51-38FBE857C154}"/>
              </a:ext>
            </a:extLst>
          </p:cNvPr>
          <p:cNvSpPr txBox="1"/>
          <p:nvPr/>
        </p:nvSpPr>
        <p:spPr>
          <a:xfrm>
            <a:off x="3563039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FD08F245-A892-57ED-6975-A2ECC653D432}"/>
              </a:ext>
            </a:extLst>
          </p:cNvPr>
          <p:cNvSpPr txBox="1"/>
          <p:nvPr/>
        </p:nvSpPr>
        <p:spPr>
          <a:xfrm>
            <a:off x="4306254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A7D8194C-96AF-EE55-1BC6-5573AD7D3748}"/>
              </a:ext>
            </a:extLst>
          </p:cNvPr>
          <p:cNvSpPr txBox="1"/>
          <p:nvPr/>
        </p:nvSpPr>
        <p:spPr>
          <a:xfrm>
            <a:off x="5048927" y="4025190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C749977C-E4A7-0053-3AE4-D1C04434E23A}"/>
              </a:ext>
            </a:extLst>
          </p:cNvPr>
          <p:cNvSpPr txBox="1"/>
          <p:nvPr/>
        </p:nvSpPr>
        <p:spPr>
          <a:xfrm>
            <a:off x="5791600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6BD986F7-0CEF-5775-55D2-E404E36985BE}"/>
              </a:ext>
            </a:extLst>
          </p:cNvPr>
          <p:cNvSpPr txBox="1"/>
          <p:nvPr/>
        </p:nvSpPr>
        <p:spPr>
          <a:xfrm>
            <a:off x="720379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D-5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600B98C-0C23-EA0B-4A97-528C66ED2A44}"/>
              </a:ext>
            </a:extLst>
          </p:cNvPr>
          <p:cNvSpPr txBox="1"/>
          <p:nvPr/>
        </p:nvSpPr>
        <p:spPr>
          <a:xfrm>
            <a:off x="7967038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D-4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5556E035-4BDC-5024-C4ED-AE39ED9E30FA}"/>
              </a:ext>
            </a:extLst>
          </p:cNvPr>
          <p:cNvSpPr txBox="1"/>
          <p:nvPr/>
        </p:nvSpPr>
        <p:spPr>
          <a:xfrm>
            <a:off x="8730285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D-3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F2D98E0-6018-FA4A-C406-E91A56643D32}"/>
              </a:ext>
            </a:extLst>
          </p:cNvPr>
          <p:cNvSpPr txBox="1"/>
          <p:nvPr/>
        </p:nvSpPr>
        <p:spPr>
          <a:xfrm>
            <a:off x="9493532" y="40214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D-2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12669031-28C7-CCFB-B319-FE25E9E77A33}"/>
              </a:ext>
            </a:extLst>
          </p:cNvPr>
          <p:cNvSpPr txBox="1"/>
          <p:nvPr/>
        </p:nvSpPr>
        <p:spPr>
          <a:xfrm>
            <a:off x="10256778" y="4017706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SSM</a:t>
            </a:r>
            <a:r>
              <a:rPr kumimoji="1" lang="en-US" altLang="zh-TW" baseline="-25000" dirty="0">
                <a:solidFill>
                  <a:schemeClr val="accent1"/>
                </a:solidFill>
              </a:rPr>
              <a:t>D-1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DD002BAD-0E87-AD6A-B451-CD539B66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Mamba </a:t>
            </a:r>
            <a:r>
              <a:rPr kumimoji="1" lang="zh-TW" altLang="en-US" dirty="0"/>
              <a:t>的解決方案：改成 </a:t>
            </a:r>
            <a:r>
              <a:rPr kumimoji="1" lang="en-US" altLang="zh-TW" dirty="0"/>
              <a:t>n x D</a:t>
            </a:r>
            <a:r>
              <a:rPr kumimoji="1" lang="zh-TW" altLang="en-US" dirty="0"/>
              <a:t> 組 </a:t>
            </a:r>
            <a:r>
              <a:rPr kumimoji="1" lang="en-US" altLang="zh-TW" dirty="0"/>
              <a:t>SSMs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5ABAE9-2966-5117-107E-2025D9592456}"/>
                  </a:ext>
                </a:extLst>
              </p:cNvPr>
              <p:cNvSpPr txBox="1"/>
              <p:nvPr/>
            </p:nvSpPr>
            <p:spPr>
              <a:xfrm>
                <a:off x="840010" y="3998714"/>
                <a:ext cx="18503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第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組</a:t>
                </a:r>
                <a:r>
                  <a:rPr kumimoji="1" lang="en-US" altLang="zh-TW" dirty="0"/>
                  <a:t>SSM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5ABAE9-2966-5117-107E-2025D959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10" y="3998714"/>
                <a:ext cx="1850331" cy="369332"/>
              </a:xfrm>
              <a:prstGeom prst="rect">
                <a:avLst/>
              </a:prstGeom>
              <a:blipFill>
                <a:blip r:embed="rId17"/>
                <a:stretch>
                  <a:fillRect l="-3425" t="-9677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B000C881-7F67-1C38-ACEB-407B3EA0B6EC}"/>
              </a:ext>
            </a:extLst>
          </p:cNvPr>
          <p:cNvSpPr txBox="1"/>
          <p:nvPr/>
        </p:nvSpPr>
        <p:spPr>
          <a:xfrm>
            <a:off x="2544581" y="4049207"/>
            <a:ext cx="67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➡️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BBF91F-26FF-477C-531D-3B134B2082D6}"/>
              </a:ext>
            </a:extLst>
          </p:cNvPr>
          <p:cNvSpPr/>
          <p:nvPr/>
        </p:nvSpPr>
        <p:spPr>
          <a:xfrm>
            <a:off x="740664" y="3657600"/>
            <a:ext cx="10661904" cy="1051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25509C4-D04E-E91F-C3E0-03FF4BC19604}"/>
                  </a:ext>
                </a:extLst>
              </p:cNvPr>
              <p:cNvSpPr txBox="1"/>
              <p:nvPr/>
            </p:nvSpPr>
            <p:spPr>
              <a:xfrm>
                <a:off x="672382" y="2388955"/>
                <a:ext cx="1736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第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sz="18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i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/>
                  <a:t>個 </a:t>
                </a:r>
                <a:r>
                  <a:rPr kumimoji="1" lang="en-US" altLang="zh-TW" dirty="0"/>
                  <a:t>token </a:t>
                </a:r>
                <a:r>
                  <a:rPr kumimoji="1" lang="zh-TW" altLang="en-US" dirty="0"/>
                  <a:t>的 </a:t>
                </a:r>
                <a:r>
                  <a:rPr kumimoji="1" lang="en-US" altLang="zh-TW" dirty="0"/>
                  <a:t>hidden state</a:t>
                </a: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25509C4-D04E-E91F-C3E0-03FF4BC19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82" y="2388955"/>
                <a:ext cx="1736441" cy="646331"/>
              </a:xfrm>
              <a:prstGeom prst="rect">
                <a:avLst/>
              </a:prstGeom>
              <a:blipFill>
                <a:blip r:embed="rId18"/>
                <a:stretch>
                  <a:fillRect l="-2899" t="-7692" r="-2174"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3C936029-3F48-9E49-B985-143AA9430451}"/>
              </a:ext>
            </a:extLst>
          </p:cNvPr>
          <p:cNvSpPr txBox="1"/>
          <p:nvPr/>
        </p:nvSpPr>
        <p:spPr>
          <a:xfrm>
            <a:off x="953083" y="4322594"/>
            <a:ext cx="1259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>
                <a:solidFill>
                  <a:srgbClr val="FF0000"/>
                </a:solidFill>
              </a:rPr>
              <a:t>selective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62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265FC9-4E8B-753D-262E-F5079280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相較於 </a:t>
            </a:r>
            <a:r>
              <a:rPr kumimoji="1" lang="en-US" altLang="zh-TW" dirty="0"/>
              <a:t>S4</a:t>
            </a:r>
            <a:r>
              <a:rPr kumimoji="1" lang="zh-TW" altLang="en-US" dirty="0"/>
              <a:t>，</a:t>
            </a:r>
            <a:r>
              <a:rPr kumimoji="1" lang="en-US" altLang="zh-TW" dirty="0"/>
              <a:t>Mamba </a:t>
            </a:r>
            <a:r>
              <a:rPr kumimoji="1" lang="zh-TW" altLang="en-US" dirty="0"/>
              <a:t>不能用全域卷積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B46BB4-1DCC-4255-A89E-FB8DCA44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34</a:t>
            </a:fld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8E7683-40B1-8C90-D5EC-079ACD61782F}"/>
                  </a:ext>
                </a:extLst>
              </p:cNvPr>
              <p:cNvSpPr txBox="1"/>
              <p:nvPr/>
            </p:nvSpPr>
            <p:spPr>
              <a:xfrm>
                <a:off x="838200" y="2297126"/>
                <a:ext cx="609452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8E7683-40B1-8C90-D5EC-079ACD617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97126"/>
                <a:ext cx="6094520" cy="369909"/>
              </a:xfrm>
              <a:prstGeom prst="rect">
                <a:avLst/>
              </a:prstGeom>
              <a:blipFill>
                <a:blip r:embed="rId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4056C7C-535E-0CCE-A8D9-BD6670921E78}"/>
                  </a:ext>
                </a:extLst>
              </p:cNvPr>
              <p:cNvSpPr txBox="1"/>
              <p:nvPr/>
            </p:nvSpPr>
            <p:spPr>
              <a:xfrm>
                <a:off x="838200" y="2838595"/>
                <a:ext cx="5546325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4056C7C-535E-0CCE-A8D9-BD6670921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38595"/>
                <a:ext cx="5546325" cy="369909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8B19F53-3AF8-B950-02D8-3DB1D5DDED0D}"/>
                  </a:ext>
                </a:extLst>
              </p:cNvPr>
              <p:cNvSpPr txBox="1"/>
              <p:nvPr/>
            </p:nvSpPr>
            <p:spPr>
              <a:xfrm>
                <a:off x="838200" y="3366320"/>
                <a:ext cx="679807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8B19F53-3AF8-B950-02D8-3DB1D5DDE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66320"/>
                <a:ext cx="6798076" cy="369909"/>
              </a:xfrm>
              <a:prstGeom prst="rect">
                <a:avLst/>
              </a:prstGeom>
              <a:blipFill>
                <a:blip r:embed="rId4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0070B31-DDED-BF35-E71D-77130C715C49}"/>
                  </a:ext>
                </a:extLst>
              </p:cNvPr>
              <p:cNvSpPr txBox="1"/>
              <p:nvPr/>
            </p:nvSpPr>
            <p:spPr>
              <a:xfrm>
                <a:off x="838200" y="4571290"/>
                <a:ext cx="609452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TW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0070B31-DDED-BF35-E71D-77130C715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71290"/>
                <a:ext cx="6094520" cy="369909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08C4090-A785-0E46-11CB-721AD7E0CAD6}"/>
                  </a:ext>
                </a:extLst>
              </p:cNvPr>
              <p:cNvSpPr txBox="1"/>
              <p:nvPr/>
            </p:nvSpPr>
            <p:spPr>
              <a:xfrm>
                <a:off x="838200" y="5112759"/>
                <a:ext cx="5546325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08C4090-A785-0E46-11CB-721AD7E0C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12759"/>
                <a:ext cx="5546325" cy="369909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1FEA6A1-0DEA-8A42-58F5-9823224C7B19}"/>
                  </a:ext>
                </a:extLst>
              </p:cNvPr>
              <p:cNvSpPr txBox="1"/>
              <p:nvPr/>
            </p:nvSpPr>
            <p:spPr>
              <a:xfrm>
                <a:off x="838200" y="5640484"/>
                <a:ext cx="6798076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1FEA6A1-0DEA-8A42-58F5-9823224C7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640484"/>
                <a:ext cx="6798076" cy="369909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75322622-7FC9-265D-4075-E92165F320C8}"/>
              </a:ext>
            </a:extLst>
          </p:cNvPr>
          <p:cNvSpPr txBox="1"/>
          <p:nvPr/>
        </p:nvSpPr>
        <p:spPr>
          <a:xfrm>
            <a:off x="838200" y="1738886"/>
            <a:ext cx="291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SSM (S4): Time invariant </a:t>
            </a:r>
            <a:endParaRPr kumimoji="1"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BAD6DDA-D04A-A27D-8C32-188337DD72A6}"/>
                  </a:ext>
                </a:extLst>
              </p:cNvPr>
              <p:cNvSpPr txBox="1"/>
              <p:nvPr/>
            </p:nvSpPr>
            <p:spPr>
              <a:xfrm>
                <a:off x="838200" y="4041504"/>
                <a:ext cx="6370468" cy="369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b="1" dirty="0"/>
                  <a:t>Mamba (S6): Time variant </a:t>
                </a:r>
                <a:r>
                  <a:rPr kumimoji="1" lang="zh-TW" altLang="en-US" b="1" dirty="0"/>
                  <a:t>所以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zh-TW" b="1" dirty="0">
                    <a:solidFill>
                      <a:schemeClr val="tx1"/>
                    </a:solidFill>
                  </a:rPr>
                  <a:t> </a:t>
                </a:r>
                <a:r>
                  <a:rPr kumimoji="1" lang="zh-TW" altLang="en-US" b="1" dirty="0">
                    <a:solidFill>
                      <a:schemeClr val="tx1"/>
                    </a:solidFill>
                  </a:rPr>
                  <a:t>要加下標</a:t>
                </a:r>
                <a:r>
                  <a:rPr kumimoji="1" lang="en-US" altLang="zh-TW" b="1" dirty="0">
                    <a:solidFill>
                      <a:schemeClr val="tx1"/>
                    </a:solidFill>
                  </a:rPr>
                  <a:t> </a:t>
                </a:r>
                <a:endParaRPr kumimoji="1" lang="zh-TW" altLang="en-US" b="1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BAD6DDA-D04A-A27D-8C32-188337DD7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41504"/>
                <a:ext cx="6370468" cy="369909"/>
              </a:xfrm>
              <a:prstGeom prst="rect">
                <a:avLst/>
              </a:prstGeom>
              <a:blipFill>
                <a:blip r:embed="rId8"/>
                <a:stretch>
                  <a:fillRect l="-996" t="-6667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5C1FF02F-4091-B76E-7A2B-F9347F3D1B5D}"/>
              </a:ext>
            </a:extLst>
          </p:cNvPr>
          <p:cNvSpPr txBox="1"/>
          <p:nvPr/>
        </p:nvSpPr>
        <p:spPr>
          <a:xfrm>
            <a:off x="7636276" y="5681246"/>
            <a:ext cx="347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➡️ </a:t>
            </a:r>
            <a:r>
              <a:rPr kumimoji="1" lang="zh-TW" altLang="en-US" dirty="0"/>
              <a:t>不存在一個固定的卷積核！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9581BA-9586-9CCA-8EBC-DB0A2D3A4B3B}"/>
              </a:ext>
            </a:extLst>
          </p:cNvPr>
          <p:cNvSpPr txBox="1"/>
          <p:nvPr/>
        </p:nvSpPr>
        <p:spPr>
          <a:xfrm>
            <a:off x="4566992" y="3401726"/>
            <a:ext cx="236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➡️</a:t>
            </a:r>
            <a:r>
              <a:rPr kumimoji="1" lang="en-US" altLang="zh-TW" dirty="0"/>
              <a:t> </a:t>
            </a:r>
            <a:r>
              <a:rPr kumimoji="1" lang="zh-TW" altLang="en-US" dirty="0"/>
              <a:t>可以找到規律</a:t>
            </a:r>
            <a:r>
              <a:rPr kumimoji="1" lang="en-US" altLang="zh-TW" dirty="0"/>
              <a:t> 💡</a:t>
            </a:r>
            <a:endParaRPr kumimoji="1"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75048034-1293-8822-D8A0-B51CFD628380}"/>
              </a:ext>
            </a:extLst>
          </p:cNvPr>
          <p:cNvGrpSpPr/>
          <p:nvPr/>
        </p:nvGrpSpPr>
        <p:grpSpPr>
          <a:xfrm>
            <a:off x="8915521" y="1464736"/>
            <a:ext cx="2617546" cy="913176"/>
            <a:chOff x="6263639" y="1599942"/>
            <a:chExt cx="2617546" cy="913176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991635A-51A5-BA77-7E3A-51CC56A14D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53009"/>
            <a:stretch/>
          </p:blipFill>
          <p:spPr>
            <a:xfrm>
              <a:off x="6263639" y="1599942"/>
              <a:ext cx="2617545" cy="913176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B4A080B-B923-236F-8403-ACA00C915D45}"/>
                </a:ext>
              </a:extLst>
            </p:cNvPr>
            <p:cNvSpPr/>
            <p:nvPr/>
          </p:nvSpPr>
          <p:spPr>
            <a:xfrm>
              <a:off x="6329778" y="1644004"/>
              <a:ext cx="2551407" cy="7304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3847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3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2CD41F-0FC2-D599-2E03-CB025455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Mamba </a:t>
            </a:r>
            <a:r>
              <a:rPr kumimoji="1" lang="zh-TW" altLang="en-US" dirty="0"/>
              <a:t>加速策略：</a:t>
            </a:r>
            <a:r>
              <a:rPr kumimoji="1" lang="en-US" altLang="zh-TW" dirty="0"/>
              <a:t>Prefix Sum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5F25F2-044B-DF94-FD70-75DAE222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35</a:t>
            </a:fld>
            <a:endParaRPr kumimoji="1"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B49D114A-9300-F625-CD75-A43B44019262}"/>
              </a:ext>
            </a:extLst>
          </p:cNvPr>
          <p:cNvGraphicFramePr>
            <a:graphicFrameLocks noGrp="1"/>
          </p:cNvGraphicFramePr>
          <p:nvPr/>
        </p:nvGraphicFramePr>
        <p:xfrm>
          <a:off x="3045039" y="2453932"/>
          <a:ext cx="74700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013">
                  <a:extLst>
                    <a:ext uri="{9D8B030D-6E8A-4147-A177-3AD203B41FA5}">
                      <a16:colId xmlns:a16="http://schemas.microsoft.com/office/drawing/2014/main" val="3244566221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2443502741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1005660259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4211697679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2532058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3820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6933E88-B6C9-58EA-23C1-A60BB0312FAE}"/>
              </a:ext>
            </a:extLst>
          </p:cNvPr>
          <p:cNvSpPr txBox="1"/>
          <p:nvPr/>
        </p:nvSpPr>
        <p:spPr>
          <a:xfrm>
            <a:off x="1074199" y="2458242"/>
            <a:ext cx="824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0070C0"/>
                </a:solidFill>
              </a:rPr>
              <a:t>Array</a:t>
            </a:r>
            <a:endParaRPr kumimoji="1" lang="zh-TW" altLang="en-US" sz="2000" dirty="0">
              <a:solidFill>
                <a:srgbClr val="0070C0"/>
              </a:solidFill>
            </a:endParaRPr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BEB015F3-355D-BFF2-CA6E-F1418CC3DE45}"/>
              </a:ext>
            </a:extLst>
          </p:cNvPr>
          <p:cNvGraphicFramePr>
            <a:graphicFrameLocks noGrp="1"/>
          </p:cNvGraphicFramePr>
          <p:nvPr/>
        </p:nvGraphicFramePr>
        <p:xfrm>
          <a:off x="3045039" y="4133291"/>
          <a:ext cx="74700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013">
                  <a:extLst>
                    <a:ext uri="{9D8B030D-6E8A-4147-A177-3AD203B41FA5}">
                      <a16:colId xmlns:a16="http://schemas.microsoft.com/office/drawing/2014/main" val="3244566221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2443502741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1005660259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4211697679"/>
                    </a:ext>
                  </a:extLst>
                </a:gridCol>
                <a:gridCol w="1494013">
                  <a:extLst>
                    <a:ext uri="{9D8B030D-6E8A-4147-A177-3AD203B41FA5}">
                      <a16:colId xmlns:a16="http://schemas.microsoft.com/office/drawing/2014/main" val="2532058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38206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6D6C1A55-1724-D81D-7905-310205369F3F}"/>
              </a:ext>
            </a:extLst>
          </p:cNvPr>
          <p:cNvSpPr txBox="1"/>
          <p:nvPr/>
        </p:nvSpPr>
        <p:spPr>
          <a:xfrm>
            <a:off x="1074199" y="4118656"/>
            <a:ext cx="1571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0070C0"/>
                </a:solidFill>
              </a:rPr>
              <a:t>Prefix Sum</a:t>
            </a:r>
            <a:endParaRPr kumimoji="1"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CEEC100-27DE-B35E-849B-3988D2A81445}"/>
              </a:ext>
            </a:extLst>
          </p:cNvPr>
          <p:cNvSpPr txBox="1"/>
          <p:nvPr/>
        </p:nvSpPr>
        <p:spPr>
          <a:xfrm>
            <a:off x="3275857" y="2062799"/>
            <a:ext cx="102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START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39B46E1-EA38-B45B-4B8C-930FFBFB51CA}"/>
              </a:ext>
            </a:extLst>
          </p:cNvPr>
          <p:cNvSpPr txBox="1"/>
          <p:nvPr/>
        </p:nvSpPr>
        <p:spPr>
          <a:xfrm>
            <a:off x="9260886" y="2062799"/>
            <a:ext cx="102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END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67A9BF-A364-AC27-1961-9B6BCF2C812F}"/>
              </a:ext>
            </a:extLst>
          </p:cNvPr>
          <p:cNvSpPr txBox="1"/>
          <p:nvPr/>
        </p:nvSpPr>
        <p:spPr>
          <a:xfrm>
            <a:off x="3019887" y="6385023"/>
            <a:ext cx="6152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Leetcode</a:t>
            </a:r>
            <a:r>
              <a:rPr kumimoji="1" lang="en-US" altLang="zh-TW" sz="1400" dirty="0"/>
              <a:t> list for Prefix Sum: https://</a:t>
            </a:r>
            <a:r>
              <a:rPr kumimoji="1" lang="en-US" altLang="zh-TW" sz="1400" dirty="0" err="1"/>
              <a:t>leetcode.com</a:t>
            </a:r>
            <a:r>
              <a:rPr kumimoji="1" lang="en-US" altLang="zh-TW" sz="1400" dirty="0"/>
              <a:t>/problem-list/prefix-sum/</a:t>
            </a:r>
            <a:endParaRPr kumimoji="1" lang="zh-TW" altLang="en-US" sz="1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E50560-E12A-616C-3CF4-9DBDB17C982B}"/>
              </a:ext>
            </a:extLst>
          </p:cNvPr>
          <p:cNvSpPr txBox="1"/>
          <p:nvPr/>
        </p:nvSpPr>
        <p:spPr>
          <a:xfrm>
            <a:off x="4205055" y="5216666"/>
            <a:ext cx="378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好處：不用每次都從頭加到尾</a:t>
            </a:r>
          </a:p>
        </p:txBody>
      </p:sp>
    </p:spTree>
    <p:extLst>
      <p:ext uri="{BB962C8B-B14F-4D97-AF65-F5344CB8AC3E}">
        <p14:creationId xmlns:p14="http://schemas.microsoft.com/office/powerpoint/2010/main" val="351820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4BAA81-C6EB-E645-DEE8-B0217D35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Mamba</a:t>
            </a:r>
            <a:r>
              <a:rPr kumimoji="1" lang="zh-TW" altLang="en-US" dirty="0"/>
              <a:t> 使用的 </a:t>
            </a:r>
            <a:r>
              <a:rPr kumimoji="1" lang="en-US" altLang="zh-TW" dirty="0"/>
              <a:t>Parallel Scan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851C9D-F847-054A-5706-DB065FE7A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4410"/>
          </a:xfrm>
        </p:spPr>
        <p:txBody>
          <a:bodyPr>
            <a:normAutofit/>
          </a:bodyPr>
          <a:lstStyle/>
          <a:p>
            <a:r>
              <a:rPr kumimoji="1" lang="zh-TW" altLang="en-US" sz="2400" dirty="0"/>
              <a:t>核心概念：結合律 </a:t>
            </a:r>
            <a:r>
              <a:rPr kumimoji="1" lang="en-US" altLang="zh-TW" sz="2400" dirty="0"/>
              <a:t>A*B*C*D = (A*B)*(C*D)</a:t>
            </a:r>
            <a:endParaRPr kumimoji="1"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57B0D9-F04D-15A3-FA4D-F9048007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36</a:t>
            </a:fld>
            <a:endParaRPr kumimoji="1" lang="zh-TW" altLang="en-US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7F12A96-75A4-1571-7A20-11F266901D4C}"/>
              </a:ext>
            </a:extLst>
          </p:cNvPr>
          <p:cNvGrpSpPr/>
          <p:nvPr/>
        </p:nvGrpSpPr>
        <p:grpSpPr>
          <a:xfrm>
            <a:off x="1139952" y="2993817"/>
            <a:ext cx="6798076" cy="1439103"/>
            <a:chOff x="1139952" y="2993817"/>
            <a:chExt cx="6798076" cy="14391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99BC7D78-DCEF-5436-FBED-506BE3291DD1}"/>
                    </a:ext>
                  </a:extLst>
                </p:cNvPr>
                <p:cNvSpPr txBox="1"/>
                <p:nvPr/>
              </p:nvSpPr>
              <p:spPr>
                <a:xfrm>
                  <a:off x="1139952" y="2993817"/>
                  <a:ext cx="6094520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TW" alt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TW" alt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99BC7D78-DCEF-5436-FBED-506BE3291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952" y="2993817"/>
                  <a:ext cx="6094520" cy="369909"/>
                </a:xfrm>
                <a:prstGeom prst="rect">
                  <a:avLst/>
                </a:prstGeom>
                <a:blipFill>
                  <a:blip r:embed="rId2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F8A594D1-EC2F-A37D-63AC-83E9030D228E}"/>
                    </a:ext>
                  </a:extLst>
                </p:cNvPr>
                <p:cNvSpPr txBox="1"/>
                <p:nvPr/>
              </p:nvSpPr>
              <p:spPr>
                <a:xfrm>
                  <a:off x="1139952" y="3535286"/>
                  <a:ext cx="5546325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TW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TW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TW" altLang="en-US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TW" alt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TW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TW" altLang="en-US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F8A594D1-EC2F-A37D-63AC-83E9030D2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952" y="3535286"/>
                  <a:ext cx="5546325" cy="369909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B94EAF92-5FC4-D48E-2600-E69DA22B800F}"/>
                    </a:ext>
                  </a:extLst>
                </p:cNvPr>
                <p:cNvSpPr txBox="1"/>
                <p:nvPr/>
              </p:nvSpPr>
              <p:spPr>
                <a:xfrm>
                  <a:off x="1139952" y="4063011"/>
                  <a:ext cx="6798076" cy="3699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TW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TW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TW" alt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TW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zh-TW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TW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TW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TW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B94EAF92-5FC4-D48E-2600-E69DA22B8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952" y="4063011"/>
                  <a:ext cx="6798076" cy="369909"/>
                </a:xfrm>
                <a:prstGeom prst="rect">
                  <a:avLst/>
                </a:prstGeom>
                <a:blipFill>
                  <a:blip r:embed="rId4"/>
                  <a:stretch>
                    <a:fillRect b="-206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FC3F829A-9A7F-3CFC-3055-F57E46CDDCCD}"/>
              </a:ext>
            </a:extLst>
          </p:cNvPr>
          <p:cNvSpPr/>
          <p:nvPr/>
        </p:nvSpPr>
        <p:spPr>
          <a:xfrm>
            <a:off x="4736592" y="3535286"/>
            <a:ext cx="772668" cy="3699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09AB7D-4776-43F4-5563-77C7E154F250}"/>
              </a:ext>
            </a:extLst>
          </p:cNvPr>
          <p:cNvSpPr/>
          <p:nvPr/>
        </p:nvSpPr>
        <p:spPr>
          <a:xfrm>
            <a:off x="4736592" y="4054703"/>
            <a:ext cx="1051560" cy="3699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D859CD-6590-6B83-36D7-0C45D85B1A14}"/>
              </a:ext>
            </a:extLst>
          </p:cNvPr>
          <p:cNvSpPr/>
          <p:nvPr/>
        </p:nvSpPr>
        <p:spPr>
          <a:xfrm>
            <a:off x="5716006" y="3530005"/>
            <a:ext cx="502920" cy="36990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63270B-A1D9-F4A0-8F4B-E26F197C2F17}"/>
              </a:ext>
            </a:extLst>
          </p:cNvPr>
          <p:cNvSpPr/>
          <p:nvPr/>
        </p:nvSpPr>
        <p:spPr>
          <a:xfrm>
            <a:off x="5987054" y="4054703"/>
            <a:ext cx="786608" cy="36990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20DA45D-8A26-2736-7EC4-9EA99E126DEA}"/>
              </a:ext>
            </a:extLst>
          </p:cNvPr>
          <p:cNvSpPr txBox="1"/>
          <p:nvPr/>
        </p:nvSpPr>
        <p:spPr>
          <a:xfrm>
            <a:off x="4738633" y="2254800"/>
            <a:ext cx="275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A*B </a:t>
            </a:r>
            <a:r>
              <a:rPr kumimoji="1" lang="zh-TW" altLang="en-US" dirty="0">
                <a:solidFill>
                  <a:srgbClr val="FF0000"/>
                </a:solidFill>
              </a:rPr>
              <a:t>和</a:t>
            </a:r>
            <a:r>
              <a:rPr kumimoji="1" lang="en-US" altLang="zh-TW" dirty="0">
                <a:solidFill>
                  <a:srgbClr val="FF0000"/>
                </a:solidFill>
              </a:rPr>
              <a:t> C*D </a:t>
            </a:r>
            <a:r>
              <a:rPr kumimoji="1" lang="zh-TW" altLang="en-US" dirty="0">
                <a:solidFill>
                  <a:srgbClr val="FF0000"/>
                </a:solidFill>
              </a:rPr>
              <a:t>同時進行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9481026-FFCB-6F62-333D-772546DDD5C6}"/>
              </a:ext>
            </a:extLst>
          </p:cNvPr>
          <p:cNvCxnSpPr>
            <a:cxnSpLocks/>
          </p:cNvCxnSpPr>
          <p:nvPr/>
        </p:nvCxnSpPr>
        <p:spPr>
          <a:xfrm>
            <a:off x="4995931" y="2217830"/>
            <a:ext cx="7370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D26DF35-5F06-10CE-3E8C-9875201E7948}"/>
              </a:ext>
            </a:extLst>
          </p:cNvPr>
          <p:cNvSpPr/>
          <p:nvPr/>
        </p:nvSpPr>
        <p:spPr>
          <a:xfrm>
            <a:off x="2742941" y="2993816"/>
            <a:ext cx="521467" cy="3699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FB280AFE-A9C3-C494-2486-5B2B991B718F}"/>
                  </a:ext>
                </a:extLst>
              </p:cNvPr>
              <p:cNvSpPr/>
              <p:nvPr/>
            </p:nvSpPr>
            <p:spPr>
              <a:xfrm>
                <a:off x="10534450" y="4688228"/>
                <a:ext cx="520172" cy="49377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FB280AFE-A9C3-C494-2486-5B2B991B7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450" y="4688228"/>
                <a:ext cx="520172" cy="49377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15C7F7B0-5143-22E6-0D88-4F23628CC83E}"/>
                  </a:ext>
                </a:extLst>
              </p:cNvPr>
              <p:cNvSpPr/>
              <p:nvPr/>
            </p:nvSpPr>
            <p:spPr>
              <a:xfrm>
                <a:off x="9745825" y="4694696"/>
                <a:ext cx="520172" cy="49377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15C7F7B0-5143-22E6-0D88-4F23628CC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5825" y="4694696"/>
                <a:ext cx="520172" cy="49377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9AD10CC-112D-8D1A-2604-031AF52709AC}"/>
                  </a:ext>
                </a:extLst>
              </p:cNvPr>
              <p:cNvSpPr/>
              <p:nvPr/>
            </p:nvSpPr>
            <p:spPr>
              <a:xfrm>
                <a:off x="8238853" y="4694578"/>
                <a:ext cx="520172" cy="49377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9AD10CC-112D-8D1A-2604-031AF5270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853" y="4694578"/>
                <a:ext cx="520172" cy="49377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B08FC827-ED06-4249-F742-2D8EAC938F69}"/>
                  </a:ext>
                </a:extLst>
              </p:cNvPr>
              <p:cNvSpPr/>
              <p:nvPr/>
            </p:nvSpPr>
            <p:spPr>
              <a:xfrm>
                <a:off x="9007955" y="4694578"/>
                <a:ext cx="520172" cy="49377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B08FC827-ED06-4249-F742-2D8EAC938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955" y="4694578"/>
                <a:ext cx="520172" cy="49377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肘形接點 23">
            <a:extLst>
              <a:ext uri="{FF2B5EF4-FFF2-40B4-BE49-F238E27FC236}">
                <a16:creationId xmlns:a16="http://schemas.microsoft.com/office/drawing/2014/main" id="{6F30EDB8-AEFC-1548-292A-7EFA4FBA0AF2}"/>
              </a:ext>
            </a:extLst>
          </p:cNvPr>
          <p:cNvCxnSpPr>
            <a:stCxn id="19" idx="0"/>
            <a:endCxn id="20" idx="0"/>
          </p:cNvCxnSpPr>
          <p:nvPr/>
        </p:nvCxnSpPr>
        <p:spPr>
          <a:xfrm rot="16200000" flipH="1" flipV="1">
            <a:off x="10396990" y="4297149"/>
            <a:ext cx="6468" cy="788625"/>
          </a:xfrm>
          <a:prstGeom prst="bentConnector3">
            <a:avLst>
              <a:gd name="adj1" fmla="val -353432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接點 24">
            <a:extLst>
              <a:ext uri="{FF2B5EF4-FFF2-40B4-BE49-F238E27FC236}">
                <a16:creationId xmlns:a16="http://schemas.microsoft.com/office/drawing/2014/main" id="{3D9AF4E9-1F4F-34D5-3F2C-68CA61E8D17D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>
          <a:xfrm rot="5400000" flipH="1" flipV="1">
            <a:off x="8883490" y="4310027"/>
            <a:ext cx="12700" cy="769102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8AF9D251-EE42-6D8A-05F8-F06C3DE404A3}"/>
                  </a:ext>
                </a:extLst>
              </p:cNvPr>
              <p:cNvSpPr/>
              <p:nvPr/>
            </p:nvSpPr>
            <p:spPr>
              <a:xfrm>
                <a:off x="9981890" y="3873772"/>
                <a:ext cx="786608" cy="49377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8AF9D251-EE42-6D8A-05F8-F06C3DE404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1890" y="3873772"/>
                <a:ext cx="786608" cy="49377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圓角矩形 28">
                <a:extLst>
                  <a:ext uri="{FF2B5EF4-FFF2-40B4-BE49-F238E27FC236}">
                    <a16:creationId xmlns:a16="http://schemas.microsoft.com/office/drawing/2014/main" id="{131FFBB4-242E-71BC-B72D-87A4C6EB4BBC}"/>
                  </a:ext>
                </a:extLst>
              </p:cNvPr>
              <p:cNvSpPr/>
              <p:nvPr/>
            </p:nvSpPr>
            <p:spPr>
              <a:xfrm>
                <a:off x="8505289" y="3873773"/>
                <a:ext cx="786608" cy="49377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9" name="圓角矩形 28">
                <a:extLst>
                  <a:ext uri="{FF2B5EF4-FFF2-40B4-BE49-F238E27FC236}">
                    <a16:creationId xmlns:a16="http://schemas.microsoft.com/office/drawing/2014/main" id="{131FFBB4-242E-71BC-B72D-87A4C6EB4B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5289" y="3873773"/>
                <a:ext cx="786608" cy="49377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肘形接點 29">
            <a:extLst>
              <a:ext uri="{FF2B5EF4-FFF2-40B4-BE49-F238E27FC236}">
                <a16:creationId xmlns:a16="http://schemas.microsoft.com/office/drawing/2014/main" id="{4FE2206C-4DD4-D09A-71A6-9EB68D1F6A2B}"/>
              </a:ext>
            </a:extLst>
          </p:cNvPr>
          <p:cNvCxnSpPr>
            <a:cxnSpLocks/>
            <a:stCxn id="28" idx="0"/>
            <a:endCxn id="29" idx="0"/>
          </p:cNvCxnSpPr>
          <p:nvPr/>
        </p:nvCxnSpPr>
        <p:spPr>
          <a:xfrm rot="16200000" flipH="1" flipV="1">
            <a:off x="9636893" y="3135471"/>
            <a:ext cx="1" cy="1476601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49FDE74B-DC8A-1454-1652-5C18AD5F944C}"/>
                  </a:ext>
                </a:extLst>
              </p:cNvPr>
              <p:cNvSpPr/>
              <p:nvPr/>
            </p:nvSpPr>
            <p:spPr>
              <a:xfrm>
                <a:off x="8986599" y="3000166"/>
                <a:ext cx="1300587" cy="49377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49FDE74B-DC8A-1454-1652-5C18AD5F94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6599" y="3000166"/>
                <a:ext cx="1300587" cy="493776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A2E01ADE-2525-1018-C340-DEFE019D5A52}"/>
              </a:ext>
            </a:extLst>
          </p:cNvPr>
          <p:cNvSpPr txBox="1"/>
          <p:nvPr/>
        </p:nvSpPr>
        <p:spPr>
          <a:xfrm>
            <a:off x="8193103" y="5572135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Original: 3 steps</a:t>
            </a:r>
          </a:p>
          <a:p>
            <a:r>
              <a:rPr kumimoji="1" lang="en" altLang="zh-TW" dirty="0">
                <a:solidFill>
                  <a:srgbClr val="FF0000"/>
                </a:solidFill>
              </a:rPr>
              <a:t>Parallel Scan: 2 steps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99F1FFE0-D787-9386-AD1D-CD02259EB72E}"/>
              </a:ext>
            </a:extLst>
          </p:cNvPr>
          <p:cNvCxnSpPr>
            <a:cxnSpLocks/>
          </p:cNvCxnSpPr>
          <p:nvPr/>
        </p:nvCxnSpPr>
        <p:spPr>
          <a:xfrm>
            <a:off x="5879591" y="2217830"/>
            <a:ext cx="7370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68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 animBg="1"/>
      <p:bldP spid="11" grpId="0" animBg="1"/>
      <p:bldP spid="12" grpId="0" animBg="1"/>
      <p:bldP spid="13" grpId="0"/>
      <p:bldP spid="18" grpId="0" animBg="1"/>
      <p:bldP spid="19" grpId="0" animBg="1"/>
      <p:bldP spid="20" grpId="0" animBg="1"/>
      <p:bldP spid="21" grpId="0" animBg="1"/>
      <p:bldP spid="22" grpId="0" animBg="1"/>
      <p:bldP spid="28" grpId="0" animBg="1"/>
      <p:bldP spid="29" grpId="0" animBg="1"/>
      <p:bldP spid="35" grpId="0" animBg="1"/>
      <p:bldP spid="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BDA3B6-C18F-B4A3-B4D8-7862CBD3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SRAM vs. HBM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E50F9C-2F21-4C14-F3AE-7B7F21D4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37</a:t>
            </a:fld>
            <a:endParaRPr kumimoji="1" lang="zh-TW" altLang="en-US"/>
          </a:p>
        </p:txBody>
      </p:sp>
      <p:pic>
        <p:nvPicPr>
          <p:cNvPr id="1026" name="Picture 2" descr="GPU Compute Model">
            <a:extLst>
              <a:ext uri="{FF2B5EF4-FFF2-40B4-BE49-F238E27FC236}">
                <a16:creationId xmlns:a16="http://schemas.microsoft.com/office/drawing/2014/main" id="{B912A31B-76A7-C960-4C73-9F789C97F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420" y="2991065"/>
            <a:ext cx="9223158" cy="286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FF344CA-C46E-D674-FCCD-A6C6035CAEFD}"/>
              </a:ext>
            </a:extLst>
          </p:cNvPr>
          <p:cNvSpPr txBox="1"/>
          <p:nvPr/>
        </p:nvSpPr>
        <p:spPr>
          <a:xfrm>
            <a:off x="2594149" y="6231135"/>
            <a:ext cx="7003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www.digitalocean.com</a:t>
            </a:r>
            <a:r>
              <a:rPr kumimoji="1" lang="en" altLang="zh-TW" sz="1400" dirty="0"/>
              <a:t>/community/tutorials/</a:t>
            </a:r>
            <a:r>
              <a:rPr kumimoji="1" lang="en" altLang="zh-TW" sz="1400" dirty="0" err="1"/>
              <a:t>flashattention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EE6EF-C6A7-58DE-B7B8-197E3A6D386A}"/>
              </a:ext>
            </a:extLst>
          </p:cNvPr>
          <p:cNvSpPr txBox="1"/>
          <p:nvPr/>
        </p:nvSpPr>
        <p:spPr>
          <a:xfrm>
            <a:off x="838200" y="1690688"/>
            <a:ext cx="7160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SRAM: Static Random-Access Memory (</a:t>
            </a:r>
            <a:r>
              <a:rPr kumimoji="1" lang="zh-TW" altLang="en-US" dirty="0">
                <a:ea typeface="Microsoft JhengHei" panose="020B0604030504040204" pitchFamily="34" charset="-120"/>
              </a:rPr>
              <a:t>靜態隨機存取記憶體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HBM: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High Bandwidth Memory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高頻寬記憶體 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DRAM: Dynamic Random-Access Memory (</a:t>
            </a:r>
            <a:r>
              <a:rPr kumimoji="1" lang="zh-TW" altLang="en-US" dirty="0">
                <a:ea typeface="Microsoft JhengHei" panose="020B0604030504040204" pitchFamily="34" charset="-120"/>
              </a:rPr>
              <a:t>動態隨機存取記憶體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7" name="手動操作 6">
            <a:extLst>
              <a:ext uri="{FF2B5EF4-FFF2-40B4-BE49-F238E27FC236}">
                <a16:creationId xmlns:a16="http://schemas.microsoft.com/office/drawing/2014/main" id="{8BA7012F-80C4-3813-31A9-88FF9163AD36}"/>
              </a:ext>
            </a:extLst>
          </p:cNvPr>
          <p:cNvSpPr/>
          <p:nvPr/>
        </p:nvSpPr>
        <p:spPr>
          <a:xfrm flipH="1" flipV="1">
            <a:off x="7159452" y="4644794"/>
            <a:ext cx="2165419" cy="68328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224A07-4695-6359-C5EC-58FA137EECF3}"/>
              </a:ext>
            </a:extLst>
          </p:cNvPr>
          <p:cNvSpPr txBox="1"/>
          <p:nvPr/>
        </p:nvSpPr>
        <p:spPr>
          <a:xfrm>
            <a:off x="7418727" y="4708551"/>
            <a:ext cx="1728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bg1"/>
                </a:solidFill>
              </a:rPr>
              <a:t>Main Memory</a:t>
            </a:r>
          </a:p>
          <a:p>
            <a:pPr algn="ctr"/>
            <a:r>
              <a:rPr kumimoji="1" lang="en-US" altLang="zh-TW" sz="1600" dirty="0">
                <a:solidFill>
                  <a:schemeClr val="bg1"/>
                </a:solidFill>
              </a:rPr>
              <a:t>CPU DRAM</a:t>
            </a:r>
            <a:endParaRPr kumimoji="1" lang="zh-TW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7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D5367-59C1-9535-A730-81463BD0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硬體加速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C5853F-FDD1-553E-295F-B4A3A407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38</a:t>
            </a:fld>
            <a:endParaRPr kumimoji="1" lang="zh-TW" alt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64C211B-3E45-B7F7-D46F-FF48DDF07B67}"/>
              </a:ext>
            </a:extLst>
          </p:cNvPr>
          <p:cNvSpPr/>
          <p:nvPr/>
        </p:nvSpPr>
        <p:spPr>
          <a:xfrm>
            <a:off x="1405647" y="1898011"/>
            <a:ext cx="9380706" cy="108169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2800" dirty="0"/>
              <a:t>Step 1:</a:t>
            </a:r>
            <a:r>
              <a:rPr kumimoji="1" lang="zh-TW" altLang="en-US" sz="2800" dirty="0"/>
              <a:t>輸入</a:t>
            </a:r>
            <a:r>
              <a:rPr kumimoji="1" lang="en-US" altLang="zh-TW" sz="2800" dirty="0"/>
              <a:t> tensors </a:t>
            </a:r>
            <a:r>
              <a:rPr kumimoji="1" lang="zh-TW" altLang="en-US" sz="2800" dirty="0"/>
              <a:t>在主記憶體，先搬至 </a:t>
            </a:r>
            <a:r>
              <a:rPr kumimoji="1" lang="en-US" altLang="zh-TW" sz="2800" dirty="0"/>
              <a:t>HBM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E920F6C0-0C4E-CF1A-B109-1502A7795CD9}"/>
              </a:ext>
            </a:extLst>
          </p:cNvPr>
          <p:cNvSpPr/>
          <p:nvPr/>
        </p:nvSpPr>
        <p:spPr>
          <a:xfrm>
            <a:off x="1405647" y="3379996"/>
            <a:ext cx="9380706" cy="10816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2800" dirty="0">
                <a:solidFill>
                  <a:schemeClr val="tx1"/>
                </a:solidFill>
              </a:rPr>
              <a:t>Step 2:</a:t>
            </a:r>
            <a:r>
              <a:rPr kumimoji="1" lang="zh-TW" altLang="en-US" sz="2800" dirty="0">
                <a:solidFill>
                  <a:schemeClr val="tx1"/>
                </a:solidFill>
              </a:rPr>
              <a:t>計算前將 </a:t>
            </a:r>
            <a:r>
              <a:rPr kumimoji="1" lang="en" altLang="zh-TW" sz="2800" dirty="0">
                <a:solidFill>
                  <a:schemeClr val="tx1"/>
                </a:solidFill>
              </a:rPr>
              <a:t>tensors </a:t>
            </a:r>
            <a:r>
              <a:rPr kumimoji="1" lang="zh-TW" altLang="en-US" sz="2800" dirty="0">
                <a:solidFill>
                  <a:schemeClr val="tx1"/>
                </a:solidFill>
              </a:rPr>
              <a:t>移至 </a:t>
            </a:r>
            <a:r>
              <a:rPr kumimoji="1" lang="en" altLang="zh-TW" sz="2800" dirty="0">
                <a:solidFill>
                  <a:schemeClr val="tx1"/>
                </a:solidFill>
              </a:rPr>
              <a:t>SRAM</a:t>
            </a:r>
            <a:r>
              <a:rPr kumimoji="1" lang="zh-TW" altLang="en" sz="2800" dirty="0">
                <a:solidFill>
                  <a:schemeClr val="tx1"/>
                </a:solidFill>
              </a:rPr>
              <a:t>，</a:t>
            </a:r>
            <a:r>
              <a:rPr kumimoji="1" lang="zh-TW" altLang="en-US" sz="2800" dirty="0">
                <a:solidFill>
                  <a:schemeClr val="tx1"/>
                </a:solidFill>
              </a:rPr>
              <a:t>進行離散化、遞迴</a:t>
            </a:r>
            <a:endParaRPr kumimoji="1" lang="en-US" altLang="zh-TW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圓角矩形 6">
                <a:extLst>
                  <a:ext uri="{FF2B5EF4-FFF2-40B4-BE49-F238E27FC236}">
                    <a16:creationId xmlns:a16="http://schemas.microsoft.com/office/drawing/2014/main" id="{2AC3E6D2-19C5-962F-14E9-FD771183333B}"/>
                  </a:ext>
                </a:extLst>
              </p:cNvPr>
              <p:cNvSpPr/>
              <p:nvPr/>
            </p:nvSpPr>
            <p:spPr>
              <a:xfrm>
                <a:off x="1405647" y="4900113"/>
                <a:ext cx="9380706" cy="1081695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TW" sz="2800" dirty="0"/>
                  <a:t>Step 3:</a:t>
                </a:r>
                <a:r>
                  <a:rPr kumimoji="1" lang="zh-TW" altLang="en-US" sz="2800" dirty="0"/>
                  <a:t>輸出再移至 </a:t>
                </a:r>
                <a:r>
                  <a:rPr kumimoji="1" lang="en-US" altLang="zh-TW" sz="2800" dirty="0"/>
                  <a:t>HBM </a:t>
                </a:r>
                <a:r>
                  <a:rPr kumimoji="1" lang="zh-TW" altLang="en-US" sz="2800" dirty="0"/>
                  <a:t>進行計算</a:t>
                </a:r>
                <a:r>
                  <a:rPr kumimoji="1" lang="en-US" altLang="zh-TW" sz="28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kumimoji="1" lang="en-US" altLang="zh-TW" sz="2800" dirty="0"/>
                  <a:t>)</a:t>
                </a:r>
                <a:endParaRPr kumimoji="1" lang="zh-TW" altLang="en-US" sz="2800" dirty="0"/>
              </a:p>
            </p:txBody>
          </p:sp>
        </mc:Choice>
        <mc:Fallback xmlns="">
          <p:sp>
            <p:nvSpPr>
              <p:cNvPr id="7" name="圓角矩形 6">
                <a:extLst>
                  <a:ext uri="{FF2B5EF4-FFF2-40B4-BE49-F238E27FC236}">
                    <a16:creationId xmlns:a16="http://schemas.microsoft.com/office/drawing/2014/main" id="{2AC3E6D2-19C5-962F-14E9-FD7711833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647" y="4900113"/>
                <a:ext cx="9380706" cy="1081695"/>
              </a:xfrm>
              <a:prstGeom prst="roundRect">
                <a:avLst/>
              </a:prstGeom>
              <a:blipFill>
                <a:blip r:embed="rId2"/>
                <a:stretch>
                  <a:fillRect l="-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522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153813-C424-164E-F06B-470D49BE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Mamba</a:t>
            </a:r>
            <a:r>
              <a:rPr kumimoji="1" lang="zh-TW" altLang="en-US" dirty="0"/>
              <a:t> </a:t>
            </a:r>
            <a:r>
              <a:rPr kumimoji="1" lang="en-US" altLang="zh-TW"/>
              <a:t>Overview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275503-436E-9126-58FB-94DBAB7C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39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8025BE3-F837-C205-077C-4DD4B3BE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011" y="2292292"/>
            <a:ext cx="9737978" cy="363055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E7A08A0-9376-8ADC-ACF0-375F16A8A19A}"/>
              </a:ext>
            </a:extLst>
          </p:cNvPr>
          <p:cNvSpPr txBox="1"/>
          <p:nvPr/>
        </p:nvSpPr>
        <p:spPr>
          <a:xfrm>
            <a:off x="3426781" y="4554244"/>
            <a:ext cx="104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Input Gate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CF9B43-2A6E-B074-D7AA-4C7DFD67B17E}"/>
              </a:ext>
            </a:extLst>
          </p:cNvPr>
          <p:cNvSpPr txBox="1"/>
          <p:nvPr/>
        </p:nvSpPr>
        <p:spPr>
          <a:xfrm>
            <a:off x="6024979" y="2802644"/>
            <a:ext cx="104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Forget Gate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80879BC-6F26-6F3B-536F-B805815CB558}"/>
              </a:ext>
            </a:extLst>
          </p:cNvPr>
          <p:cNvSpPr txBox="1"/>
          <p:nvPr/>
        </p:nvSpPr>
        <p:spPr>
          <a:xfrm>
            <a:off x="7624439" y="4554244"/>
            <a:ext cx="104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Output Gate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62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FC1E40-9294-38D9-646F-EFDAD86B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</a:t>
            </a:r>
            <a:r>
              <a:rPr kumimoji="1" lang="zh-TW" altLang="en-US" dirty="0"/>
              <a:t> </a:t>
            </a:r>
            <a:r>
              <a:rPr kumimoji="1" lang="en-US" altLang="zh-TW" dirty="0"/>
              <a:t>on Text Generation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FE88AC-8B36-F5D8-039A-943B7C56D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任務介紹：</a:t>
            </a:r>
            <a:r>
              <a:rPr kumimoji="1" lang="en" altLang="zh-TW" dirty="0"/>
              <a:t> https://</a:t>
            </a:r>
            <a:r>
              <a:rPr kumimoji="1" lang="en" altLang="zh-TW" dirty="0" err="1"/>
              <a:t>hackmd.io</a:t>
            </a:r>
            <a:r>
              <a:rPr kumimoji="1" lang="en" altLang="zh-TW" dirty="0"/>
              <a:t>/@mcps5601/rk9z00-HWg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903EEE-E2D9-6690-7AF9-ACD3629B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40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DF5AEB-57C9-577B-98F2-EBC70053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08" y="2778859"/>
            <a:ext cx="8916583" cy="348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83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11007-7AD1-8D5A-77C0-575F4F1D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Results: Speed comparisons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890347-3D08-8066-EF53-6117EA20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41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ACE7CE-8431-E0C8-2EE1-5DFAC7B79480}"/>
              </a:ext>
            </a:extLst>
          </p:cNvPr>
          <p:cNvSpPr txBox="1"/>
          <p:nvPr/>
        </p:nvSpPr>
        <p:spPr>
          <a:xfrm>
            <a:off x="1567380" y="6449115"/>
            <a:ext cx="905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Gu, Albert, Karan Goel, and Christopher Re. "Efficiently Modeling Long Sequences with Structured State Spaces." ICLR 2022.</a:t>
            </a:r>
            <a:endParaRPr kumimoji="1" lang="zh-TW" altLang="en-US" sz="1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5FD8E58-D271-38D0-1F41-2265FE4BB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77" y="2345375"/>
            <a:ext cx="10492444" cy="3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39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11007-7AD1-8D5A-77C0-575F4F1D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Results: Perplexity on different model scales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890347-3D08-8066-EF53-6117EA20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42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1F69DD-C8B5-4614-587E-ADE7AA019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22" y="2612900"/>
            <a:ext cx="10644755" cy="246102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9ACE7CE-8431-E0C8-2EE1-5DFAC7B79480}"/>
              </a:ext>
            </a:extLst>
          </p:cNvPr>
          <p:cNvSpPr txBox="1"/>
          <p:nvPr/>
        </p:nvSpPr>
        <p:spPr>
          <a:xfrm>
            <a:off x="1567380" y="6449115"/>
            <a:ext cx="905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Gu, Albert, Karan Goel, and Christopher Re. "Efficiently Modeling Long Sequences with Structured State Spaces." ICLR 2022.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013414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1A87F-E07D-DE07-41A1-D9814F96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Conclusion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BBFCA1-D319-A55E-2A8A-ED7A4E0B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43</a:t>
            </a:fld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B9E6545-5A6A-7830-FED0-08877F00B936}"/>
              </a:ext>
            </a:extLst>
          </p:cNvPr>
          <p:cNvSpPr txBox="1"/>
          <p:nvPr/>
        </p:nvSpPr>
        <p:spPr>
          <a:xfrm>
            <a:off x="636814" y="1867129"/>
            <a:ext cx="10918371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Mamba (S6)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藉由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selective SSM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機制，取得了與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Transformer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架構相當的準確性，但速度更快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Mamba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無法像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S4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那樣透過全域卷積來平行化，但其外加了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parallel scan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，搭配</a:t>
            </a:r>
            <a:r>
              <a:rPr kumimoji="1" lang="zh-TW" altLang="en-US" sz="24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於 </a:t>
            </a:r>
            <a:r>
              <a:rPr kumimoji="1" lang="en-US" altLang="zh-TW" sz="24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SRAM</a:t>
            </a:r>
            <a:r>
              <a:rPr kumimoji="1" lang="zh-TW" altLang="en-US" sz="2400" dirty="0">
                <a:solidFill>
                  <a:schemeClr val="accent1"/>
                </a:solidFill>
                <a:ea typeface="Microsoft JhengHei" panose="020B0604030504040204" pitchFamily="34" charset="-120"/>
              </a:rPr>
              <a:t> 中執行遞迴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的設計，降低了其計算所需的時間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39943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C08F0-9076-EDD5-0570-CE66A572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Additional Links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59FAF7-8354-07B3-6A8F-4E598374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2400" dirty="0"/>
              <a:t>https://</a:t>
            </a:r>
            <a:r>
              <a:rPr kumimoji="1" lang="en" altLang="zh-TW" sz="2400" dirty="0" err="1"/>
              <a:t>huggingface.co</a:t>
            </a:r>
            <a:r>
              <a:rPr kumimoji="1" lang="en" altLang="zh-TW" sz="2400" dirty="0"/>
              <a:t>/blog/</a:t>
            </a:r>
            <a:r>
              <a:rPr kumimoji="1" lang="en" altLang="zh-TW" sz="2400" dirty="0" err="1"/>
              <a:t>lbourdois</a:t>
            </a:r>
            <a:r>
              <a:rPr kumimoji="1" lang="en" altLang="zh-TW" sz="2400" dirty="0"/>
              <a:t>/get-on-the-</a:t>
            </a:r>
            <a:r>
              <a:rPr kumimoji="1" lang="en" altLang="zh-TW" sz="2400" dirty="0" err="1"/>
              <a:t>ssm</a:t>
            </a:r>
            <a:r>
              <a:rPr kumimoji="1" lang="en" altLang="zh-TW" sz="2400" dirty="0"/>
              <a:t>-train</a:t>
            </a:r>
          </a:p>
          <a:p>
            <a:pPr>
              <a:lnSpc>
                <a:spcPct val="150000"/>
              </a:lnSpc>
            </a:pPr>
            <a:r>
              <a:rPr kumimoji="1" lang="en" altLang="zh-TW" sz="2400" dirty="0"/>
              <a:t>SSM by Albert Gu</a:t>
            </a:r>
          </a:p>
          <a:p>
            <a:pPr lvl="1">
              <a:lnSpc>
                <a:spcPct val="150000"/>
              </a:lnSpc>
            </a:pPr>
            <a:r>
              <a:rPr kumimoji="1" lang="en" altLang="zh-TW" sz="2000" dirty="0"/>
              <a:t>https://</a:t>
            </a:r>
            <a:r>
              <a:rPr kumimoji="1" lang="en" altLang="zh-TW" sz="2000" dirty="0" err="1"/>
              <a:t>youtu.be</a:t>
            </a:r>
            <a:r>
              <a:rPr kumimoji="1" lang="en" altLang="zh-TW" sz="2000" dirty="0"/>
              <a:t>/OpJMn8T7Z34?si=uD69Lz8Kn142mdrU</a:t>
            </a:r>
          </a:p>
          <a:p>
            <a:pPr>
              <a:lnSpc>
                <a:spcPct val="150000"/>
              </a:lnSpc>
            </a:pPr>
            <a:r>
              <a:rPr kumimoji="1" lang="en" altLang="zh-TW" sz="2400" dirty="0"/>
              <a:t>Euler's Method Differential Equations</a:t>
            </a:r>
          </a:p>
          <a:p>
            <a:pPr lvl="1">
              <a:lnSpc>
                <a:spcPct val="150000"/>
              </a:lnSpc>
            </a:pPr>
            <a:r>
              <a:rPr kumimoji="1" lang="en" altLang="zh-TW" sz="2000" dirty="0"/>
              <a:t>https://</a:t>
            </a:r>
            <a:r>
              <a:rPr kumimoji="1" lang="en" altLang="zh-TW" sz="2000" dirty="0" err="1"/>
              <a:t>youtu.be</a:t>
            </a:r>
            <a:r>
              <a:rPr kumimoji="1" lang="en" altLang="zh-TW" sz="2000" dirty="0"/>
              <a:t>/ukNbG7muKho?si=HTn56tZZ2eqfMRap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5EDB6C-2757-CA1E-6BE9-54FAFC80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A663C-29FB-B446-9D4A-786EE0F24874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5899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4686783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5598</TotalTime>
  <Words>2591</Words>
  <Application>Microsoft Macintosh PowerPoint</Application>
  <PresentationFormat>寬螢幕</PresentationFormat>
  <Paragraphs>512</Paragraphs>
  <Slides>45</Slides>
  <Notes>12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1" baseType="lpstr">
      <vt:lpstr>Microsoft JhengHei</vt:lpstr>
      <vt:lpstr>Aptos</vt:lpstr>
      <vt:lpstr>Arial</vt:lpstr>
      <vt:lpstr>Calibri</vt:lpstr>
      <vt:lpstr>Cambria Math</vt:lpstr>
      <vt:lpstr>回顧</vt:lpstr>
      <vt:lpstr>自然語言處理與應用 Natural Language Processing and Applications</vt:lpstr>
      <vt:lpstr>Announcement</vt:lpstr>
      <vt:lpstr>Final Project 各個階段分數佔比</vt:lpstr>
      <vt:lpstr>Checkpoint 3 (for W15 / W16 oral)</vt:lpstr>
      <vt:lpstr>Checkpoint 3 (for W15 / W16 oral)</vt:lpstr>
      <vt:lpstr>Week 15 / Week 16 之前要繳交什麼？</vt:lpstr>
      <vt:lpstr>Checkpoint 4 Deadline</vt:lpstr>
      <vt:lpstr>Outline</vt:lpstr>
      <vt:lpstr>Problems of Transformer</vt:lpstr>
      <vt:lpstr>[Recap] Self-Attention (Transformer) 過程</vt:lpstr>
      <vt:lpstr>[Recap] Self-Attention (Transformer) 過程</vt:lpstr>
      <vt:lpstr>Problems of Transformer</vt:lpstr>
      <vt:lpstr>[Recap] 為什麼 Transformers 可以平行化？</vt:lpstr>
      <vt:lpstr>Transformer 計算量為 O(L2)</vt:lpstr>
      <vt:lpstr>Linear-Time Sequence Modeling with Selective State Spaces</vt:lpstr>
      <vt:lpstr>Terminology</vt:lpstr>
      <vt:lpstr>什麼是 State Space Models (SSM)? (0)</vt:lpstr>
      <vt:lpstr>什麼是 State Space Models (SSM)? (1)</vt:lpstr>
      <vt:lpstr>什麼是 State Space Models (SSM)? (2)</vt:lpstr>
      <vt:lpstr>S4 中的 SSM</vt:lpstr>
      <vt:lpstr>每個維度都有一個獨立的 SSM</vt:lpstr>
      <vt:lpstr>SSM 與 S4 中的 Differential Equation</vt:lpstr>
      <vt:lpstr>Differential Equation (𝑡 以 token 為單位)</vt:lpstr>
      <vt:lpstr>離散化 (Discretization) 簡單推導</vt:lpstr>
      <vt:lpstr>SSM 的好處？全域卷積</vt:lpstr>
      <vt:lpstr>SSM 的好處？全域卷積</vt:lpstr>
      <vt:lpstr>SSM 的好處？全域卷積 (以 y_2 為例)</vt:lpstr>
      <vt:lpstr>更多卷積的想像</vt:lpstr>
      <vt:lpstr>S4 的 SSM 流程 overview</vt:lpstr>
      <vt:lpstr>S4 的 SSM 流程：維度變化</vt:lpstr>
      <vt:lpstr>S4 的問題：不同的 n 共享相同的 SSMs</vt:lpstr>
      <vt:lpstr>S4 的問題：不同的 n 共享相同的 SSMs</vt:lpstr>
      <vt:lpstr>Mamba 的解決方案：改成 n x D 組 SSMs</vt:lpstr>
      <vt:lpstr>相較於 S4，Mamba 不能用全域卷積</vt:lpstr>
      <vt:lpstr>Mamba 加速策略：Prefix Sum</vt:lpstr>
      <vt:lpstr>Mamba 使用的 Parallel Scan</vt:lpstr>
      <vt:lpstr>SRAM vs. HBM</vt:lpstr>
      <vt:lpstr>硬體加速</vt:lpstr>
      <vt:lpstr>Mamba Overview</vt:lpstr>
      <vt:lpstr>Results on Text Generation</vt:lpstr>
      <vt:lpstr>Results: Speed comparisons</vt:lpstr>
      <vt:lpstr>Results: Perplexity on different model scales</vt:lpstr>
      <vt:lpstr>Conclusion</vt:lpstr>
      <vt:lpstr>Additional Links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2012</cp:revision>
  <dcterms:created xsi:type="dcterms:W3CDTF">2025-02-07T09:05:59Z</dcterms:created>
  <dcterms:modified xsi:type="dcterms:W3CDTF">2026-05-25T04:58:18Z</dcterms:modified>
</cp:coreProperties>
</file>