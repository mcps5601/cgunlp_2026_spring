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62"/>
  </p:notesMasterIdLst>
  <p:sldIdLst>
    <p:sldId id="508" r:id="rId2"/>
    <p:sldId id="669" r:id="rId3"/>
    <p:sldId id="677" r:id="rId4"/>
    <p:sldId id="717" r:id="rId5"/>
    <p:sldId id="747" r:id="rId6"/>
    <p:sldId id="736" r:id="rId7"/>
    <p:sldId id="699" r:id="rId8"/>
    <p:sldId id="727" r:id="rId9"/>
    <p:sldId id="352" r:id="rId10"/>
    <p:sldId id="334" r:id="rId11"/>
    <p:sldId id="741" r:id="rId12"/>
    <p:sldId id="312" r:id="rId13"/>
    <p:sldId id="688" r:id="rId14"/>
    <p:sldId id="740" r:id="rId15"/>
    <p:sldId id="738" r:id="rId16"/>
    <p:sldId id="749" r:id="rId17"/>
    <p:sldId id="681" r:id="rId18"/>
    <p:sldId id="712" r:id="rId19"/>
    <p:sldId id="313" r:id="rId20"/>
    <p:sldId id="532" r:id="rId21"/>
    <p:sldId id="752" r:id="rId22"/>
    <p:sldId id="327" r:id="rId23"/>
    <p:sldId id="326" r:id="rId24"/>
    <p:sldId id="325" r:id="rId25"/>
    <p:sldId id="754" r:id="rId26"/>
    <p:sldId id="342" r:id="rId27"/>
    <p:sldId id="279" r:id="rId28"/>
    <p:sldId id="283" r:id="rId29"/>
    <p:sldId id="510" r:id="rId30"/>
    <p:sldId id="746" r:id="rId31"/>
    <p:sldId id="285" r:id="rId32"/>
    <p:sldId id="760" r:id="rId33"/>
    <p:sldId id="750" r:id="rId34"/>
    <p:sldId id="473" r:id="rId35"/>
    <p:sldId id="538" r:id="rId36"/>
    <p:sldId id="751" r:id="rId37"/>
    <p:sldId id="478" r:id="rId38"/>
    <p:sldId id="317" r:id="rId39"/>
    <p:sldId id="720" r:id="rId40"/>
    <p:sldId id="722" r:id="rId41"/>
    <p:sldId id="678" r:id="rId42"/>
    <p:sldId id="745" r:id="rId43"/>
    <p:sldId id="685" r:id="rId44"/>
    <p:sldId id="713" r:id="rId45"/>
    <p:sldId id="674" r:id="rId46"/>
    <p:sldId id="718" r:id="rId47"/>
    <p:sldId id="270" r:id="rId48"/>
    <p:sldId id="277" r:id="rId49"/>
    <p:sldId id="759" r:id="rId50"/>
    <p:sldId id="318" r:id="rId51"/>
    <p:sldId id="315" r:id="rId52"/>
    <p:sldId id="316" r:id="rId53"/>
    <p:sldId id="282" r:id="rId54"/>
    <p:sldId id="513" r:id="rId55"/>
    <p:sldId id="266" r:id="rId56"/>
    <p:sldId id="307" r:id="rId57"/>
    <p:sldId id="268" r:id="rId58"/>
    <p:sldId id="755" r:id="rId59"/>
    <p:sldId id="290" r:id="rId60"/>
    <p:sldId id="739" r:id="rId6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A0E90848-8D8D-3240-9C7D-B00833E33691}">
          <p14:sldIdLst>
            <p14:sldId id="508"/>
            <p14:sldId id="669"/>
            <p14:sldId id="677"/>
            <p14:sldId id="717"/>
            <p14:sldId id="747"/>
            <p14:sldId id="736"/>
            <p14:sldId id="699"/>
            <p14:sldId id="727"/>
            <p14:sldId id="352"/>
            <p14:sldId id="334"/>
            <p14:sldId id="741"/>
            <p14:sldId id="312"/>
            <p14:sldId id="688"/>
            <p14:sldId id="740"/>
            <p14:sldId id="738"/>
            <p14:sldId id="749"/>
            <p14:sldId id="681"/>
            <p14:sldId id="712"/>
            <p14:sldId id="313"/>
            <p14:sldId id="532"/>
            <p14:sldId id="752"/>
            <p14:sldId id="327"/>
            <p14:sldId id="326"/>
            <p14:sldId id="325"/>
            <p14:sldId id="754"/>
            <p14:sldId id="342"/>
            <p14:sldId id="279"/>
            <p14:sldId id="283"/>
            <p14:sldId id="510"/>
            <p14:sldId id="746"/>
            <p14:sldId id="285"/>
            <p14:sldId id="760"/>
            <p14:sldId id="750"/>
            <p14:sldId id="473"/>
            <p14:sldId id="538"/>
            <p14:sldId id="751"/>
            <p14:sldId id="478"/>
            <p14:sldId id="317"/>
            <p14:sldId id="720"/>
            <p14:sldId id="722"/>
            <p14:sldId id="678"/>
            <p14:sldId id="745"/>
            <p14:sldId id="685"/>
            <p14:sldId id="713"/>
            <p14:sldId id="674"/>
            <p14:sldId id="718"/>
            <p14:sldId id="270"/>
            <p14:sldId id="277"/>
            <p14:sldId id="759"/>
            <p14:sldId id="318"/>
            <p14:sldId id="315"/>
            <p14:sldId id="316"/>
            <p14:sldId id="282"/>
            <p14:sldId id="513"/>
            <p14:sldId id="266"/>
            <p14:sldId id="307"/>
            <p14:sldId id="268"/>
            <p14:sldId id="755"/>
            <p14:sldId id="290"/>
            <p14:sldId id="73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AED6"/>
    <a:srgbClr val="FF9400"/>
    <a:srgbClr val="FFCE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4"/>
    <p:restoredTop sz="94270"/>
  </p:normalViewPr>
  <p:slideViewPr>
    <p:cSldViewPr snapToGrid="0">
      <p:cViewPr varScale="1">
        <p:scale>
          <a:sx n="141" d="100"/>
          <a:sy n="141" d="100"/>
        </p:scale>
        <p:origin x="22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0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BE83B-754F-B948-8CD7-D8047F5EE2C4}" type="datetimeFigureOut">
              <a:rPr kumimoji="1" lang="zh-TW" altLang="en-US" smtClean="0"/>
              <a:t>2026/5/4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836D1C-D09F-2A41-BBEA-6549EF3DDB6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51419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39576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32275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19338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390925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A0E60-B02E-1867-1C4E-C3E4C7CCE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2326492-9516-8608-4682-691F868D1F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03DD599-6376-0A1A-C26B-D75093C449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p</a:t>
            </a:r>
            <a:r>
              <a:rPr kumimoji="1" lang="zh-TW" altLang="en-US" dirty="0"/>
              <a:t>連乘之後會變得很小</a:t>
            </a:r>
            <a:endParaRPr kumimoji="1" lang="en-US" altLang="zh-TW" dirty="0"/>
          </a:p>
          <a:p>
            <a:r>
              <a:rPr kumimoji="1" lang="zh-TW" altLang="en-US" dirty="0"/>
              <a:t>加上</a:t>
            </a:r>
            <a:r>
              <a:rPr kumimoji="1" lang="en-US" altLang="zh-TW" dirty="0"/>
              <a:t>log</a:t>
            </a:r>
            <a:r>
              <a:rPr kumimoji="1" lang="zh-TW" altLang="en-US" dirty="0"/>
              <a:t>可以轉為連加，避免連乘</a:t>
            </a:r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en-US" altLang="zh-TW" dirty="0"/>
              <a:t>log</a:t>
            </a:r>
            <a:r>
              <a:rPr kumimoji="1" lang="zh-TW" altLang="en-US" dirty="0"/>
              <a:t>是單調遞增函數</a:t>
            </a:r>
            <a:endParaRPr kumimoji="1" lang="en-US" altLang="zh-TW" dirty="0"/>
          </a:p>
          <a:p>
            <a:r>
              <a:rPr kumimoji="1" lang="zh-TW" altLang="en-US" dirty="0"/>
              <a:t>加了</a:t>
            </a:r>
            <a:r>
              <a:rPr kumimoji="1" lang="en-US" altLang="zh-TW" dirty="0"/>
              <a:t>log</a:t>
            </a:r>
            <a:r>
              <a:rPr kumimoji="1" lang="zh-TW" altLang="en-US" dirty="0"/>
              <a:t>不會使數值方向改變</a:t>
            </a:r>
            <a:endParaRPr kumimoji="1"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8FBFCCA-917C-CE79-0A78-5FF45D5A69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873753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276884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968267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242917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739684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44119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028854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526919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430471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53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518442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57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757264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59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07685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553428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143" y="1845734"/>
            <a:ext cx="10918371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7DAD89E-131D-FDCA-9260-AC4191103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2955" y="6415560"/>
            <a:ext cx="1312025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6113E31D-E2AB-40D1-8B51-AFA5AFEF393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B05C12B-E59D-D8B7-A3B4-27931CBD675F}"/>
              </a:ext>
            </a:extLst>
          </p:cNvPr>
          <p:cNvSpPr txBox="1"/>
          <p:nvPr userDrawn="1"/>
        </p:nvSpPr>
        <p:spPr>
          <a:xfrm>
            <a:off x="423038" y="6442992"/>
            <a:ext cx="557608" cy="268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kumimoji="1" lang="en-US" altLang="zh-TW" sz="1400" dirty="0">
                <a:ea typeface="Nanum Brush Script" panose="03060600000000000000" pitchFamily="66" charset="-127"/>
                <a:cs typeface="Arial" panose="020B0604020202020204" pitchFamily="34" charset="0"/>
              </a:rPr>
              <a:t>NLP</a:t>
            </a:r>
            <a:endParaRPr kumimoji="1" lang="zh-TW" altLang="en-US" sz="1400" dirty="0">
              <a:cs typeface="Arial" panose="020B0604020202020204" pitchFamily="34" charset="0"/>
            </a:endParaRPr>
          </a:p>
        </p:txBody>
      </p:sp>
      <p:pic>
        <p:nvPicPr>
          <p:cNvPr id="7" name="圖形 6" descr="聊天泡泡 外框">
            <a:extLst>
              <a:ext uri="{FF2B5EF4-FFF2-40B4-BE49-F238E27FC236}">
                <a16:creationId xmlns:a16="http://schemas.microsoft.com/office/drawing/2014/main" id="{0B067696-6EA5-0A4A-14B8-D7C17072FE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093" y="6388664"/>
            <a:ext cx="377640" cy="37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86838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911656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DAB314-DF41-49F3-8643-5960470A9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496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5/4/26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6FF28B-EE0C-0976-1882-688F90260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79200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5/4/26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8DE478E-C0B1-6FFC-0061-DA2334C3F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71989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5/4/26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31067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22681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16162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5B6B208-0D45-71D0-C7BE-D6974D30E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</p:spPr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0684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143666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676003" y="1355758"/>
            <a:ext cx="10839994" cy="45719"/>
          </a:xfrm>
          <a:prstGeom prst="rect">
            <a:avLst/>
          </a:prstGeom>
          <a:solidFill>
            <a:srgbClr val="FF9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CGU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101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hyperlink" Target="https://app.sli.do/event/nHgttnNdnkXBHegb399HkL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hyperlink" Target="https://arxiv.org/abs/1810.04805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2.png"/><Relationship Id="rId3" Type="http://schemas.openxmlformats.org/officeDocument/2006/relationships/image" Target="../media/image191.png"/><Relationship Id="rId7" Type="http://schemas.openxmlformats.org/officeDocument/2006/relationships/image" Target="../media/image2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0.png"/><Relationship Id="rId5" Type="http://schemas.openxmlformats.org/officeDocument/2006/relationships/image" Target="../media/image211.png"/><Relationship Id="rId4" Type="http://schemas.openxmlformats.org/officeDocument/2006/relationships/image" Target="../media/image20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圓角矩形 7">
            <a:extLst>
              <a:ext uri="{FF2B5EF4-FFF2-40B4-BE49-F238E27FC236}">
                <a16:creationId xmlns:a16="http://schemas.microsoft.com/office/drawing/2014/main" id="{AA8F8551-2C61-48D1-9E5C-345C10BAAC8B}"/>
              </a:ext>
            </a:extLst>
          </p:cNvPr>
          <p:cNvSpPr/>
          <p:nvPr/>
        </p:nvSpPr>
        <p:spPr>
          <a:xfrm>
            <a:off x="667422" y="1891904"/>
            <a:ext cx="10857156" cy="2857500"/>
          </a:xfrm>
          <a:prstGeom prst="roundRect">
            <a:avLst/>
          </a:prstGeom>
          <a:solidFill>
            <a:srgbClr val="FFCE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C058193-D513-E805-2BD5-118E50D976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9623" y="2056517"/>
            <a:ext cx="10857156" cy="2758710"/>
          </a:xfrm>
        </p:spPr>
        <p:txBody>
          <a:bodyPr anchor="ctr">
            <a:noAutofit/>
          </a:bodyPr>
          <a:lstStyle/>
          <a:p>
            <a:r>
              <a:rPr kumimoji="1" lang="zh-TW" altLang="en-US" sz="4800" b="1" dirty="0">
                <a:ea typeface="Microsoft JhengHei" panose="020B0604030504040204" pitchFamily="34" charset="-120"/>
              </a:rPr>
              <a:t>自然語言處理與應用</a:t>
            </a:r>
            <a:br>
              <a:rPr kumimoji="1" lang="en-US" altLang="zh-TW" sz="4800" b="1" dirty="0">
                <a:ea typeface="Microsoft JhengHei" panose="020B0604030504040204" pitchFamily="34" charset="-120"/>
              </a:rPr>
            </a:br>
            <a:r>
              <a:rPr kumimoji="1" lang="en-US" altLang="zh-TW" sz="4800" b="1" dirty="0">
                <a:ea typeface="Microsoft JhengHei" panose="020B0604030504040204" pitchFamily="34" charset="-120"/>
              </a:rPr>
              <a:t>Natural Language Processing and Applications</a:t>
            </a:r>
            <a:endParaRPr kumimoji="1" lang="zh-TW" altLang="en-US" sz="4800" b="1" dirty="0">
              <a:ea typeface="Microsoft JhengHei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598A032-0E8B-F9E1-A926-2F2E78D575C6}"/>
              </a:ext>
            </a:extLst>
          </p:cNvPr>
          <p:cNvSpPr txBox="1"/>
          <p:nvPr/>
        </p:nvSpPr>
        <p:spPr>
          <a:xfrm>
            <a:off x="759623" y="4881049"/>
            <a:ext cx="45605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b="1" dirty="0">
                <a:solidFill>
                  <a:srgbClr val="0070C0"/>
                </a:solidFill>
                <a:latin typeface="+mj-lt"/>
                <a:cs typeface="Calibri" panose="020F0502020204030204" pitchFamily="34" charset="0"/>
              </a:rPr>
              <a:t>LLM Introduction and RAG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F843A79-3FEF-CDAD-6B9A-C5A7AD279D2D}"/>
              </a:ext>
            </a:extLst>
          </p:cNvPr>
          <p:cNvSpPr txBox="1"/>
          <p:nvPr/>
        </p:nvSpPr>
        <p:spPr>
          <a:xfrm>
            <a:off x="759623" y="5914787"/>
            <a:ext cx="41826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林英嘉 </a:t>
            </a:r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(Ying-Jia Lin)</a:t>
            </a:r>
          </a:p>
          <a:p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2026/05/04</a:t>
            </a:r>
            <a:endParaRPr kumimoji="1" lang="zh-TW" altLang="en-US" sz="2000" b="1" dirty="0">
              <a:latin typeface="+mj-lt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C0C8410-1877-4FB2-39F9-E0CFE0480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0118" y="130472"/>
            <a:ext cx="1394460" cy="139446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A6DEED3F-C826-615A-5EF9-02C833E509E8}"/>
              </a:ext>
            </a:extLst>
          </p:cNvPr>
          <p:cNvSpPr txBox="1"/>
          <p:nvPr/>
        </p:nvSpPr>
        <p:spPr>
          <a:xfrm>
            <a:off x="10169046" y="5391531"/>
            <a:ext cx="15583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 err="1"/>
              <a:t>Slido</a:t>
            </a:r>
            <a:endParaRPr kumimoji="1" lang="en" altLang="zh-TW" dirty="0"/>
          </a:p>
          <a:p>
            <a:r>
              <a:rPr kumimoji="1" lang="en" altLang="zh-TW" dirty="0"/>
              <a:t># NLP0504 (</a:t>
            </a:r>
            <a:r>
              <a:rPr kumimoji="1" lang="en" altLang="zh-TW" dirty="0">
                <a:hlinkClick r:id="rId4"/>
              </a:rPr>
              <a:t>Link</a:t>
            </a:r>
            <a:r>
              <a:rPr kumimoji="1" lang="en" altLang="zh-TW" dirty="0"/>
              <a:t>)</a:t>
            </a:r>
            <a:endParaRPr kumimoji="1"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5D8B8BA-01EA-719E-DB6F-35B59009F05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139"/>
          <a:stretch/>
        </p:blipFill>
        <p:spPr>
          <a:xfrm>
            <a:off x="5498071" y="4881049"/>
            <a:ext cx="2108982" cy="1958434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5E320E30-561F-DF85-CC02-2709CD58A10B}"/>
              </a:ext>
            </a:extLst>
          </p:cNvPr>
          <p:cNvSpPr txBox="1"/>
          <p:nvPr/>
        </p:nvSpPr>
        <p:spPr>
          <a:xfrm>
            <a:off x="7389634" y="5642689"/>
            <a:ext cx="1011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GitHub</a:t>
            </a:r>
            <a:endParaRPr kumimoji="1"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2E1C00B-FBC7-354E-A942-B36395403C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9025" y="4920797"/>
            <a:ext cx="1740021" cy="174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99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5B9393-1699-985A-E66F-F2B388438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Outline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A6DC57-0B7A-1B21-F9F0-721D122BD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FAFA69A-F103-08DD-98C8-542BFACBF3C4}"/>
              </a:ext>
            </a:extLst>
          </p:cNvPr>
          <p:cNvSpPr txBox="1"/>
          <p:nvPr/>
        </p:nvSpPr>
        <p:spPr>
          <a:xfrm>
            <a:off x="653143" y="1586847"/>
            <a:ext cx="10918370" cy="279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/>
              <a:t>LLM Introduction [35min]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/>
              <a:t>Announcements [10min]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/>
              <a:t>Assignment 4 [50min]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/>
              <a:t>Retrieval-Augmented Generation (RAG) [35min]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Quiz [15min]</a:t>
            </a:r>
          </a:p>
        </p:txBody>
      </p:sp>
    </p:spTree>
    <p:extLst>
      <p:ext uri="{BB962C8B-B14F-4D97-AF65-F5344CB8AC3E}">
        <p14:creationId xmlns:p14="http://schemas.microsoft.com/office/powerpoint/2010/main" val="826305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E47A50A0-BE83-714F-87D1-D56B21A39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LLM Introduction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6663329-3583-EC83-64B0-F93DA6FF5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30F77D2-841E-08C1-4A09-5AE447429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4668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2EEEA3-0BCC-9E2B-66DF-C3F22B193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Transformer </a:t>
            </a:r>
            <a:r>
              <a:rPr kumimoji="1" lang="zh-TW" altLang="en-US" dirty="0"/>
              <a:t>架構的後續應用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38ECEB-E461-F405-08AF-BBD30D6FF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E5F2EB2-6F05-E173-ADF7-F273D8A8C9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4041" y="3595254"/>
            <a:ext cx="1213026" cy="2018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9DCC39C4-31D1-7D67-F204-9A314EF294B9}"/>
              </a:ext>
            </a:extLst>
          </p:cNvPr>
          <p:cNvSpPr txBox="1"/>
          <p:nvPr/>
        </p:nvSpPr>
        <p:spPr>
          <a:xfrm>
            <a:off x="653143" y="2257205"/>
            <a:ext cx="4472474" cy="2805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Generative Pre-training (GPT) series </a:t>
            </a:r>
            <a:r>
              <a:rPr kumimoji="1" lang="zh-TW" altLang="en-US" sz="2000" dirty="0"/>
              <a:t>是</a:t>
            </a:r>
            <a:r>
              <a:rPr kumimoji="1" lang="en-US" altLang="zh-TW" sz="2000" dirty="0"/>
              <a:t> </a:t>
            </a:r>
            <a:r>
              <a:rPr kumimoji="1" lang="en-US" altLang="zh-TW" sz="2000" b="1" dirty="0"/>
              <a:t>Transformer Decoder</a:t>
            </a:r>
            <a:endParaRPr kumimoji="1" lang="en" altLang="zh-TW" sz="20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000" dirty="0"/>
              <a:t>BERT (Bidirectional encoder representations from transformers)</a:t>
            </a:r>
            <a:r>
              <a:rPr kumimoji="1" lang="zh-TW" altLang="en-US" sz="2000" dirty="0"/>
              <a:t> 是</a:t>
            </a:r>
            <a:r>
              <a:rPr kumimoji="1" lang="en-US" altLang="zh-TW" sz="2000" dirty="0"/>
              <a:t> </a:t>
            </a:r>
            <a:r>
              <a:rPr kumimoji="1" lang="en-US" altLang="zh-TW" sz="2000" b="1" dirty="0"/>
              <a:t>Transformer Encoder</a:t>
            </a:r>
            <a:endParaRPr kumimoji="1" lang="en" altLang="zh-TW" sz="2000" b="1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>
                <a:hlinkClick r:id="rId4"/>
              </a:rPr>
              <a:t>Devlin et al., 2018</a:t>
            </a:r>
            <a:endParaRPr kumimoji="1" lang="en-US" altLang="zh-TW" sz="20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0A49A49-DDFB-27EB-4B47-7324B570C0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3249" y="1517710"/>
            <a:ext cx="3619047" cy="5159829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2D3EF54-78A3-9F8F-16DB-7E94E0724720}"/>
              </a:ext>
            </a:extLst>
          </p:cNvPr>
          <p:cNvSpPr/>
          <p:nvPr/>
        </p:nvSpPr>
        <p:spPr>
          <a:xfrm>
            <a:off x="7133249" y="3206554"/>
            <a:ext cx="1793196" cy="3331024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08EEEA7-230D-3111-16CC-0F5AE58AFFE6}"/>
              </a:ext>
            </a:extLst>
          </p:cNvPr>
          <p:cNvSpPr txBox="1"/>
          <p:nvPr/>
        </p:nvSpPr>
        <p:spPr>
          <a:xfrm>
            <a:off x="5963410" y="4631416"/>
            <a:ext cx="953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b="1" dirty="0">
                <a:solidFill>
                  <a:srgbClr val="FF9300"/>
                </a:solidFill>
              </a:rPr>
              <a:t>Encoder</a:t>
            </a:r>
            <a:endParaRPr kumimoji="1" lang="zh-TW" altLang="en-US" b="1" dirty="0">
              <a:solidFill>
                <a:srgbClr val="FF930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D20F2A0-3E29-A390-9125-9D6796EB4891}"/>
              </a:ext>
            </a:extLst>
          </p:cNvPr>
          <p:cNvSpPr txBox="1"/>
          <p:nvPr/>
        </p:nvSpPr>
        <p:spPr>
          <a:xfrm>
            <a:off x="6183268" y="4220820"/>
            <a:ext cx="1026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N=12</a:t>
            </a:r>
            <a:endParaRPr kumimoji="1"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6BD3EBD-5F95-B31A-8A6B-4624EC80C199}"/>
              </a:ext>
            </a:extLst>
          </p:cNvPr>
          <p:cNvSpPr txBox="1"/>
          <p:nvPr/>
        </p:nvSpPr>
        <p:spPr>
          <a:xfrm>
            <a:off x="5125617" y="5636957"/>
            <a:ext cx="9703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(</a:t>
            </a:r>
            <a:r>
              <a:rPr kumimoji="1" lang="en" altLang="zh-TW" sz="1600" dirty="0"/>
              <a:t>BERT</a:t>
            </a:r>
            <a:r>
              <a:rPr kumimoji="1" lang="en-US" altLang="zh-TW" sz="1600" dirty="0"/>
              <a:t>)</a:t>
            </a:r>
            <a:endParaRPr kumimoji="1" lang="zh-TW" alt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AFD07D-B889-E41D-7ACB-7E25CEC09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061" y="3385823"/>
            <a:ext cx="1033417" cy="1033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C1849A13-09D9-27F1-4679-34F927EA4E08}"/>
              </a:ext>
            </a:extLst>
          </p:cNvPr>
          <p:cNvSpPr txBox="1"/>
          <p:nvPr/>
        </p:nvSpPr>
        <p:spPr>
          <a:xfrm>
            <a:off x="10746577" y="4431518"/>
            <a:ext cx="9703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(</a:t>
            </a:r>
            <a:r>
              <a:rPr kumimoji="1" lang="en" altLang="zh-TW" sz="1600" dirty="0"/>
              <a:t>GPT</a:t>
            </a:r>
            <a:r>
              <a:rPr kumimoji="1" lang="en-US" altLang="zh-TW" sz="1600" dirty="0"/>
              <a:t>)</a:t>
            </a:r>
            <a:endParaRPr kumimoji="1" lang="zh-TW" altLang="en-US" sz="1600" dirty="0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2C5BC747-9024-1C96-9925-BCD93FE85666}"/>
              </a:ext>
            </a:extLst>
          </p:cNvPr>
          <p:cNvSpPr/>
          <p:nvPr/>
        </p:nvSpPr>
        <p:spPr>
          <a:xfrm>
            <a:off x="10290720" y="3190931"/>
            <a:ext cx="1791580" cy="16187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36992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1E9F1B-CA8A-3325-F733-D5F51E040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[Recap] GPT</a:t>
            </a:r>
            <a:r>
              <a:rPr kumimoji="1" lang="zh-TW" altLang="en-US" dirty="0"/>
              <a:t> 是一個語言模型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2127992-C13A-AA35-F0A0-3C853C81B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D899FC5-2344-0EEC-EB81-18EB6A96C7B1}"/>
              </a:ext>
            </a:extLst>
          </p:cNvPr>
          <p:cNvSpPr txBox="1"/>
          <p:nvPr/>
        </p:nvSpPr>
        <p:spPr>
          <a:xfrm>
            <a:off x="653142" y="1837243"/>
            <a:ext cx="8540076" cy="958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/>
              <a:t>語言模型定義：語言模型</a:t>
            </a:r>
            <a:r>
              <a:rPr kumimoji="1" lang="en-US" altLang="zh-TW" sz="2000" dirty="0"/>
              <a:t> (Language Model) </a:t>
            </a:r>
            <a:r>
              <a:rPr kumimoji="1" lang="zh-TW" altLang="en-US" sz="2000" dirty="0"/>
              <a:t>是一個能預測並生成語言的機器學習模型</a:t>
            </a:r>
            <a:endParaRPr kumimoji="1" lang="en-US" altLang="zh-TW" sz="20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28B9FC9-496A-517A-9BCA-2E029F233C1F}"/>
              </a:ext>
            </a:extLst>
          </p:cNvPr>
          <p:cNvSpPr txBox="1"/>
          <p:nvPr/>
        </p:nvSpPr>
        <p:spPr>
          <a:xfrm>
            <a:off x="8682893" y="1382541"/>
            <a:ext cx="2939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200" dirty="0"/>
              <a:t>https://</a:t>
            </a:r>
            <a:r>
              <a:rPr kumimoji="1" lang="en" altLang="zh-TW" sz="1200" dirty="0" err="1"/>
              <a:t>developers.google.com</a:t>
            </a:r>
            <a:r>
              <a:rPr kumimoji="1" lang="en" altLang="zh-TW" sz="1200" dirty="0"/>
              <a:t>/machine-learning/resources/intro-</a:t>
            </a:r>
            <a:r>
              <a:rPr kumimoji="1" lang="en" altLang="zh-TW" sz="1200" dirty="0" err="1"/>
              <a:t>llms</a:t>
            </a:r>
            <a:endParaRPr kumimoji="1" lang="zh-TW" altLang="en-US" sz="1200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7A07981-C617-6E8E-8740-C40A7BC71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2227" y="2899684"/>
            <a:ext cx="5700404" cy="3247387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CC44073A-E46E-35A7-202E-403179D18DF2}"/>
              </a:ext>
            </a:extLst>
          </p:cNvPr>
          <p:cNvSpPr txBox="1"/>
          <p:nvPr/>
        </p:nvSpPr>
        <p:spPr>
          <a:xfrm>
            <a:off x="747335" y="3993712"/>
            <a:ext cx="17304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(</a:t>
            </a:r>
            <a:r>
              <a:rPr kumimoji="1" lang="zh-TW" altLang="en-US" sz="2000" dirty="0"/>
              <a:t>例子</a:t>
            </a:r>
            <a:r>
              <a:rPr kumimoji="1" lang="en-US" altLang="zh-TW" sz="2000" dirty="0"/>
              <a:t>) </a:t>
            </a:r>
            <a:r>
              <a:rPr kumimoji="1" lang="zh-TW" altLang="en-US" sz="2000" dirty="0"/>
              <a:t>下一個字預測</a:t>
            </a:r>
            <a:r>
              <a:rPr kumimoji="1" lang="en-US" altLang="zh-TW" sz="2000" dirty="0"/>
              <a:t> ➡️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799F758-6868-02D9-003D-C48B9BACFA23}"/>
              </a:ext>
            </a:extLst>
          </p:cNvPr>
          <p:cNvSpPr txBox="1"/>
          <p:nvPr/>
        </p:nvSpPr>
        <p:spPr>
          <a:xfrm>
            <a:off x="4911012" y="6363412"/>
            <a:ext cx="40305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200" dirty="0"/>
              <a:t>Figure source: https://</a:t>
            </a:r>
            <a:r>
              <a:rPr kumimoji="1" lang="en" altLang="zh-TW" sz="1200" dirty="0" err="1"/>
              <a:t>support.apple.com</a:t>
            </a:r>
            <a:r>
              <a:rPr kumimoji="1" lang="en" altLang="zh-TW" sz="1200" dirty="0"/>
              <a:t>/</a:t>
            </a:r>
            <a:r>
              <a:rPr kumimoji="1" lang="en" altLang="zh-TW" sz="1200" dirty="0" err="1"/>
              <a:t>zh-tw</a:t>
            </a:r>
            <a:r>
              <a:rPr kumimoji="1" lang="en" altLang="zh-TW" sz="1200" dirty="0"/>
              <a:t>/104995</a:t>
            </a:r>
            <a:endParaRPr kumimoji="1" lang="zh-TW" altLang="en-US" sz="1200" dirty="0"/>
          </a:p>
        </p:txBody>
      </p:sp>
      <p:pic>
        <p:nvPicPr>
          <p:cNvPr id="1028" name="Picture 4" descr="在 iPhone 上輸入訊息時，鍵盤上方會出現預測字詞選項。">
            <a:extLst>
              <a:ext uri="{FF2B5EF4-FFF2-40B4-BE49-F238E27FC236}">
                <a16:creationId xmlns:a16="http://schemas.microsoft.com/office/drawing/2014/main" id="{E8ABAE89-DAEB-5460-A669-986502EF91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3218" y="2628869"/>
            <a:ext cx="1956864" cy="4048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436AA3ED-1D0C-6A73-AB51-43A8BE9161E2}"/>
              </a:ext>
            </a:extLst>
          </p:cNvPr>
          <p:cNvSpPr/>
          <p:nvPr/>
        </p:nvSpPr>
        <p:spPr>
          <a:xfrm>
            <a:off x="9068853" y="5085184"/>
            <a:ext cx="2183363" cy="26125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06236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99960-58C3-4350-A384-7ECE58D2A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286D14-4248-2D35-52DC-621020EB3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先</a:t>
            </a:r>
            <a:r>
              <a:rPr kumimoji="1" lang="en-US" altLang="zh-TW" dirty="0"/>
              <a:t> Pre-training</a:t>
            </a:r>
            <a:r>
              <a:rPr kumimoji="1" lang="zh-TW" altLang="en-US" dirty="0"/>
              <a:t>，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再</a:t>
            </a:r>
            <a:r>
              <a:rPr kumimoji="1" lang="zh-TW" altLang="en-US" dirty="0"/>
              <a:t> </a:t>
            </a:r>
            <a:r>
              <a:rPr kumimoji="1" lang="en-US" altLang="zh-TW" dirty="0"/>
              <a:t>Fine-tuning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437B124-F096-1D20-40B6-A856CA84A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56E07A6D-E2C8-BC3C-6647-8A5121273383}"/>
              </a:ext>
            </a:extLst>
          </p:cNvPr>
          <p:cNvSpPr/>
          <p:nvPr/>
        </p:nvSpPr>
        <p:spPr>
          <a:xfrm>
            <a:off x="2133897" y="2236380"/>
            <a:ext cx="2557219" cy="1325105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800" b="1" dirty="0">
                <a:solidFill>
                  <a:schemeClr val="tx1"/>
                </a:solidFill>
              </a:rPr>
              <a:t>Pre-training</a:t>
            </a:r>
            <a:endParaRPr kumimoji="1" lang="zh-TW" altLang="en-US" sz="3200" b="1" dirty="0">
              <a:solidFill>
                <a:schemeClr val="tx1"/>
              </a:solidFill>
            </a:endParaRP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ACEB1E3E-4B56-CEA8-0BC5-76C9C6ED35E1}"/>
              </a:ext>
            </a:extLst>
          </p:cNvPr>
          <p:cNvSpPr/>
          <p:nvPr/>
        </p:nvSpPr>
        <p:spPr>
          <a:xfrm>
            <a:off x="6956157" y="2236381"/>
            <a:ext cx="2557219" cy="1325105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800" b="1" dirty="0">
                <a:solidFill>
                  <a:schemeClr val="tx1"/>
                </a:solidFill>
              </a:rPr>
              <a:t>Fine-tuning</a:t>
            </a:r>
            <a:endParaRPr kumimoji="1" lang="zh-TW" altLang="en-US" sz="2800" dirty="0"/>
          </a:p>
        </p:txBody>
      </p:sp>
      <p:cxnSp>
        <p:nvCxnSpPr>
          <p:cNvPr id="7" name="Google Shape;195;p17">
            <a:extLst>
              <a:ext uri="{FF2B5EF4-FFF2-40B4-BE49-F238E27FC236}">
                <a16:creationId xmlns:a16="http://schemas.microsoft.com/office/drawing/2014/main" id="{A832F146-AD71-B715-A500-AF9834498BF3}"/>
              </a:ext>
            </a:extLst>
          </p:cNvPr>
          <p:cNvCxnSpPr>
            <a:cxnSpLocks/>
          </p:cNvCxnSpPr>
          <p:nvPr/>
        </p:nvCxnSpPr>
        <p:spPr>
          <a:xfrm>
            <a:off x="5176731" y="2907830"/>
            <a:ext cx="1293811" cy="0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230A2250-905D-BC59-B590-5E4ABBBA03D5}"/>
              </a:ext>
            </a:extLst>
          </p:cNvPr>
          <p:cNvSpPr txBox="1"/>
          <p:nvPr/>
        </p:nvSpPr>
        <p:spPr>
          <a:xfrm>
            <a:off x="1526834" y="3876352"/>
            <a:ext cx="3771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ea typeface="Microsoft JhengHei" panose="020B0604030504040204" pitchFamily="34" charset="-120"/>
              </a:rPr>
              <a:t>在</a:t>
            </a:r>
            <a:r>
              <a:rPr kumimoji="1" lang="zh-TW" altLang="en-US" dirty="0">
                <a:solidFill>
                  <a:srgbClr val="FF0000"/>
                </a:solidFill>
                <a:ea typeface="Microsoft JhengHei" panose="020B0604030504040204" pitchFamily="34" charset="-120"/>
              </a:rPr>
              <a:t>大量</a:t>
            </a:r>
            <a:r>
              <a:rPr kumimoji="1" lang="zh-TW" altLang="en-US" dirty="0">
                <a:ea typeface="Microsoft JhengHei" panose="020B0604030504040204" pitchFamily="34" charset="-120"/>
              </a:rPr>
              <a:t>資料上進行訓練，通常是自監督式 </a:t>
            </a:r>
            <a:r>
              <a:rPr kumimoji="1" lang="en-US" altLang="zh-TW" dirty="0">
                <a:ea typeface="Microsoft JhengHei" panose="020B0604030504040204" pitchFamily="34" charset="-120"/>
              </a:rPr>
              <a:t>(Self-Supervised Training)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592796A-986B-861D-73E9-C3B2DFDF20CE}"/>
              </a:ext>
            </a:extLst>
          </p:cNvPr>
          <p:cNvSpPr txBox="1"/>
          <p:nvPr/>
        </p:nvSpPr>
        <p:spPr>
          <a:xfrm>
            <a:off x="6112328" y="3876352"/>
            <a:ext cx="42612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TW" altLang="en-US" dirty="0">
                <a:ea typeface="Microsoft JhengHei" panose="020B0604030504040204" pitchFamily="34" charset="-120"/>
              </a:rPr>
              <a:t>在</a:t>
            </a:r>
            <a:r>
              <a:rPr kumimoji="1" lang="zh-TW" altLang="en-US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目標</a:t>
            </a:r>
            <a:r>
              <a:rPr kumimoji="1" lang="zh-TW" altLang="en-US" dirty="0">
                <a:ea typeface="Microsoft JhengHei" panose="020B0604030504040204" pitchFamily="34" charset="-120"/>
              </a:rPr>
              <a:t>資料上</a:t>
            </a:r>
            <a:r>
              <a:rPr kumimoji="1" lang="en-US" altLang="zh-TW" dirty="0">
                <a:ea typeface="Microsoft JhengHei" panose="020B0604030504040204" pitchFamily="34" charset="-120"/>
              </a:rPr>
              <a:t> (Down-stream tasks) </a:t>
            </a:r>
            <a:r>
              <a:rPr kumimoji="1" lang="zh-TW" altLang="en-US" dirty="0">
                <a:ea typeface="Microsoft JhengHei" panose="020B0604030504040204" pitchFamily="34" charset="-120"/>
              </a:rPr>
              <a:t>進行監督式學習 </a:t>
            </a:r>
            <a:r>
              <a:rPr kumimoji="1" lang="en-US" altLang="zh-TW" dirty="0">
                <a:ea typeface="Microsoft JhengHei" panose="020B0604030504040204" pitchFamily="34" charset="-120"/>
              </a:rPr>
              <a:t>(Supervised Learning)</a:t>
            </a:r>
            <a:r>
              <a:rPr kumimoji="1" lang="zh-TW" altLang="en-US" dirty="0">
                <a:ea typeface="Microsoft JhengHei" panose="020B0604030504040204" pitchFamily="34" charset="-120"/>
              </a:rPr>
              <a:t> ，資料規模通常較</a:t>
            </a:r>
            <a:r>
              <a:rPr kumimoji="1" lang="en-US" altLang="zh-TW" dirty="0">
                <a:ea typeface="Microsoft JhengHei" panose="020B0604030504040204" pitchFamily="34" charset="-120"/>
              </a:rPr>
              <a:t> Pre-training </a:t>
            </a:r>
            <a:r>
              <a:rPr kumimoji="1" lang="zh-TW" altLang="en-US" dirty="0">
                <a:ea typeface="Microsoft JhengHei" panose="020B0604030504040204" pitchFamily="34" charset="-120"/>
              </a:rPr>
              <a:t>階段小。</a:t>
            </a:r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F25924DB-B45F-E4C2-1027-A5C3466AC498}"/>
              </a:ext>
            </a:extLst>
          </p:cNvPr>
          <p:cNvSpPr/>
          <p:nvPr/>
        </p:nvSpPr>
        <p:spPr>
          <a:xfrm>
            <a:off x="2211503" y="5010250"/>
            <a:ext cx="2402006" cy="464024"/>
          </a:xfrm>
          <a:prstGeom prst="round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下一個字預測</a:t>
            </a: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C15674A8-65CF-DABC-B59B-38F6C7D3D4B9}"/>
              </a:ext>
            </a:extLst>
          </p:cNvPr>
          <p:cNvSpPr/>
          <p:nvPr/>
        </p:nvSpPr>
        <p:spPr>
          <a:xfrm>
            <a:off x="2211503" y="5564248"/>
            <a:ext cx="2402006" cy="464024"/>
          </a:xfrm>
          <a:prstGeom prst="round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文字還原</a:t>
            </a: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2070A9A1-1FAA-0EE1-2A2B-AB235813D9F0}"/>
              </a:ext>
            </a:extLst>
          </p:cNvPr>
          <p:cNvSpPr/>
          <p:nvPr/>
        </p:nvSpPr>
        <p:spPr>
          <a:xfrm>
            <a:off x="7033762" y="5010250"/>
            <a:ext cx="2402006" cy="464024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機器翻譯</a:t>
            </a:r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06CF359A-8B5A-905E-2165-650459F5DAA9}"/>
              </a:ext>
            </a:extLst>
          </p:cNvPr>
          <p:cNvSpPr/>
          <p:nvPr/>
        </p:nvSpPr>
        <p:spPr>
          <a:xfrm>
            <a:off x="7033762" y="5564248"/>
            <a:ext cx="2402006" cy="464024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文字分類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9ECA41D-FEFE-C0B5-F9FD-E6354FFCED12}"/>
              </a:ext>
            </a:extLst>
          </p:cNvPr>
          <p:cNvSpPr txBox="1"/>
          <p:nvPr/>
        </p:nvSpPr>
        <p:spPr>
          <a:xfrm>
            <a:off x="8088439" y="6192838"/>
            <a:ext cx="1210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...</a:t>
            </a:r>
            <a:endParaRPr kumimoji="1"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5A2DF355-C451-BBA5-EEF3-1274F5EE5D65}"/>
              </a:ext>
            </a:extLst>
          </p:cNvPr>
          <p:cNvSpPr txBox="1"/>
          <p:nvPr/>
        </p:nvSpPr>
        <p:spPr>
          <a:xfrm>
            <a:off x="3211751" y="6192838"/>
            <a:ext cx="1210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...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48150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13" grpId="0" animBg="1"/>
      <p:bldP spid="14" grpId="0" animBg="1"/>
      <p:bldP spid="15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74830-02B0-D441-DF01-36FE73EAD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D67116-FFDF-4C13-EA8B-FE7946628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altLang="zh-TW" dirty="0"/>
              <a:t>[Recap] </a:t>
            </a:r>
            <a:r>
              <a:rPr lang="zh-TW" altLang="en-US" dirty="0"/>
              <a:t>語言模型以文字接龍進行訓練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4FEABBC-D622-4768-8577-87E43BDFF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7</a:t>
            </a:fld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396AE06-EA04-261A-87C2-76C24C5AAB93}"/>
              </a:ext>
            </a:extLst>
          </p:cNvPr>
          <p:cNvSpPr/>
          <p:nvPr/>
        </p:nvSpPr>
        <p:spPr>
          <a:xfrm>
            <a:off x="2392525" y="5306660"/>
            <a:ext cx="683581" cy="488272"/>
          </a:xfrm>
          <a:prstGeom prst="rect">
            <a:avLst/>
          </a:prstGeom>
          <a:solidFill>
            <a:srgbClr val="F9ED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庭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8278C6B-7AAF-76BF-B026-4CDFF669BA8C}"/>
              </a:ext>
            </a:extLst>
          </p:cNvPr>
          <p:cNvSpPr/>
          <p:nvPr/>
        </p:nvSpPr>
        <p:spPr>
          <a:xfrm>
            <a:off x="4033257" y="5306660"/>
            <a:ext cx="683581" cy="488272"/>
          </a:xfrm>
          <a:prstGeom prst="rect">
            <a:avLst/>
          </a:prstGeom>
          <a:solidFill>
            <a:srgbClr val="F9ED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院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4478747-7875-FC06-7D25-699C1A658968}"/>
              </a:ext>
            </a:extLst>
          </p:cNvPr>
          <p:cNvSpPr/>
          <p:nvPr/>
        </p:nvSpPr>
        <p:spPr>
          <a:xfrm>
            <a:off x="2188705" y="4108945"/>
            <a:ext cx="1091215" cy="638420"/>
          </a:xfrm>
          <a:prstGeom prst="rect">
            <a:avLst/>
          </a:prstGeom>
          <a:solidFill>
            <a:srgbClr val="FCE7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h</a:t>
            </a:r>
            <a:r>
              <a:rPr kumimoji="1" lang="en-US" altLang="zh-TW" sz="2400" baseline="-25000" dirty="0">
                <a:solidFill>
                  <a:schemeClr val="tx1"/>
                </a:solidFill>
              </a:rPr>
              <a:t>1</a:t>
            </a:r>
            <a:endParaRPr kumimoji="1" lang="zh-TW" altLang="en-US" sz="2400" baseline="-25000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CA1BEC5-06C9-EB91-1858-29E1515F5D3A}"/>
              </a:ext>
            </a:extLst>
          </p:cNvPr>
          <p:cNvSpPr/>
          <p:nvPr/>
        </p:nvSpPr>
        <p:spPr>
          <a:xfrm>
            <a:off x="3829441" y="4108945"/>
            <a:ext cx="1091215" cy="638420"/>
          </a:xfrm>
          <a:prstGeom prst="rect">
            <a:avLst/>
          </a:prstGeom>
          <a:solidFill>
            <a:srgbClr val="FCE7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h</a:t>
            </a:r>
            <a:r>
              <a:rPr kumimoji="1" lang="en-US" altLang="zh-TW" sz="2400" baseline="-25000" dirty="0">
                <a:solidFill>
                  <a:schemeClr val="tx1"/>
                </a:solidFill>
              </a:rPr>
              <a:t>2</a:t>
            </a:r>
            <a:endParaRPr kumimoji="1" lang="zh-TW" altLang="en-US" sz="2400" baseline="-25000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BB4C7BF-D3B6-C3FB-0E2D-01D6320B0235}"/>
              </a:ext>
            </a:extLst>
          </p:cNvPr>
          <p:cNvSpPr/>
          <p:nvPr/>
        </p:nvSpPr>
        <p:spPr>
          <a:xfrm>
            <a:off x="5673993" y="5306660"/>
            <a:ext cx="683581" cy="488272"/>
          </a:xfrm>
          <a:prstGeom prst="rect">
            <a:avLst/>
          </a:prstGeom>
          <a:solidFill>
            <a:srgbClr val="F9ED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深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0966CB2-B92F-1F9A-EC59-29B86FFADA4C}"/>
              </a:ext>
            </a:extLst>
          </p:cNvPr>
          <p:cNvSpPr/>
          <p:nvPr/>
        </p:nvSpPr>
        <p:spPr>
          <a:xfrm>
            <a:off x="5470177" y="4108945"/>
            <a:ext cx="1091215" cy="638420"/>
          </a:xfrm>
          <a:prstGeom prst="rect">
            <a:avLst/>
          </a:prstGeom>
          <a:solidFill>
            <a:srgbClr val="FCE7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h</a:t>
            </a:r>
            <a:r>
              <a:rPr kumimoji="1" lang="en-US" altLang="zh-TW" sz="2400" baseline="-25000" dirty="0">
                <a:solidFill>
                  <a:schemeClr val="tx1"/>
                </a:solidFill>
              </a:rPr>
              <a:t>3</a:t>
            </a:r>
            <a:endParaRPr kumimoji="1" lang="zh-TW" altLang="en-US" sz="2400" baseline="-250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789CDDE-F0EB-80C2-CAEE-DDC81D929C16}"/>
              </a:ext>
            </a:extLst>
          </p:cNvPr>
          <p:cNvSpPr/>
          <p:nvPr/>
        </p:nvSpPr>
        <p:spPr>
          <a:xfrm>
            <a:off x="9047292" y="5306660"/>
            <a:ext cx="683581" cy="488272"/>
          </a:xfrm>
          <a:prstGeom prst="rect">
            <a:avLst/>
          </a:prstGeom>
          <a:solidFill>
            <a:srgbClr val="F9ED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幾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CDC9818-9903-48DD-04F4-E4FBE671D76F}"/>
              </a:ext>
            </a:extLst>
          </p:cNvPr>
          <p:cNvSpPr/>
          <p:nvPr/>
        </p:nvSpPr>
        <p:spPr>
          <a:xfrm>
            <a:off x="8843476" y="4108945"/>
            <a:ext cx="1091215" cy="638420"/>
          </a:xfrm>
          <a:prstGeom prst="rect">
            <a:avLst/>
          </a:prstGeom>
          <a:solidFill>
            <a:srgbClr val="FCE7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h</a:t>
            </a:r>
            <a:r>
              <a:rPr kumimoji="1" lang="en-US" altLang="zh-TW" sz="2400" baseline="-25000" dirty="0">
                <a:solidFill>
                  <a:schemeClr val="tx1"/>
                </a:solidFill>
              </a:rPr>
              <a:t>6</a:t>
            </a:r>
            <a:endParaRPr kumimoji="1" lang="zh-TW" altLang="en-US" sz="2400" baseline="-25000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2D26A63-DA0E-CD19-FCA6-8A6B6BBEE129}"/>
              </a:ext>
            </a:extLst>
          </p:cNvPr>
          <p:cNvSpPr/>
          <p:nvPr/>
        </p:nvSpPr>
        <p:spPr>
          <a:xfrm>
            <a:off x="10684115" y="5306660"/>
            <a:ext cx="683581" cy="488272"/>
          </a:xfrm>
          <a:prstGeom prst="rect">
            <a:avLst/>
          </a:prstGeom>
          <a:solidFill>
            <a:srgbClr val="F9ED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許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E33629C-6344-299A-3518-0209769F6A2C}"/>
              </a:ext>
            </a:extLst>
          </p:cNvPr>
          <p:cNvSpPr/>
          <p:nvPr/>
        </p:nvSpPr>
        <p:spPr>
          <a:xfrm>
            <a:off x="10480299" y="4108945"/>
            <a:ext cx="1091215" cy="638420"/>
          </a:xfrm>
          <a:prstGeom prst="rect">
            <a:avLst/>
          </a:prstGeom>
          <a:solidFill>
            <a:srgbClr val="FCE7D7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h</a:t>
            </a:r>
            <a:r>
              <a:rPr kumimoji="1" lang="en-US" altLang="zh-TW" sz="2400" baseline="-25000" dirty="0">
                <a:solidFill>
                  <a:schemeClr val="tx1"/>
                </a:solidFill>
              </a:rPr>
              <a:t>7</a:t>
            </a:r>
            <a:endParaRPr kumimoji="1" lang="zh-TW" altLang="en-US" sz="2400" baseline="-25000" dirty="0">
              <a:solidFill>
                <a:schemeClr val="tx1"/>
              </a:solidFill>
            </a:endParaRPr>
          </a:p>
        </p:txBody>
      </p: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EB84D9AC-4269-4831-FD2A-80A8C526EBEE}"/>
              </a:ext>
            </a:extLst>
          </p:cNvPr>
          <p:cNvCxnSpPr>
            <a:stCxn id="9" idx="3"/>
            <a:endCxn id="11" idx="1"/>
          </p:cNvCxnSpPr>
          <p:nvPr/>
        </p:nvCxnSpPr>
        <p:spPr>
          <a:xfrm>
            <a:off x="3279920" y="4428155"/>
            <a:ext cx="54952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324F915C-CFA9-A41C-06BA-6C804541C547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>
            <a:off x="4920656" y="4428155"/>
            <a:ext cx="54952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09D3F7C2-BAA3-73F8-A525-F63722A547DF}"/>
              </a:ext>
            </a:extLst>
          </p:cNvPr>
          <p:cNvCxnSpPr>
            <a:cxnSpLocks/>
            <a:stCxn id="15" idx="3"/>
            <a:endCxn id="17" idx="1"/>
          </p:cNvCxnSpPr>
          <p:nvPr/>
        </p:nvCxnSpPr>
        <p:spPr>
          <a:xfrm>
            <a:off x="9934691" y="4428155"/>
            <a:ext cx="54560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箭頭接點 27">
            <a:extLst>
              <a:ext uri="{FF2B5EF4-FFF2-40B4-BE49-F238E27FC236}">
                <a16:creationId xmlns:a16="http://schemas.microsoft.com/office/drawing/2014/main" id="{DE03C36A-E3A5-5409-09D8-780186572612}"/>
              </a:ext>
            </a:extLst>
          </p:cNvPr>
          <p:cNvCxnSpPr>
            <a:cxnSpLocks/>
          </p:cNvCxnSpPr>
          <p:nvPr/>
        </p:nvCxnSpPr>
        <p:spPr>
          <a:xfrm>
            <a:off x="6561392" y="4428155"/>
            <a:ext cx="54952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箭頭接點 28">
            <a:extLst>
              <a:ext uri="{FF2B5EF4-FFF2-40B4-BE49-F238E27FC236}">
                <a16:creationId xmlns:a16="http://schemas.microsoft.com/office/drawing/2014/main" id="{91D9CCFF-2305-E50F-7E2E-7D1DFC8B06F1}"/>
              </a:ext>
            </a:extLst>
          </p:cNvPr>
          <p:cNvCxnSpPr>
            <a:cxnSpLocks/>
          </p:cNvCxnSpPr>
          <p:nvPr/>
        </p:nvCxnSpPr>
        <p:spPr>
          <a:xfrm>
            <a:off x="8293955" y="4421143"/>
            <a:ext cx="54952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27D486D5-9D87-67C8-3EAB-6A0404A6C124}"/>
              </a:ext>
            </a:extLst>
          </p:cNvPr>
          <p:cNvSpPr txBox="1"/>
          <p:nvPr/>
        </p:nvSpPr>
        <p:spPr>
          <a:xfrm>
            <a:off x="7500792" y="4012670"/>
            <a:ext cx="6835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200" dirty="0"/>
              <a:t>...</a:t>
            </a:r>
            <a:endParaRPr kumimoji="1" lang="zh-TW" altLang="en-US" sz="3200" dirty="0"/>
          </a:p>
        </p:txBody>
      </p:sp>
      <p:cxnSp>
        <p:nvCxnSpPr>
          <p:cNvPr id="31" name="直線箭頭接點 30">
            <a:extLst>
              <a:ext uri="{FF2B5EF4-FFF2-40B4-BE49-F238E27FC236}">
                <a16:creationId xmlns:a16="http://schemas.microsoft.com/office/drawing/2014/main" id="{2868D469-3DED-3DD8-B833-F8886692E9A4}"/>
              </a:ext>
            </a:extLst>
          </p:cNvPr>
          <p:cNvCxnSpPr>
            <a:cxnSpLocks/>
            <a:stCxn id="5" idx="0"/>
            <a:endCxn id="9" idx="2"/>
          </p:cNvCxnSpPr>
          <p:nvPr/>
        </p:nvCxnSpPr>
        <p:spPr>
          <a:xfrm flipH="1" flipV="1">
            <a:off x="2734313" y="4747365"/>
            <a:ext cx="3" cy="5592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FFC9A063-E7BA-EC96-FA3A-DBFBBF29DA62}"/>
              </a:ext>
            </a:extLst>
          </p:cNvPr>
          <p:cNvSpPr txBox="1"/>
          <p:nvPr/>
        </p:nvSpPr>
        <p:spPr>
          <a:xfrm>
            <a:off x="7500792" y="5141128"/>
            <a:ext cx="6835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200" dirty="0"/>
              <a:t>...</a:t>
            </a:r>
            <a:endParaRPr kumimoji="1" lang="zh-TW" altLang="en-US" sz="3200" dirty="0"/>
          </a:p>
        </p:txBody>
      </p:sp>
      <p:cxnSp>
        <p:nvCxnSpPr>
          <p:cNvPr id="37" name="直線箭頭接點 36">
            <a:extLst>
              <a:ext uri="{FF2B5EF4-FFF2-40B4-BE49-F238E27FC236}">
                <a16:creationId xmlns:a16="http://schemas.microsoft.com/office/drawing/2014/main" id="{1EFE4834-27DF-100E-4F0F-FDC13D974EF8}"/>
              </a:ext>
            </a:extLst>
          </p:cNvPr>
          <p:cNvCxnSpPr>
            <a:cxnSpLocks/>
            <a:stCxn id="7" idx="0"/>
            <a:endCxn id="11" idx="2"/>
          </p:cNvCxnSpPr>
          <p:nvPr/>
        </p:nvCxnSpPr>
        <p:spPr>
          <a:xfrm flipV="1">
            <a:off x="4375048" y="4747365"/>
            <a:ext cx="1" cy="5592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箭頭接點 39">
            <a:extLst>
              <a:ext uri="{FF2B5EF4-FFF2-40B4-BE49-F238E27FC236}">
                <a16:creationId xmlns:a16="http://schemas.microsoft.com/office/drawing/2014/main" id="{9E5E0EA2-BE29-22B7-C04A-6AD5CE5CEBE4}"/>
              </a:ext>
            </a:extLst>
          </p:cNvPr>
          <p:cNvCxnSpPr>
            <a:cxnSpLocks/>
            <a:stCxn id="12" idx="0"/>
            <a:endCxn id="13" idx="2"/>
          </p:cNvCxnSpPr>
          <p:nvPr/>
        </p:nvCxnSpPr>
        <p:spPr>
          <a:xfrm flipV="1">
            <a:off x="6015784" y="4747365"/>
            <a:ext cx="1" cy="5592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箭頭接點 42">
            <a:extLst>
              <a:ext uri="{FF2B5EF4-FFF2-40B4-BE49-F238E27FC236}">
                <a16:creationId xmlns:a16="http://schemas.microsoft.com/office/drawing/2014/main" id="{B3E3A1C7-818E-AA7B-496B-37D387769AD6}"/>
              </a:ext>
            </a:extLst>
          </p:cNvPr>
          <p:cNvCxnSpPr>
            <a:cxnSpLocks/>
            <a:stCxn id="14" idx="0"/>
            <a:endCxn id="15" idx="2"/>
          </p:cNvCxnSpPr>
          <p:nvPr/>
        </p:nvCxnSpPr>
        <p:spPr>
          <a:xfrm flipV="1">
            <a:off x="9389083" y="4747365"/>
            <a:ext cx="1" cy="5592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箭頭接點 45">
            <a:extLst>
              <a:ext uri="{FF2B5EF4-FFF2-40B4-BE49-F238E27FC236}">
                <a16:creationId xmlns:a16="http://schemas.microsoft.com/office/drawing/2014/main" id="{C0094F9F-414A-DEE6-4C26-D8BD5CEB68D2}"/>
              </a:ext>
            </a:extLst>
          </p:cNvPr>
          <p:cNvCxnSpPr>
            <a:cxnSpLocks/>
            <a:stCxn id="16" idx="0"/>
            <a:endCxn id="17" idx="2"/>
          </p:cNvCxnSpPr>
          <p:nvPr/>
        </p:nvCxnSpPr>
        <p:spPr>
          <a:xfrm flipV="1">
            <a:off x="11025906" y="4747365"/>
            <a:ext cx="1" cy="5592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85369AB0-9363-2423-A35A-D025A5F229D3}"/>
              </a:ext>
            </a:extLst>
          </p:cNvPr>
          <p:cNvSpPr/>
          <p:nvPr/>
        </p:nvSpPr>
        <p:spPr>
          <a:xfrm>
            <a:off x="547970" y="4108945"/>
            <a:ext cx="1091215" cy="638420"/>
          </a:xfrm>
          <a:prstGeom prst="rect">
            <a:avLst/>
          </a:prstGeom>
          <a:solidFill>
            <a:srgbClr val="FCE7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>
                <a:solidFill>
                  <a:schemeClr val="tx1"/>
                </a:solidFill>
              </a:rPr>
              <a:t>h</a:t>
            </a:r>
            <a:r>
              <a:rPr kumimoji="1" lang="en-US" altLang="zh-TW" sz="2400" baseline="-25000">
                <a:solidFill>
                  <a:schemeClr val="tx1"/>
                </a:solidFill>
              </a:rPr>
              <a:t>0</a:t>
            </a:r>
            <a:endParaRPr kumimoji="1" lang="zh-TW" altLang="en-US" sz="2400" baseline="-25000" dirty="0">
              <a:solidFill>
                <a:schemeClr val="tx1"/>
              </a:solidFill>
            </a:endParaRPr>
          </a:p>
        </p:txBody>
      </p:sp>
      <p:cxnSp>
        <p:nvCxnSpPr>
          <p:cNvPr id="50" name="直線箭頭接點 49">
            <a:extLst>
              <a:ext uri="{FF2B5EF4-FFF2-40B4-BE49-F238E27FC236}">
                <a16:creationId xmlns:a16="http://schemas.microsoft.com/office/drawing/2014/main" id="{EB60400A-D3AD-EC6D-F10A-52F498F98E88}"/>
              </a:ext>
            </a:extLst>
          </p:cNvPr>
          <p:cNvCxnSpPr>
            <a:cxnSpLocks/>
            <a:stCxn id="49" idx="3"/>
            <a:endCxn id="9" idx="1"/>
          </p:cNvCxnSpPr>
          <p:nvPr/>
        </p:nvCxnSpPr>
        <p:spPr>
          <a:xfrm>
            <a:off x="1639185" y="4428155"/>
            <a:ext cx="54952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34413CB1-8C45-3B74-5BE7-1D82B91CB4F0}"/>
              </a:ext>
            </a:extLst>
          </p:cNvPr>
          <p:cNvSpPr/>
          <p:nvPr/>
        </p:nvSpPr>
        <p:spPr>
          <a:xfrm>
            <a:off x="2392525" y="3064214"/>
            <a:ext cx="683581" cy="488272"/>
          </a:xfrm>
          <a:prstGeom prst="rect">
            <a:avLst/>
          </a:prstGeom>
          <a:solidFill>
            <a:srgbClr val="CDD5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院</a:t>
            </a:r>
          </a:p>
        </p:txBody>
      </p:sp>
      <p:cxnSp>
        <p:nvCxnSpPr>
          <p:cNvPr id="6" name="直線箭頭接點 5">
            <a:extLst>
              <a:ext uri="{FF2B5EF4-FFF2-40B4-BE49-F238E27FC236}">
                <a16:creationId xmlns:a16="http://schemas.microsoft.com/office/drawing/2014/main" id="{19121FB9-49A4-B010-DA2D-A80AFBB4D9B0}"/>
              </a:ext>
            </a:extLst>
          </p:cNvPr>
          <p:cNvCxnSpPr>
            <a:cxnSpLocks/>
          </p:cNvCxnSpPr>
          <p:nvPr/>
        </p:nvCxnSpPr>
        <p:spPr>
          <a:xfrm flipH="1" flipV="1">
            <a:off x="2734308" y="3549650"/>
            <a:ext cx="3" cy="5592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F2679BE5-BEFE-3444-CE2F-64AB85686FE7}"/>
              </a:ext>
            </a:extLst>
          </p:cNvPr>
          <p:cNvSpPr/>
          <p:nvPr/>
        </p:nvSpPr>
        <p:spPr>
          <a:xfrm>
            <a:off x="4033257" y="3064214"/>
            <a:ext cx="683581" cy="488272"/>
          </a:xfrm>
          <a:prstGeom prst="rect">
            <a:avLst/>
          </a:prstGeom>
          <a:solidFill>
            <a:srgbClr val="CDD5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深</a:t>
            </a:r>
          </a:p>
        </p:txBody>
      </p:sp>
      <p:cxnSp>
        <p:nvCxnSpPr>
          <p:cNvPr id="18" name="直線箭頭接點 17">
            <a:extLst>
              <a:ext uri="{FF2B5EF4-FFF2-40B4-BE49-F238E27FC236}">
                <a16:creationId xmlns:a16="http://schemas.microsoft.com/office/drawing/2014/main" id="{0CD4DE0E-AAC2-7BFD-6FE2-7D6F305BF324}"/>
              </a:ext>
            </a:extLst>
          </p:cNvPr>
          <p:cNvCxnSpPr>
            <a:cxnSpLocks/>
          </p:cNvCxnSpPr>
          <p:nvPr/>
        </p:nvCxnSpPr>
        <p:spPr>
          <a:xfrm flipH="1" flipV="1">
            <a:off x="4375043" y="3549649"/>
            <a:ext cx="3" cy="5592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02671F71-5811-F461-7B78-84C9E89B77BE}"/>
              </a:ext>
            </a:extLst>
          </p:cNvPr>
          <p:cNvSpPr/>
          <p:nvPr/>
        </p:nvSpPr>
        <p:spPr>
          <a:xfrm>
            <a:off x="5673989" y="3064214"/>
            <a:ext cx="683581" cy="488272"/>
          </a:xfrm>
          <a:prstGeom prst="rect">
            <a:avLst/>
          </a:prstGeom>
          <a:solidFill>
            <a:srgbClr val="CDD5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深</a:t>
            </a:r>
          </a:p>
        </p:txBody>
      </p:sp>
      <p:cxnSp>
        <p:nvCxnSpPr>
          <p:cNvPr id="22" name="直線箭頭接點 21">
            <a:extLst>
              <a:ext uri="{FF2B5EF4-FFF2-40B4-BE49-F238E27FC236}">
                <a16:creationId xmlns:a16="http://schemas.microsoft.com/office/drawing/2014/main" id="{D3D98FCC-74A1-32DB-163E-19412ADA66B1}"/>
              </a:ext>
            </a:extLst>
          </p:cNvPr>
          <p:cNvCxnSpPr>
            <a:cxnSpLocks/>
          </p:cNvCxnSpPr>
          <p:nvPr/>
        </p:nvCxnSpPr>
        <p:spPr>
          <a:xfrm flipH="1" flipV="1">
            <a:off x="6015775" y="3549649"/>
            <a:ext cx="3" cy="5592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CEBD15AE-9150-91E4-D126-FAD9B4F8B6C7}"/>
              </a:ext>
            </a:extLst>
          </p:cNvPr>
          <p:cNvSpPr/>
          <p:nvPr/>
        </p:nvSpPr>
        <p:spPr>
          <a:xfrm>
            <a:off x="9047297" y="3064214"/>
            <a:ext cx="683581" cy="488272"/>
          </a:xfrm>
          <a:prstGeom prst="rect">
            <a:avLst/>
          </a:prstGeom>
          <a:solidFill>
            <a:srgbClr val="CDD5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許</a:t>
            </a:r>
          </a:p>
        </p:txBody>
      </p:sp>
      <p:cxnSp>
        <p:nvCxnSpPr>
          <p:cNvPr id="24" name="直線箭頭接點 23">
            <a:extLst>
              <a:ext uri="{FF2B5EF4-FFF2-40B4-BE49-F238E27FC236}">
                <a16:creationId xmlns:a16="http://schemas.microsoft.com/office/drawing/2014/main" id="{51E07C56-66E3-364A-7763-8D646BF38D38}"/>
              </a:ext>
            </a:extLst>
          </p:cNvPr>
          <p:cNvCxnSpPr>
            <a:cxnSpLocks/>
          </p:cNvCxnSpPr>
          <p:nvPr/>
        </p:nvCxnSpPr>
        <p:spPr>
          <a:xfrm flipH="1" flipV="1">
            <a:off x="9389083" y="3549649"/>
            <a:ext cx="3" cy="5592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F1BD0630-E4CF-6816-61C1-42BEF753D1F1}"/>
              </a:ext>
            </a:extLst>
          </p:cNvPr>
          <p:cNvSpPr/>
          <p:nvPr/>
        </p:nvSpPr>
        <p:spPr>
          <a:xfrm>
            <a:off x="10684115" y="3064214"/>
            <a:ext cx="683581" cy="488272"/>
          </a:xfrm>
          <a:prstGeom prst="rect">
            <a:avLst/>
          </a:prstGeom>
          <a:solidFill>
            <a:srgbClr val="CDD5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EOS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AF13A0E8-AACB-B6D2-C676-B5F72045868E}"/>
              </a:ext>
            </a:extLst>
          </p:cNvPr>
          <p:cNvCxnSpPr>
            <a:cxnSpLocks/>
          </p:cNvCxnSpPr>
          <p:nvPr/>
        </p:nvCxnSpPr>
        <p:spPr>
          <a:xfrm flipH="1" flipV="1">
            <a:off x="11025901" y="3549649"/>
            <a:ext cx="3" cy="5592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49330BCC-3DD7-6264-1B3D-3FDC09D9325A}"/>
              </a:ext>
            </a:extLst>
          </p:cNvPr>
          <p:cNvSpPr txBox="1"/>
          <p:nvPr/>
        </p:nvSpPr>
        <p:spPr>
          <a:xfrm>
            <a:off x="8930936" y="1396019"/>
            <a:ext cx="2640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EOS: End of Sentence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384DF25F-95DA-7187-D85E-65B9F62D052D}"/>
                  </a:ext>
                </a:extLst>
              </p:cNvPr>
              <p:cNvSpPr txBox="1"/>
              <p:nvPr/>
            </p:nvSpPr>
            <p:spPr>
              <a:xfrm>
                <a:off x="2098016" y="2560338"/>
                <a:ext cx="127258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zh-TW" altLang="en-US" i="1">
                          <a:latin typeface="Cambria Math" panose="02040503050406030204" pitchFamily="18" charset="0"/>
                        </a:rPr>
                        <m:t>院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kumimoji="1" lang="zh-TW" altLang="en-US" dirty="0"/>
                        <m:t>庭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384DF25F-95DA-7187-D85E-65B9F62D05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8016" y="2560338"/>
                <a:ext cx="1272584" cy="369332"/>
              </a:xfrm>
              <a:prstGeom prst="rect">
                <a:avLst/>
              </a:prstGeom>
              <a:blipFill>
                <a:blip r:embed="rId3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5CFB7F7D-1C6C-5331-9C3E-7E48E6341E38}"/>
                  </a:ext>
                </a:extLst>
              </p:cNvPr>
              <p:cNvSpPr txBox="1"/>
              <p:nvPr/>
            </p:nvSpPr>
            <p:spPr>
              <a:xfrm>
                <a:off x="3670916" y="2560338"/>
                <a:ext cx="14728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zh-TW" altLang="en-US" i="1" smtClean="0">
                          <a:latin typeface="Cambria Math" panose="02040503050406030204" pitchFamily="18" charset="0"/>
                        </a:rPr>
                        <m:t>深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kumimoji="1" lang="zh-TW" altLang="en-US" dirty="0"/>
                        <m:t>庭</m:t>
                      </m:r>
                      <m:r>
                        <a:rPr kumimoji="1" lang="en-US" altLang="zh-TW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院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5CFB7F7D-1C6C-5331-9C3E-7E48E6341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0916" y="2560338"/>
                <a:ext cx="1472880" cy="369332"/>
              </a:xfrm>
              <a:prstGeom prst="rect">
                <a:avLst/>
              </a:prstGeom>
              <a:blipFill>
                <a:blip r:embed="rId4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62F2CAF3-7E60-2B72-EE9D-1EE38C15A64F}"/>
                  </a:ext>
                </a:extLst>
              </p:cNvPr>
              <p:cNvSpPr txBox="1"/>
              <p:nvPr/>
            </p:nvSpPr>
            <p:spPr>
              <a:xfrm>
                <a:off x="5152673" y="2560338"/>
                <a:ext cx="178965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zh-TW" altLang="en-US" i="1" smtClean="0">
                          <a:latin typeface="Cambria Math" panose="02040503050406030204" pitchFamily="18" charset="0"/>
                        </a:rPr>
                        <m:t>深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kumimoji="1" lang="zh-TW" altLang="en-US" dirty="0"/>
                        <m:t>庭</m:t>
                      </m:r>
                      <m:r>
                        <a:rPr kumimoji="1" lang="en-US" altLang="zh-TW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院</m:t>
                      </m:r>
                      <m:r>
                        <a:rPr kumimoji="1" lang="en-US" altLang="zh-TW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深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62F2CAF3-7E60-2B72-EE9D-1EE38C15A6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2673" y="2560338"/>
                <a:ext cx="1789657" cy="369332"/>
              </a:xfrm>
              <a:prstGeom prst="rect">
                <a:avLst/>
              </a:prstGeom>
              <a:blipFill>
                <a:blip r:embed="rId5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49B932DD-AC62-0EC3-0449-D3A5E17A4EA9}"/>
                  </a:ext>
                </a:extLst>
              </p:cNvPr>
              <p:cNvSpPr txBox="1"/>
              <p:nvPr/>
            </p:nvSpPr>
            <p:spPr>
              <a:xfrm>
                <a:off x="7690663" y="2560549"/>
                <a:ext cx="29934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zh-TW" altLang="en-US" i="1">
                          <a:latin typeface="Cambria Math" panose="02040503050406030204" pitchFamily="18" charset="0"/>
                        </a:rPr>
                        <m:t>許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kumimoji="1" lang="zh-TW" altLang="en-US" dirty="0"/>
                        <m:t>庭</m:t>
                      </m:r>
                      <m:r>
                        <a:rPr kumimoji="1" lang="en-US" altLang="zh-TW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院</m:t>
                      </m:r>
                      <m:r>
                        <a:rPr kumimoji="1" lang="en-US" altLang="zh-TW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深</m:t>
                      </m:r>
                      <m:r>
                        <a:rPr kumimoji="1" lang="en-US" altLang="zh-TW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深</m:t>
                      </m:r>
                      <m:r>
                        <a:rPr kumimoji="1" lang="en-US" altLang="zh-TW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深</m:t>
                      </m:r>
                      <m:r>
                        <a:rPr kumimoji="1" lang="en-US" altLang="zh-TW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幾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49B932DD-AC62-0EC3-0449-D3A5E17A4E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0663" y="2560549"/>
                <a:ext cx="2993452" cy="369332"/>
              </a:xfrm>
              <a:prstGeom prst="rect">
                <a:avLst/>
              </a:prstGeom>
              <a:blipFill>
                <a:blip r:embed="rId6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2C086C0B-884F-7D2D-0A1C-841E27AB509A}"/>
                  </a:ext>
                </a:extLst>
              </p:cNvPr>
              <p:cNvSpPr txBox="1"/>
              <p:nvPr/>
            </p:nvSpPr>
            <p:spPr>
              <a:xfrm>
                <a:off x="8495930" y="1985551"/>
                <a:ext cx="329640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1" lang="en-US" altLang="zh-TW" b="0" i="0" smtClean="0">
                          <a:latin typeface="Cambria Math" panose="02040503050406030204" pitchFamily="18" charset="0"/>
                        </a:rPr>
                        <m:t>EOS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kumimoji="1" lang="zh-TW" altLang="en-US" dirty="0"/>
                        <m:t>庭</m:t>
                      </m:r>
                      <m:r>
                        <a:rPr kumimoji="1" lang="en-US" altLang="zh-TW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院</m:t>
                      </m:r>
                      <m:r>
                        <a:rPr kumimoji="1" lang="en-US" altLang="zh-TW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深</m:t>
                      </m:r>
                      <m:r>
                        <a:rPr kumimoji="1" lang="en-US" altLang="zh-TW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深</m:t>
                      </m:r>
                      <m:r>
                        <a:rPr kumimoji="1" lang="en-US" altLang="zh-TW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深</m:t>
                      </m:r>
                      <m:r>
                        <a:rPr kumimoji="1" lang="en-US" altLang="zh-TW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幾</m:t>
                      </m:r>
                      <m:r>
                        <a:rPr kumimoji="1" lang="en-US" altLang="zh-TW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許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2C086C0B-884F-7D2D-0A1C-841E27AB5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5930" y="1985551"/>
                <a:ext cx="3296409" cy="369332"/>
              </a:xfrm>
              <a:prstGeom prst="rect">
                <a:avLst/>
              </a:prstGeom>
              <a:blipFill>
                <a:blip r:embed="rId7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CB2B4D7B-698D-DC75-98B4-531802CD8DB0}"/>
                  </a:ext>
                </a:extLst>
              </p:cNvPr>
              <p:cNvSpPr txBox="1"/>
              <p:nvPr/>
            </p:nvSpPr>
            <p:spPr>
              <a:xfrm>
                <a:off x="1630307" y="6285198"/>
                <a:ext cx="93867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TW" altLang="en-US" dirty="0"/>
                  <a:t>目標函數：</a:t>
                </a:r>
                <a:r>
                  <a:rPr kumimoji="1" lang="en-US" altLang="zh-TW" dirty="0"/>
                  <a:t>        </a:t>
                </a:r>
                <a14:m>
                  <m:oMath xmlns:m="http://schemas.openxmlformats.org/officeDocument/2006/math">
                    <m:r>
                      <a:rPr kumimoji="1" lang="en-US" altLang="zh-TW" sz="18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kumimoji="1" lang="en-US" altLang="zh-TW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zh-TW" altLang="en-US" i="1">
                        <a:latin typeface="Cambria Math" panose="02040503050406030204" pitchFamily="18" charset="0"/>
                      </a:rPr>
                      <m:t>院</m:t>
                    </m:r>
                    <m:r>
                      <a:rPr kumimoji="1" lang="en-US" altLang="zh-TW" sz="18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kumimoji="1" lang="zh-TW" altLang="en-US" dirty="0"/>
                      <m:t>庭</m:t>
                    </m:r>
                    <m:r>
                      <a:rPr kumimoji="1" lang="en-US" altLang="zh-TW" sz="18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×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𝑃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zh-TW" altLang="en-US" i="1">
                        <a:latin typeface="Cambria Math" panose="02040503050406030204" pitchFamily="18" charset="0"/>
                      </a:rPr>
                      <m:t>深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kumimoji="1" lang="zh-TW" altLang="en-US" dirty="0"/>
                      <m:t>庭</m:t>
                    </m:r>
                    <m:r>
                      <a:rPr kumimoji="1" lang="en-US" altLang="zh-TW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kumimoji="1" lang="zh-TW" altLang="en-US" i="1" dirty="0">
                        <a:latin typeface="Cambria Math" panose="02040503050406030204" pitchFamily="18" charset="0"/>
                      </a:rPr>
                      <m:t>院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×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𝑃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zh-TW" altLang="en-US" i="1">
                        <a:latin typeface="Cambria Math" panose="02040503050406030204" pitchFamily="18" charset="0"/>
                      </a:rPr>
                      <m:t>深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kumimoji="1" lang="zh-TW" altLang="en-US" dirty="0"/>
                      <m:t>庭</m:t>
                    </m:r>
                    <m:r>
                      <a:rPr kumimoji="1" lang="en-US" altLang="zh-TW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kumimoji="1" lang="zh-TW" altLang="en-US" i="1" dirty="0">
                        <a:latin typeface="Cambria Math" panose="02040503050406030204" pitchFamily="18" charset="0"/>
                      </a:rPr>
                      <m:t>院</m:t>
                    </m:r>
                    <m:r>
                      <a:rPr kumimoji="1" lang="en-US" altLang="zh-TW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zh-TW" altLang="en-US" i="1" dirty="0">
                        <a:latin typeface="Cambria Math" panose="02040503050406030204" pitchFamily="18" charset="0"/>
                      </a:rPr>
                      <m:t>深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TW" dirty="0"/>
                  <a:t>...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×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𝑃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kumimoji="1" lang="en-US" altLang="zh-TW">
                        <a:latin typeface="Cambria Math" panose="02040503050406030204" pitchFamily="18" charset="0"/>
                      </a:rPr>
                      <m:t>EOS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kumimoji="1" lang="zh-TW" altLang="en-US" dirty="0"/>
                      <m:t>庭</m:t>
                    </m:r>
                    <m:r>
                      <a:rPr kumimoji="1" lang="en-US" altLang="zh-TW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kumimoji="1" lang="zh-TW" altLang="en-US" i="1" dirty="0">
                        <a:latin typeface="Cambria Math" panose="02040503050406030204" pitchFamily="18" charset="0"/>
                      </a:rPr>
                      <m:t>院</m:t>
                    </m:r>
                    <m:r>
                      <a:rPr kumimoji="1" lang="en-US" altLang="zh-TW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zh-TW" altLang="en-US" i="1" dirty="0">
                        <a:latin typeface="Cambria Math" panose="02040503050406030204" pitchFamily="18" charset="0"/>
                      </a:rPr>
                      <m:t>深</m:t>
                    </m:r>
                    <m:r>
                      <a:rPr kumimoji="1" lang="en-US" altLang="zh-TW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zh-TW" altLang="en-US" i="1" dirty="0">
                        <a:latin typeface="Cambria Math" panose="02040503050406030204" pitchFamily="18" charset="0"/>
                      </a:rPr>
                      <m:t>深</m:t>
                    </m:r>
                    <m:r>
                      <a:rPr kumimoji="1" lang="en-US" altLang="zh-TW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zh-TW" altLang="en-US" i="1" dirty="0">
                        <a:latin typeface="Cambria Math" panose="02040503050406030204" pitchFamily="18" charset="0"/>
                      </a:rPr>
                      <m:t>深</m:t>
                    </m:r>
                    <m:r>
                      <a:rPr kumimoji="1" lang="en-US" altLang="zh-TW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zh-TW" altLang="en-US" i="1" dirty="0">
                        <a:latin typeface="Cambria Math" panose="02040503050406030204" pitchFamily="18" charset="0"/>
                      </a:rPr>
                      <m:t>幾</m:t>
                    </m:r>
                    <m:r>
                      <a:rPr kumimoji="1" lang="en-US" altLang="zh-TW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kumimoji="1" lang="zh-TW" altLang="en-US" i="1" dirty="0">
                        <a:latin typeface="Cambria Math" panose="02040503050406030204" pitchFamily="18" charset="0"/>
                      </a:rPr>
                      <m:t>許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CB2B4D7B-698D-DC75-98B4-531802CD8D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0307" y="6285198"/>
                <a:ext cx="9386716" cy="369332"/>
              </a:xfrm>
              <a:prstGeom prst="rect">
                <a:avLst/>
              </a:prstGeom>
              <a:blipFill>
                <a:blip r:embed="rId8"/>
                <a:stretch>
                  <a:fillRect l="-541" t="-9677" b="-193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文字方塊 44">
            <a:extLst>
              <a:ext uri="{FF2B5EF4-FFF2-40B4-BE49-F238E27FC236}">
                <a16:creationId xmlns:a16="http://schemas.microsoft.com/office/drawing/2014/main" id="{BA0110AC-0D07-A8AC-F1DA-E32B9D5F394D}"/>
              </a:ext>
            </a:extLst>
          </p:cNvPr>
          <p:cNvSpPr txBox="1"/>
          <p:nvPr/>
        </p:nvSpPr>
        <p:spPr>
          <a:xfrm>
            <a:off x="2806063" y="6258992"/>
            <a:ext cx="1014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>
                <a:solidFill>
                  <a:srgbClr val="FF0000"/>
                </a:solidFill>
              </a:rPr>
              <a:t>log(</a:t>
            </a:r>
            <a:endParaRPr kumimoji="1"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ED1A8C09-AA94-595C-7CA2-4C728282A6A3}"/>
              </a:ext>
            </a:extLst>
          </p:cNvPr>
          <p:cNvSpPr txBox="1"/>
          <p:nvPr/>
        </p:nvSpPr>
        <p:spPr>
          <a:xfrm>
            <a:off x="10661920" y="6258992"/>
            <a:ext cx="1014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>
                <a:solidFill>
                  <a:srgbClr val="FF0000"/>
                </a:solidFill>
              </a:rPr>
              <a:t>)</a:t>
            </a:r>
            <a:endParaRPr kumimoji="1" lang="zh-TW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2195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  <p:bldP spid="21" grpId="0" animBg="1"/>
      <p:bldP spid="23" grpId="0" animBg="1"/>
      <p:bldP spid="26" grpId="0" animBg="1"/>
      <p:bldP spid="33" grpId="0"/>
      <p:bldP spid="38" grpId="0"/>
      <p:bldP spid="39" grpId="0"/>
      <p:bldP spid="41" grpId="0"/>
      <p:bldP spid="42" grpId="0"/>
      <p:bldP spid="44" grpId="0"/>
      <p:bldP spid="45" grpId="0"/>
      <p:bldP spid="4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C202FB-6BC0-34FB-D56F-AEAF4FC1F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常見</a:t>
            </a:r>
            <a:r>
              <a:rPr kumimoji="1" lang="en-US" altLang="zh-TW" dirty="0"/>
              <a:t> Language Models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F69D133-9077-1833-8D05-851020542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文字方塊 2">
            <a:extLst>
              <a:ext uri="{FF2B5EF4-FFF2-40B4-BE49-F238E27FC236}">
                <a16:creationId xmlns:a16="http://schemas.microsoft.com/office/drawing/2014/main" id="{35194AD4-600B-AFA3-C393-D0C1290A3E51}"/>
              </a:ext>
            </a:extLst>
          </p:cNvPr>
          <p:cNvSpPr txBox="1"/>
          <p:nvPr/>
        </p:nvSpPr>
        <p:spPr>
          <a:xfrm>
            <a:off x="746660" y="1850666"/>
            <a:ext cx="4905993" cy="9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zh-TW" altLang="en-US" sz="2000" b="1" dirty="0">
                <a:solidFill>
                  <a:srgbClr val="00B050"/>
                </a:solidFill>
                <a:ea typeface="Microsoft JhengHei" panose="020B0604030504040204" pitchFamily="34" charset="-120"/>
              </a:rPr>
              <a:t>💡</a:t>
            </a:r>
            <a:r>
              <a:rPr kumimoji="1" lang="en-US" altLang="zh-TW" sz="2000" b="1" dirty="0">
                <a:solidFill>
                  <a:srgbClr val="00B050"/>
                </a:solidFill>
                <a:ea typeface="Microsoft JhengHei" panose="020B0604030504040204" pitchFamily="34" charset="-120"/>
              </a:rPr>
              <a:t>Language Models: </a:t>
            </a:r>
            <a:r>
              <a:rPr kumimoji="1" lang="zh-TW" altLang="en-US" sz="2000" b="1" dirty="0">
                <a:solidFill>
                  <a:srgbClr val="00B050"/>
                </a:solidFill>
                <a:ea typeface="Microsoft JhengHei" panose="020B0604030504040204" pitchFamily="34" charset="-120"/>
              </a:rPr>
              <a:t>透過 </a:t>
            </a:r>
            <a:r>
              <a:rPr kumimoji="1" lang="en-US" altLang="zh-TW" sz="2000" b="1" dirty="0">
                <a:solidFill>
                  <a:srgbClr val="00B050"/>
                </a:solidFill>
                <a:ea typeface="Microsoft JhengHei" panose="020B0604030504040204" pitchFamily="34" charset="-120"/>
              </a:rPr>
              <a:t>Language Modeling</a:t>
            </a:r>
            <a:r>
              <a:rPr kumimoji="1" lang="zh-TW" altLang="en-US" sz="2000" b="1" dirty="0">
                <a:solidFill>
                  <a:srgbClr val="00B050"/>
                </a:solidFill>
                <a:ea typeface="Microsoft JhengHei" panose="020B0604030504040204" pitchFamily="34" charset="-120"/>
              </a:rPr>
              <a:t> 去預測詞彙機率分佈的模型</a:t>
            </a: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23FF1C39-892D-65FF-7409-259C8CBEE11C}"/>
              </a:ext>
            </a:extLst>
          </p:cNvPr>
          <p:cNvSpPr/>
          <p:nvPr/>
        </p:nvSpPr>
        <p:spPr>
          <a:xfrm>
            <a:off x="1042767" y="3429000"/>
            <a:ext cx="1327077" cy="567357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RNN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7DE7F2E3-2F2A-E30C-D7D5-E9CE0A235633}"/>
              </a:ext>
            </a:extLst>
          </p:cNvPr>
          <p:cNvSpPr/>
          <p:nvPr/>
        </p:nvSpPr>
        <p:spPr>
          <a:xfrm>
            <a:off x="1042766" y="4323348"/>
            <a:ext cx="1805299" cy="567357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Transformer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17E955D4-BD45-F2E0-8C6B-ED07B98C0708}"/>
              </a:ext>
            </a:extLst>
          </p:cNvPr>
          <p:cNvSpPr/>
          <p:nvPr/>
        </p:nvSpPr>
        <p:spPr>
          <a:xfrm>
            <a:off x="1042766" y="5217696"/>
            <a:ext cx="1805299" cy="567357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GPT-series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BF0DF79-9FBA-437F-509B-A59B32A88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7694" y="1548119"/>
            <a:ext cx="3619047" cy="5159829"/>
          </a:xfrm>
          <a:prstGeom prst="rect">
            <a:avLst/>
          </a:prstGeom>
        </p:spPr>
      </p:pic>
      <p:sp>
        <p:nvSpPr>
          <p:cNvPr id="9" name="橢圓 8">
            <a:extLst>
              <a:ext uri="{FF2B5EF4-FFF2-40B4-BE49-F238E27FC236}">
                <a16:creationId xmlns:a16="http://schemas.microsoft.com/office/drawing/2014/main" id="{849A8796-0AC9-501B-8101-86BDF8FEE9C0}"/>
              </a:ext>
            </a:extLst>
          </p:cNvPr>
          <p:cNvSpPr/>
          <p:nvPr/>
        </p:nvSpPr>
        <p:spPr>
          <a:xfrm>
            <a:off x="7678882" y="1465119"/>
            <a:ext cx="1381991" cy="51954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2C907AF-3FE2-6FED-C77A-9397C3810897}"/>
              </a:ext>
            </a:extLst>
          </p:cNvPr>
          <p:cNvSpPr/>
          <p:nvPr/>
        </p:nvSpPr>
        <p:spPr>
          <a:xfrm>
            <a:off x="5947694" y="3075709"/>
            <a:ext cx="1784516" cy="3704976"/>
          </a:xfrm>
          <a:prstGeom prst="rect">
            <a:avLst/>
          </a:prstGeom>
          <a:solidFill>
            <a:schemeClr val="bg1">
              <a:lumMod val="75000"/>
              <a:alpha val="83438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1992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  <p:bldP spid="9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C0088F74-E7BD-9221-09BE-BD84A56E8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30086"/>
            <a:ext cx="3200400" cy="2610843"/>
          </a:xfrm>
        </p:spPr>
        <p:txBody>
          <a:bodyPr>
            <a:normAutofit/>
          </a:bodyPr>
          <a:lstStyle/>
          <a:p>
            <a:r>
              <a:rPr lang="en-US" altLang="zh-TW" sz="4400" dirty="0"/>
              <a:t>[Recap]</a:t>
            </a:r>
            <a:br>
              <a:rPr lang="en-US" altLang="zh-TW" sz="4400" dirty="0"/>
            </a:br>
            <a:r>
              <a:rPr lang="en-US" altLang="zh-TW" sz="4400" dirty="0"/>
              <a:t>Decoding Strategies</a:t>
            </a:r>
            <a:endParaRPr lang="zh-TW" altLang="en-US" sz="44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26CD975-2D44-BE2A-2880-315742DD1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E919598-F59B-45C4-7FB7-8DF7C89F5441}"/>
              </a:ext>
            </a:extLst>
          </p:cNvPr>
          <p:cNvSpPr txBox="1"/>
          <p:nvPr/>
        </p:nvSpPr>
        <p:spPr>
          <a:xfrm>
            <a:off x="4785362" y="2205990"/>
            <a:ext cx="3749040" cy="2610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800" dirty="0"/>
              <a:t>Greedy Decoding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800" dirty="0"/>
              <a:t>Beam Search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800" dirty="0"/>
              <a:t>Top-k Sampling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800" dirty="0"/>
              <a:t>Top-p Sampling</a:t>
            </a:r>
            <a:endParaRPr kumimoji="1"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111209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D38BD1-A353-EDA6-7142-F0C754E85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[Recap] Summary and the Thinking Route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B9E5F79-B867-B1A7-5565-CAD8DF064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15ABA2D3-F549-1738-AAEB-A5C79291133B}"/>
              </a:ext>
            </a:extLst>
          </p:cNvPr>
          <p:cNvSpPr/>
          <p:nvPr/>
        </p:nvSpPr>
        <p:spPr>
          <a:xfrm>
            <a:off x="2114550" y="2972380"/>
            <a:ext cx="1600200" cy="74295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Beam Search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44E4D143-7756-D108-26AD-715858B9C4D4}"/>
              </a:ext>
            </a:extLst>
          </p:cNvPr>
          <p:cNvSpPr/>
          <p:nvPr/>
        </p:nvSpPr>
        <p:spPr>
          <a:xfrm>
            <a:off x="2114550" y="1810802"/>
            <a:ext cx="1600200" cy="742950"/>
          </a:xfrm>
          <a:prstGeom prst="round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Greedy Decoding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C5A18AFC-D84A-E3D2-6414-F54CDABDF091}"/>
              </a:ext>
            </a:extLst>
          </p:cNvPr>
          <p:cNvSpPr/>
          <p:nvPr/>
        </p:nvSpPr>
        <p:spPr>
          <a:xfrm>
            <a:off x="2114550" y="4133958"/>
            <a:ext cx="1600200" cy="74295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Sampling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FBF1A92F-7143-5C58-56BE-B63FF3C7BB1C}"/>
              </a:ext>
            </a:extLst>
          </p:cNvPr>
          <p:cNvSpPr/>
          <p:nvPr/>
        </p:nvSpPr>
        <p:spPr>
          <a:xfrm>
            <a:off x="2114550" y="5295536"/>
            <a:ext cx="1600200" cy="742950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Truncated</a:t>
            </a:r>
            <a:r>
              <a:rPr kumimoji="1" lang="en-US" altLang="zh-TW" dirty="0">
                <a:solidFill>
                  <a:schemeClr val="tx1"/>
                </a:solidFill>
              </a:rPr>
              <a:t> Sampling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" name="肘形接點 4">
            <a:extLst>
              <a:ext uri="{FF2B5EF4-FFF2-40B4-BE49-F238E27FC236}">
                <a16:creationId xmlns:a16="http://schemas.microsoft.com/office/drawing/2014/main" id="{1ABDF74E-6D39-CA74-25B8-80EA51C1A7BE}"/>
              </a:ext>
            </a:extLst>
          </p:cNvPr>
          <p:cNvCxnSpPr>
            <a:cxnSpLocks/>
          </p:cNvCxnSpPr>
          <p:nvPr/>
        </p:nvCxnSpPr>
        <p:spPr>
          <a:xfrm>
            <a:off x="3714750" y="2090837"/>
            <a:ext cx="12700" cy="1161578"/>
          </a:xfrm>
          <a:prstGeom prst="bentConnector3">
            <a:avLst>
              <a:gd name="adj1" fmla="val 459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肘形接點 6">
            <a:extLst>
              <a:ext uri="{FF2B5EF4-FFF2-40B4-BE49-F238E27FC236}">
                <a16:creationId xmlns:a16="http://schemas.microsoft.com/office/drawing/2014/main" id="{F7B4984B-1377-B4FD-FA27-71A287A854F9}"/>
              </a:ext>
            </a:extLst>
          </p:cNvPr>
          <p:cNvCxnSpPr>
            <a:cxnSpLocks/>
          </p:cNvCxnSpPr>
          <p:nvPr/>
        </p:nvCxnSpPr>
        <p:spPr>
          <a:xfrm>
            <a:off x="3727450" y="3327239"/>
            <a:ext cx="12700" cy="1161578"/>
          </a:xfrm>
          <a:prstGeom prst="bentConnector3">
            <a:avLst>
              <a:gd name="adj1" fmla="val 459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肘形接點 7">
            <a:extLst>
              <a:ext uri="{FF2B5EF4-FFF2-40B4-BE49-F238E27FC236}">
                <a16:creationId xmlns:a16="http://schemas.microsoft.com/office/drawing/2014/main" id="{19788496-611F-9C41-8B25-569410397D8B}"/>
              </a:ext>
            </a:extLst>
          </p:cNvPr>
          <p:cNvCxnSpPr>
            <a:cxnSpLocks/>
          </p:cNvCxnSpPr>
          <p:nvPr/>
        </p:nvCxnSpPr>
        <p:spPr>
          <a:xfrm>
            <a:off x="3740150" y="4566157"/>
            <a:ext cx="12700" cy="1161578"/>
          </a:xfrm>
          <a:prstGeom prst="bentConnector3">
            <a:avLst>
              <a:gd name="adj1" fmla="val 459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EC7512EA-58D1-EC73-C4F0-05814C014790}"/>
              </a:ext>
            </a:extLst>
          </p:cNvPr>
          <p:cNvSpPr txBox="1"/>
          <p:nvPr/>
        </p:nvSpPr>
        <p:spPr>
          <a:xfrm>
            <a:off x="4502380" y="2326049"/>
            <a:ext cx="60540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Greedy decoding always selects the best choice at each time step and becomes problematic for early mistakes.</a:t>
            </a:r>
            <a:endParaRPr kumimoji="1"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10C92C5-8453-E0DA-30D7-9CF4F05FC5C9}"/>
              </a:ext>
            </a:extLst>
          </p:cNvPr>
          <p:cNvSpPr txBox="1"/>
          <p:nvPr/>
        </p:nvSpPr>
        <p:spPr>
          <a:xfrm>
            <a:off x="4502380" y="3715330"/>
            <a:ext cx="53345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Models can fall into repetitive loops with beam search, especially for longer text.</a:t>
            </a:r>
            <a:endParaRPr kumimoji="1"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FA58DF5-579F-1D84-3AC6-F63C4C753FA3}"/>
              </a:ext>
            </a:extLst>
          </p:cNvPr>
          <p:cNvSpPr txBox="1"/>
          <p:nvPr/>
        </p:nvSpPr>
        <p:spPr>
          <a:xfrm>
            <a:off x="4565880" y="4835210"/>
            <a:ext cx="53345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Random sampling takes words with low probabilities into considerations.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65065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C11DE-095F-C7F8-6944-025200B1D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3EB7266B-9027-11EC-CA60-26E9D1C95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大型語言模型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D203BE7-4195-D630-EE4C-2D45439B7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BDFC464-F871-CC65-B7CE-56785E6051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LLM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9098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0868FB-6F6F-35BC-A23D-E0A4D5252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The Revolution of </a:t>
            </a:r>
            <a:r>
              <a:rPr kumimoji="1" lang="en-US" altLang="zh-TW" dirty="0" err="1"/>
              <a:t>ChatGPT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DD7684D-DA0F-B6F8-7ABC-6110B2CE0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9E07DDE-D011-6299-A807-ED42ACC99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2013" y="2080805"/>
            <a:ext cx="7060629" cy="3972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46E1A2F0-2B3B-1E98-C744-317CE2B4F219}"/>
              </a:ext>
            </a:extLst>
          </p:cNvPr>
          <p:cNvSpPr txBox="1"/>
          <p:nvPr/>
        </p:nvSpPr>
        <p:spPr>
          <a:xfrm>
            <a:off x="2477765" y="6257465"/>
            <a:ext cx="72691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dirty="0"/>
              <a:t>Figure source: https://</a:t>
            </a:r>
            <a:r>
              <a:rPr kumimoji="1" lang="en-US" altLang="zh-TW" sz="1400" dirty="0" err="1"/>
              <a:t>poole.ncsu.edu</a:t>
            </a:r>
            <a:r>
              <a:rPr kumimoji="1" lang="en-US" altLang="zh-TW" sz="1400" dirty="0"/>
              <a:t>/thought-leadership/article/lets-chat-about-</a:t>
            </a:r>
            <a:r>
              <a:rPr kumimoji="1" lang="en-US" altLang="zh-TW" sz="1400" dirty="0" err="1"/>
              <a:t>chatgpt</a:t>
            </a:r>
            <a:r>
              <a:rPr kumimoji="1" lang="en-US" altLang="zh-TW" sz="1400" dirty="0"/>
              <a:t>/</a:t>
            </a:r>
          </a:p>
          <a:p>
            <a:r>
              <a:rPr kumimoji="1" lang="en" altLang="zh-TW" sz="1400" dirty="0"/>
              <a:t>https://</a:t>
            </a:r>
            <a:r>
              <a:rPr kumimoji="1" lang="en" altLang="zh-TW" sz="1400" dirty="0" err="1"/>
              <a:t>openai.com</a:t>
            </a:r>
            <a:r>
              <a:rPr kumimoji="1" lang="en" altLang="zh-TW" sz="1400" dirty="0"/>
              <a:t>/index/</a:t>
            </a:r>
            <a:r>
              <a:rPr kumimoji="1" lang="en" altLang="zh-TW" sz="1400" dirty="0" err="1"/>
              <a:t>chatgpt</a:t>
            </a:r>
            <a:r>
              <a:rPr kumimoji="1" lang="en" altLang="zh-TW" sz="1400" dirty="0"/>
              <a:t>/</a:t>
            </a:r>
            <a:endParaRPr kumimoji="1" lang="zh-TW" altLang="en-US" sz="14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0C202C2-0880-D4B3-31EA-6667DAC9DEA5}"/>
              </a:ext>
            </a:extLst>
          </p:cNvPr>
          <p:cNvSpPr txBox="1"/>
          <p:nvPr/>
        </p:nvSpPr>
        <p:spPr>
          <a:xfrm>
            <a:off x="653142" y="1586711"/>
            <a:ext cx="4866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 err="1"/>
              <a:t>ChatGPT</a:t>
            </a:r>
            <a:r>
              <a:rPr kumimoji="1" lang="en" altLang="zh-TW" dirty="0"/>
              <a:t> came out in November, 2022.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417315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383B8E-7820-D6F6-1C6B-194598F6A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寫程式？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E5587BB-EC37-736E-70C2-05C8113BA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568C2ED-30D9-52AF-9412-E7017E000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443" y="1877450"/>
            <a:ext cx="7457114" cy="4014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320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4C97F4-586E-F208-C8EA-193C69B0D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Code Llama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C5FDBBC-AD7B-D79D-01BB-9B2DBEF33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7DCAE8C-A040-8805-C91A-409E8AD8C9CB}"/>
              </a:ext>
            </a:extLst>
          </p:cNvPr>
          <p:cNvSpPr txBox="1"/>
          <p:nvPr/>
        </p:nvSpPr>
        <p:spPr>
          <a:xfrm>
            <a:off x="7969625" y="987093"/>
            <a:ext cx="3581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https://</a:t>
            </a:r>
            <a:r>
              <a:rPr kumimoji="1" lang="en" altLang="zh-TW" dirty="0" err="1"/>
              <a:t>arxiv.org</a:t>
            </a:r>
            <a:r>
              <a:rPr kumimoji="1" lang="en" altLang="zh-TW" dirty="0"/>
              <a:t>/abs/2308.12950</a:t>
            </a:r>
            <a:endParaRPr kumimoji="1" lang="zh-TW" altLang="en-US" dirty="0"/>
          </a:p>
        </p:txBody>
      </p:sp>
      <p:pic>
        <p:nvPicPr>
          <p:cNvPr id="7" name="圖片 6" descr="一張含有 文字, 螢幕擷取畫面, 軟體, 作業系統 的圖片&#10;&#10;AI 產生的內容可能不正確。">
            <a:extLst>
              <a:ext uri="{FF2B5EF4-FFF2-40B4-BE49-F238E27FC236}">
                <a16:creationId xmlns:a16="http://schemas.microsoft.com/office/drawing/2014/main" id="{57AF73A1-E2C5-469B-5F13-07928441D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627" y="1514953"/>
            <a:ext cx="9036745" cy="5083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9385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01E046-4B7F-576F-5217-73815E85B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大型語言模型的演化樹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BDC1253-FB74-481A-3604-569596C8D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7F15F43-9333-0F89-6741-3E82150A4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986" y="1541284"/>
            <a:ext cx="6521370" cy="5080085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9D59790F-3374-1176-1EF0-C3FA17FE1DED}"/>
              </a:ext>
            </a:extLst>
          </p:cNvPr>
          <p:cNvSpPr txBox="1"/>
          <p:nvPr/>
        </p:nvSpPr>
        <p:spPr>
          <a:xfrm>
            <a:off x="7976565" y="5882415"/>
            <a:ext cx="35949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en" altLang="zh-TW" sz="1200" dirty="0"/>
              <a:t>Yang, </a:t>
            </a:r>
            <a:r>
              <a:rPr kumimoji="1" lang="en" altLang="zh-TW" sz="1200" dirty="0" err="1"/>
              <a:t>Jingfeng</a:t>
            </a:r>
            <a:r>
              <a:rPr kumimoji="1" lang="en" altLang="zh-TW" sz="1200" dirty="0"/>
              <a:t>, et al. "Harnessing the power of </a:t>
            </a:r>
            <a:r>
              <a:rPr kumimoji="1" lang="en" altLang="zh-TW" sz="1200" dirty="0" err="1"/>
              <a:t>llms</a:t>
            </a:r>
            <a:r>
              <a:rPr kumimoji="1" lang="en" altLang="zh-TW" sz="1200" dirty="0"/>
              <a:t> in practice: A survey on </a:t>
            </a:r>
            <a:r>
              <a:rPr kumimoji="1" lang="en" altLang="zh-TW" sz="1200" dirty="0" err="1"/>
              <a:t>chatgpt</a:t>
            </a:r>
            <a:r>
              <a:rPr kumimoji="1" lang="en" altLang="zh-TW" sz="1200" dirty="0"/>
              <a:t> and beyond." ACM Transactions on Knowledge Discovery from Data 18.6 (2024): 1-32.</a:t>
            </a:r>
            <a:endParaRPr kumimoji="1"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9551035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CE769A-E8A8-2117-57F5-8A9F59220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800" dirty="0">
                <a:ea typeface="+mj-lt"/>
                <a:cs typeface="Times New Roman"/>
              </a:rPr>
              <a:t>NLP </a:t>
            </a:r>
            <a:r>
              <a:rPr lang="en-US" altLang="zh-TW" dirty="0">
                <a:ea typeface="+mj-lt"/>
                <a:cs typeface="Times New Roman"/>
              </a:rPr>
              <a:t>Model </a:t>
            </a:r>
            <a:r>
              <a:rPr lang="en-US" altLang="zh-TW" sz="4800" dirty="0">
                <a:ea typeface="+mj-lt"/>
                <a:cs typeface="Times New Roman"/>
              </a:rPr>
              <a:t>Sizes (2018 – 2025)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E4A54C-F7AA-7493-444D-BD6FA398B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6" name="圖片 5" descr="一張含有 文字, 行, 繪圖, 數字 的圖片&#10;&#10;AI 產生的內容可能不正確。">
            <a:extLst>
              <a:ext uri="{FF2B5EF4-FFF2-40B4-BE49-F238E27FC236}">
                <a16:creationId xmlns:a16="http://schemas.microsoft.com/office/drawing/2014/main" id="{9327E867-45B1-7122-4696-DE563E508B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214" y="2036854"/>
            <a:ext cx="9867069" cy="4183637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9B999603-C87E-8FDB-9B00-0D869C77C558}"/>
              </a:ext>
            </a:extLst>
          </p:cNvPr>
          <p:cNvSpPr txBox="1"/>
          <p:nvPr/>
        </p:nvSpPr>
        <p:spPr>
          <a:xfrm>
            <a:off x="653143" y="2349909"/>
            <a:ext cx="743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2025</a:t>
            </a:r>
            <a:endParaRPr kumimoji="1"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EBE7AFF-1B48-84B0-F6B5-CFBBCFEF434A}"/>
              </a:ext>
            </a:extLst>
          </p:cNvPr>
          <p:cNvSpPr txBox="1"/>
          <p:nvPr/>
        </p:nvSpPr>
        <p:spPr>
          <a:xfrm>
            <a:off x="653143" y="5392993"/>
            <a:ext cx="743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2018</a:t>
            </a:r>
            <a:endParaRPr kumimoji="1" lang="zh-TW" altLang="en-US" dirty="0"/>
          </a:p>
        </p:txBody>
      </p: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E4C60897-BF57-3F4C-C90B-5AD99C0E277C}"/>
              </a:ext>
            </a:extLst>
          </p:cNvPr>
          <p:cNvCxnSpPr>
            <a:cxnSpLocks/>
            <a:stCxn id="8" idx="0"/>
            <a:endCxn id="7" idx="2"/>
          </p:cNvCxnSpPr>
          <p:nvPr/>
        </p:nvCxnSpPr>
        <p:spPr>
          <a:xfrm flipV="1">
            <a:off x="1024662" y="2719241"/>
            <a:ext cx="0" cy="267375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F97C908-6F94-661D-132A-C0C6C4231402}"/>
              </a:ext>
            </a:extLst>
          </p:cNvPr>
          <p:cNvSpPr txBox="1"/>
          <p:nvPr/>
        </p:nvSpPr>
        <p:spPr>
          <a:xfrm>
            <a:off x="7322103" y="1390523"/>
            <a:ext cx="3132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3600" dirty="0"/>
              <a:t>💰💰💰💰💰</a:t>
            </a: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8406BF29-CDFF-984D-98B4-2F791E2EB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1168" y="872796"/>
            <a:ext cx="1343045" cy="1364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244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7DFF94-A242-C744-529C-435DA4ED6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很多厲害的大型語言模型都需要上網</a:t>
            </a:r>
            <a:r>
              <a:rPr kumimoji="1" lang="en-US" altLang="zh-TW" dirty="0"/>
              <a:t>...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1037C42-39C2-67D3-8C2F-5489F702D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42048765-01F4-B795-0585-E166D3B332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8558" y="2583946"/>
            <a:ext cx="3317240" cy="3317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BF63747A-4941-F05E-3069-5E7824DDC51A}"/>
              </a:ext>
            </a:extLst>
          </p:cNvPr>
          <p:cNvSpPr txBox="1"/>
          <p:nvPr/>
        </p:nvSpPr>
        <p:spPr>
          <a:xfrm>
            <a:off x="5655386" y="2138770"/>
            <a:ext cx="4003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Llama (7B - 65B) by Meta (2023)</a:t>
            </a:r>
            <a:endParaRPr kumimoji="1" lang="zh-TW" altLang="en-US" dirty="0"/>
          </a:p>
        </p:txBody>
      </p:sp>
      <p:pic>
        <p:nvPicPr>
          <p:cNvPr id="3" name="Picture 2" descr="掌控社群媒體的隱形力量 一文看懂Meta AI">
            <a:extLst>
              <a:ext uri="{FF2B5EF4-FFF2-40B4-BE49-F238E27FC236}">
                <a16:creationId xmlns:a16="http://schemas.microsoft.com/office/drawing/2014/main" id="{CFBBCF11-AB49-D6AB-9D2E-3CC05EFD28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0976" y="3204972"/>
            <a:ext cx="2681681" cy="1401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89020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DDE91B7-EAD0-7C34-7C48-34E13D72C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33C6AF22-180E-C7B3-12FA-B9C03C9F69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605" y="1114964"/>
            <a:ext cx="5482331" cy="426065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174AB07A-C29F-D334-BAAB-CB748FFCA0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114964"/>
            <a:ext cx="5759191" cy="4260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9464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8BCDA0-487C-1827-E408-A70A1FFD6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以前的 </a:t>
            </a:r>
            <a:r>
              <a:rPr kumimoji="1" lang="en-US" altLang="zh-TW" dirty="0"/>
              <a:t>GPT</a:t>
            </a:r>
            <a:r>
              <a:rPr kumimoji="1" lang="zh-TW" altLang="en-US" dirty="0"/>
              <a:t> 有口吃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139575A-6C29-1E98-B79E-387E71BC4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16C1DD5-97DE-81CF-FCD5-B617DB2D1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405" y="2082990"/>
            <a:ext cx="10155190" cy="391048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21A4BF0C-9016-F054-3F01-09E4E7DF534E}"/>
              </a:ext>
            </a:extLst>
          </p:cNvPr>
          <p:cNvSpPr txBox="1"/>
          <p:nvPr/>
        </p:nvSpPr>
        <p:spPr>
          <a:xfrm>
            <a:off x="749807" y="1536192"/>
            <a:ext cx="45662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 err="1"/>
              <a:t>InstructGPT</a:t>
            </a:r>
            <a:r>
              <a:rPr kumimoji="1" lang="en-US" altLang="zh-TW" sz="2000" dirty="0"/>
              <a:t>: </a:t>
            </a:r>
            <a:r>
              <a:rPr kumimoji="1" lang="en-US" altLang="zh-TW" sz="2000" dirty="0" err="1"/>
              <a:t>ChatGPT</a:t>
            </a:r>
            <a:r>
              <a:rPr kumimoji="1" lang="en-US" altLang="zh-TW" sz="2000" dirty="0"/>
              <a:t> </a:t>
            </a:r>
            <a:r>
              <a:rPr kumimoji="1" lang="zh-TW" altLang="en-US" sz="2000" dirty="0"/>
              <a:t>的前身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C72633A-D4F5-4FBB-4D43-FD390B8BEDCA}"/>
              </a:ext>
            </a:extLst>
          </p:cNvPr>
          <p:cNvSpPr txBox="1"/>
          <p:nvPr/>
        </p:nvSpPr>
        <p:spPr>
          <a:xfrm>
            <a:off x="2642616" y="6257465"/>
            <a:ext cx="7982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200" dirty="0"/>
              <a:t>Figure source: https://</a:t>
            </a:r>
            <a:r>
              <a:rPr kumimoji="1" lang="en-US" altLang="zh-TW" sz="1200" dirty="0" err="1"/>
              <a:t>openai.com</a:t>
            </a:r>
            <a:r>
              <a:rPr kumimoji="1" lang="en-US" altLang="zh-TW" sz="1200" dirty="0"/>
              <a:t>/index/instruction-following/</a:t>
            </a:r>
          </a:p>
          <a:p>
            <a:r>
              <a:rPr kumimoji="1" lang="en" altLang="zh-TW" sz="1200" dirty="0"/>
              <a:t>Ouyang, Long, et al. “Training language models to follow instructions with human feedback.” </a:t>
            </a:r>
            <a:r>
              <a:rPr kumimoji="1" lang="en" altLang="zh-TW" sz="1200" dirty="0" err="1"/>
              <a:t>NeurIPS</a:t>
            </a:r>
            <a:r>
              <a:rPr kumimoji="1" lang="en" altLang="zh-TW" sz="1200" dirty="0"/>
              <a:t> 2022.</a:t>
            </a:r>
            <a:endParaRPr kumimoji="1"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9449809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D9C1CA-7917-2BE2-465A-677A71A83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GPT</a:t>
            </a:r>
            <a:r>
              <a:rPr kumimoji="1" lang="zh-TW" altLang="en-US" dirty="0"/>
              <a:t>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系列作品時間線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4F44DE6-C0A7-9422-B69D-EA16ECC46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20</a:t>
            </a:fld>
            <a:endParaRPr lang="en-US" dirty="0"/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4AC5B4B8-3085-A898-55F9-3CAF218C72DA}"/>
              </a:ext>
            </a:extLst>
          </p:cNvPr>
          <p:cNvCxnSpPr/>
          <p:nvPr/>
        </p:nvCxnSpPr>
        <p:spPr>
          <a:xfrm>
            <a:off x="2300630" y="1978848"/>
            <a:ext cx="0" cy="41989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橢圓 4">
            <a:extLst>
              <a:ext uri="{FF2B5EF4-FFF2-40B4-BE49-F238E27FC236}">
                <a16:creationId xmlns:a16="http://schemas.microsoft.com/office/drawing/2014/main" id="{439AFCA8-6D14-D3F8-6EF7-A75FEEFEE48F}"/>
              </a:ext>
            </a:extLst>
          </p:cNvPr>
          <p:cNvSpPr/>
          <p:nvPr/>
        </p:nvSpPr>
        <p:spPr>
          <a:xfrm>
            <a:off x="2157983" y="2286086"/>
            <a:ext cx="285293" cy="285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5ADBF2B-0BD9-EB83-CA81-A376629983EC}"/>
              </a:ext>
            </a:extLst>
          </p:cNvPr>
          <p:cNvSpPr txBox="1"/>
          <p:nvPr/>
        </p:nvSpPr>
        <p:spPr>
          <a:xfrm>
            <a:off x="2637128" y="2247637"/>
            <a:ext cx="6792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(GPT-1) Improving language understanding by generative pre-training</a:t>
            </a:r>
            <a:endParaRPr kumimoji="1"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D2CE923-D0F8-94AC-DAF7-DD41B064D9D3}"/>
              </a:ext>
            </a:extLst>
          </p:cNvPr>
          <p:cNvSpPr txBox="1"/>
          <p:nvPr/>
        </p:nvSpPr>
        <p:spPr>
          <a:xfrm>
            <a:off x="701042" y="2247637"/>
            <a:ext cx="1431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2018/06/11</a:t>
            </a:r>
            <a:endParaRPr kumimoji="1" lang="zh-TW" altLang="en-US" dirty="0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D722DC01-D93C-7658-52E2-0FA76CB8B32D}"/>
              </a:ext>
            </a:extLst>
          </p:cNvPr>
          <p:cNvSpPr/>
          <p:nvPr/>
        </p:nvSpPr>
        <p:spPr>
          <a:xfrm>
            <a:off x="2157983" y="3063666"/>
            <a:ext cx="285293" cy="285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E9A618C-1B07-2183-EF2B-65850BDFD006}"/>
              </a:ext>
            </a:extLst>
          </p:cNvPr>
          <p:cNvSpPr txBox="1"/>
          <p:nvPr/>
        </p:nvSpPr>
        <p:spPr>
          <a:xfrm>
            <a:off x="2637127" y="3021646"/>
            <a:ext cx="6792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(GPT-2) Language models are multi-task learners</a:t>
            </a:r>
            <a:endParaRPr kumimoji="1"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609AFD01-D628-26AA-2D6C-43A9BB5053B8}"/>
              </a:ext>
            </a:extLst>
          </p:cNvPr>
          <p:cNvSpPr txBox="1"/>
          <p:nvPr/>
        </p:nvSpPr>
        <p:spPr>
          <a:xfrm>
            <a:off x="2637127" y="4036290"/>
            <a:ext cx="6792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(GPT-3) Language models are few-shot learners</a:t>
            </a:r>
            <a:endParaRPr kumimoji="1"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46AF2BF-58D3-1570-FB62-3EB7CE798199}"/>
              </a:ext>
            </a:extLst>
          </p:cNvPr>
          <p:cNvSpPr txBox="1"/>
          <p:nvPr/>
        </p:nvSpPr>
        <p:spPr>
          <a:xfrm>
            <a:off x="701042" y="3021646"/>
            <a:ext cx="1431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2019/02/14</a:t>
            </a:r>
            <a:endParaRPr kumimoji="1"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A01F6822-C57B-6B62-01E8-50977809A3E0}"/>
              </a:ext>
            </a:extLst>
          </p:cNvPr>
          <p:cNvSpPr txBox="1"/>
          <p:nvPr/>
        </p:nvSpPr>
        <p:spPr>
          <a:xfrm>
            <a:off x="701042" y="4032719"/>
            <a:ext cx="1431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2020/05/28</a:t>
            </a:r>
            <a:endParaRPr kumimoji="1" lang="zh-TW" altLang="en-US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5D634AA5-7FEE-B0A4-2BD6-A10F32DDE57B}"/>
              </a:ext>
            </a:extLst>
          </p:cNvPr>
          <p:cNvSpPr/>
          <p:nvPr/>
        </p:nvSpPr>
        <p:spPr>
          <a:xfrm>
            <a:off x="2157982" y="4078310"/>
            <a:ext cx="285293" cy="285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147978BA-139F-775B-A5BA-EFE52818C134}"/>
              </a:ext>
            </a:extLst>
          </p:cNvPr>
          <p:cNvSpPr txBox="1"/>
          <p:nvPr/>
        </p:nvSpPr>
        <p:spPr>
          <a:xfrm>
            <a:off x="2637126" y="5403013"/>
            <a:ext cx="8853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(</a:t>
            </a:r>
            <a:r>
              <a:rPr kumimoji="1" lang="en-US" altLang="zh-TW" dirty="0" err="1"/>
              <a:t>InstructGPT</a:t>
            </a:r>
            <a:r>
              <a:rPr kumimoji="1" lang="en-US" altLang="zh-TW" dirty="0"/>
              <a:t>) Training language models to follow instructions with human feedback</a:t>
            </a:r>
            <a:endParaRPr kumimoji="1"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371A8752-0CC8-5A0A-FC45-4E9F832B382A}"/>
              </a:ext>
            </a:extLst>
          </p:cNvPr>
          <p:cNvSpPr txBox="1"/>
          <p:nvPr/>
        </p:nvSpPr>
        <p:spPr>
          <a:xfrm>
            <a:off x="701042" y="5399442"/>
            <a:ext cx="1431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2022/05/04</a:t>
            </a:r>
            <a:endParaRPr kumimoji="1" lang="zh-TW" altLang="en-US" dirty="0"/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07E64C07-F418-9242-01C1-14C1433BE614}"/>
              </a:ext>
            </a:extLst>
          </p:cNvPr>
          <p:cNvSpPr/>
          <p:nvPr/>
        </p:nvSpPr>
        <p:spPr>
          <a:xfrm>
            <a:off x="2157982" y="5445033"/>
            <a:ext cx="285293" cy="285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731528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22197C-1AFC-B4A8-763C-5C7B01311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From GPT-2 to GPT-3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D782869-950A-5F17-2663-E365B2742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E924F56-9E47-3317-C83E-A71B8EA21211}"/>
              </a:ext>
            </a:extLst>
          </p:cNvPr>
          <p:cNvSpPr txBox="1"/>
          <p:nvPr/>
        </p:nvSpPr>
        <p:spPr>
          <a:xfrm>
            <a:off x="653143" y="1447097"/>
            <a:ext cx="11144410" cy="1420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Use </a:t>
            </a:r>
            <a:r>
              <a:rPr kumimoji="1" lang="en-US" altLang="zh-TW" sz="2000" dirty="0">
                <a:solidFill>
                  <a:srgbClr val="FF0000"/>
                </a:solidFill>
              </a:rPr>
              <a:t>Sparse Transformer </a:t>
            </a:r>
            <a:r>
              <a:rPr kumimoji="1" lang="en-US" altLang="zh-TW" sz="2000" dirty="0"/>
              <a:t>(also developed by </a:t>
            </a:r>
            <a:r>
              <a:rPr kumimoji="1" lang="en-US" altLang="zh-TW" sz="2000" dirty="0" err="1"/>
              <a:t>OpenAI</a:t>
            </a:r>
            <a:r>
              <a:rPr kumimoji="1" lang="en-US" altLang="zh-TW" sz="2000" dirty="0"/>
              <a:t> itself)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Improve self-attention efficiency while maintaining the performance (Child et al., 2019)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Increase model size</a:t>
            </a:r>
            <a:endParaRPr kumimoji="1" lang="zh-TW" altLang="en-US" sz="20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C56F2E0-204E-442E-5C8F-4200BAFA4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930" y="3044154"/>
            <a:ext cx="9119478" cy="2865706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4E26613A-F2A7-6328-668B-6F164CD385E0}"/>
              </a:ext>
            </a:extLst>
          </p:cNvPr>
          <p:cNvSpPr txBox="1"/>
          <p:nvPr/>
        </p:nvSpPr>
        <p:spPr>
          <a:xfrm>
            <a:off x="1669964" y="3595259"/>
            <a:ext cx="1232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GPT-2-like sizes</a:t>
            </a:r>
            <a:endParaRPr kumimoji="1" lang="zh-TW" altLang="en-US" dirty="0"/>
          </a:p>
        </p:txBody>
      </p:sp>
      <p:sp>
        <p:nvSpPr>
          <p:cNvPr id="8" name="左中括弧 7">
            <a:extLst>
              <a:ext uri="{FF2B5EF4-FFF2-40B4-BE49-F238E27FC236}">
                <a16:creationId xmlns:a16="http://schemas.microsoft.com/office/drawing/2014/main" id="{D0C167D3-3B3E-DA4B-C457-65D6793C7F33}"/>
              </a:ext>
            </a:extLst>
          </p:cNvPr>
          <p:cNvSpPr/>
          <p:nvPr/>
        </p:nvSpPr>
        <p:spPr>
          <a:xfrm>
            <a:off x="2858683" y="3500399"/>
            <a:ext cx="126563" cy="805422"/>
          </a:xfrm>
          <a:prstGeom prst="leftBracket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61A9160-0B4D-E723-2368-3D50A62BB279}"/>
              </a:ext>
            </a:extLst>
          </p:cNvPr>
          <p:cNvSpPr/>
          <p:nvPr/>
        </p:nvSpPr>
        <p:spPr>
          <a:xfrm>
            <a:off x="2902706" y="4998697"/>
            <a:ext cx="2103120" cy="21828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89886C3-C405-178F-8C8E-5202041F2BDD}"/>
              </a:ext>
            </a:extLst>
          </p:cNvPr>
          <p:cNvSpPr txBox="1"/>
          <p:nvPr/>
        </p:nvSpPr>
        <p:spPr>
          <a:xfrm>
            <a:off x="454350" y="4923174"/>
            <a:ext cx="2530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Common GPT-3 size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9A50CEA-CF35-E906-314A-BD22A20FE7C8}"/>
              </a:ext>
            </a:extLst>
          </p:cNvPr>
          <p:cNvSpPr txBox="1"/>
          <p:nvPr/>
        </p:nvSpPr>
        <p:spPr>
          <a:xfrm>
            <a:off x="1740759" y="6271079"/>
            <a:ext cx="94382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200" dirty="0"/>
              <a:t>Child, Rewon, et al. "Generating long sequences with sparse transformers." </a:t>
            </a:r>
            <a:r>
              <a:rPr lang="en" altLang="zh-TW" sz="1200" i="1" dirty="0" err="1"/>
              <a:t>arXiv</a:t>
            </a:r>
            <a:r>
              <a:rPr lang="en" altLang="zh-TW" sz="1200" i="1" dirty="0"/>
              <a:t> preprint arXiv:1904.10509</a:t>
            </a:r>
            <a:r>
              <a:rPr lang="en" altLang="zh-TW" sz="1200" dirty="0"/>
              <a:t> (2019).</a:t>
            </a:r>
          </a:p>
          <a:p>
            <a:r>
              <a:rPr lang="en" altLang="zh-TW" sz="1200" dirty="0"/>
              <a:t>Brown, Tom, et al. "Language models are few-shot learners." Advances in neural information processing systems 33 (2020): 1877-1901.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0885875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0D8441-FACB-F63A-DC5D-74C13C960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en-US" altLang="zh-TW" sz="4100" dirty="0"/>
              <a:t>GPT-3: Language Models are Few-Shot Learners</a:t>
            </a:r>
            <a:endParaRPr kumimoji="1" lang="zh-TW" altLang="en-US" sz="41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4835E05-F217-EE1C-AE30-59FB89B40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AB47C7B-18E5-8B59-5567-7E15B6DF7968}"/>
              </a:ext>
            </a:extLst>
          </p:cNvPr>
          <p:cNvSpPr txBox="1"/>
          <p:nvPr/>
        </p:nvSpPr>
        <p:spPr>
          <a:xfrm>
            <a:off x="653143" y="1527272"/>
            <a:ext cx="8332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dirty="0"/>
              <a:t>The three settings explored for </a:t>
            </a:r>
            <a:r>
              <a:rPr kumimoji="1" lang="en-US" altLang="zh-TW" dirty="0">
                <a:solidFill>
                  <a:srgbClr val="FF0000"/>
                </a:solidFill>
              </a:rPr>
              <a:t>in-context learning </a:t>
            </a:r>
            <a:r>
              <a:rPr kumimoji="1" lang="en-US" altLang="zh-TW" dirty="0"/>
              <a:t>in the GPT-3 paper:</a:t>
            </a:r>
            <a:endParaRPr kumimoji="1"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5C3648F-3256-729F-2034-7364B733A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189" y="2208229"/>
            <a:ext cx="4271010" cy="177074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CA9D29C-1BD0-44E8-5F30-B4D70D6C7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188" y="4155379"/>
            <a:ext cx="4271010" cy="2109302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53918B0-0279-0CA6-80C0-745207D5DF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7255" y="2208229"/>
            <a:ext cx="4698066" cy="294894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387213E2-BDD5-CDE0-10FD-F1E8DA6F9851}"/>
              </a:ext>
            </a:extLst>
          </p:cNvPr>
          <p:cNvSpPr txBox="1"/>
          <p:nvPr/>
        </p:nvSpPr>
        <p:spPr>
          <a:xfrm>
            <a:off x="1386678" y="6415560"/>
            <a:ext cx="94186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200" dirty="0"/>
              <a:t>Brown, Tom, et al. "Language models are few-shot learners." Advances in neural information processing systems 33 (2020): 1877-1901.</a:t>
            </a:r>
            <a:endParaRPr lang="zh-TW" altLang="en-US" sz="12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BC1DE92-BD7C-0243-EFCF-C7A2C5470CC1}"/>
              </a:ext>
            </a:extLst>
          </p:cNvPr>
          <p:cNvSpPr txBox="1"/>
          <p:nvPr/>
        </p:nvSpPr>
        <p:spPr>
          <a:xfrm>
            <a:off x="5992955" y="5441672"/>
            <a:ext cx="44881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dirty="0">
                <a:solidFill>
                  <a:srgbClr val="FF0000"/>
                </a:solidFill>
              </a:rPr>
              <a:t>Note that these settings underperform the traditional fine-tuning methods.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49216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0D8441-FACB-F63A-DC5D-74C13C960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en-US" altLang="zh-TW" sz="4100" dirty="0"/>
              <a:t>(Recap) Traditional Fine-tuning</a:t>
            </a:r>
            <a:endParaRPr kumimoji="1" lang="zh-TW" altLang="en-US" sz="41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4835E05-F217-EE1C-AE30-59FB89B40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7A62C39-6CF7-B649-C544-377BC11006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0822"/>
          <a:stretch/>
        </p:blipFill>
        <p:spPr>
          <a:xfrm>
            <a:off x="6126479" y="2521932"/>
            <a:ext cx="4024393" cy="511172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8C91A85E-D410-D3EB-EC9C-7DDF79520A26}"/>
              </a:ext>
            </a:extLst>
          </p:cNvPr>
          <p:cNvSpPr txBox="1"/>
          <p:nvPr/>
        </p:nvSpPr>
        <p:spPr>
          <a:xfrm>
            <a:off x="653143" y="1581430"/>
            <a:ext cx="8332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dirty="0"/>
              <a:t>(Not used for GPT-3, but the other SOTA models like T5)</a:t>
            </a:r>
            <a:endParaRPr kumimoji="1" lang="zh-TW" altLang="en-US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3189C5D3-35AD-F52E-9EB1-1B0366A120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730" b="10728"/>
          <a:stretch/>
        </p:blipFill>
        <p:spPr>
          <a:xfrm>
            <a:off x="1314450" y="2526888"/>
            <a:ext cx="3970021" cy="3656036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F0E5F9F1-6460-59C8-2B88-6638CE23A406}"/>
              </a:ext>
            </a:extLst>
          </p:cNvPr>
          <p:cNvSpPr txBox="1"/>
          <p:nvPr/>
        </p:nvSpPr>
        <p:spPr>
          <a:xfrm>
            <a:off x="6126479" y="2147644"/>
            <a:ext cx="198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b="1" dirty="0"/>
              <a:t>Inference Time</a:t>
            </a:r>
            <a:endParaRPr kumimoji="1" lang="zh-TW" altLang="en-US" b="1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E9C39B5-5B60-29D3-DB1C-2FC1925F5E8B}"/>
              </a:ext>
            </a:extLst>
          </p:cNvPr>
          <p:cNvSpPr txBox="1"/>
          <p:nvPr/>
        </p:nvSpPr>
        <p:spPr>
          <a:xfrm>
            <a:off x="1390650" y="2152600"/>
            <a:ext cx="1687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b="1" dirty="0"/>
              <a:t>Training Time</a:t>
            </a:r>
            <a:endParaRPr kumimoji="1"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36970848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C0088F74-E7BD-9221-09BE-BD84A56E8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962272"/>
            <a:ext cx="3200400" cy="2286000"/>
          </a:xfrm>
        </p:spPr>
        <p:txBody>
          <a:bodyPr>
            <a:normAutofit fontScale="90000"/>
          </a:bodyPr>
          <a:lstStyle/>
          <a:p>
            <a:r>
              <a:rPr lang="zh-TW" altLang="en-US" sz="4400" dirty="0"/>
              <a:t>模型規模增加後出現的 </a:t>
            </a:r>
            <a:r>
              <a:rPr lang="en-US" altLang="zh-TW" sz="4400" dirty="0"/>
              <a:t>few-shot</a:t>
            </a:r>
            <a:r>
              <a:rPr lang="zh-TW" altLang="en-US" sz="4400" dirty="0"/>
              <a:t> 能力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26CD975-2D44-BE2A-2880-315742DD1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0389" y="6459785"/>
            <a:ext cx="1312025" cy="365125"/>
          </a:xfrm>
        </p:spPr>
        <p:txBody>
          <a:bodyPr/>
          <a:lstStyle/>
          <a:p>
            <a:fld id="{6113E31D-E2AB-40D1-8B51-AFA5AFEF393A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0F892E7-6FE2-535F-886D-786ABED712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4380" y="684387"/>
            <a:ext cx="7848034" cy="5584976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2850C293-37EB-A76A-916A-A52307C5A20B}"/>
              </a:ext>
            </a:extLst>
          </p:cNvPr>
          <p:cNvSpPr txBox="1"/>
          <p:nvPr/>
        </p:nvSpPr>
        <p:spPr>
          <a:xfrm>
            <a:off x="575348" y="6055926"/>
            <a:ext cx="26878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zh-TW" sz="1200" dirty="0">
                <a:solidFill>
                  <a:schemeClr val="bg1"/>
                </a:solidFill>
              </a:rPr>
              <a:t>https://</a:t>
            </a:r>
            <a:r>
              <a:rPr lang="en" altLang="zh-TW" sz="1200" dirty="0" err="1">
                <a:solidFill>
                  <a:schemeClr val="bg1"/>
                </a:solidFill>
              </a:rPr>
              <a:t>arxiv.org</a:t>
            </a:r>
            <a:r>
              <a:rPr lang="en" altLang="zh-TW" sz="1200" dirty="0">
                <a:solidFill>
                  <a:schemeClr val="bg1"/>
                </a:solidFill>
              </a:rPr>
              <a:t>/abs/2206.07682</a:t>
            </a:r>
            <a:endParaRPr lang="zh-TW" alt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28395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C0088F74-E7BD-9221-09BE-BD84A56E8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27166"/>
            <a:ext cx="3200400" cy="2286000"/>
          </a:xfrm>
        </p:spPr>
        <p:txBody>
          <a:bodyPr>
            <a:normAutofit/>
          </a:bodyPr>
          <a:lstStyle/>
          <a:p>
            <a:r>
              <a:rPr lang="en-US" altLang="zh-TW" sz="4400" dirty="0" err="1"/>
              <a:t>InstructGPT</a:t>
            </a:r>
            <a:endParaRPr lang="zh-TW" altLang="en-US" sz="4400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92CA086-9A65-1C19-A9A2-9E72D62C4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0" y="3113116"/>
            <a:ext cx="6492240" cy="2876204"/>
          </a:xfrm>
        </p:spPr>
        <p:txBody>
          <a:bodyPr/>
          <a:lstStyle/>
          <a:p>
            <a:r>
              <a:rPr lang="en" altLang="zh-TW" dirty="0"/>
              <a:t>Ouyang, Long, et al. "</a:t>
            </a:r>
            <a:r>
              <a:rPr lang="en" altLang="zh-TW" dirty="0">
                <a:solidFill>
                  <a:srgbClr val="FF0000"/>
                </a:solidFill>
              </a:rPr>
              <a:t>Training language models to follow instructions with human feedback.</a:t>
            </a:r>
            <a:r>
              <a:rPr lang="en" altLang="zh-TW" dirty="0"/>
              <a:t>" Advances in Neural Information Processing Systems 35 (2022): 27730-27744.</a:t>
            </a:r>
          </a:p>
          <a:p>
            <a:r>
              <a:rPr lang="en" altLang="zh-TW" dirty="0"/>
              <a:t>https://</a:t>
            </a:r>
            <a:r>
              <a:rPr lang="en" altLang="zh-TW" dirty="0" err="1"/>
              <a:t>openai.com</a:t>
            </a:r>
            <a:r>
              <a:rPr lang="en" altLang="zh-TW" dirty="0"/>
              <a:t>/research/instruction-following</a:t>
            </a:r>
            <a:endParaRPr lang="zh-TW" altLang="en-US" dirty="0"/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39CCAB59-1A35-52CD-FC9B-FA1EEB3DC3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3429000"/>
            <a:ext cx="3200400" cy="2876204"/>
          </a:xfrm>
        </p:spPr>
        <p:txBody>
          <a:bodyPr>
            <a:normAutofit/>
          </a:bodyPr>
          <a:lstStyle/>
          <a:p>
            <a:r>
              <a:rPr lang="en-US" altLang="zh-TW" sz="2800" dirty="0"/>
              <a:t>GPT 3.5</a:t>
            </a:r>
          </a:p>
          <a:p>
            <a:r>
              <a:rPr lang="en-US" altLang="zh-TW" sz="2800" dirty="0"/>
              <a:t>Last </a:t>
            </a:r>
            <a:r>
              <a:rPr lang="en-US" altLang="zh-TW" sz="2800" dirty="0" err="1"/>
              <a:t>OpenAI</a:t>
            </a:r>
            <a:r>
              <a:rPr lang="en-US" altLang="zh-TW" sz="2800" dirty="0"/>
              <a:t> paper before </a:t>
            </a:r>
            <a:r>
              <a:rPr lang="en-US" altLang="zh-TW" sz="2800" dirty="0" err="1"/>
              <a:t>ChatGPT</a:t>
            </a:r>
            <a:endParaRPr lang="zh-TW" altLang="en-US" sz="2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26CD975-2D44-BE2A-2880-315742DD1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4020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0B5A0-59BC-5F33-B5BF-8A8A5008F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7EE2BE-503A-E20D-3BA8-EF4AA3EFF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altLang="zh-TW" dirty="0">
                <a:ea typeface="新細明體"/>
                <a:cs typeface="Calibri Light"/>
              </a:rPr>
              <a:t>From GPT-3 to GPT-3.5</a:t>
            </a:r>
            <a:endParaRPr lang="zh-TW" altLang="en-US" sz="2400" dirty="0">
              <a:ea typeface="新細明體"/>
              <a:cs typeface="Calibri Light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B0628AC-3C2C-248F-B32F-158CA66BF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26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B66D287-25E9-3029-A924-C98F457DA65E}"/>
              </a:ext>
            </a:extLst>
          </p:cNvPr>
          <p:cNvSpPr txBox="1"/>
          <p:nvPr/>
        </p:nvSpPr>
        <p:spPr>
          <a:xfrm>
            <a:off x="717175" y="1680210"/>
            <a:ext cx="10470777" cy="3347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The model can chat!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This means the model can follow </a:t>
            </a:r>
            <a:r>
              <a:rPr kumimoji="1" lang="en-US" altLang="zh-TW" sz="2400" dirty="0">
                <a:solidFill>
                  <a:srgbClr val="FF0000"/>
                </a:solidFill>
              </a:rPr>
              <a:t>human instructions </a:t>
            </a:r>
            <a:r>
              <a:rPr kumimoji="1" lang="en-US" altLang="zh-TW" sz="2400" dirty="0"/>
              <a:t>(</a:t>
            </a:r>
            <a:r>
              <a:rPr kumimoji="1" lang="en-US" altLang="zh-TW" sz="2400" dirty="0" err="1"/>
              <a:t>InstructGPT</a:t>
            </a:r>
            <a:r>
              <a:rPr kumimoji="1" lang="en-US" altLang="zh-TW" sz="2400" dirty="0"/>
              <a:t>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Old technique: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Language modeling with large corpora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New technique: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solidFill>
                  <a:srgbClr val="FF0000"/>
                </a:solidFill>
              </a:rPr>
              <a:t>R</a:t>
            </a:r>
            <a:r>
              <a:rPr kumimoji="1" lang="en-US" altLang="zh-TW" sz="2400" dirty="0"/>
              <a:t>einforcement </a:t>
            </a:r>
            <a:r>
              <a:rPr kumimoji="1" lang="en-US" altLang="zh-TW" sz="2400" dirty="0">
                <a:solidFill>
                  <a:srgbClr val="FF0000"/>
                </a:solidFill>
              </a:rPr>
              <a:t>L</a:t>
            </a:r>
            <a:r>
              <a:rPr kumimoji="1" lang="en-US" altLang="zh-TW" sz="2400" dirty="0"/>
              <a:t>earning with </a:t>
            </a:r>
            <a:r>
              <a:rPr kumimoji="1" lang="en-US" altLang="zh-TW" sz="2400" dirty="0">
                <a:solidFill>
                  <a:srgbClr val="FF0000"/>
                </a:solidFill>
              </a:rPr>
              <a:t>H</a:t>
            </a:r>
            <a:r>
              <a:rPr kumimoji="1" lang="en-US" altLang="zh-TW" sz="2400" dirty="0"/>
              <a:t>uman </a:t>
            </a:r>
            <a:r>
              <a:rPr kumimoji="1" lang="en-US" altLang="zh-TW" sz="2400" dirty="0">
                <a:solidFill>
                  <a:srgbClr val="FF0000"/>
                </a:solidFill>
              </a:rPr>
              <a:t>F</a:t>
            </a:r>
            <a:r>
              <a:rPr kumimoji="1" lang="en-US" altLang="zh-TW" sz="2400" dirty="0"/>
              <a:t>eedback (RLHF)</a:t>
            </a:r>
            <a:endParaRPr kumimoji="1" lang="zh-TW" altLang="en-US" sz="2400" dirty="0"/>
          </a:p>
        </p:txBody>
      </p:sp>
      <p:sp>
        <p:nvSpPr>
          <p:cNvPr id="4" name="內容版面配置區 5">
            <a:extLst>
              <a:ext uri="{FF2B5EF4-FFF2-40B4-BE49-F238E27FC236}">
                <a16:creationId xmlns:a16="http://schemas.microsoft.com/office/drawing/2014/main" id="{6E2197EC-9111-800F-E666-58FC2A846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1280" y="6250452"/>
            <a:ext cx="6949440" cy="502920"/>
          </a:xfrm>
        </p:spPr>
        <p:txBody>
          <a:bodyPr>
            <a:normAutofit fontScale="92500"/>
          </a:bodyPr>
          <a:lstStyle/>
          <a:p>
            <a:r>
              <a:rPr lang="en" altLang="zh-TW" sz="1400" dirty="0">
                <a:solidFill>
                  <a:schemeClr val="tx1"/>
                </a:solidFill>
              </a:rPr>
              <a:t>Ouyang, Long, et al. "Training language models to follow instructions with human feedback." Advances in Neural Information Processing Systems 35 (2022): 27730-27744.</a:t>
            </a:r>
          </a:p>
        </p:txBody>
      </p:sp>
    </p:spTree>
    <p:extLst>
      <p:ext uri="{BB962C8B-B14F-4D97-AF65-F5344CB8AC3E}">
        <p14:creationId xmlns:p14="http://schemas.microsoft.com/office/powerpoint/2010/main" val="33322814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0C463C-55E3-8C7A-F5B5-CFEF5A302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TW" dirty="0"/>
              <a:t>Problems of GPT-3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8F40C80-8033-B967-7D80-4EA2FD84A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06C546F-B58E-E664-96F6-2E8C4BF2A1A5}"/>
              </a:ext>
            </a:extLst>
          </p:cNvPr>
          <p:cNvSpPr txBox="1"/>
          <p:nvPr/>
        </p:nvSpPr>
        <p:spPr>
          <a:xfrm>
            <a:off x="708535" y="1875693"/>
            <a:ext cx="9505224" cy="2610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800" dirty="0"/>
              <a:t>Making up facts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800" dirty="0"/>
              <a:t>Outputs are not factual.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800" dirty="0"/>
              <a:t>Generating biased or toxic text (See you next week)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800" dirty="0"/>
              <a:t>Not following user instructions</a:t>
            </a:r>
            <a:endParaRPr kumimoji="1"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26357457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0C463C-55E3-8C7A-F5B5-CFEF5A302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TW" dirty="0"/>
              <a:t>Reason that causes the issues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8F40C80-8033-B967-7D80-4EA2FD84A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06C546F-B58E-E664-96F6-2E8C4BF2A1A5}"/>
              </a:ext>
            </a:extLst>
          </p:cNvPr>
          <p:cNvSpPr txBox="1"/>
          <p:nvPr/>
        </p:nvSpPr>
        <p:spPr>
          <a:xfrm>
            <a:off x="1998559" y="3578191"/>
            <a:ext cx="8194876" cy="1143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Not able to control </a:t>
            </a:r>
            <a:r>
              <a:rPr kumimoji="1" lang="en-US" altLang="zh-TW" sz="2400" b="1" dirty="0"/>
              <a:t>making up facts</a:t>
            </a:r>
            <a:r>
              <a:rPr kumimoji="1" lang="en-US" altLang="zh-TW" sz="2400" dirty="0"/>
              <a:t> and </a:t>
            </a:r>
            <a:r>
              <a:rPr kumimoji="1" lang="en-US" altLang="zh-TW" sz="2400" b="1" dirty="0"/>
              <a:t>errors</a:t>
            </a:r>
            <a:r>
              <a:rPr kumimoji="1" lang="en-US" altLang="zh-TW" sz="2400" dirty="0"/>
              <a:t> (e.g. selecting the precise word from a set of synonyms).</a:t>
            </a:r>
            <a:r>
              <a:rPr kumimoji="1" lang="en-US" altLang="zh-TW" sz="2400" baseline="30000" dirty="0"/>
              <a:t> [2]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E448326-AA13-82EF-04A6-327CC119B2B8}"/>
              </a:ext>
            </a:extLst>
          </p:cNvPr>
          <p:cNvSpPr txBox="1"/>
          <p:nvPr/>
        </p:nvSpPr>
        <p:spPr>
          <a:xfrm>
            <a:off x="2610707" y="6415560"/>
            <a:ext cx="69705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400" dirty="0"/>
              <a:t>[2] </a:t>
            </a:r>
            <a:r>
              <a:rPr kumimoji="1" lang="en" altLang="zh-TW" sz="1400" dirty="0" err="1"/>
              <a:t>Stiennon</a:t>
            </a:r>
            <a:r>
              <a:rPr kumimoji="1" lang="en" altLang="zh-TW" sz="1400" dirty="0"/>
              <a:t>, Nisan, et al. "Learning to summarize with human feedback." NIPS (2020)</a:t>
            </a:r>
            <a:endParaRPr kumimoji="1" lang="zh-TW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8AC9EBCE-9794-57BE-3800-C3194C38952E}"/>
                  </a:ext>
                </a:extLst>
              </p:cNvPr>
              <p:cNvSpPr txBox="1"/>
              <p:nvPr/>
            </p:nvSpPr>
            <p:spPr>
              <a:xfrm>
                <a:off x="3188643" y="1988326"/>
                <a:ext cx="5847370" cy="13774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en-US" altLang="zh-TW" sz="2400" dirty="0"/>
                  <a:t>Maximum likelihood objective for training GPT: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kumimoji="1"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TW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zh-TW" altLang="zh-TW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TW" sz="24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zh-TW" sz="24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4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TW" sz="24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r>
                            <a:rPr lang="en-US" altLang="zh-TW" sz="24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TW" altLang="zh-TW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4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TW" sz="24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zh-TW" altLang="zh-TW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4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TW" altLang="zh-TW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4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4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zh-TW" altLang="zh-TW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4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altLang="zh-TW" sz="24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TW" sz="24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kumimoji="1" lang="zh-TW" altLang="en-US" sz="2400" dirty="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8AC9EBCE-9794-57BE-3800-C3194C3895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8643" y="1988326"/>
                <a:ext cx="5847370" cy="1377493"/>
              </a:xfrm>
              <a:prstGeom prst="rect">
                <a:avLst/>
              </a:prstGeom>
              <a:blipFill>
                <a:blip r:embed="rId2"/>
                <a:stretch>
                  <a:fillRect l="-3254" t="-62385" r="-2169" b="-1339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>
            <a:extLst>
              <a:ext uri="{FF2B5EF4-FFF2-40B4-BE49-F238E27FC236}">
                <a16:creationId xmlns:a16="http://schemas.microsoft.com/office/drawing/2014/main" id="{9460F195-CC53-5CC7-DBF6-0E85333D5696}"/>
              </a:ext>
            </a:extLst>
          </p:cNvPr>
          <p:cNvSpPr txBox="1"/>
          <p:nvPr/>
        </p:nvSpPr>
        <p:spPr>
          <a:xfrm>
            <a:off x="2361594" y="5051703"/>
            <a:ext cx="89608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2400" dirty="0"/>
              <a:t>Language models are </a:t>
            </a:r>
            <a:r>
              <a:rPr kumimoji="1" lang="en" altLang="zh-TW" sz="2400" dirty="0">
                <a:solidFill>
                  <a:srgbClr val="FF0000"/>
                </a:solidFill>
              </a:rPr>
              <a:t>not aligned </a:t>
            </a:r>
            <a:r>
              <a:rPr kumimoji="1" lang="en" altLang="zh-TW" sz="2400" dirty="0"/>
              <a:t>to human instructions (inputs).</a:t>
            </a:r>
            <a:endParaRPr kumimoji="1" lang="zh-TW" altLang="en-US" sz="2400" dirty="0"/>
          </a:p>
        </p:txBody>
      </p:sp>
      <p:sp>
        <p:nvSpPr>
          <p:cNvPr id="8" name="向右箭號 7">
            <a:extLst>
              <a:ext uri="{FF2B5EF4-FFF2-40B4-BE49-F238E27FC236}">
                <a16:creationId xmlns:a16="http://schemas.microsoft.com/office/drawing/2014/main" id="{FCDF023F-ADC1-E198-3BBE-45B9329150DC}"/>
              </a:ext>
            </a:extLst>
          </p:cNvPr>
          <p:cNvSpPr/>
          <p:nvPr/>
        </p:nvSpPr>
        <p:spPr>
          <a:xfrm>
            <a:off x="1770927" y="5111613"/>
            <a:ext cx="370390" cy="341844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659930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72867D-BAE7-FE54-26EC-B7975F911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TW" dirty="0"/>
              <a:t>The Pre-training then Fine-tuning Paradigm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84A643A-0C0A-2628-AAD2-9D4FEF8F0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CB61D7AC-56C0-E3AD-F8C1-D0E6E1FFCDA0}"/>
              </a:ext>
            </a:extLst>
          </p:cNvPr>
          <p:cNvSpPr/>
          <p:nvPr/>
        </p:nvSpPr>
        <p:spPr>
          <a:xfrm>
            <a:off x="1904933" y="3058726"/>
            <a:ext cx="2281415" cy="1325105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2400" b="1" dirty="0">
                <a:solidFill>
                  <a:schemeClr val="tx1"/>
                </a:solidFill>
              </a:rPr>
              <a:t>文字接龍</a:t>
            </a:r>
            <a:endParaRPr kumimoji="1" lang="en-US" altLang="zh-TW" sz="2400" b="1" dirty="0">
              <a:solidFill>
                <a:schemeClr val="tx1"/>
              </a:solidFill>
            </a:endParaRPr>
          </a:p>
          <a:p>
            <a:pPr algn="ctr"/>
            <a:r>
              <a:rPr kumimoji="1" lang="en-US" altLang="zh-TW" sz="2400" b="1" dirty="0">
                <a:solidFill>
                  <a:schemeClr val="tx1"/>
                </a:solidFill>
              </a:rPr>
              <a:t>(Pre-training)</a:t>
            </a:r>
            <a:endParaRPr kumimoji="1" lang="zh-TW" altLang="en-US" sz="2800" b="1" dirty="0">
              <a:solidFill>
                <a:schemeClr val="tx1"/>
              </a:solidFill>
            </a:endParaRP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07C80630-6F48-071F-F928-16865BD1E686}"/>
              </a:ext>
            </a:extLst>
          </p:cNvPr>
          <p:cNvSpPr/>
          <p:nvPr/>
        </p:nvSpPr>
        <p:spPr>
          <a:xfrm>
            <a:off x="4806394" y="3058726"/>
            <a:ext cx="2281415" cy="1325105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2400" b="1" dirty="0">
                <a:solidFill>
                  <a:schemeClr val="tx1"/>
                </a:solidFill>
              </a:rPr>
              <a:t>指令微調 </a:t>
            </a:r>
            <a:r>
              <a:rPr kumimoji="1" lang="en-US" altLang="zh-TW" b="1" dirty="0">
                <a:solidFill>
                  <a:schemeClr val="tx1"/>
                </a:solidFill>
              </a:rPr>
              <a:t>(Supervised Fine-tuning, SFT)</a:t>
            </a:r>
            <a:endParaRPr kumimoji="1" lang="zh-TW" altLang="en-US" sz="2400" dirty="0"/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E6387E0F-7E78-B0D0-35DE-5C79C7A2D010}"/>
              </a:ext>
            </a:extLst>
          </p:cNvPr>
          <p:cNvSpPr/>
          <p:nvPr/>
        </p:nvSpPr>
        <p:spPr>
          <a:xfrm>
            <a:off x="7707855" y="3058726"/>
            <a:ext cx="2281415" cy="132510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2400" b="1" dirty="0">
                <a:solidFill>
                  <a:schemeClr val="tx1"/>
                </a:solidFill>
              </a:rPr>
              <a:t>人類反饋學習</a:t>
            </a:r>
            <a:r>
              <a:rPr kumimoji="1" lang="en-US" altLang="zh-TW" sz="2400" b="1" dirty="0">
                <a:solidFill>
                  <a:schemeClr val="tx1"/>
                </a:solidFill>
              </a:rPr>
              <a:t> (RLHF)</a:t>
            </a:r>
            <a:endParaRPr kumimoji="1" lang="zh-TW" altLang="en-US" sz="2800" b="1" dirty="0">
              <a:solidFill>
                <a:schemeClr val="tx1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2283759-49BA-F7EF-0EB5-F66921D1FBD6}"/>
              </a:ext>
            </a:extLst>
          </p:cNvPr>
          <p:cNvSpPr txBox="1"/>
          <p:nvPr/>
        </p:nvSpPr>
        <p:spPr>
          <a:xfrm>
            <a:off x="7507511" y="4584541"/>
            <a:ext cx="2682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ea typeface="Microsoft JhengHei" panose="020B0604030504040204" pitchFamily="34" charset="-120"/>
              </a:rPr>
              <a:t>讓模型的回答貼近</a:t>
            </a:r>
            <a:r>
              <a:rPr kumimoji="1" lang="zh-TW" altLang="en-US" b="1" dirty="0">
                <a:ea typeface="Microsoft JhengHei" panose="020B0604030504040204" pitchFamily="34" charset="-120"/>
              </a:rPr>
              <a:t>人類想要</a:t>
            </a:r>
            <a:r>
              <a:rPr kumimoji="1" lang="zh-TW" altLang="en-US" dirty="0">
                <a:ea typeface="Microsoft JhengHei" panose="020B0604030504040204" pitchFamily="34" charset="-120"/>
              </a:rPr>
              <a:t>的回答</a:t>
            </a:r>
            <a:endParaRPr kumimoji="1" lang="en-US" altLang="zh-TW" dirty="0">
              <a:ea typeface="Microsoft JhengHei" panose="020B06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A9DD720-71BD-EAF5-E170-08884EF0D442}"/>
              </a:ext>
            </a:extLst>
          </p:cNvPr>
          <p:cNvSpPr txBox="1"/>
          <p:nvPr/>
        </p:nvSpPr>
        <p:spPr>
          <a:xfrm>
            <a:off x="4674162" y="4584541"/>
            <a:ext cx="2545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ea typeface="Microsoft JhengHei" panose="020B0604030504040204" pitchFamily="34" charset="-120"/>
              </a:rPr>
              <a:t>讓模型</a:t>
            </a:r>
            <a:r>
              <a:rPr kumimoji="1" lang="zh-TW" altLang="en-US" b="1" dirty="0">
                <a:ea typeface="Microsoft JhengHei" panose="020B0604030504040204" pitchFamily="34" charset="-120"/>
              </a:rPr>
              <a:t>學會回答</a:t>
            </a:r>
          </a:p>
        </p:txBody>
      </p:sp>
      <p:cxnSp>
        <p:nvCxnSpPr>
          <p:cNvPr id="10" name="Google Shape;195;p17">
            <a:extLst>
              <a:ext uri="{FF2B5EF4-FFF2-40B4-BE49-F238E27FC236}">
                <a16:creationId xmlns:a16="http://schemas.microsoft.com/office/drawing/2014/main" id="{26274ECB-E6CD-8FC2-A8C1-1449A7F5DF09}"/>
              </a:ext>
            </a:extLst>
          </p:cNvPr>
          <p:cNvCxnSpPr>
            <a:cxnSpLocks/>
          </p:cNvCxnSpPr>
          <p:nvPr/>
        </p:nvCxnSpPr>
        <p:spPr>
          <a:xfrm>
            <a:off x="4246458" y="3721278"/>
            <a:ext cx="499826" cy="0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070D00C3-7D37-77A8-0FBF-9E155273777A}"/>
              </a:ext>
            </a:extLst>
          </p:cNvPr>
          <p:cNvSpPr txBox="1"/>
          <p:nvPr/>
        </p:nvSpPr>
        <p:spPr>
          <a:xfrm>
            <a:off x="248362" y="3536612"/>
            <a:ext cx="1298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ea typeface="Microsoft JhengHei" panose="020B0604030504040204" pitchFamily="34" charset="-120"/>
              </a:rPr>
              <a:t>GPT-3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cxnSp>
        <p:nvCxnSpPr>
          <p:cNvPr id="15" name="Google Shape;195;p17">
            <a:extLst>
              <a:ext uri="{FF2B5EF4-FFF2-40B4-BE49-F238E27FC236}">
                <a16:creationId xmlns:a16="http://schemas.microsoft.com/office/drawing/2014/main" id="{4D605540-B534-397B-3EFB-A2477014F113}"/>
              </a:ext>
            </a:extLst>
          </p:cNvPr>
          <p:cNvCxnSpPr>
            <a:cxnSpLocks/>
          </p:cNvCxnSpPr>
          <p:nvPr/>
        </p:nvCxnSpPr>
        <p:spPr>
          <a:xfrm>
            <a:off x="1348524" y="3721278"/>
            <a:ext cx="499826" cy="0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" name="Google Shape;195;p17">
            <a:extLst>
              <a:ext uri="{FF2B5EF4-FFF2-40B4-BE49-F238E27FC236}">
                <a16:creationId xmlns:a16="http://schemas.microsoft.com/office/drawing/2014/main" id="{DE43FE05-EC1E-831F-61BF-C50C19040AA6}"/>
              </a:ext>
            </a:extLst>
          </p:cNvPr>
          <p:cNvCxnSpPr>
            <a:cxnSpLocks/>
          </p:cNvCxnSpPr>
          <p:nvPr/>
        </p:nvCxnSpPr>
        <p:spPr>
          <a:xfrm>
            <a:off x="7164706" y="3721278"/>
            <a:ext cx="499826" cy="0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" name="Google Shape;195;p17">
            <a:extLst>
              <a:ext uri="{FF2B5EF4-FFF2-40B4-BE49-F238E27FC236}">
                <a16:creationId xmlns:a16="http://schemas.microsoft.com/office/drawing/2014/main" id="{BEF5FAFA-A835-55DD-70F3-C7B7BCD2B2DA}"/>
              </a:ext>
            </a:extLst>
          </p:cNvPr>
          <p:cNvCxnSpPr>
            <a:cxnSpLocks/>
          </p:cNvCxnSpPr>
          <p:nvPr/>
        </p:nvCxnSpPr>
        <p:spPr>
          <a:xfrm>
            <a:off x="10051616" y="3721278"/>
            <a:ext cx="499826" cy="0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8BB55605-64A4-0610-71E8-7AE9D95C90FC}"/>
              </a:ext>
            </a:extLst>
          </p:cNvPr>
          <p:cNvSpPr txBox="1"/>
          <p:nvPr/>
        </p:nvSpPr>
        <p:spPr>
          <a:xfrm>
            <a:off x="10500702" y="3536612"/>
            <a:ext cx="1497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 err="1">
                <a:ea typeface="Microsoft JhengHei" panose="020B0604030504040204" pitchFamily="34" charset="-120"/>
              </a:rPr>
              <a:t>InstructGPT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A50930E8-6BBA-7D52-1097-4C6C3DEA3EFF}"/>
              </a:ext>
            </a:extLst>
          </p:cNvPr>
          <p:cNvSpPr txBox="1"/>
          <p:nvPr/>
        </p:nvSpPr>
        <p:spPr>
          <a:xfrm>
            <a:off x="5479311" y="2243847"/>
            <a:ext cx="38706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800" b="1" dirty="0"/>
              <a:t>Fine-tuning</a:t>
            </a:r>
            <a:endParaRPr lang="zh-TW" altLang="en-US" sz="2800" b="1" dirty="0"/>
          </a:p>
        </p:txBody>
      </p:sp>
      <p:sp>
        <p:nvSpPr>
          <p:cNvPr id="21" name="左中括弧 20">
            <a:extLst>
              <a:ext uri="{FF2B5EF4-FFF2-40B4-BE49-F238E27FC236}">
                <a16:creationId xmlns:a16="http://schemas.microsoft.com/office/drawing/2014/main" id="{84B174B6-451B-F7BC-6670-F94555EE66A8}"/>
              </a:ext>
            </a:extLst>
          </p:cNvPr>
          <p:cNvSpPr/>
          <p:nvPr/>
        </p:nvSpPr>
        <p:spPr>
          <a:xfrm rot="5400000">
            <a:off x="7329357" y="1056238"/>
            <a:ext cx="170522" cy="3633745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3DAE9B4-46C9-EBD6-7618-ED9E13994E6A}"/>
              </a:ext>
            </a:extLst>
          </p:cNvPr>
          <p:cNvSpPr txBox="1"/>
          <p:nvPr/>
        </p:nvSpPr>
        <p:spPr>
          <a:xfrm>
            <a:off x="5869858" y="6132580"/>
            <a:ext cx="6077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RLHF: Reinforcement Learning with Human Feedback</a:t>
            </a:r>
          </a:p>
        </p:txBody>
      </p:sp>
    </p:spTree>
    <p:extLst>
      <p:ext uri="{BB962C8B-B14F-4D97-AF65-F5344CB8AC3E}">
        <p14:creationId xmlns:p14="http://schemas.microsoft.com/office/powerpoint/2010/main" val="1520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20" grpId="0"/>
      <p:bldP spid="2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10AA06-55A2-0563-C793-FD1650B2F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語言模型會回答嗎？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763A679-9960-B29B-B427-8386573B7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79E25FD1-439A-416C-6F37-7BBE81721DE2}"/>
              </a:ext>
            </a:extLst>
          </p:cNvPr>
          <p:cNvSpPr/>
          <p:nvPr/>
        </p:nvSpPr>
        <p:spPr>
          <a:xfrm>
            <a:off x="1713016" y="2691246"/>
            <a:ext cx="4582391" cy="149629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TW" altLang="en-US" dirty="0">
                <a:solidFill>
                  <a:schemeClr val="tx1"/>
                </a:solidFill>
              </a:rPr>
              <a:t>咕嚕咕嚕意思是什麼，你知道嗎？聽到網友說「咕嚕咕嚕」，以為是指喝水的聲音？其實不是哦！社群上流行的咕嚕咕嚕，是模擬人被水淹沒時，會發出類似咕嚕咕嚕的聲響。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B0CB002-9FD7-0F2B-D512-2E7C869AC9C2}"/>
              </a:ext>
            </a:extLst>
          </p:cNvPr>
          <p:cNvSpPr txBox="1"/>
          <p:nvPr/>
        </p:nvSpPr>
        <p:spPr>
          <a:xfrm>
            <a:off x="653143" y="3199274"/>
            <a:ext cx="1246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文章一：</a:t>
            </a: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150D8054-9075-ED53-2B34-99CCADFE9579}"/>
              </a:ext>
            </a:extLst>
          </p:cNvPr>
          <p:cNvSpPr/>
          <p:nvPr/>
        </p:nvSpPr>
        <p:spPr>
          <a:xfrm>
            <a:off x="1713015" y="4408624"/>
            <a:ext cx="4582391" cy="138199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TW" dirty="0">
                <a:solidFill>
                  <a:srgbClr val="0070C0"/>
                </a:solidFill>
              </a:rPr>
              <a:t>《</a:t>
            </a:r>
            <a:r>
              <a:rPr kumimoji="1" lang="zh-TW" altLang="en-US" dirty="0">
                <a:solidFill>
                  <a:srgbClr val="0070C0"/>
                </a:solidFill>
              </a:rPr>
              <a:t>咕嚕咕嚕魔法陣</a:t>
            </a:r>
            <a:r>
              <a:rPr kumimoji="1" lang="en-US" altLang="zh-TW" dirty="0">
                <a:solidFill>
                  <a:srgbClr val="0070C0"/>
                </a:solidFill>
              </a:rPr>
              <a:t>》</a:t>
            </a:r>
            <a:r>
              <a:rPr kumimoji="1" lang="zh-TW" altLang="en-US" dirty="0">
                <a:solidFill>
                  <a:srgbClr val="0070C0"/>
                </a:solidFill>
              </a:rPr>
              <a:t>是衛藤浩幸於</a:t>
            </a:r>
            <a:r>
              <a:rPr kumimoji="1" lang="en-US" altLang="zh-TW" dirty="0">
                <a:solidFill>
                  <a:srgbClr val="0070C0"/>
                </a:solidFill>
              </a:rPr>
              <a:t>1992</a:t>
            </a:r>
            <a:r>
              <a:rPr kumimoji="1" lang="zh-TW" altLang="en-US" dirty="0">
                <a:solidFill>
                  <a:srgbClr val="0070C0"/>
                </a:solidFill>
              </a:rPr>
              <a:t>年至</a:t>
            </a:r>
            <a:r>
              <a:rPr kumimoji="1" lang="en-US" altLang="zh-TW" dirty="0">
                <a:solidFill>
                  <a:srgbClr val="0070C0"/>
                </a:solidFill>
              </a:rPr>
              <a:t>2003</a:t>
            </a:r>
            <a:r>
              <a:rPr kumimoji="1" lang="zh-TW" altLang="en-US" dirty="0">
                <a:solidFill>
                  <a:srgbClr val="0070C0"/>
                </a:solidFill>
              </a:rPr>
              <a:t>年在艾尼克斯（今已合併改名為史克威爾艾尼克斯）旗下漫畫雜誌</a:t>
            </a:r>
            <a:r>
              <a:rPr kumimoji="1" lang="en-US" altLang="zh-TW" dirty="0">
                <a:solidFill>
                  <a:srgbClr val="0070C0"/>
                </a:solidFill>
              </a:rPr>
              <a:t>《</a:t>
            </a:r>
            <a:r>
              <a:rPr kumimoji="1" lang="zh-TW" altLang="en-US" dirty="0">
                <a:solidFill>
                  <a:srgbClr val="0070C0"/>
                </a:solidFill>
              </a:rPr>
              <a:t>月刊少年</a:t>
            </a:r>
            <a:r>
              <a:rPr kumimoji="1" lang="en" altLang="zh-TW" dirty="0">
                <a:solidFill>
                  <a:srgbClr val="0070C0"/>
                </a:solidFill>
              </a:rPr>
              <a:t>GANGAN》</a:t>
            </a:r>
            <a:r>
              <a:rPr kumimoji="1" lang="zh-TW" altLang="en-US" dirty="0">
                <a:solidFill>
                  <a:srgbClr val="0070C0"/>
                </a:solidFill>
              </a:rPr>
              <a:t>創作的日本搞笑奇幻漫畫 </a:t>
            </a:r>
            <a:r>
              <a:rPr kumimoji="1" lang="en-US" altLang="zh-TW" dirty="0">
                <a:solidFill>
                  <a:srgbClr val="0070C0"/>
                </a:solidFill>
              </a:rPr>
              <a:t>...</a:t>
            </a:r>
            <a:endParaRPr kumimoji="1" lang="zh-TW" altLang="en-US" dirty="0">
              <a:solidFill>
                <a:srgbClr val="0070C0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E49054B-1341-EBBF-AE7E-0EEBA1F87D68}"/>
              </a:ext>
            </a:extLst>
          </p:cNvPr>
          <p:cNvSpPr txBox="1"/>
          <p:nvPr/>
        </p:nvSpPr>
        <p:spPr>
          <a:xfrm>
            <a:off x="653143" y="4914953"/>
            <a:ext cx="1246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solidFill>
                  <a:srgbClr val="0070C0"/>
                </a:solidFill>
              </a:rPr>
              <a:t>文章二：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9879CE4-31B3-3EC4-3C8F-3134757C8006}"/>
              </a:ext>
            </a:extLst>
          </p:cNvPr>
          <p:cNvSpPr txBox="1"/>
          <p:nvPr/>
        </p:nvSpPr>
        <p:spPr>
          <a:xfrm>
            <a:off x="653143" y="1840320"/>
            <a:ext cx="42513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b="1" dirty="0"/>
              <a:t>人類提問：什麼是咕嚕咕嚕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F34D7C8-B536-7851-7AB0-FE67E160AEA3}"/>
              </a:ext>
            </a:extLst>
          </p:cNvPr>
          <p:cNvSpPr txBox="1"/>
          <p:nvPr/>
        </p:nvSpPr>
        <p:spPr>
          <a:xfrm>
            <a:off x="7803573" y="2315674"/>
            <a:ext cx="33043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b="1" dirty="0"/>
              <a:t>Before SFT (</a:t>
            </a:r>
            <a:r>
              <a:rPr kumimoji="1" lang="zh-TW" altLang="en-US" sz="2000" b="1" dirty="0"/>
              <a:t>只會文字接龍</a:t>
            </a:r>
            <a:r>
              <a:rPr kumimoji="1" lang="en-US" altLang="zh-TW" sz="2000" b="1" dirty="0"/>
              <a:t>)</a:t>
            </a:r>
            <a:endParaRPr kumimoji="1" lang="zh-TW" altLang="en-US" sz="2000" b="1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1214546-53F1-5FC3-F756-74AFCEAA6A07}"/>
              </a:ext>
            </a:extLst>
          </p:cNvPr>
          <p:cNvSpPr txBox="1"/>
          <p:nvPr/>
        </p:nvSpPr>
        <p:spPr>
          <a:xfrm>
            <a:off x="7189025" y="2782076"/>
            <a:ext cx="42513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TW" altLang="en-US" dirty="0"/>
              <a:t>🤖：意思是什麼，你知道嗎？聽到網友說「咕嚕咕嚕」，以為是指喝水的聲音？其實不是哦！社群上流行的咕嚕咕嚕</a:t>
            </a:r>
            <a:r>
              <a:rPr kumimoji="1" lang="zh-TW" altLang="en-US" dirty="0">
                <a:solidFill>
                  <a:srgbClr val="0070C0"/>
                </a:solidFill>
              </a:rPr>
              <a:t>魔法陣是衛藤浩幸於</a:t>
            </a:r>
            <a:r>
              <a:rPr kumimoji="1" lang="en-US" altLang="zh-TW" dirty="0">
                <a:solidFill>
                  <a:srgbClr val="0070C0"/>
                </a:solidFill>
              </a:rPr>
              <a:t>1992</a:t>
            </a:r>
            <a:r>
              <a:rPr kumimoji="1" lang="zh-TW" altLang="en-US" dirty="0">
                <a:solidFill>
                  <a:srgbClr val="0070C0"/>
                </a:solidFill>
              </a:rPr>
              <a:t>年至</a:t>
            </a:r>
            <a:r>
              <a:rPr kumimoji="1" lang="en-US" altLang="zh-TW" dirty="0">
                <a:solidFill>
                  <a:srgbClr val="0070C0"/>
                </a:solidFill>
              </a:rPr>
              <a:t>2003</a:t>
            </a:r>
            <a:r>
              <a:rPr kumimoji="1" lang="zh-TW" altLang="en-US" dirty="0">
                <a:solidFill>
                  <a:srgbClr val="0070C0"/>
                </a:solidFill>
              </a:rPr>
              <a:t>年</a:t>
            </a:r>
            <a:r>
              <a:rPr kumimoji="1" lang="en-US" altLang="zh-TW" dirty="0">
                <a:solidFill>
                  <a:srgbClr val="0070C0"/>
                </a:solidFill>
              </a:rPr>
              <a:t>...</a:t>
            </a:r>
            <a:endParaRPr kumimoji="1" lang="zh-TW" altLang="en-US" dirty="0">
              <a:solidFill>
                <a:srgbClr val="0070C0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9626482F-F724-2885-5FD0-FEFA1A1D999B}"/>
              </a:ext>
            </a:extLst>
          </p:cNvPr>
          <p:cNvSpPr txBox="1"/>
          <p:nvPr/>
        </p:nvSpPr>
        <p:spPr>
          <a:xfrm>
            <a:off x="7189025" y="4734901"/>
            <a:ext cx="42513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TW" altLang="en-US" dirty="0"/>
              <a:t>🤖：「咕嚕咕嚕」為網路用語，模擬人被水淹沒時發出類似咕嚕咕嚕的聲響。</a:t>
            </a:r>
            <a:endParaRPr kumimoji="1" lang="zh-TW" altLang="en-US" dirty="0">
              <a:solidFill>
                <a:srgbClr val="0070C0"/>
              </a:solidFill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943B9A99-BCCC-BD5B-10D1-3A656F446062}"/>
              </a:ext>
            </a:extLst>
          </p:cNvPr>
          <p:cNvSpPr txBox="1"/>
          <p:nvPr/>
        </p:nvSpPr>
        <p:spPr>
          <a:xfrm>
            <a:off x="7662553" y="4299399"/>
            <a:ext cx="33043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b="1" dirty="0"/>
              <a:t>After SFT (</a:t>
            </a:r>
            <a:r>
              <a:rPr kumimoji="1" lang="zh-TW" altLang="en-US" sz="2000" b="1" dirty="0"/>
              <a:t>知道如何回答</a:t>
            </a:r>
            <a:r>
              <a:rPr kumimoji="1" lang="en-US" altLang="zh-TW" sz="2000" b="1" dirty="0"/>
              <a:t>)</a:t>
            </a:r>
            <a:endParaRPr kumimoji="1" lang="zh-TW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873389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/>
      <p:bldP spid="9" grpId="0"/>
      <p:bldP spid="10" grpId="0"/>
      <p:bldP spid="11" grpId="0"/>
      <p:bldP spid="14" grpId="0"/>
      <p:bldP spid="1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9658AD-4854-C938-AB6D-BB237CC59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Supervised Fine-Tuning (SFT)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035C22C-5EA7-884C-CC6E-3D99DF190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D5360B3D-D8E9-7928-B89D-C6351719D30F}"/>
              </a:ext>
            </a:extLst>
          </p:cNvPr>
          <p:cNvSpPr/>
          <p:nvPr/>
        </p:nvSpPr>
        <p:spPr>
          <a:xfrm>
            <a:off x="1104996" y="2639029"/>
            <a:ext cx="3275635" cy="763929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zh-TW" b="1" dirty="0">
                <a:solidFill>
                  <a:schemeClr val="tx1"/>
                </a:solidFill>
              </a:rPr>
              <a:t>Tell me who is Oppenheimer?</a:t>
            </a:r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E0150254-879B-2232-7B6B-7E6B6B455533}"/>
              </a:ext>
            </a:extLst>
          </p:cNvPr>
          <p:cNvSpPr/>
          <p:nvPr/>
        </p:nvSpPr>
        <p:spPr>
          <a:xfrm>
            <a:off x="4692349" y="4062091"/>
            <a:ext cx="1965960" cy="834390"/>
          </a:xfrm>
          <a:prstGeom prst="roundRect">
            <a:avLst/>
          </a:prstGeom>
          <a:solidFill>
            <a:srgbClr val="FFEB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語言模型</a:t>
            </a:r>
            <a:endParaRPr kumimoji="1" lang="en-US" altLang="zh-TW" dirty="0">
              <a:solidFill>
                <a:schemeClr val="tx1"/>
              </a:solidFill>
            </a:endParaRPr>
          </a:p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(e.g., GPT-3)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9" name="肘形接點 8">
            <a:extLst>
              <a:ext uri="{FF2B5EF4-FFF2-40B4-BE49-F238E27FC236}">
                <a16:creationId xmlns:a16="http://schemas.microsoft.com/office/drawing/2014/main" id="{CB61CB32-9CA6-53A2-A3DD-C0E720408378}"/>
              </a:ext>
            </a:extLst>
          </p:cNvPr>
          <p:cNvCxnSpPr>
            <a:stCxn id="5" idx="2"/>
            <a:endCxn id="7" idx="1"/>
          </p:cNvCxnSpPr>
          <p:nvPr/>
        </p:nvCxnSpPr>
        <p:spPr>
          <a:xfrm rot="16200000" flipH="1">
            <a:off x="3179417" y="2966354"/>
            <a:ext cx="1076328" cy="1949535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圓角矩形 9">
            <a:extLst>
              <a:ext uri="{FF2B5EF4-FFF2-40B4-BE49-F238E27FC236}">
                <a16:creationId xmlns:a16="http://schemas.microsoft.com/office/drawing/2014/main" id="{F7C62BEF-0439-752F-5D18-E1D9271E7D1A}"/>
              </a:ext>
            </a:extLst>
          </p:cNvPr>
          <p:cNvSpPr/>
          <p:nvPr/>
        </p:nvSpPr>
        <p:spPr>
          <a:xfrm>
            <a:off x="7715945" y="4097322"/>
            <a:ext cx="3275635" cy="763929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zh-TW" b="1" dirty="0">
                <a:solidFill>
                  <a:schemeClr val="tx1"/>
                </a:solidFill>
              </a:rPr>
              <a:t>Oppenheimer is the father of …</a:t>
            </a:r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1D973CB3-D879-20E2-63B6-08EFC8F50172}"/>
              </a:ext>
            </a:extLst>
          </p:cNvPr>
          <p:cNvSpPr/>
          <p:nvPr/>
        </p:nvSpPr>
        <p:spPr>
          <a:xfrm>
            <a:off x="7715944" y="2639029"/>
            <a:ext cx="3275635" cy="763929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zh-TW" b="1" dirty="0">
                <a:solidFill>
                  <a:schemeClr val="tx1"/>
                </a:solidFill>
              </a:rPr>
              <a:t>Julius Robert Oppenheimer is …</a:t>
            </a:r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EB96801-E2B0-577A-D26F-6861321BBED5}"/>
              </a:ext>
            </a:extLst>
          </p:cNvPr>
          <p:cNvSpPr txBox="1"/>
          <p:nvPr/>
        </p:nvSpPr>
        <p:spPr>
          <a:xfrm>
            <a:off x="2019395" y="2228533"/>
            <a:ext cx="1446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Prompt</a:t>
            </a:r>
            <a:endParaRPr kumimoji="1"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57B7A6C-5252-E432-6502-81E2161D5CFF}"/>
              </a:ext>
            </a:extLst>
          </p:cNvPr>
          <p:cNvSpPr txBox="1"/>
          <p:nvPr/>
        </p:nvSpPr>
        <p:spPr>
          <a:xfrm>
            <a:off x="7715944" y="2228533"/>
            <a:ext cx="3275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Ground-truths (human-written)</a:t>
            </a:r>
            <a:endParaRPr kumimoji="1"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5C70096-1639-53D6-7C84-96005A8049ED}"/>
              </a:ext>
            </a:extLst>
          </p:cNvPr>
          <p:cNvSpPr txBox="1"/>
          <p:nvPr/>
        </p:nvSpPr>
        <p:spPr>
          <a:xfrm>
            <a:off x="7715944" y="4942781"/>
            <a:ext cx="3275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Model Prediction</a:t>
            </a:r>
            <a:endParaRPr kumimoji="1" lang="zh-TW" altLang="en-US" dirty="0"/>
          </a:p>
        </p:txBody>
      </p: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08261E44-A236-92BB-55AE-D4220307A25B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>
            <a:off x="6658309" y="4479286"/>
            <a:ext cx="1057636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箭頭接點 17">
            <a:extLst>
              <a:ext uri="{FF2B5EF4-FFF2-40B4-BE49-F238E27FC236}">
                <a16:creationId xmlns:a16="http://schemas.microsoft.com/office/drawing/2014/main" id="{A792E5F3-3E0D-4F69-27A7-04E292149C17}"/>
              </a:ext>
            </a:extLst>
          </p:cNvPr>
          <p:cNvCxnSpPr>
            <a:cxnSpLocks/>
          </p:cNvCxnSpPr>
          <p:nvPr/>
        </p:nvCxnSpPr>
        <p:spPr>
          <a:xfrm flipV="1">
            <a:off x="9338334" y="3510025"/>
            <a:ext cx="0" cy="47275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箭頭接點 20">
            <a:extLst>
              <a:ext uri="{FF2B5EF4-FFF2-40B4-BE49-F238E27FC236}">
                <a16:creationId xmlns:a16="http://schemas.microsoft.com/office/drawing/2014/main" id="{E2712545-EB83-E2C5-33C2-92EFD9046D64}"/>
              </a:ext>
            </a:extLst>
          </p:cNvPr>
          <p:cNvCxnSpPr>
            <a:cxnSpLocks/>
          </p:cNvCxnSpPr>
          <p:nvPr/>
        </p:nvCxnSpPr>
        <p:spPr>
          <a:xfrm flipH="1">
            <a:off x="9479159" y="3510025"/>
            <a:ext cx="0" cy="47275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50F66BA5-9E68-7B6F-330A-2590609FF3BF}"/>
              </a:ext>
            </a:extLst>
          </p:cNvPr>
          <p:cNvSpPr txBox="1"/>
          <p:nvPr/>
        </p:nvSpPr>
        <p:spPr>
          <a:xfrm>
            <a:off x="8032323" y="3571790"/>
            <a:ext cx="1446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Optimize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27821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72867D-BAE7-FE54-26EC-B7975F911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TW" dirty="0"/>
              <a:t>The Pre-training then Fine-tuning Paradigm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84A643A-0C0A-2628-AAD2-9D4FEF8F0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CB61D7AC-56C0-E3AD-F8C1-D0E6E1FFCDA0}"/>
              </a:ext>
            </a:extLst>
          </p:cNvPr>
          <p:cNvSpPr/>
          <p:nvPr/>
        </p:nvSpPr>
        <p:spPr>
          <a:xfrm>
            <a:off x="1904933" y="3058726"/>
            <a:ext cx="2281415" cy="1325105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2400" b="1" dirty="0">
                <a:solidFill>
                  <a:schemeClr val="tx1"/>
                </a:solidFill>
              </a:rPr>
              <a:t>文字接龍</a:t>
            </a:r>
            <a:endParaRPr kumimoji="1" lang="en-US" altLang="zh-TW" sz="2400" b="1" dirty="0">
              <a:solidFill>
                <a:schemeClr val="tx1"/>
              </a:solidFill>
            </a:endParaRPr>
          </a:p>
          <a:p>
            <a:pPr algn="ctr"/>
            <a:r>
              <a:rPr kumimoji="1" lang="en-US" altLang="zh-TW" sz="2400" b="1" dirty="0">
                <a:solidFill>
                  <a:schemeClr val="tx1"/>
                </a:solidFill>
              </a:rPr>
              <a:t>(Pre-training)</a:t>
            </a:r>
            <a:endParaRPr kumimoji="1" lang="zh-TW" altLang="en-US" sz="2800" b="1" dirty="0">
              <a:solidFill>
                <a:schemeClr val="tx1"/>
              </a:solidFill>
            </a:endParaRP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07C80630-6F48-071F-F928-16865BD1E686}"/>
              </a:ext>
            </a:extLst>
          </p:cNvPr>
          <p:cNvSpPr/>
          <p:nvPr/>
        </p:nvSpPr>
        <p:spPr>
          <a:xfrm>
            <a:off x="4806394" y="3058726"/>
            <a:ext cx="2281415" cy="1325105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2400" b="1" dirty="0">
                <a:solidFill>
                  <a:schemeClr val="tx1"/>
                </a:solidFill>
              </a:rPr>
              <a:t>指令微調 </a:t>
            </a:r>
            <a:r>
              <a:rPr kumimoji="1" lang="en-US" altLang="zh-TW" b="1" dirty="0">
                <a:solidFill>
                  <a:schemeClr val="tx1"/>
                </a:solidFill>
              </a:rPr>
              <a:t>(Supervised Fine-tuning, SFT)</a:t>
            </a:r>
            <a:endParaRPr kumimoji="1" lang="zh-TW" altLang="en-US" sz="2400" dirty="0"/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E6387E0F-7E78-B0D0-35DE-5C79C7A2D010}"/>
              </a:ext>
            </a:extLst>
          </p:cNvPr>
          <p:cNvSpPr/>
          <p:nvPr/>
        </p:nvSpPr>
        <p:spPr>
          <a:xfrm>
            <a:off x="7707855" y="3058726"/>
            <a:ext cx="2281415" cy="132510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2400" b="1" dirty="0">
                <a:solidFill>
                  <a:schemeClr val="tx1"/>
                </a:solidFill>
              </a:rPr>
              <a:t>人類反饋學習</a:t>
            </a:r>
            <a:r>
              <a:rPr kumimoji="1" lang="en-US" altLang="zh-TW" sz="2400" b="1" dirty="0">
                <a:solidFill>
                  <a:schemeClr val="tx1"/>
                </a:solidFill>
              </a:rPr>
              <a:t> (RLHF)</a:t>
            </a:r>
            <a:endParaRPr kumimoji="1" lang="zh-TW" altLang="en-US" sz="2800" b="1" dirty="0">
              <a:solidFill>
                <a:schemeClr val="tx1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2283759-49BA-F7EF-0EB5-F66921D1FBD6}"/>
              </a:ext>
            </a:extLst>
          </p:cNvPr>
          <p:cNvSpPr txBox="1"/>
          <p:nvPr/>
        </p:nvSpPr>
        <p:spPr>
          <a:xfrm>
            <a:off x="7507511" y="4584541"/>
            <a:ext cx="2682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ea typeface="Microsoft JhengHei" panose="020B0604030504040204" pitchFamily="34" charset="-120"/>
              </a:rPr>
              <a:t>讓模型的回答貼近</a:t>
            </a:r>
            <a:r>
              <a:rPr kumimoji="1" lang="zh-TW" altLang="en-US" b="1" dirty="0">
                <a:ea typeface="Microsoft JhengHei" panose="020B0604030504040204" pitchFamily="34" charset="-120"/>
              </a:rPr>
              <a:t>人類想要</a:t>
            </a:r>
            <a:r>
              <a:rPr kumimoji="1" lang="zh-TW" altLang="en-US" dirty="0">
                <a:ea typeface="Microsoft JhengHei" panose="020B0604030504040204" pitchFamily="34" charset="-120"/>
              </a:rPr>
              <a:t>的回答</a:t>
            </a:r>
            <a:endParaRPr kumimoji="1" lang="en-US" altLang="zh-TW" dirty="0">
              <a:ea typeface="Microsoft JhengHei" panose="020B06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A9DD720-71BD-EAF5-E170-08884EF0D442}"/>
              </a:ext>
            </a:extLst>
          </p:cNvPr>
          <p:cNvSpPr txBox="1"/>
          <p:nvPr/>
        </p:nvSpPr>
        <p:spPr>
          <a:xfrm>
            <a:off x="4674162" y="4584541"/>
            <a:ext cx="2545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ea typeface="Microsoft JhengHei" panose="020B0604030504040204" pitchFamily="34" charset="-120"/>
              </a:rPr>
              <a:t>讓模型</a:t>
            </a:r>
            <a:r>
              <a:rPr kumimoji="1" lang="zh-TW" altLang="en-US" b="1" dirty="0">
                <a:ea typeface="Microsoft JhengHei" panose="020B0604030504040204" pitchFamily="34" charset="-120"/>
              </a:rPr>
              <a:t>學會回答</a:t>
            </a:r>
          </a:p>
        </p:txBody>
      </p:sp>
      <p:cxnSp>
        <p:nvCxnSpPr>
          <p:cNvPr id="10" name="Google Shape;195;p17">
            <a:extLst>
              <a:ext uri="{FF2B5EF4-FFF2-40B4-BE49-F238E27FC236}">
                <a16:creationId xmlns:a16="http://schemas.microsoft.com/office/drawing/2014/main" id="{26274ECB-E6CD-8FC2-A8C1-1449A7F5DF09}"/>
              </a:ext>
            </a:extLst>
          </p:cNvPr>
          <p:cNvCxnSpPr>
            <a:cxnSpLocks/>
          </p:cNvCxnSpPr>
          <p:nvPr/>
        </p:nvCxnSpPr>
        <p:spPr>
          <a:xfrm>
            <a:off x="4246458" y="3721278"/>
            <a:ext cx="499826" cy="0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070D00C3-7D37-77A8-0FBF-9E155273777A}"/>
              </a:ext>
            </a:extLst>
          </p:cNvPr>
          <p:cNvSpPr txBox="1"/>
          <p:nvPr/>
        </p:nvSpPr>
        <p:spPr>
          <a:xfrm>
            <a:off x="248362" y="3536612"/>
            <a:ext cx="1298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ea typeface="Microsoft JhengHei" panose="020B0604030504040204" pitchFamily="34" charset="-120"/>
              </a:rPr>
              <a:t>GPT-3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cxnSp>
        <p:nvCxnSpPr>
          <p:cNvPr id="15" name="Google Shape;195;p17">
            <a:extLst>
              <a:ext uri="{FF2B5EF4-FFF2-40B4-BE49-F238E27FC236}">
                <a16:creationId xmlns:a16="http://schemas.microsoft.com/office/drawing/2014/main" id="{4D605540-B534-397B-3EFB-A2477014F113}"/>
              </a:ext>
            </a:extLst>
          </p:cNvPr>
          <p:cNvCxnSpPr>
            <a:cxnSpLocks/>
          </p:cNvCxnSpPr>
          <p:nvPr/>
        </p:nvCxnSpPr>
        <p:spPr>
          <a:xfrm>
            <a:off x="1348524" y="3721278"/>
            <a:ext cx="499826" cy="0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" name="Google Shape;195;p17">
            <a:extLst>
              <a:ext uri="{FF2B5EF4-FFF2-40B4-BE49-F238E27FC236}">
                <a16:creationId xmlns:a16="http://schemas.microsoft.com/office/drawing/2014/main" id="{DE43FE05-EC1E-831F-61BF-C50C19040AA6}"/>
              </a:ext>
            </a:extLst>
          </p:cNvPr>
          <p:cNvCxnSpPr>
            <a:cxnSpLocks/>
          </p:cNvCxnSpPr>
          <p:nvPr/>
        </p:nvCxnSpPr>
        <p:spPr>
          <a:xfrm>
            <a:off x="7164706" y="3721278"/>
            <a:ext cx="499826" cy="0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" name="Google Shape;195;p17">
            <a:extLst>
              <a:ext uri="{FF2B5EF4-FFF2-40B4-BE49-F238E27FC236}">
                <a16:creationId xmlns:a16="http://schemas.microsoft.com/office/drawing/2014/main" id="{BEF5FAFA-A835-55DD-70F3-C7B7BCD2B2DA}"/>
              </a:ext>
            </a:extLst>
          </p:cNvPr>
          <p:cNvCxnSpPr>
            <a:cxnSpLocks/>
          </p:cNvCxnSpPr>
          <p:nvPr/>
        </p:nvCxnSpPr>
        <p:spPr>
          <a:xfrm>
            <a:off x="10051616" y="3721278"/>
            <a:ext cx="499826" cy="0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8BB55605-64A4-0610-71E8-7AE9D95C90FC}"/>
              </a:ext>
            </a:extLst>
          </p:cNvPr>
          <p:cNvSpPr txBox="1"/>
          <p:nvPr/>
        </p:nvSpPr>
        <p:spPr>
          <a:xfrm>
            <a:off x="10500702" y="3536612"/>
            <a:ext cx="1497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 err="1">
                <a:ea typeface="Microsoft JhengHei" panose="020B0604030504040204" pitchFamily="34" charset="-120"/>
              </a:rPr>
              <a:t>InstructGPT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A50930E8-6BBA-7D52-1097-4C6C3DEA3EFF}"/>
              </a:ext>
            </a:extLst>
          </p:cNvPr>
          <p:cNvSpPr txBox="1"/>
          <p:nvPr/>
        </p:nvSpPr>
        <p:spPr>
          <a:xfrm>
            <a:off x="5479311" y="2243847"/>
            <a:ext cx="38706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800" b="1" dirty="0"/>
              <a:t>Fine-tuning</a:t>
            </a:r>
            <a:endParaRPr lang="zh-TW" altLang="en-US" sz="2800" b="1" dirty="0"/>
          </a:p>
        </p:txBody>
      </p:sp>
      <p:sp>
        <p:nvSpPr>
          <p:cNvPr id="21" name="左中括弧 20">
            <a:extLst>
              <a:ext uri="{FF2B5EF4-FFF2-40B4-BE49-F238E27FC236}">
                <a16:creationId xmlns:a16="http://schemas.microsoft.com/office/drawing/2014/main" id="{84B174B6-451B-F7BC-6670-F94555EE66A8}"/>
              </a:ext>
            </a:extLst>
          </p:cNvPr>
          <p:cNvSpPr/>
          <p:nvPr/>
        </p:nvSpPr>
        <p:spPr>
          <a:xfrm rot="5400000">
            <a:off x="7329357" y="1056238"/>
            <a:ext cx="170522" cy="3633745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3DAE9B4-46C9-EBD6-7618-ED9E13994E6A}"/>
              </a:ext>
            </a:extLst>
          </p:cNvPr>
          <p:cNvSpPr txBox="1"/>
          <p:nvPr/>
        </p:nvSpPr>
        <p:spPr>
          <a:xfrm>
            <a:off x="5869858" y="6132580"/>
            <a:ext cx="6077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RLHF: Reinforcement Learning with Human Feedback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2A3206F-73F2-E722-91B8-6BDA709B6B6D}"/>
              </a:ext>
            </a:extLst>
          </p:cNvPr>
          <p:cNvSpPr txBox="1"/>
          <p:nvPr/>
        </p:nvSpPr>
        <p:spPr>
          <a:xfrm>
            <a:off x="7567738" y="5298700"/>
            <a:ext cx="2682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dirty="0"/>
              <a:t>⬆️ ⬆️ ⬆️ ⬆️ ⬆️</a:t>
            </a:r>
            <a:endParaRPr kumimoji="1"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3044611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E7C426-22C9-2369-C106-950BD3099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Atari – a common environment for RL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E46FD7D-8BEE-DC04-1C89-D8CCDF033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33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6C6F15F-30C4-8CF6-8340-D1F7688BA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527" y="2184670"/>
            <a:ext cx="5133507" cy="3368187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229806E9-D72C-DF86-6A01-A4C51E6D1033}"/>
              </a:ext>
            </a:extLst>
          </p:cNvPr>
          <p:cNvSpPr txBox="1"/>
          <p:nvPr/>
        </p:nvSpPr>
        <p:spPr>
          <a:xfrm>
            <a:off x="2106457" y="6415560"/>
            <a:ext cx="79790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dirty="0"/>
              <a:t>Figure from: Mnih, Volodymyr, et al. "Playing atari with deep reinforcement learning." NIPS (2013).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A7D4408C-F8E1-A4D9-D5F5-BAE09AC57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711" y="3290602"/>
            <a:ext cx="2875341" cy="1758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4068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752A645-1D17-C035-3A04-8EF3A7FDD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49C3-EFAD-D94E-864A-24510FCA3FE0}" type="slidenum">
              <a:rPr kumimoji="1" lang="zh-TW" altLang="en-US" smtClean="0"/>
              <a:t>34</a:t>
            </a:fld>
            <a:endParaRPr kumimoji="1"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7D96219-B686-82C6-7860-DEBDCEF4F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800" dirty="0">
                <a:solidFill>
                  <a:schemeClr val="tx1"/>
                </a:solidFill>
              </a:rPr>
              <a:t>RLHF</a:t>
            </a:r>
            <a:r>
              <a:rPr kumimoji="1" lang="zh-TW" altLang="en-US" sz="4800" dirty="0">
                <a:solidFill>
                  <a:schemeClr val="tx1"/>
                </a:solidFill>
              </a:rPr>
              <a:t> 的進行過程</a:t>
            </a:r>
            <a:endParaRPr kumimoji="1"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EE785D6-BA7F-3F3D-D121-805180561CD0}"/>
              </a:ext>
            </a:extLst>
          </p:cNvPr>
          <p:cNvSpPr txBox="1"/>
          <p:nvPr/>
        </p:nvSpPr>
        <p:spPr>
          <a:xfrm>
            <a:off x="1033506" y="2859020"/>
            <a:ext cx="16281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" altLang="zh-TW" b="1" dirty="0"/>
              <a:t>Supervised Fine-Tuning</a:t>
            </a:r>
            <a:endParaRPr lang="zh-TW" altLang="en-US" b="1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B2362DC-F5C7-D8BE-8B7C-3C3F3806EA5F}"/>
              </a:ext>
            </a:extLst>
          </p:cNvPr>
          <p:cNvSpPr txBox="1"/>
          <p:nvPr/>
        </p:nvSpPr>
        <p:spPr>
          <a:xfrm>
            <a:off x="426027" y="4459793"/>
            <a:ext cx="26189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" altLang="zh-TW" b="1" dirty="0"/>
              <a:t>Reinforcement Learning with Human Feedback (</a:t>
            </a:r>
            <a:r>
              <a:rPr kumimoji="1" lang="en" altLang="zh-TW" b="1" dirty="0">
                <a:solidFill>
                  <a:srgbClr val="FF0000"/>
                </a:solidFill>
              </a:rPr>
              <a:t>RLHF</a:t>
            </a:r>
            <a:r>
              <a:rPr kumimoji="1" lang="en" altLang="zh-TW" b="1" dirty="0"/>
              <a:t>)</a:t>
            </a:r>
            <a:endParaRPr lang="zh-TW" altLang="en-US" b="1" dirty="0"/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28FDD7F6-E298-DC0E-C274-3D0B84A5D918}"/>
              </a:ext>
            </a:extLst>
          </p:cNvPr>
          <p:cNvSpPr/>
          <p:nvPr/>
        </p:nvSpPr>
        <p:spPr>
          <a:xfrm>
            <a:off x="3017398" y="2800222"/>
            <a:ext cx="1965961" cy="763929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zh-TW" sz="1600" b="1" dirty="0">
                <a:solidFill>
                  <a:schemeClr val="tx1"/>
                </a:solidFill>
              </a:rPr>
              <a:t>Tell me who is Oppenheimer?</a:t>
            </a:r>
            <a:endParaRPr kumimoji="1" lang="zh-TW" altLang="en-US" sz="1600" b="1" dirty="0">
              <a:solidFill>
                <a:schemeClr val="tx1"/>
              </a:solidFill>
            </a:endParaRP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D3E4AFA2-5A59-FBA5-30C5-75DE6772E083}"/>
              </a:ext>
            </a:extLst>
          </p:cNvPr>
          <p:cNvSpPr/>
          <p:nvPr/>
        </p:nvSpPr>
        <p:spPr>
          <a:xfrm>
            <a:off x="5598134" y="2764991"/>
            <a:ext cx="1965960" cy="834390"/>
          </a:xfrm>
          <a:prstGeom prst="roundRect">
            <a:avLst/>
          </a:prstGeom>
          <a:solidFill>
            <a:srgbClr val="FFEB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600" dirty="0">
                <a:solidFill>
                  <a:schemeClr val="tx1"/>
                </a:solidFill>
              </a:rPr>
              <a:t>語言模型</a:t>
            </a:r>
            <a:endParaRPr kumimoji="1" lang="en-US" altLang="zh-TW" sz="16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(e.g., </a:t>
            </a:r>
            <a:r>
              <a:rPr kumimoji="1" lang="en-US" altLang="zh-TW" sz="1600" dirty="0" err="1">
                <a:solidFill>
                  <a:schemeClr val="tx1"/>
                </a:solidFill>
              </a:rPr>
              <a:t>InstructGPT</a:t>
            </a:r>
            <a:r>
              <a:rPr kumimoji="1" lang="en-US" altLang="zh-TW" sz="1600" dirty="0">
                <a:solidFill>
                  <a:schemeClr val="tx1"/>
                </a:solidFill>
              </a:rPr>
              <a:t>)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2DDA9110-3E05-8099-F28B-50950C80FBA5}"/>
              </a:ext>
            </a:extLst>
          </p:cNvPr>
          <p:cNvSpPr/>
          <p:nvPr/>
        </p:nvSpPr>
        <p:spPr>
          <a:xfrm>
            <a:off x="8792144" y="2800222"/>
            <a:ext cx="2170634" cy="763929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zh-TW" sz="1600" b="1" dirty="0">
                <a:solidFill>
                  <a:schemeClr val="tx1"/>
                </a:solidFill>
              </a:rPr>
              <a:t>Julius Robert Oppenheimer is …</a:t>
            </a:r>
            <a:endParaRPr kumimoji="1" lang="zh-TW" altLang="en-US" sz="1600" b="1" dirty="0">
              <a:solidFill>
                <a:schemeClr val="tx1"/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28FC139-E290-46BD-6B72-6FF703ADFC9F}"/>
              </a:ext>
            </a:extLst>
          </p:cNvPr>
          <p:cNvSpPr txBox="1"/>
          <p:nvPr/>
        </p:nvSpPr>
        <p:spPr>
          <a:xfrm>
            <a:off x="8382794" y="2153891"/>
            <a:ext cx="29848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As close to </a:t>
            </a:r>
            <a:r>
              <a:rPr kumimoji="1" lang="en-US" altLang="zh-TW" dirty="0"/>
              <a:t>human-written ground-truths </a:t>
            </a:r>
            <a:r>
              <a:rPr kumimoji="1" lang="en-US" altLang="zh-TW" dirty="0">
                <a:solidFill>
                  <a:srgbClr val="FF0000"/>
                </a:solidFill>
              </a:rPr>
              <a:t>as possible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E93C4B3B-5864-37B0-EA3D-A244F5DD94FD}"/>
              </a:ext>
            </a:extLst>
          </p:cNvPr>
          <p:cNvSpPr/>
          <p:nvPr/>
        </p:nvSpPr>
        <p:spPr>
          <a:xfrm>
            <a:off x="5598134" y="4504265"/>
            <a:ext cx="1965960" cy="834390"/>
          </a:xfrm>
          <a:prstGeom prst="roundRect">
            <a:avLst/>
          </a:prstGeom>
          <a:solidFill>
            <a:srgbClr val="FFEB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600" dirty="0">
                <a:solidFill>
                  <a:schemeClr val="tx1"/>
                </a:solidFill>
              </a:rPr>
              <a:t>語言模型</a:t>
            </a:r>
            <a:endParaRPr kumimoji="1" lang="en-US" altLang="zh-TW" sz="16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(e.g., </a:t>
            </a:r>
            <a:r>
              <a:rPr kumimoji="1" lang="en-US" altLang="zh-TW" sz="1600" dirty="0" err="1">
                <a:solidFill>
                  <a:schemeClr val="tx1"/>
                </a:solidFill>
              </a:rPr>
              <a:t>InstructGPT</a:t>
            </a:r>
            <a:r>
              <a:rPr kumimoji="1" lang="en-US" altLang="zh-TW" sz="1600" dirty="0">
                <a:solidFill>
                  <a:schemeClr val="tx1"/>
                </a:solidFill>
              </a:rPr>
              <a:t>)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9CF54F18-114F-5E47-3388-B570DC8FA7C7}"/>
              </a:ext>
            </a:extLst>
          </p:cNvPr>
          <p:cNvSpPr/>
          <p:nvPr/>
        </p:nvSpPr>
        <p:spPr>
          <a:xfrm>
            <a:off x="3017397" y="4539495"/>
            <a:ext cx="1965961" cy="763929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zh-TW" sz="1600" b="1" dirty="0">
                <a:solidFill>
                  <a:schemeClr val="tx1"/>
                </a:solidFill>
              </a:rPr>
              <a:t>Tell me who is Oppenheimer?</a:t>
            </a:r>
            <a:endParaRPr kumimoji="1" lang="zh-TW" altLang="en-US" sz="1600" b="1" dirty="0">
              <a:solidFill>
                <a:schemeClr val="tx1"/>
              </a:solidFill>
            </a:endParaRP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8917E547-7AFD-D0ED-E45C-A17E29A258B3}"/>
              </a:ext>
            </a:extLst>
          </p:cNvPr>
          <p:cNvSpPr/>
          <p:nvPr/>
        </p:nvSpPr>
        <p:spPr>
          <a:xfrm>
            <a:off x="9034371" y="5236059"/>
            <a:ext cx="1769112" cy="57408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Reward Model</a:t>
            </a: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B05220E0-11D2-F1F3-C531-DCF75DEAB595}"/>
              </a:ext>
            </a:extLst>
          </p:cNvPr>
          <p:cNvSpPr/>
          <p:nvPr/>
        </p:nvSpPr>
        <p:spPr>
          <a:xfrm>
            <a:off x="9093984" y="4424695"/>
            <a:ext cx="1649885" cy="488952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zh-TW" sz="1600" b="1" dirty="0">
                <a:solidFill>
                  <a:schemeClr val="tx1"/>
                </a:solidFill>
              </a:rPr>
              <a:t>Score (Scalar)</a:t>
            </a:r>
            <a:endParaRPr kumimoji="1" lang="zh-TW" altLang="en-US" sz="1600" b="1" dirty="0">
              <a:solidFill>
                <a:schemeClr val="tx1"/>
              </a:solidFill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EB981A80-EB9F-E098-C986-E936B0244D69}"/>
              </a:ext>
            </a:extLst>
          </p:cNvPr>
          <p:cNvSpPr txBox="1"/>
          <p:nvPr/>
        </p:nvSpPr>
        <p:spPr>
          <a:xfrm>
            <a:off x="8792144" y="4036381"/>
            <a:ext cx="2309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As high as possible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19" name="肘形接點 18">
            <a:extLst>
              <a:ext uri="{FF2B5EF4-FFF2-40B4-BE49-F238E27FC236}">
                <a16:creationId xmlns:a16="http://schemas.microsoft.com/office/drawing/2014/main" id="{DA986F20-427D-C6A0-15F9-F1EE1C88DEF7}"/>
              </a:ext>
            </a:extLst>
          </p:cNvPr>
          <p:cNvCxnSpPr>
            <a:cxnSpLocks/>
            <a:stCxn id="13" idx="2"/>
            <a:endCxn id="15" idx="1"/>
          </p:cNvCxnSpPr>
          <p:nvPr/>
        </p:nvCxnSpPr>
        <p:spPr>
          <a:xfrm rot="16200000" flipH="1">
            <a:off x="7715519" y="4204249"/>
            <a:ext cx="184447" cy="2453257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B8F2F779-9619-6C68-A88E-F965AC12213B}"/>
              </a:ext>
            </a:extLst>
          </p:cNvPr>
          <p:cNvCxnSpPr>
            <a:cxnSpLocks/>
            <a:stCxn id="15" idx="0"/>
            <a:endCxn id="16" idx="2"/>
          </p:cNvCxnSpPr>
          <p:nvPr/>
        </p:nvCxnSpPr>
        <p:spPr>
          <a:xfrm flipV="1">
            <a:off x="9918927" y="4913647"/>
            <a:ext cx="0" cy="3224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箭頭接點 23">
            <a:extLst>
              <a:ext uri="{FF2B5EF4-FFF2-40B4-BE49-F238E27FC236}">
                <a16:creationId xmlns:a16="http://schemas.microsoft.com/office/drawing/2014/main" id="{96FD90A1-ABA7-7C71-1AA2-D510C7973F7C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4983359" y="3182186"/>
            <a:ext cx="614775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7E9067B3-A29B-9439-3B47-7F4C082C8C33}"/>
              </a:ext>
            </a:extLst>
          </p:cNvPr>
          <p:cNvCxnSpPr>
            <a:cxnSpLocks/>
            <a:stCxn id="14" idx="3"/>
            <a:endCxn id="13" idx="1"/>
          </p:cNvCxnSpPr>
          <p:nvPr/>
        </p:nvCxnSpPr>
        <p:spPr>
          <a:xfrm>
            <a:off x="4983358" y="4921460"/>
            <a:ext cx="61477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箭頭接點 29">
            <a:extLst>
              <a:ext uri="{FF2B5EF4-FFF2-40B4-BE49-F238E27FC236}">
                <a16:creationId xmlns:a16="http://schemas.microsoft.com/office/drawing/2014/main" id="{BAC6BB84-D418-A868-9174-D17903E5FE20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7564094" y="3182186"/>
            <a:ext cx="122805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肘形接點 33">
            <a:extLst>
              <a:ext uri="{FF2B5EF4-FFF2-40B4-BE49-F238E27FC236}">
                <a16:creationId xmlns:a16="http://schemas.microsoft.com/office/drawing/2014/main" id="{C2F8BA38-4201-16D6-5EE8-7460641B8990}"/>
              </a:ext>
            </a:extLst>
          </p:cNvPr>
          <p:cNvCxnSpPr>
            <a:cxnSpLocks/>
            <a:stCxn id="17" idx="1"/>
            <a:endCxn id="13" idx="0"/>
          </p:cNvCxnSpPr>
          <p:nvPr/>
        </p:nvCxnSpPr>
        <p:spPr>
          <a:xfrm rot="10800000" flipV="1">
            <a:off x="6581114" y="4221047"/>
            <a:ext cx="2211030" cy="283218"/>
          </a:xfrm>
          <a:prstGeom prst="bentConnector2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肘形接點 38">
            <a:extLst>
              <a:ext uri="{FF2B5EF4-FFF2-40B4-BE49-F238E27FC236}">
                <a16:creationId xmlns:a16="http://schemas.microsoft.com/office/drawing/2014/main" id="{639114D3-6B4C-166A-DB5B-F74ABAECFB25}"/>
              </a:ext>
            </a:extLst>
          </p:cNvPr>
          <p:cNvCxnSpPr>
            <a:cxnSpLocks/>
            <a:stCxn id="12" idx="1"/>
            <a:endCxn id="9" idx="0"/>
          </p:cNvCxnSpPr>
          <p:nvPr/>
        </p:nvCxnSpPr>
        <p:spPr>
          <a:xfrm rot="10800000" flipV="1">
            <a:off x="6581114" y="2477057"/>
            <a:ext cx="1801680" cy="287934"/>
          </a:xfrm>
          <a:prstGeom prst="bentConnector2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D911DABC-7E2C-76C9-8860-32244B2399DF}"/>
              </a:ext>
            </a:extLst>
          </p:cNvPr>
          <p:cNvSpPr txBox="1"/>
          <p:nvPr/>
        </p:nvSpPr>
        <p:spPr>
          <a:xfrm>
            <a:off x="6472172" y="2175903"/>
            <a:ext cx="10209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Optimize</a:t>
            </a:r>
            <a:endParaRPr kumimoji="1" lang="zh-TW" altLang="en-US" sz="1400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CADBE28A-0431-DB80-8839-9A258CB54AFC}"/>
              </a:ext>
            </a:extLst>
          </p:cNvPr>
          <p:cNvSpPr txBox="1"/>
          <p:nvPr/>
        </p:nvSpPr>
        <p:spPr>
          <a:xfrm>
            <a:off x="6472172" y="3933183"/>
            <a:ext cx="10209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Optimize</a:t>
            </a:r>
            <a:endParaRPr kumimoji="1" lang="zh-TW" altLang="en-US" sz="1400" dirty="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365630B7-FDF0-EB17-230C-746EFBF89241}"/>
              </a:ext>
            </a:extLst>
          </p:cNvPr>
          <p:cNvSpPr txBox="1"/>
          <p:nvPr/>
        </p:nvSpPr>
        <p:spPr>
          <a:xfrm>
            <a:off x="3321349" y="2501971"/>
            <a:ext cx="13580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Input Prompt</a:t>
            </a:r>
            <a:endParaRPr kumimoji="1" lang="zh-TW" altLang="en-US" sz="1400" dirty="0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AC9A5CC6-29F9-2232-0870-65B8DBFBDFD9}"/>
              </a:ext>
            </a:extLst>
          </p:cNvPr>
          <p:cNvSpPr txBox="1"/>
          <p:nvPr/>
        </p:nvSpPr>
        <p:spPr>
          <a:xfrm>
            <a:off x="3371364" y="4251824"/>
            <a:ext cx="12580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Input Prompt</a:t>
            </a:r>
            <a:endParaRPr kumimoji="1" lang="zh-TW" altLang="en-US" sz="1400" dirty="0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64A55741-2FC2-58A4-A089-3BFC949F9D8F}"/>
              </a:ext>
            </a:extLst>
          </p:cNvPr>
          <p:cNvSpPr txBox="1"/>
          <p:nvPr/>
        </p:nvSpPr>
        <p:spPr>
          <a:xfrm>
            <a:off x="1121440" y="6323468"/>
            <a:ext cx="600672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100" dirty="0"/>
              <a:t>Ouyang, Long, et al. "Training language models to follow instructions with human feedback." </a:t>
            </a:r>
            <a:r>
              <a:rPr lang="en" altLang="zh-TW" sz="1100" i="1" dirty="0"/>
              <a:t>Advances in neural information processing systems</a:t>
            </a:r>
            <a:r>
              <a:rPr lang="en" altLang="zh-TW" sz="1100" dirty="0"/>
              <a:t> 35 (2022): 27730-27744.</a:t>
            </a:r>
            <a:endParaRPr lang="zh-TW" altLang="en-US" sz="11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6FC6EAA-925D-FEDA-CB6D-4DEC5ED8594F}"/>
              </a:ext>
            </a:extLst>
          </p:cNvPr>
          <p:cNvSpPr txBox="1"/>
          <p:nvPr/>
        </p:nvSpPr>
        <p:spPr>
          <a:xfrm>
            <a:off x="8587467" y="5820588"/>
            <a:ext cx="25141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(Trained from </a:t>
            </a:r>
            <a:r>
              <a:rPr kumimoji="1" lang="en-US" altLang="zh-TW" dirty="0">
                <a:solidFill>
                  <a:srgbClr val="FF0000"/>
                </a:solidFill>
              </a:rPr>
              <a:t>human preferences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32737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 animBg="1"/>
      <p:bldP spid="14" grpId="0" animBg="1"/>
      <p:bldP spid="15" grpId="0" animBg="1"/>
      <p:bldP spid="16" grpId="0" animBg="1"/>
      <p:bldP spid="17" grpId="0"/>
      <p:bldP spid="43" grpId="0"/>
      <p:bldP spid="4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24C390-1277-2526-1D21-CC97931FB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en" altLang="zh-TW" sz="4000" dirty="0"/>
              <a:t>Supervised Learning vs. Reinforcement Learning</a:t>
            </a:r>
            <a:endParaRPr kumimoji="1" lang="zh-TW" altLang="en-US" sz="4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7FCCA2F-1AB9-56F1-3847-401197782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501E1FC-C992-051F-B961-3CF5187D8D58}"/>
              </a:ext>
            </a:extLst>
          </p:cNvPr>
          <p:cNvSpPr txBox="1"/>
          <p:nvPr/>
        </p:nvSpPr>
        <p:spPr>
          <a:xfrm>
            <a:off x="669201" y="1476210"/>
            <a:ext cx="5534171" cy="577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2400" dirty="0"/>
              <a:t>Tell me a story about Muslim </a:t>
            </a:r>
            <a:endParaRPr kumimoji="1" lang="zh-TW" altLang="en-US" sz="24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7245500-3284-26C3-1A35-3F416648F1B1}"/>
              </a:ext>
            </a:extLst>
          </p:cNvPr>
          <p:cNvSpPr txBox="1"/>
          <p:nvPr/>
        </p:nvSpPr>
        <p:spPr>
          <a:xfrm>
            <a:off x="2176385" y="2676303"/>
            <a:ext cx="6831800" cy="4648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sz="1800" dirty="0"/>
              <a:t>“</a:t>
            </a:r>
            <a:r>
              <a:rPr kumimoji="1" lang="en-US" altLang="zh-TW" sz="1800" dirty="0">
                <a:solidFill>
                  <a:srgbClr val="0070C0"/>
                </a:solidFill>
              </a:rPr>
              <a:t>Muslim</a:t>
            </a:r>
            <a:r>
              <a:rPr kumimoji="1" lang="en-US" altLang="zh-TW" sz="1800" dirty="0"/>
              <a:t>” was analogized to “</a:t>
            </a:r>
            <a:r>
              <a:rPr kumimoji="1" lang="en-US" altLang="zh-TW" sz="1800" dirty="0">
                <a:solidFill>
                  <a:srgbClr val="0070C0"/>
                </a:solidFill>
              </a:rPr>
              <a:t>terrorist</a:t>
            </a:r>
            <a:r>
              <a:rPr kumimoji="1" lang="en-US" altLang="zh-TW" sz="1800" dirty="0"/>
              <a:t>” in 23% of test cases.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BBEDF35-FD53-8C0E-59FE-EFEA4BA21D1E}"/>
              </a:ext>
            </a:extLst>
          </p:cNvPr>
          <p:cNvSpPr txBox="1"/>
          <p:nvPr/>
        </p:nvSpPr>
        <p:spPr>
          <a:xfrm>
            <a:off x="1507926" y="2606499"/>
            <a:ext cx="958745" cy="5942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sz="2400" dirty="0"/>
              <a:t>🤖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C6B219B-894E-591E-1091-76FC5709EE91}"/>
              </a:ext>
            </a:extLst>
          </p:cNvPr>
          <p:cNvSpPr txBox="1"/>
          <p:nvPr/>
        </p:nvSpPr>
        <p:spPr>
          <a:xfrm>
            <a:off x="9008185" y="2190978"/>
            <a:ext cx="1268854" cy="4648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sz="1800" b="1" dirty="0"/>
              <a:t>Label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43B2C99-CBC8-B84C-E27B-A48C9D7056C4}"/>
              </a:ext>
            </a:extLst>
          </p:cNvPr>
          <p:cNvSpPr txBox="1"/>
          <p:nvPr/>
        </p:nvSpPr>
        <p:spPr>
          <a:xfrm>
            <a:off x="4074253" y="2159477"/>
            <a:ext cx="2077165" cy="4648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sz="1800" b="1" dirty="0"/>
              <a:t>Response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42CC27C-F915-2551-5252-24AB3549AF99}"/>
              </a:ext>
            </a:extLst>
          </p:cNvPr>
          <p:cNvSpPr txBox="1"/>
          <p:nvPr/>
        </p:nvSpPr>
        <p:spPr>
          <a:xfrm>
            <a:off x="9255012" y="2671164"/>
            <a:ext cx="879110" cy="4648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sz="1800" dirty="0"/>
              <a:t>0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A3D3A45-695F-1A27-700B-0BD661B77882}"/>
              </a:ext>
            </a:extLst>
          </p:cNvPr>
          <p:cNvSpPr txBox="1"/>
          <p:nvPr/>
        </p:nvSpPr>
        <p:spPr>
          <a:xfrm>
            <a:off x="2241029" y="3174218"/>
            <a:ext cx="6165641" cy="4648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sz="1800" dirty="0"/>
              <a:t>Allah is the most common word to represent God.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3D10BE2E-2062-B20C-92ED-8FCE00D0EC52}"/>
              </a:ext>
            </a:extLst>
          </p:cNvPr>
          <p:cNvSpPr txBox="1"/>
          <p:nvPr/>
        </p:nvSpPr>
        <p:spPr>
          <a:xfrm>
            <a:off x="1507926" y="3104414"/>
            <a:ext cx="958745" cy="5942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sz="2400" dirty="0"/>
              <a:t>🤖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54DFFFAD-53A3-E53E-E3E5-1DA6A7EC1175}"/>
              </a:ext>
            </a:extLst>
          </p:cNvPr>
          <p:cNvSpPr txBox="1"/>
          <p:nvPr/>
        </p:nvSpPr>
        <p:spPr>
          <a:xfrm>
            <a:off x="9255012" y="3169079"/>
            <a:ext cx="879110" cy="4648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dirty="0"/>
              <a:t>1</a:t>
            </a:r>
            <a:endParaRPr kumimoji="1" lang="en-US" altLang="zh-TW" sz="1800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19D91B34-1277-5E41-5583-77E2A9EFBF1F}"/>
              </a:ext>
            </a:extLst>
          </p:cNvPr>
          <p:cNvSpPr txBox="1"/>
          <p:nvPr/>
        </p:nvSpPr>
        <p:spPr>
          <a:xfrm>
            <a:off x="1954976" y="4248127"/>
            <a:ext cx="4622326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2000" b="1" dirty="0"/>
              <a:t>Reinforcement learning</a:t>
            </a:r>
            <a:endParaRPr kumimoji="1" lang="zh-TW" altLang="en-US" sz="2000" b="1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966EEA58-F545-D3C5-64FE-3473BB81217C}"/>
              </a:ext>
            </a:extLst>
          </p:cNvPr>
          <p:cNvSpPr txBox="1"/>
          <p:nvPr/>
        </p:nvSpPr>
        <p:spPr>
          <a:xfrm>
            <a:off x="2241029" y="3679952"/>
            <a:ext cx="6165641" cy="4648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sz="1800" dirty="0"/>
              <a:t>Allah is unique and singular.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9B2BBA02-AFE1-405C-1110-D640C4B21108}"/>
              </a:ext>
            </a:extLst>
          </p:cNvPr>
          <p:cNvSpPr txBox="1"/>
          <p:nvPr/>
        </p:nvSpPr>
        <p:spPr>
          <a:xfrm>
            <a:off x="1507926" y="3610148"/>
            <a:ext cx="958745" cy="5942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sz="2400" dirty="0"/>
              <a:t>🤖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20EB1526-34D2-D941-7644-A5142B3AAC35}"/>
              </a:ext>
            </a:extLst>
          </p:cNvPr>
          <p:cNvSpPr txBox="1"/>
          <p:nvPr/>
        </p:nvSpPr>
        <p:spPr>
          <a:xfrm>
            <a:off x="9255012" y="3679952"/>
            <a:ext cx="879110" cy="4648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dirty="0"/>
              <a:t>1</a:t>
            </a:r>
            <a:endParaRPr kumimoji="1" lang="en-US" altLang="zh-TW" sz="1800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200112E6-D934-990A-592E-4F4DF192AF5F}"/>
              </a:ext>
            </a:extLst>
          </p:cNvPr>
          <p:cNvSpPr txBox="1"/>
          <p:nvPr/>
        </p:nvSpPr>
        <p:spPr>
          <a:xfrm>
            <a:off x="2144063" y="4844654"/>
            <a:ext cx="6583478" cy="4648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sz="1800" dirty="0"/>
              <a:t>“</a:t>
            </a:r>
            <a:r>
              <a:rPr kumimoji="1" lang="en-US" altLang="zh-TW" sz="1800" dirty="0">
                <a:solidFill>
                  <a:srgbClr val="0070C0"/>
                </a:solidFill>
              </a:rPr>
              <a:t>Muslim</a:t>
            </a:r>
            <a:r>
              <a:rPr kumimoji="1" lang="en-US" altLang="zh-TW" sz="1800" dirty="0"/>
              <a:t>” was analogized to “</a:t>
            </a:r>
            <a:r>
              <a:rPr kumimoji="1" lang="en-US" altLang="zh-TW" sz="1800" dirty="0">
                <a:solidFill>
                  <a:srgbClr val="0070C0"/>
                </a:solidFill>
              </a:rPr>
              <a:t>terrorist</a:t>
            </a:r>
            <a:r>
              <a:rPr kumimoji="1" lang="en-US" altLang="zh-TW" sz="1800" dirty="0"/>
              <a:t>” in 23% of test cases.</a:t>
            </a: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44FD1A2E-56EB-1C3E-7D59-EDC7C675562A}"/>
              </a:ext>
            </a:extLst>
          </p:cNvPr>
          <p:cNvSpPr txBox="1"/>
          <p:nvPr/>
        </p:nvSpPr>
        <p:spPr>
          <a:xfrm>
            <a:off x="1475604" y="4774850"/>
            <a:ext cx="958745" cy="5942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sz="2400" dirty="0"/>
              <a:t>🤖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DCEDC710-C33A-1D43-73A7-BDEF28FF20CA}"/>
              </a:ext>
            </a:extLst>
          </p:cNvPr>
          <p:cNvSpPr txBox="1"/>
          <p:nvPr/>
        </p:nvSpPr>
        <p:spPr>
          <a:xfrm>
            <a:off x="9222690" y="4839515"/>
            <a:ext cx="879110" cy="4648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sz="1800" dirty="0"/>
              <a:t>0</a:t>
            </a: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0F626786-0F84-88C9-78DE-5F3B9C894CB7}"/>
              </a:ext>
            </a:extLst>
          </p:cNvPr>
          <p:cNvSpPr txBox="1"/>
          <p:nvPr/>
        </p:nvSpPr>
        <p:spPr>
          <a:xfrm>
            <a:off x="2208707" y="5342569"/>
            <a:ext cx="6165641" cy="4648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sz="1800" dirty="0"/>
              <a:t>Allah is the most common word to represent God.</a:t>
            </a: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126863AB-8A08-ADD5-C050-A15C26C16934}"/>
              </a:ext>
            </a:extLst>
          </p:cNvPr>
          <p:cNvSpPr txBox="1"/>
          <p:nvPr/>
        </p:nvSpPr>
        <p:spPr>
          <a:xfrm>
            <a:off x="1475604" y="5272765"/>
            <a:ext cx="958745" cy="5942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sz="2400" dirty="0"/>
              <a:t>🤖</a:t>
            </a: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414E4E19-9878-D9BC-6BEE-AB1E09DB3556}"/>
              </a:ext>
            </a:extLst>
          </p:cNvPr>
          <p:cNvSpPr txBox="1"/>
          <p:nvPr/>
        </p:nvSpPr>
        <p:spPr>
          <a:xfrm>
            <a:off x="9222690" y="5337430"/>
            <a:ext cx="1106304" cy="4648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dirty="0"/>
              <a:t>9.8</a:t>
            </a:r>
            <a:endParaRPr kumimoji="1" lang="en-US" altLang="zh-TW" sz="1800" dirty="0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2CB0D71F-FFD0-9530-DEC1-85E02F6D86CD}"/>
              </a:ext>
            </a:extLst>
          </p:cNvPr>
          <p:cNvSpPr txBox="1"/>
          <p:nvPr/>
        </p:nvSpPr>
        <p:spPr>
          <a:xfrm>
            <a:off x="2208707" y="5848303"/>
            <a:ext cx="6165641" cy="4648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sz="1800" dirty="0"/>
              <a:t>Allah is unique and singular.</a:t>
            </a: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4AF3AD5C-6AF1-4651-163C-F360F038B742}"/>
              </a:ext>
            </a:extLst>
          </p:cNvPr>
          <p:cNvSpPr txBox="1"/>
          <p:nvPr/>
        </p:nvSpPr>
        <p:spPr>
          <a:xfrm>
            <a:off x="1475604" y="5778499"/>
            <a:ext cx="958745" cy="5942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sz="2400" dirty="0"/>
              <a:t>🤖</a:t>
            </a: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E64C893E-E48C-6EEB-897A-98AFCEFA3C20}"/>
              </a:ext>
            </a:extLst>
          </p:cNvPr>
          <p:cNvSpPr txBox="1"/>
          <p:nvPr/>
        </p:nvSpPr>
        <p:spPr>
          <a:xfrm>
            <a:off x="9222689" y="5848303"/>
            <a:ext cx="1023087" cy="4648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dirty="0"/>
              <a:t>7.9</a:t>
            </a:r>
            <a:endParaRPr kumimoji="1" lang="en-US" altLang="zh-TW" sz="1800" dirty="0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332411A0-477C-ABA9-E95A-D155D21A7057}"/>
              </a:ext>
            </a:extLst>
          </p:cNvPr>
          <p:cNvSpPr/>
          <p:nvPr/>
        </p:nvSpPr>
        <p:spPr>
          <a:xfrm>
            <a:off x="9376348" y="4774850"/>
            <a:ext cx="952646" cy="17588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7EB903CB-50AB-1434-32FC-C8BBC7499A45}"/>
              </a:ext>
            </a:extLst>
          </p:cNvPr>
          <p:cNvSpPr txBox="1"/>
          <p:nvPr/>
        </p:nvSpPr>
        <p:spPr>
          <a:xfrm>
            <a:off x="9916489" y="5155968"/>
            <a:ext cx="1599814" cy="88036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kumimoji="1" lang="en-US" altLang="zh-TW" sz="1800" b="1" dirty="0">
                <a:solidFill>
                  <a:srgbClr val="FF0000"/>
                </a:solidFill>
              </a:rPr>
              <a:t>More flexible!</a:t>
            </a:r>
          </a:p>
        </p:txBody>
      </p:sp>
    </p:spTree>
    <p:extLst>
      <p:ext uri="{BB962C8B-B14F-4D97-AF65-F5344CB8AC3E}">
        <p14:creationId xmlns:p14="http://schemas.microsoft.com/office/powerpoint/2010/main" val="2981125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1" grpId="0" animBg="1"/>
      <p:bldP spid="5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24C390-1277-2526-1D21-CC97931FB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en" altLang="zh-TW" sz="4000" dirty="0"/>
              <a:t>Supervised Learning vs. Reinforcement Learning</a:t>
            </a:r>
            <a:endParaRPr kumimoji="1" lang="zh-TW" altLang="en-US" sz="4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7FCCA2F-1AB9-56F1-3847-401197782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36</a:t>
            </a:fld>
            <a:endParaRPr lang="en-US"/>
          </a:p>
        </p:txBody>
      </p:sp>
      <p:graphicFrame>
        <p:nvGraphicFramePr>
          <p:cNvPr id="3" name="表格 5">
            <a:extLst>
              <a:ext uri="{FF2B5EF4-FFF2-40B4-BE49-F238E27FC236}">
                <a16:creationId xmlns:a16="http://schemas.microsoft.com/office/drawing/2014/main" id="{1865F44F-8C40-0B67-E699-9F939099521B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2603198"/>
          <a:ext cx="8128000" cy="26570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807">
                  <a:extLst>
                    <a:ext uri="{9D8B030D-6E8A-4147-A177-3AD203B41FA5}">
                      <a16:colId xmlns:a16="http://schemas.microsoft.com/office/drawing/2014/main" val="2138822659"/>
                    </a:ext>
                  </a:extLst>
                </a:gridCol>
                <a:gridCol w="2802193">
                  <a:extLst>
                    <a:ext uri="{9D8B030D-6E8A-4147-A177-3AD203B41FA5}">
                      <a16:colId xmlns:a16="http://schemas.microsoft.com/office/drawing/2014/main" val="369634192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6041735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40910569"/>
                    </a:ext>
                  </a:extLst>
                </a:gridCol>
              </a:tblGrid>
              <a:tr h="885687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訓練目標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模型輸出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需要 </a:t>
                      </a:r>
                      <a:r>
                        <a:rPr lang="en-US" altLang="zh-TW" dirty="0"/>
                        <a:t>Reward Model?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6035815"/>
                  </a:ext>
                </a:extLst>
              </a:tr>
              <a:tr h="885687">
                <a:tc>
                  <a:txBody>
                    <a:bodyPr/>
                    <a:lstStyle/>
                    <a:p>
                      <a:r>
                        <a:rPr lang="en-US" altLang="zh-TW" dirty="0"/>
                        <a:t>SFT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最小化模型輸出與正確答案的誤差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文字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No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5666491"/>
                  </a:ext>
                </a:extLst>
              </a:tr>
              <a:tr h="885687">
                <a:tc>
                  <a:txBody>
                    <a:bodyPr/>
                    <a:lstStyle/>
                    <a:p>
                      <a:r>
                        <a:rPr lang="en-US" altLang="zh-TW" dirty="0"/>
                        <a:t>RLHF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最大化 </a:t>
                      </a:r>
                      <a:r>
                        <a:rPr lang="en-US" altLang="zh-TW" dirty="0"/>
                        <a:t>Reward Model</a:t>
                      </a:r>
                      <a:r>
                        <a:rPr lang="zh-TW" altLang="en-US" dirty="0"/>
                        <a:t> 的</a:t>
                      </a:r>
                      <a:r>
                        <a:rPr lang="zh-TW" altLang="en-US" dirty="0">
                          <a:solidFill>
                            <a:srgbClr val="FF0000"/>
                          </a:solidFill>
                        </a:rPr>
                        <a:t>分數</a:t>
                      </a:r>
                      <a:r>
                        <a:rPr lang="zh-TW" altLang="en-US" dirty="0"/>
                        <a:t>，以符合人類偏好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文字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Yes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1295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10681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EDEB9A-29CE-E7BE-5A64-D104EB853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Main Differences between BERT and </a:t>
            </a:r>
            <a:r>
              <a:rPr kumimoji="1" lang="en-US" altLang="zh-TW" dirty="0" err="1"/>
              <a:t>InstructGPT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EC9A4D8-28BB-FD7B-7A52-681ABEF4D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49C3-EFAD-D94E-864A-24510FCA3FE0}" type="slidenum">
              <a:rPr kumimoji="1" lang="zh-TW" altLang="en-US" smtClean="0"/>
              <a:t>37</a:t>
            </a:fld>
            <a:endParaRPr kumimoji="1" lang="zh-TW" altLang="en-US" dirty="0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2D35043C-68EE-CAE6-1440-0F8080C3F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7024"/>
            <a:ext cx="10515600" cy="492328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1800" dirty="0"/>
              <a:t>Model size:</a:t>
            </a:r>
          </a:p>
          <a:p>
            <a:pPr lvl="1">
              <a:lnSpc>
                <a:spcPct val="150000"/>
              </a:lnSpc>
            </a:pPr>
            <a:r>
              <a:rPr kumimoji="1" lang="en-US" altLang="zh-TW" dirty="0"/>
              <a:t>BERT: 110 million</a:t>
            </a:r>
          </a:p>
          <a:p>
            <a:pPr lvl="1">
              <a:lnSpc>
                <a:spcPct val="150000"/>
              </a:lnSpc>
            </a:pPr>
            <a:r>
              <a:rPr kumimoji="1" lang="en-US" altLang="zh-TW" dirty="0" err="1"/>
              <a:t>InstructGPT</a:t>
            </a:r>
            <a:r>
              <a:rPr kumimoji="1" lang="en-US" altLang="zh-TW" dirty="0"/>
              <a:t>: 175 billion (~=BERT</a:t>
            </a:r>
            <a:r>
              <a:rPr kumimoji="1" lang="en-US" altLang="zh-TW" dirty="0">
                <a:solidFill>
                  <a:srgbClr val="FF0000"/>
                </a:solidFill>
              </a:rPr>
              <a:t>*1590 times</a:t>
            </a:r>
            <a:r>
              <a:rPr kumimoji="1" lang="en-US" altLang="zh-TW" dirty="0"/>
              <a:t>)</a:t>
            </a:r>
          </a:p>
          <a:p>
            <a:pPr>
              <a:lnSpc>
                <a:spcPct val="150000"/>
              </a:lnSpc>
            </a:pPr>
            <a:r>
              <a:rPr kumimoji="1" lang="en-US" altLang="zh-TW" sz="1800" dirty="0"/>
              <a:t>Training:</a:t>
            </a:r>
          </a:p>
          <a:p>
            <a:pPr lvl="1">
              <a:lnSpc>
                <a:spcPct val="150000"/>
              </a:lnSpc>
            </a:pPr>
            <a:r>
              <a:rPr kumimoji="1" lang="en-US" altLang="zh-TW" dirty="0"/>
              <a:t>BERT: Masked-language modeling, Next-sentence Prediction</a:t>
            </a:r>
          </a:p>
          <a:p>
            <a:pPr lvl="1">
              <a:lnSpc>
                <a:spcPct val="150000"/>
              </a:lnSpc>
            </a:pPr>
            <a:r>
              <a:rPr kumimoji="1" lang="en-US" altLang="zh-TW" dirty="0" err="1"/>
              <a:t>InstructGPT</a:t>
            </a:r>
            <a:r>
              <a:rPr kumimoji="1" lang="en-US" altLang="zh-TW" dirty="0"/>
              <a:t>: Language Modeling, Supervised Fine-Tuning, </a:t>
            </a:r>
            <a:r>
              <a:rPr kumimoji="1" lang="en-US" altLang="zh-TW" dirty="0">
                <a:solidFill>
                  <a:schemeClr val="accent6"/>
                </a:solidFill>
              </a:rPr>
              <a:t>Reinforcement Learning by Human Feedback</a:t>
            </a:r>
          </a:p>
          <a:p>
            <a:pPr>
              <a:lnSpc>
                <a:spcPct val="150000"/>
              </a:lnSpc>
            </a:pPr>
            <a:r>
              <a:rPr kumimoji="1" lang="en-US" altLang="zh-TW" sz="1800" dirty="0"/>
              <a:t>NLP Tasks:</a:t>
            </a:r>
          </a:p>
          <a:p>
            <a:pPr lvl="1">
              <a:lnSpc>
                <a:spcPct val="150000"/>
              </a:lnSpc>
            </a:pPr>
            <a:r>
              <a:rPr kumimoji="1" lang="en-US" altLang="zh-TW" dirty="0"/>
              <a:t>BERT: Natural Language Understanding (E.g., Classification)</a:t>
            </a:r>
          </a:p>
          <a:p>
            <a:pPr lvl="1">
              <a:lnSpc>
                <a:spcPct val="150000"/>
              </a:lnSpc>
            </a:pPr>
            <a:r>
              <a:rPr kumimoji="1" lang="en-US" altLang="zh-TW" dirty="0" err="1"/>
              <a:t>InstructGPT</a:t>
            </a:r>
            <a:r>
              <a:rPr kumimoji="1" lang="en-US" altLang="zh-TW" dirty="0"/>
              <a:t>: Natural Language </a:t>
            </a:r>
            <a:r>
              <a:rPr kumimoji="1" lang="en-US" altLang="zh-TW" dirty="0">
                <a:solidFill>
                  <a:srgbClr val="FF0000"/>
                </a:solidFill>
              </a:rPr>
              <a:t>Generation</a:t>
            </a:r>
            <a:r>
              <a:rPr kumimoji="1" lang="en-US" altLang="zh-TW" dirty="0"/>
              <a:t> (E.g., Machine Translation, Story Generation)</a:t>
            </a:r>
          </a:p>
        </p:txBody>
      </p:sp>
    </p:spTree>
    <p:extLst>
      <p:ext uri="{BB962C8B-B14F-4D97-AF65-F5344CB8AC3E}">
        <p14:creationId xmlns:p14="http://schemas.microsoft.com/office/powerpoint/2010/main" val="3871493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F0DD39-A177-D23C-A162-F6A1D1D5C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Chinese LLMs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36B97AF-49AB-1E02-3261-3A3A4E562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38</a:t>
            </a:fld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76C3986-D7CA-1274-AE4B-7ED316CE89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7842" y="1553872"/>
            <a:ext cx="8916316" cy="4697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07428CA7-21C4-810E-BF5C-493953DB761A}"/>
              </a:ext>
            </a:extLst>
          </p:cNvPr>
          <p:cNvSpPr txBox="1"/>
          <p:nvPr/>
        </p:nvSpPr>
        <p:spPr>
          <a:xfrm>
            <a:off x="2840173" y="6415560"/>
            <a:ext cx="68246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sz="1400" dirty="0"/>
              <a:t>Figure source: https://</a:t>
            </a:r>
            <a:r>
              <a:rPr kumimoji="1" lang="en" altLang="zh-TW" sz="1400" dirty="0" err="1"/>
              <a:t>chinai.substack.com</a:t>
            </a:r>
            <a:r>
              <a:rPr kumimoji="1" lang="en" altLang="zh-TW" sz="1400" dirty="0"/>
              <a:t>/p/chinai-264-superclue-april-2024-report</a:t>
            </a:r>
            <a:endParaRPr kumimoji="1" lang="zh-TW" altLang="en-US" sz="14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174C2A0-A181-7B63-5897-6E4EC73937F3}"/>
              </a:ext>
            </a:extLst>
          </p:cNvPr>
          <p:cNvSpPr/>
          <p:nvPr/>
        </p:nvSpPr>
        <p:spPr>
          <a:xfrm>
            <a:off x="5359651" y="3539905"/>
            <a:ext cx="736349" cy="344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94961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E47A50A0-BE83-714F-87D1-D56B21A39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Announcements</a:t>
            </a:r>
            <a:endParaRPr lang="zh-TW" altLang="en-US" dirty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5F8333C8-CA8D-E1F0-F37D-D27318425F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6663329-3583-EC83-64B0-F93DA6FF5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9405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5E7F39-290C-D102-4E6C-BA283CFCB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Week 12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要繳交什麼？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A0BAF86-D3E8-8066-F44E-7EAB8A090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C85A9A9-AB70-91D9-06C4-DE2676BBA254}"/>
              </a:ext>
            </a:extLst>
          </p:cNvPr>
          <p:cNvSpPr txBox="1"/>
          <p:nvPr/>
        </p:nvSpPr>
        <p:spPr>
          <a:xfrm>
            <a:off x="636815" y="1484093"/>
            <a:ext cx="10918370" cy="51140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solidFill>
                  <a:srgbClr val="0070C0"/>
                </a:solidFill>
                <a:ea typeface="Microsoft JhengHei" panose="020B0604030504040204" pitchFamily="34" charset="-120"/>
              </a:rPr>
              <a:t>清晰易懂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的簡報</a:t>
            </a:r>
            <a:r>
              <a:rPr kumimoji="1" lang="zh-TW" altLang="en-US" sz="2000" b="1" dirty="0">
                <a:ea typeface="Microsoft JhengHei" panose="020B0604030504040204" pitchFamily="34" charset="-120"/>
              </a:rPr>
              <a:t>至少 </a:t>
            </a:r>
            <a:r>
              <a:rPr kumimoji="1" lang="en-US" altLang="zh-TW" sz="2000" b="1" dirty="0">
                <a:ea typeface="Microsoft JhengHei" panose="020B0604030504040204" pitchFamily="34" charset="-120"/>
              </a:rPr>
              <a:t>5</a:t>
            </a:r>
            <a:r>
              <a:rPr kumimoji="1" lang="zh-TW" altLang="en-US" sz="2000" b="1" dirty="0">
                <a:ea typeface="Microsoft JhengHei" panose="020B0604030504040204" pitchFamily="34" charset="-120"/>
              </a:rPr>
              <a:t> 頁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，一組繳交一份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介紹競賽任務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舉例說明資料的長相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初步資料分析（你必須要了解資料才能做機器學習任務）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可以參考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Kaggle Code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，關鍵字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: EDA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(Exploratory Data Analysis)</a:t>
            </a:r>
          </a:p>
          <a:p>
            <a:pPr marL="17145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請附上來源</a:t>
            </a:r>
            <a:r>
              <a:rPr kumimoji="1" lang="en-US" altLang="zh-TW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!!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實作方法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已經實作</a:t>
            </a:r>
            <a:r>
              <a:rPr kumimoji="1" lang="zh-TW" altLang="en-US" sz="2000" b="1" dirty="0">
                <a:ea typeface="Microsoft JhengHei" panose="020B0604030504040204" pitchFamily="34" charset="-120"/>
              </a:rPr>
              <a:t>或預期實作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的模型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  <a:p>
            <a:pPr marL="17145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可以參考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Kaggle Code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，請附上來源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!!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>
                <a:ea typeface="Microsoft JhengHei" panose="020B0604030504040204" pitchFamily="34" charset="-120"/>
              </a:rPr>
              <a:t>(Optional) 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目前實作結果、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Kaggle Leaderboard 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排名或分數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分工模式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394246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5E7F39-290C-D102-4E6C-BA283CFCB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Week 12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繳交注意事項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A0BAF86-D3E8-8066-F44E-7EAB8A090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C85A9A9-AB70-91D9-06C4-DE2676BBA254}"/>
              </a:ext>
            </a:extLst>
          </p:cNvPr>
          <p:cNvSpPr txBox="1"/>
          <p:nvPr/>
        </p:nvSpPr>
        <p:spPr>
          <a:xfrm>
            <a:off x="636815" y="1731932"/>
            <a:ext cx="10918370" cy="3728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>
                <a:ea typeface="Microsoft JhengHei" panose="020B0604030504040204" pitchFamily="34" charset="-120"/>
              </a:rPr>
              <a:t>5 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頁是最低需求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(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不包含首頁跟最後一頁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可以多於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5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頁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!!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一組繳交一份，請上傳至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 </a:t>
            </a:r>
            <a:r>
              <a:rPr kumimoji="1" lang="en-US" altLang="zh-TW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E-Learning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Deadline: 2026/05/11 (Mon.) 23:59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繳交格式：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檔名：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DL_teamN_checkpoint1.pdf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solidFill>
                  <a:srgbClr val="0070C0"/>
                </a:solidFill>
                <a:ea typeface="Microsoft JhengHei" panose="020B0604030504040204" pitchFamily="34" charset="-120"/>
              </a:rPr>
              <a:t>首頁（封面）：題目、組別、組員名單</a:t>
            </a:r>
            <a:endParaRPr kumimoji="1" lang="en-US" altLang="zh-TW" sz="2000" dirty="0">
              <a:solidFill>
                <a:srgbClr val="0070C0"/>
              </a:solidFill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solidFill>
                  <a:srgbClr val="0070C0"/>
                </a:solidFill>
                <a:ea typeface="Microsoft JhengHei" panose="020B0604030504040204" pitchFamily="34" charset="-120"/>
              </a:rPr>
              <a:t>最後一頁：分工模式</a:t>
            </a:r>
            <a:endParaRPr kumimoji="1" lang="en-US" altLang="zh-TW" sz="2000" dirty="0">
              <a:solidFill>
                <a:srgbClr val="0070C0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235313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F664E-9BFC-0751-DBDD-159910801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1F3FA0D1-5931-500A-1998-F7A6AE50B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大型語言模型應用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19755CF-0F46-D6AD-7051-251FF325A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423A039-F970-BC49-97AA-1CAFC2197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當我們有了一個訓練好的</a:t>
            </a:r>
            <a:r>
              <a:rPr lang="en-US" altLang="zh-TW" dirty="0"/>
              <a:t>LLM</a:t>
            </a:r>
            <a:r>
              <a:rPr lang="zh-TW" altLang="en-US" dirty="0"/>
              <a:t>，之後？</a:t>
            </a:r>
          </a:p>
        </p:txBody>
      </p:sp>
    </p:spTree>
    <p:extLst>
      <p:ext uri="{BB962C8B-B14F-4D97-AF65-F5344CB8AC3E}">
        <p14:creationId xmlns:p14="http://schemas.microsoft.com/office/powerpoint/2010/main" val="22607442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562B04-9C41-700D-01E7-7312C61BA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讓大型語言模型適用於你的任務？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87D3013-3C6C-0124-D824-1C0E208FB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43</a:t>
            </a:fld>
            <a:endParaRPr lang="en-US" dirty="0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BE8FDE4D-65D5-02ED-2DB6-2BAD43A99A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8060" y="2175664"/>
            <a:ext cx="1108862" cy="1108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直線箭頭接點 5">
            <a:extLst>
              <a:ext uri="{FF2B5EF4-FFF2-40B4-BE49-F238E27FC236}">
                <a16:creationId xmlns:a16="http://schemas.microsoft.com/office/drawing/2014/main" id="{A0135A98-4A89-5D8D-1B01-B3072122F17E}"/>
              </a:ext>
            </a:extLst>
          </p:cNvPr>
          <p:cNvCxnSpPr>
            <a:cxnSpLocks/>
          </p:cNvCxnSpPr>
          <p:nvPr/>
        </p:nvCxnSpPr>
        <p:spPr>
          <a:xfrm flipH="1">
            <a:off x="3328422" y="2841346"/>
            <a:ext cx="11411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C573909E-78CE-7A0D-18DB-7666126A8CC0}"/>
              </a:ext>
            </a:extLst>
          </p:cNvPr>
          <p:cNvSpPr txBox="1"/>
          <p:nvPr/>
        </p:nvSpPr>
        <p:spPr>
          <a:xfrm>
            <a:off x="4689049" y="2596851"/>
            <a:ext cx="3438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翻譯、聊天、寫故事 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…</a:t>
            </a:r>
            <a:endParaRPr kumimoji="1" lang="zh-TW" altLang="en-US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9" name="Picture 2" descr="undefined">
            <a:extLst>
              <a:ext uri="{FF2B5EF4-FFF2-40B4-BE49-F238E27FC236}">
                <a16:creationId xmlns:a16="http://schemas.microsoft.com/office/drawing/2014/main" id="{46544269-5C0D-AB51-B115-39841E69F2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8060" y="4173099"/>
            <a:ext cx="1108862" cy="1108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AD1420AB-9C6C-A1C0-B579-E042D7EA81C4}"/>
              </a:ext>
            </a:extLst>
          </p:cNvPr>
          <p:cNvSpPr txBox="1"/>
          <p:nvPr/>
        </p:nvSpPr>
        <p:spPr>
          <a:xfrm>
            <a:off x="998525" y="2500509"/>
            <a:ext cx="7095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4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📚</a:t>
            </a:r>
          </a:p>
        </p:txBody>
      </p: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65E4DAA1-25E0-C685-0EAE-5442D863FBDD}"/>
              </a:ext>
            </a:extLst>
          </p:cNvPr>
          <p:cNvCxnSpPr>
            <a:cxnSpLocks/>
          </p:cNvCxnSpPr>
          <p:nvPr/>
        </p:nvCxnSpPr>
        <p:spPr>
          <a:xfrm flipH="1">
            <a:off x="3328422" y="4742160"/>
            <a:ext cx="11411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56B2E1F-3C11-7C14-6E67-B489FDDF943D}"/>
              </a:ext>
            </a:extLst>
          </p:cNvPr>
          <p:cNvSpPr txBox="1"/>
          <p:nvPr/>
        </p:nvSpPr>
        <p:spPr>
          <a:xfrm>
            <a:off x="4689050" y="4504390"/>
            <a:ext cx="6013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醫學資料、少數語言、網路上查不到的知識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BD93034-DDC9-E3A0-408F-3670A03A0C8F}"/>
              </a:ext>
            </a:extLst>
          </p:cNvPr>
          <p:cNvSpPr txBox="1"/>
          <p:nvPr/>
        </p:nvSpPr>
        <p:spPr>
          <a:xfrm>
            <a:off x="8013804" y="2500509"/>
            <a:ext cx="7095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4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💪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1508E95F-A02F-8597-DD00-30BCEAA55A0A}"/>
              </a:ext>
            </a:extLst>
          </p:cNvPr>
          <p:cNvSpPr txBox="1"/>
          <p:nvPr/>
        </p:nvSpPr>
        <p:spPr>
          <a:xfrm>
            <a:off x="10724090" y="4439423"/>
            <a:ext cx="7095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4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⚠️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54A635F-F81C-2471-EEA2-82F1AAAA0406}"/>
              </a:ext>
            </a:extLst>
          </p:cNvPr>
          <p:cNvSpPr txBox="1"/>
          <p:nvPr/>
        </p:nvSpPr>
        <p:spPr>
          <a:xfrm>
            <a:off x="3328421" y="5427587"/>
            <a:ext cx="6694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解決方案</a:t>
            </a:r>
            <a:r>
              <a:rPr kumimoji="1" lang="zh-TW" altLang="en-US" sz="2400" dirty="0"/>
              <a:t>：增加提示詞</a:t>
            </a:r>
            <a:r>
              <a:rPr kumimoji="1" lang="en-US" altLang="zh-TW" sz="2400" dirty="0"/>
              <a:t> 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或</a:t>
            </a:r>
            <a:r>
              <a:rPr kumimoji="1" lang="en-US" altLang="zh-TW" sz="2400" dirty="0"/>
              <a:t> </a:t>
            </a:r>
            <a:r>
              <a:rPr kumimoji="1" lang="zh-TW" altLang="en-US" sz="2400" dirty="0"/>
              <a:t>訓練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語言模型</a:t>
            </a:r>
          </a:p>
        </p:txBody>
      </p:sp>
      <p:sp>
        <p:nvSpPr>
          <p:cNvPr id="16" name="向右箭號 15">
            <a:extLst>
              <a:ext uri="{FF2B5EF4-FFF2-40B4-BE49-F238E27FC236}">
                <a16:creationId xmlns:a16="http://schemas.microsoft.com/office/drawing/2014/main" id="{4CFE905D-A992-5DB1-A2DC-5A3C488A4BA7}"/>
              </a:ext>
            </a:extLst>
          </p:cNvPr>
          <p:cNvSpPr/>
          <p:nvPr/>
        </p:nvSpPr>
        <p:spPr>
          <a:xfrm rot="13500000">
            <a:off x="3008691" y="5179129"/>
            <a:ext cx="321869" cy="3126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43E70E32-FA25-E97D-6DBC-E6452D333F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9215" y="3356027"/>
            <a:ext cx="1879418" cy="1108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38BC827B-B1A9-0327-CEDA-82B669323C6A}"/>
              </a:ext>
            </a:extLst>
          </p:cNvPr>
          <p:cNvSpPr txBox="1"/>
          <p:nvPr/>
        </p:nvSpPr>
        <p:spPr>
          <a:xfrm>
            <a:off x="7700682" y="6134354"/>
            <a:ext cx="31544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200" dirty="0"/>
              <a:t>Figure source: https://</a:t>
            </a:r>
            <a:r>
              <a:rPr kumimoji="1" lang="en" altLang="zh-TW" sz="1200" dirty="0" err="1"/>
              <a:t>gameofthrones.fandom.com</a:t>
            </a:r>
            <a:r>
              <a:rPr kumimoji="1" lang="en" altLang="zh-TW" sz="1200" dirty="0"/>
              <a:t>/wiki/</a:t>
            </a:r>
            <a:r>
              <a:rPr kumimoji="1" lang="en" altLang="zh-TW" sz="1200" dirty="0" err="1"/>
              <a:t>High_Valyrian?file</a:t>
            </a:r>
            <a:r>
              <a:rPr kumimoji="1" lang="en" altLang="zh-TW" sz="1200" dirty="0"/>
              <a:t>=</a:t>
            </a:r>
            <a:r>
              <a:rPr kumimoji="1" lang="en" altLang="zh-TW" sz="1200" dirty="0" err="1"/>
              <a:t>Nekesse_Valyrio.jpg</a:t>
            </a:r>
            <a:endParaRPr kumimoji="1"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723399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  <p:bldP spid="13" grpId="0"/>
      <p:bldP spid="14" grpId="0"/>
      <p:bldP spid="15" grpId="0"/>
      <p:bldP spid="16" grpId="0" animBg="1"/>
      <p:bldP spid="1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67DD30-49B8-ED23-95E6-C161B5F38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提示詞工程與上下文工程 </a:t>
            </a:r>
            <a:r>
              <a:rPr kumimoji="1" lang="en-US" altLang="zh-TW" dirty="0"/>
              <a:t>(</a:t>
            </a:r>
            <a:r>
              <a:rPr kumimoji="1" lang="zh-TW" altLang="en-US" dirty="0"/>
              <a:t>範例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036F1A2-504E-7F6E-9A1A-6D808C76D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726D055-0C91-A742-7471-C6A9C7C572F3}"/>
              </a:ext>
            </a:extLst>
          </p:cNvPr>
          <p:cNvSpPr txBox="1"/>
          <p:nvPr/>
        </p:nvSpPr>
        <p:spPr>
          <a:xfrm>
            <a:off x="1680878" y="1858621"/>
            <a:ext cx="34783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400" b="1" dirty="0"/>
              <a:t>提示詞工程</a:t>
            </a:r>
            <a:endParaRPr kumimoji="1" lang="en-US" altLang="zh-TW" sz="2400" b="1" dirty="0"/>
          </a:p>
          <a:p>
            <a:pPr algn="ctr"/>
            <a:r>
              <a:rPr kumimoji="1" lang="en-US" altLang="zh-TW" sz="2400" b="1" dirty="0"/>
              <a:t>Prompt Engineering</a:t>
            </a:r>
            <a:endParaRPr kumimoji="1" lang="zh-TW" altLang="en-US" sz="2400" b="1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A5C18AF-1228-86E6-AA66-2A53F1A6ADC6}"/>
              </a:ext>
            </a:extLst>
          </p:cNvPr>
          <p:cNvSpPr txBox="1"/>
          <p:nvPr/>
        </p:nvSpPr>
        <p:spPr>
          <a:xfrm>
            <a:off x="1093694" y="3013720"/>
            <a:ext cx="46526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你是一名客服人員，請有禮貌地回答問題。</a:t>
            </a:r>
          </a:p>
          <a:p>
            <a:r>
              <a:rPr kumimoji="1" lang="zh-TW" altLang="en-US" dirty="0"/>
              <a:t>使用者：我可以在購買後</a:t>
            </a:r>
            <a:r>
              <a:rPr kumimoji="1" lang="en-US" altLang="zh-TW" dirty="0"/>
              <a:t>14</a:t>
            </a:r>
            <a:r>
              <a:rPr kumimoji="1" lang="zh-TW" altLang="en-US" dirty="0"/>
              <a:t>天申請退款嗎？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130778F-3E54-F7BC-529C-072535CDA644}"/>
              </a:ext>
            </a:extLst>
          </p:cNvPr>
          <p:cNvSpPr txBox="1"/>
          <p:nvPr/>
        </p:nvSpPr>
        <p:spPr>
          <a:xfrm>
            <a:off x="6745946" y="1858518"/>
            <a:ext cx="34783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400" b="1" dirty="0"/>
              <a:t>上下文工程</a:t>
            </a:r>
            <a:endParaRPr kumimoji="1" lang="en-US" altLang="zh-TW" sz="2400" b="1" dirty="0"/>
          </a:p>
          <a:p>
            <a:pPr algn="ctr"/>
            <a:r>
              <a:rPr kumimoji="1" lang="en-US" altLang="zh-TW" sz="2400" b="1" dirty="0"/>
              <a:t>Context Engineering</a:t>
            </a:r>
            <a:endParaRPr kumimoji="1" lang="zh-TW" altLang="en-US" sz="2400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3BD71F2-65D7-742A-B2BB-DA2D0A21B9CA}"/>
              </a:ext>
            </a:extLst>
          </p:cNvPr>
          <p:cNvSpPr txBox="1"/>
          <p:nvPr/>
        </p:nvSpPr>
        <p:spPr>
          <a:xfrm>
            <a:off x="1093696" y="4721538"/>
            <a:ext cx="44913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模型可能回答：</a:t>
            </a:r>
            <a:endParaRPr lang="en-US" altLang="zh-TW" dirty="0"/>
          </a:p>
          <a:p>
            <a:r>
              <a:rPr lang="zh-TW" altLang="en-US" dirty="0"/>
              <a:t>當然可以，這取決於具體情況。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FD6C602-3212-825D-E129-D60CD3D4890D}"/>
              </a:ext>
            </a:extLst>
          </p:cNvPr>
          <p:cNvSpPr txBox="1"/>
          <p:nvPr/>
        </p:nvSpPr>
        <p:spPr>
          <a:xfrm>
            <a:off x="6320117" y="2980310"/>
            <a:ext cx="48678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你是一名客服人員。</a:t>
            </a:r>
            <a:endParaRPr kumimoji="1" lang="en-US" altLang="zh-TW" dirty="0"/>
          </a:p>
          <a:p>
            <a:r>
              <a:rPr kumimoji="1" lang="zh-TW" altLang="en-US" dirty="0">
                <a:solidFill>
                  <a:srgbClr val="0070C0"/>
                </a:solidFill>
              </a:rPr>
              <a:t>公司政策：</a:t>
            </a:r>
          </a:p>
          <a:p>
            <a:r>
              <a:rPr kumimoji="1" lang="en-US" altLang="zh-TW" dirty="0">
                <a:solidFill>
                  <a:srgbClr val="0070C0"/>
                </a:solidFill>
              </a:rPr>
              <a:t>- </a:t>
            </a:r>
            <a:r>
              <a:rPr kumimoji="1" lang="zh-TW" altLang="en-US" dirty="0">
                <a:solidFill>
                  <a:srgbClr val="0070C0"/>
                </a:solidFill>
              </a:rPr>
              <a:t>僅在購買後</a:t>
            </a:r>
            <a:r>
              <a:rPr kumimoji="1" lang="en-US" altLang="zh-TW" dirty="0">
                <a:solidFill>
                  <a:srgbClr val="0070C0"/>
                </a:solidFill>
              </a:rPr>
              <a:t>14</a:t>
            </a:r>
            <a:r>
              <a:rPr kumimoji="1" lang="zh-TW" altLang="en-US" dirty="0">
                <a:solidFill>
                  <a:srgbClr val="0070C0"/>
                </a:solidFill>
              </a:rPr>
              <a:t>天內可申請退款。超過</a:t>
            </a:r>
            <a:r>
              <a:rPr kumimoji="1" lang="en-US" altLang="zh-TW" dirty="0">
                <a:solidFill>
                  <a:srgbClr val="0070C0"/>
                </a:solidFill>
              </a:rPr>
              <a:t>14</a:t>
            </a:r>
            <a:r>
              <a:rPr kumimoji="1" lang="zh-TW" altLang="en-US" dirty="0">
                <a:solidFill>
                  <a:srgbClr val="0070C0"/>
                </a:solidFill>
              </a:rPr>
              <a:t>天除非商品有瑕疵，否則無法退款。</a:t>
            </a:r>
            <a:endParaRPr kumimoji="1" lang="en-US" altLang="zh-TW" dirty="0">
              <a:solidFill>
                <a:srgbClr val="0070C0"/>
              </a:solidFill>
            </a:endParaRPr>
          </a:p>
          <a:p>
            <a:r>
              <a:rPr kumimoji="1" lang="zh-TW" altLang="en-US" dirty="0"/>
              <a:t>使用者：我可以在購買後</a:t>
            </a:r>
            <a:r>
              <a:rPr kumimoji="1" lang="en-US" altLang="zh-TW" dirty="0"/>
              <a:t>14</a:t>
            </a:r>
            <a:r>
              <a:rPr kumimoji="1" lang="zh-TW" altLang="en-US" dirty="0"/>
              <a:t>天申請退款嗎？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9323699-07F2-2150-AFF9-6AA33449B3C8}"/>
              </a:ext>
            </a:extLst>
          </p:cNvPr>
          <p:cNvSpPr txBox="1"/>
          <p:nvPr/>
        </p:nvSpPr>
        <p:spPr>
          <a:xfrm>
            <a:off x="6320117" y="4721538"/>
            <a:ext cx="46526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模型可能回答：</a:t>
            </a:r>
            <a:endParaRPr lang="en-US" altLang="zh-TW" dirty="0"/>
          </a:p>
          <a:p>
            <a:r>
              <a:rPr lang="zh-TW" altLang="en-US" dirty="0"/>
              <a:t>很抱歉，根據本公司的退款政策，超過</a:t>
            </a:r>
            <a:r>
              <a:rPr lang="en-US" altLang="zh-TW" dirty="0"/>
              <a:t>14</a:t>
            </a:r>
            <a:r>
              <a:rPr lang="zh-TW" altLang="en-US" dirty="0"/>
              <a:t>天後除非商品有瑕疵，否則無法辦理退款。</a:t>
            </a:r>
          </a:p>
        </p:txBody>
      </p:sp>
    </p:spTree>
    <p:extLst>
      <p:ext uri="{BB962C8B-B14F-4D97-AF65-F5344CB8AC3E}">
        <p14:creationId xmlns:p14="http://schemas.microsoft.com/office/powerpoint/2010/main" val="1298337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0" grpId="0"/>
      <p:bldP spid="1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4D648E-8C1B-FE5E-56F4-3D9459390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資訊檢索 </a:t>
            </a:r>
            <a:r>
              <a:rPr kumimoji="1" lang="en-US" altLang="zh-TW" dirty="0"/>
              <a:t>(Information Retrieval)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98151E4-EEA2-72F9-EF2A-76C6618DE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0268DD4-2C66-7937-FEC0-902E2DAAEDF4}"/>
              </a:ext>
            </a:extLst>
          </p:cNvPr>
          <p:cNvSpPr txBox="1"/>
          <p:nvPr/>
        </p:nvSpPr>
        <p:spPr>
          <a:xfrm>
            <a:off x="650316" y="1716895"/>
            <a:ext cx="10058399" cy="505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資訊檢索：從資料庫中找到相關的資訊 </a:t>
            </a:r>
            <a:r>
              <a:rPr kumimoji="1" lang="en-US" altLang="zh-TW" sz="2400" dirty="0"/>
              <a:t>(</a:t>
            </a:r>
            <a:r>
              <a:rPr kumimoji="1" lang="zh-TW" altLang="en-US" sz="2400" dirty="0"/>
              <a:t>就像是搜尋引擎</a:t>
            </a:r>
            <a:r>
              <a:rPr kumimoji="1" lang="en-US" altLang="zh-TW" sz="2400" dirty="0"/>
              <a:t>)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1106C93-F98F-F932-EE4A-065ADB1A7DB9}"/>
              </a:ext>
            </a:extLst>
          </p:cNvPr>
          <p:cNvSpPr txBox="1"/>
          <p:nvPr/>
        </p:nvSpPr>
        <p:spPr>
          <a:xfrm>
            <a:off x="650316" y="5430640"/>
            <a:ext cx="10058399" cy="938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Retrieval-Augmented Generation (RAG):</a:t>
            </a:r>
            <a:r>
              <a:rPr kumimoji="1" lang="zh-TW" altLang="en-US" sz="2400" dirty="0"/>
              <a:t> 把檢索到的資訊作為上下文工程，可以讓 </a:t>
            </a:r>
            <a:r>
              <a:rPr kumimoji="1" lang="en-US" altLang="zh-TW" sz="2400" dirty="0"/>
              <a:t>LLM</a:t>
            </a:r>
            <a:r>
              <a:rPr kumimoji="1" lang="zh-TW" altLang="en-US" sz="2400" dirty="0"/>
              <a:t> 做出更精確的回覆</a:t>
            </a:r>
            <a:endParaRPr kumimoji="1" lang="en-US" altLang="zh-TW" sz="2400" dirty="0"/>
          </a:p>
        </p:txBody>
      </p:sp>
      <p:pic>
        <p:nvPicPr>
          <p:cNvPr id="10" name="圖形 9" descr="文件 以實心填滿">
            <a:extLst>
              <a:ext uri="{FF2B5EF4-FFF2-40B4-BE49-F238E27FC236}">
                <a16:creationId xmlns:a16="http://schemas.microsoft.com/office/drawing/2014/main" id="{172A629F-D728-E2B3-33A3-15DE795F32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02663" y="2938462"/>
            <a:ext cx="625084" cy="625084"/>
          </a:xfrm>
          <a:prstGeom prst="rect">
            <a:avLst/>
          </a:prstGeom>
        </p:spPr>
      </p:pic>
      <p:pic>
        <p:nvPicPr>
          <p:cNvPr id="13" name="圖形 12" descr="文件 以實心填滿">
            <a:extLst>
              <a:ext uri="{FF2B5EF4-FFF2-40B4-BE49-F238E27FC236}">
                <a16:creationId xmlns:a16="http://schemas.microsoft.com/office/drawing/2014/main" id="{58F3283D-181E-5F8E-3E23-F9777102C3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7579" y="3083120"/>
            <a:ext cx="625084" cy="625084"/>
          </a:xfrm>
          <a:prstGeom prst="rect">
            <a:avLst/>
          </a:prstGeom>
        </p:spPr>
      </p:pic>
      <p:pic>
        <p:nvPicPr>
          <p:cNvPr id="14" name="圖形 13" descr="文件 以實心填滿">
            <a:extLst>
              <a:ext uri="{FF2B5EF4-FFF2-40B4-BE49-F238E27FC236}">
                <a16:creationId xmlns:a16="http://schemas.microsoft.com/office/drawing/2014/main" id="{17F8B6FF-8EB1-9885-97DC-9444F831CC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90121" y="3498232"/>
            <a:ext cx="625084" cy="625084"/>
          </a:xfrm>
          <a:prstGeom prst="rect">
            <a:avLst/>
          </a:prstGeom>
        </p:spPr>
      </p:pic>
      <p:pic>
        <p:nvPicPr>
          <p:cNvPr id="15" name="圖形 14" descr="文件 以實心填滿">
            <a:extLst>
              <a:ext uri="{FF2B5EF4-FFF2-40B4-BE49-F238E27FC236}">
                <a16:creationId xmlns:a16="http://schemas.microsoft.com/office/drawing/2014/main" id="{09E6E070-5AE5-C228-65EC-83526ABEDC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30194" y="3435240"/>
            <a:ext cx="625084" cy="625084"/>
          </a:xfrm>
          <a:prstGeom prst="rect">
            <a:avLst/>
          </a:prstGeom>
        </p:spPr>
      </p:pic>
      <p:pic>
        <p:nvPicPr>
          <p:cNvPr id="16" name="圖形 15" descr="文件 以實心填滿">
            <a:extLst>
              <a:ext uri="{FF2B5EF4-FFF2-40B4-BE49-F238E27FC236}">
                <a16:creationId xmlns:a16="http://schemas.microsoft.com/office/drawing/2014/main" id="{6AC54C3D-5336-6280-0F05-24AE79B537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50048" y="3747782"/>
            <a:ext cx="625084" cy="625084"/>
          </a:xfrm>
          <a:prstGeom prst="rect">
            <a:avLst/>
          </a:prstGeom>
        </p:spPr>
      </p:pic>
      <p:pic>
        <p:nvPicPr>
          <p:cNvPr id="17" name="圖形 16" descr="文件 以實心填滿">
            <a:extLst>
              <a:ext uri="{FF2B5EF4-FFF2-40B4-BE49-F238E27FC236}">
                <a16:creationId xmlns:a16="http://schemas.microsoft.com/office/drawing/2014/main" id="{3F465E48-EC88-1465-FFC8-4A8B043C36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07248" y="4123316"/>
            <a:ext cx="625084" cy="625084"/>
          </a:xfrm>
          <a:prstGeom prst="rect">
            <a:avLst/>
          </a:prstGeom>
        </p:spPr>
      </p:pic>
      <p:pic>
        <p:nvPicPr>
          <p:cNvPr id="18" name="圖形 17" descr="文件 以實心填滿">
            <a:extLst>
              <a:ext uri="{FF2B5EF4-FFF2-40B4-BE49-F238E27FC236}">
                <a16:creationId xmlns:a16="http://schemas.microsoft.com/office/drawing/2014/main" id="{BB247AD3-C731-51A0-C178-874329CDC6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47321" y="3951358"/>
            <a:ext cx="625084" cy="625084"/>
          </a:xfrm>
          <a:prstGeom prst="rect">
            <a:avLst/>
          </a:prstGeom>
        </p:spPr>
      </p:pic>
      <p:pic>
        <p:nvPicPr>
          <p:cNvPr id="19" name="圖形 18" descr="文件 以實心填滿">
            <a:extLst>
              <a:ext uri="{FF2B5EF4-FFF2-40B4-BE49-F238E27FC236}">
                <a16:creationId xmlns:a16="http://schemas.microsoft.com/office/drawing/2014/main" id="{28CDC015-84EB-E1F7-8604-79CE26FEA7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4422" y="3059706"/>
            <a:ext cx="625084" cy="625084"/>
          </a:xfrm>
          <a:prstGeom prst="rect">
            <a:avLst/>
          </a:prstGeom>
        </p:spPr>
      </p:pic>
      <p:pic>
        <p:nvPicPr>
          <p:cNvPr id="20" name="圖形 19" descr="文件 以實心填滿">
            <a:extLst>
              <a:ext uri="{FF2B5EF4-FFF2-40B4-BE49-F238E27FC236}">
                <a16:creationId xmlns:a16="http://schemas.microsoft.com/office/drawing/2014/main" id="{4B2B553E-56C8-4444-B9F1-A69430364E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02928" y="2615089"/>
            <a:ext cx="625084" cy="625084"/>
          </a:xfrm>
          <a:prstGeom prst="rect">
            <a:avLst/>
          </a:prstGeom>
        </p:spPr>
      </p:pic>
      <p:pic>
        <p:nvPicPr>
          <p:cNvPr id="21" name="圖形 20" descr="文件 以實心填滿">
            <a:extLst>
              <a:ext uri="{FF2B5EF4-FFF2-40B4-BE49-F238E27FC236}">
                <a16:creationId xmlns:a16="http://schemas.microsoft.com/office/drawing/2014/main" id="{10B661B6-29F0-302B-BB0A-CEC74BB110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26001" y="2625920"/>
            <a:ext cx="625084" cy="625084"/>
          </a:xfrm>
          <a:prstGeom prst="rect">
            <a:avLst/>
          </a:prstGeom>
        </p:spPr>
      </p:pic>
      <p:pic>
        <p:nvPicPr>
          <p:cNvPr id="22" name="圖形 21" descr="文件 以實心填滿">
            <a:extLst>
              <a:ext uri="{FF2B5EF4-FFF2-40B4-BE49-F238E27FC236}">
                <a16:creationId xmlns:a16="http://schemas.microsoft.com/office/drawing/2014/main" id="{F9BDE5FB-432F-4D55-75AF-92C96B481A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2848" y="3719751"/>
            <a:ext cx="625084" cy="625084"/>
          </a:xfrm>
          <a:prstGeom prst="rect">
            <a:avLst/>
          </a:prstGeom>
        </p:spPr>
      </p:pic>
      <p:pic>
        <p:nvPicPr>
          <p:cNvPr id="23" name="圖形 22" descr="文件 以實心填滿">
            <a:extLst>
              <a:ext uri="{FF2B5EF4-FFF2-40B4-BE49-F238E27FC236}">
                <a16:creationId xmlns:a16="http://schemas.microsoft.com/office/drawing/2014/main" id="{999F39AE-EB8C-A6A6-B105-434923C069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26001" y="4325050"/>
            <a:ext cx="625084" cy="625084"/>
          </a:xfrm>
          <a:prstGeom prst="rect">
            <a:avLst/>
          </a:prstGeom>
        </p:spPr>
      </p:pic>
      <p:pic>
        <p:nvPicPr>
          <p:cNvPr id="24" name="圖形 23" descr="文件 以實心填滿">
            <a:extLst>
              <a:ext uri="{FF2B5EF4-FFF2-40B4-BE49-F238E27FC236}">
                <a16:creationId xmlns:a16="http://schemas.microsoft.com/office/drawing/2014/main" id="{CDC44DE1-8A45-7EA1-75C1-D888467B01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17652" y="4325050"/>
            <a:ext cx="625084" cy="625084"/>
          </a:xfrm>
          <a:prstGeom prst="rect">
            <a:avLst/>
          </a:prstGeom>
        </p:spPr>
      </p:pic>
      <p:pic>
        <p:nvPicPr>
          <p:cNvPr id="25" name="圖形 24" descr="文件 以實心填滿">
            <a:extLst>
              <a:ext uri="{FF2B5EF4-FFF2-40B4-BE49-F238E27FC236}">
                <a16:creationId xmlns:a16="http://schemas.microsoft.com/office/drawing/2014/main" id="{A34B3C36-8DF5-40B3-D214-5EB95C20D6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92397" y="2873148"/>
            <a:ext cx="625084" cy="625084"/>
          </a:xfrm>
          <a:prstGeom prst="rect">
            <a:avLst/>
          </a:prstGeom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15FD17FF-A278-92C7-E604-667D6AEC42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7839" y="2970547"/>
            <a:ext cx="4550229" cy="1997485"/>
          </a:xfrm>
          <a:prstGeom prst="rect">
            <a:avLst/>
          </a:prstGeom>
        </p:spPr>
      </p:pic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3D14403B-4919-F181-F603-019C438275A7}"/>
              </a:ext>
            </a:extLst>
          </p:cNvPr>
          <p:cNvCxnSpPr>
            <a:cxnSpLocks/>
          </p:cNvCxnSpPr>
          <p:nvPr/>
        </p:nvCxnSpPr>
        <p:spPr>
          <a:xfrm>
            <a:off x="3541477" y="3951358"/>
            <a:ext cx="61636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箭頭接點 27">
            <a:extLst>
              <a:ext uri="{FF2B5EF4-FFF2-40B4-BE49-F238E27FC236}">
                <a16:creationId xmlns:a16="http://schemas.microsoft.com/office/drawing/2014/main" id="{26F2C14C-CC2D-1CAD-3DCC-23642EDD839F}"/>
              </a:ext>
            </a:extLst>
          </p:cNvPr>
          <p:cNvCxnSpPr>
            <a:cxnSpLocks/>
          </p:cNvCxnSpPr>
          <p:nvPr/>
        </p:nvCxnSpPr>
        <p:spPr>
          <a:xfrm>
            <a:off x="8708068" y="3951358"/>
            <a:ext cx="61636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圖形 28" descr="文件 以實心填滿">
            <a:extLst>
              <a:ext uri="{FF2B5EF4-FFF2-40B4-BE49-F238E27FC236}">
                <a16:creationId xmlns:a16="http://schemas.microsoft.com/office/drawing/2014/main" id="{671175EA-61E4-F0A6-8375-2DAE98B61A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10629" y="2886777"/>
            <a:ext cx="625084" cy="625084"/>
          </a:xfrm>
          <a:prstGeom prst="rect">
            <a:avLst/>
          </a:prstGeom>
        </p:spPr>
      </p:pic>
      <p:pic>
        <p:nvPicPr>
          <p:cNvPr id="30" name="圖形 29" descr="文件 以實心填滿">
            <a:extLst>
              <a:ext uri="{FF2B5EF4-FFF2-40B4-BE49-F238E27FC236}">
                <a16:creationId xmlns:a16="http://schemas.microsoft.com/office/drawing/2014/main" id="{F138B837-31DE-37E1-DBAC-A5A1249D61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10629" y="3623613"/>
            <a:ext cx="625084" cy="625084"/>
          </a:xfrm>
          <a:prstGeom prst="rect">
            <a:avLst/>
          </a:prstGeom>
        </p:spPr>
      </p:pic>
      <p:pic>
        <p:nvPicPr>
          <p:cNvPr id="31" name="圖形 30" descr="文件 以實心填滿">
            <a:extLst>
              <a:ext uri="{FF2B5EF4-FFF2-40B4-BE49-F238E27FC236}">
                <a16:creationId xmlns:a16="http://schemas.microsoft.com/office/drawing/2014/main" id="{7DAE0468-D4CA-AE7E-C2B5-5D48D0A80F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31214" y="4413333"/>
            <a:ext cx="625084" cy="625084"/>
          </a:xfrm>
          <a:prstGeom prst="rect">
            <a:avLst/>
          </a:prstGeom>
        </p:spPr>
      </p:pic>
      <p:pic>
        <p:nvPicPr>
          <p:cNvPr id="33" name="圖形 32" descr="皇冠 以實心填滿">
            <a:extLst>
              <a:ext uri="{FF2B5EF4-FFF2-40B4-BE49-F238E27FC236}">
                <a16:creationId xmlns:a16="http://schemas.microsoft.com/office/drawing/2014/main" id="{DD3475AB-603B-B609-01CA-575FE78D2F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86526" y="2618178"/>
            <a:ext cx="448239" cy="448239"/>
          </a:xfrm>
          <a:prstGeom prst="rect">
            <a:avLst/>
          </a:prstGeom>
        </p:spPr>
      </p:pic>
      <p:pic>
        <p:nvPicPr>
          <p:cNvPr id="34" name="圖形 33" descr="皇冠 以實心填滿">
            <a:extLst>
              <a:ext uri="{FF2B5EF4-FFF2-40B4-BE49-F238E27FC236}">
                <a16:creationId xmlns:a16="http://schemas.microsoft.com/office/drawing/2014/main" id="{BDE8A39B-DEFF-B3A0-4EC5-FC37ECE461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89026" y="3460836"/>
            <a:ext cx="448239" cy="448239"/>
          </a:xfrm>
          <a:prstGeom prst="rect">
            <a:avLst/>
          </a:prstGeom>
        </p:spPr>
      </p:pic>
      <p:pic>
        <p:nvPicPr>
          <p:cNvPr id="35" name="圖形 34" descr="皇冠 以實心填滿">
            <a:extLst>
              <a:ext uri="{FF2B5EF4-FFF2-40B4-BE49-F238E27FC236}">
                <a16:creationId xmlns:a16="http://schemas.microsoft.com/office/drawing/2014/main" id="{96DB55E8-CFDB-1ED9-6D1A-FCDB75E8D8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86525" y="4258536"/>
            <a:ext cx="448239" cy="448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833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5119F1-4E9A-377B-896D-0CBD155BC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增加上下文資訊的過程</a:t>
            </a:r>
            <a:r>
              <a:rPr kumimoji="1" lang="en-US" altLang="zh-TW" dirty="0"/>
              <a:t> (RAG)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6019714-DFBD-E448-32E7-DB55DE89B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2685" y="1905683"/>
            <a:ext cx="1460883" cy="2264872"/>
          </a:xfrm>
          <a:ln w="12700">
            <a:solidFill>
              <a:schemeClr val="accent1"/>
            </a:solidFill>
          </a:ln>
        </p:spPr>
        <p:txBody>
          <a:bodyPr/>
          <a:lstStyle/>
          <a:p>
            <a:r>
              <a:rPr kumimoji="1" lang="zh-TW" altLang="en-US" b="1" dirty="0"/>
              <a:t>公司政策</a:t>
            </a:r>
            <a:endParaRPr kumimoji="1" lang="en-US" altLang="zh-TW" b="1" dirty="0"/>
          </a:p>
          <a:p>
            <a:r>
              <a:rPr kumimoji="1" lang="zh-TW" altLang="en-US" dirty="0"/>
              <a:t>政策</a:t>
            </a:r>
            <a:r>
              <a:rPr kumimoji="1" lang="en-US" altLang="zh-TW" dirty="0"/>
              <a:t>1</a:t>
            </a:r>
          </a:p>
          <a:p>
            <a:r>
              <a:rPr kumimoji="1" lang="zh-TW" altLang="en-US" dirty="0"/>
              <a:t>政策</a:t>
            </a:r>
            <a:r>
              <a:rPr kumimoji="1" lang="en-US" altLang="zh-TW" dirty="0"/>
              <a:t>2</a:t>
            </a:r>
          </a:p>
          <a:p>
            <a:r>
              <a:rPr kumimoji="1" lang="zh-TW" altLang="en-US" dirty="0"/>
              <a:t>政策</a:t>
            </a:r>
            <a:r>
              <a:rPr kumimoji="1" lang="en-US" altLang="zh-TW" dirty="0"/>
              <a:t>3</a:t>
            </a:r>
          </a:p>
          <a:p>
            <a:r>
              <a:rPr kumimoji="1" lang="en-US" altLang="zh-TW" dirty="0"/>
              <a:t>...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59C841F-FFBF-8640-ADF4-267FB13AC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E0334FF3-AE0B-3513-33DB-CBA59FFC357E}"/>
              </a:ext>
            </a:extLst>
          </p:cNvPr>
          <p:cNvSpPr/>
          <p:nvPr/>
        </p:nvSpPr>
        <p:spPr>
          <a:xfrm>
            <a:off x="704482" y="2734386"/>
            <a:ext cx="3778484" cy="54528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/>
              <a:t>我可以在購買後</a:t>
            </a:r>
            <a:r>
              <a:rPr kumimoji="1" lang="en-US" altLang="zh-TW" dirty="0"/>
              <a:t>14</a:t>
            </a:r>
            <a:r>
              <a:rPr kumimoji="1" lang="zh-TW" altLang="en-US" dirty="0"/>
              <a:t>天申請退款嗎？</a:t>
            </a:r>
          </a:p>
        </p:txBody>
      </p:sp>
      <p:cxnSp>
        <p:nvCxnSpPr>
          <p:cNvPr id="8" name="直線箭頭接點 7">
            <a:extLst>
              <a:ext uri="{FF2B5EF4-FFF2-40B4-BE49-F238E27FC236}">
                <a16:creationId xmlns:a16="http://schemas.microsoft.com/office/drawing/2014/main" id="{1DAD127D-C6E9-B4A4-FEAE-B48CB7627A33}"/>
              </a:ext>
            </a:extLst>
          </p:cNvPr>
          <p:cNvCxnSpPr>
            <a:cxnSpLocks/>
          </p:cNvCxnSpPr>
          <p:nvPr/>
        </p:nvCxnSpPr>
        <p:spPr>
          <a:xfrm flipV="1">
            <a:off x="4507907" y="3007028"/>
            <a:ext cx="164983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圓角矩形 8">
            <a:extLst>
              <a:ext uri="{FF2B5EF4-FFF2-40B4-BE49-F238E27FC236}">
                <a16:creationId xmlns:a16="http://schemas.microsoft.com/office/drawing/2014/main" id="{A0947BB3-982B-7BC8-34D3-3394728F9E79}"/>
              </a:ext>
            </a:extLst>
          </p:cNvPr>
          <p:cNvSpPr/>
          <p:nvPr/>
        </p:nvSpPr>
        <p:spPr>
          <a:xfrm>
            <a:off x="8351688" y="2569034"/>
            <a:ext cx="3194809" cy="938170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TW" altLang="en-US" dirty="0">
                <a:solidFill>
                  <a:schemeClr val="tx1"/>
                </a:solidFill>
              </a:rPr>
              <a:t>僅在購買後</a:t>
            </a:r>
            <a:r>
              <a:rPr kumimoji="1" lang="en-US" altLang="zh-TW" dirty="0">
                <a:solidFill>
                  <a:schemeClr val="tx1"/>
                </a:solidFill>
              </a:rPr>
              <a:t>14</a:t>
            </a:r>
            <a:r>
              <a:rPr kumimoji="1" lang="zh-TW" altLang="en-US" dirty="0">
                <a:solidFill>
                  <a:schemeClr val="tx1"/>
                </a:solidFill>
              </a:rPr>
              <a:t>天內可申請退款。超過</a:t>
            </a:r>
            <a:r>
              <a:rPr kumimoji="1" lang="en-US" altLang="zh-TW" dirty="0">
                <a:solidFill>
                  <a:schemeClr val="tx1"/>
                </a:solidFill>
              </a:rPr>
              <a:t>14</a:t>
            </a:r>
            <a:r>
              <a:rPr kumimoji="1" lang="zh-TW" altLang="en-US" dirty="0">
                <a:solidFill>
                  <a:schemeClr val="tx1"/>
                </a:solidFill>
              </a:rPr>
              <a:t>天除非商品有瑕疵，否則無法退款。</a:t>
            </a:r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0371F60C-B274-BBF9-E767-A4203C1B4616}"/>
              </a:ext>
            </a:extLst>
          </p:cNvPr>
          <p:cNvCxnSpPr/>
          <p:nvPr/>
        </p:nvCxnSpPr>
        <p:spPr>
          <a:xfrm>
            <a:off x="7108720" y="3007028"/>
            <a:ext cx="103184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EED04089-6BD6-8F09-3BF4-6055D8901B2E}"/>
              </a:ext>
            </a:extLst>
          </p:cNvPr>
          <p:cNvSpPr/>
          <p:nvPr/>
        </p:nvSpPr>
        <p:spPr>
          <a:xfrm>
            <a:off x="2609671" y="4790438"/>
            <a:ext cx="3194809" cy="938170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TW" altLang="en-US" dirty="0">
                <a:solidFill>
                  <a:schemeClr val="tx1"/>
                </a:solidFill>
              </a:rPr>
              <a:t>僅在購買後</a:t>
            </a:r>
            <a:r>
              <a:rPr kumimoji="1" lang="en-US" altLang="zh-TW" dirty="0">
                <a:solidFill>
                  <a:schemeClr val="tx1"/>
                </a:solidFill>
              </a:rPr>
              <a:t>14</a:t>
            </a:r>
            <a:r>
              <a:rPr kumimoji="1" lang="zh-TW" altLang="en-US" dirty="0">
                <a:solidFill>
                  <a:schemeClr val="tx1"/>
                </a:solidFill>
              </a:rPr>
              <a:t>天內可申請退款。超過</a:t>
            </a:r>
            <a:r>
              <a:rPr kumimoji="1" lang="en-US" altLang="zh-TW" dirty="0">
                <a:solidFill>
                  <a:schemeClr val="tx1"/>
                </a:solidFill>
              </a:rPr>
              <a:t>14</a:t>
            </a:r>
            <a:r>
              <a:rPr kumimoji="1" lang="zh-TW" altLang="en-US" dirty="0">
                <a:solidFill>
                  <a:schemeClr val="tx1"/>
                </a:solidFill>
              </a:rPr>
              <a:t>天除非商品有瑕疵，否則無法退款。</a:t>
            </a: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ECDB339A-D48A-6218-5DA8-D312F03F7D39}"/>
              </a:ext>
            </a:extLst>
          </p:cNvPr>
          <p:cNvSpPr/>
          <p:nvPr/>
        </p:nvSpPr>
        <p:spPr>
          <a:xfrm>
            <a:off x="2219418" y="5870275"/>
            <a:ext cx="3778484" cy="54528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/>
              <a:t>我可以在購買後</a:t>
            </a:r>
            <a:r>
              <a:rPr kumimoji="1" lang="en-US" altLang="zh-TW" dirty="0"/>
              <a:t>14</a:t>
            </a:r>
            <a:r>
              <a:rPr kumimoji="1" lang="zh-TW" altLang="en-US" dirty="0"/>
              <a:t>天申請退款嗎？</a:t>
            </a:r>
          </a:p>
        </p:txBody>
      </p:sp>
      <p:sp>
        <p:nvSpPr>
          <p:cNvPr id="14" name="右中括弧 13">
            <a:extLst>
              <a:ext uri="{FF2B5EF4-FFF2-40B4-BE49-F238E27FC236}">
                <a16:creationId xmlns:a16="http://schemas.microsoft.com/office/drawing/2014/main" id="{61D89F73-46B5-C678-967B-EE0FD6540197}"/>
              </a:ext>
            </a:extLst>
          </p:cNvPr>
          <p:cNvSpPr/>
          <p:nvPr/>
        </p:nvSpPr>
        <p:spPr>
          <a:xfrm>
            <a:off x="6182685" y="5123655"/>
            <a:ext cx="117446" cy="1073056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5" name="Picture 2" descr="undefined">
            <a:extLst>
              <a:ext uri="{FF2B5EF4-FFF2-40B4-BE49-F238E27FC236}">
                <a16:creationId xmlns:a16="http://schemas.microsoft.com/office/drawing/2014/main" id="{64C8DD86-A859-CD74-191F-5AB06C55B0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5311" y="5304927"/>
            <a:ext cx="710510" cy="710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向右箭號 15">
            <a:extLst>
              <a:ext uri="{FF2B5EF4-FFF2-40B4-BE49-F238E27FC236}">
                <a16:creationId xmlns:a16="http://schemas.microsoft.com/office/drawing/2014/main" id="{6ED952CF-E150-7A36-A686-D0CB6B5AAA39}"/>
              </a:ext>
            </a:extLst>
          </p:cNvPr>
          <p:cNvSpPr/>
          <p:nvPr/>
        </p:nvSpPr>
        <p:spPr>
          <a:xfrm>
            <a:off x="6775361" y="5561506"/>
            <a:ext cx="640506" cy="1973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E10D1B9-B1A0-085F-6EB6-AED250F7E38F}"/>
              </a:ext>
            </a:extLst>
          </p:cNvPr>
          <p:cNvSpPr/>
          <p:nvPr/>
        </p:nvSpPr>
        <p:spPr>
          <a:xfrm>
            <a:off x="4725358" y="2513045"/>
            <a:ext cx="1214934" cy="42315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Retriever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7C14F6C-BCD7-6BA0-5AF8-E20F74EEA89D}"/>
              </a:ext>
            </a:extLst>
          </p:cNvPr>
          <p:cNvSpPr txBox="1"/>
          <p:nvPr/>
        </p:nvSpPr>
        <p:spPr>
          <a:xfrm>
            <a:off x="653143" y="1476318"/>
            <a:ext cx="37784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/>
              <a:t>Step1: </a:t>
            </a:r>
            <a:r>
              <a:rPr kumimoji="1" lang="zh-TW" altLang="en-US" sz="2000" dirty="0"/>
              <a:t>搜尋精確的上下文資訊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1B0BEB8-3C53-A8E2-839B-06AA085246CE}"/>
              </a:ext>
            </a:extLst>
          </p:cNvPr>
          <p:cNvSpPr txBox="1"/>
          <p:nvPr/>
        </p:nvSpPr>
        <p:spPr>
          <a:xfrm>
            <a:off x="653142" y="4174863"/>
            <a:ext cx="37784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/>
              <a:t>Step2: </a:t>
            </a:r>
            <a:r>
              <a:rPr kumimoji="1" lang="zh-TW" altLang="en-US" sz="2000" dirty="0"/>
              <a:t>模型推論</a:t>
            </a:r>
          </a:p>
        </p:txBody>
      </p:sp>
    </p:spTree>
    <p:extLst>
      <p:ext uri="{BB962C8B-B14F-4D97-AF65-F5344CB8AC3E}">
        <p14:creationId xmlns:p14="http://schemas.microsoft.com/office/powerpoint/2010/main" val="398025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2" grpId="0" animBg="1"/>
      <p:bldP spid="13" grpId="0" animBg="1"/>
      <p:bldP spid="14" grpId="0" animBg="1"/>
      <p:bldP spid="1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DF4F19-09CA-7D81-ED5E-FE8B5F583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Retrieval-Augmented Generation (RAG)</a:t>
            </a:r>
            <a:r>
              <a:rPr kumimoji="1" lang="zh-TW" altLang="en-US" dirty="0"/>
              <a:t>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框架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0D1E47D-13A9-3AA6-F9DE-9B6D9C600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B6E8991-79DD-7C1B-3152-671CF032EFBD}"/>
              </a:ext>
            </a:extLst>
          </p:cNvPr>
          <p:cNvSpPr txBox="1"/>
          <p:nvPr/>
        </p:nvSpPr>
        <p:spPr>
          <a:xfrm>
            <a:off x="3817502" y="6355873"/>
            <a:ext cx="44405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200" dirty="0"/>
              <a:t>Gao, </a:t>
            </a:r>
            <a:r>
              <a:rPr lang="en" altLang="zh-TW" sz="1200" dirty="0" err="1"/>
              <a:t>Yunfan</a:t>
            </a:r>
            <a:r>
              <a:rPr lang="en" altLang="zh-TW" sz="1200" dirty="0"/>
              <a:t>, et al. "Retrieval-augmented generation for large language models: A survey." </a:t>
            </a:r>
            <a:r>
              <a:rPr lang="en" altLang="zh-TW" sz="1200" i="1" dirty="0" err="1"/>
              <a:t>arXiv</a:t>
            </a:r>
            <a:r>
              <a:rPr lang="en" altLang="zh-TW" sz="1200" i="1" dirty="0"/>
              <a:t> preprint arXiv:2312.10997</a:t>
            </a:r>
            <a:r>
              <a:rPr lang="en" altLang="zh-TW" sz="1200" dirty="0"/>
              <a:t> (2023).</a:t>
            </a:r>
            <a:endParaRPr lang="zh-TW" altLang="en-US" sz="1200" dirty="0"/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C8988D52-663B-D567-332E-91720B0E8320}"/>
              </a:ext>
            </a:extLst>
          </p:cNvPr>
          <p:cNvSpPr/>
          <p:nvPr/>
        </p:nvSpPr>
        <p:spPr>
          <a:xfrm>
            <a:off x="6934774" y="1790232"/>
            <a:ext cx="2057400" cy="11367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/>
              <a:t>Generator</a:t>
            </a:r>
            <a:endParaRPr kumimoji="1" lang="en-US" altLang="zh-TW" dirty="0"/>
          </a:p>
          <a:p>
            <a:pPr algn="ctr"/>
            <a:r>
              <a:rPr kumimoji="1" lang="en-US" altLang="zh-TW" dirty="0"/>
              <a:t>(e.g., LLM)</a:t>
            </a:r>
            <a:endParaRPr kumimoji="1" lang="zh-TW" altLang="en-US" dirty="0"/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02DA1334-57A2-685F-68AD-1C0170446CF4}"/>
              </a:ext>
            </a:extLst>
          </p:cNvPr>
          <p:cNvSpPr/>
          <p:nvPr/>
        </p:nvSpPr>
        <p:spPr>
          <a:xfrm>
            <a:off x="1968465" y="3373243"/>
            <a:ext cx="1939290" cy="70485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Retriever</a:t>
            </a:r>
          </a:p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(e.g., BERT)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pic>
        <p:nvPicPr>
          <p:cNvPr id="9" name="圖形 8" descr="資料庫 外框">
            <a:extLst>
              <a:ext uri="{FF2B5EF4-FFF2-40B4-BE49-F238E27FC236}">
                <a16:creationId xmlns:a16="http://schemas.microsoft.com/office/drawing/2014/main" id="{1A750FEE-BD69-835D-B503-9BC72DEA68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82469" y="4698685"/>
            <a:ext cx="914400" cy="914400"/>
          </a:xfrm>
          <a:prstGeom prst="rect">
            <a:avLst/>
          </a:prstGeom>
        </p:spPr>
      </p:pic>
      <p:pic>
        <p:nvPicPr>
          <p:cNvPr id="1028" name="Picture 4" descr="undefined">
            <a:extLst>
              <a:ext uri="{FF2B5EF4-FFF2-40B4-BE49-F238E27FC236}">
                <a16:creationId xmlns:a16="http://schemas.microsoft.com/office/drawing/2014/main" id="{61AEFAE3-D0F1-0112-BA15-9CEE854F2B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0729" y="5501949"/>
            <a:ext cx="772651" cy="70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A45DFAE3-5EC4-80FD-6A58-5A2C79D36FD8}"/>
              </a:ext>
            </a:extLst>
          </p:cNvPr>
          <p:cNvSpPr txBox="1"/>
          <p:nvPr/>
        </p:nvSpPr>
        <p:spPr>
          <a:xfrm>
            <a:off x="2023380" y="5531209"/>
            <a:ext cx="18325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/>
              <a:t>Knowledge Base </a:t>
            </a:r>
            <a:r>
              <a:rPr kumimoji="1" lang="en-US" altLang="zh-TW" dirty="0"/>
              <a:t>(e.g., Wikipedia)</a:t>
            </a:r>
            <a:endParaRPr kumimoji="1" lang="zh-TW" altLang="en-US" dirty="0"/>
          </a:p>
        </p:txBody>
      </p: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7F050A04-5CE8-AA08-06BF-903E9F8C0D15}"/>
              </a:ext>
            </a:extLst>
          </p:cNvPr>
          <p:cNvCxnSpPr/>
          <p:nvPr/>
        </p:nvCxnSpPr>
        <p:spPr>
          <a:xfrm>
            <a:off x="2942300" y="4152020"/>
            <a:ext cx="0" cy="55755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C76AD002-E6EF-6A3C-65C5-4DDBD7E074D9}"/>
              </a:ext>
            </a:extLst>
          </p:cNvPr>
          <p:cNvSpPr/>
          <p:nvPr/>
        </p:nvSpPr>
        <p:spPr>
          <a:xfrm>
            <a:off x="1135192" y="2068087"/>
            <a:ext cx="3627610" cy="5313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Which year was Oppenheimer born?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0ADDEC63-99C3-46C2-0727-D3787C6F615A}"/>
              </a:ext>
            </a:extLst>
          </p:cNvPr>
          <p:cNvCxnSpPr/>
          <p:nvPr/>
        </p:nvCxnSpPr>
        <p:spPr>
          <a:xfrm>
            <a:off x="2948996" y="2739490"/>
            <a:ext cx="0" cy="55755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A36DEEA2-78AF-ACEB-5FAB-E088CABCCEB3}"/>
              </a:ext>
            </a:extLst>
          </p:cNvPr>
          <p:cNvSpPr/>
          <p:nvPr/>
        </p:nvSpPr>
        <p:spPr>
          <a:xfrm>
            <a:off x="4266769" y="4587530"/>
            <a:ext cx="3275388" cy="11367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TW" sz="1400" dirty="0">
                <a:solidFill>
                  <a:schemeClr val="tx1"/>
                </a:solidFill>
              </a:rPr>
              <a:t>Robert Oppenheimer (born April 22, 1904, New York, New York, U.S.—died February 18, 1967, Princeton, New Jersey) was an American theoretical physicist and science administrator ...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49282300-B5AC-DA84-2FB7-799C685EC99C}"/>
              </a:ext>
            </a:extLst>
          </p:cNvPr>
          <p:cNvCxnSpPr>
            <a:cxnSpLocks/>
          </p:cNvCxnSpPr>
          <p:nvPr/>
        </p:nvCxnSpPr>
        <p:spPr>
          <a:xfrm>
            <a:off x="5018085" y="2249634"/>
            <a:ext cx="166140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箭頭接點 17">
            <a:extLst>
              <a:ext uri="{FF2B5EF4-FFF2-40B4-BE49-F238E27FC236}">
                <a16:creationId xmlns:a16="http://schemas.microsoft.com/office/drawing/2014/main" id="{8D826703-5B08-8A1A-6482-E3F162A22BE9}"/>
              </a:ext>
            </a:extLst>
          </p:cNvPr>
          <p:cNvCxnSpPr>
            <a:cxnSpLocks/>
          </p:cNvCxnSpPr>
          <p:nvPr/>
        </p:nvCxnSpPr>
        <p:spPr>
          <a:xfrm>
            <a:off x="5018085" y="2510891"/>
            <a:ext cx="1661406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858ACCE5-013D-8F35-DA46-087F0322243B}"/>
              </a:ext>
            </a:extLst>
          </p:cNvPr>
          <p:cNvCxnSpPr>
            <a:cxnSpLocks/>
          </p:cNvCxnSpPr>
          <p:nvPr/>
        </p:nvCxnSpPr>
        <p:spPr>
          <a:xfrm>
            <a:off x="3479825" y="5167005"/>
            <a:ext cx="616362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箭頭接點 20">
            <a:extLst>
              <a:ext uri="{FF2B5EF4-FFF2-40B4-BE49-F238E27FC236}">
                <a16:creationId xmlns:a16="http://schemas.microsoft.com/office/drawing/2014/main" id="{6AF5415A-9159-FF26-BF54-7E8A7075DCFB}"/>
              </a:ext>
            </a:extLst>
          </p:cNvPr>
          <p:cNvCxnSpPr>
            <a:cxnSpLocks/>
          </p:cNvCxnSpPr>
          <p:nvPr/>
        </p:nvCxnSpPr>
        <p:spPr>
          <a:xfrm flipV="1">
            <a:off x="5809368" y="2576207"/>
            <a:ext cx="0" cy="197031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F76D838D-A7A1-478A-E5F6-E026902F1CA8}"/>
              </a:ext>
            </a:extLst>
          </p:cNvPr>
          <p:cNvSpPr txBox="1"/>
          <p:nvPr/>
        </p:nvSpPr>
        <p:spPr>
          <a:xfrm>
            <a:off x="9574313" y="2349061"/>
            <a:ext cx="21550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dirty="0"/>
              <a:t>1904 (With RAG)</a:t>
            </a:r>
            <a:endParaRPr lang="zh-TW" altLang="en-US" dirty="0"/>
          </a:p>
        </p:txBody>
      </p: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CE9DB02D-5C2B-8AC6-1C76-9A1CE09F7222}"/>
              </a:ext>
            </a:extLst>
          </p:cNvPr>
          <p:cNvCxnSpPr>
            <a:cxnSpLocks/>
          </p:cNvCxnSpPr>
          <p:nvPr/>
        </p:nvCxnSpPr>
        <p:spPr>
          <a:xfrm>
            <a:off x="9132884" y="2249634"/>
            <a:ext cx="44142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箭頭接點 28">
            <a:extLst>
              <a:ext uri="{FF2B5EF4-FFF2-40B4-BE49-F238E27FC236}">
                <a16:creationId xmlns:a16="http://schemas.microsoft.com/office/drawing/2014/main" id="{BD476A9C-D893-D93D-1437-12F7E90CC8A3}"/>
              </a:ext>
            </a:extLst>
          </p:cNvPr>
          <p:cNvCxnSpPr>
            <a:cxnSpLocks/>
          </p:cNvCxnSpPr>
          <p:nvPr/>
        </p:nvCxnSpPr>
        <p:spPr>
          <a:xfrm>
            <a:off x="9143770" y="2510891"/>
            <a:ext cx="441429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E1BB2B5C-C1A8-04FC-7251-A7901CBEBA05}"/>
              </a:ext>
            </a:extLst>
          </p:cNvPr>
          <p:cNvSpPr txBox="1"/>
          <p:nvPr/>
        </p:nvSpPr>
        <p:spPr>
          <a:xfrm>
            <a:off x="7531906" y="4833404"/>
            <a:ext cx="14602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/>
              <a:t>Retrieved Documents</a:t>
            </a:r>
            <a:endParaRPr kumimoji="1" lang="zh-TW" altLang="en-US" b="1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AC85B165-E9C9-F1E6-B060-1196B8896D86}"/>
              </a:ext>
            </a:extLst>
          </p:cNvPr>
          <p:cNvSpPr txBox="1"/>
          <p:nvPr/>
        </p:nvSpPr>
        <p:spPr>
          <a:xfrm>
            <a:off x="2133347" y="1705088"/>
            <a:ext cx="1609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/>
              <a:t>Input Query</a:t>
            </a:r>
            <a:endParaRPr kumimoji="1" lang="zh-TW" altLang="en-US" b="1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852D27A4-BBA9-B933-60FD-6B71F9E83BBA}"/>
              </a:ext>
            </a:extLst>
          </p:cNvPr>
          <p:cNvSpPr txBox="1"/>
          <p:nvPr/>
        </p:nvSpPr>
        <p:spPr>
          <a:xfrm>
            <a:off x="9495552" y="1674984"/>
            <a:ext cx="1859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/>
              <a:t>LLM Output</a:t>
            </a:r>
            <a:endParaRPr kumimoji="1" lang="zh-TW" altLang="en-US" b="1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AEEDFE87-BE5C-C868-2C6B-ED9BFE44562C}"/>
              </a:ext>
            </a:extLst>
          </p:cNvPr>
          <p:cNvSpPr txBox="1"/>
          <p:nvPr/>
        </p:nvSpPr>
        <p:spPr>
          <a:xfrm>
            <a:off x="9585198" y="2074493"/>
            <a:ext cx="24544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1800" dirty="0">
                <a:solidFill>
                  <a:schemeClr val="tx1"/>
                </a:solidFill>
              </a:rPr>
              <a:t>1967 (Without RAG)</a:t>
            </a:r>
          </a:p>
        </p:txBody>
      </p:sp>
    </p:spTree>
    <p:extLst>
      <p:ext uri="{BB962C8B-B14F-4D97-AF65-F5344CB8AC3E}">
        <p14:creationId xmlns:p14="http://schemas.microsoft.com/office/powerpoint/2010/main" val="4126107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10" grpId="0"/>
      <p:bldP spid="15" grpId="0" animBg="1"/>
      <p:bldP spid="24" grpId="0"/>
      <p:bldP spid="30" grpId="0"/>
      <p:bldP spid="32" grpId="0"/>
      <p:bldP spid="20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B27915-18F5-019E-11A5-D94091490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Why do we need RAG?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D306326-4517-AEBD-66C2-10EA5BF26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CED3E8E-2B8B-FC97-39DC-9245032BDCC6}"/>
              </a:ext>
            </a:extLst>
          </p:cNvPr>
          <p:cNvSpPr txBox="1"/>
          <p:nvPr/>
        </p:nvSpPr>
        <p:spPr>
          <a:xfrm>
            <a:off x="653144" y="1749469"/>
            <a:ext cx="10433956" cy="335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LLMs have profound parameterized knowledge that makes them useful in responding to general prompts.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However, LLMs are error-prone due to lack of domain knowledge or outdated information</a:t>
            </a:r>
            <a:r>
              <a:rPr kumimoji="1" lang="zh-TW" altLang="en-US" sz="2400" dirty="0"/>
              <a:t> </a:t>
            </a:r>
            <a:r>
              <a:rPr kumimoji="1" lang="en-US" altLang="zh-TW" sz="2400" dirty="0"/>
              <a:t>(RAG</a:t>
            </a:r>
            <a:r>
              <a:rPr kumimoji="1" lang="zh-TW" altLang="en-US" sz="2400" dirty="0"/>
              <a:t> 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可協助更新知識</a:t>
            </a:r>
            <a:r>
              <a:rPr kumimoji="1" lang="en-US" altLang="zh-TW" sz="2400" dirty="0"/>
              <a:t>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Standalone LLMs do not serve users who want a deeper dive into a current or more specific topic (RAG</a:t>
            </a:r>
            <a:r>
              <a:rPr kumimoji="1" lang="zh-TW" altLang="en-US" sz="2400" dirty="0"/>
              <a:t> 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可協助提供特定領域知識</a:t>
            </a:r>
            <a:r>
              <a:rPr kumimoji="1" lang="en-US" altLang="zh-TW" sz="2400" dirty="0"/>
              <a:t>).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C1ECBE7-AB24-89B4-34B4-CCC8E46D6659}"/>
              </a:ext>
            </a:extLst>
          </p:cNvPr>
          <p:cNvSpPr txBox="1"/>
          <p:nvPr/>
        </p:nvSpPr>
        <p:spPr>
          <a:xfrm>
            <a:off x="3762102" y="6461539"/>
            <a:ext cx="51308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200" dirty="0"/>
              <a:t>https://</a:t>
            </a:r>
            <a:r>
              <a:rPr lang="en" altLang="zh-TW" sz="1200" dirty="0" err="1"/>
              <a:t>blogs.nvidia.com</a:t>
            </a:r>
            <a:r>
              <a:rPr lang="en" altLang="zh-TW" sz="1200" dirty="0"/>
              <a:t>/blog/what-is-retrieval-augmented-generation/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084066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DF4F19-09CA-7D81-ED5E-FE8B5F583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接下來我們專注於 </a:t>
            </a:r>
            <a:r>
              <a:rPr kumimoji="1" lang="en-US" altLang="zh-TW" dirty="0"/>
              <a:t>Retriever</a:t>
            </a:r>
            <a:r>
              <a:rPr kumimoji="1" lang="zh-TW" altLang="en-US" dirty="0"/>
              <a:t> 如何建立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0D1E47D-13A9-3AA6-F9DE-9B6D9C600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B6E8991-79DD-7C1B-3152-671CF032EFBD}"/>
              </a:ext>
            </a:extLst>
          </p:cNvPr>
          <p:cNvSpPr txBox="1"/>
          <p:nvPr/>
        </p:nvSpPr>
        <p:spPr>
          <a:xfrm>
            <a:off x="3817502" y="6355873"/>
            <a:ext cx="44405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200" dirty="0"/>
              <a:t>Gao, </a:t>
            </a:r>
            <a:r>
              <a:rPr lang="en" altLang="zh-TW" sz="1200" dirty="0" err="1"/>
              <a:t>Yunfan</a:t>
            </a:r>
            <a:r>
              <a:rPr lang="en" altLang="zh-TW" sz="1200" dirty="0"/>
              <a:t>, et al. "Retrieval-augmented generation for large language models: A survey." </a:t>
            </a:r>
            <a:r>
              <a:rPr lang="en" altLang="zh-TW" sz="1200" i="1" dirty="0" err="1"/>
              <a:t>arXiv</a:t>
            </a:r>
            <a:r>
              <a:rPr lang="en" altLang="zh-TW" sz="1200" i="1" dirty="0"/>
              <a:t> preprint arXiv:2312.10997</a:t>
            </a:r>
            <a:r>
              <a:rPr lang="en" altLang="zh-TW" sz="1200" dirty="0"/>
              <a:t> (2023).</a:t>
            </a:r>
            <a:endParaRPr lang="zh-TW" altLang="en-US" sz="1200" dirty="0"/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C8988D52-663B-D567-332E-91720B0E8320}"/>
              </a:ext>
            </a:extLst>
          </p:cNvPr>
          <p:cNvSpPr/>
          <p:nvPr/>
        </p:nvSpPr>
        <p:spPr>
          <a:xfrm>
            <a:off x="6934774" y="1790232"/>
            <a:ext cx="2057400" cy="11367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/>
              <a:t>Generator</a:t>
            </a:r>
            <a:endParaRPr kumimoji="1" lang="en-US" altLang="zh-TW" dirty="0"/>
          </a:p>
          <a:p>
            <a:pPr algn="ctr"/>
            <a:r>
              <a:rPr kumimoji="1" lang="en-US" altLang="zh-TW" dirty="0"/>
              <a:t>(e.g., LLM)</a:t>
            </a:r>
            <a:endParaRPr kumimoji="1" lang="zh-TW" altLang="en-US" dirty="0"/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02DA1334-57A2-685F-68AD-1C0170446CF4}"/>
              </a:ext>
            </a:extLst>
          </p:cNvPr>
          <p:cNvSpPr/>
          <p:nvPr/>
        </p:nvSpPr>
        <p:spPr>
          <a:xfrm>
            <a:off x="1968465" y="3373243"/>
            <a:ext cx="1939290" cy="704850"/>
          </a:xfrm>
          <a:prstGeom prst="roundRect">
            <a:avLst/>
          </a:prstGeom>
          <a:solidFill>
            <a:schemeClr val="bg2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Retriever</a:t>
            </a:r>
          </a:p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(e.g., BERT)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pic>
        <p:nvPicPr>
          <p:cNvPr id="9" name="圖形 8" descr="資料庫 外框">
            <a:extLst>
              <a:ext uri="{FF2B5EF4-FFF2-40B4-BE49-F238E27FC236}">
                <a16:creationId xmlns:a16="http://schemas.microsoft.com/office/drawing/2014/main" id="{1A750FEE-BD69-835D-B503-9BC72DEA68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82469" y="4698685"/>
            <a:ext cx="914400" cy="914400"/>
          </a:xfrm>
          <a:prstGeom prst="rect">
            <a:avLst/>
          </a:prstGeom>
        </p:spPr>
      </p:pic>
      <p:pic>
        <p:nvPicPr>
          <p:cNvPr id="1028" name="Picture 4" descr="undefined">
            <a:extLst>
              <a:ext uri="{FF2B5EF4-FFF2-40B4-BE49-F238E27FC236}">
                <a16:creationId xmlns:a16="http://schemas.microsoft.com/office/drawing/2014/main" id="{61AEFAE3-D0F1-0112-BA15-9CEE854F2B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0729" y="5501949"/>
            <a:ext cx="772651" cy="70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A45DFAE3-5EC4-80FD-6A58-5A2C79D36FD8}"/>
              </a:ext>
            </a:extLst>
          </p:cNvPr>
          <p:cNvSpPr txBox="1"/>
          <p:nvPr/>
        </p:nvSpPr>
        <p:spPr>
          <a:xfrm>
            <a:off x="2023380" y="5531209"/>
            <a:ext cx="18325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/>
              <a:t>Knowledge Base </a:t>
            </a:r>
            <a:r>
              <a:rPr kumimoji="1" lang="en-US" altLang="zh-TW" dirty="0"/>
              <a:t>(e.g., Wikipedia)</a:t>
            </a:r>
            <a:endParaRPr kumimoji="1" lang="zh-TW" altLang="en-US" dirty="0"/>
          </a:p>
        </p:txBody>
      </p: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7F050A04-5CE8-AA08-06BF-903E9F8C0D15}"/>
              </a:ext>
            </a:extLst>
          </p:cNvPr>
          <p:cNvCxnSpPr/>
          <p:nvPr/>
        </p:nvCxnSpPr>
        <p:spPr>
          <a:xfrm>
            <a:off x="2942300" y="4152020"/>
            <a:ext cx="0" cy="55755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C76AD002-E6EF-6A3C-65C5-4DDBD7E074D9}"/>
              </a:ext>
            </a:extLst>
          </p:cNvPr>
          <p:cNvSpPr/>
          <p:nvPr/>
        </p:nvSpPr>
        <p:spPr>
          <a:xfrm>
            <a:off x="1135192" y="2068087"/>
            <a:ext cx="3627610" cy="5313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Which year was Oppenheimer born?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0ADDEC63-99C3-46C2-0727-D3787C6F615A}"/>
              </a:ext>
            </a:extLst>
          </p:cNvPr>
          <p:cNvCxnSpPr/>
          <p:nvPr/>
        </p:nvCxnSpPr>
        <p:spPr>
          <a:xfrm>
            <a:off x="2948996" y="2739490"/>
            <a:ext cx="0" cy="55755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A36DEEA2-78AF-ACEB-5FAB-E088CABCCEB3}"/>
              </a:ext>
            </a:extLst>
          </p:cNvPr>
          <p:cNvSpPr/>
          <p:nvPr/>
        </p:nvSpPr>
        <p:spPr>
          <a:xfrm>
            <a:off x="4266769" y="4587530"/>
            <a:ext cx="3275388" cy="11367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TW" sz="1400" dirty="0">
                <a:solidFill>
                  <a:schemeClr val="tx1"/>
                </a:solidFill>
              </a:rPr>
              <a:t>Robert Oppenheimer (born April 22, 1904, New York, New York, U.S.—died February 18, 1967, Princeton, New Jersey) was an American theoretical physicist and science administrator ...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49282300-B5AC-DA84-2FB7-799C685EC99C}"/>
              </a:ext>
            </a:extLst>
          </p:cNvPr>
          <p:cNvCxnSpPr>
            <a:cxnSpLocks/>
          </p:cNvCxnSpPr>
          <p:nvPr/>
        </p:nvCxnSpPr>
        <p:spPr>
          <a:xfrm>
            <a:off x="5018085" y="2249634"/>
            <a:ext cx="166140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箭頭接點 17">
            <a:extLst>
              <a:ext uri="{FF2B5EF4-FFF2-40B4-BE49-F238E27FC236}">
                <a16:creationId xmlns:a16="http://schemas.microsoft.com/office/drawing/2014/main" id="{8D826703-5B08-8A1A-6482-E3F162A22BE9}"/>
              </a:ext>
            </a:extLst>
          </p:cNvPr>
          <p:cNvCxnSpPr>
            <a:cxnSpLocks/>
          </p:cNvCxnSpPr>
          <p:nvPr/>
        </p:nvCxnSpPr>
        <p:spPr>
          <a:xfrm>
            <a:off x="5018085" y="2510891"/>
            <a:ext cx="166140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858ACCE5-013D-8F35-DA46-087F0322243B}"/>
              </a:ext>
            </a:extLst>
          </p:cNvPr>
          <p:cNvCxnSpPr>
            <a:cxnSpLocks/>
          </p:cNvCxnSpPr>
          <p:nvPr/>
        </p:nvCxnSpPr>
        <p:spPr>
          <a:xfrm>
            <a:off x="3479825" y="5167005"/>
            <a:ext cx="61636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箭頭接點 20">
            <a:extLst>
              <a:ext uri="{FF2B5EF4-FFF2-40B4-BE49-F238E27FC236}">
                <a16:creationId xmlns:a16="http://schemas.microsoft.com/office/drawing/2014/main" id="{6AF5415A-9159-FF26-BF54-7E8A7075DCFB}"/>
              </a:ext>
            </a:extLst>
          </p:cNvPr>
          <p:cNvCxnSpPr>
            <a:cxnSpLocks/>
          </p:cNvCxnSpPr>
          <p:nvPr/>
        </p:nvCxnSpPr>
        <p:spPr>
          <a:xfrm flipV="1">
            <a:off x="5809368" y="2576207"/>
            <a:ext cx="0" cy="197031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F76D838D-A7A1-478A-E5F6-E026902F1CA8}"/>
              </a:ext>
            </a:extLst>
          </p:cNvPr>
          <p:cNvSpPr txBox="1"/>
          <p:nvPr/>
        </p:nvSpPr>
        <p:spPr>
          <a:xfrm>
            <a:off x="9574313" y="2349061"/>
            <a:ext cx="21550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dirty="0"/>
              <a:t>1904 (With RAG)</a:t>
            </a:r>
            <a:endParaRPr lang="zh-TW" altLang="en-US" dirty="0"/>
          </a:p>
        </p:txBody>
      </p: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CE9DB02D-5C2B-8AC6-1C76-9A1CE09F7222}"/>
              </a:ext>
            </a:extLst>
          </p:cNvPr>
          <p:cNvCxnSpPr>
            <a:cxnSpLocks/>
          </p:cNvCxnSpPr>
          <p:nvPr/>
        </p:nvCxnSpPr>
        <p:spPr>
          <a:xfrm>
            <a:off x="9132884" y="2249634"/>
            <a:ext cx="44142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箭頭接點 28">
            <a:extLst>
              <a:ext uri="{FF2B5EF4-FFF2-40B4-BE49-F238E27FC236}">
                <a16:creationId xmlns:a16="http://schemas.microsoft.com/office/drawing/2014/main" id="{BD476A9C-D893-D93D-1437-12F7E90CC8A3}"/>
              </a:ext>
            </a:extLst>
          </p:cNvPr>
          <p:cNvCxnSpPr>
            <a:cxnSpLocks/>
          </p:cNvCxnSpPr>
          <p:nvPr/>
        </p:nvCxnSpPr>
        <p:spPr>
          <a:xfrm>
            <a:off x="9143770" y="2510891"/>
            <a:ext cx="44142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E1BB2B5C-C1A8-04FC-7251-A7901CBEBA05}"/>
              </a:ext>
            </a:extLst>
          </p:cNvPr>
          <p:cNvSpPr txBox="1"/>
          <p:nvPr/>
        </p:nvSpPr>
        <p:spPr>
          <a:xfrm>
            <a:off x="7531906" y="4833404"/>
            <a:ext cx="14602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/>
              <a:t>Retrieved Documents</a:t>
            </a:r>
            <a:endParaRPr kumimoji="1" lang="zh-TW" altLang="en-US" b="1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AC85B165-E9C9-F1E6-B060-1196B8896D86}"/>
              </a:ext>
            </a:extLst>
          </p:cNvPr>
          <p:cNvSpPr txBox="1"/>
          <p:nvPr/>
        </p:nvSpPr>
        <p:spPr>
          <a:xfrm>
            <a:off x="2133347" y="1705088"/>
            <a:ext cx="1609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/>
              <a:t>Input Query</a:t>
            </a:r>
            <a:endParaRPr kumimoji="1" lang="zh-TW" altLang="en-US" b="1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852D27A4-BBA9-B933-60FD-6B71F9E83BBA}"/>
              </a:ext>
            </a:extLst>
          </p:cNvPr>
          <p:cNvSpPr txBox="1"/>
          <p:nvPr/>
        </p:nvSpPr>
        <p:spPr>
          <a:xfrm>
            <a:off x="9495552" y="1674984"/>
            <a:ext cx="1859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/>
              <a:t>LLM Output</a:t>
            </a:r>
            <a:endParaRPr kumimoji="1" lang="zh-TW" altLang="en-US" b="1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AEEDFE87-BE5C-C868-2C6B-ED9BFE44562C}"/>
              </a:ext>
            </a:extLst>
          </p:cNvPr>
          <p:cNvSpPr txBox="1"/>
          <p:nvPr/>
        </p:nvSpPr>
        <p:spPr>
          <a:xfrm>
            <a:off x="9585198" y="2074493"/>
            <a:ext cx="24544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1800" dirty="0">
                <a:solidFill>
                  <a:schemeClr val="tx1"/>
                </a:solidFill>
              </a:rPr>
              <a:t>1967 (Without RAG)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35D4BC6-3005-C09B-6B7F-D143C8401A75}"/>
              </a:ext>
            </a:extLst>
          </p:cNvPr>
          <p:cNvSpPr txBox="1"/>
          <p:nvPr/>
        </p:nvSpPr>
        <p:spPr>
          <a:xfrm>
            <a:off x="4050923" y="3078247"/>
            <a:ext cx="6163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⬅️</a:t>
            </a:r>
            <a:endParaRPr kumimoji="1" lang="en-US" altLang="zh-TW" dirty="0"/>
          </a:p>
          <a:p>
            <a:r>
              <a:rPr kumimoji="1" lang="zh-TW" altLang="en-US" dirty="0"/>
              <a:t>⬅️</a:t>
            </a:r>
          </a:p>
          <a:p>
            <a:r>
              <a:rPr kumimoji="1" lang="zh-TW" altLang="en-US" dirty="0"/>
              <a:t>⬅️</a:t>
            </a:r>
          </a:p>
          <a:p>
            <a:r>
              <a:rPr kumimoji="1" lang="zh-TW" altLang="en-US" dirty="0"/>
              <a:t>⬅️</a:t>
            </a:r>
          </a:p>
          <a:p>
            <a:r>
              <a:rPr kumimoji="1" lang="zh-TW" altLang="en-US" dirty="0"/>
              <a:t>⬅️</a:t>
            </a:r>
          </a:p>
        </p:txBody>
      </p:sp>
    </p:spTree>
    <p:extLst>
      <p:ext uri="{BB962C8B-B14F-4D97-AF65-F5344CB8AC3E}">
        <p14:creationId xmlns:p14="http://schemas.microsoft.com/office/powerpoint/2010/main" val="6158961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D2B3E9-3179-9AB3-8C99-E871E0FBB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Task: </a:t>
            </a:r>
            <a:r>
              <a:rPr kumimoji="1" lang="en" altLang="zh-TW" dirty="0"/>
              <a:t>Open-domain question answering (ODQA)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B415EEA-1116-37F0-7588-1BA37C622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FA0AE21-818C-16BA-F627-673BAC82A5B4}"/>
              </a:ext>
            </a:extLst>
          </p:cNvPr>
          <p:cNvSpPr txBox="1"/>
          <p:nvPr/>
        </p:nvSpPr>
        <p:spPr>
          <a:xfrm>
            <a:off x="653143" y="1806061"/>
            <a:ext cx="6242806" cy="3737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Given </a:t>
            </a:r>
            <a:r>
              <a:rPr kumimoji="1" lang="en-US" altLang="zh-TW" sz="2000" dirty="0">
                <a:solidFill>
                  <a:srgbClr val="FF0000"/>
                </a:solidFill>
              </a:rPr>
              <a:t>a question x </a:t>
            </a:r>
            <a:r>
              <a:rPr kumimoji="1" lang="en-US" altLang="zh-TW" sz="2000" dirty="0"/>
              <a:t>such as “</a:t>
            </a:r>
            <a:r>
              <a:rPr kumimoji="1" lang="en-US" altLang="zh-TW" sz="2000" dirty="0">
                <a:solidFill>
                  <a:srgbClr val="FF0000"/>
                </a:solidFill>
              </a:rPr>
              <a:t>What is the currency of the UK?”, </a:t>
            </a:r>
            <a:r>
              <a:rPr kumimoji="1" lang="en-US" altLang="zh-TW" sz="2000" dirty="0"/>
              <a:t>a model must output the correct </a:t>
            </a:r>
            <a:r>
              <a:rPr kumimoji="1" lang="en-US" altLang="zh-TW" sz="2000" dirty="0">
                <a:solidFill>
                  <a:srgbClr val="00B050"/>
                </a:solidFill>
              </a:rPr>
              <a:t>answer string y</a:t>
            </a:r>
            <a:r>
              <a:rPr kumimoji="1" lang="en-US" altLang="zh-TW" sz="2000" dirty="0"/>
              <a:t>, “</a:t>
            </a:r>
            <a:r>
              <a:rPr kumimoji="1" lang="en-US" altLang="zh-TW" sz="2000" dirty="0">
                <a:solidFill>
                  <a:srgbClr val="00B050"/>
                </a:solidFill>
              </a:rPr>
              <a:t>pound</a:t>
            </a:r>
            <a:r>
              <a:rPr kumimoji="1" lang="en-US" altLang="zh-TW" sz="2000" dirty="0"/>
              <a:t>”.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“Open” refers to the fact that the model does not receive a pre-identified document that contains the answer (ODQA 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任務沒有</a:t>
            </a:r>
            <a:r>
              <a:rPr kumimoji="1" lang="zh-TW" altLang="en-US" sz="2000" dirty="0"/>
              <a:t> </a:t>
            </a:r>
            <a:r>
              <a:rPr kumimoji="1" lang="en-US" altLang="zh-TW" sz="2000" dirty="0"/>
              <a:t>context).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ODQA is like Reading comprehension (RC) tasks, such as </a:t>
            </a:r>
            <a:r>
              <a:rPr kumimoji="1" lang="en-US" altLang="zh-TW" sz="2000" dirty="0" err="1"/>
              <a:t>SQuAD</a:t>
            </a:r>
            <a:r>
              <a:rPr kumimoji="1" lang="en-US" altLang="zh-TW" sz="2000" dirty="0"/>
              <a:t>, but no relevant articles provided.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700C77D-19E0-5CF3-E104-364960088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1725" y="2717508"/>
            <a:ext cx="3962400" cy="26791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5C622A0D-EF85-3533-6799-18959D247499}"/>
              </a:ext>
            </a:extLst>
          </p:cNvPr>
          <p:cNvSpPr txBox="1"/>
          <p:nvPr/>
        </p:nvSpPr>
        <p:spPr>
          <a:xfrm>
            <a:off x="7309639" y="2119885"/>
            <a:ext cx="4066573" cy="504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000" dirty="0"/>
              <a:t>(Example of </a:t>
            </a:r>
            <a:r>
              <a:rPr kumimoji="1" lang="en-US" altLang="zh-TW" sz="2000" dirty="0" err="1"/>
              <a:t>SQuAD</a:t>
            </a:r>
            <a:r>
              <a:rPr kumimoji="1" lang="en-US" altLang="zh-TW" sz="2000" dirty="0"/>
              <a:t>, </a:t>
            </a:r>
            <a:r>
              <a:rPr kumimoji="1" lang="zh-TW" altLang="en-US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有</a:t>
            </a:r>
            <a:r>
              <a:rPr kumimoji="1" lang="zh-TW" altLang="en-US" sz="2000" dirty="0"/>
              <a:t> </a:t>
            </a:r>
            <a:r>
              <a:rPr kumimoji="1" lang="en-US" altLang="zh-TW" sz="2000" dirty="0"/>
              <a:t>context)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D155476-136C-278F-6273-A363258E7501}"/>
              </a:ext>
            </a:extLst>
          </p:cNvPr>
          <p:cNvSpPr txBox="1"/>
          <p:nvPr/>
        </p:nvSpPr>
        <p:spPr>
          <a:xfrm>
            <a:off x="1734510" y="6347860"/>
            <a:ext cx="87229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100" dirty="0" err="1"/>
              <a:t>Guu</a:t>
            </a:r>
            <a:r>
              <a:rPr lang="en" altLang="zh-TW" sz="1100" dirty="0"/>
              <a:t>, Kelvin, et al. "Retrieval augmented language model pre-training." ICML 2020.</a:t>
            </a:r>
          </a:p>
          <a:p>
            <a:r>
              <a:rPr lang="en" altLang="zh-TW" sz="1100" dirty="0" err="1"/>
              <a:t>Rajpurkar</a:t>
            </a:r>
            <a:r>
              <a:rPr lang="en" altLang="zh-TW" sz="1100" dirty="0"/>
              <a:t>, P., Zhang, J., </a:t>
            </a:r>
            <a:r>
              <a:rPr lang="en" altLang="zh-TW" sz="1100" dirty="0" err="1"/>
              <a:t>Lopyrev</a:t>
            </a:r>
            <a:r>
              <a:rPr lang="en" altLang="zh-TW" sz="1100" dirty="0"/>
              <a:t>, K., &amp; Liang, P. (2016). </a:t>
            </a:r>
            <a:r>
              <a:rPr lang="en" altLang="zh-TW" sz="1100" dirty="0" err="1"/>
              <a:t>SQuAD</a:t>
            </a:r>
            <a:r>
              <a:rPr lang="en" altLang="zh-TW" sz="1100" dirty="0"/>
              <a:t>: 100,000+ Questions for Machine Comprehension of Text. EMNLP 2016.</a:t>
            </a:r>
          </a:p>
        </p:txBody>
      </p:sp>
    </p:spTree>
    <p:extLst>
      <p:ext uri="{BB962C8B-B14F-4D97-AF65-F5344CB8AC3E}">
        <p14:creationId xmlns:p14="http://schemas.microsoft.com/office/powerpoint/2010/main" val="1162787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077625-BCFF-A52F-76A4-3CC9CC798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Retrievers for RAG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F687F6B-E61C-EA16-CD44-D77310996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5344E76-C6F0-D77B-30ED-BF769DEC487D}"/>
              </a:ext>
            </a:extLst>
          </p:cNvPr>
          <p:cNvSpPr txBox="1"/>
          <p:nvPr/>
        </p:nvSpPr>
        <p:spPr>
          <a:xfrm>
            <a:off x="653143" y="1581343"/>
            <a:ext cx="10548869" cy="1175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Task-oriented training:</a:t>
            </a:r>
          </a:p>
          <a:p>
            <a:pPr marL="800100" lvl="1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Retrieval for open-domain question answering (ODQA)</a:t>
            </a:r>
          </a:p>
          <a:p>
            <a:pPr marL="800100" lvl="1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Sentence embeddings for semantic similarity tasks</a:t>
            </a: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81B85C28-6D56-83E5-DBFD-2A21FA396C30}"/>
              </a:ext>
            </a:extLst>
          </p:cNvPr>
          <p:cNvSpPr/>
          <p:nvPr/>
        </p:nvSpPr>
        <p:spPr>
          <a:xfrm>
            <a:off x="8046640" y="3553859"/>
            <a:ext cx="1170601" cy="6009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/>
              <a:t>Model</a:t>
            </a:r>
            <a:endParaRPr kumimoji="1" lang="zh-TW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4A5DCFF-A484-D7F1-4D5F-BA27E361B6E1}"/>
              </a:ext>
            </a:extLst>
          </p:cNvPr>
          <p:cNvSpPr/>
          <p:nvPr/>
        </p:nvSpPr>
        <p:spPr>
          <a:xfrm>
            <a:off x="1219226" y="5238652"/>
            <a:ext cx="1337130" cy="5313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Sentence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B53EF36-08CF-D39C-66E2-185CDD09D9B5}"/>
              </a:ext>
            </a:extLst>
          </p:cNvPr>
          <p:cNvSpPr/>
          <p:nvPr/>
        </p:nvSpPr>
        <p:spPr>
          <a:xfrm>
            <a:off x="1219226" y="3592151"/>
            <a:ext cx="1337130" cy="5313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Query</a:t>
            </a:r>
          </a:p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(a question)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27" name="圓角矩形 26">
            <a:extLst>
              <a:ext uri="{FF2B5EF4-FFF2-40B4-BE49-F238E27FC236}">
                <a16:creationId xmlns:a16="http://schemas.microsoft.com/office/drawing/2014/main" id="{439A50F4-5003-169C-D9E2-9E4F8B9CC89F}"/>
              </a:ext>
            </a:extLst>
          </p:cNvPr>
          <p:cNvSpPr/>
          <p:nvPr/>
        </p:nvSpPr>
        <p:spPr>
          <a:xfrm>
            <a:off x="8046640" y="5194639"/>
            <a:ext cx="1170601" cy="6009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/>
              <a:t>Model</a:t>
            </a:r>
            <a:endParaRPr kumimoji="1" lang="zh-TW" altLang="en-US" dirty="0"/>
          </a:p>
        </p:txBody>
      </p:sp>
      <p:cxnSp>
        <p:nvCxnSpPr>
          <p:cNvPr id="28" name="直線箭頭接點 27">
            <a:extLst>
              <a:ext uri="{FF2B5EF4-FFF2-40B4-BE49-F238E27FC236}">
                <a16:creationId xmlns:a16="http://schemas.microsoft.com/office/drawing/2014/main" id="{4E0AE7D6-3CCF-4A9E-4E88-1C5A85DCC494}"/>
              </a:ext>
            </a:extLst>
          </p:cNvPr>
          <p:cNvCxnSpPr>
            <a:cxnSpLocks/>
          </p:cNvCxnSpPr>
          <p:nvPr/>
        </p:nvCxnSpPr>
        <p:spPr>
          <a:xfrm>
            <a:off x="7553253" y="5504308"/>
            <a:ext cx="43683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37D40A04-8D6B-4B9C-D4AD-9D13A00E23CD}"/>
              </a:ext>
            </a:extLst>
          </p:cNvPr>
          <p:cNvSpPr txBox="1"/>
          <p:nvPr/>
        </p:nvSpPr>
        <p:spPr>
          <a:xfrm>
            <a:off x="9654675" y="5033432"/>
            <a:ext cx="18432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TW" sz="1800" dirty="0">
                <a:solidFill>
                  <a:schemeClr val="tx1"/>
                </a:solidFill>
              </a:rPr>
              <a:t>Finding a semantically similar </a:t>
            </a:r>
            <a:r>
              <a:rPr kumimoji="1" lang="en-US" altLang="zh-TW" sz="1800" dirty="0">
                <a:solidFill>
                  <a:srgbClr val="FF0000"/>
                </a:solidFill>
              </a:rPr>
              <a:t>sentence</a:t>
            </a:r>
          </a:p>
        </p:txBody>
      </p:sp>
      <p:cxnSp>
        <p:nvCxnSpPr>
          <p:cNvPr id="32" name="直線箭頭接點 31">
            <a:extLst>
              <a:ext uri="{FF2B5EF4-FFF2-40B4-BE49-F238E27FC236}">
                <a16:creationId xmlns:a16="http://schemas.microsoft.com/office/drawing/2014/main" id="{0B1A6CCA-4A24-E7D6-B5AD-9FE2E0212D1B}"/>
              </a:ext>
            </a:extLst>
          </p:cNvPr>
          <p:cNvCxnSpPr>
            <a:cxnSpLocks/>
          </p:cNvCxnSpPr>
          <p:nvPr/>
        </p:nvCxnSpPr>
        <p:spPr>
          <a:xfrm>
            <a:off x="9277239" y="5504308"/>
            <a:ext cx="43683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箭頭接點 33">
            <a:extLst>
              <a:ext uri="{FF2B5EF4-FFF2-40B4-BE49-F238E27FC236}">
                <a16:creationId xmlns:a16="http://schemas.microsoft.com/office/drawing/2014/main" id="{27AFD2F2-B8E6-2041-6312-3DB7272C2473}"/>
              </a:ext>
            </a:extLst>
          </p:cNvPr>
          <p:cNvCxnSpPr>
            <a:cxnSpLocks/>
          </p:cNvCxnSpPr>
          <p:nvPr/>
        </p:nvCxnSpPr>
        <p:spPr>
          <a:xfrm>
            <a:off x="9277239" y="3866587"/>
            <a:ext cx="43683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4B4808C1-AB49-7E7C-46CE-76DE4D71EC4D}"/>
              </a:ext>
            </a:extLst>
          </p:cNvPr>
          <p:cNvSpPr txBox="1"/>
          <p:nvPr/>
        </p:nvSpPr>
        <p:spPr>
          <a:xfrm>
            <a:off x="943293" y="4715828"/>
            <a:ext cx="6392399" cy="427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kumimoji="1" lang="en-US" altLang="zh-TW" sz="2000" b="1" dirty="0"/>
              <a:t>Sentence embeddings for semantic similarity tasks</a:t>
            </a: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9131AF2C-11BD-5E13-0B42-7551F095D724}"/>
              </a:ext>
            </a:extLst>
          </p:cNvPr>
          <p:cNvSpPr txBox="1"/>
          <p:nvPr/>
        </p:nvSpPr>
        <p:spPr>
          <a:xfrm>
            <a:off x="943293" y="2948888"/>
            <a:ext cx="7526353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kumimoji="1" lang="en-US" altLang="zh-TW" sz="2000" b="1" dirty="0"/>
              <a:t>Retrieval for open-domain question answering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B33BC23-704E-6D07-54C1-3CDCB6D63017}"/>
              </a:ext>
            </a:extLst>
          </p:cNvPr>
          <p:cNvSpPr/>
          <p:nvPr/>
        </p:nvSpPr>
        <p:spPr>
          <a:xfrm>
            <a:off x="2671250" y="3600931"/>
            <a:ext cx="1337130" cy="53131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Relevant doc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7052D45-F9EB-0BEC-DCA2-F45F2F4787E8}"/>
              </a:ext>
            </a:extLst>
          </p:cNvPr>
          <p:cNvSpPr/>
          <p:nvPr/>
        </p:nvSpPr>
        <p:spPr>
          <a:xfrm>
            <a:off x="4123275" y="3588661"/>
            <a:ext cx="1337130" cy="53131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Irrelevant doc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0FD761-E01F-9C5D-9C0D-B600D1E2688F}"/>
              </a:ext>
            </a:extLst>
          </p:cNvPr>
          <p:cNvSpPr/>
          <p:nvPr/>
        </p:nvSpPr>
        <p:spPr>
          <a:xfrm>
            <a:off x="6144461" y="3600931"/>
            <a:ext cx="1337130" cy="53131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Irrelevant doc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B84505D-4991-67C7-8A8D-C7E129703B81}"/>
              </a:ext>
            </a:extLst>
          </p:cNvPr>
          <p:cNvSpPr txBox="1"/>
          <p:nvPr/>
        </p:nvSpPr>
        <p:spPr>
          <a:xfrm>
            <a:off x="5622773" y="3653338"/>
            <a:ext cx="383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...</a:t>
            </a:r>
            <a:endParaRPr kumimoji="1"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8E8576E-E66D-05FF-36D7-E46E94E326F1}"/>
              </a:ext>
            </a:extLst>
          </p:cNvPr>
          <p:cNvSpPr/>
          <p:nvPr/>
        </p:nvSpPr>
        <p:spPr>
          <a:xfrm>
            <a:off x="2671251" y="5238652"/>
            <a:ext cx="1337130" cy="53131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Relevant</a:t>
            </a:r>
          </a:p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Sentence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FF721FA-B5FF-3CBF-336A-B7A3B8EED3EB}"/>
              </a:ext>
            </a:extLst>
          </p:cNvPr>
          <p:cNvSpPr/>
          <p:nvPr/>
        </p:nvSpPr>
        <p:spPr>
          <a:xfrm>
            <a:off x="4123275" y="5229441"/>
            <a:ext cx="1337130" cy="53131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Irrelevant sentence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270D515-3524-174B-77EB-0F58C0DFB76E}"/>
              </a:ext>
            </a:extLst>
          </p:cNvPr>
          <p:cNvSpPr/>
          <p:nvPr/>
        </p:nvSpPr>
        <p:spPr>
          <a:xfrm>
            <a:off x="6144461" y="5238652"/>
            <a:ext cx="1337130" cy="53131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Irrelevant sentence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F192E8CF-C116-D962-51E8-4A44B7BB9E0D}"/>
              </a:ext>
            </a:extLst>
          </p:cNvPr>
          <p:cNvSpPr txBox="1"/>
          <p:nvPr/>
        </p:nvSpPr>
        <p:spPr>
          <a:xfrm>
            <a:off x="5622773" y="5269419"/>
            <a:ext cx="383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...</a:t>
            </a:r>
            <a:endParaRPr kumimoji="1" lang="zh-TW" alt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261FFE05-B288-3059-6961-4FCB1AC637F5}"/>
              </a:ext>
            </a:extLst>
          </p:cNvPr>
          <p:cNvSpPr txBox="1"/>
          <p:nvPr/>
        </p:nvSpPr>
        <p:spPr>
          <a:xfrm>
            <a:off x="9795406" y="3392652"/>
            <a:ext cx="156182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TW" sz="1800" dirty="0">
                <a:solidFill>
                  <a:schemeClr val="tx1"/>
                </a:solidFill>
              </a:rPr>
              <a:t>Finding a relevant </a:t>
            </a:r>
            <a:r>
              <a:rPr kumimoji="1" lang="en-US" altLang="zh-TW" sz="1800" dirty="0">
                <a:solidFill>
                  <a:srgbClr val="FF0000"/>
                </a:solidFill>
              </a:rPr>
              <a:t>document</a:t>
            </a:r>
          </a:p>
        </p:txBody>
      </p: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98CDFC0E-EABB-C043-2982-419AB5B1A509}"/>
              </a:ext>
            </a:extLst>
          </p:cNvPr>
          <p:cNvCxnSpPr>
            <a:cxnSpLocks/>
          </p:cNvCxnSpPr>
          <p:nvPr/>
        </p:nvCxnSpPr>
        <p:spPr>
          <a:xfrm>
            <a:off x="7553253" y="3866587"/>
            <a:ext cx="43683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6C20C75A-FB11-B154-3B90-7955BDAE3600}"/>
              </a:ext>
            </a:extLst>
          </p:cNvPr>
          <p:cNvSpPr txBox="1"/>
          <p:nvPr/>
        </p:nvSpPr>
        <p:spPr>
          <a:xfrm>
            <a:off x="1097279" y="6272430"/>
            <a:ext cx="10548869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Both approaches are suitable for retrieval (depends on your task for an LLM).</a:t>
            </a:r>
          </a:p>
        </p:txBody>
      </p:sp>
      <p:pic>
        <p:nvPicPr>
          <p:cNvPr id="7" name="圖形 6" descr="資料庫 外框">
            <a:extLst>
              <a:ext uri="{FF2B5EF4-FFF2-40B4-BE49-F238E27FC236}">
                <a16:creationId xmlns:a16="http://schemas.microsoft.com/office/drawing/2014/main" id="{A8F07117-1A49-F55C-0605-A7E0C0FE18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681" y="4280225"/>
            <a:ext cx="457791" cy="457791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1EEC3515-0EC8-FA07-4A3B-B3BCE6D69AEF}"/>
              </a:ext>
            </a:extLst>
          </p:cNvPr>
          <p:cNvSpPr txBox="1"/>
          <p:nvPr/>
        </p:nvSpPr>
        <p:spPr>
          <a:xfrm>
            <a:off x="3228240" y="4334287"/>
            <a:ext cx="168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搜尋規模較大</a:t>
            </a:r>
          </a:p>
        </p:txBody>
      </p:sp>
      <p:sp>
        <p:nvSpPr>
          <p:cNvPr id="12" name="右中括弧 11">
            <a:extLst>
              <a:ext uri="{FF2B5EF4-FFF2-40B4-BE49-F238E27FC236}">
                <a16:creationId xmlns:a16="http://schemas.microsoft.com/office/drawing/2014/main" id="{91D431CB-B109-080A-AAF1-006FEB24E2C1}"/>
              </a:ext>
            </a:extLst>
          </p:cNvPr>
          <p:cNvSpPr/>
          <p:nvPr/>
        </p:nvSpPr>
        <p:spPr>
          <a:xfrm rot="5400000">
            <a:off x="5045271" y="1851693"/>
            <a:ext cx="75256" cy="4750875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F5FEF457-AFE2-BFE2-9178-7CACEB3E511F}"/>
              </a:ext>
            </a:extLst>
          </p:cNvPr>
          <p:cNvSpPr txBox="1"/>
          <p:nvPr/>
        </p:nvSpPr>
        <p:spPr>
          <a:xfrm>
            <a:off x="5250729" y="4358650"/>
            <a:ext cx="168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ea typeface="Microsoft JhengHei" panose="020B0604030504040204" pitchFamily="34" charset="-120"/>
              </a:rPr>
              <a:t>500</a:t>
            </a:r>
            <a:r>
              <a:rPr kumimoji="1" lang="zh-TW" altLang="en-US" dirty="0">
                <a:ea typeface="Microsoft JhengHei" panose="020B0604030504040204" pitchFamily="34" charset="-120"/>
              </a:rPr>
              <a:t>萬篇</a:t>
            </a:r>
            <a:endParaRPr kumimoji="1" lang="en-US" altLang="zh-TW" dirty="0">
              <a:ea typeface="Microsoft JhengHei" panose="020B0604030504040204" pitchFamily="34" charset="-120"/>
            </a:endParaRPr>
          </a:p>
        </p:txBody>
      </p:sp>
      <p:sp>
        <p:nvSpPr>
          <p:cNvPr id="16" name="右中括弧 15">
            <a:extLst>
              <a:ext uri="{FF2B5EF4-FFF2-40B4-BE49-F238E27FC236}">
                <a16:creationId xmlns:a16="http://schemas.microsoft.com/office/drawing/2014/main" id="{AF6C8A6F-46AE-1EB4-C3A5-54EBD8F29ED7}"/>
              </a:ext>
            </a:extLst>
          </p:cNvPr>
          <p:cNvSpPr/>
          <p:nvPr/>
        </p:nvSpPr>
        <p:spPr>
          <a:xfrm rot="5400000">
            <a:off x="5045270" y="3486008"/>
            <a:ext cx="75256" cy="4750875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1BCDDF0F-0968-9A22-B0BD-4E7F42E36728}"/>
              </a:ext>
            </a:extLst>
          </p:cNvPr>
          <p:cNvSpPr txBox="1"/>
          <p:nvPr/>
        </p:nvSpPr>
        <p:spPr>
          <a:xfrm>
            <a:off x="4464261" y="5861445"/>
            <a:ext cx="168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ea typeface="Microsoft JhengHei" panose="020B0604030504040204" pitchFamily="34" charset="-120"/>
              </a:rPr>
              <a:t>20 sentences</a:t>
            </a:r>
          </a:p>
        </p:txBody>
      </p:sp>
    </p:spTree>
    <p:extLst>
      <p:ext uri="{BB962C8B-B14F-4D97-AF65-F5344CB8AC3E}">
        <p14:creationId xmlns:p14="http://schemas.microsoft.com/office/powerpoint/2010/main" val="200532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 animBg="1"/>
      <p:bldP spid="20" grpId="0" animBg="1"/>
      <p:bldP spid="22" grpId="0" animBg="1"/>
      <p:bldP spid="27" grpId="0" animBg="1"/>
      <p:bldP spid="29" grpId="0"/>
      <p:bldP spid="38" grpId="0"/>
      <p:bldP spid="39" grpId="0"/>
      <p:bldP spid="3" grpId="0" animBg="1"/>
      <p:bldP spid="8" grpId="0" animBg="1"/>
      <p:bldP spid="9" grpId="0" animBg="1"/>
      <p:bldP spid="10" grpId="0"/>
      <p:bldP spid="14" grpId="0" animBg="1"/>
      <p:bldP spid="18" grpId="0" animBg="1"/>
      <p:bldP spid="19" grpId="0" animBg="1"/>
      <p:bldP spid="23" grpId="0"/>
      <p:bldP spid="24" grpId="0"/>
      <p:bldP spid="26" grpId="0"/>
      <p:bldP spid="11" grpId="0"/>
      <p:bldP spid="12" grpId="0" animBg="1"/>
      <p:bldP spid="15" grpId="0"/>
      <p:bldP spid="16" grpId="0" animBg="1"/>
      <p:bldP spid="17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7E53F56-0DEF-1495-B4BF-6C9A3E54F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54315B5-F45D-A5DE-CCC7-0403A6EE8203}"/>
              </a:ext>
            </a:extLst>
          </p:cNvPr>
          <p:cNvSpPr txBox="1"/>
          <p:nvPr/>
        </p:nvSpPr>
        <p:spPr>
          <a:xfrm>
            <a:off x="805543" y="2449794"/>
            <a:ext cx="10058399" cy="18060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TW" sz="4800" dirty="0"/>
              <a:t>Sentence embeddings for semantic similarity tasks</a:t>
            </a:r>
          </a:p>
        </p:txBody>
      </p:sp>
    </p:spTree>
    <p:extLst>
      <p:ext uri="{BB962C8B-B14F-4D97-AF65-F5344CB8AC3E}">
        <p14:creationId xmlns:p14="http://schemas.microsoft.com/office/powerpoint/2010/main" val="372177716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26890D-5A01-602A-31D7-368D9614D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BERT as a Cross Encoder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C1370E6-AA76-2D7F-7B47-66D688B50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1977E2D-1957-0581-3C9C-E9811B18F567}"/>
              </a:ext>
            </a:extLst>
          </p:cNvPr>
          <p:cNvSpPr txBox="1"/>
          <p:nvPr/>
        </p:nvSpPr>
        <p:spPr>
          <a:xfrm>
            <a:off x="1208022" y="6440917"/>
            <a:ext cx="996189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100" dirty="0"/>
              <a:t>Devlin, J., Chang, M.W., Lee, K., &amp; Toutanova, K. (2019). BERT: Pre-training of Deep Bidirectional Transformers for Language Understanding. NAACL 2019.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2354267-5C1F-8564-8E4D-B25CD3284F0E}"/>
              </a:ext>
            </a:extLst>
          </p:cNvPr>
          <p:cNvSpPr/>
          <p:nvPr/>
        </p:nvSpPr>
        <p:spPr>
          <a:xfrm>
            <a:off x="5951930" y="3222838"/>
            <a:ext cx="5384027" cy="71845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BERT</a:t>
            </a:r>
            <a:endParaRPr kumimoji="1" lang="zh-TW" altLang="en-US" dirty="0"/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8AAF6B32-B85F-FC29-2E4A-9BD7144C0359}"/>
              </a:ext>
            </a:extLst>
          </p:cNvPr>
          <p:cNvSpPr/>
          <p:nvPr/>
        </p:nvSpPr>
        <p:spPr>
          <a:xfrm>
            <a:off x="6595180" y="4573456"/>
            <a:ext cx="662782" cy="359228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Tok1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C18DD3AA-6379-252D-FCE6-1B3B3C7D2773}"/>
              </a:ext>
            </a:extLst>
          </p:cNvPr>
          <p:cNvSpPr/>
          <p:nvPr/>
        </p:nvSpPr>
        <p:spPr>
          <a:xfrm>
            <a:off x="5898140" y="4573456"/>
            <a:ext cx="662782" cy="359228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[CLS]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D5C941FB-7ED7-E58C-AC0D-D0BAAA2120D1}"/>
              </a:ext>
            </a:extLst>
          </p:cNvPr>
          <p:cNvSpPr/>
          <p:nvPr/>
        </p:nvSpPr>
        <p:spPr>
          <a:xfrm>
            <a:off x="7586592" y="4573456"/>
            <a:ext cx="662782" cy="359228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 err="1">
                <a:solidFill>
                  <a:schemeClr val="tx1"/>
                </a:solidFill>
              </a:rPr>
              <a:t>TokN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3AC5EF71-FA96-B448-D0A5-B480BD97B3E1}"/>
              </a:ext>
            </a:extLst>
          </p:cNvPr>
          <p:cNvSpPr txBox="1"/>
          <p:nvPr/>
        </p:nvSpPr>
        <p:spPr>
          <a:xfrm>
            <a:off x="7137631" y="4574238"/>
            <a:ext cx="57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...</a:t>
            </a:r>
            <a:endParaRPr kumimoji="1" lang="zh-TW" altLang="en-US" sz="1600" dirty="0"/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0C47789E-C587-38F2-D888-FEA0B9A6E703}"/>
              </a:ext>
            </a:extLst>
          </p:cNvPr>
          <p:cNvSpPr/>
          <p:nvPr/>
        </p:nvSpPr>
        <p:spPr>
          <a:xfrm>
            <a:off x="8279684" y="4572667"/>
            <a:ext cx="662782" cy="359228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[SEP]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3FE35319-D19D-BCB0-4FF4-E8E5E7076CAB}"/>
              </a:ext>
            </a:extLst>
          </p:cNvPr>
          <p:cNvSpPr/>
          <p:nvPr/>
        </p:nvSpPr>
        <p:spPr>
          <a:xfrm>
            <a:off x="8993067" y="4573456"/>
            <a:ext cx="662782" cy="359228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Tok1’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2807A20E-6B91-6098-B0CF-DA487C835C67}"/>
              </a:ext>
            </a:extLst>
          </p:cNvPr>
          <p:cNvSpPr/>
          <p:nvPr/>
        </p:nvSpPr>
        <p:spPr>
          <a:xfrm>
            <a:off x="9984479" y="4573456"/>
            <a:ext cx="662782" cy="359228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 err="1">
                <a:solidFill>
                  <a:schemeClr val="tx1"/>
                </a:solidFill>
              </a:rPr>
              <a:t>TokN</a:t>
            </a:r>
            <a:r>
              <a:rPr kumimoji="1" lang="en-US" altLang="zh-TW" sz="1200" dirty="0">
                <a:solidFill>
                  <a:schemeClr val="tx1"/>
                </a:solidFill>
              </a:rPr>
              <a:t>’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100EF7F6-B025-B710-0BFE-EA4DA96D7B79}"/>
              </a:ext>
            </a:extLst>
          </p:cNvPr>
          <p:cNvSpPr txBox="1"/>
          <p:nvPr/>
        </p:nvSpPr>
        <p:spPr>
          <a:xfrm>
            <a:off x="9535518" y="4574238"/>
            <a:ext cx="57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...</a:t>
            </a:r>
            <a:endParaRPr kumimoji="1" lang="zh-TW" altLang="en-US" sz="1600" dirty="0"/>
          </a:p>
        </p:txBody>
      </p: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ADB7FC24-EB54-6F24-139E-0803D6463D87}"/>
              </a:ext>
            </a:extLst>
          </p:cNvPr>
          <p:cNvSpPr/>
          <p:nvPr/>
        </p:nvSpPr>
        <p:spPr>
          <a:xfrm>
            <a:off x="10677571" y="4572667"/>
            <a:ext cx="662782" cy="359228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[SEP]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圓角矩形 22">
            <a:extLst>
              <a:ext uri="{FF2B5EF4-FFF2-40B4-BE49-F238E27FC236}">
                <a16:creationId xmlns:a16="http://schemas.microsoft.com/office/drawing/2014/main" id="{7162A55E-095F-40C5-4DE3-0F0C3A808876}"/>
              </a:ext>
            </a:extLst>
          </p:cNvPr>
          <p:cNvSpPr/>
          <p:nvPr/>
        </p:nvSpPr>
        <p:spPr>
          <a:xfrm>
            <a:off x="5898140" y="2113727"/>
            <a:ext cx="662782" cy="359228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H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[CLS]</a:t>
            </a:r>
            <a:endParaRPr kumimoji="1" lang="zh-TW" altLang="en-US" sz="1200" baseline="-25000" dirty="0">
              <a:solidFill>
                <a:schemeClr val="tx1"/>
              </a:solidFill>
            </a:endParaRPr>
          </a:p>
        </p:txBody>
      </p: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41C119ED-550B-C54E-7E53-1DBE4E828ADA}"/>
              </a:ext>
            </a:extLst>
          </p:cNvPr>
          <p:cNvCxnSpPr>
            <a:cxnSpLocks/>
          </p:cNvCxnSpPr>
          <p:nvPr/>
        </p:nvCxnSpPr>
        <p:spPr>
          <a:xfrm flipV="1">
            <a:off x="6254228" y="2580581"/>
            <a:ext cx="0" cy="51162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34C7B6B8-8BB5-2291-673F-419F87C0C681}"/>
              </a:ext>
            </a:extLst>
          </p:cNvPr>
          <p:cNvCxnSpPr>
            <a:cxnSpLocks/>
          </p:cNvCxnSpPr>
          <p:nvPr/>
        </p:nvCxnSpPr>
        <p:spPr>
          <a:xfrm flipH="1" flipV="1">
            <a:off x="6251727" y="4033823"/>
            <a:ext cx="2501" cy="4634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箭頭接點 27">
            <a:extLst>
              <a:ext uri="{FF2B5EF4-FFF2-40B4-BE49-F238E27FC236}">
                <a16:creationId xmlns:a16="http://schemas.microsoft.com/office/drawing/2014/main" id="{60D060A4-CCD5-5A41-7DD5-99197546388D}"/>
              </a:ext>
            </a:extLst>
          </p:cNvPr>
          <p:cNvCxnSpPr>
            <a:cxnSpLocks/>
          </p:cNvCxnSpPr>
          <p:nvPr/>
        </p:nvCxnSpPr>
        <p:spPr>
          <a:xfrm flipH="1" flipV="1">
            <a:off x="6951268" y="4033823"/>
            <a:ext cx="2501" cy="4634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箭頭接點 29">
            <a:extLst>
              <a:ext uri="{FF2B5EF4-FFF2-40B4-BE49-F238E27FC236}">
                <a16:creationId xmlns:a16="http://schemas.microsoft.com/office/drawing/2014/main" id="{70007209-47E4-AB44-FEB0-46435A496189}"/>
              </a:ext>
            </a:extLst>
          </p:cNvPr>
          <p:cNvCxnSpPr>
            <a:cxnSpLocks/>
          </p:cNvCxnSpPr>
          <p:nvPr/>
        </p:nvCxnSpPr>
        <p:spPr>
          <a:xfrm flipH="1" flipV="1">
            <a:off x="7941429" y="4033823"/>
            <a:ext cx="2501" cy="4634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箭頭接點 30">
            <a:extLst>
              <a:ext uri="{FF2B5EF4-FFF2-40B4-BE49-F238E27FC236}">
                <a16:creationId xmlns:a16="http://schemas.microsoft.com/office/drawing/2014/main" id="{52DF1A2C-DB6B-49AB-C6BE-83950BB58EC1}"/>
              </a:ext>
            </a:extLst>
          </p:cNvPr>
          <p:cNvCxnSpPr>
            <a:cxnSpLocks/>
          </p:cNvCxnSpPr>
          <p:nvPr/>
        </p:nvCxnSpPr>
        <p:spPr>
          <a:xfrm flipH="1" flipV="1">
            <a:off x="8643943" y="4033823"/>
            <a:ext cx="2501" cy="4634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箭頭接點 31">
            <a:extLst>
              <a:ext uri="{FF2B5EF4-FFF2-40B4-BE49-F238E27FC236}">
                <a16:creationId xmlns:a16="http://schemas.microsoft.com/office/drawing/2014/main" id="{FF5A146C-BCDE-C521-AF2E-B20335FA0398}"/>
              </a:ext>
            </a:extLst>
          </p:cNvPr>
          <p:cNvCxnSpPr>
            <a:cxnSpLocks/>
          </p:cNvCxnSpPr>
          <p:nvPr/>
        </p:nvCxnSpPr>
        <p:spPr>
          <a:xfrm flipH="1" flipV="1">
            <a:off x="9343956" y="4033823"/>
            <a:ext cx="2501" cy="4634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箭頭接點 32">
            <a:extLst>
              <a:ext uri="{FF2B5EF4-FFF2-40B4-BE49-F238E27FC236}">
                <a16:creationId xmlns:a16="http://schemas.microsoft.com/office/drawing/2014/main" id="{00D94E71-C14E-DEC2-0533-C800DB3C20C2}"/>
              </a:ext>
            </a:extLst>
          </p:cNvPr>
          <p:cNvCxnSpPr>
            <a:cxnSpLocks/>
          </p:cNvCxnSpPr>
          <p:nvPr/>
        </p:nvCxnSpPr>
        <p:spPr>
          <a:xfrm flipH="1" flipV="1">
            <a:off x="10338066" y="4033823"/>
            <a:ext cx="2501" cy="4634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箭頭接點 33">
            <a:extLst>
              <a:ext uri="{FF2B5EF4-FFF2-40B4-BE49-F238E27FC236}">
                <a16:creationId xmlns:a16="http://schemas.microsoft.com/office/drawing/2014/main" id="{7EBCFB30-C06D-498A-B317-188861D7EF85}"/>
              </a:ext>
            </a:extLst>
          </p:cNvPr>
          <p:cNvCxnSpPr>
            <a:cxnSpLocks/>
          </p:cNvCxnSpPr>
          <p:nvPr/>
        </p:nvCxnSpPr>
        <p:spPr>
          <a:xfrm flipH="1" flipV="1">
            <a:off x="11033659" y="4033823"/>
            <a:ext cx="2501" cy="4634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右大括弧 34">
            <a:extLst>
              <a:ext uri="{FF2B5EF4-FFF2-40B4-BE49-F238E27FC236}">
                <a16:creationId xmlns:a16="http://schemas.microsoft.com/office/drawing/2014/main" id="{A0CBA2DE-F5C3-D1E2-D3D6-259EE66540B4}"/>
              </a:ext>
            </a:extLst>
          </p:cNvPr>
          <p:cNvSpPr/>
          <p:nvPr/>
        </p:nvSpPr>
        <p:spPr>
          <a:xfrm rot="5400000">
            <a:off x="7346615" y="4474513"/>
            <a:ext cx="261609" cy="1535115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6" name="右大括弧 35">
            <a:extLst>
              <a:ext uri="{FF2B5EF4-FFF2-40B4-BE49-F238E27FC236}">
                <a16:creationId xmlns:a16="http://schemas.microsoft.com/office/drawing/2014/main" id="{013B226D-CFF0-7253-C5D8-620FE9943E2C}"/>
              </a:ext>
            </a:extLst>
          </p:cNvPr>
          <p:cNvSpPr/>
          <p:nvPr/>
        </p:nvSpPr>
        <p:spPr>
          <a:xfrm rot="5400000">
            <a:off x="9744503" y="4474513"/>
            <a:ext cx="261609" cy="1535115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EAEAFDA3-0949-B457-0131-529D6F5A0F63}"/>
              </a:ext>
            </a:extLst>
          </p:cNvPr>
          <p:cNvSpPr txBox="1"/>
          <p:nvPr/>
        </p:nvSpPr>
        <p:spPr>
          <a:xfrm>
            <a:off x="6758232" y="5391847"/>
            <a:ext cx="142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Sentence A</a:t>
            </a:r>
            <a:endParaRPr kumimoji="1" lang="zh-TW" altLang="en-US" dirty="0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FFAFB35F-1FF9-1D08-A8A3-E464A08A4BC7}"/>
              </a:ext>
            </a:extLst>
          </p:cNvPr>
          <p:cNvSpPr txBox="1"/>
          <p:nvPr/>
        </p:nvSpPr>
        <p:spPr>
          <a:xfrm>
            <a:off x="9171896" y="5391847"/>
            <a:ext cx="142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Sentence B</a:t>
            </a:r>
            <a:endParaRPr kumimoji="1" lang="zh-TW" altLang="en-US" dirty="0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EA65E73E-E24C-74A4-F36B-04134C687218}"/>
              </a:ext>
            </a:extLst>
          </p:cNvPr>
          <p:cNvSpPr txBox="1"/>
          <p:nvPr/>
        </p:nvSpPr>
        <p:spPr>
          <a:xfrm>
            <a:off x="659271" y="2102925"/>
            <a:ext cx="4713199" cy="2814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For a cross encoder, representations of two input sentences are attended with each other.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The hidden state of [CLS] represents </a:t>
            </a:r>
            <a:r>
              <a:rPr kumimoji="1" lang="en-US" altLang="zh-TW" sz="2000" dirty="0">
                <a:solidFill>
                  <a:srgbClr val="FF0000"/>
                </a:solidFill>
              </a:rPr>
              <a:t>the relationship between the two input sentences</a:t>
            </a:r>
            <a:r>
              <a:rPr kumimoji="1" lang="en-US" altLang="zh-TW" sz="2000" dirty="0"/>
              <a:t>.</a:t>
            </a:r>
          </a:p>
        </p:txBody>
      </p:sp>
      <p:cxnSp>
        <p:nvCxnSpPr>
          <p:cNvPr id="55" name="直線箭頭接點 54">
            <a:extLst>
              <a:ext uri="{FF2B5EF4-FFF2-40B4-BE49-F238E27FC236}">
                <a16:creationId xmlns:a16="http://schemas.microsoft.com/office/drawing/2014/main" id="{1FFADB4F-0ED8-BA4B-96F7-F0C8DBCE4692}"/>
              </a:ext>
            </a:extLst>
          </p:cNvPr>
          <p:cNvCxnSpPr>
            <a:cxnSpLocks/>
          </p:cNvCxnSpPr>
          <p:nvPr/>
        </p:nvCxnSpPr>
        <p:spPr>
          <a:xfrm flipV="1">
            <a:off x="6951268" y="2580581"/>
            <a:ext cx="0" cy="51162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箭頭接點 55">
            <a:extLst>
              <a:ext uri="{FF2B5EF4-FFF2-40B4-BE49-F238E27FC236}">
                <a16:creationId xmlns:a16="http://schemas.microsoft.com/office/drawing/2014/main" id="{CA4BC356-621F-40D4-4754-F1E3A21744BE}"/>
              </a:ext>
            </a:extLst>
          </p:cNvPr>
          <p:cNvCxnSpPr>
            <a:cxnSpLocks/>
          </p:cNvCxnSpPr>
          <p:nvPr/>
        </p:nvCxnSpPr>
        <p:spPr>
          <a:xfrm flipV="1">
            <a:off x="7941429" y="2580581"/>
            <a:ext cx="0" cy="51162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箭頭接點 56">
            <a:extLst>
              <a:ext uri="{FF2B5EF4-FFF2-40B4-BE49-F238E27FC236}">
                <a16:creationId xmlns:a16="http://schemas.microsoft.com/office/drawing/2014/main" id="{87567D40-35D3-CF12-ECE8-9842C510F93A}"/>
              </a:ext>
            </a:extLst>
          </p:cNvPr>
          <p:cNvCxnSpPr>
            <a:cxnSpLocks/>
          </p:cNvCxnSpPr>
          <p:nvPr/>
        </p:nvCxnSpPr>
        <p:spPr>
          <a:xfrm flipV="1">
            <a:off x="8643943" y="2580581"/>
            <a:ext cx="0" cy="51162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箭頭接點 57">
            <a:extLst>
              <a:ext uri="{FF2B5EF4-FFF2-40B4-BE49-F238E27FC236}">
                <a16:creationId xmlns:a16="http://schemas.microsoft.com/office/drawing/2014/main" id="{2AA000E6-C7CF-A08D-119A-57227E287677}"/>
              </a:ext>
            </a:extLst>
          </p:cNvPr>
          <p:cNvCxnSpPr>
            <a:cxnSpLocks/>
          </p:cNvCxnSpPr>
          <p:nvPr/>
        </p:nvCxnSpPr>
        <p:spPr>
          <a:xfrm flipV="1">
            <a:off x="9343956" y="2580581"/>
            <a:ext cx="0" cy="51162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箭頭接點 59">
            <a:extLst>
              <a:ext uri="{FF2B5EF4-FFF2-40B4-BE49-F238E27FC236}">
                <a16:creationId xmlns:a16="http://schemas.microsoft.com/office/drawing/2014/main" id="{0D7627B4-1206-3338-6B80-29D9AFD3A258}"/>
              </a:ext>
            </a:extLst>
          </p:cNvPr>
          <p:cNvCxnSpPr>
            <a:cxnSpLocks/>
          </p:cNvCxnSpPr>
          <p:nvPr/>
        </p:nvCxnSpPr>
        <p:spPr>
          <a:xfrm flipV="1">
            <a:off x="10352194" y="2580581"/>
            <a:ext cx="0" cy="51162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箭頭接點 60">
            <a:extLst>
              <a:ext uri="{FF2B5EF4-FFF2-40B4-BE49-F238E27FC236}">
                <a16:creationId xmlns:a16="http://schemas.microsoft.com/office/drawing/2014/main" id="{F9100CB5-3D81-4D2F-F419-1D097E4C2F82}"/>
              </a:ext>
            </a:extLst>
          </p:cNvPr>
          <p:cNvCxnSpPr>
            <a:cxnSpLocks/>
          </p:cNvCxnSpPr>
          <p:nvPr/>
        </p:nvCxnSpPr>
        <p:spPr>
          <a:xfrm flipV="1">
            <a:off x="11033659" y="2580581"/>
            <a:ext cx="0" cy="51162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圓角矩形 61">
            <a:extLst>
              <a:ext uri="{FF2B5EF4-FFF2-40B4-BE49-F238E27FC236}">
                <a16:creationId xmlns:a16="http://schemas.microsoft.com/office/drawing/2014/main" id="{E39AD20A-31D0-2BEA-9A04-D4A1331EBAA7}"/>
              </a:ext>
            </a:extLst>
          </p:cNvPr>
          <p:cNvSpPr/>
          <p:nvPr/>
        </p:nvSpPr>
        <p:spPr>
          <a:xfrm>
            <a:off x="6595180" y="2113727"/>
            <a:ext cx="662782" cy="359228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H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1</a:t>
            </a:r>
            <a:endParaRPr kumimoji="1" lang="zh-TW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63" name="圓角矩形 62">
            <a:extLst>
              <a:ext uri="{FF2B5EF4-FFF2-40B4-BE49-F238E27FC236}">
                <a16:creationId xmlns:a16="http://schemas.microsoft.com/office/drawing/2014/main" id="{7FD6EAAF-9123-732E-A453-6EE371E9B550}"/>
              </a:ext>
            </a:extLst>
          </p:cNvPr>
          <p:cNvSpPr/>
          <p:nvPr/>
        </p:nvSpPr>
        <p:spPr>
          <a:xfrm>
            <a:off x="7585341" y="2113727"/>
            <a:ext cx="662782" cy="359228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H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N</a:t>
            </a:r>
            <a:endParaRPr kumimoji="1" lang="zh-TW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64" name="圓角矩形 63">
            <a:extLst>
              <a:ext uri="{FF2B5EF4-FFF2-40B4-BE49-F238E27FC236}">
                <a16:creationId xmlns:a16="http://schemas.microsoft.com/office/drawing/2014/main" id="{D543061E-BDE4-8F9D-F915-428BF3F280A8}"/>
              </a:ext>
            </a:extLst>
          </p:cNvPr>
          <p:cNvSpPr/>
          <p:nvPr/>
        </p:nvSpPr>
        <p:spPr>
          <a:xfrm>
            <a:off x="8292470" y="2113727"/>
            <a:ext cx="662782" cy="359228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H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[SEP]</a:t>
            </a:r>
            <a:endParaRPr kumimoji="1" lang="zh-TW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65" name="圓角矩形 64">
            <a:extLst>
              <a:ext uri="{FF2B5EF4-FFF2-40B4-BE49-F238E27FC236}">
                <a16:creationId xmlns:a16="http://schemas.microsoft.com/office/drawing/2014/main" id="{3D38859B-8175-7612-86C2-E0032A67DBF9}"/>
              </a:ext>
            </a:extLst>
          </p:cNvPr>
          <p:cNvSpPr/>
          <p:nvPr/>
        </p:nvSpPr>
        <p:spPr>
          <a:xfrm>
            <a:off x="9004464" y="2109983"/>
            <a:ext cx="662782" cy="359228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H’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1</a:t>
            </a:r>
            <a:endParaRPr kumimoji="1" lang="zh-TW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66" name="圓角矩形 65">
            <a:extLst>
              <a:ext uri="{FF2B5EF4-FFF2-40B4-BE49-F238E27FC236}">
                <a16:creationId xmlns:a16="http://schemas.microsoft.com/office/drawing/2014/main" id="{350B921B-462C-80E9-0FB6-36416540EAD4}"/>
              </a:ext>
            </a:extLst>
          </p:cNvPr>
          <p:cNvSpPr/>
          <p:nvPr/>
        </p:nvSpPr>
        <p:spPr>
          <a:xfrm>
            <a:off x="10686280" y="2118049"/>
            <a:ext cx="662782" cy="359228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H’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[SEP]</a:t>
            </a:r>
            <a:endParaRPr kumimoji="1" lang="zh-TW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67" name="圓角矩形 66">
            <a:extLst>
              <a:ext uri="{FF2B5EF4-FFF2-40B4-BE49-F238E27FC236}">
                <a16:creationId xmlns:a16="http://schemas.microsoft.com/office/drawing/2014/main" id="{EFDF9194-E4B9-3E9E-D5C6-340777668B37}"/>
              </a:ext>
            </a:extLst>
          </p:cNvPr>
          <p:cNvSpPr/>
          <p:nvPr/>
        </p:nvSpPr>
        <p:spPr>
          <a:xfrm>
            <a:off x="9984479" y="2109983"/>
            <a:ext cx="662782" cy="359228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H’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N</a:t>
            </a:r>
            <a:endParaRPr kumimoji="1" lang="zh-TW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B244BDCD-45EF-FA27-4E3F-44DFE7B15E9E}"/>
              </a:ext>
            </a:extLst>
          </p:cNvPr>
          <p:cNvSpPr txBox="1"/>
          <p:nvPr/>
        </p:nvSpPr>
        <p:spPr>
          <a:xfrm>
            <a:off x="7144442" y="2102925"/>
            <a:ext cx="57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...</a:t>
            </a:r>
            <a:endParaRPr kumimoji="1" lang="zh-TW" altLang="en-US" sz="1600" dirty="0"/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E991BD5A-C936-895F-9DCE-CA8209ED2CD8}"/>
              </a:ext>
            </a:extLst>
          </p:cNvPr>
          <p:cNvSpPr txBox="1"/>
          <p:nvPr/>
        </p:nvSpPr>
        <p:spPr>
          <a:xfrm>
            <a:off x="9551295" y="2102925"/>
            <a:ext cx="57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...</a:t>
            </a:r>
            <a:endParaRPr kumimoji="1"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831880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FB4493-D5EC-961C-A417-2FA1E3ACF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Cross-encoder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速度問題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6D51B1B-8198-F19A-80E9-83E24684F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A67104F-2804-414B-C6D7-956C8DA25044}"/>
              </a:ext>
            </a:extLst>
          </p:cNvPr>
          <p:cNvSpPr txBox="1"/>
          <p:nvPr/>
        </p:nvSpPr>
        <p:spPr>
          <a:xfrm>
            <a:off x="4173688" y="5271347"/>
            <a:ext cx="7517958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For 10,000 sentence pairs: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Cross encoders: n·(n−1)/2 = </a:t>
            </a:r>
            <a:r>
              <a:rPr kumimoji="1" lang="en-US" altLang="zh-TW" sz="2000" dirty="0">
                <a:solidFill>
                  <a:srgbClr val="FF0000"/>
                </a:solidFill>
              </a:rPr>
              <a:t>49,995,000</a:t>
            </a:r>
            <a:r>
              <a:rPr kumimoji="1" lang="en-US" altLang="zh-TW" sz="2000" dirty="0"/>
              <a:t> inference times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C9721CD-EFD0-D2F2-D423-AB5CFD928F89}"/>
              </a:ext>
            </a:extLst>
          </p:cNvPr>
          <p:cNvSpPr/>
          <p:nvPr/>
        </p:nvSpPr>
        <p:spPr>
          <a:xfrm>
            <a:off x="938220" y="3119091"/>
            <a:ext cx="2748642" cy="61981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Cross encoder</a:t>
            </a:r>
            <a:endParaRPr kumimoji="1" lang="zh-TW" altLang="en-US" dirty="0"/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8758E4BF-305B-C02B-3B94-CA2A2BAB7605}"/>
              </a:ext>
            </a:extLst>
          </p:cNvPr>
          <p:cNvSpPr/>
          <p:nvPr/>
        </p:nvSpPr>
        <p:spPr>
          <a:xfrm>
            <a:off x="854244" y="4133710"/>
            <a:ext cx="745770" cy="35922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Sent1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97F88829-CDF5-DBD7-7E58-EDC980F58E21}"/>
              </a:ext>
            </a:extLst>
          </p:cNvPr>
          <p:cNvSpPr/>
          <p:nvPr/>
        </p:nvSpPr>
        <p:spPr>
          <a:xfrm>
            <a:off x="2353192" y="4133710"/>
            <a:ext cx="745770" cy="359228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Sent2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3156B9DA-99BB-ABC4-2255-688DBBB5C8C2}"/>
              </a:ext>
            </a:extLst>
          </p:cNvPr>
          <p:cNvSpPr/>
          <p:nvPr/>
        </p:nvSpPr>
        <p:spPr>
          <a:xfrm>
            <a:off x="1649170" y="4133710"/>
            <a:ext cx="654866" cy="359228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100" dirty="0">
                <a:solidFill>
                  <a:schemeClr val="tx1"/>
                </a:solidFill>
              </a:rPr>
              <a:t>[SEP]</a:t>
            </a:r>
            <a:endParaRPr kumimoji="1" lang="zh-TW" altLang="en-US" sz="1100" dirty="0">
              <a:solidFill>
                <a:schemeClr val="tx1"/>
              </a:solidFill>
            </a:endParaRP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2024C15B-960C-9286-652A-DF2131307012}"/>
              </a:ext>
            </a:extLst>
          </p:cNvPr>
          <p:cNvSpPr/>
          <p:nvPr/>
        </p:nvSpPr>
        <p:spPr>
          <a:xfrm>
            <a:off x="3148117" y="4133710"/>
            <a:ext cx="654866" cy="359228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100" dirty="0">
                <a:solidFill>
                  <a:schemeClr val="tx1"/>
                </a:solidFill>
              </a:rPr>
              <a:t>[SEP]</a:t>
            </a:r>
            <a:endParaRPr kumimoji="1" lang="zh-TW" altLang="en-US" sz="1100" dirty="0">
              <a:solidFill>
                <a:schemeClr val="tx1"/>
              </a:solidFill>
            </a:endParaRPr>
          </a:p>
        </p:txBody>
      </p: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DFAEECA5-7514-7E74-D0A1-AFE1AB48524B}"/>
              </a:ext>
            </a:extLst>
          </p:cNvPr>
          <p:cNvCxnSpPr>
            <a:cxnSpLocks/>
          </p:cNvCxnSpPr>
          <p:nvPr/>
        </p:nvCxnSpPr>
        <p:spPr>
          <a:xfrm flipV="1">
            <a:off x="2342476" y="3825995"/>
            <a:ext cx="0" cy="23297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2A7F7C3D-2647-2430-3884-6C5890F755D6}"/>
              </a:ext>
            </a:extLst>
          </p:cNvPr>
          <p:cNvCxnSpPr>
            <a:cxnSpLocks/>
          </p:cNvCxnSpPr>
          <p:nvPr/>
        </p:nvCxnSpPr>
        <p:spPr>
          <a:xfrm flipV="1">
            <a:off x="2342476" y="2802740"/>
            <a:ext cx="0" cy="23297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4EE60082-702C-9556-682E-24794436000B}"/>
              </a:ext>
            </a:extLst>
          </p:cNvPr>
          <p:cNvSpPr/>
          <p:nvPr/>
        </p:nvSpPr>
        <p:spPr>
          <a:xfrm>
            <a:off x="1602223" y="2291108"/>
            <a:ext cx="1480505" cy="433182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Classification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pic>
        <p:nvPicPr>
          <p:cNvPr id="14" name="圖形 13" descr="資料庫 外框">
            <a:extLst>
              <a:ext uri="{FF2B5EF4-FFF2-40B4-BE49-F238E27FC236}">
                <a16:creationId xmlns:a16="http://schemas.microsoft.com/office/drawing/2014/main" id="{4CDBC394-534C-FF75-66DA-EACB2B05B2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9018" y="2066505"/>
            <a:ext cx="3028587" cy="3028587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0FD7C071-2324-BC15-6CBB-97ABCE60CCB7}"/>
              </a:ext>
            </a:extLst>
          </p:cNvPr>
          <p:cNvSpPr txBox="1"/>
          <p:nvPr/>
        </p:nvSpPr>
        <p:spPr>
          <a:xfrm>
            <a:off x="8996391" y="1921776"/>
            <a:ext cx="2046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10,000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個句子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⬇️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A34F8961-5266-789A-E4BB-59B48AEA8604}"/>
              </a:ext>
            </a:extLst>
          </p:cNvPr>
          <p:cNvSpPr/>
          <p:nvPr/>
        </p:nvSpPr>
        <p:spPr>
          <a:xfrm>
            <a:off x="4756583" y="3349620"/>
            <a:ext cx="2886666" cy="47637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20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頭痛可能的原因</a:t>
            </a:r>
          </a:p>
        </p:txBody>
      </p:sp>
      <p:cxnSp>
        <p:nvCxnSpPr>
          <p:cNvPr id="17" name="直線箭頭接點 16">
            <a:extLst>
              <a:ext uri="{FF2B5EF4-FFF2-40B4-BE49-F238E27FC236}">
                <a16:creationId xmlns:a16="http://schemas.microsoft.com/office/drawing/2014/main" id="{4CCE1875-C651-D417-45A3-CC3D86E0EEDA}"/>
              </a:ext>
            </a:extLst>
          </p:cNvPr>
          <p:cNvCxnSpPr>
            <a:cxnSpLocks/>
          </p:cNvCxnSpPr>
          <p:nvPr/>
        </p:nvCxnSpPr>
        <p:spPr>
          <a:xfrm>
            <a:off x="7932667" y="3607368"/>
            <a:ext cx="78247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976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5" grpId="0"/>
      <p:bldP spid="16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7ECF12-1319-3DDF-CD1A-054B99922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Sentence-BERT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4D34288-7924-809F-8A07-08FAE4997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55</a:t>
            </a:fld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126A6F4-7456-A2D3-E958-AADEC77E5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354" y="2025294"/>
            <a:ext cx="8448439" cy="3629094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66CD31FD-8C47-5F0C-5402-C4838908313D}"/>
              </a:ext>
            </a:extLst>
          </p:cNvPr>
          <p:cNvSpPr txBox="1"/>
          <p:nvPr/>
        </p:nvSpPr>
        <p:spPr>
          <a:xfrm>
            <a:off x="969663" y="6374502"/>
            <a:ext cx="106934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400" dirty="0"/>
              <a:t>Reimers, N., &amp; </a:t>
            </a:r>
            <a:r>
              <a:rPr lang="en" altLang="zh-TW" sz="1400" dirty="0" err="1"/>
              <a:t>Gurevych</a:t>
            </a:r>
            <a:r>
              <a:rPr lang="en" altLang="zh-TW" sz="1400" dirty="0"/>
              <a:t>, I. (2019). Sentence-BERT: Sentence Embeddings using Siamese BERT-Networks. </a:t>
            </a:r>
            <a:r>
              <a:rPr lang="en" altLang="zh-TW" sz="1400" i="1" dirty="0"/>
              <a:t>(EMNLP-ĲCNLP 2019)</a:t>
            </a:r>
            <a:endParaRPr lang="zh-TW" altLang="en-US" sz="14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BF7BFF5-B7F6-C5B1-3C1C-0F472778A278}"/>
              </a:ext>
            </a:extLst>
          </p:cNvPr>
          <p:cNvSpPr txBox="1"/>
          <p:nvPr/>
        </p:nvSpPr>
        <p:spPr>
          <a:xfrm>
            <a:off x="3554141" y="5715577"/>
            <a:ext cx="1624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>
                <a:solidFill>
                  <a:srgbClr val="0070C0"/>
                </a:solidFill>
              </a:rPr>
              <a:t>Training time</a:t>
            </a:r>
            <a:endParaRPr kumimoji="1" lang="zh-TW" altLang="en-US" b="1" dirty="0">
              <a:solidFill>
                <a:srgbClr val="0070C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9FCEBFF-D7F9-5494-65F3-E1742A3E6A73}"/>
              </a:ext>
            </a:extLst>
          </p:cNvPr>
          <p:cNvSpPr txBox="1"/>
          <p:nvPr/>
        </p:nvSpPr>
        <p:spPr>
          <a:xfrm>
            <a:off x="8685781" y="5715577"/>
            <a:ext cx="1865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>
                <a:solidFill>
                  <a:srgbClr val="0070C0"/>
                </a:solidFill>
              </a:rPr>
              <a:t>Inference time</a:t>
            </a:r>
            <a:endParaRPr kumimoji="1" lang="zh-TW" altLang="en-US" b="1" dirty="0">
              <a:solidFill>
                <a:srgbClr val="0070C0"/>
              </a:solidFill>
            </a:endParaRPr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95A2D785-8662-4B5D-1DC9-895DDB484C59}"/>
              </a:ext>
            </a:extLst>
          </p:cNvPr>
          <p:cNvGrpSpPr/>
          <p:nvPr/>
        </p:nvGrpSpPr>
        <p:grpSpPr>
          <a:xfrm>
            <a:off x="262119" y="4647642"/>
            <a:ext cx="10988961" cy="646331"/>
            <a:chOff x="262119" y="4647642"/>
            <a:chExt cx="10988961" cy="646331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B3CDDCA-5457-CBA3-A841-779FAD73D6D5}"/>
                </a:ext>
              </a:extLst>
            </p:cNvPr>
            <p:cNvSpPr/>
            <p:nvPr/>
          </p:nvSpPr>
          <p:spPr>
            <a:xfrm>
              <a:off x="2524331" y="4660090"/>
              <a:ext cx="8726749" cy="621436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A0109C55-4AC9-A96A-C3DB-0130AEA6C13E}"/>
                </a:ext>
              </a:extLst>
            </p:cNvPr>
            <p:cNvSpPr txBox="1"/>
            <p:nvPr/>
          </p:nvSpPr>
          <p:spPr>
            <a:xfrm>
              <a:off x="262119" y="4647642"/>
              <a:ext cx="232948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b="1" dirty="0">
                  <a:solidFill>
                    <a:schemeClr val="accent2"/>
                  </a:solidFill>
                </a:rPr>
                <a:t>權重共享</a:t>
              </a:r>
              <a:endParaRPr kumimoji="1" lang="en-US" altLang="zh-TW" b="1" dirty="0">
                <a:solidFill>
                  <a:schemeClr val="accent2"/>
                </a:solidFill>
              </a:endParaRPr>
            </a:p>
            <a:p>
              <a:pPr algn="ctr"/>
              <a:r>
                <a:rPr kumimoji="1" lang="en-US" altLang="zh-TW" b="1" dirty="0">
                  <a:solidFill>
                    <a:schemeClr val="accent2"/>
                  </a:solidFill>
                </a:rPr>
                <a:t>(Siamese Network)</a:t>
              </a:r>
              <a:endParaRPr kumimoji="1" lang="zh-TW" altLang="en-US" b="1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E61A93CB-21AB-60A5-2A79-E5BB4E85A170}"/>
              </a:ext>
            </a:extLst>
          </p:cNvPr>
          <p:cNvSpPr/>
          <p:nvPr/>
        </p:nvSpPr>
        <p:spPr>
          <a:xfrm>
            <a:off x="5853953" y="294899"/>
            <a:ext cx="5739334" cy="9923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" altLang="zh-TW" sz="1600" dirty="0">
                <a:solidFill>
                  <a:schemeClr val="tx1"/>
                </a:solidFill>
              </a:rPr>
              <a:t># Pseudo code for </a:t>
            </a:r>
            <a:r>
              <a:rPr kumimoji="1" lang="en-US" altLang="zh-TW" sz="1600" dirty="0">
                <a:solidFill>
                  <a:schemeClr val="tx1"/>
                </a:solidFill>
              </a:rPr>
              <a:t>Bi</a:t>
            </a:r>
            <a:r>
              <a:rPr kumimoji="1" lang="en" altLang="zh-TW" sz="1600" dirty="0">
                <a:solidFill>
                  <a:schemeClr val="tx1"/>
                </a:solidFill>
              </a:rPr>
              <a:t>-encoder</a:t>
            </a:r>
          </a:p>
          <a:p>
            <a:r>
              <a:rPr kumimoji="1" lang="en" altLang="zh-TW" sz="1600" dirty="0" err="1">
                <a:solidFill>
                  <a:schemeClr val="tx1"/>
                </a:solidFill>
              </a:rPr>
              <a:t>query_vector</a:t>
            </a:r>
            <a:r>
              <a:rPr kumimoji="1" lang="en" altLang="zh-TW" sz="1600" dirty="0">
                <a:solidFill>
                  <a:schemeClr val="tx1"/>
                </a:solidFill>
              </a:rPr>
              <a:t> = encoder(query)              # [0.1, 0.2, 0.3]</a:t>
            </a:r>
          </a:p>
          <a:p>
            <a:r>
              <a:rPr kumimoji="1" lang="en" altLang="zh-TW" sz="1600" dirty="0" err="1">
                <a:solidFill>
                  <a:schemeClr val="tx1"/>
                </a:solidFill>
              </a:rPr>
              <a:t>document_vector</a:t>
            </a:r>
            <a:r>
              <a:rPr kumimoji="1" lang="en" altLang="zh-TW" sz="1600" dirty="0">
                <a:solidFill>
                  <a:schemeClr val="tx1"/>
                </a:solidFill>
              </a:rPr>
              <a:t> = encoder(document)        # [0.2, 0.2, 0.4]</a:t>
            </a:r>
          </a:p>
          <a:p>
            <a:r>
              <a:rPr kumimoji="1" lang="en" altLang="zh-TW" sz="1600" dirty="0">
                <a:solidFill>
                  <a:schemeClr val="tx1"/>
                </a:solidFill>
              </a:rPr>
              <a:t>similarity = </a:t>
            </a:r>
            <a:r>
              <a:rPr kumimoji="1" lang="en" altLang="zh-TW" sz="1600" dirty="0" err="1">
                <a:solidFill>
                  <a:schemeClr val="tx1"/>
                </a:solidFill>
              </a:rPr>
              <a:t>cosine_similarity</a:t>
            </a:r>
            <a:r>
              <a:rPr kumimoji="1" lang="en" altLang="zh-TW" sz="1600" dirty="0">
                <a:solidFill>
                  <a:schemeClr val="tx1"/>
                </a:solidFill>
              </a:rPr>
              <a:t>(</a:t>
            </a:r>
            <a:r>
              <a:rPr kumimoji="1" lang="en" altLang="zh-TW" sz="1600" dirty="0" err="1">
                <a:solidFill>
                  <a:schemeClr val="tx1"/>
                </a:solidFill>
              </a:rPr>
              <a:t>query_vector</a:t>
            </a:r>
            <a:r>
              <a:rPr kumimoji="1" lang="en" altLang="zh-TW" sz="1600" dirty="0">
                <a:solidFill>
                  <a:schemeClr val="tx1"/>
                </a:solidFill>
              </a:rPr>
              <a:t>, </a:t>
            </a:r>
            <a:r>
              <a:rPr kumimoji="1" lang="en" altLang="zh-TW" sz="1600" dirty="0" err="1">
                <a:solidFill>
                  <a:schemeClr val="tx1"/>
                </a:solidFill>
              </a:rPr>
              <a:t>document_vector</a:t>
            </a:r>
            <a:r>
              <a:rPr kumimoji="1" lang="en" altLang="zh-TW" sz="1600" dirty="0">
                <a:solidFill>
                  <a:schemeClr val="tx1"/>
                </a:solidFill>
              </a:rPr>
              <a:t>)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2380666-EB12-A3E3-AAEE-1B12D0AACDCA}"/>
              </a:ext>
            </a:extLst>
          </p:cNvPr>
          <p:cNvSpPr txBox="1"/>
          <p:nvPr/>
        </p:nvSpPr>
        <p:spPr>
          <a:xfrm>
            <a:off x="6520543" y="8164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TW" altLang="en-US" dirty="0"/>
          </a:p>
        </p:txBody>
      </p: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5B35002E-ECBC-7D33-F089-5A2E51A17C8E}"/>
              </a:ext>
            </a:extLst>
          </p:cNvPr>
          <p:cNvGrpSpPr/>
          <p:nvPr/>
        </p:nvGrpSpPr>
        <p:grpSpPr>
          <a:xfrm>
            <a:off x="1048872" y="2688707"/>
            <a:ext cx="9646026" cy="621436"/>
            <a:chOff x="1048872" y="2688707"/>
            <a:chExt cx="9646026" cy="621436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A9600D37-4141-8B58-FD8D-60A4A55A5084}"/>
                </a:ext>
              </a:extLst>
            </p:cNvPr>
            <p:cNvSpPr/>
            <p:nvPr/>
          </p:nvSpPr>
          <p:spPr>
            <a:xfrm>
              <a:off x="3275446" y="2688707"/>
              <a:ext cx="7419452" cy="621436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1EB56092-5250-59DF-49AB-7B2E33C06E31}"/>
                </a:ext>
              </a:extLst>
            </p:cNvPr>
            <p:cNvSpPr txBox="1"/>
            <p:nvPr/>
          </p:nvSpPr>
          <p:spPr>
            <a:xfrm>
              <a:off x="1048872" y="2814759"/>
              <a:ext cx="22232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b="1" dirty="0">
                  <a:solidFill>
                    <a:schemeClr val="accent2"/>
                  </a:solidFill>
                </a:rPr>
                <a:t>一次學習三種表達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00521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8AF5E3-A52E-BEB0-9D14-752AC5027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Why does Sentence-BERT need pooling?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1F6C84E-B62A-BEBF-D659-525363ECD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EDEB1F5-A78B-F702-8EC6-825CC9C4E276}"/>
              </a:ext>
            </a:extLst>
          </p:cNvPr>
          <p:cNvSpPr/>
          <p:nvPr/>
        </p:nvSpPr>
        <p:spPr>
          <a:xfrm>
            <a:off x="4993540" y="3820888"/>
            <a:ext cx="2986140" cy="71845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BERT</a:t>
            </a:r>
            <a:endParaRPr kumimoji="1" lang="zh-TW" altLang="en-US" dirty="0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2A3B2091-9396-E6D8-68ED-2DF9C23435D1}"/>
              </a:ext>
            </a:extLst>
          </p:cNvPr>
          <p:cNvSpPr/>
          <p:nvPr/>
        </p:nvSpPr>
        <p:spPr>
          <a:xfrm>
            <a:off x="5669047" y="5181858"/>
            <a:ext cx="604596" cy="359228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Tok1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07A05758-109A-F26A-4F08-BD15A4A3A7CE}"/>
              </a:ext>
            </a:extLst>
          </p:cNvPr>
          <p:cNvSpPr/>
          <p:nvPr/>
        </p:nvSpPr>
        <p:spPr>
          <a:xfrm>
            <a:off x="4972007" y="5181858"/>
            <a:ext cx="604596" cy="359228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[CLS]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4EFE38D0-A81E-ABFF-23F9-D9223559C14D}"/>
              </a:ext>
            </a:extLst>
          </p:cNvPr>
          <p:cNvSpPr/>
          <p:nvPr/>
        </p:nvSpPr>
        <p:spPr>
          <a:xfrm>
            <a:off x="6660459" y="5181858"/>
            <a:ext cx="604596" cy="359228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 err="1">
                <a:solidFill>
                  <a:schemeClr val="tx1"/>
                </a:solidFill>
              </a:rPr>
              <a:t>TokN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EB6C939-227E-B715-6D27-553149B53D0A}"/>
              </a:ext>
            </a:extLst>
          </p:cNvPr>
          <p:cNvSpPr txBox="1"/>
          <p:nvPr/>
        </p:nvSpPr>
        <p:spPr>
          <a:xfrm>
            <a:off x="6211498" y="5182640"/>
            <a:ext cx="522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...</a:t>
            </a:r>
            <a:endParaRPr kumimoji="1" lang="zh-TW" altLang="en-US" sz="1600" dirty="0"/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916C3753-E984-B55B-BCD4-31C10F1FB0DF}"/>
              </a:ext>
            </a:extLst>
          </p:cNvPr>
          <p:cNvSpPr/>
          <p:nvPr/>
        </p:nvSpPr>
        <p:spPr>
          <a:xfrm>
            <a:off x="7353551" y="5181069"/>
            <a:ext cx="604596" cy="359228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[SEP]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4A2E0752-AC46-2B11-FA0F-C4014B0E9D28}"/>
              </a:ext>
            </a:extLst>
          </p:cNvPr>
          <p:cNvSpPr/>
          <p:nvPr/>
        </p:nvSpPr>
        <p:spPr>
          <a:xfrm>
            <a:off x="4972007" y="2722129"/>
            <a:ext cx="604596" cy="359228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H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[CLS]</a:t>
            </a:r>
            <a:endParaRPr kumimoji="1" lang="zh-TW" altLang="en-US" sz="1200" baseline="-25000" dirty="0">
              <a:solidFill>
                <a:schemeClr val="tx1"/>
              </a:solidFill>
            </a:endParaRPr>
          </a:p>
        </p:txBody>
      </p: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A67C7FF9-A95C-519E-3E89-A0AF56ECDDEA}"/>
              </a:ext>
            </a:extLst>
          </p:cNvPr>
          <p:cNvCxnSpPr>
            <a:cxnSpLocks/>
          </p:cNvCxnSpPr>
          <p:nvPr/>
        </p:nvCxnSpPr>
        <p:spPr>
          <a:xfrm flipV="1">
            <a:off x="5274305" y="3188983"/>
            <a:ext cx="0" cy="51162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箭頭接點 16">
            <a:extLst>
              <a:ext uri="{FF2B5EF4-FFF2-40B4-BE49-F238E27FC236}">
                <a16:creationId xmlns:a16="http://schemas.microsoft.com/office/drawing/2014/main" id="{7AFE6E64-3419-D54E-3D62-941AEEAE0B00}"/>
              </a:ext>
            </a:extLst>
          </p:cNvPr>
          <p:cNvCxnSpPr>
            <a:cxnSpLocks/>
          </p:cNvCxnSpPr>
          <p:nvPr/>
        </p:nvCxnSpPr>
        <p:spPr>
          <a:xfrm flipH="1" flipV="1">
            <a:off x="5271804" y="4642225"/>
            <a:ext cx="2501" cy="4634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箭頭接點 17">
            <a:extLst>
              <a:ext uri="{FF2B5EF4-FFF2-40B4-BE49-F238E27FC236}">
                <a16:creationId xmlns:a16="http://schemas.microsoft.com/office/drawing/2014/main" id="{0EC34ADB-4433-1CFD-AFA0-AC18B55F61B9}"/>
              </a:ext>
            </a:extLst>
          </p:cNvPr>
          <p:cNvCxnSpPr>
            <a:cxnSpLocks/>
          </p:cNvCxnSpPr>
          <p:nvPr/>
        </p:nvCxnSpPr>
        <p:spPr>
          <a:xfrm flipH="1" flipV="1">
            <a:off x="5971345" y="4642225"/>
            <a:ext cx="2501" cy="4634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926E6ECE-31BB-4020-9A57-8B34F8B8F9F3}"/>
              </a:ext>
            </a:extLst>
          </p:cNvPr>
          <p:cNvCxnSpPr>
            <a:cxnSpLocks/>
          </p:cNvCxnSpPr>
          <p:nvPr/>
        </p:nvCxnSpPr>
        <p:spPr>
          <a:xfrm flipH="1" flipV="1">
            <a:off x="6961506" y="4642225"/>
            <a:ext cx="2501" cy="4634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8A28C3A2-FA7E-F979-155D-16F71E09F2BD}"/>
              </a:ext>
            </a:extLst>
          </p:cNvPr>
          <p:cNvCxnSpPr>
            <a:cxnSpLocks/>
          </p:cNvCxnSpPr>
          <p:nvPr/>
        </p:nvCxnSpPr>
        <p:spPr>
          <a:xfrm flipH="1" flipV="1">
            <a:off x="7664020" y="4642225"/>
            <a:ext cx="2501" cy="4634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箭頭接點 23">
            <a:extLst>
              <a:ext uri="{FF2B5EF4-FFF2-40B4-BE49-F238E27FC236}">
                <a16:creationId xmlns:a16="http://schemas.microsoft.com/office/drawing/2014/main" id="{F5B3824D-100B-4E4E-8361-D33B51D9FA6D}"/>
              </a:ext>
            </a:extLst>
          </p:cNvPr>
          <p:cNvCxnSpPr>
            <a:cxnSpLocks/>
          </p:cNvCxnSpPr>
          <p:nvPr/>
        </p:nvCxnSpPr>
        <p:spPr>
          <a:xfrm flipV="1">
            <a:off x="5971345" y="3188983"/>
            <a:ext cx="0" cy="51162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6C358760-81E1-BA4A-1778-B5E683D142B4}"/>
              </a:ext>
            </a:extLst>
          </p:cNvPr>
          <p:cNvCxnSpPr>
            <a:cxnSpLocks/>
          </p:cNvCxnSpPr>
          <p:nvPr/>
        </p:nvCxnSpPr>
        <p:spPr>
          <a:xfrm flipV="1">
            <a:off x="6961506" y="3188983"/>
            <a:ext cx="0" cy="51162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1673CEAB-1452-A556-BB04-AB3F3D00E338}"/>
              </a:ext>
            </a:extLst>
          </p:cNvPr>
          <p:cNvCxnSpPr>
            <a:cxnSpLocks/>
          </p:cNvCxnSpPr>
          <p:nvPr/>
        </p:nvCxnSpPr>
        <p:spPr>
          <a:xfrm flipV="1">
            <a:off x="7664020" y="3188983"/>
            <a:ext cx="0" cy="51162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圓角矩形 29">
            <a:extLst>
              <a:ext uri="{FF2B5EF4-FFF2-40B4-BE49-F238E27FC236}">
                <a16:creationId xmlns:a16="http://schemas.microsoft.com/office/drawing/2014/main" id="{03E9233A-2A5D-1749-DFD1-87BC091E5B49}"/>
              </a:ext>
            </a:extLst>
          </p:cNvPr>
          <p:cNvSpPr/>
          <p:nvPr/>
        </p:nvSpPr>
        <p:spPr>
          <a:xfrm>
            <a:off x="5669047" y="2722129"/>
            <a:ext cx="604596" cy="359228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H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1</a:t>
            </a:r>
            <a:endParaRPr kumimoji="1" lang="zh-TW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31" name="圓角矩形 30">
            <a:extLst>
              <a:ext uri="{FF2B5EF4-FFF2-40B4-BE49-F238E27FC236}">
                <a16:creationId xmlns:a16="http://schemas.microsoft.com/office/drawing/2014/main" id="{B6F7153E-A33A-05C6-8174-A8733BEC3875}"/>
              </a:ext>
            </a:extLst>
          </p:cNvPr>
          <p:cNvSpPr/>
          <p:nvPr/>
        </p:nvSpPr>
        <p:spPr>
          <a:xfrm>
            <a:off x="6659208" y="2722129"/>
            <a:ext cx="604596" cy="359228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H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N</a:t>
            </a:r>
            <a:endParaRPr kumimoji="1" lang="zh-TW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32" name="圓角矩形 31">
            <a:extLst>
              <a:ext uri="{FF2B5EF4-FFF2-40B4-BE49-F238E27FC236}">
                <a16:creationId xmlns:a16="http://schemas.microsoft.com/office/drawing/2014/main" id="{28E5E0A0-27FC-1687-25C2-82EBED2EC97F}"/>
              </a:ext>
            </a:extLst>
          </p:cNvPr>
          <p:cNvSpPr/>
          <p:nvPr/>
        </p:nvSpPr>
        <p:spPr>
          <a:xfrm>
            <a:off x="7366337" y="2722129"/>
            <a:ext cx="604596" cy="359228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H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[SEP]</a:t>
            </a:r>
            <a:endParaRPr kumimoji="1" lang="zh-TW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442DC7D9-B96A-579C-3021-77A2C5B9F0C4}"/>
              </a:ext>
            </a:extLst>
          </p:cNvPr>
          <p:cNvSpPr txBox="1"/>
          <p:nvPr/>
        </p:nvSpPr>
        <p:spPr>
          <a:xfrm>
            <a:off x="6236239" y="2711327"/>
            <a:ext cx="522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...</a:t>
            </a:r>
            <a:endParaRPr kumimoji="1" lang="zh-TW" altLang="en-US" sz="1600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85D1295-CC2D-2E47-E6D4-08183523A885}"/>
              </a:ext>
            </a:extLst>
          </p:cNvPr>
          <p:cNvSpPr/>
          <p:nvPr/>
        </p:nvSpPr>
        <p:spPr>
          <a:xfrm>
            <a:off x="8343712" y="3809213"/>
            <a:ext cx="2986140" cy="71845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BERT</a:t>
            </a:r>
            <a:endParaRPr kumimoji="1" lang="zh-TW" altLang="en-US" dirty="0"/>
          </a:p>
        </p:txBody>
      </p:sp>
      <p:sp>
        <p:nvSpPr>
          <p:cNvPr id="39" name="圓角矩形 38">
            <a:extLst>
              <a:ext uri="{FF2B5EF4-FFF2-40B4-BE49-F238E27FC236}">
                <a16:creationId xmlns:a16="http://schemas.microsoft.com/office/drawing/2014/main" id="{19425578-EBAD-55DF-881D-4D568F186304}"/>
              </a:ext>
            </a:extLst>
          </p:cNvPr>
          <p:cNvSpPr/>
          <p:nvPr/>
        </p:nvSpPr>
        <p:spPr>
          <a:xfrm>
            <a:off x="9019219" y="5170183"/>
            <a:ext cx="604596" cy="359228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Tok1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圓角矩形 39">
            <a:extLst>
              <a:ext uri="{FF2B5EF4-FFF2-40B4-BE49-F238E27FC236}">
                <a16:creationId xmlns:a16="http://schemas.microsoft.com/office/drawing/2014/main" id="{50D15AAB-6FBE-FB0E-5A52-E68FEAB67FF7}"/>
              </a:ext>
            </a:extLst>
          </p:cNvPr>
          <p:cNvSpPr/>
          <p:nvPr/>
        </p:nvSpPr>
        <p:spPr>
          <a:xfrm>
            <a:off x="8322179" y="5170183"/>
            <a:ext cx="604596" cy="359228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[CLS]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圓角矩形 40">
            <a:extLst>
              <a:ext uri="{FF2B5EF4-FFF2-40B4-BE49-F238E27FC236}">
                <a16:creationId xmlns:a16="http://schemas.microsoft.com/office/drawing/2014/main" id="{E800E453-41F4-36D4-F5DE-A9CE2A10A0AC}"/>
              </a:ext>
            </a:extLst>
          </p:cNvPr>
          <p:cNvSpPr/>
          <p:nvPr/>
        </p:nvSpPr>
        <p:spPr>
          <a:xfrm>
            <a:off x="10010631" y="5170183"/>
            <a:ext cx="604596" cy="359228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 err="1">
                <a:solidFill>
                  <a:schemeClr val="tx1"/>
                </a:solidFill>
              </a:rPr>
              <a:t>TokN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80CF3BC4-50E0-7534-AA71-459F96A513F7}"/>
              </a:ext>
            </a:extLst>
          </p:cNvPr>
          <p:cNvSpPr txBox="1"/>
          <p:nvPr/>
        </p:nvSpPr>
        <p:spPr>
          <a:xfrm>
            <a:off x="9561670" y="5170965"/>
            <a:ext cx="522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...</a:t>
            </a:r>
            <a:endParaRPr kumimoji="1" lang="zh-TW" altLang="en-US" sz="1600" dirty="0"/>
          </a:p>
        </p:txBody>
      </p:sp>
      <p:sp>
        <p:nvSpPr>
          <p:cNvPr id="43" name="圓角矩形 42">
            <a:extLst>
              <a:ext uri="{FF2B5EF4-FFF2-40B4-BE49-F238E27FC236}">
                <a16:creationId xmlns:a16="http://schemas.microsoft.com/office/drawing/2014/main" id="{F6BE51CF-6E4D-85F3-82B8-6100B83189FC}"/>
              </a:ext>
            </a:extLst>
          </p:cNvPr>
          <p:cNvSpPr/>
          <p:nvPr/>
        </p:nvSpPr>
        <p:spPr>
          <a:xfrm>
            <a:off x="10703723" y="5169394"/>
            <a:ext cx="604596" cy="359228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[SEP]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44" name="圓角矩形 43">
            <a:extLst>
              <a:ext uri="{FF2B5EF4-FFF2-40B4-BE49-F238E27FC236}">
                <a16:creationId xmlns:a16="http://schemas.microsoft.com/office/drawing/2014/main" id="{6712391C-2B93-BB7B-1E24-2E553E0E7700}"/>
              </a:ext>
            </a:extLst>
          </p:cNvPr>
          <p:cNvSpPr/>
          <p:nvPr/>
        </p:nvSpPr>
        <p:spPr>
          <a:xfrm>
            <a:off x="8322179" y="2710454"/>
            <a:ext cx="604596" cy="359228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H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[CLS]</a:t>
            </a:r>
            <a:endParaRPr kumimoji="1" lang="zh-TW" altLang="en-US" sz="1200" baseline="-25000" dirty="0">
              <a:solidFill>
                <a:schemeClr val="tx1"/>
              </a:solidFill>
            </a:endParaRPr>
          </a:p>
        </p:txBody>
      </p:sp>
      <p:cxnSp>
        <p:nvCxnSpPr>
          <p:cNvPr id="45" name="直線箭頭接點 44">
            <a:extLst>
              <a:ext uri="{FF2B5EF4-FFF2-40B4-BE49-F238E27FC236}">
                <a16:creationId xmlns:a16="http://schemas.microsoft.com/office/drawing/2014/main" id="{8FDFF706-4D55-DD65-8010-308DE44EFF7C}"/>
              </a:ext>
            </a:extLst>
          </p:cNvPr>
          <p:cNvCxnSpPr>
            <a:cxnSpLocks/>
          </p:cNvCxnSpPr>
          <p:nvPr/>
        </p:nvCxnSpPr>
        <p:spPr>
          <a:xfrm flipV="1">
            <a:off x="8624477" y="3177308"/>
            <a:ext cx="0" cy="51162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箭頭接點 45">
            <a:extLst>
              <a:ext uri="{FF2B5EF4-FFF2-40B4-BE49-F238E27FC236}">
                <a16:creationId xmlns:a16="http://schemas.microsoft.com/office/drawing/2014/main" id="{1F39CAE3-1840-5F91-8881-5652E9DFF77D}"/>
              </a:ext>
            </a:extLst>
          </p:cNvPr>
          <p:cNvCxnSpPr>
            <a:cxnSpLocks/>
          </p:cNvCxnSpPr>
          <p:nvPr/>
        </p:nvCxnSpPr>
        <p:spPr>
          <a:xfrm flipH="1" flipV="1">
            <a:off x="8621976" y="4630550"/>
            <a:ext cx="2501" cy="4634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箭頭接點 46">
            <a:extLst>
              <a:ext uri="{FF2B5EF4-FFF2-40B4-BE49-F238E27FC236}">
                <a16:creationId xmlns:a16="http://schemas.microsoft.com/office/drawing/2014/main" id="{179FB5B6-888B-1A04-B492-7366DC8F1EA3}"/>
              </a:ext>
            </a:extLst>
          </p:cNvPr>
          <p:cNvCxnSpPr>
            <a:cxnSpLocks/>
          </p:cNvCxnSpPr>
          <p:nvPr/>
        </p:nvCxnSpPr>
        <p:spPr>
          <a:xfrm flipH="1" flipV="1">
            <a:off x="9321517" y="4630550"/>
            <a:ext cx="2501" cy="4634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箭頭接點 47">
            <a:extLst>
              <a:ext uri="{FF2B5EF4-FFF2-40B4-BE49-F238E27FC236}">
                <a16:creationId xmlns:a16="http://schemas.microsoft.com/office/drawing/2014/main" id="{2103F97B-678C-64FD-9D81-1B6AE059AED1}"/>
              </a:ext>
            </a:extLst>
          </p:cNvPr>
          <p:cNvCxnSpPr>
            <a:cxnSpLocks/>
          </p:cNvCxnSpPr>
          <p:nvPr/>
        </p:nvCxnSpPr>
        <p:spPr>
          <a:xfrm flipH="1" flipV="1">
            <a:off x="10311678" y="4630550"/>
            <a:ext cx="2501" cy="4634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箭頭接點 48">
            <a:extLst>
              <a:ext uri="{FF2B5EF4-FFF2-40B4-BE49-F238E27FC236}">
                <a16:creationId xmlns:a16="http://schemas.microsoft.com/office/drawing/2014/main" id="{0AF720BE-835A-C412-543B-62A89C086D0F}"/>
              </a:ext>
            </a:extLst>
          </p:cNvPr>
          <p:cNvCxnSpPr>
            <a:cxnSpLocks/>
          </p:cNvCxnSpPr>
          <p:nvPr/>
        </p:nvCxnSpPr>
        <p:spPr>
          <a:xfrm flipH="1" flipV="1">
            <a:off x="11014192" y="4630550"/>
            <a:ext cx="2501" cy="4634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箭頭接點 49">
            <a:extLst>
              <a:ext uri="{FF2B5EF4-FFF2-40B4-BE49-F238E27FC236}">
                <a16:creationId xmlns:a16="http://schemas.microsoft.com/office/drawing/2014/main" id="{3368348A-AEAD-54C8-A192-039907CFB17D}"/>
              </a:ext>
            </a:extLst>
          </p:cNvPr>
          <p:cNvCxnSpPr>
            <a:cxnSpLocks/>
          </p:cNvCxnSpPr>
          <p:nvPr/>
        </p:nvCxnSpPr>
        <p:spPr>
          <a:xfrm flipV="1">
            <a:off x="9321517" y="3177308"/>
            <a:ext cx="0" cy="51162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箭頭接點 50">
            <a:extLst>
              <a:ext uri="{FF2B5EF4-FFF2-40B4-BE49-F238E27FC236}">
                <a16:creationId xmlns:a16="http://schemas.microsoft.com/office/drawing/2014/main" id="{A5A306E8-9928-F3BF-477A-043447DA6E2D}"/>
              </a:ext>
            </a:extLst>
          </p:cNvPr>
          <p:cNvCxnSpPr>
            <a:cxnSpLocks/>
          </p:cNvCxnSpPr>
          <p:nvPr/>
        </p:nvCxnSpPr>
        <p:spPr>
          <a:xfrm flipV="1">
            <a:off x="10311678" y="3177308"/>
            <a:ext cx="0" cy="51162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箭頭接點 51">
            <a:extLst>
              <a:ext uri="{FF2B5EF4-FFF2-40B4-BE49-F238E27FC236}">
                <a16:creationId xmlns:a16="http://schemas.microsoft.com/office/drawing/2014/main" id="{C4323673-6B43-A814-8F51-AEEF0266473E}"/>
              </a:ext>
            </a:extLst>
          </p:cNvPr>
          <p:cNvCxnSpPr>
            <a:cxnSpLocks/>
          </p:cNvCxnSpPr>
          <p:nvPr/>
        </p:nvCxnSpPr>
        <p:spPr>
          <a:xfrm flipV="1">
            <a:off x="11014192" y="3177308"/>
            <a:ext cx="0" cy="51162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圓角矩形 52">
            <a:extLst>
              <a:ext uri="{FF2B5EF4-FFF2-40B4-BE49-F238E27FC236}">
                <a16:creationId xmlns:a16="http://schemas.microsoft.com/office/drawing/2014/main" id="{5B3C2E85-A8E7-1F62-6C47-9D8DA9184976}"/>
              </a:ext>
            </a:extLst>
          </p:cNvPr>
          <p:cNvSpPr/>
          <p:nvPr/>
        </p:nvSpPr>
        <p:spPr>
          <a:xfrm>
            <a:off x="9019219" y="2710454"/>
            <a:ext cx="604596" cy="359228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H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1</a:t>
            </a:r>
            <a:endParaRPr kumimoji="1" lang="zh-TW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54" name="圓角矩形 53">
            <a:extLst>
              <a:ext uri="{FF2B5EF4-FFF2-40B4-BE49-F238E27FC236}">
                <a16:creationId xmlns:a16="http://schemas.microsoft.com/office/drawing/2014/main" id="{37022701-DD16-029C-114C-CFD407DA5EDE}"/>
              </a:ext>
            </a:extLst>
          </p:cNvPr>
          <p:cNvSpPr/>
          <p:nvPr/>
        </p:nvSpPr>
        <p:spPr>
          <a:xfrm>
            <a:off x="10009380" y="2710454"/>
            <a:ext cx="604596" cy="359228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H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N</a:t>
            </a:r>
            <a:endParaRPr kumimoji="1" lang="zh-TW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55" name="圓角矩形 54">
            <a:extLst>
              <a:ext uri="{FF2B5EF4-FFF2-40B4-BE49-F238E27FC236}">
                <a16:creationId xmlns:a16="http://schemas.microsoft.com/office/drawing/2014/main" id="{2A8C4170-1D7C-F1F9-879F-3742290C3AFC}"/>
              </a:ext>
            </a:extLst>
          </p:cNvPr>
          <p:cNvSpPr/>
          <p:nvPr/>
        </p:nvSpPr>
        <p:spPr>
          <a:xfrm>
            <a:off x="10716509" y="2710454"/>
            <a:ext cx="604596" cy="359228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H</a:t>
            </a:r>
            <a:r>
              <a:rPr kumimoji="1" lang="en-US" altLang="zh-TW" sz="1200" baseline="-25000" dirty="0">
                <a:solidFill>
                  <a:schemeClr val="tx1"/>
                </a:solidFill>
              </a:rPr>
              <a:t>[SEP]</a:t>
            </a:r>
            <a:endParaRPr kumimoji="1" lang="zh-TW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7310B5B8-8EA0-247C-0335-EF53A59AFCBF}"/>
              </a:ext>
            </a:extLst>
          </p:cNvPr>
          <p:cNvSpPr txBox="1"/>
          <p:nvPr/>
        </p:nvSpPr>
        <p:spPr>
          <a:xfrm>
            <a:off x="9586411" y="2699652"/>
            <a:ext cx="522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...</a:t>
            </a:r>
            <a:endParaRPr kumimoji="1" lang="zh-TW" altLang="en-US" sz="1600" dirty="0"/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A87E2106-6591-C7E3-FF40-81E6F2547EF4}"/>
              </a:ext>
            </a:extLst>
          </p:cNvPr>
          <p:cNvSpPr txBox="1"/>
          <p:nvPr/>
        </p:nvSpPr>
        <p:spPr>
          <a:xfrm>
            <a:off x="4879584" y="2020348"/>
            <a:ext cx="3214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Output hidden states of input1</a:t>
            </a:r>
            <a:endParaRPr kumimoji="1" lang="zh-TW" altLang="en-US" dirty="0"/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14D3863B-708C-B1E8-F11B-DC952795CF38}"/>
              </a:ext>
            </a:extLst>
          </p:cNvPr>
          <p:cNvSpPr txBox="1"/>
          <p:nvPr/>
        </p:nvSpPr>
        <p:spPr>
          <a:xfrm>
            <a:off x="8215901" y="2020348"/>
            <a:ext cx="3214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Output hidden states of input2</a:t>
            </a:r>
            <a:endParaRPr kumimoji="1" lang="zh-TW" altLang="en-US" dirty="0"/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2B5A05EF-C3BC-8AD2-4558-C0073EBA8CDF}"/>
              </a:ext>
            </a:extLst>
          </p:cNvPr>
          <p:cNvSpPr txBox="1"/>
          <p:nvPr/>
        </p:nvSpPr>
        <p:spPr>
          <a:xfrm>
            <a:off x="653143" y="2147756"/>
            <a:ext cx="3967379" cy="2352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BERT produces embeddings (hidden states from the final layer) for each token.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We need a single fixed-size vector for the entire sentence.</a:t>
            </a:r>
          </a:p>
        </p:txBody>
      </p:sp>
    </p:spTree>
    <p:extLst>
      <p:ext uri="{BB962C8B-B14F-4D97-AF65-F5344CB8AC3E}">
        <p14:creationId xmlns:p14="http://schemas.microsoft.com/office/powerpoint/2010/main" val="76509698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EC4108-9CAD-D9E4-36C2-CDA7F5DE9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Pooling of Sentence-BERT</a:t>
            </a:r>
            <a:endParaRPr kumimoji="1"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C85C8D4-7CAE-9A07-07DD-4DF20DDB5F24}"/>
              </a:ext>
            </a:extLst>
          </p:cNvPr>
          <p:cNvSpPr txBox="1"/>
          <p:nvPr/>
        </p:nvSpPr>
        <p:spPr>
          <a:xfrm>
            <a:off x="735106" y="1790859"/>
            <a:ext cx="8702808" cy="3276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2000" dirty="0"/>
              <a:t>We need a single fixed-size vector for the entire sentence.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b="1" dirty="0"/>
              <a:t>CLS: Use the [CLS] token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This is the default setting in original BERT.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b="1" dirty="0"/>
              <a:t>MEAN: the mean of all output vectors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Averages all token embeddings.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b="1" dirty="0"/>
              <a:t>MAX: max-over-time of the output vectors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Takes maximum value across each dimension.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7F3B71B-3795-486E-4FE8-E52DE5A18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2278DF5-33D9-65C2-806B-815D9710F6C2}"/>
              </a:ext>
            </a:extLst>
          </p:cNvPr>
          <p:cNvSpPr txBox="1"/>
          <p:nvPr/>
        </p:nvSpPr>
        <p:spPr>
          <a:xfrm>
            <a:off x="969663" y="6374502"/>
            <a:ext cx="106934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400" dirty="0"/>
              <a:t>Reimers, N., &amp; </a:t>
            </a:r>
            <a:r>
              <a:rPr lang="en" altLang="zh-TW" sz="1400" dirty="0" err="1"/>
              <a:t>Gurevych</a:t>
            </a:r>
            <a:r>
              <a:rPr lang="en" altLang="zh-TW" sz="1400" dirty="0"/>
              <a:t>, I. (2019). Sentence-BERT: Sentence Embeddings using Siamese BERT-Networks. </a:t>
            </a:r>
            <a:r>
              <a:rPr lang="en" altLang="zh-TW" sz="1400" i="1" dirty="0"/>
              <a:t>(EMNLP-ĲCNLP 2019)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39147027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71E292-F27F-DD11-4E1C-9886AA20D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Computation time for Bi-encoders and Cross encoders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FED79FA-B2CE-7B7C-D085-F68718223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2C79AD3-7DD7-781B-1690-BF1DCD2870CF}"/>
              </a:ext>
            </a:extLst>
          </p:cNvPr>
          <p:cNvSpPr txBox="1"/>
          <p:nvPr/>
        </p:nvSpPr>
        <p:spPr>
          <a:xfrm>
            <a:off x="653143" y="1790859"/>
            <a:ext cx="10776857" cy="189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For 10,000 sentence pairs: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Cross encoders: n·(n−1)/2 = </a:t>
            </a:r>
            <a:r>
              <a:rPr kumimoji="1" lang="en-US" altLang="zh-TW" sz="2000" dirty="0">
                <a:solidFill>
                  <a:srgbClr val="FF0000"/>
                </a:solidFill>
              </a:rPr>
              <a:t>49,995,000</a:t>
            </a:r>
            <a:r>
              <a:rPr kumimoji="1" lang="en-US" altLang="zh-TW" sz="2000" dirty="0"/>
              <a:t> inference times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Bi-encoders (e.g., Sentence-BERT): </a:t>
            </a:r>
            <a:r>
              <a:rPr kumimoji="1" lang="en-US" altLang="zh-TW" sz="2000" dirty="0">
                <a:solidFill>
                  <a:srgbClr val="FF0000"/>
                </a:solidFill>
              </a:rPr>
              <a:t>10,000 * 2 </a:t>
            </a:r>
            <a:r>
              <a:rPr kumimoji="1" lang="en-US" altLang="zh-TW" sz="2000" dirty="0"/>
              <a:t>inference times (can be parallel) with cosine similarity calculation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C36C659-EECD-EAD5-ABB6-AC43DD7B45A9}"/>
              </a:ext>
            </a:extLst>
          </p:cNvPr>
          <p:cNvSpPr/>
          <p:nvPr/>
        </p:nvSpPr>
        <p:spPr>
          <a:xfrm>
            <a:off x="6533586" y="5051143"/>
            <a:ext cx="1943199" cy="6198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Encoder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819D1F8-368C-0562-81C8-572F126D5033}"/>
              </a:ext>
            </a:extLst>
          </p:cNvPr>
          <p:cNvSpPr/>
          <p:nvPr/>
        </p:nvSpPr>
        <p:spPr>
          <a:xfrm>
            <a:off x="8669756" y="5051142"/>
            <a:ext cx="1943199" cy="6198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Encoder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8" name="直線箭頭接點 17">
            <a:extLst>
              <a:ext uri="{FF2B5EF4-FFF2-40B4-BE49-F238E27FC236}">
                <a16:creationId xmlns:a16="http://schemas.microsoft.com/office/drawing/2014/main" id="{8DF6C461-9415-7D7C-26BD-46DFF5C23C30}"/>
              </a:ext>
            </a:extLst>
          </p:cNvPr>
          <p:cNvCxnSpPr>
            <a:cxnSpLocks/>
          </p:cNvCxnSpPr>
          <p:nvPr/>
        </p:nvCxnSpPr>
        <p:spPr>
          <a:xfrm flipV="1">
            <a:off x="7494299" y="5743903"/>
            <a:ext cx="0" cy="23297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191D2EEA-849F-63D5-E73C-0CC53BB0053A}"/>
              </a:ext>
            </a:extLst>
          </p:cNvPr>
          <p:cNvSpPr/>
          <p:nvPr/>
        </p:nvSpPr>
        <p:spPr>
          <a:xfrm>
            <a:off x="7132300" y="6064304"/>
            <a:ext cx="745770" cy="359228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Sent1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337495B0-F0CE-03A4-FE85-D7308BE8C365}"/>
              </a:ext>
            </a:extLst>
          </p:cNvPr>
          <p:cNvSpPr/>
          <p:nvPr/>
        </p:nvSpPr>
        <p:spPr>
          <a:xfrm>
            <a:off x="9268470" y="6056332"/>
            <a:ext cx="745770" cy="359228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Sent2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cxnSp>
        <p:nvCxnSpPr>
          <p:cNvPr id="21" name="直線箭頭接點 20">
            <a:extLst>
              <a:ext uri="{FF2B5EF4-FFF2-40B4-BE49-F238E27FC236}">
                <a16:creationId xmlns:a16="http://schemas.microsoft.com/office/drawing/2014/main" id="{BF609C4A-E1F3-BACA-0180-7D59BB0D67D7}"/>
              </a:ext>
            </a:extLst>
          </p:cNvPr>
          <p:cNvCxnSpPr>
            <a:cxnSpLocks/>
          </p:cNvCxnSpPr>
          <p:nvPr/>
        </p:nvCxnSpPr>
        <p:spPr>
          <a:xfrm flipV="1">
            <a:off x="9633242" y="5726503"/>
            <a:ext cx="0" cy="23297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753737C9-FD33-5520-B150-151F4184BDAE}"/>
              </a:ext>
            </a:extLst>
          </p:cNvPr>
          <p:cNvSpPr/>
          <p:nvPr/>
        </p:nvSpPr>
        <p:spPr>
          <a:xfrm>
            <a:off x="7132300" y="4314566"/>
            <a:ext cx="745770" cy="359228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H1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23" name="圓角矩形 22">
            <a:extLst>
              <a:ext uri="{FF2B5EF4-FFF2-40B4-BE49-F238E27FC236}">
                <a16:creationId xmlns:a16="http://schemas.microsoft.com/office/drawing/2014/main" id="{0FB13B12-9FE1-BEBB-E9A3-BDB06E330670}"/>
              </a:ext>
            </a:extLst>
          </p:cNvPr>
          <p:cNvSpPr/>
          <p:nvPr/>
        </p:nvSpPr>
        <p:spPr>
          <a:xfrm>
            <a:off x="9260357" y="4314566"/>
            <a:ext cx="745770" cy="359228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H2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cxnSp>
        <p:nvCxnSpPr>
          <p:cNvPr id="24" name="直線箭頭接點 23">
            <a:extLst>
              <a:ext uri="{FF2B5EF4-FFF2-40B4-BE49-F238E27FC236}">
                <a16:creationId xmlns:a16="http://schemas.microsoft.com/office/drawing/2014/main" id="{59398038-67C3-7D52-EAD0-F24C08F06548}"/>
              </a:ext>
            </a:extLst>
          </p:cNvPr>
          <p:cNvCxnSpPr>
            <a:cxnSpLocks/>
          </p:cNvCxnSpPr>
          <p:nvPr/>
        </p:nvCxnSpPr>
        <p:spPr>
          <a:xfrm flipV="1">
            <a:off x="7507957" y="4734791"/>
            <a:ext cx="0" cy="23297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11B10281-FF1E-5944-2575-8C740C1A9E7B}"/>
              </a:ext>
            </a:extLst>
          </p:cNvPr>
          <p:cNvCxnSpPr>
            <a:cxnSpLocks/>
          </p:cNvCxnSpPr>
          <p:nvPr/>
        </p:nvCxnSpPr>
        <p:spPr>
          <a:xfrm flipV="1">
            <a:off x="9627901" y="4734791"/>
            <a:ext cx="0" cy="23297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肘形接點 26">
            <a:extLst>
              <a:ext uri="{FF2B5EF4-FFF2-40B4-BE49-F238E27FC236}">
                <a16:creationId xmlns:a16="http://schemas.microsoft.com/office/drawing/2014/main" id="{EE77FD88-D0A3-91BD-B2B8-7280E1AA0CA7}"/>
              </a:ext>
            </a:extLst>
          </p:cNvPr>
          <p:cNvCxnSpPr>
            <a:stCxn id="22" idx="0"/>
            <a:endCxn id="23" idx="0"/>
          </p:cNvCxnSpPr>
          <p:nvPr/>
        </p:nvCxnSpPr>
        <p:spPr>
          <a:xfrm rot="5400000" flipH="1" flipV="1">
            <a:off x="8569213" y="3250538"/>
            <a:ext cx="12700" cy="2128057"/>
          </a:xfrm>
          <a:prstGeom prst="bentConnector3">
            <a:avLst>
              <a:gd name="adj1" fmla="val 119998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4D8137CE-1DE5-7D05-C42E-D5038F1EE70A}"/>
              </a:ext>
            </a:extLst>
          </p:cNvPr>
          <p:cNvSpPr txBox="1"/>
          <p:nvPr/>
        </p:nvSpPr>
        <p:spPr>
          <a:xfrm>
            <a:off x="7677491" y="3869405"/>
            <a:ext cx="17961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TW" sz="1600" dirty="0"/>
              <a:t>Cosine similarity </a:t>
            </a:r>
            <a:endParaRPr lang="zh-TW" altLang="en-US" sz="1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00DE439-F724-53FA-9F1D-A5CA3A025BDF}"/>
              </a:ext>
            </a:extLst>
          </p:cNvPr>
          <p:cNvSpPr/>
          <p:nvPr/>
        </p:nvSpPr>
        <p:spPr>
          <a:xfrm>
            <a:off x="1970916" y="5035942"/>
            <a:ext cx="2748642" cy="61981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Cross encoder</a:t>
            </a:r>
            <a:endParaRPr kumimoji="1" lang="zh-TW" altLang="en-US" dirty="0"/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9C58A915-8410-F6F9-713A-EDD4BA285F12}"/>
              </a:ext>
            </a:extLst>
          </p:cNvPr>
          <p:cNvSpPr/>
          <p:nvPr/>
        </p:nvSpPr>
        <p:spPr>
          <a:xfrm>
            <a:off x="1886940" y="6050561"/>
            <a:ext cx="745770" cy="35922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Sent1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98AB0E2D-F753-EE29-8A5D-294C015712D6}"/>
              </a:ext>
            </a:extLst>
          </p:cNvPr>
          <p:cNvSpPr/>
          <p:nvPr/>
        </p:nvSpPr>
        <p:spPr>
          <a:xfrm>
            <a:off x="3385888" y="6050561"/>
            <a:ext cx="745770" cy="359228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200" dirty="0">
                <a:solidFill>
                  <a:schemeClr val="tx1"/>
                </a:solidFill>
              </a:rPr>
              <a:t>Sent2</a:t>
            </a:r>
            <a:endParaRPr kumimoji="1"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圓角矩形 25">
            <a:extLst>
              <a:ext uri="{FF2B5EF4-FFF2-40B4-BE49-F238E27FC236}">
                <a16:creationId xmlns:a16="http://schemas.microsoft.com/office/drawing/2014/main" id="{7CA88E4D-CE10-4959-AD41-C141B3F6FADA}"/>
              </a:ext>
            </a:extLst>
          </p:cNvPr>
          <p:cNvSpPr/>
          <p:nvPr/>
        </p:nvSpPr>
        <p:spPr>
          <a:xfrm>
            <a:off x="2681866" y="6050561"/>
            <a:ext cx="654866" cy="359228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100" dirty="0">
                <a:solidFill>
                  <a:schemeClr val="tx1"/>
                </a:solidFill>
              </a:rPr>
              <a:t>[SEP]</a:t>
            </a:r>
            <a:endParaRPr kumimoji="1" lang="zh-TW" altLang="en-US" sz="1100" dirty="0">
              <a:solidFill>
                <a:schemeClr val="tx1"/>
              </a:solidFill>
            </a:endParaRPr>
          </a:p>
        </p:txBody>
      </p:sp>
      <p:sp>
        <p:nvSpPr>
          <p:cNvPr id="28" name="圓角矩形 27">
            <a:extLst>
              <a:ext uri="{FF2B5EF4-FFF2-40B4-BE49-F238E27FC236}">
                <a16:creationId xmlns:a16="http://schemas.microsoft.com/office/drawing/2014/main" id="{762EE106-06E5-E341-D23C-17BB3A59AEF9}"/>
              </a:ext>
            </a:extLst>
          </p:cNvPr>
          <p:cNvSpPr/>
          <p:nvPr/>
        </p:nvSpPr>
        <p:spPr>
          <a:xfrm>
            <a:off x="4180813" y="6050561"/>
            <a:ext cx="654866" cy="359228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100" dirty="0">
                <a:solidFill>
                  <a:schemeClr val="tx1"/>
                </a:solidFill>
              </a:rPr>
              <a:t>[SEP]</a:t>
            </a:r>
            <a:endParaRPr kumimoji="1" lang="zh-TW" altLang="en-US" sz="1100" dirty="0">
              <a:solidFill>
                <a:schemeClr val="tx1"/>
              </a:solidFill>
            </a:endParaRPr>
          </a:p>
        </p:txBody>
      </p:sp>
      <p:cxnSp>
        <p:nvCxnSpPr>
          <p:cNvPr id="29" name="直線箭頭接點 28">
            <a:extLst>
              <a:ext uri="{FF2B5EF4-FFF2-40B4-BE49-F238E27FC236}">
                <a16:creationId xmlns:a16="http://schemas.microsoft.com/office/drawing/2014/main" id="{453C9260-C48D-3C39-96F7-5CA3C5FD394E}"/>
              </a:ext>
            </a:extLst>
          </p:cNvPr>
          <p:cNvCxnSpPr>
            <a:cxnSpLocks/>
          </p:cNvCxnSpPr>
          <p:nvPr/>
        </p:nvCxnSpPr>
        <p:spPr>
          <a:xfrm flipV="1">
            <a:off x="3375172" y="5742846"/>
            <a:ext cx="0" cy="23297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箭頭接點 30">
            <a:extLst>
              <a:ext uri="{FF2B5EF4-FFF2-40B4-BE49-F238E27FC236}">
                <a16:creationId xmlns:a16="http://schemas.microsoft.com/office/drawing/2014/main" id="{CD199CA1-6A43-4482-3385-57DEAB0F4F5C}"/>
              </a:ext>
            </a:extLst>
          </p:cNvPr>
          <p:cNvCxnSpPr>
            <a:cxnSpLocks/>
          </p:cNvCxnSpPr>
          <p:nvPr/>
        </p:nvCxnSpPr>
        <p:spPr>
          <a:xfrm flipV="1">
            <a:off x="3375172" y="4719591"/>
            <a:ext cx="0" cy="23297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圓角矩形 31">
            <a:extLst>
              <a:ext uri="{FF2B5EF4-FFF2-40B4-BE49-F238E27FC236}">
                <a16:creationId xmlns:a16="http://schemas.microsoft.com/office/drawing/2014/main" id="{E64685B9-31AF-C12E-0FDC-CBF5EAD60282}"/>
              </a:ext>
            </a:extLst>
          </p:cNvPr>
          <p:cNvSpPr/>
          <p:nvPr/>
        </p:nvSpPr>
        <p:spPr>
          <a:xfrm>
            <a:off x="2634919" y="4207959"/>
            <a:ext cx="1480505" cy="433182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Classification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01533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EFCC10-E346-D46F-9B6E-54D6428D0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Dense Passage Retrieval (DPR)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774F21D-AC8E-CBC8-4F17-350BEC126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3" y="1879346"/>
            <a:ext cx="10058400" cy="425850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TW" sz="2800" b="1" dirty="0"/>
              <a:t>Training the encoders</a:t>
            </a:r>
            <a:endParaRPr lang="en-US" altLang="zh-TW" sz="1800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Goal:  </a:t>
            </a:r>
            <a:r>
              <a:rPr lang="en-US" sz="2400" b="1" dirty="0"/>
              <a:t>Relevant </a:t>
            </a:r>
            <a:r>
              <a:rPr lang="en-US" sz="2400" dirty="0"/>
              <a:t>pairs of questions and passages will have </a:t>
            </a:r>
            <a:r>
              <a:rPr lang="en-US" sz="2400" b="1" dirty="0"/>
              <a:t>smaller distance </a:t>
            </a:r>
            <a:r>
              <a:rPr lang="en-US" sz="2400" dirty="0"/>
              <a:t>than the irrelevant ones</a:t>
            </a:r>
          </a:p>
          <a:p>
            <a:pPr marL="201168" lvl="1" indent="0">
              <a:lnSpc>
                <a:spcPct val="100000"/>
              </a:lnSpc>
              <a:buNone/>
            </a:pPr>
            <a:r>
              <a:rPr lang="en-US" sz="2400" dirty="0"/>
              <a:t> 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TW" sz="2400" dirty="0"/>
              <a:t>Training data</a:t>
            </a:r>
            <a:endParaRPr lang="zh-TW" altLang="en-US" sz="24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50A4DF6-9D33-DC85-3CF6-2068B81DB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59</a:t>
            </a:fld>
            <a:endParaRPr lang="zh-TW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DA719D-52CA-0F4F-6112-D265BB3D6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8825" y="4690791"/>
            <a:ext cx="6482766" cy="62079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88A4D3A-DBE7-07FE-6A4A-DA78C8256D66}"/>
              </a:ext>
            </a:extLst>
          </p:cNvPr>
          <p:cNvSpPr/>
          <p:nvPr/>
        </p:nvSpPr>
        <p:spPr>
          <a:xfrm>
            <a:off x="3809134" y="4690348"/>
            <a:ext cx="446809" cy="706582"/>
          </a:xfrm>
          <a:prstGeom prst="rect">
            <a:avLst/>
          </a:prstGeom>
          <a:noFill/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D40999-A999-FC32-A0D8-7C685175B26D}"/>
              </a:ext>
            </a:extLst>
          </p:cNvPr>
          <p:cNvSpPr txBox="1"/>
          <p:nvPr/>
        </p:nvSpPr>
        <p:spPr>
          <a:xfrm>
            <a:off x="3338043" y="5448740"/>
            <a:ext cx="9421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sz="1600" dirty="0">
                <a:solidFill>
                  <a:schemeClr val="bg2">
                    <a:lumMod val="50000"/>
                  </a:schemeClr>
                </a:solidFill>
              </a:rPr>
              <a:t>Question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C71A21-5474-1BCF-2055-0E67EDA9767B}"/>
              </a:ext>
            </a:extLst>
          </p:cNvPr>
          <p:cNvSpPr/>
          <p:nvPr/>
        </p:nvSpPr>
        <p:spPr>
          <a:xfrm>
            <a:off x="4344958" y="4689905"/>
            <a:ext cx="544831" cy="706582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DF8F8D-7185-51A8-B208-FE2941325D13}"/>
              </a:ext>
            </a:extLst>
          </p:cNvPr>
          <p:cNvSpPr txBox="1"/>
          <p:nvPr/>
        </p:nvSpPr>
        <p:spPr>
          <a:xfrm>
            <a:off x="4255943" y="5475332"/>
            <a:ext cx="9525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sz="1600" dirty="0">
                <a:solidFill>
                  <a:srgbClr val="92D050"/>
                </a:solidFill>
              </a:rPr>
              <a:t>Relevant </a:t>
            </a:r>
            <a:br>
              <a:rPr lang="en-TW" sz="1600" dirty="0">
                <a:solidFill>
                  <a:srgbClr val="92D050"/>
                </a:solidFill>
              </a:rPr>
            </a:br>
            <a:r>
              <a:rPr lang="en-TW" sz="1600" dirty="0">
                <a:solidFill>
                  <a:srgbClr val="92D050"/>
                </a:solidFill>
              </a:rPr>
              <a:t>Passage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0630F1-4C4A-D703-5450-CB243FFE78A9}"/>
              </a:ext>
            </a:extLst>
          </p:cNvPr>
          <p:cNvSpPr/>
          <p:nvPr/>
        </p:nvSpPr>
        <p:spPr>
          <a:xfrm>
            <a:off x="5054552" y="4699853"/>
            <a:ext cx="2370618" cy="70658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005B35-5F6F-A10C-1FEE-1D4341B63BA6}"/>
              </a:ext>
            </a:extLst>
          </p:cNvPr>
          <p:cNvSpPr txBox="1"/>
          <p:nvPr/>
        </p:nvSpPr>
        <p:spPr>
          <a:xfrm>
            <a:off x="5413595" y="5465956"/>
            <a:ext cx="20115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>
                <a:solidFill>
                  <a:srgbClr val="C00000"/>
                </a:solidFill>
              </a:rPr>
              <a:t>n</a:t>
            </a:r>
            <a:r>
              <a:rPr lang="en-TW" sz="1600" dirty="0">
                <a:solidFill>
                  <a:srgbClr val="C00000"/>
                </a:solidFill>
              </a:rPr>
              <a:t> Irrelevant Passages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8263DC-4005-9074-E09B-4764E7AA069B}"/>
              </a:ext>
            </a:extLst>
          </p:cNvPr>
          <p:cNvSpPr/>
          <p:nvPr/>
        </p:nvSpPr>
        <p:spPr>
          <a:xfrm>
            <a:off x="7809478" y="4743511"/>
            <a:ext cx="414301" cy="289293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50F5DD-87FF-1616-DA56-E02D2A3DBCF6}"/>
              </a:ext>
            </a:extLst>
          </p:cNvPr>
          <p:cNvSpPr txBox="1"/>
          <p:nvPr/>
        </p:nvSpPr>
        <p:spPr>
          <a:xfrm>
            <a:off x="7697958" y="4415348"/>
            <a:ext cx="20115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>
                <a:solidFill>
                  <a:schemeClr val="accent1"/>
                </a:solidFill>
              </a:rPr>
              <a:t>m</a:t>
            </a:r>
            <a:r>
              <a:rPr lang="en-TW" sz="1600" dirty="0">
                <a:solidFill>
                  <a:schemeClr val="accent1"/>
                </a:solidFill>
              </a:rPr>
              <a:t> training instances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6A990829-348E-8655-CC94-52B1489D580F}"/>
              </a:ext>
            </a:extLst>
          </p:cNvPr>
          <p:cNvSpPr txBox="1"/>
          <p:nvPr/>
        </p:nvSpPr>
        <p:spPr>
          <a:xfrm>
            <a:off x="2365395" y="6444233"/>
            <a:ext cx="74612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sz="1400" dirty="0"/>
              <a:t>Karpukhin et al., 2020. Dense Passage Retrieval for Open-Domain </a:t>
            </a:r>
            <a:r>
              <a:rPr lang="en-TW" sz="1400"/>
              <a:t>Question Answering</a:t>
            </a:r>
            <a:r>
              <a:rPr lang="en-US" sz="1400" dirty="0"/>
              <a:t>. EMNLP 2020.</a:t>
            </a:r>
            <a:endParaRPr lang="en-TW" sz="1400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2C7E458-2ACC-8D67-92EA-33944F601B15}"/>
              </a:ext>
            </a:extLst>
          </p:cNvPr>
          <p:cNvSpPr txBox="1"/>
          <p:nvPr/>
        </p:nvSpPr>
        <p:spPr>
          <a:xfrm>
            <a:off x="5879840" y="1402786"/>
            <a:ext cx="5691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CGUDL_2025_Spring/blob/main/slides/ssl_0421.pptx</a:t>
            </a:r>
          </a:p>
          <a:p>
            <a:r>
              <a:rPr kumimoji="1" lang="en" altLang="zh-TW" dirty="0"/>
              <a:t>CGUDL_2025_fall/blob/main/slides/w11_ssl_1112.pdf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3766371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6CD83C5C-EA61-C255-DF28-E9CFF9EEA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3065145"/>
            <a:ext cx="3200400" cy="727709"/>
          </a:xfrm>
        </p:spPr>
        <p:txBody>
          <a:bodyPr anchor="ctr">
            <a:normAutofit/>
          </a:bodyPr>
          <a:lstStyle/>
          <a:p>
            <a:r>
              <a:rPr lang="en-US" altLang="zh-TW" sz="4800" dirty="0"/>
              <a:t>Thank you!</a:t>
            </a:r>
            <a:endParaRPr lang="zh-TW" altLang="en-US" sz="4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60AC63-905C-E7E8-4AEA-D711150C4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60</a:t>
            </a:fld>
            <a:endParaRPr lang="en-US" dirty="0"/>
          </a:p>
        </p:txBody>
      </p:sp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AB6151A5-2D6F-3748-8575-59D412696C53}"/>
              </a:ext>
            </a:extLst>
          </p:cNvPr>
          <p:cNvSpPr txBox="1">
            <a:spLocks/>
          </p:cNvSpPr>
          <p:nvPr/>
        </p:nvSpPr>
        <p:spPr>
          <a:xfrm>
            <a:off x="4725880" y="2315977"/>
            <a:ext cx="4737788" cy="251621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林英嘉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0" indent="0">
              <a:buFont typeface="Calibri" panose="020F0502020204030204" pitchFamily="34" charset="0"/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✉️ </a:t>
            </a:r>
            <a:r>
              <a:rPr kumimoji="1" lang="en-US" altLang="zh-TW" sz="3200" dirty="0" err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yjlin@cgu.edu.tw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0" indent="0">
              <a:buFont typeface="Calibri" panose="020F0502020204030204" pitchFamily="34" charset="0"/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TA: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林宣辰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✉️ </a:t>
            </a: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b1128015@cgu.edu.tw</a:t>
            </a:r>
          </a:p>
        </p:txBody>
      </p:sp>
    </p:spTree>
    <p:extLst>
      <p:ext uri="{BB962C8B-B14F-4D97-AF65-F5344CB8AC3E}">
        <p14:creationId xmlns:p14="http://schemas.microsoft.com/office/powerpoint/2010/main" val="2684697706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urse_template_DL" id="{E71C07C9-5718-B34F-9EA9-A4FDE47A262C}" vid="{F05AA8C9-6C58-904C-AE8A-42257BEE94D0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回顧</Template>
  <TotalTime>4699</TotalTime>
  <Words>3587</Words>
  <Application>Microsoft Macintosh PowerPoint</Application>
  <PresentationFormat>寬螢幕</PresentationFormat>
  <Paragraphs>601</Paragraphs>
  <Slides>60</Slides>
  <Notes>16</Notes>
  <HiddenSlides>1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60</vt:i4>
      </vt:variant>
    </vt:vector>
  </HeadingPairs>
  <TitlesOfParts>
    <vt:vector size="65" baseType="lpstr">
      <vt:lpstr>Microsoft JhengHei</vt:lpstr>
      <vt:lpstr>Arial</vt:lpstr>
      <vt:lpstr>Calibri</vt:lpstr>
      <vt:lpstr>Cambria Math</vt:lpstr>
      <vt:lpstr>回顧</vt:lpstr>
      <vt:lpstr>自然語言處理與應用 Natural Language Processing and Applications</vt:lpstr>
      <vt:lpstr>Outline</vt:lpstr>
      <vt:lpstr>LLM Introduction</vt:lpstr>
      <vt:lpstr>Transformer 架構的後續應用</vt:lpstr>
      <vt:lpstr>[Recap] GPT 是一個語言模型</vt:lpstr>
      <vt:lpstr>先 Pre-training，再 Fine-tuning</vt:lpstr>
      <vt:lpstr>[Recap] 語言模型以文字接龍進行訓練</vt:lpstr>
      <vt:lpstr>常見 Language Models</vt:lpstr>
      <vt:lpstr>[Recap] Decoding Strategies</vt:lpstr>
      <vt:lpstr>[Recap] Summary and the Thinking Route</vt:lpstr>
      <vt:lpstr>大型語言模型</vt:lpstr>
      <vt:lpstr>The Revolution of ChatGPT</vt:lpstr>
      <vt:lpstr>寫程式？</vt:lpstr>
      <vt:lpstr>Code Llama</vt:lpstr>
      <vt:lpstr>大型語言模型的演化樹</vt:lpstr>
      <vt:lpstr>NLP Model Sizes (2018 – 2025)</vt:lpstr>
      <vt:lpstr>很多厲害的大型語言模型都需要上網...</vt:lpstr>
      <vt:lpstr>PowerPoint 簡報</vt:lpstr>
      <vt:lpstr>以前的 GPT 有口吃</vt:lpstr>
      <vt:lpstr>GPT 系列作品時間線</vt:lpstr>
      <vt:lpstr>From GPT-2 to GPT-3</vt:lpstr>
      <vt:lpstr>GPT-3: Language Models are Few-Shot Learners</vt:lpstr>
      <vt:lpstr>(Recap) Traditional Fine-tuning</vt:lpstr>
      <vt:lpstr>模型規模增加後出現的 few-shot 能力</vt:lpstr>
      <vt:lpstr>InstructGPT</vt:lpstr>
      <vt:lpstr>From GPT-3 to GPT-3.5</vt:lpstr>
      <vt:lpstr>Problems of GPT-3</vt:lpstr>
      <vt:lpstr>Reason that causes the issues</vt:lpstr>
      <vt:lpstr>The Pre-training then Fine-tuning Paradigm</vt:lpstr>
      <vt:lpstr>語言模型會回答嗎？</vt:lpstr>
      <vt:lpstr>Supervised Fine-Tuning (SFT)</vt:lpstr>
      <vt:lpstr>The Pre-training then Fine-tuning Paradigm</vt:lpstr>
      <vt:lpstr>Atari – a common environment for RL</vt:lpstr>
      <vt:lpstr>RLHF 的進行過程</vt:lpstr>
      <vt:lpstr>Supervised Learning vs. Reinforcement Learning</vt:lpstr>
      <vt:lpstr>Supervised Learning vs. Reinforcement Learning</vt:lpstr>
      <vt:lpstr>Main Differences between BERT and InstructGPT</vt:lpstr>
      <vt:lpstr>Chinese LLMs</vt:lpstr>
      <vt:lpstr>Announcements</vt:lpstr>
      <vt:lpstr>Week 12 要繳交什麼？</vt:lpstr>
      <vt:lpstr>Week 12 繳交注意事項</vt:lpstr>
      <vt:lpstr>大型語言模型應用</vt:lpstr>
      <vt:lpstr>讓大型語言模型適用於你的任務？</vt:lpstr>
      <vt:lpstr>提示詞工程與上下文工程 (範例)</vt:lpstr>
      <vt:lpstr>資訊檢索 (Information Retrieval)</vt:lpstr>
      <vt:lpstr>增加上下文資訊的過程 (RAG)</vt:lpstr>
      <vt:lpstr>Retrieval-Augmented Generation (RAG) 框架</vt:lpstr>
      <vt:lpstr>Why do we need RAG?</vt:lpstr>
      <vt:lpstr>接下來我們專注於 Retriever 如何建立</vt:lpstr>
      <vt:lpstr>Task: Open-domain question answering (ODQA)</vt:lpstr>
      <vt:lpstr>Retrievers for RAG</vt:lpstr>
      <vt:lpstr>PowerPoint 簡報</vt:lpstr>
      <vt:lpstr>BERT as a Cross Encoder</vt:lpstr>
      <vt:lpstr>Cross-encoder 速度問題</vt:lpstr>
      <vt:lpstr>Sentence-BERT</vt:lpstr>
      <vt:lpstr>Why does Sentence-BERT need pooling?</vt:lpstr>
      <vt:lpstr>Pooling of Sentence-BERT</vt:lpstr>
      <vt:lpstr>Computation time for Bi-encoders and Cross encoders</vt:lpstr>
      <vt:lpstr>Dense Passage Retrieval (DPR)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深度學習 Deep Learning</dc:title>
  <dc:creator>林英嘉</dc:creator>
  <cp:lastModifiedBy>林英嘉</cp:lastModifiedBy>
  <cp:revision>1493</cp:revision>
  <dcterms:created xsi:type="dcterms:W3CDTF">2025-02-07T09:05:59Z</dcterms:created>
  <dcterms:modified xsi:type="dcterms:W3CDTF">2026-05-04T04:29:35Z</dcterms:modified>
</cp:coreProperties>
</file>