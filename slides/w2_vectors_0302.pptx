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3"/>
  </p:notesMasterIdLst>
  <p:sldIdLst>
    <p:sldId id="508" r:id="rId2"/>
    <p:sldId id="278" r:id="rId3"/>
    <p:sldId id="694" r:id="rId4"/>
    <p:sldId id="734" r:id="rId5"/>
    <p:sldId id="735" r:id="rId6"/>
    <p:sldId id="736" r:id="rId7"/>
    <p:sldId id="737" r:id="rId8"/>
    <p:sldId id="732" r:id="rId9"/>
    <p:sldId id="738" r:id="rId10"/>
    <p:sldId id="674" r:id="rId11"/>
    <p:sldId id="730" r:id="rId12"/>
    <p:sldId id="544" r:id="rId13"/>
    <p:sldId id="545" r:id="rId14"/>
    <p:sldId id="550" r:id="rId15"/>
    <p:sldId id="275" r:id="rId16"/>
    <p:sldId id="724" r:id="rId17"/>
    <p:sldId id="731" r:id="rId18"/>
    <p:sldId id="273" r:id="rId19"/>
    <p:sldId id="721" r:id="rId20"/>
    <p:sldId id="733" r:id="rId21"/>
    <p:sldId id="487" r:id="rId22"/>
    <p:sldId id="488" r:id="rId23"/>
    <p:sldId id="489" r:id="rId24"/>
    <p:sldId id="592" r:id="rId25"/>
    <p:sldId id="740" r:id="rId26"/>
    <p:sldId id="560" r:id="rId27"/>
    <p:sldId id="588" r:id="rId28"/>
    <p:sldId id="589" r:id="rId29"/>
    <p:sldId id="345" r:id="rId30"/>
    <p:sldId id="347" r:id="rId31"/>
    <p:sldId id="572" r:id="rId32"/>
    <p:sldId id="567" r:id="rId33"/>
    <p:sldId id="741" r:id="rId34"/>
    <p:sldId id="590" r:id="rId35"/>
    <p:sldId id="591" r:id="rId36"/>
    <p:sldId id="569" r:id="rId37"/>
    <p:sldId id="593" r:id="rId38"/>
    <p:sldId id="490" r:id="rId39"/>
    <p:sldId id="573" r:id="rId40"/>
    <p:sldId id="586" r:id="rId41"/>
    <p:sldId id="739" r:id="rId4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F773BFB9-3CF9-6F4C-8A7C-856EA42EA4CE}">
          <p14:sldIdLst>
            <p14:sldId id="508"/>
            <p14:sldId id="278"/>
            <p14:sldId id="694"/>
            <p14:sldId id="734"/>
            <p14:sldId id="735"/>
            <p14:sldId id="736"/>
            <p14:sldId id="737"/>
            <p14:sldId id="732"/>
            <p14:sldId id="738"/>
            <p14:sldId id="674"/>
            <p14:sldId id="730"/>
            <p14:sldId id="544"/>
            <p14:sldId id="545"/>
            <p14:sldId id="550"/>
            <p14:sldId id="275"/>
            <p14:sldId id="724"/>
            <p14:sldId id="731"/>
            <p14:sldId id="273"/>
            <p14:sldId id="721"/>
          </p14:sldIdLst>
        </p14:section>
        <p14:section name="w2v" id="{C3BFDE14-7485-4040-8CE0-9546B35DBBA6}">
          <p14:sldIdLst>
            <p14:sldId id="733"/>
            <p14:sldId id="487"/>
            <p14:sldId id="488"/>
            <p14:sldId id="489"/>
            <p14:sldId id="592"/>
            <p14:sldId id="740"/>
            <p14:sldId id="560"/>
            <p14:sldId id="588"/>
            <p14:sldId id="589"/>
            <p14:sldId id="345"/>
            <p14:sldId id="347"/>
            <p14:sldId id="572"/>
            <p14:sldId id="567"/>
            <p14:sldId id="741"/>
            <p14:sldId id="590"/>
            <p14:sldId id="591"/>
            <p14:sldId id="569"/>
            <p14:sldId id="593"/>
            <p14:sldId id="490"/>
            <p14:sldId id="573"/>
            <p14:sldId id="586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777"/>
    <p:restoredTop sz="96327"/>
  </p:normalViewPr>
  <p:slideViewPr>
    <p:cSldViewPr snapToGrid="0">
      <p:cViewPr varScale="1">
        <p:scale>
          <a:sx n="152" d="100"/>
          <a:sy n="152" d="100"/>
        </p:scale>
        <p:origin x="9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2026/3/2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3/2/26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3/2/26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3/2/26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3/2/26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sli.do/event/aHseUsADmWmyndH7bc16jf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16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36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文字向量基礎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2026/03/02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4999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NLP0302 (</a:t>
            </a:r>
            <a:r>
              <a:rPr kumimoji="1" lang="en" altLang="zh-TW" dirty="0">
                <a:hlinkClick r:id="rId3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7660833-ED5D-653F-4266-ADA7388E4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4773" y="4941027"/>
            <a:ext cx="1707807" cy="1707807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346" y="4730501"/>
            <a:ext cx="2108982" cy="2108982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03909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3B00E6F-FB7E-6C2C-CB88-2CA5416A0A67}"/>
              </a:ext>
            </a:extLst>
          </p:cNvPr>
          <p:cNvSpPr txBox="1"/>
          <p:nvPr/>
        </p:nvSpPr>
        <p:spPr>
          <a:xfrm>
            <a:off x="653143" y="1868198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rgbClr val="0070C0"/>
                </a:solidFill>
              </a:rPr>
              <a:t>文字向量基礎</a:t>
            </a:r>
            <a:endParaRPr kumimoji="1" lang="en-US" altLang="zh-TW" sz="2400" b="1" dirty="0">
              <a:solidFill>
                <a:srgbClr val="0070C0"/>
              </a:solidFill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Introduction to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Sentence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Word embeddings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F0F36C7-FD81-C42F-E30B-986747AB63FE}"/>
              </a:ext>
            </a:extLst>
          </p:cNvPr>
          <p:cNvSpPr/>
          <p:nvPr/>
        </p:nvSpPr>
        <p:spPr>
          <a:xfrm>
            <a:off x="1049154" y="2531444"/>
            <a:ext cx="4649002" cy="4908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904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EDECBF-1CAE-1B26-F24E-4954D182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影像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文字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3E92C2-211B-DA29-2BF2-F4DA33472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EBC7127-154F-9C33-52B7-035DCE9B3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022" y="2342347"/>
            <a:ext cx="1469858" cy="1477697"/>
          </a:xfrm>
          <a:prstGeom prst="rect">
            <a:avLst/>
          </a:prstGeom>
        </p:spPr>
      </p:pic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A1FEA643-C81C-3390-7119-7239A186A66C}"/>
              </a:ext>
            </a:extLst>
          </p:cNvPr>
          <p:cNvCxnSpPr>
            <a:cxnSpLocks/>
          </p:cNvCxnSpPr>
          <p:nvPr/>
        </p:nvCxnSpPr>
        <p:spPr>
          <a:xfrm>
            <a:off x="5055287" y="313864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79F864-5932-82AC-74D1-D9567162C935}"/>
              </a:ext>
            </a:extLst>
          </p:cNvPr>
          <p:cNvSpPr txBox="1"/>
          <p:nvPr/>
        </p:nvSpPr>
        <p:spPr>
          <a:xfrm>
            <a:off x="6011516" y="2846259"/>
            <a:ext cx="31515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28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x</a:t>
            </a:r>
            <a:r>
              <a:rPr kumimoji="1" lang="zh-TW" altLang="en-US" sz="3200" dirty="0"/>
              <a:t> </a:t>
            </a:r>
            <a:r>
              <a:rPr kumimoji="1" lang="en-US" altLang="zh-TW" sz="3200" dirty="0"/>
              <a:t>28 </a:t>
            </a:r>
            <a:r>
              <a:rPr kumimoji="1" lang="zh-TW" altLang="en-US" sz="3200" dirty="0"/>
              <a:t>的矩陣</a:t>
            </a: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CD4E822C-A082-FDB9-7FFC-F56ECED87EBE}"/>
              </a:ext>
            </a:extLst>
          </p:cNvPr>
          <p:cNvCxnSpPr>
            <a:cxnSpLocks/>
          </p:cNvCxnSpPr>
          <p:nvPr/>
        </p:nvCxnSpPr>
        <p:spPr>
          <a:xfrm>
            <a:off x="5055287" y="5350667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DCA2D4B-D5DA-3C8A-91AF-0EA090AB03E1}"/>
              </a:ext>
            </a:extLst>
          </p:cNvPr>
          <p:cNvSpPr txBox="1"/>
          <p:nvPr/>
        </p:nvSpPr>
        <p:spPr>
          <a:xfrm>
            <a:off x="5768056" y="5064011"/>
            <a:ext cx="11984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200" dirty="0"/>
              <a:t>?</a:t>
            </a:r>
            <a:endParaRPr kumimoji="1" lang="zh-TW" altLang="en-US" sz="3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5004EEB-8254-10DC-AAC9-C7AF4929FCAB}"/>
              </a:ext>
            </a:extLst>
          </p:cNvPr>
          <p:cNvSpPr txBox="1"/>
          <p:nvPr/>
        </p:nvSpPr>
        <p:spPr>
          <a:xfrm>
            <a:off x="1495082" y="5064011"/>
            <a:ext cx="36662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dirty="0"/>
              <a:t>I want to study AI</a:t>
            </a:r>
            <a:endParaRPr kumimoji="1" lang="zh-TW" altLang="en-US" sz="28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9843B0F-F742-2B53-19C8-D013759AC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9530" y="4563776"/>
            <a:ext cx="2099756" cy="1573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8116B2D-5703-6D90-8B7E-88FCD7CB1D33}"/>
              </a:ext>
            </a:extLst>
          </p:cNvPr>
          <p:cNvSpPr txBox="1"/>
          <p:nvPr/>
        </p:nvSpPr>
        <p:spPr>
          <a:xfrm>
            <a:off x="7855802" y="6286468"/>
            <a:ext cx="34131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100" dirty="0"/>
              <a:t>Figure source: https://</a:t>
            </a:r>
            <a:r>
              <a:rPr kumimoji="1" lang="en-US" altLang="zh-TW" sz="1100" dirty="0" err="1"/>
              <a:t>kopu.chat</a:t>
            </a:r>
            <a:r>
              <a:rPr kumimoji="1" lang="en-US" altLang="zh-TW" sz="1100" dirty="0"/>
              <a:t>/wp-content/uploads/2017/04/binary-507x380.jpeg</a:t>
            </a:r>
            <a:endParaRPr kumimoji="1"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0389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EBBA0F-2A99-0C66-D569-0003EFE1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Embeddings</a:t>
            </a:r>
            <a:r>
              <a:rPr kumimoji="1" lang="zh-TW" altLang="en-US" dirty="0"/>
              <a:t>（嵌入）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97874BB-B58B-DFFF-A237-0C87DE396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kumimoji="1" lang="zh-TW" altLang="en-US" sz="2400" dirty="0"/>
              <a:t>💡在</a:t>
            </a:r>
            <a:r>
              <a:rPr kumimoji="1" lang="en-US" altLang="zh-TW" sz="2400" dirty="0"/>
              <a:t>NLP </a:t>
            </a:r>
            <a:r>
              <a:rPr kumimoji="1" lang="zh-TW" altLang="en-US" sz="2400" dirty="0"/>
              <a:t>中，</a:t>
            </a:r>
            <a:r>
              <a:rPr kumimoji="1" lang="en" altLang="zh-TW" sz="2400" dirty="0"/>
              <a:t>Embedding</a:t>
            </a:r>
            <a:r>
              <a:rPr kumimoji="1" lang="en-US" altLang="zh-TW" sz="2400" dirty="0"/>
              <a:t>s </a:t>
            </a:r>
            <a:r>
              <a:rPr kumimoji="1" lang="zh-TW" altLang="en-US" sz="2400" dirty="0"/>
              <a:t>代表把文字（</a:t>
            </a:r>
            <a:r>
              <a:rPr kumimoji="1" lang="en" altLang="zh-TW" sz="2400" dirty="0"/>
              <a:t>word</a:t>
            </a:r>
            <a:r>
              <a:rPr kumimoji="1" lang="zh-TW" altLang="en-US" sz="2400" dirty="0"/>
              <a:t> </a:t>
            </a:r>
            <a:r>
              <a:rPr kumimoji="1" lang="en-US" altLang="zh-TW" sz="2400" dirty="0"/>
              <a:t>/ </a:t>
            </a:r>
            <a:r>
              <a:rPr kumimoji="1" lang="en" altLang="zh-TW" sz="2400" dirty="0"/>
              <a:t>token </a:t>
            </a:r>
            <a:r>
              <a:rPr kumimoji="1" lang="en-US" altLang="zh-TW" sz="2400" dirty="0"/>
              <a:t>/ sentence</a:t>
            </a:r>
            <a:r>
              <a:rPr kumimoji="1" lang="zh-TW" altLang="en" sz="2400" dirty="0"/>
              <a:t>）</a:t>
            </a:r>
            <a:r>
              <a:rPr kumimoji="1" lang="zh-TW" altLang="en-US" sz="2400" dirty="0"/>
              <a:t>映射成向量，使得向量之間的距離或方向能反映它在語料中的用法與語意相似性。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2433592-C644-3E8D-048B-AF99A4AC7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0954E226-0776-37D2-2937-18DC82C4F3F2}"/>
              </a:ext>
            </a:extLst>
          </p:cNvPr>
          <p:cNvSpPr/>
          <p:nvPr/>
        </p:nvSpPr>
        <p:spPr>
          <a:xfrm>
            <a:off x="1164653" y="3607157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Tokyo</a:t>
            </a:r>
            <a:endParaRPr kumimoji="1" lang="zh-TW" altLang="en-US" dirty="0"/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AAAF02D-E016-201A-C6CF-99371631A152}"/>
              </a:ext>
            </a:extLst>
          </p:cNvPr>
          <p:cNvSpPr/>
          <p:nvPr/>
        </p:nvSpPr>
        <p:spPr>
          <a:xfrm>
            <a:off x="1164652" y="4225490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Kuala Lumpur</a:t>
            </a:r>
            <a:endParaRPr kumimoji="1" lang="zh-TW" altLang="en-US" dirty="0"/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40A2768E-4967-F0BA-3049-32C5E05E94A0}"/>
              </a:ext>
            </a:extLst>
          </p:cNvPr>
          <p:cNvSpPr/>
          <p:nvPr/>
        </p:nvSpPr>
        <p:spPr>
          <a:xfrm>
            <a:off x="1164651" y="4828039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Japan</a:t>
            </a:r>
            <a:endParaRPr kumimoji="1" lang="zh-TW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724B7B-536F-2E9E-1069-5A31F045162C}"/>
              </a:ext>
            </a:extLst>
          </p:cNvPr>
          <p:cNvSpPr/>
          <p:nvPr/>
        </p:nvSpPr>
        <p:spPr>
          <a:xfrm>
            <a:off x="4052235" y="4023360"/>
            <a:ext cx="3311091" cy="13667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Embedding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2F993336-647E-29FC-8F6F-45629A309734}"/>
              </a:ext>
            </a:extLst>
          </p:cNvPr>
          <p:cNvSpPr/>
          <p:nvPr/>
        </p:nvSpPr>
        <p:spPr>
          <a:xfrm>
            <a:off x="8181474" y="3597532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[0.12, 0.33, 0.73,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4B0E274E-4D91-870A-B7A2-F89000E952E3}"/>
              </a:ext>
            </a:extLst>
          </p:cNvPr>
          <p:cNvSpPr/>
          <p:nvPr/>
        </p:nvSpPr>
        <p:spPr>
          <a:xfrm>
            <a:off x="8181474" y="4219708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[0.24, 0.63, 0.39,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35F1D473-177C-14D1-CC1D-891A143FA0A7}"/>
              </a:ext>
            </a:extLst>
          </p:cNvPr>
          <p:cNvSpPr/>
          <p:nvPr/>
        </p:nvSpPr>
        <p:spPr>
          <a:xfrm>
            <a:off x="8181474" y="5409397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[0.18, 0.47, 0.75,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574AF2D0-FD46-345C-2D7D-404400D01BA7}"/>
              </a:ext>
            </a:extLst>
          </p:cNvPr>
          <p:cNvSpPr/>
          <p:nvPr/>
        </p:nvSpPr>
        <p:spPr>
          <a:xfrm>
            <a:off x="1164651" y="5419598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Malaysia</a:t>
            </a:r>
            <a:endParaRPr kumimoji="1" lang="zh-TW" altLang="en-US" dirty="0"/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3F33C0D4-F1EC-EDC2-8300-A0D24DEAECE1}"/>
              </a:ext>
            </a:extLst>
          </p:cNvPr>
          <p:cNvSpPr/>
          <p:nvPr/>
        </p:nvSpPr>
        <p:spPr>
          <a:xfrm>
            <a:off x="8181474" y="4814552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[0.03, 0.86, 0.21,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E817877E-0B12-6C24-0C3C-BE79DBF11B7C}"/>
              </a:ext>
            </a:extLst>
          </p:cNvPr>
          <p:cNvCxnSpPr>
            <a:cxnSpLocks/>
          </p:cNvCxnSpPr>
          <p:nvPr/>
        </p:nvCxnSpPr>
        <p:spPr>
          <a:xfrm>
            <a:off x="3276215" y="3864450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F3C23116-905C-16EE-97F5-23B58C353DBD}"/>
              </a:ext>
            </a:extLst>
          </p:cNvPr>
          <p:cNvCxnSpPr>
            <a:cxnSpLocks/>
          </p:cNvCxnSpPr>
          <p:nvPr/>
        </p:nvCxnSpPr>
        <p:spPr>
          <a:xfrm>
            <a:off x="3276215" y="4466564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1C088A54-A2A6-97EE-0D98-9416CB0DACD0}"/>
              </a:ext>
            </a:extLst>
          </p:cNvPr>
          <p:cNvCxnSpPr>
            <a:cxnSpLocks/>
          </p:cNvCxnSpPr>
          <p:nvPr/>
        </p:nvCxnSpPr>
        <p:spPr>
          <a:xfrm>
            <a:off x="3276215" y="5068678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790B9FAE-1943-89AD-F62C-AD3B780826A5}"/>
              </a:ext>
            </a:extLst>
          </p:cNvPr>
          <p:cNvCxnSpPr>
            <a:cxnSpLocks/>
          </p:cNvCxnSpPr>
          <p:nvPr/>
        </p:nvCxnSpPr>
        <p:spPr>
          <a:xfrm>
            <a:off x="3276215" y="5670792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9C75A6C5-07A1-5647-DB3F-65E4E731F92A}"/>
              </a:ext>
            </a:extLst>
          </p:cNvPr>
          <p:cNvCxnSpPr>
            <a:cxnSpLocks/>
          </p:cNvCxnSpPr>
          <p:nvPr/>
        </p:nvCxnSpPr>
        <p:spPr>
          <a:xfrm>
            <a:off x="7538602" y="3864450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EC76A1E4-990D-A775-AE77-0A88E68FFE2D}"/>
              </a:ext>
            </a:extLst>
          </p:cNvPr>
          <p:cNvCxnSpPr>
            <a:cxnSpLocks/>
          </p:cNvCxnSpPr>
          <p:nvPr/>
        </p:nvCxnSpPr>
        <p:spPr>
          <a:xfrm>
            <a:off x="7538602" y="4466564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0E96A30B-3864-C708-749A-9518B711D0BB}"/>
              </a:ext>
            </a:extLst>
          </p:cNvPr>
          <p:cNvCxnSpPr>
            <a:cxnSpLocks/>
          </p:cNvCxnSpPr>
          <p:nvPr/>
        </p:nvCxnSpPr>
        <p:spPr>
          <a:xfrm>
            <a:off x="7538602" y="5068678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76841CAA-00CC-6AB5-A684-6CEC13856156}"/>
              </a:ext>
            </a:extLst>
          </p:cNvPr>
          <p:cNvCxnSpPr>
            <a:cxnSpLocks/>
          </p:cNvCxnSpPr>
          <p:nvPr/>
        </p:nvCxnSpPr>
        <p:spPr>
          <a:xfrm>
            <a:off x="7538602" y="5670792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1165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F87D96-62E5-8E94-9B32-C82F0478D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Embedding: </a:t>
            </a:r>
            <a:r>
              <a:rPr kumimoji="1" lang="zh-TW" altLang="en-US" dirty="0"/>
              <a:t>把</a:t>
            </a:r>
            <a:r>
              <a:rPr kumimoji="1" lang="en-US" altLang="zh-TW" dirty="0"/>
              <a:t>(</a:t>
            </a:r>
            <a:r>
              <a:rPr kumimoji="1" lang="zh-TW" altLang="en-US" dirty="0"/>
              <a:t>語義</a:t>
            </a:r>
            <a:r>
              <a:rPr kumimoji="1" lang="en-US" altLang="zh-TW" dirty="0"/>
              <a:t>)</a:t>
            </a:r>
            <a:r>
              <a:rPr kumimoji="1" lang="zh-TW" altLang="en-US" dirty="0"/>
              <a:t>資訊嵌入到向量中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3AB6339-1B2D-69A0-FCF1-87CBDA38B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EE590D36-F75C-8688-FB39-73C751427ED6}"/>
              </a:ext>
            </a:extLst>
          </p:cNvPr>
          <p:cNvCxnSpPr>
            <a:cxnSpLocks/>
          </p:cNvCxnSpPr>
          <p:nvPr/>
        </p:nvCxnSpPr>
        <p:spPr>
          <a:xfrm>
            <a:off x="6500678" y="3797889"/>
            <a:ext cx="48126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E91669B5-12A7-6592-FD9C-C4A76DD0FCC9}"/>
              </a:ext>
            </a:extLst>
          </p:cNvPr>
          <p:cNvSpPr txBox="1"/>
          <p:nvPr/>
        </p:nvSpPr>
        <p:spPr>
          <a:xfrm>
            <a:off x="9464338" y="2327440"/>
            <a:ext cx="6737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📍</a:t>
            </a: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CC2C7CD4-1945-EAB2-4D28-6842834CE07C}"/>
              </a:ext>
            </a:extLst>
          </p:cNvPr>
          <p:cNvSpPr txBox="1"/>
          <p:nvPr/>
        </p:nvSpPr>
        <p:spPr>
          <a:xfrm>
            <a:off x="10051480" y="2327440"/>
            <a:ext cx="924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Tokyo</a:t>
            </a:r>
            <a:endParaRPr kumimoji="1"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5171588-E532-2FBA-799A-CE96EC1836E9}"/>
              </a:ext>
            </a:extLst>
          </p:cNvPr>
          <p:cNvSpPr txBox="1"/>
          <p:nvPr/>
        </p:nvSpPr>
        <p:spPr>
          <a:xfrm>
            <a:off x="8793779" y="3026790"/>
            <a:ext cx="6737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🇯🇵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0B285CC-B70D-F7D5-0612-4FC83B4D74AD}"/>
              </a:ext>
            </a:extLst>
          </p:cNvPr>
          <p:cNvSpPr txBox="1"/>
          <p:nvPr/>
        </p:nvSpPr>
        <p:spPr>
          <a:xfrm>
            <a:off x="9380921" y="3025196"/>
            <a:ext cx="924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Japan</a:t>
            </a:r>
            <a:endParaRPr kumimoji="1"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6248B53-BABB-1B8F-A194-C27D25C42743}"/>
              </a:ext>
            </a:extLst>
          </p:cNvPr>
          <p:cNvSpPr txBox="1"/>
          <p:nvPr/>
        </p:nvSpPr>
        <p:spPr>
          <a:xfrm>
            <a:off x="8062256" y="4199364"/>
            <a:ext cx="6737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📍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6D342D0-3366-41FE-E75A-5C421E84549A}"/>
              </a:ext>
            </a:extLst>
          </p:cNvPr>
          <p:cNvSpPr txBox="1"/>
          <p:nvPr/>
        </p:nvSpPr>
        <p:spPr>
          <a:xfrm>
            <a:off x="8649398" y="4199364"/>
            <a:ext cx="1655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Kuala Lumpur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48BFF37-A6E0-A97A-6200-3676CB6B8D90}"/>
              </a:ext>
            </a:extLst>
          </p:cNvPr>
          <p:cNvSpPr txBox="1"/>
          <p:nvPr/>
        </p:nvSpPr>
        <p:spPr>
          <a:xfrm>
            <a:off x="7417365" y="4790992"/>
            <a:ext cx="6737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🇲🇾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8F737AB-9F55-EA38-3DAD-977FC3B71BD1}"/>
              </a:ext>
            </a:extLst>
          </p:cNvPr>
          <p:cNvSpPr txBox="1"/>
          <p:nvPr/>
        </p:nvSpPr>
        <p:spPr>
          <a:xfrm>
            <a:off x="8004507" y="4790992"/>
            <a:ext cx="1158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Malaysia</a:t>
            </a:r>
            <a:endParaRPr kumimoji="1" lang="zh-TW" altLang="en-US" dirty="0"/>
          </a:p>
        </p:txBody>
      </p:sp>
      <p:sp>
        <p:nvSpPr>
          <p:cNvPr id="32" name="圓角矩形 31">
            <a:extLst>
              <a:ext uri="{FF2B5EF4-FFF2-40B4-BE49-F238E27FC236}">
                <a16:creationId xmlns:a16="http://schemas.microsoft.com/office/drawing/2014/main" id="{65A608FA-7601-6A80-C542-3162B30C1509}"/>
              </a:ext>
            </a:extLst>
          </p:cNvPr>
          <p:cNvSpPr/>
          <p:nvPr/>
        </p:nvSpPr>
        <p:spPr>
          <a:xfrm>
            <a:off x="764021" y="2645448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Tokyo</a:t>
            </a:r>
            <a:endParaRPr kumimoji="1" lang="zh-TW" altLang="en-US" dirty="0"/>
          </a:p>
        </p:txBody>
      </p:sp>
      <p:sp>
        <p:nvSpPr>
          <p:cNvPr id="33" name="圓角矩形 32">
            <a:extLst>
              <a:ext uri="{FF2B5EF4-FFF2-40B4-BE49-F238E27FC236}">
                <a16:creationId xmlns:a16="http://schemas.microsoft.com/office/drawing/2014/main" id="{4ED23612-26FB-F238-4975-3845FC20F42D}"/>
              </a:ext>
            </a:extLst>
          </p:cNvPr>
          <p:cNvSpPr/>
          <p:nvPr/>
        </p:nvSpPr>
        <p:spPr>
          <a:xfrm>
            <a:off x="764020" y="3263781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Kuala Lumpur</a:t>
            </a:r>
            <a:endParaRPr kumimoji="1" lang="zh-TW" altLang="en-US" dirty="0"/>
          </a:p>
        </p:txBody>
      </p:sp>
      <p:sp>
        <p:nvSpPr>
          <p:cNvPr id="34" name="圓角矩形 33">
            <a:extLst>
              <a:ext uri="{FF2B5EF4-FFF2-40B4-BE49-F238E27FC236}">
                <a16:creationId xmlns:a16="http://schemas.microsoft.com/office/drawing/2014/main" id="{521762F5-5F5C-1B3E-D12A-DC273E3E1C3F}"/>
              </a:ext>
            </a:extLst>
          </p:cNvPr>
          <p:cNvSpPr/>
          <p:nvPr/>
        </p:nvSpPr>
        <p:spPr>
          <a:xfrm>
            <a:off x="764019" y="3866330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Japan</a:t>
            </a:r>
            <a:endParaRPr kumimoji="1" lang="zh-TW" altLang="en-US" dirty="0"/>
          </a:p>
        </p:txBody>
      </p:sp>
      <p:sp>
        <p:nvSpPr>
          <p:cNvPr id="35" name="圓角矩形 34">
            <a:extLst>
              <a:ext uri="{FF2B5EF4-FFF2-40B4-BE49-F238E27FC236}">
                <a16:creationId xmlns:a16="http://schemas.microsoft.com/office/drawing/2014/main" id="{868EF9F0-ABFF-4BCC-7817-3AD86590AD9F}"/>
              </a:ext>
            </a:extLst>
          </p:cNvPr>
          <p:cNvSpPr/>
          <p:nvPr/>
        </p:nvSpPr>
        <p:spPr>
          <a:xfrm>
            <a:off x="764019" y="4457889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Malaysia</a:t>
            </a:r>
            <a:endParaRPr kumimoji="1" lang="zh-TW" altLang="en-US" dirty="0"/>
          </a:p>
        </p:txBody>
      </p:sp>
      <p:sp>
        <p:nvSpPr>
          <p:cNvPr id="36" name="圓角矩形 35">
            <a:extLst>
              <a:ext uri="{FF2B5EF4-FFF2-40B4-BE49-F238E27FC236}">
                <a16:creationId xmlns:a16="http://schemas.microsoft.com/office/drawing/2014/main" id="{9657F7F7-5EF0-A0CA-CE25-3C99D8EEC057}"/>
              </a:ext>
            </a:extLst>
          </p:cNvPr>
          <p:cNvSpPr/>
          <p:nvPr/>
        </p:nvSpPr>
        <p:spPr>
          <a:xfrm>
            <a:off x="2710608" y="2636399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[0.12, 0.33, 0.73,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7" name="圓角矩形 36">
            <a:extLst>
              <a:ext uri="{FF2B5EF4-FFF2-40B4-BE49-F238E27FC236}">
                <a16:creationId xmlns:a16="http://schemas.microsoft.com/office/drawing/2014/main" id="{16B4ED22-E950-631E-E376-B1C6718FCFF5}"/>
              </a:ext>
            </a:extLst>
          </p:cNvPr>
          <p:cNvSpPr/>
          <p:nvPr/>
        </p:nvSpPr>
        <p:spPr>
          <a:xfrm>
            <a:off x="2710608" y="3258575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[0.24, 0.63, 0.39,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8" name="圓角矩形 37">
            <a:extLst>
              <a:ext uri="{FF2B5EF4-FFF2-40B4-BE49-F238E27FC236}">
                <a16:creationId xmlns:a16="http://schemas.microsoft.com/office/drawing/2014/main" id="{347F39E7-0B64-0A09-5C9B-6CE09D0E4FE9}"/>
              </a:ext>
            </a:extLst>
          </p:cNvPr>
          <p:cNvSpPr/>
          <p:nvPr/>
        </p:nvSpPr>
        <p:spPr>
          <a:xfrm>
            <a:off x="2710608" y="4448264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[0.18, 0.47, 0.75,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39" name="圓角矩形 38">
            <a:extLst>
              <a:ext uri="{FF2B5EF4-FFF2-40B4-BE49-F238E27FC236}">
                <a16:creationId xmlns:a16="http://schemas.microsoft.com/office/drawing/2014/main" id="{76D84773-3F07-1A1A-FE33-132F98CAA8D6}"/>
              </a:ext>
            </a:extLst>
          </p:cNvPr>
          <p:cNvSpPr/>
          <p:nvPr/>
        </p:nvSpPr>
        <p:spPr>
          <a:xfrm>
            <a:off x="2710608" y="3853419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[0.03, 0.86, 0.21,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842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B8054-A6EE-BD20-19AC-F1D0EB97D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D6C5E1-0222-E3AE-DC08-14C27175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詞向量視覺化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75D792-04C8-BE4C-82CE-75233B825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7A581B9-3E0F-432C-79DD-EA34021CE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292" y="1557721"/>
            <a:ext cx="6011384" cy="513318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26C9EB6-8670-4FEB-3B06-3185FA3B5DBD}"/>
              </a:ext>
            </a:extLst>
          </p:cNvPr>
          <p:cNvSpPr txBox="1"/>
          <p:nvPr/>
        </p:nvSpPr>
        <p:spPr>
          <a:xfrm>
            <a:off x="7667928" y="3240812"/>
            <a:ext cx="39682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Word embedding model</a:t>
            </a:r>
            <a:r>
              <a:rPr kumimoji="1" lang="en" altLang="zh-TW" sz="2000" dirty="0"/>
              <a:t>: glove-wiki-gigaword-100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Dimension reduction</a:t>
            </a:r>
            <a:r>
              <a:rPr kumimoji="1" lang="en" altLang="zh-TW" sz="2000" dirty="0"/>
              <a:t>: t-SNE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Dataset</a:t>
            </a:r>
            <a:r>
              <a:rPr kumimoji="1" lang="en" altLang="zh-TW" sz="2000" dirty="0"/>
              <a:t>: </a:t>
            </a:r>
            <a:r>
              <a:rPr kumimoji="1" lang="en" altLang="zh-TW" sz="2000" dirty="0" err="1"/>
              <a:t>Mikolov</a:t>
            </a:r>
            <a:r>
              <a:rPr kumimoji="1" lang="en" altLang="zh-TW" sz="2000" dirty="0"/>
              <a:t> et al., 2013</a:t>
            </a:r>
            <a:endParaRPr kumimoji="1" lang="zh-TW" altLang="en-US" sz="2000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806EC74-663E-DA5A-465E-B704FF2C478E}"/>
              </a:ext>
            </a:extLst>
          </p:cNvPr>
          <p:cNvSpPr/>
          <p:nvPr/>
        </p:nvSpPr>
        <p:spPr>
          <a:xfrm>
            <a:off x="1329179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FCAD5A95-CC41-A8A1-E65C-D0D91B36C8F5}"/>
              </a:ext>
            </a:extLst>
          </p:cNvPr>
          <p:cNvSpPr/>
          <p:nvPr/>
        </p:nvSpPr>
        <p:spPr>
          <a:xfrm>
            <a:off x="4922363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B956508-3B72-955F-FF0A-6858CE7BA4C6}"/>
              </a:ext>
            </a:extLst>
          </p:cNvPr>
          <p:cNvSpPr txBox="1"/>
          <p:nvPr/>
        </p:nvSpPr>
        <p:spPr>
          <a:xfrm>
            <a:off x="7861955" y="5240911"/>
            <a:ext cx="2978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Try it: https://</a:t>
            </a:r>
            <a:r>
              <a:rPr kumimoji="1" lang="en-US" altLang="zh-TW" dirty="0" err="1"/>
              <a:t>www.cs.cmu.edu</a:t>
            </a:r>
            <a:r>
              <a:rPr kumimoji="1" lang="en-US" altLang="zh-TW" dirty="0"/>
              <a:t>/~</a:t>
            </a:r>
            <a:r>
              <a:rPr kumimoji="1" lang="en-US" altLang="zh-TW" dirty="0" err="1"/>
              <a:t>dst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WordEmbeddingDemo</a:t>
            </a:r>
            <a:r>
              <a:rPr kumimoji="1" lang="en-US" altLang="zh-TW" dirty="0"/>
              <a:t>/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4186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E44CCF-6731-9850-930D-49D8A7EBC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ChatGPT</a:t>
            </a:r>
            <a:r>
              <a:rPr kumimoji="1" lang="zh-TW" altLang="en-US" dirty="0"/>
              <a:t> 也是在根據向量的語義進行回答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C35798-77DA-B3CF-618E-7B49F11C2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1162DD4-0D12-0666-CFAF-583B69942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66734"/>
            <a:ext cx="7772400" cy="4648826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922F23A-4C19-37F2-D0A7-88EEAA8D5269}"/>
              </a:ext>
            </a:extLst>
          </p:cNvPr>
          <p:cNvSpPr/>
          <p:nvPr/>
        </p:nvSpPr>
        <p:spPr>
          <a:xfrm>
            <a:off x="8402855" y="1925052"/>
            <a:ext cx="394636" cy="250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4A6D530-9D27-8BC5-F84B-8D48DFED6D4D}"/>
              </a:ext>
            </a:extLst>
          </p:cNvPr>
          <p:cNvSpPr/>
          <p:nvPr/>
        </p:nvSpPr>
        <p:spPr>
          <a:xfrm>
            <a:off x="3453866" y="4310513"/>
            <a:ext cx="394636" cy="250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9220BB-3948-25E9-EEAF-A01D1FDB534F}"/>
              </a:ext>
            </a:extLst>
          </p:cNvPr>
          <p:cNvSpPr/>
          <p:nvPr/>
        </p:nvSpPr>
        <p:spPr>
          <a:xfrm>
            <a:off x="3453865" y="4649243"/>
            <a:ext cx="790875" cy="250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43010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98F0E-AE54-EF1E-DCF8-476FB2442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56DBC2-5E10-636D-F0F0-D6B75F4B0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92ECC0-10CF-793A-538F-ABD127C80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33F5B32-57E0-7109-E28F-1CA164F6E2C6}"/>
              </a:ext>
            </a:extLst>
          </p:cNvPr>
          <p:cNvSpPr txBox="1"/>
          <p:nvPr/>
        </p:nvSpPr>
        <p:spPr>
          <a:xfrm>
            <a:off x="653143" y="1868198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rgbClr val="0070C0"/>
                </a:solidFill>
              </a:rPr>
              <a:t>文字向量基礎</a:t>
            </a:r>
            <a:endParaRPr kumimoji="1" lang="en-US" altLang="zh-TW" sz="2400" b="1" dirty="0">
              <a:solidFill>
                <a:srgbClr val="0070C0"/>
              </a:solidFill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Introduction to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Sentence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Word embeddings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10CA109-168A-8E5C-4DE6-B191E7C9771E}"/>
              </a:ext>
            </a:extLst>
          </p:cNvPr>
          <p:cNvSpPr/>
          <p:nvPr/>
        </p:nvSpPr>
        <p:spPr>
          <a:xfrm>
            <a:off x="1049154" y="3080084"/>
            <a:ext cx="3753852" cy="4908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48668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7F902-A8B1-A988-1A94-C443B1100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詞向量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句向量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CE0C5D-6568-FD7D-137B-9A91E042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F4F4F2E-388B-40CF-B0E3-C01F6D708B55}"/>
              </a:ext>
            </a:extLst>
          </p:cNvPr>
          <p:cNvSpPr/>
          <p:nvPr/>
        </p:nvSpPr>
        <p:spPr>
          <a:xfrm>
            <a:off x="999553" y="2573688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Tokyo</a:t>
            </a:r>
            <a:endParaRPr kumimoji="1" lang="zh-TW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90C2CCC-C776-52DD-E802-C9E7FC88638F}"/>
              </a:ext>
            </a:extLst>
          </p:cNvPr>
          <p:cNvSpPr/>
          <p:nvPr/>
        </p:nvSpPr>
        <p:spPr>
          <a:xfrm>
            <a:off x="3884765" y="2147587"/>
            <a:ext cx="3311091" cy="13667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Word Embedding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C3DAAC0-8440-7C3A-5D34-25FC30B3DBF8}"/>
              </a:ext>
            </a:extLst>
          </p:cNvPr>
          <p:cNvSpPr/>
          <p:nvPr/>
        </p:nvSpPr>
        <p:spPr>
          <a:xfrm>
            <a:off x="8016374" y="2564063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[0.12, 0.33, 0.73,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96EDA35-C181-FBDD-B2F4-73DAB2235996}"/>
              </a:ext>
            </a:extLst>
          </p:cNvPr>
          <p:cNvCxnSpPr>
            <a:cxnSpLocks/>
          </p:cNvCxnSpPr>
          <p:nvPr/>
        </p:nvCxnSpPr>
        <p:spPr>
          <a:xfrm>
            <a:off x="3111115" y="2830981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E8E893AB-80DE-B1E7-1BF7-64A24C6C8707}"/>
              </a:ext>
            </a:extLst>
          </p:cNvPr>
          <p:cNvCxnSpPr>
            <a:cxnSpLocks/>
          </p:cNvCxnSpPr>
          <p:nvPr/>
        </p:nvCxnSpPr>
        <p:spPr>
          <a:xfrm>
            <a:off x="7373502" y="2830981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75282392-EC48-8BD2-24F3-DC85600E8549}"/>
              </a:ext>
            </a:extLst>
          </p:cNvPr>
          <p:cNvSpPr/>
          <p:nvPr/>
        </p:nvSpPr>
        <p:spPr>
          <a:xfrm>
            <a:off x="999553" y="4716790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晚餐吃什麼？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B148015-7DD3-2E96-B280-C1A35FC9D08E}"/>
              </a:ext>
            </a:extLst>
          </p:cNvPr>
          <p:cNvSpPr/>
          <p:nvPr/>
        </p:nvSpPr>
        <p:spPr>
          <a:xfrm>
            <a:off x="3884765" y="4290689"/>
            <a:ext cx="3311091" cy="13667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Sentence Embedding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5A1743E0-D11C-4BBF-40CB-4D4BCA6F889D}"/>
              </a:ext>
            </a:extLst>
          </p:cNvPr>
          <p:cNvSpPr/>
          <p:nvPr/>
        </p:nvSpPr>
        <p:spPr>
          <a:xfrm>
            <a:off x="8016374" y="4707165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[0.36, 0.45, 0.78,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894BBA79-B992-D34C-E025-4618B0853E2D}"/>
              </a:ext>
            </a:extLst>
          </p:cNvPr>
          <p:cNvCxnSpPr>
            <a:cxnSpLocks/>
          </p:cNvCxnSpPr>
          <p:nvPr/>
        </p:nvCxnSpPr>
        <p:spPr>
          <a:xfrm>
            <a:off x="3111115" y="4974083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BFECE3E8-3018-86F6-5151-2CE435C1F2B3}"/>
              </a:ext>
            </a:extLst>
          </p:cNvPr>
          <p:cNvCxnSpPr>
            <a:cxnSpLocks/>
          </p:cNvCxnSpPr>
          <p:nvPr/>
        </p:nvCxnSpPr>
        <p:spPr>
          <a:xfrm>
            <a:off x="7373502" y="4974083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2946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4D648E-8C1B-FE5E-56F4-3D9459390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Google Search (Retrieval)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98151E4-EEA2-72F9-EF2A-76C6618D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0268DD4-2C66-7937-FEC0-902E2DAAEDF4}"/>
              </a:ext>
            </a:extLst>
          </p:cNvPr>
          <p:cNvSpPr txBox="1"/>
          <p:nvPr/>
        </p:nvSpPr>
        <p:spPr>
          <a:xfrm>
            <a:off x="650316" y="1716895"/>
            <a:ext cx="10058399" cy="5059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Retrieval: get relevant information from a pool (like a search engine)</a:t>
            </a:r>
          </a:p>
        </p:txBody>
      </p:sp>
      <p:pic>
        <p:nvPicPr>
          <p:cNvPr id="10" name="圖形 9" descr="文件 以實心填滿">
            <a:extLst>
              <a:ext uri="{FF2B5EF4-FFF2-40B4-BE49-F238E27FC236}">
                <a16:creationId xmlns:a16="http://schemas.microsoft.com/office/drawing/2014/main" id="{172A629F-D728-E2B3-33A3-15DE795F32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2663" y="2938462"/>
            <a:ext cx="625084" cy="625084"/>
          </a:xfrm>
          <a:prstGeom prst="rect">
            <a:avLst/>
          </a:prstGeom>
        </p:spPr>
      </p:pic>
      <p:pic>
        <p:nvPicPr>
          <p:cNvPr id="13" name="圖形 12" descr="文件 以實心填滿">
            <a:extLst>
              <a:ext uri="{FF2B5EF4-FFF2-40B4-BE49-F238E27FC236}">
                <a16:creationId xmlns:a16="http://schemas.microsoft.com/office/drawing/2014/main" id="{58F3283D-181E-5F8E-3E23-F9777102C3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7579" y="3083120"/>
            <a:ext cx="625084" cy="625084"/>
          </a:xfrm>
          <a:prstGeom prst="rect">
            <a:avLst/>
          </a:prstGeom>
        </p:spPr>
      </p:pic>
      <p:pic>
        <p:nvPicPr>
          <p:cNvPr id="14" name="圖形 13" descr="文件 以實心填滿">
            <a:extLst>
              <a:ext uri="{FF2B5EF4-FFF2-40B4-BE49-F238E27FC236}">
                <a16:creationId xmlns:a16="http://schemas.microsoft.com/office/drawing/2014/main" id="{17F8B6FF-8EB1-9885-97DC-9444F831C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0121" y="3498232"/>
            <a:ext cx="625084" cy="625084"/>
          </a:xfrm>
          <a:prstGeom prst="rect">
            <a:avLst/>
          </a:prstGeom>
        </p:spPr>
      </p:pic>
      <p:pic>
        <p:nvPicPr>
          <p:cNvPr id="15" name="圖形 14" descr="文件 以實心填滿">
            <a:extLst>
              <a:ext uri="{FF2B5EF4-FFF2-40B4-BE49-F238E27FC236}">
                <a16:creationId xmlns:a16="http://schemas.microsoft.com/office/drawing/2014/main" id="{09E6E070-5AE5-C228-65EC-83526ABED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0194" y="3435240"/>
            <a:ext cx="625084" cy="625084"/>
          </a:xfrm>
          <a:prstGeom prst="rect">
            <a:avLst/>
          </a:prstGeom>
        </p:spPr>
      </p:pic>
      <p:pic>
        <p:nvPicPr>
          <p:cNvPr id="16" name="圖形 15" descr="文件 以實心填滿">
            <a:extLst>
              <a:ext uri="{FF2B5EF4-FFF2-40B4-BE49-F238E27FC236}">
                <a16:creationId xmlns:a16="http://schemas.microsoft.com/office/drawing/2014/main" id="{6AC54C3D-5336-6280-0F05-24AE79B537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0048" y="3747782"/>
            <a:ext cx="625084" cy="625084"/>
          </a:xfrm>
          <a:prstGeom prst="rect">
            <a:avLst/>
          </a:prstGeom>
        </p:spPr>
      </p:pic>
      <p:pic>
        <p:nvPicPr>
          <p:cNvPr id="17" name="圖形 16" descr="文件 以實心填滿">
            <a:extLst>
              <a:ext uri="{FF2B5EF4-FFF2-40B4-BE49-F238E27FC236}">
                <a16:creationId xmlns:a16="http://schemas.microsoft.com/office/drawing/2014/main" id="{3F465E48-EC88-1465-FFC8-4A8B043C36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7248" y="4123316"/>
            <a:ext cx="625084" cy="625084"/>
          </a:xfrm>
          <a:prstGeom prst="rect">
            <a:avLst/>
          </a:prstGeom>
        </p:spPr>
      </p:pic>
      <p:pic>
        <p:nvPicPr>
          <p:cNvPr id="18" name="圖形 17" descr="文件 以實心填滿">
            <a:extLst>
              <a:ext uri="{FF2B5EF4-FFF2-40B4-BE49-F238E27FC236}">
                <a16:creationId xmlns:a16="http://schemas.microsoft.com/office/drawing/2014/main" id="{BB247AD3-C731-51A0-C178-874329CDC6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7321" y="3951358"/>
            <a:ext cx="625084" cy="625084"/>
          </a:xfrm>
          <a:prstGeom prst="rect">
            <a:avLst/>
          </a:prstGeom>
        </p:spPr>
      </p:pic>
      <p:pic>
        <p:nvPicPr>
          <p:cNvPr id="19" name="圖形 18" descr="文件 以實心填滿">
            <a:extLst>
              <a:ext uri="{FF2B5EF4-FFF2-40B4-BE49-F238E27FC236}">
                <a16:creationId xmlns:a16="http://schemas.microsoft.com/office/drawing/2014/main" id="{28CDC015-84EB-E1F7-8604-79CE26FEA7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4422" y="3059706"/>
            <a:ext cx="625084" cy="625084"/>
          </a:xfrm>
          <a:prstGeom prst="rect">
            <a:avLst/>
          </a:prstGeom>
        </p:spPr>
      </p:pic>
      <p:pic>
        <p:nvPicPr>
          <p:cNvPr id="20" name="圖形 19" descr="文件 以實心填滿">
            <a:extLst>
              <a:ext uri="{FF2B5EF4-FFF2-40B4-BE49-F238E27FC236}">
                <a16:creationId xmlns:a16="http://schemas.microsoft.com/office/drawing/2014/main" id="{4B2B553E-56C8-4444-B9F1-A69430364E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2928" y="2615089"/>
            <a:ext cx="625084" cy="625084"/>
          </a:xfrm>
          <a:prstGeom prst="rect">
            <a:avLst/>
          </a:prstGeom>
        </p:spPr>
      </p:pic>
      <p:pic>
        <p:nvPicPr>
          <p:cNvPr id="21" name="圖形 20" descr="文件 以實心填滿">
            <a:extLst>
              <a:ext uri="{FF2B5EF4-FFF2-40B4-BE49-F238E27FC236}">
                <a16:creationId xmlns:a16="http://schemas.microsoft.com/office/drawing/2014/main" id="{10B661B6-29F0-302B-BB0A-CEC74BB11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2625920"/>
            <a:ext cx="625084" cy="625084"/>
          </a:xfrm>
          <a:prstGeom prst="rect">
            <a:avLst/>
          </a:prstGeom>
        </p:spPr>
      </p:pic>
      <p:pic>
        <p:nvPicPr>
          <p:cNvPr id="22" name="圖形 21" descr="文件 以實心填滿">
            <a:extLst>
              <a:ext uri="{FF2B5EF4-FFF2-40B4-BE49-F238E27FC236}">
                <a16:creationId xmlns:a16="http://schemas.microsoft.com/office/drawing/2014/main" id="{F9BDE5FB-432F-4D55-75AF-92C96B481A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848" y="3719751"/>
            <a:ext cx="625084" cy="625084"/>
          </a:xfrm>
          <a:prstGeom prst="rect">
            <a:avLst/>
          </a:prstGeom>
        </p:spPr>
      </p:pic>
      <p:pic>
        <p:nvPicPr>
          <p:cNvPr id="23" name="圖形 22" descr="文件 以實心填滿">
            <a:extLst>
              <a:ext uri="{FF2B5EF4-FFF2-40B4-BE49-F238E27FC236}">
                <a16:creationId xmlns:a16="http://schemas.microsoft.com/office/drawing/2014/main" id="{999F39AE-EB8C-A6A6-B105-434923C069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4325050"/>
            <a:ext cx="625084" cy="625084"/>
          </a:xfrm>
          <a:prstGeom prst="rect">
            <a:avLst/>
          </a:prstGeom>
        </p:spPr>
      </p:pic>
      <p:pic>
        <p:nvPicPr>
          <p:cNvPr id="24" name="圖形 23" descr="文件 以實心填滿">
            <a:extLst>
              <a:ext uri="{FF2B5EF4-FFF2-40B4-BE49-F238E27FC236}">
                <a16:creationId xmlns:a16="http://schemas.microsoft.com/office/drawing/2014/main" id="{CDC44DE1-8A45-7EA1-75C1-D888467B01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7652" y="4325050"/>
            <a:ext cx="625084" cy="625084"/>
          </a:xfrm>
          <a:prstGeom prst="rect">
            <a:avLst/>
          </a:prstGeom>
        </p:spPr>
      </p:pic>
      <p:pic>
        <p:nvPicPr>
          <p:cNvPr id="25" name="圖形 24" descr="文件 以實心填滿">
            <a:extLst>
              <a:ext uri="{FF2B5EF4-FFF2-40B4-BE49-F238E27FC236}">
                <a16:creationId xmlns:a16="http://schemas.microsoft.com/office/drawing/2014/main" id="{A34B3C36-8DF5-40B3-D214-5EB95C20D6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2397" y="2873148"/>
            <a:ext cx="625084" cy="625084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5FD17FF-A278-92C7-E604-667D6AEC4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839" y="2970547"/>
            <a:ext cx="4550229" cy="1997485"/>
          </a:xfrm>
          <a:prstGeom prst="rect">
            <a:avLst/>
          </a:prstGeom>
        </p:spPr>
      </p:pic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3D14403B-4919-F181-F603-019C438275A7}"/>
              </a:ext>
            </a:extLst>
          </p:cNvPr>
          <p:cNvCxnSpPr>
            <a:cxnSpLocks/>
          </p:cNvCxnSpPr>
          <p:nvPr/>
        </p:nvCxnSpPr>
        <p:spPr>
          <a:xfrm>
            <a:off x="3541477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26F2C14C-CC2D-1CAD-3DCC-23642EDD839F}"/>
              </a:ext>
            </a:extLst>
          </p:cNvPr>
          <p:cNvCxnSpPr>
            <a:cxnSpLocks/>
          </p:cNvCxnSpPr>
          <p:nvPr/>
        </p:nvCxnSpPr>
        <p:spPr>
          <a:xfrm>
            <a:off x="8708068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圖形 28" descr="文件 以實心填滿">
            <a:extLst>
              <a:ext uri="{FF2B5EF4-FFF2-40B4-BE49-F238E27FC236}">
                <a16:creationId xmlns:a16="http://schemas.microsoft.com/office/drawing/2014/main" id="{671175EA-61E4-F0A6-8375-2DAE98B61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2886777"/>
            <a:ext cx="625084" cy="625084"/>
          </a:xfrm>
          <a:prstGeom prst="rect">
            <a:avLst/>
          </a:prstGeom>
        </p:spPr>
      </p:pic>
      <p:pic>
        <p:nvPicPr>
          <p:cNvPr id="30" name="圖形 29" descr="文件 以實心填滿">
            <a:extLst>
              <a:ext uri="{FF2B5EF4-FFF2-40B4-BE49-F238E27FC236}">
                <a16:creationId xmlns:a16="http://schemas.microsoft.com/office/drawing/2014/main" id="{F138B837-31DE-37E1-DBAC-A5A1249D61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3623613"/>
            <a:ext cx="625084" cy="625084"/>
          </a:xfrm>
          <a:prstGeom prst="rect">
            <a:avLst/>
          </a:prstGeom>
        </p:spPr>
      </p:pic>
      <p:pic>
        <p:nvPicPr>
          <p:cNvPr id="31" name="圖形 30" descr="文件 以實心填滿">
            <a:extLst>
              <a:ext uri="{FF2B5EF4-FFF2-40B4-BE49-F238E27FC236}">
                <a16:creationId xmlns:a16="http://schemas.microsoft.com/office/drawing/2014/main" id="{7DAE0468-D4CA-AE7E-C2B5-5D48D0A80F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31214" y="4413333"/>
            <a:ext cx="625084" cy="625084"/>
          </a:xfrm>
          <a:prstGeom prst="rect">
            <a:avLst/>
          </a:prstGeom>
        </p:spPr>
      </p:pic>
      <p:pic>
        <p:nvPicPr>
          <p:cNvPr id="33" name="圖形 32" descr="皇冠 以實心填滿">
            <a:extLst>
              <a:ext uri="{FF2B5EF4-FFF2-40B4-BE49-F238E27FC236}">
                <a16:creationId xmlns:a16="http://schemas.microsoft.com/office/drawing/2014/main" id="{DD3475AB-603B-B609-01CA-575FE78D2FD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6" y="2618178"/>
            <a:ext cx="448239" cy="448239"/>
          </a:xfrm>
          <a:prstGeom prst="rect">
            <a:avLst/>
          </a:prstGeom>
        </p:spPr>
      </p:pic>
      <p:pic>
        <p:nvPicPr>
          <p:cNvPr id="34" name="圖形 33" descr="皇冠 以實心填滿">
            <a:extLst>
              <a:ext uri="{FF2B5EF4-FFF2-40B4-BE49-F238E27FC236}">
                <a16:creationId xmlns:a16="http://schemas.microsoft.com/office/drawing/2014/main" id="{BDE8A39B-DEFF-B3A0-4EC5-FC37ECE461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9026" y="3460836"/>
            <a:ext cx="448239" cy="448239"/>
          </a:xfrm>
          <a:prstGeom prst="rect">
            <a:avLst/>
          </a:prstGeom>
        </p:spPr>
      </p:pic>
      <p:pic>
        <p:nvPicPr>
          <p:cNvPr id="35" name="圖形 34" descr="皇冠 以實心填滿">
            <a:extLst>
              <a:ext uri="{FF2B5EF4-FFF2-40B4-BE49-F238E27FC236}">
                <a16:creationId xmlns:a16="http://schemas.microsoft.com/office/drawing/2014/main" id="{96DB55E8-CFDB-1ED9-6D1A-FCDB75E8D8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5" y="4258536"/>
            <a:ext cx="448239" cy="44823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DF9A8DB-A82D-BB24-ABEF-963757BB32AA}"/>
              </a:ext>
            </a:extLst>
          </p:cNvPr>
          <p:cNvSpPr txBox="1"/>
          <p:nvPr/>
        </p:nvSpPr>
        <p:spPr>
          <a:xfrm>
            <a:off x="4633735" y="3995899"/>
            <a:ext cx="25222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誰是 </a:t>
            </a:r>
            <a:r>
              <a:rPr kumimoji="1" lang="en" altLang="zh-TW" sz="1600" dirty="0"/>
              <a:t>Alex Honnold</a:t>
            </a:r>
            <a:r>
              <a:rPr kumimoji="1" lang="zh-TW" altLang="en-US" sz="1600" dirty="0"/>
              <a:t>？</a:t>
            </a:r>
          </a:p>
        </p:txBody>
      </p:sp>
    </p:spTree>
    <p:extLst>
      <p:ext uri="{BB962C8B-B14F-4D97-AF65-F5344CB8AC3E}">
        <p14:creationId xmlns:p14="http://schemas.microsoft.com/office/powerpoint/2010/main" val="10258330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982-E62B-6338-DBEB-D0615E79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DDF83B-B1E2-2EC3-9A81-A2E52E1B8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Google Search vs. </a:t>
            </a:r>
            <a:r>
              <a:rPr kumimoji="1" lang="zh-TW" altLang="en-US" dirty="0"/>
              <a:t>向量化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F0F729-7467-41FC-D5D8-852DC685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10" name="圖形 9" descr="文件 以實心填滿">
            <a:extLst>
              <a:ext uri="{FF2B5EF4-FFF2-40B4-BE49-F238E27FC236}">
                <a16:creationId xmlns:a16="http://schemas.microsoft.com/office/drawing/2014/main" id="{78FFCC9C-852A-2C3E-C385-3739511F9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2663" y="2938462"/>
            <a:ext cx="625084" cy="625084"/>
          </a:xfrm>
          <a:prstGeom prst="rect">
            <a:avLst/>
          </a:prstGeom>
        </p:spPr>
      </p:pic>
      <p:pic>
        <p:nvPicPr>
          <p:cNvPr id="13" name="圖形 12" descr="文件 以實心填滿">
            <a:extLst>
              <a:ext uri="{FF2B5EF4-FFF2-40B4-BE49-F238E27FC236}">
                <a16:creationId xmlns:a16="http://schemas.microsoft.com/office/drawing/2014/main" id="{01267C15-7567-0A4A-77BA-4C84DB9D9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7579" y="3083120"/>
            <a:ext cx="625084" cy="625084"/>
          </a:xfrm>
          <a:prstGeom prst="rect">
            <a:avLst/>
          </a:prstGeom>
        </p:spPr>
      </p:pic>
      <p:pic>
        <p:nvPicPr>
          <p:cNvPr id="14" name="圖形 13" descr="文件 以實心填滿">
            <a:extLst>
              <a:ext uri="{FF2B5EF4-FFF2-40B4-BE49-F238E27FC236}">
                <a16:creationId xmlns:a16="http://schemas.microsoft.com/office/drawing/2014/main" id="{F1E26FB7-DDD2-633E-6BE0-E7AF58F7BE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0121" y="3498232"/>
            <a:ext cx="625084" cy="625084"/>
          </a:xfrm>
          <a:prstGeom prst="rect">
            <a:avLst/>
          </a:prstGeom>
        </p:spPr>
      </p:pic>
      <p:pic>
        <p:nvPicPr>
          <p:cNvPr id="15" name="圖形 14" descr="文件 以實心填滿">
            <a:extLst>
              <a:ext uri="{FF2B5EF4-FFF2-40B4-BE49-F238E27FC236}">
                <a16:creationId xmlns:a16="http://schemas.microsoft.com/office/drawing/2014/main" id="{9917B0CA-E696-448B-5CBB-DB15B86AB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0194" y="3435240"/>
            <a:ext cx="625084" cy="625084"/>
          </a:xfrm>
          <a:prstGeom prst="rect">
            <a:avLst/>
          </a:prstGeom>
        </p:spPr>
      </p:pic>
      <p:pic>
        <p:nvPicPr>
          <p:cNvPr id="16" name="圖形 15" descr="文件 以實心填滿">
            <a:extLst>
              <a:ext uri="{FF2B5EF4-FFF2-40B4-BE49-F238E27FC236}">
                <a16:creationId xmlns:a16="http://schemas.microsoft.com/office/drawing/2014/main" id="{C624C4A8-3A8D-98A9-B112-C3B8FE66BC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0048" y="3747782"/>
            <a:ext cx="625084" cy="625084"/>
          </a:xfrm>
          <a:prstGeom prst="rect">
            <a:avLst/>
          </a:prstGeom>
        </p:spPr>
      </p:pic>
      <p:pic>
        <p:nvPicPr>
          <p:cNvPr id="17" name="圖形 16" descr="文件 以實心填滿">
            <a:extLst>
              <a:ext uri="{FF2B5EF4-FFF2-40B4-BE49-F238E27FC236}">
                <a16:creationId xmlns:a16="http://schemas.microsoft.com/office/drawing/2014/main" id="{6DCF9B1C-3F20-28DE-B6B3-2DF4E6EF2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7248" y="4123316"/>
            <a:ext cx="625084" cy="625084"/>
          </a:xfrm>
          <a:prstGeom prst="rect">
            <a:avLst/>
          </a:prstGeom>
        </p:spPr>
      </p:pic>
      <p:pic>
        <p:nvPicPr>
          <p:cNvPr id="18" name="圖形 17" descr="文件 以實心填滿">
            <a:extLst>
              <a:ext uri="{FF2B5EF4-FFF2-40B4-BE49-F238E27FC236}">
                <a16:creationId xmlns:a16="http://schemas.microsoft.com/office/drawing/2014/main" id="{CD9F1FAA-EFB9-C133-FD0B-ADD7EAA7E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7321" y="3951358"/>
            <a:ext cx="625084" cy="625084"/>
          </a:xfrm>
          <a:prstGeom prst="rect">
            <a:avLst/>
          </a:prstGeom>
        </p:spPr>
      </p:pic>
      <p:pic>
        <p:nvPicPr>
          <p:cNvPr id="19" name="圖形 18" descr="文件 以實心填滿">
            <a:extLst>
              <a:ext uri="{FF2B5EF4-FFF2-40B4-BE49-F238E27FC236}">
                <a16:creationId xmlns:a16="http://schemas.microsoft.com/office/drawing/2014/main" id="{6025A2AC-ADDC-E159-BDA2-0EC91AFA2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4422" y="3059706"/>
            <a:ext cx="625084" cy="625084"/>
          </a:xfrm>
          <a:prstGeom prst="rect">
            <a:avLst/>
          </a:prstGeom>
        </p:spPr>
      </p:pic>
      <p:pic>
        <p:nvPicPr>
          <p:cNvPr id="20" name="圖形 19" descr="文件 以實心填滿">
            <a:extLst>
              <a:ext uri="{FF2B5EF4-FFF2-40B4-BE49-F238E27FC236}">
                <a16:creationId xmlns:a16="http://schemas.microsoft.com/office/drawing/2014/main" id="{6B5B69D3-621B-3AD9-7E2B-9BF9044D3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2928" y="2615089"/>
            <a:ext cx="625084" cy="625084"/>
          </a:xfrm>
          <a:prstGeom prst="rect">
            <a:avLst/>
          </a:prstGeom>
        </p:spPr>
      </p:pic>
      <p:pic>
        <p:nvPicPr>
          <p:cNvPr id="21" name="圖形 20" descr="文件 以實心填滿">
            <a:extLst>
              <a:ext uri="{FF2B5EF4-FFF2-40B4-BE49-F238E27FC236}">
                <a16:creationId xmlns:a16="http://schemas.microsoft.com/office/drawing/2014/main" id="{4015EBEC-BF26-F28E-C90E-8FBA74C27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2625920"/>
            <a:ext cx="625084" cy="625084"/>
          </a:xfrm>
          <a:prstGeom prst="rect">
            <a:avLst/>
          </a:prstGeom>
        </p:spPr>
      </p:pic>
      <p:pic>
        <p:nvPicPr>
          <p:cNvPr id="22" name="圖形 21" descr="文件 以實心填滿">
            <a:extLst>
              <a:ext uri="{FF2B5EF4-FFF2-40B4-BE49-F238E27FC236}">
                <a16:creationId xmlns:a16="http://schemas.microsoft.com/office/drawing/2014/main" id="{CA8BEAFD-C123-F790-98D8-36675748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848" y="3719751"/>
            <a:ext cx="625084" cy="625084"/>
          </a:xfrm>
          <a:prstGeom prst="rect">
            <a:avLst/>
          </a:prstGeom>
        </p:spPr>
      </p:pic>
      <p:pic>
        <p:nvPicPr>
          <p:cNvPr id="23" name="圖形 22" descr="文件 以實心填滿">
            <a:extLst>
              <a:ext uri="{FF2B5EF4-FFF2-40B4-BE49-F238E27FC236}">
                <a16:creationId xmlns:a16="http://schemas.microsoft.com/office/drawing/2014/main" id="{5EE3A1DF-0BBA-46E8-FCD4-46F4AC75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4325050"/>
            <a:ext cx="625084" cy="625084"/>
          </a:xfrm>
          <a:prstGeom prst="rect">
            <a:avLst/>
          </a:prstGeom>
        </p:spPr>
      </p:pic>
      <p:pic>
        <p:nvPicPr>
          <p:cNvPr id="24" name="圖形 23" descr="文件 以實心填滿">
            <a:extLst>
              <a:ext uri="{FF2B5EF4-FFF2-40B4-BE49-F238E27FC236}">
                <a16:creationId xmlns:a16="http://schemas.microsoft.com/office/drawing/2014/main" id="{14AC2017-9840-0E21-5698-B056219EC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7652" y="4325050"/>
            <a:ext cx="625084" cy="625084"/>
          </a:xfrm>
          <a:prstGeom prst="rect">
            <a:avLst/>
          </a:prstGeom>
        </p:spPr>
      </p:pic>
      <p:pic>
        <p:nvPicPr>
          <p:cNvPr id="25" name="圖形 24" descr="文件 以實心填滿">
            <a:extLst>
              <a:ext uri="{FF2B5EF4-FFF2-40B4-BE49-F238E27FC236}">
                <a16:creationId xmlns:a16="http://schemas.microsoft.com/office/drawing/2014/main" id="{FF0D041D-A70B-30F3-D908-AB1109F19E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2397" y="2873148"/>
            <a:ext cx="625084" cy="625084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0152251-DED6-EE06-35BA-887801A0E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839" y="2970547"/>
            <a:ext cx="4550229" cy="1997485"/>
          </a:xfrm>
          <a:prstGeom prst="rect">
            <a:avLst/>
          </a:prstGeom>
        </p:spPr>
      </p:pic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658CFDB-BCC0-8FE1-E141-001F5EF07BE8}"/>
              </a:ext>
            </a:extLst>
          </p:cNvPr>
          <p:cNvCxnSpPr>
            <a:cxnSpLocks/>
          </p:cNvCxnSpPr>
          <p:nvPr/>
        </p:nvCxnSpPr>
        <p:spPr>
          <a:xfrm>
            <a:off x="3541477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7C4F40BC-2BE1-41F6-7F89-6DD0049E1AEF}"/>
              </a:ext>
            </a:extLst>
          </p:cNvPr>
          <p:cNvCxnSpPr>
            <a:cxnSpLocks/>
          </p:cNvCxnSpPr>
          <p:nvPr/>
        </p:nvCxnSpPr>
        <p:spPr>
          <a:xfrm>
            <a:off x="8708068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圖形 28" descr="文件 以實心填滿">
            <a:extLst>
              <a:ext uri="{FF2B5EF4-FFF2-40B4-BE49-F238E27FC236}">
                <a16:creationId xmlns:a16="http://schemas.microsoft.com/office/drawing/2014/main" id="{ED98C257-C10F-B883-8EB7-2AE6664FB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2886777"/>
            <a:ext cx="625084" cy="625084"/>
          </a:xfrm>
          <a:prstGeom prst="rect">
            <a:avLst/>
          </a:prstGeom>
        </p:spPr>
      </p:pic>
      <p:pic>
        <p:nvPicPr>
          <p:cNvPr id="30" name="圖形 29" descr="文件 以實心填滿">
            <a:extLst>
              <a:ext uri="{FF2B5EF4-FFF2-40B4-BE49-F238E27FC236}">
                <a16:creationId xmlns:a16="http://schemas.microsoft.com/office/drawing/2014/main" id="{EFE5A448-C1C0-3D68-C095-CCE1D1545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3623613"/>
            <a:ext cx="625084" cy="625084"/>
          </a:xfrm>
          <a:prstGeom prst="rect">
            <a:avLst/>
          </a:prstGeom>
        </p:spPr>
      </p:pic>
      <p:pic>
        <p:nvPicPr>
          <p:cNvPr id="31" name="圖形 30" descr="文件 以實心填滿">
            <a:extLst>
              <a:ext uri="{FF2B5EF4-FFF2-40B4-BE49-F238E27FC236}">
                <a16:creationId xmlns:a16="http://schemas.microsoft.com/office/drawing/2014/main" id="{D6D28DEB-78D0-6E78-578A-AE002C76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31214" y="4413333"/>
            <a:ext cx="625084" cy="625084"/>
          </a:xfrm>
          <a:prstGeom prst="rect">
            <a:avLst/>
          </a:prstGeom>
        </p:spPr>
      </p:pic>
      <p:pic>
        <p:nvPicPr>
          <p:cNvPr id="33" name="圖形 32" descr="皇冠 以實心填滿">
            <a:extLst>
              <a:ext uri="{FF2B5EF4-FFF2-40B4-BE49-F238E27FC236}">
                <a16:creationId xmlns:a16="http://schemas.microsoft.com/office/drawing/2014/main" id="{35C38EEB-E999-9DD6-A8EB-3AD783F4B7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6" y="2618178"/>
            <a:ext cx="448239" cy="448239"/>
          </a:xfrm>
          <a:prstGeom prst="rect">
            <a:avLst/>
          </a:prstGeom>
        </p:spPr>
      </p:pic>
      <p:pic>
        <p:nvPicPr>
          <p:cNvPr id="34" name="圖形 33" descr="皇冠 以實心填滿">
            <a:extLst>
              <a:ext uri="{FF2B5EF4-FFF2-40B4-BE49-F238E27FC236}">
                <a16:creationId xmlns:a16="http://schemas.microsoft.com/office/drawing/2014/main" id="{29E3DAEC-5481-82FA-80E1-98D1197C82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9026" y="3460836"/>
            <a:ext cx="448239" cy="448239"/>
          </a:xfrm>
          <a:prstGeom prst="rect">
            <a:avLst/>
          </a:prstGeom>
        </p:spPr>
      </p:pic>
      <p:pic>
        <p:nvPicPr>
          <p:cNvPr id="35" name="圖形 34" descr="皇冠 以實心填滿">
            <a:extLst>
              <a:ext uri="{FF2B5EF4-FFF2-40B4-BE49-F238E27FC236}">
                <a16:creationId xmlns:a16="http://schemas.microsoft.com/office/drawing/2014/main" id="{51AF7DE5-AF6E-B0A6-2ABF-63881F452E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5" y="4258536"/>
            <a:ext cx="448239" cy="44823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3E2838A-A6A0-EB13-FE95-080D8D2E6335}"/>
              </a:ext>
            </a:extLst>
          </p:cNvPr>
          <p:cNvSpPr txBox="1"/>
          <p:nvPr/>
        </p:nvSpPr>
        <p:spPr>
          <a:xfrm>
            <a:off x="4633735" y="3995899"/>
            <a:ext cx="25222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誰是 </a:t>
            </a:r>
            <a:r>
              <a:rPr kumimoji="1" lang="en" altLang="zh-TW" sz="1600" dirty="0"/>
              <a:t>Alex Honnold</a:t>
            </a:r>
            <a:r>
              <a:rPr kumimoji="1" lang="zh-TW" altLang="en-US" sz="1600" dirty="0"/>
              <a:t>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1673A1E-34C0-E4B4-3832-6757285A6475}"/>
              </a:ext>
            </a:extLst>
          </p:cNvPr>
          <p:cNvSpPr txBox="1"/>
          <p:nvPr/>
        </p:nvSpPr>
        <p:spPr>
          <a:xfrm>
            <a:off x="7874761" y="3045430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[0.15, 0.82, -0.34,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6F75BBA-E502-9A3B-1244-F14AC7E4005D}"/>
              </a:ext>
            </a:extLst>
          </p:cNvPr>
          <p:cNvSpPr txBox="1"/>
          <p:nvPr/>
        </p:nvSpPr>
        <p:spPr>
          <a:xfrm>
            <a:off x="7874761" y="3586744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[0.93, -0.32, 0.43,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4828DE0-7E7B-1817-DEC4-AE417D22CA5A}"/>
              </a:ext>
            </a:extLst>
          </p:cNvPr>
          <p:cNvSpPr txBox="1"/>
          <p:nvPr/>
        </p:nvSpPr>
        <p:spPr>
          <a:xfrm>
            <a:off x="7874761" y="4449256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[0.08, 0.02, 0.83,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7AEBA1-69A4-C049-ED59-4D4D2829F18F}"/>
              </a:ext>
            </a:extLst>
          </p:cNvPr>
          <p:cNvSpPr txBox="1"/>
          <p:nvPr/>
        </p:nvSpPr>
        <p:spPr>
          <a:xfrm>
            <a:off x="4687852" y="4211357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[0.54, 0.95, -0.61,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15706E48-6DCE-48FE-274D-19356EB0D7AD}"/>
              </a:ext>
            </a:extLst>
          </p:cNvPr>
          <p:cNvSpPr txBox="1"/>
          <p:nvPr/>
        </p:nvSpPr>
        <p:spPr>
          <a:xfrm>
            <a:off x="10596702" y="3074946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99%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6AD7186-1F8A-924F-3A35-1E310407B4DE}"/>
              </a:ext>
            </a:extLst>
          </p:cNvPr>
          <p:cNvSpPr txBox="1"/>
          <p:nvPr/>
        </p:nvSpPr>
        <p:spPr>
          <a:xfrm>
            <a:off x="10596701" y="3766878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98%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56FC5BC-36FE-9416-93E9-10E695591453}"/>
              </a:ext>
            </a:extLst>
          </p:cNvPr>
          <p:cNvSpPr txBox="1"/>
          <p:nvPr/>
        </p:nvSpPr>
        <p:spPr>
          <a:xfrm>
            <a:off x="10596701" y="4603144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97%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B7B533F0-68AE-8DEE-23A2-DC2011B328E2}"/>
              </a:ext>
            </a:extLst>
          </p:cNvPr>
          <p:cNvSpPr txBox="1"/>
          <p:nvPr/>
        </p:nvSpPr>
        <p:spPr>
          <a:xfrm>
            <a:off x="10596700" y="2316189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b="1" dirty="0">
                <a:solidFill>
                  <a:srgbClr val="0070C0"/>
                </a:solidFill>
              </a:rPr>
              <a:t>相似度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BA0F906-5724-08EA-7777-981E26809658}"/>
              </a:ext>
            </a:extLst>
          </p:cNvPr>
          <p:cNvSpPr txBox="1"/>
          <p:nvPr/>
        </p:nvSpPr>
        <p:spPr>
          <a:xfrm>
            <a:off x="973386" y="5624052"/>
            <a:ext cx="6562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NLP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Embeddings: </a:t>
            </a:r>
            <a:r>
              <a:rPr kumimoji="1" lang="zh-TW" altLang="en-US" dirty="0"/>
              <a:t>語意資訊被嵌入到（高維度）向量空間</a:t>
            </a:r>
          </a:p>
        </p:txBody>
      </p:sp>
    </p:spTree>
    <p:extLst>
      <p:ext uri="{BB962C8B-B14F-4D97-AF65-F5344CB8AC3E}">
        <p14:creationId xmlns:p14="http://schemas.microsoft.com/office/powerpoint/2010/main" val="2988135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AB24B2-A2A9-D31E-F992-A55764C2F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Bag-of-words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4ACBB0-EE1F-42B8-D008-22160552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D4605E-4CBE-A6A7-F2CB-9DFDA9558F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4335" y="1925484"/>
            <a:ext cx="7483329" cy="445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FA4E0A6D-D7B2-70D5-D256-17368833A259}"/>
              </a:ext>
            </a:extLst>
          </p:cNvPr>
          <p:cNvSpPr txBox="1"/>
          <p:nvPr/>
        </p:nvSpPr>
        <p:spPr>
          <a:xfrm>
            <a:off x="3206110" y="6316632"/>
            <a:ext cx="6631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Figure source: https://sfhsu29.medium.com/</a:t>
            </a:r>
            <a:r>
              <a:rPr kumimoji="1" lang="en" altLang="zh-TW" sz="14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nlp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</a:t>
            </a:r>
            <a:r>
              <a:rPr kumimoji="1" lang="zh-TW" altLang="en-US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入門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-1-text-classification-sentiment-analysis-</a:t>
            </a:r>
            <a:r>
              <a:rPr kumimoji="1" lang="zh-TW" altLang="en-US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極簡易情感分類器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-bag-of-words-naive-bayes-e40d61de9a7f</a:t>
            </a:r>
            <a:endParaRPr kumimoji="1" lang="zh-TW" altLang="en-US" sz="14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4A98F25-856B-29F9-D7F1-E46DD6722A82}"/>
              </a:ext>
            </a:extLst>
          </p:cNvPr>
          <p:cNvSpPr txBox="1"/>
          <p:nvPr/>
        </p:nvSpPr>
        <p:spPr>
          <a:xfrm>
            <a:off x="3137483" y="1388364"/>
            <a:ext cx="8434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Meaning: Each </a:t>
            </a:r>
            <a:r>
              <a:rPr kumimoji="1" lang="en-US" altLang="zh-TW" sz="2400" dirty="0">
                <a:solidFill>
                  <a:srgbClr val="FF0000"/>
                </a:solidFill>
              </a:rPr>
              <a:t>document</a:t>
            </a:r>
            <a:r>
              <a:rPr kumimoji="1" lang="en-US" altLang="zh-TW" sz="2400" dirty="0"/>
              <a:t> (</a:t>
            </a:r>
            <a:r>
              <a:rPr kumimoji="1" lang="en-US" altLang="zh-TW" sz="2400" dirty="0">
                <a:solidFill>
                  <a:srgbClr val="FF0000"/>
                </a:solidFill>
              </a:rPr>
              <a:t>sentence</a:t>
            </a:r>
            <a:r>
              <a:rPr kumimoji="1" lang="en-US" altLang="zh-TW" sz="2400" dirty="0"/>
              <a:t>) carries a bag of words.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936739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740635-0F78-3FD4-B08C-4E32144CB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Bag-of-words Model (Example 1)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00982A-DB86-2B5D-278C-E54245FF8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6A60A35-A21F-CE23-52CB-5CA295ACF1C9}"/>
              </a:ext>
            </a:extLst>
          </p:cNvPr>
          <p:cNvSpPr txBox="1"/>
          <p:nvPr/>
        </p:nvSpPr>
        <p:spPr>
          <a:xfrm>
            <a:off x="963083" y="2695755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3FE3A9E6-178C-25EF-10B2-6C50B5EEF52D}"/>
              </a:ext>
            </a:extLst>
          </p:cNvPr>
          <p:cNvGrpSpPr/>
          <p:nvPr/>
        </p:nvGrpSpPr>
        <p:grpSpPr>
          <a:xfrm>
            <a:off x="825925" y="3131964"/>
            <a:ext cx="2798910" cy="1178802"/>
            <a:chOff x="653143" y="4097438"/>
            <a:chExt cx="2798910" cy="1178802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E92724EC-71C4-1DC1-0B1E-C1037BB6A083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 like to eat 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圓角矩形 8">
              <a:extLst>
                <a:ext uri="{FF2B5EF4-FFF2-40B4-BE49-F238E27FC236}">
                  <a16:creationId xmlns:a16="http://schemas.microsoft.com/office/drawing/2014/main" id="{8837E66C-DCE7-BD5F-90DE-0C7D3F49FD21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You like to watch TV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CBB4CE8B-7A12-1041-CEDE-1EFA5010A0A3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6" name="向右箭號 25">
            <a:extLst>
              <a:ext uri="{FF2B5EF4-FFF2-40B4-BE49-F238E27FC236}">
                <a16:creationId xmlns:a16="http://schemas.microsoft.com/office/drawing/2014/main" id="{B4D3624E-67C6-F226-19A9-5E5081C8D753}"/>
              </a:ext>
            </a:extLst>
          </p:cNvPr>
          <p:cNvSpPr/>
          <p:nvPr/>
        </p:nvSpPr>
        <p:spPr>
          <a:xfrm rot="19833262">
            <a:off x="3850820" y="3030788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04B12FD-B3E4-C022-DC8B-E6A8776A9925}"/>
              </a:ext>
            </a:extLst>
          </p:cNvPr>
          <p:cNvSpPr/>
          <p:nvPr/>
        </p:nvSpPr>
        <p:spPr>
          <a:xfrm>
            <a:off x="4267465" y="2695753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61DFEED-A5B8-BAF6-BCF5-95D83687A43E}"/>
              </a:ext>
            </a:extLst>
          </p:cNvPr>
          <p:cNvSpPr/>
          <p:nvPr/>
        </p:nvSpPr>
        <p:spPr>
          <a:xfrm>
            <a:off x="5183333" y="2695753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B08E2D8-3628-BBD7-6E73-3297EE5695D6}"/>
              </a:ext>
            </a:extLst>
          </p:cNvPr>
          <p:cNvSpPr/>
          <p:nvPr/>
        </p:nvSpPr>
        <p:spPr>
          <a:xfrm>
            <a:off x="6099201" y="2695753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5FF19A3-8063-F2CF-6102-AF08A99FA659}"/>
              </a:ext>
            </a:extLst>
          </p:cNvPr>
          <p:cNvSpPr/>
          <p:nvPr/>
        </p:nvSpPr>
        <p:spPr>
          <a:xfrm>
            <a:off x="7015069" y="2695753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7CE6C4C-E1A6-CB69-C860-4916218CEDD2}"/>
              </a:ext>
            </a:extLst>
          </p:cNvPr>
          <p:cNvSpPr/>
          <p:nvPr/>
        </p:nvSpPr>
        <p:spPr>
          <a:xfrm>
            <a:off x="9762673" y="2695753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253D99E8-C3E0-6B67-8DBF-2C14ABC8FDBE}"/>
              </a:ext>
            </a:extLst>
          </p:cNvPr>
          <p:cNvSpPr/>
          <p:nvPr/>
        </p:nvSpPr>
        <p:spPr>
          <a:xfrm>
            <a:off x="7930937" y="2695753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B009D8E-ED78-F0F1-C075-AAD83D937301}"/>
              </a:ext>
            </a:extLst>
          </p:cNvPr>
          <p:cNvSpPr/>
          <p:nvPr/>
        </p:nvSpPr>
        <p:spPr>
          <a:xfrm>
            <a:off x="8846805" y="2695753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TV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DCEC4AA4-47D6-DB13-2086-1FE88B9EDC41}"/>
              </a:ext>
            </a:extLst>
          </p:cNvPr>
          <p:cNvSpPr/>
          <p:nvPr/>
        </p:nvSpPr>
        <p:spPr>
          <a:xfrm>
            <a:off x="10678544" y="2695753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you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21B9C91-C1BC-E28E-5CCB-94C79B3403F9}"/>
              </a:ext>
            </a:extLst>
          </p:cNvPr>
          <p:cNvSpPr txBox="1"/>
          <p:nvPr/>
        </p:nvSpPr>
        <p:spPr>
          <a:xfrm>
            <a:off x="5310361" y="2036451"/>
            <a:ext cx="489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Step 1: Find unique words (vocab)</a:t>
            </a:r>
            <a:endParaRPr kumimoji="1" lang="zh-TW" altLang="en-US" sz="2400" dirty="0"/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4653EAD-EA51-8EB0-19D0-5BBFCFBC809C}"/>
              </a:ext>
            </a:extLst>
          </p:cNvPr>
          <p:cNvSpPr/>
          <p:nvPr/>
        </p:nvSpPr>
        <p:spPr>
          <a:xfrm rot="5400000">
            <a:off x="7435130" y="3238101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8DF6EA9-D16F-06D1-32F0-C17C2E4B8D82}"/>
              </a:ext>
            </a:extLst>
          </p:cNvPr>
          <p:cNvSpPr txBox="1"/>
          <p:nvPr/>
        </p:nvSpPr>
        <p:spPr>
          <a:xfrm>
            <a:off x="5310361" y="3566982"/>
            <a:ext cx="45373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Step 2: Form document vectors</a:t>
            </a:r>
            <a:endParaRPr kumimoji="1" lang="zh-TW" altLang="en-US" sz="24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4B69181-7350-18C7-D5DC-27C858BEF802}"/>
              </a:ext>
            </a:extLst>
          </p:cNvPr>
          <p:cNvSpPr txBox="1"/>
          <p:nvPr/>
        </p:nvSpPr>
        <p:spPr>
          <a:xfrm>
            <a:off x="207408" y="3222820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D1</a:t>
            </a:r>
            <a:endParaRPr kumimoji="1" lang="zh-TW" altLang="en-US" sz="24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834842A-6D35-0D9D-7FE9-F640F6BA5E92}"/>
              </a:ext>
            </a:extLst>
          </p:cNvPr>
          <p:cNvSpPr txBox="1"/>
          <p:nvPr/>
        </p:nvSpPr>
        <p:spPr>
          <a:xfrm>
            <a:off x="223694" y="3743190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D2</a:t>
            </a:r>
            <a:endParaRPr kumimoji="1" lang="zh-TW" altLang="en-US" sz="24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7EC8323-B978-A3CA-82B8-383A3A0A657E}"/>
              </a:ext>
            </a:extLst>
          </p:cNvPr>
          <p:cNvSpPr txBox="1"/>
          <p:nvPr/>
        </p:nvSpPr>
        <p:spPr>
          <a:xfrm>
            <a:off x="4157098" y="4204855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D1</a:t>
            </a:r>
            <a:endParaRPr kumimoji="1" lang="zh-TW" altLang="en-US" sz="24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84FA604-B6AD-41CD-0D8D-97FCE09327B8}"/>
              </a:ext>
            </a:extLst>
          </p:cNvPr>
          <p:cNvSpPr txBox="1"/>
          <p:nvPr/>
        </p:nvSpPr>
        <p:spPr>
          <a:xfrm>
            <a:off x="5695601" y="4204855"/>
            <a:ext cx="3736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[1, 1, 1, 1, 1, 0, 0, 0]</a:t>
            </a:r>
            <a:endParaRPr kumimoji="1" lang="zh-TW" altLang="en-US" sz="24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FEB9DA-82FE-D912-F5F1-C117E3A9FAD6}"/>
              </a:ext>
            </a:extLst>
          </p:cNvPr>
          <p:cNvSpPr txBox="1"/>
          <p:nvPr/>
        </p:nvSpPr>
        <p:spPr>
          <a:xfrm>
            <a:off x="5695600" y="4842728"/>
            <a:ext cx="3736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[0, 0, 0, 1, 1, 1, 1, 1]</a:t>
            </a:r>
            <a:endParaRPr kumimoji="1" lang="zh-TW" altLang="en-US" sz="24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CA77256-622E-1395-FBCD-5C362C6A4B61}"/>
              </a:ext>
            </a:extLst>
          </p:cNvPr>
          <p:cNvSpPr txBox="1"/>
          <p:nvPr/>
        </p:nvSpPr>
        <p:spPr>
          <a:xfrm>
            <a:off x="4157098" y="4842222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D2</a:t>
            </a:r>
            <a:endParaRPr kumimoji="1" lang="zh-TW" altLang="en-US" sz="24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00357487-F59E-0368-870E-025E5B7EBBEF}"/>
              </a:ext>
            </a:extLst>
          </p:cNvPr>
          <p:cNvSpPr txBox="1"/>
          <p:nvPr/>
        </p:nvSpPr>
        <p:spPr>
          <a:xfrm>
            <a:off x="3979478" y="5578582"/>
            <a:ext cx="76560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The vector size is equal to the vocab size.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Each position of a vector is corresponding to the position in the vocab.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94D74E4-EEBC-72D7-D44D-DB9545EC0D7A}"/>
              </a:ext>
            </a:extLst>
          </p:cNvPr>
          <p:cNvSpPr txBox="1"/>
          <p:nvPr/>
        </p:nvSpPr>
        <p:spPr>
          <a:xfrm>
            <a:off x="6942583" y="1371715"/>
            <a:ext cx="469294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/>
              <a:t>https://</a:t>
            </a:r>
            <a:r>
              <a:rPr kumimoji="1" lang="en" altLang="zh-TW" sz="1200" dirty="0" err="1"/>
              <a:t>github.com</a:t>
            </a:r>
            <a:r>
              <a:rPr kumimoji="1" lang="en" altLang="zh-TW" sz="1200" dirty="0"/>
              <a:t>/mcps5601/CGUNLP_2025_Spring/code/</a:t>
            </a:r>
            <a:r>
              <a:rPr kumimoji="1" lang="en" altLang="zh-TW" sz="1200" dirty="0" err="1"/>
              <a:t>bow.py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43378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740635-0F78-3FD4-B08C-4E32144CB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Bag-of-words Model (Example 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B00982A-DB86-2B5D-278C-E54245FF8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6A60A35-A21F-CE23-52CB-5CA295ACF1C9}"/>
              </a:ext>
            </a:extLst>
          </p:cNvPr>
          <p:cNvSpPr txBox="1"/>
          <p:nvPr/>
        </p:nvSpPr>
        <p:spPr>
          <a:xfrm>
            <a:off x="963083" y="2695755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3FE3A9E6-178C-25EF-10B2-6C50B5EEF52D}"/>
              </a:ext>
            </a:extLst>
          </p:cNvPr>
          <p:cNvGrpSpPr/>
          <p:nvPr/>
        </p:nvGrpSpPr>
        <p:grpSpPr>
          <a:xfrm>
            <a:off x="825925" y="3131964"/>
            <a:ext cx="2798910" cy="1178802"/>
            <a:chOff x="653143" y="4097438"/>
            <a:chExt cx="2798910" cy="1178802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E92724EC-71C4-1DC1-0B1E-C1037BB6A083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 </a:t>
              </a:r>
              <a:r>
                <a:rPr kumimoji="1" lang="en-US" altLang="zh-TW" dirty="0">
                  <a:solidFill>
                    <a:srgbClr val="FF0000"/>
                  </a:solidFill>
                </a:rPr>
                <a:t>like</a:t>
              </a:r>
              <a:r>
                <a:rPr kumimoji="1" lang="en-US" altLang="zh-TW" dirty="0">
                  <a:solidFill>
                    <a:schemeClr val="tx1"/>
                  </a:solidFill>
                </a:rPr>
                <a:t> like to eat 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圓角矩形 8">
              <a:extLst>
                <a:ext uri="{FF2B5EF4-FFF2-40B4-BE49-F238E27FC236}">
                  <a16:creationId xmlns:a16="http://schemas.microsoft.com/office/drawing/2014/main" id="{8837E66C-DCE7-BD5F-90DE-0C7D3F49FD21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You </a:t>
              </a:r>
              <a:r>
                <a:rPr kumimoji="1" lang="en-US" altLang="zh-TW" dirty="0">
                  <a:solidFill>
                    <a:srgbClr val="FF0000"/>
                  </a:solidFill>
                </a:rPr>
                <a:t>I</a:t>
              </a:r>
              <a:r>
                <a:rPr kumimoji="1" lang="en-US" altLang="zh-TW" dirty="0">
                  <a:solidFill>
                    <a:schemeClr val="tx1"/>
                  </a:solidFill>
                </a:rPr>
                <a:t> like to watch TV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CBB4CE8B-7A12-1041-CEDE-1EFA5010A0A3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6" name="向右箭號 25">
            <a:extLst>
              <a:ext uri="{FF2B5EF4-FFF2-40B4-BE49-F238E27FC236}">
                <a16:creationId xmlns:a16="http://schemas.microsoft.com/office/drawing/2014/main" id="{B4D3624E-67C6-F226-19A9-5E5081C8D753}"/>
              </a:ext>
            </a:extLst>
          </p:cNvPr>
          <p:cNvSpPr/>
          <p:nvPr/>
        </p:nvSpPr>
        <p:spPr>
          <a:xfrm rot="19833262">
            <a:off x="3850820" y="3030788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E04B12FD-B3E4-C022-DC8B-E6A8776A9925}"/>
              </a:ext>
            </a:extLst>
          </p:cNvPr>
          <p:cNvSpPr/>
          <p:nvPr/>
        </p:nvSpPr>
        <p:spPr>
          <a:xfrm>
            <a:off x="4267465" y="2695753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61DFEED-A5B8-BAF6-BCF5-95D83687A43E}"/>
              </a:ext>
            </a:extLst>
          </p:cNvPr>
          <p:cNvSpPr/>
          <p:nvPr/>
        </p:nvSpPr>
        <p:spPr>
          <a:xfrm>
            <a:off x="5183333" y="2695753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AB08E2D8-3628-BBD7-6E73-3297EE5695D6}"/>
              </a:ext>
            </a:extLst>
          </p:cNvPr>
          <p:cNvSpPr/>
          <p:nvPr/>
        </p:nvSpPr>
        <p:spPr>
          <a:xfrm>
            <a:off x="6099201" y="2695753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85FF19A3-8063-F2CF-6102-AF08A99FA659}"/>
              </a:ext>
            </a:extLst>
          </p:cNvPr>
          <p:cNvSpPr/>
          <p:nvPr/>
        </p:nvSpPr>
        <p:spPr>
          <a:xfrm>
            <a:off x="7015069" y="2695753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7CE6C4C-E1A6-CB69-C860-4916218CEDD2}"/>
              </a:ext>
            </a:extLst>
          </p:cNvPr>
          <p:cNvSpPr/>
          <p:nvPr/>
        </p:nvSpPr>
        <p:spPr>
          <a:xfrm>
            <a:off x="9762673" y="2695753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253D99E8-C3E0-6B67-8DBF-2C14ABC8FDBE}"/>
              </a:ext>
            </a:extLst>
          </p:cNvPr>
          <p:cNvSpPr/>
          <p:nvPr/>
        </p:nvSpPr>
        <p:spPr>
          <a:xfrm>
            <a:off x="7930937" y="2695753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B009D8E-ED78-F0F1-C075-AAD83D937301}"/>
              </a:ext>
            </a:extLst>
          </p:cNvPr>
          <p:cNvSpPr/>
          <p:nvPr/>
        </p:nvSpPr>
        <p:spPr>
          <a:xfrm>
            <a:off x="8846805" y="2695753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TV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7" name="圓角矩形 16">
            <a:extLst>
              <a:ext uri="{FF2B5EF4-FFF2-40B4-BE49-F238E27FC236}">
                <a16:creationId xmlns:a16="http://schemas.microsoft.com/office/drawing/2014/main" id="{DCEC4AA4-47D6-DB13-2086-1FE88B9EDC41}"/>
              </a:ext>
            </a:extLst>
          </p:cNvPr>
          <p:cNvSpPr/>
          <p:nvPr/>
        </p:nvSpPr>
        <p:spPr>
          <a:xfrm>
            <a:off x="10678544" y="2695753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you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84653EAD-EA51-8EB0-19D0-5BBFCFBC809C}"/>
              </a:ext>
            </a:extLst>
          </p:cNvPr>
          <p:cNvSpPr/>
          <p:nvPr/>
        </p:nvSpPr>
        <p:spPr>
          <a:xfrm rot="5400000">
            <a:off x="7435130" y="3238101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4B69181-7350-18C7-D5DC-27C858BEF802}"/>
              </a:ext>
            </a:extLst>
          </p:cNvPr>
          <p:cNvSpPr txBox="1"/>
          <p:nvPr/>
        </p:nvSpPr>
        <p:spPr>
          <a:xfrm>
            <a:off x="207408" y="3222820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D1</a:t>
            </a:r>
            <a:endParaRPr kumimoji="1" lang="zh-TW" altLang="en-US" sz="24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834842A-6D35-0D9D-7FE9-F640F6BA5E92}"/>
              </a:ext>
            </a:extLst>
          </p:cNvPr>
          <p:cNvSpPr txBox="1"/>
          <p:nvPr/>
        </p:nvSpPr>
        <p:spPr>
          <a:xfrm>
            <a:off x="223694" y="3743190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D2</a:t>
            </a:r>
            <a:endParaRPr kumimoji="1" lang="zh-TW" altLang="en-US" sz="24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D7EC8323-B978-A3CA-82B8-383A3A0A657E}"/>
              </a:ext>
            </a:extLst>
          </p:cNvPr>
          <p:cNvSpPr txBox="1"/>
          <p:nvPr/>
        </p:nvSpPr>
        <p:spPr>
          <a:xfrm>
            <a:off x="4157098" y="4204855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D1</a:t>
            </a:r>
            <a:endParaRPr kumimoji="1" lang="zh-TW" altLang="en-US" sz="24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84FA604-B6AD-41CD-0D8D-97FCE09327B8}"/>
              </a:ext>
            </a:extLst>
          </p:cNvPr>
          <p:cNvSpPr txBox="1"/>
          <p:nvPr/>
        </p:nvSpPr>
        <p:spPr>
          <a:xfrm>
            <a:off x="5695601" y="4204855"/>
            <a:ext cx="3736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[1, 1, 1, </a:t>
            </a:r>
            <a:r>
              <a:rPr kumimoji="1" lang="en-US" altLang="zh-TW" sz="2400" dirty="0">
                <a:solidFill>
                  <a:srgbClr val="FF0000"/>
                </a:solidFill>
              </a:rPr>
              <a:t>2</a:t>
            </a:r>
            <a:r>
              <a:rPr kumimoji="1" lang="en-US" altLang="zh-TW" sz="2400" dirty="0"/>
              <a:t>, 1, 0, 0, 0]</a:t>
            </a:r>
            <a:endParaRPr kumimoji="1" lang="zh-TW" altLang="en-US" sz="24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FEB9DA-82FE-D912-F5F1-C117E3A9FAD6}"/>
              </a:ext>
            </a:extLst>
          </p:cNvPr>
          <p:cNvSpPr txBox="1"/>
          <p:nvPr/>
        </p:nvSpPr>
        <p:spPr>
          <a:xfrm>
            <a:off x="5695600" y="4842728"/>
            <a:ext cx="37363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[0, 0, </a:t>
            </a:r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  <a:r>
              <a:rPr kumimoji="1" lang="en-US" altLang="zh-TW" sz="2400" dirty="0"/>
              <a:t>, 1, 1, 1, 1, 1]</a:t>
            </a:r>
            <a:endParaRPr kumimoji="1" lang="zh-TW" altLang="en-US" sz="24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7CA77256-622E-1395-FBCD-5C362C6A4B61}"/>
              </a:ext>
            </a:extLst>
          </p:cNvPr>
          <p:cNvSpPr txBox="1"/>
          <p:nvPr/>
        </p:nvSpPr>
        <p:spPr>
          <a:xfrm>
            <a:off x="4157098" y="4842222"/>
            <a:ext cx="755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D2</a:t>
            </a:r>
            <a:endParaRPr kumimoji="1" lang="zh-TW" altLang="en-US" sz="2400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7E08FCD-2311-0815-BFCA-C26F8F29D2B1}"/>
              </a:ext>
            </a:extLst>
          </p:cNvPr>
          <p:cNvSpPr txBox="1"/>
          <p:nvPr/>
        </p:nvSpPr>
        <p:spPr>
          <a:xfrm>
            <a:off x="5310361" y="2036451"/>
            <a:ext cx="489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Step 1: Find unique words (vocab)</a:t>
            </a:r>
            <a:endParaRPr kumimoji="1" lang="zh-TW" altLang="en-US" sz="2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5A83F795-000B-B8BE-BE38-A00FA2F5D893}"/>
              </a:ext>
            </a:extLst>
          </p:cNvPr>
          <p:cNvSpPr txBox="1"/>
          <p:nvPr/>
        </p:nvSpPr>
        <p:spPr>
          <a:xfrm>
            <a:off x="5310361" y="3566982"/>
            <a:ext cx="45373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400" dirty="0"/>
              <a:t>Step 2: Form document vectors</a:t>
            </a:r>
            <a:endParaRPr kumimoji="1" lang="zh-TW" altLang="en-US" sz="2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E53E570C-4F5C-A229-869E-10D02849DA2B}"/>
              </a:ext>
            </a:extLst>
          </p:cNvPr>
          <p:cNvSpPr txBox="1"/>
          <p:nvPr/>
        </p:nvSpPr>
        <p:spPr>
          <a:xfrm>
            <a:off x="3979478" y="5578582"/>
            <a:ext cx="76560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The vector size is equal to the vocab size.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zh-TW" dirty="0"/>
              <a:t>Each position of a vector is corresponding to the position in the vocab.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1660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B44E-757D-D8FC-C81B-2FF80DAC0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986563-6974-7813-7E7A-5DA8DF378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altLang="en-US" dirty="0">
                <a:latin typeface="Calibri" panose="020F0502020204030204" pitchFamily="34" charset="0"/>
                <a:ea typeface="新細明體"/>
                <a:cs typeface="+mj-lt"/>
              </a:rPr>
              <a:t>TF-IDF</a:t>
            </a:r>
            <a:endParaRPr 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424A5D-C1CB-23C6-04B0-ABA052027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15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DD7B09E-251F-E78D-5347-A7605CF5B98F}"/>
              </a:ext>
            </a:extLst>
          </p:cNvPr>
          <p:cNvSpPr txBox="1"/>
          <p:nvPr/>
        </p:nvSpPr>
        <p:spPr>
          <a:xfrm>
            <a:off x="709205" y="1860899"/>
            <a:ext cx="610307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000" dirty="0">
                <a:ea typeface="新細明體"/>
                <a:cs typeface="Times New Roman" panose="02020603050405020304"/>
              </a:rPr>
              <a:t>TF (Term Frequency; </a:t>
            </a:r>
            <a:r>
              <a:rPr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Times New Roman" panose="02020603050405020304"/>
              </a:rPr>
              <a:t>詞頻</a:t>
            </a:r>
            <a:r>
              <a:rPr lang="en-US" altLang="zh-TW" sz="2000" dirty="0">
                <a:ea typeface="新細明體"/>
                <a:cs typeface="Times New Roman" panose="02020603050405020304"/>
              </a:rPr>
              <a:t>)</a:t>
            </a:r>
            <a:r>
              <a:rPr lang="en-US" altLang="zh-TW" sz="2000" dirty="0">
                <a:solidFill>
                  <a:srgbClr val="404040"/>
                </a:solidFill>
                <a:ea typeface="新細明體"/>
                <a:cs typeface="Times New Roman" panose="02020603050405020304"/>
              </a:rPr>
              <a:t> 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TW" sz="2000" dirty="0">
                <a:ea typeface="新細明體"/>
                <a:cs typeface="Times New Roman" panose="02020603050405020304"/>
              </a:rPr>
              <a:t>IDF (</a:t>
            </a:r>
            <a:r>
              <a:rPr lang="en-US" altLang="zh-TW" sz="2000" dirty="0">
                <a:solidFill>
                  <a:srgbClr val="404040"/>
                </a:solidFill>
                <a:ea typeface="新細明體"/>
                <a:cs typeface="Times New Roman" panose="02020603050405020304"/>
              </a:rPr>
              <a:t>Inverse Document Frequency;</a:t>
            </a:r>
            <a:r>
              <a:rPr lang="zh-TW" altLang="en-US" sz="2000" dirty="0">
                <a:solidFill>
                  <a:srgbClr val="404040"/>
                </a:solidFill>
                <a:ea typeface="新細明體"/>
                <a:cs typeface="Times New Roman" panose="02020603050405020304"/>
              </a:rPr>
              <a:t> </a:t>
            </a:r>
            <a:r>
              <a:rPr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  <a:cs typeface="Times New Roman" panose="02020603050405020304"/>
              </a:rPr>
              <a:t>逆文本頻率</a:t>
            </a:r>
            <a:r>
              <a:rPr lang="en-US" altLang="zh-TW" sz="2000" dirty="0">
                <a:ea typeface="新細明體"/>
                <a:cs typeface="Times New Roman" panose="02020603050405020304"/>
              </a:rPr>
              <a:t>) 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CBB5ED72-91F8-C080-FDD3-48F9C70B3876}"/>
              </a:ext>
            </a:extLst>
          </p:cNvPr>
          <p:cNvSpPr txBox="1"/>
          <p:nvPr/>
        </p:nvSpPr>
        <p:spPr>
          <a:xfrm>
            <a:off x="3798570" y="3364914"/>
            <a:ext cx="21412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en-US" altLang="zh-TW" sz="3600" b="1" dirty="0"/>
              <a:t>TF x IDF</a:t>
            </a:r>
            <a:endParaRPr lang="zh-TW" altLang="en-US" sz="3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65A7588-CF1F-0F15-26D3-ABE38741D3B8}"/>
              </a:ext>
            </a:extLst>
          </p:cNvPr>
          <p:cNvSpPr txBox="1"/>
          <p:nvPr/>
        </p:nvSpPr>
        <p:spPr>
          <a:xfrm>
            <a:off x="2400300" y="4475615"/>
            <a:ext cx="1607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某詞出現在該句子的頻率</a:t>
            </a:r>
          </a:p>
        </p:txBody>
      </p: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F3E3F0FF-A6BA-B39C-3E40-A23150165382}"/>
              </a:ext>
            </a:extLst>
          </p:cNvPr>
          <p:cNvCxnSpPr>
            <a:stCxn id="11" idx="0"/>
          </p:cNvCxnSpPr>
          <p:nvPr/>
        </p:nvCxnSpPr>
        <p:spPr>
          <a:xfrm flipV="1">
            <a:off x="3204210" y="4011245"/>
            <a:ext cx="956310" cy="4643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86542C1-CAFA-1D84-9A2A-75FA846DBBEE}"/>
              </a:ext>
            </a:extLst>
          </p:cNvPr>
          <p:cNvSpPr txBox="1"/>
          <p:nvPr/>
        </p:nvSpPr>
        <p:spPr>
          <a:xfrm>
            <a:off x="4640580" y="4475614"/>
            <a:ext cx="16078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chemeClr val="accent6"/>
                </a:solidFill>
              </a:rPr>
              <a:t>某詞出現在全部文本的頻率的倒數</a:t>
            </a: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1761E22-9A37-B351-1182-9E33F874F52B}"/>
              </a:ext>
            </a:extLst>
          </p:cNvPr>
          <p:cNvCxnSpPr>
            <a:cxnSpLocks/>
          </p:cNvCxnSpPr>
          <p:nvPr/>
        </p:nvCxnSpPr>
        <p:spPr>
          <a:xfrm flipV="1">
            <a:off x="5374005" y="4008065"/>
            <a:ext cx="0" cy="46754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ED0C2968-06C5-4F50-F254-7CBCF12D7B9A}"/>
              </a:ext>
            </a:extLst>
          </p:cNvPr>
          <p:cNvSpPr txBox="1"/>
          <p:nvPr/>
        </p:nvSpPr>
        <p:spPr>
          <a:xfrm>
            <a:off x="5461636" y="3361734"/>
            <a:ext cx="33832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3600" dirty="0"/>
              <a:t>＝關鍵字分數</a:t>
            </a:r>
          </a:p>
        </p:txBody>
      </p:sp>
    </p:spTree>
    <p:extLst>
      <p:ext uri="{BB962C8B-B14F-4D97-AF65-F5344CB8AC3E}">
        <p14:creationId xmlns:p14="http://schemas.microsoft.com/office/powerpoint/2010/main" val="32578658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9AD85D-7A97-E57B-EA4D-C31A1FAEB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TF-IDF </a:t>
            </a:r>
            <a:r>
              <a:rPr kumimoji="1" lang="zh-TW" altLang="en-US" dirty="0"/>
              <a:t>為什麼這樣設計？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7A7236-D039-99F9-67EF-7D325E890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783080"/>
            <a:ext cx="10918371" cy="1851660"/>
          </a:xfrm>
        </p:spPr>
        <p:txBody>
          <a:bodyPr/>
          <a:lstStyle/>
          <a:p>
            <a:pPr>
              <a:buNone/>
            </a:pPr>
            <a:r>
              <a:rPr lang="zh-TW" altLang="en-US" dirty="0"/>
              <a:t>想像你撿到了班上三位同學的日記：</a:t>
            </a:r>
            <a:endParaRPr lang="en-US" altLang="zh-TW" dirty="0"/>
          </a:p>
          <a:p>
            <a:pPr>
              <a:buNone/>
            </a:pPr>
            <a:r>
              <a:rPr lang="zh-TW" altLang="en-US" dirty="0"/>
              <a:t>日記 </a:t>
            </a:r>
            <a:r>
              <a:rPr lang="en" altLang="zh-TW" dirty="0"/>
              <a:t>A (</a:t>
            </a:r>
            <a:r>
              <a:rPr lang="zh-TW" altLang="en-US" dirty="0"/>
              <a:t>小明的</a:t>
            </a:r>
            <a:r>
              <a:rPr lang="en-US" altLang="zh-TW" dirty="0"/>
              <a:t>)</a:t>
            </a:r>
            <a:r>
              <a:rPr lang="zh-TW" altLang="en-US" dirty="0"/>
              <a:t>： 「我 今天 去 吃 </a:t>
            </a:r>
            <a:r>
              <a:rPr lang="zh-TW" altLang="en-US" b="1" dirty="0"/>
              <a:t>漢堡</a:t>
            </a:r>
            <a:r>
              <a:rPr lang="zh-TW" altLang="en-US" dirty="0"/>
              <a:t>，</a:t>
            </a:r>
            <a:r>
              <a:rPr lang="zh-TW" altLang="en-US" b="1" dirty="0"/>
              <a:t>漢堡</a:t>
            </a:r>
            <a:r>
              <a:rPr lang="zh-TW" altLang="en-US" dirty="0"/>
              <a:t> 超 好吃。」</a:t>
            </a:r>
          </a:p>
          <a:p>
            <a:pPr>
              <a:buNone/>
            </a:pPr>
            <a:r>
              <a:rPr lang="zh-TW" altLang="en-US" dirty="0"/>
              <a:t>日記 </a:t>
            </a:r>
            <a:r>
              <a:rPr lang="en" altLang="zh-TW" dirty="0"/>
              <a:t>B (</a:t>
            </a:r>
            <a:r>
              <a:rPr lang="zh-TW" altLang="en-US" dirty="0"/>
              <a:t>小華的</a:t>
            </a:r>
            <a:r>
              <a:rPr lang="en-US" altLang="zh-TW" dirty="0"/>
              <a:t>)</a:t>
            </a:r>
            <a:r>
              <a:rPr lang="zh-TW" altLang="en-US" dirty="0"/>
              <a:t>： 「我 今天 去 學校 上課，好 累。」</a:t>
            </a:r>
          </a:p>
          <a:p>
            <a:pPr marL="0" indent="0">
              <a:buNone/>
            </a:pPr>
            <a:r>
              <a:rPr lang="zh-TW" altLang="en-US" dirty="0"/>
              <a:t>日記 </a:t>
            </a:r>
            <a:r>
              <a:rPr lang="en" altLang="zh-TW" dirty="0"/>
              <a:t>C (</a:t>
            </a:r>
            <a:r>
              <a:rPr lang="zh-TW" altLang="en-US" dirty="0"/>
              <a:t>小美的</a:t>
            </a:r>
            <a:r>
              <a:rPr lang="en-US" altLang="zh-TW" dirty="0"/>
              <a:t>)</a:t>
            </a:r>
            <a:r>
              <a:rPr lang="zh-TW" altLang="en-US" dirty="0"/>
              <a:t>： 「我 今天 跟 媽媽 去 買 菜。」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5BC13D3-A45E-293F-A1CD-218C6D24B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792E03E-9E4D-B124-1B22-7401F288A1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7790198"/>
              </p:ext>
            </p:extLst>
          </p:nvPr>
        </p:nvGraphicFramePr>
        <p:xfrm>
          <a:off x="1651725" y="4550170"/>
          <a:ext cx="8888550" cy="173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880">
                  <a:extLst>
                    <a:ext uri="{9D8B030D-6E8A-4147-A177-3AD203B41FA5}">
                      <a16:colId xmlns:a16="http://schemas.microsoft.com/office/drawing/2014/main" val="739768950"/>
                    </a:ext>
                  </a:extLst>
                </a:gridCol>
                <a:gridCol w="2176480">
                  <a:extLst>
                    <a:ext uri="{9D8B030D-6E8A-4147-A177-3AD203B41FA5}">
                      <a16:colId xmlns:a16="http://schemas.microsoft.com/office/drawing/2014/main" val="747441107"/>
                    </a:ext>
                  </a:extLst>
                </a:gridCol>
                <a:gridCol w="2071770">
                  <a:extLst>
                    <a:ext uri="{9D8B030D-6E8A-4147-A177-3AD203B41FA5}">
                      <a16:colId xmlns:a16="http://schemas.microsoft.com/office/drawing/2014/main" val="2443716368"/>
                    </a:ext>
                  </a:extLst>
                </a:gridCol>
                <a:gridCol w="1777710">
                  <a:extLst>
                    <a:ext uri="{9D8B030D-6E8A-4147-A177-3AD203B41FA5}">
                      <a16:colId xmlns:a16="http://schemas.microsoft.com/office/drawing/2014/main" val="726600154"/>
                    </a:ext>
                  </a:extLst>
                </a:gridCol>
                <a:gridCol w="1777710">
                  <a:extLst>
                    <a:ext uri="{9D8B030D-6E8A-4147-A177-3AD203B41FA5}">
                      <a16:colId xmlns:a16="http://schemas.microsoft.com/office/drawing/2014/main" val="441836514"/>
                    </a:ext>
                  </a:extLst>
                </a:gridCol>
              </a:tblGrid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單字</a:t>
                      </a:r>
                      <a:endParaRPr lang="zh-TW" altLang="en-US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TF (</a:t>
                      </a:r>
                      <a:r>
                        <a:rPr lang="zh-TW" altLang="en-US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在這篇很多</a:t>
                      </a:r>
                      <a:r>
                        <a:rPr lang="en-US" altLang="zh-TW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?)</a:t>
                      </a:r>
                      <a:endParaRPr lang="zh-TW" altLang="en-US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IDF (</a:t>
                      </a:r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在別篇很少</a:t>
                      </a:r>
                      <a:r>
                        <a:rPr lang="en-US" altLang="zh-TW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?)</a:t>
                      </a:r>
                      <a:endParaRPr lang="zh-TW" altLang="en-US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結果 </a:t>
                      </a:r>
                      <a:r>
                        <a:rPr lang="en-US" altLang="zh-TW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TF-IDF)</a:t>
                      </a:r>
                      <a:endParaRPr lang="en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意義</a:t>
                      </a:r>
                      <a:endParaRPr lang="zh-TW" altLang="en-US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35748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我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(1</a:t>
                      </a:r>
                      <a:r>
                        <a:rPr lang="zh-TW" altLang="en-US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否 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每句都有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低分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雜訊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不重要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842584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今天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(1</a:t>
                      </a:r>
                      <a:r>
                        <a:rPr lang="zh-TW" altLang="en-US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否 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每句都有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低分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雜訊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不重要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811438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漢堡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(2</a:t>
                      </a:r>
                      <a:r>
                        <a:rPr lang="zh-TW" altLang="en-US" b="1" dirty="0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)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b="1" dirty="0">
                          <a:effectLst/>
                          <a:latin typeface="Google Sans Text"/>
                        </a:rPr>
                        <a:t>別句都沒提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)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高分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關鍵字！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712623"/>
                  </a:ext>
                </a:extLst>
              </a:tr>
            </a:tbl>
          </a:graphicData>
        </a:graphic>
      </p:graphicFrame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2EB35CB-2CB3-2A09-679F-8D6052506EA2}"/>
              </a:ext>
            </a:extLst>
          </p:cNvPr>
          <p:cNvSpPr txBox="1">
            <a:spLocks/>
          </p:cNvSpPr>
          <p:nvPr/>
        </p:nvSpPr>
        <p:spPr>
          <a:xfrm>
            <a:off x="653143" y="3955949"/>
            <a:ext cx="10918371" cy="42874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 panose="020F0502020204030204" pitchFamily="34" charset="0"/>
              <a:buNone/>
            </a:pPr>
            <a:r>
              <a:rPr lang="zh-TW" altLang="en-US" u="sng" dirty="0"/>
              <a:t>日記 </a:t>
            </a:r>
            <a:r>
              <a:rPr lang="en" altLang="zh-TW" u="sng" dirty="0"/>
              <a:t>A </a:t>
            </a:r>
            <a:r>
              <a:rPr lang="zh-TW" altLang="en-US" dirty="0"/>
              <a:t>裡的內容觀察：</a:t>
            </a:r>
          </a:p>
        </p:txBody>
      </p:sp>
    </p:spTree>
    <p:extLst>
      <p:ext uri="{BB962C8B-B14F-4D97-AF65-F5344CB8AC3E}">
        <p14:creationId xmlns:p14="http://schemas.microsoft.com/office/powerpoint/2010/main" val="141425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B44E-757D-D8FC-C81B-2FF80DAC0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986563-6974-7813-7E7A-5DA8DF378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altLang="en-US" dirty="0">
                <a:latin typeface="Calibri" panose="020F0502020204030204" pitchFamily="34" charset="0"/>
                <a:ea typeface="新細明體"/>
                <a:cs typeface="+mj-lt"/>
              </a:rPr>
              <a:t>TF-IDF </a:t>
            </a:r>
            <a:r>
              <a:rPr lang="en-US" altLang="en-US" dirty="0" err="1">
                <a:latin typeface="Microsoft JhengHei" panose="020B0604030504040204" pitchFamily="34" charset="-120"/>
                <a:ea typeface="Microsoft JhengHei" panose="020B0604030504040204" pitchFamily="34" charset="-120"/>
                <a:cs typeface="+mj-lt"/>
              </a:rPr>
              <a:t>的公式</a:t>
            </a:r>
            <a:endParaRPr lang="zh-TW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783ED63-9573-0814-626B-AD19607F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09019"/>
            <a:ext cx="10058400" cy="4241074"/>
          </a:xfrm>
        </p:spPr>
        <p:txBody>
          <a:bodyPr vert="horz" lIns="0" tIns="45720" rIns="0" bIns="45720" rtlCol="0" anchor="t">
            <a:normAutofit/>
          </a:bodyPr>
          <a:lstStyle/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altLang="zh-TW" sz="24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T</a:t>
            </a:r>
            <a:r>
              <a:rPr lang="zh-TW" sz="2400" dirty="0">
                <a:solidFill>
                  <a:srgbClr val="40404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he </a:t>
            </a:r>
            <a:r>
              <a:rPr lang="en-US" altLang="zh-TW" sz="2400" dirty="0">
                <a:solidFill>
                  <a:srgbClr val="40404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mathematical representation of TF-IDF:</a:t>
            </a:r>
            <a:endParaRPr lang="zh-TW" altLang="en-US" dirty="0">
              <a:latin typeface="Calibri" panose="020F0502020204030204"/>
              <a:ea typeface="新細明體" panose="02020500000000000000" pitchFamily="18" charset="-120"/>
              <a:cs typeface="Calibri" panose="020F0502020204030204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endParaRPr lang="en-US" altLang="zh-TW" sz="2400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endParaRPr lang="en-US" altLang="zh-TW" sz="2400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altLang="zh-TW" sz="22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Where         is the </a:t>
            </a:r>
            <a:r>
              <a:rPr lang="en-US" altLang="zh-TW" sz="2200" dirty="0" err="1">
                <a:solidFill>
                  <a:srgbClr val="0070C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i-th</a:t>
            </a:r>
            <a:r>
              <a:rPr lang="en-US" altLang="zh-TW" sz="2200" dirty="0">
                <a:solidFill>
                  <a:srgbClr val="0070C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 word </a:t>
            </a:r>
            <a:r>
              <a:rPr lang="en-US" altLang="zh-TW" sz="22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in </a:t>
            </a:r>
            <a:r>
              <a:rPr lang="en-US" altLang="zh-TW" sz="2200" dirty="0">
                <a:solidFill>
                  <a:srgbClr val="FF000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the j-</a:t>
            </a:r>
            <a:r>
              <a:rPr lang="en-US" altLang="zh-TW" sz="2200" dirty="0" err="1">
                <a:solidFill>
                  <a:srgbClr val="FF000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th</a:t>
            </a:r>
            <a:r>
              <a:rPr lang="en-US" altLang="zh-TW" sz="2200" dirty="0">
                <a:solidFill>
                  <a:srgbClr val="FF000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 document </a:t>
            </a:r>
            <a:r>
              <a:rPr lang="en-US" altLang="zh-TW" sz="22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in the dataset.</a:t>
            </a:r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altLang="zh-TW" sz="24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TF (Term Frequency)</a:t>
            </a:r>
            <a:r>
              <a:rPr lang="en-US" altLang="zh-TW" sz="2400" dirty="0">
                <a:solidFill>
                  <a:srgbClr val="40404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 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altLang="zh-TW" sz="2200" dirty="0">
                <a:solidFill>
                  <a:srgbClr val="40404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Represents the "frequency" of a term appearing in a text.</a:t>
            </a:r>
            <a:endParaRPr lang="en-US" sz="2200" dirty="0"/>
          </a:p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altLang="zh-TW" sz="24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IDF (</a:t>
            </a:r>
            <a:r>
              <a:rPr lang="en-US" altLang="zh-TW" sz="2400" dirty="0">
                <a:solidFill>
                  <a:srgbClr val="40404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Inverse Document Frequency</a:t>
            </a:r>
            <a:r>
              <a:rPr lang="en-US" altLang="zh-TW" sz="24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) 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latin typeface="Calibri" panose="020F0502020204030204" pitchFamily="34" charset="0"/>
                <a:ea typeface="+mn-lt"/>
                <a:cs typeface="+mn-lt"/>
              </a:rPr>
              <a:t>Aims for terms to have higher specificity, meaning the fewer texts in the dataset contain the term, the better.</a:t>
            </a:r>
            <a:r>
              <a:rPr lang="en-US" altLang="zh-TW" sz="2200" dirty="0"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 </a:t>
            </a:r>
            <a:endParaRPr lang="en-US" sz="2000" dirty="0">
              <a:ea typeface="Calibri" panose="020F0502020204030204"/>
              <a:cs typeface="Calibri" panose="020F0502020204030204"/>
            </a:endParaRPr>
          </a:p>
          <a:p>
            <a:pPr marL="342900" indent="-342900">
              <a:buFont typeface="Wingdings" panose="020F0502020204030204" pitchFamily="34" charset="0"/>
              <a:buChar char="Ø"/>
            </a:pPr>
            <a:endParaRPr lang="en-US" altLang="zh-TW" sz="2400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424A5D-C1CB-23C6-04B0-ABA052027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17</a:t>
            </a:fld>
            <a:endParaRPr lang="zh-TW" altLang="en-US"/>
          </a:p>
        </p:txBody>
      </p:sp>
      <p:sp>
        <p:nvSpPr>
          <p:cNvPr id="5" name="箭號: 向右 4">
            <a:extLst>
              <a:ext uri="{FF2B5EF4-FFF2-40B4-BE49-F238E27FC236}">
                <a16:creationId xmlns:a16="http://schemas.microsoft.com/office/drawing/2014/main" id="{A2A3A169-9E90-CFA3-32B5-27A5C179D58B}"/>
              </a:ext>
            </a:extLst>
          </p:cNvPr>
          <p:cNvSpPr/>
          <p:nvPr/>
        </p:nvSpPr>
        <p:spPr>
          <a:xfrm>
            <a:off x="4412832" y="2528207"/>
            <a:ext cx="1138881" cy="740228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rgbClr val="000000"/>
                </a:solidFill>
                <a:ea typeface="新細明體"/>
                <a:cs typeface="Calibri"/>
              </a:rPr>
              <a:t>where</a:t>
            </a:r>
            <a:endParaRPr lang="zh-TW" dirty="0">
              <a:solidFill>
                <a:srgbClr val="000000"/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8267CF3-527F-509A-CDD6-625EABCC102A}"/>
              </a:ext>
            </a:extLst>
          </p:cNvPr>
          <p:cNvSpPr txBox="1"/>
          <p:nvPr/>
        </p:nvSpPr>
        <p:spPr>
          <a:xfrm>
            <a:off x="1212055" y="2691980"/>
            <a:ext cx="11388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400" dirty="0">
                <a:solidFill>
                  <a:srgbClr val="404040"/>
                </a:solidFill>
                <a:latin typeface="Calibri" panose="020F0502020204030204" pitchFamily="34" charset="0"/>
                <a:ea typeface="新細明體"/>
                <a:cs typeface="Calibri" panose="020F0502020204030204" pitchFamily="34" charset="0"/>
              </a:rPr>
              <a:t>TF-IDF</a:t>
            </a:r>
            <a:endParaRPr lang="zh-TW" alt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6D190BFE-914C-2DF9-AFA4-4E7FBC06B40C}"/>
                  </a:ext>
                </a:extLst>
              </p:cNvPr>
              <p:cNvSpPr txBox="1"/>
              <p:nvPr/>
            </p:nvSpPr>
            <p:spPr>
              <a:xfrm>
                <a:off x="5267912" y="2502953"/>
                <a:ext cx="2793733" cy="8397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240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lang="en-US" altLang="zh-TW" sz="240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6D190BFE-914C-2DF9-AFA4-4E7FBC06B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912" y="2502953"/>
                <a:ext cx="2793733" cy="839717"/>
              </a:xfrm>
              <a:prstGeom prst="rect">
                <a:avLst/>
              </a:prstGeom>
              <a:blipFill>
                <a:blip r:embed="rId2"/>
                <a:stretch>
                  <a:fillRect t="-29851" b="-10298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E209317-AEF7-1CFA-9261-9E47EE22EA8A}"/>
                  </a:ext>
                </a:extLst>
              </p:cNvPr>
              <p:cNvSpPr txBox="1"/>
              <p:nvPr/>
            </p:nvSpPr>
            <p:spPr>
              <a:xfrm>
                <a:off x="7889350" y="2452970"/>
                <a:ext cx="3438626" cy="939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ID</m:t>
                      </m:r>
                      <m:sSub>
                        <m:sSub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zh-TW" sz="240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altLang="zh-TW" sz="240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2400" i="0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zh-TW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𝐷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zh-TW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lit/>
                                    </m:rP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{</m:t>
                                  </m:r>
                                  <m: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𝑗</m:t>
                                  </m:r>
                                  <m: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:</m:t>
                                  </m:r>
                                  <m:sSub>
                                    <m:sSubPr>
                                      <m:ctrlPr>
                                        <a:rPr lang="zh-TW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TW" sz="2400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∈</m:t>
                                  </m:r>
                                  <m:sSub>
                                    <m:sSubPr>
                                      <m:ctrlPr>
                                        <a:rPr lang="zh-TW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m:rPr>
                                      <m:lit/>
                                    </m:rP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}</m:t>
                                  </m:r>
                                </m:e>
                              </m:d>
                            </m:den>
                          </m:f>
                        </m:e>
                      </m:func>
                    </m:oMath>
                  </m:oMathPara>
                </a14:m>
                <a:endParaRPr lang="zh-TW" altLang="zh-TW" sz="2400" kern="100" dirty="0">
                  <a:effectLst/>
                  <a:latin typeface="Calibri" panose="020F050202020403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0E209317-AEF7-1CFA-9261-9E47EE22E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9350" y="2452970"/>
                <a:ext cx="3438626" cy="939681"/>
              </a:xfrm>
              <a:prstGeom prst="rect">
                <a:avLst/>
              </a:prstGeom>
              <a:blipFill>
                <a:blip r:embed="rId3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E935C09-5ADA-1FA5-B88F-90A8ECCAE508}"/>
                  </a:ext>
                </a:extLst>
              </p:cNvPr>
              <p:cNvSpPr txBox="1"/>
              <p:nvPr/>
            </p:nvSpPr>
            <p:spPr>
              <a:xfrm>
                <a:off x="2018620" y="2691977"/>
                <a:ext cx="187933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zh-TW" altLang="en-US" sz="2400" i="0">
                          <a:latin typeface="Cambria Math" panose="02040503050406030204" pitchFamily="18" charset="0"/>
                        </a:rPr>
                        <m:t>TF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zh-TW" altLang="en-US" sz="2400" i="0">
                          <a:latin typeface="Cambria Math" panose="02040503050406030204" pitchFamily="18" charset="0"/>
                        </a:rPr>
                        <m:t>IDF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FE935C09-5ADA-1FA5-B88F-90A8ECCAE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8620" y="2691977"/>
                <a:ext cx="1879333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3497250-7036-A932-C334-BAC1A376E341}"/>
                  </a:ext>
                </a:extLst>
              </p:cNvPr>
              <p:cNvSpPr txBox="1"/>
              <p:nvPr/>
            </p:nvSpPr>
            <p:spPr>
              <a:xfrm>
                <a:off x="2370186" y="3322052"/>
                <a:ext cx="849151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3497250-7036-A932-C334-BAC1A376E3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0186" y="3322052"/>
                <a:ext cx="849151" cy="491417"/>
              </a:xfrm>
              <a:prstGeom prst="rect">
                <a:avLst/>
              </a:prstGeom>
              <a:blipFill>
                <a:blip r:embed="rId5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4481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B2A875-7556-3A70-0355-F44705D2C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Sentence</a:t>
            </a:r>
            <a:r>
              <a:rPr kumimoji="1" lang="en" altLang="zh-TW" dirty="0"/>
              <a:t> Embeddings: TF-IDF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EBF7D3-6475-D0D6-9896-9FEF45BDB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111E53B-5CD2-81B6-5289-A2ADDC253A00}"/>
              </a:ext>
            </a:extLst>
          </p:cNvPr>
          <p:cNvSpPr/>
          <p:nvPr/>
        </p:nvSpPr>
        <p:spPr>
          <a:xfrm>
            <a:off x="1249680" y="1861458"/>
            <a:ext cx="5463540" cy="8055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1600" dirty="0">
                <a:solidFill>
                  <a:schemeClr val="tx1"/>
                </a:solidFill>
              </a:rPr>
              <a:t>日記 </a:t>
            </a:r>
            <a:r>
              <a:rPr kumimoji="1" lang="en" altLang="zh-TW" sz="1600" dirty="0">
                <a:solidFill>
                  <a:schemeClr val="tx1"/>
                </a:solidFill>
              </a:rPr>
              <a:t>A (</a:t>
            </a:r>
            <a:r>
              <a:rPr kumimoji="1" lang="zh-TW" altLang="en-US" sz="1600" dirty="0">
                <a:solidFill>
                  <a:schemeClr val="tx1"/>
                </a:solidFill>
              </a:rPr>
              <a:t>小明的</a:t>
            </a:r>
            <a:r>
              <a:rPr kumimoji="1" lang="en-US" altLang="zh-TW" sz="1600" dirty="0">
                <a:solidFill>
                  <a:schemeClr val="tx1"/>
                </a:solidFill>
              </a:rPr>
              <a:t>)</a:t>
            </a:r>
            <a:r>
              <a:rPr kumimoji="1" lang="zh-TW" altLang="en-US" sz="1600" dirty="0">
                <a:solidFill>
                  <a:schemeClr val="tx1"/>
                </a:solidFill>
              </a:rPr>
              <a:t>：「我 今天 去 吃 漢堡，漢堡 超 好吃。」</a:t>
            </a:r>
          </a:p>
          <a:p>
            <a:r>
              <a:rPr kumimoji="1" lang="zh-TW" altLang="en-US" sz="1600" dirty="0">
                <a:solidFill>
                  <a:schemeClr val="tx1"/>
                </a:solidFill>
              </a:rPr>
              <a:t>日記 </a:t>
            </a:r>
            <a:r>
              <a:rPr kumimoji="1" lang="en" altLang="zh-TW" sz="1600" dirty="0">
                <a:solidFill>
                  <a:schemeClr val="tx1"/>
                </a:solidFill>
              </a:rPr>
              <a:t>B (</a:t>
            </a:r>
            <a:r>
              <a:rPr kumimoji="1" lang="zh-TW" altLang="en-US" sz="1600" dirty="0">
                <a:solidFill>
                  <a:schemeClr val="tx1"/>
                </a:solidFill>
              </a:rPr>
              <a:t>小華的</a:t>
            </a:r>
            <a:r>
              <a:rPr kumimoji="1" lang="en-US" altLang="zh-TW" sz="1600" dirty="0">
                <a:solidFill>
                  <a:schemeClr val="tx1"/>
                </a:solidFill>
              </a:rPr>
              <a:t>)</a:t>
            </a:r>
            <a:r>
              <a:rPr kumimoji="1" lang="zh-TW" altLang="en-US" sz="1600" dirty="0">
                <a:solidFill>
                  <a:schemeClr val="tx1"/>
                </a:solidFill>
              </a:rPr>
              <a:t>：「我 今天 去 學校 上課，好累。」</a:t>
            </a:r>
          </a:p>
          <a:p>
            <a:r>
              <a:rPr kumimoji="1" lang="zh-TW" altLang="en-US" sz="1600" dirty="0">
                <a:solidFill>
                  <a:schemeClr val="tx1"/>
                </a:solidFill>
              </a:rPr>
              <a:t>日記 </a:t>
            </a:r>
            <a:r>
              <a:rPr kumimoji="1" lang="en" altLang="zh-TW" sz="1600" dirty="0">
                <a:solidFill>
                  <a:schemeClr val="tx1"/>
                </a:solidFill>
              </a:rPr>
              <a:t>C (</a:t>
            </a:r>
            <a:r>
              <a:rPr kumimoji="1" lang="zh-TW" altLang="en-US" sz="1600" dirty="0">
                <a:solidFill>
                  <a:schemeClr val="tx1"/>
                </a:solidFill>
              </a:rPr>
              <a:t>小美的</a:t>
            </a:r>
            <a:r>
              <a:rPr kumimoji="1" lang="en-US" altLang="zh-TW" sz="1600" dirty="0">
                <a:solidFill>
                  <a:schemeClr val="tx1"/>
                </a:solidFill>
              </a:rPr>
              <a:t>)</a:t>
            </a:r>
            <a:r>
              <a:rPr kumimoji="1" lang="zh-TW" altLang="en-US" sz="1600" dirty="0">
                <a:solidFill>
                  <a:schemeClr val="tx1"/>
                </a:solidFill>
              </a:rPr>
              <a:t>：「我 今天 跟 媽媽 去 買 菜。」</a:t>
            </a:r>
          </a:p>
        </p:txBody>
      </p:sp>
      <p:graphicFrame>
        <p:nvGraphicFramePr>
          <p:cNvPr id="6" name="表格 6">
            <a:extLst>
              <a:ext uri="{FF2B5EF4-FFF2-40B4-BE49-F238E27FC236}">
                <a16:creationId xmlns:a16="http://schemas.microsoft.com/office/drawing/2014/main" id="{7BBA92AB-93AA-25ED-E01D-56DA6E458D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554847"/>
              </p:ext>
            </p:extLst>
          </p:nvPr>
        </p:nvGraphicFramePr>
        <p:xfrm>
          <a:off x="1249680" y="3863757"/>
          <a:ext cx="10288092" cy="196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341">
                  <a:extLst>
                    <a:ext uri="{9D8B030D-6E8A-4147-A177-3AD203B41FA5}">
                      <a16:colId xmlns:a16="http://schemas.microsoft.com/office/drawing/2014/main" val="314890335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2685169728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2317320472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1453491604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686922626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1488000936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3292789934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2698451912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1813931681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1101131846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3882462916"/>
                    </a:ext>
                  </a:extLst>
                </a:gridCol>
                <a:gridCol w="857341">
                  <a:extLst>
                    <a:ext uri="{9D8B030D-6E8A-4147-A177-3AD203B41FA5}">
                      <a16:colId xmlns:a16="http://schemas.microsoft.com/office/drawing/2014/main" val="4042980728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我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今天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去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吃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漢堡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超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TW" altLang="en-US" dirty="0"/>
                        <a:t>好吃</a:t>
                      </a:r>
                      <a:endParaRPr lang="en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學校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好累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 err="1"/>
                        <a:t>跟</a:t>
                      </a:r>
                      <a:endParaRPr lang="e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dirty="0"/>
                        <a:t>...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160229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TF</a:t>
                      </a:r>
                      <a:endParaRPr lang="zh-TW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1/8</a:t>
                      </a:r>
                    </a:p>
                    <a:p>
                      <a:r>
                        <a:rPr lang="en-US" altLang="zh-TW" sz="1400" dirty="0"/>
                        <a:t>=0.125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1/8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=0.125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1/8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=0.125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1/8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=0.125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>
                          <a:solidFill>
                            <a:srgbClr val="FF0000"/>
                          </a:solidFill>
                        </a:rPr>
                        <a:t>2</a:t>
                      </a:r>
                      <a:r>
                        <a:rPr lang="en-US" altLang="zh-TW" sz="1400" dirty="0"/>
                        <a:t>/8</a:t>
                      </a:r>
                    </a:p>
                    <a:p>
                      <a:r>
                        <a:rPr lang="en-US" altLang="zh-TW" sz="1400" dirty="0"/>
                        <a:t>=0.25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1/8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=0.125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1/8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=0.125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altLang="zh-TW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04281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IDF</a:t>
                      </a:r>
                      <a:endParaRPr lang="zh-TW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log(3/3)=0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log(3/3)=0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log(3/3)=0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log(3/1)=0.48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log(3/1)=0.48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log(3/1)=0.48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log(3/1)=0.48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log(3/1)=0.48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log(3/1)=0.48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log(3/1)=0.48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altLang="zh-TW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45698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/>
                        <a:t>分數</a:t>
                      </a:r>
                      <a:r>
                        <a:rPr lang="en-US" altLang="zh-TW" sz="1400" dirty="0"/>
                        <a:t>(</a:t>
                      </a:r>
                      <a:r>
                        <a:rPr lang="en-US" altLang="zh-TW" sz="1400" dirty="0" err="1"/>
                        <a:t>TFxIDF</a:t>
                      </a:r>
                      <a:r>
                        <a:rPr lang="en-US" altLang="zh-TW" sz="1400" dirty="0"/>
                        <a:t>)</a:t>
                      </a:r>
                      <a:endParaRPr lang="zh-TW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solidFill>
                            <a:srgbClr val="FF0000"/>
                          </a:solidFill>
                        </a:rPr>
                        <a:t>0.12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0.06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/>
                        <a:t>0.06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4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altLang="zh-TW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8722066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D59B19FA-2FCD-AC94-2BCC-5177B5EED5AF}"/>
              </a:ext>
            </a:extLst>
          </p:cNvPr>
          <p:cNvSpPr txBox="1"/>
          <p:nvPr/>
        </p:nvSpPr>
        <p:spPr>
          <a:xfrm>
            <a:off x="5852160" y="3186956"/>
            <a:ext cx="20802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/>
              <a:t>字典大小</a:t>
            </a:r>
          </a:p>
        </p:txBody>
      </p:sp>
      <p:sp>
        <p:nvSpPr>
          <p:cNvPr id="8" name="右中括弧 7">
            <a:extLst>
              <a:ext uri="{FF2B5EF4-FFF2-40B4-BE49-F238E27FC236}">
                <a16:creationId xmlns:a16="http://schemas.microsoft.com/office/drawing/2014/main" id="{FC434B83-DA06-6944-943C-97D0F154CF4B}"/>
              </a:ext>
            </a:extLst>
          </p:cNvPr>
          <p:cNvSpPr/>
          <p:nvPr/>
        </p:nvSpPr>
        <p:spPr>
          <a:xfrm rot="16200000">
            <a:off x="6961215" y="-476674"/>
            <a:ext cx="207221" cy="8273142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C8BFD7ED-6EA9-B21F-EECF-FDB1D189CE2D}"/>
              </a:ext>
            </a:extLst>
          </p:cNvPr>
          <p:cNvCxnSpPr>
            <a:cxnSpLocks/>
            <a:stCxn id="5" idx="1"/>
            <a:endCxn id="6" idx="1"/>
          </p:cNvCxnSpPr>
          <p:nvPr/>
        </p:nvCxnSpPr>
        <p:spPr>
          <a:xfrm rot="10800000" flipV="1">
            <a:off x="1249680" y="2264229"/>
            <a:ext cx="12700" cy="2579968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69076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267FBF-8499-CA95-D4F4-0AB49D545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TF-IDF</a:t>
            </a:r>
            <a:r>
              <a:rPr kumimoji="1" lang="zh-TW" altLang="en-US" dirty="0"/>
              <a:t> 的問題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C2FB13-FF8F-7030-7884-AC7FDA1C2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069E27-9BEC-D0EF-B2D2-265F25EC533F}"/>
              </a:ext>
            </a:extLst>
          </p:cNvPr>
          <p:cNvSpPr txBox="1"/>
          <p:nvPr/>
        </p:nvSpPr>
        <p:spPr>
          <a:xfrm>
            <a:off x="653143" y="1868198"/>
            <a:ext cx="10918370" cy="280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在 </a:t>
            </a:r>
            <a:r>
              <a:rPr kumimoji="1" lang="en" altLang="zh-TW" sz="2000" dirty="0"/>
              <a:t>TF-IDF </a:t>
            </a:r>
            <a:r>
              <a:rPr kumimoji="1" lang="zh-TW" altLang="en-US" sz="2000" dirty="0"/>
              <a:t>的世界裡，字跟字是完全獨立的。</a:t>
            </a:r>
            <a:endParaRPr kumimoji="1" lang="en-US" altLang="zh-TW" sz="2000" dirty="0"/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/>
              <a:t>句子 </a:t>
            </a:r>
            <a:r>
              <a:rPr kumimoji="1" lang="en-US" altLang="zh-TW" sz="2000" dirty="0"/>
              <a:t>A</a:t>
            </a:r>
            <a:r>
              <a:rPr kumimoji="1" lang="zh-TW" altLang="en-US" sz="2000" dirty="0"/>
              <a:t>： 「我很</a:t>
            </a:r>
            <a:r>
              <a:rPr kumimoji="1" lang="zh-TW" altLang="en-US" sz="2000" b="1" dirty="0"/>
              <a:t>快樂</a:t>
            </a:r>
            <a:r>
              <a:rPr kumimoji="1" lang="zh-TW" altLang="en-US" sz="2000" dirty="0"/>
              <a:t>」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/>
              <a:t>句子 </a:t>
            </a:r>
            <a:r>
              <a:rPr kumimoji="1" lang="en-US" altLang="zh-TW" sz="2000" dirty="0"/>
              <a:t>B</a:t>
            </a:r>
            <a:r>
              <a:rPr kumimoji="1" lang="zh-TW" altLang="en-US" sz="2000" dirty="0"/>
              <a:t>： 「我很</a:t>
            </a:r>
            <a:r>
              <a:rPr kumimoji="1" lang="zh-TW" altLang="en-US" sz="2000" b="1" dirty="0"/>
              <a:t>開心</a:t>
            </a:r>
            <a:r>
              <a:rPr kumimoji="1" lang="zh-TW" altLang="en-US" sz="2000" dirty="0"/>
              <a:t>」</a:t>
            </a:r>
            <a:endParaRPr kumimoji="1" lang="en-US" altLang="zh-TW" sz="2000" dirty="0"/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本質上仍是詞袋模型 </a:t>
            </a:r>
            <a:r>
              <a:rPr kumimoji="1" lang="en-US" altLang="zh-TW" sz="2000" dirty="0"/>
              <a:t>(Bag-of-words) </a:t>
            </a:r>
            <a:r>
              <a:rPr kumimoji="1" lang="zh-TW" altLang="en-US" sz="2000" dirty="0"/>
              <a:t>，不分「順序」</a:t>
            </a:r>
            <a:endParaRPr kumimoji="1" lang="en-US" altLang="zh-TW" sz="2000" dirty="0"/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/>
              <a:t>句子 </a:t>
            </a:r>
            <a:r>
              <a:rPr kumimoji="1" lang="en-US" altLang="zh-TW" sz="2000" dirty="0"/>
              <a:t>A</a:t>
            </a:r>
            <a:r>
              <a:rPr kumimoji="1" lang="zh-TW" altLang="en-US" sz="2000" dirty="0"/>
              <a:t>： 「</a:t>
            </a:r>
            <a:r>
              <a:rPr kumimoji="1" lang="zh-TW" altLang="en-US" sz="2000" dirty="0">
                <a:solidFill>
                  <a:srgbClr val="FF0000"/>
                </a:solidFill>
              </a:rPr>
              <a:t>小明</a:t>
            </a:r>
            <a:r>
              <a:rPr kumimoji="1" lang="zh-TW" altLang="en-US" sz="2000" dirty="0"/>
              <a:t>喜歡</a:t>
            </a:r>
            <a:r>
              <a:rPr kumimoji="1" lang="zh-TW" altLang="en-US" sz="2000" dirty="0">
                <a:solidFill>
                  <a:srgbClr val="0070C0"/>
                </a:solidFill>
              </a:rPr>
              <a:t>小華</a:t>
            </a:r>
            <a:r>
              <a:rPr kumimoji="1" lang="zh-TW" altLang="en-US" sz="2000" dirty="0"/>
              <a:t>」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/>
              <a:t>句子 </a:t>
            </a:r>
            <a:r>
              <a:rPr kumimoji="1" lang="en-US" altLang="zh-TW" sz="2000" dirty="0"/>
              <a:t>B</a:t>
            </a:r>
            <a:r>
              <a:rPr kumimoji="1" lang="zh-TW" altLang="en-US" sz="2000" dirty="0"/>
              <a:t>： 「</a:t>
            </a:r>
            <a:r>
              <a:rPr kumimoji="1" lang="zh-TW" altLang="en-US" sz="2000" dirty="0">
                <a:solidFill>
                  <a:srgbClr val="0070C0"/>
                </a:solidFill>
              </a:rPr>
              <a:t>小華</a:t>
            </a:r>
            <a:r>
              <a:rPr kumimoji="1" lang="zh-TW" altLang="en-US" sz="2000" dirty="0"/>
              <a:t>喜歡</a:t>
            </a:r>
            <a:r>
              <a:rPr kumimoji="1" lang="zh-TW" altLang="en-US" sz="2000" dirty="0">
                <a:solidFill>
                  <a:srgbClr val="FF0000"/>
                </a:solidFill>
              </a:rPr>
              <a:t>小明</a:t>
            </a:r>
            <a:r>
              <a:rPr kumimoji="1" lang="zh-TW" altLang="en-US" sz="2000" dirty="0"/>
              <a:t>」</a:t>
            </a:r>
            <a:endParaRPr kumimoji="1"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1307991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340F-4CFF-4989-C8F8-5FD82745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E0BF5B-487C-A590-771F-1B615AE43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6E6DDF-B91E-D579-5F64-DA6C13021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129A909-BF71-C618-B5E9-B727E3F75846}"/>
              </a:ext>
            </a:extLst>
          </p:cNvPr>
          <p:cNvSpPr txBox="1"/>
          <p:nvPr/>
        </p:nvSpPr>
        <p:spPr>
          <a:xfrm>
            <a:off x="653143" y="1868198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rgbClr val="0070C0"/>
                </a:solidFill>
              </a:rPr>
              <a:t>文字向量基礎</a:t>
            </a:r>
            <a:endParaRPr kumimoji="1" lang="en-US" altLang="zh-TW" sz="2400" b="1" dirty="0">
              <a:solidFill>
                <a:srgbClr val="0070C0"/>
              </a:solidFill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b="1" dirty="0"/>
              <a:t>Introduction to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Sentence embeddings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Word embeddings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295D176-023D-8705-62FA-C6B01814C651}"/>
              </a:ext>
            </a:extLst>
          </p:cNvPr>
          <p:cNvSpPr/>
          <p:nvPr/>
        </p:nvSpPr>
        <p:spPr>
          <a:xfrm>
            <a:off x="1058779" y="3617153"/>
            <a:ext cx="3176337" cy="490889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79938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F6BAB6-B4AA-13CD-0AD3-7B7F2FB6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Word Representations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EDA3F6-A6A6-8F7F-229B-612A6371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EF35CB33-6AF5-DE8F-55EB-4C367C73DFD8}"/>
              </a:ext>
            </a:extLst>
          </p:cNvPr>
          <p:cNvSpPr/>
          <p:nvPr/>
        </p:nvSpPr>
        <p:spPr>
          <a:xfrm>
            <a:off x="2319962" y="1771513"/>
            <a:ext cx="10254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like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DA033C3C-2D29-BBB2-99C3-93553E76DE6E}"/>
              </a:ext>
            </a:extLst>
          </p:cNvPr>
          <p:cNvSpPr/>
          <p:nvPr/>
        </p:nvSpPr>
        <p:spPr>
          <a:xfrm>
            <a:off x="2319962" y="2396430"/>
            <a:ext cx="1025492" cy="40011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apple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" name="直線箭頭接點 6">
            <a:extLst>
              <a:ext uri="{FF2B5EF4-FFF2-40B4-BE49-F238E27FC236}">
                <a16:creationId xmlns:a16="http://schemas.microsoft.com/office/drawing/2014/main" id="{6FE083B9-4940-4F58-0E92-038EBCF79F68}"/>
              </a:ext>
            </a:extLst>
          </p:cNvPr>
          <p:cNvCxnSpPr>
            <a:cxnSpLocks/>
          </p:cNvCxnSpPr>
          <p:nvPr/>
        </p:nvCxnSpPr>
        <p:spPr>
          <a:xfrm>
            <a:off x="3615218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7">
            <a:extLst>
              <a:ext uri="{FF2B5EF4-FFF2-40B4-BE49-F238E27FC236}">
                <a16:creationId xmlns:a16="http://schemas.microsoft.com/office/drawing/2014/main" id="{CC1213A1-F77A-DB50-E3F7-FEDF7C3D8CCE}"/>
              </a:ext>
            </a:extLst>
          </p:cNvPr>
          <p:cNvSpPr txBox="1"/>
          <p:nvPr/>
        </p:nvSpPr>
        <p:spPr>
          <a:xfrm>
            <a:off x="4914900" y="1771513"/>
            <a:ext cx="1752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8000" dirty="0"/>
              <a:t>🖥️</a:t>
            </a:r>
            <a:endParaRPr kumimoji="1" lang="zh-TW" altLang="en-US" sz="8000" dirty="0"/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E652FD1D-9B44-9613-BCFF-F5D5958E1815}"/>
              </a:ext>
            </a:extLst>
          </p:cNvPr>
          <p:cNvCxnSpPr>
            <a:cxnSpLocks/>
          </p:cNvCxnSpPr>
          <p:nvPr/>
        </p:nvCxnSpPr>
        <p:spPr>
          <a:xfrm>
            <a:off x="6667500" y="2245888"/>
            <a:ext cx="1198485" cy="0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4D98F1-AA3C-9208-3747-5A61BF904007}"/>
              </a:ext>
            </a:extLst>
          </p:cNvPr>
          <p:cNvSpPr txBox="1"/>
          <p:nvPr/>
        </p:nvSpPr>
        <p:spPr>
          <a:xfrm>
            <a:off x="8054340" y="1945326"/>
            <a:ext cx="579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3600" b="1" dirty="0"/>
              <a:t>?</a:t>
            </a:r>
            <a:endParaRPr kumimoji="1" lang="zh-TW" altLang="en-US" sz="3600" b="1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938E0F8-04E3-42A5-80E3-DAC75C6C47CE}"/>
              </a:ext>
            </a:extLst>
          </p:cNvPr>
          <p:cNvSpPr txBox="1"/>
          <p:nvPr/>
        </p:nvSpPr>
        <p:spPr>
          <a:xfrm>
            <a:off x="568132" y="3120496"/>
            <a:ext cx="30324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Basic Approach</a:t>
            </a:r>
            <a:endParaRPr kumimoji="1" lang="zh-TW" altLang="en-US" sz="2800" b="1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05BD7A1-9CB1-647E-B0A3-31D4B4DF87F9}"/>
              </a:ext>
            </a:extLst>
          </p:cNvPr>
          <p:cNvSpPr txBox="1"/>
          <p:nvPr/>
        </p:nvSpPr>
        <p:spPr>
          <a:xfrm>
            <a:off x="823234" y="3911090"/>
            <a:ext cx="25222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Corpus</a:t>
            </a:r>
            <a:endParaRPr kumimoji="1" lang="zh-TW" altLang="en-US" sz="2400" dirty="0"/>
          </a:p>
        </p:txBody>
      </p: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AC773989-B87C-D68A-7E2C-7781270984C4}"/>
              </a:ext>
            </a:extLst>
          </p:cNvPr>
          <p:cNvGrpSpPr/>
          <p:nvPr/>
        </p:nvGrpSpPr>
        <p:grpSpPr>
          <a:xfrm>
            <a:off x="686076" y="4347299"/>
            <a:ext cx="2798910" cy="1178802"/>
            <a:chOff x="653143" y="4097438"/>
            <a:chExt cx="2798910" cy="1178802"/>
          </a:xfrm>
        </p:grpSpPr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16178C76-3E8B-9E4C-AFD2-B955C3270965}"/>
                </a:ext>
              </a:extLst>
            </p:cNvPr>
            <p:cNvSpPr/>
            <p:nvPr/>
          </p:nvSpPr>
          <p:spPr>
            <a:xfrm>
              <a:off x="790303" y="4219072"/>
              <a:ext cx="2522218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I like to eat apple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00D36C8B-72ED-6DC2-EC8D-74F34886FFA8}"/>
                </a:ext>
              </a:extLst>
            </p:cNvPr>
            <p:cNvSpPr/>
            <p:nvPr/>
          </p:nvSpPr>
          <p:spPr>
            <a:xfrm>
              <a:off x="806587" y="4740816"/>
              <a:ext cx="2522219" cy="400110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sz="2000" dirty="0">
                  <a:solidFill>
                    <a:schemeClr val="tx1"/>
                  </a:solidFill>
                </a:rPr>
                <a:t>You like to watch TV</a:t>
              </a:r>
              <a:endParaRPr kumimoji="1" lang="zh-TW" altLang="en-US" sz="20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664C5D4-C1BD-DA8A-031B-F885F27D33C8}"/>
                </a:ext>
              </a:extLst>
            </p:cNvPr>
            <p:cNvSpPr/>
            <p:nvPr/>
          </p:nvSpPr>
          <p:spPr>
            <a:xfrm>
              <a:off x="653143" y="4097438"/>
              <a:ext cx="2798910" cy="1178802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BEA2D24D-3AA2-E2AE-1D76-D35CFC1E755D}"/>
              </a:ext>
            </a:extLst>
          </p:cNvPr>
          <p:cNvSpPr txBox="1"/>
          <p:nvPr/>
        </p:nvSpPr>
        <p:spPr>
          <a:xfrm>
            <a:off x="3731708" y="4765595"/>
            <a:ext cx="17511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>
                <a:solidFill>
                  <a:srgbClr val="00B050"/>
                </a:solidFill>
              </a:rPr>
              <a:t>Vocabulary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9" name="圓角矩形 18">
            <a:extLst>
              <a:ext uri="{FF2B5EF4-FFF2-40B4-BE49-F238E27FC236}">
                <a16:creationId xmlns:a16="http://schemas.microsoft.com/office/drawing/2014/main" id="{401A8F95-3600-8957-0805-E1F1F2AC90C6}"/>
              </a:ext>
            </a:extLst>
          </p:cNvPr>
          <p:cNvSpPr/>
          <p:nvPr/>
        </p:nvSpPr>
        <p:spPr>
          <a:xfrm>
            <a:off x="5575772" y="3655144"/>
            <a:ext cx="843382" cy="302786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apple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圓角矩形 19">
            <a:extLst>
              <a:ext uri="{FF2B5EF4-FFF2-40B4-BE49-F238E27FC236}">
                <a16:creationId xmlns:a16="http://schemas.microsoft.com/office/drawing/2014/main" id="{89F2ACED-A2D0-C3C3-68A7-B31F0DA0901C}"/>
              </a:ext>
            </a:extLst>
          </p:cNvPr>
          <p:cNvSpPr/>
          <p:nvPr/>
        </p:nvSpPr>
        <p:spPr>
          <a:xfrm>
            <a:off x="5575772" y="4107460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eat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1" name="圓角矩形 20">
            <a:extLst>
              <a:ext uri="{FF2B5EF4-FFF2-40B4-BE49-F238E27FC236}">
                <a16:creationId xmlns:a16="http://schemas.microsoft.com/office/drawing/2014/main" id="{66070AE8-43B4-F8BF-BEFE-168CAE60C487}"/>
              </a:ext>
            </a:extLst>
          </p:cNvPr>
          <p:cNvSpPr/>
          <p:nvPr/>
        </p:nvSpPr>
        <p:spPr>
          <a:xfrm>
            <a:off x="5575772" y="4549084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3600E8E-A145-E547-2303-4EF07FAAF6AF}"/>
              </a:ext>
            </a:extLst>
          </p:cNvPr>
          <p:cNvSpPr/>
          <p:nvPr/>
        </p:nvSpPr>
        <p:spPr>
          <a:xfrm>
            <a:off x="5575772" y="4990708"/>
            <a:ext cx="843382" cy="292094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like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3D0B28C5-A462-85E7-AF9B-A44075CA512D}"/>
              </a:ext>
            </a:extLst>
          </p:cNvPr>
          <p:cNvSpPr/>
          <p:nvPr/>
        </p:nvSpPr>
        <p:spPr>
          <a:xfrm>
            <a:off x="5583392" y="5432332"/>
            <a:ext cx="843382" cy="292095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watch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12619BBF-AB71-9CDC-CDAC-505987D98712}"/>
              </a:ext>
            </a:extLst>
          </p:cNvPr>
          <p:cNvSpPr/>
          <p:nvPr/>
        </p:nvSpPr>
        <p:spPr>
          <a:xfrm>
            <a:off x="5575772" y="5873956"/>
            <a:ext cx="843382" cy="292097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to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530FAE0-48A7-4AAB-BF03-0AF1482EDE18}"/>
              </a:ext>
            </a:extLst>
          </p:cNvPr>
          <p:cNvSpPr txBox="1"/>
          <p:nvPr/>
        </p:nvSpPr>
        <p:spPr>
          <a:xfrm rot="5400000">
            <a:off x="5862202" y="6162241"/>
            <a:ext cx="461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...</a:t>
            </a:r>
            <a:endParaRPr kumimoji="1" lang="zh-TW" altLang="en-US" sz="24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99015AF-A281-FB12-0B4D-7A59691A76B2}"/>
              </a:ext>
            </a:extLst>
          </p:cNvPr>
          <p:cNvSpPr txBox="1"/>
          <p:nvPr/>
        </p:nvSpPr>
        <p:spPr>
          <a:xfrm>
            <a:off x="6472494" y="3611827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[1, 0, 0, 0, 0, 0, 0, 0]</a:t>
            </a:r>
            <a:endParaRPr kumimoji="1" lang="zh-TW" altLang="en-US" sz="2000" dirty="0"/>
          </a:p>
        </p:txBody>
      </p:sp>
      <p:sp>
        <p:nvSpPr>
          <p:cNvPr id="27" name="左中括弧 26">
            <a:extLst>
              <a:ext uri="{FF2B5EF4-FFF2-40B4-BE49-F238E27FC236}">
                <a16:creationId xmlns:a16="http://schemas.microsoft.com/office/drawing/2014/main" id="{7DEA1A3D-ED4C-C615-B6B7-A8E6F6ABFA92}"/>
              </a:ext>
            </a:extLst>
          </p:cNvPr>
          <p:cNvSpPr/>
          <p:nvPr/>
        </p:nvSpPr>
        <p:spPr>
          <a:xfrm>
            <a:off x="5360332" y="3762654"/>
            <a:ext cx="143013" cy="2668520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3CF28B0-50E9-FE47-EF65-FE9007E964A1}"/>
              </a:ext>
            </a:extLst>
          </p:cNvPr>
          <p:cNvSpPr txBox="1"/>
          <p:nvPr/>
        </p:nvSpPr>
        <p:spPr>
          <a:xfrm>
            <a:off x="6472494" y="4053452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1, 0, 0, 0, 0, 0, 0]</a:t>
            </a:r>
            <a:endParaRPr kumimoji="1" lang="zh-TW" altLang="en-US" sz="20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BAE045C-99A9-22BF-F976-7A82B3AEA0AA}"/>
              </a:ext>
            </a:extLst>
          </p:cNvPr>
          <p:cNvSpPr txBox="1"/>
          <p:nvPr/>
        </p:nvSpPr>
        <p:spPr>
          <a:xfrm>
            <a:off x="6472494" y="4495075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1, 0, 0, 0, 0, 0]</a:t>
            </a:r>
            <a:endParaRPr kumimoji="1" lang="zh-TW" altLang="en-US" sz="20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5426A75-33D6-67F2-D0D5-3F11E90CAEF8}"/>
              </a:ext>
            </a:extLst>
          </p:cNvPr>
          <p:cNvSpPr txBox="1"/>
          <p:nvPr/>
        </p:nvSpPr>
        <p:spPr>
          <a:xfrm>
            <a:off x="6472494" y="4936700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0, 1, 0, 0, 0, 0]</a:t>
            </a:r>
            <a:endParaRPr kumimoji="1" lang="zh-TW" altLang="en-US" sz="20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FB6EAF12-75B6-27A9-2E3B-49267A795C7B}"/>
              </a:ext>
            </a:extLst>
          </p:cNvPr>
          <p:cNvSpPr txBox="1"/>
          <p:nvPr/>
        </p:nvSpPr>
        <p:spPr>
          <a:xfrm>
            <a:off x="6472494" y="5378324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0, 0, 1, 0, 0, 0]</a:t>
            </a:r>
            <a:endParaRPr kumimoji="1" lang="zh-TW" altLang="en-US" sz="2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005F137-2959-202F-5E65-77BBE91F906A}"/>
              </a:ext>
            </a:extLst>
          </p:cNvPr>
          <p:cNvSpPr txBox="1"/>
          <p:nvPr/>
        </p:nvSpPr>
        <p:spPr>
          <a:xfrm>
            <a:off x="6472494" y="5819949"/>
            <a:ext cx="25326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dirty="0"/>
              <a:t>[0, 0, 0, 0, 0, 1, 0, 0]</a:t>
            </a:r>
            <a:endParaRPr kumimoji="1" lang="zh-TW" altLang="en-US" sz="2000" dirty="0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3546E0ED-1EAE-77E4-46F3-6CAA06FD63F5}"/>
              </a:ext>
            </a:extLst>
          </p:cNvPr>
          <p:cNvSpPr/>
          <p:nvPr/>
        </p:nvSpPr>
        <p:spPr>
          <a:xfrm>
            <a:off x="3614624" y="4821607"/>
            <a:ext cx="257319" cy="2667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AE8CEF02-5219-F7E1-F8D2-D01EDBB32DA8}"/>
              </a:ext>
            </a:extLst>
          </p:cNvPr>
          <p:cNvSpPr txBox="1"/>
          <p:nvPr/>
        </p:nvSpPr>
        <p:spPr>
          <a:xfrm>
            <a:off x="8989397" y="3631253"/>
            <a:ext cx="31100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One hot encodings with each vector size equal to the vocab size (8 in this case)</a:t>
            </a:r>
            <a:endParaRPr kumimoji="1"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959437F-0083-D577-939A-673D8133E577}"/>
              </a:ext>
            </a:extLst>
          </p:cNvPr>
          <p:cNvSpPr txBox="1"/>
          <p:nvPr/>
        </p:nvSpPr>
        <p:spPr>
          <a:xfrm>
            <a:off x="8989397" y="4758476"/>
            <a:ext cx="27431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b="1" dirty="0"/>
              <a:t>Pros</a:t>
            </a:r>
            <a:r>
              <a:rPr kumimoji="1" lang="en" altLang="zh-TW" dirty="0"/>
              <a:t>: handy, training-free</a:t>
            </a:r>
          </a:p>
          <a:p>
            <a:r>
              <a:rPr kumimoji="1" lang="en" altLang="zh-TW" b="1" dirty="0"/>
              <a:t>Cons</a:t>
            </a:r>
            <a:r>
              <a:rPr kumimoji="1" lang="en" altLang="zh-TW" dirty="0"/>
              <a:t>: sparse matrix which occupies much memory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7990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詞嵌入：把詞嵌入到向量</a:t>
            </a:r>
            <a:r>
              <a:rPr kumimoji="1" lang="en-US" altLang="zh-TW" dirty="0"/>
              <a:t> </a:t>
            </a:r>
            <a:r>
              <a:rPr kumimoji="1" lang="en" altLang="zh-TW" dirty="0"/>
              <a:t>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126250" y="1976138"/>
            <a:ext cx="1038330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Steve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126250" y="2428453"/>
            <a:ext cx="1038330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Jobs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126250" y="2870077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126250" y="3311701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Apple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134854" y="3753326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Inc.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03872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126250" y="4456485"/>
            <a:ext cx="1038330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126250" y="4908800"/>
            <a:ext cx="1038330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126250" y="5350424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founded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126250" y="5792048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134854" y="6233673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Word2Vec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(CBOW)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Word2Vec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(Skip-gram)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founded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Steve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Jobs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Apple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Inc.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437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[1] </a:t>
            </a:r>
            <a:r>
              <a:rPr kumimoji="1" lang="en" altLang="zh-TW" sz="1400" dirty="0" err="1"/>
              <a:t>Mikolov</a:t>
            </a:r>
            <a:r>
              <a:rPr kumimoji="1" lang="en" altLang="zh-TW" sz="1400" dirty="0"/>
              <a:t> et al. "Distributed representations of words and phrases and their compositionality." </a:t>
            </a:r>
            <a:r>
              <a:rPr kumimoji="1" lang="en" altLang="zh-TW" sz="1400" dirty="0" err="1"/>
              <a:t>NeurIPS</a:t>
            </a:r>
            <a:r>
              <a:rPr kumimoji="1" lang="en" altLang="zh-TW" sz="1400" dirty="0"/>
              <a:t> 2013.</a:t>
            </a:r>
            <a:endParaRPr kumimoji="1" lang="zh-TW" altLang="en-US" sz="14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943715" y="3458158"/>
            <a:ext cx="3141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非常大量的語料庫 </a:t>
            </a:r>
            <a:r>
              <a:rPr kumimoji="1" lang="en-US" altLang="zh-TW" sz="2800" dirty="0"/>
              <a:t>(</a:t>
            </a:r>
            <a:r>
              <a:rPr kumimoji="1" lang="zh-TW" altLang="en-US" sz="2800" dirty="0"/>
              <a:t>例如：</a:t>
            </a:r>
            <a:r>
              <a:rPr kumimoji="1" lang="en-US" altLang="zh-TW" sz="2800" dirty="0"/>
              <a:t>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938517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030758-72D6-A663-4E57-B0B0CEE51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每個字，都是一段向量</a:t>
            </a:r>
            <a:r>
              <a:rPr kumimoji="1" lang="en-US" altLang="zh-TW" dirty="0">
                <a:ea typeface="Microsoft JhengHei" panose="020B0604030504040204" pitchFamily="34" charset="-120"/>
              </a:rPr>
              <a:t> – </a:t>
            </a:r>
            <a:r>
              <a:rPr kumimoji="1" lang="zh-TW" altLang="en-US" dirty="0">
                <a:ea typeface="Microsoft JhengHei" panose="020B0604030504040204" pitchFamily="34" charset="-120"/>
              </a:rPr>
              <a:t>詞向量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A93BF6D-5A69-F709-D836-0505A764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53E6CD1-A702-D7E3-696C-2CE9995BBA31}"/>
              </a:ext>
            </a:extLst>
          </p:cNvPr>
          <p:cNvSpPr txBox="1"/>
          <p:nvPr/>
        </p:nvSpPr>
        <p:spPr>
          <a:xfrm>
            <a:off x="653143" y="1781790"/>
            <a:ext cx="35974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400" dirty="0"/>
              <a:t>Word2Vec</a:t>
            </a:r>
            <a:r>
              <a:rPr kumimoji="1" lang="zh-TW" altLang="en-US" sz="2400" dirty="0"/>
              <a:t> 的範例長相</a:t>
            </a:r>
            <a:r>
              <a:rPr kumimoji="1" lang="en" altLang="zh-TW" sz="2400" dirty="0"/>
              <a:t>:</a:t>
            </a:r>
            <a:endParaRPr kumimoji="1" lang="zh-TW" altLang="en-US" sz="24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6858132-885D-7727-6337-AD6BEC31EF2C}"/>
              </a:ext>
            </a:extLst>
          </p:cNvPr>
          <p:cNvSpPr txBox="1"/>
          <p:nvPr/>
        </p:nvSpPr>
        <p:spPr>
          <a:xfrm>
            <a:off x="3373907" y="3433713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>
                <a:solidFill>
                  <a:srgbClr val="0070C0"/>
                </a:solidFill>
              </a:rPr>
              <a:t>apple</a:t>
            </a:r>
            <a:r>
              <a:rPr kumimoji="1" lang="en" altLang="zh-TW" sz="2000" dirty="0"/>
              <a:t> -0.110960 0.016115 -0.004809 0.033589 0.121455 …</a:t>
            </a:r>
          </a:p>
          <a:p>
            <a:r>
              <a:rPr kumimoji="1" lang="en" altLang="zh-TW" sz="2000" dirty="0">
                <a:solidFill>
                  <a:srgbClr val="0070C0"/>
                </a:solidFill>
              </a:rPr>
              <a:t>banana</a:t>
            </a:r>
            <a:r>
              <a:rPr kumimoji="1" lang="en" altLang="zh-TW" sz="2000" dirty="0"/>
              <a:t> 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BA952A9-F907-5BC0-7C30-F83FA491B5B9}"/>
              </a:ext>
            </a:extLst>
          </p:cNvPr>
          <p:cNvSpPr txBox="1"/>
          <p:nvPr/>
        </p:nvSpPr>
        <p:spPr>
          <a:xfrm>
            <a:off x="5635632" y="2633384"/>
            <a:ext cx="337160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D: Dimension size (e.g., 300)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7674488-2D13-83A8-AC9E-A3078CDB63CC}"/>
              </a:ext>
            </a:extLst>
          </p:cNvPr>
          <p:cNvSpPr txBox="1"/>
          <p:nvPr/>
        </p:nvSpPr>
        <p:spPr>
          <a:xfrm>
            <a:off x="729842" y="3987710"/>
            <a:ext cx="2304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V: Vocabulary size</a:t>
            </a:r>
          </a:p>
          <a:p>
            <a:pPr algn="ctr"/>
            <a:r>
              <a:rPr kumimoji="1" lang="en" altLang="zh-TW" sz="2000" dirty="0">
                <a:solidFill>
                  <a:srgbClr val="00B050"/>
                </a:solidFill>
              </a:rPr>
              <a:t>(e.g., 30,000)</a:t>
            </a:r>
            <a:endParaRPr kumimoji="1" lang="zh-TW" altLang="en-US" sz="2000" dirty="0">
              <a:solidFill>
                <a:srgbClr val="00B050"/>
              </a:solidFill>
            </a:endParaRPr>
          </a:p>
        </p:txBody>
      </p:sp>
      <p:sp>
        <p:nvSpPr>
          <p:cNvPr id="11" name="左中括弧 10">
            <a:extLst>
              <a:ext uri="{FF2B5EF4-FFF2-40B4-BE49-F238E27FC236}">
                <a16:creationId xmlns:a16="http://schemas.microsoft.com/office/drawing/2014/main" id="{3E39DB12-6F05-AF06-BCD3-90104E7F4BB0}"/>
              </a:ext>
            </a:extLst>
          </p:cNvPr>
          <p:cNvSpPr/>
          <p:nvPr/>
        </p:nvSpPr>
        <p:spPr>
          <a:xfrm>
            <a:off x="3104768" y="3615582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2" name="左中括弧 11">
            <a:extLst>
              <a:ext uri="{FF2B5EF4-FFF2-40B4-BE49-F238E27FC236}">
                <a16:creationId xmlns:a16="http://schemas.microsoft.com/office/drawing/2014/main" id="{D2B670A4-E9EA-3C02-28E4-7E138B8F19E0}"/>
              </a:ext>
            </a:extLst>
          </p:cNvPr>
          <p:cNvSpPr/>
          <p:nvPr/>
        </p:nvSpPr>
        <p:spPr>
          <a:xfrm rot="5400000">
            <a:off x="7317640" y="-29975"/>
            <a:ext cx="198140" cy="6481749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70917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Word2Vec: CBOW vs. Skip-gram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5684618-5250-1734-F0BE-C0F7A33866D0}"/>
              </a:ext>
            </a:extLst>
          </p:cNvPr>
          <p:cNvSpPr txBox="1"/>
          <p:nvPr/>
        </p:nvSpPr>
        <p:spPr>
          <a:xfrm>
            <a:off x="2141762" y="6415560"/>
            <a:ext cx="79084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"Efficient estimation of word representations in vector space." </a:t>
            </a:r>
            <a:r>
              <a:rPr kumimoji="1" lang="en" altLang="zh-TW" sz="1200" dirty="0" err="1"/>
              <a:t>arXiv</a:t>
            </a:r>
            <a:r>
              <a:rPr kumimoji="1" lang="en" altLang="zh-TW" sz="1200" dirty="0"/>
              <a:t> preprint arXiv:1301.3781 (2013).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05A35F8-6D77-AB89-6FF9-9F728078B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763" y="1881921"/>
            <a:ext cx="7414846" cy="442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989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7A166D-D01E-0707-F6FF-5F36EE4D6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How to train?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Skip-gram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, 1/2)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996A3-6499-101A-A1C9-744B7145E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63384C-1002-A570-05FC-D91ACA609EBD}"/>
              </a:ext>
            </a:extLst>
          </p:cNvPr>
          <p:cNvSpPr txBox="1"/>
          <p:nvPr/>
        </p:nvSpPr>
        <p:spPr>
          <a:xfrm>
            <a:off x="1368938" y="1848118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/>
              <a:t>-0.110960 0.016115 -0.004809 0.033589 0.121455 …</a:t>
            </a:r>
          </a:p>
          <a:p>
            <a:r>
              <a:rPr kumimoji="1" lang="en" altLang="zh-TW" sz="2000" dirty="0"/>
              <a:t>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6" name="左中括弧 5">
            <a:extLst>
              <a:ext uri="{FF2B5EF4-FFF2-40B4-BE49-F238E27FC236}">
                <a16:creationId xmlns:a16="http://schemas.microsoft.com/office/drawing/2014/main" id="{7B73E0D5-6998-020C-7F72-949F84A3C752}"/>
              </a:ext>
            </a:extLst>
          </p:cNvPr>
          <p:cNvSpPr/>
          <p:nvPr/>
        </p:nvSpPr>
        <p:spPr>
          <a:xfrm>
            <a:off x="1099799" y="2029987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左中括弧 7">
            <a:extLst>
              <a:ext uri="{FF2B5EF4-FFF2-40B4-BE49-F238E27FC236}">
                <a16:creationId xmlns:a16="http://schemas.microsoft.com/office/drawing/2014/main" id="{DB13B819-8B2C-1D7D-E584-6DBAF332B440}"/>
              </a:ext>
            </a:extLst>
          </p:cNvPr>
          <p:cNvSpPr/>
          <p:nvPr/>
        </p:nvSpPr>
        <p:spPr>
          <a:xfrm flipH="1">
            <a:off x="7759177" y="2029986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5A33ECA-0805-3993-0CE5-C8D5F6DB0310}"/>
              </a:ext>
            </a:extLst>
          </p:cNvPr>
          <p:cNvSpPr txBox="1"/>
          <p:nvPr/>
        </p:nvSpPr>
        <p:spPr>
          <a:xfrm>
            <a:off x="1368938" y="4298825"/>
            <a:ext cx="78950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2000" dirty="0"/>
              <a:t>-0.110960 0.016115 -0.004809 0.033589 0.121455 …</a:t>
            </a:r>
          </a:p>
          <a:p>
            <a:r>
              <a:rPr kumimoji="1" lang="en" altLang="zh-TW" sz="2000" dirty="0"/>
              <a:t>-0.027713 -0.015676 0.003314 0.077602 0.159718 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</a:p>
          <a:p>
            <a:r>
              <a:rPr kumimoji="1" lang="en" altLang="zh-TW" sz="2000" dirty="0"/>
              <a:t>…</a:t>
            </a:r>
            <a:endParaRPr kumimoji="1" lang="zh-TW" altLang="en-US" sz="2000" dirty="0"/>
          </a:p>
        </p:txBody>
      </p:sp>
      <p:sp>
        <p:nvSpPr>
          <p:cNvPr id="14" name="左中括弧 13">
            <a:extLst>
              <a:ext uri="{FF2B5EF4-FFF2-40B4-BE49-F238E27FC236}">
                <a16:creationId xmlns:a16="http://schemas.microsoft.com/office/drawing/2014/main" id="{834FC4AF-A710-9C3F-7B31-273A6537F85C}"/>
              </a:ext>
            </a:extLst>
          </p:cNvPr>
          <p:cNvSpPr/>
          <p:nvPr/>
        </p:nvSpPr>
        <p:spPr>
          <a:xfrm>
            <a:off x="1099799" y="4480694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左中括弧 14">
            <a:extLst>
              <a:ext uri="{FF2B5EF4-FFF2-40B4-BE49-F238E27FC236}">
                <a16:creationId xmlns:a16="http://schemas.microsoft.com/office/drawing/2014/main" id="{32CC9225-5BCE-9DE5-8184-047C47A419B6}"/>
              </a:ext>
            </a:extLst>
          </p:cNvPr>
          <p:cNvSpPr/>
          <p:nvPr/>
        </p:nvSpPr>
        <p:spPr>
          <a:xfrm flipH="1">
            <a:off x="7759177" y="4480693"/>
            <a:ext cx="127737" cy="1658715"/>
          </a:xfrm>
          <a:prstGeom prst="leftBracket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1B487871-4929-08AB-4BB3-CED940CA5A93}"/>
              </a:ext>
            </a:extLst>
          </p:cNvPr>
          <p:cNvSpPr txBox="1"/>
          <p:nvPr/>
        </p:nvSpPr>
        <p:spPr>
          <a:xfrm>
            <a:off x="8120543" y="2663726"/>
            <a:ext cx="1510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</a:t>
            </a:r>
            <a:r>
              <a:rPr kumimoji="1" lang="en-US" altLang="zh-TW" baseline="-25000" dirty="0"/>
              <a:t>1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VxD</a:t>
            </a:r>
            <a:endParaRPr kumimoji="1"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0BA6CD9-A3E2-14A2-C552-2E91167FBC92}"/>
              </a:ext>
            </a:extLst>
          </p:cNvPr>
          <p:cNvSpPr txBox="1"/>
          <p:nvPr/>
        </p:nvSpPr>
        <p:spPr>
          <a:xfrm>
            <a:off x="8120543" y="5167975"/>
            <a:ext cx="1510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W</a:t>
            </a:r>
            <a:r>
              <a:rPr kumimoji="1" lang="en-US" altLang="zh-TW" baseline="-25000" dirty="0"/>
              <a:t>2</a:t>
            </a:r>
            <a:r>
              <a:rPr kumimoji="1" lang="en-US" altLang="zh-TW" dirty="0"/>
              <a:t>: </a:t>
            </a:r>
            <a:r>
              <a:rPr kumimoji="1" lang="en-US" altLang="zh-TW" dirty="0" err="1"/>
              <a:t>VxD</a:t>
            </a:r>
            <a:endParaRPr kumimoji="1"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D3A58B4-4842-A3A7-5325-33BB253D3355}"/>
              </a:ext>
            </a:extLst>
          </p:cNvPr>
          <p:cNvSpPr txBox="1"/>
          <p:nvPr/>
        </p:nvSpPr>
        <p:spPr>
          <a:xfrm>
            <a:off x="9266550" y="2536177"/>
            <a:ext cx="1759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Input Embeddings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0899B93-11CF-3A03-6229-7F97BA0FE38F}"/>
              </a:ext>
            </a:extLst>
          </p:cNvPr>
          <p:cNvSpPr txBox="1"/>
          <p:nvPr/>
        </p:nvSpPr>
        <p:spPr>
          <a:xfrm>
            <a:off x="9266550" y="5029475"/>
            <a:ext cx="17591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Output Embeddings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1530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7C62884-14FE-B7E3-75EA-869F9C9CB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Embedding Lookup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BEB593-59D1-AC66-DFE2-9D45E0405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26</a:t>
            </a:fld>
            <a:endParaRPr lang="en-US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0F195A59-224D-5C51-A26B-B2D639F5A42F}"/>
              </a:ext>
            </a:extLst>
          </p:cNvPr>
          <p:cNvGraphicFramePr>
            <a:graphicFrameLocks noGrp="1"/>
          </p:cNvGraphicFramePr>
          <p:nvPr/>
        </p:nvGraphicFramePr>
        <p:xfrm>
          <a:off x="1883352" y="1955120"/>
          <a:ext cx="9124725" cy="362327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898935">
                  <a:extLst>
                    <a:ext uri="{9D8B030D-6E8A-4147-A177-3AD203B41FA5}">
                      <a16:colId xmlns:a16="http://schemas.microsoft.com/office/drawing/2014/main" val="414904887"/>
                    </a:ext>
                  </a:extLst>
                </a:gridCol>
                <a:gridCol w="3612895">
                  <a:extLst>
                    <a:ext uri="{9D8B030D-6E8A-4147-A177-3AD203B41FA5}">
                      <a16:colId xmlns:a16="http://schemas.microsoft.com/office/drawing/2014/main" val="3836347131"/>
                    </a:ext>
                  </a:extLst>
                </a:gridCol>
                <a:gridCol w="3612895">
                  <a:extLst>
                    <a:ext uri="{9D8B030D-6E8A-4147-A177-3AD203B41FA5}">
                      <a16:colId xmlns:a16="http://schemas.microsoft.com/office/drawing/2014/main" val="3015099582"/>
                    </a:ext>
                  </a:extLst>
                </a:gridCol>
              </a:tblGrid>
              <a:tr h="452296"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Vocab</a:t>
                      </a:r>
                      <a:endParaRPr lang="zh-TW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400" dirty="0"/>
                        <a:t>Dimension 1</a:t>
                      </a:r>
                      <a:endParaRPr lang="zh-TW" altLang="en-US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400" dirty="0"/>
                        <a:t>Dimension 2</a:t>
                      </a:r>
                      <a:endParaRPr lang="zh-TW" altLang="en-US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9892997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I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-0.47030617476956654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-4.440892098500626e-16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0432672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love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-8.326672684688674e-16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0.4464710977801294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127588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do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8.881784197001252e-16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0.7838949952895327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5057017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deep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-0.4915010045415975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-1.3016463110087907e-16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7582313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learning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-1.582067810090848e-15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0.4314767609119055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1366270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NLP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-0.2523320838384413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-2.1837832516159107e-16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2000942"/>
                  </a:ext>
                </a:extLst>
              </a:tr>
              <a:tr h="452296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programming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-0.6881623238553303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-1.914220234434739e-16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916627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47F98E09-3199-A25A-4977-BA4729146826}"/>
              </a:ext>
            </a:extLst>
          </p:cNvPr>
          <p:cNvSpPr txBox="1"/>
          <p:nvPr/>
        </p:nvSpPr>
        <p:spPr>
          <a:xfrm>
            <a:off x="925286" y="2416628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0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46F0DB0-36A2-C4A4-449F-3C3736DE6F43}"/>
              </a:ext>
            </a:extLst>
          </p:cNvPr>
          <p:cNvSpPr txBox="1"/>
          <p:nvPr/>
        </p:nvSpPr>
        <p:spPr>
          <a:xfrm>
            <a:off x="694004" y="1955277"/>
            <a:ext cx="9798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Index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8120791-1A8A-11B0-D38C-E5C9FB56B3BA}"/>
              </a:ext>
            </a:extLst>
          </p:cNvPr>
          <p:cNvSpPr txBox="1"/>
          <p:nvPr/>
        </p:nvSpPr>
        <p:spPr>
          <a:xfrm>
            <a:off x="933551" y="2878293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1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AC3E7D1-716D-22DA-6DD8-BFDF495612D8}"/>
              </a:ext>
            </a:extLst>
          </p:cNvPr>
          <p:cNvSpPr txBox="1"/>
          <p:nvPr/>
        </p:nvSpPr>
        <p:spPr>
          <a:xfrm>
            <a:off x="925286" y="3339644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2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621BBBC-3813-2B26-3B50-1774E59F4ED1}"/>
              </a:ext>
            </a:extLst>
          </p:cNvPr>
          <p:cNvSpPr txBox="1"/>
          <p:nvPr/>
        </p:nvSpPr>
        <p:spPr>
          <a:xfrm>
            <a:off x="933551" y="3801309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3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3E46389-1BA8-F3EF-BEB0-037AC262AF41}"/>
              </a:ext>
            </a:extLst>
          </p:cNvPr>
          <p:cNvSpPr txBox="1"/>
          <p:nvPr/>
        </p:nvSpPr>
        <p:spPr>
          <a:xfrm>
            <a:off x="933551" y="4262660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4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B2817CE-D44A-4EDC-1998-E80BDF984F0D}"/>
              </a:ext>
            </a:extLst>
          </p:cNvPr>
          <p:cNvSpPr txBox="1"/>
          <p:nvPr/>
        </p:nvSpPr>
        <p:spPr>
          <a:xfrm>
            <a:off x="933551" y="4724325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5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0D94914C-32EB-0CA3-7FF6-11D48B77C672}"/>
              </a:ext>
            </a:extLst>
          </p:cNvPr>
          <p:cNvSpPr txBox="1"/>
          <p:nvPr/>
        </p:nvSpPr>
        <p:spPr>
          <a:xfrm>
            <a:off x="933551" y="5185676"/>
            <a:ext cx="500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6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74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7A166D-D01E-0707-F6FF-5F36EE4D6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How to train?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Skip-gram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, 2/2)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996A3-6499-101A-A1C9-744B7145E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A69BF1C-C296-4E80-4317-7958838F2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893" y="2223134"/>
            <a:ext cx="4550508" cy="124334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4FC616B-24E9-6A86-4962-F6882BF3F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893" y="4615922"/>
            <a:ext cx="5097585" cy="14347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格 10">
                <a:extLst>
                  <a:ext uri="{FF2B5EF4-FFF2-40B4-BE49-F238E27FC236}">
                    <a16:creationId xmlns:a16="http://schemas.microsoft.com/office/drawing/2014/main" id="{7E28A268-9E63-6C61-B679-DFDB92A15E3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014866" y="1843850"/>
              <a:ext cx="3981380" cy="1630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7411">
                      <a:extLst>
                        <a:ext uri="{9D8B030D-6E8A-4147-A177-3AD203B41FA5}">
                          <a16:colId xmlns:a16="http://schemas.microsoft.com/office/drawing/2014/main" val="3599492535"/>
                        </a:ext>
                      </a:extLst>
                    </a:gridCol>
                    <a:gridCol w="3133969">
                      <a:extLst>
                        <a:ext uri="{9D8B030D-6E8A-4147-A177-3AD203B41FA5}">
                          <a16:colId xmlns:a16="http://schemas.microsoft.com/office/drawing/2014/main" val="6917673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Symbol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Meaning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9088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T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一個序列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TW" altLang="zh-TW" sz="1400" i="1" kern="120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TW" sz="14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14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TW" altLang="zh-TW" sz="14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TW" sz="14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4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,</m:t>
                              </m:r>
                              <m:r>
                                <a:rPr lang="zh-TW" altLang="zh-TW" sz="1400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…</m:t>
                              </m:r>
                              <m:r>
                                <a:rPr lang="en-US" altLang="zh-TW" sz="1400" i="1" kern="120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TW" altLang="zh-TW" sz="14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 kern="120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TW" sz="1400" b="0" i="1" kern="120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𝑇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) </a:t>
                          </a:r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有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T</a:t>
                          </a:r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個字</a:t>
                          </a:r>
                          <a:endParaRPr lang="en-US" altLang="zh-TW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99303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c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Context window </a:t>
                          </a:r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的範圍，以前一頁的例子來說：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40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𝑐</m:t>
                              </m:r>
                              <m:r>
                                <a:rPr lang="en-US" altLang="zh-TW" sz="140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=4</m:t>
                              </m:r>
                            </m:oMath>
                          </a14:m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674367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zh-TW" sz="14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4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𝑡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kern="1200" dirty="0">
                              <a:solidFill>
                                <a:schemeClr val="dk1"/>
                              </a:solidFill>
                              <a:effectLst/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  <a:cs typeface="+mn-cs"/>
                            </a:rPr>
                            <a:t>中間的字 </a:t>
                          </a:r>
                          <a:r>
                            <a:rPr lang="en-US" altLang="zh-TW" sz="1400" kern="1200" dirty="0">
                              <a:solidFill>
                                <a:schemeClr val="dk1"/>
                              </a:solidFill>
                              <a:effectLst/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  <a:cs typeface="+mn-cs"/>
                            </a:rPr>
                            <a:t>(</a:t>
                          </a:r>
                          <a:r>
                            <a:rPr lang="zh-TW" altLang="en-US" sz="1400" kern="1200" dirty="0">
                              <a:solidFill>
                                <a:schemeClr val="dk1"/>
                              </a:solidFill>
                              <a:effectLst/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  <a:cs typeface="+mn-cs"/>
                            </a:rPr>
                            <a:t>代表</a:t>
                          </a:r>
                          <a:r>
                            <a:rPr lang="en-US" altLang="zh-TW" sz="1400" kern="1200" dirty="0">
                              <a:solidFill>
                                <a:schemeClr val="dk1"/>
                              </a:solidFill>
                              <a:effectLst/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4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𝑡</m:t>
                              </m:r>
                              <m:r>
                                <a:rPr lang="en-US" altLang="zh-TW" sz="14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r>
                                <a:rPr lang="en-US" altLang="zh-TW" sz="14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𝑗</m:t>
                              </m:r>
                              <m:r>
                                <a:rPr lang="en-US" altLang="zh-TW" sz="140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=</m:t>
                              </m:r>
                              <m:r>
                                <a:rPr lang="en-US" altLang="zh-TW" sz="1400" b="0" i="1" kern="120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oMath>
                          </a14:m>
                          <a:r>
                            <a:rPr lang="en-US" altLang="zh-TW" sz="1400" kern="1200" dirty="0">
                              <a:solidFill>
                                <a:schemeClr val="dk1"/>
                              </a:solidFill>
                              <a:effectLst/>
                              <a:latin typeface="Microsoft JhengHei" panose="020B0604030504040204" pitchFamily="34" charset="-120"/>
                              <a:ea typeface="Microsoft JhengHei" panose="020B0604030504040204" pitchFamily="34" charset="-120"/>
                              <a:cs typeface="+mn-cs"/>
                            </a:rPr>
                            <a:t>)</a:t>
                          </a:r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181249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格 10">
                <a:extLst>
                  <a:ext uri="{FF2B5EF4-FFF2-40B4-BE49-F238E27FC236}">
                    <a16:creationId xmlns:a16="http://schemas.microsoft.com/office/drawing/2014/main" id="{7E28A268-9E63-6C61-B679-DFDB92A15E3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3831824"/>
                  </p:ext>
                </p:extLst>
              </p:nvPr>
            </p:nvGraphicFramePr>
            <p:xfrm>
              <a:off x="7014866" y="1843850"/>
              <a:ext cx="3981380" cy="16306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7411">
                      <a:extLst>
                        <a:ext uri="{9D8B030D-6E8A-4147-A177-3AD203B41FA5}">
                          <a16:colId xmlns:a16="http://schemas.microsoft.com/office/drawing/2014/main" val="3599492535"/>
                        </a:ext>
                      </a:extLst>
                    </a:gridCol>
                    <a:gridCol w="3133969">
                      <a:extLst>
                        <a:ext uri="{9D8B030D-6E8A-4147-A177-3AD203B41FA5}">
                          <a16:colId xmlns:a16="http://schemas.microsoft.com/office/drawing/2014/main" val="6917673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Symbol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Meaning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9088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T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7530" t="-100000" r="-1215" b="-24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993032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c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7530" t="-146341" r="-1215" b="-780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674367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493" t="-348276" r="-373134" b="-103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7530" t="-348276" r="-1215" b="-103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61812497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24115B20-4DAB-C725-C688-48E6AEDD9E49}"/>
              </a:ext>
            </a:extLst>
          </p:cNvPr>
          <p:cNvCxnSpPr/>
          <p:nvPr/>
        </p:nvCxnSpPr>
        <p:spPr>
          <a:xfrm>
            <a:off x="3915508" y="3040185"/>
            <a:ext cx="156307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1EC32EA2-689C-3F60-B54A-AB23706D42AB}"/>
              </a:ext>
            </a:extLst>
          </p:cNvPr>
          <p:cNvSpPr txBox="1"/>
          <p:nvPr/>
        </p:nvSpPr>
        <p:spPr>
          <a:xfrm>
            <a:off x="3610708" y="3112001"/>
            <a:ext cx="3001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中間字預測周圍字的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機率值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表格 10">
                <a:extLst>
                  <a:ext uri="{FF2B5EF4-FFF2-40B4-BE49-F238E27FC236}">
                    <a16:creationId xmlns:a16="http://schemas.microsoft.com/office/drawing/2014/main" id="{EB66E2AC-77F1-C9CF-1A51-C9838DAB0E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2608711"/>
                  </p:ext>
                </p:extLst>
              </p:nvPr>
            </p:nvGraphicFramePr>
            <p:xfrm>
              <a:off x="7014866" y="4332526"/>
              <a:ext cx="3981380" cy="21772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7411">
                      <a:extLst>
                        <a:ext uri="{9D8B030D-6E8A-4147-A177-3AD203B41FA5}">
                          <a16:colId xmlns:a16="http://schemas.microsoft.com/office/drawing/2014/main" val="3599492535"/>
                        </a:ext>
                      </a:extLst>
                    </a:gridCol>
                    <a:gridCol w="3133969">
                      <a:extLst>
                        <a:ext uri="{9D8B030D-6E8A-4147-A177-3AD203B41FA5}">
                          <a16:colId xmlns:a16="http://schemas.microsoft.com/office/drawing/2014/main" val="6917673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Symbol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Meaning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9088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zh-TW" altLang="zh-TW" sz="14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14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𝑣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zh-TW" altLang="zh-TW" sz="14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4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4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𝑂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TW" sz="14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′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輸出字的向量 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(output word vector)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9930326"/>
                      </a:ext>
                    </a:extLst>
                  </a:tr>
                  <a:tr h="319582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zh-TW" sz="14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𝑣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zh-TW" altLang="zh-TW" sz="14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4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TW" sz="14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𝐼</m:t>
                                        </m:r>
                                      </m:sub>
                                    </m:sSub>
                                  </m:sub>
                                </m:sSub>
                              </m:oMath>
                            </m:oMathPara>
                          </a14:m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輸入字的向量 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(Input word vector)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674367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zh-TW" sz="14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4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𝑂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輸出字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 (output word)</a:t>
                          </a:r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1812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zh-TW" altLang="zh-TW" sz="140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4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400" b="0" i="1" kern="1200" smtClean="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輸入字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 (input word)</a:t>
                          </a:r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767100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TW" sz="1400" b="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𝑊</m:t>
                                </m:r>
                              </m:oMath>
                            </m:oMathPara>
                          </a14:m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字典大小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452116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表格 10">
                <a:extLst>
                  <a:ext uri="{FF2B5EF4-FFF2-40B4-BE49-F238E27FC236}">
                    <a16:creationId xmlns:a16="http://schemas.microsoft.com/office/drawing/2014/main" id="{EB66E2AC-77F1-C9CF-1A51-C9838DAB0E7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2608711"/>
                  </p:ext>
                </p:extLst>
              </p:nvPr>
            </p:nvGraphicFramePr>
            <p:xfrm>
              <a:off x="7014866" y="4332526"/>
              <a:ext cx="3981380" cy="217728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7411">
                      <a:extLst>
                        <a:ext uri="{9D8B030D-6E8A-4147-A177-3AD203B41FA5}">
                          <a16:colId xmlns:a16="http://schemas.microsoft.com/office/drawing/2014/main" val="3599492535"/>
                        </a:ext>
                      </a:extLst>
                    </a:gridCol>
                    <a:gridCol w="3133969">
                      <a:extLst>
                        <a:ext uri="{9D8B030D-6E8A-4147-A177-3AD203B41FA5}">
                          <a16:colId xmlns:a16="http://schemas.microsoft.com/office/drawing/2014/main" val="69176735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Symbol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Meaning</a:t>
                          </a:r>
                          <a:endParaRPr lang="zh-TW" altLang="en-US" sz="1400" dirty="0">
                            <a:latin typeface="+mn-lt"/>
                            <a:ea typeface="Microsoft JhengHei" panose="020B0604030504040204" pitchFamily="34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7790882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493" t="-100000" r="-373134" b="-38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輸出字的向量 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(output word vector)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9930326"/>
                      </a:ext>
                    </a:extLst>
                  </a:tr>
                  <a:tr h="32308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493" t="-240000" r="-373134" b="-36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輸入字的向量 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(Input word vector)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6743672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493" t="-293103" r="-373134" b="-2137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輸出字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 (output word)</a:t>
                          </a:r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4618124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493" t="-380000" r="-373134" b="-10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輸入字</a:t>
                          </a:r>
                          <a:r>
                            <a:rPr lang="en-US" altLang="zh-TW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 (input word)</a:t>
                          </a:r>
                          <a:endParaRPr lang="zh-TW" altLang="zh-TW" sz="1400" kern="1200" dirty="0">
                            <a:solidFill>
                              <a:schemeClr val="dk1"/>
                            </a:solidFill>
                            <a:effectLst/>
                            <a:latin typeface="Microsoft JhengHei" panose="020B0604030504040204" pitchFamily="34" charset="-120"/>
                            <a:ea typeface="Microsoft JhengHei" panose="020B0604030504040204" pitchFamily="34" charset="-120"/>
                            <a:cs typeface="+mn-cs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767100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1493" t="-496552" r="-373134" b="-103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+mn-lt"/>
                              <a:ea typeface="Microsoft JhengHei" panose="020B0604030504040204" pitchFamily="34" charset="-120"/>
                            </a:rPr>
                            <a:t>字典大小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145211651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2A4C73BE-A4E1-9486-830F-375EBAECD6D1}"/>
              </a:ext>
            </a:extLst>
          </p:cNvPr>
          <p:cNvCxnSpPr/>
          <p:nvPr/>
        </p:nvCxnSpPr>
        <p:spPr>
          <a:xfrm>
            <a:off x="3923323" y="5220677"/>
            <a:ext cx="1570893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1C752311-71A1-73B0-2793-25C96BFF2676}"/>
              </a:ext>
            </a:extLst>
          </p:cNvPr>
          <p:cNvCxnSpPr/>
          <p:nvPr/>
        </p:nvCxnSpPr>
        <p:spPr>
          <a:xfrm>
            <a:off x="4462585" y="5967047"/>
            <a:ext cx="1570893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843666E-21C3-3915-0A2B-FFF2F72D157F}"/>
              </a:ext>
            </a:extLst>
          </p:cNvPr>
          <p:cNvSpPr txBox="1"/>
          <p:nvPr/>
        </p:nvSpPr>
        <p:spPr>
          <a:xfrm>
            <a:off x="4857262" y="6046228"/>
            <a:ext cx="7815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00B05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內積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A343258-9DDF-D41F-91E0-0E70693DB652}"/>
              </a:ext>
            </a:extLst>
          </p:cNvPr>
          <p:cNvSpPr/>
          <p:nvPr/>
        </p:nvSpPr>
        <p:spPr>
          <a:xfrm>
            <a:off x="2813538" y="4601065"/>
            <a:ext cx="3293538" cy="144958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2200E16-DDF2-61E1-C0CE-04A14F34ECB9}"/>
              </a:ext>
            </a:extLst>
          </p:cNvPr>
          <p:cNvSpPr txBox="1"/>
          <p:nvPr/>
        </p:nvSpPr>
        <p:spPr>
          <a:xfrm>
            <a:off x="2959753" y="4246590"/>
            <a:ext cx="30011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 err="1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3379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4" grpId="0" animBg="1"/>
      <p:bldP spid="14" grpId="1" animBg="1"/>
      <p:bldP spid="15" grpId="0"/>
      <p:bldP spid="15" grpId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E911A2-C58C-5D36-DF72-6D0EB97E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為什麼要取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dirty="0"/>
              <a:t>log?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4F95218-43F6-B799-D92A-4357BCBC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30CA7D6-F3CA-8E95-3931-321EFD018A57}"/>
              </a:ext>
            </a:extLst>
          </p:cNvPr>
          <p:cNvSpPr txBox="1"/>
          <p:nvPr/>
        </p:nvSpPr>
        <p:spPr>
          <a:xfrm>
            <a:off x="2117970" y="4428730"/>
            <a:ext cx="6579132" cy="9591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會讓數值範圍變小，使機器學習的最佳化過程穩定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會降低極端值的影響，避免 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outliers 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影響訓練結果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012AE67-FE82-7C0B-3D90-6CCB3DC4F7A0}"/>
                  </a:ext>
                </a:extLst>
              </p:cNvPr>
              <p:cNvSpPr txBox="1"/>
              <p:nvPr/>
            </p:nvSpPr>
            <p:spPr>
              <a:xfrm>
                <a:off x="4861170" y="2197649"/>
                <a:ext cx="153181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sz="2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1012AE67-FE82-7C0B-3D90-6CCB3DC4F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1170" y="2197649"/>
                <a:ext cx="153181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字方塊 7">
            <a:extLst>
              <a:ext uri="{FF2B5EF4-FFF2-40B4-BE49-F238E27FC236}">
                <a16:creationId xmlns:a16="http://schemas.microsoft.com/office/drawing/2014/main" id="{FB640B93-DA40-1B3E-6490-E4189B748AB9}"/>
              </a:ext>
            </a:extLst>
          </p:cNvPr>
          <p:cNvSpPr txBox="1"/>
          <p:nvPr/>
        </p:nvSpPr>
        <p:spPr>
          <a:xfrm>
            <a:off x="2117970" y="2211754"/>
            <a:ext cx="2508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考慮到一些極端數值：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934F811-E7A6-0BDD-5B27-54C5D1C38232}"/>
              </a:ext>
            </a:extLst>
          </p:cNvPr>
          <p:cNvSpPr txBox="1"/>
          <p:nvPr/>
        </p:nvSpPr>
        <p:spPr>
          <a:xfrm>
            <a:off x="2117970" y="3083765"/>
            <a:ext cx="2508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如果取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log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之後：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3B9F22AF-6172-105A-4F6A-CEC188E55AC9}"/>
                  </a:ext>
                </a:extLst>
              </p:cNvPr>
              <p:cNvSpPr txBox="1"/>
              <p:nvPr/>
            </p:nvSpPr>
            <p:spPr>
              <a:xfrm>
                <a:off x="4852529" y="3052988"/>
                <a:ext cx="352556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400" i="0" smtClean="0">
                          <a:latin typeface="Cambria Math" panose="02040503050406030204" pitchFamily="18" charset="0"/>
                        </a:rPr>
                        <m:t>log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zh-TW" altLang="en-US" sz="2400" i="0">
                          <a:latin typeface="Cambria Math" panose="02040503050406030204" pitchFamily="18" charset="0"/>
                        </a:rPr>
                        <m:t>log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=4−3</m:t>
                      </m:r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3B9F22AF-6172-105A-4F6A-CEC188E55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2529" y="3052988"/>
                <a:ext cx="3525563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9737D913-1A2B-08B8-2D92-9FE6BADA2183}"/>
              </a:ext>
            </a:extLst>
          </p:cNvPr>
          <p:cNvSpPr txBox="1"/>
          <p:nvPr/>
        </p:nvSpPr>
        <p:spPr>
          <a:xfrm>
            <a:off x="3298092" y="6240302"/>
            <a:ext cx="60081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https://</a:t>
            </a:r>
            <a:r>
              <a:rPr kumimoji="1" lang="en" altLang="zh-TW" sz="1400" dirty="0" err="1"/>
              <a:t>datascience.stackexchange.com</a:t>
            </a:r>
            <a:r>
              <a:rPr kumimoji="1" lang="en" altLang="zh-TW" sz="1400" dirty="0"/>
              <a:t>/questions/40089/what-is-the-reason-behind-taking-log-transformation-of-few-continuous-variables</a:t>
            </a:r>
            <a:endParaRPr kumimoji="1"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20669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555F246-EBF5-6D7F-6888-FE7FB326AF8B}"/>
              </a:ext>
            </a:extLst>
          </p:cNvPr>
          <p:cNvSpPr txBox="1"/>
          <p:nvPr/>
        </p:nvSpPr>
        <p:spPr>
          <a:xfrm>
            <a:off x="1005936" y="1638639"/>
            <a:ext cx="9772554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When generating the next word, `</a:t>
            </a: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` is performed to get the probabilities among the words in the vocabulary.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 err="1"/>
              <a:t>Softmax</a:t>
            </a:r>
            <a:r>
              <a:rPr kumimoji="1" lang="en-US" altLang="zh-TW" sz="2400" dirty="0"/>
              <a:t> formula: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/>
              <p:nvPr/>
            </p:nvSpPr>
            <p:spPr>
              <a:xfrm>
                <a:off x="4937436" y="3335707"/>
                <a:ext cx="2069541" cy="10256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TW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m:rPr>
                              <m:nor/>
                            </m:rPr>
                            <a:rPr kumimoji="1" lang="en-US" altLang="zh-TW" sz="28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kumimoji="1" lang="en-US" altLang="zh-TW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  <m:sup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TW" sz="28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</m:d>
                            </m:sup>
                            <m:e>
                              <m:r>
                                <m:rPr>
                                  <m:nor/>
                                </m:rPr>
                                <a:rPr kumimoji="1" lang="en-US" altLang="zh-TW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e>
                          </m:nary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TW" sz="28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b>
                          </m:sSub>
                          <m:r>
                            <a:rPr kumimoji="1" lang="en-US" altLang="zh-TW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kumimoji="1" lang="zh-TW" altLang="en-US" sz="2800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A772E578-7E60-78AE-AA5F-C26B47B204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436" y="3335707"/>
                <a:ext cx="2069541" cy="1025602"/>
              </a:xfrm>
              <a:prstGeom prst="rect">
                <a:avLst/>
              </a:prstGeom>
              <a:blipFill>
                <a:blip r:embed="rId2"/>
                <a:stretch>
                  <a:fillRect l="-27439" t="-15854" r="-5488" b="-10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/>
              <p:nvPr/>
            </p:nvSpPr>
            <p:spPr>
              <a:xfrm>
                <a:off x="1428750" y="4777740"/>
                <a:ext cx="5652506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kumimoji="1" lang="en-US" altLang="zh-TW" sz="2400" dirty="0"/>
                  <a:t>: logits (model outputs before </a:t>
                </a:r>
                <a:r>
                  <a:rPr kumimoji="1" lang="en-US" altLang="zh-TW" sz="2400" dirty="0" err="1"/>
                  <a:t>softmax</a:t>
                </a:r>
                <a:r>
                  <a:rPr kumimoji="1" lang="en-US" altLang="zh-TW" sz="2400" dirty="0"/>
                  <a:t>)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TW" sz="2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kumimoji="1" lang="en-US" altLang="zh-TW" sz="24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kumimoji="1" lang="en-US" altLang="zh-TW" sz="2400" dirty="0"/>
                  <a:t> size of the vocabulary</a:t>
                </a: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982479-B010-9DAF-FD93-D42900EA0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750" y="4777740"/>
                <a:ext cx="5652506" cy="830997"/>
              </a:xfrm>
              <a:prstGeom prst="rect">
                <a:avLst/>
              </a:prstGeom>
              <a:blipFill>
                <a:blip r:embed="rId3"/>
                <a:stretch>
                  <a:fillRect t="-6061" r="-1345" b="-151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7F15A8AA-0D75-CD70-56C6-D2777F05FED3}"/>
              </a:ext>
            </a:extLst>
          </p:cNvPr>
          <p:cNvSpPr txBox="1"/>
          <p:nvPr/>
        </p:nvSpPr>
        <p:spPr>
          <a:xfrm>
            <a:off x="7684316" y="3335707"/>
            <a:ext cx="3691156" cy="1287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TW" altLang="en-US" dirty="0"/>
              <a:t>使用 </a:t>
            </a:r>
            <a:r>
              <a:rPr kumimoji="1" lang="en-US" altLang="zh-TW" dirty="0"/>
              <a:t>exp </a:t>
            </a:r>
            <a:r>
              <a:rPr kumimoji="1" lang="zh-TW" altLang="en-US" dirty="0"/>
              <a:t>來取得機率的主要原因：</a:t>
            </a:r>
            <a:endParaRPr kumimoji="1" lang="en-US" altLang="zh-TW" dirty="0"/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kumimoji="1" lang="zh-TW" altLang="en-US" b="1" dirty="0"/>
              <a:t>恆正</a:t>
            </a:r>
            <a:endParaRPr kumimoji="1" lang="en-US" altLang="zh-TW" b="1" dirty="0"/>
          </a:p>
          <a:p>
            <a:pPr marL="342900" indent="-342900">
              <a:lnSpc>
                <a:spcPct val="150000"/>
              </a:lnSpc>
              <a:buAutoNum type="arabicParenBoth"/>
            </a:pPr>
            <a:r>
              <a:rPr kumimoji="1" lang="zh-TW" altLang="en-US" b="1" dirty="0"/>
              <a:t>符號不變性</a:t>
            </a:r>
          </a:p>
        </p:txBody>
      </p:sp>
    </p:spTree>
    <p:extLst>
      <p:ext uri="{BB962C8B-B14F-4D97-AF65-F5344CB8AC3E}">
        <p14:creationId xmlns:p14="http://schemas.microsoft.com/office/powerpoint/2010/main" val="216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08D5AE-C260-8409-5134-FEAA50826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7B2385D-990A-EC13-0B5F-F3D411256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20DA9EB-B9AF-6D38-1025-9B8643725202}"/>
              </a:ext>
            </a:extLst>
          </p:cNvPr>
          <p:cNvSpPr txBox="1"/>
          <p:nvPr/>
        </p:nvSpPr>
        <p:spPr>
          <a:xfrm>
            <a:off x="3340090" y="2271928"/>
            <a:ext cx="1726651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the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am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no</a:t>
            </a:r>
          </a:p>
          <a:p>
            <a:pPr>
              <a:lnSpc>
                <a:spcPct val="150000"/>
              </a:lnSpc>
            </a:pPr>
            <a:r>
              <a:rPr kumimoji="1" lang="en" altLang="zh-TW" sz="2400" dirty="0">
                <a:ea typeface="Microsoft JhengHei" panose="020B0604030504040204" pitchFamily="34" charset="-120"/>
              </a:rPr>
              <a:t>a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>
                <a:ea typeface="Microsoft JhengHei" panose="020B0604030504040204" pitchFamily="34" charset="-120"/>
              </a:rPr>
              <a:t>/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C4CE100-F718-5085-12CA-3D1FF0899A5C}"/>
              </a:ext>
            </a:extLst>
          </p:cNvPr>
          <p:cNvSpPr txBox="1"/>
          <p:nvPr/>
        </p:nvSpPr>
        <p:spPr>
          <a:xfrm>
            <a:off x="4746674" y="2271928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0.0011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0.0012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0.0013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0.0014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0.0015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CCC65D0-3C99-1658-D315-C212C5B6258A}"/>
              </a:ext>
            </a:extLst>
          </p:cNvPr>
          <p:cNvSpPr txBox="1"/>
          <p:nvPr/>
        </p:nvSpPr>
        <p:spPr>
          <a:xfrm>
            <a:off x="3177539" y="1840971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Word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6EACE46-0D57-EBAF-47CD-8AEDC250C9FD}"/>
              </a:ext>
            </a:extLst>
          </p:cNvPr>
          <p:cNvSpPr txBox="1"/>
          <p:nvPr/>
        </p:nvSpPr>
        <p:spPr>
          <a:xfrm>
            <a:off x="4731809" y="1840971"/>
            <a:ext cx="1018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Logits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4E28D99-73B0-63D8-0DFE-D65FC5C19BD2}"/>
              </a:ext>
            </a:extLst>
          </p:cNvPr>
          <p:cNvSpPr txBox="1"/>
          <p:nvPr/>
        </p:nvSpPr>
        <p:spPr>
          <a:xfrm>
            <a:off x="1525335" y="3010118"/>
            <a:ext cx="12963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Example</a:t>
            </a:r>
          </a:p>
          <a:p>
            <a:pPr algn="ctr"/>
            <a:r>
              <a:rPr kumimoji="1" lang="en-US" altLang="zh-TW" sz="2400" dirty="0"/>
              <a:t>Vocab</a:t>
            </a: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C2891F03-779D-AA20-806A-BCD2CE0DF3F0}"/>
              </a:ext>
            </a:extLst>
          </p:cNvPr>
          <p:cNvCxnSpPr>
            <a:cxnSpLocks/>
          </p:cNvCxnSpPr>
          <p:nvPr/>
        </p:nvCxnSpPr>
        <p:spPr>
          <a:xfrm>
            <a:off x="6382014" y="2659671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9CC1F449-1E69-B73B-1B49-1DBA9F941AAE}"/>
              </a:ext>
            </a:extLst>
          </p:cNvPr>
          <p:cNvCxnSpPr>
            <a:cxnSpLocks/>
          </p:cNvCxnSpPr>
          <p:nvPr/>
        </p:nvCxnSpPr>
        <p:spPr>
          <a:xfrm>
            <a:off x="6382014" y="3212121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F543821E-107F-12AA-5934-4B89F9E44B64}"/>
              </a:ext>
            </a:extLst>
          </p:cNvPr>
          <p:cNvCxnSpPr>
            <a:cxnSpLocks/>
          </p:cNvCxnSpPr>
          <p:nvPr/>
        </p:nvCxnSpPr>
        <p:spPr>
          <a:xfrm>
            <a:off x="6382014" y="376872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箭頭接點 15">
            <a:extLst>
              <a:ext uri="{FF2B5EF4-FFF2-40B4-BE49-F238E27FC236}">
                <a16:creationId xmlns:a16="http://schemas.microsoft.com/office/drawing/2014/main" id="{79C56B4A-26E8-4783-5B11-D8C33409FC5A}"/>
              </a:ext>
            </a:extLst>
          </p:cNvPr>
          <p:cNvCxnSpPr>
            <a:cxnSpLocks/>
          </p:cNvCxnSpPr>
          <p:nvPr/>
        </p:nvCxnSpPr>
        <p:spPr>
          <a:xfrm>
            <a:off x="6382014" y="433260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2C3AFF56-4169-EACA-3AF2-7479A65F42F7}"/>
              </a:ext>
            </a:extLst>
          </p:cNvPr>
          <p:cNvCxnSpPr>
            <a:cxnSpLocks/>
          </p:cNvCxnSpPr>
          <p:nvPr/>
        </p:nvCxnSpPr>
        <p:spPr>
          <a:xfrm>
            <a:off x="6382014" y="4846955"/>
            <a:ext cx="93318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14FC5F6D-C418-2F49-B3B3-F2691D8C7E88}"/>
              </a:ext>
            </a:extLst>
          </p:cNvPr>
          <p:cNvSpPr txBox="1"/>
          <p:nvPr/>
        </p:nvSpPr>
        <p:spPr>
          <a:xfrm>
            <a:off x="7650269" y="1840971"/>
            <a:ext cx="1726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0070C0"/>
                </a:solidFill>
              </a:rPr>
              <a:t>Probability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AFD03A0-0B3D-A17F-EE17-AB935AFEC61F}"/>
              </a:ext>
            </a:extLst>
          </p:cNvPr>
          <p:cNvSpPr txBox="1"/>
          <p:nvPr/>
        </p:nvSpPr>
        <p:spPr>
          <a:xfrm>
            <a:off x="7861873" y="2271928"/>
            <a:ext cx="1246720" cy="28050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0.78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0.11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0.03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0.02</a:t>
            </a:r>
          </a:p>
          <a:p>
            <a:pPr algn="ctr">
              <a:lnSpc>
                <a:spcPct val="150000"/>
              </a:lnSpc>
            </a:pPr>
            <a:r>
              <a:rPr kumimoji="1" lang="en-US" altLang="zh-TW" sz="2400" dirty="0">
                <a:solidFill>
                  <a:srgbClr val="FF0000"/>
                </a:solidFill>
              </a:rPr>
              <a:t>0.06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4A0F621-2516-5B17-0D65-86B75600F986}"/>
              </a:ext>
            </a:extLst>
          </p:cNvPr>
          <p:cNvSpPr txBox="1"/>
          <p:nvPr/>
        </p:nvSpPr>
        <p:spPr>
          <a:xfrm>
            <a:off x="1649716" y="5549466"/>
            <a:ext cx="81329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kumimoji="1" lang="en-US" altLang="zh-TW" sz="2000" dirty="0"/>
              <a:t>Note that </a:t>
            </a:r>
            <a:r>
              <a:rPr kumimoji="1" lang="en-US" altLang="zh-TW" sz="2000" dirty="0" err="1"/>
              <a:t>softmax</a:t>
            </a:r>
            <a:r>
              <a:rPr kumimoji="1" lang="en-US" altLang="zh-TW" sz="2000" dirty="0"/>
              <a:t> is required for every decoding strategies since we need to find out the next word from a vocabulary.</a:t>
            </a:r>
            <a:endParaRPr kumimoji="1" lang="zh-TW" altLang="en-US" sz="20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E415FC-24C2-4A1D-4E48-A7B0461A3B34}"/>
              </a:ext>
            </a:extLst>
          </p:cNvPr>
          <p:cNvSpPr/>
          <p:nvPr/>
        </p:nvSpPr>
        <p:spPr>
          <a:xfrm>
            <a:off x="7707831" y="1799453"/>
            <a:ext cx="1582084" cy="3346478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F76F5D2-7289-BCB3-80A5-D4DB0DB6CCD1}"/>
              </a:ext>
            </a:extLst>
          </p:cNvPr>
          <p:cNvSpPr txBox="1"/>
          <p:nvPr/>
        </p:nvSpPr>
        <p:spPr>
          <a:xfrm>
            <a:off x="7880995" y="5199067"/>
            <a:ext cx="1265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SUM = 1</a:t>
            </a:r>
            <a:endParaRPr kumimoji="1" lang="zh-TW" altLang="en-US" dirty="0">
              <a:solidFill>
                <a:srgbClr val="FF000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36592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CE90CA-A8EB-61E1-8616-654B9AE7B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Advanced Techniques of Word2vec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B1DA38-D71C-D84B-6228-13A4C6BA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B156F93-77BB-54F3-729D-347E878E7D0E}"/>
              </a:ext>
            </a:extLst>
          </p:cNvPr>
          <p:cNvSpPr txBox="1"/>
          <p:nvPr/>
        </p:nvSpPr>
        <p:spPr>
          <a:xfrm>
            <a:off x="653143" y="1774997"/>
            <a:ext cx="6474488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Speed up </a:t>
            </a:r>
            <a:r>
              <a:rPr kumimoji="1" lang="en-US" altLang="zh-TW" sz="2400" dirty="0">
                <a:solidFill>
                  <a:srgbClr val="FF0000"/>
                </a:solidFill>
              </a:rPr>
              <a:t>the training process </a:t>
            </a:r>
            <a:r>
              <a:rPr kumimoji="1" lang="en-US" altLang="zh-TW" sz="2400" dirty="0"/>
              <a:t>of Word2vec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Hierarchical </a:t>
            </a:r>
            <a:r>
              <a:rPr kumimoji="1" lang="en-US" altLang="zh-TW" sz="2400" dirty="0" err="1"/>
              <a:t>Softmax</a:t>
            </a:r>
            <a:endParaRPr kumimoji="1" lang="en-US" altLang="zh-TW" sz="2400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Negative Sampling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CFC5ACD-353C-9CF5-7275-741F6F0D3200}"/>
              </a:ext>
            </a:extLst>
          </p:cNvPr>
          <p:cNvSpPr txBox="1"/>
          <p:nvPr/>
        </p:nvSpPr>
        <p:spPr>
          <a:xfrm>
            <a:off x="2417236" y="6415560"/>
            <a:ext cx="73901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21806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5B9393-1699-985A-E66F-F2B388438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Hierarchical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 Overview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A6DC57-0B7A-1B21-F9F0-721D122BD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3135ECE-124D-11AF-7A59-BA36FC346CE3}"/>
              </a:ext>
            </a:extLst>
          </p:cNvPr>
          <p:cNvSpPr txBox="1"/>
          <p:nvPr/>
        </p:nvSpPr>
        <p:spPr>
          <a:xfrm>
            <a:off x="1209723" y="1889819"/>
            <a:ext cx="9772554" cy="28126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總目標：近似輸出層，因為在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Vocab size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很大的情況下做 </a:t>
            </a:r>
            <a:r>
              <a:rPr kumimoji="1" lang="en-US" altLang="zh-TW" sz="20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Softmax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計算量很大</a:t>
            </a:r>
            <a:endParaRPr kumimoji="1" lang="en-US" altLang="zh-TW" sz="20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訓練流程：</a:t>
            </a:r>
            <a:endParaRPr kumimoji="1" lang="en-US" altLang="zh-TW" sz="20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Step1: 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把字典的字根據頻率建立出一棵 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Huffman Tree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Step2: 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以 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internal nodes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的權重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(vectors) 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代替輸出層，從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root node 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開始計算往下走每層的機率值 </a:t>
            </a:r>
            <a:r>
              <a:rPr kumimoji="1" lang="en-US" altLang="zh-TW" sz="20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Softmax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(</a:t>
            </a:r>
            <a:r>
              <a:rPr kumimoji="1" lang="en-US" altLang="zh-TW" sz="20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dot_product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)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，每層都只做二元分類</a:t>
            </a:r>
            <a:endParaRPr kumimoji="1" lang="en-US" altLang="zh-TW" sz="20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Step3: 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調整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internal nodes</a:t>
            </a:r>
            <a:r>
              <a:rPr kumimoji="1" lang="zh-TW" altLang="en-US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的權重</a:t>
            </a:r>
            <a:endParaRPr kumimoji="1" lang="en-US" altLang="zh-TW" sz="20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EB5E1CE-9910-519C-FE18-748C7924E240}"/>
              </a:ext>
            </a:extLst>
          </p:cNvPr>
          <p:cNvSpPr txBox="1"/>
          <p:nvPr/>
        </p:nvSpPr>
        <p:spPr>
          <a:xfrm>
            <a:off x="2759413" y="5016937"/>
            <a:ext cx="6673174" cy="1201804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kumimoji="1" lang="en-US" altLang="zh-TW" sz="16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Huffman Tree </a:t>
            </a:r>
            <a:r>
              <a:rPr kumimoji="1" lang="zh-TW" altLang="en-US" sz="16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是一種最佳前綴編碼樹 </a:t>
            </a:r>
            <a:r>
              <a:rPr kumimoji="1" lang="en-US" altLang="zh-TW" sz="16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(optimal prefix code tree)</a:t>
            </a:r>
            <a:r>
              <a:rPr kumimoji="1" lang="zh-TW" altLang="en-US" sz="16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，其特性是：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6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頻率較高的詞會被分配較短的路徑，使得它們的預測成本較低。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sz="16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頻率較低的詞會有較長的路徑，以減少總體的編碼長度。</a:t>
            </a:r>
            <a:endParaRPr kumimoji="1" lang="en-US" altLang="zh-TW" sz="16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6ECE48-AAE0-9B92-C96E-93C5AF851F2B}"/>
              </a:ext>
            </a:extLst>
          </p:cNvPr>
          <p:cNvSpPr txBox="1"/>
          <p:nvPr/>
        </p:nvSpPr>
        <p:spPr>
          <a:xfrm>
            <a:off x="2339948" y="6459622"/>
            <a:ext cx="75121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627079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2F1559-1A6E-01DC-FEAF-060A2605A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sz="48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Huffman Tree</a:t>
            </a:r>
            <a:r>
              <a:rPr kumimoji="1" lang="zh-TW" altLang="en-US" sz="48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快速範例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C2BDA93-B633-B683-E87A-B4624F669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620629"/>
          </a:xfrm>
        </p:spPr>
        <p:txBody>
          <a:bodyPr/>
          <a:lstStyle/>
          <a:p>
            <a:pPr marL="0" indent="0">
              <a:buNone/>
            </a:pPr>
            <a:r>
              <a:rPr kumimoji="1" lang="zh-TW" altLang="en-US" dirty="0"/>
              <a:t>假設有 </a:t>
            </a:r>
            <a:r>
              <a:rPr kumimoji="1" lang="en-US" altLang="zh-TW" dirty="0"/>
              <a:t>4 </a:t>
            </a:r>
            <a:r>
              <a:rPr kumimoji="1" lang="zh-TW" altLang="en-US" dirty="0"/>
              <a:t>個符號，出現頻率如下：</a:t>
            </a:r>
            <a:r>
              <a:rPr kumimoji="1" lang="en" altLang="zh-TW" dirty="0"/>
              <a:t>A: 5</a:t>
            </a:r>
            <a:r>
              <a:rPr kumimoji="1" lang="zh-TW" altLang="en-US" dirty="0"/>
              <a:t>、</a:t>
            </a:r>
            <a:r>
              <a:rPr kumimoji="1" lang="en" altLang="zh-TW" dirty="0"/>
              <a:t>B: 7</a:t>
            </a:r>
            <a:r>
              <a:rPr kumimoji="1" lang="zh-TW" altLang="en-US" dirty="0"/>
              <a:t>、</a:t>
            </a:r>
            <a:r>
              <a:rPr kumimoji="1" lang="en" altLang="zh-TW" dirty="0"/>
              <a:t>C: 10</a:t>
            </a:r>
            <a:r>
              <a:rPr kumimoji="1" lang="zh-TW" altLang="en-US" dirty="0"/>
              <a:t>、</a:t>
            </a:r>
            <a:r>
              <a:rPr kumimoji="1" lang="en" altLang="zh-TW" dirty="0"/>
              <a:t>D: 15</a:t>
            </a:r>
          </a:p>
          <a:p>
            <a:pPr marL="0" indent="0">
              <a:buNone/>
            </a:pP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327DF9-AA07-3994-D074-8084522D4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F4ED8E2-27B9-FFF0-FB85-123C00A5882C}"/>
              </a:ext>
            </a:extLst>
          </p:cNvPr>
          <p:cNvSpPr txBox="1"/>
          <p:nvPr/>
        </p:nvSpPr>
        <p:spPr>
          <a:xfrm>
            <a:off x="653143" y="2734811"/>
            <a:ext cx="30715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Step 1. </a:t>
            </a:r>
            <a:r>
              <a:rPr kumimoji="1" lang="zh-TW" altLang="en-US" dirty="0"/>
              <a:t>每個符號先當一棵樹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886A769-8142-8E18-359D-70E930A8C912}"/>
              </a:ext>
            </a:extLst>
          </p:cNvPr>
          <p:cNvSpPr txBox="1"/>
          <p:nvPr/>
        </p:nvSpPr>
        <p:spPr>
          <a:xfrm>
            <a:off x="948405" y="4256295"/>
            <a:ext cx="24810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dirty="0"/>
              <a:t>A(5) B(7) C(10) D(15)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B8F2590-051B-A202-FD2F-8C3ED8F2AF54}"/>
              </a:ext>
            </a:extLst>
          </p:cNvPr>
          <p:cNvSpPr txBox="1"/>
          <p:nvPr/>
        </p:nvSpPr>
        <p:spPr>
          <a:xfrm>
            <a:off x="4052082" y="2734811"/>
            <a:ext cx="4060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Step 2. </a:t>
            </a:r>
            <a:r>
              <a:rPr lang="zh-TW" altLang="en-US" dirty="0"/>
              <a:t>每次合併「頻率最小的兩棵樹」</a:t>
            </a:r>
            <a:endParaRPr kumimoji="1"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0DE3BB-4371-6AD0-456B-629F839C252E}"/>
              </a:ext>
            </a:extLst>
          </p:cNvPr>
          <p:cNvSpPr txBox="1"/>
          <p:nvPr/>
        </p:nvSpPr>
        <p:spPr>
          <a:xfrm>
            <a:off x="4398925" y="4256295"/>
            <a:ext cx="78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A(5)</a:t>
            </a:r>
            <a:endParaRPr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09B29867-0CA7-B172-FC92-675A9FE52E69}"/>
              </a:ext>
            </a:extLst>
          </p:cNvPr>
          <p:cNvSpPr txBox="1"/>
          <p:nvPr/>
        </p:nvSpPr>
        <p:spPr>
          <a:xfrm>
            <a:off x="5085876" y="4256295"/>
            <a:ext cx="8538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B(7)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C330776F-9329-0DDC-C6DA-C80EF97B8F74}"/>
              </a:ext>
            </a:extLst>
          </p:cNvPr>
          <p:cNvSpPr txBox="1"/>
          <p:nvPr/>
        </p:nvSpPr>
        <p:spPr>
          <a:xfrm>
            <a:off x="5845254" y="4256295"/>
            <a:ext cx="836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C(10)</a:t>
            </a: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FC3F242-6301-0AE9-E6A9-51514EFEF4E0}"/>
              </a:ext>
            </a:extLst>
          </p:cNvPr>
          <p:cNvSpPr txBox="1"/>
          <p:nvPr/>
        </p:nvSpPr>
        <p:spPr>
          <a:xfrm>
            <a:off x="6681406" y="4256295"/>
            <a:ext cx="8538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D(15)</a:t>
            </a:r>
            <a:endParaRPr lang="zh-TW" altLang="en-US" dirty="0"/>
          </a:p>
        </p:txBody>
      </p:sp>
      <p:cxnSp>
        <p:nvCxnSpPr>
          <p:cNvPr id="15" name="肘形接點 14">
            <a:extLst>
              <a:ext uri="{FF2B5EF4-FFF2-40B4-BE49-F238E27FC236}">
                <a16:creationId xmlns:a16="http://schemas.microsoft.com/office/drawing/2014/main" id="{F648227E-BD2D-AEE5-1A7D-AE748DAC842C}"/>
              </a:ext>
            </a:extLst>
          </p:cNvPr>
          <p:cNvCxnSpPr>
            <a:cxnSpLocks/>
            <a:stCxn id="9" idx="0"/>
            <a:endCxn id="10" idx="0"/>
          </p:cNvCxnSpPr>
          <p:nvPr/>
        </p:nvCxnSpPr>
        <p:spPr>
          <a:xfrm rot="5400000" flipH="1" flipV="1">
            <a:off x="5152537" y="3896042"/>
            <a:ext cx="12700" cy="720507"/>
          </a:xfrm>
          <a:prstGeom prst="bentConnector3">
            <a:avLst>
              <a:gd name="adj1" fmla="val 180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26D3DDB-667E-5748-C2DC-9CE338C6F9B5}"/>
              </a:ext>
            </a:extLst>
          </p:cNvPr>
          <p:cNvSpPr txBox="1"/>
          <p:nvPr/>
        </p:nvSpPr>
        <p:spPr>
          <a:xfrm>
            <a:off x="4831716" y="3618515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(12)</a:t>
            </a:r>
            <a:endParaRPr kumimoji="1"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7679F18-DC24-5395-82DE-BCC279A2EB3D}"/>
              </a:ext>
            </a:extLst>
          </p:cNvPr>
          <p:cNvSpPr txBox="1"/>
          <p:nvPr/>
        </p:nvSpPr>
        <p:spPr>
          <a:xfrm>
            <a:off x="5190370" y="6046228"/>
            <a:ext cx="7867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A(5)</a:t>
            </a:r>
            <a:endParaRPr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7934FE9-B674-EC69-8205-A9BAD421BDC0}"/>
              </a:ext>
            </a:extLst>
          </p:cNvPr>
          <p:cNvSpPr txBox="1"/>
          <p:nvPr/>
        </p:nvSpPr>
        <p:spPr>
          <a:xfrm>
            <a:off x="5877321" y="6046228"/>
            <a:ext cx="8538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B(7)</a:t>
            </a:r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7F48C79-2291-6CD6-BC0C-189A940B0FFA}"/>
              </a:ext>
            </a:extLst>
          </p:cNvPr>
          <p:cNvSpPr txBox="1"/>
          <p:nvPr/>
        </p:nvSpPr>
        <p:spPr>
          <a:xfrm>
            <a:off x="4509807" y="5405206"/>
            <a:ext cx="836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C(10)</a:t>
            </a:r>
            <a:endParaRPr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31E2C6D-10CC-A448-2683-9852E5F74F39}"/>
              </a:ext>
            </a:extLst>
          </p:cNvPr>
          <p:cNvSpPr txBox="1"/>
          <p:nvPr/>
        </p:nvSpPr>
        <p:spPr>
          <a:xfrm>
            <a:off x="6687756" y="6046228"/>
            <a:ext cx="8538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zh-TW" dirty="0"/>
              <a:t>D(15)</a:t>
            </a:r>
            <a:endParaRPr lang="zh-TW" altLang="en-US" dirty="0"/>
          </a:p>
        </p:txBody>
      </p:sp>
      <p:cxnSp>
        <p:nvCxnSpPr>
          <p:cNvPr id="22" name="肘形接點 21">
            <a:extLst>
              <a:ext uri="{FF2B5EF4-FFF2-40B4-BE49-F238E27FC236}">
                <a16:creationId xmlns:a16="http://schemas.microsoft.com/office/drawing/2014/main" id="{85176BDA-77B3-6B2C-252A-B8F387CF8982}"/>
              </a:ext>
            </a:extLst>
          </p:cNvPr>
          <p:cNvCxnSpPr>
            <a:cxnSpLocks/>
            <a:stCxn id="18" idx="0"/>
            <a:endCxn id="19" idx="0"/>
          </p:cNvCxnSpPr>
          <p:nvPr/>
        </p:nvCxnSpPr>
        <p:spPr>
          <a:xfrm rot="5400000" flipH="1" flipV="1">
            <a:off x="5943982" y="5685975"/>
            <a:ext cx="12700" cy="720507"/>
          </a:xfrm>
          <a:prstGeom prst="bentConnector3">
            <a:avLst>
              <a:gd name="adj1" fmla="val 180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8CE2FC09-87DD-B31C-A505-109F879FEF89}"/>
              </a:ext>
            </a:extLst>
          </p:cNvPr>
          <p:cNvSpPr txBox="1"/>
          <p:nvPr/>
        </p:nvSpPr>
        <p:spPr>
          <a:xfrm>
            <a:off x="5623161" y="5408448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(12)</a:t>
            </a:r>
            <a:endParaRPr kumimoji="1" lang="zh-TW" altLang="en-US" dirty="0"/>
          </a:p>
        </p:txBody>
      </p:sp>
      <p:cxnSp>
        <p:nvCxnSpPr>
          <p:cNvPr id="24" name="肘形接點 23">
            <a:extLst>
              <a:ext uri="{FF2B5EF4-FFF2-40B4-BE49-F238E27FC236}">
                <a16:creationId xmlns:a16="http://schemas.microsoft.com/office/drawing/2014/main" id="{4CD699BB-8C3F-853D-C101-4155CD30466A}"/>
              </a:ext>
            </a:extLst>
          </p:cNvPr>
          <p:cNvCxnSpPr>
            <a:cxnSpLocks/>
            <a:stCxn id="23" idx="0"/>
            <a:endCxn id="20" idx="0"/>
          </p:cNvCxnSpPr>
          <p:nvPr/>
        </p:nvCxnSpPr>
        <p:spPr>
          <a:xfrm rot="16200000" flipV="1">
            <a:off x="5437487" y="4895602"/>
            <a:ext cx="3242" cy="1022449"/>
          </a:xfrm>
          <a:prstGeom prst="bentConnector3">
            <a:avLst>
              <a:gd name="adj1" fmla="val 715120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6DDA9BD-F1B6-FA1B-EE53-6FA89BD5B310}"/>
              </a:ext>
            </a:extLst>
          </p:cNvPr>
          <p:cNvSpPr txBox="1"/>
          <p:nvPr/>
        </p:nvSpPr>
        <p:spPr>
          <a:xfrm>
            <a:off x="5111936" y="4804840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(22)</a:t>
            </a:r>
            <a:endParaRPr kumimoji="1" lang="zh-TW" altLang="en-US" dirty="0"/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FC7D0088-F3C4-C731-70DF-8649E2E13167}"/>
              </a:ext>
            </a:extLst>
          </p:cNvPr>
          <p:cNvSpPr txBox="1"/>
          <p:nvPr/>
        </p:nvSpPr>
        <p:spPr>
          <a:xfrm>
            <a:off x="9087974" y="2318038"/>
            <a:ext cx="1953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/>
              <a:t>Step 3. </a:t>
            </a:r>
            <a:r>
              <a:rPr kumimoji="1" lang="zh-TW" altLang="en-US" b="1" dirty="0"/>
              <a:t>給予標記</a:t>
            </a:r>
          </a:p>
        </p:txBody>
      </p: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FC4F1E38-0ED7-3B9D-4B03-3D6AACC240FF}"/>
              </a:ext>
            </a:extLst>
          </p:cNvPr>
          <p:cNvGrpSpPr/>
          <p:nvPr/>
        </p:nvGrpSpPr>
        <p:grpSpPr>
          <a:xfrm>
            <a:off x="8168421" y="3163868"/>
            <a:ext cx="3075174" cy="2174833"/>
            <a:chOff x="8168421" y="3163868"/>
            <a:chExt cx="3075174" cy="2174833"/>
          </a:xfrm>
        </p:grpSpPr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32E12CB5-1B0A-515F-5B63-6BB8BCB19446}"/>
                </a:ext>
              </a:extLst>
            </p:cNvPr>
            <p:cNvSpPr txBox="1"/>
            <p:nvPr/>
          </p:nvSpPr>
          <p:spPr>
            <a:xfrm>
              <a:off x="9702814" y="4969369"/>
              <a:ext cx="7867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" altLang="zh-TW" dirty="0"/>
                <a:t>A(5)</a:t>
              </a:r>
              <a:endParaRPr lang="zh-TW" altLang="en-US" dirty="0"/>
            </a:p>
          </p:txBody>
        </p: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7B5C3A4D-45B7-2E19-755A-31F4EEA32E0F}"/>
                </a:ext>
              </a:extLst>
            </p:cNvPr>
            <p:cNvSpPr txBox="1"/>
            <p:nvPr/>
          </p:nvSpPr>
          <p:spPr>
            <a:xfrm>
              <a:off x="10389765" y="4969369"/>
              <a:ext cx="8538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" altLang="zh-TW" dirty="0"/>
                <a:t>B(7)</a:t>
              </a:r>
              <a:endParaRPr lang="zh-TW" altLang="en-US" dirty="0"/>
            </a:p>
          </p:txBody>
        </p:sp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49C04015-C771-D153-DAF4-9F9E1C48C055}"/>
                </a:ext>
              </a:extLst>
            </p:cNvPr>
            <p:cNvSpPr txBox="1"/>
            <p:nvPr/>
          </p:nvSpPr>
          <p:spPr>
            <a:xfrm>
              <a:off x="9022251" y="4328347"/>
              <a:ext cx="83615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" altLang="zh-TW" dirty="0"/>
                <a:t>C(10)</a:t>
              </a:r>
              <a:endParaRPr lang="zh-TW" altLang="en-US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0EBC1BEE-8881-CE83-CFE7-E4ED6375E441}"/>
                </a:ext>
              </a:extLst>
            </p:cNvPr>
            <p:cNvSpPr txBox="1"/>
            <p:nvPr/>
          </p:nvSpPr>
          <p:spPr>
            <a:xfrm>
              <a:off x="8168421" y="3738745"/>
              <a:ext cx="8538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" altLang="zh-TW" dirty="0"/>
                <a:t>D(15)</a:t>
              </a:r>
              <a:endParaRPr lang="zh-TW" altLang="en-US" dirty="0"/>
            </a:p>
          </p:txBody>
        </p:sp>
        <p:cxnSp>
          <p:nvCxnSpPr>
            <p:cNvPr id="55" name="肘形接點 54">
              <a:extLst>
                <a:ext uri="{FF2B5EF4-FFF2-40B4-BE49-F238E27FC236}">
                  <a16:creationId xmlns:a16="http://schemas.microsoft.com/office/drawing/2014/main" id="{C41E6D4D-230B-B9D7-B2E4-D35729F295E6}"/>
                </a:ext>
              </a:extLst>
            </p:cNvPr>
            <p:cNvCxnSpPr>
              <a:cxnSpLocks/>
              <a:stCxn id="51" idx="0"/>
              <a:endCxn id="52" idx="0"/>
            </p:cNvCxnSpPr>
            <p:nvPr/>
          </p:nvCxnSpPr>
          <p:spPr>
            <a:xfrm rot="5400000" flipH="1" flipV="1">
              <a:off x="10456426" y="4609116"/>
              <a:ext cx="12700" cy="720507"/>
            </a:xfrm>
            <a:prstGeom prst="bentConnector3">
              <a:avLst>
                <a:gd name="adj1" fmla="val 180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7F6879D5-4339-D98E-FAAA-BAAA5ABBB379}"/>
                </a:ext>
              </a:extLst>
            </p:cNvPr>
            <p:cNvSpPr txBox="1"/>
            <p:nvPr/>
          </p:nvSpPr>
          <p:spPr>
            <a:xfrm>
              <a:off x="10135605" y="4331589"/>
              <a:ext cx="654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(12)</a:t>
              </a:r>
              <a:endParaRPr kumimoji="1" lang="zh-TW" altLang="en-US" dirty="0"/>
            </a:p>
          </p:txBody>
        </p:sp>
        <p:cxnSp>
          <p:nvCxnSpPr>
            <p:cNvPr id="57" name="肘形接點 56">
              <a:extLst>
                <a:ext uri="{FF2B5EF4-FFF2-40B4-BE49-F238E27FC236}">
                  <a16:creationId xmlns:a16="http://schemas.microsoft.com/office/drawing/2014/main" id="{F878D0C5-DF9F-8FBB-5B92-D33F4ADBF732}"/>
                </a:ext>
              </a:extLst>
            </p:cNvPr>
            <p:cNvCxnSpPr>
              <a:cxnSpLocks/>
              <a:stCxn id="56" idx="0"/>
              <a:endCxn id="53" idx="0"/>
            </p:cNvCxnSpPr>
            <p:nvPr/>
          </p:nvCxnSpPr>
          <p:spPr>
            <a:xfrm rot="16200000" flipV="1">
              <a:off x="9949931" y="3818743"/>
              <a:ext cx="3242" cy="1022449"/>
            </a:xfrm>
            <a:prstGeom prst="bentConnector3">
              <a:avLst>
                <a:gd name="adj1" fmla="val 7151203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14E6541F-851E-54A4-C3A5-81AC245B0564}"/>
                </a:ext>
              </a:extLst>
            </p:cNvPr>
            <p:cNvSpPr txBox="1"/>
            <p:nvPr/>
          </p:nvSpPr>
          <p:spPr>
            <a:xfrm>
              <a:off x="9624380" y="3727981"/>
              <a:ext cx="654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(22)</a:t>
              </a:r>
              <a:endParaRPr kumimoji="1" lang="zh-TW" altLang="en-US" dirty="0"/>
            </a:p>
          </p:txBody>
        </p:sp>
        <p:cxnSp>
          <p:nvCxnSpPr>
            <p:cNvPr id="59" name="肘形接點 58">
              <a:extLst>
                <a:ext uri="{FF2B5EF4-FFF2-40B4-BE49-F238E27FC236}">
                  <a16:creationId xmlns:a16="http://schemas.microsoft.com/office/drawing/2014/main" id="{6E520E5B-83A8-31CF-C79A-EC9749AD0CF2}"/>
                </a:ext>
              </a:extLst>
            </p:cNvPr>
            <p:cNvCxnSpPr>
              <a:cxnSpLocks/>
              <a:stCxn id="58" idx="0"/>
              <a:endCxn id="54" idx="0"/>
            </p:cNvCxnSpPr>
            <p:nvPr/>
          </p:nvCxnSpPr>
          <p:spPr>
            <a:xfrm rot="16200000" flipH="1" flipV="1">
              <a:off x="9268062" y="3055255"/>
              <a:ext cx="10764" cy="1356215"/>
            </a:xfrm>
            <a:prstGeom prst="bentConnector3">
              <a:avLst>
                <a:gd name="adj1" fmla="val -17340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D8D3ABB4-1A57-E310-22ED-E82A18A3A42F}"/>
                </a:ext>
              </a:extLst>
            </p:cNvPr>
            <p:cNvSpPr txBox="1"/>
            <p:nvPr/>
          </p:nvSpPr>
          <p:spPr>
            <a:xfrm>
              <a:off x="8946273" y="3163868"/>
              <a:ext cx="6543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(37)</a:t>
              </a:r>
              <a:endParaRPr kumimoji="1" lang="zh-TW" altLang="en-US" dirty="0"/>
            </a:p>
          </p:txBody>
        </p:sp>
      </p:grp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13A52232-D10E-3E71-E5CB-F42F4BCFBC22}"/>
              </a:ext>
            </a:extLst>
          </p:cNvPr>
          <p:cNvSpPr txBox="1"/>
          <p:nvPr/>
        </p:nvSpPr>
        <p:spPr>
          <a:xfrm>
            <a:off x="8259326" y="4033546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0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000BFC47-BF8B-6424-A294-4541A99B4C72}"/>
              </a:ext>
            </a:extLst>
          </p:cNvPr>
          <p:cNvSpPr txBox="1"/>
          <p:nvPr/>
        </p:nvSpPr>
        <p:spPr>
          <a:xfrm>
            <a:off x="9971746" y="3741423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1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B92F7375-D074-AC97-C2CC-582FF915B42E}"/>
              </a:ext>
            </a:extLst>
          </p:cNvPr>
          <p:cNvSpPr txBox="1"/>
          <p:nvPr/>
        </p:nvSpPr>
        <p:spPr>
          <a:xfrm>
            <a:off x="9109610" y="4619761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10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525647CE-77DB-14D8-BC0D-33A817FD5359}"/>
              </a:ext>
            </a:extLst>
          </p:cNvPr>
          <p:cNvSpPr txBox="1"/>
          <p:nvPr/>
        </p:nvSpPr>
        <p:spPr>
          <a:xfrm>
            <a:off x="10551398" y="4338694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11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471CB65-007C-53A1-7537-5B8D129AF070}"/>
              </a:ext>
            </a:extLst>
          </p:cNvPr>
          <p:cNvSpPr txBox="1"/>
          <p:nvPr/>
        </p:nvSpPr>
        <p:spPr>
          <a:xfrm>
            <a:off x="9769002" y="5268038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110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28D9F5A0-2BDC-266D-DEFE-C36B607F3925}"/>
              </a:ext>
            </a:extLst>
          </p:cNvPr>
          <p:cNvSpPr txBox="1"/>
          <p:nvPr/>
        </p:nvSpPr>
        <p:spPr>
          <a:xfrm>
            <a:off x="10495859" y="5269404"/>
            <a:ext cx="6543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FF0000"/>
                </a:solidFill>
              </a:rPr>
              <a:t>111</a:t>
            </a:r>
            <a:endParaRPr kumimoji="1" lang="zh-TW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26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0" grpId="0"/>
      <p:bldP spid="11" grpId="0"/>
      <p:bldP spid="12" grpId="0"/>
      <p:bldP spid="17" grpId="0"/>
      <p:bldP spid="18" grpId="0"/>
      <p:bldP spid="19" grpId="0"/>
      <p:bldP spid="20" grpId="0"/>
      <p:bldP spid="21" grpId="0"/>
      <p:bldP spid="23" grpId="0"/>
      <p:bldP spid="27" grpId="0"/>
      <p:bldP spid="40" grpId="0"/>
      <p:bldP spid="64" grpId="0"/>
      <p:bldP spid="65" grpId="0"/>
      <p:bldP spid="66" grpId="0"/>
      <p:bldP spid="67" grpId="0"/>
      <p:bldP spid="68" grpId="0"/>
      <p:bldP spid="6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72D76C-5558-BA49-0FD5-062F3165B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Hierarchical </a:t>
            </a:r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3052845-07E8-DC4E-C5D4-3A086C4A8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5DDBAD3-B0C6-01AA-9C0C-421B12DB80E4}"/>
              </a:ext>
            </a:extLst>
          </p:cNvPr>
          <p:cNvSpPr/>
          <p:nvPr/>
        </p:nvSpPr>
        <p:spPr>
          <a:xfrm>
            <a:off x="3067454" y="1976834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3D991CB-CB05-508C-99ED-6210D770E602}"/>
              </a:ext>
            </a:extLst>
          </p:cNvPr>
          <p:cNvSpPr/>
          <p:nvPr/>
        </p:nvSpPr>
        <p:spPr>
          <a:xfrm>
            <a:off x="1494817" y="2859240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28685218-FE5D-864D-0E26-95FB2752E7DC}"/>
              </a:ext>
            </a:extLst>
          </p:cNvPr>
          <p:cNvSpPr/>
          <p:nvPr/>
        </p:nvSpPr>
        <p:spPr>
          <a:xfrm>
            <a:off x="4448783" y="2870476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01854BD1-72BA-D01B-788A-88C9B9154FBA}"/>
              </a:ext>
            </a:extLst>
          </p:cNvPr>
          <p:cNvSpPr/>
          <p:nvPr/>
        </p:nvSpPr>
        <p:spPr>
          <a:xfrm>
            <a:off x="3276599" y="3829692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4A49CB30-5C48-37D5-A99D-E00294ECE49E}"/>
              </a:ext>
            </a:extLst>
          </p:cNvPr>
          <p:cNvSpPr/>
          <p:nvPr/>
        </p:nvSpPr>
        <p:spPr>
          <a:xfrm>
            <a:off x="5431978" y="3829692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16FDA98-EBF0-54EF-79C4-193A547C6499}"/>
              </a:ext>
            </a:extLst>
          </p:cNvPr>
          <p:cNvSpPr/>
          <p:nvPr/>
        </p:nvSpPr>
        <p:spPr>
          <a:xfrm>
            <a:off x="4657928" y="4983112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D6D2DA4-522D-BE77-4426-9F2E9DDFF9B7}"/>
              </a:ext>
            </a:extLst>
          </p:cNvPr>
          <p:cNvSpPr/>
          <p:nvPr/>
        </p:nvSpPr>
        <p:spPr>
          <a:xfrm>
            <a:off x="6543472" y="4983112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4B8A2BE7-A63C-97D1-23C0-231FC51B64A1}"/>
              </a:ext>
            </a:extLst>
          </p:cNvPr>
          <p:cNvCxnSpPr>
            <a:cxnSpLocks/>
            <a:stCxn id="5" idx="3"/>
            <a:endCxn id="6" idx="7"/>
          </p:cNvCxnSpPr>
          <p:nvPr/>
        </p:nvCxnSpPr>
        <p:spPr>
          <a:xfrm flipH="1">
            <a:off x="1851850" y="2333867"/>
            <a:ext cx="1276861" cy="5866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407F34B9-5A96-B763-8499-F2E6C800ACA0}"/>
              </a:ext>
            </a:extLst>
          </p:cNvPr>
          <p:cNvCxnSpPr>
            <a:cxnSpLocks/>
            <a:stCxn id="7" idx="1"/>
            <a:endCxn id="5" idx="5"/>
          </p:cNvCxnSpPr>
          <p:nvPr/>
        </p:nvCxnSpPr>
        <p:spPr>
          <a:xfrm flipH="1" flipV="1">
            <a:off x="3424487" y="2333867"/>
            <a:ext cx="1085553" cy="5978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421E559A-DA93-822E-47CA-B4C6B09B4A5D}"/>
              </a:ext>
            </a:extLst>
          </p:cNvPr>
          <p:cNvCxnSpPr>
            <a:cxnSpLocks/>
            <a:stCxn id="7" idx="3"/>
            <a:endCxn id="8" idx="7"/>
          </p:cNvCxnSpPr>
          <p:nvPr/>
        </p:nvCxnSpPr>
        <p:spPr>
          <a:xfrm flipH="1">
            <a:off x="3633632" y="3227509"/>
            <a:ext cx="876408" cy="6634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04B1DC40-5FC8-DA0D-A591-0159A2F4322B}"/>
              </a:ext>
            </a:extLst>
          </p:cNvPr>
          <p:cNvCxnSpPr>
            <a:cxnSpLocks/>
            <a:stCxn id="7" idx="5"/>
            <a:endCxn id="9" idx="1"/>
          </p:cNvCxnSpPr>
          <p:nvPr/>
        </p:nvCxnSpPr>
        <p:spPr>
          <a:xfrm>
            <a:off x="4805816" y="3227509"/>
            <a:ext cx="687419" cy="6634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F2B31E7E-2E0B-91A7-651E-D6A1E192FCD6}"/>
              </a:ext>
            </a:extLst>
          </p:cNvPr>
          <p:cNvCxnSpPr>
            <a:cxnSpLocks/>
            <a:stCxn id="9" idx="5"/>
            <a:endCxn id="11" idx="1"/>
          </p:cNvCxnSpPr>
          <p:nvPr/>
        </p:nvCxnSpPr>
        <p:spPr>
          <a:xfrm>
            <a:off x="5789011" y="4186725"/>
            <a:ext cx="815718" cy="8576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B921E7C3-5333-9EDF-1B2D-92BF78BE245B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 flipH="1">
            <a:off x="4867073" y="4186725"/>
            <a:ext cx="626162" cy="7963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橢圓 41">
            <a:extLst>
              <a:ext uri="{FF2B5EF4-FFF2-40B4-BE49-F238E27FC236}">
                <a16:creationId xmlns:a16="http://schemas.microsoft.com/office/drawing/2014/main" id="{BCF9B9A3-ED61-7867-7643-D887B08C608E}"/>
              </a:ext>
            </a:extLst>
          </p:cNvPr>
          <p:cNvSpPr/>
          <p:nvPr/>
        </p:nvSpPr>
        <p:spPr>
          <a:xfrm>
            <a:off x="4071836" y="5894270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3" name="橢圓 42">
            <a:extLst>
              <a:ext uri="{FF2B5EF4-FFF2-40B4-BE49-F238E27FC236}">
                <a16:creationId xmlns:a16="http://schemas.microsoft.com/office/drawing/2014/main" id="{77C605DC-A8AB-E899-F125-F03421E39FE4}"/>
              </a:ext>
            </a:extLst>
          </p:cNvPr>
          <p:cNvSpPr/>
          <p:nvPr/>
        </p:nvSpPr>
        <p:spPr>
          <a:xfrm>
            <a:off x="5222307" y="5894270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4" name="橢圓 43">
            <a:extLst>
              <a:ext uri="{FF2B5EF4-FFF2-40B4-BE49-F238E27FC236}">
                <a16:creationId xmlns:a16="http://schemas.microsoft.com/office/drawing/2014/main" id="{9C1EB11B-CD40-E87F-EA92-595B307A5754}"/>
              </a:ext>
            </a:extLst>
          </p:cNvPr>
          <p:cNvSpPr/>
          <p:nvPr/>
        </p:nvSpPr>
        <p:spPr>
          <a:xfrm>
            <a:off x="5987725" y="5894270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5" name="橢圓 44">
            <a:extLst>
              <a:ext uri="{FF2B5EF4-FFF2-40B4-BE49-F238E27FC236}">
                <a16:creationId xmlns:a16="http://schemas.microsoft.com/office/drawing/2014/main" id="{D6F714AD-C8FC-D898-3B53-8A8C21280F7A}"/>
              </a:ext>
            </a:extLst>
          </p:cNvPr>
          <p:cNvSpPr/>
          <p:nvPr/>
        </p:nvSpPr>
        <p:spPr>
          <a:xfrm>
            <a:off x="7093436" y="5894270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0FE7135A-AFA5-567B-B827-C141EFC1F46B}"/>
              </a:ext>
            </a:extLst>
          </p:cNvPr>
          <p:cNvSpPr/>
          <p:nvPr/>
        </p:nvSpPr>
        <p:spPr>
          <a:xfrm>
            <a:off x="2617090" y="4719773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橢圓 46">
            <a:extLst>
              <a:ext uri="{FF2B5EF4-FFF2-40B4-BE49-F238E27FC236}">
                <a16:creationId xmlns:a16="http://schemas.microsoft.com/office/drawing/2014/main" id="{E22F7ED3-22B2-EC99-E0C6-EB7445F67F59}"/>
              </a:ext>
            </a:extLst>
          </p:cNvPr>
          <p:cNvSpPr/>
          <p:nvPr/>
        </p:nvSpPr>
        <p:spPr>
          <a:xfrm>
            <a:off x="3674097" y="4727651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橢圓 47">
            <a:extLst>
              <a:ext uri="{FF2B5EF4-FFF2-40B4-BE49-F238E27FC236}">
                <a16:creationId xmlns:a16="http://schemas.microsoft.com/office/drawing/2014/main" id="{4AA717DA-32C6-4CDB-C1AC-71207A3E18F1}"/>
              </a:ext>
            </a:extLst>
          </p:cNvPr>
          <p:cNvSpPr/>
          <p:nvPr/>
        </p:nvSpPr>
        <p:spPr>
          <a:xfrm>
            <a:off x="879016" y="3768435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D10EACC2-E70F-B94F-0E81-761B9AE0FD9A}"/>
              </a:ext>
            </a:extLst>
          </p:cNvPr>
          <p:cNvSpPr/>
          <p:nvPr/>
        </p:nvSpPr>
        <p:spPr>
          <a:xfrm>
            <a:off x="1957341" y="3763457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0132DDFA-0062-C9CF-63C1-F0F39EDA286E}"/>
              </a:ext>
            </a:extLst>
          </p:cNvPr>
          <p:cNvCxnSpPr>
            <a:cxnSpLocks/>
            <a:stCxn id="6" idx="3"/>
            <a:endCxn id="48" idx="7"/>
          </p:cNvCxnSpPr>
          <p:nvPr/>
        </p:nvCxnSpPr>
        <p:spPr>
          <a:xfrm flipH="1">
            <a:off x="1236049" y="3216273"/>
            <a:ext cx="320025" cy="613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5DA5693C-7EB3-5079-036C-9E5AD56A3881}"/>
              </a:ext>
            </a:extLst>
          </p:cNvPr>
          <p:cNvCxnSpPr>
            <a:cxnSpLocks/>
            <a:stCxn id="6" idx="5"/>
            <a:endCxn id="49" idx="0"/>
          </p:cNvCxnSpPr>
          <p:nvPr/>
        </p:nvCxnSpPr>
        <p:spPr>
          <a:xfrm>
            <a:off x="1851850" y="3216273"/>
            <a:ext cx="314636" cy="547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A9CDD8D5-549E-C1B6-BA6B-80916C44E2B0}"/>
              </a:ext>
            </a:extLst>
          </p:cNvPr>
          <p:cNvCxnSpPr>
            <a:cxnSpLocks/>
            <a:stCxn id="8" idx="3"/>
            <a:endCxn id="46" idx="7"/>
          </p:cNvCxnSpPr>
          <p:nvPr/>
        </p:nvCxnSpPr>
        <p:spPr>
          <a:xfrm flipH="1">
            <a:off x="2974123" y="4186725"/>
            <a:ext cx="363733" cy="5943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6426C2BA-7201-F38F-8029-6C5A1B3F9EF3}"/>
              </a:ext>
            </a:extLst>
          </p:cNvPr>
          <p:cNvCxnSpPr>
            <a:cxnSpLocks/>
            <a:stCxn id="8" idx="5"/>
            <a:endCxn id="47" idx="0"/>
          </p:cNvCxnSpPr>
          <p:nvPr/>
        </p:nvCxnSpPr>
        <p:spPr>
          <a:xfrm>
            <a:off x="3633632" y="4186725"/>
            <a:ext cx="249610" cy="540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25B01DF6-551D-17EE-9F15-E64552244D90}"/>
              </a:ext>
            </a:extLst>
          </p:cNvPr>
          <p:cNvCxnSpPr>
            <a:cxnSpLocks/>
            <a:stCxn id="10" idx="5"/>
            <a:endCxn id="43" idx="1"/>
          </p:cNvCxnSpPr>
          <p:nvPr/>
        </p:nvCxnSpPr>
        <p:spPr>
          <a:xfrm>
            <a:off x="5014961" y="5340145"/>
            <a:ext cx="268603" cy="615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接點 66">
            <a:extLst>
              <a:ext uri="{FF2B5EF4-FFF2-40B4-BE49-F238E27FC236}">
                <a16:creationId xmlns:a16="http://schemas.microsoft.com/office/drawing/2014/main" id="{12B8F9C4-6FC8-38D4-E537-BF0E98FC280B}"/>
              </a:ext>
            </a:extLst>
          </p:cNvPr>
          <p:cNvCxnSpPr>
            <a:cxnSpLocks/>
            <a:stCxn id="10" idx="3"/>
            <a:endCxn id="42" idx="7"/>
          </p:cNvCxnSpPr>
          <p:nvPr/>
        </p:nvCxnSpPr>
        <p:spPr>
          <a:xfrm flipH="1">
            <a:off x="4428869" y="5340145"/>
            <a:ext cx="290316" cy="615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A238497A-8A51-695A-1132-FBAA9C154DE5}"/>
              </a:ext>
            </a:extLst>
          </p:cNvPr>
          <p:cNvCxnSpPr>
            <a:cxnSpLocks/>
            <a:stCxn id="11" idx="3"/>
            <a:endCxn id="44" idx="0"/>
          </p:cNvCxnSpPr>
          <p:nvPr/>
        </p:nvCxnSpPr>
        <p:spPr>
          <a:xfrm flipH="1">
            <a:off x="6196870" y="5340145"/>
            <a:ext cx="407859" cy="5541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0945A53D-997A-A262-B770-E5EA4380D7F8}"/>
              </a:ext>
            </a:extLst>
          </p:cNvPr>
          <p:cNvCxnSpPr>
            <a:cxnSpLocks/>
            <a:stCxn id="11" idx="5"/>
            <a:endCxn id="45" idx="0"/>
          </p:cNvCxnSpPr>
          <p:nvPr/>
        </p:nvCxnSpPr>
        <p:spPr>
          <a:xfrm>
            <a:off x="6900505" y="5340145"/>
            <a:ext cx="402076" cy="5541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53AD8654-DA32-F304-2353-460D91E598A2}"/>
              </a:ext>
            </a:extLst>
          </p:cNvPr>
          <p:cNvSpPr txBox="1"/>
          <p:nvPr/>
        </p:nvSpPr>
        <p:spPr>
          <a:xfrm>
            <a:off x="789600" y="4246215"/>
            <a:ext cx="5971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the</a:t>
            </a:r>
            <a:endParaRPr kumimoji="1" lang="zh-TW" altLang="en-US" dirty="0"/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53313B0B-74B1-36EB-0F39-56608BDC68E6}"/>
              </a:ext>
            </a:extLst>
          </p:cNvPr>
          <p:cNvSpPr txBox="1"/>
          <p:nvPr/>
        </p:nvSpPr>
        <p:spPr>
          <a:xfrm>
            <a:off x="1898587" y="4246215"/>
            <a:ext cx="562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of</a:t>
            </a:r>
            <a:endParaRPr kumimoji="1" lang="zh-TW" altLang="en-US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4F75ADC5-945F-5171-C048-1251CB79EED0}"/>
              </a:ext>
            </a:extLst>
          </p:cNvPr>
          <p:cNvSpPr txBox="1"/>
          <p:nvPr/>
        </p:nvSpPr>
        <p:spPr>
          <a:xfrm>
            <a:off x="6630483" y="6336702"/>
            <a:ext cx="1441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Mangosteen</a:t>
            </a:r>
            <a:endParaRPr kumimoji="1" lang="zh-TW" altLang="en-US" dirty="0"/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EEAD8AF0-30E1-AA8C-5EC8-FEAA30ACA26B}"/>
              </a:ext>
            </a:extLst>
          </p:cNvPr>
          <p:cNvSpPr txBox="1"/>
          <p:nvPr/>
        </p:nvSpPr>
        <p:spPr>
          <a:xfrm>
            <a:off x="4433212" y="1952983"/>
            <a:ext cx="317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400" dirty="0"/>
              <a:t>P(</a:t>
            </a:r>
            <a:r>
              <a:rPr kumimoji="1" lang="en" altLang="zh-TW" sz="2400" dirty="0" err="1"/>
              <a:t>Mangosteen|fruit</a:t>
            </a:r>
            <a:r>
              <a:rPr kumimoji="1" lang="en" altLang="zh-TW" sz="2400" dirty="0"/>
              <a:t>)=?</a:t>
            </a:r>
            <a:endParaRPr kumimoji="1" lang="zh-TW" altLang="en-US" sz="2400" dirty="0"/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B590EBE5-530F-A564-FE9D-76F07E99F3C9}"/>
              </a:ext>
            </a:extLst>
          </p:cNvPr>
          <p:cNvSpPr/>
          <p:nvPr/>
        </p:nvSpPr>
        <p:spPr>
          <a:xfrm>
            <a:off x="8443450" y="2006861"/>
            <a:ext cx="418290" cy="41829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2136CD60-CB00-86DB-6CDC-82C2B1FAFF63}"/>
              </a:ext>
            </a:extLst>
          </p:cNvPr>
          <p:cNvSpPr txBox="1"/>
          <p:nvPr/>
        </p:nvSpPr>
        <p:spPr>
          <a:xfrm>
            <a:off x="8861740" y="2040701"/>
            <a:ext cx="29568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Internal nodes 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帶有</a:t>
            </a:r>
            <a:r>
              <a:rPr kumimoji="1" lang="en-US" altLang="zh-TW" dirty="0"/>
              <a:t> weights)</a:t>
            </a:r>
            <a:endParaRPr kumimoji="1" lang="zh-TW" altLang="en-US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A8DF796D-90D6-8588-C7CD-35C5F2B50503}"/>
              </a:ext>
            </a:extLst>
          </p:cNvPr>
          <p:cNvSpPr txBox="1"/>
          <p:nvPr/>
        </p:nvSpPr>
        <p:spPr>
          <a:xfrm>
            <a:off x="8874495" y="2674574"/>
            <a:ext cx="2956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字典中的字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越上層詞頻越高，結構為 </a:t>
            </a:r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Huffman Tree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88" name="橢圓 87">
            <a:extLst>
              <a:ext uri="{FF2B5EF4-FFF2-40B4-BE49-F238E27FC236}">
                <a16:creationId xmlns:a16="http://schemas.microsoft.com/office/drawing/2014/main" id="{513F54DA-4659-58BB-3E27-B57F33098436}"/>
              </a:ext>
            </a:extLst>
          </p:cNvPr>
          <p:cNvSpPr/>
          <p:nvPr/>
        </p:nvSpPr>
        <p:spPr>
          <a:xfrm>
            <a:off x="8443450" y="2674574"/>
            <a:ext cx="418290" cy="41829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D840112C-CB3E-936F-4370-F6E0473A53CE}"/>
              </a:ext>
            </a:extLst>
          </p:cNvPr>
          <p:cNvCxnSpPr>
            <a:cxnSpLocks/>
          </p:cNvCxnSpPr>
          <p:nvPr/>
        </p:nvCxnSpPr>
        <p:spPr>
          <a:xfrm>
            <a:off x="3518043" y="2395124"/>
            <a:ext cx="460442" cy="25025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76710FE-C55D-142F-74A4-4E5A8F223739}"/>
                  </a:ext>
                </a:extLst>
              </p:cNvPr>
              <p:cNvSpPr txBox="1"/>
              <p:nvPr/>
            </p:nvSpPr>
            <p:spPr>
              <a:xfrm>
                <a:off x="2723690" y="1446589"/>
                <a:ext cx="110581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4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kumimoji="1" lang="en-US" altLang="zh-TW" sz="2400" b="0" i="0" smtClean="0">
                              <a:latin typeface="Cambria Math" panose="02040503050406030204" pitchFamily="18" charset="0"/>
                            </a:rPr>
                            <m:t>fruit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B76710FE-C55D-142F-74A4-4E5A8F2237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3690" y="1446589"/>
                <a:ext cx="1105818" cy="461665"/>
              </a:xfrm>
              <a:prstGeom prst="rect">
                <a:avLst/>
              </a:prstGeom>
              <a:blipFill>
                <a:blip r:embed="rId2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324F6495-FBE0-5B61-C854-4AD13EA29C73}"/>
                  </a:ext>
                </a:extLst>
              </p:cNvPr>
              <p:cNvSpPr txBox="1"/>
              <p:nvPr/>
            </p:nvSpPr>
            <p:spPr>
              <a:xfrm>
                <a:off x="3048862" y="1958826"/>
                <a:ext cx="45617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324F6495-FBE0-5B61-C854-4AD13EA29C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862" y="1958826"/>
                <a:ext cx="456177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BDCEADBE-773B-B936-C1F6-82761D20F178}"/>
                  </a:ext>
                </a:extLst>
              </p:cNvPr>
              <p:cNvSpPr txBox="1"/>
              <p:nvPr/>
            </p:nvSpPr>
            <p:spPr>
              <a:xfrm>
                <a:off x="1471297" y="2838489"/>
                <a:ext cx="45617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BDCEADBE-773B-B936-C1F6-82761D20F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297" y="2838489"/>
                <a:ext cx="456177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EA13BBDB-AE02-C299-7013-97DD88C42B68}"/>
                  </a:ext>
                </a:extLst>
              </p:cNvPr>
              <p:cNvSpPr txBox="1"/>
              <p:nvPr/>
            </p:nvSpPr>
            <p:spPr>
              <a:xfrm>
                <a:off x="4434131" y="2857240"/>
                <a:ext cx="45617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EA13BBDB-AE02-C299-7013-97DD88C42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4131" y="2857240"/>
                <a:ext cx="456177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BDF330F-170D-2DC1-40F3-16AF445BC19D}"/>
                  </a:ext>
                </a:extLst>
              </p:cNvPr>
              <p:cNvSpPr txBox="1"/>
              <p:nvPr/>
            </p:nvSpPr>
            <p:spPr>
              <a:xfrm>
                <a:off x="3284075" y="3826334"/>
                <a:ext cx="45617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EBDF330F-170D-2DC1-40F3-16AF445BC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4075" y="3826334"/>
                <a:ext cx="456177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07CE3336-D42A-6008-51DD-FE04C46F039C}"/>
                  </a:ext>
                </a:extLst>
              </p:cNvPr>
              <p:cNvSpPr txBox="1"/>
              <p:nvPr/>
            </p:nvSpPr>
            <p:spPr>
              <a:xfrm>
                <a:off x="5431452" y="3826334"/>
                <a:ext cx="45617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99" name="文字方塊 98">
                <a:extLst>
                  <a:ext uri="{FF2B5EF4-FFF2-40B4-BE49-F238E27FC236}">
                    <a16:creationId xmlns:a16="http://schemas.microsoft.com/office/drawing/2014/main" id="{07CE3336-D42A-6008-51DD-FE04C46F0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1452" y="3826334"/>
                <a:ext cx="456177" cy="400110"/>
              </a:xfrm>
              <a:prstGeom prst="rect">
                <a:avLst/>
              </a:prstGeom>
              <a:blipFill>
                <a:blip r:embed="rId7"/>
                <a:stretch>
                  <a:fillRect b="-312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03457CE6-A89C-3EEE-8710-048A7ACC01FF}"/>
                  </a:ext>
                </a:extLst>
              </p:cNvPr>
              <p:cNvSpPr txBox="1"/>
              <p:nvPr/>
            </p:nvSpPr>
            <p:spPr>
              <a:xfrm>
                <a:off x="4650064" y="4951696"/>
                <a:ext cx="45617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0" name="文字方塊 99">
                <a:extLst>
                  <a:ext uri="{FF2B5EF4-FFF2-40B4-BE49-F238E27FC236}">
                    <a16:creationId xmlns:a16="http://schemas.microsoft.com/office/drawing/2014/main" id="{03457CE6-A89C-3EEE-8710-048A7ACC01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0064" y="4951696"/>
                <a:ext cx="456177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69DBDC04-683E-B72A-37D9-8983E3284F19}"/>
                  </a:ext>
                </a:extLst>
              </p:cNvPr>
              <p:cNvSpPr txBox="1"/>
              <p:nvPr/>
            </p:nvSpPr>
            <p:spPr>
              <a:xfrm>
                <a:off x="6543472" y="4971418"/>
                <a:ext cx="45617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kumimoji="1" lang="en-US" altLang="zh-TW" sz="2000" b="0" i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1" name="文字方塊 100">
                <a:extLst>
                  <a:ext uri="{FF2B5EF4-FFF2-40B4-BE49-F238E27FC236}">
                    <a16:creationId xmlns:a16="http://schemas.microsoft.com/office/drawing/2014/main" id="{69DBDC04-683E-B72A-37D9-8983E3284F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3472" y="4971418"/>
                <a:ext cx="456177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直線箭頭接點 102">
            <a:extLst>
              <a:ext uri="{FF2B5EF4-FFF2-40B4-BE49-F238E27FC236}">
                <a16:creationId xmlns:a16="http://schemas.microsoft.com/office/drawing/2014/main" id="{1D2878FE-EB2D-6912-86B7-516254E3FAB0}"/>
              </a:ext>
            </a:extLst>
          </p:cNvPr>
          <p:cNvCxnSpPr>
            <a:cxnSpLocks/>
          </p:cNvCxnSpPr>
          <p:nvPr/>
        </p:nvCxnSpPr>
        <p:spPr>
          <a:xfrm>
            <a:off x="4919041" y="3346750"/>
            <a:ext cx="364523" cy="33236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423114CF-EF31-0D65-E64F-21E661AA3398}"/>
              </a:ext>
            </a:extLst>
          </p:cNvPr>
          <p:cNvCxnSpPr>
            <a:cxnSpLocks/>
          </p:cNvCxnSpPr>
          <p:nvPr/>
        </p:nvCxnSpPr>
        <p:spPr>
          <a:xfrm>
            <a:off x="5987725" y="4387411"/>
            <a:ext cx="413074" cy="39361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箭頭接點 106">
            <a:extLst>
              <a:ext uri="{FF2B5EF4-FFF2-40B4-BE49-F238E27FC236}">
                <a16:creationId xmlns:a16="http://schemas.microsoft.com/office/drawing/2014/main" id="{22240DDC-56A4-8FC1-2E51-1F816260E1A8}"/>
              </a:ext>
            </a:extLst>
          </p:cNvPr>
          <p:cNvCxnSpPr>
            <a:cxnSpLocks/>
          </p:cNvCxnSpPr>
          <p:nvPr/>
        </p:nvCxnSpPr>
        <p:spPr>
          <a:xfrm>
            <a:off x="6954466" y="5420398"/>
            <a:ext cx="246151" cy="39356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EB527A4-12A0-E5E9-C72D-F0DBBBCA2298}"/>
              </a:ext>
            </a:extLst>
          </p:cNvPr>
          <p:cNvSpPr txBox="1"/>
          <p:nvPr/>
        </p:nvSpPr>
        <p:spPr>
          <a:xfrm>
            <a:off x="3261523" y="2690900"/>
            <a:ext cx="114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B28E3C3-976E-F17D-8A99-3F8B4B5525B2}"/>
              </a:ext>
            </a:extLst>
          </p:cNvPr>
          <p:cNvSpPr txBox="1"/>
          <p:nvPr/>
        </p:nvSpPr>
        <p:spPr>
          <a:xfrm>
            <a:off x="4312979" y="3586842"/>
            <a:ext cx="114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C8BF67E1-772E-FE60-8806-2D55FE3D088F}"/>
              </a:ext>
            </a:extLst>
          </p:cNvPr>
          <p:cNvSpPr txBox="1"/>
          <p:nvPr/>
        </p:nvSpPr>
        <p:spPr>
          <a:xfrm>
            <a:off x="5292551" y="4605015"/>
            <a:ext cx="114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38F08AC2-4287-A58C-510A-DA493D3D2266}"/>
              </a:ext>
            </a:extLst>
          </p:cNvPr>
          <p:cNvSpPr txBox="1"/>
          <p:nvPr/>
        </p:nvSpPr>
        <p:spPr>
          <a:xfrm>
            <a:off x="7213451" y="5352352"/>
            <a:ext cx="1143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 err="1"/>
              <a:t>Softmax</a:t>
            </a:r>
            <a:endParaRPr kumimoji="1" lang="zh-TW" altLang="en-US" dirty="0"/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016994-99A7-75A0-1E81-0425CFA6E1E5}"/>
              </a:ext>
            </a:extLst>
          </p:cNvPr>
          <p:cNvSpPr txBox="1"/>
          <p:nvPr/>
        </p:nvSpPr>
        <p:spPr>
          <a:xfrm>
            <a:off x="8639476" y="5432605"/>
            <a:ext cx="29568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訓練目標為</a:t>
            </a:r>
            <a:r>
              <a:rPr kumimoji="1" lang="zh-TW" altLang="en-US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最大化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路徑中每個節點經過</a:t>
            </a:r>
            <a:r>
              <a:rPr kumimoji="1" lang="en-US" altLang="zh-TW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後結果相乘的機率值</a:t>
            </a: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736E733-A923-0C16-2A55-B155B4A3A580}"/>
              </a:ext>
            </a:extLst>
          </p:cNvPr>
          <p:cNvSpPr txBox="1"/>
          <p:nvPr/>
        </p:nvSpPr>
        <p:spPr>
          <a:xfrm>
            <a:off x="7975847" y="872796"/>
            <a:ext cx="39365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3192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  <p:bldP spid="94" grpId="0"/>
      <p:bldP spid="110" grpId="0"/>
      <p:bldP spid="110" grpId="1"/>
      <p:bldP spid="111" grpId="0"/>
      <p:bldP spid="111" grpId="1"/>
      <p:bldP spid="112" grpId="0"/>
      <p:bldP spid="112" grpId="1"/>
      <p:bldP spid="113" grpId="0"/>
      <p:bldP spid="11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129443-E50B-2575-8E32-CB551DA76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Negative Sampling Overview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A745EB-EEBB-9902-0D04-0589C7CC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D122DBF-FAF0-4FD8-019C-866337853A62}"/>
              </a:ext>
            </a:extLst>
          </p:cNvPr>
          <p:cNvSpPr txBox="1"/>
          <p:nvPr/>
        </p:nvSpPr>
        <p:spPr>
          <a:xfrm>
            <a:off x="2668215" y="6459622"/>
            <a:ext cx="74196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69450B4-2F31-D91C-6B28-1600E3008A67}"/>
                  </a:ext>
                </a:extLst>
              </p:cNvPr>
              <p:cNvSpPr txBox="1"/>
              <p:nvPr/>
            </p:nvSpPr>
            <p:spPr>
              <a:xfrm>
                <a:off x="1209723" y="1889819"/>
                <a:ext cx="9772554" cy="2812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目標：訓練時不更新整個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TW" altLang="zh-TW" sz="1800" i="1" kern="100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TW" sz="18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sz="18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lang="zh-TW" altLang="zh-TW" sz="1800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→</m:t>
                        </m:r>
                        <m:r>
                          <a:rPr lang="en-US" altLang="zh-TW" sz="1800" i="1" kern="100">
                            <a:effectLst/>
                            <a:latin typeface="Cambria Math" panose="02040503050406030204" pitchFamily="18" charset="0"/>
                            <a:ea typeface="新細明體" panose="02020500000000000000" pitchFamily="18" charset="-120"/>
                            <a:cs typeface="Times New Roman" panose="02020603050405020304" pitchFamily="18" charset="0"/>
                          </a:rPr>
                          <m:t>𝑉</m:t>
                        </m:r>
                      </m:sub>
                    </m:sSub>
                  </m:oMath>
                </a14:m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(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將隱藏狀態轉移至字典大小的分類層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)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，僅更新正確答案以及採樣到 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(sampled) 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的負向字</a:t>
                </a:r>
                <a:endParaRPr kumimoji="1" lang="en-US" altLang="zh-TW" sz="2000" dirty="0"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P(</a:t>
                </a:r>
                <a:r>
                  <a:rPr kumimoji="1" lang="en-US" altLang="zh-TW" sz="2000" dirty="0" err="1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Mangosteen|fruit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)=?</a:t>
                </a:r>
              </a:p>
              <a:p>
                <a:pPr marL="800100" lvl="1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TV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可能跟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fruit 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無關</a:t>
                </a:r>
                <a:endParaRPr kumimoji="1" lang="en-US" altLang="zh-TW" sz="2000" dirty="0"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python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可能也跟 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fruit </a:t>
                </a: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無關</a:t>
                </a:r>
                <a:endParaRPr kumimoji="1" lang="en-US" altLang="zh-TW" sz="2000" dirty="0"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342900" indent="-342900" algn="just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如何採樣負向的字？論文中使用 </a:t>
                </a:r>
                <a:r>
                  <a:rPr kumimoji="1" lang="en-US" altLang="zh-TW" sz="20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Uniform Distribution</a:t>
                </a:r>
              </a:p>
            </p:txBody>
          </p:sp>
        </mc:Choice>
        <mc:Fallback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C69450B4-2F31-D91C-6B28-1600E3008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9723" y="1889819"/>
                <a:ext cx="9772554" cy="2812693"/>
              </a:xfrm>
              <a:prstGeom prst="rect">
                <a:avLst/>
              </a:prstGeom>
              <a:blipFill>
                <a:blip r:embed="rId2"/>
                <a:stretch>
                  <a:fillRect l="-519" r="-649" b="-26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18589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129443-E50B-2575-8E32-CB551DA76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Negative Sampling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A745EB-EEBB-9902-0D04-0589C7CC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5D122DBF-FAF0-4FD8-019C-866337853A62}"/>
              </a:ext>
            </a:extLst>
          </p:cNvPr>
          <p:cNvSpPr txBox="1"/>
          <p:nvPr/>
        </p:nvSpPr>
        <p:spPr>
          <a:xfrm>
            <a:off x="2351746" y="6488239"/>
            <a:ext cx="748850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5672E91F-2E32-5B7E-5789-DDFCC725AAFB}"/>
              </a:ext>
            </a:extLst>
          </p:cNvPr>
          <p:cNvSpPr txBox="1"/>
          <p:nvPr/>
        </p:nvSpPr>
        <p:spPr>
          <a:xfrm>
            <a:off x="653143" y="1861372"/>
            <a:ext cx="317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400" dirty="0"/>
              <a:t>P(</a:t>
            </a:r>
            <a:r>
              <a:rPr kumimoji="1" lang="en" altLang="zh-TW" sz="2400" dirty="0" err="1"/>
              <a:t>Mangosteen|fruit</a:t>
            </a:r>
            <a:r>
              <a:rPr kumimoji="1" lang="en" altLang="zh-TW" sz="2400" dirty="0"/>
              <a:t>)=?</a:t>
            </a:r>
            <a:endParaRPr kumimoji="1" lang="zh-TW" altLang="en-US" sz="2400" dirty="0"/>
          </a:p>
        </p:txBody>
      </p:sp>
      <p:sp>
        <p:nvSpPr>
          <p:cNvPr id="30" name="圓角矩形 29">
            <a:extLst>
              <a:ext uri="{FF2B5EF4-FFF2-40B4-BE49-F238E27FC236}">
                <a16:creationId xmlns:a16="http://schemas.microsoft.com/office/drawing/2014/main" id="{1CCFAED5-224A-8849-E807-9253986835E2}"/>
              </a:ext>
            </a:extLst>
          </p:cNvPr>
          <p:cNvSpPr/>
          <p:nvPr/>
        </p:nvSpPr>
        <p:spPr>
          <a:xfrm>
            <a:off x="2514928" y="3727496"/>
            <a:ext cx="1321026" cy="739322"/>
          </a:xfrm>
          <a:prstGeom prst="round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Dot product</a:t>
            </a:r>
            <a:endParaRPr kumimoji="1" lang="zh-TW" altLang="en-US" sz="2400" dirty="0">
              <a:solidFill>
                <a:schemeClr val="tx1"/>
              </a:solidFill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72A8C2E1-EC3D-4914-AA91-05A430104517}"/>
              </a:ext>
            </a:extLst>
          </p:cNvPr>
          <p:cNvCxnSpPr>
            <a:cxnSpLocks/>
          </p:cNvCxnSpPr>
          <p:nvPr/>
        </p:nvCxnSpPr>
        <p:spPr>
          <a:xfrm>
            <a:off x="4114800" y="4116664"/>
            <a:ext cx="91775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50817BA9-7665-4411-E539-81AC703A62AC}"/>
              </a:ext>
            </a:extLst>
          </p:cNvPr>
          <p:cNvSpPr txBox="1"/>
          <p:nvPr/>
        </p:nvSpPr>
        <p:spPr>
          <a:xfrm>
            <a:off x="6042043" y="2115155"/>
            <a:ext cx="171160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TV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Mangosteen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NLP</a:t>
            </a:r>
          </a:p>
          <a:p>
            <a:r>
              <a:rPr kumimoji="1" lang="en-US" altLang="zh-TW" dirty="0"/>
              <a:t>...</a:t>
            </a:r>
          </a:p>
          <a:p>
            <a:endParaRPr kumimoji="1" lang="en-US" altLang="zh-TW" dirty="0"/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python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zip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zh-TW" altLang="en-US" dirty="0"/>
              <a:t>。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F008D59A-2271-990F-457A-A2EDBEA63AEB}"/>
              </a:ext>
            </a:extLst>
          </p:cNvPr>
          <p:cNvSpPr txBox="1"/>
          <p:nvPr/>
        </p:nvSpPr>
        <p:spPr>
          <a:xfrm>
            <a:off x="7587620" y="2115155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chemeClr val="accent6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en-US" altLang="zh-TW" dirty="0">
              <a:solidFill>
                <a:srgbClr val="FF0000"/>
              </a:solidFill>
            </a:endParaRP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1322D015-BC14-4802-4818-39A9B4DF5D75}"/>
              </a:ext>
            </a:extLst>
          </p:cNvPr>
          <p:cNvCxnSpPr/>
          <p:nvPr/>
        </p:nvCxnSpPr>
        <p:spPr>
          <a:xfrm flipV="1">
            <a:off x="5183943" y="2270939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858816A1-6A3E-ED9F-C773-12BCAA7E84DC}"/>
              </a:ext>
            </a:extLst>
          </p:cNvPr>
          <p:cNvCxnSpPr>
            <a:cxnSpLocks/>
          </p:cNvCxnSpPr>
          <p:nvPr/>
        </p:nvCxnSpPr>
        <p:spPr>
          <a:xfrm flipH="1" flipV="1">
            <a:off x="5183943" y="419445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右大括弧 36">
            <a:extLst>
              <a:ext uri="{FF2B5EF4-FFF2-40B4-BE49-F238E27FC236}">
                <a16:creationId xmlns:a16="http://schemas.microsoft.com/office/drawing/2014/main" id="{35216031-B41F-F608-C54D-9FBAF2BAFCBB}"/>
              </a:ext>
            </a:extLst>
          </p:cNvPr>
          <p:cNvSpPr/>
          <p:nvPr/>
        </p:nvSpPr>
        <p:spPr>
          <a:xfrm>
            <a:off x="8560419" y="2208970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6CA4A-9BAA-E7B7-B4DE-E39EE74BC3BB}"/>
              </a:ext>
            </a:extLst>
          </p:cNvPr>
          <p:cNvSpPr txBox="1"/>
          <p:nvPr/>
        </p:nvSpPr>
        <p:spPr>
          <a:xfrm>
            <a:off x="6028213" y="17195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4FDCF5D9-269C-0798-EBD9-BBD514381DC1}"/>
              </a:ext>
            </a:extLst>
          </p:cNvPr>
          <p:cNvSpPr txBox="1"/>
          <p:nvPr/>
        </p:nvSpPr>
        <p:spPr>
          <a:xfrm>
            <a:off x="7572756" y="171959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B95F6156-B647-1788-CFD9-3961762B7CFC}"/>
              </a:ext>
            </a:extLst>
          </p:cNvPr>
          <p:cNvSpPr txBox="1"/>
          <p:nvPr/>
        </p:nvSpPr>
        <p:spPr>
          <a:xfrm>
            <a:off x="3948229" y="3663092"/>
            <a:ext cx="132102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2000" dirty="0" err="1"/>
              <a:t>Softmax</a:t>
            </a:r>
            <a:endParaRPr kumimoji="1" lang="zh-TW" altLang="en-US" sz="2000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2CA5BAB8-A414-15A2-F9CC-C3393169487F}"/>
              </a:ext>
            </a:extLst>
          </p:cNvPr>
          <p:cNvSpPr txBox="1"/>
          <p:nvPr/>
        </p:nvSpPr>
        <p:spPr>
          <a:xfrm>
            <a:off x="8933697" y="3773991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Vocab</a:t>
            </a:r>
          </a:p>
          <a:p>
            <a:pPr algn="ctr"/>
            <a:r>
              <a:rPr kumimoji="1" lang="en-US" altLang="zh-TW" dirty="0"/>
              <a:t>size</a:t>
            </a:r>
            <a:endParaRPr kumimoji="1"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EE27B41-06EF-7090-BEFD-4C90A3D9832A}"/>
              </a:ext>
            </a:extLst>
          </p:cNvPr>
          <p:cNvSpPr/>
          <p:nvPr/>
        </p:nvSpPr>
        <p:spPr>
          <a:xfrm>
            <a:off x="6028213" y="2088922"/>
            <a:ext cx="2532206" cy="385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1208734-E938-E1C2-AB01-0CC10DF981E0}"/>
              </a:ext>
            </a:extLst>
          </p:cNvPr>
          <p:cNvSpPr/>
          <p:nvPr/>
        </p:nvSpPr>
        <p:spPr>
          <a:xfrm>
            <a:off x="6023979" y="4354044"/>
            <a:ext cx="2532206" cy="3237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78831E80-7748-7FC7-4BBA-7D25FE36F85A}"/>
              </a:ext>
            </a:extLst>
          </p:cNvPr>
          <p:cNvSpPr txBox="1"/>
          <p:nvPr/>
        </p:nvSpPr>
        <p:spPr>
          <a:xfrm>
            <a:off x="8860275" y="2115155"/>
            <a:ext cx="156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Negative word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F982E789-47FA-D60C-420D-21C33DBF5C7B}"/>
              </a:ext>
            </a:extLst>
          </p:cNvPr>
          <p:cNvSpPr txBox="1"/>
          <p:nvPr/>
        </p:nvSpPr>
        <p:spPr>
          <a:xfrm>
            <a:off x="8834340" y="4481469"/>
            <a:ext cx="1561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rgbClr val="FF0000"/>
                </a:solidFill>
              </a:rPr>
              <a:t>Negative word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018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animBg="1"/>
      <p:bldP spid="47" grpId="0"/>
      <p:bldP spid="4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E57E2B-413E-80E9-3714-C6A53AED8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Negative Sampling Details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9A8D9D-758F-4C48-CE78-69277CC37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1EA04AD-C535-BD34-0835-8552F71ED69C}"/>
              </a:ext>
            </a:extLst>
          </p:cNvPr>
          <p:cNvSpPr txBox="1"/>
          <p:nvPr/>
        </p:nvSpPr>
        <p:spPr>
          <a:xfrm>
            <a:off x="1209723" y="1889819"/>
            <a:ext cx="9772554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Negative words </a:t>
            </a:r>
            <a:r>
              <a:rPr kumimoji="1" lang="zh-TW" altLang="en-US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要設定成多少呢？</a:t>
            </a:r>
            <a:endParaRPr kumimoji="1" lang="en-US" altLang="zh-TW" sz="24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5–20 are useful for small training datasets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2–5</a:t>
            </a:r>
            <a:r>
              <a:rPr kumimoji="1" lang="zh-TW" altLang="en-US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en-US" altLang="zh-TW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for large training datasets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(Empirical setting; Hyperparameter)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243352-1137-C1C7-E7E2-80D9533CAE4F}"/>
              </a:ext>
            </a:extLst>
          </p:cNvPr>
          <p:cNvSpPr txBox="1"/>
          <p:nvPr/>
        </p:nvSpPr>
        <p:spPr>
          <a:xfrm>
            <a:off x="3195587" y="6046228"/>
            <a:ext cx="59015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dirty="0"/>
              <a:t>https://</a:t>
            </a:r>
            <a:r>
              <a:rPr kumimoji="1" lang="en" altLang="zh-TW" dirty="0" err="1"/>
              <a:t>radimrehurek.com</a:t>
            </a:r>
            <a:r>
              <a:rPr kumimoji="1" lang="en" altLang="zh-TW" dirty="0"/>
              <a:t>/</a:t>
            </a:r>
            <a:r>
              <a:rPr kumimoji="1" lang="en" altLang="zh-TW" dirty="0" err="1"/>
              <a:t>gensim</a:t>
            </a:r>
            <a:r>
              <a:rPr kumimoji="1" lang="en" altLang="zh-TW" dirty="0"/>
              <a:t>/models/word2vec.html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4BE5800F-CC75-E840-54F6-E28E3A345CA6}"/>
              </a:ext>
            </a:extLst>
          </p:cNvPr>
          <p:cNvSpPr txBox="1"/>
          <p:nvPr/>
        </p:nvSpPr>
        <p:spPr>
          <a:xfrm>
            <a:off x="2415346" y="6459622"/>
            <a:ext cx="73613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799939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E7E392-00F1-61FC-BF38-B0E28AB40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詞向量視覺化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38B8CE-C60A-4A78-2541-F84CEF11B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46151C0-B1BF-7497-8E28-2F7BCC4B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292" y="1557721"/>
            <a:ext cx="6011384" cy="513318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557E704-125A-EF70-D429-ABC780369747}"/>
              </a:ext>
            </a:extLst>
          </p:cNvPr>
          <p:cNvSpPr txBox="1"/>
          <p:nvPr/>
        </p:nvSpPr>
        <p:spPr>
          <a:xfrm>
            <a:off x="7667928" y="3240812"/>
            <a:ext cx="39682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Word embedding model</a:t>
            </a:r>
            <a:r>
              <a:rPr kumimoji="1" lang="en" altLang="zh-TW" sz="2000" dirty="0"/>
              <a:t>: glove-wiki-gigaword-100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Dimension reduction</a:t>
            </a:r>
            <a:r>
              <a:rPr kumimoji="1" lang="en" altLang="zh-TW" sz="2000" dirty="0"/>
              <a:t>: t-SNE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Dataset</a:t>
            </a:r>
            <a:r>
              <a:rPr kumimoji="1" lang="en" altLang="zh-TW" sz="2000" dirty="0"/>
              <a:t>: </a:t>
            </a:r>
            <a:r>
              <a:rPr kumimoji="1" lang="en" altLang="zh-TW" sz="2000" dirty="0" err="1"/>
              <a:t>Mikolov</a:t>
            </a:r>
            <a:r>
              <a:rPr kumimoji="1" lang="en" altLang="zh-TW" sz="2000" dirty="0"/>
              <a:t> et al., 2013</a:t>
            </a:r>
            <a:endParaRPr kumimoji="1" lang="zh-TW" altLang="en-US" sz="2000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1778C95-37F2-B28D-A2C8-77A90C6E23DE}"/>
              </a:ext>
            </a:extLst>
          </p:cNvPr>
          <p:cNvSpPr/>
          <p:nvPr/>
        </p:nvSpPr>
        <p:spPr>
          <a:xfrm>
            <a:off x="1329179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CDC302-2CFE-CC16-3AD9-85A53F6AE5AD}"/>
              </a:ext>
            </a:extLst>
          </p:cNvPr>
          <p:cNvSpPr/>
          <p:nvPr/>
        </p:nvSpPr>
        <p:spPr>
          <a:xfrm>
            <a:off x="4922363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0342A97-F928-6D38-D328-DA1982130823}"/>
              </a:ext>
            </a:extLst>
          </p:cNvPr>
          <p:cNvSpPr txBox="1"/>
          <p:nvPr/>
        </p:nvSpPr>
        <p:spPr>
          <a:xfrm>
            <a:off x="7861955" y="5240911"/>
            <a:ext cx="2978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Try it: https://</a:t>
            </a:r>
            <a:r>
              <a:rPr kumimoji="1" lang="en-US" altLang="zh-TW" dirty="0" err="1"/>
              <a:t>www.cs.cmu.edu</a:t>
            </a:r>
            <a:r>
              <a:rPr kumimoji="1" lang="en-US" altLang="zh-TW" dirty="0"/>
              <a:t>/~</a:t>
            </a:r>
            <a:r>
              <a:rPr kumimoji="1" lang="en-US" altLang="zh-TW" dirty="0" err="1"/>
              <a:t>dst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WordEmbeddingDemo</a:t>
            </a:r>
            <a:r>
              <a:rPr kumimoji="1" lang="en-US" altLang="zh-TW" dirty="0"/>
              <a:t>/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455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0D7C333-BDBC-194B-D818-DC81A3680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dirty="0"/>
              <a:t>Word Analogy (</a:t>
            </a:r>
            <a:r>
              <a:rPr kumimoji="1" lang="zh-TW" altLang="en-US" dirty="0"/>
              <a:t>左：</a:t>
            </a:r>
            <a:r>
              <a:rPr kumimoji="1" lang="en-US" altLang="zh-TW" dirty="0"/>
              <a:t>semantic, </a:t>
            </a:r>
            <a:r>
              <a:rPr kumimoji="1" lang="zh-TW" altLang="en-US" dirty="0"/>
              <a:t>右</a:t>
            </a:r>
            <a:r>
              <a:rPr kumimoji="1" lang="en-US" altLang="zh-TW" dirty="0"/>
              <a:t>: syntactic)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EB1F19-645D-8F69-EB89-1806CEF6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FBF5070-E7E5-4521-1360-45DC52227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900" y="2299034"/>
            <a:ext cx="7188200" cy="26289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1C1F825-FC5B-4D7C-C308-648ED1EB5E87}"/>
              </a:ext>
            </a:extLst>
          </p:cNvPr>
          <p:cNvSpPr txBox="1"/>
          <p:nvPr/>
        </p:nvSpPr>
        <p:spPr>
          <a:xfrm>
            <a:off x="2085139" y="6332635"/>
            <a:ext cx="8021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" altLang="zh-TW" sz="1400" dirty="0" err="1"/>
              <a:t>Mikolov</a:t>
            </a:r>
            <a:r>
              <a:rPr kumimoji="1" lang="en" altLang="zh-TW" sz="1400" dirty="0"/>
              <a:t> et al. “Linguistic regularities in continuous space word representations.” NAACL 2013.</a:t>
            </a:r>
            <a:endParaRPr kumimoji="1" lang="zh-TW" altLang="en-US" sz="14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7203651-94CE-3770-B53D-C131066CF7C2}"/>
              </a:ext>
            </a:extLst>
          </p:cNvPr>
          <p:cNvSpPr txBox="1"/>
          <p:nvPr/>
        </p:nvSpPr>
        <p:spPr>
          <a:xfrm>
            <a:off x="7245626" y="4651514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</a:t>
            </a:r>
            <a:endParaRPr kumimoji="1" lang="zh-TW" alt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A190BB5-ABAF-144D-28B1-3CF8D58052EB}"/>
              </a:ext>
            </a:extLst>
          </p:cNvPr>
          <p:cNvSpPr txBox="1"/>
          <p:nvPr/>
        </p:nvSpPr>
        <p:spPr>
          <a:xfrm>
            <a:off x="2631791" y="2872409"/>
            <a:ext cx="538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a</a:t>
            </a:r>
            <a:endParaRPr kumimoji="1"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9C55855-23B7-37FB-7136-0E7682D9F53D}"/>
              </a:ext>
            </a:extLst>
          </p:cNvPr>
          <p:cNvSpPr txBox="1"/>
          <p:nvPr/>
        </p:nvSpPr>
        <p:spPr>
          <a:xfrm>
            <a:off x="3864243" y="2114368"/>
            <a:ext cx="538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</a:t>
            </a:r>
            <a:endParaRPr kumimoji="1" lang="zh-TW" alt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12B91C7-36AC-BBCA-3F9C-32929548219A}"/>
              </a:ext>
            </a:extLst>
          </p:cNvPr>
          <p:cNvSpPr txBox="1"/>
          <p:nvPr/>
        </p:nvSpPr>
        <p:spPr>
          <a:xfrm>
            <a:off x="3728408" y="3133183"/>
            <a:ext cx="538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</a:t>
            </a:r>
            <a:endParaRPr kumimoji="1"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AED6F9F2-B6D6-01F2-C76E-5BAA1885AD09}"/>
              </a:ext>
            </a:extLst>
          </p:cNvPr>
          <p:cNvSpPr txBox="1"/>
          <p:nvPr/>
        </p:nvSpPr>
        <p:spPr>
          <a:xfrm>
            <a:off x="5143077" y="2424873"/>
            <a:ext cx="538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endParaRPr kumimoji="1"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A137B65-8009-7B6B-0985-11571613A7E5}"/>
              </a:ext>
            </a:extLst>
          </p:cNvPr>
          <p:cNvSpPr txBox="1"/>
          <p:nvPr/>
        </p:nvSpPr>
        <p:spPr>
          <a:xfrm>
            <a:off x="4403034" y="1659603"/>
            <a:ext cx="15703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 - a = d - c</a:t>
            </a:r>
          </a:p>
          <a:p>
            <a:pPr algn="ctr"/>
            <a:r>
              <a:rPr kumimoji="1" lang="en-US" altLang="zh-TW" dirty="0"/>
              <a:t>d = b - a + c</a:t>
            </a:r>
            <a:endParaRPr kumimoji="1"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C7B5A92F-2499-1EF1-8D8E-01959EC93FC6}"/>
              </a:ext>
            </a:extLst>
          </p:cNvPr>
          <p:cNvSpPr txBox="1"/>
          <p:nvPr/>
        </p:nvSpPr>
        <p:spPr>
          <a:xfrm>
            <a:off x="6112328" y="3241741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</a:t>
            </a:r>
            <a:endParaRPr kumimoji="1" lang="zh-TW" altLang="en-US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143DD92-2D23-B877-5EE1-3020EE7601BB}"/>
              </a:ext>
            </a:extLst>
          </p:cNvPr>
          <p:cNvSpPr txBox="1"/>
          <p:nvPr/>
        </p:nvSpPr>
        <p:spPr>
          <a:xfrm>
            <a:off x="8978110" y="3688049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</a:t>
            </a:r>
            <a:endParaRPr kumimoji="1" lang="zh-TW" altLang="en-US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3B0F743-F111-AE30-8AEE-D58877C6D844}"/>
              </a:ext>
            </a:extLst>
          </p:cNvPr>
          <p:cNvSpPr txBox="1"/>
          <p:nvPr/>
        </p:nvSpPr>
        <p:spPr>
          <a:xfrm>
            <a:off x="7752287" y="2328852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</a:t>
            </a:r>
            <a:endParaRPr kumimoji="1"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E02D8FA-6458-8E86-CCDA-622936884687}"/>
              </a:ext>
            </a:extLst>
          </p:cNvPr>
          <p:cNvSpPr txBox="1"/>
          <p:nvPr/>
        </p:nvSpPr>
        <p:spPr>
          <a:xfrm>
            <a:off x="6483392" y="3810954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 - a</a:t>
            </a:r>
            <a:endParaRPr kumimoji="1" lang="zh-TW" altLang="en-US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6FE0401F-66ED-C4EF-2552-36FB25A3CA44}"/>
              </a:ext>
            </a:extLst>
          </p:cNvPr>
          <p:cNvSpPr txBox="1"/>
          <p:nvPr/>
        </p:nvSpPr>
        <p:spPr>
          <a:xfrm>
            <a:off x="8424320" y="2948794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 - c</a:t>
            </a:r>
            <a:endParaRPr kumimoji="1" lang="zh-TW" altLang="en-US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C67A53A-C277-82B4-B190-57995933F186}"/>
              </a:ext>
            </a:extLst>
          </p:cNvPr>
          <p:cNvSpPr txBox="1"/>
          <p:nvPr/>
        </p:nvSpPr>
        <p:spPr>
          <a:xfrm>
            <a:off x="7971183" y="4331024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 - a</a:t>
            </a:r>
            <a:endParaRPr kumimoji="1" lang="zh-TW" altLang="en-US" dirty="0"/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11AABA25-EEBC-6E36-55E1-E5D098F4EE0F}"/>
              </a:ext>
            </a:extLst>
          </p:cNvPr>
          <p:cNvCxnSpPr/>
          <p:nvPr/>
        </p:nvCxnSpPr>
        <p:spPr>
          <a:xfrm flipV="1">
            <a:off x="7006256" y="2796803"/>
            <a:ext cx="706233" cy="43499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F093446-3955-004E-5EE7-68684EB95F24}"/>
              </a:ext>
            </a:extLst>
          </p:cNvPr>
          <p:cNvSpPr txBox="1"/>
          <p:nvPr/>
        </p:nvSpPr>
        <p:spPr>
          <a:xfrm>
            <a:off x="6667816" y="2636795"/>
            <a:ext cx="9337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d - b</a:t>
            </a:r>
            <a:endParaRPr kumimoji="1" lang="zh-TW" altLang="en-US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FDF731C4-E3C9-8A66-53A0-B45D6A7764BB}"/>
              </a:ext>
            </a:extLst>
          </p:cNvPr>
          <p:cNvSpPr txBox="1"/>
          <p:nvPr/>
        </p:nvSpPr>
        <p:spPr>
          <a:xfrm>
            <a:off x="6509008" y="5096064"/>
            <a:ext cx="2924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b – a = d – c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移項</a:t>
            </a:r>
            <a:r>
              <a:rPr kumimoji="1" lang="en-US" altLang="zh-TW" dirty="0"/>
              <a:t>) d – b = c - a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47870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  <p:bldP spid="10" grpId="0"/>
      <p:bldP spid="11" grpId="0"/>
      <p:bldP spid="12" grpId="0"/>
      <p:bldP spid="14" grpId="0"/>
      <p:bldP spid="18" grpId="0"/>
      <p:bldP spid="19" grpId="0"/>
      <p:bldP spid="20" grpId="0"/>
      <p:bldP spid="21" grpId="0"/>
      <p:bldP spid="22" grpId="0"/>
      <p:bldP spid="25" grpId="0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0CB19B-574E-CBD3-6E24-DEBC21C0B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The Two Word2vec Papers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D7F3E2E-4E57-1E22-ED7E-9947F5491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161385A-315D-BFEE-A704-CD5D9864C5B6}"/>
              </a:ext>
            </a:extLst>
          </p:cNvPr>
          <p:cNvSpPr txBox="1"/>
          <p:nvPr/>
        </p:nvSpPr>
        <p:spPr>
          <a:xfrm>
            <a:off x="653143" y="2192761"/>
            <a:ext cx="8834734" cy="2957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dirty="0" err="1">
                <a:ea typeface="Microsoft JhengHei" panose="020B0604030504040204" pitchFamily="34" charset="-120"/>
              </a:rPr>
              <a:t>Mikolov</a:t>
            </a:r>
            <a:r>
              <a:rPr kumimoji="1" lang="en" altLang="zh-TW" dirty="0">
                <a:ea typeface="Microsoft JhengHei" panose="020B0604030504040204" pitchFamily="34" charset="-120"/>
              </a:rPr>
              <a:t> et al. "Efficient estimation of word representations in vector space." </a:t>
            </a:r>
            <a:r>
              <a:rPr kumimoji="1" lang="en" altLang="zh-TW" dirty="0" err="1">
                <a:ea typeface="Microsoft JhengHei" panose="020B0604030504040204" pitchFamily="34" charset="-120"/>
              </a:rPr>
              <a:t>arXiv</a:t>
            </a:r>
            <a:r>
              <a:rPr kumimoji="1" lang="en" altLang="zh-TW" dirty="0">
                <a:ea typeface="Microsoft JhengHei" panose="020B0604030504040204" pitchFamily="34" charset="-120"/>
              </a:rPr>
              <a:t> preprint arXiv:1301.3781 (2013).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dirty="0">
                <a:ea typeface="Microsoft JhengHei" panose="020B0604030504040204" pitchFamily="34" charset="-120"/>
              </a:rPr>
              <a:t>介紹 </a:t>
            </a:r>
            <a:r>
              <a:rPr kumimoji="1" lang="en-US" altLang="zh-TW" dirty="0">
                <a:ea typeface="Microsoft JhengHei" panose="020B0604030504040204" pitchFamily="34" charset="-120"/>
              </a:rPr>
              <a:t>CBOW </a:t>
            </a:r>
            <a:r>
              <a:rPr kumimoji="1" lang="zh-TW" altLang="en-US" dirty="0">
                <a:ea typeface="Microsoft JhengHei" panose="020B0604030504040204" pitchFamily="34" charset="-120"/>
              </a:rPr>
              <a:t>以及 </a:t>
            </a:r>
            <a:r>
              <a:rPr kumimoji="1" lang="en-US" altLang="zh-TW" dirty="0">
                <a:ea typeface="Microsoft JhengHei" panose="020B0604030504040204" pitchFamily="34" charset="-120"/>
              </a:rPr>
              <a:t>Skip-gram</a:t>
            </a:r>
            <a:endParaRPr kumimoji="1" lang="en" altLang="zh-TW" dirty="0">
              <a:ea typeface="Microsoft JhengHei" panose="020B0604030504040204" pitchFamily="34" charset="-120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dirty="0" err="1">
                <a:ea typeface="Microsoft JhengHei" panose="020B0604030504040204" pitchFamily="34" charset="-120"/>
              </a:rPr>
              <a:t>Mikolov</a:t>
            </a:r>
            <a:r>
              <a:rPr kumimoji="1" lang="en" altLang="zh-TW" dirty="0">
                <a:ea typeface="Microsoft JhengHei" panose="020B0604030504040204" pitchFamily="34" charset="-120"/>
              </a:rPr>
              <a:t> et al. "Distributed representations of words and phrases and their compositionality." </a:t>
            </a:r>
            <a:r>
              <a:rPr kumimoji="1" lang="en" altLang="zh-TW" dirty="0" err="1">
                <a:ea typeface="Microsoft JhengHei" panose="020B0604030504040204" pitchFamily="34" charset="-120"/>
              </a:rPr>
              <a:t>NeurIPS</a:t>
            </a:r>
            <a:r>
              <a:rPr kumimoji="1" lang="en" altLang="zh-TW" dirty="0">
                <a:ea typeface="Microsoft JhengHei" panose="020B0604030504040204" pitchFamily="34" charset="-120"/>
              </a:rPr>
              <a:t> 2013.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zh-TW" altLang="en-US" dirty="0">
                <a:ea typeface="Microsoft JhengHei" panose="020B0604030504040204" pitchFamily="34" charset="-120"/>
              </a:rPr>
              <a:t>針對 </a:t>
            </a:r>
            <a:r>
              <a:rPr kumimoji="1" lang="en-US" altLang="zh-TW" dirty="0">
                <a:ea typeface="Microsoft JhengHei" panose="020B0604030504040204" pitchFamily="34" charset="-120"/>
              </a:rPr>
              <a:t>Skip-gram</a:t>
            </a:r>
            <a:r>
              <a:rPr kumimoji="1" lang="zh-TW" altLang="en-US" dirty="0">
                <a:ea typeface="Microsoft JhengHei" panose="020B0604030504040204" pitchFamily="34" charset="-120"/>
              </a:rPr>
              <a:t> 來進行詳細說明，並且介紹加速訓練的方法：</a:t>
            </a:r>
            <a:endParaRPr kumimoji="1" lang="en-US" altLang="zh-TW" dirty="0">
              <a:ea typeface="Microsoft JhengHei" panose="020B0604030504040204" pitchFamily="34" charset="-120"/>
            </a:endParaRPr>
          </a:p>
          <a:p>
            <a:pPr marL="1085850" lvl="2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dirty="0">
                <a:ea typeface="Microsoft JhengHei" panose="020B0604030504040204" pitchFamily="34" charset="-120"/>
              </a:rPr>
              <a:t>(1) Hierarchical </a:t>
            </a:r>
            <a:r>
              <a:rPr kumimoji="1" lang="en" altLang="zh-TW" dirty="0" err="1">
                <a:ea typeface="Microsoft JhengHei" panose="020B0604030504040204" pitchFamily="34" charset="-120"/>
              </a:rPr>
              <a:t>Softmax</a:t>
            </a:r>
            <a:r>
              <a:rPr kumimoji="1" lang="en" altLang="zh-TW" dirty="0">
                <a:ea typeface="Microsoft JhengHei" panose="020B0604030504040204" pitchFamily="34" charset="-120"/>
              </a:rPr>
              <a:t> (2) Negative Sampling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424300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2887</TotalTime>
  <Words>2790</Words>
  <Application>Microsoft Macintosh PowerPoint</Application>
  <PresentationFormat>寬螢幕</PresentationFormat>
  <Paragraphs>610</Paragraphs>
  <Slides>41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41</vt:i4>
      </vt:variant>
    </vt:vector>
  </HeadingPairs>
  <TitlesOfParts>
    <vt:vector size="49" baseType="lpstr">
      <vt:lpstr>Microsoft JhengHei</vt:lpstr>
      <vt:lpstr>Google Sans Text</vt:lpstr>
      <vt:lpstr>Arial</vt:lpstr>
      <vt:lpstr>Calibri</vt:lpstr>
      <vt:lpstr>Cambria Math</vt:lpstr>
      <vt:lpstr>Courier New</vt:lpstr>
      <vt:lpstr>Wingdings</vt:lpstr>
      <vt:lpstr>回顧</vt:lpstr>
      <vt:lpstr>自然語言處理與應用 Natural Language Processing and Applications</vt:lpstr>
      <vt:lpstr>Outline</vt:lpstr>
      <vt:lpstr>影像 vs. 文字</vt:lpstr>
      <vt:lpstr>Embeddings（嵌入）</vt:lpstr>
      <vt:lpstr>Embedding: 把(語義)資訊嵌入到向量中</vt:lpstr>
      <vt:lpstr>詞向量視覺化</vt:lpstr>
      <vt:lpstr>ChatGPT 也是在根據向量的語義進行回答</vt:lpstr>
      <vt:lpstr>Outline</vt:lpstr>
      <vt:lpstr>詞向量 vs. 句向量</vt:lpstr>
      <vt:lpstr>Google Search (Retrieval)</vt:lpstr>
      <vt:lpstr>Google Search vs. 向量化</vt:lpstr>
      <vt:lpstr>Bag-of-words Model</vt:lpstr>
      <vt:lpstr>Bag-of-words Model (Example 1)</vt:lpstr>
      <vt:lpstr>Bag-of-words Model (Example 2)</vt:lpstr>
      <vt:lpstr>TF-IDF</vt:lpstr>
      <vt:lpstr>TF-IDF 為什麼這樣設計？</vt:lpstr>
      <vt:lpstr>TF-IDF 的公式</vt:lpstr>
      <vt:lpstr>Sentence Embeddings: TF-IDF</vt:lpstr>
      <vt:lpstr>TF-IDF 的問題</vt:lpstr>
      <vt:lpstr>Outline</vt:lpstr>
      <vt:lpstr>Word Representations</vt:lpstr>
      <vt:lpstr>詞嵌入：把詞嵌入到向量 (Word2Vec)</vt:lpstr>
      <vt:lpstr>每個字，都是一段向量 – 詞向量</vt:lpstr>
      <vt:lpstr>Word2Vec: CBOW vs. Skip-gram</vt:lpstr>
      <vt:lpstr>How to train? (以 Skip-gram 為例, 1/2)</vt:lpstr>
      <vt:lpstr>Embedding Lookup</vt:lpstr>
      <vt:lpstr>How to train? (以 Skip-gram 為例, 2/2)</vt:lpstr>
      <vt:lpstr>為什麼要取 log?</vt:lpstr>
      <vt:lpstr>Softmax</vt:lpstr>
      <vt:lpstr>Softmax</vt:lpstr>
      <vt:lpstr>Advanced Techniques of Word2vec</vt:lpstr>
      <vt:lpstr>Hierarchical Softmax Overview</vt:lpstr>
      <vt:lpstr>Huffman Tree 快速範例</vt:lpstr>
      <vt:lpstr>Hierarchical Softmax</vt:lpstr>
      <vt:lpstr>Negative Sampling Overview</vt:lpstr>
      <vt:lpstr>Negative Sampling</vt:lpstr>
      <vt:lpstr>Negative Sampling Details</vt:lpstr>
      <vt:lpstr>詞向量視覺化</vt:lpstr>
      <vt:lpstr>Word Analogy (左：semantic, 右: syntactic)</vt:lpstr>
      <vt:lpstr>The Two Word2vec Papers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552</cp:revision>
  <dcterms:created xsi:type="dcterms:W3CDTF">2025-02-07T09:05:59Z</dcterms:created>
  <dcterms:modified xsi:type="dcterms:W3CDTF">2026-03-02T05:05:26Z</dcterms:modified>
</cp:coreProperties>
</file>