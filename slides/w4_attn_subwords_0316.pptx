
<file path=[Content_Types].xml><?xml version="1.0" encoding="utf-8"?>
<Types xmlns="http://schemas.openxmlformats.org/package/2006/content-types">
  <Default Extension="jpeg" ContentType="image/jpeg"/>
  <Default Extension="png" ContentType="image/png"/>
  <Default Extension="rels" ContentType="application/vnd.openxmlformats-package.relationships+xml"/>
  <Default Extension="svg" ContentType="image/svg+xml"/>
  <Default Extension="xml" ContentType="application/xml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17.xml" ContentType="application/vnd.openxmlformats-officedocument.presentationml.slide+xml"/>
  <Override PartName="/ppt/slides/slide18.xml" ContentType="application/vnd.openxmlformats-officedocument.presentationml.slide+xml"/>
  <Override PartName="/ppt/slides/slide19.xml" ContentType="application/vnd.openxmlformats-officedocument.presentationml.slide+xml"/>
  <Override PartName="/ppt/slides/slide20.xml" ContentType="application/vnd.openxmlformats-officedocument.presentationml.slide+xml"/>
  <Override PartName="/ppt/slides/slide21.xml" ContentType="application/vnd.openxmlformats-officedocument.presentationml.slide+xml"/>
  <Override PartName="/ppt/slides/slide22.xml" ContentType="application/vnd.openxmlformats-officedocument.presentationml.slide+xml"/>
  <Override PartName="/ppt/slides/slide23.xml" ContentType="application/vnd.openxmlformats-officedocument.presentationml.slide+xml"/>
  <Override PartName="/ppt/slides/slide24.xml" ContentType="application/vnd.openxmlformats-officedocument.presentationml.slide+xml"/>
  <Override PartName="/ppt/slides/slide25.xml" ContentType="application/vnd.openxmlformats-officedocument.presentationml.slide+xml"/>
  <Override PartName="/ppt/slides/slide26.xml" ContentType="application/vnd.openxmlformats-officedocument.presentationml.slide+xml"/>
  <Override PartName="/ppt/slides/slide27.xml" ContentType="application/vnd.openxmlformats-officedocument.presentationml.slide+xml"/>
  <Override PartName="/ppt/slides/slide28.xml" ContentType="application/vnd.openxmlformats-officedocument.presentationml.slide+xml"/>
  <Override PartName="/ppt/slides/slide29.xml" ContentType="application/vnd.openxmlformats-officedocument.presentationml.slide+xml"/>
  <Override PartName="/ppt/slides/slide30.xml" ContentType="application/vnd.openxmlformats-officedocument.presentationml.slide+xml"/>
  <Override PartName="/ppt/slides/slide31.xml" ContentType="application/vnd.openxmlformats-officedocument.presentationml.slide+xml"/>
  <Override PartName="/ppt/slides/slide32.xml" ContentType="application/vnd.openxmlformats-officedocument.presentationml.slide+xml"/>
  <Override PartName="/ppt/slides/slide33.xml" ContentType="application/vnd.openxmlformats-officedocument.presentationml.slide+xml"/>
  <Override PartName="/ppt/slides/slide34.xml" ContentType="application/vnd.openxmlformats-officedocument.presentationml.slide+xml"/>
  <Override PartName="/ppt/slides/slide35.xml" ContentType="application/vnd.openxmlformats-officedocument.presentationml.slide+xml"/>
  <Override PartName="/ppt/slides/slide36.xml" ContentType="application/vnd.openxmlformats-officedocument.presentationml.slide+xml"/>
  <Override PartName="/ppt/slides/slide37.xml" ContentType="application/vnd.openxmlformats-officedocument.presentationml.slide+xml"/>
  <Override PartName="/ppt/slides/slide38.xml" ContentType="application/vnd.openxmlformats-officedocument.presentationml.slide+xml"/>
  <Override PartName="/ppt/slides/slide39.xml" ContentType="application/vnd.openxmlformats-officedocument.presentationml.slide+xml"/>
  <Override PartName="/ppt/slides/slide40.xml" ContentType="application/vnd.openxmlformats-officedocument.presentationml.slide+xml"/>
  <Override PartName="/ppt/slides/slide41.xml" ContentType="application/vnd.openxmlformats-officedocument.presentationml.slide+xml"/>
  <Override PartName="/ppt/slides/slide42.xml" ContentType="application/vnd.openxmlformats-officedocument.presentationml.slide+xml"/>
  <Override PartName="/ppt/slides/slide43.xml" ContentType="application/vnd.openxmlformats-officedocument.presentationml.slide+xml"/>
  <Override PartName="/ppt/slides/slide44.xml" ContentType="application/vnd.openxmlformats-officedocument.presentationml.slide+xml"/>
  <Override PartName="/ppt/slides/slide45.xml" ContentType="application/vnd.openxmlformats-officedocument.presentationml.slide+xml"/>
  <Override PartName="/ppt/slides/slide46.xml" ContentType="application/vnd.openxmlformats-officedocument.presentationml.slide+xml"/>
  <Override PartName="/ppt/slides/slide47.xml" ContentType="application/vnd.openxmlformats-officedocument.presentationml.slide+xml"/>
  <Override PartName="/ppt/slides/slide48.xml" ContentType="application/vnd.openxmlformats-officedocument.presentationml.slide+xml"/>
  <Override PartName="/ppt/slides/slide49.xml" ContentType="application/vnd.openxmlformats-officedocument.presentationml.slide+xml"/>
  <Override PartName="/ppt/slides/slide50.xml" ContentType="application/vnd.openxmlformats-officedocument.presentationml.slide+xml"/>
  <Override PartName="/ppt/slides/slide51.xml" ContentType="application/vnd.openxmlformats-officedocument.presentationml.slide+xml"/>
  <Override PartName="/ppt/slides/slide52.xml" ContentType="application/vnd.openxmlformats-officedocument.presentationml.slide+xml"/>
  <Override PartName="/ppt/slides/slide53.xml" ContentType="application/vnd.openxmlformats-officedocument.presentationml.slide+xml"/>
  <Override PartName="/ppt/slides/slide54.xml" ContentType="application/vnd.openxmlformats-officedocument.presentationml.slide+xml"/>
  <Override PartName="/ppt/slides/slide55.xml" ContentType="application/vnd.openxmlformats-officedocument.presentationml.slide+xml"/>
  <Override PartName="/ppt/notesMasters/notesMaster1.xml" ContentType="application/vnd.openxmlformats-officedocument.presentationml.notesMaster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theme/theme2.xml" ContentType="application/vnd.openxmlformats-officedocument.theme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ppt/notesSlides/notesSlide12.xml" ContentType="application/vnd.openxmlformats-officedocument.presentationml.notesSlide+xml"/>
  <Override PartName="/ppt/notesSlides/notesSlide13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<Relationship Id="rId3" Type="http://schemas.openxmlformats.org/package/2006/relationships/metadata/core-properties" Target="docProps/core.xml"/><Relationship Id="rId2" Type="http://schemas.openxmlformats.org/package/2006/relationships/metadata/thumbnail" Target="docProps/thumbnail.jpeg"/><Relationship Id="rId1" Type="http://schemas.openxmlformats.org/officeDocument/2006/relationships/officeDocument" Target="ppt/presentation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>
  <p:sldMasterIdLst>
    <p:sldMasterId id="2147483708" r:id="rId1"/>
  </p:sldMasterIdLst>
  <p:notesMasterIdLst>
    <p:notesMasterId r:id="rId57"/>
  </p:notesMasterIdLst>
  <p:sldIdLst>
    <p:sldId id="508" r:id="rId2"/>
    <p:sldId id="740" r:id="rId3"/>
    <p:sldId id="518" r:id="rId4"/>
    <p:sldId id="627" r:id="rId5"/>
    <p:sldId id="263" r:id="rId6"/>
    <p:sldId id="615" r:id="rId7"/>
    <p:sldId id="264" r:id="rId8"/>
    <p:sldId id="281" r:id="rId9"/>
    <p:sldId id="755" r:id="rId10"/>
    <p:sldId id="756" r:id="rId11"/>
    <p:sldId id="304" r:id="rId12"/>
    <p:sldId id="282" r:id="rId13"/>
    <p:sldId id="560" r:id="rId14"/>
    <p:sldId id="265" r:id="rId15"/>
    <p:sldId id="628" r:id="rId16"/>
    <p:sldId id="298" r:id="rId17"/>
    <p:sldId id="257" r:id="rId18"/>
    <p:sldId id="284" r:id="rId19"/>
    <p:sldId id="285" r:id="rId20"/>
    <p:sldId id="286" r:id="rId21"/>
    <p:sldId id="287" r:id="rId22"/>
    <p:sldId id="288" r:id="rId23"/>
    <p:sldId id="289" r:id="rId24"/>
    <p:sldId id="290" r:id="rId25"/>
    <p:sldId id="291" r:id="rId26"/>
    <p:sldId id="292" r:id="rId27"/>
    <p:sldId id="293" r:id="rId28"/>
    <p:sldId id="294" r:id="rId29"/>
    <p:sldId id="295" r:id="rId30"/>
    <p:sldId id="296" r:id="rId31"/>
    <p:sldId id="297" r:id="rId32"/>
    <p:sldId id="299" r:id="rId33"/>
    <p:sldId id="629" r:id="rId34"/>
    <p:sldId id="300" r:id="rId35"/>
    <p:sldId id="614" r:id="rId36"/>
    <p:sldId id="743" r:id="rId37"/>
    <p:sldId id="744" r:id="rId38"/>
    <p:sldId id="745" r:id="rId39"/>
    <p:sldId id="741" r:id="rId40"/>
    <p:sldId id="742" r:id="rId41"/>
    <p:sldId id="635" r:id="rId42"/>
    <p:sldId id="637" r:id="rId43"/>
    <p:sldId id="638" r:id="rId44"/>
    <p:sldId id="746" r:id="rId45"/>
    <p:sldId id="267" r:id="rId46"/>
    <p:sldId id="749" r:id="rId47"/>
    <p:sldId id="750" r:id="rId48"/>
    <p:sldId id="752" r:id="rId49"/>
    <p:sldId id="751" r:id="rId50"/>
    <p:sldId id="747" r:id="rId51"/>
    <p:sldId id="753" r:id="rId52"/>
    <p:sldId id="754" r:id="rId53"/>
    <p:sldId id="326" r:id="rId54"/>
    <p:sldId id="639" r:id="rId55"/>
    <p:sldId id="739" r:id="rId56"/>
  </p:sldIdLst>
  <p:sldSz cx="12192000" cy="6858000"/>
  <p:notesSz cx="6858000" cy="9144000"/>
  <p:defaultTextStyle>
    <a:defPPr>
      <a:defRPr lang="zh-TW"/>
    </a:defPPr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521415D9-36F7-43E2-AB2F-B90AF26B5E84}">
      <p14:sectionLst xmlns:p14="http://schemas.microsoft.com/office/powerpoint/2010/main">
        <p14:section name="預設章節" id="{F773BFB9-3CF9-6F4C-8A7C-856EA42EA4CE}">
          <p14:sldIdLst>
            <p14:sldId id="508"/>
            <p14:sldId id="740"/>
            <p14:sldId id="518"/>
            <p14:sldId id="627"/>
            <p14:sldId id="263"/>
            <p14:sldId id="615"/>
            <p14:sldId id="264"/>
            <p14:sldId id="281"/>
            <p14:sldId id="755"/>
            <p14:sldId id="756"/>
            <p14:sldId id="304"/>
            <p14:sldId id="282"/>
            <p14:sldId id="560"/>
            <p14:sldId id="265"/>
            <p14:sldId id="628"/>
            <p14:sldId id="298"/>
            <p14:sldId id="257"/>
            <p14:sldId id="284"/>
            <p14:sldId id="285"/>
            <p14:sldId id="286"/>
            <p14:sldId id="287"/>
            <p14:sldId id="288"/>
            <p14:sldId id="289"/>
            <p14:sldId id="290"/>
            <p14:sldId id="291"/>
            <p14:sldId id="292"/>
            <p14:sldId id="293"/>
            <p14:sldId id="294"/>
            <p14:sldId id="295"/>
            <p14:sldId id="296"/>
            <p14:sldId id="297"/>
            <p14:sldId id="299"/>
            <p14:sldId id="629"/>
            <p14:sldId id="300"/>
            <p14:sldId id="614"/>
            <p14:sldId id="743"/>
            <p14:sldId id="744"/>
            <p14:sldId id="745"/>
            <p14:sldId id="741"/>
            <p14:sldId id="742"/>
            <p14:sldId id="635"/>
            <p14:sldId id="637"/>
            <p14:sldId id="638"/>
            <p14:sldId id="746"/>
            <p14:sldId id="267"/>
            <p14:sldId id="749"/>
            <p14:sldId id="750"/>
            <p14:sldId id="752"/>
            <p14:sldId id="751"/>
            <p14:sldId id="747"/>
            <p14:sldId id="753"/>
            <p14:sldId id="754"/>
            <p14:sldId id="326"/>
            <p14:sldId id="639"/>
            <p14:sldId id="739"/>
          </p14:sldIdLst>
        </p14:section>
      </p14:sectionLst>
    </p:ext>
    <p:ext uri="{EFAFB233-063F-42B5-8137-9DF3F51BA10A}">
      <p15:sldGuideLst xmlns:p15="http://schemas.microsoft.com/office/powerpoint/2012/main"/>
    </p:ext>
    <p:ext uri="{2D200454-40CA-4A62-9FC3-DE9A4176ACB9}">
      <p15:notesGuideLst xmlns:p15="http://schemas.microsoft.com/office/powerpoint/2012/main"/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clrMru>
    <a:srgbClr val="05AED6"/>
    <a:srgbClr val="FF9400"/>
    <a:srgbClr val="FFCE9E"/>
  </p:clrMru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220"/>
    </p:ext>
    <p:ext uri="{FD5EFAAD-0ECE-453E-9831-46B23BE46B34}">
      <p15:chartTrackingRefBased xmlns:p15="http://schemas.microsoft.com/office/powerpoint/2012/main" val="1"/>
    </p:ext>
  </p:extLst>
</p:presentationPr>
</file>

<file path=ppt/tableStyles.xml><?xml version="1.0" encoding="utf-8"?>
<a:tblStyleLst xmlns:a="http://schemas.openxmlformats.org/drawingml/2006/main" def="{5C22544A-7EE6-4342-B048-85BDC9FD1C3A}">
  <a:tblStyle styleId="{5C22544A-7EE6-4342-B048-85BDC9FD1C3A}" styleName="中等深淺樣式 2 - 輔色 1">
    <a:wholeTbl>
      <a:tcTxStyle>
        <a:fontRef idx="minor">
          <a:prstClr val="black"/>
        </a:fontRef>
        <a:schemeClr val="dk1"/>
      </a:tcTxStyle>
      <a:tcStyle>
        <a:tcBdr>
          <a:left>
            <a:ln w="12700" cmpd="sng">
              <a:solidFill>
                <a:schemeClr val="lt1"/>
              </a:solidFill>
            </a:ln>
          </a:left>
          <a:right>
            <a:ln w="12700" cmpd="sng">
              <a:solidFill>
                <a:schemeClr val="lt1"/>
              </a:solidFill>
            </a:ln>
          </a:right>
          <a:top>
            <a:ln w="12700" cmpd="sng">
              <a:solidFill>
                <a:schemeClr val="lt1"/>
              </a:solidFill>
            </a:ln>
          </a:top>
          <a:bottom>
            <a:ln w="12700" cmpd="sng">
              <a:solidFill>
                <a:schemeClr val="lt1"/>
              </a:solidFill>
            </a:ln>
          </a:bottom>
          <a:insideH>
            <a:ln w="12700" cmpd="sng">
              <a:solidFill>
                <a:schemeClr val="lt1"/>
              </a:solidFill>
            </a:ln>
          </a:insideH>
          <a:insideV>
            <a:ln w="12700" cmpd="sng">
              <a:solidFill>
                <a:schemeClr val="lt1"/>
              </a:solidFill>
            </a:ln>
          </a:insideV>
        </a:tcBdr>
        <a:fill>
          <a:solidFill>
            <a:schemeClr val="accent1">
              <a:tint val="20000"/>
            </a:schemeClr>
          </a:solidFill>
        </a:fill>
      </a:tcStyle>
    </a:wholeTbl>
    <a:band1H>
      <a:tcStyle>
        <a:tcBdr/>
        <a:fill>
          <a:solidFill>
            <a:schemeClr val="accent1">
              <a:tint val="40000"/>
            </a:schemeClr>
          </a:solidFill>
        </a:fill>
      </a:tcStyle>
    </a:band1H>
    <a:band2H>
      <a:tcStyle>
        <a:tcBdr/>
      </a:tcStyle>
    </a:band2H>
    <a:band1V>
      <a:tcStyle>
        <a:tcBdr/>
        <a:fill>
          <a:solidFill>
            <a:schemeClr val="accent1">
              <a:tint val="40000"/>
            </a:schemeClr>
          </a:solidFill>
        </a:fill>
      </a:tcStyle>
    </a:band1V>
    <a:band2V>
      <a:tcStyle>
        <a:tcBdr/>
      </a:tcStyle>
    </a:band2V>
    <a:la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1"/>
          </a:solidFill>
        </a:fill>
      </a:tcStyle>
    </a:lastCol>
    <a:fir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1"/>
          </a:solidFill>
        </a:fill>
      </a:tcStyle>
    </a:firstCol>
    <a:lastRow>
      <a:tcTxStyle b="on">
        <a:fontRef idx="minor">
          <a:prstClr val="black"/>
        </a:fontRef>
        <a:schemeClr val="lt1"/>
      </a:tcTxStyle>
      <a:tcStyle>
        <a:tcBdr>
          <a:top>
            <a:ln w="38100" cmpd="sng">
              <a:solidFill>
                <a:schemeClr val="lt1"/>
              </a:solidFill>
            </a:ln>
          </a:top>
        </a:tcBdr>
        <a:fill>
          <a:solidFill>
            <a:schemeClr val="accent1"/>
          </a:solidFill>
        </a:fill>
      </a:tcStyle>
    </a:lastRow>
    <a:firstRow>
      <a:tcTxStyle b="on">
        <a:fontRef idx="minor">
          <a:prstClr val="black"/>
        </a:fontRef>
        <a:schemeClr val="lt1"/>
      </a:tcTxStyle>
      <a:tcStyle>
        <a:tcBdr>
          <a:bottom>
            <a:ln w="38100" cmpd="sng">
              <a:solidFill>
                <a:schemeClr val="lt1"/>
              </a:solidFill>
            </a:ln>
          </a:bottom>
        </a:tcBdr>
        <a:fill>
          <a:solidFill>
            <a:schemeClr val="accent1"/>
          </a:solidFill>
        </a:fill>
      </a:tcStyle>
    </a:firstRow>
  </a:tblStyle>
</a:tblStyleLst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>
    <p:restoredLeft sz="13354"/>
    <p:restoredTop sz="87416"/>
  </p:normalViewPr>
  <p:slideViewPr>
    <p:cSldViewPr snapToGrid="0">
      <p:cViewPr varScale="1">
        <p:scale>
          <a:sx n="132" d="100"/>
          <a:sy n="132" d="100"/>
        </p:scale>
        <p:origin x="1424" y="168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notesViewPr>
    <p:cSldViewPr snapToGrid="0">
      <p:cViewPr varScale="1">
        <p:scale>
          <a:sx n="93" d="100"/>
          <a:sy n="93" d="100"/>
        </p:scale>
        <p:origin x="3568" y="216"/>
      </p:cViewPr>
      <p:guideLst/>
    </p:cSldViewPr>
  </p:notesViewPr>
  <p:gridSpacing cx="72008" cy="72008"/>
</p:viewPr>
</file>

<file path=ppt/_rels/presentation.xml.rels><?xml version="1.0" encoding="UTF-8" standalone="yes"?>
<Relationships xmlns="http://schemas.openxmlformats.org/package/2006/relationships"><Relationship Id="rId13" Type="http://schemas.openxmlformats.org/officeDocument/2006/relationships/slide" Target="slides/slide12.xml"/><Relationship Id="rId18" Type="http://schemas.openxmlformats.org/officeDocument/2006/relationships/slide" Target="slides/slide17.xml"/><Relationship Id="rId26" Type="http://schemas.openxmlformats.org/officeDocument/2006/relationships/slide" Target="slides/slide25.xml"/><Relationship Id="rId39" Type="http://schemas.openxmlformats.org/officeDocument/2006/relationships/slide" Target="slides/slide38.xml"/><Relationship Id="rId21" Type="http://schemas.openxmlformats.org/officeDocument/2006/relationships/slide" Target="slides/slide20.xml"/><Relationship Id="rId34" Type="http://schemas.openxmlformats.org/officeDocument/2006/relationships/slide" Target="slides/slide33.xml"/><Relationship Id="rId42" Type="http://schemas.openxmlformats.org/officeDocument/2006/relationships/slide" Target="slides/slide41.xml"/><Relationship Id="rId47" Type="http://schemas.openxmlformats.org/officeDocument/2006/relationships/slide" Target="slides/slide46.xml"/><Relationship Id="rId50" Type="http://schemas.openxmlformats.org/officeDocument/2006/relationships/slide" Target="slides/slide49.xml"/><Relationship Id="rId55" Type="http://schemas.openxmlformats.org/officeDocument/2006/relationships/slide" Target="slides/slide54.xml"/><Relationship Id="rId7" Type="http://schemas.openxmlformats.org/officeDocument/2006/relationships/slide" Target="slides/slide6.xml"/><Relationship Id="rId2" Type="http://schemas.openxmlformats.org/officeDocument/2006/relationships/slide" Target="slides/slide1.xml"/><Relationship Id="rId16" Type="http://schemas.openxmlformats.org/officeDocument/2006/relationships/slide" Target="slides/slide15.xml"/><Relationship Id="rId29" Type="http://schemas.openxmlformats.org/officeDocument/2006/relationships/slide" Target="slides/slide28.xml"/><Relationship Id="rId11" Type="http://schemas.openxmlformats.org/officeDocument/2006/relationships/slide" Target="slides/slide10.xml"/><Relationship Id="rId24" Type="http://schemas.openxmlformats.org/officeDocument/2006/relationships/slide" Target="slides/slide23.xml"/><Relationship Id="rId32" Type="http://schemas.openxmlformats.org/officeDocument/2006/relationships/slide" Target="slides/slide31.xml"/><Relationship Id="rId37" Type="http://schemas.openxmlformats.org/officeDocument/2006/relationships/slide" Target="slides/slide36.xml"/><Relationship Id="rId40" Type="http://schemas.openxmlformats.org/officeDocument/2006/relationships/slide" Target="slides/slide39.xml"/><Relationship Id="rId45" Type="http://schemas.openxmlformats.org/officeDocument/2006/relationships/slide" Target="slides/slide44.xml"/><Relationship Id="rId53" Type="http://schemas.openxmlformats.org/officeDocument/2006/relationships/slide" Target="slides/slide52.xml"/><Relationship Id="rId58" Type="http://schemas.openxmlformats.org/officeDocument/2006/relationships/presProps" Target="presProps.xml"/><Relationship Id="rId5" Type="http://schemas.openxmlformats.org/officeDocument/2006/relationships/slide" Target="slides/slide4.xml"/><Relationship Id="rId61" Type="http://schemas.openxmlformats.org/officeDocument/2006/relationships/tableStyles" Target="tableStyles.xml"/><Relationship Id="rId19" Type="http://schemas.openxmlformats.org/officeDocument/2006/relationships/slide" Target="slides/slide18.xml"/><Relationship Id="rId14" Type="http://schemas.openxmlformats.org/officeDocument/2006/relationships/slide" Target="slides/slide13.xml"/><Relationship Id="rId22" Type="http://schemas.openxmlformats.org/officeDocument/2006/relationships/slide" Target="slides/slide21.xml"/><Relationship Id="rId27" Type="http://schemas.openxmlformats.org/officeDocument/2006/relationships/slide" Target="slides/slide26.xml"/><Relationship Id="rId30" Type="http://schemas.openxmlformats.org/officeDocument/2006/relationships/slide" Target="slides/slide29.xml"/><Relationship Id="rId35" Type="http://schemas.openxmlformats.org/officeDocument/2006/relationships/slide" Target="slides/slide34.xml"/><Relationship Id="rId43" Type="http://schemas.openxmlformats.org/officeDocument/2006/relationships/slide" Target="slides/slide42.xml"/><Relationship Id="rId48" Type="http://schemas.openxmlformats.org/officeDocument/2006/relationships/slide" Target="slides/slide47.xml"/><Relationship Id="rId56" Type="http://schemas.openxmlformats.org/officeDocument/2006/relationships/slide" Target="slides/slide55.xml"/><Relationship Id="rId8" Type="http://schemas.openxmlformats.org/officeDocument/2006/relationships/slide" Target="slides/slide7.xml"/><Relationship Id="rId51" Type="http://schemas.openxmlformats.org/officeDocument/2006/relationships/slide" Target="slides/slide50.xml"/><Relationship Id="rId3" Type="http://schemas.openxmlformats.org/officeDocument/2006/relationships/slide" Target="slides/slide2.xml"/><Relationship Id="rId12" Type="http://schemas.openxmlformats.org/officeDocument/2006/relationships/slide" Target="slides/slide11.xml"/><Relationship Id="rId17" Type="http://schemas.openxmlformats.org/officeDocument/2006/relationships/slide" Target="slides/slide16.xml"/><Relationship Id="rId25" Type="http://schemas.openxmlformats.org/officeDocument/2006/relationships/slide" Target="slides/slide24.xml"/><Relationship Id="rId33" Type="http://schemas.openxmlformats.org/officeDocument/2006/relationships/slide" Target="slides/slide32.xml"/><Relationship Id="rId38" Type="http://schemas.openxmlformats.org/officeDocument/2006/relationships/slide" Target="slides/slide37.xml"/><Relationship Id="rId46" Type="http://schemas.openxmlformats.org/officeDocument/2006/relationships/slide" Target="slides/slide45.xml"/><Relationship Id="rId59" Type="http://schemas.openxmlformats.org/officeDocument/2006/relationships/viewProps" Target="viewProps.xml"/><Relationship Id="rId20" Type="http://schemas.openxmlformats.org/officeDocument/2006/relationships/slide" Target="slides/slide19.xml"/><Relationship Id="rId41" Type="http://schemas.openxmlformats.org/officeDocument/2006/relationships/slide" Target="slides/slide40.xml"/><Relationship Id="rId54" Type="http://schemas.openxmlformats.org/officeDocument/2006/relationships/slide" Target="slides/slide53.xml"/><Relationship Id="rId1" Type="http://schemas.openxmlformats.org/officeDocument/2006/relationships/slideMaster" Target="slideMasters/slideMaster1.xml"/><Relationship Id="rId6" Type="http://schemas.openxmlformats.org/officeDocument/2006/relationships/slide" Target="slides/slide5.xml"/><Relationship Id="rId15" Type="http://schemas.openxmlformats.org/officeDocument/2006/relationships/slide" Target="slides/slide14.xml"/><Relationship Id="rId23" Type="http://schemas.openxmlformats.org/officeDocument/2006/relationships/slide" Target="slides/slide22.xml"/><Relationship Id="rId28" Type="http://schemas.openxmlformats.org/officeDocument/2006/relationships/slide" Target="slides/slide27.xml"/><Relationship Id="rId36" Type="http://schemas.openxmlformats.org/officeDocument/2006/relationships/slide" Target="slides/slide35.xml"/><Relationship Id="rId49" Type="http://schemas.openxmlformats.org/officeDocument/2006/relationships/slide" Target="slides/slide48.xml"/><Relationship Id="rId57" Type="http://schemas.openxmlformats.org/officeDocument/2006/relationships/notesMaster" Target="notesMasters/notesMaster1.xml"/><Relationship Id="rId10" Type="http://schemas.openxmlformats.org/officeDocument/2006/relationships/slide" Target="slides/slide9.xml"/><Relationship Id="rId31" Type="http://schemas.openxmlformats.org/officeDocument/2006/relationships/slide" Target="slides/slide30.xml"/><Relationship Id="rId44" Type="http://schemas.openxmlformats.org/officeDocument/2006/relationships/slide" Target="slides/slide43.xml"/><Relationship Id="rId52" Type="http://schemas.openxmlformats.org/officeDocument/2006/relationships/slide" Target="slides/slide51.xml"/><Relationship Id="rId60" Type="http://schemas.openxmlformats.org/officeDocument/2006/relationships/theme" Target="theme/theme1.xml"/><Relationship Id="rId4" Type="http://schemas.openxmlformats.org/officeDocument/2006/relationships/slide" Target="slides/slide3.xml"/><Relationship Id="rId9" Type="http://schemas.openxmlformats.org/officeDocument/2006/relationships/slide" Target="slides/slide8.xml"/></Relationships>
</file>

<file path=ppt/notesMasters/_rels/notesMaster1.xml.rels><?xml version="1.0" encoding="UTF-8" standalone="yes"?>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頁首版面配置區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kumimoji="1" lang="zh-TW" altLang="en-US"/>
          </a:p>
        </p:txBody>
      </p:sp>
      <p:sp>
        <p:nvSpPr>
          <p:cNvPr id="3" name="日期版面配置區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71DBE83B-754F-B948-8CD7-D8047F5EE2C4}" type="datetimeFigureOut">
              <a:rPr kumimoji="1" lang="zh-TW" altLang="en-US" smtClean="0"/>
              <a:t>2026/3/23</a:t>
            </a:fld>
            <a:endParaRPr kumimoji="1" lang="zh-TW" altLang="en-US"/>
          </a:p>
        </p:txBody>
      </p:sp>
      <p:sp>
        <p:nvSpPr>
          <p:cNvPr id="4" name="投影片影像版面配置區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zh-TW" altLang="en-US"/>
          </a:p>
        </p:txBody>
      </p:sp>
      <p:sp>
        <p:nvSpPr>
          <p:cNvPr id="5" name="備忘稿版面配置區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kumimoji="1" lang="zh-TW" altLang="en-US"/>
              <a:t>按一下以編輯母片文字樣式</a:t>
            </a:r>
          </a:p>
          <a:p>
            <a:pPr lvl="1"/>
            <a:r>
              <a:rPr kumimoji="1" lang="zh-TW" altLang="en-US"/>
              <a:t>第二層</a:t>
            </a:r>
          </a:p>
          <a:p>
            <a:pPr lvl="2"/>
            <a:r>
              <a:rPr kumimoji="1" lang="zh-TW" altLang="en-US"/>
              <a:t>第三層</a:t>
            </a:r>
          </a:p>
          <a:p>
            <a:pPr lvl="3"/>
            <a:r>
              <a:rPr kumimoji="1" lang="zh-TW" altLang="en-US"/>
              <a:t>第四層</a:t>
            </a:r>
          </a:p>
          <a:p>
            <a:pPr lvl="4"/>
            <a:r>
              <a:rPr kumimoji="1" lang="zh-TW" altLang="en-US"/>
              <a:t>第五層</a:t>
            </a:r>
          </a:p>
        </p:txBody>
      </p:sp>
      <p:sp>
        <p:nvSpPr>
          <p:cNvPr id="6" name="頁尾版面配置區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kumimoji="1" lang="zh-TW" altLang="en-US"/>
          </a:p>
        </p:txBody>
      </p:sp>
      <p:sp>
        <p:nvSpPr>
          <p:cNvPr id="7" name="投影片編號版面配置區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61836D1C-D09F-2A41-BBEA-6549EF3DDB65}" type="slidenum">
              <a:rPr kumimoji="1" lang="zh-TW" altLang="en-US" smtClean="0"/>
              <a:t>‹#›</a:t>
            </a:fld>
            <a:endParaRPr kumimoji="1" lang="zh-TW" altLang="en-US"/>
          </a:p>
        </p:txBody>
      </p:sp>
    </p:spTree>
    <p:extLst>
      <p:ext uri="{BB962C8B-B14F-4D97-AF65-F5344CB8AC3E}">
        <p14:creationId xmlns:p14="http://schemas.microsoft.com/office/powerpoint/2010/main" val="2951419859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6.xml"/><Relationship Id="rId1" Type="http://schemas.openxmlformats.org/officeDocument/2006/relationships/notesMaster" Target="../notesMasters/notesMaster1.xml"/></Relationships>
</file>

<file path=ppt/notesSlides/_rels/notesSlide2.xml.rels><?xml version="1.0" encoding="UTF-8" standalone="yes"?>
<Relationships xmlns="http://schemas.openxmlformats.org/package/2006/relationships"><Relationship Id="rId2" Type="http://schemas.openxmlformats.org/officeDocument/2006/relationships/slide" Target="../slides/slide7.xml"/><Relationship Id="rId1" Type="http://schemas.openxmlformats.org/officeDocument/2006/relationships/notesMaster" Target="../notesMasters/notesMaster1.xml"/></Relationships>
</file>

<file path=ppt/notesSlides/_rels/notesSlide3.xml.rels><?xml version="1.0" encoding="UTF-8" standalone="yes"?>
<Relationships xmlns="http://schemas.openxmlformats.org/package/2006/relationships"><Relationship Id="rId2" Type="http://schemas.openxmlformats.org/officeDocument/2006/relationships/slide" Target="../slides/slide33.xml"/><Relationship Id="rId1" Type="http://schemas.openxmlformats.org/officeDocument/2006/relationships/notesMaster" Target="../notesMasters/notesMaster1.xml"/></Relationships>
</file>

<file path=ppt/notesSlides/_rels/notesSlide4.xml.rels><?xml version="1.0" encoding="UTF-8" standalone="yes"?>
<Relationships xmlns="http://schemas.openxmlformats.org/package/2006/relationships"><Relationship Id="rId2" Type="http://schemas.openxmlformats.org/officeDocument/2006/relationships/slide" Target="../slides/slide39.xml"/><Relationship Id="rId1" Type="http://schemas.openxmlformats.org/officeDocument/2006/relationships/notesMaster" Target="../notesMasters/notesMaster1.xml"/></Relationships>
</file>

<file path=ppt/notesSlides/_rels/notesSlide5.xml.rels><?xml version="1.0" encoding="UTF-8" standalone="yes"?>
<Relationships xmlns="http://schemas.openxmlformats.org/package/2006/relationships"><Relationship Id="rId2" Type="http://schemas.openxmlformats.org/officeDocument/2006/relationships/slide" Target="../slides/slide40.xml"/><Relationship Id="rId1" Type="http://schemas.openxmlformats.org/officeDocument/2006/relationships/notesMaster" Target="../notesMasters/notesMaster1.xml"/></Relationships>
</file>

<file path=ppt/notesSlides/_rels/notesSlide6.xml.rels><?xml version="1.0" encoding="UTF-8" standalone="yes"?>
<Relationships xmlns="http://schemas.openxmlformats.org/package/2006/relationships"><Relationship Id="rId2" Type="http://schemas.openxmlformats.org/officeDocument/2006/relationships/slide" Target="../slides/slide45.xml"/><Relationship Id="rId1" Type="http://schemas.openxmlformats.org/officeDocument/2006/relationships/notesMaster" Target="../notesMasters/notesMaster1.xml"/></Relationships>
</file>

<file path=ppt/notesSlides/_rels/notesSlide7.xml.rels><?xml version="1.0" encoding="UTF-8" standalone="yes"?>
<Relationships xmlns="http://schemas.openxmlformats.org/package/2006/relationships"><Relationship Id="rId2" Type="http://schemas.openxmlformats.org/officeDocument/2006/relationships/slide" Target="../slides/slide46.xml"/><Relationship Id="rId1" Type="http://schemas.openxmlformats.org/officeDocument/2006/relationships/notesMaster" Target="../notesMasters/notesMaster1.xml"/></Relationships>
</file>

<file path=ppt/notesSlides/_rels/notesSlide8.xml.rels><?xml version="1.0" encoding="UTF-8" standalone="yes"?>
<Relationships xmlns="http://schemas.openxmlformats.org/package/2006/relationships"><Relationship Id="rId2" Type="http://schemas.openxmlformats.org/officeDocument/2006/relationships/slide" Target="../slides/slide48.xml"/><Relationship Id="rId1" Type="http://schemas.openxmlformats.org/officeDocument/2006/relationships/notesMaster" Target="../notesMasters/notesMaster1.xml"/></Relationships>
</file>

<file path=ppt/notesSlides/_rels/notesSlide9.xml.rels><?xml version="1.0" encoding="UTF-8" standalone="yes"?>
<Relationships xmlns="http://schemas.openxmlformats.org/package/2006/relationships"><Relationship Id="rId2" Type="http://schemas.openxmlformats.org/officeDocument/2006/relationships/slide" Target="../slides/slide49.xml"/><Relationship Id="rId1" Type="http://schemas.openxmlformats.org/officeDocument/2006/relationships/notesMaster" Target="../notesMasters/notesMaster1.xml"/></Relationships>
</file>

<file path=ppt/notesSlides/_rels/notesSlide10.xml.rels><?xml version="1.0" encoding="UTF-8" standalone="yes"?>
<Relationships xmlns="http://schemas.openxmlformats.org/package/2006/relationships"><Relationship Id="rId2" Type="http://schemas.openxmlformats.org/officeDocument/2006/relationships/slide" Target="../slides/slide50.xml"/><Relationship Id="rId1" Type="http://schemas.openxmlformats.org/officeDocument/2006/relationships/notesMaster" Target="../notesMasters/notesMaster1.xml"/></Relationships>
</file>

<file path=ppt/notesSlides/_rels/notesSlide1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51.xml"/><Relationship Id="rId1" Type="http://schemas.openxmlformats.org/officeDocument/2006/relationships/notesMaster" Target="../notesMasters/notesMaster1.xml"/></Relationships>
</file>

<file path=ppt/notesSlides/_rels/notesSlide12.xml.rels><?xml version="1.0" encoding="UTF-8" standalone="yes"?>
<Relationships xmlns="http://schemas.openxmlformats.org/package/2006/relationships"><Relationship Id="rId2" Type="http://schemas.openxmlformats.org/officeDocument/2006/relationships/slide" Target="../slides/slide52.xml"/><Relationship Id="rId1" Type="http://schemas.openxmlformats.org/officeDocument/2006/relationships/notesMaster" Target="../notesMasters/notesMaster1.xml"/></Relationships>
</file>

<file path=ppt/notesSlides/_rels/notesSlide13.xml.rels><?xml version="1.0" encoding="UTF-8" standalone="yes"?>
<Relationships xmlns="http://schemas.openxmlformats.org/package/2006/relationships"><Relationship Id="rId2" Type="http://schemas.openxmlformats.org/officeDocument/2006/relationships/slide" Target="../slides/slide53.xml"/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投影片影像版面配置區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備忘稿版面配置區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kumimoji="1" lang="zh-TW" altLang="en-US" dirty="0"/>
          </a:p>
        </p:txBody>
      </p:sp>
      <p:sp>
        <p:nvSpPr>
          <p:cNvPr id="4" name="投影片編號版面配置區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61836D1C-D09F-2A41-BBEA-6549EF3DDB65}" type="slidenum">
              <a:rPr kumimoji="1" lang="zh-TW" altLang="en-US" smtClean="0"/>
              <a:t>6</a:t>
            </a:fld>
            <a:endParaRPr kumimoji="1" lang="zh-TW" altLang="en-US"/>
          </a:p>
        </p:txBody>
      </p:sp>
    </p:spTree>
    <p:extLst>
      <p:ext uri="{BB962C8B-B14F-4D97-AF65-F5344CB8AC3E}">
        <p14:creationId xmlns:p14="http://schemas.microsoft.com/office/powerpoint/2010/main" val="827176838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投影片影像版面配置區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備忘稿版面配置區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kumimoji="1" lang="zh-TW" altLang="en-US" dirty="0"/>
          </a:p>
        </p:txBody>
      </p:sp>
      <p:sp>
        <p:nvSpPr>
          <p:cNvPr id="4" name="投影片編號版面配置區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61836D1C-D09F-2A41-BBEA-6549EF3DDB65}" type="slidenum">
              <a:rPr kumimoji="1" lang="zh-TW" altLang="en-US" smtClean="0"/>
              <a:t>7</a:t>
            </a:fld>
            <a:endParaRPr kumimoji="1" lang="zh-TW" altLang="en-US"/>
          </a:p>
        </p:txBody>
      </p:sp>
    </p:spTree>
    <p:extLst>
      <p:ext uri="{BB962C8B-B14F-4D97-AF65-F5344CB8AC3E}">
        <p14:creationId xmlns:p14="http://schemas.microsoft.com/office/powerpoint/2010/main" val="1267264526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投影片影像版面配置區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備忘稿版面配置區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kumimoji="1" lang="zh-TW" altLang="en-US" dirty="0"/>
          </a:p>
        </p:txBody>
      </p:sp>
      <p:sp>
        <p:nvSpPr>
          <p:cNvPr id="4" name="投影片編號版面配置區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61836D1C-D09F-2A41-BBEA-6549EF3DDB65}" type="slidenum">
              <a:rPr kumimoji="1" lang="zh-TW" altLang="en-US" smtClean="0"/>
              <a:t>33</a:t>
            </a:fld>
            <a:endParaRPr kumimoji="1" lang="zh-TW" altLang="en-US"/>
          </a:p>
        </p:txBody>
      </p:sp>
    </p:spTree>
    <p:extLst>
      <p:ext uri="{BB962C8B-B14F-4D97-AF65-F5344CB8AC3E}">
        <p14:creationId xmlns:p14="http://schemas.microsoft.com/office/powerpoint/2010/main" val="770755176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投影片影像版面配置區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備忘稿版面配置區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kumimoji="1" lang="zh-TW" altLang="en-US" dirty="0"/>
          </a:p>
        </p:txBody>
      </p:sp>
      <p:sp>
        <p:nvSpPr>
          <p:cNvPr id="4" name="投影片編號版面配置區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61836D1C-D09F-2A41-BBEA-6549EF3DDB65}" type="slidenum">
              <a:rPr kumimoji="1" lang="zh-TW" altLang="en-US" smtClean="0"/>
              <a:t>39</a:t>
            </a:fld>
            <a:endParaRPr kumimoji="1" lang="zh-TW" altLang="en-US"/>
          </a:p>
        </p:txBody>
      </p:sp>
    </p:spTree>
    <p:extLst>
      <p:ext uri="{BB962C8B-B14F-4D97-AF65-F5344CB8AC3E}">
        <p14:creationId xmlns:p14="http://schemas.microsoft.com/office/powerpoint/2010/main" val="3043793325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投影片影像版面配置區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備忘稿版面配置區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kumimoji="1" lang="zh-TW" altLang="en-US" dirty="0"/>
          </a:p>
        </p:txBody>
      </p:sp>
      <p:sp>
        <p:nvSpPr>
          <p:cNvPr id="4" name="投影片編號版面配置區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61836D1C-D09F-2A41-BBEA-6549EF3DDB65}" type="slidenum">
              <a:rPr kumimoji="1" lang="zh-TW" altLang="en-US" smtClean="0"/>
              <a:t>40</a:t>
            </a:fld>
            <a:endParaRPr kumimoji="1" lang="zh-TW" altLang="en-US"/>
          </a:p>
        </p:txBody>
      </p:sp>
    </p:spTree>
    <p:extLst>
      <p:ext uri="{BB962C8B-B14F-4D97-AF65-F5344CB8AC3E}">
        <p14:creationId xmlns:p14="http://schemas.microsoft.com/office/powerpoint/2010/main" val="3854132806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投影片影像版面配置區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備忘稿版面配置區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kumimoji="1" lang="en-US" altLang="zh-TW" dirty="0"/>
              <a:t>Before we get into the intra-attention mechanism in this paper</a:t>
            </a:r>
          </a:p>
          <a:p>
            <a:r>
              <a:rPr kumimoji="1" lang="en-US" altLang="zh-TW" dirty="0"/>
              <a:t>Let’s recap the standard attention mechanism first.</a:t>
            </a:r>
            <a:endParaRPr kumimoji="1" lang="zh-TW" altLang="en-US" dirty="0"/>
          </a:p>
        </p:txBody>
      </p:sp>
      <p:sp>
        <p:nvSpPr>
          <p:cNvPr id="4" name="投影片編號版面配置區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C94B6FA3-6A5C-4F42-A62F-1E0AEA80CC2A}" type="slidenum">
              <a:rPr kumimoji="1" lang="zh-TW" altLang="en-US" smtClean="0"/>
              <a:t>45</a:t>
            </a:fld>
            <a:endParaRPr kumimoji="1" lang="zh-TW" altLang="en-US"/>
          </a:p>
        </p:txBody>
      </p:sp>
    </p:spTree>
    <p:extLst>
      <p:ext uri="{BB962C8B-B14F-4D97-AF65-F5344CB8AC3E}">
        <p14:creationId xmlns:p14="http://schemas.microsoft.com/office/powerpoint/2010/main" val="1401889933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1C070EF9-EF8A-53A1-CD30-9B6C4C9742E2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投影片影像版面配置區 1">
            <a:extLst>
              <a:ext uri="{FF2B5EF4-FFF2-40B4-BE49-F238E27FC236}">
                <a16:creationId xmlns:a16="http://schemas.microsoft.com/office/drawing/2014/main" id="{A066CFB1-31B0-0C3D-42B7-2E2A3B59320E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</p:sp>
      <mc:AlternateContent xmlns:mc="http://schemas.openxmlformats.org/markup-compatibility/2006" xmlns:a14="http://schemas.microsoft.com/office/drawing/2010/main">
        <mc:Choice Requires="a14">
          <p:sp>
            <p:nvSpPr>
              <p:cNvPr id="3" name="備忘稿版面配置區 2">
                <a:extLst>
                  <a:ext uri="{FF2B5EF4-FFF2-40B4-BE49-F238E27FC236}">
                    <a16:creationId xmlns:a16="http://schemas.microsoft.com/office/drawing/2014/main" id="{A7484396-AF6E-D57B-55A9-8F729669B88D}"/>
                  </a:ext>
                </a:extLst>
              </p:cNvPr>
              <p:cNvSpPr>
                <a:spLocks noGrp="1"/>
              </p:cNvSpPr>
              <p:nvPr>
                <p:ph type="body" idx="1"/>
              </p:nvPr>
            </p:nvSpPr>
            <p:spPr/>
            <p:txBody>
              <a:bodyPr/>
              <a:lstStyle/>
              <a:p>
                <a:r>
                  <a:rPr kumimoji="1" lang="en-US" altLang="zh-TW" dirty="0"/>
                  <a:t>(Laser pointer)</a:t>
                </a:r>
              </a:p>
              <a:p>
                <a:r>
                  <a:rPr kumimoji="1" lang="en-US" altLang="zh-TW" dirty="0"/>
                  <a:t>Attention mechanism starts from the encoder hidden states which can be concatenated by bi-directional outputs.</a:t>
                </a:r>
              </a:p>
              <a:p>
                <a:r>
                  <a:rPr kumimoji="1" lang="en-US" altLang="zh-TW" dirty="0"/>
                  <a:t>Called </a:t>
                </a:r>
                <a14:m>
                  <m:oMath xmlns:m="http://schemas.openxmlformats.org/officeDocument/2006/math">
                    <m:sSubSup>
                      <m:sSubSupPr>
                        <m:ctrlPr>
                          <a:rPr kumimoji="1" lang="en-US" altLang="zh-TW" i="1" smtClean="0">
                            <a:latin typeface="Cambria Math" panose="02040503050406030204" pitchFamily="18" charset="0"/>
                          </a:rPr>
                        </m:ctrlPr>
                      </m:sSubSupPr>
                      <m:e>
                        <m:r>
                          <a:rPr kumimoji="1" lang="en-US" altLang="zh-TW" b="0" i="1" smtClean="0">
                            <a:latin typeface="Cambria Math" panose="02040503050406030204" pitchFamily="18" charset="0"/>
                          </a:rPr>
                          <m:t>h</m:t>
                        </m:r>
                      </m:e>
                      <m:sub>
                        <m:r>
                          <a:rPr kumimoji="1" lang="en-US" altLang="zh-TW" b="0" i="1" smtClean="0">
                            <a:latin typeface="Cambria Math" panose="02040503050406030204" pitchFamily="18" charset="0"/>
                          </a:rPr>
                          <m:t>𝑖</m:t>
                        </m:r>
                      </m:sub>
                      <m:sup>
                        <m:r>
                          <a:rPr kumimoji="1" lang="en-US" altLang="zh-TW" b="0" i="1" smtClean="0">
                            <a:latin typeface="Cambria Math" panose="02040503050406030204" pitchFamily="18" charset="0"/>
                          </a:rPr>
                          <m:t>𝑒</m:t>
                        </m:r>
                      </m:sup>
                    </m:sSubSup>
                  </m:oMath>
                </a14:m>
                <a:endParaRPr kumimoji="1" lang="en-US" altLang="zh-TW" dirty="0"/>
              </a:p>
              <a:p>
                <a:endParaRPr kumimoji="1" lang="en-US" altLang="zh-TW" dirty="0"/>
              </a:p>
              <a:p>
                <a:r>
                  <a:rPr kumimoji="1" lang="en-US" altLang="zh-TW" dirty="0"/>
                  <a:t>than the temporal attention score </a:t>
                </a:r>
                <a14:m>
                  <m:oMath xmlns:m="http://schemas.openxmlformats.org/officeDocument/2006/math">
                    <m:sSub>
                      <m:sSubPr>
                        <m:ctrlPr>
                          <a:rPr kumimoji="1" lang="en-US" altLang="zh-TW" b="0" i="1" smtClean="0"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kumimoji="1" lang="en-US" altLang="zh-TW" b="0" i="1" smtClean="0">
                            <a:latin typeface="Cambria Math" panose="02040503050406030204" pitchFamily="18" charset="0"/>
                          </a:rPr>
                          <m:t>𝑒</m:t>
                        </m:r>
                      </m:e>
                      <m:sub>
                        <m:r>
                          <a:rPr kumimoji="1" lang="en-US" altLang="zh-TW" b="0" i="1" smtClean="0">
                            <a:latin typeface="Cambria Math" panose="02040503050406030204" pitchFamily="18" charset="0"/>
                          </a:rPr>
                          <m:t>𝑡𝑖</m:t>
                        </m:r>
                      </m:sub>
                    </m:sSub>
                  </m:oMath>
                </a14:m>
                <a:r>
                  <a:rPr kumimoji="1" lang="en-US" altLang="zh-TW" dirty="0"/>
                  <a:t> is obtained by the alignment model</a:t>
                </a:r>
              </a:p>
              <a:p>
                <a:r>
                  <a:rPr kumimoji="1" lang="en-US" altLang="zh-TW" dirty="0"/>
                  <a:t>The alignment model is a feed forward network, which scores how well the inputs at position </a:t>
                </a:r>
                <a:r>
                  <a:rPr kumimoji="1" lang="en-US" altLang="zh-TW" dirty="0" err="1"/>
                  <a:t>i</a:t>
                </a:r>
                <a:r>
                  <a:rPr kumimoji="1" lang="en-US" altLang="zh-TW" dirty="0"/>
                  <a:t> and outputs at timestep t match</a:t>
                </a:r>
              </a:p>
              <a:p>
                <a:r>
                  <a:rPr kumimoji="1" lang="en-US" altLang="zh-TW" dirty="0"/>
                  <a:t>Then the attention score alpha is computed by a </a:t>
                </a:r>
                <a:r>
                  <a:rPr kumimoji="1" lang="en-US" altLang="zh-TW" dirty="0" err="1"/>
                  <a:t>softmax</a:t>
                </a:r>
                <a:r>
                  <a:rPr kumimoji="1" lang="en-US" altLang="zh-TW" dirty="0"/>
                  <a:t> function</a:t>
                </a:r>
              </a:p>
              <a:p>
                <a:r>
                  <a:rPr kumimoji="1" lang="en-US" altLang="zh-TW" dirty="0"/>
                  <a:t>Finally, the context vector of weighted sum is used to compute output at the decoding timestep t</a:t>
                </a:r>
              </a:p>
              <a:p>
                <a:endParaRPr kumimoji="1" lang="zh-TW" altLang="en-US" dirty="0"/>
              </a:p>
            </p:txBody>
          </p:sp>
        </mc:Choice>
        <mc:Fallback xmlns="">
          <p:sp>
            <p:nvSpPr>
              <p:cNvPr id="3" name="備忘稿版面配置區 2"/>
              <p:cNvSpPr>
                <a:spLocks noGrp="1"/>
              </p:cNvSpPr>
              <p:nvPr>
                <p:ph type="body" idx="1"/>
              </p:nvPr>
            </p:nvSpPr>
            <p:spPr/>
            <p:txBody>
              <a:bodyPr/>
              <a:lstStyle/>
              <a:p>
                <a:r>
                  <a:rPr kumimoji="1" lang="en-US" altLang="zh-TW" dirty="0"/>
                  <a:t>(Laser pointer)</a:t>
                </a:r>
              </a:p>
              <a:p>
                <a:r>
                  <a:rPr kumimoji="1" lang="en-US" altLang="zh-TW" dirty="0"/>
                  <a:t>Attention mechanism starts from the encoder hidden states which can be concatenated by bi-directional outputs.</a:t>
                </a:r>
              </a:p>
              <a:p>
                <a:r>
                  <a:rPr kumimoji="1" lang="en-US" altLang="zh-TW" dirty="0"/>
                  <a:t>Called </a:t>
                </a:r>
                <a:r>
                  <a:rPr kumimoji="1" lang="en-US" altLang="zh-TW" b="0" i="0">
                    <a:latin typeface="Cambria Math" panose="02040503050406030204" pitchFamily="18" charset="0"/>
                  </a:rPr>
                  <a:t>ℎ_𝑖^𝑒</a:t>
                </a:r>
                <a:endParaRPr kumimoji="1" lang="en-US" altLang="zh-TW" dirty="0"/>
              </a:p>
              <a:p>
                <a:endParaRPr kumimoji="1" lang="en-US" altLang="zh-TW" dirty="0"/>
              </a:p>
              <a:p>
                <a:r>
                  <a:rPr kumimoji="1" lang="en-US" altLang="zh-TW" dirty="0"/>
                  <a:t>than the temporal attention score </a:t>
                </a:r>
                <a:r>
                  <a:rPr kumimoji="1" lang="en-US" altLang="zh-TW" b="0" i="0">
                    <a:latin typeface="Cambria Math" panose="02040503050406030204" pitchFamily="18" charset="0"/>
                  </a:rPr>
                  <a:t>𝑒_𝑡𝑖</a:t>
                </a:r>
                <a:r>
                  <a:rPr kumimoji="1" lang="en-US" altLang="zh-TW" dirty="0"/>
                  <a:t> is obtained by the alignment model</a:t>
                </a:r>
              </a:p>
              <a:p>
                <a:r>
                  <a:rPr kumimoji="1" lang="en-US" altLang="zh-TW" dirty="0"/>
                  <a:t>The alignment model is a feed forward network, which scores how well the inputs at position </a:t>
                </a:r>
                <a:r>
                  <a:rPr kumimoji="1" lang="en-US" altLang="zh-TW" dirty="0" err="1"/>
                  <a:t>i</a:t>
                </a:r>
                <a:r>
                  <a:rPr kumimoji="1" lang="en-US" altLang="zh-TW" dirty="0"/>
                  <a:t> and outputs at timestep t match</a:t>
                </a:r>
              </a:p>
              <a:p>
                <a:r>
                  <a:rPr kumimoji="1" lang="en-US" altLang="zh-TW" dirty="0"/>
                  <a:t>Then the attention score alpha is computed by a </a:t>
                </a:r>
                <a:r>
                  <a:rPr kumimoji="1" lang="en-US" altLang="zh-TW" dirty="0" err="1"/>
                  <a:t>softmax</a:t>
                </a:r>
                <a:r>
                  <a:rPr kumimoji="1" lang="en-US" altLang="zh-TW" dirty="0"/>
                  <a:t> function</a:t>
                </a:r>
              </a:p>
              <a:p>
                <a:r>
                  <a:rPr kumimoji="1" lang="en-US" altLang="zh-TW" dirty="0"/>
                  <a:t>Finally, the context vector of weighted sum is used to compute output at the decoding timestep t</a:t>
                </a:r>
              </a:p>
              <a:p>
                <a:endParaRPr kumimoji="1" lang="zh-TW" altLang="en-US" dirty="0"/>
              </a:p>
            </p:txBody>
          </p:sp>
        </mc:Fallback>
      </mc:AlternateContent>
      <p:sp>
        <p:nvSpPr>
          <p:cNvPr id="4" name="投影片編號版面配置區 3">
            <a:extLst>
              <a:ext uri="{FF2B5EF4-FFF2-40B4-BE49-F238E27FC236}">
                <a16:creationId xmlns:a16="http://schemas.microsoft.com/office/drawing/2014/main" id="{2CE80A11-7531-8EDF-A4B0-C04692409607}"/>
              </a:ext>
            </a:extLst>
          </p:cNvPr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C94B6FA3-6A5C-4F42-A62F-1E0AEA80CC2A}" type="slidenum">
              <a:rPr kumimoji="1" lang="zh-TW" altLang="en-US" smtClean="0"/>
              <a:t>46</a:t>
            </a:fld>
            <a:endParaRPr kumimoji="1" lang="zh-TW" altLang="en-US"/>
          </a:p>
        </p:txBody>
      </p:sp>
    </p:spTree>
    <p:extLst>
      <p:ext uri="{BB962C8B-B14F-4D97-AF65-F5344CB8AC3E}">
        <p14:creationId xmlns:p14="http://schemas.microsoft.com/office/powerpoint/2010/main" val="1154299795"/>
      </p:ext>
    </p:extLst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A190C6E3-AD3D-7A51-4DD8-9DBB3A7EA5EB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投影片影像版面配置區 1">
            <a:extLst>
              <a:ext uri="{FF2B5EF4-FFF2-40B4-BE49-F238E27FC236}">
                <a16:creationId xmlns:a16="http://schemas.microsoft.com/office/drawing/2014/main" id="{D73189D4-27F6-32FE-F9A3-B13A4EBD72E4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</p:sp>
      <mc:AlternateContent xmlns:mc="http://schemas.openxmlformats.org/markup-compatibility/2006" xmlns:a14="http://schemas.microsoft.com/office/drawing/2010/main">
        <mc:Choice Requires="a14">
          <p:sp>
            <p:nvSpPr>
              <p:cNvPr id="3" name="備忘稿版面配置區 2">
                <a:extLst>
                  <a:ext uri="{FF2B5EF4-FFF2-40B4-BE49-F238E27FC236}">
                    <a16:creationId xmlns:a16="http://schemas.microsoft.com/office/drawing/2014/main" id="{5F13FFD4-9CFA-B187-15C3-861A050DB7D4}"/>
                  </a:ext>
                </a:extLst>
              </p:cNvPr>
              <p:cNvSpPr>
                <a:spLocks noGrp="1"/>
              </p:cNvSpPr>
              <p:nvPr>
                <p:ph type="body" idx="1"/>
              </p:nvPr>
            </p:nvSpPr>
            <p:spPr/>
            <p:txBody>
              <a:bodyPr/>
              <a:lstStyle/>
              <a:p>
                <a:r>
                  <a:rPr kumimoji="1" lang="en-US" altLang="zh-TW" dirty="0"/>
                  <a:t>(Laser pointer)</a:t>
                </a:r>
              </a:p>
              <a:p>
                <a:r>
                  <a:rPr kumimoji="1" lang="en-US" altLang="zh-TW" dirty="0"/>
                  <a:t>Attention mechanism starts from the encoder hidden states which can be concatenated by bi-directional outputs.</a:t>
                </a:r>
              </a:p>
              <a:p>
                <a:r>
                  <a:rPr kumimoji="1" lang="en-US" altLang="zh-TW" dirty="0"/>
                  <a:t>Called </a:t>
                </a:r>
                <a14:m>
                  <m:oMath xmlns:m="http://schemas.openxmlformats.org/officeDocument/2006/math">
                    <m:sSubSup>
                      <m:sSubSupPr>
                        <m:ctrlPr>
                          <a:rPr kumimoji="1" lang="en-US" altLang="zh-TW" i="1" smtClean="0">
                            <a:latin typeface="Cambria Math" panose="02040503050406030204" pitchFamily="18" charset="0"/>
                          </a:rPr>
                        </m:ctrlPr>
                      </m:sSubSupPr>
                      <m:e>
                        <m:r>
                          <a:rPr kumimoji="1" lang="en-US" altLang="zh-TW" b="0" i="1" smtClean="0">
                            <a:latin typeface="Cambria Math" panose="02040503050406030204" pitchFamily="18" charset="0"/>
                          </a:rPr>
                          <m:t>h</m:t>
                        </m:r>
                      </m:e>
                      <m:sub>
                        <m:r>
                          <a:rPr kumimoji="1" lang="en-US" altLang="zh-TW" b="0" i="1" smtClean="0">
                            <a:latin typeface="Cambria Math" panose="02040503050406030204" pitchFamily="18" charset="0"/>
                          </a:rPr>
                          <m:t>𝑖</m:t>
                        </m:r>
                      </m:sub>
                      <m:sup>
                        <m:r>
                          <a:rPr kumimoji="1" lang="en-US" altLang="zh-TW" b="0" i="1" smtClean="0">
                            <a:latin typeface="Cambria Math" panose="02040503050406030204" pitchFamily="18" charset="0"/>
                          </a:rPr>
                          <m:t>𝑒</m:t>
                        </m:r>
                      </m:sup>
                    </m:sSubSup>
                  </m:oMath>
                </a14:m>
                <a:endParaRPr kumimoji="1" lang="en-US" altLang="zh-TW" dirty="0"/>
              </a:p>
              <a:p>
                <a:endParaRPr kumimoji="1" lang="en-US" altLang="zh-TW" dirty="0"/>
              </a:p>
              <a:p>
                <a:r>
                  <a:rPr kumimoji="1" lang="en-US" altLang="zh-TW" dirty="0"/>
                  <a:t>than the temporal attention score </a:t>
                </a:r>
                <a14:m>
                  <m:oMath xmlns:m="http://schemas.openxmlformats.org/officeDocument/2006/math">
                    <m:sSub>
                      <m:sSubPr>
                        <m:ctrlPr>
                          <a:rPr kumimoji="1" lang="en-US" altLang="zh-TW" b="0" i="1" smtClean="0"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kumimoji="1" lang="en-US" altLang="zh-TW" b="0" i="1" smtClean="0">
                            <a:latin typeface="Cambria Math" panose="02040503050406030204" pitchFamily="18" charset="0"/>
                          </a:rPr>
                          <m:t>𝑒</m:t>
                        </m:r>
                      </m:e>
                      <m:sub>
                        <m:r>
                          <a:rPr kumimoji="1" lang="en-US" altLang="zh-TW" b="0" i="1" smtClean="0">
                            <a:latin typeface="Cambria Math" panose="02040503050406030204" pitchFamily="18" charset="0"/>
                          </a:rPr>
                          <m:t>𝑡𝑖</m:t>
                        </m:r>
                      </m:sub>
                    </m:sSub>
                  </m:oMath>
                </a14:m>
                <a:r>
                  <a:rPr kumimoji="1" lang="en-US" altLang="zh-TW" dirty="0"/>
                  <a:t> is obtained by the alignment model</a:t>
                </a:r>
              </a:p>
              <a:p>
                <a:r>
                  <a:rPr kumimoji="1" lang="en-US" altLang="zh-TW" dirty="0"/>
                  <a:t>The alignment model is a feed forward network, which scores how well the inputs at position </a:t>
                </a:r>
                <a:r>
                  <a:rPr kumimoji="1" lang="en-US" altLang="zh-TW" dirty="0" err="1"/>
                  <a:t>i</a:t>
                </a:r>
                <a:r>
                  <a:rPr kumimoji="1" lang="en-US" altLang="zh-TW" dirty="0"/>
                  <a:t> and outputs at timestep t match</a:t>
                </a:r>
              </a:p>
              <a:p>
                <a:r>
                  <a:rPr kumimoji="1" lang="en-US" altLang="zh-TW" dirty="0"/>
                  <a:t>Then the attention score alpha is computed by a </a:t>
                </a:r>
                <a:r>
                  <a:rPr kumimoji="1" lang="en-US" altLang="zh-TW" dirty="0" err="1"/>
                  <a:t>softmax</a:t>
                </a:r>
                <a:r>
                  <a:rPr kumimoji="1" lang="en-US" altLang="zh-TW" dirty="0"/>
                  <a:t> function</a:t>
                </a:r>
              </a:p>
              <a:p>
                <a:r>
                  <a:rPr kumimoji="1" lang="en-US" altLang="zh-TW" dirty="0"/>
                  <a:t>Finally, the context vector of weighted sum is used to compute output at the decoding timestep t</a:t>
                </a:r>
              </a:p>
              <a:p>
                <a:endParaRPr kumimoji="1" lang="zh-TW" altLang="en-US" dirty="0"/>
              </a:p>
            </p:txBody>
          </p:sp>
        </mc:Choice>
        <mc:Fallback xmlns="">
          <p:sp>
            <p:nvSpPr>
              <p:cNvPr id="3" name="備忘稿版面配置區 2"/>
              <p:cNvSpPr>
                <a:spLocks noGrp="1"/>
              </p:cNvSpPr>
              <p:nvPr>
                <p:ph type="body" idx="1"/>
              </p:nvPr>
            </p:nvSpPr>
            <p:spPr/>
            <p:txBody>
              <a:bodyPr/>
              <a:lstStyle/>
              <a:p>
                <a:r>
                  <a:rPr kumimoji="1" lang="en-US" altLang="zh-TW" dirty="0"/>
                  <a:t>(Laser pointer)</a:t>
                </a:r>
              </a:p>
              <a:p>
                <a:r>
                  <a:rPr kumimoji="1" lang="en-US" altLang="zh-TW" dirty="0"/>
                  <a:t>Attention mechanism starts from the encoder hidden states which can be concatenated by bi-directional outputs.</a:t>
                </a:r>
              </a:p>
              <a:p>
                <a:r>
                  <a:rPr kumimoji="1" lang="en-US" altLang="zh-TW" dirty="0"/>
                  <a:t>Called </a:t>
                </a:r>
                <a:r>
                  <a:rPr kumimoji="1" lang="en-US" altLang="zh-TW" b="0" i="0">
                    <a:latin typeface="Cambria Math" panose="02040503050406030204" pitchFamily="18" charset="0"/>
                  </a:rPr>
                  <a:t>ℎ_𝑖^𝑒</a:t>
                </a:r>
                <a:endParaRPr kumimoji="1" lang="en-US" altLang="zh-TW" dirty="0"/>
              </a:p>
              <a:p>
                <a:endParaRPr kumimoji="1" lang="en-US" altLang="zh-TW" dirty="0"/>
              </a:p>
              <a:p>
                <a:r>
                  <a:rPr kumimoji="1" lang="en-US" altLang="zh-TW" dirty="0"/>
                  <a:t>than the temporal attention score </a:t>
                </a:r>
                <a:r>
                  <a:rPr kumimoji="1" lang="en-US" altLang="zh-TW" b="0" i="0">
                    <a:latin typeface="Cambria Math" panose="02040503050406030204" pitchFamily="18" charset="0"/>
                  </a:rPr>
                  <a:t>𝑒_𝑡𝑖</a:t>
                </a:r>
                <a:r>
                  <a:rPr kumimoji="1" lang="en-US" altLang="zh-TW" dirty="0"/>
                  <a:t> is obtained by the alignment model</a:t>
                </a:r>
              </a:p>
              <a:p>
                <a:r>
                  <a:rPr kumimoji="1" lang="en-US" altLang="zh-TW" dirty="0"/>
                  <a:t>The alignment model is a feed forward network, which scores how well the inputs at position </a:t>
                </a:r>
                <a:r>
                  <a:rPr kumimoji="1" lang="en-US" altLang="zh-TW" dirty="0" err="1"/>
                  <a:t>i</a:t>
                </a:r>
                <a:r>
                  <a:rPr kumimoji="1" lang="en-US" altLang="zh-TW" dirty="0"/>
                  <a:t> and outputs at timestep t match</a:t>
                </a:r>
              </a:p>
              <a:p>
                <a:r>
                  <a:rPr kumimoji="1" lang="en-US" altLang="zh-TW" dirty="0"/>
                  <a:t>Then the attention score alpha is computed by a </a:t>
                </a:r>
                <a:r>
                  <a:rPr kumimoji="1" lang="en-US" altLang="zh-TW" dirty="0" err="1"/>
                  <a:t>softmax</a:t>
                </a:r>
                <a:r>
                  <a:rPr kumimoji="1" lang="en-US" altLang="zh-TW" dirty="0"/>
                  <a:t> function</a:t>
                </a:r>
              </a:p>
              <a:p>
                <a:r>
                  <a:rPr kumimoji="1" lang="en-US" altLang="zh-TW" dirty="0"/>
                  <a:t>Finally, the context vector of weighted sum is used to compute output at the decoding timestep t</a:t>
                </a:r>
              </a:p>
              <a:p>
                <a:endParaRPr kumimoji="1" lang="zh-TW" altLang="en-US" dirty="0"/>
              </a:p>
            </p:txBody>
          </p:sp>
        </mc:Fallback>
      </mc:AlternateContent>
      <p:sp>
        <p:nvSpPr>
          <p:cNvPr id="4" name="投影片編號版面配置區 3">
            <a:extLst>
              <a:ext uri="{FF2B5EF4-FFF2-40B4-BE49-F238E27FC236}">
                <a16:creationId xmlns:a16="http://schemas.microsoft.com/office/drawing/2014/main" id="{9A2801BC-017D-D660-B700-1ACE0C2A62A3}"/>
              </a:ext>
            </a:extLst>
          </p:cNvPr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C94B6FA3-6A5C-4F42-A62F-1E0AEA80CC2A}" type="slidenum">
              <a:rPr kumimoji="1" lang="zh-TW" altLang="en-US" smtClean="0"/>
              <a:t>48</a:t>
            </a:fld>
            <a:endParaRPr kumimoji="1" lang="zh-TW" altLang="en-US"/>
          </a:p>
        </p:txBody>
      </p:sp>
    </p:spTree>
    <p:extLst>
      <p:ext uri="{BB962C8B-B14F-4D97-AF65-F5344CB8AC3E}">
        <p14:creationId xmlns:p14="http://schemas.microsoft.com/office/powerpoint/2010/main" val="3336876400"/>
      </p:ext>
    </p:extLst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7EB9D8F3-B40D-2E9A-C0F2-8CE1BF1698AD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投影片影像版面配置區 1">
            <a:extLst>
              <a:ext uri="{FF2B5EF4-FFF2-40B4-BE49-F238E27FC236}">
                <a16:creationId xmlns:a16="http://schemas.microsoft.com/office/drawing/2014/main" id="{01922823-228E-FB7B-5FD9-8A9C411F4120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</p:sp>
      <mc:AlternateContent xmlns:mc="http://schemas.openxmlformats.org/markup-compatibility/2006" xmlns:a14="http://schemas.microsoft.com/office/drawing/2010/main">
        <mc:Choice Requires="a14">
          <p:sp>
            <p:nvSpPr>
              <p:cNvPr id="3" name="備忘稿版面配置區 2">
                <a:extLst>
                  <a:ext uri="{FF2B5EF4-FFF2-40B4-BE49-F238E27FC236}">
                    <a16:creationId xmlns:a16="http://schemas.microsoft.com/office/drawing/2014/main" id="{E8278A36-2777-FB96-818D-729C330F82DD}"/>
                  </a:ext>
                </a:extLst>
              </p:cNvPr>
              <p:cNvSpPr>
                <a:spLocks noGrp="1"/>
              </p:cNvSpPr>
              <p:nvPr>
                <p:ph type="body" idx="1"/>
              </p:nvPr>
            </p:nvSpPr>
            <p:spPr/>
            <p:txBody>
              <a:bodyPr/>
              <a:lstStyle/>
              <a:p>
                <a:r>
                  <a:rPr kumimoji="1" lang="en-US" altLang="zh-TW" dirty="0"/>
                  <a:t>(Laser pointer)</a:t>
                </a:r>
              </a:p>
              <a:p>
                <a:r>
                  <a:rPr kumimoji="1" lang="en-US" altLang="zh-TW" dirty="0"/>
                  <a:t>Attention mechanism starts from the encoder hidden states which can be concatenated by bi-directional outputs.</a:t>
                </a:r>
              </a:p>
              <a:p>
                <a:r>
                  <a:rPr kumimoji="1" lang="en-US" altLang="zh-TW" dirty="0"/>
                  <a:t>Called </a:t>
                </a:r>
                <a14:m>
                  <m:oMath xmlns:m="http://schemas.openxmlformats.org/officeDocument/2006/math">
                    <m:sSubSup>
                      <m:sSubSupPr>
                        <m:ctrlPr>
                          <a:rPr kumimoji="1" lang="en-US" altLang="zh-TW" i="1" smtClean="0">
                            <a:latin typeface="Cambria Math" panose="02040503050406030204" pitchFamily="18" charset="0"/>
                          </a:rPr>
                        </m:ctrlPr>
                      </m:sSubSupPr>
                      <m:e>
                        <m:r>
                          <a:rPr kumimoji="1" lang="en-US" altLang="zh-TW" b="0" i="1" smtClean="0">
                            <a:latin typeface="Cambria Math" panose="02040503050406030204" pitchFamily="18" charset="0"/>
                          </a:rPr>
                          <m:t>h</m:t>
                        </m:r>
                      </m:e>
                      <m:sub>
                        <m:r>
                          <a:rPr kumimoji="1" lang="en-US" altLang="zh-TW" b="0" i="1" smtClean="0">
                            <a:latin typeface="Cambria Math" panose="02040503050406030204" pitchFamily="18" charset="0"/>
                          </a:rPr>
                          <m:t>𝑖</m:t>
                        </m:r>
                      </m:sub>
                      <m:sup>
                        <m:r>
                          <a:rPr kumimoji="1" lang="en-US" altLang="zh-TW" b="0" i="1" smtClean="0">
                            <a:latin typeface="Cambria Math" panose="02040503050406030204" pitchFamily="18" charset="0"/>
                          </a:rPr>
                          <m:t>𝑒</m:t>
                        </m:r>
                      </m:sup>
                    </m:sSubSup>
                  </m:oMath>
                </a14:m>
                <a:endParaRPr kumimoji="1" lang="en-US" altLang="zh-TW" dirty="0"/>
              </a:p>
              <a:p>
                <a:endParaRPr kumimoji="1" lang="en-US" altLang="zh-TW" dirty="0"/>
              </a:p>
              <a:p>
                <a:r>
                  <a:rPr kumimoji="1" lang="en-US" altLang="zh-TW" dirty="0"/>
                  <a:t>than the temporal attention score </a:t>
                </a:r>
                <a14:m>
                  <m:oMath xmlns:m="http://schemas.openxmlformats.org/officeDocument/2006/math">
                    <m:sSub>
                      <m:sSubPr>
                        <m:ctrlPr>
                          <a:rPr kumimoji="1" lang="en-US" altLang="zh-TW" b="0" i="1" smtClean="0"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kumimoji="1" lang="en-US" altLang="zh-TW" b="0" i="1" smtClean="0">
                            <a:latin typeface="Cambria Math" panose="02040503050406030204" pitchFamily="18" charset="0"/>
                          </a:rPr>
                          <m:t>𝑒</m:t>
                        </m:r>
                      </m:e>
                      <m:sub>
                        <m:r>
                          <a:rPr kumimoji="1" lang="en-US" altLang="zh-TW" b="0" i="1" smtClean="0">
                            <a:latin typeface="Cambria Math" panose="02040503050406030204" pitchFamily="18" charset="0"/>
                          </a:rPr>
                          <m:t>𝑡𝑖</m:t>
                        </m:r>
                      </m:sub>
                    </m:sSub>
                  </m:oMath>
                </a14:m>
                <a:r>
                  <a:rPr kumimoji="1" lang="en-US" altLang="zh-TW" dirty="0"/>
                  <a:t> is obtained by the alignment model</a:t>
                </a:r>
              </a:p>
              <a:p>
                <a:r>
                  <a:rPr kumimoji="1" lang="en-US" altLang="zh-TW" dirty="0"/>
                  <a:t>The alignment model is a feed forward network, which scores how well the inputs at position </a:t>
                </a:r>
                <a:r>
                  <a:rPr kumimoji="1" lang="en-US" altLang="zh-TW" dirty="0" err="1"/>
                  <a:t>i</a:t>
                </a:r>
                <a:r>
                  <a:rPr kumimoji="1" lang="en-US" altLang="zh-TW" dirty="0"/>
                  <a:t> and outputs at timestep t match</a:t>
                </a:r>
              </a:p>
              <a:p>
                <a:r>
                  <a:rPr kumimoji="1" lang="en-US" altLang="zh-TW" dirty="0"/>
                  <a:t>Then the attention score alpha is computed by a </a:t>
                </a:r>
                <a:r>
                  <a:rPr kumimoji="1" lang="en-US" altLang="zh-TW" dirty="0" err="1"/>
                  <a:t>softmax</a:t>
                </a:r>
                <a:r>
                  <a:rPr kumimoji="1" lang="en-US" altLang="zh-TW" dirty="0"/>
                  <a:t> function</a:t>
                </a:r>
              </a:p>
              <a:p>
                <a:r>
                  <a:rPr kumimoji="1" lang="en-US" altLang="zh-TW" dirty="0"/>
                  <a:t>Finally, the context vector of weighted sum is used to compute output at the decoding timestep t</a:t>
                </a:r>
              </a:p>
              <a:p>
                <a:endParaRPr kumimoji="1" lang="zh-TW" altLang="en-US" dirty="0"/>
              </a:p>
            </p:txBody>
          </p:sp>
        </mc:Choice>
        <mc:Fallback xmlns="">
          <p:sp>
            <p:nvSpPr>
              <p:cNvPr id="3" name="備忘稿版面配置區 2"/>
              <p:cNvSpPr>
                <a:spLocks noGrp="1"/>
              </p:cNvSpPr>
              <p:nvPr>
                <p:ph type="body" idx="1"/>
              </p:nvPr>
            </p:nvSpPr>
            <p:spPr/>
            <p:txBody>
              <a:bodyPr/>
              <a:lstStyle/>
              <a:p>
                <a:r>
                  <a:rPr kumimoji="1" lang="en-US" altLang="zh-TW" dirty="0"/>
                  <a:t>(Laser pointer)</a:t>
                </a:r>
              </a:p>
              <a:p>
                <a:r>
                  <a:rPr kumimoji="1" lang="en-US" altLang="zh-TW" dirty="0"/>
                  <a:t>Attention mechanism starts from the encoder hidden states which can be concatenated by bi-directional outputs.</a:t>
                </a:r>
              </a:p>
              <a:p>
                <a:r>
                  <a:rPr kumimoji="1" lang="en-US" altLang="zh-TW" dirty="0"/>
                  <a:t>Called </a:t>
                </a:r>
                <a:r>
                  <a:rPr kumimoji="1" lang="en-US" altLang="zh-TW" b="0" i="0">
                    <a:latin typeface="Cambria Math" panose="02040503050406030204" pitchFamily="18" charset="0"/>
                  </a:rPr>
                  <a:t>ℎ_𝑖^𝑒</a:t>
                </a:r>
                <a:endParaRPr kumimoji="1" lang="en-US" altLang="zh-TW" dirty="0"/>
              </a:p>
              <a:p>
                <a:endParaRPr kumimoji="1" lang="en-US" altLang="zh-TW" dirty="0"/>
              </a:p>
              <a:p>
                <a:r>
                  <a:rPr kumimoji="1" lang="en-US" altLang="zh-TW" dirty="0"/>
                  <a:t>than the temporal attention score </a:t>
                </a:r>
                <a:r>
                  <a:rPr kumimoji="1" lang="en-US" altLang="zh-TW" b="0" i="0">
                    <a:latin typeface="Cambria Math" panose="02040503050406030204" pitchFamily="18" charset="0"/>
                  </a:rPr>
                  <a:t>𝑒_𝑡𝑖</a:t>
                </a:r>
                <a:r>
                  <a:rPr kumimoji="1" lang="en-US" altLang="zh-TW" dirty="0"/>
                  <a:t> is obtained by the alignment model</a:t>
                </a:r>
              </a:p>
              <a:p>
                <a:r>
                  <a:rPr kumimoji="1" lang="en-US" altLang="zh-TW" dirty="0"/>
                  <a:t>The alignment model is a feed forward network, which scores how well the inputs at position </a:t>
                </a:r>
                <a:r>
                  <a:rPr kumimoji="1" lang="en-US" altLang="zh-TW" dirty="0" err="1"/>
                  <a:t>i</a:t>
                </a:r>
                <a:r>
                  <a:rPr kumimoji="1" lang="en-US" altLang="zh-TW" dirty="0"/>
                  <a:t> and outputs at timestep t match</a:t>
                </a:r>
              </a:p>
              <a:p>
                <a:r>
                  <a:rPr kumimoji="1" lang="en-US" altLang="zh-TW" dirty="0"/>
                  <a:t>Then the attention score alpha is computed by a </a:t>
                </a:r>
                <a:r>
                  <a:rPr kumimoji="1" lang="en-US" altLang="zh-TW" dirty="0" err="1"/>
                  <a:t>softmax</a:t>
                </a:r>
                <a:r>
                  <a:rPr kumimoji="1" lang="en-US" altLang="zh-TW" dirty="0"/>
                  <a:t> function</a:t>
                </a:r>
              </a:p>
              <a:p>
                <a:r>
                  <a:rPr kumimoji="1" lang="en-US" altLang="zh-TW" dirty="0"/>
                  <a:t>Finally, the context vector of weighted sum is used to compute output at the decoding timestep t</a:t>
                </a:r>
              </a:p>
              <a:p>
                <a:endParaRPr kumimoji="1" lang="zh-TW" altLang="en-US" dirty="0"/>
              </a:p>
            </p:txBody>
          </p:sp>
        </mc:Fallback>
      </mc:AlternateContent>
      <p:sp>
        <p:nvSpPr>
          <p:cNvPr id="4" name="投影片編號版面配置區 3">
            <a:extLst>
              <a:ext uri="{FF2B5EF4-FFF2-40B4-BE49-F238E27FC236}">
                <a16:creationId xmlns:a16="http://schemas.microsoft.com/office/drawing/2014/main" id="{EA8D1194-BF17-7BB9-01C6-F4AA6BAF9ECD}"/>
              </a:ext>
            </a:extLst>
          </p:cNvPr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C94B6FA3-6A5C-4F42-A62F-1E0AEA80CC2A}" type="slidenum">
              <a:rPr kumimoji="1" lang="zh-TW" altLang="en-US" smtClean="0"/>
              <a:t>49</a:t>
            </a:fld>
            <a:endParaRPr kumimoji="1" lang="zh-TW" altLang="en-US"/>
          </a:p>
        </p:txBody>
      </p:sp>
    </p:spTree>
    <p:extLst>
      <p:ext uri="{BB962C8B-B14F-4D97-AF65-F5344CB8AC3E}">
        <p14:creationId xmlns:p14="http://schemas.microsoft.com/office/powerpoint/2010/main" val="775800690"/>
      </p:ext>
    </p:extLst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投影片影像版面配置區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備忘稿版面配置區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kumimoji="1" lang="zh-TW" altLang="en-US" dirty="0"/>
              <a:t>形狀小百科</a:t>
            </a:r>
            <a:endParaRPr kumimoji="1" lang="en-US" altLang="zh-TW" dirty="0"/>
          </a:p>
          <a:p>
            <a:r>
              <a:rPr kumimoji="1" lang="en-US" altLang="zh-TW" dirty="0" err="1"/>
              <a:t>h_i</a:t>
            </a:r>
            <a:r>
              <a:rPr kumimoji="1" lang="en-US" altLang="zh-TW" dirty="0"/>
              <a:t>: (2H, 1)</a:t>
            </a:r>
          </a:p>
          <a:p>
            <a:r>
              <a:rPr kumimoji="1" lang="en-US" altLang="zh-TW" dirty="0"/>
              <a:t>U: (H, 2H)</a:t>
            </a:r>
          </a:p>
          <a:p>
            <a:r>
              <a:rPr kumimoji="1" lang="en-US" altLang="zh-TW" dirty="0" err="1"/>
              <a:t>s_t</a:t>
            </a:r>
            <a:r>
              <a:rPr kumimoji="1" lang="en-US" altLang="zh-TW" dirty="0"/>
              <a:t>: (H, 1)</a:t>
            </a:r>
          </a:p>
          <a:p>
            <a:r>
              <a:rPr kumimoji="1" lang="en-US" altLang="zh-TW" dirty="0"/>
              <a:t>W: (H, H)</a:t>
            </a:r>
          </a:p>
          <a:p>
            <a:r>
              <a:rPr kumimoji="1" lang="en-US" altLang="zh-TW" dirty="0"/>
              <a:t>v: (1, H)</a:t>
            </a:r>
          </a:p>
        </p:txBody>
      </p:sp>
      <p:sp>
        <p:nvSpPr>
          <p:cNvPr id="4" name="投影片編號版面配置區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61836D1C-D09F-2A41-BBEA-6549EF3DDB65}" type="slidenum">
              <a:rPr kumimoji="1" lang="zh-TW" altLang="en-US" smtClean="0"/>
              <a:t>50</a:t>
            </a:fld>
            <a:endParaRPr kumimoji="1" lang="zh-TW" altLang="en-US"/>
          </a:p>
        </p:txBody>
      </p:sp>
    </p:spTree>
    <p:extLst>
      <p:ext uri="{BB962C8B-B14F-4D97-AF65-F5344CB8AC3E}">
        <p14:creationId xmlns:p14="http://schemas.microsoft.com/office/powerpoint/2010/main" val="2689336825"/>
      </p:ext>
    </p:extLst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投影片影像版面配置區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備忘稿版面配置區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kumimoji="1" lang="zh-TW" altLang="en-US" dirty="0"/>
          </a:p>
        </p:txBody>
      </p:sp>
      <p:sp>
        <p:nvSpPr>
          <p:cNvPr id="4" name="投影片編號版面配置區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61836D1C-D09F-2A41-BBEA-6549EF3DDB65}" type="slidenum">
              <a:rPr kumimoji="1" lang="zh-TW" altLang="en-US" smtClean="0"/>
              <a:t>51</a:t>
            </a:fld>
            <a:endParaRPr kumimoji="1" lang="zh-TW" altLang="en-US"/>
          </a:p>
        </p:txBody>
      </p:sp>
    </p:spTree>
    <p:extLst>
      <p:ext uri="{BB962C8B-B14F-4D97-AF65-F5344CB8AC3E}">
        <p14:creationId xmlns:p14="http://schemas.microsoft.com/office/powerpoint/2010/main" val="4103427384"/>
      </p:ext>
    </p:extLst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53BDBCF3-5D59-8C23-F14C-99F5F701CAD4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投影片影像版面配置區 1">
            <a:extLst>
              <a:ext uri="{FF2B5EF4-FFF2-40B4-BE49-F238E27FC236}">
                <a16:creationId xmlns:a16="http://schemas.microsoft.com/office/drawing/2014/main" id="{A98AE26A-80C7-BABE-F42D-45C754B35100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</p:sp>
      <mc:AlternateContent xmlns:mc="http://schemas.openxmlformats.org/markup-compatibility/2006" xmlns:a14="http://schemas.microsoft.com/office/drawing/2010/main">
        <mc:Choice Requires="a14">
          <p:sp>
            <p:nvSpPr>
              <p:cNvPr id="3" name="備忘稿版面配置區 2">
                <a:extLst>
                  <a:ext uri="{FF2B5EF4-FFF2-40B4-BE49-F238E27FC236}">
                    <a16:creationId xmlns:a16="http://schemas.microsoft.com/office/drawing/2014/main" id="{3E14A9CC-3994-48CF-871D-9FF33D85C5AF}"/>
                  </a:ext>
                </a:extLst>
              </p:cNvPr>
              <p:cNvSpPr>
                <a:spLocks noGrp="1"/>
              </p:cNvSpPr>
              <p:nvPr>
                <p:ph type="body" idx="1"/>
              </p:nvPr>
            </p:nvSpPr>
            <p:spPr/>
            <p:txBody>
              <a:bodyPr/>
              <a:lstStyle/>
              <a:p>
                <a14:m>
                  <m:oMath xmlns:m="http://schemas.openxmlformats.org/officeDocument/2006/math">
                    <m:sSub>
                      <m:sSubPr>
                        <m:ctrlPr>
                          <a:rPr lang="zh-TW" altLang="zh-TW" i="1" smtClean="0">
                            <a:solidFill>
                              <a:srgbClr val="FF0000"/>
                            </a:solidFill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lang="en-US" altLang="zh-TW" b="0" i="1" smtClean="0">
                            <a:solidFill>
                              <a:srgbClr val="FF0000"/>
                            </a:solidFill>
                            <a:latin typeface="Cambria Math" panose="02040503050406030204" pitchFamily="18" charset="0"/>
                          </a:rPr>
                          <m:t>𝑊</m:t>
                        </m:r>
                      </m:e>
                      <m:sub>
                        <m:r>
                          <a:rPr lang="en-US" altLang="zh-TW" b="0" i="1" smtClean="0">
                            <a:solidFill>
                              <a:srgbClr val="FF0000"/>
                            </a:solidFill>
                            <a:latin typeface="Cambria Math" panose="02040503050406030204" pitchFamily="18" charset="0"/>
                          </a:rPr>
                          <m:t>𝑠</m:t>
                        </m:r>
                      </m:sub>
                    </m:sSub>
                  </m:oMath>
                </a14:m>
                <a:r>
                  <a:rPr kumimoji="1" lang="en-US" altLang="zh-TW" dirty="0"/>
                  <a:t> </a:t>
                </a:r>
                <a:r>
                  <a:rPr kumimoji="1" lang="zh-TW" altLang="en-US" dirty="0"/>
                  <a:t>的維度為</a:t>
                </a:r>
                <a:r>
                  <a:rPr kumimoji="1" lang="en-US" altLang="zh-TW" dirty="0"/>
                  <a:t>(H, H)</a:t>
                </a:r>
                <a:endParaRPr kumimoji="1" lang="zh-TW" altLang="en-US" dirty="0"/>
              </a:p>
            </p:txBody>
          </p:sp>
        </mc:Choice>
        <mc:Fallback xmlns="">
          <p:sp>
            <p:nvSpPr>
              <p:cNvPr id="3" name="備忘稿版面配置區 2"/>
              <p:cNvSpPr>
                <a:spLocks noGrp="1"/>
              </p:cNvSpPr>
              <p:nvPr>
                <p:ph type="body" idx="1"/>
              </p:nvPr>
            </p:nvSpPr>
            <p:spPr/>
            <p:txBody>
              <a:bodyPr/>
              <a:lstStyle/>
              <a:p>
                <a:r>
                  <a:rPr kumimoji="1" lang="en-US" altLang="zh-TW" dirty="0"/>
                  <a:t>(Laser pointer)</a:t>
                </a:r>
              </a:p>
              <a:p>
                <a:r>
                  <a:rPr kumimoji="1" lang="en-US" altLang="zh-TW" dirty="0"/>
                  <a:t>Attention mechanism starts from the encoder hidden states which can be concatenated by bi-directional outputs.</a:t>
                </a:r>
              </a:p>
              <a:p>
                <a:r>
                  <a:rPr kumimoji="1" lang="en-US" altLang="zh-TW" dirty="0"/>
                  <a:t>Called </a:t>
                </a:r>
                <a:r>
                  <a:rPr kumimoji="1" lang="en-US" altLang="zh-TW" b="0" i="0">
                    <a:latin typeface="Cambria Math" panose="02040503050406030204" pitchFamily="18" charset="0"/>
                  </a:rPr>
                  <a:t>ℎ_𝑖^𝑒</a:t>
                </a:r>
                <a:endParaRPr kumimoji="1" lang="en-US" altLang="zh-TW" dirty="0"/>
              </a:p>
              <a:p>
                <a:endParaRPr kumimoji="1" lang="en-US" altLang="zh-TW" dirty="0"/>
              </a:p>
              <a:p>
                <a:r>
                  <a:rPr kumimoji="1" lang="en-US" altLang="zh-TW" dirty="0"/>
                  <a:t>than the temporal attention score </a:t>
                </a:r>
                <a:r>
                  <a:rPr kumimoji="1" lang="en-US" altLang="zh-TW" b="0" i="0">
                    <a:latin typeface="Cambria Math" panose="02040503050406030204" pitchFamily="18" charset="0"/>
                  </a:rPr>
                  <a:t>𝑒_𝑡𝑖</a:t>
                </a:r>
                <a:r>
                  <a:rPr kumimoji="1" lang="en-US" altLang="zh-TW" dirty="0"/>
                  <a:t> is obtained by the alignment model</a:t>
                </a:r>
              </a:p>
              <a:p>
                <a:r>
                  <a:rPr kumimoji="1" lang="en-US" altLang="zh-TW" dirty="0"/>
                  <a:t>The alignment model is a feed forward network, which scores how well the inputs at position </a:t>
                </a:r>
                <a:r>
                  <a:rPr kumimoji="1" lang="en-US" altLang="zh-TW" dirty="0" err="1"/>
                  <a:t>i</a:t>
                </a:r>
                <a:r>
                  <a:rPr kumimoji="1" lang="en-US" altLang="zh-TW" dirty="0"/>
                  <a:t> and outputs at timestep t match</a:t>
                </a:r>
              </a:p>
              <a:p>
                <a:r>
                  <a:rPr kumimoji="1" lang="en-US" altLang="zh-TW" dirty="0"/>
                  <a:t>Then the attention score alpha is computed by a </a:t>
                </a:r>
                <a:r>
                  <a:rPr kumimoji="1" lang="en-US" altLang="zh-TW" dirty="0" err="1"/>
                  <a:t>softmax</a:t>
                </a:r>
                <a:r>
                  <a:rPr kumimoji="1" lang="en-US" altLang="zh-TW" dirty="0"/>
                  <a:t> function</a:t>
                </a:r>
              </a:p>
              <a:p>
                <a:r>
                  <a:rPr kumimoji="1" lang="en-US" altLang="zh-TW" dirty="0"/>
                  <a:t>Finally, the context vector of weighted sum is used to compute output at the decoding timestep t</a:t>
                </a:r>
              </a:p>
              <a:p>
                <a:endParaRPr kumimoji="1" lang="zh-TW" altLang="en-US" dirty="0"/>
              </a:p>
            </p:txBody>
          </p:sp>
        </mc:Fallback>
      </mc:AlternateContent>
      <p:sp>
        <p:nvSpPr>
          <p:cNvPr id="4" name="投影片編號版面配置區 3">
            <a:extLst>
              <a:ext uri="{FF2B5EF4-FFF2-40B4-BE49-F238E27FC236}">
                <a16:creationId xmlns:a16="http://schemas.microsoft.com/office/drawing/2014/main" id="{4F3776B7-914F-E44A-D3B8-8A2DD7E70B6C}"/>
              </a:ext>
            </a:extLst>
          </p:cNvPr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C94B6FA3-6A5C-4F42-A62F-1E0AEA80CC2A}" type="slidenum">
              <a:rPr kumimoji="1" lang="zh-TW" altLang="en-US" smtClean="0"/>
              <a:t>52</a:t>
            </a:fld>
            <a:endParaRPr kumimoji="1" lang="zh-TW" altLang="en-US"/>
          </a:p>
        </p:txBody>
      </p:sp>
    </p:spTree>
    <p:extLst>
      <p:ext uri="{BB962C8B-B14F-4D97-AF65-F5344CB8AC3E}">
        <p14:creationId xmlns:p14="http://schemas.microsoft.com/office/powerpoint/2010/main" val="2606903141"/>
      </p:ext>
    </p:extLst>
  </p:cSld>
  <p:clrMapOvr>
    <a:masterClrMapping/>
  </p:clrMapOvr>
</p:notes>
</file>

<file path=ppt/notesSlides/notesSlide1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投影片影像版面配置區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備忘稿版面配置區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kumimoji="1" lang="zh-TW" altLang="en-US" dirty="0"/>
          </a:p>
        </p:txBody>
      </p:sp>
      <p:sp>
        <p:nvSpPr>
          <p:cNvPr id="4" name="投影片編號版面配置區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61836D1C-D09F-2A41-BBEA-6549EF3DDB65}" type="slidenum">
              <a:rPr kumimoji="1" lang="zh-TW" altLang="en-US" smtClean="0"/>
              <a:t>53</a:t>
            </a:fld>
            <a:endParaRPr kumimoji="1" lang="zh-TW" altLang="en-US"/>
          </a:p>
        </p:txBody>
      </p:sp>
    </p:spTree>
    <p:extLst>
      <p:ext uri="{BB962C8B-B14F-4D97-AF65-F5344CB8AC3E}">
        <p14:creationId xmlns:p14="http://schemas.microsoft.com/office/powerpoint/2010/main" val="1900672424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3" Type="http://schemas.openxmlformats.org/officeDocument/2006/relationships/image" Target="../media/image2.svg"/><Relationship Id="rId2" Type="http://schemas.openxmlformats.org/officeDocument/2006/relationships/image" Target="../media/image1.png"/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2" Type="http://schemas.openxmlformats.org/officeDocument/2006/relationships/image" Target="../media/image3.jpeg"/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showMasterSp="0" type="title" preserve="1">
  <p:cSld name="標題投影片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1097280" y="758952"/>
            <a:ext cx="10058400" cy="3566160"/>
          </a:xfrm>
        </p:spPr>
        <p:txBody>
          <a:bodyPr anchor="b">
            <a:normAutofit/>
          </a:bodyPr>
          <a:lstStyle>
            <a:lvl1pPr algn="l">
              <a:lnSpc>
                <a:spcPct val="85000"/>
              </a:lnSpc>
              <a:defRPr sz="8000" spc="-50" baseline="0">
                <a:solidFill>
                  <a:schemeClr val="tx1">
                    <a:lumMod val="85000"/>
                    <a:lumOff val="15000"/>
                  </a:schemeClr>
                </a:solidFill>
              </a:defRPr>
            </a:lvl1pPr>
          </a:lstStyle>
          <a:p>
            <a:r>
              <a:rPr lang="zh-TW" altLang="en-US"/>
              <a:t>按一下以編輯母片標題樣式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100051" y="4455620"/>
            <a:ext cx="10058400" cy="1143000"/>
          </a:xfrm>
        </p:spPr>
        <p:txBody>
          <a:bodyPr lIns="91440" rIns="91440">
            <a:normAutofit/>
          </a:bodyPr>
          <a:lstStyle>
            <a:lvl1pPr marL="0" indent="0" algn="l">
              <a:buNone/>
              <a:defRPr sz="2400" cap="all" spc="200" baseline="0">
                <a:solidFill>
                  <a:schemeClr val="tx2"/>
                </a:solidFill>
                <a:latin typeface="+mj-lt"/>
              </a:defRPr>
            </a:lvl1pPr>
            <a:lvl2pPr marL="457200" indent="0" algn="ctr">
              <a:buNone/>
              <a:defRPr sz="2400"/>
            </a:lvl2pPr>
            <a:lvl3pPr marL="914400" indent="0" algn="ctr">
              <a:buNone/>
              <a:defRPr sz="2400"/>
            </a:lvl3pPr>
            <a:lvl4pPr marL="1371600" indent="0" algn="ctr">
              <a:buNone/>
              <a:defRPr sz="2000"/>
            </a:lvl4pPr>
            <a:lvl5pPr marL="1828800" indent="0" algn="ctr">
              <a:buNone/>
              <a:defRPr sz="2000"/>
            </a:lvl5pPr>
            <a:lvl6pPr marL="2286000" indent="0" algn="ctr">
              <a:buNone/>
              <a:defRPr sz="2000"/>
            </a:lvl6pPr>
            <a:lvl7pPr marL="2743200" indent="0" algn="ctr">
              <a:buNone/>
              <a:defRPr sz="2000"/>
            </a:lvl7pPr>
            <a:lvl8pPr marL="3200400" indent="0" algn="ctr">
              <a:buNone/>
              <a:defRPr sz="2000"/>
            </a:lvl8pPr>
            <a:lvl9pPr marL="3657600" indent="0" algn="ctr">
              <a:buNone/>
              <a:defRPr sz="2000"/>
            </a:lvl9pPr>
          </a:lstStyle>
          <a:p>
            <a:r>
              <a:rPr lang="zh-TW" altLang="en-US"/>
              <a:t>按一下以編輯母片子標題樣式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4BDF68E2-58F2-4D09-BE8B-E3BD06533059}" type="datetimeFigureOut">
              <a:rPr lang="en-US" dirty="0"/>
              <a:t>3/23/26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>
            <a:lvl1pPr>
              <a:defRPr>
                <a:solidFill>
                  <a:schemeClr val="tx1"/>
                </a:solidFill>
              </a:defRPr>
            </a:lvl1pPr>
          </a:lstStyle>
          <a:p>
            <a:fld id="{4FAB73BC-B049-4115-A692-8D63A059BFB8}" type="slidenum">
              <a:rPr lang="en-US" smtClean="0"/>
              <a:pPr/>
              <a:t>‹#›</a:t>
            </a:fld>
            <a:endParaRPr lang="en-US"/>
          </a:p>
        </p:txBody>
      </p:sp>
      <p:cxnSp>
        <p:nvCxnSpPr>
          <p:cNvPr id="9" name="Straight Connector 8"/>
          <p:cNvCxnSpPr/>
          <p:nvPr/>
        </p:nvCxnSpPr>
        <p:spPr>
          <a:xfrm>
            <a:off x="1207658" y="4343400"/>
            <a:ext cx="9875520" cy="0"/>
          </a:xfrm>
          <a:prstGeom prst="line">
            <a:avLst/>
          </a:prstGeom>
          <a:ln w="6350">
            <a:solidFill>
              <a:schemeClr val="tx1">
                <a:lumMod val="50000"/>
                <a:lumOff val="50000"/>
              </a:schemeClr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</p:spTree>
    <p:extLst>
      <p:ext uri="{BB962C8B-B14F-4D97-AF65-F5344CB8AC3E}">
        <p14:creationId xmlns:p14="http://schemas.microsoft.com/office/powerpoint/2010/main" val="2865534282"/>
      </p:ext>
    </p:extLst>
  </p:cSld>
  <p:clrMapOvr>
    <a:masterClrMapping/>
  </p:clrMapOvr>
  <p:hf hdr="0" ftr="0" dt="0"/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標題及內容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653143" y="356088"/>
            <a:ext cx="10918371" cy="1033416"/>
          </a:xfrm>
        </p:spPr>
        <p:txBody>
          <a:bodyPr/>
          <a:lstStyle>
            <a:lvl1pPr marL="0">
              <a:defRPr/>
            </a:lvl1pPr>
          </a:lstStyle>
          <a:p>
            <a:r>
              <a:rPr lang="zh-TW" altLang="en-US"/>
              <a:t>按一下以編輯母片標題樣式</a:t>
            </a:r>
            <a:endParaRPr lang="en-US" dirty="0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653143" y="1845734"/>
            <a:ext cx="10918371" cy="4023360"/>
          </a:xfrm>
        </p:spPr>
        <p:txBody>
          <a:bodyPr/>
          <a:lstStyle/>
          <a:p>
            <a:pPr lvl="0"/>
            <a:r>
              <a:rPr lang="zh-TW" altLang="en-US"/>
              <a:t>按一下以編輯母片文字樣式</a:t>
            </a:r>
          </a:p>
          <a:p>
            <a:pPr lvl="1"/>
            <a:r>
              <a:rPr lang="zh-TW" altLang="en-US"/>
              <a:t>第二層</a:t>
            </a:r>
          </a:p>
          <a:p>
            <a:pPr lvl="2"/>
            <a:r>
              <a:rPr lang="zh-TW" altLang="en-US"/>
              <a:t>第三層</a:t>
            </a:r>
          </a:p>
          <a:p>
            <a:pPr lvl="3"/>
            <a:r>
              <a:rPr lang="zh-TW" altLang="en-US"/>
              <a:t>第四層</a:t>
            </a:r>
          </a:p>
          <a:p>
            <a:pPr lvl="4"/>
            <a:r>
              <a:rPr lang="zh-TW" altLang="en-US"/>
              <a:t>第五層</a:t>
            </a:r>
            <a:endParaRPr lang="en-US" dirty="0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>
            <a:lvl1pPr>
              <a:defRPr sz="1400"/>
            </a:lvl1pPr>
          </a:lstStyle>
          <a:p>
            <a:endParaRPr lang="en-US" dirty="0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>
            <a:lvl1pPr>
              <a:defRPr sz="1400"/>
            </a:lvl1pPr>
          </a:lstStyle>
          <a:p>
            <a:endParaRPr lang="en-US" dirty="0"/>
          </a:p>
        </p:txBody>
      </p:sp>
      <p:sp>
        <p:nvSpPr>
          <p:cNvPr id="14" name="Slide Number Placeholder 5">
            <a:extLst>
              <a:ext uri="{FF2B5EF4-FFF2-40B4-BE49-F238E27FC236}">
                <a16:creationId xmlns:a16="http://schemas.microsoft.com/office/drawing/2014/main" id="{47DAD89E-131D-FDCA-9260-AC41911030D0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>
          <a:xfrm>
            <a:off x="10612955" y="6415560"/>
            <a:ext cx="1312025" cy="365125"/>
          </a:xfrm>
        </p:spPr>
        <p:txBody>
          <a:bodyPr/>
          <a:lstStyle>
            <a:lvl1pPr>
              <a:defRPr sz="1400">
                <a:solidFill>
                  <a:schemeClr val="tx1"/>
                </a:solidFill>
              </a:defRPr>
            </a:lvl1pPr>
          </a:lstStyle>
          <a:p>
            <a:fld id="{6113E31D-E2AB-40D1-8B51-AFA5AFEF393A}" type="slidenum">
              <a:rPr lang="en-US" smtClean="0"/>
              <a:pPr/>
              <a:t>‹#›</a:t>
            </a:fld>
            <a:endParaRPr lang="en-US" dirty="0"/>
          </a:p>
        </p:txBody>
      </p:sp>
      <p:sp>
        <p:nvSpPr>
          <p:cNvPr id="6" name="文字方塊 5">
            <a:extLst>
              <a:ext uri="{FF2B5EF4-FFF2-40B4-BE49-F238E27FC236}">
                <a16:creationId xmlns:a16="http://schemas.microsoft.com/office/drawing/2014/main" id="{8B05C12B-E59D-D8B7-A3B4-27931CBD675F}"/>
              </a:ext>
            </a:extLst>
          </p:cNvPr>
          <p:cNvSpPr txBox="1"/>
          <p:nvPr userDrawn="1"/>
        </p:nvSpPr>
        <p:spPr>
          <a:xfrm>
            <a:off x="423038" y="6442992"/>
            <a:ext cx="557608" cy="268984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>
              <a:lnSpc>
                <a:spcPct val="80000"/>
              </a:lnSpc>
            </a:pPr>
            <a:r>
              <a:rPr kumimoji="1" lang="en-US" altLang="zh-TW" sz="1400" dirty="0">
                <a:ea typeface="Nanum Brush Script" panose="03060600000000000000" pitchFamily="66" charset="-127"/>
                <a:cs typeface="Arial" panose="020B0604020202020204" pitchFamily="34" charset="0"/>
              </a:rPr>
              <a:t>NLP</a:t>
            </a:r>
            <a:endParaRPr kumimoji="1" lang="zh-TW" altLang="en-US" sz="1400" dirty="0">
              <a:cs typeface="Arial" panose="020B0604020202020204" pitchFamily="34" charset="0"/>
            </a:endParaRPr>
          </a:p>
        </p:txBody>
      </p:sp>
      <p:pic>
        <p:nvPicPr>
          <p:cNvPr id="7" name="圖形 6" descr="聊天泡泡 外框">
            <a:extLst>
              <a:ext uri="{FF2B5EF4-FFF2-40B4-BE49-F238E27FC236}">
                <a16:creationId xmlns:a16="http://schemas.microsoft.com/office/drawing/2014/main" id="{0B067696-6EA5-0A4A-14B8-D7C17072FE9E}"/>
              </a:ext>
            </a:extLst>
          </p:cNvPr>
          <p:cNvPicPr>
            <a:picLocks noChangeAspect="1"/>
          </p:cNvPicPr>
          <p:nvPr userDrawn="1"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  <a:ext uri="{96DAC541-7B7A-43D3-8B79-37D633B846F1}">
                <asvg:svgBlip xmlns:asvg="http://schemas.microsoft.com/office/drawing/2016/SVG/main" r:embed="rId3"/>
              </a:ext>
            </a:extLst>
          </a:blip>
          <a:stretch>
            <a:fillRect/>
          </a:stretch>
        </p:blipFill>
        <p:spPr>
          <a:xfrm>
            <a:off x="141093" y="6388664"/>
            <a:ext cx="377640" cy="377640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4179868380"/>
      </p:ext>
    </p:extLst>
  </p:cSld>
  <p:clrMapOvr>
    <a:masterClrMapping/>
  </p:clrMapOvr>
  <p:hf hdr="0" ftr="0" dt="0"/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showMasterSp="0" type="secHead" preserve="1">
  <p:cSld name="章節標題">
    <p:bg>
      <p:bgPr>
        <a:solidFill>
          <a:schemeClr val="bg1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" name="Rectangle 6"/>
          <p:cNvSpPr/>
          <p:nvPr/>
        </p:nvSpPr>
        <p:spPr>
          <a:xfrm>
            <a:off x="3175" y="6400800"/>
            <a:ext cx="12188825" cy="457200"/>
          </a:xfrm>
          <a:prstGeom prst="rect">
            <a:avLst/>
          </a:prstGeom>
          <a:solidFill>
            <a:schemeClr val="accent2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</p:sp>
      <p:sp>
        <p:nvSpPr>
          <p:cNvPr id="8" name="Rectangle 7"/>
          <p:cNvSpPr/>
          <p:nvPr/>
        </p:nvSpPr>
        <p:spPr>
          <a:xfrm>
            <a:off x="15" y="6334316"/>
            <a:ext cx="12188825" cy="64008"/>
          </a:xfrm>
          <a:prstGeom prst="rect">
            <a:avLst/>
          </a:prstGeom>
          <a:solidFill>
            <a:schemeClr val="accent1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</p:sp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097280" y="758952"/>
            <a:ext cx="10058400" cy="3566160"/>
          </a:xfrm>
        </p:spPr>
        <p:txBody>
          <a:bodyPr anchor="b" anchorCtr="0">
            <a:normAutofit/>
          </a:bodyPr>
          <a:lstStyle>
            <a:lvl1pPr>
              <a:lnSpc>
                <a:spcPct val="85000"/>
              </a:lnSpc>
              <a:defRPr sz="8000" b="0">
                <a:solidFill>
                  <a:schemeClr val="tx1">
                    <a:lumMod val="85000"/>
                    <a:lumOff val="15000"/>
                  </a:schemeClr>
                </a:solidFill>
              </a:defRPr>
            </a:lvl1pPr>
          </a:lstStyle>
          <a:p>
            <a:r>
              <a:rPr lang="zh-TW" altLang="en-US"/>
              <a:t>按一下以編輯母片標題樣式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1097280" y="4453128"/>
            <a:ext cx="10058400" cy="1143000"/>
          </a:xfrm>
        </p:spPr>
        <p:txBody>
          <a:bodyPr lIns="91440" rIns="91440" anchor="t" anchorCtr="0">
            <a:normAutofit/>
          </a:bodyPr>
          <a:lstStyle>
            <a:lvl1pPr marL="0" indent="0">
              <a:buNone/>
              <a:defRPr sz="2400" cap="all" spc="200" baseline="0">
                <a:solidFill>
                  <a:schemeClr val="tx2"/>
                </a:solidFill>
                <a:latin typeface="+mj-lt"/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zh-TW" altLang="en-US"/>
              <a:t>按一下以編輯母片文字樣式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0EBB0C4-6273-4C6E-B9BD-2EDC30F1CD52}" type="datetimeFigureOut">
              <a:rPr lang="en-US" dirty="0"/>
              <a:t>3/23/26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4FAB73BC-B049-4115-A692-8D63A059BFB8}" type="slidenum">
              <a:rPr lang="en-US" dirty="0"/>
              <a:t>‹#›</a:t>
            </a:fld>
            <a:endParaRPr lang="en-US"/>
          </a:p>
        </p:txBody>
      </p:sp>
      <p:cxnSp>
        <p:nvCxnSpPr>
          <p:cNvPr id="9" name="Straight Connector 8"/>
          <p:cNvCxnSpPr/>
          <p:nvPr/>
        </p:nvCxnSpPr>
        <p:spPr>
          <a:xfrm>
            <a:off x="1207658" y="4343400"/>
            <a:ext cx="9875520" cy="0"/>
          </a:xfrm>
          <a:prstGeom prst="line">
            <a:avLst/>
          </a:prstGeom>
          <a:ln w="6350">
            <a:solidFill>
              <a:schemeClr val="tx1">
                <a:lumMod val="50000"/>
                <a:lumOff val="50000"/>
              </a:schemeClr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</p:spTree>
    <p:extLst>
      <p:ext uri="{BB962C8B-B14F-4D97-AF65-F5344CB8AC3E}">
        <p14:creationId xmlns:p14="http://schemas.microsoft.com/office/powerpoint/2010/main" val="4209116564"/>
      </p:ext>
    </p:extLst>
  </p:cSld>
  <p:clrMapOvr>
    <a:masterClrMapping/>
  </p:clrMapOvr>
  <p:hf hdr="0" ftr="0" dt="0"/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兩個內容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1097279" y="1845734"/>
            <a:ext cx="4937760" cy="4023360"/>
          </a:xfrm>
        </p:spPr>
        <p:txBody>
          <a:bodyPr/>
          <a:lstStyle/>
          <a:p>
            <a:pPr lvl="0"/>
            <a:r>
              <a:rPr lang="zh-TW" altLang="en-US"/>
              <a:t>按一下以編輯母片文字樣式</a:t>
            </a:r>
          </a:p>
          <a:p>
            <a:pPr lvl="1"/>
            <a:r>
              <a:rPr lang="zh-TW" altLang="en-US"/>
              <a:t>第二層</a:t>
            </a:r>
          </a:p>
          <a:p>
            <a:pPr lvl="2"/>
            <a:r>
              <a:rPr lang="zh-TW" altLang="en-US"/>
              <a:t>第三層</a:t>
            </a:r>
          </a:p>
          <a:p>
            <a:pPr lvl="3"/>
            <a:r>
              <a:rPr lang="zh-TW" altLang="en-US"/>
              <a:t>第四層</a:t>
            </a:r>
          </a:p>
          <a:p>
            <a:pPr lvl="4"/>
            <a:r>
              <a:rPr lang="zh-TW" altLang="en-US"/>
              <a:t>第五層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6217920" y="1845735"/>
            <a:ext cx="4937760" cy="4023360"/>
          </a:xfrm>
        </p:spPr>
        <p:txBody>
          <a:bodyPr/>
          <a:lstStyle/>
          <a:p>
            <a:pPr lvl="0"/>
            <a:r>
              <a:rPr lang="zh-TW" altLang="en-US"/>
              <a:t>按一下以編輯母片文字樣式</a:t>
            </a:r>
          </a:p>
          <a:p>
            <a:pPr lvl="1"/>
            <a:r>
              <a:rPr lang="zh-TW" altLang="en-US"/>
              <a:t>第二層</a:t>
            </a:r>
          </a:p>
          <a:p>
            <a:pPr lvl="2"/>
            <a:r>
              <a:rPr lang="zh-TW" altLang="en-US"/>
              <a:t>第三層</a:t>
            </a:r>
          </a:p>
          <a:p>
            <a:pPr lvl="3"/>
            <a:r>
              <a:rPr lang="zh-TW" altLang="en-US"/>
              <a:t>第四層</a:t>
            </a:r>
          </a:p>
          <a:p>
            <a:pPr lvl="4"/>
            <a:r>
              <a:rPr lang="zh-TW" altLang="en-US"/>
              <a:t>第五層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19AB4D41-86C1-4908-B66A-0B50CEB3BF29}" type="datetimeFigureOut">
              <a:rPr lang="en-US" dirty="0"/>
              <a:t>3/23/26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4FAB73BC-B049-4115-A692-8D63A059BFB8}" type="slidenum">
              <a:rPr lang="en-US" dirty="0"/>
              <a:t>‹#›</a:t>
            </a:fld>
            <a:endParaRPr lang="en-US"/>
          </a:p>
        </p:txBody>
      </p:sp>
      <p:sp>
        <p:nvSpPr>
          <p:cNvPr id="2" name="Title Placeholder 1">
            <a:extLst>
              <a:ext uri="{FF2B5EF4-FFF2-40B4-BE49-F238E27FC236}">
                <a16:creationId xmlns:a16="http://schemas.microsoft.com/office/drawing/2014/main" id="{23DAB314-DF41-49F3-8643-5960470A9A8E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1097280" y="356088"/>
            <a:ext cx="10058400" cy="1033416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zh-TW" altLang="en-US"/>
              <a:t>按一下以編輯母片標題樣式</a:t>
            </a:r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177649639"/>
      </p:ext>
    </p:extLst>
  </p:cSld>
  <p:clrMapOvr>
    <a:masterClrMapping/>
  </p:clrMapOvr>
  <p:hf hdr="0" ftr="0" dt="0"/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比較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1097280" y="1846052"/>
            <a:ext cx="4937760" cy="736282"/>
          </a:xfrm>
        </p:spPr>
        <p:txBody>
          <a:bodyPr lIns="91440" rIns="91440" anchor="ctr">
            <a:normAutofit/>
          </a:bodyPr>
          <a:lstStyle>
            <a:lvl1pPr marL="0" indent="0">
              <a:buNone/>
              <a:defRPr sz="2000" b="0" cap="all" baseline="0">
                <a:solidFill>
                  <a:schemeClr val="tx2"/>
                </a:solidFill>
              </a:defRPr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zh-TW" altLang="en-US"/>
              <a:t>按一下以編輯母片文字樣式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1097280" y="2582334"/>
            <a:ext cx="4937760" cy="3378200"/>
          </a:xfrm>
        </p:spPr>
        <p:txBody>
          <a:bodyPr/>
          <a:lstStyle/>
          <a:p>
            <a:pPr lvl="0"/>
            <a:r>
              <a:rPr lang="zh-TW" altLang="en-US"/>
              <a:t>按一下以編輯母片文字樣式</a:t>
            </a:r>
          </a:p>
          <a:p>
            <a:pPr lvl="1"/>
            <a:r>
              <a:rPr lang="zh-TW" altLang="en-US"/>
              <a:t>第二層</a:t>
            </a:r>
          </a:p>
          <a:p>
            <a:pPr lvl="2"/>
            <a:r>
              <a:rPr lang="zh-TW" altLang="en-US"/>
              <a:t>第三層</a:t>
            </a:r>
          </a:p>
          <a:p>
            <a:pPr lvl="3"/>
            <a:r>
              <a:rPr lang="zh-TW" altLang="en-US"/>
              <a:t>第四層</a:t>
            </a:r>
          </a:p>
          <a:p>
            <a:pPr lvl="4"/>
            <a:r>
              <a:rPr lang="zh-TW" altLang="en-US"/>
              <a:t>第五層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6217920" y="1846052"/>
            <a:ext cx="4937760" cy="736282"/>
          </a:xfrm>
        </p:spPr>
        <p:txBody>
          <a:bodyPr lIns="91440" rIns="91440" anchor="ctr">
            <a:normAutofit/>
          </a:bodyPr>
          <a:lstStyle>
            <a:lvl1pPr marL="0" indent="0">
              <a:buNone/>
              <a:defRPr sz="2000" b="0" cap="all" baseline="0">
                <a:solidFill>
                  <a:schemeClr val="tx2"/>
                </a:solidFill>
              </a:defRPr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zh-TW" altLang="en-US"/>
              <a:t>按一下以編輯母片文字樣式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6217920" y="2582334"/>
            <a:ext cx="4937760" cy="3378200"/>
          </a:xfrm>
        </p:spPr>
        <p:txBody>
          <a:bodyPr/>
          <a:lstStyle/>
          <a:p>
            <a:pPr lvl="0"/>
            <a:r>
              <a:rPr lang="zh-TW" altLang="en-US"/>
              <a:t>按一下以編輯母片文字樣式</a:t>
            </a:r>
          </a:p>
          <a:p>
            <a:pPr lvl="1"/>
            <a:r>
              <a:rPr lang="zh-TW" altLang="en-US"/>
              <a:t>第二層</a:t>
            </a:r>
          </a:p>
          <a:p>
            <a:pPr lvl="2"/>
            <a:r>
              <a:rPr lang="zh-TW" altLang="en-US"/>
              <a:t>第三層</a:t>
            </a:r>
          </a:p>
          <a:p>
            <a:pPr lvl="3"/>
            <a:r>
              <a:rPr lang="zh-TW" altLang="en-US"/>
              <a:t>第四層</a:t>
            </a:r>
          </a:p>
          <a:p>
            <a:pPr lvl="4"/>
            <a:r>
              <a:rPr lang="zh-TW" altLang="en-US"/>
              <a:t>第五層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426E2C-56C1-4E0D-A793-0088A7FDD37E}" type="datetimeFigureOut">
              <a:rPr lang="en-US" dirty="0"/>
              <a:t>3/23/26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4FAB73BC-B049-4115-A692-8D63A059BFB8}" type="slidenum">
              <a:rPr lang="en-US" dirty="0"/>
              <a:t>‹#›</a:t>
            </a:fld>
            <a:endParaRPr lang="en-US"/>
          </a:p>
        </p:txBody>
      </p:sp>
      <p:sp>
        <p:nvSpPr>
          <p:cNvPr id="2" name="Title Placeholder 1">
            <a:extLst>
              <a:ext uri="{FF2B5EF4-FFF2-40B4-BE49-F238E27FC236}">
                <a16:creationId xmlns:a16="http://schemas.microsoft.com/office/drawing/2014/main" id="{826FF28B-EE0C-0976-1882-688F90260E58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1097280" y="356088"/>
            <a:ext cx="10058400" cy="1033416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zh-TW" altLang="en-US"/>
              <a:t>按一下以編輯母片標題樣式</a:t>
            </a:r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3163792004"/>
      </p:ext>
    </p:extLst>
  </p:cSld>
  <p:clrMapOvr>
    <a:masterClrMapping/>
  </p:clrMapOvr>
  <p:hf hdr="0" ftr="0" dt="0"/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只有標題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C8C39B41-D8B5-4052-B551-9B5525EAA8B6}" type="datetimeFigureOut">
              <a:rPr lang="en-US" dirty="0"/>
              <a:t>3/23/26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4FAB73BC-B049-4115-A692-8D63A059BFB8}" type="slidenum">
              <a:rPr lang="en-US" dirty="0"/>
              <a:t>‹#›</a:t>
            </a:fld>
            <a:endParaRPr lang="en-US"/>
          </a:p>
        </p:txBody>
      </p:sp>
      <p:sp>
        <p:nvSpPr>
          <p:cNvPr id="6" name="Title Placeholder 1">
            <a:extLst>
              <a:ext uri="{FF2B5EF4-FFF2-40B4-BE49-F238E27FC236}">
                <a16:creationId xmlns:a16="http://schemas.microsoft.com/office/drawing/2014/main" id="{78DE478E-C0B1-6FFC-0061-DA2334C3F997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1097280" y="356088"/>
            <a:ext cx="10058400" cy="1033416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zh-TW" altLang="en-US"/>
              <a:t>按一下以編輯母片標題樣式</a:t>
            </a:r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2566719898"/>
      </p:ext>
    </p:extLst>
  </p:cSld>
  <p:clrMapOvr>
    <a:masterClrMapping/>
  </p:clrMapOvr>
  <p:hf hdr="0" ftr="0" dt="0"/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showMasterSp="0" type="blank" preserve="1">
  <p:cSld name="空白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" name="Rectangle 4"/>
          <p:cNvSpPr/>
          <p:nvPr/>
        </p:nvSpPr>
        <p:spPr>
          <a:xfrm>
            <a:off x="3175" y="6400800"/>
            <a:ext cx="12188825" cy="457200"/>
          </a:xfrm>
          <a:prstGeom prst="rect">
            <a:avLst/>
          </a:prstGeom>
          <a:solidFill>
            <a:schemeClr val="accent2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</p:sp>
      <p:sp>
        <p:nvSpPr>
          <p:cNvPr id="6" name="Rectangle 5"/>
          <p:cNvSpPr/>
          <p:nvPr/>
        </p:nvSpPr>
        <p:spPr>
          <a:xfrm>
            <a:off x="15" y="6334316"/>
            <a:ext cx="12188825" cy="64008"/>
          </a:xfrm>
          <a:prstGeom prst="rect">
            <a:avLst/>
          </a:prstGeom>
          <a:solidFill>
            <a:schemeClr val="accent1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4D94136C-8742-45B2-AF27-D93DF72833A9}" type="datetimeFigureOut">
              <a:rPr lang="en-US" dirty="0"/>
              <a:t>3/23/26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>
            <a:lvl1pPr>
              <a:defRPr>
                <a:solidFill>
                  <a:srgbClr val="FFFFFF"/>
                </a:solidFill>
              </a:defRPr>
            </a:lvl1pPr>
          </a:lstStyle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4FAB73BC-B049-4115-A692-8D63A059BFB8}" type="slidenum">
              <a:rPr lang="en-US" dirty="0"/>
              <a:pPr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411310670"/>
      </p:ext>
    </p:extLst>
  </p:cSld>
  <p:clrMapOvr>
    <a:masterClrMapping/>
  </p:clrMapOvr>
  <p:hf hdr="0" ftr="0" dt="0"/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showMasterSp="0" type="objTx" preserve="1">
  <p:cSld name="含輔助字幕的內容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" name="Rectangle 7"/>
          <p:cNvSpPr/>
          <p:nvPr/>
        </p:nvSpPr>
        <p:spPr>
          <a:xfrm>
            <a:off x="16" y="0"/>
            <a:ext cx="4050791" cy="6858000"/>
          </a:xfrm>
          <a:prstGeom prst="rect">
            <a:avLst/>
          </a:prstGeom>
          <a:solidFill>
            <a:schemeClr val="accent2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</p:sp>
      <p:sp>
        <p:nvSpPr>
          <p:cNvPr id="9" name="Rectangle 8"/>
          <p:cNvSpPr/>
          <p:nvPr/>
        </p:nvSpPr>
        <p:spPr>
          <a:xfrm>
            <a:off x="4040071" y="0"/>
            <a:ext cx="64008" cy="6858000"/>
          </a:xfrm>
          <a:prstGeom prst="rect">
            <a:avLst/>
          </a:prstGeom>
          <a:solidFill>
            <a:schemeClr val="accent1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</p:sp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594359"/>
            <a:ext cx="3200400" cy="2286000"/>
          </a:xfrm>
        </p:spPr>
        <p:txBody>
          <a:bodyPr anchor="b">
            <a:normAutofit/>
          </a:bodyPr>
          <a:lstStyle>
            <a:lvl1pPr>
              <a:defRPr sz="3600" b="0">
                <a:solidFill>
                  <a:srgbClr val="FFFFFF"/>
                </a:solidFill>
              </a:defRPr>
            </a:lvl1pPr>
          </a:lstStyle>
          <a:p>
            <a:r>
              <a:rPr lang="zh-TW" altLang="en-US"/>
              <a:t>按一下以編輯母片標題樣式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4800600" y="731520"/>
            <a:ext cx="6492240" cy="5257800"/>
          </a:xfrm>
        </p:spPr>
        <p:txBody>
          <a:bodyPr/>
          <a:lstStyle/>
          <a:p>
            <a:pPr lvl="0"/>
            <a:r>
              <a:rPr lang="zh-TW" altLang="en-US"/>
              <a:t>按一下以編輯母片文字樣式</a:t>
            </a:r>
          </a:p>
          <a:p>
            <a:pPr lvl="1"/>
            <a:r>
              <a:rPr lang="zh-TW" altLang="en-US"/>
              <a:t>第二層</a:t>
            </a:r>
          </a:p>
          <a:p>
            <a:pPr lvl="2"/>
            <a:r>
              <a:rPr lang="zh-TW" altLang="en-US"/>
              <a:t>第三層</a:t>
            </a:r>
          </a:p>
          <a:p>
            <a:pPr lvl="3"/>
            <a:r>
              <a:rPr lang="zh-TW" altLang="en-US"/>
              <a:t>第四層</a:t>
            </a:r>
          </a:p>
          <a:p>
            <a:pPr lvl="4"/>
            <a:r>
              <a:rPr lang="zh-TW" altLang="en-US"/>
              <a:t>第五層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2926080"/>
            <a:ext cx="3200400" cy="3379124"/>
          </a:xfrm>
        </p:spPr>
        <p:txBody>
          <a:bodyPr lIns="91440" rIns="91440">
            <a:normAutofit/>
          </a:bodyPr>
          <a:lstStyle>
            <a:lvl1pPr marL="0" indent="0">
              <a:buNone/>
              <a:defRPr sz="1500">
                <a:solidFill>
                  <a:srgbClr val="FFFFFF"/>
                </a:solidFill>
              </a:defRPr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zh-TW" altLang="en-US"/>
              <a:t>按一下以編輯母片文字樣式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>
          <a:xfrm>
            <a:off x="465512" y="6459785"/>
            <a:ext cx="2618510" cy="365125"/>
          </a:xfrm>
        </p:spPr>
        <p:txBody>
          <a:bodyPr/>
          <a:lstStyle>
            <a:lvl1pPr algn="l">
              <a:defRPr/>
            </a:lvl1pPr>
          </a:lstStyle>
          <a:p>
            <a:fld id="{32ABBEA6-7C60-4B02-AE87-00D78D8422AF}" type="datetimeFigureOut">
              <a:rPr lang="en-US" dirty="0"/>
              <a:t>3/23/26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>
          <a:xfrm>
            <a:off x="4800600" y="6459785"/>
            <a:ext cx="4648200" cy="365125"/>
          </a:xfrm>
        </p:spPr>
        <p:txBody>
          <a:bodyPr/>
          <a:lstStyle>
            <a:lvl1pPr algn="l">
              <a:defRPr>
                <a:solidFill>
                  <a:schemeClr val="tx2"/>
                </a:solidFill>
              </a:defRPr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>
            <a:lvl1pPr>
              <a:defRPr>
                <a:solidFill>
                  <a:schemeClr val="tx2"/>
                </a:solidFill>
              </a:defRPr>
            </a:lvl1pPr>
          </a:lstStyle>
          <a:p>
            <a:fld id="{4FAB73BC-B049-4115-A692-8D63A059BFB8}" type="slidenum">
              <a:rPr lang="en-US" dirty="0"/>
              <a:pPr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79226812"/>
      </p:ext>
    </p:extLst>
  </p:cSld>
  <p:clrMapOvr>
    <a:masterClrMapping/>
  </p:clrMapOvr>
  <p:hf hdr="0" ftr="0" dt="0"/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showMasterSp="0" type="picTx" preserve="1">
  <p:cSld name="含輔助字幕的圖片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" name="Rectangle 7"/>
          <p:cNvSpPr/>
          <p:nvPr userDrawn="1"/>
        </p:nvSpPr>
        <p:spPr>
          <a:xfrm>
            <a:off x="0" y="4953000"/>
            <a:ext cx="12188825" cy="1905000"/>
          </a:xfrm>
          <a:prstGeom prst="rect">
            <a:avLst/>
          </a:prstGeom>
          <a:solidFill>
            <a:schemeClr val="accent2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</p:sp>
      <p:sp>
        <p:nvSpPr>
          <p:cNvPr id="9" name="Rectangle 8"/>
          <p:cNvSpPr/>
          <p:nvPr/>
        </p:nvSpPr>
        <p:spPr>
          <a:xfrm>
            <a:off x="15" y="4915076"/>
            <a:ext cx="12188825" cy="64008"/>
          </a:xfrm>
          <a:prstGeom prst="rect">
            <a:avLst/>
          </a:prstGeom>
          <a:solidFill>
            <a:schemeClr val="accent1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</p:sp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097280" y="5074920"/>
            <a:ext cx="10113264" cy="822960"/>
          </a:xfrm>
        </p:spPr>
        <p:txBody>
          <a:bodyPr lIns="91440" tIns="0" rIns="91440" bIns="0" anchor="b">
            <a:noAutofit/>
          </a:bodyPr>
          <a:lstStyle>
            <a:lvl1pPr>
              <a:defRPr sz="3600" b="0">
                <a:solidFill>
                  <a:srgbClr val="FFFFFF"/>
                </a:solidFill>
              </a:defRPr>
            </a:lvl1pPr>
          </a:lstStyle>
          <a:p>
            <a:r>
              <a:rPr lang="zh-TW" altLang="en-US"/>
              <a:t>按一下以編輯母片標題樣式</a:t>
            </a:r>
            <a:endParaRPr lang="en-US"/>
          </a:p>
        </p:txBody>
      </p:sp>
      <p:sp>
        <p:nvSpPr>
          <p:cNvPr id="3" name="Picture Placeholder 2"/>
          <p:cNvSpPr>
            <a:spLocks noGrp="1" noChangeAspect="1"/>
          </p:cNvSpPr>
          <p:nvPr>
            <p:ph type="pic" idx="1"/>
          </p:nvPr>
        </p:nvSpPr>
        <p:spPr>
          <a:xfrm>
            <a:off x="15" y="0"/>
            <a:ext cx="12191985" cy="4915076"/>
          </a:xfrm>
          <a:blipFill>
            <a:blip r:embed="rId2"/>
            <a:stretch>
              <a:fillRect/>
            </a:stretch>
          </a:blipFill>
        </p:spPr>
        <p:txBody>
          <a:bodyPr lIns="457200" tIns="457200" anchor="t"/>
          <a:lstStyle>
            <a:lvl1pPr marL="0" indent="0">
              <a:buNone/>
              <a:defRPr sz="3200">
                <a:solidFill>
                  <a:schemeClr val="bg1"/>
                </a:solidFill>
              </a:defRPr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r>
              <a:rPr lang="zh-TW" altLang="en-US"/>
              <a:t>按一下圖示以新增圖片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097280" y="5907023"/>
            <a:ext cx="10113264" cy="594360"/>
          </a:xfrm>
        </p:spPr>
        <p:txBody>
          <a:bodyPr lIns="91440" tIns="0" rIns="91440" bIns="0">
            <a:normAutofit/>
          </a:bodyPr>
          <a:lstStyle>
            <a:lvl1pPr marL="0" indent="0">
              <a:spcBef>
                <a:spcPts val="0"/>
              </a:spcBef>
              <a:spcAft>
                <a:spcPts val="600"/>
              </a:spcAft>
              <a:buNone/>
              <a:defRPr sz="1500">
                <a:solidFill>
                  <a:srgbClr val="FFFFFF"/>
                </a:solidFill>
              </a:defRPr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zh-TW" altLang="en-US"/>
              <a:t>按一下以編輯母片文字樣式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C9CAD897-D46E-4AD2-BD9B-49DD3E640873}" type="datetimeFigureOut">
              <a:rPr lang="en-US" dirty="0"/>
              <a:t>3/23/26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4FAB73BC-B049-4115-A692-8D63A059BFB8}" type="slidenum">
              <a:rPr lang="en-US" dirty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849161626"/>
      </p:ext>
    </p:extLst>
  </p:cSld>
  <p:clrMapOvr>
    <a:masterClrMapping/>
  </p:clrMapOvr>
  <p:hf hdr="0" ftr="0" dt="0"/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標題及直排文字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 lIns="45720" tIns="0" rIns="45720" bIns="0"/>
          <a:lstStyle/>
          <a:p>
            <a:pPr lvl="0"/>
            <a:r>
              <a:rPr lang="zh-TW" altLang="en-US"/>
              <a:t>按一下以編輯母片文字樣式</a:t>
            </a:r>
          </a:p>
          <a:p>
            <a:pPr lvl="1"/>
            <a:r>
              <a:rPr lang="zh-TW" altLang="en-US"/>
              <a:t>第二層</a:t>
            </a:r>
          </a:p>
          <a:p>
            <a:pPr lvl="2"/>
            <a:r>
              <a:rPr lang="zh-TW" altLang="en-US"/>
              <a:t>第三層</a:t>
            </a:r>
          </a:p>
          <a:p>
            <a:pPr lvl="3"/>
            <a:r>
              <a:rPr lang="zh-TW" altLang="en-US"/>
              <a:t>第四層</a:t>
            </a:r>
          </a:p>
          <a:p>
            <a:pPr lvl="4"/>
            <a:r>
              <a:rPr lang="zh-TW" altLang="en-US"/>
              <a:t>第五層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E2D6473-DF6D-4702-B328-E0DD40540A4E}" type="datetimeFigureOut">
              <a:rPr lang="en-US" dirty="0"/>
              <a:t>3/23/26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4FAB73BC-B049-4115-A692-8D63A059BFB8}" type="slidenum">
              <a:rPr lang="en-US" dirty="0"/>
              <a:t>‹#›</a:t>
            </a:fld>
            <a:endParaRPr lang="en-US"/>
          </a:p>
        </p:txBody>
      </p:sp>
      <p:sp>
        <p:nvSpPr>
          <p:cNvPr id="7" name="Title 1">
            <a:extLst>
              <a:ext uri="{FF2B5EF4-FFF2-40B4-BE49-F238E27FC236}">
                <a16:creationId xmlns:a16="http://schemas.microsoft.com/office/drawing/2014/main" id="{25B6B208-0D45-71D0-C7BE-D6974D30EB1D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1097280" y="356088"/>
            <a:ext cx="10058400" cy="1033416"/>
          </a:xfrm>
        </p:spPr>
        <p:txBody>
          <a:bodyPr/>
          <a:lstStyle>
            <a:lvl1pPr marL="0">
              <a:defRPr/>
            </a:lvl1pPr>
          </a:lstStyle>
          <a:p>
            <a:r>
              <a:rPr lang="zh-TW" altLang="en-US"/>
              <a:t>按一下以編輯母片標題樣式</a:t>
            </a:r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90106847"/>
      </p:ext>
    </p:extLst>
  </p:cSld>
  <p:clrMapOvr>
    <a:masterClrMapping/>
  </p:clrMapOvr>
  <p:hf hdr="0" ftr="0" dt="0"/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showMasterSp="0" type="vertTitleAndTx" preserve="1">
  <p:cSld name="直排標題及文字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" name="Rectangle 6"/>
          <p:cNvSpPr/>
          <p:nvPr/>
        </p:nvSpPr>
        <p:spPr>
          <a:xfrm>
            <a:off x="3175" y="6400800"/>
            <a:ext cx="12188825" cy="457200"/>
          </a:xfrm>
          <a:prstGeom prst="rect">
            <a:avLst/>
          </a:prstGeom>
          <a:solidFill>
            <a:schemeClr val="accent2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</p:sp>
      <p:sp>
        <p:nvSpPr>
          <p:cNvPr id="8" name="Rectangle 7"/>
          <p:cNvSpPr/>
          <p:nvPr/>
        </p:nvSpPr>
        <p:spPr>
          <a:xfrm>
            <a:off x="15" y="6334316"/>
            <a:ext cx="12188825" cy="64008"/>
          </a:xfrm>
          <a:prstGeom prst="rect">
            <a:avLst/>
          </a:prstGeom>
          <a:solidFill>
            <a:schemeClr val="accent1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</p:sp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8724900" y="414778"/>
            <a:ext cx="2628900" cy="5757421"/>
          </a:xfrm>
        </p:spPr>
        <p:txBody>
          <a:bodyPr vert="eaVert"/>
          <a:lstStyle/>
          <a:p>
            <a:r>
              <a:rPr lang="zh-TW" altLang="en-US"/>
              <a:t>按一下以編輯母片標題樣式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838200" y="414778"/>
            <a:ext cx="7734300" cy="5757422"/>
          </a:xfrm>
        </p:spPr>
        <p:txBody>
          <a:bodyPr vert="eaVert" lIns="45720" tIns="0" rIns="45720" bIns="0"/>
          <a:lstStyle/>
          <a:p>
            <a:pPr lvl="0"/>
            <a:r>
              <a:rPr lang="zh-TW" altLang="en-US"/>
              <a:t>按一下以編輯母片文字樣式</a:t>
            </a:r>
          </a:p>
          <a:p>
            <a:pPr lvl="1"/>
            <a:r>
              <a:rPr lang="zh-TW" altLang="en-US"/>
              <a:t>第二層</a:t>
            </a:r>
          </a:p>
          <a:p>
            <a:pPr lvl="2"/>
            <a:r>
              <a:rPr lang="zh-TW" altLang="en-US"/>
              <a:t>第三層</a:t>
            </a:r>
          </a:p>
          <a:p>
            <a:pPr lvl="3"/>
            <a:r>
              <a:rPr lang="zh-TW" altLang="en-US"/>
              <a:t>第四層</a:t>
            </a:r>
          </a:p>
          <a:p>
            <a:pPr lvl="4"/>
            <a:r>
              <a:rPr lang="zh-TW" altLang="en-US"/>
              <a:t>第五層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26F7E3A-B166-407D-9866-32884E7D5B37}" type="datetimeFigureOut">
              <a:rPr lang="en-US" dirty="0"/>
              <a:t>3/23/26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4FAB73BC-B049-4115-A692-8D63A059BFB8}" type="slidenum">
              <a:rPr lang="en-US" dirty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834143666"/>
      </p:ext>
    </p:extLst>
  </p:cSld>
  <p:clrMapOvr>
    <a:masterClrMapping/>
  </p:clrMapOvr>
  <p:hf hdr="0" ftr="0" dt="0"/>
</p:sldLayout>
</file>

<file path=ppt/slideMasters/_rels/slideMaster1.xml.rels><?xml version="1.0" encoding="UTF-8" standalone="yes"?>
<Relationships xmlns="http://schemas.openxmlformats.org/package/2006/relationships"><Relationship Id="rId8" Type="http://schemas.openxmlformats.org/officeDocument/2006/relationships/slideLayout" Target="../slideLayouts/slideLayout8.xml"/><Relationship Id="rId3" Type="http://schemas.openxmlformats.org/officeDocument/2006/relationships/slideLayout" Target="../slideLayouts/slideLayout3.xml"/><Relationship Id="rId7" Type="http://schemas.openxmlformats.org/officeDocument/2006/relationships/slideLayout" Target="../slideLayouts/slideLayout7.xml"/><Relationship Id="rId12" Type="http://schemas.openxmlformats.org/officeDocument/2006/relationships/theme" Target="../theme/theme1.xml"/><Relationship Id="rId2" Type="http://schemas.openxmlformats.org/officeDocument/2006/relationships/slideLayout" Target="../slideLayouts/slideLayout2.xml"/><Relationship Id="rId1" Type="http://schemas.openxmlformats.org/officeDocument/2006/relationships/slideLayout" Target="../slideLayouts/slideLayout1.xml"/><Relationship Id="rId6" Type="http://schemas.openxmlformats.org/officeDocument/2006/relationships/slideLayout" Target="../slideLayouts/slideLayout6.xml"/><Relationship Id="rId11" Type="http://schemas.openxmlformats.org/officeDocument/2006/relationships/slideLayout" Target="../slideLayouts/slideLayout11.xml"/><Relationship Id="rId5" Type="http://schemas.openxmlformats.org/officeDocument/2006/relationships/slideLayout" Target="../slideLayouts/slideLayout5.xml"/><Relationship Id="rId10" Type="http://schemas.openxmlformats.org/officeDocument/2006/relationships/slideLayout" Target="../slideLayouts/slideLayout10.xml"/><Relationship Id="rId4" Type="http://schemas.openxmlformats.org/officeDocument/2006/relationships/slideLayout" Target="../slideLayouts/slideLayout4.xml"/><Relationship Id="rId9" Type="http://schemas.openxmlformats.org/officeDocument/2006/relationships/slideLayout" Target="../slideLayouts/slideLayout9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" name="Rectangle 8"/>
          <p:cNvSpPr/>
          <p:nvPr/>
        </p:nvSpPr>
        <p:spPr>
          <a:xfrm>
            <a:off x="676003" y="1355758"/>
            <a:ext cx="10839994" cy="45719"/>
          </a:xfrm>
          <a:prstGeom prst="rect">
            <a:avLst/>
          </a:prstGeom>
          <a:solidFill>
            <a:srgbClr val="FF9400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</p:sp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1097280" y="356088"/>
            <a:ext cx="10058400" cy="1033416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zh-TW" altLang="en-US"/>
              <a:t>按一下以編輯母片標題樣式</a:t>
            </a:r>
            <a:endParaRPr lang="en-US" dirty="0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1097280" y="1845734"/>
            <a:ext cx="10058400" cy="4023360"/>
          </a:xfrm>
          <a:prstGeom prst="rect">
            <a:avLst/>
          </a:prstGeom>
        </p:spPr>
        <p:txBody>
          <a:bodyPr vert="horz" lIns="0" tIns="45720" rIns="0" bIns="45720" rtlCol="0">
            <a:normAutofit/>
          </a:bodyPr>
          <a:lstStyle/>
          <a:p>
            <a:pPr lvl="0"/>
            <a:r>
              <a:rPr lang="zh-TW" altLang="en-US"/>
              <a:t>按一下以編輯母片文字樣式</a:t>
            </a:r>
          </a:p>
          <a:p>
            <a:pPr lvl="1"/>
            <a:r>
              <a:rPr lang="zh-TW" altLang="en-US"/>
              <a:t>第二層</a:t>
            </a:r>
          </a:p>
          <a:p>
            <a:pPr lvl="2"/>
            <a:r>
              <a:rPr lang="zh-TW" altLang="en-US"/>
              <a:t>第三層</a:t>
            </a:r>
          </a:p>
          <a:p>
            <a:pPr lvl="3"/>
            <a:r>
              <a:rPr lang="zh-TW" altLang="en-US"/>
              <a:t>第四層</a:t>
            </a:r>
          </a:p>
          <a:p>
            <a:pPr lvl="4"/>
            <a:r>
              <a:rPr lang="zh-TW" altLang="en-US"/>
              <a:t>第五層</a:t>
            </a:r>
            <a:endParaRPr lang="en-US" dirty="0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1097280" y="6459785"/>
            <a:ext cx="2472271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900">
                <a:solidFill>
                  <a:schemeClr val="tx1"/>
                </a:solidFill>
              </a:defRPr>
            </a:lvl1pPr>
          </a:lstStyle>
          <a:p>
            <a:r>
              <a:rPr lang="en-US" dirty="0"/>
              <a:t>CGU</a:t>
            </a:r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686185" y="6459785"/>
            <a:ext cx="4822804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900" cap="all" baseline="0">
                <a:solidFill>
                  <a:srgbClr val="FFFFFF"/>
                </a:solidFill>
              </a:defRPr>
            </a:lvl1pPr>
          </a:lstStyle>
          <a:p>
            <a:endParaRPr lang="en-US" dirty="0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9900458" y="6459785"/>
            <a:ext cx="1312025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050">
                <a:solidFill>
                  <a:srgbClr val="FFFFFF"/>
                </a:solidFill>
              </a:defRPr>
            </a:lvl1pPr>
          </a:lstStyle>
          <a:p>
            <a:fld id="{4FAB73BC-B049-4115-A692-8D63A059BFB8}" type="slidenum">
              <a:rPr lang="en-US" dirty="0"/>
              <a:pPr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567101252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709" r:id="rId1"/>
    <p:sldLayoutId id="2147483710" r:id="rId2"/>
    <p:sldLayoutId id="2147483711" r:id="rId3"/>
    <p:sldLayoutId id="2147483712" r:id="rId4"/>
    <p:sldLayoutId id="2147483713" r:id="rId5"/>
    <p:sldLayoutId id="2147483714" r:id="rId6"/>
    <p:sldLayoutId id="2147483715" r:id="rId7"/>
    <p:sldLayoutId id="2147483716" r:id="rId8"/>
    <p:sldLayoutId id="2147483717" r:id="rId9"/>
    <p:sldLayoutId id="2147483718" r:id="rId10"/>
    <p:sldLayoutId id="2147483719" r:id="rId11"/>
  </p:sldLayoutIdLst>
  <p:hf hdr="0" ftr="0" dt="0"/>
  <p:txStyles>
    <p:titleStyle>
      <a:lvl1pPr algn="l" defTabSz="914400" rtl="0" eaLnBrk="1" latinLnBrk="0" hangingPunct="1">
        <a:lnSpc>
          <a:spcPct val="85000"/>
        </a:lnSpc>
        <a:spcBef>
          <a:spcPct val="0"/>
        </a:spcBef>
        <a:buNone/>
        <a:defRPr sz="4800" kern="1200" spc="-50" baseline="0">
          <a:solidFill>
            <a:schemeClr val="tx1">
              <a:lumMod val="75000"/>
              <a:lumOff val="25000"/>
            </a:schemeClr>
          </a:solidFill>
          <a:latin typeface="+mj-lt"/>
          <a:ea typeface="+mj-ea"/>
          <a:cs typeface="+mj-cs"/>
        </a:defRPr>
      </a:lvl1pPr>
    </p:titleStyle>
    <p:bodyStyle>
      <a:lvl1pPr marL="91440" indent="-91440" algn="l" defTabSz="914400" rtl="0" eaLnBrk="1" latinLnBrk="0" hangingPunct="1">
        <a:lnSpc>
          <a:spcPct val="90000"/>
        </a:lnSpc>
        <a:spcBef>
          <a:spcPts val="1200"/>
        </a:spcBef>
        <a:spcAft>
          <a:spcPts val="200"/>
        </a:spcAft>
        <a:buClr>
          <a:schemeClr val="accent1"/>
        </a:buClr>
        <a:buSzPct val="100000"/>
        <a:buFont typeface="Calibri" panose="020F0502020204030204" pitchFamily="34" charset="0"/>
        <a:buChar char=" "/>
        <a:defRPr sz="2000" kern="1200">
          <a:solidFill>
            <a:schemeClr val="tx1">
              <a:lumMod val="75000"/>
              <a:lumOff val="25000"/>
            </a:schemeClr>
          </a:solidFill>
          <a:latin typeface="+mn-lt"/>
          <a:ea typeface="+mn-ea"/>
          <a:cs typeface="+mn-cs"/>
        </a:defRPr>
      </a:lvl1pPr>
      <a:lvl2pPr marL="384048" indent="-182880" algn="l" defTabSz="914400" rtl="0" eaLnBrk="1" latinLnBrk="0" hangingPunct="1">
        <a:lnSpc>
          <a:spcPct val="90000"/>
        </a:lnSpc>
        <a:spcBef>
          <a:spcPts val="200"/>
        </a:spcBef>
        <a:spcAft>
          <a:spcPts val="400"/>
        </a:spcAft>
        <a:buClr>
          <a:schemeClr val="accent1"/>
        </a:buClr>
        <a:buFont typeface="Calibri" pitchFamily="34" charset="0"/>
        <a:buChar char="◦"/>
        <a:defRPr sz="1800" kern="1200">
          <a:solidFill>
            <a:schemeClr val="tx1">
              <a:lumMod val="75000"/>
              <a:lumOff val="25000"/>
            </a:schemeClr>
          </a:solidFill>
          <a:latin typeface="+mn-lt"/>
          <a:ea typeface="+mn-ea"/>
          <a:cs typeface="+mn-cs"/>
        </a:defRPr>
      </a:lvl2pPr>
      <a:lvl3pPr marL="566928" indent="-182880" algn="l" defTabSz="914400" rtl="0" eaLnBrk="1" latinLnBrk="0" hangingPunct="1">
        <a:lnSpc>
          <a:spcPct val="90000"/>
        </a:lnSpc>
        <a:spcBef>
          <a:spcPts val="200"/>
        </a:spcBef>
        <a:spcAft>
          <a:spcPts val="400"/>
        </a:spcAft>
        <a:buClr>
          <a:schemeClr val="accent1"/>
        </a:buClr>
        <a:buFont typeface="Calibri" pitchFamily="34" charset="0"/>
        <a:buChar char="◦"/>
        <a:defRPr sz="1400" kern="1200">
          <a:solidFill>
            <a:schemeClr val="tx1">
              <a:lumMod val="75000"/>
              <a:lumOff val="25000"/>
            </a:schemeClr>
          </a:solidFill>
          <a:latin typeface="+mn-lt"/>
          <a:ea typeface="+mn-ea"/>
          <a:cs typeface="+mn-cs"/>
        </a:defRPr>
      </a:lvl3pPr>
      <a:lvl4pPr marL="749808" indent="-182880" algn="l" defTabSz="914400" rtl="0" eaLnBrk="1" latinLnBrk="0" hangingPunct="1">
        <a:lnSpc>
          <a:spcPct val="90000"/>
        </a:lnSpc>
        <a:spcBef>
          <a:spcPts val="200"/>
        </a:spcBef>
        <a:spcAft>
          <a:spcPts val="400"/>
        </a:spcAft>
        <a:buClr>
          <a:schemeClr val="accent1"/>
        </a:buClr>
        <a:buFont typeface="Calibri" pitchFamily="34" charset="0"/>
        <a:buChar char="◦"/>
        <a:defRPr sz="1400" kern="1200">
          <a:solidFill>
            <a:schemeClr val="tx1">
              <a:lumMod val="75000"/>
              <a:lumOff val="25000"/>
            </a:schemeClr>
          </a:solidFill>
          <a:latin typeface="+mn-lt"/>
          <a:ea typeface="+mn-ea"/>
          <a:cs typeface="+mn-cs"/>
        </a:defRPr>
      </a:lvl4pPr>
      <a:lvl5pPr marL="932688" indent="-182880" algn="l" defTabSz="914400" rtl="0" eaLnBrk="1" latinLnBrk="0" hangingPunct="1">
        <a:lnSpc>
          <a:spcPct val="90000"/>
        </a:lnSpc>
        <a:spcBef>
          <a:spcPts val="200"/>
        </a:spcBef>
        <a:spcAft>
          <a:spcPts val="400"/>
        </a:spcAft>
        <a:buClr>
          <a:schemeClr val="accent1"/>
        </a:buClr>
        <a:buFont typeface="Calibri" pitchFamily="34" charset="0"/>
        <a:buChar char="◦"/>
        <a:defRPr sz="1400" kern="1200">
          <a:solidFill>
            <a:schemeClr val="tx1">
              <a:lumMod val="75000"/>
              <a:lumOff val="25000"/>
            </a:schemeClr>
          </a:solidFill>
          <a:latin typeface="+mn-lt"/>
          <a:ea typeface="+mn-ea"/>
          <a:cs typeface="+mn-cs"/>
        </a:defRPr>
      </a:lvl5pPr>
      <a:lvl6pPr marL="1100000" indent="-228600" algn="l" defTabSz="914400" rtl="0" eaLnBrk="1" latinLnBrk="0" hangingPunct="1">
        <a:lnSpc>
          <a:spcPct val="90000"/>
        </a:lnSpc>
        <a:spcBef>
          <a:spcPts val="200"/>
        </a:spcBef>
        <a:spcAft>
          <a:spcPts val="400"/>
        </a:spcAft>
        <a:buClr>
          <a:schemeClr val="accent1"/>
        </a:buClr>
        <a:buFont typeface="Calibri" pitchFamily="34" charset="0"/>
        <a:buChar char="◦"/>
        <a:defRPr sz="1400" kern="1200">
          <a:solidFill>
            <a:schemeClr val="tx1">
              <a:lumMod val="75000"/>
              <a:lumOff val="25000"/>
            </a:schemeClr>
          </a:solidFill>
          <a:latin typeface="+mn-lt"/>
          <a:ea typeface="+mn-ea"/>
          <a:cs typeface="+mn-cs"/>
        </a:defRPr>
      </a:lvl6pPr>
      <a:lvl7pPr marL="1300000" indent="-228600" algn="l" defTabSz="914400" rtl="0" eaLnBrk="1" latinLnBrk="0" hangingPunct="1">
        <a:lnSpc>
          <a:spcPct val="90000"/>
        </a:lnSpc>
        <a:spcBef>
          <a:spcPts val="200"/>
        </a:spcBef>
        <a:spcAft>
          <a:spcPts val="400"/>
        </a:spcAft>
        <a:buClr>
          <a:schemeClr val="accent1"/>
        </a:buClr>
        <a:buFont typeface="Calibri" pitchFamily="34" charset="0"/>
        <a:buChar char="◦"/>
        <a:defRPr sz="1400" kern="1200">
          <a:solidFill>
            <a:schemeClr val="tx1">
              <a:lumMod val="75000"/>
              <a:lumOff val="25000"/>
            </a:schemeClr>
          </a:solidFill>
          <a:latin typeface="+mn-lt"/>
          <a:ea typeface="+mn-ea"/>
          <a:cs typeface="+mn-cs"/>
        </a:defRPr>
      </a:lvl7pPr>
      <a:lvl8pPr marL="1500000" indent="-228600" algn="l" defTabSz="914400" rtl="0" eaLnBrk="1" latinLnBrk="0" hangingPunct="1">
        <a:lnSpc>
          <a:spcPct val="90000"/>
        </a:lnSpc>
        <a:spcBef>
          <a:spcPts val="200"/>
        </a:spcBef>
        <a:spcAft>
          <a:spcPts val="400"/>
        </a:spcAft>
        <a:buClr>
          <a:schemeClr val="accent1"/>
        </a:buClr>
        <a:buFont typeface="Calibri" pitchFamily="34" charset="0"/>
        <a:buChar char="◦"/>
        <a:defRPr sz="1400" kern="1200">
          <a:solidFill>
            <a:schemeClr val="tx1">
              <a:lumMod val="75000"/>
              <a:lumOff val="25000"/>
            </a:schemeClr>
          </a:solidFill>
          <a:latin typeface="+mn-lt"/>
          <a:ea typeface="+mn-ea"/>
          <a:cs typeface="+mn-cs"/>
        </a:defRPr>
      </a:lvl8pPr>
      <a:lvl9pPr marL="1700000" indent="-228600" algn="l" defTabSz="914400" rtl="0" eaLnBrk="1" latinLnBrk="0" hangingPunct="1">
        <a:lnSpc>
          <a:spcPct val="90000"/>
        </a:lnSpc>
        <a:spcBef>
          <a:spcPts val="200"/>
        </a:spcBef>
        <a:spcAft>
          <a:spcPts val="400"/>
        </a:spcAft>
        <a:buClr>
          <a:schemeClr val="accent1"/>
        </a:buClr>
        <a:buFont typeface="Calibri" pitchFamily="34" charset="0"/>
        <a:buChar char="◦"/>
        <a:defRPr sz="1400" kern="1200">
          <a:solidFill>
            <a:schemeClr val="tx1">
              <a:lumMod val="75000"/>
              <a:lumOff val="25000"/>
            </a:schemeClr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3" Type="http://schemas.openxmlformats.org/officeDocument/2006/relationships/hyperlink" Target="https://app.sli.do/event/coTzHMJufgFUhyMLQgCXQ2" TargetMode="External"/><Relationship Id="rId2" Type="http://schemas.openxmlformats.org/officeDocument/2006/relationships/image" Target="../media/image4.png"/><Relationship Id="rId1" Type="http://schemas.openxmlformats.org/officeDocument/2006/relationships/slideLayout" Target="../slideLayouts/slideLayout1.xml"/><Relationship Id="rId5" Type="http://schemas.openxmlformats.org/officeDocument/2006/relationships/image" Target="../media/image6.png"/><Relationship Id="rId4" Type="http://schemas.openxmlformats.org/officeDocument/2006/relationships/image" Target="../media/image5.png"/></Relationships>
</file>

<file path=ppt/slides/_rels/slide2.xml.rels><?xml version="1.0" encoding="UTF-8" standalone="yes"?>
<Relationships xmlns="http://schemas.openxmlformats.org/package/2006/relationships"><Relationship Id="rId3" Type="http://schemas.openxmlformats.org/officeDocument/2006/relationships/image" Target="../media/image450.png"/><Relationship Id="rId2" Type="http://schemas.openxmlformats.org/officeDocument/2006/relationships/image" Target="../media/image440.png"/><Relationship Id="rId1" Type="http://schemas.openxmlformats.org/officeDocument/2006/relationships/slideLayout" Target="../slideLayouts/slideLayout2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3.xml"/></Relationships>
</file>

<file path=ppt/slides/_rels/slide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6.xml.rels><?xml version="1.0" encoding="UTF-8" standalone="yes"?>
<Relationships xmlns="http://schemas.openxmlformats.org/package/2006/relationships"><Relationship Id="rId8" Type="http://schemas.openxmlformats.org/officeDocument/2006/relationships/image" Target="../media/image320.png"/><Relationship Id="rId3" Type="http://schemas.openxmlformats.org/officeDocument/2006/relationships/image" Target="../media/image270.png"/><Relationship Id="rId7" Type="http://schemas.openxmlformats.org/officeDocument/2006/relationships/image" Target="../media/image310.png"/><Relationship Id="rId2" Type="http://schemas.openxmlformats.org/officeDocument/2006/relationships/notesSlide" Target="../notesSlides/notesSlide1.xml"/><Relationship Id="rId1" Type="http://schemas.openxmlformats.org/officeDocument/2006/relationships/slideLayout" Target="../slideLayouts/slideLayout2.xml"/><Relationship Id="rId6" Type="http://schemas.openxmlformats.org/officeDocument/2006/relationships/image" Target="../media/image300.png"/><Relationship Id="rId5" Type="http://schemas.openxmlformats.org/officeDocument/2006/relationships/image" Target="../media/image290.png"/><Relationship Id="rId10" Type="http://schemas.openxmlformats.org/officeDocument/2006/relationships/image" Target="../media/image340.png"/><Relationship Id="rId4" Type="http://schemas.openxmlformats.org/officeDocument/2006/relationships/image" Target="../media/image280.png"/><Relationship Id="rId9" Type="http://schemas.openxmlformats.org/officeDocument/2006/relationships/image" Target="../media/image330.png"/></Relationships>
</file>

<file path=ppt/slides/_rels/slide7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2.xml"/><Relationship Id="rId1" Type="http://schemas.openxmlformats.org/officeDocument/2006/relationships/slideLayout" Target="../slideLayouts/slideLayout2.xml"/></Relationships>
</file>

<file path=ppt/slides/_rels/slide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1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1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1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1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1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1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1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1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1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1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2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2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2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2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2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2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2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2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2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2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3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3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3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33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3.xml"/><Relationship Id="rId1" Type="http://schemas.openxmlformats.org/officeDocument/2006/relationships/slideLayout" Target="../slideLayouts/slideLayout2.xml"/></Relationships>
</file>

<file path=ppt/slides/_rels/slide3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3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3.xml"/></Relationships>
</file>

<file path=ppt/slides/_rels/slide36.xml.rels><?xml version="1.0" encoding="UTF-8" standalone="yes"?>
<Relationships xmlns="http://schemas.openxmlformats.org/package/2006/relationships"><Relationship Id="rId2" Type="http://schemas.openxmlformats.org/officeDocument/2006/relationships/image" Target="../media/image7.jpeg"/><Relationship Id="rId1" Type="http://schemas.openxmlformats.org/officeDocument/2006/relationships/slideLayout" Target="../slideLayouts/slideLayout2.xml"/></Relationships>
</file>

<file path=ppt/slides/_rels/slide37.xml.rels><?xml version="1.0" encoding="UTF-8" standalone="yes"?>
<Relationships xmlns="http://schemas.openxmlformats.org/package/2006/relationships"><Relationship Id="rId2" Type="http://schemas.openxmlformats.org/officeDocument/2006/relationships/image" Target="../media/image8.jpeg"/><Relationship Id="rId1" Type="http://schemas.openxmlformats.org/officeDocument/2006/relationships/slideLayout" Target="../slideLayouts/slideLayout2.xml"/></Relationships>
</file>

<file path=ppt/slides/_rels/slide3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39.xml.rels><?xml version="1.0" encoding="UTF-8" standalone="yes"?>
<Relationships xmlns="http://schemas.openxmlformats.org/package/2006/relationships"><Relationship Id="rId3" Type="http://schemas.openxmlformats.org/officeDocument/2006/relationships/image" Target="../media/image9.png"/><Relationship Id="rId2" Type="http://schemas.openxmlformats.org/officeDocument/2006/relationships/notesSlide" Target="../notesSlides/notesSlide4.xml"/><Relationship Id="rId1" Type="http://schemas.openxmlformats.org/officeDocument/2006/relationships/slideLayout" Target="../slideLayouts/slideLayout2.xml"/><Relationship Id="rId4" Type="http://schemas.openxmlformats.org/officeDocument/2006/relationships/image" Target="../media/image10.svg"/></Relationships>
</file>

<file path=ppt/slides/_rels/slide40.xml.rels><?xml version="1.0" encoding="UTF-8" standalone="yes"?>
<Relationships xmlns="http://schemas.openxmlformats.org/package/2006/relationships"><Relationship Id="rId3" Type="http://schemas.openxmlformats.org/officeDocument/2006/relationships/image" Target="../media/image9.png"/><Relationship Id="rId2" Type="http://schemas.openxmlformats.org/officeDocument/2006/relationships/notesSlide" Target="../notesSlides/notesSlide5.xml"/><Relationship Id="rId1" Type="http://schemas.openxmlformats.org/officeDocument/2006/relationships/slideLayout" Target="../slideLayouts/slideLayout2.xml"/><Relationship Id="rId4" Type="http://schemas.openxmlformats.org/officeDocument/2006/relationships/image" Target="../media/image10.svg"/></Relationships>
</file>

<file path=ppt/slides/_rels/slide4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4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4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44.xml.rels><?xml version="1.0" encoding="UTF-8" standalone="yes"?>
<Relationships xmlns="http://schemas.openxmlformats.org/package/2006/relationships"><Relationship Id="rId8" Type="http://schemas.openxmlformats.org/officeDocument/2006/relationships/image" Target="../media/image107.png"/><Relationship Id="rId13" Type="http://schemas.openxmlformats.org/officeDocument/2006/relationships/image" Target="../media/image112.png"/><Relationship Id="rId3" Type="http://schemas.openxmlformats.org/officeDocument/2006/relationships/image" Target="../media/image102.png"/><Relationship Id="rId7" Type="http://schemas.openxmlformats.org/officeDocument/2006/relationships/image" Target="../media/image106.png"/><Relationship Id="rId12" Type="http://schemas.openxmlformats.org/officeDocument/2006/relationships/image" Target="../media/image111.png"/><Relationship Id="rId2" Type="http://schemas.openxmlformats.org/officeDocument/2006/relationships/image" Target="../media/image101.png"/><Relationship Id="rId16" Type="http://schemas.openxmlformats.org/officeDocument/2006/relationships/image" Target="../media/image115.png"/><Relationship Id="rId1" Type="http://schemas.openxmlformats.org/officeDocument/2006/relationships/slideLayout" Target="../slideLayouts/slideLayout2.xml"/><Relationship Id="rId6" Type="http://schemas.openxmlformats.org/officeDocument/2006/relationships/image" Target="../media/image105.png"/><Relationship Id="rId11" Type="http://schemas.openxmlformats.org/officeDocument/2006/relationships/image" Target="../media/image110.png"/><Relationship Id="rId5" Type="http://schemas.openxmlformats.org/officeDocument/2006/relationships/image" Target="../media/image104.png"/><Relationship Id="rId15" Type="http://schemas.openxmlformats.org/officeDocument/2006/relationships/image" Target="../media/image114.png"/><Relationship Id="rId10" Type="http://schemas.openxmlformats.org/officeDocument/2006/relationships/image" Target="../media/image109.png"/><Relationship Id="rId4" Type="http://schemas.openxmlformats.org/officeDocument/2006/relationships/image" Target="../media/image103.png"/><Relationship Id="rId9" Type="http://schemas.openxmlformats.org/officeDocument/2006/relationships/image" Target="../media/image108.png"/><Relationship Id="rId14" Type="http://schemas.openxmlformats.org/officeDocument/2006/relationships/image" Target="../media/image113.png"/></Relationships>
</file>

<file path=ppt/slides/_rels/slide45.xml.rels><?xml version="1.0" encoding="UTF-8" standalone="yes"?>
<Relationships xmlns="http://schemas.openxmlformats.org/package/2006/relationships"><Relationship Id="rId3" Type="http://schemas.openxmlformats.org/officeDocument/2006/relationships/image" Target="../media/image11.png"/><Relationship Id="rId2" Type="http://schemas.openxmlformats.org/officeDocument/2006/relationships/notesSlide" Target="../notesSlides/notesSlide6.xml"/><Relationship Id="rId1" Type="http://schemas.openxmlformats.org/officeDocument/2006/relationships/slideLayout" Target="../slideLayouts/slideLayout2.xml"/></Relationships>
</file>

<file path=ppt/slides/_rels/slide46.xml.rels><?xml version="1.0" encoding="UTF-8" standalone="yes"?>
<Relationships xmlns="http://schemas.openxmlformats.org/package/2006/relationships"><Relationship Id="rId8" Type="http://schemas.openxmlformats.org/officeDocument/2006/relationships/image" Target="../media/image17.png"/><Relationship Id="rId3" Type="http://schemas.openxmlformats.org/officeDocument/2006/relationships/image" Target="../media/image12.png"/><Relationship Id="rId7" Type="http://schemas.openxmlformats.org/officeDocument/2006/relationships/image" Target="../media/image16.png"/><Relationship Id="rId12" Type="http://schemas.openxmlformats.org/officeDocument/2006/relationships/image" Target="../media/image21.png"/><Relationship Id="rId2" Type="http://schemas.openxmlformats.org/officeDocument/2006/relationships/notesSlide" Target="../notesSlides/notesSlide7.xml"/><Relationship Id="rId1" Type="http://schemas.openxmlformats.org/officeDocument/2006/relationships/slideLayout" Target="../slideLayouts/slideLayout2.xml"/><Relationship Id="rId6" Type="http://schemas.openxmlformats.org/officeDocument/2006/relationships/image" Target="../media/image15.png"/><Relationship Id="rId11" Type="http://schemas.openxmlformats.org/officeDocument/2006/relationships/image" Target="../media/image20.png"/><Relationship Id="rId5" Type="http://schemas.openxmlformats.org/officeDocument/2006/relationships/image" Target="../media/image14.png"/><Relationship Id="rId10" Type="http://schemas.openxmlformats.org/officeDocument/2006/relationships/image" Target="../media/image19.png"/><Relationship Id="rId4" Type="http://schemas.openxmlformats.org/officeDocument/2006/relationships/image" Target="../media/image13.png"/><Relationship Id="rId9" Type="http://schemas.openxmlformats.org/officeDocument/2006/relationships/image" Target="../media/image18.png"/></Relationships>
</file>

<file path=ppt/slides/_rels/slide4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48.xml.rels><?xml version="1.0" encoding="UTF-8" standalone="yes"?>
<Relationships xmlns="http://schemas.openxmlformats.org/package/2006/relationships"><Relationship Id="rId8" Type="http://schemas.openxmlformats.org/officeDocument/2006/relationships/image" Target="../media/image24.png"/><Relationship Id="rId13" Type="http://schemas.openxmlformats.org/officeDocument/2006/relationships/image" Target="../media/image29.png"/><Relationship Id="rId3" Type="http://schemas.openxmlformats.org/officeDocument/2006/relationships/image" Target="../media/image22.png"/><Relationship Id="rId7" Type="http://schemas.openxmlformats.org/officeDocument/2006/relationships/image" Target="../media/image23.png"/><Relationship Id="rId12" Type="http://schemas.openxmlformats.org/officeDocument/2006/relationships/image" Target="../media/image28.png"/><Relationship Id="rId2" Type="http://schemas.openxmlformats.org/officeDocument/2006/relationships/notesSlide" Target="../notesSlides/notesSlide8.xml"/><Relationship Id="rId1" Type="http://schemas.openxmlformats.org/officeDocument/2006/relationships/slideLayout" Target="../slideLayouts/slideLayout2.xml"/><Relationship Id="rId6" Type="http://schemas.openxmlformats.org/officeDocument/2006/relationships/image" Target="../media/image15.png"/><Relationship Id="rId11" Type="http://schemas.openxmlformats.org/officeDocument/2006/relationships/image" Target="../media/image27.png"/><Relationship Id="rId5" Type="http://schemas.openxmlformats.org/officeDocument/2006/relationships/image" Target="../media/image14.png"/><Relationship Id="rId10" Type="http://schemas.openxmlformats.org/officeDocument/2006/relationships/image" Target="../media/image26.png"/><Relationship Id="rId4" Type="http://schemas.openxmlformats.org/officeDocument/2006/relationships/image" Target="../media/image220.png"/><Relationship Id="rId9" Type="http://schemas.openxmlformats.org/officeDocument/2006/relationships/image" Target="../media/image25.png"/></Relationships>
</file>

<file path=ppt/slides/_rels/slide49.xml.rels><?xml version="1.0" encoding="UTF-8" standalone="yes"?>
<Relationships xmlns="http://schemas.openxmlformats.org/package/2006/relationships"><Relationship Id="rId8" Type="http://schemas.openxmlformats.org/officeDocument/2006/relationships/image" Target="../media/image17.png"/><Relationship Id="rId13" Type="http://schemas.openxmlformats.org/officeDocument/2006/relationships/image" Target="../media/image34.png"/><Relationship Id="rId7" Type="http://schemas.openxmlformats.org/officeDocument/2006/relationships/image" Target="../media/image291.png"/><Relationship Id="rId12" Type="http://schemas.openxmlformats.org/officeDocument/2006/relationships/image" Target="../media/image33.png"/><Relationship Id="rId2" Type="http://schemas.openxmlformats.org/officeDocument/2006/relationships/notesSlide" Target="../notesSlides/notesSlide9.xml"/><Relationship Id="rId1" Type="http://schemas.openxmlformats.org/officeDocument/2006/relationships/slideLayout" Target="../slideLayouts/slideLayout2.xml"/><Relationship Id="rId6" Type="http://schemas.openxmlformats.org/officeDocument/2006/relationships/image" Target="../media/image15.png"/><Relationship Id="rId11" Type="http://schemas.openxmlformats.org/officeDocument/2006/relationships/image" Target="../media/image32.png"/><Relationship Id="rId5" Type="http://schemas.openxmlformats.org/officeDocument/2006/relationships/image" Target="../media/image14.png"/><Relationship Id="rId10" Type="http://schemas.openxmlformats.org/officeDocument/2006/relationships/image" Target="../media/image31.png"/><Relationship Id="rId4" Type="http://schemas.openxmlformats.org/officeDocument/2006/relationships/image" Target="../media/image220.png"/><Relationship Id="rId9" Type="http://schemas.openxmlformats.org/officeDocument/2006/relationships/image" Target="../media/image30.png"/><Relationship Id="rId14" Type="http://schemas.openxmlformats.org/officeDocument/2006/relationships/image" Target="../media/image35.png"/></Relationships>
</file>

<file path=ppt/slides/_rels/slide50.xml.rels><?xml version="1.0" encoding="UTF-8" standalone="yes"?>
<Relationships xmlns="http://schemas.openxmlformats.org/package/2006/relationships"><Relationship Id="rId8" Type="http://schemas.openxmlformats.org/officeDocument/2006/relationships/image" Target="../media/image31.png"/><Relationship Id="rId13" Type="http://schemas.openxmlformats.org/officeDocument/2006/relationships/image" Target="../media/image37.png"/><Relationship Id="rId3" Type="http://schemas.openxmlformats.org/officeDocument/2006/relationships/image" Target="../media/image36.png"/><Relationship Id="rId7" Type="http://schemas.openxmlformats.org/officeDocument/2006/relationships/image" Target="../media/image30.png"/><Relationship Id="rId12" Type="http://schemas.openxmlformats.org/officeDocument/2006/relationships/image" Target="../media/image35.png"/><Relationship Id="rId2" Type="http://schemas.openxmlformats.org/officeDocument/2006/relationships/notesSlide" Target="../notesSlides/notesSlide10.xml"/><Relationship Id="rId16" Type="http://schemas.openxmlformats.org/officeDocument/2006/relationships/image" Target="../media/image42.png"/><Relationship Id="rId1" Type="http://schemas.openxmlformats.org/officeDocument/2006/relationships/slideLayout" Target="../slideLayouts/slideLayout2.xml"/><Relationship Id="rId6" Type="http://schemas.openxmlformats.org/officeDocument/2006/relationships/image" Target="../media/image40.png"/><Relationship Id="rId11" Type="http://schemas.openxmlformats.org/officeDocument/2006/relationships/image" Target="../media/image34.png"/><Relationship Id="rId5" Type="http://schemas.openxmlformats.org/officeDocument/2006/relationships/image" Target="../media/image39.png"/><Relationship Id="rId15" Type="http://schemas.openxmlformats.org/officeDocument/2006/relationships/image" Target="../media/image41.png"/><Relationship Id="rId10" Type="http://schemas.openxmlformats.org/officeDocument/2006/relationships/image" Target="../media/image33.png"/><Relationship Id="rId4" Type="http://schemas.openxmlformats.org/officeDocument/2006/relationships/image" Target="../media/image38.png"/><Relationship Id="rId9" Type="http://schemas.openxmlformats.org/officeDocument/2006/relationships/image" Target="../media/image32.png"/><Relationship Id="rId14" Type="http://schemas.openxmlformats.org/officeDocument/2006/relationships/image" Target="../media/image22.png"/></Relationships>
</file>

<file path=ppt/slides/_rels/slide51.xml.rels><?xml version="1.0" encoding="UTF-8" standalone="yes"?>
<Relationships xmlns="http://schemas.openxmlformats.org/package/2006/relationships"><Relationship Id="rId8" Type="http://schemas.openxmlformats.org/officeDocument/2006/relationships/image" Target="../media/image47.png"/><Relationship Id="rId13" Type="http://schemas.openxmlformats.org/officeDocument/2006/relationships/image" Target="../media/image51.png"/><Relationship Id="rId3" Type="http://schemas.openxmlformats.org/officeDocument/2006/relationships/image" Target="../media/image43.png"/><Relationship Id="rId7" Type="http://schemas.openxmlformats.org/officeDocument/2006/relationships/image" Target="../media/image46.png"/><Relationship Id="rId12" Type="http://schemas.openxmlformats.org/officeDocument/2006/relationships/image" Target="../media/image50.png"/><Relationship Id="rId2" Type="http://schemas.openxmlformats.org/officeDocument/2006/relationships/notesSlide" Target="../notesSlides/notesSlide11.xml"/><Relationship Id="rId1" Type="http://schemas.openxmlformats.org/officeDocument/2006/relationships/slideLayout" Target="../slideLayouts/slideLayout2.xml"/><Relationship Id="rId6" Type="http://schemas.openxmlformats.org/officeDocument/2006/relationships/image" Target="../media/image45.png"/><Relationship Id="rId11" Type="http://schemas.openxmlformats.org/officeDocument/2006/relationships/image" Target="../media/image49.png"/><Relationship Id="rId5" Type="http://schemas.openxmlformats.org/officeDocument/2006/relationships/image" Target="../media/image160.png"/><Relationship Id="rId10" Type="http://schemas.openxmlformats.org/officeDocument/2006/relationships/image" Target="../media/image210.png"/><Relationship Id="rId4" Type="http://schemas.openxmlformats.org/officeDocument/2006/relationships/image" Target="../media/image44.png"/><Relationship Id="rId9" Type="http://schemas.openxmlformats.org/officeDocument/2006/relationships/image" Target="../media/image48.png"/></Relationships>
</file>

<file path=ppt/slides/_rels/slide52.xml.rels><?xml version="1.0" encoding="UTF-8" standalone="yes"?>
<Relationships xmlns="http://schemas.openxmlformats.org/package/2006/relationships"><Relationship Id="rId8" Type="http://schemas.openxmlformats.org/officeDocument/2006/relationships/image" Target="../media/image53.png"/><Relationship Id="rId13" Type="http://schemas.openxmlformats.org/officeDocument/2006/relationships/image" Target="../media/image58.png"/><Relationship Id="rId7" Type="http://schemas.openxmlformats.org/officeDocument/2006/relationships/image" Target="../media/image52.png"/><Relationship Id="rId12" Type="http://schemas.openxmlformats.org/officeDocument/2006/relationships/image" Target="../media/image57.png"/><Relationship Id="rId2" Type="http://schemas.openxmlformats.org/officeDocument/2006/relationships/notesSlide" Target="../notesSlides/notesSlide12.xml"/><Relationship Id="rId1" Type="http://schemas.openxmlformats.org/officeDocument/2006/relationships/slideLayout" Target="../slideLayouts/slideLayout2.xml"/><Relationship Id="rId6" Type="http://schemas.openxmlformats.org/officeDocument/2006/relationships/image" Target="../media/image15.png"/><Relationship Id="rId11" Type="http://schemas.openxmlformats.org/officeDocument/2006/relationships/image" Target="../media/image56.png"/><Relationship Id="rId5" Type="http://schemas.openxmlformats.org/officeDocument/2006/relationships/image" Target="../media/image14.png"/><Relationship Id="rId15" Type="http://schemas.openxmlformats.org/officeDocument/2006/relationships/image" Target="../media/image60.png"/><Relationship Id="rId10" Type="http://schemas.openxmlformats.org/officeDocument/2006/relationships/image" Target="../media/image55.png"/><Relationship Id="rId4" Type="http://schemas.openxmlformats.org/officeDocument/2006/relationships/image" Target="../media/image220.png"/><Relationship Id="rId9" Type="http://schemas.openxmlformats.org/officeDocument/2006/relationships/image" Target="../media/image54.png"/><Relationship Id="rId14" Type="http://schemas.openxmlformats.org/officeDocument/2006/relationships/image" Target="../media/image59.png"/></Relationships>
</file>

<file path=ppt/slides/_rels/slide53.xml.rels><?xml version="1.0" encoding="UTF-8" standalone="yes"?>
<Relationships xmlns="http://schemas.openxmlformats.org/package/2006/relationships"><Relationship Id="rId3" Type="http://schemas.openxmlformats.org/officeDocument/2006/relationships/image" Target="../media/image12.jpeg"/><Relationship Id="rId2" Type="http://schemas.openxmlformats.org/officeDocument/2006/relationships/notesSlide" Target="../notesSlides/notesSlide13.xml"/><Relationship Id="rId1" Type="http://schemas.openxmlformats.org/officeDocument/2006/relationships/slideLayout" Target="../slideLayouts/slideLayout2.xml"/><Relationship Id="rId4" Type="http://schemas.openxmlformats.org/officeDocument/2006/relationships/image" Target="../media/image13.jpeg"/></Relationships>
</file>

<file path=ppt/slides/_rels/slide5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5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8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" name="圓角矩形 7">
            <a:extLst>
              <a:ext uri="{FF2B5EF4-FFF2-40B4-BE49-F238E27FC236}">
                <a16:creationId xmlns:a16="http://schemas.microsoft.com/office/drawing/2014/main" id="{AA8F8551-2C61-48D1-9E5C-345C10BAAC8B}"/>
              </a:ext>
            </a:extLst>
          </p:cNvPr>
          <p:cNvSpPr/>
          <p:nvPr/>
        </p:nvSpPr>
        <p:spPr>
          <a:xfrm>
            <a:off x="667422" y="1891904"/>
            <a:ext cx="10857156" cy="2857500"/>
          </a:xfrm>
          <a:prstGeom prst="roundRect">
            <a:avLst/>
          </a:prstGeom>
          <a:solidFill>
            <a:srgbClr val="FFCE9E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kumimoji="1" lang="zh-TW" altLang="en-US"/>
          </a:p>
        </p:txBody>
      </p:sp>
      <p:sp>
        <p:nvSpPr>
          <p:cNvPr id="2" name="標題 1">
            <a:extLst>
              <a:ext uri="{FF2B5EF4-FFF2-40B4-BE49-F238E27FC236}">
                <a16:creationId xmlns:a16="http://schemas.microsoft.com/office/drawing/2014/main" id="{8C058193-D513-E805-2BD5-118E50D976F8}"/>
              </a:ext>
            </a:extLst>
          </p:cNvPr>
          <p:cNvSpPr>
            <a:spLocks noGrp="1"/>
          </p:cNvSpPr>
          <p:nvPr>
            <p:ph type="ctrTitle"/>
          </p:nvPr>
        </p:nvSpPr>
        <p:spPr>
          <a:xfrm>
            <a:off x="759623" y="2056517"/>
            <a:ext cx="10857156" cy="2758710"/>
          </a:xfrm>
        </p:spPr>
        <p:txBody>
          <a:bodyPr anchor="ctr">
            <a:noAutofit/>
          </a:bodyPr>
          <a:lstStyle/>
          <a:p>
            <a:r>
              <a:rPr kumimoji="1" lang="zh-TW" altLang="en-US" sz="4800" b="1" dirty="0">
                <a:ea typeface="Microsoft JhengHei" panose="020B0604030504040204" pitchFamily="34" charset="-120"/>
              </a:rPr>
              <a:t>自然語言處理與應用</a:t>
            </a:r>
            <a:br>
              <a:rPr kumimoji="1" lang="en-US" altLang="zh-TW" sz="4800" b="1" dirty="0">
                <a:ea typeface="Microsoft JhengHei" panose="020B0604030504040204" pitchFamily="34" charset="-120"/>
              </a:rPr>
            </a:br>
            <a:r>
              <a:rPr kumimoji="1" lang="en-US" altLang="zh-TW" sz="4800" b="1" dirty="0">
                <a:ea typeface="Microsoft JhengHei" panose="020B0604030504040204" pitchFamily="34" charset="-120"/>
              </a:rPr>
              <a:t>Natural Language Processing and Applications</a:t>
            </a:r>
            <a:endParaRPr kumimoji="1" lang="zh-TW" altLang="en-US" sz="4800" b="1" dirty="0">
              <a:ea typeface="Microsoft JhengHei" panose="020B0604030504040204" pitchFamily="34" charset="-120"/>
            </a:endParaRPr>
          </a:p>
        </p:txBody>
      </p:sp>
      <p:sp>
        <p:nvSpPr>
          <p:cNvPr id="10" name="文字方塊 9">
            <a:extLst>
              <a:ext uri="{FF2B5EF4-FFF2-40B4-BE49-F238E27FC236}">
                <a16:creationId xmlns:a16="http://schemas.microsoft.com/office/drawing/2014/main" id="{6598A032-0E8B-F9E1-A926-2F2E78D575C6}"/>
              </a:ext>
            </a:extLst>
          </p:cNvPr>
          <p:cNvSpPr txBox="1"/>
          <p:nvPr/>
        </p:nvSpPr>
        <p:spPr>
          <a:xfrm>
            <a:off x="759623" y="4881049"/>
            <a:ext cx="4560522" cy="954107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kumimoji="1" lang="zh-TW" altLang="en-US" sz="2800" b="1" dirty="0">
                <a:solidFill>
                  <a:srgbClr val="0070C0"/>
                </a:solidFill>
                <a:latin typeface="+mj-lt"/>
                <a:cs typeface="Calibri" panose="020F0502020204030204" pitchFamily="34" charset="0"/>
              </a:rPr>
              <a:t>注意力機制與現代字詞分割演算法</a:t>
            </a:r>
          </a:p>
        </p:txBody>
      </p:sp>
      <p:sp>
        <p:nvSpPr>
          <p:cNvPr id="12" name="文字方塊 11">
            <a:extLst>
              <a:ext uri="{FF2B5EF4-FFF2-40B4-BE49-F238E27FC236}">
                <a16:creationId xmlns:a16="http://schemas.microsoft.com/office/drawing/2014/main" id="{2F843A79-3FEF-CDAD-6B9A-C5A7AD279D2D}"/>
              </a:ext>
            </a:extLst>
          </p:cNvPr>
          <p:cNvSpPr txBox="1"/>
          <p:nvPr/>
        </p:nvSpPr>
        <p:spPr>
          <a:xfrm>
            <a:off x="759623" y="5914787"/>
            <a:ext cx="4182671" cy="707886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kumimoji="1" lang="en-US" altLang="zh-TW" sz="2000" b="1" dirty="0">
                <a:latin typeface="+mj-lt"/>
                <a:ea typeface="Microsoft JhengHei" panose="020B0604030504040204" pitchFamily="34" charset="-120"/>
                <a:cs typeface="Calibri" panose="020F0502020204030204" pitchFamily="34" charset="0"/>
              </a:rPr>
              <a:t>Instructor: </a:t>
            </a:r>
            <a:r>
              <a:rPr kumimoji="1" lang="zh-TW" altLang="en-US" sz="2000" b="1" dirty="0">
                <a:latin typeface="+mj-lt"/>
                <a:ea typeface="Microsoft JhengHei" panose="020B0604030504040204" pitchFamily="34" charset="-120"/>
                <a:cs typeface="Calibri" panose="020F0502020204030204" pitchFamily="34" charset="0"/>
              </a:rPr>
              <a:t>林英嘉 </a:t>
            </a:r>
            <a:r>
              <a:rPr kumimoji="1" lang="en-US" altLang="zh-TW" sz="2000" b="1" dirty="0">
                <a:latin typeface="+mj-lt"/>
                <a:ea typeface="Microsoft JhengHei" panose="020B0604030504040204" pitchFamily="34" charset="-120"/>
                <a:cs typeface="Calibri" panose="020F0502020204030204" pitchFamily="34" charset="0"/>
              </a:rPr>
              <a:t>(Ying-Jia Lin)</a:t>
            </a:r>
          </a:p>
          <a:p>
            <a:r>
              <a:rPr kumimoji="1" lang="en-US" altLang="zh-TW" sz="2000" b="1" dirty="0">
                <a:latin typeface="+mj-lt"/>
                <a:ea typeface="Microsoft JhengHei" panose="020B0604030504040204" pitchFamily="34" charset="-120"/>
                <a:cs typeface="Calibri" panose="020F0502020204030204" pitchFamily="34" charset="0"/>
              </a:rPr>
              <a:t>2026/03/16</a:t>
            </a:r>
            <a:endParaRPr kumimoji="1" lang="zh-TW" altLang="en-US" sz="2000" b="1" dirty="0">
              <a:latin typeface="+mj-lt"/>
              <a:ea typeface="Microsoft JhengHei" panose="020B0604030504040204" pitchFamily="34" charset="-120"/>
              <a:cs typeface="Calibri" panose="020F0502020204030204" pitchFamily="34" charset="0"/>
            </a:endParaRPr>
          </a:p>
        </p:txBody>
      </p:sp>
      <p:pic>
        <p:nvPicPr>
          <p:cNvPr id="3" name="圖片 2">
            <a:extLst>
              <a:ext uri="{FF2B5EF4-FFF2-40B4-BE49-F238E27FC236}">
                <a16:creationId xmlns:a16="http://schemas.microsoft.com/office/drawing/2014/main" id="{2C0C8410-1877-4FB2-39F9-E0CFE0480EEA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0130118" y="130472"/>
            <a:ext cx="1394460" cy="1394460"/>
          </a:xfrm>
          <a:prstGeom prst="rect">
            <a:avLst/>
          </a:prstGeom>
        </p:spPr>
      </p:pic>
      <p:sp>
        <p:nvSpPr>
          <p:cNvPr id="4" name="文字方塊 3">
            <a:extLst>
              <a:ext uri="{FF2B5EF4-FFF2-40B4-BE49-F238E27FC236}">
                <a16:creationId xmlns:a16="http://schemas.microsoft.com/office/drawing/2014/main" id="{A6DEED3F-C826-615A-5EF9-02C833E509E8}"/>
              </a:ext>
            </a:extLst>
          </p:cNvPr>
          <p:cNvSpPr txBox="1"/>
          <p:nvPr/>
        </p:nvSpPr>
        <p:spPr>
          <a:xfrm>
            <a:off x="10169046" y="5391531"/>
            <a:ext cx="1558379" cy="92333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kumimoji="1" lang="en" altLang="zh-TW" dirty="0" err="1"/>
              <a:t>Slido</a:t>
            </a:r>
            <a:endParaRPr kumimoji="1" lang="en" altLang="zh-TW" dirty="0"/>
          </a:p>
          <a:p>
            <a:r>
              <a:rPr kumimoji="1" lang="en" altLang="zh-TW" dirty="0"/>
              <a:t># NLP0316 (</a:t>
            </a:r>
            <a:r>
              <a:rPr kumimoji="1" lang="en" altLang="zh-TW" dirty="0">
                <a:hlinkClick r:id="rId3"/>
              </a:rPr>
              <a:t>Link</a:t>
            </a:r>
            <a:r>
              <a:rPr kumimoji="1" lang="en" altLang="zh-TW" dirty="0"/>
              <a:t>)</a:t>
            </a:r>
            <a:endParaRPr kumimoji="1" lang="zh-TW" altLang="en-US" dirty="0"/>
          </a:p>
        </p:txBody>
      </p:sp>
      <p:pic>
        <p:nvPicPr>
          <p:cNvPr id="7" name="圖片 6">
            <a:extLst>
              <a:ext uri="{FF2B5EF4-FFF2-40B4-BE49-F238E27FC236}">
                <a16:creationId xmlns:a16="http://schemas.microsoft.com/office/drawing/2014/main" id="{25D8B8BA-01EA-719E-DB6F-35B59009F056}"/>
              </a:ext>
            </a:extLst>
          </p:cNvPr>
          <p:cNvPicPr>
            <a:picLocks noChangeAspect="1"/>
          </p:cNvPicPr>
          <p:nvPr/>
        </p:nvPicPr>
        <p:blipFill>
          <a:blip r:embed="rId4"/>
          <a:srcRect t="7139"/>
          <a:stretch/>
        </p:blipFill>
        <p:spPr>
          <a:xfrm>
            <a:off x="5498071" y="4881049"/>
            <a:ext cx="2108982" cy="1958434"/>
          </a:xfrm>
          <a:prstGeom prst="rect">
            <a:avLst/>
          </a:prstGeom>
        </p:spPr>
      </p:pic>
      <p:sp>
        <p:nvSpPr>
          <p:cNvPr id="9" name="文字方塊 8">
            <a:extLst>
              <a:ext uri="{FF2B5EF4-FFF2-40B4-BE49-F238E27FC236}">
                <a16:creationId xmlns:a16="http://schemas.microsoft.com/office/drawing/2014/main" id="{5E320E30-561F-DF85-CC02-2709CD58A10B}"/>
              </a:ext>
            </a:extLst>
          </p:cNvPr>
          <p:cNvSpPr txBox="1"/>
          <p:nvPr/>
        </p:nvSpPr>
        <p:spPr>
          <a:xfrm>
            <a:off x="7389634" y="5642689"/>
            <a:ext cx="1011291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kumimoji="1" lang="en" altLang="zh-TW" dirty="0"/>
              <a:t>GitHub</a:t>
            </a:r>
            <a:endParaRPr kumimoji="1" lang="zh-TW" altLang="en-US" dirty="0"/>
          </a:p>
        </p:txBody>
      </p:sp>
      <p:pic>
        <p:nvPicPr>
          <p:cNvPr id="5" name="圖片 4">
            <a:extLst>
              <a:ext uri="{FF2B5EF4-FFF2-40B4-BE49-F238E27FC236}">
                <a16:creationId xmlns:a16="http://schemas.microsoft.com/office/drawing/2014/main" id="{FD9049BA-D965-A233-C00C-28ADEF9982CF}"/>
              </a:ext>
            </a:extLst>
          </p:cNvPr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8460068" y="4932745"/>
            <a:ext cx="1689928" cy="1689928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2965992531"/>
      </p:ext>
    </p:extLst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標題 1">
            <a:extLst>
              <a:ext uri="{FF2B5EF4-FFF2-40B4-BE49-F238E27FC236}">
                <a16:creationId xmlns:a16="http://schemas.microsoft.com/office/drawing/2014/main" id="{B7C8C9F6-BEB5-F736-7564-E6B319637FF5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kumimoji="1" lang="zh-TW" altLang="en-US">
                <a:latin typeface="Microsoft JhengHei" panose="020B0604030504040204" pitchFamily="34" charset="-120"/>
                <a:ea typeface="Microsoft JhengHei" panose="020B0604030504040204" pitchFamily="34" charset="-120"/>
              </a:rPr>
              <a:t>現代</a:t>
            </a:r>
            <a:r>
              <a:rPr kumimoji="1" lang="zh-TW" altLang="en-US" dirty="0">
                <a:latin typeface="Microsoft JhengHei" panose="020B0604030504040204" pitchFamily="34" charset="-120"/>
                <a:ea typeface="Microsoft JhengHei" panose="020B0604030504040204" pitchFamily="34" charset="-120"/>
              </a:rPr>
              <a:t>自然語言處理基本功</a:t>
            </a:r>
          </a:p>
        </p:txBody>
      </p:sp>
      <p:sp>
        <p:nvSpPr>
          <p:cNvPr id="4" name="投影片編號版面配置區 3">
            <a:extLst>
              <a:ext uri="{FF2B5EF4-FFF2-40B4-BE49-F238E27FC236}">
                <a16:creationId xmlns:a16="http://schemas.microsoft.com/office/drawing/2014/main" id="{EA0B37D4-3CE3-A10B-27BE-C4CECB2F6179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6113E31D-E2AB-40D1-8B51-AFA5AFEF393A}" type="slidenum">
              <a:rPr lang="en-US" smtClean="0"/>
              <a:pPr/>
              <a:t>2</a:t>
            </a:fld>
            <a:endParaRPr lang="en-US" dirty="0"/>
          </a:p>
        </p:txBody>
      </p:sp>
      <p:sp>
        <p:nvSpPr>
          <p:cNvPr id="5" name="文字方塊 4">
            <a:extLst>
              <a:ext uri="{FF2B5EF4-FFF2-40B4-BE49-F238E27FC236}">
                <a16:creationId xmlns:a16="http://schemas.microsoft.com/office/drawing/2014/main" id="{AC7C62DA-BDF2-0D01-1A6C-2EA30B3A18CA}"/>
              </a:ext>
            </a:extLst>
          </p:cNvPr>
          <p:cNvSpPr txBox="1"/>
          <p:nvPr/>
        </p:nvSpPr>
        <p:spPr>
          <a:xfrm>
            <a:off x="636815" y="1627495"/>
            <a:ext cx="10918370" cy="1951496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marL="342900" indent="-342900">
              <a:lnSpc>
                <a:spcPct val="150000"/>
              </a:lnSpc>
              <a:buFont typeface="Arial" panose="020B0604020202020204" pitchFamily="34" charset="0"/>
              <a:buChar char="•"/>
            </a:pPr>
            <a:r>
              <a:rPr kumimoji="1" lang="en-US" altLang="zh-TW" sz="2800" dirty="0">
                <a:ea typeface="Microsoft JhengHei" panose="020B0604030504040204" pitchFamily="34" charset="-120"/>
              </a:rPr>
              <a:t>Week 4 – Week 5</a:t>
            </a:r>
          </a:p>
          <a:p>
            <a:pPr marL="800100" lvl="1" indent="-342900">
              <a:lnSpc>
                <a:spcPct val="150000"/>
              </a:lnSpc>
              <a:buFont typeface="Arial" panose="020B0604020202020204" pitchFamily="34" charset="0"/>
              <a:buChar char="•"/>
            </a:pPr>
            <a:r>
              <a:rPr kumimoji="1" lang="en" altLang="zh-TW" sz="2800" dirty="0">
                <a:ea typeface="Microsoft JhengHei" panose="020B0604030504040204" pitchFamily="34" charset="-120"/>
              </a:rPr>
              <a:t>Sub-word </a:t>
            </a:r>
            <a:r>
              <a:rPr kumimoji="1" lang="zh-TW" altLang="en-US" sz="2800" dirty="0">
                <a:ea typeface="Microsoft JhengHei" panose="020B0604030504040204" pitchFamily="34" charset="-120"/>
              </a:rPr>
              <a:t>分詞法</a:t>
            </a:r>
            <a:r>
              <a:rPr kumimoji="1" lang="en-US" altLang="zh-TW" sz="2800" dirty="0">
                <a:ea typeface="Microsoft JhengHei" panose="020B0604030504040204" pitchFamily="34" charset="-120"/>
              </a:rPr>
              <a:t>, </a:t>
            </a:r>
            <a:r>
              <a:rPr kumimoji="1" lang="zh-TW" altLang="en-US" sz="2800" dirty="0">
                <a:ea typeface="Microsoft JhengHei" panose="020B0604030504040204" pitchFamily="34" charset="-120"/>
              </a:rPr>
              <a:t>注意力機制</a:t>
            </a:r>
            <a:endParaRPr kumimoji="1" lang="en-US" altLang="zh-TW" sz="2800" dirty="0">
              <a:ea typeface="Microsoft JhengHei" panose="020B0604030504040204" pitchFamily="34" charset="-120"/>
            </a:endParaRPr>
          </a:p>
          <a:p>
            <a:pPr marL="800100" lvl="1" indent="-342900">
              <a:lnSpc>
                <a:spcPct val="150000"/>
              </a:lnSpc>
              <a:buFont typeface="Arial" panose="020B0604020202020204" pitchFamily="34" charset="0"/>
              <a:buChar char="•"/>
            </a:pPr>
            <a:r>
              <a:rPr kumimoji="1" lang="en-US" altLang="zh-TW" sz="2800" dirty="0">
                <a:ea typeface="Microsoft JhengHei" panose="020B0604030504040204" pitchFamily="34" charset="-120"/>
              </a:rPr>
              <a:t>Transformer</a:t>
            </a:r>
            <a:r>
              <a:rPr kumimoji="1" lang="zh-TW" altLang="en-US" sz="2800" dirty="0">
                <a:ea typeface="Microsoft JhengHei" panose="020B0604030504040204" pitchFamily="34" charset="-120"/>
              </a:rPr>
              <a:t> 架構</a:t>
            </a:r>
            <a:endParaRPr kumimoji="1" lang="en" altLang="zh-TW" sz="2800" dirty="0">
              <a:ea typeface="Microsoft JhengHei" panose="020B0604030504040204" pitchFamily="34" charset="-120"/>
            </a:endParaRPr>
          </a:p>
        </p:txBody>
      </p:sp>
      <p:sp>
        <p:nvSpPr>
          <p:cNvPr id="3" name="圓角矩形 2">
            <a:extLst>
              <a:ext uri="{FF2B5EF4-FFF2-40B4-BE49-F238E27FC236}">
                <a16:creationId xmlns:a16="http://schemas.microsoft.com/office/drawing/2014/main" id="{9DF83CD4-2F27-79BE-9831-4BE356FB9D31}"/>
              </a:ext>
            </a:extLst>
          </p:cNvPr>
          <p:cNvSpPr/>
          <p:nvPr/>
        </p:nvSpPr>
        <p:spPr>
          <a:xfrm>
            <a:off x="2668652" y="5836117"/>
            <a:ext cx="372490" cy="207951"/>
          </a:xfrm>
          <a:prstGeom prst="roundRect">
            <a:avLst/>
          </a:prstGeom>
          <a:solidFill>
            <a:srgbClr val="00EEDB"/>
          </a:solidFill>
          <a:ln w="19050">
            <a:solidFill>
              <a:schemeClr val="tx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kumimoji="1" lang="zh-TW" altLang="en-US"/>
          </a:p>
        </p:txBody>
      </p:sp>
      <p:sp>
        <p:nvSpPr>
          <p:cNvPr id="6" name="圓角矩形 5">
            <a:extLst>
              <a:ext uri="{FF2B5EF4-FFF2-40B4-BE49-F238E27FC236}">
                <a16:creationId xmlns:a16="http://schemas.microsoft.com/office/drawing/2014/main" id="{0A399ACA-D0EB-2970-08EB-1BC6AEFEE554}"/>
              </a:ext>
            </a:extLst>
          </p:cNvPr>
          <p:cNvSpPr/>
          <p:nvPr/>
        </p:nvSpPr>
        <p:spPr>
          <a:xfrm>
            <a:off x="5569199" y="5836117"/>
            <a:ext cx="372490" cy="207951"/>
          </a:xfrm>
          <a:prstGeom prst="roundRect">
            <a:avLst/>
          </a:prstGeom>
          <a:solidFill>
            <a:srgbClr val="00EEDB"/>
          </a:solidFill>
          <a:ln w="19050">
            <a:solidFill>
              <a:schemeClr val="tx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kumimoji="1" lang="zh-TW" altLang="en-US"/>
          </a:p>
        </p:txBody>
      </p:sp>
      <p:sp>
        <p:nvSpPr>
          <p:cNvPr id="7" name="圓角矩形 6">
            <a:extLst>
              <a:ext uri="{FF2B5EF4-FFF2-40B4-BE49-F238E27FC236}">
                <a16:creationId xmlns:a16="http://schemas.microsoft.com/office/drawing/2014/main" id="{B4D3DD98-80F0-7C9C-3C0A-931AF09BE7BD}"/>
              </a:ext>
            </a:extLst>
          </p:cNvPr>
          <p:cNvSpPr/>
          <p:nvPr/>
        </p:nvSpPr>
        <p:spPr>
          <a:xfrm>
            <a:off x="1701803" y="5836117"/>
            <a:ext cx="372490" cy="207951"/>
          </a:xfrm>
          <a:prstGeom prst="roundRect">
            <a:avLst/>
          </a:prstGeom>
          <a:solidFill>
            <a:srgbClr val="C1EEDB"/>
          </a:solidFill>
          <a:ln w="19050">
            <a:solidFill>
              <a:schemeClr val="tx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kumimoji="1" lang="zh-TW" altLang="en-US"/>
          </a:p>
        </p:txBody>
      </p:sp>
      <p:sp>
        <p:nvSpPr>
          <p:cNvPr id="8" name="圓角矩形 7">
            <a:extLst>
              <a:ext uri="{FF2B5EF4-FFF2-40B4-BE49-F238E27FC236}">
                <a16:creationId xmlns:a16="http://schemas.microsoft.com/office/drawing/2014/main" id="{9FDD36C2-7145-C233-D358-B235354BFDB2}"/>
              </a:ext>
            </a:extLst>
          </p:cNvPr>
          <p:cNvSpPr/>
          <p:nvPr/>
        </p:nvSpPr>
        <p:spPr>
          <a:xfrm>
            <a:off x="3605367" y="5836117"/>
            <a:ext cx="372490" cy="207951"/>
          </a:xfrm>
          <a:prstGeom prst="roundRect">
            <a:avLst/>
          </a:prstGeom>
          <a:solidFill>
            <a:srgbClr val="C1EEDB"/>
          </a:solidFill>
          <a:ln w="19050">
            <a:solidFill>
              <a:schemeClr val="tx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kumimoji="1" lang="zh-TW" altLang="en-US"/>
          </a:p>
        </p:txBody>
      </p:sp>
      <p:sp>
        <p:nvSpPr>
          <p:cNvPr id="9" name="圓角矩形 8">
            <a:extLst>
              <a:ext uri="{FF2B5EF4-FFF2-40B4-BE49-F238E27FC236}">
                <a16:creationId xmlns:a16="http://schemas.microsoft.com/office/drawing/2014/main" id="{34E24EB8-7BF2-1298-B431-0989F32053A3}"/>
              </a:ext>
            </a:extLst>
          </p:cNvPr>
          <p:cNvSpPr/>
          <p:nvPr/>
        </p:nvSpPr>
        <p:spPr>
          <a:xfrm>
            <a:off x="4598564" y="5836117"/>
            <a:ext cx="372490" cy="207951"/>
          </a:xfrm>
          <a:prstGeom prst="roundRect">
            <a:avLst/>
          </a:prstGeom>
          <a:solidFill>
            <a:srgbClr val="C1EEDB"/>
          </a:solidFill>
          <a:ln w="19050">
            <a:solidFill>
              <a:schemeClr val="tx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kumimoji="1" lang="zh-TW" altLang="en-US"/>
          </a:p>
        </p:txBody>
      </p:sp>
      <p:cxnSp>
        <p:nvCxnSpPr>
          <p:cNvPr id="10" name="直線箭頭接點 9">
            <a:extLst>
              <a:ext uri="{FF2B5EF4-FFF2-40B4-BE49-F238E27FC236}">
                <a16:creationId xmlns:a16="http://schemas.microsoft.com/office/drawing/2014/main" id="{A5578B6F-D640-AF78-D5DA-073607548C39}"/>
              </a:ext>
            </a:extLst>
          </p:cNvPr>
          <p:cNvCxnSpPr>
            <a:cxnSpLocks/>
          </p:cNvCxnSpPr>
          <p:nvPr/>
        </p:nvCxnSpPr>
        <p:spPr>
          <a:xfrm flipV="1">
            <a:off x="1888048" y="4750915"/>
            <a:ext cx="1621151" cy="981009"/>
          </a:xfrm>
          <a:prstGeom prst="straightConnector1">
            <a:avLst/>
          </a:prstGeom>
          <a:ln w="19050">
            <a:solidFill>
              <a:schemeClr val="tx1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1" name="直線箭頭接點 10">
            <a:extLst>
              <a:ext uri="{FF2B5EF4-FFF2-40B4-BE49-F238E27FC236}">
                <a16:creationId xmlns:a16="http://schemas.microsoft.com/office/drawing/2014/main" id="{836FC4BB-585A-037A-6449-ED5B648663F9}"/>
              </a:ext>
            </a:extLst>
          </p:cNvPr>
          <p:cNvCxnSpPr>
            <a:cxnSpLocks/>
          </p:cNvCxnSpPr>
          <p:nvPr/>
        </p:nvCxnSpPr>
        <p:spPr>
          <a:xfrm flipH="1" flipV="1">
            <a:off x="4826715" y="4750915"/>
            <a:ext cx="920640" cy="1039381"/>
          </a:xfrm>
          <a:prstGeom prst="straightConnector1">
            <a:avLst/>
          </a:prstGeom>
          <a:ln w="19050">
            <a:solidFill>
              <a:schemeClr val="tx1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2" name="直線箭頭接點 11">
            <a:extLst>
              <a:ext uri="{FF2B5EF4-FFF2-40B4-BE49-F238E27FC236}">
                <a16:creationId xmlns:a16="http://schemas.microsoft.com/office/drawing/2014/main" id="{E708AF77-7F65-96BC-B81F-840358BC5F7F}"/>
              </a:ext>
            </a:extLst>
          </p:cNvPr>
          <p:cNvCxnSpPr>
            <a:cxnSpLocks/>
          </p:cNvCxnSpPr>
          <p:nvPr/>
        </p:nvCxnSpPr>
        <p:spPr>
          <a:xfrm flipH="1" flipV="1">
            <a:off x="4476813" y="4769786"/>
            <a:ext cx="313059" cy="1066331"/>
          </a:xfrm>
          <a:prstGeom prst="straightConnector1">
            <a:avLst/>
          </a:prstGeom>
          <a:ln w="19050">
            <a:solidFill>
              <a:schemeClr val="tx1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3" name="直線箭頭接點 12">
            <a:extLst>
              <a:ext uri="{FF2B5EF4-FFF2-40B4-BE49-F238E27FC236}">
                <a16:creationId xmlns:a16="http://schemas.microsoft.com/office/drawing/2014/main" id="{559A8AF7-35F5-4D76-A2FD-C24CD7A2FB4A}"/>
              </a:ext>
            </a:extLst>
          </p:cNvPr>
          <p:cNvCxnSpPr>
            <a:cxnSpLocks/>
          </p:cNvCxnSpPr>
          <p:nvPr/>
        </p:nvCxnSpPr>
        <p:spPr>
          <a:xfrm flipV="1">
            <a:off x="2937122" y="4763850"/>
            <a:ext cx="846986" cy="1045251"/>
          </a:xfrm>
          <a:prstGeom prst="straightConnector1">
            <a:avLst/>
          </a:prstGeom>
          <a:ln w="19050">
            <a:solidFill>
              <a:schemeClr val="tx1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4" name="直線箭頭接點 13">
            <a:extLst>
              <a:ext uri="{FF2B5EF4-FFF2-40B4-BE49-F238E27FC236}">
                <a16:creationId xmlns:a16="http://schemas.microsoft.com/office/drawing/2014/main" id="{6FB4A6F7-84E3-AB1C-697B-9502E3EF2E76}"/>
              </a:ext>
            </a:extLst>
          </p:cNvPr>
          <p:cNvCxnSpPr>
            <a:cxnSpLocks/>
          </p:cNvCxnSpPr>
          <p:nvPr/>
        </p:nvCxnSpPr>
        <p:spPr>
          <a:xfrm flipV="1">
            <a:off x="3820358" y="4803439"/>
            <a:ext cx="287386" cy="992727"/>
          </a:xfrm>
          <a:prstGeom prst="straightConnector1">
            <a:avLst/>
          </a:prstGeom>
          <a:ln w="19050">
            <a:solidFill>
              <a:schemeClr val="tx1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15" name="圓角矩形 14">
            <a:extLst>
              <a:ext uri="{FF2B5EF4-FFF2-40B4-BE49-F238E27FC236}">
                <a16:creationId xmlns:a16="http://schemas.microsoft.com/office/drawing/2014/main" id="{CD9FBF6C-3A4E-6275-9F58-A02F30488736}"/>
              </a:ext>
            </a:extLst>
          </p:cNvPr>
          <p:cNvSpPr/>
          <p:nvPr/>
        </p:nvSpPr>
        <p:spPr>
          <a:xfrm>
            <a:off x="4181665" y="4111486"/>
            <a:ext cx="249382" cy="534390"/>
          </a:xfrm>
          <a:prstGeom prst="roundRect">
            <a:avLst/>
          </a:prstGeom>
          <a:solidFill>
            <a:schemeClr val="bg1">
              <a:lumMod val="75000"/>
            </a:schemeClr>
          </a:solidFill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kumimoji="1" lang="zh-TW" altLang="en-US" dirty="0">
              <a:solidFill>
                <a:schemeClr val="tx1"/>
              </a:solidFill>
              <a:latin typeface="Cambria Math" panose="02040503050406030204" pitchFamily="18" charset="0"/>
            </a:endParaRPr>
          </a:p>
        </p:txBody>
      </p:sp>
      <p:sp>
        <p:nvSpPr>
          <p:cNvPr id="16" name="文字方塊 15">
            <a:extLst>
              <a:ext uri="{FF2B5EF4-FFF2-40B4-BE49-F238E27FC236}">
                <a16:creationId xmlns:a16="http://schemas.microsoft.com/office/drawing/2014/main" id="{F29194D6-8E49-837A-295D-9FA56CC456B8}"/>
              </a:ext>
            </a:extLst>
          </p:cNvPr>
          <p:cNvSpPr txBox="1"/>
          <p:nvPr/>
        </p:nvSpPr>
        <p:spPr>
          <a:xfrm>
            <a:off x="3413897" y="4146568"/>
            <a:ext cx="792508" cy="52322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kumimoji="1" lang="en-US" altLang="zh-TW" sz="1400" dirty="0"/>
              <a:t>Context vector</a:t>
            </a:r>
            <a:endParaRPr kumimoji="1" lang="zh-TW" altLang="en-US" sz="1400" dirty="0"/>
          </a:p>
        </p:txBody>
      </p:sp>
      <p:cxnSp>
        <p:nvCxnSpPr>
          <p:cNvPr id="17" name="直線箭頭接點 16">
            <a:extLst>
              <a:ext uri="{FF2B5EF4-FFF2-40B4-BE49-F238E27FC236}">
                <a16:creationId xmlns:a16="http://schemas.microsoft.com/office/drawing/2014/main" id="{18052D9A-82CE-6A33-00CB-3174CDAC2F6A}"/>
              </a:ext>
            </a:extLst>
          </p:cNvPr>
          <p:cNvCxnSpPr>
            <a:cxnSpLocks/>
          </p:cNvCxnSpPr>
          <p:nvPr/>
        </p:nvCxnSpPr>
        <p:spPr>
          <a:xfrm>
            <a:off x="8418715" y="5924904"/>
            <a:ext cx="398515" cy="0"/>
          </a:xfrm>
          <a:prstGeom prst="straightConnector1">
            <a:avLst/>
          </a:prstGeom>
          <a:ln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18" name="圓角矩形 17">
            <a:extLst>
              <a:ext uri="{FF2B5EF4-FFF2-40B4-BE49-F238E27FC236}">
                <a16:creationId xmlns:a16="http://schemas.microsoft.com/office/drawing/2014/main" id="{959DF220-4673-4DEF-FBED-74E6553B93FF}"/>
              </a:ext>
            </a:extLst>
          </p:cNvPr>
          <p:cNvSpPr/>
          <p:nvPr/>
        </p:nvSpPr>
        <p:spPr>
          <a:xfrm>
            <a:off x="7995497" y="5834099"/>
            <a:ext cx="372490" cy="205528"/>
          </a:xfrm>
          <a:prstGeom prst="roundRect">
            <a:avLst/>
          </a:prstGeom>
          <a:solidFill>
            <a:schemeClr val="accent5">
              <a:lumMod val="60000"/>
              <a:lumOff val="40000"/>
            </a:schemeClr>
          </a:solidFill>
          <a:ln w="19050">
            <a:solidFill>
              <a:schemeClr val="tx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kumimoji="1" lang="zh-TW" altLang="en-US"/>
          </a:p>
        </p:txBody>
      </p:sp>
      <p:sp>
        <p:nvSpPr>
          <p:cNvPr id="19" name="圓角矩形 18">
            <a:extLst>
              <a:ext uri="{FF2B5EF4-FFF2-40B4-BE49-F238E27FC236}">
                <a16:creationId xmlns:a16="http://schemas.microsoft.com/office/drawing/2014/main" id="{821FA276-9200-18BB-473F-6D8378EE0CC4}"/>
              </a:ext>
            </a:extLst>
          </p:cNvPr>
          <p:cNvSpPr/>
          <p:nvPr/>
        </p:nvSpPr>
        <p:spPr>
          <a:xfrm>
            <a:off x="8844242" y="5834099"/>
            <a:ext cx="372490" cy="205528"/>
          </a:xfrm>
          <a:prstGeom prst="roundRect">
            <a:avLst/>
          </a:prstGeom>
          <a:solidFill>
            <a:schemeClr val="accent5">
              <a:lumMod val="60000"/>
              <a:lumOff val="40000"/>
            </a:schemeClr>
          </a:solidFill>
          <a:ln w="19050">
            <a:solidFill>
              <a:schemeClr val="tx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kumimoji="1" lang="zh-TW" altLang="en-US"/>
          </a:p>
        </p:txBody>
      </p:sp>
      <mc:AlternateContent xmlns:mc="http://schemas.openxmlformats.org/markup-compatibility/2006" xmlns:a14="http://schemas.microsoft.com/office/drawing/2010/main">
        <mc:Choice Requires="a14">
          <p:sp>
            <p:nvSpPr>
              <p:cNvPr id="20" name="文字方塊 19">
                <a:extLst>
                  <a:ext uri="{FF2B5EF4-FFF2-40B4-BE49-F238E27FC236}">
                    <a16:creationId xmlns:a16="http://schemas.microsoft.com/office/drawing/2014/main" id="{4AC4CDD1-8616-95F0-8D6F-677F0C5DC7B6}"/>
                  </a:ext>
                </a:extLst>
              </p:cNvPr>
              <p:cNvSpPr txBox="1"/>
              <p:nvPr/>
            </p:nvSpPr>
            <p:spPr>
              <a:xfrm>
                <a:off x="8888946" y="6074116"/>
                <a:ext cx="307392" cy="286040"/>
              </a:xfrm>
              <a:prstGeom prst="rect">
                <a:avLst/>
              </a:prstGeom>
              <a:noFill/>
            </p:spPr>
            <p:txBody>
              <a:bodyPr wrap="none" lIns="0" tIns="0" rIns="0" bIns="0" rtlCol="0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sSubSup>
                        <m:sSubSupPr>
                          <m:ctrlPr>
                            <a:rPr kumimoji="1" lang="en-US" altLang="zh-TW" i="1" smtClean="0">
                              <a:latin typeface="Cambria Math" panose="02040503050406030204" pitchFamily="18" charset="0"/>
                            </a:rPr>
                          </m:ctrlPr>
                        </m:sSubSupPr>
                        <m:e>
                          <m:r>
                            <a:rPr kumimoji="1" lang="en-US" altLang="zh-TW" b="0" i="1" smtClean="0">
                              <a:latin typeface="Cambria Math" panose="02040503050406030204" pitchFamily="18" charset="0"/>
                            </a:rPr>
                            <m:t>h</m:t>
                          </m:r>
                        </m:e>
                        <m:sub>
                          <m:r>
                            <a:rPr kumimoji="1" lang="en-US" altLang="zh-TW" b="0" i="1" smtClean="0">
                              <a:latin typeface="Cambria Math" panose="02040503050406030204" pitchFamily="18" charset="0"/>
                            </a:rPr>
                            <m:t>𝑡</m:t>
                          </m:r>
                        </m:sub>
                        <m:sup>
                          <m:r>
                            <a:rPr kumimoji="1" lang="en-US" altLang="zh-TW" b="0" i="1" smtClean="0">
                              <a:latin typeface="Cambria Math" panose="02040503050406030204" pitchFamily="18" charset="0"/>
                            </a:rPr>
                            <m:t>𝑑</m:t>
                          </m:r>
                        </m:sup>
                      </m:sSubSup>
                    </m:oMath>
                  </m:oMathPara>
                </a14:m>
                <a:endParaRPr kumimoji="1" lang="zh-TW" altLang="en-US" dirty="0"/>
              </a:p>
            </p:txBody>
          </p:sp>
        </mc:Choice>
        <mc:Fallback xmlns="">
          <p:sp>
            <p:nvSpPr>
              <p:cNvPr id="20" name="文字方塊 19">
                <a:extLst>
                  <a:ext uri="{FF2B5EF4-FFF2-40B4-BE49-F238E27FC236}">
                    <a16:creationId xmlns:a16="http://schemas.microsoft.com/office/drawing/2014/main" id="{4AC4CDD1-8616-95F0-8D6F-677F0C5DC7B6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8888946" y="6074116"/>
                <a:ext cx="307392" cy="286040"/>
              </a:xfrm>
              <a:prstGeom prst="rect">
                <a:avLst/>
              </a:prstGeom>
              <a:blipFill>
                <a:blip r:embed="rId2"/>
                <a:stretch>
                  <a:fillRect l="-15385" r="-3846" b="-17391"/>
                </a:stretch>
              </a:blipFill>
            </p:spPr>
            <p:txBody>
              <a:bodyPr/>
              <a:lstStyle/>
              <a:p>
                <a:r>
                  <a:rPr lang="zh-TW" altLang="en-US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 xmlns:a14="http://schemas.microsoft.com/office/drawing/2010/main">
        <mc:Choice Requires="a14">
          <p:sp>
            <p:nvSpPr>
              <p:cNvPr id="21" name="文字方塊 20">
                <a:extLst>
                  <a:ext uri="{FF2B5EF4-FFF2-40B4-BE49-F238E27FC236}">
                    <a16:creationId xmlns:a16="http://schemas.microsoft.com/office/drawing/2014/main" id="{0839299A-3A5D-5329-8EB6-C6FEB8C353AC}"/>
                  </a:ext>
                </a:extLst>
              </p:cNvPr>
              <p:cNvSpPr txBox="1"/>
              <p:nvPr/>
            </p:nvSpPr>
            <p:spPr>
              <a:xfrm>
                <a:off x="7995497" y="6072455"/>
                <a:ext cx="488532" cy="288862"/>
              </a:xfrm>
              <a:prstGeom prst="rect">
                <a:avLst/>
              </a:prstGeom>
              <a:noFill/>
            </p:spPr>
            <p:txBody>
              <a:bodyPr wrap="none" lIns="0" tIns="0" rIns="0" bIns="0" rtlCol="0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sSubSup>
                        <m:sSubSupPr>
                          <m:ctrlPr>
                            <a:rPr kumimoji="1" lang="en-US" altLang="zh-TW" i="1" smtClean="0">
                              <a:latin typeface="Cambria Math" panose="02040503050406030204" pitchFamily="18" charset="0"/>
                            </a:rPr>
                          </m:ctrlPr>
                        </m:sSubSupPr>
                        <m:e>
                          <m:r>
                            <a:rPr kumimoji="1" lang="en-US" altLang="zh-TW" b="0" i="1" smtClean="0">
                              <a:latin typeface="Cambria Math" panose="02040503050406030204" pitchFamily="18" charset="0"/>
                            </a:rPr>
                            <m:t>h</m:t>
                          </m:r>
                        </m:e>
                        <m:sub>
                          <m:r>
                            <a:rPr kumimoji="1" lang="en-US" altLang="zh-TW" b="0" i="1" smtClean="0">
                              <a:latin typeface="Cambria Math" panose="02040503050406030204" pitchFamily="18" charset="0"/>
                            </a:rPr>
                            <m:t>𝑡</m:t>
                          </m:r>
                          <m:r>
                            <a:rPr kumimoji="1" lang="en-US" altLang="zh-TW" b="0" i="1" smtClean="0">
                              <a:latin typeface="Cambria Math" panose="02040503050406030204" pitchFamily="18" charset="0"/>
                            </a:rPr>
                            <m:t>−1</m:t>
                          </m:r>
                        </m:sub>
                        <m:sup>
                          <m:r>
                            <a:rPr kumimoji="1" lang="en-US" altLang="zh-TW" b="0" i="1" smtClean="0">
                              <a:latin typeface="Cambria Math" panose="02040503050406030204" pitchFamily="18" charset="0"/>
                            </a:rPr>
                            <m:t>𝑑</m:t>
                          </m:r>
                        </m:sup>
                      </m:sSubSup>
                    </m:oMath>
                  </m:oMathPara>
                </a14:m>
                <a:endParaRPr kumimoji="1" lang="zh-TW" altLang="en-US" dirty="0"/>
              </a:p>
            </p:txBody>
          </p:sp>
        </mc:Choice>
        <mc:Fallback xmlns="">
          <p:sp>
            <p:nvSpPr>
              <p:cNvPr id="21" name="文字方塊 20">
                <a:extLst>
                  <a:ext uri="{FF2B5EF4-FFF2-40B4-BE49-F238E27FC236}">
                    <a16:creationId xmlns:a16="http://schemas.microsoft.com/office/drawing/2014/main" id="{0839299A-3A5D-5329-8EB6-C6FEB8C353AC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7995497" y="6072455"/>
                <a:ext cx="488532" cy="288862"/>
              </a:xfrm>
              <a:prstGeom prst="rect">
                <a:avLst/>
              </a:prstGeom>
              <a:blipFill>
                <a:blip r:embed="rId3"/>
                <a:stretch>
                  <a:fillRect l="-12500" t="-4167" r="-2500" b="-12500"/>
                </a:stretch>
              </a:blipFill>
            </p:spPr>
            <p:txBody>
              <a:bodyPr/>
              <a:lstStyle/>
              <a:p>
                <a:r>
                  <a:rPr lang="zh-TW" altLang="en-US">
                    <a:noFill/>
                  </a:rPr>
                  <a:t> </a:t>
                </a:r>
              </a:p>
            </p:txBody>
          </p:sp>
        </mc:Fallback>
      </mc:AlternateContent>
      <p:cxnSp>
        <p:nvCxnSpPr>
          <p:cNvPr id="22" name="直線箭頭接點 21">
            <a:extLst>
              <a:ext uri="{FF2B5EF4-FFF2-40B4-BE49-F238E27FC236}">
                <a16:creationId xmlns:a16="http://schemas.microsoft.com/office/drawing/2014/main" id="{B7294E9D-70AE-0914-CF15-CC0297182BD1}"/>
              </a:ext>
            </a:extLst>
          </p:cNvPr>
          <p:cNvCxnSpPr>
            <a:cxnSpLocks/>
          </p:cNvCxnSpPr>
          <p:nvPr/>
        </p:nvCxnSpPr>
        <p:spPr>
          <a:xfrm>
            <a:off x="7542080" y="5938428"/>
            <a:ext cx="398515" cy="0"/>
          </a:xfrm>
          <a:prstGeom prst="straightConnector1">
            <a:avLst/>
          </a:prstGeom>
          <a:ln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23" name="直線箭頭接點 22">
            <a:extLst>
              <a:ext uri="{FF2B5EF4-FFF2-40B4-BE49-F238E27FC236}">
                <a16:creationId xmlns:a16="http://schemas.microsoft.com/office/drawing/2014/main" id="{182166DF-E70B-14E3-DB57-F504E07C47E8}"/>
              </a:ext>
            </a:extLst>
          </p:cNvPr>
          <p:cNvCxnSpPr>
            <a:cxnSpLocks/>
          </p:cNvCxnSpPr>
          <p:nvPr/>
        </p:nvCxnSpPr>
        <p:spPr>
          <a:xfrm>
            <a:off x="9250518" y="5938428"/>
            <a:ext cx="398515" cy="0"/>
          </a:xfrm>
          <a:prstGeom prst="straightConnector1">
            <a:avLst/>
          </a:prstGeom>
          <a:ln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24" name="曲線接點 23">
            <a:extLst>
              <a:ext uri="{FF2B5EF4-FFF2-40B4-BE49-F238E27FC236}">
                <a16:creationId xmlns:a16="http://schemas.microsoft.com/office/drawing/2014/main" id="{00E2C3EA-0C88-B646-627B-455B0220A06E}"/>
              </a:ext>
            </a:extLst>
          </p:cNvPr>
          <p:cNvCxnSpPr>
            <a:cxnSpLocks/>
            <a:stCxn id="15" idx="3"/>
          </p:cNvCxnSpPr>
          <p:nvPr/>
        </p:nvCxnSpPr>
        <p:spPr>
          <a:xfrm>
            <a:off x="4431047" y="4378681"/>
            <a:ext cx="4164978" cy="1507606"/>
          </a:xfrm>
          <a:prstGeom prst="curvedConnector3">
            <a:avLst>
              <a:gd name="adj1" fmla="val 99897"/>
            </a:avLst>
          </a:prstGeom>
          <a:ln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25" name="文字方塊 24">
            <a:extLst>
              <a:ext uri="{FF2B5EF4-FFF2-40B4-BE49-F238E27FC236}">
                <a16:creationId xmlns:a16="http://schemas.microsoft.com/office/drawing/2014/main" id="{83553E97-B333-560C-E94C-527DB76A05F4}"/>
              </a:ext>
            </a:extLst>
          </p:cNvPr>
          <p:cNvSpPr txBox="1"/>
          <p:nvPr/>
        </p:nvSpPr>
        <p:spPr>
          <a:xfrm>
            <a:off x="7253986" y="5697634"/>
            <a:ext cx="227547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kumimoji="1" lang="en-US" altLang="zh-TW" dirty="0"/>
              <a:t>…</a:t>
            </a:r>
            <a:endParaRPr kumimoji="1" lang="zh-TW" altLang="en-US" dirty="0"/>
          </a:p>
        </p:txBody>
      </p:sp>
      <p:cxnSp>
        <p:nvCxnSpPr>
          <p:cNvPr id="26" name="直線接點 25">
            <a:extLst>
              <a:ext uri="{FF2B5EF4-FFF2-40B4-BE49-F238E27FC236}">
                <a16:creationId xmlns:a16="http://schemas.microsoft.com/office/drawing/2014/main" id="{1C76AAFC-8FFA-FCAD-4106-92F96C8903DF}"/>
              </a:ext>
            </a:extLst>
          </p:cNvPr>
          <p:cNvCxnSpPr/>
          <p:nvPr/>
        </p:nvCxnSpPr>
        <p:spPr>
          <a:xfrm>
            <a:off x="6260593" y="3736873"/>
            <a:ext cx="0" cy="2658906"/>
          </a:xfrm>
          <a:prstGeom prst="line">
            <a:avLst/>
          </a:prstGeom>
          <a:ln w="12700">
            <a:solidFill>
              <a:schemeClr val="tx1"/>
            </a:solidFill>
            <a:prstDash val="dash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grpSp>
        <p:nvGrpSpPr>
          <p:cNvPr id="27" name="群組 26">
            <a:extLst>
              <a:ext uri="{FF2B5EF4-FFF2-40B4-BE49-F238E27FC236}">
                <a16:creationId xmlns:a16="http://schemas.microsoft.com/office/drawing/2014/main" id="{5352AF36-4C46-8475-6234-0C95BA60353E}"/>
              </a:ext>
            </a:extLst>
          </p:cNvPr>
          <p:cNvGrpSpPr/>
          <p:nvPr/>
        </p:nvGrpSpPr>
        <p:grpSpPr>
          <a:xfrm>
            <a:off x="2185220" y="5905725"/>
            <a:ext cx="398515" cy="95121"/>
            <a:chOff x="1557538" y="4722048"/>
            <a:chExt cx="398515" cy="95121"/>
          </a:xfrm>
        </p:grpSpPr>
        <p:cxnSp>
          <p:nvCxnSpPr>
            <p:cNvPr id="28" name="直線箭頭接點 27">
              <a:extLst>
                <a:ext uri="{FF2B5EF4-FFF2-40B4-BE49-F238E27FC236}">
                  <a16:creationId xmlns:a16="http://schemas.microsoft.com/office/drawing/2014/main" id="{3270C5E6-3905-7ABE-DD13-9F88B429A40B}"/>
                </a:ext>
              </a:extLst>
            </p:cNvPr>
            <p:cNvCxnSpPr>
              <a:cxnSpLocks/>
            </p:cNvCxnSpPr>
            <p:nvPr/>
          </p:nvCxnSpPr>
          <p:spPr>
            <a:xfrm>
              <a:off x="1557538" y="4722048"/>
              <a:ext cx="398515" cy="0"/>
            </a:xfrm>
            <a:prstGeom prst="straightConnector1">
              <a:avLst/>
            </a:prstGeom>
            <a:ln>
              <a:tailEnd type="triangle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29" name="直線箭頭接點 28">
              <a:extLst>
                <a:ext uri="{FF2B5EF4-FFF2-40B4-BE49-F238E27FC236}">
                  <a16:creationId xmlns:a16="http://schemas.microsoft.com/office/drawing/2014/main" id="{82E56E54-2927-8EEB-360B-7D56693F9FC2}"/>
                </a:ext>
              </a:extLst>
            </p:cNvPr>
            <p:cNvCxnSpPr>
              <a:cxnSpLocks/>
            </p:cNvCxnSpPr>
            <p:nvPr/>
          </p:nvCxnSpPr>
          <p:spPr>
            <a:xfrm flipH="1">
              <a:off x="1557539" y="4817169"/>
              <a:ext cx="398514" cy="0"/>
            </a:xfrm>
            <a:prstGeom prst="straightConnector1">
              <a:avLst/>
            </a:prstGeom>
            <a:ln>
              <a:tailEnd type="triangle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</p:grpSp>
      <p:grpSp>
        <p:nvGrpSpPr>
          <p:cNvPr id="30" name="群組 29">
            <a:extLst>
              <a:ext uri="{FF2B5EF4-FFF2-40B4-BE49-F238E27FC236}">
                <a16:creationId xmlns:a16="http://schemas.microsoft.com/office/drawing/2014/main" id="{8CBA68F0-BCDF-6B13-2811-79018A791C7B}"/>
              </a:ext>
            </a:extLst>
          </p:cNvPr>
          <p:cNvGrpSpPr/>
          <p:nvPr/>
        </p:nvGrpSpPr>
        <p:grpSpPr>
          <a:xfrm>
            <a:off x="3124874" y="5901550"/>
            <a:ext cx="398515" cy="95121"/>
            <a:chOff x="1557538" y="4722048"/>
            <a:chExt cx="398515" cy="95121"/>
          </a:xfrm>
        </p:grpSpPr>
        <p:cxnSp>
          <p:nvCxnSpPr>
            <p:cNvPr id="31" name="直線箭頭接點 30">
              <a:extLst>
                <a:ext uri="{FF2B5EF4-FFF2-40B4-BE49-F238E27FC236}">
                  <a16:creationId xmlns:a16="http://schemas.microsoft.com/office/drawing/2014/main" id="{5583236E-D0FB-8963-2AF6-59082A00964A}"/>
                </a:ext>
              </a:extLst>
            </p:cNvPr>
            <p:cNvCxnSpPr>
              <a:cxnSpLocks/>
            </p:cNvCxnSpPr>
            <p:nvPr/>
          </p:nvCxnSpPr>
          <p:spPr>
            <a:xfrm>
              <a:off x="1557538" y="4722048"/>
              <a:ext cx="398515" cy="0"/>
            </a:xfrm>
            <a:prstGeom prst="straightConnector1">
              <a:avLst/>
            </a:prstGeom>
            <a:ln>
              <a:tailEnd type="triangle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32" name="直線箭頭接點 31">
              <a:extLst>
                <a:ext uri="{FF2B5EF4-FFF2-40B4-BE49-F238E27FC236}">
                  <a16:creationId xmlns:a16="http://schemas.microsoft.com/office/drawing/2014/main" id="{CB6E88CE-E389-A9D3-3C2C-06E9769F4983}"/>
                </a:ext>
              </a:extLst>
            </p:cNvPr>
            <p:cNvCxnSpPr>
              <a:cxnSpLocks/>
            </p:cNvCxnSpPr>
            <p:nvPr/>
          </p:nvCxnSpPr>
          <p:spPr>
            <a:xfrm flipH="1">
              <a:off x="1557539" y="4817169"/>
              <a:ext cx="398514" cy="0"/>
            </a:xfrm>
            <a:prstGeom prst="straightConnector1">
              <a:avLst/>
            </a:prstGeom>
            <a:ln>
              <a:tailEnd type="triangle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</p:grpSp>
      <p:grpSp>
        <p:nvGrpSpPr>
          <p:cNvPr id="33" name="群組 32">
            <a:extLst>
              <a:ext uri="{FF2B5EF4-FFF2-40B4-BE49-F238E27FC236}">
                <a16:creationId xmlns:a16="http://schemas.microsoft.com/office/drawing/2014/main" id="{B7C367C0-1D4B-EA39-1FF4-2AD2C509D473}"/>
              </a:ext>
            </a:extLst>
          </p:cNvPr>
          <p:cNvGrpSpPr/>
          <p:nvPr/>
        </p:nvGrpSpPr>
        <p:grpSpPr>
          <a:xfrm>
            <a:off x="4061589" y="5900203"/>
            <a:ext cx="398515" cy="95121"/>
            <a:chOff x="1557538" y="4722048"/>
            <a:chExt cx="398515" cy="95121"/>
          </a:xfrm>
        </p:grpSpPr>
        <p:cxnSp>
          <p:nvCxnSpPr>
            <p:cNvPr id="34" name="直線箭頭接點 33">
              <a:extLst>
                <a:ext uri="{FF2B5EF4-FFF2-40B4-BE49-F238E27FC236}">
                  <a16:creationId xmlns:a16="http://schemas.microsoft.com/office/drawing/2014/main" id="{0CE961F5-B0BE-25DD-544A-D7E045D6444A}"/>
                </a:ext>
              </a:extLst>
            </p:cNvPr>
            <p:cNvCxnSpPr>
              <a:cxnSpLocks/>
            </p:cNvCxnSpPr>
            <p:nvPr/>
          </p:nvCxnSpPr>
          <p:spPr>
            <a:xfrm>
              <a:off x="1557538" y="4722048"/>
              <a:ext cx="398515" cy="0"/>
            </a:xfrm>
            <a:prstGeom prst="straightConnector1">
              <a:avLst/>
            </a:prstGeom>
            <a:ln>
              <a:tailEnd type="triangle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35" name="直線箭頭接點 34">
              <a:extLst>
                <a:ext uri="{FF2B5EF4-FFF2-40B4-BE49-F238E27FC236}">
                  <a16:creationId xmlns:a16="http://schemas.microsoft.com/office/drawing/2014/main" id="{8BD900CE-2244-005E-1A07-D001D3536389}"/>
                </a:ext>
              </a:extLst>
            </p:cNvPr>
            <p:cNvCxnSpPr>
              <a:cxnSpLocks/>
            </p:cNvCxnSpPr>
            <p:nvPr/>
          </p:nvCxnSpPr>
          <p:spPr>
            <a:xfrm flipH="1">
              <a:off x="1557539" y="4817169"/>
              <a:ext cx="398514" cy="0"/>
            </a:xfrm>
            <a:prstGeom prst="straightConnector1">
              <a:avLst/>
            </a:prstGeom>
            <a:ln>
              <a:tailEnd type="triangle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</p:grpSp>
      <p:grpSp>
        <p:nvGrpSpPr>
          <p:cNvPr id="36" name="群組 35">
            <a:extLst>
              <a:ext uri="{FF2B5EF4-FFF2-40B4-BE49-F238E27FC236}">
                <a16:creationId xmlns:a16="http://schemas.microsoft.com/office/drawing/2014/main" id="{11FF93D5-8D9D-213E-BC84-B3A515A865C5}"/>
              </a:ext>
            </a:extLst>
          </p:cNvPr>
          <p:cNvGrpSpPr/>
          <p:nvPr/>
        </p:nvGrpSpPr>
        <p:grpSpPr>
          <a:xfrm>
            <a:off x="5067943" y="5899559"/>
            <a:ext cx="398515" cy="95121"/>
            <a:chOff x="1557538" y="4722048"/>
            <a:chExt cx="398515" cy="95121"/>
          </a:xfrm>
        </p:grpSpPr>
        <p:cxnSp>
          <p:nvCxnSpPr>
            <p:cNvPr id="37" name="直線箭頭接點 36">
              <a:extLst>
                <a:ext uri="{FF2B5EF4-FFF2-40B4-BE49-F238E27FC236}">
                  <a16:creationId xmlns:a16="http://schemas.microsoft.com/office/drawing/2014/main" id="{9DD3F403-70D3-3725-AEDD-362D5F759658}"/>
                </a:ext>
              </a:extLst>
            </p:cNvPr>
            <p:cNvCxnSpPr>
              <a:cxnSpLocks/>
            </p:cNvCxnSpPr>
            <p:nvPr/>
          </p:nvCxnSpPr>
          <p:spPr>
            <a:xfrm>
              <a:off x="1557538" y="4722048"/>
              <a:ext cx="398515" cy="0"/>
            </a:xfrm>
            <a:prstGeom prst="straightConnector1">
              <a:avLst/>
            </a:prstGeom>
            <a:ln>
              <a:tailEnd type="triangle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38" name="直線箭頭接點 37">
              <a:extLst>
                <a:ext uri="{FF2B5EF4-FFF2-40B4-BE49-F238E27FC236}">
                  <a16:creationId xmlns:a16="http://schemas.microsoft.com/office/drawing/2014/main" id="{06E7132B-BB9C-8D16-984D-0680EBA5592F}"/>
                </a:ext>
              </a:extLst>
            </p:cNvPr>
            <p:cNvCxnSpPr>
              <a:cxnSpLocks/>
            </p:cNvCxnSpPr>
            <p:nvPr/>
          </p:nvCxnSpPr>
          <p:spPr>
            <a:xfrm flipH="1">
              <a:off x="1557539" y="4817169"/>
              <a:ext cx="398514" cy="0"/>
            </a:xfrm>
            <a:prstGeom prst="straightConnector1">
              <a:avLst/>
            </a:prstGeom>
            <a:ln>
              <a:tailEnd type="triangle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</p:grpSp>
      <p:sp>
        <p:nvSpPr>
          <p:cNvPr id="39" name="文字方塊 38">
            <a:extLst>
              <a:ext uri="{FF2B5EF4-FFF2-40B4-BE49-F238E27FC236}">
                <a16:creationId xmlns:a16="http://schemas.microsoft.com/office/drawing/2014/main" id="{A00D7E94-4A4F-F413-06B9-89725C286DC6}"/>
              </a:ext>
            </a:extLst>
          </p:cNvPr>
          <p:cNvSpPr txBox="1"/>
          <p:nvPr/>
        </p:nvSpPr>
        <p:spPr>
          <a:xfrm>
            <a:off x="2660898" y="6373948"/>
            <a:ext cx="2453539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kumimoji="1" lang="en-US" altLang="zh-TW" dirty="0"/>
              <a:t>Encoder time steps</a:t>
            </a:r>
            <a:endParaRPr kumimoji="1" lang="zh-TW" altLang="en-US" dirty="0"/>
          </a:p>
        </p:txBody>
      </p:sp>
      <p:sp>
        <p:nvSpPr>
          <p:cNvPr id="40" name="文字方塊 39">
            <a:extLst>
              <a:ext uri="{FF2B5EF4-FFF2-40B4-BE49-F238E27FC236}">
                <a16:creationId xmlns:a16="http://schemas.microsoft.com/office/drawing/2014/main" id="{221E6543-D941-AE6A-6B34-8E8955F6589F}"/>
              </a:ext>
            </a:extLst>
          </p:cNvPr>
          <p:cNvSpPr txBox="1"/>
          <p:nvPr/>
        </p:nvSpPr>
        <p:spPr>
          <a:xfrm>
            <a:off x="7415749" y="6373948"/>
            <a:ext cx="2453539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kumimoji="1" lang="en-US" altLang="zh-TW" dirty="0"/>
              <a:t>Decoder time steps</a:t>
            </a:r>
            <a:endParaRPr kumimoji="1" lang="zh-TW" altLang="en-US" dirty="0"/>
          </a:p>
        </p:txBody>
      </p:sp>
      <p:sp>
        <p:nvSpPr>
          <p:cNvPr id="41" name="文字方塊 40">
            <a:extLst>
              <a:ext uri="{FF2B5EF4-FFF2-40B4-BE49-F238E27FC236}">
                <a16:creationId xmlns:a16="http://schemas.microsoft.com/office/drawing/2014/main" id="{19EB9FC7-39F4-527E-C9B8-5E105C0299DC}"/>
              </a:ext>
            </a:extLst>
          </p:cNvPr>
          <p:cNvSpPr txBox="1"/>
          <p:nvPr/>
        </p:nvSpPr>
        <p:spPr>
          <a:xfrm>
            <a:off x="8091249" y="3386778"/>
            <a:ext cx="617862" cy="307777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kumimoji="1" lang="en-US" altLang="zh-TW" sz="1400" dirty="0" err="1"/>
              <a:t>i</a:t>
            </a:r>
            <a:endParaRPr kumimoji="1" lang="zh-TW" altLang="en-US" sz="1400" dirty="0"/>
          </a:p>
        </p:txBody>
      </p:sp>
      <p:sp>
        <p:nvSpPr>
          <p:cNvPr id="42" name="文字方塊 41">
            <a:extLst>
              <a:ext uri="{FF2B5EF4-FFF2-40B4-BE49-F238E27FC236}">
                <a16:creationId xmlns:a16="http://schemas.microsoft.com/office/drawing/2014/main" id="{D1C6BF24-1E87-2E9E-D72F-55AC175E9BA7}"/>
              </a:ext>
            </a:extLst>
          </p:cNvPr>
          <p:cNvSpPr txBox="1"/>
          <p:nvPr/>
        </p:nvSpPr>
        <p:spPr>
          <a:xfrm>
            <a:off x="8818029" y="3386777"/>
            <a:ext cx="617862" cy="307777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kumimoji="1" lang="en-US" altLang="zh-TW" sz="1400" dirty="0"/>
              <a:t>love</a:t>
            </a:r>
            <a:endParaRPr kumimoji="1" lang="zh-TW" altLang="en-US" sz="1400" dirty="0"/>
          </a:p>
        </p:txBody>
      </p:sp>
      <p:sp>
        <p:nvSpPr>
          <p:cNvPr id="43" name="文字方塊 42">
            <a:extLst>
              <a:ext uri="{FF2B5EF4-FFF2-40B4-BE49-F238E27FC236}">
                <a16:creationId xmlns:a16="http://schemas.microsoft.com/office/drawing/2014/main" id="{9D63A4D0-2D9A-949B-56CC-1BDB7F7E2F1E}"/>
              </a:ext>
            </a:extLst>
          </p:cNvPr>
          <p:cNvSpPr txBox="1"/>
          <p:nvPr/>
        </p:nvSpPr>
        <p:spPr>
          <a:xfrm>
            <a:off x="9489307" y="3386778"/>
            <a:ext cx="736811" cy="307777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kumimoji="1" lang="en-US" altLang="zh-TW" sz="1400" dirty="0"/>
              <a:t>deep</a:t>
            </a:r>
            <a:endParaRPr kumimoji="1" lang="zh-TW" altLang="en-US" sz="1400" dirty="0"/>
          </a:p>
        </p:txBody>
      </p:sp>
      <p:sp>
        <p:nvSpPr>
          <p:cNvPr id="44" name="文字方塊 43">
            <a:extLst>
              <a:ext uri="{FF2B5EF4-FFF2-40B4-BE49-F238E27FC236}">
                <a16:creationId xmlns:a16="http://schemas.microsoft.com/office/drawing/2014/main" id="{2B12A0A8-56E4-AE60-D383-30233137D583}"/>
              </a:ext>
            </a:extLst>
          </p:cNvPr>
          <p:cNvSpPr txBox="1"/>
          <p:nvPr/>
        </p:nvSpPr>
        <p:spPr>
          <a:xfrm>
            <a:off x="10139072" y="3386778"/>
            <a:ext cx="881616" cy="307777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kumimoji="1" lang="en-US" altLang="zh-TW" sz="1400" dirty="0"/>
              <a:t>learning</a:t>
            </a:r>
            <a:endParaRPr kumimoji="1" lang="zh-TW" altLang="en-US" sz="1400" dirty="0"/>
          </a:p>
        </p:txBody>
      </p:sp>
      <p:sp>
        <p:nvSpPr>
          <p:cNvPr id="45" name="圓角矩形 44">
            <a:extLst>
              <a:ext uri="{FF2B5EF4-FFF2-40B4-BE49-F238E27FC236}">
                <a16:creationId xmlns:a16="http://schemas.microsoft.com/office/drawing/2014/main" id="{F1EA2E62-62EF-871C-C0D0-A6330156E9A7}"/>
              </a:ext>
            </a:extLst>
          </p:cNvPr>
          <p:cNvSpPr/>
          <p:nvPr/>
        </p:nvSpPr>
        <p:spPr>
          <a:xfrm>
            <a:off x="8238042" y="2706320"/>
            <a:ext cx="324276" cy="324276"/>
          </a:xfrm>
          <a:prstGeom prst="roundRect">
            <a:avLst/>
          </a:prstGeom>
          <a:solidFill>
            <a:schemeClr val="accent1">
              <a:lumMod val="20000"/>
              <a:lumOff val="80000"/>
            </a:schemeClr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kumimoji="1" lang="zh-TW" altLang="en-US"/>
          </a:p>
        </p:txBody>
      </p:sp>
      <p:sp>
        <p:nvSpPr>
          <p:cNvPr id="46" name="圓角矩形 45">
            <a:extLst>
              <a:ext uri="{FF2B5EF4-FFF2-40B4-BE49-F238E27FC236}">
                <a16:creationId xmlns:a16="http://schemas.microsoft.com/office/drawing/2014/main" id="{6022375C-FD06-DF47-18B2-5485FADE5987}"/>
              </a:ext>
            </a:extLst>
          </p:cNvPr>
          <p:cNvSpPr/>
          <p:nvPr/>
        </p:nvSpPr>
        <p:spPr>
          <a:xfrm>
            <a:off x="8961740" y="2709320"/>
            <a:ext cx="324276" cy="324276"/>
          </a:xfrm>
          <a:prstGeom prst="roundRect">
            <a:avLst/>
          </a:prstGeom>
          <a:solidFill>
            <a:schemeClr val="accent1">
              <a:lumMod val="40000"/>
              <a:lumOff val="60000"/>
            </a:schemeClr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kumimoji="1" lang="zh-TW" altLang="en-US"/>
          </a:p>
        </p:txBody>
      </p:sp>
      <p:sp>
        <p:nvSpPr>
          <p:cNvPr id="47" name="圓角矩形 46">
            <a:extLst>
              <a:ext uri="{FF2B5EF4-FFF2-40B4-BE49-F238E27FC236}">
                <a16:creationId xmlns:a16="http://schemas.microsoft.com/office/drawing/2014/main" id="{A1491165-3E17-8AB6-5FDA-A9FE701D4AD1}"/>
              </a:ext>
            </a:extLst>
          </p:cNvPr>
          <p:cNvSpPr/>
          <p:nvPr/>
        </p:nvSpPr>
        <p:spPr>
          <a:xfrm>
            <a:off x="9685438" y="2709916"/>
            <a:ext cx="324276" cy="324276"/>
          </a:xfrm>
          <a:prstGeom prst="roundRect">
            <a:avLst/>
          </a:prstGeom>
          <a:solidFill>
            <a:schemeClr val="accent1">
              <a:lumMod val="60000"/>
              <a:lumOff val="40000"/>
            </a:schemeClr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kumimoji="1" lang="zh-TW" altLang="en-US"/>
          </a:p>
        </p:txBody>
      </p:sp>
      <p:sp>
        <p:nvSpPr>
          <p:cNvPr id="48" name="圓角矩形 47">
            <a:extLst>
              <a:ext uri="{FF2B5EF4-FFF2-40B4-BE49-F238E27FC236}">
                <a16:creationId xmlns:a16="http://schemas.microsoft.com/office/drawing/2014/main" id="{B25F291C-7245-D639-5CAE-F8085633EEE0}"/>
              </a:ext>
            </a:extLst>
          </p:cNvPr>
          <p:cNvSpPr/>
          <p:nvPr/>
        </p:nvSpPr>
        <p:spPr>
          <a:xfrm>
            <a:off x="10409136" y="2706320"/>
            <a:ext cx="324276" cy="324276"/>
          </a:xfrm>
          <a:prstGeom prst="roundRect">
            <a:avLst/>
          </a:prstGeom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kumimoji="1" lang="zh-TW" altLang="en-US"/>
          </a:p>
        </p:txBody>
      </p:sp>
      <p:cxnSp>
        <p:nvCxnSpPr>
          <p:cNvPr id="49" name="Google Shape;193;p17">
            <a:extLst>
              <a:ext uri="{FF2B5EF4-FFF2-40B4-BE49-F238E27FC236}">
                <a16:creationId xmlns:a16="http://schemas.microsoft.com/office/drawing/2014/main" id="{84AC4C84-4546-7289-55B0-FD1CCB3E8189}"/>
              </a:ext>
            </a:extLst>
          </p:cNvPr>
          <p:cNvCxnSpPr>
            <a:cxnSpLocks/>
          </p:cNvCxnSpPr>
          <p:nvPr/>
        </p:nvCxnSpPr>
        <p:spPr>
          <a:xfrm rot="10800000">
            <a:off x="9128175" y="3138390"/>
            <a:ext cx="0" cy="189000"/>
          </a:xfrm>
          <a:prstGeom prst="straightConnector1">
            <a:avLst/>
          </a:prstGeom>
          <a:noFill/>
          <a:ln w="9525" cap="flat" cmpd="sng">
            <a:solidFill>
              <a:schemeClr val="dk2"/>
            </a:solidFill>
            <a:prstDash val="solid"/>
            <a:round/>
            <a:headEnd type="none" w="med" len="med"/>
            <a:tailEnd type="triangle" w="med" len="med"/>
          </a:ln>
        </p:spPr>
      </p:cxnSp>
      <p:cxnSp>
        <p:nvCxnSpPr>
          <p:cNvPr id="50" name="Google Shape;194;p17">
            <a:extLst>
              <a:ext uri="{FF2B5EF4-FFF2-40B4-BE49-F238E27FC236}">
                <a16:creationId xmlns:a16="http://schemas.microsoft.com/office/drawing/2014/main" id="{FAF0CB16-85B9-9BA6-E0B6-287B9EB09C42}"/>
              </a:ext>
            </a:extLst>
          </p:cNvPr>
          <p:cNvCxnSpPr>
            <a:cxnSpLocks/>
          </p:cNvCxnSpPr>
          <p:nvPr/>
        </p:nvCxnSpPr>
        <p:spPr>
          <a:xfrm rot="10800000">
            <a:off x="9849725" y="3138390"/>
            <a:ext cx="0" cy="189000"/>
          </a:xfrm>
          <a:prstGeom prst="straightConnector1">
            <a:avLst/>
          </a:prstGeom>
          <a:noFill/>
          <a:ln w="9525" cap="flat" cmpd="sng">
            <a:solidFill>
              <a:schemeClr val="dk2"/>
            </a:solidFill>
            <a:prstDash val="solid"/>
            <a:round/>
            <a:headEnd type="none" w="med" len="med"/>
            <a:tailEnd type="triangle" w="med" len="med"/>
          </a:ln>
        </p:spPr>
      </p:cxnSp>
      <p:cxnSp>
        <p:nvCxnSpPr>
          <p:cNvPr id="51" name="Google Shape;195;p17">
            <a:extLst>
              <a:ext uri="{FF2B5EF4-FFF2-40B4-BE49-F238E27FC236}">
                <a16:creationId xmlns:a16="http://schemas.microsoft.com/office/drawing/2014/main" id="{89AD0ADF-A9EF-8411-A6CB-EF76D308B0FC}"/>
              </a:ext>
            </a:extLst>
          </p:cNvPr>
          <p:cNvCxnSpPr>
            <a:cxnSpLocks/>
          </p:cNvCxnSpPr>
          <p:nvPr/>
        </p:nvCxnSpPr>
        <p:spPr>
          <a:xfrm rot="10800000">
            <a:off x="10571275" y="3138390"/>
            <a:ext cx="0" cy="189000"/>
          </a:xfrm>
          <a:prstGeom prst="straightConnector1">
            <a:avLst/>
          </a:prstGeom>
          <a:noFill/>
          <a:ln w="9525" cap="flat" cmpd="sng">
            <a:solidFill>
              <a:schemeClr val="dk2"/>
            </a:solidFill>
            <a:prstDash val="solid"/>
            <a:round/>
            <a:headEnd type="none" w="med" len="med"/>
            <a:tailEnd type="triangle" w="med" len="med"/>
          </a:ln>
        </p:spPr>
      </p:cxnSp>
      <p:cxnSp>
        <p:nvCxnSpPr>
          <p:cNvPr id="52" name="Google Shape;195;p17">
            <a:extLst>
              <a:ext uri="{FF2B5EF4-FFF2-40B4-BE49-F238E27FC236}">
                <a16:creationId xmlns:a16="http://schemas.microsoft.com/office/drawing/2014/main" id="{F49DBC0C-DDFE-4C40-D282-CFF12CDE5E24}"/>
              </a:ext>
            </a:extLst>
          </p:cNvPr>
          <p:cNvCxnSpPr>
            <a:cxnSpLocks/>
          </p:cNvCxnSpPr>
          <p:nvPr/>
        </p:nvCxnSpPr>
        <p:spPr>
          <a:xfrm rot="10800000">
            <a:off x="8406625" y="3138390"/>
            <a:ext cx="0" cy="189000"/>
          </a:xfrm>
          <a:prstGeom prst="straightConnector1">
            <a:avLst/>
          </a:prstGeom>
          <a:noFill/>
          <a:ln w="9525" cap="flat" cmpd="sng">
            <a:solidFill>
              <a:schemeClr val="dk2"/>
            </a:solidFill>
            <a:prstDash val="solid"/>
            <a:round/>
            <a:headEnd type="none" w="med" len="med"/>
            <a:tailEnd type="triangle" w="med" len="med"/>
          </a:ln>
        </p:spPr>
      </p:cxnSp>
      <p:cxnSp>
        <p:nvCxnSpPr>
          <p:cNvPr id="53" name="Google Shape;193;p17">
            <a:extLst>
              <a:ext uri="{FF2B5EF4-FFF2-40B4-BE49-F238E27FC236}">
                <a16:creationId xmlns:a16="http://schemas.microsoft.com/office/drawing/2014/main" id="{401CD49E-5237-921E-1A82-C34DC79F6894}"/>
              </a:ext>
            </a:extLst>
          </p:cNvPr>
          <p:cNvCxnSpPr>
            <a:cxnSpLocks/>
          </p:cNvCxnSpPr>
          <p:nvPr/>
        </p:nvCxnSpPr>
        <p:spPr>
          <a:xfrm rot="16200000">
            <a:off x="8769668" y="2786315"/>
            <a:ext cx="0" cy="189000"/>
          </a:xfrm>
          <a:prstGeom prst="straightConnector1">
            <a:avLst/>
          </a:prstGeom>
          <a:noFill/>
          <a:ln w="9525" cap="flat" cmpd="sng">
            <a:solidFill>
              <a:schemeClr val="dk2"/>
            </a:solidFill>
            <a:prstDash val="solid"/>
            <a:round/>
            <a:headEnd type="none" w="med" len="med"/>
            <a:tailEnd type="triangle" w="med" len="med"/>
          </a:ln>
        </p:spPr>
      </p:cxnSp>
      <p:cxnSp>
        <p:nvCxnSpPr>
          <p:cNvPr id="54" name="Google Shape;193;p17">
            <a:extLst>
              <a:ext uri="{FF2B5EF4-FFF2-40B4-BE49-F238E27FC236}">
                <a16:creationId xmlns:a16="http://schemas.microsoft.com/office/drawing/2014/main" id="{C55F814C-4359-F270-7985-C1A1F08C4079}"/>
              </a:ext>
            </a:extLst>
          </p:cNvPr>
          <p:cNvCxnSpPr>
            <a:cxnSpLocks/>
          </p:cNvCxnSpPr>
          <p:nvPr/>
        </p:nvCxnSpPr>
        <p:spPr>
          <a:xfrm rot="16200000">
            <a:off x="9485727" y="2786315"/>
            <a:ext cx="0" cy="189000"/>
          </a:xfrm>
          <a:prstGeom prst="straightConnector1">
            <a:avLst/>
          </a:prstGeom>
          <a:noFill/>
          <a:ln w="9525" cap="flat" cmpd="sng">
            <a:solidFill>
              <a:schemeClr val="dk2"/>
            </a:solidFill>
            <a:prstDash val="solid"/>
            <a:round/>
            <a:headEnd type="none" w="med" len="med"/>
            <a:tailEnd type="triangle" w="med" len="med"/>
          </a:ln>
        </p:spPr>
      </p:cxnSp>
      <p:cxnSp>
        <p:nvCxnSpPr>
          <p:cNvPr id="55" name="Google Shape;193;p17">
            <a:extLst>
              <a:ext uri="{FF2B5EF4-FFF2-40B4-BE49-F238E27FC236}">
                <a16:creationId xmlns:a16="http://schemas.microsoft.com/office/drawing/2014/main" id="{BD367D88-65CA-EDAD-3694-85AE22547031}"/>
              </a:ext>
            </a:extLst>
          </p:cNvPr>
          <p:cNvCxnSpPr>
            <a:cxnSpLocks/>
          </p:cNvCxnSpPr>
          <p:nvPr/>
        </p:nvCxnSpPr>
        <p:spPr>
          <a:xfrm rot="16200000">
            <a:off x="10206540" y="2786315"/>
            <a:ext cx="0" cy="189000"/>
          </a:xfrm>
          <a:prstGeom prst="straightConnector1">
            <a:avLst/>
          </a:prstGeom>
          <a:noFill/>
          <a:ln w="9525" cap="flat" cmpd="sng">
            <a:solidFill>
              <a:schemeClr val="dk2"/>
            </a:solidFill>
            <a:prstDash val="solid"/>
            <a:round/>
            <a:headEnd type="none" w="med" len="med"/>
            <a:tailEnd type="triangle" w="med" len="med"/>
          </a:ln>
        </p:spPr>
      </p:cxnSp>
      <p:cxnSp>
        <p:nvCxnSpPr>
          <p:cNvPr id="56" name="曲線接點 55">
            <a:extLst>
              <a:ext uri="{FF2B5EF4-FFF2-40B4-BE49-F238E27FC236}">
                <a16:creationId xmlns:a16="http://schemas.microsoft.com/office/drawing/2014/main" id="{3FECCC39-9BA6-0AAF-3B5F-14773F696A30}"/>
              </a:ext>
            </a:extLst>
          </p:cNvPr>
          <p:cNvCxnSpPr>
            <a:stCxn id="45" idx="0"/>
            <a:endCxn id="46" idx="0"/>
          </p:cNvCxnSpPr>
          <p:nvPr/>
        </p:nvCxnSpPr>
        <p:spPr>
          <a:xfrm rot="16200000" flipH="1">
            <a:off x="8760529" y="2345971"/>
            <a:ext cx="3000" cy="723698"/>
          </a:xfrm>
          <a:prstGeom prst="curvedConnector3">
            <a:avLst>
              <a:gd name="adj1" fmla="val -7620000"/>
            </a:avLst>
          </a:prstGeom>
          <a:ln>
            <a:solidFill>
              <a:srgbClr val="FF0000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57" name="曲線接點 56">
            <a:extLst>
              <a:ext uri="{FF2B5EF4-FFF2-40B4-BE49-F238E27FC236}">
                <a16:creationId xmlns:a16="http://schemas.microsoft.com/office/drawing/2014/main" id="{2E98C6F7-80A7-0599-652C-8103CED4D9B2}"/>
              </a:ext>
            </a:extLst>
          </p:cNvPr>
          <p:cNvCxnSpPr>
            <a:cxnSpLocks/>
            <a:stCxn id="46" idx="0"/>
            <a:endCxn id="47" idx="0"/>
          </p:cNvCxnSpPr>
          <p:nvPr/>
        </p:nvCxnSpPr>
        <p:spPr>
          <a:xfrm rot="16200000" flipH="1">
            <a:off x="9485429" y="2347769"/>
            <a:ext cx="596" cy="723698"/>
          </a:xfrm>
          <a:prstGeom prst="curvedConnector3">
            <a:avLst>
              <a:gd name="adj1" fmla="val -38355705"/>
            </a:avLst>
          </a:prstGeom>
          <a:ln>
            <a:solidFill>
              <a:srgbClr val="FF0000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58" name="曲線接點 57">
            <a:extLst>
              <a:ext uri="{FF2B5EF4-FFF2-40B4-BE49-F238E27FC236}">
                <a16:creationId xmlns:a16="http://schemas.microsoft.com/office/drawing/2014/main" id="{21043AA4-2778-0282-81DC-D65F6AC6E9BA}"/>
              </a:ext>
            </a:extLst>
          </p:cNvPr>
          <p:cNvCxnSpPr>
            <a:cxnSpLocks/>
            <a:stCxn id="47" idx="0"/>
            <a:endCxn id="48" idx="0"/>
          </p:cNvCxnSpPr>
          <p:nvPr/>
        </p:nvCxnSpPr>
        <p:spPr>
          <a:xfrm rot="5400000" flipH="1" flipV="1">
            <a:off x="10207627" y="2346269"/>
            <a:ext cx="3596" cy="723698"/>
          </a:xfrm>
          <a:prstGeom prst="curvedConnector3">
            <a:avLst>
              <a:gd name="adj1" fmla="val 6457063"/>
            </a:avLst>
          </a:prstGeom>
          <a:ln>
            <a:solidFill>
              <a:srgbClr val="FF0000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59" name="曲線接點 58">
            <a:extLst>
              <a:ext uri="{FF2B5EF4-FFF2-40B4-BE49-F238E27FC236}">
                <a16:creationId xmlns:a16="http://schemas.microsoft.com/office/drawing/2014/main" id="{2C18CE4C-0392-3598-ED35-C5C9ED9617EB}"/>
              </a:ext>
            </a:extLst>
          </p:cNvPr>
          <p:cNvCxnSpPr>
            <a:cxnSpLocks/>
            <a:stCxn id="45" idx="0"/>
            <a:endCxn id="47" idx="0"/>
          </p:cNvCxnSpPr>
          <p:nvPr/>
        </p:nvCxnSpPr>
        <p:spPr>
          <a:xfrm rot="16200000" flipH="1">
            <a:off x="9122080" y="1984420"/>
            <a:ext cx="3596" cy="1447396"/>
          </a:xfrm>
          <a:prstGeom prst="curvedConnector3">
            <a:avLst>
              <a:gd name="adj1" fmla="val -6357063"/>
            </a:avLst>
          </a:prstGeom>
          <a:ln>
            <a:solidFill>
              <a:srgbClr val="FF0000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60" name="曲線接點 59">
            <a:extLst>
              <a:ext uri="{FF2B5EF4-FFF2-40B4-BE49-F238E27FC236}">
                <a16:creationId xmlns:a16="http://schemas.microsoft.com/office/drawing/2014/main" id="{6DB09659-86F6-5970-D7D5-3CBEA609687C}"/>
              </a:ext>
            </a:extLst>
          </p:cNvPr>
          <p:cNvCxnSpPr>
            <a:cxnSpLocks/>
            <a:stCxn id="45" idx="0"/>
            <a:endCxn id="48" idx="0"/>
          </p:cNvCxnSpPr>
          <p:nvPr/>
        </p:nvCxnSpPr>
        <p:spPr>
          <a:xfrm rot="5400000" flipH="1" flipV="1">
            <a:off x="9485727" y="1620773"/>
            <a:ext cx="12700" cy="2171094"/>
          </a:xfrm>
          <a:prstGeom prst="curvedConnector3">
            <a:avLst>
              <a:gd name="adj1" fmla="val 1800000"/>
            </a:avLst>
          </a:prstGeom>
          <a:ln>
            <a:solidFill>
              <a:srgbClr val="FF0000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61" name="曲線接點 60">
            <a:extLst>
              <a:ext uri="{FF2B5EF4-FFF2-40B4-BE49-F238E27FC236}">
                <a16:creationId xmlns:a16="http://schemas.microsoft.com/office/drawing/2014/main" id="{9B738E07-EF0F-302D-47FF-FB744EB00FE2}"/>
              </a:ext>
            </a:extLst>
          </p:cNvPr>
          <p:cNvCxnSpPr>
            <a:cxnSpLocks/>
            <a:stCxn id="46" idx="0"/>
            <a:endCxn id="48" idx="0"/>
          </p:cNvCxnSpPr>
          <p:nvPr/>
        </p:nvCxnSpPr>
        <p:spPr>
          <a:xfrm rot="5400000" flipH="1" flipV="1">
            <a:off x="9846076" y="1984122"/>
            <a:ext cx="3000" cy="1447396"/>
          </a:xfrm>
          <a:prstGeom prst="curvedConnector3">
            <a:avLst>
              <a:gd name="adj1" fmla="val 7720000"/>
            </a:avLst>
          </a:prstGeom>
          <a:ln>
            <a:solidFill>
              <a:srgbClr val="FF0000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</p:spTree>
    <p:extLst>
      <p:ext uri="{BB962C8B-B14F-4D97-AF65-F5344CB8AC3E}">
        <p14:creationId xmlns:p14="http://schemas.microsoft.com/office/powerpoint/2010/main" val="2256584413"/>
      </p:ext>
    </p:extLst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標題 1">
            <a:extLst>
              <a:ext uri="{FF2B5EF4-FFF2-40B4-BE49-F238E27FC236}">
                <a16:creationId xmlns:a16="http://schemas.microsoft.com/office/drawing/2014/main" id="{4C5B9393-1699-985A-E66F-F2B388438165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kumimoji="1" lang="en-US" altLang="zh-TW" dirty="0"/>
              <a:t>Outline</a:t>
            </a:r>
            <a:endParaRPr kumimoji="1" lang="zh-TW" altLang="en-US" dirty="0"/>
          </a:p>
        </p:txBody>
      </p:sp>
      <p:sp>
        <p:nvSpPr>
          <p:cNvPr id="4" name="投影片編號版面配置區 3">
            <a:extLst>
              <a:ext uri="{FF2B5EF4-FFF2-40B4-BE49-F238E27FC236}">
                <a16:creationId xmlns:a16="http://schemas.microsoft.com/office/drawing/2014/main" id="{38A6DC57-0B7A-1B21-F9F0-721D122BD9DD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6113E31D-E2AB-40D1-8B51-AFA5AFEF393A}" type="slidenum">
              <a:rPr lang="en-US" smtClean="0"/>
              <a:pPr/>
              <a:t>3</a:t>
            </a:fld>
            <a:endParaRPr lang="en-US" dirty="0"/>
          </a:p>
        </p:txBody>
      </p:sp>
      <p:sp>
        <p:nvSpPr>
          <p:cNvPr id="5" name="文字方塊 4">
            <a:extLst>
              <a:ext uri="{FF2B5EF4-FFF2-40B4-BE49-F238E27FC236}">
                <a16:creationId xmlns:a16="http://schemas.microsoft.com/office/drawing/2014/main" id="{FFAFA69A-F103-08DD-98C8-542BFACBF3C4}"/>
              </a:ext>
            </a:extLst>
          </p:cNvPr>
          <p:cNvSpPr txBox="1"/>
          <p:nvPr/>
        </p:nvSpPr>
        <p:spPr>
          <a:xfrm>
            <a:off x="653143" y="1586847"/>
            <a:ext cx="10918370" cy="334784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marL="342900" indent="-342900">
              <a:lnSpc>
                <a:spcPct val="150000"/>
              </a:lnSpc>
              <a:buFont typeface="Arial" panose="020B0604020202020204" pitchFamily="34" charset="0"/>
              <a:buChar char="•"/>
            </a:pPr>
            <a:r>
              <a:rPr kumimoji="1" lang="en-US" altLang="zh-TW" sz="2400" dirty="0"/>
              <a:t>Announcement, GAI money [10 min]</a:t>
            </a:r>
          </a:p>
          <a:p>
            <a:pPr marL="342900" indent="-342900">
              <a:lnSpc>
                <a:spcPct val="150000"/>
              </a:lnSpc>
              <a:buFont typeface="Arial" panose="020B0604020202020204" pitchFamily="34" charset="0"/>
              <a:buChar char="•"/>
            </a:pPr>
            <a:r>
              <a:rPr kumimoji="1" lang="en-US" altLang="zh-TW" sz="2400" dirty="0"/>
              <a:t>Sub-word tokenization</a:t>
            </a:r>
          </a:p>
          <a:p>
            <a:pPr marL="800100" lvl="1" indent="-342900">
              <a:lnSpc>
                <a:spcPct val="150000"/>
              </a:lnSpc>
              <a:buFont typeface="Arial" panose="020B0604020202020204" pitchFamily="34" charset="0"/>
              <a:buChar char="•"/>
            </a:pPr>
            <a:r>
              <a:rPr kumimoji="1" lang="en-US" altLang="zh-TW" sz="2400" dirty="0"/>
              <a:t>Byte-pair Encoding (BPE) [30 min]</a:t>
            </a:r>
          </a:p>
          <a:p>
            <a:pPr marL="800100" lvl="1" indent="-342900">
              <a:lnSpc>
                <a:spcPct val="150000"/>
              </a:lnSpc>
              <a:buFont typeface="Arial" panose="020B0604020202020204" pitchFamily="34" charset="0"/>
              <a:buChar char="•"/>
            </a:pPr>
            <a:r>
              <a:rPr kumimoji="1" lang="en-US" altLang="zh-TW" sz="2400" dirty="0"/>
              <a:t>BPE Code [50 min]</a:t>
            </a:r>
          </a:p>
          <a:p>
            <a:pPr marL="342900" indent="-342900">
              <a:lnSpc>
                <a:spcPct val="150000"/>
              </a:lnSpc>
              <a:buFont typeface="Arial" panose="020B0604020202020204" pitchFamily="34" charset="0"/>
              <a:buChar char="•"/>
            </a:pPr>
            <a:r>
              <a:rPr kumimoji="1" lang="en-US" altLang="zh-TW" sz="2400" dirty="0"/>
              <a:t>Attention (Not self-attention) [30 min]</a:t>
            </a:r>
          </a:p>
          <a:p>
            <a:pPr marL="342900" indent="-342900">
              <a:lnSpc>
                <a:spcPct val="150000"/>
              </a:lnSpc>
              <a:buFont typeface="Arial" panose="020B0604020202020204" pitchFamily="34" charset="0"/>
              <a:buChar char="•"/>
            </a:pPr>
            <a:r>
              <a:rPr kumimoji="1" lang="en-US" altLang="zh-TW" sz="2400" dirty="0"/>
              <a:t>Quiz [20 min]</a:t>
            </a:r>
          </a:p>
        </p:txBody>
      </p:sp>
    </p:spTree>
    <p:extLst>
      <p:ext uri="{BB962C8B-B14F-4D97-AF65-F5344CB8AC3E}">
        <p14:creationId xmlns:p14="http://schemas.microsoft.com/office/powerpoint/2010/main" val="2647002595"/>
      </p:ext>
    </p:extLst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" name="標題 6">
            <a:extLst>
              <a:ext uri="{FF2B5EF4-FFF2-40B4-BE49-F238E27FC236}">
                <a16:creationId xmlns:a16="http://schemas.microsoft.com/office/drawing/2014/main" id="{748D6B33-81BB-3434-DF16-FBA7921D38F6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altLang="zh-TW" dirty="0"/>
              <a:t>Sub-word Tokenization</a:t>
            </a:r>
          </a:p>
        </p:txBody>
      </p:sp>
      <p:sp>
        <p:nvSpPr>
          <p:cNvPr id="8" name="文字版面配置區 7">
            <a:extLst>
              <a:ext uri="{FF2B5EF4-FFF2-40B4-BE49-F238E27FC236}">
                <a16:creationId xmlns:a16="http://schemas.microsoft.com/office/drawing/2014/main" id="{18B721E6-84E1-23EC-7EFA-7E9DBEA5A7EA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zh-TW" altLang="en-US"/>
          </a:p>
        </p:txBody>
      </p:sp>
      <p:sp>
        <p:nvSpPr>
          <p:cNvPr id="4" name="投影片編號版面配置區 3">
            <a:extLst>
              <a:ext uri="{FF2B5EF4-FFF2-40B4-BE49-F238E27FC236}">
                <a16:creationId xmlns:a16="http://schemas.microsoft.com/office/drawing/2014/main" id="{94EBB1DA-54A1-9DDE-D4C0-9CE40FB01A48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6113E31D-E2AB-40D1-8B51-AFA5AFEF393A}" type="slidenum">
              <a:rPr lang="en-US" smtClean="0"/>
              <a:pPr/>
              <a:t>4</a:t>
            </a:fld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1160600873"/>
      </p:ext>
    </p:extLst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B13ECFD3-9F9E-D486-2DC7-84073400ADC4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標題 1">
            <a:extLst>
              <a:ext uri="{FF2B5EF4-FFF2-40B4-BE49-F238E27FC236}">
                <a16:creationId xmlns:a16="http://schemas.microsoft.com/office/drawing/2014/main" id="{60C0D99D-1E40-8E98-9837-A229A457C33B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>
            <a:normAutofit/>
          </a:bodyPr>
          <a:lstStyle/>
          <a:p>
            <a:r>
              <a:rPr lang="en-US" altLang="zh-TW" dirty="0">
                <a:ea typeface="新細明體"/>
                <a:cs typeface="Calibri Light"/>
              </a:rPr>
              <a:t>Recap: Word Representations</a:t>
            </a:r>
            <a:endParaRPr lang="zh-TW" altLang="en-US" dirty="0">
              <a:ea typeface="新細明體"/>
              <a:cs typeface="Calibri Light"/>
            </a:endParaRPr>
          </a:p>
        </p:txBody>
      </p:sp>
      <p:sp>
        <p:nvSpPr>
          <p:cNvPr id="5" name="投影片編號版面配置區 4">
            <a:extLst>
              <a:ext uri="{FF2B5EF4-FFF2-40B4-BE49-F238E27FC236}">
                <a16:creationId xmlns:a16="http://schemas.microsoft.com/office/drawing/2014/main" id="{A44121A3-4B88-E98F-8D6C-0396D7754A66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6113E31D-E2AB-40D1-8B51-AFA5AFEF393A}" type="slidenum">
              <a:rPr lang="en-US" dirty="0"/>
              <a:t>5</a:t>
            </a:fld>
            <a:endParaRPr lang="zh-TW" altLang="en-US"/>
          </a:p>
        </p:txBody>
      </p:sp>
      <p:sp>
        <p:nvSpPr>
          <p:cNvPr id="14" name="圓角矩形 13">
            <a:extLst>
              <a:ext uri="{FF2B5EF4-FFF2-40B4-BE49-F238E27FC236}">
                <a16:creationId xmlns:a16="http://schemas.microsoft.com/office/drawing/2014/main" id="{C8F4C0A3-FA3F-2E2B-F8BE-653E57712662}"/>
              </a:ext>
            </a:extLst>
          </p:cNvPr>
          <p:cNvSpPr/>
          <p:nvPr/>
        </p:nvSpPr>
        <p:spPr>
          <a:xfrm>
            <a:off x="2058296" y="3396969"/>
            <a:ext cx="705971" cy="571500"/>
          </a:xfrm>
          <a:prstGeom prst="roundRect">
            <a:avLst/>
          </a:prstGeom>
          <a:noFill/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kumimoji="1" lang="en-US" altLang="zh-TW" sz="2000" dirty="0">
                <a:solidFill>
                  <a:schemeClr val="tx1"/>
                </a:solidFill>
              </a:rPr>
              <a:t>love</a:t>
            </a:r>
            <a:endParaRPr kumimoji="1" lang="zh-TW" altLang="en-US" sz="2000" dirty="0">
              <a:solidFill>
                <a:schemeClr val="tx1"/>
              </a:solidFill>
            </a:endParaRPr>
          </a:p>
        </p:txBody>
      </p:sp>
      <p:sp>
        <p:nvSpPr>
          <p:cNvPr id="15" name="圓角矩形 14">
            <a:extLst>
              <a:ext uri="{FF2B5EF4-FFF2-40B4-BE49-F238E27FC236}">
                <a16:creationId xmlns:a16="http://schemas.microsoft.com/office/drawing/2014/main" id="{74BF1484-9D99-02A5-AAAF-EE9BBEFB506F}"/>
              </a:ext>
            </a:extLst>
          </p:cNvPr>
          <p:cNvSpPr/>
          <p:nvPr/>
        </p:nvSpPr>
        <p:spPr>
          <a:xfrm>
            <a:off x="1174376" y="3396969"/>
            <a:ext cx="705971" cy="571500"/>
          </a:xfrm>
          <a:prstGeom prst="roundRect">
            <a:avLst/>
          </a:prstGeom>
          <a:noFill/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kumimoji="1" lang="en-US" altLang="zh-TW" sz="2000" dirty="0">
                <a:solidFill>
                  <a:schemeClr val="tx1"/>
                </a:solidFill>
              </a:rPr>
              <a:t>I</a:t>
            </a:r>
            <a:endParaRPr kumimoji="1" lang="zh-TW" altLang="en-US" sz="2000" dirty="0">
              <a:solidFill>
                <a:schemeClr val="tx1"/>
              </a:solidFill>
            </a:endParaRPr>
          </a:p>
        </p:txBody>
      </p:sp>
      <p:sp>
        <p:nvSpPr>
          <p:cNvPr id="16" name="圓角矩形 15">
            <a:extLst>
              <a:ext uri="{FF2B5EF4-FFF2-40B4-BE49-F238E27FC236}">
                <a16:creationId xmlns:a16="http://schemas.microsoft.com/office/drawing/2014/main" id="{22B29D0B-5991-2E5E-3F83-667A16EA833A}"/>
              </a:ext>
            </a:extLst>
          </p:cNvPr>
          <p:cNvSpPr/>
          <p:nvPr/>
        </p:nvSpPr>
        <p:spPr>
          <a:xfrm>
            <a:off x="2942216" y="3396969"/>
            <a:ext cx="705971" cy="571500"/>
          </a:xfrm>
          <a:prstGeom prst="roundRect">
            <a:avLst/>
          </a:prstGeom>
          <a:noFill/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kumimoji="1" lang="en-US" altLang="zh-TW" sz="2000" dirty="0">
                <a:solidFill>
                  <a:schemeClr val="tx1"/>
                </a:solidFill>
              </a:rPr>
              <a:t>an</a:t>
            </a:r>
            <a:endParaRPr kumimoji="1" lang="zh-TW" altLang="en-US" sz="2000" dirty="0">
              <a:solidFill>
                <a:schemeClr val="tx1"/>
              </a:solidFill>
            </a:endParaRPr>
          </a:p>
        </p:txBody>
      </p:sp>
      <p:sp>
        <p:nvSpPr>
          <p:cNvPr id="17" name="圓角矩形 16">
            <a:extLst>
              <a:ext uri="{FF2B5EF4-FFF2-40B4-BE49-F238E27FC236}">
                <a16:creationId xmlns:a16="http://schemas.microsoft.com/office/drawing/2014/main" id="{CCB73278-99F8-2C9A-99C2-D510FFE5DA2E}"/>
              </a:ext>
            </a:extLst>
          </p:cNvPr>
          <p:cNvSpPr/>
          <p:nvPr/>
        </p:nvSpPr>
        <p:spPr>
          <a:xfrm>
            <a:off x="3826136" y="3396969"/>
            <a:ext cx="705971" cy="571500"/>
          </a:xfrm>
          <a:prstGeom prst="roundRect">
            <a:avLst/>
          </a:prstGeom>
          <a:noFill/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kumimoji="1" lang="en-US" altLang="zh-TW" sz="2000" dirty="0">
                <a:solidFill>
                  <a:schemeClr val="tx1"/>
                </a:solidFill>
              </a:rPr>
              <a:t>_</a:t>
            </a:r>
            <a:endParaRPr kumimoji="1" lang="zh-TW" altLang="en-US" sz="2000" dirty="0">
              <a:solidFill>
                <a:schemeClr val="tx1"/>
              </a:solidFill>
            </a:endParaRPr>
          </a:p>
        </p:txBody>
      </p:sp>
      <p:sp>
        <p:nvSpPr>
          <p:cNvPr id="18" name="橢圓圖說文字 17">
            <a:extLst>
              <a:ext uri="{FF2B5EF4-FFF2-40B4-BE49-F238E27FC236}">
                <a16:creationId xmlns:a16="http://schemas.microsoft.com/office/drawing/2014/main" id="{53A751E3-DCB9-5618-C3F8-AADE8D8DB4EC}"/>
              </a:ext>
            </a:extLst>
          </p:cNvPr>
          <p:cNvSpPr/>
          <p:nvPr/>
        </p:nvSpPr>
        <p:spPr>
          <a:xfrm>
            <a:off x="5256007" y="2058992"/>
            <a:ext cx="5836920" cy="3327734"/>
          </a:xfrm>
          <a:prstGeom prst="wedgeEllipseCallout">
            <a:avLst>
              <a:gd name="adj1" fmla="val -57219"/>
              <a:gd name="adj2" fmla="val 54"/>
            </a:avLst>
          </a:prstGeom>
          <a:noFill/>
          <a:ln>
            <a:solidFill>
              <a:schemeClr val="tx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kumimoji="1" lang="zh-TW" altLang="en-US"/>
          </a:p>
        </p:txBody>
      </p:sp>
      <p:sp>
        <p:nvSpPr>
          <p:cNvPr id="19" name="矩形 18">
            <a:extLst>
              <a:ext uri="{FF2B5EF4-FFF2-40B4-BE49-F238E27FC236}">
                <a16:creationId xmlns:a16="http://schemas.microsoft.com/office/drawing/2014/main" id="{7B9527BC-4A66-3AF5-F327-DCD79ABEBEF6}"/>
              </a:ext>
            </a:extLst>
          </p:cNvPr>
          <p:cNvSpPr/>
          <p:nvPr/>
        </p:nvSpPr>
        <p:spPr>
          <a:xfrm>
            <a:off x="7661983" y="3049201"/>
            <a:ext cx="1325880" cy="180000"/>
          </a:xfrm>
          <a:prstGeom prst="rect">
            <a:avLst/>
          </a:prstGeom>
          <a:solidFill>
            <a:schemeClr val="bg2">
              <a:lumMod val="75000"/>
            </a:schemeClr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kumimoji="1" lang="zh-TW" altLang="en-US"/>
          </a:p>
        </p:txBody>
      </p:sp>
      <p:sp>
        <p:nvSpPr>
          <p:cNvPr id="20" name="文字方塊 19">
            <a:extLst>
              <a:ext uri="{FF2B5EF4-FFF2-40B4-BE49-F238E27FC236}">
                <a16:creationId xmlns:a16="http://schemas.microsoft.com/office/drawing/2014/main" id="{75434917-7EA5-46BD-83D5-A00186505B3B}"/>
              </a:ext>
            </a:extLst>
          </p:cNvPr>
          <p:cNvSpPr txBox="1"/>
          <p:nvPr/>
        </p:nvSpPr>
        <p:spPr>
          <a:xfrm>
            <a:off x="6436651" y="2955103"/>
            <a:ext cx="1085850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kumimoji="1" lang="en-US" altLang="zh-TW" dirty="0"/>
              <a:t>apple</a:t>
            </a:r>
            <a:endParaRPr kumimoji="1" lang="zh-TW" altLang="en-US" dirty="0"/>
          </a:p>
        </p:txBody>
      </p:sp>
      <p:sp>
        <p:nvSpPr>
          <p:cNvPr id="21" name="文字方塊 20">
            <a:extLst>
              <a:ext uri="{FF2B5EF4-FFF2-40B4-BE49-F238E27FC236}">
                <a16:creationId xmlns:a16="http://schemas.microsoft.com/office/drawing/2014/main" id="{BDE8D013-4E7F-A09F-3337-C066DCBEBD55}"/>
              </a:ext>
            </a:extLst>
          </p:cNvPr>
          <p:cNvSpPr txBox="1"/>
          <p:nvPr/>
        </p:nvSpPr>
        <p:spPr>
          <a:xfrm>
            <a:off x="6436651" y="3371013"/>
            <a:ext cx="1085850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kumimoji="1" lang="en-US" altLang="zh-TW" dirty="0"/>
              <a:t>elephant</a:t>
            </a:r>
            <a:endParaRPr kumimoji="1" lang="zh-TW" altLang="en-US" dirty="0"/>
          </a:p>
        </p:txBody>
      </p:sp>
      <p:sp>
        <p:nvSpPr>
          <p:cNvPr id="22" name="文字方塊 21">
            <a:extLst>
              <a:ext uri="{FF2B5EF4-FFF2-40B4-BE49-F238E27FC236}">
                <a16:creationId xmlns:a16="http://schemas.microsoft.com/office/drawing/2014/main" id="{030F7BD3-16F8-9831-CD2C-C40000072F84}"/>
              </a:ext>
            </a:extLst>
          </p:cNvPr>
          <p:cNvSpPr txBox="1"/>
          <p:nvPr/>
        </p:nvSpPr>
        <p:spPr>
          <a:xfrm>
            <a:off x="6436651" y="3783803"/>
            <a:ext cx="1085850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kumimoji="1" lang="en-US" altLang="zh-TW" dirty="0"/>
              <a:t>eraser</a:t>
            </a:r>
            <a:endParaRPr kumimoji="1" lang="zh-TW" altLang="en-US" dirty="0"/>
          </a:p>
        </p:txBody>
      </p:sp>
      <p:sp>
        <p:nvSpPr>
          <p:cNvPr id="23" name="矩形 22">
            <a:extLst>
              <a:ext uri="{FF2B5EF4-FFF2-40B4-BE49-F238E27FC236}">
                <a16:creationId xmlns:a16="http://schemas.microsoft.com/office/drawing/2014/main" id="{4418B462-E5B0-F5D3-73F2-4E8ACA26D052}"/>
              </a:ext>
            </a:extLst>
          </p:cNvPr>
          <p:cNvSpPr/>
          <p:nvPr/>
        </p:nvSpPr>
        <p:spPr>
          <a:xfrm>
            <a:off x="7661983" y="3479737"/>
            <a:ext cx="643890" cy="180000"/>
          </a:xfrm>
          <a:prstGeom prst="rect">
            <a:avLst/>
          </a:prstGeom>
          <a:solidFill>
            <a:schemeClr val="bg2">
              <a:lumMod val="75000"/>
            </a:schemeClr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kumimoji="1" lang="zh-TW" altLang="en-US"/>
          </a:p>
        </p:txBody>
      </p:sp>
      <p:sp>
        <p:nvSpPr>
          <p:cNvPr id="24" name="矩形 23">
            <a:extLst>
              <a:ext uri="{FF2B5EF4-FFF2-40B4-BE49-F238E27FC236}">
                <a16:creationId xmlns:a16="http://schemas.microsoft.com/office/drawing/2014/main" id="{5D2FB286-18FE-A964-9D66-90D51F714500}"/>
              </a:ext>
            </a:extLst>
          </p:cNvPr>
          <p:cNvSpPr/>
          <p:nvPr/>
        </p:nvSpPr>
        <p:spPr>
          <a:xfrm>
            <a:off x="7661983" y="3894775"/>
            <a:ext cx="194310" cy="182880"/>
          </a:xfrm>
          <a:prstGeom prst="rect">
            <a:avLst/>
          </a:prstGeom>
          <a:solidFill>
            <a:schemeClr val="bg2">
              <a:lumMod val="75000"/>
            </a:schemeClr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kumimoji="1" lang="zh-TW" altLang="en-US"/>
          </a:p>
        </p:txBody>
      </p:sp>
      <p:sp>
        <p:nvSpPr>
          <p:cNvPr id="25" name="文字方塊 24">
            <a:extLst>
              <a:ext uri="{FF2B5EF4-FFF2-40B4-BE49-F238E27FC236}">
                <a16:creationId xmlns:a16="http://schemas.microsoft.com/office/drawing/2014/main" id="{CB4DC5FB-D4AB-1218-7DD4-C6507A4F7FDB}"/>
              </a:ext>
            </a:extLst>
          </p:cNvPr>
          <p:cNvSpPr txBox="1"/>
          <p:nvPr/>
        </p:nvSpPr>
        <p:spPr>
          <a:xfrm rot="5400000">
            <a:off x="6615144" y="4268346"/>
            <a:ext cx="483515" cy="40011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kumimoji="1" lang="en-US" altLang="zh-TW" sz="2000" b="1" dirty="0"/>
              <a:t>…</a:t>
            </a:r>
            <a:endParaRPr kumimoji="1" lang="zh-TW" altLang="en-US" sz="2000" b="1" dirty="0"/>
          </a:p>
        </p:txBody>
      </p:sp>
      <p:sp>
        <p:nvSpPr>
          <p:cNvPr id="27" name="矩形 26">
            <a:extLst>
              <a:ext uri="{FF2B5EF4-FFF2-40B4-BE49-F238E27FC236}">
                <a16:creationId xmlns:a16="http://schemas.microsoft.com/office/drawing/2014/main" id="{E37652EC-C4D0-FC0F-2258-150383B0D1C7}"/>
              </a:ext>
            </a:extLst>
          </p:cNvPr>
          <p:cNvSpPr/>
          <p:nvPr/>
        </p:nvSpPr>
        <p:spPr>
          <a:xfrm>
            <a:off x="6265201" y="2827073"/>
            <a:ext cx="1257300" cy="1883086"/>
          </a:xfrm>
          <a:prstGeom prst="rect">
            <a:avLst/>
          </a:prstGeom>
          <a:noFill/>
          <a:ln w="28575">
            <a:solidFill>
              <a:srgbClr val="FF0000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kumimoji="1" lang="zh-TW" altLang="en-US"/>
          </a:p>
        </p:txBody>
      </p:sp>
      <p:sp>
        <p:nvSpPr>
          <p:cNvPr id="28" name="文字方塊 27">
            <a:extLst>
              <a:ext uri="{FF2B5EF4-FFF2-40B4-BE49-F238E27FC236}">
                <a16:creationId xmlns:a16="http://schemas.microsoft.com/office/drawing/2014/main" id="{43B2971C-832A-A13C-7365-51AEFB8B4ED4}"/>
              </a:ext>
            </a:extLst>
          </p:cNvPr>
          <p:cNvSpPr txBox="1"/>
          <p:nvPr/>
        </p:nvSpPr>
        <p:spPr>
          <a:xfrm>
            <a:off x="5917720" y="5541856"/>
            <a:ext cx="1878361" cy="46166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kumimoji="1" lang="en-US" altLang="zh-TW" sz="2400" b="1" dirty="0">
                <a:solidFill>
                  <a:srgbClr val="FF0000"/>
                </a:solidFill>
              </a:rPr>
              <a:t>Vocabulary</a:t>
            </a:r>
            <a:endParaRPr kumimoji="1" lang="zh-TW" altLang="en-US" sz="2400" b="1" dirty="0">
              <a:solidFill>
                <a:srgbClr val="FF0000"/>
              </a:solidFill>
            </a:endParaRPr>
          </a:p>
        </p:txBody>
      </p:sp>
      <p:cxnSp>
        <p:nvCxnSpPr>
          <p:cNvPr id="30" name="直線箭頭接點 29">
            <a:extLst>
              <a:ext uri="{FF2B5EF4-FFF2-40B4-BE49-F238E27FC236}">
                <a16:creationId xmlns:a16="http://schemas.microsoft.com/office/drawing/2014/main" id="{B791F758-F246-F3C3-2267-447BC3BF3FE3}"/>
              </a:ext>
            </a:extLst>
          </p:cNvPr>
          <p:cNvCxnSpPr>
            <a:cxnSpLocks/>
          </p:cNvCxnSpPr>
          <p:nvPr/>
        </p:nvCxnSpPr>
        <p:spPr>
          <a:xfrm flipV="1">
            <a:off x="6893851" y="4817610"/>
            <a:ext cx="0" cy="724246"/>
          </a:xfrm>
          <a:prstGeom prst="straightConnector1">
            <a:avLst/>
          </a:prstGeom>
          <a:ln w="28575">
            <a:solidFill>
              <a:srgbClr val="FF0000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32" name="文字方塊 31">
            <a:extLst>
              <a:ext uri="{FF2B5EF4-FFF2-40B4-BE49-F238E27FC236}">
                <a16:creationId xmlns:a16="http://schemas.microsoft.com/office/drawing/2014/main" id="{77983EFC-1B2B-AF56-974E-42537526922F}"/>
              </a:ext>
            </a:extLst>
          </p:cNvPr>
          <p:cNvSpPr txBox="1"/>
          <p:nvPr/>
        </p:nvSpPr>
        <p:spPr>
          <a:xfrm>
            <a:off x="7385742" y="2342119"/>
            <a:ext cx="1878361" cy="46166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kumimoji="1" lang="en-US" altLang="zh-TW" sz="2400" b="1" dirty="0">
                <a:solidFill>
                  <a:srgbClr val="0070C0"/>
                </a:solidFill>
              </a:rPr>
              <a:t>Probability</a:t>
            </a:r>
            <a:endParaRPr kumimoji="1" lang="zh-TW" altLang="en-US" sz="2400" b="1" dirty="0">
              <a:solidFill>
                <a:srgbClr val="0070C0"/>
              </a:solidFill>
            </a:endParaRPr>
          </a:p>
        </p:txBody>
      </p:sp>
    </p:spTree>
    <p:extLst>
      <p:ext uri="{BB962C8B-B14F-4D97-AF65-F5344CB8AC3E}">
        <p14:creationId xmlns:p14="http://schemas.microsoft.com/office/powerpoint/2010/main" val="2040206032"/>
      </p:ext>
    </p:extLst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B13ECFD3-9F9E-D486-2DC7-84073400ADC4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標題 1">
            <a:extLst>
              <a:ext uri="{FF2B5EF4-FFF2-40B4-BE49-F238E27FC236}">
                <a16:creationId xmlns:a16="http://schemas.microsoft.com/office/drawing/2014/main" id="{60C0D99D-1E40-8E98-9837-A229A457C33B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>
            <a:normAutofit/>
          </a:bodyPr>
          <a:lstStyle/>
          <a:p>
            <a:r>
              <a:rPr lang="en-US" altLang="zh-TW" dirty="0">
                <a:ea typeface="新細明體"/>
                <a:cs typeface="Calibri Light"/>
              </a:rPr>
              <a:t>Recap: Text Generation with RNN</a:t>
            </a:r>
            <a:endParaRPr lang="zh-TW" altLang="en-US" dirty="0">
              <a:ea typeface="新細明體"/>
              <a:cs typeface="Calibri Light"/>
            </a:endParaRPr>
          </a:p>
        </p:txBody>
      </p:sp>
      <p:sp>
        <p:nvSpPr>
          <p:cNvPr id="5" name="投影片編號版面配置區 4">
            <a:extLst>
              <a:ext uri="{FF2B5EF4-FFF2-40B4-BE49-F238E27FC236}">
                <a16:creationId xmlns:a16="http://schemas.microsoft.com/office/drawing/2014/main" id="{A44121A3-4B88-E98F-8D6C-0396D7754A66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6113E31D-E2AB-40D1-8B51-AFA5AFEF393A}" type="slidenum">
              <a:rPr lang="en-US" dirty="0"/>
              <a:t>6</a:t>
            </a:fld>
            <a:endParaRPr lang="zh-TW" altLang="en-US"/>
          </a:p>
        </p:txBody>
      </p:sp>
      <p:sp>
        <p:nvSpPr>
          <p:cNvPr id="14" name="圓角矩形 13">
            <a:extLst>
              <a:ext uri="{FF2B5EF4-FFF2-40B4-BE49-F238E27FC236}">
                <a16:creationId xmlns:a16="http://schemas.microsoft.com/office/drawing/2014/main" id="{C8F4C0A3-FA3F-2E2B-F8BE-653E57712662}"/>
              </a:ext>
            </a:extLst>
          </p:cNvPr>
          <p:cNvSpPr/>
          <p:nvPr/>
        </p:nvSpPr>
        <p:spPr>
          <a:xfrm>
            <a:off x="2450284" y="5222793"/>
            <a:ext cx="673768" cy="571500"/>
          </a:xfrm>
          <a:prstGeom prst="roundRect">
            <a:avLst/>
          </a:prstGeom>
          <a:noFill/>
          <a:ln w="38100">
            <a:solidFill>
              <a:schemeClr val="accent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kumimoji="1" lang="en-US" altLang="zh-TW" dirty="0">
                <a:solidFill>
                  <a:schemeClr val="tx1"/>
                </a:solidFill>
              </a:rPr>
              <a:t>love</a:t>
            </a:r>
            <a:endParaRPr kumimoji="1" lang="zh-TW" altLang="en-US" dirty="0">
              <a:solidFill>
                <a:schemeClr val="tx1"/>
              </a:solidFill>
            </a:endParaRPr>
          </a:p>
        </p:txBody>
      </p:sp>
      <p:sp>
        <p:nvSpPr>
          <p:cNvPr id="15" name="圓角矩形 14">
            <a:extLst>
              <a:ext uri="{FF2B5EF4-FFF2-40B4-BE49-F238E27FC236}">
                <a16:creationId xmlns:a16="http://schemas.microsoft.com/office/drawing/2014/main" id="{74BF1484-9D99-02A5-AAAF-EE9BBEFB506F}"/>
              </a:ext>
            </a:extLst>
          </p:cNvPr>
          <p:cNvSpPr/>
          <p:nvPr/>
        </p:nvSpPr>
        <p:spPr>
          <a:xfrm>
            <a:off x="1079810" y="5222792"/>
            <a:ext cx="673768" cy="571500"/>
          </a:xfrm>
          <a:prstGeom prst="roundRect">
            <a:avLst/>
          </a:prstGeom>
          <a:noFill/>
          <a:ln w="38100">
            <a:solidFill>
              <a:schemeClr val="accent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kumimoji="1" lang="en-US" altLang="zh-TW" dirty="0">
                <a:solidFill>
                  <a:schemeClr val="tx1"/>
                </a:solidFill>
              </a:rPr>
              <a:t>I</a:t>
            </a:r>
            <a:endParaRPr kumimoji="1" lang="zh-TW" altLang="en-US" dirty="0">
              <a:solidFill>
                <a:schemeClr val="tx1"/>
              </a:solidFill>
            </a:endParaRPr>
          </a:p>
        </p:txBody>
      </p:sp>
      <p:sp>
        <p:nvSpPr>
          <p:cNvPr id="16" name="圓角矩形 15">
            <a:extLst>
              <a:ext uri="{FF2B5EF4-FFF2-40B4-BE49-F238E27FC236}">
                <a16:creationId xmlns:a16="http://schemas.microsoft.com/office/drawing/2014/main" id="{22B29D0B-5991-2E5E-3F83-667A16EA833A}"/>
              </a:ext>
            </a:extLst>
          </p:cNvPr>
          <p:cNvSpPr/>
          <p:nvPr/>
        </p:nvSpPr>
        <p:spPr>
          <a:xfrm>
            <a:off x="3802954" y="5222792"/>
            <a:ext cx="673768" cy="571500"/>
          </a:xfrm>
          <a:prstGeom prst="roundRect">
            <a:avLst/>
          </a:prstGeom>
          <a:noFill/>
          <a:ln w="38100">
            <a:solidFill>
              <a:schemeClr val="accent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kumimoji="1" lang="en-US" altLang="zh-TW" dirty="0">
                <a:solidFill>
                  <a:schemeClr val="tx1"/>
                </a:solidFill>
              </a:rPr>
              <a:t>an</a:t>
            </a:r>
            <a:endParaRPr kumimoji="1" lang="zh-TW" altLang="en-US" dirty="0">
              <a:solidFill>
                <a:schemeClr val="tx1"/>
              </a:solidFill>
            </a:endParaRPr>
          </a:p>
        </p:txBody>
      </p:sp>
      <p:cxnSp>
        <p:nvCxnSpPr>
          <p:cNvPr id="3" name="直線箭頭接點 2">
            <a:extLst>
              <a:ext uri="{FF2B5EF4-FFF2-40B4-BE49-F238E27FC236}">
                <a16:creationId xmlns:a16="http://schemas.microsoft.com/office/drawing/2014/main" id="{B6F1BF5D-E0DF-596A-0806-DB62092410DE}"/>
              </a:ext>
            </a:extLst>
          </p:cNvPr>
          <p:cNvCxnSpPr>
            <a:cxnSpLocks/>
          </p:cNvCxnSpPr>
          <p:nvPr/>
        </p:nvCxnSpPr>
        <p:spPr>
          <a:xfrm flipV="1">
            <a:off x="1416694" y="4635584"/>
            <a:ext cx="0" cy="509716"/>
          </a:xfrm>
          <a:prstGeom prst="straightConnector1">
            <a:avLst/>
          </a:prstGeom>
          <a:ln w="28575">
            <a:solidFill>
              <a:schemeClr val="tx1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6" name="矩形 5">
            <a:extLst>
              <a:ext uri="{FF2B5EF4-FFF2-40B4-BE49-F238E27FC236}">
                <a16:creationId xmlns:a16="http://schemas.microsoft.com/office/drawing/2014/main" id="{A74271B2-06A7-502A-FC23-4C6E28205970}"/>
              </a:ext>
            </a:extLst>
          </p:cNvPr>
          <p:cNvSpPr/>
          <p:nvPr/>
        </p:nvSpPr>
        <p:spPr>
          <a:xfrm>
            <a:off x="995391" y="3813918"/>
            <a:ext cx="842606" cy="728419"/>
          </a:xfrm>
          <a:prstGeom prst="rect">
            <a:avLst/>
          </a:prstGeom>
          <a:noFill/>
          <a:ln>
            <a:solidFill>
              <a:schemeClr val="tx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kumimoji="1" lang="en-US" altLang="zh-TW" sz="2000" b="1" dirty="0">
                <a:solidFill>
                  <a:schemeClr val="tx1"/>
                </a:solidFill>
              </a:rPr>
              <a:t>RNN</a:t>
            </a:r>
            <a:endParaRPr kumimoji="1" lang="zh-TW" altLang="en-US" sz="2000" b="1" dirty="0">
              <a:solidFill>
                <a:schemeClr val="tx1"/>
              </a:solidFill>
            </a:endParaRPr>
          </a:p>
        </p:txBody>
      </p:sp>
      <p:sp>
        <p:nvSpPr>
          <p:cNvPr id="7" name="矩形 6">
            <a:extLst>
              <a:ext uri="{FF2B5EF4-FFF2-40B4-BE49-F238E27FC236}">
                <a16:creationId xmlns:a16="http://schemas.microsoft.com/office/drawing/2014/main" id="{B5B9775F-52E9-275E-3013-33A5AE9299C9}"/>
              </a:ext>
            </a:extLst>
          </p:cNvPr>
          <p:cNvSpPr/>
          <p:nvPr/>
        </p:nvSpPr>
        <p:spPr>
          <a:xfrm>
            <a:off x="2365865" y="3813918"/>
            <a:ext cx="842606" cy="728419"/>
          </a:xfrm>
          <a:prstGeom prst="rect">
            <a:avLst/>
          </a:prstGeom>
          <a:noFill/>
          <a:ln>
            <a:solidFill>
              <a:schemeClr val="tx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kumimoji="1" lang="en-US" altLang="zh-TW" sz="2000" b="1" dirty="0">
                <a:solidFill>
                  <a:schemeClr val="tx1"/>
                </a:solidFill>
              </a:rPr>
              <a:t>RNN</a:t>
            </a:r>
            <a:endParaRPr kumimoji="1" lang="zh-TW" altLang="en-US" sz="2000" b="1" dirty="0">
              <a:solidFill>
                <a:schemeClr val="tx1"/>
              </a:solidFill>
            </a:endParaRPr>
          </a:p>
        </p:txBody>
      </p:sp>
      <p:sp>
        <p:nvSpPr>
          <p:cNvPr id="8" name="矩形 7">
            <a:extLst>
              <a:ext uri="{FF2B5EF4-FFF2-40B4-BE49-F238E27FC236}">
                <a16:creationId xmlns:a16="http://schemas.microsoft.com/office/drawing/2014/main" id="{B4A8E273-92C8-B725-9D20-B5D11A1BACFB}"/>
              </a:ext>
            </a:extLst>
          </p:cNvPr>
          <p:cNvSpPr/>
          <p:nvPr/>
        </p:nvSpPr>
        <p:spPr>
          <a:xfrm>
            <a:off x="3718535" y="3813917"/>
            <a:ext cx="842606" cy="728419"/>
          </a:xfrm>
          <a:prstGeom prst="rect">
            <a:avLst/>
          </a:prstGeom>
          <a:noFill/>
          <a:ln>
            <a:solidFill>
              <a:schemeClr val="tx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kumimoji="1" lang="en-US" altLang="zh-TW" sz="2000" b="1" dirty="0">
                <a:solidFill>
                  <a:schemeClr val="tx1"/>
                </a:solidFill>
              </a:rPr>
              <a:t>RNN</a:t>
            </a:r>
            <a:endParaRPr kumimoji="1" lang="zh-TW" altLang="en-US" sz="2000" b="1" dirty="0">
              <a:solidFill>
                <a:schemeClr val="tx1"/>
              </a:solidFill>
            </a:endParaRPr>
          </a:p>
        </p:txBody>
      </p:sp>
      <p:cxnSp>
        <p:nvCxnSpPr>
          <p:cNvPr id="10" name="直線箭頭接點 9">
            <a:extLst>
              <a:ext uri="{FF2B5EF4-FFF2-40B4-BE49-F238E27FC236}">
                <a16:creationId xmlns:a16="http://schemas.microsoft.com/office/drawing/2014/main" id="{71962B3F-9FA6-0220-1AF1-6586D948FF0E}"/>
              </a:ext>
            </a:extLst>
          </p:cNvPr>
          <p:cNvCxnSpPr>
            <a:cxnSpLocks/>
          </p:cNvCxnSpPr>
          <p:nvPr/>
        </p:nvCxnSpPr>
        <p:spPr>
          <a:xfrm flipV="1">
            <a:off x="2787168" y="4635585"/>
            <a:ext cx="0" cy="509716"/>
          </a:xfrm>
          <a:prstGeom prst="straightConnector1">
            <a:avLst/>
          </a:prstGeom>
          <a:ln w="28575">
            <a:solidFill>
              <a:schemeClr val="tx1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1" name="直線箭頭接點 10">
            <a:extLst>
              <a:ext uri="{FF2B5EF4-FFF2-40B4-BE49-F238E27FC236}">
                <a16:creationId xmlns:a16="http://schemas.microsoft.com/office/drawing/2014/main" id="{CB4E6377-CCC8-2632-4A20-88A949727A04}"/>
              </a:ext>
            </a:extLst>
          </p:cNvPr>
          <p:cNvCxnSpPr>
            <a:cxnSpLocks/>
          </p:cNvCxnSpPr>
          <p:nvPr/>
        </p:nvCxnSpPr>
        <p:spPr>
          <a:xfrm flipV="1">
            <a:off x="4141007" y="4635584"/>
            <a:ext cx="0" cy="509716"/>
          </a:xfrm>
          <a:prstGeom prst="straightConnector1">
            <a:avLst/>
          </a:prstGeom>
          <a:ln w="28575">
            <a:solidFill>
              <a:schemeClr val="tx1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2" name="直線箭頭接點 11">
            <a:extLst>
              <a:ext uri="{FF2B5EF4-FFF2-40B4-BE49-F238E27FC236}">
                <a16:creationId xmlns:a16="http://schemas.microsoft.com/office/drawing/2014/main" id="{F1FF3DF9-C6C8-FDCE-E3CE-61925F28344B}"/>
              </a:ext>
            </a:extLst>
          </p:cNvPr>
          <p:cNvCxnSpPr>
            <a:cxnSpLocks/>
          </p:cNvCxnSpPr>
          <p:nvPr/>
        </p:nvCxnSpPr>
        <p:spPr>
          <a:xfrm>
            <a:off x="1880704" y="4197320"/>
            <a:ext cx="454165" cy="0"/>
          </a:xfrm>
          <a:prstGeom prst="straightConnector1">
            <a:avLst/>
          </a:prstGeom>
          <a:ln w="28575">
            <a:solidFill>
              <a:srgbClr val="0070C0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26" name="直線箭頭接點 25">
            <a:extLst>
              <a:ext uri="{FF2B5EF4-FFF2-40B4-BE49-F238E27FC236}">
                <a16:creationId xmlns:a16="http://schemas.microsoft.com/office/drawing/2014/main" id="{1D44DBB5-ED82-02A3-9302-A42011057600}"/>
              </a:ext>
            </a:extLst>
          </p:cNvPr>
          <p:cNvCxnSpPr>
            <a:cxnSpLocks/>
          </p:cNvCxnSpPr>
          <p:nvPr/>
        </p:nvCxnSpPr>
        <p:spPr>
          <a:xfrm>
            <a:off x="3255492" y="4197320"/>
            <a:ext cx="454165" cy="0"/>
          </a:xfrm>
          <a:prstGeom prst="straightConnector1">
            <a:avLst/>
          </a:prstGeom>
          <a:ln w="28575">
            <a:solidFill>
              <a:srgbClr val="0070C0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33" name="直線箭頭接點 32">
            <a:extLst>
              <a:ext uri="{FF2B5EF4-FFF2-40B4-BE49-F238E27FC236}">
                <a16:creationId xmlns:a16="http://schemas.microsoft.com/office/drawing/2014/main" id="{257328A5-5F55-A752-538F-ABF645111174}"/>
              </a:ext>
            </a:extLst>
          </p:cNvPr>
          <p:cNvCxnSpPr>
            <a:cxnSpLocks/>
          </p:cNvCxnSpPr>
          <p:nvPr/>
        </p:nvCxnSpPr>
        <p:spPr>
          <a:xfrm flipV="1">
            <a:off x="4132163" y="3226711"/>
            <a:ext cx="0" cy="509716"/>
          </a:xfrm>
          <a:prstGeom prst="straightConnector1">
            <a:avLst/>
          </a:prstGeom>
          <a:ln w="28575">
            <a:solidFill>
              <a:schemeClr val="tx1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mc:AlternateContent xmlns:mc="http://schemas.openxmlformats.org/markup-compatibility/2006" xmlns:a14="http://schemas.microsoft.com/office/drawing/2010/main">
        <mc:Choice Requires="a14">
          <p:sp>
            <p:nvSpPr>
              <p:cNvPr id="36" name="矩形 35">
                <a:extLst>
                  <a:ext uri="{FF2B5EF4-FFF2-40B4-BE49-F238E27FC236}">
                    <a16:creationId xmlns:a16="http://schemas.microsoft.com/office/drawing/2014/main" id="{6C09E09E-1B5A-6B4B-0B4C-ABDBCCADEF4B}"/>
                  </a:ext>
                </a:extLst>
              </p:cNvPr>
              <p:cNvSpPr/>
              <p:nvPr/>
            </p:nvSpPr>
            <p:spPr>
              <a:xfrm>
                <a:off x="5340637" y="2479771"/>
                <a:ext cx="1968284" cy="688455"/>
              </a:xfrm>
              <a:prstGeom prst="rect">
                <a:avLst/>
              </a:prstGeom>
              <a:noFill/>
              <a:ln>
                <a:solidFill>
                  <a:schemeClr val="tx1"/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r>
                  <a:rPr kumimoji="1" lang="en-US" altLang="zh-TW" dirty="0">
                    <a:solidFill>
                      <a:schemeClr val="tx1"/>
                    </a:solidFill>
                  </a:rPr>
                  <a:t>Classification Layer </a:t>
                </a:r>
                <a14:m>
                  <m:oMath xmlns:m="http://schemas.openxmlformats.org/officeDocument/2006/math">
                    <m:r>
                      <a:rPr lang="en-US" altLang="zh-TW" i="1">
                        <a:solidFill>
                          <a:schemeClr val="tx1"/>
                        </a:solidFill>
                        <a:latin typeface="Cambria Math" panose="02040503050406030204" pitchFamily="18" charset="0"/>
                      </a:rPr>
                      <m:t>𝑉</m:t>
                    </m:r>
                  </m:oMath>
                </a14:m>
                <a:endParaRPr kumimoji="1" lang="zh-TW" altLang="en-US" dirty="0">
                  <a:solidFill>
                    <a:schemeClr val="tx1"/>
                  </a:solidFill>
                </a:endParaRPr>
              </a:p>
            </p:txBody>
          </p:sp>
        </mc:Choice>
        <mc:Fallback xmlns="">
          <p:sp>
            <p:nvSpPr>
              <p:cNvPr id="36" name="矩形 35">
                <a:extLst>
                  <a:ext uri="{FF2B5EF4-FFF2-40B4-BE49-F238E27FC236}">
                    <a16:creationId xmlns:a16="http://schemas.microsoft.com/office/drawing/2014/main" id="{6C09E09E-1B5A-6B4B-0B4C-ABDBCCADEF4B}"/>
                  </a:ext>
                </a:extLst>
              </p:cNvPr>
              <p:cNvSpPr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5340637" y="2479771"/>
                <a:ext cx="1968284" cy="688455"/>
              </a:xfrm>
              <a:prstGeom prst="rect">
                <a:avLst/>
              </a:prstGeom>
              <a:blipFill>
                <a:blip r:embed="rId3"/>
                <a:stretch>
                  <a:fillRect b="-7018"/>
                </a:stretch>
              </a:blipFill>
              <a:ln>
                <a:solidFill>
                  <a:schemeClr val="tx1"/>
                </a:solidFill>
              </a:ln>
            </p:spPr>
            <p:txBody>
              <a:bodyPr/>
              <a:lstStyle/>
              <a:p>
                <a:r>
                  <a:rPr lang="zh-TW" altLang="en-US">
                    <a:noFill/>
                  </a:rPr>
                  <a:t> </a:t>
                </a:r>
              </a:p>
            </p:txBody>
          </p:sp>
        </mc:Fallback>
      </mc:AlternateContent>
      <p:cxnSp>
        <p:nvCxnSpPr>
          <p:cNvPr id="37" name="直線箭頭接點 36">
            <a:extLst>
              <a:ext uri="{FF2B5EF4-FFF2-40B4-BE49-F238E27FC236}">
                <a16:creationId xmlns:a16="http://schemas.microsoft.com/office/drawing/2014/main" id="{F504C4C2-7B73-596C-F469-CE40F29F2DF4}"/>
              </a:ext>
            </a:extLst>
          </p:cNvPr>
          <p:cNvCxnSpPr>
            <a:cxnSpLocks/>
          </p:cNvCxnSpPr>
          <p:nvPr/>
        </p:nvCxnSpPr>
        <p:spPr>
          <a:xfrm>
            <a:off x="4592137" y="2823999"/>
            <a:ext cx="637619" cy="0"/>
          </a:xfrm>
          <a:prstGeom prst="straightConnector1">
            <a:avLst/>
          </a:prstGeom>
          <a:ln w="28575">
            <a:solidFill>
              <a:schemeClr val="tx1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mc:AlternateContent xmlns:mc="http://schemas.openxmlformats.org/markup-compatibility/2006" xmlns:a14="http://schemas.microsoft.com/office/drawing/2010/main">
        <mc:Choice Requires="a14">
          <p:sp>
            <p:nvSpPr>
              <p:cNvPr id="34" name="圓角矩形 33">
                <a:extLst>
                  <a:ext uri="{FF2B5EF4-FFF2-40B4-BE49-F238E27FC236}">
                    <a16:creationId xmlns:a16="http://schemas.microsoft.com/office/drawing/2014/main" id="{42772646-7307-A288-7C9B-A7DFA1BD87C6}"/>
                  </a:ext>
                </a:extLst>
              </p:cNvPr>
              <p:cNvSpPr/>
              <p:nvPr/>
            </p:nvSpPr>
            <p:spPr>
              <a:xfrm>
                <a:off x="3795279" y="2538249"/>
                <a:ext cx="673768" cy="571500"/>
              </a:xfrm>
              <a:prstGeom prst="roundRect">
                <a:avLst/>
              </a:prstGeom>
              <a:noFill/>
              <a:ln w="28575">
                <a:solidFill>
                  <a:srgbClr val="00B050"/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sSub>
                        <m:sSubPr>
                          <m:ctrlPr>
                            <a:rPr lang="zh-TW" altLang="zh-TW" sz="2400" i="1" smtClean="0">
                              <a:solidFill>
                                <a:schemeClr val="tx1"/>
                              </a:solidFill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a:rPr lang="en-US" altLang="zh-TW" sz="2400" i="1">
                              <a:solidFill>
                                <a:schemeClr val="tx1"/>
                              </a:solidFill>
                              <a:latin typeface="Cambria Math" panose="02040503050406030204" pitchFamily="18" charset="0"/>
                            </a:rPr>
                            <m:t>h</m:t>
                          </m:r>
                        </m:e>
                        <m:sub>
                          <m:r>
                            <a:rPr lang="en-US" altLang="zh-TW" sz="2400" i="1">
                              <a:solidFill>
                                <a:schemeClr val="tx1"/>
                              </a:solidFill>
                              <a:latin typeface="Cambria Math" panose="02040503050406030204" pitchFamily="18" charset="0"/>
                            </a:rPr>
                            <m:t>3</m:t>
                          </m:r>
                        </m:sub>
                      </m:sSub>
                    </m:oMath>
                  </m:oMathPara>
                </a14:m>
                <a:endParaRPr lang="zh-TW" altLang="zh-TW" sz="2400" dirty="0">
                  <a:solidFill>
                    <a:schemeClr val="tx1"/>
                  </a:solidFill>
                </a:endParaRPr>
              </a:p>
            </p:txBody>
          </p:sp>
        </mc:Choice>
        <mc:Fallback xmlns="">
          <p:sp>
            <p:nvSpPr>
              <p:cNvPr id="34" name="圓角矩形 33">
                <a:extLst>
                  <a:ext uri="{FF2B5EF4-FFF2-40B4-BE49-F238E27FC236}">
                    <a16:creationId xmlns:a16="http://schemas.microsoft.com/office/drawing/2014/main" id="{42772646-7307-A288-7C9B-A7DFA1BD87C6}"/>
                  </a:ext>
                </a:extLst>
              </p:cNvPr>
              <p:cNvSpPr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3795279" y="2538249"/>
                <a:ext cx="673768" cy="571500"/>
              </a:xfrm>
              <a:prstGeom prst="roundRect">
                <a:avLst/>
              </a:prstGeom>
              <a:blipFill>
                <a:blip r:embed="rId4"/>
                <a:stretch>
                  <a:fillRect/>
                </a:stretch>
              </a:blipFill>
              <a:ln w="28575">
                <a:solidFill>
                  <a:srgbClr val="00B050"/>
                </a:solidFill>
              </a:ln>
            </p:spPr>
            <p:txBody>
              <a:bodyPr/>
              <a:lstStyle/>
              <a:p>
                <a:r>
                  <a:rPr lang="zh-TW" altLang="en-US">
                    <a:noFill/>
                  </a:rPr>
                  <a:t> </a:t>
                </a:r>
              </a:p>
            </p:txBody>
          </p:sp>
        </mc:Fallback>
      </mc:AlternateContent>
      <p:sp>
        <p:nvSpPr>
          <p:cNvPr id="39" name="文字方塊 38">
            <a:extLst>
              <a:ext uri="{FF2B5EF4-FFF2-40B4-BE49-F238E27FC236}">
                <a16:creationId xmlns:a16="http://schemas.microsoft.com/office/drawing/2014/main" id="{D522AE8D-1F2D-4249-2548-0DF2ADBD9008}"/>
              </a:ext>
            </a:extLst>
          </p:cNvPr>
          <p:cNvSpPr txBox="1"/>
          <p:nvPr/>
        </p:nvSpPr>
        <p:spPr>
          <a:xfrm>
            <a:off x="3379025" y="2075615"/>
            <a:ext cx="1521625" cy="307777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kumimoji="1" lang="en-US" altLang="zh-TW" sz="1400" dirty="0"/>
              <a:t>(1, </a:t>
            </a:r>
            <a:r>
              <a:rPr kumimoji="1" lang="en-US" altLang="zh-TW" sz="1400" dirty="0" err="1"/>
              <a:t>hidden_size</a:t>
            </a:r>
            <a:r>
              <a:rPr kumimoji="1" lang="en-US" altLang="zh-TW" sz="1400" dirty="0"/>
              <a:t>)</a:t>
            </a:r>
            <a:endParaRPr kumimoji="1" lang="zh-TW" altLang="en-US" sz="1400" dirty="0"/>
          </a:p>
        </p:txBody>
      </p:sp>
      <mc:AlternateContent xmlns:mc="http://schemas.openxmlformats.org/markup-compatibility/2006" xmlns:a14="http://schemas.microsoft.com/office/drawing/2010/main">
        <mc:Choice Requires="a14">
          <p:sp>
            <p:nvSpPr>
              <p:cNvPr id="40" name="圓角矩形 39">
                <a:extLst>
                  <a:ext uri="{FF2B5EF4-FFF2-40B4-BE49-F238E27FC236}">
                    <a16:creationId xmlns:a16="http://schemas.microsoft.com/office/drawing/2014/main" id="{37B4C94E-E666-2B84-016F-D31C7068B918}"/>
                  </a:ext>
                </a:extLst>
              </p:cNvPr>
              <p:cNvSpPr/>
              <p:nvPr/>
            </p:nvSpPr>
            <p:spPr>
              <a:xfrm>
                <a:off x="6013348" y="4046686"/>
                <a:ext cx="673768" cy="571500"/>
              </a:xfrm>
              <a:prstGeom prst="roundRect">
                <a:avLst/>
              </a:prstGeom>
              <a:noFill/>
              <a:ln w="28575">
                <a:solidFill>
                  <a:srgbClr val="00B050"/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sSub>
                        <m:sSubPr>
                          <m:ctrlPr>
                            <a:rPr lang="zh-TW" altLang="zh-TW" sz="2400" i="1" smtClean="0">
                              <a:solidFill>
                                <a:schemeClr val="tx1"/>
                              </a:solidFill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a:rPr lang="en-US" altLang="zh-TW" sz="2400" b="0" i="1" smtClean="0">
                              <a:solidFill>
                                <a:schemeClr val="tx1"/>
                              </a:solidFill>
                              <a:latin typeface="Cambria Math" panose="02040503050406030204" pitchFamily="18" charset="0"/>
                            </a:rPr>
                            <m:t>𝑜</m:t>
                          </m:r>
                        </m:e>
                        <m:sub>
                          <m:r>
                            <a:rPr lang="en-US" altLang="zh-TW" sz="2400" i="1">
                              <a:solidFill>
                                <a:schemeClr val="tx1"/>
                              </a:solidFill>
                              <a:latin typeface="Cambria Math" panose="02040503050406030204" pitchFamily="18" charset="0"/>
                            </a:rPr>
                            <m:t>3</m:t>
                          </m:r>
                        </m:sub>
                      </m:sSub>
                    </m:oMath>
                  </m:oMathPara>
                </a14:m>
                <a:endParaRPr kumimoji="1" lang="zh-TW" altLang="en-US" sz="2400" b="1" dirty="0">
                  <a:solidFill>
                    <a:schemeClr val="tx1"/>
                  </a:solidFill>
                </a:endParaRPr>
              </a:p>
            </p:txBody>
          </p:sp>
        </mc:Choice>
        <mc:Fallback xmlns="">
          <p:sp>
            <p:nvSpPr>
              <p:cNvPr id="40" name="圓角矩形 39">
                <a:extLst>
                  <a:ext uri="{FF2B5EF4-FFF2-40B4-BE49-F238E27FC236}">
                    <a16:creationId xmlns:a16="http://schemas.microsoft.com/office/drawing/2014/main" id="{37B4C94E-E666-2B84-016F-D31C7068B918}"/>
                  </a:ext>
                </a:extLst>
              </p:cNvPr>
              <p:cNvSpPr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6013348" y="4046686"/>
                <a:ext cx="673768" cy="571500"/>
              </a:xfrm>
              <a:prstGeom prst="roundRect">
                <a:avLst/>
              </a:prstGeom>
              <a:blipFill>
                <a:blip r:embed="rId5"/>
                <a:stretch>
                  <a:fillRect/>
                </a:stretch>
              </a:blipFill>
              <a:ln w="28575">
                <a:solidFill>
                  <a:srgbClr val="00B050"/>
                </a:solidFill>
              </a:ln>
            </p:spPr>
            <p:txBody>
              <a:bodyPr/>
              <a:lstStyle/>
              <a:p>
                <a:r>
                  <a:rPr lang="zh-TW" altLang="en-US">
                    <a:noFill/>
                  </a:rPr>
                  <a:t> </a:t>
                </a:r>
              </a:p>
            </p:txBody>
          </p:sp>
        </mc:Fallback>
      </mc:AlternateContent>
      <p:sp>
        <p:nvSpPr>
          <p:cNvPr id="41" name="文字方塊 40">
            <a:extLst>
              <a:ext uri="{FF2B5EF4-FFF2-40B4-BE49-F238E27FC236}">
                <a16:creationId xmlns:a16="http://schemas.microsoft.com/office/drawing/2014/main" id="{82598EF1-AAEA-BC2D-6367-51A87950FCBF}"/>
              </a:ext>
            </a:extLst>
          </p:cNvPr>
          <p:cNvSpPr txBox="1"/>
          <p:nvPr/>
        </p:nvSpPr>
        <p:spPr>
          <a:xfrm>
            <a:off x="4984607" y="3639517"/>
            <a:ext cx="2727049" cy="338554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kumimoji="1" lang="en-US" altLang="zh-TW" sz="1600" dirty="0"/>
              <a:t>(1, </a:t>
            </a:r>
            <a:r>
              <a:rPr kumimoji="1" lang="en-US" altLang="zh-TW" sz="1600" dirty="0" err="1">
                <a:solidFill>
                  <a:srgbClr val="FF0000"/>
                </a:solidFill>
              </a:rPr>
              <a:t>Vocab_size</a:t>
            </a:r>
            <a:r>
              <a:rPr kumimoji="1" lang="en-US" altLang="zh-TW" sz="1600" dirty="0"/>
              <a:t>)</a:t>
            </a:r>
            <a:endParaRPr kumimoji="1" lang="zh-TW" altLang="en-US" sz="1600" dirty="0"/>
          </a:p>
        </p:txBody>
      </p:sp>
      <p:cxnSp>
        <p:nvCxnSpPr>
          <p:cNvPr id="42" name="直線箭頭接點 41">
            <a:extLst>
              <a:ext uri="{FF2B5EF4-FFF2-40B4-BE49-F238E27FC236}">
                <a16:creationId xmlns:a16="http://schemas.microsoft.com/office/drawing/2014/main" id="{AD626588-EC2D-EEE2-4116-B55D7C483E57}"/>
              </a:ext>
            </a:extLst>
          </p:cNvPr>
          <p:cNvCxnSpPr>
            <a:cxnSpLocks/>
          </p:cNvCxnSpPr>
          <p:nvPr/>
        </p:nvCxnSpPr>
        <p:spPr>
          <a:xfrm>
            <a:off x="6348132" y="3247790"/>
            <a:ext cx="0" cy="378186"/>
          </a:xfrm>
          <a:prstGeom prst="straightConnector1">
            <a:avLst/>
          </a:prstGeom>
          <a:ln w="28575">
            <a:solidFill>
              <a:schemeClr val="tx1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45" name="文字方塊 44">
            <a:extLst>
              <a:ext uri="{FF2B5EF4-FFF2-40B4-BE49-F238E27FC236}">
                <a16:creationId xmlns:a16="http://schemas.microsoft.com/office/drawing/2014/main" id="{F2099F3C-F78E-6A2B-2947-F9C8737CFA85}"/>
              </a:ext>
            </a:extLst>
          </p:cNvPr>
          <p:cNvSpPr txBox="1"/>
          <p:nvPr/>
        </p:nvSpPr>
        <p:spPr>
          <a:xfrm>
            <a:off x="8430482" y="2323987"/>
            <a:ext cx="1246720" cy="3970318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kumimoji="1" lang="en-US" altLang="zh-TW" dirty="0"/>
              <a:t>a</a:t>
            </a:r>
          </a:p>
          <a:p>
            <a:r>
              <a:rPr kumimoji="1" lang="en-US" altLang="zh-TW" dirty="0"/>
              <a:t>...</a:t>
            </a:r>
          </a:p>
          <a:p>
            <a:r>
              <a:rPr kumimoji="1" lang="en-US" altLang="zh-TW" dirty="0"/>
              <a:t>apple</a:t>
            </a:r>
          </a:p>
          <a:p>
            <a:r>
              <a:rPr kumimoji="1" lang="en-US" altLang="zh-TW" dirty="0"/>
              <a:t>...</a:t>
            </a:r>
          </a:p>
          <a:p>
            <a:r>
              <a:rPr kumimoji="1" lang="en-US" altLang="zh-TW" dirty="0"/>
              <a:t>b</a:t>
            </a:r>
          </a:p>
          <a:p>
            <a:r>
              <a:rPr kumimoji="1" lang="en-US" altLang="zh-TW" dirty="0"/>
              <a:t>...</a:t>
            </a:r>
          </a:p>
          <a:p>
            <a:r>
              <a:rPr kumimoji="1" lang="en-US" altLang="zh-TW" dirty="0"/>
              <a:t>banana</a:t>
            </a:r>
          </a:p>
          <a:p>
            <a:r>
              <a:rPr kumimoji="1" lang="en-US" altLang="zh-TW" dirty="0"/>
              <a:t>...</a:t>
            </a:r>
          </a:p>
          <a:p>
            <a:r>
              <a:rPr kumimoji="1" lang="en-US" altLang="zh-TW" dirty="0"/>
              <a:t>elephant</a:t>
            </a:r>
          </a:p>
          <a:p>
            <a:r>
              <a:rPr kumimoji="1" lang="en-US" altLang="zh-TW" dirty="0"/>
              <a:t>...</a:t>
            </a:r>
          </a:p>
          <a:p>
            <a:r>
              <a:rPr kumimoji="1" lang="en-US" altLang="zh-TW" dirty="0"/>
              <a:t>eraser</a:t>
            </a:r>
          </a:p>
          <a:p>
            <a:r>
              <a:rPr kumimoji="1" lang="en-US" altLang="zh-TW" dirty="0"/>
              <a:t>...</a:t>
            </a:r>
          </a:p>
          <a:p>
            <a:r>
              <a:rPr kumimoji="1" lang="en-US" altLang="zh-TW" dirty="0"/>
              <a:t>...</a:t>
            </a:r>
          </a:p>
          <a:p>
            <a:r>
              <a:rPr kumimoji="1" lang="en-US" altLang="zh-TW" dirty="0"/>
              <a:t>zoo</a:t>
            </a:r>
            <a:endParaRPr kumimoji="1" lang="zh-TW" altLang="en-US" dirty="0"/>
          </a:p>
        </p:txBody>
      </p:sp>
      <p:sp>
        <p:nvSpPr>
          <p:cNvPr id="46" name="文字方塊 45">
            <a:extLst>
              <a:ext uri="{FF2B5EF4-FFF2-40B4-BE49-F238E27FC236}">
                <a16:creationId xmlns:a16="http://schemas.microsoft.com/office/drawing/2014/main" id="{EB660368-A093-E449-96B6-37BABFD81213}"/>
              </a:ext>
            </a:extLst>
          </p:cNvPr>
          <p:cNvSpPr txBox="1"/>
          <p:nvPr/>
        </p:nvSpPr>
        <p:spPr>
          <a:xfrm>
            <a:off x="9528585" y="2323987"/>
            <a:ext cx="1246720" cy="3970318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kumimoji="1" lang="en-US" altLang="zh-TW" dirty="0"/>
              <a:t>0.0001</a:t>
            </a:r>
          </a:p>
          <a:p>
            <a:r>
              <a:rPr kumimoji="1" lang="en-US" altLang="zh-TW" dirty="0"/>
              <a:t>...</a:t>
            </a:r>
          </a:p>
          <a:p>
            <a:r>
              <a:rPr kumimoji="1" lang="en-US" altLang="zh-TW" dirty="0">
                <a:solidFill>
                  <a:srgbClr val="FF0000"/>
                </a:solidFill>
              </a:rPr>
              <a:t>0.600</a:t>
            </a:r>
          </a:p>
          <a:p>
            <a:r>
              <a:rPr kumimoji="1" lang="en-US" altLang="zh-TW" dirty="0"/>
              <a:t>...</a:t>
            </a:r>
          </a:p>
          <a:p>
            <a:r>
              <a:rPr kumimoji="1" lang="en-US" altLang="zh-TW" dirty="0"/>
              <a:t>0.0001</a:t>
            </a:r>
          </a:p>
          <a:p>
            <a:r>
              <a:rPr kumimoji="1" lang="en-US" altLang="zh-TW" dirty="0"/>
              <a:t>...</a:t>
            </a:r>
          </a:p>
          <a:p>
            <a:r>
              <a:rPr kumimoji="1" lang="en-US" altLang="zh-TW" dirty="0"/>
              <a:t>0.0003</a:t>
            </a:r>
          </a:p>
          <a:p>
            <a:r>
              <a:rPr kumimoji="1" lang="en-US" altLang="zh-TW" dirty="0"/>
              <a:t>...</a:t>
            </a:r>
          </a:p>
          <a:p>
            <a:r>
              <a:rPr kumimoji="1" lang="en-US" altLang="zh-TW" dirty="0">
                <a:solidFill>
                  <a:srgbClr val="FF0000"/>
                </a:solidFill>
              </a:rPr>
              <a:t>0.300</a:t>
            </a:r>
          </a:p>
          <a:p>
            <a:r>
              <a:rPr kumimoji="1" lang="en-US" altLang="zh-TW" dirty="0"/>
              <a:t>...</a:t>
            </a:r>
          </a:p>
          <a:p>
            <a:r>
              <a:rPr kumimoji="1" lang="en-US" altLang="zh-TW" dirty="0">
                <a:solidFill>
                  <a:srgbClr val="FF0000"/>
                </a:solidFill>
              </a:rPr>
              <a:t>0.05</a:t>
            </a:r>
          </a:p>
          <a:p>
            <a:r>
              <a:rPr kumimoji="1" lang="en-US" altLang="zh-TW" dirty="0"/>
              <a:t>...</a:t>
            </a:r>
          </a:p>
          <a:p>
            <a:r>
              <a:rPr kumimoji="1" lang="en-US" altLang="zh-TW" dirty="0"/>
              <a:t>...</a:t>
            </a:r>
          </a:p>
          <a:p>
            <a:r>
              <a:rPr kumimoji="1" lang="en-US" altLang="zh-TW" dirty="0"/>
              <a:t>0.0001</a:t>
            </a:r>
            <a:endParaRPr kumimoji="1" lang="zh-TW" altLang="en-US" dirty="0"/>
          </a:p>
        </p:txBody>
      </p:sp>
      <p:cxnSp>
        <p:nvCxnSpPr>
          <p:cNvPr id="49" name="直線接點 48">
            <a:extLst>
              <a:ext uri="{FF2B5EF4-FFF2-40B4-BE49-F238E27FC236}">
                <a16:creationId xmlns:a16="http://schemas.microsoft.com/office/drawing/2014/main" id="{66956FDE-BE9A-324F-F66F-A8C197B137C2}"/>
              </a:ext>
            </a:extLst>
          </p:cNvPr>
          <p:cNvCxnSpPr/>
          <p:nvPr/>
        </p:nvCxnSpPr>
        <p:spPr>
          <a:xfrm flipV="1">
            <a:off x="7572381" y="2479771"/>
            <a:ext cx="728432" cy="1826218"/>
          </a:xfrm>
          <a:prstGeom prst="line">
            <a:avLst/>
          </a:prstGeom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50" name="直線接點 49">
            <a:extLst>
              <a:ext uri="{FF2B5EF4-FFF2-40B4-BE49-F238E27FC236}">
                <a16:creationId xmlns:a16="http://schemas.microsoft.com/office/drawing/2014/main" id="{E9E6F8AF-77C6-BAD2-7887-E81A757F7645}"/>
              </a:ext>
            </a:extLst>
          </p:cNvPr>
          <p:cNvCxnSpPr>
            <a:cxnSpLocks/>
          </p:cNvCxnSpPr>
          <p:nvPr/>
        </p:nvCxnSpPr>
        <p:spPr>
          <a:xfrm flipH="1" flipV="1">
            <a:off x="7572381" y="4403283"/>
            <a:ext cx="728432" cy="1826218"/>
          </a:xfrm>
          <a:prstGeom prst="line">
            <a:avLst/>
          </a:prstGeom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52" name="直線接點 51">
            <a:extLst>
              <a:ext uri="{FF2B5EF4-FFF2-40B4-BE49-F238E27FC236}">
                <a16:creationId xmlns:a16="http://schemas.microsoft.com/office/drawing/2014/main" id="{EEE00C0D-5F7E-C3ED-CA9C-8112CF99132E}"/>
              </a:ext>
            </a:extLst>
          </p:cNvPr>
          <p:cNvCxnSpPr/>
          <p:nvPr/>
        </p:nvCxnSpPr>
        <p:spPr>
          <a:xfrm>
            <a:off x="6843972" y="4349834"/>
            <a:ext cx="630978" cy="0"/>
          </a:xfrm>
          <a:prstGeom prst="line">
            <a:avLst/>
          </a:prstGeom>
          <a:ln w="28575">
            <a:solidFill>
              <a:schemeClr val="tx1"/>
            </a:solidFill>
            <a:prstDash val="dash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53" name="右大括弧 52">
            <a:extLst>
              <a:ext uri="{FF2B5EF4-FFF2-40B4-BE49-F238E27FC236}">
                <a16:creationId xmlns:a16="http://schemas.microsoft.com/office/drawing/2014/main" id="{E09434B5-6FEC-D973-FCC9-0E540FD23417}"/>
              </a:ext>
            </a:extLst>
          </p:cNvPr>
          <p:cNvSpPr/>
          <p:nvPr/>
        </p:nvSpPr>
        <p:spPr>
          <a:xfrm>
            <a:off x="10501384" y="2417802"/>
            <a:ext cx="373278" cy="3782688"/>
          </a:xfrm>
          <a:prstGeom prst="rightBrace">
            <a:avLst/>
          </a:prstGeom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  <p:txBody>
          <a:bodyPr rtlCol="0" anchor="ctr"/>
          <a:lstStyle/>
          <a:p>
            <a:pPr algn="ctr"/>
            <a:endParaRPr kumimoji="1" lang="zh-TW" altLang="en-US"/>
          </a:p>
        </p:txBody>
      </p:sp>
      <p:sp>
        <p:nvSpPr>
          <p:cNvPr id="54" name="文字方塊 53">
            <a:extLst>
              <a:ext uri="{FF2B5EF4-FFF2-40B4-BE49-F238E27FC236}">
                <a16:creationId xmlns:a16="http://schemas.microsoft.com/office/drawing/2014/main" id="{2D8C42DF-7E9A-C921-36DB-8E5134655A89}"/>
              </a:ext>
            </a:extLst>
          </p:cNvPr>
          <p:cNvSpPr txBox="1"/>
          <p:nvPr/>
        </p:nvSpPr>
        <p:spPr>
          <a:xfrm>
            <a:off x="10859150" y="3982823"/>
            <a:ext cx="839694" cy="646331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kumimoji="1" lang="en-US" altLang="zh-TW" dirty="0">
                <a:solidFill>
                  <a:srgbClr val="FF0000"/>
                </a:solidFill>
              </a:rPr>
              <a:t>Vocab</a:t>
            </a:r>
          </a:p>
          <a:p>
            <a:pPr algn="ctr"/>
            <a:r>
              <a:rPr kumimoji="1" lang="en-US" altLang="zh-TW" dirty="0">
                <a:solidFill>
                  <a:srgbClr val="FF0000"/>
                </a:solidFill>
              </a:rPr>
              <a:t>size</a:t>
            </a:r>
            <a:endParaRPr kumimoji="1" lang="zh-TW" altLang="en-US" dirty="0">
              <a:solidFill>
                <a:srgbClr val="FF0000"/>
              </a:solidFill>
            </a:endParaRPr>
          </a:p>
        </p:txBody>
      </p:sp>
      <p:sp>
        <p:nvSpPr>
          <p:cNvPr id="55" name="文字方塊 54">
            <a:extLst>
              <a:ext uri="{FF2B5EF4-FFF2-40B4-BE49-F238E27FC236}">
                <a16:creationId xmlns:a16="http://schemas.microsoft.com/office/drawing/2014/main" id="{A151BD34-8F4C-0447-E9B3-FEF499EC3283}"/>
              </a:ext>
            </a:extLst>
          </p:cNvPr>
          <p:cNvSpPr txBox="1"/>
          <p:nvPr/>
        </p:nvSpPr>
        <p:spPr>
          <a:xfrm>
            <a:off x="8416651" y="1937300"/>
            <a:ext cx="839694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kumimoji="1" lang="en-US" altLang="zh-TW" dirty="0">
                <a:solidFill>
                  <a:srgbClr val="0070C0"/>
                </a:solidFill>
              </a:rPr>
              <a:t>Vocab</a:t>
            </a:r>
          </a:p>
        </p:txBody>
      </p:sp>
      <p:sp>
        <p:nvSpPr>
          <p:cNvPr id="56" name="文字方塊 55">
            <a:extLst>
              <a:ext uri="{FF2B5EF4-FFF2-40B4-BE49-F238E27FC236}">
                <a16:creationId xmlns:a16="http://schemas.microsoft.com/office/drawing/2014/main" id="{5EEBE339-6BDB-4693-61B8-51C7547502C9}"/>
              </a:ext>
            </a:extLst>
          </p:cNvPr>
          <p:cNvSpPr txBox="1"/>
          <p:nvPr/>
        </p:nvSpPr>
        <p:spPr>
          <a:xfrm>
            <a:off x="9513721" y="1937300"/>
            <a:ext cx="839694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kumimoji="1" lang="en-US" altLang="zh-TW" dirty="0">
                <a:solidFill>
                  <a:srgbClr val="0070C0"/>
                </a:solidFill>
              </a:rPr>
              <a:t>Prob</a:t>
            </a:r>
          </a:p>
        </p:txBody>
      </p:sp>
      <mc:AlternateContent xmlns:mc="http://schemas.openxmlformats.org/markup-compatibility/2006" xmlns:a14="http://schemas.microsoft.com/office/drawing/2010/main">
        <mc:Choice Requires="a14">
          <p:sp>
            <p:nvSpPr>
              <p:cNvPr id="13" name="圓角矩形 12">
                <a:extLst>
                  <a:ext uri="{FF2B5EF4-FFF2-40B4-BE49-F238E27FC236}">
                    <a16:creationId xmlns:a16="http://schemas.microsoft.com/office/drawing/2014/main" id="{81E01E23-EA7F-26CA-D7FD-D3AD34EF18E3}"/>
                  </a:ext>
                </a:extLst>
              </p:cNvPr>
              <p:cNvSpPr/>
              <p:nvPr/>
            </p:nvSpPr>
            <p:spPr>
              <a:xfrm>
                <a:off x="2450284" y="2531936"/>
                <a:ext cx="673768" cy="571500"/>
              </a:xfrm>
              <a:prstGeom prst="roundRect">
                <a:avLst/>
              </a:prstGeom>
              <a:noFill/>
              <a:ln w="28575">
                <a:solidFill>
                  <a:schemeClr val="bg1">
                    <a:lumMod val="75000"/>
                  </a:schemeClr>
                </a:solidFill>
                <a:prstDash val="dash"/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sSub>
                        <m:sSubPr>
                          <m:ctrlPr>
                            <a:rPr lang="zh-TW" altLang="zh-TW" sz="2400" i="1" smtClean="0">
                              <a:solidFill>
                                <a:schemeClr val="tx1"/>
                              </a:solidFill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a:rPr lang="en-US" altLang="zh-TW" sz="2400" i="1">
                              <a:solidFill>
                                <a:schemeClr val="tx1"/>
                              </a:solidFill>
                              <a:latin typeface="Cambria Math" panose="02040503050406030204" pitchFamily="18" charset="0"/>
                            </a:rPr>
                            <m:t>h</m:t>
                          </m:r>
                        </m:e>
                        <m:sub>
                          <m:r>
                            <a:rPr lang="en-US" altLang="zh-TW" sz="2400" b="0" i="1" smtClean="0">
                              <a:solidFill>
                                <a:schemeClr val="tx1"/>
                              </a:solidFill>
                              <a:latin typeface="Cambria Math" panose="02040503050406030204" pitchFamily="18" charset="0"/>
                            </a:rPr>
                            <m:t>2</m:t>
                          </m:r>
                        </m:sub>
                      </m:sSub>
                    </m:oMath>
                  </m:oMathPara>
                </a14:m>
                <a:endParaRPr lang="zh-TW" altLang="zh-TW" sz="2400" dirty="0">
                  <a:solidFill>
                    <a:schemeClr val="tx1"/>
                  </a:solidFill>
                </a:endParaRPr>
              </a:p>
            </p:txBody>
          </p:sp>
        </mc:Choice>
        <mc:Fallback xmlns="">
          <p:sp>
            <p:nvSpPr>
              <p:cNvPr id="13" name="圓角矩形 12">
                <a:extLst>
                  <a:ext uri="{FF2B5EF4-FFF2-40B4-BE49-F238E27FC236}">
                    <a16:creationId xmlns:a16="http://schemas.microsoft.com/office/drawing/2014/main" id="{81E01E23-EA7F-26CA-D7FD-D3AD34EF18E3}"/>
                  </a:ext>
                </a:extLst>
              </p:cNvPr>
              <p:cNvSpPr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2450284" y="2531936"/>
                <a:ext cx="673768" cy="571500"/>
              </a:xfrm>
              <a:prstGeom prst="roundRect">
                <a:avLst/>
              </a:prstGeom>
              <a:blipFill>
                <a:blip r:embed="rId6"/>
                <a:stretch>
                  <a:fillRect/>
                </a:stretch>
              </a:blipFill>
              <a:ln w="28575">
                <a:solidFill>
                  <a:schemeClr val="bg1">
                    <a:lumMod val="75000"/>
                  </a:schemeClr>
                </a:solidFill>
                <a:prstDash val="dash"/>
              </a:ln>
            </p:spPr>
            <p:txBody>
              <a:bodyPr/>
              <a:lstStyle/>
              <a:p>
                <a:r>
                  <a:rPr lang="zh-TW" altLang="en-US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 xmlns:a14="http://schemas.microsoft.com/office/drawing/2010/main">
        <mc:Choice Requires="a14">
          <p:sp>
            <p:nvSpPr>
              <p:cNvPr id="18" name="圓角矩形 17">
                <a:extLst>
                  <a:ext uri="{FF2B5EF4-FFF2-40B4-BE49-F238E27FC236}">
                    <a16:creationId xmlns:a16="http://schemas.microsoft.com/office/drawing/2014/main" id="{FCE531B0-0209-8911-AB20-73BB1EB3BEA0}"/>
                  </a:ext>
                </a:extLst>
              </p:cNvPr>
              <p:cNvSpPr/>
              <p:nvPr/>
            </p:nvSpPr>
            <p:spPr>
              <a:xfrm>
                <a:off x="1079810" y="2521669"/>
                <a:ext cx="673768" cy="571500"/>
              </a:xfrm>
              <a:prstGeom prst="roundRect">
                <a:avLst/>
              </a:prstGeom>
              <a:noFill/>
              <a:ln w="28575">
                <a:solidFill>
                  <a:schemeClr val="bg1">
                    <a:lumMod val="75000"/>
                  </a:schemeClr>
                </a:solidFill>
                <a:prstDash val="dash"/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sSub>
                        <m:sSubPr>
                          <m:ctrlPr>
                            <a:rPr lang="zh-TW" altLang="zh-TW" sz="2400" i="1" smtClean="0">
                              <a:solidFill>
                                <a:schemeClr val="tx1"/>
                              </a:solidFill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a:rPr lang="en-US" altLang="zh-TW" sz="2400" i="1">
                              <a:solidFill>
                                <a:schemeClr val="tx1"/>
                              </a:solidFill>
                              <a:latin typeface="Cambria Math" panose="02040503050406030204" pitchFamily="18" charset="0"/>
                            </a:rPr>
                            <m:t>h</m:t>
                          </m:r>
                        </m:e>
                        <m:sub>
                          <m:r>
                            <a:rPr lang="en-US" altLang="zh-TW" sz="2400" b="0" i="1" smtClean="0">
                              <a:solidFill>
                                <a:schemeClr val="tx1"/>
                              </a:solidFill>
                              <a:latin typeface="Cambria Math" panose="02040503050406030204" pitchFamily="18" charset="0"/>
                            </a:rPr>
                            <m:t>1</m:t>
                          </m:r>
                        </m:sub>
                      </m:sSub>
                    </m:oMath>
                  </m:oMathPara>
                </a14:m>
                <a:endParaRPr lang="zh-TW" altLang="zh-TW" sz="2400" dirty="0">
                  <a:solidFill>
                    <a:schemeClr val="tx1"/>
                  </a:solidFill>
                </a:endParaRPr>
              </a:p>
            </p:txBody>
          </p:sp>
        </mc:Choice>
        <mc:Fallback xmlns="">
          <p:sp>
            <p:nvSpPr>
              <p:cNvPr id="18" name="圓角矩形 17">
                <a:extLst>
                  <a:ext uri="{FF2B5EF4-FFF2-40B4-BE49-F238E27FC236}">
                    <a16:creationId xmlns:a16="http://schemas.microsoft.com/office/drawing/2014/main" id="{FCE531B0-0209-8911-AB20-73BB1EB3BEA0}"/>
                  </a:ext>
                </a:extLst>
              </p:cNvPr>
              <p:cNvSpPr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1079810" y="2521669"/>
                <a:ext cx="673768" cy="571500"/>
              </a:xfrm>
              <a:prstGeom prst="roundRect">
                <a:avLst/>
              </a:prstGeom>
              <a:blipFill>
                <a:blip r:embed="rId7"/>
                <a:stretch>
                  <a:fillRect/>
                </a:stretch>
              </a:blipFill>
              <a:ln w="28575">
                <a:solidFill>
                  <a:schemeClr val="bg1">
                    <a:lumMod val="75000"/>
                  </a:schemeClr>
                </a:solidFill>
                <a:prstDash val="dash"/>
              </a:ln>
            </p:spPr>
            <p:txBody>
              <a:bodyPr/>
              <a:lstStyle/>
              <a:p>
                <a:r>
                  <a:rPr lang="zh-TW" altLang="en-US">
                    <a:noFill/>
                  </a:rPr>
                  <a:t> </a:t>
                </a:r>
              </a:p>
            </p:txBody>
          </p:sp>
        </mc:Fallback>
      </mc:AlternateContent>
      <p:cxnSp>
        <p:nvCxnSpPr>
          <p:cNvPr id="19" name="直線箭頭接點 18">
            <a:extLst>
              <a:ext uri="{FF2B5EF4-FFF2-40B4-BE49-F238E27FC236}">
                <a16:creationId xmlns:a16="http://schemas.microsoft.com/office/drawing/2014/main" id="{695A3FD4-AD49-0352-EE91-263E004765AA}"/>
              </a:ext>
            </a:extLst>
          </p:cNvPr>
          <p:cNvCxnSpPr>
            <a:cxnSpLocks/>
          </p:cNvCxnSpPr>
          <p:nvPr/>
        </p:nvCxnSpPr>
        <p:spPr>
          <a:xfrm flipV="1">
            <a:off x="2787168" y="3226711"/>
            <a:ext cx="0" cy="509716"/>
          </a:xfrm>
          <a:prstGeom prst="straightConnector1">
            <a:avLst/>
          </a:prstGeom>
          <a:ln w="28575">
            <a:solidFill>
              <a:schemeClr val="tx1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20" name="直線箭頭接點 19">
            <a:extLst>
              <a:ext uri="{FF2B5EF4-FFF2-40B4-BE49-F238E27FC236}">
                <a16:creationId xmlns:a16="http://schemas.microsoft.com/office/drawing/2014/main" id="{B6D5EDE0-8376-B273-E991-B30A58AC223C}"/>
              </a:ext>
            </a:extLst>
          </p:cNvPr>
          <p:cNvCxnSpPr>
            <a:cxnSpLocks/>
          </p:cNvCxnSpPr>
          <p:nvPr/>
        </p:nvCxnSpPr>
        <p:spPr>
          <a:xfrm flipV="1">
            <a:off x="1416694" y="3202782"/>
            <a:ext cx="0" cy="509716"/>
          </a:xfrm>
          <a:prstGeom prst="straightConnector1">
            <a:avLst/>
          </a:prstGeom>
          <a:ln w="28575">
            <a:solidFill>
              <a:schemeClr val="tx1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22" name="圓角矩形 21">
            <a:extLst>
              <a:ext uri="{FF2B5EF4-FFF2-40B4-BE49-F238E27FC236}">
                <a16:creationId xmlns:a16="http://schemas.microsoft.com/office/drawing/2014/main" id="{3BCB72AE-B665-3A90-38A9-632038151578}"/>
              </a:ext>
            </a:extLst>
          </p:cNvPr>
          <p:cNvSpPr/>
          <p:nvPr/>
        </p:nvSpPr>
        <p:spPr>
          <a:xfrm>
            <a:off x="1563505" y="6423560"/>
            <a:ext cx="381628" cy="229227"/>
          </a:xfrm>
          <a:prstGeom prst="roundRect">
            <a:avLst/>
          </a:prstGeom>
          <a:noFill/>
          <a:ln w="38100">
            <a:solidFill>
              <a:schemeClr val="accent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kumimoji="1" lang="zh-TW" altLang="en-US" dirty="0">
              <a:solidFill>
                <a:schemeClr val="tx1"/>
              </a:solidFill>
            </a:endParaRPr>
          </a:p>
        </p:txBody>
      </p:sp>
      <p:sp>
        <p:nvSpPr>
          <p:cNvPr id="23" name="文字方塊 22">
            <a:extLst>
              <a:ext uri="{FF2B5EF4-FFF2-40B4-BE49-F238E27FC236}">
                <a16:creationId xmlns:a16="http://schemas.microsoft.com/office/drawing/2014/main" id="{A6C6F730-BCC8-0DE4-DA77-FCA5960C49C4}"/>
              </a:ext>
            </a:extLst>
          </p:cNvPr>
          <p:cNvSpPr txBox="1"/>
          <p:nvPr/>
        </p:nvSpPr>
        <p:spPr>
          <a:xfrm>
            <a:off x="1878573" y="6390354"/>
            <a:ext cx="1839962" cy="307777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kumimoji="1" lang="en-US" altLang="zh-TW" sz="1400" dirty="0"/>
              <a:t>Word embeddings</a:t>
            </a:r>
            <a:endParaRPr kumimoji="1" lang="zh-TW" altLang="en-US" sz="1400" dirty="0"/>
          </a:p>
        </p:txBody>
      </p:sp>
      <mc:AlternateContent xmlns:mc="http://schemas.openxmlformats.org/markup-compatibility/2006" xmlns:a14="http://schemas.microsoft.com/office/drawing/2010/main">
        <mc:Choice Requires="a14">
          <p:sp>
            <p:nvSpPr>
              <p:cNvPr id="25" name="文字方塊 24">
                <a:extLst>
                  <a:ext uri="{FF2B5EF4-FFF2-40B4-BE49-F238E27FC236}">
                    <a16:creationId xmlns:a16="http://schemas.microsoft.com/office/drawing/2014/main" id="{15AFD019-80A5-86B6-961D-076B447FE072}"/>
                  </a:ext>
                </a:extLst>
              </p:cNvPr>
              <p:cNvSpPr txBox="1"/>
              <p:nvPr/>
            </p:nvSpPr>
            <p:spPr>
              <a:xfrm>
                <a:off x="1883751" y="3808794"/>
                <a:ext cx="454165" cy="369332"/>
              </a:xfrm>
              <a:prstGeom prst="rect">
                <a:avLst/>
              </a:prstGeom>
              <a:noFill/>
            </p:spPr>
            <p:txBody>
              <a:bodyPr wrap="square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sSub>
                        <m:sSubPr>
                          <m:ctrlPr>
                            <a:rPr lang="zh-TW" altLang="zh-TW" sz="1800" i="1" smtClean="0">
                              <a:solidFill>
                                <a:schemeClr val="tx1"/>
                              </a:solidFill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a:rPr lang="en-US" altLang="zh-TW" sz="1800" i="1">
                              <a:solidFill>
                                <a:schemeClr val="tx1"/>
                              </a:solidFill>
                              <a:latin typeface="Cambria Math" panose="02040503050406030204" pitchFamily="18" charset="0"/>
                            </a:rPr>
                            <m:t>h</m:t>
                          </m:r>
                        </m:e>
                        <m:sub>
                          <m:r>
                            <a:rPr lang="en-US" altLang="zh-TW" sz="1800" b="0" i="1" smtClean="0">
                              <a:solidFill>
                                <a:schemeClr val="tx1"/>
                              </a:solidFill>
                              <a:latin typeface="Cambria Math" panose="02040503050406030204" pitchFamily="18" charset="0"/>
                            </a:rPr>
                            <m:t>1</m:t>
                          </m:r>
                        </m:sub>
                      </m:sSub>
                    </m:oMath>
                  </m:oMathPara>
                </a14:m>
                <a:endParaRPr lang="zh-TW" altLang="en-US" dirty="0"/>
              </a:p>
            </p:txBody>
          </p:sp>
        </mc:Choice>
        <mc:Fallback xmlns="">
          <p:sp>
            <p:nvSpPr>
              <p:cNvPr id="25" name="文字方塊 24">
                <a:extLst>
                  <a:ext uri="{FF2B5EF4-FFF2-40B4-BE49-F238E27FC236}">
                    <a16:creationId xmlns:a16="http://schemas.microsoft.com/office/drawing/2014/main" id="{15AFD019-80A5-86B6-961D-076B447FE072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1883751" y="3808794"/>
                <a:ext cx="454165" cy="369332"/>
              </a:xfrm>
              <a:prstGeom prst="rect">
                <a:avLst/>
              </a:prstGeom>
              <a:blipFill>
                <a:blip r:embed="rId8"/>
                <a:stretch>
                  <a:fillRect b="-3448"/>
                </a:stretch>
              </a:blipFill>
            </p:spPr>
            <p:txBody>
              <a:bodyPr/>
              <a:lstStyle/>
              <a:p>
                <a:r>
                  <a:rPr lang="zh-TW" altLang="en-US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 xmlns:a14="http://schemas.microsoft.com/office/drawing/2010/main">
        <mc:Choice Requires="a14">
          <p:sp>
            <p:nvSpPr>
              <p:cNvPr id="27" name="文字方塊 26">
                <a:extLst>
                  <a:ext uri="{FF2B5EF4-FFF2-40B4-BE49-F238E27FC236}">
                    <a16:creationId xmlns:a16="http://schemas.microsoft.com/office/drawing/2014/main" id="{774BC75C-EEF7-CEC5-4919-CAC1C4FEB363}"/>
                  </a:ext>
                </a:extLst>
              </p:cNvPr>
              <p:cNvSpPr txBox="1"/>
              <p:nvPr/>
            </p:nvSpPr>
            <p:spPr>
              <a:xfrm>
                <a:off x="3241515" y="3808794"/>
                <a:ext cx="454165" cy="369332"/>
              </a:xfrm>
              <a:prstGeom prst="rect">
                <a:avLst/>
              </a:prstGeom>
              <a:noFill/>
            </p:spPr>
            <p:txBody>
              <a:bodyPr wrap="square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sSub>
                        <m:sSubPr>
                          <m:ctrlPr>
                            <a:rPr lang="zh-TW" altLang="zh-TW" sz="1800" i="1" smtClean="0">
                              <a:solidFill>
                                <a:schemeClr val="tx1"/>
                              </a:solidFill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a:rPr lang="en-US" altLang="zh-TW" sz="1800" i="1">
                              <a:solidFill>
                                <a:schemeClr val="tx1"/>
                              </a:solidFill>
                              <a:latin typeface="Cambria Math" panose="02040503050406030204" pitchFamily="18" charset="0"/>
                            </a:rPr>
                            <m:t>h</m:t>
                          </m:r>
                        </m:e>
                        <m:sub>
                          <m:r>
                            <a:rPr lang="en-US" altLang="zh-TW" sz="1800" b="0" i="1" smtClean="0">
                              <a:solidFill>
                                <a:schemeClr val="tx1"/>
                              </a:solidFill>
                              <a:latin typeface="Cambria Math" panose="02040503050406030204" pitchFamily="18" charset="0"/>
                            </a:rPr>
                            <m:t>2</m:t>
                          </m:r>
                        </m:sub>
                      </m:sSub>
                    </m:oMath>
                  </m:oMathPara>
                </a14:m>
                <a:endParaRPr lang="zh-TW" altLang="en-US" dirty="0"/>
              </a:p>
            </p:txBody>
          </p:sp>
        </mc:Choice>
        <mc:Fallback xmlns="">
          <p:sp>
            <p:nvSpPr>
              <p:cNvPr id="27" name="文字方塊 26">
                <a:extLst>
                  <a:ext uri="{FF2B5EF4-FFF2-40B4-BE49-F238E27FC236}">
                    <a16:creationId xmlns:a16="http://schemas.microsoft.com/office/drawing/2014/main" id="{774BC75C-EEF7-CEC5-4919-CAC1C4FEB363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3241515" y="3808794"/>
                <a:ext cx="454165" cy="369332"/>
              </a:xfrm>
              <a:prstGeom prst="rect">
                <a:avLst/>
              </a:prstGeom>
              <a:blipFill>
                <a:blip r:embed="rId9"/>
                <a:stretch>
                  <a:fillRect b="-3448"/>
                </a:stretch>
              </a:blipFill>
            </p:spPr>
            <p:txBody>
              <a:bodyPr/>
              <a:lstStyle/>
              <a:p>
                <a:r>
                  <a:rPr lang="zh-TW" altLang="en-US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 xmlns:a14="http://schemas.microsoft.com/office/drawing/2010/main">
        <mc:Choice Requires="a14">
          <p:sp>
            <p:nvSpPr>
              <p:cNvPr id="28" name="文字方塊 27">
                <a:extLst>
                  <a:ext uri="{FF2B5EF4-FFF2-40B4-BE49-F238E27FC236}">
                    <a16:creationId xmlns:a16="http://schemas.microsoft.com/office/drawing/2014/main" id="{99989ED1-753D-4460-DDA1-83C4D06A2F39}"/>
                  </a:ext>
                </a:extLst>
              </p:cNvPr>
              <p:cNvSpPr txBox="1"/>
              <p:nvPr/>
            </p:nvSpPr>
            <p:spPr>
              <a:xfrm>
                <a:off x="653142" y="1509513"/>
                <a:ext cx="2470909" cy="307777"/>
              </a:xfrm>
              <a:prstGeom prst="rect">
                <a:avLst/>
              </a:prstGeom>
              <a:noFill/>
            </p:spPr>
            <p:txBody>
              <a:bodyPr wrap="square" rtlCol="0">
                <a:spAutoFit/>
              </a:bodyPr>
              <a:lstStyle/>
              <a:p>
                <a:pPr algn="ctr"/>
                <a:r>
                  <a:rPr kumimoji="1" lang="en-US" altLang="zh-TW" sz="1400" dirty="0"/>
                  <a:t>*</a:t>
                </a:r>
                <a:r>
                  <a:rPr kumimoji="1" lang="zh-TW" altLang="en-US" sz="1400" dirty="0"/>
                  <a:t>本頁的</a:t>
                </a:r>
                <a:r>
                  <a:rPr kumimoji="1" lang="en-US" altLang="zh-TW" sz="1400" dirty="0"/>
                  <a:t>RNN</a:t>
                </a:r>
                <a:r>
                  <a:rPr kumimoji="1" lang="zh-TW" altLang="en-US" sz="1400" dirty="0"/>
                  <a:t>不包含輸出層</a:t>
                </a:r>
                <a14:m>
                  <m:oMath xmlns:m="http://schemas.openxmlformats.org/officeDocument/2006/math">
                    <m:r>
                      <a:rPr lang="en-US" altLang="zh-TW" sz="1400" b="0" i="1" smtClean="0">
                        <a:latin typeface="Cambria Math" panose="02040503050406030204" pitchFamily="18" charset="0"/>
                      </a:rPr>
                      <m:t>𝑉</m:t>
                    </m:r>
                  </m:oMath>
                </a14:m>
                <a:endParaRPr lang="zh-TW" altLang="en-US" sz="1400" dirty="0"/>
              </a:p>
            </p:txBody>
          </p:sp>
        </mc:Choice>
        <mc:Fallback xmlns="">
          <p:sp>
            <p:nvSpPr>
              <p:cNvPr id="28" name="文字方塊 27">
                <a:extLst>
                  <a:ext uri="{FF2B5EF4-FFF2-40B4-BE49-F238E27FC236}">
                    <a16:creationId xmlns:a16="http://schemas.microsoft.com/office/drawing/2014/main" id="{99989ED1-753D-4460-DDA1-83C4D06A2F39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653142" y="1509513"/>
                <a:ext cx="2470909" cy="307777"/>
              </a:xfrm>
              <a:prstGeom prst="rect">
                <a:avLst/>
              </a:prstGeom>
              <a:blipFill>
                <a:blip r:embed="rId10"/>
                <a:stretch>
                  <a:fillRect t="-4000" b="-20000"/>
                </a:stretch>
              </a:blipFill>
            </p:spPr>
            <p:txBody>
              <a:bodyPr/>
              <a:lstStyle/>
              <a:p>
                <a:r>
                  <a:rPr lang="zh-TW" altLang="en-US">
                    <a:noFill/>
                  </a:rPr>
                  <a:t> </a:t>
                </a:r>
              </a:p>
            </p:txBody>
          </p:sp>
        </mc:Fallback>
      </mc:AlternateContent>
      <p:sp>
        <p:nvSpPr>
          <p:cNvPr id="29" name="文字方塊 28">
            <a:extLst>
              <a:ext uri="{FF2B5EF4-FFF2-40B4-BE49-F238E27FC236}">
                <a16:creationId xmlns:a16="http://schemas.microsoft.com/office/drawing/2014/main" id="{8FF51323-929F-C653-8DF8-8B33CC851110}"/>
              </a:ext>
            </a:extLst>
          </p:cNvPr>
          <p:cNvSpPr txBox="1"/>
          <p:nvPr/>
        </p:nvSpPr>
        <p:spPr>
          <a:xfrm>
            <a:off x="2037741" y="2077071"/>
            <a:ext cx="1521625" cy="307777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kumimoji="1" lang="en-US" altLang="zh-TW" sz="1400" dirty="0"/>
              <a:t>(1, </a:t>
            </a:r>
            <a:r>
              <a:rPr kumimoji="1" lang="en-US" altLang="zh-TW" sz="1400" dirty="0" err="1"/>
              <a:t>hidden_size</a:t>
            </a:r>
            <a:r>
              <a:rPr kumimoji="1" lang="en-US" altLang="zh-TW" sz="1400" dirty="0"/>
              <a:t>)</a:t>
            </a:r>
            <a:endParaRPr kumimoji="1" lang="zh-TW" altLang="en-US" sz="1400" dirty="0"/>
          </a:p>
        </p:txBody>
      </p:sp>
      <p:sp>
        <p:nvSpPr>
          <p:cNvPr id="30" name="文字方塊 29">
            <a:extLst>
              <a:ext uri="{FF2B5EF4-FFF2-40B4-BE49-F238E27FC236}">
                <a16:creationId xmlns:a16="http://schemas.microsoft.com/office/drawing/2014/main" id="{4DDA4593-CCEC-BA37-2161-5E283A6CD22A}"/>
              </a:ext>
            </a:extLst>
          </p:cNvPr>
          <p:cNvSpPr txBox="1"/>
          <p:nvPr/>
        </p:nvSpPr>
        <p:spPr>
          <a:xfrm>
            <a:off x="655882" y="2078057"/>
            <a:ext cx="1521625" cy="307777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kumimoji="1" lang="en-US" altLang="zh-TW" sz="1400" dirty="0"/>
              <a:t>(1, </a:t>
            </a:r>
            <a:r>
              <a:rPr kumimoji="1" lang="en-US" altLang="zh-TW" sz="1400" dirty="0" err="1"/>
              <a:t>hidden_size</a:t>
            </a:r>
            <a:r>
              <a:rPr kumimoji="1" lang="en-US" altLang="zh-TW" sz="1400" dirty="0"/>
              <a:t>)</a:t>
            </a:r>
            <a:endParaRPr kumimoji="1" lang="zh-TW" altLang="en-US" sz="1400" dirty="0"/>
          </a:p>
        </p:txBody>
      </p:sp>
      <p:sp>
        <p:nvSpPr>
          <p:cNvPr id="31" name="文字方塊 30">
            <a:extLst>
              <a:ext uri="{FF2B5EF4-FFF2-40B4-BE49-F238E27FC236}">
                <a16:creationId xmlns:a16="http://schemas.microsoft.com/office/drawing/2014/main" id="{AD4420E8-C43F-C5D9-727D-B484E5B01716}"/>
              </a:ext>
            </a:extLst>
          </p:cNvPr>
          <p:cNvSpPr txBox="1"/>
          <p:nvPr/>
        </p:nvSpPr>
        <p:spPr>
          <a:xfrm>
            <a:off x="6287811" y="3275111"/>
            <a:ext cx="1089210" cy="307777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kumimoji="1" lang="en-US" altLang="zh-TW" sz="1400" b="1" dirty="0" err="1">
                <a:solidFill>
                  <a:schemeClr val="accent6"/>
                </a:solidFill>
              </a:rPr>
              <a:t>Softmax</a:t>
            </a:r>
            <a:endParaRPr kumimoji="1" lang="zh-TW" altLang="en-US" sz="1400" b="1" dirty="0">
              <a:solidFill>
                <a:schemeClr val="accent6"/>
              </a:solidFill>
            </a:endParaRPr>
          </a:p>
        </p:txBody>
      </p:sp>
    </p:spTree>
    <p:extLst>
      <p:ext uri="{BB962C8B-B14F-4D97-AF65-F5344CB8AC3E}">
        <p14:creationId xmlns:p14="http://schemas.microsoft.com/office/powerpoint/2010/main" val="360317895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7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9" fill="hold">
                      <p:stCondLst>
                        <p:cond delay="indefinite"/>
                      </p:stCondLst>
                      <p:childTnLst>
                        <p:par>
                          <p:cTn id="10" fill="hold">
                            <p:stCondLst>
                              <p:cond delay="0"/>
                            </p:stCondLst>
                            <p:childTnLst>
                              <p:par>
                                <p:cTn id="11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3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5" fill="hold">
                      <p:stCondLst>
                        <p:cond delay="indefinite"/>
                      </p:stCondLst>
                      <p:childTnLst>
                        <p:par>
                          <p:cTn id="16" fill="hold">
                            <p:stCondLst>
                              <p:cond delay="0"/>
                            </p:stCondLst>
                            <p:childTnLst>
                              <p:par>
                                <p:cTn id="17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9" fill="hold">
                      <p:stCondLst>
                        <p:cond delay="indefinite"/>
                      </p:stCondLst>
                      <p:childTnLst>
                        <p:par>
                          <p:cTn id="20" fill="hold">
                            <p:stCondLst>
                              <p:cond delay="0"/>
                            </p:stCondLst>
                            <p:childTnLst>
                              <p:par>
                                <p:cTn id="21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23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25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27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9" fill="hold">
                      <p:stCondLst>
                        <p:cond delay="indefinite"/>
                      </p:stCondLst>
                      <p:childTnLst>
                        <p:par>
                          <p:cTn id="30" fill="hold">
                            <p:stCondLst>
                              <p:cond delay="0"/>
                            </p:stCondLst>
                            <p:childTnLst>
                              <p:par>
                                <p:cTn id="31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33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5" fill="hold">
                      <p:stCondLst>
                        <p:cond delay="indefinite"/>
                      </p:stCondLst>
                      <p:childTnLst>
                        <p:par>
                          <p:cTn id="36" fill="hold">
                            <p:stCondLst>
                              <p:cond delay="0"/>
                            </p:stCondLst>
                            <p:childTnLst>
                              <p:par>
                                <p:cTn id="37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9" fill="hold">
                      <p:stCondLst>
                        <p:cond delay="indefinite"/>
                      </p:stCondLst>
                      <p:childTnLst>
                        <p:par>
                          <p:cTn id="40" fill="hold">
                            <p:stCondLst>
                              <p:cond delay="0"/>
                            </p:stCondLst>
                            <p:childTnLst>
                              <p:par>
                                <p:cTn id="41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43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45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47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9" fill="hold">
                      <p:stCondLst>
                        <p:cond delay="indefinite"/>
                      </p:stCondLst>
                      <p:childTnLst>
                        <p:par>
                          <p:cTn id="50" fill="hold">
                            <p:stCondLst>
                              <p:cond delay="0"/>
                            </p:stCondLst>
                            <p:childTnLst>
                              <p:par>
                                <p:cTn id="51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53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55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57" fill="hold">
                      <p:stCondLst>
                        <p:cond delay="indefinite"/>
                      </p:stCondLst>
                      <p:childTnLst>
                        <p:par>
                          <p:cTn id="58" fill="hold">
                            <p:stCondLst>
                              <p:cond delay="0"/>
                            </p:stCondLst>
                            <p:childTnLst>
                              <p:par>
                                <p:cTn id="59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61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63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65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67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69" fill="hold">
                      <p:stCondLst>
                        <p:cond delay="indefinite"/>
                      </p:stCondLst>
                      <p:childTnLst>
                        <p:par>
                          <p:cTn id="70" fill="hold">
                            <p:stCondLst>
                              <p:cond delay="0"/>
                            </p:stCondLst>
                            <p:childTnLst>
                              <p:par>
                                <p:cTn id="71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7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73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7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75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7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77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7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79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8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81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8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83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8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85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8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87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8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89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9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6" grpId="0" animBg="1"/>
      <p:bldP spid="7" grpId="0" animBg="1"/>
      <p:bldP spid="8" grpId="0" animBg="1"/>
      <p:bldP spid="36" grpId="0" animBg="1"/>
      <p:bldP spid="34" grpId="0" animBg="1"/>
      <p:bldP spid="39" grpId="0"/>
      <p:bldP spid="40" grpId="0" animBg="1"/>
      <p:bldP spid="41" grpId="0"/>
      <p:bldP spid="45" grpId="0"/>
      <p:bldP spid="46" grpId="0"/>
      <p:bldP spid="53" grpId="0" animBg="1"/>
      <p:bldP spid="54" grpId="0"/>
      <p:bldP spid="55" grpId="0"/>
      <p:bldP spid="56" grpId="0"/>
      <p:bldP spid="13" grpId="0" animBg="1"/>
      <p:bldP spid="18" grpId="0" animBg="1"/>
      <p:bldP spid="25" grpId="0"/>
      <p:bldP spid="27" grpId="0"/>
      <p:bldP spid="29" grpId="0"/>
      <p:bldP spid="30" grpId="0"/>
      <p:bldP spid="31" grpId="0"/>
    </p:bldLst>
  </p:timing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C440B5A0-59BC-5F33-B5BF-8A8A5008F4B8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標題 1">
            <a:extLst>
              <a:ext uri="{FF2B5EF4-FFF2-40B4-BE49-F238E27FC236}">
                <a16:creationId xmlns:a16="http://schemas.microsoft.com/office/drawing/2014/main" id="{947EE2BE-503A-E20D-3BA8-EF4AA3EFFED2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>
            <a:noAutofit/>
          </a:bodyPr>
          <a:lstStyle/>
          <a:p>
            <a:r>
              <a:rPr lang="en-US" altLang="zh-TW" sz="4000" dirty="0">
                <a:ea typeface="新細明體"/>
                <a:cs typeface="Calibri Light"/>
              </a:rPr>
              <a:t>Basic Pipeline of Natural Language Processing</a:t>
            </a:r>
            <a:endParaRPr lang="zh-TW" altLang="en-US" sz="2000" dirty="0">
              <a:ea typeface="新細明體"/>
              <a:cs typeface="Calibri Light"/>
            </a:endParaRPr>
          </a:p>
        </p:txBody>
      </p:sp>
      <p:sp>
        <p:nvSpPr>
          <p:cNvPr id="5" name="投影片編號版面配置區 4">
            <a:extLst>
              <a:ext uri="{FF2B5EF4-FFF2-40B4-BE49-F238E27FC236}">
                <a16:creationId xmlns:a16="http://schemas.microsoft.com/office/drawing/2014/main" id="{0B0628AC-3C2C-248F-B32F-158CA66BFBCB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6113E31D-E2AB-40D1-8B51-AFA5AFEF393A}" type="slidenum">
              <a:rPr lang="en-US" dirty="0"/>
              <a:t>7</a:t>
            </a:fld>
            <a:endParaRPr lang="zh-TW" altLang="en-US"/>
          </a:p>
        </p:txBody>
      </p:sp>
      <p:sp>
        <p:nvSpPr>
          <p:cNvPr id="8" name="圓角矩形 7">
            <a:extLst>
              <a:ext uri="{FF2B5EF4-FFF2-40B4-BE49-F238E27FC236}">
                <a16:creationId xmlns:a16="http://schemas.microsoft.com/office/drawing/2014/main" id="{32AC537B-E7AC-6AB1-CD93-A7FDA1DD8BB8}"/>
              </a:ext>
            </a:extLst>
          </p:cNvPr>
          <p:cNvSpPr/>
          <p:nvPr/>
        </p:nvSpPr>
        <p:spPr>
          <a:xfrm>
            <a:off x="4459059" y="2018576"/>
            <a:ext cx="3239146" cy="1033415"/>
          </a:xfrm>
          <a:prstGeom prst="roundRect">
            <a:avLst/>
          </a:prstGeom>
          <a:noFill/>
          <a:ln w="38100">
            <a:solidFill>
              <a:srgbClr val="FF0000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kumimoji="1" lang="en-US" altLang="zh-TW" sz="2000" b="1" dirty="0">
                <a:solidFill>
                  <a:schemeClr val="tx1"/>
                </a:solidFill>
              </a:rPr>
              <a:t>Build the vocabulary</a:t>
            </a:r>
            <a:endParaRPr kumimoji="1" lang="zh-TW" altLang="en-US" sz="2000" b="1" dirty="0">
              <a:solidFill>
                <a:schemeClr val="tx1"/>
              </a:solidFill>
            </a:endParaRPr>
          </a:p>
        </p:txBody>
      </p:sp>
      <p:sp>
        <p:nvSpPr>
          <p:cNvPr id="9" name="圓角矩形 8">
            <a:extLst>
              <a:ext uri="{FF2B5EF4-FFF2-40B4-BE49-F238E27FC236}">
                <a16:creationId xmlns:a16="http://schemas.microsoft.com/office/drawing/2014/main" id="{7530C24F-75F0-4E4A-A3D5-574766305F31}"/>
              </a:ext>
            </a:extLst>
          </p:cNvPr>
          <p:cNvSpPr/>
          <p:nvPr/>
        </p:nvSpPr>
        <p:spPr>
          <a:xfrm>
            <a:off x="4476427" y="3636653"/>
            <a:ext cx="3239146" cy="1033415"/>
          </a:xfrm>
          <a:prstGeom prst="roundRect">
            <a:avLst/>
          </a:prstGeom>
          <a:noFill/>
          <a:ln w="28575">
            <a:solidFill>
              <a:schemeClr val="bg1">
                <a:lumMod val="50000"/>
              </a:schemeClr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kumimoji="1" lang="en-US" altLang="zh-TW" sz="2000" b="1" dirty="0">
                <a:solidFill>
                  <a:schemeClr val="tx1"/>
                </a:solidFill>
              </a:rPr>
              <a:t>Learn the representations</a:t>
            </a:r>
          </a:p>
          <a:p>
            <a:pPr algn="ctr"/>
            <a:r>
              <a:rPr kumimoji="1" lang="en-US" altLang="zh-TW" sz="2000" b="1" dirty="0">
                <a:solidFill>
                  <a:schemeClr val="tx1"/>
                </a:solidFill>
              </a:rPr>
              <a:t>(Training)</a:t>
            </a:r>
            <a:endParaRPr kumimoji="1" lang="zh-TW" altLang="en-US" sz="2000" b="1" dirty="0">
              <a:solidFill>
                <a:schemeClr val="tx1"/>
              </a:solidFill>
            </a:endParaRPr>
          </a:p>
        </p:txBody>
      </p:sp>
      <p:sp>
        <p:nvSpPr>
          <p:cNvPr id="10" name="圓角矩形 9">
            <a:extLst>
              <a:ext uri="{FF2B5EF4-FFF2-40B4-BE49-F238E27FC236}">
                <a16:creationId xmlns:a16="http://schemas.microsoft.com/office/drawing/2014/main" id="{741EEA33-9443-9466-3E45-3A6F98971455}"/>
              </a:ext>
            </a:extLst>
          </p:cNvPr>
          <p:cNvSpPr/>
          <p:nvPr/>
        </p:nvSpPr>
        <p:spPr>
          <a:xfrm>
            <a:off x="4459059" y="5254730"/>
            <a:ext cx="3239146" cy="1033415"/>
          </a:xfrm>
          <a:prstGeom prst="roundRect">
            <a:avLst/>
          </a:prstGeom>
          <a:noFill/>
          <a:ln w="28575">
            <a:solidFill>
              <a:schemeClr val="bg1">
                <a:lumMod val="50000"/>
              </a:schemeClr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kumimoji="1" lang="en-US" altLang="zh-TW" sz="2000" b="1" dirty="0">
                <a:solidFill>
                  <a:schemeClr val="tx1"/>
                </a:solidFill>
              </a:rPr>
              <a:t>Perform predictions</a:t>
            </a:r>
          </a:p>
          <a:p>
            <a:pPr algn="ctr"/>
            <a:r>
              <a:rPr kumimoji="1" lang="en-US" altLang="zh-TW" sz="2000" b="1" dirty="0">
                <a:solidFill>
                  <a:schemeClr val="tx1"/>
                </a:solidFill>
              </a:rPr>
              <a:t>(Testing)</a:t>
            </a:r>
            <a:endParaRPr kumimoji="1" lang="zh-TW" altLang="en-US" sz="2000" b="1" dirty="0">
              <a:solidFill>
                <a:schemeClr val="tx1"/>
              </a:solidFill>
            </a:endParaRPr>
          </a:p>
        </p:txBody>
      </p:sp>
      <p:sp>
        <p:nvSpPr>
          <p:cNvPr id="11" name="向右箭號 10">
            <a:extLst>
              <a:ext uri="{FF2B5EF4-FFF2-40B4-BE49-F238E27FC236}">
                <a16:creationId xmlns:a16="http://schemas.microsoft.com/office/drawing/2014/main" id="{94B75ED1-CBB5-0197-939B-8ABF7927BBBA}"/>
              </a:ext>
            </a:extLst>
          </p:cNvPr>
          <p:cNvSpPr/>
          <p:nvPr/>
        </p:nvSpPr>
        <p:spPr>
          <a:xfrm rot="5400000">
            <a:off x="6001250" y="3133896"/>
            <a:ext cx="250460" cy="358947"/>
          </a:xfrm>
          <a:prstGeom prst="rightArrow">
            <a:avLst/>
          </a:prstGeom>
          <a:solidFill>
            <a:srgbClr val="0070C0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kumimoji="1" lang="zh-TW" altLang="en-US">
              <a:solidFill>
                <a:srgbClr val="0070C0"/>
              </a:solidFill>
            </a:endParaRPr>
          </a:p>
        </p:txBody>
      </p:sp>
      <p:sp>
        <p:nvSpPr>
          <p:cNvPr id="12" name="向右箭號 11">
            <a:extLst>
              <a:ext uri="{FF2B5EF4-FFF2-40B4-BE49-F238E27FC236}">
                <a16:creationId xmlns:a16="http://schemas.microsoft.com/office/drawing/2014/main" id="{92E56770-096D-8A53-2F71-3871746D250B}"/>
              </a:ext>
            </a:extLst>
          </p:cNvPr>
          <p:cNvSpPr/>
          <p:nvPr/>
        </p:nvSpPr>
        <p:spPr>
          <a:xfrm rot="5400000">
            <a:off x="6001249" y="4782926"/>
            <a:ext cx="250460" cy="358947"/>
          </a:xfrm>
          <a:prstGeom prst="rightArrow">
            <a:avLst/>
          </a:prstGeom>
          <a:solidFill>
            <a:srgbClr val="0070C0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kumimoji="1" lang="zh-TW" altLang="en-US">
              <a:solidFill>
                <a:schemeClr val="tx1"/>
              </a:solidFill>
            </a:endParaRPr>
          </a:p>
        </p:txBody>
      </p:sp>
    </p:spTree>
    <p:extLst>
      <p:ext uri="{BB962C8B-B14F-4D97-AF65-F5344CB8AC3E}">
        <p14:creationId xmlns:p14="http://schemas.microsoft.com/office/powerpoint/2010/main" val="1866852829"/>
      </p:ext>
    </p:extLst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標題 1">
            <a:extLst>
              <a:ext uri="{FF2B5EF4-FFF2-40B4-BE49-F238E27FC236}">
                <a16:creationId xmlns:a16="http://schemas.microsoft.com/office/drawing/2014/main" id="{2E54DC94-E1A1-54D5-C3B9-0BB3AD95E375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kumimoji="1" lang="en-US" altLang="zh-TW" dirty="0"/>
              <a:t>[Recap] How to build the vocabulary?</a:t>
            </a:r>
            <a:endParaRPr kumimoji="1" lang="zh-TW" altLang="en-US" dirty="0"/>
          </a:p>
        </p:txBody>
      </p:sp>
      <p:sp>
        <p:nvSpPr>
          <p:cNvPr id="3" name="內容版面配置區 2">
            <a:extLst>
              <a:ext uri="{FF2B5EF4-FFF2-40B4-BE49-F238E27FC236}">
                <a16:creationId xmlns:a16="http://schemas.microsoft.com/office/drawing/2014/main" id="{C1DB5A7A-CB21-463D-1701-F684343B8FC5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1097280" y="1742864"/>
            <a:ext cx="10058400" cy="1320376"/>
          </a:xfrm>
        </p:spPr>
        <p:txBody>
          <a:bodyPr>
            <a:normAutofit/>
          </a:bodyPr>
          <a:lstStyle/>
          <a:p>
            <a:pPr>
              <a:buClr>
                <a:schemeClr val="tx1"/>
              </a:buClr>
              <a:buSzPct val="75000"/>
              <a:buFont typeface="Arial" panose="020B0604020202020204" pitchFamily="34" charset="0"/>
              <a:buChar char="•"/>
            </a:pPr>
            <a:r>
              <a:rPr kumimoji="1" lang="en-US" altLang="zh-TW" sz="2800" dirty="0"/>
              <a:t> Segment words based on delimiters (e.g., white spaces).</a:t>
            </a:r>
          </a:p>
          <a:p>
            <a:pPr>
              <a:buClr>
                <a:schemeClr val="tx1"/>
              </a:buClr>
              <a:buSzPct val="75000"/>
              <a:buFont typeface="Arial" panose="020B0604020202020204" pitchFamily="34" charset="0"/>
              <a:buChar char="•"/>
            </a:pPr>
            <a:r>
              <a:rPr kumimoji="1" lang="en-US" altLang="zh-TW" sz="2800" dirty="0"/>
              <a:t> Then we can collect the words from training corpora.</a:t>
            </a:r>
            <a:endParaRPr kumimoji="1" lang="zh-TW" altLang="en-US" sz="2800" dirty="0"/>
          </a:p>
        </p:txBody>
      </p:sp>
      <p:sp>
        <p:nvSpPr>
          <p:cNvPr id="4" name="投影片編號版面配置區 3">
            <a:extLst>
              <a:ext uri="{FF2B5EF4-FFF2-40B4-BE49-F238E27FC236}">
                <a16:creationId xmlns:a16="http://schemas.microsoft.com/office/drawing/2014/main" id="{BE442538-BA26-4DD5-A425-3C3A57711759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6113E31D-E2AB-40D1-8B51-AFA5AFEF393A}" type="slidenum">
              <a:rPr lang="en-US" smtClean="0"/>
              <a:pPr/>
              <a:t>8</a:t>
            </a:fld>
            <a:endParaRPr lang="en-US"/>
          </a:p>
        </p:txBody>
      </p:sp>
      <p:sp>
        <p:nvSpPr>
          <p:cNvPr id="6" name="剪去單一角落矩形 5">
            <a:extLst>
              <a:ext uri="{FF2B5EF4-FFF2-40B4-BE49-F238E27FC236}">
                <a16:creationId xmlns:a16="http://schemas.microsoft.com/office/drawing/2014/main" id="{4CDA2D8A-8F29-B104-5D3F-D7B260597E1B}"/>
              </a:ext>
            </a:extLst>
          </p:cNvPr>
          <p:cNvSpPr/>
          <p:nvPr/>
        </p:nvSpPr>
        <p:spPr>
          <a:xfrm>
            <a:off x="1165860" y="3636755"/>
            <a:ext cx="5200650" cy="1405890"/>
          </a:xfrm>
          <a:prstGeom prst="snip1Rect">
            <a:avLst/>
          </a:prstGeom>
          <a:noFill/>
          <a:ln>
            <a:solidFill>
              <a:schemeClr val="tx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kumimoji="1" lang="en-US" altLang="zh-TW" dirty="0">
                <a:solidFill>
                  <a:schemeClr val="tx1"/>
                </a:solidFill>
              </a:rPr>
              <a:t>I love apples. I like apples and pineapples.</a:t>
            </a:r>
            <a:endParaRPr kumimoji="1" lang="zh-TW" altLang="en-US" dirty="0">
              <a:solidFill>
                <a:schemeClr val="tx1"/>
              </a:solidFill>
            </a:endParaRPr>
          </a:p>
        </p:txBody>
      </p:sp>
      <p:sp>
        <p:nvSpPr>
          <p:cNvPr id="11" name="向右箭號 10">
            <a:extLst>
              <a:ext uri="{FF2B5EF4-FFF2-40B4-BE49-F238E27FC236}">
                <a16:creationId xmlns:a16="http://schemas.microsoft.com/office/drawing/2014/main" id="{09D2CD8D-8797-264B-2747-861454280641}"/>
              </a:ext>
            </a:extLst>
          </p:cNvPr>
          <p:cNvSpPr/>
          <p:nvPr/>
        </p:nvSpPr>
        <p:spPr>
          <a:xfrm>
            <a:off x="6721338" y="4205947"/>
            <a:ext cx="673872" cy="358947"/>
          </a:xfrm>
          <a:prstGeom prst="rightArrow">
            <a:avLst/>
          </a:prstGeom>
          <a:solidFill>
            <a:srgbClr val="0070C0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kumimoji="1" lang="zh-TW" altLang="en-US">
              <a:solidFill>
                <a:schemeClr val="tx1"/>
              </a:solidFill>
            </a:endParaRPr>
          </a:p>
        </p:txBody>
      </p:sp>
      <p:graphicFrame>
        <p:nvGraphicFramePr>
          <p:cNvPr id="13" name="表格 13">
            <a:extLst>
              <a:ext uri="{FF2B5EF4-FFF2-40B4-BE49-F238E27FC236}">
                <a16:creationId xmlns:a16="http://schemas.microsoft.com/office/drawing/2014/main" id="{A6E86E99-CC3D-0829-9102-D595FCC095BA}"/>
              </a:ext>
            </a:extLst>
          </p:cNvPr>
          <p:cNvGraphicFramePr>
            <a:graphicFrameLocks noGrp="1"/>
          </p:cNvGraphicFramePr>
          <p:nvPr/>
        </p:nvGraphicFramePr>
        <p:xfrm>
          <a:off x="7730720" y="3162410"/>
          <a:ext cx="2825750" cy="274320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1412875">
                  <a:extLst>
                    <a:ext uri="{9D8B030D-6E8A-4147-A177-3AD203B41FA5}">
                      <a16:colId xmlns:a16="http://schemas.microsoft.com/office/drawing/2014/main" val="299152187"/>
                    </a:ext>
                  </a:extLst>
                </a:gridCol>
                <a:gridCol w="1412875">
                  <a:extLst>
                    <a:ext uri="{9D8B030D-6E8A-4147-A177-3AD203B41FA5}">
                      <a16:colId xmlns:a16="http://schemas.microsoft.com/office/drawing/2014/main" val="626042458"/>
                    </a:ext>
                  </a:extLst>
                </a:gridCol>
              </a:tblGrid>
              <a:tr h="207433">
                <a:tc>
                  <a:txBody>
                    <a:bodyPr/>
                    <a:lstStyle/>
                    <a:p>
                      <a:r>
                        <a:rPr lang="en-US" altLang="zh-TW" sz="1400" dirty="0">
                          <a:solidFill>
                            <a:schemeClr val="tx1"/>
                          </a:solidFill>
                        </a:rPr>
                        <a:t>Word</a:t>
                      </a:r>
                      <a:endParaRPr lang="zh-TW" altLang="en-US" sz="1400" dirty="0">
                        <a:solidFill>
                          <a:schemeClr val="tx1"/>
                        </a:solidFill>
                      </a:endParaRPr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r>
                        <a:rPr lang="en-US" altLang="zh-TW" sz="1400" dirty="0">
                          <a:solidFill>
                            <a:schemeClr val="tx1"/>
                          </a:solidFill>
                        </a:rPr>
                        <a:t>ID</a:t>
                      </a:r>
                      <a:endParaRPr lang="zh-TW" altLang="en-US" sz="1400" dirty="0">
                        <a:solidFill>
                          <a:schemeClr val="tx1"/>
                        </a:solidFill>
                      </a:endParaRPr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592410158"/>
                  </a:ext>
                </a:extLst>
              </a:tr>
              <a:tr h="207433">
                <a:tc>
                  <a:txBody>
                    <a:bodyPr/>
                    <a:lstStyle/>
                    <a:p>
                      <a:r>
                        <a:rPr lang="en-US" altLang="zh-TW" sz="1400" dirty="0">
                          <a:solidFill>
                            <a:schemeClr val="tx1"/>
                          </a:solidFill>
                        </a:rPr>
                        <a:t>and</a:t>
                      </a:r>
                      <a:endParaRPr lang="zh-TW" altLang="en-US" sz="1400" dirty="0">
                        <a:solidFill>
                          <a:schemeClr val="tx1"/>
                        </a:solidFill>
                      </a:endParaRPr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r>
                        <a:rPr lang="en-US" altLang="zh-TW" sz="1400" dirty="0">
                          <a:solidFill>
                            <a:schemeClr val="tx1"/>
                          </a:solidFill>
                        </a:rPr>
                        <a:t>0</a:t>
                      </a:r>
                      <a:endParaRPr lang="zh-TW" altLang="en-US" sz="1400" dirty="0">
                        <a:solidFill>
                          <a:schemeClr val="tx1"/>
                        </a:solidFill>
                      </a:endParaRPr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3786072698"/>
                  </a:ext>
                </a:extLst>
              </a:tr>
              <a:tr h="207433">
                <a:tc>
                  <a:txBody>
                    <a:bodyPr/>
                    <a:lstStyle/>
                    <a:p>
                      <a:r>
                        <a:rPr lang="en-US" altLang="zh-TW" sz="1400" dirty="0">
                          <a:solidFill>
                            <a:schemeClr val="tx1"/>
                          </a:solidFill>
                        </a:rPr>
                        <a:t>apples</a:t>
                      </a:r>
                      <a:endParaRPr lang="zh-TW" altLang="en-US" sz="1400" dirty="0">
                        <a:solidFill>
                          <a:schemeClr val="tx1"/>
                        </a:solidFill>
                      </a:endParaRPr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r>
                        <a:rPr lang="en-US" altLang="zh-TW" sz="1400" dirty="0">
                          <a:solidFill>
                            <a:schemeClr val="tx1"/>
                          </a:solidFill>
                        </a:rPr>
                        <a:t>1</a:t>
                      </a:r>
                      <a:endParaRPr lang="zh-TW" altLang="en-US" sz="1400" dirty="0">
                        <a:solidFill>
                          <a:schemeClr val="tx1"/>
                        </a:solidFill>
                      </a:endParaRPr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140167199"/>
                  </a:ext>
                </a:extLst>
              </a:tr>
              <a:tr h="207433">
                <a:tc>
                  <a:txBody>
                    <a:bodyPr/>
                    <a:lstStyle/>
                    <a:p>
                      <a:r>
                        <a:rPr lang="en-US" altLang="zh-TW" sz="1400" dirty="0">
                          <a:solidFill>
                            <a:schemeClr val="tx1"/>
                          </a:solidFill>
                        </a:rPr>
                        <a:t>I</a:t>
                      </a:r>
                      <a:endParaRPr lang="zh-TW" altLang="en-US" sz="1400" dirty="0">
                        <a:solidFill>
                          <a:schemeClr val="tx1"/>
                        </a:solidFill>
                      </a:endParaRPr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r>
                        <a:rPr lang="en-US" altLang="zh-TW" sz="1400" dirty="0">
                          <a:solidFill>
                            <a:schemeClr val="tx1"/>
                          </a:solidFill>
                        </a:rPr>
                        <a:t>2</a:t>
                      </a:r>
                      <a:endParaRPr lang="zh-TW" altLang="en-US" sz="1400" dirty="0">
                        <a:solidFill>
                          <a:schemeClr val="tx1"/>
                        </a:solidFill>
                      </a:endParaRPr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3608810822"/>
                  </a:ext>
                </a:extLst>
              </a:tr>
              <a:tr h="207433">
                <a:tc>
                  <a:txBody>
                    <a:bodyPr/>
                    <a:lstStyle/>
                    <a:p>
                      <a:r>
                        <a:rPr lang="en-US" altLang="zh-TW" sz="1400" dirty="0">
                          <a:solidFill>
                            <a:schemeClr val="tx1"/>
                          </a:solidFill>
                        </a:rPr>
                        <a:t>like</a:t>
                      </a:r>
                      <a:endParaRPr lang="zh-TW" altLang="en-US" sz="1400" dirty="0">
                        <a:solidFill>
                          <a:schemeClr val="tx1"/>
                        </a:solidFill>
                      </a:endParaRPr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r>
                        <a:rPr lang="en-US" altLang="zh-TW" sz="1400" dirty="0">
                          <a:solidFill>
                            <a:schemeClr val="tx1"/>
                          </a:solidFill>
                        </a:rPr>
                        <a:t>3</a:t>
                      </a:r>
                      <a:endParaRPr lang="zh-TW" altLang="en-US" sz="1400" dirty="0">
                        <a:solidFill>
                          <a:schemeClr val="tx1"/>
                        </a:solidFill>
                      </a:endParaRPr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3613135537"/>
                  </a:ext>
                </a:extLst>
              </a:tr>
              <a:tr h="207433">
                <a:tc>
                  <a:txBody>
                    <a:bodyPr/>
                    <a:lstStyle/>
                    <a:p>
                      <a:r>
                        <a:rPr lang="en-US" altLang="zh-TW" sz="1400" dirty="0">
                          <a:solidFill>
                            <a:schemeClr val="tx1"/>
                          </a:solidFill>
                        </a:rPr>
                        <a:t>love</a:t>
                      </a:r>
                      <a:endParaRPr lang="zh-TW" altLang="en-US" sz="1400" dirty="0">
                        <a:solidFill>
                          <a:schemeClr val="tx1"/>
                        </a:solidFill>
                      </a:endParaRPr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r>
                        <a:rPr lang="en-US" altLang="zh-TW" sz="1400" dirty="0">
                          <a:solidFill>
                            <a:schemeClr val="tx1"/>
                          </a:solidFill>
                        </a:rPr>
                        <a:t>4</a:t>
                      </a:r>
                      <a:endParaRPr lang="zh-TW" altLang="en-US" sz="1400" dirty="0">
                        <a:solidFill>
                          <a:schemeClr val="tx1"/>
                        </a:solidFill>
                      </a:endParaRPr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4069905863"/>
                  </a:ext>
                </a:extLst>
              </a:tr>
              <a:tr h="207433">
                <a:tc>
                  <a:txBody>
                    <a:bodyPr/>
                    <a:lstStyle/>
                    <a:p>
                      <a:r>
                        <a:rPr lang="en-US" altLang="zh-TW" sz="1400" dirty="0">
                          <a:solidFill>
                            <a:schemeClr val="tx1"/>
                          </a:solidFill>
                        </a:rPr>
                        <a:t>pineapples</a:t>
                      </a:r>
                      <a:endParaRPr lang="zh-TW" altLang="en-US" sz="1400" dirty="0">
                        <a:solidFill>
                          <a:schemeClr val="tx1"/>
                        </a:solidFill>
                      </a:endParaRPr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r>
                        <a:rPr lang="en-US" altLang="zh-TW" sz="1400" dirty="0">
                          <a:solidFill>
                            <a:schemeClr val="tx1"/>
                          </a:solidFill>
                        </a:rPr>
                        <a:t>5</a:t>
                      </a:r>
                      <a:endParaRPr lang="zh-TW" altLang="en-US" sz="1400" dirty="0">
                        <a:solidFill>
                          <a:schemeClr val="tx1"/>
                        </a:solidFill>
                      </a:endParaRPr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2791216673"/>
                  </a:ext>
                </a:extLst>
              </a:tr>
              <a:tr h="207433">
                <a:tc>
                  <a:txBody>
                    <a:bodyPr/>
                    <a:lstStyle/>
                    <a:p>
                      <a:r>
                        <a:rPr lang="en-US" altLang="zh-TW" sz="1400" dirty="0">
                          <a:solidFill>
                            <a:schemeClr val="tx1"/>
                          </a:solidFill>
                        </a:rPr>
                        <a:t>.</a:t>
                      </a:r>
                      <a:endParaRPr lang="zh-TW" altLang="en-US" sz="1400" dirty="0">
                        <a:solidFill>
                          <a:schemeClr val="tx1"/>
                        </a:solidFill>
                      </a:endParaRPr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r>
                        <a:rPr lang="en-US" altLang="zh-TW" sz="1400" dirty="0">
                          <a:solidFill>
                            <a:schemeClr val="tx1"/>
                          </a:solidFill>
                        </a:rPr>
                        <a:t>6</a:t>
                      </a:r>
                      <a:endParaRPr lang="zh-TW" altLang="en-US" sz="1400" dirty="0">
                        <a:solidFill>
                          <a:schemeClr val="tx1"/>
                        </a:solidFill>
                      </a:endParaRPr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4173676502"/>
                  </a:ext>
                </a:extLst>
              </a:tr>
              <a:tr h="207433">
                <a:tc>
                  <a:txBody>
                    <a:bodyPr/>
                    <a:lstStyle/>
                    <a:p>
                      <a:r>
                        <a:rPr lang="en-US" altLang="zh-TW" sz="1400" dirty="0">
                          <a:solidFill>
                            <a:schemeClr val="tx1"/>
                          </a:solidFill>
                        </a:rPr>
                        <a:t>&lt;UNK&gt;</a:t>
                      </a:r>
                      <a:endParaRPr lang="zh-TW" altLang="en-US" sz="1400" dirty="0">
                        <a:solidFill>
                          <a:schemeClr val="tx1"/>
                        </a:solidFill>
                      </a:endParaRPr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r>
                        <a:rPr lang="en-US" altLang="zh-TW" sz="1400" dirty="0">
                          <a:solidFill>
                            <a:schemeClr val="tx1"/>
                          </a:solidFill>
                        </a:rPr>
                        <a:t>7</a:t>
                      </a:r>
                      <a:endParaRPr lang="zh-TW" altLang="en-US" sz="1400" dirty="0">
                        <a:solidFill>
                          <a:schemeClr val="tx1"/>
                        </a:solidFill>
                      </a:endParaRPr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2454872859"/>
                  </a:ext>
                </a:extLst>
              </a:tr>
            </a:tbl>
          </a:graphicData>
        </a:graphic>
      </p:graphicFrame>
      <p:sp>
        <p:nvSpPr>
          <p:cNvPr id="14" name="文字方塊 13">
            <a:extLst>
              <a:ext uri="{FF2B5EF4-FFF2-40B4-BE49-F238E27FC236}">
                <a16:creationId xmlns:a16="http://schemas.microsoft.com/office/drawing/2014/main" id="{04F22120-A255-47AB-723B-87FDD9B67CE4}"/>
              </a:ext>
            </a:extLst>
          </p:cNvPr>
          <p:cNvSpPr txBox="1"/>
          <p:nvPr/>
        </p:nvSpPr>
        <p:spPr>
          <a:xfrm>
            <a:off x="1165860" y="5296248"/>
            <a:ext cx="5200650" cy="646331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kumimoji="1" lang="en-US" altLang="zh-TW" dirty="0"/>
              <a:t>(You can also perform stemming / lemmatization for building the vocabulary!)</a:t>
            </a:r>
            <a:endParaRPr kumimoji="1" lang="zh-TW" altLang="en-US" dirty="0"/>
          </a:p>
        </p:txBody>
      </p:sp>
      <p:sp>
        <p:nvSpPr>
          <p:cNvPr id="15" name="文字方塊 14">
            <a:extLst>
              <a:ext uri="{FF2B5EF4-FFF2-40B4-BE49-F238E27FC236}">
                <a16:creationId xmlns:a16="http://schemas.microsoft.com/office/drawing/2014/main" id="{C1495F4E-E4FF-E306-2DB1-6CF8187143D0}"/>
              </a:ext>
            </a:extLst>
          </p:cNvPr>
          <p:cNvSpPr txBox="1"/>
          <p:nvPr/>
        </p:nvSpPr>
        <p:spPr>
          <a:xfrm>
            <a:off x="8467569" y="2781758"/>
            <a:ext cx="1352052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kumimoji="1" lang="en-US" altLang="zh-TW" dirty="0"/>
              <a:t>Vocabulary</a:t>
            </a:r>
            <a:endParaRPr kumimoji="1" lang="zh-TW" altLang="en-US" dirty="0"/>
          </a:p>
        </p:txBody>
      </p:sp>
      <p:sp>
        <p:nvSpPr>
          <p:cNvPr id="5" name="文字方塊 4">
            <a:extLst>
              <a:ext uri="{FF2B5EF4-FFF2-40B4-BE49-F238E27FC236}">
                <a16:creationId xmlns:a16="http://schemas.microsoft.com/office/drawing/2014/main" id="{B6B31E0C-FE06-F43D-3D30-22863B03A757}"/>
              </a:ext>
            </a:extLst>
          </p:cNvPr>
          <p:cNvSpPr txBox="1"/>
          <p:nvPr/>
        </p:nvSpPr>
        <p:spPr>
          <a:xfrm>
            <a:off x="7730720" y="5917040"/>
            <a:ext cx="4293640" cy="307777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kumimoji="1" lang="en-US" altLang="zh-TW" sz="1400" dirty="0"/>
              <a:t>Unknown words </a:t>
            </a:r>
            <a:r>
              <a:rPr kumimoji="1" lang="en-US" altLang="zh-TW" sz="1400" dirty="0">
                <a:solidFill>
                  <a:srgbClr val="FF0000"/>
                </a:solidFill>
              </a:rPr>
              <a:t>(not shown up in the training corpora)</a:t>
            </a:r>
            <a:endParaRPr kumimoji="1" lang="zh-TW" altLang="en-US" sz="1400" dirty="0">
              <a:solidFill>
                <a:srgbClr val="FF0000"/>
              </a:solidFill>
            </a:endParaRPr>
          </a:p>
        </p:txBody>
      </p:sp>
      <p:cxnSp>
        <p:nvCxnSpPr>
          <p:cNvPr id="8" name="肘形接點 7">
            <a:extLst>
              <a:ext uri="{FF2B5EF4-FFF2-40B4-BE49-F238E27FC236}">
                <a16:creationId xmlns:a16="http://schemas.microsoft.com/office/drawing/2014/main" id="{F6926AEB-FD0F-6D0B-D0A2-D0C3E10FA20F}"/>
              </a:ext>
            </a:extLst>
          </p:cNvPr>
          <p:cNvCxnSpPr>
            <a:cxnSpLocks/>
          </p:cNvCxnSpPr>
          <p:nvPr/>
        </p:nvCxnSpPr>
        <p:spPr>
          <a:xfrm rot="5400000">
            <a:off x="7559153" y="5922221"/>
            <a:ext cx="297415" cy="12700"/>
          </a:xfrm>
          <a:prstGeom prst="bentConnector4">
            <a:avLst>
              <a:gd name="adj1" fmla="val 1069"/>
              <a:gd name="adj2" fmla="val 2440000"/>
            </a:avLst>
          </a:prstGeom>
          <a:ln w="19050">
            <a:solidFill>
              <a:schemeClr val="tx1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</p:spTree>
    <p:extLst>
      <p:ext uri="{BB962C8B-B14F-4D97-AF65-F5344CB8AC3E}">
        <p14:creationId xmlns:p14="http://schemas.microsoft.com/office/powerpoint/2010/main" val="698068374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7" fill="hold">
                      <p:stCondLst>
                        <p:cond delay="indefinite"/>
                      </p:stCondLst>
                      <p:childTnLst>
                        <p:par>
                          <p:cTn id="8" fill="hold">
                            <p:stCondLst>
                              <p:cond delay="0"/>
                            </p:stCondLst>
                            <p:childTnLst>
                              <p:par>
                                <p:cTn id="9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1" fill="hold">
                      <p:stCondLst>
                        <p:cond delay="indefinite"/>
                      </p:stCondLst>
                      <p:childTnLst>
                        <p:par>
                          <p:cTn id="12" fill="hold">
                            <p:stCondLst>
                              <p:cond delay="0"/>
                            </p:stCondLst>
                            <p:childTnLst>
                              <p:par>
                                <p:cTn id="13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5" fill="hold">
                      <p:stCondLst>
                        <p:cond delay="indefinite"/>
                      </p:stCondLst>
                      <p:childTnLst>
                        <p:par>
                          <p:cTn id="16" fill="hold">
                            <p:stCondLst>
                              <p:cond delay="0"/>
                            </p:stCondLst>
                            <p:childTnLst>
                              <p:par>
                                <p:cTn id="17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9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21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27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9" fill="hold">
                      <p:stCondLst>
                        <p:cond delay="indefinite"/>
                      </p:stCondLst>
                      <p:childTnLst>
                        <p:par>
                          <p:cTn id="30" fill="hold">
                            <p:stCondLst>
                              <p:cond delay="0"/>
                            </p:stCondLst>
                            <p:childTnLst>
                              <p:par>
                                <p:cTn id="31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6" grpId="0" animBg="1"/>
      <p:bldP spid="11" grpId="0" animBg="1"/>
      <p:bldP spid="14" grpId="0"/>
      <p:bldP spid="15" grpId="0"/>
      <p:bldP spid="5" grpId="0"/>
    </p:bldLst>
  </p:timing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標題 1">
            <a:extLst>
              <a:ext uri="{FF2B5EF4-FFF2-40B4-BE49-F238E27FC236}">
                <a16:creationId xmlns:a16="http://schemas.microsoft.com/office/drawing/2014/main" id="{0FE9876F-FF91-913D-37AD-859B6A7120BF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kumimoji="1" lang="en" altLang="zh-TW" dirty="0"/>
              <a:t>Stemming (</a:t>
            </a:r>
            <a:r>
              <a:rPr kumimoji="1" lang="zh-TW" altLang="en-US" dirty="0"/>
              <a:t>詞幹提取</a:t>
            </a:r>
            <a:r>
              <a:rPr kumimoji="1" lang="en" altLang="zh-TW" dirty="0"/>
              <a:t>)</a:t>
            </a:r>
            <a:endParaRPr kumimoji="1" lang="zh-TW" altLang="en-US" dirty="0"/>
          </a:p>
        </p:txBody>
      </p:sp>
      <p:sp>
        <p:nvSpPr>
          <p:cNvPr id="3" name="內容版面配置區 2">
            <a:extLst>
              <a:ext uri="{FF2B5EF4-FFF2-40B4-BE49-F238E27FC236}">
                <a16:creationId xmlns:a16="http://schemas.microsoft.com/office/drawing/2014/main" id="{1D1CB5B3-3F48-6A5E-8636-18279111A802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653143" y="1845734"/>
            <a:ext cx="10918371" cy="1033416"/>
          </a:xfrm>
        </p:spPr>
        <p:txBody>
          <a:bodyPr/>
          <a:lstStyle/>
          <a:p>
            <a:pPr marL="0" indent="0">
              <a:buNone/>
            </a:pPr>
            <a:r>
              <a:rPr kumimoji="1" lang="zh-TW" altLang="en-US" dirty="0"/>
              <a:t>💡</a:t>
            </a:r>
            <a:r>
              <a:rPr kumimoji="1" lang="en" altLang="zh-TW" dirty="0"/>
              <a:t>Stemming </a:t>
            </a:r>
            <a:r>
              <a:rPr kumimoji="1" lang="zh-TW" altLang="en-US" dirty="0"/>
              <a:t>是一種文字前處理方法，</a:t>
            </a:r>
          </a:p>
          <a:p>
            <a:r>
              <a:rPr kumimoji="1" lang="zh-TW" altLang="en-US" dirty="0"/>
              <a:t>目的是把不同變化型的單字，裁切成共同字根（</a:t>
            </a:r>
            <a:r>
              <a:rPr kumimoji="1" lang="en" altLang="zh-TW" dirty="0"/>
              <a:t>stem</a:t>
            </a:r>
            <a:r>
              <a:rPr kumimoji="1" lang="zh-TW" altLang="en" dirty="0"/>
              <a:t>），</a:t>
            </a:r>
            <a:r>
              <a:rPr kumimoji="1" lang="zh-TW" altLang="en-US" dirty="0"/>
              <a:t>以減少詞彙數量。</a:t>
            </a:r>
          </a:p>
        </p:txBody>
      </p:sp>
      <p:sp>
        <p:nvSpPr>
          <p:cNvPr id="4" name="投影片編號版面配置區 3">
            <a:extLst>
              <a:ext uri="{FF2B5EF4-FFF2-40B4-BE49-F238E27FC236}">
                <a16:creationId xmlns:a16="http://schemas.microsoft.com/office/drawing/2014/main" id="{BCB0500C-ED32-2373-D762-DBB923FA34DF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6113E31D-E2AB-40D1-8B51-AFA5AFEF393A}" type="slidenum">
              <a:rPr lang="en-US" smtClean="0"/>
              <a:pPr/>
              <a:t>9</a:t>
            </a:fld>
            <a:endParaRPr lang="en-US" dirty="0"/>
          </a:p>
        </p:txBody>
      </p:sp>
      <p:graphicFrame>
        <p:nvGraphicFramePr>
          <p:cNvPr id="5" name="表格 5">
            <a:extLst>
              <a:ext uri="{FF2B5EF4-FFF2-40B4-BE49-F238E27FC236}">
                <a16:creationId xmlns:a16="http://schemas.microsoft.com/office/drawing/2014/main" id="{797F9C50-06AC-8198-AFDC-110FAE1BBCC7}"/>
              </a:ext>
            </a:extLst>
          </p:cNvPr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633493172"/>
              </p:ext>
            </p:extLst>
          </p:nvPr>
        </p:nvGraphicFramePr>
        <p:xfrm>
          <a:off x="1643529" y="3270894"/>
          <a:ext cx="8904942" cy="1415913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5701553">
                  <a:extLst>
                    <a:ext uri="{9D8B030D-6E8A-4147-A177-3AD203B41FA5}">
                      <a16:colId xmlns:a16="http://schemas.microsoft.com/office/drawing/2014/main" val="3870822281"/>
                    </a:ext>
                  </a:extLst>
                </a:gridCol>
                <a:gridCol w="3203389">
                  <a:extLst>
                    <a:ext uri="{9D8B030D-6E8A-4147-A177-3AD203B41FA5}">
                      <a16:colId xmlns:a16="http://schemas.microsoft.com/office/drawing/2014/main" val="1859656535"/>
                    </a:ext>
                  </a:extLst>
                </a:gridCol>
              </a:tblGrid>
              <a:tr h="471971">
                <a:tc>
                  <a:txBody>
                    <a:bodyPr/>
                    <a:lstStyle/>
                    <a:p>
                      <a:r>
                        <a:rPr lang="en-US" altLang="zh-TW" dirty="0"/>
                        <a:t>Words</a:t>
                      </a:r>
                      <a:endParaRPr lang="zh-TW" altLang="en-US" dirty="0"/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r>
                        <a:rPr lang="en-US" altLang="zh-TW" dirty="0"/>
                        <a:t>Stemmed results</a:t>
                      </a:r>
                      <a:endParaRPr lang="zh-TW" altLang="en-US" dirty="0"/>
                    </a:p>
                  </a:txBody>
                  <a:tcPr anchor="ctr"/>
                </a:tc>
                <a:extLst>
                  <a:ext uri="{0D108BD9-81ED-4DB2-BD59-A6C34878D82A}">
                    <a16:rowId xmlns:a16="http://schemas.microsoft.com/office/drawing/2014/main" val="3045223822"/>
                  </a:ext>
                </a:extLst>
              </a:tr>
              <a:tr h="471971">
                <a:tc>
                  <a:txBody>
                    <a:bodyPr/>
                    <a:lstStyle/>
                    <a:p>
                      <a:r>
                        <a:rPr lang="en" altLang="zh-TW" dirty="0"/>
                        <a:t>connect, connected, connecting, connection</a:t>
                      </a:r>
                      <a:endParaRPr lang="zh-TW" altLang="en-US" dirty="0"/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r>
                        <a:rPr lang="en" altLang="zh-TW" dirty="0"/>
                        <a:t>connect</a:t>
                      </a:r>
                      <a:endParaRPr lang="zh-TW" altLang="en-US" dirty="0"/>
                    </a:p>
                  </a:txBody>
                  <a:tcPr anchor="ctr"/>
                </a:tc>
                <a:extLst>
                  <a:ext uri="{0D108BD9-81ED-4DB2-BD59-A6C34878D82A}">
                    <a16:rowId xmlns:a16="http://schemas.microsoft.com/office/drawing/2014/main" val="665488683"/>
                  </a:ext>
                </a:extLst>
              </a:tr>
              <a:tr h="471971">
                <a:tc>
                  <a:txBody>
                    <a:bodyPr/>
                    <a:lstStyle/>
                    <a:p>
                      <a:r>
                        <a:rPr lang="en" altLang="zh-TW" dirty="0"/>
                        <a:t>study, studies, studied</a:t>
                      </a:r>
                      <a:endParaRPr lang="zh-TW" altLang="en-US" dirty="0"/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r>
                        <a:rPr lang="en" altLang="zh-TW" dirty="0" err="1"/>
                        <a:t>stud</a:t>
                      </a:r>
                      <a:r>
                        <a:rPr lang="en" altLang="zh-TW" dirty="0" err="1">
                          <a:solidFill>
                            <a:srgbClr val="FF0000"/>
                          </a:solidFill>
                        </a:rPr>
                        <a:t>i</a:t>
                      </a:r>
                      <a:endParaRPr lang="zh-TW" altLang="en-US" dirty="0">
                        <a:solidFill>
                          <a:srgbClr val="FF0000"/>
                        </a:solidFill>
                      </a:endParaRPr>
                    </a:p>
                  </a:txBody>
                  <a:tcPr anchor="ctr"/>
                </a:tc>
                <a:extLst>
                  <a:ext uri="{0D108BD9-81ED-4DB2-BD59-A6C34878D82A}">
                    <a16:rowId xmlns:a16="http://schemas.microsoft.com/office/drawing/2014/main" val="1266496823"/>
                  </a:ext>
                </a:extLst>
              </a:tr>
            </a:tbl>
          </a:graphicData>
        </a:graphic>
      </p:graphicFrame>
      <p:sp>
        <p:nvSpPr>
          <p:cNvPr id="6" name="文字方塊 5">
            <a:extLst>
              <a:ext uri="{FF2B5EF4-FFF2-40B4-BE49-F238E27FC236}">
                <a16:creationId xmlns:a16="http://schemas.microsoft.com/office/drawing/2014/main" id="{C016F9C4-2E83-A70B-9A4A-90652DA62D9E}"/>
              </a:ext>
            </a:extLst>
          </p:cNvPr>
          <p:cNvSpPr txBox="1"/>
          <p:nvPr/>
        </p:nvSpPr>
        <p:spPr>
          <a:xfrm>
            <a:off x="2962728" y="6046228"/>
            <a:ext cx="6299200" cy="646331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marL="285750" indent="-285750">
              <a:buFont typeface="Arial" panose="020B0604020202020204" pitchFamily="34" charset="0"/>
              <a:buChar char="•"/>
            </a:pPr>
            <a:r>
              <a:rPr kumimoji="1" lang="en" altLang="zh-TW" dirty="0"/>
              <a:t>https://</a:t>
            </a:r>
            <a:r>
              <a:rPr kumimoji="1" lang="en" altLang="zh-TW" dirty="0" err="1"/>
              <a:t>cloud.google.com</a:t>
            </a:r>
            <a:r>
              <a:rPr kumimoji="1" lang="en" altLang="zh-TW" dirty="0"/>
              <a:t>/discover/what-is-stemming</a:t>
            </a:r>
          </a:p>
          <a:p>
            <a:pPr marL="285750" indent="-285750">
              <a:buFont typeface="Arial" panose="020B0604020202020204" pitchFamily="34" charset="0"/>
              <a:buChar char="•"/>
            </a:pPr>
            <a:r>
              <a:rPr kumimoji="1" lang="en" altLang="zh-TW" dirty="0"/>
              <a:t>https://</a:t>
            </a:r>
            <a:r>
              <a:rPr kumimoji="1" lang="en" altLang="zh-TW" dirty="0" err="1"/>
              <a:t>www.nltk.org</a:t>
            </a:r>
            <a:r>
              <a:rPr kumimoji="1" lang="en" altLang="zh-TW" dirty="0"/>
              <a:t>/</a:t>
            </a:r>
            <a:r>
              <a:rPr kumimoji="1" lang="en" altLang="zh-TW" dirty="0" err="1"/>
              <a:t>howto</a:t>
            </a:r>
            <a:r>
              <a:rPr kumimoji="1" lang="en" altLang="zh-TW" dirty="0"/>
              <a:t>/</a:t>
            </a:r>
            <a:r>
              <a:rPr kumimoji="1" lang="en" altLang="zh-TW" dirty="0" err="1"/>
              <a:t>stem.html</a:t>
            </a:r>
            <a:endParaRPr kumimoji="1" lang="zh-TW" altLang="en-US" dirty="0"/>
          </a:p>
        </p:txBody>
      </p:sp>
    </p:spTree>
    <p:extLst>
      <p:ext uri="{BB962C8B-B14F-4D97-AF65-F5344CB8AC3E}">
        <p14:creationId xmlns:p14="http://schemas.microsoft.com/office/powerpoint/2010/main" val="1313782840"/>
      </p:ext>
    </p:extLst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標題 1">
            <a:extLst>
              <a:ext uri="{FF2B5EF4-FFF2-40B4-BE49-F238E27FC236}">
                <a16:creationId xmlns:a16="http://schemas.microsoft.com/office/drawing/2014/main" id="{A82FF708-9C93-E06B-4330-73283DF102EE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kumimoji="1" lang="en" altLang="zh-TW" dirty="0"/>
              <a:t>Lemmatization</a:t>
            </a:r>
            <a:r>
              <a:rPr kumimoji="1" lang="zh-TW" altLang="en-US" dirty="0"/>
              <a:t> </a:t>
            </a:r>
            <a:r>
              <a:rPr kumimoji="1" lang="en-US" altLang="zh-TW" dirty="0"/>
              <a:t>(</a:t>
            </a:r>
            <a:r>
              <a:rPr kumimoji="1" lang="zh-TW" altLang="en-US" dirty="0"/>
              <a:t>詞形還原</a:t>
            </a:r>
            <a:r>
              <a:rPr kumimoji="1" lang="en-US" altLang="zh-TW" dirty="0"/>
              <a:t>)</a:t>
            </a:r>
            <a:endParaRPr kumimoji="1" lang="zh-TW" altLang="en-US" dirty="0"/>
          </a:p>
        </p:txBody>
      </p:sp>
      <p:sp>
        <p:nvSpPr>
          <p:cNvPr id="4" name="投影片編號版面配置區 3">
            <a:extLst>
              <a:ext uri="{FF2B5EF4-FFF2-40B4-BE49-F238E27FC236}">
                <a16:creationId xmlns:a16="http://schemas.microsoft.com/office/drawing/2014/main" id="{0AD9CAE8-8767-065B-ADBF-FFE6863C7F66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6113E31D-E2AB-40D1-8B51-AFA5AFEF393A}" type="slidenum">
              <a:rPr lang="en-US" smtClean="0"/>
              <a:pPr/>
              <a:t>10</a:t>
            </a:fld>
            <a:endParaRPr lang="en-US" dirty="0"/>
          </a:p>
        </p:txBody>
      </p:sp>
      <p:sp>
        <p:nvSpPr>
          <p:cNvPr id="5" name="內容版面配置區 2">
            <a:extLst>
              <a:ext uri="{FF2B5EF4-FFF2-40B4-BE49-F238E27FC236}">
                <a16:creationId xmlns:a16="http://schemas.microsoft.com/office/drawing/2014/main" id="{856C043E-86B5-B120-F6C5-C828F61896A1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653143" y="1699622"/>
            <a:ext cx="10918371" cy="1318807"/>
          </a:xfrm>
        </p:spPr>
        <p:txBody>
          <a:bodyPr>
            <a:normAutofit/>
          </a:bodyPr>
          <a:lstStyle/>
          <a:p>
            <a:pPr marL="0" indent="0">
              <a:buNone/>
            </a:pPr>
            <a:r>
              <a:rPr kumimoji="1" lang="zh-TW" altLang="en-US" dirty="0"/>
              <a:t>💡類似於 </a:t>
            </a:r>
            <a:r>
              <a:rPr kumimoji="1" lang="en" altLang="zh-TW" dirty="0"/>
              <a:t>stemming</a:t>
            </a:r>
            <a:r>
              <a:rPr kumimoji="1" lang="zh-TW" altLang="en-US" dirty="0"/>
              <a:t>，</a:t>
            </a:r>
            <a:r>
              <a:rPr kumimoji="1" lang="en" altLang="zh-TW" dirty="0"/>
              <a:t>lemmatization</a:t>
            </a:r>
            <a:r>
              <a:rPr kumimoji="1" lang="zh-TW" altLang="en-US" dirty="0"/>
              <a:t> 也是一種文字前處理方法，</a:t>
            </a:r>
          </a:p>
          <a:p>
            <a:r>
              <a:rPr kumimoji="1" lang="zh-TW" altLang="en-US" dirty="0"/>
              <a:t>目的是把單字還原成它的字典原型</a:t>
            </a:r>
            <a:r>
              <a:rPr kumimoji="1" lang="en-US" altLang="zh-TW" dirty="0"/>
              <a:t> (</a:t>
            </a:r>
            <a:r>
              <a:rPr kumimoji="1" lang="en" altLang="zh-TW" dirty="0"/>
              <a:t>lemma</a:t>
            </a:r>
            <a:r>
              <a:rPr kumimoji="1" lang="en-US" altLang="zh-TW" dirty="0"/>
              <a:t>)</a:t>
            </a:r>
            <a:r>
              <a:rPr kumimoji="1" lang="zh-TW" altLang="en-US" dirty="0"/>
              <a:t>，把不同詞形統一成同一個基本形式。</a:t>
            </a:r>
            <a:endParaRPr kumimoji="1" lang="en-US" altLang="zh-TW" dirty="0"/>
          </a:p>
          <a:p>
            <a:r>
              <a:rPr kumimoji="1" lang="zh-TW" altLang="en-US" dirty="0"/>
              <a:t>不同於 </a:t>
            </a:r>
            <a:r>
              <a:rPr kumimoji="1" lang="en-US" altLang="zh-TW" dirty="0"/>
              <a:t>stemming</a:t>
            </a:r>
            <a:r>
              <a:rPr kumimoji="1" lang="zh-TW" altLang="en-US" dirty="0"/>
              <a:t>，</a:t>
            </a:r>
            <a:r>
              <a:rPr kumimoji="1" lang="en" altLang="zh-TW" dirty="0"/>
              <a:t> lemmatization</a:t>
            </a:r>
            <a:r>
              <a:rPr kumimoji="1" lang="zh-TW" altLang="en-US" dirty="0"/>
              <a:t> 在處理字詞時會考慮到詞性和語言規則</a:t>
            </a:r>
          </a:p>
        </p:txBody>
      </p:sp>
      <p:graphicFrame>
        <p:nvGraphicFramePr>
          <p:cNvPr id="6" name="表格 5">
            <a:extLst>
              <a:ext uri="{FF2B5EF4-FFF2-40B4-BE49-F238E27FC236}">
                <a16:creationId xmlns:a16="http://schemas.microsoft.com/office/drawing/2014/main" id="{80C1F68D-6B0A-A73A-05B5-DDA1304ACB29}"/>
              </a:ext>
            </a:extLst>
          </p:cNvPr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273570872"/>
              </p:ext>
            </p:extLst>
          </p:nvPr>
        </p:nvGraphicFramePr>
        <p:xfrm>
          <a:off x="1643529" y="3301081"/>
          <a:ext cx="8904942" cy="2831826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5701553">
                  <a:extLst>
                    <a:ext uri="{9D8B030D-6E8A-4147-A177-3AD203B41FA5}">
                      <a16:colId xmlns:a16="http://schemas.microsoft.com/office/drawing/2014/main" val="3870822281"/>
                    </a:ext>
                  </a:extLst>
                </a:gridCol>
                <a:gridCol w="3203389">
                  <a:extLst>
                    <a:ext uri="{9D8B030D-6E8A-4147-A177-3AD203B41FA5}">
                      <a16:colId xmlns:a16="http://schemas.microsoft.com/office/drawing/2014/main" val="1859656535"/>
                    </a:ext>
                  </a:extLst>
                </a:gridCol>
              </a:tblGrid>
              <a:tr h="471971">
                <a:tc>
                  <a:txBody>
                    <a:bodyPr/>
                    <a:lstStyle/>
                    <a:p>
                      <a:r>
                        <a:rPr lang="en-US" altLang="zh-TW" dirty="0"/>
                        <a:t>Words</a:t>
                      </a:r>
                      <a:endParaRPr lang="zh-TW" altLang="en-US" dirty="0"/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r>
                        <a:rPr lang="en-US" altLang="zh-TW" dirty="0"/>
                        <a:t>Lemma</a:t>
                      </a:r>
                      <a:endParaRPr lang="zh-TW" altLang="en-US" dirty="0"/>
                    </a:p>
                  </a:txBody>
                  <a:tcPr anchor="ctr"/>
                </a:tc>
                <a:extLst>
                  <a:ext uri="{0D108BD9-81ED-4DB2-BD59-A6C34878D82A}">
                    <a16:rowId xmlns:a16="http://schemas.microsoft.com/office/drawing/2014/main" val="3045223822"/>
                  </a:ext>
                </a:extLst>
              </a:tr>
              <a:tr h="471971">
                <a:tc>
                  <a:txBody>
                    <a:bodyPr/>
                    <a:lstStyle/>
                    <a:p>
                      <a:r>
                        <a:rPr lang="en" altLang="zh-TW" dirty="0"/>
                        <a:t>connect, connected, connecting, connection</a:t>
                      </a:r>
                      <a:endParaRPr lang="zh-TW" altLang="en-US" dirty="0"/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r>
                        <a:rPr lang="en" altLang="zh-TW" dirty="0"/>
                        <a:t>connect</a:t>
                      </a:r>
                      <a:endParaRPr lang="zh-TW" altLang="en-US" dirty="0"/>
                    </a:p>
                  </a:txBody>
                  <a:tcPr anchor="ctr"/>
                </a:tc>
                <a:extLst>
                  <a:ext uri="{0D108BD9-81ED-4DB2-BD59-A6C34878D82A}">
                    <a16:rowId xmlns:a16="http://schemas.microsoft.com/office/drawing/2014/main" val="665488683"/>
                  </a:ext>
                </a:extLst>
              </a:tr>
              <a:tr h="471971">
                <a:tc>
                  <a:txBody>
                    <a:bodyPr/>
                    <a:lstStyle/>
                    <a:p>
                      <a:r>
                        <a:rPr lang="en" altLang="zh-TW" dirty="0"/>
                        <a:t>study, studies, studied</a:t>
                      </a:r>
                      <a:endParaRPr lang="zh-TW" altLang="en-US" dirty="0"/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r>
                        <a:rPr lang="en" altLang="zh-TW" dirty="0"/>
                        <a:t>stud</a:t>
                      </a:r>
                      <a:r>
                        <a:rPr lang="en" altLang="zh-TW" dirty="0">
                          <a:solidFill>
                            <a:srgbClr val="FF0000"/>
                          </a:solidFill>
                        </a:rPr>
                        <a:t>y</a:t>
                      </a:r>
                      <a:endParaRPr lang="zh-TW" altLang="en-US" dirty="0">
                        <a:solidFill>
                          <a:srgbClr val="FF0000"/>
                        </a:solidFill>
                      </a:endParaRPr>
                    </a:p>
                  </a:txBody>
                  <a:tcPr anchor="ctr"/>
                </a:tc>
                <a:extLst>
                  <a:ext uri="{0D108BD9-81ED-4DB2-BD59-A6C34878D82A}">
                    <a16:rowId xmlns:a16="http://schemas.microsoft.com/office/drawing/2014/main" val="1266496823"/>
                  </a:ext>
                </a:extLst>
              </a:tr>
              <a:tr h="471971">
                <a:tc>
                  <a:txBody>
                    <a:bodyPr/>
                    <a:lstStyle/>
                    <a:p>
                      <a:r>
                        <a:rPr lang="en" altLang="zh-TW" dirty="0"/>
                        <a:t>running, ran</a:t>
                      </a:r>
                      <a:endParaRPr lang="zh-TW" altLang="en-US" dirty="0"/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r>
                        <a:rPr lang="en" altLang="zh-TW" dirty="0"/>
                        <a:t>run</a:t>
                      </a:r>
                      <a:endParaRPr lang="zh-TW" altLang="en-US" dirty="0">
                        <a:solidFill>
                          <a:srgbClr val="FF0000"/>
                        </a:solidFill>
                      </a:endParaRPr>
                    </a:p>
                  </a:txBody>
                  <a:tcPr anchor="ctr"/>
                </a:tc>
                <a:extLst>
                  <a:ext uri="{0D108BD9-81ED-4DB2-BD59-A6C34878D82A}">
                    <a16:rowId xmlns:a16="http://schemas.microsoft.com/office/drawing/2014/main" val="1727188614"/>
                  </a:ext>
                </a:extLst>
              </a:tr>
              <a:tr h="471971">
                <a:tc>
                  <a:txBody>
                    <a:bodyPr/>
                    <a:lstStyle/>
                    <a:p>
                      <a:r>
                        <a:rPr lang="en" altLang="zh-TW" dirty="0"/>
                        <a:t>The autumn </a:t>
                      </a:r>
                      <a:r>
                        <a:rPr lang="en" altLang="zh-TW" b="1" dirty="0"/>
                        <a:t>leaves</a:t>
                      </a:r>
                      <a:r>
                        <a:rPr lang="en" altLang="zh-TW" dirty="0"/>
                        <a:t> are falling.</a:t>
                      </a:r>
                      <a:endParaRPr lang="zh-TW" altLang="en-US" dirty="0"/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r>
                        <a:rPr lang="en-US" altLang="zh-TW" dirty="0">
                          <a:solidFill>
                            <a:srgbClr val="FF0000"/>
                          </a:solidFill>
                        </a:rPr>
                        <a:t>leaf</a:t>
                      </a:r>
                      <a:r>
                        <a:rPr lang="zh-TW" altLang="en-US" dirty="0">
                          <a:solidFill>
                            <a:srgbClr val="FF0000"/>
                          </a:solidFill>
                        </a:rPr>
                        <a:t> </a:t>
                      </a:r>
                      <a:r>
                        <a:rPr lang="en-US" altLang="zh-TW" dirty="0">
                          <a:solidFill>
                            <a:srgbClr val="FF0000"/>
                          </a:solidFill>
                        </a:rPr>
                        <a:t>(</a:t>
                      </a:r>
                      <a:r>
                        <a:rPr lang="zh-TW" altLang="en-US" dirty="0">
                          <a:solidFill>
                            <a:srgbClr val="FF0000"/>
                          </a:solidFill>
                        </a:rPr>
                        <a:t>名詞</a:t>
                      </a:r>
                      <a:r>
                        <a:rPr lang="en-US" altLang="zh-TW" dirty="0">
                          <a:solidFill>
                            <a:srgbClr val="FF0000"/>
                          </a:solidFill>
                        </a:rPr>
                        <a:t>)</a:t>
                      </a:r>
                      <a:endParaRPr lang="zh-TW" altLang="en-US" dirty="0">
                        <a:solidFill>
                          <a:srgbClr val="FF0000"/>
                        </a:solidFill>
                      </a:endParaRPr>
                    </a:p>
                  </a:txBody>
                  <a:tcPr anchor="ctr"/>
                </a:tc>
                <a:extLst>
                  <a:ext uri="{0D108BD9-81ED-4DB2-BD59-A6C34878D82A}">
                    <a16:rowId xmlns:a16="http://schemas.microsoft.com/office/drawing/2014/main" val="3121065707"/>
                  </a:ext>
                </a:extLst>
              </a:tr>
              <a:tr h="471971">
                <a:tc>
                  <a:txBody>
                    <a:bodyPr/>
                    <a:lstStyle/>
                    <a:p>
                      <a:r>
                        <a:rPr lang="en" altLang="zh-TW" dirty="0"/>
                        <a:t>He </a:t>
                      </a:r>
                      <a:r>
                        <a:rPr lang="en" altLang="zh-TW" b="1" dirty="0"/>
                        <a:t>leaves</a:t>
                      </a:r>
                      <a:r>
                        <a:rPr lang="en" altLang="zh-TW" dirty="0"/>
                        <a:t> the office at 6 PM.</a:t>
                      </a:r>
                      <a:endParaRPr lang="zh-TW" altLang="en-US" dirty="0"/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r>
                        <a:rPr lang="en-US" altLang="zh-TW" dirty="0">
                          <a:solidFill>
                            <a:srgbClr val="FF0000"/>
                          </a:solidFill>
                        </a:rPr>
                        <a:t>leave (</a:t>
                      </a:r>
                      <a:r>
                        <a:rPr lang="zh-TW" altLang="en-US" dirty="0">
                          <a:solidFill>
                            <a:srgbClr val="FF0000"/>
                          </a:solidFill>
                        </a:rPr>
                        <a:t>動詞</a:t>
                      </a:r>
                      <a:r>
                        <a:rPr lang="en-US" altLang="zh-TW" dirty="0">
                          <a:solidFill>
                            <a:srgbClr val="FF0000"/>
                          </a:solidFill>
                        </a:rPr>
                        <a:t>)</a:t>
                      </a:r>
                      <a:endParaRPr lang="zh-TW" altLang="en-US" dirty="0">
                        <a:solidFill>
                          <a:srgbClr val="FF0000"/>
                        </a:solidFill>
                      </a:endParaRPr>
                    </a:p>
                  </a:txBody>
                  <a:tcPr anchor="ctr"/>
                </a:tc>
                <a:extLst>
                  <a:ext uri="{0D108BD9-81ED-4DB2-BD59-A6C34878D82A}">
                    <a16:rowId xmlns:a16="http://schemas.microsoft.com/office/drawing/2014/main" val="2688252703"/>
                  </a:ext>
                </a:extLst>
              </a:tr>
            </a:tbl>
          </a:graphicData>
        </a:graphic>
      </p:graphicFrame>
      <p:sp>
        <p:nvSpPr>
          <p:cNvPr id="7" name="文字方塊 6">
            <a:extLst>
              <a:ext uri="{FF2B5EF4-FFF2-40B4-BE49-F238E27FC236}">
                <a16:creationId xmlns:a16="http://schemas.microsoft.com/office/drawing/2014/main" id="{16137BBA-A111-8C80-A4AD-A345347EC8F7}"/>
              </a:ext>
            </a:extLst>
          </p:cNvPr>
          <p:cNvSpPr txBox="1"/>
          <p:nvPr/>
        </p:nvSpPr>
        <p:spPr>
          <a:xfrm>
            <a:off x="2855259" y="6317246"/>
            <a:ext cx="6481482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kumimoji="1" lang="en" altLang="zh-TW" dirty="0"/>
              <a:t>https://</a:t>
            </a:r>
            <a:r>
              <a:rPr kumimoji="1" lang="en" altLang="zh-TW" dirty="0" err="1"/>
              <a:t>www.nltk.org</a:t>
            </a:r>
            <a:r>
              <a:rPr kumimoji="1" lang="en" altLang="zh-TW" dirty="0"/>
              <a:t>/</a:t>
            </a:r>
            <a:r>
              <a:rPr kumimoji="1" lang="en" altLang="zh-TW" dirty="0" err="1"/>
              <a:t>api</a:t>
            </a:r>
            <a:r>
              <a:rPr kumimoji="1" lang="en" altLang="zh-TW" dirty="0"/>
              <a:t>/</a:t>
            </a:r>
            <a:r>
              <a:rPr kumimoji="1" lang="en" altLang="zh-TW" dirty="0" err="1"/>
              <a:t>nltk.stem.WordNetLemmatizer.html</a:t>
            </a:r>
            <a:endParaRPr kumimoji="1" lang="zh-TW" altLang="en-US" dirty="0"/>
          </a:p>
        </p:txBody>
      </p:sp>
    </p:spTree>
    <p:extLst>
      <p:ext uri="{BB962C8B-B14F-4D97-AF65-F5344CB8AC3E}">
        <p14:creationId xmlns:p14="http://schemas.microsoft.com/office/powerpoint/2010/main" val="3266302223"/>
      </p:ext>
    </p:extLst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標題 1">
            <a:extLst>
              <a:ext uri="{FF2B5EF4-FFF2-40B4-BE49-F238E27FC236}">
                <a16:creationId xmlns:a16="http://schemas.microsoft.com/office/drawing/2014/main" id="{891B222C-80F6-FEC9-47AC-B38C2903D2CE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kumimoji="1" lang="en-US" altLang="zh-TW" dirty="0"/>
              <a:t>Segmentation vs. Tokenization</a:t>
            </a:r>
            <a:endParaRPr kumimoji="1" lang="zh-TW" altLang="en-US" dirty="0"/>
          </a:p>
        </p:txBody>
      </p:sp>
      <p:sp>
        <p:nvSpPr>
          <p:cNvPr id="4" name="投影片編號版面配置區 3">
            <a:extLst>
              <a:ext uri="{FF2B5EF4-FFF2-40B4-BE49-F238E27FC236}">
                <a16:creationId xmlns:a16="http://schemas.microsoft.com/office/drawing/2014/main" id="{61CD1B07-BC3A-15DA-87F8-3E0AB47FA166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6113E31D-E2AB-40D1-8B51-AFA5AFEF393A}" type="slidenum">
              <a:rPr lang="en-US" smtClean="0"/>
              <a:pPr/>
              <a:t>11</a:t>
            </a:fld>
            <a:endParaRPr lang="en-US"/>
          </a:p>
        </p:txBody>
      </p:sp>
      <p:sp>
        <p:nvSpPr>
          <p:cNvPr id="5" name="文字方塊 4">
            <a:extLst>
              <a:ext uri="{FF2B5EF4-FFF2-40B4-BE49-F238E27FC236}">
                <a16:creationId xmlns:a16="http://schemas.microsoft.com/office/drawing/2014/main" id="{A3498F06-66DC-585C-C165-16D8B84FE72E}"/>
              </a:ext>
            </a:extLst>
          </p:cNvPr>
          <p:cNvSpPr txBox="1"/>
          <p:nvPr/>
        </p:nvSpPr>
        <p:spPr>
          <a:xfrm>
            <a:off x="653143" y="1755181"/>
            <a:ext cx="10262665" cy="3913059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marL="342900" indent="-342900">
              <a:lnSpc>
                <a:spcPct val="150000"/>
              </a:lnSpc>
              <a:buFont typeface="Arial" panose="020B0604020202020204" pitchFamily="34" charset="0"/>
              <a:buChar char="•"/>
            </a:pPr>
            <a:r>
              <a:rPr kumimoji="1" lang="en" altLang="zh-TW" sz="2400" dirty="0"/>
              <a:t>All tokenization is segmentation, but not all segmentation is tokenization.</a:t>
            </a:r>
          </a:p>
          <a:p>
            <a:pPr marL="342900" indent="-342900">
              <a:lnSpc>
                <a:spcPct val="150000"/>
              </a:lnSpc>
              <a:buFont typeface="Arial" panose="020B0604020202020204" pitchFamily="34" charset="0"/>
              <a:buChar char="•"/>
            </a:pPr>
            <a:r>
              <a:rPr kumimoji="1" lang="en" altLang="zh-TW" sz="2400" dirty="0"/>
              <a:t>Segmentation can be</a:t>
            </a:r>
            <a:r>
              <a:rPr kumimoji="1" lang="en-US" altLang="zh-TW" sz="2400" dirty="0"/>
              <a:t>:</a:t>
            </a:r>
          </a:p>
          <a:p>
            <a:pPr marL="800100" lvl="1" indent="-342900">
              <a:lnSpc>
                <a:spcPct val="150000"/>
              </a:lnSpc>
              <a:buFont typeface="Arial" panose="020B0604020202020204" pitchFamily="34" charset="0"/>
              <a:buChar char="•"/>
            </a:pPr>
            <a:r>
              <a:rPr kumimoji="1" lang="en-US" altLang="zh-TW" sz="2400" dirty="0"/>
              <a:t>Word segmentation from a </a:t>
            </a:r>
            <a:r>
              <a:rPr kumimoji="1" lang="en-US" altLang="zh-TW" sz="2400" dirty="0">
                <a:solidFill>
                  <a:srgbClr val="0070C0"/>
                </a:solidFill>
              </a:rPr>
              <a:t>sentence</a:t>
            </a:r>
          </a:p>
          <a:p>
            <a:pPr marL="800100" lvl="1" indent="-342900">
              <a:lnSpc>
                <a:spcPct val="150000"/>
              </a:lnSpc>
              <a:buFont typeface="Arial" panose="020B0604020202020204" pitchFamily="34" charset="0"/>
              <a:buChar char="•"/>
            </a:pPr>
            <a:r>
              <a:rPr kumimoji="1" lang="en-US" altLang="zh-TW" sz="2400" dirty="0"/>
              <a:t>Sentence segmentation from a </a:t>
            </a:r>
            <a:r>
              <a:rPr kumimoji="1" lang="en-US" altLang="zh-TW" sz="2400" dirty="0">
                <a:solidFill>
                  <a:srgbClr val="0070C0"/>
                </a:solidFill>
              </a:rPr>
              <a:t>document</a:t>
            </a:r>
          </a:p>
          <a:p>
            <a:pPr marL="342900" indent="-342900">
              <a:lnSpc>
                <a:spcPct val="150000"/>
              </a:lnSpc>
              <a:buFont typeface="Arial" panose="020B0604020202020204" pitchFamily="34" charset="0"/>
              <a:buChar char="•"/>
            </a:pPr>
            <a:r>
              <a:rPr kumimoji="1" lang="en-US" altLang="zh-TW" sz="2400" dirty="0"/>
              <a:t>Tokenization can be:</a:t>
            </a:r>
          </a:p>
          <a:p>
            <a:pPr marL="800100" lvl="1" indent="-342900">
              <a:lnSpc>
                <a:spcPct val="150000"/>
              </a:lnSpc>
              <a:buFont typeface="Arial" panose="020B0604020202020204" pitchFamily="34" charset="0"/>
              <a:buChar char="•"/>
            </a:pPr>
            <a:r>
              <a:rPr kumimoji="1" lang="en-US" altLang="zh-TW" sz="2400" dirty="0"/>
              <a:t>Word segmentation from a </a:t>
            </a:r>
            <a:r>
              <a:rPr kumimoji="1" lang="en-US" altLang="zh-TW" sz="2400" dirty="0">
                <a:solidFill>
                  <a:srgbClr val="0070C0"/>
                </a:solidFill>
              </a:rPr>
              <a:t>sentence </a:t>
            </a:r>
            <a:r>
              <a:rPr kumimoji="1" lang="en-US" altLang="zh-TW" sz="2400" dirty="0"/>
              <a:t>(then `words` become `tokens`)</a:t>
            </a:r>
          </a:p>
          <a:p>
            <a:pPr marL="800100" lvl="1" indent="-342900">
              <a:lnSpc>
                <a:spcPct val="150000"/>
              </a:lnSpc>
              <a:buFont typeface="Arial" panose="020B0604020202020204" pitchFamily="34" charset="0"/>
              <a:buChar char="•"/>
            </a:pPr>
            <a:r>
              <a:rPr kumimoji="1" lang="en-US" altLang="zh-TW" sz="2400" dirty="0"/>
              <a:t>Sub-word tokenization from a </a:t>
            </a:r>
            <a:r>
              <a:rPr kumimoji="1" lang="en-US" altLang="zh-TW" sz="2400" dirty="0">
                <a:solidFill>
                  <a:srgbClr val="0070C0"/>
                </a:solidFill>
              </a:rPr>
              <a:t>word </a:t>
            </a:r>
            <a:r>
              <a:rPr kumimoji="1" lang="en-US" altLang="zh-TW" sz="2400" dirty="0"/>
              <a:t>or</a:t>
            </a:r>
            <a:r>
              <a:rPr kumimoji="1" lang="en-US" altLang="zh-TW" sz="2400" dirty="0">
                <a:solidFill>
                  <a:srgbClr val="0070C0"/>
                </a:solidFill>
              </a:rPr>
              <a:t> sentence</a:t>
            </a:r>
            <a:endParaRPr kumimoji="1" lang="en" altLang="zh-TW" sz="2400" dirty="0">
              <a:solidFill>
                <a:srgbClr val="0070C0"/>
              </a:solidFill>
            </a:endParaRPr>
          </a:p>
        </p:txBody>
      </p:sp>
    </p:spTree>
    <p:extLst>
      <p:ext uri="{BB962C8B-B14F-4D97-AF65-F5344CB8AC3E}">
        <p14:creationId xmlns:p14="http://schemas.microsoft.com/office/powerpoint/2010/main" val="3235844652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7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9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1" fill="hold">
                      <p:stCondLst>
                        <p:cond delay="indefinite"/>
                      </p:stCondLst>
                      <p:childTnLst>
                        <p:par>
                          <p:cTn id="12" fill="hold">
                            <p:stCondLst>
                              <p:cond delay="0"/>
                            </p:stCondLst>
                            <p:childTnLst>
                              <p:par>
                                <p:cTn id="13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">
                                            <p:txEl>
                                              <p:pRg st="4" end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5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">
                                            <p:txEl>
                                              <p:pRg st="5" end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7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">
                                            <p:txEl>
                                              <p:pRg st="6" end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標題 1">
            <a:extLst>
              <a:ext uri="{FF2B5EF4-FFF2-40B4-BE49-F238E27FC236}">
                <a16:creationId xmlns:a16="http://schemas.microsoft.com/office/drawing/2014/main" id="{0C9A6154-8575-4AE1-BCE5-2886E601F59E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kumimoji="1" lang="en-US" altLang="zh-TW" dirty="0"/>
              <a:t>Delimiter-based Segmentation</a:t>
            </a:r>
            <a:endParaRPr kumimoji="1" lang="zh-TW" altLang="en-US" dirty="0"/>
          </a:p>
        </p:txBody>
      </p:sp>
      <p:sp>
        <p:nvSpPr>
          <p:cNvPr id="3" name="內容版面配置區 2">
            <a:extLst>
              <a:ext uri="{FF2B5EF4-FFF2-40B4-BE49-F238E27FC236}">
                <a16:creationId xmlns:a16="http://schemas.microsoft.com/office/drawing/2014/main" id="{9E02CF28-D261-1349-B727-6F55F740E733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653143" y="3926541"/>
            <a:ext cx="11080376" cy="2314428"/>
          </a:xfrm>
        </p:spPr>
        <p:txBody>
          <a:bodyPr>
            <a:normAutofit/>
          </a:bodyPr>
          <a:lstStyle/>
          <a:p>
            <a:pPr>
              <a:lnSpc>
                <a:spcPct val="150000"/>
              </a:lnSpc>
              <a:buClr>
                <a:schemeClr val="tx1"/>
              </a:buClr>
              <a:buSzPct val="75000"/>
              <a:buFont typeface="Arial" panose="020B0604020202020204" pitchFamily="34" charset="0"/>
              <a:buChar char="•"/>
            </a:pPr>
            <a:r>
              <a:rPr kumimoji="1" lang="en-US" altLang="zh-TW" b="1" dirty="0"/>
              <a:t> </a:t>
            </a:r>
            <a:r>
              <a:rPr kumimoji="1" lang="zh-TW" altLang="en-US" b="1" dirty="0"/>
              <a:t>西方語言是用 </a:t>
            </a:r>
            <a:r>
              <a:rPr kumimoji="1" lang="en-US" altLang="zh-TW" b="1" dirty="0"/>
              <a:t>(e.g., </a:t>
            </a:r>
            <a:r>
              <a:rPr kumimoji="1" lang="zh-TW" altLang="en-US" b="1" dirty="0"/>
              <a:t>英語</a:t>
            </a:r>
            <a:r>
              <a:rPr kumimoji="1" lang="en-US" altLang="zh-TW" b="1" dirty="0"/>
              <a:t>)</a:t>
            </a:r>
          </a:p>
          <a:p>
            <a:pPr lvl="1">
              <a:lnSpc>
                <a:spcPct val="150000"/>
              </a:lnSpc>
              <a:buClr>
                <a:schemeClr val="tx1"/>
              </a:buClr>
              <a:buSzPct val="75000"/>
              <a:buFont typeface="Arial" panose="020B0604020202020204" pitchFamily="34" charset="0"/>
              <a:buChar char="•"/>
            </a:pPr>
            <a:r>
              <a:rPr kumimoji="1" lang="en-US" altLang="zh-TW" sz="2000" dirty="0"/>
              <a:t>Cannot work for Chinese, Japanese.</a:t>
            </a:r>
          </a:p>
          <a:p>
            <a:pPr>
              <a:lnSpc>
                <a:spcPct val="150000"/>
              </a:lnSpc>
              <a:buClr>
                <a:schemeClr val="tx1"/>
              </a:buClr>
              <a:buSzPct val="75000"/>
              <a:buFont typeface="Arial" panose="020B0604020202020204" pitchFamily="34" charset="0"/>
              <a:buChar char="•"/>
            </a:pPr>
            <a:r>
              <a:rPr kumimoji="1" lang="en-US" altLang="zh-TW" dirty="0"/>
              <a:t> </a:t>
            </a:r>
            <a:r>
              <a:rPr kumimoji="1" lang="zh-TW" altLang="en-US" dirty="0"/>
              <a:t>模型訓練完成後，</a:t>
            </a:r>
            <a:r>
              <a:rPr kumimoji="1" lang="zh-TW" altLang="en-US" b="1" dirty="0"/>
              <a:t>無法處理不在字典中的字 </a:t>
            </a:r>
            <a:r>
              <a:rPr kumimoji="1" lang="en-US" altLang="zh-TW" b="1" dirty="0"/>
              <a:t>(</a:t>
            </a:r>
            <a:r>
              <a:rPr kumimoji="1" lang="zh-TW" altLang="en-US" b="1" dirty="0"/>
              <a:t>這些字通常是因為不存在於訓練集</a:t>
            </a:r>
            <a:r>
              <a:rPr kumimoji="1" lang="en-US" altLang="zh-TW" b="1" dirty="0"/>
              <a:t>)</a:t>
            </a:r>
          </a:p>
          <a:p>
            <a:pPr lvl="1">
              <a:lnSpc>
                <a:spcPct val="150000"/>
              </a:lnSpc>
              <a:buClr>
                <a:schemeClr val="tx1"/>
              </a:buClr>
              <a:buSzPct val="75000"/>
              <a:buFont typeface="Arial" panose="020B0604020202020204" pitchFamily="34" charset="0"/>
              <a:buChar char="•"/>
            </a:pPr>
            <a:r>
              <a:rPr kumimoji="1" lang="en-US" altLang="zh-TW" sz="2000" dirty="0"/>
              <a:t> </a:t>
            </a:r>
            <a:r>
              <a:rPr kumimoji="1" lang="zh-TW" altLang="en-US" sz="2000" dirty="0"/>
              <a:t>此情況也包含拼錯字的情形</a:t>
            </a:r>
            <a:endParaRPr kumimoji="1" lang="en-US" altLang="zh-TW" sz="2000" dirty="0"/>
          </a:p>
        </p:txBody>
      </p:sp>
      <p:sp>
        <p:nvSpPr>
          <p:cNvPr id="4" name="投影片編號版面配置區 3">
            <a:extLst>
              <a:ext uri="{FF2B5EF4-FFF2-40B4-BE49-F238E27FC236}">
                <a16:creationId xmlns:a16="http://schemas.microsoft.com/office/drawing/2014/main" id="{2DEA7EA3-E4EB-C850-1A20-78EBF44EBC80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6113E31D-E2AB-40D1-8B51-AFA5AFEF393A}" type="slidenum">
              <a:rPr lang="en-US" smtClean="0"/>
              <a:pPr/>
              <a:t>12</a:t>
            </a:fld>
            <a:endParaRPr lang="en-US"/>
          </a:p>
        </p:txBody>
      </p:sp>
      <p:sp>
        <p:nvSpPr>
          <p:cNvPr id="5" name="文字方塊 4">
            <a:extLst>
              <a:ext uri="{FF2B5EF4-FFF2-40B4-BE49-F238E27FC236}">
                <a16:creationId xmlns:a16="http://schemas.microsoft.com/office/drawing/2014/main" id="{0EA06B4C-C4B3-B14E-6B5B-8B31D88D506B}"/>
              </a:ext>
            </a:extLst>
          </p:cNvPr>
          <p:cNvSpPr txBox="1"/>
          <p:nvPr/>
        </p:nvSpPr>
        <p:spPr>
          <a:xfrm>
            <a:off x="2788025" y="2343238"/>
            <a:ext cx="4061011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kumimoji="1" lang="en" altLang="zh-TW" dirty="0"/>
              <a:t>NLP is fun, useful, and practical.</a:t>
            </a:r>
            <a:r>
              <a:rPr kumimoji="1" lang="zh-TW" altLang="en-US" dirty="0"/>
              <a:t> </a:t>
            </a:r>
            <a:r>
              <a:rPr kumimoji="1" lang="en-US" altLang="zh-TW" dirty="0"/>
              <a:t>-&gt;</a:t>
            </a:r>
          </a:p>
        </p:txBody>
      </p:sp>
      <p:sp>
        <p:nvSpPr>
          <p:cNvPr id="7" name="文字方塊 6">
            <a:extLst>
              <a:ext uri="{FF2B5EF4-FFF2-40B4-BE49-F238E27FC236}">
                <a16:creationId xmlns:a16="http://schemas.microsoft.com/office/drawing/2014/main" id="{D947642A-E7D5-D9A1-C79B-9D35A074BEF4}"/>
              </a:ext>
            </a:extLst>
          </p:cNvPr>
          <p:cNvSpPr txBox="1"/>
          <p:nvPr/>
        </p:nvSpPr>
        <p:spPr>
          <a:xfrm>
            <a:off x="6974873" y="1650741"/>
            <a:ext cx="1801574" cy="175432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marL="285750" indent="-285750">
              <a:buFont typeface="Arial" panose="020B0604020202020204" pitchFamily="34" charset="0"/>
              <a:buChar char="•"/>
            </a:pPr>
            <a:r>
              <a:rPr kumimoji="1" lang="en" altLang="zh-TW" dirty="0"/>
              <a:t>NLP</a:t>
            </a:r>
          </a:p>
          <a:p>
            <a:pPr marL="285750" indent="-285750">
              <a:buFont typeface="Arial" panose="020B0604020202020204" pitchFamily="34" charset="0"/>
              <a:buChar char="•"/>
            </a:pPr>
            <a:r>
              <a:rPr kumimoji="1" lang="en" altLang="zh-TW" dirty="0"/>
              <a:t>is</a:t>
            </a:r>
          </a:p>
          <a:p>
            <a:pPr marL="285750" indent="-285750">
              <a:buFont typeface="Arial" panose="020B0604020202020204" pitchFamily="34" charset="0"/>
              <a:buChar char="•"/>
            </a:pPr>
            <a:r>
              <a:rPr kumimoji="1" lang="en" altLang="zh-TW" dirty="0"/>
              <a:t>fun,</a:t>
            </a:r>
          </a:p>
          <a:p>
            <a:pPr marL="285750" indent="-285750">
              <a:buFont typeface="Arial" panose="020B0604020202020204" pitchFamily="34" charset="0"/>
              <a:buChar char="•"/>
            </a:pPr>
            <a:r>
              <a:rPr kumimoji="1" lang="en" altLang="zh-TW" dirty="0"/>
              <a:t>useful,</a:t>
            </a:r>
          </a:p>
          <a:p>
            <a:pPr marL="285750" indent="-285750">
              <a:buFont typeface="Arial" panose="020B0604020202020204" pitchFamily="34" charset="0"/>
              <a:buChar char="•"/>
            </a:pPr>
            <a:r>
              <a:rPr kumimoji="1" lang="en" altLang="zh-TW" dirty="0"/>
              <a:t>and</a:t>
            </a:r>
          </a:p>
          <a:p>
            <a:pPr marL="285750" indent="-285750">
              <a:buFont typeface="Arial" panose="020B0604020202020204" pitchFamily="34" charset="0"/>
              <a:buChar char="•"/>
            </a:pPr>
            <a:r>
              <a:rPr kumimoji="1" lang="en" altLang="zh-TW" dirty="0"/>
              <a:t>practical.</a:t>
            </a:r>
            <a:endParaRPr kumimoji="1" lang="zh-TW" altLang="en-US" dirty="0"/>
          </a:p>
        </p:txBody>
      </p:sp>
    </p:spTree>
    <p:extLst>
      <p:ext uri="{BB962C8B-B14F-4D97-AF65-F5344CB8AC3E}">
        <p14:creationId xmlns:p14="http://schemas.microsoft.com/office/powerpoint/2010/main" val="1185706306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7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9" fill="hold">
                      <p:stCondLst>
                        <p:cond delay="indefinite"/>
                      </p:stCondLst>
                      <p:childTnLst>
                        <p:par>
                          <p:cTn id="10" fill="hold">
                            <p:stCondLst>
                              <p:cond delay="0"/>
                            </p:stCondLst>
                            <p:childTnLst>
                              <p:par>
                                <p:cTn id="11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3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標題 1">
            <a:extLst>
              <a:ext uri="{FF2B5EF4-FFF2-40B4-BE49-F238E27FC236}">
                <a16:creationId xmlns:a16="http://schemas.microsoft.com/office/drawing/2014/main" id="{D7C62884-14FE-B7E3-75EA-869F9C9CB57F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kumimoji="1" lang="en-US" altLang="zh-TW" dirty="0"/>
              <a:t>[Recap] Embedding Lookup</a:t>
            </a:r>
            <a:endParaRPr kumimoji="1" lang="zh-TW" altLang="en-US" dirty="0"/>
          </a:p>
        </p:txBody>
      </p:sp>
      <p:sp>
        <p:nvSpPr>
          <p:cNvPr id="4" name="投影片編號版面配置區 3">
            <a:extLst>
              <a:ext uri="{FF2B5EF4-FFF2-40B4-BE49-F238E27FC236}">
                <a16:creationId xmlns:a16="http://schemas.microsoft.com/office/drawing/2014/main" id="{59BEB593-59D1-AC66-DFE2-9D45E0405013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6113E31D-E2AB-40D1-8B51-AFA5AFEF393A}" type="slidenum">
              <a:rPr lang="en-US" smtClean="0"/>
              <a:pPr/>
              <a:t>13</a:t>
            </a:fld>
            <a:endParaRPr lang="en-US" dirty="0"/>
          </a:p>
        </p:txBody>
      </p:sp>
      <p:graphicFrame>
        <p:nvGraphicFramePr>
          <p:cNvPr id="11" name="表格 10">
            <a:extLst>
              <a:ext uri="{FF2B5EF4-FFF2-40B4-BE49-F238E27FC236}">
                <a16:creationId xmlns:a16="http://schemas.microsoft.com/office/drawing/2014/main" id="{0F195A59-224D-5C51-A26B-B2D639F5A42F}"/>
              </a:ext>
            </a:extLst>
          </p:cNvPr>
          <p:cNvGraphicFramePr>
            <a:graphicFrameLocks noGrp="1"/>
          </p:cNvGraphicFramePr>
          <p:nvPr/>
        </p:nvGraphicFramePr>
        <p:xfrm>
          <a:off x="1883352" y="1955120"/>
          <a:ext cx="9124725" cy="3623272"/>
        </p:xfrm>
        <a:graphic>
          <a:graphicData uri="http://schemas.openxmlformats.org/drawingml/2006/table">
            <a:tbl>
              <a:tblPr firstRow="1" bandRow="1">
                <a:tableStyleId>{21E4AEA4-8DFA-4A89-87EB-49C32662AFE0}</a:tableStyleId>
              </a:tblPr>
              <a:tblGrid>
                <a:gridCol w="1898935">
                  <a:extLst>
                    <a:ext uri="{9D8B030D-6E8A-4147-A177-3AD203B41FA5}">
                      <a16:colId xmlns:a16="http://schemas.microsoft.com/office/drawing/2014/main" val="414904887"/>
                    </a:ext>
                  </a:extLst>
                </a:gridCol>
                <a:gridCol w="3612895">
                  <a:extLst>
                    <a:ext uri="{9D8B030D-6E8A-4147-A177-3AD203B41FA5}">
                      <a16:colId xmlns:a16="http://schemas.microsoft.com/office/drawing/2014/main" val="3836347131"/>
                    </a:ext>
                  </a:extLst>
                </a:gridCol>
                <a:gridCol w="3612895">
                  <a:extLst>
                    <a:ext uri="{9D8B030D-6E8A-4147-A177-3AD203B41FA5}">
                      <a16:colId xmlns:a16="http://schemas.microsoft.com/office/drawing/2014/main" val="3015099582"/>
                    </a:ext>
                  </a:extLst>
                </a:gridCol>
              </a:tblGrid>
              <a:tr h="452296">
                <a:tc>
                  <a:txBody>
                    <a:bodyPr/>
                    <a:lstStyle/>
                    <a:p>
                      <a:r>
                        <a:rPr lang="en-US" altLang="zh-TW" sz="2400" dirty="0"/>
                        <a:t>Vocab</a:t>
                      </a:r>
                      <a:endParaRPr lang="zh-TW" altLang="en-US" sz="2400" dirty="0"/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r>
                        <a:rPr lang="en-US" altLang="zh-TW" sz="2400" dirty="0"/>
                        <a:t>Dimension 1</a:t>
                      </a:r>
                      <a:endParaRPr lang="zh-TW" altLang="en-US" sz="2400" dirty="0"/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marL="0" marR="0" lvl="0" indent="0" algn="l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en-US" altLang="zh-TW" sz="2400" dirty="0"/>
                        <a:t>Dimension 2</a:t>
                      </a:r>
                      <a:endParaRPr lang="zh-TW" altLang="en-US" sz="2400" dirty="0"/>
                    </a:p>
                  </a:txBody>
                  <a:tcPr anchor="ctr"/>
                </a:tc>
                <a:extLst>
                  <a:ext uri="{0D108BD9-81ED-4DB2-BD59-A6C34878D82A}">
                    <a16:rowId xmlns:a16="http://schemas.microsoft.com/office/drawing/2014/main" val="3459892997"/>
                  </a:ext>
                </a:extLst>
              </a:tr>
              <a:tr h="452296">
                <a:tc>
                  <a:txBody>
                    <a:bodyPr/>
                    <a:lstStyle/>
                    <a:p>
                      <a:r>
                        <a:rPr lang="en-US" altLang="zh-TW" sz="2000" dirty="0"/>
                        <a:t>I</a:t>
                      </a:r>
                      <a:endParaRPr lang="zh-TW" altLang="en-US" sz="2000" dirty="0"/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r>
                        <a:rPr lang="en-US" altLang="zh-TW" sz="2000" dirty="0"/>
                        <a:t>-0.47030617476956654</a:t>
                      </a:r>
                      <a:endParaRPr lang="zh-TW" altLang="en-US" sz="2000" dirty="0"/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r>
                        <a:rPr lang="en" altLang="zh-TW" sz="2000" dirty="0"/>
                        <a:t>-4.440892098500626e-16</a:t>
                      </a:r>
                      <a:endParaRPr lang="zh-TW" altLang="en-US" sz="2000" dirty="0"/>
                    </a:p>
                  </a:txBody>
                  <a:tcPr anchor="ctr"/>
                </a:tc>
                <a:extLst>
                  <a:ext uri="{0D108BD9-81ED-4DB2-BD59-A6C34878D82A}">
                    <a16:rowId xmlns:a16="http://schemas.microsoft.com/office/drawing/2014/main" val="3490432672"/>
                  </a:ext>
                </a:extLst>
              </a:tr>
              <a:tr h="452296">
                <a:tc>
                  <a:txBody>
                    <a:bodyPr/>
                    <a:lstStyle/>
                    <a:p>
                      <a:r>
                        <a:rPr lang="en-US" altLang="zh-TW" sz="2000" dirty="0"/>
                        <a:t>love</a:t>
                      </a:r>
                      <a:endParaRPr lang="zh-TW" altLang="en-US" sz="2000" dirty="0"/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r>
                        <a:rPr lang="en" altLang="zh-TW" sz="2000" dirty="0"/>
                        <a:t>-8.326672684688674e-16</a:t>
                      </a:r>
                      <a:endParaRPr lang="zh-TW" altLang="en-US" sz="2000" dirty="0"/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r>
                        <a:rPr lang="en-US" altLang="zh-TW" sz="2000" dirty="0"/>
                        <a:t>0.4464710977801294</a:t>
                      </a:r>
                      <a:endParaRPr lang="zh-TW" altLang="en-US" sz="2000" dirty="0"/>
                    </a:p>
                  </a:txBody>
                  <a:tcPr anchor="ctr"/>
                </a:tc>
                <a:extLst>
                  <a:ext uri="{0D108BD9-81ED-4DB2-BD59-A6C34878D82A}">
                    <a16:rowId xmlns:a16="http://schemas.microsoft.com/office/drawing/2014/main" val="4003127588"/>
                  </a:ext>
                </a:extLst>
              </a:tr>
              <a:tr h="452296">
                <a:tc>
                  <a:txBody>
                    <a:bodyPr/>
                    <a:lstStyle/>
                    <a:p>
                      <a:r>
                        <a:rPr lang="en-US" altLang="zh-TW" sz="2000" dirty="0"/>
                        <a:t>do</a:t>
                      </a:r>
                      <a:endParaRPr lang="zh-TW" altLang="en-US" sz="2000" dirty="0"/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r>
                        <a:rPr lang="en" altLang="zh-TW" sz="2000" dirty="0"/>
                        <a:t>8.881784197001252e-16</a:t>
                      </a:r>
                      <a:endParaRPr lang="zh-TW" altLang="en-US" sz="2000" dirty="0"/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r>
                        <a:rPr lang="en-US" altLang="zh-TW" sz="2000" dirty="0"/>
                        <a:t>0.7838949952895327</a:t>
                      </a:r>
                      <a:endParaRPr lang="zh-TW" altLang="en-US" sz="2000" dirty="0"/>
                    </a:p>
                  </a:txBody>
                  <a:tcPr anchor="ctr"/>
                </a:tc>
                <a:extLst>
                  <a:ext uri="{0D108BD9-81ED-4DB2-BD59-A6C34878D82A}">
                    <a16:rowId xmlns:a16="http://schemas.microsoft.com/office/drawing/2014/main" val="3125057017"/>
                  </a:ext>
                </a:extLst>
              </a:tr>
              <a:tr h="452296">
                <a:tc>
                  <a:txBody>
                    <a:bodyPr/>
                    <a:lstStyle/>
                    <a:p>
                      <a:r>
                        <a:rPr lang="en-US" altLang="zh-TW" sz="2000" dirty="0"/>
                        <a:t>deep</a:t>
                      </a:r>
                      <a:endParaRPr lang="zh-TW" altLang="en-US" sz="2000" dirty="0"/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r>
                        <a:rPr lang="en-US" altLang="zh-TW" sz="2000" dirty="0"/>
                        <a:t>-0.4915010045415975</a:t>
                      </a:r>
                      <a:endParaRPr lang="zh-TW" altLang="en-US" sz="2000" dirty="0"/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r>
                        <a:rPr lang="en" altLang="zh-TW" sz="2000" dirty="0"/>
                        <a:t>-1.3016463110087907e-16</a:t>
                      </a:r>
                      <a:endParaRPr lang="zh-TW" altLang="en-US" sz="2000" dirty="0"/>
                    </a:p>
                  </a:txBody>
                  <a:tcPr anchor="ctr"/>
                </a:tc>
                <a:extLst>
                  <a:ext uri="{0D108BD9-81ED-4DB2-BD59-A6C34878D82A}">
                    <a16:rowId xmlns:a16="http://schemas.microsoft.com/office/drawing/2014/main" val="2417582313"/>
                  </a:ext>
                </a:extLst>
              </a:tr>
              <a:tr h="452296">
                <a:tc>
                  <a:txBody>
                    <a:bodyPr/>
                    <a:lstStyle/>
                    <a:p>
                      <a:r>
                        <a:rPr lang="en-US" altLang="zh-TW" sz="2000" dirty="0"/>
                        <a:t>learning</a:t>
                      </a:r>
                      <a:endParaRPr lang="zh-TW" altLang="en-US" sz="2000" dirty="0"/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r>
                        <a:rPr lang="en" altLang="zh-TW" sz="2000" dirty="0"/>
                        <a:t>-1.582067810090848e-15</a:t>
                      </a:r>
                      <a:endParaRPr lang="zh-TW" altLang="en-US" sz="2000" dirty="0"/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r>
                        <a:rPr lang="en-US" altLang="zh-TW" sz="2000" dirty="0"/>
                        <a:t>0.4314767609119055</a:t>
                      </a:r>
                      <a:endParaRPr lang="zh-TW" altLang="en-US" sz="2000" dirty="0"/>
                    </a:p>
                  </a:txBody>
                  <a:tcPr anchor="ctr"/>
                </a:tc>
                <a:extLst>
                  <a:ext uri="{0D108BD9-81ED-4DB2-BD59-A6C34878D82A}">
                    <a16:rowId xmlns:a16="http://schemas.microsoft.com/office/drawing/2014/main" val="1431366270"/>
                  </a:ext>
                </a:extLst>
              </a:tr>
              <a:tr h="452296">
                <a:tc>
                  <a:txBody>
                    <a:bodyPr/>
                    <a:lstStyle/>
                    <a:p>
                      <a:r>
                        <a:rPr lang="en-US" altLang="zh-TW" sz="2000" dirty="0"/>
                        <a:t>NLP</a:t>
                      </a:r>
                      <a:endParaRPr lang="zh-TW" altLang="en-US" sz="2000" dirty="0"/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r>
                        <a:rPr lang="en-US" altLang="zh-TW" sz="2000" dirty="0"/>
                        <a:t>-0.2523320838384413</a:t>
                      </a:r>
                      <a:endParaRPr lang="zh-TW" altLang="en-US" sz="2000" dirty="0"/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r>
                        <a:rPr lang="en" altLang="zh-TW" sz="2000" dirty="0"/>
                        <a:t>-2.1837832516159107e-16</a:t>
                      </a:r>
                      <a:endParaRPr lang="zh-TW" altLang="en-US" sz="2000" dirty="0"/>
                    </a:p>
                  </a:txBody>
                  <a:tcPr anchor="ctr"/>
                </a:tc>
                <a:extLst>
                  <a:ext uri="{0D108BD9-81ED-4DB2-BD59-A6C34878D82A}">
                    <a16:rowId xmlns:a16="http://schemas.microsoft.com/office/drawing/2014/main" val="3822000942"/>
                  </a:ext>
                </a:extLst>
              </a:tr>
              <a:tr h="452296">
                <a:tc>
                  <a:txBody>
                    <a:bodyPr/>
                    <a:lstStyle/>
                    <a:p>
                      <a:r>
                        <a:rPr lang="en-US" altLang="zh-TW" sz="2000" dirty="0"/>
                        <a:t>programming</a:t>
                      </a:r>
                      <a:endParaRPr lang="zh-TW" altLang="en-US" sz="2000" dirty="0"/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r>
                        <a:rPr lang="en-US" altLang="zh-TW" sz="2000" dirty="0"/>
                        <a:t>-0.6881623238553303</a:t>
                      </a:r>
                      <a:endParaRPr lang="zh-TW" altLang="en-US" sz="2000" dirty="0"/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r>
                        <a:rPr lang="en" altLang="zh-TW" sz="2000" dirty="0"/>
                        <a:t>-1.914220234434739e-16</a:t>
                      </a:r>
                      <a:endParaRPr lang="zh-TW" altLang="en-US" sz="2000" dirty="0"/>
                    </a:p>
                  </a:txBody>
                  <a:tcPr anchor="ctr"/>
                </a:tc>
                <a:extLst>
                  <a:ext uri="{0D108BD9-81ED-4DB2-BD59-A6C34878D82A}">
                    <a16:rowId xmlns:a16="http://schemas.microsoft.com/office/drawing/2014/main" val="2929166274"/>
                  </a:ext>
                </a:extLst>
              </a:tr>
            </a:tbl>
          </a:graphicData>
        </a:graphic>
      </p:graphicFrame>
      <p:sp>
        <p:nvSpPr>
          <p:cNvPr id="12" name="文字方塊 11">
            <a:extLst>
              <a:ext uri="{FF2B5EF4-FFF2-40B4-BE49-F238E27FC236}">
                <a16:creationId xmlns:a16="http://schemas.microsoft.com/office/drawing/2014/main" id="{47F98E09-3199-A25A-4977-BA4729146826}"/>
              </a:ext>
            </a:extLst>
          </p:cNvPr>
          <p:cNvSpPr txBox="1"/>
          <p:nvPr/>
        </p:nvSpPr>
        <p:spPr>
          <a:xfrm>
            <a:off x="925286" y="2416628"/>
            <a:ext cx="500744" cy="46166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kumimoji="1" lang="en-US" altLang="zh-TW" sz="2400" dirty="0">
                <a:solidFill>
                  <a:srgbClr val="FF0000"/>
                </a:solidFill>
              </a:rPr>
              <a:t>0</a:t>
            </a:r>
            <a:endParaRPr kumimoji="1" lang="zh-TW" altLang="en-US" sz="2400" dirty="0">
              <a:solidFill>
                <a:srgbClr val="FF0000"/>
              </a:solidFill>
            </a:endParaRPr>
          </a:p>
        </p:txBody>
      </p:sp>
      <p:sp>
        <p:nvSpPr>
          <p:cNvPr id="13" name="文字方塊 12">
            <a:extLst>
              <a:ext uri="{FF2B5EF4-FFF2-40B4-BE49-F238E27FC236}">
                <a16:creationId xmlns:a16="http://schemas.microsoft.com/office/drawing/2014/main" id="{346F0DB0-36A2-C4A4-449F-3C3736DE6F43}"/>
              </a:ext>
            </a:extLst>
          </p:cNvPr>
          <p:cNvSpPr txBox="1"/>
          <p:nvPr/>
        </p:nvSpPr>
        <p:spPr>
          <a:xfrm>
            <a:off x="694004" y="1955277"/>
            <a:ext cx="979838" cy="46166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kumimoji="1" lang="en-US" altLang="zh-TW" sz="2400" dirty="0">
                <a:solidFill>
                  <a:srgbClr val="FF0000"/>
                </a:solidFill>
              </a:rPr>
              <a:t>Index</a:t>
            </a:r>
            <a:endParaRPr kumimoji="1" lang="zh-TW" altLang="en-US" sz="2400" dirty="0">
              <a:solidFill>
                <a:srgbClr val="FF0000"/>
              </a:solidFill>
            </a:endParaRPr>
          </a:p>
        </p:txBody>
      </p:sp>
      <p:sp>
        <p:nvSpPr>
          <p:cNvPr id="14" name="文字方塊 13">
            <a:extLst>
              <a:ext uri="{FF2B5EF4-FFF2-40B4-BE49-F238E27FC236}">
                <a16:creationId xmlns:a16="http://schemas.microsoft.com/office/drawing/2014/main" id="{28120791-1A8A-11B0-D38C-E5C9FB56B3BA}"/>
              </a:ext>
            </a:extLst>
          </p:cNvPr>
          <p:cNvSpPr txBox="1"/>
          <p:nvPr/>
        </p:nvSpPr>
        <p:spPr>
          <a:xfrm>
            <a:off x="933551" y="2878293"/>
            <a:ext cx="500744" cy="46166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kumimoji="1" lang="en-US" altLang="zh-TW" sz="2400" dirty="0">
                <a:solidFill>
                  <a:srgbClr val="FF0000"/>
                </a:solidFill>
              </a:rPr>
              <a:t>1</a:t>
            </a:r>
            <a:endParaRPr kumimoji="1" lang="zh-TW" altLang="en-US" sz="2400" dirty="0">
              <a:solidFill>
                <a:srgbClr val="FF0000"/>
              </a:solidFill>
            </a:endParaRPr>
          </a:p>
        </p:txBody>
      </p:sp>
      <p:sp>
        <p:nvSpPr>
          <p:cNvPr id="15" name="文字方塊 14">
            <a:extLst>
              <a:ext uri="{FF2B5EF4-FFF2-40B4-BE49-F238E27FC236}">
                <a16:creationId xmlns:a16="http://schemas.microsoft.com/office/drawing/2014/main" id="{BAC3E7D1-716D-22DA-6DD8-BFDF495612D8}"/>
              </a:ext>
            </a:extLst>
          </p:cNvPr>
          <p:cNvSpPr txBox="1"/>
          <p:nvPr/>
        </p:nvSpPr>
        <p:spPr>
          <a:xfrm>
            <a:off x="925286" y="3339644"/>
            <a:ext cx="500744" cy="46166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kumimoji="1" lang="en-US" altLang="zh-TW" sz="2400" dirty="0">
                <a:solidFill>
                  <a:srgbClr val="FF0000"/>
                </a:solidFill>
              </a:rPr>
              <a:t>2</a:t>
            </a:r>
            <a:endParaRPr kumimoji="1" lang="zh-TW" altLang="en-US" sz="2400" dirty="0">
              <a:solidFill>
                <a:srgbClr val="FF0000"/>
              </a:solidFill>
            </a:endParaRPr>
          </a:p>
        </p:txBody>
      </p:sp>
      <p:sp>
        <p:nvSpPr>
          <p:cNvPr id="16" name="文字方塊 15">
            <a:extLst>
              <a:ext uri="{FF2B5EF4-FFF2-40B4-BE49-F238E27FC236}">
                <a16:creationId xmlns:a16="http://schemas.microsoft.com/office/drawing/2014/main" id="{8621BBBC-3813-2B26-3B50-1774E59F4ED1}"/>
              </a:ext>
            </a:extLst>
          </p:cNvPr>
          <p:cNvSpPr txBox="1"/>
          <p:nvPr/>
        </p:nvSpPr>
        <p:spPr>
          <a:xfrm>
            <a:off x="933551" y="3801309"/>
            <a:ext cx="500744" cy="46166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kumimoji="1" lang="en-US" altLang="zh-TW" sz="2400" dirty="0">
                <a:solidFill>
                  <a:srgbClr val="FF0000"/>
                </a:solidFill>
              </a:rPr>
              <a:t>3</a:t>
            </a:r>
            <a:endParaRPr kumimoji="1" lang="zh-TW" altLang="en-US" sz="2400" dirty="0">
              <a:solidFill>
                <a:srgbClr val="FF0000"/>
              </a:solidFill>
            </a:endParaRPr>
          </a:p>
        </p:txBody>
      </p:sp>
      <p:sp>
        <p:nvSpPr>
          <p:cNvPr id="17" name="文字方塊 16">
            <a:extLst>
              <a:ext uri="{FF2B5EF4-FFF2-40B4-BE49-F238E27FC236}">
                <a16:creationId xmlns:a16="http://schemas.microsoft.com/office/drawing/2014/main" id="{E3E46389-1BA8-F3EF-BEB0-037AC262AF41}"/>
              </a:ext>
            </a:extLst>
          </p:cNvPr>
          <p:cNvSpPr txBox="1"/>
          <p:nvPr/>
        </p:nvSpPr>
        <p:spPr>
          <a:xfrm>
            <a:off x="933551" y="4262660"/>
            <a:ext cx="500744" cy="46166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kumimoji="1" lang="en-US" altLang="zh-TW" sz="2400" dirty="0">
                <a:solidFill>
                  <a:srgbClr val="FF0000"/>
                </a:solidFill>
              </a:rPr>
              <a:t>4</a:t>
            </a:r>
            <a:endParaRPr kumimoji="1" lang="zh-TW" altLang="en-US" sz="2400" dirty="0">
              <a:solidFill>
                <a:srgbClr val="FF0000"/>
              </a:solidFill>
            </a:endParaRPr>
          </a:p>
        </p:txBody>
      </p:sp>
      <p:sp>
        <p:nvSpPr>
          <p:cNvPr id="18" name="文字方塊 17">
            <a:extLst>
              <a:ext uri="{FF2B5EF4-FFF2-40B4-BE49-F238E27FC236}">
                <a16:creationId xmlns:a16="http://schemas.microsoft.com/office/drawing/2014/main" id="{EB2817CE-D44A-4EDC-1998-E80BDF984F0D}"/>
              </a:ext>
            </a:extLst>
          </p:cNvPr>
          <p:cNvSpPr txBox="1"/>
          <p:nvPr/>
        </p:nvSpPr>
        <p:spPr>
          <a:xfrm>
            <a:off x="933551" y="4724325"/>
            <a:ext cx="500744" cy="46166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kumimoji="1" lang="en-US" altLang="zh-TW" sz="2400" dirty="0">
                <a:solidFill>
                  <a:srgbClr val="FF0000"/>
                </a:solidFill>
              </a:rPr>
              <a:t>5</a:t>
            </a:r>
            <a:endParaRPr kumimoji="1" lang="zh-TW" altLang="en-US" sz="2400" dirty="0">
              <a:solidFill>
                <a:srgbClr val="FF0000"/>
              </a:solidFill>
            </a:endParaRPr>
          </a:p>
        </p:txBody>
      </p:sp>
      <p:sp>
        <p:nvSpPr>
          <p:cNvPr id="19" name="文字方塊 18">
            <a:extLst>
              <a:ext uri="{FF2B5EF4-FFF2-40B4-BE49-F238E27FC236}">
                <a16:creationId xmlns:a16="http://schemas.microsoft.com/office/drawing/2014/main" id="{0D94914C-32EB-0CA3-7FF6-11D48B77C672}"/>
              </a:ext>
            </a:extLst>
          </p:cNvPr>
          <p:cNvSpPr txBox="1"/>
          <p:nvPr/>
        </p:nvSpPr>
        <p:spPr>
          <a:xfrm>
            <a:off x="933551" y="5185676"/>
            <a:ext cx="500744" cy="46166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kumimoji="1" lang="en-US" altLang="zh-TW" sz="2400" dirty="0">
                <a:solidFill>
                  <a:srgbClr val="FF0000"/>
                </a:solidFill>
              </a:rPr>
              <a:t>6</a:t>
            </a:r>
            <a:endParaRPr kumimoji="1" lang="zh-TW" altLang="en-US" sz="2400" dirty="0">
              <a:solidFill>
                <a:srgbClr val="FF0000"/>
              </a:solidFill>
            </a:endParaRPr>
          </a:p>
        </p:txBody>
      </p:sp>
    </p:spTree>
    <p:extLst>
      <p:ext uri="{BB962C8B-B14F-4D97-AF65-F5344CB8AC3E}">
        <p14:creationId xmlns:p14="http://schemas.microsoft.com/office/powerpoint/2010/main" val="2151747409"/>
      </p:ext>
    </p:extLst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238E9702-4B56-D69D-2044-8BE4C20E6625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" name="投影片編號版面配置區 4">
            <a:extLst>
              <a:ext uri="{FF2B5EF4-FFF2-40B4-BE49-F238E27FC236}">
                <a16:creationId xmlns:a16="http://schemas.microsoft.com/office/drawing/2014/main" id="{89A4BF69-E3A1-CFA7-C259-1A536571BEEB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6113E31D-E2AB-40D1-8B51-AFA5AFEF393A}" type="slidenum">
              <a:rPr lang="en-US" dirty="0"/>
              <a:t>14</a:t>
            </a:fld>
            <a:endParaRPr lang="zh-TW" altLang="en-US"/>
          </a:p>
        </p:txBody>
      </p:sp>
      <p:sp>
        <p:nvSpPr>
          <p:cNvPr id="15" name="標題 1">
            <a:extLst>
              <a:ext uri="{FF2B5EF4-FFF2-40B4-BE49-F238E27FC236}">
                <a16:creationId xmlns:a16="http://schemas.microsoft.com/office/drawing/2014/main" id="{A1DF1DE7-4A7B-AAD0-6B0B-A3703F5637B4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633046" y="356088"/>
            <a:ext cx="10522634" cy="1033416"/>
          </a:xfrm>
        </p:spPr>
        <p:txBody>
          <a:bodyPr>
            <a:normAutofit fontScale="90000"/>
          </a:bodyPr>
          <a:lstStyle/>
          <a:p>
            <a:r>
              <a:rPr kumimoji="1" lang="en-US" altLang="zh-TW" dirty="0"/>
              <a:t>Delimiter-based Segmentation (Continued.)</a:t>
            </a:r>
            <a:endParaRPr lang="zh-TW" altLang="en-US" sz="2400" dirty="0">
              <a:latin typeface="Times New Roman"/>
              <a:ea typeface="新細明體"/>
              <a:cs typeface="Calibri Light"/>
            </a:endParaRPr>
          </a:p>
        </p:txBody>
      </p:sp>
      <p:sp>
        <p:nvSpPr>
          <p:cNvPr id="11" name="內容版面配置區 2">
            <a:extLst>
              <a:ext uri="{FF2B5EF4-FFF2-40B4-BE49-F238E27FC236}">
                <a16:creationId xmlns:a16="http://schemas.microsoft.com/office/drawing/2014/main" id="{451FEC2F-4B75-5784-1452-EA50F1C55AA0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753035" y="1845734"/>
            <a:ext cx="10402645" cy="3640666"/>
          </a:xfrm>
        </p:spPr>
        <p:txBody>
          <a:bodyPr>
            <a:normAutofit/>
          </a:bodyPr>
          <a:lstStyle/>
          <a:p>
            <a:pPr>
              <a:lnSpc>
                <a:spcPct val="150000"/>
              </a:lnSpc>
              <a:buClr>
                <a:schemeClr val="tx1"/>
              </a:buClr>
              <a:buSzPct val="75000"/>
              <a:buFont typeface="Arial" panose="020B0604020202020204" pitchFamily="34" charset="0"/>
              <a:buChar char="•"/>
            </a:pPr>
            <a:r>
              <a:rPr kumimoji="1" lang="en-US" altLang="zh-TW" sz="2400" dirty="0"/>
              <a:t> </a:t>
            </a:r>
            <a:r>
              <a:rPr kumimoji="1" lang="zh-TW" altLang="en-US" sz="2400" dirty="0"/>
              <a:t>特別在機器翻譯任務，</a:t>
            </a:r>
            <a:r>
              <a:rPr kumimoji="1" lang="en-US" altLang="zh-TW" sz="2400" dirty="0"/>
              <a:t>source </a:t>
            </a:r>
            <a:r>
              <a:rPr kumimoji="1" lang="zh-TW" altLang="en-US" sz="2400" dirty="0"/>
              <a:t>和 </a:t>
            </a:r>
            <a:r>
              <a:rPr kumimoji="1" lang="en-US" altLang="zh-TW" sz="2400" dirty="0"/>
              <a:t>target </a:t>
            </a:r>
            <a:r>
              <a:rPr kumimoji="1" lang="zh-TW" altLang="en-US" sz="2400" dirty="0"/>
              <a:t>語言不一定 </a:t>
            </a:r>
            <a:r>
              <a:rPr kumimoji="1" lang="en-US" altLang="zh-TW" sz="2400" dirty="0"/>
              <a:t>1-to-1 </a:t>
            </a:r>
            <a:r>
              <a:rPr kumimoji="1" lang="zh-TW" altLang="en-US" sz="2400" dirty="0"/>
              <a:t>對齊</a:t>
            </a:r>
            <a:endParaRPr kumimoji="1" lang="en-US" altLang="zh-TW" sz="2400" dirty="0"/>
          </a:p>
          <a:p>
            <a:pPr lvl="1">
              <a:lnSpc>
                <a:spcPct val="150000"/>
              </a:lnSpc>
              <a:buClr>
                <a:schemeClr val="tx1"/>
              </a:buClr>
              <a:buSzPct val="75000"/>
              <a:buFont typeface="Arial" panose="020B0604020202020204" pitchFamily="34" charset="0"/>
              <a:buChar char="•"/>
            </a:pPr>
            <a:r>
              <a:rPr kumimoji="1" lang="en-US" altLang="zh-TW" sz="2200" dirty="0"/>
              <a:t>target language </a:t>
            </a:r>
            <a:r>
              <a:rPr kumimoji="1" lang="zh-TW" altLang="en-US" sz="2200" dirty="0"/>
              <a:t>出現複合詞時，如果模型只用 </a:t>
            </a:r>
            <a:r>
              <a:rPr kumimoji="1" lang="en-US" altLang="zh-TW" sz="2200" dirty="0"/>
              <a:t>word-level token</a:t>
            </a:r>
            <a:r>
              <a:rPr kumimoji="1" lang="zh-TW" altLang="en-US" sz="2200" dirty="0"/>
              <a:t> 難以學到複合關係；</a:t>
            </a:r>
            <a:r>
              <a:rPr kumimoji="1" lang="zh-TW" altLang="en-US" sz="2200" dirty="0">
                <a:solidFill>
                  <a:srgbClr val="0070C0"/>
                </a:solidFill>
              </a:rPr>
              <a:t>改用 </a:t>
            </a:r>
            <a:r>
              <a:rPr kumimoji="1" lang="en-US" altLang="zh-TW" sz="2200" dirty="0" err="1">
                <a:solidFill>
                  <a:srgbClr val="0070C0"/>
                </a:solidFill>
              </a:rPr>
              <a:t>subword</a:t>
            </a:r>
            <a:r>
              <a:rPr kumimoji="1" lang="zh-TW" altLang="en-US" sz="2200" dirty="0">
                <a:solidFill>
                  <a:srgbClr val="0070C0"/>
                </a:solidFill>
              </a:rPr>
              <a:t>，模型比較能學到可重複運用的對應關係</a:t>
            </a:r>
            <a:endParaRPr kumimoji="1" lang="en-US" altLang="zh-TW" sz="2200" dirty="0">
              <a:solidFill>
                <a:srgbClr val="0070C0"/>
              </a:solidFill>
            </a:endParaRPr>
          </a:p>
          <a:p>
            <a:pPr>
              <a:lnSpc>
                <a:spcPct val="150000"/>
              </a:lnSpc>
              <a:buClr>
                <a:schemeClr val="tx1"/>
              </a:buClr>
              <a:buSzPct val="75000"/>
              <a:buFont typeface="Arial" panose="020B0604020202020204" pitchFamily="34" charset="0"/>
              <a:buChar char="•"/>
            </a:pPr>
            <a:r>
              <a:rPr kumimoji="1" lang="en-US" altLang="zh-TW" sz="2400" dirty="0"/>
              <a:t> For example, sewage water treatment plant (English) -&gt; </a:t>
            </a:r>
            <a:r>
              <a:rPr kumimoji="1" lang="en-US" altLang="zh-TW" sz="2400" dirty="0" err="1"/>
              <a:t>Abwasserbehandlungsanlage</a:t>
            </a:r>
            <a:r>
              <a:rPr kumimoji="1" lang="en-US" altLang="zh-TW" sz="2400" dirty="0"/>
              <a:t> (German)</a:t>
            </a:r>
          </a:p>
        </p:txBody>
      </p:sp>
      <p:sp>
        <p:nvSpPr>
          <p:cNvPr id="13" name="文字方塊 12">
            <a:extLst>
              <a:ext uri="{FF2B5EF4-FFF2-40B4-BE49-F238E27FC236}">
                <a16:creationId xmlns:a16="http://schemas.microsoft.com/office/drawing/2014/main" id="{B0006E73-1AFD-7F29-30CD-E12E7E389721}"/>
              </a:ext>
            </a:extLst>
          </p:cNvPr>
          <p:cNvSpPr txBox="1"/>
          <p:nvPr/>
        </p:nvSpPr>
        <p:spPr>
          <a:xfrm>
            <a:off x="1036320" y="4791967"/>
            <a:ext cx="1554480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kumimoji="1" lang="en" altLang="zh-TW" dirty="0"/>
              <a:t>sewage water</a:t>
            </a:r>
            <a:endParaRPr kumimoji="1" lang="zh-TW" altLang="en-US" dirty="0"/>
          </a:p>
        </p:txBody>
      </p:sp>
      <p:sp>
        <p:nvSpPr>
          <p:cNvPr id="16" name="文字方塊 15">
            <a:extLst>
              <a:ext uri="{FF2B5EF4-FFF2-40B4-BE49-F238E27FC236}">
                <a16:creationId xmlns:a16="http://schemas.microsoft.com/office/drawing/2014/main" id="{22D26664-88E0-CA47-C4C8-D3BE2DE62E6F}"/>
              </a:ext>
            </a:extLst>
          </p:cNvPr>
          <p:cNvSpPr txBox="1"/>
          <p:nvPr/>
        </p:nvSpPr>
        <p:spPr>
          <a:xfrm>
            <a:off x="2319352" y="4807465"/>
            <a:ext cx="1554480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kumimoji="1" lang="en" altLang="zh-TW" dirty="0"/>
              <a:t>treatment</a:t>
            </a:r>
            <a:endParaRPr kumimoji="1" lang="zh-TW" altLang="en-US" dirty="0"/>
          </a:p>
        </p:txBody>
      </p:sp>
      <p:sp>
        <p:nvSpPr>
          <p:cNvPr id="17" name="文字方塊 16">
            <a:extLst>
              <a:ext uri="{FF2B5EF4-FFF2-40B4-BE49-F238E27FC236}">
                <a16:creationId xmlns:a16="http://schemas.microsoft.com/office/drawing/2014/main" id="{CD3DA3AF-FC50-D3EB-9B50-802102C19BAB}"/>
              </a:ext>
            </a:extLst>
          </p:cNvPr>
          <p:cNvSpPr txBox="1"/>
          <p:nvPr/>
        </p:nvSpPr>
        <p:spPr>
          <a:xfrm>
            <a:off x="3873832" y="4805419"/>
            <a:ext cx="1554480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" altLang="zh-TW" dirty="0"/>
              <a:t>plant/facility</a:t>
            </a:r>
            <a:endParaRPr kumimoji="1" lang="zh-TW" altLang="en-US" dirty="0"/>
          </a:p>
        </p:txBody>
      </p:sp>
      <p:cxnSp>
        <p:nvCxnSpPr>
          <p:cNvPr id="19" name="直線接點 18">
            <a:extLst>
              <a:ext uri="{FF2B5EF4-FFF2-40B4-BE49-F238E27FC236}">
                <a16:creationId xmlns:a16="http://schemas.microsoft.com/office/drawing/2014/main" id="{CF4BAE6E-53D7-0312-4CA4-5E843833127E}"/>
              </a:ext>
            </a:extLst>
          </p:cNvPr>
          <p:cNvCxnSpPr>
            <a:cxnSpLocks/>
          </p:cNvCxnSpPr>
          <p:nvPr/>
        </p:nvCxnSpPr>
        <p:spPr>
          <a:xfrm>
            <a:off x="816237" y="4767384"/>
            <a:ext cx="1317363" cy="0"/>
          </a:xfrm>
          <a:prstGeom prst="line">
            <a:avLst/>
          </a:prstGeom>
          <a:ln w="28575">
            <a:solidFill>
              <a:srgbClr val="FF0000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20" name="直線接點 19">
            <a:extLst>
              <a:ext uri="{FF2B5EF4-FFF2-40B4-BE49-F238E27FC236}">
                <a16:creationId xmlns:a16="http://schemas.microsoft.com/office/drawing/2014/main" id="{849C16AB-2C20-ABEF-A7A3-B06E913DAED6}"/>
              </a:ext>
            </a:extLst>
          </p:cNvPr>
          <p:cNvCxnSpPr>
            <a:cxnSpLocks/>
          </p:cNvCxnSpPr>
          <p:nvPr/>
        </p:nvCxnSpPr>
        <p:spPr>
          <a:xfrm>
            <a:off x="2175732" y="4767384"/>
            <a:ext cx="1764000" cy="0"/>
          </a:xfrm>
          <a:prstGeom prst="line">
            <a:avLst/>
          </a:prstGeom>
          <a:ln w="28575">
            <a:solidFill>
              <a:srgbClr val="FF0000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22" name="直線接點 21">
            <a:extLst>
              <a:ext uri="{FF2B5EF4-FFF2-40B4-BE49-F238E27FC236}">
                <a16:creationId xmlns:a16="http://schemas.microsoft.com/office/drawing/2014/main" id="{3CF5993C-F9D1-E33C-6679-9EBFFC0BA1BC}"/>
              </a:ext>
            </a:extLst>
          </p:cNvPr>
          <p:cNvCxnSpPr>
            <a:cxnSpLocks/>
          </p:cNvCxnSpPr>
          <p:nvPr/>
        </p:nvCxnSpPr>
        <p:spPr>
          <a:xfrm>
            <a:off x="4002487" y="4767384"/>
            <a:ext cx="863075" cy="0"/>
          </a:xfrm>
          <a:prstGeom prst="line">
            <a:avLst/>
          </a:prstGeom>
          <a:ln w="28575">
            <a:solidFill>
              <a:srgbClr val="FF0000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32" name="向右箭號 31">
            <a:extLst>
              <a:ext uri="{FF2B5EF4-FFF2-40B4-BE49-F238E27FC236}">
                <a16:creationId xmlns:a16="http://schemas.microsoft.com/office/drawing/2014/main" id="{AE1EFD24-4C21-4AB2-C01D-9BF2DCDC1CFB}"/>
              </a:ext>
            </a:extLst>
          </p:cNvPr>
          <p:cNvSpPr/>
          <p:nvPr/>
        </p:nvSpPr>
        <p:spPr>
          <a:xfrm>
            <a:off x="6711344" y="4656389"/>
            <a:ext cx="542441" cy="464949"/>
          </a:xfrm>
          <a:prstGeom prst="rightArrow">
            <a:avLst/>
          </a:prstGeom>
          <a:solidFill>
            <a:srgbClr val="FF0000"/>
          </a:solidFill>
          <a:ln>
            <a:solidFill>
              <a:srgbClr val="FF0000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kumimoji="1" lang="zh-TW" altLang="en-US"/>
          </a:p>
        </p:txBody>
      </p:sp>
      <p:sp>
        <p:nvSpPr>
          <p:cNvPr id="33" name="文字方塊 32">
            <a:extLst>
              <a:ext uri="{FF2B5EF4-FFF2-40B4-BE49-F238E27FC236}">
                <a16:creationId xmlns:a16="http://schemas.microsoft.com/office/drawing/2014/main" id="{6F013914-D83F-CE10-2E29-DF66F2216CAC}"/>
              </a:ext>
            </a:extLst>
          </p:cNvPr>
          <p:cNvSpPr txBox="1"/>
          <p:nvPr/>
        </p:nvSpPr>
        <p:spPr>
          <a:xfrm>
            <a:off x="7353843" y="4690669"/>
            <a:ext cx="4029273" cy="46166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kumimoji="1" lang="en-US" altLang="zh-TW" sz="2400" dirty="0">
                <a:solidFill>
                  <a:srgbClr val="FF0000"/>
                </a:solidFill>
              </a:rPr>
              <a:t>Sub-word units are favored.</a:t>
            </a:r>
            <a:endParaRPr kumimoji="1" lang="zh-TW" altLang="en-US" sz="2400" dirty="0">
              <a:solidFill>
                <a:srgbClr val="FF0000"/>
              </a:solidFill>
            </a:endParaRPr>
          </a:p>
        </p:txBody>
      </p:sp>
    </p:spTree>
    <p:extLst>
      <p:ext uri="{BB962C8B-B14F-4D97-AF65-F5344CB8AC3E}">
        <p14:creationId xmlns:p14="http://schemas.microsoft.com/office/powerpoint/2010/main" val="3759028167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標題 1">
            <a:extLst>
              <a:ext uri="{FF2B5EF4-FFF2-40B4-BE49-F238E27FC236}">
                <a16:creationId xmlns:a16="http://schemas.microsoft.com/office/drawing/2014/main" id="{99960D3B-4A97-4F00-ADE0-442D64957B2E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kumimoji="1" lang="en-US" altLang="zh-TW" dirty="0"/>
              <a:t>Summary</a:t>
            </a:r>
            <a:endParaRPr kumimoji="1" lang="zh-TW" altLang="en-US" dirty="0"/>
          </a:p>
        </p:txBody>
      </p:sp>
      <p:sp>
        <p:nvSpPr>
          <p:cNvPr id="4" name="投影片編號版面配置區 3">
            <a:extLst>
              <a:ext uri="{FF2B5EF4-FFF2-40B4-BE49-F238E27FC236}">
                <a16:creationId xmlns:a16="http://schemas.microsoft.com/office/drawing/2014/main" id="{47ECB99D-79A0-3C24-DD1B-B8AF71EE8CC6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6113E31D-E2AB-40D1-8B51-AFA5AFEF393A}" type="slidenum">
              <a:rPr lang="en-US" smtClean="0"/>
              <a:pPr/>
              <a:t>15</a:t>
            </a:fld>
            <a:endParaRPr lang="en-US" dirty="0"/>
          </a:p>
        </p:txBody>
      </p:sp>
      <p:sp>
        <p:nvSpPr>
          <p:cNvPr id="9" name="文字方塊 8">
            <a:extLst>
              <a:ext uri="{FF2B5EF4-FFF2-40B4-BE49-F238E27FC236}">
                <a16:creationId xmlns:a16="http://schemas.microsoft.com/office/drawing/2014/main" id="{2CF0C65F-C6BA-C006-AC02-03B81963BEC1}"/>
              </a:ext>
            </a:extLst>
          </p:cNvPr>
          <p:cNvSpPr txBox="1"/>
          <p:nvPr/>
        </p:nvSpPr>
        <p:spPr>
          <a:xfrm>
            <a:off x="653143" y="1868198"/>
            <a:ext cx="10918370" cy="3910814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marL="342900" indent="-342900">
              <a:lnSpc>
                <a:spcPct val="150000"/>
              </a:lnSpc>
              <a:buFont typeface="Arial" panose="020B0604020202020204" pitchFamily="34" charset="0"/>
              <a:buChar char="•"/>
            </a:pPr>
            <a:r>
              <a:rPr kumimoji="1" lang="zh-TW" altLang="en-US" sz="2400" dirty="0">
                <a:ea typeface="Microsoft JhengHei" panose="020B0604030504040204" pitchFamily="34" charset="-120"/>
              </a:rPr>
              <a:t>為什麼我們需要 </a:t>
            </a:r>
            <a:r>
              <a:rPr kumimoji="1" lang="en-US" altLang="zh-TW" sz="2400" dirty="0"/>
              <a:t>Sub-word Tokenization?</a:t>
            </a:r>
          </a:p>
          <a:p>
            <a:pPr marL="800100" lvl="1" indent="-342900">
              <a:lnSpc>
                <a:spcPct val="150000"/>
              </a:lnSpc>
              <a:buFont typeface="Arial" panose="020B0604020202020204" pitchFamily="34" charset="0"/>
              <a:buChar char="•"/>
            </a:pPr>
            <a:r>
              <a:rPr kumimoji="1" lang="zh-TW" altLang="en-US" sz="2400" dirty="0">
                <a:ea typeface="Microsoft JhengHei" panose="020B0604030504040204" pitchFamily="34" charset="-120"/>
              </a:rPr>
              <a:t>為了解決 </a:t>
            </a:r>
            <a:r>
              <a:rPr kumimoji="1" lang="en-US" altLang="zh-TW" sz="2400" dirty="0">
                <a:ea typeface="Microsoft JhengHei" panose="020B0604030504040204" pitchFamily="34" charset="-120"/>
              </a:rPr>
              <a:t>OOV </a:t>
            </a:r>
            <a:r>
              <a:rPr kumimoji="1" lang="zh-TW" altLang="en-US" sz="2400" dirty="0">
                <a:ea typeface="Microsoft JhengHei" panose="020B0604030504040204" pitchFamily="34" charset="-120"/>
              </a:rPr>
              <a:t>的問題</a:t>
            </a:r>
            <a:endParaRPr kumimoji="1" lang="en-US" altLang="zh-TW" sz="2400" dirty="0">
              <a:ea typeface="Microsoft JhengHei" panose="020B0604030504040204" pitchFamily="34" charset="-120"/>
            </a:endParaRPr>
          </a:p>
          <a:p>
            <a:pPr marL="1257300" lvl="2" indent="-342900">
              <a:lnSpc>
                <a:spcPct val="150000"/>
              </a:lnSpc>
              <a:buFont typeface="Arial" panose="020B0604020202020204" pitchFamily="34" charset="0"/>
              <a:buChar char="•"/>
            </a:pPr>
            <a:r>
              <a:rPr kumimoji="1" lang="zh-TW" altLang="en-US" sz="2400" dirty="0">
                <a:ea typeface="Microsoft JhengHei" panose="020B0604030504040204" pitchFamily="34" charset="-120"/>
              </a:rPr>
              <a:t>有些語言特別容易出現長單詞，例如</a:t>
            </a:r>
            <a:r>
              <a:rPr kumimoji="1" lang="en-US" altLang="zh-TW" sz="2400" dirty="0">
                <a:ea typeface="Microsoft JhengHei" panose="020B0604030504040204" pitchFamily="34" charset="-120"/>
              </a:rPr>
              <a:t> </a:t>
            </a:r>
            <a:r>
              <a:rPr kumimoji="1" lang="en" altLang="zh-TW" sz="2400" dirty="0" err="1">
                <a:ea typeface="Microsoft JhengHei" panose="020B0604030504040204" pitchFamily="34" charset="-120"/>
              </a:rPr>
              <a:t>Abwasserbehandlungsanlage</a:t>
            </a:r>
            <a:r>
              <a:rPr kumimoji="1" lang="en" altLang="zh-TW" sz="2400" dirty="0">
                <a:ea typeface="Microsoft JhengHei" panose="020B0604030504040204" pitchFamily="34" charset="-120"/>
              </a:rPr>
              <a:t> </a:t>
            </a:r>
            <a:r>
              <a:rPr kumimoji="1" lang="zh-TW" altLang="en-US" sz="2400" dirty="0">
                <a:ea typeface="Microsoft JhengHei" panose="020B0604030504040204" pitchFamily="34" charset="-120"/>
              </a:rPr>
              <a:t>這種可拆式複合字</a:t>
            </a:r>
            <a:endParaRPr kumimoji="1" lang="en-US" altLang="zh-TW" sz="2400" dirty="0">
              <a:ea typeface="Microsoft JhengHei" panose="020B0604030504040204" pitchFamily="34" charset="-120"/>
            </a:endParaRPr>
          </a:p>
          <a:p>
            <a:pPr marL="1257300" lvl="2" indent="-342900">
              <a:lnSpc>
                <a:spcPct val="150000"/>
              </a:lnSpc>
              <a:buFont typeface="Arial" panose="020B0604020202020204" pitchFamily="34" charset="0"/>
              <a:buChar char="•"/>
            </a:pPr>
            <a:r>
              <a:rPr kumimoji="1" lang="zh-TW" altLang="en-US" sz="2400" dirty="0">
                <a:ea typeface="Microsoft JhengHei" panose="020B0604030504040204" pitchFamily="34" charset="-120"/>
              </a:rPr>
              <a:t>沒看過的字 </a:t>
            </a:r>
            <a:r>
              <a:rPr kumimoji="1" lang="en-US" altLang="zh-TW" sz="2400" dirty="0">
                <a:ea typeface="Microsoft JhengHei" panose="020B0604030504040204" pitchFamily="34" charset="-120"/>
              </a:rPr>
              <a:t>(Unseen words)</a:t>
            </a:r>
          </a:p>
          <a:p>
            <a:pPr marL="800100" lvl="1" indent="-342900">
              <a:lnSpc>
                <a:spcPct val="150000"/>
              </a:lnSpc>
              <a:buFont typeface="Arial" panose="020B0604020202020204" pitchFamily="34" charset="0"/>
              <a:buChar char="•"/>
            </a:pPr>
            <a:r>
              <a:rPr kumimoji="1" lang="zh-TW" altLang="en-US" sz="2400" dirty="0">
                <a:ea typeface="Microsoft JhengHei" panose="020B0604030504040204" pitchFamily="34" charset="-120"/>
              </a:rPr>
              <a:t>擴增字典大小，如果原本字典在</a:t>
            </a:r>
            <a:r>
              <a:rPr kumimoji="1" lang="en-US" altLang="zh-TW" sz="2400" dirty="0">
                <a:ea typeface="Microsoft JhengHei" panose="020B0604030504040204" pitchFamily="34" charset="-120"/>
              </a:rPr>
              <a:t> 30,000–50,000 </a:t>
            </a:r>
            <a:r>
              <a:rPr kumimoji="1" lang="zh-TW" altLang="en-US" sz="2400" dirty="0">
                <a:ea typeface="Microsoft JhengHei" panose="020B0604030504040204" pitchFamily="34" charset="-120"/>
              </a:rPr>
              <a:t>個字，那如果用</a:t>
            </a:r>
            <a:r>
              <a:rPr kumimoji="1" lang="en-US" altLang="zh-TW" sz="2400" dirty="0">
                <a:ea typeface="Microsoft JhengHei" panose="020B0604030504040204" pitchFamily="34" charset="-120"/>
              </a:rPr>
              <a:t> Sub-word </a:t>
            </a:r>
            <a:r>
              <a:rPr kumimoji="1" lang="zh-TW" altLang="en-US" sz="2400" dirty="0">
                <a:ea typeface="Microsoft JhengHei" panose="020B0604030504040204" pitchFamily="34" charset="-120"/>
              </a:rPr>
              <a:t>的方式建立字典就可以在原本的字典大小範圍表達更多的字</a:t>
            </a:r>
            <a:endParaRPr kumimoji="1" lang="en-US" altLang="zh-TW" sz="2400" dirty="0">
              <a:ea typeface="Microsoft JhengHei" panose="020B0604030504040204" pitchFamily="34" charset="-120"/>
            </a:endParaRPr>
          </a:p>
        </p:txBody>
      </p:sp>
    </p:spTree>
    <p:extLst>
      <p:ext uri="{BB962C8B-B14F-4D97-AF65-F5344CB8AC3E}">
        <p14:creationId xmlns:p14="http://schemas.microsoft.com/office/powerpoint/2010/main" val="384173160"/>
      </p:ext>
    </p:extLst>
  </p:cSld>
  <p:clrMapOvr>
    <a:masterClrMapping/>
  </p:clrMapOvr>
</p:sld>
</file>

<file path=ppt/slides/slide1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標題 1">
            <a:extLst>
              <a:ext uri="{FF2B5EF4-FFF2-40B4-BE49-F238E27FC236}">
                <a16:creationId xmlns:a16="http://schemas.microsoft.com/office/drawing/2014/main" id="{52D30579-4E7D-185F-97A5-789F3C15DE4E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>
            <a:normAutofit fontScale="90000"/>
          </a:bodyPr>
          <a:lstStyle/>
          <a:p>
            <a:r>
              <a:rPr kumimoji="1" lang="en-US" altLang="zh-TW" dirty="0"/>
              <a:t>Common Sub-word Tokenization Algorithms</a:t>
            </a:r>
            <a:endParaRPr kumimoji="1" lang="zh-TW" altLang="en-US" dirty="0"/>
          </a:p>
        </p:txBody>
      </p:sp>
      <p:sp>
        <p:nvSpPr>
          <p:cNvPr id="4" name="投影片編號版面配置區 3">
            <a:extLst>
              <a:ext uri="{FF2B5EF4-FFF2-40B4-BE49-F238E27FC236}">
                <a16:creationId xmlns:a16="http://schemas.microsoft.com/office/drawing/2014/main" id="{69367009-F797-FAD8-B0A9-DC1EDD978471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6113E31D-E2AB-40D1-8B51-AFA5AFEF393A}" type="slidenum">
              <a:rPr lang="en-US" smtClean="0"/>
              <a:pPr/>
              <a:t>16</a:t>
            </a:fld>
            <a:endParaRPr lang="en-US"/>
          </a:p>
        </p:txBody>
      </p:sp>
      <p:sp>
        <p:nvSpPr>
          <p:cNvPr id="6" name="文字方塊 5">
            <a:extLst>
              <a:ext uri="{FF2B5EF4-FFF2-40B4-BE49-F238E27FC236}">
                <a16:creationId xmlns:a16="http://schemas.microsoft.com/office/drawing/2014/main" id="{FB3E6967-380C-D53C-B33B-EAF4CB16A2F5}"/>
              </a:ext>
            </a:extLst>
          </p:cNvPr>
          <p:cNvSpPr txBox="1"/>
          <p:nvPr/>
        </p:nvSpPr>
        <p:spPr>
          <a:xfrm>
            <a:off x="1280160" y="4994398"/>
            <a:ext cx="9276310" cy="1200329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kumimoji="1" lang="en" altLang="zh-TW" sz="1200" dirty="0"/>
              <a:t>[1] </a:t>
            </a:r>
            <a:r>
              <a:rPr kumimoji="1" lang="en" altLang="zh-TW" sz="1200" dirty="0" err="1"/>
              <a:t>Sennrich</a:t>
            </a:r>
            <a:r>
              <a:rPr kumimoji="1" lang="en" altLang="zh-TW" sz="1200" dirty="0"/>
              <a:t>, Rico, Barry Haddow, and Alexandra Birch. "Neural Machine Translation of Rare Words with </a:t>
            </a:r>
            <a:r>
              <a:rPr kumimoji="1" lang="en" altLang="zh-TW" sz="1200" dirty="0" err="1"/>
              <a:t>Subword</a:t>
            </a:r>
            <a:r>
              <a:rPr kumimoji="1" lang="en" altLang="zh-TW" sz="1200" dirty="0"/>
              <a:t> Units." Proceedings of the 54th Annual Meeting of the Association for Computational Linguistics (ACL), 2016.</a:t>
            </a:r>
          </a:p>
          <a:p>
            <a:r>
              <a:rPr kumimoji="1" lang="en" altLang="zh-TW" sz="1200" dirty="0"/>
              <a:t>[2] Schuster, Mike, and </a:t>
            </a:r>
            <a:r>
              <a:rPr kumimoji="1" lang="en" altLang="zh-TW" sz="1200" dirty="0" err="1"/>
              <a:t>Kaisuke</a:t>
            </a:r>
            <a:r>
              <a:rPr kumimoji="1" lang="en" altLang="zh-TW" sz="1200" dirty="0"/>
              <a:t> Nakajima. "Japanese and </a:t>
            </a:r>
            <a:r>
              <a:rPr kumimoji="1" lang="en" altLang="zh-TW" sz="1200" dirty="0" err="1"/>
              <a:t>korean</a:t>
            </a:r>
            <a:r>
              <a:rPr kumimoji="1" lang="en" altLang="zh-TW" sz="1200" dirty="0"/>
              <a:t> voice search." 2012 IEEE international conference on acoustics, speech and signal processing (ICASSP). IEEE, 2012.</a:t>
            </a:r>
          </a:p>
          <a:p>
            <a:r>
              <a:rPr kumimoji="1" lang="en" altLang="zh-TW" sz="1200" dirty="0"/>
              <a:t>[3] Kudo, </a:t>
            </a:r>
            <a:r>
              <a:rPr kumimoji="1" lang="en" altLang="zh-TW" sz="1200" dirty="0" err="1"/>
              <a:t>Taku</a:t>
            </a:r>
            <a:r>
              <a:rPr kumimoji="1" lang="en" altLang="zh-TW" sz="1200" dirty="0"/>
              <a:t>. "</a:t>
            </a:r>
            <a:r>
              <a:rPr kumimoji="1" lang="en" altLang="zh-TW" sz="1200" dirty="0" err="1"/>
              <a:t>Subword</a:t>
            </a:r>
            <a:r>
              <a:rPr kumimoji="1" lang="en" altLang="zh-TW" sz="1200" dirty="0"/>
              <a:t> Regularization: Improving Neural Network Translation Models with Multiple </a:t>
            </a:r>
            <a:r>
              <a:rPr kumimoji="1" lang="en" altLang="zh-TW" sz="1200" dirty="0" err="1"/>
              <a:t>Subword</a:t>
            </a:r>
            <a:r>
              <a:rPr kumimoji="1" lang="en" altLang="zh-TW" sz="1200" dirty="0"/>
              <a:t> Candidates." Proceedings of the 56th Annual Meeting of the Association for Computational Linguistics (ACL). 2018.</a:t>
            </a:r>
            <a:endParaRPr kumimoji="1" lang="zh-TW" altLang="en-US" sz="1200" dirty="0"/>
          </a:p>
        </p:txBody>
      </p:sp>
      <p:sp>
        <p:nvSpPr>
          <p:cNvPr id="3" name="文字方塊 2">
            <a:extLst>
              <a:ext uri="{FF2B5EF4-FFF2-40B4-BE49-F238E27FC236}">
                <a16:creationId xmlns:a16="http://schemas.microsoft.com/office/drawing/2014/main" id="{546C6FBC-68AC-BAD5-F6F3-9D0AED341E76}"/>
              </a:ext>
            </a:extLst>
          </p:cNvPr>
          <p:cNvSpPr txBox="1"/>
          <p:nvPr/>
        </p:nvSpPr>
        <p:spPr>
          <a:xfrm>
            <a:off x="653143" y="1868198"/>
            <a:ext cx="10918370" cy="1685846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marL="342900" indent="-342900">
              <a:lnSpc>
                <a:spcPct val="150000"/>
              </a:lnSpc>
              <a:buFont typeface="Arial" panose="020B0604020202020204" pitchFamily="34" charset="0"/>
              <a:buChar char="•"/>
            </a:pPr>
            <a:r>
              <a:rPr kumimoji="1" lang="en" altLang="zh-TW" sz="2400" dirty="0">
                <a:ea typeface="Microsoft JhengHei" panose="020B0604030504040204" pitchFamily="34" charset="-120"/>
              </a:rPr>
              <a:t>Byte Pair Encoding (</a:t>
            </a:r>
            <a:r>
              <a:rPr kumimoji="1" lang="en" altLang="zh-TW" sz="2400" dirty="0" err="1">
                <a:ea typeface="Microsoft JhengHei" panose="020B0604030504040204" pitchFamily="34" charset="-120"/>
              </a:rPr>
              <a:t>Sennrich</a:t>
            </a:r>
            <a:r>
              <a:rPr kumimoji="1" lang="en" altLang="zh-TW" sz="2400" dirty="0">
                <a:ea typeface="Microsoft JhengHei" panose="020B0604030504040204" pitchFamily="34" charset="-120"/>
              </a:rPr>
              <a:t> et al., 2016)</a:t>
            </a:r>
            <a:r>
              <a:rPr kumimoji="1" lang="en" altLang="zh-TW" sz="2400" baseline="30000" dirty="0">
                <a:ea typeface="Microsoft JhengHei" panose="020B0604030504040204" pitchFamily="34" charset="-120"/>
              </a:rPr>
              <a:t>[1]</a:t>
            </a:r>
          </a:p>
          <a:p>
            <a:pPr marL="342900" indent="-342900">
              <a:lnSpc>
                <a:spcPct val="150000"/>
              </a:lnSpc>
              <a:buFont typeface="Arial" panose="020B0604020202020204" pitchFamily="34" charset="0"/>
              <a:buChar char="•"/>
            </a:pPr>
            <a:r>
              <a:rPr kumimoji="1" lang="en" altLang="zh-TW" sz="2400" dirty="0" err="1">
                <a:ea typeface="Microsoft JhengHei" panose="020B0604030504040204" pitchFamily="34" charset="-120"/>
              </a:rPr>
              <a:t>WordPiece</a:t>
            </a:r>
            <a:r>
              <a:rPr kumimoji="1" lang="en" altLang="zh-TW" sz="2400" dirty="0">
                <a:ea typeface="Microsoft JhengHei" panose="020B0604030504040204" pitchFamily="34" charset="-120"/>
              </a:rPr>
              <a:t> (Schuster and Nakajima, 2012)</a:t>
            </a:r>
            <a:r>
              <a:rPr kumimoji="1" lang="en" altLang="zh-TW" sz="2400" baseline="30000" dirty="0">
                <a:ea typeface="Microsoft JhengHei" panose="020B0604030504040204" pitchFamily="34" charset="-120"/>
              </a:rPr>
              <a:t>[2]</a:t>
            </a:r>
          </a:p>
          <a:p>
            <a:pPr marL="342900" indent="-342900">
              <a:lnSpc>
                <a:spcPct val="150000"/>
              </a:lnSpc>
              <a:buFont typeface="Arial" panose="020B0604020202020204" pitchFamily="34" charset="0"/>
              <a:buChar char="•"/>
            </a:pPr>
            <a:r>
              <a:rPr kumimoji="1" lang="en" altLang="zh-TW" sz="2400" dirty="0">
                <a:ea typeface="Microsoft JhengHei" panose="020B0604030504040204" pitchFamily="34" charset="-120"/>
              </a:rPr>
              <a:t>Unigram Language Model (Kudo, 2018)</a:t>
            </a:r>
            <a:r>
              <a:rPr kumimoji="1" lang="en" altLang="zh-TW" sz="2400" baseline="30000" dirty="0">
                <a:ea typeface="Microsoft JhengHei" panose="020B0604030504040204" pitchFamily="34" charset="-120"/>
              </a:rPr>
              <a:t>[3]</a:t>
            </a:r>
          </a:p>
        </p:txBody>
      </p:sp>
    </p:spTree>
    <p:extLst>
      <p:ext uri="{BB962C8B-B14F-4D97-AF65-F5344CB8AC3E}">
        <p14:creationId xmlns:p14="http://schemas.microsoft.com/office/powerpoint/2010/main" val="3132523064"/>
      </p:ext>
    </p:extLst>
  </p:cSld>
  <p:clrMapOvr>
    <a:masterClrMapping/>
  </p:clrMapOvr>
</p:sld>
</file>

<file path=ppt/slides/slide1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" name="投影片編號版面配置區 4">
            <a:extLst>
              <a:ext uri="{FF2B5EF4-FFF2-40B4-BE49-F238E27FC236}">
                <a16:creationId xmlns:a16="http://schemas.microsoft.com/office/drawing/2014/main" id="{80B6B308-E528-1567-412F-2BF52CB92E39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6113E31D-E2AB-40D1-8B51-AFA5AFEF393A}" type="slidenum">
              <a:rPr lang="en-US" dirty="0"/>
              <a:t>17</a:t>
            </a:fld>
            <a:endParaRPr lang="zh-TW" altLang="en-US"/>
          </a:p>
        </p:txBody>
      </p:sp>
      <p:sp>
        <p:nvSpPr>
          <p:cNvPr id="9" name="標題 1">
            <a:extLst>
              <a:ext uri="{FF2B5EF4-FFF2-40B4-BE49-F238E27FC236}">
                <a16:creationId xmlns:a16="http://schemas.microsoft.com/office/drawing/2014/main" id="{48A7588B-B0B2-7411-9D52-1DF0EDC2740A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705400" y="356088"/>
            <a:ext cx="10058400" cy="1033416"/>
          </a:xfrm>
        </p:spPr>
        <p:txBody>
          <a:bodyPr/>
          <a:lstStyle/>
          <a:p>
            <a:r>
              <a:rPr lang="en-US" altLang="zh-TW" dirty="0">
                <a:ea typeface="新細明體"/>
                <a:cs typeface="Calibri Light"/>
              </a:rPr>
              <a:t>Sub-word Tokenization (1)</a:t>
            </a:r>
            <a:endParaRPr lang="zh-TW" altLang="en-US" sz="2400" dirty="0">
              <a:ea typeface="新細明體"/>
              <a:cs typeface="Calibri Light"/>
            </a:endParaRPr>
          </a:p>
        </p:txBody>
      </p:sp>
      <p:sp>
        <p:nvSpPr>
          <p:cNvPr id="7" name="內容版面配置區 2">
            <a:extLst>
              <a:ext uri="{FF2B5EF4-FFF2-40B4-BE49-F238E27FC236}">
                <a16:creationId xmlns:a16="http://schemas.microsoft.com/office/drawing/2014/main" id="{6AE5E23E-1E1F-3A47-7CA1-2E500F47EB18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705400" y="1584820"/>
            <a:ext cx="9997439" cy="1443298"/>
          </a:xfrm>
        </p:spPr>
        <p:txBody>
          <a:bodyPr>
            <a:normAutofit/>
          </a:bodyPr>
          <a:lstStyle/>
          <a:p>
            <a:pPr>
              <a:lnSpc>
                <a:spcPct val="150000"/>
              </a:lnSpc>
              <a:buClr>
                <a:schemeClr val="tx1"/>
              </a:buClr>
              <a:buSzPct val="75000"/>
              <a:buFont typeface="Arial" panose="020B0604020202020204" pitchFamily="34" charset="0"/>
              <a:buChar char="•"/>
            </a:pPr>
            <a:r>
              <a:rPr kumimoji="1" lang="en-US" altLang="zh-TW" sz="2600" dirty="0"/>
              <a:t> Given a training corpus, we first turn each word into </a:t>
            </a:r>
            <a:r>
              <a:rPr kumimoji="1" lang="en-US" altLang="zh-TW" sz="2600" dirty="0">
                <a:solidFill>
                  <a:srgbClr val="FF0000"/>
                </a:solidFill>
              </a:rPr>
              <a:t>a sequence of characters </a:t>
            </a:r>
            <a:r>
              <a:rPr kumimoji="1" lang="en-US" altLang="zh-TW" sz="2600" dirty="0"/>
              <a:t>(separated by </a:t>
            </a:r>
            <a:r>
              <a:rPr kumimoji="1" lang="en-US" altLang="zh-TW" sz="2600" dirty="0">
                <a:solidFill>
                  <a:srgbClr val="FF0000"/>
                </a:solidFill>
              </a:rPr>
              <a:t>spaces</a:t>
            </a:r>
            <a:r>
              <a:rPr kumimoji="1" lang="en-US" altLang="zh-TW" sz="2600" dirty="0"/>
              <a:t>)</a:t>
            </a:r>
          </a:p>
        </p:txBody>
      </p:sp>
      <p:sp>
        <p:nvSpPr>
          <p:cNvPr id="10" name="矩形 9">
            <a:extLst>
              <a:ext uri="{FF2B5EF4-FFF2-40B4-BE49-F238E27FC236}">
                <a16:creationId xmlns:a16="http://schemas.microsoft.com/office/drawing/2014/main" id="{E004B5B4-2CD1-88C5-2321-D680AF125440}"/>
              </a:ext>
            </a:extLst>
          </p:cNvPr>
          <p:cNvSpPr/>
          <p:nvPr/>
        </p:nvSpPr>
        <p:spPr>
          <a:xfrm>
            <a:off x="1097280" y="3646671"/>
            <a:ext cx="5554980" cy="868680"/>
          </a:xfrm>
          <a:prstGeom prst="rect">
            <a:avLst/>
          </a:prstGeom>
          <a:noFill/>
          <a:ln>
            <a:solidFill>
              <a:schemeClr val="tx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r>
              <a:rPr kumimoji="1" lang="en-US" altLang="zh-TW" dirty="0">
                <a:solidFill>
                  <a:schemeClr val="tx1"/>
                </a:solidFill>
              </a:rPr>
              <a:t>low low low low low lower lower newest newest newest newest newest newest widest widest widest</a:t>
            </a:r>
            <a:endParaRPr kumimoji="1" lang="zh-TW" altLang="en-US" dirty="0">
              <a:solidFill>
                <a:schemeClr val="tx1"/>
              </a:solidFill>
            </a:endParaRPr>
          </a:p>
        </p:txBody>
      </p:sp>
      <p:graphicFrame>
        <p:nvGraphicFramePr>
          <p:cNvPr id="12" name="表格 13">
            <a:extLst>
              <a:ext uri="{FF2B5EF4-FFF2-40B4-BE49-F238E27FC236}">
                <a16:creationId xmlns:a16="http://schemas.microsoft.com/office/drawing/2014/main" id="{CBDAAF26-0372-BCF3-F6DE-C668E932410C}"/>
              </a:ext>
            </a:extLst>
          </p:cNvPr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2929678999"/>
              </p:ext>
            </p:extLst>
          </p:nvPr>
        </p:nvGraphicFramePr>
        <p:xfrm>
          <a:off x="7698204" y="3220452"/>
          <a:ext cx="3537145" cy="198120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2038022">
                  <a:extLst>
                    <a:ext uri="{9D8B030D-6E8A-4147-A177-3AD203B41FA5}">
                      <a16:colId xmlns:a16="http://schemas.microsoft.com/office/drawing/2014/main" val="299152187"/>
                    </a:ext>
                  </a:extLst>
                </a:gridCol>
                <a:gridCol w="1499123">
                  <a:extLst>
                    <a:ext uri="{9D8B030D-6E8A-4147-A177-3AD203B41FA5}">
                      <a16:colId xmlns:a16="http://schemas.microsoft.com/office/drawing/2014/main" val="626042458"/>
                    </a:ext>
                  </a:extLst>
                </a:gridCol>
              </a:tblGrid>
              <a:tr h="207433">
                <a:tc>
                  <a:txBody>
                    <a:bodyPr/>
                    <a:lstStyle/>
                    <a:p>
                      <a:r>
                        <a:rPr lang="en-US" altLang="zh-TW" sz="2000" dirty="0">
                          <a:solidFill>
                            <a:schemeClr val="tx1"/>
                          </a:solidFill>
                        </a:rPr>
                        <a:t>Word</a:t>
                      </a:r>
                      <a:endParaRPr lang="zh-TW" altLang="en-US" sz="2000" dirty="0">
                        <a:solidFill>
                          <a:schemeClr val="tx1"/>
                        </a:solidFill>
                      </a:endParaRPr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r>
                        <a:rPr lang="en-US" altLang="zh-TW" sz="2000" dirty="0">
                          <a:solidFill>
                            <a:schemeClr val="tx1"/>
                          </a:solidFill>
                        </a:rPr>
                        <a:t>Frequency</a:t>
                      </a:r>
                      <a:endParaRPr lang="zh-TW" altLang="en-US" sz="2000" dirty="0">
                        <a:solidFill>
                          <a:schemeClr val="tx1"/>
                        </a:solidFill>
                      </a:endParaRPr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592410158"/>
                  </a:ext>
                </a:extLst>
              </a:tr>
              <a:tr h="302338">
                <a:tc>
                  <a:txBody>
                    <a:bodyPr/>
                    <a:lstStyle/>
                    <a:p>
                      <a:r>
                        <a:rPr lang="en-US" altLang="zh-TW" sz="2000" dirty="0">
                          <a:solidFill>
                            <a:schemeClr val="tx1"/>
                          </a:solidFill>
                        </a:rPr>
                        <a:t>l o w </a:t>
                      </a:r>
                      <a:r>
                        <a:rPr lang="en-US" altLang="zh-TW" sz="2000" dirty="0">
                          <a:solidFill>
                            <a:srgbClr val="0070C0"/>
                          </a:solidFill>
                        </a:rPr>
                        <a:t>&lt;/w&gt;</a:t>
                      </a:r>
                      <a:endParaRPr lang="zh-TW" altLang="en-US" sz="2000" dirty="0">
                        <a:solidFill>
                          <a:srgbClr val="0070C0"/>
                        </a:solidFill>
                      </a:endParaRPr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r>
                        <a:rPr lang="en-US" altLang="zh-TW" sz="2000" dirty="0">
                          <a:solidFill>
                            <a:schemeClr val="tx1"/>
                          </a:solidFill>
                        </a:rPr>
                        <a:t>5</a:t>
                      </a:r>
                      <a:endParaRPr lang="zh-TW" altLang="en-US" sz="2000" dirty="0">
                        <a:solidFill>
                          <a:schemeClr val="tx1"/>
                        </a:solidFill>
                      </a:endParaRPr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3786072698"/>
                  </a:ext>
                </a:extLst>
              </a:tr>
              <a:tr h="207433">
                <a:tc>
                  <a:txBody>
                    <a:bodyPr/>
                    <a:lstStyle/>
                    <a:p>
                      <a:r>
                        <a:rPr lang="en-US" altLang="zh-TW" sz="2000" dirty="0">
                          <a:solidFill>
                            <a:schemeClr val="tx1"/>
                          </a:solidFill>
                        </a:rPr>
                        <a:t>l o w e r </a:t>
                      </a:r>
                      <a:r>
                        <a:rPr lang="en-US" altLang="zh-TW" sz="2000" dirty="0">
                          <a:solidFill>
                            <a:srgbClr val="0070C0"/>
                          </a:solidFill>
                        </a:rPr>
                        <a:t>&lt;/w&gt;</a:t>
                      </a:r>
                      <a:endParaRPr lang="zh-TW" altLang="en-US" sz="2000" dirty="0">
                        <a:solidFill>
                          <a:schemeClr val="tx1"/>
                        </a:solidFill>
                      </a:endParaRPr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r>
                        <a:rPr lang="en-US" altLang="zh-TW" sz="2000" dirty="0">
                          <a:solidFill>
                            <a:schemeClr val="tx1"/>
                          </a:solidFill>
                        </a:rPr>
                        <a:t>2</a:t>
                      </a:r>
                      <a:endParaRPr lang="zh-TW" altLang="en-US" sz="2000" dirty="0">
                        <a:solidFill>
                          <a:schemeClr val="tx1"/>
                        </a:solidFill>
                      </a:endParaRPr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140167199"/>
                  </a:ext>
                </a:extLst>
              </a:tr>
              <a:tr h="207433">
                <a:tc>
                  <a:txBody>
                    <a:bodyPr/>
                    <a:lstStyle/>
                    <a:p>
                      <a:r>
                        <a:rPr lang="en-US" altLang="zh-TW" sz="2000" dirty="0">
                          <a:solidFill>
                            <a:schemeClr val="tx1"/>
                          </a:solidFill>
                        </a:rPr>
                        <a:t>n e w e s t </a:t>
                      </a:r>
                      <a:r>
                        <a:rPr lang="en-US" altLang="zh-TW" sz="2000" dirty="0">
                          <a:solidFill>
                            <a:srgbClr val="0070C0"/>
                          </a:solidFill>
                        </a:rPr>
                        <a:t>&lt;/w&gt;</a:t>
                      </a:r>
                      <a:endParaRPr lang="zh-TW" altLang="en-US" sz="2000" dirty="0">
                        <a:solidFill>
                          <a:schemeClr val="tx1"/>
                        </a:solidFill>
                      </a:endParaRPr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r>
                        <a:rPr lang="en-US" altLang="zh-TW" sz="2000" dirty="0">
                          <a:solidFill>
                            <a:schemeClr val="tx1"/>
                          </a:solidFill>
                        </a:rPr>
                        <a:t>6</a:t>
                      </a:r>
                      <a:endParaRPr lang="zh-TW" altLang="en-US" sz="2000" dirty="0">
                        <a:solidFill>
                          <a:schemeClr val="tx1"/>
                        </a:solidFill>
                      </a:endParaRPr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3608810822"/>
                  </a:ext>
                </a:extLst>
              </a:tr>
              <a:tr h="184072">
                <a:tc>
                  <a:txBody>
                    <a:bodyPr/>
                    <a:lstStyle/>
                    <a:p>
                      <a:r>
                        <a:rPr lang="en-US" altLang="zh-TW" sz="2000" dirty="0">
                          <a:solidFill>
                            <a:schemeClr val="tx1"/>
                          </a:solidFill>
                        </a:rPr>
                        <a:t>w </a:t>
                      </a:r>
                      <a:r>
                        <a:rPr lang="en-US" altLang="zh-TW" sz="2000" dirty="0" err="1">
                          <a:solidFill>
                            <a:schemeClr val="tx1"/>
                          </a:solidFill>
                        </a:rPr>
                        <a:t>i</a:t>
                      </a:r>
                      <a:r>
                        <a:rPr lang="en-US" altLang="zh-TW" sz="2000" dirty="0">
                          <a:solidFill>
                            <a:schemeClr val="tx1"/>
                          </a:solidFill>
                        </a:rPr>
                        <a:t> d e s t </a:t>
                      </a:r>
                      <a:r>
                        <a:rPr lang="en-US" altLang="zh-TW" sz="2000" dirty="0">
                          <a:solidFill>
                            <a:srgbClr val="0070C0"/>
                          </a:solidFill>
                        </a:rPr>
                        <a:t>&lt;/w&gt;</a:t>
                      </a:r>
                      <a:endParaRPr lang="zh-TW" altLang="en-US" sz="2000" dirty="0">
                        <a:solidFill>
                          <a:schemeClr val="tx1"/>
                        </a:solidFill>
                      </a:endParaRPr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r>
                        <a:rPr lang="en-US" altLang="zh-TW" sz="2000" dirty="0">
                          <a:solidFill>
                            <a:schemeClr val="tx1"/>
                          </a:solidFill>
                        </a:rPr>
                        <a:t>3</a:t>
                      </a:r>
                      <a:endParaRPr lang="zh-TW" altLang="en-US" sz="2000" dirty="0">
                        <a:solidFill>
                          <a:schemeClr val="tx1"/>
                        </a:solidFill>
                      </a:endParaRPr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3613135537"/>
                  </a:ext>
                </a:extLst>
              </a:tr>
            </a:tbl>
          </a:graphicData>
        </a:graphic>
      </p:graphicFrame>
      <p:sp>
        <p:nvSpPr>
          <p:cNvPr id="13" name="向右箭號 12">
            <a:extLst>
              <a:ext uri="{FF2B5EF4-FFF2-40B4-BE49-F238E27FC236}">
                <a16:creationId xmlns:a16="http://schemas.microsoft.com/office/drawing/2014/main" id="{2372D6A0-C695-4EB4-D3E1-9A9DF992C9B1}"/>
              </a:ext>
            </a:extLst>
          </p:cNvPr>
          <p:cNvSpPr/>
          <p:nvPr/>
        </p:nvSpPr>
        <p:spPr>
          <a:xfrm>
            <a:off x="6958063" y="3937702"/>
            <a:ext cx="434340" cy="358947"/>
          </a:xfrm>
          <a:prstGeom prst="rightArrow">
            <a:avLst/>
          </a:prstGeom>
          <a:solidFill>
            <a:srgbClr val="0070C0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kumimoji="1" lang="zh-TW" altLang="en-US">
              <a:solidFill>
                <a:schemeClr val="tx1"/>
              </a:solidFill>
            </a:endParaRPr>
          </a:p>
        </p:txBody>
      </p:sp>
      <p:sp>
        <p:nvSpPr>
          <p:cNvPr id="3" name="文字方塊 2">
            <a:extLst>
              <a:ext uri="{FF2B5EF4-FFF2-40B4-BE49-F238E27FC236}">
                <a16:creationId xmlns:a16="http://schemas.microsoft.com/office/drawing/2014/main" id="{BCC559A4-6395-559B-7C82-8EA08609F05A}"/>
              </a:ext>
            </a:extLst>
          </p:cNvPr>
          <p:cNvSpPr txBox="1"/>
          <p:nvPr/>
        </p:nvSpPr>
        <p:spPr>
          <a:xfrm>
            <a:off x="2857500" y="3206085"/>
            <a:ext cx="2034540" cy="40011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kumimoji="1" lang="en-US" altLang="zh-TW" sz="2000" dirty="0"/>
              <a:t>Training corpus</a:t>
            </a:r>
            <a:endParaRPr kumimoji="1" lang="zh-TW" altLang="en-US" sz="2000" dirty="0"/>
          </a:p>
        </p:txBody>
      </p:sp>
      <p:sp>
        <p:nvSpPr>
          <p:cNvPr id="4" name="內容版面配置區 2">
            <a:extLst>
              <a:ext uri="{FF2B5EF4-FFF2-40B4-BE49-F238E27FC236}">
                <a16:creationId xmlns:a16="http://schemas.microsoft.com/office/drawing/2014/main" id="{2E3FF4EA-D0F0-F3A4-6333-27862578FFFC}"/>
              </a:ext>
            </a:extLst>
          </p:cNvPr>
          <p:cNvSpPr txBox="1">
            <a:spLocks/>
          </p:cNvSpPr>
          <p:nvPr/>
        </p:nvSpPr>
        <p:spPr>
          <a:xfrm>
            <a:off x="1097280" y="4832238"/>
            <a:ext cx="5860783" cy="1891876"/>
          </a:xfrm>
          <a:prstGeom prst="rect">
            <a:avLst/>
          </a:prstGeom>
        </p:spPr>
        <p:txBody>
          <a:bodyPr vert="horz" lIns="0" tIns="45720" rIns="0" bIns="45720" rtlCol="0">
            <a:normAutofit/>
          </a:bodyPr>
          <a:lstStyle>
            <a:lvl1pPr marL="91440" indent="-91440" algn="l" defTabSz="914400" rtl="0" eaLnBrk="1" latinLnBrk="0" hangingPunct="1">
              <a:lnSpc>
                <a:spcPct val="90000"/>
              </a:lnSpc>
              <a:spcBef>
                <a:spcPts val="1200"/>
              </a:spcBef>
              <a:spcAft>
                <a:spcPts val="200"/>
              </a:spcAft>
              <a:buClr>
                <a:schemeClr val="accent1"/>
              </a:buClr>
              <a:buSzPct val="100000"/>
              <a:buFont typeface="Calibri" panose="020F0502020204030204" pitchFamily="34" charset="0"/>
              <a:buChar char=" "/>
              <a:defRPr sz="2000" kern="1200">
                <a:solidFill>
                  <a:schemeClr val="tx1">
                    <a:lumMod val="75000"/>
                    <a:lumOff val="25000"/>
                  </a:schemeClr>
                </a:solidFill>
                <a:latin typeface="+mn-lt"/>
                <a:ea typeface="+mn-ea"/>
                <a:cs typeface="+mn-cs"/>
              </a:defRPr>
            </a:lvl1pPr>
            <a:lvl2pPr marL="384048" indent="-182880" algn="l" defTabSz="914400" rtl="0" eaLnBrk="1" latinLnBrk="0" hangingPunct="1">
              <a:lnSpc>
                <a:spcPct val="90000"/>
              </a:lnSpc>
              <a:spcBef>
                <a:spcPts val="200"/>
              </a:spcBef>
              <a:spcAft>
                <a:spcPts val="400"/>
              </a:spcAft>
              <a:buClr>
                <a:schemeClr val="accent1"/>
              </a:buClr>
              <a:buFont typeface="Calibri" pitchFamily="34" charset="0"/>
              <a:buChar char="◦"/>
              <a:defRPr sz="1800" kern="1200">
                <a:solidFill>
                  <a:schemeClr val="tx1">
                    <a:lumMod val="75000"/>
                    <a:lumOff val="25000"/>
                  </a:schemeClr>
                </a:solidFill>
                <a:latin typeface="+mn-lt"/>
                <a:ea typeface="+mn-ea"/>
                <a:cs typeface="+mn-cs"/>
              </a:defRPr>
            </a:lvl2pPr>
            <a:lvl3pPr marL="566928" indent="-182880" algn="l" defTabSz="914400" rtl="0" eaLnBrk="1" latinLnBrk="0" hangingPunct="1">
              <a:lnSpc>
                <a:spcPct val="90000"/>
              </a:lnSpc>
              <a:spcBef>
                <a:spcPts val="200"/>
              </a:spcBef>
              <a:spcAft>
                <a:spcPts val="400"/>
              </a:spcAft>
              <a:buClr>
                <a:schemeClr val="accent1"/>
              </a:buClr>
              <a:buFont typeface="Calibri" pitchFamily="34" charset="0"/>
              <a:buChar char="◦"/>
              <a:defRPr sz="1400" kern="1200">
                <a:solidFill>
                  <a:schemeClr val="tx1">
                    <a:lumMod val="75000"/>
                    <a:lumOff val="25000"/>
                  </a:schemeClr>
                </a:solidFill>
                <a:latin typeface="+mn-lt"/>
                <a:ea typeface="+mn-ea"/>
                <a:cs typeface="+mn-cs"/>
              </a:defRPr>
            </a:lvl3pPr>
            <a:lvl4pPr marL="749808" indent="-182880" algn="l" defTabSz="914400" rtl="0" eaLnBrk="1" latinLnBrk="0" hangingPunct="1">
              <a:lnSpc>
                <a:spcPct val="90000"/>
              </a:lnSpc>
              <a:spcBef>
                <a:spcPts val="200"/>
              </a:spcBef>
              <a:spcAft>
                <a:spcPts val="400"/>
              </a:spcAft>
              <a:buClr>
                <a:schemeClr val="accent1"/>
              </a:buClr>
              <a:buFont typeface="Calibri" pitchFamily="34" charset="0"/>
              <a:buChar char="◦"/>
              <a:defRPr sz="1400" kern="1200">
                <a:solidFill>
                  <a:schemeClr val="tx1">
                    <a:lumMod val="75000"/>
                    <a:lumOff val="25000"/>
                  </a:schemeClr>
                </a:solidFill>
                <a:latin typeface="+mn-lt"/>
                <a:ea typeface="+mn-ea"/>
                <a:cs typeface="+mn-cs"/>
              </a:defRPr>
            </a:lvl4pPr>
            <a:lvl5pPr marL="932688" indent="-182880" algn="l" defTabSz="914400" rtl="0" eaLnBrk="1" latinLnBrk="0" hangingPunct="1">
              <a:lnSpc>
                <a:spcPct val="90000"/>
              </a:lnSpc>
              <a:spcBef>
                <a:spcPts val="200"/>
              </a:spcBef>
              <a:spcAft>
                <a:spcPts val="400"/>
              </a:spcAft>
              <a:buClr>
                <a:schemeClr val="accent1"/>
              </a:buClr>
              <a:buFont typeface="Calibri" pitchFamily="34" charset="0"/>
              <a:buChar char="◦"/>
              <a:defRPr sz="1400" kern="1200">
                <a:solidFill>
                  <a:schemeClr val="tx1">
                    <a:lumMod val="75000"/>
                    <a:lumOff val="25000"/>
                  </a:schemeClr>
                </a:solidFill>
                <a:latin typeface="+mn-lt"/>
                <a:ea typeface="+mn-ea"/>
                <a:cs typeface="+mn-cs"/>
              </a:defRPr>
            </a:lvl5pPr>
            <a:lvl6pPr marL="1100000" indent="-228600" algn="l" defTabSz="914400" rtl="0" eaLnBrk="1" latinLnBrk="0" hangingPunct="1">
              <a:lnSpc>
                <a:spcPct val="90000"/>
              </a:lnSpc>
              <a:spcBef>
                <a:spcPts val="200"/>
              </a:spcBef>
              <a:spcAft>
                <a:spcPts val="400"/>
              </a:spcAft>
              <a:buClr>
                <a:schemeClr val="accent1"/>
              </a:buClr>
              <a:buFont typeface="Calibri" pitchFamily="34" charset="0"/>
              <a:buChar char="◦"/>
              <a:defRPr sz="1400" kern="1200">
                <a:solidFill>
                  <a:schemeClr val="tx1">
                    <a:lumMod val="75000"/>
                    <a:lumOff val="25000"/>
                  </a:schemeClr>
                </a:solidFill>
                <a:latin typeface="+mn-lt"/>
                <a:ea typeface="+mn-ea"/>
                <a:cs typeface="+mn-cs"/>
              </a:defRPr>
            </a:lvl6pPr>
            <a:lvl7pPr marL="1300000" indent="-228600" algn="l" defTabSz="914400" rtl="0" eaLnBrk="1" latinLnBrk="0" hangingPunct="1">
              <a:lnSpc>
                <a:spcPct val="90000"/>
              </a:lnSpc>
              <a:spcBef>
                <a:spcPts val="200"/>
              </a:spcBef>
              <a:spcAft>
                <a:spcPts val="400"/>
              </a:spcAft>
              <a:buClr>
                <a:schemeClr val="accent1"/>
              </a:buClr>
              <a:buFont typeface="Calibri" pitchFamily="34" charset="0"/>
              <a:buChar char="◦"/>
              <a:defRPr sz="1400" kern="1200">
                <a:solidFill>
                  <a:schemeClr val="tx1">
                    <a:lumMod val="75000"/>
                    <a:lumOff val="25000"/>
                  </a:schemeClr>
                </a:solidFill>
                <a:latin typeface="+mn-lt"/>
                <a:ea typeface="+mn-ea"/>
                <a:cs typeface="+mn-cs"/>
              </a:defRPr>
            </a:lvl7pPr>
            <a:lvl8pPr marL="1500000" indent="-228600" algn="l" defTabSz="914400" rtl="0" eaLnBrk="1" latinLnBrk="0" hangingPunct="1">
              <a:lnSpc>
                <a:spcPct val="90000"/>
              </a:lnSpc>
              <a:spcBef>
                <a:spcPts val="200"/>
              </a:spcBef>
              <a:spcAft>
                <a:spcPts val="400"/>
              </a:spcAft>
              <a:buClr>
                <a:schemeClr val="accent1"/>
              </a:buClr>
              <a:buFont typeface="Calibri" pitchFamily="34" charset="0"/>
              <a:buChar char="◦"/>
              <a:defRPr sz="1400" kern="1200">
                <a:solidFill>
                  <a:schemeClr val="tx1">
                    <a:lumMod val="75000"/>
                    <a:lumOff val="25000"/>
                  </a:schemeClr>
                </a:solidFill>
                <a:latin typeface="+mn-lt"/>
                <a:ea typeface="+mn-ea"/>
                <a:cs typeface="+mn-cs"/>
              </a:defRPr>
            </a:lvl8pPr>
            <a:lvl9pPr marL="1700000" indent="-228600" algn="l" defTabSz="914400" rtl="0" eaLnBrk="1" latinLnBrk="0" hangingPunct="1">
              <a:lnSpc>
                <a:spcPct val="90000"/>
              </a:lnSpc>
              <a:spcBef>
                <a:spcPts val="200"/>
              </a:spcBef>
              <a:spcAft>
                <a:spcPts val="400"/>
              </a:spcAft>
              <a:buClr>
                <a:schemeClr val="accent1"/>
              </a:buClr>
              <a:buFont typeface="Calibri" pitchFamily="34" charset="0"/>
              <a:buChar char="◦"/>
              <a:defRPr sz="1400" kern="1200">
                <a:solidFill>
                  <a:schemeClr val="tx1">
                    <a:lumMod val="75000"/>
                    <a:lumOff val="25000"/>
                  </a:schemeClr>
                </a:solidFill>
                <a:latin typeface="+mn-lt"/>
                <a:ea typeface="+mn-ea"/>
                <a:cs typeface="+mn-cs"/>
              </a:defRPr>
            </a:lvl9pPr>
          </a:lstStyle>
          <a:p>
            <a:pPr>
              <a:lnSpc>
                <a:spcPct val="150000"/>
              </a:lnSpc>
              <a:buClr>
                <a:schemeClr val="tx1"/>
              </a:buClr>
              <a:buSzPct val="75000"/>
              <a:buFont typeface="Arial" panose="020B0604020202020204" pitchFamily="34" charset="0"/>
              <a:buChar char="•"/>
            </a:pPr>
            <a:r>
              <a:rPr kumimoji="1" lang="en-US" altLang="zh-TW" sz="2400" dirty="0"/>
              <a:t> </a:t>
            </a:r>
            <a:r>
              <a:rPr kumimoji="1" lang="en-US" altLang="zh-TW" sz="2400" dirty="0">
                <a:solidFill>
                  <a:srgbClr val="0070C0"/>
                </a:solidFill>
              </a:rPr>
              <a:t>&lt;/w&gt; </a:t>
            </a:r>
            <a:r>
              <a:rPr kumimoji="1" lang="en-US" altLang="zh-TW" sz="2400" dirty="0"/>
              <a:t>is a special </a:t>
            </a:r>
            <a:r>
              <a:rPr kumimoji="1" lang="en-US" altLang="zh-TW" sz="2400" dirty="0">
                <a:solidFill>
                  <a:srgbClr val="FF0000"/>
                </a:solidFill>
              </a:rPr>
              <a:t>end-of-word</a:t>
            </a:r>
            <a:r>
              <a:rPr kumimoji="1" lang="en-US" altLang="zh-TW" sz="2400" dirty="0"/>
              <a:t> symbol, allowing us to restore the original tokenization.</a:t>
            </a:r>
          </a:p>
        </p:txBody>
      </p:sp>
    </p:spTree>
    <p:extLst>
      <p:ext uri="{BB962C8B-B14F-4D97-AF65-F5344CB8AC3E}">
        <p14:creationId xmlns:p14="http://schemas.microsoft.com/office/powerpoint/2010/main" val="257157913"/>
      </p:ext>
    </p:extLst>
  </p:cSld>
  <p:clrMapOvr>
    <a:masterClrMapping/>
  </p:clrMapOvr>
</p:sld>
</file>

<file path=ppt/slides/slide1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" name="投影片編號版面配置區 4">
            <a:extLst>
              <a:ext uri="{FF2B5EF4-FFF2-40B4-BE49-F238E27FC236}">
                <a16:creationId xmlns:a16="http://schemas.microsoft.com/office/drawing/2014/main" id="{80B6B308-E528-1567-412F-2BF52CB92E39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6113E31D-E2AB-40D1-8B51-AFA5AFEF393A}" type="slidenum">
              <a:rPr lang="en-US" dirty="0"/>
              <a:t>18</a:t>
            </a:fld>
            <a:endParaRPr lang="zh-TW" altLang="en-US"/>
          </a:p>
        </p:txBody>
      </p:sp>
      <p:sp>
        <p:nvSpPr>
          <p:cNvPr id="7" name="內容版面配置區 2">
            <a:extLst>
              <a:ext uri="{FF2B5EF4-FFF2-40B4-BE49-F238E27FC236}">
                <a16:creationId xmlns:a16="http://schemas.microsoft.com/office/drawing/2014/main" id="{6AE5E23E-1E1F-3A47-7CA1-2E500F47EB18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1097280" y="1845734"/>
            <a:ext cx="10058400" cy="840316"/>
          </a:xfrm>
        </p:spPr>
        <p:txBody>
          <a:bodyPr>
            <a:normAutofit/>
          </a:bodyPr>
          <a:lstStyle/>
          <a:p>
            <a:pPr>
              <a:lnSpc>
                <a:spcPct val="150000"/>
              </a:lnSpc>
              <a:buClr>
                <a:schemeClr val="tx1"/>
              </a:buClr>
              <a:buSzPct val="75000"/>
              <a:buFont typeface="Arial" panose="020B0604020202020204" pitchFamily="34" charset="0"/>
              <a:buChar char="•"/>
            </a:pPr>
            <a:r>
              <a:rPr kumimoji="1" lang="en-US" altLang="zh-TW" sz="2600" dirty="0"/>
              <a:t> Initialize the vocabulary with the existing characters:</a:t>
            </a:r>
          </a:p>
        </p:txBody>
      </p:sp>
      <p:sp>
        <p:nvSpPr>
          <p:cNvPr id="10" name="矩形 9">
            <a:extLst>
              <a:ext uri="{FF2B5EF4-FFF2-40B4-BE49-F238E27FC236}">
                <a16:creationId xmlns:a16="http://schemas.microsoft.com/office/drawing/2014/main" id="{E004B5B4-2CD1-88C5-2321-D680AF125440}"/>
              </a:ext>
            </a:extLst>
          </p:cNvPr>
          <p:cNvSpPr/>
          <p:nvPr/>
        </p:nvSpPr>
        <p:spPr>
          <a:xfrm>
            <a:off x="1097280" y="3349491"/>
            <a:ext cx="5554980" cy="868680"/>
          </a:xfrm>
          <a:prstGeom prst="rect">
            <a:avLst/>
          </a:prstGeom>
          <a:noFill/>
          <a:ln>
            <a:solidFill>
              <a:schemeClr val="tx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r>
              <a:rPr kumimoji="1" lang="en-US" altLang="zh-TW" dirty="0">
                <a:solidFill>
                  <a:schemeClr val="tx1"/>
                </a:solidFill>
              </a:rPr>
              <a:t>low low low low low lower lower newest newest newest newest newest newest widest widest widest</a:t>
            </a:r>
            <a:endParaRPr kumimoji="1" lang="zh-TW" altLang="en-US" dirty="0">
              <a:solidFill>
                <a:schemeClr val="tx1"/>
              </a:solidFill>
            </a:endParaRPr>
          </a:p>
        </p:txBody>
      </p:sp>
      <p:sp>
        <p:nvSpPr>
          <p:cNvPr id="13" name="向右箭號 12">
            <a:extLst>
              <a:ext uri="{FF2B5EF4-FFF2-40B4-BE49-F238E27FC236}">
                <a16:creationId xmlns:a16="http://schemas.microsoft.com/office/drawing/2014/main" id="{2372D6A0-C695-4EB4-D3E1-9A9DF992C9B1}"/>
              </a:ext>
            </a:extLst>
          </p:cNvPr>
          <p:cNvSpPr/>
          <p:nvPr/>
        </p:nvSpPr>
        <p:spPr>
          <a:xfrm rot="5400000">
            <a:off x="3657599" y="4450178"/>
            <a:ext cx="434340" cy="358947"/>
          </a:xfrm>
          <a:prstGeom prst="rightArrow">
            <a:avLst/>
          </a:prstGeom>
          <a:solidFill>
            <a:srgbClr val="0070C0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kumimoji="1" lang="zh-TW" altLang="en-US">
              <a:solidFill>
                <a:schemeClr val="tx1"/>
              </a:solidFill>
            </a:endParaRPr>
          </a:p>
        </p:txBody>
      </p:sp>
      <p:sp>
        <p:nvSpPr>
          <p:cNvPr id="2" name="文字方塊 1">
            <a:extLst>
              <a:ext uri="{FF2B5EF4-FFF2-40B4-BE49-F238E27FC236}">
                <a16:creationId xmlns:a16="http://schemas.microsoft.com/office/drawing/2014/main" id="{3A342BD5-DDC4-3956-B13B-90B8E3DB594F}"/>
              </a:ext>
            </a:extLst>
          </p:cNvPr>
          <p:cNvSpPr txBox="1"/>
          <p:nvPr/>
        </p:nvSpPr>
        <p:spPr>
          <a:xfrm>
            <a:off x="1097281" y="4988719"/>
            <a:ext cx="5690232" cy="46166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kumimoji="1" lang="en-US" altLang="zh-TW" sz="2400" dirty="0"/>
              <a:t>Initial vocab: </a:t>
            </a:r>
            <a:r>
              <a:rPr kumimoji="1" lang="en-US" altLang="zh-TW" sz="2400" dirty="0">
                <a:solidFill>
                  <a:srgbClr val="0070C0"/>
                </a:solidFill>
              </a:rPr>
              <a:t>&lt;/w&gt;</a:t>
            </a:r>
            <a:r>
              <a:rPr kumimoji="1" lang="en-US" altLang="zh-TW" sz="2400" dirty="0"/>
              <a:t>, d, e, </a:t>
            </a:r>
            <a:r>
              <a:rPr kumimoji="1" lang="en-US" altLang="zh-TW" sz="2400" dirty="0" err="1"/>
              <a:t>i</a:t>
            </a:r>
            <a:r>
              <a:rPr kumimoji="1" lang="en-US" altLang="zh-TW" sz="2400" dirty="0"/>
              <a:t>, l, n, o, r, s, t, w</a:t>
            </a:r>
            <a:endParaRPr kumimoji="1" lang="zh-TW" altLang="en-US" sz="2400" dirty="0"/>
          </a:p>
        </p:txBody>
      </p:sp>
      <p:sp>
        <p:nvSpPr>
          <p:cNvPr id="8" name="標題 1">
            <a:extLst>
              <a:ext uri="{FF2B5EF4-FFF2-40B4-BE49-F238E27FC236}">
                <a16:creationId xmlns:a16="http://schemas.microsoft.com/office/drawing/2014/main" id="{9AA498D4-6BD0-BE2F-BFD0-8D60AC9BDAE3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705400" y="356088"/>
            <a:ext cx="10058400" cy="1033416"/>
          </a:xfrm>
        </p:spPr>
        <p:txBody>
          <a:bodyPr/>
          <a:lstStyle/>
          <a:p>
            <a:r>
              <a:rPr lang="en-US" altLang="zh-TW" dirty="0">
                <a:ea typeface="新細明體"/>
                <a:cs typeface="Calibri Light"/>
              </a:rPr>
              <a:t>Sub-word Tokenization (1)</a:t>
            </a:r>
            <a:endParaRPr lang="zh-TW" altLang="en-US" sz="2400" dirty="0">
              <a:ea typeface="新細明體"/>
              <a:cs typeface="Calibri Light"/>
            </a:endParaRPr>
          </a:p>
        </p:txBody>
      </p:sp>
      <p:sp>
        <p:nvSpPr>
          <p:cNvPr id="11" name="文字方塊 10">
            <a:extLst>
              <a:ext uri="{FF2B5EF4-FFF2-40B4-BE49-F238E27FC236}">
                <a16:creationId xmlns:a16="http://schemas.microsoft.com/office/drawing/2014/main" id="{852177BE-D41F-012A-922D-87B3C8493DCA}"/>
              </a:ext>
            </a:extLst>
          </p:cNvPr>
          <p:cNvSpPr txBox="1"/>
          <p:nvPr/>
        </p:nvSpPr>
        <p:spPr>
          <a:xfrm>
            <a:off x="3695295" y="5400144"/>
            <a:ext cx="1728316" cy="504369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>
              <a:lnSpc>
                <a:spcPct val="150000"/>
              </a:lnSpc>
            </a:pPr>
            <a:r>
              <a:rPr kumimoji="1" lang="en-US" altLang="zh-TW" sz="2000" dirty="0">
                <a:ea typeface="Microsoft JhengHei" panose="020B0604030504040204" pitchFamily="34" charset="-120"/>
              </a:rPr>
              <a:t>(</a:t>
            </a:r>
            <a:r>
              <a:rPr kumimoji="1" lang="zh-TW" altLang="en-US" sz="2000" dirty="0">
                <a:ea typeface="Microsoft JhengHei" panose="020B0604030504040204" pitchFamily="34" charset="-120"/>
              </a:rPr>
              <a:t>逗號不算</a:t>
            </a:r>
            <a:r>
              <a:rPr kumimoji="1" lang="en-US" altLang="zh-TW" sz="2000" dirty="0">
                <a:ea typeface="Microsoft JhengHei" panose="020B0604030504040204" pitchFamily="34" charset="-120"/>
              </a:rPr>
              <a:t>)</a:t>
            </a:r>
          </a:p>
        </p:txBody>
      </p:sp>
    </p:spTree>
    <p:extLst>
      <p:ext uri="{BB962C8B-B14F-4D97-AF65-F5344CB8AC3E}">
        <p14:creationId xmlns:p14="http://schemas.microsoft.com/office/powerpoint/2010/main" val="1249192508"/>
      </p:ext>
    </p:extLst>
  </p:cSld>
  <p:clrMapOvr>
    <a:masterClrMapping/>
  </p:clrMapOvr>
</p:sld>
</file>

<file path=ppt/slides/slide1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" name="投影片編號版面配置區 4">
            <a:extLst>
              <a:ext uri="{FF2B5EF4-FFF2-40B4-BE49-F238E27FC236}">
                <a16:creationId xmlns:a16="http://schemas.microsoft.com/office/drawing/2014/main" id="{80B6B308-E528-1567-412F-2BF52CB92E39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6113E31D-E2AB-40D1-8B51-AFA5AFEF393A}" type="slidenum">
              <a:rPr lang="en-US" dirty="0"/>
              <a:t>19</a:t>
            </a:fld>
            <a:endParaRPr lang="zh-TW" altLang="en-US"/>
          </a:p>
        </p:txBody>
      </p:sp>
      <p:sp>
        <p:nvSpPr>
          <p:cNvPr id="7" name="內容版面配置區 2">
            <a:extLst>
              <a:ext uri="{FF2B5EF4-FFF2-40B4-BE49-F238E27FC236}">
                <a16:creationId xmlns:a16="http://schemas.microsoft.com/office/drawing/2014/main" id="{6AE5E23E-1E1F-3A47-7CA1-2E500F47EB18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1097280" y="1392008"/>
            <a:ext cx="10058400" cy="840316"/>
          </a:xfrm>
        </p:spPr>
        <p:txBody>
          <a:bodyPr>
            <a:normAutofit/>
          </a:bodyPr>
          <a:lstStyle/>
          <a:p>
            <a:pPr>
              <a:lnSpc>
                <a:spcPct val="150000"/>
              </a:lnSpc>
              <a:buClr>
                <a:schemeClr val="tx1"/>
              </a:buClr>
              <a:buSzPct val="75000"/>
              <a:buFont typeface="Arial" panose="020B0604020202020204" pitchFamily="34" charset="0"/>
              <a:buChar char="•"/>
            </a:pPr>
            <a:r>
              <a:rPr kumimoji="1" lang="en-US" altLang="zh-TW" sz="2600" dirty="0"/>
              <a:t> Find the character </a:t>
            </a:r>
            <a:r>
              <a:rPr kumimoji="1" lang="en-US" altLang="zh-TW" sz="2600" b="1" dirty="0">
                <a:solidFill>
                  <a:srgbClr val="FF0000"/>
                </a:solidFill>
              </a:rPr>
              <a:t>pair</a:t>
            </a:r>
            <a:r>
              <a:rPr kumimoji="1" lang="en-US" altLang="zh-TW" sz="2600" dirty="0"/>
              <a:t> with the highest frequency</a:t>
            </a:r>
          </a:p>
        </p:txBody>
      </p:sp>
      <p:sp>
        <p:nvSpPr>
          <p:cNvPr id="2" name="文字方塊 1">
            <a:extLst>
              <a:ext uri="{FF2B5EF4-FFF2-40B4-BE49-F238E27FC236}">
                <a16:creationId xmlns:a16="http://schemas.microsoft.com/office/drawing/2014/main" id="{3A342BD5-DDC4-3956-B13B-90B8E3DB594F}"/>
              </a:ext>
            </a:extLst>
          </p:cNvPr>
          <p:cNvSpPr txBox="1"/>
          <p:nvPr/>
        </p:nvSpPr>
        <p:spPr>
          <a:xfrm>
            <a:off x="1224011" y="5323184"/>
            <a:ext cx="6913309" cy="46166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kumimoji="1" lang="en-US" altLang="zh-TW" sz="2400" dirty="0"/>
              <a:t>Current Vocabulary: </a:t>
            </a:r>
            <a:r>
              <a:rPr kumimoji="1" lang="en-US" altLang="zh-TW" sz="2400" dirty="0">
                <a:solidFill>
                  <a:srgbClr val="0070C0"/>
                </a:solidFill>
              </a:rPr>
              <a:t>&lt;/w&gt;</a:t>
            </a:r>
            <a:r>
              <a:rPr kumimoji="1" lang="en-US" altLang="zh-TW" sz="2400" dirty="0"/>
              <a:t>, d, e, </a:t>
            </a:r>
            <a:r>
              <a:rPr kumimoji="1" lang="en-US" altLang="zh-TW" sz="2400" dirty="0" err="1"/>
              <a:t>i</a:t>
            </a:r>
            <a:r>
              <a:rPr kumimoji="1" lang="en-US" altLang="zh-TW" sz="2400" dirty="0"/>
              <a:t>, l, n, o, r, s, t, w</a:t>
            </a:r>
            <a:endParaRPr kumimoji="1" lang="zh-TW" altLang="en-US" sz="2400" dirty="0"/>
          </a:p>
        </p:txBody>
      </p:sp>
      <p:graphicFrame>
        <p:nvGraphicFramePr>
          <p:cNvPr id="8" name="表格 13">
            <a:extLst>
              <a:ext uri="{FF2B5EF4-FFF2-40B4-BE49-F238E27FC236}">
                <a16:creationId xmlns:a16="http://schemas.microsoft.com/office/drawing/2014/main" id="{CBB42C6D-7C61-FDA9-5D84-3C154EDCDCBC}"/>
              </a:ext>
            </a:extLst>
          </p:cNvPr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452994912"/>
              </p:ext>
            </p:extLst>
          </p:nvPr>
        </p:nvGraphicFramePr>
        <p:xfrm>
          <a:off x="1240255" y="2476339"/>
          <a:ext cx="3566637" cy="198120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2055015">
                  <a:extLst>
                    <a:ext uri="{9D8B030D-6E8A-4147-A177-3AD203B41FA5}">
                      <a16:colId xmlns:a16="http://schemas.microsoft.com/office/drawing/2014/main" val="299152187"/>
                    </a:ext>
                  </a:extLst>
                </a:gridCol>
                <a:gridCol w="1511622">
                  <a:extLst>
                    <a:ext uri="{9D8B030D-6E8A-4147-A177-3AD203B41FA5}">
                      <a16:colId xmlns:a16="http://schemas.microsoft.com/office/drawing/2014/main" val="626042458"/>
                    </a:ext>
                  </a:extLst>
                </a:gridCol>
              </a:tblGrid>
              <a:tr h="207433">
                <a:tc>
                  <a:txBody>
                    <a:bodyPr/>
                    <a:lstStyle/>
                    <a:p>
                      <a:r>
                        <a:rPr lang="en-US" altLang="zh-TW" sz="2000" dirty="0">
                          <a:solidFill>
                            <a:schemeClr val="tx1"/>
                          </a:solidFill>
                        </a:rPr>
                        <a:t>Word</a:t>
                      </a:r>
                      <a:endParaRPr lang="zh-TW" altLang="en-US" sz="2000" dirty="0">
                        <a:solidFill>
                          <a:schemeClr val="tx1"/>
                        </a:solidFill>
                      </a:endParaRPr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r>
                        <a:rPr lang="en-US" altLang="zh-TW" sz="2000" dirty="0">
                          <a:solidFill>
                            <a:schemeClr val="tx1"/>
                          </a:solidFill>
                        </a:rPr>
                        <a:t>Frequency</a:t>
                      </a:r>
                      <a:endParaRPr lang="zh-TW" altLang="en-US" sz="2000" dirty="0">
                        <a:solidFill>
                          <a:schemeClr val="tx1"/>
                        </a:solidFill>
                      </a:endParaRPr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592410158"/>
                  </a:ext>
                </a:extLst>
              </a:tr>
              <a:tr h="302338">
                <a:tc>
                  <a:txBody>
                    <a:bodyPr/>
                    <a:lstStyle/>
                    <a:p>
                      <a:r>
                        <a:rPr lang="en-US" altLang="zh-TW" sz="2000" dirty="0">
                          <a:solidFill>
                            <a:schemeClr val="tx1"/>
                          </a:solidFill>
                        </a:rPr>
                        <a:t>l o w </a:t>
                      </a:r>
                      <a:r>
                        <a:rPr lang="en-US" altLang="zh-TW" sz="2000" dirty="0">
                          <a:solidFill>
                            <a:srgbClr val="0070C0"/>
                          </a:solidFill>
                        </a:rPr>
                        <a:t>&lt;/w&gt;</a:t>
                      </a:r>
                      <a:endParaRPr lang="zh-TW" altLang="en-US" sz="2000" dirty="0">
                        <a:solidFill>
                          <a:srgbClr val="0070C0"/>
                        </a:solidFill>
                      </a:endParaRPr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r>
                        <a:rPr lang="en-US" altLang="zh-TW" sz="2000" dirty="0">
                          <a:solidFill>
                            <a:schemeClr val="tx1"/>
                          </a:solidFill>
                        </a:rPr>
                        <a:t>5</a:t>
                      </a:r>
                      <a:endParaRPr lang="zh-TW" altLang="en-US" sz="2000" dirty="0">
                        <a:solidFill>
                          <a:schemeClr val="tx1"/>
                        </a:solidFill>
                      </a:endParaRPr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3786072698"/>
                  </a:ext>
                </a:extLst>
              </a:tr>
              <a:tr h="207433">
                <a:tc>
                  <a:txBody>
                    <a:bodyPr/>
                    <a:lstStyle/>
                    <a:p>
                      <a:r>
                        <a:rPr lang="en-US" altLang="zh-TW" sz="2000" dirty="0">
                          <a:solidFill>
                            <a:schemeClr val="tx1"/>
                          </a:solidFill>
                        </a:rPr>
                        <a:t>l o w e r </a:t>
                      </a:r>
                      <a:r>
                        <a:rPr lang="en-US" altLang="zh-TW" sz="2000" dirty="0">
                          <a:solidFill>
                            <a:srgbClr val="0070C0"/>
                          </a:solidFill>
                        </a:rPr>
                        <a:t>&lt;/w&gt;</a:t>
                      </a:r>
                      <a:endParaRPr lang="zh-TW" altLang="en-US" sz="2000" dirty="0">
                        <a:solidFill>
                          <a:schemeClr val="tx1"/>
                        </a:solidFill>
                      </a:endParaRPr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r>
                        <a:rPr lang="en-US" altLang="zh-TW" sz="2000" dirty="0">
                          <a:solidFill>
                            <a:schemeClr val="tx1"/>
                          </a:solidFill>
                        </a:rPr>
                        <a:t>2</a:t>
                      </a:r>
                      <a:endParaRPr lang="zh-TW" altLang="en-US" sz="2000" dirty="0">
                        <a:solidFill>
                          <a:schemeClr val="tx1"/>
                        </a:solidFill>
                      </a:endParaRPr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140167199"/>
                  </a:ext>
                </a:extLst>
              </a:tr>
              <a:tr h="207433">
                <a:tc>
                  <a:txBody>
                    <a:bodyPr/>
                    <a:lstStyle/>
                    <a:p>
                      <a:r>
                        <a:rPr lang="en-US" altLang="zh-TW" sz="2000" dirty="0">
                          <a:solidFill>
                            <a:schemeClr val="tx1"/>
                          </a:solidFill>
                        </a:rPr>
                        <a:t>n e w e s t </a:t>
                      </a:r>
                      <a:r>
                        <a:rPr lang="en-US" altLang="zh-TW" sz="2000" dirty="0">
                          <a:solidFill>
                            <a:srgbClr val="0070C0"/>
                          </a:solidFill>
                        </a:rPr>
                        <a:t>&lt;/w&gt;</a:t>
                      </a:r>
                      <a:endParaRPr lang="zh-TW" altLang="en-US" sz="2000" dirty="0">
                        <a:solidFill>
                          <a:schemeClr val="tx1"/>
                        </a:solidFill>
                      </a:endParaRPr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r>
                        <a:rPr lang="en-US" altLang="zh-TW" sz="2000" dirty="0">
                          <a:solidFill>
                            <a:schemeClr val="tx1"/>
                          </a:solidFill>
                        </a:rPr>
                        <a:t>6</a:t>
                      </a:r>
                      <a:endParaRPr lang="zh-TW" altLang="en-US" sz="2000" dirty="0">
                        <a:solidFill>
                          <a:schemeClr val="tx1"/>
                        </a:solidFill>
                      </a:endParaRPr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3608810822"/>
                  </a:ext>
                </a:extLst>
              </a:tr>
              <a:tr h="184072">
                <a:tc>
                  <a:txBody>
                    <a:bodyPr/>
                    <a:lstStyle/>
                    <a:p>
                      <a:r>
                        <a:rPr lang="en-US" altLang="zh-TW" sz="2000" dirty="0">
                          <a:solidFill>
                            <a:schemeClr val="tx1"/>
                          </a:solidFill>
                        </a:rPr>
                        <a:t>w </a:t>
                      </a:r>
                      <a:r>
                        <a:rPr lang="en-US" altLang="zh-TW" sz="2000" dirty="0" err="1">
                          <a:solidFill>
                            <a:schemeClr val="tx1"/>
                          </a:solidFill>
                        </a:rPr>
                        <a:t>i</a:t>
                      </a:r>
                      <a:r>
                        <a:rPr lang="en-US" altLang="zh-TW" sz="2000" dirty="0">
                          <a:solidFill>
                            <a:schemeClr val="tx1"/>
                          </a:solidFill>
                        </a:rPr>
                        <a:t> d e s t </a:t>
                      </a:r>
                      <a:r>
                        <a:rPr lang="en-US" altLang="zh-TW" sz="2000" dirty="0">
                          <a:solidFill>
                            <a:srgbClr val="0070C0"/>
                          </a:solidFill>
                        </a:rPr>
                        <a:t>&lt;/w&gt;</a:t>
                      </a:r>
                      <a:endParaRPr lang="zh-TW" altLang="en-US" sz="2000" dirty="0">
                        <a:solidFill>
                          <a:schemeClr val="tx1"/>
                        </a:solidFill>
                      </a:endParaRPr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r>
                        <a:rPr lang="en-US" altLang="zh-TW" sz="2000" dirty="0">
                          <a:solidFill>
                            <a:schemeClr val="tx1"/>
                          </a:solidFill>
                        </a:rPr>
                        <a:t>3</a:t>
                      </a:r>
                      <a:endParaRPr lang="zh-TW" altLang="en-US" sz="2000" dirty="0">
                        <a:solidFill>
                          <a:schemeClr val="tx1"/>
                        </a:solidFill>
                      </a:endParaRPr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3613135537"/>
                  </a:ext>
                </a:extLst>
              </a:tr>
            </a:tbl>
          </a:graphicData>
        </a:graphic>
      </p:graphicFrame>
      <p:sp>
        <p:nvSpPr>
          <p:cNvPr id="15" name="矩形 14">
            <a:extLst>
              <a:ext uri="{FF2B5EF4-FFF2-40B4-BE49-F238E27FC236}">
                <a16:creationId xmlns:a16="http://schemas.microsoft.com/office/drawing/2014/main" id="{93D2CCBB-5A99-70E1-BFC9-2D8BCD3C3BC6}"/>
              </a:ext>
            </a:extLst>
          </p:cNvPr>
          <p:cNvSpPr/>
          <p:nvPr/>
        </p:nvSpPr>
        <p:spPr>
          <a:xfrm>
            <a:off x="1998782" y="3741579"/>
            <a:ext cx="358524" cy="294516"/>
          </a:xfrm>
          <a:prstGeom prst="rect">
            <a:avLst/>
          </a:prstGeom>
          <a:noFill/>
          <a:ln w="19050">
            <a:solidFill>
              <a:srgbClr val="FF0000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kumimoji="1" lang="zh-TW" altLang="en-US"/>
          </a:p>
        </p:txBody>
      </p:sp>
      <p:sp>
        <p:nvSpPr>
          <p:cNvPr id="16" name="矩形 15">
            <a:extLst>
              <a:ext uri="{FF2B5EF4-FFF2-40B4-BE49-F238E27FC236}">
                <a16:creationId xmlns:a16="http://schemas.microsoft.com/office/drawing/2014/main" id="{005239FF-1462-0713-52CE-D2F3CA12FAB1}"/>
              </a:ext>
            </a:extLst>
          </p:cNvPr>
          <p:cNvSpPr/>
          <p:nvPr/>
        </p:nvSpPr>
        <p:spPr>
          <a:xfrm>
            <a:off x="1905035" y="4130604"/>
            <a:ext cx="358524" cy="294516"/>
          </a:xfrm>
          <a:prstGeom prst="rect">
            <a:avLst/>
          </a:prstGeom>
          <a:noFill/>
          <a:ln w="19050">
            <a:solidFill>
              <a:srgbClr val="FF0000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kumimoji="1" lang="zh-TW" altLang="en-US"/>
          </a:p>
        </p:txBody>
      </p:sp>
      <p:sp>
        <p:nvSpPr>
          <p:cNvPr id="17" name="文字方塊 16">
            <a:extLst>
              <a:ext uri="{FF2B5EF4-FFF2-40B4-BE49-F238E27FC236}">
                <a16:creationId xmlns:a16="http://schemas.microsoft.com/office/drawing/2014/main" id="{2B4E8D6D-35BD-3ACB-7EA5-1B49EF382CAD}"/>
              </a:ext>
            </a:extLst>
          </p:cNvPr>
          <p:cNvSpPr txBox="1"/>
          <p:nvPr/>
        </p:nvSpPr>
        <p:spPr>
          <a:xfrm>
            <a:off x="4914899" y="3798802"/>
            <a:ext cx="6025415" cy="46166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kumimoji="1" lang="en-US" altLang="zh-TW" sz="2400" dirty="0">
                <a:solidFill>
                  <a:srgbClr val="FF0000"/>
                </a:solidFill>
              </a:rPr>
              <a:t>Found “e s” with the highest frequency 6+3=9</a:t>
            </a:r>
            <a:endParaRPr kumimoji="1" lang="zh-TW" altLang="en-US" sz="2400" dirty="0">
              <a:solidFill>
                <a:srgbClr val="FF0000"/>
              </a:solidFill>
            </a:endParaRPr>
          </a:p>
        </p:txBody>
      </p:sp>
      <p:cxnSp>
        <p:nvCxnSpPr>
          <p:cNvPr id="18" name="直線接點 17">
            <a:extLst>
              <a:ext uri="{FF2B5EF4-FFF2-40B4-BE49-F238E27FC236}">
                <a16:creationId xmlns:a16="http://schemas.microsoft.com/office/drawing/2014/main" id="{1FF48755-3013-099E-1FCD-EE753A009D71}"/>
              </a:ext>
            </a:extLst>
          </p:cNvPr>
          <p:cNvCxnSpPr/>
          <p:nvPr/>
        </p:nvCxnSpPr>
        <p:spPr>
          <a:xfrm>
            <a:off x="1097280" y="4781725"/>
            <a:ext cx="10058400" cy="0"/>
          </a:xfrm>
          <a:prstGeom prst="line">
            <a:avLst/>
          </a:prstGeom>
          <a:ln w="28575">
            <a:solidFill>
              <a:srgbClr val="FF0000"/>
            </a:solidFill>
            <a:prstDash val="dash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6" name="標題 1">
            <a:extLst>
              <a:ext uri="{FF2B5EF4-FFF2-40B4-BE49-F238E27FC236}">
                <a16:creationId xmlns:a16="http://schemas.microsoft.com/office/drawing/2014/main" id="{CE8E9C35-BD83-6B5C-A8BB-F87E92658A75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705400" y="356088"/>
            <a:ext cx="10058400" cy="1033416"/>
          </a:xfrm>
        </p:spPr>
        <p:txBody>
          <a:bodyPr/>
          <a:lstStyle/>
          <a:p>
            <a:r>
              <a:rPr lang="en-US" altLang="zh-TW" dirty="0">
                <a:ea typeface="新細明體"/>
                <a:cs typeface="Calibri Light"/>
              </a:rPr>
              <a:t>Sub-word Tokenization (2)</a:t>
            </a:r>
            <a:endParaRPr lang="zh-TW" altLang="en-US" sz="2400" dirty="0">
              <a:ea typeface="新細明體"/>
              <a:cs typeface="Calibri Light"/>
            </a:endParaRPr>
          </a:p>
        </p:txBody>
      </p:sp>
    </p:spTree>
    <p:extLst>
      <p:ext uri="{BB962C8B-B14F-4D97-AF65-F5344CB8AC3E}">
        <p14:creationId xmlns:p14="http://schemas.microsoft.com/office/powerpoint/2010/main" val="1485976680"/>
      </p:ext>
    </p:extLst>
  </p:cSld>
  <p:clrMapOvr>
    <a:masterClrMapping/>
  </p:clrMapOvr>
</p:sld>
</file>

<file path=ppt/slides/slide2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" name="投影片編號版面配置區 4">
            <a:extLst>
              <a:ext uri="{FF2B5EF4-FFF2-40B4-BE49-F238E27FC236}">
                <a16:creationId xmlns:a16="http://schemas.microsoft.com/office/drawing/2014/main" id="{80B6B308-E528-1567-412F-2BF52CB92E39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6113E31D-E2AB-40D1-8B51-AFA5AFEF393A}" type="slidenum">
              <a:rPr lang="en-US" dirty="0"/>
              <a:t>20</a:t>
            </a:fld>
            <a:endParaRPr lang="zh-TW" altLang="en-US"/>
          </a:p>
        </p:txBody>
      </p:sp>
      <p:sp>
        <p:nvSpPr>
          <p:cNvPr id="7" name="內容版面配置區 2">
            <a:extLst>
              <a:ext uri="{FF2B5EF4-FFF2-40B4-BE49-F238E27FC236}">
                <a16:creationId xmlns:a16="http://schemas.microsoft.com/office/drawing/2014/main" id="{6AE5E23E-1E1F-3A47-7CA1-2E500F47EB18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1097280" y="1392008"/>
            <a:ext cx="10058400" cy="840316"/>
          </a:xfrm>
        </p:spPr>
        <p:txBody>
          <a:bodyPr>
            <a:normAutofit/>
          </a:bodyPr>
          <a:lstStyle/>
          <a:p>
            <a:pPr>
              <a:lnSpc>
                <a:spcPct val="150000"/>
              </a:lnSpc>
              <a:buClr>
                <a:schemeClr val="tx1"/>
              </a:buClr>
              <a:buSzPct val="75000"/>
              <a:buFont typeface="Arial" panose="020B0604020202020204" pitchFamily="34" charset="0"/>
              <a:buChar char="•"/>
            </a:pPr>
            <a:r>
              <a:rPr kumimoji="1" lang="en-US" altLang="zh-TW" sz="2600" dirty="0"/>
              <a:t> Add the pair with the highest frequency to the vocab</a:t>
            </a:r>
          </a:p>
        </p:txBody>
      </p:sp>
      <p:sp>
        <p:nvSpPr>
          <p:cNvPr id="2" name="文字方塊 1">
            <a:extLst>
              <a:ext uri="{FF2B5EF4-FFF2-40B4-BE49-F238E27FC236}">
                <a16:creationId xmlns:a16="http://schemas.microsoft.com/office/drawing/2014/main" id="{3A342BD5-DDC4-3956-B13B-90B8E3DB594F}"/>
              </a:ext>
            </a:extLst>
          </p:cNvPr>
          <p:cNvSpPr txBox="1"/>
          <p:nvPr/>
        </p:nvSpPr>
        <p:spPr>
          <a:xfrm>
            <a:off x="1224011" y="5323184"/>
            <a:ext cx="7450205" cy="46166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kumimoji="1" lang="en-US" altLang="zh-TW" sz="2400" dirty="0"/>
              <a:t>Current Vocabulary: </a:t>
            </a:r>
            <a:r>
              <a:rPr kumimoji="1" lang="en-US" altLang="zh-TW" sz="2400" dirty="0">
                <a:solidFill>
                  <a:srgbClr val="0070C0"/>
                </a:solidFill>
              </a:rPr>
              <a:t>&lt;/w&gt;</a:t>
            </a:r>
            <a:r>
              <a:rPr kumimoji="1" lang="en-US" altLang="zh-TW" sz="2400" dirty="0"/>
              <a:t>, d, e, </a:t>
            </a:r>
            <a:r>
              <a:rPr kumimoji="1" lang="en-US" altLang="zh-TW" sz="2400" dirty="0" err="1"/>
              <a:t>i</a:t>
            </a:r>
            <a:r>
              <a:rPr kumimoji="1" lang="en-US" altLang="zh-TW" sz="2400" dirty="0"/>
              <a:t>, l, n, o, r, s, t, w, </a:t>
            </a:r>
            <a:r>
              <a:rPr kumimoji="1" lang="en-US" altLang="zh-TW" sz="2400" dirty="0">
                <a:solidFill>
                  <a:srgbClr val="FF0000"/>
                </a:solidFill>
              </a:rPr>
              <a:t>es</a:t>
            </a:r>
            <a:endParaRPr kumimoji="1" lang="zh-TW" altLang="en-US" sz="2400" dirty="0">
              <a:solidFill>
                <a:srgbClr val="FF0000"/>
              </a:solidFill>
            </a:endParaRPr>
          </a:p>
        </p:txBody>
      </p:sp>
      <p:cxnSp>
        <p:nvCxnSpPr>
          <p:cNvPr id="14" name="直線接點 13">
            <a:extLst>
              <a:ext uri="{FF2B5EF4-FFF2-40B4-BE49-F238E27FC236}">
                <a16:creationId xmlns:a16="http://schemas.microsoft.com/office/drawing/2014/main" id="{ED23A911-049D-04B5-4BDA-07EA3747B1F9}"/>
              </a:ext>
            </a:extLst>
          </p:cNvPr>
          <p:cNvCxnSpPr/>
          <p:nvPr/>
        </p:nvCxnSpPr>
        <p:spPr>
          <a:xfrm>
            <a:off x="1097280" y="4781725"/>
            <a:ext cx="10058400" cy="0"/>
          </a:xfrm>
          <a:prstGeom prst="line">
            <a:avLst/>
          </a:prstGeom>
          <a:ln w="28575">
            <a:solidFill>
              <a:srgbClr val="FF0000"/>
            </a:solidFill>
            <a:prstDash val="dash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4" name="肘形接點 3">
            <a:extLst>
              <a:ext uri="{FF2B5EF4-FFF2-40B4-BE49-F238E27FC236}">
                <a16:creationId xmlns:a16="http://schemas.microsoft.com/office/drawing/2014/main" id="{4B6034F0-F9D2-3E93-5BF5-F403FC61315D}"/>
              </a:ext>
            </a:extLst>
          </p:cNvPr>
          <p:cNvCxnSpPr>
            <a:cxnSpLocks/>
            <a:stCxn id="22" idx="3"/>
            <a:endCxn id="19" idx="0"/>
          </p:cNvCxnSpPr>
          <p:nvPr/>
        </p:nvCxnSpPr>
        <p:spPr>
          <a:xfrm>
            <a:off x="4850305" y="4056035"/>
            <a:ext cx="3236682" cy="1347945"/>
          </a:xfrm>
          <a:prstGeom prst="bentConnector2">
            <a:avLst/>
          </a:prstGeom>
          <a:ln w="28575">
            <a:solidFill>
              <a:srgbClr val="FF0000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graphicFrame>
        <p:nvGraphicFramePr>
          <p:cNvPr id="3" name="表格 13">
            <a:extLst>
              <a:ext uri="{FF2B5EF4-FFF2-40B4-BE49-F238E27FC236}">
                <a16:creationId xmlns:a16="http://schemas.microsoft.com/office/drawing/2014/main" id="{0FEE244D-CEB7-48FB-5ACB-0C8606D78FB2}"/>
              </a:ext>
            </a:extLst>
          </p:cNvPr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053637995"/>
              </p:ext>
            </p:extLst>
          </p:nvPr>
        </p:nvGraphicFramePr>
        <p:xfrm>
          <a:off x="1240255" y="2476339"/>
          <a:ext cx="3566637" cy="198120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2055015">
                  <a:extLst>
                    <a:ext uri="{9D8B030D-6E8A-4147-A177-3AD203B41FA5}">
                      <a16:colId xmlns:a16="http://schemas.microsoft.com/office/drawing/2014/main" val="299152187"/>
                    </a:ext>
                  </a:extLst>
                </a:gridCol>
                <a:gridCol w="1511622">
                  <a:extLst>
                    <a:ext uri="{9D8B030D-6E8A-4147-A177-3AD203B41FA5}">
                      <a16:colId xmlns:a16="http://schemas.microsoft.com/office/drawing/2014/main" val="626042458"/>
                    </a:ext>
                  </a:extLst>
                </a:gridCol>
              </a:tblGrid>
              <a:tr h="207433">
                <a:tc>
                  <a:txBody>
                    <a:bodyPr/>
                    <a:lstStyle/>
                    <a:p>
                      <a:r>
                        <a:rPr lang="en-US" altLang="zh-TW" sz="2000" dirty="0">
                          <a:solidFill>
                            <a:schemeClr val="tx1"/>
                          </a:solidFill>
                        </a:rPr>
                        <a:t>Word</a:t>
                      </a:r>
                      <a:endParaRPr lang="zh-TW" altLang="en-US" sz="2000" dirty="0">
                        <a:solidFill>
                          <a:schemeClr val="tx1"/>
                        </a:solidFill>
                      </a:endParaRPr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r>
                        <a:rPr lang="en-US" altLang="zh-TW" sz="2000" dirty="0">
                          <a:solidFill>
                            <a:schemeClr val="tx1"/>
                          </a:solidFill>
                        </a:rPr>
                        <a:t>Frequency</a:t>
                      </a:r>
                      <a:endParaRPr lang="zh-TW" altLang="en-US" sz="2000" dirty="0">
                        <a:solidFill>
                          <a:schemeClr val="tx1"/>
                        </a:solidFill>
                      </a:endParaRPr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592410158"/>
                  </a:ext>
                </a:extLst>
              </a:tr>
              <a:tr h="302338">
                <a:tc>
                  <a:txBody>
                    <a:bodyPr/>
                    <a:lstStyle/>
                    <a:p>
                      <a:r>
                        <a:rPr lang="en-US" altLang="zh-TW" sz="2000" dirty="0">
                          <a:solidFill>
                            <a:schemeClr val="tx1"/>
                          </a:solidFill>
                        </a:rPr>
                        <a:t>l o w </a:t>
                      </a:r>
                      <a:r>
                        <a:rPr lang="en-US" altLang="zh-TW" sz="2000" dirty="0">
                          <a:solidFill>
                            <a:srgbClr val="0070C0"/>
                          </a:solidFill>
                        </a:rPr>
                        <a:t>&lt;/w&gt;</a:t>
                      </a:r>
                      <a:endParaRPr lang="zh-TW" altLang="en-US" sz="2000" dirty="0">
                        <a:solidFill>
                          <a:srgbClr val="0070C0"/>
                        </a:solidFill>
                      </a:endParaRPr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r>
                        <a:rPr lang="en-US" altLang="zh-TW" sz="2000" dirty="0">
                          <a:solidFill>
                            <a:schemeClr val="tx1"/>
                          </a:solidFill>
                        </a:rPr>
                        <a:t>5</a:t>
                      </a:r>
                      <a:endParaRPr lang="zh-TW" altLang="en-US" sz="2000" dirty="0">
                        <a:solidFill>
                          <a:schemeClr val="tx1"/>
                        </a:solidFill>
                      </a:endParaRPr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3786072698"/>
                  </a:ext>
                </a:extLst>
              </a:tr>
              <a:tr h="207433">
                <a:tc>
                  <a:txBody>
                    <a:bodyPr/>
                    <a:lstStyle/>
                    <a:p>
                      <a:r>
                        <a:rPr lang="en-US" altLang="zh-TW" sz="2000" dirty="0">
                          <a:solidFill>
                            <a:schemeClr val="tx1"/>
                          </a:solidFill>
                        </a:rPr>
                        <a:t>l o w e r </a:t>
                      </a:r>
                      <a:r>
                        <a:rPr lang="en-US" altLang="zh-TW" sz="2000" dirty="0">
                          <a:solidFill>
                            <a:srgbClr val="0070C0"/>
                          </a:solidFill>
                        </a:rPr>
                        <a:t>&lt;/w&gt;</a:t>
                      </a:r>
                      <a:endParaRPr lang="zh-TW" altLang="en-US" sz="2000" dirty="0">
                        <a:solidFill>
                          <a:schemeClr val="tx1"/>
                        </a:solidFill>
                      </a:endParaRPr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r>
                        <a:rPr lang="en-US" altLang="zh-TW" sz="2000" dirty="0">
                          <a:solidFill>
                            <a:schemeClr val="tx1"/>
                          </a:solidFill>
                        </a:rPr>
                        <a:t>2</a:t>
                      </a:r>
                      <a:endParaRPr lang="zh-TW" altLang="en-US" sz="2000" dirty="0">
                        <a:solidFill>
                          <a:schemeClr val="tx1"/>
                        </a:solidFill>
                      </a:endParaRPr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140167199"/>
                  </a:ext>
                </a:extLst>
              </a:tr>
              <a:tr h="207433">
                <a:tc>
                  <a:txBody>
                    <a:bodyPr/>
                    <a:lstStyle/>
                    <a:p>
                      <a:r>
                        <a:rPr lang="en-US" altLang="zh-TW" sz="2000" dirty="0">
                          <a:solidFill>
                            <a:schemeClr val="tx1"/>
                          </a:solidFill>
                        </a:rPr>
                        <a:t>n e w e s t </a:t>
                      </a:r>
                      <a:r>
                        <a:rPr lang="en-US" altLang="zh-TW" sz="2000" dirty="0">
                          <a:solidFill>
                            <a:srgbClr val="0070C0"/>
                          </a:solidFill>
                        </a:rPr>
                        <a:t>&lt;/w&gt;</a:t>
                      </a:r>
                      <a:endParaRPr lang="zh-TW" altLang="en-US" sz="2000" dirty="0">
                        <a:solidFill>
                          <a:schemeClr val="tx1"/>
                        </a:solidFill>
                      </a:endParaRPr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r>
                        <a:rPr lang="en-US" altLang="zh-TW" sz="2000" dirty="0">
                          <a:solidFill>
                            <a:schemeClr val="tx1"/>
                          </a:solidFill>
                        </a:rPr>
                        <a:t>6</a:t>
                      </a:r>
                      <a:endParaRPr lang="zh-TW" altLang="en-US" sz="2000" dirty="0">
                        <a:solidFill>
                          <a:schemeClr val="tx1"/>
                        </a:solidFill>
                      </a:endParaRPr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3608810822"/>
                  </a:ext>
                </a:extLst>
              </a:tr>
              <a:tr h="184072">
                <a:tc>
                  <a:txBody>
                    <a:bodyPr/>
                    <a:lstStyle/>
                    <a:p>
                      <a:r>
                        <a:rPr lang="en-US" altLang="zh-TW" sz="2000" dirty="0">
                          <a:solidFill>
                            <a:schemeClr val="tx1"/>
                          </a:solidFill>
                        </a:rPr>
                        <a:t>w </a:t>
                      </a:r>
                      <a:r>
                        <a:rPr lang="en-US" altLang="zh-TW" sz="2000" dirty="0" err="1">
                          <a:solidFill>
                            <a:schemeClr val="tx1"/>
                          </a:solidFill>
                        </a:rPr>
                        <a:t>i</a:t>
                      </a:r>
                      <a:r>
                        <a:rPr lang="en-US" altLang="zh-TW" sz="2000" dirty="0">
                          <a:solidFill>
                            <a:schemeClr val="tx1"/>
                          </a:solidFill>
                        </a:rPr>
                        <a:t> d e s t </a:t>
                      </a:r>
                      <a:r>
                        <a:rPr lang="en-US" altLang="zh-TW" sz="2000" dirty="0">
                          <a:solidFill>
                            <a:srgbClr val="0070C0"/>
                          </a:solidFill>
                        </a:rPr>
                        <a:t>&lt;/w&gt;</a:t>
                      </a:r>
                      <a:endParaRPr lang="zh-TW" altLang="en-US" sz="2000" dirty="0">
                        <a:solidFill>
                          <a:schemeClr val="tx1"/>
                        </a:solidFill>
                      </a:endParaRPr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r>
                        <a:rPr lang="en-US" altLang="zh-TW" sz="2000" dirty="0">
                          <a:solidFill>
                            <a:schemeClr val="tx1"/>
                          </a:solidFill>
                        </a:rPr>
                        <a:t>3</a:t>
                      </a:r>
                      <a:endParaRPr lang="zh-TW" altLang="en-US" sz="2000" dirty="0">
                        <a:solidFill>
                          <a:schemeClr val="tx1"/>
                        </a:solidFill>
                      </a:endParaRPr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3613135537"/>
                  </a:ext>
                </a:extLst>
              </a:tr>
            </a:tbl>
          </a:graphicData>
        </a:graphic>
      </p:graphicFrame>
      <p:sp>
        <p:nvSpPr>
          <p:cNvPr id="6" name="矩形 5">
            <a:extLst>
              <a:ext uri="{FF2B5EF4-FFF2-40B4-BE49-F238E27FC236}">
                <a16:creationId xmlns:a16="http://schemas.microsoft.com/office/drawing/2014/main" id="{E855ED9C-31F3-7ED1-CBF2-74E65BFE652B}"/>
              </a:ext>
            </a:extLst>
          </p:cNvPr>
          <p:cNvSpPr/>
          <p:nvPr/>
        </p:nvSpPr>
        <p:spPr>
          <a:xfrm>
            <a:off x="1998782" y="3741579"/>
            <a:ext cx="358524" cy="294516"/>
          </a:xfrm>
          <a:prstGeom prst="rect">
            <a:avLst/>
          </a:prstGeom>
          <a:noFill/>
          <a:ln w="19050">
            <a:solidFill>
              <a:srgbClr val="FF0000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kumimoji="1" lang="zh-TW" altLang="en-US"/>
          </a:p>
        </p:txBody>
      </p:sp>
      <p:sp>
        <p:nvSpPr>
          <p:cNvPr id="10" name="矩形 9">
            <a:extLst>
              <a:ext uri="{FF2B5EF4-FFF2-40B4-BE49-F238E27FC236}">
                <a16:creationId xmlns:a16="http://schemas.microsoft.com/office/drawing/2014/main" id="{59346CE8-2956-B9E1-147B-DC57678234D7}"/>
              </a:ext>
            </a:extLst>
          </p:cNvPr>
          <p:cNvSpPr/>
          <p:nvPr/>
        </p:nvSpPr>
        <p:spPr>
          <a:xfrm>
            <a:off x="1905035" y="4130604"/>
            <a:ext cx="358524" cy="294516"/>
          </a:xfrm>
          <a:prstGeom prst="rect">
            <a:avLst/>
          </a:prstGeom>
          <a:noFill/>
          <a:ln w="19050">
            <a:solidFill>
              <a:srgbClr val="FF0000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kumimoji="1" lang="zh-TW" altLang="en-US"/>
          </a:p>
        </p:txBody>
      </p:sp>
      <p:sp>
        <p:nvSpPr>
          <p:cNvPr id="19" name="文字方塊 18">
            <a:extLst>
              <a:ext uri="{FF2B5EF4-FFF2-40B4-BE49-F238E27FC236}">
                <a16:creationId xmlns:a16="http://schemas.microsoft.com/office/drawing/2014/main" id="{5EC23152-1762-D80F-E614-6C13A12ACDDA}"/>
              </a:ext>
            </a:extLst>
          </p:cNvPr>
          <p:cNvSpPr txBox="1"/>
          <p:nvPr/>
        </p:nvSpPr>
        <p:spPr>
          <a:xfrm>
            <a:off x="7789177" y="5403980"/>
            <a:ext cx="595619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endParaRPr kumimoji="1" lang="zh-TW" altLang="en-US" dirty="0"/>
          </a:p>
        </p:txBody>
      </p:sp>
      <p:sp>
        <p:nvSpPr>
          <p:cNvPr id="22" name="文字方塊 21">
            <a:extLst>
              <a:ext uri="{FF2B5EF4-FFF2-40B4-BE49-F238E27FC236}">
                <a16:creationId xmlns:a16="http://schemas.microsoft.com/office/drawing/2014/main" id="{ECB3CD2A-A1D1-C3AC-A392-CF72AD43A85C}"/>
              </a:ext>
            </a:extLst>
          </p:cNvPr>
          <p:cNvSpPr txBox="1"/>
          <p:nvPr/>
        </p:nvSpPr>
        <p:spPr>
          <a:xfrm>
            <a:off x="4254686" y="3871369"/>
            <a:ext cx="595619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endParaRPr kumimoji="1" lang="zh-TW" altLang="en-US" dirty="0"/>
          </a:p>
        </p:txBody>
      </p:sp>
      <p:sp>
        <p:nvSpPr>
          <p:cNvPr id="28" name="標題 1">
            <a:extLst>
              <a:ext uri="{FF2B5EF4-FFF2-40B4-BE49-F238E27FC236}">
                <a16:creationId xmlns:a16="http://schemas.microsoft.com/office/drawing/2014/main" id="{7237EB6A-4AAF-3066-9599-7C23317F3BAA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705400" y="356088"/>
            <a:ext cx="10058400" cy="1033416"/>
          </a:xfrm>
        </p:spPr>
        <p:txBody>
          <a:bodyPr/>
          <a:lstStyle/>
          <a:p>
            <a:r>
              <a:rPr lang="en-US" altLang="zh-TW" dirty="0">
                <a:ea typeface="新細明體"/>
                <a:cs typeface="Calibri Light"/>
              </a:rPr>
              <a:t>Sub-word Tokenization (3)</a:t>
            </a:r>
            <a:endParaRPr lang="zh-TW" altLang="en-US" sz="2400" dirty="0">
              <a:ea typeface="新細明體"/>
              <a:cs typeface="Calibri Light"/>
            </a:endParaRPr>
          </a:p>
        </p:txBody>
      </p:sp>
    </p:spTree>
    <p:extLst>
      <p:ext uri="{BB962C8B-B14F-4D97-AF65-F5344CB8AC3E}">
        <p14:creationId xmlns:p14="http://schemas.microsoft.com/office/powerpoint/2010/main" val="2453027652"/>
      </p:ext>
    </p:extLst>
  </p:cSld>
  <p:clrMapOvr>
    <a:masterClrMapping/>
  </p:clrMapOvr>
</p:sld>
</file>

<file path=ppt/slides/slide2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" name="投影片編號版面配置區 4">
            <a:extLst>
              <a:ext uri="{FF2B5EF4-FFF2-40B4-BE49-F238E27FC236}">
                <a16:creationId xmlns:a16="http://schemas.microsoft.com/office/drawing/2014/main" id="{80B6B308-E528-1567-412F-2BF52CB92E39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6113E31D-E2AB-40D1-8B51-AFA5AFEF393A}" type="slidenum">
              <a:rPr lang="en-US" dirty="0"/>
              <a:t>21</a:t>
            </a:fld>
            <a:endParaRPr lang="zh-TW" altLang="en-US"/>
          </a:p>
        </p:txBody>
      </p:sp>
      <p:sp>
        <p:nvSpPr>
          <p:cNvPr id="2" name="文字方塊 1">
            <a:extLst>
              <a:ext uri="{FF2B5EF4-FFF2-40B4-BE49-F238E27FC236}">
                <a16:creationId xmlns:a16="http://schemas.microsoft.com/office/drawing/2014/main" id="{3A342BD5-DDC4-3956-B13B-90B8E3DB594F}"/>
              </a:ext>
            </a:extLst>
          </p:cNvPr>
          <p:cNvSpPr txBox="1"/>
          <p:nvPr/>
        </p:nvSpPr>
        <p:spPr>
          <a:xfrm>
            <a:off x="1224011" y="5281239"/>
            <a:ext cx="7894821" cy="46166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kumimoji="1" lang="en-US" altLang="zh-TW" sz="2400" dirty="0"/>
              <a:t>Current Vocabulary: </a:t>
            </a:r>
            <a:r>
              <a:rPr kumimoji="1" lang="en-US" altLang="zh-TW" sz="2400" dirty="0">
                <a:solidFill>
                  <a:srgbClr val="0070C0"/>
                </a:solidFill>
              </a:rPr>
              <a:t>&lt;/w&gt;</a:t>
            </a:r>
            <a:r>
              <a:rPr kumimoji="1" lang="en-US" altLang="zh-TW" sz="2400" dirty="0"/>
              <a:t>, d, e, </a:t>
            </a:r>
            <a:r>
              <a:rPr kumimoji="1" lang="en-US" altLang="zh-TW" sz="2400" dirty="0" err="1"/>
              <a:t>i</a:t>
            </a:r>
            <a:r>
              <a:rPr kumimoji="1" lang="en-US" altLang="zh-TW" sz="2400" dirty="0"/>
              <a:t>, l, n, o, r, s, t, w, </a:t>
            </a:r>
            <a:r>
              <a:rPr kumimoji="1" lang="en-US" altLang="zh-TW" sz="2400" dirty="0">
                <a:solidFill>
                  <a:srgbClr val="FF0000"/>
                </a:solidFill>
              </a:rPr>
              <a:t>es</a:t>
            </a:r>
            <a:endParaRPr kumimoji="1" lang="zh-TW" altLang="en-US" sz="2400" dirty="0">
              <a:solidFill>
                <a:srgbClr val="FF0000"/>
              </a:solidFill>
            </a:endParaRPr>
          </a:p>
        </p:txBody>
      </p:sp>
      <p:cxnSp>
        <p:nvCxnSpPr>
          <p:cNvPr id="3" name="直線接點 2">
            <a:extLst>
              <a:ext uri="{FF2B5EF4-FFF2-40B4-BE49-F238E27FC236}">
                <a16:creationId xmlns:a16="http://schemas.microsoft.com/office/drawing/2014/main" id="{E6F7506F-449C-7499-F845-3B4F9F8F6480}"/>
              </a:ext>
            </a:extLst>
          </p:cNvPr>
          <p:cNvCxnSpPr/>
          <p:nvPr/>
        </p:nvCxnSpPr>
        <p:spPr>
          <a:xfrm>
            <a:off x="1097280" y="4781725"/>
            <a:ext cx="10058400" cy="0"/>
          </a:xfrm>
          <a:prstGeom prst="line">
            <a:avLst/>
          </a:prstGeom>
          <a:ln w="28575">
            <a:solidFill>
              <a:srgbClr val="FF0000"/>
            </a:solidFill>
            <a:prstDash val="dash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12" name="內容版面配置區 2">
            <a:extLst>
              <a:ext uri="{FF2B5EF4-FFF2-40B4-BE49-F238E27FC236}">
                <a16:creationId xmlns:a16="http://schemas.microsoft.com/office/drawing/2014/main" id="{B704230E-DAA4-49BC-6540-85567C22703A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705401" y="1426297"/>
            <a:ext cx="10779128" cy="1033403"/>
          </a:xfrm>
        </p:spPr>
        <p:txBody>
          <a:bodyPr>
            <a:noAutofit/>
          </a:bodyPr>
          <a:lstStyle/>
          <a:p>
            <a:pPr>
              <a:lnSpc>
                <a:spcPct val="100000"/>
              </a:lnSpc>
              <a:buClr>
                <a:schemeClr val="tx1"/>
              </a:buClr>
              <a:buSzPct val="75000"/>
              <a:buFont typeface="Arial" panose="020B0604020202020204" pitchFamily="34" charset="0"/>
              <a:buChar char="•"/>
            </a:pPr>
            <a:r>
              <a:rPr kumimoji="1" lang="en-US" altLang="zh-TW" sz="2600" dirty="0"/>
              <a:t> </a:t>
            </a:r>
            <a:r>
              <a:rPr kumimoji="1" lang="en-US" altLang="zh-TW" sz="2600" dirty="0">
                <a:solidFill>
                  <a:srgbClr val="FF0000"/>
                </a:solidFill>
              </a:rPr>
              <a:t>Merge</a:t>
            </a:r>
            <a:r>
              <a:rPr kumimoji="1" lang="en-US" altLang="zh-TW" sz="2600" dirty="0"/>
              <a:t> the characters by replacing all words in the corpus with </a:t>
            </a:r>
            <a:r>
              <a:rPr kumimoji="1" lang="en-US" altLang="zh-TW" sz="2600" dirty="0">
                <a:solidFill>
                  <a:srgbClr val="FF0000"/>
                </a:solidFill>
              </a:rPr>
              <a:t>the newly added pair</a:t>
            </a:r>
            <a:r>
              <a:rPr kumimoji="1" lang="en-US" altLang="zh-TW" sz="2600" dirty="0">
                <a:solidFill>
                  <a:schemeClr val="tx1"/>
                </a:solidFill>
              </a:rPr>
              <a:t>.</a:t>
            </a:r>
          </a:p>
        </p:txBody>
      </p:sp>
      <p:graphicFrame>
        <p:nvGraphicFramePr>
          <p:cNvPr id="4" name="表格 13">
            <a:extLst>
              <a:ext uri="{FF2B5EF4-FFF2-40B4-BE49-F238E27FC236}">
                <a16:creationId xmlns:a16="http://schemas.microsoft.com/office/drawing/2014/main" id="{20C202B9-A25F-6163-2783-04706533A503}"/>
              </a:ext>
            </a:extLst>
          </p:cNvPr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25674258"/>
              </p:ext>
            </p:extLst>
          </p:nvPr>
        </p:nvGraphicFramePr>
        <p:xfrm>
          <a:off x="1240255" y="2476339"/>
          <a:ext cx="3566637" cy="198120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2055015">
                  <a:extLst>
                    <a:ext uri="{9D8B030D-6E8A-4147-A177-3AD203B41FA5}">
                      <a16:colId xmlns:a16="http://schemas.microsoft.com/office/drawing/2014/main" val="299152187"/>
                    </a:ext>
                  </a:extLst>
                </a:gridCol>
                <a:gridCol w="1511622">
                  <a:extLst>
                    <a:ext uri="{9D8B030D-6E8A-4147-A177-3AD203B41FA5}">
                      <a16:colId xmlns:a16="http://schemas.microsoft.com/office/drawing/2014/main" val="626042458"/>
                    </a:ext>
                  </a:extLst>
                </a:gridCol>
              </a:tblGrid>
              <a:tr h="207433">
                <a:tc>
                  <a:txBody>
                    <a:bodyPr/>
                    <a:lstStyle/>
                    <a:p>
                      <a:r>
                        <a:rPr lang="en-US" altLang="zh-TW" sz="2000" dirty="0">
                          <a:solidFill>
                            <a:schemeClr val="tx1"/>
                          </a:solidFill>
                        </a:rPr>
                        <a:t>Word</a:t>
                      </a:r>
                      <a:endParaRPr lang="zh-TW" altLang="en-US" sz="2000" dirty="0">
                        <a:solidFill>
                          <a:schemeClr val="tx1"/>
                        </a:solidFill>
                      </a:endParaRPr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r>
                        <a:rPr lang="en-US" altLang="zh-TW" sz="2000" dirty="0">
                          <a:solidFill>
                            <a:schemeClr val="tx1"/>
                          </a:solidFill>
                        </a:rPr>
                        <a:t>Frequency</a:t>
                      </a:r>
                      <a:endParaRPr lang="zh-TW" altLang="en-US" sz="2000" dirty="0">
                        <a:solidFill>
                          <a:schemeClr val="tx1"/>
                        </a:solidFill>
                      </a:endParaRPr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592410158"/>
                  </a:ext>
                </a:extLst>
              </a:tr>
              <a:tr h="302338">
                <a:tc>
                  <a:txBody>
                    <a:bodyPr/>
                    <a:lstStyle/>
                    <a:p>
                      <a:r>
                        <a:rPr lang="en-US" altLang="zh-TW" sz="2000" dirty="0">
                          <a:solidFill>
                            <a:schemeClr val="tx1"/>
                          </a:solidFill>
                        </a:rPr>
                        <a:t>l o w </a:t>
                      </a:r>
                      <a:r>
                        <a:rPr lang="en-US" altLang="zh-TW" sz="2000" dirty="0">
                          <a:solidFill>
                            <a:srgbClr val="0070C0"/>
                          </a:solidFill>
                        </a:rPr>
                        <a:t>&lt;/w&gt;</a:t>
                      </a:r>
                      <a:endParaRPr lang="zh-TW" altLang="en-US" sz="2000" dirty="0">
                        <a:solidFill>
                          <a:srgbClr val="0070C0"/>
                        </a:solidFill>
                      </a:endParaRPr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r>
                        <a:rPr lang="en-US" altLang="zh-TW" sz="2000" dirty="0">
                          <a:solidFill>
                            <a:schemeClr val="tx1"/>
                          </a:solidFill>
                        </a:rPr>
                        <a:t>5</a:t>
                      </a:r>
                      <a:endParaRPr lang="zh-TW" altLang="en-US" sz="2000" dirty="0">
                        <a:solidFill>
                          <a:schemeClr val="tx1"/>
                        </a:solidFill>
                      </a:endParaRPr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3786072698"/>
                  </a:ext>
                </a:extLst>
              </a:tr>
              <a:tr h="207433">
                <a:tc>
                  <a:txBody>
                    <a:bodyPr/>
                    <a:lstStyle/>
                    <a:p>
                      <a:r>
                        <a:rPr lang="en-US" altLang="zh-TW" sz="2000" dirty="0">
                          <a:solidFill>
                            <a:schemeClr val="tx1"/>
                          </a:solidFill>
                        </a:rPr>
                        <a:t>l o w e r </a:t>
                      </a:r>
                      <a:r>
                        <a:rPr lang="en-US" altLang="zh-TW" sz="2000" dirty="0">
                          <a:solidFill>
                            <a:srgbClr val="0070C0"/>
                          </a:solidFill>
                        </a:rPr>
                        <a:t>&lt;/w&gt;</a:t>
                      </a:r>
                      <a:endParaRPr lang="zh-TW" altLang="en-US" sz="2000" dirty="0">
                        <a:solidFill>
                          <a:schemeClr val="tx1"/>
                        </a:solidFill>
                      </a:endParaRPr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r>
                        <a:rPr lang="en-US" altLang="zh-TW" sz="2000" dirty="0">
                          <a:solidFill>
                            <a:schemeClr val="tx1"/>
                          </a:solidFill>
                        </a:rPr>
                        <a:t>2</a:t>
                      </a:r>
                      <a:endParaRPr lang="zh-TW" altLang="en-US" sz="2000" dirty="0">
                        <a:solidFill>
                          <a:schemeClr val="tx1"/>
                        </a:solidFill>
                      </a:endParaRPr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140167199"/>
                  </a:ext>
                </a:extLst>
              </a:tr>
              <a:tr h="207433">
                <a:tc>
                  <a:txBody>
                    <a:bodyPr/>
                    <a:lstStyle/>
                    <a:p>
                      <a:r>
                        <a:rPr lang="en-US" altLang="zh-TW" sz="2000" dirty="0">
                          <a:solidFill>
                            <a:schemeClr val="tx1"/>
                          </a:solidFill>
                        </a:rPr>
                        <a:t>n e w </a:t>
                      </a:r>
                      <a:r>
                        <a:rPr lang="en-US" altLang="zh-TW" sz="2000" b="1" dirty="0">
                          <a:solidFill>
                            <a:srgbClr val="FF0000"/>
                          </a:solidFill>
                        </a:rPr>
                        <a:t>es</a:t>
                      </a:r>
                      <a:r>
                        <a:rPr lang="en-US" altLang="zh-TW" sz="2000" dirty="0">
                          <a:solidFill>
                            <a:schemeClr val="tx1"/>
                          </a:solidFill>
                        </a:rPr>
                        <a:t> t </a:t>
                      </a:r>
                      <a:r>
                        <a:rPr lang="en-US" altLang="zh-TW" sz="2000" dirty="0">
                          <a:solidFill>
                            <a:srgbClr val="0070C0"/>
                          </a:solidFill>
                        </a:rPr>
                        <a:t>&lt;/w&gt;</a:t>
                      </a:r>
                      <a:endParaRPr lang="zh-TW" altLang="en-US" sz="2000" dirty="0">
                        <a:solidFill>
                          <a:schemeClr val="tx1"/>
                        </a:solidFill>
                      </a:endParaRPr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r>
                        <a:rPr lang="en-US" altLang="zh-TW" sz="2000" dirty="0">
                          <a:solidFill>
                            <a:schemeClr val="tx1"/>
                          </a:solidFill>
                        </a:rPr>
                        <a:t>6</a:t>
                      </a:r>
                      <a:endParaRPr lang="zh-TW" altLang="en-US" sz="2000" dirty="0">
                        <a:solidFill>
                          <a:schemeClr val="tx1"/>
                        </a:solidFill>
                      </a:endParaRPr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3608810822"/>
                  </a:ext>
                </a:extLst>
              </a:tr>
              <a:tr h="184072">
                <a:tc>
                  <a:txBody>
                    <a:bodyPr/>
                    <a:lstStyle/>
                    <a:p>
                      <a:r>
                        <a:rPr lang="en-US" altLang="zh-TW" sz="2000" dirty="0">
                          <a:solidFill>
                            <a:schemeClr val="tx1"/>
                          </a:solidFill>
                        </a:rPr>
                        <a:t>w </a:t>
                      </a:r>
                      <a:r>
                        <a:rPr lang="en-US" altLang="zh-TW" sz="2000" dirty="0" err="1">
                          <a:solidFill>
                            <a:schemeClr val="tx1"/>
                          </a:solidFill>
                        </a:rPr>
                        <a:t>i</a:t>
                      </a:r>
                      <a:r>
                        <a:rPr lang="en-US" altLang="zh-TW" sz="2000" dirty="0">
                          <a:solidFill>
                            <a:schemeClr val="tx1"/>
                          </a:solidFill>
                        </a:rPr>
                        <a:t> d </a:t>
                      </a:r>
                      <a:r>
                        <a:rPr lang="en-US" altLang="zh-TW" sz="2000" b="1" dirty="0">
                          <a:solidFill>
                            <a:srgbClr val="FF0000"/>
                          </a:solidFill>
                        </a:rPr>
                        <a:t>es</a:t>
                      </a:r>
                      <a:r>
                        <a:rPr lang="en-US" altLang="zh-TW" sz="2000" dirty="0">
                          <a:solidFill>
                            <a:schemeClr val="tx1"/>
                          </a:solidFill>
                        </a:rPr>
                        <a:t> t </a:t>
                      </a:r>
                      <a:r>
                        <a:rPr lang="en-US" altLang="zh-TW" sz="2000" dirty="0">
                          <a:solidFill>
                            <a:srgbClr val="0070C0"/>
                          </a:solidFill>
                        </a:rPr>
                        <a:t>&lt;/w&gt;</a:t>
                      </a:r>
                      <a:endParaRPr lang="zh-TW" altLang="en-US" sz="2000" dirty="0">
                        <a:solidFill>
                          <a:schemeClr val="tx1"/>
                        </a:solidFill>
                      </a:endParaRPr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r>
                        <a:rPr lang="en-US" altLang="zh-TW" sz="2000" dirty="0">
                          <a:solidFill>
                            <a:schemeClr val="tx1"/>
                          </a:solidFill>
                        </a:rPr>
                        <a:t>3</a:t>
                      </a:r>
                      <a:endParaRPr lang="zh-TW" altLang="en-US" sz="2000" dirty="0">
                        <a:solidFill>
                          <a:schemeClr val="tx1"/>
                        </a:solidFill>
                      </a:endParaRPr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3613135537"/>
                  </a:ext>
                </a:extLst>
              </a:tr>
            </a:tbl>
          </a:graphicData>
        </a:graphic>
      </p:graphicFrame>
      <p:sp>
        <p:nvSpPr>
          <p:cNvPr id="10" name="標題 1">
            <a:extLst>
              <a:ext uri="{FF2B5EF4-FFF2-40B4-BE49-F238E27FC236}">
                <a16:creationId xmlns:a16="http://schemas.microsoft.com/office/drawing/2014/main" id="{58D078F0-DDD7-8D15-F549-D68C6A819653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705400" y="356088"/>
            <a:ext cx="10058400" cy="1033416"/>
          </a:xfrm>
        </p:spPr>
        <p:txBody>
          <a:bodyPr/>
          <a:lstStyle/>
          <a:p>
            <a:r>
              <a:rPr lang="en-US" altLang="zh-TW" dirty="0">
                <a:ea typeface="新細明體"/>
                <a:cs typeface="Calibri Light"/>
              </a:rPr>
              <a:t>Sub-word Tokenization (4)</a:t>
            </a:r>
            <a:endParaRPr lang="zh-TW" altLang="en-US" sz="2400" dirty="0">
              <a:ea typeface="新細明體"/>
              <a:cs typeface="Calibri Light"/>
            </a:endParaRPr>
          </a:p>
        </p:txBody>
      </p:sp>
    </p:spTree>
    <p:extLst>
      <p:ext uri="{BB962C8B-B14F-4D97-AF65-F5344CB8AC3E}">
        <p14:creationId xmlns:p14="http://schemas.microsoft.com/office/powerpoint/2010/main" val="512604298"/>
      </p:ext>
    </p:extLst>
  </p:cSld>
  <p:clrMapOvr>
    <a:masterClrMapping/>
  </p:clrMapOvr>
</p:sld>
</file>

<file path=ppt/slides/slide2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" name="投影片編號版面配置區 4">
            <a:extLst>
              <a:ext uri="{FF2B5EF4-FFF2-40B4-BE49-F238E27FC236}">
                <a16:creationId xmlns:a16="http://schemas.microsoft.com/office/drawing/2014/main" id="{80B6B308-E528-1567-412F-2BF52CB92E39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6113E31D-E2AB-40D1-8B51-AFA5AFEF393A}" type="slidenum">
              <a:rPr lang="en-US" dirty="0"/>
              <a:t>22</a:t>
            </a:fld>
            <a:endParaRPr lang="zh-TW" altLang="en-US"/>
          </a:p>
        </p:txBody>
      </p:sp>
      <p:sp>
        <p:nvSpPr>
          <p:cNvPr id="7" name="內容版面配置區 2">
            <a:extLst>
              <a:ext uri="{FF2B5EF4-FFF2-40B4-BE49-F238E27FC236}">
                <a16:creationId xmlns:a16="http://schemas.microsoft.com/office/drawing/2014/main" id="{6AE5E23E-1E1F-3A47-7CA1-2E500F47EB18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705400" y="1512763"/>
            <a:ext cx="10058400" cy="840316"/>
          </a:xfrm>
        </p:spPr>
        <p:txBody>
          <a:bodyPr>
            <a:normAutofit/>
          </a:bodyPr>
          <a:lstStyle/>
          <a:p>
            <a:pPr>
              <a:lnSpc>
                <a:spcPct val="150000"/>
              </a:lnSpc>
              <a:buClr>
                <a:schemeClr val="tx1"/>
              </a:buClr>
              <a:buSzPct val="75000"/>
              <a:buFont typeface="Arial" panose="020B0604020202020204" pitchFamily="34" charset="0"/>
              <a:buChar char="•"/>
            </a:pPr>
            <a:r>
              <a:rPr kumimoji="1" lang="en-US" altLang="zh-TW" sz="2600" dirty="0"/>
              <a:t> Find the character </a:t>
            </a:r>
            <a:r>
              <a:rPr kumimoji="1" lang="en-US" altLang="zh-TW" sz="2600" b="1" dirty="0">
                <a:solidFill>
                  <a:srgbClr val="FF0000"/>
                </a:solidFill>
              </a:rPr>
              <a:t>pair</a:t>
            </a:r>
            <a:r>
              <a:rPr kumimoji="1" lang="en-US" altLang="zh-TW" sz="2600" dirty="0"/>
              <a:t> with the highest frequency</a:t>
            </a:r>
          </a:p>
        </p:txBody>
      </p:sp>
      <p:sp>
        <p:nvSpPr>
          <p:cNvPr id="17" name="文字方塊 16">
            <a:extLst>
              <a:ext uri="{FF2B5EF4-FFF2-40B4-BE49-F238E27FC236}">
                <a16:creationId xmlns:a16="http://schemas.microsoft.com/office/drawing/2014/main" id="{2B4E8D6D-35BD-3ACB-7EA5-1B49EF382CAD}"/>
              </a:ext>
            </a:extLst>
          </p:cNvPr>
          <p:cNvSpPr txBox="1"/>
          <p:nvPr/>
        </p:nvSpPr>
        <p:spPr>
          <a:xfrm>
            <a:off x="4914899" y="3664578"/>
            <a:ext cx="6025415" cy="46166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kumimoji="1" lang="en-US" altLang="zh-TW" sz="2400" dirty="0">
                <a:solidFill>
                  <a:srgbClr val="FF0000"/>
                </a:solidFill>
              </a:rPr>
              <a:t>Found “es t” with the highest frequency 6+3=9</a:t>
            </a:r>
            <a:endParaRPr kumimoji="1" lang="zh-TW" altLang="en-US" sz="2400" dirty="0">
              <a:solidFill>
                <a:srgbClr val="FF0000"/>
              </a:solidFill>
            </a:endParaRPr>
          </a:p>
        </p:txBody>
      </p:sp>
      <p:sp>
        <p:nvSpPr>
          <p:cNvPr id="3" name="矩形 2">
            <a:extLst>
              <a:ext uri="{FF2B5EF4-FFF2-40B4-BE49-F238E27FC236}">
                <a16:creationId xmlns:a16="http://schemas.microsoft.com/office/drawing/2014/main" id="{7712E0A2-8D37-E4A6-3287-91D6002EB9A4}"/>
              </a:ext>
            </a:extLst>
          </p:cNvPr>
          <p:cNvSpPr/>
          <p:nvPr/>
        </p:nvSpPr>
        <p:spPr>
          <a:xfrm>
            <a:off x="8282940" y="533680"/>
            <a:ext cx="2811780" cy="717629"/>
          </a:xfrm>
          <a:prstGeom prst="rect">
            <a:avLst/>
          </a:prstGeom>
          <a:noFill/>
          <a:ln w="28575">
            <a:solidFill>
              <a:srgbClr val="00B050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kumimoji="1" lang="en-US" altLang="zh-TW" sz="1600" dirty="0">
                <a:solidFill>
                  <a:srgbClr val="00B050"/>
                </a:solidFill>
              </a:rPr>
              <a:t>Repeated (2)-(4)</a:t>
            </a:r>
          </a:p>
          <a:p>
            <a:pPr algn="ctr"/>
            <a:r>
              <a:rPr kumimoji="1" lang="en-US" altLang="zh-TW" sz="1600" dirty="0">
                <a:solidFill>
                  <a:srgbClr val="00B050"/>
                </a:solidFill>
              </a:rPr>
              <a:t>according to `</a:t>
            </a:r>
            <a:r>
              <a:rPr kumimoji="1" lang="en-US" altLang="zh-TW" sz="1600" dirty="0" err="1">
                <a:solidFill>
                  <a:srgbClr val="00B050"/>
                </a:solidFill>
              </a:rPr>
              <a:t>num_merges</a:t>
            </a:r>
            <a:r>
              <a:rPr kumimoji="1" lang="en-US" altLang="zh-TW" sz="1600" dirty="0">
                <a:solidFill>
                  <a:srgbClr val="00B050"/>
                </a:solidFill>
              </a:rPr>
              <a:t>`</a:t>
            </a:r>
            <a:endParaRPr kumimoji="1" lang="zh-TW" altLang="en-US" sz="1600" dirty="0">
              <a:solidFill>
                <a:srgbClr val="00B050"/>
              </a:solidFill>
            </a:endParaRPr>
          </a:p>
        </p:txBody>
      </p:sp>
      <p:sp>
        <p:nvSpPr>
          <p:cNvPr id="10" name="標題 1">
            <a:extLst>
              <a:ext uri="{FF2B5EF4-FFF2-40B4-BE49-F238E27FC236}">
                <a16:creationId xmlns:a16="http://schemas.microsoft.com/office/drawing/2014/main" id="{02DFB553-460A-264E-6B4D-1A5147B8D106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705400" y="356088"/>
            <a:ext cx="10058400" cy="1033416"/>
          </a:xfrm>
        </p:spPr>
        <p:txBody>
          <a:bodyPr/>
          <a:lstStyle/>
          <a:p>
            <a:r>
              <a:rPr lang="en-US" altLang="zh-TW" dirty="0">
                <a:ea typeface="新細明體"/>
                <a:cs typeface="Calibri Light"/>
              </a:rPr>
              <a:t>Sub-word Tokenization (2)</a:t>
            </a:r>
            <a:endParaRPr lang="zh-TW" altLang="en-US" sz="2400" dirty="0">
              <a:ea typeface="新細明體"/>
              <a:cs typeface="Calibri Light"/>
            </a:endParaRPr>
          </a:p>
        </p:txBody>
      </p:sp>
      <p:sp>
        <p:nvSpPr>
          <p:cNvPr id="11" name="文字方塊 10">
            <a:extLst>
              <a:ext uri="{FF2B5EF4-FFF2-40B4-BE49-F238E27FC236}">
                <a16:creationId xmlns:a16="http://schemas.microsoft.com/office/drawing/2014/main" id="{AA9CF8D0-806F-6A35-956D-32D5CE9D589F}"/>
              </a:ext>
            </a:extLst>
          </p:cNvPr>
          <p:cNvSpPr txBox="1"/>
          <p:nvPr/>
        </p:nvSpPr>
        <p:spPr>
          <a:xfrm>
            <a:off x="1224011" y="5281239"/>
            <a:ext cx="7894821" cy="46166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kumimoji="1" lang="en-US" altLang="zh-TW" sz="2400" dirty="0"/>
              <a:t>Current Vocabulary: </a:t>
            </a:r>
            <a:r>
              <a:rPr kumimoji="1" lang="en-US" altLang="zh-TW" sz="2400" dirty="0">
                <a:solidFill>
                  <a:srgbClr val="0070C0"/>
                </a:solidFill>
              </a:rPr>
              <a:t>&lt;/w&gt;</a:t>
            </a:r>
            <a:r>
              <a:rPr kumimoji="1" lang="en-US" altLang="zh-TW" sz="2400" dirty="0"/>
              <a:t>, d, e, </a:t>
            </a:r>
            <a:r>
              <a:rPr kumimoji="1" lang="en-US" altLang="zh-TW" sz="2400" dirty="0" err="1"/>
              <a:t>i</a:t>
            </a:r>
            <a:r>
              <a:rPr kumimoji="1" lang="en-US" altLang="zh-TW" sz="2400" dirty="0"/>
              <a:t>, l, n, o, r, s, t, w, es</a:t>
            </a:r>
            <a:endParaRPr kumimoji="1" lang="zh-TW" altLang="en-US" sz="2400" dirty="0"/>
          </a:p>
        </p:txBody>
      </p:sp>
      <p:cxnSp>
        <p:nvCxnSpPr>
          <p:cNvPr id="12" name="直線接點 11">
            <a:extLst>
              <a:ext uri="{FF2B5EF4-FFF2-40B4-BE49-F238E27FC236}">
                <a16:creationId xmlns:a16="http://schemas.microsoft.com/office/drawing/2014/main" id="{E37D4E13-1A44-FFBD-5C71-0817B5031DF2}"/>
              </a:ext>
            </a:extLst>
          </p:cNvPr>
          <p:cNvCxnSpPr/>
          <p:nvPr/>
        </p:nvCxnSpPr>
        <p:spPr>
          <a:xfrm>
            <a:off x="1097280" y="4781725"/>
            <a:ext cx="10058400" cy="0"/>
          </a:xfrm>
          <a:prstGeom prst="line">
            <a:avLst/>
          </a:prstGeom>
          <a:ln w="28575">
            <a:solidFill>
              <a:srgbClr val="FF0000"/>
            </a:solidFill>
            <a:prstDash val="dash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graphicFrame>
        <p:nvGraphicFramePr>
          <p:cNvPr id="13" name="表格 13">
            <a:extLst>
              <a:ext uri="{FF2B5EF4-FFF2-40B4-BE49-F238E27FC236}">
                <a16:creationId xmlns:a16="http://schemas.microsoft.com/office/drawing/2014/main" id="{270DA055-B138-321D-2D60-B6AEBFDE8F7E}"/>
              </a:ext>
            </a:extLst>
          </p:cNvPr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838916435"/>
              </p:ext>
            </p:extLst>
          </p:nvPr>
        </p:nvGraphicFramePr>
        <p:xfrm>
          <a:off x="1240255" y="2476339"/>
          <a:ext cx="3566637" cy="198120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2055015">
                  <a:extLst>
                    <a:ext uri="{9D8B030D-6E8A-4147-A177-3AD203B41FA5}">
                      <a16:colId xmlns:a16="http://schemas.microsoft.com/office/drawing/2014/main" val="299152187"/>
                    </a:ext>
                  </a:extLst>
                </a:gridCol>
                <a:gridCol w="1511622">
                  <a:extLst>
                    <a:ext uri="{9D8B030D-6E8A-4147-A177-3AD203B41FA5}">
                      <a16:colId xmlns:a16="http://schemas.microsoft.com/office/drawing/2014/main" val="626042458"/>
                    </a:ext>
                  </a:extLst>
                </a:gridCol>
              </a:tblGrid>
              <a:tr h="207433">
                <a:tc>
                  <a:txBody>
                    <a:bodyPr/>
                    <a:lstStyle/>
                    <a:p>
                      <a:r>
                        <a:rPr lang="en-US" altLang="zh-TW" sz="2000" dirty="0">
                          <a:solidFill>
                            <a:schemeClr val="tx1"/>
                          </a:solidFill>
                        </a:rPr>
                        <a:t>Word</a:t>
                      </a:r>
                      <a:endParaRPr lang="zh-TW" altLang="en-US" sz="2000" dirty="0">
                        <a:solidFill>
                          <a:schemeClr val="tx1"/>
                        </a:solidFill>
                      </a:endParaRPr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r>
                        <a:rPr lang="en-US" altLang="zh-TW" sz="2000" dirty="0">
                          <a:solidFill>
                            <a:schemeClr val="tx1"/>
                          </a:solidFill>
                        </a:rPr>
                        <a:t>Frequency</a:t>
                      </a:r>
                      <a:endParaRPr lang="zh-TW" altLang="en-US" sz="2000" dirty="0">
                        <a:solidFill>
                          <a:schemeClr val="tx1"/>
                        </a:solidFill>
                      </a:endParaRPr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592410158"/>
                  </a:ext>
                </a:extLst>
              </a:tr>
              <a:tr h="302338">
                <a:tc>
                  <a:txBody>
                    <a:bodyPr/>
                    <a:lstStyle/>
                    <a:p>
                      <a:r>
                        <a:rPr lang="en-US" altLang="zh-TW" sz="2000" dirty="0">
                          <a:solidFill>
                            <a:schemeClr val="tx1"/>
                          </a:solidFill>
                        </a:rPr>
                        <a:t>l o w </a:t>
                      </a:r>
                      <a:r>
                        <a:rPr lang="en-US" altLang="zh-TW" sz="2000" dirty="0">
                          <a:solidFill>
                            <a:srgbClr val="0070C0"/>
                          </a:solidFill>
                        </a:rPr>
                        <a:t>&lt;/w&gt;</a:t>
                      </a:r>
                      <a:endParaRPr lang="zh-TW" altLang="en-US" sz="2000" dirty="0">
                        <a:solidFill>
                          <a:srgbClr val="0070C0"/>
                        </a:solidFill>
                      </a:endParaRPr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r>
                        <a:rPr lang="en-US" altLang="zh-TW" sz="2000" dirty="0">
                          <a:solidFill>
                            <a:schemeClr val="tx1"/>
                          </a:solidFill>
                        </a:rPr>
                        <a:t>5</a:t>
                      </a:r>
                      <a:endParaRPr lang="zh-TW" altLang="en-US" sz="2000" dirty="0">
                        <a:solidFill>
                          <a:schemeClr val="tx1"/>
                        </a:solidFill>
                      </a:endParaRPr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3786072698"/>
                  </a:ext>
                </a:extLst>
              </a:tr>
              <a:tr h="207433">
                <a:tc>
                  <a:txBody>
                    <a:bodyPr/>
                    <a:lstStyle/>
                    <a:p>
                      <a:r>
                        <a:rPr lang="en-US" altLang="zh-TW" sz="2000" dirty="0">
                          <a:solidFill>
                            <a:schemeClr val="tx1"/>
                          </a:solidFill>
                        </a:rPr>
                        <a:t>l o w e r </a:t>
                      </a:r>
                      <a:r>
                        <a:rPr lang="en-US" altLang="zh-TW" sz="2000" dirty="0">
                          <a:solidFill>
                            <a:srgbClr val="0070C0"/>
                          </a:solidFill>
                        </a:rPr>
                        <a:t>&lt;/w&gt;</a:t>
                      </a:r>
                      <a:endParaRPr lang="zh-TW" altLang="en-US" sz="2000" dirty="0">
                        <a:solidFill>
                          <a:schemeClr val="tx1"/>
                        </a:solidFill>
                      </a:endParaRPr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r>
                        <a:rPr lang="en-US" altLang="zh-TW" sz="2000" dirty="0">
                          <a:solidFill>
                            <a:schemeClr val="tx1"/>
                          </a:solidFill>
                        </a:rPr>
                        <a:t>2</a:t>
                      </a:r>
                      <a:endParaRPr lang="zh-TW" altLang="en-US" sz="2000" dirty="0">
                        <a:solidFill>
                          <a:schemeClr val="tx1"/>
                        </a:solidFill>
                      </a:endParaRPr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140167199"/>
                  </a:ext>
                </a:extLst>
              </a:tr>
              <a:tr h="207433">
                <a:tc>
                  <a:txBody>
                    <a:bodyPr/>
                    <a:lstStyle/>
                    <a:p>
                      <a:r>
                        <a:rPr lang="en-US" altLang="zh-TW" sz="2000" dirty="0">
                          <a:solidFill>
                            <a:schemeClr val="tx1"/>
                          </a:solidFill>
                        </a:rPr>
                        <a:t>n e w </a:t>
                      </a:r>
                      <a:r>
                        <a:rPr lang="en-US" altLang="zh-TW" sz="2000" b="0" dirty="0">
                          <a:solidFill>
                            <a:schemeClr val="tx1"/>
                          </a:solidFill>
                        </a:rPr>
                        <a:t>es t </a:t>
                      </a:r>
                      <a:r>
                        <a:rPr lang="en-US" altLang="zh-TW" sz="2000" dirty="0">
                          <a:solidFill>
                            <a:srgbClr val="0070C0"/>
                          </a:solidFill>
                        </a:rPr>
                        <a:t>&lt;/w&gt;</a:t>
                      </a:r>
                      <a:endParaRPr lang="zh-TW" altLang="en-US" sz="2000" dirty="0">
                        <a:solidFill>
                          <a:schemeClr val="tx1"/>
                        </a:solidFill>
                      </a:endParaRPr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r>
                        <a:rPr lang="en-US" altLang="zh-TW" sz="2000" dirty="0">
                          <a:solidFill>
                            <a:schemeClr val="tx1"/>
                          </a:solidFill>
                        </a:rPr>
                        <a:t>6</a:t>
                      </a:r>
                      <a:endParaRPr lang="zh-TW" altLang="en-US" sz="2000" dirty="0">
                        <a:solidFill>
                          <a:schemeClr val="tx1"/>
                        </a:solidFill>
                      </a:endParaRPr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3608810822"/>
                  </a:ext>
                </a:extLst>
              </a:tr>
              <a:tr h="184072">
                <a:tc>
                  <a:txBody>
                    <a:bodyPr/>
                    <a:lstStyle/>
                    <a:p>
                      <a:r>
                        <a:rPr lang="en-US" altLang="zh-TW" sz="2000" dirty="0">
                          <a:solidFill>
                            <a:schemeClr val="tx1"/>
                          </a:solidFill>
                        </a:rPr>
                        <a:t>w </a:t>
                      </a:r>
                      <a:r>
                        <a:rPr lang="en-US" altLang="zh-TW" sz="2000" dirty="0" err="1">
                          <a:solidFill>
                            <a:schemeClr val="tx1"/>
                          </a:solidFill>
                        </a:rPr>
                        <a:t>i</a:t>
                      </a:r>
                      <a:r>
                        <a:rPr lang="en-US" altLang="zh-TW" sz="2000" dirty="0">
                          <a:solidFill>
                            <a:schemeClr val="tx1"/>
                          </a:solidFill>
                        </a:rPr>
                        <a:t> d </a:t>
                      </a:r>
                      <a:r>
                        <a:rPr lang="en-US" altLang="zh-TW" sz="2000" b="0" dirty="0">
                          <a:solidFill>
                            <a:schemeClr val="tx1"/>
                          </a:solidFill>
                        </a:rPr>
                        <a:t>es </a:t>
                      </a:r>
                      <a:r>
                        <a:rPr lang="en-US" altLang="zh-TW" sz="2000" dirty="0">
                          <a:solidFill>
                            <a:schemeClr val="tx1"/>
                          </a:solidFill>
                        </a:rPr>
                        <a:t>t </a:t>
                      </a:r>
                      <a:r>
                        <a:rPr lang="en-US" altLang="zh-TW" sz="2000" dirty="0">
                          <a:solidFill>
                            <a:srgbClr val="0070C0"/>
                          </a:solidFill>
                        </a:rPr>
                        <a:t>&lt;/w&gt;</a:t>
                      </a:r>
                      <a:endParaRPr lang="zh-TW" altLang="en-US" sz="2000" dirty="0">
                        <a:solidFill>
                          <a:schemeClr val="tx1"/>
                        </a:solidFill>
                      </a:endParaRPr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r>
                        <a:rPr lang="en-US" altLang="zh-TW" sz="2000" dirty="0">
                          <a:solidFill>
                            <a:schemeClr val="tx1"/>
                          </a:solidFill>
                        </a:rPr>
                        <a:t>3</a:t>
                      </a:r>
                      <a:endParaRPr lang="zh-TW" altLang="en-US" sz="2000" dirty="0">
                        <a:solidFill>
                          <a:schemeClr val="tx1"/>
                        </a:solidFill>
                      </a:endParaRPr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3613135537"/>
                  </a:ext>
                </a:extLst>
              </a:tr>
            </a:tbl>
          </a:graphicData>
        </a:graphic>
      </p:graphicFrame>
      <p:sp>
        <p:nvSpPr>
          <p:cNvPr id="14" name="矩形 13">
            <a:extLst>
              <a:ext uri="{FF2B5EF4-FFF2-40B4-BE49-F238E27FC236}">
                <a16:creationId xmlns:a16="http://schemas.microsoft.com/office/drawing/2014/main" id="{0A33D4DD-051D-8403-3D62-F4AABE05B484}"/>
              </a:ext>
            </a:extLst>
          </p:cNvPr>
          <p:cNvSpPr/>
          <p:nvPr/>
        </p:nvSpPr>
        <p:spPr>
          <a:xfrm>
            <a:off x="1990392" y="3733190"/>
            <a:ext cx="467581" cy="268359"/>
          </a:xfrm>
          <a:prstGeom prst="rect">
            <a:avLst/>
          </a:prstGeom>
          <a:noFill/>
          <a:ln w="19050">
            <a:solidFill>
              <a:srgbClr val="FF0000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kumimoji="1" lang="zh-TW" altLang="en-US"/>
          </a:p>
        </p:txBody>
      </p:sp>
      <p:sp>
        <p:nvSpPr>
          <p:cNvPr id="20" name="矩形 19">
            <a:extLst>
              <a:ext uri="{FF2B5EF4-FFF2-40B4-BE49-F238E27FC236}">
                <a16:creationId xmlns:a16="http://schemas.microsoft.com/office/drawing/2014/main" id="{200CFF0B-EA7F-DD1B-B700-E3CCD5AF4A7D}"/>
              </a:ext>
            </a:extLst>
          </p:cNvPr>
          <p:cNvSpPr/>
          <p:nvPr/>
        </p:nvSpPr>
        <p:spPr>
          <a:xfrm>
            <a:off x="1907900" y="4129430"/>
            <a:ext cx="467581" cy="268359"/>
          </a:xfrm>
          <a:prstGeom prst="rect">
            <a:avLst/>
          </a:prstGeom>
          <a:noFill/>
          <a:ln w="19050">
            <a:solidFill>
              <a:srgbClr val="FF0000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kumimoji="1" lang="zh-TW" altLang="en-US"/>
          </a:p>
        </p:txBody>
      </p:sp>
    </p:spTree>
    <p:extLst>
      <p:ext uri="{BB962C8B-B14F-4D97-AF65-F5344CB8AC3E}">
        <p14:creationId xmlns:p14="http://schemas.microsoft.com/office/powerpoint/2010/main" val="2197121339"/>
      </p:ext>
    </p:extLst>
  </p:cSld>
  <p:clrMapOvr>
    <a:masterClrMapping/>
  </p:clrMapOvr>
</p:sld>
</file>

<file path=ppt/slides/slide2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" name="投影片編號版面配置區 4">
            <a:extLst>
              <a:ext uri="{FF2B5EF4-FFF2-40B4-BE49-F238E27FC236}">
                <a16:creationId xmlns:a16="http://schemas.microsoft.com/office/drawing/2014/main" id="{80B6B308-E528-1567-412F-2BF52CB92E39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6113E31D-E2AB-40D1-8B51-AFA5AFEF393A}" type="slidenum">
              <a:rPr lang="en-US" dirty="0"/>
              <a:t>23</a:t>
            </a:fld>
            <a:endParaRPr lang="zh-TW" altLang="en-US"/>
          </a:p>
        </p:txBody>
      </p:sp>
      <p:sp>
        <p:nvSpPr>
          <p:cNvPr id="7" name="內容版面配置區 2">
            <a:extLst>
              <a:ext uri="{FF2B5EF4-FFF2-40B4-BE49-F238E27FC236}">
                <a16:creationId xmlns:a16="http://schemas.microsoft.com/office/drawing/2014/main" id="{6AE5E23E-1E1F-3A47-7CA1-2E500F47EB18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705400" y="1547824"/>
            <a:ext cx="10058400" cy="840316"/>
          </a:xfrm>
        </p:spPr>
        <p:txBody>
          <a:bodyPr>
            <a:normAutofit/>
          </a:bodyPr>
          <a:lstStyle/>
          <a:p>
            <a:pPr>
              <a:lnSpc>
                <a:spcPct val="150000"/>
              </a:lnSpc>
              <a:buClr>
                <a:schemeClr val="tx1"/>
              </a:buClr>
              <a:buSzPct val="75000"/>
              <a:buFont typeface="Arial" panose="020B0604020202020204" pitchFamily="34" charset="0"/>
              <a:buChar char="•"/>
            </a:pPr>
            <a:r>
              <a:rPr kumimoji="1" lang="en-US" altLang="zh-TW" sz="2600" dirty="0"/>
              <a:t> Add the pair with the highest frequency to the vocab</a:t>
            </a:r>
          </a:p>
        </p:txBody>
      </p:sp>
      <p:cxnSp>
        <p:nvCxnSpPr>
          <p:cNvPr id="4" name="肘形接點 3">
            <a:extLst>
              <a:ext uri="{FF2B5EF4-FFF2-40B4-BE49-F238E27FC236}">
                <a16:creationId xmlns:a16="http://schemas.microsoft.com/office/drawing/2014/main" id="{4B6034F0-F9D2-3E93-5BF5-F403FC61315D}"/>
              </a:ext>
            </a:extLst>
          </p:cNvPr>
          <p:cNvCxnSpPr>
            <a:cxnSpLocks/>
          </p:cNvCxnSpPr>
          <p:nvPr/>
        </p:nvCxnSpPr>
        <p:spPr>
          <a:xfrm>
            <a:off x="4857226" y="4060272"/>
            <a:ext cx="3772354" cy="1310053"/>
          </a:xfrm>
          <a:prstGeom prst="bentConnector2">
            <a:avLst/>
          </a:prstGeom>
          <a:ln w="28575">
            <a:solidFill>
              <a:srgbClr val="FF0000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12" name="矩形 11">
            <a:extLst>
              <a:ext uri="{FF2B5EF4-FFF2-40B4-BE49-F238E27FC236}">
                <a16:creationId xmlns:a16="http://schemas.microsoft.com/office/drawing/2014/main" id="{4374AA92-1610-6D5F-FE52-08A333101ABA}"/>
              </a:ext>
            </a:extLst>
          </p:cNvPr>
          <p:cNvSpPr/>
          <p:nvPr/>
        </p:nvSpPr>
        <p:spPr>
          <a:xfrm>
            <a:off x="8282940" y="533680"/>
            <a:ext cx="2811780" cy="717629"/>
          </a:xfrm>
          <a:prstGeom prst="rect">
            <a:avLst/>
          </a:prstGeom>
          <a:noFill/>
          <a:ln w="28575">
            <a:solidFill>
              <a:srgbClr val="00B050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kumimoji="1" lang="en-US" altLang="zh-TW" sz="1600" dirty="0">
                <a:solidFill>
                  <a:srgbClr val="00B050"/>
                </a:solidFill>
              </a:rPr>
              <a:t>Repeated (2)-(4)</a:t>
            </a:r>
          </a:p>
          <a:p>
            <a:pPr algn="ctr"/>
            <a:r>
              <a:rPr kumimoji="1" lang="en-US" altLang="zh-TW" sz="1600" dirty="0">
                <a:solidFill>
                  <a:srgbClr val="00B050"/>
                </a:solidFill>
              </a:rPr>
              <a:t>according to `</a:t>
            </a:r>
            <a:r>
              <a:rPr kumimoji="1" lang="en-US" altLang="zh-TW" sz="1600" dirty="0" err="1">
                <a:solidFill>
                  <a:srgbClr val="00B050"/>
                </a:solidFill>
              </a:rPr>
              <a:t>num_merges</a:t>
            </a:r>
            <a:r>
              <a:rPr kumimoji="1" lang="en-US" altLang="zh-TW" sz="1600" dirty="0">
                <a:solidFill>
                  <a:srgbClr val="00B050"/>
                </a:solidFill>
              </a:rPr>
              <a:t>`</a:t>
            </a:r>
            <a:endParaRPr kumimoji="1" lang="zh-TW" altLang="en-US" sz="1600" dirty="0">
              <a:solidFill>
                <a:srgbClr val="00B050"/>
              </a:solidFill>
            </a:endParaRPr>
          </a:p>
        </p:txBody>
      </p:sp>
      <p:sp>
        <p:nvSpPr>
          <p:cNvPr id="8" name="文字方塊 7">
            <a:extLst>
              <a:ext uri="{FF2B5EF4-FFF2-40B4-BE49-F238E27FC236}">
                <a16:creationId xmlns:a16="http://schemas.microsoft.com/office/drawing/2014/main" id="{2CAAC7C3-B1F5-A335-25B0-2C24C3DFC659}"/>
              </a:ext>
            </a:extLst>
          </p:cNvPr>
          <p:cNvSpPr txBox="1"/>
          <p:nvPr/>
        </p:nvSpPr>
        <p:spPr>
          <a:xfrm>
            <a:off x="1224011" y="5281239"/>
            <a:ext cx="7894821" cy="46166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kumimoji="1" lang="en-US" altLang="zh-TW" sz="2400" dirty="0"/>
              <a:t>Current Vocabulary: </a:t>
            </a:r>
            <a:r>
              <a:rPr kumimoji="1" lang="en-US" altLang="zh-TW" sz="2400" dirty="0">
                <a:solidFill>
                  <a:srgbClr val="0070C0"/>
                </a:solidFill>
              </a:rPr>
              <a:t>&lt;/w&gt;</a:t>
            </a:r>
            <a:r>
              <a:rPr kumimoji="1" lang="en-US" altLang="zh-TW" sz="2400" dirty="0"/>
              <a:t>, d, e, </a:t>
            </a:r>
            <a:r>
              <a:rPr kumimoji="1" lang="en-US" altLang="zh-TW" sz="2400" dirty="0" err="1"/>
              <a:t>i</a:t>
            </a:r>
            <a:r>
              <a:rPr kumimoji="1" lang="en-US" altLang="zh-TW" sz="2400" dirty="0"/>
              <a:t>, l, n, o, r, s, t, w, es, </a:t>
            </a:r>
            <a:r>
              <a:rPr kumimoji="1" lang="en-US" altLang="zh-TW" sz="2400" dirty="0" err="1">
                <a:solidFill>
                  <a:srgbClr val="FF0000"/>
                </a:solidFill>
              </a:rPr>
              <a:t>est</a:t>
            </a:r>
            <a:endParaRPr kumimoji="1" lang="zh-TW" altLang="en-US" sz="2400" dirty="0">
              <a:solidFill>
                <a:srgbClr val="FF0000"/>
              </a:solidFill>
            </a:endParaRPr>
          </a:p>
        </p:txBody>
      </p:sp>
      <p:cxnSp>
        <p:nvCxnSpPr>
          <p:cNvPr id="11" name="直線接點 10">
            <a:extLst>
              <a:ext uri="{FF2B5EF4-FFF2-40B4-BE49-F238E27FC236}">
                <a16:creationId xmlns:a16="http://schemas.microsoft.com/office/drawing/2014/main" id="{826B6C95-7907-04E9-5201-E370D87552B0}"/>
              </a:ext>
            </a:extLst>
          </p:cNvPr>
          <p:cNvCxnSpPr/>
          <p:nvPr/>
        </p:nvCxnSpPr>
        <p:spPr>
          <a:xfrm>
            <a:off x="1097280" y="4781725"/>
            <a:ext cx="10058400" cy="0"/>
          </a:xfrm>
          <a:prstGeom prst="line">
            <a:avLst/>
          </a:prstGeom>
          <a:ln w="28575">
            <a:solidFill>
              <a:srgbClr val="FF0000"/>
            </a:solidFill>
            <a:prstDash val="dash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graphicFrame>
        <p:nvGraphicFramePr>
          <p:cNvPr id="13" name="表格 13">
            <a:extLst>
              <a:ext uri="{FF2B5EF4-FFF2-40B4-BE49-F238E27FC236}">
                <a16:creationId xmlns:a16="http://schemas.microsoft.com/office/drawing/2014/main" id="{F4B2B028-8020-5C76-DA06-DB7F678CF89E}"/>
              </a:ext>
            </a:extLst>
          </p:cNvPr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2523817339"/>
              </p:ext>
            </p:extLst>
          </p:nvPr>
        </p:nvGraphicFramePr>
        <p:xfrm>
          <a:off x="1240255" y="2476339"/>
          <a:ext cx="3566637" cy="198120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2055015">
                  <a:extLst>
                    <a:ext uri="{9D8B030D-6E8A-4147-A177-3AD203B41FA5}">
                      <a16:colId xmlns:a16="http://schemas.microsoft.com/office/drawing/2014/main" val="299152187"/>
                    </a:ext>
                  </a:extLst>
                </a:gridCol>
                <a:gridCol w="1511622">
                  <a:extLst>
                    <a:ext uri="{9D8B030D-6E8A-4147-A177-3AD203B41FA5}">
                      <a16:colId xmlns:a16="http://schemas.microsoft.com/office/drawing/2014/main" val="626042458"/>
                    </a:ext>
                  </a:extLst>
                </a:gridCol>
              </a:tblGrid>
              <a:tr h="207433">
                <a:tc>
                  <a:txBody>
                    <a:bodyPr/>
                    <a:lstStyle/>
                    <a:p>
                      <a:r>
                        <a:rPr lang="en-US" altLang="zh-TW" sz="2000" dirty="0">
                          <a:solidFill>
                            <a:schemeClr val="tx1"/>
                          </a:solidFill>
                        </a:rPr>
                        <a:t>Word</a:t>
                      </a:r>
                      <a:endParaRPr lang="zh-TW" altLang="en-US" sz="2000" dirty="0">
                        <a:solidFill>
                          <a:schemeClr val="tx1"/>
                        </a:solidFill>
                      </a:endParaRPr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r>
                        <a:rPr lang="en-US" altLang="zh-TW" sz="2000" dirty="0">
                          <a:solidFill>
                            <a:schemeClr val="tx1"/>
                          </a:solidFill>
                        </a:rPr>
                        <a:t>Frequency</a:t>
                      </a:r>
                      <a:endParaRPr lang="zh-TW" altLang="en-US" sz="2000" dirty="0">
                        <a:solidFill>
                          <a:schemeClr val="tx1"/>
                        </a:solidFill>
                      </a:endParaRPr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592410158"/>
                  </a:ext>
                </a:extLst>
              </a:tr>
              <a:tr h="302338">
                <a:tc>
                  <a:txBody>
                    <a:bodyPr/>
                    <a:lstStyle/>
                    <a:p>
                      <a:r>
                        <a:rPr lang="en-US" altLang="zh-TW" sz="2000" dirty="0">
                          <a:solidFill>
                            <a:schemeClr val="tx1"/>
                          </a:solidFill>
                        </a:rPr>
                        <a:t>l o w </a:t>
                      </a:r>
                      <a:r>
                        <a:rPr lang="en-US" altLang="zh-TW" sz="2000" dirty="0">
                          <a:solidFill>
                            <a:srgbClr val="0070C0"/>
                          </a:solidFill>
                        </a:rPr>
                        <a:t>&lt;/w&gt;</a:t>
                      </a:r>
                      <a:endParaRPr lang="zh-TW" altLang="en-US" sz="2000" dirty="0">
                        <a:solidFill>
                          <a:srgbClr val="0070C0"/>
                        </a:solidFill>
                      </a:endParaRPr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r>
                        <a:rPr lang="en-US" altLang="zh-TW" sz="2000" dirty="0">
                          <a:solidFill>
                            <a:schemeClr val="tx1"/>
                          </a:solidFill>
                        </a:rPr>
                        <a:t>5</a:t>
                      </a:r>
                      <a:endParaRPr lang="zh-TW" altLang="en-US" sz="2000" dirty="0">
                        <a:solidFill>
                          <a:schemeClr val="tx1"/>
                        </a:solidFill>
                      </a:endParaRPr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3786072698"/>
                  </a:ext>
                </a:extLst>
              </a:tr>
              <a:tr h="207433">
                <a:tc>
                  <a:txBody>
                    <a:bodyPr/>
                    <a:lstStyle/>
                    <a:p>
                      <a:r>
                        <a:rPr lang="en-US" altLang="zh-TW" sz="2000" dirty="0">
                          <a:solidFill>
                            <a:schemeClr val="tx1"/>
                          </a:solidFill>
                        </a:rPr>
                        <a:t>l o w e r </a:t>
                      </a:r>
                      <a:r>
                        <a:rPr lang="en-US" altLang="zh-TW" sz="2000" dirty="0">
                          <a:solidFill>
                            <a:srgbClr val="0070C0"/>
                          </a:solidFill>
                        </a:rPr>
                        <a:t>&lt;/w&gt;</a:t>
                      </a:r>
                      <a:endParaRPr lang="zh-TW" altLang="en-US" sz="2000" dirty="0">
                        <a:solidFill>
                          <a:schemeClr val="tx1"/>
                        </a:solidFill>
                      </a:endParaRPr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r>
                        <a:rPr lang="en-US" altLang="zh-TW" sz="2000" dirty="0">
                          <a:solidFill>
                            <a:schemeClr val="tx1"/>
                          </a:solidFill>
                        </a:rPr>
                        <a:t>2</a:t>
                      </a:r>
                      <a:endParaRPr lang="zh-TW" altLang="en-US" sz="2000" dirty="0">
                        <a:solidFill>
                          <a:schemeClr val="tx1"/>
                        </a:solidFill>
                      </a:endParaRPr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140167199"/>
                  </a:ext>
                </a:extLst>
              </a:tr>
              <a:tr h="207433">
                <a:tc>
                  <a:txBody>
                    <a:bodyPr/>
                    <a:lstStyle/>
                    <a:p>
                      <a:r>
                        <a:rPr lang="en-US" altLang="zh-TW" sz="2000" dirty="0">
                          <a:solidFill>
                            <a:schemeClr val="tx1"/>
                          </a:solidFill>
                        </a:rPr>
                        <a:t>n e w </a:t>
                      </a:r>
                      <a:r>
                        <a:rPr lang="en-US" altLang="zh-TW" sz="2000" b="0" dirty="0">
                          <a:solidFill>
                            <a:schemeClr val="tx1"/>
                          </a:solidFill>
                        </a:rPr>
                        <a:t>es t </a:t>
                      </a:r>
                      <a:r>
                        <a:rPr lang="en-US" altLang="zh-TW" sz="2000" dirty="0">
                          <a:solidFill>
                            <a:srgbClr val="0070C0"/>
                          </a:solidFill>
                        </a:rPr>
                        <a:t>&lt;/w&gt;</a:t>
                      </a:r>
                      <a:endParaRPr lang="zh-TW" altLang="en-US" sz="2000" dirty="0">
                        <a:solidFill>
                          <a:schemeClr val="tx1"/>
                        </a:solidFill>
                      </a:endParaRPr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r>
                        <a:rPr lang="en-US" altLang="zh-TW" sz="2000" dirty="0">
                          <a:solidFill>
                            <a:schemeClr val="tx1"/>
                          </a:solidFill>
                        </a:rPr>
                        <a:t>6</a:t>
                      </a:r>
                      <a:endParaRPr lang="zh-TW" altLang="en-US" sz="2000" dirty="0">
                        <a:solidFill>
                          <a:schemeClr val="tx1"/>
                        </a:solidFill>
                      </a:endParaRPr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3608810822"/>
                  </a:ext>
                </a:extLst>
              </a:tr>
              <a:tr h="184072">
                <a:tc>
                  <a:txBody>
                    <a:bodyPr/>
                    <a:lstStyle/>
                    <a:p>
                      <a:r>
                        <a:rPr lang="en-US" altLang="zh-TW" sz="2000" dirty="0">
                          <a:solidFill>
                            <a:schemeClr val="tx1"/>
                          </a:solidFill>
                        </a:rPr>
                        <a:t>w </a:t>
                      </a:r>
                      <a:r>
                        <a:rPr lang="en-US" altLang="zh-TW" sz="2000" dirty="0" err="1">
                          <a:solidFill>
                            <a:schemeClr val="tx1"/>
                          </a:solidFill>
                        </a:rPr>
                        <a:t>i</a:t>
                      </a:r>
                      <a:r>
                        <a:rPr lang="en-US" altLang="zh-TW" sz="2000" dirty="0">
                          <a:solidFill>
                            <a:schemeClr val="tx1"/>
                          </a:solidFill>
                        </a:rPr>
                        <a:t> d </a:t>
                      </a:r>
                      <a:r>
                        <a:rPr lang="en-US" altLang="zh-TW" sz="2000" b="0" dirty="0">
                          <a:solidFill>
                            <a:schemeClr val="tx1"/>
                          </a:solidFill>
                        </a:rPr>
                        <a:t>es </a:t>
                      </a:r>
                      <a:r>
                        <a:rPr lang="en-US" altLang="zh-TW" sz="2000" dirty="0">
                          <a:solidFill>
                            <a:schemeClr val="tx1"/>
                          </a:solidFill>
                        </a:rPr>
                        <a:t>t </a:t>
                      </a:r>
                      <a:r>
                        <a:rPr lang="en-US" altLang="zh-TW" sz="2000" dirty="0">
                          <a:solidFill>
                            <a:srgbClr val="0070C0"/>
                          </a:solidFill>
                        </a:rPr>
                        <a:t>&lt;/w&gt;</a:t>
                      </a:r>
                      <a:endParaRPr lang="zh-TW" altLang="en-US" sz="2000" dirty="0">
                        <a:solidFill>
                          <a:schemeClr val="tx1"/>
                        </a:solidFill>
                      </a:endParaRPr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r>
                        <a:rPr lang="en-US" altLang="zh-TW" sz="2000" dirty="0">
                          <a:solidFill>
                            <a:schemeClr val="tx1"/>
                          </a:solidFill>
                        </a:rPr>
                        <a:t>3</a:t>
                      </a:r>
                      <a:endParaRPr lang="zh-TW" altLang="en-US" sz="2000" dirty="0">
                        <a:solidFill>
                          <a:schemeClr val="tx1"/>
                        </a:solidFill>
                      </a:endParaRPr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3613135537"/>
                  </a:ext>
                </a:extLst>
              </a:tr>
            </a:tbl>
          </a:graphicData>
        </a:graphic>
      </p:graphicFrame>
      <p:sp>
        <p:nvSpPr>
          <p:cNvPr id="15" name="矩形 14">
            <a:extLst>
              <a:ext uri="{FF2B5EF4-FFF2-40B4-BE49-F238E27FC236}">
                <a16:creationId xmlns:a16="http://schemas.microsoft.com/office/drawing/2014/main" id="{8C7E592C-E5D0-C8AC-1C57-D038110C99BF}"/>
              </a:ext>
            </a:extLst>
          </p:cNvPr>
          <p:cNvSpPr/>
          <p:nvPr/>
        </p:nvSpPr>
        <p:spPr>
          <a:xfrm>
            <a:off x="1990392" y="3733190"/>
            <a:ext cx="467581" cy="268359"/>
          </a:xfrm>
          <a:prstGeom prst="rect">
            <a:avLst/>
          </a:prstGeom>
          <a:noFill/>
          <a:ln w="19050">
            <a:solidFill>
              <a:srgbClr val="FF0000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kumimoji="1" lang="zh-TW" altLang="en-US"/>
          </a:p>
        </p:txBody>
      </p:sp>
      <p:sp>
        <p:nvSpPr>
          <p:cNvPr id="16" name="矩形 15">
            <a:extLst>
              <a:ext uri="{FF2B5EF4-FFF2-40B4-BE49-F238E27FC236}">
                <a16:creationId xmlns:a16="http://schemas.microsoft.com/office/drawing/2014/main" id="{981CDDE0-DD51-9C48-6441-7BF23194E13F}"/>
              </a:ext>
            </a:extLst>
          </p:cNvPr>
          <p:cNvSpPr/>
          <p:nvPr/>
        </p:nvSpPr>
        <p:spPr>
          <a:xfrm>
            <a:off x="1907900" y="4129430"/>
            <a:ext cx="467581" cy="268359"/>
          </a:xfrm>
          <a:prstGeom prst="rect">
            <a:avLst/>
          </a:prstGeom>
          <a:noFill/>
          <a:ln w="19050">
            <a:solidFill>
              <a:srgbClr val="FF0000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kumimoji="1" lang="zh-TW" altLang="en-US"/>
          </a:p>
        </p:txBody>
      </p:sp>
      <p:sp>
        <p:nvSpPr>
          <p:cNvPr id="24" name="標題 1">
            <a:extLst>
              <a:ext uri="{FF2B5EF4-FFF2-40B4-BE49-F238E27FC236}">
                <a16:creationId xmlns:a16="http://schemas.microsoft.com/office/drawing/2014/main" id="{1F86BEC0-725A-1CDD-EE98-0D6103B9E8F9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705400" y="356088"/>
            <a:ext cx="7497040" cy="1033416"/>
          </a:xfrm>
        </p:spPr>
        <p:txBody>
          <a:bodyPr/>
          <a:lstStyle/>
          <a:p>
            <a:r>
              <a:rPr lang="en-US" altLang="zh-TW" dirty="0">
                <a:ea typeface="新細明體"/>
                <a:cs typeface="Calibri Light"/>
              </a:rPr>
              <a:t>Sub-word Tokenization (3)</a:t>
            </a:r>
            <a:endParaRPr lang="zh-TW" altLang="en-US" sz="2400" dirty="0">
              <a:ea typeface="新細明體"/>
              <a:cs typeface="Calibri Light"/>
            </a:endParaRPr>
          </a:p>
        </p:txBody>
      </p:sp>
    </p:spTree>
    <p:extLst>
      <p:ext uri="{BB962C8B-B14F-4D97-AF65-F5344CB8AC3E}">
        <p14:creationId xmlns:p14="http://schemas.microsoft.com/office/powerpoint/2010/main" val="1434745890"/>
      </p:ext>
    </p:extLst>
  </p:cSld>
  <p:clrMapOvr>
    <a:masterClrMapping/>
  </p:clrMapOvr>
</p:sld>
</file>

<file path=ppt/slides/slide2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" name="投影片編號版面配置區 4">
            <a:extLst>
              <a:ext uri="{FF2B5EF4-FFF2-40B4-BE49-F238E27FC236}">
                <a16:creationId xmlns:a16="http://schemas.microsoft.com/office/drawing/2014/main" id="{80B6B308-E528-1567-412F-2BF52CB92E39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6113E31D-E2AB-40D1-8B51-AFA5AFEF393A}" type="slidenum">
              <a:rPr lang="en-US" dirty="0"/>
              <a:t>24</a:t>
            </a:fld>
            <a:endParaRPr lang="zh-TW" altLang="en-US"/>
          </a:p>
        </p:txBody>
      </p:sp>
      <p:sp>
        <p:nvSpPr>
          <p:cNvPr id="7" name="標題 1">
            <a:extLst>
              <a:ext uri="{FF2B5EF4-FFF2-40B4-BE49-F238E27FC236}">
                <a16:creationId xmlns:a16="http://schemas.microsoft.com/office/drawing/2014/main" id="{436427E2-6DA6-D9C8-FFB7-87EE9F0757F6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705400" y="356088"/>
            <a:ext cx="7497040" cy="1033416"/>
          </a:xfrm>
        </p:spPr>
        <p:txBody>
          <a:bodyPr/>
          <a:lstStyle/>
          <a:p>
            <a:r>
              <a:rPr lang="en-US" altLang="zh-TW" dirty="0">
                <a:ea typeface="新細明體"/>
                <a:cs typeface="Calibri Light"/>
              </a:rPr>
              <a:t>Sub-word Tokenization (4)</a:t>
            </a:r>
            <a:endParaRPr lang="zh-TW" altLang="en-US" sz="2400" dirty="0">
              <a:ea typeface="新細明體"/>
              <a:cs typeface="Calibri Light"/>
            </a:endParaRPr>
          </a:p>
        </p:txBody>
      </p:sp>
      <p:sp>
        <p:nvSpPr>
          <p:cNvPr id="11" name="矩形 10">
            <a:extLst>
              <a:ext uri="{FF2B5EF4-FFF2-40B4-BE49-F238E27FC236}">
                <a16:creationId xmlns:a16="http://schemas.microsoft.com/office/drawing/2014/main" id="{B613D5B8-B083-DB36-FA59-BBB58B33BF00}"/>
              </a:ext>
            </a:extLst>
          </p:cNvPr>
          <p:cNvSpPr/>
          <p:nvPr/>
        </p:nvSpPr>
        <p:spPr>
          <a:xfrm>
            <a:off x="8282940" y="533680"/>
            <a:ext cx="2811780" cy="717629"/>
          </a:xfrm>
          <a:prstGeom prst="rect">
            <a:avLst/>
          </a:prstGeom>
          <a:noFill/>
          <a:ln w="28575">
            <a:solidFill>
              <a:srgbClr val="00B050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kumimoji="1" lang="en-US" altLang="zh-TW" sz="1600" dirty="0">
                <a:solidFill>
                  <a:srgbClr val="00B050"/>
                </a:solidFill>
              </a:rPr>
              <a:t>Repeated (2)-(4)</a:t>
            </a:r>
          </a:p>
          <a:p>
            <a:pPr algn="ctr"/>
            <a:r>
              <a:rPr kumimoji="1" lang="en-US" altLang="zh-TW" sz="1600" dirty="0">
                <a:solidFill>
                  <a:srgbClr val="00B050"/>
                </a:solidFill>
              </a:rPr>
              <a:t>according to `</a:t>
            </a:r>
            <a:r>
              <a:rPr kumimoji="1" lang="en-US" altLang="zh-TW" sz="1600" dirty="0" err="1">
                <a:solidFill>
                  <a:srgbClr val="00B050"/>
                </a:solidFill>
              </a:rPr>
              <a:t>num_merges</a:t>
            </a:r>
            <a:r>
              <a:rPr kumimoji="1" lang="en-US" altLang="zh-TW" sz="1600" dirty="0">
                <a:solidFill>
                  <a:srgbClr val="00B050"/>
                </a:solidFill>
              </a:rPr>
              <a:t>`</a:t>
            </a:r>
            <a:endParaRPr kumimoji="1" lang="zh-TW" altLang="en-US" sz="1600" dirty="0">
              <a:solidFill>
                <a:srgbClr val="00B050"/>
              </a:solidFill>
            </a:endParaRPr>
          </a:p>
        </p:txBody>
      </p:sp>
      <p:sp>
        <p:nvSpPr>
          <p:cNvPr id="15" name="內容版面配置區 2">
            <a:extLst>
              <a:ext uri="{FF2B5EF4-FFF2-40B4-BE49-F238E27FC236}">
                <a16:creationId xmlns:a16="http://schemas.microsoft.com/office/drawing/2014/main" id="{1B5168E4-C191-57D7-E720-3E982B399A4F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705401" y="1426297"/>
            <a:ext cx="10779128" cy="1033403"/>
          </a:xfrm>
        </p:spPr>
        <p:txBody>
          <a:bodyPr>
            <a:noAutofit/>
          </a:bodyPr>
          <a:lstStyle/>
          <a:p>
            <a:pPr>
              <a:lnSpc>
                <a:spcPct val="100000"/>
              </a:lnSpc>
              <a:buClr>
                <a:schemeClr val="tx1"/>
              </a:buClr>
              <a:buSzPct val="75000"/>
              <a:buFont typeface="Arial" panose="020B0604020202020204" pitchFamily="34" charset="0"/>
              <a:buChar char="•"/>
            </a:pPr>
            <a:r>
              <a:rPr kumimoji="1" lang="en-US" altLang="zh-TW" sz="2600" dirty="0"/>
              <a:t> </a:t>
            </a:r>
            <a:r>
              <a:rPr kumimoji="1" lang="en-US" altLang="zh-TW" sz="2600" dirty="0">
                <a:solidFill>
                  <a:srgbClr val="FF0000"/>
                </a:solidFill>
              </a:rPr>
              <a:t>Merge</a:t>
            </a:r>
            <a:r>
              <a:rPr kumimoji="1" lang="en-US" altLang="zh-TW" sz="2600" dirty="0"/>
              <a:t> the characters by replacing all words in the corpus with </a:t>
            </a:r>
            <a:r>
              <a:rPr kumimoji="1" lang="en-US" altLang="zh-TW" sz="2600" dirty="0">
                <a:solidFill>
                  <a:srgbClr val="FF0000"/>
                </a:solidFill>
              </a:rPr>
              <a:t>the newly added pair</a:t>
            </a:r>
            <a:r>
              <a:rPr kumimoji="1" lang="en-US" altLang="zh-TW" sz="2600" dirty="0">
                <a:solidFill>
                  <a:schemeClr val="tx1"/>
                </a:solidFill>
              </a:rPr>
              <a:t>.</a:t>
            </a:r>
          </a:p>
        </p:txBody>
      </p:sp>
      <p:sp>
        <p:nvSpPr>
          <p:cNvPr id="16" name="文字方塊 15">
            <a:extLst>
              <a:ext uri="{FF2B5EF4-FFF2-40B4-BE49-F238E27FC236}">
                <a16:creationId xmlns:a16="http://schemas.microsoft.com/office/drawing/2014/main" id="{6E6C2947-0BB7-9060-D602-5A18538C3B23}"/>
              </a:ext>
            </a:extLst>
          </p:cNvPr>
          <p:cNvSpPr txBox="1"/>
          <p:nvPr/>
        </p:nvSpPr>
        <p:spPr>
          <a:xfrm>
            <a:off x="1224011" y="5281239"/>
            <a:ext cx="7894821" cy="46166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kumimoji="1" lang="en-US" altLang="zh-TW" sz="2400" dirty="0"/>
              <a:t>Current Vocabulary: </a:t>
            </a:r>
            <a:r>
              <a:rPr kumimoji="1" lang="en-US" altLang="zh-TW" sz="2400" dirty="0">
                <a:solidFill>
                  <a:srgbClr val="0070C0"/>
                </a:solidFill>
              </a:rPr>
              <a:t>&lt;/w&gt;</a:t>
            </a:r>
            <a:r>
              <a:rPr kumimoji="1" lang="en-US" altLang="zh-TW" sz="2400" dirty="0"/>
              <a:t>, d, e, </a:t>
            </a:r>
            <a:r>
              <a:rPr kumimoji="1" lang="en-US" altLang="zh-TW" sz="2400" dirty="0" err="1"/>
              <a:t>i</a:t>
            </a:r>
            <a:r>
              <a:rPr kumimoji="1" lang="en-US" altLang="zh-TW" sz="2400" dirty="0"/>
              <a:t>, l, n, o, r, s, t, w, es, </a:t>
            </a:r>
            <a:r>
              <a:rPr kumimoji="1" lang="en-US" altLang="zh-TW" sz="2400" dirty="0" err="1">
                <a:solidFill>
                  <a:srgbClr val="FF0000"/>
                </a:solidFill>
              </a:rPr>
              <a:t>est</a:t>
            </a:r>
            <a:endParaRPr kumimoji="1" lang="zh-TW" altLang="en-US" sz="2400" dirty="0">
              <a:solidFill>
                <a:srgbClr val="FF0000"/>
              </a:solidFill>
            </a:endParaRPr>
          </a:p>
        </p:txBody>
      </p:sp>
      <p:cxnSp>
        <p:nvCxnSpPr>
          <p:cNvPr id="17" name="直線接點 16">
            <a:extLst>
              <a:ext uri="{FF2B5EF4-FFF2-40B4-BE49-F238E27FC236}">
                <a16:creationId xmlns:a16="http://schemas.microsoft.com/office/drawing/2014/main" id="{DBF4AFD6-8FBE-AAC8-D888-65AF7D225232}"/>
              </a:ext>
            </a:extLst>
          </p:cNvPr>
          <p:cNvCxnSpPr/>
          <p:nvPr/>
        </p:nvCxnSpPr>
        <p:spPr>
          <a:xfrm>
            <a:off x="1097280" y="4781725"/>
            <a:ext cx="10058400" cy="0"/>
          </a:xfrm>
          <a:prstGeom prst="line">
            <a:avLst/>
          </a:prstGeom>
          <a:ln w="28575">
            <a:solidFill>
              <a:srgbClr val="FF0000"/>
            </a:solidFill>
            <a:prstDash val="dash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graphicFrame>
        <p:nvGraphicFramePr>
          <p:cNvPr id="18" name="表格 13">
            <a:extLst>
              <a:ext uri="{FF2B5EF4-FFF2-40B4-BE49-F238E27FC236}">
                <a16:creationId xmlns:a16="http://schemas.microsoft.com/office/drawing/2014/main" id="{ED7622BC-D7FD-F601-A0C2-B5B100E002C8}"/>
              </a:ext>
            </a:extLst>
          </p:cNvPr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3319080696"/>
              </p:ext>
            </p:extLst>
          </p:nvPr>
        </p:nvGraphicFramePr>
        <p:xfrm>
          <a:off x="1240255" y="2476339"/>
          <a:ext cx="3566637" cy="198120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2055015">
                  <a:extLst>
                    <a:ext uri="{9D8B030D-6E8A-4147-A177-3AD203B41FA5}">
                      <a16:colId xmlns:a16="http://schemas.microsoft.com/office/drawing/2014/main" val="299152187"/>
                    </a:ext>
                  </a:extLst>
                </a:gridCol>
                <a:gridCol w="1511622">
                  <a:extLst>
                    <a:ext uri="{9D8B030D-6E8A-4147-A177-3AD203B41FA5}">
                      <a16:colId xmlns:a16="http://schemas.microsoft.com/office/drawing/2014/main" val="626042458"/>
                    </a:ext>
                  </a:extLst>
                </a:gridCol>
              </a:tblGrid>
              <a:tr h="207433">
                <a:tc>
                  <a:txBody>
                    <a:bodyPr/>
                    <a:lstStyle/>
                    <a:p>
                      <a:r>
                        <a:rPr lang="en-US" altLang="zh-TW" sz="2000" dirty="0">
                          <a:solidFill>
                            <a:schemeClr val="tx1"/>
                          </a:solidFill>
                        </a:rPr>
                        <a:t>Word</a:t>
                      </a:r>
                      <a:endParaRPr lang="zh-TW" altLang="en-US" sz="2000" dirty="0">
                        <a:solidFill>
                          <a:schemeClr val="tx1"/>
                        </a:solidFill>
                      </a:endParaRPr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r>
                        <a:rPr lang="en-US" altLang="zh-TW" sz="2000" dirty="0">
                          <a:solidFill>
                            <a:schemeClr val="tx1"/>
                          </a:solidFill>
                        </a:rPr>
                        <a:t>Frequency</a:t>
                      </a:r>
                      <a:endParaRPr lang="zh-TW" altLang="en-US" sz="2000" dirty="0">
                        <a:solidFill>
                          <a:schemeClr val="tx1"/>
                        </a:solidFill>
                      </a:endParaRPr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592410158"/>
                  </a:ext>
                </a:extLst>
              </a:tr>
              <a:tr h="302338">
                <a:tc>
                  <a:txBody>
                    <a:bodyPr/>
                    <a:lstStyle/>
                    <a:p>
                      <a:r>
                        <a:rPr lang="en-US" altLang="zh-TW" sz="2000" dirty="0">
                          <a:solidFill>
                            <a:schemeClr val="tx1"/>
                          </a:solidFill>
                        </a:rPr>
                        <a:t>l o w </a:t>
                      </a:r>
                      <a:r>
                        <a:rPr lang="en-US" altLang="zh-TW" sz="2000" dirty="0">
                          <a:solidFill>
                            <a:srgbClr val="0070C0"/>
                          </a:solidFill>
                        </a:rPr>
                        <a:t>&lt;/w&gt;</a:t>
                      </a:r>
                      <a:endParaRPr lang="zh-TW" altLang="en-US" sz="2000" dirty="0">
                        <a:solidFill>
                          <a:srgbClr val="0070C0"/>
                        </a:solidFill>
                      </a:endParaRPr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r>
                        <a:rPr lang="en-US" altLang="zh-TW" sz="2000" dirty="0">
                          <a:solidFill>
                            <a:schemeClr val="tx1"/>
                          </a:solidFill>
                        </a:rPr>
                        <a:t>5</a:t>
                      </a:r>
                      <a:endParaRPr lang="zh-TW" altLang="en-US" sz="2000" dirty="0">
                        <a:solidFill>
                          <a:schemeClr val="tx1"/>
                        </a:solidFill>
                      </a:endParaRPr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3786072698"/>
                  </a:ext>
                </a:extLst>
              </a:tr>
              <a:tr h="207433">
                <a:tc>
                  <a:txBody>
                    <a:bodyPr/>
                    <a:lstStyle/>
                    <a:p>
                      <a:r>
                        <a:rPr lang="en-US" altLang="zh-TW" sz="2000" dirty="0">
                          <a:solidFill>
                            <a:schemeClr val="tx1"/>
                          </a:solidFill>
                        </a:rPr>
                        <a:t>l o w e r </a:t>
                      </a:r>
                      <a:r>
                        <a:rPr lang="en-US" altLang="zh-TW" sz="2000" dirty="0">
                          <a:solidFill>
                            <a:srgbClr val="0070C0"/>
                          </a:solidFill>
                        </a:rPr>
                        <a:t>&lt;/w&gt;</a:t>
                      </a:r>
                      <a:endParaRPr lang="zh-TW" altLang="en-US" sz="2000" dirty="0">
                        <a:solidFill>
                          <a:schemeClr val="tx1"/>
                        </a:solidFill>
                      </a:endParaRPr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r>
                        <a:rPr lang="en-US" altLang="zh-TW" sz="2000" dirty="0">
                          <a:solidFill>
                            <a:schemeClr val="tx1"/>
                          </a:solidFill>
                        </a:rPr>
                        <a:t>2</a:t>
                      </a:r>
                      <a:endParaRPr lang="zh-TW" altLang="en-US" sz="2000" dirty="0">
                        <a:solidFill>
                          <a:schemeClr val="tx1"/>
                        </a:solidFill>
                      </a:endParaRPr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140167199"/>
                  </a:ext>
                </a:extLst>
              </a:tr>
              <a:tr h="207433">
                <a:tc>
                  <a:txBody>
                    <a:bodyPr/>
                    <a:lstStyle/>
                    <a:p>
                      <a:r>
                        <a:rPr lang="en-US" altLang="zh-TW" sz="2000" dirty="0">
                          <a:solidFill>
                            <a:schemeClr val="tx1"/>
                          </a:solidFill>
                        </a:rPr>
                        <a:t>n e w </a:t>
                      </a:r>
                      <a:r>
                        <a:rPr lang="en-US" altLang="zh-TW" sz="2000" b="1" dirty="0" err="1">
                          <a:solidFill>
                            <a:srgbClr val="FF0000"/>
                          </a:solidFill>
                        </a:rPr>
                        <a:t>est</a:t>
                      </a:r>
                      <a:r>
                        <a:rPr lang="en-US" altLang="zh-TW" sz="2000" b="1" dirty="0">
                          <a:solidFill>
                            <a:srgbClr val="FF0000"/>
                          </a:solidFill>
                        </a:rPr>
                        <a:t> </a:t>
                      </a:r>
                      <a:r>
                        <a:rPr lang="en-US" altLang="zh-TW" sz="2000" dirty="0">
                          <a:solidFill>
                            <a:srgbClr val="0070C0"/>
                          </a:solidFill>
                        </a:rPr>
                        <a:t>&lt;/w&gt;</a:t>
                      </a:r>
                      <a:endParaRPr lang="zh-TW" altLang="en-US" sz="2000" dirty="0">
                        <a:solidFill>
                          <a:schemeClr val="tx1"/>
                        </a:solidFill>
                      </a:endParaRPr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r>
                        <a:rPr lang="en-US" altLang="zh-TW" sz="2000" dirty="0">
                          <a:solidFill>
                            <a:schemeClr val="tx1"/>
                          </a:solidFill>
                        </a:rPr>
                        <a:t>6</a:t>
                      </a:r>
                      <a:endParaRPr lang="zh-TW" altLang="en-US" sz="2000" dirty="0">
                        <a:solidFill>
                          <a:schemeClr val="tx1"/>
                        </a:solidFill>
                      </a:endParaRPr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3608810822"/>
                  </a:ext>
                </a:extLst>
              </a:tr>
              <a:tr h="184072">
                <a:tc>
                  <a:txBody>
                    <a:bodyPr/>
                    <a:lstStyle/>
                    <a:p>
                      <a:r>
                        <a:rPr lang="en-US" altLang="zh-TW" sz="2000" dirty="0">
                          <a:solidFill>
                            <a:schemeClr val="tx1"/>
                          </a:solidFill>
                        </a:rPr>
                        <a:t>w </a:t>
                      </a:r>
                      <a:r>
                        <a:rPr lang="en-US" altLang="zh-TW" sz="2000" dirty="0" err="1">
                          <a:solidFill>
                            <a:schemeClr val="tx1"/>
                          </a:solidFill>
                        </a:rPr>
                        <a:t>i</a:t>
                      </a:r>
                      <a:r>
                        <a:rPr lang="en-US" altLang="zh-TW" sz="2000" dirty="0">
                          <a:solidFill>
                            <a:schemeClr val="tx1"/>
                          </a:solidFill>
                        </a:rPr>
                        <a:t> d </a:t>
                      </a:r>
                      <a:r>
                        <a:rPr lang="en-US" altLang="zh-TW" sz="2000" b="1" dirty="0" err="1">
                          <a:solidFill>
                            <a:srgbClr val="FF0000"/>
                          </a:solidFill>
                        </a:rPr>
                        <a:t>est</a:t>
                      </a:r>
                      <a:r>
                        <a:rPr lang="en-US" altLang="zh-TW" sz="2000" b="1" dirty="0">
                          <a:solidFill>
                            <a:srgbClr val="FF0000"/>
                          </a:solidFill>
                        </a:rPr>
                        <a:t> </a:t>
                      </a:r>
                      <a:r>
                        <a:rPr lang="en-US" altLang="zh-TW" sz="2000" dirty="0">
                          <a:solidFill>
                            <a:srgbClr val="0070C0"/>
                          </a:solidFill>
                        </a:rPr>
                        <a:t>&lt;/w&gt;</a:t>
                      </a:r>
                      <a:endParaRPr lang="zh-TW" altLang="en-US" sz="2000" dirty="0">
                        <a:solidFill>
                          <a:schemeClr val="tx1"/>
                        </a:solidFill>
                      </a:endParaRPr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r>
                        <a:rPr lang="en-US" altLang="zh-TW" sz="2000" dirty="0">
                          <a:solidFill>
                            <a:schemeClr val="tx1"/>
                          </a:solidFill>
                        </a:rPr>
                        <a:t>3</a:t>
                      </a:r>
                      <a:endParaRPr lang="zh-TW" altLang="en-US" sz="2000" dirty="0">
                        <a:solidFill>
                          <a:schemeClr val="tx1"/>
                        </a:solidFill>
                      </a:endParaRPr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3613135537"/>
                  </a:ext>
                </a:extLst>
              </a:tr>
            </a:tbl>
          </a:graphicData>
        </a:graphic>
      </p:graphicFrame>
    </p:spTree>
    <p:extLst>
      <p:ext uri="{BB962C8B-B14F-4D97-AF65-F5344CB8AC3E}">
        <p14:creationId xmlns:p14="http://schemas.microsoft.com/office/powerpoint/2010/main" val="1687274768"/>
      </p:ext>
    </p:extLst>
  </p:cSld>
  <p:clrMapOvr>
    <a:masterClrMapping/>
  </p:clrMapOvr>
</p:sld>
</file>

<file path=ppt/slides/slide2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" name="投影片編號版面配置區 4">
            <a:extLst>
              <a:ext uri="{FF2B5EF4-FFF2-40B4-BE49-F238E27FC236}">
                <a16:creationId xmlns:a16="http://schemas.microsoft.com/office/drawing/2014/main" id="{80B6B308-E528-1567-412F-2BF52CB92E39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6113E31D-E2AB-40D1-8B51-AFA5AFEF393A}" type="slidenum">
              <a:rPr lang="en-US" dirty="0"/>
              <a:t>25</a:t>
            </a:fld>
            <a:endParaRPr lang="zh-TW" altLang="en-US"/>
          </a:p>
        </p:txBody>
      </p:sp>
      <p:sp>
        <p:nvSpPr>
          <p:cNvPr id="7" name="內容版面配置區 2">
            <a:extLst>
              <a:ext uri="{FF2B5EF4-FFF2-40B4-BE49-F238E27FC236}">
                <a16:creationId xmlns:a16="http://schemas.microsoft.com/office/drawing/2014/main" id="{6AE5E23E-1E1F-3A47-7CA1-2E500F47EB18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705400" y="1397353"/>
            <a:ext cx="10058400" cy="840316"/>
          </a:xfrm>
        </p:spPr>
        <p:txBody>
          <a:bodyPr>
            <a:normAutofit/>
          </a:bodyPr>
          <a:lstStyle/>
          <a:p>
            <a:pPr>
              <a:lnSpc>
                <a:spcPct val="150000"/>
              </a:lnSpc>
              <a:buClr>
                <a:schemeClr val="tx1"/>
              </a:buClr>
              <a:buSzPct val="75000"/>
              <a:buFont typeface="Arial" panose="020B0604020202020204" pitchFamily="34" charset="0"/>
              <a:buChar char="•"/>
            </a:pPr>
            <a:r>
              <a:rPr kumimoji="1" lang="en-US" altLang="zh-TW" sz="2600" dirty="0"/>
              <a:t> Find the character </a:t>
            </a:r>
            <a:r>
              <a:rPr kumimoji="1" lang="en-US" altLang="zh-TW" sz="2600" b="1" dirty="0">
                <a:solidFill>
                  <a:srgbClr val="FF0000"/>
                </a:solidFill>
              </a:rPr>
              <a:t>pair</a:t>
            </a:r>
            <a:r>
              <a:rPr kumimoji="1" lang="en-US" altLang="zh-TW" sz="2600" dirty="0"/>
              <a:t> with the highest frequency</a:t>
            </a:r>
          </a:p>
        </p:txBody>
      </p:sp>
      <p:sp>
        <p:nvSpPr>
          <p:cNvPr id="17" name="文字方塊 16">
            <a:extLst>
              <a:ext uri="{FF2B5EF4-FFF2-40B4-BE49-F238E27FC236}">
                <a16:creationId xmlns:a16="http://schemas.microsoft.com/office/drawing/2014/main" id="{2B4E8D6D-35BD-3ACB-7EA5-1B49EF382CAD}"/>
              </a:ext>
            </a:extLst>
          </p:cNvPr>
          <p:cNvSpPr txBox="1"/>
          <p:nvPr/>
        </p:nvSpPr>
        <p:spPr>
          <a:xfrm>
            <a:off x="4914899" y="3589077"/>
            <a:ext cx="6595111" cy="46166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kumimoji="1" lang="en-US" altLang="zh-TW" sz="2400" dirty="0">
                <a:solidFill>
                  <a:srgbClr val="FF0000"/>
                </a:solidFill>
              </a:rPr>
              <a:t>Found “</a:t>
            </a:r>
            <a:r>
              <a:rPr kumimoji="1" lang="en-US" altLang="zh-TW" sz="2400" dirty="0" err="1">
                <a:solidFill>
                  <a:srgbClr val="FF0000"/>
                </a:solidFill>
              </a:rPr>
              <a:t>est</a:t>
            </a:r>
            <a:r>
              <a:rPr kumimoji="1" lang="en-US" altLang="zh-TW" sz="2400" dirty="0">
                <a:solidFill>
                  <a:srgbClr val="FF0000"/>
                </a:solidFill>
              </a:rPr>
              <a:t> &lt;/w&gt;” with the highest frequency 6+3=9</a:t>
            </a:r>
            <a:endParaRPr kumimoji="1" lang="zh-TW" altLang="en-US" sz="2400" dirty="0">
              <a:solidFill>
                <a:srgbClr val="FF0000"/>
              </a:solidFill>
            </a:endParaRPr>
          </a:p>
        </p:txBody>
      </p:sp>
      <p:sp>
        <p:nvSpPr>
          <p:cNvPr id="10" name="標題 1">
            <a:extLst>
              <a:ext uri="{FF2B5EF4-FFF2-40B4-BE49-F238E27FC236}">
                <a16:creationId xmlns:a16="http://schemas.microsoft.com/office/drawing/2014/main" id="{0C4F38AC-93F4-1B7B-3E19-185E578CFBD8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705400" y="363937"/>
            <a:ext cx="10058400" cy="1033416"/>
          </a:xfrm>
        </p:spPr>
        <p:txBody>
          <a:bodyPr/>
          <a:lstStyle/>
          <a:p>
            <a:r>
              <a:rPr lang="en-US" altLang="zh-TW" dirty="0">
                <a:ea typeface="新細明體"/>
                <a:cs typeface="Calibri Light"/>
              </a:rPr>
              <a:t>Sub-word Tokenization (2)</a:t>
            </a:r>
            <a:endParaRPr lang="zh-TW" altLang="en-US" sz="2400" dirty="0">
              <a:ea typeface="新細明體"/>
              <a:cs typeface="Calibri Light"/>
            </a:endParaRPr>
          </a:p>
        </p:txBody>
      </p:sp>
      <p:sp>
        <p:nvSpPr>
          <p:cNvPr id="11" name="矩形 10">
            <a:extLst>
              <a:ext uri="{FF2B5EF4-FFF2-40B4-BE49-F238E27FC236}">
                <a16:creationId xmlns:a16="http://schemas.microsoft.com/office/drawing/2014/main" id="{1F09EF9E-C0A0-D816-3C4B-92D77742ABAE}"/>
              </a:ext>
            </a:extLst>
          </p:cNvPr>
          <p:cNvSpPr/>
          <p:nvPr/>
        </p:nvSpPr>
        <p:spPr>
          <a:xfrm>
            <a:off x="8282940" y="533680"/>
            <a:ext cx="2811780" cy="717629"/>
          </a:xfrm>
          <a:prstGeom prst="rect">
            <a:avLst/>
          </a:prstGeom>
          <a:noFill/>
          <a:ln w="28575">
            <a:solidFill>
              <a:srgbClr val="00B050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kumimoji="1" lang="en-US" altLang="zh-TW" sz="1600" dirty="0">
                <a:solidFill>
                  <a:srgbClr val="00B050"/>
                </a:solidFill>
              </a:rPr>
              <a:t>Repeated (2)-(4)</a:t>
            </a:r>
          </a:p>
          <a:p>
            <a:pPr algn="ctr"/>
            <a:r>
              <a:rPr kumimoji="1" lang="en-US" altLang="zh-TW" sz="1600" dirty="0">
                <a:solidFill>
                  <a:srgbClr val="00B050"/>
                </a:solidFill>
              </a:rPr>
              <a:t>according to `</a:t>
            </a:r>
            <a:r>
              <a:rPr kumimoji="1" lang="en-US" altLang="zh-TW" sz="1600" dirty="0" err="1">
                <a:solidFill>
                  <a:srgbClr val="00B050"/>
                </a:solidFill>
              </a:rPr>
              <a:t>num_merges</a:t>
            </a:r>
            <a:r>
              <a:rPr kumimoji="1" lang="en-US" altLang="zh-TW" sz="1600" dirty="0">
                <a:solidFill>
                  <a:srgbClr val="00B050"/>
                </a:solidFill>
              </a:rPr>
              <a:t>`</a:t>
            </a:r>
            <a:endParaRPr kumimoji="1" lang="zh-TW" altLang="en-US" sz="1600" dirty="0">
              <a:solidFill>
                <a:srgbClr val="00B050"/>
              </a:solidFill>
            </a:endParaRPr>
          </a:p>
        </p:txBody>
      </p:sp>
      <p:cxnSp>
        <p:nvCxnSpPr>
          <p:cNvPr id="12" name="直線接點 11">
            <a:extLst>
              <a:ext uri="{FF2B5EF4-FFF2-40B4-BE49-F238E27FC236}">
                <a16:creationId xmlns:a16="http://schemas.microsoft.com/office/drawing/2014/main" id="{95971A12-453A-15CE-F6F1-122A955C8D85}"/>
              </a:ext>
            </a:extLst>
          </p:cNvPr>
          <p:cNvCxnSpPr/>
          <p:nvPr/>
        </p:nvCxnSpPr>
        <p:spPr>
          <a:xfrm>
            <a:off x="1097280" y="4781725"/>
            <a:ext cx="10058400" cy="0"/>
          </a:xfrm>
          <a:prstGeom prst="line">
            <a:avLst/>
          </a:prstGeom>
          <a:ln w="28575">
            <a:solidFill>
              <a:srgbClr val="FF0000"/>
            </a:solidFill>
            <a:prstDash val="dash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graphicFrame>
        <p:nvGraphicFramePr>
          <p:cNvPr id="13" name="表格 13">
            <a:extLst>
              <a:ext uri="{FF2B5EF4-FFF2-40B4-BE49-F238E27FC236}">
                <a16:creationId xmlns:a16="http://schemas.microsoft.com/office/drawing/2014/main" id="{EFFB8D59-6EF3-CE02-5F6B-45168D5FABC3}"/>
              </a:ext>
            </a:extLst>
          </p:cNvPr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3135665442"/>
              </p:ext>
            </p:extLst>
          </p:nvPr>
        </p:nvGraphicFramePr>
        <p:xfrm>
          <a:off x="1240255" y="2476339"/>
          <a:ext cx="3566637" cy="198120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2055015">
                  <a:extLst>
                    <a:ext uri="{9D8B030D-6E8A-4147-A177-3AD203B41FA5}">
                      <a16:colId xmlns:a16="http://schemas.microsoft.com/office/drawing/2014/main" val="299152187"/>
                    </a:ext>
                  </a:extLst>
                </a:gridCol>
                <a:gridCol w="1511622">
                  <a:extLst>
                    <a:ext uri="{9D8B030D-6E8A-4147-A177-3AD203B41FA5}">
                      <a16:colId xmlns:a16="http://schemas.microsoft.com/office/drawing/2014/main" val="626042458"/>
                    </a:ext>
                  </a:extLst>
                </a:gridCol>
              </a:tblGrid>
              <a:tr h="207433">
                <a:tc>
                  <a:txBody>
                    <a:bodyPr/>
                    <a:lstStyle/>
                    <a:p>
                      <a:r>
                        <a:rPr lang="en-US" altLang="zh-TW" sz="2000" dirty="0">
                          <a:solidFill>
                            <a:schemeClr val="tx1"/>
                          </a:solidFill>
                        </a:rPr>
                        <a:t>Word</a:t>
                      </a:r>
                      <a:endParaRPr lang="zh-TW" altLang="en-US" sz="2000" dirty="0">
                        <a:solidFill>
                          <a:schemeClr val="tx1"/>
                        </a:solidFill>
                      </a:endParaRPr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r>
                        <a:rPr lang="en-US" altLang="zh-TW" sz="2000" dirty="0">
                          <a:solidFill>
                            <a:schemeClr val="tx1"/>
                          </a:solidFill>
                        </a:rPr>
                        <a:t>Frequency</a:t>
                      </a:r>
                      <a:endParaRPr lang="zh-TW" altLang="en-US" sz="2000" dirty="0">
                        <a:solidFill>
                          <a:schemeClr val="tx1"/>
                        </a:solidFill>
                      </a:endParaRPr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592410158"/>
                  </a:ext>
                </a:extLst>
              </a:tr>
              <a:tr h="302338">
                <a:tc>
                  <a:txBody>
                    <a:bodyPr/>
                    <a:lstStyle/>
                    <a:p>
                      <a:r>
                        <a:rPr lang="en-US" altLang="zh-TW" sz="2000" dirty="0">
                          <a:solidFill>
                            <a:schemeClr val="tx1"/>
                          </a:solidFill>
                        </a:rPr>
                        <a:t>l o w </a:t>
                      </a:r>
                      <a:r>
                        <a:rPr lang="en-US" altLang="zh-TW" sz="2000" dirty="0">
                          <a:solidFill>
                            <a:srgbClr val="0070C0"/>
                          </a:solidFill>
                        </a:rPr>
                        <a:t>&lt;/w&gt;</a:t>
                      </a:r>
                      <a:endParaRPr lang="zh-TW" altLang="en-US" sz="2000" dirty="0">
                        <a:solidFill>
                          <a:srgbClr val="0070C0"/>
                        </a:solidFill>
                      </a:endParaRPr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r>
                        <a:rPr lang="en-US" altLang="zh-TW" sz="2000" dirty="0">
                          <a:solidFill>
                            <a:schemeClr val="tx1"/>
                          </a:solidFill>
                        </a:rPr>
                        <a:t>5</a:t>
                      </a:r>
                      <a:endParaRPr lang="zh-TW" altLang="en-US" sz="2000" dirty="0">
                        <a:solidFill>
                          <a:schemeClr val="tx1"/>
                        </a:solidFill>
                      </a:endParaRPr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3786072698"/>
                  </a:ext>
                </a:extLst>
              </a:tr>
              <a:tr h="207433">
                <a:tc>
                  <a:txBody>
                    <a:bodyPr/>
                    <a:lstStyle/>
                    <a:p>
                      <a:r>
                        <a:rPr lang="en-US" altLang="zh-TW" sz="2000" dirty="0">
                          <a:solidFill>
                            <a:schemeClr val="tx1"/>
                          </a:solidFill>
                        </a:rPr>
                        <a:t>l o w e r </a:t>
                      </a:r>
                      <a:r>
                        <a:rPr lang="en-US" altLang="zh-TW" sz="2000" dirty="0">
                          <a:solidFill>
                            <a:srgbClr val="0070C0"/>
                          </a:solidFill>
                        </a:rPr>
                        <a:t>&lt;/w&gt;</a:t>
                      </a:r>
                      <a:endParaRPr lang="zh-TW" altLang="en-US" sz="2000" dirty="0">
                        <a:solidFill>
                          <a:schemeClr val="tx1"/>
                        </a:solidFill>
                      </a:endParaRPr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r>
                        <a:rPr lang="en-US" altLang="zh-TW" sz="2000" dirty="0">
                          <a:solidFill>
                            <a:schemeClr val="tx1"/>
                          </a:solidFill>
                        </a:rPr>
                        <a:t>2</a:t>
                      </a:r>
                      <a:endParaRPr lang="zh-TW" altLang="en-US" sz="2000" dirty="0">
                        <a:solidFill>
                          <a:schemeClr val="tx1"/>
                        </a:solidFill>
                      </a:endParaRPr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140167199"/>
                  </a:ext>
                </a:extLst>
              </a:tr>
              <a:tr h="207433">
                <a:tc>
                  <a:txBody>
                    <a:bodyPr/>
                    <a:lstStyle/>
                    <a:p>
                      <a:r>
                        <a:rPr lang="en-US" altLang="zh-TW" sz="2000" dirty="0">
                          <a:solidFill>
                            <a:schemeClr val="tx1"/>
                          </a:solidFill>
                        </a:rPr>
                        <a:t>n e w </a:t>
                      </a:r>
                      <a:r>
                        <a:rPr lang="en-US" altLang="zh-TW" sz="2000" b="0" dirty="0" err="1">
                          <a:solidFill>
                            <a:schemeClr val="tx1"/>
                          </a:solidFill>
                        </a:rPr>
                        <a:t>est</a:t>
                      </a:r>
                      <a:r>
                        <a:rPr lang="en-US" altLang="zh-TW" sz="2000" b="1" dirty="0">
                          <a:solidFill>
                            <a:srgbClr val="FF0000"/>
                          </a:solidFill>
                        </a:rPr>
                        <a:t> </a:t>
                      </a:r>
                      <a:r>
                        <a:rPr lang="en-US" altLang="zh-TW" sz="2000" dirty="0">
                          <a:solidFill>
                            <a:srgbClr val="0070C0"/>
                          </a:solidFill>
                        </a:rPr>
                        <a:t>&lt;/w&gt;</a:t>
                      </a:r>
                      <a:endParaRPr lang="zh-TW" altLang="en-US" sz="2000" dirty="0">
                        <a:solidFill>
                          <a:schemeClr val="tx1"/>
                        </a:solidFill>
                      </a:endParaRPr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r>
                        <a:rPr lang="en-US" altLang="zh-TW" sz="2000" dirty="0">
                          <a:solidFill>
                            <a:schemeClr val="tx1"/>
                          </a:solidFill>
                        </a:rPr>
                        <a:t>6</a:t>
                      </a:r>
                      <a:endParaRPr lang="zh-TW" altLang="en-US" sz="2000" dirty="0">
                        <a:solidFill>
                          <a:schemeClr val="tx1"/>
                        </a:solidFill>
                      </a:endParaRPr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3608810822"/>
                  </a:ext>
                </a:extLst>
              </a:tr>
              <a:tr h="184072">
                <a:tc>
                  <a:txBody>
                    <a:bodyPr/>
                    <a:lstStyle/>
                    <a:p>
                      <a:r>
                        <a:rPr lang="en-US" altLang="zh-TW" sz="2000" dirty="0">
                          <a:solidFill>
                            <a:schemeClr val="tx1"/>
                          </a:solidFill>
                        </a:rPr>
                        <a:t>w </a:t>
                      </a:r>
                      <a:r>
                        <a:rPr lang="en-US" altLang="zh-TW" sz="2000" dirty="0" err="1">
                          <a:solidFill>
                            <a:schemeClr val="tx1"/>
                          </a:solidFill>
                        </a:rPr>
                        <a:t>i</a:t>
                      </a:r>
                      <a:r>
                        <a:rPr lang="en-US" altLang="zh-TW" sz="2000" dirty="0">
                          <a:solidFill>
                            <a:schemeClr val="tx1"/>
                          </a:solidFill>
                        </a:rPr>
                        <a:t> d </a:t>
                      </a:r>
                      <a:r>
                        <a:rPr lang="en-US" altLang="zh-TW" sz="2000" b="0" dirty="0" err="1">
                          <a:solidFill>
                            <a:schemeClr val="tx1"/>
                          </a:solidFill>
                        </a:rPr>
                        <a:t>est</a:t>
                      </a:r>
                      <a:r>
                        <a:rPr lang="en-US" altLang="zh-TW" sz="2000" b="1" dirty="0">
                          <a:solidFill>
                            <a:srgbClr val="FF0000"/>
                          </a:solidFill>
                        </a:rPr>
                        <a:t> </a:t>
                      </a:r>
                      <a:r>
                        <a:rPr lang="en-US" altLang="zh-TW" sz="2000" dirty="0">
                          <a:solidFill>
                            <a:srgbClr val="0070C0"/>
                          </a:solidFill>
                        </a:rPr>
                        <a:t>&lt;/w&gt;</a:t>
                      </a:r>
                      <a:endParaRPr lang="zh-TW" altLang="en-US" sz="2000" dirty="0">
                        <a:solidFill>
                          <a:schemeClr val="tx1"/>
                        </a:solidFill>
                      </a:endParaRPr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r>
                        <a:rPr lang="en-US" altLang="zh-TW" sz="2000" dirty="0">
                          <a:solidFill>
                            <a:schemeClr val="tx1"/>
                          </a:solidFill>
                        </a:rPr>
                        <a:t>3</a:t>
                      </a:r>
                      <a:endParaRPr lang="zh-TW" altLang="en-US" sz="2000" dirty="0">
                        <a:solidFill>
                          <a:schemeClr val="tx1"/>
                        </a:solidFill>
                      </a:endParaRPr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3613135537"/>
                  </a:ext>
                </a:extLst>
              </a:tr>
            </a:tbl>
          </a:graphicData>
        </a:graphic>
      </p:graphicFrame>
      <p:sp>
        <p:nvSpPr>
          <p:cNvPr id="14" name="矩形 13">
            <a:extLst>
              <a:ext uri="{FF2B5EF4-FFF2-40B4-BE49-F238E27FC236}">
                <a16:creationId xmlns:a16="http://schemas.microsoft.com/office/drawing/2014/main" id="{5633E412-5AE6-B951-115B-E27823D22A2E}"/>
              </a:ext>
            </a:extLst>
          </p:cNvPr>
          <p:cNvSpPr/>
          <p:nvPr/>
        </p:nvSpPr>
        <p:spPr>
          <a:xfrm>
            <a:off x="1990392" y="3730028"/>
            <a:ext cx="988198" cy="271521"/>
          </a:xfrm>
          <a:prstGeom prst="rect">
            <a:avLst/>
          </a:prstGeom>
          <a:noFill/>
          <a:ln w="19050">
            <a:solidFill>
              <a:srgbClr val="FF0000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kumimoji="1" lang="zh-TW" altLang="en-US"/>
          </a:p>
        </p:txBody>
      </p:sp>
      <p:sp>
        <p:nvSpPr>
          <p:cNvPr id="19" name="矩形 18">
            <a:extLst>
              <a:ext uri="{FF2B5EF4-FFF2-40B4-BE49-F238E27FC236}">
                <a16:creationId xmlns:a16="http://schemas.microsoft.com/office/drawing/2014/main" id="{5AB15179-A9EE-F2D4-762B-C8CB47065452}"/>
              </a:ext>
            </a:extLst>
          </p:cNvPr>
          <p:cNvSpPr/>
          <p:nvPr/>
        </p:nvSpPr>
        <p:spPr>
          <a:xfrm>
            <a:off x="1907402" y="4135659"/>
            <a:ext cx="988198" cy="271521"/>
          </a:xfrm>
          <a:prstGeom prst="rect">
            <a:avLst/>
          </a:prstGeom>
          <a:noFill/>
          <a:ln w="19050">
            <a:solidFill>
              <a:srgbClr val="FF0000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kumimoji="1" lang="zh-TW" altLang="en-US"/>
          </a:p>
        </p:txBody>
      </p:sp>
      <p:sp>
        <p:nvSpPr>
          <p:cNvPr id="20" name="文字方塊 19">
            <a:extLst>
              <a:ext uri="{FF2B5EF4-FFF2-40B4-BE49-F238E27FC236}">
                <a16:creationId xmlns:a16="http://schemas.microsoft.com/office/drawing/2014/main" id="{E6D7E9D5-2BA1-3733-FC6D-12C769CA7F29}"/>
              </a:ext>
            </a:extLst>
          </p:cNvPr>
          <p:cNvSpPr txBox="1"/>
          <p:nvPr/>
        </p:nvSpPr>
        <p:spPr>
          <a:xfrm>
            <a:off x="1224011" y="5281239"/>
            <a:ext cx="7894821" cy="46166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kumimoji="1" lang="en-US" altLang="zh-TW" sz="2400" dirty="0"/>
              <a:t>Current Vocabulary: </a:t>
            </a:r>
            <a:r>
              <a:rPr kumimoji="1" lang="en-US" altLang="zh-TW" sz="2400" dirty="0">
                <a:solidFill>
                  <a:srgbClr val="0070C0"/>
                </a:solidFill>
              </a:rPr>
              <a:t>&lt;/w&gt;</a:t>
            </a:r>
            <a:r>
              <a:rPr kumimoji="1" lang="en-US" altLang="zh-TW" sz="2400" dirty="0"/>
              <a:t>, d, e, </a:t>
            </a:r>
            <a:r>
              <a:rPr kumimoji="1" lang="en-US" altLang="zh-TW" sz="2400" dirty="0" err="1"/>
              <a:t>i</a:t>
            </a:r>
            <a:r>
              <a:rPr kumimoji="1" lang="en-US" altLang="zh-TW" sz="2400" dirty="0"/>
              <a:t>, l, n, o, r, s, t, w, es, </a:t>
            </a:r>
            <a:r>
              <a:rPr kumimoji="1" lang="en-US" altLang="zh-TW" sz="2400" dirty="0" err="1"/>
              <a:t>est</a:t>
            </a:r>
            <a:endParaRPr kumimoji="1" lang="zh-TW" altLang="en-US" sz="2400" dirty="0"/>
          </a:p>
        </p:txBody>
      </p:sp>
    </p:spTree>
    <p:extLst>
      <p:ext uri="{BB962C8B-B14F-4D97-AF65-F5344CB8AC3E}">
        <p14:creationId xmlns:p14="http://schemas.microsoft.com/office/powerpoint/2010/main" val="1105343602"/>
      </p:ext>
    </p:extLst>
  </p:cSld>
  <p:clrMapOvr>
    <a:masterClrMapping/>
  </p:clrMapOvr>
</p:sld>
</file>

<file path=ppt/slides/slide2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" name="投影片編號版面配置區 4">
            <a:extLst>
              <a:ext uri="{FF2B5EF4-FFF2-40B4-BE49-F238E27FC236}">
                <a16:creationId xmlns:a16="http://schemas.microsoft.com/office/drawing/2014/main" id="{80B6B308-E528-1567-412F-2BF52CB92E39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6113E31D-E2AB-40D1-8B51-AFA5AFEF393A}" type="slidenum">
              <a:rPr lang="en-US" dirty="0"/>
              <a:t>26</a:t>
            </a:fld>
            <a:endParaRPr lang="zh-TW" altLang="en-US"/>
          </a:p>
        </p:txBody>
      </p:sp>
      <p:sp>
        <p:nvSpPr>
          <p:cNvPr id="7" name="內容版面配置區 2">
            <a:extLst>
              <a:ext uri="{FF2B5EF4-FFF2-40B4-BE49-F238E27FC236}">
                <a16:creationId xmlns:a16="http://schemas.microsoft.com/office/drawing/2014/main" id="{6AE5E23E-1E1F-3A47-7CA1-2E500F47EB18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705400" y="1386267"/>
            <a:ext cx="10058400" cy="840316"/>
          </a:xfrm>
        </p:spPr>
        <p:txBody>
          <a:bodyPr>
            <a:normAutofit/>
          </a:bodyPr>
          <a:lstStyle/>
          <a:p>
            <a:pPr>
              <a:lnSpc>
                <a:spcPct val="150000"/>
              </a:lnSpc>
              <a:buClr>
                <a:schemeClr val="tx1"/>
              </a:buClr>
              <a:buSzPct val="75000"/>
              <a:buFont typeface="Arial" panose="020B0604020202020204" pitchFamily="34" charset="0"/>
              <a:buChar char="•"/>
            </a:pPr>
            <a:r>
              <a:rPr kumimoji="1" lang="en-US" altLang="zh-TW" sz="2600" dirty="0"/>
              <a:t> Add the pair with the highest frequency to the vocab</a:t>
            </a:r>
          </a:p>
        </p:txBody>
      </p:sp>
      <p:cxnSp>
        <p:nvCxnSpPr>
          <p:cNvPr id="4" name="肘形接點 3">
            <a:extLst>
              <a:ext uri="{FF2B5EF4-FFF2-40B4-BE49-F238E27FC236}">
                <a16:creationId xmlns:a16="http://schemas.microsoft.com/office/drawing/2014/main" id="{4B6034F0-F9D2-3E93-5BF5-F403FC61315D}"/>
              </a:ext>
            </a:extLst>
          </p:cNvPr>
          <p:cNvCxnSpPr>
            <a:cxnSpLocks/>
            <a:endCxn id="16" idx="0"/>
          </p:cNvCxnSpPr>
          <p:nvPr/>
        </p:nvCxnSpPr>
        <p:spPr>
          <a:xfrm>
            <a:off x="4850171" y="4027348"/>
            <a:ext cx="4642391" cy="1253891"/>
          </a:xfrm>
          <a:prstGeom prst="bentConnector2">
            <a:avLst/>
          </a:prstGeom>
          <a:ln w="28575">
            <a:solidFill>
              <a:srgbClr val="FF0000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3" name="文字方塊 2">
            <a:extLst>
              <a:ext uri="{FF2B5EF4-FFF2-40B4-BE49-F238E27FC236}">
                <a16:creationId xmlns:a16="http://schemas.microsoft.com/office/drawing/2014/main" id="{ED143074-2EE5-98C6-2554-7EB4E68D6D63}"/>
              </a:ext>
            </a:extLst>
          </p:cNvPr>
          <p:cNvSpPr txBox="1"/>
          <p:nvPr/>
        </p:nvSpPr>
        <p:spPr>
          <a:xfrm>
            <a:off x="1224011" y="5281239"/>
            <a:ext cx="9187474" cy="46166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kumimoji="1" lang="en-US" altLang="zh-TW" sz="2400" dirty="0"/>
              <a:t>Current Vocabulary: </a:t>
            </a:r>
            <a:r>
              <a:rPr kumimoji="1" lang="en-US" altLang="zh-TW" sz="2400" dirty="0">
                <a:solidFill>
                  <a:srgbClr val="0070C0"/>
                </a:solidFill>
              </a:rPr>
              <a:t>&lt;/w&gt;</a:t>
            </a:r>
            <a:r>
              <a:rPr kumimoji="1" lang="en-US" altLang="zh-TW" sz="2400" dirty="0"/>
              <a:t>, d, e, </a:t>
            </a:r>
            <a:r>
              <a:rPr kumimoji="1" lang="en-US" altLang="zh-TW" sz="2400" dirty="0" err="1"/>
              <a:t>i</a:t>
            </a:r>
            <a:r>
              <a:rPr kumimoji="1" lang="en-US" altLang="zh-TW" sz="2400" dirty="0"/>
              <a:t>, l, n, o, r, s, t, w, es, </a:t>
            </a:r>
            <a:r>
              <a:rPr kumimoji="1" lang="en-US" altLang="zh-TW" sz="2400" dirty="0" err="1"/>
              <a:t>est</a:t>
            </a:r>
            <a:r>
              <a:rPr kumimoji="1" lang="en-US" altLang="zh-TW" sz="2400" dirty="0"/>
              <a:t>, </a:t>
            </a:r>
            <a:r>
              <a:rPr kumimoji="1" lang="en-US" altLang="zh-TW" sz="2400" dirty="0" err="1">
                <a:solidFill>
                  <a:srgbClr val="FF0000"/>
                </a:solidFill>
              </a:rPr>
              <a:t>est</a:t>
            </a:r>
            <a:r>
              <a:rPr kumimoji="1" lang="en-US" altLang="zh-TW" sz="2400" dirty="0">
                <a:solidFill>
                  <a:srgbClr val="FF0000"/>
                </a:solidFill>
              </a:rPr>
              <a:t>&lt;/w&gt;</a:t>
            </a:r>
            <a:endParaRPr kumimoji="1" lang="zh-TW" altLang="en-US" sz="2400" dirty="0">
              <a:solidFill>
                <a:srgbClr val="FF0000"/>
              </a:solidFill>
            </a:endParaRPr>
          </a:p>
        </p:txBody>
      </p:sp>
      <p:cxnSp>
        <p:nvCxnSpPr>
          <p:cNvPr id="10" name="直線接點 9">
            <a:extLst>
              <a:ext uri="{FF2B5EF4-FFF2-40B4-BE49-F238E27FC236}">
                <a16:creationId xmlns:a16="http://schemas.microsoft.com/office/drawing/2014/main" id="{37E5C117-83FC-54D4-7E61-DCD01917841C}"/>
              </a:ext>
            </a:extLst>
          </p:cNvPr>
          <p:cNvCxnSpPr/>
          <p:nvPr/>
        </p:nvCxnSpPr>
        <p:spPr>
          <a:xfrm>
            <a:off x="1097280" y="4781725"/>
            <a:ext cx="10058400" cy="0"/>
          </a:xfrm>
          <a:prstGeom prst="line">
            <a:avLst/>
          </a:prstGeom>
          <a:ln w="28575">
            <a:solidFill>
              <a:srgbClr val="FF0000"/>
            </a:solidFill>
            <a:prstDash val="dash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graphicFrame>
        <p:nvGraphicFramePr>
          <p:cNvPr id="11" name="表格 13">
            <a:extLst>
              <a:ext uri="{FF2B5EF4-FFF2-40B4-BE49-F238E27FC236}">
                <a16:creationId xmlns:a16="http://schemas.microsoft.com/office/drawing/2014/main" id="{33C58DC9-B149-7F6E-790C-9149A18E3B80}"/>
              </a:ext>
            </a:extLst>
          </p:cNvPr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3627381327"/>
              </p:ext>
            </p:extLst>
          </p:nvPr>
        </p:nvGraphicFramePr>
        <p:xfrm>
          <a:off x="1240255" y="2476339"/>
          <a:ext cx="3566637" cy="198120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2055015">
                  <a:extLst>
                    <a:ext uri="{9D8B030D-6E8A-4147-A177-3AD203B41FA5}">
                      <a16:colId xmlns:a16="http://schemas.microsoft.com/office/drawing/2014/main" val="299152187"/>
                    </a:ext>
                  </a:extLst>
                </a:gridCol>
                <a:gridCol w="1511622">
                  <a:extLst>
                    <a:ext uri="{9D8B030D-6E8A-4147-A177-3AD203B41FA5}">
                      <a16:colId xmlns:a16="http://schemas.microsoft.com/office/drawing/2014/main" val="626042458"/>
                    </a:ext>
                  </a:extLst>
                </a:gridCol>
              </a:tblGrid>
              <a:tr h="207433">
                <a:tc>
                  <a:txBody>
                    <a:bodyPr/>
                    <a:lstStyle/>
                    <a:p>
                      <a:r>
                        <a:rPr lang="en-US" altLang="zh-TW" sz="2000" dirty="0">
                          <a:solidFill>
                            <a:schemeClr val="tx1"/>
                          </a:solidFill>
                        </a:rPr>
                        <a:t>Word</a:t>
                      </a:r>
                      <a:endParaRPr lang="zh-TW" altLang="en-US" sz="2000" dirty="0">
                        <a:solidFill>
                          <a:schemeClr val="tx1"/>
                        </a:solidFill>
                      </a:endParaRPr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r>
                        <a:rPr lang="en-US" altLang="zh-TW" sz="2000" dirty="0">
                          <a:solidFill>
                            <a:schemeClr val="tx1"/>
                          </a:solidFill>
                        </a:rPr>
                        <a:t>Frequency</a:t>
                      </a:r>
                      <a:endParaRPr lang="zh-TW" altLang="en-US" sz="2000" dirty="0">
                        <a:solidFill>
                          <a:schemeClr val="tx1"/>
                        </a:solidFill>
                      </a:endParaRPr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592410158"/>
                  </a:ext>
                </a:extLst>
              </a:tr>
              <a:tr h="302338">
                <a:tc>
                  <a:txBody>
                    <a:bodyPr/>
                    <a:lstStyle/>
                    <a:p>
                      <a:r>
                        <a:rPr lang="en-US" altLang="zh-TW" sz="2000" dirty="0">
                          <a:solidFill>
                            <a:schemeClr val="tx1"/>
                          </a:solidFill>
                        </a:rPr>
                        <a:t>l o w </a:t>
                      </a:r>
                      <a:r>
                        <a:rPr lang="en-US" altLang="zh-TW" sz="2000" dirty="0">
                          <a:solidFill>
                            <a:srgbClr val="0070C0"/>
                          </a:solidFill>
                        </a:rPr>
                        <a:t>&lt;/w&gt;</a:t>
                      </a:r>
                      <a:endParaRPr lang="zh-TW" altLang="en-US" sz="2000" dirty="0">
                        <a:solidFill>
                          <a:srgbClr val="0070C0"/>
                        </a:solidFill>
                      </a:endParaRPr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r>
                        <a:rPr lang="en-US" altLang="zh-TW" sz="2000" dirty="0">
                          <a:solidFill>
                            <a:schemeClr val="tx1"/>
                          </a:solidFill>
                        </a:rPr>
                        <a:t>5</a:t>
                      </a:r>
                      <a:endParaRPr lang="zh-TW" altLang="en-US" sz="2000" dirty="0">
                        <a:solidFill>
                          <a:schemeClr val="tx1"/>
                        </a:solidFill>
                      </a:endParaRPr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3786072698"/>
                  </a:ext>
                </a:extLst>
              </a:tr>
              <a:tr h="207433">
                <a:tc>
                  <a:txBody>
                    <a:bodyPr/>
                    <a:lstStyle/>
                    <a:p>
                      <a:r>
                        <a:rPr lang="en-US" altLang="zh-TW" sz="2000" dirty="0">
                          <a:solidFill>
                            <a:schemeClr val="tx1"/>
                          </a:solidFill>
                        </a:rPr>
                        <a:t>l o w e r </a:t>
                      </a:r>
                      <a:r>
                        <a:rPr lang="en-US" altLang="zh-TW" sz="2000" dirty="0">
                          <a:solidFill>
                            <a:srgbClr val="0070C0"/>
                          </a:solidFill>
                        </a:rPr>
                        <a:t>&lt;/w&gt;</a:t>
                      </a:r>
                      <a:endParaRPr lang="zh-TW" altLang="en-US" sz="2000" dirty="0">
                        <a:solidFill>
                          <a:schemeClr val="tx1"/>
                        </a:solidFill>
                      </a:endParaRPr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r>
                        <a:rPr lang="en-US" altLang="zh-TW" sz="2000" dirty="0">
                          <a:solidFill>
                            <a:schemeClr val="tx1"/>
                          </a:solidFill>
                        </a:rPr>
                        <a:t>2</a:t>
                      </a:r>
                      <a:endParaRPr lang="zh-TW" altLang="en-US" sz="2000" dirty="0">
                        <a:solidFill>
                          <a:schemeClr val="tx1"/>
                        </a:solidFill>
                      </a:endParaRPr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140167199"/>
                  </a:ext>
                </a:extLst>
              </a:tr>
              <a:tr h="207433">
                <a:tc>
                  <a:txBody>
                    <a:bodyPr/>
                    <a:lstStyle/>
                    <a:p>
                      <a:r>
                        <a:rPr lang="en-US" altLang="zh-TW" sz="2000" dirty="0">
                          <a:solidFill>
                            <a:schemeClr val="tx1"/>
                          </a:solidFill>
                        </a:rPr>
                        <a:t>n e w </a:t>
                      </a:r>
                      <a:r>
                        <a:rPr lang="en-US" altLang="zh-TW" sz="2000" b="0" dirty="0" err="1">
                          <a:solidFill>
                            <a:schemeClr val="tx1"/>
                          </a:solidFill>
                        </a:rPr>
                        <a:t>est</a:t>
                      </a:r>
                      <a:r>
                        <a:rPr lang="en-US" altLang="zh-TW" sz="2000" b="1" dirty="0">
                          <a:solidFill>
                            <a:srgbClr val="FF0000"/>
                          </a:solidFill>
                        </a:rPr>
                        <a:t> </a:t>
                      </a:r>
                      <a:r>
                        <a:rPr lang="en-US" altLang="zh-TW" sz="2000" dirty="0">
                          <a:solidFill>
                            <a:srgbClr val="0070C0"/>
                          </a:solidFill>
                        </a:rPr>
                        <a:t>&lt;/w&gt;</a:t>
                      </a:r>
                      <a:endParaRPr lang="zh-TW" altLang="en-US" sz="2000" dirty="0">
                        <a:solidFill>
                          <a:schemeClr val="tx1"/>
                        </a:solidFill>
                      </a:endParaRPr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r>
                        <a:rPr lang="en-US" altLang="zh-TW" sz="2000" dirty="0">
                          <a:solidFill>
                            <a:schemeClr val="tx1"/>
                          </a:solidFill>
                        </a:rPr>
                        <a:t>6</a:t>
                      </a:r>
                      <a:endParaRPr lang="zh-TW" altLang="en-US" sz="2000" dirty="0">
                        <a:solidFill>
                          <a:schemeClr val="tx1"/>
                        </a:solidFill>
                      </a:endParaRPr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3608810822"/>
                  </a:ext>
                </a:extLst>
              </a:tr>
              <a:tr h="184072">
                <a:tc>
                  <a:txBody>
                    <a:bodyPr/>
                    <a:lstStyle/>
                    <a:p>
                      <a:r>
                        <a:rPr lang="en-US" altLang="zh-TW" sz="2000" dirty="0">
                          <a:solidFill>
                            <a:schemeClr val="tx1"/>
                          </a:solidFill>
                        </a:rPr>
                        <a:t>w </a:t>
                      </a:r>
                      <a:r>
                        <a:rPr lang="en-US" altLang="zh-TW" sz="2000" dirty="0" err="1">
                          <a:solidFill>
                            <a:schemeClr val="tx1"/>
                          </a:solidFill>
                        </a:rPr>
                        <a:t>i</a:t>
                      </a:r>
                      <a:r>
                        <a:rPr lang="en-US" altLang="zh-TW" sz="2000" dirty="0">
                          <a:solidFill>
                            <a:schemeClr val="tx1"/>
                          </a:solidFill>
                        </a:rPr>
                        <a:t> d </a:t>
                      </a:r>
                      <a:r>
                        <a:rPr lang="en-US" altLang="zh-TW" sz="2000" b="0" dirty="0" err="1">
                          <a:solidFill>
                            <a:schemeClr val="tx1"/>
                          </a:solidFill>
                        </a:rPr>
                        <a:t>est</a:t>
                      </a:r>
                      <a:r>
                        <a:rPr lang="en-US" altLang="zh-TW" sz="2000" b="1" dirty="0">
                          <a:solidFill>
                            <a:srgbClr val="FF0000"/>
                          </a:solidFill>
                        </a:rPr>
                        <a:t> </a:t>
                      </a:r>
                      <a:r>
                        <a:rPr lang="en-US" altLang="zh-TW" sz="2000" dirty="0">
                          <a:solidFill>
                            <a:srgbClr val="0070C0"/>
                          </a:solidFill>
                        </a:rPr>
                        <a:t>&lt;/w&gt;</a:t>
                      </a:r>
                      <a:endParaRPr lang="zh-TW" altLang="en-US" sz="2000" dirty="0">
                        <a:solidFill>
                          <a:schemeClr val="tx1"/>
                        </a:solidFill>
                      </a:endParaRPr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r>
                        <a:rPr lang="en-US" altLang="zh-TW" sz="2000" dirty="0">
                          <a:solidFill>
                            <a:schemeClr val="tx1"/>
                          </a:solidFill>
                        </a:rPr>
                        <a:t>3</a:t>
                      </a:r>
                      <a:endParaRPr lang="zh-TW" altLang="en-US" sz="2000" dirty="0">
                        <a:solidFill>
                          <a:schemeClr val="tx1"/>
                        </a:solidFill>
                      </a:endParaRPr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3613135537"/>
                  </a:ext>
                </a:extLst>
              </a:tr>
            </a:tbl>
          </a:graphicData>
        </a:graphic>
      </p:graphicFrame>
      <p:sp>
        <p:nvSpPr>
          <p:cNvPr id="13" name="矩形 12">
            <a:extLst>
              <a:ext uri="{FF2B5EF4-FFF2-40B4-BE49-F238E27FC236}">
                <a16:creationId xmlns:a16="http://schemas.microsoft.com/office/drawing/2014/main" id="{9E525FE0-39E6-82F3-1A49-542DB5304361}"/>
              </a:ext>
            </a:extLst>
          </p:cNvPr>
          <p:cNvSpPr/>
          <p:nvPr/>
        </p:nvSpPr>
        <p:spPr>
          <a:xfrm>
            <a:off x="1990392" y="3730028"/>
            <a:ext cx="988198" cy="271521"/>
          </a:xfrm>
          <a:prstGeom prst="rect">
            <a:avLst/>
          </a:prstGeom>
          <a:noFill/>
          <a:ln w="19050">
            <a:solidFill>
              <a:srgbClr val="FF0000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kumimoji="1" lang="zh-TW" altLang="en-US"/>
          </a:p>
        </p:txBody>
      </p:sp>
      <p:sp>
        <p:nvSpPr>
          <p:cNvPr id="15" name="矩形 14">
            <a:extLst>
              <a:ext uri="{FF2B5EF4-FFF2-40B4-BE49-F238E27FC236}">
                <a16:creationId xmlns:a16="http://schemas.microsoft.com/office/drawing/2014/main" id="{F83CD7B0-A732-CAFE-5014-BBBD517220EC}"/>
              </a:ext>
            </a:extLst>
          </p:cNvPr>
          <p:cNvSpPr/>
          <p:nvPr/>
        </p:nvSpPr>
        <p:spPr>
          <a:xfrm>
            <a:off x="1907402" y="4135659"/>
            <a:ext cx="988198" cy="271521"/>
          </a:xfrm>
          <a:prstGeom prst="rect">
            <a:avLst/>
          </a:prstGeom>
          <a:noFill/>
          <a:ln w="19050">
            <a:solidFill>
              <a:srgbClr val="FF0000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kumimoji="1" lang="zh-TW" altLang="en-US"/>
          </a:p>
        </p:txBody>
      </p:sp>
      <p:sp>
        <p:nvSpPr>
          <p:cNvPr id="16" name="文字方塊 15">
            <a:extLst>
              <a:ext uri="{FF2B5EF4-FFF2-40B4-BE49-F238E27FC236}">
                <a16:creationId xmlns:a16="http://schemas.microsoft.com/office/drawing/2014/main" id="{9FEA661B-DA7A-37BC-F15E-BBEE71B84996}"/>
              </a:ext>
            </a:extLst>
          </p:cNvPr>
          <p:cNvSpPr txBox="1"/>
          <p:nvPr/>
        </p:nvSpPr>
        <p:spPr>
          <a:xfrm>
            <a:off x="9153057" y="5281239"/>
            <a:ext cx="679010" cy="540139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endParaRPr kumimoji="1" lang="zh-TW" altLang="en-US" dirty="0"/>
          </a:p>
        </p:txBody>
      </p:sp>
      <p:sp>
        <p:nvSpPr>
          <p:cNvPr id="25" name="標題 1">
            <a:extLst>
              <a:ext uri="{FF2B5EF4-FFF2-40B4-BE49-F238E27FC236}">
                <a16:creationId xmlns:a16="http://schemas.microsoft.com/office/drawing/2014/main" id="{46DB3AC3-BEE8-6B6F-17E0-39CCEA71B8D1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705400" y="356088"/>
            <a:ext cx="10058400" cy="1033416"/>
          </a:xfrm>
        </p:spPr>
        <p:txBody>
          <a:bodyPr/>
          <a:lstStyle/>
          <a:p>
            <a:r>
              <a:rPr lang="en-US" altLang="zh-TW" dirty="0">
                <a:ea typeface="新細明體"/>
                <a:cs typeface="Calibri Light"/>
              </a:rPr>
              <a:t>Sub-word Tokenization (3)</a:t>
            </a:r>
            <a:endParaRPr lang="zh-TW" altLang="en-US" sz="2400" dirty="0">
              <a:ea typeface="新細明體"/>
              <a:cs typeface="Calibri Light"/>
            </a:endParaRPr>
          </a:p>
        </p:txBody>
      </p:sp>
      <p:sp>
        <p:nvSpPr>
          <p:cNvPr id="26" name="矩形 25">
            <a:extLst>
              <a:ext uri="{FF2B5EF4-FFF2-40B4-BE49-F238E27FC236}">
                <a16:creationId xmlns:a16="http://schemas.microsoft.com/office/drawing/2014/main" id="{ADC183A7-A678-F074-C38D-5A1A287067C1}"/>
              </a:ext>
            </a:extLst>
          </p:cNvPr>
          <p:cNvSpPr/>
          <p:nvPr/>
        </p:nvSpPr>
        <p:spPr>
          <a:xfrm>
            <a:off x="8282940" y="533680"/>
            <a:ext cx="2811780" cy="717629"/>
          </a:xfrm>
          <a:prstGeom prst="rect">
            <a:avLst/>
          </a:prstGeom>
          <a:noFill/>
          <a:ln w="28575">
            <a:solidFill>
              <a:srgbClr val="00B050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kumimoji="1" lang="en-US" altLang="zh-TW" sz="1600" dirty="0">
                <a:solidFill>
                  <a:srgbClr val="00B050"/>
                </a:solidFill>
              </a:rPr>
              <a:t>Repeated (2)-(4)</a:t>
            </a:r>
          </a:p>
          <a:p>
            <a:pPr algn="ctr"/>
            <a:r>
              <a:rPr kumimoji="1" lang="en-US" altLang="zh-TW" sz="1600" dirty="0">
                <a:solidFill>
                  <a:srgbClr val="00B050"/>
                </a:solidFill>
              </a:rPr>
              <a:t>according to `</a:t>
            </a:r>
            <a:r>
              <a:rPr kumimoji="1" lang="en-US" altLang="zh-TW" sz="1600" dirty="0" err="1">
                <a:solidFill>
                  <a:srgbClr val="00B050"/>
                </a:solidFill>
              </a:rPr>
              <a:t>num_merges</a:t>
            </a:r>
            <a:r>
              <a:rPr kumimoji="1" lang="en-US" altLang="zh-TW" sz="1600" dirty="0">
                <a:solidFill>
                  <a:srgbClr val="00B050"/>
                </a:solidFill>
              </a:rPr>
              <a:t>`</a:t>
            </a:r>
            <a:endParaRPr kumimoji="1" lang="zh-TW" altLang="en-US" sz="1600" dirty="0">
              <a:solidFill>
                <a:srgbClr val="00B050"/>
              </a:solidFill>
            </a:endParaRPr>
          </a:p>
        </p:txBody>
      </p:sp>
    </p:spTree>
    <p:extLst>
      <p:ext uri="{BB962C8B-B14F-4D97-AF65-F5344CB8AC3E}">
        <p14:creationId xmlns:p14="http://schemas.microsoft.com/office/powerpoint/2010/main" val="3309575327"/>
      </p:ext>
    </p:extLst>
  </p:cSld>
  <p:clrMapOvr>
    <a:masterClrMapping/>
  </p:clrMapOvr>
</p:sld>
</file>

<file path=ppt/slides/slide2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" name="投影片編號版面配置區 4">
            <a:extLst>
              <a:ext uri="{FF2B5EF4-FFF2-40B4-BE49-F238E27FC236}">
                <a16:creationId xmlns:a16="http://schemas.microsoft.com/office/drawing/2014/main" id="{80B6B308-E528-1567-412F-2BF52CB92E39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6113E31D-E2AB-40D1-8B51-AFA5AFEF393A}" type="slidenum">
              <a:rPr lang="en-US" dirty="0"/>
              <a:t>27</a:t>
            </a:fld>
            <a:endParaRPr lang="zh-TW" altLang="en-US"/>
          </a:p>
        </p:txBody>
      </p:sp>
      <p:sp>
        <p:nvSpPr>
          <p:cNvPr id="12" name="內容版面配置區 2">
            <a:extLst>
              <a:ext uri="{FF2B5EF4-FFF2-40B4-BE49-F238E27FC236}">
                <a16:creationId xmlns:a16="http://schemas.microsoft.com/office/drawing/2014/main" id="{5DAB3D95-7922-1D43-DC54-85B7B8E80B0F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705400" y="1426297"/>
            <a:ext cx="10450280" cy="1033403"/>
          </a:xfrm>
        </p:spPr>
        <p:txBody>
          <a:bodyPr>
            <a:noAutofit/>
          </a:bodyPr>
          <a:lstStyle/>
          <a:p>
            <a:pPr>
              <a:lnSpc>
                <a:spcPct val="100000"/>
              </a:lnSpc>
              <a:buClr>
                <a:schemeClr val="tx1"/>
              </a:buClr>
              <a:buSzPct val="75000"/>
              <a:buFont typeface="Arial" panose="020B0604020202020204" pitchFamily="34" charset="0"/>
              <a:buChar char="•"/>
            </a:pPr>
            <a:r>
              <a:rPr kumimoji="1" lang="en-US" altLang="zh-TW" sz="2600" dirty="0"/>
              <a:t> </a:t>
            </a:r>
            <a:r>
              <a:rPr kumimoji="1" lang="en-US" altLang="zh-TW" sz="2600" dirty="0">
                <a:solidFill>
                  <a:srgbClr val="FF0000"/>
                </a:solidFill>
              </a:rPr>
              <a:t>Merge</a:t>
            </a:r>
            <a:r>
              <a:rPr kumimoji="1" lang="en-US" altLang="zh-TW" sz="2600" dirty="0"/>
              <a:t> the characters by replacing all words in the corpus with </a:t>
            </a:r>
            <a:r>
              <a:rPr kumimoji="1" lang="en-US" altLang="zh-TW" sz="2600" dirty="0">
                <a:solidFill>
                  <a:srgbClr val="FF0000"/>
                </a:solidFill>
              </a:rPr>
              <a:t>the newly added pair</a:t>
            </a:r>
            <a:r>
              <a:rPr kumimoji="1" lang="en-US" altLang="zh-TW" sz="2600" dirty="0">
                <a:solidFill>
                  <a:schemeClr val="tx1"/>
                </a:solidFill>
              </a:rPr>
              <a:t>.</a:t>
            </a:r>
          </a:p>
        </p:txBody>
      </p:sp>
      <p:sp>
        <p:nvSpPr>
          <p:cNvPr id="2" name="文字方塊 1">
            <a:extLst>
              <a:ext uri="{FF2B5EF4-FFF2-40B4-BE49-F238E27FC236}">
                <a16:creationId xmlns:a16="http://schemas.microsoft.com/office/drawing/2014/main" id="{20F8B10A-0728-28B4-9D76-556A64D33D8E}"/>
              </a:ext>
            </a:extLst>
          </p:cNvPr>
          <p:cNvSpPr txBox="1"/>
          <p:nvPr/>
        </p:nvSpPr>
        <p:spPr>
          <a:xfrm>
            <a:off x="1224011" y="5281239"/>
            <a:ext cx="9187474" cy="46166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kumimoji="1" lang="en-US" altLang="zh-TW" sz="2400" dirty="0"/>
              <a:t>Current Vocabulary: </a:t>
            </a:r>
            <a:r>
              <a:rPr kumimoji="1" lang="en-US" altLang="zh-TW" sz="2400" dirty="0">
                <a:solidFill>
                  <a:srgbClr val="0070C0"/>
                </a:solidFill>
              </a:rPr>
              <a:t>&lt;/w&gt;</a:t>
            </a:r>
            <a:r>
              <a:rPr kumimoji="1" lang="en-US" altLang="zh-TW" sz="2400" dirty="0"/>
              <a:t>, d, e, </a:t>
            </a:r>
            <a:r>
              <a:rPr kumimoji="1" lang="en-US" altLang="zh-TW" sz="2400" dirty="0" err="1"/>
              <a:t>i</a:t>
            </a:r>
            <a:r>
              <a:rPr kumimoji="1" lang="en-US" altLang="zh-TW" sz="2400" dirty="0"/>
              <a:t>, l, n, o, r, s, t, w, es, </a:t>
            </a:r>
            <a:r>
              <a:rPr kumimoji="1" lang="en-US" altLang="zh-TW" sz="2400" dirty="0" err="1"/>
              <a:t>est</a:t>
            </a:r>
            <a:r>
              <a:rPr kumimoji="1" lang="en-US" altLang="zh-TW" sz="2400" dirty="0"/>
              <a:t>, </a:t>
            </a:r>
            <a:r>
              <a:rPr kumimoji="1" lang="en-US" altLang="zh-TW" sz="2400" dirty="0" err="1">
                <a:solidFill>
                  <a:srgbClr val="FF0000"/>
                </a:solidFill>
              </a:rPr>
              <a:t>est</a:t>
            </a:r>
            <a:r>
              <a:rPr kumimoji="1" lang="en-US" altLang="zh-TW" sz="2400" dirty="0">
                <a:solidFill>
                  <a:srgbClr val="FF0000"/>
                </a:solidFill>
              </a:rPr>
              <a:t>&lt;/w&gt;</a:t>
            </a:r>
            <a:endParaRPr kumimoji="1" lang="zh-TW" altLang="en-US" sz="2400" dirty="0">
              <a:solidFill>
                <a:srgbClr val="FF0000"/>
              </a:solidFill>
            </a:endParaRPr>
          </a:p>
        </p:txBody>
      </p:sp>
      <p:cxnSp>
        <p:nvCxnSpPr>
          <p:cNvPr id="6" name="直線接點 5">
            <a:extLst>
              <a:ext uri="{FF2B5EF4-FFF2-40B4-BE49-F238E27FC236}">
                <a16:creationId xmlns:a16="http://schemas.microsoft.com/office/drawing/2014/main" id="{C198257C-D62D-E0CC-4E49-F7619B95F27F}"/>
              </a:ext>
            </a:extLst>
          </p:cNvPr>
          <p:cNvCxnSpPr/>
          <p:nvPr/>
        </p:nvCxnSpPr>
        <p:spPr>
          <a:xfrm>
            <a:off x="1097280" y="4781725"/>
            <a:ext cx="10058400" cy="0"/>
          </a:xfrm>
          <a:prstGeom prst="line">
            <a:avLst/>
          </a:prstGeom>
          <a:ln w="28575">
            <a:solidFill>
              <a:srgbClr val="FF0000"/>
            </a:solidFill>
            <a:prstDash val="dash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graphicFrame>
        <p:nvGraphicFramePr>
          <p:cNvPr id="7" name="表格 13">
            <a:extLst>
              <a:ext uri="{FF2B5EF4-FFF2-40B4-BE49-F238E27FC236}">
                <a16:creationId xmlns:a16="http://schemas.microsoft.com/office/drawing/2014/main" id="{D0F26A9B-A7A0-2013-CEB1-0F6337A5DEE7}"/>
              </a:ext>
            </a:extLst>
          </p:cNvPr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754561602"/>
              </p:ext>
            </p:extLst>
          </p:nvPr>
        </p:nvGraphicFramePr>
        <p:xfrm>
          <a:off x="1240255" y="2476339"/>
          <a:ext cx="3566637" cy="198120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2055015">
                  <a:extLst>
                    <a:ext uri="{9D8B030D-6E8A-4147-A177-3AD203B41FA5}">
                      <a16:colId xmlns:a16="http://schemas.microsoft.com/office/drawing/2014/main" val="299152187"/>
                    </a:ext>
                  </a:extLst>
                </a:gridCol>
                <a:gridCol w="1511622">
                  <a:extLst>
                    <a:ext uri="{9D8B030D-6E8A-4147-A177-3AD203B41FA5}">
                      <a16:colId xmlns:a16="http://schemas.microsoft.com/office/drawing/2014/main" val="626042458"/>
                    </a:ext>
                  </a:extLst>
                </a:gridCol>
              </a:tblGrid>
              <a:tr h="207433">
                <a:tc>
                  <a:txBody>
                    <a:bodyPr/>
                    <a:lstStyle/>
                    <a:p>
                      <a:r>
                        <a:rPr lang="en-US" altLang="zh-TW" sz="2000" dirty="0">
                          <a:solidFill>
                            <a:schemeClr val="tx1"/>
                          </a:solidFill>
                        </a:rPr>
                        <a:t>Word</a:t>
                      </a:r>
                      <a:endParaRPr lang="zh-TW" altLang="en-US" sz="2000" dirty="0">
                        <a:solidFill>
                          <a:schemeClr val="tx1"/>
                        </a:solidFill>
                      </a:endParaRPr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r>
                        <a:rPr lang="en-US" altLang="zh-TW" sz="2000" dirty="0">
                          <a:solidFill>
                            <a:schemeClr val="tx1"/>
                          </a:solidFill>
                        </a:rPr>
                        <a:t>Frequency</a:t>
                      </a:r>
                      <a:endParaRPr lang="zh-TW" altLang="en-US" sz="2000" dirty="0">
                        <a:solidFill>
                          <a:schemeClr val="tx1"/>
                        </a:solidFill>
                      </a:endParaRPr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592410158"/>
                  </a:ext>
                </a:extLst>
              </a:tr>
              <a:tr h="302338">
                <a:tc>
                  <a:txBody>
                    <a:bodyPr/>
                    <a:lstStyle/>
                    <a:p>
                      <a:r>
                        <a:rPr lang="en-US" altLang="zh-TW" sz="2000" dirty="0">
                          <a:solidFill>
                            <a:schemeClr val="tx1"/>
                          </a:solidFill>
                        </a:rPr>
                        <a:t>l o w </a:t>
                      </a:r>
                      <a:r>
                        <a:rPr lang="en-US" altLang="zh-TW" sz="2000" dirty="0">
                          <a:solidFill>
                            <a:srgbClr val="0070C0"/>
                          </a:solidFill>
                        </a:rPr>
                        <a:t>&lt;/w&gt;</a:t>
                      </a:r>
                      <a:endParaRPr lang="zh-TW" altLang="en-US" sz="2000" dirty="0">
                        <a:solidFill>
                          <a:srgbClr val="0070C0"/>
                        </a:solidFill>
                      </a:endParaRPr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r>
                        <a:rPr lang="en-US" altLang="zh-TW" sz="2000" dirty="0">
                          <a:solidFill>
                            <a:schemeClr val="tx1"/>
                          </a:solidFill>
                        </a:rPr>
                        <a:t>5</a:t>
                      </a:r>
                      <a:endParaRPr lang="zh-TW" altLang="en-US" sz="2000" dirty="0">
                        <a:solidFill>
                          <a:schemeClr val="tx1"/>
                        </a:solidFill>
                      </a:endParaRPr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3786072698"/>
                  </a:ext>
                </a:extLst>
              </a:tr>
              <a:tr h="207433">
                <a:tc>
                  <a:txBody>
                    <a:bodyPr/>
                    <a:lstStyle/>
                    <a:p>
                      <a:r>
                        <a:rPr lang="en-US" altLang="zh-TW" sz="2000" dirty="0">
                          <a:solidFill>
                            <a:schemeClr val="tx1"/>
                          </a:solidFill>
                        </a:rPr>
                        <a:t>l o w e r </a:t>
                      </a:r>
                      <a:r>
                        <a:rPr lang="en-US" altLang="zh-TW" sz="2000" dirty="0">
                          <a:solidFill>
                            <a:srgbClr val="0070C0"/>
                          </a:solidFill>
                        </a:rPr>
                        <a:t>&lt;/w&gt;</a:t>
                      </a:r>
                      <a:endParaRPr lang="zh-TW" altLang="en-US" sz="2000" dirty="0">
                        <a:solidFill>
                          <a:schemeClr val="tx1"/>
                        </a:solidFill>
                      </a:endParaRPr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r>
                        <a:rPr lang="en-US" altLang="zh-TW" sz="2000" dirty="0">
                          <a:solidFill>
                            <a:schemeClr val="tx1"/>
                          </a:solidFill>
                        </a:rPr>
                        <a:t>2</a:t>
                      </a:r>
                      <a:endParaRPr lang="zh-TW" altLang="en-US" sz="2000" dirty="0">
                        <a:solidFill>
                          <a:schemeClr val="tx1"/>
                        </a:solidFill>
                      </a:endParaRPr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140167199"/>
                  </a:ext>
                </a:extLst>
              </a:tr>
              <a:tr h="207433">
                <a:tc>
                  <a:txBody>
                    <a:bodyPr/>
                    <a:lstStyle/>
                    <a:p>
                      <a:r>
                        <a:rPr lang="en-US" altLang="zh-TW" sz="2000" dirty="0">
                          <a:solidFill>
                            <a:schemeClr val="tx1"/>
                          </a:solidFill>
                        </a:rPr>
                        <a:t>n e w </a:t>
                      </a:r>
                      <a:r>
                        <a:rPr lang="en-US" altLang="zh-TW" sz="2000" b="1" dirty="0" err="1">
                          <a:solidFill>
                            <a:srgbClr val="FF0000"/>
                          </a:solidFill>
                        </a:rPr>
                        <a:t>est</a:t>
                      </a:r>
                      <a:r>
                        <a:rPr lang="en-US" altLang="zh-TW" sz="2000" b="1" dirty="0">
                          <a:solidFill>
                            <a:srgbClr val="FF0000"/>
                          </a:solidFill>
                        </a:rPr>
                        <a:t>&lt;/w&gt;</a:t>
                      </a:r>
                      <a:endParaRPr lang="zh-TW" altLang="en-US" sz="2000" b="1" dirty="0">
                        <a:solidFill>
                          <a:srgbClr val="FF0000"/>
                        </a:solidFill>
                      </a:endParaRPr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r>
                        <a:rPr lang="en-US" altLang="zh-TW" sz="2000" dirty="0">
                          <a:solidFill>
                            <a:schemeClr val="tx1"/>
                          </a:solidFill>
                        </a:rPr>
                        <a:t>6</a:t>
                      </a:r>
                      <a:endParaRPr lang="zh-TW" altLang="en-US" sz="2000" dirty="0">
                        <a:solidFill>
                          <a:schemeClr val="tx1"/>
                        </a:solidFill>
                      </a:endParaRPr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3608810822"/>
                  </a:ext>
                </a:extLst>
              </a:tr>
              <a:tr h="184072">
                <a:tc>
                  <a:txBody>
                    <a:bodyPr/>
                    <a:lstStyle/>
                    <a:p>
                      <a:r>
                        <a:rPr lang="en-US" altLang="zh-TW" sz="2000" dirty="0">
                          <a:solidFill>
                            <a:schemeClr val="tx1"/>
                          </a:solidFill>
                        </a:rPr>
                        <a:t>w </a:t>
                      </a:r>
                      <a:r>
                        <a:rPr lang="en-US" altLang="zh-TW" sz="2000" dirty="0" err="1">
                          <a:solidFill>
                            <a:schemeClr val="tx1"/>
                          </a:solidFill>
                        </a:rPr>
                        <a:t>i</a:t>
                      </a:r>
                      <a:r>
                        <a:rPr lang="en-US" altLang="zh-TW" sz="2000" dirty="0">
                          <a:solidFill>
                            <a:schemeClr val="tx1"/>
                          </a:solidFill>
                        </a:rPr>
                        <a:t> d </a:t>
                      </a:r>
                      <a:r>
                        <a:rPr lang="en-US" altLang="zh-TW" sz="2000" b="1" dirty="0" err="1">
                          <a:solidFill>
                            <a:srgbClr val="FF0000"/>
                          </a:solidFill>
                        </a:rPr>
                        <a:t>est</a:t>
                      </a:r>
                      <a:r>
                        <a:rPr lang="en-US" altLang="zh-TW" sz="2000" b="1" dirty="0">
                          <a:solidFill>
                            <a:srgbClr val="FF0000"/>
                          </a:solidFill>
                        </a:rPr>
                        <a:t>&lt;/w&gt;</a:t>
                      </a:r>
                      <a:endParaRPr lang="zh-TW" altLang="en-US" sz="2000" b="1" dirty="0">
                        <a:solidFill>
                          <a:srgbClr val="FF0000"/>
                        </a:solidFill>
                      </a:endParaRPr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r>
                        <a:rPr lang="en-US" altLang="zh-TW" sz="2000" dirty="0">
                          <a:solidFill>
                            <a:schemeClr val="tx1"/>
                          </a:solidFill>
                        </a:rPr>
                        <a:t>3</a:t>
                      </a:r>
                      <a:endParaRPr lang="zh-TW" altLang="en-US" sz="2000" dirty="0">
                        <a:solidFill>
                          <a:schemeClr val="tx1"/>
                        </a:solidFill>
                      </a:endParaRPr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3613135537"/>
                  </a:ext>
                </a:extLst>
              </a:tr>
            </a:tbl>
          </a:graphicData>
        </a:graphic>
      </p:graphicFrame>
      <p:sp>
        <p:nvSpPr>
          <p:cNvPr id="14" name="標題 1">
            <a:extLst>
              <a:ext uri="{FF2B5EF4-FFF2-40B4-BE49-F238E27FC236}">
                <a16:creationId xmlns:a16="http://schemas.microsoft.com/office/drawing/2014/main" id="{F9FA7FCE-7211-388D-7EEA-2D6056E49DE8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705400" y="356088"/>
            <a:ext cx="10058400" cy="1033416"/>
          </a:xfrm>
        </p:spPr>
        <p:txBody>
          <a:bodyPr/>
          <a:lstStyle/>
          <a:p>
            <a:r>
              <a:rPr lang="en-US" altLang="zh-TW" dirty="0">
                <a:ea typeface="新細明體"/>
                <a:cs typeface="Calibri Light"/>
              </a:rPr>
              <a:t>Sub-word Tokenization (4)</a:t>
            </a:r>
            <a:endParaRPr lang="zh-TW" altLang="en-US" sz="2400" dirty="0">
              <a:ea typeface="新細明體"/>
              <a:cs typeface="Calibri Light"/>
            </a:endParaRPr>
          </a:p>
        </p:txBody>
      </p:sp>
      <p:sp>
        <p:nvSpPr>
          <p:cNvPr id="15" name="矩形 14">
            <a:extLst>
              <a:ext uri="{FF2B5EF4-FFF2-40B4-BE49-F238E27FC236}">
                <a16:creationId xmlns:a16="http://schemas.microsoft.com/office/drawing/2014/main" id="{841E943B-0CFE-3E97-5639-D6AB0B1F6BD6}"/>
              </a:ext>
            </a:extLst>
          </p:cNvPr>
          <p:cNvSpPr/>
          <p:nvPr/>
        </p:nvSpPr>
        <p:spPr>
          <a:xfrm>
            <a:off x="8282940" y="533680"/>
            <a:ext cx="2811780" cy="717629"/>
          </a:xfrm>
          <a:prstGeom prst="rect">
            <a:avLst/>
          </a:prstGeom>
          <a:noFill/>
          <a:ln w="28575">
            <a:solidFill>
              <a:srgbClr val="00B050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kumimoji="1" lang="en-US" altLang="zh-TW" sz="1600" dirty="0">
                <a:solidFill>
                  <a:srgbClr val="00B050"/>
                </a:solidFill>
              </a:rPr>
              <a:t>Repeated (2)-(4)</a:t>
            </a:r>
          </a:p>
          <a:p>
            <a:pPr algn="ctr"/>
            <a:r>
              <a:rPr kumimoji="1" lang="en-US" altLang="zh-TW" sz="1600" dirty="0">
                <a:solidFill>
                  <a:srgbClr val="00B050"/>
                </a:solidFill>
              </a:rPr>
              <a:t>according to `</a:t>
            </a:r>
            <a:r>
              <a:rPr kumimoji="1" lang="en-US" altLang="zh-TW" sz="1600" dirty="0" err="1">
                <a:solidFill>
                  <a:srgbClr val="00B050"/>
                </a:solidFill>
              </a:rPr>
              <a:t>num_merges</a:t>
            </a:r>
            <a:r>
              <a:rPr kumimoji="1" lang="en-US" altLang="zh-TW" sz="1600" dirty="0">
                <a:solidFill>
                  <a:srgbClr val="00B050"/>
                </a:solidFill>
              </a:rPr>
              <a:t>`</a:t>
            </a:r>
            <a:endParaRPr kumimoji="1" lang="zh-TW" altLang="en-US" sz="1600" dirty="0">
              <a:solidFill>
                <a:srgbClr val="00B050"/>
              </a:solidFill>
            </a:endParaRPr>
          </a:p>
        </p:txBody>
      </p:sp>
    </p:spTree>
    <p:extLst>
      <p:ext uri="{BB962C8B-B14F-4D97-AF65-F5344CB8AC3E}">
        <p14:creationId xmlns:p14="http://schemas.microsoft.com/office/powerpoint/2010/main" val="2369958183"/>
      </p:ext>
    </p:extLst>
  </p:cSld>
  <p:clrMapOvr>
    <a:masterClrMapping/>
  </p:clrMapOvr>
</p:sld>
</file>

<file path=ppt/slides/slide2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" name="投影片編號版面配置區 4">
            <a:extLst>
              <a:ext uri="{FF2B5EF4-FFF2-40B4-BE49-F238E27FC236}">
                <a16:creationId xmlns:a16="http://schemas.microsoft.com/office/drawing/2014/main" id="{80B6B308-E528-1567-412F-2BF52CB92E39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6113E31D-E2AB-40D1-8B51-AFA5AFEF393A}" type="slidenum">
              <a:rPr lang="en-US" dirty="0"/>
              <a:t>28</a:t>
            </a:fld>
            <a:endParaRPr lang="zh-TW" altLang="en-US"/>
          </a:p>
        </p:txBody>
      </p:sp>
      <p:sp>
        <p:nvSpPr>
          <p:cNvPr id="7" name="內容版面配置區 2">
            <a:extLst>
              <a:ext uri="{FF2B5EF4-FFF2-40B4-BE49-F238E27FC236}">
                <a16:creationId xmlns:a16="http://schemas.microsoft.com/office/drawing/2014/main" id="{6AE5E23E-1E1F-3A47-7CA1-2E500F47EB18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705400" y="1511686"/>
            <a:ext cx="10058400" cy="840316"/>
          </a:xfrm>
        </p:spPr>
        <p:txBody>
          <a:bodyPr>
            <a:normAutofit/>
          </a:bodyPr>
          <a:lstStyle/>
          <a:p>
            <a:pPr>
              <a:lnSpc>
                <a:spcPct val="150000"/>
              </a:lnSpc>
              <a:buClr>
                <a:schemeClr val="tx1"/>
              </a:buClr>
              <a:buSzPct val="75000"/>
              <a:buFont typeface="Arial" panose="020B0604020202020204" pitchFamily="34" charset="0"/>
              <a:buChar char="•"/>
            </a:pPr>
            <a:r>
              <a:rPr kumimoji="1" lang="en-US" altLang="zh-TW" sz="2600" dirty="0"/>
              <a:t> Find the character </a:t>
            </a:r>
            <a:r>
              <a:rPr kumimoji="1" lang="en-US" altLang="zh-TW" sz="2600" b="1" dirty="0">
                <a:solidFill>
                  <a:srgbClr val="FF0000"/>
                </a:solidFill>
              </a:rPr>
              <a:t>pair</a:t>
            </a:r>
            <a:r>
              <a:rPr kumimoji="1" lang="en-US" altLang="zh-TW" sz="2600" dirty="0"/>
              <a:t> with the highest frequency</a:t>
            </a:r>
          </a:p>
        </p:txBody>
      </p:sp>
      <p:sp>
        <p:nvSpPr>
          <p:cNvPr id="16" name="矩形 15">
            <a:extLst>
              <a:ext uri="{FF2B5EF4-FFF2-40B4-BE49-F238E27FC236}">
                <a16:creationId xmlns:a16="http://schemas.microsoft.com/office/drawing/2014/main" id="{005239FF-1462-0713-52CE-D2F3CA12FAB1}"/>
              </a:ext>
            </a:extLst>
          </p:cNvPr>
          <p:cNvSpPr/>
          <p:nvPr/>
        </p:nvSpPr>
        <p:spPr>
          <a:xfrm>
            <a:off x="1311242" y="2921065"/>
            <a:ext cx="311818" cy="294516"/>
          </a:xfrm>
          <a:prstGeom prst="rect">
            <a:avLst/>
          </a:prstGeom>
          <a:noFill/>
          <a:ln w="19050">
            <a:solidFill>
              <a:srgbClr val="FF0000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kumimoji="1" lang="zh-TW" altLang="en-US"/>
          </a:p>
        </p:txBody>
      </p:sp>
      <p:sp>
        <p:nvSpPr>
          <p:cNvPr id="17" name="文字方塊 16">
            <a:extLst>
              <a:ext uri="{FF2B5EF4-FFF2-40B4-BE49-F238E27FC236}">
                <a16:creationId xmlns:a16="http://schemas.microsoft.com/office/drawing/2014/main" id="{2B4E8D6D-35BD-3ACB-7EA5-1B49EF382CAD}"/>
              </a:ext>
            </a:extLst>
          </p:cNvPr>
          <p:cNvSpPr txBox="1"/>
          <p:nvPr/>
        </p:nvSpPr>
        <p:spPr>
          <a:xfrm>
            <a:off x="4914899" y="3589077"/>
            <a:ext cx="6595111" cy="46166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kumimoji="1" lang="en-US" altLang="zh-TW" sz="2400" dirty="0">
                <a:solidFill>
                  <a:srgbClr val="FF0000"/>
                </a:solidFill>
              </a:rPr>
              <a:t>Found “l o” with the highest frequency 5+2=7</a:t>
            </a:r>
            <a:endParaRPr kumimoji="1" lang="zh-TW" altLang="en-US" sz="2400" dirty="0">
              <a:solidFill>
                <a:srgbClr val="FF0000"/>
              </a:solidFill>
            </a:endParaRPr>
          </a:p>
        </p:txBody>
      </p:sp>
      <p:sp>
        <p:nvSpPr>
          <p:cNvPr id="4" name="矩形 3">
            <a:extLst>
              <a:ext uri="{FF2B5EF4-FFF2-40B4-BE49-F238E27FC236}">
                <a16:creationId xmlns:a16="http://schemas.microsoft.com/office/drawing/2014/main" id="{5416A301-59B4-A82B-95B5-76B8338AE7F0}"/>
              </a:ext>
            </a:extLst>
          </p:cNvPr>
          <p:cNvSpPr/>
          <p:nvPr/>
        </p:nvSpPr>
        <p:spPr>
          <a:xfrm>
            <a:off x="1311242" y="3312667"/>
            <a:ext cx="311818" cy="294516"/>
          </a:xfrm>
          <a:prstGeom prst="rect">
            <a:avLst/>
          </a:prstGeom>
          <a:noFill/>
          <a:ln w="19050">
            <a:solidFill>
              <a:srgbClr val="FF0000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kumimoji="1" lang="zh-TW" altLang="en-US"/>
          </a:p>
        </p:txBody>
      </p:sp>
      <p:sp>
        <p:nvSpPr>
          <p:cNvPr id="13" name="標題 1">
            <a:extLst>
              <a:ext uri="{FF2B5EF4-FFF2-40B4-BE49-F238E27FC236}">
                <a16:creationId xmlns:a16="http://schemas.microsoft.com/office/drawing/2014/main" id="{01BC7333-9390-C70D-4334-004B3412F00C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705400" y="356088"/>
            <a:ext cx="10058400" cy="1033416"/>
          </a:xfrm>
        </p:spPr>
        <p:txBody>
          <a:bodyPr/>
          <a:lstStyle/>
          <a:p>
            <a:r>
              <a:rPr lang="en-US" altLang="zh-TW" dirty="0">
                <a:ea typeface="新細明體"/>
                <a:cs typeface="Calibri Light"/>
              </a:rPr>
              <a:t>Sub-word Tokenization (2)</a:t>
            </a:r>
            <a:endParaRPr lang="zh-TW" altLang="en-US" sz="2400" dirty="0">
              <a:ea typeface="新細明體"/>
              <a:cs typeface="Calibri Light"/>
            </a:endParaRPr>
          </a:p>
        </p:txBody>
      </p:sp>
      <p:sp>
        <p:nvSpPr>
          <p:cNvPr id="14" name="矩形 13">
            <a:extLst>
              <a:ext uri="{FF2B5EF4-FFF2-40B4-BE49-F238E27FC236}">
                <a16:creationId xmlns:a16="http://schemas.microsoft.com/office/drawing/2014/main" id="{F22B294E-8831-A2F4-C632-758CA234798F}"/>
              </a:ext>
            </a:extLst>
          </p:cNvPr>
          <p:cNvSpPr/>
          <p:nvPr/>
        </p:nvSpPr>
        <p:spPr>
          <a:xfrm>
            <a:off x="8282940" y="533680"/>
            <a:ext cx="2811780" cy="717629"/>
          </a:xfrm>
          <a:prstGeom prst="rect">
            <a:avLst/>
          </a:prstGeom>
          <a:noFill/>
          <a:ln w="28575">
            <a:solidFill>
              <a:srgbClr val="00B050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kumimoji="1" lang="en-US" altLang="zh-TW" sz="1600" dirty="0">
                <a:solidFill>
                  <a:srgbClr val="00B050"/>
                </a:solidFill>
              </a:rPr>
              <a:t>Repeated (2)-(4)</a:t>
            </a:r>
          </a:p>
          <a:p>
            <a:pPr algn="ctr"/>
            <a:r>
              <a:rPr kumimoji="1" lang="en-US" altLang="zh-TW" sz="1600" dirty="0">
                <a:solidFill>
                  <a:srgbClr val="00B050"/>
                </a:solidFill>
              </a:rPr>
              <a:t>according to `</a:t>
            </a:r>
            <a:r>
              <a:rPr kumimoji="1" lang="en-US" altLang="zh-TW" sz="1600" dirty="0" err="1">
                <a:solidFill>
                  <a:srgbClr val="00B050"/>
                </a:solidFill>
              </a:rPr>
              <a:t>num_merges</a:t>
            </a:r>
            <a:r>
              <a:rPr kumimoji="1" lang="en-US" altLang="zh-TW" sz="1600" dirty="0">
                <a:solidFill>
                  <a:srgbClr val="00B050"/>
                </a:solidFill>
              </a:rPr>
              <a:t>`</a:t>
            </a:r>
            <a:endParaRPr kumimoji="1" lang="zh-TW" altLang="en-US" sz="1600" dirty="0">
              <a:solidFill>
                <a:srgbClr val="00B050"/>
              </a:solidFill>
            </a:endParaRPr>
          </a:p>
        </p:txBody>
      </p:sp>
      <p:sp>
        <p:nvSpPr>
          <p:cNvPr id="19" name="文字方塊 18">
            <a:extLst>
              <a:ext uri="{FF2B5EF4-FFF2-40B4-BE49-F238E27FC236}">
                <a16:creationId xmlns:a16="http://schemas.microsoft.com/office/drawing/2014/main" id="{27779074-F5F1-AF4B-5E9A-73D812CFB765}"/>
              </a:ext>
            </a:extLst>
          </p:cNvPr>
          <p:cNvSpPr txBox="1"/>
          <p:nvPr/>
        </p:nvSpPr>
        <p:spPr>
          <a:xfrm>
            <a:off x="1224011" y="5281239"/>
            <a:ext cx="9187474" cy="46166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kumimoji="1" lang="en-US" altLang="zh-TW" sz="2400" dirty="0"/>
              <a:t>Current Vocabulary: </a:t>
            </a:r>
            <a:r>
              <a:rPr kumimoji="1" lang="en-US" altLang="zh-TW" sz="2400" dirty="0">
                <a:solidFill>
                  <a:srgbClr val="0070C0"/>
                </a:solidFill>
              </a:rPr>
              <a:t>&lt;/w&gt;</a:t>
            </a:r>
            <a:r>
              <a:rPr kumimoji="1" lang="en-US" altLang="zh-TW" sz="2400" dirty="0"/>
              <a:t>, d, e, </a:t>
            </a:r>
            <a:r>
              <a:rPr kumimoji="1" lang="en-US" altLang="zh-TW" sz="2400" dirty="0" err="1"/>
              <a:t>i</a:t>
            </a:r>
            <a:r>
              <a:rPr kumimoji="1" lang="en-US" altLang="zh-TW" sz="2400" dirty="0"/>
              <a:t>, l, n, o, r, s, t, w, es, </a:t>
            </a:r>
            <a:r>
              <a:rPr kumimoji="1" lang="en-US" altLang="zh-TW" sz="2400" dirty="0" err="1"/>
              <a:t>est</a:t>
            </a:r>
            <a:r>
              <a:rPr kumimoji="1" lang="en-US" altLang="zh-TW" sz="2400" dirty="0"/>
              <a:t>, </a:t>
            </a:r>
            <a:r>
              <a:rPr kumimoji="1" lang="en-US" altLang="zh-TW" sz="2400" dirty="0" err="1"/>
              <a:t>est</a:t>
            </a:r>
            <a:r>
              <a:rPr kumimoji="1" lang="en-US" altLang="zh-TW" sz="2400" dirty="0"/>
              <a:t>&lt;/w&gt;</a:t>
            </a:r>
            <a:endParaRPr kumimoji="1" lang="zh-TW" altLang="en-US" sz="2400" dirty="0"/>
          </a:p>
        </p:txBody>
      </p:sp>
      <p:cxnSp>
        <p:nvCxnSpPr>
          <p:cNvPr id="20" name="直線接點 19">
            <a:extLst>
              <a:ext uri="{FF2B5EF4-FFF2-40B4-BE49-F238E27FC236}">
                <a16:creationId xmlns:a16="http://schemas.microsoft.com/office/drawing/2014/main" id="{5B1AF654-4FFB-3685-0D2A-BBC80A048EA6}"/>
              </a:ext>
            </a:extLst>
          </p:cNvPr>
          <p:cNvCxnSpPr/>
          <p:nvPr/>
        </p:nvCxnSpPr>
        <p:spPr>
          <a:xfrm>
            <a:off x="1097280" y="4781725"/>
            <a:ext cx="10058400" cy="0"/>
          </a:xfrm>
          <a:prstGeom prst="line">
            <a:avLst/>
          </a:prstGeom>
          <a:ln w="28575">
            <a:solidFill>
              <a:srgbClr val="FF0000"/>
            </a:solidFill>
            <a:prstDash val="dash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graphicFrame>
        <p:nvGraphicFramePr>
          <p:cNvPr id="21" name="表格 13">
            <a:extLst>
              <a:ext uri="{FF2B5EF4-FFF2-40B4-BE49-F238E27FC236}">
                <a16:creationId xmlns:a16="http://schemas.microsoft.com/office/drawing/2014/main" id="{0C683F8E-977B-5DEC-9665-BBDBDCDE862C}"/>
              </a:ext>
            </a:extLst>
          </p:cNvPr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081695208"/>
              </p:ext>
            </p:extLst>
          </p:nvPr>
        </p:nvGraphicFramePr>
        <p:xfrm>
          <a:off x="1240255" y="2476339"/>
          <a:ext cx="3566637" cy="198120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2055015">
                  <a:extLst>
                    <a:ext uri="{9D8B030D-6E8A-4147-A177-3AD203B41FA5}">
                      <a16:colId xmlns:a16="http://schemas.microsoft.com/office/drawing/2014/main" val="299152187"/>
                    </a:ext>
                  </a:extLst>
                </a:gridCol>
                <a:gridCol w="1511622">
                  <a:extLst>
                    <a:ext uri="{9D8B030D-6E8A-4147-A177-3AD203B41FA5}">
                      <a16:colId xmlns:a16="http://schemas.microsoft.com/office/drawing/2014/main" val="626042458"/>
                    </a:ext>
                  </a:extLst>
                </a:gridCol>
              </a:tblGrid>
              <a:tr h="207433">
                <a:tc>
                  <a:txBody>
                    <a:bodyPr/>
                    <a:lstStyle/>
                    <a:p>
                      <a:r>
                        <a:rPr lang="en-US" altLang="zh-TW" sz="2000" dirty="0">
                          <a:solidFill>
                            <a:schemeClr val="tx1"/>
                          </a:solidFill>
                        </a:rPr>
                        <a:t>Word</a:t>
                      </a:r>
                      <a:endParaRPr lang="zh-TW" altLang="en-US" sz="2000" dirty="0">
                        <a:solidFill>
                          <a:schemeClr val="tx1"/>
                        </a:solidFill>
                      </a:endParaRPr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r>
                        <a:rPr lang="en-US" altLang="zh-TW" sz="2000" dirty="0">
                          <a:solidFill>
                            <a:schemeClr val="tx1"/>
                          </a:solidFill>
                        </a:rPr>
                        <a:t>Frequency</a:t>
                      </a:r>
                      <a:endParaRPr lang="zh-TW" altLang="en-US" sz="2000" dirty="0">
                        <a:solidFill>
                          <a:schemeClr val="tx1"/>
                        </a:solidFill>
                      </a:endParaRPr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592410158"/>
                  </a:ext>
                </a:extLst>
              </a:tr>
              <a:tr h="302338">
                <a:tc>
                  <a:txBody>
                    <a:bodyPr/>
                    <a:lstStyle/>
                    <a:p>
                      <a:r>
                        <a:rPr lang="en-US" altLang="zh-TW" sz="2000" dirty="0">
                          <a:solidFill>
                            <a:schemeClr val="tx1"/>
                          </a:solidFill>
                        </a:rPr>
                        <a:t>l o w </a:t>
                      </a:r>
                      <a:r>
                        <a:rPr lang="en-US" altLang="zh-TW" sz="2000" dirty="0">
                          <a:solidFill>
                            <a:srgbClr val="0070C0"/>
                          </a:solidFill>
                        </a:rPr>
                        <a:t>&lt;/w&gt;</a:t>
                      </a:r>
                      <a:endParaRPr lang="zh-TW" altLang="en-US" sz="2000" dirty="0">
                        <a:solidFill>
                          <a:srgbClr val="0070C0"/>
                        </a:solidFill>
                      </a:endParaRPr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r>
                        <a:rPr lang="en-US" altLang="zh-TW" sz="2000" dirty="0">
                          <a:solidFill>
                            <a:schemeClr val="tx1"/>
                          </a:solidFill>
                        </a:rPr>
                        <a:t>5</a:t>
                      </a:r>
                      <a:endParaRPr lang="zh-TW" altLang="en-US" sz="2000" dirty="0">
                        <a:solidFill>
                          <a:schemeClr val="tx1"/>
                        </a:solidFill>
                      </a:endParaRPr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3786072698"/>
                  </a:ext>
                </a:extLst>
              </a:tr>
              <a:tr h="207433">
                <a:tc>
                  <a:txBody>
                    <a:bodyPr/>
                    <a:lstStyle/>
                    <a:p>
                      <a:r>
                        <a:rPr lang="en-US" altLang="zh-TW" sz="2000" dirty="0">
                          <a:solidFill>
                            <a:schemeClr val="tx1"/>
                          </a:solidFill>
                        </a:rPr>
                        <a:t>l o w e r </a:t>
                      </a:r>
                      <a:r>
                        <a:rPr lang="en-US" altLang="zh-TW" sz="2000" dirty="0">
                          <a:solidFill>
                            <a:srgbClr val="0070C0"/>
                          </a:solidFill>
                        </a:rPr>
                        <a:t>&lt;/w&gt;</a:t>
                      </a:r>
                      <a:endParaRPr lang="zh-TW" altLang="en-US" sz="2000" dirty="0">
                        <a:solidFill>
                          <a:schemeClr val="tx1"/>
                        </a:solidFill>
                      </a:endParaRPr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r>
                        <a:rPr lang="en-US" altLang="zh-TW" sz="2000" dirty="0">
                          <a:solidFill>
                            <a:schemeClr val="tx1"/>
                          </a:solidFill>
                        </a:rPr>
                        <a:t>2</a:t>
                      </a:r>
                      <a:endParaRPr lang="zh-TW" altLang="en-US" sz="2000" dirty="0">
                        <a:solidFill>
                          <a:schemeClr val="tx1"/>
                        </a:solidFill>
                      </a:endParaRPr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140167199"/>
                  </a:ext>
                </a:extLst>
              </a:tr>
              <a:tr h="207433">
                <a:tc>
                  <a:txBody>
                    <a:bodyPr/>
                    <a:lstStyle/>
                    <a:p>
                      <a:r>
                        <a:rPr lang="en-US" altLang="zh-TW" sz="2000" b="0" dirty="0">
                          <a:solidFill>
                            <a:schemeClr val="tx1"/>
                          </a:solidFill>
                        </a:rPr>
                        <a:t>n e w </a:t>
                      </a:r>
                      <a:r>
                        <a:rPr lang="en-US" altLang="zh-TW" sz="2000" b="0" dirty="0" err="1">
                          <a:solidFill>
                            <a:schemeClr val="tx1"/>
                          </a:solidFill>
                        </a:rPr>
                        <a:t>est</a:t>
                      </a:r>
                      <a:r>
                        <a:rPr lang="en-US" altLang="zh-TW" sz="2000" b="0" dirty="0">
                          <a:solidFill>
                            <a:schemeClr val="tx1"/>
                          </a:solidFill>
                        </a:rPr>
                        <a:t>&lt;/w&gt;</a:t>
                      </a:r>
                      <a:endParaRPr lang="zh-TW" altLang="en-US" sz="2000" b="0" dirty="0">
                        <a:solidFill>
                          <a:schemeClr val="tx1"/>
                        </a:solidFill>
                      </a:endParaRPr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r>
                        <a:rPr lang="en-US" altLang="zh-TW" sz="2000" dirty="0">
                          <a:solidFill>
                            <a:schemeClr val="tx1"/>
                          </a:solidFill>
                        </a:rPr>
                        <a:t>6</a:t>
                      </a:r>
                      <a:endParaRPr lang="zh-TW" altLang="en-US" sz="2000" dirty="0">
                        <a:solidFill>
                          <a:schemeClr val="tx1"/>
                        </a:solidFill>
                      </a:endParaRPr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3608810822"/>
                  </a:ext>
                </a:extLst>
              </a:tr>
              <a:tr h="184072">
                <a:tc>
                  <a:txBody>
                    <a:bodyPr/>
                    <a:lstStyle/>
                    <a:p>
                      <a:r>
                        <a:rPr lang="en-US" altLang="zh-TW" sz="2000" b="0" dirty="0">
                          <a:solidFill>
                            <a:schemeClr val="tx1"/>
                          </a:solidFill>
                        </a:rPr>
                        <a:t>w </a:t>
                      </a:r>
                      <a:r>
                        <a:rPr lang="en-US" altLang="zh-TW" sz="2000" b="0" dirty="0" err="1">
                          <a:solidFill>
                            <a:schemeClr val="tx1"/>
                          </a:solidFill>
                        </a:rPr>
                        <a:t>i</a:t>
                      </a:r>
                      <a:r>
                        <a:rPr lang="en-US" altLang="zh-TW" sz="2000" b="0" dirty="0">
                          <a:solidFill>
                            <a:schemeClr val="tx1"/>
                          </a:solidFill>
                        </a:rPr>
                        <a:t> d </a:t>
                      </a:r>
                      <a:r>
                        <a:rPr lang="en-US" altLang="zh-TW" sz="2000" b="0" dirty="0" err="1">
                          <a:solidFill>
                            <a:schemeClr val="tx1"/>
                          </a:solidFill>
                        </a:rPr>
                        <a:t>est</a:t>
                      </a:r>
                      <a:r>
                        <a:rPr lang="en-US" altLang="zh-TW" sz="2000" b="0" dirty="0">
                          <a:solidFill>
                            <a:schemeClr val="tx1"/>
                          </a:solidFill>
                        </a:rPr>
                        <a:t>&lt;/w&gt;</a:t>
                      </a:r>
                      <a:endParaRPr lang="zh-TW" altLang="en-US" sz="2000" b="0" dirty="0">
                        <a:solidFill>
                          <a:schemeClr val="tx1"/>
                        </a:solidFill>
                      </a:endParaRPr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r>
                        <a:rPr lang="en-US" altLang="zh-TW" sz="2000" dirty="0">
                          <a:solidFill>
                            <a:schemeClr val="tx1"/>
                          </a:solidFill>
                        </a:rPr>
                        <a:t>3</a:t>
                      </a:r>
                      <a:endParaRPr lang="zh-TW" altLang="en-US" sz="2000" dirty="0">
                        <a:solidFill>
                          <a:schemeClr val="tx1"/>
                        </a:solidFill>
                      </a:endParaRPr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3613135537"/>
                  </a:ext>
                </a:extLst>
              </a:tr>
            </a:tbl>
          </a:graphicData>
        </a:graphic>
      </p:graphicFrame>
    </p:spTree>
    <p:extLst>
      <p:ext uri="{BB962C8B-B14F-4D97-AF65-F5344CB8AC3E}">
        <p14:creationId xmlns:p14="http://schemas.microsoft.com/office/powerpoint/2010/main" val="2492894698"/>
      </p:ext>
    </p:extLst>
  </p:cSld>
  <p:clrMapOvr>
    <a:masterClrMapping/>
  </p:clrMapOvr>
</p:sld>
</file>

<file path=ppt/slides/slide2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" name="投影片編號版面配置區 4">
            <a:extLst>
              <a:ext uri="{FF2B5EF4-FFF2-40B4-BE49-F238E27FC236}">
                <a16:creationId xmlns:a16="http://schemas.microsoft.com/office/drawing/2014/main" id="{80B6B308-E528-1567-412F-2BF52CB92E39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6113E31D-E2AB-40D1-8B51-AFA5AFEF393A}" type="slidenum">
              <a:rPr lang="en-US" dirty="0"/>
              <a:t>29</a:t>
            </a:fld>
            <a:endParaRPr lang="zh-TW" altLang="en-US"/>
          </a:p>
        </p:txBody>
      </p:sp>
      <p:cxnSp>
        <p:nvCxnSpPr>
          <p:cNvPr id="4" name="肘形接點 3">
            <a:extLst>
              <a:ext uri="{FF2B5EF4-FFF2-40B4-BE49-F238E27FC236}">
                <a16:creationId xmlns:a16="http://schemas.microsoft.com/office/drawing/2014/main" id="{4B6034F0-F9D2-3E93-5BF5-F403FC61315D}"/>
              </a:ext>
            </a:extLst>
          </p:cNvPr>
          <p:cNvCxnSpPr>
            <a:cxnSpLocks/>
          </p:cNvCxnSpPr>
          <p:nvPr/>
        </p:nvCxnSpPr>
        <p:spPr>
          <a:xfrm>
            <a:off x="4877879" y="3259947"/>
            <a:ext cx="5417257" cy="2032412"/>
          </a:xfrm>
          <a:prstGeom prst="bentConnector2">
            <a:avLst/>
          </a:prstGeom>
          <a:ln w="28575">
            <a:solidFill>
              <a:srgbClr val="FF0000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10" name="矩形 9">
            <a:extLst>
              <a:ext uri="{FF2B5EF4-FFF2-40B4-BE49-F238E27FC236}">
                <a16:creationId xmlns:a16="http://schemas.microsoft.com/office/drawing/2014/main" id="{070026F4-8E4A-17F0-FACD-A2A8AA772809}"/>
              </a:ext>
            </a:extLst>
          </p:cNvPr>
          <p:cNvSpPr/>
          <p:nvPr/>
        </p:nvSpPr>
        <p:spPr>
          <a:xfrm>
            <a:off x="8282940" y="533680"/>
            <a:ext cx="2811780" cy="717629"/>
          </a:xfrm>
          <a:prstGeom prst="rect">
            <a:avLst/>
          </a:prstGeom>
          <a:noFill/>
          <a:ln w="28575">
            <a:solidFill>
              <a:srgbClr val="00B050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kumimoji="1" lang="en-US" altLang="zh-TW" sz="1600" dirty="0">
                <a:solidFill>
                  <a:srgbClr val="00B050"/>
                </a:solidFill>
              </a:rPr>
              <a:t>Repeated (2)-(4)</a:t>
            </a:r>
          </a:p>
          <a:p>
            <a:pPr algn="ctr"/>
            <a:r>
              <a:rPr kumimoji="1" lang="en-US" altLang="zh-TW" sz="1600" dirty="0">
                <a:solidFill>
                  <a:srgbClr val="00B050"/>
                </a:solidFill>
              </a:rPr>
              <a:t>according to `</a:t>
            </a:r>
            <a:r>
              <a:rPr kumimoji="1" lang="en-US" altLang="zh-TW" sz="1600" dirty="0" err="1">
                <a:solidFill>
                  <a:srgbClr val="00B050"/>
                </a:solidFill>
              </a:rPr>
              <a:t>num_merges</a:t>
            </a:r>
            <a:r>
              <a:rPr kumimoji="1" lang="en-US" altLang="zh-TW" sz="1600" dirty="0">
                <a:solidFill>
                  <a:srgbClr val="00B050"/>
                </a:solidFill>
              </a:rPr>
              <a:t>`</a:t>
            </a:r>
            <a:endParaRPr kumimoji="1" lang="zh-TW" altLang="en-US" sz="1600" dirty="0">
              <a:solidFill>
                <a:srgbClr val="00B050"/>
              </a:solidFill>
            </a:endParaRPr>
          </a:p>
        </p:txBody>
      </p:sp>
      <p:sp>
        <p:nvSpPr>
          <p:cNvPr id="16" name="標題 1">
            <a:extLst>
              <a:ext uri="{FF2B5EF4-FFF2-40B4-BE49-F238E27FC236}">
                <a16:creationId xmlns:a16="http://schemas.microsoft.com/office/drawing/2014/main" id="{1A9CEFCA-D0A0-9992-E06C-66261E10DEC0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705400" y="356088"/>
            <a:ext cx="10058400" cy="1033416"/>
          </a:xfrm>
        </p:spPr>
        <p:txBody>
          <a:bodyPr/>
          <a:lstStyle/>
          <a:p>
            <a:r>
              <a:rPr lang="en-US" altLang="zh-TW" dirty="0">
                <a:ea typeface="新細明體"/>
                <a:cs typeface="Calibri Light"/>
              </a:rPr>
              <a:t>Sub-word Tokenization (3)</a:t>
            </a:r>
            <a:endParaRPr lang="zh-TW" altLang="en-US" sz="2400" dirty="0">
              <a:ea typeface="新細明體"/>
              <a:cs typeface="Calibri Light"/>
            </a:endParaRPr>
          </a:p>
        </p:txBody>
      </p:sp>
      <p:sp>
        <p:nvSpPr>
          <p:cNvPr id="17" name="矩形 16">
            <a:extLst>
              <a:ext uri="{FF2B5EF4-FFF2-40B4-BE49-F238E27FC236}">
                <a16:creationId xmlns:a16="http://schemas.microsoft.com/office/drawing/2014/main" id="{99C011C2-F753-2867-EFC8-92B2FCEF8FB3}"/>
              </a:ext>
            </a:extLst>
          </p:cNvPr>
          <p:cNvSpPr/>
          <p:nvPr/>
        </p:nvSpPr>
        <p:spPr>
          <a:xfrm>
            <a:off x="1311242" y="2921065"/>
            <a:ext cx="311818" cy="294516"/>
          </a:xfrm>
          <a:prstGeom prst="rect">
            <a:avLst/>
          </a:prstGeom>
          <a:noFill/>
          <a:ln w="19050">
            <a:solidFill>
              <a:srgbClr val="FF0000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kumimoji="1" lang="zh-TW" altLang="en-US"/>
          </a:p>
        </p:txBody>
      </p:sp>
      <p:sp>
        <p:nvSpPr>
          <p:cNvPr id="18" name="矩形 17">
            <a:extLst>
              <a:ext uri="{FF2B5EF4-FFF2-40B4-BE49-F238E27FC236}">
                <a16:creationId xmlns:a16="http://schemas.microsoft.com/office/drawing/2014/main" id="{95105C65-BFE4-B815-6F0D-B759AE211A4E}"/>
              </a:ext>
            </a:extLst>
          </p:cNvPr>
          <p:cNvSpPr/>
          <p:nvPr/>
        </p:nvSpPr>
        <p:spPr>
          <a:xfrm>
            <a:off x="1311242" y="3312667"/>
            <a:ext cx="311818" cy="294516"/>
          </a:xfrm>
          <a:prstGeom prst="rect">
            <a:avLst/>
          </a:prstGeom>
          <a:noFill/>
          <a:ln w="19050">
            <a:solidFill>
              <a:srgbClr val="FF0000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kumimoji="1" lang="zh-TW" altLang="en-US"/>
          </a:p>
        </p:txBody>
      </p:sp>
      <p:sp>
        <p:nvSpPr>
          <p:cNvPr id="19" name="文字方塊 18">
            <a:extLst>
              <a:ext uri="{FF2B5EF4-FFF2-40B4-BE49-F238E27FC236}">
                <a16:creationId xmlns:a16="http://schemas.microsoft.com/office/drawing/2014/main" id="{39C0B60E-CDBB-33B1-A634-479E8368EBF0}"/>
              </a:ext>
            </a:extLst>
          </p:cNvPr>
          <p:cNvSpPr txBox="1"/>
          <p:nvPr/>
        </p:nvSpPr>
        <p:spPr>
          <a:xfrm>
            <a:off x="1224010" y="5281239"/>
            <a:ext cx="9676361" cy="46166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kumimoji="1" lang="en-US" altLang="zh-TW" sz="2400" dirty="0"/>
              <a:t>Current Vocabulary: </a:t>
            </a:r>
            <a:r>
              <a:rPr kumimoji="1" lang="en-US" altLang="zh-TW" sz="2400" dirty="0">
                <a:solidFill>
                  <a:srgbClr val="0070C0"/>
                </a:solidFill>
              </a:rPr>
              <a:t>&lt;/w&gt;</a:t>
            </a:r>
            <a:r>
              <a:rPr kumimoji="1" lang="en-US" altLang="zh-TW" sz="2400" dirty="0"/>
              <a:t>, d, e, </a:t>
            </a:r>
            <a:r>
              <a:rPr kumimoji="1" lang="en-US" altLang="zh-TW" sz="2400" dirty="0" err="1"/>
              <a:t>i</a:t>
            </a:r>
            <a:r>
              <a:rPr kumimoji="1" lang="en-US" altLang="zh-TW" sz="2400" dirty="0"/>
              <a:t>, l, n, o, r, s, t, w, es, </a:t>
            </a:r>
            <a:r>
              <a:rPr kumimoji="1" lang="en-US" altLang="zh-TW" sz="2400" dirty="0" err="1"/>
              <a:t>est</a:t>
            </a:r>
            <a:r>
              <a:rPr kumimoji="1" lang="en-US" altLang="zh-TW" sz="2400" dirty="0"/>
              <a:t>, </a:t>
            </a:r>
            <a:r>
              <a:rPr kumimoji="1" lang="en-US" altLang="zh-TW" sz="2400" dirty="0" err="1"/>
              <a:t>est</a:t>
            </a:r>
            <a:r>
              <a:rPr kumimoji="1" lang="en-US" altLang="zh-TW" sz="2400" dirty="0"/>
              <a:t>&lt;/w&gt;, </a:t>
            </a:r>
            <a:r>
              <a:rPr kumimoji="1" lang="en-US" altLang="zh-TW" sz="2400" dirty="0">
                <a:solidFill>
                  <a:srgbClr val="FF0000"/>
                </a:solidFill>
              </a:rPr>
              <a:t>lo</a:t>
            </a:r>
            <a:endParaRPr kumimoji="1" lang="zh-TW" altLang="en-US" sz="2400" dirty="0">
              <a:solidFill>
                <a:srgbClr val="FF0000"/>
              </a:solidFill>
            </a:endParaRPr>
          </a:p>
        </p:txBody>
      </p:sp>
      <p:cxnSp>
        <p:nvCxnSpPr>
          <p:cNvPr id="20" name="直線接點 19">
            <a:extLst>
              <a:ext uri="{FF2B5EF4-FFF2-40B4-BE49-F238E27FC236}">
                <a16:creationId xmlns:a16="http://schemas.microsoft.com/office/drawing/2014/main" id="{D314A96E-4054-A65B-9851-684F94AF7AB3}"/>
              </a:ext>
            </a:extLst>
          </p:cNvPr>
          <p:cNvCxnSpPr/>
          <p:nvPr/>
        </p:nvCxnSpPr>
        <p:spPr>
          <a:xfrm>
            <a:off x="1097280" y="4781725"/>
            <a:ext cx="10058400" cy="0"/>
          </a:xfrm>
          <a:prstGeom prst="line">
            <a:avLst/>
          </a:prstGeom>
          <a:ln w="28575">
            <a:solidFill>
              <a:srgbClr val="FF0000"/>
            </a:solidFill>
            <a:prstDash val="dash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graphicFrame>
        <p:nvGraphicFramePr>
          <p:cNvPr id="21" name="表格 13">
            <a:extLst>
              <a:ext uri="{FF2B5EF4-FFF2-40B4-BE49-F238E27FC236}">
                <a16:creationId xmlns:a16="http://schemas.microsoft.com/office/drawing/2014/main" id="{EF590B33-5D16-813D-6BCD-8160CAD82339}"/>
              </a:ext>
            </a:extLst>
          </p:cNvPr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3623323"/>
              </p:ext>
            </p:extLst>
          </p:nvPr>
        </p:nvGraphicFramePr>
        <p:xfrm>
          <a:off x="1240255" y="2476339"/>
          <a:ext cx="3566637" cy="198120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2055015">
                  <a:extLst>
                    <a:ext uri="{9D8B030D-6E8A-4147-A177-3AD203B41FA5}">
                      <a16:colId xmlns:a16="http://schemas.microsoft.com/office/drawing/2014/main" val="299152187"/>
                    </a:ext>
                  </a:extLst>
                </a:gridCol>
                <a:gridCol w="1511622">
                  <a:extLst>
                    <a:ext uri="{9D8B030D-6E8A-4147-A177-3AD203B41FA5}">
                      <a16:colId xmlns:a16="http://schemas.microsoft.com/office/drawing/2014/main" val="626042458"/>
                    </a:ext>
                  </a:extLst>
                </a:gridCol>
              </a:tblGrid>
              <a:tr h="207433">
                <a:tc>
                  <a:txBody>
                    <a:bodyPr/>
                    <a:lstStyle/>
                    <a:p>
                      <a:r>
                        <a:rPr lang="en-US" altLang="zh-TW" sz="2000" dirty="0">
                          <a:solidFill>
                            <a:schemeClr val="tx1"/>
                          </a:solidFill>
                        </a:rPr>
                        <a:t>Word</a:t>
                      </a:r>
                      <a:endParaRPr lang="zh-TW" altLang="en-US" sz="2000" dirty="0">
                        <a:solidFill>
                          <a:schemeClr val="tx1"/>
                        </a:solidFill>
                      </a:endParaRPr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r>
                        <a:rPr lang="en-US" altLang="zh-TW" sz="2000" dirty="0">
                          <a:solidFill>
                            <a:schemeClr val="tx1"/>
                          </a:solidFill>
                        </a:rPr>
                        <a:t>Frequency</a:t>
                      </a:r>
                      <a:endParaRPr lang="zh-TW" altLang="en-US" sz="2000" dirty="0">
                        <a:solidFill>
                          <a:schemeClr val="tx1"/>
                        </a:solidFill>
                      </a:endParaRPr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592410158"/>
                  </a:ext>
                </a:extLst>
              </a:tr>
              <a:tr h="302338">
                <a:tc>
                  <a:txBody>
                    <a:bodyPr/>
                    <a:lstStyle/>
                    <a:p>
                      <a:r>
                        <a:rPr lang="en-US" altLang="zh-TW" sz="2000" dirty="0">
                          <a:solidFill>
                            <a:schemeClr val="tx1"/>
                          </a:solidFill>
                        </a:rPr>
                        <a:t>l o w </a:t>
                      </a:r>
                      <a:r>
                        <a:rPr lang="en-US" altLang="zh-TW" sz="2000" dirty="0">
                          <a:solidFill>
                            <a:srgbClr val="0070C0"/>
                          </a:solidFill>
                        </a:rPr>
                        <a:t>&lt;/w&gt;</a:t>
                      </a:r>
                      <a:endParaRPr lang="zh-TW" altLang="en-US" sz="2000" dirty="0">
                        <a:solidFill>
                          <a:srgbClr val="0070C0"/>
                        </a:solidFill>
                      </a:endParaRPr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r>
                        <a:rPr lang="en-US" altLang="zh-TW" sz="2000" dirty="0">
                          <a:solidFill>
                            <a:schemeClr val="tx1"/>
                          </a:solidFill>
                        </a:rPr>
                        <a:t>5</a:t>
                      </a:r>
                      <a:endParaRPr lang="zh-TW" altLang="en-US" sz="2000" dirty="0">
                        <a:solidFill>
                          <a:schemeClr val="tx1"/>
                        </a:solidFill>
                      </a:endParaRPr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3786072698"/>
                  </a:ext>
                </a:extLst>
              </a:tr>
              <a:tr h="207433">
                <a:tc>
                  <a:txBody>
                    <a:bodyPr/>
                    <a:lstStyle/>
                    <a:p>
                      <a:r>
                        <a:rPr lang="en-US" altLang="zh-TW" sz="2000" dirty="0">
                          <a:solidFill>
                            <a:schemeClr val="tx1"/>
                          </a:solidFill>
                        </a:rPr>
                        <a:t>l o w e r </a:t>
                      </a:r>
                      <a:r>
                        <a:rPr lang="en-US" altLang="zh-TW" sz="2000" dirty="0">
                          <a:solidFill>
                            <a:srgbClr val="0070C0"/>
                          </a:solidFill>
                        </a:rPr>
                        <a:t>&lt;/w&gt;</a:t>
                      </a:r>
                      <a:endParaRPr lang="zh-TW" altLang="en-US" sz="2000" dirty="0">
                        <a:solidFill>
                          <a:schemeClr val="tx1"/>
                        </a:solidFill>
                      </a:endParaRPr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r>
                        <a:rPr lang="en-US" altLang="zh-TW" sz="2000" dirty="0">
                          <a:solidFill>
                            <a:schemeClr val="tx1"/>
                          </a:solidFill>
                        </a:rPr>
                        <a:t>2</a:t>
                      </a:r>
                      <a:endParaRPr lang="zh-TW" altLang="en-US" sz="2000" dirty="0">
                        <a:solidFill>
                          <a:schemeClr val="tx1"/>
                        </a:solidFill>
                      </a:endParaRPr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140167199"/>
                  </a:ext>
                </a:extLst>
              </a:tr>
              <a:tr h="207433">
                <a:tc>
                  <a:txBody>
                    <a:bodyPr/>
                    <a:lstStyle/>
                    <a:p>
                      <a:r>
                        <a:rPr lang="en-US" altLang="zh-TW" sz="2000" b="0" dirty="0">
                          <a:solidFill>
                            <a:schemeClr val="tx1"/>
                          </a:solidFill>
                        </a:rPr>
                        <a:t>n e w </a:t>
                      </a:r>
                      <a:r>
                        <a:rPr lang="en-US" altLang="zh-TW" sz="2000" b="0" dirty="0" err="1">
                          <a:solidFill>
                            <a:schemeClr val="tx1"/>
                          </a:solidFill>
                        </a:rPr>
                        <a:t>est</a:t>
                      </a:r>
                      <a:r>
                        <a:rPr lang="en-US" altLang="zh-TW" sz="2000" b="0" dirty="0">
                          <a:solidFill>
                            <a:schemeClr val="tx1"/>
                          </a:solidFill>
                        </a:rPr>
                        <a:t>&lt;/w&gt;</a:t>
                      </a:r>
                      <a:endParaRPr lang="zh-TW" altLang="en-US" sz="2000" b="0" dirty="0">
                        <a:solidFill>
                          <a:schemeClr val="tx1"/>
                        </a:solidFill>
                      </a:endParaRPr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r>
                        <a:rPr lang="en-US" altLang="zh-TW" sz="2000" dirty="0">
                          <a:solidFill>
                            <a:schemeClr val="tx1"/>
                          </a:solidFill>
                        </a:rPr>
                        <a:t>6</a:t>
                      </a:r>
                      <a:endParaRPr lang="zh-TW" altLang="en-US" sz="2000" dirty="0">
                        <a:solidFill>
                          <a:schemeClr val="tx1"/>
                        </a:solidFill>
                      </a:endParaRPr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3608810822"/>
                  </a:ext>
                </a:extLst>
              </a:tr>
              <a:tr h="184072">
                <a:tc>
                  <a:txBody>
                    <a:bodyPr/>
                    <a:lstStyle/>
                    <a:p>
                      <a:r>
                        <a:rPr lang="en-US" altLang="zh-TW" sz="2000" b="0" dirty="0">
                          <a:solidFill>
                            <a:schemeClr val="tx1"/>
                          </a:solidFill>
                        </a:rPr>
                        <a:t>w </a:t>
                      </a:r>
                      <a:r>
                        <a:rPr lang="en-US" altLang="zh-TW" sz="2000" b="0" dirty="0" err="1">
                          <a:solidFill>
                            <a:schemeClr val="tx1"/>
                          </a:solidFill>
                        </a:rPr>
                        <a:t>i</a:t>
                      </a:r>
                      <a:r>
                        <a:rPr lang="en-US" altLang="zh-TW" sz="2000" b="0" dirty="0">
                          <a:solidFill>
                            <a:schemeClr val="tx1"/>
                          </a:solidFill>
                        </a:rPr>
                        <a:t> d </a:t>
                      </a:r>
                      <a:r>
                        <a:rPr lang="en-US" altLang="zh-TW" sz="2000" b="0" dirty="0" err="1">
                          <a:solidFill>
                            <a:schemeClr val="tx1"/>
                          </a:solidFill>
                        </a:rPr>
                        <a:t>est</a:t>
                      </a:r>
                      <a:r>
                        <a:rPr lang="en-US" altLang="zh-TW" sz="2000" b="0" dirty="0">
                          <a:solidFill>
                            <a:schemeClr val="tx1"/>
                          </a:solidFill>
                        </a:rPr>
                        <a:t>&lt;/w&gt;</a:t>
                      </a:r>
                      <a:endParaRPr lang="zh-TW" altLang="en-US" sz="2000" b="0" dirty="0">
                        <a:solidFill>
                          <a:schemeClr val="tx1"/>
                        </a:solidFill>
                      </a:endParaRPr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r>
                        <a:rPr lang="en-US" altLang="zh-TW" sz="2000" dirty="0">
                          <a:solidFill>
                            <a:schemeClr val="tx1"/>
                          </a:solidFill>
                        </a:rPr>
                        <a:t>3</a:t>
                      </a:r>
                      <a:endParaRPr lang="zh-TW" altLang="en-US" sz="2000" dirty="0">
                        <a:solidFill>
                          <a:schemeClr val="tx1"/>
                        </a:solidFill>
                      </a:endParaRPr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3613135537"/>
                  </a:ext>
                </a:extLst>
              </a:tr>
            </a:tbl>
          </a:graphicData>
        </a:graphic>
      </p:graphicFrame>
      <p:sp>
        <p:nvSpPr>
          <p:cNvPr id="29" name="內容版面配置區 2">
            <a:extLst>
              <a:ext uri="{FF2B5EF4-FFF2-40B4-BE49-F238E27FC236}">
                <a16:creationId xmlns:a16="http://schemas.microsoft.com/office/drawing/2014/main" id="{C30B09EF-4B99-3AE9-C5D2-BB99F55C2D20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705400" y="1386267"/>
            <a:ext cx="10058400" cy="840316"/>
          </a:xfrm>
        </p:spPr>
        <p:txBody>
          <a:bodyPr>
            <a:normAutofit/>
          </a:bodyPr>
          <a:lstStyle/>
          <a:p>
            <a:pPr>
              <a:lnSpc>
                <a:spcPct val="150000"/>
              </a:lnSpc>
              <a:buClr>
                <a:schemeClr val="tx1"/>
              </a:buClr>
              <a:buSzPct val="75000"/>
              <a:buFont typeface="Arial" panose="020B0604020202020204" pitchFamily="34" charset="0"/>
              <a:buChar char="•"/>
            </a:pPr>
            <a:r>
              <a:rPr kumimoji="1" lang="en-US" altLang="zh-TW" sz="2600" dirty="0"/>
              <a:t> Add the pair with the highest frequency to the vocab</a:t>
            </a:r>
          </a:p>
        </p:txBody>
      </p:sp>
    </p:spTree>
    <p:extLst>
      <p:ext uri="{BB962C8B-B14F-4D97-AF65-F5344CB8AC3E}">
        <p14:creationId xmlns:p14="http://schemas.microsoft.com/office/powerpoint/2010/main" val="1585408691"/>
      </p:ext>
    </p:extLst>
  </p:cSld>
  <p:clrMapOvr>
    <a:masterClrMapping/>
  </p:clrMapOvr>
</p:sld>
</file>

<file path=ppt/slides/slide3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" name="投影片編號版面配置區 4">
            <a:extLst>
              <a:ext uri="{FF2B5EF4-FFF2-40B4-BE49-F238E27FC236}">
                <a16:creationId xmlns:a16="http://schemas.microsoft.com/office/drawing/2014/main" id="{80B6B308-E528-1567-412F-2BF52CB92E39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6113E31D-E2AB-40D1-8B51-AFA5AFEF393A}" type="slidenum">
              <a:rPr lang="en-US" dirty="0"/>
              <a:t>30</a:t>
            </a:fld>
            <a:endParaRPr lang="zh-TW" altLang="en-US"/>
          </a:p>
        </p:txBody>
      </p:sp>
      <p:sp>
        <p:nvSpPr>
          <p:cNvPr id="11" name="內容版面配置區 2">
            <a:extLst>
              <a:ext uri="{FF2B5EF4-FFF2-40B4-BE49-F238E27FC236}">
                <a16:creationId xmlns:a16="http://schemas.microsoft.com/office/drawing/2014/main" id="{72B7EC78-AE70-CE80-E90A-785982A83242}"/>
              </a:ext>
            </a:extLst>
          </p:cNvPr>
          <p:cNvSpPr txBox="1">
            <a:spLocks/>
          </p:cNvSpPr>
          <p:nvPr/>
        </p:nvSpPr>
        <p:spPr>
          <a:xfrm>
            <a:off x="705400" y="1426297"/>
            <a:ext cx="10450280" cy="1033403"/>
          </a:xfrm>
          <a:prstGeom prst="rect">
            <a:avLst/>
          </a:prstGeom>
        </p:spPr>
        <p:txBody>
          <a:bodyPr vert="horz" lIns="0" tIns="45720" rIns="0" bIns="45720" rtlCol="0">
            <a:noAutofit/>
          </a:bodyPr>
          <a:lstStyle>
            <a:lvl1pPr marL="91440" indent="-91440" algn="l" defTabSz="914400" rtl="0" eaLnBrk="1" latinLnBrk="0" hangingPunct="1">
              <a:lnSpc>
                <a:spcPct val="90000"/>
              </a:lnSpc>
              <a:spcBef>
                <a:spcPts val="1200"/>
              </a:spcBef>
              <a:spcAft>
                <a:spcPts val="200"/>
              </a:spcAft>
              <a:buClr>
                <a:schemeClr val="accent1"/>
              </a:buClr>
              <a:buSzPct val="100000"/>
              <a:buFont typeface="Calibri" panose="020F0502020204030204" pitchFamily="34" charset="0"/>
              <a:buChar char=" "/>
              <a:defRPr sz="2000" kern="1200">
                <a:solidFill>
                  <a:schemeClr val="tx1">
                    <a:lumMod val="75000"/>
                    <a:lumOff val="25000"/>
                  </a:schemeClr>
                </a:solidFill>
                <a:latin typeface="+mn-lt"/>
                <a:ea typeface="+mn-ea"/>
                <a:cs typeface="+mn-cs"/>
              </a:defRPr>
            </a:lvl1pPr>
            <a:lvl2pPr marL="384048" indent="-182880" algn="l" defTabSz="914400" rtl="0" eaLnBrk="1" latinLnBrk="0" hangingPunct="1">
              <a:lnSpc>
                <a:spcPct val="90000"/>
              </a:lnSpc>
              <a:spcBef>
                <a:spcPts val="200"/>
              </a:spcBef>
              <a:spcAft>
                <a:spcPts val="400"/>
              </a:spcAft>
              <a:buClr>
                <a:schemeClr val="accent1"/>
              </a:buClr>
              <a:buFont typeface="Calibri" pitchFamily="34" charset="0"/>
              <a:buChar char="◦"/>
              <a:defRPr sz="1800" kern="1200">
                <a:solidFill>
                  <a:schemeClr val="tx1">
                    <a:lumMod val="75000"/>
                    <a:lumOff val="25000"/>
                  </a:schemeClr>
                </a:solidFill>
                <a:latin typeface="+mn-lt"/>
                <a:ea typeface="+mn-ea"/>
                <a:cs typeface="+mn-cs"/>
              </a:defRPr>
            </a:lvl2pPr>
            <a:lvl3pPr marL="566928" indent="-182880" algn="l" defTabSz="914400" rtl="0" eaLnBrk="1" latinLnBrk="0" hangingPunct="1">
              <a:lnSpc>
                <a:spcPct val="90000"/>
              </a:lnSpc>
              <a:spcBef>
                <a:spcPts val="200"/>
              </a:spcBef>
              <a:spcAft>
                <a:spcPts val="400"/>
              </a:spcAft>
              <a:buClr>
                <a:schemeClr val="accent1"/>
              </a:buClr>
              <a:buFont typeface="Calibri" pitchFamily="34" charset="0"/>
              <a:buChar char="◦"/>
              <a:defRPr sz="1400" kern="1200">
                <a:solidFill>
                  <a:schemeClr val="tx1">
                    <a:lumMod val="75000"/>
                    <a:lumOff val="25000"/>
                  </a:schemeClr>
                </a:solidFill>
                <a:latin typeface="+mn-lt"/>
                <a:ea typeface="+mn-ea"/>
                <a:cs typeface="+mn-cs"/>
              </a:defRPr>
            </a:lvl3pPr>
            <a:lvl4pPr marL="749808" indent="-182880" algn="l" defTabSz="914400" rtl="0" eaLnBrk="1" latinLnBrk="0" hangingPunct="1">
              <a:lnSpc>
                <a:spcPct val="90000"/>
              </a:lnSpc>
              <a:spcBef>
                <a:spcPts val="200"/>
              </a:spcBef>
              <a:spcAft>
                <a:spcPts val="400"/>
              </a:spcAft>
              <a:buClr>
                <a:schemeClr val="accent1"/>
              </a:buClr>
              <a:buFont typeface="Calibri" pitchFamily="34" charset="0"/>
              <a:buChar char="◦"/>
              <a:defRPr sz="1400" kern="1200">
                <a:solidFill>
                  <a:schemeClr val="tx1">
                    <a:lumMod val="75000"/>
                    <a:lumOff val="25000"/>
                  </a:schemeClr>
                </a:solidFill>
                <a:latin typeface="+mn-lt"/>
                <a:ea typeface="+mn-ea"/>
                <a:cs typeface="+mn-cs"/>
              </a:defRPr>
            </a:lvl4pPr>
            <a:lvl5pPr marL="932688" indent="-182880" algn="l" defTabSz="914400" rtl="0" eaLnBrk="1" latinLnBrk="0" hangingPunct="1">
              <a:lnSpc>
                <a:spcPct val="90000"/>
              </a:lnSpc>
              <a:spcBef>
                <a:spcPts val="200"/>
              </a:spcBef>
              <a:spcAft>
                <a:spcPts val="400"/>
              </a:spcAft>
              <a:buClr>
                <a:schemeClr val="accent1"/>
              </a:buClr>
              <a:buFont typeface="Calibri" pitchFamily="34" charset="0"/>
              <a:buChar char="◦"/>
              <a:defRPr sz="1400" kern="1200">
                <a:solidFill>
                  <a:schemeClr val="tx1">
                    <a:lumMod val="75000"/>
                    <a:lumOff val="25000"/>
                  </a:schemeClr>
                </a:solidFill>
                <a:latin typeface="+mn-lt"/>
                <a:ea typeface="+mn-ea"/>
                <a:cs typeface="+mn-cs"/>
              </a:defRPr>
            </a:lvl5pPr>
            <a:lvl6pPr marL="1100000" indent="-228600" algn="l" defTabSz="914400" rtl="0" eaLnBrk="1" latinLnBrk="0" hangingPunct="1">
              <a:lnSpc>
                <a:spcPct val="90000"/>
              </a:lnSpc>
              <a:spcBef>
                <a:spcPts val="200"/>
              </a:spcBef>
              <a:spcAft>
                <a:spcPts val="400"/>
              </a:spcAft>
              <a:buClr>
                <a:schemeClr val="accent1"/>
              </a:buClr>
              <a:buFont typeface="Calibri" pitchFamily="34" charset="0"/>
              <a:buChar char="◦"/>
              <a:defRPr sz="1400" kern="1200">
                <a:solidFill>
                  <a:schemeClr val="tx1">
                    <a:lumMod val="75000"/>
                    <a:lumOff val="25000"/>
                  </a:schemeClr>
                </a:solidFill>
                <a:latin typeface="+mn-lt"/>
                <a:ea typeface="+mn-ea"/>
                <a:cs typeface="+mn-cs"/>
              </a:defRPr>
            </a:lvl6pPr>
            <a:lvl7pPr marL="1300000" indent="-228600" algn="l" defTabSz="914400" rtl="0" eaLnBrk="1" latinLnBrk="0" hangingPunct="1">
              <a:lnSpc>
                <a:spcPct val="90000"/>
              </a:lnSpc>
              <a:spcBef>
                <a:spcPts val="200"/>
              </a:spcBef>
              <a:spcAft>
                <a:spcPts val="400"/>
              </a:spcAft>
              <a:buClr>
                <a:schemeClr val="accent1"/>
              </a:buClr>
              <a:buFont typeface="Calibri" pitchFamily="34" charset="0"/>
              <a:buChar char="◦"/>
              <a:defRPr sz="1400" kern="1200">
                <a:solidFill>
                  <a:schemeClr val="tx1">
                    <a:lumMod val="75000"/>
                    <a:lumOff val="25000"/>
                  </a:schemeClr>
                </a:solidFill>
                <a:latin typeface="+mn-lt"/>
                <a:ea typeface="+mn-ea"/>
                <a:cs typeface="+mn-cs"/>
              </a:defRPr>
            </a:lvl7pPr>
            <a:lvl8pPr marL="1500000" indent="-228600" algn="l" defTabSz="914400" rtl="0" eaLnBrk="1" latinLnBrk="0" hangingPunct="1">
              <a:lnSpc>
                <a:spcPct val="90000"/>
              </a:lnSpc>
              <a:spcBef>
                <a:spcPts val="200"/>
              </a:spcBef>
              <a:spcAft>
                <a:spcPts val="400"/>
              </a:spcAft>
              <a:buClr>
                <a:schemeClr val="accent1"/>
              </a:buClr>
              <a:buFont typeface="Calibri" pitchFamily="34" charset="0"/>
              <a:buChar char="◦"/>
              <a:defRPr sz="1400" kern="1200">
                <a:solidFill>
                  <a:schemeClr val="tx1">
                    <a:lumMod val="75000"/>
                    <a:lumOff val="25000"/>
                  </a:schemeClr>
                </a:solidFill>
                <a:latin typeface="+mn-lt"/>
                <a:ea typeface="+mn-ea"/>
                <a:cs typeface="+mn-cs"/>
              </a:defRPr>
            </a:lvl8pPr>
            <a:lvl9pPr marL="1700000" indent="-228600" algn="l" defTabSz="914400" rtl="0" eaLnBrk="1" latinLnBrk="0" hangingPunct="1">
              <a:lnSpc>
                <a:spcPct val="90000"/>
              </a:lnSpc>
              <a:spcBef>
                <a:spcPts val="200"/>
              </a:spcBef>
              <a:spcAft>
                <a:spcPts val="400"/>
              </a:spcAft>
              <a:buClr>
                <a:schemeClr val="accent1"/>
              </a:buClr>
              <a:buFont typeface="Calibri" pitchFamily="34" charset="0"/>
              <a:buChar char="◦"/>
              <a:defRPr sz="1400" kern="1200">
                <a:solidFill>
                  <a:schemeClr val="tx1">
                    <a:lumMod val="75000"/>
                    <a:lumOff val="25000"/>
                  </a:schemeClr>
                </a:solidFill>
                <a:latin typeface="+mn-lt"/>
                <a:ea typeface="+mn-ea"/>
                <a:cs typeface="+mn-cs"/>
              </a:defRPr>
            </a:lvl9pPr>
          </a:lstStyle>
          <a:p>
            <a:pPr>
              <a:lnSpc>
                <a:spcPct val="100000"/>
              </a:lnSpc>
              <a:buClr>
                <a:schemeClr val="tx1"/>
              </a:buClr>
              <a:buSzPct val="75000"/>
              <a:buFont typeface="Arial" panose="020B0604020202020204" pitchFamily="34" charset="0"/>
              <a:buChar char="•"/>
            </a:pPr>
            <a:r>
              <a:rPr kumimoji="1" lang="en-US" altLang="zh-TW" sz="2600"/>
              <a:t> </a:t>
            </a:r>
            <a:r>
              <a:rPr kumimoji="1" lang="en-US" altLang="zh-TW" sz="2600">
                <a:solidFill>
                  <a:srgbClr val="FF0000"/>
                </a:solidFill>
              </a:rPr>
              <a:t>Merge</a:t>
            </a:r>
            <a:r>
              <a:rPr kumimoji="1" lang="en-US" altLang="zh-TW" sz="2600"/>
              <a:t> the characters by replacing all words in the corpus with </a:t>
            </a:r>
            <a:r>
              <a:rPr kumimoji="1" lang="en-US" altLang="zh-TW" sz="2600">
                <a:solidFill>
                  <a:srgbClr val="FF0000"/>
                </a:solidFill>
              </a:rPr>
              <a:t>the newly added pair</a:t>
            </a:r>
            <a:r>
              <a:rPr kumimoji="1" lang="en-US" altLang="zh-TW" sz="2600">
                <a:solidFill>
                  <a:schemeClr val="tx1"/>
                </a:solidFill>
              </a:rPr>
              <a:t>.</a:t>
            </a:r>
            <a:endParaRPr kumimoji="1" lang="en-US" altLang="zh-TW" sz="2600" dirty="0">
              <a:solidFill>
                <a:schemeClr val="tx1"/>
              </a:solidFill>
            </a:endParaRPr>
          </a:p>
        </p:txBody>
      </p:sp>
      <p:sp>
        <p:nvSpPr>
          <p:cNvPr id="12" name="矩形 11">
            <a:extLst>
              <a:ext uri="{FF2B5EF4-FFF2-40B4-BE49-F238E27FC236}">
                <a16:creationId xmlns:a16="http://schemas.microsoft.com/office/drawing/2014/main" id="{6830D6CE-F9DB-512C-FA63-1D7779F8BE36}"/>
              </a:ext>
            </a:extLst>
          </p:cNvPr>
          <p:cNvSpPr/>
          <p:nvPr/>
        </p:nvSpPr>
        <p:spPr>
          <a:xfrm>
            <a:off x="8282940" y="533680"/>
            <a:ext cx="2811780" cy="717629"/>
          </a:xfrm>
          <a:prstGeom prst="rect">
            <a:avLst/>
          </a:prstGeom>
          <a:noFill/>
          <a:ln w="28575">
            <a:solidFill>
              <a:srgbClr val="00B050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kumimoji="1" lang="en-US" altLang="zh-TW" sz="1600" dirty="0">
                <a:solidFill>
                  <a:srgbClr val="00B050"/>
                </a:solidFill>
              </a:rPr>
              <a:t>Repeated (2)-(4)</a:t>
            </a:r>
          </a:p>
          <a:p>
            <a:pPr algn="ctr"/>
            <a:r>
              <a:rPr kumimoji="1" lang="en-US" altLang="zh-TW" sz="1600" dirty="0">
                <a:solidFill>
                  <a:srgbClr val="00B050"/>
                </a:solidFill>
              </a:rPr>
              <a:t>according to `</a:t>
            </a:r>
            <a:r>
              <a:rPr kumimoji="1" lang="en-US" altLang="zh-TW" sz="1600" dirty="0" err="1">
                <a:solidFill>
                  <a:srgbClr val="00B050"/>
                </a:solidFill>
              </a:rPr>
              <a:t>num_merges</a:t>
            </a:r>
            <a:r>
              <a:rPr kumimoji="1" lang="en-US" altLang="zh-TW" sz="1600" dirty="0">
                <a:solidFill>
                  <a:srgbClr val="00B050"/>
                </a:solidFill>
              </a:rPr>
              <a:t>`</a:t>
            </a:r>
            <a:endParaRPr kumimoji="1" lang="zh-TW" altLang="en-US" sz="1600" dirty="0">
              <a:solidFill>
                <a:srgbClr val="00B050"/>
              </a:solidFill>
            </a:endParaRPr>
          </a:p>
        </p:txBody>
      </p:sp>
      <p:sp>
        <p:nvSpPr>
          <p:cNvPr id="13" name="文字方塊 12">
            <a:extLst>
              <a:ext uri="{FF2B5EF4-FFF2-40B4-BE49-F238E27FC236}">
                <a16:creationId xmlns:a16="http://schemas.microsoft.com/office/drawing/2014/main" id="{17AA0BAA-AA83-E1BE-8ED6-86082B1C7706}"/>
              </a:ext>
            </a:extLst>
          </p:cNvPr>
          <p:cNvSpPr txBox="1"/>
          <p:nvPr/>
        </p:nvSpPr>
        <p:spPr>
          <a:xfrm>
            <a:off x="1224010" y="5281239"/>
            <a:ext cx="9676361" cy="46166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kumimoji="1" lang="en-US" altLang="zh-TW" sz="2400" dirty="0"/>
              <a:t>Current Vocabulary: </a:t>
            </a:r>
            <a:r>
              <a:rPr kumimoji="1" lang="en-US" altLang="zh-TW" sz="2400" dirty="0">
                <a:solidFill>
                  <a:srgbClr val="0070C0"/>
                </a:solidFill>
              </a:rPr>
              <a:t>&lt;/w&gt;</a:t>
            </a:r>
            <a:r>
              <a:rPr kumimoji="1" lang="en-US" altLang="zh-TW" sz="2400" dirty="0"/>
              <a:t>, d, e, </a:t>
            </a:r>
            <a:r>
              <a:rPr kumimoji="1" lang="en-US" altLang="zh-TW" sz="2400" dirty="0" err="1"/>
              <a:t>i</a:t>
            </a:r>
            <a:r>
              <a:rPr kumimoji="1" lang="en-US" altLang="zh-TW" sz="2400" dirty="0"/>
              <a:t>, l, n, o, r, s, t, w, es, </a:t>
            </a:r>
            <a:r>
              <a:rPr kumimoji="1" lang="en-US" altLang="zh-TW" sz="2400" dirty="0" err="1"/>
              <a:t>est</a:t>
            </a:r>
            <a:r>
              <a:rPr kumimoji="1" lang="en-US" altLang="zh-TW" sz="2400" dirty="0"/>
              <a:t>, </a:t>
            </a:r>
            <a:r>
              <a:rPr kumimoji="1" lang="en-US" altLang="zh-TW" sz="2400" dirty="0" err="1"/>
              <a:t>est</a:t>
            </a:r>
            <a:r>
              <a:rPr kumimoji="1" lang="en-US" altLang="zh-TW" sz="2400" dirty="0"/>
              <a:t>&lt;/w&gt;, </a:t>
            </a:r>
            <a:r>
              <a:rPr kumimoji="1" lang="en-US" altLang="zh-TW" sz="2400" dirty="0">
                <a:solidFill>
                  <a:srgbClr val="FF0000"/>
                </a:solidFill>
              </a:rPr>
              <a:t>lo</a:t>
            </a:r>
            <a:endParaRPr kumimoji="1" lang="zh-TW" altLang="en-US" sz="2400" dirty="0">
              <a:solidFill>
                <a:srgbClr val="FF0000"/>
              </a:solidFill>
            </a:endParaRPr>
          </a:p>
        </p:txBody>
      </p:sp>
      <p:cxnSp>
        <p:nvCxnSpPr>
          <p:cNvPr id="14" name="直線接點 13">
            <a:extLst>
              <a:ext uri="{FF2B5EF4-FFF2-40B4-BE49-F238E27FC236}">
                <a16:creationId xmlns:a16="http://schemas.microsoft.com/office/drawing/2014/main" id="{C00858D0-1236-7120-8A39-BF975599B3A3}"/>
              </a:ext>
            </a:extLst>
          </p:cNvPr>
          <p:cNvCxnSpPr/>
          <p:nvPr/>
        </p:nvCxnSpPr>
        <p:spPr>
          <a:xfrm>
            <a:off x="1097280" y="4781725"/>
            <a:ext cx="10058400" cy="0"/>
          </a:xfrm>
          <a:prstGeom prst="line">
            <a:avLst/>
          </a:prstGeom>
          <a:ln w="28575">
            <a:solidFill>
              <a:srgbClr val="FF0000"/>
            </a:solidFill>
            <a:prstDash val="dash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graphicFrame>
        <p:nvGraphicFramePr>
          <p:cNvPr id="15" name="表格 13">
            <a:extLst>
              <a:ext uri="{FF2B5EF4-FFF2-40B4-BE49-F238E27FC236}">
                <a16:creationId xmlns:a16="http://schemas.microsoft.com/office/drawing/2014/main" id="{093E7E62-2DDB-81E8-0371-BA435D439E4B}"/>
              </a:ext>
            </a:extLst>
          </p:cNvPr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816926340"/>
              </p:ext>
            </p:extLst>
          </p:nvPr>
        </p:nvGraphicFramePr>
        <p:xfrm>
          <a:off x="1240255" y="2476339"/>
          <a:ext cx="3566637" cy="198120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2055015">
                  <a:extLst>
                    <a:ext uri="{9D8B030D-6E8A-4147-A177-3AD203B41FA5}">
                      <a16:colId xmlns:a16="http://schemas.microsoft.com/office/drawing/2014/main" val="299152187"/>
                    </a:ext>
                  </a:extLst>
                </a:gridCol>
                <a:gridCol w="1511622">
                  <a:extLst>
                    <a:ext uri="{9D8B030D-6E8A-4147-A177-3AD203B41FA5}">
                      <a16:colId xmlns:a16="http://schemas.microsoft.com/office/drawing/2014/main" val="626042458"/>
                    </a:ext>
                  </a:extLst>
                </a:gridCol>
              </a:tblGrid>
              <a:tr h="207433">
                <a:tc>
                  <a:txBody>
                    <a:bodyPr/>
                    <a:lstStyle/>
                    <a:p>
                      <a:r>
                        <a:rPr lang="en-US" altLang="zh-TW" sz="2000" dirty="0">
                          <a:solidFill>
                            <a:schemeClr val="tx1"/>
                          </a:solidFill>
                        </a:rPr>
                        <a:t>Word</a:t>
                      </a:r>
                      <a:endParaRPr lang="zh-TW" altLang="en-US" sz="2000" dirty="0">
                        <a:solidFill>
                          <a:schemeClr val="tx1"/>
                        </a:solidFill>
                      </a:endParaRPr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r>
                        <a:rPr lang="en-US" altLang="zh-TW" sz="2000" dirty="0">
                          <a:solidFill>
                            <a:schemeClr val="tx1"/>
                          </a:solidFill>
                        </a:rPr>
                        <a:t>Frequency</a:t>
                      </a:r>
                      <a:endParaRPr lang="zh-TW" altLang="en-US" sz="2000" dirty="0">
                        <a:solidFill>
                          <a:schemeClr val="tx1"/>
                        </a:solidFill>
                      </a:endParaRPr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592410158"/>
                  </a:ext>
                </a:extLst>
              </a:tr>
              <a:tr h="302338">
                <a:tc>
                  <a:txBody>
                    <a:bodyPr/>
                    <a:lstStyle/>
                    <a:p>
                      <a:r>
                        <a:rPr lang="en-US" altLang="zh-TW" sz="2000" b="1" dirty="0">
                          <a:solidFill>
                            <a:srgbClr val="FF0000"/>
                          </a:solidFill>
                        </a:rPr>
                        <a:t>lo</a:t>
                      </a:r>
                      <a:r>
                        <a:rPr lang="en-US" altLang="zh-TW" sz="2000" dirty="0">
                          <a:solidFill>
                            <a:schemeClr val="tx1"/>
                          </a:solidFill>
                        </a:rPr>
                        <a:t> w </a:t>
                      </a:r>
                      <a:r>
                        <a:rPr lang="en-US" altLang="zh-TW" sz="2000" dirty="0">
                          <a:solidFill>
                            <a:srgbClr val="0070C0"/>
                          </a:solidFill>
                        </a:rPr>
                        <a:t>&lt;/w&gt;</a:t>
                      </a:r>
                      <a:endParaRPr lang="zh-TW" altLang="en-US" sz="2000" dirty="0">
                        <a:solidFill>
                          <a:srgbClr val="0070C0"/>
                        </a:solidFill>
                      </a:endParaRPr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r>
                        <a:rPr lang="en-US" altLang="zh-TW" sz="2000" dirty="0">
                          <a:solidFill>
                            <a:schemeClr val="tx1"/>
                          </a:solidFill>
                        </a:rPr>
                        <a:t>5</a:t>
                      </a:r>
                      <a:endParaRPr lang="zh-TW" altLang="en-US" sz="2000" dirty="0">
                        <a:solidFill>
                          <a:schemeClr val="tx1"/>
                        </a:solidFill>
                      </a:endParaRPr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3786072698"/>
                  </a:ext>
                </a:extLst>
              </a:tr>
              <a:tr h="207433">
                <a:tc>
                  <a:txBody>
                    <a:bodyPr/>
                    <a:lstStyle/>
                    <a:p>
                      <a:r>
                        <a:rPr lang="en-US" altLang="zh-TW" sz="2000" b="1" dirty="0">
                          <a:solidFill>
                            <a:srgbClr val="FF0000"/>
                          </a:solidFill>
                        </a:rPr>
                        <a:t>lo</a:t>
                      </a:r>
                      <a:r>
                        <a:rPr lang="en-US" altLang="zh-TW" sz="2000" dirty="0">
                          <a:solidFill>
                            <a:schemeClr val="tx1"/>
                          </a:solidFill>
                        </a:rPr>
                        <a:t> w e r </a:t>
                      </a:r>
                      <a:r>
                        <a:rPr lang="en-US" altLang="zh-TW" sz="2000" dirty="0">
                          <a:solidFill>
                            <a:srgbClr val="0070C0"/>
                          </a:solidFill>
                        </a:rPr>
                        <a:t>&lt;/w&gt;</a:t>
                      </a:r>
                      <a:endParaRPr lang="zh-TW" altLang="en-US" sz="2000" dirty="0">
                        <a:solidFill>
                          <a:schemeClr val="tx1"/>
                        </a:solidFill>
                      </a:endParaRPr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r>
                        <a:rPr lang="en-US" altLang="zh-TW" sz="2000" dirty="0">
                          <a:solidFill>
                            <a:schemeClr val="tx1"/>
                          </a:solidFill>
                        </a:rPr>
                        <a:t>2</a:t>
                      </a:r>
                      <a:endParaRPr lang="zh-TW" altLang="en-US" sz="2000" dirty="0">
                        <a:solidFill>
                          <a:schemeClr val="tx1"/>
                        </a:solidFill>
                      </a:endParaRPr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140167199"/>
                  </a:ext>
                </a:extLst>
              </a:tr>
              <a:tr h="207433">
                <a:tc>
                  <a:txBody>
                    <a:bodyPr/>
                    <a:lstStyle/>
                    <a:p>
                      <a:r>
                        <a:rPr lang="en-US" altLang="zh-TW" sz="2000" b="0" dirty="0">
                          <a:solidFill>
                            <a:schemeClr val="tx1"/>
                          </a:solidFill>
                        </a:rPr>
                        <a:t>n e w </a:t>
                      </a:r>
                      <a:r>
                        <a:rPr lang="en-US" altLang="zh-TW" sz="2000" b="0" dirty="0" err="1">
                          <a:solidFill>
                            <a:schemeClr val="tx1"/>
                          </a:solidFill>
                        </a:rPr>
                        <a:t>est</a:t>
                      </a:r>
                      <a:r>
                        <a:rPr lang="en-US" altLang="zh-TW" sz="2000" b="0" dirty="0">
                          <a:solidFill>
                            <a:schemeClr val="tx1"/>
                          </a:solidFill>
                        </a:rPr>
                        <a:t>&lt;/w&gt;</a:t>
                      </a:r>
                      <a:endParaRPr lang="zh-TW" altLang="en-US" sz="2000" b="0" dirty="0">
                        <a:solidFill>
                          <a:schemeClr val="tx1"/>
                        </a:solidFill>
                      </a:endParaRPr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r>
                        <a:rPr lang="en-US" altLang="zh-TW" sz="2000" dirty="0">
                          <a:solidFill>
                            <a:schemeClr val="tx1"/>
                          </a:solidFill>
                        </a:rPr>
                        <a:t>6</a:t>
                      </a:r>
                      <a:endParaRPr lang="zh-TW" altLang="en-US" sz="2000" dirty="0">
                        <a:solidFill>
                          <a:schemeClr val="tx1"/>
                        </a:solidFill>
                      </a:endParaRPr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3608810822"/>
                  </a:ext>
                </a:extLst>
              </a:tr>
              <a:tr h="184072">
                <a:tc>
                  <a:txBody>
                    <a:bodyPr/>
                    <a:lstStyle/>
                    <a:p>
                      <a:r>
                        <a:rPr lang="en-US" altLang="zh-TW" sz="2000" b="0" dirty="0">
                          <a:solidFill>
                            <a:schemeClr val="tx1"/>
                          </a:solidFill>
                        </a:rPr>
                        <a:t>w </a:t>
                      </a:r>
                      <a:r>
                        <a:rPr lang="en-US" altLang="zh-TW" sz="2000" b="0" dirty="0" err="1">
                          <a:solidFill>
                            <a:schemeClr val="tx1"/>
                          </a:solidFill>
                        </a:rPr>
                        <a:t>i</a:t>
                      </a:r>
                      <a:r>
                        <a:rPr lang="en-US" altLang="zh-TW" sz="2000" b="0" dirty="0">
                          <a:solidFill>
                            <a:schemeClr val="tx1"/>
                          </a:solidFill>
                        </a:rPr>
                        <a:t> d </a:t>
                      </a:r>
                      <a:r>
                        <a:rPr lang="en-US" altLang="zh-TW" sz="2000" b="0" dirty="0" err="1">
                          <a:solidFill>
                            <a:schemeClr val="tx1"/>
                          </a:solidFill>
                        </a:rPr>
                        <a:t>est</a:t>
                      </a:r>
                      <a:r>
                        <a:rPr lang="en-US" altLang="zh-TW" sz="2000" b="0" dirty="0">
                          <a:solidFill>
                            <a:schemeClr val="tx1"/>
                          </a:solidFill>
                        </a:rPr>
                        <a:t>&lt;/w&gt;</a:t>
                      </a:r>
                      <a:endParaRPr lang="zh-TW" altLang="en-US" sz="2000" b="0" dirty="0">
                        <a:solidFill>
                          <a:schemeClr val="tx1"/>
                        </a:solidFill>
                      </a:endParaRPr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r>
                        <a:rPr lang="en-US" altLang="zh-TW" sz="2000" dirty="0">
                          <a:solidFill>
                            <a:schemeClr val="tx1"/>
                          </a:solidFill>
                        </a:rPr>
                        <a:t>3</a:t>
                      </a:r>
                      <a:endParaRPr lang="zh-TW" altLang="en-US" sz="2000" dirty="0">
                        <a:solidFill>
                          <a:schemeClr val="tx1"/>
                        </a:solidFill>
                      </a:endParaRPr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3613135537"/>
                  </a:ext>
                </a:extLst>
              </a:tr>
            </a:tbl>
          </a:graphicData>
        </a:graphic>
      </p:graphicFrame>
      <p:sp>
        <p:nvSpPr>
          <p:cNvPr id="18" name="標題 1">
            <a:extLst>
              <a:ext uri="{FF2B5EF4-FFF2-40B4-BE49-F238E27FC236}">
                <a16:creationId xmlns:a16="http://schemas.microsoft.com/office/drawing/2014/main" id="{FCB01297-B2B8-2F42-04AD-CF603DEFF04B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705400" y="356088"/>
            <a:ext cx="10058400" cy="1033416"/>
          </a:xfrm>
        </p:spPr>
        <p:txBody>
          <a:bodyPr/>
          <a:lstStyle/>
          <a:p>
            <a:r>
              <a:rPr lang="en-US" altLang="zh-TW" dirty="0">
                <a:ea typeface="新細明體"/>
                <a:cs typeface="Calibri Light"/>
              </a:rPr>
              <a:t>Sub-word Tokenization (4)</a:t>
            </a:r>
            <a:endParaRPr lang="zh-TW" altLang="en-US" sz="2400" dirty="0">
              <a:ea typeface="新細明體"/>
              <a:cs typeface="Calibri Light"/>
            </a:endParaRPr>
          </a:p>
        </p:txBody>
      </p:sp>
    </p:spTree>
    <p:extLst>
      <p:ext uri="{BB962C8B-B14F-4D97-AF65-F5344CB8AC3E}">
        <p14:creationId xmlns:p14="http://schemas.microsoft.com/office/powerpoint/2010/main" val="3426057273"/>
      </p:ext>
    </p:extLst>
  </p:cSld>
  <p:clrMapOvr>
    <a:masterClrMapping/>
  </p:clrMapOvr>
</p:sld>
</file>

<file path=ppt/slides/slide3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標題 1">
            <a:extLst>
              <a:ext uri="{FF2B5EF4-FFF2-40B4-BE49-F238E27FC236}">
                <a16:creationId xmlns:a16="http://schemas.microsoft.com/office/drawing/2014/main" id="{4A3D0126-8108-F0DB-44C8-AAF1BBD0DBEE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kumimoji="1" lang="en-US" altLang="zh-TW" dirty="0"/>
              <a:t>Finishing the </a:t>
            </a:r>
            <a:r>
              <a:rPr lang="en-US" altLang="zh-TW" dirty="0">
                <a:ea typeface="新細明體"/>
                <a:cs typeface="Calibri Light"/>
              </a:rPr>
              <a:t>Sub-word Leaning </a:t>
            </a:r>
            <a:endParaRPr kumimoji="1" lang="zh-TW" altLang="en-US" dirty="0"/>
          </a:p>
        </p:txBody>
      </p:sp>
      <p:sp>
        <p:nvSpPr>
          <p:cNvPr id="4" name="投影片編號版面配置區 3">
            <a:extLst>
              <a:ext uri="{FF2B5EF4-FFF2-40B4-BE49-F238E27FC236}">
                <a16:creationId xmlns:a16="http://schemas.microsoft.com/office/drawing/2014/main" id="{51480402-71DD-FFDD-6B85-5A1762AB7E39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6113E31D-E2AB-40D1-8B51-AFA5AFEF393A}" type="slidenum">
              <a:rPr lang="en-US" smtClean="0"/>
              <a:pPr/>
              <a:t>31</a:t>
            </a:fld>
            <a:endParaRPr lang="en-US"/>
          </a:p>
        </p:txBody>
      </p:sp>
      <p:sp>
        <p:nvSpPr>
          <p:cNvPr id="3" name="文字方塊 2">
            <a:extLst>
              <a:ext uri="{FF2B5EF4-FFF2-40B4-BE49-F238E27FC236}">
                <a16:creationId xmlns:a16="http://schemas.microsoft.com/office/drawing/2014/main" id="{A4CCC245-B8CB-CC29-B7DE-FDA9C5A32FAA}"/>
              </a:ext>
            </a:extLst>
          </p:cNvPr>
          <p:cNvSpPr txBox="1"/>
          <p:nvPr/>
        </p:nvSpPr>
        <p:spPr>
          <a:xfrm>
            <a:off x="636815" y="1942399"/>
            <a:ext cx="10918370" cy="1685846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marL="342900" indent="-342900">
              <a:lnSpc>
                <a:spcPct val="150000"/>
              </a:lnSpc>
              <a:buFont typeface="Arial" panose="020B0604020202020204" pitchFamily="34" charset="0"/>
              <a:buChar char="•"/>
            </a:pPr>
            <a:r>
              <a:rPr kumimoji="1" lang="en" altLang="zh-TW" sz="2400" dirty="0">
                <a:ea typeface="Microsoft JhengHei" panose="020B0604030504040204" pitchFamily="34" charset="-120"/>
              </a:rPr>
              <a:t>Assume `</a:t>
            </a:r>
            <a:r>
              <a:rPr kumimoji="1" lang="en" altLang="zh-TW" sz="2400" dirty="0" err="1">
                <a:ea typeface="Microsoft JhengHei" panose="020B0604030504040204" pitchFamily="34" charset="-120"/>
              </a:rPr>
              <a:t>num_merges</a:t>
            </a:r>
            <a:r>
              <a:rPr kumimoji="1" lang="en" altLang="zh-TW" sz="2400" dirty="0">
                <a:ea typeface="Microsoft JhengHei" panose="020B0604030504040204" pitchFamily="34" charset="-120"/>
              </a:rPr>
              <a:t>`=4 (we just repeated four times.)</a:t>
            </a:r>
          </a:p>
          <a:p>
            <a:pPr marL="342900" indent="-342900">
              <a:lnSpc>
                <a:spcPct val="150000"/>
              </a:lnSpc>
              <a:buFont typeface="Arial" panose="020B0604020202020204" pitchFamily="34" charset="0"/>
              <a:buChar char="•"/>
            </a:pPr>
            <a:r>
              <a:rPr kumimoji="1" lang="en" altLang="zh-TW" sz="2400" dirty="0">
                <a:ea typeface="Microsoft JhengHei" panose="020B0604030504040204" pitchFamily="34" charset="-120"/>
              </a:rPr>
              <a:t>`</a:t>
            </a:r>
            <a:r>
              <a:rPr kumimoji="1" lang="en" altLang="zh-TW" sz="2400" dirty="0" err="1">
                <a:ea typeface="Microsoft JhengHei" panose="020B0604030504040204" pitchFamily="34" charset="-120"/>
              </a:rPr>
              <a:t>num_merges</a:t>
            </a:r>
            <a:r>
              <a:rPr kumimoji="1" lang="en" altLang="zh-TW" sz="2400" dirty="0">
                <a:ea typeface="Microsoft JhengHei" panose="020B0604030504040204" pitchFamily="34" charset="-120"/>
              </a:rPr>
              <a:t>` is a hyperparameter that you need to set for BPE.</a:t>
            </a:r>
          </a:p>
          <a:p>
            <a:pPr marL="342900" indent="-342900">
              <a:lnSpc>
                <a:spcPct val="150000"/>
              </a:lnSpc>
              <a:buFont typeface="Arial" panose="020B0604020202020204" pitchFamily="34" charset="0"/>
              <a:buChar char="•"/>
            </a:pPr>
            <a:r>
              <a:rPr kumimoji="1" lang="en" altLang="zh-TW" sz="2400" dirty="0">
                <a:ea typeface="Microsoft JhengHei" panose="020B0604030504040204" pitchFamily="34" charset="-120"/>
              </a:rPr>
              <a:t>The learned vocabulary is: </a:t>
            </a:r>
            <a:r>
              <a:rPr kumimoji="1" lang="en" altLang="zh-TW" sz="2400" dirty="0">
                <a:solidFill>
                  <a:srgbClr val="0070C0"/>
                </a:solidFill>
                <a:ea typeface="Microsoft JhengHei" panose="020B0604030504040204" pitchFamily="34" charset="-120"/>
              </a:rPr>
              <a:t>&lt;/w&gt;</a:t>
            </a:r>
            <a:r>
              <a:rPr kumimoji="1" lang="en" altLang="zh-TW" sz="2400" dirty="0">
                <a:ea typeface="Microsoft JhengHei" panose="020B0604030504040204" pitchFamily="34" charset="-120"/>
              </a:rPr>
              <a:t>, d, e, </a:t>
            </a:r>
            <a:r>
              <a:rPr kumimoji="1" lang="en" altLang="zh-TW" sz="2400" dirty="0" err="1">
                <a:ea typeface="Microsoft JhengHei" panose="020B0604030504040204" pitchFamily="34" charset="-120"/>
              </a:rPr>
              <a:t>i</a:t>
            </a:r>
            <a:r>
              <a:rPr kumimoji="1" lang="en" altLang="zh-TW" sz="2400" dirty="0">
                <a:ea typeface="Microsoft JhengHei" panose="020B0604030504040204" pitchFamily="34" charset="-120"/>
              </a:rPr>
              <a:t>, l, n, o, r, s, t, w, es, </a:t>
            </a:r>
            <a:r>
              <a:rPr kumimoji="1" lang="en" altLang="zh-TW" sz="2400" dirty="0" err="1">
                <a:ea typeface="Microsoft JhengHei" panose="020B0604030504040204" pitchFamily="34" charset="-120"/>
              </a:rPr>
              <a:t>est</a:t>
            </a:r>
            <a:r>
              <a:rPr kumimoji="1" lang="en" altLang="zh-TW" sz="2400" dirty="0">
                <a:ea typeface="Microsoft JhengHei" panose="020B0604030504040204" pitchFamily="34" charset="-120"/>
              </a:rPr>
              <a:t>, </a:t>
            </a:r>
            <a:r>
              <a:rPr kumimoji="1" lang="en" altLang="zh-TW" sz="2400" dirty="0" err="1">
                <a:ea typeface="Microsoft JhengHei" panose="020B0604030504040204" pitchFamily="34" charset="-120"/>
              </a:rPr>
              <a:t>est</a:t>
            </a:r>
            <a:r>
              <a:rPr kumimoji="1" lang="en" altLang="zh-TW" sz="2400" dirty="0">
                <a:ea typeface="Microsoft JhengHei" panose="020B0604030504040204" pitchFamily="34" charset="-120"/>
              </a:rPr>
              <a:t>&lt;/w&gt;, lo</a:t>
            </a:r>
            <a:endParaRPr kumimoji="1" lang="en" altLang="zh-TW" sz="2400" baseline="30000" dirty="0">
              <a:ea typeface="Microsoft JhengHei" panose="020B0604030504040204" pitchFamily="34" charset="-120"/>
            </a:endParaRPr>
          </a:p>
        </p:txBody>
      </p:sp>
    </p:spTree>
    <p:extLst>
      <p:ext uri="{BB962C8B-B14F-4D97-AF65-F5344CB8AC3E}">
        <p14:creationId xmlns:p14="http://schemas.microsoft.com/office/powerpoint/2010/main" val="3088304853"/>
      </p:ext>
    </p:extLst>
  </p:cSld>
  <p:clrMapOvr>
    <a:masterClrMapping/>
  </p:clrMapOvr>
</p:sld>
</file>

<file path=ppt/slides/slide3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標題 1">
            <a:extLst>
              <a:ext uri="{FF2B5EF4-FFF2-40B4-BE49-F238E27FC236}">
                <a16:creationId xmlns:a16="http://schemas.microsoft.com/office/drawing/2014/main" id="{9AAFD1CF-5983-F8CD-F466-8DD51E475E55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kumimoji="1" lang="en-US" altLang="zh-TW" dirty="0"/>
              <a:t>Tokenization with Learned BPE</a:t>
            </a:r>
            <a:endParaRPr kumimoji="1" lang="zh-TW" altLang="en-US" dirty="0"/>
          </a:p>
        </p:txBody>
      </p:sp>
      <p:sp>
        <p:nvSpPr>
          <p:cNvPr id="4" name="投影片編號版面配置區 3">
            <a:extLst>
              <a:ext uri="{FF2B5EF4-FFF2-40B4-BE49-F238E27FC236}">
                <a16:creationId xmlns:a16="http://schemas.microsoft.com/office/drawing/2014/main" id="{00ECD23A-CBE2-E1D9-C33B-BCCA31A0D7E8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6113E31D-E2AB-40D1-8B51-AFA5AFEF393A}" type="slidenum">
              <a:rPr lang="en-US" smtClean="0"/>
              <a:pPr/>
              <a:t>32</a:t>
            </a:fld>
            <a:endParaRPr lang="en-US"/>
          </a:p>
        </p:txBody>
      </p:sp>
      <p:sp>
        <p:nvSpPr>
          <p:cNvPr id="7" name="文字方塊 6">
            <a:extLst>
              <a:ext uri="{FF2B5EF4-FFF2-40B4-BE49-F238E27FC236}">
                <a16:creationId xmlns:a16="http://schemas.microsoft.com/office/drawing/2014/main" id="{B957CCD0-7915-B189-F783-1047BEA13B8A}"/>
              </a:ext>
            </a:extLst>
          </p:cNvPr>
          <p:cNvSpPr txBox="1"/>
          <p:nvPr/>
        </p:nvSpPr>
        <p:spPr>
          <a:xfrm>
            <a:off x="2579737" y="4751253"/>
            <a:ext cx="1885950" cy="52322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kumimoji="1" lang="en-US" altLang="zh-TW" sz="2800" dirty="0"/>
              <a:t>l o w &lt;/w&gt;</a:t>
            </a:r>
            <a:endParaRPr kumimoji="1" lang="zh-TW" altLang="en-US" sz="2800" dirty="0"/>
          </a:p>
        </p:txBody>
      </p:sp>
      <p:cxnSp>
        <p:nvCxnSpPr>
          <p:cNvPr id="9" name="直線箭頭接點 8">
            <a:extLst>
              <a:ext uri="{FF2B5EF4-FFF2-40B4-BE49-F238E27FC236}">
                <a16:creationId xmlns:a16="http://schemas.microsoft.com/office/drawing/2014/main" id="{BD282179-6EFD-5AE3-0C80-326D32FE6A35}"/>
              </a:ext>
            </a:extLst>
          </p:cNvPr>
          <p:cNvCxnSpPr/>
          <p:nvPr/>
        </p:nvCxnSpPr>
        <p:spPr>
          <a:xfrm>
            <a:off x="4846475" y="5012863"/>
            <a:ext cx="1074420" cy="0"/>
          </a:xfrm>
          <a:prstGeom prst="straightConnector1">
            <a:avLst/>
          </a:prstGeom>
          <a:ln w="28575">
            <a:solidFill>
              <a:schemeClr val="tx1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11" name="圓角矩形 10">
            <a:extLst>
              <a:ext uri="{FF2B5EF4-FFF2-40B4-BE49-F238E27FC236}">
                <a16:creationId xmlns:a16="http://schemas.microsoft.com/office/drawing/2014/main" id="{055553EB-04E6-8EA6-2000-F1B53C617D3F}"/>
              </a:ext>
            </a:extLst>
          </p:cNvPr>
          <p:cNvSpPr/>
          <p:nvPr/>
        </p:nvSpPr>
        <p:spPr>
          <a:xfrm>
            <a:off x="6492395" y="4805285"/>
            <a:ext cx="754380" cy="415156"/>
          </a:xfrm>
          <a:prstGeom prst="roundRect">
            <a:avLst/>
          </a:prstGeom>
          <a:noFill/>
          <a:ln>
            <a:solidFill>
              <a:schemeClr val="tx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kumimoji="1" lang="en-US" altLang="zh-TW" sz="2400" dirty="0">
                <a:solidFill>
                  <a:schemeClr val="tx1"/>
                </a:solidFill>
              </a:rPr>
              <a:t>lo</a:t>
            </a:r>
            <a:endParaRPr kumimoji="1" lang="zh-TW" altLang="en-US" sz="2000" dirty="0">
              <a:solidFill>
                <a:schemeClr val="tx1"/>
              </a:solidFill>
            </a:endParaRPr>
          </a:p>
        </p:txBody>
      </p:sp>
      <p:sp>
        <p:nvSpPr>
          <p:cNvPr id="12" name="圓角矩形 11">
            <a:extLst>
              <a:ext uri="{FF2B5EF4-FFF2-40B4-BE49-F238E27FC236}">
                <a16:creationId xmlns:a16="http://schemas.microsoft.com/office/drawing/2014/main" id="{FA72F671-27EC-F730-EE80-F28F11325EC7}"/>
              </a:ext>
            </a:extLst>
          </p:cNvPr>
          <p:cNvSpPr/>
          <p:nvPr/>
        </p:nvSpPr>
        <p:spPr>
          <a:xfrm>
            <a:off x="7372505" y="4805285"/>
            <a:ext cx="754380" cy="415156"/>
          </a:xfrm>
          <a:prstGeom prst="roundRect">
            <a:avLst/>
          </a:prstGeom>
          <a:noFill/>
          <a:ln>
            <a:solidFill>
              <a:schemeClr val="tx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kumimoji="1" lang="en-US" altLang="zh-TW" sz="2400" dirty="0">
                <a:solidFill>
                  <a:schemeClr val="tx1"/>
                </a:solidFill>
              </a:rPr>
              <a:t>w</a:t>
            </a:r>
            <a:endParaRPr kumimoji="1" lang="zh-TW" altLang="en-US" sz="2400" dirty="0">
              <a:solidFill>
                <a:schemeClr val="tx1"/>
              </a:solidFill>
            </a:endParaRPr>
          </a:p>
        </p:txBody>
      </p:sp>
      <p:sp>
        <p:nvSpPr>
          <p:cNvPr id="13" name="圓角矩形 12">
            <a:extLst>
              <a:ext uri="{FF2B5EF4-FFF2-40B4-BE49-F238E27FC236}">
                <a16:creationId xmlns:a16="http://schemas.microsoft.com/office/drawing/2014/main" id="{5F70A26E-C19E-D77C-A0AD-3A983A69EBCA}"/>
              </a:ext>
            </a:extLst>
          </p:cNvPr>
          <p:cNvSpPr/>
          <p:nvPr/>
        </p:nvSpPr>
        <p:spPr>
          <a:xfrm>
            <a:off x="8252615" y="4805285"/>
            <a:ext cx="948442" cy="415156"/>
          </a:xfrm>
          <a:prstGeom prst="roundRect">
            <a:avLst/>
          </a:prstGeom>
          <a:noFill/>
          <a:ln>
            <a:solidFill>
              <a:schemeClr val="tx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kumimoji="1" lang="en-US" altLang="zh-TW" sz="2400" dirty="0">
                <a:solidFill>
                  <a:schemeClr val="tx1"/>
                </a:solidFill>
              </a:rPr>
              <a:t>&lt;/w&gt;</a:t>
            </a:r>
            <a:endParaRPr kumimoji="1" lang="zh-TW" altLang="en-US" sz="2400" dirty="0">
              <a:solidFill>
                <a:schemeClr val="tx1"/>
              </a:solidFill>
            </a:endParaRPr>
          </a:p>
        </p:txBody>
      </p:sp>
      <p:sp>
        <p:nvSpPr>
          <p:cNvPr id="14" name="文字方塊 13">
            <a:extLst>
              <a:ext uri="{FF2B5EF4-FFF2-40B4-BE49-F238E27FC236}">
                <a16:creationId xmlns:a16="http://schemas.microsoft.com/office/drawing/2014/main" id="{F696B974-5A0E-DEC2-531C-A3D469175551}"/>
              </a:ext>
            </a:extLst>
          </p:cNvPr>
          <p:cNvSpPr txBox="1"/>
          <p:nvPr/>
        </p:nvSpPr>
        <p:spPr>
          <a:xfrm>
            <a:off x="1602397" y="5534968"/>
            <a:ext cx="3171652" cy="52322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kumimoji="1" lang="en-US" altLang="zh-TW" sz="2800" dirty="0"/>
              <a:t>w </a:t>
            </a:r>
            <a:r>
              <a:rPr kumimoji="1" lang="en-US" altLang="zh-TW" sz="2800" dirty="0" err="1"/>
              <a:t>i</a:t>
            </a:r>
            <a:r>
              <a:rPr kumimoji="1" lang="en-US" altLang="zh-TW" sz="2800" dirty="0"/>
              <a:t> d e s t &lt;/w&gt;</a:t>
            </a:r>
            <a:endParaRPr kumimoji="1" lang="zh-TW" altLang="en-US" sz="2800" dirty="0"/>
          </a:p>
        </p:txBody>
      </p:sp>
      <p:cxnSp>
        <p:nvCxnSpPr>
          <p:cNvPr id="15" name="直線箭頭接點 14">
            <a:extLst>
              <a:ext uri="{FF2B5EF4-FFF2-40B4-BE49-F238E27FC236}">
                <a16:creationId xmlns:a16="http://schemas.microsoft.com/office/drawing/2014/main" id="{D56B77D8-D359-CDCA-D8F9-20D4EFCBC718}"/>
              </a:ext>
            </a:extLst>
          </p:cNvPr>
          <p:cNvCxnSpPr/>
          <p:nvPr/>
        </p:nvCxnSpPr>
        <p:spPr>
          <a:xfrm>
            <a:off x="4846475" y="5796578"/>
            <a:ext cx="1074420" cy="0"/>
          </a:xfrm>
          <a:prstGeom prst="straightConnector1">
            <a:avLst/>
          </a:prstGeom>
          <a:ln w="28575">
            <a:solidFill>
              <a:schemeClr val="tx1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16" name="圓角矩形 15">
            <a:extLst>
              <a:ext uri="{FF2B5EF4-FFF2-40B4-BE49-F238E27FC236}">
                <a16:creationId xmlns:a16="http://schemas.microsoft.com/office/drawing/2014/main" id="{EE12E1A2-E76B-5ED8-EC41-6187A5D3AABD}"/>
              </a:ext>
            </a:extLst>
          </p:cNvPr>
          <p:cNvSpPr/>
          <p:nvPr/>
        </p:nvSpPr>
        <p:spPr>
          <a:xfrm>
            <a:off x="6492395" y="5589000"/>
            <a:ext cx="754380" cy="415156"/>
          </a:xfrm>
          <a:prstGeom prst="roundRect">
            <a:avLst/>
          </a:prstGeom>
          <a:noFill/>
          <a:ln>
            <a:solidFill>
              <a:schemeClr val="tx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kumimoji="1" lang="en-US" altLang="zh-TW" sz="2400" dirty="0">
                <a:solidFill>
                  <a:schemeClr val="tx1"/>
                </a:solidFill>
              </a:rPr>
              <a:t>w</a:t>
            </a:r>
            <a:endParaRPr kumimoji="1" lang="zh-TW" altLang="en-US" sz="2400" dirty="0">
              <a:solidFill>
                <a:schemeClr val="tx1"/>
              </a:solidFill>
            </a:endParaRPr>
          </a:p>
        </p:txBody>
      </p:sp>
      <p:sp>
        <p:nvSpPr>
          <p:cNvPr id="17" name="圓角矩形 16">
            <a:extLst>
              <a:ext uri="{FF2B5EF4-FFF2-40B4-BE49-F238E27FC236}">
                <a16:creationId xmlns:a16="http://schemas.microsoft.com/office/drawing/2014/main" id="{1685C7EE-71EC-72D2-918C-9998A9CBB8EF}"/>
              </a:ext>
            </a:extLst>
          </p:cNvPr>
          <p:cNvSpPr/>
          <p:nvPr/>
        </p:nvSpPr>
        <p:spPr>
          <a:xfrm>
            <a:off x="7372505" y="5589000"/>
            <a:ext cx="754380" cy="415156"/>
          </a:xfrm>
          <a:prstGeom prst="roundRect">
            <a:avLst/>
          </a:prstGeom>
          <a:noFill/>
          <a:ln>
            <a:solidFill>
              <a:schemeClr val="tx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kumimoji="1" lang="en-US" altLang="zh-TW" sz="2400" dirty="0">
                <a:solidFill>
                  <a:schemeClr val="tx1"/>
                </a:solidFill>
              </a:rPr>
              <a:t>i</a:t>
            </a:r>
            <a:endParaRPr kumimoji="1" lang="zh-TW" altLang="en-US" sz="2400" dirty="0">
              <a:solidFill>
                <a:schemeClr val="tx1"/>
              </a:solidFill>
            </a:endParaRPr>
          </a:p>
        </p:txBody>
      </p:sp>
      <p:sp>
        <p:nvSpPr>
          <p:cNvPr id="18" name="圓角矩形 17">
            <a:extLst>
              <a:ext uri="{FF2B5EF4-FFF2-40B4-BE49-F238E27FC236}">
                <a16:creationId xmlns:a16="http://schemas.microsoft.com/office/drawing/2014/main" id="{35CDC14E-9FE6-8E0B-3A28-45382F4B14DC}"/>
              </a:ext>
            </a:extLst>
          </p:cNvPr>
          <p:cNvSpPr/>
          <p:nvPr/>
        </p:nvSpPr>
        <p:spPr>
          <a:xfrm>
            <a:off x="8252615" y="5589000"/>
            <a:ext cx="754380" cy="415156"/>
          </a:xfrm>
          <a:prstGeom prst="roundRect">
            <a:avLst/>
          </a:prstGeom>
          <a:noFill/>
          <a:ln>
            <a:solidFill>
              <a:schemeClr val="tx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kumimoji="1" lang="en-US" altLang="zh-TW" sz="2400" dirty="0">
                <a:solidFill>
                  <a:schemeClr val="tx1"/>
                </a:solidFill>
              </a:rPr>
              <a:t>d</a:t>
            </a:r>
            <a:endParaRPr kumimoji="1" lang="zh-TW" altLang="en-US" dirty="0">
              <a:solidFill>
                <a:schemeClr val="tx1"/>
              </a:solidFill>
            </a:endParaRPr>
          </a:p>
        </p:txBody>
      </p:sp>
      <p:sp>
        <p:nvSpPr>
          <p:cNvPr id="19" name="圓角矩形 18">
            <a:extLst>
              <a:ext uri="{FF2B5EF4-FFF2-40B4-BE49-F238E27FC236}">
                <a16:creationId xmlns:a16="http://schemas.microsoft.com/office/drawing/2014/main" id="{024AB80C-6C81-1C19-14FA-DA5924222782}"/>
              </a:ext>
            </a:extLst>
          </p:cNvPr>
          <p:cNvSpPr/>
          <p:nvPr/>
        </p:nvSpPr>
        <p:spPr>
          <a:xfrm>
            <a:off x="9132725" y="5589000"/>
            <a:ext cx="1312024" cy="415156"/>
          </a:xfrm>
          <a:prstGeom prst="roundRect">
            <a:avLst/>
          </a:prstGeom>
          <a:noFill/>
          <a:ln>
            <a:solidFill>
              <a:schemeClr val="tx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kumimoji="1" lang="en-US" altLang="zh-TW" sz="2400" dirty="0" err="1">
                <a:solidFill>
                  <a:schemeClr val="tx1"/>
                </a:solidFill>
              </a:rPr>
              <a:t>est</a:t>
            </a:r>
            <a:r>
              <a:rPr kumimoji="1" lang="en-US" altLang="zh-TW" sz="2400" dirty="0">
                <a:solidFill>
                  <a:schemeClr val="tx1"/>
                </a:solidFill>
              </a:rPr>
              <a:t>&lt;/w&gt;</a:t>
            </a:r>
            <a:endParaRPr kumimoji="1" lang="zh-TW" altLang="en-US" sz="2400" dirty="0">
              <a:solidFill>
                <a:schemeClr val="tx1"/>
              </a:solidFill>
            </a:endParaRPr>
          </a:p>
        </p:txBody>
      </p:sp>
      <p:sp>
        <p:nvSpPr>
          <p:cNvPr id="3" name="文字方塊 2">
            <a:extLst>
              <a:ext uri="{FF2B5EF4-FFF2-40B4-BE49-F238E27FC236}">
                <a16:creationId xmlns:a16="http://schemas.microsoft.com/office/drawing/2014/main" id="{18D17BD1-C38E-8BC8-E4DC-B2E2B9E12858}"/>
              </a:ext>
            </a:extLst>
          </p:cNvPr>
          <p:cNvSpPr txBox="1"/>
          <p:nvPr/>
        </p:nvSpPr>
        <p:spPr>
          <a:xfrm>
            <a:off x="636815" y="1600039"/>
            <a:ext cx="10918370" cy="279384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marL="342900" indent="-342900">
              <a:lnSpc>
                <a:spcPct val="150000"/>
              </a:lnSpc>
              <a:buFont typeface="Arial" panose="020B0604020202020204" pitchFamily="34" charset="0"/>
              <a:buChar char="•"/>
            </a:pPr>
            <a:r>
              <a:rPr kumimoji="1" lang="en" altLang="zh-TW" sz="2400" dirty="0">
                <a:ea typeface="Microsoft JhengHei" panose="020B0604030504040204" pitchFamily="34" charset="-120"/>
              </a:rPr>
              <a:t>The learned vocabulary is: </a:t>
            </a:r>
            <a:r>
              <a:rPr kumimoji="1" lang="en" altLang="zh-TW" sz="2400" dirty="0">
                <a:solidFill>
                  <a:srgbClr val="FF0000"/>
                </a:solidFill>
                <a:ea typeface="Microsoft JhengHei" panose="020B0604030504040204" pitchFamily="34" charset="-120"/>
              </a:rPr>
              <a:t>&lt;/w&gt;, d, e, </a:t>
            </a:r>
            <a:r>
              <a:rPr kumimoji="1" lang="en" altLang="zh-TW" sz="2400" dirty="0" err="1">
                <a:solidFill>
                  <a:srgbClr val="FF0000"/>
                </a:solidFill>
                <a:ea typeface="Microsoft JhengHei" panose="020B0604030504040204" pitchFamily="34" charset="-120"/>
              </a:rPr>
              <a:t>i</a:t>
            </a:r>
            <a:r>
              <a:rPr kumimoji="1" lang="en" altLang="zh-TW" sz="2400" dirty="0">
                <a:solidFill>
                  <a:srgbClr val="FF0000"/>
                </a:solidFill>
                <a:ea typeface="Microsoft JhengHei" panose="020B0604030504040204" pitchFamily="34" charset="-120"/>
              </a:rPr>
              <a:t>, l, n, o, r, s, t, w, es, </a:t>
            </a:r>
            <a:r>
              <a:rPr kumimoji="1" lang="en" altLang="zh-TW" sz="2400" dirty="0" err="1">
                <a:solidFill>
                  <a:srgbClr val="FF0000"/>
                </a:solidFill>
                <a:ea typeface="Microsoft JhengHei" panose="020B0604030504040204" pitchFamily="34" charset="-120"/>
              </a:rPr>
              <a:t>est</a:t>
            </a:r>
            <a:r>
              <a:rPr kumimoji="1" lang="en" altLang="zh-TW" sz="2400" dirty="0">
                <a:solidFill>
                  <a:srgbClr val="FF0000"/>
                </a:solidFill>
                <a:ea typeface="Microsoft JhengHei" panose="020B0604030504040204" pitchFamily="34" charset="-120"/>
              </a:rPr>
              <a:t>, </a:t>
            </a:r>
            <a:r>
              <a:rPr kumimoji="1" lang="en" altLang="zh-TW" sz="2400" dirty="0" err="1">
                <a:solidFill>
                  <a:srgbClr val="FF0000"/>
                </a:solidFill>
                <a:ea typeface="Microsoft JhengHei" panose="020B0604030504040204" pitchFamily="34" charset="-120"/>
              </a:rPr>
              <a:t>est</a:t>
            </a:r>
            <a:r>
              <a:rPr kumimoji="1" lang="en" altLang="zh-TW" sz="2400" dirty="0">
                <a:solidFill>
                  <a:srgbClr val="FF0000"/>
                </a:solidFill>
                <a:ea typeface="Microsoft JhengHei" panose="020B0604030504040204" pitchFamily="34" charset="-120"/>
              </a:rPr>
              <a:t>&lt;/w&gt;, lo</a:t>
            </a:r>
          </a:p>
          <a:p>
            <a:pPr marL="342900" indent="-342900">
              <a:lnSpc>
                <a:spcPct val="150000"/>
              </a:lnSpc>
              <a:buFont typeface="Arial" panose="020B0604020202020204" pitchFamily="34" charset="0"/>
              <a:buChar char="•"/>
            </a:pPr>
            <a:r>
              <a:rPr kumimoji="1" lang="en" altLang="zh-TW" sz="2400" dirty="0">
                <a:ea typeface="Microsoft JhengHei" panose="020B0604030504040204" pitchFamily="34" charset="-120"/>
              </a:rPr>
              <a:t>We first turn each word into a sequence of characters with &lt;/w&gt; placed at the end of a word, same as the first step during the learning phase.</a:t>
            </a:r>
          </a:p>
          <a:p>
            <a:pPr marL="342900" indent="-342900">
              <a:lnSpc>
                <a:spcPct val="150000"/>
              </a:lnSpc>
              <a:buFont typeface="Arial" panose="020B0604020202020204" pitchFamily="34" charset="0"/>
              <a:buChar char="•"/>
            </a:pPr>
            <a:r>
              <a:rPr kumimoji="1" lang="en" altLang="zh-TW" sz="2400" dirty="0">
                <a:ea typeface="Microsoft JhengHei" panose="020B0604030504040204" pitchFamily="34" charset="-120"/>
              </a:rPr>
              <a:t>Then we can merge the characters according to the learned vocabulary.</a:t>
            </a:r>
          </a:p>
          <a:p>
            <a:pPr marL="342900" indent="-342900">
              <a:lnSpc>
                <a:spcPct val="150000"/>
              </a:lnSpc>
              <a:buFont typeface="Arial" panose="020B0604020202020204" pitchFamily="34" charset="0"/>
              <a:buChar char="•"/>
            </a:pPr>
            <a:r>
              <a:rPr kumimoji="1" lang="en" altLang="zh-TW" sz="2400" dirty="0">
                <a:ea typeface="Microsoft JhengHei" panose="020B0604030504040204" pitchFamily="34" charset="-120"/>
              </a:rPr>
              <a:t>Examples:</a:t>
            </a:r>
          </a:p>
        </p:txBody>
      </p:sp>
    </p:spTree>
    <p:extLst>
      <p:ext uri="{BB962C8B-B14F-4D97-AF65-F5344CB8AC3E}">
        <p14:creationId xmlns:p14="http://schemas.microsoft.com/office/powerpoint/2010/main" val="2599872980"/>
      </p:ext>
    </p:extLst>
  </p:cSld>
  <p:clrMapOvr>
    <a:masterClrMapping/>
  </p:clrMapOvr>
</p:sld>
</file>

<file path=ppt/slides/slide3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標題 1">
            <a:extLst>
              <a:ext uri="{FF2B5EF4-FFF2-40B4-BE49-F238E27FC236}">
                <a16:creationId xmlns:a16="http://schemas.microsoft.com/office/drawing/2014/main" id="{9AAFD1CF-5983-F8CD-F466-8DD51E475E55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>
            <a:normAutofit fontScale="90000"/>
          </a:bodyPr>
          <a:lstStyle/>
          <a:p>
            <a:r>
              <a:rPr kumimoji="1" lang="en-US" altLang="zh-TW" dirty="0"/>
              <a:t>[</a:t>
            </a:r>
            <a:r>
              <a:rPr kumimoji="1" lang="zh-TW" altLang="en-US" dirty="0">
                <a:latin typeface="Microsoft JhengHei" panose="020B0604030504040204" pitchFamily="34" charset="-120"/>
                <a:ea typeface="Microsoft JhengHei" panose="020B0604030504040204" pitchFamily="34" charset="-120"/>
              </a:rPr>
              <a:t>注意事項</a:t>
            </a:r>
            <a:r>
              <a:rPr kumimoji="1" lang="en-US" altLang="zh-TW" dirty="0"/>
              <a:t>] Tokenization with Learned BPE</a:t>
            </a:r>
            <a:endParaRPr kumimoji="1" lang="zh-TW" altLang="en-US" dirty="0"/>
          </a:p>
        </p:txBody>
      </p:sp>
      <p:sp>
        <p:nvSpPr>
          <p:cNvPr id="4" name="投影片編號版面配置區 3">
            <a:extLst>
              <a:ext uri="{FF2B5EF4-FFF2-40B4-BE49-F238E27FC236}">
                <a16:creationId xmlns:a16="http://schemas.microsoft.com/office/drawing/2014/main" id="{00ECD23A-CBE2-E1D9-C33B-BCCA31A0D7E8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6113E31D-E2AB-40D1-8B51-AFA5AFEF393A}" type="slidenum">
              <a:rPr lang="en-US" smtClean="0"/>
              <a:pPr/>
              <a:t>33</a:t>
            </a:fld>
            <a:endParaRPr lang="en-US"/>
          </a:p>
        </p:txBody>
      </p:sp>
      <p:sp>
        <p:nvSpPr>
          <p:cNvPr id="7" name="文字方塊 6">
            <a:extLst>
              <a:ext uri="{FF2B5EF4-FFF2-40B4-BE49-F238E27FC236}">
                <a16:creationId xmlns:a16="http://schemas.microsoft.com/office/drawing/2014/main" id="{2113A12A-4DAF-6F41-B6E4-4C9830E4B54A}"/>
              </a:ext>
            </a:extLst>
          </p:cNvPr>
          <p:cNvSpPr txBox="1"/>
          <p:nvPr/>
        </p:nvSpPr>
        <p:spPr>
          <a:xfrm>
            <a:off x="653144" y="1674614"/>
            <a:ext cx="10918370" cy="279435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marL="342900" indent="-342900">
              <a:lnSpc>
                <a:spcPct val="150000"/>
              </a:lnSpc>
              <a:buFont typeface="Arial" panose="020B0604020202020204" pitchFamily="34" charset="0"/>
              <a:buChar char="•"/>
            </a:pPr>
            <a:r>
              <a:rPr kumimoji="1" lang="zh-TW" altLang="en-US" sz="2400" dirty="0"/>
              <a:t>合併的順序：</a:t>
            </a:r>
            <a:r>
              <a:rPr kumimoji="1" lang="en-US" altLang="zh-TW" sz="2400" dirty="0"/>
              <a:t>left to right</a:t>
            </a:r>
          </a:p>
          <a:p>
            <a:pPr marL="342900" indent="-342900">
              <a:lnSpc>
                <a:spcPct val="150000"/>
              </a:lnSpc>
              <a:buFont typeface="Arial" panose="020B0604020202020204" pitchFamily="34" charset="0"/>
              <a:buChar char="•"/>
            </a:pPr>
            <a:r>
              <a:rPr kumimoji="1" lang="zh-TW" altLang="en-US" sz="2400" dirty="0"/>
              <a:t>在實際 </a:t>
            </a:r>
            <a:r>
              <a:rPr kumimoji="1" lang="en-US" altLang="zh-TW" sz="2400" dirty="0"/>
              <a:t>tokenization </a:t>
            </a:r>
            <a:r>
              <a:rPr kumimoji="1" lang="zh-TW" altLang="en-US" sz="2400" dirty="0"/>
              <a:t>時，常會從左到右掃描字串，依照已學到的 </a:t>
            </a:r>
            <a:r>
              <a:rPr kumimoji="1" lang="en-US" altLang="zh-TW" sz="2400" dirty="0"/>
              <a:t>merge rules </a:t>
            </a:r>
            <a:r>
              <a:rPr kumimoji="1" lang="zh-TW" altLang="en-US" sz="2400" dirty="0"/>
              <a:t>去合併</a:t>
            </a:r>
          </a:p>
          <a:p>
            <a:pPr marL="800100" lvl="1" indent="-342900">
              <a:lnSpc>
                <a:spcPct val="150000"/>
              </a:lnSpc>
              <a:buFont typeface="Arial" panose="020B0604020202020204" pitchFamily="34" charset="0"/>
              <a:buChar char="•"/>
            </a:pPr>
            <a:r>
              <a:rPr kumimoji="1" lang="zh-TW" altLang="en-US" sz="2400" dirty="0"/>
              <a:t>每次合併的依據：依照 </a:t>
            </a:r>
            <a:r>
              <a:rPr kumimoji="1" lang="en-US" altLang="zh-TW" sz="2400" dirty="0"/>
              <a:t>learned merge rules </a:t>
            </a:r>
            <a:r>
              <a:rPr kumimoji="1" lang="zh-TW" altLang="en-US" sz="2400" dirty="0"/>
              <a:t>進行；若可形成較長的已學習子詞，通常會繼續合併 </a:t>
            </a:r>
            <a:r>
              <a:rPr kumimoji="1" lang="en-US" altLang="zh-TW" sz="2400" dirty="0"/>
              <a:t>(e.g., low: </a:t>
            </a:r>
            <a:r>
              <a:rPr kumimoji="1" lang="en-US" altLang="zh-TW" sz="2400" dirty="0" err="1"/>
              <a:t>l+o→lo</a:t>
            </a:r>
            <a:r>
              <a:rPr kumimoji="1" lang="en-US" altLang="zh-TW" sz="2400" dirty="0"/>
              <a:t>, </a:t>
            </a:r>
            <a:r>
              <a:rPr kumimoji="1" lang="en-US" altLang="zh-TW" sz="2400" dirty="0" err="1"/>
              <a:t>lo+w→low</a:t>
            </a:r>
            <a:r>
              <a:rPr kumimoji="1" lang="en-US" altLang="zh-TW" sz="2400" dirty="0"/>
              <a:t>)</a:t>
            </a:r>
            <a:endParaRPr kumimoji="1" lang="zh-TW" altLang="en-US" sz="2400" dirty="0"/>
          </a:p>
        </p:txBody>
      </p:sp>
    </p:spTree>
    <p:extLst>
      <p:ext uri="{BB962C8B-B14F-4D97-AF65-F5344CB8AC3E}">
        <p14:creationId xmlns:p14="http://schemas.microsoft.com/office/powerpoint/2010/main" val="1858553046"/>
      </p:ext>
    </p:extLst>
  </p:cSld>
  <p:clrMapOvr>
    <a:masterClrMapping/>
  </p:clrMapOvr>
</p:sld>
</file>

<file path=ppt/slides/slide3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標題 1">
            <a:extLst>
              <a:ext uri="{FF2B5EF4-FFF2-40B4-BE49-F238E27FC236}">
                <a16:creationId xmlns:a16="http://schemas.microsoft.com/office/drawing/2014/main" id="{9AAFD1CF-5983-F8CD-F466-8DD51E475E55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kumimoji="1" lang="en-US" altLang="zh-TW" dirty="0"/>
              <a:t>Properties of BPE</a:t>
            </a:r>
            <a:endParaRPr kumimoji="1" lang="zh-TW" altLang="en-US" dirty="0"/>
          </a:p>
        </p:txBody>
      </p:sp>
      <p:sp>
        <p:nvSpPr>
          <p:cNvPr id="4" name="投影片編號版面配置區 3">
            <a:extLst>
              <a:ext uri="{FF2B5EF4-FFF2-40B4-BE49-F238E27FC236}">
                <a16:creationId xmlns:a16="http://schemas.microsoft.com/office/drawing/2014/main" id="{00ECD23A-CBE2-E1D9-C33B-BCCA31A0D7E8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6113E31D-E2AB-40D1-8B51-AFA5AFEF393A}" type="slidenum">
              <a:rPr lang="en-US" smtClean="0"/>
              <a:pPr/>
              <a:t>34</a:t>
            </a:fld>
            <a:endParaRPr lang="en-US"/>
          </a:p>
        </p:txBody>
      </p:sp>
      <p:sp>
        <p:nvSpPr>
          <p:cNvPr id="5" name="內容版面配置區 2">
            <a:extLst>
              <a:ext uri="{FF2B5EF4-FFF2-40B4-BE49-F238E27FC236}">
                <a16:creationId xmlns:a16="http://schemas.microsoft.com/office/drawing/2014/main" id="{8F2AA645-42AB-D409-3A78-9907E904497A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653143" y="1751618"/>
            <a:ext cx="10058400" cy="857251"/>
          </a:xfrm>
        </p:spPr>
        <p:txBody>
          <a:bodyPr>
            <a:normAutofit/>
          </a:bodyPr>
          <a:lstStyle/>
          <a:p>
            <a:pPr>
              <a:lnSpc>
                <a:spcPct val="150000"/>
              </a:lnSpc>
              <a:buClr>
                <a:schemeClr val="tx1"/>
              </a:buClr>
              <a:buSzPct val="75000"/>
              <a:buFont typeface="Arial" panose="020B0604020202020204" pitchFamily="34" charset="0"/>
              <a:buChar char="•"/>
            </a:pPr>
            <a:r>
              <a:rPr kumimoji="1" lang="en-US" altLang="zh-TW" sz="2600" dirty="0"/>
              <a:t> The final learned vocabulary size = </a:t>
            </a:r>
            <a:r>
              <a:rPr kumimoji="1" lang="en-US" altLang="zh-TW" sz="2600" b="1" dirty="0">
                <a:solidFill>
                  <a:srgbClr val="0070C0"/>
                </a:solidFill>
              </a:rPr>
              <a:t>initial</a:t>
            </a:r>
            <a:r>
              <a:rPr kumimoji="1" lang="en-US" altLang="zh-TW" sz="2600" dirty="0"/>
              <a:t> size + `</a:t>
            </a:r>
            <a:r>
              <a:rPr kumimoji="1" lang="en-US" altLang="zh-TW" sz="2600" dirty="0" err="1"/>
              <a:t>num_merges</a:t>
            </a:r>
            <a:r>
              <a:rPr kumimoji="1" lang="en-US" altLang="zh-TW" sz="2600" dirty="0"/>
              <a:t>`</a:t>
            </a:r>
          </a:p>
        </p:txBody>
      </p:sp>
      <p:sp>
        <p:nvSpPr>
          <p:cNvPr id="3" name="文字方塊 2">
            <a:extLst>
              <a:ext uri="{FF2B5EF4-FFF2-40B4-BE49-F238E27FC236}">
                <a16:creationId xmlns:a16="http://schemas.microsoft.com/office/drawing/2014/main" id="{69064212-E49C-6CB9-272D-14266AFC3608}"/>
              </a:ext>
            </a:extLst>
          </p:cNvPr>
          <p:cNvSpPr txBox="1"/>
          <p:nvPr/>
        </p:nvSpPr>
        <p:spPr>
          <a:xfrm>
            <a:off x="1156062" y="2451526"/>
            <a:ext cx="9012755" cy="114307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>
              <a:lnSpc>
                <a:spcPct val="150000"/>
              </a:lnSpc>
            </a:pPr>
            <a:r>
              <a:rPr kumimoji="1" lang="en-US" altLang="zh-TW" sz="2400" b="1" dirty="0">
                <a:solidFill>
                  <a:srgbClr val="0070C0"/>
                </a:solidFill>
              </a:rPr>
              <a:t>Initial</a:t>
            </a:r>
            <a:r>
              <a:rPr kumimoji="1" lang="en-US" altLang="zh-TW" sz="2400" dirty="0"/>
              <a:t> vocab: &lt;/w&gt;, d, e, </a:t>
            </a:r>
            <a:r>
              <a:rPr kumimoji="1" lang="en-US" altLang="zh-TW" sz="2400" dirty="0" err="1"/>
              <a:t>i</a:t>
            </a:r>
            <a:r>
              <a:rPr kumimoji="1" lang="en-US" altLang="zh-TW" sz="2400" dirty="0"/>
              <a:t>, l, n, o, r, s, t, w</a:t>
            </a:r>
          </a:p>
          <a:p>
            <a:pPr>
              <a:lnSpc>
                <a:spcPct val="150000"/>
              </a:lnSpc>
            </a:pPr>
            <a:r>
              <a:rPr kumimoji="1" lang="en-US" altLang="zh-TW" sz="2400" dirty="0"/>
              <a:t>Learned vocab: &lt;/w&gt;, d, e, </a:t>
            </a:r>
            <a:r>
              <a:rPr kumimoji="1" lang="en-US" altLang="zh-TW" sz="2400" dirty="0" err="1"/>
              <a:t>i</a:t>
            </a:r>
            <a:r>
              <a:rPr kumimoji="1" lang="en-US" altLang="zh-TW" sz="2400" dirty="0"/>
              <a:t>, l, n, o, r, s, t, w, </a:t>
            </a:r>
            <a:r>
              <a:rPr kumimoji="1" lang="en-US" altLang="zh-TW" sz="2400" dirty="0">
                <a:solidFill>
                  <a:srgbClr val="FF0000"/>
                </a:solidFill>
              </a:rPr>
              <a:t>es, </a:t>
            </a:r>
            <a:r>
              <a:rPr kumimoji="1" lang="en-US" altLang="zh-TW" sz="2400" dirty="0" err="1">
                <a:solidFill>
                  <a:srgbClr val="FF0000"/>
                </a:solidFill>
              </a:rPr>
              <a:t>est</a:t>
            </a:r>
            <a:r>
              <a:rPr kumimoji="1" lang="en-US" altLang="zh-TW" sz="2400" dirty="0">
                <a:solidFill>
                  <a:srgbClr val="FF0000"/>
                </a:solidFill>
              </a:rPr>
              <a:t>, </a:t>
            </a:r>
            <a:r>
              <a:rPr kumimoji="1" lang="en-US" altLang="zh-TW" sz="2400" dirty="0" err="1">
                <a:solidFill>
                  <a:srgbClr val="FF0000"/>
                </a:solidFill>
              </a:rPr>
              <a:t>est</a:t>
            </a:r>
            <a:r>
              <a:rPr kumimoji="1" lang="en-US" altLang="zh-TW" sz="2400" dirty="0">
                <a:solidFill>
                  <a:srgbClr val="FF0000"/>
                </a:solidFill>
              </a:rPr>
              <a:t>&lt;/w&gt;, lo</a:t>
            </a:r>
          </a:p>
        </p:txBody>
      </p:sp>
      <p:sp>
        <p:nvSpPr>
          <p:cNvPr id="6" name="內容版面配置區 2">
            <a:extLst>
              <a:ext uri="{FF2B5EF4-FFF2-40B4-BE49-F238E27FC236}">
                <a16:creationId xmlns:a16="http://schemas.microsoft.com/office/drawing/2014/main" id="{83141190-598E-A36A-28EC-E3F047D8193D}"/>
              </a:ext>
            </a:extLst>
          </p:cNvPr>
          <p:cNvSpPr txBox="1">
            <a:spLocks/>
          </p:cNvSpPr>
          <p:nvPr/>
        </p:nvSpPr>
        <p:spPr>
          <a:xfrm>
            <a:off x="653143" y="3594596"/>
            <a:ext cx="10058400" cy="1537182"/>
          </a:xfrm>
          <a:prstGeom prst="rect">
            <a:avLst/>
          </a:prstGeom>
        </p:spPr>
        <p:txBody>
          <a:bodyPr vert="horz" lIns="0" tIns="45720" rIns="0" bIns="45720" rtlCol="0">
            <a:normAutofit/>
          </a:bodyPr>
          <a:lstStyle>
            <a:lvl1pPr marL="91440" indent="-91440" algn="l" defTabSz="914400" rtl="0" eaLnBrk="1" latinLnBrk="0" hangingPunct="1">
              <a:lnSpc>
                <a:spcPct val="90000"/>
              </a:lnSpc>
              <a:spcBef>
                <a:spcPts val="1200"/>
              </a:spcBef>
              <a:spcAft>
                <a:spcPts val="200"/>
              </a:spcAft>
              <a:buClr>
                <a:schemeClr val="accent1"/>
              </a:buClr>
              <a:buSzPct val="100000"/>
              <a:buFont typeface="Calibri" panose="020F0502020204030204" pitchFamily="34" charset="0"/>
              <a:buChar char=" "/>
              <a:defRPr sz="2000" kern="1200">
                <a:solidFill>
                  <a:schemeClr val="tx1">
                    <a:lumMod val="75000"/>
                    <a:lumOff val="25000"/>
                  </a:schemeClr>
                </a:solidFill>
                <a:latin typeface="+mn-lt"/>
                <a:ea typeface="+mn-ea"/>
                <a:cs typeface="+mn-cs"/>
              </a:defRPr>
            </a:lvl1pPr>
            <a:lvl2pPr marL="384048" indent="-182880" algn="l" defTabSz="914400" rtl="0" eaLnBrk="1" latinLnBrk="0" hangingPunct="1">
              <a:lnSpc>
                <a:spcPct val="90000"/>
              </a:lnSpc>
              <a:spcBef>
                <a:spcPts val="200"/>
              </a:spcBef>
              <a:spcAft>
                <a:spcPts val="400"/>
              </a:spcAft>
              <a:buClr>
                <a:schemeClr val="accent1"/>
              </a:buClr>
              <a:buFont typeface="Calibri" pitchFamily="34" charset="0"/>
              <a:buChar char="◦"/>
              <a:defRPr sz="1800" kern="1200">
                <a:solidFill>
                  <a:schemeClr val="tx1">
                    <a:lumMod val="75000"/>
                    <a:lumOff val="25000"/>
                  </a:schemeClr>
                </a:solidFill>
                <a:latin typeface="+mn-lt"/>
                <a:ea typeface="+mn-ea"/>
                <a:cs typeface="+mn-cs"/>
              </a:defRPr>
            </a:lvl2pPr>
            <a:lvl3pPr marL="566928" indent="-182880" algn="l" defTabSz="914400" rtl="0" eaLnBrk="1" latinLnBrk="0" hangingPunct="1">
              <a:lnSpc>
                <a:spcPct val="90000"/>
              </a:lnSpc>
              <a:spcBef>
                <a:spcPts val="200"/>
              </a:spcBef>
              <a:spcAft>
                <a:spcPts val="400"/>
              </a:spcAft>
              <a:buClr>
                <a:schemeClr val="accent1"/>
              </a:buClr>
              <a:buFont typeface="Calibri" pitchFamily="34" charset="0"/>
              <a:buChar char="◦"/>
              <a:defRPr sz="1400" kern="1200">
                <a:solidFill>
                  <a:schemeClr val="tx1">
                    <a:lumMod val="75000"/>
                    <a:lumOff val="25000"/>
                  </a:schemeClr>
                </a:solidFill>
                <a:latin typeface="+mn-lt"/>
                <a:ea typeface="+mn-ea"/>
                <a:cs typeface="+mn-cs"/>
              </a:defRPr>
            </a:lvl3pPr>
            <a:lvl4pPr marL="749808" indent="-182880" algn="l" defTabSz="914400" rtl="0" eaLnBrk="1" latinLnBrk="0" hangingPunct="1">
              <a:lnSpc>
                <a:spcPct val="90000"/>
              </a:lnSpc>
              <a:spcBef>
                <a:spcPts val="200"/>
              </a:spcBef>
              <a:spcAft>
                <a:spcPts val="400"/>
              </a:spcAft>
              <a:buClr>
                <a:schemeClr val="accent1"/>
              </a:buClr>
              <a:buFont typeface="Calibri" pitchFamily="34" charset="0"/>
              <a:buChar char="◦"/>
              <a:defRPr sz="1400" kern="1200">
                <a:solidFill>
                  <a:schemeClr val="tx1">
                    <a:lumMod val="75000"/>
                    <a:lumOff val="25000"/>
                  </a:schemeClr>
                </a:solidFill>
                <a:latin typeface="+mn-lt"/>
                <a:ea typeface="+mn-ea"/>
                <a:cs typeface="+mn-cs"/>
              </a:defRPr>
            </a:lvl4pPr>
            <a:lvl5pPr marL="932688" indent="-182880" algn="l" defTabSz="914400" rtl="0" eaLnBrk="1" latinLnBrk="0" hangingPunct="1">
              <a:lnSpc>
                <a:spcPct val="90000"/>
              </a:lnSpc>
              <a:spcBef>
                <a:spcPts val="200"/>
              </a:spcBef>
              <a:spcAft>
                <a:spcPts val="400"/>
              </a:spcAft>
              <a:buClr>
                <a:schemeClr val="accent1"/>
              </a:buClr>
              <a:buFont typeface="Calibri" pitchFamily="34" charset="0"/>
              <a:buChar char="◦"/>
              <a:defRPr sz="1400" kern="1200">
                <a:solidFill>
                  <a:schemeClr val="tx1">
                    <a:lumMod val="75000"/>
                    <a:lumOff val="25000"/>
                  </a:schemeClr>
                </a:solidFill>
                <a:latin typeface="+mn-lt"/>
                <a:ea typeface="+mn-ea"/>
                <a:cs typeface="+mn-cs"/>
              </a:defRPr>
            </a:lvl5pPr>
            <a:lvl6pPr marL="1100000" indent="-228600" algn="l" defTabSz="914400" rtl="0" eaLnBrk="1" latinLnBrk="0" hangingPunct="1">
              <a:lnSpc>
                <a:spcPct val="90000"/>
              </a:lnSpc>
              <a:spcBef>
                <a:spcPts val="200"/>
              </a:spcBef>
              <a:spcAft>
                <a:spcPts val="400"/>
              </a:spcAft>
              <a:buClr>
                <a:schemeClr val="accent1"/>
              </a:buClr>
              <a:buFont typeface="Calibri" pitchFamily="34" charset="0"/>
              <a:buChar char="◦"/>
              <a:defRPr sz="1400" kern="1200">
                <a:solidFill>
                  <a:schemeClr val="tx1">
                    <a:lumMod val="75000"/>
                    <a:lumOff val="25000"/>
                  </a:schemeClr>
                </a:solidFill>
                <a:latin typeface="+mn-lt"/>
                <a:ea typeface="+mn-ea"/>
                <a:cs typeface="+mn-cs"/>
              </a:defRPr>
            </a:lvl6pPr>
            <a:lvl7pPr marL="1300000" indent="-228600" algn="l" defTabSz="914400" rtl="0" eaLnBrk="1" latinLnBrk="0" hangingPunct="1">
              <a:lnSpc>
                <a:spcPct val="90000"/>
              </a:lnSpc>
              <a:spcBef>
                <a:spcPts val="200"/>
              </a:spcBef>
              <a:spcAft>
                <a:spcPts val="400"/>
              </a:spcAft>
              <a:buClr>
                <a:schemeClr val="accent1"/>
              </a:buClr>
              <a:buFont typeface="Calibri" pitchFamily="34" charset="0"/>
              <a:buChar char="◦"/>
              <a:defRPr sz="1400" kern="1200">
                <a:solidFill>
                  <a:schemeClr val="tx1">
                    <a:lumMod val="75000"/>
                    <a:lumOff val="25000"/>
                  </a:schemeClr>
                </a:solidFill>
                <a:latin typeface="+mn-lt"/>
                <a:ea typeface="+mn-ea"/>
                <a:cs typeface="+mn-cs"/>
              </a:defRPr>
            </a:lvl7pPr>
            <a:lvl8pPr marL="1500000" indent="-228600" algn="l" defTabSz="914400" rtl="0" eaLnBrk="1" latinLnBrk="0" hangingPunct="1">
              <a:lnSpc>
                <a:spcPct val="90000"/>
              </a:lnSpc>
              <a:spcBef>
                <a:spcPts val="200"/>
              </a:spcBef>
              <a:spcAft>
                <a:spcPts val="400"/>
              </a:spcAft>
              <a:buClr>
                <a:schemeClr val="accent1"/>
              </a:buClr>
              <a:buFont typeface="Calibri" pitchFamily="34" charset="0"/>
              <a:buChar char="◦"/>
              <a:defRPr sz="1400" kern="1200">
                <a:solidFill>
                  <a:schemeClr val="tx1">
                    <a:lumMod val="75000"/>
                    <a:lumOff val="25000"/>
                  </a:schemeClr>
                </a:solidFill>
                <a:latin typeface="+mn-lt"/>
                <a:ea typeface="+mn-ea"/>
                <a:cs typeface="+mn-cs"/>
              </a:defRPr>
            </a:lvl8pPr>
            <a:lvl9pPr marL="1700000" indent="-228600" algn="l" defTabSz="914400" rtl="0" eaLnBrk="1" latinLnBrk="0" hangingPunct="1">
              <a:lnSpc>
                <a:spcPct val="90000"/>
              </a:lnSpc>
              <a:spcBef>
                <a:spcPts val="200"/>
              </a:spcBef>
              <a:spcAft>
                <a:spcPts val="400"/>
              </a:spcAft>
              <a:buClr>
                <a:schemeClr val="accent1"/>
              </a:buClr>
              <a:buFont typeface="Calibri" pitchFamily="34" charset="0"/>
              <a:buChar char="◦"/>
              <a:defRPr sz="1400" kern="1200">
                <a:solidFill>
                  <a:schemeClr val="tx1">
                    <a:lumMod val="75000"/>
                    <a:lumOff val="25000"/>
                  </a:schemeClr>
                </a:solidFill>
                <a:latin typeface="+mn-lt"/>
                <a:ea typeface="+mn-ea"/>
                <a:cs typeface="+mn-cs"/>
              </a:defRPr>
            </a:lvl9pPr>
          </a:lstStyle>
          <a:p>
            <a:pPr>
              <a:lnSpc>
                <a:spcPct val="150000"/>
              </a:lnSpc>
              <a:buClr>
                <a:schemeClr val="tx1"/>
              </a:buClr>
              <a:buSzPct val="75000"/>
              <a:buFont typeface="Arial" panose="020B0604020202020204" pitchFamily="34" charset="0"/>
              <a:buChar char="•"/>
            </a:pPr>
            <a:r>
              <a:rPr kumimoji="1" lang="en-US" altLang="zh-TW" sz="2600" dirty="0"/>
              <a:t> This algorithm is based on statistics, so frequent sub-word units in provided corpora will be put to the learned vocabulary.</a:t>
            </a:r>
          </a:p>
        </p:txBody>
      </p:sp>
    </p:spTree>
    <p:extLst>
      <p:ext uri="{BB962C8B-B14F-4D97-AF65-F5344CB8AC3E}">
        <p14:creationId xmlns:p14="http://schemas.microsoft.com/office/powerpoint/2010/main" val="1222562434"/>
      </p:ext>
    </p:extLst>
  </p:cSld>
  <p:clrMapOvr>
    <a:masterClrMapping/>
  </p:clrMapOvr>
</p:sld>
</file>

<file path=ppt/slides/slide3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" name="標題 6">
            <a:extLst>
              <a:ext uri="{FF2B5EF4-FFF2-40B4-BE49-F238E27FC236}">
                <a16:creationId xmlns:a16="http://schemas.microsoft.com/office/drawing/2014/main" id="{748D6B33-81BB-3434-DF16-FBA7921D38F6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altLang="zh-TW" dirty="0"/>
              <a:t>Attention</a:t>
            </a:r>
            <a:endParaRPr lang="zh-TW" altLang="en-US" dirty="0"/>
          </a:p>
        </p:txBody>
      </p:sp>
      <p:sp>
        <p:nvSpPr>
          <p:cNvPr id="8" name="文字版面配置區 7">
            <a:extLst>
              <a:ext uri="{FF2B5EF4-FFF2-40B4-BE49-F238E27FC236}">
                <a16:creationId xmlns:a16="http://schemas.microsoft.com/office/drawing/2014/main" id="{18B721E6-84E1-23EC-7EFA-7E9DBEA5A7EA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zh-TW" altLang="en-US"/>
          </a:p>
        </p:txBody>
      </p:sp>
      <p:sp>
        <p:nvSpPr>
          <p:cNvPr id="4" name="投影片編號版面配置區 3">
            <a:extLst>
              <a:ext uri="{FF2B5EF4-FFF2-40B4-BE49-F238E27FC236}">
                <a16:creationId xmlns:a16="http://schemas.microsoft.com/office/drawing/2014/main" id="{94EBB1DA-54A1-9DDE-D4C0-9CE40FB01A48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6113E31D-E2AB-40D1-8B51-AFA5AFEF393A}" type="slidenum">
              <a:rPr lang="en-US" smtClean="0"/>
              <a:pPr/>
              <a:t>35</a:t>
            </a:fld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1746303344"/>
      </p:ext>
    </p:extLst>
  </p:cSld>
  <p:clrMapOvr>
    <a:masterClrMapping/>
  </p:clrMapOvr>
</p:sld>
</file>

<file path=ppt/slides/slide3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標題 1">
            <a:extLst>
              <a:ext uri="{FF2B5EF4-FFF2-40B4-BE49-F238E27FC236}">
                <a16:creationId xmlns:a16="http://schemas.microsoft.com/office/drawing/2014/main" id="{AFBC97FD-B1C6-A558-52C8-BEB404A96D7E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kumimoji="1" lang="en-US" altLang="zh-TW" dirty="0"/>
              <a:t>Attention relationship among words</a:t>
            </a:r>
            <a:endParaRPr kumimoji="1" lang="zh-TW" altLang="en-US" dirty="0"/>
          </a:p>
        </p:txBody>
      </p:sp>
      <p:sp>
        <p:nvSpPr>
          <p:cNvPr id="4" name="投影片編號版面配置區 3">
            <a:extLst>
              <a:ext uri="{FF2B5EF4-FFF2-40B4-BE49-F238E27FC236}">
                <a16:creationId xmlns:a16="http://schemas.microsoft.com/office/drawing/2014/main" id="{932B1FD8-9661-0A9E-7D0D-141E73225C1E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>
          <a:xfrm>
            <a:off x="10524537" y="6492875"/>
            <a:ext cx="1312025" cy="365125"/>
          </a:xfrm>
        </p:spPr>
        <p:txBody>
          <a:bodyPr/>
          <a:lstStyle/>
          <a:p>
            <a:fld id="{6113E31D-E2AB-40D1-8B51-AFA5AFEF393A}" type="slidenum">
              <a:rPr lang="en-US" smtClean="0"/>
              <a:pPr/>
              <a:t>36</a:t>
            </a:fld>
            <a:endParaRPr lang="en-US" dirty="0"/>
          </a:p>
        </p:txBody>
      </p:sp>
      <p:sp>
        <p:nvSpPr>
          <p:cNvPr id="5" name="文字方塊 4">
            <a:extLst>
              <a:ext uri="{FF2B5EF4-FFF2-40B4-BE49-F238E27FC236}">
                <a16:creationId xmlns:a16="http://schemas.microsoft.com/office/drawing/2014/main" id="{951BE58B-84C4-6C1D-BA9C-06BA723D2AF3}"/>
              </a:ext>
            </a:extLst>
          </p:cNvPr>
          <p:cNvSpPr txBox="1"/>
          <p:nvPr/>
        </p:nvSpPr>
        <p:spPr>
          <a:xfrm>
            <a:off x="653143" y="2338093"/>
            <a:ext cx="10080666" cy="830997"/>
          </a:xfrm>
          <a:prstGeom prst="rect">
            <a:avLst/>
          </a:prstGeom>
          <a:noFill/>
          <a:ln>
            <a:solidFill>
              <a:schemeClr val="tx1"/>
            </a:solidFill>
          </a:ln>
        </p:spPr>
        <p:txBody>
          <a:bodyPr wrap="square" rtlCol="0">
            <a:spAutoFit/>
          </a:bodyPr>
          <a:lstStyle/>
          <a:p>
            <a:r>
              <a:rPr kumimoji="1" lang="en" altLang="zh-TW" sz="2400" dirty="0"/>
              <a:t>Katniss looked at Prim sleeping beside her and felt a sudden heaviness, because today was the </a:t>
            </a:r>
            <a:r>
              <a:rPr kumimoji="1" lang="en" altLang="zh-TW" sz="2400" dirty="0">
                <a:solidFill>
                  <a:srgbClr val="FF0000"/>
                </a:solidFill>
              </a:rPr>
              <a:t>Reaping</a:t>
            </a:r>
            <a:r>
              <a:rPr kumimoji="1" lang="en" altLang="zh-TW" sz="2400" dirty="0"/>
              <a:t>.</a:t>
            </a:r>
            <a:endParaRPr kumimoji="1" lang="zh-TW" altLang="en-US" sz="2400" dirty="0"/>
          </a:p>
        </p:txBody>
      </p:sp>
      <p:pic>
        <p:nvPicPr>
          <p:cNvPr id="1026" name="Picture 2" descr="Cover of the novel, showing the title in white text on a black and grey background, above a depiction of a gold pin featuring a bird in flight, its wings spread and an arrow clasped in its beak.">
            <a:extLst>
              <a:ext uri="{FF2B5EF4-FFF2-40B4-BE49-F238E27FC236}">
                <a16:creationId xmlns:a16="http://schemas.microsoft.com/office/drawing/2014/main" id="{E7F0B92B-2E4A-5AAE-8783-AA93B994D331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10822243" y="2213264"/>
            <a:ext cx="716614" cy="1080654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sp>
        <p:nvSpPr>
          <p:cNvPr id="6" name="文字方塊 5">
            <a:extLst>
              <a:ext uri="{FF2B5EF4-FFF2-40B4-BE49-F238E27FC236}">
                <a16:creationId xmlns:a16="http://schemas.microsoft.com/office/drawing/2014/main" id="{D82CCE80-F14D-2E56-3B46-73C25F78E174}"/>
              </a:ext>
            </a:extLst>
          </p:cNvPr>
          <p:cNvSpPr txBox="1"/>
          <p:nvPr/>
        </p:nvSpPr>
        <p:spPr>
          <a:xfrm>
            <a:off x="4239492" y="3083867"/>
            <a:ext cx="477981" cy="46166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kumimoji="1" lang="en-US" altLang="zh-TW" sz="2400" b="1" dirty="0"/>
              <a:t>?</a:t>
            </a:r>
            <a:endParaRPr kumimoji="1" lang="zh-TW" altLang="en-US" sz="2400" b="1" dirty="0"/>
          </a:p>
        </p:txBody>
      </p:sp>
      <p:cxnSp>
        <p:nvCxnSpPr>
          <p:cNvPr id="8" name="直線接點 7">
            <a:extLst>
              <a:ext uri="{FF2B5EF4-FFF2-40B4-BE49-F238E27FC236}">
                <a16:creationId xmlns:a16="http://schemas.microsoft.com/office/drawing/2014/main" id="{2EE99200-C7D9-E5BE-BDEC-EE5D857C5BBA}"/>
              </a:ext>
            </a:extLst>
          </p:cNvPr>
          <p:cNvCxnSpPr/>
          <p:nvPr/>
        </p:nvCxnSpPr>
        <p:spPr>
          <a:xfrm>
            <a:off x="7169727" y="2784764"/>
            <a:ext cx="3200400" cy="0"/>
          </a:xfrm>
          <a:prstGeom prst="line">
            <a:avLst/>
          </a:prstGeom>
          <a:ln w="28575">
            <a:solidFill>
              <a:schemeClr val="accent6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0" name="肘形接點 9">
            <a:extLst>
              <a:ext uri="{FF2B5EF4-FFF2-40B4-BE49-F238E27FC236}">
                <a16:creationId xmlns:a16="http://schemas.microsoft.com/office/drawing/2014/main" id="{C4594478-F00B-88FB-FF9E-82A52F3CA073}"/>
              </a:ext>
            </a:extLst>
          </p:cNvPr>
          <p:cNvCxnSpPr>
            <a:cxnSpLocks/>
          </p:cNvCxnSpPr>
          <p:nvPr/>
        </p:nvCxnSpPr>
        <p:spPr>
          <a:xfrm rot="5400000">
            <a:off x="6405194" y="1052546"/>
            <a:ext cx="622406" cy="4195496"/>
          </a:xfrm>
          <a:prstGeom prst="bentConnector3">
            <a:avLst>
              <a:gd name="adj1" fmla="val 136728"/>
            </a:avLst>
          </a:prstGeom>
          <a:ln w="28575">
            <a:solidFill>
              <a:schemeClr val="accent6"/>
            </a:solidFill>
            <a:headEnd type="triangle"/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16" name="文字方塊 15">
            <a:extLst>
              <a:ext uri="{FF2B5EF4-FFF2-40B4-BE49-F238E27FC236}">
                <a16:creationId xmlns:a16="http://schemas.microsoft.com/office/drawing/2014/main" id="{DCD1B84A-4108-E7CC-3450-B0EF823108BB}"/>
              </a:ext>
            </a:extLst>
          </p:cNvPr>
          <p:cNvSpPr txBox="1"/>
          <p:nvPr/>
        </p:nvSpPr>
        <p:spPr>
          <a:xfrm>
            <a:off x="6096000" y="3808714"/>
            <a:ext cx="877922" cy="461665"/>
          </a:xfrm>
          <a:prstGeom prst="rect">
            <a:avLst/>
          </a:prstGeom>
          <a:noFill/>
          <a:ln>
            <a:noFill/>
          </a:ln>
        </p:spPr>
        <p:txBody>
          <a:bodyPr wrap="square" rtlCol="0">
            <a:spAutoFit/>
          </a:bodyPr>
          <a:lstStyle/>
          <a:p>
            <a:pPr algn="ctr"/>
            <a:r>
              <a:rPr kumimoji="1" lang="zh-TW" altLang="en-US" sz="2400" dirty="0"/>
              <a:t>沈重</a:t>
            </a:r>
          </a:p>
        </p:txBody>
      </p:sp>
      <p:cxnSp>
        <p:nvCxnSpPr>
          <p:cNvPr id="17" name="直線接點 16">
            <a:extLst>
              <a:ext uri="{FF2B5EF4-FFF2-40B4-BE49-F238E27FC236}">
                <a16:creationId xmlns:a16="http://schemas.microsoft.com/office/drawing/2014/main" id="{197873B2-5840-0721-B1A7-67FE2AC56412}"/>
              </a:ext>
            </a:extLst>
          </p:cNvPr>
          <p:cNvCxnSpPr>
            <a:cxnSpLocks/>
          </p:cNvCxnSpPr>
          <p:nvPr/>
        </p:nvCxnSpPr>
        <p:spPr>
          <a:xfrm>
            <a:off x="1939636" y="3104649"/>
            <a:ext cx="855519" cy="0"/>
          </a:xfrm>
          <a:prstGeom prst="line">
            <a:avLst/>
          </a:prstGeom>
          <a:ln w="28575">
            <a:solidFill>
              <a:schemeClr val="accent1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9" name="肘形接點 18">
            <a:extLst>
              <a:ext uri="{FF2B5EF4-FFF2-40B4-BE49-F238E27FC236}">
                <a16:creationId xmlns:a16="http://schemas.microsoft.com/office/drawing/2014/main" id="{570637E3-F38B-E337-0129-884885607CE2}"/>
              </a:ext>
            </a:extLst>
          </p:cNvPr>
          <p:cNvCxnSpPr>
            <a:cxnSpLocks/>
          </p:cNvCxnSpPr>
          <p:nvPr/>
        </p:nvCxnSpPr>
        <p:spPr>
          <a:xfrm rot="16200000" flipH="1">
            <a:off x="3209899" y="2296347"/>
            <a:ext cx="316054" cy="2023464"/>
          </a:xfrm>
          <a:prstGeom prst="bentConnector3">
            <a:avLst>
              <a:gd name="adj1" fmla="val 172329"/>
            </a:avLst>
          </a:prstGeom>
          <a:ln w="28575">
            <a:solidFill>
              <a:schemeClr val="accent1"/>
            </a:solidFill>
            <a:headEnd type="triangle"/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33" name="文字方塊 32">
            <a:extLst>
              <a:ext uri="{FF2B5EF4-FFF2-40B4-BE49-F238E27FC236}">
                <a16:creationId xmlns:a16="http://schemas.microsoft.com/office/drawing/2014/main" id="{C0E28A72-845C-DD27-C191-B981B7C37145}"/>
              </a:ext>
            </a:extLst>
          </p:cNvPr>
          <p:cNvSpPr txBox="1"/>
          <p:nvPr/>
        </p:nvSpPr>
        <p:spPr>
          <a:xfrm>
            <a:off x="2642579" y="3808713"/>
            <a:ext cx="1450693" cy="461665"/>
          </a:xfrm>
          <a:prstGeom prst="rect">
            <a:avLst/>
          </a:prstGeom>
          <a:noFill/>
          <a:ln>
            <a:noFill/>
          </a:ln>
        </p:spPr>
        <p:txBody>
          <a:bodyPr wrap="square" rtlCol="0">
            <a:spAutoFit/>
          </a:bodyPr>
          <a:lstStyle/>
          <a:p>
            <a:pPr algn="ctr"/>
            <a:r>
              <a:rPr kumimoji="1" lang="zh-TW" altLang="en-US" sz="2400" dirty="0"/>
              <a:t>特殊節日</a:t>
            </a:r>
          </a:p>
        </p:txBody>
      </p:sp>
      <p:cxnSp>
        <p:nvCxnSpPr>
          <p:cNvPr id="37" name="直線箭頭接點 36">
            <a:extLst>
              <a:ext uri="{FF2B5EF4-FFF2-40B4-BE49-F238E27FC236}">
                <a16:creationId xmlns:a16="http://schemas.microsoft.com/office/drawing/2014/main" id="{A7C87D01-09FC-AFE4-5517-71107CD46EDD}"/>
              </a:ext>
            </a:extLst>
          </p:cNvPr>
          <p:cNvCxnSpPr>
            <a:cxnSpLocks/>
          </p:cNvCxnSpPr>
          <p:nvPr/>
        </p:nvCxnSpPr>
        <p:spPr>
          <a:xfrm>
            <a:off x="1181100" y="5164281"/>
            <a:ext cx="758536" cy="0"/>
          </a:xfrm>
          <a:prstGeom prst="straightConnector1">
            <a:avLst/>
          </a:prstGeom>
          <a:ln w="28575">
            <a:solidFill>
              <a:schemeClr val="accent1"/>
            </a:solidFill>
            <a:headEnd type="triangle"/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39" name="直線箭頭接點 38">
            <a:extLst>
              <a:ext uri="{FF2B5EF4-FFF2-40B4-BE49-F238E27FC236}">
                <a16:creationId xmlns:a16="http://schemas.microsoft.com/office/drawing/2014/main" id="{16ECC648-04DD-6BB3-3561-962C9A895560}"/>
              </a:ext>
            </a:extLst>
          </p:cNvPr>
          <p:cNvCxnSpPr>
            <a:cxnSpLocks/>
          </p:cNvCxnSpPr>
          <p:nvPr/>
        </p:nvCxnSpPr>
        <p:spPr>
          <a:xfrm>
            <a:off x="1181100" y="5389418"/>
            <a:ext cx="758536" cy="0"/>
          </a:xfrm>
          <a:prstGeom prst="straightConnector1">
            <a:avLst/>
          </a:prstGeom>
          <a:ln w="28575">
            <a:solidFill>
              <a:schemeClr val="accent6"/>
            </a:solidFill>
            <a:headEnd type="triangle"/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40" name="文字方塊 39">
            <a:extLst>
              <a:ext uri="{FF2B5EF4-FFF2-40B4-BE49-F238E27FC236}">
                <a16:creationId xmlns:a16="http://schemas.microsoft.com/office/drawing/2014/main" id="{5348AAD7-5571-ECC5-F85A-9DDCEB5139C3}"/>
              </a:ext>
            </a:extLst>
          </p:cNvPr>
          <p:cNvSpPr txBox="1"/>
          <p:nvPr/>
        </p:nvSpPr>
        <p:spPr>
          <a:xfrm>
            <a:off x="1939636" y="5056623"/>
            <a:ext cx="1323110" cy="461665"/>
          </a:xfrm>
          <a:prstGeom prst="rect">
            <a:avLst/>
          </a:prstGeom>
          <a:noFill/>
          <a:ln>
            <a:noFill/>
          </a:ln>
        </p:spPr>
        <p:txBody>
          <a:bodyPr wrap="square" rtlCol="0">
            <a:spAutoFit/>
          </a:bodyPr>
          <a:lstStyle/>
          <a:p>
            <a:pPr algn="ctr"/>
            <a:r>
              <a:rPr kumimoji="1" lang="zh-TW" altLang="en-US" sz="2400" dirty="0"/>
              <a:t>注意力</a:t>
            </a:r>
          </a:p>
        </p:txBody>
      </p:sp>
      <p:sp>
        <p:nvSpPr>
          <p:cNvPr id="41" name="文字方塊 40">
            <a:extLst>
              <a:ext uri="{FF2B5EF4-FFF2-40B4-BE49-F238E27FC236}">
                <a16:creationId xmlns:a16="http://schemas.microsoft.com/office/drawing/2014/main" id="{E333497F-33DA-C1CE-E8BA-4CE584C9DA9C}"/>
              </a:ext>
            </a:extLst>
          </p:cNvPr>
          <p:cNvSpPr txBox="1"/>
          <p:nvPr/>
        </p:nvSpPr>
        <p:spPr>
          <a:xfrm>
            <a:off x="7169727" y="4597630"/>
            <a:ext cx="3699164" cy="40011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kumimoji="1" lang="zh-TW" altLang="en-US" sz="2000" dirty="0">
                <a:solidFill>
                  <a:srgbClr val="0070C0"/>
                </a:solidFill>
              </a:rPr>
              <a:t>任務</a:t>
            </a:r>
            <a:r>
              <a:rPr kumimoji="1" lang="en-US" altLang="zh-TW" sz="2000" dirty="0">
                <a:solidFill>
                  <a:srgbClr val="0070C0"/>
                </a:solidFill>
              </a:rPr>
              <a:t>1</a:t>
            </a:r>
            <a:r>
              <a:rPr kumimoji="1" lang="zh-TW" altLang="en-US" sz="2000" dirty="0">
                <a:solidFill>
                  <a:srgbClr val="0070C0"/>
                </a:solidFill>
              </a:rPr>
              <a:t>：找出與時間相關的字詞</a:t>
            </a:r>
          </a:p>
        </p:txBody>
      </p:sp>
      <p:sp>
        <p:nvSpPr>
          <p:cNvPr id="42" name="文字方塊 41">
            <a:extLst>
              <a:ext uri="{FF2B5EF4-FFF2-40B4-BE49-F238E27FC236}">
                <a16:creationId xmlns:a16="http://schemas.microsoft.com/office/drawing/2014/main" id="{4903E00C-445A-CD7F-40FD-01264A223DB7}"/>
              </a:ext>
            </a:extLst>
          </p:cNvPr>
          <p:cNvSpPr txBox="1"/>
          <p:nvPr/>
        </p:nvSpPr>
        <p:spPr>
          <a:xfrm>
            <a:off x="7169727" y="5056623"/>
            <a:ext cx="3699164" cy="40011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kumimoji="1" lang="zh-TW" altLang="en-US" sz="2000" dirty="0">
                <a:solidFill>
                  <a:schemeClr val="accent6"/>
                </a:solidFill>
              </a:rPr>
              <a:t>任務</a:t>
            </a:r>
            <a:r>
              <a:rPr kumimoji="1" lang="en-US" altLang="zh-TW" sz="2000" dirty="0">
                <a:solidFill>
                  <a:schemeClr val="accent6"/>
                </a:solidFill>
              </a:rPr>
              <a:t>2</a:t>
            </a:r>
            <a:r>
              <a:rPr kumimoji="1" lang="zh-TW" altLang="en-US" sz="2000" dirty="0">
                <a:solidFill>
                  <a:schemeClr val="accent6"/>
                </a:solidFill>
              </a:rPr>
              <a:t>：情感分類任務</a:t>
            </a:r>
          </a:p>
        </p:txBody>
      </p:sp>
    </p:spTree>
    <p:extLst>
      <p:ext uri="{BB962C8B-B14F-4D97-AF65-F5344CB8AC3E}">
        <p14:creationId xmlns:p14="http://schemas.microsoft.com/office/powerpoint/2010/main" val="1918876316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7" fill="hold">
                      <p:stCondLst>
                        <p:cond delay="indefinite"/>
                      </p:stCondLst>
                      <p:childTnLst>
                        <p:par>
                          <p:cTn id="8" fill="hold">
                            <p:stCondLst>
                              <p:cond delay="0"/>
                            </p:stCondLst>
                            <p:childTnLst>
                              <p:par>
                                <p:cTn id="9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1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3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5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7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9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1" fill="hold">
                      <p:stCondLst>
                        <p:cond delay="indefinite"/>
                      </p:stCondLst>
                      <p:childTnLst>
                        <p:par>
                          <p:cTn id="22" fill="hold">
                            <p:stCondLst>
                              <p:cond delay="0"/>
                            </p:stCondLst>
                            <p:childTnLst>
                              <p:par>
                                <p:cTn id="23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25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27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9" fill="hold">
                      <p:stCondLst>
                        <p:cond delay="indefinite"/>
                      </p:stCondLst>
                      <p:childTnLst>
                        <p:par>
                          <p:cTn id="30" fill="hold">
                            <p:stCondLst>
                              <p:cond delay="0"/>
                            </p:stCondLst>
                            <p:childTnLst>
                              <p:par>
                                <p:cTn id="31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6" grpId="0"/>
      <p:bldP spid="16" grpId="0"/>
      <p:bldP spid="33" grpId="0"/>
      <p:bldP spid="40" grpId="0"/>
      <p:bldP spid="41" grpId="0"/>
      <p:bldP spid="42" grpId="0"/>
    </p:bldLst>
  </p:timing>
</p:sld>
</file>

<file path=ppt/slides/slide3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標題 1">
            <a:extLst>
              <a:ext uri="{FF2B5EF4-FFF2-40B4-BE49-F238E27FC236}">
                <a16:creationId xmlns:a16="http://schemas.microsoft.com/office/drawing/2014/main" id="{C22ECE1C-38DD-0C44-7B47-AE272BD92F5E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kumimoji="1" lang="en-US" altLang="zh-TW" dirty="0"/>
              <a:t>Attention</a:t>
            </a:r>
            <a:endParaRPr kumimoji="1" lang="zh-TW" altLang="en-US" dirty="0"/>
          </a:p>
        </p:txBody>
      </p:sp>
      <p:sp>
        <p:nvSpPr>
          <p:cNvPr id="4" name="投影片編號版面配置區 3">
            <a:extLst>
              <a:ext uri="{FF2B5EF4-FFF2-40B4-BE49-F238E27FC236}">
                <a16:creationId xmlns:a16="http://schemas.microsoft.com/office/drawing/2014/main" id="{B0C818A6-DE03-FAA5-FF37-8FF2DFEE758D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6113E31D-E2AB-40D1-8B51-AFA5AFEF393A}" type="slidenum">
              <a:rPr lang="en-US" smtClean="0"/>
              <a:pPr/>
              <a:t>37</a:t>
            </a:fld>
            <a:endParaRPr lang="en-US" dirty="0"/>
          </a:p>
        </p:txBody>
      </p:sp>
      <p:pic>
        <p:nvPicPr>
          <p:cNvPr id="6" name="圖片 5" descr="一張含有 寵物, 哺乳動物, 狗飼養, 室內 的圖片&#10;&#10;AI 產生的內容可能不正確。">
            <a:extLst>
              <a:ext uri="{FF2B5EF4-FFF2-40B4-BE49-F238E27FC236}">
                <a16:creationId xmlns:a16="http://schemas.microsoft.com/office/drawing/2014/main" id="{755FA42C-E534-5026-A496-3918D97E0C35}"/>
              </a:ext>
            </a:extLst>
          </p:cNvPr>
          <p:cNvPicPr>
            <a:picLocks noChangeAspect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 rot="5400000">
            <a:off x="3158405" y="1139597"/>
            <a:ext cx="6268067" cy="4701050"/>
          </a:xfrm>
          <a:prstGeom prst="rect">
            <a:avLst/>
          </a:prstGeom>
        </p:spPr>
      </p:pic>
      <p:sp>
        <p:nvSpPr>
          <p:cNvPr id="7" name="矩形 6">
            <a:extLst>
              <a:ext uri="{FF2B5EF4-FFF2-40B4-BE49-F238E27FC236}">
                <a16:creationId xmlns:a16="http://schemas.microsoft.com/office/drawing/2014/main" id="{47ECC4DE-E08B-AB92-193C-1D07E9018A70}"/>
              </a:ext>
            </a:extLst>
          </p:cNvPr>
          <p:cNvSpPr/>
          <p:nvPr/>
        </p:nvSpPr>
        <p:spPr>
          <a:xfrm>
            <a:off x="4100947" y="2673927"/>
            <a:ext cx="4433455" cy="3463637"/>
          </a:xfrm>
          <a:prstGeom prst="rect">
            <a:avLst/>
          </a:prstGeom>
          <a:noFill/>
          <a:ln w="57150">
            <a:solidFill>
              <a:srgbClr val="FF0000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kumimoji="1" lang="zh-TW" altLang="en-US"/>
          </a:p>
        </p:txBody>
      </p:sp>
      <p:sp>
        <p:nvSpPr>
          <p:cNvPr id="8" name="矩形 7">
            <a:extLst>
              <a:ext uri="{FF2B5EF4-FFF2-40B4-BE49-F238E27FC236}">
                <a16:creationId xmlns:a16="http://schemas.microsoft.com/office/drawing/2014/main" id="{E9F64DDC-9B4C-AD94-96C5-833384874D32}"/>
              </a:ext>
            </a:extLst>
          </p:cNvPr>
          <p:cNvSpPr/>
          <p:nvPr/>
        </p:nvSpPr>
        <p:spPr>
          <a:xfrm>
            <a:off x="4253349" y="1496290"/>
            <a:ext cx="637309" cy="649480"/>
          </a:xfrm>
          <a:prstGeom prst="rect">
            <a:avLst/>
          </a:prstGeom>
          <a:noFill/>
          <a:ln w="57150">
            <a:solidFill>
              <a:srgbClr val="FF0000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kumimoji="1" lang="zh-TW" altLang="en-US"/>
          </a:p>
        </p:txBody>
      </p:sp>
      <p:sp>
        <p:nvSpPr>
          <p:cNvPr id="9" name="矩形 8">
            <a:extLst>
              <a:ext uri="{FF2B5EF4-FFF2-40B4-BE49-F238E27FC236}">
                <a16:creationId xmlns:a16="http://schemas.microsoft.com/office/drawing/2014/main" id="{757E7EF0-546B-9276-0E4A-E032A91142C9}"/>
              </a:ext>
            </a:extLst>
          </p:cNvPr>
          <p:cNvSpPr/>
          <p:nvPr/>
        </p:nvSpPr>
        <p:spPr>
          <a:xfrm>
            <a:off x="3941913" y="548056"/>
            <a:ext cx="1059580" cy="2001180"/>
          </a:xfrm>
          <a:prstGeom prst="rect">
            <a:avLst/>
          </a:prstGeom>
          <a:noFill/>
          <a:ln w="57150">
            <a:solidFill>
              <a:srgbClr val="FF0000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kumimoji="1" lang="zh-TW" altLang="en-US"/>
          </a:p>
        </p:txBody>
      </p:sp>
      <p:sp>
        <p:nvSpPr>
          <p:cNvPr id="10" name="矩形 9">
            <a:extLst>
              <a:ext uri="{FF2B5EF4-FFF2-40B4-BE49-F238E27FC236}">
                <a16:creationId xmlns:a16="http://schemas.microsoft.com/office/drawing/2014/main" id="{74D8DD0B-FCE0-FBA4-1F32-F30BD29D1C0B}"/>
              </a:ext>
            </a:extLst>
          </p:cNvPr>
          <p:cNvSpPr/>
          <p:nvPr/>
        </p:nvSpPr>
        <p:spPr>
          <a:xfrm>
            <a:off x="4052753" y="698458"/>
            <a:ext cx="519249" cy="562303"/>
          </a:xfrm>
          <a:prstGeom prst="rect">
            <a:avLst/>
          </a:prstGeom>
          <a:noFill/>
          <a:ln w="57150">
            <a:solidFill>
              <a:srgbClr val="FF0000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kumimoji="1" lang="zh-TW" altLang="en-US"/>
          </a:p>
        </p:txBody>
      </p:sp>
      <p:sp>
        <p:nvSpPr>
          <p:cNvPr id="11" name="矩形 10">
            <a:extLst>
              <a:ext uri="{FF2B5EF4-FFF2-40B4-BE49-F238E27FC236}">
                <a16:creationId xmlns:a16="http://schemas.microsoft.com/office/drawing/2014/main" id="{A36A5B99-5AF6-3FEC-3B4E-68131E2571AA}"/>
              </a:ext>
            </a:extLst>
          </p:cNvPr>
          <p:cNvSpPr/>
          <p:nvPr/>
        </p:nvSpPr>
        <p:spPr>
          <a:xfrm>
            <a:off x="3823858" y="1086423"/>
            <a:ext cx="318654" cy="649480"/>
          </a:xfrm>
          <a:prstGeom prst="rect">
            <a:avLst/>
          </a:prstGeom>
          <a:noFill/>
          <a:ln w="28575">
            <a:solidFill>
              <a:srgbClr val="FF0000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kumimoji="1" lang="zh-TW" altLang="en-US"/>
          </a:p>
        </p:txBody>
      </p:sp>
    </p:spTree>
    <p:extLst>
      <p:ext uri="{BB962C8B-B14F-4D97-AF65-F5344CB8AC3E}">
        <p14:creationId xmlns:p14="http://schemas.microsoft.com/office/powerpoint/2010/main" val="3836239332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7" fill="hold">
                      <p:stCondLst>
                        <p:cond delay="indefinite"/>
                      </p:stCondLst>
                      <p:childTnLst>
                        <p:par>
                          <p:cTn id="8" fill="hold">
                            <p:stCondLst>
                              <p:cond delay="0"/>
                            </p:stCondLst>
                            <p:childTnLst>
                              <p:par>
                                <p:cTn id="9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1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3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5" fill="hold">
                      <p:stCondLst>
                        <p:cond delay="indefinite"/>
                      </p:stCondLst>
                      <p:childTnLst>
                        <p:par>
                          <p:cTn id="16" fill="hold">
                            <p:stCondLst>
                              <p:cond delay="0"/>
                            </p:stCondLst>
                            <p:childTnLst>
                              <p:par>
                                <p:cTn id="17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7" grpId="0" animBg="1"/>
      <p:bldP spid="8" grpId="0" animBg="1"/>
      <p:bldP spid="9" grpId="0" animBg="1"/>
      <p:bldP spid="10" grpId="0" animBg="1"/>
      <p:bldP spid="11" grpId="0" animBg="1"/>
    </p:bldLst>
  </p:timing>
</p:sld>
</file>

<file path=ppt/slides/slide3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標題 1">
            <a:extLst>
              <a:ext uri="{FF2B5EF4-FFF2-40B4-BE49-F238E27FC236}">
                <a16:creationId xmlns:a16="http://schemas.microsoft.com/office/drawing/2014/main" id="{2FF9CE89-F6FC-9C66-BFEA-A465E734F8EF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kumimoji="1" lang="en-US" altLang="zh-TW" dirty="0"/>
              <a:t>What is Attention?</a:t>
            </a:r>
            <a:endParaRPr kumimoji="1" lang="zh-TW" altLang="en-US" dirty="0"/>
          </a:p>
        </p:txBody>
      </p:sp>
      <p:sp>
        <p:nvSpPr>
          <p:cNvPr id="3" name="內容版面配置區 2">
            <a:extLst>
              <a:ext uri="{FF2B5EF4-FFF2-40B4-BE49-F238E27FC236}">
                <a16:creationId xmlns:a16="http://schemas.microsoft.com/office/drawing/2014/main" id="{9C111AE4-402B-F8D1-0C7B-0518C5E9F127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>
            <a:normAutofit/>
          </a:bodyPr>
          <a:lstStyle/>
          <a:p>
            <a:pPr marL="0" indent="0">
              <a:lnSpc>
                <a:spcPct val="150000"/>
              </a:lnSpc>
              <a:buNone/>
            </a:pPr>
            <a:r>
              <a:rPr kumimoji="1" lang="zh-TW" altLang="en-US" sz="2400" dirty="0"/>
              <a:t>💡 </a:t>
            </a:r>
            <a:r>
              <a:rPr kumimoji="1" lang="en" altLang="zh-TW" sz="2400" dirty="0"/>
              <a:t>attention</a:t>
            </a:r>
            <a:r>
              <a:rPr kumimoji="1" lang="zh-TW" altLang="en-US" sz="2400" dirty="0"/>
              <a:t> </a:t>
            </a:r>
            <a:r>
              <a:rPr kumimoji="1" lang="en-US" altLang="zh-TW" sz="2400" dirty="0"/>
              <a:t>(</a:t>
            </a:r>
            <a:r>
              <a:rPr kumimoji="1" lang="zh-TW" altLang="en-US" sz="2400" dirty="0"/>
              <a:t>注意力機制</a:t>
            </a:r>
            <a:r>
              <a:rPr kumimoji="1" lang="en-US" altLang="zh-TW" sz="2400" dirty="0"/>
              <a:t>): </a:t>
            </a:r>
            <a:r>
              <a:rPr kumimoji="1" lang="zh-TW" altLang="en-US" sz="2400" dirty="0"/>
              <a:t>在理解一個輸入時，不平均看所有部分，而是根據當前任務，動態聚焦在更重要的位置。</a:t>
            </a:r>
          </a:p>
        </p:txBody>
      </p:sp>
      <p:sp>
        <p:nvSpPr>
          <p:cNvPr id="4" name="投影片編號版面配置區 3">
            <a:extLst>
              <a:ext uri="{FF2B5EF4-FFF2-40B4-BE49-F238E27FC236}">
                <a16:creationId xmlns:a16="http://schemas.microsoft.com/office/drawing/2014/main" id="{4EC97441-7B5C-AB6E-6EE2-375FAD337B5A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6113E31D-E2AB-40D1-8B51-AFA5AFEF393A}" type="slidenum">
              <a:rPr lang="en-US" smtClean="0"/>
              <a:pPr/>
              <a:t>38</a:t>
            </a:fld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1401836165"/>
      </p:ext>
    </p:extLst>
  </p:cSld>
  <p:clrMapOvr>
    <a:masterClrMapping/>
  </p:clrMapOvr>
</p:sld>
</file>

<file path=ppt/slides/slide3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標題 1">
            <a:extLst>
              <a:ext uri="{FF2B5EF4-FFF2-40B4-BE49-F238E27FC236}">
                <a16:creationId xmlns:a16="http://schemas.microsoft.com/office/drawing/2014/main" id="{444F1A4A-CD25-CA33-D24D-3378C19FC552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altLang="zh-TW" dirty="0">
                <a:ea typeface="新細明體"/>
                <a:cs typeface="Calibri" panose="020F0502020204030204" pitchFamily="34" charset="0"/>
              </a:rPr>
              <a:t>RNNs for Sequence Classification</a:t>
            </a:r>
            <a:endParaRPr kumimoji="1" lang="zh-TW" altLang="en-US" dirty="0"/>
          </a:p>
        </p:txBody>
      </p:sp>
      <p:sp>
        <p:nvSpPr>
          <p:cNvPr id="4" name="投影片編號版面配置區 3">
            <a:extLst>
              <a:ext uri="{FF2B5EF4-FFF2-40B4-BE49-F238E27FC236}">
                <a16:creationId xmlns:a16="http://schemas.microsoft.com/office/drawing/2014/main" id="{2280EE0A-14CB-26DA-AFB0-AC82E2310C45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6113E31D-E2AB-40D1-8B51-AFA5AFEF393A}" type="slidenum">
              <a:rPr lang="en-US" smtClean="0"/>
              <a:pPr/>
              <a:t>39</a:t>
            </a:fld>
            <a:endParaRPr lang="en-US" dirty="0"/>
          </a:p>
        </p:txBody>
      </p:sp>
      <p:sp>
        <p:nvSpPr>
          <p:cNvPr id="5" name="矩形 4">
            <a:extLst>
              <a:ext uri="{FF2B5EF4-FFF2-40B4-BE49-F238E27FC236}">
                <a16:creationId xmlns:a16="http://schemas.microsoft.com/office/drawing/2014/main" id="{5CB04E54-D2BC-8D8D-50F0-461FD07E0978}"/>
              </a:ext>
            </a:extLst>
          </p:cNvPr>
          <p:cNvSpPr/>
          <p:nvPr/>
        </p:nvSpPr>
        <p:spPr>
          <a:xfrm>
            <a:off x="3068697" y="5154877"/>
            <a:ext cx="1199626" cy="480190"/>
          </a:xfrm>
          <a:prstGeom prst="rect">
            <a:avLst/>
          </a:prstGeom>
          <a:solidFill>
            <a:srgbClr val="FDE7D7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kumimoji="1" lang="en-US" altLang="zh-TW" sz="2400" dirty="0">
                <a:solidFill>
                  <a:schemeClr val="tx1"/>
                </a:solidFill>
              </a:rPr>
              <a:t>RNN</a:t>
            </a:r>
            <a:endParaRPr kumimoji="1" lang="zh-TW" altLang="en-US" sz="2400" dirty="0">
              <a:solidFill>
                <a:schemeClr val="tx1"/>
              </a:solidFill>
            </a:endParaRPr>
          </a:p>
        </p:txBody>
      </p:sp>
      <p:sp>
        <p:nvSpPr>
          <p:cNvPr id="6" name="矩形 5">
            <a:extLst>
              <a:ext uri="{FF2B5EF4-FFF2-40B4-BE49-F238E27FC236}">
                <a16:creationId xmlns:a16="http://schemas.microsoft.com/office/drawing/2014/main" id="{7D690842-2CE2-E937-C171-AA4EC12DB334}"/>
              </a:ext>
            </a:extLst>
          </p:cNvPr>
          <p:cNvSpPr/>
          <p:nvPr/>
        </p:nvSpPr>
        <p:spPr>
          <a:xfrm>
            <a:off x="4831783" y="5154877"/>
            <a:ext cx="1199626" cy="480190"/>
          </a:xfrm>
          <a:prstGeom prst="rect">
            <a:avLst/>
          </a:prstGeom>
          <a:solidFill>
            <a:srgbClr val="FDE7D7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kumimoji="1" lang="en-US" altLang="zh-TW" sz="2400" dirty="0">
                <a:solidFill>
                  <a:schemeClr val="tx1"/>
                </a:solidFill>
              </a:rPr>
              <a:t>RNN</a:t>
            </a:r>
            <a:endParaRPr kumimoji="1" lang="zh-TW" altLang="en-US" sz="2400" dirty="0">
              <a:solidFill>
                <a:schemeClr val="tx1"/>
              </a:solidFill>
            </a:endParaRPr>
          </a:p>
        </p:txBody>
      </p:sp>
      <p:sp>
        <p:nvSpPr>
          <p:cNvPr id="7" name="矩形 6">
            <a:extLst>
              <a:ext uri="{FF2B5EF4-FFF2-40B4-BE49-F238E27FC236}">
                <a16:creationId xmlns:a16="http://schemas.microsoft.com/office/drawing/2014/main" id="{10CEE7C6-F0A2-9CC7-3EC1-6F5250ECDFDE}"/>
              </a:ext>
            </a:extLst>
          </p:cNvPr>
          <p:cNvSpPr/>
          <p:nvPr/>
        </p:nvSpPr>
        <p:spPr>
          <a:xfrm>
            <a:off x="6594869" y="5154877"/>
            <a:ext cx="1199626" cy="480190"/>
          </a:xfrm>
          <a:prstGeom prst="rect">
            <a:avLst/>
          </a:prstGeom>
          <a:solidFill>
            <a:srgbClr val="FDE7D7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kumimoji="1" lang="en-US" altLang="zh-TW" sz="2400" dirty="0">
                <a:solidFill>
                  <a:schemeClr val="tx1"/>
                </a:solidFill>
              </a:rPr>
              <a:t>RNN</a:t>
            </a:r>
            <a:endParaRPr kumimoji="1" lang="zh-TW" altLang="en-US" sz="2400" dirty="0">
              <a:solidFill>
                <a:schemeClr val="tx1"/>
              </a:solidFill>
            </a:endParaRPr>
          </a:p>
        </p:txBody>
      </p:sp>
      <p:sp>
        <p:nvSpPr>
          <p:cNvPr id="8" name="矩形 7">
            <a:extLst>
              <a:ext uri="{FF2B5EF4-FFF2-40B4-BE49-F238E27FC236}">
                <a16:creationId xmlns:a16="http://schemas.microsoft.com/office/drawing/2014/main" id="{0AE84988-8F7F-FD67-2DBD-AE6DA97211BF}"/>
              </a:ext>
            </a:extLst>
          </p:cNvPr>
          <p:cNvSpPr/>
          <p:nvPr/>
        </p:nvSpPr>
        <p:spPr>
          <a:xfrm>
            <a:off x="8357955" y="5154877"/>
            <a:ext cx="1199626" cy="480190"/>
          </a:xfrm>
          <a:prstGeom prst="rect">
            <a:avLst/>
          </a:prstGeom>
          <a:solidFill>
            <a:srgbClr val="FDE7D7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kumimoji="1" lang="en-US" altLang="zh-TW" sz="2400" dirty="0">
                <a:solidFill>
                  <a:schemeClr val="tx1"/>
                </a:solidFill>
              </a:rPr>
              <a:t>RNN</a:t>
            </a:r>
            <a:endParaRPr kumimoji="1" lang="zh-TW" altLang="en-US" sz="2400" dirty="0">
              <a:solidFill>
                <a:schemeClr val="tx1"/>
              </a:solidFill>
            </a:endParaRPr>
          </a:p>
        </p:txBody>
      </p:sp>
      <p:cxnSp>
        <p:nvCxnSpPr>
          <p:cNvPr id="10" name="直線箭頭接點 9">
            <a:extLst>
              <a:ext uri="{FF2B5EF4-FFF2-40B4-BE49-F238E27FC236}">
                <a16:creationId xmlns:a16="http://schemas.microsoft.com/office/drawing/2014/main" id="{04A82676-3DD9-5CBC-80CA-998E95154332}"/>
              </a:ext>
            </a:extLst>
          </p:cNvPr>
          <p:cNvCxnSpPr>
            <a:cxnSpLocks/>
            <a:stCxn id="5" idx="3"/>
            <a:endCxn id="6" idx="1"/>
          </p:cNvCxnSpPr>
          <p:nvPr/>
        </p:nvCxnSpPr>
        <p:spPr>
          <a:xfrm>
            <a:off x="4268323" y="5394972"/>
            <a:ext cx="563460" cy="0"/>
          </a:xfrm>
          <a:prstGeom prst="straightConnector1">
            <a:avLst/>
          </a:prstGeom>
          <a:ln w="19050">
            <a:solidFill>
              <a:schemeClr val="tx1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1" name="直線箭頭接點 10">
            <a:extLst>
              <a:ext uri="{FF2B5EF4-FFF2-40B4-BE49-F238E27FC236}">
                <a16:creationId xmlns:a16="http://schemas.microsoft.com/office/drawing/2014/main" id="{BB0ACD56-077F-C9B2-46F1-8C47271DCC9A}"/>
              </a:ext>
            </a:extLst>
          </p:cNvPr>
          <p:cNvCxnSpPr>
            <a:cxnSpLocks/>
            <a:stCxn id="6" idx="3"/>
            <a:endCxn id="7" idx="1"/>
          </p:cNvCxnSpPr>
          <p:nvPr/>
        </p:nvCxnSpPr>
        <p:spPr>
          <a:xfrm>
            <a:off x="6031409" y="5394972"/>
            <a:ext cx="563460" cy="0"/>
          </a:xfrm>
          <a:prstGeom prst="straightConnector1">
            <a:avLst/>
          </a:prstGeom>
          <a:ln w="19050">
            <a:solidFill>
              <a:schemeClr val="tx1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4" name="直線箭頭接點 13">
            <a:extLst>
              <a:ext uri="{FF2B5EF4-FFF2-40B4-BE49-F238E27FC236}">
                <a16:creationId xmlns:a16="http://schemas.microsoft.com/office/drawing/2014/main" id="{B7431EB4-9D29-2322-F02E-987531213755}"/>
              </a:ext>
            </a:extLst>
          </p:cNvPr>
          <p:cNvCxnSpPr>
            <a:cxnSpLocks/>
            <a:stCxn id="7" idx="3"/>
            <a:endCxn id="8" idx="1"/>
          </p:cNvCxnSpPr>
          <p:nvPr/>
        </p:nvCxnSpPr>
        <p:spPr>
          <a:xfrm>
            <a:off x="7794495" y="5394972"/>
            <a:ext cx="563460" cy="0"/>
          </a:xfrm>
          <a:prstGeom prst="straightConnector1">
            <a:avLst/>
          </a:prstGeom>
          <a:ln w="19050">
            <a:solidFill>
              <a:schemeClr val="tx1"/>
            </a:solidFill>
            <a:prstDash val="dash"/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7" name="直線箭頭接點 16">
            <a:extLst>
              <a:ext uri="{FF2B5EF4-FFF2-40B4-BE49-F238E27FC236}">
                <a16:creationId xmlns:a16="http://schemas.microsoft.com/office/drawing/2014/main" id="{DE69DE4D-7AD4-BDC8-682F-B93B3563AD5C}"/>
              </a:ext>
            </a:extLst>
          </p:cNvPr>
          <p:cNvCxnSpPr>
            <a:cxnSpLocks/>
          </p:cNvCxnSpPr>
          <p:nvPr/>
        </p:nvCxnSpPr>
        <p:spPr>
          <a:xfrm>
            <a:off x="2505237" y="5394972"/>
            <a:ext cx="563460" cy="0"/>
          </a:xfrm>
          <a:prstGeom prst="straightConnector1">
            <a:avLst/>
          </a:prstGeom>
          <a:ln w="19050">
            <a:solidFill>
              <a:schemeClr val="tx1"/>
            </a:solidFill>
            <a:prstDash val="dash"/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9" name="直線箭頭接點 18">
            <a:extLst>
              <a:ext uri="{FF2B5EF4-FFF2-40B4-BE49-F238E27FC236}">
                <a16:creationId xmlns:a16="http://schemas.microsoft.com/office/drawing/2014/main" id="{F696ABF9-E315-977F-25E7-16CF78C0B9DA}"/>
              </a:ext>
            </a:extLst>
          </p:cNvPr>
          <p:cNvCxnSpPr>
            <a:cxnSpLocks/>
            <a:stCxn id="8" idx="0"/>
            <a:endCxn id="21" idx="2"/>
          </p:cNvCxnSpPr>
          <p:nvPr/>
        </p:nvCxnSpPr>
        <p:spPr>
          <a:xfrm flipV="1">
            <a:off x="8957768" y="4626194"/>
            <a:ext cx="1" cy="528683"/>
          </a:xfrm>
          <a:prstGeom prst="straightConnector1">
            <a:avLst/>
          </a:prstGeom>
          <a:ln w="19050">
            <a:solidFill>
              <a:schemeClr val="tx1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21" name="文字方塊 20">
            <a:extLst>
              <a:ext uri="{FF2B5EF4-FFF2-40B4-BE49-F238E27FC236}">
                <a16:creationId xmlns:a16="http://schemas.microsoft.com/office/drawing/2014/main" id="{31526BA0-669D-C4F9-1455-B37469D8E0CE}"/>
              </a:ext>
            </a:extLst>
          </p:cNvPr>
          <p:cNvSpPr txBox="1"/>
          <p:nvPr/>
        </p:nvSpPr>
        <p:spPr>
          <a:xfrm>
            <a:off x="8665813" y="4164529"/>
            <a:ext cx="583911" cy="46166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kumimoji="1" lang="en-US" altLang="zh-TW" sz="2400" dirty="0" err="1"/>
              <a:t>h</a:t>
            </a:r>
            <a:r>
              <a:rPr kumimoji="1" lang="en-US" altLang="zh-TW" sz="2400" baseline="-25000" dirty="0" err="1"/>
              <a:t>n</a:t>
            </a:r>
            <a:endParaRPr kumimoji="1" lang="zh-TW" altLang="en-US" sz="2400" baseline="-25000" dirty="0"/>
          </a:p>
        </p:txBody>
      </p:sp>
      <p:sp>
        <p:nvSpPr>
          <p:cNvPr id="22" name="文字方塊 21">
            <a:extLst>
              <a:ext uri="{FF2B5EF4-FFF2-40B4-BE49-F238E27FC236}">
                <a16:creationId xmlns:a16="http://schemas.microsoft.com/office/drawing/2014/main" id="{5DE4E141-BAE7-A865-A4F5-A4A6E33CD0AF}"/>
              </a:ext>
            </a:extLst>
          </p:cNvPr>
          <p:cNvSpPr txBox="1"/>
          <p:nvPr/>
        </p:nvSpPr>
        <p:spPr>
          <a:xfrm>
            <a:off x="8665813" y="6204510"/>
            <a:ext cx="583911" cy="46166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kumimoji="1" lang="en-US" altLang="zh-TW" sz="2400" dirty="0" err="1"/>
              <a:t>x</a:t>
            </a:r>
            <a:r>
              <a:rPr kumimoji="1" lang="en-US" altLang="zh-TW" sz="2400" baseline="-25000" dirty="0" err="1"/>
              <a:t>n</a:t>
            </a:r>
            <a:endParaRPr kumimoji="1" lang="zh-TW" altLang="en-US" sz="2400" baseline="-25000" dirty="0"/>
          </a:p>
        </p:txBody>
      </p:sp>
      <p:cxnSp>
        <p:nvCxnSpPr>
          <p:cNvPr id="25" name="直線箭頭接點 24">
            <a:extLst>
              <a:ext uri="{FF2B5EF4-FFF2-40B4-BE49-F238E27FC236}">
                <a16:creationId xmlns:a16="http://schemas.microsoft.com/office/drawing/2014/main" id="{5A4C08DF-E5D4-5563-EC2D-830A92791D61}"/>
              </a:ext>
            </a:extLst>
          </p:cNvPr>
          <p:cNvCxnSpPr>
            <a:cxnSpLocks/>
            <a:stCxn id="22" idx="0"/>
            <a:endCxn id="8" idx="2"/>
          </p:cNvCxnSpPr>
          <p:nvPr/>
        </p:nvCxnSpPr>
        <p:spPr>
          <a:xfrm flipH="1" flipV="1">
            <a:off x="8957768" y="5635067"/>
            <a:ext cx="1" cy="569443"/>
          </a:xfrm>
          <a:prstGeom prst="straightConnector1">
            <a:avLst/>
          </a:prstGeom>
          <a:ln w="19050">
            <a:solidFill>
              <a:schemeClr val="tx1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29" name="文字方塊 28">
            <a:extLst>
              <a:ext uri="{FF2B5EF4-FFF2-40B4-BE49-F238E27FC236}">
                <a16:creationId xmlns:a16="http://schemas.microsoft.com/office/drawing/2014/main" id="{8278D5D3-B09A-98A1-EBDC-D046681C4D7D}"/>
              </a:ext>
            </a:extLst>
          </p:cNvPr>
          <p:cNvSpPr txBox="1"/>
          <p:nvPr/>
        </p:nvSpPr>
        <p:spPr>
          <a:xfrm>
            <a:off x="6902726" y="6204510"/>
            <a:ext cx="583911" cy="46166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kumimoji="1" lang="en-US" altLang="zh-TW" sz="2400" dirty="0"/>
              <a:t>x</a:t>
            </a:r>
            <a:r>
              <a:rPr kumimoji="1" lang="en-US" altLang="zh-TW" sz="2400" baseline="-25000" dirty="0"/>
              <a:t>3</a:t>
            </a:r>
            <a:endParaRPr kumimoji="1" lang="zh-TW" altLang="en-US" sz="2400" baseline="-25000" dirty="0"/>
          </a:p>
        </p:txBody>
      </p:sp>
      <p:cxnSp>
        <p:nvCxnSpPr>
          <p:cNvPr id="30" name="直線箭頭接點 29">
            <a:extLst>
              <a:ext uri="{FF2B5EF4-FFF2-40B4-BE49-F238E27FC236}">
                <a16:creationId xmlns:a16="http://schemas.microsoft.com/office/drawing/2014/main" id="{B8526637-2BD6-AFB8-4391-FFB61B9883C9}"/>
              </a:ext>
            </a:extLst>
          </p:cNvPr>
          <p:cNvCxnSpPr>
            <a:cxnSpLocks/>
            <a:stCxn id="29" idx="0"/>
            <a:endCxn id="7" idx="2"/>
          </p:cNvCxnSpPr>
          <p:nvPr/>
        </p:nvCxnSpPr>
        <p:spPr>
          <a:xfrm flipV="1">
            <a:off x="7194682" y="5635067"/>
            <a:ext cx="0" cy="569443"/>
          </a:xfrm>
          <a:prstGeom prst="straightConnector1">
            <a:avLst/>
          </a:prstGeom>
          <a:ln w="19050">
            <a:solidFill>
              <a:schemeClr val="tx1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33" name="文字方塊 32">
            <a:extLst>
              <a:ext uri="{FF2B5EF4-FFF2-40B4-BE49-F238E27FC236}">
                <a16:creationId xmlns:a16="http://schemas.microsoft.com/office/drawing/2014/main" id="{B97E4E5F-2C7B-BD7A-2851-B62968EE1DCC}"/>
              </a:ext>
            </a:extLst>
          </p:cNvPr>
          <p:cNvSpPr txBox="1"/>
          <p:nvPr/>
        </p:nvSpPr>
        <p:spPr>
          <a:xfrm>
            <a:off x="5139640" y="6204509"/>
            <a:ext cx="583911" cy="46166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kumimoji="1" lang="en-US" altLang="zh-TW" sz="2400" dirty="0"/>
              <a:t>x</a:t>
            </a:r>
            <a:r>
              <a:rPr kumimoji="1" lang="en-US" altLang="zh-TW" sz="2400" baseline="-25000" dirty="0"/>
              <a:t>2</a:t>
            </a:r>
            <a:endParaRPr kumimoji="1" lang="zh-TW" altLang="en-US" sz="2400" baseline="-25000" dirty="0"/>
          </a:p>
        </p:txBody>
      </p:sp>
      <p:cxnSp>
        <p:nvCxnSpPr>
          <p:cNvPr id="34" name="直線箭頭接點 33">
            <a:extLst>
              <a:ext uri="{FF2B5EF4-FFF2-40B4-BE49-F238E27FC236}">
                <a16:creationId xmlns:a16="http://schemas.microsoft.com/office/drawing/2014/main" id="{F19E2494-222B-0814-C4BF-47AA2F14D440}"/>
              </a:ext>
            </a:extLst>
          </p:cNvPr>
          <p:cNvCxnSpPr>
            <a:cxnSpLocks/>
            <a:stCxn id="33" idx="0"/>
            <a:endCxn id="6" idx="2"/>
          </p:cNvCxnSpPr>
          <p:nvPr/>
        </p:nvCxnSpPr>
        <p:spPr>
          <a:xfrm flipV="1">
            <a:off x="5431596" y="5635067"/>
            <a:ext cx="0" cy="569442"/>
          </a:xfrm>
          <a:prstGeom prst="straightConnector1">
            <a:avLst/>
          </a:prstGeom>
          <a:ln w="19050">
            <a:solidFill>
              <a:schemeClr val="tx1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38" name="文字方塊 37">
            <a:extLst>
              <a:ext uri="{FF2B5EF4-FFF2-40B4-BE49-F238E27FC236}">
                <a16:creationId xmlns:a16="http://schemas.microsoft.com/office/drawing/2014/main" id="{F02BE93E-143E-F494-E2A5-B4CE3879C16C}"/>
              </a:ext>
            </a:extLst>
          </p:cNvPr>
          <p:cNvSpPr txBox="1"/>
          <p:nvPr/>
        </p:nvSpPr>
        <p:spPr>
          <a:xfrm>
            <a:off x="3376553" y="6204508"/>
            <a:ext cx="583911" cy="46166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kumimoji="1" lang="en-US" altLang="zh-TW" sz="2400" dirty="0"/>
              <a:t>x</a:t>
            </a:r>
            <a:r>
              <a:rPr kumimoji="1" lang="en-US" altLang="zh-TW" sz="2400" baseline="-25000" dirty="0"/>
              <a:t>1</a:t>
            </a:r>
            <a:endParaRPr kumimoji="1" lang="zh-TW" altLang="en-US" sz="2400" baseline="-25000" dirty="0"/>
          </a:p>
        </p:txBody>
      </p:sp>
      <p:cxnSp>
        <p:nvCxnSpPr>
          <p:cNvPr id="39" name="直線箭頭接點 38">
            <a:extLst>
              <a:ext uri="{FF2B5EF4-FFF2-40B4-BE49-F238E27FC236}">
                <a16:creationId xmlns:a16="http://schemas.microsoft.com/office/drawing/2014/main" id="{88B6814A-3C7F-EA84-8719-15E95A77055B}"/>
              </a:ext>
            </a:extLst>
          </p:cNvPr>
          <p:cNvCxnSpPr>
            <a:cxnSpLocks/>
            <a:stCxn id="38" idx="0"/>
            <a:endCxn id="5" idx="2"/>
          </p:cNvCxnSpPr>
          <p:nvPr/>
        </p:nvCxnSpPr>
        <p:spPr>
          <a:xfrm flipV="1">
            <a:off x="3668509" y="5635067"/>
            <a:ext cx="1" cy="569441"/>
          </a:xfrm>
          <a:prstGeom prst="straightConnector1">
            <a:avLst/>
          </a:prstGeom>
          <a:ln w="19050">
            <a:solidFill>
              <a:schemeClr val="tx1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43" name="矩形 42">
            <a:extLst>
              <a:ext uri="{FF2B5EF4-FFF2-40B4-BE49-F238E27FC236}">
                <a16:creationId xmlns:a16="http://schemas.microsoft.com/office/drawing/2014/main" id="{17DF49CA-6CF6-7DB4-1B70-36AB7E8DEECD}"/>
              </a:ext>
            </a:extLst>
          </p:cNvPr>
          <p:cNvSpPr/>
          <p:nvPr/>
        </p:nvSpPr>
        <p:spPr>
          <a:xfrm>
            <a:off x="8277740" y="3240904"/>
            <a:ext cx="1359016" cy="398320"/>
          </a:xfrm>
          <a:prstGeom prst="rect">
            <a:avLst/>
          </a:prstGeom>
          <a:solidFill>
            <a:schemeClr val="bg1">
              <a:lumMod val="85000"/>
            </a:schemeClr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kumimoji="1" lang="en-US" altLang="zh-TW" dirty="0">
                <a:solidFill>
                  <a:schemeClr val="tx1"/>
                </a:solidFill>
              </a:rPr>
              <a:t>Linear</a:t>
            </a:r>
            <a:endParaRPr kumimoji="1" lang="zh-TW" altLang="en-US" sz="2400" dirty="0">
              <a:solidFill>
                <a:schemeClr val="tx1"/>
              </a:solidFill>
            </a:endParaRPr>
          </a:p>
        </p:txBody>
      </p:sp>
      <p:cxnSp>
        <p:nvCxnSpPr>
          <p:cNvPr id="44" name="直線箭頭接點 43">
            <a:extLst>
              <a:ext uri="{FF2B5EF4-FFF2-40B4-BE49-F238E27FC236}">
                <a16:creationId xmlns:a16="http://schemas.microsoft.com/office/drawing/2014/main" id="{8DEDAD73-EC07-22D1-87E5-E42F9A81A3E2}"/>
              </a:ext>
            </a:extLst>
          </p:cNvPr>
          <p:cNvCxnSpPr>
            <a:cxnSpLocks/>
            <a:stCxn id="21" idx="0"/>
            <a:endCxn id="43" idx="2"/>
          </p:cNvCxnSpPr>
          <p:nvPr/>
        </p:nvCxnSpPr>
        <p:spPr>
          <a:xfrm flipH="1" flipV="1">
            <a:off x="8957248" y="3639224"/>
            <a:ext cx="521" cy="525305"/>
          </a:xfrm>
          <a:prstGeom prst="straightConnector1">
            <a:avLst/>
          </a:prstGeom>
          <a:ln w="19050">
            <a:solidFill>
              <a:schemeClr val="tx1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3" name="矩形 2">
            <a:extLst>
              <a:ext uri="{FF2B5EF4-FFF2-40B4-BE49-F238E27FC236}">
                <a16:creationId xmlns:a16="http://schemas.microsoft.com/office/drawing/2014/main" id="{B4FCB8DC-5CE4-68DE-E83C-2089B15BC849}"/>
              </a:ext>
            </a:extLst>
          </p:cNvPr>
          <p:cNvSpPr/>
          <p:nvPr/>
        </p:nvSpPr>
        <p:spPr>
          <a:xfrm>
            <a:off x="5783975" y="1778024"/>
            <a:ext cx="1778957" cy="982980"/>
          </a:xfrm>
          <a:prstGeom prst="rect">
            <a:avLst/>
          </a:prstGeom>
          <a:noFill/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kumimoji="1" lang="en-US" altLang="zh-TW" sz="2000" dirty="0">
                <a:solidFill>
                  <a:schemeClr val="tx1"/>
                </a:solidFill>
              </a:rPr>
              <a:t>Classifier</a:t>
            </a:r>
            <a:endParaRPr kumimoji="1" lang="zh-TW" altLang="en-US" sz="2000" dirty="0">
              <a:solidFill>
                <a:schemeClr val="tx1"/>
              </a:solidFill>
            </a:endParaRPr>
          </a:p>
        </p:txBody>
      </p:sp>
      <p:cxnSp>
        <p:nvCxnSpPr>
          <p:cNvPr id="9" name="直線箭頭接點 8">
            <a:extLst>
              <a:ext uri="{FF2B5EF4-FFF2-40B4-BE49-F238E27FC236}">
                <a16:creationId xmlns:a16="http://schemas.microsoft.com/office/drawing/2014/main" id="{8DB77B57-3C2D-E26B-7DE1-110F78D5A9CE}"/>
              </a:ext>
            </a:extLst>
          </p:cNvPr>
          <p:cNvCxnSpPr/>
          <p:nvPr/>
        </p:nvCxnSpPr>
        <p:spPr>
          <a:xfrm>
            <a:off x="4991124" y="2292481"/>
            <a:ext cx="708660" cy="0"/>
          </a:xfrm>
          <a:prstGeom prst="straightConnector1">
            <a:avLst/>
          </a:prstGeom>
          <a:ln w="28575">
            <a:solidFill>
              <a:schemeClr val="tx1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2" name="直線箭頭接點 11">
            <a:extLst>
              <a:ext uri="{FF2B5EF4-FFF2-40B4-BE49-F238E27FC236}">
                <a16:creationId xmlns:a16="http://schemas.microsoft.com/office/drawing/2014/main" id="{0AC2D424-C201-5977-592C-BE24E500C28A}"/>
              </a:ext>
            </a:extLst>
          </p:cNvPr>
          <p:cNvCxnSpPr>
            <a:cxnSpLocks/>
          </p:cNvCxnSpPr>
          <p:nvPr/>
        </p:nvCxnSpPr>
        <p:spPr>
          <a:xfrm>
            <a:off x="7688932" y="2292481"/>
            <a:ext cx="708660" cy="0"/>
          </a:xfrm>
          <a:prstGeom prst="straightConnector1">
            <a:avLst/>
          </a:prstGeom>
          <a:ln w="28575">
            <a:solidFill>
              <a:schemeClr val="tx1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13" name="文字方塊 12">
            <a:extLst>
              <a:ext uri="{FF2B5EF4-FFF2-40B4-BE49-F238E27FC236}">
                <a16:creationId xmlns:a16="http://schemas.microsoft.com/office/drawing/2014/main" id="{218A97ED-564C-956B-F4FB-E36700E98E54}"/>
              </a:ext>
            </a:extLst>
          </p:cNvPr>
          <p:cNvSpPr txBox="1"/>
          <p:nvPr/>
        </p:nvSpPr>
        <p:spPr>
          <a:xfrm>
            <a:off x="8520426" y="1835928"/>
            <a:ext cx="1116330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kumimoji="1" lang="en-US" altLang="zh-TW" dirty="0"/>
              <a:t>Positive</a:t>
            </a:r>
            <a:endParaRPr kumimoji="1" lang="zh-TW" altLang="en-US" dirty="0"/>
          </a:p>
        </p:txBody>
      </p:sp>
      <p:sp>
        <p:nvSpPr>
          <p:cNvPr id="15" name="文字方塊 14">
            <a:extLst>
              <a:ext uri="{FF2B5EF4-FFF2-40B4-BE49-F238E27FC236}">
                <a16:creationId xmlns:a16="http://schemas.microsoft.com/office/drawing/2014/main" id="{45D059DD-6255-2747-EC02-C7018CC56B9B}"/>
              </a:ext>
            </a:extLst>
          </p:cNvPr>
          <p:cNvSpPr txBox="1"/>
          <p:nvPr/>
        </p:nvSpPr>
        <p:spPr>
          <a:xfrm>
            <a:off x="8520427" y="2333202"/>
            <a:ext cx="1116329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kumimoji="1" lang="en-US" altLang="zh-TW" dirty="0"/>
              <a:t>Negative</a:t>
            </a:r>
            <a:endParaRPr kumimoji="1" lang="zh-TW" altLang="en-US" dirty="0"/>
          </a:p>
        </p:txBody>
      </p:sp>
      <p:pic>
        <p:nvPicPr>
          <p:cNvPr id="16" name="圖形 15" descr="核取方塊 (打勾) 以實心填滿">
            <a:extLst>
              <a:ext uri="{FF2B5EF4-FFF2-40B4-BE49-F238E27FC236}">
                <a16:creationId xmlns:a16="http://schemas.microsoft.com/office/drawing/2014/main" id="{2B1EF158-498D-B7E8-0BA1-E32A351FBD37}"/>
              </a:ext>
            </a:extLst>
          </p:cNvPr>
          <p:cNvPicPr>
            <a:picLocks noChangeAspect="1"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  <a:ext uri="{96DAC541-7B7A-43D3-8B79-37D633B846F1}">
                <asvg:svgBlip xmlns:asvg="http://schemas.microsoft.com/office/drawing/2016/SVG/main" r:embed="rId4"/>
              </a:ext>
            </a:extLst>
          </a:blip>
          <a:stretch>
            <a:fillRect/>
          </a:stretch>
        </p:blipFill>
        <p:spPr>
          <a:xfrm>
            <a:off x="9701303" y="2236038"/>
            <a:ext cx="625345" cy="625345"/>
          </a:xfrm>
          <a:prstGeom prst="rect">
            <a:avLst/>
          </a:prstGeom>
        </p:spPr>
      </p:pic>
      <p:sp>
        <p:nvSpPr>
          <p:cNvPr id="18" name="圓角矩形 17">
            <a:extLst>
              <a:ext uri="{FF2B5EF4-FFF2-40B4-BE49-F238E27FC236}">
                <a16:creationId xmlns:a16="http://schemas.microsoft.com/office/drawing/2014/main" id="{A3653BC2-A605-A5A9-2A10-3170798F91BB}"/>
              </a:ext>
            </a:extLst>
          </p:cNvPr>
          <p:cNvSpPr/>
          <p:nvPr/>
        </p:nvSpPr>
        <p:spPr>
          <a:xfrm>
            <a:off x="1306119" y="1869404"/>
            <a:ext cx="3638711" cy="831321"/>
          </a:xfrm>
          <a:prstGeom prst="roundRect">
            <a:avLst/>
          </a:prstGeom>
          <a:noFill/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r>
              <a:rPr kumimoji="1" lang="en" altLang="zh-TW" dirty="0">
                <a:solidFill>
                  <a:schemeClr val="tx1"/>
                </a:solidFill>
              </a:rPr>
              <a:t>This movie was awful. The ending was absolutely horrible.</a:t>
            </a:r>
            <a:endParaRPr kumimoji="1" lang="zh-TW" altLang="en-US" dirty="0">
              <a:solidFill>
                <a:schemeClr val="tx1"/>
              </a:solidFill>
            </a:endParaRPr>
          </a:p>
        </p:txBody>
      </p:sp>
      <p:sp>
        <p:nvSpPr>
          <p:cNvPr id="20" name="文字方塊 19">
            <a:extLst>
              <a:ext uri="{FF2B5EF4-FFF2-40B4-BE49-F238E27FC236}">
                <a16:creationId xmlns:a16="http://schemas.microsoft.com/office/drawing/2014/main" id="{37406DC4-AE6C-9997-C6CA-B7A3AEF2F03B}"/>
              </a:ext>
            </a:extLst>
          </p:cNvPr>
          <p:cNvSpPr txBox="1"/>
          <p:nvPr/>
        </p:nvSpPr>
        <p:spPr>
          <a:xfrm>
            <a:off x="1869071" y="5154877"/>
            <a:ext cx="583911" cy="46166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kumimoji="1" lang="en-US" altLang="zh-TW" sz="2400" dirty="0"/>
              <a:t>h</a:t>
            </a:r>
            <a:r>
              <a:rPr kumimoji="1" lang="en-US" altLang="zh-TW" sz="2400" baseline="-25000" dirty="0"/>
              <a:t>0</a:t>
            </a:r>
            <a:endParaRPr kumimoji="1" lang="zh-TW" altLang="en-US" sz="2400" baseline="-25000" dirty="0"/>
          </a:p>
        </p:txBody>
      </p:sp>
    </p:spTree>
    <p:extLst>
      <p:ext uri="{BB962C8B-B14F-4D97-AF65-F5344CB8AC3E}">
        <p14:creationId xmlns:p14="http://schemas.microsoft.com/office/powerpoint/2010/main" val="3744553345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7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9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1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3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5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7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9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21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23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25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27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29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31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33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35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37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39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41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43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45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5" grpId="0" animBg="1"/>
      <p:bldP spid="6" grpId="0" animBg="1"/>
      <p:bldP spid="7" grpId="0" animBg="1"/>
      <p:bldP spid="8" grpId="0" animBg="1"/>
      <p:bldP spid="21" grpId="0"/>
      <p:bldP spid="22" grpId="0"/>
      <p:bldP spid="29" grpId="0"/>
      <p:bldP spid="33" grpId="0"/>
      <p:bldP spid="38" grpId="0"/>
      <p:bldP spid="43" grpId="0" animBg="1"/>
      <p:bldP spid="20" grpId="0"/>
    </p:bldLst>
  </p:timing>
</p:sld>
</file>

<file path=ppt/slides/slide4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標題 1">
            <a:extLst>
              <a:ext uri="{FF2B5EF4-FFF2-40B4-BE49-F238E27FC236}">
                <a16:creationId xmlns:a16="http://schemas.microsoft.com/office/drawing/2014/main" id="{4C729B53-50E5-64FF-C825-124AD64762B3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>
            <a:normAutofit/>
          </a:bodyPr>
          <a:lstStyle/>
          <a:p>
            <a:r>
              <a:rPr lang="en-US" altLang="zh-TW" dirty="0">
                <a:ea typeface="新細明體"/>
                <a:cs typeface="Calibri" panose="020F0502020204030204" pitchFamily="34" charset="0"/>
              </a:rPr>
              <a:t>Machine Translation</a:t>
            </a:r>
            <a:endParaRPr kumimoji="1" lang="zh-TW" altLang="en-US" dirty="0"/>
          </a:p>
        </p:txBody>
      </p:sp>
      <p:sp>
        <p:nvSpPr>
          <p:cNvPr id="4" name="投影片編號版面配置區 3">
            <a:extLst>
              <a:ext uri="{FF2B5EF4-FFF2-40B4-BE49-F238E27FC236}">
                <a16:creationId xmlns:a16="http://schemas.microsoft.com/office/drawing/2014/main" id="{D89A3BFD-11F7-B87C-8992-2C59714FB1B2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6113E31D-E2AB-40D1-8B51-AFA5AFEF393A}" type="slidenum">
              <a:rPr lang="en-US" smtClean="0"/>
              <a:pPr/>
              <a:t>40</a:t>
            </a:fld>
            <a:endParaRPr lang="en-US" dirty="0"/>
          </a:p>
        </p:txBody>
      </p:sp>
      <p:sp>
        <p:nvSpPr>
          <p:cNvPr id="3" name="矩形 2">
            <a:extLst>
              <a:ext uri="{FF2B5EF4-FFF2-40B4-BE49-F238E27FC236}">
                <a16:creationId xmlns:a16="http://schemas.microsoft.com/office/drawing/2014/main" id="{EB9EB9D7-5382-F76F-9765-F433DC2CE373}"/>
              </a:ext>
            </a:extLst>
          </p:cNvPr>
          <p:cNvSpPr/>
          <p:nvPr/>
        </p:nvSpPr>
        <p:spPr>
          <a:xfrm>
            <a:off x="5384936" y="2421539"/>
            <a:ext cx="1778957" cy="982980"/>
          </a:xfrm>
          <a:prstGeom prst="rect">
            <a:avLst/>
          </a:prstGeom>
          <a:noFill/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kumimoji="1" lang="en-US" altLang="zh-TW" sz="2400" dirty="0">
                <a:solidFill>
                  <a:schemeClr val="tx1"/>
                </a:solidFill>
              </a:rPr>
              <a:t>Classifier</a:t>
            </a:r>
            <a:endParaRPr kumimoji="1" lang="zh-TW" altLang="en-US" sz="2400" dirty="0">
              <a:solidFill>
                <a:schemeClr val="tx1"/>
              </a:solidFill>
            </a:endParaRPr>
          </a:p>
        </p:txBody>
      </p:sp>
      <p:cxnSp>
        <p:nvCxnSpPr>
          <p:cNvPr id="6" name="直線箭頭接點 5">
            <a:extLst>
              <a:ext uri="{FF2B5EF4-FFF2-40B4-BE49-F238E27FC236}">
                <a16:creationId xmlns:a16="http://schemas.microsoft.com/office/drawing/2014/main" id="{191F08BA-00B9-523D-18E8-E1BEBDE0EF31}"/>
              </a:ext>
            </a:extLst>
          </p:cNvPr>
          <p:cNvCxnSpPr>
            <a:cxnSpLocks/>
          </p:cNvCxnSpPr>
          <p:nvPr/>
        </p:nvCxnSpPr>
        <p:spPr>
          <a:xfrm>
            <a:off x="4592085" y="2935996"/>
            <a:ext cx="708660" cy="0"/>
          </a:xfrm>
          <a:prstGeom prst="straightConnector1">
            <a:avLst/>
          </a:prstGeom>
          <a:ln w="28575">
            <a:solidFill>
              <a:schemeClr val="tx1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7" name="直線箭頭接點 6">
            <a:extLst>
              <a:ext uri="{FF2B5EF4-FFF2-40B4-BE49-F238E27FC236}">
                <a16:creationId xmlns:a16="http://schemas.microsoft.com/office/drawing/2014/main" id="{87C9E241-B2FD-4AD6-767E-5597A66B9E74}"/>
              </a:ext>
            </a:extLst>
          </p:cNvPr>
          <p:cNvCxnSpPr>
            <a:cxnSpLocks/>
          </p:cNvCxnSpPr>
          <p:nvPr/>
        </p:nvCxnSpPr>
        <p:spPr>
          <a:xfrm>
            <a:off x="7289893" y="2935996"/>
            <a:ext cx="708660" cy="0"/>
          </a:xfrm>
          <a:prstGeom prst="straightConnector1">
            <a:avLst/>
          </a:prstGeom>
          <a:ln w="28575">
            <a:solidFill>
              <a:schemeClr val="tx1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9" name="文字方塊 8">
            <a:extLst>
              <a:ext uri="{FF2B5EF4-FFF2-40B4-BE49-F238E27FC236}">
                <a16:creationId xmlns:a16="http://schemas.microsoft.com/office/drawing/2014/main" id="{F04A82FF-EA22-34EE-B28C-9E8AE6212E90}"/>
              </a:ext>
            </a:extLst>
          </p:cNvPr>
          <p:cNvSpPr txBox="1"/>
          <p:nvPr/>
        </p:nvSpPr>
        <p:spPr>
          <a:xfrm>
            <a:off x="8121387" y="2479443"/>
            <a:ext cx="1116330" cy="40011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kumimoji="1" lang="en-US" altLang="zh-TW" sz="2000" dirty="0"/>
              <a:t>Positive</a:t>
            </a:r>
            <a:endParaRPr kumimoji="1" lang="zh-TW" altLang="en-US" sz="2000" dirty="0"/>
          </a:p>
        </p:txBody>
      </p:sp>
      <p:sp>
        <p:nvSpPr>
          <p:cNvPr id="10" name="文字方塊 9">
            <a:extLst>
              <a:ext uri="{FF2B5EF4-FFF2-40B4-BE49-F238E27FC236}">
                <a16:creationId xmlns:a16="http://schemas.microsoft.com/office/drawing/2014/main" id="{27226957-9761-C28C-2424-6053D69286C7}"/>
              </a:ext>
            </a:extLst>
          </p:cNvPr>
          <p:cNvSpPr txBox="1"/>
          <p:nvPr/>
        </p:nvSpPr>
        <p:spPr>
          <a:xfrm>
            <a:off x="8121388" y="2976717"/>
            <a:ext cx="1342277" cy="40011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kumimoji="1" lang="en-US" altLang="zh-TW" sz="2000" dirty="0"/>
              <a:t>Negative</a:t>
            </a:r>
            <a:endParaRPr kumimoji="1" lang="zh-TW" altLang="en-US" sz="2000" dirty="0"/>
          </a:p>
        </p:txBody>
      </p:sp>
      <p:pic>
        <p:nvPicPr>
          <p:cNvPr id="13" name="圖形 12" descr="核取方塊 (打勾) 以實心填滿">
            <a:extLst>
              <a:ext uri="{FF2B5EF4-FFF2-40B4-BE49-F238E27FC236}">
                <a16:creationId xmlns:a16="http://schemas.microsoft.com/office/drawing/2014/main" id="{B23474AF-1033-3A78-09F3-C58B758F5827}"/>
              </a:ext>
            </a:extLst>
          </p:cNvPr>
          <p:cNvPicPr>
            <a:picLocks noChangeAspect="1"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  <a:ext uri="{96DAC541-7B7A-43D3-8B79-37D633B846F1}">
                <asvg:svgBlip xmlns:asvg="http://schemas.microsoft.com/office/drawing/2016/SVG/main" r:embed="rId4"/>
              </a:ext>
            </a:extLst>
          </a:blip>
          <a:stretch>
            <a:fillRect/>
          </a:stretch>
        </p:blipFill>
        <p:spPr>
          <a:xfrm>
            <a:off x="9463665" y="2885861"/>
            <a:ext cx="625345" cy="625345"/>
          </a:xfrm>
          <a:prstGeom prst="rect">
            <a:avLst/>
          </a:prstGeom>
        </p:spPr>
      </p:pic>
      <p:sp>
        <p:nvSpPr>
          <p:cNvPr id="19" name="矩形 18">
            <a:extLst>
              <a:ext uri="{FF2B5EF4-FFF2-40B4-BE49-F238E27FC236}">
                <a16:creationId xmlns:a16="http://schemas.microsoft.com/office/drawing/2014/main" id="{B35F807D-5BE7-1955-53BE-C38722BBE6D5}"/>
              </a:ext>
            </a:extLst>
          </p:cNvPr>
          <p:cNvSpPr/>
          <p:nvPr/>
        </p:nvSpPr>
        <p:spPr>
          <a:xfrm>
            <a:off x="5384937" y="4330045"/>
            <a:ext cx="1778957" cy="1139173"/>
          </a:xfrm>
          <a:prstGeom prst="rect">
            <a:avLst/>
          </a:prstGeom>
          <a:noFill/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kumimoji="1" lang="en-US" altLang="zh-TW" sz="2400" dirty="0">
                <a:solidFill>
                  <a:schemeClr val="tx1"/>
                </a:solidFill>
              </a:rPr>
              <a:t>Machine Translation Model</a:t>
            </a:r>
            <a:endParaRPr kumimoji="1" lang="zh-TW" altLang="en-US" sz="2400" dirty="0">
              <a:solidFill>
                <a:schemeClr val="tx1"/>
              </a:solidFill>
            </a:endParaRPr>
          </a:p>
        </p:txBody>
      </p:sp>
      <p:sp>
        <p:nvSpPr>
          <p:cNvPr id="12" name="圓角矩形 11">
            <a:extLst>
              <a:ext uri="{FF2B5EF4-FFF2-40B4-BE49-F238E27FC236}">
                <a16:creationId xmlns:a16="http://schemas.microsoft.com/office/drawing/2014/main" id="{A982891E-49AF-1107-C15A-9CF26665FE06}"/>
              </a:ext>
            </a:extLst>
          </p:cNvPr>
          <p:cNvSpPr/>
          <p:nvPr/>
        </p:nvSpPr>
        <p:spPr>
          <a:xfrm>
            <a:off x="728664" y="2512919"/>
            <a:ext cx="3803949" cy="831321"/>
          </a:xfrm>
          <a:prstGeom prst="roundRect">
            <a:avLst/>
          </a:prstGeom>
          <a:noFill/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r>
              <a:rPr kumimoji="1" lang="en" altLang="zh-TW" sz="2000" dirty="0">
                <a:solidFill>
                  <a:schemeClr val="tx1"/>
                </a:solidFill>
              </a:rPr>
              <a:t>This movie was awful. The ending was absolutely horrible.</a:t>
            </a:r>
            <a:endParaRPr kumimoji="1" lang="zh-TW" altLang="en-US" sz="2000" dirty="0">
              <a:solidFill>
                <a:schemeClr val="tx1"/>
              </a:solidFill>
            </a:endParaRPr>
          </a:p>
        </p:txBody>
      </p:sp>
      <p:sp>
        <p:nvSpPr>
          <p:cNvPr id="14" name="文字方塊 13">
            <a:extLst>
              <a:ext uri="{FF2B5EF4-FFF2-40B4-BE49-F238E27FC236}">
                <a16:creationId xmlns:a16="http://schemas.microsoft.com/office/drawing/2014/main" id="{8CC3473E-072F-357A-9552-96D6D144B925}"/>
              </a:ext>
            </a:extLst>
          </p:cNvPr>
          <p:cNvSpPr txBox="1"/>
          <p:nvPr/>
        </p:nvSpPr>
        <p:spPr>
          <a:xfrm>
            <a:off x="663685" y="1896895"/>
            <a:ext cx="4248574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kumimoji="1" lang="en-US" altLang="zh-TW" b="1" dirty="0"/>
              <a:t>Sentiment Analysis (IMDb dataset </a:t>
            </a:r>
            <a:r>
              <a:rPr kumimoji="1" lang="en-US" altLang="zh-TW" b="1" baseline="30000" dirty="0"/>
              <a:t>[1]</a:t>
            </a:r>
            <a:r>
              <a:rPr kumimoji="1" lang="en-US" altLang="zh-TW" b="1" dirty="0"/>
              <a:t>)</a:t>
            </a:r>
            <a:endParaRPr kumimoji="1" lang="zh-TW" altLang="en-US" b="1" dirty="0"/>
          </a:p>
        </p:txBody>
      </p:sp>
      <p:cxnSp>
        <p:nvCxnSpPr>
          <p:cNvPr id="15" name="直線箭頭接點 14">
            <a:extLst>
              <a:ext uri="{FF2B5EF4-FFF2-40B4-BE49-F238E27FC236}">
                <a16:creationId xmlns:a16="http://schemas.microsoft.com/office/drawing/2014/main" id="{E3FAF670-483D-4B7B-5ED1-BC3C4E534FD7}"/>
              </a:ext>
            </a:extLst>
          </p:cNvPr>
          <p:cNvCxnSpPr>
            <a:cxnSpLocks/>
          </p:cNvCxnSpPr>
          <p:nvPr/>
        </p:nvCxnSpPr>
        <p:spPr>
          <a:xfrm>
            <a:off x="7289893" y="4973841"/>
            <a:ext cx="708660" cy="0"/>
          </a:xfrm>
          <a:prstGeom prst="straightConnector1">
            <a:avLst/>
          </a:prstGeom>
          <a:ln w="28575">
            <a:solidFill>
              <a:schemeClr val="tx1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16" name="文字方塊 15">
            <a:extLst>
              <a:ext uri="{FF2B5EF4-FFF2-40B4-BE49-F238E27FC236}">
                <a16:creationId xmlns:a16="http://schemas.microsoft.com/office/drawing/2014/main" id="{F29E178F-9D2C-6576-7190-265F8085553D}"/>
              </a:ext>
            </a:extLst>
          </p:cNvPr>
          <p:cNvSpPr txBox="1"/>
          <p:nvPr/>
        </p:nvSpPr>
        <p:spPr>
          <a:xfrm>
            <a:off x="1204857" y="5951791"/>
            <a:ext cx="6260950" cy="646331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kumimoji="1" lang="en-US" altLang="zh-TW" dirty="0"/>
              <a:t>[1] https://</a:t>
            </a:r>
            <a:r>
              <a:rPr kumimoji="1" lang="en-US" altLang="zh-TW" dirty="0" err="1"/>
              <a:t>huggingface.co</a:t>
            </a:r>
            <a:r>
              <a:rPr kumimoji="1" lang="en-US" altLang="zh-TW" dirty="0"/>
              <a:t>/datasets/</a:t>
            </a:r>
            <a:r>
              <a:rPr kumimoji="1" lang="en-US" altLang="zh-TW" dirty="0" err="1"/>
              <a:t>stanfordnlp</a:t>
            </a:r>
            <a:r>
              <a:rPr kumimoji="1" lang="en-US" altLang="zh-TW" dirty="0"/>
              <a:t>/</a:t>
            </a:r>
            <a:r>
              <a:rPr kumimoji="1" lang="en-US" altLang="zh-TW" dirty="0" err="1"/>
              <a:t>imdb</a:t>
            </a:r>
            <a:endParaRPr kumimoji="1" lang="en-US" altLang="zh-TW" dirty="0"/>
          </a:p>
          <a:p>
            <a:r>
              <a:rPr kumimoji="1" lang="en-US" altLang="zh-TW" dirty="0"/>
              <a:t>[2] https://</a:t>
            </a:r>
            <a:r>
              <a:rPr kumimoji="1" lang="en-US" altLang="zh-TW" dirty="0" err="1"/>
              <a:t>huggingface.co</a:t>
            </a:r>
            <a:r>
              <a:rPr kumimoji="1" lang="en-US" altLang="zh-TW" dirty="0"/>
              <a:t>/datasets/</a:t>
            </a:r>
            <a:r>
              <a:rPr kumimoji="1" lang="en-US" altLang="zh-TW" dirty="0" err="1"/>
              <a:t>wmt</a:t>
            </a:r>
            <a:r>
              <a:rPr kumimoji="1" lang="en-US" altLang="zh-TW" dirty="0"/>
              <a:t>/wmt19/viewer/</a:t>
            </a:r>
            <a:r>
              <a:rPr kumimoji="1" lang="en-US" altLang="zh-TW" dirty="0" err="1"/>
              <a:t>zh-en</a:t>
            </a:r>
            <a:endParaRPr kumimoji="1" lang="zh-TW" altLang="en-US" dirty="0"/>
          </a:p>
        </p:txBody>
      </p:sp>
      <p:sp>
        <p:nvSpPr>
          <p:cNvPr id="17" name="圓角矩形 16">
            <a:extLst>
              <a:ext uri="{FF2B5EF4-FFF2-40B4-BE49-F238E27FC236}">
                <a16:creationId xmlns:a16="http://schemas.microsoft.com/office/drawing/2014/main" id="{369D77DA-D31C-71D1-BD02-F87ACF1F91CD}"/>
              </a:ext>
            </a:extLst>
          </p:cNvPr>
          <p:cNvSpPr/>
          <p:nvPr/>
        </p:nvSpPr>
        <p:spPr>
          <a:xfrm>
            <a:off x="728662" y="4547424"/>
            <a:ext cx="3803951" cy="831321"/>
          </a:xfrm>
          <a:prstGeom prst="roundRect">
            <a:avLst/>
          </a:prstGeom>
          <a:noFill/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r>
              <a:rPr kumimoji="1" lang="en" altLang="zh-TW" sz="2000" dirty="0">
                <a:solidFill>
                  <a:schemeClr val="tx1"/>
                </a:solidFill>
              </a:rPr>
              <a:t>Yet not nearly enough has been invested in this effort.</a:t>
            </a:r>
            <a:endParaRPr kumimoji="1" lang="zh-TW" altLang="en-US" sz="2000" dirty="0">
              <a:solidFill>
                <a:schemeClr val="tx1"/>
              </a:solidFill>
            </a:endParaRPr>
          </a:p>
        </p:txBody>
      </p:sp>
      <p:sp>
        <p:nvSpPr>
          <p:cNvPr id="22" name="圓角矩形 21">
            <a:extLst>
              <a:ext uri="{FF2B5EF4-FFF2-40B4-BE49-F238E27FC236}">
                <a16:creationId xmlns:a16="http://schemas.microsoft.com/office/drawing/2014/main" id="{6A0EDB81-EC8B-58F3-D3FA-CFA1AF557F8B}"/>
              </a:ext>
            </a:extLst>
          </p:cNvPr>
          <p:cNvSpPr/>
          <p:nvPr/>
        </p:nvSpPr>
        <p:spPr>
          <a:xfrm>
            <a:off x="8121387" y="4569081"/>
            <a:ext cx="3638713" cy="831321"/>
          </a:xfrm>
          <a:prstGeom prst="roundRect">
            <a:avLst/>
          </a:prstGeom>
          <a:noFill/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r>
              <a:rPr kumimoji="1" lang="zh-TW" altLang="en-US" sz="2000" dirty="0">
                <a:solidFill>
                  <a:schemeClr val="tx1"/>
                </a:solidFill>
                <a:latin typeface="Microsoft JhengHei" panose="020B0604030504040204" pitchFamily="34" charset="-120"/>
                <a:ea typeface="Microsoft JhengHei" panose="020B0604030504040204" pitchFamily="34" charset="-120"/>
              </a:rPr>
              <a:t>但目前這方面的投入還遠遠不夠。</a:t>
            </a:r>
          </a:p>
        </p:txBody>
      </p:sp>
      <p:cxnSp>
        <p:nvCxnSpPr>
          <p:cNvPr id="29" name="直線箭頭接點 28">
            <a:extLst>
              <a:ext uri="{FF2B5EF4-FFF2-40B4-BE49-F238E27FC236}">
                <a16:creationId xmlns:a16="http://schemas.microsoft.com/office/drawing/2014/main" id="{227C6226-B03A-2165-9329-A086E781C41E}"/>
              </a:ext>
            </a:extLst>
          </p:cNvPr>
          <p:cNvCxnSpPr>
            <a:cxnSpLocks/>
          </p:cNvCxnSpPr>
          <p:nvPr/>
        </p:nvCxnSpPr>
        <p:spPr>
          <a:xfrm>
            <a:off x="4592085" y="4973841"/>
            <a:ext cx="708660" cy="0"/>
          </a:xfrm>
          <a:prstGeom prst="straightConnector1">
            <a:avLst/>
          </a:prstGeom>
          <a:ln w="28575">
            <a:solidFill>
              <a:schemeClr val="tx1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30" name="文字方塊 29">
            <a:extLst>
              <a:ext uri="{FF2B5EF4-FFF2-40B4-BE49-F238E27FC236}">
                <a16:creationId xmlns:a16="http://schemas.microsoft.com/office/drawing/2014/main" id="{E429DB1A-E286-5F26-1A3C-DD621585FB47}"/>
              </a:ext>
            </a:extLst>
          </p:cNvPr>
          <p:cNvSpPr txBox="1"/>
          <p:nvPr/>
        </p:nvSpPr>
        <p:spPr>
          <a:xfrm>
            <a:off x="663684" y="4043784"/>
            <a:ext cx="4520711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kumimoji="1" lang="en-US" altLang="zh-TW" b="1" dirty="0"/>
              <a:t>Translation, EN-ZH (WMT-19 dataset </a:t>
            </a:r>
            <a:r>
              <a:rPr kumimoji="1" lang="en-US" altLang="zh-TW" b="1" baseline="30000" dirty="0"/>
              <a:t>[2]</a:t>
            </a:r>
            <a:r>
              <a:rPr kumimoji="1" lang="en-US" altLang="zh-TW" b="1" dirty="0"/>
              <a:t>)</a:t>
            </a:r>
            <a:endParaRPr kumimoji="1" lang="zh-TW" altLang="en-US" b="1" dirty="0"/>
          </a:p>
        </p:txBody>
      </p:sp>
    </p:spTree>
    <p:extLst>
      <p:ext uri="{BB962C8B-B14F-4D97-AF65-F5344CB8AC3E}">
        <p14:creationId xmlns:p14="http://schemas.microsoft.com/office/powerpoint/2010/main" val="1020377144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7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9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1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3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5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7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9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21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23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25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3" grpId="0" animBg="1"/>
      <p:bldP spid="9" grpId="0"/>
      <p:bldP spid="10" grpId="0"/>
      <p:bldP spid="19" grpId="0" animBg="1"/>
      <p:bldP spid="14" grpId="0"/>
      <p:bldP spid="30" grpId="0"/>
    </p:bldLst>
  </p:timing>
</p:sld>
</file>

<file path=ppt/slides/slide4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標題 1">
            <a:extLst>
              <a:ext uri="{FF2B5EF4-FFF2-40B4-BE49-F238E27FC236}">
                <a16:creationId xmlns:a16="http://schemas.microsoft.com/office/drawing/2014/main" id="{2B433469-7E3A-98C5-5BBB-44E032B54A4B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altLang="zh-TW" dirty="0">
                <a:ea typeface="新細明體"/>
                <a:cs typeface="Calibri" panose="020F0502020204030204" pitchFamily="34" charset="0"/>
              </a:rPr>
              <a:t>RNNs for Machine Translation?</a:t>
            </a:r>
            <a:endParaRPr kumimoji="1" lang="zh-TW" altLang="en-US" dirty="0"/>
          </a:p>
        </p:txBody>
      </p:sp>
      <p:sp>
        <p:nvSpPr>
          <p:cNvPr id="4" name="投影片編號版面配置區 3">
            <a:extLst>
              <a:ext uri="{FF2B5EF4-FFF2-40B4-BE49-F238E27FC236}">
                <a16:creationId xmlns:a16="http://schemas.microsoft.com/office/drawing/2014/main" id="{32DD1EA3-9DB5-3A6F-8BEE-644F66F36D6D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6113E31D-E2AB-40D1-8B51-AFA5AFEF393A}" type="slidenum">
              <a:rPr lang="en-US" smtClean="0"/>
              <a:pPr/>
              <a:t>41</a:t>
            </a:fld>
            <a:endParaRPr lang="en-US" dirty="0"/>
          </a:p>
        </p:txBody>
      </p:sp>
      <p:sp>
        <p:nvSpPr>
          <p:cNvPr id="5" name="矩形 4">
            <a:extLst>
              <a:ext uri="{FF2B5EF4-FFF2-40B4-BE49-F238E27FC236}">
                <a16:creationId xmlns:a16="http://schemas.microsoft.com/office/drawing/2014/main" id="{8337B020-61FE-162C-DF6D-08E817680597}"/>
              </a:ext>
            </a:extLst>
          </p:cNvPr>
          <p:cNvSpPr/>
          <p:nvPr/>
        </p:nvSpPr>
        <p:spPr>
          <a:xfrm>
            <a:off x="4008189" y="5086826"/>
            <a:ext cx="1199626" cy="480190"/>
          </a:xfrm>
          <a:prstGeom prst="rect">
            <a:avLst/>
          </a:prstGeom>
          <a:solidFill>
            <a:srgbClr val="FDE7D7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kumimoji="1" lang="en-US" altLang="zh-TW" sz="2400" dirty="0">
                <a:solidFill>
                  <a:schemeClr val="tx1"/>
                </a:solidFill>
              </a:rPr>
              <a:t>RNN</a:t>
            </a:r>
            <a:endParaRPr kumimoji="1" lang="zh-TW" altLang="en-US" sz="2400" dirty="0">
              <a:solidFill>
                <a:schemeClr val="tx1"/>
              </a:solidFill>
            </a:endParaRPr>
          </a:p>
        </p:txBody>
      </p:sp>
      <p:sp>
        <p:nvSpPr>
          <p:cNvPr id="6" name="矩形 5">
            <a:extLst>
              <a:ext uri="{FF2B5EF4-FFF2-40B4-BE49-F238E27FC236}">
                <a16:creationId xmlns:a16="http://schemas.microsoft.com/office/drawing/2014/main" id="{9FFF1937-1273-0723-6638-7D9A807A63CB}"/>
              </a:ext>
            </a:extLst>
          </p:cNvPr>
          <p:cNvSpPr/>
          <p:nvPr/>
        </p:nvSpPr>
        <p:spPr>
          <a:xfrm>
            <a:off x="5771275" y="5086826"/>
            <a:ext cx="1199626" cy="480190"/>
          </a:xfrm>
          <a:prstGeom prst="rect">
            <a:avLst/>
          </a:prstGeom>
          <a:solidFill>
            <a:srgbClr val="FDE7D7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kumimoji="1" lang="en-US" altLang="zh-TW" sz="2400" dirty="0">
                <a:solidFill>
                  <a:schemeClr val="tx1"/>
                </a:solidFill>
              </a:rPr>
              <a:t>RNN</a:t>
            </a:r>
            <a:endParaRPr kumimoji="1" lang="zh-TW" altLang="en-US" sz="2400" dirty="0">
              <a:solidFill>
                <a:schemeClr val="tx1"/>
              </a:solidFill>
            </a:endParaRPr>
          </a:p>
        </p:txBody>
      </p:sp>
      <p:sp>
        <p:nvSpPr>
          <p:cNvPr id="7" name="矩形 6">
            <a:extLst>
              <a:ext uri="{FF2B5EF4-FFF2-40B4-BE49-F238E27FC236}">
                <a16:creationId xmlns:a16="http://schemas.microsoft.com/office/drawing/2014/main" id="{4BCA9ACB-2A99-7B0D-37EE-07B43DB6B191}"/>
              </a:ext>
            </a:extLst>
          </p:cNvPr>
          <p:cNvSpPr/>
          <p:nvPr/>
        </p:nvSpPr>
        <p:spPr>
          <a:xfrm>
            <a:off x="7534361" y="5086826"/>
            <a:ext cx="1199626" cy="480190"/>
          </a:xfrm>
          <a:prstGeom prst="rect">
            <a:avLst/>
          </a:prstGeom>
          <a:solidFill>
            <a:srgbClr val="FDE7D7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kumimoji="1" lang="en-US" altLang="zh-TW" sz="2400" dirty="0">
                <a:solidFill>
                  <a:schemeClr val="tx1"/>
                </a:solidFill>
              </a:rPr>
              <a:t>RNN</a:t>
            </a:r>
            <a:endParaRPr kumimoji="1" lang="zh-TW" altLang="en-US" sz="2400" dirty="0">
              <a:solidFill>
                <a:schemeClr val="tx1"/>
              </a:solidFill>
            </a:endParaRPr>
          </a:p>
        </p:txBody>
      </p:sp>
      <p:cxnSp>
        <p:nvCxnSpPr>
          <p:cNvPr id="9" name="直線箭頭接點 8">
            <a:extLst>
              <a:ext uri="{FF2B5EF4-FFF2-40B4-BE49-F238E27FC236}">
                <a16:creationId xmlns:a16="http://schemas.microsoft.com/office/drawing/2014/main" id="{A8A6D1DC-2DA8-B010-93EB-3D2A32E7CC17}"/>
              </a:ext>
            </a:extLst>
          </p:cNvPr>
          <p:cNvCxnSpPr>
            <a:cxnSpLocks/>
            <a:stCxn id="5" idx="3"/>
            <a:endCxn id="6" idx="1"/>
          </p:cNvCxnSpPr>
          <p:nvPr/>
        </p:nvCxnSpPr>
        <p:spPr>
          <a:xfrm>
            <a:off x="5207815" y="5326921"/>
            <a:ext cx="563460" cy="0"/>
          </a:xfrm>
          <a:prstGeom prst="straightConnector1">
            <a:avLst/>
          </a:prstGeom>
          <a:ln w="19050">
            <a:solidFill>
              <a:schemeClr val="tx1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0" name="直線箭頭接點 9">
            <a:extLst>
              <a:ext uri="{FF2B5EF4-FFF2-40B4-BE49-F238E27FC236}">
                <a16:creationId xmlns:a16="http://schemas.microsoft.com/office/drawing/2014/main" id="{216B5E2D-EAF9-8F6C-26EF-427929925E01}"/>
              </a:ext>
            </a:extLst>
          </p:cNvPr>
          <p:cNvCxnSpPr>
            <a:cxnSpLocks/>
            <a:stCxn id="6" idx="3"/>
            <a:endCxn id="7" idx="1"/>
          </p:cNvCxnSpPr>
          <p:nvPr/>
        </p:nvCxnSpPr>
        <p:spPr>
          <a:xfrm>
            <a:off x="6970901" y="5326921"/>
            <a:ext cx="563460" cy="0"/>
          </a:xfrm>
          <a:prstGeom prst="straightConnector1">
            <a:avLst/>
          </a:prstGeom>
          <a:ln w="19050">
            <a:solidFill>
              <a:schemeClr val="tx1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2" name="直線箭頭接點 11">
            <a:extLst>
              <a:ext uri="{FF2B5EF4-FFF2-40B4-BE49-F238E27FC236}">
                <a16:creationId xmlns:a16="http://schemas.microsoft.com/office/drawing/2014/main" id="{EB337213-A21F-E30E-A69A-21524492F4DA}"/>
              </a:ext>
            </a:extLst>
          </p:cNvPr>
          <p:cNvCxnSpPr>
            <a:cxnSpLocks/>
          </p:cNvCxnSpPr>
          <p:nvPr/>
        </p:nvCxnSpPr>
        <p:spPr>
          <a:xfrm>
            <a:off x="3444729" y="5326921"/>
            <a:ext cx="563460" cy="0"/>
          </a:xfrm>
          <a:prstGeom prst="straightConnector1">
            <a:avLst/>
          </a:prstGeom>
          <a:ln w="19050">
            <a:solidFill>
              <a:schemeClr val="tx1"/>
            </a:solidFill>
            <a:prstDash val="dash"/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17" name="文字方塊 16">
            <a:extLst>
              <a:ext uri="{FF2B5EF4-FFF2-40B4-BE49-F238E27FC236}">
                <a16:creationId xmlns:a16="http://schemas.microsoft.com/office/drawing/2014/main" id="{B8D1C757-F165-4C94-EC7A-88D8DE9B93C0}"/>
              </a:ext>
            </a:extLst>
          </p:cNvPr>
          <p:cNvSpPr txBox="1"/>
          <p:nvPr/>
        </p:nvSpPr>
        <p:spPr>
          <a:xfrm>
            <a:off x="7704005" y="6136457"/>
            <a:ext cx="860338" cy="46166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kumimoji="1" lang="en-US" altLang="zh-TW" sz="2400" dirty="0">
                <a:solidFill>
                  <a:srgbClr val="0070C0"/>
                </a:solidFill>
              </a:rPr>
              <a:t>NLP</a:t>
            </a:r>
            <a:endParaRPr kumimoji="1" lang="zh-TW" altLang="en-US" sz="2400" baseline="-25000" dirty="0">
              <a:solidFill>
                <a:srgbClr val="0070C0"/>
              </a:solidFill>
            </a:endParaRPr>
          </a:p>
        </p:txBody>
      </p:sp>
      <p:cxnSp>
        <p:nvCxnSpPr>
          <p:cNvPr id="18" name="直線箭頭接點 17">
            <a:extLst>
              <a:ext uri="{FF2B5EF4-FFF2-40B4-BE49-F238E27FC236}">
                <a16:creationId xmlns:a16="http://schemas.microsoft.com/office/drawing/2014/main" id="{58114885-90FD-ACDB-0E5B-D611AD86F1B0}"/>
              </a:ext>
            </a:extLst>
          </p:cNvPr>
          <p:cNvCxnSpPr>
            <a:cxnSpLocks/>
            <a:stCxn id="17" idx="0"/>
            <a:endCxn id="7" idx="2"/>
          </p:cNvCxnSpPr>
          <p:nvPr/>
        </p:nvCxnSpPr>
        <p:spPr>
          <a:xfrm flipV="1">
            <a:off x="8134174" y="5567016"/>
            <a:ext cx="0" cy="569441"/>
          </a:xfrm>
          <a:prstGeom prst="straightConnector1">
            <a:avLst/>
          </a:prstGeom>
          <a:ln w="19050">
            <a:solidFill>
              <a:schemeClr val="tx1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19" name="文字方塊 18">
            <a:extLst>
              <a:ext uri="{FF2B5EF4-FFF2-40B4-BE49-F238E27FC236}">
                <a16:creationId xmlns:a16="http://schemas.microsoft.com/office/drawing/2014/main" id="{EAE6B60D-3AB8-BB81-B1B8-A7F6FD1B2D9A}"/>
              </a:ext>
            </a:extLst>
          </p:cNvPr>
          <p:cNvSpPr txBox="1"/>
          <p:nvPr/>
        </p:nvSpPr>
        <p:spPr>
          <a:xfrm>
            <a:off x="5901149" y="6136457"/>
            <a:ext cx="931008" cy="46166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kumimoji="1" lang="en-US" altLang="zh-TW" sz="2400" dirty="0">
                <a:solidFill>
                  <a:srgbClr val="0070C0"/>
                </a:solidFill>
              </a:rPr>
              <a:t>love</a:t>
            </a:r>
            <a:endParaRPr kumimoji="1" lang="zh-TW" altLang="en-US" sz="2400" baseline="-25000" dirty="0">
              <a:solidFill>
                <a:srgbClr val="0070C0"/>
              </a:solidFill>
            </a:endParaRPr>
          </a:p>
        </p:txBody>
      </p:sp>
      <p:cxnSp>
        <p:nvCxnSpPr>
          <p:cNvPr id="20" name="直線箭頭接點 19">
            <a:extLst>
              <a:ext uri="{FF2B5EF4-FFF2-40B4-BE49-F238E27FC236}">
                <a16:creationId xmlns:a16="http://schemas.microsoft.com/office/drawing/2014/main" id="{41B60809-99CA-F2B9-8C36-A18B6B12774A}"/>
              </a:ext>
            </a:extLst>
          </p:cNvPr>
          <p:cNvCxnSpPr>
            <a:cxnSpLocks/>
            <a:stCxn id="19" idx="0"/>
            <a:endCxn id="6" idx="2"/>
          </p:cNvCxnSpPr>
          <p:nvPr/>
        </p:nvCxnSpPr>
        <p:spPr>
          <a:xfrm flipV="1">
            <a:off x="6366653" y="5567016"/>
            <a:ext cx="4435" cy="569441"/>
          </a:xfrm>
          <a:prstGeom prst="straightConnector1">
            <a:avLst/>
          </a:prstGeom>
          <a:ln w="19050">
            <a:solidFill>
              <a:schemeClr val="tx1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21" name="文字方塊 20">
            <a:extLst>
              <a:ext uri="{FF2B5EF4-FFF2-40B4-BE49-F238E27FC236}">
                <a16:creationId xmlns:a16="http://schemas.microsoft.com/office/drawing/2014/main" id="{1881DAB3-D8E9-7F25-98D9-20A646E02E19}"/>
              </a:ext>
            </a:extLst>
          </p:cNvPr>
          <p:cNvSpPr txBox="1"/>
          <p:nvPr/>
        </p:nvSpPr>
        <p:spPr>
          <a:xfrm>
            <a:off x="4316045" y="6136457"/>
            <a:ext cx="583911" cy="46166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kumimoji="1" lang="en-US" altLang="zh-TW" sz="2400" dirty="0">
                <a:solidFill>
                  <a:srgbClr val="0070C0"/>
                </a:solidFill>
              </a:rPr>
              <a:t>I</a:t>
            </a:r>
            <a:endParaRPr kumimoji="1" lang="zh-TW" altLang="en-US" sz="2400" dirty="0">
              <a:solidFill>
                <a:srgbClr val="0070C0"/>
              </a:solidFill>
            </a:endParaRPr>
          </a:p>
        </p:txBody>
      </p:sp>
      <p:cxnSp>
        <p:nvCxnSpPr>
          <p:cNvPr id="22" name="直線箭頭接點 21">
            <a:extLst>
              <a:ext uri="{FF2B5EF4-FFF2-40B4-BE49-F238E27FC236}">
                <a16:creationId xmlns:a16="http://schemas.microsoft.com/office/drawing/2014/main" id="{471415F5-6A37-5163-DB38-B19F87A7079D}"/>
              </a:ext>
            </a:extLst>
          </p:cNvPr>
          <p:cNvCxnSpPr>
            <a:cxnSpLocks/>
            <a:stCxn id="21" idx="0"/>
            <a:endCxn id="5" idx="2"/>
          </p:cNvCxnSpPr>
          <p:nvPr/>
        </p:nvCxnSpPr>
        <p:spPr>
          <a:xfrm flipV="1">
            <a:off x="4608001" y="5567016"/>
            <a:ext cx="1" cy="569441"/>
          </a:xfrm>
          <a:prstGeom prst="straightConnector1">
            <a:avLst/>
          </a:prstGeom>
          <a:ln w="19050">
            <a:solidFill>
              <a:schemeClr val="tx1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25" name="直線箭頭接點 24">
            <a:extLst>
              <a:ext uri="{FF2B5EF4-FFF2-40B4-BE49-F238E27FC236}">
                <a16:creationId xmlns:a16="http://schemas.microsoft.com/office/drawing/2014/main" id="{25338653-3CBF-5C8C-122D-2ED2A92A5E4A}"/>
              </a:ext>
            </a:extLst>
          </p:cNvPr>
          <p:cNvCxnSpPr>
            <a:cxnSpLocks/>
            <a:endCxn id="26" idx="2"/>
          </p:cNvCxnSpPr>
          <p:nvPr/>
        </p:nvCxnSpPr>
        <p:spPr>
          <a:xfrm flipV="1">
            <a:off x="8134694" y="4558143"/>
            <a:ext cx="1" cy="528683"/>
          </a:xfrm>
          <a:prstGeom prst="straightConnector1">
            <a:avLst/>
          </a:prstGeom>
          <a:ln w="19050">
            <a:solidFill>
              <a:schemeClr val="tx1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26" name="文字方塊 25">
            <a:extLst>
              <a:ext uri="{FF2B5EF4-FFF2-40B4-BE49-F238E27FC236}">
                <a16:creationId xmlns:a16="http://schemas.microsoft.com/office/drawing/2014/main" id="{BB9DAF9A-9C16-BC86-356E-7EBCF75E5A3B}"/>
              </a:ext>
            </a:extLst>
          </p:cNvPr>
          <p:cNvSpPr txBox="1"/>
          <p:nvPr/>
        </p:nvSpPr>
        <p:spPr>
          <a:xfrm>
            <a:off x="7842739" y="4096478"/>
            <a:ext cx="583911" cy="46166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kumimoji="1" lang="en-US" altLang="zh-TW" sz="2400" dirty="0"/>
              <a:t>h</a:t>
            </a:r>
            <a:r>
              <a:rPr kumimoji="1" lang="en-US" altLang="zh-TW" sz="2400" baseline="-25000" dirty="0"/>
              <a:t>3</a:t>
            </a:r>
            <a:endParaRPr kumimoji="1" lang="zh-TW" altLang="en-US" sz="2400" baseline="-25000" dirty="0"/>
          </a:p>
        </p:txBody>
      </p:sp>
      <p:sp>
        <p:nvSpPr>
          <p:cNvPr id="27" name="矩形 26">
            <a:extLst>
              <a:ext uri="{FF2B5EF4-FFF2-40B4-BE49-F238E27FC236}">
                <a16:creationId xmlns:a16="http://schemas.microsoft.com/office/drawing/2014/main" id="{70E296DC-51C9-C170-CC34-438AC8871DD8}"/>
              </a:ext>
            </a:extLst>
          </p:cNvPr>
          <p:cNvSpPr/>
          <p:nvPr/>
        </p:nvSpPr>
        <p:spPr>
          <a:xfrm>
            <a:off x="7454665" y="3169475"/>
            <a:ext cx="1359016" cy="398320"/>
          </a:xfrm>
          <a:prstGeom prst="rect">
            <a:avLst/>
          </a:prstGeom>
          <a:solidFill>
            <a:schemeClr val="bg1">
              <a:lumMod val="85000"/>
            </a:schemeClr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kumimoji="1" lang="en-US" altLang="zh-TW" sz="2400" dirty="0">
                <a:solidFill>
                  <a:schemeClr val="tx1"/>
                </a:solidFill>
              </a:rPr>
              <a:t>FFN</a:t>
            </a:r>
            <a:endParaRPr kumimoji="1" lang="zh-TW" altLang="en-US" sz="2400" dirty="0">
              <a:solidFill>
                <a:schemeClr val="tx1"/>
              </a:solidFill>
            </a:endParaRPr>
          </a:p>
        </p:txBody>
      </p:sp>
      <p:cxnSp>
        <p:nvCxnSpPr>
          <p:cNvPr id="28" name="直線箭頭接點 27">
            <a:extLst>
              <a:ext uri="{FF2B5EF4-FFF2-40B4-BE49-F238E27FC236}">
                <a16:creationId xmlns:a16="http://schemas.microsoft.com/office/drawing/2014/main" id="{70B35BAF-D990-504B-BE7B-2479F3E85380}"/>
              </a:ext>
            </a:extLst>
          </p:cNvPr>
          <p:cNvCxnSpPr>
            <a:cxnSpLocks/>
            <a:stCxn id="26" idx="0"/>
            <a:endCxn id="27" idx="2"/>
          </p:cNvCxnSpPr>
          <p:nvPr/>
        </p:nvCxnSpPr>
        <p:spPr>
          <a:xfrm flipH="1" flipV="1">
            <a:off x="8134173" y="3567795"/>
            <a:ext cx="522" cy="528683"/>
          </a:xfrm>
          <a:prstGeom prst="straightConnector1">
            <a:avLst/>
          </a:prstGeom>
          <a:ln w="19050">
            <a:solidFill>
              <a:schemeClr val="tx1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31" name="直線箭頭接點 30">
            <a:extLst>
              <a:ext uri="{FF2B5EF4-FFF2-40B4-BE49-F238E27FC236}">
                <a16:creationId xmlns:a16="http://schemas.microsoft.com/office/drawing/2014/main" id="{7E6E1A47-44CE-8E86-7872-50CF0327DB00}"/>
              </a:ext>
            </a:extLst>
          </p:cNvPr>
          <p:cNvCxnSpPr>
            <a:cxnSpLocks/>
            <a:endCxn id="32" idx="2"/>
          </p:cNvCxnSpPr>
          <p:nvPr/>
        </p:nvCxnSpPr>
        <p:spPr>
          <a:xfrm flipV="1">
            <a:off x="6371087" y="4558143"/>
            <a:ext cx="1" cy="528683"/>
          </a:xfrm>
          <a:prstGeom prst="straightConnector1">
            <a:avLst/>
          </a:prstGeom>
          <a:ln w="19050">
            <a:solidFill>
              <a:schemeClr val="tx1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32" name="文字方塊 31">
            <a:extLst>
              <a:ext uri="{FF2B5EF4-FFF2-40B4-BE49-F238E27FC236}">
                <a16:creationId xmlns:a16="http://schemas.microsoft.com/office/drawing/2014/main" id="{903C2C63-171D-2030-FA36-90108870F8B2}"/>
              </a:ext>
            </a:extLst>
          </p:cNvPr>
          <p:cNvSpPr txBox="1"/>
          <p:nvPr/>
        </p:nvSpPr>
        <p:spPr>
          <a:xfrm>
            <a:off x="6079132" y="4096478"/>
            <a:ext cx="583911" cy="46166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kumimoji="1" lang="en-US" altLang="zh-TW" sz="2400" dirty="0"/>
              <a:t>h</a:t>
            </a:r>
            <a:r>
              <a:rPr kumimoji="1" lang="en-US" altLang="zh-TW" sz="2400" baseline="-25000" dirty="0"/>
              <a:t>2</a:t>
            </a:r>
            <a:endParaRPr kumimoji="1" lang="zh-TW" altLang="en-US" sz="2400" baseline="-25000" dirty="0"/>
          </a:p>
        </p:txBody>
      </p:sp>
      <p:sp>
        <p:nvSpPr>
          <p:cNvPr id="33" name="矩形 32">
            <a:extLst>
              <a:ext uri="{FF2B5EF4-FFF2-40B4-BE49-F238E27FC236}">
                <a16:creationId xmlns:a16="http://schemas.microsoft.com/office/drawing/2014/main" id="{60A08A8D-6C02-5F3F-95C2-E757C7F62C28}"/>
              </a:ext>
            </a:extLst>
          </p:cNvPr>
          <p:cNvSpPr/>
          <p:nvPr/>
        </p:nvSpPr>
        <p:spPr>
          <a:xfrm>
            <a:off x="5691058" y="3169475"/>
            <a:ext cx="1359016" cy="398320"/>
          </a:xfrm>
          <a:prstGeom prst="rect">
            <a:avLst/>
          </a:prstGeom>
          <a:solidFill>
            <a:schemeClr val="bg1">
              <a:lumMod val="85000"/>
            </a:schemeClr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kumimoji="1" lang="en-US" altLang="zh-TW" sz="2400" dirty="0">
                <a:solidFill>
                  <a:schemeClr val="tx1"/>
                </a:solidFill>
              </a:rPr>
              <a:t>FFN</a:t>
            </a:r>
            <a:endParaRPr kumimoji="1" lang="zh-TW" altLang="en-US" sz="2400" dirty="0">
              <a:solidFill>
                <a:schemeClr val="tx1"/>
              </a:solidFill>
            </a:endParaRPr>
          </a:p>
        </p:txBody>
      </p:sp>
      <p:cxnSp>
        <p:nvCxnSpPr>
          <p:cNvPr id="34" name="直線箭頭接點 33">
            <a:extLst>
              <a:ext uri="{FF2B5EF4-FFF2-40B4-BE49-F238E27FC236}">
                <a16:creationId xmlns:a16="http://schemas.microsoft.com/office/drawing/2014/main" id="{47BC7729-FABC-DF76-81F5-0075D6C486E2}"/>
              </a:ext>
            </a:extLst>
          </p:cNvPr>
          <p:cNvCxnSpPr>
            <a:cxnSpLocks/>
            <a:stCxn id="32" idx="0"/>
            <a:endCxn id="33" idx="2"/>
          </p:cNvCxnSpPr>
          <p:nvPr/>
        </p:nvCxnSpPr>
        <p:spPr>
          <a:xfrm flipH="1" flipV="1">
            <a:off x="6370566" y="3567795"/>
            <a:ext cx="522" cy="528683"/>
          </a:xfrm>
          <a:prstGeom prst="straightConnector1">
            <a:avLst/>
          </a:prstGeom>
          <a:ln w="19050">
            <a:solidFill>
              <a:schemeClr val="tx1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45" name="直線箭頭接點 44">
            <a:extLst>
              <a:ext uri="{FF2B5EF4-FFF2-40B4-BE49-F238E27FC236}">
                <a16:creationId xmlns:a16="http://schemas.microsoft.com/office/drawing/2014/main" id="{50AB749A-B322-A69B-0AC0-DF441AA29F55}"/>
              </a:ext>
            </a:extLst>
          </p:cNvPr>
          <p:cNvCxnSpPr>
            <a:cxnSpLocks/>
            <a:endCxn id="46" idx="2"/>
          </p:cNvCxnSpPr>
          <p:nvPr/>
        </p:nvCxnSpPr>
        <p:spPr>
          <a:xfrm flipV="1">
            <a:off x="4607481" y="4558143"/>
            <a:ext cx="1" cy="528683"/>
          </a:xfrm>
          <a:prstGeom prst="straightConnector1">
            <a:avLst/>
          </a:prstGeom>
          <a:ln w="19050">
            <a:solidFill>
              <a:schemeClr val="tx1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46" name="文字方塊 45">
            <a:extLst>
              <a:ext uri="{FF2B5EF4-FFF2-40B4-BE49-F238E27FC236}">
                <a16:creationId xmlns:a16="http://schemas.microsoft.com/office/drawing/2014/main" id="{999FC653-A24B-F89F-BAF2-C1169DC040D6}"/>
              </a:ext>
            </a:extLst>
          </p:cNvPr>
          <p:cNvSpPr txBox="1"/>
          <p:nvPr/>
        </p:nvSpPr>
        <p:spPr>
          <a:xfrm>
            <a:off x="4315526" y="4096478"/>
            <a:ext cx="583911" cy="46166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kumimoji="1" lang="en-US" altLang="zh-TW" sz="2400" dirty="0"/>
              <a:t>h</a:t>
            </a:r>
            <a:r>
              <a:rPr kumimoji="1" lang="en-US" altLang="zh-TW" sz="2400" baseline="-25000" dirty="0"/>
              <a:t>2</a:t>
            </a:r>
            <a:endParaRPr kumimoji="1" lang="zh-TW" altLang="en-US" sz="2400" baseline="-25000" dirty="0"/>
          </a:p>
        </p:txBody>
      </p:sp>
      <p:sp>
        <p:nvSpPr>
          <p:cNvPr id="47" name="矩形 46">
            <a:extLst>
              <a:ext uri="{FF2B5EF4-FFF2-40B4-BE49-F238E27FC236}">
                <a16:creationId xmlns:a16="http://schemas.microsoft.com/office/drawing/2014/main" id="{C4B38394-4648-53CF-F240-37BB59F8A8DF}"/>
              </a:ext>
            </a:extLst>
          </p:cNvPr>
          <p:cNvSpPr/>
          <p:nvPr/>
        </p:nvSpPr>
        <p:spPr>
          <a:xfrm>
            <a:off x="3927452" y="3169475"/>
            <a:ext cx="1359016" cy="398320"/>
          </a:xfrm>
          <a:prstGeom prst="rect">
            <a:avLst/>
          </a:prstGeom>
          <a:solidFill>
            <a:schemeClr val="bg1">
              <a:lumMod val="85000"/>
            </a:schemeClr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kumimoji="1" lang="en-US" altLang="zh-TW" sz="2400" dirty="0">
                <a:solidFill>
                  <a:schemeClr val="tx1"/>
                </a:solidFill>
              </a:rPr>
              <a:t>FFN</a:t>
            </a:r>
            <a:endParaRPr kumimoji="1" lang="zh-TW" altLang="en-US" sz="2400" dirty="0">
              <a:solidFill>
                <a:schemeClr val="tx1"/>
              </a:solidFill>
            </a:endParaRPr>
          </a:p>
        </p:txBody>
      </p:sp>
      <p:cxnSp>
        <p:nvCxnSpPr>
          <p:cNvPr id="48" name="直線箭頭接點 47">
            <a:extLst>
              <a:ext uri="{FF2B5EF4-FFF2-40B4-BE49-F238E27FC236}">
                <a16:creationId xmlns:a16="http://schemas.microsoft.com/office/drawing/2014/main" id="{27F6B528-320A-0F87-1211-AB566B7B1D40}"/>
              </a:ext>
            </a:extLst>
          </p:cNvPr>
          <p:cNvCxnSpPr>
            <a:cxnSpLocks/>
            <a:stCxn id="46" idx="0"/>
            <a:endCxn id="47" idx="2"/>
          </p:cNvCxnSpPr>
          <p:nvPr/>
        </p:nvCxnSpPr>
        <p:spPr>
          <a:xfrm flipH="1" flipV="1">
            <a:off x="4606960" y="3567795"/>
            <a:ext cx="522" cy="528683"/>
          </a:xfrm>
          <a:prstGeom prst="straightConnector1">
            <a:avLst/>
          </a:prstGeom>
          <a:ln w="19050">
            <a:solidFill>
              <a:schemeClr val="tx1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51" name="直線箭頭接點 50">
            <a:extLst>
              <a:ext uri="{FF2B5EF4-FFF2-40B4-BE49-F238E27FC236}">
                <a16:creationId xmlns:a16="http://schemas.microsoft.com/office/drawing/2014/main" id="{0E3FF17E-D905-F1BA-BFD4-A54CAB5CA474}"/>
              </a:ext>
            </a:extLst>
          </p:cNvPr>
          <p:cNvCxnSpPr>
            <a:cxnSpLocks/>
          </p:cNvCxnSpPr>
          <p:nvPr/>
        </p:nvCxnSpPr>
        <p:spPr>
          <a:xfrm flipH="1" flipV="1">
            <a:off x="4606438" y="2543938"/>
            <a:ext cx="522" cy="528683"/>
          </a:xfrm>
          <a:prstGeom prst="straightConnector1">
            <a:avLst/>
          </a:prstGeom>
          <a:ln w="19050">
            <a:solidFill>
              <a:schemeClr val="tx1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52" name="直線箭頭接點 51">
            <a:extLst>
              <a:ext uri="{FF2B5EF4-FFF2-40B4-BE49-F238E27FC236}">
                <a16:creationId xmlns:a16="http://schemas.microsoft.com/office/drawing/2014/main" id="{66A0858A-6C9B-190C-40CA-BFA3C8C64A12}"/>
              </a:ext>
            </a:extLst>
          </p:cNvPr>
          <p:cNvCxnSpPr>
            <a:cxnSpLocks/>
          </p:cNvCxnSpPr>
          <p:nvPr/>
        </p:nvCxnSpPr>
        <p:spPr>
          <a:xfrm flipH="1" flipV="1">
            <a:off x="6370044" y="2543938"/>
            <a:ext cx="522" cy="528683"/>
          </a:xfrm>
          <a:prstGeom prst="straightConnector1">
            <a:avLst/>
          </a:prstGeom>
          <a:ln w="19050">
            <a:solidFill>
              <a:schemeClr val="tx1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53" name="直線箭頭接點 52">
            <a:extLst>
              <a:ext uri="{FF2B5EF4-FFF2-40B4-BE49-F238E27FC236}">
                <a16:creationId xmlns:a16="http://schemas.microsoft.com/office/drawing/2014/main" id="{8FE41B8A-D56D-2B80-FE67-A8920AF4B20C}"/>
              </a:ext>
            </a:extLst>
          </p:cNvPr>
          <p:cNvCxnSpPr>
            <a:cxnSpLocks/>
          </p:cNvCxnSpPr>
          <p:nvPr/>
        </p:nvCxnSpPr>
        <p:spPr>
          <a:xfrm flipH="1" flipV="1">
            <a:off x="8133128" y="2543938"/>
            <a:ext cx="522" cy="528683"/>
          </a:xfrm>
          <a:prstGeom prst="straightConnector1">
            <a:avLst/>
          </a:prstGeom>
          <a:ln w="19050">
            <a:solidFill>
              <a:schemeClr val="tx1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61" name="文字方塊 60">
            <a:extLst>
              <a:ext uri="{FF2B5EF4-FFF2-40B4-BE49-F238E27FC236}">
                <a16:creationId xmlns:a16="http://schemas.microsoft.com/office/drawing/2014/main" id="{B33C7010-8D51-57BF-CB2B-C18557264178}"/>
              </a:ext>
            </a:extLst>
          </p:cNvPr>
          <p:cNvSpPr txBox="1"/>
          <p:nvPr/>
        </p:nvSpPr>
        <p:spPr>
          <a:xfrm>
            <a:off x="4314482" y="2019811"/>
            <a:ext cx="583911" cy="46166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kumimoji="1" lang="zh-TW" altLang="en-US" sz="2400" dirty="0">
                <a:solidFill>
                  <a:srgbClr val="0070C0"/>
                </a:solidFill>
                <a:latin typeface="Microsoft JhengHei" panose="020B0604030504040204" pitchFamily="34" charset="-120"/>
                <a:ea typeface="Microsoft JhengHei" panose="020B0604030504040204" pitchFamily="34" charset="-120"/>
              </a:rPr>
              <a:t>我</a:t>
            </a:r>
          </a:p>
        </p:txBody>
      </p:sp>
      <p:sp>
        <p:nvSpPr>
          <p:cNvPr id="62" name="文字方塊 61">
            <a:extLst>
              <a:ext uri="{FF2B5EF4-FFF2-40B4-BE49-F238E27FC236}">
                <a16:creationId xmlns:a16="http://schemas.microsoft.com/office/drawing/2014/main" id="{A63FEE21-D844-2142-64AE-9B07316B3500}"/>
              </a:ext>
            </a:extLst>
          </p:cNvPr>
          <p:cNvSpPr txBox="1"/>
          <p:nvPr/>
        </p:nvSpPr>
        <p:spPr>
          <a:xfrm>
            <a:off x="5953538" y="2019811"/>
            <a:ext cx="833011" cy="46166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kumimoji="1" lang="zh-TW" altLang="en-US" sz="2400" dirty="0">
                <a:solidFill>
                  <a:srgbClr val="0070C0"/>
                </a:solidFill>
                <a:latin typeface="Microsoft JhengHei" panose="020B0604030504040204" pitchFamily="34" charset="-120"/>
                <a:ea typeface="Microsoft JhengHei" panose="020B0604030504040204" pitchFamily="34" charset="-120"/>
              </a:rPr>
              <a:t>喜歡</a:t>
            </a:r>
          </a:p>
        </p:txBody>
      </p:sp>
      <p:sp>
        <p:nvSpPr>
          <p:cNvPr id="64" name="文字方塊 63">
            <a:extLst>
              <a:ext uri="{FF2B5EF4-FFF2-40B4-BE49-F238E27FC236}">
                <a16:creationId xmlns:a16="http://schemas.microsoft.com/office/drawing/2014/main" id="{9630A91B-C649-0811-D30E-495BEAC63A94}"/>
              </a:ext>
            </a:extLst>
          </p:cNvPr>
          <p:cNvSpPr txBox="1"/>
          <p:nvPr/>
        </p:nvSpPr>
        <p:spPr>
          <a:xfrm>
            <a:off x="7704005" y="2015255"/>
            <a:ext cx="860338" cy="46166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kumimoji="1" lang="en-US" altLang="zh-TW" sz="2400" dirty="0">
                <a:solidFill>
                  <a:srgbClr val="0070C0"/>
                </a:solidFill>
              </a:rPr>
              <a:t>NLP</a:t>
            </a:r>
            <a:endParaRPr kumimoji="1" lang="zh-TW" altLang="en-US" sz="2400" baseline="-25000" dirty="0">
              <a:solidFill>
                <a:srgbClr val="0070C0"/>
              </a:solidFill>
            </a:endParaRPr>
          </a:p>
        </p:txBody>
      </p:sp>
      <p:sp>
        <p:nvSpPr>
          <p:cNvPr id="66" name="文字方塊 65">
            <a:extLst>
              <a:ext uri="{FF2B5EF4-FFF2-40B4-BE49-F238E27FC236}">
                <a16:creationId xmlns:a16="http://schemas.microsoft.com/office/drawing/2014/main" id="{43879581-28BE-7564-8A29-4B30FF5F11D2}"/>
              </a:ext>
            </a:extLst>
          </p:cNvPr>
          <p:cNvSpPr txBox="1"/>
          <p:nvPr/>
        </p:nvSpPr>
        <p:spPr>
          <a:xfrm>
            <a:off x="653143" y="1527605"/>
            <a:ext cx="4386356" cy="46166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kumimoji="1" lang="en-US" altLang="zh-TW" sz="2400" b="1" dirty="0">
                <a:solidFill>
                  <a:srgbClr val="00B050"/>
                </a:solidFill>
              </a:rPr>
              <a:t>Method 1 (</a:t>
            </a:r>
            <a:r>
              <a:rPr kumimoji="1" lang="zh-TW" altLang="en-US" sz="2400" b="1" dirty="0">
                <a:solidFill>
                  <a:srgbClr val="00B050"/>
                </a:solidFill>
                <a:latin typeface="Microsoft JhengHei" panose="020B0604030504040204" pitchFamily="34" charset="-120"/>
                <a:ea typeface="Microsoft JhengHei" panose="020B0604030504040204" pitchFamily="34" charset="-120"/>
              </a:rPr>
              <a:t>逐字對齊</a:t>
            </a:r>
            <a:r>
              <a:rPr kumimoji="1" lang="en-US" altLang="zh-TW" sz="2400" b="1" dirty="0">
                <a:solidFill>
                  <a:srgbClr val="00B050"/>
                </a:solidFill>
              </a:rPr>
              <a:t>)</a:t>
            </a:r>
            <a:endParaRPr kumimoji="1" lang="zh-TW" altLang="en-US" sz="2400" b="1" dirty="0">
              <a:solidFill>
                <a:srgbClr val="00B050"/>
              </a:solidFill>
            </a:endParaRPr>
          </a:p>
        </p:txBody>
      </p:sp>
    </p:spTree>
    <p:extLst>
      <p:ext uri="{BB962C8B-B14F-4D97-AF65-F5344CB8AC3E}">
        <p14:creationId xmlns:p14="http://schemas.microsoft.com/office/powerpoint/2010/main" val="2151011767"/>
      </p:ext>
    </p:extLst>
  </p:cSld>
  <p:clrMapOvr>
    <a:masterClrMapping/>
  </p:clrMapOvr>
</p:sld>
</file>

<file path=ppt/slides/slide4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標題 1">
            <a:extLst>
              <a:ext uri="{FF2B5EF4-FFF2-40B4-BE49-F238E27FC236}">
                <a16:creationId xmlns:a16="http://schemas.microsoft.com/office/drawing/2014/main" id="{2B433469-7E3A-98C5-5BBB-44E032B54A4B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altLang="zh-TW" dirty="0">
                <a:ea typeface="新細明體"/>
                <a:cs typeface="Calibri" panose="020F0502020204030204" pitchFamily="34" charset="0"/>
              </a:rPr>
              <a:t>RNNs for Machine Translation?</a:t>
            </a:r>
            <a:endParaRPr kumimoji="1" lang="zh-TW" altLang="en-US" dirty="0"/>
          </a:p>
        </p:txBody>
      </p:sp>
      <p:sp>
        <p:nvSpPr>
          <p:cNvPr id="4" name="投影片編號版面配置區 3">
            <a:extLst>
              <a:ext uri="{FF2B5EF4-FFF2-40B4-BE49-F238E27FC236}">
                <a16:creationId xmlns:a16="http://schemas.microsoft.com/office/drawing/2014/main" id="{32DD1EA3-9DB5-3A6F-8BEE-644F66F36D6D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6113E31D-E2AB-40D1-8B51-AFA5AFEF393A}" type="slidenum">
              <a:rPr lang="en-US" smtClean="0"/>
              <a:pPr/>
              <a:t>42</a:t>
            </a:fld>
            <a:endParaRPr lang="en-US" dirty="0"/>
          </a:p>
        </p:txBody>
      </p:sp>
      <p:sp>
        <p:nvSpPr>
          <p:cNvPr id="5" name="矩形 4">
            <a:extLst>
              <a:ext uri="{FF2B5EF4-FFF2-40B4-BE49-F238E27FC236}">
                <a16:creationId xmlns:a16="http://schemas.microsoft.com/office/drawing/2014/main" id="{8337B020-61FE-162C-DF6D-08E817680597}"/>
              </a:ext>
            </a:extLst>
          </p:cNvPr>
          <p:cNvSpPr/>
          <p:nvPr/>
        </p:nvSpPr>
        <p:spPr>
          <a:xfrm>
            <a:off x="4008189" y="5086826"/>
            <a:ext cx="1199626" cy="480190"/>
          </a:xfrm>
          <a:prstGeom prst="rect">
            <a:avLst/>
          </a:prstGeom>
          <a:solidFill>
            <a:srgbClr val="FDE7D7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kumimoji="1" lang="en-US" altLang="zh-TW" sz="2400" dirty="0">
                <a:solidFill>
                  <a:schemeClr val="tx1"/>
                </a:solidFill>
              </a:rPr>
              <a:t>RNN</a:t>
            </a:r>
            <a:endParaRPr kumimoji="1" lang="zh-TW" altLang="en-US" sz="2400" dirty="0">
              <a:solidFill>
                <a:schemeClr val="tx1"/>
              </a:solidFill>
            </a:endParaRPr>
          </a:p>
        </p:txBody>
      </p:sp>
      <p:sp>
        <p:nvSpPr>
          <p:cNvPr id="6" name="矩形 5">
            <a:extLst>
              <a:ext uri="{FF2B5EF4-FFF2-40B4-BE49-F238E27FC236}">
                <a16:creationId xmlns:a16="http://schemas.microsoft.com/office/drawing/2014/main" id="{9FFF1937-1273-0723-6638-7D9A807A63CB}"/>
              </a:ext>
            </a:extLst>
          </p:cNvPr>
          <p:cNvSpPr/>
          <p:nvPr/>
        </p:nvSpPr>
        <p:spPr>
          <a:xfrm>
            <a:off x="5771275" y="5086826"/>
            <a:ext cx="1199626" cy="480190"/>
          </a:xfrm>
          <a:prstGeom prst="rect">
            <a:avLst/>
          </a:prstGeom>
          <a:solidFill>
            <a:srgbClr val="FDE7D7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kumimoji="1" lang="en-US" altLang="zh-TW" sz="2400" dirty="0">
                <a:solidFill>
                  <a:schemeClr val="tx1"/>
                </a:solidFill>
              </a:rPr>
              <a:t>RNN</a:t>
            </a:r>
            <a:endParaRPr kumimoji="1" lang="zh-TW" altLang="en-US" sz="2400" dirty="0">
              <a:solidFill>
                <a:schemeClr val="tx1"/>
              </a:solidFill>
            </a:endParaRPr>
          </a:p>
        </p:txBody>
      </p:sp>
      <p:sp>
        <p:nvSpPr>
          <p:cNvPr id="7" name="矩形 6">
            <a:extLst>
              <a:ext uri="{FF2B5EF4-FFF2-40B4-BE49-F238E27FC236}">
                <a16:creationId xmlns:a16="http://schemas.microsoft.com/office/drawing/2014/main" id="{4BCA9ACB-2A99-7B0D-37EE-07B43DB6B191}"/>
              </a:ext>
            </a:extLst>
          </p:cNvPr>
          <p:cNvSpPr/>
          <p:nvPr/>
        </p:nvSpPr>
        <p:spPr>
          <a:xfrm>
            <a:off x="7534361" y="5086826"/>
            <a:ext cx="1199626" cy="480190"/>
          </a:xfrm>
          <a:prstGeom prst="rect">
            <a:avLst/>
          </a:prstGeom>
          <a:solidFill>
            <a:srgbClr val="FDE7D7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kumimoji="1" lang="en-US" altLang="zh-TW" sz="2400" dirty="0">
                <a:solidFill>
                  <a:schemeClr val="tx1"/>
                </a:solidFill>
              </a:rPr>
              <a:t>RNN</a:t>
            </a:r>
            <a:endParaRPr kumimoji="1" lang="zh-TW" altLang="en-US" sz="2400" dirty="0">
              <a:solidFill>
                <a:schemeClr val="tx1"/>
              </a:solidFill>
            </a:endParaRPr>
          </a:p>
        </p:txBody>
      </p:sp>
      <p:cxnSp>
        <p:nvCxnSpPr>
          <p:cNvPr id="9" name="直線箭頭接點 8">
            <a:extLst>
              <a:ext uri="{FF2B5EF4-FFF2-40B4-BE49-F238E27FC236}">
                <a16:creationId xmlns:a16="http://schemas.microsoft.com/office/drawing/2014/main" id="{A8A6D1DC-2DA8-B010-93EB-3D2A32E7CC17}"/>
              </a:ext>
            </a:extLst>
          </p:cNvPr>
          <p:cNvCxnSpPr>
            <a:cxnSpLocks/>
            <a:stCxn id="5" idx="3"/>
            <a:endCxn id="6" idx="1"/>
          </p:cNvCxnSpPr>
          <p:nvPr/>
        </p:nvCxnSpPr>
        <p:spPr>
          <a:xfrm>
            <a:off x="5207815" y="5326921"/>
            <a:ext cx="563460" cy="0"/>
          </a:xfrm>
          <a:prstGeom prst="straightConnector1">
            <a:avLst/>
          </a:prstGeom>
          <a:ln w="19050">
            <a:solidFill>
              <a:schemeClr val="tx1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0" name="直線箭頭接點 9">
            <a:extLst>
              <a:ext uri="{FF2B5EF4-FFF2-40B4-BE49-F238E27FC236}">
                <a16:creationId xmlns:a16="http://schemas.microsoft.com/office/drawing/2014/main" id="{216B5E2D-EAF9-8F6C-26EF-427929925E01}"/>
              </a:ext>
            </a:extLst>
          </p:cNvPr>
          <p:cNvCxnSpPr>
            <a:cxnSpLocks/>
            <a:stCxn id="6" idx="3"/>
            <a:endCxn id="7" idx="1"/>
          </p:cNvCxnSpPr>
          <p:nvPr/>
        </p:nvCxnSpPr>
        <p:spPr>
          <a:xfrm>
            <a:off x="6970901" y="5326921"/>
            <a:ext cx="563460" cy="0"/>
          </a:xfrm>
          <a:prstGeom prst="straightConnector1">
            <a:avLst/>
          </a:prstGeom>
          <a:ln w="19050">
            <a:solidFill>
              <a:schemeClr val="tx1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2" name="直線箭頭接點 11">
            <a:extLst>
              <a:ext uri="{FF2B5EF4-FFF2-40B4-BE49-F238E27FC236}">
                <a16:creationId xmlns:a16="http://schemas.microsoft.com/office/drawing/2014/main" id="{EB337213-A21F-E30E-A69A-21524492F4DA}"/>
              </a:ext>
            </a:extLst>
          </p:cNvPr>
          <p:cNvCxnSpPr>
            <a:cxnSpLocks/>
          </p:cNvCxnSpPr>
          <p:nvPr/>
        </p:nvCxnSpPr>
        <p:spPr>
          <a:xfrm>
            <a:off x="3444729" y="5326921"/>
            <a:ext cx="563460" cy="0"/>
          </a:xfrm>
          <a:prstGeom prst="straightConnector1">
            <a:avLst/>
          </a:prstGeom>
          <a:ln w="19050">
            <a:solidFill>
              <a:schemeClr val="tx1"/>
            </a:solidFill>
            <a:prstDash val="dash"/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8" name="直線箭頭接點 17">
            <a:extLst>
              <a:ext uri="{FF2B5EF4-FFF2-40B4-BE49-F238E27FC236}">
                <a16:creationId xmlns:a16="http://schemas.microsoft.com/office/drawing/2014/main" id="{58114885-90FD-ACDB-0E5B-D611AD86F1B0}"/>
              </a:ext>
            </a:extLst>
          </p:cNvPr>
          <p:cNvCxnSpPr>
            <a:cxnSpLocks/>
            <a:endCxn id="7" idx="2"/>
          </p:cNvCxnSpPr>
          <p:nvPr/>
        </p:nvCxnSpPr>
        <p:spPr>
          <a:xfrm flipV="1">
            <a:off x="8134174" y="5567016"/>
            <a:ext cx="0" cy="569441"/>
          </a:xfrm>
          <a:prstGeom prst="straightConnector1">
            <a:avLst/>
          </a:prstGeom>
          <a:ln w="19050">
            <a:solidFill>
              <a:schemeClr val="tx1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20" name="直線箭頭接點 19">
            <a:extLst>
              <a:ext uri="{FF2B5EF4-FFF2-40B4-BE49-F238E27FC236}">
                <a16:creationId xmlns:a16="http://schemas.microsoft.com/office/drawing/2014/main" id="{41B60809-99CA-F2B9-8C36-A18B6B12774A}"/>
              </a:ext>
            </a:extLst>
          </p:cNvPr>
          <p:cNvCxnSpPr>
            <a:cxnSpLocks/>
            <a:endCxn id="6" idx="2"/>
          </p:cNvCxnSpPr>
          <p:nvPr/>
        </p:nvCxnSpPr>
        <p:spPr>
          <a:xfrm flipV="1">
            <a:off x="6371088" y="5567016"/>
            <a:ext cx="0" cy="569441"/>
          </a:xfrm>
          <a:prstGeom prst="straightConnector1">
            <a:avLst/>
          </a:prstGeom>
          <a:ln w="19050">
            <a:solidFill>
              <a:schemeClr val="tx1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21" name="文字方塊 20">
            <a:extLst>
              <a:ext uri="{FF2B5EF4-FFF2-40B4-BE49-F238E27FC236}">
                <a16:creationId xmlns:a16="http://schemas.microsoft.com/office/drawing/2014/main" id="{1881DAB3-D8E9-7F25-98D9-20A646E02E19}"/>
              </a:ext>
            </a:extLst>
          </p:cNvPr>
          <p:cNvSpPr txBox="1"/>
          <p:nvPr/>
        </p:nvSpPr>
        <p:spPr>
          <a:xfrm>
            <a:off x="4316045" y="6136457"/>
            <a:ext cx="583911" cy="46166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kumimoji="1" lang="en-US" altLang="zh-TW" sz="2400" dirty="0">
                <a:solidFill>
                  <a:srgbClr val="0070C0"/>
                </a:solidFill>
              </a:rPr>
              <a:t>I</a:t>
            </a:r>
            <a:endParaRPr kumimoji="1" lang="zh-TW" altLang="en-US" sz="2400" dirty="0">
              <a:solidFill>
                <a:srgbClr val="0070C0"/>
              </a:solidFill>
            </a:endParaRPr>
          </a:p>
        </p:txBody>
      </p:sp>
      <p:cxnSp>
        <p:nvCxnSpPr>
          <p:cNvPr id="22" name="直線箭頭接點 21">
            <a:extLst>
              <a:ext uri="{FF2B5EF4-FFF2-40B4-BE49-F238E27FC236}">
                <a16:creationId xmlns:a16="http://schemas.microsoft.com/office/drawing/2014/main" id="{471415F5-6A37-5163-DB38-B19F87A7079D}"/>
              </a:ext>
            </a:extLst>
          </p:cNvPr>
          <p:cNvCxnSpPr>
            <a:cxnSpLocks/>
            <a:stCxn id="21" idx="0"/>
            <a:endCxn id="5" idx="2"/>
          </p:cNvCxnSpPr>
          <p:nvPr/>
        </p:nvCxnSpPr>
        <p:spPr>
          <a:xfrm flipV="1">
            <a:off x="4608001" y="5567016"/>
            <a:ext cx="1" cy="569441"/>
          </a:xfrm>
          <a:prstGeom prst="straightConnector1">
            <a:avLst/>
          </a:prstGeom>
          <a:ln w="19050">
            <a:solidFill>
              <a:schemeClr val="tx1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25" name="直線箭頭接點 24">
            <a:extLst>
              <a:ext uri="{FF2B5EF4-FFF2-40B4-BE49-F238E27FC236}">
                <a16:creationId xmlns:a16="http://schemas.microsoft.com/office/drawing/2014/main" id="{25338653-3CBF-5C8C-122D-2ED2A92A5E4A}"/>
              </a:ext>
            </a:extLst>
          </p:cNvPr>
          <p:cNvCxnSpPr>
            <a:cxnSpLocks/>
            <a:endCxn id="26" idx="2"/>
          </p:cNvCxnSpPr>
          <p:nvPr/>
        </p:nvCxnSpPr>
        <p:spPr>
          <a:xfrm flipV="1">
            <a:off x="8134694" y="4558143"/>
            <a:ext cx="1" cy="528683"/>
          </a:xfrm>
          <a:prstGeom prst="straightConnector1">
            <a:avLst/>
          </a:prstGeom>
          <a:ln w="19050">
            <a:solidFill>
              <a:schemeClr val="tx1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26" name="文字方塊 25">
            <a:extLst>
              <a:ext uri="{FF2B5EF4-FFF2-40B4-BE49-F238E27FC236}">
                <a16:creationId xmlns:a16="http://schemas.microsoft.com/office/drawing/2014/main" id="{BB9DAF9A-9C16-BC86-356E-7EBCF75E5A3B}"/>
              </a:ext>
            </a:extLst>
          </p:cNvPr>
          <p:cNvSpPr txBox="1"/>
          <p:nvPr/>
        </p:nvSpPr>
        <p:spPr>
          <a:xfrm>
            <a:off x="7842739" y="4096478"/>
            <a:ext cx="583911" cy="46166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kumimoji="1" lang="en-US" altLang="zh-TW" sz="2400" dirty="0"/>
              <a:t>h</a:t>
            </a:r>
            <a:r>
              <a:rPr kumimoji="1" lang="en-US" altLang="zh-TW" sz="2400" baseline="-25000" dirty="0"/>
              <a:t>3</a:t>
            </a:r>
            <a:endParaRPr kumimoji="1" lang="zh-TW" altLang="en-US" sz="2400" baseline="-25000" dirty="0"/>
          </a:p>
        </p:txBody>
      </p:sp>
      <p:sp>
        <p:nvSpPr>
          <p:cNvPr id="27" name="矩形 26">
            <a:extLst>
              <a:ext uri="{FF2B5EF4-FFF2-40B4-BE49-F238E27FC236}">
                <a16:creationId xmlns:a16="http://schemas.microsoft.com/office/drawing/2014/main" id="{70E296DC-51C9-C170-CC34-438AC8871DD8}"/>
              </a:ext>
            </a:extLst>
          </p:cNvPr>
          <p:cNvSpPr/>
          <p:nvPr/>
        </p:nvSpPr>
        <p:spPr>
          <a:xfrm>
            <a:off x="7454665" y="3169475"/>
            <a:ext cx="1359016" cy="398320"/>
          </a:xfrm>
          <a:prstGeom prst="rect">
            <a:avLst/>
          </a:prstGeom>
          <a:solidFill>
            <a:schemeClr val="bg1">
              <a:lumMod val="85000"/>
            </a:schemeClr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kumimoji="1" lang="en-US" altLang="zh-TW" sz="2400" dirty="0">
                <a:solidFill>
                  <a:schemeClr val="tx1"/>
                </a:solidFill>
              </a:rPr>
              <a:t>FFN</a:t>
            </a:r>
            <a:endParaRPr kumimoji="1" lang="zh-TW" altLang="en-US" sz="2400" dirty="0">
              <a:solidFill>
                <a:schemeClr val="tx1"/>
              </a:solidFill>
            </a:endParaRPr>
          </a:p>
        </p:txBody>
      </p:sp>
      <p:cxnSp>
        <p:nvCxnSpPr>
          <p:cNvPr id="28" name="直線箭頭接點 27">
            <a:extLst>
              <a:ext uri="{FF2B5EF4-FFF2-40B4-BE49-F238E27FC236}">
                <a16:creationId xmlns:a16="http://schemas.microsoft.com/office/drawing/2014/main" id="{70B35BAF-D990-504B-BE7B-2479F3E85380}"/>
              </a:ext>
            </a:extLst>
          </p:cNvPr>
          <p:cNvCxnSpPr>
            <a:cxnSpLocks/>
            <a:stCxn id="26" idx="0"/>
            <a:endCxn id="27" idx="2"/>
          </p:cNvCxnSpPr>
          <p:nvPr/>
        </p:nvCxnSpPr>
        <p:spPr>
          <a:xfrm flipH="1" flipV="1">
            <a:off x="8134173" y="3567795"/>
            <a:ext cx="522" cy="528683"/>
          </a:xfrm>
          <a:prstGeom prst="straightConnector1">
            <a:avLst/>
          </a:prstGeom>
          <a:ln w="19050">
            <a:solidFill>
              <a:schemeClr val="tx1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31" name="直線箭頭接點 30">
            <a:extLst>
              <a:ext uri="{FF2B5EF4-FFF2-40B4-BE49-F238E27FC236}">
                <a16:creationId xmlns:a16="http://schemas.microsoft.com/office/drawing/2014/main" id="{7E6E1A47-44CE-8E86-7872-50CF0327DB00}"/>
              </a:ext>
            </a:extLst>
          </p:cNvPr>
          <p:cNvCxnSpPr>
            <a:cxnSpLocks/>
            <a:endCxn id="32" idx="2"/>
          </p:cNvCxnSpPr>
          <p:nvPr/>
        </p:nvCxnSpPr>
        <p:spPr>
          <a:xfrm flipV="1">
            <a:off x="6371087" y="4558143"/>
            <a:ext cx="1" cy="528683"/>
          </a:xfrm>
          <a:prstGeom prst="straightConnector1">
            <a:avLst/>
          </a:prstGeom>
          <a:ln w="19050">
            <a:solidFill>
              <a:schemeClr val="tx1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32" name="文字方塊 31">
            <a:extLst>
              <a:ext uri="{FF2B5EF4-FFF2-40B4-BE49-F238E27FC236}">
                <a16:creationId xmlns:a16="http://schemas.microsoft.com/office/drawing/2014/main" id="{903C2C63-171D-2030-FA36-90108870F8B2}"/>
              </a:ext>
            </a:extLst>
          </p:cNvPr>
          <p:cNvSpPr txBox="1"/>
          <p:nvPr/>
        </p:nvSpPr>
        <p:spPr>
          <a:xfrm>
            <a:off x="6079132" y="4096478"/>
            <a:ext cx="583911" cy="46166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kumimoji="1" lang="en-US" altLang="zh-TW" sz="2400" dirty="0"/>
              <a:t>h</a:t>
            </a:r>
            <a:r>
              <a:rPr kumimoji="1" lang="en-US" altLang="zh-TW" sz="2400" baseline="-25000" dirty="0"/>
              <a:t>2</a:t>
            </a:r>
            <a:endParaRPr kumimoji="1" lang="zh-TW" altLang="en-US" sz="2400" baseline="-25000" dirty="0"/>
          </a:p>
        </p:txBody>
      </p:sp>
      <p:sp>
        <p:nvSpPr>
          <p:cNvPr id="33" name="矩形 32">
            <a:extLst>
              <a:ext uri="{FF2B5EF4-FFF2-40B4-BE49-F238E27FC236}">
                <a16:creationId xmlns:a16="http://schemas.microsoft.com/office/drawing/2014/main" id="{60A08A8D-6C02-5F3F-95C2-E757C7F62C28}"/>
              </a:ext>
            </a:extLst>
          </p:cNvPr>
          <p:cNvSpPr/>
          <p:nvPr/>
        </p:nvSpPr>
        <p:spPr>
          <a:xfrm>
            <a:off x="5691058" y="3169475"/>
            <a:ext cx="1359016" cy="398320"/>
          </a:xfrm>
          <a:prstGeom prst="rect">
            <a:avLst/>
          </a:prstGeom>
          <a:solidFill>
            <a:schemeClr val="bg1">
              <a:lumMod val="85000"/>
            </a:schemeClr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kumimoji="1" lang="en-US" altLang="zh-TW" sz="2400" dirty="0">
                <a:solidFill>
                  <a:schemeClr val="tx1"/>
                </a:solidFill>
              </a:rPr>
              <a:t>FFN</a:t>
            </a:r>
            <a:endParaRPr kumimoji="1" lang="zh-TW" altLang="en-US" sz="2400" dirty="0">
              <a:solidFill>
                <a:schemeClr val="tx1"/>
              </a:solidFill>
            </a:endParaRPr>
          </a:p>
        </p:txBody>
      </p:sp>
      <p:cxnSp>
        <p:nvCxnSpPr>
          <p:cNvPr id="34" name="直線箭頭接點 33">
            <a:extLst>
              <a:ext uri="{FF2B5EF4-FFF2-40B4-BE49-F238E27FC236}">
                <a16:creationId xmlns:a16="http://schemas.microsoft.com/office/drawing/2014/main" id="{47BC7729-FABC-DF76-81F5-0075D6C486E2}"/>
              </a:ext>
            </a:extLst>
          </p:cNvPr>
          <p:cNvCxnSpPr>
            <a:cxnSpLocks/>
            <a:stCxn id="32" idx="0"/>
            <a:endCxn id="33" idx="2"/>
          </p:cNvCxnSpPr>
          <p:nvPr/>
        </p:nvCxnSpPr>
        <p:spPr>
          <a:xfrm flipH="1" flipV="1">
            <a:off x="6370566" y="3567795"/>
            <a:ext cx="522" cy="528683"/>
          </a:xfrm>
          <a:prstGeom prst="straightConnector1">
            <a:avLst/>
          </a:prstGeom>
          <a:ln w="19050">
            <a:solidFill>
              <a:schemeClr val="tx1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45" name="直線箭頭接點 44">
            <a:extLst>
              <a:ext uri="{FF2B5EF4-FFF2-40B4-BE49-F238E27FC236}">
                <a16:creationId xmlns:a16="http://schemas.microsoft.com/office/drawing/2014/main" id="{50AB749A-B322-A69B-0AC0-DF441AA29F55}"/>
              </a:ext>
            </a:extLst>
          </p:cNvPr>
          <p:cNvCxnSpPr>
            <a:cxnSpLocks/>
            <a:endCxn id="46" idx="2"/>
          </p:cNvCxnSpPr>
          <p:nvPr/>
        </p:nvCxnSpPr>
        <p:spPr>
          <a:xfrm flipV="1">
            <a:off x="4607481" y="4558143"/>
            <a:ext cx="1" cy="528683"/>
          </a:xfrm>
          <a:prstGeom prst="straightConnector1">
            <a:avLst/>
          </a:prstGeom>
          <a:ln w="19050">
            <a:solidFill>
              <a:schemeClr val="tx1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46" name="文字方塊 45">
            <a:extLst>
              <a:ext uri="{FF2B5EF4-FFF2-40B4-BE49-F238E27FC236}">
                <a16:creationId xmlns:a16="http://schemas.microsoft.com/office/drawing/2014/main" id="{999FC653-A24B-F89F-BAF2-C1169DC040D6}"/>
              </a:ext>
            </a:extLst>
          </p:cNvPr>
          <p:cNvSpPr txBox="1"/>
          <p:nvPr/>
        </p:nvSpPr>
        <p:spPr>
          <a:xfrm>
            <a:off x="4315526" y="4096478"/>
            <a:ext cx="583911" cy="46166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kumimoji="1" lang="en-US" altLang="zh-TW" sz="2400" dirty="0"/>
              <a:t>h</a:t>
            </a:r>
            <a:r>
              <a:rPr kumimoji="1" lang="en-US" altLang="zh-TW" sz="2400" baseline="-25000" dirty="0"/>
              <a:t>2</a:t>
            </a:r>
            <a:endParaRPr kumimoji="1" lang="zh-TW" altLang="en-US" sz="2400" baseline="-25000" dirty="0"/>
          </a:p>
        </p:txBody>
      </p:sp>
      <p:sp>
        <p:nvSpPr>
          <p:cNvPr id="47" name="矩形 46">
            <a:extLst>
              <a:ext uri="{FF2B5EF4-FFF2-40B4-BE49-F238E27FC236}">
                <a16:creationId xmlns:a16="http://schemas.microsoft.com/office/drawing/2014/main" id="{C4B38394-4648-53CF-F240-37BB59F8A8DF}"/>
              </a:ext>
            </a:extLst>
          </p:cNvPr>
          <p:cNvSpPr/>
          <p:nvPr/>
        </p:nvSpPr>
        <p:spPr>
          <a:xfrm>
            <a:off x="3927452" y="3169475"/>
            <a:ext cx="1359016" cy="398320"/>
          </a:xfrm>
          <a:prstGeom prst="rect">
            <a:avLst/>
          </a:prstGeom>
          <a:solidFill>
            <a:schemeClr val="bg1">
              <a:lumMod val="85000"/>
            </a:schemeClr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kumimoji="1" lang="en-US" altLang="zh-TW" sz="2400" dirty="0">
                <a:solidFill>
                  <a:schemeClr val="tx1"/>
                </a:solidFill>
              </a:rPr>
              <a:t>FFN</a:t>
            </a:r>
            <a:endParaRPr kumimoji="1" lang="zh-TW" altLang="en-US" sz="2400" dirty="0">
              <a:solidFill>
                <a:schemeClr val="tx1"/>
              </a:solidFill>
            </a:endParaRPr>
          </a:p>
        </p:txBody>
      </p:sp>
      <p:cxnSp>
        <p:nvCxnSpPr>
          <p:cNvPr id="48" name="直線箭頭接點 47">
            <a:extLst>
              <a:ext uri="{FF2B5EF4-FFF2-40B4-BE49-F238E27FC236}">
                <a16:creationId xmlns:a16="http://schemas.microsoft.com/office/drawing/2014/main" id="{27F6B528-320A-0F87-1211-AB566B7B1D40}"/>
              </a:ext>
            </a:extLst>
          </p:cNvPr>
          <p:cNvCxnSpPr>
            <a:cxnSpLocks/>
            <a:stCxn id="46" idx="0"/>
            <a:endCxn id="47" idx="2"/>
          </p:cNvCxnSpPr>
          <p:nvPr/>
        </p:nvCxnSpPr>
        <p:spPr>
          <a:xfrm flipH="1" flipV="1">
            <a:off x="4606960" y="3567795"/>
            <a:ext cx="522" cy="528683"/>
          </a:xfrm>
          <a:prstGeom prst="straightConnector1">
            <a:avLst/>
          </a:prstGeom>
          <a:ln w="19050">
            <a:solidFill>
              <a:schemeClr val="tx1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51" name="直線箭頭接點 50">
            <a:extLst>
              <a:ext uri="{FF2B5EF4-FFF2-40B4-BE49-F238E27FC236}">
                <a16:creationId xmlns:a16="http://schemas.microsoft.com/office/drawing/2014/main" id="{0E3FF17E-D905-F1BA-BFD4-A54CAB5CA474}"/>
              </a:ext>
            </a:extLst>
          </p:cNvPr>
          <p:cNvCxnSpPr>
            <a:cxnSpLocks/>
          </p:cNvCxnSpPr>
          <p:nvPr/>
        </p:nvCxnSpPr>
        <p:spPr>
          <a:xfrm flipH="1" flipV="1">
            <a:off x="4606438" y="2543938"/>
            <a:ext cx="522" cy="528683"/>
          </a:xfrm>
          <a:prstGeom prst="straightConnector1">
            <a:avLst/>
          </a:prstGeom>
          <a:ln w="19050">
            <a:solidFill>
              <a:schemeClr val="tx1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52" name="直線箭頭接點 51">
            <a:extLst>
              <a:ext uri="{FF2B5EF4-FFF2-40B4-BE49-F238E27FC236}">
                <a16:creationId xmlns:a16="http://schemas.microsoft.com/office/drawing/2014/main" id="{66A0858A-6C9B-190C-40CA-BFA3C8C64A12}"/>
              </a:ext>
            </a:extLst>
          </p:cNvPr>
          <p:cNvCxnSpPr>
            <a:cxnSpLocks/>
          </p:cNvCxnSpPr>
          <p:nvPr/>
        </p:nvCxnSpPr>
        <p:spPr>
          <a:xfrm flipH="1" flipV="1">
            <a:off x="6370044" y="2543938"/>
            <a:ext cx="522" cy="528683"/>
          </a:xfrm>
          <a:prstGeom prst="straightConnector1">
            <a:avLst/>
          </a:prstGeom>
          <a:ln w="19050">
            <a:solidFill>
              <a:schemeClr val="tx1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53" name="直線箭頭接點 52">
            <a:extLst>
              <a:ext uri="{FF2B5EF4-FFF2-40B4-BE49-F238E27FC236}">
                <a16:creationId xmlns:a16="http://schemas.microsoft.com/office/drawing/2014/main" id="{8FE41B8A-D56D-2B80-FE67-A8920AF4B20C}"/>
              </a:ext>
            </a:extLst>
          </p:cNvPr>
          <p:cNvCxnSpPr>
            <a:cxnSpLocks/>
          </p:cNvCxnSpPr>
          <p:nvPr/>
        </p:nvCxnSpPr>
        <p:spPr>
          <a:xfrm flipH="1" flipV="1">
            <a:off x="8133128" y="2543938"/>
            <a:ext cx="522" cy="528683"/>
          </a:xfrm>
          <a:prstGeom prst="straightConnector1">
            <a:avLst/>
          </a:prstGeom>
          <a:ln w="19050">
            <a:solidFill>
              <a:schemeClr val="tx1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64" name="文字方塊 63">
            <a:extLst>
              <a:ext uri="{FF2B5EF4-FFF2-40B4-BE49-F238E27FC236}">
                <a16:creationId xmlns:a16="http://schemas.microsoft.com/office/drawing/2014/main" id="{9630A91B-C649-0811-D30E-495BEAC63A94}"/>
              </a:ext>
            </a:extLst>
          </p:cNvPr>
          <p:cNvSpPr txBox="1"/>
          <p:nvPr/>
        </p:nvSpPr>
        <p:spPr>
          <a:xfrm>
            <a:off x="528428" y="2917797"/>
            <a:ext cx="3271879" cy="46166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kumimoji="1" lang="zh-TW" altLang="en-US" sz="2400" dirty="0">
                <a:solidFill>
                  <a:srgbClr val="0070C0"/>
                </a:solidFill>
                <a:latin typeface="Microsoft JhengHei" panose="020B0604030504040204" pitchFamily="34" charset="-120"/>
                <a:ea typeface="Microsoft JhengHei" panose="020B0604030504040204" pitchFamily="34" charset="-120"/>
              </a:rPr>
              <a:t>私</a:t>
            </a:r>
            <a:r>
              <a:rPr kumimoji="1" lang="ja-JP" altLang="en-US" sz="2400">
                <a:solidFill>
                  <a:srgbClr val="0070C0"/>
                </a:solidFill>
                <a:latin typeface="Microsoft JhengHei" panose="020B0604030504040204" pitchFamily="34" charset="-120"/>
                <a:ea typeface="Microsoft JhengHei" panose="020B0604030504040204" pitchFamily="34" charset="-120"/>
              </a:rPr>
              <a:t>は </a:t>
            </a:r>
            <a:r>
              <a:rPr kumimoji="1" lang="en-US" altLang="zh-TW" sz="2400" dirty="0">
                <a:solidFill>
                  <a:srgbClr val="0070C0"/>
                </a:solidFill>
                <a:latin typeface="Microsoft JhengHei" panose="020B0604030504040204" pitchFamily="34" charset="-120"/>
                <a:ea typeface="Microsoft JhengHei" panose="020B0604030504040204" pitchFamily="34" charset="-120"/>
              </a:rPr>
              <a:t>NLP </a:t>
            </a:r>
            <a:r>
              <a:rPr kumimoji="1" lang="ja-JP" altLang="en-US" sz="2400">
                <a:solidFill>
                  <a:srgbClr val="0070C0"/>
                </a:solidFill>
                <a:latin typeface="Microsoft JhengHei" panose="020B0604030504040204" pitchFamily="34" charset="-120"/>
                <a:ea typeface="Microsoft JhengHei" panose="020B0604030504040204" pitchFamily="34" charset="-120"/>
              </a:rPr>
              <a:t>が</a:t>
            </a:r>
            <a:r>
              <a:rPr kumimoji="1" lang="zh-TW" altLang="en-US" sz="2400" dirty="0">
                <a:solidFill>
                  <a:srgbClr val="0070C0"/>
                </a:solidFill>
                <a:latin typeface="Microsoft JhengHei" panose="020B0604030504040204" pitchFamily="34" charset="-120"/>
                <a:ea typeface="Microsoft JhengHei" panose="020B0604030504040204" pitchFamily="34" charset="-120"/>
              </a:rPr>
              <a:t>好</a:t>
            </a:r>
            <a:r>
              <a:rPr kumimoji="1" lang="ja-JP" altLang="en-US" sz="2400">
                <a:solidFill>
                  <a:srgbClr val="0070C0"/>
                </a:solidFill>
                <a:latin typeface="Microsoft JhengHei" panose="020B0604030504040204" pitchFamily="34" charset="-120"/>
                <a:ea typeface="Microsoft JhengHei" panose="020B0604030504040204" pitchFamily="34" charset="-120"/>
              </a:rPr>
              <a:t>きです</a:t>
            </a:r>
            <a:endParaRPr kumimoji="1" lang="zh-TW" altLang="en-US" sz="2400" baseline="-25000" dirty="0">
              <a:solidFill>
                <a:srgbClr val="0070C0"/>
              </a:solidFill>
              <a:latin typeface="Microsoft JhengHei" panose="020B0604030504040204" pitchFamily="34" charset="-120"/>
              <a:ea typeface="Microsoft JhengHei" panose="020B0604030504040204" pitchFamily="34" charset="-120"/>
            </a:endParaRPr>
          </a:p>
        </p:txBody>
      </p:sp>
      <p:sp>
        <p:nvSpPr>
          <p:cNvPr id="65" name="文字方塊 64">
            <a:extLst>
              <a:ext uri="{FF2B5EF4-FFF2-40B4-BE49-F238E27FC236}">
                <a16:creationId xmlns:a16="http://schemas.microsoft.com/office/drawing/2014/main" id="{771782BD-AB02-C336-1506-EC50AD928AFA}"/>
              </a:ext>
            </a:extLst>
          </p:cNvPr>
          <p:cNvSpPr txBox="1"/>
          <p:nvPr/>
        </p:nvSpPr>
        <p:spPr>
          <a:xfrm>
            <a:off x="653143" y="1527605"/>
            <a:ext cx="4386356" cy="46166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kumimoji="1" lang="en-US" altLang="zh-TW" sz="2400" b="1" dirty="0">
                <a:solidFill>
                  <a:srgbClr val="00B050"/>
                </a:solidFill>
              </a:rPr>
              <a:t>Method 1 (</a:t>
            </a:r>
            <a:r>
              <a:rPr kumimoji="1" lang="zh-TW" altLang="en-US" sz="2400" b="1" dirty="0">
                <a:solidFill>
                  <a:srgbClr val="00B050"/>
                </a:solidFill>
                <a:latin typeface="Microsoft JhengHei" panose="020B0604030504040204" pitchFamily="34" charset="-120"/>
                <a:ea typeface="Microsoft JhengHei" panose="020B0604030504040204" pitchFamily="34" charset="-120"/>
              </a:rPr>
              <a:t>逐字對齊</a:t>
            </a:r>
            <a:r>
              <a:rPr kumimoji="1" lang="en-US" altLang="zh-TW" sz="2400" b="1" dirty="0">
                <a:solidFill>
                  <a:srgbClr val="00B050"/>
                </a:solidFill>
              </a:rPr>
              <a:t>)</a:t>
            </a:r>
            <a:endParaRPr kumimoji="1" lang="zh-TW" altLang="en-US" sz="2400" b="1" dirty="0">
              <a:solidFill>
                <a:srgbClr val="00B050"/>
              </a:solidFill>
            </a:endParaRPr>
          </a:p>
        </p:txBody>
      </p:sp>
      <p:sp>
        <p:nvSpPr>
          <p:cNvPr id="11" name="文字方塊 10">
            <a:extLst>
              <a:ext uri="{FF2B5EF4-FFF2-40B4-BE49-F238E27FC236}">
                <a16:creationId xmlns:a16="http://schemas.microsoft.com/office/drawing/2014/main" id="{D9F61714-DDAB-8D0B-BF2F-D56B4B0B10E5}"/>
              </a:ext>
            </a:extLst>
          </p:cNvPr>
          <p:cNvSpPr txBox="1"/>
          <p:nvPr/>
        </p:nvSpPr>
        <p:spPr>
          <a:xfrm>
            <a:off x="4194995" y="1918187"/>
            <a:ext cx="822885" cy="46166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kumimoji="1" lang="zh-TW" altLang="en-US" sz="2400" dirty="0">
                <a:solidFill>
                  <a:srgbClr val="0070C0"/>
                </a:solidFill>
                <a:latin typeface="Microsoft JhengHei" panose="020B0604030504040204" pitchFamily="34" charset="-120"/>
                <a:ea typeface="Microsoft JhengHei" panose="020B0604030504040204" pitchFamily="34" charset="-120"/>
              </a:rPr>
              <a:t>私</a:t>
            </a:r>
            <a:r>
              <a:rPr kumimoji="1" lang="ja-JP" altLang="en-US" sz="2400">
                <a:solidFill>
                  <a:srgbClr val="0070C0"/>
                </a:solidFill>
                <a:latin typeface="Microsoft JhengHei" panose="020B0604030504040204" pitchFamily="34" charset="-120"/>
                <a:ea typeface="Microsoft JhengHei" panose="020B0604030504040204" pitchFamily="34" charset="-120"/>
              </a:rPr>
              <a:t>は</a:t>
            </a:r>
            <a:endParaRPr kumimoji="1" lang="zh-TW" altLang="en-US" sz="2400" baseline="-25000" dirty="0">
              <a:solidFill>
                <a:srgbClr val="0070C0"/>
              </a:solidFill>
              <a:latin typeface="Microsoft JhengHei" panose="020B0604030504040204" pitchFamily="34" charset="-120"/>
              <a:ea typeface="Microsoft JhengHei" panose="020B0604030504040204" pitchFamily="34" charset="-120"/>
            </a:endParaRPr>
          </a:p>
        </p:txBody>
      </p:sp>
      <p:sp>
        <p:nvSpPr>
          <p:cNvPr id="13" name="文字方塊 12">
            <a:extLst>
              <a:ext uri="{FF2B5EF4-FFF2-40B4-BE49-F238E27FC236}">
                <a16:creationId xmlns:a16="http://schemas.microsoft.com/office/drawing/2014/main" id="{3FE291C3-05C1-5C96-E8A3-E7F7715BF46E}"/>
              </a:ext>
            </a:extLst>
          </p:cNvPr>
          <p:cNvSpPr txBox="1"/>
          <p:nvPr/>
        </p:nvSpPr>
        <p:spPr>
          <a:xfrm>
            <a:off x="6034035" y="1918186"/>
            <a:ext cx="661335" cy="46166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kumimoji="1" lang="en-US" altLang="zh-TW" sz="2400" dirty="0">
                <a:solidFill>
                  <a:srgbClr val="FF0000"/>
                </a:solidFill>
                <a:latin typeface="Microsoft JhengHei" panose="020B0604030504040204" pitchFamily="34" charset="-120"/>
                <a:ea typeface="Microsoft JhengHei" panose="020B0604030504040204" pitchFamily="34" charset="-120"/>
              </a:rPr>
              <a:t>???</a:t>
            </a:r>
            <a:endParaRPr kumimoji="1" lang="zh-TW" altLang="en-US" sz="2400" baseline="-25000" dirty="0">
              <a:solidFill>
                <a:srgbClr val="FF0000"/>
              </a:solidFill>
              <a:latin typeface="Microsoft JhengHei" panose="020B0604030504040204" pitchFamily="34" charset="-120"/>
              <a:ea typeface="Microsoft JhengHei" panose="020B0604030504040204" pitchFamily="34" charset="-120"/>
            </a:endParaRPr>
          </a:p>
        </p:txBody>
      </p:sp>
      <p:sp>
        <p:nvSpPr>
          <p:cNvPr id="14" name="文字方塊 13">
            <a:extLst>
              <a:ext uri="{FF2B5EF4-FFF2-40B4-BE49-F238E27FC236}">
                <a16:creationId xmlns:a16="http://schemas.microsoft.com/office/drawing/2014/main" id="{F283C708-98C1-606C-DF37-CACFDC2AEAE1}"/>
              </a:ext>
            </a:extLst>
          </p:cNvPr>
          <p:cNvSpPr txBox="1"/>
          <p:nvPr/>
        </p:nvSpPr>
        <p:spPr>
          <a:xfrm>
            <a:off x="7802460" y="1918186"/>
            <a:ext cx="661335" cy="46166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kumimoji="1" lang="en-US" altLang="zh-TW" sz="2400" dirty="0">
                <a:solidFill>
                  <a:srgbClr val="FF0000"/>
                </a:solidFill>
                <a:latin typeface="Microsoft JhengHei" panose="020B0604030504040204" pitchFamily="34" charset="-120"/>
                <a:ea typeface="Microsoft JhengHei" panose="020B0604030504040204" pitchFamily="34" charset="-120"/>
              </a:rPr>
              <a:t>???</a:t>
            </a:r>
            <a:endParaRPr kumimoji="1" lang="zh-TW" altLang="en-US" sz="2400" baseline="-25000" dirty="0">
              <a:solidFill>
                <a:srgbClr val="FF0000"/>
              </a:solidFill>
              <a:latin typeface="Microsoft JhengHei" panose="020B0604030504040204" pitchFamily="34" charset="-120"/>
              <a:ea typeface="Microsoft JhengHei" panose="020B0604030504040204" pitchFamily="34" charset="-120"/>
            </a:endParaRPr>
          </a:p>
        </p:txBody>
      </p:sp>
      <p:sp>
        <p:nvSpPr>
          <p:cNvPr id="15" name="文字方塊 14">
            <a:extLst>
              <a:ext uri="{FF2B5EF4-FFF2-40B4-BE49-F238E27FC236}">
                <a16:creationId xmlns:a16="http://schemas.microsoft.com/office/drawing/2014/main" id="{45A9B65C-6033-ED29-6BC5-E3F98E2AC5AA}"/>
              </a:ext>
            </a:extLst>
          </p:cNvPr>
          <p:cNvSpPr txBox="1"/>
          <p:nvPr/>
        </p:nvSpPr>
        <p:spPr>
          <a:xfrm>
            <a:off x="653143" y="2446870"/>
            <a:ext cx="3147164" cy="46166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kumimoji="1" lang="en-US" altLang="zh-TW" sz="2400" dirty="0">
                <a:ea typeface="Microsoft JhengHei" panose="020B0604030504040204" pitchFamily="34" charset="-120"/>
              </a:rPr>
              <a:t>Target sequence:</a:t>
            </a:r>
            <a:endParaRPr kumimoji="1" lang="zh-TW" altLang="en-US" sz="2400" baseline="-25000" dirty="0">
              <a:ea typeface="Microsoft JhengHei" panose="020B0604030504040204" pitchFamily="34" charset="-120"/>
            </a:endParaRPr>
          </a:p>
        </p:txBody>
      </p:sp>
      <p:sp>
        <p:nvSpPr>
          <p:cNvPr id="16" name="文字方塊 15">
            <a:extLst>
              <a:ext uri="{FF2B5EF4-FFF2-40B4-BE49-F238E27FC236}">
                <a16:creationId xmlns:a16="http://schemas.microsoft.com/office/drawing/2014/main" id="{83BBD655-F016-BD32-AF92-5C0D387D7D02}"/>
              </a:ext>
            </a:extLst>
          </p:cNvPr>
          <p:cNvSpPr txBox="1"/>
          <p:nvPr/>
        </p:nvSpPr>
        <p:spPr>
          <a:xfrm>
            <a:off x="9044836" y="1758437"/>
            <a:ext cx="2526678" cy="707886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kumimoji="1" lang="zh-TW" altLang="en-US" sz="2000" dirty="0">
                <a:ea typeface="Microsoft JhengHei" panose="020B0604030504040204" pitchFamily="34" charset="-120"/>
              </a:rPr>
              <a:t>缺點：在不能逐字對齊的資料上效果不佳</a:t>
            </a:r>
            <a:endParaRPr kumimoji="1" lang="zh-TW" altLang="en-US" sz="2000" baseline="-25000" dirty="0">
              <a:ea typeface="Microsoft JhengHei" panose="020B0604030504040204" pitchFamily="34" charset="-120"/>
            </a:endParaRPr>
          </a:p>
        </p:txBody>
      </p:sp>
      <p:sp>
        <p:nvSpPr>
          <p:cNvPr id="3" name="文字方塊 2">
            <a:extLst>
              <a:ext uri="{FF2B5EF4-FFF2-40B4-BE49-F238E27FC236}">
                <a16:creationId xmlns:a16="http://schemas.microsoft.com/office/drawing/2014/main" id="{1679366E-5E44-F396-E318-EC95B513E4DF}"/>
              </a:ext>
            </a:extLst>
          </p:cNvPr>
          <p:cNvSpPr txBox="1"/>
          <p:nvPr/>
        </p:nvSpPr>
        <p:spPr>
          <a:xfrm>
            <a:off x="7704005" y="6136457"/>
            <a:ext cx="860338" cy="46166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kumimoji="1" lang="en-US" altLang="zh-TW" sz="2400" dirty="0">
                <a:solidFill>
                  <a:srgbClr val="0070C0"/>
                </a:solidFill>
              </a:rPr>
              <a:t>NLP</a:t>
            </a:r>
            <a:endParaRPr kumimoji="1" lang="zh-TW" altLang="en-US" sz="2400" baseline="-25000" dirty="0">
              <a:solidFill>
                <a:srgbClr val="0070C0"/>
              </a:solidFill>
            </a:endParaRPr>
          </a:p>
        </p:txBody>
      </p:sp>
      <p:sp>
        <p:nvSpPr>
          <p:cNvPr id="8" name="文字方塊 7">
            <a:extLst>
              <a:ext uri="{FF2B5EF4-FFF2-40B4-BE49-F238E27FC236}">
                <a16:creationId xmlns:a16="http://schemas.microsoft.com/office/drawing/2014/main" id="{734FC258-0340-18EB-2F73-D50FC49952FF}"/>
              </a:ext>
            </a:extLst>
          </p:cNvPr>
          <p:cNvSpPr txBox="1"/>
          <p:nvPr/>
        </p:nvSpPr>
        <p:spPr>
          <a:xfrm>
            <a:off x="5901149" y="6136457"/>
            <a:ext cx="931008" cy="46166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kumimoji="1" lang="en-US" altLang="zh-TW" sz="2400" dirty="0">
                <a:solidFill>
                  <a:srgbClr val="0070C0"/>
                </a:solidFill>
              </a:rPr>
              <a:t>love</a:t>
            </a:r>
            <a:endParaRPr kumimoji="1" lang="zh-TW" altLang="en-US" sz="2400" baseline="-25000" dirty="0">
              <a:solidFill>
                <a:srgbClr val="0070C0"/>
              </a:solidFill>
            </a:endParaRPr>
          </a:p>
        </p:txBody>
      </p:sp>
    </p:spTree>
    <p:extLst>
      <p:ext uri="{BB962C8B-B14F-4D97-AF65-F5344CB8AC3E}">
        <p14:creationId xmlns:p14="http://schemas.microsoft.com/office/powerpoint/2010/main" val="3947450828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7" fill="hold">
                      <p:stCondLst>
                        <p:cond delay="indefinite"/>
                      </p:stCondLst>
                      <p:childTnLst>
                        <p:par>
                          <p:cTn id="8" fill="hold">
                            <p:stCondLst>
                              <p:cond delay="0"/>
                            </p:stCondLst>
                            <p:childTnLst>
                              <p:par>
                                <p:cTn id="9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1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1" grpId="0"/>
      <p:bldP spid="13" grpId="0"/>
      <p:bldP spid="14" grpId="0"/>
      <p:bldP spid="16" grpId="0"/>
    </p:bldLst>
  </p:timing>
</p:sld>
</file>

<file path=ppt/slides/slide4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標題 1">
            <a:extLst>
              <a:ext uri="{FF2B5EF4-FFF2-40B4-BE49-F238E27FC236}">
                <a16:creationId xmlns:a16="http://schemas.microsoft.com/office/drawing/2014/main" id="{EF9ABE6F-1D43-5B48-0F4F-A8CC383BC200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altLang="zh-TW" dirty="0">
                <a:ea typeface="新細明體"/>
                <a:cs typeface="Calibri" panose="020F0502020204030204" pitchFamily="34" charset="0"/>
              </a:rPr>
              <a:t>RNNs for Machine Translation?</a:t>
            </a:r>
            <a:endParaRPr kumimoji="1" lang="zh-TW" altLang="en-US" dirty="0"/>
          </a:p>
        </p:txBody>
      </p:sp>
      <p:sp>
        <p:nvSpPr>
          <p:cNvPr id="4" name="投影片編號版面配置區 3">
            <a:extLst>
              <a:ext uri="{FF2B5EF4-FFF2-40B4-BE49-F238E27FC236}">
                <a16:creationId xmlns:a16="http://schemas.microsoft.com/office/drawing/2014/main" id="{65CF0CBC-B074-F0C6-4089-585A820BB5AF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6113E31D-E2AB-40D1-8B51-AFA5AFEF393A}" type="slidenum">
              <a:rPr lang="en-US" smtClean="0"/>
              <a:pPr/>
              <a:t>43</a:t>
            </a:fld>
            <a:endParaRPr lang="en-US" dirty="0"/>
          </a:p>
        </p:txBody>
      </p:sp>
      <p:sp>
        <p:nvSpPr>
          <p:cNvPr id="5" name="文字方塊 4">
            <a:extLst>
              <a:ext uri="{FF2B5EF4-FFF2-40B4-BE49-F238E27FC236}">
                <a16:creationId xmlns:a16="http://schemas.microsoft.com/office/drawing/2014/main" id="{F4BC45B8-006D-F25A-8E34-3AFB3B75703B}"/>
              </a:ext>
            </a:extLst>
          </p:cNvPr>
          <p:cNvSpPr txBox="1"/>
          <p:nvPr/>
        </p:nvSpPr>
        <p:spPr>
          <a:xfrm>
            <a:off x="653143" y="1527605"/>
            <a:ext cx="4386356" cy="46166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kumimoji="1" lang="en-US" altLang="zh-TW" sz="2400" b="1" dirty="0">
                <a:solidFill>
                  <a:srgbClr val="00B050"/>
                </a:solidFill>
              </a:rPr>
              <a:t>Method 2 (</a:t>
            </a:r>
            <a:r>
              <a:rPr kumimoji="1" lang="zh-TW" altLang="en-US" sz="2400" b="1" dirty="0">
                <a:solidFill>
                  <a:srgbClr val="00B050"/>
                </a:solidFill>
                <a:latin typeface="Microsoft JhengHei" panose="020B0604030504040204" pitchFamily="34" charset="-120"/>
                <a:ea typeface="Microsoft JhengHei" panose="020B0604030504040204" pitchFamily="34" charset="-120"/>
              </a:rPr>
              <a:t>利用特殊</a:t>
            </a:r>
            <a:r>
              <a:rPr kumimoji="1" lang="en-US" altLang="zh-TW" sz="2400" b="1" dirty="0">
                <a:solidFill>
                  <a:srgbClr val="00B050"/>
                </a:solidFill>
                <a:latin typeface="Microsoft JhengHei" panose="020B0604030504040204" pitchFamily="34" charset="-120"/>
                <a:ea typeface="Microsoft JhengHei" panose="020B0604030504040204" pitchFamily="34" charset="-120"/>
              </a:rPr>
              <a:t> token</a:t>
            </a:r>
            <a:r>
              <a:rPr kumimoji="1" lang="en-US" altLang="zh-TW" sz="2400" b="1" dirty="0">
                <a:solidFill>
                  <a:srgbClr val="00B050"/>
                </a:solidFill>
              </a:rPr>
              <a:t>)</a:t>
            </a:r>
            <a:endParaRPr kumimoji="1" lang="zh-TW" altLang="en-US" sz="2400" b="1" dirty="0">
              <a:solidFill>
                <a:srgbClr val="00B050"/>
              </a:solidFill>
            </a:endParaRPr>
          </a:p>
        </p:txBody>
      </p:sp>
      <p:sp>
        <p:nvSpPr>
          <p:cNvPr id="6" name="矩形 5">
            <a:extLst>
              <a:ext uri="{FF2B5EF4-FFF2-40B4-BE49-F238E27FC236}">
                <a16:creationId xmlns:a16="http://schemas.microsoft.com/office/drawing/2014/main" id="{3CEBEEC6-D87B-E5E7-4C13-E51B8C838697}"/>
              </a:ext>
            </a:extLst>
          </p:cNvPr>
          <p:cNvSpPr/>
          <p:nvPr/>
        </p:nvSpPr>
        <p:spPr>
          <a:xfrm>
            <a:off x="1161292" y="5124534"/>
            <a:ext cx="1199626" cy="480190"/>
          </a:xfrm>
          <a:prstGeom prst="rect">
            <a:avLst/>
          </a:prstGeom>
          <a:solidFill>
            <a:srgbClr val="FDE7D7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kumimoji="1" lang="en-US" altLang="zh-TW" sz="2400" dirty="0">
                <a:solidFill>
                  <a:schemeClr val="tx1"/>
                </a:solidFill>
              </a:rPr>
              <a:t>RNN</a:t>
            </a:r>
            <a:endParaRPr kumimoji="1" lang="zh-TW" altLang="en-US" sz="2400" dirty="0">
              <a:solidFill>
                <a:schemeClr val="tx1"/>
              </a:solidFill>
            </a:endParaRPr>
          </a:p>
        </p:txBody>
      </p:sp>
      <p:sp>
        <p:nvSpPr>
          <p:cNvPr id="7" name="矩形 6">
            <a:extLst>
              <a:ext uri="{FF2B5EF4-FFF2-40B4-BE49-F238E27FC236}">
                <a16:creationId xmlns:a16="http://schemas.microsoft.com/office/drawing/2014/main" id="{B195C689-E51D-0260-9970-89AE769385B4}"/>
              </a:ext>
            </a:extLst>
          </p:cNvPr>
          <p:cNvSpPr/>
          <p:nvPr/>
        </p:nvSpPr>
        <p:spPr>
          <a:xfrm>
            <a:off x="2924378" y="5124534"/>
            <a:ext cx="1199626" cy="480190"/>
          </a:xfrm>
          <a:prstGeom prst="rect">
            <a:avLst/>
          </a:prstGeom>
          <a:solidFill>
            <a:srgbClr val="FDE7D7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kumimoji="1" lang="en-US" altLang="zh-TW" sz="2400" dirty="0">
                <a:solidFill>
                  <a:schemeClr val="tx1"/>
                </a:solidFill>
              </a:rPr>
              <a:t>RNN</a:t>
            </a:r>
            <a:endParaRPr kumimoji="1" lang="zh-TW" altLang="en-US" sz="2400" dirty="0">
              <a:solidFill>
                <a:schemeClr val="tx1"/>
              </a:solidFill>
            </a:endParaRPr>
          </a:p>
        </p:txBody>
      </p:sp>
      <p:sp>
        <p:nvSpPr>
          <p:cNvPr id="8" name="矩形 7">
            <a:extLst>
              <a:ext uri="{FF2B5EF4-FFF2-40B4-BE49-F238E27FC236}">
                <a16:creationId xmlns:a16="http://schemas.microsoft.com/office/drawing/2014/main" id="{BF94CCA6-8EEA-F6F7-D04C-09C0709C520A}"/>
              </a:ext>
            </a:extLst>
          </p:cNvPr>
          <p:cNvSpPr/>
          <p:nvPr/>
        </p:nvSpPr>
        <p:spPr>
          <a:xfrm>
            <a:off x="4687464" y="5124534"/>
            <a:ext cx="1199626" cy="480190"/>
          </a:xfrm>
          <a:prstGeom prst="rect">
            <a:avLst/>
          </a:prstGeom>
          <a:solidFill>
            <a:srgbClr val="FDE7D7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kumimoji="1" lang="en-US" altLang="zh-TW" sz="2400" dirty="0">
                <a:solidFill>
                  <a:schemeClr val="tx1"/>
                </a:solidFill>
              </a:rPr>
              <a:t>RNN</a:t>
            </a:r>
            <a:endParaRPr kumimoji="1" lang="zh-TW" altLang="en-US" sz="2400" dirty="0">
              <a:solidFill>
                <a:schemeClr val="tx1"/>
              </a:solidFill>
            </a:endParaRPr>
          </a:p>
        </p:txBody>
      </p:sp>
      <p:cxnSp>
        <p:nvCxnSpPr>
          <p:cNvPr id="9" name="直線箭頭接點 8">
            <a:extLst>
              <a:ext uri="{FF2B5EF4-FFF2-40B4-BE49-F238E27FC236}">
                <a16:creationId xmlns:a16="http://schemas.microsoft.com/office/drawing/2014/main" id="{5CBA0F0D-798E-5BC2-5D36-9754AB48D131}"/>
              </a:ext>
            </a:extLst>
          </p:cNvPr>
          <p:cNvCxnSpPr>
            <a:cxnSpLocks/>
            <a:stCxn id="6" idx="3"/>
            <a:endCxn id="7" idx="1"/>
          </p:cNvCxnSpPr>
          <p:nvPr/>
        </p:nvCxnSpPr>
        <p:spPr>
          <a:xfrm>
            <a:off x="2360918" y="5364629"/>
            <a:ext cx="563460" cy="0"/>
          </a:xfrm>
          <a:prstGeom prst="straightConnector1">
            <a:avLst/>
          </a:prstGeom>
          <a:ln w="19050">
            <a:solidFill>
              <a:schemeClr val="tx1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0" name="直線箭頭接點 9">
            <a:extLst>
              <a:ext uri="{FF2B5EF4-FFF2-40B4-BE49-F238E27FC236}">
                <a16:creationId xmlns:a16="http://schemas.microsoft.com/office/drawing/2014/main" id="{26BF9430-1B8E-DFB2-94DF-45E388F9E1E2}"/>
              </a:ext>
            </a:extLst>
          </p:cNvPr>
          <p:cNvCxnSpPr>
            <a:cxnSpLocks/>
            <a:stCxn id="7" idx="3"/>
            <a:endCxn id="8" idx="1"/>
          </p:cNvCxnSpPr>
          <p:nvPr/>
        </p:nvCxnSpPr>
        <p:spPr>
          <a:xfrm>
            <a:off x="4124004" y="5364629"/>
            <a:ext cx="563460" cy="0"/>
          </a:xfrm>
          <a:prstGeom prst="straightConnector1">
            <a:avLst/>
          </a:prstGeom>
          <a:ln w="19050">
            <a:solidFill>
              <a:schemeClr val="tx1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1" name="直線箭頭接點 10">
            <a:extLst>
              <a:ext uri="{FF2B5EF4-FFF2-40B4-BE49-F238E27FC236}">
                <a16:creationId xmlns:a16="http://schemas.microsoft.com/office/drawing/2014/main" id="{F64149A8-07C0-527C-75FA-E2E702FD28C7}"/>
              </a:ext>
            </a:extLst>
          </p:cNvPr>
          <p:cNvCxnSpPr>
            <a:cxnSpLocks/>
          </p:cNvCxnSpPr>
          <p:nvPr/>
        </p:nvCxnSpPr>
        <p:spPr>
          <a:xfrm>
            <a:off x="597832" y="5364629"/>
            <a:ext cx="563460" cy="0"/>
          </a:xfrm>
          <a:prstGeom prst="straightConnector1">
            <a:avLst/>
          </a:prstGeom>
          <a:ln w="19050">
            <a:solidFill>
              <a:schemeClr val="tx1"/>
            </a:solidFill>
            <a:prstDash val="dash"/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3" name="直線箭頭接點 12">
            <a:extLst>
              <a:ext uri="{FF2B5EF4-FFF2-40B4-BE49-F238E27FC236}">
                <a16:creationId xmlns:a16="http://schemas.microsoft.com/office/drawing/2014/main" id="{95969CB3-9034-565E-695A-ADF07DEC92B4}"/>
              </a:ext>
            </a:extLst>
          </p:cNvPr>
          <p:cNvCxnSpPr>
            <a:cxnSpLocks/>
            <a:endCxn id="8" idx="2"/>
          </p:cNvCxnSpPr>
          <p:nvPr/>
        </p:nvCxnSpPr>
        <p:spPr>
          <a:xfrm flipV="1">
            <a:off x="5287277" y="5604724"/>
            <a:ext cx="0" cy="569441"/>
          </a:xfrm>
          <a:prstGeom prst="straightConnector1">
            <a:avLst/>
          </a:prstGeom>
          <a:ln w="19050">
            <a:solidFill>
              <a:schemeClr val="tx1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14" name="文字方塊 13">
            <a:extLst>
              <a:ext uri="{FF2B5EF4-FFF2-40B4-BE49-F238E27FC236}">
                <a16:creationId xmlns:a16="http://schemas.microsoft.com/office/drawing/2014/main" id="{437F9DDA-1181-DA06-DB8F-C8EF1C1F6552}"/>
              </a:ext>
            </a:extLst>
          </p:cNvPr>
          <p:cNvSpPr txBox="1"/>
          <p:nvPr/>
        </p:nvSpPr>
        <p:spPr>
          <a:xfrm>
            <a:off x="3153963" y="6174165"/>
            <a:ext cx="740456" cy="46166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kumimoji="1" lang="en-US" altLang="zh-TW" sz="2400" dirty="0">
                <a:solidFill>
                  <a:srgbClr val="0070C0"/>
                </a:solidFill>
              </a:rPr>
              <a:t>like</a:t>
            </a:r>
            <a:endParaRPr kumimoji="1" lang="zh-TW" altLang="en-US" sz="2400" baseline="-25000" dirty="0">
              <a:solidFill>
                <a:srgbClr val="0070C0"/>
              </a:solidFill>
            </a:endParaRPr>
          </a:p>
        </p:txBody>
      </p:sp>
      <p:cxnSp>
        <p:nvCxnSpPr>
          <p:cNvPr id="15" name="直線箭頭接點 14">
            <a:extLst>
              <a:ext uri="{FF2B5EF4-FFF2-40B4-BE49-F238E27FC236}">
                <a16:creationId xmlns:a16="http://schemas.microsoft.com/office/drawing/2014/main" id="{A81E0A73-F6F5-611B-E224-BB8D19385D04}"/>
              </a:ext>
            </a:extLst>
          </p:cNvPr>
          <p:cNvCxnSpPr>
            <a:cxnSpLocks/>
            <a:stCxn id="14" idx="0"/>
            <a:endCxn id="7" idx="2"/>
          </p:cNvCxnSpPr>
          <p:nvPr/>
        </p:nvCxnSpPr>
        <p:spPr>
          <a:xfrm flipV="1">
            <a:off x="3524191" y="5604724"/>
            <a:ext cx="0" cy="569441"/>
          </a:xfrm>
          <a:prstGeom prst="straightConnector1">
            <a:avLst/>
          </a:prstGeom>
          <a:ln w="19050">
            <a:solidFill>
              <a:schemeClr val="tx1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16" name="文字方塊 15">
            <a:extLst>
              <a:ext uri="{FF2B5EF4-FFF2-40B4-BE49-F238E27FC236}">
                <a16:creationId xmlns:a16="http://schemas.microsoft.com/office/drawing/2014/main" id="{599B3228-B719-7828-DE46-B1CC59D6279D}"/>
              </a:ext>
            </a:extLst>
          </p:cNvPr>
          <p:cNvSpPr txBox="1"/>
          <p:nvPr/>
        </p:nvSpPr>
        <p:spPr>
          <a:xfrm>
            <a:off x="1469148" y="6174165"/>
            <a:ext cx="583911" cy="46166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kumimoji="1" lang="en-US" altLang="zh-TW" sz="2400" dirty="0">
                <a:solidFill>
                  <a:srgbClr val="0070C0"/>
                </a:solidFill>
              </a:rPr>
              <a:t>I</a:t>
            </a:r>
            <a:endParaRPr kumimoji="1" lang="zh-TW" altLang="en-US" sz="2400" dirty="0">
              <a:solidFill>
                <a:srgbClr val="0070C0"/>
              </a:solidFill>
            </a:endParaRPr>
          </a:p>
        </p:txBody>
      </p:sp>
      <p:cxnSp>
        <p:nvCxnSpPr>
          <p:cNvPr id="17" name="直線箭頭接點 16">
            <a:extLst>
              <a:ext uri="{FF2B5EF4-FFF2-40B4-BE49-F238E27FC236}">
                <a16:creationId xmlns:a16="http://schemas.microsoft.com/office/drawing/2014/main" id="{C902842C-CA7C-C050-F474-83BD056B5AD7}"/>
              </a:ext>
            </a:extLst>
          </p:cNvPr>
          <p:cNvCxnSpPr>
            <a:cxnSpLocks/>
            <a:stCxn id="16" idx="0"/>
            <a:endCxn id="6" idx="2"/>
          </p:cNvCxnSpPr>
          <p:nvPr/>
        </p:nvCxnSpPr>
        <p:spPr>
          <a:xfrm flipV="1">
            <a:off x="1761104" y="5604724"/>
            <a:ext cx="1" cy="569441"/>
          </a:xfrm>
          <a:prstGeom prst="straightConnector1">
            <a:avLst/>
          </a:prstGeom>
          <a:ln w="19050">
            <a:solidFill>
              <a:schemeClr val="tx1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8" name="直線箭頭接點 17">
            <a:extLst>
              <a:ext uri="{FF2B5EF4-FFF2-40B4-BE49-F238E27FC236}">
                <a16:creationId xmlns:a16="http://schemas.microsoft.com/office/drawing/2014/main" id="{16BCE43C-E172-39CD-F0C8-F78E75404B20}"/>
              </a:ext>
            </a:extLst>
          </p:cNvPr>
          <p:cNvCxnSpPr>
            <a:cxnSpLocks/>
            <a:endCxn id="19" idx="2"/>
          </p:cNvCxnSpPr>
          <p:nvPr/>
        </p:nvCxnSpPr>
        <p:spPr>
          <a:xfrm flipV="1">
            <a:off x="5287797" y="4595851"/>
            <a:ext cx="1" cy="528683"/>
          </a:xfrm>
          <a:prstGeom prst="straightConnector1">
            <a:avLst/>
          </a:prstGeom>
          <a:ln w="19050">
            <a:solidFill>
              <a:schemeClr val="tx1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19" name="文字方塊 18">
            <a:extLst>
              <a:ext uri="{FF2B5EF4-FFF2-40B4-BE49-F238E27FC236}">
                <a16:creationId xmlns:a16="http://schemas.microsoft.com/office/drawing/2014/main" id="{49995A7D-C4D7-BF18-4BE4-E4497B441264}"/>
              </a:ext>
            </a:extLst>
          </p:cNvPr>
          <p:cNvSpPr txBox="1"/>
          <p:nvPr/>
        </p:nvSpPr>
        <p:spPr>
          <a:xfrm>
            <a:off x="4995842" y="4134186"/>
            <a:ext cx="583911" cy="46166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kumimoji="1" lang="en-US" altLang="zh-TW" sz="2400" dirty="0"/>
              <a:t>h</a:t>
            </a:r>
            <a:r>
              <a:rPr kumimoji="1" lang="en-US" altLang="zh-TW" sz="2400" baseline="-25000" dirty="0"/>
              <a:t>3</a:t>
            </a:r>
            <a:endParaRPr kumimoji="1" lang="zh-TW" altLang="en-US" sz="2400" baseline="-25000" dirty="0"/>
          </a:p>
        </p:txBody>
      </p:sp>
      <p:sp>
        <p:nvSpPr>
          <p:cNvPr id="20" name="矩形 19">
            <a:extLst>
              <a:ext uri="{FF2B5EF4-FFF2-40B4-BE49-F238E27FC236}">
                <a16:creationId xmlns:a16="http://schemas.microsoft.com/office/drawing/2014/main" id="{148F1C2D-0616-4627-D91F-5B36860970A6}"/>
              </a:ext>
            </a:extLst>
          </p:cNvPr>
          <p:cNvSpPr/>
          <p:nvPr/>
        </p:nvSpPr>
        <p:spPr>
          <a:xfrm>
            <a:off x="4607768" y="3207183"/>
            <a:ext cx="1359016" cy="398320"/>
          </a:xfrm>
          <a:prstGeom prst="rect">
            <a:avLst/>
          </a:prstGeom>
          <a:solidFill>
            <a:schemeClr val="bg1">
              <a:lumMod val="85000"/>
            </a:schemeClr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kumimoji="1" lang="en-US" altLang="zh-TW" sz="2400" dirty="0">
                <a:solidFill>
                  <a:schemeClr val="tx1"/>
                </a:solidFill>
              </a:rPr>
              <a:t>FFN</a:t>
            </a:r>
            <a:endParaRPr kumimoji="1" lang="zh-TW" altLang="en-US" sz="2400" dirty="0">
              <a:solidFill>
                <a:schemeClr val="tx1"/>
              </a:solidFill>
            </a:endParaRPr>
          </a:p>
        </p:txBody>
      </p:sp>
      <p:cxnSp>
        <p:nvCxnSpPr>
          <p:cNvPr id="21" name="直線箭頭接點 20">
            <a:extLst>
              <a:ext uri="{FF2B5EF4-FFF2-40B4-BE49-F238E27FC236}">
                <a16:creationId xmlns:a16="http://schemas.microsoft.com/office/drawing/2014/main" id="{32A2F7A0-9B1C-1F4B-F580-189469D8B9FD}"/>
              </a:ext>
            </a:extLst>
          </p:cNvPr>
          <p:cNvCxnSpPr>
            <a:cxnSpLocks/>
            <a:stCxn id="19" idx="0"/>
            <a:endCxn id="20" idx="2"/>
          </p:cNvCxnSpPr>
          <p:nvPr/>
        </p:nvCxnSpPr>
        <p:spPr>
          <a:xfrm flipH="1" flipV="1">
            <a:off x="5287276" y="3605503"/>
            <a:ext cx="522" cy="528683"/>
          </a:xfrm>
          <a:prstGeom prst="straightConnector1">
            <a:avLst/>
          </a:prstGeom>
          <a:ln w="19050">
            <a:solidFill>
              <a:schemeClr val="tx1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22" name="直線箭頭接點 21">
            <a:extLst>
              <a:ext uri="{FF2B5EF4-FFF2-40B4-BE49-F238E27FC236}">
                <a16:creationId xmlns:a16="http://schemas.microsoft.com/office/drawing/2014/main" id="{A482EEF5-E649-D846-EB9C-DE21B29C548C}"/>
              </a:ext>
            </a:extLst>
          </p:cNvPr>
          <p:cNvCxnSpPr>
            <a:cxnSpLocks/>
            <a:endCxn id="23" idx="2"/>
          </p:cNvCxnSpPr>
          <p:nvPr/>
        </p:nvCxnSpPr>
        <p:spPr>
          <a:xfrm flipV="1">
            <a:off x="3524190" y="4595851"/>
            <a:ext cx="1" cy="528683"/>
          </a:xfrm>
          <a:prstGeom prst="straightConnector1">
            <a:avLst/>
          </a:prstGeom>
          <a:ln w="19050">
            <a:solidFill>
              <a:schemeClr val="tx1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23" name="文字方塊 22">
            <a:extLst>
              <a:ext uri="{FF2B5EF4-FFF2-40B4-BE49-F238E27FC236}">
                <a16:creationId xmlns:a16="http://schemas.microsoft.com/office/drawing/2014/main" id="{336DED55-095C-C8FD-8B30-7C2A993BF31E}"/>
              </a:ext>
            </a:extLst>
          </p:cNvPr>
          <p:cNvSpPr txBox="1"/>
          <p:nvPr/>
        </p:nvSpPr>
        <p:spPr>
          <a:xfrm>
            <a:off x="3232235" y="4134186"/>
            <a:ext cx="583911" cy="46166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kumimoji="1" lang="en-US" altLang="zh-TW" sz="2400" dirty="0"/>
              <a:t>h</a:t>
            </a:r>
            <a:r>
              <a:rPr kumimoji="1" lang="en-US" altLang="zh-TW" sz="2400" baseline="-25000" dirty="0"/>
              <a:t>2</a:t>
            </a:r>
            <a:endParaRPr kumimoji="1" lang="zh-TW" altLang="en-US" sz="2400" baseline="-25000" dirty="0"/>
          </a:p>
        </p:txBody>
      </p:sp>
      <p:sp>
        <p:nvSpPr>
          <p:cNvPr id="24" name="矩形 23">
            <a:extLst>
              <a:ext uri="{FF2B5EF4-FFF2-40B4-BE49-F238E27FC236}">
                <a16:creationId xmlns:a16="http://schemas.microsoft.com/office/drawing/2014/main" id="{CF65285B-C3A9-6413-7132-697B4595F732}"/>
              </a:ext>
            </a:extLst>
          </p:cNvPr>
          <p:cNvSpPr/>
          <p:nvPr/>
        </p:nvSpPr>
        <p:spPr>
          <a:xfrm>
            <a:off x="2844161" y="3207183"/>
            <a:ext cx="1359016" cy="398320"/>
          </a:xfrm>
          <a:prstGeom prst="rect">
            <a:avLst/>
          </a:prstGeom>
          <a:solidFill>
            <a:schemeClr val="bg1">
              <a:lumMod val="85000"/>
            </a:schemeClr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kumimoji="1" lang="en-US" altLang="zh-TW" sz="2400" dirty="0">
                <a:solidFill>
                  <a:schemeClr val="tx1"/>
                </a:solidFill>
              </a:rPr>
              <a:t>FFN</a:t>
            </a:r>
            <a:endParaRPr kumimoji="1" lang="zh-TW" altLang="en-US" sz="2400" dirty="0">
              <a:solidFill>
                <a:schemeClr val="tx1"/>
              </a:solidFill>
            </a:endParaRPr>
          </a:p>
        </p:txBody>
      </p:sp>
      <p:cxnSp>
        <p:nvCxnSpPr>
          <p:cNvPr id="25" name="直線箭頭接點 24">
            <a:extLst>
              <a:ext uri="{FF2B5EF4-FFF2-40B4-BE49-F238E27FC236}">
                <a16:creationId xmlns:a16="http://schemas.microsoft.com/office/drawing/2014/main" id="{E6B0D2D2-66E7-32D7-04CC-1F3CCE9B2E6B}"/>
              </a:ext>
            </a:extLst>
          </p:cNvPr>
          <p:cNvCxnSpPr>
            <a:cxnSpLocks/>
            <a:stCxn id="23" idx="0"/>
            <a:endCxn id="24" idx="2"/>
          </p:cNvCxnSpPr>
          <p:nvPr/>
        </p:nvCxnSpPr>
        <p:spPr>
          <a:xfrm flipH="1" flipV="1">
            <a:off x="3523669" y="3605503"/>
            <a:ext cx="522" cy="528683"/>
          </a:xfrm>
          <a:prstGeom prst="straightConnector1">
            <a:avLst/>
          </a:prstGeom>
          <a:ln w="19050">
            <a:solidFill>
              <a:schemeClr val="tx1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26" name="直線箭頭接點 25">
            <a:extLst>
              <a:ext uri="{FF2B5EF4-FFF2-40B4-BE49-F238E27FC236}">
                <a16:creationId xmlns:a16="http://schemas.microsoft.com/office/drawing/2014/main" id="{DD9382E9-A4AC-3EF0-D927-B2A8D55F0E55}"/>
              </a:ext>
            </a:extLst>
          </p:cNvPr>
          <p:cNvCxnSpPr>
            <a:cxnSpLocks/>
            <a:endCxn id="27" idx="2"/>
          </p:cNvCxnSpPr>
          <p:nvPr/>
        </p:nvCxnSpPr>
        <p:spPr>
          <a:xfrm flipV="1">
            <a:off x="1760584" y="4595851"/>
            <a:ext cx="1" cy="528683"/>
          </a:xfrm>
          <a:prstGeom prst="straightConnector1">
            <a:avLst/>
          </a:prstGeom>
          <a:ln w="19050">
            <a:solidFill>
              <a:schemeClr val="tx1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27" name="文字方塊 26">
            <a:extLst>
              <a:ext uri="{FF2B5EF4-FFF2-40B4-BE49-F238E27FC236}">
                <a16:creationId xmlns:a16="http://schemas.microsoft.com/office/drawing/2014/main" id="{196FA16A-CBFF-A13F-2826-5A1C4EC77EF4}"/>
              </a:ext>
            </a:extLst>
          </p:cNvPr>
          <p:cNvSpPr txBox="1"/>
          <p:nvPr/>
        </p:nvSpPr>
        <p:spPr>
          <a:xfrm>
            <a:off x="1468629" y="4134186"/>
            <a:ext cx="583911" cy="46166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kumimoji="1" lang="en-US" altLang="zh-TW" sz="2400" dirty="0"/>
              <a:t>h</a:t>
            </a:r>
            <a:r>
              <a:rPr kumimoji="1" lang="en-US" altLang="zh-TW" sz="2400" baseline="-25000" dirty="0"/>
              <a:t>2</a:t>
            </a:r>
            <a:endParaRPr kumimoji="1" lang="zh-TW" altLang="en-US" sz="2400" baseline="-25000" dirty="0"/>
          </a:p>
        </p:txBody>
      </p:sp>
      <p:sp>
        <p:nvSpPr>
          <p:cNvPr id="28" name="矩形 27">
            <a:extLst>
              <a:ext uri="{FF2B5EF4-FFF2-40B4-BE49-F238E27FC236}">
                <a16:creationId xmlns:a16="http://schemas.microsoft.com/office/drawing/2014/main" id="{E055E8A4-CB52-AE1E-BB4F-D507A6036A52}"/>
              </a:ext>
            </a:extLst>
          </p:cNvPr>
          <p:cNvSpPr/>
          <p:nvPr/>
        </p:nvSpPr>
        <p:spPr>
          <a:xfrm>
            <a:off x="1080555" y="3207183"/>
            <a:ext cx="1359016" cy="398320"/>
          </a:xfrm>
          <a:prstGeom prst="rect">
            <a:avLst/>
          </a:prstGeom>
          <a:solidFill>
            <a:schemeClr val="bg1">
              <a:lumMod val="85000"/>
            </a:schemeClr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kumimoji="1" lang="en-US" altLang="zh-TW" sz="2400" dirty="0">
                <a:solidFill>
                  <a:schemeClr val="tx1"/>
                </a:solidFill>
              </a:rPr>
              <a:t>FFN</a:t>
            </a:r>
            <a:endParaRPr kumimoji="1" lang="zh-TW" altLang="en-US" sz="2400" dirty="0">
              <a:solidFill>
                <a:schemeClr val="tx1"/>
              </a:solidFill>
            </a:endParaRPr>
          </a:p>
        </p:txBody>
      </p:sp>
      <p:cxnSp>
        <p:nvCxnSpPr>
          <p:cNvPr id="29" name="直線箭頭接點 28">
            <a:extLst>
              <a:ext uri="{FF2B5EF4-FFF2-40B4-BE49-F238E27FC236}">
                <a16:creationId xmlns:a16="http://schemas.microsoft.com/office/drawing/2014/main" id="{58A6A4BF-7FBF-F9F7-5E23-077401B705F1}"/>
              </a:ext>
            </a:extLst>
          </p:cNvPr>
          <p:cNvCxnSpPr>
            <a:cxnSpLocks/>
            <a:stCxn id="27" idx="0"/>
            <a:endCxn id="28" idx="2"/>
          </p:cNvCxnSpPr>
          <p:nvPr/>
        </p:nvCxnSpPr>
        <p:spPr>
          <a:xfrm flipH="1" flipV="1">
            <a:off x="1760063" y="3605503"/>
            <a:ext cx="522" cy="528683"/>
          </a:xfrm>
          <a:prstGeom prst="straightConnector1">
            <a:avLst/>
          </a:prstGeom>
          <a:ln w="19050">
            <a:solidFill>
              <a:schemeClr val="tx1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30" name="直線箭頭接點 29">
            <a:extLst>
              <a:ext uri="{FF2B5EF4-FFF2-40B4-BE49-F238E27FC236}">
                <a16:creationId xmlns:a16="http://schemas.microsoft.com/office/drawing/2014/main" id="{98456CEC-29C5-58FE-44FD-B274756470C9}"/>
              </a:ext>
            </a:extLst>
          </p:cNvPr>
          <p:cNvCxnSpPr>
            <a:cxnSpLocks/>
          </p:cNvCxnSpPr>
          <p:nvPr/>
        </p:nvCxnSpPr>
        <p:spPr>
          <a:xfrm flipH="1" flipV="1">
            <a:off x="1759541" y="2581646"/>
            <a:ext cx="522" cy="528683"/>
          </a:xfrm>
          <a:prstGeom prst="straightConnector1">
            <a:avLst/>
          </a:prstGeom>
          <a:ln w="19050">
            <a:solidFill>
              <a:schemeClr val="tx1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31" name="直線箭頭接點 30">
            <a:extLst>
              <a:ext uri="{FF2B5EF4-FFF2-40B4-BE49-F238E27FC236}">
                <a16:creationId xmlns:a16="http://schemas.microsoft.com/office/drawing/2014/main" id="{F6718BCC-C400-1026-D690-8FB7C1209254}"/>
              </a:ext>
            </a:extLst>
          </p:cNvPr>
          <p:cNvCxnSpPr>
            <a:cxnSpLocks/>
          </p:cNvCxnSpPr>
          <p:nvPr/>
        </p:nvCxnSpPr>
        <p:spPr>
          <a:xfrm flipH="1" flipV="1">
            <a:off x="3523147" y="2581646"/>
            <a:ext cx="522" cy="528683"/>
          </a:xfrm>
          <a:prstGeom prst="straightConnector1">
            <a:avLst/>
          </a:prstGeom>
          <a:ln w="19050">
            <a:solidFill>
              <a:schemeClr val="tx1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32" name="直線箭頭接點 31">
            <a:extLst>
              <a:ext uri="{FF2B5EF4-FFF2-40B4-BE49-F238E27FC236}">
                <a16:creationId xmlns:a16="http://schemas.microsoft.com/office/drawing/2014/main" id="{F14F13DB-AD41-CDD3-AEDA-EA135EC29267}"/>
              </a:ext>
            </a:extLst>
          </p:cNvPr>
          <p:cNvCxnSpPr>
            <a:cxnSpLocks/>
          </p:cNvCxnSpPr>
          <p:nvPr/>
        </p:nvCxnSpPr>
        <p:spPr>
          <a:xfrm flipH="1" flipV="1">
            <a:off x="5286231" y="2581646"/>
            <a:ext cx="522" cy="528683"/>
          </a:xfrm>
          <a:prstGeom prst="straightConnector1">
            <a:avLst/>
          </a:prstGeom>
          <a:ln w="19050">
            <a:solidFill>
              <a:schemeClr val="tx1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33" name="矩形 32">
            <a:extLst>
              <a:ext uri="{FF2B5EF4-FFF2-40B4-BE49-F238E27FC236}">
                <a16:creationId xmlns:a16="http://schemas.microsoft.com/office/drawing/2014/main" id="{FE15B5FD-5063-E76E-7BD7-B11249249060}"/>
              </a:ext>
            </a:extLst>
          </p:cNvPr>
          <p:cNvSpPr/>
          <p:nvPr/>
        </p:nvSpPr>
        <p:spPr>
          <a:xfrm>
            <a:off x="6451589" y="5124534"/>
            <a:ext cx="1199626" cy="480190"/>
          </a:xfrm>
          <a:prstGeom prst="rect">
            <a:avLst/>
          </a:prstGeom>
          <a:solidFill>
            <a:srgbClr val="FDE7D7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kumimoji="1" lang="en-US" altLang="zh-TW" sz="2400" dirty="0">
                <a:solidFill>
                  <a:schemeClr val="tx1"/>
                </a:solidFill>
              </a:rPr>
              <a:t>RNN</a:t>
            </a:r>
            <a:endParaRPr kumimoji="1" lang="zh-TW" altLang="en-US" sz="2400" dirty="0">
              <a:solidFill>
                <a:schemeClr val="tx1"/>
              </a:solidFill>
            </a:endParaRPr>
          </a:p>
        </p:txBody>
      </p:sp>
      <p:sp>
        <p:nvSpPr>
          <p:cNvPr id="34" name="矩形 33">
            <a:extLst>
              <a:ext uri="{FF2B5EF4-FFF2-40B4-BE49-F238E27FC236}">
                <a16:creationId xmlns:a16="http://schemas.microsoft.com/office/drawing/2014/main" id="{6E47F5C4-F832-0D18-647D-D2BD2514E0D3}"/>
              </a:ext>
            </a:extLst>
          </p:cNvPr>
          <p:cNvSpPr/>
          <p:nvPr/>
        </p:nvSpPr>
        <p:spPr>
          <a:xfrm>
            <a:off x="8214675" y="5124534"/>
            <a:ext cx="1199626" cy="480190"/>
          </a:xfrm>
          <a:prstGeom prst="rect">
            <a:avLst/>
          </a:prstGeom>
          <a:solidFill>
            <a:srgbClr val="FDE7D7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kumimoji="1" lang="en-US" altLang="zh-TW" sz="2400" dirty="0">
                <a:solidFill>
                  <a:schemeClr val="tx1"/>
                </a:solidFill>
              </a:rPr>
              <a:t>RNN</a:t>
            </a:r>
            <a:endParaRPr kumimoji="1" lang="zh-TW" altLang="en-US" sz="2400" dirty="0">
              <a:solidFill>
                <a:schemeClr val="tx1"/>
              </a:solidFill>
            </a:endParaRPr>
          </a:p>
        </p:txBody>
      </p:sp>
      <p:sp>
        <p:nvSpPr>
          <p:cNvPr id="35" name="矩形 34">
            <a:extLst>
              <a:ext uri="{FF2B5EF4-FFF2-40B4-BE49-F238E27FC236}">
                <a16:creationId xmlns:a16="http://schemas.microsoft.com/office/drawing/2014/main" id="{83048F61-B999-908E-2F4A-0A75682A3D9A}"/>
              </a:ext>
            </a:extLst>
          </p:cNvPr>
          <p:cNvSpPr/>
          <p:nvPr/>
        </p:nvSpPr>
        <p:spPr>
          <a:xfrm>
            <a:off x="9977761" y="5124534"/>
            <a:ext cx="1199626" cy="480190"/>
          </a:xfrm>
          <a:prstGeom prst="rect">
            <a:avLst/>
          </a:prstGeom>
          <a:solidFill>
            <a:srgbClr val="FDE7D7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kumimoji="1" lang="en-US" altLang="zh-TW" sz="2400" dirty="0">
                <a:solidFill>
                  <a:schemeClr val="tx1"/>
                </a:solidFill>
              </a:rPr>
              <a:t>RNN</a:t>
            </a:r>
            <a:endParaRPr kumimoji="1" lang="zh-TW" altLang="en-US" sz="2400" dirty="0">
              <a:solidFill>
                <a:schemeClr val="tx1"/>
              </a:solidFill>
            </a:endParaRPr>
          </a:p>
        </p:txBody>
      </p:sp>
      <p:cxnSp>
        <p:nvCxnSpPr>
          <p:cNvPr id="36" name="直線箭頭接點 35">
            <a:extLst>
              <a:ext uri="{FF2B5EF4-FFF2-40B4-BE49-F238E27FC236}">
                <a16:creationId xmlns:a16="http://schemas.microsoft.com/office/drawing/2014/main" id="{D339375B-0343-B53B-CE5F-5200D88E47E4}"/>
              </a:ext>
            </a:extLst>
          </p:cNvPr>
          <p:cNvCxnSpPr>
            <a:cxnSpLocks/>
            <a:stCxn id="33" idx="3"/>
            <a:endCxn id="34" idx="1"/>
          </p:cNvCxnSpPr>
          <p:nvPr/>
        </p:nvCxnSpPr>
        <p:spPr>
          <a:xfrm>
            <a:off x="7651215" y="5364629"/>
            <a:ext cx="563460" cy="0"/>
          </a:xfrm>
          <a:prstGeom prst="straightConnector1">
            <a:avLst/>
          </a:prstGeom>
          <a:ln w="19050">
            <a:solidFill>
              <a:schemeClr val="tx1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37" name="直線箭頭接點 36">
            <a:extLst>
              <a:ext uri="{FF2B5EF4-FFF2-40B4-BE49-F238E27FC236}">
                <a16:creationId xmlns:a16="http://schemas.microsoft.com/office/drawing/2014/main" id="{14E0B2FD-6C7D-82F5-6A10-7985D1722D4F}"/>
              </a:ext>
            </a:extLst>
          </p:cNvPr>
          <p:cNvCxnSpPr>
            <a:cxnSpLocks/>
            <a:stCxn id="34" idx="3"/>
            <a:endCxn id="35" idx="1"/>
          </p:cNvCxnSpPr>
          <p:nvPr/>
        </p:nvCxnSpPr>
        <p:spPr>
          <a:xfrm>
            <a:off x="9414301" y="5364629"/>
            <a:ext cx="563460" cy="0"/>
          </a:xfrm>
          <a:prstGeom prst="straightConnector1">
            <a:avLst/>
          </a:prstGeom>
          <a:ln w="19050">
            <a:solidFill>
              <a:schemeClr val="tx1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39" name="直線箭頭接點 38">
            <a:extLst>
              <a:ext uri="{FF2B5EF4-FFF2-40B4-BE49-F238E27FC236}">
                <a16:creationId xmlns:a16="http://schemas.microsoft.com/office/drawing/2014/main" id="{6B11BBF7-CA67-8EFA-508B-315A1E034192}"/>
              </a:ext>
            </a:extLst>
          </p:cNvPr>
          <p:cNvCxnSpPr>
            <a:cxnSpLocks/>
            <a:endCxn id="35" idx="2"/>
          </p:cNvCxnSpPr>
          <p:nvPr/>
        </p:nvCxnSpPr>
        <p:spPr>
          <a:xfrm flipV="1">
            <a:off x="10577574" y="5604724"/>
            <a:ext cx="0" cy="569441"/>
          </a:xfrm>
          <a:prstGeom prst="straightConnector1">
            <a:avLst/>
          </a:prstGeom>
          <a:ln w="19050">
            <a:solidFill>
              <a:schemeClr val="tx1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40" name="直線箭頭接點 39">
            <a:extLst>
              <a:ext uri="{FF2B5EF4-FFF2-40B4-BE49-F238E27FC236}">
                <a16:creationId xmlns:a16="http://schemas.microsoft.com/office/drawing/2014/main" id="{2FA54CCB-521C-8B2F-B87A-78D6797B8F5F}"/>
              </a:ext>
            </a:extLst>
          </p:cNvPr>
          <p:cNvCxnSpPr>
            <a:cxnSpLocks/>
            <a:endCxn id="34" idx="2"/>
          </p:cNvCxnSpPr>
          <p:nvPr/>
        </p:nvCxnSpPr>
        <p:spPr>
          <a:xfrm flipV="1">
            <a:off x="8814488" y="5604724"/>
            <a:ext cx="0" cy="569441"/>
          </a:xfrm>
          <a:prstGeom prst="straightConnector1">
            <a:avLst/>
          </a:prstGeom>
          <a:ln w="19050">
            <a:solidFill>
              <a:schemeClr val="tx1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41" name="直線箭頭接點 40">
            <a:extLst>
              <a:ext uri="{FF2B5EF4-FFF2-40B4-BE49-F238E27FC236}">
                <a16:creationId xmlns:a16="http://schemas.microsoft.com/office/drawing/2014/main" id="{978E8CDB-9F01-34CA-0953-561DD48F71B3}"/>
              </a:ext>
            </a:extLst>
          </p:cNvPr>
          <p:cNvCxnSpPr>
            <a:cxnSpLocks/>
            <a:endCxn id="33" idx="2"/>
          </p:cNvCxnSpPr>
          <p:nvPr/>
        </p:nvCxnSpPr>
        <p:spPr>
          <a:xfrm flipV="1">
            <a:off x="7051401" y="5604724"/>
            <a:ext cx="1" cy="569441"/>
          </a:xfrm>
          <a:prstGeom prst="straightConnector1">
            <a:avLst/>
          </a:prstGeom>
          <a:ln w="19050">
            <a:solidFill>
              <a:schemeClr val="tx1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42" name="直線箭頭接點 41">
            <a:extLst>
              <a:ext uri="{FF2B5EF4-FFF2-40B4-BE49-F238E27FC236}">
                <a16:creationId xmlns:a16="http://schemas.microsoft.com/office/drawing/2014/main" id="{B41B84D7-B62F-5274-4CBD-107C0F331346}"/>
              </a:ext>
            </a:extLst>
          </p:cNvPr>
          <p:cNvCxnSpPr>
            <a:cxnSpLocks/>
            <a:endCxn id="43" idx="2"/>
          </p:cNvCxnSpPr>
          <p:nvPr/>
        </p:nvCxnSpPr>
        <p:spPr>
          <a:xfrm flipV="1">
            <a:off x="10578094" y="4595851"/>
            <a:ext cx="1" cy="528683"/>
          </a:xfrm>
          <a:prstGeom prst="straightConnector1">
            <a:avLst/>
          </a:prstGeom>
          <a:ln w="19050">
            <a:solidFill>
              <a:schemeClr val="tx1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43" name="文字方塊 42">
            <a:extLst>
              <a:ext uri="{FF2B5EF4-FFF2-40B4-BE49-F238E27FC236}">
                <a16:creationId xmlns:a16="http://schemas.microsoft.com/office/drawing/2014/main" id="{03408CFC-61E4-6BBA-2F63-57549FE15D6D}"/>
              </a:ext>
            </a:extLst>
          </p:cNvPr>
          <p:cNvSpPr txBox="1"/>
          <p:nvPr/>
        </p:nvSpPr>
        <p:spPr>
          <a:xfrm>
            <a:off x="10286139" y="4134186"/>
            <a:ext cx="583911" cy="46166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kumimoji="1" lang="en-US" altLang="zh-TW" sz="2400" dirty="0"/>
              <a:t>h</a:t>
            </a:r>
            <a:r>
              <a:rPr kumimoji="1" lang="en-US" altLang="zh-TW" sz="2400" baseline="-25000" dirty="0"/>
              <a:t>6</a:t>
            </a:r>
            <a:endParaRPr kumimoji="1" lang="zh-TW" altLang="en-US" sz="2400" baseline="-25000" dirty="0"/>
          </a:p>
        </p:txBody>
      </p:sp>
      <p:sp>
        <p:nvSpPr>
          <p:cNvPr id="44" name="矩形 43">
            <a:extLst>
              <a:ext uri="{FF2B5EF4-FFF2-40B4-BE49-F238E27FC236}">
                <a16:creationId xmlns:a16="http://schemas.microsoft.com/office/drawing/2014/main" id="{0A3B372F-353A-F458-8E40-12D64734A268}"/>
              </a:ext>
            </a:extLst>
          </p:cNvPr>
          <p:cNvSpPr/>
          <p:nvPr/>
        </p:nvSpPr>
        <p:spPr>
          <a:xfrm>
            <a:off x="9898065" y="3207183"/>
            <a:ext cx="1359016" cy="398320"/>
          </a:xfrm>
          <a:prstGeom prst="rect">
            <a:avLst/>
          </a:prstGeom>
          <a:solidFill>
            <a:schemeClr val="bg1">
              <a:lumMod val="85000"/>
            </a:schemeClr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kumimoji="1" lang="en-US" altLang="zh-TW" sz="2400" dirty="0">
                <a:solidFill>
                  <a:schemeClr val="tx1"/>
                </a:solidFill>
              </a:rPr>
              <a:t>FFN</a:t>
            </a:r>
            <a:endParaRPr kumimoji="1" lang="zh-TW" altLang="en-US" sz="2400" dirty="0">
              <a:solidFill>
                <a:schemeClr val="tx1"/>
              </a:solidFill>
            </a:endParaRPr>
          </a:p>
        </p:txBody>
      </p:sp>
      <p:cxnSp>
        <p:nvCxnSpPr>
          <p:cNvPr id="45" name="直線箭頭接點 44">
            <a:extLst>
              <a:ext uri="{FF2B5EF4-FFF2-40B4-BE49-F238E27FC236}">
                <a16:creationId xmlns:a16="http://schemas.microsoft.com/office/drawing/2014/main" id="{1424E9E3-D468-F799-92D0-0B8655D8E18D}"/>
              </a:ext>
            </a:extLst>
          </p:cNvPr>
          <p:cNvCxnSpPr>
            <a:cxnSpLocks/>
            <a:stCxn id="43" idx="0"/>
            <a:endCxn id="44" idx="2"/>
          </p:cNvCxnSpPr>
          <p:nvPr/>
        </p:nvCxnSpPr>
        <p:spPr>
          <a:xfrm flipH="1" flipV="1">
            <a:off x="10577573" y="3605503"/>
            <a:ext cx="522" cy="528683"/>
          </a:xfrm>
          <a:prstGeom prst="straightConnector1">
            <a:avLst/>
          </a:prstGeom>
          <a:ln w="19050">
            <a:solidFill>
              <a:schemeClr val="tx1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46" name="直線箭頭接點 45">
            <a:extLst>
              <a:ext uri="{FF2B5EF4-FFF2-40B4-BE49-F238E27FC236}">
                <a16:creationId xmlns:a16="http://schemas.microsoft.com/office/drawing/2014/main" id="{1100FB67-0B99-95B2-C48E-69F7AE0E6C13}"/>
              </a:ext>
            </a:extLst>
          </p:cNvPr>
          <p:cNvCxnSpPr>
            <a:cxnSpLocks/>
            <a:endCxn id="47" idx="2"/>
          </p:cNvCxnSpPr>
          <p:nvPr/>
        </p:nvCxnSpPr>
        <p:spPr>
          <a:xfrm flipV="1">
            <a:off x="8814487" y="4595851"/>
            <a:ext cx="1" cy="528683"/>
          </a:xfrm>
          <a:prstGeom prst="straightConnector1">
            <a:avLst/>
          </a:prstGeom>
          <a:ln w="19050">
            <a:solidFill>
              <a:schemeClr val="tx1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47" name="文字方塊 46">
            <a:extLst>
              <a:ext uri="{FF2B5EF4-FFF2-40B4-BE49-F238E27FC236}">
                <a16:creationId xmlns:a16="http://schemas.microsoft.com/office/drawing/2014/main" id="{8B882AD6-B490-5F3B-FBA7-9F7148FE82B3}"/>
              </a:ext>
            </a:extLst>
          </p:cNvPr>
          <p:cNvSpPr txBox="1"/>
          <p:nvPr/>
        </p:nvSpPr>
        <p:spPr>
          <a:xfrm>
            <a:off x="8522532" y="4134186"/>
            <a:ext cx="583911" cy="46166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kumimoji="1" lang="en-US" altLang="zh-TW" sz="2400" dirty="0"/>
              <a:t>h</a:t>
            </a:r>
            <a:r>
              <a:rPr kumimoji="1" lang="en-US" altLang="zh-TW" sz="2400" baseline="-25000" dirty="0"/>
              <a:t>5</a:t>
            </a:r>
            <a:endParaRPr kumimoji="1" lang="zh-TW" altLang="en-US" sz="2400" baseline="-25000" dirty="0"/>
          </a:p>
        </p:txBody>
      </p:sp>
      <p:sp>
        <p:nvSpPr>
          <p:cNvPr id="48" name="矩形 47">
            <a:extLst>
              <a:ext uri="{FF2B5EF4-FFF2-40B4-BE49-F238E27FC236}">
                <a16:creationId xmlns:a16="http://schemas.microsoft.com/office/drawing/2014/main" id="{CDF5E51E-7E35-FF16-448C-BC12F565A6B7}"/>
              </a:ext>
            </a:extLst>
          </p:cNvPr>
          <p:cNvSpPr/>
          <p:nvPr/>
        </p:nvSpPr>
        <p:spPr>
          <a:xfrm>
            <a:off x="8134458" y="3207183"/>
            <a:ext cx="1359016" cy="398320"/>
          </a:xfrm>
          <a:prstGeom prst="rect">
            <a:avLst/>
          </a:prstGeom>
          <a:solidFill>
            <a:schemeClr val="bg1">
              <a:lumMod val="85000"/>
            </a:schemeClr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kumimoji="1" lang="en-US" altLang="zh-TW" sz="2400" dirty="0">
                <a:solidFill>
                  <a:schemeClr val="tx1"/>
                </a:solidFill>
              </a:rPr>
              <a:t>FFN</a:t>
            </a:r>
            <a:endParaRPr kumimoji="1" lang="zh-TW" altLang="en-US" sz="2400" dirty="0">
              <a:solidFill>
                <a:schemeClr val="tx1"/>
              </a:solidFill>
            </a:endParaRPr>
          </a:p>
        </p:txBody>
      </p:sp>
      <p:cxnSp>
        <p:nvCxnSpPr>
          <p:cNvPr id="49" name="直線箭頭接點 48">
            <a:extLst>
              <a:ext uri="{FF2B5EF4-FFF2-40B4-BE49-F238E27FC236}">
                <a16:creationId xmlns:a16="http://schemas.microsoft.com/office/drawing/2014/main" id="{E2E0F8E1-F2AE-2224-9CA7-230C6FB1750E}"/>
              </a:ext>
            </a:extLst>
          </p:cNvPr>
          <p:cNvCxnSpPr>
            <a:cxnSpLocks/>
            <a:stCxn id="47" idx="0"/>
            <a:endCxn id="48" idx="2"/>
          </p:cNvCxnSpPr>
          <p:nvPr/>
        </p:nvCxnSpPr>
        <p:spPr>
          <a:xfrm flipH="1" flipV="1">
            <a:off x="8813966" y="3605503"/>
            <a:ext cx="522" cy="528683"/>
          </a:xfrm>
          <a:prstGeom prst="straightConnector1">
            <a:avLst/>
          </a:prstGeom>
          <a:ln w="19050">
            <a:solidFill>
              <a:schemeClr val="tx1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50" name="直線箭頭接點 49">
            <a:extLst>
              <a:ext uri="{FF2B5EF4-FFF2-40B4-BE49-F238E27FC236}">
                <a16:creationId xmlns:a16="http://schemas.microsoft.com/office/drawing/2014/main" id="{4843B538-0ED5-03BE-8DFA-6C0E5F3A4EB1}"/>
              </a:ext>
            </a:extLst>
          </p:cNvPr>
          <p:cNvCxnSpPr>
            <a:cxnSpLocks/>
            <a:endCxn id="51" idx="2"/>
          </p:cNvCxnSpPr>
          <p:nvPr/>
        </p:nvCxnSpPr>
        <p:spPr>
          <a:xfrm flipV="1">
            <a:off x="7050881" y="4595851"/>
            <a:ext cx="1" cy="528683"/>
          </a:xfrm>
          <a:prstGeom prst="straightConnector1">
            <a:avLst/>
          </a:prstGeom>
          <a:ln w="19050">
            <a:solidFill>
              <a:schemeClr val="tx1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51" name="文字方塊 50">
            <a:extLst>
              <a:ext uri="{FF2B5EF4-FFF2-40B4-BE49-F238E27FC236}">
                <a16:creationId xmlns:a16="http://schemas.microsoft.com/office/drawing/2014/main" id="{7F68A909-AD9B-3D4E-C636-7FC992CC810A}"/>
              </a:ext>
            </a:extLst>
          </p:cNvPr>
          <p:cNvSpPr txBox="1"/>
          <p:nvPr/>
        </p:nvSpPr>
        <p:spPr>
          <a:xfrm>
            <a:off x="6758926" y="4134186"/>
            <a:ext cx="583911" cy="46166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kumimoji="1" lang="en-US" altLang="zh-TW" sz="2400" dirty="0"/>
              <a:t>h</a:t>
            </a:r>
            <a:r>
              <a:rPr kumimoji="1" lang="en-US" altLang="zh-TW" sz="2400" baseline="-25000" dirty="0"/>
              <a:t>4</a:t>
            </a:r>
            <a:endParaRPr kumimoji="1" lang="zh-TW" altLang="en-US" sz="2400" baseline="-25000" dirty="0"/>
          </a:p>
        </p:txBody>
      </p:sp>
      <p:sp>
        <p:nvSpPr>
          <p:cNvPr id="52" name="矩形 51">
            <a:extLst>
              <a:ext uri="{FF2B5EF4-FFF2-40B4-BE49-F238E27FC236}">
                <a16:creationId xmlns:a16="http://schemas.microsoft.com/office/drawing/2014/main" id="{314F3AB4-9142-AE01-D036-B0D24C0C9FDC}"/>
              </a:ext>
            </a:extLst>
          </p:cNvPr>
          <p:cNvSpPr/>
          <p:nvPr/>
        </p:nvSpPr>
        <p:spPr>
          <a:xfrm>
            <a:off x="6370852" y="3207183"/>
            <a:ext cx="1359016" cy="398320"/>
          </a:xfrm>
          <a:prstGeom prst="rect">
            <a:avLst/>
          </a:prstGeom>
          <a:solidFill>
            <a:schemeClr val="bg1">
              <a:lumMod val="85000"/>
            </a:schemeClr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kumimoji="1" lang="en-US" altLang="zh-TW" sz="2400" dirty="0">
                <a:solidFill>
                  <a:schemeClr val="tx1"/>
                </a:solidFill>
              </a:rPr>
              <a:t>FFN</a:t>
            </a:r>
            <a:endParaRPr kumimoji="1" lang="zh-TW" altLang="en-US" sz="2400" dirty="0">
              <a:solidFill>
                <a:schemeClr val="tx1"/>
              </a:solidFill>
            </a:endParaRPr>
          </a:p>
        </p:txBody>
      </p:sp>
      <p:cxnSp>
        <p:nvCxnSpPr>
          <p:cNvPr id="53" name="直線箭頭接點 52">
            <a:extLst>
              <a:ext uri="{FF2B5EF4-FFF2-40B4-BE49-F238E27FC236}">
                <a16:creationId xmlns:a16="http://schemas.microsoft.com/office/drawing/2014/main" id="{DEF40CEE-F6A3-BE7F-974F-D7C3E5B9581B}"/>
              </a:ext>
            </a:extLst>
          </p:cNvPr>
          <p:cNvCxnSpPr>
            <a:cxnSpLocks/>
            <a:stCxn id="51" idx="0"/>
            <a:endCxn id="52" idx="2"/>
          </p:cNvCxnSpPr>
          <p:nvPr/>
        </p:nvCxnSpPr>
        <p:spPr>
          <a:xfrm flipH="1" flipV="1">
            <a:off x="7050360" y="3605503"/>
            <a:ext cx="522" cy="528683"/>
          </a:xfrm>
          <a:prstGeom prst="straightConnector1">
            <a:avLst/>
          </a:prstGeom>
          <a:ln w="19050">
            <a:solidFill>
              <a:schemeClr val="tx1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54" name="直線箭頭接點 53">
            <a:extLst>
              <a:ext uri="{FF2B5EF4-FFF2-40B4-BE49-F238E27FC236}">
                <a16:creationId xmlns:a16="http://schemas.microsoft.com/office/drawing/2014/main" id="{835E0716-AF15-EFB5-3E35-811BEC154BBF}"/>
              </a:ext>
            </a:extLst>
          </p:cNvPr>
          <p:cNvCxnSpPr>
            <a:cxnSpLocks/>
          </p:cNvCxnSpPr>
          <p:nvPr/>
        </p:nvCxnSpPr>
        <p:spPr>
          <a:xfrm flipH="1" flipV="1">
            <a:off x="7049838" y="2581646"/>
            <a:ext cx="522" cy="528683"/>
          </a:xfrm>
          <a:prstGeom prst="straightConnector1">
            <a:avLst/>
          </a:prstGeom>
          <a:ln w="19050">
            <a:solidFill>
              <a:schemeClr val="tx1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55" name="直線箭頭接點 54">
            <a:extLst>
              <a:ext uri="{FF2B5EF4-FFF2-40B4-BE49-F238E27FC236}">
                <a16:creationId xmlns:a16="http://schemas.microsoft.com/office/drawing/2014/main" id="{78A99E46-9FFE-76CB-6677-6ED6C1EAD0CE}"/>
              </a:ext>
            </a:extLst>
          </p:cNvPr>
          <p:cNvCxnSpPr>
            <a:cxnSpLocks/>
          </p:cNvCxnSpPr>
          <p:nvPr/>
        </p:nvCxnSpPr>
        <p:spPr>
          <a:xfrm flipH="1" flipV="1">
            <a:off x="8813444" y="2581646"/>
            <a:ext cx="522" cy="528683"/>
          </a:xfrm>
          <a:prstGeom prst="straightConnector1">
            <a:avLst/>
          </a:prstGeom>
          <a:ln w="19050">
            <a:solidFill>
              <a:schemeClr val="tx1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56" name="直線箭頭接點 55">
            <a:extLst>
              <a:ext uri="{FF2B5EF4-FFF2-40B4-BE49-F238E27FC236}">
                <a16:creationId xmlns:a16="http://schemas.microsoft.com/office/drawing/2014/main" id="{A5FE3DAD-2B2C-23B1-C789-08D48AB95E30}"/>
              </a:ext>
            </a:extLst>
          </p:cNvPr>
          <p:cNvCxnSpPr>
            <a:cxnSpLocks/>
          </p:cNvCxnSpPr>
          <p:nvPr/>
        </p:nvCxnSpPr>
        <p:spPr>
          <a:xfrm flipH="1" flipV="1">
            <a:off x="10576528" y="2581646"/>
            <a:ext cx="522" cy="528683"/>
          </a:xfrm>
          <a:prstGeom prst="straightConnector1">
            <a:avLst/>
          </a:prstGeom>
          <a:ln w="19050">
            <a:solidFill>
              <a:schemeClr val="tx1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57" name="直線箭頭接點 56">
            <a:extLst>
              <a:ext uri="{FF2B5EF4-FFF2-40B4-BE49-F238E27FC236}">
                <a16:creationId xmlns:a16="http://schemas.microsoft.com/office/drawing/2014/main" id="{8B8730F9-4028-A664-A953-7664BB0143B6}"/>
              </a:ext>
            </a:extLst>
          </p:cNvPr>
          <p:cNvCxnSpPr>
            <a:cxnSpLocks/>
          </p:cNvCxnSpPr>
          <p:nvPr/>
        </p:nvCxnSpPr>
        <p:spPr>
          <a:xfrm>
            <a:off x="5888129" y="5364629"/>
            <a:ext cx="563460" cy="0"/>
          </a:xfrm>
          <a:prstGeom prst="straightConnector1">
            <a:avLst/>
          </a:prstGeom>
          <a:ln w="19050">
            <a:solidFill>
              <a:schemeClr val="tx1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58" name="文字方塊 57">
            <a:extLst>
              <a:ext uri="{FF2B5EF4-FFF2-40B4-BE49-F238E27FC236}">
                <a16:creationId xmlns:a16="http://schemas.microsoft.com/office/drawing/2014/main" id="{21714EE5-DD12-565D-FE7E-48D9EFB80149}"/>
              </a:ext>
            </a:extLst>
          </p:cNvPr>
          <p:cNvSpPr txBox="1"/>
          <p:nvPr/>
        </p:nvSpPr>
        <p:spPr>
          <a:xfrm>
            <a:off x="6336737" y="6207844"/>
            <a:ext cx="1426197" cy="40011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kumimoji="1" lang="en-US" altLang="zh-TW" sz="2000" dirty="0">
                <a:solidFill>
                  <a:srgbClr val="0070C0"/>
                </a:solidFill>
              </a:rPr>
              <a:t>[translate]</a:t>
            </a:r>
            <a:endParaRPr kumimoji="1" lang="zh-TW" altLang="en-US" sz="2000" baseline="-25000" dirty="0">
              <a:solidFill>
                <a:srgbClr val="0070C0"/>
              </a:solidFill>
            </a:endParaRPr>
          </a:p>
        </p:txBody>
      </p:sp>
      <p:sp>
        <p:nvSpPr>
          <p:cNvPr id="60" name="文字方塊 59">
            <a:extLst>
              <a:ext uri="{FF2B5EF4-FFF2-40B4-BE49-F238E27FC236}">
                <a16:creationId xmlns:a16="http://schemas.microsoft.com/office/drawing/2014/main" id="{EFC2E6B3-CAB1-A6BE-AC35-B1636EA154FB}"/>
              </a:ext>
            </a:extLst>
          </p:cNvPr>
          <p:cNvSpPr txBox="1"/>
          <p:nvPr/>
        </p:nvSpPr>
        <p:spPr>
          <a:xfrm>
            <a:off x="8400954" y="6184727"/>
            <a:ext cx="822885" cy="46166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kumimoji="1" lang="zh-TW" altLang="en-US" sz="2400" dirty="0">
                <a:solidFill>
                  <a:srgbClr val="0070C0"/>
                </a:solidFill>
                <a:latin typeface="Microsoft JhengHei" panose="020B0604030504040204" pitchFamily="34" charset="-120"/>
                <a:ea typeface="Microsoft JhengHei" panose="020B0604030504040204" pitchFamily="34" charset="-120"/>
              </a:rPr>
              <a:t>私</a:t>
            </a:r>
            <a:r>
              <a:rPr kumimoji="1" lang="ja-JP" altLang="en-US" sz="2400">
                <a:solidFill>
                  <a:srgbClr val="0070C0"/>
                </a:solidFill>
                <a:latin typeface="Microsoft JhengHei" panose="020B0604030504040204" pitchFamily="34" charset="-120"/>
                <a:ea typeface="Microsoft JhengHei" panose="020B0604030504040204" pitchFamily="34" charset="-120"/>
              </a:rPr>
              <a:t>は</a:t>
            </a:r>
            <a:endParaRPr kumimoji="1" lang="zh-TW" altLang="en-US" sz="2400" baseline="-25000" dirty="0">
              <a:solidFill>
                <a:srgbClr val="0070C0"/>
              </a:solidFill>
              <a:latin typeface="Microsoft JhengHei" panose="020B0604030504040204" pitchFamily="34" charset="-120"/>
              <a:ea typeface="Microsoft JhengHei" panose="020B0604030504040204" pitchFamily="34" charset="-120"/>
            </a:endParaRPr>
          </a:p>
        </p:txBody>
      </p:sp>
      <p:sp>
        <p:nvSpPr>
          <p:cNvPr id="62" name="文字方塊 61">
            <a:extLst>
              <a:ext uri="{FF2B5EF4-FFF2-40B4-BE49-F238E27FC236}">
                <a16:creationId xmlns:a16="http://schemas.microsoft.com/office/drawing/2014/main" id="{1AEAC186-2354-D397-93B5-9A929DB17F7C}"/>
              </a:ext>
            </a:extLst>
          </p:cNvPr>
          <p:cNvSpPr txBox="1"/>
          <p:nvPr/>
        </p:nvSpPr>
        <p:spPr>
          <a:xfrm>
            <a:off x="6638394" y="2052963"/>
            <a:ext cx="822885" cy="46166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kumimoji="1" lang="zh-TW" altLang="en-US" sz="2400" dirty="0">
                <a:solidFill>
                  <a:srgbClr val="0070C0"/>
                </a:solidFill>
                <a:latin typeface="Microsoft JhengHei" panose="020B0604030504040204" pitchFamily="34" charset="-120"/>
                <a:ea typeface="Microsoft JhengHei" panose="020B0604030504040204" pitchFamily="34" charset="-120"/>
              </a:rPr>
              <a:t>私</a:t>
            </a:r>
            <a:r>
              <a:rPr kumimoji="1" lang="ja-JP" altLang="en-US" sz="2400">
                <a:solidFill>
                  <a:srgbClr val="0070C0"/>
                </a:solidFill>
                <a:latin typeface="Microsoft JhengHei" panose="020B0604030504040204" pitchFamily="34" charset="-120"/>
                <a:ea typeface="Microsoft JhengHei" panose="020B0604030504040204" pitchFamily="34" charset="-120"/>
              </a:rPr>
              <a:t>は</a:t>
            </a:r>
            <a:endParaRPr kumimoji="1" lang="zh-TW" altLang="en-US" sz="2400" baseline="-25000" dirty="0">
              <a:solidFill>
                <a:srgbClr val="0070C0"/>
              </a:solidFill>
              <a:latin typeface="Microsoft JhengHei" panose="020B0604030504040204" pitchFamily="34" charset="-120"/>
              <a:ea typeface="Microsoft JhengHei" panose="020B0604030504040204" pitchFamily="34" charset="-120"/>
            </a:endParaRPr>
          </a:p>
        </p:txBody>
      </p:sp>
      <p:sp>
        <p:nvSpPr>
          <p:cNvPr id="65" name="文字方塊 64">
            <a:extLst>
              <a:ext uri="{FF2B5EF4-FFF2-40B4-BE49-F238E27FC236}">
                <a16:creationId xmlns:a16="http://schemas.microsoft.com/office/drawing/2014/main" id="{80168DC5-B595-D8C5-53CC-1BB20AB43CB4}"/>
              </a:ext>
            </a:extLst>
          </p:cNvPr>
          <p:cNvSpPr txBox="1"/>
          <p:nvPr/>
        </p:nvSpPr>
        <p:spPr>
          <a:xfrm>
            <a:off x="10362512" y="2050473"/>
            <a:ext cx="428032" cy="461665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kumimoji="1" lang="ja-JP" altLang="en-US" sz="2400">
                <a:solidFill>
                  <a:srgbClr val="0070C0"/>
                </a:solidFill>
                <a:latin typeface="Microsoft JhengHei" panose="020B0604030504040204" pitchFamily="34" charset="-120"/>
                <a:ea typeface="Microsoft JhengHei" panose="020B0604030504040204" pitchFamily="34" charset="-120"/>
              </a:rPr>
              <a:t>が</a:t>
            </a:r>
            <a:endParaRPr lang="zh-TW" altLang="en-US" sz="2400" dirty="0"/>
          </a:p>
        </p:txBody>
      </p:sp>
      <p:sp>
        <p:nvSpPr>
          <p:cNvPr id="67" name="文字方塊 66">
            <a:extLst>
              <a:ext uri="{FF2B5EF4-FFF2-40B4-BE49-F238E27FC236}">
                <a16:creationId xmlns:a16="http://schemas.microsoft.com/office/drawing/2014/main" id="{7B863191-78C2-E2C5-116E-EB5F074DA077}"/>
              </a:ext>
            </a:extLst>
          </p:cNvPr>
          <p:cNvSpPr txBox="1"/>
          <p:nvPr/>
        </p:nvSpPr>
        <p:spPr>
          <a:xfrm>
            <a:off x="11031653" y="5106175"/>
            <a:ext cx="684250" cy="338554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kumimoji="1" lang="en-US" altLang="zh-TW" sz="2400" baseline="-25000" dirty="0">
                <a:solidFill>
                  <a:srgbClr val="0070C0"/>
                </a:solidFill>
              </a:rPr>
              <a:t>...</a:t>
            </a:r>
            <a:endParaRPr kumimoji="1" lang="zh-TW" altLang="en-US" sz="2400" baseline="-25000" dirty="0">
              <a:solidFill>
                <a:srgbClr val="0070C0"/>
              </a:solidFill>
            </a:endParaRPr>
          </a:p>
        </p:txBody>
      </p:sp>
      <p:sp>
        <p:nvSpPr>
          <p:cNvPr id="68" name="文字方塊 67">
            <a:extLst>
              <a:ext uri="{FF2B5EF4-FFF2-40B4-BE49-F238E27FC236}">
                <a16:creationId xmlns:a16="http://schemas.microsoft.com/office/drawing/2014/main" id="{E824AF13-DA43-5EB2-4320-04F1F9A26864}"/>
              </a:ext>
            </a:extLst>
          </p:cNvPr>
          <p:cNvSpPr txBox="1"/>
          <p:nvPr/>
        </p:nvSpPr>
        <p:spPr>
          <a:xfrm>
            <a:off x="11031653" y="3138610"/>
            <a:ext cx="684250" cy="338554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kumimoji="1" lang="en-US" altLang="zh-TW" sz="2400" baseline="-25000" dirty="0">
                <a:solidFill>
                  <a:srgbClr val="0070C0"/>
                </a:solidFill>
              </a:rPr>
              <a:t>...</a:t>
            </a:r>
            <a:endParaRPr kumimoji="1" lang="zh-TW" altLang="en-US" sz="2400" baseline="-25000" dirty="0">
              <a:solidFill>
                <a:srgbClr val="0070C0"/>
              </a:solidFill>
            </a:endParaRPr>
          </a:p>
        </p:txBody>
      </p:sp>
      <p:sp>
        <p:nvSpPr>
          <p:cNvPr id="69" name="文字方塊 68">
            <a:extLst>
              <a:ext uri="{FF2B5EF4-FFF2-40B4-BE49-F238E27FC236}">
                <a16:creationId xmlns:a16="http://schemas.microsoft.com/office/drawing/2014/main" id="{CB0AAB48-2B90-A176-8F15-3343AD59604A}"/>
              </a:ext>
            </a:extLst>
          </p:cNvPr>
          <p:cNvSpPr txBox="1"/>
          <p:nvPr/>
        </p:nvSpPr>
        <p:spPr>
          <a:xfrm>
            <a:off x="8978975" y="503229"/>
            <a:ext cx="2526678" cy="707886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kumimoji="1" lang="zh-TW" altLang="en-US" sz="2000" dirty="0">
                <a:ea typeface="Microsoft JhengHei" panose="020B0604030504040204" pitchFamily="34" charset="-120"/>
              </a:rPr>
              <a:t>缺點：長距離的關係難以被記憶</a:t>
            </a:r>
            <a:endParaRPr kumimoji="1" lang="zh-TW" altLang="en-US" sz="2000" baseline="-25000" dirty="0">
              <a:ea typeface="Microsoft JhengHei" panose="020B0604030504040204" pitchFamily="34" charset="-120"/>
            </a:endParaRPr>
          </a:p>
        </p:txBody>
      </p:sp>
      <p:sp>
        <p:nvSpPr>
          <p:cNvPr id="3" name="文字方塊 2">
            <a:extLst>
              <a:ext uri="{FF2B5EF4-FFF2-40B4-BE49-F238E27FC236}">
                <a16:creationId xmlns:a16="http://schemas.microsoft.com/office/drawing/2014/main" id="{626FDBF9-D4EB-DDF6-376A-549B2FE89519}"/>
              </a:ext>
            </a:extLst>
          </p:cNvPr>
          <p:cNvSpPr txBox="1"/>
          <p:nvPr/>
        </p:nvSpPr>
        <p:spPr>
          <a:xfrm>
            <a:off x="8400954" y="2050472"/>
            <a:ext cx="860338" cy="46166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kumimoji="1" lang="en-US" altLang="zh-TW" sz="2400" dirty="0">
                <a:solidFill>
                  <a:srgbClr val="0070C0"/>
                </a:solidFill>
              </a:rPr>
              <a:t>NLP</a:t>
            </a:r>
            <a:endParaRPr kumimoji="1" lang="zh-TW" altLang="en-US" sz="2400" baseline="-25000" dirty="0">
              <a:solidFill>
                <a:srgbClr val="0070C0"/>
              </a:solidFill>
            </a:endParaRPr>
          </a:p>
        </p:txBody>
      </p:sp>
      <p:sp>
        <p:nvSpPr>
          <p:cNvPr id="64" name="文字方塊 63">
            <a:extLst>
              <a:ext uri="{FF2B5EF4-FFF2-40B4-BE49-F238E27FC236}">
                <a16:creationId xmlns:a16="http://schemas.microsoft.com/office/drawing/2014/main" id="{7F68F150-70EA-5584-618A-B864B92278D0}"/>
              </a:ext>
            </a:extLst>
          </p:cNvPr>
          <p:cNvSpPr txBox="1"/>
          <p:nvPr/>
        </p:nvSpPr>
        <p:spPr>
          <a:xfrm>
            <a:off x="4857179" y="6174163"/>
            <a:ext cx="860338" cy="46166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kumimoji="1" lang="en-US" altLang="zh-TW" sz="2400" dirty="0">
                <a:solidFill>
                  <a:srgbClr val="0070C0"/>
                </a:solidFill>
              </a:rPr>
              <a:t>NLP</a:t>
            </a:r>
            <a:endParaRPr kumimoji="1" lang="zh-TW" altLang="en-US" sz="2400" baseline="-25000" dirty="0">
              <a:solidFill>
                <a:srgbClr val="0070C0"/>
              </a:solidFill>
            </a:endParaRPr>
          </a:p>
        </p:txBody>
      </p:sp>
      <p:sp>
        <p:nvSpPr>
          <p:cNvPr id="66" name="文字方塊 65">
            <a:extLst>
              <a:ext uri="{FF2B5EF4-FFF2-40B4-BE49-F238E27FC236}">
                <a16:creationId xmlns:a16="http://schemas.microsoft.com/office/drawing/2014/main" id="{7E3AC00E-495C-D926-E702-E6FF2213044A}"/>
              </a:ext>
            </a:extLst>
          </p:cNvPr>
          <p:cNvSpPr txBox="1"/>
          <p:nvPr/>
        </p:nvSpPr>
        <p:spPr>
          <a:xfrm>
            <a:off x="10147203" y="6174210"/>
            <a:ext cx="860338" cy="46166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kumimoji="1" lang="en-US" altLang="zh-TW" sz="2400" dirty="0">
                <a:solidFill>
                  <a:srgbClr val="0070C0"/>
                </a:solidFill>
              </a:rPr>
              <a:t>NLP</a:t>
            </a:r>
            <a:endParaRPr kumimoji="1" lang="zh-TW" altLang="en-US" sz="2400" baseline="-25000" dirty="0">
              <a:solidFill>
                <a:srgbClr val="0070C0"/>
              </a:solidFill>
            </a:endParaRPr>
          </a:p>
        </p:txBody>
      </p:sp>
    </p:spTree>
    <p:extLst>
      <p:ext uri="{BB962C8B-B14F-4D97-AF65-F5344CB8AC3E}">
        <p14:creationId xmlns:p14="http://schemas.microsoft.com/office/powerpoint/2010/main" val="3985150662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7" fill="hold">
                      <p:stCondLst>
                        <p:cond delay="indefinite"/>
                      </p:stCondLst>
                      <p:childTnLst>
                        <p:par>
                          <p:cTn id="8" fill="hold">
                            <p:stCondLst>
                              <p:cond delay="0"/>
                            </p:stCondLst>
                            <p:childTnLst>
                              <p:par>
                                <p:cTn id="9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1" fill="hold">
                      <p:stCondLst>
                        <p:cond delay="indefinite"/>
                      </p:stCondLst>
                      <p:childTnLst>
                        <p:par>
                          <p:cTn id="12" fill="hold">
                            <p:stCondLst>
                              <p:cond delay="0"/>
                            </p:stCondLst>
                            <p:childTnLst>
                              <p:par>
                                <p:cTn id="13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5" fill="hold">
                      <p:stCondLst>
                        <p:cond delay="indefinite"/>
                      </p:stCondLst>
                      <p:childTnLst>
                        <p:par>
                          <p:cTn id="16" fill="hold">
                            <p:stCondLst>
                              <p:cond delay="0"/>
                            </p:stCondLst>
                            <p:childTnLst>
                              <p:par>
                                <p:cTn id="17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9" fill="hold">
                      <p:stCondLst>
                        <p:cond delay="indefinite"/>
                      </p:stCondLst>
                      <p:childTnLst>
                        <p:par>
                          <p:cTn id="20" fill="hold">
                            <p:stCondLst>
                              <p:cond delay="0"/>
                            </p:stCondLst>
                            <p:childTnLst>
                              <p:par>
                                <p:cTn id="21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60" grpId="0"/>
      <p:bldP spid="62" grpId="0"/>
      <p:bldP spid="65" grpId="0"/>
      <p:bldP spid="69" grpId="0"/>
      <p:bldP spid="3" grpId="0"/>
      <p:bldP spid="66" grpId="0"/>
    </p:bldLst>
  </p:timing>
</p:sld>
</file>

<file path=ppt/slides/slide4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標題 1">
            <a:extLst>
              <a:ext uri="{FF2B5EF4-FFF2-40B4-BE49-F238E27FC236}">
                <a16:creationId xmlns:a16="http://schemas.microsoft.com/office/drawing/2014/main" id="{11B8AE9C-1909-B974-E8C8-9807CE1ACD90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kumimoji="1" lang="en-US" altLang="zh-TW" dirty="0"/>
              <a:t>Encoder and Decoder</a:t>
            </a:r>
            <a:endParaRPr kumimoji="1" lang="zh-TW" altLang="en-US" dirty="0"/>
          </a:p>
        </p:txBody>
      </p:sp>
      <p:sp>
        <p:nvSpPr>
          <p:cNvPr id="4" name="投影片編號版面配置區 3">
            <a:extLst>
              <a:ext uri="{FF2B5EF4-FFF2-40B4-BE49-F238E27FC236}">
                <a16:creationId xmlns:a16="http://schemas.microsoft.com/office/drawing/2014/main" id="{92106C75-A795-3924-7F0C-B509934C798B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6113E31D-E2AB-40D1-8B51-AFA5AFEF393A}" type="slidenum">
              <a:rPr lang="en-US" smtClean="0"/>
              <a:pPr/>
              <a:t>44</a:t>
            </a:fld>
            <a:endParaRPr lang="en-US" dirty="0"/>
          </a:p>
        </p:txBody>
      </p:sp>
      <p:sp>
        <p:nvSpPr>
          <p:cNvPr id="6" name="圓角矩形 5">
            <a:extLst>
              <a:ext uri="{FF2B5EF4-FFF2-40B4-BE49-F238E27FC236}">
                <a16:creationId xmlns:a16="http://schemas.microsoft.com/office/drawing/2014/main" id="{BA383E56-D04D-340B-A396-C1FF6DCBC646}"/>
              </a:ext>
            </a:extLst>
          </p:cNvPr>
          <p:cNvSpPr/>
          <p:nvPr/>
        </p:nvSpPr>
        <p:spPr>
          <a:xfrm>
            <a:off x="6777738" y="4052638"/>
            <a:ext cx="4433985" cy="991359"/>
          </a:xfrm>
          <a:prstGeom prst="roundRect">
            <a:avLst/>
          </a:prstGeom>
          <a:noFill/>
          <a:ln w="19050">
            <a:solidFill>
              <a:schemeClr val="tx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kumimoji="1" lang="en-US" altLang="zh-TW" sz="2400" dirty="0">
                <a:solidFill>
                  <a:schemeClr val="tx1"/>
                </a:solidFill>
              </a:rPr>
              <a:t>Decoder</a:t>
            </a:r>
            <a:endParaRPr kumimoji="1" lang="zh-TW" altLang="en-US" sz="1500" dirty="0">
              <a:solidFill>
                <a:schemeClr val="tx1"/>
              </a:solidFill>
            </a:endParaRPr>
          </a:p>
        </p:txBody>
      </p:sp>
      <p:sp>
        <p:nvSpPr>
          <p:cNvPr id="7" name="文字方塊 6">
            <a:extLst>
              <a:ext uri="{FF2B5EF4-FFF2-40B4-BE49-F238E27FC236}">
                <a16:creationId xmlns:a16="http://schemas.microsoft.com/office/drawing/2014/main" id="{6CD4D7DE-FEA6-5EAD-BA7D-0E9B63A81999}"/>
              </a:ext>
            </a:extLst>
          </p:cNvPr>
          <p:cNvSpPr txBox="1"/>
          <p:nvPr/>
        </p:nvSpPr>
        <p:spPr>
          <a:xfrm>
            <a:off x="6848723" y="5855027"/>
            <a:ext cx="589146" cy="276999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kumimoji="1" lang="en-US" altLang="zh-TW" sz="1200" dirty="0"/>
              <a:t>(Start)</a:t>
            </a:r>
            <a:endParaRPr kumimoji="1" lang="zh-TW" altLang="en-US" sz="1200" dirty="0"/>
          </a:p>
        </p:txBody>
      </p:sp>
      <p:cxnSp>
        <p:nvCxnSpPr>
          <p:cNvPr id="8" name="直線箭頭接點 7">
            <a:extLst>
              <a:ext uri="{FF2B5EF4-FFF2-40B4-BE49-F238E27FC236}">
                <a16:creationId xmlns:a16="http://schemas.microsoft.com/office/drawing/2014/main" id="{21F30ECC-84F2-5D18-362E-5D5B043F7E7B}"/>
              </a:ext>
            </a:extLst>
          </p:cNvPr>
          <p:cNvCxnSpPr>
            <a:cxnSpLocks/>
          </p:cNvCxnSpPr>
          <p:nvPr/>
        </p:nvCxnSpPr>
        <p:spPr>
          <a:xfrm flipV="1">
            <a:off x="7141779" y="3739303"/>
            <a:ext cx="0" cy="242085"/>
          </a:xfrm>
          <a:prstGeom prst="straightConnector1">
            <a:avLst/>
          </a:prstGeom>
          <a:ln w="19050">
            <a:solidFill>
              <a:schemeClr val="tx1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9" name="直線箭頭接點 8">
            <a:extLst>
              <a:ext uri="{FF2B5EF4-FFF2-40B4-BE49-F238E27FC236}">
                <a16:creationId xmlns:a16="http://schemas.microsoft.com/office/drawing/2014/main" id="{DFBBA531-BE7B-F9F3-E719-5242A0B9E4BD}"/>
              </a:ext>
            </a:extLst>
          </p:cNvPr>
          <p:cNvCxnSpPr>
            <a:cxnSpLocks/>
          </p:cNvCxnSpPr>
          <p:nvPr/>
        </p:nvCxnSpPr>
        <p:spPr>
          <a:xfrm flipV="1">
            <a:off x="7864194" y="3739303"/>
            <a:ext cx="0" cy="242085"/>
          </a:xfrm>
          <a:prstGeom prst="straightConnector1">
            <a:avLst/>
          </a:prstGeom>
          <a:ln w="19050">
            <a:solidFill>
              <a:schemeClr val="tx1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0" name="直線箭頭接點 9">
            <a:extLst>
              <a:ext uri="{FF2B5EF4-FFF2-40B4-BE49-F238E27FC236}">
                <a16:creationId xmlns:a16="http://schemas.microsoft.com/office/drawing/2014/main" id="{5213826B-7FF7-F9EA-A9F9-445F4081DE0B}"/>
              </a:ext>
            </a:extLst>
          </p:cNvPr>
          <p:cNvCxnSpPr>
            <a:cxnSpLocks/>
          </p:cNvCxnSpPr>
          <p:nvPr/>
        </p:nvCxnSpPr>
        <p:spPr>
          <a:xfrm flipV="1">
            <a:off x="10791469" y="3739303"/>
            <a:ext cx="0" cy="242085"/>
          </a:xfrm>
          <a:prstGeom prst="straightConnector1">
            <a:avLst/>
          </a:prstGeom>
          <a:ln w="19050">
            <a:solidFill>
              <a:schemeClr val="tx1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1" name="直線箭頭接點 10">
            <a:extLst>
              <a:ext uri="{FF2B5EF4-FFF2-40B4-BE49-F238E27FC236}">
                <a16:creationId xmlns:a16="http://schemas.microsoft.com/office/drawing/2014/main" id="{252A1EFC-B9A1-E9B9-C671-FC420A3A4AAD}"/>
              </a:ext>
            </a:extLst>
          </p:cNvPr>
          <p:cNvCxnSpPr>
            <a:cxnSpLocks/>
          </p:cNvCxnSpPr>
          <p:nvPr/>
        </p:nvCxnSpPr>
        <p:spPr>
          <a:xfrm flipV="1">
            <a:off x="10069054" y="3739303"/>
            <a:ext cx="0" cy="242085"/>
          </a:xfrm>
          <a:prstGeom prst="straightConnector1">
            <a:avLst/>
          </a:prstGeom>
          <a:ln w="19050">
            <a:solidFill>
              <a:schemeClr val="tx1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3" name="直線箭頭接點 12">
            <a:extLst>
              <a:ext uri="{FF2B5EF4-FFF2-40B4-BE49-F238E27FC236}">
                <a16:creationId xmlns:a16="http://schemas.microsoft.com/office/drawing/2014/main" id="{A8FFAB12-7688-B996-CE29-CCFBB2E29E54}"/>
              </a:ext>
            </a:extLst>
          </p:cNvPr>
          <p:cNvCxnSpPr>
            <a:cxnSpLocks/>
          </p:cNvCxnSpPr>
          <p:nvPr/>
        </p:nvCxnSpPr>
        <p:spPr>
          <a:xfrm flipV="1">
            <a:off x="7141779" y="5095489"/>
            <a:ext cx="0" cy="242085"/>
          </a:xfrm>
          <a:prstGeom prst="straightConnector1">
            <a:avLst/>
          </a:prstGeom>
          <a:ln w="19050">
            <a:solidFill>
              <a:schemeClr val="tx1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4" name="直線箭頭接點 13">
            <a:extLst>
              <a:ext uri="{FF2B5EF4-FFF2-40B4-BE49-F238E27FC236}">
                <a16:creationId xmlns:a16="http://schemas.microsoft.com/office/drawing/2014/main" id="{A3271C6B-2A38-B65E-147B-30B6DBA820E4}"/>
              </a:ext>
            </a:extLst>
          </p:cNvPr>
          <p:cNvCxnSpPr>
            <a:cxnSpLocks/>
          </p:cNvCxnSpPr>
          <p:nvPr/>
        </p:nvCxnSpPr>
        <p:spPr>
          <a:xfrm flipV="1">
            <a:off x="7864193" y="5095489"/>
            <a:ext cx="0" cy="242085"/>
          </a:xfrm>
          <a:prstGeom prst="straightConnector1">
            <a:avLst/>
          </a:prstGeom>
          <a:ln w="19050">
            <a:solidFill>
              <a:schemeClr val="tx1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5" name="直線箭頭接點 14">
            <a:extLst>
              <a:ext uri="{FF2B5EF4-FFF2-40B4-BE49-F238E27FC236}">
                <a16:creationId xmlns:a16="http://schemas.microsoft.com/office/drawing/2014/main" id="{7DB29C07-EE45-FDF3-50C5-462B179F554D}"/>
              </a:ext>
            </a:extLst>
          </p:cNvPr>
          <p:cNvCxnSpPr>
            <a:cxnSpLocks/>
          </p:cNvCxnSpPr>
          <p:nvPr/>
        </p:nvCxnSpPr>
        <p:spPr>
          <a:xfrm flipV="1">
            <a:off x="10069053" y="5091994"/>
            <a:ext cx="0" cy="242085"/>
          </a:xfrm>
          <a:prstGeom prst="straightConnector1">
            <a:avLst/>
          </a:prstGeom>
          <a:ln w="19050">
            <a:solidFill>
              <a:schemeClr val="tx1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6" name="直線箭頭接點 15">
            <a:extLst>
              <a:ext uri="{FF2B5EF4-FFF2-40B4-BE49-F238E27FC236}">
                <a16:creationId xmlns:a16="http://schemas.microsoft.com/office/drawing/2014/main" id="{E80F3625-6DB5-7DD1-C50D-5733EC81F434}"/>
              </a:ext>
            </a:extLst>
          </p:cNvPr>
          <p:cNvCxnSpPr>
            <a:cxnSpLocks/>
          </p:cNvCxnSpPr>
          <p:nvPr/>
        </p:nvCxnSpPr>
        <p:spPr>
          <a:xfrm flipV="1">
            <a:off x="10791467" y="5091994"/>
            <a:ext cx="0" cy="242085"/>
          </a:xfrm>
          <a:prstGeom prst="straightConnector1">
            <a:avLst/>
          </a:prstGeom>
          <a:ln w="19050">
            <a:solidFill>
              <a:schemeClr val="tx1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17" name="文字方塊 16">
            <a:extLst>
              <a:ext uri="{FF2B5EF4-FFF2-40B4-BE49-F238E27FC236}">
                <a16:creationId xmlns:a16="http://schemas.microsoft.com/office/drawing/2014/main" id="{07DBE63A-42BD-8531-2AE3-FBE67A0DD8F9}"/>
              </a:ext>
            </a:extLst>
          </p:cNvPr>
          <p:cNvSpPr txBox="1"/>
          <p:nvPr/>
        </p:nvSpPr>
        <p:spPr>
          <a:xfrm>
            <a:off x="8643134" y="5288270"/>
            <a:ext cx="846305" cy="46166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kumimoji="1" lang="en-US" altLang="zh-TW" sz="2400" dirty="0"/>
              <a:t>……</a:t>
            </a:r>
            <a:endParaRPr kumimoji="1" lang="zh-TW" altLang="en-US" sz="2400" dirty="0"/>
          </a:p>
        </p:txBody>
      </p:sp>
      <mc:AlternateContent xmlns:mc="http://schemas.openxmlformats.org/markup-compatibility/2006" xmlns:a14="http://schemas.microsoft.com/office/drawing/2010/main">
        <mc:Choice Requires="a14">
          <p:sp>
            <p:nvSpPr>
              <p:cNvPr id="18" name="圓角矩形 17">
                <a:extLst>
                  <a:ext uri="{FF2B5EF4-FFF2-40B4-BE49-F238E27FC236}">
                    <a16:creationId xmlns:a16="http://schemas.microsoft.com/office/drawing/2014/main" id="{CC40672F-B910-D24E-72DA-0F22F07E9DA9}"/>
                  </a:ext>
                </a:extLst>
              </p:cNvPr>
              <p:cNvSpPr/>
              <p:nvPr/>
            </p:nvSpPr>
            <p:spPr>
              <a:xfrm>
                <a:off x="9794143" y="2529790"/>
                <a:ext cx="555203" cy="465105"/>
              </a:xfrm>
              <a:prstGeom prst="roundRect">
                <a:avLst/>
              </a:prstGeom>
              <a:solidFill>
                <a:srgbClr val="C5E0B4"/>
              </a:solidFill>
              <a:ln w="19050">
                <a:solidFill>
                  <a:schemeClr val="tx1"/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sSub>
                        <m:sSubPr>
                          <m:ctrlPr>
                            <a:rPr kumimoji="1" lang="en-US" altLang="zh-TW" i="1" smtClean="0">
                              <a:solidFill>
                                <a:schemeClr val="tx1"/>
                              </a:solidFill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acc>
                            <m:accPr>
                              <m:chr m:val="̂"/>
                              <m:ctrlPr>
                                <a:rPr kumimoji="1" lang="en-US" altLang="zh-TW" i="1" smtClean="0">
                                  <a:solidFill>
                                    <a:schemeClr val="tx1"/>
                                  </a:solidFill>
                                  <a:latin typeface="Cambria Math" panose="02040503050406030204" pitchFamily="18" charset="0"/>
                                </a:rPr>
                              </m:ctrlPr>
                            </m:accPr>
                            <m:e>
                              <m:r>
                                <a:rPr kumimoji="1" lang="en-US" altLang="zh-TW" b="0" i="1" smtClean="0">
                                  <a:solidFill>
                                    <a:schemeClr val="tx1"/>
                                  </a:solidFill>
                                  <a:latin typeface="Cambria Math" panose="02040503050406030204" pitchFamily="18" charset="0"/>
                                </a:rPr>
                                <m:t>𝑦</m:t>
                              </m:r>
                            </m:e>
                          </m:acc>
                        </m:e>
                        <m:sub>
                          <m:r>
                            <a:rPr kumimoji="1" lang="en-US" altLang="zh-TW" b="0" i="1" smtClean="0">
                              <a:solidFill>
                                <a:schemeClr val="tx1"/>
                              </a:solidFill>
                              <a:latin typeface="Cambria Math" panose="02040503050406030204" pitchFamily="18" charset="0"/>
                            </a:rPr>
                            <m:t>𝑡</m:t>
                          </m:r>
                          <m:r>
                            <a:rPr kumimoji="1" lang="en-US" altLang="zh-TW" b="0" i="1" smtClean="0">
                              <a:solidFill>
                                <a:schemeClr val="tx1"/>
                              </a:solidFill>
                              <a:latin typeface="Cambria Math" panose="02040503050406030204" pitchFamily="18" charset="0"/>
                            </a:rPr>
                            <m:t>−1</m:t>
                          </m:r>
                        </m:sub>
                      </m:sSub>
                    </m:oMath>
                  </m:oMathPara>
                </a14:m>
                <a:endParaRPr kumimoji="1" lang="zh-TW" altLang="en-US" dirty="0">
                  <a:solidFill>
                    <a:schemeClr val="tx1"/>
                  </a:solidFill>
                </a:endParaRPr>
              </a:p>
            </p:txBody>
          </p:sp>
        </mc:Choice>
        <mc:Fallback xmlns="">
          <p:sp>
            <p:nvSpPr>
              <p:cNvPr id="18" name="圓角矩形 17">
                <a:extLst>
                  <a:ext uri="{FF2B5EF4-FFF2-40B4-BE49-F238E27FC236}">
                    <a16:creationId xmlns:a16="http://schemas.microsoft.com/office/drawing/2014/main" id="{CC40672F-B910-D24E-72DA-0F22F07E9DA9}"/>
                  </a:ext>
                </a:extLst>
              </p:cNvPr>
              <p:cNvSpPr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9794143" y="2529790"/>
                <a:ext cx="555203" cy="465105"/>
              </a:xfrm>
              <a:prstGeom prst="roundRect">
                <a:avLst/>
              </a:prstGeom>
              <a:blipFill>
                <a:blip r:embed="rId2"/>
                <a:stretch>
                  <a:fillRect l="-6383"/>
                </a:stretch>
              </a:blipFill>
              <a:ln w="19050">
                <a:solidFill>
                  <a:schemeClr val="tx1"/>
                </a:solidFill>
              </a:ln>
            </p:spPr>
            <p:txBody>
              <a:bodyPr/>
              <a:lstStyle/>
              <a:p>
                <a:r>
                  <a:rPr lang="zh-TW" altLang="en-US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 xmlns:a14="http://schemas.microsoft.com/office/drawing/2010/main">
        <mc:Choice Requires="a14">
          <p:sp>
            <p:nvSpPr>
              <p:cNvPr id="19" name="圓角矩形 18">
                <a:extLst>
                  <a:ext uri="{FF2B5EF4-FFF2-40B4-BE49-F238E27FC236}">
                    <a16:creationId xmlns:a16="http://schemas.microsoft.com/office/drawing/2014/main" id="{E1C6C418-46CC-12F4-672C-B6855778DDE5}"/>
                  </a:ext>
                </a:extLst>
              </p:cNvPr>
              <p:cNvSpPr/>
              <p:nvPr/>
            </p:nvSpPr>
            <p:spPr>
              <a:xfrm>
                <a:off x="10516557" y="2527725"/>
                <a:ext cx="555203" cy="465105"/>
              </a:xfrm>
              <a:prstGeom prst="roundRect">
                <a:avLst/>
              </a:prstGeom>
              <a:solidFill>
                <a:srgbClr val="C5E0B4"/>
              </a:solidFill>
              <a:ln w="19050">
                <a:solidFill>
                  <a:schemeClr val="tx1"/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sSub>
                        <m:sSubPr>
                          <m:ctrlPr>
                            <a:rPr kumimoji="1" lang="en-US" altLang="zh-TW" i="1" smtClean="0">
                              <a:solidFill>
                                <a:schemeClr val="tx1"/>
                              </a:solidFill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acc>
                            <m:accPr>
                              <m:chr m:val="̂"/>
                              <m:ctrlPr>
                                <a:rPr kumimoji="1" lang="en-US" altLang="zh-TW" i="1" smtClean="0">
                                  <a:solidFill>
                                    <a:schemeClr val="tx1"/>
                                  </a:solidFill>
                                  <a:latin typeface="Cambria Math" panose="02040503050406030204" pitchFamily="18" charset="0"/>
                                </a:rPr>
                              </m:ctrlPr>
                            </m:accPr>
                            <m:e>
                              <m:r>
                                <a:rPr kumimoji="1" lang="en-US" altLang="zh-TW" b="0" i="1" smtClean="0">
                                  <a:solidFill>
                                    <a:schemeClr val="tx1"/>
                                  </a:solidFill>
                                  <a:latin typeface="Cambria Math" panose="02040503050406030204" pitchFamily="18" charset="0"/>
                                </a:rPr>
                                <m:t>𝑦</m:t>
                              </m:r>
                            </m:e>
                          </m:acc>
                        </m:e>
                        <m:sub>
                          <m:r>
                            <a:rPr kumimoji="1" lang="en-US" altLang="zh-TW" b="0" i="1" smtClean="0">
                              <a:solidFill>
                                <a:schemeClr val="tx1"/>
                              </a:solidFill>
                              <a:latin typeface="Cambria Math" panose="02040503050406030204" pitchFamily="18" charset="0"/>
                            </a:rPr>
                            <m:t>𝑡</m:t>
                          </m:r>
                        </m:sub>
                      </m:sSub>
                    </m:oMath>
                  </m:oMathPara>
                </a14:m>
                <a:endParaRPr kumimoji="1" lang="zh-TW" altLang="en-US" dirty="0">
                  <a:solidFill>
                    <a:schemeClr val="tx1"/>
                  </a:solidFill>
                </a:endParaRPr>
              </a:p>
            </p:txBody>
          </p:sp>
        </mc:Choice>
        <mc:Fallback xmlns="">
          <p:sp>
            <p:nvSpPr>
              <p:cNvPr id="19" name="圓角矩形 18">
                <a:extLst>
                  <a:ext uri="{FF2B5EF4-FFF2-40B4-BE49-F238E27FC236}">
                    <a16:creationId xmlns:a16="http://schemas.microsoft.com/office/drawing/2014/main" id="{E1C6C418-46CC-12F4-672C-B6855778DDE5}"/>
                  </a:ext>
                </a:extLst>
              </p:cNvPr>
              <p:cNvSpPr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10516557" y="2527725"/>
                <a:ext cx="555203" cy="465105"/>
              </a:xfrm>
              <a:prstGeom prst="roundRect">
                <a:avLst/>
              </a:prstGeom>
              <a:blipFill>
                <a:blip r:embed="rId3"/>
                <a:stretch>
                  <a:fillRect/>
                </a:stretch>
              </a:blipFill>
              <a:ln w="19050">
                <a:solidFill>
                  <a:schemeClr val="tx1"/>
                </a:solidFill>
              </a:ln>
            </p:spPr>
            <p:txBody>
              <a:bodyPr/>
              <a:lstStyle/>
              <a:p>
                <a:r>
                  <a:rPr lang="zh-TW" altLang="en-US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 xmlns:a14="http://schemas.microsoft.com/office/drawing/2010/main">
        <mc:Choice Requires="a14">
          <p:sp>
            <p:nvSpPr>
              <p:cNvPr id="20" name="圓角矩形 19">
                <a:extLst>
                  <a:ext uri="{FF2B5EF4-FFF2-40B4-BE49-F238E27FC236}">
                    <a16:creationId xmlns:a16="http://schemas.microsoft.com/office/drawing/2014/main" id="{C0A43D43-98FF-A85D-04B6-07EBBD0002F4}"/>
                  </a:ext>
                </a:extLst>
              </p:cNvPr>
              <p:cNvSpPr/>
              <p:nvPr/>
            </p:nvSpPr>
            <p:spPr>
              <a:xfrm>
                <a:off x="6864175" y="2517133"/>
                <a:ext cx="555203" cy="465105"/>
              </a:xfrm>
              <a:prstGeom prst="roundRect">
                <a:avLst/>
              </a:prstGeom>
              <a:solidFill>
                <a:srgbClr val="C5E0B4"/>
              </a:solidFill>
              <a:ln w="19050">
                <a:solidFill>
                  <a:schemeClr val="tx1"/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sSub>
                        <m:sSubPr>
                          <m:ctrlPr>
                            <a:rPr kumimoji="1" lang="en-US" altLang="zh-TW" i="1" smtClean="0">
                              <a:solidFill>
                                <a:schemeClr val="tx1"/>
                              </a:solidFill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acc>
                            <m:accPr>
                              <m:chr m:val="̂"/>
                              <m:ctrlPr>
                                <a:rPr kumimoji="1" lang="en-US" altLang="zh-TW" i="1" smtClean="0">
                                  <a:solidFill>
                                    <a:schemeClr val="tx1"/>
                                  </a:solidFill>
                                  <a:latin typeface="Cambria Math" panose="02040503050406030204" pitchFamily="18" charset="0"/>
                                </a:rPr>
                              </m:ctrlPr>
                            </m:accPr>
                            <m:e>
                              <m:r>
                                <a:rPr kumimoji="1" lang="en-US" altLang="zh-TW" b="0" i="1" smtClean="0">
                                  <a:solidFill>
                                    <a:schemeClr val="tx1"/>
                                  </a:solidFill>
                                  <a:latin typeface="Cambria Math" panose="02040503050406030204" pitchFamily="18" charset="0"/>
                                </a:rPr>
                                <m:t>𝑦</m:t>
                              </m:r>
                            </m:e>
                          </m:acc>
                        </m:e>
                        <m:sub>
                          <m:r>
                            <a:rPr kumimoji="1" lang="en-US" altLang="zh-TW" b="0" i="1" smtClean="0">
                              <a:solidFill>
                                <a:schemeClr val="tx1"/>
                              </a:solidFill>
                              <a:latin typeface="Cambria Math" panose="02040503050406030204" pitchFamily="18" charset="0"/>
                            </a:rPr>
                            <m:t>1</m:t>
                          </m:r>
                        </m:sub>
                      </m:sSub>
                    </m:oMath>
                  </m:oMathPara>
                </a14:m>
                <a:endParaRPr kumimoji="1" lang="zh-TW" altLang="en-US" dirty="0">
                  <a:solidFill>
                    <a:schemeClr val="tx1"/>
                  </a:solidFill>
                </a:endParaRPr>
              </a:p>
            </p:txBody>
          </p:sp>
        </mc:Choice>
        <mc:Fallback xmlns="">
          <p:sp>
            <p:nvSpPr>
              <p:cNvPr id="20" name="圓角矩形 19">
                <a:extLst>
                  <a:ext uri="{FF2B5EF4-FFF2-40B4-BE49-F238E27FC236}">
                    <a16:creationId xmlns:a16="http://schemas.microsoft.com/office/drawing/2014/main" id="{C0A43D43-98FF-A85D-04B6-07EBBD0002F4}"/>
                  </a:ext>
                </a:extLst>
              </p:cNvPr>
              <p:cNvSpPr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6864175" y="2517133"/>
                <a:ext cx="555203" cy="465105"/>
              </a:xfrm>
              <a:prstGeom prst="roundRect">
                <a:avLst/>
              </a:prstGeom>
              <a:blipFill>
                <a:blip r:embed="rId4"/>
                <a:stretch>
                  <a:fillRect/>
                </a:stretch>
              </a:blipFill>
              <a:ln w="19050">
                <a:solidFill>
                  <a:schemeClr val="tx1"/>
                </a:solidFill>
              </a:ln>
            </p:spPr>
            <p:txBody>
              <a:bodyPr/>
              <a:lstStyle/>
              <a:p>
                <a:r>
                  <a:rPr lang="zh-TW" altLang="en-US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 xmlns:a14="http://schemas.microsoft.com/office/drawing/2010/main">
        <mc:Choice Requires="a14">
          <p:sp>
            <p:nvSpPr>
              <p:cNvPr id="21" name="圓角矩形 20">
                <a:extLst>
                  <a:ext uri="{FF2B5EF4-FFF2-40B4-BE49-F238E27FC236}">
                    <a16:creationId xmlns:a16="http://schemas.microsoft.com/office/drawing/2014/main" id="{98DFC2C4-6948-C430-C594-C839C38C8914}"/>
                  </a:ext>
                </a:extLst>
              </p:cNvPr>
              <p:cNvSpPr/>
              <p:nvPr/>
            </p:nvSpPr>
            <p:spPr>
              <a:xfrm>
                <a:off x="7593229" y="2526949"/>
                <a:ext cx="555203" cy="465105"/>
              </a:xfrm>
              <a:prstGeom prst="roundRect">
                <a:avLst/>
              </a:prstGeom>
              <a:solidFill>
                <a:srgbClr val="C5E0B4"/>
              </a:solidFill>
              <a:ln w="19050">
                <a:solidFill>
                  <a:schemeClr val="tx1"/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sSub>
                        <m:sSubPr>
                          <m:ctrlPr>
                            <a:rPr kumimoji="1" lang="en-US" altLang="zh-TW" i="1" smtClean="0">
                              <a:solidFill>
                                <a:schemeClr val="tx1"/>
                              </a:solidFill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acc>
                            <m:accPr>
                              <m:chr m:val="̂"/>
                              <m:ctrlPr>
                                <a:rPr kumimoji="1" lang="en-US" altLang="zh-TW" i="1" smtClean="0">
                                  <a:solidFill>
                                    <a:schemeClr val="tx1"/>
                                  </a:solidFill>
                                  <a:latin typeface="Cambria Math" panose="02040503050406030204" pitchFamily="18" charset="0"/>
                                </a:rPr>
                              </m:ctrlPr>
                            </m:accPr>
                            <m:e>
                              <m:r>
                                <a:rPr kumimoji="1" lang="en-US" altLang="zh-TW" b="0" i="1" smtClean="0">
                                  <a:solidFill>
                                    <a:schemeClr val="tx1"/>
                                  </a:solidFill>
                                  <a:latin typeface="Cambria Math" panose="02040503050406030204" pitchFamily="18" charset="0"/>
                                </a:rPr>
                                <m:t>𝑦</m:t>
                              </m:r>
                            </m:e>
                          </m:acc>
                        </m:e>
                        <m:sub>
                          <m:r>
                            <a:rPr kumimoji="1" lang="en-US" altLang="zh-TW" b="0" i="1" smtClean="0">
                              <a:solidFill>
                                <a:schemeClr val="tx1"/>
                              </a:solidFill>
                              <a:latin typeface="Cambria Math" panose="02040503050406030204" pitchFamily="18" charset="0"/>
                            </a:rPr>
                            <m:t>2</m:t>
                          </m:r>
                        </m:sub>
                      </m:sSub>
                    </m:oMath>
                  </m:oMathPara>
                </a14:m>
                <a:endParaRPr kumimoji="1" lang="zh-TW" altLang="en-US" dirty="0">
                  <a:solidFill>
                    <a:schemeClr val="tx1"/>
                  </a:solidFill>
                </a:endParaRPr>
              </a:p>
            </p:txBody>
          </p:sp>
        </mc:Choice>
        <mc:Fallback xmlns="">
          <p:sp>
            <p:nvSpPr>
              <p:cNvPr id="21" name="圓角矩形 20">
                <a:extLst>
                  <a:ext uri="{FF2B5EF4-FFF2-40B4-BE49-F238E27FC236}">
                    <a16:creationId xmlns:a16="http://schemas.microsoft.com/office/drawing/2014/main" id="{98DFC2C4-6948-C430-C594-C839C38C8914}"/>
                  </a:ext>
                </a:extLst>
              </p:cNvPr>
              <p:cNvSpPr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7593229" y="2526949"/>
                <a:ext cx="555203" cy="465105"/>
              </a:xfrm>
              <a:prstGeom prst="roundRect">
                <a:avLst/>
              </a:prstGeom>
              <a:blipFill>
                <a:blip r:embed="rId5"/>
                <a:stretch>
                  <a:fillRect/>
                </a:stretch>
              </a:blipFill>
              <a:ln w="19050">
                <a:solidFill>
                  <a:schemeClr val="tx1"/>
                </a:solidFill>
              </a:ln>
            </p:spPr>
            <p:txBody>
              <a:bodyPr/>
              <a:lstStyle/>
              <a:p>
                <a:r>
                  <a:rPr lang="zh-TW" altLang="en-US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 xmlns:a14="http://schemas.microsoft.com/office/drawing/2010/main">
        <mc:Choice Requires="a14">
          <p:sp>
            <p:nvSpPr>
              <p:cNvPr id="22" name="圓角矩形 21">
                <a:extLst>
                  <a:ext uri="{FF2B5EF4-FFF2-40B4-BE49-F238E27FC236}">
                    <a16:creationId xmlns:a16="http://schemas.microsoft.com/office/drawing/2014/main" id="{42A5367A-AD7E-8CDF-135E-95FD34743972}"/>
                  </a:ext>
                </a:extLst>
              </p:cNvPr>
              <p:cNvSpPr/>
              <p:nvPr/>
            </p:nvSpPr>
            <p:spPr>
              <a:xfrm>
                <a:off x="7583370" y="5397054"/>
                <a:ext cx="555203" cy="465105"/>
              </a:xfrm>
              <a:prstGeom prst="roundRect">
                <a:avLst/>
              </a:prstGeom>
              <a:solidFill>
                <a:srgbClr val="C5E0B4"/>
              </a:solidFill>
              <a:ln w="19050">
                <a:solidFill>
                  <a:schemeClr val="tx1"/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sSub>
                        <m:sSubPr>
                          <m:ctrlPr>
                            <a:rPr kumimoji="1" lang="en-US" altLang="zh-TW" i="1" smtClean="0">
                              <a:solidFill>
                                <a:schemeClr val="tx1"/>
                              </a:solidFill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acc>
                            <m:accPr>
                              <m:chr m:val="̂"/>
                              <m:ctrlPr>
                                <a:rPr kumimoji="1" lang="en-US" altLang="zh-TW" i="1" smtClean="0">
                                  <a:solidFill>
                                    <a:schemeClr val="tx1"/>
                                  </a:solidFill>
                                  <a:latin typeface="Cambria Math" panose="02040503050406030204" pitchFamily="18" charset="0"/>
                                </a:rPr>
                              </m:ctrlPr>
                            </m:accPr>
                            <m:e>
                              <m:r>
                                <a:rPr kumimoji="1" lang="en-US" altLang="zh-TW" b="0" i="1" smtClean="0">
                                  <a:solidFill>
                                    <a:schemeClr val="tx1"/>
                                  </a:solidFill>
                                  <a:latin typeface="Cambria Math" panose="02040503050406030204" pitchFamily="18" charset="0"/>
                                </a:rPr>
                                <m:t>𝑦</m:t>
                              </m:r>
                            </m:e>
                          </m:acc>
                        </m:e>
                        <m:sub>
                          <m:r>
                            <a:rPr kumimoji="1" lang="en-US" altLang="zh-TW" b="0" i="1" smtClean="0">
                              <a:solidFill>
                                <a:schemeClr val="tx1"/>
                              </a:solidFill>
                              <a:latin typeface="Cambria Math" panose="02040503050406030204" pitchFamily="18" charset="0"/>
                            </a:rPr>
                            <m:t>1</m:t>
                          </m:r>
                        </m:sub>
                      </m:sSub>
                    </m:oMath>
                  </m:oMathPara>
                </a14:m>
                <a:endParaRPr kumimoji="1" lang="zh-TW" altLang="en-US" dirty="0">
                  <a:solidFill>
                    <a:schemeClr val="tx1"/>
                  </a:solidFill>
                </a:endParaRPr>
              </a:p>
            </p:txBody>
          </p:sp>
        </mc:Choice>
        <mc:Fallback xmlns="">
          <p:sp>
            <p:nvSpPr>
              <p:cNvPr id="22" name="圓角矩形 21">
                <a:extLst>
                  <a:ext uri="{FF2B5EF4-FFF2-40B4-BE49-F238E27FC236}">
                    <a16:creationId xmlns:a16="http://schemas.microsoft.com/office/drawing/2014/main" id="{42A5367A-AD7E-8CDF-135E-95FD34743972}"/>
                  </a:ext>
                </a:extLst>
              </p:cNvPr>
              <p:cNvSpPr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7583370" y="5397054"/>
                <a:ext cx="555203" cy="465105"/>
              </a:xfrm>
              <a:prstGeom prst="roundRect">
                <a:avLst/>
              </a:prstGeom>
              <a:blipFill>
                <a:blip r:embed="rId6"/>
                <a:stretch>
                  <a:fillRect/>
                </a:stretch>
              </a:blipFill>
              <a:ln w="19050">
                <a:solidFill>
                  <a:schemeClr val="tx1"/>
                </a:solidFill>
              </a:ln>
            </p:spPr>
            <p:txBody>
              <a:bodyPr/>
              <a:lstStyle/>
              <a:p>
                <a:r>
                  <a:rPr lang="zh-TW" altLang="en-US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 xmlns:a14="http://schemas.microsoft.com/office/drawing/2010/main">
        <mc:Choice Requires="a14">
          <p:sp>
            <p:nvSpPr>
              <p:cNvPr id="23" name="圓角矩形 22">
                <a:extLst>
                  <a:ext uri="{FF2B5EF4-FFF2-40B4-BE49-F238E27FC236}">
                    <a16:creationId xmlns:a16="http://schemas.microsoft.com/office/drawing/2014/main" id="{122C1FB2-0AE1-FE9A-2ADD-E02D1F9F24AF}"/>
                  </a:ext>
                </a:extLst>
              </p:cNvPr>
              <p:cNvSpPr/>
              <p:nvPr/>
            </p:nvSpPr>
            <p:spPr>
              <a:xfrm>
                <a:off x="9786336" y="5397054"/>
                <a:ext cx="555203" cy="465105"/>
              </a:xfrm>
              <a:prstGeom prst="roundRect">
                <a:avLst/>
              </a:prstGeom>
              <a:solidFill>
                <a:srgbClr val="C5E0B4"/>
              </a:solidFill>
              <a:ln w="19050">
                <a:solidFill>
                  <a:schemeClr val="tx1"/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sSub>
                        <m:sSubPr>
                          <m:ctrlPr>
                            <a:rPr kumimoji="1" lang="en-US" altLang="zh-TW" i="1" smtClean="0">
                              <a:solidFill>
                                <a:schemeClr val="tx1"/>
                              </a:solidFill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acc>
                            <m:accPr>
                              <m:chr m:val="̂"/>
                              <m:ctrlPr>
                                <a:rPr kumimoji="1" lang="en-US" altLang="zh-TW" i="1" smtClean="0">
                                  <a:solidFill>
                                    <a:schemeClr val="tx1"/>
                                  </a:solidFill>
                                  <a:latin typeface="Cambria Math" panose="02040503050406030204" pitchFamily="18" charset="0"/>
                                </a:rPr>
                              </m:ctrlPr>
                            </m:accPr>
                            <m:e>
                              <m:r>
                                <a:rPr kumimoji="1" lang="en-US" altLang="zh-TW" b="0" i="1" smtClean="0">
                                  <a:solidFill>
                                    <a:schemeClr val="tx1"/>
                                  </a:solidFill>
                                  <a:latin typeface="Cambria Math" panose="02040503050406030204" pitchFamily="18" charset="0"/>
                                </a:rPr>
                                <m:t>𝑦</m:t>
                              </m:r>
                            </m:e>
                          </m:acc>
                        </m:e>
                        <m:sub>
                          <m:r>
                            <a:rPr kumimoji="1" lang="en-US" altLang="zh-TW" b="0" i="1" smtClean="0">
                              <a:solidFill>
                                <a:schemeClr val="tx1"/>
                              </a:solidFill>
                              <a:latin typeface="Cambria Math" panose="02040503050406030204" pitchFamily="18" charset="0"/>
                            </a:rPr>
                            <m:t>𝑡</m:t>
                          </m:r>
                          <m:r>
                            <a:rPr kumimoji="1" lang="en-US" altLang="zh-TW" b="0" i="1" smtClean="0">
                              <a:solidFill>
                                <a:schemeClr val="tx1"/>
                              </a:solidFill>
                              <a:latin typeface="Cambria Math" panose="02040503050406030204" pitchFamily="18" charset="0"/>
                            </a:rPr>
                            <m:t>−2</m:t>
                          </m:r>
                        </m:sub>
                      </m:sSub>
                    </m:oMath>
                  </m:oMathPara>
                </a14:m>
                <a:endParaRPr kumimoji="1" lang="zh-TW" altLang="en-US" dirty="0">
                  <a:solidFill>
                    <a:schemeClr val="tx1"/>
                  </a:solidFill>
                </a:endParaRPr>
              </a:p>
            </p:txBody>
          </p:sp>
        </mc:Choice>
        <mc:Fallback xmlns="">
          <p:sp>
            <p:nvSpPr>
              <p:cNvPr id="23" name="圓角矩形 22">
                <a:extLst>
                  <a:ext uri="{FF2B5EF4-FFF2-40B4-BE49-F238E27FC236}">
                    <a16:creationId xmlns:a16="http://schemas.microsoft.com/office/drawing/2014/main" id="{122C1FB2-0AE1-FE9A-2ADD-E02D1F9F24AF}"/>
                  </a:ext>
                </a:extLst>
              </p:cNvPr>
              <p:cNvSpPr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9786336" y="5397054"/>
                <a:ext cx="555203" cy="465105"/>
              </a:xfrm>
              <a:prstGeom prst="roundRect">
                <a:avLst/>
              </a:prstGeom>
              <a:blipFill>
                <a:blip r:embed="rId7"/>
                <a:stretch>
                  <a:fillRect l="-4255"/>
                </a:stretch>
              </a:blipFill>
              <a:ln w="19050">
                <a:solidFill>
                  <a:schemeClr val="tx1"/>
                </a:solidFill>
              </a:ln>
            </p:spPr>
            <p:txBody>
              <a:bodyPr/>
              <a:lstStyle/>
              <a:p>
                <a:r>
                  <a:rPr lang="zh-TW" altLang="en-US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 xmlns:a14="http://schemas.microsoft.com/office/drawing/2010/main">
        <mc:Choice Requires="a14">
          <p:sp>
            <p:nvSpPr>
              <p:cNvPr id="24" name="圓角矩形 23">
                <a:extLst>
                  <a:ext uri="{FF2B5EF4-FFF2-40B4-BE49-F238E27FC236}">
                    <a16:creationId xmlns:a16="http://schemas.microsoft.com/office/drawing/2014/main" id="{2CFB6DE4-298A-6478-84DC-2C4D458C4382}"/>
                  </a:ext>
                </a:extLst>
              </p:cNvPr>
              <p:cNvSpPr/>
              <p:nvPr/>
            </p:nvSpPr>
            <p:spPr>
              <a:xfrm>
                <a:off x="10508748" y="5397054"/>
                <a:ext cx="555203" cy="465105"/>
              </a:xfrm>
              <a:prstGeom prst="roundRect">
                <a:avLst/>
              </a:prstGeom>
              <a:solidFill>
                <a:srgbClr val="C5E0B4"/>
              </a:solidFill>
              <a:ln w="19050">
                <a:solidFill>
                  <a:schemeClr val="tx1"/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sSub>
                        <m:sSubPr>
                          <m:ctrlPr>
                            <a:rPr kumimoji="1" lang="en-US" altLang="zh-TW" i="1" smtClean="0">
                              <a:solidFill>
                                <a:schemeClr val="tx1"/>
                              </a:solidFill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acc>
                            <m:accPr>
                              <m:chr m:val="̂"/>
                              <m:ctrlPr>
                                <a:rPr kumimoji="1" lang="en-US" altLang="zh-TW" i="1" smtClean="0">
                                  <a:solidFill>
                                    <a:schemeClr val="tx1"/>
                                  </a:solidFill>
                                  <a:latin typeface="Cambria Math" panose="02040503050406030204" pitchFamily="18" charset="0"/>
                                </a:rPr>
                              </m:ctrlPr>
                            </m:accPr>
                            <m:e>
                              <m:r>
                                <a:rPr kumimoji="1" lang="en-US" altLang="zh-TW" b="0" i="1" smtClean="0">
                                  <a:solidFill>
                                    <a:schemeClr val="tx1"/>
                                  </a:solidFill>
                                  <a:latin typeface="Cambria Math" panose="02040503050406030204" pitchFamily="18" charset="0"/>
                                </a:rPr>
                                <m:t>𝑦</m:t>
                              </m:r>
                            </m:e>
                          </m:acc>
                        </m:e>
                        <m:sub>
                          <m:r>
                            <a:rPr kumimoji="1" lang="en-US" altLang="zh-TW" b="0" i="1" smtClean="0">
                              <a:solidFill>
                                <a:schemeClr val="tx1"/>
                              </a:solidFill>
                              <a:latin typeface="Cambria Math" panose="02040503050406030204" pitchFamily="18" charset="0"/>
                            </a:rPr>
                            <m:t>𝑡</m:t>
                          </m:r>
                          <m:r>
                            <a:rPr kumimoji="1" lang="en-US" altLang="zh-TW" b="0" i="1" smtClean="0">
                              <a:solidFill>
                                <a:schemeClr val="tx1"/>
                              </a:solidFill>
                              <a:latin typeface="Cambria Math" panose="02040503050406030204" pitchFamily="18" charset="0"/>
                            </a:rPr>
                            <m:t>−1</m:t>
                          </m:r>
                        </m:sub>
                      </m:sSub>
                    </m:oMath>
                  </m:oMathPara>
                </a14:m>
                <a:endParaRPr kumimoji="1" lang="zh-TW" altLang="en-US" dirty="0">
                  <a:solidFill>
                    <a:schemeClr val="tx1"/>
                  </a:solidFill>
                </a:endParaRPr>
              </a:p>
            </p:txBody>
          </p:sp>
        </mc:Choice>
        <mc:Fallback xmlns="">
          <p:sp>
            <p:nvSpPr>
              <p:cNvPr id="24" name="圓角矩形 23">
                <a:extLst>
                  <a:ext uri="{FF2B5EF4-FFF2-40B4-BE49-F238E27FC236}">
                    <a16:creationId xmlns:a16="http://schemas.microsoft.com/office/drawing/2014/main" id="{2CFB6DE4-298A-6478-84DC-2C4D458C4382}"/>
                  </a:ext>
                </a:extLst>
              </p:cNvPr>
              <p:cNvSpPr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10508748" y="5397054"/>
                <a:ext cx="555203" cy="465105"/>
              </a:xfrm>
              <a:prstGeom prst="roundRect">
                <a:avLst/>
              </a:prstGeom>
              <a:blipFill>
                <a:blip r:embed="rId8"/>
                <a:stretch>
                  <a:fillRect l="-8696"/>
                </a:stretch>
              </a:blipFill>
              <a:ln w="19050">
                <a:solidFill>
                  <a:schemeClr val="tx1"/>
                </a:solidFill>
              </a:ln>
            </p:spPr>
            <p:txBody>
              <a:bodyPr/>
              <a:lstStyle/>
              <a:p>
                <a:r>
                  <a:rPr lang="zh-TW" altLang="en-US">
                    <a:noFill/>
                  </a:rPr>
                  <a:t> </a:t>
                </a:r>
              </a:p>
            </p:txBody>
          </p:sp>
        </mc:Fallback>
      </mc:AlternateContent>
      <p:sp>
        <p:nvSpPr>
          <p:cNvPr id="29" name="文字方塊 28">
            <a:extLst>
              <a:ext uri="{FF2B5EF4-FFF2-40B4-BE49-F238E27FC236}">
                <a16:creationId xmlns:a16="http://schemas.microsoft.com/office/drawing/2014/main" id="{17DF5A0E-5598-F2D7-42EB-37949F9013C8}"/>
              </a:ext>
            </a:extLst>
          </p:cNvPr>
          <p:cNvSpPr txBox="1"/>
          <p:nvPr/>
        </p:nvSpPr>
        <p:spPr>
          <a:xfrm>
            <a:off x="8640752" y="2450264"/>
            <a:ext cx="846305" cy="46166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kumimoji="1" lang="en-US" altLang="zh-TW" sz="2400" dirty="0"/>
              <a:t>……</a:t>
            </a:r>
            <a:endParaRPr kumimoji="1" lang="zh-TW" altLang="en-US" sz="2400" dirty="0"/>
          </a:p>
        </p:txBody>
      </p:sp>
      <p:sp>
        <p:nvSpPr>
          <p:cNvPr id="30" name="文字方塊 29">
            <a:extLst>
              <a:ext uri="{FF2B5EF4-FFF2-40B4-BE49-F238E27FC236}">
                <a16:creationId xmlns:a16="http://schemas.microsoft.com/office/drawing/2014/main" id="{391C10AD-0D04-2B3F-B88B-1109E98C804F}"/>
              </a:ext>
            </a:extLst>
          </p:cNvPr>
          <p:cNvSpPr txBox="1"/>
          <p:nvPr/>
        </p:nvSpPr>
        <p:spPr>
          <a:xfrm>
            <a:off x="7716416" y="1835327"/>
            <a:ext cx="2632930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kumimoji="1" lang="zh-TW" altLang="en-US" b="1" dirty="0"/>
              <a:t>輸出是</a:t>
            </a:r>
            <a:r>
              <a:rPr kumimoji="1" lang="en-US" altLang="zh-TW" b="1" dirty="0"/>
              <a:t> sequence</a:t>
            </a:r>
            <a:r>
              <a:rPr kumimoji="1" lang="zh-TW" altLang="en-US" b="1" dirty="0"/>
              <a:t> </a:t>
            </a:r>
            <a:r>
              <a:rPr kumimoji="1" lang="en-US" altLang="zh-TW" b="1" dirty="0"/>
              <a:t>(</a:t>
            </a:r>
            <a:r>
              <a:rPr kumimoji="1" lang="zh-TW" altLang="en-US" b="1" dirty="0"/>
              <a:t>文字</a:t>
            </a:r>
            <a:r>
              <a:rPr kumimoji="1" lang="en-US" altLang="zh-TW" b="1" dirty="0"/>
              <a:t>)</a:t>
            </a:r>
            <a:endParaRPr kumimoji="1" lang="zh-TW" altLang="en-US" b="1" dirty="0"/>
          </a:p>
        </p:txBody>
      </p:sp>
      <p:sp>
        <p:nvSpPr>
          <p:cNvPr id="31" name="圓角矩形 30">
            <a:extLst>
              <a:ext uri="{FF2B5EF4-FFF2-40B4-BE49-F238E27FC236}">
                <a16:creationId xmlns:a16="http://schemas.microsoft.com/office/drawing/2014/main" id="{FE795842-E8E8-E357-93AF-80C6CBCBD5A4}"/>
              </a:ext>
            </a:extLst>
          </p:cNvPr>
          <p:cNvSpPr/>
          <p:nvPr/>
        </p:nvSpPr>
        <p:spPr>
          <a:xfrm>
            <a:off x="1443211" y="4100635"/>
            <a:ext cx="4433985" cy="991359"/>
          </a:xfrm>
          <a:prstGeom prst="roundRect">
            <a:avLst/>
          </a:prstGeom>
          <a:noFill/>
          <a:ln w="19050">
            <a:solidFill>
              <a:schemeClr val="tx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kumimoji="1" lang="en-US" altLang="zh-TW" sz="2400" dirty="0">
                <a:solidFill>
                  <a:schemeClr val="tx1"/>
                </a:solidFill>
              </a:rPr>
              <a:t>Encoder</a:t>
            </a:r>
            <a:endParaRPr kumimoji="1" lang="zh-TW" altLang="en-US" sz="1500" dirty="0">
              <a:solidFill>
                <a:schemeClr val="tx1"/>
              </a:solidFill>
            </a:endParaRPr>
          </a:p>
        </p:txBody>
      </p:sp>
      <p:sp>
        <p:nvSpPr>
          <p:cNvPr id="32" name="文字方塊 31">
            <a:extLst>
              <a:ext uri="{FF2B5EF4-FFF2-40B4-BE49-F238E27FC236}">
                <a16:creationId xmlns:a16="http://schemas.microsoft.com/office/drawing/2014/main" id="{48CD6FE4-CA94-843B-C904-8FB743CE2756}"/>
              </a:ext>
            </a:extLst>
          </p:cNvPr>
          <p:cNvSpPr txBox="1"/>
          <p:nvPr/>
        </p:nvSpPr>
        <p:spPr>
          <a:xfrm>
            <a:off x="1494740" y="5903024"/>
            <a:ext cx="589146" cy="276999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kumimoji="1" lang="en-US" altLang="zh-TW" sz="1200" dirty="0"/>
              <a:t>(Start)</a:t>
            </a:r>
            <a:endParaRPr kumimoji="1" lang="zh-TW" altLang="en-US" sz="1200" dirty="0"/>
          </a:p>
        </p:txBody>
      </p:sp>
      <p:cxnSp>
        <p:nvCxnSpPr>
          <p:cNvPr id="35" name="直線箭頭接點 34">
            <a:extLst>
              <a:ext uri="{FF2B5EF4-FFF2-40B4-BE49-F238E27FC236}">
                <a16:creationId xmlns:a16="http://schemas.microsoft.com/office/drawing/2014/main" id="{DDBAC394-6EE5-2FC2-0AFE-A713E61495B0}"/>
              </a:ext>
            </a:extLst>
          </p:cNvPr>
          <p:cNvCxnSpPr>
            <a:cxnSpLocks/>
          </p:cNvCxnSpPr>
          <p:nvPr/>
        </p:nvCxnSpPr>
        <p:spPr>
          <a:xfrm flipV="1">
            <a:off x="5456942" y="3787300"/>
            <a:ext cx="0" cy="242085"/>
          </a:xfrm>
          <a:prstGeom prst="straightConnector1">
            <a:avLst/>
          </a:prstGeom>
          <a:ln w="19050">
            <a:solidFill>
              <a:schemeClr val="tx1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36" name="直線箭頭接點 35">
            <a:extLst>
              <a:ext uri="{FF2B5EF4-FFF2-40B4-BE49-F238E27FC236}">
                <a16:creationId xmlns:a16="http://schemas.microsoft.com/office/drawing/2014/main" id="{B349A6FB-CF9B-DA91-CB56-8692C92F97F5}"/>
              </a:ext>
            </a:extLst>
          </p:cNvPr>
          <p:cNvCxnSpPr>
            <a:cxnSpLocks/>
          </p:cNvCxnSpPr>
          <p:nvPr/>
        </p:nvCxnSpPr>
        <p:spPr>
          <a:xfrm flipV="1">
            <a:off x="4734527" y="3787300"/>
            <a:ext cx="0" cy="242085"/>
          </a:xfrm>
          <a:prstGeom prst="straightConnector1">
            <a:avLst/>
          </a:prstGeom>
          <a:ln w="19050">
            <a:solidFill>
              <a:schemeClr val="tx1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37" name="圓角矩形 36">
            <a:extLst>
              <a:ext uri="{FF2B5EF4-FFF2-40B4-BE49-F238E27FC236}">
                <a16:creationId xmlns:a16="http://schemas.microsoft.com/office/drawing/2014/main" id="{39036F0C-DCCB-713A-C8B2-0BEBB6436E03}"/>
              </a:ext>
            </a:extLst>
          </p:cNvPr>
          <p:cNvSpPr/>
          <p:nvPr/>
        </p:nvSpPr>
        <p:spPr>
          <a:xfrm>
            <a:off x="1529648" y="5445051"/>
            <a:ext cx="555205" cy="465107"/>
          </a:xfrm>
          <a:prstGeom prst="roundRect">
            <a:avLst/>
          </a:prstGeom>
          <a:solidFill>
            <a:schemeClr val="accent5">
              <a:lumMod val="40000"/>
              <a:lumOff val="60000"/>
            </a:schemeClr>
          </a:solidFill>
          <a:ln w="19050">
            <a:solidFill>
              <a:schemeClr val="tx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kumimoji="1" lang="en-US" altLang="zh-TW" dirty="0">
                <a:solidFill>
                  <a:schemeClr val="tx1"/>
                </a:solidFill>
              </a:rPr>
              <a:t>_</a:t>
            </a:r>
            <a:endParaRPr kumimoji="1" lang="zh-TW" altLang="en-US" dirty="0">
              <a:solidFill>
                <a:schemeClr val="tx1"/>
              </a:solidFill>
            </a:endParaRPr>
          </a:p>
        </p:txBody>
      </p:sp>
      <p:cxnSp>
        <p:nvCxnSpPr>
          <p:cNvPr id="38" name="直線箭頭接點 37">
            <a:extLst>
              <a:ext uri="{FF2B5EF4-FFF2-40B4-BE49-F238E27FC236}">
                <a16:creationId xmlns:a16="http://schemas.microsoft.com/office/drawing/2014/main" id="{D6255ADE-8DF4-9330-0FFD-EC385724AA4E}"/>
              </a:ext>
            </a:extLst>
          </p:cNvPr>
          <p:cNvCxnSpPr>
            <a:cxnSpLocks/>
          </p:cNvCxnSpPr>
          <p:nvPr/>
        </p:nvCxnSpPr>
        <p:spPr>
          <a:xfrm flipV="1">
            <a:off x="1807252" y="5143486"/>
            <a:ext cx="0" cy="242085"/>
          </a:xfrm>
          <a:prstGeom prst="straightConnector1">
            <a:avLst/>
          </a:prstGeom>
          <a:ln w="19050">
            <a:solidFill>
              <a:schemeClr val="tx1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39" name="直線箭頭接點 38">
            <a:extLst>
              <a:ext uri="{FF2B5EF4-FFF2-40B4-BE49-F238E27FC236}">
                <a16:creationId xmlns:a16="http://schemas.microsoft.com/office/drawing/2014/main" id="{A551582A-C5A2-5592-1221-7E161A40C794}"/>
              </a:ext>
            </a:extLst>
          </p:cNvPr>
          <p:cNvCxnSpPr>
            <a:cxnSpLocks/>
          </p:cNvCxnSpPr>
          <p:nvPr/>
        </p:nvCxnSpPr>
        <p:spPr>
          <a:xfrm flipV="1">
            <a:off x="2529666" y="5143486"/>
            <a:ext cx="0" cy="242085"/>
          </a:xfrm>
          <a:prstGeom prst="straightConnector1">
            <a:avLst/>
          </a:prstGeom>
          <a:ln w="19050">
            <a:solidFill>
              <a:schemeClr val="tx1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40" name="直線箭頭接點 39">
            <a:extLst>
              <a:ext uri="{FF2B5EF4-FFF2-40B4-BE49-F238E27FC236}">
                <a16:creationId xmlns:a16="http://schemas.microsoft.com/office/drawing/2014/main" id="{439D5CC1-5EA9-6E67-7ED0-8CF169A9CD0E}"/>
              </a:ext>
            </a:extLst>
          </p:cNvPr>
          <p:cNvCxnSpPr>
            <a:cxnSpLocks/>
          </p:cNvCxnSpPr>
          <p:nvPr/>
        </p:nvCxnSpPr>
        <p:spPr>
          <a:xfrm flipV="1">
            <a:off x="4734526" y="5139991"/>
            <a:ext cx="0" cy="242085"/>
          </a:xfrm>
          <a:prstGeom prst="straightConnector1">
            <a:avLst/>
          </a:prstGeom>
          <a:ln w="19050">
            <a:solidFill>
              <a:schemeClr val="tx1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41" name="直線箭頭接點 40">
            <a:extLst>
              <a:ext uri="{FF2B5EF4-FFF2-40B4-BE49-F238E27FC236}">
                <a16:creationId xmlns:a16="http://schemas.microsoft.com/office/drawing/2014/main" id="{0BE18513-56CA-7723-A853-A59FE538F500}"/>
              </a:ext>
            </a:extLst>
          </p:cNvPr>
          <p:cNvCxnSpPr>
            <a:cxnSpLocks/>
          </p:cNvCxnSpPr>
          <p:nvPr/>
        </p:nvCxnSpPr>
        <p:spPr>
          <a:xfrm flipV="1">
            <a:off x="5456940" y="5139991"/>
            <a:ext cx="0" cy="242085"/>
          </a:xfrm>
          <a:prstGeom prst="straightConnector1">
            <a:avLst/>
          </a:prstGeom>
          <a:ln w="19050">
            <a:solidFill>
              <a:schemeClr val="tx1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42" name="文字方塊 41">
            <a:extLst>
              <a:ext uri="{FF2B5EF4-FFF2-40B4-BE49-F238E27FC236}">
                <a16:creationId xmlns:a16="http://schemas.microsoft.com/office/drawing/2014/main" id="{AA108D4A-2D70-D2F4-BA03-472F6B0C8135}"/>
              </a:ext>
            </a:extLst>
          </p:cNvPr>
          <p:cNvSpPr txBox="1"/>
          <p:nvPr/>
        </p:nvSpPr>
        <p:spPr>
          <a:xfrm>
            <a:off x="3308607" y="5336267"/>
            <a:ext cx="846305" cy="46166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kumimoji="1" lang="en-US" altLang="zh-TW" sz="2400" dirty="0"/>
              <a:t>……</a:t>
            </a:r>
            <a:endParaRPr kumimoji="1" lang="zh-TW" altLang="en-US" sz="2400" dirty="0"/>
          </a:p>
        </p:txBody>
      </p:sp>
      <mc:AlternateContent xmlns:mc="http://schemas.openxmlformats.org/markup-compatibility/2006" xmlns:a14="http://schemas.microsoft.com/office/drawing/2010/main">
        <mc:Choice Requires="a14">
          <p:sp>
            <p:nvSpPr>
              <p:cNvPr id="44" name="圓角矩形 43">
                <a:extLst>
                  <a:ext uri="{FF2B5EF4-FFF2-40B4-BE49-F238E27FC236}">
                    <a16:creationId xmlns:a16="http://schemas.microsoft.com/office/drawing/2014/main" id="{6E92D372-707B-990C-5677-ABFB0EDD2AC2}"/>
                  </a:ext>
                </a:extLst>
              </p:cNvPr>
              <p:cNvSpPr/>
              <p:nvPr/>
            </p:nvSpPr>
            <p:spPr>
              <a:xfrm>
                <a:off x="5182030" y="3273307"/>
                <a:ext cx="555203" cy="465105"/>
              </a:xfrm>
              <a:prstGeom prst="roundRect">
                <a:avLst/>
              </a:prstGeom>
              <a:solidFill>
                <a:schemeClr val="accent5">
                  <a:lumMod val="40000"/>
                  <a:lumOff val="60000"/>
                </a:schemeClr>
              </a:solidFill>
              <a:ln w="19050">
                <a:solidFill>
                  <a:schemeClr val="tx1"/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r>
                        <a:rPr kumimoji="1" lang="en-US" altLang="zh-TW" i="1" smtClean="0">
                          <a:solidFill>
                            <a:schemeClr val="tx1"/>
                          </a:solidFill>
                          <a:latin typeface="Cambria Math" panose="02040503050406030204" pitchFamily="18" charset="0"/>
                        </a:rPr>
                        <m:t>𝐶</m:t>
                      </m:r>
                    </m:oMath>
                  </m:oMathPara>
                </a14:m>
                <a:endParaRPr kumimoji="1" lang="zh-TW" altLang="en-US" dirty="0">
                  <a:solidFill>
                    <a:schemeClr val="tx1"/>
                  </a:solidFill>
                </a:endParaRPr>
              </a:p>
            </p:txBody>
          </p:sp>
        </mc:Choice>
        <mc:Fallback xmlns="">
          <p:sp>
            <p:nvSpPr>
              <p:cNvPr id="44" name="圓角矩形 43">
                <a:extLst>
                  <a:ext uri="{FF2B5EF4-FFF2-40B4-BE49-F238E27FC236}">
                    <a16:creationId xmlns:a16="http://schemas.microsoft.com/office/drawing/2014/main" id="{6E92D372-707B-990C-5677-ABFB0EDD2AC2}"/>
                  </a:ext>
                </a:extLst>
              </p:cNvPr>
              <p:cNvSpPr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5182030" y="3273307"/>
                <a:ext cx="555203" cy="465105"/>
              </a:xfrm>
              <a:prstGeom prst="roundRect">
                <a:avLst/>
              </a:prstGeom>
              <a:blipFill>
                <a:blip r:embed="rId9"/>
                <a:stretch>
                  <a:fillRect/>
                </a:stretch>
              </a:blipFill>
              <a:ln w="19050">
                <a:solidFill>
                  <a:schemeClr val="tx1"/>
                </a:solidFill>
              </a:ln>
            </p:spPr>
            <p:txBody>
              <a:bodyPr/>
              <a:lstStyle/>
              <a:p>
                <a:r>
                  <a:rPr lang="zh-TW" altLang="en-US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 xmlns:a14="http://schemas.microsoft.com/office/drawing/2010/main">
        <mc:Choice Requires="a14">
          <p:sp>
            <p:nvSpPr>
              <p:cNvPr id="47" name="圓角矩形 46">
                <a:extLst>
                  <a:ext uri="{FF2B5EF4-FFF2-40B4-BE49-F238E27FC236}">
                    <a16:creationId xmlns:a16="http://schemas.microsoft.com/office/drawing/2014/main" id="{208F923A-C07F-9336-2A8D-148DF86F32EF}"/>
                  </a:ext>
                </a:extLst>
              </p:cNvPr>
              <p:cNvSpPr/>
              <p:nvPr/>
            </p:nvSpPr>
            <p:spPr>
              <a:xfrm>
                <a:off x="2248843" y="5445051"/>
                <a:ext cx="555203" cy="465105"/>
              </a:xfrm>
              <a:prstGeom prst="roundRect">
                <a:avLst/>
              </a:prstGeom>
              <a:solidFill>
                <a:schemeClr val="accent5">
                  <a:lumMod val="40000"/>
                  <a:lumOff val="60000"/>
                </a:schemeClr>
              </a:solidFill>
              <a:ln w="19050">
                <a:solidFill>
                  <a:schemeClr val="tx1"/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r>
                        <a:rPr kumimoji="1" lang="en-US" altLang="zh-TW" i="1" smtClean="0">
                          <a:solidFill>
                            <a:schemeClr val="tx1"/>
                          </a:solidFill>
                          <a:latin typeface="Cambria Math" panose="02040503050406030204" pitchFamily="18" charset="0"/>
                        </a:rPr>
                        <m:t>𝑥</m:t>
                      </m:r>
                      <m:r>
                        <a:rPr kumimoji="1" lang="en-US" altLang="zh-TW" b="0" i="1" baseline="-25000" smtClean="0">
                          <a:solidFill>
                            <a:schemeClr val="tx1"/>
                          </a:solidFill>
                          <a:latin typeface="Cambria Math" panose="02040503050406030204" pitchFamily="18" charset="0"/>
                        </a:rPr>
                        <m:t>1</m:t>
                      </m:r>
                    </m:oMath>
                  </m:oMathPara>
                </a14:m>
                <a:endParaRPr kumimoji="1" lang="zh-TW" altLang="en-US" baseline="-25000" dirty="0">
                  <a:solidFill>
                    <a:schemeClr val="tx1"/>
                  </a:solidFill>
                </a:endParaRPr>
              </a:p>
            </p:txBody>
          </p:sp>
        </mc:Choice>
        <mc:Fallback xmlns="">
          <p:sp>
            <p:nvSpPr>
              <p:cNvPr id="47" name="圓角矩形 46">
                <a:extLst>
                  <a:ext uri="{FF2B5EF4-FFF2-40B4-BE49-F238E27FC236}">
                    <a16:creationId xmlns:a16="http://schemas.microsoft.com/office/drawing/2014/main" id="{208F923A-C07F-9336-2A8D-148DF86F32EF}"/>
                  </a:ext>
                </a:extLst>
              </p:cNvPr>
              <p:cNvSpPr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2248843" y="5445051"/>
                <a:ext cx="555203" cy="465105"/>
              </a:xfrm>
              <a:prstGeom prst="roundRect">
                <a:avLst/>
              </a:prstGeom>
              <a:blipFill>
                <a:blip r:embed="rId10"/>
                <a:stretch>
                  <a:fillRect/>
                </a:stretch>
              </a:blipFill>
              <a:ln w="19050">
                <a:solidFill>
                  <a:schemeClr val="tx1"/>
                </a:solidFill>
              </a:ln>
            </p:spPr>
            <p:txBody>
              <a:bodyPr/>
              <a:lstStyle/>
              <a:p>
                <a:r>
                  <a:rPr lang="zh-TW" altLang="en-US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 xmlns:a14="http://schemas.microsoft.com/office/drawing/2010/main">
        <mc:Choice Requires="a14">
          <p:sp>
            <p:nvSpPr>
              <p:cNvPr id="48" name="圓角矩形 47">
                <a:extLst>
                  <a:ext uri="{FF2B5EF4-FFF2-40B4-BE49-F238E27FC236}">
                    <a16:creationId xmlns:a16="http://schemas.microsoft.com/office/drawing/2014/main" id="{3AAFEB0B-670C-44F4-929F-FF77BFF36766}"/>
                  </a:ext>
                </a:extLst>
              </p:cNvPr>
              <p:cNvSpPr/>
              <p:nvPr/>
            </p:nvSpPr>
            <p:spPr>
              <a:xfrm>
                <a:off x="4451809" y="5445051"/>
                <a:ext cx="555203" cy="465105"/>
              </a:xfrm>
              <a:prstGeom prst="roundRect">
                <a:avLst/>
              </a:prstGeom>
              <a:solidFill>
                <a:schemeClr val="accent5">
                  <a:lumMod val="40000"/>
                  <a:lumOff val="60000"/>
                </a:schemeClr>
              </a:solidFill>
              <a:ln w="19050">
                <a:solidFill>
                  <a:schemeClr val="tx1"/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sSub>
                        <m:sSubPr>
                          <m:ctrlPr>
                            <a:rPr kumimoji="1" lang="en-US" altLang="zh-TW" i="1" smtClean="0">
                              <a:solidFill>
                                <a:schemeClr val="tx1"/>
                              </a:solidFill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a:rPr kumimoji="1" lang="en-US" altLang="zh-TW" i="1">
                              <a:solidFill>
                                <a:schemeClr val="tx1"/>
                              </a:solidFill>
                              <a:latin typeface="Cambria Math" panose="02040503050406030204" pitchFamily="18" charset="0"/>
                            </a:rPr>
                            <m:t>𝑥</m:t>
                          </m:r>
                        </m:e>
                        <m:sub>
                          <m:r>
                            <a:rPr kumimoji="1" lang="en-US" altLang="zh-TW" b="0" i="1" smtClean="0">
                              <a:solidFill>
                                <a:schemeClr val="tx1"/>
                              </a:solidFill>
                              <a:latin typeface="Cambria Math" panose="02040503050406030204" pitchFamily="18" charset="0"/>
                            </a:rPr>
                            <m:t>𝑛</m:t>
                          </m:r>
                          <m:r>
                            <a:rPr kumimoji="1" lang="en-US" altLang="zh-TW" b="0" i="1" smtClean="0">
                              <a:solidFill>
                                <a:schemeClr val="tx1"/>
                              </a:solidFill>
                              <a:latin typeface="Cambria Math" panose="02040503050406030204" pitchFamily="18" charset="0"/>
                            </a:rPr>
                            <m:t>−2</m:t>
                          </m:r>
                        </m:sub>
                      </m:sSub>
                    </m:oMath>
                  </m:oMathPara>
                </a14:m>
                <a:endParaRPr kumimoji="1" lang="zh-TW" altLang="en-US" dirty="0">
                  <a:solidFill>
                    <a:schemeClr val="tx1"/>
                  </a:solidFill>
                </a:endParaRPr>
              </a:p>
            </p:txBody>
          </p:sp>
        </mc:Choice>
        <mc:Fallback xmlns="">
          <p:sp>
            <p:nvSpPr>
              <p:cNvPr id="48" name="圓角矩形 47">
                <a:extLst>
                  <a:ext uri="{FF2B5EF4-FFF2-40B4-BE49-F238E27FC236}">
                    <a16:creationId xmlns:a16="http://schemas.microsoft.com/office/drawing/2014/main" id="{3AAFEB0B-670C-44F4-929F-FF77BFF36766}"/>
                  </a:ext>
                </a:extLst>
              </p:cNvPr>
              <p:cNvSpPr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4451809" y="5445051"/>
                <a:ext cx="555203" cy="465105"/>
              </a:xfrm>
              <a:prstGeom prst="roundRect">
                <a:avLst/>
              </a:prstGeom>
              <a:blipFill>
                <a:blip r:embed="rId11"/>
                <a:stretch>
                  <a:fillRect l="-4255"/>
                </a:stretch>
              </a:blipFill>
              <a:ln w="19050">
                <a:solidFill>
                  <a:schemeClr val="tx1"/>
                </a:solidFill>
              </a:ln>
            </p:spPr>
            <p:txBody>
              <a:bodyPr/>
              <a:lstStyle/>
              <a:p>
                <a:r>
                  <a:rPr lang="zh-TW" altLang="en-US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 xmlns:a14="http://schemas.microsoft.com/office/drawing/2010/main">
        <mc:Choice Requires="a14">
          <p:sp>
            <p:nvSpPr>
              <p:cNvPr id="49" name="圓角矩形 48">
                <a:extLst>
                  <a:ext uri="{FF2B5EF4-FFF2-40B4-BE49-F238E27FC236}">
                    <a16:creationId xmlns:a16="http://schemas.microsoft.com/office/drawing/2014/main" id="{59EE0DFB-89F9-3CC1-5DC1-D108E8C73741}"/>
                  </a:ext>
                </a:extLst>
              </p:cNvPr>
              <p:cNvSpPr/>
              <p:nvPr/>
            </p:nvSpPr>
            <p:spPr>
              <a:xfrm>
                <a:off x="5174221" y="5445051"/>
                <a:ext cx="555203" cy="465105"/>
              </a:xfrm>
              <a:prstGeom prst="roundRect">
                <a:avLst/>
              </a:prstGeom>
              <a:solidFill>
                <a:schemeClr val="accent5">
                  <a:lumMod val="40000"/>
                  <a:lumOff val="60000"/>
                </a:schemeClr>
              </a:solidFill>
              <a:ln w="19050">
                <a:solidFill>
                  <a:schemeClr val="tx1"/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sSub>
                        <m:sSubPr>
                          <m:ctrlPr>
                            <a:rPr kumimoji="1" lang="en-US" altLang="zh-TW" i="1" smtClean="0">
                              <a:solidFill>
                                <a:schemeClr val="tx1"/>
                              </a:solidFill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a:rPr kumimoji="1" lang="en-US" altLang="zh-TW" i="1">
                              <a:solidFill>
                                <a:schemeClr val="tx1"/>
                              </a:solidFill>
                              <a:latin typeface="Cambria Math" panose="02040503050406030204" pitchFamily="18" charset="0"/>
                            </a:rPr>
                            <m:t>𝑥</m:t>
                          </m:r>
                        </m:e>
                        <m:sub>
                          <m:r>
                            <a:rPr kumimoji="1" lang="en-US" altLang="zh-TW" b="0" i="1" smtClean="0">
                              <a:solidFill>
                                <a:schemeClr val="tx1"/>
                              </a:solidFill>
                              <a:latin typeface="Cambria Math" panose="02040503050406030204" pitchFamily="18" charset="0"/>
                            </a:rPr>
                            <m:t>𝑛</m:t>
                          </m:r>
                          <m:r>
                            <a:rPr kumimoji="1" lang="en-US" altLang="zh-TW" i="1">
                              <a:solidFill>
                                <a:schemeClr val="tx1"/>
                              </a:solidFill>
                              <a:latin typeface="Cambria Math" panose="02040503050406030204" pitchFamily="18" charset="0"/>
                            </a:rPr>
                            <m:t>−</m:t>
                          </m:r>
                          <m:r>
                            <a:rPr kumimoji="1" lang="en-US" altLang="zh-TW" b="0" i="1" smtClean="0">
                              <a:solidFill>
                                <a:schemeClr val="tx1"/>
                              </a:solidFill>
                              <a:latin typeface="Cambria Math" panose="02040503050406030204" pitchFamily="18" charset="0"/>
                            </a:rPr>
                            <m:t>1</m:t>
                          </m:r>
                        </m:sub>
                      </m:sSub>
                    </m:oMath>
                  </m:oMathPara>
                </a14:m>
                <a:endParaRPr kumimoji="1" lang="zh-TW" altLang="en-US" dirty="0">
                  <a:solidFill>
                    <a:schemeClr val="tx1"/>
                  </a:solidFill>
                </a:endParaRPr>
              </a:p>
            </p:txBody>
          </p:sp>
        </mc:Choice>
        <mc:Fallback xmlns="">
          <p:sp>
            <p:nvSpPr>
              <p:cNvPr id="49" name="圓角矩形 48">
                <a:extLst>
                  <a:ext uri="{FF2B5EF4-FFF2-40B4-BE49-F238E27FC236}">
                    <a16:creationId xmlns:a16="http://schemas.microsoft.com/office/drawing/2014/main" id="{59EE0DFB-89F9-3CC1-5DC1-D108E8C73741}"/>
                  </a:ext>
                </a:extLst>
              </p:cNvPr>
              <p:cNvSpPr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5174221" y="5445051"/>
                <a:ext cx="555203" cy="465105"/>
              </a:xfrm>
              <a:prstGeom prst="roundRect">
                <a:avLst/>
              </a:prstGeom>
              <a:blipFill>
                <a:blip r:embed="rId12"/>
                <a:stretch>
                  <a:fillRect l="-6522"/>
                </a:stretch>
              </a:blipFill>
              <a:ln w="19050">
                <a:solidFill>
                  <a:schemeClr val="tx1"/>
                </a:solidFill>
              </a:ln>
            </p:spPr>
            <p:txBody>
              <a:bodyPr/>
              <a:lstStyle/>
              <a:p>
                <a:r>
                  <a:rPr lang="zh-TW" altLang="en-US">
                    <a:noFill/>
                  </a:rPr>
                  <a:t> </a:t>
                </a:r>
              </a:p>
            </p:txBody>
          </p:sp>
        </mc:Fallback>
      </mc:AlternateContent>
      <p:sp>
        <p:nvSpPr>
          <p:cNvPr id="50" name="文字方塊 49">
            <a:extLst>
              <a:ext uri="{FF2B5EF4-FFF2-40B4-BE49-F238E27FC236}">
                <a16:creationId xmlns:a16="http://schemas.microsoft.com/office/drawing/2014/main" id="{4782AF22-6890-C7C6-11B4-E49023BCC087}"/>
              </a:ext>
            </a:extLst>
          </p:cNvPr>
          <p:cNvSpPr txBox="1"/>
          <p:nvPr/>
        </p:nvSpPr>
        <p:spPr>
          <a:xfrm>
            <a:off x="3306225" y="3195846"/>
            <a:ext cx="846305" cy="46166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kumimoji="1" lang="en-US" altLang="zh-TW" sz="2400" dirty="0"/>
              <a:t>……</a:t>
            </a:r>
            <a:endParaRPr kumimoji="1" lang="zh-TW" altLang="en-US" sz="2400" dirty="0"/>
          </a:p>
        </p:txBody>
      </p:sp>
      <p:sp>
        <p:nvSpPr>
          <p:cNvPr id="51" name="文字方塊 50">
            <a:extLst>
              <a:ext uri="{FF2B5EF4-FFF2-40B4-BE49-F238E27FC236}">
                <a16:creationId xmlns:a16="http://schemas.microsoft.com/office/drawing/2014/main" id="{A85894FF-15D2-4990-41DC-3797CEBC41B5}"/>
              </a:ext>
            </a:extLst>
          </p:cNvPr>
          <p:cNvSpPr txBox="1"/>
          <p:nvPr/>
        </p:nvSpPr>
        <p:spPr>
          <a:xfrm>
            <a:off x="2778842" y="6129446"/>
            <a:ext cx="1656223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kumimoji="1" lang="en-US" altLang="zh-TW" b="1" dirty="0"/>
              <a:t>Input sequence</a:t>
            </a:r>
            <a:endParaRPr kumimoji="1" lang="zh-TW" altLang="en-US" b="1" dirty="0"/>
          </a:p>
        </p:txBody>
      </p:sp>
      <p:cxnSp>
        <p:nvCxnSpPr>
          <p:cNvPr id="52" name="直線箭頭接點 51">
            <a:extLst>
              <a:ext uri="{FF2B5EF4-FFF2-40B4-BE49-F238E27FC236}">
                <a16:creationId xmlns:a16="http://schemas.microsoft.com/office/drawing/2014/main" id="{C9EE1A76-88B2-97B8-52E6-5D10FC82A873}"/>
              </a:ext>
            </a:extLst>
          </p:cNvPr>
          <p:cNvCxnSpPr>
            <a:cxnSpLocks/>
          </p:cNvCxnSpPr>
          <p:nvPr/>
        </p:nvCxnSpPr>
        <p:spPr>
          <a:xfrm flipV="1">
            <a:off x="2526444" y="3804040"/>
            <a:ext cx="0" cy="242085"/>
          </a:xfrm>
          <a:prstGeom prst="straightConnector1">
            <a:avLst/>
          </a:prstGeom>
          <a:ln w="19050">
            <a:solidFill>
              <a:schemeClr val="tx1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53" name="直線箭頭接點 52">
            <a:extLst>
              <a:ext uri="{FF2B5EF4-FFF2-40B4-BE49-F238E27FC236}">
                <a16:creationId xmlns:a16="http://schemas.microsoft.com/office/drawing/2014/main" id="{72CEF067-EC75-D88C-AA69-CCB9C35A8DBF}"/>
              </a:ext>
            </a:extLst>
          </p:cNvPr>
          <p:cNvCxnSpPr>
            <a:cxnSpLocks/>
          </p:cNvCxnSpPr>
          <p:nvPr/>
        </p:nvCxnSpPr>
        <p:spPr>
          <a:xfrm flipV="1">
            <a:off x="1828042" y="3804040"/>
            <a:ext cx="0" cy="242085"/>
          </a:xfrm>
          <a:prstGeom prst="straightConnector1">
            <a:avLst/>
          </a:prstGeom>
          <a:ln w="19050">
            <a:solidFill>
              <a:schemeClr val="tx1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54" name="圓角矩形 53">
            <a:extLst>
              <a:ext uri="{FF2B5EF4-FFF2-40B4-BE49-F238E27FC236}">
                <a16:creationId xmlns:a16="http://schemas.microsoft.com/office/drawing/2014/main" id="{1E3ABA0E-0F56-BA7F-4F49-6550375C6564}"/>
              </a:ext>
            </a:extLst>
          </p:cNvPr>
          <p:cNvSpPr/>
          <p:nvPr/>
        </p:nvSpPr>
        <p:spPr>
          <a:xfrm>
            <a:off x="6860958" y="5397054"/>
            <a:ext cx="555203" cy="465105"/>
          </a:xfrm>
          <a:prstGeom prst="roundRect">
            <a:avLst/>
          </a:prstGeom>
          <a:solidFill>
            <a:schemeClr val="accent6">
              <a:lumMod val="40000"/>
              <a:lumOff val="60000"/>
            </a:schemeClr>
          </a:solidFill>
          <a:ln w="19050">
            <a:solidFill>
              <a:schemeClr val="tx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kumimoji="1" lang="en-US" altLang="zh-TW" dirty="0">
                <a:solidFill>
                  <a:schemeClr val="tx1"/>
                </a:solidFill>
              </a:rPr>
              <a:t>_</a:t>
            </a:r>
            <a:endParaRPr kumimoji="1" lang="zh-TW" altLang="en-US" dirty="0">
              <a:solidFill>
                <a:schemeClr val="tx1"/>
              </a:solidFill>
            </a:endParaRPr>
          </a:p>
        </p:txBody>
      </p:sp>
      <p:sp>
        <p:nvSpPr>
          <p:cNvPr id="57" name="圓角矩形 56">
            <a:extLst>
              <a:ext uri="{FF2B5EF4-FFF2-40B4-BE49-F238E27FC236}">
                <a16:creationId xmlns:a16="http://schemas.microsoft.com/office/drawing/2014/main" id="{D02ED2D0-D980-8C22-C056-B89AFB0087E6}"/>
              </a:ext>
            </a:extLst>
          </p:cNvPr>
          <p:cNvSpPr/>
          <p:nvPr/>
        </p:nvSpPr>
        <p:spPr>
          <a:xfrm>
            <a:off x="6777737" y="3345490"/>
            <a:ext cx="4433985" cy="336785"/>
          </a:xfrm>
          <a:prstGeom prst="roundRect">
            <a:avLst/>
          </a:prstGeom>
          <a:noFill/>
          <a:ln w="19050">
            <a:solidFill>
              <a:schemeClr val="tx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kumimoji="1" lang="en-US" altLang="zh-TW" sz="2000" dirty="0">
                <a:solidFill>
                  <a:schemeClr val="tx1"/>
                </a:solidFill>
              </a:rPr>
              <a:t>FFN</a:t>
            </a:r>
            <a:r>
              <a:rPr kumimoji="1" lang="zh-TW" altLang="en-US" sz="2000" dirty="0">
                <a:solidFill>
                  <a:schemeClr val="tx1"/>
                </a:solidFill>
              </a:rPr>
              <a:t> </a:t>
            </a:r>
            <a:r>
              <a:rPr kumimoji="1" lang="en-US" altLang="zh-TW" sz="2000" dirty="0">
                <a:solidFill>
                  <a:schemeClr val="tx1"/>
                </a:solidFill>
              </a:rPr>
              <a:t>(linear layer(s))</a:t>
            </a:r>
            <a:endParaRPr kumimoji="1" lang="zh-TW" altLang="en-US" sz="1400" dirty="0">
              <a:solidFill>
                <a:schemeClr val="tx1"/>
              </a:solidFill>
            </a:endParaRPr>
          </a:p>
        </p:txBody>
      </p:sp>
      <p:cxnSp>
        <p:nvCxnSpPr>
          <p:cNvPr id="58" name="直線箭頭接點 57">
            <a:extLst>
              <a:ext uri="{FF2B5EF4-FFF2-40B4-BE49-F238E27FC236}">
                <a16:creationId xmlns:a16="http://schemas.microsoft.com/office/drawing/2014/main" id="{16D9C1FE-8A91-B03A-2377-8B83EC0DE09D}"/>
              </a:ext>
            </a:extLst>
          </p:cNvPr>
          <p:cNvCxnSpPr>
            <a:cxnSpLocks/>
          </p:cNvCxnSpPr>
          <p:nvPr/>
        </p:nvCxnSpPr>
        <p:spPr>
          <a:xfrm flipV="1">
            <a:off x="7135747" y="3052874"/>
            <a:ext cx="0" cy="242085"/>
          </a:xfrm>
          <a:prstGeom prst="straightConnector1">
            <a:avLst/>
          </a:prstGeom>
          <a:ln w="19050">
            <a:solidFill>
              <a:schemeClr val="tx1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59" name="直線箭頭接點 58">
            <a:extLst>
              <a:ext uri="{FF2B5EF4-FFF2-40B4-BE49-F238E27FC236}">
                <a16:creationId xmlns:a16="http://schemas.microsoft.com/office/drawing/2014/main" id="{62086DA5-5290-A670-AC1A-38D2A56FE1A2}"/>
              </a:ext>
            </a:extLst>
          </p:cNvPr>
          <p:cNvCxnSpPr>
            <a:cxnSpLocks/>
          </p:cNvCxnSpPr>
          <p:nvPr/>
        </p:nvCxnSpPr>
        <p:spPr>
          <a:xfrm flipV="1">
            <a:off x="7858162" y="3052874"/>
            <a:ext cx="0" cy="242085"/>
          </a:xfrm>
          <a:prstGeom prst="straightConnector1">
            <a:avLst/>
          </a:prstGeom>
          <a:ln w="19050">
            <a:solidFill>
              <a:schemeClr val="tx1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60" name="直線箭頭接點 59">
            <a:extLst>
              <a:ext uri="{FF2B5EF4-FFF2-40B4-BE49-F238E27FC236}">
                <a16:creationId xmlns:a16="http://schemas.microsoft.com/office/drawing/2014/main" id="{5A918736-41AC-8EE9-E232-C16FDD90E533}"/>
              </a:ext>
            </a:extLst>
          </p:cNvPr>
          <p:cNvCxnSpPr>
            <a:cxnSpLocks/>
          </p:cNvCxnSpPr>
          <p:nvPr/>
        </p:nvCxnSpPr>
        <p:spPr>
          <a:xfrm flipV="1">
            <a:off x="10785437" y="3052874"/>
            <a:ext cx="0" cy="242085"/>
          </a:xfrm>
          <a:prstGeom prst="straightConnector1">
            <a:avLst/>
          </a:prstGeom>
          <a:ln w="19050">
            <a:solidFill>
              <a:schemeClr val="tx1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61" name="直線箭頭接點 60">
            <a:extLst>
              <a:ext uri="{FF2B5EF4-FFF2-40B4-BE49-F238E27FC236}">
                <a16:creationId xmlns:a16="http://schemas.microsoft.com/office/drawing/2014/main" id="{CE5F32AD-EAE1-A054-DFF3-5593839A3D00}"/>
              </a:ext>
            </a:extLst>
          </p:cNvPr>
          <p:cNvCxnSpPr>
            <a:cxnSpLocks/>
          </p:cNvCxnSpPr>
          <p:nvPr/>
        </p:nvCxnSpPr>
        <p:spPr>
          <a:xfrm flipV="1">
            <a:off x="10063022" y="3052874"/>
            <a:ext cx="0" cy="242085"/>
          </a:xfrm>
          <a:prstGeom prst="straightConnector1">
            <a:avLst/>
          </a:prstGeom>
          <a:ln w="19050">
            <a:solidFill>
              <a:schemeClr val="tx1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mc:AlternateContent xmlns:mc="http://schemas.openxmlformats.org/markup-compatibility/2006" xmlns:a14="http://schemas.microsoft.com/office/drawing/2010/main">
        <mc:Choice Requires="a14">
          <p:sp>
            <p:nvSpPr>
              <p:cNvPr id="62" name="圓角矩形 61">
                <a:extLst>
                  <a:ext uri="{FF2B5EF4-FFF2-40B4-BE49-F238E27FC236}">
                    <a16:creationId xmlns:a16="http://schemas.microsoft.com/office/drawing/2014/main" id="{71810DFC-9484-4F06-0116-C8859C9ABBF2}"/>
                  </a:ext>
                </a:extLst>
              </p:cNvPr>
              <p:cNvSpPr/>
              <p:nvPr/>
            </p:nvSpPr>
            <p:spPr>
              <a:xfrm>
                <a:off x="4459559" y="3270703"/>
                <a:ext cx="555203" cy="465105"/>
              </a:xfrm>
              <a:prstGeom prst="roundRect">
                <a:avLst/>
              </a:prstGeom>
              <a:solidFill>
                <a:schemeClr val="accent5">
                  <a:lumMod val="40000"/>
                  <a:lumOff val="60000"/>
                </a:schemeClr>
              </a:solidFill>
              <a:ln w="19050">
                <a:solidFill>
                  <a:schemeClr val="tx1"/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sSub>
                        <m:sSubPr>
                          <m:ctrlPr>
                            <a:rPr kumimoji="1" lang="en-US" altLang="zh-TW" i="1" smtClean="0">
                              <a:solidFill>
                                <a:schemeClr val="tx1"/>
                              </a:solidFill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a:rPr kumimoji="1" lang="en-US" altLang="zh-TW" b="0" i="1" smtClean="0">
                              <a:solidFill>
                                <a:schemeClr val="tx1"/>
                              </a:solidFill>
                              <a:latin typeface="Cambria Math" panose="02040503050406030204" pitchFamily="18" charset="0"/>
                            </a:rPr>
                            <m:t>h</m:t>
                          </m:r>
                        </m:e>
                        <m:sub>
                          <m:r>
                            <a:rPr kumimoji="1" lang="en-US" altLang="zh-TW" i="1">
                              <a:solidFill>
                                <a:schemeClr val="tx1"/>
                              </a:solidFill>
                              <a:latin typeface="Cambria Math" panose="02040503050406030204" pitchFamily="18" charset="0"/>
                            </a:rPr>
                            <m:t>𝑛</m:t>
                          </m:r>
                          <m:r>
                            <a:rPr kumimoji="1" lang="en-US" altLang="zh-TW" i="1">
                              <a:solidFill>
                                <a:schemeClr val="tx1"/>
                              </a:solidFill>
                              <a:latin typeface="Cambria Math" panose="02040503050406030204" pitchFamily="18" charset="0"/>
                            </a:rPr>
                            <m:t>−2</m:t>
                          </m:r>
                        </m:sub>
                      </m:sSub>
                    </m:oMath>
                  </m:oMathPara>
                </a14:m>
                <a:endParaRPr kumimoji="1" lang="zh-TW" altLang="en-US" dirty="0">
                  <a:solidFill>
                    <a:schemeClr val="tx1"/>
                  </a:solidFill>
                </a:endParaRPr>
              </a:p>
            </p:txBody>
          </p:sp>
        </mc:Choice>
        <mc:Fallback xmlns="">
          <p:sp>
            <p:nvSpPr>
              <p:cNvPr id="62" name="圓角矩形 61">
                <a:extLst>
                  <a:ext uri="{FF2B5EF4-FFF2-40B4-BE49-F238E27FC236}">
                    <a16:creationId xmlns:a16="http://schemas.microsoft.com/office/drawing/2014/main" id="{71810DFC-9484-4F06-0116-C8859C9ABBF2}"/>
                  </a:ext>
                </a:extLst>
              </p:cNvPr>
              <p:cNvSpPr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4459559" y="3270703"/>
                <a:ext cx="555203" cy="465105"/>
              </a:xfrm>
              <a:prstGeom prst="roundRect">
                <a:avLst/>
              </a:prstGeom>
              <a:blipFill>
                <a:blip r:embed="rId13"/>
                <a:stretch>
                  <a:fillRect l="-8696"/>
                </a:stretch>
              </a:blipFill>
              <a:ln w="19050">
                <a:solidFill>
                  <a:schemeClr val="tx1"/>
                </a:solidFill>
              </a:ln>
            </p:spPr>
            <p:txBody>
              <a:bodyPr/>
              <a:lstStyle/>
              <a:p>
                <a:r>
                  <a:rPr lang="zh-TW" altLang="en-US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 xmlns:a14="http://schemas.microsoft.com/office/drawing/2010/main">
        <mc:Choice Requires="a14">
          <p:sp>
            <p:nvSpPr>
              <p:cNvPr id="63" name="圓角矩形 62">
                <a:extLst>
                  <a:ext uri="{FF2B5EF4-FFF2-40B4-BE49-F238E27FC236}">
                    <a16:creationId xmlns:a16="http://schemas.microsoft.com/office/drawing/2014/main" id="{8C29360F-E395-BEC8-9AF5-ECF378961DA5}"/>
                  </a:ext>
                </a:extLst>
              </p:cNvPr>
              <p:cNvSpPr/>
              <p:nvPr/>
            </p:nvSpPr>
            <p:spPr>
              <a:xfrm>
                <a:off x="2248941" y="3281329"/>
                <a:ext cx="555203" cy="465105"/>
              </a:xfrm>
              <a:prstGeom prst="roundRect">
                <a:avLst/>
              </a:prstGeom>
              <a:solidFill>
                <a:schemeClr val="accent5">
                  <a:lumMod val="40000"/>
                  <a:lumOff val="60000"/>
                </a:schemeClr>
              </a:solidFill>
              <a:ln w="19050">
                <a:solidFill>
                  <a:schemeClr val="tx1"/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sSub>
                        <m:sSubPr>
                          <m:ctrlPr>
                            <a:rPr kumimoji="1" lang="en-US" altLang="zh-TW" i="1" smtClean="0">
                              <a:solidFill>
                                <a:schemeClr val="tx1"/>
                              </a:solidFill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a:rPr kumimoji="1" lang="en-US" altLang="zh-TW" b="0" i="1" smtClean="0">
                              <a:solidFill>
                                <a:schemeClr val="tx1"/>
                              </a:solidFill>
                              <a:latin typeface="Cambria Math" panose="02040503050406030204" pitchFamily="18" charset="0"/>
                            </a:rPr>
                            <m:t>h</m:t>
                          </m:r>
                        </m:e>
                        <m:sub>
                          <m:r>
                            <a:rPr kumimoji="1" lang="en-US" altLang="zh-TW" b="0" i="1" smtClean="0">
                              <a:solidFill>
                                <a:schemeClr val="tx1"/>
                              </a:solidFill>
                              <a:latin typeface="Cambria Math" panose="02040503050406030204" pitchFamily="18" charset="0"/>
                            </a:rPr>
                            <m:t>1</m:t>
                          </m:r>
                        </m:sub>
                      </m:sSub>
                    </m:oMath>
                  </m:oMathPara>
                </a14:m>
                <a:endParaRPr kumimoji="1" lang="zh-TW" altLang="en-US" dirty="0">
                  <a:solidFill>
                    <a:schemeClr val="tx1"/>
                  </a:solidFill>
                </a:endParaRPr>
              </a:p>
            </p:txBody>
          </p:sp>
        </mc:Choice>
        <mc:Fallback xmlns="">
          <p:sp>
            <p:nvSpPr>
              <p:cNvPr id="63" name="圓角矩形 62">
                <a:extLst>
                  <a:ext uri="{FF2B5EF4-FFF2-40B4-BE49-F238E27FC236}">
                    <a16:creationId xmlns:a16="http://schemas.microsoft.com/office/drawing/2014/main" id="{8C29360F-E395-BEC8-9AF5-ECF378961DA5}"/>
                  </a:ext>
                </a:extLst>
              </p:cNvPr>
              <p:cNvSpPr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2248941" y="3281329"/>
                <a:ext cx="555203" cy="465105"/>
              </a:xfrm>
              <a:prstGeom prst="roundRect">
                <a:avLst/>
              </a:prstGeom>
              <a:blipFill>
                <a:blip r:embed="rId14"/>
                <a:stretch>
                  <a:fillRect/>
                </a:stretch>
              </a:blipFill>
              <a:ln w="19050">
                <a:solidFill>
                  <a:schemeClr val="tx1"/>
                </a:solidFill>
              </a:ln>
            </p:spPr>
            <p:txBody>
              <a:bodyPr/>
              <a:lstStyle/>
              <a:p>
                <a:r>
                  <a:rPr lang="zh-TW" altLang="en-US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 xmlns:a14="http://schemas.microsoft.com/office/drawing/2010/main">
        <mc:Choice Requires="a14">
          <p:sp>
            <p:nvSpPr>
              <p:cNvPr id="64" name="圓角矩形 63">
                <a:extLst>
                  <a:ext uri="{FF2B5EF4-FFF2-40B4-BE49-F238E27FC236}">
                    <a16:creationId xmlns:a16="http://schemas.microsoft.com/office/drawing/2014/main" id="{B2575567-B447-B8EC-E46E-582ED19CA356}"/>
                  </a:ext>
                </a:extLst>
              </p:cNvPr>
              <p:cNvSpPr/>
              <p:nvPr/>
            </p:nvSpPr>
            <p:spPr>
              <a:xfrm>
                <a:off x="1535835" y="3273307"/>
                <a:ext cx="555203" cy="465105"/>
              </a:xfrm>
              <a:prstGeom prst="roundRect">
                <a:avLst/>
              </a:prstGeom>
              <a:solidFill>
                <a:schemeClr val="accent5">
                  <a:lumMod val="40000"/>
                  <a:lumOff val="60000"/>
                </a:schemeClr>
              </a:solidFill>
              <a:ln w="19050">
                <a:solidFill>
                  <a:schemeClr val="tx1"/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sSub>
                        <m:sSubPr>
                          <m:ctrlPr>
                            <a:rPr kumimoji="1" lang="en-US" altLang="zh-TW" i="1" smtClean="0">
                              <a:solidFill>
                                <a:schemeClr val="tx1"/>
                              </a:solidFill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a:rPr kumimoji="1" lang="en-US" altLang="zh-TW" b="0" i="1" smtClean="0">
                              <a:solidFill>
                                <a:schemeClr val="tx1"/>
                              </a:solidFill>
                              <a:latin typeface="Cambria Math" panose="02040503050406030204" pitchFamily="18" charset="0"/>
                            </a:rPr>
                            <m:t>h</m:t>
                          </m:r>
                        </m:e>
                        <m:sub>
                          <m:r>
                            <a:rPr kumimoji="1" lang="en-US" altLang="zh-TW" b="0" i="1" smtClean="0">
                              <a:solidFill>
                                <a:schemeClr val="tx1"/>
                              </a:solidFill>
                              <a:latin typeface="Cambria Math" panose="02040503050406030204" pitchFamily="18" charset="0"/>
                            </a:rPr>
                            <m:t>0</m:t>
                          </m:r>
                        </m:sub>
                      </m:sSub>
                    </m:oMath>
                  </m:oMathPara>
                </a14:m>
                <a:endParaRPr kumimoji="1" lang="zh-TW" altLang="en-US" dirty="0">
                  <a:solidFill>
                    <a:schemeClr val="tx1"/>
                  </a:solidFill>
                </a:endParaRPr>
              </a:p>
            </p:txBody>
          </p:sp>
        </mc:Choice>
        <mc:Fallback xmlns="">
          <p:sp>
            <p:nvSpPr>
              <p:cNvPr id="64" name="圓角矩形 63">
                <a:extLst>
                  <a:ext uri="{FF2B5EF4-FFF2-40B4-BE49-F238E27FC236}">
                    <a16:creationId xmlns:a16="http://schemas.microsoft.com/office/drawing/2014/main" id="{B2575567-B447-B8EC-E46E-582ED19CA356}"/>
                  </a:ext>
                </a:extLst>
              </p:cNvPr>
              <p:cNvSpPr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1535835" y="3273307"/>
                <a:ext cx="555203" cy="465105"/>
              </a:xfrm>
              <a:prstGeom prst="roundRect">
                <a:avLst/>
              </a:prstGeom>
              <a:blipFill>
                <a:blip r:embed="rId15"/>
                <a:stretch>
                  <a:fillRect/>
                </a:stretch>
              </a:blipFill>
              <a:ln w="19050">
                <a:solidFill>
                  <a:schemeClr val="tx1"/>
                </a:solidFill>
              </a:ln>
            </p:spPr>
            <p:txBody>
              <a:bodyPr/>
              <a:lstStyle/>
              <a:p>
                <a:r>
                  <a:rPr lang="zh-TW" altLang="en-US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 xmlns:a14="http://schemas.microsoft.com/office/drawing/2010/main">
        <mc:Choice Requires="a14">
          <p:sp>
            <p:nvSpPr>
              <p:cNvPr id="65" name="圓角矩形 64">
                <a:extLst>
                  <a:ext uri="{FF2B5EF4-FFF2-40B4-BE49-F238E27FC236}">
                    <a16:creationId xmlns:a16="http://schemas.microsoft.com/office/drawing/2014/main" id="{4C90679A-B23D-0A3F-2D94-6DDF798DBDCA}"/>
                  </a:ext>
                </a:extLst>
              </p:cNvPr>
              <p:cNvSpPr/>
              <p:nvPr/>
            </p:nvSpPr>
            <p:spPr>
              <a:xfrm>
                <a:off x="433242" y="4335480"/>
                <a:ext cx="555203" cy="465105"/>
              </a:xfrm>
              <a:prstGeom prst="roundRect">
                <a:avLst/>
              </a:prstGeom>
              <a:solidFill>
                <a:schemeClr val="accent5">
                  <a:lumMod val="40000"/>
                  <a:lumOff val="60000"/>
                </a:schemeClr>
              </a:solidFill>
              <a:ln w="19050">
                <a:solidFill>
                  <a:schemeClr val="tx1"/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sSub>
                        <m:sSubPr>
                          <m:ctrlPr>
                            <a:rPr kumimoji="1" lang="en-US" altLang="zh-TW" i="1" smtClean="0">
                              <a:solidFill>
                                <a:schemeClr val="tx1"/>
                              </a:solidFill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a:rPr kumimoji="1" lang="en-US" altLang="zh-TW" b="0" i="1" smtClean="0">
                              <a:solidFill>
                                <a:schemeClr val="tx1"/>
                              </a:solidFill>
                              <a:latin typeface="Cambria Math" panose="02040503050406030204" pitchFamily="18" charset="0"/>
                            </a:rPr>
                            <m:t>h</m:t>
                          </m:r>
                        </m:e>
                        <m:sub>
                          <m:r>
                            <m:rPr>
                              <m:sty m:val="p"/>
                            </m:rPr>
                            <a:rPr kumimoji="1" lang="en-US" altLang="zh-TW" b="0" i="0" smtClean="0">
                              <a:solidFill>
                                <a:schemeClr val="tx1"/>
                              </a:solidFill>
                              <a:latin typeface="Cambria Math" panose="02040503050406030204" pitchFamily="18" charset="0"/>
                            </a:rPr>
                            <m:t>init</m:t>
                          </m:r>
                        </m:sub>
                      </m:sSub>
                    </m:oMath>
                  </m:oMathPara>
                </a14:m>
                <a:endParaRPr kumimoji="1" lang="zh-TW" altLang="en-US" dirty="0">
                  <a:solidFill>
                    <a:schemeClr val="tx1"/>
                  </a:solidFill>
                </a:endParaRPr>
              </a:p>
            </p:txBody>
          </p:sp>
        </mc:Choice>
        <mc:Fallback xmlns="">
          <p:sp>
            <p:nvSpPr>
              <p:cNvPr id="65" name="圓角矩形 64">
                <a:extLst>
                  <a:ext uri="{FF2B5EF4-FFF2-40B4-BE49-F238E27FC236}">
                    <a16:creationId xmlns:a16="http://schemas.microsoft.com/office/drawing/2014/main" id="{4C90679A-B23D-0A3F-2D94-6DDF798DBDCA}"/>
                  </a:ext>
                </a:extLst>
              </p:cNvPr>
              <p:cNvSpPr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433242" y="4335480"/>
                <a:ext cx="555203" cy="465105"/>
              </a:xfrm>
              <a:prstGeom prst="roundRect">
                <a:avLst/>
              </a:prstGeom>
              <a:blipFill>
                <a:blip r:embed="rId16"/>
                <a:stretch>
                  <a:fillRect l="-6522"/>
                </a:stretch>
              </a:blipFill>
              <a:ln w="19050">
                <a:solidFill>
                  <a:schemeClr val="tx1"/>
                </a:solidFill>
              </a:ln>
            </p:spPr>
            <p:txBody>
              <a:bodyPr/>
              <a:lstStyle/>
              <a:p>
                <a:r>
                  <a:rPr lang="zh-TW" altLang="en-US">
                    <a:noFill/>
                  </a:rPr>
                  <a:t> </a:t>
                </a:r>
              </a:p>
            </p:txBody>
          </p:sp>
        </mc:Fallback>
      </mc:AlternateContent>
      <p:cxnSp>
        <p:nvCxnSpPr>
          <p:cNvPr id="66" name="直線箭頭接點 65">
            <a:extLst>
              <a:ext uri="{FF2B5EF4-FFF2-40B4-BE49-F238E27FC236}">
                <a16:creationId xmlns:a16="http://schemas.microsoft.com/office/drawing/2014/main" id="{F9645189-5848-7448-BF59-C9E3DAD0EA6A}"/>
              </a:ext>
            </a:extLst>
          </p:cNvPr>
          <p:cNvCxnSpPr>
            <a:cxnSpLocks/>
          </p:cNvCxnSpPr>
          <p:nvPr/>
        </p:nvCxnSpPr>
        <p:spPr>
          <a:xfrm>
            <a:off x="1045007" y="4590483"/>
            <a:ext cx="338153" cy="0"/>
          </a:xfrm>
          <a:prstGeom prst="straightConnector1">
            <a:avLst/>
          </a:prstGeom>
          <a:ln w="19050">
            <a:solidFill>
              <a:schemeClr val="tx1"/>
            </a:solidFill>
            <a:prstDash val="dash"/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3" name="文字方塊 2">
            <a:extLst>
              <a:ext uri="{FF2B5EF4-FFF2-40B4-BE49-F238E27FC236}">
                <a16:creationId xmlns:a16="http://schemas.microsoft.com/office/drawing/2014/main" id="{24CF5AD8-03CD-B0B9-652B-DF4DB8FE9238}"/>
              </a:ext>
            </a:extLst>
          </p:cNvPr>
          <p:cNvSpPr txBox="1"/>
          <p:nvPr/>
        </p:nvSpPr>
        <p:spPr>
          <a:xfrm>
            <a:off x="2526444" y="1835327"/>
            <a:ext cx="2529642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kumimoji="1" lang="zh-TW" altLang="en-US" b="1" dirty="0"/>
              <a:t>輸出是</a:t>
            </a:r>
            <a:r>
              <a:rPr kumimoji="1" lang="en-US" altLang="zh-TW" b="1" dirty="0"/>
              <a:t> hidden states</a:t>
            </a:r>
            <a:endParaRPr kumimoji="1" lang="zh-TW" altLang="en-US" b="1" dirty="0"/>
          </a:p>
        </p:txBody>
      </p:sp>
      <p:cxnSp>
        <p:nvCxnSpPr>
          <p:cNvPr id="12" name="肘形接點 11">
            <a:extLst>
              <a:ext uri="{FF2B5EF4-FFF2-40B4-BE49-F238E27FC236}">
                <a16:creationId xmlns:a16="http://schemas.microsoft.com/office/drawing/2014/main" id="{F7BCD1C7-82B8-FFA2-09EC-A4BC0337536B}"/>
              </a:ext>
            </a:extLst>
          </p:cNvPr>
          <p:cNvCxnSpPr>
            <a:cxnSpLocks/>
            <a:stCxn id="44" idx="3"/>
            <a:endCxn id="6" idx="1"/>
          </p:cNvCxnSpPr>
          <p:nvPr/>
        </p:nvCxnSpPr>
        <p:spPr>
          <a:xfrm>
            <a:off x="5737233" y="3505860"/>
            <a:ext cx="1040505" cy="1042458"/>
          </a:xfrm>
          <a:prstGeom prst="bentConnector3">
            <a:avLst>
              <a:gd name="adj1" fmla="val 50000"/>
            </a:avLst>
          </a:prstGeom>
          <a:ln w="19050">
            <a:solidFill>
              <a:srgbClr val="FF0000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26" name="文字方塊 25">
            <a:extLst>
              <a:ext uri="{FF2B5EF4-FFF2-40B4-BE49-F238E27FC236}">
                <a16:creationId xmlns:a16="http://schemas.microsoft.com/office/drawing/2014/main" id="{519C8A55-A2F5-4A64-598E-FCB4A79275C2}"/>
              </a:ext>
            </a:extLst>
          </p:cNvPr>
          <p:cNvSpPr txBox="1"/>
          <p:nvPr/>
        </p:nvSpPr>
        <p:spPr>
          <a:xfrm>
            <a:off x="5368375" y="6195910"/>
            <a:ext cx="250245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kumimoji="1" lang="en-US" altLang="zh-TW" sz="1600" dirty="0">
                <a:solidFill>
                  <a:srgbClr val="FF0000"/>
                </a:solidFill>
              </a:rPr>
              <a:t>(Encoder </a:t>
            </a:r>
            <a:r>
              <a:rPr kumimoji="1" lang="zh-TW" altLang="en-US" sz="1600" dirty="0">
                <a:solidFill>
                  <a:srgbClr val="FF0000"/>
                </a:solidFill>
              </a:rPr>
              <a:t>的輸出有很多種被</a:t>
            </a:r>
            <a:r>
              <a:rPr kumimoji="1" lang="en-US" altLang="zh-TW" sz="1600" dirty="0">
                <a:solidFill>
                  <a:srgbClr val="FF0000"/>
                </a:solidFill>
              </a:rPr>
              <a:t>Decoder</a:t>
            </a:r>
            <a:r>
              <a:rPr kumimoji="1" lang="zh-TW" altLang="en-US" sz="1600" dirty="0">
                <a:solidFill>
                  <a:srgbClr val="FF0000"/>
                </a:solidFill>
              </a:rPr>
              <a:t>運用的方式</a:t>
            </a:r>
            <a:r>
              <a:rPr kumimoji="1" lang="en-US" altLang="zh-TW" sz="1600" dirty="0">
                <a:solidFill>
                  <a:srgbClr val="FF0000"/>
                </a:solidFill>
              </a:rPr>
              <a:t>)</a:t>
            </a:r>
            <a:endParaRPr kumimoji="1" lang="zh-TW" altLang="en-US" sz="1600" dirty="0">
              <a:solidFill>
                <a:srgbClr val="FF0000"/>
              </a:solidFill>
            </a:endParaRPr>
          </a:p>
        </p:txBody>
      </p:sp>
    </p:spTree>
    <p:extLst>
      <p:ext uri="{BB962C8B-B14F-4D97-AF65-F5344CB8AC3E}">
        <p14:creationId xmlns:p14="http://schemas.microsoft.com/office/powerpoint/2010/main" val="3370203717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7" fill="hold">
                      <p:stCondLst>
                        <p:cond delay="indefinite"/>
                      </p:stCondLst>
                      <p:childTnLst>
                        <p:par>
                          <p:cTn id="8" fill="hold">
                            <p:stCondLst>
                              <p:cond delay="0"/>
                            </p:stCondLst>
                            <p:childTnLst>
                              <p:par>
                                <p:cTn id="9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1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3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5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7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9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21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23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25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27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29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31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33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35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37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39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41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43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45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47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49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51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53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55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57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59" fill="hold">
                      <p:stCondLst>
                        <p:cond delay="indefinite"/>
                      </p:stCondLst>
                      <p:childTnLst>
                        <p:par>
                          <p:cTn id="60" fill="hold">
                            <p:stCondLst>
                              <p:cond delay="0"/>
                            </p:stCondLst>
                            <p:childTnLst>
                              <p:par>
                                <p:cTn id="61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30" grpId="0"/>
      <p:bldP spid="31" grpId="0" animBg="1"/>
      <p:bldP spid="32" grpId="0"/>
      <p:bldP spid="37" grpId="0" animBg="1"/>
      <p:bldP spid="42" grpId="0"/>
      <p:bldP spid="44" grpId="0" animBg="1"/>
      <p:bldP spid="47" grpId="0" animBg="1"/>
      <p:bldP spid="48" grpId="0" animBg="1"/>
      <p:bldP spid="49" grpId="0" animBg="1"/>
      <p:bldP spid="50" grpId="0"/>
      <p:bldP spid="51" grpId="0"/>
      <p:bldP spid="62" grpId="0" animBg="1"/>
      <p:bldP spid="63" grpId="0" animBg="1"/>
      <p:bldP spid="64" grpId="0" animBg="1"/>
      <p:bldP spid="65" grpId="0" animBg="1"/>
      <p:bldP spid="3" grpId="0"/>
      <p:bldP spid="26" grpId="0"/>
    </p:bldLst>
  </p:timing>
</p:sld>
</file>

<file path=ppt/slides/slide4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4" name="內容版面配置區 3">
            <a:extLst>
              <a:ext uri="{FF2B5EF4-FFF2-40B4-BE49-F238E27FC236}">
                <a16:creationId xmlns:a16="http://schemas.microsoft.com/office/drawing/2014/main" id="{92BA026D-D0A5-154B-B2E7-F6D1A5A54399}"/>
              </a:ext>
            </a:extLst>
          </p:cNvPr>
          <p:cNvPicPr>
            <a:picLocks noGrp="1" noChangeAspect="1"/>
          </p:cNvPicPr>
          <p:nvPr>
            <p:ph idx="1"/>
          </p:nvPr>
        </p:nvPicPr>
        <p:blipFill>
          <a:blip r:embed="rId3"/>
          <a:stretch>
            <a:fillRect/>
          </a:stretch>
        </p:blipFill>
        <p:spPr>
          <a:xfrm>
            <a:off x="680449" y="1151922"/>
            <a:ext cx="10831101" cy="4554156"/>
          </a:xfrm>
          <a:prstGeom prst="rect">
            <a:avLst/>
          </a:prstGeom>
        </p:spPr>
      </p:pic>
      <p:sp>
        <p:nvSpPr>
          <p:cNvPr id="2" name="投影片編號版面配置區 1">
            <a:extLst>
              <a:ext uri="{FF2B5EF4-FFF2-40B4-BE49-F238E27FC236}">
                <a16:creationId xmlns:a16="http://schemas.microsoft.com/office/drawing/2014/main" id="{A5C61218-2627-FA44-81F7-DC534906A4B2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9091681C-F638-B044-A8F2-A1B9864D5A40}" type="slidenum">
              <a:rPr kumimoji="1" lang="zh-TW" altLang="en-US" smtClean="0"/>
              <a:t>45</a:t>
            </a:fld>
            <a:endParaRPr kumimoji="1" lang="zh-TW" altLang="en-US"/>
          </a:p>
        </p:txBody>
      </p:sp>
    </p:spTree>
    <p:extLst>
      <p:ext uri="{BB962C8B-B14F-4D97-AF65-F5344CB8AC3E}">
        <p14:creationId xmlns:p14="http://schemas.microsoft.com/office/powerpoint/2010/main" val="1853416214"/>
      </p:ext>
    </p:extLst>
  </p:cSld>
  <p:clrMapOvr>
    <a:masterClrMapping/>
  </p:clrMapOvr>
</p:sld>
</file>

<file path=ppt/slides/slide4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E1633476-9204-FDC7-DF40-E423D2C0F97A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標題 1">
            <a:extLst>
              <a:ext uri="{FF2B5EF4-FFF2-40B4-BE49-F238E27FC236}">
                <a16:creationId xmlns:a16="http://schemas.microsoft.com/office/drawing/2014/main" id="{65D92849-6EB0-5CDA-1AA2-84983D12F485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>
            <a:normAutofit/>
          </a:bodyPr>
          <a:lstStyle/>
          <a:p>
            <a:r>
              <a:rPr kumimoji="1" lang="zh-TW" altLang="en-US" dirty="0"/>
              <a:t>機器翻譯 </a:t>
            </a:r>
            <a:r>
              <a:rPr kumimoji="1" lang="en-US" altLang="zh-TW" dirty="0"/>
              <a:t>(</a:t>
            </a:r>
            <a:r>
              <a:rPr kumimoji="1" lang="zh-TW" altLang="en-US" dirty="0"/>
              <a:t>一般情況</a:t>
            </a:r>
            <a:r>
              <a:rPr kumimoji="1" lang="en-US" altLang="zh-TW" dirty="0"/>
              <a:t>)</a:t>
            </a:r>
            <a:endParaRPr kumimoji="1" lang="zh-TW" altLang="en-US" dirty="0"/>
          </a:p>
        </p:txBody>
      </p:sp>
      <p:sp>
        <p:nvSpPr>
          <p:cNvPr id="41" name="圓角矩形 40">
            <a:extLst>
              <a:ext uri="{FF2B5EF4-FFF2-40B4-BE49-F238E27FC236}">
                <a16:creationId xmlns:a16="http://schemas.microsoft.com/office/drawing/2014/main" id="{5B788956-E287-40E6-C469-B4A2E4E9F6F6}"/>
              </a:ext>
            </a:extLst>
          </p:cNvPr>
          <p:cNvSpPr/>
          <p:nvPr/>
        </p:nvSpPr>
        <p:spPr>
          <a:xfrm rot="5400000">
            <a:off x="1041463" y="4064110"/>
            <a:ext cx="372490" cy="207951"/>
          </a:xfrm>
          <a:prstGeom prst="roundRect">
            <a:avLst/>
          </a:prstGeom>
          <a:solidFill>
            <a:schemeClr val="accent5">
              <a:lumMod val="40000"/>
              <a:lumOff val="60000"/>
            </a:schemeClr>
          </a:solidFill>
          <a:ln w="19050">
            <a:solidFill>
              <a:schemeClr val="tx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kumimoji="1" lang="zh-TW" altLang="en-US"/>
          </a:p>
        </p:txBody>
      </p:sp>
      <p:sp>
        <p:nvSpPr>
          <p:cNvPr id="3" name="投影片編號版面配置區 2">
            <a:extLst>
              <a:ext uri="{FF2B5EF4-FFF2-40B4-BE49-F238E27FC236}">
                <a16:creationId xmlns:a16="http://schemas.microsoft.com/office/drawing/2014/main" id="{11CBACF8-B505-A338-65B1-9DBFC23CEA67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9091681C-F638-B044-A8F2-A1B9864D5A40}" type="slidenum">
              <a:rPr kumimoji="1" lang="zh-TW" altLang="en-US" smtClean="0"/>
              <a:t>46</a:t>
            </a:fld>
            <a:endParaRPr kumimoji="1" lang="zh-TW" altLang="en-US"/>
          </a:p>
        </p:txBody>
      </p:sp>
      <mc:AlternateContent xmlns:mc="http://schemas.openxmlformats.org/markup-compatibility/2006" xmlns:a14="http://schemas.microsoft.com/office/drawing/2010/main">
        <mc:Choice Requires="a14">
          <p:sp>
            <p:nvSpPr>
              <p:cNvPr id="4" name="文字方塊 3">
                <a:extLst>
                  <a:ext uri="{FF2B5EF4-FFF2-40B4-BE49-F238E27FC236}">
                    <a16:creationId xmlns:a16="http://schemas.microsoft.com/office/drawing/2014/main" id="{5D22115D-902C-F890-952F-00983B5F2487}"/>
                  </a:ext>
                </a:extLst>
              </p:cNvPr>
              <p:cNvSpPr txBox="1"/>
              <p:nvPr/>
            </p:nvSpPr>
            <p:spPr>
              <a:xfrm>
                <a:off x="9380098" y="1474702"/>
                <a:ext cx="2191416" cy="646331"/>
              </a:xfrm>
              <a:prstGeom prst="rect">
                <a:avLst/>
              </a:prstGeom>
              <a:noFill/>
              <a:ln w="28575">
                <a:solidFill>
                  <a:srgbClr val="FF0000"/>
                </a:solidFill>
              </a:ln>
            </p:spPr>
            <p:txBody>
              <a:bodyPr wrap="square" rtlCol="0">
                <a:spAutoFit/>
              </a:bodyPr>
              <a:lstStyle/>
              <a:p>
                <a14:m>
                  <m:oMath xmlns:m="http://schemas.openxmlformats.org/officeDocument/2006/math">
                    <m:r>
                      <a:rPr kumimoji="1" lang="en-US" altLang="zh-TW" b="0" i="1" smtClean="0">
                        <a:latin typeface="Cambria Math" panose="02040503050406030204" pitchFamily="18" charset="0"/>
                      </a:rPr>
                      <m:t>𝑖</m:t>
                    </m:r>
                  </m:oMath>
                </a14:m>
                <a:r>
                  <a:rPr kumimoji="1" lang="en-US" altLang="zh-TW" dirty="0"/>
                  <a:t>: encoder timestep</a:t>
                </a:r>
              </a:p>
              <a:p>
                <a14:m>
                  <m:oMath xmlns:m="http://schemas.openxmlformats.org/officeDocument/2006/math">
                    <m:r>
                      <a:rPr kumimoji="1" lang="en-US" altLang="zh-TW" b="0" i="1" smtClean="0">
                        <a:latin typeface="Cambria Math" panose="02040503050406030204" pitchFamily="18" charset="0"/>
                      </a:rPr>
                      <m:t>𝑡</m:t>
                    </m:r>
                  </m:oMath>
                </a14:m>
                <a:r>
                  <a:rPr kumimoji="1" lang="en-US" altLang="zh-TW" dirty="0"/>
                  <a:t>: decoder timestep</a:t>
                </a:r>
              </a:p>
            </p:txBody>
          </p:sp>
        </mc:Choice>
        <mc:Fallback xmlns="">
          <p:sp>
            <p:nvSpPr>
              <p:cNvPr id="4" name="文字方塊 3">
                <a:extLst>
                  <a:ext uri="{FF2B5EF4-FFF2-40B4-BE49-F238E27FC236}">
                    <a16:creationId xmlns:a16="http://schemas.microsoft.com/office/drawing/2014/main" id="{5D22115D-902C-F890-952F-00983B5F2487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9380098" y="1474702"/>
                <a:ext cx="2191416" cy="646331"/>
              </a:xfrm>
              <a:prstGeom prst="rect">
                <a:avLst/>
              </a:prstGeom>
              <a:blipFill>
                <a:blip r:embed="rId3"/>
                <a:stretch>
                  <a:fillRect t="-3704" b="-9259"/>
                </a:stretch>
              </a:blipFill>
              <a:ln w="28575">
                <a:solidFill>
                  <a:srgbClr val="FF0000"/>
                </a:solidFill>
              </a:ln>
            </p:spPr>
            <p:txBody>
              <a:bodyPr/>
              <a:lstStyle/>
              <a:p>
                <a:r>
                  <a:rPr lang="zh-TW" altLang="en-US">
                    <a:noFill/>
                  </a:rPr>
                  <a:t> </a:t>
                </a:r>
              </a:p>
            </p:txBody>
          </p:sp>
        </mc:Fallback>
      </mc:AlternateContent>
      <p:cxnSp>
        <p:nvCxnSpPr>
          <p:cNvPr id="36" name="直線接點 35">
            <a:extLst>
              <a:ext uri="{FF2B5EF4-FFF2-40B4-BE49-F238E27FC236}">
                <a16:creationId xmlns:a16="http://schemas.microsoft.com/office/drawing/2014/main" id="{974E7177-F7B3-47C1-2047-67A83DE95B32}"/>
              </a:ext>
            </a:extLst>
          </p:cNvPr>
          <p:cNvCxnSpPr/>
          <p:nvPr/>
        </p:nvCxnSpPr>
        <p:spPr>
          <a:xfrm>
            <a:off x="5632911" y="2553196"/>
            <a:ext cx="0" cy="2658906"/>
          </a:xfrm>
          <a:prstGeom prst="line">
            <a:avLst/>
          </a:prstGeom>
          <a:ln w="12700">
            <a:solidFill>
              <a:schemeClr val="tx1"/>
            </a:solidFill>
            <a:prstDash val="dash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45" name="直線箭頭接點 44">
            <a:extLst>
              <a:ext uri="{FF2B5EF4-FFF2-40B4-BE49-F238E27FC236}">
                <a16:creationId xmlns:a16="http://schemas.microsoft.com/office/drawing/2014/main" id="{3557CB2D-302E-5A8A-C3A8-A27AC55EE9D6}"/>
              </a:ext>
            </a:extLst>
          </p:cNvPr>
          <p:cNvCxnSpPr>
            <a:cxnSpLocks/>
          </p:cNvCxnSpPr>
          <p:nvPr/>
        </p:nvCxnSpPr>
        <p:spPr>
          <a:xfrm flipH="1">
            <a:off x="1503108" y="4232235"/>
            <a:ext cx="398514" cy="0"/>
          </a:xfrm>
          <a:prstGeom prst="straightConnector1">
            <a:avLst/>
          </a:prstGeom>
          <a:ln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11" name="圓角矩形 10">
            <a:extLst>
              <a:ext uri="{FF2B5EF4-FFF2-40B4-BE49-F238E27FC236}">
                <a16:creationId xmlns:a16="http://schemas.microsoft.com/office/drawing/2014/main" id="{4201E5EB-C09D-0469-3D41-51BF32003312}"/>
              </a:ext>
            </a:extLst>
          </p:cNvPr>
          <p:cNvSpPr/>
          <p:nvPr/>
        </p:nvSpPr>
        <p:spPr>
          <a:xfrm rot="5400000">
            <a:off x="1041463" y="4445564"/>
            <a:ext cx="372490" cy="207951"/>
          </a:xfrm>
          <a:prstGeom prst="roundRect">
            <a:avLst/>
          </a:prstGeom>
          <a:solidFill>
            <a:schemeClr val="accent5">
              <a:lumMod val="40000"/>
              <a:lumOff val="60000"/>
            </a:schemeClr>
          </a:solidFill>
          <a:ln w="19050">
            <a:solidFill>
              <a:schemeClr val="tx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kumimoji="1" lang="zh-TW" altLang="en-US"/>
          </a:p>
        </p:txBody>
      </p:sp>
      <p:cxnSp>
        <p:nvCxnSpPr>
          <p:cNvPr id="15" name="直線箭頭接點 14">
            <a:extLst>
              <a:ext uri="{FF2B5EF4-FFF2-40B4-BE49-F238E27FC236}">
                <a16:creationId xmlns:a16="http://schemas.microsoft.com/office/drawing/2014/main" id="{9DB28BEF-7932-8301-CBD2-4A88543D8E23}"/>
              </a:ext>
            </a:extLst>
          </p:cNvPr>
          <p:cNvCxnSpPr>
            <a:cxnSpLocks/>
          </p:cNvCxnSpPr>
          <p:nvPr/>
        </p:nvCxnSpPr>
        <p:spPr>
          <a:xfrm>
            <a:off x="1524880" y="4544055"/>
            <a:ext cx="398515" cy="0"/>
          </a:xfrm>
          <a:prstGeom prst="straightConnector1">
            <a:avLst/>
          </a:prstGeom>
          <a:ln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26" name="直線箭頭接點 25">
            <a:extLst>
              <a:ext uri="{FF2B5EF4-FFF2-40B4-BE49-F238E27FC236}">
                <a16:creationId xmlns:a16="http://schemas.microsoft.com/office/drawing/2014/main" id="{63891F3B-5FED-94AB-87ED-41AECAECB1D8}"/>
              </a:ext>
            </a:extLst>
          </p:cNvPr>
          <p:cNvCxnSpPr>
            <a:cxnSpLocks/>
          </p:cNvCxnSpPr>
          <p:nvPr/>
        </p:nvCxnSpPr>
        <p:spPr>
          <a:xfrm>
            <a:off x="2467974" y="4544055"/>
            <a:ext cx="398515" cy="0"/>
          </a:xfrm>
          <a:prstGeom prst="straightConnector1">
            <a:avLst/>
          </a:prstGeom>
          <a:ln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27" name="直線箭頭接點 26">
            <a:extLst>
              <a:ext uri="{FF2B5EF4-FFF2-40B4-BE49-F238E27FC236}">
                <a16:creationId xmlns:a16="http://schemas.microsoft.com/office/drawing/2014/main" id="{0568C0D6-0989-C213-E2FF-3DB5FCF4D8D4}"/>
              </a:ext>
            </a:extLst>
          </p:cNvPr>
          <p:cNvCxnSpPr>
            <a:cxnSpLocks/>
          </p:cNvCxnSpPr>
          <p:nvPr/>
        </p:nvCxnSpPr>
        <p:spPr>
          <a:xfrm>
            <a:off x="3426184" y="4544055"/>
            <a:ext cx="398515" cy="0"/>
          </a:xfrm>
          <a:prstGeom prst="straightConnector1">
            <a:avLst/>
          </a:prstGeom>
          <a:ln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28" name="直線箭頭接點 27">
            <a:extLst>
              <a:ext uri="{FF2B5EF4-FFF2-40B4-BE49-F238E27FC236}">
                <a16:creationId xmlns:a16="http://schemas.microsoft.com/office/drawing/2014/main" id="{E35A97DE-2A9A-A06C-51B9-C8CBF99344FF}"/>
              </a:ext>
            </a:extLst>
          </p:cNvPr>
          <p:cNvCxnSpPr>
            <a:cxnSpLocks/>
          </p:cNvCxnSpPr>
          <p:nvPr/>
        </p:nvCxnSpPr>
        <p:spPr>
          <a:xfrm>
            <a:off x="4419904" y="4544055"/>
            <a:ext cx="398515" cy="0"/>
          </a:xfrm>
          <a:prstGeom prst="straightConnector1">
            <a:avLst/>
          </a:prstGeom>
          <a:ln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29" name="直線箭頭接點 28">
            <a:extLst>
              <a:ext uri="{FF2B5EF4-FFF2-40B4-BE49-F238E27FC236}">
                <a16:creationId xmlns:a16="http://schemas.microsoft.com/office/drawing/2014/main" id="{D9AC6AF4-48B6-D9C9-C460-89AC705DDD50}"/>
              </a:ext>
            </a:extLst>
          </p:cNvPr>
          <p:cNvCxnSpPr>
            <a:cxnSpLocks/>
          </p:cNvCxnSpPr>
          <p:nvPr/>
        </p:nvCxnSpPr>
        <p:spPr>
          <a:xfrm flipH="1">
            <a:off x="2457088" y="4232235"/>
            <a:ext cx="398514" cy="0"/>
          </a:xfrm>
          <a:prstGeom prst="straightConnector1">
            <a:avLst/>
          </a:prstGeom>
          <a:ln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30" name="直線箭頭接點 29">
            <a:extLst>
              <a:ext uri="{FF2B5EF4-FFF2-40B4-BE49-F238E27FC236}">
                <a16:creationId xmlns:a16="http://schemas.microsoft.com/office/drawing/2014/main" id="{258C71BE-B1BE-D088-CAD1-163B92D7B94B}"/>
              </a:ext>
            </a:extLst>
          </p:cNvPr>
          <p:cNvCxnSpPr>
            <a:cxnSpLocks/>
          </p:cNvCxnSpPr>
          <p:nvPr/>
        </p:nvCxnSpPr>
        <p:spPr>
          <a:xfrm flipH="1">
            <a:off x="3415531" y="4232235"/>
            <a:ext cx="398514" cy="0"/>
          </a:xfrm>
          <a:prstGeom prst="straightConnector1">
            <a:avLst/>
          </a:prstGeom>
          <a:ln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31" name="直線箭頭接點 30">
            <a:extLst>
              <a:ext uri="{FF2B5EF4-FFF2-40B4-BE49-F238E27FC236}">
                <a16:creationId xmlns:a16="http://schemas.microsoft.com/office/drawing/2014/main" id="{613B7F33-4272-162E-B4AA-371CD519958A}"/>
              </a:ext>
            </a:extLst>
          </p:cNvPr>
          <p:cNvCxnSpPr>
            <a:cxnSpLocks/>
          </p:cNvCxnSpPr>
          <p:nvPr/>
        </p:nvCxnSpPr>
        <p:spPr>
          <a:xfrm flipH="1">
            <a:off x="4398132" y="4232235"/>
            <a:ext cx="398514" cy="0"/>
          </a:xfrm>
          <a:prstGeom prst="straightConnector1">
            <a:avLst/>
          </a:prstGeom>
          <a:ln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mc:AlternateContent xmlns:mc="http://schemas.openxmlformats.org/markup-compatibility/2006" xmlns:a14="http://schemas.microsoft.com/office/drawing/2010/main">
        <mc:Choice Requires="a14">
          <p:sp>
            <p:nvSpPr>
              <p:cNvPr id="35" name="文字方塊 34">
                <a:extLst>
                  <a:ext uri="{FF2B5EF4-FFF2-40B4-BE49-F238E27FC236}">
                    <a16:creationId xmlns:a16="http://schemas.microsoft.com/office/drawing/2014/main" id="{5BDBFB7F-61F5-8EAE-2C60-28F9B4C2C802}"/>
                  </a:ext>
                </a:extLst>
              </p:cNvPr>
              <p:cNvSpPr txBox="1"/>
              <p:nvPr/>
            </p:nvSpPr>
            <p:spPr>
              <a:xfrm>
                <a:off x="422226" y="1837768"/>
                <a:ext cx="1618744" cy="518860"/>
              </a:xfrm>
              <a:prstGeom prst="rect">
                <a:avLst/>
              </a:prstGeom>
              <a:noFill/>
            </p:spPr>
            <p:txBody>
              <a:bodyPr wrap="square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acc>
                        <m:accPr>
                          <m:chr m:val="⃗"/>
                          <m:ctrlPr>
                            <a:rPr lang="zh-TW" altLang="en-US" i="1" smtClean="0">
                              <a:latin typeface="Cambria Math" panose="02040503050406030204" pitchFamily="18" charset="0"/>
                            </a:rPr>
                          </m:ctrlPr>
                        </m:accPr>
                        <m:e>
                          <m:sSub>
                            <m:sSubPr>
                              <m:ctrlPr>
                                <a:rPr lang="zh-TW" altLang="en-US" i="1">
                                  <a:latin typeface="Cambria Math" panose="02040503050406030204" pitchFamily="18" charset="0"/>
                                </a:rPr>
                              </m:ctrlPr>
                            </m:sSubPr>
                            <m:e>
                              <m:r>
                                <a:rPr lang="zh-TW" altLang="en-US" i="1">
                                  <a:latin typeface="Cambria Math" panose="02040503050406030204" pitchFamily="18" charset="0"/>
                                </a:rPr>
                                <m:t>h</m:t>
                              </m:r>
                            </m:e>
                            <m:sub>
                              <m:r>
                                <a:rPr lang="en-US" altLang="zh-TW" b="0" i="1" smtClean="0">
                                  <a:latin typeface="Cambria Math" panose="02040503050406030204" pitchFamily="18" charset="0"/>
                                </a:rPr>
                                <m:t>𝑖</m:t>
                              </m:r>
                            </m:sub>
                          </m:sSub>
                        </m:e>
                      </m:acc>
                      <m:r>
                        <a:rPr lang="en-US" altLang="zh-TW" b="0" i="1" smtClean="0">
                          <a:latin typeface="Cambria Math" panose="02040503050406030204" pitchFamily="18" charset="0"/>
                        </a:rPr>
                        <m:t>=</m:t>
                      </m:r>
                      <m:d>
                        <m:dPr>
                          <m:begChr m:val="["/>
                          <m:endChr m:val="]"/>
                          <m:sepChr m:val=";"/>
                          <m:ctrlPr>
                            <a:rPr lang="zh-TW" altLang="en-US" i="1" smtClean="0">
                              <a:solidFill>
                                <a:schemeClr val="tx1"/>
                              </a:solidFill>
                              <a:latin typeface="Cambria Math" panose="02040503050406030204" pitchFamily="18" charset="0"/>
                            </a:rPr>
                          </m:ctrlPr>
                        </m:dPr>
                        <m:e>
                          <m:acc>
                            <m:accPr>
                              <m:chr m:val="⃗"/>
                              <m:ctrlPr>
                                <a:rPr lang="zh-TW" altLang="en-US" i="1">
                                  <a:solidFill>
                                    <a:schemeClr val="tx1"/>
                                  </a:solidFill>
                                  <a:latin typeface="Cambria Math" panose="02040503050406030204" pitchFamily="18" charset="0"/>
                                </a:rPr>
                              </m:ctrlPr>
                            </m:accPr>
                            <m:e>
                              <m:sSub>
                                <m:sSubPr>
                                  <m:ctrlPr>
                                    <a:rPr lang="zh-TW" altLang="en-US" i="1">
                                      <a:solidFill>
                                        <a:schemeClr val="tx1"/>
                                      </a:solidFill>
                                      <a:latin typeface="Cambria Math" panose="02040503050406030204" pitchFamily="18" charset="0"/>
                                    </a:rPr>
                                  </m:ctrlPr>
                                </m:sSubPr>
                                <m:e>
                                  <m:r>
                                    <a:rPr lang="zh-TW" altLang="en-US" i="1">
                                      <a:solidFill>
                                        <a:schemeClr val="tx1"/>
                                      </a:solidFill>
                                      <a:latin typeface="Cambria Math" panose="02040503050406030204" pitchFamily="18" charset="0"/>
                                    </a:rPr>
                                    <m:t>h</m:t>
                                  </m:r>
                                </m:e>
                                <m:sub>
                                  <m:r>
                                    <a:rPr lang="en-US" altLang="zh-TW" b="0" i="1" smtClean="0">
                                      <a:solidFill>
                                        <a:schemeClr val="tx1"/>
                                      </a:solidFill>
                                      <a:latin typeface="Cambria Math" panose="02040503050406030204" pitchFamily="18" charset="0"/>
                                    </a:rPr>
                                    <m:t>𝑖</m:t>
                                  </m:r>
                                </m:sub>
                              </m:sSub>
                            </m:e>
                          </m:acc>
                        </m:e>
                        <m:e>
                          <m:groupChr>
                            <m:groupChrPr>
                              <m:chr m:val="←"/>
                              <m:pos m:val="top"/>
                              <m:vertJc m:val="bot"/>
                              <m:ctrlPr>
                                <a:rPr lang="zh-TW" altLang="en-US" i="1">
                                  <a:solidFill>
                                    <a:schemeClr val="tx1"/>
                                  </a:solidFill>
                                  <a:latin typeface="Cambria Math" panose="02040503050406030204" pitchFamily="18" charset="0"/>
                                </a:rPr>
                              </m:ctrlPr>
                            </m:groupChrPr>
                            <m:e>
                              <m:sSub>
                                <m:sSubPr>
                                  <m:ctrlPr>
                                    <a:rPr lang="zh-TW" altLang="en-US" i="1">
                                      <a:solidFill>
                                        <a:schemeClr val="tx1"/>
                                      </a:solidFill>
                                      <a:latin typeface="Cambria Math" panose="02040503050406030204" pitchFamily="18" charset="0"/>
                                    </a:rPr>
                                  </m:ctrlPr>
                                </m:sSubPr>
                                <m:e>
                                  <m:r>
                                    <a:rPr lang="zh-TW" altLang="en-US" i="1">
                                      <a:solidFill>
                                        <a:schemeClr val="tx1"/>
                                      </a:solidFill>
                                      <a:latin typeface="Cambria Math" panose="02040503050406030204" pitchFamily="18" charset="0"/>
                                    </a:rPr>
                                    <m:t>h</m:t>
                                  </m:r>
                                </m:e>
                                <m:sub>
                                  <m:r>
                                    <a:rPr lang="en-US" altLang="zh-TW" b="0" i="1" smtClean="0">
                                      <a:solidFill>
                                        <a:schemeClr val="tx1"/>
                                      </a:solidFill>
                                      <a:latin typeface="Cambria Math" panose="02040503050406030204" pitchFamily="18" charset="0"/>
                                    </a:rPr>
                                    <m:t>𝑖</m:t>
                                  </m:r>
                                </m:sub>
                              </m:sSub>
                            </m:e>
                          </m:groupChr>
                        </m:e>
                      </m:d>
                    </m:oMath>
                  </m:oMathPara>
                </a14:m>
                <a:endParaRPr lang="zh-TW" altLang="en-US" dirty="0"/>
              </a:p>
            </p:txBody>
          </p:sp>
        </mc:Choice>
        <mc:Fallback xmlns="">
          <p:sp>
            <p:nvSpPr>
              <p:cNvPr id="35" name="文字方塊 34">
                <a:extLst>
                  <a:ext uri="{FF2B5EF4-FFF2-40B4-BE49-F238E27FC236}">
                    <a16:creationId xmlns:a16="http://schemas.microsoft.com/office/drawing/2014/main" id="{5BDBFB7F-61F5-8EAE-2C60-28F9B4C2C802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422226" y="1837768"/>
                <a:ext cx="1618744" cy="518860"/>
              </a:xfrm>
              <a:prstGeom prst="rect">
                <a:avLst/>
              </a:prstGeom>
              <a:blipFill>
                <a:blip r:embed="rId4"/>
                <a:stretch>
                  <a:fillRect/>
                </a:stretch>
              </a:blipFill>
            </p:spPr>
            <p:txBody>
              <a:bodyPr/>
              <a:lstStyle/>
              <a:p>
                <a:r>
                  <a:rPr lang="zh-TW" altLang="en-US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 xmlns:a14="http://schemas.microsoft.com/office/drawing/2010/main">
        <mc:Choice Requires="a14">
          <p:sp>
            <p:nvSpPr>
              <p:cNvPr id="44" name="文字方塊 43">
                <a:extLst>
                  <a:ext uri="{FF2B5EF4-FFF2-40B4-BE49-F238E27FC236}">
                    <a16:creationId xmlns:a16="http://schemas.microsoft.com/office/drawing/2014/main" id="{BF552B40-AD9A-4122-7DC7-AD71EE704406}"/>
                  </a:ext>
                </a:extLst>
              </p:cNvPr>
              <p:cNvSpPr txBox="1"/>
              <p:nvPr/>
            </p:nvSpPr>
            <p:spPr>
              <a:xfrm>
                <a:off x="496181" y="4380899"/>
                <a:ext cx="572956" cy="339645"/>
              </a:xfrm>
              <a:prstGeom prst="rect">
                <a:avLst/>
              </a:prstGeom>
              <a:noFill/>
            </p:spPr>
            <p:txBody>
              <a:bodyPr wrap="square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acc>
                        <m:accPr>
                          <m:chr m:val="⃗"/>
                          <m:ctrlPr>
                            <a:rPr lang="zh-TW" altLang="en-US" sz="1400" i="1" smtClean="0">
                              <a:latin typeface="Cambria Math" panose="02040503050406030204" pitchFamily="18" charset="0"/>
                            </a:rPr>
                          </m:ctrlPr>
                        </m:accPr>
                        <m:e>
                          <m:sSub>
                            <m:sSubPr>
                              <m:ctrlPr>
                                <a:rPr lang="zh-TW" altLang="en-US" sz="1400" i="1">
                                  <a:latin typeface="Cambria Math" panose="02040503050406030204" pitchFamily="18" charset="0"/>
                                </a:rPr>
                              </m:ctrlPr>
                            </m:sSubPr>
                            <m:e>
                              <m:r>
                                <a:rPr lang="zh-TW" altLang="en-US" sz="1400" i="1">
                                  <a:latin typeface="Cambria Math" panose="02040503050406030204" pitchFamily="18" charset="0"/>
                                </a:rPr>
                                <m:t>h</m:t>
                              </m:r>
                            </m:e>
                            <m:sub>
                              <m:r>
                                <a:rPr lang="en-US" altLang="zh-TW" sz="1400" b="0" i="1" smtClean="0">
                                  <a:latin typeface="Cambria Math" panose="02040503050406030204" pitchFamily="18" charset="0"/>
                                </a:rPr>
                                <m:t>𝑖</m:t>
                              </m:r>
                            </m:sub>
                          </m:sSub>
                        </m:e>
                      </m:acc>
                    </m:oMath>
                  </m:oMathPara>
                </a14:m>
                <a:endParaRPr lang="zh-TW" altLang="en-US" sz="1400" dirty="0"/>
              </a:p>
            </p:txBody>
          </p:sp>
        </mc:Choice>
        <mc:Fallback xmlns="">
          <p:sp>
            <p:nvSpPr>
              <p:cNvPr id="44" name="文字方塊 43">
                <a:extLst>
                  <a:ext uri="{FF2B5EF4-FFF2-40B4-BE49-F238E27FC236}">
                    <a16:creationId xmlns:a16="http://schemas.microsoft.com/office/drawing/2014/main" id="{BF552B40-AD9A-4122-7DC7-AD71EE704406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496181" y="4380899"/>
                <a:ext cx="572956" cy="339645"/>
              </a:xfrm>
              <a:prstGeom prst="rect">
                <a:avLst/>
              </a:prstGeom>
              <a:blipFill>
                <a:blip r:embed="rId5"/>
                <a:stretch>
                  <a:fillRect/>
                </a:stretch>
              </a:blipFill>
            </p:spPr>
            <p:txBody>
              <a:bodyPr/>
              <a:lstStyle/>
              <a:p>
                <a:r>
                  <a:rPr lang="zh-TW" altLang="en-US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 xmlns:a14="http://schemas.microsoft.com/office/drawing/2010/main">
        <mc:Choice Requires="a14">
          <p:sp>
            <p:nvSpPr>
              <p:cNvPr id="47" name="文字方塊 46">
                <a:extLst>
                  <a:ext uri="{FF2B5EF4-FFF2-40B4-BE49-F238E27FC236}">
                    <a16:creationId xmlns:a16="http://schemas.microsoft.com/office/drawing/2014/main" id="{6C015F74-6D89-5871-6E64-2A85C07BA765}"/>
                  </a:ext>
                </a:extLst>
              </p:cNvPr>
              <p:cNvSpPr txBox="1"/>
              <p:nvPr/>
            </p:nvSpPr>
            <p:spPr>
              <a:xfrm>
                <a:off x="494670" y="4012978"/>
                <a:ext cx="572956" cy="367921"/>
              </a:xfrm>
              <a:prstGeom prst="rect">
                <a:avLst/>
              </a:prstGeom>
              <a:noFill/>
            </p:spPr>
            <p:txBody>
              <a:bodyPr wrap="square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groupChr>
                        <m:groupChrPr>
                          <m:chr m:val="←"/>
                          <m:pos m:val="top"/>
                          <m:vertJc m:val="bot"/>
                          <m:ctrlPr>
                            <a:rPr lang="zh-TW" altLang="en-US" sz="1400" i="1" smtClean="0">
                              <a:latin typeface="Cambria Math" panose="02040503050406030204" pitchFamily="18" charset="0"/>
                            </a:rPr>
                          </m:ctrlPr>
                        </m:groupChrPr>
                        <m:e>
                          <m:sSub>
                            <m:sSubPr>
                              <m:ctrlPr>
                                <a:rPr lang="zh-TW" altLang="en-US" sz="1400" i="1">
                                  <a:latin typeface="Cambria Math" panose="02040503050406030204" pitchFamily="18" charset="0"/>
                                </a:rPr>
                              </m:ctrlPr>
                            </m:sSubPr>
                            <m:e>
                              <m:r>
                                <a:rPr lang="zh-TW" altLang="en-US" sz="1400" i="1">
                                  <a:latin typeface="Cambria Math" panose="02040503050406030204" pitchFamily="18" charset="0"/>
                                </a:rPr>
                                <m:t>h</m:t>
                              </m:r>
                            </m:e>
                            <m:sub>
                              <m:r>
                                <a:rPr lang="en-US" altLang="zh-TW" sz="1400" b="0" i="1" smtClean="0">
                                  <a:latin typeface="Cambria Math" panose="02040503050406030204" pitchFamily="18" charset="0"/>
                                </a:rPr>
                                <m:t>𝑖</m:t>
                              </m:r>
                            </m:sub>
                          </m:sSub>
                        </m:e>
                      </m:groupChr>
                    </m:oMath>
                  </m:oMathPara>
                </a14:m>
                <a:endParaRPr lang="zh-TW" altLang="en-US" sz="1400" dirty="0"/>
              </a:p>
            </p:txBody>
          </p:sp>
        </mc:Choice>
        <mc:Fallback xmlns="">
          <p:sp>
            <p:nvSpPr>
              <p:cNvPr id="47" name="文字方塊 46">
                <a:extLst>
                  <a:ext uri="{FF2B5EF4-FFF2-40B4-BE49-F238E27FC236}">
                    <a16:creationId xmlns:a16="http://schemas.microsoft.com/office/drawing/2014/main" id="{6C015F74-6D89-5871-6E64-2A85C07BA765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494670" y="4012978"/>
                <a:ext cx="572956" cy="367921"/>
              </a:xfrm>
              <a:prstGeom prst="rect">
                <a:avLst/>
              </a:prstGeom>
              <a:blipFill>
                <a:blip r:embed="rId6"/>
                <a:stretch>
                  <a:fillRect/>
                </a:stretch>
              </a:blipFill>
            </p:spPr>
            <p:txBody>
              <a:bodyPr/>
              <a:lstStyle/>
              <a:p>
                <a:r>
                  <a:rPr lang="zh-TW" altLang="en-US">
                    <a:noFill/>
                  </a:rPr>
                  <a:t> </a:t>
                </a:r>
              </a:p>
            </p:txBody>
          </p:sp>
        </mc:Fallback>
      </mc:AlternateContent>
      <p:sp>
        <p:nvSpPr>
          <p:cNvPr id="9" name="圓角矩形 8">
            <a:extLst>
              <a:ext uri="{FF2B5EF4-FFF2-40B4-BE49-F238E27FC236}">
                <a16:creationId xmlns:a16="http://schemas.microsoft.com/office/drawing/2014/main" id="{C92E606B-1A37-74CC-368B-F0715BDF1852}"/>
              </a:ext>
            </a:extLst>
          </p:cNvPr>
          <p:cNvSpPr/>
          <p:nvPr/>
        </p:nvSpPr>
        <p:spPr>
          <a:xfrm rot="5400000">
            <a:off x="2003003" y="4061589"/>
            <a:ext cx="372490" cy="207951"/>
          </a:xfrm>
          <a:prstGeom prst="roundRect">
            <a:avLst/>
          </a:prstGeom>
          <a:solidFill>
            <a:schemeClr val="accent5">
              <a:lumMod val="40000"/>
              <a:lumOff val="60000"/>
            </a:schemeClr>
          </a:solidFill>
          <a:ln w="19050">
            <a:solidFill>
              <a:schemeClr val="tx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kumimoji="1" lang="zh-TW" altLang="en-US"/>
          </a:p>
        </p:txBody>
      </p:sp>
      <p:sp>
        <p:nvSpPr>
          <p:cNvPr id="14" name="圓角矩形 13">
            <a:extLst>
              <a:ext uri="{FF2B5EF4-FFF2-40B4-BE49-F238E27FC236}">
                <a16:creationId xmlns:a16="http://schemas.microsoft.com/office/drawing/2014/main" id="{2E6F75A5-3832-D9F5-A394-CC1F607C76C1}"/>
              </a:ext>
            </a:extLst>
          </p:cNvPr>
          <p:cNvSpPr/>
          <p:nvPr/>
        </p:nvSpPr>
        <p:spPr>
          <a:xfrm rot="5400000">
            <a:off x="2003003" y="4443043"/>
            <a:ext cx="372490" cy="207951"/>
          </a:xfrm>
          <a:prstGeom prst="roundRect">
            <a:avLst/>
          </a:prstGeom>
          <a:solidFill>
            <a:schemeClr val="accent5">
              <a:lumMod val="40000"/>
              <a:lumOff val="60000"/>
            </a:schemeClr>
          </a:solidFill>
          <a:ln w="19050">
            <a:solidFill>
              <a:schemeClr val="tx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kumimoji="1" lang="zh-TW" altLang="en-US"/>
          </a:p>
        </p:txBody>
      </p:sp>
      <p:sp>
        <p:nvSpPr>
          <p:cNvPr id="16" name="圓角矩形 15">
            <a:extLst>
              <a:ext uri="{FF2B5EF4-FFF2-40B4-BE49-F238E27FC236}">
                <a16:creationId xmlns:a16="http://schemas.microsoft.com/office/drawing/2014/main" id="{94387754-25D6-11E5-C934-DB75A30C22E0}"/>
              </a:ext>
            </a:extLst>
          </p:cNvPr>
          <p:cNvSpPr/>
          <p:nvPr/>
        </p:nvSpPr>
        <p:spPr>
          <a:xfrm rot="5400000">
            <a:off x="2959245" y="4061589"/>
            <a:ext cx="372490" cy="207951"/>
          </a:xfrm>
          <a:prstGeom prst="roundRect">
            <a:avLst/>
          </a:prstGeom>
          <a:solidFill>
            <a:schemeClr val="accent5">
              <a:lumMod val="40000"/>
              <a:lumOff val="60000"/>
            </a:schemeClr>
          </a:solidFill>
          <a:ln w="19050">
            <a:solidFill>
              <a:schemeClr val="tx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kumimoji="1" lang="zh-TW" altLang="en-US"/>
          </a:p>
        </p:txBody>
      </p:sp>
      <p:sp>
        <p:nvSpPr>
          <p:cNvPr id="17" name="圓角矩形 16">
            <a:extLst>
              <a:ext uri="{FF2B5EF4-FFF2-40B4-BE49-F238E27FC236}">
                <a16:creationId xmlns:a16="http://schemas.microsoft.com/office/drawing/2014/main" id="{073BD1E7-0B31-1E6E-2189-C3385A008F6F}"/>
              </a:ext>
            </a:extLst>
          </p:cNvPr>
          <p:cNvSpPr/>
          <p:nvPr/>
        </p:nvSpPr>
        <p:spPr>
          <a:xfrm rot="5400000">
            <a:off x="2959245" y="4443043"/>
            <a:ext cx="372490" cy="207951"/>
          </a:xfrm>
          <a:prstGeom prst="roundRect">
            <a:avLst/>
          </a:prstGeom>
          <a:solidFill>
            <a:schemeClr val="accent5">
              <a:lumMod val="40000"/>
              <a:lumOff val="60000"/>
            </a:schemeClr>
          </a:solidFill>
          <a:ln w="19050">
            <a:solidFill>
              <a:schemeClr val="tx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kumimoji="1" lang="zh-TW" altLang="en-US"/>
          </a:p>
        </p:txBody>
      </p:sp>
      <p:sp>
        <p:nvSpPr>
          <p:cNvPr id="18" name="圓角矩形 17">
            <a:extLst>
              <a:ext uri="{FF2B5EF4-FFF2-40B4-BE49-F238E27FC236}">
                <a16:creationId xmlns:a16="http://schemas.microsoft.com/office/drawing/2014/main" id="{5E26A7E3-C87D-F6C8-62EC-F4156883CA0F}"/>
              </a:ext>
            </a:extLst>
          </p:cNvPr>
          <p:cNvSpPr/>
          <p:nvPr/>
        </p:nvSpPr>
        <p:spPr>
          <a:xfrm rot="5400000">
            <a:off x="3979527" y="4057806"/>
            <a:ext cx="372490" cy="207951"/>
          </a:xfrm>
          <a:prstGeom prst="roundRect">
            <a:avLst/>
          </a:prstGeom>
          <a:solidFill>
            <a:schemeClr val="accent5">
              <a:lumMod val="40000"/>
              <a:lumOff val="60000"/>
            </a:schemeClr>
          </a:solidFill>
          <a:ln w="19050">
            <a:solidFill>
              <a:schemeClr val="tx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kumimoji="1" lang="zh-TW" altLang="en-US"/>
          </a:p>
        </p:txBody>
      </p:sp>
      <p:sp>
        <p:nvSpPr>
          <p:cNvPr id="19" name="圓角矩形 18">
            <a:extLst>
              <a:ext uri="{FF2B5EF4-FFF2-40B4-BE49-F238E27FC236}">
                <a16:creationId xmlns:a16="http://schemas.microsoft.com/office/drawing/2014/main" id="{937C2B9C-5152-A38E-437A-C41738E2DAD7}"/>
              </a:ext>
            </a:extLst>
          </p:cNvPr>
          <p:cNvSpPr/>
          <p:nvPr/>
        </p:nvSpPr>
        <p:spPr>
          <a:xfrm rot="5400000">
            <a:off x="3979527" y="4439260"/>
            <a:ext cx="372490" cy="207951"/>
          </a:xfrm>
          <a:prstGeom prst="roundRect">
            <a:avLst/>
          </a:prstGeom>
          <a:solidFill>
            <a:schemeClr val="accent5">
              <a:lumMod val="40000"/>
              <a:lumOff val="60000"/>
            </a:schemeClr>
          </a:solidFill>
          <a:ln w="19050">
            <a:solidFill>
              <a:schemeClr val="tx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kumimoji="1" lang="zh-TW" altLang="en-US"/>
          </a:p>
        </p:txBody>
      </p:sp>
      <p:sp>
        <p:nvSpPr>
          <p:cNvPr id="20" name="圓角矩形 19">
            <a:extLst>
              <a:ext uri="{FF2B5EF4-FFF2-40B4-BE49-F238E27FC236}">
                <a16:creationId xmlns:a16="http://schemas.microsoft.com/office/drawing/2014/main" id="{B86DF7B1-8B48-5EB6-53B1-3D12E7D3C8F4}"/>
              </a:ext>
            </a:extLst>
          </p:cNvPr>
          <p:cNvSpPr/>
          <p:nvPr/>
        </p:nvSpPr>
        <p:spPr>
          <a:xfrm rot="5400000">
            <a:off x="4949287" y="4056960"/>
            <a:ext cx="372490" cy="207951"/>
          </a:xfrm>
          <a:prstGeom prst="roundRect">
            <a:avLst/>
          </a:prstGeom>
          <a:solidFill>
            <a:schemeClr val="accent5">
              <a:lumMod val="40000"/>
              <a:lumOff val="60000"/>
            </a:schemeClr>
          </a:solidFill>
          <a:ln w="19050">
            <a:solidFill>
              <a:schemeClr val="tx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kumimoji="1" lang="zh-TW" altLang="en-US"/>
          </a:p>
        </p:txBody>
      </p:sp>
      <p:sp>
        <p:nvSpPr>
          <p:cNvPr id="21" name="圓角矩形 20">
            <a:extLst>
              <a:ext uri="{FF2B5EF4-FFF2-40B4-BE49-F238E27FC236}">
                <a16:creationId xmlns:a16="http://schemas.microsoft.com/office/drawing/2014/main" id="{DEBB9907-9B6C-EDA5-42B5-BB850272233C}"/>
              </a:ext>
            </a:extLst>
          </p:cNvPr>
          <p:cNvSpPr/>
          <p:nvPr/>
        </p:nvSpPr>
        <p:spPr>
          <a:xfrm rot="5400000">
            <a:off x="4949287" y="4438414"/>
            <a:ext cx="372490" cy="207951"/>
          </a:xfrm>
          <a:prstGeom prst="roundRect">
            <a:avLst/>
          </a:prstGeom>
          <a:solidFill>
            <a:schemeClr val="accent5">
              <a:lumMod val="40000"/>
              <a:lumOff val="60000"/>
            </a:schemeClr>
          </a:solidFill>
          <a:ln w="19050">
            <a:solidFill>
              <a:schemeClr val="tx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kumimoji="1" lang="zh-TW" altLang="en-US"/>
          </a:p>
        </p:txBody>
      </p:sp>
      <p:sp>
        <p:nvSpPr>
          <p:cNvPr id="22" name="文字方塊 21">
            <a:extLst>
              <a:ext uri="{FF2B5EF4-FFF2-40B4-BE49-F238E27FC236}">
                <a16:creationId xmlns:a16="http://schemas.microsoft.com/office/drawing/2014/main" id="{204D723C-8628-5114-F524-D1024275B520}"/>
              </a:ext>
            </a:extLst>
          </p:cNvPr>
          <p:cNvSpPr txBox="1"/>
          <p:nvPr/>
        </p:nvSpPr>
        <p:spPr>
          <a:xfrm>
            <a:off x="1028450" y="5876593"/>
            <a:ext cx="398516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kumimoji="1" lang="zh-TW" altLang="en-US" dirty="0"/>
              <a:t>我</a:t>
            </a:r>
          </a:p>
        </p:txBody>
      </p:sp>
      <p:sp>
        <p:nvSpPr>
          <p:cNvPr id="23" name="文字方塊 22">
            <a:extLst>
              <a:ext uri="{FF2B5EF4-FFF2-40B4-BE49-F238E27FC236}">
                <a16:creationId xmlns:a16="http://schemas.microsoft.com/office/drawing/2014/main" id="{725E84D3-EEFD-4E30-10B3-DC53DDA00276}"/>
              </a:ext>
            </a:extLst>
          </p:cNvPr>
          <p:cNvSpPr txBox="1"/>
          <p:nvPr/>
        </p:nvSpPr>
        <p:spPr>
          <a:xfrm>
            <a:off x="1989990" y="5876593"/>
            <a:ext cx="398516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kumimoji="1" lang="zh-TW" altLang="en-US" dirty="0"/>
              <a:t>想</a:t>
            </a:r>
          </a:p>
        </p:txBody>
      </p:sp>
      <p:sp>
        <p:nvSpPr>
          <p:cNvPr id="24" name="文字方塊 23">
            <a:extLst>
              <a:ext uri="{FF2B5EF4-FFF2-40B4-BE49-F238E27FC236}">
                <a16:creationId xmlns:a16="http://schemas.microsoft.com/office/drawing/2014/main" id="{243378B5-20EA-9022-4800-2224CCE60664}"/>
              </a:ext>
            </a:extLst>
          </p:cNvPr>
          <p:cNvSpPr txBox="1"/>
          <p:nvPr/>
        </p:nvSpPr>
        <p:spPr>
          <a:xfrm>
            <a:off x="2946232" y="5876593"/>
            <a:ext cx="398516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kumimoji="1" lang="zh-TW" altLang="en-US" dirty="0"/>
              <a:t>要</a:t>
            </a:r>
          </a:p>
        </p:txBody>
      </p:sp>
      <p:sp>
        <p:nvSpPr>
          <p:cNvPr id="25" name="文字方塊 24">
            <a:extLst>
              <a:ext uri="{FF2B5EF4-FFF2-40B4-BE49-F238E27FC236}">
                <a16:creationId xmlns:a16="http://schemas.microsoft.com/office/drawing/2014/main" id="{F0EC1098-E3B3-E012-A8F4-908CFE46AD42}"/>
              </a:ext>
            </a:extLst>
          </p:cNvPr>
          <p:cNvSpPr txBox="1"/>
          <p:nvPr/>
        </p:nvSpPr>
        <p:spPr>
          <a:xfrm>
            <a:off x="3966514" y="5876593"/>
            <a:ext cx="398516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kumimoji="1" lang="zh-TW" altLang="en-US" dirty="0"/>
              <a:t>放</a:t>
            </a:r>
          </a:p>
        </p:txBody>
      </p:sp>
      <p:sp>
        <p:nvSpPr>
          <p:cNvPr id="32" name="文字方塊 31">
            <a:extLst>
              <a:ext uri="{FF2B5EF4-FFF2-40B4-BE49-F238E27FC236}">
                <a16:creationId xmlns:a16="http://schemas.microsoft.com/office/drawing/2014/main" id="{332D244C-CEDF-F946-F885-EAFF878CF653}"/>
              </a:ext>
            </a:extLst>
          </p:cNvPr>
          <p:cNvSpPr txBox="1"/>
          <p:nvPr/>
        </p:nvSpPr>
        <p:spPr>
          <a:xfrm>
            <a:off x="4936274" y="5843215"/>
            <a:ext cx="398516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kumimoji="1" lang="zh-TW" altLang="en-US" dirty="0"/>
              <a:t>假</a:t>
            </a:r>
          </a:p>
        </p:txBody>
      </p:sp>
      <p:sp>
        <p:nvSpPr>
          <p:cNvPr id="37" name="矩形 36">
            <a:extLst>
              <a:ext uri="{FF2B5EF4-FFF2-40B4-BE49-F238E27FC236}">
                <a16:creationId xmlns:a16="http://schemas.microsoft.com/office/drawing/2014/main" id="{19366382-D520-D4FC-4410-5DB256F698D8}"/>
              </a:ext>
            </a:extLst>
          </p:cNvPr>
          <p:cNvSpPr/>
          <p:nvPr/>
        </p:nvSpPr>
        <p:spPr>
          <a:xfrm>
            <a:off x="911313" y="5134787"/>
            <a:ext cx="575253" cy="379818"/>
          </a:xfrm>
          <a:prstGeom prst="rect">
            <a:avLst/>
          </a:prstGeom>
          <a:noFill/>
          <a:ln>
            <a:solidFill>
              <a:schemeClr val="tx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kumimoji="1" lang="en-US" altLang="zh-TW" sz="1400" dirty="0">
                <a:solidFill>
                  <a:schemeClr val="tx1"/>
                </a:solidFill>
              </a:rPr>
              <a:t>RNN</a:t>
            </a:r>
            <a:endParaRPr kumimoji="1" lang="zh-TW" altLang="en-US" sz="1400" dirty="0">
              <a:solidFill>
                <a:schemeClr val="tx1"/>
              </a:solidFill>
            </a:endParaRPr>
          </a:p>
        </p:txBody>
      </p:sp>
      <p:sp>
        <p:nvSpPr>
          <p:cNvPr id="46" name="矩形 45">
            <a:extLst>
              <a:ext uri="{FF2B5EF4-FFF2-40B4-BE49-F238E27FC236}">
                <a16:creationId xmlns:a16="http://schemas.microsoft.com/office/drawing/2014/main" id="{29069FF0-69B7-5EF1-4CF7-13C192A439E7}"/>
              </a:ext>
            </a:extLst>
          </p:cNvPr>
          <p:cNvSpPr/>
          <p:nvPr/>
        </p:nvSpPr>
        <p:spPr>
          <a:xfrm>
            <a:off x="1901622" y="5134787"/>
            <a:ext cx="575253" cy="379818"/>
          </a:xfrm>
          <a:prstGeom prst="rect">
            <a:avLst/>
          </a:prstGeom>
          <a:noFill/>
          <a:ln>
            <a:solidFill>
              <a:schemeClr val="tx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kumimoji="1" lang="en-US" altLang="zh-TW" sz="1400" dirty="0">
                <a:solidFill>
                  <a:schemeClr val="tx1"/>
                </a:solidFill>
              </a:rPr>
              <a:t>RNN</a:t>
            </a:r>
            <a:endParaRPr kumimoji="1" lang="zh-TW" altLang="en-US" sz="1400" dirty="0">
              <a:solidFill>
                <a:schemeClr val="tx1"/>
              </a:solidFill>
            </a:endParaRPr>
          </a:p>
        </p:txBody>
      </p:sp>
      <p:sp>
        <p:nvSpPr>
          <p:cNvPr id="48" name="矩形 47">
            <a:extLst>
              <a:ext uri="{FF2B5EF4-FFF2-40B4-BE49-F238E27FC236}">
                <a16:creationId xmlns:a16="http://schemas.microsoft.com/office/drawing/2014/main" id="{38F7B689-C2B2-1B34-2B3C-E0F5A84356D3}"/>
              </a:ext>
            </a:extLst>
          </p:cNvPr>
          <p:cNvSpPr/>
          <p:nvPr/>
        </p:nvSpPr>
        <p:spPr>
          <a:xfrm>
            <a:off x="2850931" y="5134787"/>
            <a:ext cx="575253" cy="379818"/>
          </a:xfrm>
          <a:prstGeom prst="rect">
            <a:avLst/>
          </a:prstGeom>
          <a:noFill/>
          <a:ln>
            <a:solidFill>
              <a:schemeClr val="tx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kumimoji="1" lang="en-US" altLang="zh-TW" sz="1400" dirty="0">
                <a:solidFill>
                  <a:schemeClr val="tx1"/>
                </a:solidFill>
              </a:rPr>
              <a:t>RNN</a:t>
            </a:r>
            <a:endParaRPr kumimoji="1" lang="zh-TW" altLang="en-US" sz="1400" dirty="0">
              <a:solidFill>
                <a:schemeClr val="tx1"/>
              </a:solidFill>
            </a:endParaRPr>
          </a:p>
        </p:txBody>
      </p:sp>
      <p:sp>
        <p:nvSpPr>
          <p:cNvPr id="52" name="矩形 51">
            <a:extLst>
              <a:ext uri="{FF2B5EF4-FFF2-40B4-BE49-F238E27FC236}">
                <a16:creationId xmlns:a16="http://schemas.microsoft.com/office/drawing/2014/main" id="{6D9A9D19-14BC-7C64-5A3F-A68EEA86EF0B}"/>
              </a:ext>
            </a:extLst>
          </p:cNvPr>
          <p:cNvSpPr/>
          <p:nvPr/>
        </p:nvSpPr>
        <p:spPr>
          <a:xfrm>
            <a:off x="3878145" y="5134787"/>
            <a:ext cx="575253" cy="379818"/>
          </a:xfrm>
          <a:prstGeom prst="rect">
            <a:avLst/>
          </a:prstGeom>
          <a:noFill/>
          <a:ln>
            <a:solidFill>
              <a:schemeClr val="tx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kumimoji="1" lang="en-US" altLang="zh-TW" sz="1400" dirty="0">
                <a:solidFill>
                  <a:schemeClr val="tx1"/>
                </a:solidFill>
              </a:rPr>
              <a:t>RNN</a:t>
            </a:r>
            <a:endParaRPr kumimoji="1" lang="zh-TW" altLang="en-US" sz="1400" dirty="0">
              <a:solidFill>
                <a:schemeClr val="tx1"/>
              </a:solidFill>
            </a:endParaRPr>
          </a:p>
        </p:txBody>
      </p:sp>
      <p:sp>
        <p:nvSpPr>
          <p:cNvPr id="53" name="矩形 52">
            <a:extLst>
              <a:ext uri="{FF2B5EF4-FFF2-40B4-BE49-F238E27FC236}">
                <a16:creationId xmlns:a16="http://schemas.microsoft.com/office/drawing/2014/main" id="{872D4D06-61F2-0F4D-9A57-F5FD6C144EAE}"/>
              </a:ext>
            </a:extLst>
          </p:cNvPr>
          <p:cNvSpPr/>
          <p:nvPr/>
        </p:nvSpPr>
        <p:spPr>
          <a:xfrm>
            <a:off x="4847905" y="5134787"/>
            <a:ext cx="575253" cy="379818"/>
          </a:xfrm>
          <a:prstGeom prst="rect">
            <a:avLst/>
          </a:prstGeom>
          <a:noFill/>
          <a:ln>
            <a:solidFill>
              <a:schemeClr val="tx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kumimoji="1" lang="en-US" altLang="zh-TW" sz="1400" dirty="0">
                <a:solidFill>
                  <a:schemeClr val="tx1"/>
                </a:solidFill>
              </a:rPr>
              <a:t>RNN</a:t>
            </a:r>
            <a:endParaRPr kumimoji="1" lang="zh-TW" altLang="en-US" sz="1400" dirty="0">
              <a:solidFill>
                <a:schemeClr val="tx1"/>
              </a:solidFill>
            </a:endParaRPr>
          </a:p>
        </p:txBody>
      </p:sp>
      <p:cxnSp>
        <p:nvCxnSpPr>
          <p:cNvPr id="55" name="直線箭頭接點 54">
            <a:extLst>
              <a:ext uri="{FF2B5EF4-FFF2-40B4-BE49-F238E27FC236}">
                <a16:creationId xmlns:a16="http://schemas.microsoft.com/office/drawing/2014/main" id="{213B201F-C9C9-162C-159B-0BD8BE525E24}"/>
              </a:ext>
            </a:extLst>
          </p:cNvPr>
          <p:cNvCxnSpPr>
            <a:cxnSpLocks/>
          </p:cNvCxnSpPr>
          <p:nvPr/>
        </p:nvCxnSpPr>
        <p:spPr>
          <a:xfrm flipV="1">
            <a:off x="1216822" y="5607843"/>
            <a:ext cx="0" cy="248679"/>
          </a:xfrm>
          <a:prstGeom prst="straightConnector1">
            <a:avLst/>
          </a:prstGeom>
          <a:ln>
            <a:solidFill>
              <a:schemeClr val="tx1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60" name="直線箭頭接點 59">
            <a:extLst>
              <a:ext uri="{FF2B5EF4-FFF2-40B4-BE49-F238E27FC236}">
                <a16:creationId xmlns:a16="http://schemas.microsoft.com/office/drawing/2014/main" id="{044D67CF-2BCB-A948-F34C-74E69E558347}"/>
              </a:ext>
            </a:extLst>
          </p:cNvPr>
          <p:cNvCxnSpPr>
            <a:cxnSpLocks/>
          </p:cNvCxnSpPr>
          <p:nvPr/>
        </p:nvCxnSpPr>
        <p:spPr>
          <a:xfrm flipV="1">
            <a:off x="1227708" y="4825311"/>
            <a:ext cx="0" cy="248679"/>
          </a:xfrm>
          <a:prstGeom prst="straightConnector1">
            <a:avLst/>
          </a:prstGeom>
          <a:ln>
            <a:solidFill>
              <a:schemeClr val="tx1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62" name="直線箭頭接點 61">
            <a:extLst>
              <a:ext uri="{FF2B5EF4-FFF2-40B4-BE49-F238E27FC236}">
                <a16:creationId xmlns:a16="http://schemas.microsoft.com/office/drawing/2014/main" id="{83A1BA2F-F3D1-4B12-F970-2DD4EC28B28B}"/>
              </a:ext>
            </a:extLst>
          </p:cNvPr>
          <p:cNvCxnSpPr>
            <a:cxnSpLocks/>
          </p:cNvCxnSpPr>
          <p:nvPr/>
        </p:nvCxnSpPr>
        <p:spPr>
          <a:xfrm flipV="1">
            <a:off x="2189248" y="5607843"/>
            <a:ext cx="0" cy="248679"/>
          </a:xfrm>
          <a:prstGeom prst="straightConnector1">
            <a:avLst/>
          </a:prstGeom>
          <a:ln>
            <a:solidFill>
              <a:schemeClr val="tx1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63" name="直線箭頭接點 62">
            <a:extLst>
              <a:ext uri="{FF2B5EF4-FFF2-40B4-BE49-F238E27FC236}">
                <a16:creationId xmlns:a16="http://schemas.microsoft.com/office/drawing/2014/main" id="{13949679-4AB3-234A-773C-4FE2D726BF59}"/>
              </a:ext>
            </a:extLst>
          </p:cNvPr>
          <p:cNvCxnSpPr>
            <a:cxnSpLocks/>
          </p:cNvCxnSpPr>
          <p:nvPr/>
        </p:nvCxnSpPr>
        <p:spPr>
          <a:xfrm flipV="1">
            <a:off x="2189248" y="4825311"/>
            <a:ext cx="0" cy="248679"/>
          </a:xfrm>
          <a:prstGeom prst="straightConnector1">
            <a:avLst/>
          </a:prstGeom>
          <a:ln>
            <a:solidFill>
              <a:schemeClr val="tx1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68" name="直線箭頭接點 67">
            <a:extLst>
              <a:ext uri="{FF2B5EF4-FFF2-40B4-BE49-F238E27FC236}">
                <a16:creationId xmlns:a16="http://schemas.microsoft.com/office/drawing/2014/main" id="{1D304632-8F35-DB71-D398-BD3E3491AEDF}"/>
              </a:ext>
            </a:extLst>
          </p:cNvPr>
          <p:cNvCxnSpPr>
            <a:cxnSpLocks/>
          </p:cNvCxnSpPr>
          <p:nvPr/>
        </p:nvCxnSpPr>
        <p:spPr>
          <a:xfrm flipV="1">
            <a:off x="3150664" y="5607843"/>
            <a:ext cx="0" cy="248679"/>
          </a:xfrm>
          <a:prstGeom prst="straightConnector1">
            <a:avLst/>
          </a:prstGeom>
          <a:ln>
            <a:solidFill>
              <a:schemeClr val="tx1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69" name="直線箭頭接點 68">
            <a:extLst>
              <a:ext uri="{FF2B5EF4-FFF2-40B4-BE49-F238E27FC236}">
                <a16:creationId xmlns:a16="http://schemas.microsoft.com/office/drawing/2014/main" id="{51FA1684-5FD9-6DBC-319D-3A594F5D0F6C}"/>
              </a:ext>
            </a:extLst>
          </p:cNvPr>
          <p:cNvCxnSpPr>
            <a:cxnSpLocks/>
          </p:cNvCxnSpPr>
          <p:nvPr/>
        </p:nvCxnSpPr>
        <p:spPr>
          <a:xfrm flipV="1">
            <a:off x="3150664" y="4825311"/>
            <a:ext cx="0" cy="248679"/>
          </a:xfrm>
          <a:prstGeom prst="straightConnector1">
            <a:avLst/>
          </a:prstGeom>
          <a:ln>
            <a:solidFill>
              <a:schemeClr val="tx1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70" name="直線箭頭接點 69">
            <a:extLst>
              <a:ext uri="{FF2B5EF4-FFF2-40B4-BE49-F238E27FC236}">
                <a16:creationId xmlns:a16="http://schemas.microsoft.com/office/drawing/2014/main" id="{1A56991F-1023-0A83-B9AE-A83F04F9E3DE}"/>
              </a:ext>
            </a:extLst>
          </p:cNvPr>
          <p:cNvCxnSpPr>
            <a:cxnSpLocks/>
          </p:cNvCxnSpPr>
          <p:nvPr/>
        </p:nvCxnSpPr>
        <p:spPr>
          <a:xfrm flipV="1">
            <a:off x="4165771" y="5607843"/>
            <a:ext cx="0" cy="248679"/>
          </a:xfrm>
          <a:prstGeom prst="straightConnector1">
            <a:avLst/>
          </a:prstGeom>
          <a:ln>
            <a:solidFill>
              <a:schemeClr val="tx1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71" name="直線箭頭接點 70">
            <a:extLst>
              <a:ext uri="{FF2B5EF4-FFF2-40B4-BE49-F238E27FC236}">
                <a16:creationId xmlns:a16="http://schemas.microsoft.com/office/drawing/2014/main" id="{3E6B0BDF-1DFC-04A0-7CD5-6BA19E3EECFD}"/>
              </a:ext>
            </a:extLst>
          </p:cNvPr>
          <p:cNvCxnSpPr>
            <a:cxnSpLocks/>
          </p:cNvCxnSpPr>
          <p:nvPr/>
        </p:nvCxnSpPr>
        <p:spPr>
          <a:xfrm flipV="1">
            <a:off x="4165771" y="4825311"/>
            <a:ext cx="0" cy="248679"/>
          </a:xfrm>
          <a:prstGeom prst="straightConnector1">
            <a:avLst/>
          </a:prstGeom>
          <a:ln>
            <a:solidFill>
              <a:schemeClr val="tx1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72" name="直線箭頭接點 71">
            <a:extLst>
              <a:ext uri="{FF2B5EF4-FFF2-40B4-BE49-F238E27FC236}">
                <a16:creationId xmlns:a16="http://schemas.microsoft.com/office/drawing/2014/main" id="{A02D3CCF-5471-FF03-B900-BF2C1E3B4942}"/>
              </a:ext>
            </a:extLst>
          </p:cNvPr>
          <p:cNvCxnSpPr>
            <a:cxnSpLocks/>
          </p:cNvCxnSpPr>
          <p:nvPr/>
        </p:nvCxnSpPr>
        <p:spPr>
          <a:xfrm flipV="1">
            <a:off x="5135531" y="5607843"/>
            <a:ext cx="0" cy="248679"/>
          </a:xfrm>
          <a:prstGeom prst="straightConnector1">
            <a:avLst/>
          </a:prstGeom>
          <a:ln>
            <a:solidFill>
              <a:schemeClr val="tx1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73" name="直線箭頭接點 72">
            <a:extLst>
              <a:ext uri="{FF2B5EF4-FFF2-40B4-BE49-F238E27FC236}">
                <a16:creationId xmlns:a16="http://schemas.microsoft.com/office/drawing/2014/main" id="{8DC86193-C03A-FB52-7AD0-4CF3A123A7C7}"/>
              </a:ext>
            </a:extLst>
          </p:cNvPr>
          <p:cNvCxnSpPr>
            <a:cxnSpLocks/>
          </p:cNvCxnSpPr>
          <p:nvPr/>
        </p:nvCxnSpPr>
        <p:spPr>
          <a:xfrm flipV="1">
            <a:off x="5135531" y="4825311"/>
            <a:ext cx="0" cy="248679"/>
          </a:xfrm>
          <a:prstGeom prst="straightConnector1">
            <a:avLst/>
          </a:prstGeom>
          <a:ln>
            <a:solidFill>
              <a:schemeClr val="tx1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74" name="文字方塊 73">
            <a:extLst>
              <a:ext uri="{FF2B5EF4-FFF2-40B4-BE49-F238E27FC236}">
                <a16:creationId xmlns:a16="http://schemas.microsoft.com/office/drawing/2014/main" id="{5E3C23B4-07EB-A6D5-71D2-BFFAA6764F22}"/>
              </a:ext>
            </a:extLst>
          </p:cNvPr>
          <p:cNvSpPr txBox="1"/>
          <p:nvPr/>
        </p:nvSpPr>
        <p:spPr>
          <a:xfrm>
            <a:off x="6182953" y="5876593"/>
            <a:ext cx="398516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kumimoji="1" lang="en-US" altLang="zh-TW" dirty="0"/>
              <a:t>_</a:t>
            </a:r>
            <a:endParaRPr kumimoji="1" lang="zh-TW" altLang="en-US" dirty="0"/>
          </a:p>
        </p:txBody>
      </p:sp>
      <p:sp>
        <p:nvSpPr>
          <p:cNvPr id="79" name="矩形 78">
            <a:extLst>
              <a:ext uri="{FF2B5EF4-FFF2-40B4-BE49-F238E27FC236}">
                <a16:creationId xmlns:a16="http://schemas.microsoft.com/office/drawing/2014/main" id="{69338519-D469-6F2B-8EC2-8D88CA3E8B57}"/>
              </a:ext>
            </a:extLst>
          </p:cNvPr>
          <p:cNvSpPr/>
          <p:nvPr/>
        </p:nvSpPr>
        <p:spPr>
          <a:xfrm>
            <a:off x="6065816" y="5134787"/>
            <a:ext cx="575253" cy="379818"/>
          </a:xfrm>
          <a:prstGeom prst="rect">
            <a:avLst/>
          </a:prstGeom>
          <a:noFill/>
          <a:ln>
            <a:solidFill>
              <a:schemeClr val="tx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kumimoji="1" lang="en-US" altLang="zh-TW" sz="1400" dirty="0">
                <a:solidFill>
                  <a:schemeClr val="tx1"/>
                </a:solidFill>
              </a:rPr>
              <a:t>RNN</a:t>
            </a:r>
            <a:endParaRPr kumimoji="1" lang="zh-TW" altLang="en-US" sz="1400" dirty="0">
              <a:solidFill>
                <a:schemeClr val="tx1"/>
              </a:solidFill>
            </a:endParaRPr>
          </a:p>
        </p:txBody>
      </p:sp>
      <p:cxnSp>
        <p:nvCxnSpPr>
          <p:cNvPr id="84" name="直線箭頭接點 83">
            <a:extLst>
              <a:ext uri="{FF2B5EF4-FFF2-40B4-BE49-F238E27FC236}">
                <a16:creationId xmlns:a16="http://schemas.microsoft.com/office/drawing/2014/main" id="{E33A24B3-9DDB-02D7-BAF2-BC4B38624D36}"/>
              </a:ext>
            </a:extLst>
          </p:cNvPr>
          <p:cNvCxnSpPr>
            <a:cxnSpLocks/>
          </p:cNvCxnSpPr>
          <p:nvPr/>
        </p:nvCxnSpPr>
        <p:spPr>
          <a:xfrm flipV="1">
            <a:off x="6371325" y="5607843"/>
            <a:ext cx="0" cy="248679"/>
          </a:xfrm>
          <a:prstGeom prst="straightConnector1">
            <a:avLst/>
          </a:prstGeom>
          <a:ln>
            <a:solidFill>
              <a:schemeClr val="tx1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98" name="圓角矩形 97">
            <a:extLst>
              <a:ext uri="{FF2B5EF4-FFF2-40B4-BE49-F238E27FC236}">
                <a16:creationId xmlns:a16="http://schemas.microsoft.com/office/drawing/2014/main" id="{1931643E-26A7-F08B-F668-40B6A7022F9B}"/>
              </a:ext>
            </a:extLst>
          </p:cNvPr>
          <p:cNvSpPr/>
          <p:nvPr/>
        </p:nvSpPr>
        <p:spPr>
          <a:xfrm rot="5400000">
            <a:off x="5446665" y="3332793"/>
            <a:ext cx="372490" cy="207951"/>
          </a:xfrm>
          <a:prstGeom prst="roundRect">
            <a:avLst/>
          </a:prstGeom>
          <a:solidFill>
            <a:schemeClr val="accent5">
              <a:lumMod val="40000"/>
              <a:lumOff val="60000"/>
            </a:schemeClr>
          </a:solidFill>
          <a:ln w="19050">
            <a:solidFill>
              <a:schemeClr val="tx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kumimoji="1" lang="zh-TW" altLang="en-US"/>
          </a:p>
        </p:txBody>
      </p:sp>
      <p:cxnSp>
        <p:nvCxnSpPr>
          <p:cNvPr id="100" name="肘形接點 99">
            <a:extLst>
              <a:ext uri="{FF2B5EF4-FFF2-40B4-BE49-F238E27FC236}">
                <a16:creationId xmlns:a16="http://schemas.microsoft.com/office/drawing/2014/main" id="{ECF3CCFA-A9BD-A0EC-6E09-3F93BBE23403}"/>
              </a:ext>
            </a:extLst>
          </p:cNvPr>
          <p:cNvCxnSpPr>
            <a:cxnSpLocks/>
            <a:stCxn id="20" idx="1"/>
            <a:endCxn id="98" idx="2"/>
          </p:cNvCxnSpPr>
          <p:nvPr/>
        </p:nvCxnSpPr>
        <p:spPr>
          <a:xfrm rot="5400000" flipH="1" flipV="1">
            <a:off x="5063272" y="3509029"/>
            <a:ext cx="537922" cy="393403"/>
          </a:xfrm>
          <a:prstGeom prst="bentConnector2">
            <a:avLst/>
          </a:prstGeom>
          <a:ln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05" name="直線箭頭接點 104">
            <a:extLst>
              <a:ext uri="{FF2B5EF4-FFF2-40B4-BE49-F238E27FC236}">
                <a16:creationId xmlns:a16="http://schemas.microsoft.com/office/drawing/2014/main" id="{BEF0AF55-4740-7EAB-390F-8D27D252010E}"/>
              </a:ext>
            </a:extLst>
          </p:cNvPr>
          <p:cNvCxnSpPr>
            <a:cxnSpLocks/>
          </p:cNvCxnSpPr>
          <p:nvPr/>
        </p:nvCxnSpPr>
        <p:spPr>
          <a:xfrm>
            <a:off x="1530350" y="5324624"/>
            <a:ext cx="344029" cy="0"/>
          </a:xfrm>
          <a:prstGeom prst="straightConnector1">
            <a:avLst/>
          </a:prstGeom>
          <a:ln>
            <a:solidFill>
              <a:schemeClr val="tx1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07" name="直線箭頭接點 106">
            <a:extLst>
              <a:ext uri="{FF2B5EF4-FFF2-40B4-BE49-F238E27FC236}">
                <a16:creationId xmlns:a16="http://schemas.microsoft.com/office/drawing/2014/main" id="{2485EC92-AC3E-DFE8-FBC9-0E14C12A34E2}"/>
              </a:ext>
            </a:extLst>
          </p:cNvPr>
          <p:cNvCxnSpPr>
            <a:cxnSpLocks/>
          </p:cNvCxnSpPr>
          <p:nvPr/>
        </p:nvCxnSpPr>
        <p:spPr>
          <a:xfrm>
            <a:off x="2495216" y="5324624"/>
            <a:ext cx="344029" cy="0"/>
          </a:xfrm>
          <a:prstGeom prst="straightConnector1">
            <a:avLst/>
          </a:prstGeom>
          <a:ln>
            <a:solidFill>
              <a:schemeClr val="tx1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08" name="直線箭頭接點 107">
            <a:extLst>
              <a:ext uri="{FF2B5EF4-FFF2-40B4-BE49-F238E27FC236}">
                <a16:creationId xmlns:a16="http://schemas.microsoft.com/office/drawing/2014/main" id="{049E9A4D-441B-CDA6-44BC-FCD3F836CC97}"/>
              </a:ext>
            </a:extLst>
          </p:cNvPr>
          <p:cNvCxnSpPr>
            <a:cxnSpLocks/>
          </p:cNvCxnSpPr>
          <p:nvPr/>
        </p:nvCxnSpPr>
        <p:spPr>
          <a:xfrm>
            <a:off x="3480670" y="5324624"/>
            <a:ext cx="344029" cy="0"/>
          </a:xfrm>
          <a:prstGeom prst="straightConnector1">
            <a:avLst/>
          </a:prstGeom>
          <a:ln>
            <a:solidFill>
              <a:schemeClr val="tx1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09" name="直線箭頭接點 108">
            <a:extLst>
              <a:ext uri="{FF2B5EF4-FFF2-40B4-BE49-F238E27FC236}">
                <a16:creationId xmlns:a16="http://schemas.microsoft.com/office/drawing/2014/main" id="{9B0D88FC-C422-1C14-601B-54ADAC054B62}"/>
              </a:ext>
            </a:extLst>
          </p:cNvPr>
          <p:cNvCxnSpPr>
            <a:cxnSpLocks/>
          </p:cNvCxnSpPr>
          <p:nvPr/>
        </p:nvCxnSpPr>
        <p:spPr>
          <a:xfrm>
            <a:off x="4492990" y="5324624"/>
            <a:ext cx="344029" cy="0"/>
          </a:xfrm>
          <a:prstGeom prst="straightConnector1">
            <a:avLst/>
          </a:prstGeom>
          <a:ln>
            <a:solidFill>
              <a:schemeClr val="tx1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grpSp>
        <p:nvGrpSpPr>
          <p:cNvPr id="174" name="群組 173">
            <a:extLst>
              <a:ext uri="{FF2B5EF4-FFF2-40B4-BE49-F238E27FC236}">
                <a16:creationId xmlns:a16="http://schemas.microsoft.com/office/drawing/2014/main" id="{357C2E4A-9FE9-FA48-208C-A11B59C84DB3}"/>
              </a:ext>
            </a:extLst>
          </p:cNvPr>
          <p:cNvGrpSpPr/>
          <p:nvPr/>
        </p:nvGrpSpPr>
        <p:grpSpPr>
          <a:xfrm>
            <a:off x="6681569" y="5134787"/>
            <a:ext cx="1019335" cy="1111138"/>
            <a:chOff x="6681569" y="5134787"/>
            <a:chExt cx="1019335" cy="1111138"/>
          </a:xfrm>
        </p:grpSpPr>
        <p:sp>
          <p:nvSpPr>
            <p:cNvPr id="75" name="文字方塊 74">
              <a:extLst>
                <a:ext uri="{FF2B5EF4-FFF2-40B4-BE49-F238E27FC236}">
                  <a16:creationId xmlns:a16="http://schemas.microsoft.com/office/drawing/2014/main" id="{2D4B66CE-E4E2-F27A-8909-474246C624FD}"/>
                </a:ext>
              </a:extLst>
            </p:cNvPr>
            <p:cNvSpPr txBox="1"/>
            <p:nvPr/>
          </p:nvSpPr>
          <p:spPr>
            <a:xfrm>
              <a:off x="6981299" y="5876593"/>
              <a:ext cx="719605" cy="369332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pPr algn="ctr"/>
              <a:r>
                <a:rPr kumimoji="1" lang="en-US" altLang="zh-TW" dirty="0"/>
                <a:t>I</a:t>
              </a:r>
              <a:endParaRPr kumimoji="1" lang="zh-TW" altLang="en-US" dirty="0"/>
            </a:p>
          </p:txBody>
        </p:sp>
        <p:sp>
          <p:nvSpPr>
            <p:cNvPr id="80" name="矩形 79">
              <a:extLst>
                <a:ext uri="{FF2B5EF4-FFF2-40B4-BE49-F238E27FC236}">
                  <a16:creationId xmlns:a16="http://schemas.microsoft.com/office/drawing/2014/main" id="{C4F1579C-4DE8-65FC-3988-F4649521897F}"/>
                </a:ext>
              </a:extLst>
            </p:cNvPr>
            <p:cNvSpPr/>
            <p:nvPr/>
          </p:nvSpPr>
          <p:spPr>
            <a:xfrm>
              <a:off x="7056125" y="5134787"/>
              <a:ext cx="575253" cy="379818"/>
            </a:xfrm>
            <a:prstGeom prst="rect">
              <a:avLst/>
            </a:prstGeom>
            <a:noFill/>
            <a:ln>
              <a:solidFill>
                <a:schemeClr val="tx1"/>
              </a:solidFill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r>
                <a:rPr kumimoji="1" lang="en-US" altLang="zh-TW" sz="1400" dirty="0">
                  <a:solidFill>
                    <a:schemeClr val="tx1"/>
                  </a:solidFill>
                </a:rPr>
                <a:t>RNN</a:t>
              </a:r>
              <a:endParaRPr kumimoji="1" lang="zh-TW" altLang="en-US" sz="1400" dirty="0">
                <a:solidFill>
                  <a:schemeClr val="tx1"/>
                </a:solidFill>
              </a:endParaRPr>
            </a:p>
          </p:txBody>
        </p:sp>
        <p:cxnSp>
          <p:nvCxnSpPr>
            <p:cNvPr id="86" name="直線箭頭接點 85">
              <a:extLst>
                <a:ext uri="{FF2B5EF4-FFF2-40B4-BE49-F238E27FC236}">
                  <a16:creationId xmlns:a16="http://schemas.microsoft.com/office/drawing/2014/main" id="{AE79368C-D8CA-8D66-1E81-77BA0C4D5662}"/>
                </a:ext>
              </a:extLst>
            </p:cNvPr>
            <p:cNvCxnSpPr>
              <a:cxnSpLocks/>
            </p:cNvCxnSpPr>
            <p:nvPr/>
          </p:nvCxnSpPr>
          <p:spPr>
            <a:xfrm flipV="1">
              <a:off x="7343751" y="5607843"/>
              <a:ext cx="0" cy="248679"/>
            </a:xfrm>
            <a:prstGeom prst="straightConnector1">
              <a:avLst/>
            </a:prstGeom>
            <a:ln>
              <a:solidFill>
                <a:schemeClr val="tx1"/>
              </a:solidFill>
              <a:tailEnd type="triangle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110" name="直線箭頭接點 109">
              <a:extLst>
                <a:ext uri="{FF2B5EF4-FFF2-40B4-BE49-F238E27FC236}">
                  <a16:creationId xmlns:a16="http://schemas.microsoft.com/office/drawing/2014/main" id="{D76CCA10-624E-4578-584C-06D5915F1EF0}"/>
                </a:ext>
              </a:extLst>
            </p:cNvPr>
            <p:cNvCxnSpPr>
              <a:cxnSpLocks/>
            </p:cNvCxnSpPr>
            <p:nvPr/>
          </p:nvCxnSpPr>
          <p:spPr>
            <a:xfrm>
              <a:off x="6681569" y="5324624"/>
              <a:ext cx="344029" cy="0"/>
            </a:xfrm>
            <a:prstGeom prst="straightConnector1">
              <a:avLst/>
            </a:prstGeom>
            <a:ln>
              <a:solidFill>
                <a:schemeClr val="tx1"/>
              </a:solidFill>
              <a:tailEnd type="triangle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</p:grpSp>
      <p:grpSp>
        <p:nvGrpSpPr>
          <p:cNvPr id="175" name="群組 174">
            <a:extLst>
              <a:ext uri="{FF2B5EF4-FFF2-40B4-BE49-F238E27FC236}">
                <a16:creationId xmlns:a16="http://schemas.microsoft.com/office/drawing/2014/main" id="{BAEFCB2B-D410-C45E-82D1-988C09E59F23}"/>
              </a:ext>
            </a:extLst>
          </p:cNvPr>
          <p:cNvGrpSpPr/>
          <p:nvPr/>
        </p:nvGrpSpPr>
        <p:grpSpPr>
          <a:xfrm>
            <a:off x="7646435" y="5134787"/>
            <a:ext cx="1023758" cy="1106032"/>
            <a:chOff x="7646435" y="5134787"/>
            <a:chExt cx="1023758" cy="1106032"/>
          </a:xfrm>
        </p:grpSpPr>
        <p:sp>
          <p:nvSpPr>
            <p:cNvPr id="81" name="矩形 80">
              <a:extLst>
                <a:ext uri="{FF2B5EF4-FFF2-40B4-BE49-F238E27FC236}">
                  <a16:creationId xmlns:a16="http://schemas.microsoft.com/office/drawing/2014/main" id="{9FDAF860-A1EA-5EE1-A7BC-B1F200F8FA71}"/>
                </a:ext>
              </a:extLst>
            </p:cNvPr>
            <p:cNvSpPr/>
            <p:nvPr/>
          </p:nvSpPr>
          <p:spPr>
            <a:xfrm>
              <a:off x="8005434" y="5134787"/>
              <a:ext cx="575253" cy="379818"/>
            </a:xfrm>
            <a:prstGeom prst="rect">
              <a:avLst/>
            </a:prstGeom>
            <a:noFill/>
            <a:ln>
              <a:solidFill>
                <a:schemeClr val="tx1"/>
              </a:solidFill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r>
                <a:rPr kumimoji="1" lang="en-US" altLang="zh-TW" sz="1400" dirty="0">
                  <a:solidFill>
                    <a:schemeClr val="tx1"/>
                  </a:solidFill>
                </a:rPr>
                <a:t>RNN</a:t>
              </a:r>
              <a:endParaRPr kumimoji="1" lang="zh-TW" altLang="en-US" sz="1400" dirty="0">
                <a:solidFill>
                  <a:schemeClr val="tx1"/>
                </a:solidFill>
              </a:endParaRPr>
            </a:p>
          </p:txBody>
        </p:sp>
        <p:cxnSp>
          <p:nvCxnSpPr>
            <p:cNvPr id="88" name="直線箭頭接點 87">
              <a:extLst>
                <a:ext uri="{FF2B5EF4-FFF2-40B4-BE49-F238E27FC236}">
                  <a16:creationId xmlns:a16="http://schemas.microsoft.com/office/drawing/2014/main" id="{A431406E-C890-7ACB-7A70-0D4B0B07C283}"/>
                </a:ext>
              </a:extLst>
            </p:cNvPr>
            <p:cNvCxnSpPr>
              <a:cxnSpLocks/>
            </p:cNvCxnSpPr>
            <p:nvPr/>
          </p:nvCxnSpPr>
          <p:spPr>
            <a:xfrm flipV="1">
              <a:off x="8305167" y="5607843"/>
              <a:ext cx="0" cy="248679"/>
            </a:xfrm>
            <a:prstGeom prst="straightConnector1">
              <a:avLst/>
            </a:prstGeom>
            <a:ln>
              <a:solidFill>
                <a:schemeClr val="tx1"/>
              </a:solidFill>
              <a:tailEnd type="triangle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111" name="直線箭頭接點 110">
              <a:extLst>
                <a:ext uri="{FF2B5EF4-FFF2-40B4-BE49-F238E27FC236}">
                  <a16:creationId xmlns:a16="http://schemas.microsoft.com/office/drawing/2014/main" id="{0BCDD360-EF15-3170-131C-403363C11400}"/>
                </a:ext>
              </a:extLst>
            </p:cNvPr>
            <p:cNvCxnSpPr>
              <a:cxnSpLocks/>
            </p:cNvCxnSpPr>
            <p:nvPr/>
          </p:nvCxnSpPr>
          <p:spPr>
            <a:xfrm>
              <a:off x="7646435" y="5324624"/>
              <a:ext cx="344029" cy="0"/>
            </a:xfrm>
            <a:prstGeom prst="straightConnector1">
              <a:avLst/>
            </a:prstGeom>
            <a:ln>
              <a:solidFill>
                <a:schemeClr val="tx1"/>
              </a:solidFill>
              <a:tailEnd type="triangle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sp>
          <p:nvSpPr>
            <p:cNvPr id="155" name="文字方塊 154">
              <a:extLst>
                <a:ext uri="{FF2B5EF4-FFF2-40B4-BE49-F238E27FC236}">
                  <a16:creationId xmlns:a16="http://schemas.microsoft.com/office/drawing/2014/main" id="{482F00AD-E5D3-D4F2-9F11-5DC3E9F294DD}"/>
                </a:ext>
              </a:extLst>
            </p:cNvPr>
            <p:cNvSpPr txBox="1"/>
            <p:nvPr/>
          </p:nvSpPr>
          <p:spPr>
            <a:xfrm>
              <a:off x="7950588" y="5871487"/>
              <a:ext cx="719605" cy="369332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pPr algn="ctr"/>
              <a:r>
                <a:rPr kumimoji="1" lang="en-US" altLang="zh-TW" dirty="0"/>
                <a:t>want</a:t>
              </a:r>
              <a:endParaRPr kumimoji="1" lang="zh-TW" altLang="en-US" dirty="0"/>
            </a:p>
          </p:txBody>
        </p:sp>
      </p:grpSp>
      <p:grpSp>
        <p:nvGrpSpPr>
          <p:cNvPr id="176" name="群組 175">
            <a:extLst>
              <a:ext uri="{FF2B5EF4-FFF2-40B4-BE49-F238E27FC236}">
                <a16:creationId xmlns:a16="http://schemas.microsoft.com/office/drawing/2014/main" id="{535631E2-6439-AF55-DE05-C96F6CF01248}"/>
              </a:ext>
            </a:extLst>
          </p:cNvPr>
          <p:cNvGrpSpPr/>
          <p:nvPr/>
        </p:nvGrpSpPr>
        <p:grpSpPr>
          <a:xfrm>
            <a:off x="8631889" y="5134787"/>
            <a:ext cx="976012" cy="1116518"/>
            <a:chOff x="8631889" y="5134787"/>
            <a:chExt cx="976012" cy="1116518"/>
          </a:xfrm>
        </p:grpSpPr>
        <p:sp>
          <p:nvSpPr>
            <p:cNvPr id="82" name="矩形 81">
              <a:extLst>
                <a:ext uri="{FF2B5EF4-FFF2-40B4-BE49-F238E27FC236}">
                  <a16:creationId xmlns:a16="http://schemas.microsoft.com/office/drawing/2014/main" id="{B18E41FF-2EA4-C2DD-F6A4-443B596A653F}"/>
                </a:ext>
              </a:extLst>
            </p:cNvPr>
            <p:cNvSpPr/>
            <p:nvPr/>
          </p:nvSpPr>
          <p:spPr>
            <a:xfrm>
              <a:off x="9032648" y="5134787"/>
              <a:ext cx="575253" cy="379818"/>
            </a:xfrm>
            <a:prstGeom prst="rect">
              <a:avLst/>
            </a:prstGeom>
            <a:noFill/>
            <a:ln>
              <a:solidFill>
                <a:schemeClr val="tx1"/>
              </a:solidFill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r>
                <a:rPr kumimoji="1" lang="en-US" altLang="zh-TW" sz="1400" dirty="0">
                  <a:solidFill>
                    <a:schemeClr val="tx1"/>
                  </a:solidFill>
                </a:rPr>
                <a:t>RNN</a:t>
              </a:r>
              <a:endParaRPr kumimoji="1" lang="zh-TW" altLang="en-US" sz="1400" dirty="0">
                <a:solidFill>
                  <a:schemeClr val="tx1"/>
                </a:solidFill>
              </a:endParaRPr>
            </a:p>
          </p:txBody>
        </p:sp>
        <p:cxnSp>
          <p:nvCxnSpPr>
            <p:cNvPr id="90" name="直線箭頭接點 89">
              <a:extLst>
                <a:ext uri="{FF2B5EF4-FFF2-40B4-BE49-F238E27FC236}">
                  <a16:creationId xmlns:a16="http://schemas.microsoft.com/office/drawing/2014/main" id="{EEFE06B8-1817-D740-34E1-ED9A6DED2D6E}"/>
                </a:ext>
              </a:extLst>
            </p:cNvPr>
            <p:cNvCxnSpPr>
              <a:cxnSpLocks/>
            </p:cNvCxnSpPr>
            <p:nvPr/>
          </p:nvCxnSpPr>
          <p:spPr>
            <a:xfrm flipV="1">
              <a:off x="9320274" y="5607843"/>
              <a:ext cx="0" cy="248679"/>
            </a:xfrm>
            <a:prstGeom prst="straightConnector1">
              <a:avLst/>
            </a:prstGeom>
            <a:ln>
              <a:solidFill>
                <a:schemeClr val="tx1"/>
              </a:solidFill>
              <a:tailEnd type="triangle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112" name="直線箭頭接點 111">
              <a:extLst>
                <a:ext uri="{FF2B5EF4-FFF2-40B4-BE49-F238E27FC236}">
                  <a16:creationId xmlns:a16="http://schemas.microsoft.com/office/drawing/2014/main" id="{18B60F0E-8260-7B3F-2D7A-ED1D9C401CB7}"/>
                </a:ext>
              </a:extLst>
            </p:cNvPr>
            <p:cNvCxnSpPr>
              <a:cxnSpLocks/>
            </p:cNvCxnSpPr>
            <p:nvPr/>
          </p:nvCxnSpPr>
          <p:spPr>
            <a:xfrm>
              <a:off x="8631889" y="5324624"/>
              <a:ext cx="344029" cy="0"/>
            </a:xfrm>
            <a:prstGeom prst="straightConnector1">
              <a:avLst/>
            </a:prstGeom>
            <a:ln>
              <a:solidFill>
                <a:schemeClr val="tx1"/>
              </a:solidFill>
              <a:tailEnd type="triangle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sp>
          <p:nvSpPr>
            <p:cNvPr id="156" name="文字方塊 155">
              <a:extLst>
                <a:ext uri="{FF2B5EF4-FFF2-40B4-BE49-F238E27FC236}">
                  <a16:creationId xmlns:a16="http://schemas.microsoft.com/office/drawing/2014/main" id="{88B105B0-21A6-22EC-6B23-BD8B06527B02}"/>
                </a:ext>
              </a:extLst>
            </p:cNvPr>
            <p:cNvSpPr txBox="1"/>
            <p:nvPr/>
          </p:nvSpPr>
          <p:spPr>
            <a:xfrm>
              <a:off x="9121019" y="5871487"/>
              <a:ext cx="398509" cy="379818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pPr algn="ctr"/>
              <a:r>
                <a:rPr kumimoji="1" lang="en-US" altLang="zh-TW" dirty="0"/>
                <a:t>a</a:t>
              </a:r>
              <a:endParaRPr kumimoji="1" lang="zh-TW" altLang="en-US" dirty="0"/>
            </a:p>
          </p:txBody>
        </p:sp>
      </p:grpSp>
      <p:grpSp>
        <p:nvGrpSpPr>
          <p:cNvPr id="177" name="群組 176">
            <a:extLst>
              <a:ext uri="{FF2B5EF4-FFF2-40B4-BE49-F238E27FC236}">
                <a16:creationId xmlns:a16="http://schemas.microsoft.com/office/drawing/2014/main" id="{BD9D61D4-656C-1C8D-44CA-F3CA1C1A5963}"/>
              </a:ext>
            </a:extLst>
          </p:cNvPr>
          <p:cNvGrpSpPr/>
          <p:nvPr/>
        </p:nvGrpSpPr>
        <p:grpSpPr>
          <a:xfrm>
            <a:off x="9644209" y="5134787"/>
            <a:ext cx="1044803" cy="1106032"/>
            <a:chOff x="9644209" y="5134787"/>
            <a:chExt cx="1044803" cy="1106032"/>
          </a:xfrm>
        </p:grpSpPr>
        <p:sp>
          <p:nvSpPr>
            <p:cNvPr id="83" name="矩形 82">
              <a:extLst>
                <a:ext uri="{FF2B5EF4-FFF2-40B4-BE49-F238E27FC236}">
                  <a16:creationId xmlns:a16="http://schemas.microsoft.com/office/drawing/2014/main" id="{3562D2E4-0D07-6328-86C8-9143B3A56FF9}"/>
                </a:ext>
              </a:extLst>
            </p:cNvPr>
            <p:cNvSpPr/>
            <p:nvPr/>
          </p:nvSpPr>
          <p:spPr>
            <a:xfrm>
              <a:off x="10002408" y="5134787"/>
              <a:ext cx="575253" cy="379818"/>
            </a:xfrm>
            <a:prstGeom prst="rect">
              <a:avLst/>
            </a:prstGeom>
            <a:noFill/>
            <a:ln>
              <a:solidFill>
                <a:schemeClr val="tx1"/>
              </a:solidFill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r>
                <a:rPr kumimoji="1" lang="en-US" altLang="zh-TW" sz="1400" dirty="0">
                  <a:solidFill>
                    <a:schemeClr val="tx1"/>
                  </a:solidFill>
                </a:rPr>
                <a:t>RNN</a:t>
              </a:r>
              <a:endParaRPr kumimoji="1" lang="zh-TW" altLang="en-US" sz="1400" dirty="0">
                <a:solidFill>
                  <a:schemeClr val="tx1"/>
                </a:solidFill>
              </a:endParaRPr>
            </a:p>
          </p:txBody>
        </p:sp>
        <p:cxnSp>
          <p:nvCxnSpPr>
            <p:cNvPr id="92" name="直線箭頭接點 91">
              <a:extLst>
                <a:ext uri="{FF2B5EF4-FFF2-40B4-BE49-F238E27FC236}">
                  <a16:creationId xmlns:a16="http://schemas.microsoft.com/office/drawing/2014/main" id="{8A492D63-0231-825B-FA17-E10503665274}"/>
                </a:ext>
              </a:extLst>
            </p:cNvPr>
            <p:cNvCxnSpPr>
              <a:cxnSpLocks/>
            </p:cNvCxnSpPr>
            <p:nvPr/>
          </p:nvCxnSpPr>
          <p:spPr>
            <a:xfrm flipV="1">
              <a:off x="10290034" y="5607843"/>
              <a:ext cx="0" cy="248679"/>
            </a:xfrm>
            <a:prstGeom prst="straightConnector1">
              <a:avLst/>
            </a:prstGeom>
            <a:ln>
              <a:solidFill>
                <a:schemeClr val="tx1"/>
              </a:solidFill>
              <a:tailEnd type="triangle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113" name="直線箭頭接點 112">
              <a:extLst>
                <a:ext uri="{FF2B5EF4-FFF2-40B4-BE49-F238E27FC236}">
                  <a16:creationId xmlns:a16="http://schemas.microsoft.com/office/drawing/2014/main" id="{52723E11-5FDA-86E0-EA18-627A49722810}"/>
                </a:ext>
              </a:extLst>
            </p:cNvPr>
            <p:cNvCxnSpPr>
              <a:cxnSpLocks/>
            </p:cNvCxnSpPr>
            <p:nvPr/>
          </p:nvCxnSpPr>
          <p:spPr>
            <a:xfrm>
              <a:off x="9644209" y="5324624"/>
              <a:ext cx="344029" cy="0"/>
            </a:xfrm>
            <a:prstGeom prst="straightConnector1">
              <a:avLst/>
            </a:prstGeom>
            <a:ln>
              <a:solidFill>
                <a:schemeClr val="tx1"/>
              </a:solidFill>
              <a:tailEnd type="triangle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sp>
          <p:nvSpPr>
            <p:cNvPr id="157" name="文字方塊 156">
              <a:extLst>
                <a:ext uri="{FF2B5EF4-FFF2-40B4-BE49-F238E27FC236}">
                  <a16:creationId xmlns:a16="http://schemas.microsoft.com/office/drawing/2014/main" id="{F18CEE3A-C5F6-AEC4-577E-5643CDCABF0B}"/>
                </a:ext>
              </a:extLst>
            </p:cNvPr>
            <p:cNvSpPr txBox="1"/>
            <p:nvPr/>
          </p:nvSpPr>
          <p:spPr>
            <a:xfrm>
              <a:off x="9891055" y="5871487"/>
              <a:ext cx="797957" cy="369332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pPr algn="ctr"/>
              <a:r>
                <a:rPr kumimoji="1" lang="en-US" altLang="zh-TW" dirty="0"/>
                <a:t>day</a:t>
              </a:r>
              <a:endParaRPr kumimoji="1" lang="zh-TW" altLang="en-US" dirty="0"/>
            </a:p>
          </p:txBody>
        </p:sp>
      </p:grpSp>
      <p:cxnSp>
        <p:nvCxnSpPr>
          <p:cNvPr id="102" name="肘形接點 101">
            <a:extLst>
              <a:ext uri="{FF2B5EF4-FFF2-40B4-BE49-F238E27FC236}">
                <a16:creationId xmlns:a16="http://schemas.microsoft.com/office/drawing/2014/main" id="{4187BF72-D891-B97B-C6F0-AC33A684B644}"/>
              </a:ext>
            </a:extLst>
          </p:cNvPr>
          <p:cNvCxnSpPr>
            <a:cxnSpLocks/>
            <a:stCxn id="98" idx="0"/>
            <a:endCxn id="79" idx="1"/>
          </p:cNvCxnSpPr>
          <p:nvPr/>
        </p:nvCxnSpPr>
        <p:spPr>
          <a:xfrm>
            <a:off x="5736886" y="3436769"/>
            <a:ext cx="328930" cy="1887927"/>
          </a:xfrm>
          <a:prstGeom prst="bentConnector3">
            <a:avLst>
              <a:gd name="adj1" fmla="val 50000"/>
            </a:avLst>
          </a:prstGeom>
          <a:ln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grpSp>
        <p:nvGrpSpPr>
          <p:cNvPr id="168" name="群組 167">
            <a:extLst>
              <a:ext uri="{FF2B5EF4-FFF2-40B4-BE49-F238E27FC236}">
                <a16:creationId xmlns:a16="http://schemas.microsoft.com/office/drawing/2014/main" id="{80F340EB-2088-5166-7459-6B55A9CB0FE1}"/>
              </a:ext>
            </a:extLst>
          </p:cNvPr>
          <p:cNvGrpSpPr/>
          <p:nvPr/>
        </p:nvGrpSpPr>
        <p:grpSpPr>
          <a:xfrm>
            <a:off x="6026315" y="2625090"/>
            <a:ext cx="719605" cy="2448900"/>
            <a:chOff x="6026315" y="2625090"/>
            <a:chExt cx="719605" cy="2448900"/>
          </a:xfrm>
        </p:grpSpPr>
        <p:cxnSp>
          <p:nvCxnSpPr>
            <p:cNvPr id="85" name="直線箭頭接點 84">
              <a:extLst>
                <a:ext uri="{FF2B5EF4-FFF2-40B4-BE49-F238E27FC236}">
                  <a16:creationId xmlns:a16="http://schemas.microsoft.com/office/drawing/2014/main" id="{6F99F63A-DB45-9627-BC8F-3E6874176306}"/>
                </a:ext>
              </a:extLst>
            </p:cNvPr>
            <p:cNvCxnSpPr>
              <a:cxnSpLocks/>
            </p:cNvCxnSpPr>
            <p:nvPr/>
          </p:nvCxnSpPr>
          <p:spPr>
            <a:xfrm flipV="1">
              <a:off x="6382211" y="4825311"/>
              <a:ext cx="0" cy="248679"/>
            </a:xfrm>
            <a:prstGeom prst="straightConnector1">
              <a:avLst/>
            </a:prstGeom>
            <a:ln>
              <a:solidFill>
                <a:schemeClr val="tx1"/>
              </a:solidFill>
              <a:tailEnd type="triangle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sp>
          <p:nvSpPr>
            <p:cNvPr id="50" name="圓角矩形 49">
              <a:extLst>
                <a:ext uri="{FF2B5EF4-FFF2-40B4-BE49-F238E27FC236}">
                  <a16:creationId xmlns:a16="http://schemas.microsoft.com/office/drawing/2014/main" id="{F7F7A3B4-4B4D-651B-5C7B-3B594E39FA25}"/>
                </a:ext>
              </a:extLst>
            </p:cNvPr>
            <p:cNvSpPr/>
            <p:nvPr/>
          </p:nvSpPr>
          <p:spPr>
            <a:xfrm rot="16200000">
              <a:off x="6192813" y="4419031"/>
              <a:ext cx="372490" cy="205528"/>
            </a:xfrm>
            <a:prstGeom prst="roundRect">
              <a:avLst/>
            </a:prstGeom>
            <a:solidFill>
              <a:srgbClr val="C6E0B4"/>
            </a:solidFill>
            <a:ln w="19050">
              <a:solidFill>
                <a:schemeClr val="tx1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kumimoji="1" lang="zh-TW" altLang="en-US"/>
            </a:p>
          </p:txBody>
        </p:sp>
        <p:sp>
          <p:nvSpPr>
            <p:cNvPr id="136" name="矩形 135">
              <a:extLst>
                <a:ext uri="{FF2B5EF4-FFF2-40B4-BE49-F238E27FC236}">
                  <a16:creationId xmlns:a16="http://schemas.microsoft.com/office/drawing/2014/main" id="{C8BF1169-D14B-597B-268B-EA7BA7FC6B4B}"/>
                </a:ext>
              </a:extLst>
            </p:cNvPr>
            <p:cNvSpPr/>
            <p:nvPr/>
          </p:nvSpPr>
          <p:spPr>
            <a:xfrm>
              <a:off x="6097363" y="3517941"/>
              <a:ext cx="575253" cy="379818"/>
            </a:xfrm>
            <a:prstGeom prst="rect">
              <a:avLst/>
            </a:prstGeom>
            <a:noFill/>
            <a:ln>
              <a:solidFill>
                <a:schemeClr val="tx1"/>
              </a:solidFill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r>
                <a:rPr kumimoji="1" lang="en-US" altLang="zh-TW" sz="1100" dirty="0">
                  <a:solidFill>
                    <a:schemeClr val="tx1"/>
                  </a:solidFill>
                </a:rPr>
                <a:t>Linear</a:t>
              </a:r>
              <a:endParaRPr kumimoji="1" lang="zh-TW" altLang="en-US" sz="1100" dirty="0">
                <a:solidFill>
                  <a:schemeClr val="tx1"/>
                </a:solidFill>
              </a:endParaRPr>
            </a:p>
          </p:txBody>
        </p:sp>
        <p:cxnSp>
          <p:nvCxnSpPr>
            <p:cNvPr id="147" name="直線箭頭接點 146">
              <a:extLst>
                <a:ext uri="{FF2B5EF4-FFF2-40B4-BE49-F238E27FC236}">
                  <a16:creationId xmlns:a16="http://schemas.microsoft.com/office/drawing/2014/main" id="{13F4EF51-A24C-9837-8493-9E6C890003B6}"/>
                </a:ext>
              </a:extLst>
            </p:cNvPr>
            <p:cNvCxnSpPr>
              <a:cxnSpLocks/>
            </p:cNvCxnSpPr>
            <p:nvPr/>
          </p:nvCxnSpPr>
          <p:spPr>
            <a:xfrm flipV="1">
              <a:off x="6382211" y="4012978"/>
              <a:ext cx="0" cy="248679"/>
            </a:xfrm>
            <a:prstGeom prst="straightConnector1">
              <a:avLst/>
            </a:prstGeom>
            <a:ln>
              <a:solidFill>
                <a:schemeClr val="tx1"/>
              </a:solidFill>
              <a:tailEnd type="triangle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153" name="直線箭頭接點 152">
              <a:extLst>
                <a:ext uri="{FF2B5EF4-FFF2-40B4-BE49-F238E27FC236}">
                  <a16:creationId xmlns:a16="http://schemas.microsoft.com/office/drawing/2014/main" id="{A008C7A7-A61A-A3FC-106A-EC24DCDB2633}"/>
                </a:ext>
              </a:extLst>
            </p:cNvPr>
            <p:cNvCxnSpPr>
              <a:cxnSpLocks/>
            </p:cNvCxnSpPr>
            <p:nvPr/>
          </p:nvCxnSpPr>
          <p:spPr>
            <a:xfrm flipV="1">
              <a:off x="6382844" y="3130780"/>
              <a:ext cx="0" cy="248679"/>
            </a:xfrm>
            <a:prstGeom prst="straightConnector1">
              <a:avLst/>
            </a:prstGeom>
            <a:ln>
              <a:solidFill>
                <a:schemeClr val="tx1"/>
              </a:solidFill>
              <a:tailEnd type="triangle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sp>
          <p:nvSpPr>
            <p:cNvPr id="154" name="文字方塊 153">
              <a:extLst>
                <a:ext uri="{FF2B5EF4-FFF2-40B4-BE49-F238E27FC236}">
                  <a16:creationId xmlns:a16="http://schemas.microsoft.com/office/drawing/2014/main" id="{C30307C3-84BC-842E-D41B-C2B9CB5E4B20}"/>
                </a:ext>
              </a:extLst>
            </p:cNvPr>
            <p:cNvSpPr txBox="1"/>
            <p:nvPr/>
          </p:nvSpPr>
          <p:spPr>
            <a:xfrm>
              <a:off x="6026315" y="2625090"/>
              <a:ext cx="719605" cy="369332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pPr algn="ctr"/>
              <a:r>
                <a:rPr kumimoji="1" lang="en-US" altLang="zh-TW" dirty="0"/>
                <a:t>I</a:t>
              </a:r>
              <a:endParaRPr kumimoji="1" lang="zh-TW" altLang="en-US" dirty="0"/>
            </a:p>
          </p:txBody>
        </p:sp>
        <mc:AlternateContent xmlns:mc="http://schemas.openxmlformats.org/markup-compatibility/2006" xmlns:a14="http://schemas.microsoft.com/office/drawing/2010/main">
          <mc:Choice Requires="a14">
            <p:sp>
              <p:nvSpPr>
                <p:cNvPr id="160" name="文字方塊 159">
                  <a:extLst>
                    <a:ext uri="{FF2B5EF4-FFF2-40B4-BE49-F238E27FC236}">
                      <a16:creationId xmlns:a16="http://schemas.microsoft.com/office/drawing/2014/main" id="{D57025E9-E64A-0C9F-7A47-7D9B7A244419}"/>
                    </a:ext>
                  </a:extLst>
                </p:cNvPr>
                <p:cNvSpPr txBox="1"/>
                <p:nvPr/>
              </p:nvSpPr>
              <p:spPr>
                <a:xfrm>
                  <a:off x="6118558" y="4335549"/>
                  <a:ext cx="541313" cy="369332"/>
                </a:xfrm>
                <a:prstGeom prst="rect">
                  <a:avLst/>
                </a:prstGeom>
                <a:noFill/>
              </p:spPr>
              <p:txBody>
                <a:bodyPr wrap="square">
                  <a:spAutoFit/>
                </a:bodyPr>
                <a:lstStyle/>
                <a:p>
                  <a:pPr/>
                  <a14:m>
                    <m:oMathPara xmlns:m="http://schemas.openxmlformats.org/officeDocument/2006/math">
                      <m:oMathParaPr>
                        <m:jc m:val="centerGroup"/>
                      </m:oMathParaPr>
                      <m:oMath xmlns:m="http://schemas.openxmlformats.org/officeDocument/2006/math">
                        <m:sSub>
                          <m:sSubPr>
                            <m:ctrlPr>
                              <a:rPr lang="zh-TW" altLang="en-US" i="1" smtClean="0">
                                <a:latin typeface="Cambria Math" panose="02040503050406030204" pitchFamily="18" charset="0"/>
                              </a:rPr>
                            </m:ctrlPr>
                          </m:sSubPr>
                          <m:e>
                            <m:r>
                              <a:rPr lang="en-US" altLang="zh-TW" b="0" i="1" smtClean="0">
                                <a:latin typeface="Cambria Math" panose="02040503050406030204" pitchFamily="18" charset="0"/>
                              </a:rPr>
                              <m:t>𝑠</m:t>
                            </m:r>
                          </m:e>
                          <m:sub>
                            <m:r>
                              <a:rPr lang="en-US" altLang="zh-TW" b="0" i="1" smtClean="0">
                                <a:latin typeface="Cambria Math" panose="02040503050406030204" pitchFamily="18" charset="0"/>
                              </a:rPr>
                              <m:t>1</m:t>
                            </m:r>
                          </m:sub>
                        </m:sSub>
                      </m:oMath>
                    </m:oMathPara>
                  </a14:m>
                  <a:endParaRPr lang="zh-TW" altLang="en-US" dirty="0"/>
                </a:p>
              </p:txBody>
            </p:sp>
          </mc:Choice>
          <mc:Fallback xmlns="">
            <p:sp>
              <p:nvSpPr>
                <p:cNvPr id="160" name="文字方塊 159">
                  <a:extLst>
                    <a:ext uri="{FF2B5EF4-FFF2-40B4-BE49-F238E27FC236}">
                      <a16:creationId xmlns:a16="http://schemas.microsoft.com/office/drawing/2014/main" id="{D57025E9-E64A-0C9F-7A47-7D9B7A244419}"/>
                    </a:ext>
                  </a:extLst>
                </p:cNvPr>
                <p:cNvSpPr txBox="1">
                  <a:spLocks noRot="1" noChangeAspect="1" noMove="1" noResize="1" noEditPoints="1" noAdjustHandles="1" noChangeArrowheads="1" noChangeShapeType="1" noTextEdit="1"/>
                </p:cNvSpPr>
                <p:nvPr/>
              </p:nvSpPr>
              <p:spPr>
                <a:xfrm>
                  <a:off x="6118558" y="4335549"/>
                  <a:ext cx="541313" cy="369332"/>
                </a:xfrm>
                <a:prstGeom prst="rect">
                  <a:avLst/>
                </a:prstGeom>
                <a:blipFill>
                  <a:blip r:embed="rId7"/>
                  <a:stretch>
                    <a:fillRect b="-3333"/>
                  </a:stretch>
                </a:blipFill>
              </p:spPr>
              <p:txBody>
                <a:bodyPr/>
                <a:lstStyle/>
                <a:p>
                  <a:r>
                    <a:rPr lang="zh-TW" altLang="en-US">
                      <a:noFill/>
                    </a:rPr>
                    <a:t> </a:t>
                  </a:r>
                </a:p>
              </p:txBody>
            </p:sp>
          </mc:Fallback>
        </mc:AlternateContent>
      </p:grpSp>
      <p:grpSp>
        <p:nvGrpSpPr>
          <p:cNvPr id="169" name="群組 168">
            <a:extLst>
              <a:ext uri="{FF2B5EF4-FFF2-40B4-BE49-F238E27FC236}">
                <a16:creationId xmlns:a16="http://schemas.microsoft.com/office/drawing/2014/main" id="{508299B3-CB86-887B-C754-91B82D8F12C9}"/>
              </a:ext>
            </a:extLst>
          </p:cNvPr>
          <p:cNvGrpSpPr/>
          <p:nvPr/>
        </p:nvGrpSpPr>
        <p:grpSpPr>
          <a:xfrm>
            <a:off x="6980828" y="2625090"/>
            <a:ext cx="719605" cy="2448900"/>
            <a:chOff x="6980828" y="2625090"/>
            <a:chExt cx="719605" cy="2448900"/>
          </a:xfrm>
        </p:grpSpPr>
        <p:cxnSp>
          <p:nvCxnSpPr>
            <p:cNvPr id="87" name="直線箭頭接點 86">
              <a:extLst>
                <a:ext uri="{FF2B5EF4-FFF2-40B4-BE49-F238E27FC236}">
                  <a16:creationId xmlns:a16="http://schemas.microsoft.com/office/drawing/2014/main" id="{2F0E6AF6-9AC1-EBC0-BCCD-94F572384ADA}"/>
                </a:ext>
              </a:extLst>
            </p:cNvPr>
            <p:cNvCxnSpPr>
              <a:cxnSpLocks/>
            </p:cNvCxnSpPr>
            <p:nvPr/>
          </p:nvCxnSpPr>
          <p:spPr>
            <a:xfrm flipV="1">
              <a:off x="7343751" y="4825311"/>
              <a:ext cx="0" cy="248679"/>
            </a:xfrm>
            <a:prstGeom prst="straightConnector1">
              <a:avLst/>
            </a:prstGeom>
            <a:ln>
              <a:solidFill>
                <a:schemeClr val="tx1"/>
              </a:solidFill>
              <a:tailEnd type="triangle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sp>
          <p:nvSpPr>
            <p:cNvPr id="115" name="圓角矩形 114">
              <a:extLst>
                <a:ext uri="{FF2B5EF4-FFF2-40B4-BE49-F238E27FC236}">
                  <a16:creationId xmlns:a16="http://schemas.microsoft.com/office/drawing/2014/main" id="{AAE447D7-106F-8FBE-8547-FDDB9E766CCC}"/>
                </a:ext>
              </a:extLst>
            </p:cNvPr>
            <p:cNvSpPr/>
            <p:nvPr/>
          </p:nvSpPr>
          <p:spPr>
            <a:xfrm rot="16200000">
              <a:off x="7153651" y="4419031"/>
              <a:ext cx="372490" cy="205528"/>
            </a:xfrm>
            <a:prstGeom prst="roundRect">
              <a:avLst/>
            </a:prstGeom>
            <a:solidFill>
              <a:srgbClr val="C6E0B4"/>
            </a:solidFill>
            <a:ln w="19050">
              <a:solidFill>
                <a:schemeClr val="tx1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kumimoji="1" lang="zh-TW" altLang="en-US"/>
            </a:p>
          </p:txBody>
        </p:sp>
        <p:sp>
          <p:nvSpPr>
            <p:cNvPr id="120" name="文字方塊 119">
              <a:extLst>
                <a:ext uri="{FF2B5EF4-FFF2-40B4-BE49-F238E27FC236}">
                  <a16:creationId xmlns:a16="http://schemas.microsoft.com/office/drawing/2014/main" id="{2657CEC1-E207-7D96-81DF-F03FE7CCE528}"/>
                </a:ext>
              </a:extLst>
            </p:cNvPr>
            <p:cNvSpPr txBox="1"/>
            <p:nvPr/>
          </p:nvSpPr>
          <p:spPr>
            <a:xfrm>
              <a:off x="6980828" y="2625090"/>
              <a:ext cx="719605" cy="369332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pPr algn="ctr"/>
              <a:r>
                <a:rPr kumimoji="1" lang="en-US" altLang="zh-TW" dirty="0"/>
                <a:t>want</a:t>
              </a:r>
              <a:endParaRPr kumimoji="1" lang="zh-TW" altLang="en-US" dirty="0"/>
            </a:p>
          </p:txBody>
        </p:sp>
        <p:cxnSp>
          <p:nvCxnSpPr>
            <p:cNvPr id="125" name="直線箭頭接點 124">
              <a:extLst>
                <a:ext uri="{FF2B5EF4-FFF2-40B4-BE49-F238E27FC236}">
                  <a16:creationId xmlns:a16="http://schemas.microsoft.com/office/drawing/2014/main" id="{88F0CAC0-4281-231D-9CD5-FF5681E51AD0}"/>
                </a:ext>
              </a:extLst>
            </p:cNvPr>
            <p:cNvCxnSpPr>
              <a:cxnSpLocks/>
            </p:cNvCxnSpPr>
            <p:nvPr/>
          </p:nvCxnSpPr>
          <p:spPr>
            <a:xfrm flipV="1">
              <a:off x="7343118" y="4008381"/>
              <a:ext cx="0" cy="248679"/>
            </a:xfrm>
            <a:prstGeom prst="straightConnector1">
              <a:avLst/>
            </a:prstGeom>
            <a:ln>
              <a:solidFill>
                <a:schemeClr val="tx1"/>
              </a:solidFill>
              <a:tailEnd type="triangle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sp>
          <p:nvSpPr>
            <p:cNvPr id="137" name="矩形 136">
              <a:extLst>
                <a:ext uri="{FF2B5EF4-FFF2-40B4-BE49-F238E27FC236}">
                  <a16:creationId xmlns:a16="http://schemas.microsoft.com/office/drawing/2014/main" id="{749B4DB2-5DC6-81C6-B2A1-AD89F9A8F8E6}"/>
                </a:ext>
              </a:extLst>
            </p:cNvPr>
            <p:cNvSpPr/>
            <p:nvPr/>
          </p:nvSpPr>
          <p:spPr>
            <a:xfrm>
              <a:off x="7047983" y="3523324"/>
              <a:ext cx="575253" cy="379818"/>
            </a:xfrm>
            <a:prstGeom prst="rect">
              <a:avLst/>
            </a:prstGeom>
            <a:noFill/>
            <a:ln>
              <a:solidFill>
                <a:schemeClr val="tx1"/>
              </a:solidFill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r>
                <a:rPr kumimoji="1" lang="en-US" altLang="zh-TW" sz="1100" dirty="0">
                  <a:solidFill>
                    <a:schemeClr val="tx1"/>
                  </a:solidFill>
                </a:rPr>
                <a:t>Linear</a:t>
              </a:r>
              <a:endParaRPr kumimoji="1" lang="zh-TW" altLang="en-US" sz="1100" dirty="0">
                <a:solidFill>
                  <a:schemeClr val="tx1"/>
                </a:solidFill>
              </a:endParaRPr>
            </a:p>
          </p:txBody>
        </p:sp>
        <p:cxnSp>
          <p:nvCxnSpPr>
            <p:cNvPr id="148" name="直線箭頭接點 147">
              <a:extLst>
                <a:ext uri="{FF2B5EF4-FFF2-40B4-BE49-F238E27FC236}">
                  <a16:creationId xmlns:a16="http://schemas.microsoft.com/office/drawing/2014/main" id="{F262D97C-C825-29B1-426D-14F584C9D368}"/>
                </a:ext>
              </a:extLst>
            </p:cNvPr>
            <p:cNvCxnSpPr>
              <a:cxnSpLocks/>
            </p:cNvCxnSpPr>
            <p:nvPr/>
          </p:nvCxnSpPr>
          <p:spPr>
            <a:xfrm flipV="1">
              <a:off x="7343751" y="3126183"/>
              <a:ext cx="0" cy="248679"/>
            </a:xfrm>
            <a:prstGeom prst="straightConnector1">
              <a:avLst/>
            </a:prstGeom>
            <a:ln>
              <a:solidFill>
                <a:schemeClr val="tx1"/>
              </a:solidFill>
              <a:tailEnd type="triangle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mc:AlternateContent xmlns:mc="http://schemas.openxmlformats.org/markup-compatibility/2006" xmlns:a14="http://schemas.microsoft.com/office/drawing/2010/main">
          <mc:Choice Requires="a14">
            <p:sp>
              <p:nvSpPr>
                <p:cNvPr id="161" name="文字方塊 160">
                  <a:extLst>
                    <a:ext uri="{FF2B5EF4-FFF2-40B4-BE49-F238E27FC236}">
                      <a16:creationId xmlns:a16="http://schemas.microsoft.com/office/drawing/2014/main" id="{CA96D657-DC87-75C0-74DE-C10E60D751EF}"/>
                    </a:ext>
                  </a:extLst>
                </p:cNvPr>
                <p:cNvSpPr txBox="1"/>
                <p:nvPr/>
              </p:nvSpPr>
              <p:spPr>
                <a:xfrm>
                  <a:off x="7076020" y="4335549"/>
                  <a:ext cx="541313" cy="369332"/>
                </a:xfrm>
                <a:prstGeom prst="rect">
                  <a:avLst/>
                </a:prstGeom>
                <a:noFill/>
              </p:spPr>
              <p:txBody>
                <a:bodyPr wrap="square">
                  <a:spAutoFit/>
                </a:bodyPr>
                <a:lstStyle/>
                <a:p>
                  <a:pPr/>
                  <a14:m>
                    <m:oMathPara xmlns:m="http://schemas.openxmlformats.org/officeDocument/2006/math">
                      <m:oMathParaPr>
                        <m:jc m:val="centerGroup"/>
                      </m:oMathParaPr>
                      <m:oMath xmlns:m="http://schemas.openxmlformats.org/officeDocument/2006/math">
                        <m:sSub>
                          <m:sSubPr>
                            <m:ctrlPr>
                              <a:rPr lang="zh-TW" altLang="en-US" i="1" smtClean="0">
                                <a:latin typeface="Cambria Math" panose="02040503050406030204" pitchFamily="18" charset="0"/>
                              </a:rPr>
                            </m:ctrlPr>
                          </m:sSubPr>
                          <m:e>
                            <m:r>
                              <a:rPr lang="en-US" altLang="zh-TW" b="0" i="1" smtClean="0">
                                <a:latin typeface="Cambria Math" panose="02040503050406030204" pitchFamily="18" charset="0"/>
                              </a:rPr>
                              <m:t>𝑠</m:t>
                            </m:r>
                          </m:e>
                          <m:sub>
                            <m:r>
                              <a:rPr lang="en-US" altLang="zh-TW" b="0" i="1" smtClean="0">
                                <a:latin typeface="Cambria Math" panose="02040503050406030204" pitchFamily="18" charset="0"/>
                              </a:rPr>
                              <m:t>2</m:t>
                            </m:r>
                          </m:sub>
                        </m:sSub>
                      </m:oMath>
                    </m:oMathPara>
                  </a14:m>
                  <a:endParaRPr lang="zh-TW" altLang="en-US" dirty="0"/>
                </a:p>
              </p:txBody>
            </p:sp>
          </mc:Choice>
          <mc:Fallback xmlns="">
            <p:sp>
              <p:nvSpPr>
                <p:cNvPr id="161" name="文字方塊 160">
                  <a:extLst>
                    <a:ext uri="{FF2B5EF4-FFF2-40B4-BE49-F238E27FC236}">
                      <a16:creationId xmlns:a16="http://schemas.microsoft.com/office/drawing/2014/main" id="{CA96D657-DC87-75C0-74DE-C10E60D751EF}"/>
                    </a:ext>
                  </a:extLst>
                </p:cNvPr>
                <p:cNvSpPr txBox="1">
                  <a:spLocks noRot="1" noChangeAspect="1" noMove="1" noResize="1" noEditPoints="1" noAdjustHandles="1" noChangeArrowheads="1" noChangeShapeType="1" noTextEdit="1"/>
                </p:cNvSpPr>
                <p:nvPr/>
              </p:nvSpPr>
              <p:spPr>
                <a:xfrm>
                  <a:off x="7076020" y="4335549"/>
                  <a:ext cx="541313" cy="369332"/>
                </a:xfrm>
                <a:prstGeom prst="rect">
                  <a:avLst/>
                </a:prstGeom>
                <a:blipFill>
                  <a:blip r:embed="rId8"/>
                  <a:stretch>
                    <a:fillRect b="-3333"/>
                  </a:stretch>
                </a:blipFill>
              </p:spPr>
              <p:txBody>
                <a:bodyPr/>
                <a:lstStyle/>
                <a:p>
                  <a:r>
                    <a:rPr lang="zh-TW" altLang="en-US">
                      <a:noFill/>
                    </a:rPr>
                    <a:t> </a:t>
                  </a:r>
                </a:p>
              </p:txBody>
            </p:sp>
          </mc:Fallback>
        </mc:AlternateContent>
      </p:grpSp>
      <p:grpSp>
        <p:nvGrpSpPr>
          <p:cNvPr id="170" name="群組 169">
            <a:extLst>
              <a:ext uri="{FF2B5EF4-FFF2-40B4-BE49-F238E27FC236}">
                <a16:creationId xmlns:a16="http://schemas.microsoft.com/office/drawing/2014/main" id="{B7238234-28D8-430C-113E-A7EAFE69D4C4}"/>
              </a:ext>
            </a:extLst>
          </p:cNvPr>
          <p:cNvGrpSpPr/>
          <p:nvPr/>
        </p:nvGrpSpPr>
        <p:grpSpPr>
          <a:xfrm>
            <a:off x="7997292" y="2625090"/>
            <a:ext cx="581903" cy="2448900"/>
            <a:chOff x="7997292" y="2625090"/>
            <a:chExt cx="581903" cy="2448900"/>
          </a:xfrm>
        </p:grpSpPr>
        <p:cxnSp>
          <p:nvCxnSpPr>
            <p:cNvPr id="89" name="直線箭頭接點 88">
              <a:extLst>
                <a:ext uri="{FF2B5EF4-FFF2-40B4-BE49-F238E27FC236}">
                  <a16:creationId xmlns:a16="http://schemas.microsoft.com/office/drawing/2014/main" id="{81674CA5-48F3-3AF1-84C0-558202097319}"/>
                </a:ext>
              </a:extLst>
            </p:cNvPr>
            <p:cNvCxnSpPr>
              <a:cxnSpLocks/>
            </p:cNvCxnSpPr>
            <p:nvPr/>
          </p:nvCxnSpPr>
          <p:spPr>
            <a:xfrm flipV="1">
              <a:off x="8305167" y="4825311"/>
              <a:ext cx="0" cy="248679"/>
            </a:xfrm>
            <a:prstGeom prst="straightConnector1">
              <a:avLst/>
            </a:prstGeom>
            <a:ln>
              <a:solidFill>
                <a:schemeClr val="tx1"/>
              </a:solidFill>
              <a:tailEnd type="triangle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sp>
          <p:nvSpPr>
            <p:cNvPr id="116" name="圓角矩形 115">
              <a:extLst>
                <a:ext uri="{FF2B5EF4-FFF2-40B4-BE49-F238E27FC236}">
                  <a16:creationId xmlns:a16="http://schemas.microsoft.com/office/drawing/2014/main" id="{CC2E2906-2BC0-4B4A-4ED7-76C501D4A048}"/>
                </a:ext>
              </a:extLst>
            </p:cNvPr>
            <p:cNvSpPr/>
            <p:nvPr/>
          </p:nvSpPr>
          <p:spPr>
            <a:xfrm rot="16200000">
              <a:off x="8106815" y="4419030"/>
              <a:ext cx="372490" cy="205528"/>
            </a:xfrm>
            <a:prstGeom prst="roundRect">
              <a:avLst/>
            </a:prstGeom>
            <a:solidFill>
              <a:srgbClr val="C6E0B4"/>
            </a:solidFill>
            <a:ln w="19050">
              <a:solidFill>
                <a:schemeClr val="tx1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kumimoji="1" lang="zh-TW" altLang="en-US"/>
            </a:p>
          </p:txBody>
        </p:sp>
        <p:sp>
          <p:nvSpPr>
            <p:cNvPr id="121" name="文字方塊 120">
              <a:extLst>
                <a:ext uri="{FF2B5EF4-FFF2-40B4-BE49-F238E27FC236}">
                  <a16:creationId xmlns:a16="http://schemas.microsoft.com/office/drawing/2014/main" id="{CB4F50F2-9AEA-7BBE-352A-151397E236CA}"/>
                </a:ext>
              </a:extLst>
            </p:cNvPr>
            <p:cNvSpPr txBox="1"/>
            <p:nvPr/>
          </p:nvSpPr>
          <p:spPr>
            <a:xfrm>
              <a:off x="8105438" y="2625090"/>
              <a:ext cx="398516" cy="369332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pPr algn="ctr"/>
              <a:r>
                <a:rPr kumimoji="1" lang="en-US" altLang="zh-TW" dirty="0"/>
                <a:t>a</a:t>
              </a:r>
              <a:endParaRPr kumimoji="1" lang="zh-TW" altLang="en-US" dirty="0"/>
            </a:p>
          </p:txBody>
        </p:sp>
        <p:cxnSp>
          <p:nvCxnSpPr>
            <p:cNvPr id="126" name="直線箭頭接點 125">
              <a:extLst>
                <a:ext uri="{FF2B5EF4-FFF2-40B4-BE49-F238E27FC236}">
                  <a16:creationId xmlns:a16="http://schemas.microsoft.com/office/drawing/2014/main" id="{794F92D3-D442-0280-705A-6D2431C40222}"/>
                </a:ext>
              </a:extLst>
            </p:cNvPr>
            <p:cNvCxnSpPr>
              <a:cxnSpLocks/>
            </p:cNvCxnSpPr>
            <p:nvPr/>
          </p:nvCxnSpPr>
          <p:spPr>
            <a:xfrm flipV="1">
              <a:off x="8304534" y="4008381"/>
              <a:ext cx="0" cy="248679"/>
            </a:xfrm>
            <a:prstGeom prst="straightConnector1">
              <a:avLst/>
            </a:prstGeom>
            <a:ln>
              <a:solidFill>
                <a:schemeClr val="tx1"/>
              </a:solidFill>
              <a:tailEnd type="triangle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sp>
          <p:nvSpPr>
            <p:cNvPr id="138" name="矩形 137">
              <a:extLst>
                <a:ext uri="{FF2B5EF4-FFF2-40B4-BE49-F238E27FC236}">
                  <a16:creationId xmlns:a16="http://schemas.microsoft.com/office/drawing/2014/main" id="{6ADE8BE8-9910-74E6-8E60-BED8A01A4FE2}"/>
                </a:ext>
              </a:extLst>
            </p:cNvPr>
            <p:cNvSpPr/>
            <p:nvPr/>
          </p:nvSpPr>
          <p:spPr>
            <a:xfrm>
              <a:off x="7997292" y="3523324"/>
              <a:ext cx="575253" cy="379818"/>
            </a:xfrm>
            <a:prstGeom prst="rect">
              <a:avLst/>
            </a:prstGeom>
            <a:noFill/>
            <a:ln>
              <a:solidFill>
                <a:schemeClr val="tx1"/>
              </a:solidFill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r>
                <a:rPr kumimoji="1" lang="en-US" altLang="zh-TW" sz="1100" dirty="0">
                  <a:solidFill>
                    <a:schemeClr val="tx1"/>
                  </a:solidFill>
                </a:rPr>
                <a:t>Linear</a:t>
              </a:r>
              <a:endParaRPr kumimoji="1" lang="zh-TW" altLang="en-US" sz="1100" dirty="0">
                <a:solidFill>
                  <a:schemeClr val="tx1"/>
                </a:solidFill>
              </a:endParaRPr>
            </a:p>
          </p:txBody>
        </p:sp>
        <p:cxnSp>
          <p:nvCxnSpPr>
            <p:cNvPr id="149" name="直線箭頭接點 148">
              <a:extLst>
                <a:ext uri="{FF2B5EF4-FFF2-40B4-BE49-F238E27FC236}">
                  <a16:creationId xmlns:a16="http://schemas.microsoft.com/office/drawing/2014/main" id="{962BEBC7-F287-7EF8-2BBE-2C1A62345B01}"/>
                </a:ext>
              </a:extLst>
            </p:cNvPr>
            <p:cNvCxnSpPr>
              <a:cxnSpLocks/>
            </p:cNvCxnSpPr>
            <p:nvPr/>
          </p:nvCxnSpPr>
          <p:spPr>
            <a:xfrm flipV="1">
              <a:off x="8305167" y="3126183"/>
              <a:ext cx="0" cy="248679"/>
            </a:xfrm>
            <a:prstGeom prst="straightConnector1">
              <a:avLst/>
            </a:prstGeom>
            <a:ln>
              <a:solidFill>
                <a:schemeClr val="tx1"/>
              </a:solidFill>
              <a:tailEnd type="triangle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mc:AlternateContent xmlns:mc="http://schemas.openxmlformats.org/markup-compatibility/2006" xmlns:a14="http://schemas.microsoft.com/office/drawing/2010/main">
          <mc:Choice Requires="a14">
            <p:sp>
              <p:nvSpPr>
                <p:cNvPr id="162" name="文字方塊 161">
                  <a:extLst>
                    <a:ext uri="{FF2B5EF4-FFF2-40B4-BE49-F238E27FC236}">
                      <a16:creationId xmlns:a16="http://schemas.microsoft.com/office/drawing/2014/main" id="{36D0D7E0-6799-9EB3-2D94-E6BEAFAA4092}"/>
                    </a:ext>
                  </a:extLst>
                </p:cNvPr>
                <p:cNvSpPr txBox="1"/>
                <p:nvPr/>
              </p:nvSpPr>
              <p:spPr>
                <a:xfrm>
                  <a:off x="8037882" y="4335549"/>
                  <a:ext cx="541313" cy="369332"/>
                </a:xfrm>
                <a:prstGeom prst="rect">
                  <a:avLst/>
                </a:prstGeom>
                <a:noFill/>
              </p:spPr>
              <p:txBody>
                <a:bodyPr wrap="square">
                  <a:spAutoFit/>
                </a:bodyPr>
                <a:lstStyle/>
                <a:p>
                  <a:pPr/>
                  <a14:m>
                    <m:oMathPara xmlns:m="http://schemas.openxmlformats.org/officeDocument/2006/math">
                      <m:oMathParaPr>
                        <m:jc m:val="centerGroup"/>
                      </m:oMathParaPr>
                      <m:oMath xmlns:m="http://schemas.openxmlformats.org/officeDocument/2006/math">
                        <m:sSub>
                          <m:sSubPr>
                            <m:ctrlPr>
                              <a:rPr lang="zh-TW" altLang="en-US" i="1" smtClean="0">
                                <a:latin typeface="Cambria Math" panose="02040503050406030204" pitchFamily="18" charset="0"/>
                              </a:rPr>
                            </m:ctrlPr>
                          </m:sSubPr>
                          <m:e>
                            <m:r>
                              <a:rPr lang="en-US" altLang="zh-TW" b="0" i="1" smtClean="0">
                                <a:latin typeface="Cambria Math" panose="02040503050406030204" pitchFamily="18" charset="0"/>
                              </a:rPr>
                              <m:t>𝑠</m:t>
                            </m:r>
                          </m:e>
                          <m:sub>
                            <m:r>
                              <a:rPr lang="en-US" altLang="zh-TW" b="0" i="1" smtClean="0">
                                <a:latin typeface="Cambria Math" panose="02040503050406030204" pitchFamily="18" charset="0"/>
                              </a:rPr>
                              <m:t>3</m:t>
                            </m:r>
                          </m:sub>
                        </m:sSub>
                      </m:oMath>
                    </m:oMathPara>
                  </a14:m>
                  <a:endParaRPr lang="zh-TW" altLang="en-US" dirty="0"/>
                </a:p>
              </p:txBody>
            </p:sp>
          </mc:Choice>
          <mc:Fallback xmlns="">
            <p:sp>
              <p:nvSpPr>
                <p:cNvPr id="162" name="文字方塊 161">
                  <a:extLst>
                    <a:ext uri="{FF2B5EF4-FFF2-40B4-BE49-F238E27FC236}">
                      <a16:creationId xmlns:a16="http://schemas.microsoft.com/office/drawing/2014/main" id="{36D0D7E0-6799-9EB3-2D94-E6BEAFAA4092}"/>
                    </a:ext>
                  </a:extLst>
                </p:cNvPr>
                <p:cNvSpPr txBox="1">
                  <a:spLocks noRot="1" noChangeAspect="1" noMove="1" noResize="1" noEditPoints="1" noAdjustHandles="1" noChangeArrowheads="1" noChangeShapeType="1" noTextEdit="1"/>
                </p:cNvSpPr>
                <p:nvPr/>
              </p:nvSpPr>
              <p:spPr>
                <a:xfrm>
                  <a:off x="8037882" y="4335549"/>
                  <a:ext cx="541313" cy="369332"/>
                </a:xfrm>
                <a:prstGeom prst="rect">
                  <a:avLst/>
                </a:prstGeom>
                <a:blipFill>
                  <a:blip r:embed="rId9"/>
                  <a:stretch>
                    <a:fillRect b="-3333"/>
                  </a:stretch>
                </a:blipFill>
              </p:spPr>
              <p:txBody>
                <a:bodyPr/>
                <a:lstStyle/>
                <a:p>
                  <a:r>
                    <a:rPr lang="zh-TW" altLang="en-US">
                      <a:noFill/>
                    </a:rPr>
                    <a:t> </a:t>
                  </a:r>
                </a:p>
              </p:txBody>
            </p:sp>
          </mc:Fallback>
        </mc:AlternateContent>
      </p:grpSp>
      <p:grpSp>
        <p:nvGrpSpPr>
          <p:cNvPr id="171" name="群組 170">
            <a:extLst>
              <a:ext uri="{FF2B5EF4-FFF2-40B4-BE49-F238E27FC236}">
                <a16:creationId xmlns:a16="http://schemas.microsoft.com/office/drawing/2014/main" id="{E6F0D95E-70DD-4C1C-4A37-5D7DB7E49B81}"/>
              </a:ext>
            </a:extLst>
          </p:cNvPr>
          <p:cNvGrpSpPr/>
          <p:nvPr/>
        </p:nvGrpSpPr>
        <p:grpSpPr>
          <a:xfrm>
            <a:off x="8921295" y="2621967"/>
            <a:ext cx="797957" cy="2452023"/>
            <a:chOff x="8921295" y="2621967"/>
            <a:chExt cx="797957" cy="2452023"/>
          </a:xfrm>
        </p:grpSpPr>
        <p:cxnSp>
          <p:nvCxnSpPr>
            <p:cNvPr id="91" name="直線箭頭接點 90">
              <a:extLst>
                <a:ext uri="{FF2B5EF4-FFF2-40B4-BE49-F238E27FC236}">
                  <a16:creationId xmlns:a16="http://schemas.microsoft.com/office/drawing/2014/main" id="{86630825-5C09-C2AA-FBED-38EC5DFDFBA5}"/>
                </a:ext>
              </a:extLst>
            </p:cNvPr>
            <p:cNvCxnSpPr>
              <a:cxnSpLocks/>
            </p:cNvCxnSpPr>
            <p:nvPr/>
          </p:nvCxnSpPr>
          <p:spPr>
            <a:xfrm flipV="1">
              <a:off x="9320274" y="4825311"/>
              <a:ext cx="0" cy="248679"/>
            </a:xfrm>
            <a:prstGeom prst="straightConnector1">
              <a:avLst/>
            </a:prstGeom>
            <a:ln>
              <a:solidFill>
                <a:schemeClr val="tx1"/>
              </a:solidFill>
              <a:tailEnd type="triangle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sp>
          <p:nvSpPr>
            <p:cNvPr id="117" name="圓角矩形 116">
              <a:extLst>
                <a:ext uri="{FF2B5EF4-FFF2-40B4-BE49-F238E27FC236}">
                  <a16:creationId xmlns:a16="http://schemas.microsoft.com/office/drawing/2014/main" id="{6E3E0136-FCE5-C635-36F6-3D50A05620EA}"/>
                </a:ext>
              </a:extLst>
            </p:cNvPr>
            <p:cNvSpPr/>
            <p:nvPr/>
          </p:nvSpPr>
          <p:spPr>
            <a:xfrm rot="16200000">
              <a:off x="9140140" y="4419030"/>
              <a:ext cx="372490" cy="205528"/>
            </a:xfrm>
            <a:prstGeom prst="roundRect">
              <a:avLst/>
            </a:prstGeom>
            <a:solidFill>
              <a:srgbClr val="C6E0B4"/>
            </a:solidFill>
            <a:ln w="19050">
              <a:solidFill>
                <a:schemeClr val="tx1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kumimoji="1" lang="zh-TW" altLang="en-US"/>
            </a:p>
          </p:txBody>
        </p:sp>
        <p:sp>
          <p:nvSpPr>
            <p:cNvPr id="122" name="文字方塊 121">
              <a:extLst>
                <a:ext uri="{FF2B5EF4-FFF2-40B4-BE49-F238E27FC236}">
                  <a16:creationId xmlns:a16="http://schemas.microsoft.com/office/drawing/2014/main" id="{447A9551-FB79-0CAD-ECE8-903E4B5E10DE}"/>
                </a:ext>
              </a:extLst>
            </p:cNvPr>
            <p:cNvSpPr txBox="1"/>
            <p:nvPr/>
          </p:nvSpPr>
          <p:spPr>
            <a:xfrm>
              <a:off x="8921295" y="2621967"/>
              <a:ext cx="797957" cy="369332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pPr algn="ctr"/>
              <a:r>
                <a:rPr kumimoji="1" lang="en-US" altLang="zh-TW" dirty="0"/>
                <a:t>day</a:t>
              </a:r>
              <a:endParaRPr kumimoji="1" lang="zh-TW" altLang="en-US" dirty="0"/>
            </a:p>
          </p:txBody>
        </p:sp>
        <p:cxnSp>
          <p:nvCxnSpPr>
            <p:cNvPr id="127" name="直線箭頭接點 126">
              <a:extLst>
                <a:ext uri="{FF2B5EF4-FFF2-40B4-BE49-F238E27FC236}">
                  <a16:creationId xmlns:a16="http://schemas.microsoft.com/office/drawing/2014/main" id="{CB982BE3-B634-C3C8-4A31-0407E7C670C2}"/>
                </a:ext>
              </a:extLst>
            </p:cNvPr>
            <p:cNvCxnSpPr>
              <a:cxnSpLocks/>
            </p:cNvCxnSpPr>
            <p:nvPr/>
          </p:nvCxnSpPr>
          <p:spPr>
            <a:xfrm flipV="1">
              <a:off x="9319641" y="4008381"/>
              <a:ext cx="0" cy="248679"/>
            </a:xfrm>
            <a:prstGeom prst="straightConnector1">
              <a:avLst/>
            </a:prstGeom>
            <a:ln>
              <a:solidFill>
                <a:schemeClr val="tx1"/>
              </a:solidFill>
              <a:tailEnd type="triangle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sp>
          <p:nvSpPr>
            <p:cNvPr id="139" name="矩形 138">
              <a:extLst>
                <a:ext uri="{FF2B5EF4-FFF2-40B4-BE49-F238E27FC236}">
                  <a16:creationId xmlns:a16="http://schemas.microsoft.com/office/drawing/2014/main" id="{0F6F3668-C5CA-0190-77D6-15E4A1A20ABE}"/>
                </a:ext>
              </a:extLst>
            </p:cNvPr>
            <p:cNvSpPr/>
            <p:nvPr/>
          </p:nvSpPr>
          <p:spPr>
            <a:xfrm>
              <a:off x="9024506" y="3523324"/>
              <a:ext cx="575253" cy="379818"/>
            </a:xfrm>
            <a:prstGeom prst="rect">
              <a:avLst/>
            </a:prstGeom>
            <a:noFill/>
            <a:ln>
              <a:solidFill>
                <a:schemeClr val="tx1"/>
              </a:solidFill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r>
                <a:rPr kumimoji="1" lang="en-US" altLang="zh-TW" sz="1100" dirty="0">
                  <a:solidFill>
                    <a:schemeClr val="tx1"/>
                  </a:solidFill>
                </a:rPr>
                <a:t>Linear</a:t>
              </a:r>
              <a:endParaRPr kumimoji="1" lang="zh-TW" altLang="en-US" sz="1100" dirty="0">
                <a:solidFill>
                  <a:schemeClr val="tx1"/>
                </a:solidFill>
              </a:endParaRPr>
            </a:p>
          </p:txBody>
        </p:sp>
        <p:cxnSp>
          <p:nvCxnSpPr>
            <p:cNvPr id="150" name="直線箭頭接點 149">
              <a:extLst>
                <a:ext uri="{FF2B5EF4-FFF2-40B4-BE49-F238E27FC236}">
                  <a16:creationId xmlns:a16="http://schemas.microsoft.com/office/drawing/2014/main" id="{300BB494-8F07-27B6-9008-7D794A672FA6}"/>
                </a:ext>
              </a:extLst>
            </p:cNvPr>
            <p:cNvCxnSpPr>
              <a:cxnSpLocks/>
            </p:cNvCxnSpPr>
            <p:nvPr/>
          </p:nvCxnSpPr>
          <p:spPr>
            <a:xfrm flipV="1">
              <a:off x="9320274" y="3126183"/>
              <a:ext cx="0" cy="248679"/>
            </a:xfrm>
            <a:prstGeom prst="straightConnector1">
              <a:avLst/>
            </a:prstGeom>
            <a:ln>
              <a:solidFill>
                <a:schemeClr val="tx1"/>
              </a:solidFill>
              <a:tailEnd type="triangle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mc:AlternateContent xmlns:mc="http://schemas.openxmlformats.org/markup-compatibility/2006" xmlns:a14="http://schemas.microsoft.com/office/drawing/2010/main">
          <mc:Choice Requires="a14">
            <p:sp>
              <p:nvSpPr>
                <p:cNvPr id="163" name="文字方塊 162">
                  <a:extLst>
                    <a:ext uri="{FF2B5EF4-FFF2-40B4-BE49-F238E27FC236}">
                      <a16:creationId xmlns:a16="http://schemas.microsoft.com/office/drawing/2014/main" id="{4E12538A-2DA1-B77C-E187-ACF785E6277A}"/>
                    </a:ext>
                  </a:extLst>
                </p:cNvPr>
                <p:cNvSpPr txBox="1"/>
                <p:nvPr/>
              </p:nvSpPr>
              <p:spPr>
                <a:xfrm>
                  <a:off x="9066588" y="4335549"/>
                  <a:ext cx="541313" cy="369332"/>
                </a:xfrm>
                <a:prstGeom prst="rect">
                  <a:avLst/>
                </a:prstGeom>
                <a:noFill/>
              </p:spPr>
              <p:txBody>
                <a:bodyPr wrap="square">
                  <a:spAutoFit/>
                </a:bodyPr>
                <a:lstStyle/>
                <a:p>
                  <a:pPr/>
                  <a14:m>
                    <m:oMathPara xmlns:m="http://schemas.openxmlformats.org/officeDocument/2006/math">
                      <m:oMathParaPr>
                        <m:jc m:val="centerGroup"/>
                      </m:oMathParaPr>
                      <m:oMath xmlns:m="http://schemas.openxmlformats.org/officeDocument/2006/math">
                        <m:sSub>
                          <m:sSubPr>
                            <m:ctrlPr>
                              <a:rPr lang="zh-TW" altLang="en-US" i="1" smtClean="0">
                                <a:latin typeface="Cambria Math" panose="02040503050406030204" pitchFamily="18" charset="0"/>
                              </a:rPr>
                            </m:ctrlPr>
                          </m:sSubPr>
                          <m:e>
                            <m:r>
                              <a:rPr lang="en-US" altLang="zh-TW" b="0" i="1" smtClean="0">
                                <a:latin typeface="Cambria Math" panose="02040503050406030204" pitchFamily="18" charset="0"/>
                              </a:rPr>
                              <m:t>𝑠</m:t>
                            </m:r>
                          </m:e>
                          <m:sub>
                            <m:r>
                              <a:rPr lang="en-US" altLang="zh-TW" b="0" i="1" smtClean="0">
                                <a:latin typeface="Cambria Math" panose="02040503050406030204" pitchFamily="18" charset="0"/>
                              </a:rPr>
                              <m:t>4</m:t>
                            </m:r>
                          </m:sub>
                        </m:sSub>
                      </m:oMath>
                    </m:oMathPara>
                  </a14:m>
                  <a:endParaRPr lang="zh-TW" altLang="en-US" dirty="0"/>
                </a:p>
              </p:txBody>
            </p:sp>
          </mc:Choice>
          <mc:Fallback xmlns="">
            <p:sp>
              <p:nvSpPr>
                <p:cNvPr id="163" name="文字方塊 162">
                  <a:extLst>
                    <a:ext uri="{FF2B5EF4-FFF2-40B4-BE49-F238E27FC236}">
                      <a16:creationId xmlns:a16="http://schemas.microsoft.com/office/drawing/2014/main" id="{4E12538A-2DA1-B77C-E187-ACF785E6277A}"/>
                    </a:ext>
                  </a:extLst>
                </p:cNvPr>
                <p:cNvSpPr txBox="1">
                  <a:spLocks noRot="1" noChangeAspect="1" noMove="1" noResize="1" noEditPoints="1" noAdjustHandles="1" noChangeArrowheads="1" noChangeShapeType="1" noTextEdit="1"/>
                </p:cNvSpPr>
                <p:nvPr/>
              </p:nvSpPr>
              <p:spPr>
                <a:xfrm>
                  <a:off x="9066588" y="4335549"/>
                  <a:ext cx="541313" cy="369332"/>
                </a:xfrm>
                <a:prstGeom prst="rect">
                  <a:avLst/>
                </a:prstGeom>
                <a:blipFill>
                  <a:blip r:embed="rId10"/>
                  <a:stretch>
                    <a:fillRect b="-3333"/>
                  </a:stretch>
                </a:blipFill>
              </p:spPr>
              <p:txBody>
                <a:bodyPr/>
                <a:lstStyle/>
                <a:p>
                  <a:r>
                    <a:rPr lang="zh-TW" altLang="en-US">
                      <a:noFill/>
                    </a:rPr>
                    <a:t> </a:t>
                  </a:r>
                </a:p>
              </p:txBody>
            </p:sp>
          </mc:Fallback>
        </mc:AlternateContent>
      </p:grpSp>
      <p:grpSp>
        <p:nvGrpSpPr>
          <p:cNvPr id="179" name="群組 178">
            <a:extLst>
              <a:ext uri="{FF2B5EF4-FFF2-40B4-BE49-F238E27FC236}">
                <a16:creationId xmlns:a16="http://schemas.microsoft.com/office/drawing/2014/main" id="{930B7AA9-0CF2-D6F2-7523-0F56FA1927D9}"/>
              </a:ext>
            </a:extLst>
          </p:cNvPr>
          <p:cNvGrpSpPr/>
          <p:nvPr/>
        </p:nvGrpSpPr>
        <p:grpSpPr>
          <a:xfrm>
            <a:off x="10593800" y="5134715"/>
            <a:ext cx="930168" cy="1077832"/>
            <a:chOff x="10593800" y="5134715"/>
            <a:chExt cx="930168" cy="1077832"/>
          </a:xfrm>
        </p:grpSpPr>
        <p:sp>
          <p:nvSpPr>
            <p:cNvPr id="95" name="矩形 94">
              <a:extLst>
                <a:ext uri="{FF2B5EF4-FFF2-40B4-BE49-F238E27FC236}">
                  <a16:creationId xmlns:a16="http://schemas.microsoft.com/office/drawing/2014/main" id="{9ABF3F34-63B7-67E3-EB87-510426C68DD9}"/>
                </a:ext>
              </a:extLst>
            </p:cNvPr>
            <p:cNvSpPr/>
            <p:nvPr/>
          </p:nvSpPr>
          <p:spPr>
            <a:xfrm>
              <a:off x="10948715" y="5134715"/>
              <a:ext cx="575253" cy="379818"/>
            </a:xfrm>
            <a:prstGeom prst="rect">
              <a:avLst/>
            </a:prstGeom>
            <a:noFill/>
            <a:ln>
              <a:solidFill>
                <a:schemeClr val="tx1"/>
              </a:solidFill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r>
                <a:rPr kumimoji="1" lang="en-US" altLang="zh-TW" sz="1400" dirty="0">
                  <a:solidFill>
                    <a:schemeClr val="tx1"/>
                  </a:solidFill>
                </a:rPr>
                <a:t>RNN</a:t>
              </a:r>
              <a:endParaRPr kumimoji="1" lang="zh-TW" altLang="en-US" sz="1400" dirty="0">
                <a:solidFill>
                  <a:schemeClr val="tx1"/>
                </a:solidFill>
              </a:endParaRPr>
            </a:p>
          </p:txBody>
        </p:sp>
        <p:cxnSp>
          <p:nvCxnSpPr>
            <p:cNvPr id="96" name="直線箭頭接點 95">
              <a:extLst>
                <a:ext uri="{FF2B5EF4-FFF2-40B4-BE49-F238E27FC236}">
                  <a16:creationId xmlns:a16="http://schemas.microsoft.com/office/drawing/2014/main" id="{E6F704AA-EA5D-75D4-EF40-3633BE874B77}"/>
                </a:ext>
              </a:extLst>
            </p:cNvPr>
            <p:cNvCxnSpPr>
              <a:cxnSpLocks/>
            </p:cNvCxnSpPr>
            <p:nvPr/>
          </p:nvCxnSpPr>
          <p:spPr>
            <a:xfrm flipV="1">
              <a:off x="11236341" y="5607771"/>
              <a:ext cx="0" cy="248679"/>
            </a:xfrm>
            <a:prstGeom prst="straightConnector1">
              <a:avLst/>
            </a:prstGeom>
            <a:ln>
              <a:solidFill>
                <a:schemeClr val="tx1"/>
              </a:solidFill>
              <a:tailEnd type="triangle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sp>
          <p:nvSpPr>
            <p:cNvPr id="158" name="文字方塊 157">
              <a:extLst>
                <a:ext uri="{FF2B5EF4-FFF2-40B4-BE49-F238E27FC236}">
                  <a16:creationId xmlns:a16="http://schemas.microsoft.com/office/drawing/2014/main" id="{2BD85E62-0832-594F-56B0-A3B9856B3F6F}"/>
                </a:ext>
              </a:extLst>
            </p:cNvPr>
            <p:cNvSpPr txBox="1"/>
            <p:nvPr/>
          </p:nvSpPr>
          <p:spPr>
            <a:xfrm>
              <a:off x="10948721" y="5843215"/>
              <a:ext cx="575247" cy="369332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pPr algn="ctr"/>
              <a:r>
                <a:rPr kumimoji="1" lang="en-US" altLang="zh-TW" dirty="0"/>
                <a:t>off </a:t>
              </a:r>
              <a:endParaRPr kumimoji="1" lang="zh-TW" altLang="en-US" dirty="0"/>
            </a:p>
          </p:txBody>
        </p:sp>
        <p:cxnSp>
          <p:nvCxnSpPr>
            <p:cNvPr id="114" name="直線箭頭接點 113">
              <a:extLst>
                <a:ext uri="{FF2B5EF4-FFF2-40B4-BE49-F238E27FC236}">
                  <a16:creationId xmlns:a16="http://schemas.microsoft.com/office/drawing/2014/main" id="{579F628B-54D4-EEB5-48FF-994C28072C19}"/>
                </a:ext>
              </a:extLst>
            </p:cNvPr>
            <p:cNvCxnSpPr>
              <a:cxnSpLocks/>
            </p:cNvCxnSpPr>
            <p:nvPr/>
          </p:nvCxnSpPr>
          <p:spPr>
            <a:xfrm>
              <a:off x="10593800" y="5324624"/>
              <a:ext cx="344029" cy="0"/>
            </a:xfrm>
            <a:prstGeom prst="straightConnector1">
              <a:avLst/>
            </a:prstGeom>
            <a:ln>
              <a:solidFill>
                <a:schemeClr val="tx1"/>
              </a:solidFill>
              <a:tailEnd type="triangle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</p:grpSp>
      <p:grpSp>
        <p:nvGrpSpPr>
          <p:cNvPr id="178" name="群組 177">
            <a:extLst>
              <a:ext uri="{FF2B5EF4-FFF2-40B4-BE49-F238E27FC236}">
                <a16:creationId xmlns:a16="http://schemas.microsoft.com/office/drawing/2014/main" id="{AAB1C208-E0C5-1C00-4747-39163E714310}"/>
              </a:ext>
            </a:extLst>
          </p:cNvPr>
          <p:cNvGrpSpPr/>
          <p:nvPr/>
        </p:nvGrpSpPr>
        <p:grpSpPr>
          <a:xfrm>
            <a:off x="10644535" y="2621967"/>
            <a:ext cx="1154909" cy="2451951"/>
            <a:chOff x="10644535" y="2621967"/>
            <a:chExt cx="1154909" cy="2451951"/>
          </a:xfrm>
        </p:grpSpPr>
        <p:cxnSp>
          <p:nvCxnSpPr>
            <p:cNvPr id="97" name="直線箭頭接點 96">
              <a:extLst>
                <a:ext uri="{FF2B5EF4-FFF2-40B4-BE49-F238E27FC236}">
                  <a16:creationId xmlns:a16="http://schemas.microsoft.com/office/drawing/2014/main" id="{8AF55BE6-7DE0-35F4-7CFD-030084B42CD8}"/>
                </a:ext>
              </a:extLst>
            </p:cNvPr>
            <p:cNvCxnSpPr>
              <a:cxnSpLocks/>
            </p:cNvCxnSpPr>
            <p:nvPr/>
          </p:nvCxnSpPr>
          <p:spPr>
            <a:xfrm flipV="1">
              <a:off x="11236341" y="4825239"/>
              <a:ext cx="0" cy="248679"/>
            </a:xfrm>
            <a:prstGeom prst="straightConnector1">
              <a:avLst/>
            </a:prstGeom>
            <a:ln>
              <a:solidFill>
                <a:schemeClr val="tx1"/>
              </a:solidFill>
              <a:tailEnd type="triangle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sp>
          <p:nvSpPr>
            <p:cNvPr id="119" name="圓角矩形 118">
              <a:extLst>
                <a:ext uri="{FF2B5EF4-FFF2-40B4-BE49-F238E27FC236}">
                  <a16:creationId xmlns:a16="http://schemas.microsoft.com/office/drawing/2014/main" id="{B3B05978-1EF3-B1CA-015F-32847360A405}"/>
                </a:ext>
              </a:extLst>
            </p:cNvPr>
            <p:cNvSpPr/>
            <p:nvPr/>
          </p:nvSpPr>
          <p:spPr>
            <a:xfrm rot="16200000">
              <a:off x="11050096" y="4419030"/>
              <a:ext cx="372490" cy="205528"/>
            </a:xfrm>
            <a:prstGeom prst="roundRect">
              <a:avLst/>
            </a:prstGeom>
            <a:solidFill>
              <a:srgbClr val="C6E0B4"/>
            </a:solidFill>
            <a:ln w="19050">
              <a:solidFill>
                <a:schemeClr val="tx1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kumimoji="1" lang="zh-TW" altLang="en-US"/>
            </a:p>
          </p:txBody>
        </p:sp>
        <p:sp>
          <p:nvSpPr>
            <p:cNvPr id="124" name="文字方塊 123">
              <a:extLst>
                <a:ext uri="{FF2B5EF4-FFF2-40B4-BE49-F238E27FC236}">
                  <a16:creationId xmlns:a16="http://schemas.microsoft.com/office/drawing/2014/main" id="{B79A94A3-8037-6853-9DC7-A39998637EDC}"/>
                </a:ext>
              </a:extLst>
            </p:cNvPr>
            <p:cNvSpPr txBox="1"/>
            <p:nvPr/>
          </p:nvSpPr>
          <p:spPr>
            <a:xfrm>
              <a:off x="10644535" y="2621967"/>
              <a:ext cx="1154909" cy="369332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pPr algn="ctr"/>
              <a:r>
                <a:rPr kumimoji="1" lang="en-US" altLang="zh-TW" dirty="0"/>
                <a:t>[EOS] </a:t>
              </a:r>
              <a:endParaRPr kumimoji="1" lang="zh-TW" altLang="en-US" dirty="0"/>
            </a:p>
          </p:txBody>
        </p:sp>
        <p:cxnSp>
          <p:nvCxnSpPr>
            <p:cNvPr id="129" name="直線箭頭接點 128">
              <a:extLst>
                <a:ext uri="{FF2B5EF4-FFF2-40B4-BE49-F238E27FC236}">
                  <a16:creationId xmlns:a16="http://schemas.microsoft.com/office/drawing/2014/main" id="{1DFBED17-5F3C-457F-A8F5-1909931E74ED}"/>
                </a:ext>
              </a:extLst>
            </p:cNvPr>
            <p:cNvCxnSpPr>
              <a:cxnSpLocks/>
            </p:cNvCxnSpPr>
            <p:nvPr/>
          </p:nvCxnSpPr>
          <p:spPr>
            <a:xfrm flipV="1">
              <a:off x="11235708" y="4008309"/>
              <a:ext cx="0" cy="248679"/>
            </a:xfrm>
            <a:prstGeom prst="straightConnector1">
              <a:avLst/>
            </a:prstGeom>
            <a:ln>
              <a:solidFill>
                <a:schemeClr val="tx1"/>
              </a:solidFill>
              <a:tailEnd type="triangle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sp>
          <p:nvSpPr>
            <p:cNvPr id="141" name="矩形 140">
              <a:extLst>
                <a:ext uri="{FF2B5EF4-FFF2-40B4-BE49-F238E27FC236}">
                  <a16:creationId xmlns:a16="http://schemas.microsoft.com/office/drawing/2014/main" id="{6DC25139-623B-B660-5E7E-97D4294CA4E0}"/>
                </a:ext>
              </a:extLst>
            </p:cNvPr>
            <p:cNvSpPr/>
            <p:nvPr/>
          </p:nvSpPr>
          <p:spPr>
            <a:xfrm>
              <a:off x="10940573" y="3523252"/>
              <a:ext cx="575253" cy="379818"/>
            </a:xfrm>
            <a:prstGeom prst="rect">
              <a:avLst/>
            </a:prstGeom>
            <a:noFill/>
            <a:ln>
              <a:solidFill>
                <a:schemeClr val="tx1"/>
              </a:solidFill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r>
                <a:rPr kumimoji="1" lang="en-US" altLang="zh-TW" sz="1100" dirty="0">
                  <a:solidFill>
                    <a:schemeClr val="tx1"/>
                  </a:solidFill>
                </a:rPr>
                <a:t>Linear</a:t>
              </a:r>
              <a:endParaRPr kumimoji="1" lang="zh-TW" altLang="en-US" sz="1100" dirty="0">
                <a:solidFill>
                  <a:schemeClr val="tx1"/>
                </a:solidFill>
              </a:endParaRPr>
            </a:p>
          </p:txBody>
        </p:sp>
        <p:cxnSp>
          <p:nvCxnSpPr>
            <p:cNvPr id="152" name="直線箭頭接點 151">
              <a:extLst>
                <a:ext uri="{FF2B5EF4-FFF2-40B4-BE49-F238E27FC236}">
                  <a16:creationId xmlns:a16="http://schemas.microsoft.com/office/drawing/2014/main" id="{7E6F7A4C-2BE7-2F79-9C04-CA1E39A803C6}"/>
                </a:ext>
              </a:extLst>
            </p:cNvPr>
            <p:cNvCxnSpPr>
              <a:cxnSpLocks/>
            </p:cNvCxnSpPr>
            <p:nvPr/>
          </p:nvCxnSpPr>
          <p:spPr>
            <a:xfrm flipV="1">
              <a:off x="11236341" y="3126111"/>
              <a:ext cx="0" cy="248679"/>
            </a:xfrm>
            <a:prstGeom prst="straightConnector1">
              <a:avLst/>
            </a:prstGeom>
            <a:ln>
              <a:solidFill>
                <a:schemeClr val="tx1"/>
              </a:solidFill>
              <a:tailEnd type="triangle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mc:AlternateContent xmlns:mc="http://schemas.openxmlformats.org/markup-compatibility/2006" xmlns:a14="http://schemas.microsoft.com/office/drawing/2010/main">
          <mc:Choice Requires="a14">
            <p:sp>
              <p:nvSpPr>
                <p:cNvPr id="165" name="文字方塊 164">
                  <a:extLst>
                    <a:ext uri="{FF2B5EF4-FFF2-40B4-BE49-F238E27FC236}">
                      <a16:creationId xmlns:a16="http://schemas.microsoft.com/office/drawing/2014/main" id="{34A0BB91-1125-221E-3AA8-648572FFCDFA}"/>
                    </a:ext>
                  </a:extLst>
                </p:cNvPr>
                <p:cNvSpPr txBox="1"/>
                <p:nvPr/>
              </p:nvSpPr>
              <p:spPr>
                <a:xfrm>
                  <a:off x="10976570" y="4335549"/>
                  <a:ext cx="541313" cy="369332"/>
                </a:xfrm>
                <a:prstGeom prst="rect">
                  <a:avLst/>
                </a:prstGeom>
                <a:noFill/>
              </p:spPr>
              <p:txBody>
                <a:bodyPr wrap="square">
                  <a:spAutoFit/>
                </a:bodyPr>
                <a:lstStyle/>
                <a:p>
                  <a:pPr/>
                  <a14:m>
                    <m:oMathPara xmlns:m="http://schemas.openxmlformats.org/officeDocument/2006/math">
                      <m:oMathParaPr>
                        <m:jc m:val="centerGroup"/>
                      </m:oMathParaPr>
                      <m:oMath xmlns:m="http://schemas.openxmlformats.org/officeDocument/2006/math">
                        <m:sSub>
                          <m:sSubPr>
                            <m:ctrlPr>
                              <a:rPr lang="zh-TW" altLang="en-US" i="1" smtClean="0">
                                <a:latin typeface="Cambria Math" panose="02040503050406030204" pitchFamily="18" charset="0"/>
                              </a:rPr>
                            </m:ctrlPr>
                          </m:sSubPr>
                          <m:e>
                            <m:r>
                              <a:rPr lang="en-US" altLang="zh-TW" b="0" i="1" smtClean="0">
                                <a:latin typeface="Cambria Math" panose="02040503050406030204" pitchFamily="18" charset="0"/>
                              </a:rPr>
                              <m:t>𝑠</m:t>
                            </m:r>
                          </m:e>
                          <m:sub>
                            <m:r>
                              <a:rPr lang="en-US" altLang="zh-TW" b="0" i="1" smtClean="0">
                                <a:latin typeface="Cambria Math" panose="02040503050406030204" pitchFamily="18" charset="0"/>
                              </a:rPr>
                              <m:t>6</m:t>
                            </m:r>
                          </m:sub>
                        </m:sSub>
                      </m:oMath>
                    </m:oMathPara>
                  </a14:m>
                  <a:endParaRPr lang="zh-TW" altLang="en-US" dirty="0"/>
                </a:p>
              </p:txBody>
            </p:sp>
          </mc:Choice>
          <mc:Fallback xmlns="">
            <p:sp>
              <p:nvSpPr>
                <p:cNvPr id="165" name="文字方塊 164">
                  <a:extLst>
                    <a:ext uri="{FF2B5EF4-FFF2-40B4-BE49-F238E27FC236}">
                      <a16:creationId xmlns:a16="http://schemas.microsoft.com/office/drawing/2014/main" id="{34A0BB91-1125-221E-3AA8-648572FFCDFA}"/>
                    </a:ext>
                  </a:extLst>
                </p:cNvPr>
                <p:cNvSpPr txBox="1">
                  <a:spLocks noRot="1" noChangeAspect="1" noMove="1" noResize="1" noEditPoints="1" noAdjustHandles="1" noChangeArrowheads="1" noChangeShapeType="1" noTextEdit="1"/>
                </p:cNvSpPr>
                <p:nvPr/>
              </p:nvSpPr>
              <p:spPr>
                <a:xfrm>
                  <a:off x="10976570" y="4335549"/>
                  <a:ext cx="541313" cy="369332"/>
                </a:xfrm>
                <a:prstGeom prst="rect">
                  <a:avLst/>
                </a:prstGeom>
                <a:blipFill>
                  <a:blip r:embed="rId11"/>
                  <a:stretch>
                    <a:fillRect b="-3333"/>
                  </a:stretch>
                </a:blipFill>
              </p:spPr>
              <p:txBody>
                <a:bodyPr/>
                <a:lstStyle/>
                <a:p>
                  <a:r>
                    <a:rPr lang="zh-TW" altLang="en-US">
                      <a:noFill/>
                    </a:rPr>
                    <a:t> </a:t>
                  </a:r>
                </a:p>
              </p:txBody>
            </p:sp>
          </mc:Fallback>
        </mc:AlternateContent>
      </p:grpSp>
      <p:grpSp>
        <p:nvGrpSpPr>
          <p:cNvPr id="172" name="群組 171">
            <a:extLst>
              <a:ext uri="{FF2B5EF4-FFF2-40B4-BE49-F238E27FC236}">
                <a16:creationId xmlns:a16="http://schemas.microsoft.com/office/drawing/2014/main" id="{99E8C5B2-AE25-A7FB-7A9B-2672C63E5C97}"/>
              </a:ext>
            </a:extLst>
          </p:cNvPr>
          <p:cNvGrpSpPr/>
          <p:nvPr/>
        </p:nvGrpSpPr>
        <p:grpSpPr>
          <a:xfrm>
            <a:off x="9994266" y="2621967"/>
            <a:ext cx="583395" cy="2452023"/>
            <a:chOff x="9994266" y="2621967"/>
            <a:chExt cx="583395" cy="2452023"/>
          </a:xfrm>
        </p:grpSpPr>
        <p:cxnSp>
          <p:nvCxnSpPr>
            <p:cNvPr id="93" name="直線箭頭接點 92">
              <a:extLst>
                <a:ext uri="{FF2B5EF4-FFF2-40B4-BE49-F238E27FC236}">
                  <a16:creationId xmlns:a16="http://schemas.microsoft.com/office/drawing/2014/main" id="{CF4974F4-9BE5-07F4-132C-73C18C3B45C6}"/>
                </a:ext>
              </a:extLst>
            </p:cNvPr>
            <p:cNvCxnSpPr>
              <a:cxnSpLocks/>
            </p:cNvCxnSpPr>
            <p:nvPr/>
          </p:nvCxnSpPr>
          <p:spPr>
            <a:xfrm flipV="1">
              <a:off x="10290034" y="4825311"/>
              <a:ext cx="0" cy="248679"/>
            </a:xfrm>
            <a:prstGeom prst="straightConnector1">
              <a:avLst/>
            </a:prstGeom>
            <a:ln>
              <a:solidFill>
                <a:schemeClr val="tx1"/>
              </a:solidFill>
              <a:tailEnd type="triangle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sp>
          <p:nvSpPr>
            <p:cNvPr id="118" name="圓角矩形 117">
              <a:extLst>
                <a:ext uri="{FF2B5EF4-FFF2-40B4-BE49-F238E27FC236}">
                  <a16:creationId xmlns:a16="http://schemas.microsoft.com/office/drawing/2014/main" id="{40F43785-23C9-5482-A0B7-A6E829C65020}"/>
                </a:ext>
              </a:extLst>
            </p:cNvPr>
            <p:cNvSpPr/>
            <p:nvPr/>
          </p:nvSpPr>
          <p:spPr>
            <a:xfrm rot="16200000">
              <a:off x="10103789" y="4419030"/>
              <a:ext cx="372490" cy="205528"/>
            </a:xfrm>
            <a:prstGeom prst="roundRect">
              <a:avLst/>
            </a:prstGeom>
            <a:solidFill>
              <a:srgbClr val="C6E0B4"/>
            </a:solidFill>
            <a:ln w="19050">
              <a:solidFill>
                <a:schemeClr val="tx1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kumimoji="1" lang="zh-TW" altLang="en-US"/>
            </a:p>
          </p:txBody>
        </p:sp>
        <p:sp>
          <p:nvSpPr>
            <p:cNvPr id="123" name="文字方塊 122">
              <a:extLst>
                <a:ext uri="{FF2B5EF4-FFF2-40B4-BE49-F238E27FC236}">
                  <a16:creationId xmlns:a16="http://schemas.microsoft.com/office/drawing/2014/main" id="{860CCC8D-1883-2C59-A6FA-4ACCB3F4B1A2}"/>
                </a:ext>
              </a:extLst>
            </p:cNvPr>
            <p:cNvSpPr txBox="1"/>
            <p:nvPr/>
          </p:nvSpPr>
          <p:spPr>
            <a:xfrm>
              <a:off x="10002422" y="2621967"/>
              <a:ext cx="575239" cy="369332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pPr algn="ctr"/>
              <a:r>
                <a:rPr kumimoji="1" lang="en-US" altLang="zh-TW" dirty="0"/>
                <a:t>off </a:t>
              </a:r>
              <a:endParaRPr kumimoji="1" lang="zh-TW" altLang="en-US" dirty="0"/>
            </a:p>
          </p:txBody>
        </p:sp>
        <p:cxnSp>
          <p:nvCxnSpPr>
            <p:cNvPr id="128" name="直線箭頭接點 127">
              <a:extLst>
                <a:ext uri="{FF2B5EF4-FFF2-40B4-BE49-F238E27FC236}">
                  <a16:creationId xmlns:a16="http://schemas.microsoft.com/office/drawing/2014/main" id="{F6ABF1B6-A2F8-7682-9C0D-0A649A02DE6B}"/>
                </a:ext>
              </a:extLst>
            </p:cNvPr>
            <p:cNvCxnSpPr>
              <a:cxnSpLocks/>
            </p:cNvCxnSpPr>
            <p:nvPr/>
          </p:nvCxnSpPr>
          <p:spPr>
            <a:xfrm flipV="1">
              <a:off x="10289401" y="4008381"/>
              <a:ext cx="0" cy="248679"/>
            </a:xfrm>
            <a:prstGeom prst="straightConnector1">
              <a:avLst/>
            </a:prstGeom>
            <a:ln>
              <a:solidFill>
                <a:schemeClr val="tx1"/>
              </a:solidFill>
              <a:tailEnd type="triangle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sp>
          <p:nvSpPr>
            <p:cNvPr id="140" name="矩形 139">
              <a:extLst>
                <a:ext uri="{FF2B5EF4-FFF2-40B4-BE49-F238E27FC236}">
                  <a16:creationId xmlns:a16="http://schemas.microsoft.com/office/drawing/2014/main" id="{02D5FEC9-A200-F350-47F3-F0DE569908F8}"/>
                </a:ext>
              </a:extLst>
            </p:cNvPr>
            <p:cNvSpPr/>
            <p:nvPr/>
          </p:nvSpPr>
          <p:spPr>
            <a:xfrm>
              <a:off x="9994266" y="3523324"/>
              <a:ext cx="575253" cy="379818"/>
            </a:xfrm>
            <a:prstGeom prst="rect">
              <a:avLst/>
            </a:prstGeom>
            <a:noFill/>
            <a:ln>
              <a:solidFill>
                <a:schemeClr val="tx1"/>
              </a:solidFill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r>
                <a:rPr kumimoji="1" lang="en-US" altLang="zh-TW" sz="1100" dirty="0">
                  <a:solidFill>
                    <a:schemeClr val="tx1"/>
                  </a:solidFill>
                </a:rPr>
                <a:t>Linear</a:t>
              </a:r>
              <a:endParaRPr kumimoji="1" lang="zh-TW" altLang="en-US" sz="1100" dirty="0">
                <a:solidFill>
                  <a:schemeClr val="tx1"/>
                </a:solidFill>
              </a:endParaRPr>
            </a:p>
          </p:txBody>
        </p:sp>
        <p:cxnSp>
          <p:nvCxnSpPr>
            <p:cNvPr id="151" name="直線箭頭接點 150">
              <a:extLst>
                <a:ext uri="{FF2B5EF4-FFF2-40B4-BE49-F238E27FC236}">
                  <a16:creationId xmlns:a16="http://schemas.microsoft.com/office/drawing/2014/main" id="{C19298A3-DB5B-91DE-1C84-7285068A2E8A}"/>
                </a:ext>
              </a:extLst>
            </p:cNvPr>
            <p:cNvCxnSpPr>
              <a:cxnSpLocks/>
            </p:cNvCxnSpPr>
            <p:nvPr/>
          </p:nvCxnSpPr>
          <p:spPr>
            <a:xfrm flipV="1">
              <a:off x="10290034" y="3126183"/>
              <a:ext cx="0" cy="248679"/>
            </a:xfrm>
            <a:prstGeom prst="straightConnector1">
              <a:avLst/>
            </a:prstGeom>
            <a:ln>
              <a:solidFill>
                <a:schemeClr val="tx1"/>
              </a:solidFill>
              <a:tailEnd type="triangle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mc:AlternateContent xmlns:mc="http://schemas.openxmlformats.org/markup-compatibility/2006" xmlns:a14="http://schemas.microsoft.com/office/drawing/2010/main">
          <mc:Choice Requires="a14">
            <p:sp>
              <p:nvSpPr>
                <p:cNvPr id="164" name="文字方塊 163">
                  <a:extLst>
                    <a:ext uri="{FF2B5EF4-FFF2-40B4-BE49-F238E27FC236}">
                      <a16:creationId xmlns:a16="http://schemas.microsoft.com/office/drawing/2014/main" id="{A023A421-96AF-D869-47C6-F6F79A8E8001}"/>
                    </a:ext>
                  </a:extLst>
                </p:cNvPr>
                <p:cNvSpPr txBox="1"/>
                <p:nvPr/>
              </p:nvSpPr>
              <p:spPr>
                <a:xfrm>
                  <a:off x="10030263" y="4335549"/>
                  <a:ext cx="541313" cy="369332"/>
                </a:xfrm>
                <a:prstGeom prst="rect">
                  <a:avLst/>
                </a:prstGeom>
                <a:noFill/>
              </p:spPr>
              <p:txBody>
                <a:bodyPr wrap="square">
                  <a:spAutoFit/>
                </a:bodyPr>
                <a:lstStyle/>
                <a:p>
                  <a:pPr/>
                  <a14:m>
                    <m:oMathPara xmlns:m="http://schemas.openxmlformats.org/officeDocument/2006/math">
                      <m:oMathParaPr>
                        <m:jc m:val="centerGroup"/>
                      </m:oMathParaPr>
                      <m:oMath xmlns:m="http://schemas.openxmlformats.org/officeDocument/2006/math">
                        <m:sSub>
                          <m:sSubPr>
                            <m:ctrlPr>
                              <a:rPr lang="zh-TW" altLang="en-US" i="1" smtClean="0">
                                <a:latin typeface="Cambria Math" panose="02040503050406030204" pitchFamily="18" charset="0"/>
                              </a:rPr>
                            </m:ctrlPr>
                          </m:sSubPr>
                          <m:e>
                            <m:r>
                              <a:rPr lang="en-US" altLang="zh-TW" b="0" i="1" smtClean="0">
                                <a:latin typeface="Cambria Math" panose="02040503050406030204" pitchFamily="18" charset="0"/>
                              </a:rPr>
                              <m:t>𝑠</m:t>
                            </m:r>
                          </m:e>
                          <m:sub>
                            <m:r>
                              <a:rPr lang="en-US" altLang="zh-TW" b="0" i="1" smtClean="0">
                                <a:latin typeface="Cambria Math" panose="02040503050406030204" pitchFamily="18" charset="0"/>
                              </a:rPr>
                              <m:t>5</m:t>
                            </m:r>
                          </m:sub>
                        </m:sSub>
                      </m:oMath>
                    </m:oMathPara>
                  </a14:m>
                  <a:endParaRPr lang="zh-TW" altLang="en-US" dirty="0"/>
                </a:p>
              </p:txBody>
            </p:sp>
          </mc:Choice>
          <mc:Fallback xmlns="">
            <p:sp>
              <p:nvSpPr>
                <p:cNvPr id="164" name="文字方塊 163">
                  <a:extLst>
                    <a:ext uri="{FF2B5EF4-FFF2-40B4-BE49-F238E27FC236}">
                      <a16:creationId xmlns:a16="http://schemas.microsoft.com/office/drawing/2014/main" id="{A023A421-96AF-D869-47C6-F6F79A8E8001}"/>
                    </a:ext>
                  </a:extLst>
                </p:cNvPr>
                <p:cNvSpPr txBox="1">
                  <a:spLocks noRot="1" noChangeAspect="1" noMove="1" noResize="1" noEditPoints="1" noAdjustHandles="1" noChangeArrowheads="1" noChangeShapeType="1" noTextEdit="1"/>
                </p:cNvSpPr>
                <p:nvPr/>
              </p:nvSpPr>
              <p:spPr>
                <a:xfrm>
                  <a:off x="10030263" y="4335549"/>
                  <a:ext cx="541313" cy="369332"/>
                </a:xfrm>
                <a:prstGeom prst="rect">
                  <a:avLst/>
                </a:prstGeom>
                <a:blipFill>
                  <a:blip r:embed="rId12"/>
                  <a:stretch>
                    <a:fillRect b="-3333"/>
                  </a:stretch>
                </a:blipFill>
              </p:spPr>
              <p:txBody>
                <a:bodyPr/>
                <a:lstStyle/>
                <a:p>
                  <a:r>
                    <a:rPr lang="zh-TW" altLang="en-US">
                      <a:noFill/>
                    </a:rPr>
                    <a:t> </a:t>
                  </a:r>
                </a:p>
              </p:txBody>
            </p:sp>
          </mc:Fallback>
        </mc:AlternateContent>
      </p:grpSp>
    </p:spTree>
    <p:extLst>
      <p:ext uri="{BB962C8B-B14F-4D97-AF65-F5344CB8AC3E}">
        <p14:creationId xmlns:p14="http://schemas.microsoft.com/office/powerpoint/2010/main" val="447058376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7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9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9" fill="hold">
                      <p:stCondLst>
                        <p:cond delay="indefinite"/>
                      </p:stCondLst>
                      <p:childTnLst>
                        <p:par>
                          <p:cTn id="10" fill="hold">
                            <p:stCondLst>
                              <p:cond delay="0"/>
                            </p:stCondLst>
                            <p:childTnLst>
                              <p:par>
                                <p:cTn id="11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3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7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5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8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7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7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9" fill="hold">
                      <p:stCondLst>
                        <p:cond delay="indefinite"/>
                      </p:stCondLst>
                      <p:childTnLst>
                        <p:par>
                          <p:cTn id="20" fill="hold">
                            <p:stCondLst>
                              <p:cond delay="0"/>
                            </p:stCondLst>
                            <p:childTnLst>
                              <p:par>
                                <p:cTn id="21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7" fill="hold">
                      <p:stCondLst>
                        <p:cond delay="indefinite"/>
                      </p:stCondLst>
                      <p:childTnLst>
                        <p:par>
                          <p:cTn id="28" fill="hold">
                            <p:stCondLst>
                              <p:cond delay="0"/>
                            </p:stCondLst>
                            <p:childTnLst>
                              <p:par>
                                <p:cTn id="29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1" fill="hold">
                      <p:stCondLst>
                        <p:cond delay="indefinite"/>
                      </p:stCondLst>
                      <p:childTnLst>
                        <p:par>
                          <p:cTn id="32" fill="hold">
                            <p:stCondLst>
                              <p:cond delay="0"/>
                            </p:stCondLst>
                            <p:childTnLst>
                              <p:par>
                                <p:cTn id="33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5" fill="hold">
                      <p:stCondLst>
                        <p:cond delay="indefinite"/>
                      </p:stCondLst>
                      <p:childTnLst>
                        <p:par>
                          <p:cTn id="36" fill="hold">
                            <p:stCondLst>
                              <p:cond delay="0"/>
                            </p:stCondLst>
                            <p:childTnLst>
                              <p:par>
                                <p:cTn id="37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9" fill="hold">
                      <p:stCondLst>
                        <p:cond delay="indefinite"/>
                      </p:stCondLst>
                      <p:childTnLst>
                        <p:par>
                          <p:cTn id="40" fill="hold">
                            <p:stCondLst>
                              <p:cond delay="0"/>
                            </p:stCondLst>
                            <p:childTnLst>
                              <p:par>
                                <p:cTn id="41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3" fill="hold">
                      <p:stCondLst>
                        <p:cond delay="indefinite"/>
                      </p:stCondLst>
                      <p:childTnLst>
                        <p:par>
                          <p:cTn id="44" fill="hold">
                            <p:stCondLst>
                              <p:cond delay="0"/>
                            </p:stCondLst>
                            <p:childTnLst>
                              <p:par>
                                <p:cTn id="45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7" fill="hold">
                      <p:stCondLst>
                        <p:cond delay="indefinite"/>
                      </p:stCondLst>
                      <p:childTnLst>
                        <p:par>
                          <p:cTn id="48" fill="hold">
                            <p:stCondLst>
                              <p:cond delay="0"/>
                            </p:stCondLst>
                            <p:childTnLst>
                              <p:par>
                                <p:cTn id="49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51" fill="hold">
                      <p:stCondLst>
                        <p:cond delay="indefinite"/>
                      </p:stCondLst>
                      <p:childTnLst>
                        <p:par>
                          <p:cTn id="52" fill="hold">
                            <p:stCondLst>
                              <p:cond delay="0"/>
                            </p:stCondLst>
                            <p:childTnLst>
                              <p:par>
                                <p:cTn id="53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55" fill="hold">
                      <p:stCondLst>
                        <p:cond delay="indefinite"/>
                      </p:stCondLst>
                      <p:childTnLst>
                        <p:par>
                          <p:cTn id="56" fill="hold">
                            <p:stCondLst>
                              <p:cond delay="0"/>
                            </p:stCondLst>
                            <p:childTnLst>
                              <p:par>
                                <p:cTn id="57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59" fill="hold">
                      <p:stCondLst>
                        <p:cond delay="indefinite"/>
                      </p:stCondLst>
                      <p:childTnLst>
                        <p:par>
                          <p:cTn id="60" fill="hold">
                            <p:stCondLst>
                              <p:cond delay="0"/>
                            </p:stCondLst>
                            <p:childTnLst>
                              <p:par>
                                <p:cTn id="61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74" grpId="0"/>
      <p:bldP spid="79" grpId="0" animBg="1"/>
      <p:bldP spid="98" grpId="0" animBg="1"/>
    </p:bldLst>
  </p:timing>
</p:sld>
</file>

<file path=ppt/slides/slide4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標題 1">
            <a:extLst>
              <a:ext uri="{FF2B5EF4-FFF2-40B4-BE49-F238E27FC236}">
                <a16:creationId xmlns:a16="http://schemas.microsoft.com/office/drawing/2014/main" id="{D9914E0E-D85E-7338-591F-EDAF38360B99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>
            <a:normAutofit fontScale="90000"/>
          </a:bodyPr>
          <a:lstStyle/>
          <a:p>
            <a:r>
              <a:rPr kumimoji="1" lang="zh-TW" altLang="en-US" dirty="0"/>
              <a:t>一般情況的</a:t>
            </a:r>
            <a:r>
              <a:rPr kumimoji="1" lang="en-US" altLang="zh-TW" dirty="0"/>
              <a:t> encoder-decoder </a:t>
            </a:r>
            <a:r>
              <a:rPr kumimoji="1" lang="zh-TW" altLang="en-US" dirty="0"/>
              <a:t>有什麼問題？</a:t>
            </a:r>
          </a:p>
        </p:txBody>
      </p:sp>
      <p:sp>
        <p:nvSpPr>
          <p:cNvPr id="4" name="投影片編號版面配置區 3">
            <a:extLst>
              <a:ext uri="{FF2B5EF4-FFF2-40B4-BE49-F238E27FC236}">
                <a16:creationId xmlns:a16="http://schemas.microsoft.com/office/drawing/2014/main" id="{AF269C2F-96E0-ED18-B8AB-EF13B1900465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6113E31D-E2AB-40D1-8B51-AFA5AFEF393A}" type="slidenum">
              <a:rPr lang="en-US" smtClean="0"/>
              <a:pPr/>
              <a:t>47</a:t>
            </a:fld>
            <a:endParaRPr lang="en-US" dirty="0"/>
          </a:p>
        </p:txBody>
      </p:sp>
      <p:sp>
        <p:nvSpPr>
          <p:cNvPr id="5" name="文字方塊 4">
            <a:extLst>
              <a:ext uri="{FF2B5EF4-FFF2-40B4-BE49-F238E27FC236}">
                <a16:creationId xmlns:a16="http://schemas.microsoft.com/office/drawing/2014/main" id="{865CF0AC-1A8B-8F3B-D5E7-4EAB4C7AE2FD}"/>
              </a:ext>
            </a:extLst>
          </p:cNvPr>
          <p:cNvSpPr txBox="1"/>
          <p:nvPr/>
        </p:nvSpPr>
        <p:spPr>
          <a:xfrm>
            <a:off x="653143" y="1586847"/>
            <a:ext cx="10918370" cy="2240357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marL="342900" indent="-342900">
              <a:lnSpc>
                <a:spcPct val="150000"/>
              </a:lnSpc>
              <a:buFont typeface="Arial" panose="020B0604020202020204" pitchFamily="34" charset="0"/>
              <a:buChar char="•"/>
            </a:pPr>
            <a:r>
              <a:rPr kumimoji="1" lang="zh-TW" altLang="en-US" sz="2400" dirty="0"/>
              <a:t>依賴</a:t>
            </a:r>
            <a:r>
              <a:rPr kumimoji="1" lang="en-US" altLang="zh-TW" sz="2400" dirty="0"/>
              <a:t> encoder </a:t>
            </a:r>
            <a:r>
              <a:rPr kumimoji="1" lang="zh-TW" altLang="en-US" sz="2400" dirty="0"/>
              <a:t>的 </a:t>
            </a:r>
            <a:r>
              <a:rPr kumimoji="1" lang="en-US" altLang="zh-TW" sz="2400" dirty="0"/>
              <a:t>hidden state</a:t>
            </a:r>
          </a:p>
          <a:p>
            <a:pPr marL="800100" lvl="1" indent="-342900">
              <a:lnSpc>
                <a:spcPct val="150000"/>
              </a:lnSpc>
              <a:buFont typeface="Arial" panose="020B0604020202020204" pitchFamily="34" charset="0"/>
              <a:buChar char="•"/>
            </a:pPr>
            <a:r>
              <a:rPr kumimoji="1" lang="zh-TW" altLang="en-US" sz="2400" dirty="0"/>
              <a:t>好像要你看完一整篇文章後</a:t>
            </a:r>
            <a:r>
              <a:rPr kumimoji="1" lang="zh-TW" altLang="en-US" sz="2400"/>
              <a:t>，不能再</a:t>
            </a:r>
            <a:r>
              <a:rPr kumimoji="1" lang="zh-TW" altLang="en-US" sz="2400" dirty="0"/>
              <a:t>回頭看原文，只能憑腦中最後留下的一小段印象把它</a:t>
            </a:r>
            <a:r>
              <a:rPr kumimoji="1" lang="zh-TW" altLang="en-US" sz="2400"/>
              <a:t>完整翻譯出來</a:t>
            </a:r>
            <a:endParaRPr kumimoji="1" lang="en-US" altLang="zh-TW" sz="2400" dirty="0"/>
          </a:p>
          <a:p>
            <a:pPr marL="342900" indent="-342900">
              <a:lnSpc>
                <a:spcPct val="150000"/>
              </a:lnSpc>
              <a:buFont typeface="Arial" panose="020B0604020202020204" pitchFamily="34" charset="0"/>
              <a:buChar char="•"/>
            </a:pPr>
            <a:r>
              <a:rPr kumimoji="1" lang="zh-TW" altLang="en-US" sz="2400" dirty="0"/>
              <a:t>不管原句多短多長，最後都要塞進同樣大小的向量</a:t>
            </a:r>
            <a:endParaRPr kumimoji="1" lang="en-US" altLang="zh-TW" sz="2400" dirty="0"/>
          </a:p>
        </p:txBody>
      </p:sp>
    </p:spTree>
    <p:extLst>
      <p:ext uri="{BB962C8B-B14F-4D97-AF65-F5344CB8AC3E}">
        <p14:creationId xmlns:p14="http://schemas.microsoft.com/office/powerpoint/2010/main" val="3882725500"/>
      </p:ext>
    </p:extLst>
  </p:cSld>
  <p:clrMapOvr>
    <a:masterClrMapping/>
  </p:clrMapOvr>
</p:sld>
</file>

<file path=ppt/slides/slide4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5C2C3E64-DC58-7055-4D7F-E7E37F39B5A9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標題 1">
            <a:extLst>
              <a:ext uri="{FF2B5EF4-FFF2-40B4-BE49-F238E27FC236}">
                <a16:creationId xmlns:a16="http://schemas.microsoft.com/office/drawing/2014/main" id="{C9BF15AE-6803-ACCC-6F87-FF61EFED0DC2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>
            <a:normAutofit/>
          </a:bodyPr>
          <a:lstStyle/>
          <a:p>
            <a:r>
              <a:rPr kumimoji="1" lang="zh-TW" altLang="en-US" dirty="0"/>
              <a:t>機器翻譯 </a:t>
            </a:r>
            <a:r>
              <a:rPr kumimoji="1" lang="en-US" altLang="zh-TW" dirty="0"/>
              <a:t>(with Attention, t = 2)</a:t>
            </a:r>
            <a:endParaRPr kumimoji="1" lang="zh-TW" altLang="en-US" dirty="0"/>
          </a:p>
        </p:txBody>
      </p:sp>
      <p:sp>
        <p:nvSpPr>
          <p:cNvPr id="41" name="圓角矩形 40">
            <a:extLst>
              <a:ext uri="{FF2B5EF4-FFF2-40B4-BE49-F238E27FC236}">
                <a16:creationId xmlns:a16="http://schemas.microsoft.com/office/drawing/2014/main" id="{94D9E790-783A-329F-CB18-2AD3E891A331}"/>
              </a:ext>
            </a:extLst>
          </p:cNvPr>
          <p:cNvSpPr/>
          <p:nvPr/>
        </p:nvSpPr>
        <p:spPr>
          <a:xfrm rot="5400000">
            <a:off x="1041463" y="4064110"/>
            <a:ext cx="372490" cy="207951"/>
          </a:xfrm>
          <a:prstGeom prst="roundRect">
            <a:avLst/>
          </a:prstGeom>
          <a:solidFill>
            <a:schemeClr val="accent5">
              <a:lumMod val="40000"/>
              <a:lumOff val="60000"/>
            </a:schemeClr>
          </a:solidFill>
          <a:ln w="19050">
            <a:solidFill>
              <a:schemeClr val="tx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kumimoji="1" lang="zh-TW" altLang="en-US"/>
          </a:p>
        </p:txBody>
      </p:sp>
      <p:sp>
        <p:nvSpPr>
          <p:cNvPr id="3" name="投影片編號版面配置區 2">
            <a:extLst>
              <a:ext uri="{FF2B5EF4-FFF2-40B4-BE49-F238E27FC236}">
                <a16:creationId xmlns:a16="http://schemas.microsoft.com/office/drawing/2014/main" id="{FF8EE193-CB55-5961-AD5B-6C6B55B9940C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9091681C-F638-B044-A8F2-A1B9864D5A40}" type="slidenum">
              <a:rPr kumimoji="1" lang="zh-TW" altLang="en-US" smtClean="0"/>
              <a:t>48</a:t>
            </a:fld>
            <a:endParaRPr kumimoji="1" lang="zh-TW" altLang="en-US"/>
          </a:p>
        </p:txBody>
      </p:sp>
      <mc:AlternateContent xmlns:mc="http://schemas.openxmlformats.org/markup-compatibility/2006" xmlns:a14="http://schemas.microsoft.com/office/drawing/2010/main">
        <mc:Choice Requires="a14">
          <p:sp>
            <p:nvSpPr>
              <p:cNvPr id="4" name="文字方塊 3">
                <a:extLst>
                  <a:ext uri="{FF2B5EF4-FFF2-40B4-BE49-F238E27FC236}">
                    <a16:creationId xmlns:a16="http://schemas.microsoft.com/office/drawing/2014/main" id="{4E9BF460-0B7E-F280-6EBC-AD88005E6620}"/>
                  </a:ext>
                </a:extLst>
              </p:cNvPr>
              <p:cNvSpPr txBox="1"/>
              <p:nvPr/>
            </p:nvSpPr>
            <p:spPr>
              <a:xfrm>
                <a:off x="9380098" y="1474702"/>
                <a:ext cx="2191416" cy="646331"/>
              </a:xfrm>
              <a:prstGeom prst="rect">
                <a:avLst/>
              </a:prstGeom>
              <a:noFill/>
              <a:ln w="19050">
                <a:solidFill>
                  <a:schemeClr val="accent1"/>
                </a:solidFill>
              </a:ln>
            </p:spPr>
            <p:txBody>
              <a:bodyPr wrap="square" rtlCol="0">
                <a:spAutoFit/>
              </a:bodyPr>
              <a:lstStyle/>
              <a:p>
                <a14:m>
                  <m:oMath xmlns:m="http://schemas.openxmlformats.org/officeDocument/2006/math">
                    <m:r>
                      <a:rPr kumimoji="1" lang="en-US" altLang="zh-TW" b="0" i="1" smtClean="0">
                        <a:latin typeface="Cambria Math" panose="02040503050406030204" pitchFamily="18" charset="0"/>
                      </a:rPr>
                      <m:t>𝑖</m:t>
                    </m:r>
                  </m:oMath>
                </a14:m>
                <a:r>
                  <a:rPr kumimoji="1" lang="en-US" altLang="zh-TW" dirty="0"/>
                  <a:t>: encoder timestep</a:t>
                </a:r>
              </a:p>
              <a:p>
                <a14:m>
                  <m:oMath xmlns:m="http://schemas.openxmlformats.org/officeDocument/2006/math">
                    <m:r>
                      <a:rPr kumimoji="1" lang="en-US" altLang="zh-TW" b="0" i="1" smtClean="0">
                        <a:latin typeface="Cambria Math" panose="02040503050406030204" pitchFamily="18" charset="0"/>
                      </a:rPr>
                      <m:t>𝑡</m:t>
                    </m:r>
                  </m:oMath>
                </a14:m>
                <a:r>
                  <a:rPr kumimoji="1" lang="en-US" altLang="zh-TW" dirty="0"/>
                  <a:t>: decoder timestep</a:t>
                </a:r>
              </a:p>
            </p:txBody>
          </p:sp>
        </mc:Choice>
        <mc:Fallback xmlns="">
          <p:sp>
            <p:nvSpPr>
              <p:cNvPr id="4" name="文字方塊 3">
                <a:extLst>
                  <a:ext uri="{FF2B5EF4-FFF2-40B4-BE49-F238E27FC236}">
                    <a16:creationId xmlns:a16="http://schemas.microsoft.com/office/drawing/2014/main" id="{4E9BF460-0B7E-F280-6EBC-AD88005E6620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9380098" y="1474702"/>
                <a:ext cx="2191416" cy="646331"/>
              </a:xfrm>
              <a:prstGeom prst="rect">
                <a:avLst/>
              </a:prstGeom>
              <a:blipFill>
                <a:blip r:embed="rId3"/>
                <a:stretch>
                  <a:fillRect t="-3774" b="-11321"/>
                </a:stretch>
              </a:blipFill>
              <a:ln w="19050">
                <a:solidFill>
                  <a:schemeClr val="accent1"/>
                </a:solidFill>
              </a:ln>
            </p:spPr>
            <p:txBody>
              <a:bodyPr/>
              <a:lstStyle/>
              <a:p>
                <a:r>
                  <a:rPr lang="zh-TW" altLang="en-US">
                    <a:noFill/>
                  </a:rPr>
                  <a:t> </a:t>
                </a:r>
              </a:p>
            </p:txBody>
          </p:sp>
        </mc:Fallback>
      </mc:AlternateContent>
      <p:cxnSp>
        <p:nvCxnSpPr>
          <p:cNvPr id="36" name="直線接點 35">
            <a:extLst>
              <a:ext uri="{FF2B5EF4-FFF2-40B4-BE49-F238E27FC236}">
                <a16:creationId xmlns:a16="http://schemas.microsoft.com/office/drawing/2014/main" id="{286EFF00-C48B-7D31-5457-3CB387487C24}"/>
              </a:ext>
            </a:extLst>
          </p:cNvPr>
          <p:cNvCxnSpPr/>
          <p:nvPr/>
        </p:nvCxnSpPr>
        <p:spPr>
          <a:xfrm>
            <a:off x="5632911" y="2553196"/>
            <a:ext cx="0" cy="2658906"/>
          </a:xfrm>
          <a:prstGeom prst="line">
            <a:avLst/>
          </a:prstGeom>
          <a:ln w="12700">
            <a:solidFill>
              <a:schemeClr val="tx1"/>
            </a:solidFill>
            <a:prstDash val="dash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45" name="直線箭頭接點 44">
            <a:extLst>
              <a:ext uri="{FF2B5EF4-FFF2-40B4-BE49-F238E27FC236}">
                <a16:creationId xmlns:a16="http://schemas.microsoft.com/office/drawing/2014/main" id="{0C6B669E-8C3D-5CB1-1179-EC84C6186FC1}"/>
              </a:ext>
            </a:extLst>
          </p:cNvPr>
          <p:cNvCxnSpPr>
            <a:cxnSpLocks/>
          </p:cNvCxnSpPr>
          <p:nvPr/>
        </p:nvCxnSpPr>
        <p:spPr>
          <a:xfrm flipH="1">
            <a:off x="1503108" y="4232235"/>
            <a:ext cx="398514" cy="0"/>
          </a:xfrm>
          <a:prstGeom prst="straightConnector1">
            <a:avLst/>
          </a:prstGeom>
          <a:ln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11" name="圓角矩形 10">
            <a:extLst>
              <a:ext uri="{FF2B5EF4-FFF2-40B4-BE49-F238E27FC236}">
                <a16:creationId xmlns:a16="http://schemas.microsoft.com/office/drawing/2014/main" id="{2FDFD191-EB28-4078-9248-45201C52CDD0}"/>
              </a:ext>
            </a:extLst>
          </p:cNvPr>
          <p:cNvSpPr/>
          <p:nvPr/>
        </p:nvSpPr>
        <p:spPr>
          <a:xfrm rot="5400000">
            <a:off x="1041463" y="4445564"/>
            <a:ext cx="372490" cy="207951"/>
          </a:xfrm>
          <a:prstGeom prst="roundRect">
            <a:avLst/>
          </a:prstGeom>
          <a:solidFill>
            <a:schemeClr val="accent5">
              <a:lumMod val="40000"/>
              <a:lumOff val="60000"/>
            </a:schemeClr>
          </a:solidFill>
          <a:ln w="19050">
            <a:solidFill>
              <a:schemeClr val="tx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kumimoji="1" lang="zh-TW" altLang="en-US"/>
          </a:p>
        </p:txBody>
      </p:sp>
      <p:cxnSp>
        <p:nvCxnSpPr>
          <p:cNvPr id="15" name="直線箭頭接點 14">
            <a:extLst>
              <a:ext uri="{FF2B5EF4-FFF2-40B4-BE49-F238E27FC236}">
                <a16:creationId xmlns:a16="http://schemas.microsoft.com/office/drawing/2014/main" id="{AC542505-7302-BC6C-0EB7-31355EEF41BC}"/>
              </a:ext>
            </a:extLst>
          </p:cNvPr>
          <p:cNvCxnSpPr>
            <a:cxnSpLocks/>
          </p:cNvCxnSpPr>
          <p:nvPr/>
        </p:nvCxnSpPr>
        <p:spPr>
          <a:xfrm>
            <a:off x="1524880" y="4544055"/>
            <a:ext cx="398515" cy="0"/>
          </a:xfrm>
          <a:prstGeom prst="straightConnector1">
            <a:avLst/>
          </a:prstGeom>
          <a:ln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26" name="直線箭頭接點 25">
            <a:extLst>
              <a:ext uri="{FF2B5EF4-FFF2-40B4-BE49-F238E27FC236}">
                <a16:creationId xmlns:a16="http://schemas.microsoft.com/office/drawing/2014/main" id="{E7128892-CB18-9019-C0FD-76AEC0FA56D9}"/>
              </a:ext>
            </a:extLst>
          </p:cNvPr>
          <p:cNvCxnSpPr>
            <a:cxnSpLocks/>
          </p:cNvCxnSpPr>
          <p:nvPr/>
        </p:nvCxnSpPr>
        <p:spPr>
          <a:xfrm>
            <a:off x="2467974" y="4544055"/>
            <a:ext cx="398515" cy="0"/>
          </a:xfrm>
          <a:prstGeom prst="straightConnector1">
            <a:avLst/>
          </a:prstGeom>
          <a:ln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27" name="直線箭頭接點 26">
            <a:extLst>
              <a:ext uri="{FF2B5EF4-FFF2-40B4-BE49-F238E27FC236}">
                <a16:creationId xmlns:a16="http://schemas.microsoft.com/office/drawing/2014/main" id="{582EBE76-3735-B6E1-BFD7-44C5DDFBA6DB}"/>
              </a:ext>
            </a:extLst>
          </p:cNvPr>
          <p:cNvCxnSpPr>
            <a:cxnSpLocks/>
          </p:cNvCxnSpPr>
          <p:nvPr/>
        </p:nvCxnSpPr>
        <p:spPr>
          <a:xfrm>
            <a:off x="3426184" y="4544055"/>
            <a:ext cx="398515" cy="0"/>
          </a:xfrm>
          <a:prstGeom prst="straightConnector1">
            <a:avLst/>
          </a:prstGeom>
          <a:ln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28" name="直線箭頭接點 27">
            <a:extLst>
              <a:ext uri="{FF2B5EF4-FFF2-40B4-BE49-F238E27FC236}">
                <a16:creationId xmlns:a16="http://schemas.microsoft.com/office/drawing/2014/main" id="{2CDACAA6-667C-A884-4EE8-9EC7B5DEA5F2}"/>
              </a:ext>
            </a:extLst>
          </p:cNvPr>
          <p:cNvCxnSpPr>
            <a:cxnSpLocks/>
          </p:cNvCxnSpPr>
          <p:nvPr/>
        </p:nvCxnSpPr>
        <p:spPr>
          <a:xfrm>
            <a:off x="4419904" y="4544055"/>
            <a:ext cx="398515" cy="0"/>
          </a:xfrm>
          <a:prstGeom prst="straightConnector1">
            <a:avLst/>
          </a:prstGeom>
          <a:ln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29" name="直線箭頭接點 28">
            <a:extLst>
              <a:ext uri="{FF2B5EF4-FFF2-40B4-BE49-F238E27FC236}">
                <a16:creationId xmlns:a16="http://schemas.microsoft.com/office/drawing/2014/main" id="{0D00C6CC-7042-68BE-0436-DB690113FE41}"/>
              </a:ext>
            </a:extLst>
          </p:cNvPr>
          <p:cNvCxnSpPr>
            <a:cxnSpLocks/>
          </p:cNvCxnSpPr>
          <p:nvPr/>
        </p:nvCxnSpPr>
        <p:spPr>
          <a:xfrm flipH="1">
            <a:off x="2457088" y="4232235"/>
            <a:ext cx="398514" cy="0"/>
          </a:xfrm>
          <a:prstGeom prst="straightConnector1">
            <a:avLst/>
          </a:prstGeom>
          <a:ln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30" name="直線箭頭接點 29">
            <a:extLst>
              <a:ext uri="{FF2B5EF4-FFF2-40B4-BE49-F238E27FC236}">
                <a16:creationId xmlns:a16="http://schemas.microsoft.com/office/drawing/2014/main" id="{E3AF4923-12BE-22FB-4474-A02E4B4996B8}"/>
              </a:ext>
            </a:extLst>
          </p:cNvPr>
          <p:cNvCxnSpPr>
            <a:cxnSpLocks/>
          </p:cNvCxnSpPr>
          <p:nvPr/>
        </p:nvCxnSpPr>
        <p:spPr>
          <a:xfrm flipH="1">
            <a:off x="3415531" y="4232235"/>
            <a:ext cx="398514" cy="0"/>
          </a:xfrm>
          <a:prstGeom prst="straightConnector1">
            <a:avLst/>
          </a:prstGeom>
          <a:ln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31" name="直線箭頭接點 30">
            <a:extLst>
              <a:ext uri="{FF2B5EF4-FFF2-40B4-BE49-F238E27FC236}">
                <a16:creationId xmlns:a16="http://schemas.microsoft.com/office/drawing/2014/main" id="{FE5C0BC4-8BEE-A03B-EFD3-135148674A9D}"/>
              </a:ext>
            </a:extLst>
          </p:cNvPr>
          <p:cNvCxnSpPr>
            <a:cxnSpLocks/>
          </p:cNvCxnSpPr>
          <p:nvPr/>
        </p:nvCxnSpPr>
        <p:spPr>
          <a:xfrm flipH="1">
            <a:off x="4398132" y="4232235"/>
            <a:ext cx="398514" cy="0"/>
          </a:xfrm>
          <a:prstGeom prst="straightConnector1">
            <a:avLst/>
          </a:prstGeom>
          <a:ln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mc:AlternateContent xmlns:mc="http://schemas.openxmlformats.org/markup-compatibility/2006" xmlns:a14="http://schemas.microsoft.com/office/drawing/2010/main">
        <mc:Choice Requires="a14">
          <p:sp>
            <p:nvSpPr>
              <p:cNvPr id="35" name="文字方塊 34">
                <a:extLst>
                  <a:ext uri="{FF2B5EF4-FFF2-40B4-BE49-F238E27FC236}">
                    <a16:creationId xmlns:a16="http://schemas.microsoft.com/office/drawing/2014/main" id="{78FE444D-62C5-7EBF-2724-E6A7D264095B}"/>
                  </a:ext>
                </a:extLst>
              </p:cNvPr>
              <p:cNvSpPr txBox="1"/>
              <p:nvPr/>
            </p:nvSpPr>
            <p:spPr>
              <a:xfrm>
                <a:off x="543259" y="1378420"/>
                <a:ext cx="1618744" cy="518860"/>
              </a:xfrm>
              <a:prstGeom prst="rect">
                <a:avLst/>
              </a:prstGeom>
              <a:noFill/>
            </p:spPr>
            <p:txBody>
              <a:bodyPr wrap="square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acc>
                        <m:accPr>
                          <m:chr m:val="⃗"/>
                          <m:ctrlPr>
                            <a:rPr lang="zh-TW" altLang="en-US" i="1" smtClean="0">
                              <a:latin typeface="Cambria Math" panose="02040503050406030204" pitchFamily="18" charset="0"/>
                            </a:rPr>
                          </m:ctrlPr>
                        </m:accPr>
                        <m:e>
                          <m:sSub>
                            <m:sSubPr>
                              <m:ctrlPr>
                                <a:rPr lang="zh-TW" altLang="en-US" i="1">
                                  <a:latin typeface="Cambria Math" panose="02040503050406030204" pitchFamily="18" charset="0"/>
                                </a:rPr>
                              </m:ctrlPr>
                            </m:sSubPr>
                            <m:e>
                              <m:r>
                                <a:rPr lang="zh-TW" altLang="en-US" i="1">
                                  <a:latin typeface="Cambria Math" panose="02040503050406030204" pitchFamily="18" charset="0"/>
                                </a:rPr>
                                <m:t>h</m:t>
                              </m:r>
                            </m:e>
                            <m:sub>
                              <m:r>
                                <a:rPr lang="en-US" altLang="zh-TW" b="0" i="1" smtClean="0">
                                  <a:latin typeface="Cambria Math" panose="02040503050406030204" pitchFamily="18" charset="0"/>
                                </a:rPr>
                                <m:t>𝑖</m:t>
                              </m:r>
                            </m:sub>
                          </m:sSub>
                        </m:e>
                      </m:acc>
                      <m:r>
                        <a:rPr lang="en-US" altLang="zh-TW" b="0" i="1" smtClean="0">
                          <a:latin typeface="Cambria Math" panose="02040503050406030204" pitchFamily="18" charset="0"/>
                        </a:rPr>
                        <m:t>=</m:t>
                      </m:r>
                      <m:d>
                        <m:dPr>
                          <m:begChr m:val="["/>
                          <m:endChr m:val="]"/>
                          <m:sepChr m:val=";"/>
                          <m:ctrlPr>
                            <a:rPr lang="zh-TW" altLang="en-US" i="1" smtClean="0">
                              <a:solidFill>
                                <a:schemeClr val="tx1"/>
                              </a:solidFill>
                              <a:latin typeface="Cambria Math" panose="02040503050406030204" pitchFamily="18" charset="0"/>
                            </a:rPr>
                          </m:ctrlPr>
                        </m:dPr>
                        <m:e>
                          <m:acc>
                            <m:accPr>
                              <m:chr m:val="⃗"/>
                              <m:ctrlPr>
                                <a:rPr lang="zh-TW" altLang="en-US" i="1">
                                  <a:solidFill>
                                    <a:schemeClr val="tx1"/>
                                  </a:solidFill>
                                  <a:latin typeface="Cambria Math" panose="02040503050406030204" pitchFamily="18" charset="0"/>
                                </a:rPr>
                              </m:ctrlPr>
                            </m:accPr>
                            <m:e>
                              <m:sSub>
                                <m:sSubPr>
                                  <m:ctrlPr>
                                    <a:rPr lang="zh-TW" altLang="en-US" i="1">
                                      <a:solidFill>
                                        <a:schemeClr val="tx1"/>
                                      </a:solidFill>
                                      <a:latin typeface="Cambria Math" panose="02040503050406030204" pitchFamily="18" charset="0"/>
                                    </a:rPr>
                                  </m:ctrlPr>
                                </m:sSubPr>
                                <m:e>
                                  <m:r>
                                    <a:rPr lang="zh-TW" altLang="en-US" i="1">
                                      <a:solidFill>
                                        <a:schemeClr val="tx1"/>
                                      </a:solidFill>
                                      <a:latin typeface="Cambria Math" panose="02040503050406030204" pitchFamily="18" charset="0"/>
                                    </a:rPr>
                                    <m:t>h</m:t>
                                  </m:r>
                                </m:e>
                                <m:sub>
                                  <m:r>
                                    <a:rPr lang="en-US" altLang="zh-TW" b="0" i="1" smtClean="0">
                                      <a:solidFill>
                                        <a:schemeClr val="tx1"/>
                                      </a:solidFill>
                                      <a:latin typeface="Cambria Math" panose="02040503050406030204" pitchFamily="18" charset="0"/>
                                    </a:rPr>
                                    <m:t>𝑖</m:t>
                                  </m:r>
                                </m:sub>
                              </m:sSub>
                            </m:e>
                          </m:acc>
                        </m:e>
                        <m:e>
                          <m:groupChr>
                            <m:groupChrPr>
                              <m:chr m:val="←"/>
                              <m:pos m:val="top"/>
                              <m:vertJc m:val="bot"/>
                              <m:ctrlPr>
                                <a:rPr lang="zh-TW" altLang="en-US" i="1">
                                  <a:solidFill>
                                    <a:schemeClr val="tx1"/>
                                  </a:solidFill>
                                  <a:latin typeface="Cambria Math" panose="02040503050406030204" pitchFamily="18" charset="0"/>
                                </a:rPr>
                              </m:ctrlPr>
                            </m:groupChrPr>
                            <m:e>
                              <m:sSub>
                                <m:sSubPr>
                                  <m:ctrlPr>
                                    <a:rPr lang="zh-TW" altLang="en-US" i="1">
                                      <a:solidFill>
                                        <a:schemeClr val="tx1"/>
                                      </a:solidFill>
                                      <a:latin typeface="Cambria Math" panose="02040503050406030204" pitchFamily="18" charset="0"/>
                                    </a:rPr>
                                  </m:ctrlPr>
                                </m:sSubPr>
                                <m:e>
                                  <m:r>
                                    <a:rPr lang="zh-TW" altLang="en-US" i="1">
                                      <a:solidFill>
                                        <a:schemeClr val="tx1"/>
                                      </a:solidFill>
                                      <a:latin typeface="Cambria Math" panose="02040503050406030204" pitchFamily="18" charset="0"/>
                                    </a:rPr>
                                    <m:t>h</m:t>
                                  </m:r>
                                </m:e>
                                <m:sub>
                                  <m:r>
                                    <a:rPr lang="en-US" altLang="zh-TW" b="0" i="1" smtClean="0">
                                      <a:solidFill>
                                        <a:schemeClr val="tx1"/>
                                      </a:solidFill>
                                      <a:latin typeface="Cambria Math" panose="02040503050406030204" pitchFamily="18" charset="0"/>
                                    </a:rPr>
                                    <m:t>𝑖</m:t>
                                  </m:r>
                                </m:sub>
                              </m:sSub>
                            </m:e>
                          </m:groupChr>
                        </m:e>
                      </m:d>
                    </m:oMath>
                  </m:oMathPara>
                </a14:m>
                <a:endParaRPr lang="zh-TW" altLang="en-US" dirty="0"/>
              </a:p>
            </p:txBody>
          </p:sp>
        </mc:Choice>
        <mc:Fallback xmlns="">
          <p:sp>
            <p:nvSpPr>
              <p:cNvPr id="35" name="文字方塊 34">
                <a:extLst>
                  <a:ext uri="{FF2B5EF4-FFF2-40B4-BE49-F238E27FC236}">
                    <a16:creationId xmlns:a16="http://schemas.microsoft.com/office/drawing/2014/main" id="{78FE444D-62C5-7EBF-2724-E6A7D264095B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543259" y="1378420"/>
                <a:ext cx="1618744" cy="518860"/>
              </a:xfrm>
              <a:prstGeom prst="rect">
                <a:avLst/>
              </a:prstGeom>
              <a:blipFill>
                <a:blip r:embed="rId4"/>
                <a:stretch>
                  <a:fillRect/>
                </a:stretch>
              </a:blipFill>
            </p:spPr>
            <p:txBody>
              <a:bodyPr/>
              <a:lstStyle/>
              <a:p>
                <a:r>
                  <a:rPr lang="zh-TW" altLang="en-US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 xmlns:a14="http://schemas.microsoft.com/office/drawing/2010/main">
        <mc:Choice Requires="a14">
          <p:sp>
            <p:nvSpPr>
              <p:cNvPr id="44" name="文字方塊 43">
                <a:extLst>
                  <a:ext uri="{FF2B5EF4-FFF2-40B4-BE49-F238E27FC236}">
                    <a16:creationId xmlns:a16="http://schemas.microsoft.com/office/drawing/2014/main" id="{A7B5729A-807D-704C-5D5F-9096E8DA105C}"/>
                  </a:ext>
                </a:extLst>
              </p:cNvPr>
              <p:cNvSpPr txBox="1"/>
              <p:nvPr/>
            </p:nvSpPr>
            <p:spPr>
              <a:xfrm>
                <a:off x="496181" y="4380899"/>
                <a:ext cx="572956" cy="339645"/>
              </a:xfrm>
              <a:prstGeom prst="rect">
                <a:avLst/>
              </a:prstGeom>
              <a:noFill/>
            </p:spPr>
            <p:txBody>
              <a:bodyPr wrap="square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acc>
                        <m:accPr>
                          <m:chr m:val="⃗"/>
                          <m:ctrlPr>
                            <a:rPr lang="zh-TW" altLang="en-US" sz="1400" i="1" smtClean="0">
                              <a:latin typeface="Cambria Math" panose="02040503050406030204" pitchFamily="18" charset="0"/>
                            </a:rPr>
                          </m:ctrlPr>
                        </m:accPr>
                        <m:e>
                          <m:sSub>
                            <m:sSubPr>
                              <m:ctrlPr>
                                <a:rPr lang="zh-TW" altLang="en-US" sz="1400" i="1">
                                  <a:latin typeface="Cambria Math" panose="02040503050406030204" pitchFamily="18" charset="0"/>
                                </a:rPr>
                              </m:ctrlPr>
                            </m:sSubPr>
                            <m:e>
                              <m:r>
                                <a:rPr lang="zh-TW" altLang="en-US" sz="1400" i="1">
                                  <a:latin typeface="Cambria Math" panose="02040503050406030204" pitchFamily="18" charset="0"/>
                                </a:rPr>
                                <m:t>h</m:t>
                              </m:r>
                            </m:e>
                            <m:sub>
                              <m:r>
                                <a:rPr lang="en-US" altLang="zh-TW" sz="1400" b="0" i="1" smtClean="0">
                                  <a:latin typeface="Cambria Math" panose="02040503050406030204" pitchFamily="18" charset="0"/>
                                </a:rPr>
                                <m:t>𝑖</m:t>
                              </m:r>
                            </m:sub>
                          </m:sSub>
                        </m:e>
                      </m:acc>
                    </m:oMath>
                  </m:oMathPara>
                </a14:m>
                <a:endParaRPr lang="zh-TW" altLang="en-US" sz="1400" dirty="0"/>
              </a:p>
            </p:txBody>
          </p:sp>
        </mc:Choice>
        <mc:Fallback xmlns="">
          <p:sp>
            <p:nvSpPr>
              <p:cNvPr id="44" name="文字方塊 43">
                <a:extLst>
                  <a:ext uri="{FF2B5EF4-FFF2-40B4-BE49-F238E27FC236}">
                    <a16:creationId xmlns:a16="http://schemas.microsoft.com/office/drawing/2014/main" id="{A7B5729A-807D-704C-5D5F-9096E8DA105C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496181" y="4380899"/>
                <a:ext cx="572956" cy="339645"/>
              </a:xfrm>
              <a:prstGeom prst="rect">
                <a:avLst/>
              </a:prstGeom>
              <a:blipFill>
                <a:blip r:embed="rId5"/>
                <a:stretch>
                  <a:fillRect/>
                </a:stretch>
              </a:blipFill>
            </p:spPr>
            <p:txBody>
              <a:bodyPr/>
              <a:lstStyle/>
              <a:p>
                <a:r>
                  <a:rPr lang="zh-TW" altLang="en-US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 xmlns:a14="http://schemas.microsoft.com/office/drawing/2010/main">
        <mc:Choice Requires="a14">
          <p:sp>
            <p:nvSpPr>
              <p:cNvPr id="47" name="文字方塊 46">
                <a:extLst>
                  <a:ext uri="{FF2B5EF4-FFF2-40B4-BE49-F238E27FC236}">
                    <a16:creationId xmlns:a16="http://schemas.microsoft.com/office/drawing/2014/main" id="{30FD4111-053B-3B4F-FB29-215086228B1A}"/>
                  </a:ext>
                </a:extLst>
              </p:cNvPr>
              <p:cNvSpPr txBox="1"/>
              <p:nvPr/>
            </p:nvSpPr>
            <p:spPr>
              <a:xfrm>
                <a:off x="494670" y="4012978"/>
                <a:ext cx="572956" cy="367921"/>
              </a:xfrm>
              <a:prstGeom prst="rect">
                <a:avLst/>
              </a:prstGeom>
              <a:noFill/>
            </p:spPr>
            <p:txBody>
              <a:bodyPr wrap="square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groupChr>
                        <m:groupChrPr>
                          <m:chr m:val="←"/>
                          <m:pos m:val="top"/>
                          <m:vertJc m:val="bot"/>
                          <m:ctrlPr>
                            <a:rPr lang="zh-TW" altLang="en-US" sz="1400" i="1" smtClean="0">
                              <a:latin typeface="Cambria Math" panose="02040503050406030204" pitchFamily="18" charset="0"/>
                            </a:rPr>
                          </m:ctrlPr>
                        </m:groupChrPr>
                        <m:e>
                          <m:sSub>
                            <m:sSubPr>
                              <m:ctrlPr>
                                <a:rPr lang="zh-TW" altLang="en-US" sz="1400" i="1">
                                  <a:latin typeface="Cambria Math" panose="02040503050406030204" pitchFamily="18" charset="0"/>
                                </a:rPr>
                              </m:ctrlPr>
                            </m:sSubPr>
                            <m:e>
                              <m:r>
                                <a:rPr lang="zh-TW" altLang="en-US" sz="1400" i="1">
                                  <a:latin typeface="Cambria Math" panose="02040503050406030204" pitchFamily="18" charset="0"/>
                                </a:rPr>
                                <m:t>h</m:t>
                              </m:r>
                            </m:e>
                            <m:sub>
                              <m:r>
                                <a:rPr lang="en-US" altLang="zh-TW" sz="1400" b="0" i="1" smtClean="0">
                                  <a:latin typeface="Cambria Math" panose="02040503050406030204" pitchFamily="18" charset="0"/>
                                </a:rPr>
                                <m:t>𝑖</m:t>
                              </m:r>
                            </m:sub>
                          </m:sSub>
                        </m:e>
                      </m:groupChr>
                    </m:oMath>
                  </m:oMathPara>
                </a14:m>
                <a:endParaRPr lang="zh-TW" altLang="en-US" sz="1400" dirty="0"/>
              </a:p>
            </p:txBody>
          </p:sp>
        </mc:Choice>
        <mc:Fallback xmlns="">
          <p:sp>
            <p:nvSpPr>
              <p:cNvPr id="47" name="文字方塊 46">
                <a:extLst>
                  <a:ext uri="{FF2B5EF4-FFF2-40B4-BE49-F238E27FC236}">
                    <a16:creationId xmlns:a16="http://schemas.microsoft.com/office/drawing/2014/main" id="{30FD4111-053B-3B4F-FB29-215086228B1A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494670" y="4012978"/>
                <a:ext cx="572956" cy="367921"/>
              </a:xfrm>
              <a:prstGeom prst="rect">
                <a:avLst/>
              </a:prstGeom>
              <a:blipFill>
                <a:blip r:embed="rId6"/>
                <a:stretch>
                  <a:fillRect/>
                </a:stretch>
              </a:blipFill>
            </p:spPr>
            <p:txBody>
              <a:bodyPr/>
              <a:lstStyle/>
              <a:p>
                <a:r>
                  <a:rPr lang="zh-TW" altLang="en-US">
                    <a:noFill/>
                  </a:rPr>
                  <a:t> </a:t>
                </a:r>
              </a:p>
            </p:txBody>
          </p:sp>
        </mc:Fallback>
      </mc:AlternateContent>
      <p:sp>
        <p:nvSpPr>
          <p:cNvPr id="9" name="圓角矩形 8">
            <a:extLst>
              <a:ext uri="{FF2B5EF4-FFF2-40B4-BE49-F238E27FC236}">
                <a16:creationId xmlns:a16="http://schemas.microsoft.com/office/drawing/2014/main" id="{638B3AC5-D9A0-FE1D-A540-7A55C9249353}"/>
              </a:ext>
            </a:extLst>
          </p:cNvPr>
          <p:cNvSpPr/>
          <p:nvPr/>
        </p:nvSpPr>
        <p:spPr>
          <a:xfrm rot="5400000">
            <a:off x="2003003" y="4061589"/>
            <a:ext cx="372490" cy="207951"/>
          </a:xfrm>
          <a:prstGeom prst="roundRect">
            <a:avLst/>
          </a:prstGeom>
          <a:solidFill>
            <a:schemeClr val="accent5">
              <a:lumMod val="40000"/>
              <a:lumOff val="60000"/>
            </a:schemeClr>
          </a:solidFill>
          <a:ln w="19050">
            <a:solidFill>
              <a:schemeClr val="tx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kumimoji="1" lang="zh-TW" altLang="en-US"/>
          </a:p>
        </p:txBody>
      </p:sp>
      <p:sp>
        <p:nvSpPr>
          <p:cNvPr id="14" name="圓角矩形 13">
            <a:extLst>
              <a:ext uri="{FF2B5EF4-FFF2-40B4-BE49-F238E27FC236}">
                <a16:creationId xmlns:a16="http://schemas.microsoft.com/office/drawing/2014/main" id="{D434C6E1-9F22-9EF3-9B5E-A9DEF274999F}"/>
              </a:ext>
            </a:extLst>
          </p:cNvPr>
          <p:cNvSpPr/>
          <p:nvPr/>
        </p:nvSpPr>
        <p:spPr>
          <a:xfrm rot="5400000">
            <a:off x="2003003" y="4443043"/>
            <a:ext cx="372490" cy="207951"/>
          </a:xfrm>
          <a:prstGeom prst="roundRect">
            <a:avLst/>
          </a:prstGeom>
          <a:solidFill>
            <a:schemeClr val="accent5">
              <a:lumMod val="40000"/>
              <a:lumOff val="60000"/>
            </a:schemeClr>
          </a:solidFill>
          <a:ln w="19050">
            <a:solidFill>
              <a:schemeClr val="tx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kumimoji="1" lang="zh-TW" altLang="en-US"/>
          </a:p>
        </p:txBody>
      </p:sp>
      <p:sp>
        <p:nvSpPr>
          <p:cNvPr id="16" name="圓角矩形 15">
            <a:extLst>
              <a:ext uri="{FF2B5EF4-FFF2-40B4-BE49-F238E27FC236}">
                <a16:creationId xmlns:a16="http://schemas.microsoft.com/office/drawing/2014/main" id="{2AAF1417-BC17-AB7E-17C8-47A88B68F5A0}"/>
              </a:ext>
            </a:extLst>
          </p:cNvPr>
          <p:cNvSpPr/>
          <p:nvPr/>
        </p:nvSpPr>
        <p:spPr>
          <a:xfrm rot="5400000">
            <a:off x="2959245" y="4061589"/>
            <a:ext cx="372490" cy="207951"/>
          </a:xfrm>
          <a:prstGeom prst="roundRect">
            <a:avLst/>
          </a:prstGeom>
          <a:solidFill>
            <a:schemeClr val="accent5">
              <a:lumMod val="40000"/>
              <a:lumOff val="60000"/>
            </a:schemeClr>
          </a:solidFill>
          <a:ln w="19050">
            <a:solidFill>
              <a:schemeClr val="tx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kumimoji="1" lang="zh-TW" altLang="en-US"/>
          </a:p>
        </p:txBody>
      </p:sp>
      <p:sp>
        <p:nvSpPr>
          <p:cNvPr id="17" name="圓角矩形 16">
            <a:extLst>
              <a:ext uri="{FF2B5EF4-FFF2-40B4-BE49-F238E27FC236}">
                <a16:creationId xmlns:a16="http://schemas.microsoft.com/office/drawing/2014/main" id="{2B9B03F4-ECEB-5FB0-0251-FE79957176F4}"/>
              </a:ext>
            </a:extLst>
          </p:cNvPr>
          <p:cNvSpPr/>
          <p:nvPr/>
        </p:nvSpPr>
        <p:spPr>
          <a:xfrm rot="5400000">
            <a:off x="2959245" y="4443043"/>
            <a:ext cx="372490" cy="207951"/>
          </a:xfrm>
          <a:prstGeom prst="roundRect">
            <a:avLst/>
          </a:prstGeom>
          <a:solidFill>
            <a:schemeClr val="accent5">
              <a:lumMod val="40000"/>
              <a:lumOff val="60000"/>
            </a:schemeClr>
          </a:solidFill>
          <a:ln w="19050">
            <a:solidFill>
              <a:schemeClr val="tx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kumimoji="1" lang="zh-TW" altLang="en-US"/>
          </a:p>
        </p:txBody>
      </p:sp>
      <p:sp>
        <p:nvSpPr>
          <p:cNvPr id="18" name="圓角矩形 17">
            <a:extLst>
              <a:ext uri="{FF2B5EF4-FFF2-40B4-BE49-F238E27FC236}">
                <a16:creationId xmlns:a16="http://schemas.microsoft.com/office/drawing/2014/main" id="{B347BE11-1663-6288-F09A-9BDAE1590A24}"/>
              </a:ext>
            </a:extLst>
          </p:cNvPr>
          <p:cNvSpPr/>
          <p:nvPr/>
        </p:nvSpPr>
        <p:spPr>
          <a:xfrm rot="5400000">
            <a:off x="3979527" y="4057806"/>
            <a:ext cx="372490" cy="207951"/>
          </a:xfrm>
          <a:prstGeom prst="roundRect">
            <a:avLst/>
          </a:prstGeom>
          <a:solidFill>
            <a:schemeClr val="accent5">
              <a:lumMod val="40000"/>
              <a:lumOff val="60000"/>
            </a:schemeClr>
          </a:solidFill>
          <a:ln w="19050">
            <a:solidFill>
              <a:schemeClr val="tx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kumimoji="1" lang="zh-TW" altLang="en-US"/>
          </a:p>
        </p:txBody>
      </p:sp>
      <p:sp>
        <p:nvSpPr>
          <p:cNvPr id="19" name="圓角矩形 18">
            <a:extLst>
              <a:ext uri="{FF2B5EF4-FFF2-40B4-BE49-F238E27FC236}">
                <a16:creationId xmlns:a16="http://schemas.microsoft.com/office/drawing/2014/main" id="{738E9198-4D21-11F1-F374-80B1D1C57F27}"/>
              </a:ext>
            </a:extLst>
          </p:cNvPr>
          <p:cNvSpPr/>
          <p:nvPr/>
        </p:nvSpPr>
        <p:spPr>
          <a:xfrm rot="5400000">
            <a:off x="3979527" y="4439260"/>
            <a:ext cx="372490" cy="207951"/>
          </a:xfrm>
          <a:prstGeom prst="roundRect">
            <a:avLst/>
          </a:prstGeom>
          <a:solidFill>
            <a:schemeClr val="accent5">
              <a:lumMod val="40000"/>
              <a:lumOff val="60000"/>
            </a:schemeClr>
          </a:solidFill>
          <a:ln w="19050">
            <a:solidFill>
              <a:schemeClr val="tx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kumimoji="1" lang="zh-TW" altLang="en-US"/>
          </a:p>
        </p:txBody>
      </p:sp>
      <p:sp>
        <p:nvSpPr>
          <p:cNvPr id="20" name="圓角矩形 19">
            <a:extLst>
              <a:ext uri="{FF2B5EF4-FFF2-40B4-BE49-F238E27FC236}">
                <a16:creationId xmlns:a16="http://schemas.microsoft.com/office/drawing/2014/main" id="{C678314A-33AC-155C-CFAD-D7580EA3B7F8}"/>
              </a:ext>
            </a:extLst>
          </p:cNvPr>
          <p:cNvSpPr/>
          <p:nvPr/>
        </p:nvSpPr>
        <p:spPr>
          <a:xfrm rot="5400000">
            <a:off x="4949287" y="4056960"/>
            <a:ext cx="372490" cy="207951"/>
          </a:xfrm>
          <a:prstGeom prst="roundRect">
            <a:avLst/>
          </a:prstGeom>
          <a:solidFill>
            <a:schemeClr val="accent5">
              <a:lumMod val="40000"/>
              <a:lumOff val="60000"/>
            </a:schemeClr>
          </a:solidFill>
          <a:ln w="19050">
            <a:solidFill>
              <a:schemeClr val="tx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kumimoji="1" lang="zh-TW" altLang="en-US"/>
          </a:p>
        </p:txBody>
      </p:sp>
      <p:sp>
        <p:nvSpPr>
          <p:cNvPr id="21" name="圓角矩形 20">
            <a:extLst>
              <a:ext uri="{FF2B5EF4-FFF2-40B4-BE49-F238E27FC236}">
                <a16:creationId xmlns:a16="http://schemas.microsoft.com/office/drawing/2014/main" id="{C4EFC7AC-7E1B-9766-64AA-6B054AEC41E4}"/>
              </a:ext>
            </a:extLst>
          </p:cNvPr>
          <p:cNvSpPr/>
          <p:nvPr/>
        </p:nvSpPr>
        <p:spPr>
          <a:xfrm rot="5400000">
            <a:off x="4949287" y="4438414"/>
            <a:ext cx="372490" cy="207951"/>
          </a:xfrm>
          <a:prstGeom prst="roundRect">
            <a:avLst/>
          </a:prstGeom>
          <a:solidFill>
            <a:schemeClr val="accent5">
              <a:lumMod val="40000"/>
              <a:lumOff val="60000"/>
            </a:schemeClr>
          </a:solidFill>
          <a:ln w="19050">
            <a:solidFill>
              <a:schemeClr val="tx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kumimoji="1" lang="zh-TW" altLang="en-US"/>
          </a:p>
        </p:txBody>
      </p:sp>
      <p:sp>
        <p:nvSpPr>
          <p:cNvPr id="22" name="文字方塊 21">
            <a:extLst>
              <a:ext uri="{FF2B5EF4-FFF2-40B4-BE49-F238E27FC236}">
                <a16:creationId xmlns:a16="http://schemas.microsoft.com/office/drawing/2014/main" id="{4A6A6592-7EE1-13F9-B621-BB3985FF2BAE}"/>
              </a:ext>
            </a:extLst>
          </p:cNvPr>
          <p:cNvSpPr txBox="1"/>
          <p:nvPr/>
        </p:nvSpPr>
        <p:spPr>
          <a:xfrm>
            <a:off x="1028450" y="5876593"/>
            <a:ext cx="398516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kumimoji="1" lang="zh-TW" altLang="en-US" dirty="0"/>
              <a:t>我</a:t>
            </a:r>
          </a:p>
        </p:txBody>
      </p:sp>
      <p:sp>
        <p:nvSpPr>
          <p:cNvPr id="23" name="文字方塊 22">
            <a:extLst>
              <a:ext uri="{FF2B5EF4-FFF2-40B4-BE49-F238E27FC236}">
                <a16:creationId xmlns:a16="http://schemas.microsoft.com/office/drawing/2014/main" id="{1702A967-B34E-97D3-9B6F-B071E5340B7C}"/>
              </a:ext>
            </a:extLst>
          </p:cNvPr>
          <p:cNvSpPr txBox="1"/>
          <p:nvPr/>
        </p:nvSpPr>
        <p:spPr>
          <a:xfrm>
            <a:off x="1989990" y="5876593"/>
            <a:ext cx="398516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kumimoji="1" lang="zh-TW" altLang="en-US" dirty="0"/>
              <a:t>想</a:t>
            </a:r>
          </a:p>
        </p:txBody>
      </p:sp>
      <p:sp>
        <p:nvSpPr>
          <p:cNvPr id="24" name="文字方塊 23">
            <a:extLst>
              <a:ext uri="{FF2B5EF4-FFF2-40B4-BE49-F238E27FC236}">
                <a16:creationId xmlns:a16="http://schemas.microsoft.com/office/drawing/2014/main" id="{718FAE4A-98F2-589C-5274-D4547985C1FB}"/>
              </a:ext>
            </a:extLst>
          </p:cNvPr>
          <p:cNvSpPr txBox="1"/>
          <p:nvPr/>
        </p:nvSpPr>
        <p:spPr>
          <a:xfrm>
            <a:off x="2946232" y="5876593"/>
            <a:ext cx="398516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kumimoji="1" lang="zh-TW" altLang="en-US" dirty="0"/>
              <a:t>要</a:t>
            </a:r>
          </a:p>
        </p:txBody>
      </p:sp>
      <p:sp>
        <p:nvSpPr>
          <p:cNvPr id="25" name="文字方塊 24">
            <a:extLst>
              <a:ext uri="{FF2B5EF4-FFF2-40B4-BE49-F238E27FC236}">
                <a16:creationId xmlns:a16="http://schemas.microsoft.com/office/drawing/2014/main" id="{7620EC6A-8402-8871-51F2-0D62CEB47990}"/>
              </a:ext>
            </a:extLst>
          </p:cNvPr>
          <p:cNvSpPr txBox="1"/>
          <p:nvPr/>
        </p:nvSpPr>
        <p:spPr>
          <a:xfrm>
            <a:off x="3966514" y="5876593"/>
            <a:ext cx="398516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kumimoji="1" lang="zh-TW" altLang="en-US" dirty="0"/>
              <a:t>放</a:t>
            </a:r>
          </a:p>
        </p:txBody>
      </p:sp>
      <p:sp>
        <p:nvSpPr>
          <p:cNvPr id="32" name="文字方塊 31">
            <a:extLst>
              <a:ext uri="{FF2B5EF4-FFF2-40B4-BE49-F238E27FC236}">
                <a16:creationId xmlns:a16="http://schemas.microsoft.com/office/drawing/2014/main" id="{BC181061-0936-0F5C-AB18-865D9785FB13}"/>
              </a:ext>
            </a:extLst>
          </p:cNvPr>
          <p:cNvSpPr txBox="1"/>
          <p:nvPr/>
        </p:nvSpPr>
        <p:spPr>
          <a:xfrm>
            <a:off x="4936274" y="5843215"/>
            <a:ext cx="398516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kumimoji="1" lang="zh-TW" altLang="en-US" dirty="0"/>
              <a:t>假</a:t>
            </a:r>
          </a:p>
        </p:txBody>
      </p:sp>
      <p:sp>
        <p:nvSpPr>
          <p:cNvPr id="37" name="矩形 36">
            <a:extLst>
              <a:ext uri="{FF2B5EF4-FFF2-40B4-BE49-F238E27FC236}">
                <a16:creationId xmlns:a16="http://schemas.microsoft.com/office/drawing/2014/main" id="{34ABE1B6-7669-FBA1-692F-AEFC04E9C304}"/>
              </a:ext>
            </a:extLst>
          </p:cNvPr>
          <p:cNvSpPr/>
          <p:nvPr/>
        </p:nvSpPr>
        <p:spPr>
          <a:xfrm>
            <a:off x="911313" y="5134787"/>
            <a:ext cx="575253" cy="379818"/>
          </a:xfrm>
          <a:prstGeom prst="rect">
            <a:avLst/>
          </a:prstGeom>
          <a:noFill/>
          <a:ln>
            <a:solidFill>
              <a:schemeClr val="tx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kumimoji="1" lang="en-US" altLang="zh-TW" sz="1400" dirty="0">
                <a:solidFill>
                  <a:schemeClr val="tx1"/>
                </a:solidFill>
              </a:rPr>
              <a:t>RNN</a:t>
            </a:r>
            <a:endParaRPr kumimoji="1" lang="zh-TW" altLang="en-US" sz="1400" dirty="0">
              <a:solidFill>
                <a:schemeClr val="tx1"/>
              </a:solidFill>
            </a:endParaRPr>
          </a:p>
        </p:txBody>
      </p:sp>
      <p:sp>
        <p:nvSpPr>
          <p:cNvPr id="46" name="矩形 45">
            <a:extLst>
              <a:ext uri="{FF2B5EF4-FFF2-40B4-BE49-F238E27FC236}">
                <a16:creationId xmlns:a16="http://schemas.microsoft.com/office/drawing/2014/main" id="{6295B3EF-930D-FF9B-8CD3-54F2406AB0CA}"/>
              </a:ext>
            </a:extLst>
          </p:cNvPr>
          <p:cNvSpPr/>
          <p:nvPr/>
        </p:nvSpPr>
        <p:spPr>
          <a:xfrm>
            <a:off x="1901622" y="5134787"/>
            <a:ext cx="575253" cy="379818"/>
          </a:xfrm>
          <a:prstGeom prst="rect">
            <a:avLst/>
          </a:prstGeom>
          <a:noFill/>
          <a:ln>
            <a:solidFill>
              <a:schemeClr val="tx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kumimoji="1" lang="en-US" altLang="zh-TW" sz="1400" dirty="0">
                <a:solidFill>
                  <a:schemeClr val="tx1"/>
                </a:solidFill>
              </a:rPr>
              <a:t>RNN</a:t>
            </a:r>
            <a:endParaRPr kumimoji="1" lang="zh-TW" altLang="en-US" sz="1400" dirty="0">
              <a:solidFill>
                <a:schemeClr val="tx1"/>
              </a:solidFill>
            </a:endParaRPr>
          </a:p>
        </p:txBody>
      </p:sp>
      <p:sp>
        <p:nvSpPr>
          <p:cNvPr id="48" name="矩形 47">
            <a:extLst>
              <a:ext uri="{FF2B5EF4-FFF2-40B4-BE49-F238E27FC236}">
                <a16:creationId xmlns:a16="http://schemas.microsoft.com/office/drawing/2014/main" id="{5B947359-F127-D523-8233-7AA7E7418154}"/>
              </a:ext>
            </a:extLst>
          </p:cNvPr>
          <p:cNvSpPr/>
          <p:nvPr/>
        </p:nvSpPr>
        <p:spPr>
          <a:xfrm>
            <a:off x="2850931" y="5134787"/>
            <a:ext cx="575253" cy="379818"/>
          </a:xfrm>
          <a:prstGeom prst="rect">
            <a:avLst/>
          </a:prstGeom>
          <a:noFill/>
          <a:ln>
            <a:solidFill>
              <a:schemeClr val="tx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kumimoji="1" lang="en-US" altLang="zh-TW" sz="1400" dirty="0">
                <a:solidFill>
                  <a:schemeClr val="tx1"/>
                </a:solidFill>
              </a:rPr>
              <a:t>RNN</a:t>
            </a:r>
            <a:endParaRPr kumimoji="1" lang="zh-TW" altLang="en-US" sz="1400" dirty="0">
              <a:solidFill>
                <a:schemeClr val="tx1"/>
              </a:solidFill>
            </a:endParaRPr>
          </a:p>
        </p:txBody>
      </p:sp>
      <p:sp>
        <p:nvSpPr>
          <p:cNvPr id="52" name="矩形 51">
            <a:extLst>
              <a:ext uri="{FF2B5EF4-FFF2-40B4-BE49-F238E27FC236}">
                <a16:creationId xmlns:a16="http://schemas.microsoft.com/office/drawing/2014/main" id="{5447963A-637F-D331-F030-8E3A53574913}"/>
              </a:ext>
            </a:extLst>
          </p:cNvPr>
          <p:cNvSpPr/>
          <p:nvPr/>
        </p:nvSpPr>
        <p:spPr>
          <a:xfrm>
            <a:off x="3878145" y="5134787"/>
            <a:ext cx="575253" cy="379818"/>
          </a:xfrm>
          <a:prstGeom prst="rect">
            <a:avLst/>
          </a:prstGeom>
          <a:noFill/>
          <a:ln>
            <a:solidFill>
              <a:schemeClr val="tx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kumimoji="1" lang="en-US" altLang="zh-TW" sz="1400" dirty="0">
                <a:solidFill>
                  <a:schemeClr val="tx1"/>
                </a:solidFill>
              </a:rPr>
              <a:t>RNN</a:t>
            </a:r>
            <a:endParaRPr kumimoji="1" lang="zh-TW" altLang="en-US" sz="1400" dirty="0">
              <a:solidFill>
                <a:schemeClr val="tx1"/>
              </a:solidFill>
            </a:endParaRPr>
          </a:p>
        </p:txBody>
      </p:sp>
      <p:sp>
        <p:nvSpPr>
          <p:cNvPr id="53" name="矩形 52">
            <a:extLst>
              <a:ext uri="{FF2B5EF4-FFF2-40B4-BE49-F238E27FC236}">
                <a16:creationId xmlns:a16="http://schemas.microsoft.com/office/drawing/2014/main" id="{B7FD5B8B-AECC-E7C9-203A-BF4EDBDEDB0F}"/>
              </a:ext>
            </a:extLst>
          </p:cNvPr>
          <p:cNvSpPr/>
          <p:nvPr/>
        </p:nvSpPr>
        <p:spPr>
          <a:xfrm>
            <a:off x="4847905" y="5134787"/>
            <a:ext cx="575253" cy="379818"/>
          </a:xfrm>
          <a:prstGeom prst="rect">
            <a:avLst/>
          </a:prstGeom>
          <a:noFill/>
          <a:ln>
            <a:solidFill>
              <a:schemeClr val="tx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kumimoji="1" lang="en-US" altLang="zh-TW" sz="1400" dirty="0">
                <a:solidFill>
                  <a:schemeClr val="tx1"/>
                </a:solidFill>
              </a:rPr>
              <a:t>RNN</a:t>
            </a:r>
            <a:endParaRPr kumimoji="1" lang="zh-TW" altLang="en-US" sz="1400" dirty="0">
              <a:solidFill>
                <a:schemeClr val="tx1"/>
              </a:solidFill>
            </a:endParaRPr>
          </a:p>
        </p:txBody>
      </p:sp>
      <p:cxnSp>
        <p:nvCxnSpPr>
          <p:cNvPr id="55" name="直線箭頭接點 54">
            <a:extLst>
              <a:ext uri="{FF2B5EF4-FFF2-40B4-BE49-F238E27FC236}">
                <a16:creationId xmlns:a16="http://schemas.microsoft.com/office/drawing/2014/main" id="{4BEACC5B-5BF9-14D6-B559-A293BAB34843}"/>
              </a:ext>
            </a:extLst>
          </p:cNvPr>
          <p:cNvCxnSpPr>
            <a:cxnSpLocks/>
          </p:cNvCxnSpPr>
          <p:nvPr/>
        </p:nvCxnSpPr>
        <p:spPr>
          <a:xfrm flipV="1">
            <a:off x="1216822" y="5607843"/>
            <a:ext cx="0" cy="248679"/>
          </a:xfrm>
          <a:prstGeom prst="straightConnector1">
            <a:avLst/>
          </a:prstGeom>
          <a:ln>
            <a:solidFill>
              <a:schemeClr val="tx1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60" name="直線箭頭接點 59">
            <a:extLst>
              <a:ext uri="{FF2B5EF4-FFF2-40B4-BE49-F238E27FC236}">
                <a16:creationId xmlns:a16="http://schemas.microsoft.com/office/drawing/2014/main" id="{DC1D47E9-8329-614B-F5A1-790DCE59C43C}"/>
              </a:ext>
            </a:extLst>
          </p:cNvPr>
          <p:cNvCxnSpPr>
            <a:cxnSpLocks/>
          </p:cNvCxnSpPr>
          <p:nvPr/>
        </p:nvCxnSpPr>
        <p:spPr>
          <a:xfrm flipV="1">
            <a:off x="1227708" y="4825311"/>
            <a:ext cx="0" cy="248679"/>
          </a:xfrm>
          <a:prstGeom prst="straightConnector1">
            <a:avLst/>
          </a:prstGeom>
          <a:ln>
            <a:solidFill>
              <a:schemeClr val="tx1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62" name="直線箭頭接點 61">
            <a:extLst>
              <a:ext uri="{FF2B5EF4-FFF2-40B4-BE49-F238E27FC236}">
                <a16:creationId xmlns:a16="http://schemas.microsoft.com/office/drawing/2014/main" id="{6C4A253C-DC31-5C87-0627-F56694BC3229}"/>
              </a:ext>
            </a:extLst>
          </p:cNvPr>
          <p:cNvCxnSpPr>
            <a:cxnSpLocks/>
          </p:cNvCxnSpPr>
          <p:nvPr/>
        </p:nvCxnSpPr>
        <p:spPr>
          <a:xfrm flipV="1">
            <a:off x="2189248" y="5607843"/>
            <a:ext cx="0" cy="248679"/>
          </a:xfrm>
          <a:prstGeom prst="straightConnector1">
            <a:avLst/>
          </a:prstGeom>
          <a:ln>
            <a:solidFill>
              <a:schemeClr val="tx1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63" name="直線箭頭接點 62">
            <a:extLst>
              <a:ext uri="{FF2B5EF4-FFF2-40B4-BE49-F238E27FC236}">
                <a16:creationId xmlns:a16="http://schemas.microsoft.com/office/drawing/2014/main" id="{8E424DF0-B0E9-C79C-2D71-6D32EDF5F9BA}"/>
              </a:ext>
            </a:extLst>
          </p:cNvPr>
          <p:cNvCxnSpPr>
            <a:cxnSpLocks/>
          </p:cNvCxnSpPr>
          <p:nvPr/>
        </p:nvCxnSpPr>
        <p:spPr>
          <a:xfrm flipV="1">
            <a:off x="2189248" y="4825311"/>
            <a:ext cx="0" cy="248679"/>
          </a:xfrm>
          <a:prstGeom prst="straightConnector1">
            <a:avLst/>
          </a:prstGeom>
          <a:ln>
            <a:solidFill>
              <a:schemeClr val="tx1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68" name="直線箭頭接點 67">
            <a:extLst>
              <a:ext uri="{FF2B5EF4-FFF2-40B4-BE49-F238E27FC236}">
                <a16:creationId xmlns:a16="http://schemas.microsoft.com/office/drawing/2014/main" id="{BDA43D88-3C25-CFD6-1212-CDBEB967CC47}"/>
              </a:ext>
            </a:extLst>
          </p:cNvPr>
          <p:cNvCxnSpPr>
            <a:cxnSpLocks/>
          </p:cNvCxnSpPr>
          <p:nvPr/>
        </p:nvCxnSpPr>
        <p:spPr>
          <a:xfrm flipV="1">
            <a:off x="3150664" y="5607843"/>
            <a:ext cx="0" cy="248679"/>
          </a:xfrm>
          <a:prstGeom prst="straightConnector1">
            <a:avLst/>
          </a:prstGeom>
          <a:ln>
            <a:solidFill>
              <a:schemeClr val="tx1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69" name="直線箭頭接點 68">
            <a:extLst>
              <a:ext uri="{FF2B5EF4-FFF2-40B4-BE49-F238E27FC236}">
                <a16:creationId xmlns:a16="http://schemas.microsoft.com/office/drawing/2014/main" id="{B86EF079-C72F-B7DB-3F1E-42F79167A28D}"/>
              </a:ext>
            </a:extLst>
          </p:cNvPr>
          <p:cNvCxnSpPr>
            <a:cxnSpLocks/>
          </p:cNvCxnSpPr>
          <p:nvPr/>
        </p:nvCxnSpPr>
        <p:spPr>
          <a:xfrm flipV="1">
            <a:off x="3150664" y="4825311"/>
            <a:ext cx="0" cy="248679"/>
          </a:xfrm>
          <a:prstGeom prst="straightConnector1">
            <a:avLst/>
          </a:prstGeom>
          <a:ln>
            <a:solidFill>
              <a:schemeClr val="tx1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70" name="直線箭頭接點 69">
            <a:extLst>
              <a:ext uri="{FF2B5EF4-FFF2-40B4-BE49-F238E27FC236}">
                <a16:creationId xmlns:a16="http://schemas.microsoft.com/office/drawing/2014/main" id="{096115B3-A628-80AA-5290-6F8705A0BCA5}"/>
              </a:ext>
            </a:extLst>
          </p:cNvPr>
          <p:cNvCxnSpPr>
            <a:cxnSpLocks/>
          </p:cNvCxnSpPr>
          <p:nvPr/>
        </p:nvCxnSpPr>
        <p:spPr>
          <a:xfrm flipV="1">
            <a:off x="4165771" y="5607843"/>
            <a:ext cx="0" cy="248679"/>
          </a:xfrm>
          <a:prstGeom prst="straightConnector1">
            <a:avLst/>
          </a:prstGeom>
          <a:ln>
            <a:solidFill>
              <a:schemeClr val="tx1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71" name="直線箭頭接點 70">
            <a:extLst>
              <a:ext uri="{FF2B5EF4-FFF2-40B4-BE49-F238E27FC236}">
                <a16:creationId xmlns:a16="http://schemas.microsoft.com/office/drawing/2014/main" id="{DBE46EB3-404F-F7B2-7FF6-81C8C87A35EC}"/>
              </a:ext>
            </a:extLst>
          </p:cNvPr>
          <p:cNvCxnSpPr>
            <a:cxnSpLocks/>
          </p:cNvCxnSpPr>
          <p:nvPr/>
        </p:nvCxnSpPr>
        <p:spPr>
          <a:xfrm flipV="1">
            <a:off x="4165771" y="4825311"/>
            <a:ext cx="0" cy="248679"/>
          </a:xfrm>
          <a:prstGeom prst="straightConnector1">
            <a:avLst/>
          </a:prstGeom>
          <a:ln>
            <a:solidFill>
              <a:schemeClr val="tx1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72" name="直線箭頭接點 71">
            <a:extLst>
              <a:ext uri="{FF2B5EF4-FFF2-40B4-BE49-F238E27FC236}">
                <a16:creationId xmlns:a16="http://schemas.microsoft.com/office/drawing/2014/main" id="{D209245E-828F-DB1A-FE91-774EFEA0237F}"/>
              </a:ext>
            </a:extLst>
          </p:cNvPr>
          <p:cNvCxnSpPr>
            <a:cxnSpLocks/>
          </p:cNvCxnSpPr>
          <p:nvPr/>
        </p:nvCxnSpPr>
        <p:spPr>
          <a:xfrm flipV="1">
            <a:off x="5135531" y="5607843"/>
            <a:ext cx="0" cy="248679"/>
          </a:xfrm>
          <a:prstGeom prst="straightConnector1">
            <a:avLst/>
          </a:prstGeom>
          <a:ln>
            <a:solidFill>
              <a:schemeClr val="tx1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73" name="直線箭頭接點 72">
            <a:extLst>
              <a:ext uri="{FF2B5EF4-FFF2-40B4-BE49-F238E27FC236}">
                <a16:creationId xmlns:a16="http://schemas.microsoft.com/office/drawing/2014/main" id="{266FBBFA-CDF7-C0FC-8007-02A713302871}"/>
              </a:ext>
            </a:extLst>
          </p:cNvPr>
          <p:cNvCxnSpPr>
            <a:cxnSpLocks/>
          </p:cNvCxnSpPr>
          <p:nvPr/>
        </p:nvCxnSpPr>
        <p:spPr>
          <a:xfrm flipV="1">
            <a:off x="5135531" y="4825311"/>
            <a:ext cx="0" cy="248679"/>
          </a:xfrm>
          <a:prstGeom prst="straightConnector1">
            <a:avLst/>
          </a:prstGeom>
          <a:ln>
            <a:solidFill>
              <a:schemeClr val="tx1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74" name="文字方塊 73">
            <a:extLst>
              <a:ext uri="{FF2B5EF4-FFF2-40B4-BE49-F238E27FC236}">
                <a16:creationId xmlns:a16="http://schemas.microsoft.com/office/drawing/2014/main" id="{18B6AE5F-A7E7-8726-7A8F-CF70496C1FEF}"/>
              </a:ext>
            </a:extLst>
          </p:cNvPr>
          <p:cNvSpPr txBox="1"/>
          <p:nvPr/>
        </p:nvSpPr>
        <p:spPr>
          <a:xfrm>
            <a:off x="6182953" y="5876593"/>
            <a:ext cx="398516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kumimoji="1" lang="en-US" altLang="zh-TW" dirty="0"/>
              <a:t>_</a:t>
            </a:r>
            <a:endParaRPr kumimoji="1" lang="zh-TW" altLang="en-US" dirty="0"/>
          </a:p>
        </p:txBody>
      </p:sp>
      <p:sp>
        <p:nvSpPr>
          <p:cNvPr id="79" name="矩形 78">
            <a:extLst>
              <a:ext uri="{FF2B5EF4-FFF2-40B4-BE49-F238E27FC236}">
                <a16:creationId xmlns:a16="http://schemas.microsoft.com/office/drawing/2014/main" id="{115F3176-953B-3F6A-64B4-30AA8A3168B4}"/>
              </a:ext>
            </a:extLst>
          </p:cNvPr>
          <p:cNvSpPr/>
          <p:nvPr/>
        </p:nvSpPr>
        <p:spPr>
          <a:xfrm>
            <a:off x="6065816" y="5134787"/>
            <a:ext cx="575253" cy="379818"/>
          </a:xfrm>
          <a:prstGeom prst="rect">
            <a:avLst/>
          </a:prstGeom>
          <a:noFill/>
          <a:ln>
            <a:solidFill>
              <a:schemeClr val="tx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kumimoji="1" lang="en-US" altLang="zh-TW" sz="1400" dirty="0">
                <a:solidFill>
                  <a:schemeClr val="tx1"/>
                </a:solidFill>
              </a:rPr>
              <a:t>RNN</a:t>
            </a:r>
            <a:endParaRPr kumimoji="1" lang="zh-TW" altLang="en-US" sz="1400" dirty="0">
              <a:solidFill>
                <a:schemeClr val="tx1"/>
              </a:solidFill>
            </a:endParaRPr>
          </a:p>
        </p:txBody>
      </p:sp>
      <p:cxnSp>
        <p:nvCxnSpPr>
          <p:cNvPr id="84" name="直線箭頭接點 83">
            <a:extLst>
              <a:ext uri="{FF2B5EF4-FFF2-40B4-BE49-F238E27FC236}">
                <a16:creationId xmlns:a16="http://schemas.microsoft.com/office/drawing/2014/main" id="{4F391EF9-CCD3-4FB6-4CFE-ACE9E3C66012}"/>
              </a:ext>
            </a:extLst>
          </p:cNvPr>
          <p:cNvCxnSpPr>
            <a:cxnSpLocks/>
          </p:cNvCxnSpPr>
          <p:nvPr/>
        </p:nvCxnSpPr>
        <p:spPr>
          <a:xfrm flipV="1">
            <a:off x="6371325" y="5607843"/>
            <a:ext cx="0" cy="248679"/>
          </a:xfrm>
          <a:prstGeom prst="straightConnector1">
            <a:avLst/>
          </a:prstGeom>
          <a:ln>
            <a:solidFill>
              <a:schemeClr val="tx1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05" name="直線箭頭接點 104">
            <a:extLst>
              <a:ext uri="{FF2B5EF4-FFF2-40B4-BE49-F238E27FC236}">
                <a16:creationId xmlns:a16="http://schemas.microsoft.com/office/drawing/2014/main" id="{D171D7D8-8C68-3104-B447-2E7D3791AA89}"/>
              </a:ext>
            </a:extLst>
          </p:cNvPr>
          <p:cNvCxnSpPr>
            <a:cxnSpLocks/>
          </p:cNvCxnSpPr>
          <p:nvPr/>
        </p:nvCxnSpPr>
        <p:spPr>
          <a:xfrm>
            <a:off x="1530350" y="5324624"/>
            <a:ext cx="344029" cy="0"/>
          </a:xfrm>
          <a:prstGeom prst="straightConnector1">
            <a:avLst/>
          </a:prstGeom>
          <a:ln>
            <a:solidFill>
              <a:schemeClr val="tx1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07" name="直線箭頭接點 106">
            <a:extLst>
              <a:ext uri="{FF2B5EF4-FFF2-40B4-BE49-F238E27FC236}">
                <a16:creationId xmlns:a16="http://schemas.microsoft.com/office/drawing/2014/main" id="{188E9F8B-72F1-DB79-9696-95DDD64BB510}"/>
              </a:ext>
            </a:extLst>
          </p:cNvPr>
          <p:cNvCxnSpPr>
            <a:cxnSpLocks/>
          </p:cNvCxnSpPr>
          <p:nvPr/>
        </p:nvCxnSpPr>
        <p:spPr>
          <a:xfrm>
            <a:off x="2495216" y="5324624"/>
            <a:ext cx="344029" cy="0"/>
          </a:xfrm>
          <a:prstGeom prst="straightConnector1">
            <a:avLst/>
          </a:prstGeom>
          <a:ln>
            <a:solidFill>
              <a:schemeClr val="tx1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08" name="直線箭頭接點 107">
            <a:extLst>
              <a:ext uri="{FF2B5EF4-FFF2-40B4-BE49-F238E27FC236}">
                <a16:creationId xmlns:a16="http://schemas.microsoft.com/office/drawing/2014/main" id="{73BBD917-B4E4-C491-C249-20391DB35276}"/>
              </a:ext>
            </a:extLst>
          </p:cNvPr>
          <p:cNvCxnSpPr>
            <a:cxnSpLocks/>
          </p:cNvCxnSpPr>
          <p:nvPr/>
        </p:nvCxnSpPr>
        <p:spPr>
          <a:xfrm>
            <a:off x="3480670" y="5324624"/>
            <a:ext cx="344029" cy="0"/>
          </a:xfrm>
          <a:prstGeom prst="straightConnector1">
            <a:avLst/>
          </a:prstGeom>
          <a:ln>
            <a:solidFill>
              <a:schemeClr val="tx1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09" name="直線箭頭接點 108">
            <a:extLst>
              <a:ext uri="{FF2B5EF4-FFF2-40B4-BE49-F238E27FC236}">
                <a16:creationId xmlns:a16="http://schemas.microsoft.com/office/drawing/2014/main" id="{E02A9A0F-62EC-2296-E514-888E6F4A6CD5}"/>
              </a:ext>
            </a:extLst>
          </p:cNvPr>
          <p:cNvCxnSpPr>
            <a:cxnSpLocks/>
          </p:cNvCxnSpPr>
          <p:nvPr/>
        </p:nvCxnSpPr>
        <p:spPr>
          <a:xfrm>
            <a:off x="4492990" y="5324624"/>
            <a:ext cx="344029" cy="0"/>
          </a:xfrm>
          <a:prstGeom prst="straightConnector1">
            <a:avLst/>
          </a:prstGeom>
          <a:ln>
            <a:solidFill>
              <a:schemeClr val="tx1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10" name="直線箭頭接點 109">
            <a:extLst>
              <a:ext uri="{FF2B5EF4-FFF2-40B4-BE49-F238E27FC236}">
                <a16:creationId xmlns:a16="http://schemas.microsoft.com/office/drawing/2014/main" id="{6FFD6C30-6E8F-049B-7DC1-FFE15C859B34}"/>
              </a:ext>
            </a:extLst>
          </p:cNvPr>
          <p:cNvCxnSpPr>
            <a:cxnSpLocks/>
          </p:cNvCxnSpPr>
          <p:nvPr/>
        </p:nvCxnSpPr>
        <p:spPr>
          <a:xfrm>
            <a:off x="6681569" y="5324624"/>
            <a:ext cx="344029" cy="0"/>
          </a:xfrm>
          <a:prstGeom prst="straightConnector1">
            <a:avLst/>
          </a:prstGeom>
          <a:ln>
            <a:solidFill>
              <a:schemeClr val="tx1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85" name="直線箭頭接點 84">
            <a:extLst>
              <a:ext uri="{FF2B5EF4-FFF2-40B4-BE49-F238E27FC236}">
                <a16:creationId xmlns:a16="http://schemas.microsoft.com/office/drawing/2014/main" id="{66A42BD9-9DA1-4A32-E98D-2047F346A1B3}"/>
              </a:ext>
            </a:extLst>
          </p:cNvPr>
          <p:cNvCxnSpPr>
            <a:cxnSpLocks/>
          </p:cNvCxnSpPr>
          <p:nvPr/>
        </p:nvCxnSpPr>
        <p:spPr>
          <a:xfrm flipV="1">
            <a:off x="6382211" y="4825311"/>
            <a:ext cx="0" cy="248679"/>
          </a:xfrm>
          <a:prstGeom prst="straightConnector1">
            <a:avLst/>
          </a:prstGeom>
          <a:ln>
            <a:solidFill>
              <a:schemeClr val="tx1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50" name="圓角矩形 49">
            <a:extLst>
              <a:ext uri="{FF2B5EF4-FFF2-40B4-BE49-F238E27FC236}">
                <a16:creationId xmlns:a16="http://schemas.microsoft.com/office/drawing/2014/main" id="{26AFD2CA-0461-413B-D174-CFA269F31CDB}"/>
              </a:ext>
            </a:extLst>
          </p:cNvPr>
          <p:cNvSpPr/>
          <p:nvPr/>
        </p:nvSpPr>
        <p:spPr>
          <a:xfrm rot="16200000">
            <a:off x="6192813" y="4419031"/>
            <a:ext cx="372490" cy="205528"/>
          </a:xfrm>
          <a:prstGeom prst="roundRect">
            <a:avLst/>
          </a:prstGeom>
          <a:solidFill>
            <a:srgbClr val="C6E0B4"/>
          </a:solidFill>
          <a:ln w="19050">
            <a:solidFill>
              <a:schemeClr val="tx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kumimoji="1" lang="zh-TW" altLang="en-US"/>
          </a:p>
        </p:txBody>
      </p:sp>
      <p:cxnSp>
        <p:nvCxnSpPr>
          <p:cNvPr id="147" name="直線箭頭接點 146">
            <a:extLst>
              <a:ext uri="{FF2B5EF4-FFF2-40B4-BE49-F238E27FC236}">
                <a16:creationId xmlns:a16="http://schemas.microsoft.com/office/drawing/2014/main" id="{FF4DF05B-2975-82C6-6339-22B9F80D4113}"/>
              </a:ext>
            </a:extLst>
          </p:cNvPr>
          <p:cNvCxnSpPr>
            <a:cxnSpLocks/>
          </p:cNvCxnSpPr>
          <p:nvPr/>
        </p:nvCxnSpPr>
        <p:spPr>
          <a:xfrm flipV="1">
            <a:off x="6382211" y="4012978"/>
            <a:ext cx="0" cy="248679"/>
          </a:xfrm>
          <a:prstGeom prst="straightConnector1">
            <a:avLst/>
          </a:prstGeom>
          <a:ln>
            <a:solidFill>
              <a:schemeClr val="tx1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mc:AlternateContent xmlns:mc="http://schemas.openxmlformats.org/markup-compatibility/2006" xmlns:a14="http://schemas.microsoft.com/office/drawing/2010/main">
        <mc:Choice Requires="a14">
          <p:sp>
            <p:nvSpPr>
              <p:cNvPr id="160" name="文字方塊 159">
                <a:extLst>
                  <a:ext uri="{FF2B5EF4-FFF2-40B4-BE49-F238E27FC236}">
                    <a16:creationId xmlns:a16="http://schemas.microsoft.com/office/drawing/2014/main" id="{F03F4B7E-046B-522F-5D94-EF2A6F1BF36D}"/>
                  </a:ext>
                </a:extLst>
              </p:cNvPr>
              <p:cNvSpPr txBox="1"/>
              <p:nvPr/>
            </p:nvSpPr>
            <p:spPr>
              <a:xfrm>
                <a:off x="6118558" y="4325610"/>
                <a:ext cx="541313" cy="369332"/>
              </a:xfrm>
              <a:prstGeom prst="rect">
                <a:avLst/>
              </a:prstGeom>
              <a:noFill/>
            </p:spPr>
            <p:txBody>
              <a:bodyPr wrap="square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sSub>
                        <m:sSubPr>
                          <m:ctrlPr>
                            <a:rPr lang="zh-TW" altLang="en-US" i="1" smtClean="0"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a:rPr lang="en-US" altLang="zh-TW" b="0" i="1" smtClean="0">
                              <a:latin typeface="Cambria Math" panose="02040503050406030204" pitchFamily="18" charset="0"/>
                            </a:rPr>
                            <m:t>𝑠</m:t>
                          </m:r>
                        </m:e>
                        <m:sub>
                          <m:r>
                            <a:rPr lang="en-US" altLang="zh-TW" b="0" i="1" smtClean="0">
                              <a:latin typeface="Cambria Math" panose="02040503050406030204" pitchFamily="18" charset="0"/>
                            </a:rPr>
                            <m:t>1</m:t>
                          </m:r>
                        </m:sub>
                      </m:sSub>
                    </m:oMath>
                  </m:oMathPara>
                </a14:m>
                <a:endParaRPr lang="zh-TW" altLang="en-US" dirty="0"/>
              </a:p>
            </p:txBody>
          </p:sp>
        </mc:Choice>
        <mc:Fallback xmlns="">
          <p:sp>
            <p:nvSpPr>
              <p:cNvPr id="160" name="文字方塊 159">
                <a:extLst>
                  <a:ext uri="{FF2B5EF4-FFF2-40B4-BE49-F238E27FC236}">
                    <a16:creationId xmlns:a16="http://schemas.microsoft.com/office/drawing/2014/main" id="{F03F4B7E-046B-522F-5D94-EF2A6F1BF36D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6118558" y="4325610"/>
                <a:ext cx="541313" cy="369332"/>
              </a:xfrm>
              <a:prstGeom prst="rect">
                <a:avLst/>
              </a:prstGeom>
              <a:blipFill>
                <a:blip r:embed="rId7"/>
                <a:stretch>
                  <a:fillRect b="-3333"/>
                </a:stretch>
              </a:blipFill>
            </p:spPr>
            <p:txBody>
              <a:bodyPr/>
              <a:lstStyle/>
              <a:p>
                <a:r>
                  <a:rPr lang="zh-TW" altLang="en-US">
                    <a:noFill/>
                  </a:rPr>
                  <a:t> </a:t>
                </a:r>
              </a:p>
            </p:txBody>
          </p:sp>
        </mc:Fallback>
      </mc:AlternateContent>
      <p:sp>
        <p:nvSpPr>
          <p:cNvPr id="7" name="圓角矩形 6">
            <a:extLst>
              <a:ext uri="{FF2B5EF4-FFF2-40B4-BE49-F238E27FC236}">
                <a16:creationId xmlns:a16="http://schemas.microsoft.com/office/drawing/2014/main" id="{E4387330-B311-6F94-5219-000F4FE6BF01}"/>
              </a:ext>
            </a:extLst>
          </p:cNvPr>
          <p:cNvSpPr/>
          <p:nvPr/>
        </p:nvSpPr>
        <p:spPr>
          <a:xfrm>
            <a:off x="1052704" y="3930616"/>
            <a:ext cx="343791" cy="864699"/>
          </a:xfrm>
          <a:prstGeom prst="roundRect">
            <a:avLst/>
          </a:prstGeom>
          <a:noFill/>
          <a:ln>
            <a:solidFill>
              <a:srgbClr val="FF0000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kumimoji="1" lang="zh-TW" altLang="en-US"/>
          </a:p>
        </p:txBody>
      </p:sp>
      <mc:AlternateContent xmlns:mc="http://schemas.openxmlformats.org/markup-compatibility/2006" xmlns:a14="http://schemas.microsoft.com/office/drawing/2010/main">
        <mc:Choice Requires="a14">
          <p:sp>
            <p:nvSpPr>
              <p:cNvPr id="10" name="文字方塊 9">
                <a:extLst>
                  <a:ext uri="{FF2B5EF4-FFF2-40B4-BE49-F238E27FC236}">
                    <a16:creationId xmlns:a16="http://schemas.microsoft.com/office/drawing/2014/main" id="{FC674D36-F636-2527-BD9E-DE1961317E16}"/>
                  </a:ext>
                </a:extLst>
              </p:cNvPr>
              <p:cNvSpPr txBox="1"/>
              <p:nvPr/>
            </p:nvSpPr>
            <p:spPr>
              <a:xfrm>
                <a:off x="949631" y="3265111"/>
                <a:ext cx="575249" cy="400110"/>
              </a:xfrm>
              <a:prstGeom prst="rect">
                <a:avLst/>
              </a:prstGeom>
              <a:noFill/>
            </p:spPr>
            <p:txBody>
              <a:bodyPr wrap="square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sSub>
                        <m:sSubPr>
                          <m:ctrlPr>
                            <a:rPr lang="zh-TW" altLang="zh-TW" sz="2000" i="1" smtClean="0">
                              <a:solidFill>
                                <a:srgbClr val="FF0000"/>
                              </a:solidFill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a:rPr lang="en-US" altLang="zh-TW" sz="2000" i="1">
                              <a:solidFill>
                                <a:srgbClr val="FF0000"/>
                              </a:solidFill>
                              <a:latin typeface="Cambria Math" panose="02040503050406030204" pitchFamily="18" charset="0"/>
                            </a:rPr>
                            <m:t>𝛼</m:t>
                          </m:r>
                        </m:e>
                        <m:sub>
                          <m:r>
                            <a:rPr lang="en-US" altLang="zh-TW" sz="2000" b="0" i="1" smtClean="0">
                              <a:solidFill>
                                <a:srgbClr val="FF0000"/>
                              </a:solidFill>
                              <a:latin typeface="Cambria Math" panose="02040503050406030204" pitchFamily="18" charset="0"/>
                            </a:rPr>
                            <m:t>21</m:t>
                          </m:r>
                        </m:sub>
                      </m:sSub>
                    </m:oMath>
                  </m:oMathPara>
                </a14:m>
                <a:endParaRPr lang="zh-TW" altLang="en-US" sz="2000" dirty="0">
                  <a:solidFill>
                    <a:srgbClr val="FF0000"/>
                  </a:solidFill>
                </a:endParaRPr>
              </a:p>
            </p:txBody>
          </p:sp>
        </mc:Choice>
        <mc:Fallback xmlns="">
          <p:sp>
            <p:nvSpPr>
              <p:cNvPr id="10" name="文字方塊 9">
                <a:extLst>
                  <a:ext uri="{FF2B5EF4-FFF2-40B4-BE49-F238E27FC236}">
                    <a16:creationId xmlns:a16="http://schemas.microsoft.com/office/drawing/2014/main" id="{FC674D36-F636-2527-BD9E-DE1961317E16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949631" y="3265111"/>
                <a:ext cx="575249" cy="400110"/>
              </a:xfrm>
              <a:prstGeom prst="rect">
                <a:avLst/>
              </a:prstGeom>
              <a:blipFill>
                <a:blip r:embed="rId8"/>
                <a:stretch>
                  <a:fillRect/>
                </a:stretch>
              </a:blipFill>
            </p:spPr>
            <p:txBody>
              <a:bodyPr/>
              <a:lstStyle/>
              <a:p>
                <a:r>
                  <a:rPr lang="zh-TW" altLang="en-US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 xmlns:a14="http://schemas.microsoft.com/office/drawing/2010/main">
        <mc:Choice Requires="a14">
          <p:sp>
            <p:nvSpPr>
              <p:cNvPr id="12" name="文字方塊 11">
                <a:extLst>
                  <a:ext uri="{FF2B5EF4-FFF2-40B4-BE49-F238E27FC236}">
                    <a16:creationId xmlns:a16="http://schemas.microsoft.com/office/drawing/2014/main" id="{B26C3416-FCBB-E93E-4F25-A729E79F9806}"/>
                  </a:ext>
                </a:extLst>
              </p:cNvPr>
              <p:cNvSpPr txBox="1"/>
              <p:nvPr/>
            </p:nvSpPr>
            <p:spPr>
              <a:xfrm>
                <a:off x="1874379" y="3265111"/>
                <a:ext cx="575249" cy="400110"/>
              </a:xfrm>
              <a:prstGeom prst="rect">
                <a:avLst/>
              </a:prstGeom>
              <a:noFill/>
            </p:spPr>
            <p:txBody>
              <a:bodyPr wrap="square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sSub>
                        <m:sSubPr>
                          <m:ctrlPr>
                            <a:rPr lang="zh-TW" altLang="zh-TW" sz="2000" i="1" smtClean="0">
                              <a:solidFill>
                                <a:srgbClr val="FF0000"/>
                              </a:solidFill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a:rPr lang="en-US" altLang="zh-TW" sz="2000" i="1">
                              <a:solidFill>
                                <a:srgbClr val="FF0000"/>
                              </a:solidFill>
                              <a:latin typeface="Cambria Math" panose="02040503050406030204" pitchFamily="18" charset="0"/>
                            </a:rPr>
                            <m:t>𝛼</m:t>
                          </m:r>
                        </m:e>
                        <m:sub>
                          <m:r>
                            <a:rPr lang="en-US" altLang="zh-TW" sz="2000" b="0" i="1" smtClean="0">
                              <a:solidFill>
                                <a:srgbClr val="FF0000"/>
                              </a:solidFill>
                              <a:latin typeface="Cambria Math" panose="02040503050406030204" pitchFamily="18" charset="0"/>
                            </a:rPr>
                            <m:t>22</m:t>
                          </m:r>
                        </m:sub>
                      </m:sSub>
                    </m:oMath>
                  </m:oMathPara>
                </a14:m>
                <a:endParaRPr lang="zh-TW" altLang="en-US" sz="2000" dirty="0">
                  <a:solidFill>
                    <a:srgbClr val="FF0000"/>
                  </a:solidFill>
                </a:endParaRPr>
              </a:p>
            </p:txBody>
          </p:sp>
        </mc:Choice>
        <mc:Fallback xmlns="">
          <p:sp>
            <p:nvSpPr>
              <p:cNvPr id="12" name="文字方塊 11">
                <a:extLst>
                  <a:ext uri="{FF2B5EF4-FFF2-40B4-BE49-F238E27FC236}">
                    <a16:creationId xmlns:a16="http://schemas.microsoft.com/office/drawing/2014/main" id="{B26C3416-FCBB-E93E-4F25-A729E79F9806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1874379" y="3265111"/>
                <a:ext cx="575249" cy="400110"/>
              </a:xfrm>
              <a:prstGeom prst="rect">
                <a:avLst/>
              </a:prstGeom>
              <a:blipFill>
                <a:blip r:embed="rId9"/>
                <a:stretch>
                  <a:fillRect/>
                </a:stretch>
              </a:blipFill>
            </p:spPr>
            <p:txBody>
              <a:bodyPr/>
              <a:lstStyle/>
              <a:p>
                <a:r>
                  <a:rPr lang="zh-TW" altLang="en-US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 xmlns:a14="http://schemas.microsoft.com/office/drawing/2010/main">
        <mc:Choice Requires="a14">
          <p:sp>
            <p:nvSpPr>
              <p:cNvPr id="13" name="文字方塊 12">
                <a:extLst>
                  <a:ext uri="{FF2B5EF4-FFF2-40B4-BE49-F238E27FC236}">
                    <a16:creationId xmlns:a16="http://schemas.microsoft.com/office/drawing/2014/main" id="{D9853FFD-96AE-B181-3B0F-2F9924217096}"/>
                  </a:ext>
                </a:extLst>
              </p:cNvPr>
              <p:cNvSpPr txBox="1"/>
              <p:nvPr/>
            </p:nvSpPr>
            <p:spPr>
              <a:xfrm>
                <a:off x="2841162" y="3265111"/>
                <a:ext cx="575249" cy="400110"/>
              </a:xfrm>
              <a:prstGeom prst="rect">
                <a:avLst/>
              </a:prstGeom>
              <a:noFill/>
            </p:spPr>
            <p:txBody>
              <a:bodyPr wrap="square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sSub>
                        <m:sSubPr>
                          <m:ctrlPr>
                            <a:rPr lang="zh-TW" altLang="zh-TW" sz="2000" i="1" smtClean="0">
                              <a:solidFill>
                                <a:srgbClr val="FF0000"/>
                              </a:solidFill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a:rPr lang="en-US" altLang="zh-TW" sz="2000" i="1">
                              <a:solidFill>
                                <a:srgbClr val="FF0000"/>
                              </a:solidFill>
                              <a:latin typeface="Cambria Math" panose="02040503050406030204" pitchFamily="18" charset="0"/>
                            </a:rPr>
                            <m:t>𝛼</m:t>
                          </m:r>
                        </m:e>
                        <m:sub>
                          <m:r>
                            <a:rPr lang="en-US" altLang="zh-TW" sz="2000" b="0" i="1" smtClean="0">
                              <a:solidFill>
                                <a:srgbClr val="FF0000"/>
                              </a:solidFill>
                              <a:latin typeface="Cambria Math" panose="02040503050406030204" pitchFamily="18" charset="0"/>
                            </a:rPr>
                            <m:t>23</m:t>
                          </m:r>
                        </m:sub>
                      </m:sSub>
                    </m:oMath>
                  </m:oMathPara>
                </a14:m>
                <a:endParaRPr lang="zh-TW" altLang="en-US" sz="2000" dirty="0">
                  <a:solidFill>
                    <a:srgbClr val="FF0000"/>
                  </a:solidFill>
                </a:endParaRPr>
              </a:p>
            </p:txBody>
          </p:sp>
        </mc:Choice>
        <mc:Fallback xmlns="">
          <p:sp>
            <p:nvSpPr>
              <p:cNvPr id="13" name="文字方塊 12">
                <a:extLst>
                  <a:ext uri="{FF2B5EF4-FFF2-40B4-BE49-F238E27FC236}">
                    <a16:creationId xmlns:a16="http://schemas.microsoft.com/office/drawing/2014/main" id="{D9853FFD-96AE-B181-3B0F-2F9924217096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2841162" y="3265111"/>
                <a:ext cx="575249" cy="400110"/>
              </a:xfrm>
              <a:prstGeom prst="rect">
                <a:avLst/>
              </a:prstGeom>
              <a:blipFill>
                <a:blip r:embed="rId10"/>
                <a:stretch>
                  <a:fillRect/>
                </a:stretch>
              </a:blipFill>
            </p:spPr>
            <p:txBody>
              <a:bodyPr/>
              <a:lstStyle/>
              <a:p>
                <a:r>
                  <a:rPr lang="zh-TW" altLang="en-US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 xmlns:a14="http://schemas.microsoft.com/office/drawing/2010/main">
        <mc:Choice Requires="a14">
          <p:sp>
            <p:nvSpPr>
              <p:cNvPr id="33" name="文字方塊 32">
                <a:extLst>
                  <a:ext uri="{FF2B5EF4-FFF2-40B4-BE49-F238E27FC236}">
                    <a16:creationId xmlns:a16="http://schemas.microsoft.com/office/drawing/2014/main" id="{BC8E41F3-8DEA-C43F-0844-6DB68D82A1A8}"/>
                  </a:ext>
                </a:extLst>
              </p:cNvPr>
              <p:cNvSpPr txBox="1"/>
              <p:nvPr/>
            </p:nvSpPr>
            <p:spPr>
              <a:xfrm>
                <a:off x="3865939" y="3265111"/>
                <a:ext cx="575249" cy="400110"/>
              </a:xfrm>
              <a:prstGeom prst="rect">
                <a:avLst/>
              </a:prstGeom>
              <a:noFill/>
            </p:spPr>
            <p:txBody>
              <a:bodyPr wrap="square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sSub>
                        <m:sSubPr>
                          <m:ctrlPr>
                            <a:rPr lang="zh-TW" altLang="zh-TW" sz="2000" i="1" smtClean="0">
                              <a:solidFill>
                                <a:srgbClr val="FF0000"/>
                              </a:solidFill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a:rPr lang="en-US" altLang="zh-TW" sz="2000" i="1">
                              <a:solidFill>
                                <a:srgbClr val="FF0000"/>
                              </a:solidFill>
                              <a:latin typeface="Cambria Math" panose="02040503050406030204" pitchFamily="18" charset="0"/>
                            </a:rPr>
                            <m:t>𝛼</m:t>
                          </m:r>
                        </m:e>
                        <m:sub>
                          <m:r>
                            <a:rPr lang="en-US" altLang="zh-TW" sz="2000" b="0" i="1" smtClean="0">
                              <a:solidFill>
                                <a:srgbClr val="FF0000"/>
                              </a:solidFill>
                              <a:latin typeface="Cambria Math" panose="02040503050406030204" pitchFamily="18" charset="0"/>
                            </a:rPr>
                            <m:t>24</m:t>
                          </m:r>
                        </m:sub>
                      </m:sSub>
                    </m:oMath>
                  </m:oMathPara>
                </a14:m>
                <a:endParaRPr lang="zh-TW" altLang="en-US" sz="2000" dirty="0">
                  <a:solidFill>
                    <a:srgbClr val="FF0000"/>
                  </a:solidFill>
                </a:endParaRPr>
              </a:p>
            </p:txBody>
          </p:sp>
        </mc:Choice>
        <mc:Fallback xmlns="">
          <p:sp>
            <p:nvSpPr>
              <p:cNvPr id="33" name="文字方塊 32">
                <a:extLst>
                  <a:ext uri="{FF2B5EF4-FFF2-40B4-BE49-F238E27FC236}">
                    <a16:creationId xmlns:a16="http://schemas.microsoft.com/office/drawing/2014/main" id="{BC8E41F3-8DEA-C43F-0844-6DB68D82A1A8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3865939" y="3265111"/>
                <a:ext cx="575249" cy="400110"/>
              </a:xfrm>
              <a:prstGeom prst="rect">
                <a:avLst/>
              </a:prstGeom>
              <a:blipFill>
                <a:blip r:embed="rId11"/>
                <a:stretch>
                  <a:fillRect/>
                </a:stretch>
              </a:blipFill>
            </p:spPr>
            <p:txBody>
              <a:bodyPr/>
              <a:lstStyle/>
              <a:p>
                <a:r>
                  <a:rPr lang="zh-TW" altLang="en-US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 xmlns:a14="http://schemas.microsoft.com/office/drawing/2010/main">
        <mc:Choice Requires="a14">
          <p:sp>
            <p:nvSpPr>
              <p:cNvPr id="34" name="文字方塊 33">
                <a:extLst>
                  <a:ext uri="{FF2B5EF4-FFF2-40B4-BE49-F238E27FC236}">
                    <a16:creationId xmlns:a16="http://schemas.microsoft.com/office/drawing/2014/main" id="{0B5C303C-AF38-5753-E50A-FA88E38E818C}"/>
                  </a:ext>
                </a:extLst>
              </p:cNvPr>
              <p:cNvSpPr txBox="1"/>
              <p:nvPr/>
            </p:nvSpPr>
            <p:spPr>
              <a:xfrm>
                <a:off x="4847905" y="3265111"/>
                <a:ext cx="575249" cy="400110"/>
              </a:xfrm>
              <a:prstGeom prst="rect">
                <a:avLst/>
              </a:prstGeom>
              <a:noFill/>
            </p:spPr>
            <p:txBody>
              <a:bodyPr wrap="square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sSub>
                        <m:sSubPr>
                          <m:ctrlPr>
                            <a:rPr lang="zh-TW" altLang="zh-TW" sz="2000" i="1" smtClean="0">
                              <a:solidFill>
                                <a:srgbClr val="FF0000"/>
                              </a:solidFill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a:rPr lang="en-US" altLang="zh-TW" sz="2000" i="1">
                              <a:solidFill>
                                <a:srgbClr val="FF0000"/>
                              </a:solidFill>
                              <a:latin typeface="Cambria Math" panose="02040503050406030204" pitchFamily="18" charset="0"/>
                            </a:rPr>
                            <m:t>𝛼</m:t>
                          </m:r>
                        </m:e>
                        <m:sub>
                          <m:r>
                            <a:rPr lang="en-US" altLang="zh-TW" sz="2000" b="0" i="1" smtClean="0">
                              <a:solidFill>
                                <a:srgbClr val="FF0000"/>
                              </a:solidFill>
                              <a:latin typeface="Cambria Math" panose="02040503050406030204" pitchFamily="18" charset="0"/>
                            </a:rPr>
                            <m:t>25</m:t>
                          </m:r>
                        </m:sub>
                      </m:sSub>
                    </m:oMath>
                  </m:oMathPara>
                </a14:m>
                <a:endParaRPr lang="zh-TW" altLang="en-US" sz="2000" dirty="0">
                  <a:solidFill>
                    <a:srgbClr val="FF0000"/>
                  </a:solidFill>
                </a:endParaRPr>
              </a:p>
            </p:txBody>
          </p:sp>
        </mc:Choice>
        <mc:Fallback xmlns="">
          <p:sp>
            <p:nvSpPr>
              <p:cNvPr id="34" name="文字方塊 33">
                <a:extLst>
                  <a:ext uri="{FF2B5EF4-FFF2-40B4-BE49-F238E27FC236}">
                    <a16:creationId xmlns:a16="http://schemas.microsoft.com/office/drawing/2014/main" id="{0B5C303C-AF38-5753-E50A-FA88E38E818C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4847905" y="3265111"/>
                <a:ext cx="575249" cy="400110"/>
              </a:xfrm>
              <a:prstGeom prst="rect">
                <a:avLst/>
              </a:prstGeom>
              <a:blipFill>
                <a:blip r:embed="rId12"/>
                <a:stretch>
                  <a:fillRect/>
                </a:stretch>
              </a:blipFill>
            </p:spPr>
            <p:txBody>
              <a:bodyPr/>
              <a:lstStyle/>
              <a:p>
                <a:r>
                  <a:rPr lang="zh-TW" altLang="en-US">
                    <a:noFill/>
                  </a:rPr>
                  <a:t> </a:t>
                </a:r>
              </a:p>
            </p:txBody>
          </p:sp>
        </mc:Fallback>
      </mc:AlternateContent>
      <p:sp>
        <p:nvSpPr>
          <p:cNvPr id="38" name="圓角矩形 37">
            <a:extLst>
              <a:ext uri="{FF2B5EF4-FFF2-40B4-BE49-F238E27FC236}">
                <a16:creationId xmlns:a16="http://schemas.microsoft.com/office/drawing/2014/main" id="{664B9C6A-0C19-FFEF-FF28-6FD9D2E6BEF2}"/>
              </a:ext>
            </a:extLst>
          </p:cNvPr>
          <p:cNvSpPr/>
          <p:nvPr/>
        </p:nvSpPr>
        <p:spPr>
          <a:xfrm>
            <a:off x="6264739" y="4320356"/>
            <a:ext cx="233876" cy="403124"/>
          </a:xfrm>
          <a:prstGeom prst="roundRect">
            <a:avLst/>
          </a:prstGeom>
          <a:noFill/>
          <a:ln w="38100">
            <a:solidFill>
              <a:srgbClr val="FF0000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kumimoji="1" lang="zh-TW" altLang="en-US"/>
          </a:p>
        </p:txBody>
      </p:sp>
      <p:sp>
        <p:nvSpPr>
          <p:cNvPr id="39" name="圓角矩形 38">
            <a:extLst>
              <a:ext uri="{FF2B5EF4-FFF2-40B4-BE49-F238E27FC236}">
                <a16:creationId xmlns:a16="http://schemas.microsoft.com/office/drawing/2014/main" id="{BE0BAEBA-C531-8EC2-58C2-B7F12442454B}"/>
              </a:ext>
            </a:extLst>
          </p:cNvPr>
          <p:cNvSpPr/>
          <p:nvPr/>
        </p:nvSpPr>
        <p:spPr>
          <a:xfrm>
            <a:off x="2020773" y="3930616"/>
            <a:ext cx="343791" cy="864699"/>
          </a:xfrm>
          <a:prstGeom prst="roundRect">
            <a:avLst/>
          </a:prstGeom>
          <a:noFill/>
          <a:ln>
            <a:solidFill>
              <a:srgbClr val="FF0000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kumimoji="1" lang="zh-TW" altLang="en-US"/>
          </a:p>
        </p:txBody>
      </p:sp>
      <p:sp>
        <p:nvSpPr>
          <p:cNvPr id="40" name="圓角矩形 39">
            <a:extLst>
              <a:ext uri="{FF2B5EF4-FFF2-40B4-BE49-F238E27FC236}">
                <a16:creationId xmlns:a16="http://schemas.microsoft.com/office/drawing/2014/main" id="{106F42A0-03FB-06AA-3461-F479DD3A6EAA}"/>
              </a:ext>
            </a:extLst>
          </p:cNvPr>
          <p:cNvSpPr/>
          <p:nvPr/>
        </p:nvSpPr>
        <p:spPr>
          <a:xfrm>
            <a:off x="2968706" y="3930616"/>
            <a:ext cx="343791" cy="864699"/>
          </a:xfrm>
          <a:prstGeom prst="roundRect">
            <a:avLst/>
          </a:prstGeom>
          <a:noFill/>
          <a:ln>
            <a:solidFill>
              <a:srgbClr val="FF0000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kumimoji="1" lang="zh-TW" altLang="en-US"/>
          </a:p>
        </p:txBody>
      </p:sp>
      <p:sp>
        <p:nvSpPr>
          <p:cNvPr id="42" name="圓角矩形 41">
            <a:extLst>
              <a:ext uri="{FF2B5EF4-FFF2-40B4-BE49-F238E27FC236}">
                <a16:creationId xmlns:a16="http://schemas.microsoft.com/office/drawing/2014/main" id="{A816B909-52B0-8E8D-965E-33137A332699}"/>
              </a:ext>
            </a:extLst>
          </p:cNvPr>
          <p:cNvSpPr/>
          <p:nvPr/>
        </p:nvSpPr>
        <p:spPr>
          <a:xfrm>
            <a:off x="3990149" y="3930616"/>
            <a:ext cx="343791" cy="864699"/>
          </a:xfrm>
          <a:prstGeom prst="roundRect">
            <a:avLst/>
          </a:prstGeom>
          <a:noFill/>
          <a:ln>
            <a:solidFill>
              <a:srgbClr val="FF0000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kumimoji="1" lang="zh-TW" altLang="en-US"/>
          </a:p>
        </p:txBody>
      </p:sp>
      <p:sp>
        <p:nvSpPr>
          <p:cNvPr id="43" name="圓角矩形 42">
            <a:extLst>
              <a:ext uri="{FF2B5EF4-FFF2-40B4-BE49-F238E27FC236}">
                <a16:creationId xmlns:a16="http://schemas.microsoft.com/office/drawing/2014/main" id="{890BADA3-5CD5-5D99-958F-B8E25DC90680}"/>
              </a:ext>
            </a:extLst>
          </p:cNvPr>
          <p:cNvSpPr/>
          <p:nvPr/>
        </p:nvSpPr>
        <p:spPr>
          <a:xfrm>
            <a:off x="4971597" y="3930616"/>
            <a:ext cx="343791" cy="864699"/>
          </a:xfrm>
          <a:prstGeom prst="roundRect">
            <a:avLst/>
          </a:prstGeom>
          <a:noFill/>
          <a:ln>
            <a:solidFill>
              <a:srgbClr val="FF0000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kumimoji="1" lang="zh-TW" altLang="en-US"/>
          </a:p>
        </p:txBody>
      </p:sp>
      <p:sp>
        <p:nvSpPr>
          <p:cNvPr id="49" name="圓角矩形 48">
            <a:extLst>
              <a:ext uri="{FF2B5EF4-FFF2-40B4-BE49-F238E27FC236}">
                <a16:creationId xmlns:a16="http://schemas.microsoft.com/office/drawing/2014/main" id="{32F2BB0D-047A-9414-8C93-ABC316A12BC5}"/>
              </a:ext>
            </a:extLst>
          </p:cNvPr>
          <p:cNvSpPr/>
          <p:nvPr/>
        </p:nvSpPr>
        <p:spPr>
          <a:xfrm>
            <a:off x="3024614" y="2596981"/>
            <a:ext cx="249382" cy="534390"/>
          </a:xfrm>
          <a:prstGeom prst="roundRect">
            <a:avLst/>
          </a:prstGeom>
          <a:solidFill>
            <a:schemeClr val="bg1">
              <a:lumMod val="75000"/>
            </a:schemeClr>
          </a:solidFill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kumimoji="1" lang="zh-TW" altLang="en-US" dirty="0">
              <a:solidFill>
                <a:schemeClr val="tx1"/>
              </a:solidFill>
              <a:latin typeface="Cambria Math" panose="02040503050406030204" pitchFamily="18" charset="0"/>
            </a:endParaRPr>
          </a:p>
        </p:txBody>
      </p:sp>
      <p:sp>
        <p:nvSpPr>
          <p:cNvPr id="51" name="文字方塊 50">
            <a:extLst>
              <a:ext uri="{FF2B5EF4-FFF2-40B4-BE49-F238E27FC236}">
                <a16:creationId xmlns:a16="http://schemas.microsoft.com/office/drawing/2014/main" id="{AA6B49E8-04C7-FC39-5775-D5E6E7A9CA49}"/>
              </a:ext>
            </a:extLst>
          </p:cNvPr>
          <p:cNvSpPr txBox="1"/>
          <p:nvPr/>
        </p:nvSpPr>
        <p:spPr>
          <a:xfrm>
            <a:off x="2100046" y="2608210"/>
            <a:ext cx="949308" cy="52322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kumimoji="1" lang="en-US" altLang="zh-TW" sz="1400" dirty="0"/>
              <a:t>Context vector</a:t>
            </a:r>
            <a:endParaRPr kumimoji="1" lang="zh-TW" altLang="en-US" sz="1400" dirty="0"/>
          </a:p>
        </p:txBody>
      </p:sp>
      <mc:AlternateContent xmlns:mc="http://schemas.openxmlformats.org/markup-compatibility/2006" xmlns:a14="http://schemas.microsoft.com/office/drawing/2010/main">
        <mc:Choice Requires="a14">
          <p:sp>
            <p:nvSpPr>
              <p:cNvPr id="54" name="文字方塊 53">
                <a:extLst>
                  <a:ext uri="{FF2B5EF4-FFF2-40B4-BE49-F238E27FC236}">
                    <a16:creationId xmlns:a16="http://schemas.microsoft.com/office/drawing/2014/main" id="{E520D0E5-F80A-CCE4-FE34-A09BB04FD1DD}"/>
                  </a:ext>
                </a:extLst>
              </p:cNvPr>
              <p:cNvSpPr txBox="1"/>
              <p:nvPr/>
            </p:nvSpPr>
            <p:spPr>
              <a:xfrm>
                <a:off x="2315189" y="1717555"/>
                <a:ext cx="1443729" cy="756233"/>
              </a:xfrm>
              <a:prstGeom prst="rect">
                <a:avLst/>
              </a:prstGeom>
              <a:noFill/>
            </p:spPr>
            <p:txBody>
              <a:bodyPr wrap="none" lIns="0" tIns="0" rIns="0" bIns="0" rtlCol="0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sSub>
                        <m:sSubPr>
                          <m:ctrlPr>
                            <a:rPr lang="zh-TW" altLang="zh-TW" i="1" smtClean="0">
                              <a:solidFill>
                                <a:schemeClr val="tx1"/>
                              </a:solidFill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a:rPr lang="en-US" altLang="zh-TW" i="1">
                              <a:solidFill>
                                <a:schemeClr val="tx1"/>
                              </a:solidFill>
                              <a:latin typeface="Cambria Math" panose="02040503050406030204" pitchFamily="18" charset="0"/>
                            </a:rPr>
                            <m:t>𝑐</m:t>
                          </m:r>
                        </m:e>
                        <m:sub>
                          <m:r>
                            <a:rPr lang="en-US" altLang="zh-TW" b="0" i="1" smtClean="0">
                              <a:solidFill>
                                <a:schemeClr val="tx1"/>
                              </a:solidFill>
                              <a:latin typeface="Cambria Math" panose="02040503050406030204" pitchFamily="18" charset="0"/>
                            </a:rPr>
                            <m:t>2</m:t>
                          </m:r>
                        </m:sub>
                      </m:sSub>
                      <m:r>
                        <a:rPr lang="en-US" altLang="zh-TW" i="1">
                          <a:solidFill>
                            <a:schemeClr val="tx1"/>
                          </a:solidFill>
                          <a:latin typeface="Cambria Math" panose="02040503050406030204" pitchFamily="18" charset="0"/>
                        </a:rPr>
                        <m:t>=</m:t>
                      </m:r>
                      <m:nary>
                        <m:naryPr>
                          <m:chr m:val="∑"/>
                          <m:limLoc m:val="undOvr"/>
                          <m:ctrlPr>
                            <a:rPr lang="zh-TW" altLang="zh-TW" i="1">
                              <a:solidFill>
                                <a:schemeClr val="tx1"/>
                              </a:solidFill>
                              <a:latin typeface="Cambria Math" panose="02040503050406030204" pitchFamily="18" charset="0"/>
                            </a:rPr>
                          </m:ctrlPr>
                        </m:naryPr>
                        <m:sub>
                          <m:r>
                            <a:rPr lang="en-US" altLang="zh-TW" i="1">
                              <a:solidFill>
                                <a:schemeClr val="tx1"/>
                              </a:solidFill>
                              <a:latin typeface="Cambria Math" panose="02040503050406030204" pitchFamily="18" charset="0"/>
                            </a:rPr>
                            <m:t>𝑖</m:t>
                          </m:r>
                          <m:r>
                            <a:rPr lang="en-US" altLang="zh-TW" i="1">
                              <a:solidFill>
                                <a:schemeClr val="tx1"/>
                              </a:solidFill>
                              <a:latin typeface="Cambria Math" panose="02040503050406030204" pitchFamily="18" charset="0"/>
                            </a:rPr>
                            <m:t>=1</m:t>
                          </m:r>
                        </m:sub>
                        <m:sup>
                          <m:r>
                            <a:rPr lang="en-US" altLang="zh-TW" i="1">
                              <a:solidFill>
                                <a:schemeClr val="tx1"/>
                              </a:solidFill>
                              <a:latin typeface="Cambria Math" panose="02040503050406030204" pitchFamily="18" charset="0"/>
                            </a:rPr>
                            <m:t>𝑛</m:t>
                          </m:r>
                        </m:sup>
                        <m:e>
                          <m:sSub>
                            <m:sSubPr>
                              <m:ctrlPr>
                                <a:rPr lang="zh-TW" altLang="zh-TW" i="1">
                                  <a:solidFill>
                                    <a:schemeClr val="tx1"/>
                                  </a:solidFill>
                                  <a:latin typeface="Cambria Math" panose="02040503050406030204" pitchFamily="18" charset="0"/>
                                </a:rPr>
                              </m:ctrlPr>
                            </m:sSubPr>
                            <m:e>
                              <m:r>
                                <a:rPr lang="en-US" altLang="zh-TW" i="1">
                                  <a:solidFill>
                                    <a:schemeClr val="tx1"/>
                                  </a:solidFill>
                                  <a:latin typeface="Cambria Math" panose="02040503050406030204" pitchFamily="18" charset="0"/>
                                </a:rPr>
                                <m:t>𝛼</m:t>
                              </m:r>
                            </m:e>
                            <m:sub>
                              <m:r>
                                <a:rPr lang="en-US" altLang="zh-TW" b="0" i="1" smtClean="0">
                                  <a:solidFill>
                                    <a:schemeClr val="tx1"/>
                                  </a:solidFill>
                                  <a:latin typeface="Cambria Math" panose="02040503050406030204" pitchFamily="18" charset="0"/>
                                </a:rPr>
                                <m:t>2</m:t>
                              </m:r>
                              <m:r>
                                <a:rPr lang="en-US" altLang="zh-TW" i="1">
                                  <a:solidFill>
                                    <a:schemeClr val="tx1"/>
                                  </a:solidFill>
                                  <a:latin typeface="Cambria Math" panose="02040503050406030204" pitchFamily="18" charset="0"/>
                                </a:rPr>
                                <m:t>𝑖</m:t>
                              </m:r>
                            </m:sub>
                          </m:sSub>
                          <m:sSub>
                            <m:sSubPr>
                              <m:ctrlPr>
                                <a:rPr lang="zh-TW" altLang="zh-TW" i="1">
                                  <a:solidFill>
                                    <a:schemeClr val="tx1"/>
                                  </a:solidFill>
                                  <a:latin typeface="Cambria Math" panose="02040503050406030204" pitchFamily="18" charset="0"/>
                                </a:rPr>
                              </m:ctrlPr>
                            </m:sSubPr>
                            <m:e>
                              <m:r>
                                <a:rPr lang="en-US" altLang="zh-TW" i="1">
                                  <a:solidFill>
                                    <a:schemeClr val="tx1"/>
                                  </a:solidFill>
                                  <a:latin typeface="Cambria Math" panose="02040503050406030204" pitchFamily="18" charset="0"/>
                                </a:rPr>
                                <m:t>h</m:t>
                              </m:r>
                            </m:e>
                            <m:sub>
                              <m:r>
                                <a:rPr lang="en-US" altLang="zh-TW" i="1">
                                  <a:solidFill>
                                    <a:schemeClr val="tx1"/>
                                  </a:solidFill>
                                  <a:latin typeface="Cambria Math" panose="02040503050406030204" pitchFamily="18" charset="0"/>
                                </a:rPr>
                                <m:t>𝑡</m:t>
                              </m:r>
                            </m:sub>
                          </m:sSub>
                        </m:e>
                      </m:nary>
                    </m:oMath>
                  </m:oMathPara>
                </a14:m>
                <a:endParaRPr lang="zh-TW" altLang="zh-TW" dirty="0">
                  <a:solidFill>
                    <a:schemeClr val="tx1"/>
                  </a:solidFill>
                </a:endParaRPr>
              </a:p>
            </p:txBody>
          </p:sp>
        </mc:Choice>
        <mc:Fallback xmlns="">
          <p:sp>
            <p:nvSpPr>
              <p:cNvPr id="54" name="文字方塊 53">
                <a:extLst>
                  <a:ext uri="{FF2B5EF4-FFF2-40B4-BE49-F238E27FC236}">
                    <a16:creationId xmlns:a16="http://schemas.microsoft.com/office/drawing/2014/main" id="{E520D0E5-F80A-CCE4-FE34-A09BB04FD1DD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2315189" y="1717555"/>
                <a:ext cx="1443729" cy="756233"/>
              </a:xfrm>
              <a:prstGeom prst="rect">
                <a:avLst/>
              </a:prstGeom>
              <a:blipFill>
                <a:blip r:embed="rId13"/>
                <a:stretch>
                  <a:fillRect l="-22609" t="-120000" b="-180000"/>
                </a:stretch>
              </a:blipFill>
            </p:spPr>
            <p:txBody>
              <a:bodyPr/>
              <a:lstStyle/>
              <a:p>
                <a:r>
                  <a:rPr lang="zh-TW" altLang="en-US">
                    <a:noFill/>
                  </a:rPr>
                  <a:t> </a:t>
                </a:r>
              </a:p>
            </p:txBody>
          </p:sp>
        </mc:Fallback>
      </mc:AlternateContent>
      <p:cxnSp>
        <p:nvCxnSpPr>
          <p:cNvPr id="96" name="直線箭頭接點 95">
            <a:extLst>
              <a:ext uri="{FF2B5EF4-FFF2-40B4-BE49-F238E27FC236}">
                <a16:creationId xmlns:a16="http://schemas.microsoft.com/office/drawing/2014/main" id="{5A547A06-8F75-16EB-988C-5058DA705A93}"/>
              </a:ext>
            </a:extLst>
          </p:cNvPr>
          <p:cNvCxnSpPr>
            <a:cxnSpLocks/>
          </p:cNvCxnSpPr>
          <p:nvPr/>
        </p:nvCxnSpPr>
        <p:spPr>
          <a:xfrm flipV="1">
            <a:off x="6397832" y="3115478"/>
            <a:ext cx="0" cy="248679"/>
          </a:xfrm>
          <a:prstGeom prst="straightConnector1">
            <a:avLst/>
          </a:prstGeom>
          <a:ln>
            <a:solidFill>
              <a:schemeClr val="tx1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97" name="文字方塊 96">
            <a:extLst>
              <a:ext uri="{FF2B5EF4-FFF2-40B4-BE49-F238E27FC236}">
                <a16:creationId xmlns:a16="http://schemas.microsoft.com/office/drawing/2014/main" id="{7EBAD02F-4B53-52B0-0F8E-DF702000A7CF}"/>
              </a:ext>
            </a:extLst>
          </p:cNvPr>
          <p:cNvSpPr txBox="1"/>
          <p:nvPr/>
        </p:nvSpPr>
        <p:spPr>
          <a:xfrm>
            <a:off x="6041303" y="2609788"/>
            <a:ext cx="719605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kumimoji="1" lang="en-US" altLang="zh-TW" dirty="0"/>
              <a:t>I</a:t>
            </a:r>
            <a:endParaRPr kumimoji="1" lang="zh-TW" altLang="en-US" dirty="0"/>
          </a:p>
        </p:txBody>
      </p:sp>
      <p:sp>
        <p:nvSpPr>
          <p:cNvPr id="99" name="矩形 98">
            <a:extLst>
              <a:ext uri="{FF2B5EF4-FFF2-40B4-BE49-F238E27FC236}">
                <a16:creationId xmlns:a16="http://schemas.microsoft.com/office/drawing/2014/main" id="{000C1764-FD36-D330-F515-ECE8033480FF}"/>
              </a:ext>
            </a:extLst>
          </p:cNvPr>
          <p:cNvSpPr/>
          <p:nvPr/>
        </p:nvSpPr>
        <p:spPr>
          <a:xfrm>
            <a:off x="6097363" y="3517941"/>
            <a:ext cx="575253" cy="379818"/>
          </a:xfrm>
          <a:prstGeom prst="rect">
            <a:avLst/>
          </a:prstGeom>
          <a:noFill/>
          <a:ln>
            <a:solidFill>
              <a:schemeClr val="tx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kumimoji="1" lang="en-US" altLang="zh-TW" sz="1100" dirty="0">
                <a:solidFill>
                  <a:schemeClr val="tx1"/>
                </a:solidFill>
              </a:rPr>
              <a:t>Linear</a:t>
            </a:r>
            <a:endParaRPr kumimoji="1" lang="zh-TW" altLang="en-US" sz="1100" dirty="0">
              <a:solidFill>
                <a:schemeClr val="tx1"/>
              </a:solidFill>
            </a:endParaRPr>
          </a:p>
        </p:txBody>
      </p:sp>
    </p:spTree>
    <p:extLst>
      <p:ext uri="{BB962C8B-B14F-4D97-AF65-F5344CB8AC3E}">
        <p14:creationId xmlns:p14="http://schemas.microsoft.com/office/powerpoint/2010/main" val="2605557650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7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9" fill="hold">
                      <p:stCondLst>
                        <p:cond delay="indefinite"/>
                      </p:stCondLst>
                      <p:childTnLst>
                        <p:par>
                          <p:cTn id="10" fill="hold">
                            <p:stCondLst>
                              <p:cond delay="0"/>
                            </p:stCondLst>
                            <p:childTnLst>
                              <p:par>
                                <p:cTn id="11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" presetClass="exit" presetSubtype="0" fill="hold" grpId="1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7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9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1" fill="hold">
                      <p:stCondLst>
                        <p:cond delay="indefinite"/>
                      </p:stCondLst>
                      <p:childTnLst>
                        <p:par>
                          <p:cTn id="22" fill="hold">
                            <p:stCondLst>
                              <p:cond delay="0"/>
                            </p:stCondLst>
                            <p:childTnLst>
                              <p:par>
                                <p:cTn id="23" presetID="1" presetClass="exit" presetSubtype="0" fill="hold" grpId="1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25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27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9" fill="hold">
                      <p:stCondLst>
                        <p:cond delay="indefinite"/>
                      </p:stCondLst>
                      <p:childTnLst>
                        <p:par>
                          <p:cTn id="30" fill="hold">
                            <p:stCondLst>
                              <p:cond delay="0"/>
                            </p:stCondLst>
                            <p:childTnLst>
                              <p:par>
                                <p:cTn id="31" presetID="1" presetClass="exit" presetSubtype="0" fill="hold" grpId="1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33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35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7" fill="hold">
                      <p:stCondLst>
                        <p:cond delay="indefinite"/>
                      </p:stCondLst>
                      <p:childTnLst>
                        <p:par>
                          <p:cTn id="38" fill="hold">
                            <p:stCondLst>
                              <p:cond delay="0"/>
                            </p:stCondLst>
                            <p:childTnLst>
                              <p:par>
                                <p:cTn id="39" presetID="1" presetClass="exit" presetSubtype="0" fill="hold" grpId="1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41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43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5" fill="hold">
                      <p:stCondLst>
                        <p:cond delay="indefinite"/>
                      </p:stCondLst>
                      <p:childTnLst>
                        <p:par>
                          <p:cTn id="46" fill="hold">
                            <p:stCondLst>
                              <p:cond delay="0"/>
                            </p:stCondLst>
                            <p:childTnLst>
                              <p:par>
                                <p:cTn id="47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49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51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7" grpId="0" animBg="1"/>
      <p:bldP spid="7" grpId="1" animBg="1"/>
      <p:bldP spid="10" grpId="0"/>
      <p:bldP spid="12" grpId="0"/>
      <p:bldP spid="13" grpId="0"/>
      <p:bldP spid="33" grpId="0"/>
      <p:bldP spid="34" grpId="0"/>
      <p:bldP spid="38" grpId="0" animBg="1"/>
      <p:bldP spid="39" grpId="0" animBg="1"/>
      <p:bldP spid="39" grpId="1" animBg="1"/>
      <p:bldP spid="40" grpId="0" animBg="1"/>
      <p:bldP spid="40" grpId="1" animBg="1"/>
      <p:bldP spid="42" grpId="0" animBg="1"/>
      <p:bldP spid="42" grpId="1" animBg="1"/>
      <p:bldP spid="43" grpId="0" animBg="1"/>
      <p:bldP spid="49" grpId="0" animBg="1"/>
      <p:bldP spid="51" grpId="0"/>
      <p:bldP spid="54" grpId="0"/>
    </p:bldLst>
  </p:timing>
</p:sld>
</file>

<file path=ppt/slides/slide4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06BCC86A-7648-F737-AC03-7C4F91A5F906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標題 1">
            <a:extLst>
              <a:ext uri="{FF2B5EF4-FFF2-40B4-BE49-F238E27FC236}">
                <a16:creationId xmlns:a16="http://schemas.microsoft.com/office/drawing/2014/main" id="{FBF914C9-089C-427A-A15B-8FA6ADF40811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>
            <a:normAutofit/>
          </a:bodyPr>
          <a:lstStyle/>
          <a:p>
            <a:r>
              <a:rPr kumimoji="1" lang="zh-TW" altLang="en-US" dirty="0"/>
              <a:t>機器翻譯 </a:t>
            </a:r>
            <a:r>
              <a:rPr kumimoji="1" lang="en-US" altLang="zh-TW" dirty="0"/>
              <a:t>(with Attention, t = 3)</a:t>
            </a:r>
            <a:endParaRPr kumimoji="1" lang="zh-TW" altLang="en-US" dirty="0"/>
          </a:p>
        </p:txBody>
      </p:sp>
      <p:sp>
        <p:nvSpPr>
          <p:cNvPr id="41" name="圓角矩形 40">
            <a:extLst>
              <a:ext uri="{FF2B5EF4-FFF2-40B4-BE49-F238E27FC236}">
                <a16:creationId xmlns:a16="http://schemas.microsoft.com/office/drawing/2014/main" id="{75AC3A14-B87E-1142-2B61-B7AA3C603C05}"/>
              </a:ext>
            </a:extLst>
          </p:cNvPr>
          <p:cNvSpPr/>
          <p:nvPr/>
        </p:nvSpPr>
        <p:spPr>
          <a:xfrm rot="5400000">
            <a:off x="1041463" y="4064110"/>
            <a:ext cx="372490" cy="207951"/>
          </a:xfrm>
          <a:prstGeom prst="roundRect">
            <a:avLst/>
          </a:prstGeom>
          <a:solidFill>
            <a:schemeClr val="accent5">
              <a:lumMod val="40000"/>
              <a:lumOff val="60000"/>
            </a:schemeClr>
          </a:solidFill>
          <a:ln w="19050">
            <a:solidFill>
              <a:schemeClr val="tx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kumimoji="1" lang="zh-TW" altLang="en-US"/>
          </a:p>
        </p:txBody>
      </p:sp>
      <p:sp>
        <p:nvSpPr>
          <p:cNvPr id="3" name="投影片編號版面配置區 2">
            <a:extLst>
              <a:ext uri="{FF2B5EF4-FFF2-40B4-BE49-F238E27FC236}">
                <a16:creationId xmlns:a16="http://schemas.microsoft.com/office/drawing/2014/main" id="{753DEB15-94BD-2A1B-7A1A-E3EDFD955730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9091681C-F638-B044-A8F2-A1B9864D5A40}" type="slidenum">
              <a:rPr kumimoji="1" lang="zh-TW" altLang="en-US" smtClean="0"/>
              <a:t>49</a:t>
            </a:fld>
            <a:endParaRPr kumimoji="1" lang="zh-TW" altLang="en-US"/>
          </a:p>
        </p:txBody>
      </p:sp>
      <p:cxnSp>
        <p:nvCxnSpPr>
          <p:cNvPr id="36" name="直線接點 35">
            <a:extLst>
              <a:ext uri="{FF2B5EF4-FFF2-40B4-BE49-F238E27FC236}">
                <a16:creationId xmlns:a16="http://schemas.microsoft.com/office/drawing/2014/main" id="{F0237EC1-79C7-5910-F94F-844C2EAFAD09}"/>
              </a:ext>
            </a:extLst>
          </p:cNvPr>
          <p:cNvCxnSpPr/>
          <p:nvPr/>
        </p:nvCxnSpPr>
        <p:spPr>
          <a:xfrm>
            <a:off x="5632911" y="2553196"/>
            <a:ext cx="0" cy="2658906"/>
          </a:xfrm>
          <a:prstGeom prst="line">
            <a:avLst/>
          </a:prstGeom>
          <a:ln w="12700">
            <a:solidFill>
              <a:schemeClr val="tx1"/>
            </a:solidFill>
            <a:prstDash val="dash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45" name="直線箭頭接點 44">
            <a:extLst>
              <a:ext uri="{FF2B5EF4-FFF2-40B4-BE49-F238E27FC236}">
                <a16:creationId xmlns:a16="http://schemas.microsoft.com/office/drawing/2014/main" id="{CADF65C9-5550-3019-EB5C-6AC5CF1CCE6E}"/>
              </a:ext>
            </a:extLst>
          </p:cNvPr>
          <p:cNvCxnSpPr>
            <a:cxnSpLocks/>
          </p:cNvCxnSpPr>
          <p:nvPr/>
        </p:nvCxnSpPr>
        <p:spPr>
          <a:xfrm flipH="1">
            <a:off x="1503108" y="4232235"/>
            <a:ext cx="398514" cy="0"/>
          </a:xfrm>
          <a:prstGeom prst="straightConnector1">
            <a:avLst/>
          </a:prstGeom>
          <a:ln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11" name="圓角矩形 10">
            <a:extLst>
              <a:ext uri="{FF2B5EF4-FFF2-40B4-BE49-F238E27FC236}">
                <a16:creationId xmlns:a16="http://schemas.microsoft.com/office/drawing/2014/main" id="{E7D4982C-7C15-E182-B5D4-6AF4871B0075}"/>
              </a:ext>
            </a:extLst>
          </p:cNvPr>
          <p:cNvSpPr/>
          <p:nvPr/>
        </p:nvSpPr>
        <p:spPr>
          <a:xfrm rot="5400000">
            <a:off x="1041463" y="4445564"/>
            <a:ext cx="372490" cy="207951"/>
          </a:xfrm>
          <a:prstGeom prst="roundRect">
            <a:avLst/>
          </a:prstGeom>
          <a:solidFill>
            <a:schemeClr val="accent5">
              <a:lumMod val="40000"/>
              <a:lumOff val="60000"/>
            </a:schemeClr>
          </a:solidFill>
          <a:ln w="19050">
            <a:solidFill>
              <a:schemeClr val="tx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kumimoji="1" lang="zh-TW" altLang="en-US"/>
          </a:p>
        </p:txBody>
      </p:sp>
      <p:cxnSp>
        <p:nvCxnSpPr>
          <p:cNvPr id="15" name="直線箭頭接點 14">
            <a:extLst>
              <a:ext uri="{FF2B5EF4-FFF2-40B4-BE49-F238E27FC236}">
                <a16:creationId xmlns:a16="http://schemas.microsoft.com/office/drawing/2014/main" id="{11162C03-E4F5-3759-6175-D7E4583391E5}"/>
              </a:ext>
            </a:extLst>
          </p:cNvPr>
          <p:cNvCxnSpPr>
            <a:cxnSpLocks/>
          </p:cNvCxnSpPr>
          <p:nvPr/>
        </p:nvCxnSpPr>
        <p:spPr>
          <a:xfrm>
            <a:off x="1524880" y="4544055"/>
            <a:ext cx="398515" cy="0"/>
          </a:xfrm>
          <a:prstGeom prst="straightConnector1">
            <a:avLst/>
          </a:prstGeom>
          <a:ln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26" name="直線箭頭接點 25">
            <a:extLst>
              <a:ext uri="{FF2B5EF4-FFF2-40B4-BE49-F238E27FC236}">
                <a16:creationId xmlns:a16="http://schemas.microsoft.com/office/drawing/2014/main" id="{4356034F-4F40-2DC5-895E-E14D0BE7BB9A}"/>
              </a:ext>
            </a:extLst>
          </p:cNvPr>
          <p:cNvCxnSpPr>
            <a:cxnSpLocks/>
          </p:cNvCxnSpPr>
          <p:nvPr/>
        </p:nvCxnSpPr>
        <p:spPr>
          <a:xfrm>
            <a:off x="2467974" y="4544055"/>
            <a:ext cx="398515" cy="0"/>
          </a:xfrm>
          <a:prstGeom prst="straightConnector1">
            <a:avLst/>
          </a:prstGeom>
          <a:ln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27" name="直線箭頭接點 26">
            <a:extLst>
              <a:ext uri="{FF2B5EF4-FFF2-40B4-BE49-F238E27FC236}">
                <a16:creationId xmlns:a16="http://schemas.microsoft.com/office/drawing/2014/main" id="{043F507E-884A-14A8-2F7D-17AC6A867B38}"/>
              </a:ext>
            </a:extLst>
          </p:cNvPr>
          <p:cNvCxnSpPr>
            <a:cxnSpLocks/>
          </p:cNvCxnSpPr>
          <p:nvPr/>
        </p:nvCxnSpPr>
        <p:spPr>
          <a:xfrm>
            <a:off x="3426184" y="4544055"/>
            <a:ext cx="398515" cy="0"/>
          </a:xfrm>
          <a:prstGeom prst="straightConnector1">
            <a:avLst/>
          </a:prstGeom>
          <a:ln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28" name="直線箭頭接點 27">
            <a:extLst>
              <a:ext uri="{FF2B5EF4-FFF2-40B4-BE49-F238E27FC236}">
                <a16:creationId xmlns:a16="http://schemas.microsoft.com/office/drawing/2014/main" id="{0BE6EDA1-B7B0-6950-F079-2AF6197020BC}"/>
              </a:ext>
            </a:extLst>
          </p:cNvPr>
          <p:cNvCxnSpPr>
            <a:cxnSpLocks/>
          </p:cNvCxnSpPr>
          <p:nvPr/>
        </p:nvCxnSpPr>
        <p:spPr>
          <a:xfrm>
            <a:off x="4419904" y="4544055"/>
            <a:ext cx="398515" cy="0"/>
          </a:xfrm>
          <a:prstGeom prst="straightConnector1">
            <a:avLst/>
          </a:prstGeom>
          <a:ln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29" name="直線箭頭接點 28">
            <a:extLst>
              <a:ext uri="{FF2B5EF4-FFF2-40B4-BE49-F238E27FC236}">
                <a16:creationId xmlns:a16="http://schemas.microsoft.com/office/drawing/2014/main" id="{D68497B8-8C65-8141-9F5C-6140E0828F75}"/>
              </a:ext>
            </a:extLst>
          </p:cNvPr>
          <p:cNvCxnSpPr>
            <a:cxnSpLocks/>
          </p:cNvCxnSpPr>
          <p:nvPr/>
        </p:nvCxnSpPr>
        <p:spPr>
          <a:xfrm flipH="1">
            <a:off x="2457088" y="4232235"/>
            <a:ext cx="398514" cy="0"/>
          </a:xfrm>
          <a:prstGeom prst="straightConnector1">
            <a:avLst/>
          </a:prstGeom>
          <a:ln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30" name="直線箭頭接點 29">
            <a:extLst>
              <a:ext uri="{FF2B5EF4-FFF2-40B4-BE49-F238E27FC236}">
                <a16:creationId xmlns:a16="http://schemas.microsoft.com/office/drawing/2014/main" id="{D21DD11B-7E1E-BD88-6E26-15DC023FDB22}"/>
              </a:ext>
            </a:extLst>
          </p:cNvPr>
          <p:cNvCxnSpPr>
            <a:cxnSpLocks/>
          </p:cNvCxnSpPr>
          <p:nvPr/>
        </p:nvCxnSpPr>
        <p:spPr>
          <a:xfrm flipH="1">
            <a:off x="3415531" y="4232235"/>
            <a:ext cx="398514" cy="0"/>
          </a:xfrm>
          <a:prstGeom prst="straightConnector1">
            <a:avLst/>
          </a:prstGeom>
          <a:ln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31" name="直線箭頭接點 30">
            <a:extLst>
              <a:ext uri="{FF2B5EF4-FFF2-40B4-BE49-F238E27FC236}">
                <a16:creationId xmlns:a16="http://schemas.microsoft.com/office/drawing/2014/main" id="{BA819FC6-4DE2-D753-6BF4-699FD623CBAE}"/>
              </a:ext>
            </a:extLst>
          </p:cNvPr>
          <p:cNvCxnSpPr>
            <a:cxnSpLocks/>
          </p:cNvCxnSpPr>
          <p:nvPr/>
        </p:nvCxnSpPr>
        <p:spPr>
          <a:xfrm flipH="1">
            <a:off x="4398132" y="4232235"/>
            <a:ext cx="398514" cy="0"/>
          </a:xfrm>
          <a:prstGeom prst="straightConnector1">
            <a:avLst/>
          </a:prstGeom>
          <a:ln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mc:AlternateContent xmlns:mc="http://schemas.openxmlformats.org/markup-compatibility/2006" xmlns:a14="http://schemas.microsoft.com/office/drawing/2010/main">
        <mc:Choice Requires="a14">
          <p:sp>
            <p:nvSpPr>
              <p:cNvPr id="35" name="文字方塊 34">
                <a:extLst>
                  <a:ext uri="{FF2B5EF4-FFF2-40B4-BE49-F238E27FC236}">
                    <a16:creationId xmlns:a16="http://schemas.microsoft.com/office/drawing/2014/main" id="{B9289712-839E-74FE-0D78-263EBE951B3D}"/>
                  </a:ext>
                </a:extLst>
              </p:cNvPr>
              <p:cNvSpPr txBox="1"/>
              <p:nvPr/>
            </p:nvSpPr>
            <p:spPr>
              <a:xfrm>
                <a:off x="543259" y="1378420"/>
                <a:ext cx="1618744" cy="518860"/>
              </a:xfrm>
              <a:prstGeom prst="rect">
                <a:avLst/>
              </a:prstGeom>
              <a:noFill/>
            </p:spPr>
            <p:txBody>
              <a:bodyPr wrap="square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acc>
                        <m:accPr>
                          <m:chr m:val="⃗"/>
                          <m:ctrlPr>
                            <a:rPr lang="zh-TW" altLang="en-US" i="1" smtClean="0">
                              <a:latin typeface="Cambria Math" panose="02040503050406030204" pitchFamily="18" charset="0"/>
                            </a:rPr>
                          </m:ctrlPr>
                        </m:accPr>
                        <m:e>
                          <m:sSub>
                            <m:sSubPr>
                              <m:ctrlPr>
                                <a:rPr lang="zh-TW" altLang="en-US" i="1">
                                  <a:latin typeface="Cambria Math" panose="02040503050406030204" pitchFamily="18" charset="0"/>
                                </a:rPr>
                              </m:ctrlPr>
                            </m:sSubPr>
                            <m:e>
                              <m:r>
                                <a:rPr lang="zh-TW" altLang="en-US" i="1">
                                  <a:latin typeface="Cambria Math" panose="02040503050406030204" pitchFamily="18" charset="0"/>
                                </a:rPr>
                                <m:t>h</m:t>
                              </m:r>
                            </m:e>
                            <m:sub>
                              <m:r>
                                <a:rPr lang="en-US" altLang="zh-TW" b="0" i="1" smtClean="0">
                                  <a:latin typeface="Cambria Math" panose="02040503050406030204" pitchFamily="18" charset="0"/>
                                </a:rPr>
                                <m:t>𝑖</m:t>
                              </m:r>
                            </m:sub>
                          </m:sSub>
                        </m:e>
                      </m:acc>
                      <m:r>
                        <a:rPr lang="en-US" altLang="zh-TW" b="0" i="1" smtClean="0">
                          <a:latin typeface="Cambria Math" panose="02040503050406030204" pitchFamily="18" charset="0"/>
                        </a:rPr>
                        <m:t>=</m:t>
                      </m:r>
                      <m:d>
                        <m:dPr>
                          <m:begChr m:val="["/>
                          <m:endChr m:val="]"/>
                          <m:sepChr m:val=";"/>
                          <m:ctrlPr>
                            <a:rPr lang="zh-TW" altLang="en-US" i="1" smtClean="0">
                              <a:solidFill>
                                <a:schemeClr val="tx1"/>
                              </a:solidFill>
                              <a:latin typeface="Cambria Math" panose="02040503050406030204" pitchFamily="18" charset="0"/>
                            </a:rPr>
                          </m:ctrlPr>
                        </m:dPr>
                        <m:e>
                          <m:acc>
                            <m:accPr>
                              <m:chr m:val="⃗"/>
                              <m:ctrlPr>
                                <a:rPr lang="zh-TW" altLang="en-US" i="1">
                                  <a:solidFill>
                                    <a:schemeClr val="tx1"/>
                                  </a:solidFill>
                                  <a:latin typeface="Cambria Math" panose="02040503050406030204" pitchFamily="18" charset="0"/>
                                </a:rPr>
                              </m:ctrlPr>
                            </m:accPr>
                            <m:e>
                              <m:sSub>
                                <m:sSubPr>
                                  <m:ctrlPr>
                                    <a:rPr lang="zh-TW" altLang="en-US" i="1">
                                      <a:solidFill>
                                        <a:schemeClr val="tx1"/>
                                      </a:solidFill>
                                      <a:latin typeface="Cambria Math" panose="02040503050406030204" pitchFamily="18" charset="0"/>
                                    </a:rPr>
                                  </m:ctrlPr>
                                </m:sSubPr>
                                <m:e>
                                  <m:r>
                                    <a:rPr lang="zh-TW" altLang="en-US" i="1">
                                      <a:solidFill>
                                        <a:schemeClr val="tx1"/>
                                      </a:solidFill>
                                      <a:latin typeface="Cambria Math" panose="02040503050406030204" pitchFamily="18" charset="0"/>
                                    </a:rPr>
                                    <m:t>h</m:t>
                                  </m:r>
                                </m:e>
                                <m:sub>
                                  <m:r>
                                    <a:rPr lang="en-US" altLang="zh-TW" b="0" i="1" smtClean="0">
                                      <a:solidFill>
                                        <a:schemeClr val="tx1"/>
                                      </a:solidFill>
                                      <a:latin typeface="Cambria Math" panose="02040503050406030204" pitchFamily="18" charset="0"/>
                                    </a:rPr>
                                    <m:t>𝑖</m:t>
                                  </m:r>
                                </m:sub>
                              </m:sSub>
                            </m:e>
                          </m:acc>
                        </m:e>
                        <m:e>
                          <m:groupChr>
                            <m:groupChrPr>
                              <m:chr m:val="←"/>
                              <m:pos m:val="top"/>
                              <m:vertJc m:val="bot"/>
                              <m:ctrlPr>
                                <a:rPr lang="zh-TW" altLang="en-US" i="1">
                                  <a:solidFill>
                                    <a:schemeClr val="tx1"/>
                                  </a:solidFill>
                                  <a:latin typeface="Cambria Math" panose="02040503050406030204" pitchFamily="18" charset="0"/>
                                </a:rPr>
                              </m:ctrlPr>
                            </m:groupChrPr>
                            <m:e>
                              <m:sSub>
                                <m:sSubPr>
                                  <m:ctrlPr>
                                    <a:rPr lang="zh-TW" altLang="en-US" i="1">
                                      <a:solidFill>
                                        <a:schemeClr val="tx1"/>
                                      </a:solidFill>
                                      <a:latin typeface="Cambria Math" panose="02040503050406030204" pitchFamily="18" charset="0"/>
                                    </a:rPr>
                                  </m:ctrlPr>
                                </m:sSubPr>
                                <m:e>
                                  <m:r>
                                    <a:rPr lang="zh-TW" altLang="en-US" i="1">
                                      <a:solidFill>
                                        <a:schemeClr val="tx1"/>
                                      </a:solidFill>
                                      <a:latin typeface="Cambria Math" panose="02040503050406030204" pitchFamily="18" charset="0"/>
                                    </a:rPr>
                                    <m:t>h</m:t>
                                  </m:r>
                                </m:e>
                                <m:sub>
                                  <m:r>
                                    <a:rPr lang="en-US" altLang="zh-TW" b="0" i="1" smtClean="0">
                                      <a:solidFill>
                                        <a:schemeClr val="tx1"/>
                                      </a:solidFill>
                                      <a:latin typeface="Cambria Math" panose="02040503050406030204" pitchFamily="18" charset="0"/>
                                    </a:rPr>
                                    <m:t>𝑖</m:t>
                                  </m:r>
                                </m:sub>
                              </m:sSub>
                            </m:e>
                          </m:groupChr>
                        </m:e>
                      </m:d>
                    </m:oMath>
                  </m:oMathPara>
                </a14:m>
                <a:endParaRPr lang="zh-TW" altLang="en-US" dirty="0"/>
              </a:p>
            </p:txBody>
          </p:sp>
        </mc:Choice>
        <mc:Fallback xmlns="">
          <p:sp>
            <p:nvSpPr>
              <p:cNvPr id="35" name="文字方塊 34">
                <a:extLst>
                  <a:ext uri="{FF2B5EF4-FFF2-40B4-BE49-F238E27FC236}">
                    <a16:creationId xmlns:a16="http://schemas.microsoft.com/office/drawing/2014/main" id="{B9289712-839E-74FE-0D78-263EBE951B3D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543259" y="1378420"/>
                <a:ext cx="1618744" cy="518860"/>
              </a:xfrm>
              <a:prstGeom prst="rect">
                <a:avLst/>
              </a:prstGeom>
              <a:blipFill>
                <a:blip r:embed="rId4"/>
                <a:stretch>
                  <a:fillRect/>
                </a:stretch>
              </a:blipFill>
            </p:spPr>
            <p:txBody>
              <a:bodyPr/>
              <a:lstStyle/>
              <a:p>
                <a:r>
                  <a:rPr lang="zh-TW" altLang="en-US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 xmlns:a14="http://schemas.microsoft.com/office/drawing/2010/main">
        <mc:Choice Requires="a14">
          <p:sp>
            <p:nvSpPr>
              <p:cNvPr id="44" name="文字方塊 43">
                <a:extLst>
                  <a:ext uri="{FF2B5EF4-FFF2-40B4-BE49-F238E27FC236}">
                    <a16:creationId xmlns:a16="http://schemas.microsoft.com/office/drawing/2014/main" id="{6DE65D9D-B8E2-3848-B09B-3CCDC43DFDA3}"/>
                  </a:ext>
                </a:extLst>
              </p:cNvPr>
              <p:cNvSpPr txBox="1"/>
              <p:nvPr/>
            </p:nvSpPr>
            <p:spPr>
              <a:xfrm>
                <a:off x="496181" y="4380899"/>
                <a:ext cx="572956" cy="339645"/>
              </a:xfrm>
              <a:prstGeom prst="rect">
                <a:avLst/>
              </a:prstGeom>
              <a:noFill/>
            </p:spPr>
            <p:txBody>
              <a:bodyPr wrap="square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acc>
                        <m:accPr>
                          <m:chr m:val="⃗"/>
                          <m:ctrlPr>
                            <a:rPr lang="zh-TW" altLang="en-US" sz="1400" i="1" smtClean="0">
                              <a:latin typeface="Cambria Math" panose="02040503050406030204" pitchFamily="18" charset="0"/>
                            </a:rPr>
                          </m:ctrlPr>
                        </m:accPr>
                        <m:e>
                          <m:sSub>
                            <m:sSubPr>
                              <m:ctrlPr>
                                <a:rPr lang="zh-TW" altLang="en-US" sz="1400" i="1">
                                  <a:latin typeface="Cambria Math" panose="02040503050406030204" pitchFamily="18" charset="0"/>
                                </a:rPr>
                              </m:ctrlPr>
                            </m:sSubPr>
                            <m:e>
                              <m:r>
                                <a:rPr lang="zh-TW" altLang="en-US" sz="1400" i="1">
                                  <a:latin typeface="Cambria Math" panose="02040503050406030204" pitchFamily="18" charset="0"/>
                                </a:rPr>
                                <m:t>h</m:t>
                              </m:r>
                            </m:e>
                            <m:sub>
                              <m:r>
                                <a:rPr lang="en-US" altLang="zh-TW" sz="1400" b="0" i="1" smtClean="0">
                                  <a:latin typeface="Cambria Math" panose="02040503050406030204" pitchFamily="18" charset="0"/>
                                </a:rPr>
                                <m:t>𝑖</m:t>
                              </m:r>
                            </m:sub>
                          </m:sSub>
                        </m:e>
                      </m:acc>
                    </m:oMath>
                  </m:oMathPara>
                </a14:m>
                <a:endParaRPr lang="zh-TW" altLang="en-US" sz="1400" dirty="0"/>
              </a:p>
            </p:txBody>
          </p:sp>
        </mc:Choice>
        <mc:Fallback xmlns="">
          <p:sp>
            <p:nvSpPr>
              <p:cNvPr id="44" name="文字方塊 43">
                <a:extLst>
                  <a:ext uri="{FF2B5EF4-FFF2-40B4-BE49-F238E27FC236}">
                    <a16:creationId xmlns:a16="http://schemas.microsoft.com/office/drawing/2014/main" id="{6DE65D9D-B8E2-3848-B09B-3CCDC43DFDA3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496181" y="4380899"/>
                <a:ext cx="572956" cy="339645"/>
              </a:xfrm>
              <a:prstGeom prst="rect">
                <a:avLst/>
              </a:prstGeom>
              <a:blipFill>
                <a:blip r:embed="rId5"/>
                <a:stretch>
                  <a:fillRect/>
                </a:stretch>
              </a:blipFill>
            </p:spPr>
            <p:txBody>
              <a:bodyPr/>
              <a:lstStyle/>
              <a:p>
                <a:r>
                  <a:rPr lang="zh-TW" altLang="en-US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 xmlns:a14="http://schemas.microsoft.com/office/drawing/2010/main">
        <mc:Choice Requires="a14">
          <p:sp>
            <p:nvSpPr>
              <p:cNvPr id="47" name="文字方塊 46">
                <a:extLst>
                  <a:ext uri="{FF2B5EF4-FFF2-40B4-BE49-F238E27FC236}">
                    <a16:creationId xmlns:a16="http://schemas.microsoft.com/office/drawing/2014/main" id="{7C037385-47E8-3BD9-6526-DC079A72442C}"/>
                  </a:ext>
                </a:extLst>
              </p:cNvPr>
              <p:cNvSpPr txBox="1"/>
              <p:nvPr/>
            </p:nvSpPr>
            <p:spPr>
              <a:xfrm>
                <a:off x="494670" y="4012978"/>
                <a:ext cx="572956" cy="367921"/>
              </a:xfrm>
              <a:prstGeom prst="rect">
                <a:avLst/>
              </a:prstGeom>
              <a:noFill/>
            </p:spPr>
            <p:txBody>
              <a:bodyPr wrap="square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groupChr>
                        <m:groupChrPr>
                          <m:chr m:val="←"/>
                          <m:pos m:val="top"/>
                          <m:vertJc m:val="bot"/>
                          <m:ctrlPr>
                            <a:rPr lang="zh-TW" altLang="en-US" sz="1400" i="1" smtClean="0">
                              <a:latin typeface="Cambria Math" panose="02040503050406030204" pitchFamily="18" charset="0"/>
                            </a:rPr>
                          </m:ctrlPr>
                        </m:groupChrPr>
                        <m:e>
                          <m:sSub>
                            <m:sSubPr>
                              <m:ctrlPr>
                                <a:rPr lang="zh-TW" altLang="en-US" sz="1400" i="1">
                                  <a:latin typeface="Cambria Math" panose="02040503050406030204" pitchFamily="18" charset="0"/>
                                </a:rPr>
                              </m:ctrlPr>
                            </m:sSubPr>
                            <m:e>
                              <m:r>
                                <a:rPr lang="zh-TW" altLang="en-US" sz="1400" i="1">
                                  <a:latin typeface="Cambria Math" panose="02040503050406030204" pitchFamily="18" charset="0"/>
                                </a:rPr>
                                <m:t>h</m:t>
                              </m:r>
                            </m:e>
                            <m:sub>
                              <m:r>
                                <a:rPr lang="en-US" altLang="zh-TW" sz="1400" b="0" i="1" smtClean="0">
                                  <a:latin typeface="Cambria Math" panose="02040503050406030204" pitchFamily="18" charset="0"/>
                                </a:rPr>
                                <m:t>𝑖</m:t>
                              </m:r>
                            </m:sub>
                          </m:sSub>
                        </m:e>
                      </m:groupChr>
                    </m:oMath>
                  </m:oMathPara>
                </a14:m>
                <a:endParaRPr lang="zh-TW" altLang="en-US" sz="1400" dirty="0"/>
              </a:p>
            </p:txBody>
          </p:sp>
        </mc:Choice>
        <mc:Fallback xmlns="">
          <p:sp>
            <p:nvSpPr>
              <p:cNvPr id="47" name="文字方塊 46">
                <a:extLst>
                  <a:ext uri="{FF2B5EF4-FFF2-40B4-BE49-F238E27FC236}">
                    <a16:creationId xmlns:a16="http://schemas.microsoft.com/office/drawing/2014/main" id="{7C037385-47E8-3BD9-6526-DC079A72442C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494670" y="4012978"/>
                <a:ext cx="572956" cy="367921"/>
              </a:xfrm>
              <a:prstGeom prst="rect">
                <a:avLst/>
              </a:prstGeom>
              <a:blipFill>
                <a:blip r:embed="rId6"/>
                <a:stretch>
                  <a:fillRect/>
                </a:stretch>
              </a:blipFill>
            </p:spPr>
            <p:txBody>
              <a:bodyPr/>
              <a:lstStyle/>
              <a:p>
                <a:r>
                  <a:rPr lang="zh-TW" altLang="en-US">
                    <a:noFill/>
                  </a:rPr>
                  <a:t> </a:t>
                </a:r>
              </a:p>
            </p:txBody>
          </p:sp>
        </mc:Fallback>
      </mc:AlternateContent>
      <p:sp>
        <p:nvSpPr>
          <p:cNvPr id="9" name="圓角矩形 8">
            <a:extLst>
              <a:ext uri="{FF2B5EF4-FFF2-40B4-BE49-F238E27FC236}">
                <a16:creationId xmlns:a16="http://schemas.microsoft.com/office/drawing/2014/main" id="{F6B2561E-F36B-DB27-FFC7-88FE58BC0CD8}"/>
              </a:ext>
            </a:extLst>
          </p:cNvPr>
          <p:cNvSpPr/>
          <p:nvPr/>
        </p:nvSpPr>
        <p:spPr>
          <a:xfrm rot="5400000">
            <a:off x="2003003" y="4061589"/>
            <a:ext cx="372490" cy="207951"/>
          </a:xfrm>
          <a:prstGeom prst="roundRect">
            <a:avLst/>
          </a:prstGeom>
          <a:solidFill>
            <a:schemeClr val="accent5">
              <a:lumMod val="40000"/>
              <a:lumOff val="60000"/>
            </a:schemeClr>
          </a:solidFill>
          <a:ln w="19050">
            <a:solidFill>
              <a:schemeClr val="tx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kumimoji="1" lang="zh-TW" altLang="en-US"/>
          </a:p>
        </p:txBody>
      </p:sp>
      <p:sp>
        <p:nvSpPr>
          <p:cNvPr id="14" name="圓角矩形 13">
            <a:extLst>
              <a:ext uri="{FF2B5EF4-FFF2-40B4-BE49-F238E27FC236}">
                <a16:creationId xmlns:a16="http://schemas.microsoft.com/office/drawing/2014/main" id="{9CAFF000-2F58-3AFA-15ED-F25AF55A0154}"/>
              </a:ext>
            </a:extLst>
          </p:cNvPr>
          <p:cNvSpPr/>
          <p:nvPr/>
        </p:nvSpPr>
        <p:spPr>
          <a:xfrm rot="5400000">
            <a:off x="2003003" y="4443043"/>
            <a:ext cx="372490" cy="207951"/>
          </a:xfrm>
          <a:prstGeom prst="roundRect">
            <a:avLst/>
          </a:prstGeom>
          <a:solidFill>
            <a:schemeClr val="accent5">
              <a:lumMod val="40000"/>
              <a:lumOff val="60000"/>
            </a:schemeClr>
          </a:solidFill>
          <a:ln w="19050">
            <a:solidFill>
              <a:schemeClr val="tx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kumimoji="1" lang="zh-TW" altLang="en-US"/>
          </a:p>
        </p:txBody>
      </p:sp>
      <p:sp>
        <p:nvSpPr>
          <p:cNvPr id="16" name="圓角矩形 15">
            <a:extLst>
              <a:ext uri="{FF2B5EF4-FFF2-40B4-BE49-F238E27FC236}">
                <a16:creationId xmlns:a16="http://schemas.microsoft.com/office/drawing/2014/main" id="{8F557398-8354-F4F5-B289-ECFF05BCA6CA}"/>
              </a:ext>
            </a:extLst>
          </p:cNvPr>
          <p:cNvSpPr/>
          <p:nvPr/>
        </p:nvSpPr>
        <p:spPr>
          <a:xfrm rot="5400000">
            <a:off x="2959245" y="4061589"/>
            <a:ext cx="372490" cy="207951"/>
          </a:xfrm>
          <a:prstGeom prst="roundRect">
            <a:avLst/>
          </a:prstGeom>
          <a:solidFill>
            <a:schemeClr val="accent5">
              <a:lumMod val="40000"/>
              <a:lumOff val="60000"/>
            </a:schemeClr>
          </a:solidFill>
          <a:ln w="19050">
            <a:solidFill>
              <a:schemeClr val="tx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kumimoji="1" lang="zh-TW" altLang="en-US"/>
          </a:p>
        </p:txBody>
      </p:sp>
      <p:sp>
        <p:nvSpPr>
          <p:cNvPr id="17" name="圓角矩形 16">
            <a:extLst>
              <a:ext uri="{FF2B5EF4-FFF2-40B4-BE49-F238E27FC236}">
                <a16:creationId xmlns:a16="http://schemas.microsoft.com/office/drawing/2014/main" id="{9FFBA47B-B39D-71D0-384D-59828CF146C9}"/>
              </a:ext>
            </a:extLst>
          </p:cNvPr>
          <p:cNvSpPr/>
          <p:nvPr/>
        </p:nvSpPr>
        <p:spPr>
          <a:xfrm rot="5400000">
            <a:off x="2959245" y="4443043"/>
            <a:ext cx="372490" cy="207951"/>
          </a:xfrm>
          <a:prstGeom prst="roundRect">
            <a:avLst/>
          </a:prstGeom>
          <a:solidFill>
            <a:schemeClr val="accent5">
              <a:lumMod val="40000"/>
              <a:lumOff val="60000"/>
            </a:schemeClr>
          </a:solidFill>
          <a:ln w="19050">
            <a:solidFill>
              <a:schemeClr val="tx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kumimoji="1" lang="zh-TW" altLang="en-US"/>
          </a:p>
        </p:txBody>
      </p:sp>
      <p:sp>
        <p:nvSpPr>
          <p:cNvPr id="18" name="圓角矩形 17">
            <a:extLst>
              <a:ext uri="{FF2B5EF4-FFF2-40B4-BE49-F238E27FC236}">
                <a16:creationId xmlns:a16="http://schemas.microsoft.com/office/drawing/2014/main" id="{F06926BC-79B7-C344-8D26-E805077D2096}"/>
              </a:ext>
            </a:extLst>
          </p:cNvPr>
          <p:cNvSpPr/>
          <p:nvPr/>
        </p:nvSpPr>
        <p:spPr>
          <a:xfrm rot="5400000">
            <a:off x="3979527" y="4057806"/>
            <a:ext cx="372490" cy="207951"/>
          </a:xfrm>
          <a:prstGeom prst="roundRect">
            <a:avLst/>
          </a:prstGeom>
          <a:solidFill>
            <a:schemeClr val="accent5">
              <a:lumMod val="40000"/>
              <a:lumOff val="60000"/>
            </a:schemeClr>
          </a:solidFill>
          <a:ln w="19050">
            <a:solidFill>
              <a:schemeClr val="tx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kumimoji="1" lang="zh-TW" altLang="en-US"/>
          </a:p>
        </p:txBody>
      </p:sp>
      <p:sp>
        <p:nvSpPr>
          <p:cNvPr id="19" name="圓角矩形 18">
            <a:extLst>
              <a:ext uri="{FF2B5EF4-FFF2-40B4-BE49-F238E27FC236}">
                <a16:creationId xmlns:a16="http://schemas.microsoft.com/office/drawing/2014/main" id="{A09F4F5D-2A58-ECF2-787E-7FDD6B67DCB9}"/>
              </a:ext>
            </a:extLst>
          </p:cNvPr>
          <p:cNvSpPr/>
          <p:nvPr/>
        </p:nvSpPr>
        <p:spPr>
          <a:xfrm rot="5400000">
            <a:off x="3979527" y="4439260"/>
            <a:ext cx="372490" cy="207951"/>
          </a:xfrm>
          <a:prstGeom prst="roundRect">
            <a:avLst/>
          </a:prstGeom>
          <a:solidFill>
            <a:schemeClr val="accent5">
              <a:lumMod val="40000"/>
              <a:lumOff val="60000"/>
            </a:schemeClr>
          </a:solidFill>
          <a:ln w="19050">
            <a:solidFill>
              <a:schemeClr val="tx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kumimoji="1" lang="zh-TW" altLang="en-US"/>
          </a:p>
        </p:txBody>
      </p:sp>
      <p:sp>
        <p:nvSpPr>
          <p:cNvPr id="20" name="圓角矩形 19">
            <a:extLst>
              <a:ext uri="{FF2B5EF4-FFF2-40B4-BE49-F238E27FC236}">
                <a16:creationId xmlns:a16="http://schemas.microsoft.com/office/drawing/2014/main" id="{60ED5C5D-D01B-11E2-D255-0A307090C76A}"/>
              </a:ext>
            </a:extLst>
          </p:cNvPr>
          <p:cNvSpPr/>
          <p:nvPr/>
        </p:nvSpPr>
        <p:spPr>
          <a:xfrm rot="5400000">
            <a:off x="4949287" y="4056960"/>
            <a:ext cx="372490" cy="207951"/>
          </a:xfrm>
          <a:prstGeom prst="roundRect">
            <a:avLst/>
          </a:prstGeom>
          <a:solidFill>
            <a:schemeClr val="accent5">
              <a:lumMod val="40000"/>
              <a:lumOff val="60000"/>
            </a:schemeClr>
          </a:solidFill>
          <a:ln w="19050">
            <a:solidFill>
              <a:schemeClr val="tx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kumimoji="1" lang="zh-TW" altLang="en-US"/>
          </a:p>
        </p:txBody>
      </p:sp>
      <p:sp>
        <p:nvSpPr>
          <p:cNvPr id="21" name="圓角矩形 20">
            <a:extLst>
              <a:ext uri="{FF2B5EF4-FFF2-40B4-BE49-F238E27FC236}">
                <a16:creationId xmlns:a16="http://schemas.microsoft.com/office/drawing/2014/main" id="{3F3ED5D6-5FFD-D1B7-30BE-7B0D8E603886}"/>
              </a:ext>
            </a:extLst>
          </p:cNvPr>
          <p:cNvSpPr/>
          <p:nvPr/>
        </p:nvSpPr>
        <p:spPr>
          <a:xfrm rot="5400000">
            <a:off x="4949287" y="4438414"/>
            <a:ext cx="372490" cy="207951"/>
          </a:xfrm>
          <a:prstGeom prst="roundRect">
            <a:avLst/>
          </a:prstGeom>
          <a:solidFill>
            <a:schemeClr val="accent5">
              <a:lumMod val="40000"/>
              <a:lumOff val="60000"/>
            </a:schemeClr>
          </a:solidFill>
          <a:ln w="19050">
            <a:solidFill>
              <a:schemeClr val="tx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kumimoji="1" lang="zh-TW" altLang="en-US"/>
          </a:p>
        </p:txBody>
      </p:sp>
      <p:sp>
        <p:nvSpPr>
          <p:cNvPr id="22" name="文字方塊 21">
            <a:extLst>
              <a:ext uri="{FF2B5EF4-FFF2-40B4-BE49-F238E27FC236}">
                <a16:creationId xmlns:a16="http://schemas.microsoft.com/office/drawing/2014/main" id="{8206D02E-2F3A-3266-7887-EF4D20DBA19F}"/>
              </a:ext>
            </a:extLst>
          </p:cNvPr>
          <p:cNvSpPr txBox="1"/>
          <p:nvPr/>
        </p:nvSpPr>
        <p:spPr>
          <a:xfrm>
            <a:off x="1028450" y="5876593"/>
            <a:ext cx="398516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kumimoji="1" lang="zh-TW" altLang="en-US" dirty="0"/>
              <a:t>我</a:t>
            </a:r>
          </a:p>
        </p:txBody>
      </p:sp>
      <p:sp>
        <p:nvSpPr>
          <p:cNvPr id="23" name="文字方塊 22">
            <a:extLst>
              <a:ext uri="{FF2B5EF4-FFF2-40B4-BE49-F238E27FC236}">
                <a16:creationId xmlns:a16="http://schemas.microsoft.com/office/drawing/2014/main" id="{8D182E89-4E79-0C50-9696-8D349F1760AA}"/>
              </a:ext>
            </a:extLst>
          </p:cNvPr>
          <p:cNvSpPr txBox="1"/>
          <p:nvPr/>
        </p:nvSpPr>
        <p:spPr>
          <a:xfrm>
            <a:off x="1989990" y="5876593"/>
            <a:ext cx="398516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kumimoji="1" lang="zh-TW" altLang="en-US" dirty="0"/>
              <a:t>想</a:t>
            </a:r>
          </a:p>
        </p:txBody>
      </p:sp>
      <p:sp>
        <p:nvSpPr>
          <p:cNvPr id="24" name="文字方塊 23">
            <a:extLst>
              <a:ext uri="{FF2B5EF4-FFF2-40B4-BE49-F238E27FC236}">
                <a16:creationId xmlns:a16="http://schemas.microsoft.com/office/drawing/2014/main" id="{CEF4C955-833A-3DC6-2086-A706F345DFB4}"/>
              </a:ext>
            </a:extLst>
          </p:cNvPr>
          <p:cNvSpPr txBox="1"/>
          <p:nvPr/>
        </p:nvSpPr>
        <p:spPr>
          <a:xfrm>
            <a:off x="2946232" y="5876593"/>
            <a:ext cx="398516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kumimoji="1" lang="zh-TW" altLang="en-US" dirty="0"/>
              <a:t>要</a:t>
            </a:r>
          </a:p>
        </p:txBody>
      </p:sp>
      <p:sp>
        <p:nvSpPr>
          <p:cNvPr id="25" name="文字方塊 24">
            <a:extLst>
              <a:ext uri="{FF2B5EF4-FFF2-40B4-BE49-F238E27FC236}">
                <a16:creationId xmlns:a16="http://schemas.microsoft.com/office/drawing/2014/main" id="{23BF7017-1329-5EBC-9C49-711B1AE821B2}"/>
              </a:ext>
            </a:extLst>
          </p:cNvPr>
          <p:cNvSpPr txBox="1"/>
          <p:nvPr/>
        </p:nvSpPr>
        <p:spPr>
          <a:xfrm>
            <a:off x="3966514" y="5876593"/>
            <a:ext cx="398516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kumimoji="1" lang="zh-TW" altLang="en-US" dirty="0"/>
              <a:t>放</a:t>
            </a:r>
          </a:p>
        </p:txBody>
      </p:sp>
      <p:sp>
        <p:nvSpPr>
          <p:cNvPr id="32" name="文字方塊 31">
            <a:extLst>
              <a:ext uri="{FF2B5EF4-FFF2-40B4-BE49-F238E27FC236}">
                <a16:creationId xmlns:a16="http://schemas.microsoft.com/office/drawing/2014/main" id="{4A043F48-3A2B-16A7-2E87-CCCF7EEEDFC1}"/>
              </a:ext>
            </a:extLst>
          </p:cNvPr>
          <p:cNvSpPr txBox="1"/>
          <p:nvPr/>
        </p:nvSpPr>
        <p:spPr>
          <a:xfrm>
            <a:off x="4936274" y="5843215"/>
            <a:ext cx="398516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kumimoji="1" lang="zh-TW" altLang="en-US" dirty="0"/>
              <a:t>假</a:t>
            </a:r>
          </a:p>
        </p:txBody>
      </p:sp>
      <p:sp>
        <p:nvSpPr>
          <p:cNvPr id="37" name="矩形 36">
            <a:extLst>
              <a:ext uri="{FF2B5EF4-FFF2-40B4-BE49-F238E27FC236}">
                <a16:creationId xmlns:a16="http://schemas.microsoft.com/office/drawing/2014/main" id="{AF1439A4-AEA7-C276-B3F4-A81865D648E7}"/>
              </a:ext>
            </a:extLst>
          </p:cNvPr>
          <p:cNvSpPr/>
          <p:nvPr/>
        </p:nvSpPr>
        <p:spPr>
          <a:xfrm>
            <a:off x="911313" y="5134787"/>
            <a:ext cx="575253" cy="379818"/>
          </a:xfrm>
          <a:prstGeom prst="rect">
            <a:avLst/>
          </a:prstGeom>
          <a:noFill/>
          <a:ln>
            <a:solidFill>
              <a:schemeClr val="tx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kumimoji="1" lang="en-US" altLang="zh-TW" sz="1400" dirty="0">
                <a:solidFill>
                  <a:schemeClr val="tx1"/>
                </a:solidFill>
              </a:rPr>
              <a:t>RNN</a:t>
            </a:r>
            <a:endParaRPr kumimoji="1" lang="zh-TW" altLang="en-US" sz="1400" dirty="0">
              <a:solidFill>
                <a:schemeClr val="tx1"/>
              </a:solidFill>
            </a:endParaRPr>
          </a:p>
        </p:txBody>
      </p:sp>
      <p:sp>
        <p:nvSpPr>
          <p:cNvPr id="46" name="矩形 45">
            <a:extLst>
              <a:ext uri="{FF2B5EF4-FFF2-40B4-BE49-F238E27FC236}">
                <a16:creationId xmlns:a16="http://schemas.microsoft.com/office/drawing/2014/main" id="{39D67784-EEE3-FB52-73D7-C1369B82E8C1}"/>
              </a:ext>
            </a:extLst>
          </p:cNvPr>
          <p:cNvSpPr/>
          <p:nvPr/>
        </p:nvSpPr>
        <p:spPr>
          <a:xfrm>
            <a:off x="1901622" y="5134787"/>
            <a:ext cx="575253" cy="379818"/>
          </a:xfrm>
          <a:prstGeom prst="rect">
            <a:avLst/>
          </a:prstGeom>
          <a:noFill/>
          <a:ln>
            <a:solidFill>
              <a:schemeClr val="tx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kumimoji="1" lang="en-US" altLang="zh-TW" sz="1400" dirty="0">
                <a:solidFill>
                  <a:schemeClr val="tx1"/>
                </a:solidFill>
              </a:rPr>
              <a:t>RNN</a:t>
            </a:r>
            <a:endParaRPr kumimoji="1" lang="zh-TW" altLang="en-US" sz="1400" dirty="0">
              <a:solidFill>
                <a:schemeClr val="tx1"/>
              </a:solidFill>
            </a:endParaRPr>
          </a:p>
        </p:txBody>
      </p:sp>
      <p:sp>
        <p:nvSpPr>
          <p:cNvPr id="48" name="矩形 47">
            <a:extLst>
              <a:ext uri="{FF2B5EF4-FFF2-40B4-BE49-F238E27FC236}">
                <a16:creationId xmlns:a16="http://schemas.microsoft.com/office/drawing/2014/main" id="{A7489E77-9AB6-086E-E205-F0BD31664BBF}"/>
              </a:ext>
            </a:extLst>
          </p:cNvPr>
          <p:cNvSpPr/>
          <p:nvPr/>
        </p:nvSpPr>
        <p:spPr>
          <a:xfrm>
            <a:off x="2850931" y="5134787"/>
            <a:ext cx="575253" cy="379818"/>
          </a:xfrm>
          <a:prstGeom prst="rect">
            <a:avLst/>
          </a:prstGeom>
          <a:noFill/>
          <a:ln>
            <a:solidFill>
              <a:schemeClr val="tx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kumimoji="1" lang="en-US" altLang="zh-TW" sz="1400" dirty="0">
                <a:solidFill>
                  <a:schemeClr val="tx1"/>
                </a:solidFill>
              </a:rPr>
              <a:t>RNN</a:t>
            </a:r>
            <a:endParaRPr kumimoji="1" lang="zh-TW" altLang="en-US" sz="1400" dirty="0">
              <a:solidFill>
                <a:schemeClr val="tx1"/>
              </a:solidFill>
            </a:endParaRPr>
          </a:p>
        </p:txBody>
      </p:sp>
      <p:sp>
        <p:nvSpPr>
          <p:cNvPr id="52" name="矩形 51">
            <a:extLst>
              <a:ext uri="{FF2B5EF4-FFF2-40B4-BE49-F238E27FC236}">
                <a16:creationId xmlns:a16="http://schemas.microsoft.com/office/drawing/2014/main" id="{CCD11246-16A2-2AD7-4118-6F0EBE27A63F}"/>
              </a:ext>
            </a:extLst>
          </p:cNvPr>
          <p:cNvSpPr/>
          <p:nvPr/>
        </p:nvSpPr>
        <p:spPr>
          <a:xfrm>
            <a:off x="3878145" y="5134787"/>
            <a:ext cx="575253" cy="379818"/>
          </a:xfrm>
          <a:prstGeom prst="rect">
            <a:avLst/>
          </a:prstGeom>
          <a:noFill/>
          <a:ln>
            <a:solidFill>
              <a:schemeClr val="tx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kumimoji="1" lang="en-US" altLang="zh-TW" sz="1400" dirty="0">
                <a:solidFill>
                  <a:schemeClr val="tx1"/>
                </a:solidFill>
              </a:rPr>
              <a:t>RNN</a:t>
            </a:r>
            <a:endParaRPr kumimoji="1" lang="zh-TW" altLang="en-US" sz="1400" dirty="0">
              <a:solidFill>
                <a:schemeClr val="tx1"/>
              </a:solidFill>
            </a:endParaRPr>
          </a:p>
        </p:txBody>
      </p:sp>
      <p:sp>
        <p:nvSpPr>
          <p:cNvPr id="53" name="矩形 52">
            <a:extLst>
              <a:ext uri="{FF2B5EF4-FFF2-40B4-BE49-F238E27FC236}">
                <a16:creationId xmlns:a16="http://schemas.microsoft.com/office/drawing/2014/main" id="{CC5C7B18-05E9-E8B5-886E-AE082CF72A44}"/>
              </a:ext>
            </a:extLst>
          </p:cNvPr>
          <p:cNvSpPr/>
          <p:nvPr/>
        </p:nvSpPr>
        <p:spPr>
          <a:xfrm>
            <a:off x="4847905" y="5134787"/>
            <a:ext cx="575253" cy="379818"/>
          </a:xfrm>
          <a:prstGeom prst="rect">
            <a:avLst/>
          </a:prstGeom>
          <a:noFill/>
          <a:ln>
            <a:solidFill>
              <a:schemeClr val="tx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kumimoji="1" lang="en-US" altLang="zh-TW" sz="1400" dirty="0">
                <a:solidFill>
                  <a:schemeClr val="tx1"/>
                </a:solidFill>
              </a:rPr>
              <a:t>RNN</a:t>
            </a:r>
            <a:endParaRPr kumimoji="1" lang="zh-TW" altLang="en-US" sz="1400" dirty="0">
              <a:solidFill>
                <a:schemeClr val="tx1"/>
              </a:solidFill>
            </a:endParaRPr>
          </a:p>
        </p:txBody>
      </p:sp>
      <p:cxnSp>
        <p:nvCxnSpPr>
          <p:cNvPr id="55" name="直線箭頭接點 54">
            <a:extLst>
              <a:ext uri="{FF2B5EF4-FFF2-40B4-BE49-F238E27FC236}">
                <a16:creationId xmlns:a16="http://schemas.microsoft.com/office/drawing/2014/main" id="{44E3A6FF-C81C-2862-702A-353C15505D20}"/>
              </a:ext>
            </a:extLst>
          </p:cNvPr>
          <p:cNvCxnSpPr>
            <a:cxnSpLocks/>
          </p:cNvCxnSpPr>
          <p:nvPr/>
        </p:nvCxnSpPr>
        <p:spPr>
          <a:xfrm flipV="1">
            <a:off x="1216822" y="5607843"/>
            <a:ext cx="0" cy="248679"/>
          </a:xfrm>
          <a:prstGeom prst="straightConnector1">
            <a:avLst/>
          </a:prstGeom>
          <a:ln>
            <a:solidFill>
              <a:schemeClr val="tx1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60" name="直線箭頭接點 59">
            <a:extLst>
              <a:ext uri="{FF2B5EF4-FFF2-40B4-BE49-F238E27FC236}">
                <a16:creationId xmlns:a16="http://schemas.microsoft.com/office/drawing/2014/main" id="{1BF6A9F7-4F55-C836-18C6-9786C3F77D30}"/>
              </a:ext>
            </a:extLst>
          </p:cNvPr>
          <p:cNvCxnSpPr>
            <a:cxnSpLocks/>
          </p:cNvCxnSpPr>
          <p:nvPr/>
        </p:nvCxnSpPr>
        <p:spPr>
          <a:xfrm flipV="1">
            <a:off x="1227708" y="4825311"/>
            <a:ext cx="0" cy="248679"/>
          </a:xfrm>
          <a:prstGeom prst="straightConnector1">
            <a:avLst/>
          </a:prstGeom>
          <a:ln>
            <a:solidFill>
              <a:schemeClr val="tx1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62" name="直線箭頭接點 61">
            <a:extLst>
              <a:ext uri="{FF2B5EF4-FFF2-40B4-BE49-F238E27FC236}">
                <a16:creationId xmlns:a16="http://schemas.microsoft.com/office/drawing/2014/main" id="{176DB90F-0E4C-705A-43F7-F63BECBCCFBB}"/>
              </a:ext>
            </a:extLst>
          </p:cNvPr>
          <p:cNvCxnSpPr>
            <a:cxnSpLocks/>
          </p:cNvCxnSpPr>
          <p:nvPr/>
        </p:nvCxnSpPr>
        <p:spPr>
          <a:xfrm flipV="1">
            <a:off x="2189248" y="5607843"/>
            <a:ext cx="0" cy="248679"/>
          </a:xfrm>
          <a:prstGeom prst="straightConnector1">
            <a:avLst/>
          </a:prstGeom>
          <a:ln>
            <a:solidFill>
              <a:schemeClr val="tx1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63" name="直線箭頭接點 62">
            <a:extLst>
              <a:ext uri="{FF2B5EF4-FFF2-40B4-BE49-F238E27FC236}">
                <a16:creationId xmlns:a16="http://schemas.microsoft.com/office/drawing/2014/main" id="{C2C3A4A5-EA7A-8563-E4D6-B42C1AEA9D0D}"/>
              </a:ext>
            </a:extLst>
          </p:cNvPr>
          <p:cNvCxnSpPr>
            <a:cxnSpLocks/>
          </p:cNvCxnSpPr>
          <p:nvPr/>
        </p:nvCxnSpPr>
        <p:spPr>
          <a:xfrm flipV="1">
            <a:off x="2189248" y="4825311"/>
            <a:ext cx="0" cy="248679"/>
          </a:xfrm>
          <a:prstGeom prst="straightConnector1">
            <a:avLst/>
          </a:prstGeom>
          <a:ln>
            <a:solidFill>
              <a:schemeClr val="tx1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68" name="直線箭頭接點 67">
            <a:extLst>
              <a:ext uri="{FF2B5EF4-FFF2-40B4-BE49-F238E27FC236}">
                <a16:creationId xmlns:a16="http://schemas.microsoft.com/office/drawing/2014/main" id="{14FFC856-2E17-7C2E-66CF-50697DEA3C6E}"/>
              </a:ext>
            </a:extLst>
          </p:cNvPr>
          <p:cNvCxnSpPr>
            <a:cxnSpLocks/>
          </p:cNvCxnSpPr>
          <p:nvPr/>
        </p:nvCxnSpPr>
        <p:spPr>
          <a:xfrm flipV="1">
            <a:off x="3150664" y="5607843"/>
            <a:ext cx="0" cy="248679"/>
          </a:xfrm>
          <a:prstGeom prst="straightConnector1">
            <a:avLst/>
          </a:prstGeom>
          <a:ln>
            <a:solidFill>
              <a:schemeClr val="tx1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69" name="直線箭頭接點 68">
            <a:extLst>
              <a:ext uri="{FF2B5EF4-FFF2-40B4-BE49-F238E27FC236}">
                <a16:creationId xmlns:a16="http://schemas.microsoft.com/office/drawing/2014/main" id="{BE6934FA-B49B-6A35-2E05-256E2878CD02}"/>
              </a:ext>
            </a:extLst>
          </p:cNvPr>
          <p:cNvCxnSpPr>
            <a:cxnSpLocks/>
          </p:cNvCxnSpPr>
          <p:nvPr/>
        </p:nvCxnSpPr>
        <p:spPr>
          <a:xfrm flipV="1">
            <a:off x="3150664" y="4825311"/>
            <a:ext cx="0" cy="248679"/>
          </a:xfrm>
          <a:prstGeom prst="straightConnector1">
            <a:avLst/>
          </a:prstGeom>
          <a:ln>
            <a:solidFill>
              <a:schemeClr val="tx1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70" name="直線箭頭接點 69">
            <a:extLst>
              <a:ext uri="{FF2B5EF4-FFF2-40B4-BE49-F238E27FC236}">
                <a16:creationId xmlns:a16="http://schemas.microsoft.com/office/drawing/2014/main" id="{06F6D1E8-5DC3-5722-F4D6-03BF45B69E8B}"/>
              </a:ext>
            </a:extLst>
          </p:cNvPr>
          <p:cNvCxnSpPr>
            <a:cxnSpLocks/>
          </p:cNvCxnSpPr>
          <p:nvPr/>
        </p:nvCxnSpPr>
        <p:spPr>
          <a:xfrm flipV="1">
            <a:off x="4165771" y="5607843"/>
            <a:ext cx="0" cy="248679"/>
          </a:xfrm>
          <a:prstGeom prst="straightConnector1">
            <a:avLst/>
          </a:prstGeom>
          <a:ln>
            <a:solidFill>
              <a:schemeClr val="tx1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71" name="直線箭頭接點 70">
            <a:extLst>
              <a:ext uri="{FF2B5EF4-FFF2-40B4-BE49-F238E27FC236}">
                <a16:creationId xmlns:a16="http://schemas.microsoft.com/office/drawing/2014/main" id="{827EC041-D5E4-854F-83D6-5985CDF68C27}"/>
              </a:ext>
            </a:extLst>
          </p:cNvPr>
          <p:cNvCxnSpPr>
            <a:cxnSpLocks/>
          </p:cNvCxnSpPr>
          <p:nvPr/>
        </p:nvCxnSpPr>
        <p:spPr>
          <a:xfrm flipV="1">
            <a:off x="4165771" y="4825311"/>
            <a:ext cx="0" cy="248679"/>
          </a:xfrm>
          <a:prstGeom prst="straightConnector1">
            <a:avLst/>
          </a:prstGeom>
          <a:ln>
            <a:solidFill>
              <a:schemeClr val="tx1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72" name="直線箭頭接點 71">
            <a:extLst>
              <a:ext uri="{FF2B5EF4-FFF2-40B4-BE49-F238E27FC236}">
                <a16:creationId xmlns:a16="http://schemas.microsoft.com/office/drawing/2014/main" id="{D7F971C5-33C2-AD0B-D59A-AE5F1A9CECF3}"/>
              </a:ext>
            </a:extLst>
          </p:cNvPr>
          <p:cNvCxnSpPr>
            <a:cxnSpLocks/>
          </p:cNvCxnSpPr>
          <p:nvPr/>
        </p:nvCxnSpPr>
        <p:spPr>
          <a:xfrm flipV="1">
            <a:off x="5135531" y="5607843"/>
            <a:ext cx="0" cy="248679"/>
          </a:xfrm>
          <a:prstGeom prst="straightConnector1">
            <a:avLst/>
          </a:prstGeom>
          <a:ln>
            <a:solidFill>
              <a:schemeClr val="tx1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73" name="直線箭頭接點 72">
            <a:extLst>
              <a:ext uri="{FF2B5EF4-FFF2-40B4-BE49-F238E27FC236}">
                <a16:creationId xmlns:a16="http://schemas.microsoft.com/office/drawing/2014/main" id="{CC6448D2-89C4-FAB7-F15C-C59828D9B2AA}"/>
              </a:ext>
            </a:extLst>
          </p:cNvPr>
          <p:cNvCxnSpPr>
            <a:cxnSpLocks/>
          </p:cNvCxnSpPr>
          <p:nvPr/>
        </p:nvCxnSpPr>
        <p:spPr>
          <a:xfrm flipV="1">
            <a:off x="5135531" y="4825311"/>
            <a:ext cx="0" cy="248679"/>
          </a:xfrm>
          <a:prstGeom prst="straightConnector1">
            <a:avLst/>
          </a:prstGeom>
          <a:ln>
            <a:solidFill>
              <a:schemeClr val="tx1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74" name="文字方塊 73">
            <a:extLst>
              <a:ext uri="{FF2B5EF4-FFF2-40B4-BE49-F238E27FC236}">
                <a16:creationId xmlns:a16="http://schemas.microsoft.com/office/drawing/2014/main" id="{AD29305A-F691-CFA9-FD79-D0D413C6D1EC}"/>
              </a:ext>
            </a:extLst>
          </p:cNvPr>
          <p:cNvSpPr txBox="1"/>
          <p:nvPr/>
        </p:nvSpPr>
        <p:spPr>
          <a:xfrm>
            <a:off x="6182953" y="5876593"/>
            <a:ext cx="398516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kumimoji="1" lang="en-US" altLang="zh-TW" dirty="0"/>
              <a:t>_</a:t>
            </a:r>
            <a:endParaRPr kumimoji="1" lang="zh-TW" altLang="en-US" dirty="0"/>
          </a:p>
        </p:txBody>
      </p:sp>
      <p:sp>
        <p:nvSpPr>
          <p:cNvPr id="79" name="矩形 78">
            <a:extLst>
              <a:ext uri="{FF2B5EF4-FFF2-40B4-BE49-F238E27FC236}">
                <a16:creationId xmlns:a16="http://schemas.microsoft.com/office/drawing/2014/main" id="{3E7FDBAC-60FB-1FD1-4807-A990D0780315}"/>
              </a:ext>
            </a:extLst>
          </p:cNvPr>
          <p:cNvSpPr/>
          <p:nvPr/>
        </p:nvSpPr>
        <p:spPr>
          <a:xfrm>
            <a:off x="6065816" y="5134787"/>
            <a:ext cx="575253" cy="379818"/>
          </a:xfrm>
          <a:prstGeom prst="rect">
            <a:avLst/>
          </a:prstGeom>
          <a:noFill/>
          <a:ln>
            <a:solidFill>
              <a:schemeClr val="tx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kumimoji="1" lang="en-US" altLang="zh-TW" sz="1400" dirty="0">
                <a:solidFill>
                  <a:schemeClr val="tx1"/>
                </a:solidFill>
              </a:rPr>
              <a:t>RNN</a:t>
            </a:r>
            <a:endParaRPr kumimoji="1" lang="zh-TW" altLang="en-US" sz="1400" dirty="0">
              <a:solidFill>
                <a:schemeClr val="tx1"/>
              </a:solidFill>
            </a:endParaRPr>
          </a:p>
        </p:txBody>
      </p:sp>
      <p:cxnSp>
        <p:nvCxnSpPr>
          <p:cNvPr id="84" name="直線箭頭接點 83">
            <a:extLst>
              <a:ext uri="{FF2B5EF4-FFF2-40B4-BE49-F238E27FC236}">
                <a16:creationId xmlns:a16="http://schemas.microsoft.com/office/drawing/2014/main" id="{BF81CE4C-AB82-CB11-E6C7-AD76313C2737}"/>
              </a:ext>
            </a:extLst>
          </p:cNvPr>
          <p:cNvCxnSpPr>
            <a:cxnSpLocks/>
          </p:cNvCxnSpPr>
          <p:nvPr/>
        </p:nvCxnSpPr>
        <p:spPr>
          <a:xfrm flipV="1">
            <a:off x="6371325" y="5607843"/>
            <a:ext cx="0" cy="248679"/>
          </a:xfrm>
          <a:prstGeom prst="straightConnector1">
            <a:avLst/>
          </a:prstGeom>
          <a:ln>
            <a:solidFill>
              <a:schemeClr val="tx1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05" name="直線箭頭接點 104">
            <a:extLst>
              <a:ext uri="{FF2B5EF4-FFF2-40B4-BE49-F238E27FC236}">
                <a16:creationId xmlns:a16="http://schemas.microsoft.com/office/drawing/2014/main" id="{8693E33F-58AE-0723-D878-7E9842DFB8F9}"/>
              </a:ext>
            </a:extLst>
          </p:cNvPr>
          <p:cNvCxnSpPr>
            <a:cxnSpLocks/>
          </p:cNvCxnSpPr>
          <p:nvPr/>
        </p:nvCxnSpPr>
        <p:spPr>
          <a:xfrm>
            <a:off x="1530350" y="5324624"/>
            <a:ext cx="344029" cy="0"/>
          </a:xfrm>
          <a:prstGeom prst="straightConnector1">
            <a:avLst/>
          </a:prstGeom>
          <a:ln>
            <a:solidFill>
              <a:schemeClr val="tx1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07" name="直線箭頭接點 106">
            <a:extLst>
              <a:ext uri="{FF2B5EF4-FFF2-40B4-BE49-F238E27FC236}">
                <a16:creationId xmlns:a16="http://schemas.microsoft.com/office/drawing/2014/main" id="{EB4ACAEB-8FDB-3F6E-BD24-B7F47BE6C293}"/>
              </a:ext>
            </a:extLst>
          </p:cNvPr>
          <p:cNvCxnSpPr>
            <a:cxnSpLocks/>
          </p:cNvCxnSpPr>
          <p:nvPr/>
        </p:nvCxnSpPr>
        <p:spPr>
          <a:xfrm>
            <a:off x="2495216" y="5324624"/>
            <a:ext cx="344029" cy="0"/>
          </a:xfrm>
          <a:prstGeom prst="straightConnector1">
            <a:avLst/>
          </a:prstGeom>
          <a:ln>
            <a:solidFill>
              <a:schemeClr val="tx1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08" name="直線箭頭接點 107">
            <a:extLst>
              <a:ext uri="{FF2B5EF4-FFF2-40B4-BE49-F238E27FC236}">
                <a16:creationId xmlns:a16="http://schemas.microsoft.com/office/drawing/2014/main" id="{8B234FDF-CD61-7D0E-716C-7B5628F20B4B}"/>
              </a:ext>
            </a:extLst>
          </p:cNvPr>
          <p:cNvCxnSpPr>
            <a:cxnSpLocks/>
          </p:cNvCxnSpPr>
          <p:nvPr/>
        </p:nvCxnSpPr>
        <p:spPr>
          <a:xfrm>
            <a:off x="3480670" y="5324624"/>
            <a:ext cx="344029" cy="0"/>
          </a:xfrm>
          <a:prstGeom prst="straightConnector1">
            <a:avLst/>
          </a:prstGeom>
          <a:ln>
            <a:solidFill>
              <a:schemeClr val="tx1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09" name="直線箭頭接點 108">
            <a:extLst>
              <a:ext uri="{FF2B5EF4-FFF2-40B4-BE49-F238E27FC236}">
                <a16:creationId xmlns:a16="http://schemas.microsoft.com/office/drawing/2014/main" id="{780CE823-1E4E-306E-2684-15413BE34DDF}"/>
              </a:ext>
            </a:extLst>
          </p:cNvPr>
          <p:cNvCxnSpPr>
            <a:cxnSpLocks/>
          </p:cNvCxnSpPr>
          <p:nvPr/>
        </p:nvCxnSpPr>
        <p:spPr>
          <a:xfrm>
            <a:off x="4492990" y="5324624"/>
            <a:ext cx="344029" cy="0"/>
          </a:xfrm>
          <a:prstGeom prst="straightConnector1">
            <a:avLst/>
          </a:prstGeom>
          <a:ln>
            <a:solidFill>
              <a:schemeClr val="tx1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grpSp>
        <p:nvGrpSpPr>
          <p:cNvPr id="174" name="群組 173">
            <a:extLst>
              <a:ext uri="{FF2B5EF4-FFF2-40B4-BE49-F238E27FC236}">
                <a16:creationId xmlns:a16="http://schemas.microsoft.com/office/drawing/2014/main" id="{F5B21701-26EE-FFD4-7FCF-1E7BCDA59BF0}"/>
              </a:ext>
            </a:extLst>
          </p:cNvPr>
          <p:cNvGrpSpPr/>
          <p:nvPr/>
        </p:nvGrpSpPr>
        <p:grpSpPr>
          <a:xfrm>
            <a:off x="6681569" y="5134787"/>
            <a:ext cx="1019335" cy="1111138"/>
            <a:chOff x="6681569" y="5134787"/>
            <a:chExt cx="1019335" cy="1111138"/>
          </a:xfrm>
        </p:grpSpPr>
        <p:sp>
          <p:nvSpPr>
            <p:cNvPr id="75" name="文字方塊 74">
              <a:extLst>
                <a:ext uri="{FF2B5EF4-FFF2-40B4-BE49-F238E27FC236}">
                  <a16:creationId xmlns:a16="http://schemas.microsoft.com/office/drawing/2014/main" id="{5507FF3D-38D9-72AE-D4A0-E629376042F7}"/>
                </a:ext>
              </a:extLst>
            </p:cNvPr>
            <p:cNvSpPr txBox="1"/>
            <p:nvPr/>
          </p:nvSpPr>
          <p:spPr>
            <a:xfrm>
              <a:off x="6981299" y="5876593"/>
              <a:ext cx="719605" cy="369332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pPr algn="ctr"/>
              <a:r>
                <a:rPr kumimoji="1" lang="en-US" altLang="zh-TW" dirty="0"/>
                <a:t>I</a:t>
              </a:r>
              <a:endParaRPr kumimoji="1" lang="zh-TW" altLang="en-US" dirty="0"/>
            </a:p>
          </p:txBody>
        </p:sp>
        <p:sp>
          <p:nvSpPr>
            <p:cNvPr id="80" name="矩形 79">
              <a:extLst>
                <a:ext uri="{FF2B5EF4-FFF2-40B4-BE49-F238E27FC236}">
                  <a16:creationId xmlns:a16="http://schemas.microsoft.com/office/drawing/2014/main" id="{F1F57040-6CC3-FB33-515C-4AE7606D9CB0}"/>
                </a:ext>
              </a:extLst>
            </p:cNvPr>
            <p:cNvSpPr/>
            <p:nvPr/>
          </p:nvSpPr>
          <p:spPr>
            <a:xfrm>
              <a:off x="7056125" y="5134787"/>
              <a:ext cx="575253" cy="379818"/>
            </a:xfrm>
            <a:prstGeom prst="rect">
              <a:avLst/>
            </a:prstGeom>
            <a:noFill/>
            <a:ln>
              <a:solidFill>
                <a:schemeClr val="tx1"/>
              </a:solidFill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r>
                <a:rPr kumimoji="1" lang="en-US" altLang="zh-TW" sz="1400" dirty="0">
                  <a:solidFill>
                    <a:schemeClr val="tx1"/>
                  </a:solidFill>
                </a:rPr>
                <a:t>RNN</a:t>
              </a:r>
              <a:endParaRPr kumimoji="1" lang="zh-TW" altLang="en-US" sz="1400" dirty="0">
                <a:solidFill>
                  <a:schemeClr val="tx1"/>
                </a:solidFill>
              </a:endParaRPr>
            </a:p>
          </p:txBody>
        </p:sp>
        <p:cxnSp>
          <p:nvCxnSpPr>
            <p:cNvPr id="86" name="直線箭頭接點 85">
              <a:extLst>
                <a:ext uri="{FF2B5EF4-FFF2-40B4-BE49-F238E27FC236}">
                  <a16:creationId xmlns:a16="http://schemas.microsoft.com/office/drawing/2014/main" id="{CA7779AB-C2C1-5041-039A-252E88CB4C41}"/>
                </a:ext>
              </a:extLst>
            </p:cNvPr>
            <p:cNvCxnSpPr>
              <a:cxnSpLocks/>
            </p:cNvCxnSpPr>
            <p:nvPr/>
          </p:nvCxnSpPr>
          <p:spPr>
            <a:xfrm flipV="1">
              <a:off x="7343751" y="5607843"/>
              <a:ext cx="0" cy="248679"/>
            </a:xfrm>
            <a:prstGeom prst="straightConnector1">
              <a:avLst/>
            </a:prstGeom>
            <a:ln>
              <a:solidFill>
                <a:schemeClr val="tx1"/>
              </a:solidFill>
              <a:tailEnd type="triangle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110" name="直線箭頭接點 109">
              <a:extLst>
                <a:ext uri="{FF2B5EF4-FFF2-40B4-BE49-F238E27FC236}">
                  <a16:creationId xmlns:a16="http://schemas.microsoft.com/office/drawing/2014/main" id="{5528168B-A750-3A38-4B4E-F4B73C08CD7F}"/>
                </a:ext>
              </a:extLst>
            </p:cNvPr>
            <p:cNvCxnSpPr>
              <a:cxnSpLocks/>
            </p:cNvCxnSpPr>
            <p:nvPr/>
          </p:nvCxnSpPr>
          <p:spPr>
            <a:xfrm>
              <a:off x="6681569" y="5324624"/>
              <a:ext cx="344029" cy="0"/>
            </a:xfrm>
            <a:prstGeom prst="straightConnector1">
              <a:avLst/>
            </a:prstGeom>
            <a:ln>
              <a:solidFill>
                <a:schemeClr val="tx1"/>
              </a:solidFill>
              <a:tailEnd type="triangle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</p:grpSp>
      <p:cxnSp>
        <p:nvCxnSpPr>
          <p:cNvPr id="85" name="直線箭頭接點 84">
            <a:extLst>
              <a:ext uri="{FF2B5EF4-FFF2-40B4-BE49-F238E27FC236}">
                <a16:creationId xmlns:a16="http://schemas.microsoft.com/office/drawing/2014/main" id="{6FD3C545-6857-CA6B-BAAD-6A8F4928415E}"/>
              </a:ext>
            </a:extLst>
          </p:cNvPr>
          <p:cNvCxnSpPr>
            <a:cxnSpLocks/>
          </p:cNvCxnSpPr>
          <p:nvPr/>
        </p:nvCxnSpPr>
        <p:spPr>
          <a:xfrm flipV="1">
            <a:off x="6382211" y="4825311"/>
            <a:ext cx="0" cy="248679"/>
          </a:xfrm>
          <a:prstGeom prst="straightConnector1">
            <a:avLst/>
          </a:prstGeom>
          <a:ln>
            <a:solidFill>
              <a:schemeClr val="tx1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50" name="圓角矩形 49">
            <a:extLst>
              <a:ext uri="{FF2B5EF4-FFF2-40B4-BE49-F238E27FC236}">
                <a16:creationId xmlns:a16="http://schemas.microsoft.com/office/drawing/2014/main" id="{1D9241BF-7E86-6135-9B66-A903AAF2E2E0}"/>
              </a:ext>
            </a:extLst>
          </p:cNvPr>
          <p:cNvSpPr/>
          <p:nvPr/>
        </p:nvSpPr>
        <p:spPr>
          <a:xfrm rot="16200000">
            <a:off x="6192813" y="4419031"/>
            <a:ext cx="372490" cy="205528"/>
          </a:xfrm>
          <a:prstGeom prst="roundRect">
            <a:avLst/>
          </a:prstGeom>
          <a:solidFill>
            <a:srgbClr val="C6E0B4"/>
          </a:solidFill>
          <a:ln w="19050">
            <a:solidFill>
              <a:schemeClr val="tx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kumimoji="1" lang="zh-TW" altLang="en-US"/>
          </a:p>
        </p:txBody>
      </p:sp>
      <p:cxnSp>
        <p:nvCxnSpPr>
          <p:cNvPr id="147" name="直線箭頭接點 146">
            <a:extLst>
              <a:ext uri="{FF2B5EF4-FFF2-40B4-BE49-F238E27FC236}">
                <a16:creationId xmlns:a16="http://schemas.microsoft.com/office/drawing/2014/main" id="{C3CAB93E-BE0A-984B-0120-B219B93BCEDF}"/>
              </a:ext>
            </a:extLst>
          </p:cNvPr>
          <p:cNvCxnSpPr>
            <a:cxnSpLocks/>
          </p:cNvCxnSpPr>
          <p:nvPr/>
        </p:nvCxnSpPr>
        <p:spPr>
          <a:xfrm flipV="1">
            <a:off x="6382211" y="4012978"/>
            <a:ext cx="0" cy="248679"/>
          </a:xfrm>
          <a:prstGeom prst="straightConnector1">
            <a:avLst/>
          </a:prstGeom>
          <a:ln>
            <a:solidFill>
              <a:schemeClr val="tx1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mc:AlternateContent xmlns:mc="http://schemas.openxmlformats.org/markup-compatibility/2006" xmlns:a14="http://schemas.microsoft.com/office/drawing/2010/main">
        <mc:Choice Requires="a14">
          <p:sp>
            <p:nvSpPr>
              <p:cNvPr id="160" name="文字方塊 159">
                <a:extLst>
                  <a:ext uri="{FF2B5EF4-FFF2-40B4-BE49-F238E27FC236}">
                    <a16:creationId xmlns:a16="http://schemas.microsoft.com/office/drawing/2014/main" id="{71D2BEA9-206C-1C7F-7F78-2795C5F6B0E4}"/>
                  </a:ext>
                </a:extLst>
              </p:cNvPr>
              <p:cNvSpPr txBox="1"/>
              <p:nvPr/>
            </p:nvSpPr>
            <p:spPr>
              <a:xfrm>
                <a:off x="6117565" y="4315478"/>
                <a:ext cx="541313" cy="369332"/>
              </a:xfrm>
              <a:prstGeom prst="rect">
                <a:avLst/>
              </a:prstGeom>
              <a:noFill/>
            </p:spPr>
            <p:txBody>
              <a:bodyPr wrap="square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sSub>
                        <m:sSubPr>
                          <m:ctrlPr>
                            <a:rPr lang="zh-TW" altLang="en-US" i="1" smtClean="0"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a:rPr lang="en-US" altLang="zh-TW" b="0" i="1" smtClean="0">
                              <a:latin typeface="Cambria Math" panose="02040503050406030204" pitchFamily="18" charset="0"/>
                            </a:rPr>
                            <m:t>𝑠</m:t>
                          </m:r>
                        </m:e>
                        <m:sub>
                          <m:r>
                            <a:rPr lang="en-US" altLang="zh-TW" b="0" i="1" smtClean="0">
                              <a:latin typeface="Cambria Math" panose="02040503050406030204" pitchFamily="18" charset="0"/>
                            </a:rPr>
                            <m:t>1</m:t>
                          </m:r>
                        </m:sub>
                      </m:sSub>
                    </m:oMath>
                  </m:oMathPara>
                </a14:m>
                <a:endParaRPr lang="zh-TW" altLang="en-US" dirty="0"/>
              </a:p>
            </p:txBody>
          </p:sp>
        </mc:Choice>
        <mc:Fallback xmlns="">
          <p:sp>
            <p:nvSpPr>
              <p:cNvPr id="160" name="文字方塊 159">
                <a:extLst>
                  <a:ext uri="{FF2B5EF4-FFF2-40B4-BE49-F238E27FC236}">
                    <a16:creationId xmlns:a16="http://schemas.microsoft.com/office/drawing/2014/main" id="{71D2BEA9-206C-1C7F-7F78-2795C5F6B0E4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6117565" y="4315478"/>
                <a:ext cx="541313" cy="369332"/>
              </a:xfrm>
              <a:prstGeom prst="rect">
                <a:avLst/>
              </a:prstGeom>
              <a:blipFill>
                <a:blip r:embed="rId7"/>
                <a:stretch>
                  <a:fillRect/>
                </a:stretch>
              </a:blipFill>
            </p:spPr>
            <p:txBody>
              <a:bodyPr/>
              <a:lstStyle/>
              <a:p>
                <a:r>
                  <a:rPr lang="zh-TW" altLang="en-US">
                    <a:noFill/>
                  </a:rPr>
                  <a:t> </a:t>
                </a:r>
              </a:p>
            </p:txBody>
          </p:sp>
        </mc:Fallback>
      </mc:AlternateContent>
      <p:cxnSp>
        <p:nvCxnSpPr>
          <p:cNvPr id="87" name="直線箭頭接點 86">
            <a:extLst>
              <a:ext uri="{FF2B5EF4-FFF2-40B4-BE49-F238E27FC236}">
                <a16:creationId xmlns:a16="http://schemas.microsoft.com/office/drawing/2014/main" id="{C5A2F45E-E9E4-32D7-16C5-F7377A6220F4}"/>
              </a:ext>
            </a:extLst>
          </p:cNvPr>
          <p:cNvCxnSpPr>
            <a:cxnSpLocks/>
          </p:cNvCxnSpPr>
          <p:nvPr/>
        </p:nvCxnSpPr>
        <p:spPr>
          <a:xfrm flipV="1">
            <a:off x="7343751" y="4825311"/>
            <a:ext cx="0" cy="248679"/>
          </a:xfrm>
          <a:prstGeom prst="straightConnector1">
            <a:avLst/>
          </a:prstGeom>
          <a:ln>
            <a:solidFill>
              <a:schemeClr val="tx1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115" name="圓角矩形 114">
            <a:extLst>
              <a:ext uri="{FF2B5EF4-FFF2-40B4-BE49-F238E27FC236}">
                <a16:creationId xmlns:a16="http://schemas.microsoft.com/office/drawing/2014/main" id="{DB349061-6ADE-44F3-7176-E7ED517535F7}"/>
              </a:ext>
            </a:extLst>
          </p:cNvPr>
          <p:cNvSpPr/>
          <p:nvPr/>
        </p:nvSpPr>
        <p:spPr>
          <a:xfrm rot="16200000">
            <a:off x="7153651" y="4419031"/>
            <a:ext cx="372490" cy="205528"/>
          </a:xfrm>
          <a:prstGeom prst="roundRect">
            <a:avLst/>
          </a:prstGeom>
          <a:solidFill>
            <a:srgbClr val="C6E0B4"/>
          </a:solidFill>
          <a:ln w="19050">
            <a:solidFill>
              <a:schemeClr val="tx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kumimoji="1" lang="zh-TW" altLang="en-US"/>
          </a:p>
        </p:txBody>
      </p:sp>
      <p:cxnSp>
        <p:nvCxnSpPr>
          <p:cNvPr id="125" name="直線箭頭接點 124">
            <a:extLst>
              <a:ext uri="{FF2B5EF4-FFF2-40B4-BE49-F238E27FC236}">
                <a16:creationId xmlns:a16="http://schemas.microsoft.com/office/drawing/2014/main" id="{04293B29-9EC0-3D6A-C756-7C324EB37688}"/>
              </a:ext>
            </a:extLst>
          </p:cNvPr>
          <p:cNvCxnSpPr>
            <a:cxnSpLocks/>
          </p:cNvCxnSpPr>
          <p:nvPr/>
        </p:nvCxnSpPr>
        <p:spPr>
          <a:xfrm flipV="1">
            <a:off x="7343118" y="4008381"/>
            <a:ext cx="0" cy="248679"/>
          </a:xfrm>
          <a:prstGeom prst="straightConnector1">
            <a:avLst/>
          </a:prstGeom>
          <a:ln>
            <a:solidFill>
              <a:schemeClr val="tx1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mc:AlternateContent xmlns:mc="http://schemas.openxmlformats.org/markup-compatibility/2006" xmlns:a14="http://schemas.microsoft.com/office/drawing/2010/main">
        <mc:Choice Requires="a14">
          <p:sp>
            <p:nvSpPr>
              <p:cNvPr id="161" name="文字方塊 160">
                <a:extLst>
                  <a:ext uri="{FF2B5EF4-FFF2-40B4-BE49-F238E27FC236}">
                    <a16:creationId xmlns:a16="http://schemas.microsoft.com/office/drawing/2014/main" id="{CD6EC75C-0B5F-EE0A-B8EB-021527707F47}"/>
                  </a:ext>
                </a:extLst>
              </p:cNvPr>
              <p:cNvSpPr txBox="1"/>
              <p:nvPr/>
            </p:nvSpPr>
            <p:spPr>
              <a:xfrm>
                <a:off x="7076020" y="4335549"/>
                <a:ext cx="541313" cy="369332"/>
              </a:xfrm>
              <a:prstGeom prst="rect">
                <a:avLst/>
              </a:prstGeom>
              <a:noFill/>
            </p:spPr>
            <p:txBody>
              <a:bodyPr wrap="square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sSub>
                        <m:sSubPr>
                          <m:ctrlPr>
                            <a:rPr lang="zh-TW" altLang="en-US" i="1" smtClean="0"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a:rPr lang="en-US" altLang="zh-TW" b="0" i="1" smtClean="0">
                              <a:latin typeface="Cambria Math" panose="02040503050406030204" pitchFamily="18" charset="0"/>
                            </a:rPr>
                            <m:t>𝑠</m:t>
                          </m:r>
                        </m:e>
                        <m:sub>
                          <m:r>
                            <a:rPr lang="en-US" altLang="zh-TW" b="0" i="1" smtClean="0">
                              <a:latin typeface="Cambria Math" panose="02040503050406030204" pitchFamily="18" charset="0"/>
                            </a:rPr>
                            <m:t>2</m:t>
                          </m:r>
                        </m:sub>
                      </m:sSub>
                    </m:oMath>
                  </m:oMathPara>
                </a14:m>
                <a:endParaRPr lang="zh-TW" altLang="en-US" dirty="0"/>
              </a:p>
            </p:txBody>
          </p:sp>
        </mc:Choice>
        <mc:Fallback xmlns="">
          <p:sp>
            <p:nvSpPr>
              <p:cNvPr id="161" name="文字方塊 160">
                <a:extLst>
                  <a:ext uri="{FF2B5EF4-FFF2-40B4-BE49-F238E27FC236}">
                    <a16:creationId xmlns:a16="http://schemas.microsoft.com/office/drawing/2014/main" id="{CD6EC75C-0B5F-EE0A-B8EB-021527707F47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7076020" y="4335549"/>
                <a:ext cx="541313" cy="369332"/>
              </a:xfrm>
              <a:prstGeom prst="rect">
                <a:avLst/>
              </a:prstGeom>
              <a:blipFill>
                <a:blip r:embed="rId8"/>
                <a:stretch>
                  <a:fillRect b="-3333"/>
                </a:stretch>
              </a:blipFill>
            </p:spPr>
            <p:txBody>
              <a:bodyPr/>
              <a:lstStyle/>
              <a:p>
                <a:r>
                  <a:rPr lang="zh-TW" altLang="en-US">
                    <a:noFill/>
                  </a:rPr>
                  <a:t> </a:t>
                </a:r>
              </a:p>
            </p:txBody>
          </p:sp>
        </mc:Fallback>
      </mc:AlternateContent>
      <p:sp>
        <p:nvSpPr>
          <p:cNvPr id="7" name="圓角矩形 6">
            <a:extLst>
              <a:ext uri="{FF2B5EF4-FFF2-40B4-BE49-F238E27FC236}">
                <a16:creationId xmlns:a16="http://schemas.microsoft.com/office/drawing/2014/main" id="{E4B84E33-C79A-AC82-DA12-278E8E7DA540}"/>
              </a:ext>
            </a:extLst>
          </p:cNvPr>
          <p:cNvSpPr/>
          <p:nvPr/>
        </p:nvSpPr>
        <p:spPr>
          <a:xfrm>
            <a:off x="1052704" y="3930616"/>
            <a:ext cx="343791" cy="864699"/>
          </a:xfrm>
          <a:prstGeom prst="roundRect">
            <a:avLst/>
          </a:prstGeom>
          <a:noFill/>
          <a:ln>
            <a:solidFill>
              <a:srgbClr val="FF0000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kumimoji="1" lang="zh-TW" altLang="en-US"/>
          </a:p>
        </p:txBody>
      </p:sp>
      <mc:AlternateContent xmlns:mc="http://schemas.openxmlformats.org/markup-compatibility/2006" xmlns:a14="http://schemas.microsoft.com/office/drawing/2010/main">
        <mc:Choice Requires="a14">
          <p:sp>
            <p:nvSpPr>
              <p:cNvPr id="10" name="文字方塊 9">
                <a:extLst>
                  <a:ext uri="{FF2B5EF4-FFF2-40B4-BE49-F238E27FC236}">
                    <a16:creationId xmlns:a16="http://schemas.microsoft.com/office/drawing/2014/main" id="{607BCFAB-9C1D-BFE1-143C-648056DB062A}"/>
                  </a:ext>
                </a:extLst>
              </p:cNvPr>
              <p:cNvSpPr txBox="1"/>
              <p:nvPr/>
            </p:nvSpPr>
            <p:spPr>
              <a:xfrm>
                <a:off x="949631" y="3265111"/>
                <a:ext cx="575249" cy="400110"/>
              </a:xfrm>
              <a:prstGeom prst="rect">
                <a:avLst/>
              </a:prstGeom>
              <a:noFill/>
            </p:spPr>
            <p:txBody>
              <a:bodyPr wrap="square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sSub>
                        <m:sSubPr>
                          <m:ctrlPr>
                            <a:rPr lang="zh-TW" altLang="zh-TW" sz="2000" i="1" smtClean="0">
                              <a:solidFill>
                                <a:srgbClr val="FF0000"/>
                              </a:solidFill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a:rPr lang="en-US" altLang="zh-TW" sz="2000" i="1">
                              <a:solidFill>
                                <a:srgbClr val="FF0000"/>
                              </a:solidFill>
                              <a:latin typeface="Cambria Math" panose="02040503050406030204" pitchFamily="18" charset="0"/>
                            </a:rPr>
                            <m:t>𝛼</m:t>
                          </m:r>
                        </m:e>
                        <m:sub>
                          <m:r>
                            <a:rPr lang="en-US" altLang="zh-TW" sz="2000" b="0" i="1" smtClean="0">
                              <a:solidFill>
                                <a:srgbClr val="FF0000"/>
                              </a:solidFill>
                              <a:latin typeface="Cambria Math" panose="02040503050406030204" pitchFamily="18" charset="0"/>
                            </a:rPr>
                            <m:t>31</m:t>
                          </m:r>
                        </m:sub>
                      </m:sSub>
                    </m:oMath>
                  </m:oMathPara>
                </a14:m>
                <a:endParaRPr lang="zh-TW" altLang="en-US" sz="2000" dirty="0">
                  <a:solidFill>
                    <a:srgbClr val="FF0000"/>
                  </a:solidFill>
                </a:endParaRPr>
              </a:p>
            </p:txBody>
          </p:sp>
        </mc:Choice>
        <mc:Fallback xmlns="">
          <p:sp>
            <p:nvSpPr>
              <p:cNvPr id="10" name="文字方塊 9">
                <a:extLst>
                  <a:ext uri="{FF2B5EF4-FFF2-40B4-BE49-F238E27FC236}">
                    <a16:creationId xmlns:a16="http://schemas.microsoft.com/office/drawing/2014/main" id="{607BCFAB-9C1D-BFE1-143C-648056DB062A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949631" y="3265111"/>
                <a:ext cx="575249" cy="400110"/>
              </a:xfrm>
              <a:prstGeom prst="rect">
                <a:avLst/>
              </a:prstGeom>
              <a:blipFill>
                <a:blip r:embed="rId9"/>
                <a:stretch>
                  <a:fillRect/>
                </a:stretch>
              </a:blipFill>
            </p:spPr>
            <p:txBody>
              <a:bodyPr/>
              <a:lstStyle/>
              <a:p>
                <a:r>
                  <a:rPr lang="zh-TW" altLang="en-US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 xmlns:a14="http://schemas.microsoft.com/office/drawing/2010/main">
        <mc:Choice Requires="a14">
          <p:sp>
            <p:nvSpPr>
              <p:cNvPr id="12" name="文字方塊 11">
                <a:extLst>
                  <a:ext uri="{FF2B5EF4-FFF2-40B4-BE49-F238E27FC236}">
                    <a16:creationId xmlns:a16="http://schemas.microsoft.com/office/drawing/2014/main" id="{1CD73B98-4F03-342D-8E6B-ADE90330F340}"/>
                  </a:ext>
                </a:extLst>
              </p:cNvPr>
              <p:cNvSpPr txBox="1"/>
              <p:nvPr/>
            </p:nvSpPr>
            <p:spPr>
              <a:xfrm>
                <a:off x="1874379" y="3265111"/>
                <a:ext cx="575249" cy="400110"/>
              </a:xfrm>
              <a:prstGeom prst="rect">
                <a:avLst/>
              </a:prstGeom>
              <a:noFill/>
            </p:spPr>
            <p:txBody>
              <a:bodyPr wrap="square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sSub>
                        <m:sSubPr>
                          <m:ctrlPr>
                            <a:rPr lang="zh-TW" altLang="zh-TW" sz="2000" i="1" smtClean="0">
                              <a:solidFill>
                                <a:srgbClr val="FF0000"/>
                              </a:solidFill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a:rPr lang="en-US" altLang="zh-TW" sz="2000" i="1">
                              <a:solidFill>
                                <a:srgbClr val="FF0000"/>
                              </a:solidFill>
                              <a:latin typeface="Cambria Math" panose="02040503050406030204" pitchFamily="18" charset="0"/>
                            </a:rPr>
                            <m:t>𝛼</m:t>
                          </m:r>
                        </m:e>
                        <m:sub>
                          <m:r>
                            <a:rPr lang="en-US" altLang="zh-TW" sz="2000" b="0" i="1" smtClean="0">
                              <a:solidFill>
                                <a:srgbClr val="FF0000"/>
                              </a:solidFill>
                              <a:latin typeface="Cambria Math" panose="02040503050406030204" pitchFamily="18" charset="0"/>
                            </a:rPr>
                            <m:t>32</m:t>
                          </m:r>
                        </m:sub>
                      </m:sSub>
                    </m:oMath>
                  </m:oMathPara>
                </a14:m>
                <a:endParaRPr lang="zh-TW" altLang="en-US" sz="2000" dirty="0">
                  <a:solidFill>
                    <a:srgbClr val="FF0000"/>
                  </a:solidFill>
                </a:endParaRPr>
              </a:p>
            </p:txBody>
          </p:sp>
        </mc:Choice>
        <mc:Fallback xmlns="">
          <p:sp>
            <p:nvSpPr>
              <p:cNvPr id="12" name="文字方塊 11">
                <a:extLst>
                  <a:ext uri="{FF2B5EF4-FFF2-40B4-BE49-F238E27FC236}">
                    <a16:creationId xmlns:a16="http://schemas.microsoft.com/office/drawing/2014/main" id="{1CD73B98-4F03-342D-8E6B-ADE90330F340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1874379" y="3265111"/>
                <a:ext cx="575249" cy="400110"/>
              </a:xfrm>
              <a:prstGeom prst="rect">
                <a:avLst/>
              </a:prstGeom>
              <a:blipFill>
                <a:blip r:embed="rId10"/>
                <a:stretch>
                  <a:fillRect/>
                </a:stretch>
              </a:blipFill>
            </p:spPr>
            <p:txBody>
              <a:bodyPr/>
              <a:lstStyle/>
              <a:p>
                <a:r>
                  <a:rPr lang="zh-TW" altLang="en-US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 xmlns:a14="http://schemas.microsoft.com/office/drawing/2010/main">
        <mc:Choice Requires="a14">
          <p:sp>
            <p:nvSpPr>
              <p:cNvPr id="13" name="文字方塊 12">
                <a:extLst>
                  <a:ext uri="{FF2B5EF4-FFF2-40B4-BE49-F238E27FC236}">
                    <a16:creationId xmlns:a16="http://schemas.microsoft.com/office/drawing/2014/main" id="{47A1DBF4-C268-204A-CC03-A3F97C93B1FB}"/>
                  </a:ext>
                </a:extLst>
              </p:cNvPr>
              <p:cNvSpPr txBox="1"/>
              <p:nvPr/>
            </p:nvSpPr>
            <p:spPr>
              <a:xfrm>
                <a:off x="2841162" y="3265111"/>
                <a:ext cx="575249" cy="400110"/>
              </a:xfrm>
              <a:prstGeom prst="rect">
                <a:avLst/>
              </a:prstGeom>
              <a:noFill/>
            </p:spPr>
            <p:txBody>
              <a:bodyPr wrap="square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sSub>
                        <m:sSubPr>
                          <m:ctrlPr>
                            <a:rPr lang="zh-TW" altLang="zh-TW" sz="2000" i="1" smtClean="0">
                              <a:solidFill>
                                <a:srgbClr val="FF0000"/>
                              </a:solidFill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a:rPr lang="en-US" altLang="zh-TW" sz="2000" i="1">
                              <a:solidFill>
                                <a:srgbClr val="FF0000"/>
                              </a:solidFill>
                              <a:latin typeface="Cambria Math" panose="02040503050406030204" pitchFamily="18" charset="0"/>
                            </a:rPr>
                            <m:t>𝛼</m:t>
                          </m:r>
                        </m:e>
                        <m:sub>
                          <m:r>
                            <a:rPr lang="en-US" altLang="zh-TW" sz="2000" b="0" i="1" smtClean="0">
                              <a:solidFill>
                                <a:srgbClr val="FF0000"/>
                              </a:solidFill>
                              <a:latin typeface="Cambria Math" panose="02040503050406030204" pitchFamily="18" charset="0"/>
                            </a:rPr>
                            <m:t>33</m:t>
                          </m:r>
                        </m:sub>
                      </m:sSub>
                    </m:oMath>
                  </m:oMathPara>
                </a14:m>
                <a:endParaRPr lang="zh-TW" altLang="en-US" sz="2000" dirty="0">
                  <a:solidFill>
                    <a:srgbClr val="FF0000"/>
                  </a:solidFill>
                </a:endParaRPr>
              </a:p>
            </p:txBody>
          </p:sp>
        </mc:Choice>
        <mc:Fallback xmlns="">
          <p:sp>
            <p:nvSpPr>
              <p:cNvPr id="13" name="文字方塊 12">
                <a:extLst>
                  <a:ext uri="{FF2B5EF4-FFF2-40B4-BE49-F238E27FC236}">
                    <a16:creationId xmlns:a16="http://schemas.microsoft.com/office/drawing/2014/main" id="{47A1DBF4-C268-204A-CC03-A3F97C93B1FB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2841162" y="3265111"/>
                <a:ext cx="575249" cy="400110"/>
              </a:xfrm>
              <a:prstGeom prst="rect">
                <a:avLst/>
              </a:prstGeom>
              <a:blipFill>
                <a:blip r:embed="rId11"/>
                <a:stretch>
                  <a:fillRect/>
                </a:stretch>
              </a:blipFill>
            </p:spPr>
            <p:txBody>
              <a:bodyPr/>
              <a:lstStyle/>
              <a:p>
                <a:r>
                  <a:rPr lang="zh-TW" altLang="en-US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 xmlns:a14="http://schemas.microsoft.com/office/drawing/2010/main">
        <mc:Choice Requires="a14">
          <p:sp>
            <p:nvSpPr>
              <p:cNvPr id="33" name="文字方塊 32">
                <a:extLst>
                  <a:ext uri="{FF2B5EF4-FFF2-40B4-BE49-F238E27FC236}">
                    <a16:creationId xmlns:a16="http://schemas.microsoft.com/office/drawing/2014/main" id="{65280AB4-310C-E1F8-4190-69E252BE3F08}"/>
                  </a:ext>
                </a:extLst>
              </p:cNvPr>
              <p:cNvSpPr txBox="1"/>
              <p:nvPr/>
            </p:nvSpPr>
            <p:spPr>
              <a:xfrm>
                <a:off x="3865939" y="3265111"/>
                <a:ext cx="575249" cy="400110"/>
              </a:xfrm>
              <a:prstGeom prst="rect">
                <a:avLst/>
              </a:prstGeom>
              <a:noFill/>
            </p:spPr>
            <p:txBody>
              <a:bodyPr wrap="square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sSub>
                        <m:sSubPr>
                          <m:ctrlPr>
                            <a:rPr lang="zh-TW" altLang="zh-TW" sz="2000" i="1" smtClean="0">
                              <a:solidFill>
                                <a:srgbClr val="FF0000"/>
                              </a:solidFill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a:rPr lang="en-US" altLang="zh-TW" sz="2000" i="1">
                              <a:solidFill>
                                <a:srgbClr val="FF0000"/>
                              </a:solidFill>
                              <a:latin typeface="Cambria Math" panose="02040503050406030204" pitchFamily="18" charset="0"/>
                            </a:rPr>
                            <m:t>𝛼</m:t>
                          </m:r>
                        </m:e>
                        <m:sub>
                          <m:r>
                            <a:rPr lang="en-US" altLang="zh-TW" sz="2000" b="0" i="1" smtClean="0">
                              <a:solidFill>
                                <a:srgbClr val="FF0000"/>
                              </a:solidFill>
                              <a:latin typeface="Cambria Math" panose="02040503050406030204" pitchFamily="18" charset="0"/>
                            </a:rPr>
                            <m:t>34</m:t>
                          </m:r>
                        </m:sub>
                      </m:sSub>
                    </m:oMath>
                  </m:oMathPara>
                </a14:m>
                <a:endParaRPr lang="zh-TW" altLang="en-US" sz="2000" dirty="0">
                  <a:solidFill>
                    <a:srgbClr val="FF0000"/>
                  </a:solidFill>
                </a:endParaRPr>
              </a:p>
            </p:txBody>
          </p:sp>
        </mc:Choice>
        <mc:Fallback xmlns="">
          <p:sp>
            <p:nvSpPr>
              <p:cNvPr id="33" name="文字方塊 32">
                <a:extLst>
                  <a:ext uri="{FF2B5EF4-FFF2-40B4-BE49-F238E27FC236}">
                    <a16:creationId xmlns:a16="http://schemas.microsoft.com/office/drawing/2014/main" id="{65280AB4-310C-E1F8-4190-69E252BE3F08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3865939" y="3265111"/>
                <a:ext cx="575249" cy="400110"/>
              </a:xfrm>
              <a:prstGeom prst="rect">
                <a:avLst/>
              </a:prstGeom>
              <a:blipFill>
                <a:blip r:embed="rId12"/>
                <a:stretch>
                  <a:fillRect/>
                </a:stretch>
              </a:blipFill>
            </p:spPr>
            <p:txBody>
              <a:bodyPr/>
              <a:lstStyle/>
              <a:p>
                <a:r>
                  <a:rPr lang="zh-TW" altLang="en-US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 xmlns:a14="http://schemas.microsoft.com/office/drawing/2010/main">
        <mc:Choice Requires="a14">
          <p:sp>
            <p:nvSpPr>
              <p:cNvPr id="34" name="文字方塊 33">
                <a:extLst>
                  <a:ext uri="{FF2B5EF4-FFF2-40B4-BE49-F238E27FC236}">
                    <a16:creationId xmlns:a16="http://schemas.microsoft.com/office/drawing/2014/main" id="{FD616A79-0860-A8FA-EC37-0743B7681141}"/>
                  </a:ext>
                </a:extLst>
              </p:cNvPr>
              <p:cNvSpPr txBox="1"/>
              <p:nvPr/>
            </p:nvSpPr>
            <p:spPr>
              <a:xfrm>
                <a:off x="4847905" y="3265111"/>
                <a:ext cx="575249" cy="400110"/>
              </a:xfrm>
              <a:prstGeom prst="rect">
                <a:avLst/>
              </a:prstGeom>
              <a:noFill/>
            </p:spPr>
            <p:txBody>
              <a:bodyPr wrap="square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sSub>
                        <m:sSubPr>
                          <m:ctrlPr>
                            <a:rPr lang="zh-TW" altLang="zh-TW" sz="2000" i="1" smtClean="0">
                              <a:solidFill>
                                <a:srgbClr val="FF0000"/>
                              </a:solidFill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a:rPr lang="en-US" altLang="zh-TW" sz="2000" i="1">
                              <a:solidFill>
                                <a:srgbClr val="FF0000"/>
                              </a:solidFill>
                              <a:latin typeface="Cambria Math" panose="02040503050406030204" pitchFamily="18" charset="0"/>
                            </a:rPr>
                            <m:t>𝛼</m:t>
                          </m:r>
                        </m:e>
                        <m:sub>
                          <m:r>
                            <a:rPr lang="en-US" altLang="zh-TW" sz="2000" b="0" i="1" smtClean="0">
                              <a:solidFill>
                                <a:srgbClr val="FF0000"/>
                              </a:solidFill>
                              <a:latin typeface="Cambria Math" panose="02040503050406030204" pitchFamily="18" charset="0"/>
                            </a:rPr>
                            <m:t>35</m:t>
                          </m:r>
                        </m:sub>
                      </m:sSub>
                    </m:oMath>
                  </m:oMathPara>
                </a14:m>
                <a:endParaRPr lang="zh-TW" altLang="en-US" sz="2000" dirty="0">
                  <a:solidFill>
                    <a:srgbClr val="FF0000"/>
                  </a:solidFill>
                </a:endParaRPr>
              </a:p>
            </p:txBody>
          </p:sp>
        </mc:Choice>
        <mc:Fallback xmlns="">
          <p:sp>
            <p:nvSpPr>
              <p:cNvPr id="34" name="文字方塊 33">
                <a:extLst>
                  <a:ext uri="{FF2B5EF4-FFF2-40B4-BE49-F238E27FC236}">
                    <a16:creationId xmlns:a16="http://schemas.microsoft.com/office/drawing/2014/main" id="{FD616A79-0860-A8FA-EC37-0743B7681141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4847905" y="3265111"/>
                <a:ext cx="575249" cy="400110"/>
              </a:xfrm>
              <a:prstGeom prst="rect">
                <a:avLst/>
              </a:prstGeom>
              <a:blipFill>
                <a:blip r:embed="rId13"/>
                <a:stretch>
                  <a:fillRect/>
                </a:stretch>
              </a:blipFill>
            </p:spPr>
            <p:txBody>
              <a:bodyPr/>
              <a:lstStyle/>
              <a:p>
                <a:r>
                  <a:rPr lang="zh-TW" altLang="en-US">
                    <a:noFill/>
                  </a:rPr>
                  <a:t> </a:t>
                </a:r>
              </a:p>
            </p:txBody>
          </p:sp>
        </mc:Fallback>
      </mc:AlternateContent>
      <p:sp>
        <p:nvSpPr>
          <p:cNvPr id="39" name="圓角矩形 38">
            <a:extLst>
              <a:ext uri="{FF2B5EF4-FFF2-40B4-BE49-F238E27FC236}">
                <a16:creationId xmlns:a16="http://schemas.microsoft.com/office/drawing/2014/main" id="{1B0C2B00-5679-A921-6D0A-7604CF6BFDBA}"/>
              </a:ext>
            </a:extLst>
          </p:cNvPr>
          <p:cNvSpPr/>
          <p:nvPr/>
        </p:nvSpPr>
        <p:spPr>
          <a:xfrm>
            <a:off x="2020773" y="3930616"/>
            <a:ext cx="343791" cy="864699"/>
          </a:xfrm>
          <a:prstGeom prst="roundRect">
            <a:avLst/>
          </a:prstGeom>
          <a:noFill/>
          <a:ln>
            <a:solidFill>
              <a:srgbClr val="FF0000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kumimoji="1" lang="zh-TW" altLang="en-US"/>
          </a:p>
        </p:txBody>
      </p:sp>
      <p:sp>
        <p:nvSpPr>
          <p:cNvPr id="40" name="圓角矩形 39">
            <a:extLst>
              <a:ext uri="{FF2B5EF4-FFF2-40B4-BE49-F238E27FC236}">
                <a16:creationId xmlns:a16="http://schemas.microsoft.com/office/drawing/2014/main" id="{384EAAB2-E6EB-1412-2DBF-481655B4ECAF}"/>
              </a:ext>
            </a:extLst>
          </p:cNvPr>
          <p:cNvSpPr/>
          <p:nvPr/>
        </p:nvSpPr>
        <p:spPr>
          <a:xfrm>
            <a:off x="2968706" y="3930616"/>
            <a:ext cx="343791" cy="864699"/>
          </a:xfrm>
          <a:prstGeom prst="roundRect">
            <a:avLst/>
          </a:prstGeom>
          <a:noFill/>
          <a:ln>
            <a:solidFill>
              <a:srgbClr val="FF0000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kumimoji="1" lang="zh-TW" altLang="en-US"/>
          </a:p>
        </p:txBody>
      </p:sp>
      <p:sp>
        <p:nvSpPr>
          <p:cNvPr id="42" name="圓角矩形 41">
            <a:extLst>
              <a:ext uri="{FF2B5EF4-FFF2-40B4-BE49-F238E27FC236}">
                <a16:creationId xmlns:a16="http://schemas.microsoft.com/office/drawing/2014/main" id="{FBAEDCF8-9FDF-172A-8EB1-11CD04EDA652}"/>
              </a:ext>
            </a:extLst>
          </p:cNvPr>
          <p:cNvSpPr/>
          <p:nvPr/>
        </p:nvSpPr>
        <p:spPr>
          <a:xfrm>
            <a:off x="3990149" y="3930616"/>
            <a:ext cx="343791" cy="864699"/>
          </a:xfrm>
          <a:prstGeom prst="roundRect">
            <a:avLst/>
          </a:prstGeom>
          <a:noFill/>
          <a:ln>
            <a:solidFill>
              <a:srgbClr val="FF0000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kumimoji="1" lang="zh-TW" altLang="en-US"/>
          </a:p>
        </p:txBody>
      </p:sp>
      <p:sp>
        <p:nvSpPr>
          <p:cNvPr id="43" name="圓角矩形 42">
            <a:extLst>
              <a:ext uri="{FF2B5EF4-FFF2-40B4-BE49-F238E27FC236}">
                <a16:creationId xmlns:a16="http://schemas.microsoft.com/office/drawing/2014/main" id="{F7DFFFE2-0052-3F7C-8DAE-7F86CF8DC25A}"/>
              </a:ext>
            </a:extLst>
          </p:cNvPr>
          <p:cNvSpPr/>
          <p:nvPr/>
        </p:nvSpPr>
        <p:spPr>
          <a:xfrm>
            <a:off x="4971597" y="3930616"/>
            <a:ext cx="343791" cy="864699"/>
          </a:xfrm>
          <a:prstGeom prst="roundRect">
            <a:avLst/>
          </a:prstGeom>
          <a:noFill/>
          <a:ln>
            <a:solidFill>
              <a:srgbClr val="FF0000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kumimoji="1" lang="zh-TW" altLang="en-US"/>
          </a:p>
        </p:txBody>
      </p:sp>
      <p:sp>
        <p:nvSpPr>
          <p:cNvPr id="49" name="圓角矩形 48">
            <a:extLst>
              <a:ext uri="{FF2B5EF4-FFF2-40B4-BE49-F238E27FC236}">
                <a16:creationId xmlns:a16="http://schemas.microsoft.com/office/drawing/2014/main" id="{07FB3C3C-6E4B-95C6-66A4-5DDD64E91337}"/>
              </a:ext>
            </a:extLst>
          </p:cNvPr>
          <p:cNvSpPr/>
          <p:nvPr/>
        </p:nvSpPr>
        <p:spPr>
          <a:xfrm>
            <a:off x="3024614" y="2596981"/>
            <a:ext cx="249382" cy="534390"/>
          </a:xfrm>
          <a:prstGeom prst="roundRect">
            <a:avLst/>
          </a:prstGeom>
          <a:solidFill>
            <a:schemeClr val="bg1">
              <a:lumMod val="75000"/>
            </a:schemeClr>
          </a:solidFill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kumimoji="1" lang="zh-TW" altLang="en-US" dirty="0">
              <a:solidFill>
                <a:schemeClr val="tx1"/>
              </a:solidFill>
              <a:latin typeface="Cambria Math" panose="02040503050406030204" pitchFamily="18" charset="0"/>
            </a:endParaRPr>
          </a:p>
        </p:txBody>
      </p:sp>
      <mc:AlternateContent xmlns:mc="http://schemas.openxmlformats.org/markup-compatibility/2006" xmlns:a14="http://schemas.microsoft.com/office/drawing/2010/main">
        <mc:Choice Requires="a14">
          <p:sp>
            <p:nvSpPr>
              <p:cNvPr id="54" name="文字方塊 53">
                <a:extLst>
                  <a:ext uri="{FF2B5EF4-FFF2-40B4-BE49-F238E27FC236}">
                    <a16:creationId xmlns:a16="http://schemas.microsoft.com/office/drawing/2014/main" id="{B7B62013-EBD6-D558-209A-CC7F4EC1EB1D}"/>
                  </a:ext>
                </a:extLst>
              </p:cNvPr>
              <p:cNvSpPr txBox="1"/>
              <p:nvPr/>
            </p:nvSpPr>
            <p:spPr>
              <a:xfrm>
                <a:off x="2315189" y="1717555"/>
                <a:ext cx="1443729" cy="756233"/>
              </a:xfrm>
              <a:prstGeom prst="rect">
                <a:avLst/>
              </a:prstGeom>
              <a:noFill/>
            </p:spPr>
            <p:txBody>
              <a:bodyPr wrap="none" lIns="0" tIns="0" rIns="0" bIns="0" rtlCol="0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sSub>
                        <m:sSubPr>
                          <m:ctrlPr>
                            <a:rPr lang="zh-TW" altLang="zh-TW" i="1" smtClean="0">
                              <a:solidFill>
                                <a:schemeClr val="tx1"/>
                              </a:solidFill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a:rPr lang="en-US" altLang="zh-TW" i="1">
                              <a:solidFill>
                                <a:schemeClr val="tx1"/>
                              </a:solidFill>
                              <a:latin typeface="Cambria Math" panose="02040503050406030204" pitchFamily="18" charset="0"/>
                            </a:rPr>
                            <m:t>𝑐</m:t>
                          </m:r>
                        </m:e>
                        <m:sub>
                          <m:r>
                            <a:rPr lang="en-US" altLang="zh-TW" b="0" i="1" smtClean="0">
                              <a:solidFill>
                                <a:schemeClr val="tx1"/>
                              </a:solidFill>
                              <a:latin typeface="Cambria Math" panose="02040503050406030204" pitchFamily="18" charset="0"/>
                            </a:rPr>
                            <m:t>3</m:t>
                          </m:r>
                        </m:sub>
                      </m:sSub>
                      <m:r>
                        <a:rPr lang="en-US" altLang="zh-TW" i="1">
                          <a:solidFill>
                            <a:schemeClr val="tx1"/>
                          </a:solidFill>
                          <a:latin typeface="Cambria Math" panose="02040503050406030204" pitchFamily="18" charset="0"/>
                        </a:rPr>
                        <m:t>=</m:t>
                      </m:r>
                      <m:nary>
                        <m:naryPr>
                          <m:chr m:val="∑"/>
                          <m:limLoc m:val="undOvr"/>
                          <m:ctrlPr>
                            <a:rPr lang="zh-TW" altLang="zh-TW" i="1">
                              <a:solidFill>
                                <a:schemeClr val="tx1"/>
                              </a:solidFill>
                              <a:latin typeface="Cambria Math" panose="02040503050406030204" pitchFamily="18" charset="0"/>
                            </a:rPr>
                          </m:ctrlPr>
                        </m:naryPr>
                        <m:sub>
                          <m:r>
                            <a:rPr lang="en-US" altLang="zh-TW" i="1">
                              <a:solidFill>
                                <a:schemeClr val="tx1"/>
                              </a:solidFill>
                              <a:latin typeface="Cambria Math" panose="02040503050406030204" pitchFamily="18" charset="0"/>
                            </a:rPr>
                            <m:t>𝑖</m:t>
                          </m:r>
                          <m:r>
                            <a:rPr lang="en-US" altLang="zh-TW" i="1">
                              <a:solidFill>
                                <a:schemeClr val="tx1"/>
                              </a:solidFill>
                              <a:latin typeface="Cambria Math" panose="02040503050406030204" pitchFamily="18" charset="0"/>
                            </a:rPr>
                            <m:t>=1</m:t>
                          </m:r>
                        </m:sub>
                        <m:sup>
                          <m:r>
                            <a:rPr lang="en-US" altLang="zh-TW" i="1">
                              <a:solidFill>
                                <a:schemeClr val="tx1"/>
                              </a:solidFill>
                              <a:latin typeface="Cambria Math" panose="02040503050406030204" pitchFamily="18" charset="0"/>
                            </a:rPr>
                            <m:t>𝑛</m:t>
                          </m:r>
                        </m:sup>
                        <m:e>
                          <m:sSub>
                            <m:sSubPr>
                              <m:ctrlPr>
                                <a:rPr lang="zh-TW" altLang="zh-TW" i="1">
                                  <a:solidFill>
                                    <a:schemeClr val="tx1"/>
                                  </a:solidFill>
                                  <a:latin typeface="Cambria Math" panose="02040503050406030204" pitchFamily="18" charset="0"/>
                                </a:rPr>
                              </m:ctrlPr>
                            </m:sSubPr>
                            <m:e>
                              <m:r>
                                <a:rPr lang="en-US" altLang="zh-TW" i="1">
                                  <a:solidFill>
                                    <a:schemeClr val="tx1"/>
                                  </a:solidFill>
                                  <a:latin typeface="Cambria Math" panose="02040503050406030204" pitchFamily="18" charset="0"/>
                                </a:rPr>
                                <m:t>𝛼</m:t>
                              </m:r>
                            </m:e>
                            <m:sub>
                              <m:r>
                                <a:rPr lang="en-US" altLang="zh-TW" b="0" i="1" smtClean="0">
                                  <a:solidFill>
                                    <a:schemeClr val="tx1"/>
                                  </a:solidFill>
                                  <a:latin typeface="Cambria Math" panose="02040503050406030204" pitchFamily="18" charset="0"/>
                                </a:rPr>
                                <m:t>3</m:t>
                              </m:r>
                              <m:r>
                                <a:rPr lang="en-US" altLang="zh-TW" i="1">
                                  <a:solidFill>
                                    <a:schemeClr val="tx1"/>
                                  </a:solidFill>
                                  <a:latin typeface="Cambria Math" panose="02040503050406030204" pitchFamily="18" charset="0"/>
                                </a:rPr>
                                <m:t>𝑖</m:t>
                              </m:r>
                            </m:sub>
                          </m:sSub>
                          <m:sSub>
                            <m:sSubPr>
                              <m:ctrlPr>
                                <a:rPr lang="zh-TW" altLang="zh-TW" i="1">
                                  <a:solidFill>
                                    <a:schemeClr val="tx1"/>
                                  </a:solidFill>
                                  <a:latin typeface="Cambria Math" panose="02040503050406030204" pitchFamily="18" charset="0"/>
                                </a:rPr>
                              </m:ctrlPr>
                            </m:sSubPr>
                            <m:e>
                              <m:r>
                                <a:rPr lang="en-US" altLang="zh-TW" i="1">
                                  <a:solidFill>
                                    <a:schemeClr val="tx1"/>
                                  </a:solidFill>
                                  <a:latin typeface="Cambria Math" panose="02040503050406030204" pitchFamily="18" charset="0"/>
                                </a:rPr>
                                <m:t>h</m:t>
                              </m:r>
                            </m:e>
                            <m:sub>
                              <m:r>
                                <a:rPr lang="en-US" altLang="zh-TW" i="1">
                                  <a:solidFill>
                                    <a:schemeClr val="tx1"/>
                                  </a:solidFill>
                                  <a:latin typeface="Cambria Math" panose="02040503050406030204" pitchFamily="18" charset="0"/>
                                </a:rPr>
                                <m:t>𝑡</m:t>
                              </m:r>
                            </m:sub>
                          </m:sSub>
                        </m:e>
                      </m:nary>
                    </m:oMath>
                  </m:oMathPara>
                </a14:m>
                <a:endParaRPr lang="zh-TW" altLang="zh-TW" dirty="0">
                  <a:solidFill>
                    <a:schemeClr val="tx1"/>
                  </a:solidFill>
                </a:endParaRPr>
              </a:p>
            </p:txBody>
          </p:sp>
        </mc:Choice>
        <mc:Fallback xmlns="">
          <p:sp>
            <p:nvSpPr>
              <p:cNvPr id="54" name="文字方塊 53">
                <a:extLst>
                  <a:ext uri="{FF2B5EF4-FFF2-40B4-BE49-F238E27FC236}">
                    <a16:creationId xmlns:a16="http://schemas.microsoft.com/office/drawing/2014/main" id="{B7B62013-EBD6-D558-209A-CC7F4EC1EB1D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2315189" y="1717555"/>
                <a:ext cx="1443729" cy="756233"/>
              </a:xfrm>
              <a:prstGeom prst="rect">
                <a:avLst/>
              </a:prstGeom>
              <a:blipFill>
                <a:blip r:embed="rId14"/>
                <a:stretch>
                  <a:fillRect l="-22609" t="-120000" b="-180000"/>
                </a:stretch>
              </a:blipFill>
            </p:spPr>
            <p:txBody>
              <a:bodyPr/>
              <a:lstStyle/>
              <a:p>
                <a:r>
                  <a:rPr lang="zh-TW" altLang="en-US">
                    <a:noFill/>
                  </a:rPr>
                  <a:t> </a:t>
                </a:r>
              </a:p>
            </p:txBody>
          </p:sp>
        </mc:Fallback>
      </mc:AlternateContent>
      <p:sp>
        <p:nvSpPr>
          <p:cNvPr id="56" name="圓角矩形 55">
            <a:extLst>
              <a:ext uri="{FF2B5EF4-FFF2-40B4-BE49-F238E27FC236}">
                <a16:creationId xmlns:a16="http://schemas.microsoft.com/office/drawing/2014/main" id="{0BE1A0E1-3007-B69F-1779-4464AB880CF7}"/>
              </a:ext>
            </a:extLst>
          </p:cNvPr>
          <p:cNvSpPr/>
          <p:nvPr/>
        </p:nvSpPr>
        <p:spPr>
          <a:xfrm>
            <a:off x="7229738" y="4313959"/>
            <a:ext cx="233876" cy="403124"/>
          </a:xfrm>
          <a:prstGeom prst="roundRect">
            <a:avLst/>
          </a:prstGeom>
          <a:noFill/>
          <a:ln w="38100">
            <a:solidFill>
              <a:srgbClr val="FF0000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kumimoji="1" lang="zh-TW" altLang="en-US"/>
          </a:p>
        </p:txBody>
      </p:sp>
      <mc:AlternateContent xmlns:mc="http://schemas.openxmlformats.org/markup-compatibility/2006" xmlns:a14="http://schemas.microsoft.com/office/drawing/2010/main">
        <mc:Choice Requires="a14">
          <p:sp>
            <p:nvSpPr>
              <p:cNvPr id="5" name="文字方塊 4">
                <a:extLst>
                  <a:ext uri="{FF2B5EF4-FFF2-40B4-BE49-F238E27FC236}">
                    <a16:creationId xmlns:a16="http://schemas.microsoft.com/office/drawing/2014/main" id="{A30DE564-DF93-D914-D5BE-46A971B09B91}"/>
                  </a:ext>
                </a:extLst>
              </p:cNvPr>
              <p:cNvSpPr txBox="1"/>
              <p:nvPr/>
            </p:nvSpPr>
            <p:spPr>
              <a:xfrm>
                <a:off x="9380098" y="1474702"/>
                <a:ext cx="2191416" cy="646331"/>
              </a:xfrm>
              <a:prstGeom prst="rect">
                <a:avLst/>
              </a:prstGeom>
              <a:noFill/>
              <a:ln w="19050">
                <a:solidFill>
                  <a:schemeClr val="accent1"/>
                </a:solidFill>
              </a:ln>
            </p:spPr>
            <p:txBody>
              <a:bodyPr wrap="square" rtlCol="0">
                <a:spAutoFit/>
              </a:bodyPr>
              <a:lstStyle/>
              <a:p>
                <a14:m>
                  <m:oMath xmlns:m="http://schemas.openxmlformats.org/officeDocument/2006/math">
                    <m:r>
                      <a:rPr kumimoji="1" lang="en-US" altLang="zh-TW" b="0" i="1" smtClean="0">
                        <a:latin typeface="Cambria Math" panose="02040503050406030204" pitchFamily="18" charset="0"/>
                      </a:rPr>
                      <m:t>𝑖</m:t>
                    </m:r>
                  </m:oMath>
                </a14:m>
                <a:r>
                  <a:rPr kumimoji="1" lang="en-US" altLang="zh-TW" dirty="0"/>
                  <a:t>: encoder timestep</a:t>
                </a:r>
              </a:p>
              <a:p>
                <a14:m>
                  <m:oMath xmlns:m="http://schemas.openxmlformats.org/officeDocument/2006/math">
                    <m:r>
                      <a:rPr kumimoji="1" lang="en-US" altLang="zh-TW" b="0" i="1" smtClean="0">
                        <a:latin typeface="Cambria Math" panose="02040503050406030204" pitchFamily="18" charset="0"/>
                      </a:rPr>
                      <m:t>𝑡</m:t>
                    </m:r>
                  </m:oMath>
                </a14:m>
                <a:r>
                  <a:rPr kumimoji="1" lang="en-US" altLang="zh-TW" dirty="0"/>
                  <a:t>: decoder timestep</a:t>
                </a:r>
              </a:p>
            </p:txBody>
          </p:sp>
        </mc:Choice>
        <mc:Fallback xmlns="">
          <p:sp>
            <p:nvSpPr>
              <p:cNvPr id="5" name="文字方塊 4">
                <a:extLst>
                  <a:ext uri="{FF2B5EF4-FFF2-40B4-BE49-F238E27FC236}">
                    <a16:creationId xmlns:a16="http://schemas.microsoft.com/office/drawing/2014/main" id="{A30DE564-DF93-D914-D5BE-46A971B09B91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9380098" y="1474702"/>
                <a:ext cx="2191416" cy="646331"/>
              </a:xfrm>
              <a:prstGeom prst="rect">
                <a:avLst/>
              </a:prstGeom>
              <a:blipFill>
                <a:blip r:embed="rId4"/>
                <a:stretch>
                  <a:fillRect t="-3774" b="-11321"/>
                </a:stretch>
              </a:blipFill>
              <a:ln w="19050">
                <a:solidFill>
                  <a:schemeClr val="accent1"/>
                </a:solidFill>
              </a:ln>
            </p:spPr>
            <p:txBody>
              <a:bodyPr/>
              <a:lstStyle/>
              <a:p>
                <a:r>
                  <a:rPr lang="zh-TW" altLang="en-US">
                    <a:noFill/>
                  </a:rPr>
                  <a:t> </a:t>
                </a:r>
              </a:p>
            </p:txBody>
          </p:sp>
        </mc:Fallback>
      </mc:AlternateContent>
      <p:cxnSp>
        <p:nvCxnSpPr>
          <p:cNvPr id="57" name="直線箭頭接點 56">
            <a:extLst>
              <a:ext uri="{FF2B5EF4-FFF2-40B4-BE49-F238E27FC236}">
                <a16:creationId xmlns:a16="http://schemas.microsoft.com/office/drawing/2014/main" id="{2D522D09-C89E-C482-1BE9-4ADA7893BB73}"/>
              </a:ext>
            </a:extLst>
          </p:cNvPr>
          <p:cNvCxnSpPr>
            <a:cxnSpLocks/>
          </p:cNvCxnSpPr>
          <p:nvPr/>
        </p:nvCxnSpPr>
        <p:spPr>
          <a:xfrm>
            <a:off x="7646435" y="5324624"/>
            <a:ext cx="344029" cy="0"/>
          </a:xfrm>
          <a:prstGeom prst="straightConnector1">
            <a:avLst/>
          </a:prstGeom>
          <a:ln>
            <a:solidFill>
              <a:schemeClr val="tx1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66" name="文字方塊 65">
            <a:extLst>
              <a:ext uri="{FF2B5EF4-FFF2-40B4-BE49-F238E27FC236}">
                <a16:creationId xmlns:a16="http://schemas.microsoft.com/office/drawing/2014/main" id="{1F4946DA-A13B-D94A-3454-1ADF6A3C7FA7}"/>
              </a:ext>
            </a:extLst>
          </p:cNvPr>
          <p:cNvSpPr txBox="1"/>
          <p:nvPr/>
        </p:nvSpPr>
        <p:spPr>
          <a:xfrm>
            <a:off x="2100046" y="2618149"/>
            <a:ext cx="949308" cy="52322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kumimoji="1" lang="en-US" altLang="zh-TW" sz="1400" dirty="0"/>
              <a:t>Context vector</a:t>
            </a:r>
            <a:endParaRPr kumimoji="1" lang="zh-TW" altLang="en-US" sz="1400" dirty="0"/>
          </a:p>
        </p:txBody>
      </p:sp>
      <p:sp>
        <p:nvSpPr>
          <p:cNvPr id="81" name="文字方塊 80">
            <a:extLst>
              <a:ext uri="{FF2B5EF4-FFF2-40B4-BE49-F238E27FC236}">
                <a16:creationId xmlns:a16="http://schemas.microsoft.com/office/drawing/2014/main" id="{C4FD82FB-83DF-AF11-8E64-F58F691F1FF3}"/>
              </a:ext>
            </a:extLst>
          </p:cNvPr>
          <p:cNvSpPr txBox="1"/>
          <p:nvPr/>
        </p:nvSpPr>
        <p:spPr>
          <a:xfrm>
            <a:off x="6980828" y="2625090"/>
            <a:ext cx="719605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kumimoji="1" lang="en-US" altLang="zh-TW" dirty="0"/>
              <a:t>want</a:t>
            </a:r>
            <a:endParaRPr kumimoji="1" lang="zh-TW" altLang="en-US" dirty="0"/>
          </a:p>
        </p:txBody>
      </p:sp>
      <p:sp>
        <p:nvSpPr>
          <p:cNvPr id="82" name="矩形 81">
            <a:extLst>
              <a:ext uri="{FF2B5EF4-FFF2-40B4-BE49-F238E27FC236}">
                <a16:creationId xmlns:a16="http://schemas.microsoft.com/office/drawing/2014/main" id="{AA8745C3-7ADB-0CB9-53E9-2478BF78BB06}"/>
              </a:ext>
            </a:extLst>
          </p:cNvPr>
          <p:cNvSpPr/>
          <p:nvPr/>
        </p:nvSpPr>
        <p:spPr>
          <a:xfrm>
            <a:off x="7047983" y="3523324"/>
            <a:ext cx="575253" cy="379818"/>
          </a:xfrm>
          <a:prstGeom prst="rect">
            <a:avLst/>
          </a:prstGeom>
          <a:noFill/>
          <a:ln>
            <a:solidFill>
              <a:schemeClr val="tx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kumimoji="1" lang="en-US" altLang="zh-TW" sz="1100" dirty="0">
                <a:solidFill>
                  <a:schemeClr val="tx1"/>
                </a:solidFill>
              </a:rPr>
              <a:t>Linear</a:t>
            </a:r>
            <a:endParaRPr kumimoji="1" lang="zh-TW" altLang="en-US" sz="1100" dirty="0">
              <a:solidFill>
                <a:schemeClr val="tx1"/>
              </a:solidFill>
            </a:endParaRPr>
          </a:p>
        </p:txBody>
      </p:sp>
      <p:cxnSp>
        <p:nvCxnSpPr>
          <p:cNvPr id="83" name="直線箭頭接點 82">
            <a:extLst>
              <a:ext uri="{FF2B5EF4-FFF2-40B4-BE49-F238E27FC236}">
                <a16:creationId xmlns:a16="http://schemas.microsoft.com/office/drawing/2014/main" id="{8EBAF0EB-C418-367F-13B1-D778D9ED1C17}"/>
              </a:ext>
            </a:extLst>
          </p:cNvPr>
          <p:cNvCxnSpPr>
            <a:cxnSpLocks/>
          </p:cNvCxnSpPr>
          <p:nvPr/>
        </p:nvCxnSpPr>
        <p:spPr>
          <a:xfrm flipV="1">
            <a:off x="7343751" y="3126183"/>
            <a:ext cx="0" cy="248679"/>
          </a:xfrm>
          <a:prstGeom prst="straightConnector1">
            <a:avLst/>
          </a:prstGeom>
          <a:ln>
            <a:solidFill>
              <a:schemeClr val="tx1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88" name="直線箭頭接點 87">
            <a:extLst>
              <a:ext uri="{FF2B5EF4-FFF2-40B4-BE49-F238E27FC236}">
                <a16:creationId xmlns:a16="http://schemas.microsoft.com/office/drawing/2014/main" id="{582DEF64-BDB8-E382-31CA-5B1DC54AC589}"/>
              </a:ext>
            </a:extLst>
          </p:cNvPr>
          <p:cNvCxnSpPr>
            <a:cxnSpLocks/>
          </p:cNvCxnSpPr>
          <p:nvPr/>
        </p:nvCxnSpPr>
        <p:spPr>
          <a:xfrm flipV="1">
            <a:off x="6397832" y="3115478"/>
            <a:ext cx="0" cy="248679"/>
          </a:xfrm>
          <a:prstGeom prst="straightConnector1">
            <a:avLst/>
          </a:prstGeom>
          <a:ln>
            <a:solidFill>
              <a:schemeClr val="tx1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89" name="文字方塊 88">
            <a:extLst>
              <a:ext uri="{FF2B5EF4-FFF2-40B4-BE49-F238E27FC236}">
                <a16:creationId xmlns:a16="http://schemas.microsoft.com/office/drawing/2014/main" id="{5D49BACB-88C2-9A7C-B436-F557054B383D}"/>
              </a:ext>
            </a:extLst>
          </p:cNvPr>
          <p:cNvSpPr txBox="1"/>
          <p:nvPr/>
        </p:nvSpPr>
        <p:spPr>
          <a:xfrm>
            <a:off x="6041303" y="2609788"/>
            <a:ext cx="719605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kumimoji="1" lang="en-US" altLang="zh-TW" dirty="0"/>
              <a:t>I</a:t>
            </a:r>
            <a:endParaRPr kumimoji="1" lang="zh-TW" altLang="en-US" dirty="0"/>
          </a:p>
        </p:txBody>
      </p:sp>
      <p:sp>
        <p:nvSpPr>
          <p:cNvPr id="90" name="矩形 89">
            <a:extLst>
              <a:ext uri="{FF2B5EF4-FFF2-40B4-BE49-F238E27FC236}">
                <a16:creationId xmlns:a16="http://schemas.microsoft.com/office/drawing/2014/main" id="{4EE61079-2C7E-3FAF-73B7-167E8C73CA22}"/>
              </a:ext>
            </a:extLst>
          </p:cNvPr>
          <p:cNvSpPr/>
          <p:nvPr/>
        </p:nvSpPr>
        <p:spPr>
          <a:xfrm>
            <a:off x="6097363" y="3517941"/>
            <a:ext cx="575253" cy="379818"/>
          </a:xfrm>
          <a:prstGeom prst="rect">
            <a:avLst/>
          </a:prstGeom>
          <a:noFill/>
          <a:ln>
            <a:solidFill>
              <a:schemeClr val="tx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kumimoji="1" lang="en-US" altLang="zh-TW" sz="1100" dirty="0">
                <a:solidFill>
                  <a:schemeClr val="tx1"/>
                </a:solidFill>
              </a:rPr>
              <a:t>Linear</a:t>
            </a:r>
            <a:endParaRPr kumimoji="1" lang="zh-TW" altLang="en-US" sz="1100" dirty="0">
              <a:solidFill>
                <a:schemeClr val="tx1"/>
              </a:solidFill>
            </a:endParaRPr>
          </a:p>
        </p:txBody>
      </p:sp>
    </p:spTree>
    <p:extLst>
      <p:ext uri="{BB962C8B-B14F-4D97-AF65-F5344CB8AC3E}">
        <p14:creationId xmlns:p14="http://schemas.microsoft.com/office/powerpoint/2010/main" val="2621017808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7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9" fill="hold">
                      <p:stCondLst>
                        <p:cond delay="indefinite"/>
                      </p:stCondLst>
                      <p:childTnLst>
                        <p:par>
                          <p:cTn id="10" fill="hold">
                            <p:stCondLst>
                              <p:cond delay="0"/>
                            </p:stCondLst>
                            <p:childTnLst>
                              <p:par>
                                <p:cTn id="11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" presetClass="exit" presetSubtype="0" fill="hold" grpId="1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7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9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1" fill="hold">
                      <p:stCondLst>
                        <p:cond delay="indefinite"/>
                      </p:stCondLst>
                      <p:childTnLst>
                        <p:par>
                          <p:cTn id="22" fill="hold">
                            <p:stCondLst>
                              <p:cond delay="0"/>
                            </p:stCondLst>
                            <p:childTnLst>
                              <p:par>
                                <p:cTn id="23" presetID="1" presetClass="exit" presetSubtype="0" fill="hold" grpId="1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25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27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9" fill="hold">
                      <p:stCondLst>
                        <p:cond delay="indefinite"/>
                      </p:stCondLst>
                      <p:childTnLst>
                        <p:par>
                          <p:cTn id="30" fill="hold">
                            <p:stCondLst>
                              <p:cond delay="0"/>
                            </p:stCondLst>
                            <p:childTnLst>
                              <p:par>
                                <p:cTn id="31" presetID="1" presetClass="exit" presetSubtype="0" fill="hold" grpId="1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33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35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7" fill="hold">
                      <p:stCondLst>
                        <p:cond delay="indefinite"/>
                      </p:stCondLst>
                      <p:childTnLst>
                        <p:par>
                          <p:cTn id="38" fill="hold">
                            <p:stCondLst>
                              <p:cond delay="0"/>
                            </p:stCondLst>
                            <p:childTnLst>
                              <p:par>
                                <p:cTn id="39" presetID="1" presetClass="exit" presetSubtype="0" fill="hold" grpId="1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41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43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5" fill="hold">
                      <p:stCondLst>
                        <p:cond delay="indefinite"/>
                      </p:stCondLst>
                      <p:childTnLst>
                        <p:par>
                          <p:cTn id="46" fill="hold">
                            <p:stCondLst>
                              <p:cond delay="0"/>
                            </p:stCondLst>
                            <p:childTnLst>
                              <p:par>
                                <p:cTn id="47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49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51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7" grpId="0" animBg="1"/>
      <p:bldP spid="7" grpId="1" animBg="1"/>
      <p:bldP spid="10" grpId="0"/>
      <p:bldP spid="12" grpId="0"/>
      <p:bldP spid="13" grpId="0"/>
      <p:bldP spid="33" grpId="0"/>
      <p:bldP spid="34" grpId="0"/>
      <p:bldP spid="39" grpId="0" animBg="1"/>
      <p:bldP spid="39" grpId="1" animBg="1"/>
      <p:bldP spid="40" grpId="0" animBg="1"/>
      <p:bldP spid="40" grpId="1" animBg="1"/>
      <p:bldP spid="42" grpId="0" animBg="1"/>
      <p:bldP spid="42" grpId="1" animBg="1"/>
      <p:bldP spid="43" grpId="0" animBg="1"/>
      <p:bldP spid="49" grpId="0" animBg="1"/>
      <p:bldP spid="54" grpId="0"/>
      <p:bldP spid="56" grpId="0" animBg="1"/>
      <p:bldP spid="66" grpId="0"/>
    </p:bldLst>
  </p:timing>
</p:sld>
</file>

<file path=ppt/slides/slide5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mc:AlternateContent xmlns:mc="http://schemas.openxmlformats.org/markup-compatibility/2006" xmlns:a14="http://schemas.microsoft.com/office/drawing/2010/main">
        <mc:Choice Requires="a14">
          <p:sp>
            <p:nvSpPr>
              <p:cNvPr id="2" name="標題 1">
                <a:extLst>
                  <a:ext uri="{FF2B5EF4-FFF2-40B4-BE49-F238E27FC236}">
                    <a16:creationId xmlns:a16="http://schemas.microsoft.com/office/drawing/2014/main" id="{4C584641-BD80-F9CA-83CC-41AACEC0698F}"/>
                  </a:ext>
                </a:extLst>
              </p:cNvPr>
              <p:cNvSpPr>
                <a:spLocks noGrp="1"/>
              </p:cNvSpPr>
              <p:nvPr>
                <p:ph type="title"/>
              </p:nvPr>
            </p:nvSpPr>
            <p:spPr/>
            <p:txBody>
              <a:bodyPr/>
              <a:lstStyle/>
              <a:p>
                <a:r>
                  <a:rPr kumimoji="1" lang="en-US" altLang="zh-TW" dirty="0"/>
                  <a:t>Additive Attention (</a:t>
                </a:r>
                <a:r>
                  <a:rPr kumimoji="1" lang="zh-TW" altLang="en-US" dirty="0"/>
                  <a:t>算出 </a:t>
                </a:r>
                <a14:m>
                  <m:oMath xmlns:m="http://schemas.openxmlformats.org/officeDocument/2006/math">
                    <m:sSub>
                      <m:sSubPr>
                        <m:ctrlPr>
                          <a:rPr lang="zh-TW" altLang="zh-TW" i="1" smtClean="0">
                            <a:solidFill>
                              <a:schemeClr val="tx1"/>
                            </a:solidFill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lang="en-US" altLang="zh-TW" i="1">
                            <a:solidFill>
                              <a:schemeClr val="tx1"/>
                            </a:solidFill>
                            <a:latin typeface="Cambria Math" panose="02040503050406030204" pitchFamily="18" charset="0"/>
                          </a:rPr>
                          <m:t>𝛼</m:t>
                        </m:r>
                      </m:e>
                      <m:sub>
                        <m:r>
                          <a:rPr lang="en-US" altLang="zh-TW" b="0" i="1" smtClean="0">
                            <a:solidFill>
                              <a:schemeClr val="tx1"/>
                            </a:solidFill>
                            <a:latin typeface="Cambria Math" panose="02040503050406030204" pitchFamily="18" charset="0"/>
                          </a:rPr>
                          <m:t>𝑡</m:t>
                        </m:r>
                        <m:r>
                          <a:rPr lang="en-US" altLang="zh-TW" i="1">
                            <a:solidFill>
                              <a:schemeClr val="tx1"/>
                            </a:solidFill>
                            <a:latin typeface="Cambria Math" panose="02040503050406030204" pitchFamily="18" charset="0"/>
                          </a:rPr>
                          <m:t>𝑖</m:t>
                        </m:r>
                      </m:sub>
                    </m:sSub>
                  </m:oMath>
                </a14:m>
                <a:r>
                  <a:rPr kumimoji="1" lang="en-US" altLang="zh-TW" dirty="0"/>
                  <a:t>)</a:t>
                </a:r>
                <a:endParaRPr kumimoji="1" lang="zh-TW" altLang="en-US" dirty="0"/>
              </a:p>
            </p:txBody>
          </p:sp>
        </mc:Choice>
        <mc:Fallback xmlns="">
          <p:sp>
            <p:nvSpPr>
              <p:cNvPr id="2" name="標題 1">
                <a:extLst>
                  <a:ext uri="{FF2B5EF4-FFF2-40B4-BE49-F238E27FC236}">
                    <a16:creationId xmlns:a16="http://schemas.microsoft.com/office/drawing/2014/main" id="{4C584641-BD80-F9CA-83CC-41AACEC0698F}"/>
                  </a:ext>
                </a:extLst>
              </p:cNvPr>
              <p:cNvSpPr>
                <a:spLocks noGrp="1" noRot="1" noChangeAspect="1" noMove="1" noResize="1" noEditPoints="1" noAdjustHandles="1" noChangeArrowheads="1" noChangeShapeType="1" noTextEdit="1"/>
              </p:cNvSpPr>
              <p:nvPr>
                <p:ph type="title"/>
              </p:nvPr>
            </p:nvSpPr>
            <p:spPr>
              <a:blipFill>
                <a:blip r:embed="rId3"/>
                <a:stretch>
                  <a:fillRect l="-2555" t="-8434" b="-15663"/>
                </a:stretch>
              </a:blipFill>
            </p:spPr>
            <p:txBody>
              <a:bodyPr/>
              <a:lstStyle/>
              <a:p>
                <a:r>
                  <a:rPr lang="zh-TW" altLang="en-US">
                    <a:noFill/>
                  </a:rPr>
                  <a:t> </a:t>
                </a:r>
              </a:p>
            </p:txBody>
          </p:sp>
        </mc:Fallback>
      </mc:AlternateContent>
      <p:sp>
        <p:nvSpPr>
          <p:cNvPr id="4" name="投影片編號版面配置區 3">
            <a:extLst>
              <a:ext uri="{FF2B5EF4-FFF2-40B4-BE49-F238E27FC236}">
                <a16:creationId xmlns:a16="http://schemas.microsoft.com/office/drawing/2014/main" id="{FF402B91-725B-F09B-149C-2D5127091472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6113E31D-E2AB-40D1-8B51-AFA5AFEF393A}" type="slidenum">
              <a:rPr lang="en-US" smtClean="0"/>
              <a:pPr/>
              <a:t>50</a:t>
            </a:fld>
            <a:endParaRPr lang="en-US" dirty="0"/>
          </a:p>
        </p:txBody>
      </p:sp>
      <p:sp>
        <p:nvSpPr>
          <p:cNvPr id="5" name="圓角矩形 4">
            <a:extLst>
              <a:ext uri="{FF2B5EF4-FFF2-40B4-BE49-F238E27FC236}">
                <a16:creationId xmlns:a16="http://schemas.microsoft.com/office/drawing/2014/main" id="{4160188F-F292-5497-7D6A-ADF259571E70}"/>
              </a:ext>
            </a:extLst>
          </p:cNvPr>
          <p:cNvSpPr/>
          <p:nvPr/>
        </p:nvSpPr>
        <p:spPr>
          <a:xfrm rot="5400000">
            <a:off x="1041463" y="4064110"/>
            <a:ext cx="372490" cy="207951"/>
          </a:xfrm>
          <a:prstGeom prst="roundRect">
            <a:avLst/>
          </a:prstGeom>
          <a:solidFill>
            <a:schemeClr val="accent5">
              <a:lumMod val="40000"/>
              <a:lumOff val="60000"/>
            </a:schemeClr>
          </a:solidFill>
          <a:ln w="19050">
            <a:solidFill>
              <a:schemeClr val="tx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kumimoji="1" lang="zh-TW" altLang="en-US"/>
          </a:p>
        </p:txBody>
      </p:sp>
      <p:cxnSp>
        <p:nvCxnSpPr>
          <p:cNvPr id="7" name="直線接點 6">
            <a:extLst>
              <a:ext uri="{FF2B5EF4-FFF2-40B4-BE49-F238E27FC236}">
                <a16:creationId xmlns:a16="http://schemas.microsoft.com/office/drawing/2014/main" id="{6A8CACAB-C745-FEEF-46C7-B6FF01783DD2}"/>
              </a:ext>
            </a:extLst>
          </p:cNvPr>
          <p:cNvCxnSpPr/>
          <p:nvPr/>
        </p:nvCxnSpPr>
        <p:spPr>
          <a:xfrm>
            <a:off x="5632911" y="2553196"/>
            <a:ext cx="0" cy="2658906"/>
          </a:xfrm>
          <a:prstGeom prst="line">
            <a:avLst/>
          </a:prstGeom>
          <a:ln w="12700">
            <a:solidFill>
              <a:schemeClr val="tx1"/>
            </a:solidFill>
            <a:prstDash val="dash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8" name="直線箭頭接點 7">
            <a:extLst>
              <a:ext uri="{FF2B5EF4-FFF2-40B4-BE49-F238E27FC236}">
                <a16:creationId xmlns:a16="http://schemas.microsoft.com/office/drawing/2014/main" id="{34FF5907-8500-4607-7644-9C8C19637267}"/>
              </a:ext>
            </a:extLst>
          </p:cNvPr>
          <p:cNvCxnSpPr>
            <a:cxnSpLocks/>
          </p:cNvCxnSpPr>
          <p:nvPr/>
        </p:nvCxnSpPr>
        <p:spPr>
          <a:xfrm flipH="1">
            <a:off x="1503108" y="4232235"/>
            <a:ext cx="398514" cy="0"/>
          </a:xfrm>
          <a:prstGeom prst="straightConnector1">
            <a:avLst/>
          </a:prstGeom>
          <a:ln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9" name="圓角矩形 8">
            <a:extLst>
              <a:ext uri="{FF2B5EF4-FFF2-40B4-BE49-F238E27FC236}">
                <a16:creationId xmlns:a16="http://schemas.microsoft.com/office/drawing/2014/main" id="{761388E5-A64C-DA7C-1DEE-95B653C9C054}"/>
              </a:ext>
            </a:extLst>
          </p:cNvPr>
          <p:cNvSpPr/>
          <p:nvPr/>
        </p:nvSpPr>
        <p:spPr>
          <a:xfrm rot="5400000">
            <a:off x="1041463" y="4445564"/>
            <a:ext cx="372490" cy="207951"/>
          </a:xfrm>
          <a:prstGeom prst="roundRect">
            <a:avLst/>
          </a:prstGeom>
          <a:solidFill>
            <a:schemeClr val="accent5">
              <a:lumMod val="40000"/>
              <a:lumOff val="60000"/>
            </a:schemeClr>
          </a:solidFill>
          <a:ln w="19050">
            <a:solidFill>
              <a:schemeClr val="tx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kumimoji="1" lang="zh-TW" altLang="en-US"/>
          </a:p>
        </p:txBody>
      </p:sp>
      <p:cxnSp>
        <p:nvCxnSpPr>
          <p:cNvPr id="10" name="直線箭頭接點 9">
            <a:extLst>
              <a:ext uri="{FF2B5EF4-FFF2-40B4-BE49-F238E27FC236}">
                <a16:creationId xmlns:a16="http://schemas.microsoft.com/office/drawing/2014/main" id="{B1AF4480-58B0-0D69-E0F5-E16A71662E37}"/>
              </a:ext>
            </a:extLst>
          </p:cNvPr>
          <p:cNvCxnSpPr>
            <a:cxnSpLocks/>
          </p:cNvCxnSpPr>
          <p:nvPr/>
        </p:nvCxnSpPr>
        <p:spPr>
          <a:xfrm>
            <a:off x="1524880" y="4544055"/>
            <a:ext cx="398515" cy="0"/>
          </a:xfrm>
          <a:prstGeom prst="straightConnector1">
            <a:avLst/>
          </a:prstGeom>
          <a:ln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1" name="直線箭頭接點 10">
            <a:extLst>
              <a:ext uri="{FF2B5EF4-FFF2-40B4-BE49-F238E27FC236}">
                <a16:creationId xmlns:a16="http://schemas.microsoft.com/office/drawing/2014/main" id="{86F55B55-06BF-B116-3A8D-290DF67DD59C}"/>
              </a:ext>
            </a:extLst>
          </p:cNvPr>
          <p:cNvCxnSpPr>
            <a:cxnSpLocks/>
          </p:cNvCxnSpPr>
          <p:nvPr/>
        </p:nvCxnSpPr>
        <p:spPr>
          <a:xfrm>
            <a:off x="2467974" y="4544055"/>
            <a:ext cx="398515" cy="0"/>
          </a:xfrm>
          <a:prstGeom prst="straightConnector1">
            <a:avLst/>
          </a:prstGeom>
          <a:ln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2" name="直線箭頭接點 11">
            <a:extLst>
              <a:ext uri="{FF2B5EF4-FFF2-40B4-BE49-F238E27FC236}">
                <a16:creationId xmlns:a16="http://schemas.microsoft.com/office/drawing/2014/main" id="{12B61FE0-0A4B-A172-6D4C-676ED8CFB9A1}"/>
              </a:ext>
            </a:extLst>
          </p:cNvPr>
          <p:cNvCxnSpPr>
            <a:cxnSpLocks/>
          </p:cNvCxnSpPr>
          <p:nvPr/>
        </p:nvCxnSpPr>
        <p:spPr>
          <a:xfrm>
            <a:off x="3426184" y="4544055"/>
            <a:ext cx="398515" cy="0"/>
          </a:xfrm>
          <a:prstGeom prst="straightConnector1">
            <a:avLst/>
          </a:prstGeom>
          <a:ln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3" name="直線箭頭接點 12">
            <a:extLst>
              <a:ext uri="{FF2B5EF4-FFF2-40B4-BE49-F238E27FC236}">
                <a16:creationId xmlns:a16="http://schemas.microsoft.com/office/drawing/2014/main" id="{81325370-F1C2-6A0E-0EDF-6C71A7D562A6}"/>
              </a:ext>
            </a:extLst>
          </p:cNvPr>
          <p:cNvCxnSpPr>
            <a:cxnSpLocks/>
          </p:cNvCxnSpPr>
          <p:nvPr/>
        </p:nvCxnSpPr>
        <p:spPr>
          <a:xfrm>
            <a:off x="4419904" y="4544055"/>
            <a:ext cx="398515" cy="0"/>
          </a:xfrm>
          <a:prstGeom prst="straightConnector1">
            <a:avLst/>
          </a:prstGeom>
          <a:ln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4" name="直線箭頭接點 13">
            <a:extLst>
              <a:ext uri="{FF2B5EF4-FFF2-40B4-BE49-F238E27FC236}">
                <a16:creationId xmlns:a16="http://schemas.microsoft.com/office/drawing/2014/main" id="{A4501734-6243-B8F0-5CB2-93A5866C00DC}"/>
              </a:ext>
            </a:extLst>
          </p:cNvPr>
          <p:cNvCxnSpPr>
            <a:cxnSpLocks/>
          </p:cNvCxnSpPr>
          <p:nvPr/>
        </p:nvCxnSpPr>
        <p:spPr>
          <a:xfrm flipH="1">
            <a:off x="2457088" y="4232235"/>
            <a:ext cx="398514" cy="0"/>
          </a:xfrm>
          <a:prstGeom prst="straightConnector1">
            <a:avLst/>
          </a:prstGeom>
          <a:ln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5" name="直線箭頭接點 14">
            <a:extLst>
              <a:ext uri="{FF2B5EF4-FFF2-40B4-BE49-F238E27FC236}">
                <a16:creationId xmlns:a16="http://schemas.microsoft.com/office/drawing/2014/main" id="{EB8CD2B7-FC81-7019-FED6-3B4529D4ABC0}"/>
              </a:ext>
            </a:extLst>
          </p:cNvPr>
          <p:cNvCxnSpPr>
            <a:cxnSpLocks/>
          </p:cNvCxnSpPr>
          <p:nvPr/>
        </p:nvCxnSpPr>
        <p:spPr>
          <a:xfrm flipH="1">
            <a:off x="3415531" y="4232235"/>
            <a:ext cx="398514" cy="0"/>
          </a:xfrm>
          <a:prstGeom prst="straightConnector1">
            <a:avLst/>
          </a:prstGeom>
          <a:ln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6" name="直線箭頭接點 15">
            <a:extLst>
              <a:ext uri="{FF2B5EF4-FFF2-40B4-BE49-F238E27FC236}">
                <a16:creationId xmlns:a16="http://schemas.microsoft.com/office/drawing/2014/main" id="{33EBF5ED-BC4B-5708-5479-8DDD1545DC84}"/>
              </a:ext>
            </a:extLst>
          </p:cNvPr>
          <p:cNvCxnSpPr>
            <a:cxnSpLocks/>
          </p:cNvCxnSpPr>
          <p:nvPr/>
        </p:nvCxnSpPr>
        <p:spPr>
          <a:xfrm flipH="1">
            <a:off x="4398132" y="4232235"/>
            <a:ext cx="398514" cy="0"/>
          </a:xfrm>
          <a:prstGeom prst="straightConnector1">
            <a:avLst/>
          </a:prstGeom>
          <a:ln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mc:AlternateContent xmlns:mc="http://schemas.openxmlformats.org/markup-compatibility/2006" xmlns:a14="http://schemas.microsoft.com/office/drawing/2010/main">
        <mc:Choice Requires="a14">
          <p:sp>
            <p:nvSpPr>
              <p:cNvPr id="17" name="文字方塊 16">
                <a:extLst>
                  <a:ext uri="{FF2B5EF4-FFF2-40B4-BE49-F238E27FC236}">
                    <a16:creationId xmlns:a16="http://schemas.microsoft.com/office/drawing/2014/main" id="{5DA57FF2-E340-F9F2-2BCB-57717E5CEEB7}"/>
                  </a:ext>
                </a:extLst>
              </p:cNvPr>
              <p:cNvSpPr txBox="1"/>
              <p:nvPr/>
            </p:nvSpPr>
            <p:spPr>
              <a:xfrm>
                <a:off x="543259" y="1378420"/>
                <a:ext cx="1618744" cy="518860"/>
              </a:xfrm>
              <a:prstGeom prst="rect">
                <a:avLst/>
              </a:prstGeom>
              <a:noFill/>
            </p:spPr>
            <p:txBody>
              <a:bodyPr wrap="square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acc>
                        <m:accPr>
                          <m:chr m:val="⃗"/>
                          <m:ctrlPr>
                            <a:rPr lang="zh-TW" altLang="en-US" i="1" smtClean="0">
                              <a:latin typeface="Cambria Math" panose="02040503050406030204" pitchFamily="18" charset="0"/>
                            </a:rPr>
                          </m:ctrlPr>
                        </m:accPr>
                        <m:e>
                          <m:sSub>
                            <m:sSubPr>
                              <m:ctrlPr>
                                <a:rPr lang="zh-TW" altLang="en-US" i="1">
                                  <a:latin typeface="Cambria Math" panose="02040503050406030204" pitchFamily="18" charset="0"/>
                                </a:rPr>
                              </m:ctrlPr>
                            </m:sSubPr>
                            <m:e>
                              <m:r>
                                <a:rPr lang="zh-TW" altLang="en-US" i="1">
                                  <a:latin typeface="Cambria Math" panose="02040503050406030204" pitchFamily="18" charset="0"/>
                                </a:rPr>
                                <m:t>h</m:t>
                              </m:r>
                            </m:e>
                            <m:sub>
                              <m:r>
                                <a:rPr lang="en-US" altLang="zh-TW" b="0" i="1" smtClean="0">
                                  <a:latin typeface="Cambria Math" panose="02040503050406030204" pitchFamily="18" charset="0"/>
                                </a:rPr>
                                <m:t>𝑖</m:t>
                              </m:r>
                            </m:sub>
                          </m:sSub>
                        </m:e>
                      </m:acc>
                      <m:r>
                        <a:rPr lang="en-US" altLang="zh-TW" b="0" i="1" smtClean="0">
                          <a:latin typeface="Cambria Math" panose="02040503050406030204" pitchFamily="18" charset="0"/>
                        </a:rPr>
                        <m:t>=</m:t>
                      </m:r>
                      <m:d>
                        <m:dPr>
                          <m:begChr m:val="["/>
                          <m:endChr m:val="]"/>
                          <m:sepChr m:val=";"/>
                          <m:ctrlPr>
                            <a:rPr lang="zh-TW" altLang="en-US" i="1" smtClean="0">
                              <a:solidFill>
                                <a:schemeClr val="tx1"/>
                              </a:solidFill>
                              <a:latin typeface="Cambria Math" panose="02040503050406030204" pitchFamily="18" charset="0"/>
                            </a:rPr>
                          </m:ctrlPr>
                        </m:dPr>
                        <m:e>
                          <m:acc>
                            <m:accPr>
                              <m:chr m:val="⃗"/>
                              <m:ctrlPr>
                                <a:rPr lang="zh-TW" altLang="en-US" i="1">
                                  <a:solidFill>
                                    <a:schemeClr val="tx1"/>
                                  </a:solidFill>
                                  <a:latin typeface="Cambria Math" panose="02040503050406030204" pitchFamily="18" charset="0"/>
                                </a:rPr>
                              </m:ctrlPr>
                            </m:accPr>
                            <m:e>
                              <m:sSub>
                                <m:sSubPr>
                                  <m:ctrlPr>
                                    <a:rPr lang="zh-TW" altLang="en-US" i="1">
                                      <a:solidFill>
                                        <a:schemeClr val="tx1"/>
                                      </a:solidFill>
                                      <a:latin typeface="Cambria Math" panose="02040503050406030204" pitchFamily="18" charset="0"/>
                                    </a:rPr>
                                  </m:ctrlPr>
                                </m:sSubPr>
                                <m:e>
                                  <m:r>
                                    <a:rPr lang="zh-TW" altLang="en-US" i="1">
                                      <a:solidFill>
                                        <a:schemeClr val="tx1"/>
                                      </a:solidFill>
                                      <a:latin typeface="Cambria Math" panose="02040503050406030204" pitchFamily="18" charset="0"/>
                                    </a:rPr>
                                    <m:t>h</m:t>
                                  </m:r>
                                </m:e>
                                <m:sub>
                                  <m:r>
                                    <a:rPr lang="en-US" altLang="zh-TW" b="0" i="1" smtClean="0">
                                      <a:solidFill>
                                        <a:schemeClr val="tx1"/>
                                      </a:solidFill>
                                      <a:latin typeface="Cambria Math" panose="02040503050406030204" pitchFamily="18" charset="0"/>
                                    </a:rPr>
                                    <m:t>𝑖</m:t>
                                  </m:r>
                                </m:sub>
                              </m:sSub>
                            </m:e>
                          </m:acc>
                        </m:e>
                        <m:e>
                          <m:groupChr>
                            <m:groupChrPr>
                              <m:chr m:val="←"/>
                              <m:pos m:val="top"/>
                              <m:vertJc m:val="bot"/>
                              <m:ctrlPr>
                                <a:rPr lang="zh-TW" altLang="en-US" i="1">
                                  <a:solidFill>
                                    <a:schemeClr val="tx1"/>
                                  </a:solidFill>
                                  <a:latin typeface="Cambria Math" panose="02040503050406030204" pitchFamily="18" charset="0"/>
                                </a:rPr>
                              </m:ctrlPr>
                            </m:groupChrPr>
                            <m:e>
                              <m:sSub>
                                <m:sSubPr>
                                  <m:ctrlPr>
                                    <a:rPr lang="zh-TW" altLang="en-US" i="1">
                                      <a:solidFill>
                                        <a:schemeClr val="tx1"/>
                                      </a:solidFill>
                                      <a:latin typeface="Cambria Math" panose="02040503050406030204" pitchFamily="18" charset="0"/>
                                    </a:rPr>
                                  </m:ctrlPr>
                                </m:sSubPr>
                                <m:e>
                                  <m:r>
                                    <a:rPr lang="zh-TW" altLang="en-US" i="1">
                                      <a:solidFill>
                                        <a:schemeClr val="tx1"/>
                                      </a:solidFill>
                                      <a:latin typeface="Cambria Math" panose="02040503050406030204" pitchFamily="18" charset="0"/>
                                    </a:rPr>
                                    <m:t>h</m:t>
                                  </m:r>
                                </m:e>
                                <m:sub>
                                  <m:r>
                                    <a:rPr lang="en-US" altLang="zh-TW" b="0" i="1" smtClean="0">
                                      <a:solidFill>
                                        <a:schemeClr val="tx1"/>
                                      </a:solidFill>
                                      <a:latin typeface="Cambria Math" panose="02040503050406030204" pitchFamily="18" charset="0"/>
                                    </a:rPr>
                                    <m:t>𝑖</m:t>
                                  </m:r>
                                </m:sub>
                              </m:sSub>
                            </m:e>
                          </m:groupChr>
                        </m:e>
                      </m:d>
                    </m:oMath>
                  </m:oMathPara>
                </a14:m>
                <a:endParaRPr lang="zh-TW" altLang="en-US" dirty="0"/>
              </a:p>
            </p:txBody>
          </p:sp>
        </mc:Choice>
        <mc:Fallback xmlns="">
          <p:sp>
            <p:nvSpPr>
              <p:cNvPr id="17" name="文字方塊 16">
                <a:extLst>
                  <a:ext uri="{FF2B5EF4-FFF2-40B4-BE49-F238E27FC236}">
                    <a16:creationId xmlns:a16="http://schemas.microsoft.com/office/drawing/2014/main" id="{5DA57FF2-E340-F9F2-2BCB-57717E5CEEB7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543259" y="1378420"/>
                <a:ext cx="1618744" cy="518860"/>
              </a:xfrm>
              <a:prstGeom prst="rect">
                <a:avLst/>
              </a:prstGeom>
              <a:blipFill>
                <a:blip r:embed="rId4"/>
                <a:stretch>
                  <a:fillRect/>
                </a:stretch>
              </a:blipFill>
            </p:spPr>
            <p:txBody>
              <a:bodyPr/>
              <a:lstStyle/>
              <a:p>
                <a:r>
                  <a:rPr lang="zh-TW" altLang="en-US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 xmlns:a14="http://schemas.microsoft.com/office/drawing/2010/main">
        <mc:Choice Requires="a14">
          <p:sp>
            <p:nvSpPr>
              <p:cNvPr id="18" name="文字方塊 17">
                <a:extLst>
                  <a:ext uri="{FF2B5EF4-FFF2-40B4-BE49-F238E27FC236}">
                    <a16:creationId xmlns:a16="http://schemas.microsoft.com/office/drawing/2014/main" id="{0C9D4C69-7780-7B4A-59C5-081A65F827F7}"/>
                  </a:ext>
                </a:extLst>
              </p:cNvPr>
              <p:cNvSpPr txBox="1"/>
              <p:nvPr/>
            </p:nvSpPr>
            <p:spPr>
              <a:xfrm>
                <a:off x="496181" y="4380899"/>
                <a:ext cx="572956" cy="339645"/>
              </a:xfrm>
              <a:prstGeom prst="rect">
                <a:avLst/>
              </a:prstGeom>
              <a:noFill/>
            </p:spPr>
            <p:txBody>
              <a:bodyPr wrap="square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acc>
                        <m:accPr>
                          <m:chr m:val="⃗"/>
                          <m:ctrlPr>
                            <a:rPr lang="zh-TW" altLang="en-US" sz="1400" i="1" smtClean="0">
                              <a:latin typeface="Cambria Math" panose="02040503050406030204" pitchFamily="18" charset="0"/>
                            </a:rPr>
                          </m:ctrlPr>
                        </m:accPr>
                        <m:e>
                          <m:sSub>
                            <m:sSubPr>
                              <m:ctrlPr>
                                <a:rPr lang="zh-TW" altLang="en-US" sz="1400" i="1">
                                  <a:latin typeface="Cambria Math" panose="02040503050406030204" pitchFamily="18" charset="0"/>
                                </a:rPr>
                              </m:ctrlPr>
                            </m:sSubPr>
                            <m:e>
                              <m:r>
                                <a:rPr lang="zh-TW" altLang="en-US" sz="1400" i="1">
                                  <a:latin typeface="Cambria Math" panose="02040503050406030204" pitchFamily="18" charset="0"/>
                                </a:rPr>
                                <m:t>h</m:t>
                              </m:r>
                            </m:e>
                            <m:sub>
                              <m:r>
                                <a:rPr lang="en-US" altLang="zh-TW" sz="1400" b="0" i="1" smtClean="0">
                                  <a:latin typeface="Cambria Math" panose="02040503050406030204" pitchFamily="18" charset="0"/>
                                </a:rPr>
                                <m:t>𝑖</m:t>
                              </m:r>
                            </m:sub>
                          </m:sSub>
                        </m:e>
                      </m:acc>
                    </m:oMath>
                  </m:oMathPara>
                </a14:m>
                <a:endParaRPr lang="zh-TW" altLang="en-US" sz="1400" dirty="0"/>
              </a:p>
            </p:txBody>
          </p:sp>
        </mc:Choice>
        <mc:Fallback xmlns="">
          <p:sp>
            <p:nvSpPr>
              <p:cNvPr id="18" name="文字方塊 17">
                <a:extLst>
                  <a:ext uri="{FF2B5EF4-FFF2-40B4-BE49-F238E27FC236}">
                    <a16:creationId xmlns:a16="http://schemas.microsoft.com/office/drawing/2014/main" id="{0C9D4C69-7780-7B4A-59C5-081A65F827F7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496181" y="4380899"/>
                <a:ext cx="572956" cy="339645"/>
              </a:xfrm>
              <a:prstGeom prst="rect">
                <a:avLst/>
              </a:prstGeom>
              <a:blipFill>
                <a:blip r:embed="rId5"/>
                <a:stretch>
                  <a:fillRect/>
                </a:stretch>
              </a:blipFill>
            </p:spPr>
            <p:txBody>
              <a:bodyPr/>
              <a:lstStyle/>
              <a:p>
                <a:r>
                  <a:rPr lang="zh-TW" altLang="en-US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 xmlns:a14="http://schemas.microsoft.com/office/drawing/2010/main">
        <mc:Choice Requires="a14">
          <p:sp>
            <p:nvSpPr>
              <p:cNvPr id="19" name="文字方塊 18">
                <a:extLst>
                  <a:ext uri="{FF2B5EF4-FFF2-40B4-BE49-F238E27FC236}">
                    <a16:creationId xmlns:a16="http://schemas.microsoft.com/office/drawing/2014/main" id="{F9D1530B-0656-35EB-46DD-78B87067120E}"/>
                  </a:ext>
                </a:extLst>
              </p:cNvPr>
              <p:cNvSpPr txBox="1"/>
              <p:nvPr/>
            </p:nvSpPr>
            <p:spPr>
              <a:xfrm>
                <a:off x="494670" y="4012978"/>
                <a:ext cx="572956" cy="367921"/>
              </a:xfrm>
              <a:prstGeom prst="rect">
                <a:avLst/>
              </a:prstGeom>
              <a:noFill/>
            </p:spPr>
            <p:txBody>
              <a:bodyPr wrap="square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groupChr>
                        <m:groupChrPr>
                          <m:chr m:val="←"/>
                          <m:pos m:val="top"/>
                          <m:vertJc m:val="bot"/>
                          <m:ctrlPr>
                            <a:rPr lang="zh-TW" altLang="en-US" sz="1400" i="1" smtClean="0">
                              <a:latin typeface="Cambria Math" panose="02040503050406030204" pitchFamily="18" charset="0"/>
                            </a:rPr>
                          </m:ctrlPr>
                        </m:groupChrPr>
                        <m:e>
                          <m:sSub>
                            <m:sSubPr>
                              <m:ctrlPr>
                                <a:rPr lang="zh-TW" altLang="en-US" sz="1400" i="1">
                                  <a:latin typeface="Cambria Math" panose="02040503050406030204" pitchFamily="18" charset="0"/>
                                </a:rPr>
                              </m:ctrlPr>
                            </m:sSubPr>
                            <m:e>
                              <m:r>
                                <a:rPr lang="zh-TW" altLang="en-US" sz="1400" i="1">
                                  <a:latin typeface="Cambria Math" panose="02040503050406030204" pitchFamily="18" charset="0"/>
                                </a:rPr>
                                <m:t>h</m:t>
                              </m:r>
                            </m:e>
                            <m:sub>
                              <m:r>
                                <a:rPr lang="en-US" altLang="zh-TW" sz="1400" b="0" i="1" smtClean="0">
                                  <a:latin typeface="Cambria Math" panose="02040503050406030204" pitchFamily="18" charset="0"/>
                                </a:rPr>
                                <m:t>𝑖</m:t>
                              </m:r>
                            </m:sub>
                          </m:sSub>
                        </m:e>
                      </m:groupChr>
                    </m:oMath>
                  </m:oMathPara>
                </a14:m>
                <a:endParaRPr lang="zh-TW" altLang="en-US" sz="1400" dirty="0"/>
              </a:p>
            </p:txBody>
          </p:sp>
        </mc:Choice>
        <mc:Fallback xmlns="">
          <p:sp>
            <p:nvSpPr>
              <p:cNvPr id="19" name="文字方塊 18">
                <a:extLst>
                  <a:ext uri="{FF2B5EF4-FFF2-40B4-BE49-F238E27FC236}">
                    <a16:creationId xmlns:a16="http://schemas.microsoft.com/office/drawing/2014/main" id="{F9D1530B-0656-35EB-46DD-78B87067120E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494670" y="4012978"/>
                <a:ext cx="572956" cy="367921"/>
              </a:xfrm>
              <a:prstGeom prst="rect">
                <a:avLst/>
              </a:prstGeom>
              <a:blipFill>
                <a:blip r:embed="rId6"/>
                <a:stretch>
                  <a:fillRect/>
                </a:stretch>
              </a:blipFill>
            </p:spPr>
            <p:txBody>
              <a:bodyPr/>
              <a:lstStyle/>
              <a:p>
                <a:r>
                  <a:rPr lang="zh-TW" altLang="en-US">
                    <a:noFill/>
                  </a:rPr>
                  <a:t> </a:t>
                </a:r>
              </a:p>
            </p:txBody>
          </p:sp>
        </mc:Fallback>
      </mc:AlternateContent>
      <p:sp>
        <p:nvSpPr>
          <p:cNvPr id="20" name="圓角矩形 19">
            <a:extLst>
              <a:ext uri="{FF2B5EF4-FFF2-40B4-BE49-F238E27FC236}">
                <a16:creationId xmlns:a16="http://schemas.microsoft.com/office/drawing/2014/main" id="{0BAFF476-B6DE-E959-8C03-18F3B4E1D014}"/>
              </a:ext>
            </a:extLst>
          </p:cNvPr>
          <p:cNvSpPr/>
          <p:nvPr/>
        </p:nvSpPr>
        <p:spPr>
          <a:xfrm rot="5400000">
            <a:off x="2003003" y="4061589"/>
            <a:ext cx="372490" cy="207951"/>
          </a:xfrm>
          <a:prstGeom prst="roundRect">
            <a:avLst/>
          </a:prstGeom>
          <a:solidFill>
            <a:schemeClr val="accent5">
              <a:lumMod val="40000"/>
              <a:lumOff val="60000"/>
            </a:schemeClr>
          </a:solidFill>
          <a:ln w="19050">
            <a:solidFill>
              <a:schemeClr val="tx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kumimoji="1" lang="zh-TW" altLang="en-US"/>
          </a:p>
        </p:txBody>
      </p:sp>
      <p:sp>
        <p:nvSpPr>
          <p:cNvPr id="21" name="圓角矩形 20">
            <a:extLst>
              <a:ext uri="{FF2B5EF4-FFF2-40B4-BE49-F238E27FC236}">
                <a16:creationId xmlns:a16="http://schemas.microsoft.com/office/drawing/2014/main" id="{05C575AF-1A68-3363-38D7-15F14E1C3C77}"/>
              </a:ext>
            </a:extLst>
          </p:cNvPr>
          <p:cNvSpPr/>
          <p:nvPr/>
        </p:nvSpPr>
        <p:spPr>
          <a:xfrm rot="5400000">
            <a:off x="2003003" y="4443043"/>
            <a:ext cx="372490" cy="207951"/>
          </a:xfrm>
          <a:prstGeom prst="roundRect">
            <a:avLst/>
          </a:prstGeom>
          <a:solidFill>
            <a:schemeClr val="accent5">
              <a:lumMod val="40000"/>
              <a:lumOff val="60000"/>
            </a:schemeClr>
          </a:solidFill>
          <a:ln w="19050">
            <a:solidFill>
              <a:schemeClr val="tx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kumimoji="1" lang="zh-TW" altLang="en-US"/>
          </a:p>
        </p:txBody>
      </p:sp>
      <p:sp>
        <p:nvSpPr>
          <p:cNvPr id="22" name="圓角矩形 21">
            <a:extLst>
              <a:ext uri="{FF2B5EF4-FFF2-40B4-BE49-F238E27FC236}">
                <a16:creationId xmlns:a16="http://schemas.microsoft.com/office/drawing/2014/main" id="{55D24A8C-324A-FB09-FE0B-1AC840B2FD0A}"/>
              </a:ext>
            </a:extLst>
          </p:cNvPr>
          <p:cNvSpPr/>
          <p:nvPr/>
        </p:nvSpPr>
        <p:spPr>
          <a:xfrm rot="5400000">
            <a:off x="2959245" y="4061589"/>
            <a:ext cx="372490" cy="207951"/>
          </a:xfrm>
          <a:prstGeom prst="roundRect">
            <a:avLst/>
          </a:prstGeom>
          <a:solidFill>
            <a:schemeClr val="accent5">
              <a:lumMod val="40000"/>
              <a:lumOff val="60000"/>
            </a:schemeClr>
          </a:solidFill>
          <a:ln w="19050">
            <a:solidFill>
              <a:schemeClr val="tx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kumimoji="1" lang="zh-TW" altLang="en-US"/>
          </a:p>
        </p:txBody>
      </p:sp>
      <p:sp>
        <p:nvSpPr>
          <p:cNvPr id="23" name="圓角矩形 22">
            <a:extLst>
              <a:ext uri="{FF2B5EF4-FFF2-40B4-BE49-F238E27FC236}">
                <a16:creationId xmlns:a16="http://schemas.microsoft.com/office/drawing/2014/main" id="{A6D87805-8845-F9EE-4994-192EA17757C4}"/>
              </a:ext>
            </a:extLst>
          </p:cNvPr>
          <p:cNvSpPr/>
          <p:nvPr/>
        </p:nvSpPr>
        <p:spPr>
          <a:xfrm rot="5400000">
            <a:off x="2959245" y="4443043"/>
            <a:ext cx="372490" cy="207951"/>
          </a:xfrm>
          <a:prstGeom prst="roundRect">
            <a:avLst/>
          </a:prstGeom>
          <a:solidFill>
            <a:schemeClr val="accent5">
              <a:lumMod val="40000"/>
              <a:lumOff val="60000"/>
            </a:schemeClr>
          </a:solidFill>
          <a:ln w="19050">
            <a:solidFill>
              <a:schemeClr val="tx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kumimoji="1" lang="zh-TW" altLang="en-US"/>
          </a:p>
        </p:txBody>
      </p:sp>
      <p:sp>
        <p:nvSpPr>
          <p:cNvPr id="24" name="圓角矩形 23">
            <a:extLst>
              <a:ext uri="{FF2B5EF4-FFF2-40B4-BE49-F238E27FC236}">
                <a16:creationId xmlns:a16="http://schemas.microsoft.com/office/drawing/2014/main" id="{53D4233B-B646-44DC-9D31-4CE0E9F3E2A2}"/>
              </a:ext>
            </a:extLst>
          </p:cNvPr>
          <p:cNvSpPr/>
          <p:nvPr/>
        </p:nvSpPr>
        <p:spPr>
          <a:xfrm rot="5400000">
            <a:off x="3979527" y="4057806"/>
            <a:ext cx="372490" cy="207951"/>
          </a:xfrm>
          <a:prstGeom prst="roundRect">
            <a:avLst/>
          </a:prstGeom>
          <a:solidFill>
            <a:schemeClr val="accent5">
              <a:lumMod val="40000"/>
              <a:lumOff val="60000"/>
            </a:schemeClr>
          </a:solidFill>
          <a:ln w="19050">
            <a:solidFill>
              <a:schemeClr val="tx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kumimoji="1" lang="zh-TW" altLang="en-US"/>
          </a:p>
        </p:txBody>
      </p:sp>
      <p:sp>
        <p:nvSpPr>
          <p:cNvPr id="25" name="圓角矩形 24">
            <a:extLst>
              <a:ext uri="{FF2B5EF4-FFF2-40B4-BE49-F238E27FC236}">
                <a16:creationId xmlns:a16="http://schemas.microsoft.com/office/drawing/2014/main" id="{4BDFD465-BDD9-754F-E27D-059F451415EC}"/>
              </a:ext>
            </a:extLst>
          </p:cNvPr>
          <p:cNvSpPr/>
          <p:nvPr/>
        </p:nvSpPr>
        <p:spPr>
          <a:xfrm rot="5400000">
            <a:off x="3979527" y="4439260"/>
            <a:ext cx="372490" cy="207951"/>
          </a:xfrm>
          <a:prstGeom prst="roundRect">
            <a:avLst/>
          </a:prstGeom>
          <a:solidFill>
            <a:schemeClr val="accent5">
              <a:lumMod val="40000"/>
              <a:lumOff val="60000"/>
            </a:schemeClr>
          </a:solidFill>
          <a:ln w="19050">
            <a:solidFill>
              <a:schemeClr val="tx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kumimoji="1" lang="zh-TW" altLang="en-US"/>
          </a:p>
        </p:txBody>
      </p:sp>
      <p:sp>
        <p:nvSpPr>
          <p:cNvPr id="26" name="圓角矩形 25">
            <a:extLst>
              <a:ext uri="{FF2B5EF4-FFF2-40B4-BE49-F238E27FC236}">
                <a16:creationId xmlns:a16="http://schemas.microsoft.com/office/drawing/2014/main" id="{A58059DE-C79F-17D4-BDC0-A57225709FBA}"/>
              </a:ext>
            </a:extLst>
          </p:cNvPr>
          <p:cNvSpPr/>
          <p:nvPr/>
        </p:nvSpPr>
        <p:spPr>
          <a:xfrm rot="5400000">
            <a:off x="4949287" y="4056960"/>
            <a:ext cx="372490" cy="207951"/>
          </a:xfrm>
          <a:prstGeom prst="roundRect">
            <a:avLst/>
          </a:prstGeom>
          <a:solidFill>
            <a:schemeClr val="accent5">
              <a:lumMod val="40000"/>
              <a:lumOff val="60000"/>
            </a:schemeClr>
          </a:solidFill>
          <a:ln w="19050">
            <a:solidFill>
              <a:schemeClr val="tx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kumimoji="1" lang="zh-TW" altLang="en-US"/>
          </a:p>
        </p:txBody>
      </p:sp>
      <p:sp>
        <p:nvSpPr>
          <p:cNvPr id="27" name="圓角矩形 26">
            <a:extLst>
              <a:ext uri="{FF2B5EF4-FFF2-40B4-BE49-F238E27FC236}">
                <a16:creationId xmlns:a16="http://schemas.microsoft.com/office/drawing/2014/main" id="{8F8EB2C4-DAA4-2CCF-3B43-02BC351756FD}"/>
              </a:ext>
            </a:extLst>
          </p:cNvPr>
          <p:cNvSpPr/>
          <p:nvPr/>
        </p:nvSpPr>
        <p:spPr>
          <a:xfrm rot="5400000">
            <a:off x="4949287" y="4438414"/>
            <a:ext cx="372490" cy="207951"/>
          </a:xfrm>
          <a:prstGeom prst="roundRect">
            <a:avLst/>
          </a:prstGeom>
          <a:solidFill>
            <a:schemeClr val="accent5">
              <a:lumMod val="40000"/>
              <a:lumOff val="60000"/>
            </a:schemeClr>
          </a:solidFill>
          <a:ln w="19050">
            <a:solidFill>
              <a:schemeClr val="tx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kumimoji="1" lang="zh-TW" altLang="en-US"/>
          </a:p>
        </p:txBody>
      </p:sp>
      <p:sp>
        <p:nvSpPr>
          <p:cNvPr id="28" name="文字方塊 27">
            <a:extLst>
              <a:ext uri="{FF2B5EF4-FFF2-40B4-BE49-F238E27FC236}">
                <a16:creationId xmlns:a16="http://schemas.microsoft.com/office/drawing/2014/main" id="{285796B9-6FDC-0896-ACC4-73E46B542012}"/>
              </a:ext>
            </a:extLst>
          </p:cNvPr>
          <p:cNvSpPr txBox="1"/>
          <p:nvPr/>
        </p:nvSpPr>
        <p:spPr>
          <a:xfrm>
            <a:off x="1028450" y="5876593"/>
            <a:ext cx="398516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kumimoji="1" lang="zh-TW" altLang="en-US" dirty="0"/>
              <a:t>我</a:t>
            </a:r>
          </a:p>
        </p:txBody>
      </p:sp>
      <p:sp>
        <p:nvSpPr>
          <p:cNvPr id="29" name="文字方塊 28">
            <a:extLst>
              <a:ext uri="{FF2B5EF4-FFF2-40B4-BE49-F238E27FC236}">
                <a16:creationId xmlns:a16="http://schemas.microsoft.com/office/drawing/2014/main" id="{2752A774-9A9A-4461-6702-B40CBDE4C938}"/>
              </a:ext>
            </a:extLst>
          </p:cNvPr>
          <p:cNvSpPr txBox="1"/>
          <p:nvPr/>
        </p:nvSpPr>
        <p:spPr>
          <a:xfrm>
            <a:off x="1989990" y="5876593"/>
            <a:ext cx="398516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kumimoji="1" lang="zh-TW" altLang="en-US" dirty="0"/>
              <a:t>想</a:t>
            </a:r>
          </a:p>
        </p:txBody>
      </p:sp>
      <p:sp>
        <p:nvSpPr>
          <p:cNvPr id="30" name="文字方塊 29">
            <a:extLst>
              <a:ext uri="{FF2B5EF4-FFF2-40B4-BE49-F238E27FC236}">
                <a16:creationId xmlns:a16="http://schemas.microsoft.com/office/drawing/2014/main" id="{80BC2C9D-D63F-C1DE-95A4-1401743B91F1}"/>
              </a:ext>
            </a:extLst>
          </p:cNvPr>
          <p:cNvSpPr txBox="1"/>
          <p:nvPr/>
        </p:nvSpPr>
        <p:spPr>
          <a:xfrm>
            <a:off x="2946232" y="5876593"/>
            <a:ext cx="398516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kumimoji="1" lang="zh-TW" altLang="en-US" dirty="0"/>
              <a:t>要</a:t>
            </a:r>
          </a:p>
        </p:txBody>
      </p:sp>
      <p:sp>
        <p:nvSpPr>
          <p:cNvPr id="31" name="文字方塊 30">
            <a:extLst>
              <a:ext uri="{FF2B5EF4-FFF2-40B4-BE49-F238E27FC236}">
                <a16:creationId xmlns:a16="http://schemas.microsoft.com/office/drawing/2014/main" id="{FB60D3F9-CB27-0237-D942-A21EDC30F8C4}"/>
              </a:ext>
            </a:extLst>
          </p:cNvPr>
          <p:cNvSpPr txBox="1"/>
          <p:nvPr/>
        </p:nvSpPr>
        <p:spPr>
          <a:xfrm>
            <a:off x="3966514" y="5876593"/>
            <a:ext cx="398516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kumimoji="1" lang="zh-TW" altLang="en-US" dirty="0"/>
              <a:t>放</a:t>
            </a:r>
          </a:p>
        </p:txBody>
      </p:sp>
      <p:sp>
        <p:nvSpPr>
          <p:cNvPr id="32" name="文字方塊 31">
            <a:extLst>
              <a:ext uri="{FF2B5EF4-FFF2-40B4-BE49-F238E27FC236}">
                <a16:creationId xmlns:a16="http://schemas.microsoft.com/office/drawing/2014/main" id="{E169D7F1-87F2-0148-CE64-F972BE5DBF59}"/>
              </a:ext>
            </a:extLst>
          </p:cNvPr>
          <p:cNvSpPr txBox="1"/>
          <p:nvPr/>
        </p:nvSpPr>
        <p:spPr>
          <a:xfrm>
            <a:off x="4936274" y="5843215"/>
            <a:ext cx="398516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kumimoji="1" lang="zh-TW" altLang="en-US" dirty="0"/>
              <a:t>假</a:t>
            </a:r>
          </a:p>
        </p:txBody>
      </p:sp>
      <p:sp>
        <p:nvSpPr>
          <p:cNvPr id="33" name="矩形 32">
            <a:extLst>
              <a:ext uri="{FF2B5EF4-FFF2-40B4-BE49-F238E27FC236}">
                <a16:creationId xmlns:a16="http://schemas.microsoft.com/office/drawing/2014/main" id="{0B0C5A40-7E88-C0D6-144F-F349FA2E84C4}"/>
              </a:ext>
            </a:extLst>
          </p:cNvPr>
          <p:cNvSpPr/>
          <p:nvPr/>
        </p:nvSpPr>
        <p:spPr>
          <a:xfrm>
            <a:off x="911313" y="5134787"/>
            <a:ext cx="575253" cy="379818"/>
          </a:xfrm>
          <a:prstGeom prst="rect">
            <a:avLst/>
          </a:prstGeom>
          <a:noFill/>
          <a:ln>
            <a:solidFill>
              <a:schemeClr val="tx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kumimoji="1" lang="en-US" altLang="zh-TW" sz="1400" dirty="0">
                <a:solidFill>
                  <a:schemeClr val="tx1"/>
                </a:solidFill>
              </a:rPr>
              <a:t>RNN</a:t>
            </a:r>
            <a:endParaRPr kumimoji="1" lang="zh-TW" altLang="en-US" sz="1400" dirty="0">
              <a:solidFill>
                <a:schemeClr val="tx1"/>
              </a:solidFill>
            </a:endParaRPr>
          </a:p>
        </p:txBody>
      </p:sp>
      <p:sp>
        <p:nvSpPr>
          <p:cNvPr id="34" name="矩形 33">
            <a:extLst>
              <a:ext uri="{FF2B5EF4-FFF2-40B4-BE49-F238E27FC236}">
                <a16:creationId xmlns:a16="http://schemas.microsoft.com/office/drawing/2014/main" id="{C491C181-D903-35F9-5C27-4B759589B64E}"/>
              </a:ext>
            </a:extLst>
          </p:cNvPr>
          <p:cNvSpPr/>
          <p:nvPr/>
        </p:nvSpPr>
        <p:spPr>
          <a:xfrm>
            <a:off x="1901622" y="5134787"/>
            <a:ext cx="575253" cy="379818"/>
          </a:xfrm>
          <a:prstGeom prst="rect">
            <a:avLst/>
          </a:prstGeom>
          <a:noFill/>
          <a:ln>
            <a:solidFill>
              <a:schemeClr val="tx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kumimoji="1" lang="en-US" altLang="zh-TW" sz="1400" dirty="0">
                <a:solidFill>
                  <a:schemeClr val="tx1"/>
                </a:solidFill>
              </a:rPr>
              <a:t>RNN</a:t>
            </a:r>
            <a:endParaRPr kumimoji="1" lang="zh-TW" altLang="en-US" sz="1400" dirty="0">
              <a:solidFill>
                <a:schemeClr val="tx1"/>
              </a:solidFill>
            </a:endParaRPr>
          </a:p>
        </p:txBody>
      </p:sp>
      <p:sp>
        <p:nvSpPr>
          <p:cNvPr id="35" name="矩形 34">
            <a:extLst>
              <a:ext uri="{FF2B5EF4-FFF2-40B4-BE49-F238E27FC236}">
                <a16:creationId xmlns:a16="http://schemas.microsoft.com/office/drawing/2014/main" id="{BDC37359-2E08-A534-EAE5-D03E9DD24399}"/>
              </a:ext>
            </a:extLst>
          </p:cNvPr>
          <p:cNvSpPr/>
          <p:nvPr/>
        </p:nvSpPr>
        <p:spPr>
          <a:xfrm>
            <a:off x="2850931" y="5134787"/>
            <a:ext cx="575253" cy="379818"/>
          </a:xfrm>
          <a:prstGeom prst="rect">
            <a:avLst/>
          </a:prstGeom>
          <a:noFill/>
          <a:ln>
            <a:solidFill>
              <a:schemeClr val="tx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kumimoji="1" lang="en-US" altLang="zh-TW" sz="1400" dirty="0">
                <a:solidFill>
                  <a:schemeClr val="tx1"/>
                </a:solidFill>
              </a:rPr>
              <a:t>RNN</a:t>
            </a:r>
            <a:endParaRPr kumimoji="1" lang="zh-TW" altLang="en-US" sz="1400" dirty="0">
              <a:solidFill>
                <a:schemeClr val="tx1"/>
              </a:solidFill>
            </a:endParaRPr>
          </a:p>
        </p:txBody>
      </p:sp>
      <p:sp>
        <p:nvSpPr>
          <p:cNvPr id="36" name="矩形 35">
            <a:extLst>
              <a:ext uri="{FF2B5EF4-FFF2-40B4-BE49-F238E27FC236}">
                <a16:creationId xmlns:a16="http://schemas.microsoft.com/office/drawing/2014/main" id="{1A5C7F4E-AC3B-9D3C-8C46-75908B7322AC}"/>
              </a:ext>
            </a:extLst>
          </p:cNvPr>
          <p:cNvSpPr/>
          <p:nvPr/>
        </p:nvSpPr>
        <p:spPr>
          <a:xfrm>
            <a:off x="3878145" y="5134787"/>
            <a:ext cx="575253" cy="379818"/>
          </a:xfrm>
          <a:prstGeom prst="rect">
            <a:avLst/>
          </a:prstGeom>
          <a:noFill/>
          <a:ln>
            <a:solidFill>
              <a:schemeClr val="tx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kumimoji="1" lang="en-US" altLang="zh-TW" sz="1400" dirty="0">
                <a:solidFill>
                  <a:schemeClr val="tx1"/>
                </a:solidFill>
              </a:rPr>
              <a:t>RNN</a:t>
            </a:r>
            <a:endParaRPr kumimoji="1" lang="zh-TW" altLang="en-US" sz="1400" dirty="0">
              <a:solidFill>
                <a:schemeClr val="tx1"/>
              </a:solidFill>
            </a:endParaRPr>
          </a:p>
        </p:txBody>
      </p:sp>
      <p:sp>
        <p:nvSpPr>
          <p:cNvPr id="37" name="矩形 36">
            <a:extLst>
              <a:ext uri="{FF2B5EF4-FFF2-40B4-BE49-F238E27FC236}">
                <a16:creationId xmlns:a16="http://schemas.microsoft.com/office/drawing/2014/main" id="{4B50FBF0-53DF-35FD-16FA-3AF25F50AB18}"/>
              </a:ext>
            </a:extLst>
          </p:cNvPr>
          <p:cNvSpPr/>
          <p:nvPr/>
        </p:nvSpPr>
        <p:spPr>
          <a:xfrm>
            <a:off x="4847905" y="5134787"/>
            <a:ext cx="575253" cy="379818"/>
          </a:xfrm>
          <a:prstGeom prst="rect">
            <a:avLst/>
          </a:prstGeom>
          <a:noFill/>
          <a:ln>
            <a:solidFill>
              <a:schemeClr val="tx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kumimoji="1" lang="en-US" altLang="zh-TW" sz="1400" dirty="0">
                <a:solidFill>
                  <a:schemeClr val="tx1"/>
                </a:solidFill>
              </a:rPr>
              <a:t>RNN</a:t>
            </a:r>
            <a:endParaRPr kumimoji="1" lang="zh-TW" altLang="en-US" sz="1400" dirty="0">
              <a:solidFill>
                <a:schemeClr val="tx1"/>
              </a:solidFill>
            </a:endParaRPr>
          </a:p>
        </p:txBody>
      </p:sp>
      <p:cxnSp>
        <p:nvCxnSpPr>
          <p:cNvPr id="38" name="直線箭頭接點 37">
            <a:extLst>
              <a:ext uri="{FF2B5EF4-FFF2-40B4-BE49-F238E27FC236}">
                <a16:creationId xmlns:a16="http://schemas.microsoft.com/office/drawing/2014/main" id="{B4C9BE52-5A2E-B362-92C7-6EEC73F0148B}"/>
              </a:ext>
            </a:extLst>
          </p:cNvPr>
          <p:cNvCxnSpPr>
            <a:cxnSpLocks/>
          </p:cNvCxnSpPr>
          <p:nvPr/>
        </p:nvCxnSpPr>
        <p:spPr>
          <a:xfrm flipV="1">
            <a:off x="1216822" y="5607843"/>
            <a:ext cx="0" cy="248679"/>
          </a:xfrm>
          <a:prstGeom prst="straightConnector1">
            <a:avLst/>
          </a:prstGeom>
          <a:ln>
            <a:solidFill>
              <a:schemeClr val="tx1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39" name="直線箭頭接點 38">
            <a:extLst>
              <a:ext uri="{FF2B5EF4-FFF2-40B4-BE49-F238E27FC236}">
                <a16:creationId xmlns:a16="http://schemas.microsoft.com/office/drawing/2014/main" id="{7CD3A666-EEE7-1195-81D1-E76129C45EE0}"/>
              </a:ext>
            </a:extLst>
          </p:cNvPr>
          <p:cNvCxnSpPr>
            <a:cxnSpLocks/>
          </p:cNvCxnSpPr>
          <p:nvPr/>
        </p:nvCxnSpPr>
        <p:spPr>
          <a:xfrm flipV="1">
            <a:off x="1227708" y="4825311"/>
            <a:ext cx="0" cy="248679"/>
          </a:xfrm>
          <a:prstGeom prst="straightConnector1">
            <a:avLst/>
          </a:prstGeom>
          <a:ln>
            <a:solidFill>
              <a:schemeClr val="tx1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40" name="直線箭頭接點 39">
            <a:extLst>
              <a:ext uri="{FF2B5EF4-FFF2-40B4-BE49-F238E27FC236}">
                <a16:creationId xmlns:a16="http://schemas.microsoft.com/office/drawing/2014/main" id="{ADFEB274-BAEA-6610-16BB-E7F34B8940A3}"/>
              </a:ext>
            </a:extLst>
          </p:cNvPr>
          <p:cNvCxnSpPr>
            <a:cxnSpLocks/>
          </p:cNvCxnSpPr>
          <p:nvPr/>
        </p:nvCxnSpPr>
        <p:spPr>
          <a:xfrm flipV="1">
            <a:off x="2189248" y="5607843"/>
            <a:ext cx="0" cy="248679"/>
          </a:xfrm>
          <a:prstGeom prst="straightConnector1">
            <a:avLst/>
          </a:prstGeom>
          <a:ln>
            <a:solidFill>
              <a:schemeClr val="tx1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41" name="直線箭頭接點 40">
            <a:extLst>
              <a:ext uri="{FF2B5EF4-FFF2-40B4-BE49-F238E27FC236}">
                <a16:creationId xmlns:a16="http://schemas.microsoft.com/office/drawing/2014/main" id="{F12D39EA-5833-2E4A-BA97-928F36B678FD}"/>
              </a:ext>
            </a:extLst>
          </p:cNvPr>
          <p:cNvCxnSpPr>
            <a:cxnSpLocks/>
          </p:cNvCxnSpPr>
          <p:nvPr/>
        </p:nvCxnSpPr>
        <p:spPr>
          <a:xfrm flipV="1">
            <a:off x="2189248" y="4825311"/>
            <a:ext cx="0" cy="248679"/>
          </a:xfrm>
          <a:prstGeom prst="straightConnector1">
            <a:avLst/>
          </a:prstGeom>
          <a:ln>
            <a:solidFill>
              <a:schemeClr val="tx1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42" name="直線箭頭接點 41">
            <a:extLst>
              <a:ext uri="{FF2B5EF4-FFF2-40B4-BE49-F238E27FC236}">
                <a16:creationId xmlns:a16="http://schemas.microsoft.com/office/drawing/2014/main" id="{81D69136-14A4-CBCD-1B38-58FDBFA9154A}"/>
              </a:ext>
            </a:extLst>
          </p:cNvPr>
          <p:cNvCxnSpPr>
            <a:cxnSpLocks/>
          </p:cNvCxnSpPr>
          <p:nvPr/>
        </p:nvCxnSpPr>
        <p:spPr>
          <a:xfrm flipV="1">
            <a:off x="3150664" y="5607843"/>
            <a:ext cx="0" cy="248679"/>
          </a:xfrm>
          <a:prstGeom prst="straightConnector1">
            <a:avLst/>
          </a:prstGeom>
          <a:ln>
            <a:solidFill>
              <a:schemeClr val="tx1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43" name="直線箭頭接點 42">
            <a:extLst>
              <a:ext uri="{FF2B5EF4-FFF2-40B4-BE49-F238E27FC236}">
                <a16:creationId xmlns:a16="http://schemas.microsoft.com/office/drawing/2014/main" id="{0DBB2D0C-DE9C-BE9A-C540-FFA0472556AC}"/>
              </a:ext>
            </a:extLst>
          </p:cNvPr>
          <p:cNvCxnSpPr>
            <a:cxnSpLocks/>
          </p:cNvCxnSpPr>
          <p:nvPr/>
        </p:nvCxnSpPr>
        <p:spPr>
          <a:xfrm flipV="1">
            <a:off x="3150664" y="4825311"/>
            <a:ext cx="0" cy="248679"/>
          </a:xfrm>
          <a:prstGeom prst="straightConnector1">
            <a:avLst/>
          </a:prstGeom>
          <a:ln>
            <a:solidFill>
              <a:schemeClr val="tx1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44" name="直線箭頭接點 43">
            <a:extLst>
              <a:ext uri="{FF2B5EF4-FFF2-40B4-BE49-F238E27FC236}">
                <a16:creationId xmlns:a16="http://schemas.microsoft.com/office/drawing/2014/main" id="{3CD720BD-C643-41B2-6C06-348ED0771128}"/>
              </a:ext>
            </a:extLst>
          </p:cNvPr>
          <p:cNvCxnSpPr>
            <a:cxnSpLocks/>
          </p:cNvCxnSpPr>
          <p:nvPr/>
        </p:nvCxnSpPr>
        <p:spPr>
          <a:xfrm flipV="1">
            <a:off x="4165771" y="5607843"/>
            <a:ext cx="0" cy="248679"/>
          </a:xfrm>
          <a:prstGeom prst="straightConnector1">
            <a:avLst/>
          </a:prstGeom>
          <a:ln>
            <a:solidFill>
              <a:schemeClr val="tx1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45" name="直線箭頭接點 44">
            <a:extLst>
              <a:ext uri="{FF2B5EF4-FFF2-40B4-BE49-F238E27FC236}">
                <a16:creationId xmlns:a16="http://schemas.microsoft.com/office/drawing/2014/main" id="{92C1E55C-8074-7405-ED37-EC68A6330447}"/>
              </a:ext>
            </a:extLst>
          </p:cNvPr>
          <p:cNvCxnSpPr>
            <a:cxnSpLocks/>
          </p:cNvCxnSpPr>
          <p:nvPr/>
        </p:nvCxnSpPr>
        <p:spPr>
          <a:xfrm flipV="1">
            <a:off x="4165771" y="4825311"/>
            <a:ext cx="0" cy="248679"/>
          </a:xfrm>
          <a:prstGeom prst="straightConnector1">
            <a:avLst/>
          </a:prstGeom>
          <a:ln>
            <a:solidFill>
              <a:schemeClr val="tx1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46" name="直線箭頭接點 45">
            <a:extLst>
              <a:ext uri="{FF2B5EF4-FFF2-40B4-BE49-F238E27FC236}">
                <a16:creationId xmlns:a16="http://schemas.microsoft.com/office/drawing/2014/main" id="{1414E01D-E91D-AD55-13BD-FECD0B5C8F7E}"/>
              </a:ext>
            </a:extLst>
          </p:cNvPr>
          <p:cNvCxnSpPr>
            <a:cxnSpLocks/>
          </p:cNvCxnSpPr>
          <p:nvPr/>
        </p:nvCxnSpPr>
        <p:spPr>
          <a:xfrm flipV="1">
            <a:off x="5135531" y="5607843"/>
            <a:ext cx="0" cy="248679"/>
          </a:xfrm>
          <a:prstGeom prst="straightConnector1">
            <a:avLst/>
          </a:prstGeom>
          <a:ln>
            <a:solidFill>
              <a:schemeClr val="tx1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47" name="直線箭頭接點 46">
            <a:extLst>
              <a:ext uri="{FF2B5EF4-FFF2-40B4-BE49-F238E27FC236}">
                <a16:creationId xmlns:a16="http://schemas.microsoft.com/office/drawing/2014/main" id="{289DCFAD-61DB-7E78-FE77-31AE084D8506}"/>
              </a:ext>
            </a:extLst>
          </p:cNvPr>
          <p:cNvCxnSpPr>
            <a:cxnSpLocks/>
          </p:cNvCxnSpPr>
          <p:nvPr/>
        </p:nvCxnSpPr>
        <p:spPr>
          <a:xfrm flipV="1">
            <a:off x="5135531" y="4825311"/>
            <a:ext cx="0" cy="248679"/>
          </a:xfrm>
          <a:prstGeom prst="straightConnector1">
            <a:avLst/>
          </a:prstGeom>
          <a:ln>
            <a:solidFill>
              <a:schemeClr val="tx1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51" name="直線箭頭接點 50">
            <a:extLst>
              <a:ext uri="{FF2B5EF4-FFF2-40B4-BE49-F238E27FC236}">
                <a16:creationId xmlns:a16="http://schemas.microsoft.com/office/drawing/2014/main" id="{04703463-37B5-C5D8-377A-FFC3C386B15E}"/>
              </a:ext>
            </a:extLst>
          </p:cNvPr>
          <p:cNvCxnSpPr>
            <a:cxnSpLocks/>
          </p:cNvCxnSpPr>
          <p:nvPr/>
        </p:nvCxnSpPr>
        <p:spPr>
          <a:xfrm>
            <a:off x="1530350" y="5324624"/>
            <a:ext cx="344029" cy="0"/>
          </a:xfrm>
          <a:prstGeom prst="straightConnector1">
            <a:avLst/>
          </a:prstGeom>
          <a:ln>
            <a:solidFill>
              <a:schemeClr val="tx1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52" name="直線箭頭接點 51">
            <a:extLst>
              <a:ext uri="{FF2B5EF4-FFF2-40B4-BE49-F238E27FC236}">
                <a16:creationId xmlns:a16="http://schemas.microsoft.com/office/drawing/2014/main" id="{C0E375EA-3782-0354-9251-23A0A909ECCC}"/>
              </a:ext>
            </a:extLst>
          </p:cNvPr>
          <p:cNvCxnSpPr>
            <a:cxnSpLocks/>
          </p:cNvCxnSpPr>
          <p:nvPr/>
        </p:nvCxnSpPr>
        <p:spPr>
          <a:xfrm>
            <a:off x="2495216" y="5324624"/>
            <a:ext cx="344029" cy="0"/>
          </a:xfrm>
          <a:prstGeom prst="straightConnector1">
            <a:avLst/>
          </a:prstGeom>
          <a:ln>
            <a:solidFill>
              <a:schemeClr val="tx1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53" name="直線箭頭接點 52">
            <a:extLst>
              <a:ext uri="{FF2B5EF4-FFF2-40B4-BE49-F238E27FC236}">
                <a16:creationId xmlns:a16="http://schemas.microsoft.com/office/drawing/2014/main" id="{1997E9F8-45F4-1D8D-3221-3A1C7E25F0AB}"/>
              </a:ext>
            </a:extLst>
          </p:cNvPr>
          <p:cNvCxnSpPr>
            <a:cxnSpLocks/>
          </p:cNvCxnSpPr>
          <p:nvPr/>
        </p:nvCxnSpPr>
        <p:spPr>
          <a:xfrm>
            <a:off x="3480670" y="5324624"/>
            <a:ext cx="344029" cy="0"/>
          </a:xfrm>
          <a:prstGeom prst="straightConnector1">
            <a:avLst/>
          </a:prstGeom>
          <a:ln>
            <a:solidFill>
              <a:schemeClr val="tx1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54" name="直線箭頭接點 53">
            <a:extLst>
              <a:ext uri="{FF2B5EF4-FFF2-40B4-BE49-F238E27FC236}">
                <a16:creationId xmlns:a16="http://schemas.microsoft.com/office/drawing/2014/main" id="{C46A1E60-0DD8-1066-55CE-EC90BD66FEA3}"/>
              </a:ext>
            </a:extLst>
          </p:cNvPr>
          <p:cNvCxnSpPr>
            <a:cxnSpLocks/>
          </p:cNvCxnSpPr>
          <p:nvPr/>
        </p:nvCxnSpPr>
        <p:spPr>
          <a:xfrm>
            <a:off x="4492990" y="5324624"/>
            <a:ext cx="344029" cy="0"/>
          </a:xfrm>
          <a:prstGeom prst="straightConnector1">
            <a:avLst/>
          </a:prstGeom>
          <a:ln>
            <a:solidFill>
              <a:schemeClr val="tx1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68" name="圓角矩形 67">
            <a:extLst>
              <a:ext uri="{FF2B5EF4-FFF2-40B4-BE49-F238E27FC236}">
                <a16:creationId xmlns:a16="http://schemas.microsoft.com/office/drawing/2014/main" id="{4770452D-76D8-2196-67DC-873E2201A4A5}"/>
              </a:ext>
            </a:extLst>
          </p:cNvPr>
          <p:cNvSpPr/>
          <p:nvPr/>
        </p:nvSpPr>
        <p:spPr>
          <a:xfrm>
            <a:off x="1052704" y="3930616"/>
            <a:ext cx="343791" cy="864699"/>
          </a:xfrm>
          <a:prstGeom prst="roundRect">
            <a:avLst/>
          </a:prstGeom>
          <a:noFill/>
          <a:ln>
            <a:solidFill>
              <a:srgbClr val="FF0000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kumimoji="1" lang="zh-TW" altLang="en-US"/>
          </a:p>
        </p:txBody>
      </p:sp>
      <mc:AlternateContent xmlns:mc="http://schemas.openxmlformats.org/markup-compatibility/2006" xmlns:a14="http://schemas.microsoft.com/office/drawing/2010/main">
        <mc:Choice Requires="a14">
          <p:sp>
            <p:nvSpPr>
              <p:cNvPr id="69" name="文字方塊 68">
                <a:extLst>
                  <a:ext uri="{FF2B5EF4-FFF2-40B4-BE49-F238E27FC236}">
                    <a16:creationId xmlns:a16="http://schemas.microsoft.com/office/drawing/2014/main" id="{15FFC6FE-A52E-BEF4-1F18-46034DF1B564}"/>
                  </a:ext>
                </a:extLst>
              </p:cNvPr>
              <p:cNvSpPr txBox="1"/>
              <p:nvPr/>
            </p:nvSpPr>
            <p:spPr>
              <a:xfrm>
                <a:off x="949631" y="3265111"/>
                <a:ext cx="575249" cy="400110"/>
              </a:xfrm>
              <a:prstGeom prst="rect">
                <a:avLst/>
              </a:prstGeom>
              <a:noFill/>
            </p:spPr>
            <p:txBody>
              <a:bodyPr wrap="square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sSub>
                        <m:sSubPr>
                          <m:ctrlPr>
                            <a:rPr lang="zh-TW" altLang="zh-TW" sz="2000" i="1" smtClean="0">
                              <a:solidFill>
                                <a:srgbClr val="FF0000"/>
                              </a:solidFill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a:rPr lang="en-US" altLang="zh-TW" sz="2000" i="1">
                              <a:solidFill>
                                <a:srgbClr val="FF0000"/>
                              </a:solidFill>
                              <a:latin typeface="Cambria Math" panose="02040503050406030204" pitchFamily="18" charset="0"/>
                            </a:rPr>
                            <m:t>𝛼</m:t>
                          </m:r>
                        </m:e>
                        <m:sub>
                          <m:r>
                            <a:rPr lang="en-US" altLang="zh-TW" sz="2000" b="0" i="1" smtClean="0">
                              <a:solidFill>
                                <a:srgbClr val="FF0000"/>
                              </a:solidFill>
                              <a:latin typeface="Cambria Math" panose="02040503050406030204" pitchFamily="18" charset="0"/>
                            </a:rPr>
                            <m:t>31</m:t>
                          </m:r>
                        </m:sub>
                      </m:sSub>
                    </m:oMath>
                  </m:oMathPara>
                </a14:m>
                <a:endParaRPr lang="zh-TW" altLang="en-US" sz="2000" dirty="0">
                  <a:solidFill>
                    <a:srgbClr val="FF0000"/>
                  </a:solidFill>
                </a:endParaRPr>
              </a:p>
            </p:txBody>
          </p:sp>
        </mc:Choice>
        <mc:Fallback xmlns="">
          <p:sp>
            <p:nvSpPr>
              <p:cNvPr id="69" name="文字方塊 68">
                <a:extLst>
                  <a:ext uri="{FF2B5EF4-FFF2-40B4-BE49-F238E27FC236}">
                    <a16:creationId xmlns:a16="http://schemas.microsoft.com/office/drawing/2014/main" id="{15FFC6FE-A52E-BEF4-1F18-46034DF1B564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949631" y="3265111"/>
                <a:ext cx="575249" cy="400110"/>
              </a:xfrm>
              <a:prstGeom prst="rect">
                <a:avLst/>
              </a:prstGeom>
              <a:blipFill>
                <a:blip r:embed="rId7"/>
                <a:stretch>
                  <a:fillRect/>
                </a:stretch>
              </a:blipFill>
            </p:spPr>
            <p:txBody>
              <a:bodyPr/>
              <a:lstStyle/>
              <a:p>
                <a:r>
                  <a:rPr lang="zh-TW" altLang="en-US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 xmlns:a14="http://schemas.microsoft.com/office/drawing/2010/main">
        <mc:Choice Requires="a14">
          <p:sp>
            <p:nvSpPr>
              <p:cNvPr id="70" name="文字方塊 69">
                <a:extLst>
                  <a:ext uri="{FF2B5EF4-FFF2-40B4-BE49-F238E27FC236}">
                    <a16:creationId xmlns:a16="http://schemas.microsoft.com/office/drawing/2014/main" id="{54BC0B7A-3075-0B8E-F135-F48EBA5BD6AA}"/>
                  </a:ext>
                </a:extLst>
              </p:cNvPr>
              <p:cNvSpPr txBox="1"/>
              <p:nvPr/>
            </p:nvSpPr>
            <p:spPr>
              <a:xfrm>
                <a:off x="1874379" y="3265111"/>
                <a:ext cx="575249" cy="400110"/>
              </a:xfrm>
              <a:prstGeom prst="rect">
                <a:avLst/>
              </a:prstGeom>
              <a:noFill/>
            </p:spPr>
            <p:txBody>
              <a:bodyPr wrap="square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sSub>
                        <m:sSubPr>
                          <m:ctrlPr>
                            <a:rPr lang="zh-TW" altLang="zh-TW" sz="2000" i="1" smtClean="0">
                              <a:solidFill>
                                <a:srgbClr val="FF0000"/>
                              </a:solidFill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a:rPr lang="en-US" altLang="zh-TW" sz="2000" i="1">
                              <a:solidFill>
                                <a:srgbClr val="FF0000"/>
                              </a:solidFill>
                              <a:latin typeface="Cambria Math" panose="02040503050406030204" pitchFamily="18" charset="0"/>
                            </a:rPr>
                            <m:t>𝛼</m:t>
                          </m:r>
                        </m:e>
                        <m:sub>
                          <m:r>
                            <a:rPr lang="en-US" altLang="zh-TW" sz="2000" b="0" i="1" smtClean="0">
                              <a:solidFill>
                                <a:srgbClr val="FF0000"/>
                              </a:solidFill>
                              <a:latin typeface="Cambria Math" panose="02040503050406030204" pitchFamily="18" charset="0"/>
                            </a:rPr>
                            <m:t>32</m:t>
                          </m:r>
                        </m:sub>
                      </m:sSub>
                    </m:oMath>
                  </m:oMathPara>
                </a14:m>
                <a:endParaRPr lang="zh-TW" altLang="en-US" sz="2000" dirty="0">
                  <a:solidFill>
                    <a:srgbClr val="FF0000"/>
                  </a:solidFill>
                </a:endParaRPr>
              </a:p>
            </p:txBody>
          </p:sp>
        </mc:Choice>
        <mc:Fallback xmlns="">
          <p:sp>
            <p:nvSpPr>
              <p:cNvPr id="70" name="文字方塊 69">
                <a:extLst>
                  <a:ext uri="{FF2B5EF4-FFF2-40B4-BE49-F238E27FC236}">
                    <a16:creationId xmlns:a16="http://schemas.microsoft.com/office/drawing/2014/main" id="{54BC0B7A-3075-0B8E-F135-F48EBA5BD6AA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1874379" y="3265111"/>
                <a:ext cx="575249" cy="400110"/>
              </a:xfrm>
              <a:prstGeom prst="rect">
                <a:avLst/>
              </a:prstGeom>
              <a:blipFill>
                <a:blip r:embed="rId8"/>
                <a:stretch>
                  <a:fillRect/>
                </a:stretch>
              </a:blipFill>
            </p:spPr>
            <p:txBody>
              <a:bodyPr/>
              <a:lstStyle/>
              <a:p>
                <a:r>
                  <a:rPr lang="zh-TW" altLang="en-US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 xmlns:a14="http://schemas.microsoft.com/office/drawing/2010/main">
        <mc:Choice Requires="a14">
          <p:sp>
            <p:nvSpPr>
              <p:cNvPr id="71" name="文字方塊 70">
                <a:extLst>
                  <a:ext uri="{FF2B5EF4-FFF2-40B4-BE49-F238E27FC236}">
                    <a16:creationId xmlns:a16="http://schemas.microsoft.com/office/drawing/2014/main" id="{A140905E-D9C8-3D56-03F1-2C7C2992A665}"/>
                  </a:ext>
                </a:extLst>
              </p:cNvPr>
              <p:cNvSpPr txBox="1"/>
              <p:nvPr/>
            </p:nvSpPr>
            <p:spPr>
              <a:xfrm>
                <a:off x="2841162" y="3265111"/>
                <a:ext cx="575249" cy="400110"/>
              </a:xfrm>
              <a:prstGeom prst="rect">
                <a:avLst/>
              </a:prstGeom>
              <a:noFill/>
            </p:spPr>
            <p:txBody>
              <a:bodyPr wrap="square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sSub>
                        <m:sSubPr>
                          <m:ctrlPr>
                            <a:rPr lang="zh-TW" altLang="zh-TW" sz="2000" i="1" smtClean="0">
                              <a:solidFill>
                                <a:srgbClr val="FF0000"/>
                              </a:solidFill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a:rPr lang="en-US" altLang="zh-TW" sz="2000" i="1">
                              <a:solidFill>
                                <a:srgbClr val="FF0000"/>
                              </a:solidFill>
                              <a:latin typeface="Cambria Math" panose="02040503050406030204" pitchFamily="18" charset="0"/>
                            </a:rPr>
                            <m:t>𝛼</m:t>
                          </m:r>
                        </m:e>
                        <m:sub>
                          <m:r>
                            <a:rPr lang="en-US" altLang="zh-TW" sz="2000" b="0" i="1" smtClean="0">
                              <a:solidFill>
                                <a:srgbClr val="FF0000"/>
                              </a:solidFill>
                              <a:latin typeface="Cambria Math" panose="02040503050406030204" pitchFamily="18" charset="0"/>
                            </a:rPr>
                            <m:t>33</m:t>
                          </m:r>
                        </m:sub>
                      </m:sSub>
                    </m:oMath>
                  </m:oMathPara>
                </a14:m>
                <a:endParaRPr lang="zh-TW" altLang="en-US" sz="2000" dirty="0">
                  <a:solidFill>
                    <a:srgbClr val="FF0000"/>
                  </a:solidFill>
                </a:endParaRPr>
              </a:p>
            </p:txBody>
          </p:sp>
        </mc:Choice>
        <mc:Fallback xmlns="">
          <p:sp>
            <p:nvSpPr>
              <p:cNvPr id="71" name="文字方塊 70">
                <a:extLst>
                  <a:ext uri="{FF2B5EF4-FFF2-40B4-BE49-F238E27FC236}">
                    <a16:creationId xmlns:a16="http://schemas.microsoft.com/office/drawing/2014/main" id="{A140905E-D9C8-3D56-03F1-2C7C2992A665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2841162" y="3265111"/>
                <a:ext cx="575249" cy="400110"/>
              </a:xfrm>
              <a:prstGeom prst="rect">
                <a:avLst/>
              </a:prstGeom>
              <a:blipFill>
                <a:blip r:embed="rId9"/>
                <a:stretch>
                  <a:fillRect/>
                </a:stretch>
              </a:blipFill>
            </p:spPr>
            <p:txBody>
              <a:bodyPr/>
              <a:lstStyle/>
              <a:p>
                <a:r>
                  <a:rPr lang="zh-TW" altLang="en-US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 xmlns:a14="http://schemas.microsoft.com/office/drawing/2010/main">
        <mc:Choice Requires="a14">
          <p:sp>
            <p:nvSpPr>
              <p:cNvPr id="72" name="文字方塊 71">
                <a:extLst>
                  <a:ext uri="{FF2B5EF4-FFF2-40B4-BE49-F238E27FC236}">
                    <a16:creationId xmlns:a16="http://schemas.microsoft.com/office/drawing/2014/main" id="{C84F1FF7-1C2C-EACC-313B-82E8195D1701}"/>
                  </a:ext>
                </a:extLst>
              </p:cNvPr>
              <p:cNvSpPr txBox="1"/>
              <p:nvPr/>
            </p:nvSpPr>
            <p:spPr>
              <a:xfrm>
                <a:off x="3865939" y="3265111"/>
                <a:ext cx="575249" cy="400110"/>
              </a:xfrm>
              <a:prstGeom prst="rect">
                <a:avLst/>
              </a:prstGeom>
              <a:noFill/>
            </p:spPr>
            <p:txBody>
              <a:bodyPr wrap="square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sSub>
                        <m:sSubPr>
                          <m:ctrlPr>
                            <a:rPr lang="zh-TW" altLang="zh-TW" sz="2000" i="1" smtClean="0">
                              <a:solidFill>
                                <a:srgbClr val="FF0000"/>
                              </a:solidFill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a:rPr lang="en-US" altLang="zh-TW" sz="2000" i="1">
                              <a:solidFill>
                                <a:srgbClr val="FF0000"/>
                              </a:solidFill>
                              <a:latin typeface="Cambria Math" panose="02040503050406030204" pitchFamily="18" charset="0"/>
                            </a:rPr>
                            <m:t>𝛼</m:t>
                          </m:r>
                        </m:e>
                        <m:sub>
                          <m:r>
                            <a:rPr lang="en-US" altLang="zh-TW" sz="2000" b="0" i="1" smtClean="0">
                              <a:solidFill>
                                <a:srgbClr val="FF0000"/>
                              </a:solidFill>
                              <a:latin typeface="Cambria Math" panose="02040503050406030204" pitchFamily="18" charset="0"/>
                            </a:rPr>
                            <m:t>34</m:t>
                          </m:r>
                        </m:sub>
                      </m:sSub>
                    </m:oMath>
                  </m:oMathPara>
                </a14:m>
                <a:endParaRPr lang="zh-TW" altLang="en-US" sz="2000" dirty="0">
                  <a:solidFill>
                    <a:srgbClr val="FF0000"/>
                  </a:solidFill>
                </a:endParaRPr>
              </a:p>
            </p:txBody>
          </p:sp>
        </mc:Choice>
        <mc:Fallback xmlns="">
          <p:sp>
            <p:nvSpPr>
              <p:cNvPr id="72" name="文字方塊 71">
                <a:extLst>
                  <a:ext uri="{FF2B5EF4-FFF2-40B4-BE49-F238E27FC236}">
                    <a16:creationId xmlns:a16="http://schemas.microsoft.com/office/drawing/2014/main" id="{C84F1FF7-1C2C-EACC-313B-82E8195D1701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3865939" y="3265111"/>
                <a:ext cx="575249" cy="400110"/>
              </a:xfrm>
              <a:prstGeom prst="rect">
                <a:avLst/>
              </a:prstGeom>
              <a:blipFill>
                <a:blip r:embed="rId10"/>
                <a:stretch>
                  <a:fillRect/>
                </a:stretch>
              </a:blipFill>
            </p:spPr>
            <p:txBody>
              <a:bodyPr/>
              <a:lstStyle/>
              <a:p>
                <a:r>
                  <a:rPr lang="zh-TW" altLang="en-US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 xmlns:a14="http://schemas.microsoft.com/office/drawing/2010/main">
        <mc:Choice Requires="a14">
          <p:sp>
            <p:nvSpPr>
              <p:cNvPr id="73" name="文字方塊 72">
                <a:extLst>
                  <a:ext uri="{FF2B5EF4-FFF2-40B4-BE49-F238E27FC236}">
                    <a16:creationId xmlns:a16="http://schemas.microsoft.com/office/drawing/2014/main" id="{DA6C51F4-3DFA-314F-C100-8F655334C64E}"/>
                  </a:ext>
                </a:extLst>
              </p:cNvPr>
              <p:cNvSpPr txBox="1"/>
              <p:nvPr/>
            </p:nvSpPr>
            <p:spPr>
              <a:xfrm>
                <a:off x="4847905" y="3265111"/>
                <a:ext cx="575249" cy="400110"/>
              </a:xfrm>
              <a:prstGeom prst="rect">
                <a:avLst/>
              </a:prstGeom>
              <a:noFill/>
            </p:spPr>
            <p:txBody>
              <a:bodyPr wrap="square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sSub>
                        <m:sSubPr>
                          <m:ctrlPr>
                            <a:rPr lang="zh-TW" altLang="zh-TW" sz="2000" i="1" smtClean="0">
                              <a:solidFill>
                                <a:srgbClr val="FF0000"/>
                              </a:solidFill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a:rPr lang="en-US" altLang="zh-TW" sz="2000" i="1">
                              <a:solidFill>
                                <a:srgbClr val="FF0000"/>
                              </a:solidFill>
                              <a:latin typeface="Cambria Math" panose="02040503050406030204" pitchFamily="18" charset="0"/>
                            </a:rPr>
                            <m:t>𝛼</m:t>
                          </m:r>
                        </m:e>
                        <m:sub>
                          <m:r>
                            <a:rPr lang="en-US" altLang="zh-TW" sz="2000" b="0" i="1" smtClean="0">
                              <a:solidFill>
                                <a:srgbClr val="FF0000"/>
                              </a:solidFill>
                              <a:latin typeface="Cambria Math" panose="02040503050406030204" pitchFamily="18" charset="0"/>
                            </a:rPr>
                            <m:t>35</m:t>
                          </m:r>
                        </m:sub>
                      </m:sSub>
                    </m:oMath>
                  </m:oMathPara>
                </a14:m>
                <a:endParaRPr lang="zh-TW" altLang="en-US" sz="2000" dirty="0">
                  <a:solidFill>
                    <a:srgbClr val="FF0000"/>
                  </a:solidFill>
                </a:endParaRPr>
              </a:p>
            </p:txBody>
          </p:sp>
        </mc:Choice>
        <mc:Fallback xmlns="">
          <p:sp>
            <p:nvSpPr>
              <p:cNvPr id="73" name="文字方塊 72">
                <a:extLst>
                  <a:ext uri="{FF2B5EF4-FFF2-40B4-BE49-F238E27FC236}">
                    <a16:creationId xmlns:a16="http://schemas.microsoft.com/office/drawing/2014/main" id="{DA6C51F4-3DFA-314F-C100-8F655334C64E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4847905" y="3265111"/>
                <a:ext cx="575249" cy="400110"/>
              </a:xfrm>
              <a:prstGeom prst="rect">
                <a:avLst/>
              </a:prstGeom>
              <a:blipFill>
                <a:blip r:embed="rId11"/>
                <a:stretch>
                  <a:fillRect/>
                </a:stretch>
              </a:blipFill>
            </p:spPr>
            <p:txBody>
              <a:bodyPr/>
              <a:lstStyle/>
              <a:p>
                <a:r>
                  <a:rPr lang="zh-TW" altLang="en-US">
                    <a:noFill/>
                  </a:rPr>
                  <a:t> </a:t>
                </a:r>
              </a:p>
            </p:txBody>
          </p:sp>
        </mc:Fallback>
      </mc:AlternateContent>
      <p:sp>
        <p:nvSpPr>
          <p:cNvPr id="74" name="圓角矩形 73">
            <a:extLst>
              <a:ext uri="{FF2B5EF4-FFF2-40B4-BE49-F238E27FC236}">
                <a16:creationId xmlns:a16="http://schemas.microsoft.com/office/drawing/2014/main" id="{4A08F483-5EA2-A994-0E1C-226345FAE2AB}"/>
              </a:ext>
            </a:extLst>
          </p:cNvPr>
          <p:cNvSpPr/>
          <p:nvPr/>
        </p:nvSpPr>
        <p:spPr>
          <a:xfrm>
            <a:off x="2020773" y="3930616"/>
            <a:ext cx="343791" cy="864699"/>
          </a:xfrm>
          <a:prstGeom prst="roundRect">
            <a:avLst/>
          </a:prstGeom>
          <a:noFill/>
          <a:ln>
            <a:solidFill>
              <a:srgbClr val="FF0000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kumimoji="1" lang="zh-TW" altLang="en-US"/>
          </a:p>
        </p:txBody>
      </p:sp>
      <p:sp>
        <p:nvSpPr>
          <p:cNvPr id="75" name="圓角矩形 74">
            <a:extLst>
              <a:ext uri="{FF2B5EF4-FFF2-40B4-BE49-F238E27FC236}">
                <a16:creationId xmlns:a16="http://schemas.microsoft.com/office/drawing/2014/main" id="{61A6027D-9418-4A29-45A7-6889C95C52CF}"/>
              </a:ext>
            </a:extLst>
          </p:cNvPr>
          <p:cNvSpPr/>
          <p:nvPr/>
        </p:nvSpPr>
        <p:spPr>
          <a:xfrm>
            <a:off x="2968706" y="3930616"/>
            <a:ext cx="343791" cy="864699"/>
          </a:xfrm>
          <a:prstGeom prst="roundRect">
            <a:avLst/>
          </a:prstGeom>
          <a:noFill/>
          <a:ln>
            <a:solidFill>
              <a:srgbClr val="FF0000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kumimoji="1" lang="zh-TW" altLang="en-US"/>
          </a:p>
        </p:txBody>
      </p:sp>
      <p:sp>
        <p:nvSpPr>
          <p:cNvPr id="76" name="圓角矩形 75">
            <a:extLst>
              <a:ext uri="{FF2B5EF4-FFF2-40B4-BE49-F238E27FC236}">
                <a16:creationId xmlns:a16="http://schemas.microsoft.com/office/drawing/2014/main" id="{B91E278D-D65B-8108-9DDE-563B553D2F19}"/>
              </a:ext>
            </a:extLst>
          </p:cNvPr>
          <p:cNvSpPr/>
          <p:nvPr/>
        </p:nvSpPr>
        <p:spPr>
          <a:xfrm>
            <a:off x="3990149" y="3930616"/>
            <a:ext cx="343791" cy="864699"/>
          </a:xfrm>
          <a:prstGeom prst="roundRect">
            <a:avLst/>
          </a:prstGeom>
          <a:noFill/>
          <a:ln>
            <a:solidFill>
              <a:srgbClr val="FF0000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kumimoji="1" lang="zh-TW" altLang="en-US"/>
          </a:p>
        </p:txBody>
      </p:sp>
      <p:sp>
        <p:nvSpPr>
          <p:cNvPr id="77" name="圓角矩形 76">
            <a:extLst>
              <a:ext uri="{FF2B5EF4-FFF2-40B4-BE49-F238E27FC236}">
                <a16:creationId xmlns:a16="http://schemas.microsoft.com/office/drawing/2014/main" id="{AF9EC357-327F-1F6E-EE57-B8F4D9BD59F6}"/>
              </a:ext>
            </a:extLst>
          </p:cNvPr>
          <p:cNvSpPr/>
          <p:nvPr/>
        </p:nvSpPr>
        <p:spPr>
          <a:xfrm>
            <a:off x="4971597" y="3930616"/>
            <a:ext cx="343791" cy="864699"/>
          </a:xfrm>
          <a:prstGeom prst="roundRect">
            <a:avLst/>
          </a:prstGeom>
          <a:noFill/>
          <a:ln>
            <a:solidFill>
              <a:srgbClr val="FF0000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kumimoji="1" lang="zh-TW" altLang="en-US"/>
          </a:p>
        </p:txBody>
      </p:sp>
      <p:sp>
        <p:nvSpPr>
          <p:cNvPr id="78" name="圓角矩形 77">
            <a:extLst>
              <a:ext uri="{FF2B5EF4-FFF2-40B4-BE49-F238E27FC236}">
                <a16:creationId xmlns:a16="http://schemas.microsoft.com/office/drawing/2014/main" id="{697875B0-2A3D-072B-0602-61809FCD37FB}"/>
              </a:ext>
            </a:extLst>
          </p:cNvPr>
          <p:cNvSpPr/>
          <p:nvPr/>
        </p:nvSpPr>
        <p:spPr>
          <a:xfrm>
            <a:off x="3024614" y="2596981"/>
            <a:ext cx="249382" cy="534390"/>
          </a:xfrm>
          <a:prstGeom prst="roundRect">
            <a:avLst/>
          </a:prstGeom>
          <a:solidFill>
            <a:schemeClr val="bg1">
              <a:lumMod val="75000"/>
            </a:schemeClr>
          </a:solidFill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kumimoji="1" lang="zh-TW" altLang="en-US" dirty="0">
              <a:solidFill>
                <a:schemeClr val="tx1"/>
              </a:solidFill>
              <a:latin typeface="Cambria Math" panose="02040503050406030204" pitchFamily="18" charset="0"/>
            </a:endParaRPr>
          </a:p>
        </p:txBody>
      </p:sp>
      <p:sp>
        <p:nvSpPr>
          <p:cNvPr id="79" name="文字方塊 78">
            <a:extLst>
              <a:ext uri="{FF2B5EF4-FFF2-40B4-BE49-F238E27FC236}">
                <a16:creationId xmlns:a16="http://schemas.microsoft.com/office/drawing/2014/main" id="{AD96DF43-5D80-FEE5-1165-12AE46B86302}"/>
              </a:ext>
            </a:extLst>
          </p:cNvPr>
          <p:cNvSpPr txBox="1"/>
          <p:nvPr/>
        </p:nvSpPr>
        <p:spPr>
          <a:xfrm>
            <a:off x="2100046" y="2622124"/>
            <a:ext cx="949308" cy="52322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kumimoji="1" lang="en-US" altLang="zh-TW" sz="1400" dirty="0"/>
              <a:t>Context vector</a:t>
            </a:r>
            <a:endParaRPr kumimoji="1" lang="zh-TW" altLang="en-US" sz="1400" dirty="0"/>
          </a:p>
        </p:txBody>
      </p:sp>
      <mc:AlternateContent xmlns:mc="http://schemas.openxmlformats.org/markup-compatibility/2006" xmlns:a14="http://schemas.microsoft.com/office/drawing/2010/main">
        <mc:Choice Requires="a14">
          <p:sp>
            <p:nvSpPr>
              <p:cNvPr id="80" name="文字方塊 79">
                <a:extLst>
                  <a:ext uri="{FF2B5EF4-FFF2-40B4-BE49-F238E27FC236}">
                    <a16:creationId xmlns:a16="http://schemas.microsoft.com/office/drawing/2014/main" id="{F2834D78-CD22-4BA4-1C85-44CE3A9DF328}"/>
                  </a:ext>
                </a:extLst>
              </p:cNvPr>
              <p:cNvSpPr txBox="1"/>
              <p:nvPr/>
            </p:nvSpPr>
            <p:spPr>
              <a:xfrm>
                <a:off x="2315189" y="1717555"/>
                <a:ext cx="1443729" cy="756233"/>
              </a:xfrm>
              <a:prstGeom prst="rect">
                <a:avLst/>
              </a:prstGeom>
              <a:noFill/>
            </p:spPr>
            <p:txBody>
              <a:bodyPr wrap="none" lIns="0" tIns="0" rIns="0" bIns="0" rtlCol="0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sSub>
                        <m:sSubPr>
                          <m:ctrlPr>
                            <a:rPr lang="zh-TW" altLang="zh-TW" i="1" smtClean="0">
                              <a:solidFill>
                                <a:schemeClr val="tx1"/>
                              </a:solidFill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a:rPr lang="en-US" altLang="zh-TW" i="1">
                              <a:solidFill>
                                <a:schemeClr val="tx1"/>
                              </a:solidFill>
                              <a:latin typeface="Cambria Math" panose="02040503050406030204" pitchFamily="18" charset="0"/>
                            </a:rPr>
                            <m:t>𝑐</m:t>
                          </m:r>
                        </m:e>
                        <m:sub>
                          <m:r>
                            <a:rPr lang="en-US" altLang="zh-TW" b="0" i="1" smtClean="0">
                              <a:solidFill>
                                <a:schemeClr val="tx1"/>
                              </a:solidFill>
                              <a:latin typeface="Cambria Math" panose="02040503050406030204" pitchFamily="18" charset="0"/>
                            </a:rPr>
                            <m:t>3</m:t>
                          </m:r>
                        </m:sub>
                      </m:sSub>
                      <m:r>
                        <a:rPr lang="en-US" altLang="zh-TW" i="1">
                          <a:solidFill>
                            <a:schemeClr val="tx1"/>
                          </a:solidFill>
                          <a:latin typeface="Cambria Math" panose="02040503050406030204" pitchFamily="18" charset="0"/>
                        </a:rPr>
                        <m:t>=</m:t>
                      </m:r>
                      <m:nary>
                        <m:naryPr>
                          <m:chr m:val="∑"/>
                          <m:limLoc m:val="undOvr"/>
                          <m:ctrlPr>
                            <a:rPr lang="zh-TW" altLang="zh-TW" i="1">
                              <a:solidFill>
                                <a:schemeClr val="tx1"/>
                              </a:solidFill>
                              <a:latin typeface="Cambria Math" panose="02040503050406030204" pitchFamily="18" charset="0"/>
                            </a:rPr>
                          </m:ctrlPr>
                        </m:naryPr>
                        <m:sub>
                          <m:r>
                            <a:rPr lang="en-US" altLang="zh-TW" i="1">
                              <a:solidFill>
                                <a:schemeClr val="tx1"/>
                              </a:solidFill>
                              <a:latin typeface="Cambria Math" panose="02040503050406030204" pitchFamily="18" charset="0"/>
                            </a:rPr>
                            <m:t>𝑖</m:t>
                          </m:r>
                          <m:r>
                            <a:rPr lang="en-US" altLang="zh-TW" i="1">
                              <a:solidFill>
                                <a:schemeClr val="tx1"/>
                              </a:solidFill>
                              <a:latin typeface="Cambria Math" panose="02040503050406030204" pitchFamily="18" charset="0"/>
                            </a:rPr>
                            <m:t>=1</m:t>
                          </m:r>
                        </m:sub>
                        <m:sup>
                          <m:r>
                            <a:rPr lang="en-US" altLang="zh-TW" i="1">
                              <a:solidFill>
                                <a:schemeClr val="tx1"/>
                              </a:solidFill>
                              <a:latin typeface="Cambria Math" panose="02040503050406030204" pitchFamily="18" charset="0"/>
                            </a:rPr>
                            <m:t>𝑛</m:t>
                          </m:r>
                        </m:sup>
                        <m:e>
                          <m:sSub>
                            <m:sSubPr>
                              <m:ctrlPr>
                                <a:rPr lang="zh-TW" altLang="zh-TW" i="1">
                                  <a:solidFill>
                                    <a:schemeClr val="tx1"/>
                                  </a:solidFill>
                                  <a:latin typeface="Cambria Math" panose="02040503050406030204" pitchFamily="18" charset="0"/>
                                </a:rPr>
                              </m:ctrlPr>
                            </m:sSubPr>
                            <m:e>
                              <m:r>
                                <a:rPr lang="en-US" altLang="zh-TW" i="1">
                                  <a:solidFill>
                                    <a:schemeClr val="tx1"/>
                                  </a:solidFill>
                                  <a:latin typeface="Cambria Math" panose="02040503050406030204" pitchFamily="18" charset="0"/>
                                </a:rPr>
                                <m:t>𝛼</m:t>
                              </m:r>
                            </m:e>
                            <m:sub>
                              <m:r>
                                <a:rPr lang="en-US" altLang="zh-TW" b="0" i="1" smtClean="0">
                                  <a:solidFill>
                                    <a:schemeClr val="tx1"/>
                                  </a:solidFill>
                                  <a:latin typeface="Cambria Math" panose="02040503050406030204" pitchFamily="18" charset="0"/>
                                </a:rPr>
                                <m:t>3</m:t>
                              </m:r>
                              <m:r>
                                <a:rPr lang="en-US" altLang="zh-TW" i="1">
                                  <a:solidFill>
                                    <a:schemeClr val="tx1"/>
                                  </a:solidFill>
                                  <a:latin typeface="Cambria Math" panose="02040503050406030204" pitchFamily="18" charset="0"/>
                                </a:rPr>
                                <m:t>𝑖</m:t>
                              </m:r>
                            </m:sub>
                          </m:sSub>
                          <m:sSub>
                            <m:sSubPr>
                              <m:ctrlPr>
                                <a:rPr lang="zh-TW" altLang="zh-TW" i="1">
                                  <a:solidFill>
                                    <a:schemeClr val="tx1"/>
                                  </a:solidFill>
                                  <a:latin typeface="Cambria Math" panose="02040503050406030204" pitchFamily="18" charset="0"/>
                                </a:rPr>
                              </m:ctrlPr>
                            </m:sSubPr>
                            <m:e>
                              <m:r>
                                <a:rPr lang="en-US" altLang="zh-TW" i="1">
                                  <a:solidFill>
                                    <a:schemeClr val="tx1"/>
                                  </a:solidFill>
                                  <a:latin typeface="Cambria Math" panose="02040503050406030204" pitchFamily="18" charset="0"/>
                                </a:rPr>
                                <m:t>h</m:t>
                              </m:r>
                            </m:e>
                            <m:sub>
                              <m:r>
                                <a:rPr lang="en-US" altLang="zh-TW" i="1">
                                  <a:solidFill>
                                    <a:schemeClr val="tx1"/>
                                  </a:solidFill>
                                  <a:latin typeface="Cambria Math" panose="02040503050406030204" pitchFamily="18" charset="0"/>
                                </a:rPr>
                                <m:t>𝑡</m:t>
                              </m:r>
                            </m:sub>
                          </m:sSub>
                        </m:e>
                      </m:nary>
                    </m:oMath>
                  </m:oMathPara>
                </a14:m>
                <a:endParaRPr lang="zh-TW" altLang="zh-TW" dirty="0">
                  <a:solidFill>
                    <a:schemeClr val="tx1"/>
                  </a:solidFill>
                </a:endParaRPr>
              </a:p>
            </p:txBody>
          </p:sp>
        </mc:Choice>
        <mc:Fallback xmlns="">
          <p:sp>
            <p:nvSpPr>
              <p:cNvPr id="80" name="文字方塊 79">
                <a:extLst>
                  <a:ext uri="{FF2B5EF4-FFF2-40B4-BE49-F238E27FC236}">
                    <a16:creationId xmlns:a16="http://schemas.microsoft.com/office/drawing/2014/main" id="{F2834D78-CD22-4BA4-1C85-44CE3A9DF328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2315189" y="1717555"/>
                <a:ext cx="1443729" cy="756233"/>
              </a:xfrm>
              <a:prstGeom prst="rect">
                <a:avLst/>
              </a:prstGeom>
              <a:blipFill>
                <a:blip r:embed="rId12"/>
                <a:stretch>
                  <a:fillRect l="-22609" t="-120000" b="-180000"/>
                </a:stretch>
              </a:blipFill>
            </p:spPr>
            <p:txBody>
              <a:bodyPr/>
              <a:lstStyle/>
              <a:p>
                <a:r>
                  <a:rPr lang="zh-TW" altLang="en-US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 xmlns:a14="http://schemas.microsoft.com/office/drawing/2010/main">
        <mc:Choice Requires="a14">
          <p:sp>
            <p:nvSpPr>
              <p:cNvPr id="83" name="文字方塊 82">
                <a:extLst>
                  <a:ext uri="{FF2B5EF4-FFF2-40B4-BE49-F238E27FC236}">
                    <a16:creationId xmlns:a16="http://schemas.microsoft.com/office/drawing/2014/main" id="{943939FD-3D1F-EF81-C93D-403E6E09EE10}"/>
                  </a:ext>
                </a:extLst>
              </p:cNvPr>
              <p:cNvSpPr txBox="1"/>
              <p:nvPr/>
            </p:nvSpPr>
            <p:spPr>
              <a:xfrm>
                <a:off x="7818449" y="2464892"/>
                <a:ext cx="4204465" cy="1200329"/>
              </a:xfrm>
              <a:prstGeom prst="rect">
                <a:avLst/>
              </a:prstGeom>
              <a:noFill/>
            </p:spPr>
            <p:txBody>
              <a:bodyPr wrap="square" rtlCol="0">
                <a:spAutoFit/>
              </a:bodyPr>
              <a:lstStyle/>
              <a:p>
                <a:pPr>
                  <a:lnSpc>
                    <a:spcPct val="200000"/>
                  </a:lnSpc>
                </a:pPr>
                <a:r>
                  <a:rPr lang="en-US" altLang="zh-TW" dirty="0">
                    <a:latin typeface="Cambria Math" panose="02040503050406030204" pitchFamily="18" charset="0"/>
                  </a:rPr>
                  <a:t>Given </a:t>
                </a:r>
                <a:r>
                  <a:rPr lang="en-US" altLang="zh-TW" dirty="0" err="1">
                    <a:latin typeface="Cambria Math" panose="02040503050406030204" pitchFamily="18" charset="0"/>
                  </a:rPr>
                  <a:t>i</a:t>
                </a:r>
                <a:r>
                  <a:rPr lang="en-US" altLang="zh-TW" dirty="0">
                    <a:latin typeface="Cambria Math" panose="02040503050406030204" pitchFamily="18" charset="0"/>
                  </a:rPr>
                  <a:t> </a:t>
                </a:r>
                <a14:m>
                  <m:oMath xmlns:m="http://schemas.openxmlformats.org/officeDocument/2006/math">
                    <m:r>
                      <a:rPr lang="en-US" altLang="zh-TW" sz="1800" i="1" smtClean="0">
                        <a:effectLst/>
                        <a:latin typeface="Cambria Math" panose="02040503050406030204" pitchFamily="18" charset="0"/>
                        <a:ea typeface="新細明體" panose="02020500000000000000" pitchFamily="18" charset="-120"/>
                        <a:cs typeface="Times New Roman" panose="02020603050405020304" pitchFamily="18" charset="0"/>
                      </a:rPr>
                      <m:t>∈</m:t>
                    </m:r>
                  </m:oMath>
                </a14:m>
                <a:r>
                  <a:rPr lang="zh-TW" altLang="zh-TW" dirty="0">
                    <a:effectLst/>
                  </a:rPr>
                  <a:t> </a:t>
                </a:r>
                <a:r>
                  <a:rPr lang="en-US" altLang="zh-TW" dirty="0">
                    <a:latin typeface="Cambria Math" panose="02040503050406030204" pitchFamily="18" charset="0"/>
                  </a:rPr>
                  <a:t>{1, ..., n},</a:t>
                </a:r>
              </a:p>
              <a:p>
                <a:pPr>
                  <a:lnSpc>
                    <a:spcPct val="200000"/>
                  </a:lnSpc>
                </a:pPr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sSub>
                        <m:sSubPr>
                          <m:ctrlPr>
                            <a:rPr lang="zh-TW" altLang="zh-TW" i="1"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a:rPr lang="en-US" altLang="zh-TW" i="1">
                              <a:latin typeface="Cambria Math" panose="02040503050406030204" pitchFamily="18" charset="0"/>
                            </a:rPr>
                            <m:t>𝛼</m:t>
                          </m:r>
                        </m:e>
                        <m:sub>
                          <m:r>
                            <a:rPr lang="en-US" altLang="zh-TW" i="1">
                              <a:latin typeface="Cambria Math" panose="02040503050406030204" pitchFamily="18" charset="0"/>
                            </a:rPr>
                            <m:t>𝑡𝑖</m:t>
                          </m:r>
                        </m:sub>
                      </m:sSub>
                      <m:r>
                        <a:rPr lang="en-US" altLang="zh-TW" b="0" i="1" smtClean="0">
                          <a:latin typeface="Cambria Math" panose="02040503050406030204" pitchFamily="18" charset="0"/>
                        </a:rPr>
                        <m:t>=</m:t>
                      </m:r>
                      <m:r>
                        <m:rPr>
                          <m:sty m:val="p"/>
                        </m:rPr>
                        <a:rPr lang="en-US" altLang="zh-TW" b="0" i="0" smtClean="0">
                          <a:latin typeface="Cambria Math" panose="02040503050406030204" pitchFamily="18" charset="0"/>
                        </a:rPr>
                        <m:t>s</m:t>
                      </m:r>
                      <m:r>
                        <m:rPr>
                          <m:sty m:val="p"/>
                        </m:rPr>
                        <a:rPr lang="en-US" altLang="zh-TW">
                          <a:latin typeface="Cambria Math" panose="02040503050406030204" pitchFamily="18" charset="0"/>
                        </a:rPr>
                        <m:t>oftmax</m:t>
                      </m:r>
                      <m:r>
                        <a:rPr lang="en-US" altLang="zh-TW" b="0" i="1" smtClean="0">
                          <a:latin typeface="Cambria Math" panose="02040503050406030204" pitchFamily="18" charset="0"/>
                        </a:rPr>
                        <m:t>(</m:t>
                      </m:r>
                      <m:r>
                        <a:rPr lang="en-US" altLang="zh-TW" sz="1800" i="1" kern="100" smtClean="0">
                          <a:effectLst/>
                          <a:latin typeface="Cambria Math" panose="02040503050406030204" pitchFamily="18" charset="0"/>
                          <a:ea typeface="新細明體" panose="02020500000000000000" pitchFamily="18" charset="-120"/>
                          <a:cs typeface="Times New Roman" panose="02020603050405020304" pitchFamily="18" charset="0"/>
                        </a:rPr>
                        <m:t>𝑣</m:t>
                      </m:r>
                      <m:r>
                        <a:rPr lang="en-US" altLang="zh-TW" sz="1800" kern="100" smtClean="0">
                          <a:effectLst/>
                          <a:latin typeface="Cambria Math" panose="02040503050406030204" pitchFamily="18" charset="0"/>
                          <a:ea typeface="新細明體" panose="02020500000000000000" pitchFamily="18" charset="-120"/>
                          <a:cs typeface="Times New Roman" panose="02020603050405020304" pitchFamily="18" charset="0"/>
                        </a:rPr>
                        <m:t>⋅</m:t>
                      </m:r>
                      <m:func>
                        <m:funcPr>
                          <m:ctrlPr>
                            <a:rPr lang="en-US" altLang="zh-TW" sz="1800" i="1" kern="100" smtClean="0">
                              <a:effectLst/>
                              <a:latin typeface="Cambria Math" panose="02040503050406030204" pitchFamily="18" charset="0"/>
                              <a:ea typeface="新細明體" panose="02020500000000000000" pitchFamily="18" charset="-120"/>
                              <a:cs typeface="Times New Roman" panose="02020603050405020304" pitchFamily="18" charset="0"/>
                            </a:rPr>
                          </m:ctrlPr>
                        </m:funcPr>
                        <m:fName>
                          <m:r>
                            <m:rPr>
                              <m:sty m:val="p"/>
                            </m:rPr>
                            <a:rPr lang="en-US" altLang="zh-TW" sz="1800" kern="100" smtClean="0">
                              <a:effectLst/>
                              <a:latin typeface="Cambria Math" panose="02040503050406030204" pitchFamily="18" charset="0"/>
                              <a:ea typeface="新細明體" panose="02020500000000000000" pitchFamily="18" charset="-120"/>
                              <a:cs typeface="Times New Roman" panose="02020603050405020304" pitchFamily="18" charset="0"/>
                            </a:rPr>
                            <m:t>tanh</m:t>
                          </m:r>
                        </m:fName>
                        <m:e>
                          <m:d>
                            <m:dPr>
                              <m:ctrlPr>
                                <a:rPr lang="en-US" altLang="zh-TW" sz="1800" i="1" kern="100">
                                  <a:effectLst/>
                                  <a:latin typeface="Cambria Math" panose="02040503050406030204" pitchFamily="18" charset="0"/>
                                  <a:ea typeface="新細明體" panose="02020500000000000000" pitchFamily="18" charset="-120"/>
                                  <a:cs typeface="Times New Roman" panose="02020603050405020304" pitchFamily="18" charset="0"/>
                                </a:rPr>
                              </m:ctrlPr>
                            </m:dPr>
                            <m:e>
                              <m:r>
                                <a:rPr lang="en-US" altLang="zh-TW" sz="1800" i="1" kern="100">
                                  <a:effectLst/>
                                  <a:latin typeface="Cambria Math" panose="02040503050406030204" pitchFamily="18" charset="0"/>
                                  <a:ea typeface="新細明體" panose="02020500000000000000" pitchFamily="18" charset="-120"/>
                                  <a:cs typeface="Times New Roman" panose="02020603050405020304" pitchFamily="18" charset="0"/>
                                </a:rPr>
                                <m:t>𝑊</m:t>
                              </m:r>
                              <m:sSub>
                                <m:sSubPr>
                                  <m:ctrlPr>
                                    <a:rPr lang="zh-TW" altLang="zh-TW" sz="1800" i="1" kern="100">
                                      <a:effectLst/>
                                      <a:latin typeface="Cambria Math" panose="02040503050406030204" pitchFamily="18" charset="0"/>
                                      <a:ea typeface="Cambria Math" panose="02040503050406030204" pitchFamily="18" charset="0"/>
                                      <a:cs typeface="Times New Roman" panose="02020603050405020304" pitchFamily="18" charset="0"/>
                                    </a:rPr>
                                  </m:ctrlPr>
                                </m:sSubPr>
                                <m:e>
                                  <m:r>
                                    <a:rPr lang="en-US" altLang="zh-TW" sz="1800" i="1" kern="100">
                                      <a:effectLst/>
                                      <a:latin typeface="Cambria Math" panose="02040503050406030204" pitchFamily="18" charset="0"/>
                                      <a:ea typeface="新細明體" panose="02020500000000000000" pitchFamily="18" charset="-120"/>
                                      <a:cs typeface="Times New Roman" panose="02020603050405020304" pitchFamily="18" charset="0"/>
                                    </a:rPr>
                                    <m:t>𝑠</m:t>
                                  </m:r>
                                </m:e>
                                <m:sub>
                                  <m:r>
                                    <a:rPr lang="en-US" altLang="zh-TW" sz="1800" i="1" kern="100">
                                      <a:effectLst/>
                                      <a:latin typeface="Cambria Math" panose="02040503050406030204" pitchFamily="18" charset="0"/>
                                      <a:ea typeface="新細明體" panose="02020500000000000000" pitchFamily="18" charset="-120"/>
                                      <a:cs typeface="Times New Roman" panose="02020603050405020304" pitchFamily="18" charset="0"/>
                                    </a:rPr>
                                    <m:t>𝑡</m:t>
                                  </m:r>
                                  <m:r>
                                    <a:rPr lang="en-US" altLang="zh-TW" sz="1800" i="1" kern="100">
                                      <a:effectLst/>
                                      <a:latin typeface="Cambria Math" panose="02040503050406030204" pitchFamily="18" charset="0"/>
                                      <a:ea typeface="新細明體" panose="02020500000000000000" pitchFamily="18" charset="-120"/>
                                      <a:cs typeface="Times New Roman" panose="02020603050405020304" pitchFamily="18" charset="0"/>
                                    </a:rPr>
                                    <m:t>−1</m:t>
                                  </m:r>
                                </m:sub>
                              </m:sSub>
                              <m:r>
                                <a:rPr lang="en-US" altLang="zh-TW" sz="1800" i="1" kern="100">
                                  <a:effectLst/>
                                  <a:latin typeface="Cambria Math" panose="02040503050406030204" pitchFamily="18" charset="0"/>
                                  <a:ea typeface="新細明體" panose="02020500000000000000" pitchFamily="18" charset="-120"/>
                                  <a:cs typeface="Times New Roman" panose="02020603050405020304" pitchFamily="18" charset="0"/>
                                </a:rPr>
                                <m:t>+</m:t>
                              </m:r>
                              <m:r>
                                <a:rPr lang="en-US" altLang="zh-TW" sz="1800" i="1" kern="100">
                                  <a:effectLst/>
                                  <a:latin typeface="Cambria Math" panose="02040503050406030204" pitchFamily="18" charset="0"/>
                                  <a:ea typeface="新細明體" panose="02020500000000000000" pitchFamily="18" charset="-120"/>
                                  <a:cs typeface="Times New Roman" panose="02020603050405020304" pitchFamily="18" charset="0"/>
                                </a:rPr>
                                <m:t>𝑈</m:t>
                              </m:r>
                              <m:sSub>
                                <m:sSubPr>
                                  <m:ctrlPr>
                                    <a:rPr lang="zh-TW" altLang="zh-TW" sz="1800" i="1" kern="100">
                                      <a:effectLst/>
                                      <a:latin typeface="Cambria Math" panose="02040503050406030204" pitchFamily="18" charset="0"/>
                                      <a:ea typeface="Cambria Math" panose="02040503050406030204" pitchFamily="18" charset="0"/>
                                      <a:cs typeface="Times New Roman" panose="02020603050405020304" pitchFamily="18" charset="0"/>
                                    </a:rPr>
                                  </m:ctrlPr>
                                </m:sSubPr>
                                <m:e>
                                  <m:r>
                                    <a:rPr lang="en-US" altLang="zh-TW" sz="1800" i="1" kern="100">
                                      <a:effectLst/>
                                      <a:latin typeface="Cambria Math" panose="02040503050406030204" pitchFamily="18" charset="0"/>
                                      <a:ea typeface="新細明體" panose="02020500000000000000" pitchFamily="18" charset="-120"/>
                                      <a:cs typeface="Times New Roman" panose="02020603050405020304" pitchFamily="18" charset="0"/>
                                    </a:rPr>
                                    <m:t>h</m:t>
                                  </m:r>
                                </m:e>
                                <m:sub>
                                  <m:r>
                                    <a:rPr lang="en-US" altLang="zh-TW" sz="1800" i="1" kern="100">
                                      <a:effectLst/>
                                      <a:latin typeface="Cambria Math" panose="02040503050406030204" pitchFamily="18" charset="0"/>
                                      <a:ea typeface="新細明體" panose="02020500000000000000" pitchFamily="18" charset="-120"/>
                                      <a:cs typeface="Times New Roman" panose="02020603050405020304" pitchFamily="18" charset="0"/>
                                    </a:rPr>
                                    <m:t>𝑖</m:t>
                                  </m:r>
                                </m:sub>
                              </m:sSub>
                            </m:e>
                          </m:d>
                        </m:e>
                      </m:func>
                      <m:r>
                        <a:rPr lang="en-US" altLang="zh-TW" sz="1800" b="0" i="1" kern="100" smtClean="0">
                          <a:effectLst/>
                          <a:latin typeface="Cambria Math" panose="02040503050406030204" pitchFamily="18" charset="0"/>
                          <a:ea typeface="新細明體" panose="02020500000000000000" pitchFamily="18" charset="-120"/>
                          <a:cs typeface="Times New Roman" panose="02020603050405020304" pitchFamily="18" charset="0"/>
                        </a:rPr>
                        <m:t>)</m:t>
                      </m:r>
                    </m:oMath>
                  </m:oMathPara>
                </a14:m>
                <a:endParaRPr lang="en-US" altLang="zh-TW" sz="1800" kern="100" dirty="0">
                  <a:effectLst/>
                  <a:latin typeface="Aptos" panose="020B0004020202020204" pitchFamily="34" charset="0"/>
                  <a:ea typeface="新細明體" panose="02020500000000000000" pitchFamily="18" charset="-120"/>
                  <a:cs typeface="Times New Roman" panose="02020603050405020304" pitchFamily="18" charset="0"/>
                </a:endParaRPr>
              </a:p>
            </p:txBody>
          </p:sp>
        </mc:Choice>
        <mc:Fallback xmlns="">
          <p:sp>
            <p:nvSpPr>
              <p:cNvPr id="83" name="文字方塊 82">
                <a:extLst>
                  <a:ext uri="{FF2B5EF4-FFF2-40B4-BE49-F238E27FC236}">
                    <a16:creationId xmlns:a16="http://schemas.microsoft.com/office/drawing/2014/main" id="{943939FD-3D1F-EF81-C93D-403E6E09EE10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7818449" y="2464892"/>
                <a:ext cx="4204465" cy="1200329"/>
              </a:xfrm>
              <a:prstGeom prst="rect">
                <a:avLst/>
              </a:prstGeom>
              <a:blipFill>
                <a:blip r:embed="rId13"/>
                <a:stretch>
                  <a:fillRect l="-1205"/>
                </a:stretch>
              </a:blipFill>
            </p:spPr>
            <p:txBody>
              <a:bodyPr/>
              <a:lstStyle/>
              <a:p>
                <a:r>
                  <a:rPr lang="zh-TW" altLang="en-US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 xmlns:a14="http://schemas.microsoft.com/office/drawing/2010/main">
        <mc:Choice Requires="a14">
          <p:sp>
            <p:nvSpPr>
              <p:cNvPr id="3" name="文字方塊 2">
                <a:extLst>
                  <a:ext uri="{FF2B5EF4-FFF2-40B4-BE49-F238E27FC236}">
                    <a16:creationId xmlns:a16="http://schemas.microsoft.com/office/drawing/2014/main" id="{AD0ADAAD-A404-FD88-AB2A-3C821615D782}"/>
                  </a:ext>
                </a:extLst>
              </p:cNvPr>
              <p:cNvSpPr txBox="1"/>
              <p:nvPr/>
            </p:nvSpPr>
            <p:spPr>
              <a:xfrm>
                <a:off x="9380098" y="1474702"/>
                <a:ext cx="2191416" cy="646331"/>
              </a:xfrm>
              <a:prstGeom prst="rect">
                <a:avLst/>
              </a:prstGeom>
              <a:noFill/>
              <a:ln w="19050">
                <a:solidFill>
                  <a:schemeClr val="accent1"/>
                </a:solidFill>
              </a:ln>
            </p:spPr>
            <p:txBody>
              <a:bodyPr wrap="square" rtlCol="0">
                <a:spAutoFit/>
              </a:bodyPr>
              <a:lstStyle/>
              <a:p>
                <a14:m>
                  <m:oMath xmlns:m="http://schemas.openxmlformats.org/officeDocument/2006/math">
                    <m:r>
                      <a:rPr kumimoji="1" lang="en-US" altLang="zh-TW" b="0" i="1" smtClean="0">
                        <a:latin typeface="Cambria Math" panose="02040503050406030204" pitchFamily="18" charset="0"/>
                      </a:rPr>
                      <m:t>𝑖</m:t>
                    </m:r>
                  </m:oMath>
                </a14:m>
                <a:r>
                  <a:rPr kumimoji="1" lang="en-US" altLang="zh-TW" dirty="0"/>
                  <a:t>: encoder timestep</a:t>
                </a:r>
              </a:p>
              <a:p>
                <a14:m>
                  <m:oMath xmlns:m="http://schemas.openxmlformats.org/officeDocument/2006/math">
                    <m:r>
                      <a:rPr kumimoji="1" lang="en-US" altLang="zh-TW" b="0" i="1" smtClean="0">
                        <a:latin typeface="Cambria Math" panose="02040503050406030204" pitchFamily="18" charset="0"/>
                      </a:rPr>
                      <m:t>𝑡</m:t>
                    </m:r>
                  </m:oMath>
                </a14:m>
                <a:r>
                  <a:rPr kumimoji="1" lang="en-US" altLang="zh-TW" dirty="0"/>
                  <a:t>: decoder timestep</a:t>
                </a:r>
              </a:p>
            </p:txBody>
          </p:sp>
        </mc:Choice>
        <mc:Fallback xmlns="">
          <p:sp>
            <p:nvSpPr>
              <p:cNvPr id="3" name="文字方塊 2">
                <a:extLst>
                  <a:ext uri="{FF2B5EF4-FFF2-40B4-BE49-F238E27FC236}">
                    <a16:creationId xmlns:a16="http://schemas.microsoft.com/office/drawing/2014/main" id="{AD0ADAAD-A404-FD88-AB2A-3C821615D782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9380098" y="1474702"/>
                <a:ext cx="2191416" cy="646331"/>
              </a:xfrm>
              <a:prstGeom prst="rect">
                <a:avLst/>
              </a:prstGeom>
              <a:blipFill>
                <a:blip r:embed="rId14"/>
                <a:stretch>
                  <a:fillRect t="-3774" b="-11321"/>
                </a:stretch>
              </a:blipFill>
              <a:ln w="19050">
                <a:solidFill>
                  <a:schemeClr val="accent1"/>
                </a:solidFill>
              </a:ln>
            </p:spPr>
            <p:txBody>
              <a:bodyPr/>
              <a:lstStyle/>
              <a:p>
                <a:r>
                  <a:rPr lang="zh-TW" altLang="en-US">
                    <a:noFill/>
                  </a:rPr>
                  <a:t> </a:t>
                </a:r>
              </a:p>
            </p:txBody>
          </p:sp>
        </mc:Fallback>
      </mc:AlternateContent>
      <p:sp>
        <p:nvSpPr>
          <p:cNvPr id="82" name="文字方塊 81">
            <a:extLst>
              <a:ext uri="{FF2B5EF4-FFF2-40B4-BE49-F238E27FC236}">
                <a16:creationId xmlns:a16="http://schemas.microsoft.com/office/drawing/2014/main" id="{590B4992-B3A8-AF96-318A-9467CFCD12B9}"/>
              </a:ext>
            </a:extLst>
          </p:cNvPr>
          <p:cNvSpPr txBox="1"/>
          <p:nvPr/>
        </p:nvSpPr>
        <p:spPr>
          <a:xfrm>
            <a:off x="6182953" y="5876593"/>
            <a:ext cx="398516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kumimoji="1" lang="en-US" altLang="zh-TW" dirty="0"/>
              <a:t>_</a:t>
            </a:r>
            <a:endParaRPr kumimoji="1" lang="zh-TW" altLang="en-US" dirty="0"/>
          </a:p>
        </p:txBody>
      </p:sp>
      <p:sp>
        <p:nvSpPr>
          <p:cNvPr id="84" name="矩形 83">
            <a:extLst>
              <a:ext uri="{FF2B5EF4-FFF2-40B4-BE49-F238E27FC236}">
                <a16:creationId xmlns:a16="http://schemas.microsoft.com/office/drawing/2014/main" id="{D3CCA7AB-C2D5-8A2D-D22D-FDAA33E61DEB}"/>
              </a:ext>
            </a:extLst>
          </p:cNvPr>
          <p:cNvSpPr/>
          <p:nvPr/>
        </p:nvSpPr>
        <p:spPr>
          <a:xfrm>
            <a:off x="6065816" y="5134787"/>
            <a:ext cx="575253" cy="379818"/>
          </a:xfrm>
          <a:prstGeom prst="rect">
            <a:avLst/>
          </a:prstGeom>
          <a:noFill/>
          <a:ln>
            <a:solidFill>
              <a:schemeClr val="tx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kumimoji="1" lang="en-US" altLang="zh-TW" sz="1400" dirty="0">
                <a:solidFill>
                  <a:schemeClr val="tx1"/>
                </a:solidFill>
              </a:rPr>
              <a:t>RNN</a:t>
            </a:r>
            <a:endParaRPr kumimoji="1" lang="zh-TW" altLang="en-US" sz="1400" dirty="0">
              <a:solidFill>
                <a:schemeClr val="tx1"/>
              </a:solidFill>
            </a:endParaRPr>
          </a:p>
        </p:txBody>
      </p:sp>
      <p:cxnSp>
        <p:nvCxnSpPr>
          <p:cNvPr id="86" name="直線箭頭接點 85">
            <a:extLst>
              <a:ext uri="{FF2B5EF4-FFF2-40B4-BE49-F238E27FC236}">
                <a16:creationId xmlns:a16="http://schemas.microsoft.com/office/drawing/2014/main" id="{B6462883-F7DA-E7FE-EC80-5AED967F5B3C}"/>
              </a:ext>
            </a:extLst>
          </p:cNvPr>
          <p:cNvCxnSpPr>
            <a:cxnSpLocks/>
          </p:cNvCxnSpPr>
          <p:nvPr/>
        </p:nvCxnSpPr>
        <p:spPr>
          <a:xfrm flipV="1">
            <a:off x="6371325" y="5607843"/>
            <a:ext cx="0" cy="248679"/>
          </a:xfrm>
          <a:prstGeom prst="straightConnector1">
            <a:avLst/>
          </a:prstGeom>
          <a:ln>
            <a:solidFill>
              <a:schemeClr val="tx1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grpSp>
        <p:nvGrpSpPr>
          <p:cNvPr id="87" name="群組 86">
            <a:extLst>
              <a:ext uri="{FF2B5EF4-FFF2-40B4-BE49-F238E27FC236}">
                <a16:creationId xmlns:a16="http://schemas.microsoft.com/office/drawing/2014/main" id="{B075E4F0-ABE3-2EB0-C7DB-AC7B8679EA9B}"/>
              </a:ext>
            </a:extLst>
          </p:cNvPr>
          <p:cNvGrpSpPr/>
          <p:nvPr/>
        </p:nvGrpSpPr>
        <p:grpSpPr>
          <a:xfrm>
            <a:off x="6681569" y="5134787"/>
            <a:ext cx="1019335" cy="1111138"/>
            <a:chOff x="6681569" y="5134787"/>
            <a:chExt cx="1019335" cy="1111138"/>
          </a:xfrm>
        </p:grpSpPr>
        <p:sp>
          <p:nvSpPr>
            <p:cNvPr id="88" name="文字方塊 87">
              <a:extLst>
                <a:ext uri="{FF2B5EF4-FFF2-40B4-BE49-F238E27FC236}">
                  <a16:creationId xmlns:a16="http://schemas.microsoft.com/office/drawing/2014/main" id="{F2FFC009-1F3F-5286-A1B0-80ED47045075}"/>
                </a:ext>
              </a:extLst>
            </p:cNvPr>
            <p:cNvSpPr txBox="1"/>
            <p:nvPr/>
          </p:nvSpPr>
          <p:spPr>
            <a:xfrm>
              <a:off x="6981299" y="5876593"/>
              <a:ext cx="719605" cy="369332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pPr algn="ctr"/>
              <a:r>
                <a:rPr kumimoji="1" lang="en-US" altLang="zh-TW" dirty="0"/>
                <a:t>I</a:t>
              </a:r>
              <a:endParaRPr kumimoji="1" lang="zh-TW" altLang="en-US" dirty="0"/>
            </a:p>
          </p:txBody>
        </p:sp>
        <p:sp>
          <p:nvSpPr>
            <p:cNvPr id="89" name="矩形 88">
              <a:extLst>
                <a:ext uri="{FF2B5EF4-FFF2-40B4-BE49-F238E27FC236}">
                  <a16:creationId xmlns:a16="http://schemas.microsoft.com/office/drawing/2014/main" id="{33533553-0283-00AC-04CA-6939E7F5E8F7}"/>
                </a:ext>
              </a:extLst>
            </p:cNvPr>
            <p:cNvSpPr/>
            <p:nvPr/>
          </p:nvSpPr>
          <p:spPr>
            <a:xfrm>
              <a:off x="7056125" y="5134787"/>
              <a:ext cx="575253" cy="379818"/>
            </a:xfrm>
            <a:prstGeom prst="rect">
              <a:avLst/>
            </a:prstGeom>
            <a:noFill/>
            <a:ln>
              <a:solidFill>
                <a:schemeClr val="tx1"/>
              </a:solidFill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r>
                <a:rPr kumimoji="1" lang="en-US" altLang="zh-TW" sz="1400" dirty="0">
                  <a:solidFill>
                    <a:schemeClr val="tx1"/>
                  </a:solidFill>
                </a:rPr>
                <a:t>RNN</a:t>
              </a:r>
              <a:endParaRPr kumimoji="1" lang="zh-TW" altLang="en-US" sz="1400" dirty="0">
                <a:solidFill>
                  <a:schemeClr val="tx1"/>
                </a:solidFill>
              </a:endParaRPr>
            </a:p>
          </p:txBody>
        </p:sp>
        <p:cxnSp>
          <p:nvCxnSpPr>
            <p:cNvPr id="90" name="直線箭頭接點 89">
              <a:extLst>
                <a:ext uri="{FF2B5EF4-FFF2-40B4-BE49-F238E27FC236}">
                  <a16:creationId xmlns:a16="http://schemas.microsoft.com/office/drawing/2014/main" id="{4431D8D3-6EEA-2FF1-E7C0-2D60100DC033}"/>
                </a:ext>
              </a:extLst>
            </p:cNvPr>
            <p:cNvCxnSpPr>
              <a:cxnSpLocks/>
            </p:cNvCxnSpPr>
            <p:nvPr/>
          </p:nvCxnSpPr>
          <p:spPr>
            <a:xfrm flipV="1">
              <a:off x="7343751" y="5607843"/>
              <a:ext cx="0" cy="248679"/>
            </a:xfrm>
            <a:prstGeom prst="straightConnector1">
              <a:avLst/>
            </a:prstGeom>
            <a:ln>
              <a:solidFill>
                <a:schemeClr val="tx1"/>
              </a:solidFill>
              <a:tailEnd type="triangle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91" name="直線箭頭接點 90">
              <a:extLst>
                <a:ext uri="{FF2B5EF4-FFF2-40B4-BE49-F238E27FC236}">
                  <a16:creationId xmlns:a16="http://schemas.microsoft.com/office/drawing/2014/main" id="{7A9C0E7B-865D-182B-7788-A1CECAE9D8B0}"/>
                </a:ext>
              </a:extLst>
            </p:cNvPr>
            <p:cNvCxnSpPr>
              <a:cxnSpLocks/>
            </p:cNvCxnSpPr>
            <p:nvPr/>
          </p:nvCxnSpPr>
          <p:spPr>
            <a:xfrm>
              <a:off x="6681569" y="5324624"/>
              <a:ext cx="344029" cy="0"/>
            </a:xfrm>
            <a:prstGeom prst="straightConnector1">
              <a:avLst/>
            </a:prstGeom>
            <a:ln>
              <a:solidFill>
                <a:schemeClr val="tx1"/>
              </a:solidFill>
              <a:tailEnd type="triangle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</p:grpSp>
      <p:cxnSp>
        <p:nvCxnSpPr>
          <p:cNvPr id="92" name="直線箭頭接點 91">
            <a:extLst>
              <a:ext uri="{FF2B5EF4-FFF2-40B4-BE49-F238E27FC236}">
                <a16:creationId xmlns:a16="http://schemas.microsoft.com/office/drawing/2014/main" id="{04F2E73F-98AF-F213-1CFF-F1520CE0C7FB}"/>
              </a:ext>
            </a:extLst>
          </p:cNvPr>
          <p:cNvCxnSpPr>
            <a:cxnSpLocks/>
          </p:cNvCxnSpPr>
          <p:nvPr/>
        </p:nvCxnSpPr>
        <p:spPr>
          <a:xfrm flipV="1">
            <a:off x="6382211" y="4825311"/>
            <a:ext cx="0" cy="248679"/>
          </a:xfrm>
          <a:prstGeom prst="straightConnector1">
            <a:avLst/>
          </a:prstGeom>
          <a:ln>
            <a:solidFill>
              <a:schemeClr val="tx1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93" name="圓角矩形 92">
            <a:extLst>
              <a:ext uri="{FF2B5EF4-FFF2-40B4-BE49-F238E27FC236}">
                <a16:creationId xmlns:a16="http://schemas.microsoft.com/office/drawing/2014/main" id="{634C2E98-31E6-5E37-BB02-FC5BA6C08660}"/>
              </a:ext>
            </a:extLst>
          </p:cNvPr>
          <p:cNvSpPr/>
          <p:nvPr/>
        </p:nvSpPr>
        <p:spPr>
          <a:xfrm rot="16200000">
            <a:off x="6192813" y="4419031"/>
            <a:ext cx="372490" cy="205528"/>
          </a:xfrm>
          <a:prstGeom prst="roundRect">
            <a:avLst/>
          </a:prstGeom>
          <a:solidFill>
            <a:srgbClr val="C6E0B4"/>
          </a:solidFill>
          <a:ln w="19050">
            <a:solidFill>
              <a:schemeClr val="tx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kumimoji="1" lang="zh-TW" altLang="en-US"/>
          </a:p>
        </p:txBody>
      </p:sp>
      <p:cxnSp>
        <p:nvCxnSpPr>
          <p:cNvPr id="94" name="直線箭頭接點 93">
            <a:extLst>
              <a:ext uri="{FF2B5EF4-FFF2-40B4-BE49-F238E27FC236}">
                <a16:creationId xmlns:a16="http://schemas.microsoft.com/office/drawing/2014/main" id="{102E44D5-2487-FC06-9E31-711E3C020344}"/>
              </a:ext>
            </a:extLst>
          </p:cNvPr>
          <p:cNvCxnSpPr>
            <a:cxnSpLocks/>
          </p:cNvCxnSpPr>
          <p:nvPr/>
        </p:nvCxnSpPr>
        <p:spPr>
          <a:xfrm flipV="1">
            <a:off x="6382211" y="4012978"/>
            <a:ext cx="0" cy="248679"/>
          </a:xfrm>
          <a:prstGeom prst="straightConnector1">
            <a:avLst/>
          </a:prstGeom>
          <a:ln>
            <a:solidFill>
              <a:schemeClr val="tx1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mc:AlternateContent xmlns:mc="http://schemas.openxmlformats.org/markup-compatibility/2006" xmlns:a14="http://schemas.microsoft.com/office/drawing/2010/main">
        <mc:Choice Requires="a14">
          <p:sp>
            <p:nvSpPr>
              <p:cNvPr id="95" name="文字方塊 94">
                <a:extLst>
                  <a:ext uri="{FF2B5EF4-FFF2-40B4-BE49-F238E27FC236}">
                    <a16:creationId xmlns:a16="http://schemas.microsoft.com/office/drawing/2014/main" id="{8DBE2B8E-4926-162F-6171-279E9FD9803D}"/>
                  </a:ext>
                </a:extLst>
              </p:cNvPr>
              <p:cNvSpPr txBox="1"/>
              <p:nvPr/>
            </p:nvSpPr>
            <p:spPr>
              <a:xfrm>
                <a:off x="6117565" y="4315478"/>
                <a:ext cx="541313" cy="369332"/>
              </a:xfrm>
              <a:prstGeom prst="rect">
                <a:avLst/>
              </a:prstGeom>
              <a:noFill/>
            </p:spPr>
            <p:txBody>
              <a:bodyPr wrap="square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sSub>
                        <m:sSubPr>
                          <m:ctrlPr>
                            <a:rPr lang="zh-TW" altLang="en-US" i="1" smtClean="0"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a:rPr lang="en-US" altLang="zh-TW" b="0" i="1" smtClean="0">
                              <a:latin typeface="Cambria Math" panose="02040503050406030204" pitchFamily="18" charset="0"/>
                            </a:rPr>
                            <m:t>𝑠</m:t>
                          </m:r>
                        </m:e>
                        <m:sub>
                          <m:r>
                            <a:rPr lang="en-US" altLang="zh-TW" b="0" i="1" smtClean="0">
                              <a:latin typeface="Cambria Math" panose="02040503050406030204" pitchFamily="18" charset="0"/>
                            </a:rPr>
                            <m:t>1</m:t>
                          </m:r>
                        </m:sub>
                      </m:sSub>
                    </m:oMath>
                  </m:oMathPara>
                </a14:m>
                <a:endParaRPr lang="zh-TW" altLang="en-US" dirty="0"/>
              </a:p>
            </p:txBody>
          </p:sp>
        </mc:Choice>
        <mc:Fallback xmlns="">
          <p:sp>
            <p:nvSpPr>
              <p:cNvPr id="95" name="文字方塊 94">
                <a:extLst>
                  <a:ext uri="{FF2B5EF4-FFF2-40B4-BE49-F238E27FC236}">
                    <a16:creationId xmlns:a16="http://schemas.microsoft.com/office/drawing/2014/main" id="{8DBE2B8E-4926-162F-6171-279E9FD9803D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6117565" y="4315478"/>
                <a:ext cx="541313" cy="369332"/>
              </a:xfrm>
              <a:prstGeom prst="rect">
                <a:avLst/>
              </a:prstGeom>
              <a:blipFill>
                <a:blip r:embed="rId15"/>
                <a:stretch>
                  <a:fillRect/>
                </a:stretch>
              </a:blipFill>
            </p:spPr>
            <p:txBody>
              <a:bodyPr/>
              <a:lstStyle/>
              <a:p>
                <a:r>
                  <a:rPr lang="zh-TW" altLang="en-US">
                    <a:noFill/>
                  </a:rPr>
                  <a:t> </a:t>
                </a:r>
              </a:p>
            </p:txBody>
          </p:sp>
        </mc:Fallback>
      </mc:AlternateContent>
      <p:cxnSp>
        <p:nvCxnSpPr>
          <p:cNvPr id="96" name="直線箭頭接點 95">
            <a:extLst>
              <a:ext uri="{FF2B5EF4-FFF2-40B4-BE49-F238E27FC236}">
                <a16:creationId xmlns:a16="http://schemas.microsoft.com/office/drawing/2014/main" id="{F602A087-B34A-95B1-A23F-2A7460E592A9}"/>
              </a:ext>
            </a:extLst>
          </p:cNvPr>
          <p:cNvCxnSpPr>
            <a:cxnSpLocks/>
          </p:cNvCxnSpPr>
          <p:nvPr/>
        </p:nvCxnSpPr>
        <p:spPr>
          <a:xfrm flipV="1">
            <a:off x="7343751" y="4825311"/>
            <a:ext cx="0" cy="248679"/>
          </a:xfrm>
          <a:prstGeom prst="straightConnector1">
            <a:avLst/>
          </a:prstGeom>
          <a:ln>
            <a:solidFill>
              <a:schemeClr val="tx1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97" name="圓角矩形 96">
            <a:extLst>
              <a:ext uri="{FF2B5EF4-FFF2-40B4-BE49-F238E27FC236}">
                <a16:creationId xmlns:a16="http://schemas.microsoft.com/office/drawing/2014/main" id="{63DB67C7-B024-5596-18DD-990E4C636040}"/>
              </a:ext>
            </a:extLst>
          </p:cNvPr>
          <p:cNvSpPr/>
          <p:nvPr/>
        </p:nvSpPr>
        <p:spPr>
          <a:xfrm rot="16200000">
            <a:off x="7153651" y="4419031"/>
            <a:ext cx="372490" cy="205528"/>
          </a:xfrm>
          <a:prstGeom prst="roundRect">
            <a:avLst/>
          </a:prstGeom>
          <a:solidFill>
            <a:srgbClr val="C6E0B4"/>
          </a:solidFill>
          <a:ln w="19050">
            <a:solidFill>
              <a:schemeClr val="tx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kumimoji="1" lang="zh-TW" altLang="en-US"/>
          </a:p>
        </p:txBody>
      </p:sp>
      <p:cxnSp>
        <p:nvCxnSpPr>
          <p:cNvPr id="98" name="直線箭頭接點 97">
            <a:extLst>
              <a:ext uri="{FF2B5EF4-FFF2-40B4-BE49-F238E27FC236}">
                <a16:creationId xmlns:a16="http://schemas.microsoft.com/office/drawing/2014/main" id="{70BCEA1D-A887-B807-D9F7-F06756CD6A9A}"/>
              </a:ext>
            </a:extLst>
          </p:cNvPr>
          <p:cNvCxnSpPr>
            <a:cxnSpLocks/>
          </p:cNvCxnSpPr>
          <p:nvPr/>
        </p:nvCxnSpPr>
        <p:spPr>
          <a:xfrm flipV="1">
            <a:off x="7343118" y="4008381"/>
            <a:ext cx="0" cy="248679"/>
          </a:xfrm>
          <a:prstGeom prst="straightConnector1">
            <a:avLst/>
          </a:prstGeom>
          <a:ln>
            <a:solidFill>
              <a:schemeClr val="tx1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mc:AlternateContent xmlns:mc="http://schemas.openxmlformats.org/markup-compatibility/2006" xmlns:a14="http://schemas.microsoft.com/office/drawing/2010/main">
        <mc:Choice Requires="a14">
          <p:sp>
            <p:nvSpPr>
              <p:cNvPr id="99" name="文字方塊 98">
                <a:extLst>
                  <a:ext uri="{FF2B5EF4-FFF2-40B4-BE49-F238E27FC236}">
                    <a16:creationId xmlns:a16="http://schemas.microsoft.com/office/drawing/2014/main" id="{A4E7F70A-20A0-2333-9DED-DC212AD99954}"/>
                  </a:ext>
                </a:extLst>
              </p:cNvPr>
              <p:cNvSpPr txBox="1"/>
              <p:nvPr/>
            </p:nvSpPr>
            <p:spPr>
              <a:xfrm>
                <a:off x="7076020" y="4335549"/>
                <a:ext cx="541313" cy="369332"/>
              </a:xfrm>
              <a:prstGeom prst="rect">
                <a:avLst/>
              </a:prstGeom>
              <a:noFill/>
            </p:spPr>
            <p:txBody>
              <a:bodyPr wrap="square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sSub>
                        <m:sSubPr>
                          <m:ctrlPr>
                            <a:rPr lang="zh-TW" altLang="en-US" i="1" smtClean="0"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a:rPr lang="en-US" altLang="zh-TW" b="0" i="1" smtClean="0">
                              <a:latin typeface="Cambria Math" panose="02040503050406030204" pitchFamily="18" charset="0"/>
                            </a:rPr>
                            <m:t>𝑠</m:t>
                          </m:r>
                        </m:e>
                        <m:sub>
                          <m:r>
                            <a:rPr lang="en-US" altLang="zh-TW" b="0" i="1" smtClean="0">
                              <a:latin typeface="Cambria Math" panose="02040503050406030204" pitchFamily="18" charset="0"/>
                            </a:rPr>
                            <m:t>2</m:t>
                          </m:r>
                        </m:sub>
                      </m:sSub>
                    </m:oMath>
                  </m:oMathPara>
                </a14:m>
                <a:endParaRPr lang="zh-TW" altLang="en-US" dirty="0"/>
              </a:p>
            </p:txBody>
          </p:sp>
        </mc:Choice>
        <mc:Fallback xmlns="">
          <p:sp>
            <p:nvSpPr>
              <p:cNvPr id="99" name="文字方塊 98">
                <a:extLst>
                  <a:ext uri="{FF2B5EF4-FFF2-40B4-BE49-F238E27FC236}">
                    <a16:creationId xmlns:a16="http://schemas.microsoft.com/office/drawing/2014/main" id="{A4E7F70A-20A0-2333-9DED-DC212AD99954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7076020" y="4335549"/>
                <a:ext cx="541313" cy="369332"/>
              </a:xfrm>
              <a:prstGeom prst="rect">
                <a:avLst/>
              </a:prstGeom>
              <a:blipFill>
                <a:blip r:embed="rId16"/>
                <a:stretch>
                  <a:fillRect b="-3333"/>
                </a:stretch>
              </a:blipFill>
            </p:spPr>
            <p:txBody>
              <a:bodyPr/>
              <a:lstStyle/>
              <a:p>
                <a:r>
                  <a:rPr lang="zh-TW" altLang="en-US">
                    <a:noFill/>
                  </a:rPr>
                  <a:t> </a:t>
                </a:r>
              </a:p>
            </p:txBody>
          </p:sp>
        </mc:Fallback>
      </mc:AlternateContent>
      <p:sp>
        <p:nvSpPr>
          <p:cNvPr id="100" name="圓角矩形 99">
            <a:extLst>
              <a:ext uri="{FF2B5EF4-FFF2-40B4-BE49-F238E27FC236}">
                <a16:creationId xmlns:a16="http://schemas.microsoft.com/office/drawing/2014/main" id="{2D8E558C-2C81-9184-A0DB-585475C529E0}"/>
              </a:ext>
            </a:extLst>
          </p:cNvPr>
          <p:cNvSpPr/>
          <p:nvPr/>
        </p:nvSpPr>
        <p:spPr>
          <a:xfrm>
            <a:off x="7229738" y="4313959"/>
            <a:ext cx="233876" cy="403124"/>
          </a:xfrm>
          <a:prstGeom prst="roundRect">
            <a:avLst/>
          </a:prstGeom>
          <a:noFill/>
          <a:ln w="38100">
            <a:solidFill>
              <a:srgbClr val="FF0000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kumimoji="1" lang="zh-TW" altLang="en-US"/>
          </a:p>
        </p:txBody>
      </p:sp>
      <p:cxnSp>
        <p:nvCxnSpPr>
          <p:cNvPr id="101" name="直線箭頭接點 100">
            <a:extLst>
              <a:ext uri="{FF2B5EF4-FFF2-40B4-BE49-F238E27FC236}">
                <a16:creationId xmlns:a16="http://schemas.microsoft.com/office/drawing/2014/main" id="{F93632BC-8465-2C02-6BF4-DEF3424389FC}"/>
              </a:ext>
            </a:extLst>
          </p:cNvPr>
          <p:cNvCxnSpPr>
            <a:cxnSpLocks/>
          </p:cNvCxnSpPr>
          <p:nvPr/>
        </p:nvCxnSpPr>
        <p:spPr>
          <a:xfrm>
            <a:off x="7646435" y="5324624"/>
            <a:ext cx="344029" cy="0"/>
          </a:xfrm>
          <a:prstGeom prst="straightConnector1">
            <a:avLst/>
          </a:prstGeom>
          <a:ln>
            <a:solidFill>
              <a:schemeClr val="tx1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102" name="文字方塊 101">
            <a:extLst>
              <a:ext uri="{FF2B5EF4-FFF2-40B4-BE49-F238E27FC236}">
                <a16:creationId xmlns:a16="http://schemas.microsoft.com/office/drawing/2014/main" id="{37B2763F-70D5-472D-8930-B08C2AFBC1C9}"/>
              </a:ext>
            </a:extLst>
          </p:cNvPr>
          <p:cNvSpPr txBox="1"/>
          <p:nvPr/>
        </p:nvSpPr>
        <p:spPr>
          <a:xfrm>
            <a:off x="6980828" y="2625090"/>
            <a:ext cx="719605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kumimoji="1" lang="en-US" altLang="zh-TW" dirty="0"/>
              <a:t>want</a:t>
            </a:r>
            <a:endParaRPr kumimoji="1" lang="zh-TW" altLang="en-US" dirty="0"/>
          </a:p>
        </p:txBody>
      </p:sp>
      <p:sp>
        <p:nvSpPr>
          <p:cNvPr id="103" name="矩形 102">
            <a:extLst>
              <a:ext uri="{FF2B5EF4-FFF2-40B4-BE49-F238E27FC236}">
                <a16:creationId xmlns:a16="http://schemas.microsoft.com/office/drawing/2014/main" id="{84509A95-088F-B531-0F1F-15E466564546}"/>
              </a:ext>
            </a:extLst>
          </p:cNvPr>
          <p:cNvSpPr/>
          <p:nvPr/>
        </p:nvSpPr>
        <p:spPr>
          <a:xfrm>
            <a:off x="7047983" y="3523324"/>
            <a:ext cx="575253" cy="379818"/>
          </a:xfrm>
          <a:prstGeom prst="rect">
            <a:avLst/>
          </a:prstGeom>
          <a:noFill/>
          <a:ln>
            <a:solidFill>
              <a:schemeClr val="tx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kumimoji="1" lang="en-US" altLang="zh-TW" sz="1100" dirty="0">
                <a:solidFill>
                  <a:schemeClr val="tx1"/>
                </a:solidFill>
              </a:rPr>
              <a:t>Linear</a:t>
            </a:r>
            <a:endParaRPr kumimoji="1" lang="zh-TW" altLang="en-US" sz="1100" dirty="0">
              <a:solidFill>
                <a:schemeClr val="tx1"/>
              </a:solidFill>
            </a:endParaRPr>
          </a:p>
        </p:txBody>
      </p:sp>
      <p:cxnSp>
        <p:nvCxnSpPr>
          <p:cNvPr id="104" name="直線箭頭接點 103">
            <a:extLst>
              <a:ext uri="{FF2B5EF4-FFF2-40B4-BE49-F238E27FC236}">
                <a16:creationId xmlns:a16="http://schemas.microsoft.com/office/drawing/2014/main" id="{4F3DCE39-8D78-BE78-0D86-833EE03F67DD}"/>
              </a:ext>
            </a:extLst>
          </p:cNvPr>
          <p:cNvCxnSpPr>
            <a:cxnSpLocks/>
          </p:cNvCxnSpPr>
          <p:nvPr/>
        </p:nvCxnSpPr>
        <p:spPr>
          <a:xfrm flipV="1">
            <a:off x="7343751" y="3126183"/>
            <a:ext cx="0" cy="248679"/>
          </a:xfrm>
          <a:prstGeom prst="straightConnector1">
            <a:avLst/>
          </a:prstGeom>
          <a:ln>
            <a:solidFill>
              <a:schemeClr val="tx1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05" name="直線箭頭接點 104">
            <a:extLst>
              <a:ext uri="{FF2B5EF4-FFF2-40B4-BE49-F238E27FC236}">
                <a16:creationId xmlns:a16="http://schemas.microsoft.com/office/drawing/2014/main" id="{11FC7235-7A9F-BF2A-2D3B-3F7D8026C472}"/>
              </a:ext>
            </a:extLst>
          </p:cNvPr>
          <p:cNvCxnSpPr>
            <a:cxnSpLocks/>
          </p:cNvCxnSpPr>
          <p:nvPr/>
        </p:nvCxnSpPr>
        <p:spPr>
          <a:xfrm flipV="1">
            <a:off x="6397832" y="3115478"/>
            <a:ext cx="0" cy="248679"/>
          </a:xfrm>
          <a:prstGeom prst="straightConnector1">
            <a:avLst/>
          </a:prstGeom>
          <a:ln>
            <a:solidFill>
              <a:schemeClr val="tx1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106" name="文字方塊 105">
            <a:extLst>
              <a:ext uri="{FF2B5EF4-FFF2-40B4-BE49-F238E27FC236}">
                <a16:creationId xmlns:a16="http://schemas.microsoft.com/office/drawing/2014/main" id="{D89954EB-074F-90B0-4B67-ED1EAE9243A6}"/>
              </a:ext>
            </a:extLst>
          </p:cNvPr>
          <p:cNvSpPr txBox="1"/>
          <p:nvPr/>
        </p:nvSpPr>
        <p:spPr>
          <a:xfrm>
            <a:off x="6041303" y="2609788"/>
            <a:ext cx="719605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kumimoji="1" lang="en-US" altLang="zh-TW" dirty="0"/>
              <a:t>I</a:t>
            </a:r>
            <a:endParaRPr kumimoji="1" lang="zh-TW" altLang="en-US" dirty="0"/>
          </a:p>
        </p:txBody>
      </p:sp>
      <p:sp>
        <p:nvSpPr>
          <p:cNvPr id="107" name="矩形 106">
            <a:extLst>
              <a:ext uri="{FF2B5EF4-FFF2-40B4-BE49-F238E27FC236}">
                <a16:creationId xmlns:a16="http://schemas.microsoft.com/office/drawing/2014/main" id="{872A4A1D-795F-F1FC-270D-C76C5398DE77}"/>
              </a:ext>
            </a:extLst>
          </p:cNvPr>
          <p:cNvSpPr/>
          <p:nvPr/>
        </p:nvSpPr>
        <p:spPr>
          <a:xfrm>
            <a:off x="6097363" y="3517941"/>
            <a:ext cx="575253" cy="379818"/>
          </a:xfrm>
          <a:prstGeom prst="rect">
            <a:avLst/>
          </a:prstGeom>
          <a:noFill/>
          <a:ln>
            <a:solidFill>
              <a:schemeClr val="tx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kumimoji="1" lang="en-US" altLang="zh-TW" sz="1100" dirty="0">
                <a:solidFill>
                  <a:schemeClr val="tx1"/>
                </a:solidFill>
              </a:rPr>
              <a:t>Linear</a:t>
            </a:r>
            <a:endParaRPr kumimoji="1" lang="zh-TW" altLang="en-US" sz="1100" dirty="0">
              <a:solidFill>
                <a:schemeClr val="tx1"/>
              </a:solidFill>
            </a:endParaRPr>
          </a:p>
        </p:txBody>
      </p:sp>
      <p:cxnSp>
        <p:nvCxnSpPr>
          <p:cNvPr id="113" name="直線接點 112">
            <a:extLst>
              <a:ext uri="{FF2B5EF4-FFF2-40B4-BE49-F238E27FC236}">
                <a16:creationId xmlns:a16="http://schemas.microsoft.com/office/drawing/2014/main" id="{1E610C6A-BC0D-6DA5-0C43-DE1A2C3C7C59}"/>
              </a:ext>
            </a:extLst>
          </p:cNvPr>
          <p:cNvCxnSpPr>
            <a:cxnSpLocks/>
          </p:cNvCxnSpPr>
          <p:nvPr/>
        </p:nvCxnSpPr>
        <p:spPr>
          <a:xfrm>
            <a:off x="9849678" y="3597535"/>
            <a:ext cx="1731775" cy="0"/>
          </a:xfrm>
          <a:prstGeom prst="line">
            <a:avLst/>
          </a:prstGeom>
          <a:ln w="28575">
            <a:solidFill>
              <a:srgbClr val="FF0000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115" name="文字方塊 114">
            <a:extLst>
              <a:ext uri="{FF2B5EF4-FFF2-40B4-BE49-F238E27FC236}">
                <a16:creationId xmlns:a16="http://schemas.microsoft.com/office/drawing/2014/main" id="{46800E0B-440B-673F-6993-4F3D59588FBB}"/>
              </a:ext>
            </a:extLst>
          </p:cNvPr>
          <p:cNvSpPr txBox="1"/>
          <p:nvPr/>
        </p:nvSpPr>
        <p:spPr>
          <a:xfrm>
            <a:off x="10106728" y="3665221"/>
            <a:ext cx="1250324" cy="646331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kumimoji="1" lang="en-US" altLang="zh-TW" dirty="0">
                <a:solidFill>
                  <a:srgbClr val="FF0000"/>
                </a:solidFill>
              </a:rPr>
              <a:t>Additive Attention</a:t>
            </a:r>
            <a:endParaRPr kumimoji="1" lang="zh-TW" altLang="en-US" dirty="0">
              <a:solidFill>
                <a:srgbClr val="FF0000"/>
              </a:solidFill>
            </a:endParaRPr>
          </a:p>
        </p:txBody>
      </p:sp>
      <p:sp>
        <p:nvSpPr>
          <p:cNvPr id="117" name="文字方塊 116">
            <a:extLst>
              <a:ext uri="{FF2B5EF4-FFF2-40B4-BE49-F238E27FC236}">
                <a16:creationId xmlns:a16="http://schemas.microsoft.com/office/drawing/2014/main" id="{A6AE8083-31E8-1924-F72F-4E60A32C1ECD}"/>
              </a:ext>
            </a:extLst>
          </p:cNvPr>
          <p:cNvSpPr txBox="1"/>
          <p:nvPr/>
        </p:nvSpPr>
        <p:spPr>
          <a:xfrm>
            <a:off x="8964764" y="4347181"/>
            <a:ext cx="1250324" cy="646331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kumimoji="1" lang="zh-TW" altLang="en-US" dirty="0">
                <a:solidFill>
                  <a:srgbClr val="00B050"/>
                </a:solidFill>
              </a:rPr>
              <a:t>轉為</a:t>
            </a:r>
            <a:r>
              <a:rPr kumimoji="1" lang="en-US" altLang="zh-TW" dirty="0">
                <a:solidFill>
                  <a:srgbClr val="00B050"/>
                </a:solidFill>
              </a:rPr>
              <a:t>1</a:t>
            </a:r>
            <a:r>
              <a:rPr kumimoji="1" lang="zh-TW" altLang="en-US" dirty="0">
                <a:solidFill>
                  <a:srgbClr val="00B050"/>
                </a:solidFill>
              </a:rPr>
              <a:t>個</a:t>
            </a:r>
            <a:endParaRPr kumimoji="1" lang="en-US" altLang="zh-TW" dirty="0">
              <a:solidFill>
                <a:srgbClr val="00B050"/>
              </a:solidFill>
            </a:endParaRPr>
          </a:p>
          <a:p>
            <a:pPr algn="ctr"/>
            <a:r>
              <a:rPr kumimoji="1" lang="zh-TW" altLang="en-US" dirty="0">
                <a:solidFill>
                  <a:srgbClr val="00B050"/>
                </a:solidFill>
              </a:rPr>
              <a:t>數字</a:t>
            </a:r>
          </a:p>
        </p:txBody>
      </p:sp>
      <p:cxnSp>
        <p:nvCxnSpPr>
          <p:cNvPr id="123" name="直線箭頭接點 122">
            <a:extLst>
              <a:ext uri="{FF2B5EF4-FFF2-40B4-BE49-F238E27FC236}">
                <a16:creationId xmlns:a16="http://schemas.microsoft.com/office/drawing/2014/main" id="{9917BC55-DF9F-C99D-1D6E-ECE7CA14769A}"/>
              </a:ext>
            </a:extLst>
          </p:cNvPr>
          <p:cNvCxnSpPr>
            <a:cxnSpLocks/>
          </p:cNvCxnSpPr>
          <p:nvPr/>
        </p:nvCxnSpPr>
        <p:spPr>
          <a:xfrm flipV="1">
            <a:off x="9583368" y="3533419"/>
            <a:ext cx="0" cy="820912"/>
          </a:xfrm>
          <a:prstGeom prst="straightConnector1">
            <a:avLst/>
          </a:prstGeom>
          <a:ln w="19050">
            <a:solidFill>
              <a:schemeClr val="accent6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</p:spTree>
    <p:extLst>
      <p:ext uri="{BB962C8B-B14F-4D97-AF65-F5344CB8AC3E}">
        <p14:creationId xmlns:p14="http://schemas.microsoft.com/office/powerpoint/2010/main" val="2603878890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7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9" fill="hold">
                      <p:stCondLst>
                        <p:cond delay="indefinite"/>
                      </p:stCondLst>
                      <p:childTnLst>
                        <p:par>
                          <p:cTn id="10" fill="hold">
                            <p:stCondLst>
                              <p:cond delay="0"/>
                            </p:stCondLst>
                            <p:childTnLst>
                              <p:par>
                                <p:cTn id="11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3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15" grpId="0"/>
      <p:bldP spid="117" grpId="0"/>
    </p:bldLst>
  </p:timing>
</p:sld>
</file>

<file path=ppt/slides/slide5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標題 1">
            <a:extLst>
              <a:ext uri="{FF2B5EF4-FFF2-40B4-BE49-F238E27FC236}">
                <a16:creationId xmlns:a16="http://schemas.microsoft.com/office/drawing/2014/main" id="{B82D7674-5005-2540-1A67-6D290F5C942E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>
            <a:normAutofit/>
          </a:bodyPr>
          <a:lstStyle/>
          <a:p>
            <a:r>
              <a:rPr kumimoji="1" lang="zh-TW" altLang="en-US" dirty="0"/>
              <a:t>得到了 </a:t>
            </a:r>
            <a:r>
              <a:rPr kumimoji="1" lang="en" altLang="zh-TW" dirty="0"/>
              <a:t>Context vector</a:t>
            </a:r>
            <a:r>
              <a:rPr kumimoji="1" lang="zh-TW" altLang="en-US" dirty="0"/>
              <a:t> 之後</a:t>
            </a:r>
          </a:p>
        </p:txBody>
      </p:sp>
      <p:sp>
        <p:nvSpPr>
          <p:cNvPr id="4" name="投影片編號版面配置區 3">
            <a:extLst>
              <a:ext uri="{FF2B5EF4-FFF2-40B4-BE49-F238E27FC236}">
                <a16:creationId xmlns:a16="http://schemas.microsoft.com/office/drawing/2014/main" id="{815F6B8E-2731-C26F-C219-FB445661C82F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6113E31D-E2AB-40D1-8B51-AFA5AFEF393A}" type="slidenum">
              <a:rPr lang="en-US" smtClean="0"/>
              <a:pPr/>
              <a:t>51</a:t>
            </a:fld>
            <a:endParaRPr lang="en-US" dirty="0"/>
          </a:p>
        </p:txBody>
      </p:sp>
      <mc:AlternateContent xmlns:mc="http://schemas.openxmlformats.org/markup-compatibility/2006" xmlns:a14="http://schemas.microsoft.com/office/drawing/2010/main">
        <mc:Choice Requires="a14">
          <p:sp>
            <p:nvSpPr>
              <p:cNvPr id="5" name="內容版面配置區 2">
                <a:extLst>
                  <a:ext uri="{FF2B5EF4-FFF2-40B4-BE49-F238E27FC236}">
                    <a16:creationId xmlns:a16="http://schemas.microsoft.com/office/drawing/2014/main" id="{42D54FFD-AC3D-A2B9-AEA7-A95D8AFB678A}"/>
                  </a:ext>
                </a:extLst>
              </p:cNvPr>
              <p:cNvSpPr>
                <a:spLocks noGrp="1"/>
              </p:cNvSpPr>
              <p:nvPr/>
            </p:nvSpPr>
            <p:spPr>
              <a:xfrm>
                <a:off x="1066800" y="1877409"/>
                <a:ext cx="10058400" cy="4023360"/>
              </a:xfrm>
              <a:prstGeom prst="rect">
                <a:avLst/>
              </a:prstGeom>
            </p:spPr>
            <p:txBody>
              <a:bodyPr vert="horz" lIns="0" tIns="45720" rIns="0" bIns="45720" rtlCol="0" anchor="t">
                <a:normAutofit/>
              </a:bodyPr>
              <a:lstStyle>
                <a:lvl1pPr marL="91440" indent="-91440" algn="l" defTabSz="914400" rtl="0" eaLnBrk="1" latinLnBrk="0" hangingPunct="1">
                  <a:lnSpc>
                    <a:spcPct val="90000"/>
                  </a:lnSpc>
                  <a:spcBef>
                    <a:spcPts val="1200"/>
                  </a:spcBef>
                  <a:spcAft>
                    <a:spcPts val="200"/>
                  </a:spcAft>
                  <a:buClr>
                    <a:schemeClr val="accent1"/>
                  </a:buClr>
                  <a:buSzPct val="100000"/>
                  <a:buFont typeface="Calibri" panose="020F0502020204030204" pitchFamily="34" charset="0"/>
                  <a:buChar char=" "/>
                  <a:defRPr sz="2000" kern="1200">
                    <a:solidFill>
                      <a:schemeClr val="tx1">
                        <a:lumMod val="75000"/>
                        <a:lumOff val="25000"/>
                      </a:schemeClr>
                    </a:solidFill>
                    <a:latin typeface="+mn-lt"/>
                    <a:ea typeface="+mn-ea"/>
                    <a:cs typeface="+mn-cs"/>
                  </a:defRPr>
                </a:lvl1pPr>
                <a:lvl2pPr marL="384048" indent="-182880" algn="l" defTabSz="914400" rtl="0" eaLnBrk="1" latinLnBrk="0" hangingPunct="1">
                  <a:lnSpc>
                    <a:spcPct val="90000"/>
                  </a:lnSpc>
                  <a:spcBef>
                    <a:spcPts val="200"/>
                  </a:spcBef>
                  <a:spcAft>
                    <a:spcPts val="400"/>
                  </a:spcAft>
                  <a:buClr>
                    <a:schemeClr val="accent1"/>
                  </a:buClr>
                  <a:buFont typeface="Calibri" pitchFamily="34" charset="0"/>
                  <a:buChar char="◦"/>
                  <a:defRPr sz="1800" kern="1200">
                    <a:solidFill>
                      <a:schemeClr val="tx1">
                        <a:lumMod val="75000"/>
                        <a:lumOff val="25000"/>
                      </a:schemeClr>
                    </a:solidFill>
                    <a:latin typeface="+mn-lt"/>
                    <a:ea typeface="+mn-ea"/>
                    <a:cs typeface="+mn-cs"/>
                  </a:defRPr>
                </a:lvl2pPr>
                <a:lvl3pPr marL="566928" indent="-182880" algn="l" defTabSz="914400" rtl="0" eaLnBrk="1" latinLnBrk="0" hangingPunct="1">
                  <a:lnSpc>
                    <a:spcPct val="90000"/>
                  </a:lnSpc>
                  <a:spcBef>
                    <a:spcPts val="200"/>
                  </a:spcBef>
                  <a:spcAft>
                    <a:spcPts val="400"/>
                  </a:spcAft>
                  <a:buClr>
                    <a:schemeClr val="accent1"/>
                  </a:buClr>
                  <a:buFont typeface="Calibri" pitchFamily="34" charset="0"/>
                  <a:buChar char="◦"/>
                  <a:defRPr sz="1400" kern="1200">
                    <a:solidFill>
                      <a:schemeClr val="tx1">
                        <a:lumMod val="75000"/>
                        <a:lumOff val="25000"/>
                      </a:schemeClr>
                    </a:solidFill>
                    <a:latin typeface="+mn-lt"/>
                    <a:ea typeface="+mn-ea"/>
                    <a:cs typeface="+mn-cs"/>
                  </a:defRPr>
                </a:lvl3pPr>
                <a:lvl4pPr marL="749808" indent="-182880" algn="l" defTabSz="914400" rtl="0" eaLnBrk="1" latinLnBrk="0" hangingPunct="1">
                  <a:lnSpc>
                    <a:spcPct val="90000"/>
                  </a:lnSpc>
                  <a:spcBef>
                    <a:spcPts val="200"/>
                  </a:spcBef>
                  <a:spcAft>
                    <a:spcPts val="400"/>
                  </a:spcAft>
                  <a:buClr>
                    <a:schemeClr val="accent1"/>
                  </a:buClr>
                  <a:buFont typeface="Calibri" pitchFamily="34" charset="0"/>
                  <a:buChar char="◦"/>
                  <a:defRPr sz="1400" kern="1200">
                    <a:solidFill>
                      <a:schemeClr val="tx1">
                        <a:lumMod val="75000"/>
                        <a:lumOff val="25000"/>
                      </a:schemeClr>
                    </a:solidFill>
                    <a:latin typeface="+mn-lt"/>
                    <a:ea typeface="+mn-ea"/>
                    <a:cs typeface="+mn-cs"/>
                  </a:defRPr>
                </a:lvl4pPr>
                <a:lvl5pPr marL="932688" indent="-182880" algn="l" defTabSz="914400" rtl="0" eaLnBrk="1" latinLnBrk="0" hangingPunct="1">
                  <a:lnSpc>
                    <a:spcPct val="90000"/>
                  </a:lnSpc>
                  <a:spcBef>
                    <a:spcPts val="200"/>
                  </a:spcBef>
                  <a:spcAft>
                    <a:spcPts val="400"/>
                  </a:spcAft>
                  <a:buClr>
                    <a:schemeClr val="accent1"/>
                  </a:buClr>
                  <a:buFont typeface="Calibri" pitchFamily="34" charset="0"/>
                  <a:buChar char="◦"/>
                  <a:defRPr sz="1400" kern="1200">
                    <a:solidFill>
                      <a:schemeClr val="tx1">
                        <a:lumMod val="75000"/>
                        <a:lumOff val="25000"/>
                      </a:schemeClr>
                    </a:solidFill>
                    <a:latin typeface="+mn-lt"/>
                    <a:ea typeface="+mn-ea"/>
                    <a:cs typeface="+mn-cs"/>
                  </a:defRPr>
                </a:lvl5pPr>
                <a:lvl6pPr marL="1100000" indent="-228600" algn="l" defTabSz="914400" rtl="0" eaLnBrk="1" latinLnBrk="0" hangingPunct="1">
                  <a:lnSpc>
                    <a:spcPct val="90000"/>
                  </a:lnSpc>
                  <a:spcBef>
                    <a:spcPts val="200"/>
                  </a:spcBef>
                  <a:spcAft>
                    <a:spcPts val="400"/>
                  </a:spcAft>
                  <a:buClr>
                    <a:schemeClr val="accent1"/>
                  </a:buClr>
                  <a:buFont typeface="Calibri" pitchFamily="34" charset="0"/>
                  <a:buChar char="◦"/>
                  <a:defRPr sz="1400" kern="1200">
                    <a:solidFill>
                      <a:schemeClr val="tx1">
                        <a:lumMod val="75000"/>
                        <a:lumOff val="25000"/>
                      </a:schemeClr>
                    </a:solidFill>
                    <a:latin typeface="+mn-lt"/>
                    <a:ea typeface="+mn-ea"/>
                    <a:cs typeface="+mn-cs"/>
                  </a:defRPr>
                </a:lvl6pPr>
                <a:lvl7pPr marL="1300000" indent="-228600" algn="l" defTabSz="914400" rtl="0" eaLnBrk="1" latinLnBrk="0" hangingPunct="1">
                  <a:lnSpc>
                    <a:spcPct val="90000"/>
                  </a:lnSpc>
                  <a:spcBef>
                    <a:spcPts val="200"/>
                  </a:spcBef>
                  <a:spcAft>
                    <a:spcPts val="400"/>
                  </a:spcAft>
                  <a:buClr>
                    <a:schemeClr val="accent1"/>
                  </a:buClr>
                  <a:buFont typeface="Calibri" pitchFamily="34" charset="0"/>
                  <a:buChar char="◦"/>
                  <a:defRPr sz="1400" kern="1200">
                    <a:solidFill>
                      <a:schemeClr val="tx1">
                        <a:lumMod val="75000"/>
                        <a:lumOff val="25000"/>
                      </a:schemeClr>
                    </a:solidFill>
                    <a:latin typeface="+mn-lt"/>
                    <a:ea typeface="+mn-ea"/>
                    <a:cs typeface="+mn-cs"/>
                  </a:defRPr>
                </a:lvl7pPr>
                <a:lvl8pPr marL="1500000" indent="-228600" algn="l" defTabSz="914400" rtl="0" eaLnBrk="1" latinLnBrk="0" hangingPunct="1">
                  <a:lnSpc>
                    <a:spcPct val="90000"/>
                  </a:lnSpc>
                  <a:spcBef>
                    <a:spcPts val="200"/>
                  </a:spcBef>
                  <a:spcAft>
                    <a:spcPts val="400"/>
                  </a:spcAft>
                  <a:buClr>
                    <a:schemeClr val="accent1"/>
                  </a:buClr>
                  <a:buFont typeface="Calibri" pitchFamily="34" charset="0"/>
                  <a:buChar char="◦"/>
                  <a:defRPr sz="1400" kern="1200">
                    <a:solidFill>
                      <a:schemeClr val="tx1">
                        <a:lumMod val="75000"/>
                        <a:lumOff val="25000"/>
                      </a:schemeClr>
                    </a:solidFill>
                    <a:latin typeface="+mn-lt"/>
                    <a:ea typeface="+mn-ea"/>
                    <a:cs typeface="+mn-cs"/>
                  </a:defRPr>
                </a:lvl8pPr>
                <a:lvl9pPr marL="1700000" indent="-228600" algn="l" defTabSz="914400" rtl="0" eaLnBrk="1" latinLnBrk="0" hangingPunct="1">
                  <a:lnSpc>
                    <a:spcPct val="90000"/>
                  </a:lnSpc>
                  <a:spcBef>
                    <a:spcPts val="200"/>
                  </a:spcBef>
                  <a:spcAft>
                    <a:spcPts val="400"/>
                  </a:spcAft>
                  <a:buClr>
                    <a:schemeClr val="accent1"/>
                  </a:buClr>
                  <a:buFont typeface="Calibri" pitchFamily="34" charset="0"/>
                  <a:buChar char="◦"/>
                  <a:defRPr sz="1400" kern="1200">
                    <a:solidFill>
                      <a:schemeClr val="tx1">
                        <a:lumMod val="75000"/>
                        <a:lumOff val="25000"/>
                      </a:schemeClr>
                    </a:solidFill>
                    <a:latin typeface="+mn-lt"/>
                    <a:ea typeface="+mn-ea"/>
                    <a:cs typeface="+mn-cs"/>
                  </a:defRPr>
                </a:lvl9pPr>
              </a:lstStyle>
              <a:p>
                <a:pPr marL="342900" indent="-342900">
                  <a:buFont typeface="Wingdings" panose="020F0502020204030204" pitchFamily="34" charset="0"/>
                  <a:buChar char="Ø"/>
                </a:pPr>
                <a:r>
                  <a:rPr lang="en-US" sz="2400" dirty="0">
                    <a:solidFill>
                      <a:srgbClr val="404040"/>
                    </a:solidFill>
                    <a:latin typeface="Calibri" panose="020F0502020204030204" pitchFamily="34" charset="0"/>
                    <a:ea typeface="+mn-lt"/>
                    <a:cs typeface="+mn-lt"/>
                  </a:rPr>
                  <a:t>The equation on step t is:</a:t>
                </a:r>
                <a:endParaRPr lang="zh-TW" altLang="en-US" sz="1600" dirty="0">
                  <a:solidFill>
                    <a:srgbClr val="404040"/>
                  </a:solidFill>
                  <a:latin typeface="Calibri" panose="020F0502020204030204"/>
                  <a:ea typeface="新細明體" panose="02020500000000000000" pitchFamily="18" charset="-120"/>
                  <a:cs typeface="+mn-lt"/>
                </a:endParaRPr>
              </a:p>
              <a:p>
                <a:pPr marL="342900" indent="-342900">
                  <a:buFont typeface="Wingdings" panose="020F0502020204030204" pitchFamily="34" charset="0"/>
                  <a:buChar char="Ø"/>
                </a:pPr>
                <a:endParaRPr lang="en-US" sz="2400" dirty="0">
                  <a:latin typeface="Calibri" panose="020F0502020204030204" pitchFamily="34" charset="0"/>
                  <a:ea typeface="Calibri"/>
                  <a:cs typeface="Calibri"/>
                </a:endParaRPr>
              </a:p>
              <a:p>
                <a:pPr marL="342900" indent="-342900">
                  <a:buFont typeface="Wingdings" panose="020F0502020204030204" pitchFamily="34" charset="0"/>
                  <a:buChar char="Ø"/>
                </a:pPr>
                <a:endParaRPr lang="en-US" sz="2400" dirty="0">
                  <a:latin typeface="Calibri" panose="020F0502020204030204" pitchFamily="34" charset="0"/>
                  <a:ea typeface="Calibri"/>
                  <a:cs typeface="Calibri"/>
                </a:endParaRPr>
              </a:p>
              <a:p>
                <a:pPr marL="0" indent="0">
                  <a:buNone/>
                </a:pPr>
                <a:endParaRPr lang="en-US" sz="2400" dirty="0">
                  <a:latin typeface="Calibri" panose="020F0502020204030204" pitchFamily="34" charset="0"/>
                  <a:ea typeface="Calibri"/>
                  <a:cs typeface="Calibri"/>
                </a:endParaRPr>
              </a:p>
              <a:p>
                <a:pPr marL="0" indent="0">
                  <a:buNone/>
                </a:pPr>
                <a:r>
                  <a:rPr lang="en-US" sz="2400" dirty="0">
                    <a:latin typeface="Calibri" panose="020F0502020204030204" pitchFamily="34" charset="0"/>
                    <a:ea typeface="Calibri"/>
                    <a:cs typeface="Calibri"/>
                  </a:rPr>
                  <a:t>, where </a:t>
                </a:r>
                <a14:m>
                  <m:oMath xmlns:m="http://schemas.openxmlformats.org/officeDocument/2006/math">
                    <m:r>
                      <m:rPr>
                        <m:sty m:val="p"/>
                      </m:rPr>
                      <a:rPr lang="en-US" altLang="zh-TW" sz="2400" b="0" i="0" smtClean="0">
                        <a:latin typeface="Cambria Math" panose="02040503050406030204" pitchFamily="18" charset="0"/>
                      </a:rPr>
                      <m:t>tanh</m:t>
                    </m:r>
                  </m:oMath>
                </a14:m>
                <a:r>
                  <a:rPr lang="en-US" sz="2400" dirty="0">
                    <a:latin typeface="Calibri" panose="020F0502020204030204" pitchFamily="34" charset="0"/>
                    <a:ea typeface="Calibri"/>
                    <a:cs typeface="Calibri"/>
                  </a:rPr>
                  <a:t> is an activation function.</a:t>
                </a:r>
                <a:endParaRPr lang="en-US" dirty="0"/>
              </a:p>
              <a:p>
                <a:pPr marL="342900" indent="-342900">
                  <a:buFont typeface="Wingdings" panose="020F0502020204030204" pitchFamily="34" charset="0"/>
                  <a:buChar char="Ø"/>
                </a:pPr>
                <a:endParaRPr lang="en-US" sz="2400" dirty="0">
                  <a:latin typeface="Calibri" panose="020F0502020204030204" pitchFamily="34" charset="0"/>
                  <a:ea typeface="Calibri"/>
                  <a:cs typeface="Calibri"/>
                </a:endParaRPr>
              </a:p>
            </p:txBody>
          </p:sp>
        </mc:Choice>
        <mc:Fallback xmlns="">
          <p:sp>
            <p:nvSpPr>
              <p:cNvPr id="5" name="內容版面配置區 2">
                <a:extLst>
                  <a:ext uri="{FF2B5EF4-FFF2-40B4-BE49-F238E27FC236}">
                    <a16:creationId xmlns:a16="http://schemas.microsoft.com/office/drawing/2014/main" id="{42D54FFD-AC3D-A2B9-AEA7-A95D8AFB678A}"/>
                  </a:ext>
                </a:extLst>
              </p:cNvPr>
              <p:cNvSpPr>
                <a:spLocks noGrp="1"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1066800" y="1877409"/>
                <a:ext cx="10058400" cy="4023360"/>
              </a:xfrm>
              <a:prstGeom prst="rect">
                <a:avLst/>
              </a:prstGeom>
              <a:blipFill>
                <a:blip r:embed="rId3"/>
                <a:stretch>
                  <a:fillRect l="-1892" t="-1572"/>
                </a:stretch>
              </a:blipFill>
            </p:spPr>
            <p:txBody>
              <a:bodyPr/>
              <a:lstStyle/>
              <a:p>
                <a:r>
                  <a:rPr lang="zh-TW" altLang="en-US">
                    <a:noFill/>
                  </a:rPr>
                  <a:t> </a:t>
                </a:r>
              </a:p>
            </p:txBody>
          </p:sp>
        </mc:Fallback>
      </mc:AlternateContent>
      <p:grpSp>
        <p:nvGrpSpPr>
          <p:cNvPr id="6" name="群組 5">
            <a:extLst>
              <a:ext uri="{FF2B5EF4-FFF2-40B4-BE49-F238E27FC236}">
                <a16:creationId xmlns:a16="http://schemas.microsoft.com/office/drawing/2014/main" id="{73B3B868-1635-1F77-0085-7EA14DE90AC1}"/>
              </a:ext>
            </a:extLst>
          </p:cNvPr>
          <p:cNvGrpSpPr/>
          <p:nvPr/>
        </p:nvGrpSpPr>
        <p:grpSpPr>
          <a:xfrm>
            <a:off x="5638799" y="5925366"/>
            <a:ext cx="895546" cy="490194"/>
            <a:chOff x="7654565" y="5128181"/>
            <a:chExt cx="895546" cy="490194"/>
          </a:xfrm>
        </p:grpSpPr>
        <p:sp>
          <p:nvSpPr>
            <p:cNvPr id="7" name="圓角矩形 6">
              <a:extLst>
                <a:ext uri="{FF2B5EF4-FFF2-40B4-BE49-F238E27FC236}">
                  <a16:creationId xmlns:a16="http://schemas.microsoft.com/office/drawing/2014/main" id="{1720B577-D6CF-947F-11A7-D137EE628E1A}"/>
                </a:ext>
              </a:extLst>
            </p:cNvPr>
            <p:cNvSpPr/>
            <p:nvPr/>
          </p:nvSpPr>
          <p:spPr>
            <a:xfrm>
              <a:off x="7654565" y="5128181"/>
              <a:ext cx="895546" cy="490194"/>
            </a:xfrm>
            <a:prstGeom prst="roundRect">
              <a:avLst/>
            </a:prstGeom>
            <a:solidFill>
              <a:schemeClr val="accent2">
                <a:lumMod val="20000"/>
                <a:lumOff val="80000"/>
              </a:schemeClr>
            </a:solidFill>
            <a:ln>
              <a:solidFill>
                <a:schemeClr val="accent2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kumimoji="1" lang="zh-TW" altLang="en-US"/>
            </a:p>
          </p:txBody>
        </p:sp>
        <mc:AlternateContent xmlns:mc="http://schemas.openxmlformats.org/markup-compatibility/2006" xmlns:a14="http://schemas.microsoft.com/office/drawing/2010/main">
          <mc:Choice Requires="a14">
            <p:sp>
              <p:nvSpPr>
                <p:cNvPr id="8" name="文字方塊 7">
                  <a:extLst>
                    <a:ext uri="{FF2B5EF4-FFF2-40B4-BE49-F238E27FC236}">
                      <a16:creationId xmlns:a16="http://schemas.microsoft.com/office/drawing/2014/main" id="{7B2A365D-EB7E-79F3-7CC6-9B8E247AA6D8}"/>
                    </a:ext>
                  </a:extLst>
                </p:cNvPr>
                <p:cNvSpPr txBox="1"/>
                <p:nvPr/>
              </p:nvSpPr>
              <p:spPr>
                <a:xfrm>
                  <a:off x="7768865" y="5173223"/>
                  <a:ext cx="666946" cy="400110"/>
                </a:xfrm>
                <a:prstGeom prst="rect">
                  <a:avLst/>
                </a:prstGeom>
                <a:noFill/>
              </p:spPr>
              <p:txBody>
                <a:bodyPr wrap="square">
                  <a:spAutoFit/>
                </a:bodyPr>
                <a:lstStyle/>
                <a:p>
                  <a:pPr/>
                  <a14:m>
                    <m:oMathPara xmlns:m="http://schemas.openxmlformats.org/officeDocument/2006/math">
                      <m:oMathParaPr>
                        <m:jc m:val="centerGroup"/>
                      </m:oMathParaPr>
                      <m:oMath xmlns:m="http://schemas.openxmlformats.org/officeDocument/2006/math">
                        <m:sSub>
                          <m:sSubPr>
                            <m:ctrlPr>
                              <a:rPr lang="zh-TW" altLang="en-US" sz="2000" i="1" smtClean="0">
                                <a:solidFill>
                                  <a:srgbClr val="836967"/>
                                </a:solidFill>
                                <a:latin typeface="Cambria Math" panose="02040503050406030204" pitchFamily="18" charset="0"/>
                              </a:rPr>
                            </m:ctrlPr>
                          </m:sSubPr>
                          <m:e>
                            <m:r>
                              <a:rPr lang="en-US" altLang="zh-TW" sz="2000" b="0" i="1" smtClean="0">
                                <a:latin typeface="Cambria Math" panose="02040503050406030204" pitchFamily="18" charset="0"/>
                              </a:rPr>
                              <m:t>𝑠</m:t>
                            </m:r>
                          </m:e>
                          <m:sub>
                            <m:r>
                              <a:rPr lang="zh-TW" altLang="en-US" sz="2000" i="1">
                                <a:latin typeface="Cambria Math" panose="02040503050406030204" pitchFamily="18" charset="0"/>
                              </a:rPr>
                              <m:t>𝑡</m:t>
                            </m:r>
                            <m:r>
                              <a:rPr lang="zh-TW" altLang="en-US" sz="2000" i="0">
                                <a:latin typeface="Cambria Math" panose="02040503050406030204" pitchFamily="18" charset="0"/>
                              </a:rPr>
                              <m:t>−1</m:t>
                            </m:r>
                          </m:sub>
                        </m:sSub>
                      </m:oMath>
                    </m:oMathPara>
                  </a14:m>
                  <a:endParaRPr lang="zh-TW" altLang="en-US" sz="2000" dirty="0"/>
                </a:p>
              </p:txBody>
            </p:sp>
          </mc:Choice>
          <mc:Fallback xmlns="">
            <p:sp>
              <p:nvSpPr>
                <p:cNvPr id="8" name="文字方塊 7">
                  <a:extLst>
                    <a:ext uri="{FF2B5EF4-FFF2-40B4-BE49-F238E27FC236}">
                      <a16:creationId xmlns:a16="http://schemas.microsoft.com/office/drawing/2014/main" id="{7B2A365D-EB7E-79F3-7CC6-9B8E247AA6D8}"/>
                    </a:ext>
                  </a:extLst>
                </p:cNvPr>
                <p:cNvSpPr txBox="1">
                  <a:spLocks noRot="1" noChangeAspect="1" noMove="1" noResize="1" noEditPoints="1" noAdjustHandles="1" noChangeArrowheads="1" noChangeShapeType="1" noTextEdit="1"/>
                </p:cNvSpPr>
                <p:nvPr/>
              </p:nvSpPr>
              <p:spPr>
                <a:xfrm>
                  <a:off x="7768865" y="5173223"/>
                  <a:ext cx="666946" cy="400110"/>
                </a:xfrm>
                <a:prstGeom prst="rect">
                  <a:avLst/>
                </a:prstGeom>
                <a:blipFill>
                  <a:blip r:embed="rId4"/>
                  <a:stretch>
                    <a:fillRect/>
                  </a:stretch>
                </a:blipFill>
              </p:spPr>
              <p:txBody>
                <a:bodyPr/>
                <a:lstStyle/>
                <a:p>
                  <a:r>
                    <a:rPr lang="zh-TW" altLang="en-US">
                      <a:noFill/>
                    </a:rPr>
                    <a:t> </a:t>
                  </a:r>
                </a:p>
              </p:txBody>
            </p:sp>
          </mc:Fallback>
        </mc:AlternateContent>
      </p:grpSp>
      <p:grpSp>
        <p:nvGrpSpPr>
          <p:cNvPr id="9" name="群組 8">
            <a:extLst>
              <a:ext uri="{FF2B5EF4-FFF2-40B4-BE49-F238E27FC236}">
                <a16:creationId xmlns:a16="http://schemas.microsoft.com/office/drawing/2014/main" id="{B0807DAA-C0BA-D2DA-972B-C99B078BC663}"/>
              </a:ext>
            </a:extLst>
          </p:cNvPr>
          <p:cNvGrpSpPr/>
          <p:nvPr/>
        </p:nvGrpSpPr>
        <p:grpSpPr>
          <a:xfrm>
            <a:off x="8051190" y="5925366"/>
            <a:ext cx="895546" cy="490194"/>
            <a:chOff x="7654565" y="5128181"/>
            <a:chExt cx="895546" cy="490194"/>
          </a:xfrm>
        </p:grpSpPr>
        <p:sp>
          <p:nvSpPr>
            <p:cNvPr id="10" name="圓角矩形 9">
              <a:extLst>
                <a:ext uri="{FF2B5EF4-FFF2-40B4-BE49-F238E27FC236}">
                  <a16:creationId xmlns:a16="http://schemas.microsoft.com/office/drawing/2014/main" id="{FFE0992E-3F53-C59E-AAC1-0F8B5B422D11}"/>
                </a:ext>
              </a:extLst>
            </p:cNvPr>
            <p:cNvSpPr/>
            <p:nvPr/>
          </p:nvSpPr>
          <p:spPr>
            <a:xfrm>
              <a:off x="7654565" y="5128181"/>
              <a:ext cx="895546" cy="490194"/>
            </a:xfrm>
            <a:prstGeom prst="roundRect">
              <a:avLst/>
            </a:prstGeom>
            <a:solidFill>
              <a:schemeClr val="accent2">
                <a:lumMod val="20000"/>
                <a:lumOff val="80000"/>
              </a:schemeClr>
            </a:solidFill>
            <a:ln>
              <a:solidFill>
                <a:schemeClr val="accent2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kumimoji="1" lang="zh-TW" altLang="en-US"/>
            </a:p>
          </p:txBody>
        </p:sp>
        <mc:AlternateContent xmlns:mc="http://schemas.openxmlformats.org/markup-compatibility/2006" xmlns:a14="http://schemas.microsoft.com/office/drawing/2010/main">
          <mc:Choice Requires="a14">
            <p:sp>
              <p:nvSpPr>
                <p:cNvPr id="11" name="文字方塊 10">
                  <a:extLst>
                    <a:ext uri="{FF2B5EF4-FFF2-40B4-BE49-F238E27FC236}">
                      <a16:creationId xmlns:a16="http://schemas.microsoft.com/office/drawing/2014/main" id="{3611D238-334F-953B-8A91-7193A318D953}"/>
                    </a:ext>
                  </a:extLst>
                </p:cNvPr>
                <p:cNvSpPr txBox="1"/>
                <p:nvPr/>
              </p:nvSpPr>
              <p:spPr>
                <a:xfrm>
                  <a:off x="7768865" y="5173223"/>
                  <a:ext cx="666946" cy="400110"/>
                </a:xfrm>
                <a:prstGeom prst="rect">
                  <a:avLst/>
                </a:prstGeom>
                <a:noFill/>
              </p:spPr>
              <p:txBody>
                <a:bodyPr wrap="square">
                  <a:spAutoFit/>
                </a:bodyPr>
                <a:lstStyle/>
                <a:p>
                  <a:pPr/>
                  <a14:m>
                    <m:oMathPara xmlns:m="http://schemas.openxmlformats.org/officeDocument/2006/math">
                      <m:oMathParaPr>
                        <m:jc m:val="centerGroup"/>
                      </m:oMathParaPr>
                      <m:oMath xmlns:m="http://schemas.openxmlformats.org/officeDocument/2006/math">
                        <m:sSub>
                          <m:sSubPr>
                            <m:ctrlPr>
                              <a:rPr lang="zh-TW" altLang="en-US" sz="2000" i="1" smtClean="0">
                                <a:solidFill>
                                  <a:schemeClr val="tx1"/>
                                </a:solidFill>
                                <a:latin typeface="Cambria Math" panose="02040503050406030204" pitchFamily="18" charset="0"/>
                              </a:rPr>
                            </m:ctrlPr>
                          </m:sSubPr>
                          <m:e>
                            <m:r>
                              <a:rPr lang="en-US" altLang="zh-TW" sz="2000" b="0" i="1" smtClean="0">
                                <a:solidFill>
                                  <a:schemeClr val="tx1"/>
                                </a:solidFill>
                                <a:latin typeface="Cambria Math" panose="02040503050406030204" pitchFamily="18" charset="0"/>
                              </a:rPr>
                              <m:t>𝑥</m:t>
                            </m:r>
                          </m:e>
                          <m:sub>
                            <m:r>
                              <a:rPr lang="zh-TW" altLang="en-US" sz="2000" i="1">
                                <a:solidFill>
                                  <a:schemeClr val="tx1"/>
                                </a:solidFill>
                                <a:latin typeface="Cambria Math" panose="02040503050406030204" pitchFamily="18" charset="0"/>
                              </a:rPr>
                              <m:t>𝑡</m:t>
                            </m:r>
                          </m:sub>
                        </m:sSub>
                      </m:oMath>
                    </m:oMathPara>
                  </a14:m>
                  <a:endParaRPr lang="zh-TW" altLang="en-US" sz="2000" dirty="0">
                    <a:solidFill>
                      <a:schemeClr val="tx1"/>
                    </a:solidFill>
                  </a:endParaRPr>
                </a:p>
              </p:txBody>
            </p:sp>
          </mc:Choice>
          <mc:Fallback xmlns="">
            <p:sp>
              <p:nvSpPr>
                <p:cNvPr id="15" name="文字方塊 14">
                  <a:extLst>
                    <a:ext uri="{FF2B5EF4-FFF2-40B4-BE49-F238E27FC236}">
                      <a16:creationId xmlns:a16="http://schemas.microsoft.com/office/drawing/2014/main" id="{16569C70-18FB-3D33-E97C-9C217BC077BD}"/>
                    </a:ext>
                  </a:extLst>
                </p:cNvPr>
                <p:cNvSpPr txBox="1">
                  <a:spLocks noRot="1" noChangeAspect="1" noMove="1" noResize="1" noEditPoints="1" noAdjustHandles="1" noChangeArrowheads="1" noChangeShapeType="1" noTextEdit="1"/>
                </p:cNvSpPr>
                <p:nvPr/>
              </p:nvSpPr>
              <p:spPr>
                <a:xfrm>
                  <a:off x="7768865" y="5173223"/>
                  <a:ext cx="666946" cy="400110"/>
                </a:xfrm>
                <a:prstGeom prst="rect">
                  <a:avLst/>
                </a:prstGeom>
                <a:blipFill>
                  <a:blip r:embed="rId5"/>
                  <a:stretch>
                    <a:fillRect/>
                  </a:stretch>
                </a:blipFill>
              </p:spPr>
              <p:txBody>
                <a:bodyPr/>
                <a:lstStyle/>
                <a:p>
                  <a:r>
                    <a:rPr lang="zh-TW" altLang="en-US">
                      <a:noFill/>
                    </a:rPr>
                    <a:t> </a:t>
                  </a:r>
                </a:p>
              </p:txBody>
            </p:sp>
          </mc:Fallback>
        </mc:AlternateContent>
      </p:grpSp>
      <p:sp>
        <p:nvSpPr>
          <p:cNvPr id="12" name="平行四邊形 11">
            <a:extLst>
              <a:ext uri="{FF2B5EF4-FFF2-40B4-BE49-F238E27FC236}">
                <a16:creationId xmlns:a16="http://schemas.microsoft.com/office/drawing/2014/main" id="{E76CBAF1-363E-E2CC-0405-6D4187093B71}"/>
              </a:ext>
            </a:extLst>
          </p:cNvPr>
          <p:cNvSpPr/>
          <p:nvPr/>
        </p:nvSpPr>
        <p:spPr>
          <a:xfrm>
            <a:off x="5822620" y="4605613"/>
            <a:ext cx="1899503" cy="1219078"/>
          </a:xfrm>
          <a:prstGeom prst="parallelogram">
            <a:avLst>
              <a:gd name="adj" fmla="val 111555"/>
            </a:avLst>
          </a:prstGeom>
          <a:solidFill>
            <a:schemeClr val="bg1">
              <a:lumMod val="85000"/>
            </a:schemeClr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kumimoji="1" lang="zh-TW" altLang="en-US" dirty="0"/>
          </a:p>
        </p:txBody>
      </p:sp>
      <p:sp>
        <p:nvSpPr>
          <p:cNvPr id="13" name="不規則四邊形 12">
            <a:extLst>
              <a:ext uri="{FF2B5EF4-FFF2-40B4-BE49-F238E27FC236}">
                <a16:creationId xmlns:a16="http://schemas.microsoft.com/office/drawing/2014/main" id="{8D885531-68A0-E3EF-B4D3-67612D6B2272}"/>
              </a:ext>
            </a:extLst>
          </p:cNvPr>
          <p:cNvSpPr/>
          <p:nvPr/>
        </p:nvSpPr>
        <p:spPr>
          <a:xfrm>
            <a:off x="8203197" y="4605613"/>
            <a:ext cx="591437" cy="1219078"/>
          </a:xfrm>
          <a:prstGeom prst="trapezoid">
            <a:avLst/>
          </a:prstGeom>
          <a:solidFill>
            <a:schemeClr val="bg1">
              <a:lumMod val="85000"/>
            </a:schemeClr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kumimoji="1" lang="zh-TW" altLang="en-US"/>
          </a:p>
        </p:txBody>
      </p:sp>
      <mc:AlternateContent xmlns:mc="http://schemas.openxmlformats.org/markup-compatibility/2006" xmlns:a14="http://schemas.microsoft.com/office/drawing/2010/main">
        <mc:Choice Requires="a14">
          <p:sp>
            <p:nvSpPr>
              <p:cNvPr id="14" name="文字方塊 13">
                <a:extLst>
                  <a:ext uri="{FF2B5EF4-FFF2-40B4-BE49-F238E27FC236}">
                    <a16:creationId xmlns:a16="http://schemas.microsoft.com/office/drawing/2014/main" id="{0DF195FC-8C9D-9B3A-3462-A25092EED6B7}"/>
                  </a:ext>
                </a:extLst>
              </p:cNvPr>
              <p:cNvSpPr txBox="1"/>
              <p:nvPr/>
            </p:nvSpPr>
            <p:spPr>
              <a:xfrm>
                <a:off x="6485007" y="5030486"/>
                <a:ext cx="534971" cy="400110"/>
              </a:xfrm>
              <a:prstGeom prst="rect">
                <a:avLst/>
              </a:prstGeom>
              <a:noFill/>
            </p:spPr>
            <p:txBody>
              <a:bodyPr wrap="square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sSub>
                        <m:sSubPr>
                          <m:ctrlPr>
                            <a:rPr lang="zh-TW" altLang="en-US" sz="2000" i="1" smtClean="0"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a:rPr lang="en-US" altLang="zh-TW" sz="2000" b="0" i="1" smtClean="0">
                              <a:latin typeface="Cambria Math" panose="02040503050406030204" pitchFamily="18" charset="0"/>
                            </a:rPr>
                            <m:t>𝑈</m:t>
                          </m:r>
                        </m:e>
                        <m:sub>
                          <m:r>
                            <a:rPr lang="en-US" altLang="zh-TW" sz="2000" b="0" i="1" smtClean="0">
                              <a:latin typeface="Cambria Math" panose="02040503050406030204" pitchFamily="18" charset="0"/>
                            </a:rPr>
                            <m:t>𝑜</m:t>
                          </m:r>
                        </m:sub>
                      </m:sSub>
                    </m:oMath>
                  </m:oMathPara>
                </a14:m>
                <a:endParaRPr lang="zh-TW" altLang="en-US" sz="2000" dirty="0"/>
              </a:p>
            </p:txBody>
          </p:sp>
        </mc:Choice>
        <mc:Fallback xmlns="">
          <p:sp>
            <p:nvSpPr>
              <p:cNvPr id="14" name="文字方塊 13">
                <a:extLst>
                  <a:ext uri="{FF2B5EF4-FFF2-40B4-BE49-F238E27FC236}">
                    <a16:creationId xmlns:a16="http://schemas.microsoft.com/office/drawing/2014/main" id="{0DF195FC-8C9D-9B3A-3462-A25092EED6B7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6485007" y="5030486"/>
                <a:ext cx="534971" cy="400110"/>
              </a:xfrm>
              <a:prstGeom prst="rect">
                <a:avLst/>
              </a:prstGeom>
              <a:blipFill>
                <a:blip r:embed="rId6"/>
                <a:stretch>
                  <a:fillRect/>
                </a:stretch>
              </a:blipFill>
            </p:spPr>
            <p:txBody>
              <a:bodyPr/>
              <a:lstStyle/>
              <a:p>
                <a:r>
                  <a:rPr lang="zh-TW" altLang="en-US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 xmlns:a14="http://schemas.microsoft.com/office/drawing/2010/main">
        <mc:Choice Requires="a14">
          <p:sp>
            <p:nvSpPr>
              <p:cNvPr id="15" name="文字方塊 14">
                <a:extLst>
                  <a:ext uri="{FF2B5EF4-FFF2-40B4-BE49-F238E27FC236}">
                    <a16:creationId xmlns:a16="http://schemas.microsoft.com/office/drawing/2014/main" id="{9CBC462E-8EA1-678C-9FAD-055008E2ACEE}"/>
                  </a:ext>
                </a:extLst>
              </p:cNvPr>
              <p:cNvSpPr txBox="1"/>
              <p:nvPr/>
            </p:nvSpPr>
            <p:spPr>
              <a:xfrm>
                <a:off x="8261764" y="5030486"/>
                <a:ext cx="534971" cy="400110"/>
              </a:xfrm>
              <a:prstGeom prst="rect">
                <a:avLst/>
              </a:prstGeom>
              <a:noFill/>
            </p:spPr>
            <p:txBody>
              <a:bodyPr wrap="square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sSub>
                        <m:sSubPr>
                          <m:ctrlPr>
                            <a:rPr lang="zh-TW" altLang="en-US" sz="2000" i="1" smtClean="0"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a:rPr lang="en-US" altLang="zh-TW" sz="2000" b="0" i="1" smtClean="0">
                              <a:latin typeface="Cambria Math" panose="02040503050406030204" pitchFamily="18" charset="0"/>
                            </a:rPr>
                            <m:t>𝑊</m:t>
                          </m:r>
                        </m:e>
                        <m:sub>
                          <m:r>
                            <a:rPr lang="en-US" altLang="zh-TW" sz="2000" i="1">
                              <a:latin typeface="Cambria Math" panose="02040503050406030204" pitchFamily="18" charset="0"/>
                            </a:rPr>
                            <m:t>𝑜</m:t>
                          </m:r>
                        </m:sub>
                      </m:sSub>
                    </m:oMath>
                  </m:oMathPara>
                </a14:m>
                <a:endParaRPr lang="zh-TW" altLang="en-US" sz="2000" dirty="0"/>
              </a:p>
            </p:txBody>
          </p:sp>
        </mc:Choice>
        <mc:Fallback xmlns="">
          <p:sp>
            <p:nvSpPr>
              <p:cNvPr id="15" name="文字方塊 14">
                <a:extLst>
                  <a:ext uri="{FF2B5EF4-FFF2-40B4-BE49-F238E27FC236}">
                    <a16:creationId xmlns:a16="http://schemas.microsoft.com/office/drawing/2014/main" id="{9CBC462E-8EA1-678C-9FAD-055008E2ACEE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8261764" y="5030486"/>
                <a:ext cx="534971" cy="400110"/>
              </a:xfrm>
              <a:prstGeom prst="rect">
                <a:avLst/>
              </a:prstGeom>
              <a:blipFill>
                <a:blip r:embed="rId7"/>
                <a:stretch>
                  <a:fillRect/>
                </a:stretch>
              </a:blipFill>
            </p:spPr>
            <p:txBody>
              <a:bodyPr/>
              <a:lstStyle/>
              <a:p>
                <a:r>
                  <a:rPr lang="zh-TW" altLang="en-US">
                    <a:noFill/>
                  </a:rPr>
                  <a:t> </a:t>
                </a:r>
              </a:p>
            </p:txBody>
          </p:sp>
        </mc:Fallback>
      </mc:AlternateContent>
      <p:grpSp>
        <p:nvGrpSpPr>
          <p:cNvPr id="16" name="群組 15">
            <a:extLst>
              <a:ext uri="{FF2B5EF4-FFF2-40B4-BE49-F238E27FC236}">
                <a16:creationId xmlns:a16="http://schemas.microsoft.com/office/drawing/2014/main" id="{5D5296D3-6916-CF86-77DA-9DDBBD894186}"/>
              </a:ext>
            </a:extLst>
          </p:cNvPr>
          <p:cNvGrpSpPr/>
          <p:nvPr/>
        </p:nvGrpSpPr>
        <p:grpSpPr>
          <a:xfrm>
            <a:off x="8044665" y="3612945"/>
            <a:ext cx="895546" cy="490194"/>
            <a:chOff x="7654565" y="5128181"/>
            <a:chExt cx="895546" cy="490194"/>
          </a:xfrm>
        </p:grpSpPr>
        <p:sp>
          <p:nvSpPr>
            <p:cNvPr id="17" name="圓角矩形 16">
              <a:extLst>
                <a:ext uri="{FF2B5EF4-FFF2-40B4-BE49-F238E27FC236}">
                  <a16:creationId xmlns:a16="http://schemas.microsoft.com/office/drawing/2014/main" id="{806E94F5-C0B5-A581-9695-FF8BBEAF8B6C}"/>
                </a:ext>
              </a:extLst>
            </p:cNvPr>
            <p:cNvSpPr/>
            <p:nvPr/>
          </p:nvSpPr>
          <p:spPr>
            <a:xfrm>
              <a:off x="7654565" y="5128181"/>
              <a:ext cx="895546" cy="490194"/>
            </a:xfrm>
            <a:prstGeom prst="roundRect">
              <a:avLst/>
            </a:prstGeom>
            <a:solidFill>
              <a:schemeClr val="accent2">
                <a:lumMod val="20000"/>
                <a:lumOff val="80000"/>
              </a:schemeClr>
            </a:solidFill>
            <a:ln>
              <a:solidFill>
                <a:schemeClr val="accent2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kumimoji="1" lang="zh-TW" altLang="en-US"/>
            </a:p>
          </p:txBody>
        </p:sp>
        <mc:AlternateContent xmlns:mc="http://schemas.openxmlformats.org/markup-compatibility/2006" xmlns:a14="http://schemas.microsoft.com/office/drawing/2010/main">
          <mc:Choice Requires="a14">
            <p:sp>
              <p:nvSpPr>
                <p:cNvPr id="18" name="文字方塊 17">
                  <a:extLst>
                    <a:ext uri="{FF2B5EF4-FFF2-40B4-BE49-F238E27FC236}">
                      <a16:creationId xmlns:a16="http://schemas.microsoft.com/office/drawing/2014/main" id="{C5822D3E-0553-33D8-28B7-981C8D27C5DB}"/>
                    </a:ext>
                  </a:extLst>
                </p:cNvPr>
                <p:cNvSpPr txBox="1"/>
                <p:nvPr/>
              </p:nvSpPr>
              <p:spPr>
                <a:xfrm>
                  <a:off x="7768865" y="5173223"/>
                  <a:ext cx="666946" cy="400110"/>
                </a:xfrm>
                <a:prstGeom prst="rect">
                  <a:avLst/>
                </a:prstGeom>
                <a:noFill/>
              </p:spPr>
              <p:txBody>
                <a:bodyPr wrap="square">
                  <a:spAutoFit/>
                </a:bodyPr>
                <a:lstStyle/>
                <a:p>
                  <a:pPr/>
                  <a14:m>
                    <m:oMathPara xmlns:m="http://schemas.openxmlformats.org/officeDocument/2006/math">
                      <m:oMathParaPr>
                        <m:jc m:val="centerGroup"/>
                      </m:oMathParaPr>
                      <m:oMath xmlns:m="http://schemas.openxmlformats.org/officeDocument/2006/math">
                        <m:sSub>
                          <m:sSubPr>
                            <m:ctrlPr>
                              <a:rPr lang="zh-TW" altLang="en-US" sz="2000" i="1" smtClean="0">
                                <a:solidFill>
                                  <a:schemeClr val="tx1"/>
                                </a:solidFill>
                                <a:latin typeface="Cambria Math" panose="02040503050406030204" pitchFamily="18" charset="0"/>
                              </a:rPr>
                            </m:ctrlPr>
                          </m:sSubPr>
                          <m:e>
                            <m:r>
                              <a:rPr lang="en-US" altLang="zh-TW" sz="2000" b="0" i="1" smtClean="0">
                                <a:solidFill>
                                  <a:schemeClr val="tx1"/>
                                </a:solidFill>
                                <a:latin typeface="Cambria Math" panose="02040503050406030204" pitchFamily="18" charset="0"/>
                              </a:rPr>
                              <m:t>𝑠</m:t>
                            </m:r>
                          </m:e>
                          <m:sub>
                            <m:r>
                              <a:rPr lang="zh-TW" altLang="en-US" sz="2000" i="1">
                                <a:solidFill>
                                  <a:schemeClr val="tx1"/>
                                </a:solidFill>
                                <a:latin typeface="Cambria Math" panose="02040503050406030204" pitchFamily="18" charset="0"/>
                              </a:rPr>
                              <m:t>𝑡</m:t>
                            </m:r>
                          </m:sub>
                        </m:sSub>
                      </m:oMath>
                    </m:oMathPara>
                  </a14:m>
                  <a:endParaRPr lang="zh-TW" altLang="en-US" sz="2000" dirty="0">
                    <a:solidFill>
                      <a:schemeClr val="tx1"/>
                    </a:solidFill>
                  </a:endParaRPr>
                </a:p>
              </p:txBody>
            </p:sp>
          </mc:Choice>
          <mc:Fallback xmlns="">
            <p:sp>
              <p:nvSpPr>
                <p:cNvPr id="18" name="文字方塊 17">
                  <a:extLst>
                    <a:ext uri="{FF2B5EF4-FFF2-40B4-BE49-F238E27FC236}">
                      <a16:creationId xmlns:a16="http://schemas.microsoft.com/office/drawing/2014/main" id="{C5822D3E-0553-33D8-28B7-981C8D27C5DB}"/>
                    </a:ext>
                  </a:extLst>
                </p:cNvPr>
                <p:cNvSpPr txBox="1">
                  <a:spLocks noRot="1" noChangeAspect="1" noMove="1" noResize="1" noEditPoints="1" noAdjustHandles="1" noChangeArrowheads="1" noChangeShapeType="1" noTextEdit="1"/>
                </p:cNvSpPr>
                <p:nvPr/>
              </p:nvSpPr>
              <p:spPr>
                <a:xfrm>
                  <a:off x="7768865" y="5173223"/>
                  <a:ext cx="666946" cy="400110"/>
                </a:xfrm>
                <a:prstGeom prst="rect">
                  <a:avLst/>
                </a:prstGeom>
                <a:blipFill>
                  <a:blip r:embed="rId8"/>
                  <a:stretch>
                    <a:fillRect/>
                  </a:stretch>
                </a:blipFill>
              </p:spPr>
              <p:txBody>
                <a:bodyPr/>
                <a:lstStyle/>
                <a:p>
                  <a:r>
                    <a:rPr lang="zh-TW" altLang="en-US">
                      <a:noFill/>
                    </a:rPr>
                    <a:t> </a:t>
                  </a:r>
                </a:p>
              </p:txBody>
            </p:sp>
          </mc:Fallback>
        </mc:AlternateContent>
      </p:grpSp>
      <p:sp>
        <p:nvSpPr>
          <p:cNvPr id="19" name="文字方塊 18">
            <a:extLst>
              <a:ext uri="{FF2B5EF4-FFF2-40B4-BE49-F238E27FC236}">
                <a16:creationId xmlns:a16="http://schemas.microsoft.com/office/drawing/2014/main" id="{5715CB03-5B8B-E6CA-8037-F9AF69841DB3}"/>
              </a:ext>
            </a:extLst>
          </p:cNvPr>
          <p:cNvSpPr txBox="1"/>
          <p:nvPr/>
        </p:nvSpPr>
        <p:spPr>
          <a:xfrm>
            <a:off x="8330179" y="4117708"/>
            <a:ext cx="358218" cy="461665"/>
          </a:xfrm>
          <a:prstGeom prst="rect">
            <a:avLst/>
          </a:prstGeom>
          <a:noFill/>
        </p:spPr>
        <p:txBody>
          <a:bodyPr wrap="square" rtlCol="0" anchor="ctr">
            <a:spAutoFit/>
          </a:bodyPr>
          <a:lstStyle/>
          <a:p>
            <a:r>
              <a:rPr kumimoji="1" lang="en-US" altLang="zh-TW" sz="2400" dirty="0"/>
              <a:t>+</a:t>
            </a:r>
            <a:endParaRPr kumimoji="1" lang="zh-TW" altLang="en-US" sz="2400" dirty="0"/>
          </a:p>
        </p:txBody>
      </p:sp>
      <p:sp>
        <p:nvSpPr>
          <p:cNvPr id="20" name="不規則四邊形 19">
            <a:extLst>
              <a:ext uri="{FF2B5EF4-FFF2-40B4-BE49-F238E27FC236}">
                <a16:creationId xmlns:a16="http://schemas.microsoft.com/office/drawing/2014/main" id="{5E794ECF-A752-B5AA-A856-13EFFE902B26}"/>
              </a:ext>
            </a:extLst>
          </p:cNvPr>
          <p:cNvSpPr/>
          <p:nvPr/>
        </p:nvSpPr>
        <p:spPr>
          <a:xfrm flipV="1">
            <a:off x="8179917" y="2297043"/>
            <a:ext cx="591437" cy="1219078"/>
          </a:xfrm>
          <a:prstGeom prst="trapezoid">
            <a:avLst/>
          </a:prstGeom>
          <a:solidFill>
            <a:schemeClr val="bg1">
              <a:lumMod val="85000"/>
            </a:schemeClr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kumimoji="1" lang="zh-TW" altLang="en-US"/>
          </a:p>
        </p:txBody>
      </p:sp>
      <mc:AlternateContent xmlns:mc="http://schemas.openxmlformats.org/markup-compatibility/2006" xmlns:a14="http://schemas.microsoft.com/office/drawing/2010/main">
        <mc:Choice Requires="a14">
          <p:sp>
            <p:nvSpPr>
              <p:cNvPr id="21" name="文字方塊 20">
                <a:extLst>
                  <a:ext uri="{FF2B5EF4-FFF2-40B4-BE49-F238E27FC236}">
                    <a16:creationId xmlns:a16="http://schemas.microsoft.com/office/drawing/2014/main" id="{6850C7B8-2FD6-7B6E-C721-3931BCA93028}"/>
                  </a:ext>
                </a:extLst>
              </p:cNvPr>
              <p:cNvSpPr txBox="1"/>
              <p:nvPr/>
            </p:nvSpPr>
            <p:spPr>
              <a:xfrm>
                <a:off x="8220297" y="2721916"/>
                <a:ext cx="534971" cy="400110"/>
              </a:xfrm>
              <a:prstGeom prst="rect">
                <a:avLst/>
              </a:prstGeom>
              <a:noFill/>
            </p:spPr>
            <p:txBody>
              <a:bodyPr wrap="square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r>
                        <a:rPr lang="en-US" altLang="zh-TW" sz="2000" b="0" i="1" smtClean="0">
                          <a:latin typeface="Cambria Math" panose="02040503050406030204" pitchFamily="18" charset="0"/>
                        </a:rPr>
                        <m:t>𝑉</m:t>
                      </m:r>
                    </m:oMath>
                  </m:oMathPara>
                </a14:m>
                <a:endParaRPr lang="zh-TW" altLang="en-US" sz="2000" dirty="0"/>
              </a:p>
            </p:txBody>
          </p:sp>
        </mc:Choice>
        <mc:Fallback xmlns="">
          <p:sp>
            <p:nvSpPr>
              <p:cNvPr id="21" name="文字方塊 20">
                <a:extLst>
                  <a:ext uri="{FF2B5EF4-FFF2-40B4-BE49-F238E27FC236}">
                    <a16:creationId xmlns:a16="http://schemas.microsoft.com/office/drawing/2014/main" id="{6850C7B8-2FD6-7B6E-C721-3931BCA93028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8220297" y="2721916"/>
                <a:ext cx="534971" cy="400110"/>
              </a:xfrm>
              <a:prstGeom prst="rect">
                <a:avLst/>
              </a:prstGeom>
              <a:blipFill>
                <a:blip r:embed="rId9"/>
                <a:stretch>
                  <a:fillRect/>
                </a:stretch>
              </a:blipFill>
            </p:spPr>
            <p:txBody>
              <a:bodyPr/>
              <a:lstStyle/>
              <a:p>
                <a:r>
                  <a:rPr lang="zh-TW" altLang="en-US">
                    <a:noFill/>
                  </a:rPr>
                  <a:t> </a:t>
                </a:r>
              </a:p>
            </p:txBody>
          </p:sp>
        </mc:Fallback>
      </mc:AlternateContent>
      <p:grpSp>
        <p:nvGrpSpPr>
          <p:cNvPr id="22" name="群組 21">
            <a:extLst>
              <a:ext uri="{FF2B5EF4-FFF2-40B4-BE49-F238E27FC236}">
                <a16:creationId xmlns:a16="http://schemas.microsoft.com/office/drawing/2014/main" id="{48FD60A0-1CB2-B259-7371-9BEE8F024FA6}"/>
              </a:ext>
            </a:extLst>
          </p:cNvPr>
          <p:cNvGrpSpPr/>
          <p:nvPr/>
        </p:nvGrpSpPr>
        <p:grpSpPr>
          <a:xfrm>
            <a:off x="8027862" y="1696979"/>
            <a:ext cx="895546" cy="490194"/>
            <a:chOff x="7654565" y="5128181"/>
            <a:chExt cx="895546" cy="490194"/>
          </a:xfrm>
        </p:grpSpPr>
        <p:sp>
          <p:nvSpPr>
            <p:cNvPr id="23" name="圓角矩形 22">
              <a:extLst>
                <a:ext uri="{FF2B5EF4-FFF2-40B4-BE49-F238E27FC236}">
                  <a16:creationId xmlns:a16="http://schemas.microsoft.com/office/drawing/2014/main" id="{C69662E3-DF54-D26E-916C-296A87D047F9}"/>
                </a:ext>
              </a:extLst>
            </p:cNvPr>
            <p:cNvSpPr/>
            <p:nvPr/>
          </p:nvSpPr>
          <p:spPr>
            <a:xfrm>
              <a:off x="7654565" y="5128181"/>
              <a:ext cx="895546" cy="490194"/>
            </a:xfrm>
            <a:prstGeom prst="roundRect">
              <a:avLst/>
            </a:prstGeom>
            <a:solidFill>
              <a:schemeClr val="accent2">
                <a:lumMod val="20000"/>
                <a:lumOff val="80000"/>
              </a:schemeClr>
            </a:solidFill>
            <a:ln>
              <a:solidFill>
                <a:schemeClr val="accent2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kumimoji="1" lang="zh-TW" altLang="en-US"/>
            </a:p>
          </p:txBody>
        </p:sp>
        <mc:AlternateContent xmlns:mc="http://schemas.openxmlformats.org/markup-compatibility/2006" xmlns:a14="http://schemas.microsoft.com/office/drawing/2010/main">
          <mc:Choice Requires="a14">
            <p:sp>
              <p:nvSpPr>
                <p:cNvPr id="24" name="文字方塊 23">
                  <a:extLst>
                    <a:ext uri="{FF2B5EF4-FFF2-40B4-BE49-F238E27FC236}">
                      <a16:creationId xmlns:a16="http://schemas.microsoft.com/office/drawing/2014/main" id="{B244BB02-D304-BA7D-3D2A-49ACD7631D8D}"/>
                    </a:ext>
                  </a:extLst>
                </p:cNvPr>
                <p:cNvSpPr txBox="1"/>
                <p:nvPr/>
              </p:nvSpPr>
              <p:spPr>
                <a:xfrm>
                  <a:off x="7768865" y="5173223"/>
                  <a:ext cx="666946" cy="400110"/>
                </a:xfrm>
                <a:prstGeom prst="rect">
                  <a:avLst/>
                </a:prstGeom>
                <a:noFill/>
              </p:spPr>
              <p:txBody>
                <a:bodyPr wrap="square">
                  <a:spAutoFit/>
                </a:bodyPr>
                <a:lstStyle/>
                <a:p>
                  <a:pPr/>
                  <a14:m>
                    <m:oMathPara xmlns:m="http://schemas.openxmlformats.org/officeDocument/2006/math">
                      <m:oMathParaPr>
                        <m:jc m:val="centerGroup"/>
                      </m:oMathParaPr>
                      <m:oMath xmlns:m="http://schemas.openxmlformats.org/officeDocument/2006/math">
                        <m:sSub>
                          <m:sSubPr>
                            <m:ctrlPr>
                              <a:rPr lang="zh-TW" altLang="en-US" sz="2000" i="1" smtClean="0">
                                <a:solidFill>
                                  <a:schemeClr val="tx1"/>
                                </a:solidFill>
                                <a:latin typeface="Cambria Math" panose="02040503050406030204" pitchFamily="18" charset="0"/>
                              </a:rPr>
                            </m:ctrlPr>
                          </m:sSubPr>
                          <m:e>
                            <m:r>
                              <a:rPr lang="en-US" altLang="zh-TW" sz="2000" b="0" i="1" smtClean="0">
                                <a:solidFill>
                                  <a:schemeClr val="tx1"/>
                                </a:solidFill>
                                <a:latin typeface="Cambria Math" panose="02040503050406030204" pitchFamily="18" charset="0"/>
                              </a:rPr>
                              <m:t>𝑦</m:t>
                            </m:r>
                          </m:e>
                          <m:sub>
                            <m:r>
                              <a:rPr lang="zh-TW" altLang="en-US" sz="2000" i="1">
                                <a:solidFill>
                                  <a:schemeClr val="tx1"/>
                                </a:solidFill>
                                <a:latin typeface="Cambria Math" panose="02040503050406030204" pitchFamily="18" charset="0"/>
                              </a:rPr>
                              <m:t>𝑡</m:t>
                            </m:r>
                          </m:sub>
                        </m:sSub>
                      </m:oMath>
                    </m:oMathPara>
                  </a14:m>
                  <a:endParaRPr lang="zh-TW" altLang="en-US" sz="2000" dirty="0">
                    <a:solidFill>
                      <a:schemeClr val="tx1"/>
                    </a:solidFill>
                  </a:endParaRPr>
                </a:p>
              </p:txBody>
            </p:sp>
          </mc:Choice>
          <mc:Fallback xmlns="">
            <p:sp>
              <p:nvSpPr>
                <p:cNvPr id="29" name="文字方塊 28">
                  <a:extLst>
                    <a:ext uri="{FF2B5EF4-FFF2-40B4-BE49-F238E27FC236}">
                      <a16:creationId xmlns:a16="http://schemas.microsoft.com/office/drawing/2014/main" id="{10CF887D-6BA7-4674-B095-B5205D3938A9}"/>
                    </a:ext>
                  </a:extLst>
                </p:cNvPr>
                <p:cNvSpPr txBox="1">
                  <a:spLocks noRot="1" noChangeAspect="1" noMove="1" noResize="1" noEditPoints="1" noAdjustHandles="1" noChangeArrowheads="1" noChangeShapeType="1" noTextEdit="1"/>
                </p:cNvSpPr>
                <p:nvPr/>
              </p:nvSpPr>
              <p:spPr>
                <a:xfrm>
                  <a:off x="7768865" y="5173223"/>
                  <a:ext cx="666946" cy="400110"/>
                </a:xfrm>
                <a:prstGeom prst="rect">
                  <a:avLst/>
                </a:prstGeom>
                <a:blipFill>
                  <a:blip r:embed="rId10"/>
                  <a:stretch>
                    <a:fillRect b="-3030"/>
                  </a:stretch>
                </a:blipFill>
              </p:spPr>
              <p:txBody>
                <a:bodyPr/>
                <a:lstStyle/>
                <a:p>
                  <a:r>
                    <a:rPr lang="zh-TW" altLang="en-US">
                      <a:noFill/>
                    </a:rPr>
                    <a:t> </a:t>
                  </a:r>
                </a:p>
              </p:txBody>
            </p:sp>
          </mc:Fallback>
        </mc:AlternateContent>
      </p:grpSp>
      <mc:AlternateContent xmlns:mc="http://schemas.openxmlformats.org/markup-compatibility/2006" xmlns:a14="http://schemas.microsoft.com/office/drawing/2010/main">
        <mc:Choice Requires="a14">
          <p:sp>
            <p:nvSpPr>
              <p:cNvPr id="25" name="文字方塊 24">
                <a:extLst>
                  <a:ext uri="{FF2B5EF4-FFF2-40B4-BE49-F238E27FC236}">
                    <a16:creationId xmlns:a16="http://schemas.microsoft.com/office/drawing/2014/main" id="{A303C124-377B-808B-825D-23F955BFB5C1}"/>
                  </a:ext>
                </a:extLst>
              </p:cNvPr>
              <p:cNvSpPr txBox="1"/>
              <p:nvPr/>
            </p:nvSpPr>
            <p:spPr>
              <a:xfrm>
                <a:off x="1439852" y="2656036"/>
                <a:ext cx="5368452" cy="830997"/>
              </a:xfrm>
              <a:prstGeom prst="rect">
                <a:avLst/>
              </a:prstGeom>
              <a:solidFill>
                <a:schemeClr val="bg1"/>
              </a:solidFill>
            </p:spPr>
            <p:txBody>
              <a:bodyPr wrap="square" rtlCol="0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left"/>
                    </m:oMathParaPr>
                    <m:oMath xmlns:m="http://schemas.openxmlformats.org/officeDocument/2006/math">
                      <m:sSub>
                        <m:sSubPr>
                          <m:ctrlPr>
                            <a:rPr lang="zh-TW" altLang="en-US" sz="2400" i="1" smtClean="0"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a:rPr lang="en-US" altLang="zh-TW" sz="2400" b="0" i="1" smtClean="0">
                              <a:latin typeface="Cambria Math" panose="02040503050406030204" pitchFamily="18" charset="0"/>
                            </a:rPr>
                            <m:t>𝑠</m:t>
                          </m:r>
                        </m:e>
                        <m:sub>
                          <m:r>
                            <a:rPr lang="zh-TW" altLang="en-US" sz="2400" i="1">
                              <a:latin typeface="Cambria Math" panose="02040503050406030204" pitchFamily="18" charset="0"/>
                            </a:rPr>
                            <m:t>𝑡</m:t>
                          </m:r>
                        </m:sub>
                      </m:sSub>
                      <m:r>
                        <a:rPr lang="en-US" altLang="zh-TW" sz="2400" b="0" i="0" smtClean="0">
                          <a:latin typeface="Cambria Math" panose="02040503050406030204" pitchFamily="18" charset="0"/>
                        </a:rPr>
                        <m:t>=</m:t>
                      </m:r>
                      <m:r>
                        <m:rPr>
                          <m:sty m:val="p"/>
                        </m:rPr>
                        <a:rPr lang="en-US" altLang="zh-TW" sz="2400" b="0" i="0" smtClean="0">
                          <a:latin typeface="Cambria Math" panose="02040503050406030204" pitchFamily="18" charset="0"/>
                        </a:rPr>
                        <m:t>tanh</m:t>
                      </m:r>
                      <m:r>
                        <a:rPr lang="en-US" altLang="zh-TW" sz="2400" b="0" i="1" smtClean="0">
                          <a:latin typeface="Cambria Math" panose="02040503050406030204" pitchFamily="18" charset="0"/>
                        </a:rPr>
                        <m:t>(</m:t>
                      </m:r>
                      <m:sSub>
                        <m:sSubPr>
                          <m:ctrlPr>
                            <a:rPr lang="zh-TW" altLang="en-US" sz="2400" i="1"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a:rPr lang="en-US" altLang="zh-TW" sz="2400" i="1">
                              <a:latin typeface="Cambria Math" panose="02040503050406030204" pitchFamily="18" charset="0"/>
                            </a:rPr>
                            <m:t>𝑈</m:t>
                          </m:r>
                        </m:e>
                        <m:sub>
                          <m:r>
                            <a:rPr lang="en-US" altLang="zh-TW" sz="2400" i="1">
                              <a:latin typeface="Cambria Math" panose="02040503050406030204" pitchFamily="18" charset="0"/>
                            </a:rPr>
                            <m:t>𝑜</m:t>
                          </m:r>
                        </m:sub>
                      </m:sSub>
                      <m:sSub>
                        <m:sSubPr>
                          <m:ctrlPr>
                            <a:rPr lang="zh-TW" altLang="en-US" sz="2400" i="1"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a:rPr lang="en-US" altLang="zh-TW" sz="2400" i="1">
                              <a:latin typeface="Cambria Math" panose="02040503050406030204" pitchFamily="18" charset="0"/>
                            </a:rPr>
                            <m:t>𝑠</m:t>
                          </m:r>
                        </m:e>
                        <m:sub>
                          <m:r>
                            <a:rPr lang="zh-TW" altLang="en-US" sz="2400" i="1">
                              <a:latin typeface="Cambria Math" panose="02040503050406030204" pitchFamily="18" charset="0"/>
                            </a:rPr>
                            <m:t>𝑡</m:t>
                          </m:r>
                          <m:r>
                            <a:rPr lang="en-US" altLang="zh-TW" sz="2400" b="0" i="1" smtClean="0">
                              <a:latin typeface="Cambria Math" panose="02040503050406030204" pitchFamily="18" charset="0"/>
                            </a:rPr>
                            <m:t>−1</m:t>
                          </m:r>
                        </m:sub>
                      </m:sSub>
                      <m:r>
                        <a:rPr lang="en-US" altLang="zh-TW" sz="2400" b="0" i="1" smtClean="0">
                          <a:latin typeface="Cambria Math" panose="02040503050406030204" pitchFamily="18" charset="0"/>
                        </a:rPr>
                        <m:t>+</m:t>
                      </m:r>
                      <m:sSub>
                        <m:sSubPr>
                          <m:ctrlPr>
                            <a:rPr lang="zh-TW" altLang="en-US" sz="2400" i="1"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a:rPr lang="en-US" altLang="zh-TW" sz="2400" i="1">
                              <a:latin typeface="Cambria Math" panose="02040503050406030204" pitchFamily="18" charset="0"/>
                            </a:rPr>
                            <m:t>𝑊</m:t>
                          </m:r>
                        </m:e>
                        <m:sub>
                          <m:r>
                            <a:rPr lang="en-US" altLang="zh-TW" sz="2400" i="1">
                              <a:latin typeface="Cambria Math" panose="02040503050406030204" pitchFamily="18" charset="0"/>
                            </a:rPr>
                            <m:t>𝑜</m:t>
                          </m:r>
                        </m:sub>
                      </m:sSub>
                      <m:sSub>
                        <m:sSubPr>
                          <m:ctrlPr>
                            <a:rPr lang="zh-TW" altLang="en-US" sz="2400" i="1"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a:rPr lang="en-US" altLang="zh-TW" sz="2400" i="1">
                              <a:latin typeface="Cambria Math" panose="02040503050406030204" pitchFamily="18" charset="0"/>
                            </a:rPr>
                            <m:t>𝑥</m:t>
                          </m:r>
                        </m:e>
                        <m:sub>
                          <m:r>
                            <a:rPr lang="zh-TW" altLang="en-US" sz="2400" i="1">
                              <a:latin typeface="Cambria Math" panose="02040503050406030204" pitchFamily="18" charset="0"/>
                            </a:rPr>
                            <m:t>𝑡</m:t>
                          </m:r>
                        </m:sub>
                      </m:sSub>
                      <m:r>
                        <a:rPr lang="en-US" altLang="zh-TW" sz="2400" b="0" i="1" smtClean="0">
                          <a:latin typeface="Cambria Math" panose="02040503050406030204" pitchFamily="18" charset="0"/>
                        </a:rPr>
                        <m:t>+</m:t>
                      </m:r>
                      <m:sSub>
                        <m:sSubPr>
                          <m:ctrlPr>
                            <a:rPr lang="zh-TW" altLang="en-US" sz="2400" i="1"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a:rPr lang="en-US" altLang="zh-TW" sz="2400" i="1">
                              <a:latin typeface="Cambria Math" panose="02040503050406030204" pitchFamily="18" charset="0"/>
                            </a:rPr>
                            <m:t>𝐶</m:t>
                          </m:r>
                        </m:e>
                        <m:sub>
                          <m:r>
                            <a:rPr lang="en-US" altLang="zh-TW" sz="2400" i="1">
                              <a:latin typeface="Cambria Math" panose="02040503050406030204" pitchFamily="18" charset="0"/>
                            </a:rPr>
                            <m:t>𝑜</m:t>
                          </m:r>
                        </m:sub>
                      </m:sSub>
                      <m:sSub>
                        <m:sSubPr>
                          <m:ctrlPr>
                            <a:rPr lang="zh-TW" altLang="en-US" sz="2400" i="1">
                              <a:solidFill>
                                <a:srgbClr val="836967"/>
                              </a:solidFill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a:rPr lang="en-US" altLang="zh-TW" sz="2400" b="0" i="1" smtClean="0">
                              <a:latin typeface="Cambria Math" panose="02040503050406030204" pitchFamily="18" charset="0"/>
                            </a:rPr>
                            <m:t>𝑐</m:t>
                          </m:r>
                        </m:e>
                        <m:sub>
                          <m:r>
                            <a:rPr lang="zh-TW" altLang="en-US" sz="2400" i="1">
                              <a:latin typeface="Cambria Math" panose="02040503050406030204" pitchFamily="18" charset="0"/>
                            </a:rPr>
                            <m:t>𝑡</m:t>
                          </m:r>
                        </m:sub>
                      </m:sSub>
                      <m:r>
                        <a:rPr lang="en-US" altLang="zh-TW" sz="2400" b="0" i="1" smtClean="0">
                          <a:latin typeface="Cambria Math" panose="02040503050406030204" pitchFamily="18" charset="0"/>
                        </a:rPr>
                        <m:t>)</m:t>
                      </m:r>
                    </m:oMath>
                  </m:oMathPara>
                </a14:m>
                <a:endParaRPr lang="en-US" altLang="zh-TW" sz="2400" dirty="0"/>
              </a:p>
              <a:p>
                <a:pPr/>
                <a14:m>
                  <m:oMathPara xmlns:m="http://schemas.openxmlformats.org/officeDocument/2006/math">
                    <m:oMathParaPr>
                      <m:jc m:val="left"/>
                    </m:oMathParaPr>
                    <m:oMath xmlns:m="http://schemas.openxmlformats.org/officeDocument/2006/math">
                      <m:sSub>
                        <m:sSubPr>
                          <m:ctrlPr>
                            <a:rPr lang="zh-TW" altLang="en-US" sz="2400" i="1"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a:rPr lang="en-US" altLang="zh-TW" sz="2400" b="0" i="1" smtClean="0">
                              <a:latin typeface="Cambria Math" panose="02040503050406030204" pitchFamily="18" charset="0"/>
                            </a:rPr>
                            <m:t>𝑦</m:t>
                          </m:r>
                        </m:e>
                        <m:sub>
                          <m:r>
                            <a:rPr lang="zh-TW" altLang="en-US" sz="2400" i="1">
                              <a:latin typeface="Cambria Math" panose="02040503050406030204" pitchFamily="18" charset="0"/>
                            </a:rPr>
                            <m:t>𝑡</m:t>
                          </m:r>
                        </m:sub>
                      </m:sSub>
                      <m:r>
                        <a:rPr lang="en-US" altLang="zh-TW" sz="2400" b="0" i="1" smtClean="0">
                          <a:latin typeface="Cambria Math" panose="02040503050406030204" pitchFamily="18" charset="0"/>
                        </a:rPr>
                        <m:t>=</m:t>
                      </m:r>
                      <m:r>
                        <m:rPr>
                          <m:sty m:val="p"/>
                        </m:rPr>
                        <a:rPr lang="en-US" altLang="zh-TW" sz="2400" b="0" i="0" smtClean="0">
                          <a:latin typeface="Cambria Math" panose="02040503050406030204" pitchFamily="18" charset="0"/>
                        </a:rPr>
                        <m:t>s</m:t>
                      </m:r>
                      <m:r>
                        <m:rPr>
                          <m:sty m:val="p"/>
                        </m:rPr>
                        <a:rPr lang="en-US" altLang="zh-TW" sz="2400">
                          <a:latin typeface="Cambria Math" panose="02040503050406030204" pitchFamily="18" charset="0"/>
                        </a:rPr>
                        <m:t>oftmax</m:t>
                      </m:r>
                      <m:r>
                        <a:rPr lang="en-US" altLang="zh-TW" sz="2400" b="0" i="1" smtClean="0">
                          <a:latin typeface="Cambria Math" panose="02040503050406030204" pitchFamily="18" charset="0"/>
                        </a:rPr>
                        <m:t>(</m:t>
                      </m:r>
                      <m:r>
                        <a:rPr lang="en-US" altLang="zh-TW" sz="2400" b="0" i="1" smtClean="0">
                          <a:latin typeface="Cambria Math" panose="02040503050406030204" pitchFamily="18" charset="0"/>
                        </a:rPr>
                        <m:t>𝑉</m:t>
                      </m:r>
                      <m:sSub>
                        <m:sSubPr>
                          <m:ctrlPr>
                            <a:rPr lang="zh-TW" altLang="en-US" sz="2400" i="1"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a:rPr lang="en-US" altLang="zh-TW" sz="2400" b="0" i="1" smtClean="0">
                              <a:latin typeface="Cambria Math" panose="02040503050406030204" pitchFamily="18" charset="0"/>
                            </a:rPr>
                            <m:t>𝑠</m:t>
                          </m:r>
                        </m:e>
                        <m:sub>
                          <m:r>
                            <a:rPr lang="zh-TW" altLang="en-US" sz="2400" i="1">
                              <a:latin typeface="Cambria Math" panose="02040503050406030204" pitchFamily="18" charset="0"/>
                            </a:rPr>
                            <m:t>𝑡</m:t>
                          </m:r>
                        </m:sub>
                      </m:sSub>
                      <m:r>
                        <a:rPr lang="en-US" altLang="zh-TW" sz="2400" b="0" i="1" smtClean="0">
                          <a:latin typeface="Cambria Math" panose="02040503050406030204" pitchFamily="18" charset="0"/>
                        </a:rPr>
                        <m:t>)</m:t>
                      </m:r>
                    </m:oMath>
                  </m:oMathPara>
                </a14:m>
                <a:endParaRPr lang="zh-TW" altLang="en-US" sz="2400" dirty="0"/>
              </a:p>
            </p:txBody>
          </p:sp>
        </mc:Choice>
        <mc:Fallback xmlns="">
          <p:sp>
            <p:nvSpPr>
              <p:cNvPr id="25" name="文字方塊 24">
                <a:extLst>
                  <a:ext uri="{FF2B5EF4-FFF2-40B4-BE49-F238E27FC236}">
                    <a16:creationId xmlns:a16="http://schemas.microsoft.com/office/drawing/2014/main" id="{A303C124-377B-808B-825D-23F955BFB5C1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1439852" y="2656036"/>
                <a:ext cx="5368452" cy="830997"/>
              </a:xfrm>
              <a:prstGeom prst="rect">
                <a:avLst/>
              </a:prstGeom>
              <a:blipFill>
                <a:blip r:embed="rId11"/>
                <a:stretch>
                  <a:fillRect l="-236" b="-9091"/>
                </a:stretch>
              </a:blipFill>
            </p:spPr>
            <p:txBody>
              <a:bodyPr/>
              <a:lstStyle/>
              <a:p>
                <a:r>
                  <a:rPr lang="zh-TW" altLang="en-US">
                    <a:noFill/>
                  </a:rPr>
                  <a:t> </a:t>
                </a:r>
              </a:p>
            </p:txBody>
          </p:sp>
        </mc:Fallback>
      </mc:AlternateContent>
      <p:grpSp>
        <p:nvGrpSpPr>
          <p:cNvPr id="26" name="群組 25">
            <a:extLst>
              <a:ext uri="{FF2B5EF4-FFF2-40B4-BE49-F238E27FC236}">
                <a16:creationId xmlns:a16="http://schemas.microsoft.com/office/drawing/2014/main" id="{82B0BF2C-E721-0E0E-19A3-71216AC7B20F}"/>
              </a:ext>
            </a:extLst>
          </p:cNvPr>
          <p:cNvGrpSpPr/>
          <p:nvPr/>
        </p:nvGrpSpPr>
        <p:grpSpPr>
          <a:xfrm>
            <a:off x="9669684" y="5925366"/>
            <a:ext cx="895546" cy="490194"/>
            <a:chOff x="7654565" y="5128181"/>
            <a:chExt cx="895546" cy="490194"/>
          </a:xfrm>
        </p:grpSpPr>
        <p:sp>
          <p:nvSpPr>
            <p:cNvPr id="27" name="圓角矩形 26">
              <a:extLst>
                <a:ext uri="{FF2B5EF4-FFF2-40B4-BE49-F238E27FC236}">
                  <a16:creationId xmlns:a16="http://schemas.microsoft.com/office/drawing/2014/main" id="{90F6EEAB-DA39-9D98-7459-3113DB9A0456}"/>
                </a:ext>
              </a:extLst>
            </p:cNvPr>
            <p:cNvSpPr/>
            <p:nvPr/>
          </p:nvSpPr>
          <p:spPr>
            <a:xfrm>
              <a:off x="7654565" y="5128181"/>
              <a:ext cx="895546" cy="490194"/>
            </a:xfrm>
            <a:prstGeom prst="roundRect">
              <a:avLst/>
            </a:prstGeom>
            <a:solidFill>
              <a:schemeClr val="accent2">
                <a:lumMod val="20000"/>
                <a:lumOff val="80000"/>
              </a:schemeClr>
            </a:solidFill>
            <a:ln>
              <a:solidFill>
                <a:schemeClr val="accent2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kumimoji="1" lang="zh-TW" altLang="en-US"/>
            </a:p>
          </p:txBody>
        </p:sp>
        <mc:AlternateContent xmlns:mc="http://schemas.openxmlformats.org/markup-compatibility/2006" xmlns:a14="http://schemas.microsoft.com/office/drawing/2010/main">
          <mc:Choice Requires="a14">
            <p:sp>
              <p:nvSpPr>
                <p:cNvPr id="28" name="文字方塊 27">
                  <a:extLst>
                    <a:ext uri="{FF2B5EF4-FFF2-40B4-BE49-F238E27FC236}">
                      <a16:creationId xmlns:a16="http://schemas.microsoft.com/office/drawing/2014/main" id="{3E06C85F-0D2F-CF7F-D071-0AEF2A0AFE66}"/>
                    </a:ext>
                  </a:extLst>
                </p:cNvPr>
                <p:cNvSpPr txBox="1"/>
                <p:nvPr/>
              </p:nvSpPr>
              <p:spPr>
                <a:xfrm>
                  <a:off x="7768865" y="5173223"/>
                  <a:ext cx="666946" cy="400110"/>
                </a:xfrm>
                <a:prstGeom prst="rect">
                  <a:avLst/>
                </a:prstGeom>
                <a:noFill/>
              </p:spPr>
              <p:txBody>
                <a:bodyPr wrap="square">
                  <a:spAutoFit/>
                </a:bodyPr>
                <a:lstStyle/>
                <a:p>
                  <a:pPr/>
                  <a14:m>
                    <m:oMathPara xmlns:m="http://schemas.openxmlformats.org/officeDocument/2006/math">
                      <m:oMathParaPr>
                        <m:jc m:val="centerGroup"/>
                      </m:oMathParaPr>
                      <m:oMath xmlns:m="http://schemas.openxmlformats.org/officeDocument/2006/math">
                        <m:sSub>
                          <m:sSubPr>
                            <m:ctrlPr>
                              <a:rPr lang="zh-TW" altLang="en-US" sz="2000" i="1" smtClean="0">
                                <a:solidFill>
                                  <a:schemeClr val="tx1"/>
                                </a:solidFill>
                                <a:latin typeface="Cambria Math" panose="02040503050406030204" pitchFamily="18" charset="0"/>
                              </a:rPr>
                            </m:ctrlPr>
                          </m:sSubPr>
                          <m:e>
                            <m:r>
                              <a:rPr lang="en-US" altLang="zh-TW" sz="2000" b="0" i="1" smtClean="0">
                                <a:solidFill>
                                  <a:schemeClr val="tx1"/>
                                </a:solidFill>
                                <a:latin typeface="Cambria Math" panose="02040503050406030204" pitchFamily="18" charset="0"/>
                              </a:rPr>
                              <m:t>𝑐</m:t>
                            </m:r>
                          </m:e>
                          <m:sub>
                            <m:r>
                              <a:rPr lang="zh-TW" altLang="en-US" sz="2000" i="1">
                                <a:solidFill>
                                  <a:schemeClr val="tx1"/>
                                </a:solidFill>
                                <a:latin typeface="Cambria Math" panose="02040503050406030204" pitchFamily="18" charset="0"/>
                              </a:rPr>
                              <m:t>𝑡</m:t>
                            </m:r>
                          </m:sub>
                        </m:sSub>
                      </m:oMath>
                    </m:oMathPara>
                  </a14:m>
                  <a:endParaRPr lang="zh-TW" altLang="en-US" sz="2000" dirty="0">
                    <a:solidFill>
                      <a:schemeClr val="tx1"/>
                    </a:solidFill>
                  </a:endParaRPr>
                </a:p>
              </p:txBody>
            </p:sp>
          </mc:Choice>
          <mc:Fallback xmlns="">
            <p:sp>
              <p:nvSpPr>
                <p:cNvPr id="28" name="文字方塊 27">
                  <a:extLst>
                    <a:ext uri="{FF2B5EF4-FFF2-40B4-BE49-F238E27FC236}">
                      <a16:creationId xmlns:a16="http://schemas.microsoft.com/office/drawing/2014/main" id="{3E06C85F-0D2F-CF7F-D071-0AEF2A0AFE66}"/>
                    </a:ext>
                  </a:extLst>
                </p:cNvPr>
                <p:cNvSpPr txBox="1">
                  <a:spLocks noRot="1" noChangeAspect="1" noMove="1" noResize="1" noEditPoints="1" noAdjustHandles="1" noChangeArrowheads="1" noChangeShapeType="1" noTextEdit="1"/>
                </p:cNvSpPr>
                <p:nvPr/>
              </p:nvSpPr>
              <p:spPr>
                <a:xfrm>
                  <a:off x="7768865" y="5173223"/>
                  <a:ext cx="666946" cy="400110"/>
                </a:xfrm>
                <a:prstGeom prst="rect">
                  <a:avLst/>
                </a:prstGeom>
                <a:blipFill>
                  <a:blip r:embed="rId12"/>
                  <a:stretch>
                    <a:fillRect/>
                  </a:stretch>
                </a:blipFill>
              </p:spPr>
              <p:txBody>
                <a:bodyPr/>
                <a:lstStyle/>
                <a:p>
                  <a:r>
                    <a:rPr lang="zh-TW" altLang="en-US">
                      <a:noFill/>
                    </a:rPr>
                    <a:t> </a:t>
                  </a:r>
                </a:p>
              </p:txBody>
            </p:sp>
          </mc:Fallback>
        </mc:AlternateContent>
      </p:grpSp>
      <p:sp>
        <p:nvSpPr>
          <p:cNvPr id="29" name="不規則四邊形 28">
            <a:extLst>
              <a:ext uri="{FF2B5EF4-FFF2-40B4-BE49-F238E27FC236}">
                <a16:creationId xmlns:a16="http://schemas.microsoft.com/office/drawing/2014/main" id="{19CFBD5D-1A02-9C1B-2EC4-EDE3AAFC036A}"/>
              </a:ext>
            </a:extLst>
          </p:cNvPr>
          <p:cNvSpPr/>
          <p:nvPr/>
        </p:nvSpPr>
        <p:spPr>
          <a:xfrm>
            <a:off x="9821691" y="4605613"/>
            <a:ext cx="591437" cy="1219078"/>
          </a:xfrm>
          <a:prstGeom prst="trapezoid">
            <a:avLst/>
          </a:prstGeom>
          <a:solidFill>
            <a:schemeClr val="bg1">
              <a:lumMod val="85000"/>
            </a:schemeClr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kumimoji="1" lang="zh-TW" altLang="en-US"/>
          </a:p>
        </p:txBody>
      </p:sp>
      <mc:AlternateContent xmlns:mc="http://schemas.openxmlformats.org/markup-compatibility/2006" xmlns:a14="http://schemas.microsoft.com/office/drawing/2010/main">
        <mc:Choice Requires="a14">
          <p:sp>
            <p:nvSpPr>
              <p:cNvPr id="30" name="文字方塊 29">
                <a:extLst>
                  <a:ext uri="{FF2B5EF4-FFF2-40B4-BE49-F238E27FC236}">
                    <a16:creationId xmlns:a16="http://schemas.microsoft.com/office/drawing/2014/main" id="{C1C11164-5429-4655-EF9F-B53EB610A6F2}"/>
                  </a:ext>
                </a:extLst>
              </p:cNvPr>
              <p:cNvSpPr txBox="1"/>
              <p:nvPr/>
            </p:nvSpPr>
            <p:spPr>
              <a:xfrm>
                <a:off x="9880258" y="5030486"/>
                <a:ext cx="534971" cy="400110"/>
              </a:xfrm>
              <a:prstGeom prst="rect">
                <a:avLst/>
              </a:prstGeom>
              <a:noFill/>
            </p:spPr>
            <p:txBody>
              <a:bodyPr wrap="square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sSub>
                        <m:sSubPr>
                          <m:ctrlPr>
                            <a:rPr lang="zh-TW" altLang="en-US" sz="2000" i="1" smtClean="0"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a:rPr lang="en-US" altLang="zh-TW" sz="2000" b="0" i="1" smtClean="0">
                              <a:latin typeface="Cambria Math" panose="02040503050406030204" pitchFamily="18" charset="0"/>
                            </a:rPr>
                            <m:t>𝐶</m:t>
                          </m:r>
                        </m:e>
                        <m:sub>
                          <m:r>
                            <a:rPr lang="en-US" altLang="zh-TW" sz="2000" i="1">
                              <a:latin typeface="Cambria Math" panose="02040503050406030204" pitchFamily="18" charset="0"/>
                            </a:rPr>
                            <m:t>𝑜</m:t>
                          </m:r>
                        </m:sub>
                      </m:sSub>
                    </m:oMath>
                  </m:oMathPara>
                </a14:m>
                <a:endParaRPr lang="zh-TW" altLang="en-US" sz="2000" dirty="0"/>
              </a:p>
            </p:txBody>
          </p:sp>
        </mc:Choice>
        <mc:Fallback xmlns="">
          <p:sp>
            <p:nvSpPr>
              <p:cNvPr id="30" name="文字方塊 29">
                <a:extLst>
                  <a:ext uri="{FF2B5EF4-FFF2-40B4-BE49-F238E27FC236}">
                    <a16:creationId xmlns:a16="http://schemas.microsoft.com/office/drawing/2014/main" id="{C1C11164-5429-4655-EF9F-B53EB610A6F2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9880258" y="5030486"/>
                <a:ext cx="534971" cy="400110"/>
              </a:xfrm>
              <a:prstGeom prst="rect">
                <a:avLst/>
              </a:prstGeom>
              <a:blipFill>
                <a:blip r:embed="rId13"/>
                <a:stretch>
                  <a:fillRect/>
                </a:stretch>
              </a:blipFill>
            </p:spPr>
            <p:txBody>
              <a:bodyPr/>
              <a:lstStyle/>
              <a:p>
                <a:r>
                  <a:rPr lang="zh-TW" altLang="en-US">
                    <a:noFill/>
                  </a:rPr>
                  <a:t> </a:t>
                </a:r>
              </a:p>
            </p:txBody>
          </p:sp>
        </mc:Fallback>
      </mc:AlternateContent>
      <p:sp>
        <p:nvSpPr>
          <p:cNvPr id="31" name="文字方塊 30">
            <a:extLst>
              <a:ext uri="{FF2B5EF4-FFF2-40B4-BE49-F238E27FC236}">
                <a16:creationId xmlns:a16="http://schemas.microsoft.com/office/drawing/2014/main" id="{93C6C41E-B257-671C-F05B-53ED17B3836B}"/>
              </a:ext>
            </a:extLst>
          </p:cNvPr>
          <p:cNvSpPr txBox="1"/>
          <p:nvPr/>
        </p:nvSpPr>
        <p:spPr>
          <a:xfrm>
            <a:off x="1012502" y="5875283"/>
            <a:ext cx="3409122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kumimoji="1" lang="zh-TW" altLang="en-US" sz="1600" dirty="0"/>
              <a:t>爲方便同學理解，此頁為 </a:t>
            </a:r>
            <a:r>
              <a:rPr kumimoji="1" lang="en" altLang="zh-TW" sz="1600" dirty="0" err="1"/>
              <a:t>Bahdanau</a:t>
            </a:r>
            <a:r>
              <a:rPr kumimoji="1" lang="en" altLang="zh-TW" sz="1600" dirty="0"/>
              <a:t> et al. (2014). </a:t>
            </a:r>
            <a:r>
              <a:rPr kumimoji="1" lang="zh-TW" altLang="en-US" sz="1600" dirty="0"/>
              <a:t>的模型簡化版</a:t>
            </a:r>
          </a:p>
        </p:txBody>
      </p:sp>
    </p:spTree>
    <p:extLst>
      <p:ext uri="{BB962C8B-B14F-4D97-AF65-F5344CB8AC3E}">
        <p14:creationId xmlns:p14="http://schemas.microsoft.com/office/powerpoint/2010/main" val="1560105479"/>
      </p:ext>
    </p:extLst>
  </p:cSld>
  <p:clrMapOvr>
    <a:masterClrMapping/>
  </p:clrMapOvr>
</p:sld>
</file>

<file path=ppt/slides/slide5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0E38431D-5546-3D3E-ACD4-C342AA56C1A0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標題 1">
            <a:extLst>
              <a:ext uri="{FF2B5EF4-FFF2-40B4-BE49-F238E27FC236}">
                <a16:creationId xmlns:a16="http://schemas.microsoft.com/office/drawing/2014/main" id="{BCA39461-2562-8F4D-EC12-68940223A5E2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>
            <a:normAutofit/>
          </a:bodyPr>
          <a:lstStyle/>
          <a:p>
            <a:r>
              <a:rPr kumimoji="1" lang="zh-TW" altLang="en-US" dirty="0"/>
              <a:t>機器翻譯 </a:t>
            </a:r>
            <a:r>
              <a:rPr kumimoji="1" lang="en-US" altLang="zh-TW" dirty="0"/>
              <a:t>(with Attention, t = 1)</a:t>
            </a:r>
            <a:endParaRPr kumimoji="1" lang="zh-TW" altLang="en-US" dirty="0"/>
          </a:p>
        </p:txBody>
      </p:sp>
      <p:sp>
        <p:nvSpPr>
          <p:cNvPr id="41" name="圓角矩形 40">
            <a:extLst>
              <a:ext uri="{FF2B5EF4-FFF2-40B4-BE49-F238E27FC236}">
                <a16:creationId xmlns:a16="http://schemas.microsoft.com/office/drawing/2014/main" id="{376524F6-EC4E-8F6E-DE34-A2CF55DA3B02}"/>
              </a:ext>
            </a:extLst>
          </p:cNvPr>
          <p:cNvSpPr/>
          <p:nvPr/>
        </p:nvSpPr>
        <p:spPr>
          <a:xfrm rot="5400000">
            <a:off x="1041463" y="4064110"/>
            <a:ext cx="372490" cy="207951"/>
          </a:xfrm>
          <a:prstGeom prst="roundRect">
            <a:avLst/>
          </a:prstGeom>
          <a:solidFill>
            <a:schemeClr val="accent5">
              <a:lumMod val="40000"/>
              <a:lumOff val="60000"/>
            </a:schemeClr>
          </a:solidFill>
          <a:ln w="19050">
            <a:solidFill>
              <a:schemeClr val="tx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kumimoji="1" lang="zh-TW" altLang="en-US"/>
          </a:p>
        </p:txBody>
      </p:sp>
      <p:sp>
        <p:nvSpPr>
          <p:cNvPr id="3" name="投影片編號版面配置區 2">
            <a:extLst>
              <a:ext uri="{FF2B5EF4-FFF2-40B4-BE49-F238E27FC236}">
                <a16:creationId xmlns:a16="http://schemas.microsoft.com/office/drawing/2014/main" id="{36905C5C-E3C9-7F3A-0461-A80BFBB1D2B9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9091681C-F638-B044-A8F2-A1B9864D5A40}" type="slidenum">
              <a:rPr kumimoji="1" lang="zh-TW" altLang="en-US" smtClean="0"/>
              <a:t>52</a:t>
            </a:fld>
            <a:endParaRPr kumimoji="1" lang="zh-TW" altLang="en-US"/>
          </a:p>
        </p:txBody>
      </p:sp>
      <p:cxnSp>
        <p:nvCxnSpPr>
          <p:cNvPr id="36" name="直線接點 35">
            <a:extLst>
              <a:ext uri="{FF2B5EF4-FFF2-40B4-BE49-F238E27FC236}">
                <a16:creationId xmlns:a16="http://schemas.microsoft.com/office/drawing/2014/main" id="{3D02438E-D23C-28FB-8F19-53C97D587803}"/>
              </a:ext>
            </a:extLst>
          </p:cNvPr>
          <p:cNvCxnSpPr/>
          <p:nvPr/>
        </p:nvCxnSpPr>
        <p:spPr>
          <a:xfrm>
            <a:off x="5632911" y="2553196"/>
            <a:ext cx="0" cy="2658906"/>
          </a:xfrm>
          <a:prstGeom prst="line">
            <a:avLst/>
          </a:prstGeom>
          <a:ln w="12700">
            <a:solidFill>
              <a:schemeClr val="tx1"/>
            </a:solidFill>
            <a:prstDash val="dash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45" name="直線箭頭接點 44">
            <a:extLst>
              <a:ext uri="{FF2B5EF4-FFF2-40B4-BE49-F238E27FC236}">
                <a16:creationId xmlns:a16="http://schemas.microsoft.com/office/drawing/2014/main" id="{28B701BB-F73C-7D3F-4153-7B0281D332FA}"/>
              </a:ext>
            </a:extLst>
          </p:cNvPr>
          <p:cNvCxnSpPr>
            <a:cxnSpLocks/>
          </p:cNvCxnSpPr>
          <p:nvPr/>
        </p:nvCxnSpPr>
        <p:spPr>
          <a:xfrm flipH="1">
            <a:off x="1503108" y="4232235"/>
            <a:ext cx="398514" cy="0"/>
          </a:xfrm>
          <a:prstGeom prst="straightConnector1">
            <a:avLst/>
          </a:prstGeom>
          <a:ln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11" name="圓角矩形 10">
            <a:extLst>
              <a:ext uri="{FF2B5EF4-FFF2-40B4-BE49-F238E27FC236}">
                <a16:creationId xmlns:a16="http://schemas.microsoft.com/office/drawing/2014/main" id="{250DFB15-E718-54F8-7A92-D334435D2C06}"/>
              </a:ext>
            </a:extLst>
          </p:cNvPr>
          <p:cNvSpPr/>
          <p:nvPr/>
        </p:nvSpPr>
        <p:spPr>
          <a:xfrm rot="5400000">
            <a:off x="1041463" y="4445564"/>
            <a:ext cx="372490" cy="207951"/>
          </a:xfrm>
          <a:prstGeom prst="roundRect">
            <a:avLst/>
          </a:prstGeom>
          <a:solidFill>
            <a:schemeClr val="accent5">
              <a:lumMod val="40000"/>
              <a:lumOff val="60000"/>
            </a:schemeClr>
          </a:solidFill>
          <a:ln w="19050">
            <a:solidFill>
              <a:schemeClr val="tx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kumimoji="1" lang="zh-TW" altLang="en-US"/>
          </a:p>
        </p:txBody>
      </p:sp>
      <p:cxnSp>
        <p:nvCxnSpPr>
          <p:cNvPr id="15" name="直線箭頭接點 14">
            <a:extLst>
              <a:ext uri="{FF2B5EF4-FFF2-40B4-BE49-F238E27FC236}">
                <a16:creationId xmlns:a16="http://schemas.microsoft.com/office/drawing/2014/main" id="{A93424DE-5BF8-84C2-6BB4-A26332F4F865}"/>
              </a:ext>
            </a:extLst>
          </p:cNvPr>
          <p:cNvCxnSpPr>
            <a:cxnSpLocks/>
          </p:cNvCxnSpPr>
          <p:nvPr/>
        </p:nvCxnSpPr>
        <p:spPr>
          <a:xfrm>
            <a:off x="1524880" y="4544055"/>
            <a:ext cx="398515" cy="0"/>
          </a:xfrm>
          <a:prstGeom prst="straightConnector1">
            <a:avLst/>
          </a:prstGeom>
          <a:ln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26" name="直線箭頭接點 25">
            <a:extLst>
              <a:ext uri="{FF2B5EF4-FFF2-40B4-BE49-F238E27FC236}">
                <a16:creationId xmlns:a16="http://schemas.microsoft.com/office/drawing/2014/main" id="{78CC9FDB-3C32-6A63-B7B8-71E5D310B447}"/>
              </a:ext>
            </a:extLst>
          </p:cNvPr>
          <p:cNvCxnSpPr>
            <a:cxnSpLocks/>
          </p:cNvCxnSpPr>
          <p:nvPr/>
        </p:nvCxnSpPr>
        <p:spPr>
          <a:xfrm>
            <a:off x="2467974" y="4544055"/>
            <a:ext cx="398515" cy="0"/>
          </a:xfrm>
          <a:prstGeom prst="straightConnector1">
            <a:avLst/>
          </a:prstGeom>
          <a:ln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27" name="直線箭頭接點 26">
            <a:extLst>
              <a:ext uri="{FF2B5EF4-FFF2-40B4-BE49-F238E27FC236}">
                <a16:creationId xmlns:a16="http://schemas.microsoft.com/office/drawing/2014/main" id="{A4E3F2B6-4A50-E8C1-7FB0-A49A9C21F838}"/>
              </a:ext>
            </a:extLst>
          </p:cNvPr>
          <p:cNvCxnSpPr>
            <a:cxnSpLocks/>
          </p:cNvCxnSpPr>
          <p:nvPr/>
        </p:nvCxnSpPr>
        <p:spPr>
          <a:xfrm>
            <a:off x="3426184" y="4544055"/>
            <a:ext cx="398515" cy="0"/>
          </a:xfrm>
          <a:prstGeom prst="straightConnector1">
            <a:avLst/>
          </a:prstGeom>
          <a:ln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28" name="直線箭頭接點 27">
            <a:extLst>
              <a:ext uri="{FF2B5EF4-FFF2-40B4-BE49-F238E27FC236}">
                <a16:creationId xmlns:a16="http://schemas.microsoft.com/office/drawing/2014/main" id="{C83A9FE3-C46B-1FD6-920A-B483941EB4AE}"/>
              </a:ext>
            </a:extLst>
          </p:cNvPr>
          <p:cNvCxnSpPr>
            <a:cxnSpLocks/>
          </p:cNvCxnSpPr>
          <p:nvPr/>
        </p:nvCxnSpPr>
        <p:spPr>
          <a:xfrm>
            <a:off x="4419904" y="4544055"/>
            <a:ext cx="398515" cy="0"/>
          </a:xfrm>
          <a:prstGeom prst="straightConnector1">
            <a:avLst/>
          </a:prstGeom>
          <a:ln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29" name="直線箭頭接點 28">
            <a:extLst>
              <a:ext uri="{FF2B5EF4-FFF2-40B4-BE49-F238E27FC236}">
                <a16:creationId xmlns:a16="http://schemas.microsoft.com/office/drawing/2014/main" id="{8BB2F7CF-ABBA-A76B-2655-C966CA2205D8}"/>
              </a:ext>
            </a:extLst>
          </p:cNvPr>
          <p:cNvCxnSpPr>
            <a:cxnSpLocks/>
          </p:cNvCxnSpPr>
          <p:nvPr/>
        </p:nvCxnSpPr>
        <p:spPr>
          <a:xfrm flipH="1">
            <a:off x="2457088" y="4232235"/>
            <a:ext cx="398514" cy="0"/>
          </a:xfrm>
          <a:prstGeom prst="straightConnector1">
            <a:avLst/>
          </a:prstGeom>
          <a:ln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30" name="直線箭頭接點 29">
            <a:extLst>
              <a:ext uri="{FF2B5EF4-FFF2-40B4-BE49-F238E27FC236}">
                <a16:creationId xmlns:a16="http://schemas.microsoft.com/office/drawing/2014/main" id="{1A4A65C0-1E4B-59A1-22B7-CE518455176D}"/>
              </a:ext>
            </a:extLst>
          </p:cNvPr>
          <p:cNvCxnSpPr>
            <a:cxnSpLocks/>
          </p:cNvCxnSpPr>
          <p:nvPr/>
        </p:nvCxnSpPr>
        <p:spPr>
          <a:xfrm flipH="1">
            <a:off x="3415531" y="4232235"/>
            <a:ext cx="398514" cy="0"/>
          </a:xfrm>
          <a:prstGeom prst="straightConnector1">
            <a:avLst/>
          </a:prstGeom>
          <a:ln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31" name="直線箭頭接點 30">
            <a:extLst>
              <a:ext uri="{FF2B5EF4-FFF2-40B4-BE49-F238E27FC236}">
                <a16:creationId xmlns:a16="http://schemas.microsoft.com/office/drawing/2014/main" id="{EBBFB187-D7D9-6989-B047-673065F28D28}"/>
              </a:ext>
            </a:extLst>
          </p:cNvPr>
          <p:cNvCxnSpPr>
            <a:cxnSpLocks/>
          </p:cNvCxnSpPr>
          <p:nvPr/>
        </p:nvCxnSpPr>
        <p:spPr>
          <a:xfrm flipH="1">
            <a:off x="4398132" y="4232235"/>
            <a:ext cx="398514" cy="0"/>
          </a:xfrm>
          <a:prstGeom prst="straightConnector1">
            <a:avLst/>
          </a:prstGeom>
          <a:ln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mc:AlternateContent xmlns:mc="http://schemas.openxmlformats.org/markup-compatibility/2006" xmlns:a14="http://schemas.microsoft.com/office/drawing/2010/main">
        <mc:Choice Requires="a14">
          <p:sp>
            <p:nvSpPr>
              <p:cNvPr id="35" name="文字方塊 34">
                <a:extLst>
                  <a:ext uri="{FF2B5EF4-FFF2-40B4-BE49-F238E27FC236}">
                    <a16:creationId xmlns:a16="http://schemas.microsoft.com/office/drawing/2014/main" id="{C97FBBAE-7163-52FB-D22D-7C7D8AA3163D}"/>
                  </a:ext>
                </a:extLst>
              </p:cNvPr>
              <p:cNvSpPr txBox="1"/>
              <p:nvPr/>
            </p:nvSpPr>
            <p:spPr>
              <a:xfrm>
                <a:off x="543259" y="1378420"/>
                <a:ext cx="1618744" cy="518860"/>
              </a:xfrm>
              <a:prstGeom prst="rect">
                <a:avLst/>
              </a:prstGeom>
              <a:noFill/>
            </p:spPr>
            <p:txBody>
              <a:bodyPr wrap="square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acc>
                        <m:accPr>
                          <m:chr m:val="⃗"/>
                          <m:ctrlPr>
                            <a:rPr lang="zh-TW" altLang="en-US" i="1" smtClean="0">
                              <a:latin typeface="Cambria Math" panose="02040503050406030204" pitchFamily="18" charset="0"/>
                            </a:rPr>
                          </m:ctrlPr>
                        </m:accPr>
                        <m:e>
                          <m:sSub>
                            <m:sSubPr>
                              <m:ctrlPr>
                                <a:rPr lang="zh-TW" altLang="en-US" i="1">
                                  <a:latin typeface="Cambria Math" panose="02040503050406030204" pitchFamily="18" charset="0"/>
                                </a:rPr>
                              </m:ctrlPr>
                            </m:sSubPr>
                            <m:e>
                              <m:r>
                                <a:rPr lang="zh-TW" altLang="en-US" i="1">
                                  <a:latin typeface="Cambria Math" panose="02040503050406030204" pitchFamily="18" charset="0"/>
                                </a:rPr>
                                <m:t>h</m:t>
                              </m:r>
                            </m:e>
                            <m:sub>
                              <m:r>
                                <a:rPr lang="en-US" altLang="zh-TW" b="0" i="1" smtClean="0">
                                  <a:latin typeface="Cambria Math" panose="02040503050406030204" pitchFamily="18" charset="0"/>
                                </a:rPr>
                                <m:t>𝑖</m:t>
                              </m:r>
                            </m:sub>
                          </m:sSub>
                        </m:e>
                      </m:acc>
                      <m:r>
                        <a:rPr lang="en-US" altLang="zh-TW" b="0" i="1" smtClean="0">
                          <a:latin typeface="Cambria Math" panose="02040503050406030204" pitchFamily="18" charset="0"/>
                        </a:rPr>
                        <m:t>=</m:t>
                      </m:r>
                      <m:d>
                        <m:dPr>
                          <m:begChr m:val="["/>
                          <m:endChr m:val="]"/>
                          <m:sepChr m:val=";"/>
                          <m:ctrlPr>
                            <a:rPr lang="zh-TW" altLang="en-US" i="1" smtClean="0">
                              <a:solidFill>
                                <a:schemeClr val="tx1"/>
                              </a:solidFill>
                              <a:latin typeface="Cambria Math" panose="02040503050406030204" pitchFamily="18" charset="0"/>
                            </a:rPr>
                          </m:ctrlPr>
                        </m:dPr>
                        <m:e>
                          <m:acc>
                            <m:accPr>
                              <m:chr m:val="⃗"/>
                              <m:ctrlPr>
                                <a:rPr lang="zh-TW" altLang="en-US" i="1">
                                  <a:solidFill>
                                    <a:schemeClr val="tx1"/>
                                  </a:solidFill>
                                  <a:latin typeface="Cambria Math" panose="02040503050406030204" pitchFamily="18" charset="0"/>
                                </a:rPr>
                              </m:ctrlPr>
                            </m:accPr>
                            <m:e>
                              <m:sSub>
                                <m:sSubPr>
                                  <m:ctrlPr>
                                    <a:rPr lang="zh-TW" altLang="en-US" i="1">
                                      <a:solidFill>
                                        <a:schemeClr val="tx1"/>
                                      </a:solidFill>
                                      <a:latin typeface="Cambria Math" panose="02040503050406030204" pitchFamily="18" charset="0"/>
                                    </a:rPr>
                                  </m:ctrlPr>
                                </m:sSubPr>
                                <m:e>
                                  <m:r>
                                    <a:rPr lang="zh-TW" altLang="en-US" i="1">
                                      <a:solidFill>
                                        <a:schemeClr val="tx1"/>
                                      </a:solidFill>
                                      <a:latin typeface="Cambria Math" panose="02040503050406030204" pitchFamily="18" charset="0"/>
                                    </a:rPr>
                                    <m:t>h</m:t>
                                  </m:r>
                                </m:e>
                                <m:sub>
                                  <m:r>
                                    <a:rPr lang="en-US" altLang="zh-TW" b="0" i="1" smtClean="0">
                                      <a:solidFill>
                                        <a:schemeClr val="tx1"/>
                                      </a:solidFill>
                                      <a:latin typeface="Cambria Math" panose="02040503050406030204" pitchFamily="18" charset="0"/>
                                    </a:rPr>
                                    <m:t>𝑖</m:t>
                                  </m:r>
                                </m:sub>
                              </m:sSub>
                            </m:e>
                          </m:acc>
                        </m:e>
                        <m:e>
                          <m:groupChr>
                            <m:groupChrPr>
                              <m:chr m:val="←"/>
                              <m:pos m:val="top"/>
                              <m:vertJc m:val="bot"/>
                              <m:ctrlPr>
                                <a:rPr lang="zh-TW" altLang="en-US" i="1">
                                  <a:solidFill>
                                    <a:schemeClr val="tx1"/>
                                  </a:solidFill>
                                  <a:latin typeface="Cambria Math" panose="02040503050406030204" pitchFamily="18" charset="0"/>
                                </a:rPr>
                              </m:ctrlPr>
                            </m:groupChrPr>
                            <m:e>
                              <m:sSub>
                                <m:sSubPr>
                                  <m:ctrlPr>
                                    <a:rPr lang="zh-TW" altLang="en-US" i="1">
                                      <a:solidFill>
                                        <a:schemeClr val="tx1"/>
                                      </a:solidFill>
                                      <a:latin typeface="Cambria Math" panose="02040503050406030204" pitchFamily="18" charset="0"/>
                                    </a:rPr>
                                  </m:ctrlPr>
                                </m:sSubPr>
                                <m:e>
                                  <m:r>
                                    <a:rPr lang="zh-TW" altLang="en-US" i="1">
                                      <a:solidFill>
                                        <a:schemeClr val="tx1"/>
                                      </a:solidFill>
                                      <a:latin typeface="Cambria Math" panose="02040503050406030204" pitchFamily="18" charset="0"/>
                                    </a:rPr>
                                    <m:t>h</m:t>
                                  </m:r>
                                </m:e>
                                <m:sub>
                                  <m:r>
                                    <a:rPr lang="en-US" altLang="zh-TW" b="0" i="1" smtClean="0">
                                      <a:solidFill>
                                        <a:schemeClr val="tx1"/>
                                      </a:solidFill>
                                      <a:latin typeface="Cambria Math" panose="02040503050406030204" pitchFamily="18" charset="0"/>
                                    </a:rPr>
                                    <m:t>𝑖</m:t>
                                  </m:r>
                                </m:sub>
                              </m:sSub>
                            </m:e>
                          </m:groupChr>
                        </m:e>
                      </m:d>
                    </m:oMath>
                  </m:oMathPara>
                </a14:m>
                <a:endParaRPr lang="zh-TW" altLang="en-US" dirty="0"/>
              </a:p>
            </p:txBody>
          </p:sp>
        </mc:Choice>
        <mc:Fallback xmlns="">
          <p:sp>
            <p:nvSpPr>
              <p:cNvPr id="35" name="文字方塊 34">
                <a:extLst>
                  <a:ext uri="{FF2B5EF4-FFF2-40B4-BE49-F238E27FC236}">
                    <a16:creationId xmlns:a16="http://schemas.microsoft.com/office/drawing/2014/main" id="{B9289712-839E-74FE-0D78-263EBE951B3D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543259" y="1378420"/>
                <a:ext cx="1618744" cy="518860"/>
              </a:xfrm>
              <a:prstGeom prst="rect">
                <a:avLst/>
              </a:prstGeom>
              <a:blipFill>
                <a:blip r:embed="rId4"/>
                <a:stretch>
                  <a:fillRect/>
                </a:stretch>
              </a:blipFill>
            </p:spPr>
            <p:txBody>
              <a:bodyPr/>
              <a:lstStyle/>
              <a:p>
                <a:r>
                  <a:rPr lang="zh-TW" altLang="en-US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 xmlns:a14="http://schemas.microsoft.com/office/drawing/2010/main">
        <mc:Choice Requires="a14">
          <p:sp>
            <p:nvSpPr>
              <p:cNvPr id="44" name="文字方塊 43">
                <a:extLst>
                  <a:ext uri="{FF2B5EF4-FFF2-40B4-BE49-F238E27FC236}">
                    <a16:creationId xmlns:a16="http://schemas.microsoft.com/office/drawing/2014/main" id="{74803148-7D92-A78B-2D8C-FFD8A3208618}"/>
                  </a:ext>
                </a:extLst>
              </p:cNvPr>
              <p:cNvSpPr txBox="1"/>
              <p:nvPr/>
            </p:nvSpPr>
            <p:spPr>
              <a:xfrm>
                <a:off x="496181" y="4380899"/>
                <a:ext cx="572956" cy="339645"/>
              </a:xfrm>
              <a:prstGeom prst="rect">
                <a:avLst/>
              </a:prstGeom>
              <a:noFill/>
            </p:spPr>
            <p:txBody>
              <a:bodyPr wrap="square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acc>
                        <m:accPr>
                          <m:chr m:val="⃗"/>
                          <m:ctrlPr>
                            <a:rPr lang="zh-TW" altLang="en-US" sz="1400" i="1" smtClean="0">
                              <a:latin typeface="Cambria Math" panose="02040503050406030204" pitchFamily="18" charset="0"/>
                            </a:rPr>
                          </m:ctrlPr>
                        </m:accPr>
                        <m:e>
                          <m:sSub>
                            <m:sSubPr>
                              <m:ctrlPr>
                                <a:rPr lang="zh-TW" altLang="en-US" sz="1400" i="1">
                                  <a:latin typeface="Cambria Math" panose="02040503050406030204" pitchFamily="18" charset="0"/>
                                </a:rPr>
                              </m:ctrlPr>
                            </m:sSubPr>
                            <m:e>
                              <m:r>
                                <a:rPr lang="zh-TW" altLang="en-US" sz="1400" i="1">
                                  <a:latin typeface="Cambria Math" panose="02040503050406030204" pitchFamily="18" charset="0"/>
                                </a:rPr>
                                <m:t>h</m:t>
                              </m:r>
                            </m:e>
                            <m:sub>
                              <m:r>
                                <a:rPr lang="en-US" altLang="zh-TW" sz="1400" b="0" i="1" smtClean="0">
                                  <a:latin typeface="Cambria Math" panose="02040503050406030204" pitchFamily="18" charset="0"/>
                                </a:rPr>
                                <m:t>𝑖</m:t>
                              </m:r>
                            </m:sub>
                          </m:sSub>
                        </m:e>
                      </m:acc>
                    </m:oMath>
                  </m:oMathPara>
                </a14:m>
                <a:endParaRPr lang="zh-TW" altLang="en-US" sz="1400" dirty="0"/>
              </a:p>
            </p:txBody>
          </p:sp>
        </mc:Choice>
        <mc:Fallback xmlns="">
          <p:sp>
            <p:nvSpPr>
              <p:cNvPr id="44" name="文字方塊 43">
                <a:extLst>
                  <a:ext uri="{FF2B5EF4-FFF2-40B4-BE49-F238E27FC236}">
                    <a16:creationId xmlns:a16="http://schemas.microsoft.com/office/drawing/2014/main" id="{6DE65D9D-B8E2-3848-B09B-3CCDC43DFDA3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496181" y="4380899"/>
                <a:ext cx="572956" cy="339645"/>
              </a:xfrm>
              <a:prstGeom prst="rect">
                <a:avLst/>
              </a:prstGeom>
              <a:blipFill>
                <a:blip r:embed="rId5"/>
                <a:stretch>
                  <a:fillRect/>
                </a:stretch>
              </a:blipFill>
            </p:spPr>
            <p:txBody>
              <a:bodyPr/>
              <a:lstStyle/>
              <a:p>
                <a:r>
                  <a:rPr lang="zh-TW" altLang="en-US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 xmlns:a14="http://schemas.microsoft.com/office/drawing/2010/main">
        <mc:Choice Requires="a14">
          <p:sp>
            <p:nvSpPr>
              <p:cNvPr id="47" name="文字方塊 46">
                <a:extLst>
                  <a:ext uri="{FF2B5EF4-FFF2-40B4-BE49-F238E27FC236}">
                    <a16:creationId xmlns:a16="http://schemas.microsoft.com/office/drawing/2014/main" id="{F1CD9EAA-622F-3099-E7EB-A2C567E58827}"/>
                  </a:ext>
                </a:extLst>
              </p:cNvPr>
              <p:cNvSpPr txBox="1"/>
              <p:nvPr/>
            </p:nvSpPr>
            <p:spPr>
              <a:xfrm>
                <a:off x="494670" y="4012978"/>
                <a:ext cx="572956" cy="367921"/>
              </a:xfrm>
              <a:prstGeom prst="rect">
                <a:avLst/>
              </a:prstGeom>
              <a:noFill/>
            </p:spPr>
            <p:txBody>
              <a:bodyPr wrap="square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groupChr>
                        <m:groupChrPr>
                          <m:chr m:val="←"/>
                          <m:pos m:val="top"/>
                          <m:vertJc m:val="bot"/>
                          <m:ctrlPr>
                            <a:rPr lang="zh-TW" altLang="en-US" sz="1400" i="1" smtClean="0">
                              <a:latin typeface="Cambria Math" panose="02040503050406030204" pitchFamily="18" charset="0"/>
                            </a:rPr>
                          </m:ctrlPr>
                        </m:groupChrPr>
                        <m:e>
                          <m:sSub>
                            <m:sSubPr>
                              <m:ctrlPr>
                                <a:rPr lang="zh-TW" altLang="en-US" sz="1400" i="1">
                                  <a:latin typeface="Cambria Math" panose="02040503050406030204" pitchFamily="18" charset="0"/>
                                </a:rPr>
                              </m:ctrlPr>
                            </m:sSubPr>
                            <m:e>
                              <m:r>
                                <a:rPr lang="zh-TW" altLang="en-US" sz="1400" i="1">
                                  <a:latin typeface="Cambria Math" panose="02040503050406030204" pitchFamily="18" charset="0"/>
                                </a:rPr>
                                <m:t>h</m:t>
                              </m:r>
                            </m:e>
                            <m:sub>
                              <m:r>
                                <a:rPr lang="en-US" altLang="zh-TW" sz="1400" b="0" i="1" smtClean="0">
                                  <a:latin typeface="Cambria Math" panose="02040503050406030204" pitchFamily="18" charset="0"/>
                                </a:rPr>
                                <m:t>𝑖</m:t>
                              </m:r>
                            </m:sub>
                          </m:sSub>
                        </m:e>
                      </m:groupChr>
                    </m:oMath>
                  </m:oMathPara>
                </a14:m>
                <a:endParaRPr lang="zh-TW" altLang="en-US" sz="1400" dirty="0"/>
              </a:p>
            </p:txBody>
          </p:sp>
        </mc:Choice>
        <mc:Fallback xmlns="">
          <p:sp>
            <p:nvSpPr>
              <p:cNvPr id="47" name="文字方塊 46">
                <a:extLst>
                  <a:ext uri="{FF2B5EF4-FFF2-40B4-BE49-F238E27FC236}">
                    <a16:creationId xmlns:a16="http://schemas.microsoft.com/office/drawing/2014/main" id="{7C037385-47E8-3BD9-6526-DC079A72442C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494670" y="4012978"/>
                <a:ext cx="572956" cy="367921"/>
              </a:xfrm>
              <a:prstGeom prst="rect">
                <a:avLst/>
              </a:prstGeom>
              <a:blipFill>
                <a:blip r:embed="rId6"/>
                <a:stretch>
                  <a:fillRect/>
                </a:stretch>
              </a:blipFill>
            </p:spPr>
            <p:txBody>
              <a:bodyPr/>
              <a:lstStyle/>
              <a:p>
                <a:r>
                  <a:rPr lang="zh-TW" altLang="en-US">
                    <a:noFill/>
                  </a:rPr>
                  <a:t> </a:t>
                </a:r>
              </a:p>
            </p:txBody>
          </p:sp>
        </mc:Fallback>
      </mc:AlternateContent>
      <p:sp>
        <p:nvSpPr>
          <p:cNvPr id="9" name="圓角矩形 8">
            <a:extLst>
              <a:ext uri="{FF2B5EF4-FFF2-40B4-BE49-F238E27FC236}">
                <a16:creationId xmlns:a16="http://schemas.microsoft.com/office/drawing/2014/main" id="{D4425BFA-9342-5795-6ABF-311868054140}"/>
              </a:ext>
            </a:extLst>
          </p:cNvPr>
          <p:cNvSpPr/>
          <p:nvPr/>
        </p:nvSpPr>
        <p:spPr>
          <a:xfrm rot="5400000">
            <a:off x="2003003" y="4061589"/>
            <a:ext cx="372490" cy="207951"/>
          </a:xfrm>
          <a:prstGeom prst="roundRect">
            <a:avLst/>
          </a:prstGeom>
          <a:solidFill>
            <a:schemeClr val="accent5">
              <a:lumMod val="40000"/>
              <a:lumOff val="60000"/>
            </a:schemeClr>
          </a:solidFill>
          <a:ln w="19050">
            <a:solidFill>
              <a:schemeClr val="tx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kumimoji="1" lang="zh-TW" altLang="en-US"/>
          </a:p>
        </p:txBody>
      </p:sp>
      <p:sp>
        <p:nvSpPr>
          <p:cNvPr id="14" name="圓角矩形 13">
            <a:extLst>
              <a:ext uri="{FF2B5EF4-FFF2-40B4-BE49-F238E27FC236}">
                <a16:creationId xmlns:a16="http://schemas.microsoft.com/office/drawing/2014/main" id="{A0C39102-D8F2-6316-0FD3-C5F337FA1125}"/>
              </a:ext>
            </a:extLst>
          </p:cNvPr>
          <p:cNvSpPr/>
          <p:nvPr/>
        </p:nvSpPr>
        <p:spPr>
          <a:xfrm rot="5400000">
            <a:off x="2003003" y="4443043"/>
            <a:ext cx="372490" cy="207951"/>
          </a:xfrm>
          <a:prstGeom prst="roundRect">
            <a:avLst/>
          </a:prstGeom>
          <a:solidFill>
            <a:schemeClr val="accent5">
              <a:lumMod val="40000"/>
              <a:lumOff val="60000"/>
            </a:schemeClr>
          </a:solidFill>
          <a:ln w="19050">
            <a:solidFill>
              <a:schemeClr val="tx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kumimoji="1" lang="zh-TW" altLang="en-US"/>
          </a:p>
        </p:txBody>
      </p:sp>
      <p:sp>
        <p:nvSpPr>
          <p:cNvPr id="16" name="圓角矩形 15">
            <a:extLst>
              <a:ext uri="{FF2B5EF4-FFF2-40B4-BE49-F238E27FC236}">
                <a16:creationId xmlns:a16="http://schemas.microsoft.com/office/drawing/2014/main" id="{D6173CAE-3872-4DFC-84B5-D16CA32AA5FC}"/>
              </a:ext>
            </a:extLst>
          </p:cNvPr>
          <p:cNvSpPr/>
          <p:nvPr/>
        </p:nvSpPr>
        <p:spPr>
          <a:xfrm rot="5400000">
            <a:off x="2959245" y="4061589"/>
            <a:ext cx="372490" cy="207951"/>
          </a:xfrm>
          <a:prstGeom prst="roundRect">
            <a:avLst/>
          </a:prstGeom>
          <a:solidFill>
            <a:schemeClr val="accent5">
              <a:lumMod val="40000"/>
              <a:lumOff val="60000"/>
            </a:schemeClr>
          </a:solidFill>
          <a:ln w="19050">
            <a:solidFill>
              <a:schemeClr val="tx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kumimoji="1" lang="zh-TW" altLang="en-US"/>
          </a:p>
        </p:txBody>
      </p:sp>
      <p:sp>
        <p:nvSpPr>
          <p:cNvPr id="17" name="圓角矩形 16">
            <a:extLst>
              <a:ext uri="{FF2B5EF4-FFF2-40B4-BE49-F238E27FC236}">
                <a16:creationId xmlns:a16="http://schemas.microsoft.com/office/drawing/2014/main" id="{7B02D0CD-DA34-204B-927F-F9D4E8805674}"/>
              </a:ext>
            </a:extLst>
          </p:cNvPr>
          <p:cNvSpPr/>
          <p:nvPr/>
        </p:nvSpPr>
        <p:spPr>
          <a:xfrm rot="5400000">
            <a:off x="2959245" y="4443043"/>
            <a:ext cx="372490" cy="207951"/>
          </a:xfrm>
          <a:prstGeom prst="roundRect">
            <a:avLst/>
          </a:prstGeom>
          <a:solidFill>
            <a:schemeClr val="accent5">
              <a:lumMod val="40000"/>
              <a:lumOff val="60000"/>
            </a:schemeClr>
          </a:solidFill>
          <a:ln w="19050">
            <a:solidFill>
              <a:schemeClr val="tx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kumimoji="1" lang="zh-TW" altLang="en-US"/>
          </a:p>
        </p:txBody>
      </p:sp>
      <p:sp>
        <p:nvSpPr>
          <p:cNvPr id="18" name="圓角矩形 17">
            <a:extLst>
              <a:ext uri="{FF2B5EF4-FFF2-40B4-BE49-F238E27FC236}">
                <a16:creationId xmlns:a16="http://schemas.microsoft.com/office/drawing/2014/main" id="{5AE87C2F-5F25-41EB-FE8B-23D2AE5E8459}"/>
              </a:ext>
            </a:extLst>
          </p:cNvPr>
          <p:cNvSpPr/>
          <p:nvPr/>
        </p:nvSpPr>
        <p:spPr>
          <a:xfrm rot="5400000">
            <a:off x="3979527" y="4057806"/>
            <a:ext cx="372490" cy="207951"/>
          </a:xfrm>
          <a:prstGeom prst="roundRect">
            <a:avLst/>
          </a:prstGeom>
          <a:solidFill>
            <a:schemeClr val="accent5">
              <a:lumMod val="40000"/>
              <a:lumOff val="60000"/>
            </a:schemeClr>
          </a:solidFill>
          <a:ln w="19050">
            <a:solidFill>
              <a:schemeClr val="tx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kumimoji="1" lang="zh-TW" altLang="en-US"/>
          </a:p>
        </p:txBody>
      </p:sp>
      <p:sp>
        <p:nvSpPr>
          <p:cNvPr id="19" name="圓角矩形 18">
            <a:extLst>
              <a:ext uri="{FF2B5EF4-FFF2-40B4-BE49-F238E27FC236}">
                <a16:creationId xmlns:a16="http://schemas.microsoft.com/office/drawing/2014/main" id="{FAC5CC59-5441-F3C8-A92E-1E16AD9B30B7}"/>
              </a:ext>
            </a:extLst>
          </p:cNvPr>
          <p:cNvSpPr/>
          <p:nvPr/>
        </p:nvSpPr>
        <p:spPr>
          <a:xfrm rot="5400000">
            <a:off x="3979527" y="4439260"/>
            <a:ext cx="372490" cy="207951"/>
          </a:xfrm>
          <a:prstGeom prst="roundRect">
            <a:avLst/>
          </a:prstGeom>
          <a:solidFill>
            <a:schemeClr val="accent5">
              <a:lumMod val="40000"/>
              <a:lumOff val="60000"/>
            </a:schemeClr>
          </a:solidFill>
          <a:ln w="19050">
            <a:solidFill>
              <a:schemeClr val="tx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kumimoji="1" lang="zh-TW" altLang="en-US"/>
          </a:p>
        </p:txBody>
      </p:sp>
      <p:sp>
        <p:nvSpPr>
          <p:cNvPr id="20" name="圓角矩形 19">
            <a:extLst>
              <a:ext uri="{FF2B5EF4-FFF2-40B4-BE49-F238E27FC236}">
                <a16:creationId xmlns:a16="http://schemas.microsoft.com/office/drawing/2014/main" id="{A616EA83-4558-01A2-DD52-D42AB9947B2F}"/>
              </a:ext>
            </a:extLst>
          </p:cNvPr>
          <p:cNvSpPr/>
          <p:nvPr/>
        </p:nvSpPr>
        <p:spPr>
          <a:xfrm rot="5400000">
            <a:off x="4949287" y="4056960"/>
            <a:ext cx="372490" cy="207951"/>
          </a:xfrm>
          <a:prstGeom prst="roundRect">
            <a:avLst/>
          </a:prstGeom>
          <a:solidFill>
            <a:schemeClr val="accent5">
              <a:lumMod val="40000"/>
              <a:lumOff val="60000"/>
            </a:schemeClr>
          </a:solidFill>
          <a:ln w="19050">
            <a:solidFill>
              <a:schemeClr val="tx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kumimoji="1" lang="zh-TW" altLang="en-US"/>
          </a:p>
        </p:txBody>
      </p:sp>
      <p:sp>
        <p:nvSpPr>
          <p:cNvPr id="21" name="圓角矩形 20">
            <a:extLst>
              <a:ext uri="{FF2B5EF4-FFF2-40B4-BE49-F238E27FC236}">
                <a16:creationId xmlns:a16="http://schemas.microsoft.com/office/drawing/2014/main" id="{7053B225-CA4C-4B15-987F-F5221194A362}"/>
              </a:ext>
            </a:extLst>
          </p:cNvPr>
          <p:cNvSpPr/>
          <p:nvPr/>
        </p:nvSpPr>
        <p:spPr>
          <a:xfrm rot="5400000">
            <a:off x="4949287" y="4438414"/>
            <a:ext cx="372490" cy="207951"/>
          </a:xfrm>
          <a:prstGeom prst="roundRect">
            <a:avLst/>
          </a:prstGeom>
          <a:solidFill>
            <a:schemeClr val="accent5">
              <a:lumMod val="40000"/>
              <a:lumOff val="60000"/>
            </a:schemeClr>
          </a:solidFill>
          <a:ln w="19050">
            <a:solidFill>
              <a:schemeClr val="tx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kumimoji="1" lang="zh-TW" altLang="en-US"/>
          </a:p>
        </p:txBody>
      </p:sp>
      <p:sp>
        <p:nvSpPr>
          <p:cNvPr id="22" name="文字方塊 21">
            <a:extLst>
              <a:ext uri="{FF2B5EF4-FFF2-40B4-BE49-F238E27FC236}">
                <a16:creationId xmlns:a16="http://schemas.microsoft.com/office/drawing/2014/main" id="{AC02B190-0061-F490-9FB9-9ADF8A879EE2}"/>
              </a:ext>
            </a:extLst>
          </p:cNvPr>
          <p:cNvSpPr txBox="1"/>
          <p:nvPr/>
        </p:nvSpPr>
        <p:spPr>
          <a:xfrm>
            <a:off x="1028450" y="5876593"/>
            <a:ext cx="398516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kumimoji="1" lang="zh-TW" altLang="en-US" dirty="0"/>
              <a:t>我</a:t>
            </a:r>
          </a:p>
        </p:txBody>
      </p:sp>
      <p:sp>
        <p:nvSpPr>
          <p:cNvPr id="23" name="文字方塊 22">
            <a:extLst>
              <a:ext uri="{FF2B5EF4-FFF2-40B4-BE49-F238E27FC236}">
                <a16:creationId xmlns:a16="http://schemas.microsoft.com/office/drawing/2014/main" id="{65E67001-9BB1-A38D-A03F-2CEB9B897A91}"/>
              </a:ext>
            </a:extLst>
          </p:cNvPr>
          <p:cNvSpPr txBox="1"/>
          <p:nvPr/>
        </p:nvSpPr>
        <p:spPr>
          <a:xfrm>
            <a:off x="1989990" y="5876593"/>
            <a:ext cx="398516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kumimoji="1" lang="zh-TW" altLang="en-US" dirty="0"/>
              <a:t>想</a:t>
            </a:r>
          </a:p>
        </p:txBody>
      </p:sp>
      <p:sp>
        <p:nvSpPr>
          <p:cNvPr id="24" name="文字方塊 23">
            <a:extLst>
              <a:ext uri="{FF2B5EF4-FFF2-40B4-BE49-F238E27FC236}">
                <a16:creationId xmlns:a16="http://schemas.microsoft.com/office/drawing/2014/main" id="{DC639E37-86EE-DA53-EC99-7B174338F27E}"/>
              </a:ext>
            </a:extLst>
          </p:cNvPr>
          <p:cNvSpPr txBox="1"/>
          <p:nvPr/>
        </p:nvSpPr>
        <p:spPr>
          <a:xfrm>
            <a:off x="2946232" y="5876593"/>
            <a:ext cx="398516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kumimoji="1" lang="zh-TW" altLang="en-US" dirty="0"/>
              <a:t>要</a:t>
            </a:r>
          </a:p>
        </p:txBody>
      </p:sp>
      <p:sp>
        <p:nvSpPr>
          <p:cNvPr id="25" name="文字方塊 24">
            <a:extLst>
              <a:ext uri="{FF2B5EF4-FFF2-40B4-BE49-F238E27FC236}">
                <a16:creationId xmlns:a16="http://schemas.microsoft.com/office/drawing/2014/main" id="{CEE52BD5-363B-2E8F-576E-45C658659CF5}"/>
              </a:ext>
            </a:extLst>
          </p:cNvPr>
          <p:cNvSpPr txBox="1"/>
          <p:nvPr/>
        </p:nvSpPr>
        <p:spPr>
          <a:xfrm>
            <a:off x="3966514" y="5876593"/>
            <a:ext cx="398516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kumimoji="1" lang="zh-TW" altLang="en-US" dirty="0"/>
              <a:t>放</a:t>
            </a:r>
          </a:p>
        </p:txBody>
      </p:sp>
      <p:sp>
        <p:nvSpPr>
          <p:cNvPr id="32" name="文字方塊 31">
            <a:extLst>
              <a:ext uri="{FF2B5EF4-FFF2-40B4-BE49-F238E27FC236}">
                <a16:creationId xmlns:a16="http://schemas.microsoft.com/office/drawing/2014/main" id="{507AF3F4-21AE-7FFA-9683-C23BE88481C5}"/>
              </a:ext>
            </a:extLst>
          </p:cNvPr>
          <p:cNvSpPr txBox="1"/>
          <p:nvPr/>
        </p:nvSpPr>
        <p:spPr>
          <a:xfrm>
            <a:off x="4936274" y="5843215"/>
            <a:ext cx="398516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kumimoji="1" lang="zh-TW" altLang="en-US" dirty="0"/>
              <a:t>假</a:t>
            </a:r>
          </a:p>
        </p:txBody>
      </p:sp>
      <p:sp>
        <p:nvSpPr>
          <p:cNvPr id="37" name="矩形 36">
            <a:extLst>
              <a:ext uri="{FF2B5EF4-FFF2-40B4-BE49-F238E27FC236}">
                <a16:creationId xmlns:a16="http://schemas.microsoft.com/office/drawing/2014/main" id="{02AE6685-DA50-CA01-F2B0-99E0E7A2C929}"/>
              </a:ext>
            </a:extLst>
          </p:cNvPr>
          <p:cNvSpPr/>
          <p:nvPr/>
        </p:nvSpPr>
        <p:spPr>
          <a:xfrm>
            <a:off x="911313" y="5134787"/>
            <a:ext cx="575253" cy="379818"/>
          </a:xfrm>
          <a:prstGeom prst="rect">
            <a:avLst/>
          </a:prstGeom>
          <a:noFill/>
          <a:ln>
            <a:solidFill>
              <a:schemeClr val="tx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kumimoji="1" lang="en-US" altLang="zh-TW" sz="1400" dirty="0">
                <a:solidFill>
                  <a:schemeClr val="tx1"/>
                </a:solidFill>
              </a:rPr>
              <a:t>RNN</a:t>
            </a:r>
            <a:endParaRPr kumimoji="1" lang="zh-TW" altLang="en-US" sz="1400" dirty="0">
              <a:solidFill>
                <a:schemeClr val="tx1"/>
              </a:solidFill>
            </a:endParaRPr>
          </a:p>
        </p:txBody>
      </p:sp>
      <p:sp>
        <p:nvSpPr>
          <p:cNvPr id="46" name="矩形 45">
            <a:extLst>
              <a:ext uri="{FF2B5EF4-FFF2-40B4-BE49-F238E27FC236}">
                <a16:creationId xmlns:a16="http://schemas.microsoft.com/office/drawing/2014/main" id="{B6401709-04A5-F183-DDD5-29A87F03E253}"/>
              </a:ext>
            </a:extLst>
          </p:cNvPr>
          <p:cNvSpPr/>
          <p:nvPr/>
        </p:nvSpPr>
        <p:spPr>
          <a:xfrm>
            <a:off x="1901622" y="5134787"/>
            <a:ext cx="575253" cy="379818"/>
          </a:xfrm>
          <a:prstGeom prst="rect">
            <a:avLst/>
          </a:prstGeom>
          <a:noFill/>
          <a:ln>
            <a:solidFill>
              <a:schemeClr val="tx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kumimoji="1" lang="en-US" altLang="zh-TW" sz="1400" dirty="0">
                <a:solidFill>
                  <a:schemeClr val="tx1"/>
                </a:solidFill>
              </a:rPr>
              <a:t>RNN</a:t>
            </a:r>
            <a:endParaRPr kumimoji="1" lang="zh-TW" altLang="en-US" sz="1400" dirty="0">
              <a:solidFill>
                <a:schemeClr val="tx1"/>
              </a:solidFill>
            </a:endParaRPr>
          </a:p>
        </p:txBody>
      </p:sp>
      <p:sp>
        <p:nvSpPr>
          <p:cNvPr id="48" name="矩形 47">
            <a:extLst>
              <a:ext uri="{FF2B5EF4-FFF2-40B4-BE49-F238E27FC236}">
                <a16:creationId xmlns:a16="http://schemas.microsoft.com/office/drawing/2014/main" id="{9D3952DE-13AF-DBC7-3759-68EA07C73E95}"/>
              </a:ext>
            </a:extLst>
          </p:cNvPr>
          <p:cNvSpPr/>
          <p:nvPr/>
        </p:nvSpPr>
        <p:spPr>
          <a:xfrm>
            <a:off x="2850931" y="5134787"/>
            <a:ext cx="575253" cy="379818"/>
          </a:xfrm>
          <a:prstGeom prst="rect">
            <a:avLst/>
          </a:prstGeom>
          <a:noFill/>
          <a:ln>
            <a:solidFill>
              <a:schemeClr val="tx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kumimoji="1" lang="en-US" altLang="zh-TW" sz="1400" dirty="0">
                <a:solidFill>
                  <a:schemeClr val="tx1"/>
                </a:solidFill>
              </a:rPr>
              <a:t>RNN</a:t>
            </a:r>
            <a:endParaRPr kumimoji="1" lang="zh-TW" altLang="en-US" sz="1400" dirty="0">
              <a:solidFill>
                <a:schemeClr val="tx1"/>
              </a:solidFill>
            </a:endParaRPr>
          </a:p>
        </p:txBody>
      </p:sp>
      <p:sp>
        <p:nvSpPr>
          <p:cNvPr id="52" name="矩形 51">
            <a:extLst>
              <a:ext uri="{FF2B5EF4-FFF2-40B4-BE49-F238E27FC236}">
                <a16:creationId xmlns:a16="http://schemas.microsoft.com/office/drawing/2014/main" id="{6DDFA10F-C172-E2DD-DF6E-BC4911DC4425}"/>
              </a:ext>
            </a:extLst>
          </p:cNvPr>
          <p:cNvSpPr/>
          <p:nvPr/>
        </p:nvSpPr>
        <p:spPr>
          <a:xfrm>
            <a:off x="3878145" y="5134787"/>
            <a:ext cx="575253" cy="379818"/>
          </a:xfrm>
          <a:prstGeom prst="rect">
            <a:avLst/>
          </a:prstGeom>
          <a:noFill/>
          <a:ln>
            <a:solidFill>
              <a:schemeClr val="tx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kumimoji="1" lang="en-US" altLang="zh-TW" sz="1400" dirty="0">
                <a:solidFill>
                  <a:schemeClr val="tx1"/>
                </a:solidFill>
              </a:rPr>
              <a:t>RNN</a:t>
            </a:r>
            <a:endParaRPr kumimoji="1" lang="zh-TW" altLang="en-US" sz="1400" dirty="0">
              <a:solidFill>
                <a:schemeClr val="tx1"/>
              </a:solidFill>
            </a:endParaRPr>
          </a:p>
        </p:txBody>
      </p:sp>
      <p:sp>
        <p:nvSpPr>
          <p:cNvPr id="53" name="矩形 52">
            <a:extLst>
              <a:ext uri="{FF2B5EF4-FFF2-40B4-BE49-F238E27FC236}">
                <a16:creationId xmlns:a16="http://schemas.microsoft.com/office/drawing/2014/main" id="{FFE5974F-8EC7-5C80-E80A-AD2B9166DB3F}"/>
              </a:ext>
            </a:extLst>
          </p:cNvPr>
          <p:cNvSpPr/>
          <p:nvPr/>
        </p:nvSpPr>
        <p:spPr>
          <a:xfrm>
            <a:off x="4847905" y="5134787"/>
            <a:ext cx="575253" cy="379818"/>
          </a:xfrm>
          <a:prstGeom prst="rect">
            <a:avLst/>
          </a:prstGeom>
          <a:noFill/>
          <a:ln>
            <a:solidFill>
              <a:schemeClr val="tx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kumimoji="1" lang="en-US" altLang="zh-TW" sz="1400" dirty="0">
                <a:solidFill>
                  <a:schemeClr val="tx1"/>
                </a:solidFill>
              </a:rPr>
              <a:t>RNN</a:t>
            </a:r>
            <a:endParaRPr kumimoji="1" lang="zh-TW" altLang="en-US" sz="1400" dirty="0">
              <a:solidFill>
                <a:schemeClr val="tx1"/>
              </a:solidFill>
            </a:endParaRPr>
          </a:p>
        </p:txBody>
      </p:sp>
      <p:cxnSp>
        <p:nvCxnSpPr>
          <p:cNvPr id="55" name="直線箭頭接點 54">
            <a:extLst>
              <a:ext uri="{FF2B5EF4-FFF2-40B4-BE49-F238E27FC236}">
                <a16:creationId xmlns:a16="http://schemas.microsoft.com/office/drawing/2014/main" id="{002D38E3-A7FE-A896-4381-9DAEA2B63A81}"/>
              </a:ext>
            </a:extLst>
          </p:cNvPr>
          <p:cNvCxnSpPr>
            <a:cxnSpLocks/>
          </p:cNvCxnSpPr>
          <p:nvPr/>
        </p:nvCxnSpPr>
        <p:spPr>
          <a:xfrm flipV="1">
            <a:off x="1216822" y="5607843"/>
            <a:ext cx="0" cy="248679"/>
          </a:xfrm>
          <a:prstGeom prst="straightConnector1">
            <a:avLst/>
          </a:prstGeom>
          <a:ln>
            <a:solidFill>
              <a:schemeClr val="tx1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60" name="直線箭頭接點 59">
            <a:extLst>
              <a:ext uri="{FF2B5EF4-FFF2-40B4-BE49-F238E27FC236}">
                <a16:creationId xmlns:a16="http://schemas.microsoft.com/office/drawing/2014/main" id="{03B1BC5C-1EA3-739D-0B1C-84C775A7F870}"/>
              </a:ext>
            </a:extLst>
          </p:cNvPr>
          <p:cNvCxnSpPr>
            <a:cxnSpLocks/>
          </p:cNvCxnSpPr>
          <p:nvPr/>
        </p:nvCxnSpPr>
        <p:spPr>
          <a:xfrm flipV="1">
            <a:off x="1227708" y="4825311"/>
            <a:ext cx="0" cy="248679"/>
          </a:xfrm>
          <a:prstGeom prst="straightConnector1">
            <a:avLst/>
          </a:prstGeom>
          <a:ln>
            <a:solidFill>
              <a:schemeClr val="tx1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62" name="直線箭頭接點 61">
            <a:extLst>
              <a:ext uri="{FF2B5EF4-FFF2-40B4-BE49-F238E27FC236}">
                <a16:creationId xmlns:a16="http://schemas.microsoft.com/office/drawing/2014/main" id="{475F5E98-B628-9540-B0B3-EB5936B92008}"/>
              </a:ext>
            </a:extLst>
          </p:cNvPr>
          <p:cNvCxnSpPr>
            <a:cxnSpLocks/>
          </p:cNvCxnSpPr>
          <p:nvPr/>
        </p:nvCxnSpPr>
        <p:spPr>
          <a:xfrm flipV="1">
            <a:off x="2189248" y="5607843"/>
            <a:ext cx="0" cy="248679"/>
          </a:xfrm>
          <a:prstGeom prst="straightConnector1">
            <a:avLst/>
          </a:prstGeom>
          <a:ln>
            <a:solidFill>
              <a:schemeClr val="tx1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63" name="直線箭頭接點 62">
            <a:extLst>
              <a:ext uri="{FF2B5EF4-FFF2-40B4-BE49-F238E27FC236}">
                <a16:creationId xmlns:a16="http://schemas.microsoft.com/office/drawing/2014/main" id="{2881F978-315F-25D4-09DE-E5D29933D2AD}"/>
              </a:ext>
            </a:extLst>
          </p:cNvPr>
          <p:cNvCxnSpPr>
            <a:cxnSpLocks/>
          </p:cNvCxnSpPr>
          <p:nvPr/>
        </p:nvCxnSpPr>
        <p:spPr>
          <a:xfrm flipV="1">
            <a:off x="2189248" y="4825311"/>
            <a:ext cx="0" cy="248679"/>
          </a:xfrm>
          <a:prstGeom prst="straightConnector1">
            <a:avLst/>
          </a:prstGeom>
          <a:ln>
            <a:solidFill>
              <a:schemeClr val="tx1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68" name="直線箭頭接點 67">
            <a:extLst>
              <a:ext uri="{FF2B5EF4-FFF2-40B4-BE49-F238E27FC236}">
                <a16:creationId xmlns:a16="http://schemas.microsoft.com/office/drawing/2014/main" id="{06E96EB0-B72C-94A6-D06F-0C6644117DB5}"/>
              </a:ext>
            </a:extLst>
          </p:cNvPr>
          <p:cNvCxnSpPr>
            <a:cxnSpLocks/>
          </p:cNvCxnSpPr>
          <p:nvPr/>
        </p:nvCxnSpPr>
        <p:spPr>
          <a:xfrm flipV="1">
            <a:off x="3150664" y="5607843"/>
            <a:ext cx="0" cy="248679"/>
          </a:xfrm>
          <a:prstGeom prst="straightConnector1">
            <a:avLst/>
          </a:prstGeom>
          <a:ln>
            <a:solidFill>
              <a:schemeClr val="tx1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69" name="直線箭頭接點 68">
            <a:extLst>
              <a:ext uri="{FF2B5EF4-FFF2-40B4-BE49-F238E27FC236}">
                <a16:creationId xmlns:a16="http://schemas.microsoft.com/office/drawing/2014/main" id="{0D462E51-333F-7D4A-BF54-B09F3DEAE997}"/>
              </a:ext>
            </a:extLst>
          </p:cNvPr>
          <p:cNvCxnSpPr>
            <a:cxnSpLocks/>
          </p:cNvCxnSpPr>
          <p:nvPr/>
        </p:nvCxnSpPr>
        <p:spPr>
          <a:xfrm flipV="1">
            <a:off x="3150664" y="4825311"/>
            <a:ext cx="0" cy="248679"/>
          </a:xfrm>
          <a:prstGeom prst="straightConnector1">
            <a:avLst/>
          </a:prstGeom>
          <a:ln>
            <a:solidFill>
              <a:schemeClr val="tx1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70" name="直線箭頭接點 69">
            <a:extLst>
              <a:ext uri="{FF2B5EF4-FFF2-40B4-BE49-F238E27FC236}">
                <a16:creationId xmlns:a16="http://schemas.microsoft.com/office/drawing/2014/main" id="{7E9A7AFB-319B-28EE-66C8-25177B467176}"/>
              </a:ext>
            </a:extLst>
          </p:cNvPr>
          <p:cNvCxnSpPr>
            <a:cxnSpLocks/>
          </p:cNvCxnSpPr>
          <p:nvPr/>
        </p:nvCxnSpPr>
        <p:spPr>
          <a:xfrm flipV="1">
            <a:off x="4165771" y="5607843"/>
            <a:ext cx="0" cy="248679"/>
          </a:xfrm>
          <a:prstGeom prst="straightConnector1">
            <a:avLst/>
          </a:prstGeom>
          <a:ln>
            <a:solidFill>
              <a:schemeClr val="tx1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71" name="直線箭頭接點 70">
            <a:extLst>
              <a:ext uri="{FF2B5EF4-FFF2-40B4-BE49-F238E27FC236}">
                <a16:creationId xmlns:a16="http://schemas.microsoft.com/office/drawing/2014/main" id="{8FDBB8C0-A7E7-4FE3-3052-E729505FB559}"/>
              </a:ext>
            </a:extLst>
          </p:cNvPr>
          <p:cNvCxnSpPr>
            <a:cxnSpLocks/>
          </p:cNvCxnSpPr>
          <p:nvPr/>
        </p:nvCxnSpPr>
        <p:spPr>
          <a:xfrm flipV="1">
            <a:off x="4165771" y="4825311"/>
            <a:ext cx="0" cy="248679"/>
          </a:xfrm>
          <a:prstGeom prst="straightConnector1">
            <a:avLst/>
          </a:prstGeom>
          <a:ln>
            <a:solidFill>
              <a:schemeClr val="tx1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72" name="直線箭頭接點 71">
            <a:extLst>
              <a:ext uri="{FF2B5EF4-FFF2-40B4-BE49-F238E27FC236}">
                <a16:creationId xmlns:a16="http://schemas.microsoft.com/office/drawing/2014/main" id="{B3C5D776-92FB-98D9-F0C3-60F462368829}"/>
              </a:ext>
            </a:extLst>
          </p:cNvPr>
          <p:cNvCxnSpPr>
            <a:cxnSpLocks/>
          </p:cNvCxnSpPr>
          <p:nvPr/>
        </p:nvCxnSpPr>
        <p:spPr>
          <a:xfrm flipV="1">
            <a:off x="5135531" y="5607843"/>
            <a:ext cx="0" cy="248679"/>
          </a:xfrm>
          <a:prstGeom prst="straightConnector1">
            <a:avLst/>
          </a:prstGeom>
          <a:ln>
            <a:solidFill>
              <a:schemeClr val="tx1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73" name="直線箭頭接點 72">
            <a:extLst>
              <a:ext uri="{FF2B5EF4-FFF2-40B4-BE49-F238E27FC236}">
                <a16:creationId xmlns:a16="http://schemas.microsoft.com/office/drawing/2014/main" id="{9A13DDFD-850F-3C51-D71D-BB822FBA4502}"/>
              </a:ext>
            </a:extLst>
          </p:cNvPr>
          <p:cNvCxnSpPr>
            <a:cxnSpLocks/>
          </p:cNvCxnSpPr>
          <p:nvPr/>
        </p:nvCxnSpPr>
        <p:spPr>
          <a:xfrm flipV="1">
            <a:off x="5135531" y="4825311"/>
            <a:ext cx="0" cy="248679"/>
          </a:xfrm>
          <a:prstGeom prst="straightConnector1">
            <a:avLst/>
          </a:prstGeom>
          <a:ln>
            <a:solidFill>
              <a:schemeClr val="tx1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05" name="直線箭頭接點 104">
            <a:extLst>
              <a:ext uri="{FF2B5EF4-FFF2-40B4-BE49-F238E27FC236}">
                <a16:creationId xmlns:a16="http://schemas.microsoft.com/office/drawing/2014/main" id="{0E67C758-9E7F-F551-25E0-503873964593}"/>
              </a:ext>
            </a:extLst>
          </p:cNvPr>
          <p:cNvCxnSpPr>
            <a:cxnSpLocks/>
          </p:cNvCxnSpPr>
          <p:nvPr/>
        </p:nvCxnSpPr>
        <p:spPr>
          <a:xfrm>
            <a:off x="1530350" y="5324624"/>
            <a:ext cx="344029" cy="0"/>
          </a:xfrm>
          <a:prstGeom prst="straightConnector1">
            <a:avLst/>
          </a:prstGeom>
          <a:ln>
            <a:solidFill>
              <a:schemeClr val="tx1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07" name="直線箭頭接點 106">
            <a:extLst>
              <a:ext uri="{FF2B5EF4-FFF2-40B4-BE49-F238E27FC236}">
                <a16:creationId xmlns:a16="http://schemas.microsoft.com/office/drawing/2014/main" id="{DA21A1FD-3B60-513E-CA26-2A7CB38CED46}"/>
              </a:ext>
            </a:extLst>
          </p:cNvPr>
          <p:cNvCxnSpPr>
            <a:cxnSpLocks/>
          </p:cNvCxnSpPr>
          <p:nvPr/>
        </p:nvCxnSpPr>
        <p:spPr>
          <a:xfrm>
            <a:off x="2495216" y="5324624"/>
            <a:ext cx="344029" cy="0"/>
          </a:xfrm>
          <a:prstGeom prst="straightConnector1">
            <a:avLst/>
          </a:prstGeom>
          <a:ln>
            <a:solidFill>
              <a:schemeClr val="tx1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08" name="直線箭頭接點 107">
            <a:extLst>
              <a:ext uri="{FF2B5EF4-FFF2-40B4-BE49-F238E27FC236}">
                <a16:creationId xmlns:a16="http://schemas.microsoft.com/office/drawing/2014/main" id="{9C554C1F-8561-0EE8-5F94-28AFF9B70033}"/>
              </a:ext>
            </a:extLst>
          </p:cNvPr>
          <p:cNvCxnSpPr>
            <a:cxnSpLocks/>
          </p:cNvCxnSpPr>
          <p:nvPr/>
        </p:nvCxnSpPr>
        <p:spPr>
          <a:xfrm>
            <a:off x="3480670" y="5324624"/>
            <a:ext cx="344029" cy="0"/>
          </a:xfrm>
          <a:prstGeom prst="straightConnector1">
            <a:avLst/>
          </a:prstGeom>
          <a:ln>
            <a:solidFill>
              <a:schemeClr val="tx1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09" name="直線箭頭接點 108">
            <a:extLst>
              <a:ext uri="{FF2B5EF4-FFF2-40B4-BE49-F238E27FC236}">
                <a16:creationId xmlns:a16="http://schemas.microsoft.com/office/drawing/2014/main" id="{894FC633-4354-F346-53A8-8E4B7B438E89}"/>
              </a:ext>
            </a:extLst>
          </p:cNvPr>
          <p:cNvCxnSpPr>
            <a:cxnSpLocks/>
          </p:cNvCxnSpPr>
          <p:nvPr/>
        </p:nvCxnSpPr>
        <p:spPr>
          <a:xfrm>
            <a:off x="4492990" y="5324624"/>
            <a:ext cx="344029" cy="0"/>
          </a:xfrm>
          <a:prstGeom prst="straightConnector1">
            <a:avLst/>
          </a:prstGeom>
          <a:ln>
            <a:solidFill>
              <a:schemeClr val="tx1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50" name="圓角矩形 49">
            <a:extLst>
              <a:ext uri="{FF2B5EF4-FFF2-40B4-BE49-F238E27FC236}">
                <a16:creationId xmlns:a16="http://schemas.microsoft.com/office/drawing/2014/main" id="{0D45F2EE-C7F5-368C-9403-2ADD81361F8B}"/>
              </a:ext>
            </a:extLst>
          </p:cNvPr>
          <p:cNvSpPr/>
          <p:nvPr/>
        </p:nvSpPr>
        <p:spPr>
          <a:xfrm rot="16200000">
            <a:off x="6192813" y="4419031"/>
            <a:ext cx="372490" cy="205528"/>
          </a:xfrm>
          <a:prstGeom prst="roundRect">
            <a:avLst/>
          </a:prstGeom>
          <a:solidFill>
            <a:srgbClr val="C6E0B4"/>
          </a:solidFill>
          <a:ln w="19050">
            <a:solidFill>
              <a:schemeClr val="tx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kumimoji="1" lang="zh-TW" altLang="en-US"/>
          </a:p>
        </p:txBody>
      </p:sp>
      <mc:AlternateContent xmlns:mc="http://schemas.openxmlformats.org/markup-compatibility/2006" xmlns:a14="http://schemas.microsoft.com/office/drawing/2010/main">
        <mc:Choice Requires="a14">
          <p:sp>
            <p:nvSpPr>
              <p:cNvPr id="160" name="文字方塊 159">
                <a:extLst>
                  <a:ext uri="{FF2B5EF4-FFF2-40B4-BE49-F238E27FC236}">
                    <a16:creationId xmlns:a16="http://schemas.microsoft.com/office/drawing/2014/main" id="{9497C815-8FF4-0CF0-F8CA-35C3BC834A06}"/>
                  </a:ext>
                </a:extLst>
              </p:cNvPr>
              <p:cNvSpPr txBox="1"/>
              <p:nvPr/>
            </p:nvSpPr>
            <p:spPr>
              <a:xfrm>
                <a:off x="6117565" y="4315478"/>
                <a:ext cx="541313" cy="369332"/>
              </a:xfrm>
              <a:prstGeom prst="rect">
                <a:avLst/>
              </a:prstGeom>
              <a:noFill/>
            </p:spPr>
            <p:txBody>
              <a:bodyPr wrap="square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sSub>
                        <m:sSubPr>
                          <m:ctrlPr>
                            <a:rPr lang="zh-TW" altLang="en-US" i="1" smtClean="0"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a:rPr lang="en-US" altLang="zh-TW" b="0" i="1" smtClean="0">
                              <a:latin typeface="Cambria Math" panose="02040503050406030204" pitchFamily="18" charset="0"/>
                            </a:rPr>
                            <m:t>𝑠</m:t>
                          </m:r>
                        </m:e>
                        <m:sub>
                          <m:r>
                            <a:rPr lang="en-US" altLang="zh-TW" b="0" i="1" smtClean="0">
                              <a:latin typeface="Cambria Math" panose="02040503050406030204" pitchFamily="18" charset="0"/>
                            </a:rPr>
                            <m:t>0</m:t>
                          </m:r>
                        </m:sub>
                      </m:sSub>
                    </m:oMath>
                  </m:oMathPara>
                </a14:m>
                <a:endParaRPr lang="zh-TW" altLang="en-US" dirty="0"/>
              </a:p>
            </p:txBody>
          </p:sp>
        </mc:Choice>
        <mc:Fallback xmlns="">
          <p:sp>
            <p:nvSpPr>
              <p:cNvPr id="160" name="文字方塊 159">
                <a:extLst>
                  <a:ext uri="{FF2B5EF4-FFF2-40B4-BE49-F238E27FC236}">
                    <a16:creationId xmlns:a16="http://schemas.microsoft.com/office/drawing/2014/main" id="{9497C815-8FF4-0CF0-F8CA-35C3BC834A06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6117565" y="4315478"/>
                <a:ext cx="541313" cy="369332"/>
              </a:xfrm>
              <a:prstGeom prst="rect">
                <a:avLst/>
              </a:prstGeom>
              <a:blipFill>
                <a:blip r:embed="rId7"/>
                <a:stretch>
                  <a:fillRect/>
                </a:stretch>
              </a:blipFill>
            </p:spPr>
            <p:txBody>
              <a:bodyPr/>
              <a:lstStyle/>
              <a:p>
                <a:r>
                  <a:rPr lang="zh-TW" altLang="en-US">
                    <a:noFill/>
                  </a:rPr>
                  <a:t> </a:t>
                </a:r>
              </a:p>
            </p:txBody>
          </p:sp>
        </mc:Fallback>
      </mc:AlternateContent>
      <p:sp>
        <p:nvSpPr>
          <p:cNvPr id="7" name="圓角矩形 6">
            <a:extLst>
              <a:ext uri="{FF2B5EF4-FFF2-40B4-BE49-F238E27FC236}">
                <a16:creationId xmlns:a16="http://schemas.microsoft.com/office/drawing/2014/main" id="{82A04A53-5AE8-3133-5905-FA0C75FF65DF}"/>
              </a:ext>
            </a:extLst>
          </p:cNvPr>
          <p:cNvSpPr/>
          <p:nvPr/>
        </p:nvSpPr>
        <p:spPr>
          <a:xfrm>
            <a:off x="1052704" y="3930616"/>
            <a:ext cx="343791" cy="864699"/>
          </a:xfrm>
          <a:prstGeom prst="roundRect">
            <a:avLst/>
          </a:prstGeom>
          <a:noFill/>
          <a:ln>
            <a:solidFill>
              <a:srgbClr val="FF0000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kumimoji="1" lang="zh-TW" altLang="en-US"/>
          </a:p>
        </p:txBody>
      </p:sp>
      <mc:AlternateContent xmlns:mc="http://schemas.openxmlformats.org/markup-compatibility/2006" xmlns:a14="http://schemas.microsoft.com/office/drawing/2010/main">
        <mc:Choice Requires="a14">
          <p:sp>
            <p:nvSpPr>
              <p:cNvPr id="10" name="文字方塊 9">
                <a:extLst>
                  <a:ext uri="{FF2B5EF4-FFF2-40B4-BE49-F238E27FC236}">
                    <a16:creationId xmlns:a16="http://schemas.microsoft.com/office/drawing/2014/main" id="{A6EC48E9-18DA-278B-9B21-E4B208533CD8}"/>
                  </a:ext>
                </a:extLst>
              </p:cNvPr>
              <p:cNvSpPr txBox="1"/>
              <p:nvPr/>
            </p:nvSpPr>
            <p:spPr>
              <a:xfrm>
                <a:off x="949631" y="3265111"/>
                <a:ext cx="575249" cy="400110"/>
              </a:xfrm>
              <a:prstGeom prst="rect">
                <a:avLst/>
              </a:prstGeom>
              <a:noFill/>
            </p:spPr>
            <p:txBody>
              <a:bodyPr wrap="square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sSub>
                        <m:sSubPr>
                          <m:ctrlPr>
                            <a:rPr lang="zh-TW" altLang="zh-TW" sz="2000" i="1" smtClean="0">
                              <a:solidFill>
                                <a:srgbClr val="FF0000"/>
                              </a:solidFill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a:rPr lang="en-US" altLang="zh-TW" sz="2000" i="1">
                              <a:solidFill>
                                <a:srgbClr val="FF0000"/>
                              </a:solidFill>
                              <a:latin typeface="Cambria Math" panose="02040503050406030204" pitchFamily="18" charset="0"/>
                            </a:rPr>
                            <m:t>𝛼</m:t>
                          </m:r>
                        </m:e>
                        <m:sub>
                          <m:r>
                            <a:rPr lang="en-US" altLang="zh-TW" sz="2000" b="0" i="1" smtClean="0">
                              <a:solidFill>
                                <a:srgbClr val="FF0000"/>
                              </a:solidFill>
                              <a:latin typeface="Cambria Math" panose="02040503050406030204" pitchFamily="18" charset="0"/>
                            </a:rPr>
                            <m:t>11</m:t>
                          </m:r>
                        </m:sub>
                      </m:sSub>
                    </m:oMath>
                  </m:oMathPara>
                </a14:m>
                <a:endParaRPr lang="zh-TW" altLang="en-US" sz="2000" dirty="0">
                  <a:solidFill>
                    <a:srgbClr val="FF0000"/>
                  </a:solidFill>
                </a:endParaRPr>
              </a:p>
            </p:txBody>
          </p:sp>
        </mc:Choice>
        <mc:Fallback xmlns="">
          <p:sp>
            <p:nvSpPr>
              <p:cNvPr id="10" name="文字方塊 9">
                <a:extLst>
                  <a:ext uri="{FF2B5EF4-FFF2-40B4-BE49-F238E27FC236}">
                    <a16:creationId xmlns:a16="http://schemas.microsoft.com/office/drawing/2014/main" id="{A6EC48E9-18DA-278B-9B21-E4B208533CD8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949631" y="3265111"/>
                <a:ext cx="575249" cy="400110"/>
              </a:xfrm>
              <a:prstGeom prst="rect">
                <a:avLst/>
              </a:prstGeom>
              <a:blipFill>
                <a:blip r:embed="rId8"/>
                <a:stretch>
                  <a:fillRect/>
                </a:stretch>
              </a:blipFill>
            </p:spPr>
            <p:txBody>
              <a:bodyPr/>
              <a:lstStyle/>
              <a:p>
                <a:r>
                  <a:rPr lang="zh-TW" altLang="en-US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 xmlns:a14="http://schemas.microsoft.com/office/drawing/2010/main">
        <mc:Choice Requires="a14">
          <p:sp>
            <p:nvSpPr>
              <p:cNvPr id="12" name="文字方塊 11">
                <a:extLst>
                  <a:ext uri="{FF2B5EF4-FFF2-40B4-BE49-F238E27FC236}">
                    <a16:creationId xmlns:a16="http://schemas.microsoft.com/office/drawing/2014/main" id="{D3D6131C-2994-13E3-57A8-BC8F96E2B1D1}"/>
                  </a:ext>
                </a:extLst>
              </p:cNvPr>
              <p:cNvSpPr txBox="1"/>
              <p:nvPr/>
            </p:nvSpPr>
            <p:spPr>
              <a:xfrm>
                <a:off x="1874379" y="3265111"/>
                <a:ext cx="575249" cy="400110"/>
              </a:xfrm>
              <a:prstGeom prst="rect">
                <a:avLst/>
              </a:prstGeom>
              <a:noFill/>
            </p:spPr>
            <p:txBody>
              <a:bodyPr wrap="square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sSub>
                        <m:sSubPr>
                          <m:ctrlPr>
                            <a:rPr lang="zh-TW" altLang="zh-TW" sz="2000" i="1" smtClean="0">
                              <a:solidFill>
                                <a:srgbClr val="FF0000"/>
                              </a:solidFill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a:rPr lang="en-US" altLang="zh-TW" sz="2000" i="1">
                              <a:solidFill>
                                <a:srgbClr val="FF0000"/>
                              </a:solidFill>
                              <a:latin typeface="Cambria Math" panose="02040503050406030204" pitchFamily="18" charset="0"/>
                            </a:rPr>
                            <m:t>𝛼</m:t>
                          </m:r>
                        </m:e>
                        <m:sub>
                          <m:r>
                            <a:rPr lang="en-US" altLang="zh-TW" sz="2000" b="0" i="1" smtClean="0">
                              <a:solidFill>
                                <a:srgbClr val="FF0000"/>
                              </a:solidFill>
                              <a:latin typeface="Cambria Math" panose="02040503050406030204" pitchFamily="18" charset="0"/>
                            </a:rPr>
                            <m:t>12</m:t>
                          </m:r>
                        </m:sub>
                      </m:sSub>
                    </m:oMath>
                  </m:oMathPara>
                </a14:m>
                <a:endParaRPr lang="zh-TW" altLang="en-US" sz="2000" dirty="0">
                  <a:solidFill>
                    <a:srgbClr val="FF0000"/>
                  </a:solidFill>
                </a:endParaRPr>
              </a:p>
            </p:txBody>
          </p:sp>
        </mc:Choice>
        <mc:Fallback xmlns="">
          <p:sp>
            <p:nvSpPr>
              <p:cNvPr id="12" name="文字方塊 11">
                <a:extLst>
                  <a:ext uri="{FF2B5EF4-FFF2-40B4-BE49-F238E27FC236}">
                    <a16:creationId xmlns:a16="http://schemas.microsoft.com/office/drawing/2014/main" id="{D3D6131C-2994-13E3-57A8-BC8F96E2B1D1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1874379" y="3265111"/>
                <a:ext cx="575249" cy="400110"/>
              </a:xfrm>
              <a:prstGeom prst="rect">
                <a:avLst/>
              </a:prstGeom>
              <a:blipFill>
                <a:blip r:embed="rId9"/>
                <a:stretch>
                  <a:fillRect/>
                </a:stretch>
              </a:blipFill>
            </p:spPr>
            <p:txBody>
              <a:bodyPr/>
              <a:lstStyle/>
              <a:p>
                <a:r>
                  <a:rPr lang="zh-TW" altLang="en-US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 xmlns:a14="http://schemas.microsoft.com/office/drawing/2010/main">
        <mc:Choice Requires="a14">
          <p:sp>
            <p:nvSpPr>
              <p:cNvPr id="13" name="文字方塊 12">
                <a:extLst>
                  <a:ext uri="{FF2B5EF4-FFF2-40B4-BE49-F238E27FC236}">
                    <a16:creationId xmlns:a16="http://schemas.microsoft.com/office/drawing/2014/main" id="{E20BCC4E-8C48-0C23-C111-DD03E5754B68}"/>
                  </a:ext>
                </a:extLst>
              </p:cNvPr>
              <p:cNvSpPr txBox="1"/>
              <p:nvPr/>
            </p:nvSpPr>
            <p:spPr>
              <a:xfrm>
                <a:off x="2841162" y="3265111"/>
                <a:ext cx="575249" cy="400110"/>
              </a:xfrm>
              <a:prstGeom prst="rect">
                <a:avLst/>
              </a:prstGeom>
              <a:noFill/>
            </p:spPr>
            <p:txBody>
              <a:bodyPr wrap="square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sSub>
                        <m:sSubPr>
                          <m:ctrlPr>
                            <a:rPr lang="zh-TW" altLang="zh-TW" sz="2000" i="1" smtClean="0">
                              <a:solidFill>
                                <a:srgbClr val="FF0000"/>
                              </a:solidFill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a:rPr lang="en-US" altLang="zh-TW" sz="2000" i="1">
                              <a:solidFill>
                                <a:srgbClr val="FF0000"/>
                              </a:solidFill>
                              <a:latin typeface="Cambria Math" panose="02040503050406030204" pitchFamily="18" charset="0"/>
                            </a:rPr>
                            <m:t>𝛼</m:t>
                          </m:r>
                        </m:e>
                        <m:sub>
                          <m:r>
                            <a:rPr lang="en-US" altLang="zh-TW" sz="2000" b="0" i="1" smtClean="0">
                              <a:solidFill>
                                <a:srgbClr val="FF0000"/>
                              </a:solidFill>
                              <a:latin typeface="Cambria Math" panose="02040503050406030204" pitchFamily="18" charset="0"/>
                            </a:rPr>
                            <m:t>13</m:t>
                          </m:r>
                        </m:sub>
                      </m:sSub>
                    </m:oMath>
                  </m:oMathPara>
                </a14:m>
                <a:endParaRPr lang="zh-TW" altLang="en-US" sz="2000" dirty="0">
                  <a:solidFill>
                    <a:srgbClr val="FF0000"/>
                  </a:solidFill>
                </a:endParaRPr>
              </a:p>
            </p:txBody>
          </p:sp>
        </mc:Choice>
        <mc:Fallback xmlns="">
          <p:sp>
            <p:nvSpPr>
              <p:cNvPr id="13" name="文字方塊 12">
                <a:extLst>
                  <a:ext uri="{FF2B5EF4-FFF2-40B4-BE49-F238E27FC236}">
                    <a16:creationId xmlns:a16="http://schemas.microsoft.com/office/drawing/2014/main" id="{E20BCC4E-8C48-0C23-C111-DD03E5754B68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2841162" y="3265111"/>
                <a:ext cx="575249" cy="400110"/>
              </a:xfrm>
              <a:prstGeom prst="rect">
                <a:avLst/>
              </a:prstGeom>
              <a:blipFill>
                <a:blip r:embed="rId10"/>
                <a:stretch>
                  <a:fillRect/>
                </a:stretch>
              </a:blipFill>
            </p:spPr>
            <p:txBody>
              <a:bodyPr/>
              <a:lstStyle/>
              <a:p>
                <a:r>
                  <a:rPr lang="zh-TW" altLang="en-US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 xmlns:a14="http://schemas.microsoft.com/office/drawing/2010/main">
        <mc:Choice Requires="a14">
          <p:sp>
            <p:nvSpPr>
              <p:cNvPr id="33" name="文字方塊 32">
                <a:extLst>
                  <a:ext uri="{FF2B5EF4-FFF2-40B4-BE49-F238E27FC236}">
                    <a16:creationId xmlns:a16="http://schemas.microsoft.com/office/drawing/2014/main" id="{C29CABC4-4080-AB9C-66D5-79E7C6CB611A}"/>
                  </a:ext>
                </a:extLst>
              </p:cNvPr>
              <p:cNvSpPr txBox="1"/>
              <p:nvPr/>
            </p:nvSpPr>
            <p:spPr>
              <a:xfrm>
                <a:off x="3865939" y="3265111"/>
                <a:ext cx="575249" cy="400110"/>
              </a:xfrm>
              <a:prstGeom prst="rect">
                <a:avLst/>
              </a:prstGeom>
              <a:noFill/>
            </p:spPr>
            <p:txBody>
              <a:bodyPr wrap="square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sSub>
                        <m:sSubPr>
                          <m:ctrlPr>
                            <a:rPr lang="zh-TW" altLang="zh-TW" sz="2000" i="1" smtClean="0">
                              <a:solidFill>
                                <a:srgbClr val="FF0000"/>
                              </a:solidFill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a:rPr lang="en-US" altLang="zh-TW" sz="2000" i="1">
                              <a:solidFill>
                                <a:srgbClr val="FF0000"/>
                              </a:solidFill>
                              <a:latin typeface="Cambria Math" panose="02040503050406030204" pitchFamily="18" charset="0"/>
                            </a:rPr>
                            <m:t>𝛼</m:t>
                          </m:r>
                        </m:e>
                        <m:sub>
                          <m:r>
                            <a:rPr lang="en-US" altLang="zh-TW" sz="2000" b="0" i="1" smtClean="0">
                              <a:solidFill>
                                <a:srgbClr val="FF0000"/>
                              </a:solidFill>
                              <a:latin typeface="Cambria Math" panose="02040503050406030204" pitchFamily="18" charset="0"/>
                            </a:rPr>
                            <m:t>14</m:t>
                          </m:r>
                        </m:sub>
                      </m:sSub>
                    </m:oMath>
                  </m:oMathPara>
                </a14:m>
                <a:endParaRPr lang="zh-TW" altLang="en-US" sz="2000" dirty="0">
                  <a:solidFill>
                    <a:srgbClr val="FF0000"/>
                  </a:solidFill>
                </a:endParaRPr>
              </a:p>
            </p:txBody>
          </p:sp>
        </mc:Choice>
        <mc:Fallback xmlns="">
          <p:sp>
            <p:nvSpPr>
              <p:cNvPr id="33" name="文字方塊 32">
                <a:extLst>
                  <a:ext uri="{FF2B5EF4-FFF2-40B4-BE49-F238E27FC236}">
                    <a16:creationId xmlns:a16="http://schemas.microsoft.com/office/drawing/2014/main" id="{C29CABC4-4080-AB9C-66D5-79E7C6CB611A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3865939" y="3265111"/>
                <a:ext cx="575249" cy="400110"/>
              </a:xfrm>
              <a:prstGeom prst="rect">
                <a:avLst/>
              </a:prstGeom>
              <a:blipFill>
                <a:blip r:embed="rId11"/>
                <a:stretch>
                  <a:fillRect/>
                </a:stretch>
              </a:blipFill>
            </p:spPr>
            <p:txBody>
              <a:bodyPr/>
              <a:lstStyle/>
              <a:p>
                <a:r>
                  <a:rPr lang="zh-TW" altLang="en-US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 xmlns:a14="http://schemas.microsoft.com/office/drawing/2010/main">
        <mc:Choice Requires="a14">
          <p:sp>
            <p:nvSpPr>
              <p:cNvPr id="34" name="文字方塊 33">
                <a:extLst>
                  <a:ext uri="{FF2B5EF4-FFF2-40B4-BE49-F238E27FC236}">
                    <a16:creationId xmlns:a16="http://schemas.microsoft.com/office/drawing/2014/main" id="{B414F673-3C4F-2873-A0CB-6CB896A8D54F}"/>
                  </a:ext>
                </a:extLst>
              </p:cNvPr>
              <p:cNvSpPr txBox="1"/>
              <p:nvPr/>
            </p:nvSpPr>
            <p:spPr>
              <a:xfrm>
                <a:off x="4847905" y="3265111"/>
                <a:ext cx="575249" cy="400110"/>
              </a:xfrm>
              <a:prstGeom prst="rect">
                <a:avLst/>
              </a:prstGeom>
              <a:noFill/>
            </p:spPr>
            <p:txBody>
              <a:bodyPr wrap="square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sSub>
                        <m:sSubPr>
                          <m:ctrlPr>
                            <a:rPr lang="zh-TW" altLang="zh-TW" sz="2000" i="1" smtClean="0">
                              <a:solidFill>
                                <a:srgbClr val="FF0000"/>
                              </a:solidFill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a:rPr lang="en-US" altLang="zh-TW" sz="2000" i="1">
                              <a:solidFill>
                                <a:srgbClr val="FF0000"/>
                              </a:solidFill>
                              <a:latin typeface="Cambria Math" panose="02040503050406030204" pitchFamily="18" charset="0"/>
                            </a:rPr>
                            <m:t>𝛼</m:t>
                          </m:r>
                        </m:e>
                        <m:sub>
                          <m:r>
                            <a:rPr lang="en-US" altLang="zh-TW" sz="2000" b="0" i="1" smtClean="0">
                              <a:solidFill>
                                <a:srgbClr val="FF0000"/>
                              </a:solidFill>
                              <a:latin typeface="Cambria Math" panose="02040503050406030204" pitchFamily="18" charset="0"/>
                            </a:rPr>
                            <m:t>15</m:t>
                          </m:r>
                        </m:sub>
                      </m:sSub>
                    </m:oMath>
                  </m:oMathPara>
                </a14:m>
                <a:endParaRPr lang="zh-TW" altLang="en-US" sz="2000" dirty="0">
                  <a:solidFill>
                    <a:srgbClr val="FF0000"/>
                  </a:solidFill>
                </a:endParaRPr>
              </a:p>
            </p:txBody>
          </p:sp>
        </mc:Choice>
        <mc:Fallback xmlns="">
          <p:sp>
            <p:nvSpPr>
              <p:cNvPr id="34" name="文字方塊 33">
                <a:extLst>
                  <a:ext uri="{FF2B5EF4-FFF2-40B4-BE49-F238E27FC236}">
                    <a16:creationId xmlns:a16="http://schemas.microsoft.com/office/drawing/2014/main" id="{B414F673-3C4F-2873-A0CB-6CB896A8D54F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4847905" y="3265111"/>
                <a:ext cx="575249" cy="400110"/>
              </a:xfrm>
              <a:prstGeom prst="rect">
                <a:avLst/>
              </a:prstGeom>
              <a:blipFill>
                <a:blip r:embed="rId12"/>
                <a:stretch>
                  <a:fillRect/>
                </a:stretch>
              </a:blipFill>
            </p:spPr>
            <p:txBody>
              <a:bodyPr/>
              <a:lstStyle/>
              <a:p>
                <a:r>
                  <a:rPr lang="zh-TW" altLang="en-US">
                    <a:noFill/>
                  </a:rPr>
                  <a:t> </a:t>
                </a:r>
              </a:p>
            </p:txBody>
          </p:sp>
        </mc:Fallback>
      </mc:AlternateContent>
      <p:sp>
        <p:nvSpPr>
          <p:cNvPr id="39" name="圓角矩形 38">
            <a:extLst>
              <a:ext uri="{FF2B5EF4-FFF2-40B4-BE49-F238E27FC236}">
                <a16:creationId xmlns:a16="http://schemas.microsoft.com/office/drawing/2014/main" id="{E8C7212F-01A1-1305-85A3-383CCA39AF90}"/>
              </a:ext>
            </a:extLst>
          </p:cNvPr>
          <p:cNvSpPr/>
          <p:nvPr/>
        </p:nvSpPr>
        <p:spPr>
          <a:xfrm>
            <a:off x="2020773" y="3930616"/>
            <a:ext cx="343791" cy="864699"/>
          </a:xfrm>
          <a:prstGeom prst="roundRect">
            <a:avLst/>
          </a:prstGeom>
          <a:noFill/>
          <a:ln>
            <a:solidFill>
              <a:srgbClr val="FF0000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kumimoji="1" lang="zh-TW" altLang="en-US"/>
          </a:p>
        </p:txBody>
      </p:sp>
      <p:sp>
        <p:nvSpPr>
          <p:cNvPr id="40" name="圓角矩形 39">
            <a:extLst>
              <a:ext uri="{FF2B5EF4-FFF2-40B4-BE49-F238E27FC236}">
                <a16:creationId xmlns:a16="http://schemas.microsoft.com/office/drawing/2014/main" id="{F7C0DED8-53BC-1E66-B676-D621B90D47F2}"/>
              </a:ext>
            </a:extLst>
          </p:cNvPr>
          <p:cNvSpPr/>
          <p:nvPr/>
        </p:nvSpPr>
        <p:spPr>
          <a:xfrm>
            <a:off x="2968706" y="3930616"/>
            <a:ext cx="343791" cy="864699"/>
          </a:xfrm>
          <a:prstGeom prst="roundRect">
            <a:avLst/>
          </a:prstGeom>
          <a:noFill/>
          <a:ln>
            <a:solidFill>
              <a:srgbClr val="FF0000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kumimoji="1" lang="zh-TW" altLang="en-US"/>
          </a:p>
        </p:txBody>
      </p:sp>
      <p:sp>
        <p:nvSpPr>
          <p:cNvPr id="42" name="圓角矩形 41">
            <a:extLst>
              <a:ext uri="{FF2B5EF4-FFF2-40B4-BE49-F238E27FC236}">
                <a16:creationId xmlns:a16="http://schemas.microsoft.com/office/drawing/2014/main" id="{3284DA27-CC76-93B6-76AD-97BAF7008C1C}"/>
              </a:ext>
            </a:extLst>
          </p:cNvPr>
          <p:cNvSpPr/>
          <p:nvPr/>
        </p:nvSpPr>
        <p:spPr>
          <a:xfrm>
            <a:off x="3990149" y="3930616"/>
            <a:ext cx="343791" cy="864699"/>
          </a:xfrm>
          <a:prstGeom prst="roundRect">
            <a:avLst/>
          </a:prstGeom>
          <a:noFill/>
          <a:ln>
            <a:solidFill>
              <a:srgbClr val="FF0000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kumimoji="1" lang="zh-TW" altLang="en-US"/>
          </a:p>
        </p:txBody>
      </p:sp>
      <p:sp>
        <p:nvSpPr>
          <p:cNvPr id="43" name="圓角矩形 42">
            <a:extLst>
              <a:ext uri="{FF2B5EF4-FFF2-40B4-BE49-F238E27FC236}">
                <a16:creationId xmlns:a16="http://schemas.microsoft.com/office/drawing/2014/main" id="{C225F537-86B2-F320-A72D-0F0B6D019A20}"/>
              </a:ext>
            </a:extLst>
          </p:cNvPr>
          <p:cNvSpPr/>
          <p:nvPr/>
        </p:nvSpPr>
        <p:spPr>
          <a:xfrm>
            <a:off x="4971597" y="3930616"/>
            <a:ext cx="343791" cy="864699"/>
          </a:xfrm>
          <a:prstGeom prst="roundRect">
            <a:avLst/>
          </a:prstGeom>
          <a:noFill/>
          <a:ln>
            <a:solidFill>
              <a:srgbClr val="FF0000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kumimoji="1" lang="zh-TW" altLang="en-US"/>
          </a:p>
        </p:txBody>
      </p:sp>
      <p:sp>
        <p:nvSpPr>
          <p:cNvPr id="49" name="圓角矩形 48">
            <a:extLst>
              <a:ext uri="{FF2B5EF4-FFF2-40B4-BE49-F238E27FC236}">
                <a16:creationId xmlns:a16="http://schemas.microsoft.com/office/drawing/2014/main" id="{50B3297B-4E35-0837-2581-542A5BB34CAE}"/>
              </a:ext>
            </a:extLst>
          </p:cNvPr>
          <p:cNvSpPr/>
          <p:nvPr/>
        </p:nvSpPr>
        <p:spPr>
          <a:xfrm>
            <a:off x="3024614" y="2596981"/>
            <a:ext cx="249382" cy="534390"/>
          </a:xfrm>
          <a:prstGeom prst="roundRect">
            <a:avLst/>
          </a:prstGeom>
          <a:solidFill>
            <a:schemeClr val="bg1">
              <a:lumMod val="75000"/>
            </a:schemeClr>
          </a:solidFill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kumimoji="1" lang="zh-TW" altLang="en-US" dirty="0">
              <a:solidFill>
                <a:schemeClr val="tx1"/>
              </a:solidFill>
              <a:latin typeface="Cambria Math" panose="02040503050406030204" pitchFamily="18" charset="0"/>
            </a:endParaRPr>
          </a:p>
        </p:txBody>
      </p:sp>
      <mc:AlternateContent xmlns:mc="http://schemas.openxmlformats.org/markup-compatibility/2006" xmlns:a14="http://schemas.microsoft.com/office/drawing/2010/main">
        <mc:Choice Requires="a14">
          <p:sp>
            <p:nvSpPr>
              <p:cNvPr id="54" name="文字方塊 53">
                <a:extLst>
                  <a:ext uri="{FF2B5EF4-FFF2-40B4-BE49-F238E27FC236}">
                    <a16:creationId xmlns:a16="http://schemas.microsoft.com/office/drawing/2014/main" id="{DB3164C6-EE9D-AB51-ABDC-0707697D6083}"/>
                  </a:ext>
                </a:extLst>
              </p:cNvPr>
              <p:cNvSpPr txBox="1"/>
              <p:nvPr/>
            </p:nvSpPr>
            <p:spPr>
              <a:xfrm>
                <a:off x="2315189" y="1717555"/>
                <a:ext cx="1433085" cy="756233"/>
              </a:xfrm>
              <a:prstGeom prst="rect">
                <a:avLst/>
              </a:prstGeom>
              <a:noFill/>
            </p:spPr>
            <p:txBody>
              <a:bodyPr wrap="none" lIns="0" tIns="0" rIns="0" bIns="0" rtlCol="0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sSub>
                        <m:sSubPr>
                          <m:ctrlPr>
                            <a:rPr lang="zh-TW" altLang="zh-TW" i="1" smtClean="0">
                              <a:solidFill>
                                <a:schemeClr val="tx1"/>
                              </a:solidFill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a:rPr lang="en-US" altLang="zh-TW" i="1">
                              <a:solidFill>
                                <a:schemeClr val="tx1"/>
                              </a:solidFill>
                              <a:latin typeface="Cambria Math" panose="02040503050406030204" pitchFamily="18" charset="0"/>
                            </a:rPr>
                            <m:t>𝑐</m:t>
                          </m:r>
                        </m:e>
                        <m:sub>
                          <m:r>
                            <a:rPr lang="en-US" altLang="zh-TW" b="0" i="1" smtClean="0">
                              <a:solidFill>
                                <a:schemeClr val="tx1"/>
                              </a:solidFill>
                              <a:latin typeface="Cambria Math" panose="02040503050406030204" pitchFamily="18" charset="0"/>
                            </a:rPr>
                            <m:t>1</m:t>
                          </m:r>
                        </m:sub>
                      </m:sSub>
                      <m:r>
                        <a:rPr lang="en-US" altLang="zh-TW" i="1">
                          <a:solidFill>
                            <a:schemeClr val="tx1"/>
                          </a:solidFill>
                          <a:latin typeface="Cambria Math" panose="02040503050406030204" pitchFamily="18" charset="0"/>
                        </a:rPr>
                        <m:t>=</m:t>
                      </m:r>
                      <m:nary>
                        <m:naryPr>
                          <m:chr m:val="∑"/>
                          <m:limLoc m:val="undOvr"/>
                          <m:ctrlPr>
                            <a:rPr lang="zh-TW" altLang="zh-TW" i="1">
                              <a:solidFill>
                                <a:schemeClr val="tx1"/>
                              </a:solidFill>
                              <a:latin typeface="Cambria Math" panose="02040503050406030204" pitchFamily="18" charset="0"/>
                            </a:rPr>
                          </m:ctrlPr>
                        </m:naryPr>
                        <m:sub>
                          <m:r>
                            <a:rPr lang="en-US" altLang="zh-TW" i="1">
                              <a:solidFill>
                                <a:schemeClr val="tx1"/>
                              </a:solidFill>
                              <a:latin typeface="Cambria Math" panose="02040503050406030204" pitchFamily="18" charset="0"/>
                            </a:rPr>
                            <m:t>𝑖</m:t>
                          </m:r>
                          <m:r>
                            <a:rPr lang="en-US" altLang="zh-TW" i="1">
                              <a:solidFill>
                                <a:schemeClr val="tx1"/>
                              </a:solidFill>
                              <a:latin typeface="Cambria Math" panose="02040503050406030204" pitchFamily="18" charset="0"/>
                            </a:rPr>
                            <m:t>=1</m:t>
                          </m:r>
                        </m:sub>
                        <m:sup>
                          <m:r>
                            <a:rPr lang="en-US" altLang="zh-TW" i="1">
                              <a:solidFill>
                                <a:schemeClr val="tx1"/>
                              </a:solidFill>
                              <a:latin typeface="Cambria Math" panose="02040503050406030204" pitchFamily="18" charset="0"/>
                            </a:rPr>
                            <m:t>𝑛</m:t>
                          </m:r>
                        </m:sup>
                        <m:e>
                          <m:sSub>
                            <m:sSubPr>
                              <m:ctrlPr>
                                <a:rPr lang="zh-TW" altLang="zh-TW" i="1">
                                  <a:solidFill>
                                    <a:schemeClr val="tx1"/>
                                  </a:solidFill>
                                  <a:latin typeface="Cambria Math" panose="02040503050406030204" pitchFamily="18" charset="0"/>
                                </a:rPr>
                              </m:ctrlPr>
                            </m:sSubPr>
                            <m:e>
                              <m:r>
                                <a:rPr lang="en-US" altLang="zh-TW" i="1">
                                  <a:solidFill>
                                    <a:schemeClr val="tx1"/>
                                  </a:solidFill>
                                  <a:latin typeface="Cambria Math" panose="02040503050406030204" pitchFamily="18" charset="0"/>
                                </a:rPr>
                                <m:t>𝛼</m:t>
                              </m:r>
                            </m:e>
                            <m:sub>
                              <m:r>
                                <a:rPr lang="en-US" altLang="zh-TW" b="0" i="1" smtClean="0">
                                  <a:solidFill>
                                    <a:schemeClr val="tx1"/>
                                  </a:solidFill>
                                  <a:latin typeface="Cambria Math" panose="02040503050406030204" pitchFamily="18" charset="0"/>
                                </a:rPr>
                                <m:t>1</m:t>
                              </m:r>
                              <m:r>
                                <a:rPr lang="en-US" altLang="zh-TW" i="1">
                                  <a:solidFill>
                                    <a:schemeClr val="tx1"/>
                                  </a:solidFill>
                                  <a:latin typeface="Cambria Math" panose="02040503050406030204" pitchFamily="18" charset="0"/>
                                </a:rPr>
                                <m:t>𝑖</m:t>
                              </m:r>
                            </m:sub>
                          </m:sSub>
                          <m:sSub>
                            <m:sSubPr>
                              <m:ctrlPr>
                                <a:rPr lang="zh-TW" altLang="zh-TW" i="1">
                                  <a:solidFill>
                                    <a:schemeClr val="tx1"/>
                                  </a:solidFill>
                                  <a:latin typeface="Cambria Math" panose="02040503050406030204" pitchFamily="18" charset="0"/>
                                </a:rPr>
                              </m:ctrlPr>
                            </m:sSubPr>
                            <m:e>
                              <m:r>
                                <a:rPr lang="en-US" altLang="zh-TW" i="1">
                                  <a:solidFill>
                                    <a:schemeClr val="tx1"/>
                                  </a:solidFill>
                                  <a:latin typeface="Cambria Math" panose="02040503050406030204" pitchFamily="18" charset="0"/>
                                </a:rPr>
                                <m:t>h</m:t>
                              </m:r>
                            </m:e>
                            <m:sub>
                              <m:r>
                                <a:rPr lang="en-US" altLang="zh-TW" i="1">
                                  <a:solidFill>
                                    <a:schemeClr val="tx1"/>
                                  </a:solidFill>
                                  <a:latin typeface="Cambria Math" panose="02040503050406030204" pitchFamily="18" charset="0"/>
                                </a:rPr>
                                <m:t>𝑡</m:t>
                              </m:r>
                            </m:sub>
                          </m:sSub>
                        </m:e>
                      </m:nary>
                    </m:oMath>
                  </m:oMathPara>
                </a14:m>
                <a:endParaRPr lang="zh-TW" altLang="zh-TW" dirty="0">
                  <a:solidFill>
                    <a:schemeClr val="tx1"/>
                  </a:solidFill>
                </a:endParaRPr>
              </a:p>
            </p:txBody>
          </p:sp>
        </mc:Choice>
        <mc:Fallback xmlns="">
          <p:sp>
            <p:nvSpPr>
              <p:cNvPr id="54" name="文字方塊 53">
                <a:extLst>
                  <a:ext uri="{FF2B5EF4-FFF2-40B4-BE49-F238E27FC236}">
                    <a16:creationId xmlns:a16="http://schemas.microsoft.com/office/drawing/2014/main" id="{DB3164C6-EE9D-AB51-ABDC-0707697D6083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2315189" y="1717555"/>
                <a:ext cx="1433085" cy="756233"/>
              </a:xfrm>
              <a:prstGeom prst="rect">
                <a:avLst/>
              </a:prstGeom>
              <a:blipFill>
                <a:blip r:embed="rId13"/>
                <a:stretch>
                  <a:fillRect l="-22807" t="-120000" b="-180000"/>
                </a:stretch>
              </a:blipFill>
            </p:spPr>
            <p:txBody>
              <a:bodyPr/>
              <a:lstStyle/>
              <a:p>
                <a:r>
                  <a:rPr lang="zh-TW" altLang="en-US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 xmlns:a14="http://schemas.microsoft.com/office/drawing/2010/main">
        <mc:Choice Requires="a14">
          <p:sp>
            <p:nvSpPr>
              <p:cNvPr id="5" name="文字方塊 4">
                <a:extLst>
                  <a:ext uri="{FF2B5EF4-FFF2-40B4-BE49-F238E27FC236}">
                    <a16:creationId xmlns:a16="http://schemas.microsoft.com/office/drawing/2014/main" id="{11639B0E-8D90-A23F-374D-E92D636C5417}"/>
                  </a:ext>
                </a:extLst>
              </p:cNvPr>
              <p:cNvSpPr txBox="1"/>
              <p:nvPr/>
            </p:nvSpPr>
            <p:spPr>
              <a:xfrm>
                <a:off x="9380098" y="1474702"/>
                <a:ext cx="2191416" cy="646331"/>
              </a:xfrm>
              <a:prstGeom prst="rect">
                <a:avLst/>
              </a:prstGeom>
              <a:noFill/>
              <a:ln w="19050">
                <a:solidFill>
                  <a:schemeClr val="accent1"/>
                </a:solidFill>
              </a:ln>
            </p:spPr>
            <p:txBody>
              <a:bodyPr wrap="square" rtlCol="0">
                <a:spAutoFit/>
              </a:bodyPr>
              <a:lstStyle/>
              <a:p>
                <a14:m>
                  <m:oMath xmlns:m="http://schemas.openxmlformats.org/officeDocument/2006/math">
                    <m:r>
                      <a:rPr kumimoji="1" lang="en-US" altLang="zh-TW" b="0" i="1" smtClean="0">
                        <a:latin typeface="Cambria Math" panose="02040503050406030204" pitchFamily="18" charset="0"/>
                      </a:rPr>
                      <m:t>𝑖</m:t>
                    </m:r>
                  </m:oMath>
                </a14:m>
                <a:r>
                  <a:rPr kumimoji="1" lang="en-US" altLang="zh-TW" dirty="0"/>
                  <a:t>: encoder timestep</a:t>
                </a:r>
              </a:p>
              <a:p>
                <a14:m>
                  <m:oMath xmlns:m="http://schemas.openxmlformats.org/officeDocument/2006/math">
                    <m:r>
                      <a:rPr kumimoji="1" lang="en-US" altLang="zh-TW" b="0" i="1" smtClean="0">
                        <a:latin typeface="Cambria Math" panose="02040503050406030204" pitchFamily="18" charset="0"/>
                      </a:rPr>
                      <m:t>𝑡</m:t>
                    </m:r>
                  </m:oMath>
                </a14:m>
                <a:r>
                  <a:rPr kumimoji="1" lang="en-US" altLang="zh-TW" dirty="0"/>
                  <a:t>: decoder timestep</a:t>
                </a:r>
              </a:p>
            </p:txBody>
          </p:sp>
        </mc:Choice>
        <mc:Fallback xmlns="">
          <p:sp>
            <p:nvSpPr>
              <p:cNvPr id="5" name="文字方塊 4">
                <a:extLst>
                  <a:ext uri="{FF2B5EF4-FFF2-40B4-BE49-F238E27FC236}">
                    <a16:creationId xmlns:a16="http://schemas.microsoft.com/office/drawing/2014/main" id="{11639B0E-8D90-A23F-374D-E92D636C5417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9380098" y="1474702"/>
                <a:ext cx="2191416" cy="646331"/>
              </a:xfrm>
              <a:prstGeom prst="rect">
                <a:avLst/>
              </a:prstGeom>
              <a:blipFill>
                <a:blip r:embed="rId4"/>
                <a:stretch>
                  <a:fillRect t="-3774" b="-11321"/>
                </a:stretch>
              </a:blipFill>
              <a:ln w="19050">
                <a:solidFill>
                  <a:schemeClr val="accent1"/>
                </a:solidFill>
              </a:ln>
            </p:spPr>
            <p:txBody>
              <a:bodyPr/>
              <a:lstStyle/>
              <a:p>
                <a:r>
                  <a:rPr lang="zh-TW" altLang="en-US">
                    <a:noFill/>
                  </a:rPr>
                  <a:t> </a:t>
                </a:r>
              </a:p>
            </p:txBody>
          </p:sp>
        </mc:Fallback>
      </mc:AlternateContent>
      <p:sp>
        <p:nvSpPr>
          <p:cNvPr id="66" name="文字方塊 65">
            <a:extLst>
              <a:ext uri="{FF2B5EF4-FFF2-40B4-BE49-F238E27FC236}">
                <a16:creationId xmlns:a16="http://schemas.microsoft.com/office/drawing/2014/main" id="{4C98B803-5565-EEEB-6EF5-BFE9BBA885FF}"/>
              </a:ext>
            </a:extLst>
          </p:cNvPr>
          <p:cNvSpPr txBox="1"/>
          <p:nvPr/>
        </p:nvSpPr>
        <p:spPr>
          <a:xfrm>
            <a:off x="2100046" y="2618149"/>
            <a:ext cx="949308" cy="52322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kumimoji="1" lang="en-US" altLang="zh-TW" sz="1400" dirty="0"/>
              <a:t>Context vector</a:t>
            </a:r>
            <a:endParaRPr kumimoji="1" lang="zh-TW" altLang="en-US" sz="1400" dirty="0"/>
          </a:p>
        </p:txBody>
      </p:sp>
      <p:sp>
        <p:nvSpPr>
          <p:cNvPr id="6" name="圓角矩形 5">
            <a:extLst>
              <a:ext uri="{FF2B5EF4-FFF2-40B4-BE49-F238E27FC236}">
                <a16:creationId xmlns:a16="http://schemas.microsoft.com/office/drawing/2014/main" id="{1143D18F-E743-ED2B-3896-652E141B4137}"/>
              </a:ext>
            </a:extLst>
          </p:cNvPr>
          <p:cNvSpPr/>
          <p:nvPr/>
        </p:nvSpPr>
        <p:spPr>
          <a:xfrm>
            <a:off x="6264739" y="4320356"/>
            <a:ext cx="233876" cy="403124"/>
          </a:xfrm>
          <a:prstGeom prst="roundRect">
            <a:avLst/>
          </a:prstGeom>
          <a:noFill/>
          <a:ln w="38100">
            <a:solidFill>
              <a:srgbClr val="FF0000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kumimoji="1" lang="zh-TW" altLang="en-US"/>
          </a:p>
        </p:txBody>
      </p:sp>
      <mc:AlternateContent xmlns:mc="http://schemas.openxmlformats.org/markup-compatibility/2006" xmlns:a14="http://schemas.microsoft.com/office/drawing/2010/main">
        <mc:Choice Requires="a14">
          <p:sp>
            <p:nvSpPr>
              <p:cNvPr id="8" name="文字方塊 7">
                <a:extLst>
                  <a:ext uri="{FF2B5EF4-FFF2-40B4-BE49-F238E27FC236}">
                    <a16:creationId xmlns:a16="http://schemas.microsoft.com/office/drawing/2014/main" id="{C3EB5F19-8203-CE93-CAD3-D6A58CDE6038}"/>
                  </a:ext>
                </a:extLst>
              </p:cNvPr>
              <p:cNvSpPr txBox="1"/>
              <p:nvPr/>
            </p:nvSpPr>
            <p:spPr>
              <a:xfrm>
                <a:off x="6574159" y="4261315"/>
                <a:ext cx="1687922" cy="446725"/>
              </a:xfrm>
              <a:prstGeom prst="rect">
                <a:avLst/>
              </a:prstGeom>
              <a:noFill/>
            </p:spPr>
            <p:txBody>
              <a:bodyPr wrap="square" rtlCol="0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r>
                        <a:rPr lang="en-US" altLang="zh-TW" sz="1800" b="0" i="0" smtClean="0">
                          <a:latin typeface="Cambria Math" panose="02040503050406030204" pitchFamily="18" charset="0"/>
                        </a:rPr>
                        <m:t>=</m:t>
                      </m:r>
                      <m:r>
                        <m:rPr>
                          <m:sty m:val="p"/>
                        </m:rPr>
                        <a:rPr lang="en-US" altLang="zh-TW" sz="1800" b="0" i="0" smtClean="0">
                          <a:latin typeface="Cambria Math" panose="02040503050406030204" pitchFamily="18" charset="0"/>
                        </a:rPr>
                        <m:t>tanh</m:t>
                      </m:r>
                      <m:r>
                        <a:rPr lang="en-US" altLang="zh-TW" sz="1800" b="0" i="1" smtClean="0">
                          <a:latin typeface="Cambria Math" panose="02040503050406030204" pitchFamily="18" charset="0"/>
                        </a:rPr>
                        <m:t>⁡(</m:t>
                      </m:r>
                      <m:sSub>
                        <m:sSubPr>
                          <m:ctrlPr>
                            <a:rPr lang="zh-TW" altLang="zh-TW" i="1">
                              <a:solidFill>
                                <a:srgbClr val="FF0000"/>
                              </a:solidFill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a:rPr lang="en-US" altLang="zh-TW" b="0" i="1" smtClean="0">
                              <a:solidFill>
                                <a:srgbClr val="FF0000"/>
                              </a:solidFill>
                              <a:latin typeface="Cambria Math" panose="02040503050406030204" pitchFamily="18" charset="0"/>
                            </a:rPr>
                            <m:t>𝑊</m:t>
                          </m:r>
                        </m:e>
                        <m:sub>
                          <m:r>
                            <a:rPr lang="en-US" altLang="zh-TW" b="0" i="1" smtClean="0">
                              <a:solidFill>
                                <a:srgbClr val="FF0000"/>
                              </a:solidFill>
                              <a:latin typeface="Cambria Math" panose="02040503050406030204" pitchFamily="18" charset="0"/>
                            </a:rPr>
                            <m:t>𝑠</m:t>
                          </m:r>
                        </m:sub>
                      </m:sSub>
                      <m:groupChr>
                        <m:groupChrPr>
                          <m:chr m:val="←"/>
                          <m:pos m:val="top"/>
                          <m:vertJc m:val="bot"/>
                          <m:ctrlPr>
                            <a:rPr lang="zh-TW" altLang="en-US" sz="1800" i="1" smtClean="0">
                              <a:latin typeface="Cambria Math" panose="02040503050406030204" pitchFamily="18" charset="0"/>
                            </a:rPr>
                          </m:ctrlPr>
                        </m:groupChrPr>
                        <m:e>
                          <m:sSub>
                            <m:sSubPr>
                              <m:ctrlPr>
                                <a:rPr lang="zh-TW" altLang="en-US" sz="1800" i="1">
                                  <a:latin typeface="Cambria Math" panose="02040503050406030204" pitchFamily="18" charset="0"/>
                                </a:rPr>
                              </m:ctrlPr>
                            </m:sSubPr>
                            <m:e>
                              <m:r>
                                <a:rPr lang="zh-TW" altLang="en-US" sz="1800" i="1">
                                  <a:latin typeface="Cambria Math" panose="02040503050406030204" pitchFamily="18" charset="0"/>
                                </a:rPr>
                                <m:t>h</m:t>
                              </m:r>
                            </m:e>
                            <m:sub>
                              <m:r>
                                <a:rPr lang="en-US" altLang="zh-TW" sz="1800" b="0" i="1" smtClean="0">
                                  <a:latin typeface="Cambria Math" panose="02040503050406030204" pitchFamily="18" charset="0"/>
                                </a:rPr>
                                <m:t>1</m:t>
                              </m:r>
                            </m:sub>
                          </m:sSub>
                        </m:e>
                      </m:groupChr>
                      <m:r>
                        <a:rPr lang="en-US" altLang="zh-TW" sz="1800" b="0" i="1" smtClean="0">
                          <a:latin typeface="Cambria Math" panose="02040503050406030204" pitchFamily="18" charset="0"/>
                        </a:rPr>
                        <m:t>)</m:t>
                      </m:r>
                    </m:oMath>
                  </m:oMathPara>
                </a14:m>
                <a:endParaRPr kumimoji="1" lang="zh-TW" altLang="en-US" dirty="0"/>
              </a:p>
            </p:txBody>
          </p:sp>
        </mc:Choice>
        <mc:Fallback xmlns="">
          <p:sp>
            <p:nvSpPr>
              <p:cNvPr id="8" name="文字方塊 7">
                <a:extLst>
                  <a:ext uri="{FF2B5EF4-FFF2-40B4-BE49-F238E27FC236}">
                    <a16:creationId xmlns:a16="http://schemas.microsoft.com/office/drawing/2014/main" id="{C3EB5F19-8203-CE93-CAD3-D6A58CDE6038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6574159" y="4261315"/>
                <a:ext cx="1687922" cy="446725"/>
              </a:xfrm>
              <a:prstGeom prst="rect">
                <a:avLst/>
              </a:prstGeom>
              <a:blipFill>
                <a:blip r:embed="rId14"/>
                <a:stretch>
                  <a:fillRect b="-16667"/>
                </a:stretch>
              </a:blipFill>
            </p:spPr>
            <p:txBody>
              <a:bodyPr/>
              <a:lstStyle/>
              <a:p>
                <a:r>
                  <a:rPr lang="zh-TW" altLang="en-US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 xmlns:a14="http://schemas.microsoft.com/office/drawing/2010/main">
        <mc:Choice Requires="a14">
          <p:sp>
            <p:nvSpPr>
              <p:cNvPr id="38" name="文字方塊 37">
                <a:extLst>
                  <a:ext uri="{FF2B5EF4-FFF2-40B4-BE49-F238E27FC236}">
                    <a16:creationId xmlns:a16="http://schemas.microsoft.com/office/drawing/2014/main" id="{F59F4401-0F10-2DE4-3901-D3C850EFD1C8}"/>
                  </a:ext>
                </a:extLst>
              </p:cNvPr>
              <p:cNvSpPr txBox="1"/>
              <p:nvPr/>
            </p:nvSpPr>
            <p:spPr>
              <a:xfrm>
                <a:off x="7758815" y="2464892"/>
                <a:ext cx="4204465" cy="1200329"/>
              </a:xfrm>
              <a:prstGeom prst="rect">
                <a:avLst/>
              </a:prstGeom>
              <a:noFill/>
            </p:spPr>
            <p:txBody>
              <a:bodyPr wrap="square" rtlCol="0">
                <a:spAutoFit/>
              </a:bodyPr>
              <a:lstStyle/>
              <a:p>
                <a:pPr>
                  <a:lnSpc>
                    <a:spcPct val="200000"/>
                  </a:lnSpc>
                </a:pPr>
                <a:r>
                  <a:rPr lang="en-US" altLang="zh-TW" dirty="0">
                    <a:latin typeface="Cambria Math" panose="02040503050406030204" pitchFamily="18" charset="0"/>
                  </a:rPr>
                  <a:t>Given </a:t>
                </a:r>
                <a:r>
                  <a:rPr lang="en-US" altLang="zh-TW" dirty="0" err="1">
                    <a:latin typeface="Cambria Math" panose="02040503050406030204" pitchFamily="18" charset="0"/>
                  </a:rPr>
                  <a:t>i</a:t>
                </a:r>
                <a:r>
                  <a:rPr lang="en-US" altLang="zh-TW" dirty="0">
                    <a:latin typeface="Cambria Math" panose="02040503050406030204" pitchFamily="18" charset="0"/>
                  </a:rPr>
                  <a:t> </a:t>
                </a:r>
                <a14:m>
                  <m:oMath xmlns:m="http://schemas.openxmlformats.org/officeDocument/2006/math">
                    <m:r>
                      <a:rPr lang="en-US" altLang="zh-TW" sz="1800" i="1" smtClean="0">
                        <a:effectLst/>
                        <a:latin typeface="Cambria Math" panose="02040503050406030204" pitchFamily="18" charset="0"/>
                        <a:ea typeface="新細明體" panose="02020500000000000000" pitchFamily="18" charset="-120"/>
                        <a:cs typeface="Times New Roman" panose="02020603050405020304" pitchFamily="18" charset="0"/>
                      </a:rPr>
                      <m:t>∈</m:t>
                    </m:r>
                  </m:oMath>
                </a14:m>
                <a:r>
                  <a:rPr lang="zh-TW" altLang="zh-TW" dirty="0">
                    <a:effectLst/>
                  </a:rPr>
                  <a:t> </a:t>
                </a:r>
                <a:r>
                  <a:rPr lang="en-US" altLang="zh-TW" dirty="0">
                    <a:latin typeface="Cambria Math" panose="02040503050406030204" pitchFamily="18" charset="0"/>
                  </a:rPr>
                  <a:t>{1, ..., n},</a:t>
                </a:r>
              </a:p>
              <a:p>
                <a:pPr>
                  <a:lnSpc>
                    <a:spcPct val="200000"/>
                  </a:lnSpc>
                </a:pPr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sSub>
                        <m:sSubPr>
                          <m:ctrlPr>
                            <a:rPr lang="zh-TW" altLang="zh-TW" i="1"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a:rPr lang="en-US" altLang="zh-TW" i="1">
                              <a:latin typeface="Cambria Math" panose="02040503050406030204" pitchFamily="18" charset="0"/>
                            </a:rPr>
                            <m:t>𝛼</m:t>
                          </m:r>
                        </m:e>
                        <m:sub>
                          <m:r>
                            <a:rPr lang="en-US" altLang="zh-TW" b="0" i="1" smtClean="0">
                              <a:latin typeface="Cambria Math" panose="02040503050406030204" pitchFamily="18" charset="0"/>
                            </a:rPr>
                            <m:t>1</m:t>
                          </m:r>
                          <m:r>
                            <a:rPr lang="en-US" altLang="zh-TW" i="1">
                              <a:latin typeface="Cambria Math" panose="02040503050406030204" pitchFamily="18" charset="0"/>
                            </a:rPr>
                            <m:t>𝑖</m:t>
                          </m:r>
                        </m:sub>
                      </m:sSub>
                      <m:r>
                        <a:rPr lang="en-US" altLang="zh-TW" b="0" i="1" smtClean="0">
                          <a:latin typeface="Cambria Math" panose="02040503050406030204" pitchFamily="18" charset="0"/>
                        </a:rPr>
                        <m:t>=</m:t>
                      </m:r>
                      <m:r>
                        <m:rPr>
                          <m:sty m:val="p"/>
                        </m:rPr>
                        <a:rPr lang="en-US" altLang="zh-TW" b="0" i="0" smtClean="0">
                          <a:latin typeface="Cambria Math" panose="02040503050406030204" pitchFamily="18" charset="0"/>
                        </a:rPr>
                        <m:t>s</m:t>
                      </m:r>
                      <m:r>
                        <m:rPr>
                          <m:sty m:val="p"/>
                        </m:rPr>
                        <a:rPr lang="en-US" altLang="zh-TW">
                          <a:latin typeface="Cambria Math" panose="02040503050406030204" pitchFamily="18" charset="0"/>
                        </a:rPr>
                        <m:t>oftmax</m:t>
                      </m:r>
                      <m:r>
                        <a:rPr lang="en-US" altLang="zh-TW" b="0" i="1" smtClean="0">
                          <a:latin typeface="Cambria Math" panose="02040503050406030204" pitchFamily="18" charset="0"/>
                        </a:rPr>
                        <m:t>(</m:t>
                      </m:r>
                      <m:r>
                        <a:rPr lang="en-US" altLang="zh-TW" sz="1800" i="1" kern="100" smtClean="0">
                          <a:effectLst/>
                          <a:latin typeface="Cambria Math" panose="02040503050406030204" pitchFamily="18" charset="0"/>
                          <a:ea typeface="新細明體" panose="02020500000000000000" pitchFamily="18" charset="-120"/>
                          <a:cs typeface="Times New Roman" panose="02020603050405020304" pitchFamily="18" charset="0"/>
                        </a:rPr>
                        <m:t>𝑣</m:t>
                      </m:r>
                      <m:r>
                        <a:rPr lang="en-US" altLang="zh-TW" sz="1800" kern="100" smtClean="0">
                          <a:effectLst/>
                          <a:latin typeface="Cambria Math" panose="02040503050406030204" pitchFamily="18" charset="0"/>
                          <a:ea typeface="新細明體" panose="02020500000000000000" pitchFamily="18" charset="-120"/>
                          <a:cs typeface="Times New Roman" panose="02020603050405020304" pitchFamily="18" charset="0"/>
                        </a:rPr>
                        <m:t>⋅</m:t>
                      </m:r>
                      <m:func>
                        <m:funcPr>
                          <m:ctrlPr>
                            <a:rPr lang="en-US" altLang="zh-TW" sz="1800" i="1" kern="100" smtClean="0">
                              <a:effectLst/>
                              <a:latin typeface="Cambria Math" panose="02040503050406030204" pitchFamily="18" charset="0"/>
                              <a:ea typeface="新細明體" panose="02020500000000000000" pitchFamily="18" charset="-120"/>
                              <a:cs typeface="Times New Roman" panose="02020603050405020304" pitchFamily="18" charset="0"/>
                            </a:rPr>
                          </m:ctrlPr>
                        </m:funcPr>
                        <m:fName>
                          <m:r>
                            <m:rPr>
                              <m:sty m:val="p"/>
                            </m:rPr>
                            <a:rPr lang="en-US" altLang="zh-TW" sz="1800" kern="100" smtClean="0">
                              <a:effectLst/>
                              <a:latin typeface="Cambria Math" panose="02040503050406030204" pitchFamily="18" charset="0"/>
                              <a:ea typeface="新細明體" panose="02020500000000000000" pitchFamily="18" charset="-120"/>
                              <a:cs typeface="Times New Roman" panose="02020603050405020304" pitchFamily="18" charset="0"/>
                            </a:rPr>
                            <m:t>tanh</m:t>
                          </m:r>
                        </m:fName>
                        <m:e>
                          <m:d>
                            <m:dPr>
                              <m:ctrlPr>
                                <a:rPr lang="en-US" altLang="zh-TW" sz="1800" i="1" kern="100">
                                  <a:effectLst/>
                                  <a:latin typeface="Cambria Math" panose="02040503050406030204" pitchFamily="18" charset="0"/>
                                  <a:ea typeface="新細明體" panose="02020500000000000000" pitchFamily="18" charset="-120"/>
                                  <a:cs typeface="Times New Roman" panose="02020603050405020304" pitchFamily="18" charset="0"/>
                                </a:rPr>
                              </m:ctrlPr>
                            </m:dPr>
                            <m:e>
                              <m:r>
                                <a:rPr lang="en-US" altLang="zh-TW" sz="1800" i="1" kern="100">
                                  <a:effectLst/>
                                  <a:latin typeface="Cambria Math" panose="02040503050406030204" pitchFamily="18" charset="0"/>
                                  <a:ea typeface="新細明體" panose="02020500000000000000" pitchFamily="18" charset="-120"/>
                                  <a:cs typeface="Times New Roman" panose="02020603050405020304" pitchFamily="18" charset="0"/>
                                </a:rPr>
                                <m:t>𝑊</m:t>
                              </m:r>
                              <m:sSub>
                                <m:sSubPr>
                                  <m:ctrlPr>
                                    <a:rPr lang="zh-TW" altLang="zh-TW" sz="1800" i="1" kern="100">
                                      <a:effectLst/>
                                      <a:latin typeface="Cambria Math" panose="02040503050406030204" pitchFamily="18" charset="0"/>
                                      <a:ea typeface="Cambria Math" panose="02040503050406030204" pitchFamily="18" charset="0"/>
                                      <a:cs typeface="Times New Roman" panose="02020603050405020304" pitchFamily="18" charset="0"/>
                                    </a:rPr>
                                  </m:ctrlPr>
                                </m:sSubPr>
                                <m:e>
                                  <m:r>
                                    <a:rPr lang="en-US" altLang="zh-TW" sz="1800" i="1" kern="100">
                                      <a:effectLst/>
                                      <a:latin typeface="Cambria Math" panose="02040503050406030204" pitchFamily="18" charset="0"/>
                                      <a:ea typeface="新細明體" panose="02020500000000000000" pitchFamily="18" charset="-120"/>
                                      <a:cs typeface="Times New Roman" panose="02020603050405020304" pitchFamily="18" charset="0"/>
                                    </a:rPr>
                                    <m:t>𝑠</m:t>
                                  </m:r>
                                </m:e>
                                <m:sub>
                                  <m:r>
                                    <a:rPr lang="en-US" altLang="zh-TW" sz="1800" b="0" i="1" kern="100" smtClean="0">
                                      <a:effectLst/>
                                      <a:latin typeface="Cambria Math" panose="02040503050406030204" pitchFamily="18" charset="0"/>
                                      <a:ea typeface="新細明體" panose="02020500000000000000" pitchFamily="18" charset="-120"/>
                                      <a:cs typeface="Times New Roman" panose="02020603050405020304" pitchFamily="18" charset="0"/>
                                    </a:rPr>
                                    <m:t>0</m:t>
                                  </m:r>
                                </m:sub>
                              </m:sSub>
                              <m:r>
                                <a:rPr lang="en-US" altLang="zh-TW" sz="1800" i="1" kern="100">
                                  <a:effectLst/>
                                  <a:latin typeface="Cambria Math" panose="02040503050406030204" pitchFamily="18" charset="0"/>
                                  <a:ea typeface="新細明體" panose="02020500000000000000" pitchFamily="18" charset="-120"/>
                                  <a:cs typeface="Times New Roman" panose="02020603050405020304" pitchFamily="18" charset="0"/>
                                </a:rPr>
                                <m:t>+</m:t>
                              </m:r>
                              <m:r>
                                <a:rPr lang="en-US" altLang="zh-TW" sz="1800" i="1" kern="100">
                                  <a:effectLst/>
                                  <a:latin typeface="Cambria Math" panose="02040503050406030204" pitchFamily="18" charset="0"/>
                                  <a:ea typeface="新細明體" panose="02020500000000000000" pitchFamily="18" charset="-120"/>
                                  <a:cs typeface="Times New Roman" panose="02020603050405020304" pitchFamily="18" charset="0"/>
                                </a:rPr>
                                <m:t>𝑈</m:t>
                              </m:r>
                              <m:sSub>
                                <m:sSubPr>
                                  <m:ctrlPr>
                                    <a:rPr lang="zh-TW" altLang="zh-TW" sz="1800" i="1" kern="100">
                                      <a:effectLst/>
                                      <a:latin typeface="Cambria Math" panose="02040503050406030204" pitchFamily="18" charset="0"/>
                                      <a:ea typeface="Cambria Math" panose="02040503050406030204" pitchFamily="18" charset="0"/>
                                      <a:cs typeface="Times New Roman" panose="02020603050405020304" pitchFamily="18" charset="0"/>
                                    </a:rPr>
                                  </m:ctrlPr>
                                </m:sSubPr>
                                <m:e>
                                  <m:r>
                                    <a:rPr lang="en-US" altLang="zh-TW" sz="1800" i="1" kern="100">
                                      <a:effectLst/>
                                      <a:latin typeface="Cambria Math" panose="02040503050406030204" pitchFamily="18" charset="0"/>
                                      <a:ea typeface="新細明體" panose="02020500000000000000" pitchFamily="18" charset="-120"/>
                                      <a:cs typeface="Times New Roman" panose="02020603050405020304" pitchFamily="18" charset="0"/>
                                    </a:rPr>
                                    <m:t>h</m:t>
                                  </m:r>
                                </m:e>
                                <m:sub>
                                  <m:r>
                                    <a:rPr lang="en-US" altLang="zh-TW" sz="1800" i="1" kern="100">
                                      <a:effectLst/>
                                      <a:latin typeface="Cambria Math" panose="02040503050406030204" pitchFamily="18" charset="0"/>
                                      <a:ea typeface="新細明體" panose="02020500000000000000" pitchFamily="18" charset="-120"/>
                                      <a:cs typeface="Times New Roman" panose="02020603050405020304" pitchFamily="18" charset="0"/>
                                    </a:rPr>
                                    <m:t>𝑖</m:t>
                                  </m:r>
                                </m:sub>
                              </m:sSub>
                            </m:e>
                          </m:d>
                        </m:e>
                      </m:func>
                      <m:r>
                        <a:rPr lang="en-US" altLang="zh-TW" sz="1800" b="0" i="1" kern="100" smtClean="0">
                          <a:effectLst/>
                          <a:latin typeface="Cambria Math" panose="02040503050406030204" pitchFamily="18" charset="0"/>
                          <a:ea typeface="新細明體" panose="02020500000000000000" pitchFamily="18" charset="-120"/>
                          <a:cs typeface="Times New Roman" panose="02020603050405020304" pitchFamily="18" charset="0"/>
                        </a:rPr>
                        <m:t>)</m:t>
                      </m:r>
                    </m:oMath>
                  </m:oMathPara>
                </a14:m>
                <a:endParaRPr lang="en-US" altLang="zh-TW" sz="1800" kern="100" dirty="0">
                  <a:effectLst/>
                  <a:latin typeface="Aptos" panose="020B0004020202020204" pitchFamily="34" charset="0"/>
                  <a:ea typeface="新細明體" panose="02020500000000000000" pitchFamily="18" charset="-120"/>
                  <a:cs typeface="Times New Roman" panose="02020603050405020304" pitchFamily="18" charset="0"/>
                </a:endParaRPr>
              </a:p>
            </p:txBody>
          </p:sp>
        </mc:Choice>
        <mc:Fallback xmlns="">
          <p:sp>
            <p:nvSpPr>
              <p:cNvPr id="38" name="文字方塊 37">
                <a:extLst>
                  <a:ext uri="{FF2B5EF4-FFF2-40B4-BE49-F238E27FC236}">
                    <a16:creationId xmlns:a16="http://schemas.microsoft.com/office/drawing/2014/main" id="{F59F4401-0F10-2DE4-3901-D3C850EFD1C8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7758815" y="2464892"/>
                <a:ext cx="4204465" cy="1200329"/>
              </a:xfrm>
              <a:prstGeom prst="rect">
                <a:avLst/>
              </a:prstGeom>
              <a:blipFill>
                <a:blip r:embed="rId15"/>
                <a:stretch>
                  <a:fillRect l="-1511"/>
                </a:stretch>
              </a:blipFill>
            </p:spPr>
            <p:txBody>
              <a:bodyPr/>
              <a:lstStyle/>
              <a:p>
                <a:r>
                  <a:rPr lang="zh-TW" altLang="en-US">
                    <a:noFill/>
                  </a:rPr>
                  <a:t> </a:t>
                </a:r>
              </a:p>
            </p:txBody>
          </p:sp>
        </mc:Fallback>
      </mc:AlternateContent>
    </p:spTree>
    <p:extLst>
      <p:ext uri="{BB962C8B-B14F-4D97-AF65-F5344CB8AC3E}">
        <p14:creationId xmlns:p14="http://schemas.microsoft.com/office/powerpoint/2010/main" val="1353181488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7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9" fill="hold">
                      <p:stCondLst>
                        <p:cond delay="indefinite"/>
                      </p:stCondLst>
                      <p:childTnLst>
                        <p:par>
                          <p:cTn id="10" fill="hold">
                            <p:stCondLst>
                              <p:cond delay="0"/>
                            </p:stCondLst>
                            <p:childTnLst>
                              <p:par>
                                <p:cTn id="11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" presetClass="exit" presetSubtype="0" fill="hold" grpId="1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7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9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1" fill="hold">
                      <p:stCondLst>
                        <p:cond delay="indefinite"/>
                      </p:stCondLst>
                      <p:childTnLst>
                        <p:par>
                          <p:cTn id="22" fill="hold">
                            <p:stCondLst>
                              <p:cond delay="0"/>
                            </p:stCondLst>
                            <p:childTnLst>
                              <p:par>
                                <p:cTn id="23" presetID="1" presetClass="exit" presetSubtype="0" fill="hold" grpId="1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25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27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9" fill="hold">
                      <p:stCondLst>
                        <p:cond delay="indefinite"/>
                      </p:stCondLst>
                      <p:childTnLst>
                        <p:par>
                          <p:cTn id="30" fill="hold">
                            <p:stCondLst>
                              <p:cond delay="0"/>
                            </p:stCondLst>
                            <p:childTnLst>
                              <p:par>
                                <p:cTn id="31" presetID="1" presetClass="exit" presetSubtype="0" fill="hold" grpId="1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33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35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7" fill="hold">
                      <p:stCondLst>
                        <p:cond delay="indefinite"/>
                      </p:stCondLst>
                      <p:childTnLst>
                        <p:par>
                          <p:cTn id="38" fill="hold">
                            <p:stCondLst>
                              <p:cond delay="0"/>
                            </p:stCondLst>
                            <p:childTnLst>
                              <p:par>
                                <p:cTn id="39" presetID="1" presetClass="exit" presetSubtype="0" fill="hold" grpId="1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41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43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5" fill="hold">
                      <p:stCondLst>
                        <p:cond delay="indefinite"/>
                      </p:stCondLst>
                      <p:childTnLst>
                        <p:par>
                          <p:cTn id="46" fill="hold">
                            <p:stCondLst>
                              <p:cond delay="0"/>
                            </p:stCondLst>
                            <p:childTnLst>
                              <p:par>
                                <p:cTn id="47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49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51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7" grpId="0" animBg="1"/>
      <p:bldP spid="7" grpId="1" animBg="1"/>
      <p:bldP spid="10" grpId="0"/>
      <p:bldP spid="12" grpId="0"/>
      <p:bldP spid="13" grpId="0"/>
      <p:bldP spid="33" grpId="0"/>
      <p:bldP spid="34" grpId="0"/>
      <p:bldP spid="39" grpId="0" animBg="1"/>
      <p:bldP spid="39" grpId="1" animBg="1"/>
      <p:bldP spid="40" grpId="0" animBg="1"/>
      <p:bldP spid="40" grpId="1" animBg="1"/>
      <p:bldP spid="42" grpId="0" animBg="1"/>
      <p:bldP spid="42" grpId="1" animBg="1"/>
      <p:bldP spid="43" grpId="0" animBg="1"/>
      <p:bldP spid="49" grpId="0" animBg="1"/>
      <p:bldP spid="54" grpId="0"/>
      <p:bldP spid="66" grpId="0"/>
      <p:bldP spid="6" grpId="0" animBg="1"/>
    </p:bldLst>
  </p:timing>
</p:sld>
</file>

<file path=ppt/slides/slide5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標題 1">
            <a:extLst>
              <a:ext uri="{FF2B5EF4-FFF2-40B4-BE49-F238E27FC236}">
                <a16:creationId xmlns:a16="http://schemas.microsoft.com/office/drawing/2014/main" id="{FBA844F5-9BB5-8741-7E11-3D7900B4033D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 anchor="ctr">
            <a:normAutofit/>
          </a:bodyPr>
          <a:lstStyle/>
          <a:p>
            <a:r>
              <a:rPr lang="en-US" dirty="0">
                <a:ea typeface="+mj-lt"/>
                <a:cs typeface="Calibri" panose="020F0502020204030204" pitchFamily="34" charset="0"/>
              </a:rPr>
              <a:t>Attention</a:t>
            </a:r>
            <a:endParaRPr lang="zh-TW" dirty="0"/>
          </a:p>
        </p:txBody>
      </p:sp>
      <p:sp>
        <p:nvSpPr>
          <p:cNvPr id="4" name="投影片編號版面配置區 3">
            <a:extLst>
              <a:ext uri="{FF2B5EF4-FFF2-40B4-BE49-F238E27FC236}">
                <a16:creationId xmlns:a16="http://schemas.microsoft.com/office/drawing/2014/main" id="{0659731F-DF8E-F243-F6F3-E0926081926D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6113E31D-E2AB-40D1-8B51-AFA5AFEF393A}" type="slidenum">
              <a:rPr lang="en-US" dirty="0"/>
              <a:t>53</a:t>
            </a:fld>
            <a:endParaRPr lang="zh-TW" altLang="en-US"/>
          </a:p>
        </p:txBody>
      </p:sp>
      <p:sp>
        <p:nvSpPr>
          <p:cNvPr id="9" name="內容版面配置區 2">
            <a:extLst>
              <a:ext uri="{FF2B5EF4-FFF2-40B4-BE49-F238E27FC236}">
                <a16:creationId xmlns:a16="http://schemas.microsoft.com/office/drawing/2014/main" id="{C45719CF-10F0-17DE-7709-103598A84762}"/>
              </a:ext>
            </a:extLst>
          </p:cNvPr>
          <p:cNvSpPr>
            <a:spLocks noGrp="1"/>
          </p:cNvSpPr>
          <p:nvPr/>
        </p:nvSpPr>
        <p:spPr>
          <a:xfrm>
            <a:off x="1164515" y="1614250"/>
            <a:ext cx="10050457" cy="628714"/>
          </a:xfrm>
          <a:prstGeom prst="rect">
            <a:avLst/>
          </a:prstGeom>
        </p:spPr>
        <p:txBody>
          <a:bodyPr vert="horz" lIns="0" tIns="45720" rIns="0" bIns="45720" rtlCol="0" anchor="t">
            <a:noAutofit/>
          </a:bodyPr>
          <a:lstStyle>
            <a:lvl1pPr marL="91440" indent="-91440" algn="l" defTabSz="914400" rtl="0" eaLnBrk="1" latinLnBrk="0" hangingPunct="1">
              <a:lnSpc>
                <a:spcPct val="90000"/>
              </a:lnSpc>
              <a:spcBef>
                <a:spcPts val="1200"/>
              </a:spcBef>
              <a:spcAft>
                <a:spcPts val="200"/>
              </a:spcAft>
              <a:buClr>
                <a:schemeClr val="accent1"/>
              </a:buClr>
              <a:buSzPct val="100000"/>
              <a:buFont typeface="Calibri" panose="020F0502020204030204" pitchFamily="34" charset="0"/>
              <a:buChar char=" "/>
              <a:defRPr sz="2000" kern="1200">
                <a:solidFill>
                  <a:schemeClr val="tx1">
                    <a:lumMod val="75000"/>
                    <a:lumOff val="25000"/>
                  </a:schemeClr>
                </a:solidFill>
                <a:latin typeface="+mn-lt"/>
                <a:ea typeface="+mn-ea"/>
                <a:cs typeface="+mn-cs"/>
              </a:defRPr>
            </a:lvl1pPr>
            <a:lvl2pPr marL="384048" indent="-182880" algn="l" defTabSz="914400" rtl="0" eaLnBrk="1" latinLnBrk="0" hangingPunct="1">
              <a:lnSpc>
                <a:spcPct val="90000"/>
              </a:lnSpc>
              <a:spcBef>
                <a:spcPts val="200"/>
              </a:spcBef>
              <a:spcAft>
                <a:spcPts val="400"/>
              </a:spcAft>
              <a:buClr>
                <a:schemeClr val="accent1"/>
              </a:buClr>
              <a:buFont typeface="Calibri" pitchFamily="34" charset="0"/>
              <a:buChar char="◦"/>
              <a:defRPr sz="1800" kern="1200">
                <a:solidFill>
                  <a:schemeClr val="tx1">
                    <a:lumMod val="75000"/>
                    <a:lumOff val="25000"/>
                  </a:schemeClr>
                </a:solidFill>
                <a:latin typeface="+mn-lt"/>
                <a:ea typeface="+mn-ea"/>
                <a:cs typeface="+mn-cs"/>
              </a:defRPr>
            </a:lvl2pPr>
            <a:lvl3pPr marL="566928" indent="-182880" algn="l" defTabSz="914400" rtl="0" eaLnBrk="1" latinLnBrk="0" hangingPunct="1">
              <a:lnSpc>
                <a:spcPct val="90000"/>
              </a:lnSpc>
              <a:spcBef>
                <a:spcPts val="200"/>
              </a:spcBef>
              <a:spcAft>
                <a:spcPts val="400"/>
              </a:spcAft>
              <a:buClr>
                <a:schemeClr val="accent1"/>
              </a:buClr>
              <a:buFont typeface="Calibri" pitchFamily="34" charset="0"/>
              <a:buChar char="◦"/>
              <a:defRPr sz="1400" kern="1200">
                <a:solidFill>
                  <a:schemeClr val="tx1">
                    <a:lumMod val="75000"/>
                    <a:lumOff val="25000"/>
                  </a:schemeClr>
                </a:solidFill>
                <a:latin typeface="+mn-lt"/>
                <a:ea typeface="+mn-ea"/>
                <a:cs typeface="+mn-cs"/>
              </a:defRPr>
            </a:lvl3pPr>
            <a:lvl4pPr marL="749808" indent="-182880" algn="l" defTabSz="914400" rtl="0" eaLnBrk="1" latinLnBrk="0" hangingPunct="1">
              <a:lnSpc>
                <a:spcPct val="90000"/>
              </a:lnSpc>
              <a:spcBef>
                <a:spcPts val="200"/>
              </a:spcBef>
              <a:spcAft>
                <a:spcPts val="400"/>
              </a:spcAft>
              <a:buClr>
                <a:schemeClr val="accent1"/>
              </a:buClr>
              <a:buFont typeface="Calibri" pitchFamily="34" charset="0"/>
              <a:buChar char="◦"/>
              <a:defRPr sz="1400" kern="1200">
                <a:solidFill>
                  <a:schemeClr val="tx1">
                    <a:lumMod val="75000"/>
                    <a:lumOff val="25000"/>
                  </a:schemeClr>
                </a:solidFill>
                <a:latin typeface="+mn-lt"/>
                <a:ea typeface="+mn-ea"/>
                <a:cs typeface="+mn-cs"/>
              </a:defRPr>
            </a:lvl4pPr>
            <a:lvl5pPr marL="932688" indent="-182880" algn="l" defTabSz="914400" rtl="0" eaLnBrk="1" latinLnBrk="0" hangingPunct="1">
              <a:lnSpc>
                <a:spcPct val="90000"/>
              </a:lnSpc>
              <a:spcBef>
                <a:spcPts val="200"/>
              </a:spcBef>
              <a:spcAft>
                <a:spcPts val="400"/>
              </a:spcAft>
              <a:buClr>
                <a:schemeClr val="accent1"/>
              </a:buClr>
              <a:buFont typeface="Calibri" pitchFamily="34" charset="0"/>
              <a:buChar char="◦"/>
              <a:defRPr sz="1400" kern="1200">
                <a:solidFill>
                  <a:schemeClr val="tx1">
                    <a:lumMod val="75000"/>
                    <a:lumOff val="25000"/>
                  </a:schemeClr>
                </a:solidFill>
                <a:latin typeface="+mn-lt"/>
                <a:ea typeface="+mn-ea"/>
                <a:cs typeface="+mn-cs"/>
              </a:defRPr>
            </a:lvl5pPr>
            <a:lvl6pPr marL="1100000" indent="-228600" algn="l" defTabSz="914400" rtl="0" eaLnBrk="1" latinLnBrk="0" hangingPunct="1">
              <a:lnSpc>
                <a:spcPct val="90000"/>
              </a:lnSpc>
              <a:spcBef>
                <a:spcPts val="200"/>
              </a:spcBef>
              <a:spcAft>
                <a:spcPts val="400"/>
              </a:spcAft>
              <a:buClr>
                <a:schemeClr val="accent1"/>
              </a:buClr>
              <a:buFont typeface="Calibri" pitchFamily="34" charset="0"/>
              <a:buChar char="◦"/>
              <a:defRPr sz="1400" kern="1200">
                <a:solidFill>
                  <a:schemeClr val="tx1">
                    <a:lumMod val="75000"/>
                    <a:lumOff val="25000"/>
                  </a:schemeClr>
                </a:solidFill>
                <a:latin typeface="+mn-lt"/>
                <a:ea typeface="+mn-ea"/>
                <a:cs typeface="+mn-cs"/>
              </a:defRPr>
            </a:lvl6pPr>
            <a:lvl7pPr marL="1300000" indent="-228600" algn="l" defTabSz="914400" rtl="0" eaLnBrk="1" latinLnBrk="0" hangingPunct="1">
              <a:lnSpc>
                <a:spcPct val="90000"/>
              </a:lnSpc>
              <a:spcBef>
                <a:spcPts val="200"/>
              </a:spcBef>
              <a:spcAft>
                <a:spcPts val="400"/>
              </a:spcAft>
              <a:buClr>
                <a:schemeClr val="accent1"/>
              </a:buClr>
              <a:buFont typeface="Calibri" pitchFamily="34" charset="0"/>
              <a:buChar char="◦"/>
              <a:defRPr sz="1400" kern="1200">
                <a:solidFill>
                  <a:schemeClr val="tx1">
                    <a:lumMod val="75000"/>
                    <a:lumOff val="25000"/>
                  </a:schemeClr>
                </a:solidFill>
                <a:latin typeface="+mn-lt"/>
                <a:ea typeface="+mn-ea"/>
                <a:cs typeface="+mn-cs"/>
              </a:defRPr>
            </a:lvl7pPr>
            <a:lvl8pPr marL="1500000" indent="-228600" algn="l" defTabSz="914400" rtl="0" eaLnBrk="1" latinLnBrk="0" hangingPunct="1">
              <a:lnSpc>
                <a:spcPct val="90000"/>
              </a:lnSpc>
              <a:spcBef>
                <a:spcPts val="200"/>
              </a:spcBef>
              <a:spcAft>
                <a:spcPts val="400"/>
              </a:spcAft>
              <a:buClr>
                <a:schemeClr val="accent1"/>
              </a:buClr>
              <a:buFont typeface="Calibri" pitchFamily="34" charset="0"/>
              <a:buChar char="◦"/>
              <a:defRPr sz="1400" kern="1200">
                <a:solidFill>
                  <a:schemeClr val="tx1">
                    <a:lumMod val="75000"/>
                    <a:lumOff val="25000"/>
                  </a:schemeClr>
                </a:solidFill>
                <a:latin typeface="+mn-lt"/>
                <a:ea typeface="+mn-ea"/>
                <a:cs typeface="+mn-cs"/>
              </a:defRPr>
            </a:lvl8pPr>
            <a:lvl9pPr marL="1700000" indent="-228600" algn="l" defTabSz="914400" rtl="0" eaLnBrk="1" latinLnBrk="0" hangingPunct="1">
              <a:lnSpc>
                <a:spcPct val="90000"/>
              </a:lnSpc>
              <a:spcBef>
                <a:spcPts val="200"/>
              </a:spcBef>
              <a:spcAft>
                <a:spcPts val="400"/>
              </a:spcAft>
              <a:buClr>
                <a:schemeClr val="accent1"/>
              </a:buClr>
              <a:buFont typeface="Calibri" pitchFamily="34" charset="0"/>
              <a:buChar char="◦"/>
              <a:defRPr sz="1400" kern="1200">
                <a:solidFill>
                  <a:schemeClr val="tx1">
                    <a:lumMod val="75000"/>
                    <a:lumOff val="25000"/>
                  </a:schemeClr>
                </a:solidFill>
                <a:latin typeface="+mn-lt"/>
                <a:ea typeface="+mn-ea"/>
                <a:cs typeface="+mn-cs"/>
              </a:defRPr>
            </a:lvl9pPr>
          </a:lstStyle>
          <a:p>
            <a:pPr marL="0" indent="0">
              <a:buNone/>
            </a:pPr>
            <a:r>
              <a:rPr lang="en-US" sz="2400" dirty="0">
                <a:latin typeface="Calibri" panose="020F0502020204030204" pitchFamily="34" charset="0"/>
                <a:ea typeface="新細明體"/>
                <a:cs typeface="Calibri" panose="020F0502020204030204" pitchFamily="34" charset="0"/>
              </a:rPr>
              <a:t>An example of machine translation.</a:t>
            </a:r>
            <a:endParaRPr lang="en-US" sz="2400" dirty="0">
              <a:latin typeface="Calibri" panose="020F0502020204030204" pitchFamily="34" charset="0"/>
              <a:ea typeface="新細明體" panose="02020500000000000000" pitchFamily="18" charset="-120"/>
              <a:cs typeface="Calibri" panose="020F0502020204030204" pitchFamily="34" charset="0"/>
            </a:endParaRPr>
          </a:p>
          <a:p>
            <a:pPr marL="0" indent="0">
              <a:buNone/>
            </a:pPr>
            <a:endParaRPr lang="en-US" altLang="zh-TW" sz="2400" dirty="0">
              <a:latin typeface="Calibri" panose="020F0502020204030204" pitchFamily="34" charset="0"/>
              <a:ea typeface="新細明體" panose="02020500000000000000" pitchFamily="18" charset="-120"/>
              <a:cs typeface="Calibri" panose="020F0502020204030204" pitchFamily="34" charset="0"/>
            </a:endParaRPr>
          </a:p>
        </p:txBody>
      </p:sp>
      <p:pic>
        <p:nvPicPr>
          <p:cNvPr id="11" name="圖片 10" descr="一張含有 文字, 螢幕擷取畫面, 正方形, Rectangle 的圖片&#10;&#10;自動產生的描述">
            <a:extLst>
              <a:ext uri="{FF2B5EF4-FFF2-40B4-BE49-F238E27FC236}">
                <a16:creationId xmlns:a16="http://schemas.microsoft.com/office/drawing/2014/main" id="{8850556C-9065-9DCD-DEE3-5B91D798D716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6419370" y="1998764"/>
            <a:ext cx="4142818" cy="4326466"/>
          </a:xfrm>
          <a:prstGeom prst="rect">
            <a:avLst/>
          </a:prstGeom>
        </p:spPr>
      </p:pic>
      <p:pic>
        <p:nvPicPr>
          <p:cNvPr id="14" name="圖片 13" descr="一張含有 文字, 螢幕擷取畫面, 正方形, 圖表 的圖片&#10;&#10;自動產生的描述">
            <a:extLst>
              <a:ext uri="{FF2B5EF4-FFF2-40B4-BE49-F238E27FC236}">
                <a16:creationId xmlns:a16="http://schemas.microsoft.com/office/drawing/2014/main" id="{C2907997-541D-968E-42F4-56A8E5DE51B6}"/>
              </a:ext>
            </a:extLst>
      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1453838" y="1999662"/>
            <a:ext cx="4134134" cy="4326466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4285611988"/>
      </p:ext>
    </p:extLst>
  </p:cSld>
  <p:clrMapOvr>
    <a:masterClrMapping/>
  </p:clrMapOvr>
</p:sld>
</file>

<file path=ppt/slides/slide5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標題 1">
            <a:extLst>
              <a:ext uri="{FF2B5EF4-FFF2-40B4-BE49-F238E27FC236}">
                <a16:creationId xmlns:a16="http://schemas.microsoft.com/office/drawing/2014/main" id="{FF6A5673-1205-424D-2050-367F76047315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kumimoji="1" lang="en-US" altLang="zh-TW" dirty="0"/>
              <a:t>Other Attention Approaches</a:t>
            </a:r>
            <a:endParaRPr kumimoji="1" lang="zh-TW" altLang="en-US" dirty="0"/>
          </a:p>
        </p:txBody>
      </p:sp>
      <p:sp>
        <p:nvSpPr>
          <p:cNvPr id="3" name="內容版面配置區 2">
            <a:extLst>
              <a:ext uri="{FF2B5EF4-FFF2-40B4-BE49-F238E27FC236}">
                <a16:creationId xmlns:a16="http://schemas.microsoft.com/office/drawing/2014/main" id="{E2D3044F-0A0E-1C6E-C413-E78A85225320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kumimoji="1" lang="en" altLang="zh-TW" dirty="0"/>
              <a:t>Dot-product Attention: https://</a:t>
            </a:r>
            <a:r>
              <a:rPr kumimoji="1" lang="en" altLang="zh-TW" dirty="0" err="1"/>
              <a:t>arxiv.org</a:t>
            </a:r>
            <a:r>
              <a:rPr kumimoji="1" lang="en" altLang="zh-TW" dirty="0"/>
              <a:t>/abs/1508.04025</a:t>
            </a:r>
          </a:p>
          <a:p>
            <a:r>
              <a:rPr kumimoji="1" lang="en" altLang="zh-TW" dirty="0"/>
              <a:t>https://</a:t>
            </a:r>
            <a:r>
              <a:rPr kumimoji="1" lang="en" altLang="zh-TW" dirty="0" err="1"/>
              <a:t>lilianweng.github.io</a:t>
            </a:r>
            <a:r>
              <a:rPr kumimoji="1" lang="en" altLang="zh-TW" dirty="0"/>
              <a:t>/posts/2018-06-24-attention/</a:t>
            </a:r>
            <a:endParaRPr kumimoji="1" lang="zh-TW" altLang="en-US" dirty="0"/>
          </a:p>
        </p:txBody>
      </p:sp>
      <p:sp>
        <p:nvSpPr>
          <p:cNvPr id="4" name="投影片編號版面配置區 3">
            <a:extLst>
              <a:ext uri="{FF2B5EF4-FFF2-40B4-BE49-F238E27FC236}">
                <a16:creationId xmlns:a16="http://schemas.microsoft.com/office/drawing/2014/main" id="{21F1424B-F0D2-673F-DF31-A6621AC661EF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6113E31D-E2AB-40D1-8B51-AFA5AFEF393A}" type="slidenum">
              <a:rPr lang="en-US" smtClean="0"/>
              <a:pPr/>
              <a:t>54</a:t>
            </a:fld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3060890151"/>
      </p:ext>
    </p:extLst>
  </p:cSld>
  <p:clrMapOvr>
    <a:masterClrMapping/>
  </p:clrMapOvr>
</p:sld>
</file>

<file path=ppt/slides/slide5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" name="標題 4">
            <a:extLst>
              <a:ext uri="{FF2B5EF4-FFF2-40B4-BE49-F238E27FC236}">
                <a16:creationId xmlns:a16="http://schemas.microsoft.com/office/drawing/2014/main" id="{6CD83C5C-EA61-C255-DF28-E9CFF9EEAA75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495300" y="3065145"/>
            <a:ext cx="3200400" cy="727709"/>
          </a:xfrm>
        </p:spPr>
        <p:txBody>
          <a:bodyPr anchor="ctr">
            <a:normAutofit/>
          </a:bodyPr>
          <a:lstStyle/>
          <a:p>
            <a:r>
              <a:rPr lang="en-US" altLang="zh-TW" sz="4800" dirty="0"/>
              <a:t>Thank you!</a:t>
            </a:r>
            <a:endParaRPr lang="zh-TW" altLang="en-US" sz="4800" dirty="0"/>
          </a:p>
        </p:txBody>
      </p:sp>
      <p:sp>
        <p:nvSpPr>
          <p:cNvPr id="4" name="投影片編號版面配置區 3">
            <a:extLst>
              <a:ext uri="{FF2B5EF4-FFF2-40B4-BE49-F238E27FC236}">
                <a16:creationId xmlns:a16="http://schemas.microsoft.com/office/drawing/2014/main" id="{5060AC63-905C-E7E8-4AEA-D711150C4E03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6113E31D-E2AB-40D1-8B51-AFA5AFEF393A}" type="slidenum">
              <a:rPr lang="en-US" smtClean="0"/>
              <a:pPr/>
              <a:t>55</a:t>
            </a:fld>
            <a:endParaRPr lang="en-US" dirty="0"/>
          </a:p>
        </p:txBody>
      </p:sp>
      <p:sp>
        <p:nvSpPr>
          <p:cNvPr id="13" name="內容版面配置區 2">
            <a:extLst>
              <a:ext uri="{FF2B5EF4-FFF2-40B4-BE49-F238E27FC236}">
                <a16:creationId xmlns:a16="http://schemas.microsoft.com/office/drawing/2014/main" id="{AB6151A5-2D6F-3748-8575-59D412696C53}"/>
              </a:ext>
            </a:extLst>
          </p:cNvPr>
          <p:cNvSpPr txBox="1">
            <a:spLocks/>
          </p:cNvSpPr>
          <p:nvPr/>
        </p:nvSpPr>
        <p:spPr>
          <a:xfrm>
            <a:off x="4725880" y="2315977"/>
            <a:ext cx="4737788" cy="2516218"/>
          </a:xfrm>
          <a:prstGeom prst="rect">
            <a:avLst/>
          </a:prstGeom>
        </p:spPr>
        <p:txBody>
          <a:bodyPr vert="horz" lIns="0" tIns="45720" rIns="0" bIns="45720" rtlCol="0">
            <a:normAutofit/>
          </a:bodyPr>
          <a:lstStyle>
            <a:lvl1pPr marL="91440" indent="-91440" algn="l" defTabSz="914400" rtl="0" eaLnBrk="1" latinLnBrk="0" hangingPunct="1">
              <a:lnSpc>
                <a:spcPct val="90000"/>
              </a:lnSpc>
              <a:spcBef>
                <a:spcPts val="1200"/>
              </a:spcBef>
              <a:spcAft>
                <a:spcPts val="200"/>
              </a:spcAft>
              <a:buClr>
                <a:schemeClr val="accent1"/>
              </a:buClr>
              <a:buSzPct val="100000"/>
              <a:buFont typeface="Calibri" panose="020F0502020204030204" pitchFamily="34" charset="0"/>
              <a:buChar char=" "/>
              <a:defRPr sz="2000" kern="1200">
                <a:solidFill>
                  <a:schemeClr val="tx1">
                    <a:lumMod val="75000"/>
                    <a:lumOff val="25000"/>
                  </a:schemeClr>
                </a:solidFill>
                <a:latin typeface="+mn-lt"/>
                <a:ea typeface="+mn-ea"/>
                <a:cs typeface="+mn-cs"/>
              </a:defRPr>
            </a:lvl1pPr>
            <a:lvl2pPr marL="384048" indent="-182880" algn="l" defTabSz="914400" rtl="0" eaLnBrk="1" latinLnBrk="0" hangingPunct="1">
              <a:lnSpc>
                <a:spcPct val="90000"/>
              </a:lnSpc>
              <a:spcBef>
                <a:spcPts val="200"/>
              </a:spcBef>
              <a:spcAft>
                <a:spcPts val="400"/>
              </a:spcAft>
              <a:buClr>
                <a:schemeClr val="accent1"/>
              </a:buClr>
              <a:buFont typeface="Calibri" pitchFamily="34" charset="0"/>
              <a:buChar char="◦"/>
              <a:defRPr sz="1800" kern="1200">
                <a:solidFill>
                  <a:schemeClr val="tx1">
                    <a:lumMod val="75000"/>
                    <a:lumOff val="25000"/>
                  </a:schemeClr>
                </a:solidFill>
                <a:latin typeface="+mn-lt"/>
                <a:ea typeface="+mn-ea"/>
                <a:cs typeface="+mn-cs"/>
              </a:defRPr>
            </a:lvl2pPr>
            <a:lvl3pPr marL="566928" indent="-182880" algn="l" defTabSz="914400" rtl="0" eaLnBrk="1" latinLnBrk="0" hangingPunct="1">
              <a:lnSpc>
                <a:spcPct val="90000"/>
              </a:lnSpc>
              <a:spcBef>
                <a:spcPts val="200"/>
              </a:spcBef>
              <a:spcAft>
                <a:spcPts val="400"/>
              </a:spcAft>
              <a:buClr>
                <a:schemeClr val="accent1"/>
              </a:buClr>
              <a:buFont typeface="Calibri" pitchFamily="34" charset="0"/>
              <a:buChar char="◦"/>
              <a:defRPr sz="1400" kern="1200">
                <a:solidFill>
                  <a:schemeClr val="tx1">
                    <a:lumMod val="75000"/>
                    <a:lumOff val="25000"/>
                  </a:schemeClr>
                </a:solidFill>
                <a:latin typeface="+mn-lt"/>
                <a:ea typeface="+mn-ea"/>
                <a:cs typeface="+mn-cs"/>
              </a:defRPr>
            </a:lvl3pPr>
            <a:lvl4pPr marL="749808" indent="-182880" algn="l" defTabSz="914400" rtl="0" eaLnBrk="1" latinLnBrk="0" hangingPunct="1">
              <a:lnSpc>
                <a:spcPct val="90000"/>
              </a:lnSpc>
              <a:spcBef>
                <a:spcPts val="200"/>
              </a:spcBef>
              <a:spcAft>
                <a:spcPts val="400"/>
              </a:spcAft>
              <a:buClr>
                <a:schemeClr val="accent1"/>
              </a:buClr>
              <a:buFont typeface="Calibri" pitchFamily="34" charset="0"/>
              <a:buChar char="◦"/>
              <a:defRPr sz="1400" kern="1200">
                <a:solidFill>
                  <a:schemeClr val="tx1">
                    <a:lumMod val="75000"/>
                    <a:lumOff val="25000"/>
                  </a:schemeClr>
                </a:solidFill>
                <a:latin typeface="+mn-lt"/>
                <a:ea typeface="+mn-ea"/>
                <a:cs typeface="+mn-cs"/>
              </a:defRPr>
            </a:lvl4pPr>
            <a:lvl5pPr marL="932688" indent="-182880" algn="l" defTabSz="914400" rtl="0" eaLnBrk="1" latinLnBrk="0" hangingPunct="1">
              <a:lnSpc>
                <a:spcPct val="90000"/>
              </a:lnSpc>
              <a:spcBef>
                <a:spcPts val="200"/>
              </a:spcBef>
              <a:spcAft>
                <a:spcPts val="400"/>
              </a:spcAft>
              <a:buClr>
                <a:schemeClr val="accent1"/>
              </a:buClr>
              <a:buFont typeface="Calibri" pitchFamily="34" charset="0"/>
              <a:buChar char="◦"/>
              <a:defRPr sz="1400" kern="1200">
                <a:solidFill>
                  <a:schemeClr val="tx1">
                    <a:lumMod val="75000"/>
                    <a:lumOff val="25000"/>
                  </a:schemeClr>
                </a:solidFill>
                <a:latin typeface="+mn-lt"/>
                <a:ea typeface="+mn-ea"/>
                <a:cs typeface="+mn-cs"/>
              </a:defRPr>
            </a:lvl5pPr>
            <a:lvl6pPr marL="1100000" indent="-228600" algn="l" defTabSz="914400" rtl="0" eaLnBrk="1" latinLnBrk="0" hangingPunct="1">
              <a:lnSpc>
                <a:spcPct val="90000"/>
              </a:lnSpc>
              <a:spcBef>
                <a:spcPts val="200"/>
              </a:spcBef>
              <a:spcAft>
                <a:spcPts val="400"/>
              </a:spcAft>
              <a:buClr>
                <a:schemeClr val="accent1"/>
              </a:buClr>
              <a:buFont typeface="Calibri" pitchFamily="34" charset="0"/>
              <a:buChar char="◦"/>
              <a:defRPr sz="1400" kern="1200">
                <a:solidFill>
                  <a:schemeClr val="tx1">
                    <a:lumMod val="75000"/>
                    <a:lumOff val="25000"/>
                  </a:schemeClr>
                </a:solidFill>
                <a:latin typeface="+mn-lt"/>
                <a:ea typeface="+mn-ea"/>
                <a:cs typeface="+mn-cs"/>
              </a:defRPr>
            </a:lvl6pPr>
            <a:lvl7pPr marL="1300000" indent="-228600" algn="l" defTabSz="914400" rtl="0" eaLnBrk="1" latinLnBrk="0" hangingPunct="1">
              <a:lnSpc>
                <a:spcPct val="90000"/>
              </a:lnSpc>
              <a:spcBef>
                <a:spcPts val="200"/>
              </a:spcBef>
              <a:spcAft>
                <a:spcPts val="400"/>
              </a:spcAft>
              <a:buClr>
                <a:schemeClr val="accent1"/>
              </a:buClr>
              <a:buFont typeface="Calibri" pitchFamily="34" charset="0"/>
              <a:buChar char="◦"/>
              <a:defRPr sz="1400" kern="1200">
                <a:solidFill>
                  <a:schemeClr val="tx1">
                    <a:lumMod val="75000"/>
                    <a:lumOff val="25000"/>
                  </a:schemeClr>
                </a:solidFill>
                <a:latin typeface="+mn-lt"/>
                <a:ea typeface="+mn-ea"/>
                <a:cs typeface="+mn-cs"/>
              </a:defRPr>
            </a:lvl7pPr>
            <a:lvl8pPr marL="1500000" indent="-228600" algn="l" defTabSz="914400" rtl="0" eaLnBrk="1" latinLnBrk="0" hangingPunct="1">
              <a:lnSpc>
                <a:spcPct val="90000"/>
              </a:lnSpc>
              <a:spcBef>
                <a:spcPts val="200"/>
              </a:spcBef>
              <a:spcAft>
                <a:spcPts val="400"/>
              </a:spcAft>
              <a:buClr>
                <a:schemeClr val="accent1"/>
              </a:buClr>
              <a:buFont typeface="Calibri" pitchFamily="34" charset="0"/>
              <a:buChar char="◦"/>
              <a:defRPr sz="1400" kern="1200">
                <a:solidFill>
                  <a:schemeClr val="tx1">
                    <a:lumMod val="75000"/>
                    <a:lumOff val="25000"/>
                  </a:schemeClr>
                </a:solidFill>
                <a:latin typeface="+mn-lt"/>
                <a:ea typeface="+mn-ea"/>
                <a:cs typeface="+mn-cs"/>
              </a:defRPr>
            </a:lvl8pPr>
            <a:lvl9pPr marL="1700000" indent="-228600" algn="l" defTabSz="914400" rtl="0" eaLnBrk="1" latinLnBrk="0" hangingPunct="1">
              <a:lnSpc>
                <a:spcPct val="90000"/>
              </a:lnSpc>
              <a:spcBef>
                <a:spcPts val="200"/>
              </a:spcBef>
              <a:spcAft>
                <a:spcPts val="400"/>
              </a:spcAft>
              <a:buClr>
                <a:schemeClr val="accent1"/>
              </a:buClr>
              <a:buFont typeface="Calibri" pitchFamily="34" charset="0"/>
              <a:buChar char="◦"/>
              <a:defRPr sz="1400" kern="1200">
                <a:solidFill>
                  <a:schemeClr val="tx1">
                    <a:lumMod val="75000"/>
                    <a:lumOff val="25000"/>
                  </a:schemeClr>
                </a:solidFill>
                <a:latin typeface="+mn-lt"/>
                <a:ea typeface="+mn-ea"/>
                <a:cs typeface="+mn-cs"/>
              </a:defRPr>
            </a:lvl9pPr>
          </a:lstStyle>
          <a:p>
            <a:r>
              <a:rPr kumimoji="1" lang="en-US" altLang="zh-TW" sz="3200" dirty="0">
                <a:latin typeface="Calibri" panose="020F0502020204030204" pitchFamily="34" charset="0"/>
                <a:ea typeface="Microsoft JhengHei" panose="020B0604030504040204" pitchFamily="34" charset="-120"/>
                <a:cs typeface="Calibri" panose="020F0502020204030204" pitchFamily="34" charset="0"/>
              </a:rPr>
              <a:t>Instructor: </a:t>
            </a:r>
            <a:r>
              <a:rPr kumimoji="1" lang="zh-TW" altLang="en-US" sz="3200" dirty="0">
                <a:latin typeface="Calibri" panose="020F0502020204030204" pitchFamily="34" charset="0"/>
                <a:ea typeface="Microsoft JhengHei" panose="020B0604030504040204" pitchFamily="34" charset="-120"/>
                <a:cs typeface="Calibri" panose="020F0502020204030204" pitchFamily="34" charset="0"/>
              </a:rPr>
              <a:t>林英嘉</a:t>
            </a:r>
            <a:endParaRPr kumimoji="1" lang="en-US" altLang="zh-TW" sz="3200" dirty="0">
              <a:latin typeface="Calibri" panose="020F0502020204030204" pitchFamily="34" charset="0"/>
              <a:ea typeface="Microsoft JhengHei" panose="020B0604030504040204" pitchFamily="34" charset="-120"/>
              <a:cs typeface="Calibri" panose="020F0502020204030204" pitchFamily="34" charset="0"/>
            </a:endParaRPr>
          </a:p>
          <a:p>
            <a:pPr marL="0" indent="0">
              <a:buFont typeface="Calibri" panose="020F0502020204030204" pitchFamily="34" charset="0"/>
              <a:buNone/>
            </a:pPr>
            <a:r>
              <a:rPr kumimoji="1" lang="en-US" altLang="zh-TW" sz="3200" dirty="0">
                <a:latin typeface="Calibri" panose="020F0502020204030204" pitchFamily="34" charset="0"/>
                <a:ea typeface="Microsoft JhengHei" panose="020B0604030504040204" pitchFamily="34" charset="-120"/>
                <a:cs typeface="Calibri" panose="020F0502020204030204" pitchFamily="34" charset="0"/>
              </a:rPr>
              <a:t> ✉️ </a:t>
            </a:r>
            <a:r>
              <a:rPr kumimoji="1" lang="en-US" altLang="zh-TW" sz="3200" dirty="0" err="1">
                <a:latin typeface="Calibri" panose="020F0502020204030204" pitchFamily="34" charset="0"/>
                <a:ea typeface="Microsoft JhengHei" panose="020B0604030504040204" pitchFamily="34" charset="-120"/>
                <a:cs typeface="Calibri" panose="020F0502020204030204" pitchFamily="34" charset="0"/>
              </a:rPr>
              <a:t>yjlin@cgu.edu.tw</a:t>
            </a:r>
            <a:endParaRPr kumimoji="1" lang="en-US" altLang="zh-TW" sz="3200" dirty="0">
              <a:latin typeface="Calibri" panose="020F0502020204030204" pitchFamily="34" charset="0"/>
              <a:ea typeface="Microsoft JhengHei" panose="020B0604030504040204" pitchFamily="34" charset="-120"/>
              <a:cs typeface="Calibri" panose="020F0502020204030204" pitchFamily="34" charset="0"/>
            </a:endParaRPr>
          </a:p>
          <a:p>
            <a:pPr marL="0" indent="0">
              <a:buFont typeface="Calibri" panose="020F0502020204030204" pitchFamily="34" charset="0"/>
              <a:buNone/>
            </a:pPr>
            <a:r>
              <a:rPr kumimoji="1" lang="en-US" altLang="zh-TW" sz="3200" dirty="0">
                <a:latin typeface="Calibri" panose="020F0502020204030204" pitchFamily="34" charset="0"/>
                <a:ea typeface="Microsoft JhengHei" panose="020B0604030504040204" pitchFamily="34" charset="-120"/>
                <a:cs typeface="Calibri" panose="020F0502020204030204" pitchFamily="34" charset="0"/>
              </a:rPr>
              <a:t> TA: </a:t>
            </a:r>
            <a:r>
              <a:rPr kumimoji="1" lang="zh-TW" altLang="en-US" sz="3200" dirty="0">
                <a:latin typeface="Calibri" panose="020F0502020204030204" pitchFamily="34" charset="0"/>
                <a:ea typeface="Microsoft JhengHei" panose="020B0604030504040204" pitchFamily="34" charset="-120"/>
                <a:cs typeface="Calibri" panose="020F0502020204030204" pitchFamily="34" charset="0"/>
              </a:rPr>
              <a:t>林宣辰</a:t>
            </a:r>
          </a:p>
          <a:p>
            <a:pPr marL="0" indent="0">
              <a:buFont typeface="Calibri" panose="020F0502020204030204" pitchFamily="34" charset="0"/>
              <a:buNone/>
            </a:pPr>
            <a:r>
              <a:rPr kumimoji="1" lang="en-US" altLang="zh-TW" sz="3200" dirty="0">
                <a:latin typeface="Calibri" panose="020F0502020204030204" pitchFamily="34" charset="0"/>
                <a:ea typeface="Microsoft JhengHei" panose="020B0604030504040204" pitchFamily="34" charset="-120"/>
                <a:cs typeface="Calibri" panose="020F0502020204030204" pitchFamily="34" charset="0"/>
              </a:rPr>
              <a:t> </a:t>
            </a:r>
            <a:r>
              <a:rPr kumimoji="1" lang="zh-TW" altLang="en-US" sz="3200" dirty="0">
                <a:latin typeface="Calibri" panose="020F0502020204030204" pitchFamily="34" charset="0"/>
                <a:ea typeface="Microsoft JhengHei" panose="020B0604030504040204" pitchFamily="34" charset="-120"/>
                <a:cs typeface="Calibri" panose="020F0502020204030204" pitchFamily="34" charset="0"/>
              </a:rPr>
              <a:t>✉️ </a:t>
            </a:r>
            <a:r>
              <a:rPr kumimoji="1" lang="en-US" altLang="zh-TW" sz="3200" dirty="0">
                <a:latin typeface="Calibri" panose="020F0502020204030204" pitchFamily="34" charset="0"/>
                <a:ea typeface="Microsoft JhengHei" panose="020B0604030504040204" pitchFamily="34" charset="-120"/>
                <a:cs typeface="Calibri" panose="020F0502020204030204" pitchFamily="34" charset="0"/>
              </a:rPr>
              <a:t>b1128015@cgu.edu.tw</a:t>
            </a:r>
          </a:p>
        </p:txBody>
      </p:sp>
    </p:spTree>
    <p:extLst>
      <p:ext uri="{BB962C8B-B14F-4D97-AF65-F5344CB8AC3E}">
        <p14:creationId xmlns:p14="http://schemas.microsoft.com/office/powerpoint/2010/main" val="2684697706"/>
      </p:ext>
    </p:extLst>
  </p:cSld>
  <p:clrMapOvr>
    <a:masterClrMapping/>
  </p:clrMapOvr>
</p:sld>
</file>

<file path=ppt/theme/theme1.xml><?xml version="1.0" encoding="utf-8"?>
<a:theme xmlns:a="http://schemas.openxmlformats.org/drawingml/2006/main" name="回顧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Arial">
      <a:majorFont>
        <a:latin typeface="Arial" panose="020B0604020202020204"/>
        <a:ea typeface=""/>
        <a:cs typeface=""/>
        <a:font script="Jpan" typeface="ＭＳ Ｐゴシック"/>
        <a:font script="Hang" typeface="굴림"/>
        <a:font script="Hans" typeface="黑体"/>
        <a:font script="Hant" typeface="微軟正黑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ajorFont>
      <a:minorFont>
        <a:latin typeface="Arial" panose="020B0604020202020204"/>
        <a:ea typeface=""/>
        <a:cs typeface=""/>
        <a:font script="Jpan" typeface="ＭＳ Ｐゴシック"/>
        <a:font script="Hang" typeface="굴림"/>
        <a:font script="Hans" typeface="黑体"/>
        <a:font script="Hant" typeface="微軟正黑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Retrospect">
      <a:fillStyleLst>
        <a:solidFill>
          <a:schemeClr val="phClr"/>
        </a:solidFill>
        <a:gradFill rotWithShape="1">
          <a:gsLst>
            <a:gs pos="0">
              <a:schemeClr val="phClr">
                <a:tint val="65000"/>
                <a:shade val="92000"/>
                <a:satMod val="130000"/>
              </a:schemeClr>
            </a:gs>
            <a:gs pos="45000">
              <a:schemeClr val="phClr">
                <a:tint val="60000"/>
                <a:shade val="99000"/>
                <a:satMod val="120000"/>
              </a:schemeClr>
            </a:gs>
            <a:gs pos="100000">
              <a:schemeClr val="phClr">
                <a:tint val="55000"/>
                <a:satMod val="140000"/>
              </a:schemeClr>
            </a:gs>
          </a:gsLst>
          <a:path path="circle">
            <a:fillToRect l="100000" t="100000" r="100000" b="100000"/>
          </a:path>
        </a:gradFill>
        <a:gradFill rotWithShape="1">
          <a:gsLst>
            <a:gs pos="0">
              <a:schemeClr val="phClr">
                <a:shade val="85000"/>
                <a:satMod val="130000"/>
              </a:schemeClr>
            </a:gs>
            <a:gs pos="34000">
              <a:schemeClr val="phClr">
                <a:shade val="87000"/>
                <a:satMod val="125000"/>
              </a:schemeClr>
            </a:gs>
            <a:gs pos="70000">
              <a:schemeClr val="phClr">
                <a:tint val="100000"/>
                <a:shade val="90000"/>
                <a:satMod val="130000"/>
              </a:schemeClr>
            </a:gs>
            <a:gs pos="100000">
              <a:schemeClr val="phClr">
                <a:tint val="100000"/>
                <a:shade val="100000"/>
                <a:satMod val="110000"/>
              </a:schemeClr>
            </a:gs>
          </a:gsLst>
          <a:path path="circle">
            <a:fillToRect l="100000" t="100000" r="100000" b="100000"/>
          </a:path>
        </a:gradFill>
      </a:fillStyleLst>
      <a:lnStyleLst>
        <a:ln w="12700" cap="flat" cmpd="sng" algn="ctr">
          <a:solidFill>
            <a:schemeClr val="phClr"/>
          </a:solidFill>
          <a:prstDash val="solid"/>
        </a:ln>
        <a:ln w="15875" cap="flat" cmpd="sng" algn="ctr">
          <a:solidFill>
            <a:schemeClr val="phClr"/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</a:lnStyleLst>
      <a:effectStyleLst>
        <a:effectStyle>
          <a:effectLst/>
        </a:effectStyle>
        <a:effectStyle>
          <a:effectLst>
            <a:outerShdw blurRad="38100" dist="25400" dir="2700000" algn="br" rotWithShape="0">
              <a:srgbClr val="000000">
                <a:alpha val="60000"/>
              </a:srgbClr>
            </a:outerShdw>
          </a:effectLst>
        </a:effectStyle>
        <a:effectStyle>
          <a:effectLst>
            <a:outerShdw blurRad="44450" dist="25400" dir="2700000" algn="br" rotWithShape="0">
              <a:srgbClr val="000000">
                <a:alpha val="60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9800000"/>
            </a:lightRig>
          </a:scene3d>
          <a:sp3d prstMaterial="flat">
            <a:bevelT w="25400" h="31750"/>
          </a:sp3d>
        </a:effectStyle>
      </a:effectStyleLst>
      <a:bgFillStyleLst>
        <a:solidFill>
          <a:schemeClr val="phClr"/>
        </a:solidFill>
        <a:solidFill>
          <a:schemeClr val="phClr">
            <a:tint val="90000"/>
            <a:shade val="97000"/>
            <a:satMod val="130000"/>
          </a:schemeClr>
        </a:solidFill>
        <a:gradFill rotWithShape="1">
          <a:gsLst>
            <a:gs pos="0">
              <a:schemeClr val="phClr">
                <a:tint val="96000"/>
                <a:shade val="99000"/>
                <a:satMod val="140000"/>
              </a:schemeClr>
            </a:gs>
            <a:gs pos="65000">
              <a:schemeClr val="phClr">
                <a:tint val="100000"/>
                <a:shade val="80000"/>
                <a:satMod val="130000"/>
              </a:schemeClr>
            </a:gs>
            <a:gs pos="100000">
              <a:schemeClr val="phClr">
                <a:tint val="100000"/>
                <a:shade val="48000"/>
                <a:satMod val="120000"/>
              </a:schemeClr>
            </a:gs>
          </a:gsLst>
          <a:lin ang="162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course_template_DL" id="{E71C07C9-5718-B34F-9EA9-A4FDE47A262C}" vid="{F05AA8C9-6C58-904C-AE8A-42257BEE94D0}"/>
    </a:ext>
  </a:extLst>
</a:theme>
</file>

<file path=ppt/theme/theme2.xml><?xml version="1.0" encoding="utf-8"?>
<a:theme xmlns:a="http://schemas.openxmlformats.org/drawingml/2006/main" name="Office 佈景主題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emplate>回顧</Template>
  <TotalTime>3623</TotalTime>
  <Words>3977</Words>
  <Application>Microsoft Macintosh PowerPoint</Application>
  <PresentationFormat>寬螢幕</PresentationFormat>
  <Paragraphs>896</Paragraphs>
  <Slides>55</Slides>
  <Notes>13</Notes>
  <HiddenSlides>0</HiddenSlides>
  <MMClips>0</MMClips>
  <ScaleCrop>false</ScaleCrop>
  <HeadingPairs>
    <vt:vector size="6" baseType="variant">
      <vt:variant>
        <vt:lpstr>使用字型</vt:lpstr>
      </vt:variant>
      <vt:variant>
        <vt:i4>7</vt:i4>
      </vt:variant>
      <vt:variant>
        <vt:lpstr>佈景主題</vt:lpstr>
      </vt:variant>
      <vt:variant>
        <vt:i4>1</vt:i4>
      </vt:variant>
      <vt:variant>
        <vt:lpstr>投影片標題</vt:lpstr>
      </vt:variant>
      <vt:variant>
        <vt:i4>55</vt:i4>
      </vt:variant>
    </vt:vector>
  </HeadingPairs>
  <TitlesOfParts>
    <vt:vector size="63" baseType="lpstr">
      <vt:lpstr>Microsoft JhengHei</vt:lpstr>
      <vt:lpstr>Aptos</vt:lpstr>
      <vt:lpstr>Arial</vt:lpstr>
      <vt:lpstr>Calibri</vt:lpstr>
      <vt:lpstr>Cambria Math</vt:lpstr>
      <vt:lpstr>Times New Roman</vt:lpstr>
      <vt:lpstr>Wingdings</vt:lpstr>
      <vt:lpstr>回顧</vt:lpstr>
      <vt:lpstr>自然語言處理與應用 Natural Language Processing and Applications</vt:lpstr>
      <vt:lpstr>現代自然語言處理基本功</vt:lpstr>
      <vt:lpstr>Outline</vt:lpstr>
      <vt:lpstr>Sub-word Tokenization</vt:lpstr>
      <vt:lpstr>Recap: Word Representations</vt:lpstr>
      <vt:lpstr>Recap: Text Generation with RNN</vt:lpstr>
      <vt:lpstr>Basic Pipeline of Natural Language Processing</vt:lpstr>
      <vt:lpstr>[Recap] How to build the vocabulary?</vt:lpstr>
      <vt:lpstr>Stemming (詞幹提取)</vt:lpstr>
      <vt:lpstr>Lemmatization (詞形還原)</vt:lpstr>
      <vt:lpstr>Segmentation vs. Tokenization</vt:lpstr>
      <vt:lpstr>Delimiter-based Segmentation</vt:lpstr>
      <vt:lpstr>[Recap] Embedding Lookup</vt:lpstr>
      <vt:lpstr>Delimiter-based Segmentation (Continued.)</vt:lpstr>
      <vt:lpstr>Summary</vt:lpstr>
      <vt:lpstr>Common Sub-word Tokenization Algorithms</vt:lpstr>
      <vt:lpstr>Sub-word Tokenization (1)</vt:lpstr>
      <vt:lpstr>Sub-word Tokenization (1)</vt:lpstr>
      <vt:lpstr>Sub-word Tokenization (2)</vt:lpstr>
      <vt:lpstr>Sub-word Tokenization (3)</vt:lpstr>
      <vt:lpstr>Sub-word Tokenization (4)</vt:lpstr>
      <vt:lpstr>Sub-word Tokenization (2)</vt:lpstr>
      <vt:lpstr>Sub-word Tokenization (3)</vt:lpstr>
      <vt:lpstr>Sub-word Tokenization (4)</vt:lpstr>
      <vt:lpstr>Sub-word Tokenization (2)</vt:lpstr>
      <vt:lpstr>Sub-word Tokenization (3)</vt:lpstr>
      <vt:lpstr>Sub-word Tokenization (4)</vt:lpstr>
      <vt:lpstr>Sub-word Tokenization (2)</vt:lpstr>
      <vt:lpstr>Sub-word Tokenization (3)</vt:lpstr>
      <vt:lpstr>Sub-word Tokenization (4)</vt:lpstr>
      <vt:lpstr>Finishing the Sub-word Leaning </vt:lpstr>
      <vt:lpstr>Tokenization with Learned BPE</vt:lpstr>
      <vt:lpstr>[注意事項] Tokenization with Learned BPE</vt:lpstr>
      <vt:lpstr>Properties of BPE</vt:lpstr>
      <vt:lpstr>Attention</vt:lpstr>
      <vt:lpstr>Attention relationship among words</vt:lpstr>
      <vt:lpstr>Attention</vt:lpstr>
      <vt:lpstr>What is Attention?</vt:lpstr>
      <vt:lpstr>RNNs for Sequence Classification</vt:lpstr>
      <vt:lpstr>Machine Translation</vt:lpstr>
      <vt:lpstr>RNNs for Machine Translation?</vt:lpstr>
      <vt:lpstr>RNNs for Machine Translation?</vt:lpstr>
      <vt:lpstr>RNNs for Machine Translation?</vt:lpstr>
      <vt:lpstr>Encoder and Decoder</vt:lpstr>
      <vt:lpstr>PowerPoint 簡報</vt:lpstr>
      <vt:lpstr>機器翻譯 (一般情況)</vt:lpstr>
      <vt:lpstr>一般情況的 encoder-decoder 有什麼問題？</vt:lpstr>
      <vt:lpstr>機器翻譯 (with Attention, t = 2)</vt:lpstr>
      <vt:lpstr>機器翻譯 (with Attention, t = 3)</vt:lpstr>
      <vt:lpstr>Additive Attention (算出 α_ti)</vt:lpstr>
      <vt:lpstr>得到了 Context vector 之後</vt:lpstr>
      <vt:lpstr>機器翻譯 (with Attention, t = 1)</vt:lpstr>
      <vt:lpstr>Attention</vt:lpstr>
      <vt:lpstr>Other Attention Approaches</vt:lpstr>
      <vt:lpstr>Thank you!</vt:lpstr>
    </vt:vector>
  </TitlesOfParts>
  <Company/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深度學習 Deep Learning</dc:title>
  <dc:creator>林英嘉</dc:creator>
  <cp:lastModifiedBy>林英嘉</cp:lastModifiedBy>
  <cp:revision>874</cp:revision>
  <dcterms:created xsi:type="dcterms:W3CDTF">2025-02-07T09:05:59Z</dcterms:created>
  <dcterms:modified xsi:type="dcterms:W3CDTF">2026-03-23T03:06:41Z</dcterms:modified>
</cp:coreProperties>
</file>