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9"/>
  </p:notesMasterIdLst>
  <p:sldIdLst>
    <p:sldId id="508" r:id="rId2"/>
    <p:sldId id="518" r:id="rId3"/>
    <p:sldId id="717" r:id="rId4"/>
    <p:sldId id="747" r:id="rId5"/>
    <p:sldId id="671" r:id="rId6"/>
    <p:sldId id="668" r:id="rId7"/>
    <p:sldId id="727" r:id="rId8"/>
    <p:sldId id="527" r:id="rId9"/>
    <p:sldId id="725" r:id="rId10"/>
    <p:sldId id="699" r:id="rId11"/>
    <p:sldId id="687" r:id="rId12"/>
    <p:sldId id="743" r:id="rId13"/>
    <p:sldId id="742" r:id="rId14"/>
    <p:sldId id="748" r:id="rId15"/>
    <p:sldId id="754" r:id="rId16"/>
    <p:sldId id="279" r:id="rId17"/>
    <p:sldId id="287" r:id="rId18"/>
    <p:sldId id="285" r:id="rId19"/>
    <p:sldId id="286" r:id="rId20"/>
    <p:sldId id="352" r:id="rId21"/>
    <p:sldId id="280" r:id="rId22"/>
    <p:sldId id="751" r:id="rId23"/>
    <p:sldId id="290" r:id="rId24"/>
    <p:sldId id="291" r:id="rId25"/>
    <p:sldId id="295" r:id="rId26"/>
    <p:sldId id="292" r:id="rId27"/>
    <p:sldId id="305" r:id="rId28"/>
    <p:sldId id="293" r:id="rId29"/>
    <p:sldId id="296" r:id="rId30"/>
    <p:sldId id="294" r:id="rId31"/>
    <p:sldId id="297" r:id="rId32"/>
    <p:sldId id="298" r:id="rId33"/>
    <p:sldId id="300" r:id="rId34"/>
    <p:sldId id="302" r:id="rId35"/>
    <p:sldId id="301" r:id="rId36"/>
    <p:sldId id="304" r:id="rId37"/>
    <p:sldId id="303" r:id="rId38"/>
    <p:sldId id="299" r:id="rId39"/>
    <p:sldId id="306" r:id="rId40"/>
    <p:sldId id="307" r:id="rId41"/>
    <p:sldId id="308" r:id="rId42"/>
    <p:sldId id="309" r:id="rId43"/>
    <p:sldId id="509" r:id="rId44"/>
    <p:sldId id="332" r:id="rId45"/>
    <p:sldId id="341" r:id="rId46"/>
    <p:sldId id="752" r:id="rId47"/>
    <p:sldId id="515" r:id="rId48"/>
    <p:sldId id="511" r:id="rId49"/>
    <p:sldId id="517" r:id="rId50"/>
    <p:sldId id="333" r:id="rId51"/>
    <p:sldId id="340" r:id="rId52"/>
    <p:sldId id="516" r:id="rId53"/>
    <p:sldId id="334" r:id="rId54"/>
    <p:sldId id="339" r:id="rId55"/>
    <p:sldId id="344" r:id="rId56"/>
    <p:sldId id="514" r:id="rId57"/>
    <p:sldId id="512" r:id="rId58"/>
    <p:sldId id="338" r:id="rId59"/>
    <p:sldId id="753" r:id="rId60"/>
    <p:sldId id="519" r:id="rId61"/>
    <p:sldId id="345" r:id="rId62"/>
    <p:sldId id="347" r:id="rId63"/>
    <p:sldId id="348" r:id="rId64"/>
    <p:sldId id="513" r:id="rId65"/>
    <p:sldId id="337" r:id="rId66"/>
    <p:sldId id="349" r:id="rId67"/>
    <p:sldId id="739" r:id="rId6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92"/>
    <p:restoredTop sz="94270"/>
  </p:normalViewPr>
  <p:slideViewPr>
    <p:cSldViewPr snapToGrid="0">
      <p:cViewPr varScale="1">
        <p:scale>
          <a:sx n="135" d="100"/>
          <a:sy n="135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2026/4/13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5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19338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092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691878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39427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27688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89214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7992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</a:t>
            </a:r>
            <a:r>
              <a:rPr kumimoji="1" lang="zh-TW" altLang="en-US" dirty="0"/>
              <a:t>連乘之後會變得很小</a:t>
            </a:r>
            <a:endParaRPr kumimoji="1" lang="en-US" altLang="zh-TW" dirty="0"/>
          </a:p>
          <a:p>
            <a:r>
              <a:rPr kumimoji="1" lang="zh-TW" altLang="en-US" dirty="0"/>
              <a:t>加上</a:t>
            </a:r>
            <a:r>
              <a:rPr kumimoji="1" lang="en-US" altLang="zh-TW" dirty="0"/>
              <a:t>log</a:t>
            </a:r>
            <a:r>
              <a:rPr kumimoji="1" lang="zh-TW" altLang="en-US" dirty="0"/>
              <a:t>可以轉為連加，避免連乘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log</a:t>
            </a:r>
            <a:r>
              <a:rPr kumimoji="1" lang="zh-TW" altLang="en-US" dirty="0"/>
              <a:t>是單調遞增函數</a:t>
            </a:r>
            <a:endParaRPr kumimoji="1" lang="en-US" altLang="zh-TW" dirty="0"/>
          </a:p>
          <a:p>
            <a:r>
              <a:rPr kumimoji="1" lang="zh-TW" altLang="en-US" dirty="0"/>
              <a:t>加了</a:t>
            </a:r>
            <a:r>
              <a:rPr kumimoji="1" lang="en-US" altLang="zh-TW" dirty="0"/>
              <a:t>log</a:t>
            </a:r>
            <a:r>
              <a:rPr kumimoji="1" lang="zh-TW" altLang="en-US" dirty="0"/>
              <a:t>不會使數值方向改變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6982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787813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During training, decoder output y hat at each decoding time step</a:t>
            </a:r>
          </a:p>
          <a:p>
            <a:r>
              <a:rPr kumimoji="1" lang="en-US" altLang="zh-TW" dirty="0"/>
              <a:t>With the ground truth input the produce the output token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9475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However, during testing, the output y hat at each time step will be directly feed to the next time step as input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94848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EB505-9F4B-472B-475C-0C7A90C0E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CCC8FB-CC68-46E5-1E2B-1D8BC0217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882637-07B6-E2F3-7C62-40735192F9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F4581C-76FA-8789-C002-DF7DB6C20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96170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59870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25352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89490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643360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27342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955400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4943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25L1NdbGFSHiX64RUTZ1YJ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arxiv.org/abs/1810.04805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151.png"/><Relationship Id="rId4" Type="http://schemas.openxmlformats.org/officeDocument/2006/relationships/image" Target="../media/image1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3" Type="http://schemas.openxmlformats.org/officeDocument/2006/relationships/image" Target="../media/image191.png"/><Relationship Id="rId7" Type="http://schemas.openxmlformats.org/officeDocument/2006/relationships/image" Target="../media/image2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1.png"/><Relationship Id="rId7" Type="http://schemas.openxmlformats.org/officeDocument/2006/relationships/image" Target="../media/image17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11" Type="http://schemas.openxmlformats.org/officeDocument/2006/relationships/image" Target="../media/image12.png"/><Relationship Id="rId5" Type="http://schemas.openxmlformats.org/officeDocument/2006/relationships/image" Target="../media/image150.png"/><Relationship Id="rId10" Type="http://schemas.openxmlformats.org/officeDocument/2006/relationships/image" Target="../media/image20.png"/><Relationship Id="rId4" Type="http://schemas.openxmlformats.org/officeDocument/2006/relationships/image" Target="../media/image140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4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3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16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5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.png"/><Relationship Id="rId3" Type="http://schemas.openxmlformats.org/officeDocument/2006/relationships/image" Target="../media/image34.pn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11" Type="http://schemas.openxmlformats.org/officeDocument/2006/relationships/image" Target="../media/image331.png"/><Relationship Id="rId5" Type="http://schemas.openxmlformats.org/officeDocument/2006/relationships/image" Target="../media/image270.png"/><Relationship Id="rId10" Type="http://schemas.openxmlformats.org/officeDocument/2006/relationships/image" Target="../media/image320.png"/><Relationship Id="rId4" Type="http://schemas.openxmlformats.org/officeDocument/2006/relationships/image" Target="../media/image260.png"/><Relationship Id="rId9" Type="http://schemas.openxmlformats.org/officeDocument/2006/relationships/image" Target="../media/image310.png"/><Relationship Id="rId1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5" Type="http://schemas.openxmlformats.org/officeDocument/2006/relationships/image" Target="../media/image162.png"/><Relationship Id="rId4" Type="http://schemas.openxmlformats.org/officeDocument/2006/relationships/image" Target="../media/image15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6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9.png"/><Relationship Id="rId7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45.png"/><Relationship Id="rId4" Type="http://schemas.openxmlformats.org/officeDocument/2006/relationships/image" Target="../media/image62.png"/><Relationship Id="rId9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0.png"/><Relationship Id="rId4" Type="http://schemas.openxmlformats.org/officeDocument/2006/relationships/image" Target="../media/image59.png"/><Relationship Id="rId9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3.png"/><Relationship Id="rId5" Type="http://schemas.openxmlformats.org/officeDocument/2006/relationships/image" Target="../media/image660.png"/><Relationship Id="rId10" Type="http://schemas.openxmlformats.org/officeDocument/2006/relationships/image" Target="../media/image72.png"/><Relationship Id="rId4" Type="http://schemas.openxmlformats.org/officeDocument/2006/relationships/image" Target="../media/image59.png"/><Relationship Id="rId9" Type="http://schemas.openxmlformats.org/officeDocument/2006/relationships/image" Target="../media/image7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.png"/><Relationship Id="rId3" Type="http://schemas.openxmlformats.org/officeDocument/2006/relationships/image" Target="../media/image60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3.png"/><Relationship Id="rId5" Type="http://schemas.openxmlformats.org/officeDocument/2006/relationships/image" Target="../media/image660.png"/><Relationship Id="rId10" Type="http://schemas.openxmlformats.org/officeDocument/2006/relationships/image" Target="../media/image72.png"/><Relationship Id="rId4" Type="http://schemas.openxmlformats.org/officeDocument/2006/relationships/image" Target="../media/image59.png"/><Relationship Id="rId9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46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47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3" Type="http://schemas.openxmlformats.org/officeDocument/2006/relationships/image" Target="../media/image60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47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48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48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24" Type="http://schemas.openxmlformats.org/officeDocument/2006/relationships/image" Target="../media/image95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4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9.png"/><Relationship Id="rId24" Type="http://schemas.openxmlformats.org/officeDocument/2006/relationships/image" Target="../media/image94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96.png"/><Relationship Id="rId24" Type="http://schemas.openxmlformats.org/officeDocument/2006/relationships/image" Target="../media/image97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2.png"/><Relationship Id="rId18" Type="http://schemas.openxmlformats.org/officeDocument/2006/relationships/image" Target="../media/image88.png"/><Relationship Id="rId3" Type="http://schemas.openxmlformats.org/officeDocument/2006/relationships/image" Target="../media/image60.png"/><Relationship Id="rId21" Type="http://schemas.openxmlformats.org/officeDocument/2006/relationships/image" Target="../media/image92.png"/><Relationship Id="rId7" Type="http://schemas.openxmlformats.org/officeDocument/2006/relationships/image" Target="../media/image76.png"/><Relationship Id="rId12" Type="http://schemas.openxmlformats.org/officeDocument/2006/relationships/image" Target="../media/image800.png"/><Relationship Id="rId17" Type="http://schemas.openxmlformats.org/officeDocument/2006/relationships/image" Target="../media/image87.png"/><Relationship Id="rId25" Type="http://schemas.openxmlformats.org/officeDocument/2006/relationships/image" Target="../media/image49.png"/><Relationship Id="rId16" Type="http://schemas.openxmlformats.org/officeDocument/2006/relationships/image" Target="../media/image85.png"/><Relationship Id="rId20" Type="http://schemas.openxmlformats.org/officeDocument/2006/relationships/image" Target="../media/image9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99.png"/><Relationship Id="rId24" Type="http://schemas.openxmlformats.org/officeDocument/2006/relationships/image" Target="../media/image1000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23" Type="http://schemas.openxmlformats.org/officeDocument/2006/relationships/image" Target="../media/image95.png"/><Relationship Id="rId10" Type="http://schemas.openxmlformats.org/officeDocument/2006/relationships/image" Target="../media/image78.png"/><Relationship Id="rId19" Type="http://schemas.openxmlformats.org/officeDocument/2006/relationships/image" Target="../media/image89.png"/><Relationship Id="rId4" Type="http://schemas.openxmlformats.org/officeDocument/2006/relationships/image" Target="../media/image59.png"/><Relationship Id="rId9" Type="http://schemas.openxmlformats.org/officeDocument/2006/relationships/image" Target="../media/image77.png"/><Relationship Id="rId14" Type="http://schemas.openxmlformats.org/officeDocument/2006/relationships/image" Target="../media/image83.png"/><Relationship Id="rId22" Type="http://schemas.openxmlformats.org/officeDocument/2006/relationships/image" Target="../media/image9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0.png"/><Relationship Id="rId2" Type="http://schemas.openxmlformats.org/officeDocument/2006/relationships/image" Target="../media/image112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1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Decoder-based Models</a:t>
            </a:r>
          </a:p>
          <a:p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2026/04/13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NLP0413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6E821F-164F-1463-304D-AB6691496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0925" y="4903419"/>
            <a:ext cx="1759010" cy="175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636542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GPT and language modeling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/>
              <a:t>Decoding strategies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Greedy Decoding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Beam Search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Top-k Sampling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Top-p Sampling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架構的後續應用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041" y="3595254"/>
            <a:ext cx="1213026" cy="201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472474" cy="2805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Generative Pre-training (GPT) series </a:t>
            </a:r>
            <a:r>
              <a:rPr kumimoji="1" lang="zh-TW" altLang="en-US" sz="2000" dirty="0"/>
              <a:t>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Decoder</a:t>
            </a:r>
            <a:endParaRPr kumimoji="1" lang="en" altLang="zh-TW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  <a:r>
              <a:rPr kumimoji="1" lang="zh-TW" altLang="en-US" sz="2000" dirty="0"/>
              <a:t> 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Encoder</a:t>
            </a:r>
            <a:endParaRPr kumimoji="1" lang="en" altLang="zh-TW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4"/>
              </a:rPr>
              <a:t>Devlin et al., 2018</a:t>
            </a:r>
            <a:endParaRPr kumimoji="1" lang="en-US" altLang="zh-TW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3249" y="1517710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133249" y="320655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5963410" y="4631416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183268" y="4220820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125617" y="5636957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AFD07D-B889-E41D-7ACB-7E25CEC09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061" y="3385823"/>
            <a:ext cx="1033417" cy="103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1849A13-09D9-27F1-4679-34F927EA4E08}"/>
              </a:ext>
            </a:extLst>
          </p:cNvPr>
          <p:cNvSpPr txBox="1"/>
          <p:nvPr/>
        </p:nvSpPr>
        <p:spPr>
          <a:xfrm>
            <a:off x="10746577" y="4431518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GPT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C5BC747-9024-1C96-9925-BCD93FE85666}"/>
              </a:ext>
            </a:extLst>
          </p:cNvPr>
          <p:cNvSpPr/>
          <p:nvPr/>
        </p:nvSpPr>
        <p:spPr>
          <a:xfrm>
            <a:off x="10290720" y="3190931"/>
            <a:ext cx="1791580" cy="161878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1E9F1B-CA8A-3325-F733-D5F51E04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</a:t>
            </a:r>
            <a:r>
              <a:rPr kumimoji="1" lang="zh-TW" altLang="en-US" dirty="0"/>
              <a:t> 是一個語言模型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127992-C13A-AA35-F0A0-3C853C81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D899FC5-2344-0EEC-EB81-18EB6A96C7B1}"/>
              </a:ext>
            </a:extLst>
          </p:cNvPr>
          <p:cNvSpPr txBox="1"/>
          <p:nvPr/>
        </p:nvSpPr>
        <p:spPr>
          <a:xfrm>
            <a:off x="653142" y="1837243"/>
            <a:ext cx="8540076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語言模型定義：語言模型</a:t>
            </a:r>
            <a:r>
              <a:rPr kumimoji="1" lang="en-US" altLang="zh-TW" sz="2000" dirty="0"/>
              <a:t> (Language Model) </a:t>
            </a:r>
            <a:r>
              <a:rPr kumimoji="1" lang="zh-TW" altLang="en-US" sz="2000" dirty="0"/>
              <a:t>是一個能預測並生成語言的機器學習模型</a:t>
            </a:r>
            <a:endParaRPr kumimoji="1" lang="en-US" altLang="zh-TW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28B9FC9-496A-517A-9BCA-2E029F233C1F}"/>
              </a:ext>
            </a:extLst>
          </p:cNvPr>
          <p:cNvSpPr txBox="1"/>
          <p:nvPr/>
        </p:nvSpPr>
        <p:spPr>
          <a:xfrm>
            <a:off x="8632371" y="872796"/>
            <a:ext cx="2939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developers.google.com</a:t>
            </a:r>
            <a:r>
              <a:rPr kumimoji="1" lang="en" altLang="zh-TW" sz="1200" dirty="0"/>
              <a:t>/machine-learning/resources/intro-</a:t>
            </a:r>
            <a:r>
              <a:rPr kumimoji="1" lang="en" altLang="zh-TW" sz="1200" dirty="0" err="1"/>
              <a:t>llms</a:t>
            </a:r>
            <a:endParaRPr kumimoji="1" lang="zh-TW" altLang="en-US" sz="1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7A07981-C617-6E8E-8740-C40A7BC71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899684"/>
            <a:ext cx="5700404" cy="3247387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C44073A-E46E-35A7-202E-403179D18DF2}"/>
              </a:ext>
            </a:extLst>
          </p:cNvPr>
          <p:cNvSpPr txBox="1"/>
          <p:nvPr/>
        </p:nvSpPr>
        <p:spPr>
          <a:xfrm>
            <a:off x="747335" y="3993712"/>
            <a:ext cx="1730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(</a:t>
            </a:r>
            <a:r>
              <a:rPr kumimoji="1" lang="zh-TW" altLang="en-US" sz="2000" dirty="0"/>
              <a:t>例子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下一個字預測</a:t>
            </a:r>
            <a:r>
              <a:rPr kumimoji="1" lang="en-US" altLang="zh-TW" sz="2000" dirty="0"/>
              <a:t> ➡️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799F758-6868-02D9-003D-C48B9BACFA23}"/>
              </a:ext>
            </a:extLst>
          </p:cNvPr>
          <p:cNvSpPr txBox="1"/>
          <p:nvPr/>
        </p:nvSpPr>
        <p:spPr>
          <a:xfrm>
            <a:off x="4911012" y="6363412"/>
            <a:ext cx="40305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Figure source: https://</a:t>
            </a:r>
            <a:r>
              <a:rPr kumimoji="1" lang="en" altLang="zh-TW" sz="1200" dirty="0" err="1"/>
              <a:t>support.apple.com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zh-tw</a:t>
            </a:r>
            <a:r>
              <a:rPr kumimoji="1" lang="en" altLang="zh-TW" sz="1200" dirty="0"/>
              <a:t>/104995</a:t>
            </a:r>
            <a:endParaRPr kumimoji="1" lang="zh-TW" altLang="en-US" sz="1200" dirty="0"/>
          </a:p>
        </p:txBody>
      </p:sp>
      <p:pic>
        <p:nvPicPr>
          <p:cNvPr id="1028" name="Picture 4" descr="在 iPhone 上輸入訊息時，鍵盤上方會出現預測字詞選項。">
            <a:extLst>
              <a:ext uri="{FF2B5EF4-FFF2-40B4-BE49-F238E27FC236}">
                <a16:creationId xmlns:a16="http://schemas.microsoft.com/office/drawing/2014/main" id="{E8ABAE89-DAEB-5460-A669-986502EF9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3218" y="2628869"/>
            <a:ext cx="1956864" cy="404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36AA3ED-1D0C-6A73-AB51-43A8BE9161E2}"/>
              </a:ext>
            </a:extLst>
          </p:cNvPr>
          <p:cNvSpPr/>
          <p:nvPr/>
        </p:nvSpPr>
        <p:spPr>
          <a:xfrm>
            <a:off x="9068853" y="5085184"/>
            <a:ext cx="2183363" cy="26125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623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85A419-B761-9BA4-581D-37DFCD0B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[RNN 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條件機率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C51E99-2D91-19D1-B39D-AB454E0D1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018C91-37CB-A2B2-79CA-EC5FFAB55E0F}"/>
              </a:ext>
            </a:extLst>
          </p:cNvPr>
          <p:cNvSpPr txBox="1"/>
          <p:nvPr/>
        </p:nvSpPr>
        <p:spPr>
          <a:xfrm>
            <a:off x="653143" y="1840468"/>
            <a:ext cx="6567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假設要讓模型生成一個句子：「天氣真好」</a:t>
            </a:r>
            <a:endParaRPr lang="zh-TW" altLang="en-US" sz="24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2C7A621-54CF-982A-208F-EE81E01E7288}"/>
              </a:ext>
            </a:extLst>
          </p:cNvPr>
          <p:cNvSpPr/>
          <p:nvPr/>
        </p:nvSpPr>
        <p:spPr>
          <a:xfrm>
            <a:off x="1604122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5C1DE3-DC42-33D4-CE31-8D11570F4A81}"/>
              </a:ext>
            </a:extLst>
          </p:cNvPr>
          <p:cNvSpPr txBox="1"/>
          <p:nvPr/>
        </p:nvSpPr>
        <p:spPr>
          <a:xfrm>
            <a:off x="1682049" y="5126057"/>
            <a:ext cx="113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</a:t>
            </a:r>
            <a:r>
              <a:rPr kumimoji="1" lang="en-US" altLang="zh-TW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(BOS)</a:t>
            </a:r>
            <a:endParaRPr kumimoji="1" lang="zh-TW" altLang="en-US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D1BDD19-1075-76A8-6E65-68F8118BE849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2247404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155EFC6-2B86-11EF-39D3-35EDE7E47E2D}"/>
              </a:ext>
            </a:extLst>
          </p:cNvPr>
          <p:cNvSpPr txBox="1"/>
          <p:nvPr/>
        </p:nvSpPr>
        <p:spPr>
          <a:xfrm>
            <a:off x="1682049" y="276148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CB132C1-055E-7095-06CA-38B86405887D}"/>
              </a:ext>
            </a:extLst>
          </p:cNvPr>
          <p:cNvCxnSpPr>
            <a:cxnSpLocks/>
            <a:stCxn id="7" idx="0"/>
            <a:endCxn id="15" idx="2"/>
          </p:cNvCxnSpPr>
          <p:nvPr/>
        </p:nvCxnSpPr>
        <p:spPr>
          <a:xfrm flipV="1">
            <a:off x="2247404" y="3130816"/>
            <a:ext cx="0" cy="6377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9EE703D-F67E-A0AB-871A-2F6F6E4AF9B6}"/>
              </a:ext>
            </a:extLst>
          </p:cNvPr>
          <p:cNvSpPr txBox="1"/>
          <p:nvPr/>
        </p:nvSpPr>
        <p:spPr>
          <a:xfrm>
            <a:off x="1221914" y="5920302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|BOS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922FE676-B0FA-15A7-0031-BEBD41D62E19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2890686" y="4127146"/>
            <a:ext cx="9094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E7EA5C7D-9C49-A98D-5274-1571DEEC40CB}"/>
              </a:ext>
            </a:extLst>
          </p:cNvPr>
          <p:cNvSpPr/>
          <p:nvPr/>
        </p:nvSpPr>
        <p:spPr>
          <a:xfrm>
            <a:off x="3800167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B6AF11-82C4-1E97-98EE-6AC7126E682C}"/>
              </a:ext>
            </a:extLst>
          </p:cNvPr>
          <p:cNvSpPr txBox="1"/>
          <p:nvPr/>
        </p:nvSpPr>
        <p:spPr>
          <a:xfrm>
            <a:off x="3878094" y="5126057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19049F-0FF1-AB3A-FDC8-F3F293724580}"/>
              </a:ext>
            </a:extLst>
          </p:cNvPr>
          <p:cNvSpPr txBox="1"/>
          <p:nvPr/>
        </p:nvSpPr>
        <p:spPr>
          <a:xfrm>
            <a:off x="3878094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13E147C-1DA0-AD82-96AC-B031AE550A5A}"/>
              </a:ext>
            </a:extLst>
          </p:cNvPr>
          <p:cNvCxnSpPr>
            <a:cxnSpLocks/>
            <a:stCxn id="22" idx="0"/>
            <a:endCxn id="24" idx="2"/>
          </p:cNvCxnSpPr>
          <p:nvPr/>
        </p:nvCxnSpPr>
        <p:spPr>
          <a:xfrm flipV="1">
            <a:off x="4443449" y="3128237"/>
            <a:ext cx="0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C69554F-D75A-750C-7A18-A7EBE85F7EC8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flipV="1">
            <a:off x="4443449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E8106A-BFA7-53F1-F296-0E15721F3F02}"/>
              </a:ext>
            </a:extLst>
          </p:cNvPr>
          <p:cNvSpPr txBox="1"/>
          <p:nvPr/>
        </p:nvSpPr>
        <p:spPr>
          <a:xfrm>
            <a:off x="3386370" y="5920301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F29898A4-E724-801A-4ED3-705BA56AEF46}"/>
              </a:ext>
            </a:extLst>
          </p:cNvPr>
          <p:cNvSpPr/>
          <p:nvPr/>
        </p:nvSpPr>
        <p:spPr>
          <a:xfrm>
            <a:off x="6002385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8B29917-9A66-3D14-6F3C-007D4CF26B34}"/>
              </a:ext>
            </a:extLst>
          </p:cNvPr>
          <p:cNvSpPr txBox="1"/>
          <p:nvPr/>
        </p:nvSpPr>
        <p:spPr>
          <a:xfrm>
            <a:off x="6080312" y="5126056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ADF297B-286A-8A22-3C9B-48FC4F21EE7B}"/>
              </a:ext>
            </a:extLst>
          </p:cNvPr>
          <p:cNvSpPr txBox="1"/>
          <p:nvPr/>
        </p:nvSpPr>
        <p:spPr>
          <a:xfrm>
            <a:off x="6074138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1A6D5EA-E957-EAF2-AC03-E4572F974BC0}"/>
              </a:ext>
            </a:extLst>
          </p:cNvPr>
          <p:cNvCxnSpPr>
            <a:cxnSpLocks/>
            <a:stCxn id="35" idx="0"/>
            <a:endCxn id="37" idx="2"/>
          </p:cNvCxnSpPr>
          <p:nvPr/>
        </p:nvCxnSpPr>
        <p:spPr>
          <a:xfrm flipH="1" flipV="1">
            <a:off x="6639493" y="3128237"/>
            <a:ext cx="6174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A81AF69-85EE-C2DF-4C21-B07FA59315BC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645667" y="4485753"/>
            <a:ext cx="0" cy="6403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3377379D-D458-0D44-9C13-56B9B1B34C37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5086731" y="4127146"/>
            <a:ext cx="9156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85FDD9DB-56C8-07A9-76EF-53DB5285B974}"/>
              </a:ext>
            </a:extLst>
          </p:cNvPr>
          <p:cNvSpPr/>
          <p:nvPr/>
        </p:nvSpPr>
        <p:spPr>
          <a:xfrm>
            <a:off x="8198428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3BD6734-4B6C-26FD-7B7A-1EAD0C8185D3}"/>
              </a:ext>
            </a:extLst>
          </p:cNvPr>
          <p:cNvCxnSpPr>
            <a:cxnSpLocks/>
          </p:cNvCxnSpPr>
          <p:nvPr/>
        </p:nvCxnSpPr>
        <p:spPr>
          <a:xfrm flipH="1" flipV="1">
            <a:off x="8847884" y="3128237"/>
            <a:ext cx="6174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101420D-6B2E-5618-5999-7A3A7CD75C65}"/>
              </a:ext>
            </a:extLst>
          </p:cNvPr>
          <p:cNvCxnSpPr>
            <a:cxnSpLocks/>
          </p:cNvCxnSpPr>
          <p:nvPr/>
        </p:nvCxnSpPr>
        <p:spPr>
          <a:xfrm flipV="1">
            <a:off x="8850971" y="4485754"/>
            <a:ext cx="0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E4BACEFE-0207-D316-3A2F-E1C863F85555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88949" y="4127146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36AD2FB-21CA-664B-71AB-AE9D26823743}"/>
              </a:ext>
            </a:extLst>
          </p:cNvPr>
          <p:cNvSpPr txBox="1"/>
          <p:nvPr/>
        </p:nvSpPr>
        <p:spPr>
          <a:xfrm>
            <a:off x="8270181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0709223-573E-2E2D-0B1F-65BB2C71AF1D}"/>
              </a:ext>
            </a:extLst>
          </p:cNvPr>
          <p:cNvCxnSpPr>
            <a:cxnSpLocks/>
          </p:cNvCxnSpPr>
          <p:nvPr/>
        </p:nvCxnSpPr>
        <p:spPr>
          <a:xfrm>
            <a:off x="9484992" y="4127145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9ED38F24-8837-CBEE-C182-41D690AAB9BF}"/>
              </a:ext>
            </a:extLst>
          </p:cNvPr>
          <p:cNvSpPr txBox="1"/>
          <p:nvPr/>
        </p:nvSpPr>
        <p:spPr>
          <a:xfrm>
            <a:off x="8282530" y="512605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58B91F5C-7965-097C-E52A-539DE10DADCA}"/>
              </a:ext>
            </a:extLst>
          </p:cNvPr>
          <p:cNvSpPr txBox="1"/>
          <p:nvPr/>
        </p:nvSpPr>
        <p:spPr>
          <a:xfrm>
            <a:off x="5688219" y="5920300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FB95BBE-2291-A897-E588-501B79736D88}"/>
              </a:ext>
            </a:extLst>
          </p:cNvPr>
          <p:cNvSpPr txBox="1"/>
          <p:nvPr/>
        </p:nvSpPr>
        <p:spPr>
          <a:xfrm>
            <a:off x="7944152" y="589761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、天、氣、真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8779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5" grpId="0"/>
      <p:bldP spid="19" grpId="0"/>
      <p:bldP spid="22" grpId="0" animBg="1"/>
      <p:bldP spid="23" grpId="0"/>
      <p:bldP spid="24" grpId="0"/>
      <p:bldP spid="34" grpId="0"/>
      <p:bldP spid="35" grpId="0" animBg="1"/>
      <p:bldP spid="36" grpId="0"/>
      <p:bldP spid="37" grpId="0"/>
      <p:bldP spid="48" grpId="0" animBg="1"/>
      <p:bldP spid="54" grpId="0"/>
      <p:bldP spid="56" grpId="0"/>
      <p:bldP spid="57" grpId="0"/>
      <p:bldP spid="5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文字生成過程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208394" y="5528709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844026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555699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170180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748877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118610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471280" y="4119833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539913" y="494150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3893752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633449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017115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3884908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(</a:t>
                </a:r>
                <a:r>
                  <a:rPr kumimoji="1" lang="zh-TW" altLang="en-US" dirty="0">
                    <a:solidFill>
                      <a:schemeClr val="tx1"/>
                    </a:solidFill>
                  </a:rPr>
                  <a:t>大矩陣</a:t>
                </a:r>
                <a:r>
                  <a:rPr kumimoji="1" lang="en-US" altLang="zh-TW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1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10</m:t>
                        </m:r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0×40000</m:t>
                        </m:r>
                      </m:sup>
                    </m:sSup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</a:rPr>
                  <a:t>)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+ </a:t>
                </a:r>
                <a:r>
                  <a:rPr kumimoji="1" lang="en-US" altLang="zh-TW" dirty="0" err="1">
                    <a:solidFill>
                      <a:schemeClr val="tx1"/>
                    </a:solidFill>
                  </a:rPr>
                  <a:t>Softmax</a:t>
                </a:r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344882" y="3129915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616717" y="1478736"/>
            <a:ext cx="6580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假設 </a:t>
            </a:r>
            <a:r>
              <a:rPr kumimoji="1" lang="en-US" altLang="zh-TW" dirty="0"/>
              <a:t>Hidden size </a:t>
            </a:r>
            <a:r>
              <a:rPr kumimoji="1" lang="zh-TW" altLang="en-US" dirty="0"/>
              <a:t>為</a:t>
            </a:r>
            <a:r>
              <a:rPr kumimoji="1" lang="en-US" altLang="zh-TW" dirty="0"/>
              <a:t> 100</a:t>
            </a:r>
            <a:r>
              <a:rPr kumimoji="1" lang="zh-TW" altLang="en-US" dirty="0"/>
              <a:t>；字典大小（</a:t>
            </a:r>
            <a:r>
              <a:rPr kumimoji="1" lang="en-US" altLang="zh-TW" dirty="0" err="1"/>
              <a:t>vocab_size</a:t>
            </a:r>
            <a:r>
              <a:rPr kumimoji="1" lang="zh-TW" altLang="en-US" dirty="0"/>
              <a:t>）為</a:t>
            </a:r>
            <a:r>
              <a:rPr kumimoji="1" lang="en-US" altLang="zh-TW" dirty="0"/>
              <a:t> 40000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2501" y="484818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40000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450159" y="3741517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588709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686812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730608" y="260441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730608" y="452792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7002199" y="447447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659611" y="254244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1017377" y="410746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59040" y="1711021"/>
            <a:ext cx="1028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字典裡面的字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625292" y="1849520"/>
            <a:ext cx="98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機率值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B444ACFB-5E0E-D0DF-A2DF-7963CB809357}"/>
                  </a:ext>
                </a:extLst>
              </p:cNvPr>
              <p:cNvSpPr/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B444ACFB-5E0E-D0DF-A2DF-7963CB8093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F52A8786-CA0F-AEFF-D7D1-1F5B59EB9F43}"/>
                  </a:ext>
                </a:extLst>
              </p:cNvPr>
              <p:cNvSpPr/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F52A8786-CA0F-AEFF-D7D1-1F5B59EB9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EF5DE241-5F75-D89A-1A51-9A86BD380920}"/>
              </a:ext>
            </a:extLst>
          </p:cNvPr>
          <p:cNvCxnSpPr>
            <a:cxnSpLocks/>
          </p:cNvCxnSpPr>
          <p:nvPr/>
        </p:nvCxnSpPr>
        <p:spPr>
          <a:xfrm flipV="1">
            <a:off x="2539913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489BBD3B-7C02-9C0A-0302-816EC06B6910}"/>
              </a:ext>
            </a:extLst>
          </p:cNvPr>
          <p:cNvCxnSpPr>
            <a:cxnSpLocks/>
          </p:cNvCxnSpPr>
          <p:nvPr/>
        </p:nvCxnSpPr>
        <p:spPr>
          <a:xfrm flipV="1">
            <a:off x="1170180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C307330-43A7-5C4F-303D-45CEB56FFED0}"/>
              </a:ext>
            </a:extLst>
          </p:cNvPr>
          <p:cNvSpPr txBox="1"/>
          <p:nvPr/>
        </p:nvSpPr>
        <p:spPr>
          <a:xfrm>
            <a:off x="3292204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BC4C2C-0914-85D0-C983-7F9511B41F06}"/>
              </a:ext>
            </a:extLst>
          </p:cNvPr>
          <p:cNvSpPr txBox="1"/>
          <p:nvPr/>
        </p:nvSpPr>
        <p:spPr>
          <a:xfrm>
            <a:off x="1938003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DB50ACD-E254-9C27-09A9-5BCBE94AFF66}"/>
              </a:ext>
            </a:extLst>
          </p:cNvPr>
          <p:cNvSpPr txBox="1"/>
          <p:nvPr/>
        </p:nvSpPr>
        <p:spPr>
          <a:xfrm>
            <a:off x="583802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57165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202FB-6BC0-34FB-D56F-AEAF4FC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常見</a:t>
            </a:r>
            <a:r>
              <a:rPr kumimoji="1" lang="en-US" altLang="zh-TW" dirty="0"/>
              <a:t>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69D133-9077-1833-8D05-8510205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35194AD4-600B-AFA3-C393-D0C1290A3E51}"/>
              </a:ext>
            </a:extLst>
          </p:cNvPr>
          <p:cNvSpPr txBox="1"/>
          <p:nvPr/>
        </p:nvSpPr>
        <p:spPr>
          <a:xfrm>
            <a:off x="746660" y="1850666"/>
            <a:ext cx="4905993" cy="959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Models: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透過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 去預測詞彙機率分佈的模型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3FF1C39-892D-65FF-7409-259C8CBEE11C}"/>
              </a:ext>
            </a:extLst>
          </p:cNvPr>
          <p:cNvSpPr/>
          <p:nvPr/>
        </p:nvSpPr>
        <p:spPr>
          <a:xfrm>
            <a:off x="1042767" y="3429000"/>
            <a:ext cx="1327077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DE7F2E3-2F2A-E30C-D7D5-E9CE0A235633}"/>
              </a:ext>
            </a:extLst>
          </p:cNvPr>
          <p:cNvSpPr/>
          <p:nvPr/>
        </p:nvSpPr>
        <p:spPr>
          <a:xfrm>
            <a:off x="1042766" y="4323348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Transformer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7E955D4-BD45-F2E0-8C6B-ED07B98C0708}"/>
              </a:ext>
            </a:extLst>
          </p:cNvPr>
          <p:cNvSpPr/>
          <p:nvPr/>
        </p:nvSpPr>
        <p:spPr>
          <a:xfrm>
            <a:off x="1042766" y="5217696"/>
            <a:ext cx="1805299" cy="56735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GPT-series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BF0DF79-9FBA-437F-509B-A59B32A88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94" y="1548119"/>
            <a:ext cx="3619047" cy="5159829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849A8796-0AC9-501B-8101-86BDF8FEE9C0}"/>
              </a:ext>
            </a:extLst>
          </p:cNvPr>
          <p:cNvSpPr/>
          <p:nvPr/>
        </p:nvSpPr>
        <p:spPr>
          <a:xfrm>
            <a:off x="7678882" y="1465119"/>
            <a:ext cx="1381991" cy="519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C907AF-3FE2-6FED-C77A-9397C3810897}"/>
              </a:ext>
            </a:extLst>
          </p:cNvPr>
          <p:cNvSpPr/>
          <p:nvPr/>
        </p:nvSpPr>
        <p:spPr>
          <a:xfrm>
            <a:off x="5947694" y="3075709"/>
            <a:ext cx="1784516" cy="3704976"/>
          </a:xfrm>
          <a:prstGeom prst="rect">
            <a:avLst/>
          </a:prstGeom>
          <a:solidFill>
            <a:schemeClr val="bg1">
              <a:lumMod val="75000"/>
              <a:alpha val="8343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99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GPT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最大化每個時間點的機率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blipFill>
                <a:blip r:embed="rId3"/>
                <a:stretch>
                  <a:fillRect l="-23529" t="-105941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圓角矩形 52">
            <a:extLst>
              <a:ext uri="{FF2B5EF4-FFF2-40B4-BE49-F238E27FC236}">
                <a16:creationId xmlns:a16="http://schemas.microsoft.com/office/drawing/2014/main" id="{E56B081F-94D2-3D44-AEF7-145771883E0A}"/>
              </a:ext>
            </a:extLst>
          </p:cNvPr>
          <p:cNvSpPr/>
          <p:nvPr/>
        </p:nvSpPr>
        <p:spPr>
          <a:xfrm>
            <a:off x="978574" y="329306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2AD5746E-79B9-5EC8-5A1A-42B5950F4FB0}"/>
              </a:ext>
            </a:extLst>
          </p:cNvPr>
          <p:cNvSpPr/>
          <p:nvPr/>
        </p:nvSpPr>
        <p:spPr>
          <a:xfrm>
            <a:off x="1060305" y="460768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849165CB-B39B-4A35-B189-73AD09AFA6F4}"/>
              </a:ext>
            </a:extLst>
          </p:cNvPr>
          <p:cNvSpPr/>
          <p:nvPr/>
        </p:nvSpPr>
        <p:spPr>
          <a:xfrm>
            <a:off x="397488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04D28F7A-BB87-E420-B4A6-87EFAE58B573}"/>
              </a:ext>
            </a:extLst>
          </p:cNvPr>
          <p:cNvSpPr/>
          <p:nvPr/>
        </p:nvSpPr>
        <p:spPr>
          <a:xfrm>
            <a:off x="4557797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E0A05F72-2010-0A18-AFF5-AC3392353FC2}"/>
              </a:ext>
            </a:extLst>
          </p:cNvPr>
          <p:cNvSpPr/>
          <p:nvPr/>
        </p:nvSpPr>
        <p:spPr>
          <a:xfrm>
            <a:off x="164322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E82AF96C-EBF2-D5AB-042A-BE3BEAB30F97}"/>
              </a:ext>
            </a:extLst>
          </p:cNvPr>
          <p:cNvSpPr/>
          <p:nvPr/>
        </p:nvSpPr>
        <p:spPr>
          <a:xfrm>
            <a:off x="222613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9" name="圓角矩形 58">
            <a:extLst>
              <a:ext uri="{FF2B5EF4-FFF2-40B4-BE49-F238E27FC236}">
                <a16:creationId xmlns:a16="http://schemas.microsoft.com/office/drawing/2014/main" id="{E8D812A7-35BC-59E9-6233-BFBBF2ED6EF1}"/>
              </a:ext>
            </a:extLst>
          </p:cNvPr>
          <p:cNvSpPr/>
          <p:nvPr/>
        </p:nvSpPr>
        <p:spPr>
          <a:xfrm>
            <a:off x="280905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E71E0BBC-F3F9-9B35-A02F-D6904A072013}"/>
              </a:ext>
            </a:extLst>
          </p:cNvPr>
          <p:cNvSpPr/>
          <p:nvPr/>
        </p:nvSpPr>
        <p:spPr>
          <a:xfrm>
            <a:off x="339196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556BF7F5-E500-D813-7FF7-4EFCAB97C5E3}"/>
              </a:ext>
            </a:extLst>
          </p:cNvPr>
          <p:cNvCxnSpPr>
            <a:cxnSpLocks/>
          </p:cNvCxnSpPr>
          <p:nvPr/>
        </p:nvCxnSpPr>
        <p:spPr>
          <a:xfrm flipV="1">
            <a:off x="129223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FD6FD892-97D8-8EE6-71A3-A157EBD96579}"/>
              </a:ext>
            </a:extLst>
          </p:cNvPr>
          <p:cNvCxnSpPr>
            <a:cxnSpLocks/>
          </p:cNvCxnSpPr>
          <p:nvPr/>
        </p:nvCxnSpPr>
        <p:spPr>
          <a:xfrm flipV="1">
            <a:off x="1872427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2CD4A9B7-D7FE-006C-23CC-CFF1E26DFB64}"/>
              </a:ext>
            </a:extLst>
          </p:cNvPr>
          <p:cNvCxnSpPr>
            <a:cxnSpLocks/>
          </p:cNvCxnSpPr>
          <p:nvPr/>
        </p:nvCxnSpPr>
        <p:spPr>
          <a:xfrm flipV="1">
            <a:off x="2452621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38F6DEDC-905F-25F0-F182-8E0D496CA00A}"/>
              </a:ext>
            </a:extLst>
          </p:cNvPr>
          <p:cNvCxnSpPr>
            <a:cxnSpLocks/>
          </p:cNvCxnSpPr>
          <p:nvPr/>
        </p:nvCxnSpPr>
        <p:spPr>
          <a:xfrm flipV="1">
            <a:off x="3032815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3D815DC0-BB63-272B-AA96-09D34C71DE3D}"/>
              </a:ext>
            </a:extLst>
          </p:cNvPr>
          <p:cNvCxnSpPr>
            <a:cxnSpLocks/>
          </p:cNvCxnSpPr>
          <p:nvPr/>
        </p:nvCxnSpPr>
        <p:spPr>
          <a:xfrm flipV="1">
            <a:off x="3613009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70225065-1F78-FF9F-4C28-6FCED4B9E399}"/>
              </a:ext>
            </a:extLst>
          </p:cNvPr>
          <p:cNvCxnSpPr>
            <a:cxnSpLocks/>
          </p:cNvCxnSpPr>
          <p:nvPr/>
        </p:nvCxnSpPr>
        <p:spPr>
          <a:xfrm flipV="1">
            <a:off x="419320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955ACEB5-1C85-0E86-2524-AB0F52D9EA43}"/>
              </a:ext>
            </a:extLst>
          </p:cNvPr>
          <p:cNvCxnSpPr>
            <a:cxnSpLocks/>
          </p:cNvCxnSpPr>
          <p:nvPr/>
        </p:nvCxnSpPr>
        <p:spPr>
          <a:xfrm flipV="1">
            <a:off x="4773396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31AE56F-4DF3-4AD7-786F-E2213B06A924}"/>
              </a:ext>
            </a:extLst>
          </p:cNvPr>
          <p:cNvCxnSpPr>
            <a:cxnSpLocks/>
          </p:cNvCxnSpPr>
          <p:nvPr/>
        </p:nvCxnSpPr>
        <p:spPr>
          <a:xfrm flipV="1">
            <a:off x="129223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圓角矩形 68">
            <a:extLst>
              <a:ext uri="{FF2B5EF4-FFF2-40B4-BE49-F238E27FC236}">
                <a16:creationId xmlns:a16="http://schemas.microsoft.com/office/drawing/2014/main" id="{0E92661B-C188-9EC9-B913-1F48F8DA8429}"/>
              </a:ext>
            </a:extLst>
          </p:cNvPr>
          <p:cNvSpPr/>
          <p:nvPr/>
        </p:nvSpPr>
        <p:spPr>
          <a:xfrm>
            <a:off x="106030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0" name="圓角矩形 69">
            <a:extLst>
              <a:ext uri="{FF2B5EF4-FFF2-40B4-BE49-F238E27FC236}">
                <a16:creationId xmlns:a16="http://schemas.microsoft.com/office/drawing/2014/main" id="{29AF26AF-3DC4-E24D-233C-C7A4FB5621EC}"/>
              </a:ext>
            </a:extLst>
          </p:cNvPr>
          <p:cNvSpPr/>
          <p:nvPr/>
        </p:nvSpPr>
        <p:spPr>
          <a:xfrm>
            <a:off x="1060305" y="5411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1" name="內容版面配置區 2">
            <a:extLst>
              <a:ext uri="{FF2B5EF4-FFF2-40B4-BE49-F238E27FC236}">
                <a16:creationId xmlns:a16="http://schemas.microsoft.com/office/drawing/2014/main" id="{0040D001-58C5-5A13-A865-799BECABAD6F}"/>
              </a:ext>
            </a:extLst>
          </p:cNvPr>
          <p:cNvSpPr txBox="1">
            <a:spLocks/>
          </p:cNvSpPr>
          <p:nvPr/>
        </p:nvSpPr>
        <p:spPr>
          <a:xfrm>
            <a:off x="1635682" y="5457165"/>
            <a:ext cx="3734811" cy="331176"/>
          </a:xfrm>
          <a:prstGeom prst="rect">
            <a:avLst/>
          </a:prstGeom>
        </p:spPr>
        <p:txBody>
          <a:bodyPr vert="horz" lIns="0" tIns="45720" rIns="0" bIns="45720" rtlCol="0" anchor="t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lang="en-US" altLang="zh-TW" sz="1800" dirty="0">
                <a:ea typeface="新細明體" panose="02020500000000000000" pitchFamily="18" charset="-120"/>
                <a:cs typeface="+mn-lt"/>
              </a:rPr>
              <a:t>Self-attention </a:t>
            </a:r>
            <a:r>
              <a:rPr lang="zh-TW" alt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n-lt"/>
              </a:rPr>
              <a:t>不可及的範圍</a:t>
            </a:r>
            <a:endParaRPr lang="en-US" altLang="zh-TW" sz="1800" dirty="0">
              <a:latin typeface="Microsoft JhengHei" panose="020B0604030504040204" pitchFamily="34" charset="-120"/>
              <a:ea typeface="Microsoft JhengHei" panose="020B0604030504040204" pitchFamily="34" charset="-120"/>
              <a:cs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/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 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圓角矩形 72">
            <a:extLst>
              <a:ext uri="{FF2B5EF4-FFF2-40B4-BE49-F238E27FC236}">
                <a16:creationId xmlns:a16="http://schemas.microsoft.com/office/drawing/2014/main" id="{9CED9391-FE04-72A7-D6D4-53AB83C3BEEB}"/>
              </a:ext>
            </a:extLst>
          </p:cNvPr>
          <p:cNvSpPr/>
          <p:nvPr/>
        </p:nvSpPr>
        <p:spPr>
          <a:xfrm>
            <a:off x="1643218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6F143B5D-ACE6-12E7-A6D9-787589415032}"/>
              </a:ext>
            </a:extLst>
          </p:cNvPr>
          <p:cNvCxnSpPr>
            <a:cxnSpLocks/>
          </p:cNvCxnSpPr>
          <p:nvPr/>
        </p:nvCxnSpPr>
        <p:spPr>
          <a:xfrm flipV="1">
            <a:off x="1863050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14DE862D-D50D-A681-2164-B5ED8C85E464}"/>
              </a:ext>
            </a:extLst>
          </p:cNvPr>
          <p:cNvSpPr/>
          <p:nvPr/>
        </p:nvSpPr>
        <p:spPr>
          <a:xfrm>
            <a:off x="1644150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/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圓角矩形 76">
            <a:extLst>
              <a:ext uri="{FF2B5EF4-FFF2-40B4-BE49-F238E27FC236}">
                <a16:creationId xmlns:a16="http://schemas.microsoft.com/office/drawing/2014/main" id="{FF9E136E-A7C5-ADE1-0C73-456E9CDFE916}"/>
              </a:ext>
            </a:extLst>
          </p:cNvPr>
          <p:cNvSpPr/>
          <p:nvPr/>
        </p:nvSpPr>
        <p:spPr>
          <a:xfrm>
            <a:off x="2226135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952DD999-E7EC-AD11-474F-B8C47BC90016}"/>
              </a:ext>
            </a:extLst>
          </p:cNvPr>
          <p:cNvSpPr/>
          <p:nvPr/>
        </p:nvSpPr>
        <p:spPr>
          <a:xfrm>
            <a:off x="2808425" y="460768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9" name="圓角矩形 78">
            <a:extLst>
              <a:ext uri="{FF2B5EF4-FFF2-40B4-BE49-F238E27FC236}">
                <a16:creationId xmlns:a16="http://schemas.microsoft.com/office/drawing/2014/main" id="{B605CB7C-E6AE-0CAF-13C5-00670FDB2978}"/>
              </a:ext>
            </a:extLst>
          </p:cNvPr>
          <p:cNvSpPr/>
          <p:nvPr/>
        </p:nvSpPr>
        <p:spPr>
          <a:xfrm>
            <a:off x="3391963" y="46076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0" name="圓角矩形 79">
            <a:extLst>
              <a:ext uri="{FF2B5EF4-FFF2-40B4-BE49-F238E27FC236}">
                <a16:creationId xmlns:a16="http://schemas.microsoft.com/office/drawing/2014/main" id="{25DDC4EA-9043-2978-C576-33ADFFE2D3E8}"/>
              </a:ext>
            </a:extLst>
          </p:cNvPr>
          <p:cNvSpPr/>
          <p:nvPr/>
        </p:nvSpPr>
        <p:spPr>
          <a:xfrm>
            <a:off x="3974880" y="460768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1" name="圓角矩形 80">
            <a:extLst>
              <a:ext uri="{FF2B5EF4-FFF2-40B4-BE49-F238E27FC236}">
                <a16:creationId xmlns:a16="http://schemas.microsoft.com/office/drawing/2014/main" id="{98069929-4DEE-2C40-3A84-7E509EC69AE2}"/>
              </a:ext>
            </a:extLst>
          </p:cNvPr>
          <p:cNvSpPr/>
          <p:nvPr/>
        </p:nvSpPr>
        <p:spPr>
          <a:xfrm>
            <a:off x="4557797" y="4607680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2" name="圓角矩形 81">
            <a:extLst>
              <a:ext uri="{FF2B5EF4-FFF2-40B4-BE49-F238E27FC236}">
                <a16:creationId xmlns:a16="http://schemas.microsoft.com/office/drawing/2014/main" id="{A4246D34-2A8F-D0B3-6834-6545334F2639}"/>
              </a:ext>
            </a:extLst>
          </p:cNvPr>
          <p:cNvSpPr/>
          <p:nvPr/>
        </p:nvSpPr>
        <p:spPr>
          <a:xfrm>
            <a:off x="2224887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22454C6F-BDE4-5EA8-63BA-32323A48E083}"/>
              </a:ext>
            </a:extLst>
          </p:cNvPr>
          <p:cNvSpPr/>
          <p:nvPr/>
        </p:nvSpPr>
        <p:spPr>
          <a:xfrm>
            <a:off x="280842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C454FCB8-917B-4EE3-9D38-FE0379C871F1}"/>
              </a:ext>
            </a:extLst>
          </p:cNvPr>
          <p:cNvSpPr/>
          <p:nvPr/>
        </p:nvSpPr>
        <p:spPr>
          <a:xfrm>
            <a:off x="3391342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5" name="圓角矩形 84">
            <a:extLst>
              <a:ext uri="{FF2B5EF4-FFF2-40B4-BE49-F238E27FC236}">
                <a16:creationId xmlns:a16="http://schemas.microsoft.com/office/drawing/2014/main" id="{5CBF80E2-B535-E860-7610-68FE567E8B14}"/>
              </a:ext>
            </a:extLst>
          </p:cNvPr>
          <p:cNvSpPr/>
          <p:nvPr/>
        </p:nvSpPr>
        <p:spPr>
          <a:xfrm>
            <a:off x="3974259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6" name="圓角矩形 85">
            <a:extLst>
              <a:ext uri="{FF2B5EF4-FFF2-40B4-BE49-F238E27FC236}">
                <a16:creationId xmlns:a16="http://schemas.microsoft.com/office/drawing/2014/main" id="{09F4531D-C74B-8FD2-1A18-05B0B52CEC4C}"/>
              </a:ext>
            </a:extLst>
          </p:cNvPr>
          <p:cNvSpPr/>
          <p:nvPr/>
        </p:nvSpPr>
        <p:spPr>
          <a:xfrm>
            <a:off x="4549006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16DDA635-18C5-E473-8AB5-387CA224E482}"/>
              </a:ext>
            </a:extLst>
          </p:cNvPr>
          <p:cNvCxnSpPr>
            <a:cxnSpLocks/>
          </p:cNvCxnSpPr>
          <p:nvPr/>
        </p:nvCxnSpPr>
        <p:spPr>
          <a:xfrm flipV="1">
            <a:off x="2452621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82799154-4C2E-FC22-3319-D26D3CDF2D68}"/>
              </a:ext>
            </a:extLst>
          </p:cNvPr>
          <p:cNvCxnSpPr>
            <a:cxnSpLocks/>
          </p:cNvCxnSpPr>
          <p:nvPr/>
        </p:nvCxnSpPr>
        <p:spPr>
          <a:xfrm flipV="1">
            <a:off x="3032815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2FA96EF0-C3F2-247C-225E-81049202E10D}"/>
              </a:ext>
            </a:extLst>
          </p:cNvPr>
          <p:cNvCxnSpPr>
            <a:cxnSpLocks/>
          </p:cNvCxnSpPr>
          <p:nvPr/>
        </p:nvCxnSpPr>
        <p:spPr>
          <a:xfrm flipV="1">
            <a:off x="3613009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8EE1F8A5-8E8F-28C6-68B7-BFFF8A8AF15F}"/>
              </a:ext>
            </a:extLst>
          </p:cNvPr>
          <p:cNvCxnSpPr>
            <a:cxnSpLocks/>
          </p:cNvCxnSpPr>
          <p:nvPr/>
        </p:nvCxnSpPr>
        <p:spPr>
          <a:xfrm flipV="1">
            <a:off x="419320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箭頭接點 90">
            <a:extLst>
              <a:ext uri="{FF2B5EF4-FFF2-40B4-BE49-F238E27FC236}">
                <a16:creationId xmlns:a16="http://schemas.microsoft.com/office/drawing/2014/main" id="{1E11C61A-444F-4842-1CEB-2B1EE08075B4}"/>
              </a:ext>
            </a:extLst>
          </p:cNvPr>
          <p:cNvCxnSpPr>
            <a:cxnSpLocks/>
          </p:cNvCxnSpPr>
          <p:nvPr/>
        </p:nvCxnSpPr>
        <p:spPr>
          <a:xfrm flipV="1">
            <a:off x="4773396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/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blipFill>
                <a:blip r:embed="rId6"/>
                <a:stretch>
                  <a:fillRect r="-99138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/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⋅⋅⋅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內容版面配置區 2">
            <a:extLst>
              <a:ext uri="{FF2B5EF4-FFF2-40B4-BE49-F238E27FC236}">
                <a16:creationId xmlns:a16="http://schemas.microsoft.com/office/drawing/2014/main" id="{40440265-CFFB-E8B4-A5D9-3D7A3B779179}"/>
              </a:ext>
            </a:extLst>
          </p:cNvPr>
          <p:cNvSpPr txBox="1">
            <a:spLocks/>
          </p:cNvSpPr>
          <p:nvPr/>
        </p:nvSpPr>
        <p:spPr>
          <a:xfrm>
            <a:off x="9974323" y="3974650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dirty="0">
                <a:ea typeface="Microsoft JhengHei" panose="020B0604030504040204" pitchFamily="34" charset="-120"/>
                <a:cs typeface="+mn-lt"/>
              </a:rPr>
              <a:t>Language Modeling</a:t>
            </a:r>
            <a:endParaRPr kumimoji="1" lang="zh-TW" altLang="en-US" sz="2400" dirty="0"/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9449937" y="4399390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5577978" y="2970387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目標函數：</a:t>
            </a:r>
            <a:endParaRPr kumimoji="1"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36601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73" grpId="0" animBg="1"/>
      <p:bldP spid="75" grpId="0" animBg="1"/>
      <p:bldP spid="76" grpId="0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92" grpId="0"/>
      <p:bldP spid="93" grpId="0"/>
      <p:bldP spid="94" grpId="0"/>
      <p:bldP spid="9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⁡(</m:t>
                      </m:r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blipFill>
                <a:blip r:embed="rId3"/>
                <a:stretch>
                  <a:fillRect l="-12366" t="-106931" r="-269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5445026" y="4616328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739217" y="1646839"/>
            <a:ext cx="10251363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整句機率是很多條件機率</a:t>
            </a:r>
            <a:r>
              <a:rPr lang="zh-TW" altLang="en-US" sz="2400" dirty="0"/>
              <a:t>一路相乘 </a:t>
            </a:r>
            <a:r>
              <a:rPr lang="en-US" altLang="zh-TW" sz="2400" dirty="0"/>
              <a:t>(</a:t>
            </a:r>
            <a:r>
              <a:rPr lang="zh-TW" altLang="en-US" sz="2400" dirty="0"/>
              <a:t>隨著</a:t>
            </a:r>
            <a:r>
              <a:rPr lang="en-US" altLang="zh-TW" sz="2400" dirty="0"/>
              <a:t>t</a:t>
            </a:r>
            <a:r>
              <a:rPr lang="zh-TW" altLang="en-US" sz="2400" dirty="0"/>
              <a:t>增加結果接近 </a:t>
            </a:r>
            <a:r>
              <a:rPr lang="en-US" altLang="zh-TW" sz="2400" dirty="0"/>
              <a:t>0)</a:t>
            </a: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，因此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通常會取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log</a:t>
            </a: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：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/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blipFill>
                <a:blip r:embed="rId4"/>
                <a:stretch>
                  <a:fillRect l="-17742" t="-108000" r="-269" b="-16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E1423BFA-DAA7-5DF8-183E-651D744A69A9}"/>
              </a:ext>
            </a:extLst>
          </p:cNvPr>
          <p:cNvSpPr txBox="1">
            <a:spLocks/>
          </p:cNvSpPr>
          <p:nvPr/>
        </p:nvSpPr>
        <p:spPr>
          <a:xfrm>
            <a:off x="6096000" y="5037253"/>
            <a:ext cx="4894580" cy="962331"/>
          </a:xfrm>
          <a:prstGeom prst="rect">
            <a:avLst/>
          </a:prstGeom>
        </p:spPr>
        <p:txBody>
          <a:bodyPr vert="horz" lIns="0" tIns="45720" rIns="0" bIns="45720" rtlCol="0" anchor="ctr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加上</a:t>
            </a:r>
            <a:r>
              <a:rPr kumimoji="1" lang="zh-TW" altLang="en-US" sz="2400" b="1" u="sng" dirty="0">
                <a:ea typeface="Microsoft JhengHei" panose="020B0604030504040204" pitchFamily="34" charset="-120"/>
                <a:cs typeface="+mn-lt"/>
              </a:rPr>
              <a:t>負號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之後就是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 Cross-entropy</a:t>
            </a:r>
          </a:p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b="1" dirty="0"/>
              <a:t>(loss </a:t>
            </a:r>
            <a:r>
              <a:rPr kumimoji="1" lang="zh-TW" altLang="en-US" sz="2400" b="1" dirty="0"/>
              <a:t>越小越好</a:t>
            </a:r>
            <a:r>
              <a:rPr kumimoji="1" lang="en-US" altLang="zh-TW" sz="2400" b="1" dirty="0"/>
              <a:t>)</a:t>
            </a:r>
            <a:endParaRPr kumimoji="1" lang="zh-TW" altLang="en-US" sz="2400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06F56E-FEB4-6F49-7B21-31D039014B3D}"/>
              </a:ext>
            </a:extLst>
          </p:cNvPr>
          <p:cNvSpPr txBox="1">
            <a:spLocks/>
          </p:cNvSpPr>
          <p:nvPr/>
        </p:nvSpPr>
        <p:spPr>
          <a:xfrm>
            <a:off x="6112328" y="4228912"/>
            <a:ext cx="4894580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  <a:cs typeface="+mn-lt"/>
              </a:rPr>
              <a:t>越大越好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63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98" grpId="0"/>
      <p:bldP spid="7" grpId="0"/>
      <p:bldP spid="9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[Recap] 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10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761485-2411-8B51-3EAF-FB260B39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DFD992-EE9B-CF47-1F33-3C8A5E803DCF}"/>
              </a:ext>
            </a:extLst>
          </p:cNvPr>
          <p:cNvSpPr txBox="1"/>
          <p:nvPr/>
        </p:nvSpPr>
        <p:spPr>
          <a:xfrm>
            <a:off x="5387735" y="2705453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CGU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love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hate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like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5E4B2C0-E952-28BB-43AD-4AF71E36A6A7}"/>
              </a:ext>
            </a:extLst>
          </p:cNvPr>
          <p:cNvSpPr txBox="1"/>
          <p:nvPr/>
        </p:nvSpPr>
        <p:spPr>
          <a:xfrm>
            <a:off x="5225184" y="2274496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92E2BA-E5A3-6D18-67DE-7FED3D7A6188}"/>
              </a:ext>
            </a:extLst>
          </p:cNvPr>
          <p:cNvSpPr txBox="1"/>
          <p:nvPr/>
        </p:nvSpPr>
        <p:spPr>
          <a:xfrm>
            <a:off x="6415493" y="2275339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743197-8878-762F-10B4-CFFF9CD39611}"/>
              </a:ext>
            </a:extLst>
          </p:cNvPr>
          <p:cNvSpPr txBox="1"/>
          <p:nvPr/>
        </p:nvSpPr>
        <p:spPr>
          <a:xfrm>
            <a:off x="3777816" y="3254186"/>
            <a:ext cx="1296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Example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Vocab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假設只有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個字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A9B04ED-8AED-AF03-3644-47CD75ABA4D8}"/>
              </a:ext>
            </a:extLst>
          </p:cNvPr>
          <p:cNvSpPr txBox="1"/>
          <p:nvPr/>
        </p:nvSpPr>
        <p:spPr>
          <a:xfrm>
            <a:off x="7563400" y="2736161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86B0476A-0ABE-50C3-447B-72A2519D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對每個 </a:t>
            </a:r>
            <a:r>
              <a:rPr kumimoji="1" lang="en-US" altLang="zh-TW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dirty="0">
                <a:ea typeface="Microsoft JhengHei" panose="020B0604030504040204" pitchFamily="34" charset="-120"/>
              </a:rPr>
              <a:t>都做分類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AFCADAD-B29A-3DDF-772F-9FCC70A7124A}"/>
              </a:ext>
            </a:extLst>
          </p:cNvPr>
          <p:cNvSpPr txBox="1"/>
          <p:nvPr/>
        </p:nvSpPr>
        <p:spPr>
          <a:xfrm>
            <a:off x="7460792" y="2263839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CA918D-83CC-97FE-148A-5B38D4CE4A86}"/>
              </a:ext>
            </a:extLst>
          </p:cNvPr>
          <p:cNvSpPr txBox="1"/>
          <p:nvPr/>
        </p:nvSpPr>
        <p:spPr>
          <a:xfrm>
            <a:off x="8665229" y="2336121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796932E-DA86-A834-22A2-F18A1200C0B1}"/>
              </a:ext>
            </a:extLst>
          </p:cNvPr>
          <p:cNvSpPr txBox="1"/>
          <p:nvPr/>
        </p:nvSpPr>
        <p:spPr>
          <a:xfrm>
            <a:off x="713500" y="1994652"/>
            <a:ext cx="3133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在</a:t>
            </a:r>
            <a:r>
              <a:rPr kumimoji="1" lang="en-US" altLang="zh-TW" dirty="0">
                <a:ea typeface="Microsoft JhengHei" panose="020B0604030504040204" pitchFamily="34" charset="-120"/>
              </a:rPr>
              <a:t> t </a:t>
            </a:r>
            <a:r>
              <a:rPr kumimoji="1" lang="zh-TW" altLang="en-US" dirty="0">
                <a:ea typeface="Microsoft JhengHei" panose="020B0604030504040204" pitchFamily="34" charset="-120"/>
              </a:rPr>
              <a:t>時間點的正確答案是 </a:t>
            </a:r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r>
              <a:rPr kumimoji="1" lang="zh-TW" altLang="en-US" dirty="0">
                <a:ea typeface="Microsoft JhengHei" panose="020B0604030504040204" pitchFamily="34" charset="-120"/>
              </a:rPr>
              <a:t> 的字詞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7E8F12-4FAA-5840-CBE1-E7818E26BEE0}"/>
              </a:ext>
            </a:extLst>
          </p:cNvPr>
          <p:cNvSpPr txBox="1"/>
          <p:nvPr/>
        </p:nvSpPr>
        <p:spPr>
          <a:xfrm>
            <a:off x="1318875" y="3144752"/>
            <a:ext cx="172665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love </a:t>
            </a:r>
            <a:r>
              <a:rPr kumimoji="1" lang="en-US" altLang="zh-TW" sz="2400" dirty="0">
                <a:solidFill>
                  <a:schemeClr val="bg1">
                    <a:lumMod val="75000"/>
                  </a:schemeClr>
                </a:solidFill>
                <a:ea typeface="Microsoft JhengHei" panose="020B0604030504040204" pitchFamily="34" charset="-120"/>
              </a:rPr>
              <a:t>CGU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09D7DF4-B675-533A-657A-001DDECC3B07}"/>
              </a:ext>
            </a:extLst>
          </p:cNvPr>
          <p:cNvSpPr txBox="1"/>
          <p:nvPr/>
        </p:nvSpPr>
        <p:spPr>
          <a:xfrm>
            <a:off x="1667528" y="3689641"/>
            <a:ext cx="336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270F0F5-B102-51A9-70CB-7EE46B4E2C88}"/>
              </a:ext>
            </a:extLst>
          </p:cNvPr>
          <p:cNvSpPr txBox="1"/>
          <p:nvPr/>
        </p:nvSpPr>
        <p:spPr>
          <a:xfrm>
            <a:off x="2182200" y="3689641"/>
            <a:ext cx="593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41630-608F-C98E-E884-FCDFBA35889F}"/>
              </a:ext>
            </a:extLst>
          </p:cNvPr>
          <p:cNvSpPr txBox="1"/>
          <p:nvPr/>
        </p:nvSpPr>
        <p:spPr>
          <a:xfrm>
            <a:off x="6360759" y="2718047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368F85E-C0C3-1861-8E3A-112234521778}"/>
              </a:ext>
            </a:extLst>
          </p:cNvPr>
          <p:cNvSpPr txBox="1"/>
          <p:nvPr/>
        </p:nvSpPr>
        <p:spPr>
          <a:xfrm>
            <a:off x="8704649" y="2736160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B916830-494D-4054-555A-596CE8689BB5}"/>
              </a:ext>
            </a:extLst>
          </p:cNvPr>
          <p:cNvSpPr txBox="1"/>
          <p:nvPr/>
        </p:nvSpPr>
        <p:spPr>
          <a:xfrm>
            <a:off x="10349263" y="386689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30D4C7-9CEA-7CCB-3917-A565B274C52E}"/>
              </a:ext>
            </a:extLst>
          </p:cNvPr>
          <p:cNvSpPr/>
          <p:nvPr/>
        </p:nvSpPr>
        <p:spPr>
          <a:xfrm>
            <a:off x="9894518" y="403123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8882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6" grpId="0"/>
      <p:bldP spid="19" grpId="0"/>
      <p:bldP spid="20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D9DE-E048-4FF3-1B33-51FA3D442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Language Models </a:t>
            </a:r>
            <a:r>
              <a:rPr kumimoji="1" lang="zh-TW" altLang="en-US" dirty="0"/>
              <a:t>終究是 </a:t>
            </a:r>
            <a:r>
              <a:rPr kumimoji="1" lang="en-US" altLang="zh-TW" dirty="0"/>
              <a:t>left-to-right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ED01C8-2872-5C1F-76D2-FE9BFAA7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7E11F5A-D18F-EF3C-CEBF-6A742C2F4538}"/>
              </a:ext>
            </a:extLst>
          </p:cNvPr>
          <p:cNvSpPr/>
          <p:nvPr/>
        </p:nvSpPr>
        <p:spPr>
          <a:xfrm>
            <a:off x="1705598" y="423339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CA821E23-F199-3CA1-E0F8-86A351755970}"/>
              </a:ext>
            </a:extLst>
          </p:cNvPr>
          <p:cNvSpPr/>
          <p:nvPr/>
        </p:nvSpPr>
        <p:spPr>
          <a:xfrm>
            <a:off x="1742992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3893E3B-E7BC-CD5A-0E94-F5C831576A3A}"/>
              </a:ext>
            </a:extLst>
          </p:cNvPr>
          <p:cNvSpPr/>
          <p:nvPr/>
        </p:nvSpPr>
        <p:spPr>
          <a:xfrm>
            <a:off x="2248968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4898CCC-85B4-6CCC-3907-E27D5C85B1E0}"/>
              </a:ext>
            </a:extLst>
          </p:cNvPr>
          <p:cNvSpPr/>
          <p:nvPr/>
        </p:nvSpPr>
        <p:spPr>
          <a:xfrm>
            <a:off x="4778846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5546552-1B10-A003-8AAD-C28E8C50B044}"/>
              </a:ext>
            </a:extLst>
          </p:cNvPr>
          <p:cNvSpPr/>
          <p:nvPr/>
        </p:nvSpPr>
        <p:spPr>
          <a:xfrm>
            <a:off x="528482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A71AC1A-6681-83ED-C227-712BEBB50F8A}"/>
              </a:ext>
            </a:extLst>
          </p:cNvPr>
          <p:cNvSpPr/>
          <p:nvPr/>
        </p:nvSpPr>
        <p:spPr>
          <a:xfrm>
            <a:off x="2754944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3EFEED1-6ACC-898C-1952-9B513E31D683}"/>
              </a:ext>
            </a:extLst>
          </p:cNvPr>
          <p:cNvSpPr/>
          <p:nvPr/>
        </p:nvSpPr>
        <p:spPr>
          <a:xfrm>
            <a:off x="3260919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B07FE92-7393-670D-7BED-1B62676FC264}"/>
              </a:ext>
            </a:extLst>
          </p:cNvPr>
          <p:cNvSpPr/>
          <p:nvPr/>
        </p:nvSpPr>
        <p:spPr>
          <a:xfrm>
            <a:off x="3766895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F04C0BC-02B9-76C3-464B-07E0B4B2B068}"/>
              </a:ext>
            </a:extLst>
          </p:cNvPr>
          <p:cNvSpPr/>
          <p:nvPr/>
        </p:nvSpPr>
        <p:spPr>
          <a:xfrm>
            <a:off x="427287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2CC6764-6478-507E-4DD5-EF20B4EB6E5D}"/>
              </a:ext>
            </a:extLst>
          </p:cNvPr>
          <p:cNvCxnSpPr>
            <a:cxnSpLocks/>
          </p:cNvCxnSpPr>
          <p:nvPr/>
        </p:nvCxnSpPr>
        <p:spPr>
          <a:xfrm flipV="1">
            <a:off x="1977642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D9CC5F07-EDC0-6CFB-09D9-9C4CD1B5DCD8}"/>
              </a:ext>
            </a:extLst>
          </p:cNvPr>
          <p:cNvCxnSpPr>
            <a:cxnSpLocks/>
          </p:cNvCxnSpPr>
          <p:nvPr/>
        </p:nvCxnSpPr>
        <p:spPr>
          <a:xfrm flipV="1">
            <a:off x="2480896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1EA07DE7-02AD-D084-A4B2-F8C3D393C18E}"/>
              </a:ext>
            </a:extLst>
          </p:cNvPr>
          <p:cNvCxnSpPr>
            <a:cxnSpLocks/>
          </p:cNvCxnSpPr>
          <p:nvPr/>
        </p:nvCxnSpPr>
        <p:spPr>
          <a:xfrm flipV="1">
            <a:off x="2984149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507B20F-EEA8-D1EF-CFE8-C3E1CC011158}"/>
              </a:ext>
            </a:extLst>
          </p:cNvPr>
          <p:cNvCxnSpPr>
            <a:cxnSpLocks/>
          </p:cNvCxnSpPr>
          <p:nvPr/>
        </p:nvCxnSpPr>
        <p:spPr>
          <a:xfrm flipV="1">
            <a:off x="348740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9294E3E5-B978-E1A1-6268-87DCFA562D1D}"/>
              </a:ext>
            </a:extLst>
          </p:cNvPr>
          <p:cNvCxnSpPr>
            <a:cxnSpLocks/>
          </p:cNvCxnSpPr>
          <p:nvPr/>
        </p:nvCxnSpPr>
        <p:spPr>
          <a:xfrm flipV="1">
            <a:off x="3990657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DB0F2A45-A557-F436-2293-8DAEA62ECD90}"/>
              </a:ext>
            </a:extLst>
          </p:cNvPr>
          <p:cNvCxnSpPr>
            <a:cxnSpLocks/>
          </p:cNvCxnSpPr>
          <p:nvPr/>
        </p:nvCxnSpPr>
        <p:spPr>
          <a:xfrm flipV="1">
            <a:off x="4493911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2B5644B-9940-3A68-2B91-CE77B606946C}"/>
              </a:ext>
            </a:extLst>
          </p:cNvPr>
          <p:cNvCxnSpPr>
            <a:cxnSpLocks/>
          </p:cNvCxnSpPr>
          <p:nvPr/>
        </p:nvCxnSpPr>
        <p:spPr>
          <a:xfrm flipV="1">
            <a:off x="499716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31EC7936-E7BF-B0F7-F548-D61F1B550C24}"/>
              </a:ext>
            </a:extLst>
          </p:cNvPr>
          <p:cNvCxnSpPr>
            <a:cxnSpLocks/>
          </p:cNvCxnSpPr>
          <p:nvPr/>
        </p:nvCxnSpPr>
        <p:spPr>
          <a:xfrm flipV="1">
            <a:off x="5500420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/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blipFill>
                <a:blip r:embed="rId3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/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blipFill>
                <a:blip r:embed="rId4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/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blipFill>
                <a:blip r:embed="rId5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/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blipFill>
                <a:blip r:embed="rId6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97297D41-E37A-CE9C-33FE-0B818B43B7B8}"/>
              </a:ext>
            </a:extLst>
          </p:cNvPr>
          <p:cNvCxnSpPr>
            <a:cxnSpLocks/>
          </p:cNvCxnSpPr>
          <p:nvPr/>
        </p:nvCxnSpPr>
        <p:spPr>
          <a:xfrm flipV="1">
            <a:off x="298414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5A8D68EE-435F-EF1A-57FE-334927C0A395}"/>
              </a:ext>
            </a:extLst>
          </p:cNvPr>
          <p:cNvCxnSpPr>
            <a:cxnSpLocks/>
          </p:cNvCxnSpPr>
          <p:nvPr/>
        </p:nvCxnSpPr>
        <p:spPr>
          <a:xfrm flipV="1">
            <a:off x="3487404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0C2F715-74D1-1EDE-5DBC-ADA1AC423D6D}"/>
              </a:ext>
            </a:extLst>
          </p:cNvPr>
          <p:cNvCxnSpPr>
            <a:cxnSpLocks/>
          </p:cNvCxnSpPr>
          <p:nvPr/>
        </p:nvCxnSpPr>
        <p:spPr>
          <a:xfrm flipV="1">
            <a:off x="3990657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6292DF07-172E-D5A3-485E-7CFD38F50669}"/>
              </a:ext>
            </a:extLst>
          </p:cNvPr>
          <p:cNvCxnSpPr>
            <a:cxnSpLocks/>
          </p:cNvCxnSpPr>
          <p:nvPr/>
        </p:nvCxnSpPr>
        <p:spPr>
          <a:xfrm flipV="1">
            <a:off x="4493911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67">
            <a:extLst>
              <a:ext uri="{FF2B5EF4-FFF2-40B4-BE49-F238E27FC236}">
                <a16:creationId xmlns:a16="http://schemas.microsoft.com/office/drawing/2014/main" id="{585DA97F-99CC-A251-DB9B-74DFE4452E0C}"/>
              </a:ext>
            </a:extLst>
          </p:cNvPr>
          <p:cNvSpPr txBox="1"/>
          <p:nvPr/>
        </p:nvSpPr>
        <p:spPr>
          <a:xfrm>
            <a:off x="1588331" y="5920636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/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blipFill>
                <a:blip r:embed="rId7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C3BE99A1-F85D-50CF-E74F-496136B0EE20}"/>
              </a:ext>
            </a:extLst>
          </p:cNvPr>
          <p:cNvCxnSpPr>
            <a:cxnSpLocks/>
          </p:cNvCxnSpPr>
          <p:nvPr/>
        </p:nvCxnSpPr>
        <p:spPr>
          <a:xfrm flipV="1">
            <a:off x="247443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/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blipFill>
                <a:blip r:embed="rId8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2475E79F-48DE-9209-0580-B79AD575C254}"/>
              </a:ext>
            </a:extLst>
          </p:cNvPr>
          <p:cNvCxnSpPr>
            <a:cxnSpLocks/>
          </p:cNvCxnSpPr>
          <p:nvPr/>
        </p:nvCxnSpPr>
        <p:spPr>
          <a:xfrm flipV="1">
            <a:off x="5008052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/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blipFill>
                <a:blip r:embed="rId9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920B818E-CFA1-7700-65E1-52C52F8C18FC}"/>
              </a:ext>
            </a:extLst>
          </p:cNvPr>
          <p:cNvCxnSpPr>
            <a:cxnSpLocks/>
          </p:cNvCxnSpPr>
          <p:nvPr/>
        </p:nvCxnSpPr>
        <p:spPr>
          <a:xfrm flipV="1">
            <a:off x="5514027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/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blipFill>
                <a:blip r:embed="rId10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C8E57D72-8417-2DCC-3C3F-B283E10E0506}"/>
              </a:ext>
            </a:extLst>
          </p:cNvPr>
          <p:cNvCxnSpPr>
            <a:cxnSpLocks/>
          </p:cNvCxnSpPr>
          <p:nvPr/>
        </p:nvCxnSpPr>
        <p:spPr>
          <a:xfrm flipV="1">
            <a:off x="1977642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53DBA92-7DAA-0768-80D2-10D883615E52}"/>
              </a:ext>
            </a:extLst>
          </p:cNvPr>
          <p:cNvSpPr/>
          <p:nvPr/>
        </p:nvSpPr>
        <p:spPr>
          <a:xfrm>
            <a:off x="1743921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C9DFD210-6286-27DF-8D00-F92967960059}"/>
              </a:ext>
            </a:extLst>
          </p:cNvPr>
          <p:cNvSpPr/>
          <p:nvPr/>
        </p:nvSpPr>
        <p:spPr>
          <a:xfrm>
            <a:off x="4273799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12D4FFA5-E069-5132-0252-C9440426B00B}"/>
              </a:ext>
            </a:extLst>
          </p:cNvPr>
          <p:cNvSpPr/>
          <p:nvPr/>
        </p:nvSpPr>
        <p:spPr>
          <a:xfrm>
            <a:off x="477977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E4E53AC8-CA3F-F889-7A24-4FEF67F8FB30}"/>
              </a:ext>
            </a:extLst>
          </p:cNvPr>
          <p:cNvSpPr/>
          <p:nvPr/>
        </p:nvSpPr>
        <p:spPr>
          <a:xfrm>
            <a:off x="2249897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0FC23321-FC0E-086A-A81C-1AD8E45C459F}"/>
              </a:ext>
            </a:extLst>
          </p:cNvPr>
          <p:cNvSpPr/>
          <p:nvPr/>
        </p:nvSpPr>
        <p:spPr>
          <a:xfrm>
            <a:off x="2755872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4" name="圓角矩形 43">
            <a:extLst>
              <a:ext uri="{FF2B5EF4-FFF2-40B4-BE49-F238E27FC236}">
                <a16:creationId xmlns:a16="http://schemas.microsoft.com/office/drawing/2014/main" id="{296D0F49-ED38-2C87-075D-EE8E39BFDC08}"/>
              </a:ext>
            </a:extLst>
          </p:cNvPr>
          <p:cNvSpPr/>
          <p:nvPr/>
        </p:nvSpPr>
        <p:spPr>
          <a:xfrm>
            <a:off x="3261848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7423AF29-B7FA-C06B-210D-2C620D37F568}"/>
              </a:ext>
            </a:extLst>
          </p:cNvPr>
          <p:cNvSpPr/>
          <p:nvPr/>
        </p:nvSpPr>
        <p:spPr>
          <a:xfrm>
            <a:off x="376782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0904B468-014C-98DD-E154-1ECB36EA3A9B}"/>
              </a:ext>
            </a:extLst>
          </p:cNvPr>
          <p:cNvSpPr/>
          <p:nvPr/>
        </p:nvSpPr>
        <p:spPr>
          <a:xfrm>
            <a:off x="5284821" y="241330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上-下雙向箭號 46">
            <a:extLst>
              <a:ext uri="{FF2B5EF4-FFF2-40B4-BE49-F238E27FC236}">
                <a16:creationId xmlns:a16="http://schemas.microsoft.com/office/drawing/2014/main" id="{FEE2EFC4-30D8-48ED-C0BC-61FE655BA220}"/>
              </a:ext>
            </a:extLst>
          </p:cNvPr>
          <p:cNvSpPr/>
          <p:nvPr/>
        </p:nvSpPr>
        <p:spPr>
          <a:xfrm>
            <a:off x="1872480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上-下雙向箭號 47">
            <a:extLst>
              <a:ext uri="{FF2B5EF4-FFF2-40B4-BE49-F238E27FC236}">
                <a16:creationId xmlns:a16="http://schemas.microsoft.com/office/drawing/2014/main" id="{94342D6D-402B-BF3D-088E-6A550D348A27}"/>
              </a:ext>
            </a:extLst>
          </p:cNvPr>
          <p:cNvSpPr/>
          <p:nvPr/>
        </p:nvSpPr>
        <p:spPr>
          <a:xfrm>
            <a:off x="2393466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上-下雙向箭號 48">
            <a:extLst>
              <a:ext uri="{FF2B5EF4-FFF2-40B4-BE49-F238E27FC236}">
                <a16:creationId xmlns:a16="http://schemas.microsoft.com/office/drawing/2014/main" id="{AE3BFD3D-DD51-31A8-68DD-2CC4BDD6B63D}"/>
              </a:ext>
            </a:extLst>
          </p:cNvPr>
          <p:cNvSpPr/>
          <p:nvPr/>
        </p:nvSpPr>
        <p:spPr>
          <a:xfrm>
            <a:off x="2896719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0" name="上-下雙向箭號 49">
            <a:extLst>
              <a:ext uri="{FF2B5EF4-FFF2-40B4-BE49-F238E27FC236}">
                <a16:creationId xmlns:a16="http://schemas.microsoft.com/office/drawing/2014/main" id="{62632BED-5A3E-45A1-5812-40154201BE93}"/>
              </a:ext>
            </a:extLst>
          </p:cNvPr>
          <p:cNvSpPr/>
          <p:nvPr/>
        </p:nvSpPr>
        <p:spPr>
          <a:xfrm>
            <a:off x="3397879" y="283755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上-下雙向箭號 50">
            <a:extLst>
              <a:ext uri="{FF2B5EF4-FFF2-40B4-BE49-F238E27FC236}">
                <a16:creationId xmlns:a16="http://schemas.microsoft.com/office/drawing/2014/main" id="{DBFDA0FC-7933-D42C-22FA-FAB603ED5F0C}"/>
              </a:ext>
            </a:extLst>
          </p:cNvPr>
          <p:cNvSpPr/>
          <p:nvPr/>
        </p:nvSpPr>
        <p:spPr>
          <a:xfrm>
            <a:off x="3903002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上-下雙向箭號 51">
            <a:extLst>
              <a:ext uri="{FF2B5EF4-FFF2-40B4-BE49-F238E27FC236}">
                <a16:creationId xmlns:a16="http://schemas.microsoft.com/office/drawing/2014/main" id="{80B38B2F-8C1D-1532-F1E8-F84F2A359FD6}"/>
              </a:ext>
            </a:extLst>
          </p:cNvPr>
          <p:cNvSpPr/>
          <p:nvPr/>
        </p:nvSpPr>
        <p:spPr>
          <a:xfrm>
            <a:off x="4423988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上-下雙向箭號 52">
            <a:extLst>
              <a:ext uri="{FF2B5EF4-FFF2-40B4-BE49-F238E27FC236}">
                <a16:creationId xmlns:a16="http://schemas.microsoft.com/office/drawing/2014/main" id="{DCFAC07A-B238-C8CA-AD41-5EF78381866A}"/>
              </a:ext>
            </a:extLst>
          </p:cNvPr>
          <p:cNvSpPr/>
          <p:nvPr/>
        </p:nvSpPr>
        <p:spPr>
          <a:xfrm>
            <a:off x="4927241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上-下雙向箭號 53">
            <a:extLst>
              <a:ext uri="{FF2B5EF4-FFF2-40B4-BE49-F238E27FC236}">
                <a16:creationId xmlns:a16="http://schemas.microsoft.com/office/drawing/2014/main" id="{2DC700A7-508A-5B6D-69C0-92BAC577B201}"/>
              </a:ext>
            </a:extLst>
          </p:cNvPr>
          <p:cNvSpPr/>
          <p:nvPr/>
        </p:nvSpPr>
        <p:spPr>
          <a:xfrm>
            <a:off x="5428401" y="284667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14BADB57-2B1D-3ECD-3479-9FAF022A3871}"/>
              </a:ext>
            </a:extLst>
          </p:cNvPr>
          <p:cNvSpPr txBox="1"/>
          <p:nvPr/>
        </p:nvSpPr>
        <p:spPr>
          <a:xfrm>
            <a:off x="804994" y="2824763"/>
            <a:ext cx="937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越接近越好</a:t>
            </a:r>
          </a:p>
        </p:txBody>
      </p:sp>
      <p:pic>
        <p:nvPicPr>
          <p:cNvPr id="2052" name="Picture 4" descr="undefined">
            <a:extLst>
              <a:ext uri="{FF2B5EF4-FFF2-40B4-BE49-F238E27FC236}">
                <a16:creationId xmlns:a16="http://schemas.microsoft.com/office/drawing/2014/main" id="{A4FD47C9-FEB3-FB9B-65B5-2E565815E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4712" y="3775095"/>
            <a:ext cx="818480" cy="8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橢圓圖說文字 2047">
            <a:extLst>
              <a:ext uri="{FF2B5EF4-FFF2-40B4-BE49-F238E27FC236}">
                <a16:creationId xmlns:a16="http://schemas.microsoft.com/office/drawing/2014/main" id="{EB17AC62-BF63-36D2-91E4-E942F6C1B492}"/>
              </a:ext>
            </a:extLst>
          </p:cNvPr>
          <p:cNvSpPr/>
          <p:nvPr/>
        </p:nvSpPr>
        <p:spPr>
          <a:xfrm>
            <a:off x="7670388" y="2361974"/>
            <a:ext cx="3531480" cy="1516283"/>
          </a:xfrm>
          <a:prstGeom prst="wedgeEllipseCallout">
            <a:avLst>
              <a:gd name="adj1" fmla="val -39298"/>
              <a:gd name="adj2" fmla="val 52004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(2018</a:t>
            </a:r>
            <a:r>
              <a:rPr kumimoji="1" lang="zh-TW" altLang="en-US" dirty="0">
                <a:solidFill>
                  <a:schemeClr val="tx1"/>
                </a:solidFill>
              </a:rPr>
              <a:t>年的</a:t>
            </a:r>
            <a:r>
              <a:rPr kumimoji="1" lang="en-US" altLang="zh-TW" dirty="0">
                <a:solidFill>
                  <a:schemeClr val="tx1"/>
                </a:solidFill>
              </a:rPr>
              <a:t>Google) GPT-1 </a:t>
            </a:r>
            <a:r>
              <a:rPr kumimoji="1" lang="zh-TW" altLang="en-US" dirty="0">
                <a:solidFill>
                  <a:schemeClr val="tx1"/>
                </a:solidFill>
              </a:rPr>
              <a:t>不好，因為訓練無雙向，</a:t>
            </a:r>
            <a:r>
              <a:rPr kumimoji="1" lang="en-US" altLang="zh-TW" dirty="0">
                <a:solidFill>
                  <a:schemeClr val="tx1"/>
                </a:solidFill>
              </a:rPr>
              <a:t>BERT</a:t>
            </a:r>
            <a:r>
              <a:rPr kumimoji="1" lang="zh-TW" altLang="en-US" dirty="0">
                <a:solidFill>
                  <a:schemeClr val="tx1"/>
                </a:solidFill>
              </a:rPr>
              <a:t> 最棒</a:t>
            </a:r>
          </a:p>
        </p:txBody>
      </p:sp>
    </p:spTree>
    <p:extLst>
      <p:ext uri="{BB962C8B-B14F-4D97-AF65-F5344CB8AC3E}">
        <p14:creationId xmlns:p14="http://schemas.microsoft.com/office/powerpoint/2010/main" val="272284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3" grpId="0" animBg="1"/>
      <p:bldP spid="35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63" grpId="0"/>
      <p:bldP spid="204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091F3A-F45F-2328-E980-CE8B9AC3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vs. Decoder in Pre-training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C03F16-51D1-3EF7-C341-FA485265A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5E0534D-B9FA-8092-FD48-28A2EC2B4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889052"/>
              </p:ext>
            </p:extLst>
          </p:nvPr>
        </p:nvGraphicFramePr>
        <p:xfrm>
          <a:off x="1226128" y="2590028"/>
          <a:ext cx="9310254" cy="30555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3418">
                  <a:extLst>
                    <a:ext uri="{9D8B030D-6E8A-4147-A177-3AD203B41FA5}">
                      <a16:colId xmlns:a16="http://schemas.microsoft.com/office/drawing/2014/main" val="262798800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84772269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4199296597"/>
                    </a:ext>
                  </a:extLst>
                </a:gridCol>
              </a:tblGrid>
              <a:tr h="385046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Encoder (e.g., BERT)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Decoder (e.g., GPT)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047364"/>
                  </a:ext>
                </a:extLst>
              </a:tr>
              <a:tr h="745279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克漏字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文字接龍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6443118"/>
                  </a:ext>
                </a:extLst>
              </a:tr>
              <a:tr h="962614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預測被遮住的字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根據上下文預測下一個字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4095597"/>
                  </a:ext>
                </a:extLst>
              </a:tr>
              <a:tr h="962614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data</a:t>
                      </a:r>
                      <a:r>
                        <a:rPr lang="zh-TW" altLang="en-US" dirty="0"/>
                        <a:t> 使用效率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較低 </a:t>
                      </a:r>
                      <a:r>
                        <a:rPr lang="en-US" altLang="zh-TW" dirty="0"/>
                        <a:t>(</a:t>
                      </a:r>
                      <a:r>
                        <a:rPr lang="zh-TW" altLang="en-US" dirty="0"/>
                        <a:t>可能存在</a:t>
                      </a:r>
                      <a:r>
                        <a:rPr lang="en-US" altLang="zh-TW" dirty="0"/>
                        <a:t> tokens </a:t>
                      </a:r>
                      <a:r>
                        <a:rPr lang="zh-TW" altLang="en-US" dirty="0"/>
                        <a:t>沒有被 </a:t>
                      </a:r>
                      <a:r>
                        <a:rPr lang="en-US" altLang="zh-TW" dirty="0"/>
                        <a:t>masked </a:t>
                      </a:r>
                      <a:r>
                        <a:rPr lang="zh-TW" altLang="en-US" dirty="0"/>
                        <a:t>過</a:t>
                      </a:r>
                      <a:r>
                        <a:rPr lang="en-US" altLang="zh-TW" dirty="0"/>
                        <a:t>)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737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9238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790AFE-D7DE-EA72-C01D-9BE540A2E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GPT-1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BERT</a:t>
            </a:r>
            <a:r>
              <a:rPr kumimoji="1" lang="zh-TW" altLang="en-US" dirty="0"/>
              <a:t> 的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31A247-7259-3966-A093-AC0085BF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0C32902-53C1-66A1-A4C2-69D39AE1057E}"/>
              </a:ext>
            </a:extLst>
          </p:cNvPr>
          <p:cNvSpPr/>
          <p:nvPr/>
        </p:nvSpPr>
        <p:spPr>
          <a:xfrm>
            <a:off x="6352306" y="4530678"/>
            <a:ext cx="4055873" cy="7746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Transformer 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091DC60-DF3A-39F2-3287-D0C27DDD4282}"/>
              </a:ext>
            </a:extLst>
          </p:cNvPr>
          <p:cNvSpPr/>
          <p:nvPr/>
        </p:nvSpPr>
        <p:spPr>
          <a:xfrm>
            <a:off x="6434037" y="5678338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6853CED-B1F5-4BCD-9AC9-04A0525A719A}"/>
              </a:ext>
            </a:extLst>
          </p:cNvPr>
          <p:cNvSpPr/>
          <p:nvPr/>
        </p:nvSpPr>
        <p:spPr>
          <a:xfrm>
            <a:off x="934861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349E604-642A-2CB5-3638-88AFFD64DD9D}"/>
              </a:ext>
            </a:extLst>
          </p:cNvPr>
          <p:cNvSpPr/>
          <p:nvPr/>
        </p:nvSpPr>
        <p:spPr>
          <a:xfrm>
            <a:off x="9931529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7E2E94B-FC7B-268A-68F0-601A18B861F6}"/>
              </a:ext>
            </a:extLst>
          </p:cNvPr>
          <p:cNvSpPr/>
          <p:nvPr/>
        </p:nvSpPr>
        <p:spPr>
          <a:xfrm>
            <a:off x="701695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BFCFD02-8052-534D-E907-BC68DCC2D072}"/>
              </a:ext>
            </a:extLst>
          </p:cNvPr>
          <p:cNvSpPr/>
          <p:nvPr/>
        </p:nvSpPr>
        <p:spPr>
          <a:xfrm>
            <a:off x="7599867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9D964ED-9897-892E-A09C-8F0E26B924B7}"/>
              </a:ext>
            </a:extLst>
          </p:cNvPr>
          <p:cNvSpPr/>
          <p:nvPr/>
        </p:nvSpPr>
        <p:spPr>
          <a:xfrm>
            <a:off x="8182782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96FBD26-FCF9-E738-F031-A43B7CD72F76}"/>
              </a:ext>
            </a:extLst>
          </p:cNvPr>
          <p:cNvSpPr/>
          <p:nvPr/>
        </p:nvSpPr>
        <p:spPr>
          <a:xfrm>
            <a:off x="8765697" y="5678338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43F7FCF-696D-5673-5F7C-6ED93CF3A255}"/>
              </a:ext>
            </a:extLst>
          </p:cNvPr>
          <p:cNvCxnSpPr>
            <a:cxnSpLocks/>
          </p:cNvCxnSpPr>
          <p:nvPr/>
        </p:nvCxnSpPr>
        <p:spPr>
          <a:xfrm flipV="1">
            <a:off x="6665965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391A7AEA-9F44-955E-6B6C-9BE593596195}"/>
              </a:ext>
            </a:extLst>
          </p:cNvPr>
          <p:cNvCxnSpPr>
            <a:cxnSpLocks/>
          </p:cNvCxnSpPr>
          <p:nvPr/>
        </p:nvCxnSpPr>
        <p:spPr>
          <a:xfrm flipV="1">
            <a:off x="7246159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4B4AE3DE-FF21-0DE9-4A8B-B513FD07B996}"/>
              </a:ext>
            </a:extLst>
          </p:cNvPr>
          <p:cNvCxnSpPr>
            <a:cxnSpLocks/>
          </p:cNvCxnSpPr>
          <p:nvPr/>
        </p:nvCxnSpPr>
        <p:spPr>
          <a:xfrm flipV="1">
            <a:off x="7826353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B6FB396-C1C9-4213-B6D3-A467294CD413}"/>
              </a:ext>
            </a:extLst>
          </p:cNvPr>
          <p:cNvCxnSpPr>
            <a:cxnSpLocks/>
          </p:cNvCxnSpPr>
          <p:nvPr/>
        </p:nvCxnSpPr>
        <p:spPr>
          <a:xfrm flipV="1">
            <a:off x="8406547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D6EDD26-449C-ABEE-64F0-0E6041B0816B}"/>
              </a:ext>
            </a:extLst>
          </p:cNvPr>
          <p:cNvCxnSpPr>
            <a:cxnSpLocks/>
          </p:cNvCxnSpPr>
          <p:nvPr/>
        </p:nvCxnSpPr>
        <p:spPr>
          <a:xfrm flipV="1">
            <a:off x="8986741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17AC5168-9B36-B26B-13F2-039F61F90F47}"/>
              </a:ext>
            </a:extLst>
          </p:cNvPr>
          <p:cNvCxnSpPr>
            <a:cxnSpLocks/>
          </p:cNvCxnSpPr>
          <p:nvPr/>
        </p:nvCxnSpPr>
        <p:spPr>
          <a:xfrm flipV="1">
            <a:off x="9566935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DDC28B7-9D3E-CAAC-37A0-9AB66AD45FB7}"/>
              </a:ext>
            </a:extLst>
          </p:cNvPr>
          <p:cNvCxnSpPr>
            <a:cxnSpLocks/>
          </p:cNvCxnSpPr>
          <p:nvPr/>
        </p:nvCxnSpPr>
        <p:spPr>
          <a:xfrm flipV="1">
            <a:off x="10147128" y="536687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2F46E348-E5F2-F084-7266-E509FC23C677}"/>
              </a:ext>
            </a:extLst>
          </p:cNvPr>
          <p:cNvSpPr/>
          <p:nvPr/>
        </p:nvSpPr>
        <p:spPr>
          <a:xfrm>
            <a:off x="7016950" y="56783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61F01F9-4809-29A0-E4CC-A5CE3848F25E}"/>
              </a:ext>
            </a:extLst>
          </p:cNvPr>
          <p:cNvSpPr/>
          <p:nvPr/>
        </p:nvSpPr>
        <p:spPr>
          <a:xfrm>
            <a:off x="7599867" y="5678337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C985FDD7-C684-106B-45C6-220EC3F4C030}"/>
              </a:ext>
            </a:extLst>
          </p:cNvPr>
          <p:cNvSpPr/>
          <p:nvPr/>
        </p:nvSpPr>
        <p:spPr>
          <a:xfrm>
            <a:off x="8182157" y="567833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72B5C873-D1B9-8544-6B5A-C14407E68C95}"/>
              </a:ext>
            </a:extLst>
          </p:cNvPr>
          <p:cNvSpPr/>
          <p:nvPr/>
        </p:nvSpPr>
        <p:spPr>
          <a:xfrm>
            <a:off x="8765695" y="567833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9F865CE-C64E-9A66-F6F9-055919FB66E9}"/>
              </a:ext>
            </a:extLst>
          </p:cNvPr>
          <p:cNvSpPr/>
          <p:nvPr/>
        </p:nvSpPr>
        <p:spPr>
          <a:xfrm>
            <a:off x="9348612" y="567833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325EC525-F37C-D17A-78EA-0CDE248207C3}"/>
              </a:ext>
            </a:extLst>
          </p:cNvPr>
          <p:cNvSpPr/>
          <p:nvPr/>
        </p:nvSpPr>
        <p:spPr>
          <a:xfrm>
            <a:off x="9931529" y="567833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Google Shape;200;p17">
            <a:extLst>
              <a:ext uri="{FF2B5EF4-FFF2-40B4-BE49-F238E27FC236}">
                <a16:creationId xmlns:a16="http://schemas.microsoft.com/office/drawing/2014/main" id="{BE50C9EC-242E-8492-90D8-1E9D9D6093BC}"/>
              </a:ext>
            </a:extLst>
          </p:cNvPr>
          <p:cNvSpPr txBox="1"/>
          <p:nvPr/>
        </p:nvSpPr>
        <p:spPr>
          <a:xfrm>
            <a:off x="10805115" y="2607699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" name="Google Shape;204;p17">
            <a:extLst>
              <a:ext uri="{FF2B5EF4-FFF2-40B4-BE49-F238E27FC236}">
                <a16:creationId xmlns:a16="http://schemas.microsoft.com/office/drawing/2014/main" id="{0D45EED4-A8AC-D059-BED7-93CB1C2257DF}"/>
              </a:ext>
            </a:extLst>
          </p:cNvPr>
          <p:cNvSpPr/>
          <p:nvPr/>
        </p:nvSpPr>
        <p:spPr>
          <a:xfrm>
            <a:off x="9735549" y="2676573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44" name="Google Shape;218;p17">
            <a:extLst>
              <a:ext uri="{FF2B5EF4-FFF2-40B4-BE49-F238E27FC236}">
                <a16:creationId xmlns:a16="http://schemas.microsoft.com/office/drawing/2014/main" id="{4FC1488B-0628-28BA-E772-48F7EB4E1F1E}"/>
              </a:ext>
            </a:extLst>
          </p:cNvPr>
          <p:cNvCxnSpPr>
            <a:cxnSpLocks/>
          </p:cNvCxnSpPr>
          <p:nvPr/>
        </p:nvCxnSpPr>
        <p:spPr>
          <a:xfrm>
            <a:off x="10555385" y="2823128"/>
            <a:ext cx="30959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3D1BDECE-B4B7-2BF8-1381-E34EB7B9FB4B}"/>
              </a:ext>
            </a:extLst>
          </p:cNvPr>
          <p:cNvCxnSpPr>
            <a:cxnSpLocks/>
          </p:cNvCxnSpPr>
          <p:nvPr/>
        </p:nvCxnSpPr>
        <p:spPr>
          <a:xfrm flipV="1">
            <a:off x="10137296" y="3038556"/>
            <a:ext cx="0" cy="553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7701AD0B-56DB-45CD-B216-3BD6EAF15526}"/>
              </a:ext>
            </a:extLst>
          </p:cNvPr>
          <p:cNvSpPr txBox="1"/>
          <p:nvPr/>
        </p:nvSpPr>
        <p:spPr>
          <a:xfrm>
            <a:off x="6396255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39791FA5-E211-A792-BCA4-B60318A9A889}"/>
              </a:ext>
            </a:extLst>
          </p:cNvPr>
          <p:cNvSpPr txBox="1"/>
          <p:nvPr/>
        </p:nvSpPr>
        <p:spPr>
          <a:xfrm>
            <a:off x="6977308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火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7131AD6-1C0B-737E-7056-9874F1DA7036}"/>
              </a:ext>
            </a:extLst>
          </p:cNvPr>
          <p:cNvSpPr txBox="1"/>
          <p:nvPr/>
        </p:nvSpPr>
        <p:spPr>
          <a:xfrm>
            <a:off x="7558361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鍋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FF7856-1219-8E19-E60D-ECD5014AE7C1}"/>
              </a:ext>
            </a:extLst>
          </p:cNvPr>
          <p:cNvSpPr txBox="1"/>
          <p:nvPr/>
        </p:nvSpPr>
        <p:spPr>
          <a:xfrm>
            <a:off x="8120768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4FAD131-D2A9-66A0-4A39-2A41D8A901D0}"/>
              </a:ext>
            </a:extLst>
          </p:cNvPr>
          <p:cNvSpPr txBox="1"/>
          <p:nvPr/>
        </p:nvSpPr>
        <p:spPr>
          <a:xfrm>
            <a:off x="8727267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093A2B8-97FA-36AF-9ED6-EDDCF9E964E2}"/>
              </a:ext>
            </a:extLst>
          </p:cNvPr>
          <p:cNvSpPr txBox="1"/>
          <p:nvPr/>
        </p:nvSpPr>
        <p:spPr>
          <a:xfrm>
            <a:off x="9307461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F193EA1-3C69-41C5-E739-5E873130E74D}"/>
              </a:ext>
            </a:extLst>
          </p:cNvPr>
          <p:cNvSpPr txBox="1"/>
          <p:nvPr/>
        </p:nvSpPr>
        <p:spPr>
          <a:xfrm>
            <a:off x="9896445" y="6101764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吃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34E634-7B5B-11B4-0829-00EA0200FD41}"/>
              </a:ext>
            </a:extLst>
          </p:cNvPr>
          <p:cNvSpPr txBox="1"/>
          <p:nvPr/>
        </p:nvSpPr>
        <p:spPr>
          <a:xfrm>
            <a:off x="10218684" y="3751475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16B946C-97FB-24BA-7DC9-03FDAD70AFD8}"/>
              </a:ext>
            </a:extLst>
          </p:cNvPr>
          <p:cNvSpPr txBox="1"/>
          <p:nvPr/>
        </p:nvSpPr>
        <p:spPr>
          <a:xfrm>
            <a:off x="9409037" y="2253764"/>
            <a:ext cx="14027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B x 1 x C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B280243-CC9C-7626-B09C-914397DA5026}"/>
              </a:ext>
            </a:extLst>
          </p:cNvPr>
          <p:cNvSpPr txBox="1"/>
          <p:nvPr/>
        </p:nvSpPr>
        <p:spPr>
          <a:xfrm>
            <a:off x="653143" y="1523017"/>
            <a:ext cx="2522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以 </a:t>
            </a:r>
            <a:r>
              <a:rPr kumimoji="1" lang="en-US" altLang="zh-TW" dirty="0">
                <a:ea typeface="Microsoft JhengHei" panose="020B0604030504040204" pitchFamily="34" charset="-120"/>
              </a:rPr>
              <a:t>Classification</a:t>
            </a:r>
            <a:r>
              <a:rPr kumimoji="1" lang="zh-TW" altLang="en-US" dirty="0">
                <a:ea typeface="Microsoft JhengHei" panose="020B0604030504040204" pitchFamily="34" charset="-120"/>
              </a:rPr>
              <a:t> 為例</a:t>
            </a:r>
          </a:p>
        </p:txBody>
      </p:sp>
      <p:sp>
        <p:nvSpPr>
          <p:cNvPr id="57" name="Google Shape;187;p17">
            <a:extLst>
              <a:ext uri="{FF2B5EF4-FFF2-40B4-BE49-F238E27FC236}">
                <a16:creationId xmlns:a16="http://schemas.microsoft.com/office/drawing/2014/main" id="{A4F4BD08-7B71-A036-A1AE-01FD206599CD}"/>
              </a:ext>
            </a:extLst>
          </p:cNvPr>
          <p:cNvSpPr/>
          <p:nvPr/>
        </p:nvSpPr>
        <p:spPr>
          <a:xfrm>
            <a:off x="242044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188;p17">
            <a:extLst>
              <a:ext uri="{FF2B5EF4-FFF2-40B4-BE49-F238E27FC236}">
                <a16:creationId xmlns:a16="http://schemas.microsoft.com/office/drawing/2014/main" id="{4A1FDA94-A696-BAD6-31D9-70F0B2F5653B}"/>
              </a:ext>
            </a:extLst>
          </p:cNvPr>
          <p:cNvSpPr/>
          <p:nvPr/>
        </p:nvSpPr>
        <p:spPr>
          <a:xfrm>
            <a:off x="171036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189;p17">
            <a:extLst>
              <a:ext uri="{FF2B5EF4-FFF2-40B4-BE49-F238E27FC236}">
                <a16:creationId xmlns:a16="http://schemas.microsoft.com/office/drawing/2014/main" id="{F52427E8-15C6-7A6D-F298-B3BEA7A9FE0E}"/>
              </a:ext>
            </a:extLst>
          </p:cNvPr>
          <p:cNvSpPr/>
          <p:nvPr/>
        </p:nvSpPr>
        <p:spPr>
          <a:xfrm>
            <a:off x="4550153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192;p17">
            <a:extLst>
              <a:ext uri="{FF2B5EF4-FFF2-40B4-BE49-F238E27FC236}">
                <a16:creationId xmlns:a16="http://schemas.microsoft.com/office/drawing/2014/main" id="{B3E63F58-E75E-DFEF-C7CB-7219E12C73C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" name="Google Shape;193;p17">
            <a:extLst>
              <a:ext uri="{FF2B5EF4-FFF2-40B4-BE49-F238E27FC236}">
                <a16:creationId xmlns:a16="http://schemas.microsoft.com/office/drawing/2014/main" id="{9686A172-F826-7D1A-B603-A27C050B89AF}"/>
              </a:ext>
            </a:extLst>
          </p:cNvPr>
          <p:cNvCxnSpPr>
            <a:cxnSpLocks/>
          </p:cNvCxnSpPr>
          <p:nvPr/>
        </p:nvCxnSpPr>
        <p:spPr>
          <a:xfrm rot="10800000">
            <a:off x="3217685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2" name="Google Shape;194;p17">
            <a:extLst>
              <a:ext uri="{FF2B5EF4-FFF2-40B4-BE49-F238E27FC236}">
                <a16:creationId xmlns:a16="http://schemas.microsoft.com/office/drawing/2014/main" id="{D2AD4F55-F3ED-E6E2-AC64-4350BAD47026}"/>
              </a:ext>
            </a:extLst>
          </p:cNvPr>
          <p:cNvCxnSpPr>
            <a:cxnSpLocks/>
          </p:cNvCxnSpPr>
          <p:nvPr/>
        </p:nvCxnSpPr>
        <p:spPr>
          <a:xfrm rot="10800000">
            <a:off x="3927770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195;p17">
            <a:extLst>
              <a:ext uri="{FF2B5EF4-FFF2-40B4-BE49-F238E27FC236}">
                <a16:creationId xmlns:a16="http://schemas.microsoft.com/office/drawing/2014/main" id="{E3475148-C43B-A804-1838-FBE1B2BE0CA0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200;p17">
            <a:extLst>
              <a:ext uri="{FF2B5EF4-FFF2-40B4-BE49-F238E27FC236}">
                <a16:creationId xmlns:a16="http://schemas.microsoft.com/office/drawing/2014/main" id="{EBFCDBC1-9E9E-849F-A244-D830A82F277F}"/>
              </a:ext>
            </a:extLst>
          </p:cNvPr>
          <p:cNvSpPr txBox="1"/>
          <p:nvPr/>
        </p:nvSpPr>
        <p:spPr>
          <a:xfrm>
            <a:off x="1417474" y="2164677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" name="Google Shape;195;p17">
            <a:extLst>
              <a:ext uri="{FF2B5EF4-FFF2-40B4-BE49-F238E27FC236}">
                <a16:creationId xmlns:a16="http://schemas.microsoft.com/office/drawing/2014/main" id="{898FFC5D-8EB8-BB38-C83B-E41AE7D29BC1}"/>
              </a:ext>
            </a:extLst>
          </p:cNvPr>
          <p:cNvCxnSpPr>
            <a:cxnSpLocks/>
          </p:cNvCxnSpPr>
          <p:nvPr/>
        </p:nvCxnSpPr>
        <p:spPr>
          <a:xfrm rot="10800000">
            <a:off x="2507600" y="534309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" name="Google Shape;192;p17">
            <a:extLst>
              <a:ext uri="{FF2B5EF4-FFF2-40B4-BE49-F238E27FC236}">
                <a16:creationId xmlns:a16="http://schemas.microsoft.com/office/drawing/2014/main" id="{58DE3EE8-41CD-FCA2-ACA5-54E461DC3DD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" name="Google Shape;193;p17">
            <a:extLst>
              <a:ext uri="{FF2B5EF4-FFF2-40B4-BE49-F238E27FC236}">
                <a16:creationId xmlns:a16="http://schemas.microsoft.com/office/drawing/2014/main" id="{C06EEEA8-AABC-719B-AB51-B947521DE120}"/>
              </a:ext>
            </a:extLst>
          </p:cNvPr>
          <p:cNvCxnSpPr>
            <a:cxnSpLocks/>
          </p:cNvCxnSpPr>
          <p:nvPr/>
        </p:nvCxnSpPr>
        <p:spPr>
          <a:xfrm rot="10800000">
            <a:off x="3217683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194;p17">
            <a:extLst>
              <a:ext uri="{FF2B5EF4-FFF2-40B4-BE49-F238E27FC236}">
                <a16:creationId xmlns:a16="http://schemas.microsoft.com/office/drawing/2014/main" id="{47A27E20-0F13-89B0-2E6F-108A11AD8775}"/>
              </a:ext>
            </a:extLst>
          </p:cNvPr>
          <p:cNvCxnSpPr>
            <a:cxnSpLocks/>
          </p:cNvCxnSpPr>
          <p:nvPr/>
        </p:nvCxnSpPr>
        <p:spPr>
          <a:xfrm rot="10800000">
            <a:off x="3927767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" name="Google Shape;195;p17">
            <a:extLst>
              <a:ext uri="{FF2B5EF4-FFF2-40B4-BE49-F238E27FC236}">
                <a16:creationId xmlns:a16="http://schemas.microsoft.com/office/drawing/2014/main" id="{140A1848-A8AB-8CBD-CA5E-3C2D6796F678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Google Shape;195;p17">
            <a:extLst>
              <a:ext uri="{FF2B5EF4-FFF2-40B4-BE49-F238E27FC236}">
                <a16:creationId xmlns:a16="http://schemas.microsoft.com/office/drawing/2014/main" id="{FEBAC91D-1345-8653-AAFB-7EA586FA31AE}"/>
              </a:ext>
            </a:extLst>
          </p:cNvPr>
          <p:cNvCxnSpPr>
            <a:cxnSpLocks/>
          </p:cNvCxnSpPr>
          <p:nvPr/>
        </p:nvCxnSpPr>
        <p:spPr>
          <a:xfrm rot="10800000">
            <a:off x="2507599" y="425420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" name="Google Shape;187;p17">
            <a:extLst>
              <a:ext uri="{FF2B5EF4-FFF2-40B4-BE49-F238E27FC236}">
                <a16:creationId xmlns:a16="http://schemas.microsoft.com/office/drawing/2014/main" id="{E560E748-98AF-0F1B-8A49-E6F0702D5213}"/>
              </a:ext>
            </a:extLst>
          </p:cNvPr>
          <p:cNvSpPr/>
          <p:nvPr/>
        </p:nvSpPr>
        <p:spPr>
          <a:xfrm>
            <a:off x="313245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187;p17">
            <a:extLst>
              <a:ext uri="{FF2B5EF4-FFF2-40B4-BE49-F238E27FC236}">
                <a16:creationId xmlns:a16="http://schemas.microsoft.com/office/drawing/2014/main" id="{63122D83-2F42-9918-6337-4D998B77A86E}"/>
              </a:ext>
            </a:extLst>
          </p:cNvPr>
          <p:cNvSpPr/>
          <p:nvPr/>
        </p:nvSpPr>
        <p:spPr>
          <a:xfrm>
            <a:off x="3831108" y="362582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C211DD60-47FA-C5AE-55CF-3FC6C4E71A55}"/>
              </a:ext>
            </a:extLst>
          </p:cNvPr>
          <p:cNvSpPr txBox="1"/>
          <p:nvPr/>
        </p:nvSpPr>
        <p:spPr>
          <a:xfrm>
            <a:off x="1444212" y="5513054"/>
            <a:ext cx="699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[CLS]</a:t>
            </a:r>
            <a:endParaRPr kumimoji="1" lang="zh-TW" altLang="en-US" sz="14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5880870-C1C0-E287-9B67-79AC6650508B}"/>
              </a:ext>
            </a:extLst>
          </p:cNvPr>
          <p:cNvSpPr txBox="1"/>
          <p:nvPr/>
        </p:nvSpPr>
        <p:spPr>
          <a:xfrm>
            <a:off x="2198667" y="5513054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open</a:t>
            </a:r>
            <a:endParaRPr kumimoji="1" lang="zh-TW" altLang="en-US" sz="1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BFD0FA2-86CB-3E91-A12D-55EF1934A733}"/>
              </a:ext>
            </a:extLst>
          </p:cNvPr>
          <p:cNvSpPr txBox="1"/>
          <p:nvPr/>
        </p:nvSpPr>
        <p:spPr>
          <a:xfrm>
            <a:off x="2908026" y="5513054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</a:t>
            </a:r>
            <a:endParaRPr kumimoji="1" lang="zh-TW" altLang="en-US" sz="14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1C77EE8A-339E-A1F2-2353-13714965B5B5}"/>
              </a:ext>
            </a:extLst>
          </p:cNvPr>
          <p:cNvSpPr txBox="1"/>
          <p:nvPr/>
        </p:nvSpPr>
        <p:spPr>
          <a:xfrm>
            <a:off x="4199737" y="5513054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account</a:t>
            </a:r>
            <a:endParaRPr kumimoji="1" lang="zh-TW" altLang="en-US" sz="1400" dirty="0"/>
          </a:p>
        </p:txBody>
      </p:sp>
      <p:cxnSp>
        <p:nvCxnSpPr>
          <p:cNvPr id="77" name="Google Shape;218;p17">
            <a:extLst>
              <a:ext uri="{FF2B5EF4-FFF2-40B4-BE49-F238E27FC236}">
                <a16:creationId xmlns:a16="http://schemas.microsoft.com/office/drawing/2014/main" id="{E23D3B0D-58E9-6CC2-D6A8-B1AC7E1443E2}"/>
              </a:ext>
            </a:extLst>
          </p:cNvPr>
          <p:cNvCxnSpPr>
            <a:cxnSpLocks/>
          </p:cNvCxnSpPr>
          <p:nvPr/>
        </p:nvCxnSpPr>
        <p:spPr>
          <a:xfrm flipV="1">
            <a:off x="1794973" y="3308675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204;p17">
            <a:extLst>
              <a:ext uri="{FF2B5EF4-FFF2-40B4-BE49-F238E27FC236}">
                <a16:creationId xmlns:a16="http://schemas.microsoft.com/office/drawing/2014/main" id="{4116DB4D-797C-949A-9F42-2EEB2ADB76E6}"/>
              </a:ext>
            </a:extLst>
          </p:cNvPr>
          <p:cNvSpPr/>
          <p:nvPr/>
        </p:nvSpPr>
        <p:spPr>
          <a:xfrm>
            <a:off x="1420777" y="4530678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79" name="Google Shape;189;p17">
            <a:extLst>
              <a:ext uri="{FF2B5EF4-FFF2-40B4-BE49-F238E27FC236}">
                <a16:creationId xmlns:a16="http://schemas.microsoft.com/office/drawing/2014/main" id="{35B8044F-8D84-78B6-972D-37760C8E9490}"/>
              </a:ext>
            </a:extLst>
          </p:cNvPr>
          <p:cNvSpPr/>
          <p:nvPr/>
        </p:nvSpPr>
        <p:spPr>
          <a:xfrm>
            <a:off x="5249776" y="3624036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0" name="Google Shape;195;p17">
            <a:extLst>
              <a:ext uri="{FF2B5EF4-FFF2-40B4-BE49-F238E27FC236}">
                <a16:creationId xmlns:a16="http://schemas.microsoft.com/office/drawing/2014/main" id="{8CE0EB88-5E22-1E8B-4614-3A4F122F507F}"/>
              </a:ext>
            </a:extLst>
          </p:cNvPr>
          <p:cNvCxnSpPr>
            <a:cxnSpLocks/>
          </p:cNvCxnSpPr>
          <p:nvPr/>
        </p:nvCxnSpPr>
        <p:spPr>
          <a:xfrm rot="10800000">
            <a:off x="5337476" y="4252418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" name="Google Shape;194;p17">
            <a:extLst>
              <a:ext uri="{FF2B5EF4-FFF2-40B4-BE49-F238E27FC236}">
                <a16:creationId xmlns:a16="http://schemas.microsoft.com/office/drawing/2014/main" id="{06AF6A89-0766-34EB-28B8-EBBE2CB5C18B}"/>
              </a:ext>
            </a:extLst>
          </p:cNvPr>
          <p:cNvCxnSpPr>
            <a:cxnSpLocks/>
          </p:cNvCxnSpPr>
          <p:nvPr/>
        </p:nvCxnSpPr>
        <p:spPr>
          <a:xfrm rot="10800000">
            <a:off x="5315639" y="5350467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73DF9591-3E23-9C1B-B3E5-7C0AA4AF03B7}"/>
              </a:ext>
            </a:extLst>
          </p:cNvPr>
          <p:cNvSpPr txBox="1"/>
          <p:nvPr/>
        </p:nvSpPr>
        <p:spPr>
          <a:xfrm>
            <a:off x="5006705" y="5516155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[SEP]</a:t>
            </a:r>
            <a:endParaRPr kumimoji="1" lang="zh-TW" altLang="en-US" sz="1400" dirty="0"/>
          </a:p>
        </p:txBody>
      </p:sp>
      <p:sp>
        <p:nvSpPr>
          <p:cNvPr id="83" name="Google Shape;204;p17">
            <a:extLst>
              <a:ext uri="{FF2B5EF4-FFF2-40B4-BE49-F238E27FC236}">
                <a16:creationId xmlns:a16="http://schemas.microsoft.com/office/drawing/2014/main" id="{C7B4F6B2-4E49-A32B-7BA2-17F682B584C5}"/>
              </a:ext>
            </a:extLst>
          </p:cNvPr>
          <p:cNvSpPr/>
          <p:nvPr/>
        </p:nvSpPr>
        <p:spPr>
          <a:xfrm>
            <a:off x="1417474" y="2878265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84" name="Google Shape;218;p17">
            <a:extLst>
              <a:ext uri="{FF2B5EF4-FFF2-40B4-BE49-F238E27FC236}">
                <a16:creationId xmlns:a16="http://schemas.microsoft.com/office/drawing/2014/main" id="{F35FC90A-0344-56EA-469A-81FCE5FB7DAE}"/>
              </a:ext>
            </a:extLst>
          </p:cNvPr>
          <p:cNvCxnSpPr>
            <a:cxnSpLocks/>
          </p:cNvCxnSpPr>
          <p:nvPr/>
        </p:nvCxnSpPr>
        <p:spPr>
          <a:xfrm flipV="1">
            <a:off x="1802505" y="2544831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40C875B3-AE4E-7188-7340-4A97CCA75203}"/>
              </a:ext>
            </a:extLst>
          </p:cNvPr>
          <p:cNvSpPr txBox="1"/>
          <p:nvPr/>
        </p:nvSpPr>
        <p:spPr>
          <a:xfrm>
            <a:off x="3453485" y="5532093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POST</a:t>
            </a:r>
            <a:endParaRPr kumimoji="1" lang="zh-TW" altLang="en-US" sz="1400" dirty="0"/>
          </a:p>
        </p:txBody>
      </p:sp>
      <p:sp>
        <p:nvSpPr>
          <p:cNvPr id="89" name="Google Shape;187;p17">
            <a:extLst>
              <a:ext uri="{FF2B5EF4-FFF2-40B4-BE49-F238E27FC236}">
                <a16:creationId xmlns:a16="http://schemas.microsoft.com/office/drawing/2014/main" id="{AF47E879-2E06-8E8D-D06E-F791C634992C}"/>
              </a:ext>
            </a:extLst>
          </p:cNvPr>
          <p:cNvSpPr/>
          <p:nvPr/>
        </p:nvSpPr>
        <p:spPr>
          <a:xfrm>
            <a:off x="7151011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188;p17">
            <a:extLst>
              <a:ext uri="{FF2B5EF4-FFF2-40B4-BE49-F238E27FC236}">
                <a16:creationId xmlns:a16="http://schemas.microsoft.com/office/drawing/2014/main" id="{9DB6AC37-B6ED-A914-9077-E00AF0556D07}"/>
              </a:ext>
            </a:extLst>
          </p:cNvPr>
          <p:cNvSpPr/>
          <p:nvPr/>
        </p:nvSpPr>
        <p:spPr>
          <a:xfrm>
            <a:off x="6570998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189;p17">
            <a:extLst>
              <a:ext uri="{FF2B5EF4-FFF2-40B4-BE49-F238E27FC236}">
                <a16:creationId xmlns:a16="http://schemas.microsoft.com/office/drawing/2014/main" id="{0E63D6D1-0946-F95C-5DD7-E7CA9D356B15}"/>
              </a:ext>
            </a:extLst>
          </p:cNvPr>
          <p:cNvSpPr/>
          <p:nvPr/>
        </p:nvSpPr>
        <p:spPr>
          <a:xfrm>
            <a:off x="9471063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D0EF48DD-F61A-2B33-E57C-41499425946A}"/>
              </a:ext>
            </a:extLst>
          </p:cNvPr>
          <p:cNvCxnSpPr>
            <a:cxnSpLocks/>
          </p:cNvCxnSpPr>
          <p:nvPr/>
        </p:nvCxnSpPr>
        <p:spPr>
          <a:xfrm rot="10800000">
            <a:off x="665814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42E6CECD-FE22-9E81-E3FD-E8967EF549E4}"/>
              </a:ext>
            </a:extLst>
          </p:cNvPr>
          <p:cNvCxnSpPr>
            <a:cxnSpLocks/>
          </p:cNvCxnSpPr>
          <p:nvPr/>
        </p:nvCxnSpPr>
        <p:spPr>
          <a:xfrm rot="10800000">
            <a:off x="781835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890E3BE6-478E-2AB7-64A9-037F264A7A6C}"/>
              </a:ext>
            </a:extLst>
          </p:cNvPr>
          <p:cNvCxnSpPr>
            <a:cxnSpLocks/>
          </p:cNvCxnSpPr>
          <p:nvPr/>
        </p:nvCxnSpPr>
        <p:spPr>
          <a:xfrm rot="10800000">
            <a:off x="8978565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80B2A574-C5E1-0CF5-B454-DD74A67855EE}"/>
              </a:ext>
            </a:extLst>
          </p:cNvPr>
          <p:cNvCxnSpPr>
            <a:cxnSpLocks/>
          </p:cNvCxnSpPr>
          <p:nvPr/>
        </p:nvCxnSpPr>
        <p:spPr>
          <a:xfrm rot="10800000">
            <a:off x="955867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9DAAA95A-FC82-CAB9-1913-10B2BDAAC38F}"/>
              </a:ext>
            </a:extLst>
          </p:cNvPr>
          <p:cNvCxnSpPr>
            <a:cxnSpLocks/>
          </p:cNvCxnSpPr>
          <p:nvPr/>
        </p:nvCxnSpPr>
        <p:spPr>
          <a:xfrm rot="10800000">
            <a:off x="723825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B62BBAA7-285D-73B3-FC88-1D31CD0D0BBA}"/>
              </a:ext>
            </a:extLst>
          </p:cNvPr>
          <p:cNvSpPr/>
          <p:nvPr/>
        </p:nvSpPr>
        <p:spPr>
          <a:xfrm>
            <a:off x="7731024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4744E737-2C5C-E4F4-B698-5E3233328202}"/>
              </a:ext>
            </a:extLst>
          </p:cNvPr>
          <p:cNvSpPr/>
          <p:nvPr/>
        </p:nvSpPr>
        <p:spPr>
          <a:xfrm>
            <a:off x="8891050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89;p17">
            <a:extLst>
              <a:ext uri="{FF2B5EF4-FFF2-40B4-BE49-F238E27FC236}">
                <a16:creationId xmlns:a16="http://schemas.microsoft.com/office/drawing/2014/main" id="{01EFD45F-1110-5416-28D4-2746584877E3}"/>
              </a:ext>
            </a:extLst>
          </p:cNvPr>
          <p:cNvSpPr/>
          <p:nvPr/>
        </p:nvSpPr>
        <p:spPr>
          <a:xfrm>
            <a:off x="10051077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1" name="Google Shape;195;p17">
            <a:extLst>
              <a:ext uri="{FF2B5EF4-FFF2-40B4-BE49-F238E27FC236}">
                <a16:creationId xmlns:a16="http://schemas.microsoft.com/office/drawing/2014/main" id="{9E4B592B-C246-5CBF-4563-A455710EE1BF}"/>
              </a:ext>
            </a:extLst>
          </p:cNvPr>
          <p:cNvCxnSpPr>
            <a:cxnSpLocks/>
          </p:cNvCxnSpPr>
          <p:nvPr/>
        </p:nvCxnSpPr>
        <p:spPr>
          <a:xfrm rot="10800000">
            <a:off x="10138777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0C59D0E6-35C0-F6E0-CA1A-AA2E7FA8FDAC}"/>
              </a:ext>
            </a:extLst>
          </p:cNvPr>
          <p:cNvCxnSpPr>
            <a:cxnSpLocks/>
          </p:cNvCxnSpPr>
          <p:nvPr/>
        </p:nvCxnSpPr>
        <p:spPr>
          <a:xfrm rot="10800000">
            <a:off x="8398460" y="425917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" name="Google Shape;187;p17">
            <a:extLst>
              <a:ext uri="{FF2B5EF4-FFF2-40B4-BE49-F238E27FC236}">
                <a16:creationId xmlns:a16="http://schemas.microsoft.com/office/drawing/2014/main" id="{68796ACF-7FAD-EA30-DCB6-8AC67783816A}"/>
              </a:ext>
            </a:extLst>
          </p:cNvPr>
          <p:cNvSpPr/>
          <p:nvPr/>
        </p:nvSpPr>
        <p:spPr>
          <a:xfrm>
            <a:off x="8311037" y="3639395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168E2E15-A828-15DE-BD98-DA7477901408}"/>
              </a:ext>
            </a:extLst>
          </p:cNvPr>
          <p:cNvSpPr txBox="1"/>
          <p:nvPr/>
        </p:nvSpPr>
        <p:spPr>
          <a:xfrm>
            <a:off x="364576" y="3701720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86F8C14-FE1B-4510-D8C6-4DF82640BA40}"/>
              </a:ext>
            </a:extLst>
          </p:cNvPr>
          <p:cNvSpPr txBox="1"/>
          <p:nvPr/>
        </p:nvSpPr>
        <p:spPr>
          <a:xfrm>
            <a:off x="7310983" y="1419705"/>
            <a:ext cx="43104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>
                <a:ea typeface="Microsoft JhengHei" panose="020B0604030504040204" pitchFamily="34" charset="-120"/>
              </a:rPr>
              <a:t>維度意義：</a:t>
            </a:r>
            <a:endParaRPr kumimoji="1" lang="en-US" altLang="zh-TW" sz="1600" dirty="0">
              <a:ea typeface="Microsoft JhengHei" panose="020B0604030504040204" pitchFamily="34" charset="-120"/>
            </a:endParaRPr>
          </a:p>
          <a:p>
            <a:r>
              <a:rPr kumimoji="1" lang="en-US" altLang="zh-TW" sz="1600" dirty="0">
                <a:ea typeface="Microsoft JhengHei" panose="020B0604030504040204" pitchFamily="34" charset="-120"/>
              </a:rPr>
              <a:t>(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batch_size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sequence_length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1600" dirty="0" err="1">
                <a:ea typeface="Microsoft JhengHei" panose="020B0604030504040204" pitchFamily="34" charset="-120"/>
              </a:rPr>
              <a:t>hidden_size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)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443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4" grpId="0"/>
      <p:bldP spid="55" grpId="0"/>
      <p:bldP spid="104" grpId="0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0088F74-E7BD-9221-09BE-BD84A56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30086"/>
            <a:ext cx="3200400" cy="2286000"/>
          </a:xfrm>
        </p:spPr>
        <p:txBody>
          <a:bodyPr>
            <a:normAutofit/>
          </a:bodyPr>
          <a:lstStyle/>
          <a:p>
            <a:r>
              <a:rPr lang="zh-TW" altLang="en-US" sz="4400" dirty="0"/>
              <a:t>訓練語言</a:t>
            </a:r>
            <a:br>
              <a:rPr lang="en-US" altLang="zh-TW" sz="4400" dirty="0"/>
            </a:br>
            <a:r>
              <a:rPr lang="zh-TW" altLang="en-US" sz="4400" dirty="0"/>
              <a:t>模型的方式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6CD975-2D44-BE2A-2880-315742D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48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B2C0A3-F510-CB0B-BE71-8DEEA372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329454"/>
            <a:ext cx="11370365" cy="1033416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How to train a (Conditional) Language Model?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ECCA13-447D-C0DD-CBB8-4F465AF7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65E66A4C-FEE0-FE51-B88E-E0B669634F32}"/>
              </a:ext>
            </a:extLst>
          </p:cNvPr>
          <p:cNvSpPr txBox="1"/>
          <p:nvPr/>
        </p:nvSpPr>
        <p:spPr>
          <a:xfrm>
            <a:off x="1005936" y="1855809"/>
            <a:ext cx="6517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First, we need a training corpus.</a:t>
            </a:r>
            <a:endParaRPr kumimoji="1" lang="zh-TW" altLang="en-US" sz="2800" dirty="0"/>
          </a:p>
        </p:txBody>
      </p:sp>
      <p:sp>
        <p:nvSpPr>
          <p:cNvPr id="103" name="圓角矩形 102">
            <a:extLst>
              <a:ext uri="{FF2B5EF4-FFF2-40B4-BE49-F238E27FC236}">
                <a16:creationId xmlns:a16="http://schemas.microsoft.com/office/drawing/2014/main" id="{2F8A82D3-A8BA-0996-A2DB-93AC0DB6C6B8}"/>
              </a:ext>
            </a:extLst>
          </p:cNvPr>
          <p:cNvSpPr/>
          <p:nvPr/>
        </p:nvSpPr>
        <p:spPr>
          <a:xfrm>
            <a:off x="1464812" y="4061144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7A84387A-CC48-C4EC-DEA8-E3C514232327}"/>
              </a:ext>
            </a:extLst>
          </p:cNvPr>
          <p:cNvSpPr txBox="1"/>
          <p:nvPr/>
        </p:nvSpPr>
        <p:spPr>
          <a:xfrm>
            <a:off x="1367598" y="2534038"/>
            <a:ext cx="4595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Example: I love reading books.</a:t>
            </a:r>
            <a:endParaRPr kumimoji="1" lang="zh-TW" altLang="en-US" sz="2000" b="1" dirty="0"/>
          </a:p>
        </p:txBody>
      </p:sp>
      <p:sp>
        <p:nvSpPr>
          <p:cNvPr id="119" name="圓角矩形 118">
            <a:extLst>
              <a:ext uri="{FF2B5EF4-FFF2-40B4-BE49-F238E27FC236}">
                <a16:creationId xmlns:a16="http://schemas.microsoft.com/office/drawing/2014/main" id="{AD816977-C39A-2A32-5CBF-761CF5547FBC}"/>
              </a:ext>
            </a:extLst>
          </p:cNvPr>
          <p:cNvSpPr/>
          <p:nvPr/>
        </p:nvSpPr>
        <p:spPr>
          <a:xfrm>
            <a:off x="2975496" y="4061144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1" name="直線箭頭接點 120">
            <a:extLst>
              <a:ext uri="{FF2B5EF4-FFF2-40B4-BE49-F238E27FC236}">
                <a16:creationId xmlns:a16="http://schemas.microsoft.com/office/drawing/2014/main" id="{97172784-5C86-AB5C-F34C-31505BB46152}"/>
              </a:ext>
            </a:extLst>
          </p:cNvPr>
          <p:cNvCxnSpPr/>
          <p:nvPr/>
        </p:nvCxnSpPr>
        <p:spPr>
          <a:xfrm>
            <a:off x="2396974" y="4247425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圓角矩形 121">
            <a:extLst>
              <a:ext uri="{FF2B5EF4-FFF2-40B4-BE49-F238E27FC236}">
                <a16:creationId xmlns:a16="http://schemas.microsoft.com/office/drawing/2014/main" id="{2BB7EE76-3348-98C1-2418-4E741F6E25E7}"/>
              </a:ext>
            </a:extLst>
          </p:cNvPr>
          <p:cNvSpPr/>
          <p:nvPr/>
        </p:nvSpPr>
        <p:spPr>
          <a:xfrm>
            <a:off x="1464812" y="4671665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圓角矩形 122">
            <a:extLst>
              <a:ext uri="{FF2B5EF4-FFF2-40B4-BE49-F238E27FC236}">
                <a16:creationId xmlns:a16="http://schemas.microsoft.com/office/drawing/2014/main" id="{A482C1C0-7A40-5CE9-0796-5F20AF92B6F9}"/>
              </a:ext>
            </a:extLst>
          </p:cNvPr>
          <p:cNvSpPr/>
          <p:nvPr/>
        </p:nvSpPr>
        <p:spPr>
          <a:xfrm>
            <a:off x="2336140" y="4671665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4" name="直線箭頭接點 123">
            <a:extLst>
              <a:ext uri="{FF2B5EF4-FFF2-40B4-BE49-F238E27FC236}">
                <a16:creationId xmlns:a16="http://schemas.microsoft.com/office/drawing/2014/main" id="{0CEFABFF-477B-E69F-5241-4E95E8189033}"/>
              </a:ext>
            </a:extLst>
          </p:cNvPr>
          <p:cNvCxnSpPr/>
          <p:nvPr/>
        </p:nvCxnSpPr>
        <p:spPr>
          <a:xfrm>
            <a:off x="3288318" y="4871720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72419F2A-BDD5-3196-C461-A6CD032D9685}"/>
              </a:ext>
            </a:extLst>
          </p:cNvPr>
          <p:cNvSpPr/>
          <p:nvPr/>
        </p:nvSpPr>
        <p:spPr>
          <a:xfrm>
            <a:off x="1464812" y="5275666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AC768B82-6F6B-4F49-DB49-8A12C866CD13}"/>
              </a:ext>
            </a:extLst>
          </p:cNvPr>
          <p:cNvSpPr/>
          <p:nvPr/>
        </p:nvSpPr>
        <p:spPr>
          <a:xfrm>
            <a:off x="2336140" y="5275666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349DE62B-FB10-9502-B48B-0960A08AAB2C}"/>
              </a:ext>
            </a:extLst>
          </p:cNvPr>
          <p:cNvCxnSpPr/>
          <p:nvPr/>
        </p:nvCxnSpPr>
        <p:spPr>
          <a:xfrm>
            <a:off x="4318344" y="5475721"/>
            <a:ext cx="3826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D003AE2D-6EA9-E0DA-F277-DEBF31FDFA93}"/>
              </a:ext>
            </a:extLst>
          </p:cNvPr>
          <p:cNvSpPr/>
          <p:nvPr/>
        </p:nvSpPr>
        <p:spPr>
          <a:xfrm>
            <a:off x="3840625" y="4671665"/>
            <a:ext cx="998146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226B75ED-8459-15F1-6136-C7ED1CCB4671}"/>
              </a:ext>
            </a:extLst>
          </p:cNvPr>
          <p:cNvSpPr txBox="1"/>
          <p:nvPr/>
        </p:nvSpPr>
        <p:spPr>
          <a:xfrm>
            <a:off x="1367597" y="3174560"/>
            <a:ext cx="4595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Language modeling</a:t>
            </a:r>
            <a:r>
              <a:rPr kumimoji="1" lang="en-US" altLang="zh-TW" sz="2000" b="1" dirty="0">
                <a:solidFill>
                  <a:srgbClr val="FF0000"/>
                </a:solidFill>
              </a:rPr>
              <a:t> (Unsupervised)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B443BC06-A741-22C4-B01F-564F987ECFB6}"/>
              </a:ext>
            </a:extLst>
          </p:cNvPr>
          <p:cNvSpPr txBox="1"/>
          <p:nvPr/>
        </p:nvSpPr>
        <p:spPr>
          <a:xfrm>
            <a:off x="6376082" y="3179849"/>
            <a:ext cx="4448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Machine Translation </a:t>
            </a:r>
            <a:r>
              <a:rPr kumimoji="1" lang="en-US" altLang="zh-TW" sz="2000" b="1" dirty="0">
                <a:solidFill>
                  <a:srgbClr val="FF0000"/>
                </a:solidFill>
              </a:rPr>
              <a:t>(Supervised)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140" name="圓角矩形 139">
            <a:extLst>
              <a:ext uri="{FF2B5EF4-FFF2-40B4-BE49-F238E27FC236}">
                <a16:creationId xmlns:a16="http://schemas.microsoft.com/office/drawing/2014/main" id="{4D31A981-87DE-7530-180F-40532563F1CD}"/>
              </a:ext>
            </a:extLst>
          </p:cNvPr>
          <p:cNvSpPr/>
          <p:nvPr/>
        </p:nvSpPr>
        <p:spPr>
          <a:xfrm>
            <a:off x="6447101" y="4047370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1" name="圓角矩形 140">
            <a:extLst>
              <a:ext uri="{FF2B5EF4-FFF2-40B4-BE49-F238E27FC236}">
                <a16:creationId xmlns:a16="http://schemas.microsoft.com/office/drawing/2014/main" id="{4991094A-7CA9-51C8-D3A0-A0C34D29265E}"/>
              </a:ext>
            </a:extLst>
          </p:cNvPr>
          <p:cNvSpPr/>
          <p:nvPr/>
        </p:nvSpPr>
        <p:spPr>
          <a:xfrm>
            <a:off x="7318429" y="4047370"/>
            <a:ext cx="76260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5" name="圓角矩形 144">
            <a:extLst>
              <a:ext uri="{FF2B5EF4-FFF2-40B4-BE49-F238E27FC236}">
                <a16:creationId xmlns:a16="http://schemas.microsoft.com/office/drawing/2014/main" id="{962DDC79-A59F-C5A6-9861-9A40BF5BE196}"/>
              </a:ext>
            </a:extLst>
          </p:cNvPr>
          <p:cNvSpPr/>
          <p:nvPr/>
        </p:nvSpPr>
        <p:spPr>
          <a:xfrm>
            <a:off x="3207468" y="5275666"/>
            <a:ext cx="998146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97CCC893-2DA3-3494-E769-D8079B5A9039}"/>
              </a:ext>
            </a:extLst>
          </p:cNvPr>
          <p:cNvSpPr/>
          <p:nvPr/>
        </p:nvSpPr>
        <p:spPr>
          <a:xfrm>
            <a:off x="4838773" y="5275666"/>
            <a:ext cx="846059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books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96BAAEC5-2952-DA91-1ADA-57787F2B53D3}"/>
              </a:ext>
            </a:extLst>
          </p:cNvPr>
          <p:cNvSpPr/>
          <p:nvPr/>
        </p:nvSpPr>
        <p:spPr>
          <a:xfrm>
            <a:off x="8150001" y="4047370"/>
            <a:ext cx="1026747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reading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CB022605-19DF-868D-0CD5-990B0607B730}"/>
              </a:ext>
            </a:extLst>
          </p:cNvPr>
          <p:cNvSpPr/>
          <p:nvPr/>
        </p:nvSpPr>
        <p:spPr>
          <a:xfrm>
            <a:off x="9234039" y="4047370"/>
            <a:ext cx="846059" cy="40011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books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2238114A-5EE0-7423-B204-EA3F01E72FF7}"/>
              </a:ext>
            </a:extLst>
          </p:cNvPr>
          <p:cNvSpPr txBox="1"/>
          <p:nvPr/>
        </p:nvSpPr>
        <p:spPr>
          <a:xfrm>
            <a:off x="10188819" y="4061144"/>
            <a:ext cx="11452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English</a:t>
            </a:r>
            <a:endParaRPr kumimoji="1" lang="zh-TW" altLang="en-US" sz="2000" b="1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8D46B155-6D01-99F1-BC1B-7FC8F7E57A21}"/>
              </a:ext>
            </a:extLst>
          </p:cNvPr>
          <p:cNvSpPr/>
          <p:nvPr/>
        </p:nvSpPr>
        <p:spPr>
          <a:xfrm>
            <a:off x="6447101" y="510678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52" name="圓角矩形 151">
            <a:extLst>
              <a:ext uri="{FF2B5EF4-FFF2-40B4-BE49-F238E27FC236}">
                <a16:creationId xmlns:a16="http://schemas.microsoft.com/office/drawing/2014/main" id="{6C7F7119-05C5-2CDE-A329-52C56D5D2488}"/>
              </a:ext>
            </a:extLst>
          </p:cNvPr>
          <p:cNvSpPr/>
          <p:nvPr/>
        </p:nvSpPr>
        <p:spPr>
          <a:xfrm>
            <a:off x="7318429" y="510678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B4633D36-AE85-04ED-1790-9D42F3C2EE70}"/>
              </a:ext>
            </a:extLst>
          </p:cNvPr>
          <p:cNvSpPr/>
          <p:nvPr/>
        </p:nvSpPr>
        <p:spPr>
          <a:xfrm>
            <a:off x="8189757" y="5106789"/>
            <a:ext cx="935561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p:sp>
        <p:nvSpPr>
          <p:cNvPr id="154" name="圓角矩形 153">
            <a:extLst>
              <a:ext uri="{FF2B5EF4-FFF2-40B4-BE49-F238E27FC236}">
                <a16:creationId xmlns:a16="http://schemas.microsoft.com/office/drawing/2014/main" id="{AF7035C1-14A8-645B-C003-B354ACCE6DC3}"/>
              </a:ext>
            </a:extLst>
          </p:cNvPr>
          <p:cNvSpPr/>
          <p:nvPr/>
        </p:nvSpPr>
        <p:spPr>
          <a:xfrm>
            <a:off x="9234039" y="5106789"/>
            <a:ext cx="846059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讀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A17B4148-ECE6-BDF6-590A-E94F63DAC7F1}"/>
              </a:ext>
            </a:extLst>
          </p:cNvPr>
          <p:cNvSpPr txBox="1"/>
          <p:nvPr/>
        </p:nvSpPr>
        <p:spPr>
          <a:xfrm>
            <a:off x="10188818" y="5120563"/>
            <a:ext cx="12405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Chinese</a:t>
            </a:r>
            <a:endParaRPr kumimoji="1" lang="zh-TW" altLang="en-US" sz="2000" b="1" dirty="0"/>
          </a:p>
        </p:txBody>
      </p:sp>
      <p:cxnSp>
        <p:nvCxnSpPr>
          <p:cNvPr id="159" name="直線箭頭接點 158">
            <a:extLst>
              <a:ext uri="{FF2B5EF4-FFF2-40B4-BE49-F238E27FC236}">
                <a16:creationId xmlns:a16="http://schemas.microsoft.com/office/drawing/2014/main" id="{C75F87F2-201B-2CB4-EBAC-A2492F05FDF4}"/>
              </a:ext>
            </a:extLst>
          </p:cNvPr>
          <p:cNvCxnSpPr/>
          <p:nvPr/>
        </p:nvCxnSpPr>
        <p:spPr>
          <a:xfrm>
            <a:off x="10753819" y="4535767"/>
            <a:ext cx="0" cy="490896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722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ECCA13-447D-C0DD-CBB8-4F465AF7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0ED88FC-F9F8-1078-95E7-282762B22A67}"/>
              </a:ext>
            </a:extLst>
          </p:cNvPr>
          <p:cNvSpPr/>
          <p:nvPr/>
        </p:nvSpPr>
        <p:spPr>
          <a:xfrm>
            <a:off x="1190097" y="4263664"/>
            <a:ext cx="406394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597BED2F-87B0-208B-B691-443F16ECC21B}"/>
              </a:ext>
            </a:extLst>
          </p:cNvPr>
          <p:cNvSpPr/>
          <p:nvPr/>
        </p:nvSpPr>
        <p:spPr>
          <a:xfrm>
            <a:off x="6891523" y="4263664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076F99-2BF5-58DF-FF09-A275AE9F679D}"/>
              </a:ext>
            </a:extLst>
          </p:cNvPr>
          <p:cNvSpPr/>
          <p:nvPr/>
        </p:nvSpPr>
        <p:spPr>
          <a:xfrm>
            <a:off x="1198165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582765F-232E-631F-3398-EECF718949FE}"/>
              </a:ext>
            </a:extLst>
          </p:cNvPr>
          <p:cNvSpPr/>
          <p:nvPr/>
        </p:nvSpPr>
        <p:spPr>
          <a:xfrm>
            <a:off x="1704141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C409F34-B393-87B9-21AC-802C7EBA847C}"/>
              </a:ext>
            </a:extLst>
          </p:cNvPr>
          <p:cNvSpPr/>
          <p:nvPr/>
        </p:nvSpPr>
        <p:spPr>
          <a:xfrm>
            <a:off x="4234019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CAD4679-3FFF-D507-694E-68CCAC32837E}"/>
              </a:ext>
            </a:extLst>
          </p:cNvPr>
          <p:cNvSpPr/>
          <p:nvPr/>
        </p:nvSpPr>
        <p:spPr>
          <a:xfrm>
            <a:off x="4739995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65412ACF-B066-AAE8-8419-B0306DCC4F40}"/>
              </a:ext>
            </a:extLst>
          </p:cNvPr>
          <p:cNvSpPr/>
          <p:nvPr/>
        </p:nvSpPr>
        <p:spPr>
          <a:xfrm>
            <a:off x="2210117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613A6EA8-50D2-CF42-C932-0F6EB0B83657}"/>
              </a:ext>
            </a:extLst>
          </p:cNvPr>
          <p:cNvSpPr/>
          <p:nvPr/>
        </p:nvSpPr>
        <p:spPr>
          <a:xfrm>
            <a:off x="2716092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86A9E5C-11A2-AD6A-4B5B-B208BF900DF4}"/>
              </a:ext>
            </a:extLst>
          </p:cNvPr>
          <p:cNvSpPr/>
          <p:nvPr/>
        </p:nvSpPr>
        <p:spPr>
          <a:xfrm>
            <a:off x="3222068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11C45B4A-FEAC-CD84-E3B1-0CBEED429135}"/>
              </a:ext>
            </a:extLst>
          </p:cNvPr>
          <p:cNvSpPr/>
          <p:nvPr/>
        </p:nvSpPr>
        <p:spPr>
          <a:xfrm>
            <a:off x="3728044" y="5578282"/>
            <a:ext cx="448780" cy="375953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x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B8DBF65-0C10-EA96-AEE6-07815058D57D}"/>
              </a:ext>
            </a:extLst>
          </p:cNvPr>
          <p:cNvCxnSpPr>
            <a:cxnSpLocks/>
          </p:cNvCxnSpPr>
          <p:nvPr/>
        </p:nvCxnSpPr>
        <p:spPr>
          <a:xfrm flipV="1">
            <a:off x="1432816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9140C28B-B9E7-63F2-A2DE-33471AFD6B22}"/>
              </a:ext>
            </a:extLst>
          </p:cNvPr>
          <p:cNvCxnSpPr>
            <a:cxnSpLocks/>
          </p:cNvCxnSpPr>
          <p:nvPr/>
        </p:nvCxnSpPr>
        <p:spPr>
          <a:xfrm flipV="1">
            <a:off x="1936070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F4D21C82-D949-1F30-F9EB-103E8D710D6F}"/>
              </a:ext>
            </a:extLst>
          </p:cNvPr>
          <p:cNvCxnSpPr>
            <a:cxnSpLocks/>
          </p:cNvCxnSpPr>
          <p:nvPr/>
        </p:nvCxnSpPr>
        <p:spPr>
          <a:xfrm flipV="1">
            <a:off x="2439323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BE8B018-CFB1-54B6-BD60-AA90D8F3DC74}"/>
              </a:ext>
            </a:extLst>
          </p:cNvPr>
          <p:cNvCxnSpPr>
            <a:cxnSpLocks/>
          </p:cNvCxnSpPr>
          <p:nvPr/>
        </p:nvCxnSpPr>
        <p:spPr>
          <a:xfrm flipV="1">
            <a:off x="2942578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54B947C-7992-6FC3-2358-476C7DB5252D}"/>
              </a:ext>
            </a:extLst>
          </p:cNvPr>
          <p:cNvCxnSpPr>
            <a:cxnSpLocks/>
          </p:cNvCxnSpPr>
          <p:nvPr/>
        </p:nvCxnSpPr>
        <p:spPr>
          <a:xfrm flipV="1">
            <a:off x="3445831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CD7DC33-1194-5467-4275-0389FFF68232}"/>
              </a:ext>
            </a:extLst>
          </p:cNvPr>
          <p:cNvCxnSpPr>
            <a:cxnSpLocks/>
          </p:cNvCxnSpPr>
          <p:nvPr/>
        </p:nvCxnSpPr>
        <p:spPr>
          <a:xfrm flipV="1">
            <a:off x="3949085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21D77EE0-5CF1-FB3E-7205-02039960301C}"/>
              </a:ext>
            </a:extLst>
          </p:cNvPr>
          <p:cNvCxnSpPr>
            <a:cxnSpLocks/>
          </p:cNvCxnSpPr>
          <p:nvPr/>
        </p:nvCxnSpPr>
        <p:spPr>
          <a:xfrm flipV="1">
            <a:off x="4452339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695E5EB0-77AB-1819-EEBA-03ACBA334212}"/>
              </a:ext>
            </a:extLst>
          </p:cNvPr>
          <p:cNvCxnSpPr>
            <a:cxnSpLocks/>
          </p:cNvCxnSpPr>
          <p:nvPr/>
        </p:nvCxnSpPr>
        <p:spPr>
          <a:xfrm flipV="1">
            <a:off x="4955593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0CFCF190-32FF-FD6A-8283-0E3563E6B551}"/>
              </a:ext>
            </a:extLst>
          </p:cNvPr>
          <p:cNvSpPr/>
          <p:nvPr/>
        </p:nvSpPr>
        <p:spPr>
          <a:xfrm>
            <a:off x="6928917" y="55782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D3855C5-EE32-FC4F-3778-72CE58B05D63}"/>
              </a:ext>
            </a:extLst>
          </p:cNvPr>
          <p:cNvCxnSpPr>
            <a:cxnSpLocks/>
          </p:cNvCxnSpPr>
          <p:nvPr/>
        </p:nvCxnSpPr>
        <p:spPr>
          <a:xfrm flipV="1">
            <a:off x="7163567" y="526682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7A876F56-9C49-1114-EFAB-6AD9F05E5E80}"/>
              </a:ext>
            </a:extLst>
          </p:cNvPr>
          <p:cNvGrpSpPr/>
          <p:nvPr/>
        </p:nvGrpSpPr>
        <p:grpSpPr>
          <a:xfrm>
            <a:off x="7434893" y="5266821"/>
            <a:ext cx="448780" cy="687414"/>
            <a:chOff x="7434893" y="5266821"/>
            <a:chExt cx="448780" cy="687414"/>
          </a:xfrm>
        </p:grpSpPr>
        <p:sp>
          <p:nvSpPr>
            <p:cNvPr id="24" name="圓角矩形 23">
              <a:extLst>
                <a:ext uri="{FF2B5EF4-FFF2-40B4-BE49-F238E27FC236}">
                  <a16:creationId xmlns:a16="http://schemas.microsoft.com/office/drawing/2014/main" id="{3852CE15-7AA5-04B5-4743-DA050AB1BD4D}"/>
                </a:ext>
              </a:extLst>
            </p:cNvPr>
            <p:cNvSpPr/>
            <p:nvPr/>
          </p:nvSpPr>
          <p:spPr>
            <a:xfrm>
              <a:off x="7434893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2" name="直線箭頭接點 31">
              <a:extLst>
                <a:ext uri="{FF2B5EF4-FFF2-40B4-BE49-F238E27FC236}">
                  <a16:creationId xmlns:a16="http://schemas.microsoft.com/office/drawing/2014/main" id="{9B849148-B545-9187-A9B5-F2CE562A32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6821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1945A183-E709-AD3B-6B70-40C03C577337}"/>
              </a:ext>
            </a:extLst>
          </p:cNvPr>
          <p:cNvGrpSpPr/>
          <p:nvPr/>
        </p:nvGrpSpPr>
        <p:grpSpPr>
          <a:xfrm>
            <a:off x="7940869" y="5266821"/>
            <a:ext cx="448780" cy="687414"/>
            <a:chOff x="7940869" y="5266821"/>
            <a:chExt cx="448780" cy="687414"/>
          </a:xfrm>
        </p:grpSpPr>
        <p:sp>
          <p:nvSpPr>
            <p:cNvPr id="27" name="圓角矩形 26">
              <a:extLst>
                <a:ext uri="{FF2B5EF4-FFF2-40B4-BE49-F238E27FC236}">
                  <a16:creationId xmlns:a16="http://schemas.microsoft.com/office/drawing/2014/main" id="{F53BDB6A-132B-4C13-8E6F-6B589DDE8B1A}"/>
                </a:ext>
              </a:extLst>
            </p:cNvPr>
            <p:cNvSpPr/>
            <p:nvPr/>
          </p:nvSpPr>
          <p:spPr>
            <a:xfrm>
              <a:off x="7940869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直線箭頭接點 32">
              <a:extLst>
                <a:ext uri="{FF2B5EF4-FFF2-40B4-BE49-F238E27FC236}">
                  <a16:creationId xmlns:a16="http://schemas.microsoft.com/office/drawing/2014/main" id="{03CFCC4B-D936-F099-CB84-34F38606D4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0074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BF0F4B2C-A232-756D-1604-DBE6CB777D66}"/>
              </a:ext>
            </a:extLst>
          </p:cNvPr>
          <p:cNvGrpSpPr/>
          <p:nvPr/>
        </p:nvGrpSpPr>
        <p:grpSpPr>
          <a:xfrm>
            <a:off x="8446844" y="5266821"/>
            <a:ext cx="448780" cy="687414"/>
            <a:chOff x="8446844" y="5266821"/>
            <a:chExt cx="448780" cy="68741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974E4617-D5A5-924A-E8EF-28276253E184}"/>
                </a:ext>
              </a:extLst>
            </p:cNvPr>
            <p:cNvSpPr/>
            <p:nvPr/>
          </p:nvSpPr>
          <p:spPr>
            <a:xfrm>
              <a:off x="8446844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線箭頭接點 33">
              <a:extLst>
                <a:ext uri="{FF2B5EF4-FFF2-40B4-BE49-F238E27FC236}">
                  <a16:creationId xmlns:a16="http://schemas.microsoft.com/office/drawing/2014/main" id="{00D11DAB-140C-9882-5C4C-F517314FC6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3329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58789463-5B14-D955-F6D4-644E31A131CA}"/>
              </a:ext>
            </a:extLst>
          </p:cNvPr>
          <p:cNvGrpSpPr/>
          <p:nvPr/>
        </p:nvGrpSpPr>
        <p:grpSpPr>
          <a:xfrm>
            <a:off x="8952820" y="5266821"/>
            <a:ext cx="448780" cy="687414"/>
            <a:chOff x="8952820" y="5266821"/>
            <a:chExt cx="448780" cy="687414"/>
          </a:xfrm>
        </p:grpSpPr>
        <p:sp>
          <p:nvSpPr>
            <p:cNvPr id="29" name="圓角矩形 28">
              <a:extLst>
                <a:ext uri="{FF2B5EF4-FFF2-40B4-BE49-F238E27FC236}">
                  <a16:creationId xmlns:a16="http://schemas.microsoft.com/office/drawing/2014/main" id="{12900C32-B018-5744-6416-0DB6046C01F1}"/>
                </a:ext>
              </a:extLst>
            </p:cNvPr>
            <p:cNvSpPr/>
            <p:nvPr/>
          </p:nvSpPr>
          <p:spPr>
            <a:xfrm>
              <a:off x="8952820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4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線箭頭接點 34">
              <a:extLst>
                <a:ext uri="{FF2B5EF4-FFF2-40B4-BE49-F238E27FC236}">
                  <a16:creationId xmlns:a16="http://schemas.microsoft.com/office/drawing/2014/main" id="{B4670ACA-9359-AF89-D919-C05C60DA3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6582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62D09417-4AEA-C7A9-5551-841CBE2AD31A}"/>
              </a:ext>
            </a:extLst>
          </p:cNvPr>
          <p:cNvGrpSpPr/>
          <p:nvPr/>
        </p:nvGrpSpPr>
        <p:grpSpPr>
          <a:xfrm>
            <a:off x="9458796" y="5266821"/>
            <a:ext cx="448780" cy="687414"/>
            <a:chOff x="9458796" y="5266821"/>
            <a:chExt cx="448780" cy="68741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5E9258E-97B1-E366-3A04-AE804D9608F1}"/>
                </a:ext>
              </a:extLst>
            </p:cNvPr>
            <p:cNvSpPr/>
            <p:nvPr/>
          </p:nvSpPr>
          <p:spPr>
            <a:xfrm>
              <a:off x="9458796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5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6" name="直線箭頭接點 35">
              <a:extLst>
                <a:ext uri="{FF2B5EF4-FFF2-40B4-BE49-F238E27FC236}">
                  <a16:creationId xmlns:a16="http://schemas.microsoft.com/office/drawing/2014/main" id="{9D13DE52-8C42-123C-A23E-20AA8E05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79836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723DDE45-0931-54B9-8BEB-15D34E8ECAB2}"/>
              </a:ext>
            </a:extLst>
          </p:cNvPr>
          <p:cNvGrpSpPr/>
          <p:nvPr/>
        </p:nvGrpSpPr>
        <p:grpSpPr>
          <a:xfrm>
            <a:off x="9964771" y="5266821"/>
            <a:ext cx="448780" cy="687414"/>
            <a:chOff x="9964771" y="5266821"/>
            <a:chExt cx="448780" cy="687414"/>
          </a:xfrm>
        </p:grpSpPr>
        <p:sp>
          <p:nvSpPr>
            <p:cNvPr id="25" name="圓角矩形 24">
              <a:extLst>
                <a:ext uri="{FF2B5EF4-FFF2-40B4-BE49-F238E27FC236}">
                  <a16:creationId xmlns:a16="http://schemas.microsoft.com/office/drawing/2014/main" id="{0C31930E-A147-9F56-6A2B-3C1C65C38AAA}"/>
                </a:ext>
              </a:extLst>
            </p:cNvPr>
            <p:cNvSpPr/>
            <p:nvPr/>
          </p:nvSpPr>
          <p:spPr>
            <a:xfrm>
              <a:off x="9964771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1351857D-3BC5-745F-D205-FADC1B9932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83089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CFBFA119-6C48-A199-5E08-78D3615B231C}"/>
              </a:ext>
            </a:extLst>
          </p:cNvPr>
          <p:cNvGrpSpPr/>
          <p:nvPr/>
        </p:nvGrpSpPr>
        <p:grpSpPr>
          <a:xfrm>
            <a:off x="10470746" y="5266821"/>
            <a:ext cx="448780" cy="687414"/>
            <a:chOff x="10470746" y="5266821"/>
            <a:chExt cx="448780" cy="687414"/>
          </a:xfrm>
        </p:grpSpPr>
        <p:sp>
          <p:nvSpPr>
            <p:cNvPr id="26" name="圓角矩形 25">
              <a:extLst>
                <a:ext uri="{FF2B5EF4-FFF2-40B4-BE49-F238E27FC236}">
                  <a16:creationId xmlns:a16="http://schemas.microsoft.com/office/drawing/2014/main" id="{7EF18AA4-CB0E-3C66-18BA-E76FDF054A8D}"/>
                </a:ext>
              </a:extLst>
            </p:cNvPr>
            <p:cNvSpPr/>
            <p:nvPr/>
          </p:nvSpPr>
          <p:spPr>
            <a:xfrm>
              <a:off x="10470746" y="5578282"/>
              <a:ext cx="448780" cy="375953"/>
            </a:xfrm>
            <a:prstGeom prst="roundRect">
              <a:avLst/>
            </a:prstGeom>
            <a:solidFill>
              <a:srgbClr val="C5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8" name="直線箭頭接點 37">
              <a:extLst>
                <a:ext uri="{FF2B5EF4-FFF2-40B4-BE49-F238E27FC236}">
                  <a16:creationId xmlns:a16="http://schemas.microsoft.com/office/drawing/2014/main" id="{7DB78143-65F2-535D-2288-DFD6A71B28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86345" y="5266821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E505B99E-3697-102F-E365-F2FA8AB613D1}"/>
              </a:ext>
            </a:extLst>
          </p:cNvPr>
          <p:cNvGrpSpPr/>
          <p:nvPr/>
        </p:nvGrpSpPr>
        <p:grpSpPr>
          <a:xfrm>
            <a:off x="7940869" y="3537855"/>
            <a:ext cx="448780" cy="690611"/>
            <a:chOff x="7940869" y="3537855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圓角矩形 38">
                  <a:extLst>
                    <a:ext uri="{FF2B5EF4-FFF2-40B4-BE49-F238E27FC236}">
                      <a16:creationId xmlns:a16="http://schemas.microsoft.com/office/drawing/2014/main" id="{015EF55E-731C-2AF1-3FF7-941664329FB6}"/>
                    </a:ext>
                  </a:extLst>
                </p:cNvPr>
                <p:cNvSpPr/>
                <p:nvPr/>
              </p:nvSpPr>
              <p:spPr>
                <a:xfrm>
                  <a:off x="7940869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9" name="圓角矩形 38">
                  <a:extLst>
                    <a:ext uri="{FF2B5EF4-FFF2-40B4-BE49-F238E27FC236}">
                      <a16:creationId xmlns:a16="http://schemas.microsoft.com/office/drawing/2014/main" id="{015EF55E-731C-2AF1-3FF7-941664329F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0869" y="3537855"/>
                  <a:ext cx="448780" cy="375953"/>
                </a:xfrm>
                <a:prstGeom prst="roundRect">
                  <a:avLst/>
                </a:prstGeom>
                <a:blipFill>
                  <a:blip r:embed="rId2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357BFC87-024D-C225-BAD3-A59E6A2BC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0074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50B60AF3-B253-A241-911B-12F0349FF163}"/>
              </a:ext>
            </a:extLst>
          </p:cNvPr>
          <p:cNvGrpSpPr/>
          <p:nvPr/>
        </p:nvGrpSpPr>
        <p:grpSpPr>
          <a:xfrm>
            <a:off x="8446844" y="3537855"/>
            <a:ext cx="448780" cy="690611"/>
            <a:chOff x="8446844" y="3537855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圓角矩形 39">
                  <a:extLst>
                    <a:ext uri="{FF2B5EF4-FFF2-40B4-BE49-F238E27FC236}">
                      <a16:creationId xmlns:a16="http://schemas.microsoft.com/office/drawing/2014/main" id="{E6B918E4-852E-7456-4E44-FE5D240178BA}"/>
                    </a:ext>
                  </a:extLst>
                </p:cNvPr>
                <p:cNvSpPr/>
                <p:nvPr/>
              </p:nvSpPr>
              <p:spPr>
                <a:xfrm>
                  <a:off x="8446844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0" name="圓角矩形 39">
                  <a:extLst>
                    <a:ext uri="{FF2B5EF4-FFF2-40B4-BE49-F238E27FC236}">
                      <a16:creationId xmlns:a16="http://schemas.microsoft.com/office/drawing/2014/main" id="{E6B918E4-852E-7456-4E44-FE5D240178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6844" y="3537855"/>
                  <a:ext cx="448780" cy="375953"/>
                </a:xfrm>
                <a:prstGeom prst="roundRect">
                  <a:avLst/>
                </a:prstGeom>
                <a:blipFill>
                  <a:blip r:embed="rId3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線箭頭接點 43">
              <a:extLst>
                <a:ext uri="{FF2B5EF4-FFF2-40B4-BE49-F238E27FC236}">
                  <a16:creationId xmlns:a16="http://schemas.microsoft.com/office/drawing/2014/main" id="{D7AC2FAF-DC27-5332-08DD-7ABA941168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3329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8029E8D2-DA9B-735A-B52C-2834C92B888E}"/>
              </a:ext>
            </a:extLst>
          </p:cNvPr>
          <p:cNvGrpSpPr/>
          <p:nvPr/>
        </p:nvGrpSpPr>
        <p:grpSpPr>
          <a:xfrm>
            <a:off x="8952820" y="3537855"/>
            <a:ext cx="448780" cy="690611"/>
            <a:chOff x="8952820" y="3537855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圓角矩形 40">
                  <a:extLst>
                    <a:ext uri="{FF2B5EF4-FFF2-40B4-BE49-F238E27FC236}">
                      <a16:creationId xmlns:a16="http://schemas.microsoft.com/office/drawing/2014/main" id="{8E3ED31C-C95A-68EF-5DE5-7DAD86E90775}"/>
                    </a:ext>
                  </a:extLst>
                </p:cNvPr>
                <p:cNvSpPr/>
                <p:nvPr/>
              </p:nvSpPr>
              <p:spPr>
                <a:xfrm>
                  <a:off x="8952820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1" name="圓角矩形 40">
                  <a:extLst>
                    <a:ext uri="{FF2B5EF4-FFF2-40B4-BE49-F238E27FC236}">
                      <a16:creationId xmlns:a16="http://schemas.microsoft.com/office/drawing/2014/main" id="{8E3ED31C-C95A-68EF-5DE5-7DAD86E907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2820" y="3537855"/>
                  <a:ext cx="448780" cy="375953"/>
                </a:xfrm>
                <a:prstGeom prst="roundRect">
                  <a:avLst/>
                </a:prstGeom>
                <a:blipFill>
                  <a:blip r:embed="rId4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直線箭頭接點 44">
              <a:extLst>
                <a:ext uri="{FF2B5EF4-FFF2-40B4-BE49-F238E27FC236}">
                  <a16:creationId xmlns:a16="http://schemas.microsoft.com/office/drawing/2014/main" id="{71414CF9-B405-A88A-5BF8-DE0D09F877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6582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2EF5CD0-43F3-78F3-298D-96471089CE9B}"/>
              </a:ext>
            </a:extLst>
          </p:cNvPr>
          <p:cNvGrpSpPr/>
          <p:nvPr/>
        </p:nvGrpSpPr>
        <p:grpSpPr>
          <a:xfrm>
            <a:off x="9458796" y="3537855"/>
            <a:ext cx="448780" cy="690611"/>
            <a:chOff x="9458796" y="3537855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圓角矩形 41">
                  <a:extLst>
                    <a:ext uri="{FF2B5EF4-FFF2-40B4-BE49-F238E27FC236}">
                      <a16:creationId xmlns:a16="http://schemas.microsoft.com/office/drawing/2014/main" id="{E814D719-8D78-E123-C671-C6FCDF00B2EC}"/>
                    </a:ext>
                  </a:extLst>
                </p:cNvPr>
                <p:cNvSpPr/>
                <p:nvPr/>
              </p:nvSpPr>
              <p:spPr>
                <a:xfrm>
                  <a:off x="9458796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2" name="圓角矩形 41">
                  <a:extLst>
                    <a:ext uri="{FF2B5EF4-FFF2-40B4-BE49-F238E27FC236}">
                      <a16:creationId xmlns:a16="http://schemas.microsoft.com/office/drawing/2014/main" id="{E814D719-8D78-E123-C671-C6FCDF00B2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8796" y="3537855"/>
                  <a:ext cx="448780" cy="375953"/>
                </a:xfrm>
                <a:prstGeom prst="roundRect">
                  <a:avLst/>
                </a:prstGeom>
                <a:blipFill>
                  <a:blip r:embed="rId5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32078E8D-58B1-BF42-DB5E-1C50845E1F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79836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文字方塊 67">
            <a:extLst>
              <a:ext uri="{FF2B5EF4-FFF2-40B4-BE49-F238E27FC236}">
                <a16:creationId xmlns:a16="http://schemas.microsoft.com/office/drawing/2014/main" id="{F8895E5E-96A4-8BA1-4CAA-4DDA9C7B6EF1}"/>
              </a:ext>
            </a:extLst>
          </p:cNvPr>
          <p:cNvSpPr txBox="1"/>
          <p:nvPr/>
        </p:nvSpPr>
        <p:spPr>
          <a:xfrm>
            <a:off x="6774256" y="5950903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62A9A6D7-9CC1-52A9-CA36-CF3049F6C25D}"/>
              </a:ext>
            </a:extLst>
          </p:cNvPr>
          <p:cNvGrpSpPr/>
          <p:nvPr/>
        </p:nvGrpSpPr>
        <p:grpSpPr>
          <a:xfrm>
            <a:off x="7431157" y="3537855"/>
            <a:ext cx="448780" cy="690611"/>
            <a:chOff x="7431157" y="3537855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圓角矩形 50">
                  <a:extLst>
                    <a:ext uri="{FF2B5EF4-FFF2-40B4-BE49-F238E27FC236}">
                      <a16:creationId xmlns:a16="http://schemas.microsoft.com/office/drawing/2014/main" id="{6D609B5D-2840-4B9A-4530-2C4FFCE494EC}"/>
                    </a:ext>
                  </a:extLst>
                </p:cNvPr>
                <p:cNvSpPr/>
                <p:nvPr/>
              </p:nvSpPr>
              <p:spPr>
                <a:xfrm>
                  <a:off x="7431157" y="3537855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1" name="圓角矩形 50">
                  <a:extLst>
                    <a:ext uri="{FF2B5EF4-FFF2-40B4-BE49-F238E27FC236}">
                      <a16:creationId xmlns:a16="http://schemas.microsoft.com/office/drawing/2014/main" id="{6D609B5D-2840-4B9A-4530-2C4FFCE494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1157" y="3537855"/>
                  <a:ext cx="448780" cy="375953"/>
                </a:xfrm>
                <a:prstGeom prst="roundRect">
                  <a:avLst/>
                </a:prstGeom>
                <a:blipFill>
                  <a:blip r:embed="rId6"/>
                  <a:stretch>
                    <a:fillRect b="-60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線箭頭接點 51">
              <a:extLst>
                <a:ext uri="{FF2B5EF4-FFF2-40B4-BE49-F238E27FC236}">
                  <a16:creationId xmlns:a16="http://schemas.microsoft.com/office/drawing/2014/main" id="{B6AFEF38-86A8-9EB1-EDB2-DDE8CA338A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0364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F6B63B75-34BE-3A33-42F7-CB714ED235ED}"/>
              </a:ext>
            </a:extLst>
          </p:cNvPr>
          <p:cNvGrpSpPr/>
          <p:nvPr/>
        </p:nvGrpSpPr>
        <p:grpSpPr>
          <a:xfrm>
            <a:off x="9964771" y="3532571"/>
            <a:ext cx="448780" cy="690611"/>
            <a:chOff x="9964771" y="3532571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圓角矩形 52">
                  <a:extLst>
                    <a:ext uri="{FF2B5EF4-FFF2-40B4-BE49-F238E27FC236}">
                      <a16:creationId xmlns:a16="http://schemas.microsoft.com/office/drawing/2014/main" id="{3BDBE56B-644F-2E96-A97B-F5412FD50663}"/>
                    </a:ext>
                  </a:extLst>
                </p:cNvPr>
                <p:cNvSpPr/>
                <p:nvPr/>
              </p:nvSpPr>
              <p:spPr>
                <a:xfrm>
                  <a:off x="9964771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3" name="圓角矩形 52">
                  <a:extLst>
                    <a:ext uri="{FF2B5EF4-FFF2-40B4-BE49-F238E27FC236}">
                      <a16:creationId xmlns:a16="http://schemas.microsoft.com/office/drawing/2014/main" id="{3BDBE56B-644F-2E96-A97B-F5412FD506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4771" y="3532571"/>
                  <a:ext cx="448780" cy="375953"/>
                </a:xfrm>
                <a:prstGeom prst="roundRect">
                  <a:avLst/>
                </a:prstGeom>
                <a:blipFill>
                  <a:blip r:embed="rId7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線箭頭接點 53">
              <a:extLst>
                <a:ext uri="{FF2B5EF4-FFF2-40B4-BE49-F238E27FC236}">
                  <a16:creationId xmlns:a16="http://schemas.microsoft.com/office/drawing/2014/main" id="{5BF91B8A-1027-54F1-1023-F27F5C7D93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3977" y="3959194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C804D789-E486-D69A-9789-83AA323E4788}"/>
              </a:ext>
            </a:extLst>
          </p:cNvPr>
          <p:cNvGrpSpPr/>
          <p:nvPr/>
        </p:nvGrpSpPr>
        <p:grpSpPr>
          <a:xfrm>
            <a:off x="10470746" y="3532571"/>
            <a:ext cx="448780" cy="690611"/>
            <a:chOff x="10470746" y="3532571"/>
            <a:chExt cx="448780" cy="69061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圓角矩形 54">
                  <a:extLst>
                    <a:ext uri="{FF2B5EF4-FFF2-40B4-BE49-F238E27FC236}">
                      <a16:creationId xmlns:a16="http://schemas.microsoft.com/office/drawing/2014/main" id="{0CB9D55B-3627-1601-22CD-FC3022715055}"/>
                    </a:ext>
                  </a:extLst>
                </p:cNvPr>
                <p:cNvSpPr/>
                <p:nvPr/>
              </p:nvSpPr>
              <p:spPr>
                <a:xfrm>
                  <a:off x="10470746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5" name="圓角矩形 54">
                  <a:extLst>
                    <a:ext uri="{FF2B5EF4-FFF2-40B4-BE49-F238E27FC236}">
                      <a16:creationId xmlns:a16="http://schemas.microsoft.com/office/drawing/2014/main" id="{0CB9D55B-3627-1601-22CD-FC30227150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0746" y="3532571"/>
                  <a:ext cx="448780" cy="375953"/>
                </a:xfrm>
                <a:prstGeom prst="roundRect">
                  <a:avLst/>
                </a:prstGeom>
                <a:blipFill>
                  <a:blip r:embed="rId8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直線箭頭接點 55">
              <a:extLst>
                <a:ext uri="{FF2B5EF4-FFF2-40B4-BE49-F238E27FC236}">
                  <a16:creationId xmlns:a16="http://schemas.microsoft.com/office/drawing/2014/main" id="{9488521C-812A-785F-D248-B31947B135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9952" y="3959194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04A119E4-51FD-6EBC-27AA-6EBF282B7E6C}"/>
              </a:ext>
            </a:extLst>
          </p:cNvPr>
          <p:cNvGrpSpPr/>
          <p:nvPr/>
        </p:nvGrpSpPr>
        <p:grpSpPr>
          <a:xfrm>
            <a:off x="6921445" y="3532571"/>
            <a:ext cx="448780" cy="695895"/>
            <a:chOff x="6921445" y="3532571"/>
            <a:chExt cx="448780" cy="69589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圓角矩形 56">
                  <a:extLst>
                    <a:ext uri="{FF2B5EF4-FFF2-40B4-BE49-F238E27FC236}">
                      <a16:creationId xmlns:a16="http://schemas.microsoft.com/office/drawing/2014/main" id="{F097B589-31AF-9BBC-BC2C-89B86CAE83D8}"/>
                    </a:ext>
                  </a:extLst>
                </p:cNvPr>
                <p:cNvSpPr/>
                <p:nvPr/>
              </p:nvSpPr>
              <p:spPr>
                <a:xfrm>
                  <a:off x="6921445" y="3532571"/>
                  <a:ext cx="448780" cy="375953"/>
                </a:xfrm>
                <a:prstGeom prst="roundRect">
                  <a:avLst/>
                </a:prstGeom>
                <a:solidFill>
                  <a:srgbClr val="C5E0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7" name="圓角矩形 56">
                  <a:extLst>
                    <a:ext uri="{FF2B5EF4-FFF2-40B4-BE49-F238E27FC236}">
                      <a16:creationId xmlns:a16="http://schemas.microsoft.com/office/drawing/2014/main" id="{F097B589-31AF-9BBC-BC2C-89B86CAE83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445" y="3532571"/>
                  <a:ext cx="448780" cy="375953"/>
                </a:xfrm>
                <a:prstGeom prst="roundRect">
                  <a:avLst/>
                </a:prstGeom>
                <a:blipFill>
                  <a:blip r:embed="rId9"/>
                  <a:stretch>
                    <a:fillRect b="-93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CCCD7878-4E59-76F7-ABCF-2C7D1DAC17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63567" y="3964478"/>
              <a:ext cx="0" cy="2639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5F09C9D-9268-BCFE-D324-593D401F4287}"/>
              </a:ext>
            </a:extLst>
          </p:cNvPr>
          <p:cNvSpPr txBox="1"/>
          <p:nvPr/>
        </p:nvSpPr>
        <p:spPr>
          <a:xfrm>
            <a:off x="7606280" y="1796628"/>
            <a:ext cx="2626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Teacher Forcing</a:t>
            </a:r>
            <a:endParaRPr kumimoji="1" lang="zh-TW" altLang="en-US" sz="2400" b="1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D24F2471-8224-521F-4E98-0340A7986AB6}"/>
              </a:ext>
            </a:extLst>
          </p:cNvPr>
          <p:cNvSpPr/>
          <p:nvPr/>
        </p:nvSpPr>
        <p:spPr>
          <a:xfrm>
            <a:off x="6929846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1" name="圓角矩形 60">
            <a:extLst>
              <a:ext uri="{FF2B5EF4-FFF2-40B4-BE49-F238E27FC236}">
                <a16:creationId xmlns:a16="http://schemas.microsoft.com/office/drawing/2014/main" id="{B7679CD9-0E6C-9D1A-4154-0A5ECEBE97C4}"/>
              </a:ext>
            </a:extLst>
          </p:cNvPr>
          <p:cNvSpPr/>
          <p:nvPr/>
        </p:nvSpPr>
        <p:spPr>
          <a:xfrm>
            <a:off x="9459724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2" name="圓角矩形 61">
            <a:extLst>
              <a:ext uri="{FF2B5EF4-FFF2-40B4-BE49-F238E27FC236}">
                <a16:creationId xmlns:a16="http://schemas.microsoft.com/office/drawing/2014/main" id="{BB22A4B2-A233-9CA0-DCD3-5778541A17A6}"/>
              </a:ext>
            </a:extLst>
          </p:cNvPr>
          <p:cNvSpPr/>
          <p:nvPr/>
        </p:nvSpPr>
        <p:spPr>
          <a:xfrm>
            <a:off x="9965699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BB24711D-E62F-5C09-B805-506EBC233923}"/>
              </a:ext>
            </a:extLst>
          </p:cNvPr>
          <p:cNvSpPr/>
          <p:nvPr/>
        </p:nvSpPr>
        <p:spPr>
          <a:xfrm>
            <a:off x="7435822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D9F8A0C4-0AB0-92B0-53A9-83D273636257}"/>
              </a:ext>
            </a:extLst>
          </p:cNvPr>
          <p:cNvSpPr/>
          <p:nvPr/>
        </p:nvSpPr>
        <p:spPr>
          <a:xfrm>
            <a:off x="7941797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7A153E3D-3A28-1C3D-DF35-696C761A48F4}"/>
              </a:ext>
            </a:extLst>
          </p:cNvPr>
          <p:cNvSpPr/>
          <p:nvPr/>
        </p:nvSpPr>
        <p:spPr>
          <a:xfrm>
            <a:off x="8447773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041EACC0-3BC5-4FE8-88EF-CF87C7409CC6}"/>
              </a:ext>
            </a:extLst>
          </p:cNvPr>
          <p:cNvSpPr/>
          <p:nvPr/>
        </p:nvSpPr>
        <p:spPr>
          <a:xfrm>
            <a:off x="8953749" y="244923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E9D7ADDE-B641-32B7-773D-AF9CBFEFDEC6}"/>
              </a:ext>
            </a:extLst>
          </p:cNvPr>
          <p:cNvSpPr/>
          <p:nvPr/>
        </p:nvSpPr>
        <p:spPr>
          <a:xfrm>
            <a:off x="10470746" y="244357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8" name="上-下雙向箭號 67">
            <a:extLst>
              <a:ext uri="{FF2B5EF4-FFF2-40B4-BE49-F238E27FC236}">
                <a16:creationId xmlns:a16="http://schemas.microsoft.com/office/drawing/2014/main" id="{46621AB1-7123-1DDB-590D-46E48C51D79F}"/>
              </a:ext>
            </a:extLst>
          </p:cNvPr>
          <p:cNvSpPr/>
          <p:nvPr/>
        </p:nvSpPr>
        <p:spPr>
          <a:xfrm>
            <a:off x="7058405" y="2867049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AE15E609-967F-0C3B-C0B2-F3A53C59D535}"/>
              </a:ext>
            </a:extLst>
          </p:cNvPr>
          <p:cNvSpPr/>
          <p:nvPr/>
        </p:nvSpPr>
        <p:spPr>
          <a:xfrm>
            <a:off x="5509605" y="4559551"/>
            <a:ext cx="1126351" cy="34978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Attention</a:t>
            </a:r>
            <a:endParaRPr kumimoji="1"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90466B83-E39F-D73C-4421-9D9A9066D26E}"/>
              </a:ext>
            </a:extLst>
          </p:cNvPr>
          <p:cNvCxnSpPr>
            <a:endCxn id="78" idx="1"/>
          </p:cNvCxnSpPr>
          <p:nvPr/>
        </p:nvCxnSpPr>
        <p:spPr>
          <a:xfrm>
            <a:off x="5254039" y="4734442"/>
            <a:ext cx="25556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14EA065B-1758-9108-BA71-97EA93B2E01E}"/>
              </a:ext>
            </a:extLst>
          </p:cNvPr>
          <p:cNvCxnSpPr>
            <a:stCxn id="78" idx="3"/>
          </p:cNvCxnSpPr>
          <p:nvPr/>
        </p:nvCxnSpPr>
        <p:spPr>
          <a:xfrm>
            <a:off x="6635955" y="4734442"/>
            <a:ext cx="25556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E621C4BE-7ACA-6C0F-8D74-D22C57BF59BC}"/>
              </a:ext>
            </a:extLst>
          </p:cNvPr>
          <p:cNvSpPr txBox="1"/>
          <p:nvPr/>
        </p:nvSpPr>
        <p:spPr>
          <a:xfrm>
            <a:off x="10758262" y="2899982"/>
            <a:ext cx="10627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Cross-</a:t>
            </a:r>
          </a:p>
          <a:p>
            <a:pPr algn="ctr"/>
            <a:r>
              <a:rPr kumimoji="1" lang="en-US" altLang="zh-TW" sz="1600" dirty="0"/>
              <a:t>entropy</a:t>
            </a:r>
            <a:endParaRPr kumimoji="1" lang="zh-TW" alt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082D015-7037-C8AB-567F-F50041E62D04}"/>
                  </a:ext>
                </a:extLst>
              </p:cNvPr>
              <p:cNvSpPr txBox="1"/>
              <p:nvPr/>
            </p:nvSpPr>
            <p:spPr>
              <a:xfrm>
                <a:off x="626166" y="1796628"/>
                <a:ext cx="5350770" cy="1756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Use the Teacher Forcing technique during training.</a:t>
                </a:r>
              </a:p>
              <a:p>
                <a:pPr marL="342900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Total loss for a sequence: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24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400" dirty="0"/>
              </a:p>
              <a:p>
                <a:pPr marL="800100" lvl="1" indent="-342900">
                  <a:lnSpc>
                    <a:spcPct val="114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kumimoji="1" lang="en-US" altLang="zh-TW" sz="2400" dirty="0"/>
                  <a:t>: Sequence length</a:t>
                </a:r>
              </a:p>
            </p:txBody>
          </p:sp>
        </mc:Choice>
        <mc:Fallback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082D015-7037-C8AB-567F-F50041E62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66" y="1796628"/>
                <a:ext cx="5350770" cy="1756571"/>
              </a:xfrm>
              <a:prstGeom prst="rect">
                <a:avLst/>
              </a:prstGeom>
              <a:blipFill>
                <a:blip r:embed="rId10"/>
                <a:stretch>
                  <a:fillRect l="-1659" t="-1439" r="-1659" b="-273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A0F446E1-DE62-B0EC-6C03-710C46B90328}"/>
                  </a:ext>
                </a:extLst>
              </p:cNvPr>
              <p:cNvSpPr txBox="1"/>
              <p:nvPr/>
            </p:nvSpPr>
            <p:spPr>
              <a:xfrm>
                <a:off x="6769209" y="3003333"/>
                <a:ext cx="4032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A0F446E1-DE62-B0EC-6C03-710C46B90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9209" y="3003333"/>
                <a:ext cx="40325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群組 68">
            <a:extLst>
              <a:ext uri="{FF2B5EF4-FFF2-40B4-BE49-F238E27FC236}">
                <a16:creationId xmlns:a16="http://schemas.microsoft.com/office/drawing/2014/main" id="{ABD33B35-9C89-3795-45A4-88BF3CE4501A}"/>
              </a:ext>
            </a:extLst>
          </p:cNvPr>
          <p:cNvGrpSpPr/>
          <p:nvPr/>
        </p:nvGrpSpPr>
        <p:grpSpPr>
          <a:xfrm>
            <a:off x="7313547" y="2867049"/>
            <a:ext cx="440703" cy="623656"/>
            <a:chOff x="7313547" y="2867049"/>
            <a:chExt cx="440703" cy="623656"/>
          </a:xfrm>
        </p:grpSpPr>
        <p:sp>
          <p:nvSpPr>
            <p:cNvPr id="81" name="上-下雙向箭號 80">
              <a:extLst>
                <a:ext uri="{FF2B5EF4-FFF2-40B4-BE49-F238E27FC236}">
                  <a16:creationId xmlns:a16="http://schemas.microsoft.com/office/drawing/2014/main" id="{75CE8B97-0DBF-4A87-DEC0-1D63E868F84B}"/>
                </a:ext>
              </a:extLst>
            </p:cNvPr>
            <p:cNvSpPr/>
            <p:nvPr/>
          </p:nvSpPr>
          <p:spPr>
            <a:xfrm>
              <a:off x="7579391" y="286704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D61666DC-444C-6FBF-B81F-590CBD00AA35}"/>
                    </a:ext>
                  </a:extLst>
                </p:cNvPr>
                <p:cNvSpPr txBox="1"/>
                <p:nvPr/>
              </p:nvSpPr>
              <p:spPr>
                <a:xfrm>
                  <a:off x="7313547" y="3004900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D61666DC-444C-6FBF-B81F-590CBD00A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3547" y="3004900"/>
                  <a:ext cx="403259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2" name="群組 101">
            <a:extLst>
              <a:ext uri="{FF2B5EF4-FFF2-40B4-BE49-F238E27FC236}">
                <a16:creationId xmlns:a16="http://schemas.microsoft.com/office/drawing/2014/main" id="{29F5B11A-A827-3CAE-56A5-0FFEFAD45A44}"/>
              </a:ext>
            </a:extLst>
          </p:cNvPr>
          <p:cNvGrpSpPr/>
          <p:nvPr/>
        </p:nvGrpSpPr>
        <p:grpSpPr>
          <a:xfrm>
            <a:off x="7832599" y="2867049"/>
            <a:ext cx="424904" cy="623656"/>
            <a:chOff x="7832599" y="2867049"/>
            <a:chExt cx="424904" cy="623656"/>
          </a:xfrm>
        </p:grpSpPr>
        <p:sp>
          <p:nvSpPr>
            <p:cNvPr id="82" name="上-下雙向箭號 81">
              <a:extLst>
                <a:ext uri="{FF2B5EF4-FFF2-40B4-BE49-F238E27FC236}">
                  <a16:creationId xmlns:a16="http://schemas.microsoft.com/office/drawing/2014/main" id="{92D905D2-287E-64F9-FED2-D986F0D79BFE}"/>
                </a:ext>
              </a:extLst>
            </p:cNvPr>
            <p:cNvSpPr/>
            <p:nvPr/>
          </p:nvSpPr>
          <p:spPr>
            <a:xfrm>
              <a:off x="8082644" y="286704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469CEFBE-39DF-1EAD-7ACC-9EADD59449C7}"/>
                    </a:ext>
                  </a:extLst>
                </p:cNvPr>
                <p:cNvSpPr txBox="1"/>
                <p:nvPr/>
              </p:nvSpPr>
              <p:spPr>
                <a:xfrm>
                  <a:off x="7832599" y="3013578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96" name="文字方塊 95">
                  <a:extLst>
                    <a:ext uri="{FF2B5EF4-FFF2-40B4-BE49-F238E27FC236}">
                      <a16:creationId xmlns:a16="http://schemas.microsoft.com/office/drawing/2014/main" id="{469CEFBE-39DF-1EAD-7ACC-9EADD59449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2599" y="3013578"/>
                  <a:ext cx="40325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A606A1B3-13FF-F0E3-4AD9-662196B569F7}"/>
              </a:ext>
            </a:extLst>
          </p:cNvPr>
          <p:cNvGrpSpPr/>
          <p:nvPr/>
        </p:nvGrpSpPr>
        <p:grpSpPr>
          <a:xfrm>
            <a:off x="8327580" y="2867819"/>
            <a:ext cx="431083" cy="623656"/>
            <a:chOff x="8327580" y="2867819"/>
            <a:chExt cx="431083" cy="623656"/>
          </a:xfrm>
        </p:grpSpPr>
        <p:sp>
          <p:nvSpPr>
            <p:cNvPr id="83" name="上-下雙向箭號 82">
              <a:extLst>
                <a:ext uri="{FF2B5EF4-FFF2-40B4-BE49-F238E27FC236}">
                  <a16:creationId xmlns:a16="http://schemas.microsoft.com/office/drawing/2014/main" id="{FB552F14-D636-9C16-FA70-C4AF9DE2CDCF}"/>
                </a:ext>
              </a:extLst>
            </p:cNvPr>
            <p:cNvSpPr/>
            <p:nvPr/>
          </p:nvSpPr>
          <p:spPr>
            <a:xfrm>
              <a:off x="8583804" y="2867819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1E193C26-A290-198C-99DE-7C65DDAE36EB}"/>
                    </a:ext>
                  </a:extLst>
                </p:cNvPr>
                <p:cNvSpPr txBox="1"/>
                <p:nvPr/>
              </p:nvSpPr>
              <p:spPr>
                <a:xfrm>
                  <a:off x="8327580" y="3003333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1E193C26-A290-198C-99DE-7C65DDAE3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580" y="3003333"/>
                  <a:ext cx="40325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ACA14F80-3298-F32E-DA51-28217B2AA74B}"/>
              </a:ext>
            </a:extLst>
          </p:cNvPr>
          <p:cNvGrpSpPr/>
          <p:nvPr/>
        </p:nvGrpSpPr>
        <p:grpSpPr>
          <a:xfrm>
            <a:off x="8826974" y="2876171"/>
            <a:ext cx="436812" cy="623656"/>
            <a:chOff x="8826974" y="2876171"/>
            <a:chExt cx="436812" cy="623656"/>
          </a:xfrm>
        </p:grpSpPr>
        <p:sp>
          <p:nvSpPr>
            <p:cNvPr id="88" name="上-下雙向箭號 87">
              <a:extLst>
                <a:ext uri="{FF2B5EF4-FFF2-40B4-BE49-F238E27FC236}">
                  <a16:creationId xmlns:a16="http://schemas.microsoft.com/office/drawing/2014/main" id="{7696F1CF-C369-3BC4-2479-AF95E40E7351}"/>
                </a:ext>
              </a:extLst>
            </p:cNvPr>
            <p:cNvSpPr/>
            <p:nvPr/>
          </p:nvSpPr>
          <p:spPr>
            <a:xfrm>
              <a:off x="9088927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文字方塊 97">
                  <a:extLst>
                    <a:ext uri="{FF2B5EF4-FFF2-40B4-BE49-F238E27FC236}">
                      <a16:creationId xmlns:a16="http://schemas.microsoft.com/office/drawing/2014/main" id="{FE91F4A4-FD8D-BADC-F884-099111D2F59A}"/>
                    </a:ext>
                  </a:extLst>
                </p:cNvPr>
                <p:cNvSpPr txBox="1"/>
                <p:nvPr/>
              </p:nvSpPr>
              <p:spPr>
                <a:xfrm>
                  <a:off x="8826974" y="3003386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98" name="文字方塊 97">
                  <a:extLst>
                    <a:ext uri="{FF2B5EF4-FFF2-40B4-BE49-F238E27FC236}">
                      <a16:creationId xmlns:a16="http://schemas.microsoft.com/office/drawing/2014/main" id="{FE91F4A4-FD8D-BADC-F884-099111D2F5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6974" y="3003386"/>
                  <a:ext cx="403259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4234AAB7-1970-A44C-AE6A-0AA8B5D89DC8}"/>
              </a:ext>
            </a:extLst>
          </p:cNvPr>
          <p:cNvGrpSpPr/>
          <p:nvPr/>
        </p:nvGrpSpPr>
        <p:grpSpPr>
          <a:xfrm>
            <a:off x="9353303" y="2876171"/>
            <a:ext cx="431469" cy="623656"/>
            <a:chOff x="9353303" y="2876171"/>
            <a:chExt cx="431469" cy="623656"/>
          </a:xfrm>
        </p:grpSpPr>
        <p:sp>
          <p:nvSpPr>
            <p:cNvPr id="89" name="上-下雙向箭號 88">
              <a:extLst>
                <a:ext uri="{FF2B5EF4-FFF2-40B4-BE49-F238E27FC236}">
                  <a16:creationId xmlns:a16="http://schemas.microsoft.com/office/drawing/2014/main" id="{5466C96C-858D-7B46-721E-8A96083A6286}"/>
                </a:ext>
              </a:extLst>
            </p:cNvPr>
            <p:cNvSpPr/>
            <p:nvPr/>
          </p:nvSpPr>
          <p:spPr>
            <a:xfrm>
              <a:off x="9609913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5DAAA15C-7388-69A4-4505-DC3AA498C252}"/>
                    </a:ext>
                  </a:extLst>
                </p:cNvPr>
                <p:cNvSpPr txBox="1"/>
                <p:nvPr/>
              </p:nvSpPr>
              <p:spPr>
                <a:xfrm>
                  <a:off x="9353303" y="3013578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5DAAA15C-7388-69A4-4505-DC3AA498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3303" y="3013578"/>
                  <a:ext cx="403259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4555B7D-7C94-7600-E69F-E0280E6F030D}"/>
              </a:ext>
            </a:extLst>
          </p:cNvPr>
          <p:cNvGrpSpPr/>
          <p:nvPr/>
        </p:nvGrpSpPr>
        <p:grpSpPr>
          <a:xfrm>
            <a:off x="9840730" y="2876171"/>
            <a:ext cx="447295" cy="623656"/>
            <a:chOff x="9840730" y="2876171"/>
            <a:chExt cx="447295" cy="623656"/>
          </a:xfrm>
        </p:grpSpPr>
        <p:sp>
          <p:nvSpPr>
            <p:cNvPr id="90" name="上-下雙向箭號 89">
              <a:extLst>
                <a:ext uri="{FF2B5EF4-FFF2-40B4-BE49-F238E27FC236}">
                  <a16:creationId xmlns:a16="http://schemas.microsoft.com/office/drawing/2014/main" id="{9F29B83C-D734-D532-1367-C54B9F21EC88}"/>
                </a:ext>
              </a:extLst>
            </p:cNvPr>
            <p:cNvSpPr/>
            <p:nvPr/>
          </p:nvSpPr>
          <p:spPr>
            <a:xfrm>
              <a:off x="10113166" y="287617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869007C9-30C4-A23F-7F82-B3E039EB3B1F}"/>
                    </a:ext>
                  </a:extLst>
                </p:cNvPr>
                <p:cNvSpPr txBox="1"/>
                <p:nvPr/>
              </p:nvSpPr>
              <p:spPr>
                <a:xfrm>
                  <a:off x="9840730" y="3004900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869007C9-30C4-A23F-7F82-B3E039EB3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0730" y="3004900"/>
                  <a:ext cx="403259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95A5132-76BA-345C-C0FB-B500D09A9735}"/>
              </a:ext>
            </a:extLst>
          </p:cNvPr>
          <p:cNvGrpSpPr/>
          <p:nvPr/>
        </p:nvGrpSpPr>
        <p:grpSpPr>
          <a:xfrm>
            <a:off x="10357714" y="2876941"/>
            <a:ext cx="431471" cy="623656"/>
            <a:chOff x="10357714" y="2876941"/>
            <a:chExt cx="431471" cy="623656"/>
          </a:xfrm>
        </p:grpSpPr>
        <p:sp>
          <p:nvSpPr>
            <p:cNvPr id="91" name="上-下雙向箭號 90">
              <a:extLst>
                <a:ext uri="{FF2B5EF4-FFF2-40B4-BE49-F238E27FC236}">
                  <a16:creationId xmlns:a16="http://schemas.microsoft.com/office/drawing/2014/main" id="{30A9A1C7-505D-EC39-E5CA-0E3FEAAF95ED}"/>
                </a:ext>
              </a:extLst>
            </p:cNvPr>
            <p:cNvSpPr/>
            <p:nvPr/>
          </p:nvSpPr>
          <p:spPr>
            <a:xfrm>
              <a:off x="10614326" y="2876941"/>
              <a:ext cx="174859" cy="623656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23062D85-3A88-5325-83CB-113934A4B6DA}"/>
                    </a:ext>
                  </a:extLst>
                </p:cNvPr>
                <p:cNvSpPr txBox="1"/>
                <p:nvPr/>
              </p:nvSpPr>
              <p:spPr>
                <a:xfrm>
                  <a:off x="10357714" y="3003333"/>
                  <a:ext cx="40325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23062D85-3A88-5325-83CB-113934A4B6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7714" y="3003333"/>
                  <a:ext cx="403259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標題 1">
            <a:extLst>
              <a:ext uri="{FF2B5EF4-FFF2-40B4-BE49-F238E27FC236}">
                <a16:creationId xmlns:a16="http://schemas.microsoft.com/office/drawing/2014/main" id="{EAACD187-4E22-8DF2-C248-C0EAE4B03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329454"/>
            <a:ext cx="11370365" cy="1033416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Teacher Forcing – Training Time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98C5502-CBA2-F3EA-1845-616AD5959265}"/>
                  </a:ext>
                </a:extLst>
              </p:cNvPr>
              <p:cNvSpPr txBox="1"/>
              <p:nvPr/>
            </p:nvSpPr>
            <p:spPr>
              <a:xfrm>
                <a:off x="7431157" y="5992134"/>
                <a:ext cx="323737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rgbClr val="FF0000"/>
                    </a:solidFill>
                  </a:rPr>
                  <a:t>注意！下一個時間點不是丟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en-US" altLang="zh-TW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kumimoji="1"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98C5502-CBA2-F3EA-1845-616AD595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157" y="5992134"/>
                <a:ext cx="3237372" cy="369332"/>
              </a:xfrm>
              <a:prstGeom prst="rect">
                <a:avLst/>
              </a:prstGeom>
              <a:blipFill>
                <a:blip r:embed="rId19"/>
                <a:stretch>
                  <a:fillRect l="-1563" t="-6452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B024464-BC59-8C0B-C315-6C2A2581456B}"/>
              </a:ext>
            </a:extLst>
          </p:cNvPr>
          <p:cNvSpPr txBox="1"/>
          <p:nvPr/>
        </p:nvSpPr>
        <p:spPr>
          <a:xfrm>
            <a:off x="11164824" y="606247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60621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92" grpId="0"/>
      <p:bldP spid="94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ACBC92-F134-0540-8676-38FF7533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Teacher Forcing – Training Time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16F2A66-6AEB-E94B-9FB0-2A496826C9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95703" y="1599427"/>
                <a:ext cx="3931721" cy="9434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TW" sz="1800" i="1">
                          <a:latin typeface="Cambria Math" panose="02040503050406030204" pitchFamily="18" charset="0"/>
                        </a:rPr>
                        <m:t> =−</m:t>
                      </m:r>
                      <m:nary>
                        <m:naryPr>
                          <m:chr m:val="∑"/>
                          <m:ctrl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p>
                            <m:sSupPr>
                              <m:ctrlP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  <m:e>
                          <m:func>
                            <m:funcPr>
                              <m:ctrlP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18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1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16F2A66-6AEB-E94B-9FB0-2A496826C9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95703" y="1599427"/>
                <a:ext cx="3931721" cy="943492"/>
              </a:xfrm>
              <a:blipFill>
                <a:blip r:embed="rId3"/>
                <a:stretch>
                  <a:fillRect l="-4502" t="-88158" b="-126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5BCECF-4DEC-5D4F-B1A8-5D6FE667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18</a:t>
            </a:fld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0F5CDC7-8A10-ED4C-A484-FDC970412F20}"/>
              </a:ext>
            </a:extLst>
          </p:cNvPr>
          <p:cNvSpPr/>
          <p:nvPr/>
        </p:nvSpPr>
        <p:spPr>
          <a:xfrm>
            <a:off x="1313682" y="4182863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A8B4F7E-86F3-B548-BE92-DFC901BF9DD1}"/>
              </a:ext>
            </a:extLst>
          </p:cNvPr>
          <p:cNvSpPr txBox="1"/>
          <p:nvPr/>
        </p:nvSpPr>
        <p:spPr>
          <a:xfrm>
            <a:off x="1365211" y="5994130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D255F287-0699-CF47-B04E-04F6E2320B5A}"/>
                  </a:ext>
                </a:extLst>
              </p:cNvPr>
              <p:cNvSpPr/>
              <p:nvPr/>
            </p:nvSpPr>
            <p:spPr>
              <a:xfrm>
                <a:off x="2129172" y="5523784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D255F287-0699-CF47-B04E-04F6E2320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2" y="5523784"/>
                <a:ext cx="555205" cy="46510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E8BBA64-B904-434F-AD18-4CF6EB41E3C8}"/>
              </a:ext>
            </a:extLst>
          </p:cNvPr>
          <p:cNvCxnSpPr>
            <a:cxnSpLocks/>
          </p:cNvCxnSpPr>
          <p:nvPr/>
        </p:nvCxnSpPr>
        <p:spPr>
          <a:xfrm flipV="1">
            <a:off x="1677723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3CB9954B-DF93-9C42-99E2-E4BDD8806A07}"/>
              </a:ext>
            </a:extLst>
          </p:cNvPr>
          <p:cNvCxnSpPr>
            <a:cxnSpLocks/>
          </p:cNvCxnSpPr>
          <p:nvPr/>
        </p:nvCxnSpPr>
        <p:spPr>
          <a:xfrm flipV="1">
            <a:off x="2400138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1BF625C-7E67-F344-8028-443D04FA342D}"/>
              </a:ext>
            </a:extLst>
          </p:cNvPr>
          <p:cNvCxnSpPr>
            <a:cxnSpLocks/>
          </p:cNvCxnSpPr>
          <p:nvPr/>
        </p:nvCxnSpPr>
        <p:spPr>
          <a:xfrm flipV="1">
            <a:off x="5327413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B677AB22-B124-E04E-8037-43329EA78AE7}"/>
              </a:ext>
            </a:extLst>
          </p:cNvPr>
          <p:cNvCxnSpPr>
            <a:cxnSpLocks/>
          </p:cNvCxnSpPr>
          <p:nvPr/>
        </p:nvCxnSpPr>
        <p:spPr>
          <a:xfrm flipV="1">
            <a:off x="4604998" y="386952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9D0C40D-D879-AE44-B34D-85BB7FF857B0}"/>
              </a:ext>
            </a:extLst>
          </p:cNvPr>
          <p:cNvSpPr txBox="1"/>
          <p:nvPr/>
        </p:nvSpPr>
        <p:spPr>
          <a:xfrm>
            <a:off x="3181828" y="335161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CB1826D8-8C83-3E4A-83B8-A43DBD74178A}"/>
              </a:ext>
            </a:extLst>
          </p:cNvPr>
          <p:cNvSpPr/>
          <p:nvPr/>
        </p:nvSpPr>
        <p:spPr>
          <a:xfrm>
            <a:off x="1400119" y="5527279"/>
            <a:ext cx="555205" cy="465107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46A128E1-B81C-A949-8974-350D2D4DFD96}"/>
              </a:ext>
            </a:extLst>
          </p:cNvPr>
          <p:cNvCxnSpPr>
            <a:cxnSpLocks/>
          </p:cNvCxnSpPr>
          <p:nvPr/>
        </p:nvCxnSpPr>
        <p:spPr>
          <a:xfrm flipV="1">
            <a:off x="1677723" y="522571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1726EC4C-85C5-724E-A2CE-B56A0259C379}"/>
              </a:ext>
            </a:extLst>
          </p:cNvPr>
          <p:cNvCxnSpPr>
            <a:cxnSpLocks/>
          </p:cNvCxnSpPr>
          <p:nvPr/>
        </p:nvCxnSpPr>
        <p:spPr>
          <a:xfrm flipV="1">
            <a:off x="2400137" y="522571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3442DB7B-151A-7E42-ACFB-03682A1240C9}"/>
              </a:ext>
            </a:extLst>
          </p:cNvPr>
          <p:cNvCxnSpPr>
            <a:cxnSpLocks/>
          </p:cNvCxnSpPr>
          <p:nvPr/>
        </p:nvCxnSpPr>
        <p:spPr>
          <a:xfrm flipV="1">
            <a:off x="4604997" y="52222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986DAF03-A479-3C4C-A277-75B510491070}"/>
              </a:ext>
            </a:extLst>
          </p:cNvPr>
          <p:cNvCxnSpPr>
            <a:cxnSpLocks/>
          </p:cNvCxnSpPr>
          <p:nvPr/>
        </p:nvCxnSpPr>
        <p:spPr>
          <a:xfrm flipV="1">
            <a:off x="5327411" y="52222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A871436-8E8C-FE45-B268-4390C72224B9}"/>
              </a:ext>
            </a:extLst>
          </p:cNvPr>
          <p:cNvSpPr txBox="1"/>
          <p:nvPr/>
        </p:nvSpPr>
        <p:spPr>
          <a:xfrm>
            <a:off x="3179078" y="5418495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圓角矩形 54">
                <a:extLst>
                  <a:ext uri="{FF2B5EF4-FFF2-40B4-BE49-F238E27FC236}">
                    <a16:creationId xmlns:a16="http://schemas.microsoft.com/office/drawing/2014/main" id="{5A598325-959A-2542-BDC8-61B33AF51535}"/>
                  </a:ext>
                </a:extLst>
              </p:cNvPr>
              <p:cNvSpPr/>
              <p:nvPr/>
            </p:nvSpPr>
            <p:spPr>
              <a:xfrm>
                <a:off x="4325502" y="5520145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  <m:sup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圓角矩形 54">
                <a:extLst>
                  <a:ext uri="{FF2B5EF4-FFF2-40B4-BE49-F238E27FC236}">
                    <a16:creationId xmlns:a16="http://schemas.microsoft.com/office/drawing/2014/main" id="{5A598325-959A-2542-BDC8-61B33AF51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502" y="5520145"/>
                <a:ext cx="555205" cy="465107"/>
              </a:xfrm>
              <a:prstGeom prst="roundRect">
                <a:avLst/>
              </a:prstGeom>
              <a:blipFill>
                <a:blip r:embed="rId5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圓角矩形 56">
                <a:extLst>
                  <a:ext uri="{FF2B5EF4-FFF2-40B4-BE49-F238E27FC236}">
                    <a16:creationId xmlns:a16="http://schemas.microsoft.com/office/drawing/2014/main" id="{77528BE3-CD70-3543-9AFF-502DBBA196CD}"/>
                  </a:ext>
                </a:extLst>
              </p:cNvPr>
              <p:cNvSpPr/>
              <p:nvPr/>
            </p:nvSpPr>
            <p:spPr>
              <a:xfrm>
                <a:off x="5052499" y="5527279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圓角矩形 56">
                <a:extLst>
                  <a:ext uri="{FF2B5EF4-FFF2-40B4-BE49-F238E27FC236}">
                    <a16:creationId xmlns:a16="http://schemas.microsoft.com/office/drawing/2014/main" id="{77528BE3-CD70-3543-9AFF-502DBBA196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499" y="5527279"/>
                <a:ext cx="555205" cy="465107"/>
              </a:xfrm>
              <a:prstGeom prst="roundRect">
                <a:avLst/>
              </a:prstGeom>
              <a:blipFill>
                <a:blip r:embed="rId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79B44CDE-B328-E044-964D-033066EBB833}"/>
                  </a:ext>
                </a:extLst>
              </p:cNvPr>
              <p:cNvSpPr/>
              <p:nvPr/>
            </p:nvSpPr>
            <p:spPr>
              <a:xfrm>
                <a:off x="4330087" y="3357600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79B44CDE-B328-E044-964D-033066EBB8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87" y="3357600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圓角矩形 72">
                <a:extLst>
                  <a:ext uri="{FF2B5EF4-FFF2-40B4-BE49-F238E27FC236}">
                    <a16:creationId xmlns:a16="http://schemas.microsoft.com/office/drawing/2014/main" id="{65EBA6B1-4887-204B-A9B8-2F5775D545C2}"/>
                  </a:ext>
                </a:extLst>
              </p:cNvPr>
              <p:cNvSpPr/>
              <p:nvPr/>
            </p:nvSpPr>
            <p:spPr>
              <a:xfrm>
                <a:off x="5052501" y="3355535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圓角矩形 72">
                <a:extLst>
                  <a:ext uri="{FF2B5EF4-FFF2-40B4-BE49-F238E27FC236}">
                    <a16:creationId xmlns:a16="http://schemas.microsoft.com/office/drawing/2014/main" id="{65EBA6B1-4887-204B-A9B8-2F5775D545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501" y="3355535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圓角矩形 73">
                <a:extLst>
                  <a:ext uri="{FF2B5EF4-FFF2-40B4-BE49-F238E27FC236}">
                    <a16:creationId xmlns:a16="http://schemas.microsoft.com/office/drawing/2014/main" id="{7A730307-E26B-2545-A2FE-5AD1481BCAD5}"/>
                  </a:ext>
                </a:extLst>
              </p:cNvPr>
              <p:cNvSpPr/>
              <p:nvPr/>
            </p:nvSpPr>
            <p:spPr>
              <a:xfrm>
                <a:off x="1400119" y="3344943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圓角矩形 73">
                <a:extLst>
                  <a:ext uri="{FF2B5EF4-FFF2-40B4-BE49-F238E27FC236}">
                    <a16:creationId xmlns:a16="http://schemas.microsoft.com/office/drawing/2014/main" id="{7A730307-E26B-2545-A2FE-5AD1481BCA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19" y="3344943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圓角矩形 74">
                <a:extLst>
                  <a:ext uri="{FF2B5EF4-FFF2-40B4-BE49-F238E27FC236}">
                    <a16:creationId xmlns:a16="http://schemas.microsoft.com/office/drawing/2014/main" id="{20ADE35F-3077-2B43-8474-10B7BCBD9592}"/>
                  </a:ext>
                </a:extLst>
              </p:cNvPr>
              <p:cNvSpPr/>
              <p:nvPr/>
            </p:nvSpPr>
            <p:spPr>
              <a:xfrm>
                <a:off x="2129173" y="3354759"/>
                <a:ext cx="555203" cy="465105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圓角矩形 74">
                <a:extLst>
                  <a:ext uri="{FF2B5EF4-FFF2-40B4-BE49-F238E27FC236}">
                    <a16:creationId xmlns:a16="http://schemas.microsoft.com/office/drawing/2014/main" id="{20ADE35F-3077-2B43-8474-10B7BCBD95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3" y="3354759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圓角矩形 79">
                <a:extLst>
                  <a:ext uri="{FF2B5EF4-FFF2-40B4-BE49-F238E27FC236}">
                    <a16:creationId xmlns:a16="http://schemas.microsoft.com/office/drawing/2014/main" id="{F0ECB34C-66A1-A548-9FC2-65BA6C0AC462}"/>
                  </a:ext>
                </a:extLst>
              </p:cNvPr>
              <p:cNvSpPr/>
              <p:nvPr/>
            </p:nvSpPr>
            <p:spPr>
              <a:xfrm>
                <a:off x="6960450" y="4406444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圓角矩形 79">
                <a:extLst>
                  <a:ext uri="{FF2B5EF4-FFF2-40B4-BE49-F238E27FC236}">
                    <a16:creationId xmlns:a16="http://schemas.microsoft.com/office/drawing/2014/main" id="{F0ECB34C-66A1-A548-9FC2-65BA6C0AC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450" y="4406444"/>
                <a:ext cx="555205" cy="46510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文字方塊 80">
            <a:extLst>
              <a:ext uri="{FF2B5EF4-FFF2-40B4-BE49-F238E27FC236}">
                <a16:creationId xmlns:a16="http://schemas.microsoft.com/office/drawing/2014/main" id="{D8475631-6E7B-E34D-A083-830F8C6A866C}"/>
              </a:ext>
            </a:extLst>
          </p:cNvPr>
          <p:cNvSpPr txBox="1"/>
          <p:nvPr/>
        </p:nvSpPr>
        <p:spPr>
          <a:xfrm>
            <a:off x="8414115" y="431303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圓角矩形 81">
                <a:extLst>
                  <a:ext uri="{FF2B5EF4-FFF2-40B4-BE49-F238E27FC236}">
                    <a16:creationId xmlns:a16="http://schemas.microsoft.com/office/drawing/2014/main" id="{B165F2DE-53CE-A645-A941-2FF98C71F602}"/>
                  </a:ext>
                </a:extLst>
              </p:cNvPr>
              <p:cNvSpPr/>
              <p:nvPr/>
            </p:nvSpPr>
            <p:spPr>
              <a:xfrm>
                <a:off x="9156780" y="4402805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圓角矩形 81">
                <a:extLst>
                  <a:ext uri="{FF2B5EF4-FFF2-40B4-BE49-F238E27FC236}">
                    <a16:creationId xmlns:a16="http://schemas.microsoft.com/office/drawing/2014/main" id="{B165F2DE-53CE-A645-A941-2FF98C71F6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780" y="4402805"/>
                <a:ext cx="555205" cy="465107"/>
              </a:xfrm>
              <a:prstGeom prst="roundRect">
                <a:avLst/>
              </a:prstGeom>
              <a:blipFill>
                <a:blip r:embed="rId12"/>
                <a:stretch>
                  <a:fillRect l="-4348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圓角矩形 82">
                <a:extLst>
                  <a:ext uri="{FF2B5EF4-FFF2-40B4-BE49-F238E27FC236}">
                    <a16:creationId xmlns:a16="http://schemas.microsoft.com/office/drawing/2014/main" id="{165DB2C1-CC3F-3D4E-ACF5-B081D5C76F1E}"/>
                  </a:ext>
                </a:extLst>
              </p:cNvPr>
              <p:cNvSpPr/>
              <p:nvPr/>
            </p:nvSpPr>
            <p:spPr>
              <a:xfrm>
                <a:off x="9895546" y="4400788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圓角矩形 82">
                <a:extLst>
                  <a:ext uri="{FF2B5EF4-FFF2-40B4-BE49-F238E27FC236}">
                    <a16:creationId xmlns:a16="http://schemas.microsoft.com/office/drawing/2014/main" id="{165DB2C1-CC3F-3D4E-ACF5-B081D5C76F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546" y="4400788"/>
                <a:ext cx="555205" cy="46510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48B0EC82-31AE-6C42-B240-4280F598BB33}"/>
              </a:ext>
            </a:extLst>
          </p:cNvPr>
          <p:cNvSpPr txBox="1"/>
          <p:nvPr/>
        </p:nvSpPr>
        <p:spPr>
          <a:xfrm>
            <a:off x="1313682" y="1908237"/>
            <a:ext cx="2660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FF0000"/>
                </a:solidFill>
              </a:rPr>
              <a:t>During training: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圓角矩形 83">
                <a:extLst>
                  <a:ext uri="{FF2B5EF4-FFF2-40B4-BE49-F238E27FC236}">
                    <a16:creationId xmlns:a16="http://schemas.microsoft.com/office/drawing/2014/main" id="{AD19FF6C-9C71-7E45-BD27-CEEEBD9F25B2}"/>
                  </a:ext>
                </a:extLst>
              </p:cNvPr>
              <p:cNvSpPr/>
              <p:nvPr/>
            </p:nvSpPr>
            <p:spPr>
              <a:xfrm>
                <a:off x="7710237" y="4409939"/>
                <a:ext cx="555205" cy="465107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圓角矩形 83">
                <a:extLst>
                  <a:ext uri="{FF2B5EF4-FFF2-40B4-BE49-F238E27FC236}">
                    <a16:creationId xmlns:a16="http://schemas.microsoft.com/office/drawing/2014/main" id="{AD19FF6C-9C71-7E45-BD27-CEEEBD9F2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0237" y="4409939"/>
                <a:ext cx="555205" cy="465107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肘形接點 35">
            <a:extLst>
              <a:ext uri="{FF2B5EF4-FFF2-40B4-BE49-F238E27FC236}">
                <a16:creationId xmlns:a16="http://schemas.microsoft.com/office/drawing/2014/main" id="{4CD3AD9E-6DE6-D149-9455-E2E9A0DEF0A7}"/>
              </a:ext>
            </a:extLst>
          </p:cNvPr>
          <p:cNvCxnSpPr>
            <a:stCxn id="74" idx="0"/>
            <a:endCxn id="80" idx="0"/>
          </p:cNvCxnSpPr>
          <p:nvPr/>
        </p:nvCxnSpPr>
        <p:spPr>
          <a:xfrm rot="16200000" flipH="1">
            <a:off x="3927136" y="1095527"/>
            <a:ext cx="1061501" cy="5560332"/>
          </a:xfrm>
          <a:prstGeom prst="bentConnector3">
            <a:avLst>
              <a:gd name="adj1" fmla="val -2377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接點 38">
            <a:extLst>
              <a:ext uri="{FF2B5EF4-FFF2-40B4-BE49-F238E27FC236}">
                <a16:creationId xmlns:a16="http://schemas.microsoft.com/office/drawing/2014/main" id="{883F8233-787F-1B46-A9A4-C102F4640176}"/>
              </a:ext>
            </a:extLst>
          </p:cNvPr>
          <p:cNvCxnSpPr>
            <a:stCxn id="75" idx="0"/>
            <a:endCxn id="84" idx="0"/>
          </p:cNvCxnSpPr>
          <p:nvPr/>
        </p:nvCxnSpPr>
        <p:spPr>
          <a:xfrm rot="16200000" flipH="1">
            <a:off x="4669717" y="1091817"/>
            <a:ext cx="1055180" cy="5581065"/>
          </a:xfrm>
          <a:prstGeom prst="bentConnector3">
            <a:avLst>
              <a:gd name="adj1" fmla="val -45299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接點 43">
            <a:extLst>
              <a:ext uri="{FF2B5EF4-FFF2-40B4-BE49-F238E27FC236}">
                <a16:creationId xmlns:a16="http://schemas.microsoft.com/office/drawing/2014/main" id="{5ED05CEE-25ED-214B-955D-EA8641050653}"/>
              </a:ext>
            </a:extLst>
          </p:cNvPr>
          <p:cNvCxnSpPr>
            <a:cxnSpLocks/>
            <a:stCxn id="59" idx="0"/>
            <a:endCxn id="82" idx="0"/>
          </p:cNvCxnSpPr>
          <p:nvPr/>
        </p:nvCxnSpPr>
        <p:spPr>
          <a:xfrm rot="16200000" flipH="1">
            <a:off x="6498433" y="1466855"/>
            <a:ext cx="1045205" cy="4826694"/>
          </a:xfrm>
          <a:prstGeom prst="bentConnector3">
            <a:avLst>
              <a:gd name="adj1" fmla="val -66182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肘形接點 84">
            <a:extLst>
              <a:ext uri="{FF2B5EF4-FFF2-40B4-BE49-F238E27FC236}">
                <a16:creationId xmlns:a16="http://schemas.microsoft.com/office/drawing/2014/main" id="{EA66705F-AF3E-134F-9189-4F1E16241373}"/>
              </a:ext>
            </a:extLst>
          </p:cNvPr>
          <p:cNvCxnSpPr>
            <a:stCxn id="73" idx="0"/>
            <a:endCxn id="83" idx="0"/>
          </p:cNvCxnSpPr>
          <p:nvPr/>
        </p:nvCxnSpPr>
        <p:spPr>
          <a:xfrm rot="16200000" flipH="1">
            <a:off x="7228999" y="1456638"/>
            <a:ext cx="1045253" cy="4843046"/>
          </a:xfrm>
          <a:prstGeom prst="bentConnector3">
            <a:avLst>
              <a:gd name="adj1" fmla="val -88901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65D9F96-E9B5-684D-8CA4-6C11F9013BDA}"/>
              </a:ext>
            </a:extLst>
          </p:cNvPr>
          <p:cNvSpPr txBox="1"/>
          <p:nvPr/>
        </p:nvSpPr>
        <p:spPr>
          <a:xfrm>
            <a:off x="7605139" y="5023283"/>
            <a:ext cx="2403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Ground truth sequence</a:t>
            </a:r>
            <a:endParaRPr kumimoji="1"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741319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ACBC92-F134-0540-8676-38FF7533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Teacher Forcing – Testing Time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5BCECF-4DEC-5D4F-B1A8-5D6FE667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19</a:t>
            </a:fld>
            <a:endParaRPr kumimoji="1" lang="zh-TW" altLang="en-US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75851F64-08AB-AD44-99A1-CAD187DBDF2A}"/>
              </a:ext>
            </a:extLst>
          </p:cNvPr>
          <p:cNvSpPr txBox="1"/>
          <p:nvPr/>
        </p:nvSpPr>
        <p:spPr>
          <a:xfrm>
            <a:off x="1313682" y="1908237"/>
            <a:ext cx="2660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solidFill>
                  <a:srgbClr val="FF0000"/>
                </a:solidFill>
              </a:rPr>
              <a:t>During testing:</a:t>
            </a:r>
            <a:endParaRPr kumimoji="1" lang="zh-TW" altLang="en-US" sz="2000" b="1" dirty="0">
              <a:solidFill>
                <a:srgbClr val="FF0000"/>
              </a:solidFill>
            </a:endParaRPr>
          </a:p>
        </p:txBody>
      </p: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0287673B-ECCD-8449-BED4-A3F511F56C09}"/>
              </a:ext>
            </a:extLst>
          </p:cNvPr>
          <p:cNvSpPr/>
          <p:nvPr/>
        </p:nvSpPr>
        <p:spPr>
          <a:xfrm>
            <a:off x="1313682" y="418286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E40B88B-DEF5-0445-B31B-4A6E98DDE3E5}"/>
              </a:ext>
            </a:extLst>
          </p:cNvPr>
          <p:cNvSpPr txBox="1"/>
          <p:nvPr/>
        </p:nvSpPr>
        <p:spPr>
          <a:xfrm>
            <a:off x="1365211" y="598525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375DFBA1-2FD4-EC41-9A7C-F93C7160DA4E}"/>
              </a:ext>
            </a:extLst>
          </p:cNvPr>
          <p:cNvCxnSpPr>
            <a:cxnSpLocks/>
          </p:cNvCxnSpPr>
          <p:nvPr/>
        </p:nvCxnSpPr>
        <p:spPr>
          <a:xfrm flipV="1">
            <a:off x="1677723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箭頭接點 80">
            <a:extLst>
              <a:ext uri="{FF2B5EF4-FFF2-40B4-BE49-F238E27FC236}">
                <a16:creationId xmlns:a16="http://schemas.microsoft.com/office/drawing/2014/main" id="{28C08EB6-DB4E-D843-B51C-7BBF2755AB9F}"/>
              </a:ext>
            </a:extLst>
          </p:cNvPr>
          <p:cNvCxnSpPr>
            <a:cxnSpLocks/>
          </p:cNvCxnSpPr>
          <p:nvPr/>
        </p:nvCxnSpPr>
        <p:spPr>
          <a:xfrm flipV="1">
            <a:off x="2400138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箭頭接點 81">
            <a:extLst>
              <a:ext uri="{FF2B5EF4-FFF2-40B4-BE49-F238E27FC236}">
                <a16:creationId xmlns:a16="http://schemas.microsoft.com/office/drawing/2014/main" id="{A909D22B-434B-AD44-9B2F-EC93BD1C53C7}"/>
              </a:ext>
            </a:extLst>
          </p:cNvPr>
          <p:cNvCxnSpPr>
            <a:cxnSpLocks/>
          </p:cNvCxnSpPr>
          <p:nvPr/>
        </p:nvCxnSpPr>
        <p:spPr>
          <a:xfrm flipV="1">
            <a:off x="5327413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4A58823A-BEC9-F141-81F6-F8051D423454}"/>
              </a:ext>
            </a:extLst>
          </p:cNvPr>
          <p:cNvCxnSpPr>
            <a:cxnSpLocks/>
          </p:cNvCxnSpPr>
          <p:nvPr/>
        </p:nvCxnSpPr>
        <p:spPr>
          <a:xfrm flipV="1">
            <a:off x="4604998" y="386953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27DA5170-49EF-0B43-B28B-0B57A773E828}"/>
              </a:ext>
            </a:extLst>
          </p:cNvPr>
          <p:cNvSpPr/>
          <p:nvPr/>
        </p:nvSpPr>
        <p:spPr>
          <a:xfrm>
            <a:off x="1400119" y="5527284"/>
            <a:ext cx="555205" cy="465107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993072D1-B430-814D-A9F5-015836087991}"/>
              </a:ext>
            </a:extLst>
          </p:cNvPr>
          <p:cNvCxnSpPr>
            <a:cxnSpLocks/>
          </p:cNvCxnSpPr>
          <p:nvPr/>
        </p:nvCxnSpPr>
        <p:spPr>
          <a:xfrm flipV="1">
            <a:off x="1677723" y="52257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CB6C364B-2F8B-1B43-9AFB-FDDF0556A0D7}"/>
              </a:ext>
            </a:extLst>
          </p:cNvPr>
          <p:cNvCxnSpPr>
            <a:cxnSpLocks/>
          </p:cNvCxnSpPr>
          <p:nvPr/>
        </p:nvCxnSpPr>
        <p:spPr>
          <a:xfrm flipV="1">
            <a:off x="2400137" y="522571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32317DE1-8ABD-FF46-B4AC-9B507AD08A00}"/>
              </a:ext>
            </a:extLst>
          </p:cNvPr>
          <p:cNvCxnSpPr>
            <a:cxnSpLocks/>
          </p:cNvCxnSpPr>
          <p:nvPr/>
        </p:nvCxnSpPr>
        <p:spPr>
          <a:xfrm flipV="1">
            <a:off x="4604997" y="522222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84CE9547-46BC-A943-91C2-2BDFB2948DF5}"/>
              </a:ext>
            </a:extLst>
          </p:cNvPr>
          <p:cNvCxnSpPr>
            <a:cxnSpLocks/>
          </p:cNvCxnSpPr>
          <p:nvPr/>
        </p:nvCxnSpPr>
        <p:spPr>
          <a:xfrm flipV="1">
            <a:off x="5327411" y="522222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A8AB5402-A827-494E-A112-D3F1DCB0844E}"/>
              </a:ext>
            </a:extLst>
          </p:cNvPr>
          <p:cNvSpPr txBox="1"/>
          <p:nvPr/>
        </p:nvSpPr>
        <p:spPr>
          <a:xfrm>
            <a:off x="3179078" y="541850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圓角矩形 91">
                <a:extLst>
                  <a:ext uri="{FF2B5EF4-FFF2-40B4-BE49-F238E27FC236}">
                    <a16:creationId xmlns:a16="http://schemas.microsoft.com/office/drawing/2014/main" id="{49869F45-A712-194B-82CB-772B6B029F44}"/>
                  </a:ext>
                </a:extLst>
              </p:cNvPr>
              <p:cNvSpPr/>
              <p:nvPr/>
            </p:nvSpPr>
            <p:spPr>
              <a:xfrm>
                <a:off x="4330087" y="335760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圓角矩形 91">
                <a:extLst>
                  <a:ext uri="{FF2B5EF4-FFF2-40B4-BE49-F238E27FC236}">
                    <a16:creationId xmlns:a16="http://schemas.microsoft.com/office/drawing/2014/main" id="{49869F45-A712-194B-82CB-772B6B029F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87" y="335760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圓角矩形 92">
                <a:extLst>
                  <a:ext uri="{FF2B5EF4-FFF2-40B4-BE49-F238E27FC236}">
                    <a16:creationId xmlns:a16="http://schemas.microsoft.com/office/drawing/2014/main" id="{AA39E56D-0579-CE48-BBEF-705C5FC33294}"/>
                  </a:ext>
                </a:extLst>
              </p:cNvPr>
              <p:cNvSpPr/>
              <p:nvPr/>
            </p:nvSpPr>
            <p:spPr>
              <a:xfrm>
                <a:off x="5052501" y="335554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圓角矩形 92">
                <a:extLst>
                  <a:ext uri="{FF2B5EF4-FFF2-40B4-BE49-F238E27FC236}">
                    <a16:creationId xmlns:a16="http://schemas.microsoft.com/office/drawing/2014/main" id="{AA39E56D-0579-CE48-BBEF-705C5FC3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501" y="3355540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圓角矩形 93">
                <a:extLst>
                  <a:ext uri="{FF2B5EF4-FFF2-40B4-BE49-F238E27FC236}">
                    <a16:creationId xmlns:a16="http://schemas.microsoft.com/office/drawing/2014/main" id="{319B7B34-E254-FE43-A6BF-19764741CE85}"/>
                  </a:ext>
                </a:extLst>
              </p:cNvPr>
              <p:cNvSpPr/>
              <p:nvPr/>
            </p:nvSpPr>
            <p:spPr>
              <a:xfrm>
                <a:off x="1400119" y="3344948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圓角矩形 93">
                <a:extLst>
                  <a:ext uri="{FF2B5EF4-FFF2-40B4-BE49-F238E27FC236}">
                    <a16:creationId xmlns:a16="http://schemas.microsoft.com/office/drawing/2014/main" id="{319B7B34-E254-FE43-A6BF-19764741CE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19" y="3344948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圓角矩形 94">
                <a:extLst>
                  <a:ext uri="{FF2B5EF4-FFF2-40B4-BE49-F238E27FC236}">
                    <a16:creationId xmlns:a16="http://schemas.microsoft.com/office/drawing/2014/main" id="{97CC34E6-D2D5-A048-9609-DDD49058FB73}"/>
                  </a:ext>
                </a:extLst>
              </p:cNvPr>
              <p:cNvSpPr/>
              <p:nvPr/>
            </p:nvSpPr>
            <p:spPr>
              <a:xfrm>
                <a:off x="2129173" y="335476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圓角矩形 94">
                <a:extLst>
                  <a:ext uri="{FF2B5EF4-FFF2-40B4-BE49-F238E27FC236}">
                    <a16:creationId xmlns:a16="http://schemas.microsoft.com/office/drawing/2014/main" id="{97CC34E6-D2D5-A048-9609-DDD49058FB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173" y="335476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圓角矩形 95">
                <a:extLst>
                  <a:ext uri="{FF2B5EF4-FFF2-40B4-BE49-F238E27FC236}">
                    <a16:creationId xmlns:a16="http://schemas.microsoft.com/office/drawing/2014/main" id="{998D21DD-5B44-0143-BB82-4FE5417E7B4A}"/>
                  </a:ext>
                </a:extLst>
              </p:cNvPr>
              <p:cNvSpPr/>
              <p:nvPr/>
            </p:nvSpPr>
            <p:spPr>
              <a:xfrm>
                <a:off x="2119314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圓角矩形 95">
                <a:extLst>
                  <a:ext uri="{FF2B5EF4-FFF2-40B4-BE49-F238E27FC236}">
                    <a16:creationId xmlns:a16="http://schemas.microsoft.com/office/drawing/2014/main" id="{998D21DD-5B44-0143-BB82-4FE5417E7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9314" y="552728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圓角矩形 96">
                <a:extLst>
                  <a:ext uri="{FF2B5EF4-FFF2-40B4-BE49-F238E27FC236}">
                    <a16:creationId xmlns:a16="http://schemas.microsoft.com/office/drawing/2014/main" id="{350AE83B-9D23-584B-BCAA-989124E37F49}"/>
                  </a:ext>
                </a:extLst>
              </p:cNvPr>
              <p:cNvSpPr/>
              <p:nvPr/>
            </p:nvSpPr>
            <p:spPr>
              <a:xfrm>
                <a:off x="4322280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圓角矩形 96">
                <a:extLst>
                  <a:ext uri="{FF2B5EF4-FFF2-40B4-BE49-F238E27FC236}">
                    <a16:creationId xmlns:a16="http://schemas.microsoft.com/office/drawing/2014/main" id="{350AE83B-9D23-584B-BCAA-989124E37F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280" y="552728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圓角矩形 97">
                <a:extLst>
                  <a:ext uri="{FF2B5EF4-FFF2-40B4-BE49-F238E27FC236}">
                    <a16:creationId xmlns:a16="http://schemas.microsoft.com/office/drawing/2014/main" id="{C5E98198-9B43-1D40-987A-F8BE64B81451}"/>
                  </a:ext>
                </a:extLst>
              </p:cNvPr>
              <p:cNvSpPr/>
              <p:nvPr/>
            </p:nvSpPr>
            <p:spPr>
              <a:xfrm>
                <a:off x="5044692" y="552728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圓角矩形 97">
                <a:extLst>
                  <a:ext uri="{FF2B5EF4-FFF2-40B4-BE49-F238E27FC236}">
                    <a16:creationId xmlns:a16="http://schemas.microsoft.com/office/drawing/2014/main" id="{C5E98198-9B43-1D40-987A-F8BE64B814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692" y="5527284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9B5575B0-141B-7B40-A9B9-47C8C0D1B0D4}"/>
              </a:ext>
            </a:extLst>
          </p:cNvPr>
          <p:cNvCxnSpPr/>
          <p:nvPr/>
        </p:nvCxnSpPr>
        <p:spPr>
          <a:xfrm>
            <a:off x="1946037" y="3878115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箭頭接點 99">
            <a:extLst>
              <a:ext uri="{FF2B5EF4-FFF2-40B4-BE49-F238E27FC236}">
                <a16:creationId xmlns:a16="http://schemas.microsoft.com/office/drawing/2014/main" id="{F7398AD7-B04F-B941-AF8E-BE396B421370}"/>
              </a:ext>
            </a:extLst>
          </p:cNvPr>
          <p:cNvCxnSpPr/>
          <p:nvPr/>
        </p:nvCxnSpPr>
        <p:spPr>
          <a:xfrm>
            <a:off x="2664758" y="3923924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673E9BEA-BE81-234F-8653-E7F83617449F}"/>
              </a:ext>
            </a:extLst>
          </p:cNvPr>
          <p:cNvCxnSpPr/>
          <p:nvPr/>
        </p:nvCxnSpPr>
        <p:spPr>
          <a:xfrm>
            <a:off x="4096363" y="3878114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FB520371-17D5-2441-B981-EFC973D77CBF}"/>
              </a:ext>
            </a:extLst>
          </p:cNvPr>
          <p:cNvCxnSpPr/>
          <p:nvPr/>
        </p:nvCxnSpPr>
        <p:spPr>
          <a:xfrm>
            <a:off x="4874584" y="3912296"/>
            <a:ext cx="278214" cy="15489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01573A0C-CA9C-1E42-AE35-1CCAF17A97D7}"/>
              </a:ext>
            </a:extLst>
          </p:cNvPr>
          <p:cNvSpPr txBox="1"/>
          <p:nvPr/>
        </p:nvSpPr>
        <p:spPr>
          <a:xfrm>
            <a:off x="3176696" y="3278079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2CB24DD4-EC8B-DA4A-B588-E038060FC25A}"/>
              </a:ext>
            </a:extLst>
          </p:cNvPr>
          <p:cNvSpPr txBox="1"/>
          <p:nvPr/>
        </p:nvSpPr>
        <p:spPr>
          <a:xfrm>
            <a:off x="2626420" y="2708047"/>
            <a:ext cx="182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Output sequence</a:t>
            </a:r>
            <a:endParaRPr kumimoji="1" lang="zh-TW" altLang="en-US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B265B0A-197C-71A6-1D88-26C3AD0A3956}"/>
              </a:ext>
            </a:extLst>
          </p:cNvPr>
          <p:cNvSpPr txBox="1"/>
          <p:nvPr/>
        </p:nvSpPr>
        <p:spPr>
          <a:xfrm>
            <a:off x="6531001" y="2630625"/>
            <a:ext cx="4363748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Advantage: stabilize training and increase performance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Question: </a:t>
            </a:r>
            <a:r>
              <a:rPr kumimoji="1" lang="en-US" altLang="zh-TW" sz="2400" dirty="0">
                <a:solidFill>
                  <a:srgbClr val="FF0000"/>
                </a:solidFill>
              </a:rPr>
              <a:t>How does the next word be determined?</a:t>
            </a:r>
          </a:p>
        </p:txBody>
      </p:sp>
    </p:spTree>
    <p:extLst>
      <p:ext uri="{BB962C8B-B14F-4D97-AF65-F5344CB8AC3E}">
        <p14:creationId xmlns:p14="http://schemas.microsoft.com/office/powerpoint/2010/main" val="3066417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0088F74-E7BD-9221-09BE-BD84A56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30086"/>
            <a:ext cx="3200400" cy="3454656"/>
          </a:xfrm>
        </p:spPr>
        <p:txBody>
          <a:bodyPr>
            <a:normAutofit/>
          </a:bodyPr>
          <a:lstStyle/>
          <a:p>
            <a:r>
              <a:rPr lang="en-US" altLang="zh-TW" sz="4400" dirty="0"/>
              <a:t>Decoding Strategies</a:t>
            </a:r>
            <a:br>
              <a:rPr lang="en-US" altLang="zh-TW" sz="4400" dirty="0"/>
            </a:br>
            <a:br>
              <a:rPr lang="en-US" altLang="zh-TW" sz="4400" dirty="0"/>
            </a:br>
            <a:r>
              <a:rPr lang="en-US" altLang="zh-TW" sz="4400" dirty="0"/>
              <a:t>4/27 </a:t>
            </a:r>
            <a:r>
              <a:rPr lang="zh-TW" altLang="en-US" sz="4400" dirty="0"/>
              <a:t>見！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6CD975-2D44-BE2A-2880-315742D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E919598-F59B-45C4-7FB7-8DF7C89F5441}"/>
              </a:ext>
            </a:extLst>
          </p:cNvPr>
          <p:cNvSpPr txBox="1"/>
          <p:nvPr/>
        </p:nvSpPr>
        <p:spPr>
          <a:xfrm>
            <a:off x="4785362" y="2205990"/>
            <a:ext cx="3749040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Beam Search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Top-k Sampling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Top-p Sampling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12094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BAF15D-D741-F37D-5052-0CD3B56D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B77902-BEE6-BEEF-7CEE-D3FCF61BA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132690B-9236-67B2-F48F-79EEABD102C9}"/>
              </a:ext>
            </a:extLst>
          </p:cNvPr>
          <p:cNvSpPr/>
          <p:nvPr/>
        </p:nvSpPr>
        <p:spPr>
          <a:xfrm>
            <a:off x="4038355" y="4530883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FD41496-3B9F-B583-407F-DC425B1486BB}"/>
              </a:ext>
            </a:extLst>
          </p:cNvPr>
          <p:cNvSpPr txBox="1"/>
          <p:nvPr/>
        </p:nvSpPr>
        <p:spPr>
          <a:xfrm>
            <a:off x="4199716" y="6346235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038097AD-3269-A0E5-9011-EC69C9E3EC2C}"/>
              </a:ext>
            </a:extLst>
          </p:cNvPr>
          <p:cNvCxnSpPr>
            <a:cxnSpLocks/>
          </p:cNvCxnSpPr>
          <p:nvPr/>
        </p:nvCxnSpPr>
        <p:spPr>
          <a:xfrm flipV="1">
            <a:off x="4494289" y="423051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1E477DB-0D4C-5F1B-BA63-B25A855350E3}"/>
              </a:ext>
            </a:extLst>
          </p:cNvPr>
          <p:cNvCxnSpPr>
            <a:cxnSpLocks/>
          </p:cNvCxnSpPr>
          <p:nvPr/>
        </p:nvCxnSpPr>
        <p:spPr>
          <a:xfrm flipV="1">
            <a:off x="5681038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FD095249-E731-A204-2683-1416A980F37A}"/>
              </a:ext>
            </a:extLst>
          </p:cNvPr>
          <p:cNvCxnSpPr>
            <a:cxnSpLocks/>
          </p:cNvCxnSpPr>
          <p:nvPr/>
        </p:nvCxnSpPr>
        <p:spPr>
          <a:xfrm flipV="1">
            <a:off x="8043060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DCB09DE-3C94-0EA7-BDC0-D6C3FDE6CD7A}"/>
              </a:ext>
            </a:extLst>
          </p:cNvPr>
          <p:cNvCxnSpPr>
            <a:cxnSpLocks/>
          </p:cNvCxnSpPr>
          <p:nvPr/>
        </p:nvCxnSpPr>
        <p:spPr>
          <a:xfrm flipV="1">
            <a:off x="6862049" y="4217548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FC6FFAA-D2BD-DF24-8B6A-C7BB1C1D1C57}"/>
              </a:ext>
            </a:extLst>
          </p:cNvPr>
          <p:cNvSpPr/>
          <p:nvPr/>
        </p:nvSpPr>
        <p:spPr>
          <a:xfrm>
            <a:off x="4216687" y="5888262"/>
            <a:ext cx="555205" cy="465107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E14E2C0F-1BCE-3797-DC2C-302DA3AAD939}"/>
              </a:ext>
            </a:extLst>
          </p:cNvPr>
          <p:cNvCxnSpPr>
            <a:cxnSpLocks/>
          </p:cNvCxnSpPr>
          <p:nvPr/>
        </p:nvCxnSpPr>
        <p:spPr>
          <a:xfrm flipV="1">
            <a:off x="4494289" y="5586697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5F93677-66BC-8770-EB13-0BBEC8A21C70}"/>
              </a:ext>
            </a:extLst>
          </p:cNvPr>
          <p:cNvCxnSpPr>
            <a:cxnSpLocks/>
          </p:cNvCxnSpPr>
          <p:nvPr/>
        </p:nvCxnSpPr>
        <p:spPr>
          <a:xfrm flipV="1">
            <a:off x="5681038" y="557373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87A1A18-560A-F74B-B3D5-F4609670CA48}"/>
              </a:ext>
            </a:extLst>
          </p:cNvPr>
          <p:cNvCxnSpPr>
            <a:cxnSpLocks/>
          </p:cNvCxnSpPr>
          <p:nvPr/>
        </p:nvCxnSpPr>
        <p:spPr>
          <a:xfrm flipV="1">
            <a:off x="6862049" y="557023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B1C79BD7-6DDF-9E8F-8790-2150E0C2D11A}"/>
              </a:ext>
            </a:extLst>
          </p:cNvPr>
          <p:cNvCxnSpPr>
            <a:cxnSpLocks/>
          </p:cNvCxnSpPr>
          <p:nvPr/>
        </p:nvCxnSpPr>
        <p:spPr>
          <a:xfrm flipV="1">
            <a:off x="8043060" y="557023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897EA2B-4E8B-50DB-FD88-B60A5C472BAA}"/>
                  </a:ext>
                </a:extLst>
              </p:cNvPr>
              <p:cNvSpPr/>
              <p:nvPr/>
            </p:nvSpPr>
            <p:spPr>
              <a:xfrm>
                <a:off x="6584448" y="370562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897EA2B-4E8B-50DB-FD88-B60A5C472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448" y="370562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878679A7-58AE-94D4-C2C8-0D5A34C9EE2C}"/>
                  </a:ext>
                </a:extLst>
              </p:cNvPr>
              <p:cNvSpPr/>
              <p:nvPr/>
            </p:nvSpPr>
            <p:spPr>
              <a:xfrm>
                <a:off x="7765459" y="370355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878679A7-58AE-94D4-C2C8-0D5A34C9E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5459" y="370355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EE464465-D429-1874-2758-3882086BAD8B}"/>
                  </a:ext>
                </a:extLst>
              </p:cNvPr>
              <p:cNvSpPr/>
              <p:nvPr/>
            </p:nvSpPr>
            <p:spPr>
              <a:xfrm>
                <a:off x="4216688" y="3705926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EE464465-D429-1874-2758-3882086BAD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688" y="3705926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30D846B2-592A-039D-C15A-CE8F4242A0EF}"/>
                  </a:ext>
                </a:extLst>
              </p:cNvPr>
              <p:cNvSpPr/>
              <p:nvPr/>
            </p:nvSpPr>
            <p:spPr>
              <a:xfrm>
                <a:off x="5403437" y="370277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Microsoft JhengHei" panose="020B0604030504040204" pitchFamily="34" charset="-12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30D846B2-592A-039D-C15A-CE8F4242A0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437" y="370277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圓角矩形 21">
            <a:extLst>
              <a:ext uri="{FF2B5EF4-FFF2-40B4-BE49-F238E27FC236}">
                <a16:creationId xmlns:a16="http://schemas.microsoft.com/office/drawing/2014/main" id="{69DA415C-A72E-2F57-57DC-550CB973255F}"/>
              </a:ext>
            </a:extLst>
          </p:cNvPr>
          <p:cNvSpPr/>
          <p:nvPr/>
        </p:nvSpPr>
        <p:spPr>
          <a:xfrm>
            <a:off x="5403437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45AD1568-A4A8-4F61-58DD-8E9373F7B829}"/>
              </a:ext>
            </a:extLst>
          </p:cNvPr>
          <p:cNvSpPr/>
          <p:nvPr/>
        </p:nvSpPr>
        <p:spPr>
          <a:xfrm>
            <a:off x="6584448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FA093A6-D652-FB9C-981F-6C1A9A6051B2}"/>
              </a:ext>
            </a:extLst>
          </p:cNvPr>
          <p:cNvSpPr/>
          <p:nvPr/>
        </p:nvSpPr>
        <p:spPr>
          <a:xfrm>
            <a:off x="7765459" y="587529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F3B3190-E72E-643D-93CB-608777666BD3}"/>
              </a:ext>
            </a:extLst>
          </p:cNvPr>
          <p:cNvCxnSpPr>
            <a:cxnSpLocks/>
          </p:cNvCxnSpPr>
          <p:nvPr/>
        </p:nvCxnSpPr>
        <p:spPr>
          <a:xfrm>
            <a:off x="4803520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54194-AB48-F899-2268-7C0032F1FAA2}"/>
              </a:ext>
            </a:extLst>
          </p:cNvPr>
          <p:cNvSpPr txBox="1"/>
          <p:nvPr/>
        </p:nvSpPr>
        <p:spPr>
          <a:xfrm>
            <a:off x="5341154" y="2030202"/>
            <a:ext cx="182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Output sequence</a:t>
            </a:r>
            <a:endParaRPr kumimoji="1" lang="zh-TW" altLang="en-US" b="1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2320F57-7B44-9078-4A9B-FC659F9A264B}"/>
              </a:ext>
            </a:extLst>
          </p:cNvPr>
          <p:cNvSpPr txBox="1"/>
          <p:nvPr/>
        </p:nvSpPr>
        <p:spPr>
          <a:xfrm>
            <a:off x="653143" y="1509798"/>
            <a:ext cx="4078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Example: I love reading books.</a:t>
            </a:r>
            <a:endParaRPr kumimoji="1" lang="zh-TW" altLang="en-US" sz="2000" b="1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EFCB5D60-D5EF-8A6E-A2E6-D9AD594279EB}"/>
              </a:ext>
            </a:extLst>
          </p:cNvPr>
          <p:cNvSpPr/>
          <p:nvPr/>
        </p:nvSpPr>
        <p:spPr>
          <a:xfrm>
            <a:off x="6584448" y="2479043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F506E2D5-48A0-CDB2-CBF6-9C1646EB4B43}"/>
                  </a:ext>
                </a:extLst>
              </p:cNvPr>
              <p:cNvSpPr/>
              <p:nvPr/>
            </p:nvSpPr>
            <p:spPr>
              <a:xfrm>
                <a:off x="7765459" y="2476978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讀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F506E2D5-48A0-CDB2-CBF6-9C1646EB4B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5459" y="2476978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圓角矩形 41">
            <a:extLst>
              <a:ext uri="{FF2B5EF4-FFF2-40B4-BE49-F238E27FC236}">
                <a16:creationId xmlns:a16="http://schemas.microsoft.com/office/drawing/2014/main" id="{05B33106-FD84-0646-11B6-F80CB8D74ABD}"/>
              </a:ext>
            </a:extLst>
          </p:cNvPr>
          <p:cNvSpPr/>
          <p:nvPr/>
        </p:nvSpPr>
        <p:spPr>
          <a:xfrm>
            <a:off x="4216688" y="2479349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E091960A-A2E6-B145-F9F6-A6BB77E06E92}"/>
              </a:ext>
            </a:extLst>
          </p:cNvPr>
          <p:cNvSpPr/>
          <p:nvPr/>
        </p:nvSpPr>
        <p:spPr>
          <a:xfrm>
            <a:off x="5403437" y="2476202"/>
            <a:ext cx="555203" cy="465105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0F9A47E1-8EB0-2A0E-83BE-D9122E413665}"/>
              </a:ext>
            </a:extLst>
          </p:cNvPr>
          <p:cNvCxnSpPr>
            <a:cxnSpLocks/>
          </p:cNvCxnSpPr>
          <p:nvPr/>
        </p:nvCxnSpPr>
        <p:spPr>
          <a:xfrm flipV="1">
            <a:off x="8043060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2EC96D5-E94C-AA10-B4B3-E0067EEA97CD}"/>
              </a:ext>
            </a:extLst>
          </p:cNvPr>
          <p:cNvCxnSpPr>
            <a:cxnSpLocks/>
          </p:cNvCxnSpPr>
          <p:nvPr/>
        </p:nvCxnSpPr>
        <p:spPr>
          <a:xfrm flipV="1">
            <a:off x="6862049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BB59BC2C-9D54-139F-361A-192F399CC0AB}"/>
              </a:ext>
            </a:extLst>
          </p:cNvPr>
          <p:cNvCxnSpPr>
            <a:cxnSpLocks/>
          </p:cNvCxnSpPr>
          <p:nvPr/>
        </p:nvCxnSpPr>
        <p:spPr>
          <a:xfrm flipV="1">
            <a:off x="5681038" y="2959063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29D14C3-8430-C7C0-EA57-F43A7D124FC6}"/>
              </a:ext>
            </a:extLst>
          </p:cNvPr>
          <p:cNvCxnSpPr>
            <a:cxnSpLocks/>
          </p:cNvCxnSpPr>
          <p:nvPr/>
        </p:nvCxnSpPr>
        <p:spPr>
          <a:xfrm flipV="1">
            <a:off x="4494289" y="2973606"/>
            <a:ext cx="0" cy="7291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CE894B40-1057-9F2B-5C8F-0FDFCE129E0B}"/>
              </a:ext>
            </a:extLst>
          </p:cNvPr>
          <p:cNvCxnSpPr>
            <a:cxnSpLocks/>
          </p:cNvCxnSpPr>
          <p:nvPr/>
        </p:nvCxnSpPr>
        <p:spPr>
          <a:xfrm>
            <a:off x="6050128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6F7C5FB3-7FB6-A748-E113-0544FCA41B65}"/>
              </a:ext>
            </a:extLst>
          </p:cNvPr>
          <p:cNvCxnSpPr>
            <a:cxnSpLocks/>
          </p:cNvCxnSpPr>
          <p:nvPr/>
        </p:nvCxnSpPr>
        <p:spPr>
          <a:xfrm>
            <a:off x="7261234" y="2973606"/>
            <a:ext cx="564576" cy="282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68F4C68A-23A8-051E-6DFC-1BCFD51EFFBF}"/>
              </a:ext>
            </a:extLst>
          </p:cNvPr>
          <p:cNvSpPr txBox="1"/>
          <p:nvPr/>
        </p:nvSpPr>
        <p:spPr>
          <a:xfrm rot="16200000">
            <a:off x="3562506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B20CD42F-41A4-4CA0-EF42-A47007323B50}"/>
              </a:ext>
            </a:extLst>
          </p:cNvPr>
          <p:cNvSpPr txBox="1"/>
          <p:nvPr/>
        </p:nvSpPr>
        <p:spPr>
          <a:xfrm rot="16200000">
            <a:off x="4800554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F34B5BDC-8E9A-2AD1-F854-0F6F33ECD713}"/>
              </a:ext>
            </a:extLst>
          </p:cNvPr>
          <p:cNvSpPr txBox="1"/>
          <p:nvPr/>
        </p:nvSpPr>
        <p:spPr>
          <a:xfrm rot="16200000">
            <a:off x="6022077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29DB70D5-1F42-DBE7-E4D1-623D03A8C975}"/>
              </a:ext>
            </a:extLst>
          </p:cNvPr>
          <p:cNvSpPr txBox="1"/>
          <p:nvPr/>
        </p:nvSpPr>
        <p:spPr>
          <a:xfrm rot="16200000">
            <a:off x="7203088" y="3100565"/>
            <a:ext cx="1033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argmax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7497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F7AAC-3698-0437-EBB7-11AC8AB8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B0B34C-27C4-4923-83EA-6055F12B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文字生成過程</a:t>
            </a:r>
            <a:r>
              <a:rPr kumimoji="1" lang="en-US" altLang="zh-TW" dirty="0"/>
              <a:t> – Greedy Decoding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D36D44F-662B-6381-1EBC-38981C548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9333514-A9ED-D2DF-DBB1-7495A7310C25}"/>
              </a:ext>
            </a:extLst>
          </p:cNvPr>
          <p:cNvSpPr/>
          <p:nvPr/>
        </p:nvSpPr>
        <p:spPr>
          <a:xfrm>
            <a:off x="2208394" y="5528709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360F912D-E45F-2403-79BC-CD94A0CFDB6E}"/>
              </a:ext>
            </a:extLst>
          </p:cNvPr>
          <p:cNvSpPr/>
          <p:nvPr/>
        </p:nvSpPr>
        <p:spPr>
          <a:xfrm>
            <a:off x="844026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3BC8B8E6-B6A4-055A-C611-3A7F7A789B23}"/>
              </a:ext>
            </a:extLst>
          </p:cNvPr>
          <p:cNvSpPr/>
          <p:nvPr/>
        </p:nvSpPr>
        <p:spPr>
          <a:xfrm>
            <a:off x="3555699" y="5528708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7A1DE3D8-6CB9-D189-260B-C053966A5927}"/>
              </a:ext>
            </a:extLst>
          </p:cNvPr>
          <p:cNvCxnSpPr>
            <a:cxnSpLocks/>
          </p:cNvCxnSpPr>
          <p:nvPr/>
        </p:nvCxnSpPr>
        <p:spPr>
          <a:xfrm flipV="1">
            <a:off x="1170180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7B8B0E50-E864-8ABC-22EF-6B4232B37327}"/>
              </a:ext>
            </a:extLst>
          </p:cNvPr>
          <p:cNvSpPr/>
          <p:nvPr/>
        </p:nvSpPr>
        <p:spPr>
          <a:xfrm>
            <a:off x="748877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DEB8D5-F22B-1307-DF2F-D1291CD7C69C}"/>
              </a:ext>
            </a:extLst>
          </p:cNvPr>
          <p:cNvSpPr/>
          <p:nvPr/>
        </p:nvSpPr>
        <p:spPr>
          <a:xfrm>
            <a:off x="2118610" y="4119834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1C17B5-E1BC-888F-10F3-C873FD5DF4EA}"/>
              </a:ext>
            </a:extLst>
          </p:cNvPr>
          <p:cNvSpPr/>
          <p:nvPr/>
        </p:nvSpPr>
        <p:spPr>
          <a:xfrm>
            <a:off x="3471280" y="4119833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DD039A7-D0F4-DB4F-80A6-44D88046402D}"/>
              </a:ext>
            </a:extLst>
          </p:cNvPr>
          <p:cNvCxnSpPr>
            <a:cxnSpLocks/>
          </p:cNvCxnSpPr>
          <p:nvPr/>
        </p:nvCxnSpPr>
        <p:spPr>
          <a:xfrm flipV="1">
            <a:off x="2539913" y="494150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AC3A0C7B-BA48-40E3-0D45-2466D862AFC7}"/>
              </a:ext>
            </a:extLst>
          </p:cNvPr>
          <p:cNvCxnSpPr>
            <a:cxnSpLocks/>
          </p:cNvCxnSpPr>
          <p:nvPr/>
        </p:nvCxnSpPr>
        <p:spPr>
          <a:xfrm flipV="1">
            <a:off x="3893752" y="4941500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902259C5-4291-F7C3-0CC8-16FE7D34EECF}"/>
              </a:ext>
            </a:extLst>
          </p:cNvPr>
          <p:cNvCxnSpPr>
            <a:cxnSpLocks/>
          </p:cNvCxnSpPr>
          <p:nvPr/>
        </p:nvCxnSpPr>
        <p:spPr>
          <a:xfrm>
            <a:off x="1633449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6200FF65-82A7-2EC7-4D9E-916754ABA72D}"/>
              </a:ext>
            </a:extLst>
          </p:cNvPr>
          <p:cNvCxnSpPr>
            <a:cxnSpLocks/>
          </p:cNvCxnSpPr>
          <p:nvPr/>
        </p:nvCxnSpPr>
        <p:spPr>
          <a:xfrm>
            <a:off x="3017115" y="4503236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80A2930E-9034-489E-82C9-CCB0C2676CE9}"/>
              </a:ext>
            </a:extLst>
          </p:cNvPr>
          <p:cNvCxnSpPr>
            <a:cxnSpLocks/>
          </p:cNvCxnSpPr>
          <p:nvPr/>
        </p:nvCxnSpPr>
        <p:spPr>
          <a:xfrm flipV="1">
            <a:off x="3884908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DB213551-F323-62D0-E3D0-98A259299C76}"/>
                  </a:ext>
                </a:extLst>
              </p:cNvPr>
              <p:cNvSpPr/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3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DB213551-F323-62D0-E3D0-98A259299C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024" y="2844165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8B7A972F-006F-9127-5E20-1D892E2619F0}"/>
                  </a:ext>
                </a:extLst>
              </p:cNvPr>
              <p:cNvSpPr/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(</a:t>
                </a:r>
                <a:r>
                  <a:rPr kumimoji="1" lang="zh-TW" altLang="en-US" dirty="0">
                    <a:solidFill>
                      <a:schemeClr val="tx1"/>
                    </a:solidFill>
                  </a:rPr>
                  <a:t>大矩陣</a:t>
                </a:r>
                <a:r>
                  <a:rPr kumimoji="1" lang="en-US" altLang="zh-TW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zh-TW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1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10</m:t>
                        </m:r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0×40000</m:t>
                        </m:r>
                      </m:sup>
                    </m:sSup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</a:rPr>
                  <a:t>)</a:t>
                </a:r>
              </a:p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+ </a:t>
                </a:r>
                <a:r>
                  <a:rPr kumimoji="1" lang="en-US" altLang="zh-TW" dirty="0" err="1">
                    <a:solidFill>
                      <a:schemeClr val="tx1"/>
                    </a:solidFill>
                  </a:rPr>
                  <a:t>Softmax</a:t>
                </a:r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8B7A972F-006F-9127-5E20-1D892E261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637" y="2579690"/>
                <a:ext cx="2727045" cy="11037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90589866-84DD-4B7D-974F-CBB8EF6E4C27}"/>
              </a:ext>
            </a:extLst>
          </p:cNvPr>
          <p:cNvCxnSpPr>
            <a:cxnSpLocks/>
          </p:cNvCxnSpPr>
          <p:nvPr/>
        </p:nvCxnSpPr>
        <p:spPr>
          <a:xfrm>
            <a:off x="4344882" y="3129915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D7A5E11-8E2E-D3BD-5AAF-C8A28CE10962}"/>
              </a:ext>
            </a:extLst>
          </p:cNvPr>
          <p:cNvSpPr txBox="1"/>
          <p:nvPr/>
        </p:nvSpPr>
        <p:spPr>
          <a:xfrm>
            <a:off x="616717" y="1478736"/>
            <a:ext cx="6580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假設 </a:t>
            </a:r>
            <a:r>
              <a:rPr kumimoji="1" lang="en-US" altLang="zh-TW" dirty="0"/>
              <a:t>Hidden size </a:t>
            </a:r>
            <a:r>
              <a:rPr kumimoji="1" lang="zh-TW" altLang="en-US" dirty="0"/>
              <a:t>為</a:t>
            </a:r>
            <a:r>
              <a:rPr kumimoji="1" lang="en-US" altLang="zh-TW" dirty="0"/>
              <a:t> 100</a:t>
            </a:r>
            <a:r>
              <a:rPr kumimoji="1" lang="zh-TW" altLang="en-US" dirty="0"/>
              <a:t>；字典大小（</a:t>
            </a:r>
            <a:r>
              <a:rPr kumimoji="1" lang="en-US" altLang="zh-TW" dirty="0" err="1"/>
              <a:t>vocab_size</a:t>
            </a:r>
            <a:r>
              <a:rPr kumimoji="1" lang="zh-TW" altLang="en-US" dirty="0"/>
              <a:t>）為</a:t>
            </a:r>
            <a:r>
              <a:rPr kumimoji="1" lang="en-US" altLang="zh-TW" dirty="0"/>
              <a:t> 40000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9537BBFB-F1F0-6DDD-B1B1-23683776AC05}"/>
                  </a:ext>
                </a:extLst>
              </p:cNvPr>
              <p:cNvSpPr/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9537BBFB-F1F0-6DDD-B1B1-23683776AC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275" y="4196899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FDE315BC-AB70-EE8C-A1B0-4E93619CCC75}"/>
              </a:ext>
            </a:extLst>
          </p:cNvPr>
          <p:cNvSpPr txBox="1"/>
          <p:nvPr/>
        </p:nvSpPr>
        <p:spPr>
          <a:xfrm>
            <a:off x="4982501" y="484818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40000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22F99083-AC89-DB7D-EA4B-D231AC57C577}"/>
              </a:ext>
            </a:extLst>
          </p:cNvPr>
          <p:cNvCxnSpPr>
            <a:cxnSpLocks/>
          </p:cNvCxnSpPr>
          <p:nvPr/>
        </p:nvCxnSpPr>
        <p:spPr>
          <a:xfrm>
            <a:off x="6450159" y="3741517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0717F20-DF64-8151-6EBE-8D8E4DC8BA85}"/>
              </a:ext>
            </a:extLst>
          </p:cNvPr>
          <p:cNvSpPr txBox="1"/>
          <p:nvPr/>
        </p:nvSpPr>
        <p:spPr>
          <a:xfrm>
            <a:off x="8588709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FDF7F88E-B8E6-45EC-BC78-1304AA6E1B24}"/>
              </a:ext>
            </a:extLst>
          </p:cNvPr>
          <p:cNvSpPr txBox="1"/>
          <p:nvPr/>
        </p:nvSpPr>
        <p:spPr>
          <a:xfrm>
            <a:off x="9686812" y="244862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68B1983-77AD-6B29-5BDE-9791A0BBA13F}"/>
              </a:ext>
            </a:extLst>
          </p:cNvPr>
          <p:cNvCxnSpPr/>
          <p:nvPr/>
        </p:nvCxnSpPr>
        <p:spPr>
          <a:xfrm flipV="1">
            <a:off x="7730608" y="260441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77733D5E-6682-2C4F-F7DE-C9155589362C}"/>
              </a:ext>
            </a:extLst>
          </p:cNvPr>
          <p:cNvCxnSpPr>
            <a:cxnSpLocks/>
          </p:cNvCxnSpPr>
          <p:nvPr/>
        </p:nvCxnSpPr>
        <p:spPr>
          <a:xfrm flipH="1" flipV="1">
            <a:off x="7730608" y="452792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6FA8CA1B-A2E0-D429-69CD-57769CE83D44}"/>
              </a:ext>
            </a:extLst>
          </p:cNvPr>
          <p:cNvCxnSpPr/>
          <p:nvPr/>
        </p:nvCxnSpPr>
        <p:spPr>
          <a:xfrm>
            <a:off x="7002199" y="447447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0FC33AA0-04AD-DE91-BD12-5EB46E314DBE}"/>
              </a:ext>
            </a:extLst>
          </p:cNvPr>
          <p:cNvSpPr/>
          <p:nvPr/>
        </p:nvSpPr>
        <p:spPr>
          <a:xfrm>
            <a:off x="10659611" y="254244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FA0E85DC-4C94-1076-52A3-BBC73D27C8CD}"/>
              </a:ext>
            </a:extLst>
          </p:cNvPr>
          <p:cNvSpPr txBox="1"/>
          <p:nvPr/>
        </p:nvSpPr>
        <p:spPr>
          <a:xfrm>
            <a:off x="11017377" y="410746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2756F42-A0C6-E2B2-42AD-508B33813225}"/>
              </a:ext>
            </a:extLst>
          </p:cNvPr>
          <p:cNvSpPr txBox="1"/>
          <p:nvPr/>
        </p:nvSpPr>
        <p:spPr>
          <a:xfrm>
            <a:off x="8459040" y="1711021"/>
            <a:ext cx="1028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字典裡面的字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3CBF89E-3DFC-C153-04A3-B7B86E9DA31C}"/>
              </a:ext>
            </a:extLst>
          </p:cNvPr>
          <p:cNvSpPr txBox="1"/>
          <p:nvPr/>
        </p:nvSpPr>
        <p:spPr>
          <a:xfrm>
            <a:off x="9625292" y="1849520"/>
            <a:ext cx="987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機率值</a:t>
            </a:r>
            <a:endParaRPr kumimoji="1" lang="en-US" altLang="zh-TW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6BFD6332-0BA6-1836-2287-C35824DC7E2C}"/>
                  </a:ext>
                </a:extLst>
              </p:cNvPr>
              <p:cNvSpPr/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2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圓角矩形 3">
                <a:extLst>
                  <a:ext uri="{FF2B5EF4-FFF2-40B4-BE49-F238E27FC236}">
                    <a16:creationId xmlns:a16="http://schemas.microsoft.com/office/drawing/2014/main" id="{6BFD6332-0BA6-1836-2287-C35824DC7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3029" y="2844165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72AD9D4B-5DDE-3F62-8C0C-B4EB88B45D41}"/>
                  </a:ext>
                </a:extLst>
              </p:cNvPr>
              <p:cNvSpPr/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kumimoji="1" lang="en-US" altLang="zh-TW" sz="2000" b="1" baseline="-25000" dirty="0">
                    <a:solidFill>
                      <a:schemeClr val="tx1"/>
                    </a:solidFill>
                  </a:rPr>
                  <a:t>1</a:t>
                </a:r>
                <a:endParaRPr kumimoji="1" lang="zh-TW" altLang="en-US" sz="2000" b="1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72AD9D4B-5DDE-3F62-8C0C-B4EB88B45D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26" y="2844165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43E924E2-F6B0-1E6A-52DE-7BE1942DAAB3}"/>
              </a:ext>
            </a:extLst>
          </p:cNvPr>
          <p:cNvCxnSpPr>
            <a:cxnSpLocks/>
          </p:cNvCxnSpPr>
          <p:nvPr/>
        </p:nvCxnSpPr>
        <p:spPr>
          <a:xfrm flipV="1">
            <a:off x="2539913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2811BB1-90F4-E013-BB85-B56CBB3C53DA}"/>
              </a:ext>
            </a:extLst>
          </p:cNvPr>
          <p:cNvCxnSpPr>
            <a:cxnSpLocks/>
          </p:cNvCxnSpPr>
          <p:nvPr/>
        </p:nvCxnSpPr>
        <p:spPr>
          <a:xfrm flipV="1">
            <a:off x="1170180" y="3532499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A599D5B-3FE6-EC76-E3A7-9815124FAC2B}"/>
              </a:ext>
            </a:extLst>
          </p:cNvPr>
          <p:cNvSpPr txBox="1"/>
          <p:nvPr/>
        </p:nvSpPr>
        <p:spPr>
          <a:xfrm>
            <a:off x="3292204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828B361-E802-28CA-ABD0-02686596796B}"/>
              </a:ext>
            </a:extLst>
          </p:cNvPr>
          <p:cNvSpPr txBox="1"/>
          <p:nvPr/>
        </p:nvSpPr>
        <p:spPr>
          <a:xfrm>
            <a:off x="1938003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F6CD404-45F5-6E7B-3882-242248C95BC6}"/>
              </a:ext>
            </a:extLst>
          </p:cNvPr>
          <p:cNvSpPr txBox="1"/>
          <p:nvPr/>
        </p:nvSpPr>
        <p:spPr>
          <a:xfrm>
            <a:off x="583802" y="2229704"/>
            <a:ext cx="1245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zh-TW" altLang="en-US" sz="1600" dirty="0"/>
              <a:t>長度為</a:t>
            </a:r>
            <a:r>
              <a:rPr kumimoji="1" lang="en-US" altLang="zh-TW" sz="1600" dirty="0"/>
              <a:t>100</a:t>
            </a:r>
            <a:r>
              <a:rPr kumimoji="1" lang="zh-TW" altLang="en-US" sz="1600" dirty="0"/>
              <a:t>的向量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06390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1005936" y="1855809"/>
            <a:ext cx="5607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cannot undo!</a:t>
            </a:r>
            <a:endParaRPr kumimoji="1" lang="zh-TW" altLang="en-US" sz="28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9C8729C-B1C7-73FD-D446-F157C1D34BFF}"/>
              </a:ext>
            </a:extLst>
          </p:cNvPr>
          <p:cNvSpPr/>
          <p:nvPr/>
        </p:nvSpPr>
        <p:spPr>
          <a:xfrm>
            <a:off x="3047293" y="33506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55B8673-610A-DFF9-E837-1D0954752755}"/>
              </a:ext>
            </a:extLst>
          </p:cNvPr>
          <p:cNvSpPr/>
          <p:nvPr/>
        </p:nvSpPr>
        <p:spPr>
          <a:xfrm>
            <a:off x="3047293" y="40298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F88614D6-62C5-9FD0-BFD7-D01F2222CB57}"/>
              </a:ext>
            </a:extLst>
          </p:cNvPr>
          <p:cNvSpPr/>
          <p:nvPr/>
        </p:nvSpPr>
        <p:spPr>
          <a:xfrm>
            <a:off x="3918621" y="4029803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FE7C0301-E96D-D435-089A-0CE1726D9BCB}"/>
              </a:ext>
            </a:extLst>
          </p:cNvPr>
          <p:cNvCxnSpPr>
            <a:cxnSpLocks/>
          </p:cNvCxnSpPr>
          <p:nvPr/>
        </p:nvCxnSpPr>
        <p:spPr>
          <a:xfrm>
            <a:off x="1257570" y="3547301"/>
            <a:ext cx="15300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88E4ED8-9A0C-6F3A-FCC0-656589B73E0D}"/>
              </a:ext>
            </a:extLst>
          </p:cNvPr>
          <p:cNvSpPr txBox="1"/>
          <p:nvPr/>
        </p:nvSpPr>
        <p:spPr>
          <a:xfrm>
            <a:off x="1489919" y="2888326"/>
            <a:ext cx="1160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Decoding Process</a:t>
            </a:r>
            <a:endParaRPr kumimoji="1" lang="zh-TW" altLang="en-US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EA2A180-1473-CC92-4A78-BAC5F4D7FC96}"/>
              </a:ext>
            </a:extLst>
          </p:cNvPr>
          <p:cNvSpPr/>
          <p:nvPr/>
        </p:nvSpPr>
        <p:spPr>
          <a:xfrm>
            <a:off x="3918621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F395EF28-4612-2834-1905-DA94D00C9BF7}"/>
              </a:ext>
            </a:extLst>
          </p:cNvPr>
          <p:cNvSpPr/>
          <p:nvPr/>
        </p:nvSpPr>
        <p:spPr>
          <a:xfrm>
            <a:off x="3047293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36F12D-991C-C3AB-195A-639408802B1E}"/>
              </a:ext>
            </a:extLst>
          </p:cNvPr>
          <p:cNvSpPr/>
          <p:nvPr/>
        </p:nvSpPr>
        <p:spPr>
          <a:xfrm>
            <a:off x="4789949" y="4704926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F9C4B850-6736-5316-27E8-224BDE2D5098}"/>
              </a:ext>
            </a:extLst>
          </p:cNvPr>
          <p:cNvSpPr/>
          <p:nvPr/>
        </p:nvSpPr>
        <p:spPr>
          <a:xfrm>
            <a:off x="3918621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愛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3ACF3A49-048F-AE78-6A71-A1E9D9B4F2E1}"/>
              </a:ext>
            </a:extLst>
          </p:cNvPr>
          <p:cNvSpPr/>
          <p:nvPr/>
        </p:nvSpPr>
        <p:spPr>
          <a:xfrm>
            <a:off x="3047293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06994AEB-FEA7-34CE-82E1-71A2ADA5157E}"/>
              </a:ext>
            </a:extLst>
          </p:cNvPr>
          <p:cNvSpPr/>
          <p:nvPr/>
        </p:nvSpPr>
        <p:spPr>
          <a:xfrm>
            <a:off x="4789949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6640A8C5-6E5A-05F3-95A6-02C0DC2DCCF4}"/>
              </a:ext>
            </a:extLst>
          </p:cNvPr>
          <p:cNvSpPr/>
          <p:nvPr/>
        </p:nvSpPr>
        <p:spPr>
          <a:xfrm>
            <a:off x="5661277" y="5380049"/>
            <a:ext cx="762607" cy="400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球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D5C4109-C9EF-E6FD-4878-7783848015CB}"/>
              </a:ext>
            </a:extLst>
          </p:cNvPr>
          <p:cNvSpPr txBox="1"/>
          <p:nvPr/>
        </p:nvSpPr>
        <p:spPr>
          <a:xfrm>
            <a:off x="3365357" y="2654042"/>
            <a:ext cx="3058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Ground-truth: </a:t>
            </a:r>
            <a:r>
              <a:rPr kumimoji="1" lang="zh-TW" altLang="en-US" sz="20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我愛閱讀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92F7015E-C467-6009-B2B9-72940FCE5819}"/>
                  </a:ext>
                </a:extLst>
              </p:cNvPr>
              <p:cNvSpPr txBox="1"/>
              <p:nvPr/>
            </p:nvSpPr>
            <p:spPr>
              <a:xfrm>
                <a:off x="3047293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92F7015E-C467-6009-B2B9-72940FCE5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293" y="5870506"/>
                <a:ext cx="7626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C127BD35-FDC6-A39E-EDBB-C57E3164726C}"/>
                  </a:ext>
                </a:extLst>
              </p:cNvPr>
              <p:cNvSpPr txBox="1"/>
              <p:nvPr/>
            </p:nvSpPr>
            <p:spPr>
              <a:xfrm>
                <a:off x="3902681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C127BD35-FDC6-A39E-EDBB-C57E3164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681" y="5870506"/>
                <a:ext cx="7626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56B759FE-6358-226B-EF56-63A901A30174}"/>
                  </a:ext>
                </a:extLst>
              </p:cNvPr>
              <p:cNvSpPr txBox="1"/>
              <p:nvPr/>
            </p:nvSpPr>
            <p:spPr>
              <a:xfrm>
                <a:off x="4789950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56B759FE-6358-226B-EF56-63A901A30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50" y="5870506"/>
                <a:ext cx="7626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3D695283-4E8A-7634-1929-4A13E4338914}"/>
                  </a:ext>
                </a:extLst>
              </p:cNvPr>
              <p:cNvSpPr txBox="1"/>
              <p:nvPr/>
            </p:nvSpPr>
            <p:spPr>
              <a:xfrm>
                <a:off x="5661277" y="5870506"/>
                <a:ext cx="762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3D695283-4E8A-7634-1929-4A13E4338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1277" y="5870506"/>
                <a:ext cx="7626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FCDA32D9-3381-4580-AAD7-33867572BF3F}"/>
              </a:ext>
            </a:extLst>
          </p:cNvPr>
          <p:cNvCxnSpPr>
            <a:cxnSpLocks/>
          </p:cNvCxnSpPr>
          <p:nvPr/>
        </p:nvCxnSpPr>
        <p:spPr>
          <a:xfrm flipH="1">
            <a:off x="5761608" y="4904981"/>
            <a:ext cx="245911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B64D0DE-480E-A49A-6313-2BC8361A9E47}"/>
              </a:ext>
            </a:extLst>
          </p:cNvPr>
          <p:cNvSpPr txBox="1"/>
          <p:nvPr/>
        </p:nvSpPr>
        <p:spPr>
          <a:xfrm>
            <a:off x="8429774" y="4704926"/>
            <a:ext cx="2399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Mistake occurs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1E9CC18F-C1E4-2FBA-AA1A-911993E681D3}"/>
              </a:ext>
            </a:extLst>
          </p:cNvPr>
          <p:cNvCxnSpPr>
            <a:cxnSpLocks/>
          </p:cNvCxnSpPr>
          <p:nvPr/>
        </p:nvCxnSpPr>
        <p:spPr>
          <a:xfrm flipH="1">
            <a:off x="6613864" y="5580104"/>
            <a:ext cx="160685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9943C79-A626-6BFE-4FFE-AC68A978DD3C}"/>
              </a:ext>
            </a:extLst>
          </p:cNvPr>
          <p:cNvSpPr txBox="1"/>
          <p:nvPr/>
        </p:nvSpPr>
        <p:spPr>
          <a:xfrm>
            <a:off x="8429774" y="5380049"/>
            <a:ext cx="2990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More mistake occur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52372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Re-thinking Greedy Decoding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55809"/>
            <a:ext cx="11271837" cy="1951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cannot undo!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Greedy decoding only provides one best choice at each time step.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How about providing </a:t>
            </a:r>
            <a:r>
              <a:rPr kumimoji="1" lang="en-US" altLang="zh-TW" sz="2800" dirty="0">
                <a:solidFill>
                  <a:srgbClr val="FF0000"/>
                </a:solidFill>
              </a:rPr>
              <a:t>more than one choices </a:t>
            </a:r>
            <a:r>
              <a:rPr kumimoji="1" lang="en-US" altLang="zh-TW" sz="2800" dirty="0"/>
              <a:t>at each time step?</a:t>
            </a:r>
            <a:endParaRPr kumimoji="1" lang="zh-TW" altLang="en-US" sz="2800" dirty="0"/>
          </a:p>
        </p:txBody>
      </p:sp>
      <p:sp>
        <p:nvSpPr>
          <p:cNvPr id="3" name="向右箭號 2">
            <a:extLst>
              <a:ext uri="{FF2B5EF4-FFF2-40B4-BE49-F238E27FC236}">
                <a16:creationId xmlns:a16="http://schemas.microsoft.com/office/drawing/2014/main" id="{498648C1-20C6-C51B-AF93-3788973F1EBC}"/>
              </a:ext>
            </a:extLst>
          </p:cNvPr>
          <p:cNvSpPr/>
          <p:nvPr/>
        </p:nvSpPr>
        <p:spPr>
          <a:xfrm>
            <a:off x="1120517" y="4122690"/>
            <a:ext cx="514905" cy="301841"/>
          </a:xfrm>
          <a:prstGeom prst="rightArrow">
            <a:avLst/>
          </a:prstGeom>
          <a:solidFill>
            <a:srgbClr val="C5E0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D7BF6BA-C9EC-45C8-B9F6-1BF4719A46DD}"/>
              </a:ext>
            </a:extLst>
          </p:cNvPr>
          <p:cNvSpPr txBox="1"/>
          <p:nvPr/>
        </p:nvSpPr>
        <p:spPr>
          <a:xfrm>
            <a:off x="1830729" y="4042777"/>
            <a:ext cx="2492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FF0000"/>
                </a:solidFill>
              </a:rPr>
              <a:t>Beam Search</a:t>
            </a:r>
            <a:endParaRPr kumimoji="1" lang="zh-TW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9475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48A7588B-B0B2-7411-9D52-1DF0EDC27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672" y="356088"/>
            <a:ext cx="10511008" cy="1033416"/>
          </a:xfrm>
        </p:spPr>
        <p:txBody>
          <a:bodyPr/>
          <a:lstStyle/>
          <a:p>
            <a:r>
              <a:rPr kumimoji="1" lang="en-US" altLang="zh-TW" dirty="0"/>
              <a:t>Beam Search</a:t>
            </a:r>
            <a:endParaRPr lang="zh-TW" altLang="en-US" sz="2400" dirty="0">
              <a:latin typeface="Times New Roman"/>
              <a:ea typeface="新細明體"/>
              <a:cs typeface="Calibri Light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E7EBF31-A0A8-6287-3981-845D5360A7C2}"/>
              </a:ext>
            </a:extLst>
          </p:cNvPr>
          <p:cNvSpPr txBox="1"/>
          <p:nvPr/>
        </p:nvSpPr>
        <p:spPr>
          <a:xfrm>
            <a:off x="695739" y="1684961"/>
            <a:ext cx="1051100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Set the `Beam size` (or `Beam width`) = 2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means that the number of candidates will be preserved at each decoding time.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Beam size is a hyperparameter for beam search decoding.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At each decoding time step, a score is calculated via the following equation: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802319D2-19BD-3EA0-077A-AC4370BB4B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30139" y="4785481"/>
                <a:ext cx="3931721" cy="9434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𝑚𝑙</m:t>
                          </m:r>
                        </m:sub>
                      </m:sSub>
                      <m:r>
                        <a:rPr kumimoji="1"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p>
                            <m:sSupPr>
                              <m:ctrlP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  <m:e>
                          <m:func>
                            <m:funcPr>
                              <m:ctrlP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Sup>
                                <m:sSubSupPr>
                                  <m:ctrlP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Sup>
                                <m:sSubSupPr>
                                  <m:ctrlP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kumimoji="1" lang="en-US" altLang="zh-TW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802319D2-19BD-3EA0-077A-AC4370BB4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0139" y="4785481"/>
                <a:ext cx="3931721" cy="943492"/>
              </a:xfrm>
              <a:blipFill>
                <a:blip r:embed="rId2"/>
                <a:stretch>
                  <a:fillRect l="-2258" t="-100000" b="-151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1BD62DAA-E7ED-7F31-37C7-1A4194525CE7}"/>
              </a:ext>
            </a:extLst>
          </p:cNvPr>
          <p:cNvSpPr txBox="1"/>
          <p:nvPr/>
        </p:nvSpPr>
        <p:spPr>
          <a:xfrm>
            <a:off x="6740165" y="5839764"/>
            <a:ext cx="4779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*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代表 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強調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當前時間點生成機率最大的選項</a:t>
            </a:r>
          </a:p>
        </p:txBody>
      </p:sp>
    </p:spTree>
    <p:extLst>
      <p:ext uri="{BB962C8B-B14F-4D97-AF65-F5344CB8AC3E}">
        <p14:creationId xmlns:p14="http://schemas.microsoft.com/office/powerpoint/2010/main" val="124347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1455196" y="2522334"/>
                <a:ext cx="24981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96" y="2522334"/>
                <a:ext cx="2498177" cy="338554"/>
              </a:xfrm>
              <a:prstGeom prst="rect">
                <a:avLst/>
              </a:prstGeom>
              <a:blipFill>
                <a:blip r:embed="rId3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1097280" y="5574359"/>
                <a:ext cx="285609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You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5574359"/>
                <a:ext cx="2856093" cy="33855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593EF3DE-AA58-E22C-F731-851FE151B9AD}"/>
              </a:ext>
            </a:extLst>
          </p:cNvPr>
          <p:cNvSpPr txBox="1"/>
          <p:nvPr/>
        </p:nvSpPr>
        <p:spPr>
          <a:xfrm>
            <a:off x="4394566" y="3103511"/>
            <a:ext cx="577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preserved.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3FC9180-E514-CE27-D31C-7082A7D3F17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標題 1">
                <a:extLst>
                  <a:ext uri="{FF2B5EF4-FFF2-40B4-BE49-F238E27FC236}">
                    <a16:creationId xmlns:a16="http://schemas.microsoft.com/office/drawing/2014/main" id="{E49465B7-E431-8B82-636A-490D3789AB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11" name="標題 1">
                <a:extLst>
                  <a:ext uri="{FF2B5EF4-FFF2-40B4-BE49-F238E27FC236}">
                    <a16:creationId xmlns:a16="http://schemas.microsoft.com/office/drawing/2014/main" id="{E49465B7-E431-8B82-636A-490D3789A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70999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27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593EF3DE-AA58-E22C-F731-851FE151B9AD}"/>
              </a:ext>
            </a:extLst>
          </p:cNvPr>
          <p:cNvSpPr txBox="1"/>
          <p:nvPr/>
        </p:nvSpPr>
        <p:spPr>
          <a:xfrm>
            <a:off x="4394567" y="3103511"/>
            <a:ext cx="5009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E666591-640D-44B3-110E-6FCBB7E3AE92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E666591-640D-44B3-110E-6FCBB7E3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8B037737-B366-8531-B8DC-0EE343080CF9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8B037737-B366-8531-B8DC-0EE343080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標題 1">
                <a:extLst>
                  <a:ext uri="{FF2B5EF4-FFF2-40B4-BE49-F238E27FC236}">
                    <a16:creationId xmlns:a16="http://schemas.microsoft.com/office/drawing/2014/main" id="{8DD5D399-2DFE-58AF-69AD-8E65A2CCAE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16" name="標題 1">
                <a:extLst>
                  <a:ext uri="{FF2B5EF4-FFF2-40B4-BE49-F238E27FC236}">
                    <a16:creationId xmlns:a16="http://schemas.microsoft.com/office/drawing/2014/main" id="{8DD5D399-2DFE-58AF-69AD-8E65A2CCA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DF977B78-9808-F102-7EDF-31EA78A2DE7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31229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2804919" y="2157815"/>
                <a:ext cx="3262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like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919" y="2157815"/>
                <a:ext cx="3262967" cy="33855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2719156" y="3854082"/>
                <a:ext cx="34183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want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9156" y="3854082"/>
                <a:ext cx="3418327" cy="338554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2561455" y="4326912"/>
                <a:ext cx="368842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want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1455" y="4326912"/>
                <a:ext cx="3688425" cy="338554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2704285" y="5926688"/>
                <a:ext cx="35455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are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4285" y="5926688"/>
                <a:ext cx="3545595" cy="338554"/>
              </a:xfrm>
              <a:prstGeom prst="rect">
                <a:avLst/>
              </a:prstGeom>
              <a:blipFill>
                <a:blip r:embed="rId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矩形 31">
            <a:extLst>
              <a:ext uri="{FF2B5EF4-FFF2-40B4-BE49-F238E27FC236}">
                <a16:creationId xmlns:a16="http://schemas.microsoft.com/office/drawing/2014/main" id="{557D66AC-66C5-E8E6-F942-6EF9D8F88DBF}"/>
              </a:ext>
            </a:extLst>
          </p:cNvPr>
          <p:cNvSpPr/>
          <p:nvPr/>
        </p:nvSpPr>
        <p:spPr>
          <a:xfrm>
            <a:off x="5442012" y="2157815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E08495E-5497-5F7F-768C-6857A9E02AD6}"/>
              </a:ext>
            </a:extLst>
          </p:cNvPr>
          <p:cNvSpPr/>
          <p:nvPr/>
        </p:nvSpPr>
        <p:spPr>
          <a:xfrm>
            <a:off x="5609264" y="4326912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D7364A0-368B-C8D1-78E1-286058B27B5D}"/>
              </a:ext>
            </a:extLst>
          </p:cNvPr>
          <p:cNvSpPr txBox="1"/>
          <p:nvPr/>
        </p:nvSpPr>
        <p:spPr>
          <a:xfrm>
            <a:off x="6249880" y="3151587"/>
            <a:ext cx="5009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At this decoding step, two choices are preserved, and the other two are discarded.</a:t>
            </a:r>
            <a:endParaRPr kumimoji="1"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73B2AC7A-D060-5504-26BE-3A81828FCD54}"/>
              </a:ext>
            </a:extLst>
          </p:cNvPr>
          <p:cNvSpPr txBox="1"/>
          <p:nvPr/>
        </p:nvSpPr>
        <p:spPr>
          <a:xfrm>
            <a:off x="6215959" y="2522456"/>
            <a:ext cx="5383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Note the loglikelihood! Being close to zero is better!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013F46-EE9B-D326-43F4-551E9C121D5A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B8013F46-EE9B-D326-43F4-551E9C121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內容版面配置區 2">
                <a:extLst>
                  <a:ext uri="{FF2B5EF4-FFF2-40B4-BE49-F238E27FC236}">
                    <a16:creationId xmlns:a16="http://schemas.microsoft.com/office/drawing/2014/main" id="{AB373E27-82BC-6944-2EB4-567B6A918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3948" y="1474807"/>
                <a:ext cx="4821511" cy="94349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𝑚𝑙</m:t>
                          </m:r>
                        </m:sub>
                      </m:sSub>
                      <m:r>
                        <a:rPr kumimoji="1"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2" name="內容版面配置區 2">
                <a:extLst>
                  <a:ext uri="{FF2B5EF4-FFF2-40B4-BE49-F238E27FC236}">
                    <a16:creationId xmlns:a16="http://schemas.microsoft.com/office/drawing/2014/main" id="{AB373E27-82BC-6944-2EB4-567B6A918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3948" y="1474807"/>
                <a:ext cx="4821511" cy="943492"/>
              </a:xfrm>
              <a:blipFill>
                <a:blip r:embed="rId9"/>
                <a:stretch>
                  <a:fillRect l="-2368" t="-130667" b="-2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66F11877-D175-E343-504E-2B30B378F3C6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25F8EDE-A7BA-8380-3964-35605C1E52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25F8EDE-A7BA-8380-3964-35605C1E5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0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960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29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ECBB905B-FC7A-FF4B-7F9A-AA5756E3B32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AF1BD90D-DC1E-BC70-3627-D6F1A25F32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AF1BD90D-DC1E-BC70-3627-D6F1A25F3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9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737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30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blipFill>
                <a:blip r:embed="rId9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books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blipFill>
                <a:blip r:embed="rId10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blipFill>
                <a:blip r:embed="rId11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tea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blipFill>
                <a:blip r:embed="rId12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9E1335C0-5E66-386A-B6E2-CE8C113BD861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09FC3F4-83F3-F87E-465C-FB96548801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C09FC3F4-83F3-F87E-465C-FB9654880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909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31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81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086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6" y="2241507"/>
                <a:ext cx="3546848" cy="338554"/>
              </a:xfrm>
              <a:prstGeom prst="rect">
                <a:avLst/>
              </a:prstGeom>
              <a:blipFill>
                <a:blip r:embed="rId9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books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like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05" y="3046511"/>
                <a:ext cx="3895315" cy="338554"/>
              </a:xfrm>
              <a:prstGeom prst="rect">
                <a:avLst/>
              </a:prstGeom>
              <a:blipFill>
                <a:blip r:embed="rId10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4" y="4350125"/>
                <a:ext cx="3895315" cy="338554"/>
              </a:xfrm>
              <a:prstGeom prst="rect">
                <a:avLst/>
              </a:prstGeom>
              <a:blipFill>
                <a:blip r:embed="rId11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−1.7+</m:t>
                      </m:r>
                      <m:func>
                        <m:funcPr>
                          <m:ctrlP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kumimoji="1" lang="en-US" altLang="zh-TW" sz="1600" b="0" i="0" smtClean="0">
                                  <a:latin typeface="Cambria Math" panose="02040503050406030204" pitchFamily="18" charset="0"/>
                                </a:rPr>
                                <m:t>tea</m:t>
                              </m:r>
                              <m:r>
                                <a:rPr kumimoji="1" lang="en-US" altLang="zh-TW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Start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You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zh-TW" sz="1600" b="0" i="0" smtClean="0">
                              <a:latin typeface="Cambria Math" panose="02040503050406030204" pitchFamily="18" charset="0"/>
                            </a:rPr>
                            <m:t>want</m:t>
                          </m:r>
                          <m:r>
                            <a:rPr kumimoji="1" lang="en-US" altLang="zh-TW" sz="1600" b="0" i="1" smtClean="0">
                              <a:latin typeface="Cambria Math" panose="02040503050406030204" pitchFamily="18" charset="0"/>
                            </a:rPr>
                            <m:t>)=</m:t>
                          </m:r>
                        </m:e>
                      </m:func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855" y="5155129"/>
                <a:ext cx="3992976" cy="338554"/>
              </a:xfrm>
              <a:prstGeom prst="rect">
                <a:avLst/>
              </a:prstGeom>
              <a:blipFill>
                <a:blip r:embed="rId12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矩形 44">
            <a:extLst>
              <a:ext uri="{FF2B5EF4-FFF2-40B4-BE49-F238E27FC236}">
                <a16:creationId xmlns:a16="http://schemas.microsoft.com/office/drawing/2014/main" id="{EC8EDF1D-007A-919F-5362-53979139DABC}"/>
              </a:ext>
            </a:extLst>
          </p:cNvPr>
          <p:cNvSpPr/>
          <p:nvPr/>
        </p:nvSpPr>
        <p:spPr>
          <a:xfrm>
            <a:off x="9155080" y="2241507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DB3BAD5-49DB-2E48-3EFC-BD6C4C38E1C4}"/>
              </a:ext>
            </a:extLst>
          </p:cNvPr>
          <p:cNvSpPr/>
          <p:nvPr/>
        </p:nvSpPr>
        <p:spPr>
          <a:xfrm>
            <a:off x="9468017" y="3037861"/>
            <a:ext cx="625874" cy="3385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353DD63-C0EB-EDA5-897A-06CC743E666F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標題 1">
                <a:extLst>
                  <a:ext uri="{FF2B5EF4-FFF2-40B4-BE49-F238E27FC236}">
                    <a16:creationId xmlns:a16="http://schemas.microsoft.com/office/drawing/2014/main" id="{ECB098DF-7BA5-3B26-9405-3974CC505C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1" name="標題 1">
                <a:extLst>
                  <a:ext uri="{FF2B5EF4-FFF2-40B4-BE49-F238E27FC236}">
                    <a16:creationId xmlns:a16="http://schemas.microsoft.com/office/drawing/2014/main" id="{ECB098DF-7BA5-3B26-9405-3974CC505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4344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32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0CE24D57-A050-2354-4BA3-EE2CD3A6F689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671419E5-2C47-7C77-D26A-85BE962714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0" name="標題 1">
                <a:extLst>
                  <a:ext uri="{FF2B5EF4-FFF2-40B4-BE49-F238E27FC236}">
                    <a16:creationId xmlns:a16="http://schemas.microsoft.com/office/drawing/2014/main" id="{671419E5-2C47-7C77-D26A-85BE9627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3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79364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33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92636311-1205-C5E4-22C8-3BA6DEC8E420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E51BB45E-9724-6E4D-56F3-B22C2FA102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E51BB45E-9724-6E4D-56F3-B22C2FA10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7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6785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34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B9C11555-A741-637D-37A0-822C52B571CC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FAD4EAC7-FD9F-B07E-D405-C58C376B72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FAD4EAC7-FD9F-B07E-D405-C58C376B7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17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98756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35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DF10E1A3-02A6-1798-1154-F745595178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DF10E1A3-02A6-1798-1154-F7455951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1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55085F7C-D34B-7824-08CE-3978F84F7024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66176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36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670AB27-178E-5880-20FE-D74DBCB5B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670AB27-178E-5880-20FE-D74DBCB5B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1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C6D7B4BB-61C0-805A-016E-5895B047E09B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5608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37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3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0CE724-851D-F5F5-078D-12604A25B435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30CE724-851D-F5F5-078D-12604A25B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48B37078-4167-C57B-EA53-836D6A75B8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7" name="標題 1">
                <a:extLst>
                  <a:ext uri="{FF2B5EF4-FFF2-40B4-BE49-F238E27FC236}">
                    <a16:creationId xmlns:a16="http://schemas.microsoft.com/office/drawing/2014/main" id="{48B37078-4167-C57B-EA53-836D6A75B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文字方塊 48">
            <a:extLst>
              <a:ext uri="{FF2B5EF4-FFF2-40B4-BE49-F238E27FC236}">
                <a16:creationId xmlns:a16="http://schemas.microsoft.com/office/drawing/2014/main" id="{AF5FFAEE-56F8-76EC-BB16-F63F7245EAD3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4210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38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4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8C2960E2-EC51-6603-F07C-A4C831BA42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8C2960E2-EC51-6603-F07C-A4C831BA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BB72FC85-CB74-0639-D9A4-CC0D995DAF65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0278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Stop Criterion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停止生成的情況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25991"/>
            <a:ext cx="10149744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There are </a:t>
            </a:r>
            <a:r>
              <a:rPr kumimoji="1" lang="en-US" altLang="zh-TW" sz="2400" dirty="0">
                <a:solidFill>
                  <a:srgbClr val="FF0000"/>
                </a:solidFill>
              </a:rPr>
              <a:t>two</a:t>
            </a:r>
            <a:r>
              <a:rPr kumimoji="1" lang="en-US" altLang="zh-TW" sz="2400" dirty="0"/>
              <a:t> common stop criterions, either for greedy decoding or beam search decoding (or Top-p / Top-k sampling):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We consider a sequence of generation complete when the &lt;EOS&gt; token is produced by a model. *&lt;EOS&gt;: End of sequence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E.g., &lt;Start&gt; I like to watch horror movies &lt;EOS&gt;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 generated sequence reaches a pre-defined </a:t>
            </a:r>
            <a:r>
              <a:rPr kumimoji="1" lang="en-US" altLang="zh-TW" sz="2400" dirty="0">
                <a:solidFill>
                  <a:srgbClr val="FF0000"/>
                </a:solidFill>
              </a:rPr>
              <a:t>maximal length</a:t>
            </a:r>
            <a:r>
              <a:rPr kumimoji="1" lang="en-US" altLang="zh-TW" sz="240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851035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55809"/>
            <a:ext cx="1014974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Longer</a:t>
            </a:r>
            <a:r>
              <a:rPr kumimoji="1" lang="en-US" altLang="zh-TW" sz="2400" dirty="0"/>
              <a:t> candidates will have </a:t>
            </a:r>
            <a:r>
              <a:rPr kumimoji="1" lang="en-US" altLang="zh-TW" sz="2400" dirty="0">
                <a:solidFill>
                  <a:srgbClr val="FF0000"/>
                </a:solidFill>
              </a:rPr>
              <a:t>lower</a:t>
            </a:r>
            <a:r>
              <a:rPr kumimoji="1" lang="en-US" altLang="zh-TW" sz="2400" dirty="0"/>
              <a:t> scores.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(Let’s see again the 6</a:t>
            </a:r>
            <a:r>
              <a:rPr kumimoji="1" lang="en-US" altLang="zh-TW" sz="2400" baseline="30000" dirty="0"/>
              <a:t>th</a:t>
            </a:r>
            <a:r>
              <a:rPr kumimoji="1" lang="en-US" altLang="zh-TW" sz="2400" dirty="0"/>
              <a:t> time step)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702642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41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5873" y="3926009"/>
                <a:ext cx="575074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−4.6</m:t>
                      </m:r>
                    </m:oMath>
                  </m:oMathPara>
                </a14:m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2717" y="3392888"/>
                <a:ext cx="530678" cy="338554"/>
              </a:xfrm>
              <a:prstGeom prst="rect">
                <a:avLst/>
              </a:prstGeom>
              <a:blipFill>
                <a:blip r:embed="rId24"/>
                <a:stretch>
                  <a:fillRect r="-69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3BD3995-562D-ABE3-E8A5-3988AB188B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F3BD3995-562D-ABE3-E8A5-3988AB188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7440E3CD-BFC3-A584-A947-577A7684ADD5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734728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3" y="1894025"/>
            <a:ext cx="1014974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Longer</a:t>
            </a:r>
            <a:r>
              <a:rPr kumimoji="1" lang="en-US" altLang="zh-TW" sz="2400" dirty="0"/>
              <a:t> candidates will have </a:t>
            </a:r>
            <a:r>
              <a:rPr kumimoji="1" lang="en-US" altLang="zh-TW" sz="2400" dirty="0">
                <a:solidFill>
                  <a:srgbClr val="FF0000"/>
                </a:solidFill>
              </a:rPr>
              <a:t>lower</a:t>
            </a:r>
            <a:r>
              <a:rPr kumimoji="1" lang="en-US" altLang="zh-TW" sz="2400" dirty="0"/>
              <a:t> scores.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Solution: Perform normalization to penalize on length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E8F164D-24E8-0348-E1B1-6193A7F582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1068" y="3591093"/>
                <a:ext cx="4821511" cy="94349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𝑚𝑙</m:t>
                          </m:r>
                        </m:sub>
                      </m:sSub>
                      <m:r>
                        <a:rPr kumimoji="1"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kumimoji="1" lang="en-US" altLang="zh-TW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unc>
                            <m:func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zh-TW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Sup>
                                <m:sSubSupPr>
                                  <m:ctrlP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kumimoji="1"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E8F164D-24E8-0348-E1B1-6193A7F58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1068" y="3591093"/>
                <a:ext cx="4821511" cy="943492"/>
              </a:xfrm>
              <a:blipFill>
                <a:blip r:embed="rId3"/>
                <a:stretch>
                  <a:fillRect l="-2100" t="-127632" r="-183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4924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43</a:t>
            </a:fld>
            <a:endParaRPr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07E41BB-9C95-5AB2-BA09-AE6796CBB446}"/>
              </a:ext>
            </a:extLst>
          </p:cNvPr>
          <p:cNvSpPr/>
          <p:nvPr/>
        </p:nvSpPr>
        <p:spPr>
          <a:xfrm>
            <a:off x="1234362" y="3920344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_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文字方塊 67">
            <a:extLst>
              <a:ext uri="{FF2B5EF4-FFF2-40B4-BE49-F238E27FC236}">
                <a16:creationId xmlns:a16="http://schemas.microsoft.com/office/drawing/2014/main" id="{B381507F-DC44-2012-7728-330509B5ABA9}"/>
              </a:ext>
            </a:extLst>
          </p:cNvPr>
          <p:cNvSpPr txBox="1"/>
          <p:nvPr/>
        </p:nvSpPr>
        <p:spPr>
          <a:xfrm>
            <a:off x="1158218" y="4472662"/>
            <a:ext cx="778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/>
              <a:t>(Start)</a:t>
            </a:r>
            <a:endParaRPr kumimoji="1" lang="zh-TW" altLang="en-US" sz="16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875E7289-05C1-D185-CD20-7A8387DC3548}"/>
              </a:ext>
            </a:extLst>
          </p:cNvPr>
          <p:cNvSpPr/>
          <p:nvPr/>
        </p:nvSpPr>
        <p:spPr>
          <a:xfrm>
            <a:off x="2397436" y="2958733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729BBC-BACD-B4BC-5CFD-E43E279BC56D}"/>
              </a:ext>
            </a:extLst>
          </p:cNvPr>
          <p:cNvSpPr/>
          <p:nvPr/>
        </p:nvSpPr>
        <p:spPr>
          <a:xfrm>
            <a:off x="2397436" y="5004890"/>
            <a:ext cx="613700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You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5A5463B-ADA9-FE38-04CD-5FE88700466F}"/>
              </a:ext>
            </a:extLst>
          </p:cNvPr>
          <p:cNvCxnSpPr>
            <a:cxnSpLocks/>
          </p:cNvCxnSpPr>
          <p:nvPr/>
        </p:nvCxnSpPr>
        <p:spPr>
          <a:xfrm flipV="1">
            <a:off x="1871612" y="3159314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9D3CFDC7-E5AB-77B0-FA1A-9D836D4225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871612" y="4221432"/>
            <a:ext cx="467804" cy="9515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/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−0.7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E2DCFBE-6018-9076-F2D2-1DB61E63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2625303"/>
                <a:ext cx="613701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/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−0.9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D3DD690-0104-A97A-2C3F-7DF0AC27A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435" y="5574359"/>
                <a:ext cx="59835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圓角矩形 2">
            <a:extLst>
              <a:ext uri="{FF2B5EF4-FFF2-40B4-BE49-F238E27FC236}">
                <a16:creationId xmlns:a16="http://schemas.microsoft.com/office/drawing/2014/main" id="{8F43250E-61CA-2FCD-5713-EEE3A86898A2}"/>
              </a:ext>
            </a:extLst>
          </p:cNvPr>
          <p:cNvSpPr/>
          <p:nvPr/>
        </p:nvSpPr>
        <p:spPr>
          <a:xfrm>
            <a:off x="3848821" y="2545579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like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FA1AEDB-F347-04F8-CEE1-E1D35D5B3651}"/>
              </a:ext>
            </a:extLst>
          </p:cNvPr>
          <p:cNvSpPr/>
          <p:nvPr/>
        </p:nvSpPr>
        <p:spPr>
          <a:xfrm>
            <a:off x="3848821" y="334157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FA3A0A1-CC3C-EC77-CEC9-146B482EBACE}"/>
              </a:ext>
            </a:extLst>
          </p:cNvPr>
          <p:cNvSpPr/>
          <p:nvPr/>
        </p:nvSpPr>
        <p:spPr>
          <a:xfrm>
            <a:off x="3848820" y="465888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want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20CADDD-FB1E-6DA6-D861-460F1DAB89D2}"/>
              </a:ext>
            </a:extLst>
          </p:cNvPr>
          <p:cNvSpPr/>
          <p:nvPr/>
        </p:nvSpPr>
        <p:spPr>
          <a:xfrm>
            <a:off x="3848820" y="5403253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are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8665C6F8-C70B-8089-DEF0-F0BF0A302E1F}"/>
              </a:ext>
            </a:extLst>
          </p:cNvPr>
          <p:cNvCxnSpPr>
            <a:cxnSpLocks/>
          </p:cNvCxnSpPr>
          <p:nvPr/>
        </p:nvCxnSpPr>
        <p:spPr>
          <a:xfrm flipV="1">
            <a:off x="3069156" y="280263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7E401430-2CB0-6CDC-4D3E-E2664C968009}"/>
              </a:ext>
            </a:extLst>
          </p:cNvPr>
          <p:cNvCxnSpPr>
            <a:cxnSpLocks/>
          </p:cNvCxnSpPr>
          <p:nvPr/>
        </p:nvCxnSpPr>
        <p:spPr>
          <a:xfrm>
            <a:off x="3086929" y="32695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5BEAD4A0-45EF-EF79-2FEC-25625B419A1C}"/>
              </a:ext>
            </a:extLst>
          </p:cNvPr>
          <p:cNvCxnSpPr>
            <a:cxnSpLocks/>
          </p:cNvCxnSpPr>
          <p:nvPr/>
        </p:nvCxnSpPr>
        <p:spPr>
          <a:xfrm>
            <a:off x="3079256" y="530471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C436EAB-E031-DBE5-6881-81A4CA5C9777}"/>
              </a:ext>
            </a:extLst>
          </p:cNvPr>
          <p:cNvCxnSpPr>
            <a:cxnSpLocks/>
          </p:cNvCxnSpPr>
          <p:nvPr/>
        </p:nvCxnSpPr>
        <p:spPr>
          <a:xfrm flipV="1">
            <a:off x="3079256" y="4890148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/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B7D302A-69BB-3B4C-110A-358900750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2211250"/>
                <a:ext cx="613701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/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−2.9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F9CE310-A15D-4542-74A8-BF14C20D7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3844284"/>
                <a:ext cx="613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/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−1.6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1834D209-F6BD-1B0A-BF59-E0500E0C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019" y="4345643"/>
                <a:ext cx="613701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/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−1.8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D3DAC6B-5B92-1CFD-751E-6687CB641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0" y="5910891"/>
                <a:ext cx="686099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圓角矩形 17">
            <a:extLst>
              <a:ext uri="{FF2B5EF4-FFF2-40B4-BE49-F238E27FC236}">
                <a16:creationId xmlns:a16="http://schemas.microsoft.com/office/drawing/2014/main" id="{601EF68D-AB15-2BE7-FB27-3732E7DC8DC8}"/>
              </a:ext>
            </a:extLst>
          </p:cNvPr>
          <p:cNvSpPr/>
          <p:nvPr/>
        </p:nvSpPr>
        <p:spPr>
          <a:xfrm>
            <a:off x="5426258" y="2144666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0CBAD8EE-42E2-E1A6-D756-AFEE80F6B6C3}"/>
              </a:ext>
            </a:extLst>
          </p:cNvPr>
          <p:cNvSpPr/>
          <p:nvPr/>
        </p:nvSpPr>
        <p:spPr>
          <a:xfrm>
            <a:off x="5426258" y="2940660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books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46E46508-67A3-47D1-F2E4-593015865BD2}"/>
              </a:ext>
            </a:extLst>
          </p:cNvPr>
          <p:cNvCxnSpPr>
            <a:cxnSpLocks/>
          </p:cNvCxnSpPr>
          <p:nvPr/>
        </p:nvCxnSpPr>
        <p:spPr>
          <a:xfrm flipV="1">
            <a:off x="4646593" y="2401721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4CD8D4-70BA-C50F-4173-C4EFAF415F32}"/>
              </a:ext>
            </a:extLst>
          </p:cNvPr>
          <p:cNvCxnSpPr>
            <a:cxnSpLocks/>
          </p:cNvCxnSpPr>
          <p:nvPr/>
        </p:nvCxnSpPr>
        <p:spPr>
          <a:xfrm>
            <a:off x="4664366" y="2868626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/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−2.8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5B72CF1E-2455-77B2-4E63-0388B571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071" y="1789852"/>
                <a:ext cx="530678" cy="338554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/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−2.</m:t>
                      </m:r>
                      <m:r>
                        <a:rPr kumimoji="1"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75DED9B6-F0F3-1533-17C3-AE4E8F237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15" y="3428408"/>
                <a:ext cx="566190" cy="338554"/>
              </a:xfrm>
              <a:prstGeom prst="rect">
                <a:avLst/>
              </a:prstGeom>
              <a:blipFill>
                <a:blip r:embed="rId10"/>
                <a:stretch>
                  <a:fillRect r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8D37F53C-38B0-72B7-761E-CCE30BD3F6A2}"/>
              </a:ext>
            </a:extLst>
          </p:cNvPr>
          <p:cNvSpPr/>
          <p:nvPr/>
        </p:nvSpPr>
        <p:spPr>
          <a:xfrm>
            <a:off x="5444007" y="4253284"/>
            <a:ext cx="732055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</a:t>
            </a:r>
            <a:endParaRPr kumimoji="1" lang="zh-TW" altLang="en-US" sz="16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A3DAE183-4DB4-FB98-30FA-C42FE80C7E5C}"/>
              </a:ext>
            </a:extLst>
          </p:cNvPr>
          <p:cNvSpPr/>
          <p:nvPr/>
        </p:nvSpPr>
        <p:spPr>
          <a:xfrm>
            <a:off x="5444007" y="5049278"/>
            <a:ext cx="732056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tea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2DB8DA1-DF6A-7639-0750-34AB62672E0C}"/>
              </a:ext>
            </a:extLst>
          </p:cNvPr>
          <p:cNvCxnSpPr>
            <a:cxnSpLocks/>
          </p:cNvCxnSpPr>
          <p:nvPr/>
        </p:nvCxnSpPr>
        <p:spPr>
          <a:xfrm flipV="1">
            <a:off x="4664342" y="4510339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C5EC476E-EC31-2D86-E6B2-EBF1955BF1E5}"/>
              </a:ext>
            </a:extLst>
          </p:cNvPr>
          <p:cNvCxnSpPr>
            <a:cxnSpLocks/>
          </p:cNvCxnSpPr>
          <p:nvPr/>
        </p:nvCxnSpPr>
        <p:spPr>
          <a:xfrm>
            <a:off x="4682115" y="4977244"/>
            <a:ext cx="686098" cy="3566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/>
              <p:nvPr/>
            </p:nvSpPr>
            <p:spPr>
              <a:xfrm>
                <a:off x="4963600" y="3914296"/>
                <a:ext cx="15635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−2.9 </m:t>
                    </m:r>
                  </m:oMath>
                </a14:m>
                <a:r>
                  <a:rPr kumimoji="1" lang="en-US" altLang="zh-TW" sz="1600" dirty="0">
                    <a:solidFill>
                      <a:srgbClr val="FF0000"/>
                    </a:solidFill>
                  </a:rPr>
                  <a:t>/ 3 = -0.97</a:t>
                </a:r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9322DFDD-EFF0-7244-F30C-F19809A79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3600" y="3914296"/>
                <a:ext cx="1563531" cy="338554"/>
              </a:xfrm>
              <a:prstGeom prst="rect">
                <a:avLst/>
              </a:prstGeom>
              <a:blipFill>
                <a:blip r:embed="rId11"/>
                <a:stretch>
                  <a:fillRect t="-7143" b="-1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/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−3.8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08361A65-0546-D0FE-B2EE-A1BC12C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190" y="5559395"/>
                <a:ext cx="548440" cy="338554"/>
              </a:xfrm>
              <a:prstGeom prst="rect">
                <a:avLst/>
              </a:prstGeom>
              <a:blipFill>
                <a:blip r:embed="rId12"/>
                <a:stretch>
                  <a:fillRect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圓角矩形 1">
            <a:extLst>
              <a:ext uri="{FF2B5EF4-FFF2-40B4-BE49-F238E27FC236}">
                <a16:creationId xmlns:a16="http://schemas.microsoft.com/office/drawing/2014/main" id="{FCC80EAE-A748-DD7C-9D1D-B90050229D28}"/>
              </a:ext>
            </a:extLst>
          </p:cNvPr>
          <p:cNvSpPr/>
          <p:nvPr/>
        </p:nvSpPr>
        <p:spPr>
          <a:xfrm>
            <a:off x="6959306" y="25443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watch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624AFD73-A0D9-AE22-080A-91A4FC5F408D}"/>
              </a:ext>
            </a:extLst>
          </p:cNvPr>
          <p:cNvSpPr/>
          <p:nvPr/>
        </p:nvSpPr>
        <p:spPr>
          <a:xfrm>
            <a:off x="6959308" y="174792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read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4F17797E-F2DB-5ADF-02FE-E0226F7ACE16}"/>
              </a:ext>
            </a:extLst>
          </p:cNvPr>
          <p:cNvSpPr/>
          <p:nvPr/>
        </p:nvSpPr>
        <p:spPr>
          <a:xfrm>
            <a:off x="6959307" y="3652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and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B819ECA-E0CE-0C5D-FF83-5E3EE687278A}"/>
              </a:ext>
            </a:extLst>
          </p:cNvPr>
          <p:cNvSpPr/>
          <p:nvPr/>
        </p:nvSpPr>
        <p:spPr>
          <a:xfrm>
            <a:off x="6959307" y="445119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party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FD04519-C5EE-5166-1A97-1250B554FDCF}"/>
              </a:ext>
            </a:extLst>
          </p:cNvPr>
          <p:cNvCxnSpPr>
            <a:cxnSpLocks/>
          </p:cNvCxnSpPr>
          <p:nvPr/>
        </p:nvCxnSpPr>
        <p:spPr>
          <a:xfrm flipV="1">
            <a:off x="6251880" y="1957795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6E11CB0D-D77D-45B7-25D6-C3B2C6965F47}"/>
              </a:ext>
            </a:extLst>
          </p:cNvPr>
          <p:cNvCxnSpPr>
            <a:cxnSpLocks/>
          </p:cNvCxnSpPr>
          <p:nvPr/>
        </p:nvCxnSpPr>
        <p:spPr>
          <a:xfrm>
            <a:off x="6259576" y="2420845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56F25780-7D26-D5A3-3618-1135CB12AAC1}"/>
              </a:ext>
            </a:extLst>
          </p:cNvPr>
          <p:cNvCxnSpPr>
            <a:cxnSpLocks/>
          </p:cNvCxnSpPr>
          <p:nvPr/>
        </p:nvCxnSpPr>
        <p:spPr>
          <a:xfrm>
            <a:off x="6251879" y="3215471"/>
            <a:ext cx="625270" cy="694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70EA67BC-FF40-CF85-BF93-26350692CB6F}"/>
              </a:ext>
            </a:extLst>
          </p:cNvPr>
          <p:cNvCxnSpPr>
            <a:cxnSpLocks/>
          </p:cNvCxnSpPr>
          <p:nvPr/>
        </p:nvCxnSpPr>
        <p:spPr>
          <a:xfrm>
            <a:off x="6246934" y="3268249"/>
            <a:ext cx="630215" cy="14991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/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C0517B7-256E-F152-381C-CE5B518C4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563" y="1422320"/>
                <a:ext cx="643283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/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−3.2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6F906C2F-5027-8893-C1EC-DB34E9C0E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014097"/>
                <a:ext cx="530678" cy="338554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/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16676045-5672-AA81-F226-84FF0BBA8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878" y="3380849"/>
                <a:ext cx="530678" cy="338554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/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F9C59B25-2255-0ACF-CE91-AC14A5AC8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866" y="4946362"/>
                <a:ext cx="530678" cy="338554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圓角矩形 61">
            <a:extLst>
              <a:ext uri="{FF2B5EF4-FFF2-40B4-BE49-F238E27FC236}">
                <a16:creationId xmlns:a16="http://schemas.microsoft.com/office/drawing/2014/main" id="{4B769ABC-2D1E-CB77-8C48-CD005D939EA0}"/>
              </a:ext>
            </a:extLst>
          </p:cNvPr>
          <p:cNvSpPr/>
          <p:nvPr/>
        </p:nvSpPr>
        <p:spPr>
          <a:xfrm>
            <a:off x="8566509" y="2541946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A18B5995-7936-68CC-EB41-6DE84B364041}"/>
              </a:ext>
            </a:extLst>
          </p:cNvPr>
          <p:cNvSpPr/>
          <p:nvPr/>
        </p:nvSpPr>
        <p:spPr>
          <a:xfrm>
            <a:off x="8566509" y="1745555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F9B8227B-B2AF-EA84-9CAC-78F856341887}"/>
              </a:ext>
            </a:extLst>
          </p:cNvPr>
          <p:cNvCxnSpPr>
            <a:cxnSpLocks/>
          </p:cNvCxnSpPr>
          <p:nvPr/>
        </p:nvCxnSpPr>
        <p:spPr>
          <a:xfrm>
            <a:off x="7868037" y="2801375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09A036F-DE62-BB87-4E4C-E2841664A1C1}"/>
              </a:ext>
            </a:extLst>
          </p:cNvPr>
          <p:cNvCxnSpPr>
            <a:cxnSpLocks/>
          </p:cNvCxnSpPr>
          <p:nvPr/>
        </p:nvCxnSpPr>
        <p:spPr>
          <a:xfrm flipV="1">
            <a:off x="7868037" y="2002610"/>
            <a:ext cx="583505" cy="755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65458D6C-0F40-E54D-7D40-40DE99DB5C0C}"/>
              </a:ext>
            </a:extLst>
          </p:cNvPr>
          <p:cNvSpPr/>
          <p:nvPr/>
        </p:nvSpPr>
        <p:spPr>
          <a:xfrm>
            <a:off x="8566509" y="4434454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horror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2" name="圓角矩形 71">
            <a:extLst>
              <a:ext uri="{FF2B5EF4-FFF2-40B4-BE49-F238E27FC236}">
                <a16:creationId xmlns:a16="http://schemas.microsoft.com/office/drawing/2014/main" id="{15DC6462-8ECC-218B-B2C6-74CB85517F37}"/>
              </a:ext>
            </a:extLst>
          </p:cNvPr>
          <p:cNvSpPr/>
          <p:nvPr/>
        </p:nvSpPr>
        <p:spPr>
          <a:xfrm>
            <a:off x="8566509" y="363075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write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DC9CA5F9-443A-548C-D9DC-99EEDDCC1B84}"/>
              </a:ext>
            </a:extLst>
          </p:cNvPr>
          <p:cNvCxnSpPr>
            <a:cxnSpLocks/>
          </p:cNvCxnSpPr>
          <p:nvPr/>
        </p:nvCxnSpPr>
        <p:spPr>
          <a:xfrm>
            <a:off x="7868037" y="3920828"/>
            <a:ext cx="583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87D77537-FC62-4357-15D5-8D73B9A85FF0}"/>
              </a:ext>
            </a:extLst>
          </p:cNvPr>
          <p:cNvCxnSpPr>
            <a:cxnSpLocks/>
          </p:cNvCxnSpPr>
          <p:nvPr/>
        </p:nvCxnSpPr>
        <p:spPr>
          <a:xfrm>
            <a:off x="7878102" y="4025792"/>
            <a:ext cx="571276" cy="6824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/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−4.8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AC91EA17-C9D6-FF25-F9B0-AF876321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1420109"/>
                <a:ext cx="643283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/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−3.7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F2BEE332-6CAA-42C9-C270-2622ACB4D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3028656"/>
                <a:ext cx="643283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/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−4.5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CC7B0D0-65C5-0DC6-E08A-EE5DFC35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3081" y="3354518"/>
                <a:ext cx="643283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/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−4.3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6EFF82DC-8235-5F19-35CB-E35C980CB2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0211" y="4926282"/>
                <a:ext cx="643283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圓角矩形 86">
            <a:extLst>
              <a:ext uri="{FF2B5EF4-FFF2-40B4-BE49-F238E27FC236}">
                <a16:creationId xmlns:a16="http://schemas.microsoft.com/office/drawing/2014/main" id="{2ECEE44B-E1FE-8F53-C2EA-BF6466326A8D}"/>
              </a:ext>
            </a:extLst>
          </p:cNvPr>
          <p:cNvSpPr/>
          <p:nvPr/>
        </p:nvSpPr>
        <p:spPr>
          <a:xfrm>
            <a:off x="10210292" y="4867019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8" name="圓角矩形 87">
            <a:extLst>
              <a:ext uri="{FF2B5EF4-FFF2-40B4-BE49-F238E27FC236}">
                <a16:creationId xmlns:a16="http://schemas.microsoft.com/office/drawing/2014/main" id="{F777A461-4D4D-A6A3-48E3-DEF3183B7D1E}"/>
              </a:ext>
            </a:extLst>
          </p:cNvPr>
          <p:cNvSpPr/>
          <p:nvPr/>
        </p:nvSpPr>
        <p:spPr>
          <a:xfrm>
            <a:off x="10210294" y="4070628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games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19CB5E83-68B2-EECF-6051-F6B089A593B9}"/>
              </a:ext>
            </a:extLst>
          </p:cNvPr>
          <p:cNvCxnSpPr>
            <a:cxnSpLocks/>
          </p:cNvCxnSpPr>
          <p:nvPr/>
        </p:nvCxnSpPr>
        <p:spPr>
          <a:xfrm flipV="1">
            <a:off x="9502866" y="4280494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DCE5A51-6B44-14B3-A16B-A0D864279FFB}"/>
              </a:ext>
            </a:extLst>
          </p:cNvPr>
          <p:cNvCxnSpPr>
            <a:cxnSpLocks/>
          </p:cNvCxnSpPr>
          <p:nvPr/>
        </p:nvCxnSpPr>
        <p:spPr>
          <a:xfrm>
            <a:off x="9510562" y="4743544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/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−5.0</m:t>
                      </m:r>
                    </m:oMath>
                  </m:oMathPara>
                </a14:m>
                <a:endParaRPr kumimoji="1"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FADD9AFA-BBAF-1373-7669-45A5779F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1549" y="3745019"/>
                <a:ext cx="643283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/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−5.3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D896CB3-4BA5-6930-4608-455C8C5D9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5864" y="5336796"/>
                <a:ext cx="530678" cy="338554"/>
              </a:xfrm>
              <a:prstGeom prst="rect">
                <a:avLst/>
              </a:prstGeom>
              <a:blipFill>
                <a:blip r:embed="rId2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圓角矩形 92">
            <a:extLst>
              <a:ext uri="{FF2B5EF4-FFF2-40B4-BE49-F238E27FC236}">
                <a16:creationId xmlns:a16="http://schemas.microsoft.com/office/drawing/2014/main" id="{6682415B-AAE3-C480-C984-1FA1C126E1A4}"/>
              </a:ext>
            </a:extLst>
          </p:cNvPr>
          <p:cNvSpPr/>
          <p:nvPr/>
        </p:nvSpPr>
        <p:spPr>
          <a:xfrm>
            <a:off x="10187145" y="2923111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3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movies</a:t>
            </a:r>
            <a:endParaRPr kumimoji="1" lang="zh-TW" altLang="en-US" sz="13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4" name="圓角矩形 93">
            <a:extLst>
              <a:ext uri="{FF2B5EF4-FFF2-40B4-BE49-F238E27FC236}">
                <a16:creationId xmlns:a16="http://schemas.microsoft.com/office/drawing/2014/main" id="{854E7910-C3A2-1166-8197-6FBABACCD778}"/>
              </a:ext>
            </a:extLst>
          </p:cNvPr>
          <p:cNvSpPr/>
          <p:nvPr/>
        </p:nvSpPr>
        <p:spPr>
          <a:xfrm>
            <a:off x="10187147" y="2126720"/>
            <a:ext cx="810689" cy="514110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things</a:t>
            </a:r>
            <a:endParaRPr kumimoji="1" lang="zh-TW" altLang="en-US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4F585D2D-48D7-D4DD-06CA-F00CAF494BC3}"/>
              </a:ext>
            </a:extLst>
          </p:cNvPr>
          <p:cNvCxnSpPr>
            <a:cxnSpLocks/>
          </p:cNvCxnSpPr>
          <p:nvPr/>
        </p:nvCxnSpPr>
        <p:spPr>
          <a:xfrm flipV="1">
            <a:off x="9479719" y="2336586"/>
            <a:ext cx="635929" cy="4148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1A6C486F-EFEC-66D4-8F69-9EF80B3487C8}"/>
              </a:ext>
            </a:extLst>
          </p:cNvPr>
          <p:cNvCxnSpPr>
            <a:cxnSpLocks/>
          </p:cNvCxnSpPr>
          <p:nvPr/>
        </p:nvCxnSpPr>
        <p:spPr>
          <a:xfrm>
            <a:off x="9487415" y="2799636"/>
            <a:ext cx="628233" cy="4623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/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600" b="0" i="1" smtClean="0">
                          <a:latin typeface="Cambria Math" panose="02040503050406030204" pitchFamily="18" charset="0"/>
                        </a:rPr>
                        <m:t>−5.1</m:t>
                      </m:r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5EB6964-E132-3716-7E4D-D7B527BD1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8402" y="1801111"/>
                <a:ext cx="643283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/>
              <p:nvPr/>
            </p:nvSpPr>
            <p:spPr>
              <a:xfrm>
                <a:off x="9843132" y="3422037"/>
                <a:ext cx="153964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−4.6</m:t>
                    </m:r>
                  </m:oMath>
                </a14:m>
                <a:r>
                  <a:rPr kumimoji="1" lang="en-US" altLang="zh-TW" sz="1600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zh-TW" sz="1600" dirty="0">
                    <a:solidFill>
                      <a:srgbClr val="FF0000"/>
                    </a:solidFill>
                  </a:rPr>
                  <a:t>/ 6 = -0.77</a:t>
                </a:r>
                <a:endParaRPr kumimoji="1"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EC113B5-90C9-8AF8-DA51-2627CD35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3132" y="3422037"/>
                <a:ext cx="1539645" cy="338554"/>
              </a:xfrm>
              <a:prstGeom prst="rect">
                <a:avLst/>
              </a:prstGeom>
              <a:blipFill>
                <a:blip r:embed="rId24"/>
                <a:stretch>
                  <a:fillRect t="-7143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B3CF6D12-5E62-A535-67F0-BA892A5146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0" algn="l" defTabSz="914400" rtl="0" eaLnBrk="1" latinLnBrk="0" hangingPunct="1">
                  <a:lnSpc>
                    <a:spcPct val="85000"/>
                  </a:lnSpc>
                  <a:spcBef>
                    <a:spcPct val="0"/>
                  </a:spcBef>
                  <a:buNone/>
                  <a:defRPr sz="4800" kern="1200" spc="-5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kumimoji="1" lang="en-US" altLang="zh-TW" dirty="0"/>
                  <a:t>Beam Search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kumimoji="1" lang="en-US" altLang="zh-TW" dirty="0"/>
                  <a:t>)</a:t>
                </a:r>
                <a:endParaRPr lang="zh-TW" altLang="en-US" dirty="0">
                  <a:latin typeface="Times New Roman"/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46" name="標題 1">
                <a:extLst>
                  <a:ext uri="{FF2B5EF4-FFF2-40B4-BE49-F238E27FC236}">
                    <a16:creationId xmlns:a16="http://schemas.microsoft.com/office/drawing/2014/main" id="{B3CF6D12-5E62-A535-67F0-BA892A514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72" y="356088"/>
                <a:ext cx="10511008" cy="1033416"/>
              </a:xfrm>
              <a:prstGeom prst="rect">
                <a:avLst/>
              </a:prstGeom>
              <a:blipFill>
                <a:blip r:embed="rId25"/>
                <a:stretch>
                  <a:fillRect l="-2654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文字方塊 46">
            <a:extLst>
              <a:ext uri="{FF2B5EF4-FFF2-40B4-BE49-F238E27FC236}">
                <a16:creationId xmlns:a16="http://schemas.microsoft.com/office/drawing/2014/main" id="{B59EA56F-7E65-5CCE-5B7D-2DBA6B0FF1CC}"/>
              </a:ext>
            </a:extLst>
          </p:cNvPr>
          <p:cNvSpPr txBox="1"/>
          <p:nvPr/>
        </p:nvSpPr>
        <p:spPr>
          <a:xfrm>
            <a:off x="9613039" y="688130"/>
            <a:ext cx="1884594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`Beam size` = 2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875613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Beam Search 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2F0F3D3-C611-834E-801D-5082C6008856}"/>
              </a:ext>
            </a:extLst>
          </p:cNvPr>
          <p:cNvSpPr txBox="1"/>
          <p:nvPr/>
        </p:nvSpPr>
        <p:spPr>
          <a:xfrm>
            <a:off x="653142" y="1731932"/>
            <a:ext cx="10918371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Decoding strategies that optimize for output with high probability, such as beam search, lead to text that is </a:t>
            </a:r>
            <a:r>
              <a:rPr kumimoji="1" lang="en-US" altLang="zh-TW" sz="2400" dirty="0">
                <a:solidFill>
                  <a:srgbClr val="FF0000"/>
                </a:solidFill>
              </a:rPr>
              <a:t>incredibly degenerate (e.g., repetitive words)</a:t>
            </a:r>
            <a:r>
              <a:rPr kumimoji="1" lang="en-US" altLang="zh-TW" sz="2400" dirty="0"/>
              <a:t>, even when using state-of-the-art models such as GPT-2 Large (in 2020).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6598DA-BFEF-5CE8-1F13-6BCB261347C8}"/>
              </a:ext>
            </a:extLst>
          </p:cNvPr>
          <p:cNvSpPr txBox="1"/>
          <p:nvPr/>
        </p:nvSpPr>
        <p:spPr>
          <a:xfrm>
            <a:off x="2520363" y="5760720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069741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6598DA-BFEF-5CE8-1F13-6BCB261347C8}"/>
              </a:ext>
            </a:extLst>
          </p:cNvPr>
          <p:cNvSpPr txBox="1"/>
          <p:nvPr/>
        </p:nvSpPr>
        <p:spPr>
          <a:xfrm>
            <a:off x="2937051" y="6257465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3BB4C8-FD42-7A09-FD6E-DE9711AC2F3E}"/>
              </a:ext>
            </a:extLst>
          </p:cNvPr>
          <p:cNvSpPr txBox="1"/>
          <p:nvPr/>
        </p:nvSpPr>
        <p:spPr>
          <a:xfrm>
            <a:off x="1310640" y="1784760"/>
            <a:ext cx="9673590" cy="9233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Context: </a:t>
            </a:r>
            <a:r>
              <a:rPr kumimoji="1" lang="en-US" altLang="zh-TW" dirty="0"/>
              <a:t>In a shocking finding, scientist discovered a herd of unicorns living in a remote, previously unexplored valley, in the Andes Mountains. Even more surprising to the researchers was the fact that the unicorns spoke perfect English.</a:t>
            </a:r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F06F358-0BDB-8C7E-36B1-10FD3D10F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33" y="3244728"/>
            <a:ext cx="4700268" cy="1906332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F0A8F262-FFFF-0E7F-BFAA-1C5330B59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Problem of Beam Search (3)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44877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76D2A0-A40D-E919-4D41-45FBD5C8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思考 </a:t>
            </a:r>
            <a:r>
              <a:rPr kumimoji="1" lang="en-US" altLang="zh-TW" dirty="0"/>
              <a:t>Greedy Decoding</a:t>
            </a:r>
            <a:r>
              <a:rPr kumimoji="1" lang="zh-TW" altLang="en-US" dirty="0"/>
              <a:t> 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3A65F4-FC14-90CD-F9AB-B67ADBDE8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99BFC7-45D5-8949-4837-C8FBEA14509A}"/>
              </a:ext>
            </a:extLst>
          </p:cNvPr>
          <p:cNvSpPr txBox="1"/>
          <p:nvPr/>
        </p:nvSpPr>
        <p:spPr>
          <a:xfrm>
            <a:off x="653143" y="1865748"/>
            <a:ext cx="10418277" cy="280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現代語言模型通常使用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maximum likelihood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的方式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(language modeling)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進行訓練，這會導致模型過度偏向常見或高頻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當模型在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early steps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中對某些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給予極高機率時，這些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所在的路徑就會大幅壓制了其他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candidate tokens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，導致生成缺少多樣性，甚至進入重複生成的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loop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例如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I don’t know I don’t know I don’t know …)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030DB9-17A1-FD79-460A-118582795F1E}"/>
              </a:ext>
            </a:extLst>
          </p:cNvPr>
          <p:cNvSpPr txBox="1"/>
          <p:nvPr/>
        </p:nvSpPr>
        <p:spPr>
          <a:xfrm>
            <a:off x="2520363" y="6043529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379339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55A832-AD59-BD12-A6F2-174F8C85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[Summary] Strategy for MLE decoding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B68D03-A603-D238-F93B-94FC07CDD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" altLang="zh-TW" sz="2800" dirty="0"/>
              <a:t>Maximum Likelihood Estimation (MLE): greedy decoding, beam search</a:t>
            </a:r>
          </a:p>
          <a:p>
            <a:r>
              <a:rPr kumimoji="1"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既然機率值最高的不是我們想要的字詞</a:t>
            </a:r>
            <a:endParaRPr kumimoji="1" lang="en-US" altLang="zh-TW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C4D93D-5F40-0DEF-9B5E-E90DD93E6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983F722-7178-7CF1-5506-78A259B0C78A}"/>
              </a:ext>
            </a:extLst>
          </p:cNvPr>
          <p:cNvSpPr txBox="1"/>
          <p:nvPr/>
        </p:nvSpPr>
        <p:spPr>
          <a:xfrm>
            <a:off x="653143" y="3256117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2800" dirty="0">
                <a:solidFill>
                  <a:srgbClr val="FF0000"/>
                </a:solidFill>
              </a:rPr>
              <a:t>Strategy: Add more randomness!</a:t>
            </a:r>
            <a:endParaRPr kumimoji="1" lang="zh-TW" alt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9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0CB9AE-2782-ED15-A783-EE99CE1B4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Strategy for MLE decoding: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改用</a:t>
            </a:r>
            <a:r>
              <a:rPr kumimoji="1" lang="zh-TW" altLang="en-US" dirty="0"/>
              <a:t> </a:t>
            </a:r>
            <a:r>
              <a:rPr kumimoji="1" lang="en-US" altLang="zh-TW" dirty="0">
                <a:solidFill>
                  <a:srgbClr val="FF0000"/>
                </a:solidFill>
              </a:rPr>
              <a:t>Sampling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8C118-0C08-4D1E-9D2B-21E16B9E1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5ABC28D-4055-7A2A-177A-6D32BB6115F2}"/>
              </a:ext>
            </a:extLst>
          </p:cNvPr>
          <p:cNvSpPr txBox="1"/>
          <p:nvPr/>
        </p:nvSpPr>
        <p:spPr>
          <a:xfrm>
            <a:off x="672221" y="1734177"/>
            <a:ext cx="10847558" cy="1694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就是「讓模型隨機選下一個詞，而不是每次都選最有可能的那個詞」。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是根據模型對每個詞給出的 機率分布 來進行「隨機抽樣」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00DA992A-091D-2435-F5E4-409E65CA340F}"/>
              </a:ext>
            </a:extLst>
          </p:cNvPr>
          <p:cNvGraphicFramePr>
            <a:graphicFrameLocks noGrp="1"/>
          </p:cNvGraphicFramePr>
          <p:nvPr/>
        </p:nvGraphicFramePr>
        <p:xfrm>
          <a:off x="1042186" y="3886820"/>
          <a:ext cx="3482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340">
                  <a:extLst>
                    <a:ext uri="{9D8B030D-6E8A-4147-A177-3AD203B41FA5}">
                      <a16:colId xmlns:a16="http://schemas.microsoft.com/office/drawing/2014/main" val="3107275244"/>
                    </a:ext>
                  </a:extLst>
                </a:gridCol>
                <a:gridCol w="1741340">
                  <a:extLst>
                    <a:ext uri="{9D8B030D-6E8A-4147-A177-3AD203B41FA5}">
                      <a16:colId xmlns:a16="http://schemas.microsoft.com/office/drawing/2014/main" val="3943062138"/>
                    </a:ext>
                  </a:extLst>
                </a:gridCol>
              </a:tblGrid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Token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Probability (p)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17145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471651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dog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465654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0.15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12913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book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0.05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49416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310EA4C-6406-3497-FD26-21E38253770A}"/>
              </a:ext>
            </a:extLst>
          </p:cNvPr>
          <p:cNvSpPr txBox="1"/>
          <p:nvPr/>
        </p:nvSpPr>
        <p:spPr>
          <a:xfrm>
            <a:off x="4817321" y="5335373"/>
            <a:ext cx="687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Sampling </a:t>
            </a:r>
            <a:r>
              <a:rPr kumimoji="1" lang="zh-TW" altLang="en-US" dirty="0">
                <a:ea typeface="Microsoft JhengHei" panose="020B0604030504040204" pitchFamily="34" charset="-120"/>
              </a:rPr>
              <a:t>不是亂抽！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而是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根據機率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模型的信心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來產生下一次生成</a:t>
            </a:r>
          </a:p>
        </p:txBody>
      </p:sp>
    </p:spTree>
    <p:extLst>
      <p:ext uri="{BB962C8B-B14F-4D97-AF65-F5344CB8AC3E}">
        <p14:creationId xmlns:p14="http://schemas.microsoft.com/office/powerpoint/2010/main" val="25368133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38BD1-A353-EDA6-7142-F0C754E85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Summary and the Thinking Route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9E5F79-B867-B1A7-5565-CAD8DF064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ABA2D3-F549-1738-AAEB-A5C79291133B}"/>
              </a:ext>
            </a:extLst>
          </p:cNvPr>
          <p:cNvSpPr/>
          <p:nvPr/>
        </p:nvSpPr>
        <p:spPr>
          <a:xfrm>
            <a:off x="2079826" y="3531057"/>
            <a:ext cx="1600200" cy="74295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Beam Search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44E4D143-7756-D108-26AD-715858B9C4D4}"/>
              </a:ext>
            </a:extLst>
          </p:cNvPr>
          <p:cNvSpPr/>
          <p:nvPr/>
        </p:nvSpPr>
        <p:spPr>
          <a:xfrm>
            <a:off x="2079826" y="2369479"/>
            <a:ext cx="1600200" cy="7429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Greedy Decoding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5A18AFC-D84A-E3D2-6414-F54CDABDF091}"/>
              </a:ext>
            </a:extLst>
          </p:cNvPr>
          <p:cNvSpPr/>
          <p:nvPr/>
        </p:nvSpPr>
        <p:spPr>
          <a:xfrm>
            <a:off x="2079826" y="4692635"/>
            <a:ext cx="1600200" cy="742950"/>
          </a:xfrm>
          <a:prstGeom prst="round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ABDF74E-6D39-CA74-25B8-80EA51C1A7BE}"/>
              </a:ext>
            </a:extLst>
          </p:cNvPr>
          <p:cNvCxnSpPr>
            <a:cxnSpLocks/>
          </p:cNvCxnSpPr>
          <p:nvPr/>
        </p:nvCxnSpPr>
        <p:spPr>
          <a:xfrm>
            <a:off x="3680026" y="2649514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肘形接點 6">
            <a:extLst>
              <a:ext uri="{FF2B5EF4-FFF2-40B4-BE49-F238E27FC236}">
                <a16:creationId xmlns:a16="http://schemas.microsoft.com/office/drawing/2014/main" id="{F7B4984B-1377-B4FD-FA27-71A287A854F9}"/>
              </a:ext>
            </a:extLst>
          </p:cNvPr>
          <p:cNvCxnSpPr>
            <a:cxnSpLocks/>
          </p:cNvCxnSpPr>
          <p:nvPr/>
        </p:nvCxnSpPr>
        <p:spPr>
          <a:xfrm>
            <a:off x="3692726" y="3885916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7512EA-58D1-EC73-C4F0-05814C014790}"/>
              </a:ext>
            </a:extLst>
          </p:cNvPr>
          <p:cNvSpPr txBox="1"/>
          <p:nvPr/>
        </p:nvSpPr>
        <p:spPr>
          <a:xfrm>
            <a:off x="4467656" y="2884726"/>
            <a:ext cx="6054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Greedy decoding always selects the best choice at each time step and becomes problematic for early mistakes.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10C92C5-8453-E0DA-30D7-9CF4F05FC5C9}"/>
              </a:ext>
            </a:extLst>
          </p:cNvPr>
          <p:cNvSpPr txBox="1"/>
          <p:nvPr/>
        </p:nvSpPr>
        <p:spPr>
          <a:xfrm>
            <a:off x="4467656" y="4143539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Models can fall into repetitive loops with beam search, especially for longer text.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7789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2DD80-FE48-260B-0473-33D8138D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 of Pure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D0BF83-DEDB-6083-2277-A5172317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3BB4C8-FD42-7A09-FD6E-DE9711AC2F3E}"/>
              </a:ext>
            </a:extLst>
          </p:cNvPr>
          <p:cNvSpPr txBox="1"/>
          <p:nvPr/>
        </p:nvSpPr>
        <p:spPr>
          <a:xfrm>
            <a:off x="1310640" y="1784760"/>
            <a:ext cx="9673590" cy="9233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Context: </a:t>
            </a:r>
            <a:r>
              <a:rPr kumimoji="1" lang="en-US" altLang="zh-TW" dirty="0"/>
              <a:t>In a shocking finding, scientist discovered a herd of unicorns living in a remote, previously unexplored valley, in the Andes Mountains. Even more surprising to the researchers was the fact that the unicorns spoke perfect English.</a:t>
            </a:r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F06F358-0BDB-8C7E-36B1-10FD3D10F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33" y="3684567"/>
            <a:ext cx="4700268" cy="190633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F5D8F2A-4ED6-0AFF-0A3A-25E030F2A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697" y="3703876"/>
            <a:ext cx="5039304" cy="186771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3EC46E9-379E-3E89-8DC8-29B169436C26}"/>
              </a:ext>
            </a:extLst>
          </p:cNvPr>
          <p:cNvSpPr txBox="1"/>
          <p:nvPr/>
        </p:nvSpPr>
        <p:spPr>
          <a:xfrm>
            <a:off x="2520363" y="6119536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6F8FD51-1A52-BD77-A25C-AD5045CDF461}"/>
              </a:ext>
            </a:extLst>
          </p:cNvPr>
          <p:cNvSpPr txBox="1"/>
          <p:nvPr/>
        </p:nvSpPr>
        <p:spPr>
          <a:xfrm>
            <a:off x="1595769" y="3050319"/>
            <a:ext cx="47002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如果完全 </a:t>
            </a:r>
            <a:r>
              <a:rPr kumimoji="1" lang="en-US" altLang="zh-TW" sz="2800" dirty="0">
                <a:solidFill>
                  <a:srgbClr val="FF0000"/>
                </a:solidFill>
              </a:rPr>
              <a:t>random sampling</a:t>
            </a:r>
            <a:endParaRPr kumimoji="1"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64450-A7F4-2C22-9F4D-75C26ACF157F}"/>
              </a:ext>
            </a:extLst>
          </p:cNvPr>
          <p:cNvSpPr txBox="1"/>
          <p:nvPr/>
        </p:nvSpPr>
        <p:spPr>
          <a:xfrm>
            <a:off x="6383105" y="3684567"/>
            <a:ext cx="5466388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它們是被稱為「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玻利維亞騎士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」的牛；他們住在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遠離城鎮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的偏遠沙漠，他們說話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很大聲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美麗、天堂般的玻利維亞語言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。他們說，</a:t>
            </a:r>
          </a:p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吃午餐了，瑪姬。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他們沒有告訴午餐是什麼，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」導演</a:t>
            </a:r>
          </a:p>
          <a:p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丘佩拉斯</a:t>
            </a:r>
            <a:r>
              <a:rPr kumimoji="1" lang="en-US" altLang="zh-TW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·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奧姆威爾教授告訴天空新聞。 「</a:t>
            </a:r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他們只是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和科學家交談，就像接受電視採訪一樣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記者。我們甚至沒有留下來接受採訪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電視記者。也許這就是他們發現他們</a:t>
            </a:r>
          </a:p>
          <a:p>
            <a:r>
              <a:rPr kumimoji="1" lang="zh-TW" altLang="en-US" sz="16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扮演玻利維亞騎士。 </a:t>
            </a:r>
            <a:r>
              <a:rPr kumimoji="1" lang="zh-TW" altLang="en-US" sz="16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0EC73C0-F750-A823-9421-978AB962ACBC}"/>
              </a:ext>
            </a:extLst>
          </p:cNvPr>
          <p:cNvSpPr txBox="1"/>
          <p:nvPr/>
        </p:nvSpPr>
        <p:spPr>
          <a:xfrm>
            <a:off x="6826166" y="1564516"/>
            <a:ext cx="1089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獨角獸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FBAD4D2-E444-301D-00A2-7E170EF7F8D7}"/>
              </a:ext>
            </a:extLst>
          </p:cNvPr>
          <p:cNvSpPr txBox="1"/>
          <p:nvPr/>
        </p:nvSpPr>
        <p:spPr>
          <a:xfrm>
            <a:off x="7782409" y="2340679"/>
            <a:ext cx="920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英語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B95B623-8CA6-A554-9A20-4563E27AF5CF}"/>
              </a:ext>
            </a:extLst>
          </p:cNvPr>
          <p:cNvSpPr txBox="1"/>
          <p:nvPr/>
        </p:nvSpPr>
        <p:spPr>
          <a:xfrm>
            <a:off x="3434167" y="2205700"/>
            <a:ext cx="1089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山谷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48004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B0C4F5-13AB-9D74-511D-40958F63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Why is Pure Sampling</a:t>
            </a:r>
            <a:r>
              <a:rPr kumimoji="1" lang="zh-TW" altLang="en-US" dirty="0"/>
              <a:t> </a:t>
            </a:r>
            <a:r>
              <a:rPr kumimoji="1" lang="en-US" altLang="zh-TW" dirty="0"/>
              <a:t>so weak?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2BA0B4-0E73-279A-C232-9D6A366C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5CD8E5E-4C7F-2BFE-C144-BA2FAF36F523}"/>
              </a:ext>
            </a:extLst>
          </p:cNvPr>
          <p:cNvSpPr txBox="1"/>
          <p:nvPr/>
        </p:nvSpPr>
        <p:spPr>
          <a:xfrm>
            <a:off x="653143" y="1855809"/>
            <a:ext cx="4856117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Pure Sampling does not show repetitive loop, but the result becomes incoherent and almost unrelated to the context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Why? -&gt; </a:t>
            </a:r>
            <a:r>
              <a:rPr kumimoji="1" lang="en-US" altLang="zh-TW" sz="2400" dirty="0">
                <a:solidFill>
                  <a:srgbClr val="FF0000"/>
                </a:solidFill>
              </a:rPr>
              <a:t>Unreliable tail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zh-TW" altLang="en-US" sz="2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77C8A7-E80F-79B9-0194-674DF3B145E6}"/>
              </a:ext>
            </a:extLst>
          </p:cNvPr>
          <p:cNvSpPr txBox="1"/>
          <p:nvPr/>
        </p:nvSpPr>
        <p:spPr>
          <a:xfrm>
            <a:off x="8161020" y="2125755"/>
            <a:ext cx="172665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the</a:t>
            </a:r>
          </a:p>
          <a:p>
            <a:r>
              <a:rPr kumimoji="1" lang="en-US" altLang="zh-TW" dirty="0"/>
              <a:t>am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no</a:t>
            </a:r>
          </a:p>
          <a:p>
            <a:r>
              <a:rPr kumimoji="1" lang="en" altLang="zh-TW" dirty="0">
                <a:ea typeface="Microsoft JhengHei" panose="020B0604030504040204" pitchFamily="34" charset="-120"/>
              </a:rPr>
              <a:t>a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/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CD191E-CE16-A19D-7365-E2984132E6F8}"/>
              </a:ext>
            </a:extLst>
          </p:cNvPr>
          <p:cNvSpPr txBox="1"/>
          <p:nvPr/>
        </p:nvSpPr>
        <p:spPr>
          <a:xfrm>
            <a:off x="9236134" y="2125755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0.0011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0.0012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0.0013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0.0014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</p:txBody>
      </p:sp>
      <p:sp>
        <p:nvSpPr>
          <p:cNvPr id="11" name="右大括弧 10">
            <a:extLst>
              <a:ext uri="{FF2B5EF4-FFF2-40B4-BE49-F238E27FC236}">
                <a16:creationId xmlns:a16="http://schemas.microsoft.com/office/drawing/2014/main" id="{C464BB94-372C-B179-D5F7-6AE0350AEEAD}"/>
              </a:ext>
            </a:extLst>
          </p:cNvPr>
          <p:cNvSpPr/>
          <p:nvPr/>
        </p:nvSpPr>
        <p:spPr>
          <a:xfrm>
            <a:off x="10208933" y="2219570"/>
            <a:ext cx="373278" cy="378268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1308AD-23F9-38D9-01C1-65B82F326E5B}"/>
              </a:ext>
            </a:extLst>
          </p:cNvPr>
          <p:cNvSpPr txBox="1"/>
          <p:nvPr/>
        </p:nvSpPr>
        <p:spPr>
          <a:xfrm>
            <a:off x="9221270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523BCF-B66F-E8AC-9A84-60D173C23F3A}"/>
              </a:ext>
            </a:extLst>
          </p:cNvPr>
          <p:cNvSpPr txBox="1"/>
          <p:nvPr/>
        </p:nvSpPr>
        <p:spPr>
          <a:xfrm>
            <a:off x="10582211" y="3807451"/>
            <a:ext cx="1166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Example</a:t>
            </a:r>
          </a:p>
          <a:p>
            <a:pPr algn="ctr"/>
            <a:r>
              <a:rPr kumimoji="1" lang="en-US" altLang="zh-TW" dirty="0"/>
              <a:t>Vocab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07A1373-A551-1DD6-9435-40AC274E81F5}"/>
              </a:ext>
            </a:extLst>
          </p:cNvPr>
          <p:cNvSpPr txBox="1"/>
          <p:nvPr/>
        </p:nvSpPr>
        <p:spPr>
          <a:xfrm>
            <a:off x="5720747" y="2502031"/>
            <a:ext cx="227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Words that have low probabilities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6C177ECE-4133-D8A9-615C-7F060621BB89}"/>
              </a:ext>
            </a:extLst>
          </p:cNvPr>
          <p:cNvCxnSpPr>
            <a:endCxn id="15" idx="2"/>
          </p:cNvCxnSpPr>
          <p:nvPr/>
        </p:nvCxnSpPr>
        <p:spPr>
          <a:xfrm flipV="1">
            <a:off x="4145472" y="3148362"/>
            <a:ext cx="2711975" cy="130542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76BCE8-7FF2-E53A-87AE-F4FDACAA4884}"/>
              </a:ext>
            </a:extLst>
          </p:cNvPr>
          <p:cNvSpPr txBox="1"/>
          <p:nvPr/>
        </p:nvSpPr>
        <p:spPr>
          <a:xfrm>
            <a:off x="8032675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31911054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B0C4F5-13AB-9D74-511D-40958F63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[Summary] Strategy for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2BA0B4-0E73-279A-C232-9D6A366C1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77C8A7-E80F-79B9-0194-674DF3B145E6}"/>
              </a:ext>
            </a:extLst>
          </p:cNvPr>
          <p:cNvSpPr txBox="1"/>
          <p:nvPr/>
        </p:nvSpPr>
        <p:spPr>
          <a:xfrm>
            <a:off x="7218336" y="2125755"/>
            <a:ext cx="172665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Bolivian</a:t>
            </a:r>
          </a:p>
          <a:p>
            <a:r>
              <a:rPr kumimoji="1" lang="en-US" altLang="zh-TW" dirty="0"/>
              <a:t>Chinese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Egyptian</a:t>
            </a:r>
          </a:p>
          <a:p>
            <a:r>
              <a:rPr kumimoji="1" lang="en-US" altLang="zh-TW" dirty="0"/>
              <a:t>...</a:t>
            </a:r>
            <a:endParaRPr kumimoji="1" lang="en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/>
              <a:t>...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Scottish</a:t>
            </a:r>
          </a:p>
          <a:p>
            <a:r>
              <a:rPr kumimoji="1" lang="en-US" altLang="zh-TW" dirty="0"/>
              <a:t>English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CD191E-CE16-A19D-7365-E2984132E6F8}"/>
              </a:ext>
            </a:extLst>
          </p:cNvPr>
          <p:cNvSpPr txBox="1"/>
          <p:nvPr/>
        </p:nvSpPr>
        <p:spPr>
          <a:xfrm>
            <a:off x="8293450" y="2125755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0.0011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0.0012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0.0013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0.09</a:t>
            </a:r>
          </a:p>
          <a:p>
            <a:r>
              <a:rPr kumimoji="1" lang="en-US" altLang="zh-TW" dirty="0"/>
              <a:t>0.10</a:t>
            </a:r>
          </a:p>
        </p:txBody>
      </p:sp>
      <p:sp>
        <p:nvSpPr>
          <p:cNvPr id="11" name="右大括弧 10">
            <a:extLst>
              <a:ext uri="{FF2B5EF4-FFF2-40B4-BE49-F238E27FC236}">
                <a16:creationId xmlns:a16="http://schemas.microsoft.com/office/drawing/2014/main" id="{C464BB94-372C-B179-D5F7-6AE0350AEEAD}"/>
              </a:ext>
            </a:extLst>
          </p:cNvPr>
          <p:cNvSpPr/>
          <p:nvPr/>
        </p:nvSpPr>
        <p:spPr>
          <a:xfrm>
            <a:off x="9266249" y="2219570"/>
            <a:ext cx="373278" cy="150401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2A74CFE-0465-2409-63BD-5548D219685F}"/>
              </a:ext>
            </a:extLst>
          </p:cNvPr>
          <p:cNvSpPr txBox="1"/>
          <p:nvPr/>
        </p:nvSpPr>
        <p:spPr>
          <a:xfrm>
            <a:off x="7129787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1308AD-23F9-38D9-01C1-65B82F326E5B}"/>
              </a:ext>
            </a:extLst>
          </p:cNvPr>
          <p:cNvSpPr txBox="1"/>
          <p:nvPr/>
        </p:nvSpPr>
        <p:spPr>
          <a:xfrm>
            <a:off x="8278586" y="17301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523BCF-B66F-E8AC-9A84-60D173C23F3A}"/>
              </a:ext>
            </a:extLst>
          </p:cNvPr>
          <p:cNvSpPr txBox="1"/>
          <p:nvPr/>
        </p:nvSpPr>
        <p:spPr>
          <a:xfrm>
            <a:off x="9630100" y="2247851"/>
            <a:ext cx="21564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Bad</a:t>
            </a:r>
            <a:r>
              <a:rPr kumimoji="1" lang="zh-TW" altLang="en-US" dirty="0"/>
              <a:t> </a:t>
            </a:r>
            <a:r>
              <a:rPr kumimoji="1" lang="en-US" altLang="zh-TW" dirty="0"/>
              <a:t>candidates</a:t>
            </a: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可能有很多字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但機率總和才</a:t>
            </a:r>
            <a:r>
              <a:rPr kumimoji="1" lang="en-US" altLang="zh-TW" dirty="0"/>
              <a:t>10%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7A37CB2-1EAE-DB3A-5FFB-08F8374CB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10" y="1931920"/>
            <a:ext cx="5668636" cy="2100963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CA4BC07-AE50-BCD6-0E7D-78554C3B0062}"/>
              </a:ext>
            </a:extLst>
          </p:cNvPr>
          <p:cNvSpPr/>
          <p:nvPr/>
        </p:nvSpPr>
        <p:spPr>
          <a:xfrm>
            <a:off x="2845646" y="2561946"/>
            <a:ext cx="727113" cy="21896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右大括弧 16">
            <a:extLst>
              <a:ext uri="{FF2B5EF4-FFF2-40B4-BE49-F238E27FC236}">
                <a16:creationId xmlns:a16="http://schemas.microsoft.com/office/drawing/2014/main" id="{DF3D1B42-5364-00A6-17D0-CEFCD8242D3B}"/>
              </a:ext>
            </a:extLst>
          </p:cNvPr>
          <p:cNvSpPr/>
          <p:nvPr/>
        </p:nvSpPr>
        <p:spPr>
          <a:xfrm>
            <a:off x="9266493" y="5175325"/>
            <a:ext cx="373278" cy="79796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3FDF950-88EC-93AD-3506-082B63A7CB05}"/>
              </a:ext>
            </a:extLst>
          </p:cNvPr>
          <p:cNvSpPr txBox="1"/>
          <p:nvPr/>
        </p:nvSpPr>
        <p:spPr>
          <a:xfrm>
            <a:off x="9639527" y="5115952"/>
            <a:ext cx="21564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Good</a:t>
            </a:r>
            <a:r>
              <a:rPr kumimoji="1" lang="zh-TW" altLang="en-US" dirty="0"/>
              <a:t> </a:t>
            </a:r>
            <a:r>
              <a:rPr kumimoji="1" lang="en-US" altLang="zh-TW" dirty="0"/>
              <a:t>candidates</a:t>
            </a: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可能沒有很多字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但機率總和有</a:t>
            </a:r>
            <a:r>
              <a:rPr kumimoji="1" lang="en-US" altLang="zh-TW" dirty="0"/>
              <a:t>90%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5773023-9ED0-C115-AD19-A67A0677BCCB}"/>
              </a:ext>
            </a:extLst>
          </p:cNvPr>
          <p:cNvSpPr txBox="1"/>
          <p:nvPr/>
        </p:nvSpPr>
        <p:spPr>
          <a:xfrm>
            <a:off x="694272" y="5450073"/>
            <a:ext cx="5361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>
                <a:solidFill>
                  <a:srgbClr val="FF0000"/>
                </a:solidFill>
              </a:rPr>
              <a:t>Let’s truncate the vocabulary!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E826F43-6397-B33C-F3BC-ECC2D416ADA1}"/>
              </a:ext>
            </a:extLst>
          </p:cNvPr>
          <p:cNvSpPr/>
          <p:nvPr/>
        </p:nvSpPr>
        <p:spPr>
          <a:xfrm>
            <a:off x="7060676" y="4939645"/>
            <a:ext cx="4735256" cy="13480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94685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38BD1-A353-EDA6-7142-F0C754E85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Summary and the Thinking Route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9E5F79-B867-B1A7-5565-CAD8DF064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ABA2D3-F549-1738-AAEB-A5C79291133B}"/>
              </a:ext>
            </a:extLst>
          </p:cNvPr>
          <p:cNvSpPr/>
          <p:nvPr/>
        </p:nvSpPr>
        <p:spPr>
          <a:xfrm>
            <a:off x="2114550" y="2972380"/>
            <a:ext cx="1600200" cy="74295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Beam Search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44E4D143-7756-D108-26AD-715858B9C4D4}"/>
              </a:ext>
            </a:extLst>
          </p:cNvPr>
          <p:cNvSpPr/>
          <p:nvPr/>
        </p:nvSpPr>
        <p:spPr>
          <a:xfrm>
            <a:off x="2114550" y="1810802"/>
            <a:ext cx="1600200" cy="7429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Greedy Decoding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5A18AFC-D84A-E3D2-6414-F54CDABDF091}"/>
              </a:ext>
            </a:extLst>
          </p:cNvPr>
          <p:cNvSpPr/>
          <p:nvPr/>
        </p:nvSpPr>
        <p:spPr>
          <a:xfrm>
            <a:off x="2114550" y="4133958"/>
            <a:ext cx="1600200" cy="742950"/>
          </a:xfrm>
          <a:prstGeom prst="round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BF1A92F-7143-5C58-56BE-B63FF3C7BB1C}"/>
              </a:ext>
            </a:extLst>
          </p:cNvPr>
          <p:cNvSpPr/>
          <p:nvPr/>
        </p:nvSpPr>
        <p:spPr>
          <a:xfrm>
            <a:off x="2114550" y="5295536"/>
            <a:ext cx="1600200" cy="742950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Truncated</a:t>
            </a:r>
            <a:r>
              <a:rPr kumimoji="1" lang="en-US" altLang="zh-TW" dirty="0">
                <a:solidFill>
                  <a:schemeClr val="tx1"/>
                </a:solidFill>
              </a:rPr>
              <a:t> Sampling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ABDF74E-6D39-CA74-25B8-80EA51C1A7BE}"/>
              </a:ext>
            </a:extLst>
          </p:cNvPr>
          <p:cNvCxnSpPr>
            <a:cxnSpLocks/>
          </p:cNvCxnSpPr>
          <p:nvPr/>
        </p:nvCxnSpPr>
        <p:spPr>
          <a:xfrm>
            <a:off x="3714750" y="2090837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肘形接點 6">
            <a:extLst>
              <a:ext uri="{FF2B5EF4-FFF2-40B4-BE49-F238E27FC236}">
                <a16:creationId xmlns:a16="http://schemas.microsoft.com/office/drawing/2014/main" id="{F7B4984B-1377-B4FD-FA27-71A287A854F9}"/>
              </a:ext>
            </a:extLst>
          </p:cNvPr>
          <p:cNvCxnSpPr>
            <a:cxnSpLocks/>
          </p:cNvCxnSpPr>
          <p:nvPr/>
        </p:nvCxnSpPr>
        <p:spPr>
          <a:xfrm>
            <a:off x="3727450" y="3327239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肘形接點 7">
            <a:extLst>
              <a:ext uri="{FF2B5EF4-FFF2-40B4-BE49-F238E27FC236}">
                <a16:creationId xmlns:a16="http://schemas.microsoft.com/office/drawing/2014/main" id="{19788496-611F-9C41-8B25-569410397D8B}"/>
              </a:ext>
            </a:extLst>
          </p:cNvPr>
          <p:cNvCxnSpPr>
            <a:cxnSpLocks/>
          </p:cNvCxnSpPr>
          <p:nvPr/>
        </p:nvCxnSpPr>
        <p:spPr>
          <a:xfrm>
            <a:off x="3740150" y="4566157"/>
            <a:ext cx="12700" cy="1161578"/>
          </a:xfrm>
          <a:prstGeom prst="bentConnector3">
            <a:avLst>
              <a:gd name="adj1" fmla="val 459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7512EA-58D1-EC73-C4F0-05814C014790}"/>
              </a:ext>
            </a:extLst>
          </p:cNvPr>
          <p:cNvSpPr txBox="1"/>
          <p:nvPr/>
        </p:nvSpPr>
        <p:spPr>
          <a:xfrm>
            <a:off x="4502380" y="2326049"/>
            <a:ext cx="6054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Greedy decoding always selects the best choice at each time step and becomes problematic for early mistakes.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10C92C5-8453-E0DA-30D7-9CF4F05FC5C9}"/>
              </a:ext>
            </a:extLst>
          </p:cNvPr>
          <p:cNvSpPr txBox="1"/>
          <p:nvPr/>
        </p:nvSpPr>
        <p:spPr>
          <a:xfrm>
            <a:off x="4502380" y="3715330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Models can fall into repetitive loops with beam search, especially for longer text.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A58DF5-579F-1D84-3AC6-F63C4C753FA3}"/>
              </a:ext>
            </a:extLst>
          </p:cNvPr>
          <p:cNvSpPr txBox="1"/>
          <p:nvPr/>
        </p:nvSpPr>
        <p:spPr>
          <a:xfrm>
            <a:off x="4565880" y="4835210"/>
            <a:ext cx="5334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Random sampling takes words with low probabilities into considerations.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650658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/>
              <a:t>Top-p </a:t>
            </a:r>
            <a:r>
              <a:rPr kumimoji="1" lang="en-US" altLang="zh-TW" dirty="0"/>
              <a:t>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/>
              <p:nvPr/>
            </p:nvSpPr>
            <p:spPr>
              <a:xfrm>
                <a:off x="4245000" y="4223179"/>
                <a:ext cx="3399837" cy="6828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</m:oMath>
                  </m:oMathPara>
                </a14:m>
                <a:endParaRPr kumimoji="1" lang="zh-TW" altLang="en-US" sz="16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000" y="4223179"/>
                <a:ext cx="3399837" cy="682879"/>
              </a:xfrm>
              <a:prstGeom prst="rect">
                <a:avLst/>
              </a:prstGeom>
              <a:blipFill>
                <a:blip r:embed="rId2"/>
                <a:stretch>
                  <a:fillRect l="-32090" t="-203636" r="-746" b="-28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/>
              <p:nvPr/>
            </p:nvSpPr>
            <p:spPr>
              <a:xfrm>
                <a:off x="653143" y="2202855"/>
                <a:ext cx="1091837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Core idea: truncate the vocabulary based on 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probability mass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Steps:</a:t>
                </a:r>
              </a:p>
              <a:p>
                <a:pPr marL="914400" lvl="1" indent="-457200" algn="just">
                  <a:buFont typeface="+mj-lt"/>
                  <a:buAutoNum type="arabicPeriod"/>
                </a:pPr>
                <a:r>
                  <a:rPr kumimoji="1" lang="en-US" altLang="zh-TW" sz="2400" dirty="0">
                    <a:solidFill>
                      <a:schemeClr val="tx1"/>
                    </a:solidFill>
                  </a:rPr>
                  <a:t>Define a value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 as the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probability</a:t>
                </a:r>
                <a:r>
                  <a:rPr kumimoji="1" lang="en-US" altLang="zh-TW" sz="2400" dirty="0">
                    <a:solidFill>
                      <a:schemeClr val="tx1"/>
                    </a:solidFill>
                  </a:rPr>
                  <a:t> threshold.</a:t>
                </a:r>
              </a:p>
              <a:p>
                <a:pPr marL="914400" lvl="1" indent="-457200" algn="just">
                  <a:buFont typeface="+mj-lt"/>
                  <a:buAutoNum type="arabicPeriod"/>
                </a:pP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Truncate the vocabulary whose sum of probabilities is greater than </a:t>
                </a:r>
                <a:r>
                  <a:rPr kumimoji="1" lang="en-US" altLang="zh-TW" sz="2400" i="1" dirty="0">
                    <a:solidFill>
                      <a:srgbClr val="FF0000"/>
                    </a:solidFill>
                  </a:rPr>
                  <a:t>p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 :</a:t>
                </a: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202855"/>
                <a:ext cx="10918370" cy="1569660"/>
              </a:xfrm>
              <a:prstGeom prst="rect">
                <a:avLst/>
              </a:prstGeom>
              <a:blipFill>
                <a:blip r:embed="rId3"/>
                <a:stretch>
                  <a:fillRect l="-697" t="-3200" b="-72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549D9B9-02A0-D4FC-C5B2-A385CEB31CCA}"/>
                  </a:ext>
                </a:extLst>
              </p:cNvPr>
              <p:cNvSpPr txBox="1"/>
              <p:nvPr/>
            </p:nvSpPr>
            <p:spPr>
              <a:xfrm>
                <a:off x="1970525" y="5293220"/>
                <a:ext cx="8642429" cy="86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2400" dirty="0">
                    <a:solidFill>
                      <a:schemeClr val="tx1"/>
                    </a:solidFill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⊂</m:t>
                    </m:r>
                    <m:r>
                      <a:rPr kumimoji="1"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 is the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smallest</a:t>
                </a:r>
                <a:r>
                  <a:rPr kumimoji="1" lang="en-US" altLang="zh-TW" sz="2400" dirty="0">
                    <a:solidFill>
                      <a:schemeClr val="tx1"/>
                    </a:solidFill>
                  </a:rPr>
                  <a:t> set that fulfills the equation.</a:t>
                </a:r>
              </a:p>
              <a:p>
                <a:r>
                  <a:rPr kumimoji="1" lang="en-US" altLang="zh-TW" sz="2400" dirty="0">
                    <a:solidFill>
                      <a:schemeClr val="tx1"/>
                    </a:solidFill>
                  </a:rPr>
                  <a:t>Now you get a new truncated vocabulary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</a:rPr>
                  <a:t>.</a:t>
                </a:r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549D9B9-02A0-D4FC-C5B2-A385CEB31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525" y="5293220"/>
                <a:ext cx="8642429" cy="861646"/>
              </a:xfrm>
              <a:prstGeom prst="rect">
                <a:avLst/>
              </a:prstGeom>
              <a:blipFill>
                <a:blip r:embed="rId4"/>
                <a:stretch>
                  <a:fillRect l="-1175" t="-2899" b="-159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799C3715-261F-F7B7-BA8F-C6A3108F2959}"/>
              </a:ext>
            </a:extLst>
          </p:cNvPr>
          <p:cNvSpPr txBox="1"/>
          <p:nvPr/>
        </p:nvSpPr>
        <p:spPr>
          <a:xfrm>
            <a:off x="5944918" y="666229"/>
            <a:ext cx="5848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Representations. 2020.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98AF4CD-D1E6-1253-C5DC-C025561341A5}"/>
              </a:ext>
            </a:extLst>
          </p:cNvPr>
          <p:cNvSpPr txBox="1"/>
          <p:nvPr/>
        </p:nvSpPr>
        <p:spPr>
          <a:xfrm>
            <a:off x="653143" y="1688191"/>
            <a:ext cx="109183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又稱作 </a:t>
            </a:r>
            <a:r>
              <a:rPr kumimoji="1" lang="en-US" altLang="zh-TW" sz="2400" dirty="0"/>
              <a:t>Nucleus Sampling</a:t>
            </a:r>
            <a:endParaRPr kumimoji="1" lang="en-US" altLang="zh-TW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3745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Top-p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21A175-86C9-C16F-87A1-2527A6135131}"/>
                  </a:ext>
                </a:extLst>
              </p:cNvPr>
              <p:cNvSpPr txBox="1"/>
              <p:nvPr/>
            </p:nvSpPr>
            <p:spPr>
              <a:xfrm>
                <a:off x="4723831" y="5454399"/>
                <a:ext cx="4791633" cy="6865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1" lang="en-US" altLang="zh-TW" sz="200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e>
                          <m:sSub>
                            <m:sSubPr>
                              <m:ctrlP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kumimoji="1"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kumimoji="1"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′)</m:t>
                              </m:r>
                            </m:e>
                            <m:e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21A175-86C9-C16F-87A1-2527A6135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831" y="5454399"/>
                <a:ext cx="4791633" cy="686535"/>
              </a:xfrm>
              <a:prstGeom prst="rect">
                <a:avLst/>
              </a:prstGeom>
              <a:blipFill>
                <a:blip r:embed="rId2"/>
                <a:stretch>
                  <a:fillRect t="-225455" b="-32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164C81-9C98-1FED-D812-CFC4C57FEB06}"/>
                  </a:ext>
                </a:extLst>
              </p:cNvPr>
              <p:cNvSpPr txBox="1"/>
              <p:nvPr/>
            </p:nvSpPr>
            <p:spPr>
              <a:xfrm>
                <a:off x="8882642" y="5475560"/>
                <a:ext cx="2205990" cy="4129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000" dirty="0"/>
                  <a:t>if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6164C81-9C98-1FED-D812-CFC4C57FE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642" y="5475560"/>
                <a:ext cx="2205990" cy="412934"/>
              </a:xfrm>
              <a:prstGeom prst="rect">
                <a:avLst/>
              </a:prstGeom>
              <a:blipFill>
                <a:blip r:embed="rId3"/>
                <a:stretch>
                  <a:fillRect l="-2857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170D7B6E-F39B-BD00-604E-5AF99C28D756}"/>
              </a:ext>
            </a:extLst>
          </p:cNvPr>
          <p:cNvSpPr txBox="1"/>
          <p:nvPr/>
        </p:nvSpPr>
        <p:spPr>
          <a:xfrm>
            <a:off x="8890442" y="5786317"/>
            <a:ext cx="2205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otherwise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/>
              <p:nvPr/>
            </p:nvSpPr>
            <p:spPr>
              <a:xfrm>
                <a:off x="4467775" y="4615428"/>
                <a:ext cx="4791633" cy="5690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6D54A39-D928-2CBC-8D9F-03F37CB4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775" y="4615428"/>
                <a:ext cx="4791633" cy="569067"/>
              </a:xfrm>
              <a:prstGeom prst="rect">
                <a:avLst/>
              </a:prstGeom>
              <a:blipFill>
                <a:blip r:embed="rId4"/>
                <a:stretch>
                  <a:fillRect t="-200000" b="-2804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/>
              <p:nvPr/>
            </p:nvSpPr>
            <p:spPr>
              <a:xfrm>
                <a:off x="653144" y="1659408"/>
                <a:ext cx="10918370" cy="26497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Core idea: truncate the vocabulary based on 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probability mass</a:t>
                </a:r>
                <a:endParaRPr kumimoji="1" lang="en-US" altLang="zh-TW" sz="2400" dirty="0"/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Steps:</a:t>
                </a:r>
                <a:endParaRPr kumimoji="1" lang="en-US" altLang="zh-TW" sz="2400" dirty="0">
                  <a:solidFill>
                    <a:srgbClr val="FF0000"/>
                  </a:solidFill>
                </a:endParaRPr>
              </a:p>
              <a:p>
                <a:pPr lvl="1" algn="just">
                  <a:lnSpc>
                    <a:spcPct val="150000"/>
                  </a:lnSpc>
                </a:pPr>
                <a:r>
                  <a:rPr kumimoji="1" lang="en-US" altLang="zh-TW" sz="2400" dirty="0"/>
                  <a:t>3. Re-build the probability distribution based on the following normalization:</a:t>
                </a: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3-1. 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把</a:t>
                </a: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的機率值加總</a:t>
                </a:r>
                <a:endParaRPr kumimoji="1" lang="en-US" altLang="zh-TW" sz="24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3-2.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內的每個機率值</a:t>
                </a:r>
                <a:r>
                  <a:rPr kumimoji="1" lang="en-US" altLang="zh-TW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/</a:t>
                </a:r>
                <a:r>
                  <a:rPr kumimoji="1" lang="zh-TW" altLang="en-US" sz="24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加總</a:t>
                </a:r>
                <a:endParaRPr kumimoji="1" lang="en-US" altLang="zh-TW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0E6B305-D625-C6BC-15A3-6D8195F2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59408"/>
                <a:ext cx="10918370" cy="2649700"/>
              </a:xfrm>
              <a:prstGeom prst="rect">
                <a:avLst/>
              </a:prstGeom>
              <a:blipFill>
                <a:blip r:embed="rId5"/>
                <a:stretch>
                  <a:fillRect l="-697" t="-1905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5141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018C0-1A9F-B638-8E44-34573FB1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機率重新調整 </a:t>
            </a:r>
            <a:r>
              <a:rPr kumimoji="1" lang="en-US" altLang="zh-TW" dirty="0">
                <a:ea typeface="Microsoft JhengHei" panose="020B0604030504040204" pitchFamily="34" charset="-120"/>
              </a:rPr>
              <a:t>toy example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A4BC89-14C5-3062-55C0-5137E485A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E2A1081-1C84-EB88-9D9D-D7EB34B1283F}"/>
              </a:ext>
            </a:extLst>
          </p:cNvPr>
          <p:cNvSpPr/>
          <p:nvPr/>
        </p:nvSpPr>
        <p:spPr>
          <a:xfrm>
            <a:off x="876300" y="1946910"/>
            <a:ext cx="3299460" cy="1863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D168C0-408B-7FDA-0279-3264F7B8821F}"/>
              </a:ext>
            </a:extLst>
          </p:cNvPr>
          <p:cNvSpPr txBox="1"/>
          <p:nvPr/>
        </p:nvSpPr>
        <p:spPr>
          <a:xfrm>
            <a:off x="4876799" y="2461260"/>
            <a:ext cx="2749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任意門的機率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1/4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94D70EE-F83B-5661-9B7B-DD4C88A4FFDA}"/>
              </a:ext>
            </a:extLst>
          </p:cNvPr>
          <p:cNvSpPr txBox="1"/>
          <p:nvPr/>
        </p:nvSpPr>
        <p:spPr>
          <a:xfrm>
            <a:off x="4876799" y="4713208"/>
            <a:ext cx="517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任意門的機率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  <a:endParaRPr kumimoji="1"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4D5D61C-4B52-8B94-9588-1F9CF3142572}"/>
              </a:ext>
            </a:extLst>
          </p:cNvPr>
          <p:cNvSpPr txBox="1"/>
          <p:nvPr/>
        </p:nvSpPr>
        <p:spPr>
          <a:xfrm>
            <a:off x="1322070" y="2630805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7C88FFF-A5E3-5A0D-C939-75FFFA284A8E}"/>
              </a:ext>
            </a:extLst>
          </p:cNvPr>
          <p:cNvSpPr txBox="1"/>
          <p:nvPr/>
        </p:nvSpPr>
        <p:spPr>
          <a:xfrm>
            <a:off x="1714500" y="3242862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47DF1E9-EA9E-A3EE-ECE9-3915384D48CB}"/>
              </a:ext>
            </a:extLst>
          </p:cNvPr>
          <p:cNvSpPr txBox="1"/>
          <p:nvPr/>
        </p:nvSpPr>
        <p:spPr>
          <a:xfrm>
            <a:off x="3173730" y="3185398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C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AE5BA1D7-DF11-C97A-A923-391E8EA1C771}"/>
              </a:ext>
            </a:extLst>
          </p:cNvPr>
          <p:cNvSpPr/>
          <p:nvPr/>
        </p:nvSpPr>
        <p:spPr>
          <a:xfrm>
            <a:off x="1676400" y="5011297"/>
            <a:ext cx="350520" cy="3505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28FA5CF7-956B-3286-1C78-B96F220F6249}"/>
              </a:ext>
            </a:extLst>
          </p:cNvPr>
          <p:cNvSpPr/>
          <p:nvPr/>
        </p:nvSpPr>
        <p:spPr>
          <a:xfrm>
            <a:off x="2125980" y="5598038"/>
            <a:ext cx="350520" cy="3505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86656436-4103-EBFD-4886-08B64FEB561A}"/>
              </a:ext>
            </a:extLst>
          </p:cNvPr>
          <p:cNvSpPr txBox="1"/>
          <p:nvPr/>
        </p:nvSpPr>
        <p:spPr>
          <a:xfrm>
            <a:off x="1322070" y="5058922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DB9FECC-1021-7A5B-4E22-AA0533C075B6}"/>
              </a:ext>
            </a:extLst>
          </p:cNvPr>
          <p:cNvSpPr txBox="1"/>
          <p:nvPr/>
        </p:nvSpPr>
        <p:spPr>
          <a:xfrm>
            <a:off x="1764030" y="5569462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AB1E5AD-9720-7825-51AF-C6C667245077}"/>
              </a:ext>
            </a:extLst>
          </p:cNvPr>
          <p:cNvSpPr txBox="1"/>
          <p:nvPr/>
        </p:nvSpPr>
        <p:spPr>
          <a:xfrm>
            <a:off x="4876800" y="5121906"/>
            <a:ext cx="5304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竹蜻蜓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</a:p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竹蜻蜓Ｂ機率</a:t>
            </a:r>
            <a:r>
              <a:rPr kumimoji="1" lang="zh-TW" altLang="en-US" dirty="0"/>
              <a:t>：</a:t>
            </a:r>
            <a:r>
              <a:rPr kumimoji="1" lang="en-US" altLang="zh-TW" dirty="0"/>
              <a:t>0.25 / (0.25+0.25+0.25) = 1/3</a:t>
            </a:r>
            <a:endParaRPr kumimoji="1" lang="zh-TW" altLang="en-US" dirty="0"/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51F42EB1-CE8F-D25E-D278-168B116E48FC}"/>
              </a:ext>
            </a:extLst>
          </p:cNvPr>
          <p:cNvGrpSpPr/>
          <p:nvPr/>
        </p:nvGrpSpPr>
        <p:grpSpPr>
          <a:xfrm>
            <a:off x="2781300" y="3018852"/>
            <a:ext cx="563880" cy="458466"/>
            <a:chOff x="3192780" y="2330900"/>
            <a:chExt cx="563880" cy="458466"/>
          </a:xfrm>
        </p:grpSpPr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4C5D9A7C-D568-A11B-7937-0E6158B9BC0C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4F80CAF4-39EE-DB77-A2D0-42E81CB5F123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72ED4F9-BEF5-3528-B7BF-82D8C93DC781}"/>
              </a:ext>
            </a:extLst>
          </p:cNvPr>
          <p:cNvGrpSpPr/>
          <p:nvPr/>
        </p:nvGrpSpPr>
        <p:grpSpPr>
          <a:xfrm>
            <a:off x="1914525" y="3115590"/>
            <a:ext cx="563880" cy="458466"/>
            <a:chOff x="3192780" y="2330900"/>
            <a:chExt cx="563880" cy="458466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B5CC43DA-949A-5963-1967-0B75970CB21D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522ECEEF-3A8B-DED8-6097-09E2A0FDCC3B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4B3FD234-7A94-2F1F-1991-1020E3294E2B}"/>
              </a:ext>
            </a:extLst>
          </p:cNvPr>
          <p:cNvGrpSpPr/>
          <p:nvPr/>
        </p:nvGrpSpPr>
        <p:grpSpPr>
          <a:xfrm>
            <a:off x="1451610" y="2523749"/>
            <a:ext cx="563880" cy="458466"/>
            <a:chOff x="3192780" y="2330900"/>
            <a:chExt cx="563880" cy="458466"/>
          </a:xfrm>
        </p:grpSpPr>
        <p:cxnSp>
          <p:nvCxnSpPr>
            <p:cNvPr id="47" name="直線接點 46">
              <a:extLst>
                <a:ext uri="{FF2B5EF4-FFF2-40B4-BE49-F238E27FC236}">
                  <a16:creationId xmlns:a16="http://schemas.microsoft.com/office/drawing/2014/main" id="{98277F3E-117A-31A9-8B45-B1C494804F38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934B781E-9AA2-9067-DA22-5576FD0136F0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圖形 49" descr="關上的門 以實心填滿">
            <a:extLst>
              <a:ext uri="{FF2B5EF4-FFF2-40B4-BE49-F238E27FC236}">
                <a16:creationId xmlns:a16="http://schemas.microsoft.com/office/drawing/2014/main" id="{9B9CDD66-3378-434B-FBDD-303D6AF3E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280" y="2243269"/>
            <a:ext cx="560960" cy="560960"/>
          </a:xfrm>
          <a:prstGeom prst="rect">
            <a:avLst/>
          </a:prstGeom>
        </p:spPr>
      </p:pic>
      <p:sp>
        <p:nvSpPr>
          <p:cNvPr id="51" name="橢圓 50">
            <a:extLst>
              <a:ext uri="{FF2B5EF4-FFF2-40B4-BE49-F238E27FC236}">
                <a16:creationId xmlns:a16="http://schemas.microsoft.com/office/drawing/2014/main" id="{AA5703F0-2508-4D9B-82E1-8A7FA952DB9D}"/>
              </a:ext>
            </a:extLst>
          </p:cNvPr>
          <p:cNvSpPr/>
          <p:nvPr/>
        </p:nvSpPr>
        <p:spPr>
          <a:xfrm>
            <a:off x="876300" y="4485293"/>
            <a:ext cx="3299460" cy="1863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50EE90A9-B308-1DE7-A3DF-3356BB220B32}"/>
              </a:ext>
            </a:extLst>
          </p:cNvPr>
          <p:cNvSpPr txBox="1"/>
          <p:nvPr/>
        </p:nvSpPr>
        <p:spPr>
          <a:xfrm>
            <a:off x="1322070" y="5169188"/>
            <a:ext cx="4114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A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C7689753-FEDB-A6A5-0354-48BD74354D3E}"/>
              </a:ext>
            </a:extLst>
          </p:cNvPr>
          <p:cNvSpPr txBox="1"/>
          <p:nvPr/>
        </p:nvSpPr>
        <p:spPr>
          <a:xfrm>
            <a:off x="1714500" y="5781245"/>
            <a:ext cx="41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/>
                </a:solidFill>
              </a:rPr>
              <a:t>B</a:t>
            </a:r>
            <a:endParaRPr kumimoji="1" lang="zh-TW" altLang="en-US" dirty="0">
              <a:solidFill>
                <a:schemeClr val="bg1"/>
              </a:solidFill>
            </a:endParaRP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B9D527F0-F63B-9D86-3A61-0B975A4A8E6E}"/>
              </a:ext>
            </a:extLst>
          </p:cNvPr>
          <p:cNvGrpSpPr/>
          <p:nvPr/>
        </p:nvGrpSpPr>
        <p:grpSpPr>
          <a:xfrm>
            <a:off x="1914525" y="5653973"/>
            <a:ext cx="563880" cy="458466"/>
            <a:chOff x="3192780" y="2330900"/>
            <a:chExt cx="563880" cy="458466"/>
          </a:xfrm>
        </p:grpSpPr>
        <p:cxnSp>
          <p:nvCxnSpPr>
            <p:cNvPr id="59" name="直線接點 58">
              <a:extLst>
                <a:ext uri="{FF2B5EF4-FFF2-40B4-BE49-F238E27FC236}">
                  <a16:creationId xmlns:a16="http://schemas.microsoft.com/office/drawing/2014/main" id="{03FEF4E6-492F-0E97-06E9-8A4C0C77421A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接點 59">
              <a:extLst>
                <a:ext uri="{FF2B5EF4-FFF2-40B4-BE49-F238E27FC236}">
                  <a16:creationId xmlns:a16="http://schemas.microsoft.com/office/drawing/2014/main" id="{2D1A9A2C-AB7C-F74D-8C0A-D2F4755932CD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B0F3F1FD-04E5-03A1-2CED-741770609A92}"/>
              </a:ext>
            </a:extLst>
          </p:cNvPr>
          <p:cNvGrpSpPr/>
          <p:nvPr/>
        </p:nvGrpSpPr>
        <p:grpSpPr>
          <a:xfrm>
            <a:off x="1451610" y="5062132"/>
            <a:ext cx="563880" cy="458466"/>
            <a:chOff x="3192780" y="2330900"/>
            <a:chExt cx="563880" cy="458466"/>
          </a:xfrm>
        </p:grpSpPr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A2A7F8C5-A5BC-ECDD-4151-5AEA767DC081}"/>
                </a:ext>
              </a:extLst>
            </p:cNvPr>
            <p:cNvCxnSpPr>
              <a:cxnSpLocks/>
            </p:cNvCxnSpPr>
            <p:nvPr/>
          </p:nvCxnSpPr>
          <p:spPr>
            <a:xfrm>
              <a:off x="3192780" y="2330900"/>
              <a:ext cx="563880" cy="644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接點 62">
              <a:extLst>
                <a:ext uri="{FF2B5EF4-FFF2-40B4-BE49-F238E27FC236}">
                  <a16:creationId xmlns:a16="http://schemas.microsoft.com/office/drawing/2014/main" id="{5BDE573F-8749-3952-0138-0F55724005EC}"/>
                </a:ext>
              </a:extLst>
            </p:cNvPr>
            <p:cNvCxnSpPr>
              <a:cxnSpLocks/>
            </p:cNvCxnSpPr>
            <p:nvPr/>
          </p:nvCxnSpPr>
          <p:spPr>
            <a:xfrm>
              <a:off x="3474720" y="2363122"/>
              <a:ext cx="0" cy="426244"/>
            </a:xfrm>
            <a:prstGeom prst="line">
              <a:avLst/>
            </a:prstGeom>
            <a:ln w="28575">
              <a:solidFill>
                <a:srgbClr val="FFBE3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4" name="圖形 1023" descr="關上的門 以實心填滿">
            <a:extLst>
              <a:ext uri="{FF2B5EF4-FFF2-40B4-BE49-F238E27FC236}">
                <a16:creationId xmlns:a16="http://schemas.microsoft.com/office/drawing/2014/main" id="{049267F0-385C-F770-4A38-C5EDD28152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280" y="4781652"/>
            <a:ext cx="560960" cy="56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38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/>
      <p:bldP spid="27" grpId="0" animBg="1"/>
      <p:bldP spid="29" grpId="0" animBg="1"/>
      <p:bldP spid="31" grpId="0"/>
      <p:bldP spid="32" grpId="0"/>
      <p:bldP spid="34" grpId="0"/>
      <p:bldP spid="51" grpId="0" animBg="1"/>
      <p:bldP spid="52" grpId="0"/>
      <p:bldP spid="5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216E0-0CF9-A7C5-AD66-52E381D32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Top-p Sampling example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7FA4B4-9F19-ADBB-13CD-580902154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3969D554-220C-0034-E39D-5C7488E709BD}"/>
              </a:ext>
            </a:extLst>
          </p:cNvPr>
          <p:cNvGraphicFramePr>
            <a:graphicFrameLocks noGrp="1"/>
          </p:cNvGraphicFramePr>
          <p:nvPr/>
        </p:nvGraphicFramePr>
        <p:xfrm>
          <a:off x="759382" y="2406812"/>
          <a:ext cx="3482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340">
                  <a:extLst>
                    <a:ext uri="{9D8B030D-6E8A-4147-A177-3AD203B41FA5}">
                      <a16:colId xmlns:a16="http://schemas.microsoft.com/office/drawing/2014/main" val="3107275244"/>
                    </a:ext>
                  </a:extLst>
                </a:gridCol>
                <a:gridCol w="1741340">
                  <a:extLst>
                    <a:ext uri="{9D8B030D-6E8A-4147-A177-3AD203B41FA5}">
                      <a16:colId xmlns:a16="http://schemas.microsoft.com/office/drawing/2014/main" val="3943062138"/>
                    </a:ext>
                  </a:extLst>
                </a:gridCol>
              </a:tblGrid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Token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Probability (p)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17145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471651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dog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465654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car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0.15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12913"/>
                  </a:ext>
                </a:extLst>
              </a:tr>
              <a:tr h="338965">
                <a:tc>
                  <a:txBody>
                    <a:bodyPr/>
                    <a:lstStyle/>
                    <a:p>
                      <a:r>
                        <a:rPr lang="en-US" altLang="zh-TW" dirty="0"/>
                        <a:t>book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0.05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494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704C636-4D8F-6CCC-F3E3-CC2D09557546}"/>
                  </a:ext>
                </a:extLst>
              </p:cNvPr>
              <p:cNvSpPr txBox="1"/>
              <p:nvPr/>
            </p:nvSpPr>
            <p:spPr>
              <a:xfrm>
                <a:off x="4939645" y="2875726"/>
                <a:ext cx="5099902" cy="7207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設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p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為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0.8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中只會有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cat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和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dog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兩個詞</a:t>
                </a: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704C636-4D8F-6CCC-F3E3-CC2D09557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645" y="2875726"/>
                <a:ext cx="5099902" cy="720710"/>
              </a:xfrm>
              <a:prstGeom prst="rect">
                <a:avLst/>
              </a:prstGeom>
              <a:blipFill>
                <a:blip r:embed="rId2"/>
                <a:stretch>
                  <a:fillRect l="-993" t="-517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9817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9FED-F36E-501B-F83A-B17BF4605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Top-k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A090CB-7F52-C9F5-4941-68BEC361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079F991-495E-FE42-0B09-D3DFE93BA962}"/>
                  </a:ext>
                </a:extLst>
              </p:cNvPr>
              <p:cNvSpPr txBox="1"/>
              <p:nvPr/>
            </p:nvSpPr>
            <p:spPr>
              <a:xfrm>
                <a:off x="653144" y="1638639"/>
                <a:ext cx="10357364" cy="3788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Core idea: truncate the vocabulary with </a:t>
                </a:r>
                <a:r>
                  <a:rPr kumimoji="1" lang="en-US" altLang="zh-TW" sz="2000" dirty="0">
                    <a:solidFill>
                      <a:srgbClr val="0070C0"/>
                    </a:solidFill>
                    <a:ea typeface="Microsoft JhengHei" panose="020B0604030504040204" pitchFamily="34" charset="-120"/>
                  </a:rPr>
                  <a:t>the most probable words</a:t>
                </a: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Steps: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Define a value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as the size of truncated vocabulary.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Leave the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words with the highest probabilities. Now you get a new truncated vocabulary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. (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假設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k=40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，那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就只剩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40</a:t>
                </a:r>
                <a:r>
                  <a:rPr kumimoji="1" lang="zh-TW" altLang="en-US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個</a:t>
                </a: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 tokens)</a:t>
                </a:r>
              </a:p>
              <a:p>
                <a:pPr marL="914400" lvl="1" indent="-4572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en-US" altLang="zh-TW" sz="2000" dirty="0">
                    <a:solidFill>
                      <a:schemeClr val="tx1"/>
                    </a:solidFill>
                    <a:ea typeface="Microsoft JhengHei" panose="020B0604030504040204" pitchFamily="34" charset="-120"/>
                  </a:rPr>
                  <a:t>Re-build the probability distribution based on the following normalization:</a:t>
                </a: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3-1. 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把</a:t>
                </a: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的機率值加總</a:t>
                </a:r>
                <a:endParaRPr kumimoji="1" lang="en-US" altLang="zh-TW" sz="20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  <a:p>
                <a:pPr lvl="2" algn="just">
                  <a:lnSpc>
                    <a:spcPct val="150000"/>
                  </a:lnSpc>
                </a:pP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3-2.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 內的每個機率值</a:t>
                </a:r>
                <a:r>
                  <a:rPr kumimoji="1" lang="en-US" altLang="zh-TW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/</a:t>
                </a:r>
                <a:r>
                  <a:rPr kumimoji="1" lang="zh-TW" altLang="en-US" sz="2000" dirty="0">
                    <a:solidFill>
                      <a:srgbClr val="FF0000"/>
                    </a:solidFill>
                    <a:ea typeface="Microsoft JhengHei" panose="020B0604030504040204" pitchFamily="34" charset="-120"/>
                  </a:rPr>
                  <a:t>加總</a:t>
                </a:r>
                <a:endParaRPr kumimoji="1" lang="en-US" altLang="zh-TW" sz="2000" dirty="0">
                  <a:solidFill>
                    <a:srgbClr val="FF0000"/>
                  </a:solidFill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079F991-495E-FE42-0B09-D3DFE93BA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38639"/>
                <a:ext cx="10357364" cy="3788666"/>
              </a:xfrm>
              <a:prstGeom prst="rect">
                <a:avLst/>
              </a:prstGeom>
              <a:blipFill>
                <a:blip r:embed="rId2"/>
                <a:stretch>
                  <a:fillRect l="-490" r="-735" b="-16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14D8C8A5-98C9-0442-07A6-A61E9E6E21C3}"/>
              </a:ext>
            </a:extLst>
          </p:cNvPr>
          <p:cNvGrpSpPr/>
          <p:nvPr/>
        </p:nvGrpSpPr>
        <p:grpSpPr>
          <a:xfrm>
            <a:off x="5882390" y="5484218"/>
            <a:ext cx="5719060" cy="732288"/>
            <a:chOff x="4893895" y="5194759"/>
            <a:chExt cx="5719060" cy="7322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8A26D608-1594-FEFA-01BC-40058A3120DE}"/>
                    </a:ext>
                  </a:extLst>
                </p:cNvPr>
                <p:cNvSpPr txBox="1"/>
                <p:nvPr/>
              </p:nvSpPr>
              <p:spPr>
                <a:xfrm>
                  <a:off x="4893895" y="5194759"/>
                  <a:ext cx="3450742" cy="68653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kumimoji="1"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kumimoji="1" lang="en-US" altLang="zh-TW" sz="200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p>
                            <m:r>
                              <a:rPr kumimoji="1" lang="en-US" altLang="zh-TW" sz="2000" b="0" i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1" lang="en-US" altLang="zh-TW" sz="20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e>
                            <m:sSub>
                              <m:sSubPr>
                                <m:ctrlP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  <m:r>
                          <a:rPr kumimoji="1" lang="en-US" altLang="zh-TW" sz="20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kumimoji="1"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kumimoji="1"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1:</m:t>
                                    </m:r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kumimoji="1"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)/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  <m:e>
                                <m:r>
                                  <a:rPr kumimoji="1" lang="en-US" altLang="zh-TW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kumimoji="1" lang="zh-TW" altLang="en-US" sz="2000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8A26D608-1594-FEFA-01BC-40058A312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3895" y="5194759"/>
                  <a:ext cx="3450742" cy="686535"/>
                </a:xfrm>
                <a:prstGeom prst="rect">
                  <a:avLst/>
                </a:prstGeom>
                <a:blipFill>
                  <a:blip r:embed="rId3"/>
                  <a:stretch>
                    <a:fillRect l="-735" t="-231481" r="-1838" b="-33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08E64718-DCDA-C7F3-A694-E3AA07FAD357}"/>
                    </a:ext>
                  </a:extLst>
                </p:cNvPr>
                <p:cNvSpPr txBox="1"/>
                <p:nvPr/>
              </p:nvSpPr>
              <p:spPr>
                <a:xfrm>
                  <a:off x="8398846" y="5212828"/>
                  <a:ext cx="2205990" cy="4129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zh-TW" sz="2000" dirty="0"/>
                    <a:t>if </a:t>
                  </a:r>
                  <a14:m>
                    <m:oMath xmlns:m="http://schemas.openxmlformats.org/officeDocument/2006/math">
                      <m:r>
                        <a:rPr kumimoji="1" lang="en-US" altLang="zh-TW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endParaRPr kumimoji="1" lang="zh-TW" altLang="en-US" sz="2000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08E64718-DCDA-C7F3-A694-E3AA07FAD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8846" y="5212828"/>
                  <a:ext cx="2205990" cy="412934"/>
                </a:xfrm>
                <a:prstGeom prst="rect">
                  <a:avLst/>
                </a:prstGeom>
                <a:blipFill>
                  <a:blip r:embed="rId4"/>
                  <a:stretch>
                    <a:fillRect l="-3448" t="-6061" b="-2727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D27A4DCD-A76E-1DFE-C4AB-4C5DF2827CDD}"/>
                </a:ext>
              </a:extLst>
            </p:cNvPr>
            <p:cNvSpPr txBox="1"/>
            <p:nvPr/>
          </p:nvSpPr>
          <p:spPr>
            <a:xfrm>
              <a:off x="8406965" y="5526937"/>
              <a:ext cx="22059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000" dirty="0"/>
                <a:t>otherwise</a:t>
              </a:r>
              <a:endParaRPr kumimoji="1" lang="zh-TW" altLang="en-US" sz="2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1DC8FF9-69EF-7839-8AE6-F42E90325D73}"/>
                  </a:ext>
                </a:extLst>
              </p:cNvPr>
              <p:cNvSpPr txBox="1"/>
              <p:nvPr/>
            </p:nvSpPr>
            <p:spPr>
              <a:xfrm>
                <a:off x="5618225" y="4790583"/>
                <a:ext cx="3450742" cy="5690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kumimoji="1" lang="en-US" altLang="zh-TW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TW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21DC8FF9-69EF-7839-8AE6-F42E90325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225" y="4790583"/>
                <a:ext cx="3450742" cy="569067"/>
              </a:xfrm>
              <a:prstGeom prst="rect">
                <a:avLst/>
              </a:prstGeom>
              <a:blipFill>
                <a:blip r:embed="rId5"/>
                <a:stretch>
                  <a:fillRect l="-2198" t="-204444" b="-28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3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0A13C010-5411-6155-5639-C3C0C1FE06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2279"/>
          <a:stretch/>
        </p:blipFill>
        <p:spPr>
          <a:xfrm>
            <a:off x="5219701" y="2572494"/>
            <a:ext cx="5956691" cy="330015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C8B1EC0-9BAD-9403-D501-16024AE6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Problem of Top-k Sampling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D9400D-E340-7BC3-4B50-23437CB82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9A732E6-6E7E-890C-11A1-97B156E8F7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7901"/>
          <a:stretch/>
        </p:blipFill>
        <p:spPr>
          <a:xfrm>
            <a:off x="936069" y="2572494"/>
            <a:ext cx="4344592" cy="33001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4E1E5B0-DDE4-5362-011A-ECD31ABA823C}"/>
              </a:ext>
            </a:extLst>
          </p:cNvPr>
          <p:cNvSpPr txBox="1"/>
          <p:nvPr/>
        </p:nvSpPr>
        <p:spPr>
          <a:xfrm>
            <a:off x="733277" y="1716149"/>
            <a:ext cx="9772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Top-k sampling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值需根據情況調整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282DAA-761C-34B6-27BB-7104DA1DF515}"/>
              </a:ext>
            </a:extLst>
          </p:cNvPr>
          <p:cNvSpPr txBox="1"/>
          <p:nvPr/>
        </p:nvSpPr>
        <p:spPr>
          <a:xfrm>
            <a:off x="397002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4CA9995-CAC8-3BB1-8968-F6D0C06384E6}"/>
              </a:ext>
            </a:extLst>
          </p:cNvPr>
          <p:cNvSpPr txBox="1"/>
          <p:nvPr/>
        </p:nvSpPr>
        <p:spPr>
          <a:xfrm>
            <a:off x="885444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6F20B48-625E-1B28-8070-870F5D55E1E5}"/>
              </a:ext>
            </a:extLst>
          </p:cNvPr>
          <p:cNvSpPr txBox="1"/>
          <p:nvPr/>
        </p:nvSpPr>
        <p:spPr>
          <a:xfrm>
            <a:off x="1020485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ea typeface="Microsoft JhengHei" panose="020B0604030504040204" pitchFamily="34" charset="-120"/>
              </a:rPr>
              <a:t>如果太小的話，容易錯過最正確的字 </a:t>
            </a:r>
            <a:r>
              <a:rPr kumimoji="1" lang="en-US" altLang="zh-TW" dirty="0">
                <a:ea typeface="Microsoft JhengHei" panose="020B0604030504040204" pitchFamily="34" charset="-120"/>
              </a:rPr>
              <a:t>-&gt; k</a:t>
            </a:r>
            <a:r>
              <a:rPr kumimoji="1" lang="zh-TW" altLang="en-US" dirty="0">
                <a:ea typeface="Microsoft JhengHei" panose="020B0604030504040204" pitchFamily="34" charset="-120"/>
              </a:rPr>
              <a:t> 要設大一點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8D41ED-41E2-EB4B-EB55-DA226326CDE4}"/>
              </a:ext>
            </a:extLst>
          </p:cNvPr>
          <p:cNvSpPr txBox="1"/>
          <p:nvPr/>
        </p:nvSpPr>
        <p:spPr>
          <a:xfrm>
            <a:off x="6128656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如果太大的話，容易取到與上下文無關的字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en-US" altLang="zh-TW" dirty="0"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ea typeface="Microsoft JhengHei" panose="020B0604030504040204" pitchFamily="34" charset="-120"/>
              </a:rPr>
              <a:t> 要設小一點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793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0A13C010-5411-6155-5639-C3C0C1FE06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2279"/>
          <a:stretch/>
        </p:blipFill>
        <p:spPr>
          <a:xfrm>
            <a:off x="5219701" y="2572494"/>
            <a:ext cx="5956691" cy="330015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C8B1EC0-9BAD-9403-D501-16024AE6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Problem of Top-k Sampling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看看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Top-p)</a:t>
            </a:r>
            <a:r>
              <a:rPr kumimoji="1" lang="en" altLang="zh-TW" dirty="0"/>
              <a:t>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D9400D-E340-7BC3-4B50-23437CB82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9A732E6-6E7E-890C-11A1-97B156E8F7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7901"/>
          <a:stretch/>
        </p:blipFill>
        <p:spPr>
          <a:xfrm>
            <a:off x="936069" y="2572494"/>
            <a:ext cx="4344592" cy="33001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4E1E5B0-DDE4-5362-011A-ECD31ABA823C}"/>
              </a:ext>
            </a:extLst>
          </p:cNvPr>
          <p:cNvSpPr txBox="1"/>
          <p:nvPr/>
        </p:nvSpPr>
        <p:spPr>
          <a:xfrm>
            <a:off x="733277" y="1716149"/>
            <a:ext cx="9772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假設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p =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0.9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282DAA-761C-34B6-27BB-7104DA1DF515}"/>
              </a:ext>
            </a:extLst>
          </p:cNvPr>
          <p:cNvSpPr txBox="1"/>
          <p:nvPr/>
        </p:nvSpPr>
        <p:spPr>
          <a:xfrm>
            <a:off x="397002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4CA9995-CAC8-3BB1-8968-F6D0C06384E6}"/>
              </a:ext>
            </a:extLst>
          </p:cNvPr>
          <p:cNvSpPr txBox="1"/>
          <p:nvPr/>
        </p:nvSpPr>
        <p:spPr>
          <a:xfrm>
            <a:off x="8854440" y="2461260"/>
            <a:ext cx="107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下一個機率值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6F20B48-625E-1B28-8070-870F5D55E1E5}"/>
              </a:ext>
            </a:extLst>
          </p:cNvPr>
          <p:cNvSpPr txBox="1"/>
          <p:nvPr/>
        </p:nvSpPr>
        <p:spPr>
          <a:xfrm>
            <a:off x="1020485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ea typeface="Microsoft JhengHei" panose="020B0604030504040204" pitchFamily="34" charset="-120"/>
              </a:rPr>
              <a:t>如果太小的話，容易錯過最正確的字 </a:t>
            </a:r>
            <a:r>
              <a:rPr kumimoji="1" lang="en-US" altLang="zh-TW" dirty="0">
                <a:ea typeface="Microsoft JhengHei" panose="020B0604030504040204" pitchFamily="34" charset="-120"/>
              </a:rPr>
              <a:t>-&gt;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 要設大一點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78D41ED-41E2-EB4B-EB55-DA226326CDE4}"/>
              </a:ext>
            </a:extLst>
          </p:cNvPr>
          <p:cNvSpPr txBox="1"/>
          <p:nvPr/>
        </p:nvSpPr>
        <p:spPr>
          <a:xfrm>
            <a:off x="6128656" y="5911120"/>
            <a:ext cx="417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k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如果太大的話，容易取到與上下文無關的字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k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 要設小一點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5378FA-9355-E42E-27AA-4431188F492A}"/>
              </a:ext>
            </a:extLst>
          </p:cNvPr>
          <p:cNvSpPr/>
          <p:nvPr/>
        </p:nvSpPr>
        <p:spPr>
          <a:xfrm>
            <a:off x="4119184" y="3274335"/>
            <a:ext cx="925256" cy="16939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13FC20-06A8-5512-C234-5B2EE4149C58}"/>
              </a:ext>
            </a:extLst>
          </p:cNvPr>
          <p:cNvSpPr/>
          <p:nvPr/>
        </p:nvSpPr>
        <p:spPr>
          <a:xfrm>
            <a:off x="9101664" y="3218825"/>
            <a:ext cx="1954955" cy="34733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3764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2" grpId="0" animBg="1"/>
      <p:bldP spid="1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55F246-EBF5-6D7F-6888-FE7FB326AF8B}"/>
              </a:ext>
            </a:extLst>
          </p:cNvPr>
          <p:cNvSpPr txBox="1"/>
          <p:nvPr/>
        </p:nvSpPr>
        <p:spPr>
          <a:xfrm>
            <a:off x="1005936" y="1638639"/>
            <a:ext cx="977255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When generating the next word, `</a:t>
            </a: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` is performed to get the probabilities among the words in the vocabulary.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 formula: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/>
              <p:nvPr/>
            </p:nvSpPr>
            <p:spPr>
              <a:xfrm>
                <a:off x="4937436" y="3335707"/>
                <a:ext cx="2378087" cy="102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kumimoji="1" lang="en-US" altLang="zh-TW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sup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436" y="3335707"/>
                <a:ext cx="2378087" cy="1025602"/>
              </a:xfrm>
              <a:prstGeom prst="rect">
                <a:avLst/>
              </a:prstGeom>
              <a:blipFill>
                <a:blip r:embed="rId2"/>
                <a:stretch>
                  <a:fillRect l="-24468" t="-15854" r="-5319" b="-1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/>
              <p:nvPr/>
            </p:nvSpPr>
            <p:spPr>
              <a:xfrm>
                <a:off x="1428750" y="4777740"/>
                <a:ext cx="565250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kumimoji="1" lang="en-US" altLang="zh-TW" sz="2400" dirty="0"/>
                  <a:t>: logits (model outputs before </a:t>
                </a:r>
                <a:r>
                  <a:rPr kumimoji="1" lang="en-US" altLang="zh-TW" sz="2400" dirty="0" err="1"/>
                  <a:t>softmax</a:t>
                </a:r>
                <a:r>
                  <a:rPr kumimoji="1" lang="en-US" altLang="zh-TW" sz="2400" dirty="0"/>
                  <a:t>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kumimoji="1" lang="en-US" altLang="zh-TW" sz="2400" dirty="0"/>
                  <a:t> size of the vocabulary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: </a:t>
                </a:r>
                <a:r>
                  <a:rPr kumimoji="1" lang="en-US" altLang="zh-TW" sz="2400" dirty="0" err="1"/>
                  <a:t>softmax</a:t>
                </a:r>
                <a:r>
                  <a:rPr kumimoji="1" lang="en-US" altLang="zh-TW" sz="2400" dirty="0"/>
                  <a:t> temperature</a:t>
                </a:r>
                <a:endParaRPr kumimoji="1" lang="zh-TW" altLang="en-US" sz="24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0" y="4777740"/>
                <a:ext cx="5652506" cy="1200329"/>
              </a:xfrm>
              <a:prstGeom prst="rect">
                <a:avLst/>
              </a:prstGeom>
              <a:blipFill>
                <a:blip r:embed="rId3"/>
                <a:stretch>
                  <a:fillRect t="-3158" b="-105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65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20DA9EB-B9AF-6D38-1025-9B8643725202}"/>
              </a:ext>
            </a:extLst>
          </p:cNvPr>
          <p:cNvSpPr txBox="1"/>
          <p:nvPr/>
        </p:nvSpPr>
        <p:spPr>
          <a:xfrm>
            <a:off x="3340090" y="2271928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the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am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no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C4CE100-F718-5085-12CA-3D1FF0899A5C}"/>
              </a:ext>
            </a:extLst>
          </p:cNvPr>
          <p:cNvSpPr txBox="1"/>
          <p:nvPr/>
        </p:nvSpPr>
        <p:spPr>
          <a:xfrm>
            <a:off x="4746674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CC65D0-3C99-1658-D315-C212C5B6258A}"/>
              </a:ext>
            </a:extLst>
          </p:cNvPr>
          <p:cNvSpPr txBox="1"/>
          <p:nvPr/>
        </p:nvSpPr>
        <p:spPr>
          <a:xfrm>
            <a:off x="317753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ACE46-0D57-EBAF-47CD-8AEDC250C9FD}"/>
              </a:ext>
            </a:extLst>
          </p:cNvPr>
          <p:cNvSpPr txBox="1"/>
          <p:nvPr/>
        </p:nvSpPr>
        <p:spPr>
          <a:xfrm>
            <a:off x="473180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E28D99-73B0-63D8-0DFE-D65FC5C19BD2}"/>
              </a:ext>
            </a:extLst>
          </p:cNvPr>
          <p:cNvSpPr txBox="1"/>
          <p:nvPr/>
        </p:nvSpPr>
        <p:spPr>
          <a:xfrm>
            <a:off x="1525335" y="3010118"/>
            <a:ext cx="12963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Example</a:t>
            </a:r>
          </a:p>
          <a:p>
            <a:pPr algn="ctr"/>
            <a:r>
              <a:rPr kumimoji="1" lang="en-US" altLang="zh-TW" sz="2400" dirty="0"/>
              <a:t>Vocab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C2891F03-779D-AA20-806A-BCD2CE0DF3F0}"/>
              </a:ext>
            </a:extLst>
          </p:cNvPr>
          <p:cNvCxnSpPr>
            <a:cxnSpLocks/>
          </p:cNvCxnSpPr>
          <p:nvPr/>
        </p:nvCxnSpPr>
        <p:spPr>
          <a:xfrm>
            <a:off x="6382014" y="265967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9CC1F449-1E69-B73B-1B49-1DBA9F941AAE}"/>
              </a:ext>
            </a:extLst>
          </p:cNvPr>
          <p:cNvCxnSpPr>
            <a:cxnSpLocks/>
          </p:cNvCxnSpPr>
          <p:nvPr/>
        </p:nvCxnSpPr>
        <p:spPr>
          <a:xfrm>
            <a:off x="6382014" y="321212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543821E-107F-12AA-5934-4B89F9E44B64}"/>
              </a:ext>
            </a:extLst>
          </p:cNvPr>
          <p:cNvCxnSpPr>
            <a:cxnSpLocks/>
          </p:cNvCxnSpPr>
          <p:nvPr/>
        </p:nvCxnSpPr>
        <p:spPr>
          <a:xfrm>
            <a:off x="6382014" y="376872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79C56B4A-26E8-4783-5B11-D8C33409FC5A}"/>
              </a:ext>
            </a:extLst>
          </p:cNvPr>
          <p:cNvCxnSpPr>
            <a:cxnSpLocks/>
          </p:cNvCxnSpPr>
          <p:nvPr/>
        </p:nvCxnSpPr>
        <p:spPr>
          <a:xfrm>
            <a:off x="6382014" y="433260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2C3AFF56-4169-EACA-3AF2-7479A65F42F7}"/>
              </a:ext>
            </a:extLst>
          </p:cNvPr>
          <p:cNvCxnSpPr>
            <a:cxnSpLocks/>
          </p:cNvCxnSpPr>
          <p:nvPr/>
        </p:nvCxnSpPr>
        <p:spPr>
          <a:xfrm>
            <a:off x="6382014" y="484695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4FC5F6D-C418-2F49-B3B3-F2691D8C7E88}"/>
              </a:ext>
            </a:extLst>
          </p:cNvPr>
          <p:cNvSpPr txBox="1"/>
          <p:nvPr/>
        </p:nvSpPr>
        <p:spPr>
          <a:xfrm>
            <a:off x="7650269" y="1840971"/>
            <a:ext cx="172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Probability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AFD03A0-0B3D-A17F-EE17-AB935AFEC61F}"/>
              </a:ext>
            </a:extLst>
          </p:cNvPr>
          <p:cNvSpPr txBox="1"/>
          <p:nvPr/>
        </p:nvSpPr>
        <p:spPr>
          <a:xfrm>
            <a:off x="7861873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4A0F621-2516-5B17-0D65-86B75600F986}"/>
              </a:ext>
            </a:extLst>
          </p:cNvPr>
          <p:cNvSpPr txBox="1"/>
          <p:nvPr/>
        </p:nvSpPr>
        <p:spPr>
          <a:xfrm>
            <a:off x="1649716" y="5549466"/>
            <a:ext cx="81329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Note that </a:t>
            </a:r>
            <a:r>
              <a:rPr kumimoji="1" lang="en-US" altLang="zh-TW" sz="2000" dirty="0" err="1"/>
              <a:t>softmax</a:t>
            </a:r>
            <a:r>
              <a:rPr kumimoji="1" lang="en-US" altLang="zh-TW" sz="2000" dirty="0"/>
              <a:t> is required for every decoding strategies since we need to find out the next word from a vocabulary.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365920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Properties of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Temperature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55F246-EBF5-6D7F-6888-FE7FB326AF8B}"/>
              </a:ext>
            </a:extLst>
          </p:cNvPr>
          <p:cNvSpPr txBox="1"/>
          <p:nvPr/>
        </p:nvSpPr>
        <p:spPr>
          <a:xfrm>
            <a:off x="1005936" y="1638639"/>
            <a:ext cx="2788824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 formula: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/>
              <p:nvPr/>
            </p:nvSpPr>
            <p:spPr>
              <a:xfrm>
                <a:off x="4937436" y="2403398"/>
                <a:ext cx="2378087" cy="102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kumimoji="1" lang="en-US" altLang="zh-TW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sup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436" y="2403398"/>
                <a:ext cx="2378087" cy="1025602"/>
              </a:xfrm>
              <a:prstGeom prst="rect">
                <a:avLst/>
              </a:prstGeom>
              <a:blipFill>
                <a:blip r:embed="rId2"/>
                <a:stretch>
                  <a:fillRect l="-24468" t="-15854" r="-5319" b="-987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/>
              <p:nvPr/>
            </p:nvSpPr>
            <p:spPr>
              <a:xfrm>
                <a:off x="7255937" y="1489122"/>
                <a:ext cx="4013030" cy="861774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kumimoji="1" lang="en-US" altLang="zh-TW" sz="1600" dirty="0"/>
                  <a:t>: logits (model outputs before </a:t>
                </a:r>
                <a:r>
                  <a:rPr kumimoji="1" lang="en-US" altLang="zh-TW" sz="1600" dirty="0" err="1"/>
                  <a:t>softmax</a:t>
                </a:r>
                <a:r>
                  <a:rPr kumimoji="1" lang="en-US" altLang="zh-TW" sz="1600" dirty="0"/>
                  <a:t>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kumimoji="1" lang="en-US" altLang="zh-TW" sz="1600" dirty="0"/>
                  <a:t> size of the vocabulary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sz="16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1600" dirty="0"/>
                  <a:t>: </a:t>
                </a:r>
                <a:r>
                  <a:rPr kumimoji="1" lang="en-US" altLang="zh-TW" sz="1600" dirty="0" err="1"/>
                  <a:t>softmax</a:t>
                </a:r>
                <a:r>
                  <a:rPr kumimoji="1" lang="en-US" altLang="zh-TW" sz="1600" dirty="0"/>
                  <a:t> temperature</a:t>
                </a:r>
                <a:endParaRPr kumimoji="1" lang="zh-TW" altLang="en-US" sz="16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937" y="1489122"/>
                <a:ext cx="4013030" cy="861774"/>
              </a:xfrm>
              <a:prstGeom prst="rect">
                <a:avLst/>
              </a:prstGeom>
              <a:blipFill>
                <a:blip r:embed="rId3"/>
                <a:stretch>
                  <a:fillRect t="-1429" b="-4286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4C0DA17-55BA-7744-64F7-581495C462F2}"/>
                  </a:ext>
                </a:extLst>
              </p:cNvPr>
              <p:cNvSpPr txBox="1"/>
              <p:nvPr/>
            </p:nvSpPr>
            <p:spPr>
              <a:xfrm>
                <a:off x="1097280" y="3825579"/>
                <a:ext cx="9566910" cy="2251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Larger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 -&gt; Lower probability value -&gt; Smaller ranges of probability distribution -&gt;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More diverse</a:t>
                </a:r>
                <a:r>
                  <a:rPr kumimoji="1" lang="en-US" altLang="zh-TW" sz="2400" dirty="0"/>
                  <a:t> Outputs</a:t>
                </a: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/>
                  <a:t>Smaller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400" dirty="0"/>
                  <a:t> -&gt; Higher probability value -&gt; Greater ranges of probability distribution -&gt;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Less diverse </a:t>
                </a:r>
                <a:r>
                  <a:rPr kumimoji="1" lang="en-US" altLang="zh-TW" sz="2400" dirty="0"/>
                  <a:t>Outputs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4C0DA17-55BA-7744-64F7-581495C46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3825579"/>
                <a:ext cx="9566910" cy="2251065"/>
              </a:xfrm>
              <a:prstGeom prst="rect">
                <a:avLst/>
              </a:prstGeom>
              <a:blipFill>
                <a:blip r:embed="rId4"/>
                <a:stretch>
                  <a:fillRect l="-928" r="-1061" b="-50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0561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9A8D1-FD81-1BFD-A2BD-579702FD0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r>
              <a:rPr kumimoji="1" lang="en-US" altLang="zh-TW" dirty="0"/>
              <a:t> Temperature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02B52D-C34C-D204-B0EF-9721F2FC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D457D0-3BDA-EAC3-12EA-93A8EEA1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8" y="2425356"/>
            <a:ext cx="10257123" cy="347446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84E8902-4429-D00F-EE22-476E069E2C52}"/>
              </a:ext>
            </a:extLst>
          </p:cNvPr>
          <p:cNvSpPr txBox="1"/>
          <p:nvPr/>
        </p:nvSpPr>
        <p:spPr>
          <a:xfrm>
            <a:off x="6754019" y="1798157"/>
            <a:ext cx="385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Temperature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低的時候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(less diverse)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C2901B0-CCE7-365C-3C00-250BEB5777D4}"/>
              </a:ext>
            </a:extLst>
          </p:cNvPr>
          <p:cNvSpPr txBox="1"/>
          <p:nvPr/>
        </p:nvSpPr>
        <p:spPr>
          <a:xfrm>
            <a:off x="1122745" y="1798157"/>
            <a:ext cx="4213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Temperature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高的時候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(more diverse)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50CEAC3-8419-248C-ED04-45DF21886068}"/>
              </a:ext>
            </a:extLst>
          </p:cNvPr>
          <p:cNvSpPr txBox="1"/>
          <p:nvPr/>
        </p:nvSpPr>
        <p:spPr>
          <a:xfrm>
            <a:off x="2535554" y="6240302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 (ICLR). 2020.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53271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CFFED4-F25D-E6A8-45F6-5336E2BC3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The k value should be carefully picked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A9C281-62AE-A251-2830-A7DBC24CA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65</a:t>
            </a:fld>
            <a:endParaRPr 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5F513C1-F5B0-9745-0542-9E761A036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" y="1829435"/>
            <a:ext cx="8736330" cy="38785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330A16-D46A-501F-4559-3F21C59C20A2}"/>
              </a:ext>
            </a:extLst>
          </p:cNvPr>
          <p:cNvSpPr txBox="1"/>
          <p:nvPr/>
        </p:nvSpPr>
        <p:spPr>
          <a:xfrm>
            <a:off x="2520363" y="5760720"/>
            <a:ext cx="71208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Holtzman, Ari, et al. "The Curious Case of Neural Text Degeneration." International Conference on Learning Representations. 2019.</a:t>
            </a:r>
            <a:endParaRPr kumimoji="1" lang="zh-TW" altLang="en-US" sz="1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3EDD8F-6B75-8448-06FC-3679C66A8A58}"/>
              </a:ext>
            </a:extLst>
          </p:cNvPr>
          <p:cNvSpPr/>
          <p:nvPr/>
        </p:nvSpPr>
        <p:spPr>
          <a:xfrm>
            <a:off x="8515350" y="3554730"/>
            <a:ext cx="53721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D57B49-0795-C347-949E-E03FD16A8D6B}"/>
              </a:ext>
            </a:extLst>
          </p:cNvPr>
          <p:cNvSpPr/>
          <p:nvPr/>
        </p:nvSpPr>
        <p:spPr>
          <a:xfrm>
            <a:off x="2251758" y="3554730"/>
            <a:ext cx="1154382" cy="4571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32187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71480D-4E02-6D2B-E6B6-AF7A00CD2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Comparison for Top-k and Top-p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605F61-3B00-4E09-2461-83F8EF99E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66</a:t>
            </a:fld>
            <a:endParaRPr lang="en-US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22B6712-10CB-69CA-0792-95801AFF7820}"/>
              </a:ext>
            </a:extLst>
          </p:cNvPr>
          <p:cNvGraphicFramePr>
            <a:graphicFrameLocks noGrp="1"/>
          </p:cNvGraphicFramePr>
          <p:nvPr/>
        </p:nvGraphicFramePr>
        <p:xfrm>
          <a:off x="1597719" y="2210392"/>
          <a:ext cx="8996562" cy="3106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8392">
                  <a:extLst>
                    <a:ext uri="{9D8B030D-6E8A-4147-A177-3AD203B41FA5}">
                      <a16:colId xmlns:a16="http://schemas.microsoft.com/office/drawing/2014/main" val="3992998841"/>
                    </a:ext>
                  </a:extLst>
                </a:gridCol>
                <a:gridCol w="3158553">
                  <a:extLst>
                    <a:ext uri="{9D8B030D-6E8A-4147-A177-3AD203B41FA5}">
                      <a16:colId xmlns:a16="http://schemas.microsoft.com/office/drawing/2014/main" val="2868127146"/>
                    </a:ext>
                  </a:extLst>
                </a:gridCol>
                <a:gridCol w="3329617">
                  <a:extLst>
                    <a:ext uri="{9D8B030D-6E8A-4147-A177-3AD203B41FA5}">
                      <a16:colId xmlns:a16="http://schemas.microsoft.com/office/drawing/2014/main" val="2963002179"/>
                    </a:ext>
                  </a:extLst>
                </a:gridCol>
              </a:tblGrid>
              <a:tr h="546439">
                <a:tc>
                  <a:txBody>
                    <a:bodyPr/>
                    <a:lstStyle/>
                    <a:p>
                      <a:endParaRPr lang="zh-TW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Top-k Sampling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Top-p Sampling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49084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Hyperparameter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k: top-k words are preserved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p: sum of the minimum set of words exceeds the value of p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89285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Performance</a:t>
                      </a:r>
                    </a:p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(Who is better?)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By cases (these two are both widely used)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866400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Hyperparameter Tuning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Harder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Easier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139269"/>
                  </a:ext>
                </a:extLst>
              </a:tr>
              <a:tr h="546439">
                <a:tc>
                  <a:txBody>
                    <a:bodyPr/>
                    <a:lstStyle/>
                    <a:p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Common Hyperparameter Value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k=40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p=0.95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583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6406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4058</TotalTime>
  <Words>4229</Words>
  <Application>Microsoft Macintosh PowerPoint</Application>
  <PresentationFormat>寬螢幕</PresentationFormat>
  <Paragraphs>1325</Paragraphs>
  <Slides>67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67</vt:i4>
      </vt:variant>
    </vt:vector>
  </HeadingPairs>
  <TitlesOfParts>
    <vt:vector size="74" baseType="lpstr">
      <vt:lpstr>Microsoft JhengHei</vt:lpstr>
      <vt:lpstr>Arial</vt:lpstr>
      <vt:lpstr>Calibri</vt:lpstr>
      <vt:lpstr>Cambria Math</vt:lpstr>
      <vt:lpstr>Roboto</vt:lpstr>
      <vt:lpstr>Times New Roman</vt:lpstr>
      <vt:lpstr>回顧</vt:lpstr>
      <vt:lpstr>自然語言處理與應用 Natural Language Processing and Applications</vt:lpstr>
      <vt:lpstr>Outline</vt:lpstr>
      <vt:lpstr>Transformer 架構的後續應用</vt:lpstr>
      <vt:lpstr>GPT 是一個語言模型</vt:lpstr>
      <vt:lpstr>[RNN Recap] 條件機率</vt:lpstr>
      <vt:lpstr>[Recap] 文字生成過程</vt:lpstr>
      <vt:lpstr>常見 Language Models</vt:lpstr>
      <vt:lpstr>訓練 GPT 最大化每個時間點的機率</vt:lpstr>
      <vt:lpstr>Language Modeling and Cross-entropy</vt:lpstr>
      <vt:lpstr>[Recap] RNN 以文字接龍進行訓練</vt:lpstr>
      <vt:lpstr>Language Modeling 對每個 token 都做分類</vt:lpstr>
      <vt:lpstr>Language Models 終究是 left-to-right</vt:lpstr>
      <vt:lpstr>Encoder vs. Decoder in Pre-training</vt:lpstr>
      <vt:lpstr>GPT-1 與 BERT 的 Fine-tuning</vt:lpstr>
      <vt:lpstr>訓練語言 模型的方式</vt:lpstr>
      <vt:lpstr>How to train a (Conditional) Language Model?</vt:lpstr>
      <vt:lpstr>Teacher Forcing – Training Time</vt:lpstr>
      <vt:lpstr>Teacher Forcing – Training Time</vt:lpstr>
      <vt:lpstr>Teacher Forcing – Testing Time</vt:lpstr>
      <vt:lpstr>Decoding Strategies  4/27 見！</vt:lpstr>
      <vt:lpstr>Greedy Decoding</vt:lpstr>
      <vt:lpstr>文字生成過程 – Greedy Decoding</vt:lpstr>
      <vt:lpstr>Problem of Greedy Decoding</vt:lpstr>
      <vt:lpstr>Re-thinking Greedy Decoding</vt:lpstr>
      <vt:lpstr>Beam Search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Stop Criterion (停止生成的情況)</vt:lpstr>
      <vt:lpstr>Problem of Beam Search (1)</vt:lpstr>
      <vt:lpstr>PowerPoint 簡報</vt:lpstr>
      <vt:lpstr>Problem of Beam Search (1)</vt:lpstr>
      <vt:lpstr>PowerPoint 簡報</vt:lpstr>
      <vt:lpstr>Problem of Beam Search (2)</vt:lpstr>
      <vt:lpstr>Problem of Beam Search (3)</vt:lpstr>
      <vt:lpstr>思考 Greedy Decoding 的問題</vt:lpstr>
      <vt:lpstr>[Summary] Strategy for MLE decoding</vt:lpstr>
      <vt:lpstr>Strategy for MLE decoding: 改用 Sampling</vt:lpstr>
      <vt:lpstr>Summary and the Thinking Route</vt:lpstr>
      <vt:lpstr>Problem of Pure Sampling</vt:lpstr>
      <vt:lpstr>Why is Pure Sampling so weak?</vt:lpstr>
      <vt:lpstr>[Summary] Strategy for Sampling</vt:lpstr>
      <vt:lpstr>Summary and the Thinking Route</vt:lpstr>
      <vt:lpstr>Top-p Sampling</vt:lpstr>
      <vt:lpstr>Top-p Sampling</vt:lpstr>
      <vt:lpstr>機率重新調整 toy example</vt:lpstr>
      <vt:lpstr>Top-p Sampling example</vt:lpstr>
      <vt:lpstr>Top-k Sampling</vt:lpstr>
      <vt:lpstr>Problem of Top-k Sampling </vt:lpstr>
      <vt:lpstr>Problem of Top-k Sampling (看看 Top-p) </vt:lpstr>
      <vt:lpstr>Softmax</vt:lpstr>
      <vt:lpstr>Softmax</vt:lpstr>
      <vt:lpstr>Properties of Softmax Temperature</vt:lpstr>
      <vt:lpstr>Softmax Temperature</vt:lpstr>
      <vt:lpstr>The k value should be carefully picked</vt:lpstr>
      <vt:lpstr>Comparison for Top-k and Top-p Sampling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1205</cp:revision>
  <dcterms:created xsi:type="dcterms:W3CDTF">2025-02-07T09:05:59Z</dcterms:created>
  <dcterms:modified xsi:type="dcterms:W3CDTF">2026-04-13T04:05:07Z</dcterms:modified>
</cp:coreProperties>
</file>