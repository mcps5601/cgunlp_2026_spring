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59"/>
  </p:notesMasterIdLst>
  <p:sldIdLst>
    <p:sldId id="508" r:id="rId2"/>
    <p:sldId id="518" r:id="rId3"/>
    <p:sldId id="712" r:id="rId4"/>
    <p:sldId id="300" r:id="rId5"/>
    <p:sldId id="720" r:id="rId6"/>
    <p:sldId id="721" r:id="rId7"/>
    <p:sldId id="771" r:id="rId8"/>
    <p:sldId id="654" r:id="rId9"/>
    <p:sldId id="772" r:id="rId10"/>
    <p:sldId id="653" r:id="rId11"/>
    <p:sldId id="773" r:id="rId12"/>
    <p:sldId id="334" r:id="rId13"/>
    <p:sldId id="714" r:id="rId14"/>
    <p:sldId id="338" r:id="rId15"/>
    <p:sldId id="713" r:id="rId16"/>
    <p:sldId id="755" r:id="rId17"/>
    <p:sldId id="320" r:id="rId18"/>
    <p:sldId id="321" r:id="rId19"/>
    <p:sldId id="652" r:id="rId20"/>
    <p:sldId id="703" r:id="rId21"/>
    <p:sldId id="316" r:id="rId22"/>
    <p:sldId id="294" r:id="rId23"/>
    <p:sldId id="511" r:id="rId24"/>
    <p:sldId id="514" r:id="rId25"/>
    <p:sldId id="515" r:id="rId26"/>
    <p:sldId id="513" r:id="rId27"/>
    <p:sldId id="522" r:id="rId28"/>
    <p:sldId id="498" r:id="rId29"/>
    <p:sldId id="510" r:id="rId30"/>
    <p:sldId id="509" r:id="rId31"/>
    <p:sldId id="759" r:id="rId32"/>
    <p:sldId id="744" r:id="rId33"/>
    <p:sldId id="766" r:id="rId34"/>
    <p:sldId id="758" r:id="rId35"/>
    <p:sldId id="517" r:id="rId36"/>
    <p:sldId id="764" r:id="rId37"/>
    <p:sldId id="774" r:id="rId38"/>
    <p:sldId id="519" r:id="rId39"/>
    <p:sldId id="526" r:id="rId40"/>
    <p:sldId id="521" r:id="rId41"/>
    <p:sldId id="727" r:id="rId42"/>
    <p:sldId id="757" r:id="rId43"/>
    <p:sldId id="760" r:id="rId44"/>
    <p:sldId id="527" r:id="rId45"/>
    <p:sldId id="761" r:id="rId46"/>
    <p:sldId id="762" r:id="rId47"/>
    <p:sldId id="336" r:id="rId48"/>
    <p:sldId id="339" r:id="rId49"/>
    <p:sldId id="763" r:id="rId50"/>
    <p:sldId id="765" r:id="rId51"/>
    <p:sldId id="767" r:id="rId52"/>
    <p:sldId id="529" r:id="rId53"/>
    <p:sldId id="769" r:id="rId54"/>
    <p:sldId id="768" r:id="rId55"/>
    <p:sldId id="775" r:id="rId56"/>
    <p:sldId id="770" r:id="rId57"/>
    <p:sldId id="739" r:id="rId5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F773BFB9-3CF9-6F4C-8A7C-856EA42EA4CE}">
          <p14:sldIdLst>
            <p14:sldId id="508"/>
            <p14:sldId id="518"/>
            <p14:sldId id="712"/>
            <p14:sldId id="300"/>
            <p14:sldId id="720"/>
            <p14:sldId id="721"/>
            <p14:sldId id="771"/>
            <p14:sldId id="654"/>
            <p14:sldId id="772"/>
            <p14:sldId id="653"/>
            <p14:sldId id="773"/>
            <p14:sldId id="334"/>
            <p14:sldId id="714"/>
            <p14:sldId id="338"/>
            <p14:sldId id="713"/>
            <p14:sldId id="755"/>
            <p14:sldId id="320"/>
            <p14:sldId id="321"/>
            <p14:sldId id="652"/>
            <p14:sldId id="703"/>
            <p14:sldId id="316"/>
            <p14:sldId id="294"/>
            <p14:sldId id="511"/>
            <p14:sldId id="514"/>
            <p14:sldId id="515"/>
            <p14:sldId id="513"/>
            <p14:sldId id="522"/>
            <p14:sldId id="498"/>
            <p14:sldId id="510"/>
            <p14:sldId id="509"/>
            <p14:sldId id="759"/>
            <p14:sldId id="744"/>
            <p14:sldId id="766"/>
            <p14:sldId id="758"/>
            <p14:sldId id="517"/>
            <p14:sldId id="764"/>
            <p14:sldId id="774"/>
            <p14:sldId id="519"/>
            <p14:sldId id="526"/>
            <p14:sldId id="521"/>
            <p14:sldId id="727"/>
            <p14:sldId id="757"/>
            <p14:sldId id="760"/>
            <p14:sldId id="527"/>
            <p14:sldId id="761"/>
            <p14:sldId id="762"/>
            <p14:sldId id="336"/>
            <p14:sldId id="339"/>
            <p14:sldId id="763"/>
            <p14:sldId id="765"/>
            <p14:sldId id="767"/>
            <p14:sldId id="529"/>
            <p14:sldId id="769"/>
            <p14:sldId id="768"/>
            <p14:sldId id="775"/>
            <p14:sldId id="770"/>
            <p14:sldId id="73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5AED6"/>
    <a:srgbClr val="FF9400"/>
    <a:srgbClr val="FFCE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445"/>
    <p:restoredTop sz="94270"/>
  </p:normalViewPr>
  <p:slideViewPr>
    <p:cSldViewPr snapToGrid="0">
      <p:cViewPr varScale="1">
        <p:scale>
          <a:sx n="139" d="100"/>
          <a:sy n="139" d="100"/>
        </p:scale>
        <p:origin x="184" y="256"/>
      </p:cViewPr>
      <p:guideLst/>
    </p:cSldViewPr>
  </p:slideViewPr>
  <p:notesTextViewPr>
    <p:cViewPr>
      <p:scale>
        <a:sx n="1" d="1"/>
        <a:sy n="1" d="1"/>
      </p:scale>
      <p:origin x="0" y="0"/>
    </p:cViewPr>
  </p:notesTextViewPr>
  <p:notesViewPr>
    <p:cSldViewPr snapToGrid="0">
      <p:cViewPr varScale="1">
        <p:scale>
          <a:sx n="93" d="100"/>
          <a:sy n="93" d="100"/>
        </p:scale>
        <p:origin x="3568" y="21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DBE83B-754F-B948-8CD7-D8047F5EE2C4}" type="datetimeFigureOut">
              <a:rPr kumimoji="1" lang="zh-TW" altLang="en-US" smtClean="0"/>
              <a:t>2026/3/30</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836D1C-D09F-2A41-BBEA-6549EF3DDB65}" type="slidenum">
              <a:rPr kumimoji="1" lang="zh-TW" altLang="en-US" smtClean="0"/>
              <a:t>‹#›</a:t>
            </a:fld>
            <a:endParaRPr kumimoji="1" lang="zh-TW" altLang="en-US"/>
          </a:p>
        </p:txBody>
      </p:sp>
    </p:spTree>
    <p:extLst>
      <p:ext uri="{BB962C8B-B14F-4D97-AF65-F5344CB8AC3E}">
        <p14:creationId xmlns:p14="http://schemas.microsoft.com/office/powerpoint/2010/main" val="2951419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1</a:t>
            </a:fld>
            <a:endParaRPr kumimoji="1" lang="zh-TW" altLang="en-US"/>
          </a:p>
        </p:txBody>
      </p:sp>
    </p:spTree>
    <p:extLst>
      <p:ext uri="{BB962C8B-B14F-4D97-AF65-F5344CB8AC3E}">
        <p14:creationId xmlns:p14="http://schemas.microsoft.com/office/powerpoint/2010/main" val="8395762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3</a:t>
            </a:fld>
            <a:endParaRPr kumimoji="1" lang="zh-TW" altLang="en-US"/>
          </a:p>
        </p:txBody>
      </p:sp>
    </p:spTree>
    <p:extLst>
      <p:ext uri="{BB962C8B-B14F-4D97-AF65-F5344CB8AC3E}">
        <p14:creationId xmlns:p14="http://schemas.microsoft.com/office/powerpoint/2010/main" val="2213090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a:solidFill>
                  <a:schemeClr val="tx1"/>
                </a:solidFill>
                <a:latin typeface="Calibri" panose="020F0502020204030204" pitchFamily="34" charset="0"/>
                <a:cs typeface="Calibri" panose="020F0502020204030204" pitchFamily="34" charset="0"/>
              </a:rPr>
              <a:t>RNNs use the recurrent nature to encode relative distance, but self-attention alone does not have the concept of distance. </a:t>
            </a:r>
          </a:p>
          <a:p>
            <a:r>
              <a:rPr kumimoji="1" lang="en-US" altLang="zh-TW" dirty="0">
                <a:solidFill>
                  <a:schemeClr val="tx1"/>
                </a:solidFill>
                <a:latin typeface="Calibri" panose="020F0502020204030204" pitchFamily="34" charset="0"/>
                <a:cs typeface="Calibri" panose="020F0502020204030204" pitchFamily="34" charset="0"/>
              </a:rPr>
              <a:t>Figure link: https://</a:t>
            </a:r>
            <a:r>
              <a:rPr kumimoji="1" lang="en-US" altLang="zh-TW" dirty="0" err="1">
                <a:solidFill>
                  <a:schemeClr val="tx1"/>
                </a:solidFill>
                <a:latin typeface="Calibri" panose="020F0502020204030204" pitchFamily="34" charset="0"/>
                <a:cs typeface="Calibri" panose="020F0502020204030204" pitchFamily="34" charset="0"/>
              </a:rPr>
              <a:t>www.google.com</a:t>
            </a:r>
            <a:r>
              <a:rPr kumimoji="1" lang="en-US" altLang="zh-TW" dirty="0">
                <a:solidFill>
                  <a:schemeClr val="tx1"/>
                </a:solidFill>
                <a:latin typeface="Calibri" panose="020F0502020204030204" pitchFamily="34" charset="0"/>
                <a:cs typeface="Calibri" panose="020F0502020204030204" pitchFamily="34" charset="0"/>
              </a:rPr>
              <a:t>/</a:t>
            </a:r>
            <a:r>
              <a:rPr kumimoji="1" lang="en-US" altLang="zh-TW" dirty="0" err="1">
                <a:solidFill>
                  <a:schemeClr val="tx1"/>
                </a:solidFill>
                <a:latin typeface="Calibri" panose="020F0502020204030204" pitchFamily="34" charset="0"/>
                <a:cs typeface="Calibri" panose="020F0502020204030204" pitchFamily="34" charset="0"/>
              </a:rPr>
              <a:t>imgres?imgurl</a:t>
            </a:r>
            <a:r>
              <a:rPr kumimoji="1" lang="en-US" altLang="zh-TW" dirty="0">
                <a:solidFill>
                  <a:schemeClr val="tx1"/>
                </a:solidFill>
                <a:latin typeface="Calibri" panose="020F0502020204030204" pitchFamily="34" charset="0"/>
                <a:cs typeface="Calibri" panose="020F0502020204030204" pitchFamily="34" charset="0"/>
              </a:rPr>
              <a:t>=https%3A%2F%2Fen.pimg.jp%2F062%2F372%2F497%2F1%2F62372497.jpg&amp;tbnid=h12XO59LOC-2AM&amp;vet=12ahUKEwi-hZz5-aeEAxUjiq8BHWxaD30QMygLegQIARBw..i&amp;imgrefurl=https%3A%2F%2Fwww.pixtastock.com%2Fillustration%2F62372497&amp;docid=</a:t>
            </a:r>
            <a:r>
              <a:rPr kumimoji="1" lang="en-US" altLang="zh-TW" dirty="0" err="1">
                <a:solidFill>
                  <a:schemeClr val="tx1"/>
                </a:solidFill>
                <a:latin typeface="Calibri" panose="020F0502020204030204" pitchFamily="34" charset="0"/>
                <a:cs typeface="Calibri" panose="020F0502020204030204" pitchFamily="34" charset="0"/>
              </a:rPr>
              <a:t>EjyqzObtASteNM&amp;w</a:t>
            </a:r>
            <a:r>
              <a:rPr kumimoji="1" lang="en-US" altLang="zh-TW" dirty="0">
                <a:solidFill>
                  <a:schemeClr val="tx1"/>
                </a:solidFill>
                <a:latin typeface="Calibri" panose="020F0502020204030204" pitchFamily="34" charset="0"/>
                <a:cs typeface="Calibri" panose="020F0502020204030204" pitchFamily="34" charset="0"/>
              </a:rPr>
              <a:t>=450&amp;h=468&amp;q=trouble%20face%20cute%20&amp;ved=2ahUKEwi-hZz5-aeEAxUjiq8BHWxaD30QMygLegQIARBw</a:t>
            </a:r>
            <a:endParaRPr kumimoji="1" lang="zh-TW" altLang="en-US" dirty="0"/>
          </a:p>
        </p:txBody>
      </p:sp>
      <p:sp>
        <p:nvSpPr>
          <p:cNvPr id="4" name="投影片編號版面配置區 3"/>
          <p:cNvSpPr>
            <a:spLocks noGrp="1"/>
          </p:cNvSpPr>
          <p:nvPr>
            <p:ph type="sldNum" sz="quarter" idx="5"/>
          </p:nvPr>
        </p:nvSpPr>
        <p:spPr/>
        <p:txBody>
          <a:bodyPr/>
          <a:lstStyle/>
          <a:p>
            <a:fld id="{E72E3B28-2F7C-524C-99B0-DFA9B150710E}" type="slidenum">
              <a:rPr kumimoji="1" lang="zh-TW" altLang="en-US" smtClean="0"/>
              <a:t>4</a:t>
            </a:fld>
            <a:endParaRPr kumimoji="1" lang="zh-TW" altLang="en-US"/>
          </a:p>
        </p:txBody>
      </p:sp>
    </p:spTree>
    <p:extLst>
      <p:ext uri="{BB962C8B-B14F-4D97-AF65-F5344CB8AC3E}">
        <p14:creationId xmlns:p14="http://schemas.microsoft.com/office/powerpoint/2010/main" val="15783470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5</a:t>
            </a:fld>
            <a:endParaRPr kumimoji="1" lang="zh-TW" altLang="en-US"/>
          </a:p>
        </p:txBody>
      </p:sp>
    </p:spTree>
    <p:extLst>
      <p:ext uri="{BB962C8B-B14F-4D97-AF65-F5344CB8AC3E}">
        <p14:creationId xmlns:p14="http://schemas.microsoft.com/office/powerpoint/2010/main" val="7083771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6</a:t>
            </a:fld>
            <a:endParaRPr kumimoji="1" lang="zh-TW" altLang="en-US"/>
          </a:p>
        </p:txBody>
      </p:sp>
    </p:spTree>
    <p:extLst>
      <p:ext uri="{BB962C8B-B14F-4D97-AF65-F5344CB8AC3E}">
        <p14:creationId xmlns:p14="http://schemas.microsoft.com/office/powerpoint/2010/main" val="38005929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a:t>sin(</a:t>
            </a:r>
            <a:r>
              <a:rPr kumimoji="1" lang="en-US" altLang="zh-TW" dirty="0" err="1"/>
              <a:t>wt</a:t>
            </a:r>
            <a:r>
              <a:rPr kumimoji="1" lang="en-US" altLang="zh-TW" dirty="0"/>
              <a:t>)</a:t>
            </a:r>
            <a:r>
              <a:rPr kumimoji="1" lang="zh-TW" altLang="en-US" dirty="0"/>
              <a:t>，</a:t>
            </a:r>
            <a:r>
              <a:rPr kumimoji="1" lang="en-US" altLang="zh-TW" dirty="0"/>
              <a:t>w</a:t>
            </a:r>
            <a:r>
              <a:rPr kumimoji="1" lang="zh-TW" altLang="en-US" dirty="0"/>
              <a:t>是角速度，</a:t>
            </a:r>
            <a:r>
              <a:rPr kumimoji="1" lang="en-US" altLang="zh-TW" dirty="0"/>
              <a:t>t</a:t>
            </a:r>
            <a:r>
              <a:rPr kumimoji="1" lang="zh-TW" altLang="en-US" dirty="0"/>
              <a:t>是時間，在這邊指的是</a:t>
            </a:r>
            <a:r>
              <a:rPr kumimoji="1" lang="en-US" altLang="zh-TW" dirty="0"/>
              <a:t>pos</a:t>
            </a:r>
          </a:p>
          <a:p>
            <a:r>
              <a:rPr kumimoji="1" lang="en-US" altLang="zh-TW" dirty="0"/>
              <a:t>w=</a:t>
            </a:r>
            <a:r>
              <a:rPr lang="el-GR" altLang="zh-TW" dirty="0"/>
              <a:t>2π</a:t>
            </a:r>
            <a:r>
              <a:rPr lang="en-US" altLang="zh-TW" dirty="0"/>
              <a:t>/</a:t>
            </a:r>
            <a:r>
              <a:rPr lang="el-GR" altLang="zh-TW" dirty="0"/>
              <a:t>λ</a:t>
            </a:r>
            <a:endParaRPr lang="en-US" altLang="zh-TW" dirty="0"/>
          </a:p>
          <a:p>
            <a:r>
              <a:rPr kumimoji="1" lang="en-US" altLang="zh-TW" dirty="0"/>
              <a:t>PE</a:t>
            </a:r>
            <a:r>
              <a:rPr kumimoji="1" lang="zh-TW" altLang="en-US" dirty="0"/>
              <a:t>公式可寫成</a:t>
            </a:r>
            <a:r>
              <a:rPr kumimoji="1" lang="en-US" altLang="zh-TW" dirty="0"/>
              <a:t>sin(</a:t>
            </a:r>
            <a:r>
              <a:rPr lang="el-GR" altLang="zh-TW" dirty="0"/>
              <a:t>2π</a:t>
            </a:r>
            <a:r>
              <a:rPr lang="en-US" altLang="zh-TW" dirty="0"/>
              <a:t>pos / 10000^{2i / d_{model}}</a:t>
            </a:r>
            <a:r>
              <a:rPr lang="zh-TW" altLang="en-US" dirty="0"/>
              <a:t> </a:t>
            </a:r>
            <a:r>
              <a:rPr lang="en-US" altLang="zh-TW" dirty="0"/>
              <a:t>* </a:t>
            </a:r>
            <a:r>
              <a:rPr lang="el-GR" altLang="zh-TW" dirty="0"/>
              <a:t>2π</a:t>
            </a:r>
            <a:r>
              <a:rPr lang="en-US" altLang="zh-TW" dirty="0"/>
              <a:t>)</a:t>
            </a:r>
          </a:p>
          <a:p>
            <a:r>
              <a:rPr kumimoji="1" lang="zh-TW" altLang="en-US" dirty="0"/>
              <a:t>因此</a:t>
            </a:r>
            <a:r>
              <a:rPr lang="el-GR" altLang="zh-TW" dirty="0"/>
              <a:t>λ</a:t>
            </a:r>
            <a:r>
              <a:rPr lang="zh-TW" altLang="en-US" dirty="0"/>
              <a:t>為</a:t>
            </a:r>
            <a:r>
              <a:rPr lang="en-US" altLang="zh-TW" dirty="0"/>
              <a:t>10000^{2i / d_{model}} * </a:t>
            </a:r>
            <a:r>
              <a:rPr lang="el-GR" altLang="zh-TW" dirty="0"/>
              <a:t>2π</a:t>
            </a:r>
            <a:endParaRPr lang="en-US" altLang="zh-TW" dirty="0"/>
          </a:p>
          <a:p>
            <a:endParaRPr kumimoji="1"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dirty="0" err="1"/>
              <a:t>i</a:t>
            </a:r>
            <a:r>
              <a:rPr kumimoji="1" lang="zh-TW" altLang="en-US" dirty="0"/>
              <a:t>最小時</a:t>
            </a:r>
            <a:r>
              <a:rPr lang="el-GR" altLang="zh-TW" dirty="0"/>
              <a:t>λ</a:t>
            </a:r>
            <a:r>
              <a:rPr lang="zh-TW" altLang="en-US" dirty="0"/>
              <a:t>為</a:t>
            </a:r>
            <a:r>
              <a:rPr lang="el-GR" altLang="zh-TW" dirty="0"/>
              <a:t>2π</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dirty="0" err="1"/>
              <a:t>i</a:t>
            </a:r>
            <a:r>
              <a:rPr kumimoji="1" lang="zh-TW" altLang="en-US" dirty="0"/>
              <a:t>最大時</a:t>
            </a:r>
            <a:r>
              <a:rPr lang="el-GR" altLang="zh-TW" dirty="0"/>
              <a:t>λ</a:t>
            </a:r>
            <a:r>
              <a:rPr lang="zh-TW" altLang="en-US" dirty="0"/>
              <a:t>為</a:t>
            </a:r>
            <a:r>
              <a:rPr lang="en-US" altLang="zh-TW" dirty="0"/>
              <a:t>10000 * </a:t>
            </a:r>
            <a:r>
              <a:rPr lang="el-GR" altLang="zh-TW" dirty="0"/>
              <a:t>2π</a:t>
            </a:r>
            <a:endParaRPr lang="en-US" altLang="zh-TW"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8</a:t>
            </a:fld>
            <a:endParaRPr kumimoji="1" lang="zh-TW" altLang="en-US"/>
          </a:p>
        </p:txBody>
      </p:sp>
    </p:spTree>
    <p:extLst>
      <p:ext uri="{BB962C8B-B14F-4D97-AF65-F5344CB8AC3E}">
        <p14:creationId xmlns:p14="http://schemas.microsoft.com/office/powerpoint/2010/main" val="28984972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9</a:t>
            </a:fld>
            <a:endParaRPr kumimoji="1" lang="zh-TW" altLang="en-US"/>
          </a:p>
        </p:txBody>
      </p:sp>
    </p:spTree>
    <p:extLst>
      <p:ext uri="{BB962C8B-B14F-4D97-AF65-F5344CB8AC3E}">
        <p14:creationId xmlns:p14="http://schemas.microsoft.com/office/powerpoint/2010/main" val="13619407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10</a:t>
            </a:fld>
            <a:endParaRPr kumimoji="1" lang="zh-TW" altLang="en-US"/>
          </a:p>
        </p:txBody>
      </p:sp>
    </p:spTree>
    <p:extLst>
      <p:ext uri="{BB962C8B-B14F-4D97-AF65-F5344CB8AC3E}">
        <p14:creationId xmlns:p14="http://schemas.microsoft.com/office/powerpoint/2010/main" val="41397072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11</a:t>
            </a:fld>
            <a:endParaRPr kumimoji="1" lang="zh-TW" altLang="en-US"/>
          </a:p>
        </p:txBody>
      </p:sp>
    </p:spTree>
    <p:extLst>
      <p:ext uri="{BB962C8B-B14F-4D97-AF65-F5344CB8AC3E}">
        <p14:creationId xmlns:p14="http://schemas.microsoft.com/office/powerpoint/2010/main" val="19835568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indent="0">
              <a:spcBef>
                <a:spcPts val="200"/>
              </a:spcBef>
              <a:buNone/>
            </a:pPr>
            <a:r>
              <a:rPr kumimoji="1" lang="en-US" altLang="zh-TW" dirty="0">
                <a:latin typeface="Calibri" panose="020F0502020204030204" pitchFamily="34" charset="0"/>
                <a:cs typeface="Calibri" panose="020F0502020204030204" pitchFamily="34" charset="0"/>
              </a:rPr>
              <a:t>K, V uses the output from encoder as their X; </a:t>
            </a:r>
          </a:p>
          <a:p>
            <a:pPr marL="0" indent="0">
              <a:spcBef>
                <a:spcPts val="200"/>
              </a:spcBef>
              <a:buNone/>
            </a:pPr>
            <a:r>
              <a:rPr kumimoji="1" lang="en-US" altLang="zh-TW" dirty="0">
                <a:latin typeface="Calibri" panose="020F0502020204030204" pitchFamily="34" charset="0"/>
                <a:cs typeface="Calibri" panose="020F0502020204030204" pitchFamily="34" charset="0"/>
              </a:rPr>
              <a:t>Q uses the decoder’s information as X. </a:t>
            </a:r>
            <a:endParaRPr kumimoji="1" lang="zh-TW" altLang="en-US" dirty="0">
              <a:latin typeface="Calibri" panose="020F0502020204030204" pitchFamily="34" charset="0"/>
              <a:cs typeface="Calibri" panose="020F0502020204030204" pitchFamily="34" charset="0"/>
            </a:endParaRPr>
          </a:p>
          <a:p>
            <a:endParaRPr kumimoji="1" lang="zh-TW" altLang="en-US" dirty="0"/>
          </a:p>
        </p:txBody>
      </p:sp>
      <p:sp>
        <p:nvSpPr>
          <p:cNvPr id="4" name="投影片編號版面配置區 3"/>
          <p:cNvSpPr>
            <a:spLocks noGrp="1"/>
          </p:cNvSpPr>
          <p:nvPr>
            <p:ph type="sldNum" sz="quarter" idx="5"/>
          </p:nvPr>
        </p:nvSpPr>
        <p:spPr/>
        <p:txBody>
          <a:bodyPr/>
          <a:lstStyle/>
          <a:p>
            <a:fld id="{E72E3B28-2F7C-524C-99B0-DFA9B150710E}" type="slidenum">
              <a:rPr kumimoji="1" lang="zh-TW" altLang="en-US" smtClean="0"/>
              <a:t>12</a:t>
            </a:fld>
            <a:endParaRPr kumimoji="1" lang="zh-TW" altLang="en-US"/>
          </a:p>
        </p:txBody>
      </p:sp>
    </p:spTree>
    <p:extLst>
      <p:ext uri="{BB962C8B-B14F-4D97-AF65-F5344CB8AC3E}">
        <p14:creationId xmlns:p14="http://schemas.microsoft.com/office/powerpoint/2010/main" val="22457510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13</a:t>
            </a:fld>
            <a:endParaRPr kumimoji="1" lang="zh-TW" altLang="en-US"/>
          </a:p>
        </p:txBody>
      </p:sp>
    </p:spTree>
    <p:extLst>
      <p:ext uri="{BB962C8B-B14F-4D97-AF65-F5344CB8AC3E}">
        <p14:creationId xmlns:p14="http://schemas.microsoft.com/office/powerpoint/2010/main" val="9690684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E72E3B28-2F7C-524C-99B0-DFA9B150710E}" type="slidenum">
              <a:rPr kumimoji="1" lang="zh-TW" altLang="en-US" smtClean="0"/>
              <a:t>14</a:t>
            </a:fld>
            <a:endParaRPr kumimoji="1" lang="zh-TW" altLang="en-US"/>
          </a:p>
        </p:txBody>
      </p:sp>
    </p:spTree>
    <p:extLst>
      <p:ext uri="{BB962C8B-B14F-4D97-AF65-F5344CB8AC3E}">
        <p14:creationId xmlns:p14="http://schemas.microsoft.com/office/powerpoint/2010/main" val="21315757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15</a:t>
            </a:fld>
            <a:endParaRPr kumimoji="1" lang="zh-TW" altLang="en-US"/>
          </a:p>
        </p:txBody>
      </p:sp>
    </p:spTree>
    <p:extLst>
      <p:ext uri="{BB962C8B-B14F-4D97-AF65-F5344CB8AC3E}">
        <p14:creationId xmlns:p14="http://schemas.microsoft.com/office/powerpoint/2010/main" val="18054918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16</a:t>
            </a:fld>
            <a:endParaRPr kumimoji="1" lang="zh-TW" altLang="en-US"/>
          </a:p>
        </p:txBody>
      </p:sp>
    </p:spTree>
    <p:extLst>
      <p:ext uri="{BB962C8B-B14F-4D97-AF65-F5344CB8AC3E}">
        <p14:creationId xmlns:p14="http://schemas.microsoft.com/office/powerpoint/2010/main" val="34567559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19</a:t>
            </a:fld>
            <a:endParaRPr kumimoji="1" lang="zh-TW" altLang="en-US"/>
          </a:p>
        </p:txBody>
      </p:sp>
    </p:spTree>
    <p:extLst>
      <p:ext uri="{BB962C8B-B14F-4D97-AF65-F5344CB8AC3E}">
        <p14:creationId xmlns:p14="http://schemas.microsoft.com/office/powerpoint/2010/main" val="2391516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22</a:t>
            </a:fld>
            <a:endParaRPr kumimoji="1" lang="zh-TW" altLang="en-US"/>
          </a:p>
        </p:txBody>
      </p:sp>
    </p:spTree>
    <p:extLst>
      <p:ext uri="{BB962C8B-B14F-4D97-AF65-F5344CB8AC3E}">
        <p14:creationId xmlns:p14="http://schemas.microsoft.com/office/powerpoint/2010/main" val="16962041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37</a:t>
            </a:fld>
            <a:endParaRPr kumimoji="1" lang="zh-TW" altLang="en-US"/>
          </a:p>
        </p:txBody>
      </p:sp>
    </p:spTree>
    <p:extLst>
      <p:ext uri="{BB962C8B-B14F-4D97-AF65-F5344CB8AC3E}">
        <p14:creationId xmlns:p14="http://schemas.microsoft.com/office/powerpoint/2010/main" val="39931976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52</a:t>
            </a:fld>
            <a:endParaRPr kumimoji="1" lang="zh-TW" altLang="en-US"/>
          </a:p>
        </p:txBody>
      </p:sp>
    </p:spTree>
    <p:extLst>
      <p:ext uri="{BB962C8B-B14F-4D97-AF65-F5344CB8AC3E}">
        <p14:creationId xmlns:p14="http://schemas.microsoft.com/office/powerpoint/2010/main" val="16237018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61836D1C-D09F-2A41-BBEA-6549EF3DDB65}" type="slidenum">
              <a:rPr kumimoji="1" lang="zh-TW" altLang="en-US" smtClean="0"/>
              <a:t>53</a:t>
            </a:fld>
            <a:endParaRPr kumimoji="1" lang="zh-TW" altLang="en-US"/>
          </a:p>
        </p:txBody>
      </p:sp>
    </p:spTree>
    <p:extLst>
      <p:ext uri="{BB962C8B-B14F-4D97-AF65-F5344CB8AC3E}">
        <p14:creationId xmlns:p14="http://schemas.microsoft.com/office/powerpoint/2010/main" val="30398835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zh-TW" altLang="en-US"/>
              <a:t>按一下以編輯母片標題樣式</a:t>
            </a:r>
            <a:endParaRPr lang="en-US"/>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TW" altLang="en-US"/>
              <a:t>按一下以編輯母片子標題樣式</a:t>
            </a:r>
            <a:endParaRPr lang="en-US"/>
          </a:p>
        </p:txBody>
      </p:sp>
      <p:sp>
        <p:nvSpPr>
          <p:cNvPr id="4" name="Date Placeholder 3"/>
          <p:cNvSpPr>
            <a:spLocks noGrp="1"/>
          </p:cNvSpPr>
          <p:nvPr>
            <p:ph type="dt" sz="half" idx="10"/>
          </p:nvPr>
        </p:nvSpPr>
        <p:spPr/>
        <p:txBody>
          <a:bodyPr/>
          <a:lstStyle/>
          <a:p>
            <a:fld id="{4BDF68E2-58F2-4D09-BE8B-E3BD06533059}" type="datetimeFigureOut">
              <a:rPr lang="en-US" dirty="0"/>
              <a:t>3/30/26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4FAB73BC-B049-4115-A692-8D63A059BFB8}" type="slidenum">
              <a:rPr lang="en-US" smtClean="0"/>
              <a:pPr/>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553428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a:xfrm>
            <a:off x="653143" y="356088"/>
            <a:ext cx="10918371" cy="1033416"/>
          </a:xfrm>
        </p:spPr>
        <p:txBody>
          <a:bodyPr/>
          <a:lstStyle>
            <a:lvl1pPr marL="0">
              <a:defRPr/>
            </a:lvl1pPr>
          </a:lstStyle>
          <a:p>
            <a:r>
              <a:rPr lang="zh-TW" altLang="en-US"/>
              <a:t>按一下以編輯母片標題樣式</a:t>
            </a:r>
            <a:endParaRPr lang="en-US" dirty="0"/>
          </a:p>
        </p:txBody>
      </p:sp>
      <p:sp>
        <p:nvSpPr>
          <p:cNvPr id="3" name="Content Placeholder 2"/>
          <p:cNvSpPr>
            <a:spLocks noGrp="1"/>
          </p:cNvSpPr>
          <p:nvPr>
            <p:ph idx="1"/>
          </p:nvPr>
        </p:nvSpPr>
        <p:spPr>
          <a:xfrm>
            <a:off x="653143" y="1845734"/>
            <a:ext cx="10918371" cy="402336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lvl1pPr>
              <a:defRPr sz="1400"/>
            </a:lvl1pPr>
          </a:lstStyle>
          <a:p>
            <a:endParaRPr lang="en-US" dirty="0"/>
          </a:p>
        </p:txBody>
      </p:sp>
      <p:sp>
        <p:nvSpPr>
          <p:cNvPr id="5" name="Footer Placeholder 4"/>
          <p:cNvSpPr>
            <a:spLocks noGrp="1"/>
          </p:cNvSpPr>
          <p:nvPr>
            <p:ph type="ftr" sz="quarter" idx="11"/>
          </p:nvPr>
        </p:nvSpPr>
        <p:spPr/>
        <p:txBody>
          <a:bodyPr/>
          <a:lstStyle>
            <a:lvl1pPr>
              <a:defRPr sz="1400"/>
            </a:lvl1pPr>
          </a:lstStyle>
          <a:p>
            <a:endParaRPr lang="en-US" dirty="0"/>
          </a:p>
        </p:txBody>
      </p:sp>
      <p:sp>
        <p:nvSpPr>
          <p:cNvPr id="14" name="Slide Number Placeholder 5">
            <a:extLst>
              <a:ext uri="{FF2B5EF4-FFF2-40B4-BE49-F238E27FC236}">
                <a16:creationId xmlns:a16="http://schemas.microsoft.com/office/drawing/2014/main" id="{47DAD89E-131D-FDCA-9260-AC41911030D0}"/>
              </a:ext>
            </a:extLst>
          </p:cNvPr>
          <p:cNvSpPr>
            <a:spLocks noGrp="1"/>
          </p:cNvSpPr>
          <p:nvPr>
            <p:ph type="sldNum" sz="quarter" idx="12"/>
          </p:nvPr>
        </p:nvSpPr>
        <p:spPr>
          <a:xfrm>
            <a:off x="10612955" y="6415560"/>
            <a:ext cx="1312025" cy="365125"/>
          </a:xfrm>
        </p:spPr>
        <p:txBody>
          <a:bodyPr/>
          <a:lstStyle>
            <a:lvl1pPr>
              <a:defRPr sz="1400">
                <a:solidFill>
                  <a:schemeClr val="tx1"/>
                </a:solidFill>
              </a:defRPr>
            </a:lvl1pPr>
          </a:lstStyle>
          <a:p>
            <a:fld id="{6113E31D-E2AB-40D1-8B51-AFA5AFEF393A}" type="slidenum">
              <a:rPr lang="en-US" smtClean="0"/>
              <a:pPr/>
              <a:t>‹#›</a:t>
            </a:fld>
            <a:endParaRPr lang="en-US" dirty="0"/>
          </a:p>
        </p:txBody>
      </p:sp>
      <p:sp>
        <p:nvSpPr>
          <p:cNvPr id="6" name="文字方塊 5">
            <a:extLst>
              <a:ext uri="{FF2B5EF4-FFF2-40B4-BE49-F238E27FC236}">
                <a16:creationId xmlns:a16="http://schemas.microsoft.com/office/drawing/2014/main" id="{8B05C12B-E59D-D8B7-A3B4-27931CBD675F}"/>
              </a:ext>
            </a:extLst>
          </p:cNvPr>
          <p:cNvSpPr txBox="1"/>
          <p:nvPr userDrawn="1"/>
        </p:nvSpPr>
        <p:spPr>
          <a:xfrm>
            <a:off x="423038" y="6442992"/>
            <a:ext cx="557608" cy="268984"/>
          </a:xfrm>
          <a:prstGeom prst="rect">
            <a:avLst/>
          </a:prstGeom>
          <a:noFill/>
        </p:spPr>
        <p:txBody>
          <a:bodyPr wrap="square" rtlCol="0">
            <a:spAutoFit/>
          </a:bodyPr>
          <a:lstStyle/>
          <a:p>
            <a:pPr>
              <a:lnSpc>
                <a:spcPct val="80000"/>
              </a:lnSpc>
            </a:pPr>
            <a:r>
              <a:rPr kumimoji="1" lang="en-US" altLang="zh-TW" sz="1400" dirty="0">
                <a:ea typeface="Nanum Brush Script" panose="03060600000000000000" pitchFamily="66" charset="-127"/>
                <a:cs typeface="Arial" panose="020B0604020202020204" pitchFamily="34" charset="0"/>
              </a:rPr>
              <a:t>NLP</a:t>
            </a:r>
            <a:endParaRPr kumimoji="1" lang="zh-TW" altLang="en-US" sz="1400" dirty="0">
              <a:cs typeface="Arial" panose="020B0604020202020204" pitchFamily="34" charset="0"/>
            </a:endParaRPr>
          </a:p>
        </p:txBody>
      </p:sp>
      <p:pic>
        <p:nvPicPr>
          <p:cNvPr id="7" name="圖形 6" descr="聊天泡泡 外框">
            <a:extLst>
              <a:ext uri="{FF2B5EF4-FFF2-40B4-BE49-F238E27FC236}">
                <a16:creationId xmlns:a16="http://schemas.microsoft.com/office/drawing/2014/main" id="{0B067696-6EA5-0A4A-14B8-D7C17072FE9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1093" y="6388664"/>
            <a:ext cx="377640" cy="377640"/>
          </a:xfrm>
          <a:prstGeom prst="rect">
            <a:avLst/>
          </a:prstGeom>
        </p:spPr>
      </p:pic>
    </p:spTree>
    <p:extLst>
      <p:ext uri="{BB962C8B-B14F-4D97-AF65-F5344CB8AC3E}">
        <p14:creationId xmlns:p14="http://schemas.microsoft.com/office/powerpoint/2010/main" val="417986838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zh-TW" altLang="en-US"/>
              <a:t>按一下以編輯母片標題樣式</a:t>
            </a:r>
            <a:endParaRPr lang="en-US"/>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20EBB0C4-6273-4C6E-B9BD-2EDC30F1CD52}" type="datetimeFigureOut">
              <a:rPr lang="en-US" dirty="0"/>
              <a:t>3/30/26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911656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兩個內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7279" y="1845734"/>
            <a:ext cx="4937760" cy="402336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Content Placeholder 3"/>
          <p:cNvSpPr>
            <a:spLocks noGrp="1"/>
          </p:cNvSpPr>
          <p:nvPr>
            <p:ph sz="half" idx="2"/>
          </p:nvPr>
        </p:nvSpPr>
        <p:spPr>
          <a:xfrm>
            <a:off x="6217920" y="1845735"/>
            <a:ext cx="4937760" cy="402336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Date Placeholder 4"/>
          <p:cNvSpPr>
            <a:spLocks noGrp="1"/>
          </p:cNvSpPr>
          <p:nvPr>
            <p:ph type="dt" sz="half" idx="10"/>
          </p:nvPr>
        </p:nvSpPr>
        <p:spPr/>
        <p:txBody>
          <a:bodyPr/>
          <a:lstStyle/>
          <a:p>
            <a:fld id="{19AB4D41-86C1-4908-B66A-0B50CEB3BF29}" type="datetimeFigureOut">
              <a:rPr lang="en-US" dirty="0"/>
              <a:t>3/30/26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
        <p:nvSpPr>
          <p:cNvPr id="2" name="Title Placeholder 1">
            <a:extLst>
              <a:ext uri="{FF2B5EF4-FFF2-40B4-BE49-F238E27FC236}">
                <a16:creationId xmlns:a16="http://schemas.microsoft.com/office/drawing/2014/main" id="{23DAB314-DF41-49F3-8643-5960470A9A8E}"/>
              </a:ext>
            </a:extLst>
          </p:cNvPr>
          <p:cNvSpPr>
            <a:spLocks noGrp="1"/>
          </p:cNvSpPr>
          <p:nvPr>
            <p:ph type="title"/>
          </p:nvPr>
        </p:nvSpPr>
        <p:spPr>
          <a:xfrm>
            <a:off x="1097280" y="356088"/>
            <a:ext cx="10058400" cy="1033416"/>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Tree>
    <p:extLst>
      <p:ext uri="{BB962C8B-B14F-4D97-AF65-F5344CB8AC3E}">
        <p14:creationId xmlns:p14="http://schemas.microsoft.com/office/powerpoint/2010/main" val="177649639"/>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1097280" y="2582334"/>
            <a:ext cx="4937760" cy="33782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Content Placeholder 5"/>
          <p:cNvSpPr>
            <a:spLocks noGrp="1"/>
          </p:cNvSpPr>
          <p:nvPr>
            <p:ph sz="quarter" idx="4"/>
          </p:nvPr>
        </p:nvSpPr>
        <p:spPr>
          <a:xfrm>
            <a:off x="6217920" y="2582334"/>
            <a:ext cx="4937760" cy="33782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7" name="Date Placeholder 6"/>
          <p:cNvSpPr>
            <a:spLocks noGrp="1"/>
          </p:cNvSpPr>
          <p:nvPr>
            <p:ph type="dt" sz="half" idx="10"/>
          </p:nvPr>
        </p:nvSpPr>
        <p:spPr/>
        <p:txBody>
          <a:bodyPr/>
          <a:lstStyle/>
          <a:p>
            <a:fld id="{E6426E2C-56C1-4E0D-A793-0088A7FDD37E}" type="datetimeFigureOut">
              <a:rPr lang="en-US" dirty="0"/>
              <a:t>3/30/26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a:p>
        </p:txBody>
      </p:sp>
      <p:sp>
        <p:nvSpPr>
          <p:cNvPr id="2" name="Title Placeholder 1">
            <a:extLst>
              <a:ext uri="{FF2B5EF4-FFF2-40B4-BE49-F238E27FC236}">
                <a16:creationId xmlns:a16="http://schemas.microsoft.com/office/drawing/2014/main" id="{826FF28B-EE0C-0976-1882-688F90260E58}"/>
              </a:ext>
            </a:extLst>
          </p:cNvPr>
          <p:cNvSpPr>
            <a:spLocks noGrp="1"/>
          </p:cNvSpPr>
          <p:nvPr>
            <p:ph type="title"/>
          </p:nvPr>
        </p:nvSpPr>
        <p:spPr>
          <a:xfrm>
            <a:off x="1097280" y="356088"/>
            <a:ext cx="10058400" cy="1033416"/>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Tree>
    <p:extLst>
      <p:ext uri="{BB962C8B-B14F-4D97-AF65-F5344CB8AC3E}">
        <p14:creationId xmlns:p14="http://schemas.microsoft.com/office/powerpoint/2010/main" val="3163792004"/>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只有標題">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C8C39B41-D8B5-4052-B551-9B5525EAA8B6}" type="datetimeFigureOut">
              <a:rPr lang="en-US" dirty="0"/>
              <a:t>3/30/26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a:p>
        </p:txBody>
      </p:sp>
      <p:sp>
        <p:nvSpPr>
          <p:cNvPr id="6" name="Title Placeholder 1">
            <a:extLst>
              <a:ext uri="{FF2B5EF4-FFF2-40B4-BE49-F238E27FC236}">
                <a16:creationId xmlns:a16="http://schemas.microsoft.com/office/drawing/2014/main" id="{78DE478E-C0B1-6FFC-0061-DA2334C3F997}"/>
              </a:ext>
            </a:extLst>
          </p:cNvPr>
          <p:cNvSpPr>
            <a:spLocks noGrp="1"/>
          </p:cNvSpPr>
          <p:nvPr>
            <p:ph type="title"/>
          </p:nvPr>
        </p:nvSpPr>
        <p:spPr>
          <a:xfrm>
            <a:off x="1097280" y="356088"/>
            <a:ext cx="10058400" cy="1033416"/>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Tree>
    <p:extLst>
      <p:ext uri="{BB962C8B-B14F-4D97-AF65-F5344CB8AC3E}">
        <p14:creationId xmlns:p14="http://schemas.microsoft.com/office/powerpoint/2010/main" val="2566719898"/>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dirty="0"/>
              <a:t>3/30/26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3411310670"/>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輔助字幕的內容">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zh-TW" altLang="en-US"/>
              <a:t>按一下以編輯母片標題樣式</a:t>
            </a:r>
            <a:endParaRPr lang="en-US"/>
          </a:p>
        </p:txBody>
      </p:sp>
      <p:sp>
        <p:nvSpPr>
          <p:cNvPr id="3" name="Content Placeholder 2"/>
          <p:cNvSpPr>
            <a:spLocks noGrp="1"/>
          </p:cNvSpPr>
          <p:nvPr>
            <p:ph idx="1"/>
          </p:nvPr>
        </p:nvSpPr>
        <p:spPr>
          <a:xfrm>
            <a:off x="4800600" y="731520"/>
            <a:ext cx="6492240" cy="52578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dirty="0"/>
              <a:t>3/30/26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a:p>
        </p:txBody>
      </p:sp>
    </p:spTree>
    <p:extLst>
      <p:ext uri="{BB962C8B-B14F-4D97-AF65-F5344CB8AC3E}">
        <p14:creationId xmlns:p14="http://schemas.microsoft.com/office/powerpoint/2010/main" val="3179226812"/>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輔助字幕的圖片">
    <p:spTree>
      <p:nvGrpSpPr>
        <p:cNvPr id="1" name=""/>
        <p:cNvGrpSpPr/>
        <p:nvPr/>
      </p:nvGrpSpPr>
      <p:grpSpPr>
        <a:xfrm>
          <a:off x="0" y="0"/>
          <a:ext cx="0" cy="0"/>
          <a:chOff x="0" y="0"/>
          <a:chExt cx="0" cy="0"/>
        </a:xfrm>
      </p:grpSpPr>
      <p:sp>
        <p:nvSpPr>
          <p:cNvPr id="8" name="Rectangle 7"/>
          <p:cNvSpPr/>
          <p:nvPr userDrawn="1"/>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zh-TW" altLang="en-US"/>
              <a:t>按一下以編輯母片標題樣式</a:t>
            </a:r>
            <a:endParaRPr lang="en-US"/>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C9CAD897-D46E-4AD2-BD9B-49DD3E640873}" type="datetimeFigureOut">
              <a:rPr lang="en-US" dirty="0"/>
              <a:t>3/30/26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849161626"/>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標題及直排文字">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lIns="45720" tIns="0" rIns="45720" bIns="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2E2D6473-DF6D-4702-B328-E0DD40540A4E}" type="datetimeFigureOut">
              <a:rPr lang="en-US" dirty="0"/>
              <a:t>3/30/26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
        <p:nvSpPr>
          <p:cNvPr id="7" name="Title 1">
            <a:extLst>
              <a:ext uri="{FF2B5EF4-FFF2-40B4-BE49-F238E27FC236}">
                <a16:creationId xmlns:a16="http://schemas.microsoft.com/office/drawing/2014/main" id="{25B6B208-0D45-71D0-C7BE-D6974D30EB1D}"/>
              </a:ext>
            </a:extLst>
          </p:cNvPr>
          <p:cNvSpPr>
            <a:spLocks noGrp="1"/>
          </p:cNvSpPr>
          <p:nvPr>
            <p:ph type="title"/>
          </p:nvPr>
        </p:nvSpPr>
        <p:spPr>
          <a:xfrm>
            <a:off x="1097280" y="356088"/>
            <a:ext cx="10058400" cy="1033416"/>
          </a:xfrm>
        </p:spPr>
        <p:txBody>
          <a:bodyPr/>
          <a:lstStyle>
            <a:lvl1pPr marL="0">
              <a:defRPr/>
            </a:lvl1pPr>
          </a:lstStyle>
          <a:p>
            <a:r>
              <a:rPr lang="zh-TW" altLang="en-US"/>
              <a:t>按一下以編輯母片標題樣式</a:t>
            </a:r>
            <a:endParaRPr lang="en-US" dirty="0"/>
          </a:p>
        </p:txBody>
      </p:sp>
    </p:spTree>
    <p:extLst>
      <p:ext uri="{BB962C8B-B14F-4D97-AF65-F5344CB8AC3E}">
        <p14:creationId xmlns:p14="http://schemas.microsoft.com/office/powerpoint/2010/main" val="9010684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zh-TW" altLang="en-US"/>
              <a:t>按一下以編輯母片標題樣式</a:t>
            </a:r>
            <a:endParaRPr lang="en-US"/>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E26F7E3A-B166-407D-9866-32884E7D5B37}" type="datetimeFigureOut">
              <a:rPr lang="en-US" dirty="0"/>
              <a:t>3/30/26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834143666"/>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676003" y="1355758"/>
            <a:ext cx="10839994" cy="45719"/>
          </a:xfrm>
          <a:prstGeom prst="rect">
            <a:avLst/>
          </a:prstGeom>
          <a:solidFill>
            <a:srgbClr val="FF94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356088"/>
            <a:ext cx="10058400" cy="1033416"/>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chemeClr val="tx1"/>
                </a:solidFill>
              </a:defRPr>
            </a:lvl1pPr>
          </a:lstStyle>
          <a:p>
            <a:r>
              <a:rPr lang="en-US" dirty="0"/>
              <a:t>CGU</a:t>
            </a: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a:p>
        </p:txBody>
      </p:sp>
    </p:spTree>
    <p:extLst>
      <p:ext uri="{BB962C8B-B14F-4D97-AF65-F5344CB8AC3E}">
        <p14:creationId xmlns:p14="http://schemas.microsoft.com/office/powerpoint/2010/main" val="1567101252"/>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hyperlink" Target="https://app.sli.do/event/rSNueoC3PXQmdkyd4XMFCp"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610.png"/><Relationship Id="rId4" Type="http://schemas.openxmlformats.org/officeDocument/2006/relationships/image" Target="../media/image6000.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140.png"/><Relationship Id="rId3" Type="http://schemas.openxmlformats.org/officeDocument/2006/relationships/image" Target="../media/image90.png"/><Relationship Id="rId7" Type="http://schemas.openxmlformats.org/officeDocument/2006/relationships/image" Target="../media/image130.png"/><Relationship Id="rId2" Type="http://schemas.openxmlformats.org/officeDocument/2006/relationships/image" Target="../media/image80.png"/><Relationship Id="rId1" Type="http://schemas.openxmlformats.org/officeDocument/2006/relationships/slideLayout" Target="../slideLayouts/slideLayout2.xml"/><Relationship Id="rId6" Type="http://schemas.openxmlformats.org/officeDocument/2006/relationships/image" Target="../media/image120.png"/><Relationship Id="rId5" Type="http://schemas.openxmlformats.org/officeDocument/2006/relationships/image" Target="../media/image110.png"/><Relationship Id="rId4" Type="http://schemas.openxmlformats.org/officeDocument/2006/relationships/image" Target="../media/image100.png"/><Relationship Id="rId9" Type="http://schemas.openxmlformats.org/officeDocument/2006/relationships/image" Target="../media/image150.png"/></Relationships>
</file>

<file path=ppt/slides/_rels/slide24.xml.rels><?xml version="1.0" encoding="UTF-8" standalone="yes"?>
<Relationships xmlns="http://schemas.openxmlformats.org/package/2006/relationships"><Relationship Id="rId8" Type="http://schemas.openxmlformats.org/officeDocument/2006/relationships/image" Target="../media/image140.png"/><Relationship Id="rId3" Type="http://schemas.openxmlformats.org/officeDocument/2006/relationships/image" Target="../media/image160.png"/><Relationship Id="rId7" Type="http://schemas.openxmlformats.org/officeDocument/2006/relationships/image" Target="../media/image202.png"/><Relationship Id="rId2" Type="http://schemas.openxmlformats.org/officeDocument/2006/relationships/image" Target="../media/image80.png"/><Relationship Id="rId1" Type="http://schemas.openxmlformats.org/officeDocument/2006/relationships/slideLayout" Target="../slideLayouts/slideLayout2.xml"/><Relationship Id="rId6" Type="http://schemas.openxmlformats.org/officeDocument/2006/relationships/image" Target="../media/image190.png"/><Relationship Id="rId5" Type="http://schemas.openxmlformats.org/officeDocument/2006/relationships/image" Target="../media/image180.png"/><Relationship Id="rId4" Type="http://schemas.openxmlformats.org/officeDocument/2006/relationships/image" Target="../media/image170.png"/><Relationship Id="rId9" Type="http://schemas.openxmlformats.org/officeDocument/2006/relationships/image" Target="../media/image211.png"/></Relationships>
</file>

<file path=ppt/slides/_rels/slide25.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image" Target="../media/image80.png"/><Relationship Id="rId1" Type="http://schemas.openxmlformats.org/officeDocument/2006/relationships/slideLayout" Target="../slideLayouts/slideLayout2.xml"/><Relationship Id="rId6" Type="http://schemas.openxmlformats.org/officeDocument/2006/relationships/image" Target="../media/image27.jpeg"/><Relationship Id="rId5" Type="http://schemas.openxmlformats.org/officeDocument/2006/relationships/image" Target="../media/image230.png"/><Relationship Id="rId4" Type="http://schemas.openxmlformats.org/officeDocument/2006/relationships/image" Target="../media/image220.png"/></Relationships>
</file>

<file path=ppt/slides/_rels/slide26.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27.jpeg"/></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hyperlink" Target="https://arxiv.org/abs/1810.04805" TargetMode="External"/><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7.png"/></Relationships>
</file>

<file path=ppt/slides/_rels/slide3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8" Type="http://schemas.openxmlformats.org/officeDocument/2006/relationships/image" Target="../media/image350.png"/><Relationship Id="rId3" Type="http://schemas.openxmlformats.org/officeDocument/2006/relationships/image" Target="../media/image300.png"/><Relationship Id="rId7" Type="http://schemas.openxmlformats.org/officeDocument/2006/relationships/image" Target="../media/image340.png"/><Relationship Id="rId2" Type="http://schemas.openxmlformats.org/officeDocument/2006/relationships/image" Target="../media/image290.png"/><Relationship Id="rId1" Type="http://schemas.openxmlformats.org/officeDocument/2006/relationships/slideLayout" Target="../slideLayouts/slideLayout2.xml"/><Relationship Id="rId6" Type="http://schemas.openxmlformats.org/officeDocument/2006/relationships/image" Target="../media/image330.png"/><Relationship Id="rId5" Type="http://schemas.openxmlformats.org/officeDocument/2006/relationships/image" Target="../media/image320.png"/><Relationship Id="rId10" Type="http://schemas.openxmlformats.org/officeDocument/2006/relationships/image" Target="../media/image370.png"/><Relationship Id="rId4" Type="http://schemas.openxmlformats.org/officeDocument/2006/relationships/image" Target="../media/image310.png"/><Relationship Id="rId9" Type="http://schemas.openxmlformats.org/officeDocument/2006/relationships/image" Target="../media/image36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81.png"/><Relationship Id="rId7"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10.png"/><Relationship Id="rId5" Type="http://schemas.openxmlformats.org/officeDocument/2006/relationships/image" Target="../media/image201.png"/><Relationship Id="rId4" Type="http://schemas.openxmlformats.org/officeDocument/2006/relationships/image" Target="../media/image200.png"/></Relationships>
</file>

<file path=ppt/slides/_rels/slide53.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png"/><Relationship Id="rId18" Type="http://schemas.openxmlformats.org/officeDocument/2006/relationships/image" Target="../media/image56.png"/><Relationship Id="rId3" Type="http://schemas.openxmlformats.org/officeDocument/2006/relationships/image" Target="../media/image410.png"/><Relationship Id="rId7" Type="http://schemas.openxmlformats.org/officeDocument/2006/relationships/image" Target="../media/image450.png"/><Relationship Id="rId12" Type="http://schemas.openxmlformats.org/officeDocument/2006/relationships/image" Target="../media/image50.png"/><Relationship Id="rId17" Type="http://schemas.openxmlformats.org/officeDocument/2006/relationships/image" Target="../media/image55.png"/><Relationship Id="rId2" Type="http://schemas.openxmlformats.org/officeDocument/2006/relationships/notesSlide" Target="../notesSlides/notesSlide19.xml"/><Relationship Id="rId16" Type="http://schemas.openxmlformats.org/officeDocument/2006/relationships/image" Target="../media/image54.png"/><Relationship Id="rId20"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45.png"/><Relationship Id="rId11" Type="http://schemas.openxmlformats.org/officeDocument/2006/relationships/image" Target="../media/image49.png"/><Relationship Id="rId5" Type="http://schemas.openxmlformats.org/officeDocument/2006/relationships/image" Target="../media/image430.png"/><Relationship Id="rId15" Type="http://schemas.openxmlformats.org/officeDocument/2006/relationships/image" Target="../media/image53.png"/><Relationship Id="rId10" Type="http://schemas.openxmlformats.org/officeDocument/2006/relationships/image" Target="../media/image48.png"/><Relationship Id="rId19" Type="http://schemas.openxmlformats.org/officeDocument/2006/relationships/image" Target="../media/image57.png"/><Relationship Id="rId4" Type="http://schemas.openxmlformats.org/officeDocument/2006/relationships/image" Target="../media/image420.png"/><Relationship Id="rId9" Type="http://schemas.openxmlformats.org/officeDocument/2006/relationships/image" Target="../media/image47.png"/><Relationship Id="rId14" Type="http://schemas.openxmlformats.org/officeDocument/2006/relationships/image" Target="../media/image52.png"/></Relationships>
</file>

<file path=ppt/slides/_rels/slide54.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69.png"/><Relationship Id="rId18" Type="http://schemas.openxmlformats.org/officeDocument/2006/relationships/image" Target="../media/image74.png"/><Relationship Id="rId26" Type="http://schemas.openxmlformats.org/officeDocument/2006/relationships/image" Target="../media/image82.png"/><Relationship Id="rId3" Type="http://schemas.openxmlformats.org/officeDocument/2006/relationships/image" Target="../media/image59.png"/><Relationship Id="rId21" Type="http://schemas.openxmlformats.org/officeDocument/2006/relationships/image" Target="../media/image76.png"/><Relationship Id="rId7" Type="http://schemas.openxmlformats.org/officeDocument/2006/relationships/image" Target="../media/image63.png"/><Relationship Id="rId12" Type="http://schemas.openxmlformats.org/officeDocument/2006/relationships/image" Target="../media/image68.png"/><Relationship Id="rId17" Type="http://schemas.openxmlformats.org/officeDocument/2006/relationships/image" Target="../media/image73.png"/><Relationship Id="rId25" Type="http://schemas.openxmlformats.org/officeDocument/2006/relationships/image" Target="../media/image81.png"/><Relationship Id="rId2" Type="http://schemas.openxmlformats.org/officeDocument/2006/relationships/image" Target="../media/image23.png"/><Relationship Id="rId16" Type="http://schemas.openxmlformats.org/officeDocument/2006/relationships/image" Target="../media/image72.png"/><Relationship Id="rId20" Type="http://schemas.openxmlformats.org/officeDocument/2006/relationships/image" Target="../media/image75.png"/><Relationship Id="rId29" Type="http://schemas.openxmlformats.org/officeDocument/2006/relationships/image" Target="../media/image85.png"/><Relationship Id="rId1" Type="http://schemas.openxmlformats.org/officeDocument/2006/relationships/slideLayout" Target="../slideLayouts/slideLayout2.xml"/><Relationship Id="rId6" Type="http://schemas.openxmlformats.org/officeDocument/2006/relationships/image" Target="../media/image62.png"/><Relationship Id="rId11" Type="http://schemas.openxmlformats.org/officeDocument/2006/relationships/image" Target="../media/image67.png"/><Relationship Id="rId24" Type="http://schemas.openxmlformats.org/officeDocument/2006/relationships/image" Target="../media/image79.png"/><Relationship Id="rId5" Type="http://schemas.openxmlformats.org/officeDocument/2006/relationships/image" Target="../media/image61.png"/><Relationship Id="rId15" Type="http://schemas.openxmlformats.org/officeDocument/2006/relationships/image" Target="../media/image71.png"/><Relationship Id="rId23" Type="http://schemas.openxmlformats.org/officeDocument/2006/relationships/image" Target="../media/image78.png"/><Relationship Id="rId28" Type="http://schemas.openxmlformats.org/officeDocument/2006/relationships/image" Target="../media/image84.png"/><Relationship Id="rId10" Type="http://schemas.openxmlformats.org/officeDocument/2006/relationships/image" Target="../media/image66.png"/><Relationship Id="rId19" Type="http://schemas.openxmlformats.org/officeDocument/2006/relationships/image" Target="../media/image46.png"/><Relationship Id="rId31" Type="http://schemas.openxmlformats.org/officeDocument/2006/relationships/image" Target="../media/image87.png"/><Relationship Id="rId4" Type="http://schemas.openxmlformats.org/officeDocument/2006/relationships/image" Target="../media/image60.png"/><Relationship Id="rId9" Type="http://schemas.openxmlformats.org/officeDocument/2006/relationships/image" Target="../media/image65.png"/><Relationship Id="rId14" Type="http://schemas.openxmlformats.org/officeDocument/2006/relationships/image" Target="../media/image70.png"/><Relationship Id="rId22" Type="http://schemas.openxmlformats.org/officeDocument/2006/relationships/image" Target="../media/image77.png"/><Relationship Id="rId27" Type="http://schemas.openxmlformats.org/officeDocument/2006/relationships/image" Target="../media/image83.png"/><Relationship Id="rId30" Type="http://schemas.openxmlformats.org/officeDocument/2006/relationships/image" Target="../media/image86.png"/></Relationships>
</file>

<file path=ppt/slides/_rels/slide55.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88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圓角矩形 7">
            <a:extLst>
              <a:ext uri="{FF2B5EF4-FFF2-40B4-BE49-F238E27FC236}">
                <a16:creationId xmlns:a16="http://schemas.microsoft.com/office/drawing/2014/main" id="{AA8F8551-2C61-48D1-9E5C-345C10BAAC8B}"/>
              </a:ext>
            </a:extLst>
          </p:cNvPr>
          <p:cNvSpPr/>
          <p:nvPr/>
        </p:nvSpPr>
        <p:spPr>
          <a:xfrm>
            <a:off x="667422" y="1891904"/>
            <a:ext cx="10857156" cy="2857500"/>
          </a:xfrm>
          <a:prstGeom prst="roundRect">
            <a:avLst/>
          </a:prstGeom>
          <a:solidFill>
            <a:srgbClr val="FFCE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 name="標題 1">
            <a:extLst>
              <a:ext uri="{FF2B5EF4-FFF2-40B4-BE49-F238E27FC236}">
                <a16:creationId xmlns:a16="http://schemas.microsoft.com/office/drawing/2014/main" id="{8C058193-D513-E805-2BD5-118E50D976F8}"/>
              </a:ext>
            </a:extLst>
          </p:cNvPr>
          <p:cNvSpPr>
            <a:spLocks noGrp="1"/>
          </p:cNvSpPr>
          <p:nvPr>
            <p:ph type="ctrTitle"/>
          </p:nvPr>
        </p:nvSpPr>
        <p:spPr>
          <a:xfrm>
            <a:off x="759623" y="2056517"/>
            <a:ext cx="10857156" cy="2758710"/>
          </a:xfrm>
        </p:spPr>
        <p:txBody>
          <a:bodyPr anchor="ctr">
            <a:noAutofit/>
          </a:bodyPr>
          <a:lstStyle/>
          <a:p>
            <a:r>
              <a:rPr kumimoji="1" lang="zh-TW" altLang="en-US" sz="4800" b="1" dirty="0">
                <a:ea typeface="Microsoft JhengHei" panose="020B0604030504040204" pitchFamily="34" charset="-120"/>
              </a:rPr>
              <a:t>自然語言處理與應用</a:t>
            </a:r>
            <a:br>
              <a:rPr kumimoji="1" lang="en-US" altLang="zh-TW" sz="4800" b="1" dirty="0">
                <a:ea typeface="Microsoft JhengHei" panose="020B0604030504040204" pitchFamily="34" charset="-120"/>
              </a:rPr>
            </a:br>
            <a:r>
              <a:rPr kumimoji="1" lang="en-US" altLang="zh-TW" sz="4800" b="1" dirty="0">
                <a:ea typeface="Microsoft JhengHei" panose="020B0604030504040204" pitchFamily="34" charset="-120"/>
              </a:rPr>
              <a:t>Natural Language Processing and Applications</a:t>
            </a:r>
            <a:endParaRPr kumimoji="1" lang="zh-TW" altLang="en-US" sz="4800" b="1" dirty="0">
              <a:ea typeface="Microsoft JhengHei" panose="020B0604030504040204" pitchFamily="34" charset="-120"/>
            </a:endParaRPr>
          </a:p>
        </p:txBody>
      </p:sp>
      <p:sp>
        <p:nvSpPr>
          <p:cNvPr id="10" name="文字方塊 9">
            <a:extLst>
              <a:ext uri="{FF2B5EF4-FFF2-40B4-BE49-F238E27FC236}">
                <a16:creationId xmlns:a16="http://schemas.microsoft.com/office/drawing/2014/main" id="{6598A032-0E8B-F9E1-A926-2F2E78D575C6}"/>
              </a:ext>
            </a:extLst>
          </p:cNvPr>
          <p:cNvSpPr txBox="1"/>
          <p:nvPr/>
        </p:nvSpPr>
        <p:spPr>
          <a:xfrm>
            <a:off x="759623" y="4881049"/>
            <a:ext cx="4560522" cy="1384995"/>
          </a:xfrm>
          <a:prstGeom prst="rect">
            <a:avLst/>
          </a:prstGeom>
          <a:noFill/>
        </p:spPr>
        <p:txBody>
          <a:bodyPr wrap="square" rtlCol="0">
            <a:spAutoFit/>
          </a:bodyPr>
          <a:lstStyle/>
          <a:p>
            <a:r>
              <a:rPr kumimoji="1" lang="en-US" altLang="zh-TW" sz="2800" b="1" dirty="0">
                <a:solidFill>
                  <a:srgbClr val="0070C0"/>
                </a:solidFill>
                <a:latin typeface="+mj-lt"/>
                <a:cs typeface="Calibri" panose="020F0502020204030204" pitchFamily="34" charset="0"/>
              </a:rPr>
              <a:t>BERT and its Family</a:t>
            </a:r>
          </a:p>
          <a:p>
            <a:endParaRPr kumimoji="1" lang="en-US" altLang="zh-TW" sz="2800" b="1" dirty="0">
              <a:solidFill>
                <a:srgbClr val="0070C0"/>
              </a:solidFill>
              <a:latin typeface="+mj-lt"/>
              <a:cs typeface="Calibri" panose="020F0502020204030204" pitchFamily="34" charset="0"/>
            </a:endParaRPr>
          </a:p>
          <a:p>
            <a:endParaRPr kumimoji="1" lang="zh-TW" altLang="en-US" sz="2800" b="1" dirty="0">
              <a:solidFill>
                <a:srgbClr val="0070C0"/>
              </a:solidFill>
              <a:latin typeface="+mj-lt"/>
              <a:cs typeface="Calibri" panose="020F0502020204030204" pitchFamily="34" charset="0"/>
            </a:endParaRPr>
          </a:p>
        </p:txBody>
      </p:sp>
      <p:sp>
        <p:nvSpPr>
          <p:cNvPr id="12" name="文字方塊 11">
            <a:extLst>
              <a:ext uri="{FF2B5EF4-FFF2-40B4-BE49-F238E27FC236}">
                <a16:creationId xmlns:a16="http://schemas.microsoft.com/office/drawing/2014/main" id="{2F843A79-3FEF-CDAD-6B9A-C5A7AD279D2D}"/>
              </a:ext>
            </a:extLst>
          </p:cNvPr>
          <p:cNvSpPr txBox="1"/>
          <p:nvPr/>
        </p:nvSpPr>
        <p:spPr>
          <a:xfrm>
            <a:off x="759623" y="5914787"/>
            <a:ext cx="4182671" cy="707886"/>
          </a:xfrm>
          <a:prstGeom prst="rect">
            <a:avLst/>
          </a:prstGeom>
          <a:noFill/>
        </p:spPr>
        <p:txBody>
          <a:bodyPr wrap="square" rtlCol="0">
            <a:spAutoFit/>
          </a:bodyPr>
          <a:lstStyle/>
          <a:p>
            <a:r>
              <a:rPr kumimoji="1" lang="en-US" altLang="zh-TW" sz="2000" b="1" dirty="0">
                <a:latin typeface="+mj-lt"/>
                <a:ea typeface="Microsoft JhengHei" panose="020B0604030504040204" pitchFamily="34" charset="-120"/>
                <a:cs typeface="Calibri" panose="020F0502020204030204" pitchFamily="34" charset="0"/>
              </a:rPr>
              <a:t>Instructor: </a:t>
            </a:r>
            <a:r>
              <a:rPr kumimoji="1" lang="zh-TW" altLang="en-US" sz="2000" b="1" dirty="0">
                <a:latin typeface="+mj-lt"/>
                <a:ea typeface="Microsoft JhengHei" panose="020B0604030504040204" pitchFamily="34" charset="-120"/>
                <a:cs typeface="Calibri" panose="020F0502020204030204" pitchFamily="34" charset="0"/>
              </a:rPr>
              <a:t>林英嘉 </a:t>
            </a:r>
            <a:r>
              <a:rPr kumimoji="1" lang="en-US" altLang="zh-TW" sz="2000" b="1" dirty="0">
                <a:latin typeface="+mj-lt"/>
                <a:ea typeface="Microsoft JhengHei" panose="020B0604030504040204" pitchFamily="34" charset="-120"/>
                <a:cs typeface="Calibri" panose="020F0502020204030204" pitchFamily="34" charset="0"/>
              </a:rPr>
              <a:t>(Ying-Jia Lin)</a:t>
            </a:r>
          </a:p>
          <a:p>
            <a:r>
              <a:rPr kumimoji="1" lang="en-US" altLang="zh-TW" sz="2000" b="1" dirty="0">
                <a:latin typeface="+mj-lt"/>
                <a:ea typeface="Microsoft JhengHei" panose="020B0604030504040204" pitchFamily="34" charset="-120"/>
                <a:cs typeface="Calibri" panose="020F0502020204030204" pitchFamily="34" charset="0"/>
              </a:rPr>
              <a:t>2026/03/30</a:t>
            </a:r>
            <a:endParaRPr kumimoji="1" lang="zh-TW" altLang="en-US" sz="2000" b="1" dirty="0">
              <a:latin typeface="+mj-lt"/>
              <a:ea typeface="Microsoft JhengHei" panose="020B0604030504040204" pitchFamily="34" charset="-120"/>
              <a:cs typeface="Calibri" panose="020F0502020204030204" pitchFamily="34" charset="0"/>
            </a:endParaRPr>
          </a:p>
        </p:txBody>
      </p:sp>
      <p:pic>
        <p:nvPicPr>
          <p:cNvPr id="3" name="圖片 2">
            <a:extLst>
              <a:ext uri="{FF2B5EF4-FFF2-40B4-BE49-F238E27FC236}">
                <a16:creationId xmlns:a16="http://schemas.microsoft.com/office/drawing/2014/main" id="{2C0C8410-1877-4FB2-39F9-E0CFE0480EEA}"/>
              </a:ext>
            </a:extLst>
          </p:cNvPr>
          <p:cNvPicPr>
            <a:picLocks noChangeAspect="1"/>
          </p:cNvPicPr>
          <p:nvPr/>
        </p:nvPicPr>
        <p:blipFill>
          <a:blip r:embed="rId3"/>
          <a:stretch>
            <a:fillRect/>
          </a:stretch>
        </p:blipFill>
        <p:spPr>
          <a:xfrm>
            <a:off x="10130118" y="130472"/>
            <a:ext cx="1394460" cy="1394460"/>
          </a:xfrm>
          <a:prstGeom prst="rect">
            <a:avLst/>
          </a:prstGeom>
        </p:spPr>
      </p:pic>
      <p:sp>
        <p:nvSpPr>
          <p:cNvPr id="4" name="文字方塊 3">
            <a:extLst>
              <a:ext uri="{FF2B5EF4-FFF2-40B4-BE49-F238E27FC236}">
                <a16:creationId xmlns:a16="http://schemas.microsoft.com/office/drawing/2014/main" id="{A6DEED3F-C826-615A-5EF9-02C833E509E8}"/>
              </a:ext>
            </a:extLst>
          </p:cNvPr>
          <p:cNvSpPr txBox="1"/>
          <p:nvPr/>
        </p:nvSpPr>
        <p:spPr>
          <a:xfrm>
            <a:off x="10169046" y="5391531"/>
            <a:ext cx="1558379" cy="923330"/>
          </a:xfrm>
          <a:prstGeom prst="rect">
            <a:avLst/>
          </a:prstGeom>
          <a:noFill/>
        </p:spPr>
        <p:txBody>
          <a:bodyPr wrap="square" rtlCol="0">
            <a:spAutoFit/>
          </a:bodyPr>
          <a:lstStyle/>
          <a:p>
            <a:r>
              <a:rPr kumimoji="1" lang="en" altLang="zh-TW" dirty="0" err="1"/>
              <a:t>Slido</a:t>
            </a:r>
            <a:endParaRPr kumimoji="1" lang="en" altLang="zh-TW" dirty="0"/>
          </a:p>
          <a:p>
            <a:r>
              <a:rPr kumimoji="1" lang="en" altLang="zh-TW" dirty="0"/>
              <a:t># NLP0330 (</a:t>
            </a:r>
            <a:r>
              <a:rPr kumimoji="1" lang="en" altLang="zh-TW" dirty="0">
                <a:hlinkClick r:id="rId4"/>
              </a:rPr>
              <a:t>Link</a:t>
            </a:r>
            <a:r>
              <a:rPr kumimoji="1" lang="en" altLang="zh-TW" dirty="0"/>
              <a:t>)</a:t>
            </a:r>
            <a:endParaRPr kumimoji="1" lang="zh-TW" altLang="en-US" dirty="0"/>
          </a:p>
        </p:txBody>
      </p:sp>
      <p:pic>
        <p:nvPicPr>
          <p:cNvPr id="7" name="圖片 6">
            <a:extLst>
              <a:ext uri="{FF2B5EF4-FFF2-40B4-BE49-F238E27FC236}">
                <a16:creationId xmlns:a16="http://schemas.microsoft.com/office/drawing/2014/main" id="{25D8B8BA-01EA-719E-DB6F-35B59009F056}"/>
              </a:ext>
            </a:extLst>
          </p:cNvPr>
          <p:cNvPicPr>
            <a:picLocks noChangeAspect="1"/>
          </p:cNvPicPr>
          <p:nvPr/>
        </p:nvPicPr>
        <p:blipFill>
          <a:blip r:embed="rId5"/>
          <a:srcRect t="7139"/>
          <a:stretch/>
        </p:blipFill>
        <p:spPr>
          <a:xfrm>
            <a:off x="5498071" y="4881049"/>
            <a:ext cx="2108982" cy="1958434"/>
          </a:xfrm>
          <a:prstGeom prst="rect">
            <a:avLst/>
          </a:prstGeom>
        </p:spPr>
      </p:pic>
      <p:sp>
        <p:nvSpPr>
          <p:cNvPr id="9" name="文字方塊 8">
            <a:extLst>
              <a:ext uri="{FF2B5EF4-FFF2-40B4-BE49-F238E27FC236}">
                <a16:creationId xmlns:a16="http://schemas.microsoft.com/office/drawing/2014/main" id="{5E320E30-561F-DF85-CC02-2709CD58A10B}"/>
              </a:ext>
            </a:extLst>
          </p:cNvPr>
          <p:cNvSpPr txBox="1"/>
          <p:nvPr/>
        </p:nvSpPr>
        <p:spPr>
          <a:xfrm>
            <a:off x="7389634" y="5642689"/>
            <a:ext cx="1011291" cy="369332"/>
          </a:xfrm>
          <a:prstGeom prst="rect">
            <a:avLst/>
          </a:prstGeom>
          <a:noFill/>
        </p:spPr>
        <p:txBody>
          <a:bodyPr wrap="square" rtlCol="0">
            <a:spAutoFit/>
          </a:bodyPr>
          <a:lstStyle/>
          <a:p>
            <a:r>
              <a:rPr kumimoji="1" lang="en" altLang="zh-TW" dirty="0"/>
              <a:t>GitHub</a:t>
            </a:r>
            <a:endParaRPr kumimoji="1" lang="zh-TW" altLang="en-US" dirty="0"/>
          </a:p>
        </p:txBody>
      </p:sp>
      <p:pic>
        <p:nvPicPr>
          <p:cNvPr id="5" name="圖片 4">
            <a:extLst>
              <a:ext uri="{FF2B5EF4-FFF2-40B4-BE49-F238E27FC236}">
                <a16:creationId xmlns:a16="http://schemas.microsoft.com/office/drawing/2014/main" id="{CDDD2F07-490E-C228-BD38-6E2EB1B5F679}"/>
              </a:ext>
            </a:extLst>
          </p:cNvPr>
          <p:cNvPicPr>
            <a:picLocks noChangeAspect="1"/>
          </p:cNvPicPr>
          <p:nvPr/>
        </p:nvPicPr>
        <p:blipFill>
          <a:blip r:embed="rId6"/>
          <a:stretch>
            <a:fillRect/>
          </a:stretch>
        </p:blipFill>
        <p:spPr>
          <a:xfrm>
            <a:off x="8420803" y="4925538"/>
            <a:ext cx="1729193" cy="1729193"/>
          </a:xfrm>
          <a:prstGeom prst="rect">
            <a:avLst/>
          </a:prstGeom>
        </p:spPr>
      </p:pic>
    </p:spTree>
    <p:extLst>
      <p:ext uri="{BB962C8B-B14F-4D97-AF65-F5344CB8AC3E}">
        <p14:creationId xmlns:p14="http://schemas.microsoft.com/office/powerpoint/2010/main" val="29659925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C5B9393-1699-985A-E66F-F2B388438165}"/>
              </a:ext>
            </a:extLst>
          </p:cNvPr>
          <p:cNvSpPr>
            <a:spLocks noGrp="1"/>
          </p:cNvSpPr>
          <p:nvPr>
            <p:ph type="title"/>
          </p:nvPr>
        </p:nvSpPr>
        <p:spPr/>
        <p:txBody>
          <a:bodyPr/>
          <a:lstStyle/>
          <a:p>
            <a:r>
              <a:rPr kumimoji="1" lang="en-US" altLang="zh-TW" dirty="0"/>
              <a:t>Outline</a:t>
            </a:r>
            <a:endParaRPr kumimoji="1" lang="zh-TW" altLang="en-US" dirty="0"/>
          </a:p>
        </p:txBody>
      </p:sp>
      <p:sp>
        <p:nvSpPr>
          <p:cNvPr id="4" name="投影片編號版面配置區 3">
            <a:extLst>
              <a:ext uri="{FF2B5EF4-FFF2-40B4-BE49-F238E27FC236}">
                <a16:creationId xmlns:a16="http://schemas.microsoft.com/office/drawing/2014/main" id="{38A6DC57-0B7A-1B21-F9F0-721D122BD9DD}"/>
              </a:ext>
            </a:extLst>
          </p:cNvPr>
          <p:cNvSpPr>
            <a:spLocks noGrp="1"/>
          </p:cNvSpPr>
          <p:nvPr>
            <p:ph type="sldNum" sz="quarter" idx="12"/>
          </p:nvPr>
        </p:nvSpPr>
        <p:spPr/>
        <p:txBody>
          <a:bodyPr/>
          <a:lstStyle/>
          <a:p>
            <a:fld id="{6113E31D-E2AB-40D1-8B51-AFA5AFEF393A}" type="slidenum">
              <a:rPr lang="en-US" smtClean="0"/>
              <a:pPr/>
              <a:t>2</a:t>
            </a:fld>
            <a:endParaRPr lang="en-US" dirty="0"/>
          </a:p>
        </p:txBody>
      </p:sp>
      <p:sp>
        <p:nvSpPr>
          <p:cNvPr id="5" name="文字方塊 4">
            <a:extLst>
              <a:ext uri="{FF2B5EF4-FFF2-40B4-BE49-F238E27FC236}">
                <a16:creationId xmlns:a16="http://schemas.microsoft.com/office/drawing/2014/main" id="{FFAFA69A-F103-08DD-98C8-542BFACBF3C4}"/>
              </a:ext>
            </a:extLst>
          </p:cNvPr>
          <p:cNvSpPr txBox="1"/>
          <p:nvPr/>
        </p:nvSpPr>
        <p:spPr>
          <a:xfrm>
            <a:off x="653143" y="1586847"/>
            <a:ext cx="10918370" cy="334784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en-US" altLang="zh-TW" sz="2400" dirty="0"/>
              <a:t>Recap [15 min]</a:t>
            </a:r>
          </a:p>
          <a:p>
            <a:pPr marL="342900" indent="-342900">
              <a:lnSpc>
                <a:spcPct val="150000"/>
              </a:lnSpc>
              <a:buFont typeface="Arial" panose="020B0604020202020204" pitchFamily="34" charset="0"/>
              <a:buChar char="•"/>
            </a:pPr>
            <a:r>
              <a:rPr kumimoji="1" lang="en-US" altLang="zh-TW" sz="2400" dirty="0"/>
              <a:t>Positional Encoding [20 min]</a:t>
            </a:r>
          </a:p>
          <a:p>
            <a:pPr marL="342900" indent="-342900">
              <a:lnSpc>
                <a:spcPct val="150000"/>
              </a:lnSpc>
              <a:buFont typeface="Arial" panose="020B0604020202020204" pitchFamily="34" charset="0"/>
              <a:buChar char="•"/>
            </a:pPr>
            <a:r>
              <a:rPr kumimoji="1" lang="en-US" altLang="zh-TW" sz="2400" dirty="0"/>
              <a:t>Cross-attention [15 min]</a:t>
            </a:r>
          </a:p>
          <a:p>
            <a:pPr marL="342900" indent="-342900">
              <a:lnSpc>
                <a:spcPct val="150000"/>
              </a:lnSpc>
              <a:buFont typeface="Arial" panose="020B0604020202020204" pitchFamily="34" charset="0"/>
              <a:buChar char="•"/>
            </a:pPr>
            <a:r>
              <a:rPr kumimoji="1" lang="en-US" altLang="zh-TW" sz="2400" dirty="0"/>
              <a:t>BERT and its Family [50 min]</a:t>
            </a:r>
          </a:p>
          <a:p>
            <a:pPr marL="342900" indent="-342900">
              <a:lnSpc>
                <a:spcPct val="150000"/>
              </a:lnSpc>
              <a:buFont typeface="Arial" panose="020B0604020202020204" pitchFamily="34" charset="0"/>
              <a:buChar char="•"/>
            </a:pPr>
            <a:r>
              <a:rPr kumimoji="1" lang="en-US" altLang="zh-TW" sz="2400" dirty="0"/>
              <a:t>Code [35 min]</a:t>
            </a:r>
          </a:p>
          <a:p>
            <a:pPr marL="342900" indent="-342900">
              <a:lnSpc>
                <a:spcPct val="150000"/>
              </a:lnSpc>
              <a:buFont typeface="Arial" panose="020B0604020202020204" pitchFamily="34" charset="0"/>
              <a:buChar char="•"/>
            </a:pPr>
            <a:r>
              <a:rPr kumimoji="1" lang="en-US" altLang="zh-TW" sz="2400" dirty="0"/>
              <a:t>Quiz [15 min]</a:t>
            </a:r>
          </a:p>
        </p:txBody>
      </p:sp>
    </p:spTree>
    <p:extLst>
      <p:ext uri="{BB962C8B-B14F-4D97-AF65-F5344CB8AC3E}">
        <p14:creationId xmlns:p14="http://schemas.microsoft.com/office/powerpoint/2010/main" val="2647002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4D32678-E3F3-1AC0-177F-95FBBE4D8B0C}"/>
              </a:ext>
            </a:extLst>
          </p:cNvPr>
          <p:cNvSpPr>
            <a:spLocks noGrp="1"/>
          </p:cNvSpPr>
          <p:nvPr>
            <p:ph type="title"/>
          </p:nvPr>
        </p:nvSpPr>
        <p:spPr/>
        <p:txBody>
          <a:bodyPr/>
          <a:lstStyle/>
          <a:p>
            <a:r>
              <a:rPr kumimoji="1" lang="en" altLang="zh-TW" dirty="0"/>
              <a:t>Outline of Transformer</a:t>
            </a:r>
            <a:endParaRPr kumimoji="1" lang="zh-TW" altLang="en-US" dirty="0"/>
          </a:p>
        </p:txBody>
      </p:sp>
      <p:sp>
        <p:nvSpPr>
          <p:cNvPr id="4" name="投影片編號版面配置區 3">
            <a:extLst>
              <a:ext uri="{FF2B5EF4-FFF2-40B4-BE49-F238E27FC236}">
                <a16:creationId xmlns:a16="http://schemas.microsoft.com/office/drawing/2014/main" id="{627DDE1C-CF0A-79E7-FBE5-7EF521BF2939}"/>
              </a:ext>
            </a:extLst>
          </p:cNvPr>
          <p:cNvSpPr>
            <a:spLocks noGrp="1"/>
          </p:cNvSpPr>
          <p:nvPr>
            <p:ph type="sldNum" sz="quarter" idx="12"/>
          </p:nvPr>
        </p:nvSpPr>
        <p:spPr/>
        <p:txBody>
          <a:bodyPr/>
          <a:lstStyle/>
          <a:p>
            <a:fld id="{6113E31D-E2AB-40D1-8B51-AFA5AFEF393A}" type="slidenum">
              <a:rPr lang="en-US" smtClean="0"/>
              <a:pPr/>
              <a:t>3</a:t>
            </a:fld>
            <a:endParaRPr lang="en-US" dirty="0"/>
          </a:p>
        </p:txBody>
      </p:sp>
      <p:pic>
        <p:nvPicPr>
          <p:cNvPr id="6" name="圖片 5">
            <a:extLst>
              <a:ext uri="{FF2B5EF4-FFF2-40B4-BE49-F238E27FC236}">
                <a16:creationId xmlns:a16="http://schemas.microsoft.com/office/drawing/2014/main" id="{31C71EC8-1B57-4201-3E94-FC9DC6C10491}"/>
              </a:ext>
            </a:extLst>
          </p:cNvPr>
          <p:cNvPicPr>
            <a:picLocks noChangeAspect="1"/>
          </p:cNvPicPr>
          <p:nvPr/>
        </p:nvPicPr>
        <p:blipFill>
          <a:blip r:embed="rId3"/>
          <a:stretch>
            <a:fillRect/>
          </a:stretch>
        </p:blipFill>
        <p:spPr>
          <a:xfrm>
            <a:off x="4284142" y="1530220"/>
            <a:ext cx="3619047" cy="5159829"/>
          </a:xfrm>
          <a:prstGeom prst="rect">
            <a:avLst/>
          </a:prstGeom>
        </p:spPr>
      </p:pic>
      <p:sp>
        <p:nvSpPr>
          <p:cNvPr id="7" name="文字方塊 6">
            <a:extLst>
              <a:ext uri="{FF2B5EF4-FFF2-40B4-BE49-F238E27FC236}">
                <a16:creationId xmlns:a16="http://schemas.microsoft.com/office/drawing/2014/main" id="{45312BF7-A272-740A-C7A1-E7AF231CC6D5}"/>
              </a:ext>
            </a:extLst>
          </p:cNvPr>
          <p:cNvSpPr txBox="1"/>
          <p:nvPr/>
        </p:nvSpPr>
        <p:spPr>
          <a:xfrm>
            <a:off x="9165836" y="1440227"/>
            <a:ext cx="2396347" cy="400110"/>
          </a:xfrm>
          <a:prstGeom prst="rect">
            <a:avLst/>
          </a:prstGeom>
          <a:noFill/>
        </p:spPr>
        <p:txBody>
          <a:bodyPr wrap="square">
            <a:spAutoFit/>
          </a:bodyPr>
          <a:lstStyle/>
          <a:p>
            <a:r>
              <a:rPr lang="en-US" altLang="zh-TW" sz="1000" dirty="0">
                <a:solidFill>
                  <a:srgbClr val="222222"/>
                </a:solidFill>
                <a:effectLst/>
                <a:latin typeface="Calibri" panose="020F0502020204030204" pitchFamily="34" charset="0"/>
                <a:cs typeface="Calibri" panose="020F0502020204030204" pitchFamily="34" charset="0"/>
              </a:rPr>
              <a:t>Vaswani, Ashish, et al. "Attention is all you need." </a:t>
            </a:r>
            <a:r>
              <a:rPr lang="en-US" altLang="zh-TW" sz="1000" dirty="0" err="1">
                <a:solidFill>
                  <a:srgbClr val="222222"/>
                </a:solidFill>
                <a:effectLst/>
                <a:latin typeface="Calibri" panose="020F0502020204030204" pitchFamily="34" charset="0"/>
                <a:cs typeface="Calibri" panose="020F0502020204030204" pitchFamily="34" charset="0"/>
              </a:rPr>
              <a:t>NeurIPS</a:t>
            </a:r>
            <a:r>
              <a:rPr lang="en-US" altLang="zh-TW" sz="1000" dirty="0">
                <a:solidFill>
                  <a:srgbClr val="222222"/>
                </a:solidFill>
                <a:effectLst/>
                <a:latin typeface="Calibri" panose="020F0502020204030204" pitchFamily="34" charset="0"/>
                <a:cs typeface="Calibri" panose="020F0502020204030204" pitchFamily="34" charset="0"/>
              </a:rPr>
              <a:t> (2017).</a:t>
            </a:r>
            <a:endParaRPr lang="zh-TW" altLang="en-US" sz="1000" dirty="0">
              <a:latin typeface="Calibri" panose="020F0502020204030204" pitchFamily="34" charset="0"/>
              <a:cs typeface="Calibri" panose="020F0502020204030204" pitchFamily="34" charset="0"/>
            </a:endParaRPr>
          </a:p>
        </p:txBody>
      </p:sp>
      <p:sp>
        <p:nvSpPr>
          <p:cNvPr id="8" name="矩形 7">
            <a:extLst>
              <a:ext uri="{FF2B5EF4-FFF2-40B4-BE49-F238E27FC236}">
                <a16:creationId xmlns:a16="http://schemas.microsoft.com/office/drawing/2014/main" id="{C9121FA8-BF6C-08DC-D82D-F6A4055B5A7C}"/>
              </a:ext>
            </a:extLst>
          </p:cNvPr>
          <p:cNvSpPr/>
          <p:nvPr/>
        </p:nvSpPr>
        <p:spPr>
          <a:xfrm>
            <a:off x="4320069" y="5299787"/>
            <a:ext cx="1268965" cy="37322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3" name="矩形 2">
            <a:extLst>
              <a:ext uri="{FF2B5EF4-FFF2-40B4-BE49-F238E27FC236}">
                <a16:creationId xmlns:a16="http://schemas.microsoft.com/office/drawing/2014/main" id="{107B5C01-EAB6-E0F6-1949-444BAF6391DB}"/>
              </a:ext>
            </a:extLst>
          </p:cNvPr>
          <p:cNvSpPr/>
          <p:nvPr/>
        </p:nvSpPr>
        <p:spPr>
          <a:xfrm>
            <a:off x="6634141" y="5299786"/>
            <a:ext cx="1268965" cy="37322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Tree>
    <p:extLst>
      <p:ext uri="{BB962C8B-B14F-4D97-AF65-F5344CB8AC3E}">
        <p14:creationId xmlns:p14="http://schemas.microsoft.com/office/powerpoint/2010/main" val="2006236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A96EC5-5532-DA44-297E-A58EA4C98B04}"/>
              </a:ext>
            </a:extLst>
          </p:cNvPr>
          <p:cNvSpPr>
            <a:spLocks noGrp="1"/>
          </p:cNvSpPr>
          <p:nvPr>
            <p:ph type="title"/>
          </p:nvPr>
        </p:nvSpPr>
        <p:spPr/>
        <p:txBody>
          <a:bodyPr/>
          <a:lstStyle/>
          <a:p>
            <a:r>
              <a:rPr kumimoji="1" lang="en-US" altLang="zh-TW" dirty="0">
                <a:cs typeface="Calibri" panose="020F0502020204030204" pitchFamily="34" charset="0"/>
              </a:rPr>
              <a:t>Lack of Position Modeling</a:t>
            </a:r>
            <a:endParaRPr kumimoji="1" lang="zh-TW" altLang="en-US" dirty="0">
              <a:cs typeface="Calibri" panose="020F0502020204030204" pitchFamily="34" charset="0"/>
            </a:endParaRPr>
          </a:p>
        </p:txBody>
      </p:sp>
      <p:sp>
        <p:nvSpPr>
          <p:cNvPr id="4" name="投影片編號版面配置區 3">
            <a:extLst>
              <a:ext uri="{FF2B5EF4-FFF2-40B4-BE49-F238E27FC236}">
                <a16:creationId xmlns:a16="http://schemas.microsoft.com/office/drawing/2014/main" id="{EE2E3F19-3AC3-4AA8-44E2-6FFF5DD32493}"/>
              </a:ext>
            </a:extLst>
          </p:cNvPr>
          <p:cNvSpPr>
            <a:spLocks noGrp="1"/>
          </p:cNvSpPr>
          <p:nvPr>
            <p:ph type="sldNum" sz="quarter" idx="12"/>
          </p:nvPr>
        </p:nvSpPr>
        <p:spPr/>
        <p:txBody>
          <a:bodyPr/>
          <a:lstStyle/>
          <a:p>
            <a:fld id="{6113E31D-E2AB-40D1-8B51-AFA5AFEF393A}" type="slidenum">
              <a:rPr lang="en-US" smtClean="0"/>
              <a:t>4</a:t>
            </a:fld>
            <a:endParaRPr lang="en-US"/>
          </a:p>
        </p:txBody>
      </p:sp>
      <p:pic>
        <p:nvPicPr>
          <p:cNvPr id="13314" name="Picture 2">
            <a:extLst>
              <a:ext uri="{FF2B5EF4-FFF2-40B4-BE49-F238E27FC236}">
                <a16:creationId xmlns:a16="http://schemas.microsoft.com/office/drawing/2014/main" id="{EF54391A-3D74-0DE4-B1EC-95EEE43176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2166" y="1835882"/>
            <a:ext cx="4923579" cy="4944803"/>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a:extLst>
              <a:ext uri="{FF2B5EF4-FFF2-40B4-BE49-F238E27FC236}">
                <a16:creationId xmlns:a16="http://schemas.microsoft.com/office/drawing/2014/main" id="{5CC822CA-CED2-6066-6A28-15BD538DDAB2}"/>
              </a:ext>
            </a:extLst>
          </p:cNvPr>
          <p:cNvSpPr/>
          <p:nvPr/>
        </p:nvSpPr>
        <p:spPr>
          <a:xfrm flipV="1">
            <a:off x="7007059" y="1950752"/>
            <a:ext cx="1467853" cy="519516"/>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6" name="文字方塊 5">
            <a:extLst>
              <a:ext uri="{FF2B5EF4-FFF2-40B4-BE49-F238E27FC236}">
                <a16:creationId xmlns:a16="http://schemas.microsoft.com/office/drawing/2014/main" id="{C259E51B-3C6B-0416-2A87-F581F36C0282}"/>
              </a:ext>
            </a:extLst>
          </p:cNvPr>
          <p:cNvSpPr txBox="1"/>
          <p:nvPr/>
        </p:nvSpPr>
        <p:spPr>
          <a:xfrm>
            <a:off x="8672470" y="1887344"/>
            <a:ext cx="3088606" cy="646331"/>
          </a:xfrm>
          <a:prstGeom prst="rect">
            <a:avLst/>
          </a:prstGeom>
          <a:noFill/>
        </p:spPr>
        <p:txBody>
          <a:bodyPr wrap="square" rtlCol="0">
            <a:spAutoFit/>
          </a:bodyPr>
          <a:lstStyle/>
          <a:p>
            <a:r>
              <a:rPr kumimoji="1" lang="zh-TW" altLang="en-US" dirty="0">
                <a:solidFill>
                  <a:srgbClr val="FF0000"/>
                </a:solidFill>
                <a:latin typeface="Calibri" panose="020F0502020204030204" pitchFamily="34" charset="0"/>
                <a:cs typeface="Calibri" panose="020F0502020204030204" pitchFamily="34" charset="0"/>
              </a:rPr>
              <a:t>不同語意的句子但文字資訊卻沒有根據上下文而變化</a:t>
            </a:r>
          </a:p>
        </p:txBody>
      </p:sp>
      <p:sp>
        <p:nvSpPr>
          <p:cNvPr id="7" name="文字方塊 6">
            <a:extLst>
              <a:ext uri="{FF2B5EF4-FFF2-40B4-BE49-F238E27FC236}">
                <a16:creationId xmlns:a16="http://schemas.microsoft.com/office/drawing/2014/main" id="{C9FC2741-55E8-DC2A-35F1-5983D8B810A8}"/>
              </a:ext>
            </a:extLst>
          </p:cNvPr>
          <p:cNvSpPr txBox="1"/>
          <p:nvPr/>
        </p:nvSpPr>
        <p:spPr>
          <a:xfrm>
            <a:off x="653142" y="1950752"/>
            <a:ext cx="4454886" cy="2344040"/>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kumimoji="1" lang="en-US" altLang="zh-TW" sz="2000" dirty="0">
                <a:ea typeface="Microsoft JhengHei" panose="020B0604030504040204" pitchFamily="34" charset="-120"/>
              </a:rPr>
              <a:t>RNN </a:t>
            </a:r>
            <a:r>
              <a:rPr kumimoji="1" lang="zh-TW" altLang="en-US" sz="2000" dirty="0">
                <a:ea typeface="Microsoft JhengHei" panose="020B0604030504040204" pitchFamily="34" charset="-120"/>
              </a:rPr>
              <a:t>有位置資訊 </a:t>
            </a:r>
            <a:r>
              <a:rPr kumimoji="1" lang="en-US" altLang="zh-TW" sz="2000" dirty="0">
                <a:ea typeface="Microsoft JhengHei" panose="020B0604030504040204" pitchFamily="34" charset="-120"/>
              </a:rPr>
              <a:t>(</a:t>
            </a:r>
            <a:r>
              <a:rPr kumimoji="1" lang="zh-TW" altLang="en-US" sz="2000" dirty="0">
                <a:ea typeface="Microsoft JhengHei" panose="020B0604030504040204" pitchFamily="34" charset="-120"/>
              </a:rPr>
              <a:t>因為 </a:t>
            </a:r>
            <a:r>
              <a:rPr kumimoji="1" lang="en-US" altLang="zh-TW" sz="2000" dirty="0">
                <a:ea typeface="Microsoft JhengHei" panose="020B0604030504040204" pitchFamily="34" charset="-120"/>
              </a:rPr>
              <a:t>RNN</a:t>
            </a:r>
            <a:r>
              <a:rPr kumimoji="1" lang="zh-TW" altLang="en-US" sz="2000" dirty="0">
                <a:ea typeface="Microsoft JhengHei" panose="020B0604030504040204" pitchFamily="34" charset="-120"/>
              </a:rPr>
              <a:t> </a:t>
            </a:r>
            <a:r>
              <a:rPr kumimoji="1" lang="en-US" altLang="zh-TW" sz="2000" dirty="0">
                <a:ea typeface="Microsoft JhengHei" panose="020B0604030504040204" pitchFamily="34" charset="-120"/>
              </a:rPr>
              <a:t>step-by-step</a:t>
            </a:r>
            <a:r>
              <a:rPr kumimoji="1" lang="zh-TW" altLang="en-US" sz="2000" dirty="0">
                <a:ea typeface="Microsoft JhengHei" panose="020B0604030504040204" pitchFamily="34" charset="-120"/>
              </a:rPr>
              <a:t> 處理文字</a:t>
            </a:r>
            <a:r>
              <a:rPr kumimoji="1" lang="en-US" altLang="zh-TW" sz="2000" dirty="0">
                <a:ea typeface="Microsoft JhengHei" panose="020B0604030504040204" pitchFamily="34" charset="-120"/>
              </a:rPr>
              <a:t>)</a:t>
            </a:r>
          </a:p>
          <a:p>
            <a:pPr marL="285750" indent="-285750" algn="just">
              <a:lnSpc>
                <a:spcPct val="150000"/>
              </a:lnSpc>
              <a:buFont typeface="Arial" panose="020B0604020202020204" pitchFamily="34" charset="0"/>
              <a:buChar char="•"/>
            </a:pPr>
            <a:r>
              <a:rPr kumimoji="1" lang="zh-TW" altLang="en-US" sz="2000" dirty="0">
                <a:ea typeface="Microsoft JhengHei" panose="020B0604030504040204" pitchFamily="34" charset="-120"/>
              </a:rPr>
              <a:t>然而，</a:t>
            </a:r>
            <a:r>
              <a:rPr kumimoji="1" lang="en-US" altLang="zh-TW" sz="2000" dirty="0">
                <a:ea typeface="Microsoft JhengHei" panose="020B0604030504040204" pitchFamily="34" charset="-120"/>
              </a:rPr>
              <a:t>Transformer </a:t>
            </a:r>
            <a:r>
              <a:rPr kumimoji="1" lang="zh-TW" altLang="en-US" sz="2000" dirty="0">
                <a:ea typeface="Microsoft JhengHei" panose="020B0604030504040204" pitchFamily="34" charset="-120"/>
              </a:rPr>
              <a:t>中</a:t>
            </a:r>
            <a:r>
              <a:rPr kumimoji="1" lang="en-US" altLang="zh-TW" sz="2000" dirty="0">
                <a:ea typeface="Microsoft JhengHei" panose="020B0604030504040204" pitchFamily="34" charset="-120"/>
              </a:rPr>
              <a:t> self-attention </a:t>
            </a:r>
            <a:r>
              <a:rPr kumimoji="1" lang="zh-TW" altLang="en-US" sz="2000" dirty="0">
                <a:ea typeface="Microsoft JhengHei" panose="020B0604030504040204" pitchFamily="34" charset="-120"/>
              </a:rPr>
              <a:t>的操作遺失了 </a:t>
            </a:r>
            <a:r>
              <a:rPr kumimoji="1" lang="en-US" altLang="zh-TW" sz="2000" dirty="0">
                <a:ea typeface="Microsoft JhengHei" panose="020B0604030504040204" pitchFamily="34" charset="-120"/>
              </a:rPr>
              <a:t>step-by-step</a:t>
            </a:r>
            <a:r>
              <a:rPr kumimoji="1" lang="zh-TW" altLang="en-US" sz="2000" dirty="0">
                <a:ea typeface="Microsoft JhengHei" panose="020B0604030504040204" pitchFamily="34" charset="-120"/>
              </a:rPr>
              <a:t> 處理文字的方式，故</a:t>
            </a:r>
            <a:r>
              <a:rPr kumimoji="1" lang="zh-TW" altLang="en-US" sz="2000" dirty="0">
                <a:solidFill>
                  <a:srgbClr val="FF0000"/>
                </a:solidFill>
                <a:ea typeface="Microsoft JhengHei" panose="020B0604030504040204" pitchFamily="34" charset="-120"/>
              </a:rPr>
              <a:t>缺少位置資訊</a:t>
            </a:r>
          </a:p>
        </p:txBody>
      </p:sp>
    </p:spTree>
    <p:extLst>
      <p:ext uri="{BB962C8B-B14F-4D97-AF65-F5344CB8AC3E}">
        <p14:creationId xmlns:p14="http://schemas.microsoft.com/office/powerpoint/2010/main" val="26343597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E0BFCB6-0F05-BCE4-CB71-FA8B6A10BDF5}"/>
              </a:ext>
            </a:extLst>
          </p:cNvPr>
          <p:cNvSpPr>
            <a:spLocks noGrp="1"/>
          </p:cNvSpPr>
          <p:nvPr>
            <p:ph type="title"/>
          </p:nvPr>
        </p:nvSpPr>
        <p:spPr/>
        <p:txBody>
          <a:bodyPr>
            <a:normAutofit fontScale="90000"/>
          </a:bodyPr>
          <a:lstStyle/>
          <a:p>
            <a:r>
              <a:rPr kumimoji="1" lang="zh-TW" altLang="en-US" dirty="0"/>
              <a:t>常見位置資訊作法：</a:t>
            </a:r>
            <a:r>
              <a:rPr kumimoji="1" lang="en-US" altLang="zh-TW" dirty="0"/>
              <a:t>Learned Positional Embeddings</a:t>
            </a:r>
            <a:r>
              <a:rPr kumimoji="1" lang="zh-TW" altLang="en-US" dirty="0"/>
              <a:t> </a:t>
            </a:r>
            <a:r>
              <a:rPr kumimoji="1" lang="en-US" altLang="zh-TW" dirty="0"/>
              <a:t>(PE)</a:t>
            </a:r>
            <a:endParaRPr kumimoji="1" lang="zh-TW" altLang="en-US" dirty="0"/>
          </a:p>
        </p:txBody>
      </p:sp>
      <p:sp>
        <p:nvSpPr>
          <p:cNvPr id="4" name="投影片編號版面配置區 3">
            <a:extLst>
              <a:ext uri="{FF2B5EF4-FFF2-40B4-BE49-F238E27FC236}">
                <a16:creationId xmlns:a16="http://schemas.microsoft.com/office/drawing/2014/main" id="{F045D86B-A2AA-27FF-3FDA-2CF7ED3758CB}"/>
              </a:ext>
            </a:extLst>
          </p:cNvPr>
          <p:cNvSpPr>
            <a:spLocks noGrp="1"/>
          </p:cNvSpPr>
          <p:nvPr>
            <p:ph type="sldNum" sz="quarter" idx="12"/>
          </p:nvPr>
        </p:nvSpPr>
        <p:spPr/>
        <p:txBody>
          <a:bodyPr/>
          <a:lstStyle/>
          <a:p>
            <a:fld id="{6113E31D-E2AB-40D1-8B51-AFA5AFEF393A}" type="slidenum">
              <a:rPr lang="en-US" smtClean="0"/>
              <a:pPr/>
              <a:t>5</a:t>
            </a:fld>
            <a:endParaRPr lang="en-US" dirty="0"/>
          </a:p>
        </p:txBody>
      </p:sp>
      <p:sp>
        <p:nvSpPr>
          <p:cNvPr id="5" name="矩形 4">
            <a:extLst>
              <a:ext uri="{FF2B5EF4-FFF2-40B4-BE49-F238E27FC236}">
                <a16:creationId xmlns:a16="http://schemas.microsoft.com/office/drawing/2014/main" id="{97AC041B-4C98-5794-2FAE-7AFC39C4AED5}"/>
              </a:ext>
            </a:extLst>
          </p:cNvPr>
          <p:cNvSpPr/>
          <p:nvPr/>
        </p:nvSpPr>
        <p:spPr>
          <a:xfrm>
            <a:off x="2383875" y="4484516"/>
            <a:ext cx="409904" cy="103341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en-US" altLang="zh-TW" dirty="0"/>
              <a:t>e</a:t>
            </a:r>
            <a:r>
              <a:rPr kumimoji="1" lang="en-US" altLang="zh-TW" baseline="-25000" dirty="0"/>
              <a:t>1</a:t>
            </a:r>
            <a:endParaRPr kumimoji="1" lang="zh-TW" altLang="en-US" dirty="0"/>
          </a:p>
        </p:txBody>
      </p:sp>
      <p:sp>
        <p:nvSpPr>
          <p:cNvPr id="6" name="文字方塊 5">
            <a:extLst>
              <a:ext uri="{FF2B5EF4-FFF2-40B4-BE49-F238E27FC236}">
                <a16:creationId xmlns:a16="http://schemas.microsoft.com/office/drawing/2014/main" id="{A596D75C-280D-F9EC-26CE-F6D0AD249BDF}"/>
              </a:ext>
            </a:extLst>
          </p:cNvPr>
          <p:cNvSpPr txBox="1"/>
          <p:nvPr/>
        </p:nvSpPr>
        <p:spPr>
          <a:xfrm>
            <a:off x="2230161" y="5517932"/>
            <a:ext cx="717331" cy="369332"/>
          </a:xfrm>
          <a:prstGeom prst="rect">
            <a:avLst/>
          </a:prstGeom>
          <a:noFill/>
        </p:spPr>
        <p:txBody>
          <a:bodyPr wrap="square" rtlCol="0">
            <a:spAutoFit/>
          </a:bodyPr>
          <a:lstStyle/>
          <a:p>
            <a:pPr algn="ctr"/>
            <a:r>
              <a:rPr kumimoji="1" lang="en-US" altLang="zh-TW" dirty="0"/>
              <a:t>John</a:t>
            </a:r>
            <a:endParaRPr kumimoji="1" lang="zh-TW" altLang="en-US" dirty="0"/>
          </a:p>
        </p:txBody>
      </p:sp>
      <p:sp>
        <p:nvSpPr>
          <p:cNvPr id="7" name="矩形 6">
            <a:extLst>
              <a:ext uri="{FF2B5EF4-FFF2-40B4-BE49-F238E27FC236}">
                <a16:creationId xmlns:a16="http://schemas.microsoft.com/office/drawing/2014/main" id="{6CB9E024-638B-3B8C-37D6-4603CE50E837}"/>
              </a:ext>
            </a:extLst>
          </p:cNvPr>
          <p:cNvSpPr/>
          <p:nvPr/>
        </p:nvSpPr>
        <p:spPr>
          <a:xfrm>
            <a:off x="3553151" y="4484516"/>
            <a:ext cx="409904" cy="103341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en-US" altLang="zh-TW" dirty="0"/>
              <a:t>e</a:t>
            </a:r>
            <a:r>
              <a:rPr kumimoji="1" lang="en-US" altLang="zh-TW" baseline="-25000" dirty="0"/>
              <a:t>2</a:t>
            </a:r>
            <a:endParaRPr kumimoji="1" lang="zh-TW" altLang="en-US" dirty="0"/>
          </a:p>
        </p:txBody>
      </p:sp>
      <p:sp>
        <p:nvSpPr>
          <p:cNvPr id="8" name="文字方塊 7">
            <a:extLst>
              <a:ext uri="{FF2B5EF4-FFF2-40B4-BE49-F238E27FC236}">
                <a16:creationId xmlns:a16="http://schemas.microsoft.com/office/drawing/2014/main" id="{09AEAF12-772F-AE2F-C62A-D32CC649E6B7}"/>
              </a:ext>
            </a:extLst>
          </p:cNvPr>
          <p:cNvSpPr txBox="1"/>
          <p:nvPr/>
        </p:nvSpPr>
        <p:spPr>
          <a:xfrm>
            <a:off x="3399437" y="5517932"/>
            <a:ext cx="717331" cy="369332"/>
          </a:xfrm>
          <a:prstGeom prst="rect">
            <a:avLst/>
          </a:prstGeom>
          <a:noFill/>
        </p:spPr>
        <p:txBody>
          <a:bodyPr wrap="square" rtlCol="0">
            <a:spAutoFit/>
          </a:bodyPr>
          <a:lstStyle/>
          <a:p>
            <a:pPr algn="ctr"/>
            <a:r>
              <a:rPr kumimoji="1" lang="en-US" altLang="zh-TW" dirty="0"/>
              <a:t>likes</a:t>
            </a:r>
            <a:endParaRPr kumimoji="1" lang="zh-TW" altLang="en-US" dirty="0"/>
          </a:p>
        </p:txBody>
      </p:sp>
      <p:sp>
        <p:nvSpPr>
          <p:cNvPr id="9" name="矩形 8">
            <a:extLst>
              <a:ext uri="{FF2B5EF4-FFF2-40B4-BE49-F238E27FC236}">
                <a16:creationId xmlns:a16="http://schemas.microsoft.com/office/drawing/2014/main" id="{1E4CA0CA-E7ED-B3A9-5181-A00B7F182F13}"/>
              </a:ext>
            </a:extLst>
          </p:cNvPr>
          <p:cNvSpPr/>
          <p:nvPr/>
        </p:nvSpPr>
        <p:spPr>
          <a:xfrm>
            <a:off x="4722427" y="4484516"/>
            <a:ext cx="409904" cy="103341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en-US" altLang="zh-TW" dirty="0"/>
              <a:t>e</a:t>
            </a:r>
            <a:r>
              <a:rPr kumimoji="1" lang="en-US" altLang="zh-TW" baseline="-25000" dirty="0"/>
              <a:t>3</a:t>
            </a:r>
            <a:endParaRPr kumimoji="1" lang="zh-TW" altLang="en-US" dirty="0"/>
          </a:p>
        </p:txBody>
      </p:sp>
      <p:sp>
        <p:nvSpPr>
          <p:cNvPr id="10" name="文字方塊 9">
            <a:extLst>
              <a:ext uri="{FF2B5EF4-FFF2-40B4-BE49-F238E27FC236}">
                <a16:creationId xmlns:a16="http://schemas.microsoft.com/office/drawing/2014/main" id="{8C2FB9EA-0017-7AD3-4E61-24334D208866}"/>
              </a:ext>
            </a:extLst>
          </p:cNvPr>
          <p:cNvSpPr txBox="1"/>
          <p:nvPr/>
        </p:nvSpPr>
        <p:spPr>
          <a:xfrm>
            <a:off x="4568713" y="5517932"/>
            <a:ext cx="717331" cy="369332"/>
          </a:xfrm>
          <a:prstGeom prst="rect">
            <a:avLst/>
          </a:prstGeom>
          <a:noFill/>
        </p:spPr>
        <p:txBody>
          <a:bodyPr wrap="square" rtlCol="0">
            <a:spAutoFit/>
          </a:bodyPr>
          <a:lstStyle/>
          <a:p>
            <a:pPr algn="ctr"/>
            <a:r>
              <a:rPr kumimoji="1" lang="en-US" altLang="zh-TW" dirty="0"/>
              <a:t>Amy</a:t>
            </a:r>
            <a:endParaRPr kumimoji="1" lang="zh-TW" altLang="en-US" dirty="0"/>
          </a:p>
        </p:txBody>
      </p:sp>
      <p:sp>
        <p:nvSpPr>
          <p:cNvPr id="11" name="矩形 10">
            <a:extLst>
              <a:ext uri="{FF2B5EF4-FFF2-40B4-BE49-F238E27FC236}">
                <a16:creationId xmlns:a16="http://schemas.microsoft.com/office/drawing/2014/main" id="{DF14B58F-EDD1-E799-CA5D-AB9C9CAF9C10}"/>
              </a:ext>
            </a:extLst>
          </p:cNvPr>
          <p:cNvSpPr/>
          <p:nvPr/>
        </p:nvSpPr>
        <p:spPr>
          <a:xfrm>
            <a:off x="7262646" y="4484516"/>
            <a:ext cx="409904" cy="103341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en-US" altLang="zh-TW" dirty="0"/>
              <a:t>e</a:t>
            </a:r>
            <a:r>
              <a:rPr kumimoji="1" lang="en-US" altLang="zh-TW" baseline="-25000" dirty="0"/>
              <a:t>1</a:t>
            </a:r>
            <a:endParaRPr kumimoji="1" lang="zh-TW" altLang="en-US" dirty="0"/>
          </a:p>
        </p:txBody>
      </p:sp>
      <p:sp>
        <p:nvSpPr>
          <p:cNvPr id="12" name="文字方塊 11">
            <a:extLst>
              <a:ext uri="{FF2B5EF4-FFF2-40B4-BE49-F238E27FC236}">
                <a16:creationId xmlns:a16="http://schemas.microsoft.com/office/drawing/2014/main" id="{F715DC70-A4A9-F0EE-6CA5-FD51D41ACE62}"/>
              </a:ext>
            </a:extLst>
          </p:cNvPr>
          <p:cNvSpPr txBox="1"/>
          <p:nvPr/>
        </p:nvSpPr>
        <p:spPr>
          <a:xfrm>
            <a:off x="7108932" y="5517932"/>
            <a:ext cx="717331" cy="369332"/>
          </a:xfrm>
          <a:prstGeom prst="rect">
            <a:avLst/>
          </a:prstGeom>
          <a:noFill/>
        </p:spPr>
        <p:txBody>
          <a:bodyPr wrap="square" rtlCol="0">
            <a:spAutoFit/>
          </a:bodyPr>
          <a:lstStyle/>
          <a:p>
            <a:pPr algn="ctr"/>
            <a:r>
              <a:rPr kumimoji="1" lang="en-US" altLang="zh-TW" dirty="0"/>
              <a:t>Amy</a:t>
            </a:r>
            <a:endParaRPr kumimoji="1" lang="zh-TW" altLang="en-US" dirty="0"/>
          </a:p>
        </p:txBody>
      </p:sp>
      <p:sp>
        <p:nvSpPr>
          <p:cNvPr id="13" name="矩形 12">
            <a:extLst>
              <a:ext uri="{FF2B5EF4-FFF2-40B4-BE49-F238E27FC236}">
                <a16:creationId xmlns:a16="http://schemas.microsoft.com/office/drawing/2014/main" id="{E67536A2-222A-BCC9-A657-C32379DB3098}"/>
              </a:ext>
            </a:extLst>
          </p:cNvPr>
          <p:cNvSpPr/>
          <p:nvPr/>
        </p:nvSpPr>
        <p:spPr>
          <a:xfrm>
            <a:off x="8431922" y="4484516"/>
            <a:ext cx="409904" cy="103341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en-US" altLang="zh-TW" dirty="0"/>
              <a:t>e</a:t>
            </a:r>
            <a:r>
              <a:rPr kumimoji="1" lang="en-US" altLang="zh-TW" baseline="-25000" dirty="0"/>
              <a:t>2</a:t>
            </a:r>
            <a:endParaRPr kumimoji="1" lang="zh-TW" altLang="en-US" dirty="0"/>
          </a:p>
        </p:txBody>
      </p:sp>
      <p:sp>
        <p:nvSpPr>
          <p:cNvPr id="14" name="文字方塊 13">
            <a:extLst>
              <a:ext uri="{FF2B5EF4-FFF2-40B4-BE49-F238E27FC236}">
                <a16:creationId xmlns:a16="http://schemas.microsoft.com/office/drawing/2014/main" id="{A141C865-A88C-EF0A-3E4D-83D7FA243631}"/>
              </a:ext>
            </a:extLst>
          </p:cNvPr>
          <p:cNvSpPr txBox="1"/>
          <p:nvPr/>
        </p:nvSpPr>
        <p:spPr>
          <a:xfrm>
            <a:off x="8278208" y="5517932"/>
            <a:ext cx="717331" cy="369332"/>
          </a:xfrm>
          <a:prstGeom prst="rect">
            <a:avLst/>
          </a:prstGeom>
          <a:noFill/>
        </p:spPr>
        <p:txBody>
          <a:bodyPr wrap="square" rtlCol="0">
            <a:spAutoFit/>
          </a:bodyPr>
          <a:lstStyle/>
          <a:p>
            <a:pPr algn="ctr"/>
            <a:r>
              <a:rPr kumimoji="1" lang="en-US" altLang="zh-TW" dirty="0"/>
              <a:t>likes</a:t>
            </a:r>
            <a:endParaRPr kumimoji="1" lang="zh-TW" altLang="en-US" dirty="0"/>
          </a:p>
        </p:txBody>
      </p:sp>
      <p:sp>
        <p:nvSpPr>
          <p:cNvPr id="15" name="矩形 14">
            <a:extLst>
              <a:ext uri="{FF2B5EF4-FFF2-40B4-BE49-F238E27FC236}">
                <a16:creationId xmlns:a16="http://schemas.microsoft.com/office/drawing/2014/main" id="{7F380C70-080B-C2C5-D892-C367CCE00000}"/>
              </a:ext>
            </a:extLst>
          </p:cNvPr>
          <p:cNvSpPr/>
          <p:nvPr/>
        </p:nvSpPr>
        <p:spPr>
          <a:xfrm>
            <a:off x="9601198" y="4484516"/>
            <a:ext cx="409904" cy="103341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en-US" altLang="zh-TW" dirty="0"/>
              <a:t>e</a:t>
            </a:r>
            <a:r>
              <a:rPr kumimoji="1" lang="en-US" altLang="zh-TW" baseline="-25000" dirty="0"/>
              <a:t>3</a:t>
            </a:r>
            <a:endParaRPr kumimoji="1" lang="zh-TW" altLang="en-US" dirty="0"/>
          </a:p>
        </p:txBody>
      </p:sp>
      <p:sp>
        <p:nvSpPr>
          <p:cNvPr id="16" name="文字方塊 15">
            <a:extLst>
              <a:ext uri="{FF2B5EF4-FFF2-40B4-BE49-F238E27FC236}">
                <a16:creationId xmlns:a16="http://schemas.microsoft.com/office/drawing/2014/main" id="{277C95A5-3B40-D67C-D13C-A65CA6EEF72B}"/>
              </a:ext>
            </a:extLst>
          </p:cNvPr>
          <p:cNvSpPr txBox="1"/>
          <p:nvPr/>
        </p:nvSpPr>
        <p:spPr>
          <a:xfrm>
            <a:off x="9447484" y="5517932"/>
            <a:ext cx="717331" cy="369332"/>
          </a:xfrm>
          <a:prstGeom prst="rect">
            <a:avLst/>
          </a:prstGeom>
          <a:noFill/>
        </p:spPr>
        <p:txBody>
          <a:bodyPr wrap="square" rtlCol="0">
            <a:spAutoFit/>
          </a:bodyPr>
          <a:lstStyle/>
          <a:p>
            <a:pPr algn="ctr"/>
            <a:r>
              <a:rPr kumimoji="1" lang="en-US" altLang="zh-TW" dirty="0"/>
              <a:t>John</a:t>
            </a:r>
            <a:endParaRPr kumimoji="1" lang="zh-TW" altLang="en-US" dirty="0"/>
          </a:p>
        </p:txBody>
      </p:sp>
      <p:sp>
        <p:nvSpPr>
          <p:cNvPr id="17" name="矩形 16">
            <a:extLst>
              <a:ext uri="{FF2B5EF4-FFF2-40B4-BE49-F238E27FC236}">
                <a16:creationId xmlns:a16="http://schemas.microsoft.com/office/drawing/2014/main" id="{8CD52B90-75AB-33A6-322E-4C35571B7ED4}"/>
              </a:ext>
            </a:extLst>
          </p:cNvPr>
          <p:cNvSpPr/>
          <p:nvPr/>
        </p:nvSpPr>
        <p:spPr>
          <a:xfrm>
            <a:off x="1880691" y="4484516"/>
            <a:ext cx="409904" cy="1033416"/>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TW" dirty="0"/>
              <a:t>p</a:t>
            </a:r>
            <a:r>
              <a:rPr kumimoji="1" lang="en-US" altLang="zh-TW" baseline="-25000" dirty="0"/>
              <a:t>1</a:t>
            </a:r>
            <a:endParaRPr kumimoji="1" lang="zh-TW" altLang="en-US" dirty="0"/>
          </a:p>
        </p:txBody>
      </p:sp>
      <p:sp>
        <p:nvSpPr>
          <p:cNvPr id="18" name="矩形 17">
            <a:extLst>
              <a:ext uri="{FF2B5EF4-FFF2-40B4-BE49-F238E27FC236}">
                <a16:creationId xmlns:a16="http://schemas.microsoft.com/office/drawing/2014/main" id="{B9396C3B-9AA0-FACD-19C6-2B2EEB79C6AA}"/>
              </a:ext>
            </a:extLst>
          </p:cNvPr>
          <p:cNvSpPr/>
          <p:nvPr/>
        </p:nvSpPr>
        <p:spPr>
          <a:xfrm>
            <a:off x="3049967" y="4484516"/>
            <a:ext cx="409904" cy="1033416"/>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TW" dirty="0"/>
              <a:t>p</a:t>
            </a:r>
            <a:r>
              <a:rPr kumimoji="1" lang="en-US" altLang="zh-TW" baseline="-25000" dirty="0"/>
              <a:t>2</a:t>
            </a:r>
            <a:endParaRPr kumimoji="1" lang="zh-TW" altLang="en-US" dirty="0"/>
          </a:p>
        </p:txBody>
      </p:sp>
      <p:sp>
        <p:nvSpPr>
          <p:cNvPr id="19" name="矩形 18">
            <a:extLst>
              <a:ext uri="{FF2B5EF4-FFF2-40B4-BE49-F238E27FC236}">
                <a16:creationId xmlns:a16="http://schemas.microsoft.com/office/drawing/2014/main" id="{D4AA3398-0AE9-2D00-6CBB-894BE6E424F4}"/>
              </a:ext>
            </a:extLst>
          </p:cNvPr>
          <p:cNvSpPr/>
          <p:nvPr/>
        </p:nvSpPr>
        <p:spPr>
          <a:xfrm>
            <a:off x="4219243" y="4484516"/>
            <a:ext cx="409904" cy="1033416"/>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TW" dirty="0"/>
              <a:t>p</a:t>
            </a:r>
            <a:r>
              <a:rPr kumimoji="1" lang="en-US" altLang="zh-TW" baseline="-25000" dirty="0"/>
              <a:t>3</a:t>
            </a:r>
            <a:endParaRPr kumimoji="1" lang="zh-TW" altLang="en-US" dirty="0"/>
          </a:p>
        </p:txBody>
      </p:sp>
      <p:sp>
        <p:nvSpPr>
          <p:cNvPr id="20" name="矩形 19">
            <a:extLst>
              <a:ext uri="{FF2B5EF4-FFF2-40B4-BE49-F238E27FC236}">
                <a16:creationId xmlns:a16="http://schemas.microsoft.com/office/drawing/2014/main" id="{4AE01D4B-24BB-20AB-694D-F57CE8E97DFE}"/>
              </a:ext>
            </a:extLst>
          </p:cNvPr>
          <p:cNvSpPr/>
          <p:nvPr/>
        </p:nvSpPr>
        <p:spPr>
          <a:xfrm>
            <a:off x="6754865" y="4484516"/>
            <a:ext cx="409904" cy="1033416"/>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TW" dirty="0"/>
              <a:t>p</a:t>
            </a:r>
            <a:r>
              <a:rPr kumimoji="1" lang="en-US" altLang="zh-TW" baseline="-25000" dirty="0"/>
              <a:t>1</a:t>
            </a:r>
            <a:endParaRPr kumimoji="1" lang="zh-TW" altLang="en-US" dirty="0"/>
          </a:p>
        </p:txBody>
      </p:sp>
      <p:sp>
        <p:nvSpPr>
          <p:cNvPr id="21" name="矩形 20">
            <a:extLst>
              <a:ext uri="{FF2B5EF4-FFF2-40B4-BE49-F238E27FC236}">
                <a16:creationId xmlns:a16="http://schemas.microsoft.com/office/drawing/2014/main" id="{3343D585-155D-8841-E64B-FEEF56A4C9FE}"/>
              </a:ext>
            </a:extLst>
          </p:cNvPr>
          <p:cNvSpPr/>
          <p:nvPr/>
        </p:nvSpPr>
        <p:spPr>
          <a:xfrm>
            <a:off x="7924141" y="4484516"/>
            <a:ext cx="409904" cy="1033416"/>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TW" dirty="0"/>
              <a:t>p</a:t>
            </a:r>
            <a:r>
              <a:rPr kumimoji="1" lang="en-US" altLang="zh-TW" baseline="-25000" dirty="0"/>
              <a:t>2</a:t>
            </a:r>
            <a:endParaRPr kumimoji="1" lang="zh-TW" altLang="en-US" dirty="0"/>
          </a:p>
        </p:txBody>
      </p:sp>
      <p:sp>
        <p:nvSpPr>
          <p:cNvPr id="22" name="矩形 21">
            <a:extLst>
              <a:ext uri="{FF2B5EF4-FFF2-40B4-BE49-F238E27FC236}">
                <a16:creationId xmlns:a16="http://schemas.microsoft.com/office/drawing/2014/main" id="{065AF5E2-C983-0D00-E74D-BE6763687C86}"/>
              </a:ext>
            </a:extLst>
          </p:cNvPr>
          <p:cNvSpPr/>
          <p:nvPr/>
        </p:nvSpPr>
        <p:spPr>
          <a:xfrm>
            <a:off x="9093417" y="4484516"/>
            <a:ext cx="409904" cy="1033416"/>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TW" dirty="0"/>
              <a:t>p</a:t>
            </a:r>
            <a:r>
              <a:rPr kumimoji="1" lang="en-US" altLang="zh-TW" baseline="-25000" dirty="0"/>
              <a:t>3</a:t>
            </a:r>
            <a:endParaRPr kumimoji="1" lang="zh-TW" altLang="en-US" dirty="0"/>
          </a:p>
        </p:txBody>
      </p:sp>
      <p:sp>
        <p:nvSpPr>
          <p:cNvPr id="23" name="文字方塊 22">
            <a:extLst>
              <a:ext uri="{FF2B5EF4-FFF2-40B4-BE49-F238E27FC236}">
                <a16:creationId xmlns:a16="http://schemas.microsoft.com/office/drawing/2014/main" id="{6DE5978C-6B38-5D46-92B9-AE46DCC9829F}"/>
              </a:ext>
            </a:extLst>
          </p:cNvPr>
          <p:cNvSpPr txBox="1"/>
          <p:nvPr/>
        </p:nvSpPr>
        <p:spPr>
          <a:xfrm>
            <a:off x="1828140" y="5516775"/>
            <a:ext cx="512379" cy="369332"/>
          </a:xfrm>
          <a:prstGeom prst="rect">
            <a:avLst/>
          </a:prstGeom>
          <a:noFill/>
        </p:spPr>
        <p:txBody>
          <a:bodyPr wrap="square" rtlCol="0">
            <a:spAutoFit/>
          </a:bodyPr>
          <a:lstStyle/>
          <a:p>
            <a:pPr algn="ctr"/>
            <a:r>
              <a:rPr kumimoji="1" lang="en-US" altLang="zh-TW" dirty="0">
                <a:solidFill>
                  <a:schemeClr val="accent2"/>
                </a:solidFill>
              </a:rPr>
              <a:t>1</a:t>
            </a:r>
            <a:endParaRPr kumimoji="1" lang="zh-TW" altLang="en-US" dirty="0">
              <a:solidFill>
                <a:schemeClr val="accent2"/>
              </a:solidFill>
            </a:endParaRPr>
          </a:p>
        </p:txBody>
      </p:sp>
      <p:sp>
        <p:nvSpPr>
          <p:cNvPr id="24" name="文字方塊 23">
            <a:extLst>
              <a:ext uri="{FF2B5EF4-FFF2-40B4-BE49-F238E27FC236}">
                <a16:creationId xmlns:a16="http://schemas.microsoft.com/office/drawing/2014/main" id="{EB2D2D52-0284-95B6-1BEA-83FF8BFDF642}"/>
              </a:ext>
            </a:extLst>
          </p:cNvPr>
          <p:cNvSpPr txBox="1"/>
          <p:nvPr/>
        </p:nvSpPr>
        <p:spPr>
          <a:xfrm>
            <a:off x="2998729" y="5516775"/>
            <a:ext cx="512379" cy="369332"/>
          </a:xfrm>
          <a:prstGeom prst="rect">
            <a:avLst/>
          </a:prstGeom>
          <a:noFill/>
        </p:spPr>
        <p:txBody>
          <a:bodyPr wrap="square" rtlCol="0">
            <a:spAutoFit/>
          </a:bodyPr>
          <a:lstStyle/>
          <a:p>
            <a:pPr algn="ctr"/>
            <a:r>
              <a:rPr kumimoji="1" lang="en-US" altLang="zh-TW" dirty="0">
                <a:solidFill>
                  <a:schemeClr val="accent2"/>
                </a:solidFill>
              </a:rPr>
              <a:t>2</a:t>
            </a:r>
            <a:endParaRPr kumimoji="1" lang="zh-TW" altLang="en-US" dirty="0">
              <a:solidFill>
                <a:schemeClr val="accent2"/>
              </a:solidFill>
            </a:endParaRPr>
          </a:p>
        </p:txBody>
      </p:sp>
      <p:sp>
        <p:nvSpPr>
          <p:cNvPr id="25" name="文字方塊 24">
            <a:extLst>
              <a:ext uri="{FF2B5EF4-FFF2-40B4-BE49-F238E27FC236}">
                <a16:creationId xmlns:a16="http://schemas.microsoft.com/office/drawing/2014/main" id="{32486D89-F7FF-E026-62F5-C78CB5093F94}"/>
              </a:ext>
            </a:extLst>
          </p:cNvPr>
          <p:cNvSpPr txBox="1"/>
          <p:nvPr/>
        </p:nvSpPr>
        <p:spPr>
          <a:xfrm>
            <a:off x="4173259" y="5516775"/>
            <a:ext cx="512379" cy="369332"/>
          </a:xfrm>
          <a:prstGeom prst="rect">
            <a:avLst/>
          </a:prstGeom>
          <a:noFill/>
        </p:spPr>
        <p:txBody>
          <a:bodyPr wrap="square" rtlCol="0">
            <a:spAutoFit/>
          </a:bodyPr>
          <a:lstStyle/>
          <a:p>
            <a:pPr algn="ctr"/>
            <a:r>
              <a:rPr kumimoji="1" lang="en-US" altLang="zh-TW" dirty="0">
                <a:solidFill>
                  <a:schemeClr val="accent2"/>
                </a:solidFill>
              </a:rPr>
              <a:t>3</a:t>
            </a:r>
            <a:endParaRPr kumimoji="1" lang="zh-TW" altLang="en-US" dirty="0">
              <a:solidFill>
                <a:schemeClr val="accent2"/>
              </a:solidFill>
            </a:endParaRPr>
          </a:p>
        </p:txBody>
      </p:sp>
      <p:sp>
        <p:nvSpPr>
          <p:cNvPr id="27" name="文字方塊 26">
            <a:extLst>
              <a:ext uri="{FF2B5EF4-FFF2-40B4-BE49-F238E27FC236}">
                <a16:creationId xmlns:a16="http://schemas.microsoft.com/office/drawing/2014/main" id="{3967E1AC-CC8B-DD19-B227-330211F20D98}"/>
              </a:ext>
            </a:extLst>
          </p:cNvPr>
          <p:cNvSpPr txBox="1"/>
          <p:nvPr/>
        </p:nvSpPr>
        <p:spPr>
          <a:xfrm>
            <a:off x="6712498" y="5516775"/>
            <a:ext cx="512379" cy="369332"/>
          </a:xfrm>
          <a:prstGeom prst="rect">
            <a:avLst/>
          </a:prstGeom>
          <a:noFill/>
        </p:spPr>
        <p:txBody>
          <a:bodyPr wrap="square" rtlCol="0">
            <a:spAutoFit/>
          </a:bodyPr>
          <a:lstStyle/>
          <a:p>
            <a:pPr algn="ctr"/>
            <a:r>
              <a:rPr kumimoji="1" lang="en-US" altLang="zh-TW" dirty="0">
                <a:solidFill>
                  <a:schemeClr val="accent2"/>
                </a:solidFill>
              </a:rPr>
              <a:t>1</a:t>
            </a:r>
            <a:endParaRPr kumimoji="1" lang="zh-TW" altLang="en-US" dirty="0">
              <a:solidFill>
                <a:schemeClr val="accent2"/>
              </a:solidFill>
            </a:endParaRPr>
          </a:p>
        </p:txBody>
      </p:sp>
      <p:sp>
        <p:nvSpPr>
          <p:cNvPr id="28" name="文字方塊 27">
            <a:extLst>
              <a:ext uri="{FF2B5EF4-FFF2-40B4-BE49-F238E27FC236}">
                <a16:creationId xmlns:a16="http://schemas.microsoft.com/office/drawing/2014/main" id="{EB735DF5-084D-6628-9904-D04A6EF25FCB}"/>
              </a:ext>
            </a:extLst>
          </p:cNvPr>
          <p:cNvSpPr txBox="1"/>
          <p:nvPr/>
        </p:nvSpPr>
        <p:spPr>
          <a:xfrm>
            <a:off x="7883087" y="5516775"/>
            <a:ext cx="512379" cy="369332"/>
          </a:xfrm>
          <a:prstGeom prst="rect">
            <a:avLst/>
          </a:prstGeom>
          <a:noFill/>
        </p:spPr>
        <p:txBody>
          <a:bodyPr wrap="square" rtlCol="0">
            <a:spAutoFit/>
          </a:bodyPr>
          <a:lstStyle/>
          <a:p>
            <a:pPr algn="ctr"/>
            <a:r>
              <a:rPr kumimoji="1" lang="en-US" altLang="zh-TW" dirty="0">
                <a:solidFill>
                  <a:schemeClr val="accent2"/>
                </a:solidFill>
              </a:rPr>
              <a:t>2</a:t>
            </a:r>
            <a:endParaRPr kumimoji="1" lang="zh-TW" altLang="en-US" dirty="0">
              <a:solidFill>
                <a:schemeClr val="accent2"/>
              </a:solidFill>
            </a:endParaRPr>
          </a:p>
        </p:txBody>
      </p:sp>
      <p:sp>
        <p:nvSpPr>
          <p:cNvPr id="29" name="文字方塊 28">
            <a:extLst>
              <a:ext uri="{FF2B5EF4-FFF2-40B4-BE49-F238E27FC236}">
                <a16:creationId xmlns:a16="http://schemas.microsoft.com/office/drawing/2014/main" id="{AC428CE8-8E6C-D033-7403-A41554769EEA}"/>
              </a:ext>
            </a:extLst>
          </p:cNvPr>
          <p:cNvSpPr txBox="1"/>
          <p:nvPr/>
        </p:nvSpPr>
        <p:spPr>
          <a:xfrm>
            <a:off x="9057617" y="5516775"/>
            <a:ext cx="512379" cy="369332"/>
          </a:xfrm>
          <a:prstGeom prst="rect">
            <a:avLst/>
          </a:prstGeom>
          <a:noFill/>
        </p:spPr>
        <p:txBody>
          <a:bodyPr wrap="square" rtlCol="0">
            <a:spAutoFit/>
          </a:bodyPr>
          <a:lstStyle/>
          <a:p>
            <a:pPr algn="ctr"/>
            <a:r>
              <a:rPr kumimoji="1" lang="en-US" altLang="zh-TW" dirty="0">
                <a:solidFill>
                  <a:schemeClr val="accent2"/>
                </a:solidFill>
              </a:rPr>
              <a:t>3</a:t>
            </a:r>
            <a:endParaRPr kumimoji="1" lang="zh-TW" altLang="en-US" dirty="0">
              <a:solidFill>
                <a:schemeClr val="accent2"/>
              </a:solidFill>
            </a:endParaRPr>
          </a:p>
        </p:txBody>
      </p:sp>
      <p:sp>
        <p:nvSpPr>
          <p:cNvPr id="30" name="矩形 29">
            <a:extLst>
              <a:ext uri="{FF2B5EF4-FFF2-40B4-BE49-F238E27FC236}">
                <a16:creationId xmlns:a16="http://schemas.microsoft.com/office/drawing/2014/main" id="{13C2DC0D-DEC8-1486-FCD1-DBBE5D225931}"/>
              </a:ext>
            </a:extLst>
          </p:cNvPr>
          <p:cNvSpPr/>
          <p:nvPr/>
        </p:nvSpPr>
        <p:spPr>
          <a:xfrm>
            <a:off x="1526595" y="3459740"/>
            <a:ext cx="3969026" cy="6554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b="1" dirty="0">
                <a:solidFill>
                  <a:schemeClr val="tx1"/>
                </a:solidFill>
              </a:rPr>
              <a:t>Self-attention</a:t>
            </a:r>
            <a:endParaRPr kumimoji="1" lang="zh-TW" altLang="en-US" b="1" dirty="0">
              <a:solidFill>
                <a:schemeClr val="tx1"/>
              </a:solidFill>
            </a:endParaRPr>
          </a:p>
        </p:txBody>
      </p:sp>
      <p:sp>
        <p:nvSpPr>
          <p:cNvPr id="31" name="矩形 30">
            <a:extLst>
              <a:ext uri="{FF2B5EF4-FFF2-40B4-BE49-F238E27FC236}">
                <a16:creationId xmlns:a16="http://schemas.microsoft.com/office/drawing/2014/main" id="{BE8E2AB4-F5C9-F6EA-BEF9-A5E618D7E9AA}"/>
              </a:ext>
            </a:extLst>
          </p:cNvPr>
          <p:cNvSpPr/>
          <p:nvPr/>
        </p:nvSpPr>
        <p:spPr>
          <a:xfrm>
            <a:off x="6447409" y="3459740"/>
            <a:ext cx="3969026" cy="6554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b="1" dirty="0">
                <a:solidFill>
                  <a:schemeClr val="tx1"/>
                </a:solidFill>
              </a:rPr>
              <a:t>Self-attention</a:t>
            </a:r>
            <a:endParaRPr kumimoji="1" lang="zh-TW" altLang="en-US" b="1" dirty="0">
              <a:solidFill>
                <a:schemeClr val="tx1"/>
              </a:solidFill>
            </a:endParaRPr>
          </a:p>
        </p:txBody>
      </p:sp>
      <p:cxnSp>
        <p:nvCxnSpPr>
          <p:cNvPr id="33" name="直線箭頭接點 32">
            <a:extLst>
              <a:ext uri="{FF2B5EF4-FFF2-40B4-BE49-F238E27FC236}">
                <a16:creationId xmlns:a16="http://schemas.microsoft.com/office/drawing/2014/main" id="{D96202E9-65BE-B8E5-C9A2-79FF263A0249}"/>
              </a:ext>
            </a:extLst>
          </p:cNvPr>
          <p:cNvCxnSpPr>
            <a:cxnSpLocks/>
          </p:cNvCxnSpPr>
          <p:nvPr/>
        </p:nvCxnSpPr>
        <p:spPr>
          <a:xfrm flipV="1">
            <a:off x="2596709" y="4161705"/>
            <a:ext cx="0" cy="299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直線箭頭接點 33">
            <a:extLst>
              <a:ext uri="{FF2B5EF4-FFF2-40B4-BE49-F238E27FC236}">
                <a16:creationId xmlns:a16="http://schemas.microsoft.com/office/drawing/2014/main" id="{9E3B5C8C-5ED2-12AC-6BBE-7E6E8D7AD19B}"/>
              </a:ext>
            </a:extLst>
          </p:cNvPr>
          <p:cNvCxnSpPr>
            <a:cxnSpLocks/>
          </p:cNvCxnSpPr>
          <p:nvPr/>
        </p:nvCxnSpPr>
        <p:spPr>
          <a:xfrm flipV="1">
            <a:off x="3758102" y="4161705"/>
            <a:ext cx="0" cy="299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線箭頭接點 34">
            <a:extLst>
              <a:ext uri="{FF2B5EF4-FFF2-40B4-BE49-F238E27FC236}">
                <a16:creationId xmlns:a16="http://schemas.microsoft.com/office/drawing/2014/main" id="{D59C0F2F-6935-0010-5210-611E4DCB31E4}"/>
              </a:ext>
            </a:extLst>
          </p:cNvPr>
          <p:cNvCxnSpPr>
            <a:cxnSpLocks/>
          </p:cNvCxnSpPr>
          <p:nvPr/>
        </p:nvCxnSpPr>
        <p:spPr>
          <a:xfrm flipV="1">
            <a:off x="4935261" y="4161705"/>
            <a:ext cx="0" cy="299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直線箭頭接點 35">
            <a:extLst>
              <a:ext uri="{FF2B5EF4-FFF2-40B4-BE49-F238E27FC236}">
                <a16:creationId xmlns:a16="http://schemas.microsoft.com/office/drawing/2014/main" id="{DF502FB2-B836-E8DC-5D85-007C1D6CF894}"/>
              </a:ext>
            </a:extLst>
          </p:cNvPr>
          <p:cNvCxnSpPr>
            <a:cxnSpLocks/>
          </p:cNvCxnSpPr>
          <p:nvPr/>
        </p:nvCxnSpPr>
        <p:spPr>
          <a:xfrm flipV="1">
            <a:off x="7467597" y="4161705"/>
            <a:ext cx="0" cy="299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直線箭頭接點 36">
            <a:extLst>
              <a:ext uri="{FF2B5EF4-FFF2-40B4-BE49-F238E27FC236}">
                <a16:creationId xmlns:a16="http://schemas.microsoft.com/office/drawing/2014/main" id="{0ACB7BA3-007A-42BB-4E97-366BB0D9FAC7}"/>
              </a:ext>
            </a:extLst>
          </p:cNvPr>
          <p:cNvCxnSpPr>
            <a:cxnSpLocks/>
          </p:cNvCxnSpPr>
          <p:nvPr/>
        </p:nvCxnSpPr>
        <p:spPr>
          <a:xfrm flipV="1">
            <a:off x="8628990" y="4161705"/>
            <a:ext cx="0" cy="299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直線箭頭接點 37">
            <a:extLst>
              <a:ext uri="{FF2B5EF4-FFF2-40B4-BE49-F238E27FC236}">
                <a16:creationId xmlns:a16="http://schemas.microsoft.com/office/drawing/2014/main" id="{A1866D55-7ED0-7C7E-B74E-7B38A507714C}"/>
              </a:ext>
            </a:extLst>
          </p:cNvPr>
          <p:cNvCxnSpPr>
            <a:cxnSpLocks/>
          </p:cNvCxnSpPr>
          <p:nvPr/>
        </p:nvCxnSpPr>
        <p:spPr>
          <a:xfrm flipV="1">
            <a:off x="9806149" y="4161705"/>
            <a:ext cx="0" cy="299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文字方塊 38">
            <a:extLst>
              <a:ext uri="{FF2B5EF4-FFF2-40B4-BE49-F238E27FC236}">
                <a16:creationId xmlns:a16="http://schemas.microsoft.com/office/drawing/2014/main" id="{D0B9F1A8-1CAD-C3EC-5B97-09BD3E753E34}"/>
              </a:ext>
            </a:extLst>
          </p:cNvPr>
          <p:cNvSpPr txBox="1"/>
          <p:nvPr/>
        </p:nvSpPr>
        <p:spPr>
          <a:xfrm>
            <a:off x="1981853" y="4838082"/>
            <a:ext cx="717331" cy="369332"/>
          </a:xfrm>
          <a:prstGeom prst="rect">
            <a:avLst/>
          </a:prstGeom>
          <a:noFill/>
        </p:spPr>
        <p:txBody>
          <a:bodyPr wrap="square" rtlCol="0">
            <a:spAutoFit/>
          </a:bodyPr>
          <a:lstStyle/>
          <a:p>
            <a:pPr algn="ctr"/>
            <a:r>
              <a:rPr kumimoji="1" lang="en-US" altLang="zh-TW" dirty="0"/>
              <a:t>+</a:t>
            </a:r>
            <a:endParaRPr kumimoji="1" lang="zh-TW" altLang="en-US" dirty="0"/>
          </a:p>
        </p:txBody>
      </p:sp>
      <p:sp>
        <p:nvSpPr>
          <p:cNvPr id="40" name="文字方塊 39">
            <a:extLst>
              <a:ext uri="{FF2B5EF4-FFF2-40B4-BE49-F238E27FC236}">
                <a16:creationId xmlns:a16="http://schemas.microsoft.com/office/drawing/2014/main" id="{D124635A-FE45-D46B-626C-7BEFFACB6F38}"/>
              </a:ext>
            </a:extLst>
          </p:cNvPr>
          <p:cNvSpPr txBox="1"/>
          <p:nvPr/>
        </p:nvSpPr>
        <p:spPr>
          <a:xfrm>
            <a:off x="3150144" y="4838082"/>
            <a:ext cx="717331" cy="369332"/>
          </a:xfrm>
          <a:prstGeom prst="rect">
            <a:avLst/>
          </a:prstGeom>
          <a:noFill/>
        </p:spPr>
        <p:txBody>
          <a:bodyPr wrap="square" rtlCol="0">
            <a:spAutoFit/>
          </a:bodyPr>
          <a:lstStyle/>
          <a:p>
            <a:pPr algn="ctr"/>
            <a:r>
              <a:rPr kumimoji="1" lang="en-US" altLang="zh-TW" dirty="0"/>
              <a:t>+</a:t>
            </a:r>
            <a:endParaRPr kumimoji="1" lang="zh-TW" altLang="en-US" dirty="0"/>
          </a:p>
        </p:txBody>
      </p:sp>
      <p:sp>
        <p:nvSpPr>
          <p:cNvPr id="41" name="文字方塊 40">
            <a:extLst>
              <a:ext uri="{FF2B5EF4-FFF2-40B4-BE49-F238E27FC236}">
                <a16:creationId xmlns:a16="http://schemas.microsoft.com/office/drawing/2014/main" id="{912D3C30-E22A-D8AE-9C89-7A197E086129}"/>
              </a:ext>
            </a:extLst>
          </p:cNvPr>
          <p:cNvSpPr txBox="1"/>
          <p:nvPr/>
        </p:nvSpPr>
        <p:spPr>
          <a:xfrm>
            <a:off x="4321718" y="4838082"/>
            <a:ext cx="717331" cy="369332"/>
          </a:xfrm>
          <a:prstGeom prst="rect">
            <a:avLst/>
          </a:prstGeom>
          <a:noFill/>
        </p:spPr>
        <p:txBody>
          <a:bodyPr wrap="square" rtlCol="0">
            <a:spAutoFit/>
          </a:bodyPr>
          <a:lstStyle/>
          <a:p>
            <a:pPr algn="ctr"/>
            <a:r>
              <a:rPr kumimoji="1" lang="en-US" altLang="zh-TW" dirty="0"/>
              <a:t>+</a:t>
            </a:r>
            <a:endParaRPr kumimoji="1" lang="zh-TW" altLang="en-US" dirty="0"/>
          </a:p>
        </p:txBody>
      </p:sp>
      <p:sp>
        <p:nvSpPr>
          <p:cNvPr id="42" name="文字方塊 41">
            <a:extLst>
              <a:ext uri="{FF2B5EF4-FFF2-40B4-BE49-F238E27FC236}">
                <a16:creationId xmlns:a16="http://schemas.microsoft.com/office/drawing/2014/main" id="{6597993C-4B04-C025-76F3-5B9D95A9EEB7}"/>
              </a:ext>
            </a:extLst>
          </p:cNvPr>
          <p:cNvSpPr txBox="1"/>
          <p:nvPr/>
        </p:nvSpPr>
        <p:spPr>
          <a:xfrm>
            <a:off x="6855042" y="4838082"/>
            <a:ext cx="717331" cy="369332"/>
          </a:xfrm>
          <a:prstGeom prst="rect">
            <a:avLst/>
          </a:prstGeom>
          <a:noFill/>
        </p:spPr>
        <p:txBody>
          <a:bodyPr wrap="square" rtlCol="0">
            <a:spAutoFit/>
          </a:bodyPr>
          <a:lstStyle/>
          <a:p>
            <a:pPr algn="ctr"/>
            <a:r>
              <a:rPr kumimoji="1" lang="en-US" altLang="zh-TW" dirty="0"/>
              <a:t>+</a:t>
            </a:r>
            <a:endParaRPr kumimoji="1" lang="zh-TW" altLang="en-US" dirty="0"/>
          </a:p>
        </p:txBody>
      </p:sp>
      <p:sp>
        <p:nvSpPr>
          <p:cNvPr id="43" name="文字方塊 42">
            <a:extLst>
              <a:ext uri="{FF2B5EF4-FFF2-40B4-BE49-F238E27FC236}">
                <a16:creationId xmlns:a16="http://schemas.microsoft.com/office/drawing/2014/main" id="{F2DAE614-301E-6BEF-70E5-6BBEF6BD10AB}"/>
              </a:ext>
            </a:extLst>
          </p:cNvPr>
          <p:cNvSpPr txBox="1"/>
          <p:nvPr/>
        </p:nvSpPr>
        <p:spPr>
          <a:xfrm>
            <a:off x="8024318" y="4838082"/>
            <a:ext cx="717331" cy="369332"/>
          </a:xfrm>
          <a:prstGeom prst="rect">
            <a:avLst/>
          </a:prstGeom>
          <a:noFill/>
        </p:spPr>
        <p:txBody>
          <a:bodyPr wrap="square" rtlCol="0">
            <a:spAutoFit/>
          </a:bodyPr>
          <a:lstStyle/>
          <a:p>
            <a:pPr algn="ctr"/>
            <a:r>
              <a:rPr kumimoji="1" lang="en-US" altLang="zh-TW" dirty="0"/>
              <a:t>+</a:t>
            </a:r>
            <a:endParaRPr kumimoji="1" lang="zh-TW" altLang="en-US" dirty="0"/>
          </a:p>
        </p:txBody>
      </p:sp>
      <p:sp>
        <p:nvSpPr>
          <p:cNvPr id="44" name="文字方塊 43">
            <a:extLst>
              <a:ext uri="{FF2B5EF4-FFF2-40B4-BE49-F238E27FC236}">
                <a16:creationId xmlns:a16="http://schemas.microsoft.com/office/drawing/2014/main" id="{9FC6EC99-8848-9867-743A-2E1051D4419A}"/>
              </a:ext>
            </a:extLst>
          </p:cNvPr>
          <p:cNvSpPr txBox="1"/>
          <p:nvPr/>
        </p:nvSpPr>
        <p:spPr>
          <a:xfrm>
            <a:off x="9193428" y="4838082"/>
            <a:ext cx="717331" cy="369332"/>
          </a:xfrm>
          <a:prstGeom prst="rect">
            <a:avLst/>
          </a:prstGeom>
          <a:noFill/>
        </p:spPr>
        <p:txBody>
          <a:bodyPr wrap="square" rtlCol="0">
            <a:spAutoFit/>
          </a:bodyPr>
          <a:lstStyle/>
          <a:p>
            <a:pPr algn="ctr"/>
            <a:r>
              <a:rPr kumimoji="1" lang="en-US" altLang="zh-TW" dirty="0"/>
              <a:t>+</a:t>
            </a:r>
            <a:endParaRPr kumimoji="1" lang="zh-TW" altLang="en-US" dirty="0"/>
          </a:p>
        </p:txBody>
      </p:sp>
      <p:sp>
        <p:nvSpPr>
          <p:cNvPr id="45" name="矩形 44">
            <a:extLst>
              <a:ext uri="{FF2B5EF4-FFF2-40B4-BE49-F238E27FC236}">
                <a16:creationId xmlns:a16="http://schemas.microsoft.com/office/drawing/2014/main" id="{1464A69B-C4CA-8B79-AD79-5E9822CF7CD2}"/>
              </a:ext>
            </a:extLst>
          </p:cNvPr>
          <p:cNvSpPr/>
          <p:nvPr/>
        </p:nvSpPr>
        <p:spPr>
          <a:xfrm>
            <a:off x="2428381" y="2128331"/>
            <a:ext cx="320889" cy="889228"/>
          </a:xfrm>
          <a:prstGeom prst="rect">
            <a:avLst/>
          </a:prstGeom>
          <a:solidFill>
            <a:schemeClr val="accent6">
              <a:lumMod val="40000"/>
              <a:lumOff val="6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b="1" dirty="0">
              <a:solidFill>
                <a:schemeClr val="tx1"/>
              </a:solidFill>
            </a:endParaRPr>
          </a:p>
        </p:txBody>
      </p:sp>
      <p:cxnSp>
        <p:nvCxnSpPr>
          <p:cNvPr id="52" name="直線箭頭接點 51">
            <a:extLst>
              <a:ext uri="{FF2B5EF4-FFF2-40B4-BE49-F238E27FC236}">
                <a16:creationId xmlns:a16="http://schemas.microsoft.com/office/drawing/2014/main" id="{9D3A286F-F008-3B19-4FE7-E41984808E77}"/>
              </a:ext>
            </a:extLst>
          </p:cNvPr>
          <p:cNvCxnSpPr>
            <a:cxnSpLocks/>
          </p:cNvCxnSpPr>
          <p:nvPr/>
        </p:nvCxnSpPr>
        <p:spPr>
          <a:xfrm flipV="1">
            <a:off x="7486645" y="3098291"/>
            <a:ext cx="0" cy="299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直線箭頭接點 52">
            <a:extLst>
              <a:ext uri="{FF2B5EF4-FFF2-40B4-BE49-F238E27FC236}">
                <a16:creationId xmlns:a16="http://schemas.microsoft.com/office/drawing/2014/main" id="{232D2F95-9A32-DB2C-1546-6D67B4EE08AD}"/>
              </a:ext>
            </a:extLst>
          </p:cNvPr>
          <p:cNvCxnSpPr>
            <a:cxnSpLocks/>
          </p:cNvCxnSpPr>
          <p:nvPr/>
        </p:nvCxnSpPr>
        <p:spPr>
          <a:xfrm flipV="1">
            <a:off x="8648038" y="3098291"/>
            <a:ext cx="0" cy="299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直線箭頭接點 53">
            <a:extLst>
              <a:ext uri="{FF2B5EF4-FFF2-40B4-BE49-F238E27FC236}">
                <a16:creationId xmlns:a16="http://schemas.microsoft.com/office/drawing/2014/main" id="{B1E266D5-A580-143C-2A46-3D95EBC974ED}"/>
              </a:ext>
            </a:extLst>
          </p:cNvPr>
          <p:cNvCxnSpPr>
            <a:cxnSpLocks/>
          </p:cNvCxnSpPr>
          <p:nvPr/>
        </p:nvCxnSpPr>
        <p:spPr>
          <a:xfrm flipV="1">
            <a:off x="9825197" y="3098291"/>
            <a:ext cx="0" cy="299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直線箭頭接點 54">
            <a:extLst>
              <a:ext uri="{FF2B5EF4-FFF2-40B4-BE49-F238E27FC236}">
                <a16:creationId xmlns:a16="http://schemas.microsoft.com/office/drawing/2014/main" id="{7A127BAF-0D3E-D86F-0D78-03AAC320DE69}"/>
              </a:ext>
            </a:extLst>
          </p:cNvPr>
          <p:cNvCxnSpPr>
            <a:cxnSpLocks/>
          </p:cNvCxnSpPr>
          <p:nvPr/>
        </p:nvCxnSpPr>
        <p:spPr>
          <a:xfrm flipV="1">
            <a:off x="2588826" y="3100335"/>
            <a:ext cx="0" cy="299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直線箭頭接點 55">
            <a:extLst>
              <a:ext uri="{FF2B5EF4-FFF2-40B4-BE49-F238E27FC236}">
                <a16:creationId xmlns:a16="http://schemas.microsoft.com/office/drawing/2014/main" id="{8B6C7410-5A3D-6C4B-8229-22474B471EC8}"/>
              </a:ext>
            </a:extLst>
          </p:cNvPr>
          <p:cNvCxnSpPr>
            <a:cxnSpLocks/>
          </p:cNvCxnSpPr>
          <p:nvPr/>
        </p:nvCxnSpPr>
        <p:spPr>
          <a:xfrm flipV="1">
            <a:off x="3750219" y="3100335"/>
            <a:ext cx="0" cy="299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直線箭頭接點 56">
            <a:extLst>
              <a:ext uri="{FF2B5EF4-FFF2-40B4-BE49-F238E27FC236}">
                <a16:creationId xmlns:a16="http://schemas.microsoft.com/office/drawing/2014/main" id="{F117886F-2B14-90EF-C8E3-9DBF560B801C}"/>
              </a:ext>
            </a:extLst>
          </p:cNvPr>
          <p:cNvCxnSpPr>
            <a:cxnSpLocks/>
          </p:cNvCxnSpPr>
          <p:nvPr/>
        </p:nvCxnSpPr>
        <p:spPr>
          <a:xfrm flipV="1">
            <a:off x="4927378" y="3100335"/>
            <a:ext cx="0" cy="299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矩形 57">
            <a:extLst>
              <a:ext uri="{FF2B5EF4-FFF2-40B4-BE49-F238E27FC236}">
                <a16:creationId xmlns:a16="http://schemas.microsoft.com/office/drawing/2014/main" id="{53E72C6D-EB8C-93B4-8AFB-26BA371822B1}"/>
              </a:ext>
            </a:extLst>
          </p:cNvPr>
          <p:cNvSpPr/>
          <p:nvPr/>
        </p:nvSpPr>
        <p:spPr>
          <a:xfrm>
            <a:off x="3589774" y="2128331"/>
            <a:ext cx="320889" cy="889228"/>
          </a:xfrm>
          <a:prstGeom prst="rect">
            <a:avLst/>
          </a:prstGeom>
          <a:solidFill>
            <a:schemeClr val="accent6">
              <a:lumMod val="40000"/>
              <a:lumOff val="6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b="1" dirty="0">
              <a:solidFill>
                <a:schemeClr val="tx1"/>
              </a:solidFill>
            </a:endParaRPr>
          </a:p>
        </p:txBody>
      </p:sp>
      <p:sp>
        <p:nvSpPr>
          <p:cNvPr id="59" name="矩形 58">
            <a:extLst>
              <a:ext uri="{FF2B5EF4-FFF2-40B4-BE49-F238E27FC236}">
                <a16:creationId xmlns:a16="http://schemas.microsoft.com/office/drawing/2014/main" id="{DBF04034-86AB-1182-3DAF-BB25644C786C}"/>
              </a:ext>
            </a:extLst>
          </p:cNvPr>
          <p:cNvSpPr/>
          <p:nvPr/>
        </p:nvSpPr>
        <p:spPr>
          <a:xfrm>
            <a:off x="4774816" y="2128331"/>
            <a:ext cx="320889" cy="889228"/>
          </a:xfrm>
          <a:prstGeom prst="rect">
            <a:avLst/>
          </a:prstGeom>
          <a:solidFill>
            <a:schemeClr val="accent6">
              <a:lumMod val="40000"/>
              <a:lumOff val="6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b="1" dirty="0">
              <a:solidFill>
                <a:schemeClr val="tx1"/>
              </a:solidFill>
            </a:endParaRPr>
          </a:p>
        </p:txBody>
      </p:sp>
      <p:sp>
        <p:nvSpPr>
          <p:cNvPr id="60" name="矩形 59">
            <a:extLst>
              <a:ext uri="{FF2B5EF4-FFF2-40B4-BE49-F238E27FC236}">
                <a16:creationId xmlns:a16="http://schemas.microsoft.com/office/drawing/2014/main" id="{E356E94B-8D35-9D7C-A1BF-8053B23C6146}"/>
              </a:ext>
            </a:extLst>
          </p:cNvPr>
          <p:cNvSpPr/>
          <p:nvPr/>
        </p:nvSpPr>
        <p:spPr>
          <a:xfrm>
            <a:off x="7326200" y="2126287"/>
            <a:ext cx="320889" cy="889228"/>
          </a:xfrm>
          <a:prstGeom prst="rect">
            <a:avLst/>
          </a:prstGeom>
          <a:solidFill>
            <a:schemeClr val="accent6">
              <a:lumMod val="40000"/>
              <a:lumOff val="6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b="1" dirty="0">
              <a:solidFill>
                <a:schemeClr val="tx1"/>
              </a:solidFill>
            </a:endParaRPr>
          </a:p>
        </p:txBody>
      </p:sp>
      <p:sp>
        <p:nvSpPr>
          <p:cNvPr id="61" name="矩形 60">
            <a:extLst>
              <a:ext uri="{FF2B5EF4-FFF2-40B4-BE49-F238E27FC236}">
                <a16:creationId xmlns:a16="http://schemas.microsoft.com/office/drawing/2014/main" id="{1975C40B-7997-D0A9-6E1B-5AD75EBFA3A6}"/>
              </a:ext>
            </a:extLst>
          </p:cNvPr>
          <p:cNvSpPr/>
          <p:nvPr/>
        </p:nvSpPr>
        <p:spPr>
          <a:xfrm>
            <a:off x="8487593" y="2126287"/>
            <a:ext cx="320889" cy="889228"/>
          </a:xfrm>
          <a:prstGeom prst="rect">
            <a:avLst/>
          </a:prstGeom>
          <a:solidFill>
            <a:schemeClr val="accent6">
              <a:lumMod val="40000"/>
              <a:lumOff val="6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b="1" dirty="0">
              <a:solidFill>
                <a:schemeClr val="tx1"/>
              </a:solidFill>
            </a:endParaRPr>
          </a:p>
        </p:txBody>
      </p:sp>
      <p:sp>
        <p:nvSpPr>
          <p:cNvPr id="62" name="矩形 61">
            <a:extLst>
              <a:ext uri="{FF2B5EF4-FFF2-40B4-BE49-F238E27FC236}">
                <a16:creationId xmlns:a16="http://schemas.microsoft.com/office/drawing/2014/main" id="{1E91A45E-9F7B-E750-5928-E59950D2BD3D}"/>
              </a:ext>
            </a:extLst>
          </p:cNvPr>
          <p:cNvSpPr/>
          <p:nvPr/>
        </p:nvSpPr>
        <p:spPr>
          <a:xfrm>
            <a:off x="9660814" y="2126287"/>
            <a:ext cx="320889" cy="889228"/>
          </a:xfrm>
          <a:prstGeom prst="rect">
            <a:avLst/>
          </a:prstGeom>
          <a:solidFill>
            <a:schemeClr val="accent6">
              <a:lumMod val="40000"/>
              <a:lumOff val="6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b="1" dirty="0">
              <a:solidFill>
                <a:schemeClr val="tx1"/>
              </a:solidFill>
            </a:endParaRPr>
          </a:p>
        </p:txBody>
      </p:sp>
      <p:sp>
        <p:nvSpPr>
          <p:cNvPr id="63" name="文字方塊 62">
            <a:extLst>
              <a:ext uri="{FF2B5EF4-FFF2-40B4-BE49-F238E27FC236}">
                <a16:creationId xmlns:a16="http://schemas.microsoft.com/office/drawing/2014/main" id="{0C72EF17-30DB-73D8-C359-035A7D13B107}"/>
              </a:ext>
            </a:extLst>
          </p:cNvPr>
          <p:cNvSpPr txBox="1"/>
          <p:nvPr/>
        </p:nvSpPr>
        <p:spPr>
          <a:xfrm>
            <a:off x="2249214" y="6317246"/>
            <a:ext cx="7693572" cy="369332"/>
          </a:xfrm>
          <a:prstGeom prst="rect">
            <a:avLst/>
          </a:prstGeom>
          <a:noFill/>
        </p:spPr>
        <p:txBody>
          <a:bodyPr wrap="square" rtlCol="0">
            <a:spAutoFit/>
          </a:bodyPr>
          <a:lstStyle/>
          <a:p>
            <a:pPr algn="ctr"/>
            <a:r>
              <a:rPr kumimoji="1" lang="zh-TW" altLang="en-US" dirty="0"/>
              <a:t>此做法又稱絕對位置資訊編碼 </a:t>
            </a:r>
            <a:r>
              <a:rPr kumimoji="1" lang="en-US" altLang="zh-TW" dirty="0"/>
              <a:t>(Absolute positional Encoding)</a:t>
            </a:r>
            <a:endParaRPr kumimoji="1" lang="zh-TW" altLang="en-US" dirty="0"/>
          </a:p>
        </p:txBody>
      </p:sp>
    </p:spTree>
    <p:extLst>
      <p:ext uri="{BB962C8B-B14F-4D97-AF65-F5344CB8AC3E}">
        <p14:creationId xmlns:p14="http://schemas.microsoft.com/office/powerpoint/2010/main" val="127168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2EBB77E-3CCA-A6A4-EB95-8625CFAACC1E}"/>
              </a:ext>
            </a:extLst>
          </p:cNvPr>
          <p:cNvSpPr>
            <a:spLocks noGrp="1"/>
          </p:cNvSpPr>
          <p:nvPr>
            <p:ph type="title"/>
          </p:nvPr>
        </p:nvSpPr>
        <p:spPr/>
        <p:txBody>
          <a:bodyPr>
            <a:normAutofit/>
          </a:bodyPr>
          <a:lstStyle/>
          <a:p>
            <a:r>
              <a:rPr kumimoji="1" lang="en" altLang="zh-TW" dirty="0"/>
              <a:t>Learned Positional Embeddings</a:t>
            </a:r>
            <a:r>
              <a:rPr kumimoji="1" lang="zh-TW" altLang="en-US" dirty="0"/>
              <a:t> 程式碼</a:t>
            </a:r>
          </a:p>
        </p:txBody>
      </p:sp>
      <p:sp>
        <p:nvSpPr>
          <p:cNvPr id="4" name="投影片編號版面配置區 3">
            <a:extLst>
              <a:ext uri="{FF2B5EF4-FFF2-40B4-BE49-F238E27FC236}">
                <a16:creationId xmlns:a16="http://schemas.microsoft.com/office/drawing/2014/main" id="{DA39CB26-A76A-A595-2939-F9BF8D40F4A6}"/>
              </a:ext>
            </a:extLst>
          </p:cNvPr>
          <p:cNvSpPr>
            <a:spLocks noGrp="1"/>
          </p:cNvSpPr>
          <p:nvPr>
            <p:ph type="sldNum" sz="quarter" idx="12"/>
          </p:nvPr>
        </p:nvSpPr>
        <p:spPr/>
        <p:txBody>
          <a:bodyPr/>
          <a:lstStyle/>
          <a:p>
            <a:fld id="{6113E31D-E2AB-40D1-8B51-AFA5AFEF393A}" type="slidenum">
              <a:rPr lang="en-US" smtClean="0"/>
              <a:pPr/>
              <a:t>6</a:t>
            </a:fld>
            <a:endParaRPr lang="en-US" dirty="0"/>
          </a:p>
        </p:txBody>
      </p:sp>
      <p:pic>
        <p:nvPicPr>
          <p:cNvPr id="6" name="圖片 5">
            <a:extLst>
              <a:ext uri="{FF2B5EF4-FFF2-40B4-BE49-F238E27FC236}">
                <a16:creationId xmlns:a16="http://schemas.microsoft.com/office/drawing/2014/main" id="{6F023F39-06C6-862C-16C2-96C079CEAC50}"/>
              </a:ext>
            </a:extLst>
          </p:cNvPr>
          <p:cNvPicPr>
            <a:picLocks noChangeAspect="1"/>
          </p:cNvPicPr>
          <p:nvPr/>
        </p:nvPicPr>
        <p:blipFill>
          <a:blip r:embed="rId3"/>
          <a:stretch>
            <a:fillRect/>
          </a:stretch>
        </p:blipFill>
        <p:spPr>
          <a:xfrm>
            <a:off x="1011535" y="1971020"/>
            <a:ext cx="10201586" cy="2915960"/>
          </a:xfrm>
          <a:prstGeom prst="rect">
            <a:avLst/>
          </a:prstGeom>
        </p:spPr>
      </p:pic>
      <p:sp>
        <p:nvSpPr>
          <p:cNvPr id="7" name="矩形 6">
            <a:extLst>
              <a:ext uri="{FF2B5EF4-FFF2-40B4-BE49-F238E27FC236}">
                <a16:creationId xmlns:a16="http://schemas.microsoft.com/office/drawing/2014/main" id="{D3575EC4-8C46-6FBC-5025-B8DC8F01405D}"/>
              </a:ext>
            </a:extLst>
          </p:cNvPr>
          <p:cNvSpPr/>
          <p:nvPr/>
        </p:nvSpPr>
        <p:spPr>
          <a:xfrm>
            <a:off x="1761043" y="3325957"/>
            <a:ext cx="8544910" cy="20551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 name="文字方塊 7">
            <a:extLst>
              <a:ext uri="{FF2B5EF4-FFF2-40B4-BE49-F238E27FC236}">
                <a16:creationId xmlns:a16="http://schemas.microsoft.com/office/drawing/2014/main" id="{87D4F23E-FC5D-D22B-6DCA-73A9EDB4825C}"/>
              </a:ext>
            </a:extLst>
          </p:cNvPr>
          <p:cNvSpPr txBox="1"/>
          <p:nvPr/>
        </p:nvSpPr>
        <p:spPr>
          <a:xfrm>
            <a:off x="5612524" y="1389504"/>
            <a:ext cx="6117022" cy="276999"/>
          </a:xfrm>
          <a:prstGeom prst="rect">
            <a:avLst/>
          </a:prstGeom>
          <a:noFill/>
        </p:spPr>
        <p:txBody>
          <a:bodyPr wrap="square" rtlCol="0">
            <a:spAutoFit/>
          </a:bodyPr>
          <a:lstStyle/>
          <a:p>
            <a:r>
              <a:rPr kumimoji="1" lang="en" altLang="zh-TW" sz="1200" dirty="0"/>
              <a:t>https://</a:t>
            </a:r>
            <a:r>
              <a:rPr kumimoji="1" lang="en" altLang="zh-TW" sz="1200" dirty="0" err="1"/>
              <a:t>huggingface.co</a:t>
            </a:r>
            <a:r>
              <a:rPr kumimoji="1" lang="en" altLang="zh-TW" sz="1200" dirty="0"/>
              <a:t>/transformers/v2.1.1/_modules/transformers/</a:t>
            </a:r>
            <a:r>
              <a:rPr kumimoji="1" lang="en" altLang="zh-TW" sz="1200" dirty="0" err="1"/>
              <a:t>modeling_bert.html</a:t>
            </a:r>
            <a:endParaRPr kumimoji="1" lang="zh-TW" altLang="en-US" sz="1200" dirty="0"/>
          </a:p>
        </p:txBody>
      </p:sp>
      <p:sp>
        <p:nvSpPr>
          <p:cNvPr id="9" name="文字方塊 8">
            <a:extLst>
              <a:ext uri="{FF2B5EF4-FFF2-40B4-BE49-F238E27FC236}">
                <a16:creationId xmlns:a16="http://schemas.microsoft.com/office/drawing/2014/main" id="{5C80E418-40C1-4582-88D0-A44DEA20E4F1}"/>
              </a:ext>
            </a:extLst>
          </p:cNvPr>
          <p:cNvSpPr txBox="1"/>
          <p:nvPr/>
        </p:nvSpPr>
        <p:spPr>
          <a:xfrm>
            <a:off x="2249214" y="5537549"/>
            <a:ext cx="7693572" cy="369332"/>
          </a:xfrm>
          <a:prstGeom prst="rect">
            <a:avLst/>
          </a:prstGeom>
          <a:noFill/>
        </p:spPr>
        <p:txBody>
          <a:bodyPr wrap="square" rtlCol="0">
            <a:spAutoFit/>
          </a:bodyPr>
          <a:lstStyle/>
          <a:p>
            <a:r>
              <a:rPr kumimoji="1" lang="zh-TW" altLang="en-US" dirty="0"/>
              <a:t>缺點：</a:t>
            </a:r>
            <a:r>
              <a:rPr kumimoji="1" lang="en" altLang="zh-TW" dirty="0"/>
              <a:t>Learned Positional Embeddings</a:t>
            </a:r>
            <a:r>
              <a:rPr kumimoji="1" lang="zh-TW" altLang="en-US" dirty="0"/>
              <a:t> 不會超出 </a:t>
            </a:r>
            <a:r>
              <a:rPr kumimoji="1" lang="en-US" altLang="zh-TW" dirty="0" err="1"/>
              <a:t>max_position</a:t>
            </a:r>
            <a:r>
              <a:rPr kumimoji="1" lang="zh-TW" altLang="en-US" dirty="0"/>
              <a:t> 之後的資訊</a:t>
            </a:r>
          </a:p>
        </p:txBody>
      </p:sp>
    </p:spTree>
    <p:extLst>
      <p:ext uri="{BB962C8B-B14F-4D97-AF65-F5344CB8AC3E}">
        <p14:creationId xmlns:p14="http://schemas.microsoft.com/office/powerpoint/2010/main" val="3768479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DF50D18-DD5F-5EB1-E88A-96C3F7C14467}"/>
              </a:ext>
            </a:extLst>
          </p:cNvPr>
          <p:cNvSpPr>
            <a:spLocks noGrp="1"/>
          </p:cNvSpPr>
          <p:nvPr>
            <p:ph type="title"/>
          </p:nvPr>
        </p:nvSpPr>
        <p:spPr/>
        <p:txBody>
          <a:bodyPr/>
          <a:lstStyle/>
          <a:p>
            <a:r>
              <a:rPr kumimoji="1" lang="en-US" altLang="zh-TW" dirty="0"/>
              <a:t>BERT PE </a:t>
            </a:r>
            <a:r>
              <a:rPr kumimoji="1" lang="zh-TW" altLang="en-US" dirty="0"/>
              <a:t>範例</a:t>
            </a:r>
          </a:p>
        </p:txBody>
      </p:sp>
      <p:sp>
        <p:nvSpPr>
          <p:cNvPr id="3" name="內容版面配置區 2">
            <a:extLst>
              <a:ext uri="{FF2B5EF4-FFF2-40B4-BE49-F238E27FC236}">
                <a16:creationId xmlns:a16="http://schemas.microsoft.com/office/drawing/2014/main" id="{940600D5-1301-E3A8-2ACE-9D584B349891}"/>
              </a:ext>
            </a:extLst>
          </p:cNvPr>
          <p:cNvSpPr>
            <a:spLocks noGrp="1"/>
          </p:cNvSpPr>
          <p:nvPr>
            <p:ph idx="1"/>
          </p:nvPr>
        </p:nvSpPr>
        <p:spPr>
          <a:xfrm>
            <a:off x="636814" y="1574443"/>
            <a:ext cx="10918371" cy="4656178"/>
          </a:xfrm>
        </p:spPr>
        <p:txBody>
          <a:bodyPr>
            <a:noAutofit/>
          </a:bodyPr>
          <a:lstStyle/>
          <a:p>
            <a:r>
              <a:rPr kumimoji="1" lang="zh-TW" altLang="en-US" sz="1800" dirty="0"/>
              <a:t>假設 </a:t>
            </a:r>
            <a:r>
              <a:rPr kumimoji="1" lang="en-US" altLang="zh-TW" sz="1800" dirty="0"/>
              <a:t>`</a:t>
            </a:r>
            <a:r>
              <a:rPr kumimoji="1" lang="en" altLang="zh-TW" sz="1800" dirty="0" err="1"/>
              <a:t>max_position_embeddings</a:t>
            </a:r>
            <a:r>
              <a:rPr kumimoji="1" lang="en" altLang="zh-TW" sz="1800" dirty="0"/>
              <a:t> = 5`</a:t>
            </a:r>
            <a:r>
              <a:rPr kumimoji="1" lang="zh-TW" altLang="en" sz="1800" dirty="0"/>
              <a:t>，</a:t>
            </a:r>
            <a:r>
              <a:rPr kumimoji="1" lang="en" altLang="zh-TW" sz="1800" dirty="0"/>
              <a:t>`</a:t>
            </a:r>
            <a:r>
              <a:rPr kumimoji="1" lang="en" altLang="zh-TW" sz="1800" dirty="0" err="1"/>
              <a:t>hidden_size</a:t>
            </a:r>
            <a:r>
              <a:rPr kumimoji="1" lang="en" altLang="zh-TW" sz="1800" dirty="0"/>
              <a:t> = 4`</a:t>
            </a:r>
            <a:r>
              <a:rPr kumimoji="1" lang="zh-TW" altLang="en" sz="1800" dirty="0"/>
              <a:t>，</a:t>
            </a:r>
            <a:r>
              <a:rPr kumimoji="1" lang="zh-TW" altLang="en-US" sz="1800" dirty="0"/>
              <a:t>那麼 </a:t>
            </a:r>
            <a:r>
              <a:rPr kumimoji="1" lang="en-US" altLang="zh-TW" sz="1800" dirty="0"/>
              <a:t>`</a:t>
            </a:r>
            <a:r>
              <a:rPr kumimoji="1" lang="en" altLang="zh-TW" sz="1800" dirty="0" err="1"/>
              <a:t>nn.Embedding</a:t>
            </a:r>
            <a:r>
              <a:rPr kumimoji="1" lang="en" altLang="zh-TW" sz="1800" dirty="0"/>
              <a:t>(5, 4)` </a:t>
            </a:r>
            <a:r>
              <a:rPr kumimoji="1" lang="zh-TW" altLang="en-US" sz="1800" dirty="0"/>
              <a:t>會建立一張這樣的表：</a:t>
            </a:r>
            <a:endParaRPr kumimoji="1" lang="en-US" altLang="zh-TW" sz="1800" dirty="0"/>
          </a:p>
          <a:p>
            <a:r>
              <a:rPr kumimoji="1" lang="zh-TW" altLang="en-US" sz="1800" dirty="0"/>
              <a:t>位置 </a:t>
            </a:r>
            <a:r>
              <a:rPr kumimoji="1" lang="en-US" altLang="zh-TW" sz="1800" dirty="0"/>
              <a:t>0 → [0.12, -0.34,  0.56,  0.78]</a:t>
            </a:r>
          </a:p>
          <a:p>
            <a:r>
              <a:rPr kumimoji="1" lang="zh-TW" altLang="en-US" sz="1800" dirty="0"/>
              <a:t>位置 </a:t>
            </a:r>
            <a:r>
              <a:rPr kumimoji="1" lang="en-US" altLang="zh-TW" sz="1800" dirty="0"/>
              <a:t>1 → [0.91,  0.23, -0.45,  0.67]</a:t>
            </a:r>
          </a:p>
          <a:p>
            <a:r>
              <a:rPr kumimoji="1" lang="zh-TW" altLang="en-US" sz="1800" dirty="0"/>
              <a:t>位置 </a:t>
            </a:r>
            <a:r>
              <a:rPr kumimoji="1" lang="en-US" altLang="zh-TW" sz="1800" dirty="0"/>
              <a:t>2 → [-0.11, 0.88,  0.33, -0.52]</a:t>
            </a:r>
          </a:p>
          <a:p>
            <a:r>
              <a:rPr kumimoji="1" lang="zh-TW" altLang="en-US" sz="1800" dirty="0"/>
              <a:t>位置 </a:t>
            </a:r>
            <a:r>
              <a:rPr kumimoji="1" lang="en-US" altLang="zh-TW" sz="1800" dirty="0"/>
              <a:t>3 → [0.44, -0.76,  0.21,  0.95]</a:t>
            </a:r>
          </a:p>
          <a:p>
            <a:r>
              <a:rPr kumimoji="1" lang="zh-TW" altLang="en-US" sz="1800" dirty="0"/>
              <a:t>位置 </a:t>
            </a:r>
            <a:r>
              <a:rPr kumimoji="1" lang="en-US" altLang="zh-TW" sz="1800" dirty="0"/>
              <a:t>4 → [-0.63, 0.15,  0.82, -0.37]</a:t>
            </a:r>
          </a:p>
          <a:p>
            <a:endParaRPr kumimoji="1" lang="en-US" altLang="zh-TW" sz="1800" dirty="0"/>
          </a:p>
          <a:p>
            <a:r>
              <a:rPr kumimoji="1" lang="zh-TW" altLang="en-US" sz="1800" dirty="0"/>
              <a:t>當輸入句子 </a:t>
            </a:r>
            <a:r>
              <a:rPr kumimoji="1" lang="en-US" altLang="zh-TW" sz="1800" dirty="0"/>
              <a:t>`"</a:t>
            </a:r>
            <a:r>
              <a:rPr kumimoji="1" lang="zh-TW" altLang="en-US" sz="1800" dirty="0"/>
              <a:t>我 喜歡 </a:t>
            </a:r>
            <a:r>
              <a:rPr kumimoji="1" lang="en" altLang="zh-TW" sz="1800" dirty="0"/>
              <a:t>NLP"` </a:t>
            </a:r>
            <a:r>
              <a:rPr kumimoji="1" lang="zh-TW" altLang="en-US" sz="1800" dirty="0"/>
              <a:t>時，三個 </a:t>
            </a:r>
            <a:r>
              <a:rPr kumimoji="1" lang="en" altLang="zh-TW" sz="1800" dirty="0"/>
              <a:t>token </a:t>
            </a:r>
            <a:r>
              <a:rPr kumimoji="1" lang="zh-TW" altLang="en-US" sz="1800" dirty="0"/>
              <a:t>分別在位置 </a:t>
            </a:r>
            <a:r>
              <a:rPr kumimoji="1" lang="en-US" altLang="zh-TW" sz="1800" dirty="0"/>
              <a:t>0</a:t>
            </a:r>
            <a:r>
              <a:rPr kumimoji="1" lang="zh-TW" altLang="en-US" sz="1800" dirty="0"/>
              <a:t>、</a:t>
            </a:r>
            <a:r>
              <a:rPr kumimoji="1" lang="en-US" altLang="zh-TW" sz="1800" dirty="0"/>
              <a:t>1</a:t>
            </a:r>
            <a:r>
              <a:rPr kumimoji="1" lang="zh-TW" altLang="en-US" sz="1800" dirty="0"/>
              <a:t>、</a:t>
            </a:r>
            <a:r>
              <a:rPr kumimoji="1" lang="en-US" altLang="zh-TW" sz="1800" dirty="0"/>
              <a:t>2</a:t>
            </a:r>
            <a:r>
              <a:rPr kumimoji="1" lang="zh-TW" altLang="en-US" sz="1800" dirty="0"/>
              <a:t>：</a:t>
            </a:r>
            <a:endParaRPr kumimoji="1" lang="en-US" altLang="zh-TW" sz="1800" dirty="0"/>
          </a:p>
          <a:p>
            <a:r>
              <a:rPr kumimoji="1" lang="en-US" altLang="zh-TW" sz="1800" dirty="0"/>
              <a:t>"</a:t>
            </a:r>
            <a:r>
              <a:rPr kumimoji="1" lang="zh-TW" altLang="en-US" sz="1800" dirty="0">
                <a:solidFill>
                  <a:srgbClr val="00B050"/>
                </a:solidFill>
              </a:rPr>
              <a:t>我</a:t>
            </a:r>
            <a:r>
              <a:rPr kumimoji="1" lang="en-US" altLang="zh-TW" sz="1800" dirty="0"/>
              <a:t>"   → </a:t>
            </a:r>
            <a:r>
              <a:rPr kumimoji="1" lang="zh-TW" altLang="en-US" sz="1800" dirty="0"/>
              <a:t>查位置 </a:t>
            </a:r>
            <a:r>
              <a:rPr kumimoji="1" lang="en-US" altLang="zh-TW" sz="1800" dirty="0"/>
              <a:t>0 → [0.12, -0.34,  0.56,  0.78]</a:t>
            </a:r>
          </a:p>
          <a:p>
            <a:r>
              <a:rPr kumimoji="1" lang="en-US" altLang="zh-TW" sz="1800" dirty="0"/>
              <a:t>"</a:t>
            </a:r>
            <a:r>
              <a:rPr kumimoji="1" lang="zh-TW" altLang="en-US" sz="1800" dirty="0">
                <a:solidFill>
                  <a:srgbClr val="00B050"/>
                </a:solidFill>
              </a:rPr>
              <a:t>喜歡</a:t>
            </a:r>
            <a:r>
              <a:rPr kumimoji="1" lang="en-US" altLang="zh-TW" sz="1800" dirty="0"/>
              <a:t>" → </a:t>
            </a:r>
            <a:r>
              <a:rPr kumimoji="1" lang="zh-TW" altLang="en-US" sz="1800" dirty="0"/>
              <a:t>查位置 </a:t>
            </a:r>
            <a:r>
              <a:rPr kumimoji="1" lang="en-US" altLang="zh-TW" sz="1800" dirty="0"/>
              <a:t>1 → [0.91,  0.23, -0.45,  0.67]</a:t>
            </a:r>
          </a:p>
          <a:p>
            <a:r>
              <a:rPr kumimoji="1" lang="en-US" altLang="zh-TW" sz="1800" dirty="0"/>
              <a:t>"</a:t>
            </a:r>
            <a:r>
              <a:rPr kumimoji="1" lang="en" altLang="zh-TW" sz="1800" dirty="0">
                <a:solidFill>
                  <a:srgbClr val="00B050"/>
                </a:solidFill>
              </a:rPr>
              <a:t>NLP</a:t>
            </a:r>
            <a:r>
              <a:rPr kumimoji="1" lang="en" altLang="zh-TW" sz="1800" dirty="0"/>
              <a:t>"  → </a:t>
            </a:r>
            <a:r>
              <a:rPr kumimoji="1" lang="zh-TW" altLang="en-US" sz="1800" dirty="0"/>
              <a:t>查位置 </a:t>
            </a:r>
            <a:r>
              <a:rPr kumimoji="1" lang="en-US" altLang="zh-TW" sz="1800" dirty="0"/>
              <a:t>2 → [-0.11, 0.88,  0.33, -0.52]</a:t>
            </a:r>
          </a:p>
        </p:txBody>
      </p:sp>
      <p:sp>
        <p:nvSpPr>
          <p:cNvPr id="4" name="投影片編號版面配置區 3">
            <a:extLst>
              <a:ext uri="{FF2B5EF4-FFF2-40B4-BE49-F238E27FC236}">
                <a16:creationId xmlns:a16="http://schemas.microsoft.com/office/drawing/2014/main" id="{566E13D6-B36F-B93D-20DC-B45AD87A07D2}"/>
              </a:ext>
            </a:extLst>
          </p:cNvPr>
          <p:cNvSpPr>
            <a:spLocks noGrp="1"/>
          </p:cNvSpPr>
          <p:nvPr>
            <p:ph type="sldNum" sz="quarter" idx="12"/>
          </p:nvPr>
        </p:nvSpPr>
        <p:spPr/>
        <p:txBody>
          <a:bodyPr/>
          <a:lstStyle/>
          <a:p>
            <a:fld id="{6113E31D-E2AB-40D1-8B51-AFA5AFEF393A}" type="slidenum">
              <a:rPr lang="en-US" smtClean="0"/>
              <a:pPr/>
              <a:t>7</a:t>
            </a:fld>
            <a:endParaRPr lang="en-US" dirty="0"/>
          </a:p>
        </p:txBody>
      </p:sp>
    </p:spTree>
    <p:extLst>
      <p:ext uri="{BB962C8B-B14F-4D97-AF65-F5344CB8AC3E}">
        <p14:creationId xmlns:p14="http://schemas.microsoft.com/office/powerpoint/2010/main" val="3472476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ED967D5-7D80-994F-6A47-90B01BE66348}"/>
              </a:ext>
            </a:extLst>
          </p:cNvPr>
          <p:cNvSpPr>
            <a:spLocks noGrp="1"/>
          </p:cNvSpPr>
          <p:nvPr>
            <p:ph type="title"/>
          </p:nvPr>
        </p:nvSpPr>
        <p:spPr>
          <a:xfrm>
            <a:off x="653143" y="366027"/>
            <a:ext cx="10918371" cy="1033416"/>
          </a:xfrm>
        </p:spPr>
        <p:txBody>
          <a:bodyPr/>
          <a:lstStyle/>
          <a:p>
            <a:r>
              <a:rPr kumimoji="1" lang="en-US" altLang="zh-TW" dirty="0"/>
              <a:t>Positional </a:t>
            </a:r>
            <a:r>
              <a:rPr kumimoji="1" lang="en-US" altLang="zh-TW" dirty="0">
                <a:cs typeface="Calibri" panose="020F0502020204030204" pitchFamily="34" charset="0"/>
              </a:rPr>
              <a:t>Encoding</a:t>
            </a:r>
            <a:r>
              <a:rPr kumimoji="1" lang="zh-TW" altLang="en-US" dirty="0">
                <a:cs typeface="Calibri" panose="020F0502020204030204" pitchFamily="34" charset="0"/>
              </a:rPr>
              <a:t> </a:t>
            </a:r>
            <a:r>
              <a:rPr kumimoji="1" lang="en-US" altLang="zh-TW" dirty="0">
                <a:cs typeface="Calibri" panose="020F0502020204030204" pitchFamily="34" charset="0"/>
              </a:rPr>
              <a:t>in Transformer</a:t>
            </a:r>
            <a:endParaRPr kumimoji="1" lang="zh-TW" altLang="en-US" dirty="0"/>
          </a:p>
        </p:txBody>
      </p:sp>
      <p:sp>
        <p:nvSpPr>
          <p:cNvPr id="4" name="投影片編號版面配置區 3">
            <a:extLst>
              <a:ext uri="{FF2B5EF4-FFF2-40B4-BE49-F238E27FC236}">
                <a16:creationId xmlns:a16="http://schemas.microsoft.com/office/drawing/2014/main" id="{C2957192-476E-F18C-A6CD-DB3BE3091DCA}"/>
              </a:ext>
            </a:extLst>
          </p:cNvPr>
          <p:cNvSpPr>
            <a:spLocks noGrp="1"/>
          </p:cNvSpPr>
          <p:nvPr>
            <p:ph type="sldNum" sz="quarter" idx="12"/>
          </p:nvPr>
        </p:nvSpPr>
        <p:spPr/>
        <p:txBody>
          <a:bodyPr/>
          <a:lstStyle/>
          <a:p>
            <a:fld id="{6113E31D-E2AB-40D1-8B51-AFA5AFEF393A}" type="slidenum">
              <a:rPr lang="en-US" smtClean="0"/>
              <a:pPr/>
              <a:t>8</a:t>
            </a:fld>
            <a:endParaRPr lang="en-US" dirty="0"/>
          </a:p>
        </p:txBody>
      </p:sp>
      <p:sp>
        <p:nvSpPr>
          <p:cNvPr id="8" name="文字方塊 7">
            <a:extLst>
              <a:ext uri="{FF2B5EF4-FFF2-40B4-BE49-F238E27FC236}">
                <a16:creationId xmlns:a16="http://schemas.microsoft.com/office/drawing/2014/main" id="{74E3DBAF-360E-36AD-FDC8-9459181D1B50}"/>
              </a:ext>
            </a:extLst>
          </p:cNvPr>
          <p:cNvSpPr txBox="1"/>
          <p:nvPr/>
        </p:nvSpPr>
        <p:spPr>
          <a:xfrm>
            <a:off x="653142" y="1756063"/>
            <a:ext cx="9155876" cy="95904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zh-TW" altLang="en-US" sz="2000" dirty="0">
                <a:ea typeface="Microsoft JhengHei" panose="020B0604030504040204" pitchFamily="34" charset="-120"/>
              </a:rPr>
              <a:t>以</a:t>
            </a:r>
            <a:r>
              <a:rPr kumimoji="1" lang="zh-TW" altLang="en-US" sz="2000" u="sng" dirty="0">
                <a:ea typeface="Microsoft JhengHei" panose="020B0604030504040204" pitchFamily="34" charset="-120"/>
              </a:rPr>
              <a:t>絕對位置</a:t>
            </a:r>
            <a:r>
              <a:rPr kumimoji="1" lang="zh-TW" altLang="en-US" sz="2000" dirty="0">
                <a:ea typeface="Microsoft JhengHei" panose="020B0604030504040204" pitchFamily="34" charset="-120"/>
              </a:rPr>
              <a:t>編碼創造出</a:t>
            </a:r>
            <a:r>
              <a:rPr kumimoji="1" lang="zh-TW" altLang="en-US" sz="2000" dirty="0">
                <a:solidFill>
                  <a:srgbClr val="FF0000"/>
                </a:solidFill>
                <a:ea typeface="Microsoft JhengHei" panose="020B0604030504040204" pitchFamily="34" charset="-120"/>
              </a:rPr>
              <a:t>相對位置</a:t>
            </a:r>
            <a:r>
              <a:rPr kumimoji="1" lang="zh-TW" altLang="en-US" sz="2000" dirty="0">
                <a:ea typeface="Microsoft JhengHei" panose="020B0604030504040204" pitchFamily="34" charset="-120"/>
              </a:rPr>
              <a:t>的 </a:t>
            </a:r>
            <a:r>
              <a:rPr kumimoji="1" lang="en-US" altLang="zh-TW" sz="2000" dirty="0">
                <a:ea typeface="Microsoft JhengHei" panose="020B0604030504040204" pitchFamily="34" charset="-120"/>
              </a:rPr>
              <a:t>embeddings</a:t>
            </a:r>
          </a:p>
          <a:p>
            <a:pPr marL="285750" indent="-285750">
              <a:lnSpc>
                <a:spcPct val="150000"/>
              </a:lnSpc>
              <a:buFont typeface="Arial" panose="020B0604020202020204" pitchFamily="34" charset="0"/>
              <a:buChar char="•"/>
            </a:pPr>
            <a:r>
              <a:rPr kumimoji="1" lang="zh-TW" altLang="en-US" sz="2000" dirty="0">
                <a:ea typeface="Microsoft JhengHei" panose="020B0604030504040204" pitchFamily="34" charset="-120"/>
              </a:rPr>
              <a:t>核心精神：利用三角函數的週期性來建構序列資訊</a:t>
            </a:r>
            <a:endParaRPr kumimoji="1" lang="en-US" altLang="zh-TW" sz="2000" dirty="0">
              <a:ea typeface="Microsoft JhengHei" panose="020B0604030504040204" pitchFamily="34" charset="-120"/>
            </a:endParaRPr>
          </a:p>
        </p:txBody>
      </p:sp>
      <p:pic>
        <p:nvPicPr>
          <p:cNvPr id="3" name="圖片 2">
            <a:extLst>
              <a:ext uri="{FF2B5EF4-FFF2-40B4-BE49-F238E27FC236}">
                <a16:creationId xmlns:a16="http://schemas.microsoft.com/office/drawing/2014/main" id="{2EB5A69B-2C19-BD24-9448-291950201033}"/>
              </a:ext>
            </a:extLst>
          </p:cNvPr>
          <p:cNvPicPr>
            <a:picLocks noChangeAspect="1"/>
          </p:cNvPicPr>
          <p:nvPr/>
        </p:nvPicPr>
        <p:blipFill>
          <a:blip r:embed="rId3"/>
          <a:stretch>
            <a:fillRect/>
          </a:stretch>
        </p:blipFill>
        <p:spPr>
          <a:xfrm>
            <a:off x="719802" y="3276694"/>
            <a:ext cx="4658591" cy="890444"/>
          </a:xfrm>
          <a:prstGeom prst="rect">
            <a:avLst/>
          </a:prstGeom>
        </p:spPr>
      </p:pic>
      <p:sp>
        <p:nvSpPr>
          <p:cNvPr id="5" name="文字方塊 4">
            <a:extLst>
              <a:ext uri="{FF2B5EF4-FFF2-40B4-BE49-F238E27FC236}">
                <a16:creationId xmlns:a16="http://schemas.microsoft.com/office/drawing/2014/main" id="{1E6F196F-C8B3-4018-5426-0BC154649F04}"/>
              </a:ext>
            </a:extLst>
          </p:cNvPr>
          <p:cNvSpPr txBox="1"/>
          <p:nvPr/>
        </p:nvSpPr>
        <p:spPr>
          <a:xfrm>
            <a:off x="1828190" y="4335558"/>
            <a:ext cx="3550203" cy="497444"/>
          </a:xfrm>
          <a:prstGeom prst="rect">
            <a:avLst/>
          </a:prstGeom>
          <a:noFill/>
        </p:spPr>
        <p:txBody>
          <a:bodyPr wrap="square" rtlCol="0">
            <a:spAutoFit/>
          </a:bodyPr>
          <a:lstStyle/>
          <a:p>
            <a:pPr>
              <a:lnSpc>
                <a:spcPct val="150000"/>
              </a:lnSpc>
            </a:pPr>
            <a:r>
              <a:rPr kumimoji="1" lang="zh-TW" altLang="en-US" sz="2000" dirty="0">
                <a:solidFill>
                  <a:srgbClr val="FF0000"/>
                </a:solidFill>
                <a:latin typeface="Microsoft JhengHei" panose="020B0604030504040204" pitchFamily="34" charset="-120"/>
                <a:ea typeface="Microsoft JhengHei" panose="020B0604030504040204" pitchFamily="34" charset="-120"/>
              </a:rPr>
              <a:t>輸入序列中任一</a:t>
            </a:r>
            <a:r>
              <a:rPr kumimoji="1" lang="en-US" altLang="zh-TW" sz="2000" dirty="0">
                <a:solidFill>
                  <a:srgbClr val="FF0000"/>
                </a:solidFill>
                <a:latin typeface="Microsoft JhengHei" panose="020B0604030504040204" pitchFamily="34" charset="-120"/>
                <a:ea typeface="Microsoft JhengHei" panose="020B0604030504040204" pitchFamily="34" charset="-120"/>
              </a:rPr>
              <a:t>token</a:t>
            </a:r>
            <a:r>
              <a:rPr kumimoji="1" lang="zh-TW" altLang="en-US" sz="2000" dirty="0">
                <a:solidFill>
                  <a:srgbClr val="FF0000"/>
                </a:solidFill>
                <a:latin typeface="Microsoft JhengHei" panose="020B0604030504040204" pitchFamily="34" charset="-120"/>
                <a:ea typeface="Microsoft JhengHei" panose="020B0604030504040204" pitchFamily="34" charset="-120"/>
              </a:rPr>
              <a:t>的位置</a:t>
            </a:r>
          </a:p>
        </p:txBody>
      </p:sp>
      <p:cxnSp>
        <p:nvCxnSpPr>
          <p:cNvPr id="10" name="直線接點 9">
            <a:extLst>
              <a:ext uri="{FF2B5EF4-FFF2-40B4-BE49-F238E27FC236}">
                <a16:creationId xmlns:a16="http://schemas.microsoft.com/office/drawing/2014/main" id="{522B4799-4167-55A8-686C-6141ADD08D3E}"/>
              </a:ext>
            </a:extLst>
          </p:cNvPr>
          <p:cNvCxnSpPr/>
          <p:nvPr/>
        </p:nvCxnSpPr>
        <p:spPr>
          <a:xfrm>
            <a:off x="3080270" y="3629592"/>
            <a:ext cx="59918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線接點 10">
            <a:extLst>
              <a:ext uri="{FF2B5EF4-FFF2-40B4-BE49-F238E27FC236}">
                <a16:creationId xmlns:a16="http://schemas.microsoft.com/office/drawing/2014/main" id="{5CFD3839-658F-69D1-BF56-56504049DF0B}"/>
              </a:ext>
            </a:extLst>
          </p:cNvPr>
          <p:cNvCxnSpPr/>
          <p:nvPr/>
        </p:nvCxnSpPr>
        <p:spPr>
          <a:xfrm>
            <a:off x="3109724" y="4142893"/>
            <a:ext cx="59918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2" name="文字方塊 11">
                <a:extLst>
                  <a:ext uri="{FF2B5EF4-FFF2-40B4-BE49-F238E27FC236}">
                    <a16:creationId xmlns:a16="http://schemas.microsoft.com/office/drawing/2014/main" id="{BFF49AE4-3D2E-1D09-68E6-933562581145}"/>
                  </a:ext>
                </a:extLst>
              </p:cNvPr>
              <p:cNvSpPr txBox="1"/>
              <p:nvPr/>
            </p:nvSpPr>
            <p:spPr>
              <a:xfrm>
                <a:off x="5504790" y="3183784"/>
                <a:ext cx="6420190" cy="959109"/>
              </a:xfrm>
              <a:prstGeom prst="rect">
                <a:avLst/>
              </a:prstGeom>
              <a:noFill/>
            </p:spPr>
            <p:txBody>
              <a:bodyPr wrap="square" rtlCol="0">
                <a:spAutoFit/>
              </a:bodyPr>
              <a:lstStyle/>
              <a:p>
                <a:pPr>
                  <a:lnSpc>
                    <a:spcPct val="150000"/>
                  </a:lnSpc>
                </a:pPr>
                <a:r>
                  <a:rPr kumimoji="1" lang="en-US" altLang="zh-TW" sz="2000" dirty="0">
                    <a:solidFill>
                      <a:schemeClr val="accent2"/>
                    </a:solidFill>
                    <a:latin typeface="Microsoft JhengHei" panose="020B0604030504040204" pitchFamily="34" charset="-120"/>
                    <a:ea typeface="Microsoft JhengHei" panose="020B0604030504040204" pitchFamily="34" charset="-120"/>
                  </a:rPr>
                  <a:t>i</a:t>
                </a:r>
                <a:r>
                  <a:rPr kumimoji="1" lang="zh-TW" altLang="en-US" sz="2000" dirty="0">
                    <a:solidFill>
                      <a:schemeClr val="accent2"/>
                    </a:solidFill>
                    <a:latin typeface="Microsoft JhengHei" panose="020B0604030504040204" pitchFamily="34" charset="-120"/>
                    <a:ea typeface="Microsoft JhengHei" panose="020B0604030504040204" pitchFamily="34" charset="-120"/>
                  </a:rPr>
                  <a:t> 代表 </a:t>
                </a:r>
                <a:r>
                  <a:rPr kumimoji="1" lang="en-US" altLang="zh-TW" sz="2000" dirty="0">
                    <a:solidFill>
                      <a:schemeClr val="accent2"/>
                    </a:solidFill>
                    <a:latin typeface="Microsoft JhengHei" panose="020B0604030504040204" pitchFamily="34" charset="-120"/>
                    <a:ea typeface="Microsoft JhengHei" panose="020B0604030504040204" pitchFamily="34" charset="-120"/>
                  </a:rPr>
                  <a:t>embedding </a:t>
                </a:r>
                <a:r>
                  <a:rPr kumimoji="1" lang="zh-TW" altLang="en-US" sz="2000" dirty="0">
                    <a:solidFill>
                      <a:schemeClr val="accent2"/>
                    </a:solidFill>
                    <a:latin typeface="Microsoft JhengHei" panose="020B0604030504040204" pitchFamily="34" charset="-120"/>
                    <a:ea typeface="Microsoft JhengHei" panose="020B0604030504040204" pitchFamily="34" charset="-120"/>
                  </a:rPr>
                  <a:t>的位置，</a:t>
                </a:r>
                <a14:m>
                  <m:oMath xmlns:m="http://schemas.openxmlformats.org/officeDocument/2006/math">
                    <m:sSub>
                      <m:sSubPr>
                        <m:ctrlPr>
                          <a:rPr lang="zh-TW" altLang="zh-TW" i="1" smtClean="0">
                            <a:solidFill>
                              <a:schemeClr val="accent2"/>
                            </a:solidFill>
                          </a:rPr>
                        </m:ctrlPr>
                      </m:sSubPr>
                      <m:e>
                        <m:r>
                          <a:rPr lang="en-US" altLang="zh-TW" i="1">
                            <a:solidFill>
                              <a:schemeClr val="accent2"/>
                            </a:solidFill>
                          </a:rPr>
                          <m:t>𝑑</m:t>
                        </m:r>
                      </m:e>
                      <m:sub>
                        <m:r>
                          <m:rPr>
                            <m:sty m:val="p"/>
                          </m:rPr>
                          <a:rPr lang="en-US" altLang="zh-TW" i="0">
                            <a:solidFill>
                              <a:schemeClr val="accent2"/>
                            </a:solidFill>
                          </a:rPr>
                          <m:t>model</m:t>
                        </m:r>
                      </m:sub>
                    </m:sSub>
                  </m:oMath>
                </a14:m>
                <a:r>
                  <a:rPr kumimoji="1" lang="en-US" altLang="zh-TW" sz="2000" dirty="0">
                    <a:solidFill>
                      <a:schemeClr val="accent2"/>
                    </a:solidFill>
                    <a:latin typeface="Microsoft JhengHei" panose="020B0604030504040204" pitchFamily="34" charset="-120"/>
                    <a:ea typeface="Microsoft JhengHei" panose="020B0604030504040204" pitchFamily="34" charset="-120"/>
                  </a:rPr>
                  <a:t> </a:t>
                </a:r>
                <a:r>
                  <a:rPr kumimoji="1" lang="zh-TW" altLang="en-US" sz="2000" dirty="0">
                    <a:solidFill>
                      <a:schemeClr val="accent2"/>
                    </a:solidFill>
                    <a:latin typeface="Microsoft JhengHei" panose="020B0604030504040204" pitchFamily="34" charset="-120"/>
                    <a:ea typeface="Microsoft JhengHei" panose="020B0604030504040204" pitchFamily="34" charset="-120"/>
                  </a:rPr>
                  <a:t>是</a:t>
                </a:r>
                <a:r>
                  <a:rPr kumimoji="1" lang="en-US" altLang="zh-TW" sz="2000" dirty="0">
                    <a:solidFill>
                      <a:schemeClr val="accent2"/>
                    </a:solidFill>
                    <a:latin typeface="Microsoft JhengHei" panose="020B0604030504040204" pitchFamily="34" charset="-120"/>
                    <a:ea typeface="Microsoft JhengHei" panose="020B0604030504040204" pitchFamily="34" charset="-120"/>
                  </a:rPr>
                  <a:t> embedding </a:t>
                </a:r>
                <a:r>
                  <a:rPr kumimoji="1" lang="zh-TW" altLang="en-US" sz="2000" dirty="0">
                    <a:solidFill>
                      <a:schemeClr val="accent2"/>
                    </a:solidFill>
                    <a:latin typeface="Microsoft JhengHei" panose="020B0604030504040204" pitchFamily="34" charset="-120"/>
                    <a:ea typeface="Microsoft JhengHei" panose="020B0604030504040204" pitchFamily="34" charset="-120"/>
                  </a:rPr>
                  <a:t>長度</a:t>
                </a:r>
                <a:endParaRPr kumimoji="1" lang="en-US" altLang="zh-TW" sz="2000" dirty="0">
                  <a:solidFill>
                    <a:schemeClr val="accent2"/>
                  </a:solidFill>
                  <a:latin typeface="Microsoft JhengHei" panose="020B0604030504040204" pitchFamily="34" charset="-120"/>
                  <a:ea typeface="Microsoft JhengHei" panose="020B0604030504040204" pitchFamily="34" charset="-120"/>
                </a:endParaRPr>
              </a:p>
              <a:p>
                <a:pPr>
                  <a:lnSpc>
                    <a:spcPct val="150000"/>
                  </a:lnSpc>
                </a:pPr>
                <a:r>
                  <a:rPr kumimoji="1" lang="en-US" altLang="zh-TW" sz="2000" dirty="0">
                    <a:solidFill>
                      <a:schemeClr val="accent2"/>
                    </a:solidFill>
                    <a:latin typeface="Microsoft JhengHei" panose="020B0604030504040204" pitchFamily="34" charset="-120"/>
                    <a:ea typeface="Microsoft JhengHei" panose="020B0604030504040204" pitchFamily="34" charset="-120"/>
                  </a:rPr>
                  <a:t>10000</a:t>
                </a:r>
                <a:r>
                  <a:rPr kumimoji="1" lang="zh-TW" altLang="en-US" sz="2000" dirty="0">
                    <a:solidFill>
                      <a:schemeClr val="accent2"/>
                    </a:solidFill>
                    <a:latin typeface="Microsoft JhengHei" panose="020B0604030504040204" pitchFamily="34" charset="-120"/>
                    <a:ea typeface="Microsoft JhengHei" panose="020B0604030504040204" pitchFamily="34" charset="-120"/>
                  </a:rPr>
                  <a:t>是實驗得出的較佳數值</a:t>
                </a:r>
              </a:p>
            </p:txBody>
          </p:sp>
        </mc:Choice>
        <mc:Fallback>
          <p:sp>
            <p:nvSpPr>
              <p:cNvPr id="12" name="文字方塊 11">
                <a:extLst>
                  <a:ext uri="{FF2B5EF4-FFF2-40B4-BE49-F238E27FC236}">
                    <a16:creationId xmlns:a16="http://schemas.microsoft.com/office/drawing/2014/main" id="{BFF49AE4-3D2E-1D09-68E6-933562581145}"/>
                  </a:ext>
                </a:extLst>
              </p:cNvPr>
              <p:cNvSpPr txBox="1">
                <a:spLocks noRot="1" noChangeAspect="1" noMove="1" noResize="1" noEditPoints="1" noAdjustHandles="1" noChangeArrowheads="1" noChangeShapeType="1" noTextEdit="1"/>
              </p:cNvSpPr>
              <p:nvPr/>
            </p:nvSpPr>
            <p:spPr>
              <a:xfrm>
                <a:off x="5504790" y="3183784"/>
                <a:ext cx="6420190" cy="959109"/>
              </a:xfrm>
              <a:prstGeom prst="rect">
                <a:avLst/>
              </a:prstGeom>
              <a:blipFill>
                <a:blip r:embed="rId4"/>
                <a:stretch>
                  <a:fillRect l="-988" b="-10390"/>
                </a:stretch>
              </a:blipFill>
            </p:spPr>
            <p:txBody>
              <a:bodyPr/>
              <a:lstStyle/>
              <a:p>
                <a:r>
                  <a:rPr lang="zh-TW" altLang="en-US">
                    <a:noFill/>
                  </a:rPr>
                  <a:t> </a:t>
                </a:r>
              </a:p>
            </p:txBody>
          </p:sp>
        </mc:Fallback>
      </mc:AlternateContent>
      <p:sp>
        <p:nvSpPr>
          <p:cNvPr id="13" name="矩形 12">
            <a:extLst>
              <a:ext uri="{FF2B5EF4-FFF2-40B4-BE49-F238E27FC236}">
                <a16:creationId xmlns:a16="http://schemas.microsoft.com/office/drawing/2014/main" id="{2D2E1C61-9D99-DC50-CAB1-0AB458E605D1}"/>
              </a:ext>
            </a:extLst>
          </p:cNvPr>
          <p:cNvSpPr/>
          <p:nvPr/>
        </p:nvSpPr>
        <p:spPr>
          <a:xfrm>
            <a:off x="3708908" y="3255282"/>
            <a:ext cx="1537169" cy="374305"/>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14" name="矩形 13">
            <a:extLst>
              <a:ext uri="{FF2B5EF4-FFF2-40B4-BE49-F238E27FC236}">
                <a16:creationId xmlns:a16="http://schemas.microsoft.com/office/drawing/2014/main" id="{F17BFBE0-8297-8BE1-9577-CD50060ED8D8}"/>
              </a:ext>
            </a:extLst>
          </p:cNvPr>
          <p:cNvSpPr/>
          <p:nvPr/>
        </p:nvSpPr>
        <p:spPr>
          <a:xfrm>
            <a:off x="3708907" y="3740501"/>
            <a:ext cx="1537169" cy="402391"/>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2716512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0"/>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11"/>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5"/>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12">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1" end="1"/>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13" grpId="0" animBg="1"/>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73E019-8033-1D96-8AB9-0AFF2AB48399}"/>
              </a:ext>
            </a:extLst>
          </p:cNvPr>
          <p:cNvSpPr>
            <a:spLocks noGrp="1"/>
          </p:cNvSpPr>
          <p:nvPr>
            <p:ph type="title"/>
          </p:nvPr>
        </p:nvSpPr>
        <p:spPr/>
        <p:txBody>
          <a:bodyPr/>
          <a:lstStyle/>
          <a:p>
            <a:r>
              <a:rPr kumimoji="1" lang="en-US" altLang="zh-TW" dirty="0"/>
              <a:t>Transformer PE </a:t>
            </a:r>
            <a:r>
              <a:rPr kumimoji="1" lang="zh-TW" altLang="en-US" dirty="0"/>
              <a:t>範例</a:t>
            </a:r>
          </a:p>
        </p:txBody>
      </p:sp>
      <p:sp>
        <p:nvSpPr>
          <p:cNvPr id="4" name="投影片編號版面配置區 3">
            <a:extLst>
              <a:ext uri="{FF2B5EF4-FFF2-40B4-BE49-F238E27FC236}">
                <a16:creationId xmlns:a16="http://schemas.microsoft.com/office/drawing/2014/main" id="{AF05788E-BAED-9B50-ACCF-17724C3AC4F0}"/>
              </a:ext>
            </a:extLst>
          </p:cNvPr>
          <p:cNvSpPr>
            <a:spLocks noGrp="1"/>
          </p:cNvSpPr>
          <p:nvPr>
            <p:ph type="sldNum" sz="quarter" idx="12"/>
          </p:nvPr>
        </p:nvSpPr>
        <p:spPr/>
        <p:txBody>
          <a:bodyPr/>
          <a:lstStyle/>
          <a:p>
            <a:fld id="{6113E31D-E2AB-40D1-8B51-AFA5AFEF393A}" type="slidenum">
              <a:rPr lang="en-US" smtClean="0"/>
              <a:pPr/>
              <a:t>9</a:t>
            </a:fld>
            <a:endParaRPr lang="en-US" dirty="0"/>
          </a:p>
        </p:txBody>
      </p:sp>
      <p:graphicFrame>
        <p:nvGraphicFramePr>
          <p:cNvPr id="6" name="表格 5">
            <a:extLst>
              <a:ext uri="{FF2B5EF4-FFF2-40B4-BE49-F238E27FC236}">
                <a16:creationId xmlns:a16="http://schemas.microsoft.com/office/drawing/2014/main" id="{36FDE35F-06AD-71D6-4D9B-CDD52B02A878}"/>
              </a:ext>
            </a:extLst>
          </p:cNvPr>
          <p:cNvGraphicFramePr>
            <a:graphicFrameLocks noGrp="1"/>
          </p:cNvGraphicFramePr>
          <p:nvPr>
            <p:extLst>
              <p:ext uri="{D42A27DB-BD31-4B8C-83A1-F6EECF244321}">
                <p14:modId xmlns:p14="http://schemas.microsoft.com/office/powerpoint/2010/main" val="1517810869"/>
              </p:ext>
            </p:extLst>
          </p:nvPr>
        </p:nvGraphicFramePr>
        <p:xfrm>
          <a:off x="2044697" y="3429000"/>
          <a:ext cx="721139" cy="2818664"/>
        </p:xfrm>
        <a:graphic>
          <a:graphicData uri="http://schemas.openxmlformats.org/drawingml/2006/table">
            <a:tbl>
              <a:tblPr firstRow="1" bandRow="1">
                <a:tableStyleId>{5C22544A-7EE6-4342-B048-85BDC9FD1C3A}</a:tableStyleId>
              </a:tblPr>
              <a:tblGrid>
                <a:gridCol w="721139">
                  <a:extLst>
                    <a:ext uri="{9D8B030D-6E8A-4147-A177-3AD203B41FA5}">
                      <a16:colId xmlns:a16="http://schemas.microsoft.com/office/drawing/2014/main" val="1228403674"/>
                    </a:ext>
                  </a:extLst>
                </a:gridCol>
              </a:tblGrid>
              <a:tr h="704666">
                <a:tc>
                  <a:txBody>
                    <a:bodyPr/>
                    <a:lstStyle/>
                    <a:p>
                      <a:pPr algn="ctr"/>
                      <a:r>
                        <a:rPr lang="en-US" altLang="zh-TW" b="0" dirty="0">
                          <a:solidFill>
                            <a:schemeClr val="accent1"/>
                          </a:solidFill>
                        </a:rPr>
                        <a:t>I</a:t>
                      </a:r>
                      <a:endParaRPr lang="zh-TW" altLang="en-US" b="0" dirty="0">
                        <a:solidFill>
                          <a:schemeClr val="accent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0801223"/>
                  </a:ext>
                </a:extLst>
              </a:tr>
              <a:tr h="704666">
                <a:tc>
                  <a:txBody>
                    <a:bodyPr/>
                    <a:lstStyle/>
                    <a:p>
                      <a:pPr algn="ctr"/>
                      <a:r>
                        <a:rPr lang="en-US" altLang="zh-TW" dirty="0">
                          <a:solidFill>
                            <a:schemeClr val="accent1"/>
                          </a:solidFill>
                        </a:rPr>
                        <a:t>love</a:t>
                      </a:r>
                      <a:endParaRPr lang="zh-TW" altLang="en-US" dirty="0">
                        <a:solidFill>
                          <a:schemeClr val="accent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3041674"/>
                  </a:ext>
                </a:extLst>
              </a:tr>
              <a:tr h="704666">
                <a:tc>
                  <a:txBody>
                    <a:bodyPr/>
                    <a:lstStyle/>
                    <a:p>
                      <a:pPr algn="ctr"/>
                      <a:r>
                        <a:rPr lang="en-US" altLang="zh-TW" dirty="0" err="1">
                          <a:solidFill>
                            <a:schemeClr val="accent1"/>
                          </a:solidFill>
                        </a:rPr>
                        <a:t>nlp</a:t>
                      </a:r>
                      <a:endParaRPr lang="zh-TW" altLang="en-US" dirty="0">
                        <a:solidFill>
                          <a:schemeClr val="accent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2595680"/>
                  </a:ext>
                </a:extLst>
              </a:tr>
              <a:tr h="704666">
                <a:tc>
                  <a:txBody>
                    <a:bodyPr/>
                    <a:lstStyle/>
                    <a:p>
                      <a:pPr algn="ctr"/>
                      <a:r>
                        <a:rPr lang="en-US" altLang="zh-TW" dirty="0">
                          <a:solidFill>
                            <a:schemeClr val="accent1"/>
                          </a:solidFill>
                        </a:rPr>
                        <a:t>.</a:t>
                      </a:r>
                      <a:endParaRPr lang="zh-TW" altLang="en-US" dirty="0">
                        <a:solidFill>
                          <a:schemeClr val="accent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0386834"/>
                  </a:ext>
                </a:extLst>
              </a:tr>
            </a:tbl>
          </a:graphicData>
        </a:graphic>
      </p:graphicFrame>
      <p:graphicFrame>
        <p:nvGraphicFramePr>
          <p:cNvPr id="7" name="表格 6">
            <a:extLst>
              <a:ext uri="{FF2B5EF4-FFF2-40B4-BE49-F238E27FC236}">
                <a16:creationId xmlns:a16="http://schemas.microsoft.com/office/drawing/2014/main" id="{AE44DAD6-6EEB-3E84-A004-2AB22A7CD719}"/>
              </a:ext>
            </a:extLst>
          </p:cNvPr>
          <p:cNvGraphicFramePr>
            <a:graphicFrameLocks noGrp="1"/>
          </p:cNvGraphicFramePr>
          <p:nvPr>
            <p:extLst>
              <p:ext uri="{D42A27DB-BD31-4B8C-83A1-F6EECF244321}">
                <p14:modId xmlns:p14="http://schemas.microsoft.com/office/powerpoint/2010/main" val="2359162688"/>
              </p:ext>
            </p:extLst>
          </p:nvPr>
        </p:nvGraphicFramePr>
        <p:xfrm>
          <a:off x="4324395" y="2756460"/>
          <a:ext cx="5101769" cy="3471159"/>
        </p:xfrm>
        <a:graphic>
          <a:graphicData uri="http://schemas.openxmlformats.org/drawingml/2006/table">
            <a:tbl>
              <a:tblPr firstRow="1" bandRow="1">
                <a:tableStyleId>{5C22544A-7EE6-4342-B048-85BDC9FD1C3A}</a:tableStyleId>
              </a:tblPr>
              <a:tblGrid>
                <a:gridCol w="798129">
                  <a:extLst>
                    <a:ext uri="{9D8B030D-6E8A-4147-A177-3AD203B41FA5}">
                      <a16:colId xmlns:a16="http://schemas.microsoft.com/office/drawing/2014/main" val="1228403674"/>
                    </a:ext>
                  </a:extLst>
                </a:gridCol>
                <a:gridCol w="1075910">
                  <a:extLst>
                    <a:ext uri="{9D8B030D-6E8A-4147-A177-3AD203B41FA5}">
                      <a16:colId xmlns:a16="http://schemas.microsoft.com/office/drawing/2014/main" val="991762796"/>
                    </a:ext>
                  </a:extLst>
                </a:gridCol>
                <a:gridCol w="1075910">
                  <a:extLst>
                    <a:ext uri="{9D8B030D-6E8A-4147-A177-3AD203B41FA5}">
                      <a16:colId xmlns:a16="http://schemas.microsoft.com/office/drawing/2014/main" val="2528002028"/>
                    </a:ext>
                  </a:extLst>
                </a:gridCol>
                <a:gridCol w="1075910">
                  <a:extLst>
                    <a:ext uri="{9D8B030D-6E8A-4147-A177-3AD203B41FA5}">
                      <a16:colId xmlns:a16="http://schemas.microsoft.com/office/drawing/2014/main" val="625121266"/>
                    </a:ext>
                  </a:extLst>
                </a:gridCol>
                <a:gridCol w="1075910">
                  <a:extLst>
                    <a:ext uri="{9D8B030D-6E8A-4147-A177-3AD203B41FA5}">
                      <a16:colId xmlns:a16="http://schemas.microsoft.com/office/drawing/2014/main" val="2628658541"/>
                    </a:ext>
                  </a:extLst>
                </a:gridCol>
              </a:tblGrid>
              <a:tr h="652495">
                <a:tc>
                  <a:txBody>
                    <a:bodyPr/>
                    <a:lstStyle/>
                    <a:p>
                      <a:pPr algn="ctr"/>
                      <a:r>
                        <a:rPr lang="en-US" altLang="zh-TW" b="1" dirty="0">
                          <a:solidFill>
                            <a:schemeClr val="accent1"/>
                          </a:solidFill>
                        </a:rPr>
                        <a:t>token</a:t>
                      </a:r>
                      <a:endParaRPr lang="zh-TW" altLang="en-US" b="1" dirty="0">
                        <a:solidFill>
                          <a:schemeClr val="accent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1" dirty="0">
                          <a:solidFill>
                            <a:schemeClr val="tx1"/>
                          </a:solidFill>
                        </a:rPr>
                        <a:t>sin(t/1)</a:t>
                      </a:r>
                      <a:endParaRPr lang="zh-TW" altLang="en-US"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1" dirty="0">
                          <a:solidFill>
                            <a:schemeClr val="tx1"/>
                          </a:solidFill>
                        </a:rPr>
                        <a:t>cos(t/1)</a:t>
                      </a:r>
                      <a:endParaRPr lang="zh-TW" altLang="en-US"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1" dirty="0">
                          <a:solidFill>
                            <a:schemeClr val="tx1"/>
                          </a:solidFill>
                        </a:rPr>
                        <a:t>sin(t/10)</a:t>
                      </a:r>
                      <a:endParaRPr lang="zh-TW" altLang="en-US"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1" dirty="0">
                          <a:solidFill>
                            <a:schemeClr val="tx1"/>
                          </a:solidFill>
                        </a:rPr>
                        <a:t>cos(t/10)</a:t>
                      </a:r>
                      <a:endParaRPr lang="zh-TW" altLang="en-US"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7826083"/>
                  </a:ext>
                </a:extLst>
              </a:tr>
              <a:tr h="704666">
                <a:tc>
                  <a:txBody>
                    <a:bodyPr/>
                    <a:lstStyle/>
                    <a:p>
                      <a:pPr algn="ctr"/>
                      <a:r>
                        <a:rPr lang="en-US" altLang="zh-TW" b="0" dirty="0">
                          <a:solidFill>
                            <a:schemeClr val="accent1"/>
                          </a:solidFill>
                        </a:rPr>
                        <a:t>I</a:t>
                      </a:r>
                      <a:endParaRPr lang="zh-TW" altLang="en-US" b="0" dirty="0">
                        <a:solidFill>
                          <a:schemeClr val="accent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0.00</a:t>
                      </a:r>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1.00</a:t>
                      </a:r>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0.00</a:t>
                      </a:r>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b="0" dirty="0">
                          <a:solidFill>
                            <a:schemeClr val="tx1"/>
                          </a:solidFill>
                        </a:rPr>
                        <a:t>1.00</a:t>
                      </a:r>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0801223"/>
                  </a:ext>
                </a:extLst>
              </a:tr>
              <a:tr h="704666">
                <a:tc>
                  <a:txBody>
                    <a:bodyPr/>
                    <a:lstStyle/>
                    <a:p>
                      <a:pPr algn="ctr"/>
                      <a:r>
                        <a:rPr lang="en-US" altLang="zh-TW" dirty="0">
                          <a:solidFill>
                            <a:schemeClr val="accent1"/>
                          </a:solidFill>
                        </a:rPr>
                        <a:t>love</a:t>
                      </a:r>
                      <a:endParaRPr lang="zh-TW" altLang="en-US" dirty="0">
                        <a:solidFill>
                          <a:schemeClr val="accent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dirty="0">
                          <a:solidFill>
                            <a:schemeClr val="tx1"/>
                          </a:solidFill>
                        </a:rPr>
                        <a:t>0.84</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dirty="0">
                          <a:solidFill>
                            <a:schemeClr val="tx1"/>
                          </a:solidFill>
                        </a:rPr>
                        <a:t>0.54</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dirty="0">
                          <a:solidFill>
                            <a:schemeClr val="tx1"/>
                          </a:solidFill>
                        </a:rPr>
                        <a:t>0.10</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dirty="0">
                          <a:solidFill>
                            <a:schemeClr val="tx1"/>
                          </a:solidFill>
                        </a:rPr>
                        <a:t>1.00</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3041674"/>
                  </a:ext>
                </a:extLst>
              </a:tr>
              <a:tr h="704666">
                <a:tc>
                  <a:txBody>
                    <a:bodyPr/>
                    <a:lstStyle/>
                    <a:p>
                      <a:pPr algn="ctr"/>
                      <a:r>
                        <a:rPr lang="en-US" altLang="zh-TW" dirty="0" err="1">
                          <a:solidFill>
                            <a:schemeClr val="accent1"/>
                          </a:solidFill>
                        </a:rPr>
                        <a:t>nlp</a:t>
                      </a:r>
                      <a:endParaRPr lang="zh-TW" altLang="en-US" dirty="0">
                        <a:solidFill>
                          <a:schemeClr val="accent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dirty="0">
                          <a:solidFill>
                            <a:schemeClr val="tx1"/>
                          </a:solidFill>
                        </a:rPr>
                        <a:t>0.91</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dirty="0">
                          <a:solidFill>
                            <a:schemeClr val="tx1"/>
                          </a:solidFill>
                        </a:rPr>
                        <a:t>-0.42</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dirty="0">
                          <a:solidFill>
                            <a:schemeClr val="tx1"/>
                          </a:solidFill>
                        </a:rPr>
                        <a:t>0.20</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dirty="0">
                          <a:solidFill>
                            <a:schemeClr val="tx1"/>
                          </a:solidFill>
                        </a:rPr>
                        <a:t>0.98</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2595680"/>
                  </a:ext>
                </a:extLst>
              </a:tr>
              <a:tr h="704666">
                <a:tc>
                  <a:txBody>
                    <a:bodyPr/>
                    <a:lstStyle/>
                    <a:p>
                      <a:pPr algn="ctr"/>
                      <a:r>
                        <a:rPr lang="en-US" altLang="zh-TW" dirty="0">
                          <a:solidFill>
                            <a:schemeClr val="accent1"/>
                          </a:solidFill>
                        </a:rPr>
                        <a:t>.</a:t>
                      </a:r>
                      <a:endParaRPr lang="zh-TW" altLang="en-US" dirty="0">
                        <a:solidFill>
                          <a:schemeClr val="accent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dirty="0">
                          <a:solidFill>
                            <a:schemeClr val="tx1"/>
                          </a:solidFill>
                        </a:rPr>
                        <a:t>0.14</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dirty="0">
                          <a:solidFill>
                            <a:schemeClr val="tx1"/>
                          </a:solidFill>
                        </a:rPr>
                        <a:t>-0.99</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dirty="0">
                          <a:solidFill>
                            <a:schemeClr val="tx1"/>
                          </a:solidFill>
                        </a:rPr>
                        <a:t>0.30</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dirty="0">
                          <a:solidFill>
                            <a:schemeClr val="tx1"/>
                          </a:solidFill>
                        </a:rPr>
                        <a:t>0.96</a:t>
                      </a:r>
                      <a:endParaRPr lang="zh-TW"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0386834"/>
                  </a:ext>
                </a:extLst>
              </a:tr>
            </a:tbl>
          </a:graphicData>
        </a:graphic>
      </p:graphicFrame>
      <p:sp>
        <p:nvSpPr>
          <p:cNvPr id="8" name="文字方塊 7">
            <a:extLst>
              <a:ext uri="{FF2B5EF4-FFF2-40B4-BE49-F238E27FC236}">
                <a16:creationId xmlns:a16="http://schemas.microsoft.com/office/drawing/2014/main" id="{B2D7CC30-2CAD-C0D5-5F50-DD1D07BBC517}"/>
              </a:ext>
            </a:extLst>
          </p:cNvPr>
          <p:cNvSpPr txBox="1"/>
          <p:nvPr/>
        </p:nvSpPr>
        <p:spPr>
          <a:xfrm>
            <a:off x="3603256" y="3577991"/>
            <a:ext cx="721139" cy="369332"/>
          </a:xfrm>
          <a:prstGeom prst="rect">
            <a:avLst/>
          </a:prstGeom>
          <a:noFill/>
        </p:spPr>
        <p:txBody>
          <a:bodyPr wrap="square" rtlCol="0">
            <a:spAutoFit/>
          </a:bodyPr>
          <a:lstStyle/>
          <a:p>
            <a:pPr algn="ctr"/>
            <a:r>
              <a:rPr kumimoji="1" lang="en-US" altLang="zh-TW" dirty="0"/>
              <a:t>t=0</a:t>
            </a:r>
            <a:endParaRPr kumimoji="1" lang="zh-TW" altLang="en-US" dirty="0"/>
          </a:p>
        </p:txBody>
      </p:sp>
      <p:sp>
        <p:nvSpPr>
          <p:cNvPr id="9" name="文字方塊 8">
            <a:extLst>
              <a:ext uri="{FF2B5EF4-FFF2-40B4-BE49-F238E27FC236}">
                <a16:creationId xmlns:a16="http://schemas.microsoft.com/office/drawing/2014/main" id="{77492D32-D77B-98DE-69D8-634AC82CB9EB}"/>
              </a:ext>
            </a:extLst>
          </p:cNvPr>
          <p:cNvSpPr txBox="1"/>
          <p:nvPr/>
        </p:nvSpPr>
        <p:spPr>
          <a:xfrm>
            <a:off x="3603256" y="4307373"/>
            <a:ext cx="721139" cy="369332"/>
          </a:xfrm>
          <a:prstGeom prst="rect">
            <a:avLst/>
          </a:prstGeom>
          <a:noFill/>
        </p:spPr>
        <p:txBody>
          <a:bodyPr wrap="square" rtlCol="0">
            <a:spAutoFit/>
          </a:bodyPr>
          <a:lstStyle/>
          <a:p>
            <a:pPr algn="ctr"/>
            <a:r>
              <a:rPr kumimoji="1" lang="en-US" altLang="zh-TW" dirty="0"/>
              <a:t>t=1</a:t>
            </a:r>
            <a:endParaRPr kumimoji="1" lang="zh-TW" altLang="en-US" dirty="0"/>
          </a:p>
        </p:txBody>
      </p:sp>
      <p:sp>
        <p:nvSpPr>
          <p:cNvPr id="10" name="文字方塊 9">
            <a:extLst>
              <a:ext uri="{FF2B5EF4-FFF2-40B4-BE49-F238E27FC236}">
                <a16:creationId xmlns:a16="http://schemas.microsoft.com/office/drawing/2014/main" id="{324BF7A1-DF5E-43B7-B122-8F2E51BA553B}"/>
              </a:ext>
            </a:extLst>
          </p:cNvPr>
          <p:cNvSpPr txBox="1"/>
          <p:nvPr/>
        </p:nvSpPr>
        <p:spPr>
          <a:xfrm>
            <a:off x="3603256" y="5036755"/>
            <a:ext cx="721139" cy="369332"/>
          </a:xfrm>
          <a:prstGeom prst="rect">
            <a:avLst/>
          </a:prstGeom>
          <a:noFill/>
        </p:spPr>
        <p:txBody>
          <a:bodyPr wrap="square" rtlCol="0">
            <a:spAutoFit/>
          </a:bodyPr>
          <a:lstStyle/>
          <a:p>
            <a:pPr algn="ctr"/>
            <a:r>
              <a:rPr kumimoji="1" lang="en-US" altLang="zh-TW" dirty="0"/>
              <a:t>t=2</a:t>
            </a:r>
            <a:endParaRPr kumimoji="1" lang="zh-TW" altLang="en-US" dirty="0"/>
          </a:p>
        </p:txBody>
      </p:sp>
      <p:sp>
        <p:nvSpPr>
          <p:cNvPr id="11" name="文字方塊 10">
            <a:extLst>
              <a:ext uri="{FF2B5EF4-FFF2-40B4-BE49-F238E27FC236}">
                <a16:creationId xmlns:a16="http://schemas.microsoft.com/office/drawing/2014/main" id="{25375FE3-5A18-D5BD-822B-7A29B3CB22A0}"/>
              </a:ext>
            </a:extLst>
          </p:cNvPr>
          <p:cNvSpPr txBox="1"/>
          <p:nvPr/>
        </p:nvSpPr>
        <p:spPr>
          <a:xfrm>
            <a:off x="3603255" y="5712563"/>
            <a:ext cx="721139" cy="369332"/>
          </a:xfrm>
          <a:prstGeom prst="rect">
            <a:avLst/>
          </a:prstGeom>
          <a:noFill/>
        </p:spPr>
        <p:txBody>
          <a:bodyPr wrap="square" rtlCol="0">
            <a:spAutoFit/>
          </a:bodyPr>
          <a:lstStyle/>
          <a:p>
            <a:pPr algn="ctr"/>
            <a:r>
              <a:rPr kumimoji="1" lang="en-US" altLang="zh-TW" dirty="0"/>
              <a:t>t=3</a:t>
            </a:r>
            <a:endParaRPr kumimoji="1" lang="zh-TW" altLang="en-US" dirty="0"/>
          </a:p>
        </p:txBody>
      </p:sp>
      <mc:AlternateContent xmlns:mc="http://schemas.openxmlformats.org/markup-compatibility/2006" xmlns:a14="http://schemas.microsoft.com/office/drawing/2010/main">
        <mc:Choice Requires="a14">
          <p:sp>
            <p:nvSpPr>
              <p:cNvPr id="18" name="文字方塊 17">
                <a:extLst>
                  <a:ext uri="{FF2B5EF4-FFF2-40B4-BE49-F238E27FC236}">
                    <a16:creationId xmlns:a16="http://schemas.microsoft.com/office/drawing/2014/main" id="{00D7BEE0-C859-BDA3-7A8D-694F25C09B6E}"/>
                  </a:ext>
                </a:extLst>
              </p:cNvPr>
              <p:cNvSpPr txBox="1"/>
              <p:nvPr/>
            </p:nvSpPr>
            <p:spPr>
              <a:xfrm>
                <a:off x="653143" y="1632940"/>
                <a:ext cx="4235488" cy="7330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zh-TW" altLang="zh-TW" sz="1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𝑃𝐸</m:t>
                          </m:r>
                        </m:e>
                        <m:sub>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𝑝𝑜𝑠</m:t>
                          </m:r>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,2</m:t>
                          </m:r>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𝑖</m:t>
                          </m:r>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m:t>
                          </m:r>
                        </m:sub>
                      </m:sSub>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m:t>
                      </m:r>
                      <m:r>
                        <m:rPr>
                          <m:sty m:val="p"/>
                        </m:rPr>
                        <a:rPr lang="en-US" altLang="zh-TW" sz="1800" kern="100">
                          <a:effectLst/>
                          <a:latin typeface="Cambria Math" panose="02040503050406030204" pitchFamily="18" charset="0"/>
                          <a:ea typeface="新細明體" panose="02020500000000000000" pitchFamily="18" charset="-120"/>
                          <a:cs typeface="Times New Roman" panose="02020603050405020304" pitchFamily="18" charset="0"/>
                        </a:rPr>
                        <m:t>sin</m:t>
                      </m:r>
                      <m:r>
                        <a:rPr lang="en-US" altLang="zh-TW" sz="1800"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𝑝𝑜𝑠</m:t>
                      </m:r>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m:t>
                      </m:r>
                      <m:sSup>
                        <m:sSupPr>
                          <m:ctrlPr>
                            <a:rPr lang="zh-TW" altLang="zh-TW"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10000</m:t>
                          </m:r>
                        </m:e>
                        <m:sup>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2</m:t>
                          </m:r>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𝑖</m:t>
                          </m:r>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m:t>
                          </m:r>
                          <m:sSub>
                            <m:sSubPr>
                              <m:ctrlPr>
                                <a:rPr lang="zh-TW" altLang="zh-TW"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𝑑</m:t>
                              </m:r>
                            </m:e>
                            <m:sub>
                              <m:r>
                                <m:rPr>
                                  <m:sty m:val="p"/>
                                </m:rPr>
                                <a:rPr lang="en-US" altLang="zh-TW" sz="1800" i="0" kern="100">
                                  <a:effectLst/>
                                  <a:latin typeface="Cambria Math" panose="02040503050406030204" pitchFamily="18" charset="0"/>
                                  <a:ea typeface="新細明體" panose="02020500000000000000" pitchFamily="18" charset="-120"/>
                                  <a:cs typeface="Times New Roman" panose="02020603050405020304" pitchFamily="18" charset="0"/>
                                </a:rPr>
                                <m:t>model</m:t>
                              </m:r>
                            </m:sub>
                          </m:sSub>
                        </m:sup>
                      </m:sSup>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m:t>
                      </m:r>
                    </m:oMath>
                  </m:oMathPara>
                </a14:m>
                <a:endParaRPr lang="zh-TW" altLang="zh-TW" sz="1800" kern="100" dirty="0">
                  <a:effectLst/>
                  <a:latin typeface="Aptos" panose="020B0004020202020204" pitchFamily="34" charset="0"/>
                  <a:ea typeface="新細明體" panose="02020500000000000000" pitchFamily="18" charset="-12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zh-TW" altLang="zh-TW" sz="1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𝑃𝐸</m:t>
                          </m:r>
                        </m:e>
                        <m:sub>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𝑝𝑜𝑠</m:t>
                          </m:r>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,2</m:t>
                          </m:r>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𝑖</m:t>
                          </m:r>
                          <m:r>
                            <a:rPr lang="en-US" altLang="zh-TW" sz="1800" b="0" i="1" kern="100" smtClean="0">
                              <a:effectLst/>
                              <a:latin typeface="Cambria Math" panose="02040503050406030204" pitchFamily="18" charset="0"/>
                              <a:ea typeface="新細明體" panose="02020500000000000000" pitchFamily="18" charset="-120"/>
                              <a:cs typeface="Times New Roman" panose="02020603050405020304" pitchFamily="18" charset="0"/>
                            </a:rPr>
                            <m:t>+1</m:t>
                          </m:r>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m:t>
                          </m:r>
                        </m:sub>
                      </m:sSub>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m:t>
                      </m:r>
                      <m:r>
                        <m:rPr>
                          <m:sty m:val="p"/>
                        </m:rPr>
                        <a:rPr lang="en-US" altLang="zh-TW" sz="1800" b="0" i="0" kern="100" smtClean="0">
                          <a:effectLst/>
                          <a:latin typeface="Cambria Math" panose="02040503050406030204" pitchFamily="18" charset="0"/>
                          <a:ea typeface="新細明體" panose="02020500000000000000" pitchFamily="18" charset="-120"/>
                          <a:cs typeface="Times New Roman" panose="02020603050405020304" pitchFamily="18" charset="0"/>
                        </a:rPr>
                        <m:t>cos</m:t>
                      </m:r>
                      <m:r>
                        <a:rPr lang="en-US" altLang="zh-TW" sz="1800"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𝑝𝑜𝑠</m:t>
                      </m:r>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m:t>
                      </m:r>
                      <m:sSup>
                        <m:sSupPr>
                          <m:ctrlPr>
                            <a:rPr lang="zh-TW" altLang="zh-TW"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10000</m:t>
                          </m:r>
                        </m:e>
                        <m:sup>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2</m:t>
                          </m:r>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𝑖</m:t>
                          </m:r>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m:t>
                          </m:r>
                          <m:sSub>
                            <m:sSubPr>
                              <m:ctrlPr>
                                <a:rPr lang="zh-TW" altLang="zh-TW"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𝑑</m:t>
                              </m:r>
                            </m:e>
                            <m:sub>
                              <m:r>
                                <m:rPr>
                                  <m:sty m:val="p"/>
                                </m:rPr>
                                <a:rPr lang="en-US" altLang="zh-TW" sz="1800" i="0" kern="100">
                                  <a:effectLst/>
                                  <a:latin typeface="Cambria Math" panose="02040503050406030204" pitchFamily="18" charset="0"/>
                                  <a:ea typeface="新細明體" panose="02020500000000000000" pitchFamily="18" charset="-120"/>
                                  <a:cs typeface="Times New Roman" panose="02020603050405020304" pitchFamily="18" charset="0"/>
                                </a:rPr>
                                <m:t>model</m:t>
                              </m:r>
                            </m:sub>
                          </m:sSub>
                        </m:sup>
                      </m:sSup>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m:t>
                      </m:r>
                    </m:oMath>
                  </m:oMathPara>
                </a14:m>
                <a:endParaRPr kumimoji="1" lang="zh-TW" altLang="en-US" dirty="0"/>
              </a:p>
            </p:txBody>
          </p:sp>
        </mc:Choice>
        <mc:Fallback xmlns="">
          <p:sp>
            <p:nvSpPr>
              <p:cNvPr id="18" name="文字方塊 17">
                <a:extLst>
                  <a:ext uri="{FF2B5EF4-FFF2-40B4-BE49-F238E27FC236}">
                    <a16:creationId xmlns:a16="http://schemas.microsoft.com/office/drawing/2014/main" id="{00D7BEE0-C859-BDA3-7A8D-694F25C09B6E}"/>
                  </a:ext>
                </a:extLst>
              </p:cNvPr>
              <p:cNvSpPr txBox="1">
                <a:spLocks noRot="1" noChangeAspect="1" noMove="1" noResize="1" noEditPoints="1" noAdjustHandles="1" noChangeArrowheads="1" noChangeShapeType="1" noTextEdit="1"/>
              </p:cNvSpPr>
              <p:nvPr/>
            </p:nvSpPr>
            <p:spPr>
              <a:xfrm>
                <a:off x="653143" y="1632940"/>
                <a:ext cx="4235488" cy="733021"/>
              </a:xfrm>
              <a:prstGeom prst="rect">
                <a:avLst/>
              </a:prstGeom>
              <a:blipFill>
                <a:blip r:embed="rId3"/>
                <a:stretch>
                  <a:fillRect b="-3390"/>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9" name="文字方塊 18">
                <a:extLst>
                  <a:ext uri="{FF2B5EF4-FFF2-40B4-BE49-F238E27FC236}">
                    <a16:creationId xmlns:a16="http://schemas.microsoft.com/office/drawing/2014/main" id="{06E82BB3-62C0-2C7E-5588-D9BF80559477}"/>
                  </a:ext>
                </a:extLst>
              </p:cNvPr>
              <p:cNvSpPr txBox="1"/>
              <p:nvPr/>
            </p:nvSpPr>
            <p:spPr>
              <a:xfrm>
                <a:off x="653143" y="1622158"/>
                <a:ext cx="3671252" cy="7330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zh-TW" altLang="zh-TW" sz="1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𝑃𝐸</m:t>
                          </m:r>
                        </m:e>
                        <m:sub>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altLang="zh-TW" i="1" kern="100">
                              <a:solidFill>
                                <a:srgbClr val="FF0000"/>
                              </a:solidFill>
                              <a:latin typeface="Cambria Math" panose="02040503050406030204" pitchFamily="18" charset="0"/>
                              <a:ea typeface="新細明體" panose="02020500000000000000" pitchFamily="18" charset="-120"/>
                              <a:cs typeface="Times New Roman" panose="02020603050405020304" pitchFamily="18" charset="0"/>
                            </a:rPr>
                            <m:t>𝑡</m:t>
                          </m:r>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,2</m:t>
                          </m:r>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𝑖</m:t>
                          </m:r>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m:t>
                          </m:r>
                        </m:sub>
                      </m:sSub>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m:t>
                      </m:r>
                      <m:r>
                        <m:rPr>
                          <m:sty m:val="p"/>
                        </m:rPr>
                        <a:rPr lang="en-US" altLang="zh-TW" sz="1800" kern="100">
                          <a:effectLst/>
                          <a:latin typeface="Cambria Math" panose="02040503050406030204" pitchFamily="18" charset="0"/>
                          <a:ea typeface="新細明體" panose="02020500000000000000" pitchFamily="18" charset="-120"/>
                          <a:cs typeface="Times New Roman" panose="02020603050405020304" pitchFamily="18" charset="0"/>
                        </a:rPr>
                        <m:t>sin</m:t>
                      </m:r>
                      <m:r>
                        <a:rPr lang="en-US" altLang="zh-TW" sz="1800"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altLang="zh-TW" sz="1800" b="0" i="1" kern="100" smtClean="0">
                          <a:solidFill>
                            <a:srgbClr val="FF0000"/>
                          </a:solidFill>
                          <a:effectLst/>
                          <a:latin typeface="Cambria Math" panose="02040503050406030204" pitchFamily="18" charset="0"/>
                          <a:ea typeface="新細明體" panose="02020500000000000000" pitchFamily="18" charset="-120"/>
                          <a:cs typeface="Times New Roman" panose="02020603050405020304" pitchFamily="18" charset="0"/>
                        </a:rPr>
                        <m:t>𝑡</m:t>
                      </m:r>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m:t>
                      </m:r>
                      <m:sSup>
                        <m:sSupPr>
                          <m:ctrlPr>
                            <a:rPr lang="zh-TW" altLang="zh-TW"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TW" sz="1800" i="1" kern="100" smtClean="0">
                              <a:solidFill>
                                <a:srgbClr val="FF0000"/>
                              </a:solidFill>
                              <a:effectLst/>
                              <a:latin typeface="Cambria Math" panose="02040503050406030204" pitchFamily="18" charset="0"/>
                              <a:ea typeface="新細明體" panose="02020500000000000000" pitchFamily="18" charset="-120"/>
                              <a:cs typeface="Times New Roman" panose="02020603050405020304" pitchFamily="18" charset="0"/>
                            </a:rPr>
                            <m:t>100</m:t>
                          </m:r>
                        </m:e>
                        <m:sup>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2</m:t>
                          </m:r>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𝑖</m:t>
                          </m:r>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m:t>
                          </m:r>
                          <m:sSub>
                            <m:sSubPr>
                              <m:ctrlPr>
                                <a:rPr lang="zh-TW" altLang="zh-TW"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𝑑</m:t>
                              </m:r>
                            </m:e>
                            <m:sub>
                              <m:r>
                                <m:rPr>
                                  <m:sty m:val="p"/>
                                </m:rPr>
                                <a:rPr lang="en-US" altLang="zh-TW" sz="1800" i="0" kern="100">
                                  <a:effectLst/>
                                  <a:latin typeface="Cambria Math" panose="02040503050406030204" pitchFamily="18" charset="0"/>
                                  <a:ea typeface="新細明體" panose="02020500000000000000" pitchFamily="18" charset="-120"/>
                                  <a:cs typeface="Times New Roman" panose="02020603050405020304" pitchFamily="18" charset="0"/>
                                </a:rPr>
                                <m:t>model</m:t>
                              </m:r>
                            </m:sub>
                          </m:sSub>
                        </m:sup>
                      </m:sSup>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m:t>
                      </m:r>
                    </m:oMath>
                  </m:oMathPara>
                </a14:m>
                <a:endParaRPr lang="zh-TW" altLang="zh-TW" sz="1800" kern="100" dirty="0">
                  <a:effectLst/>
                  <a:latin typeface="Aptos" panose="020B0004020202020204" pitchFamily="34" charset="0"/>
                  <a:ea typeface="新細明體" panose="02020500000000000000" pitchFamily="18" charset="-12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zh-TW" altLang="zh-TW" sz="1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𝑃𝐸</m:t>
                          </m:r>
                        </m:e>
                        <m:sub>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altLang="zh-TW" i="1" kern="100">
                              <a:solidFill>
                                <a:srgbClr val="FF0000"/>
                              </a:solidFill>
                              <a:latin typeface="Cambria Math" panose="02040503050406030204" pitchFamily="18" charset="0"/>
                              <a:ea typeface="新細明體" panose="02020500000000000000" pitchFamily="18" charset="-120"/>
                              <a:cs typeface="Times New Roman" panose="02020603050405020304" pitchFamily="18" charset="0"/>
                            </a:rPr>
                            <m:t>𝑡</m:t>
                          </m:r>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,2</m:t>
                          </m:r>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𝑖</m:t>
                          </m:r>
                          <m:r>
                            <a:rPr lang="en-US" altLang="zh-TW" sz="1800" b="0" i="1" kern="100" smtClean="0">
                              <a:effectLst/>
                              <a:latin typeface="Cambria Math" panose="02040503050406030204" pitchFamily="18" charset="0"/>
                              <a:ea typeface="新細明體" panose="02020500000000000000" pitchFamily="18" charset="-120"/>
                              <a:cs typeface="Times New Roman" panose="02020603050405020304" pitchFamily="18" charset="0"/>
                            </a:rPr>
                            <m:t>+1</m:t>
                          </m:r>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m:t>
                          </m:r>
                        </m:sub>
                      </m:sSub>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m:t>
                      </m:r>
                      <m:r>
                        <m:rPr>
                          <m:sty m:val="p"/>
                        </m:rPr>
                        <a:rPr lang="en-US" altLang="zh-TW" sz="1800" b="0" i="0" kern="100" smtClean="0">
                          <a:effectLst/>
                          <a:latin typeface="Cambria Math" panose="02040503050406030204" pitchFamily="18" charset="0"/>
                          <a:ea typeface="新細明體" panose="02020500000000000000" pitchFamily="18" charset="-120"/>
                          <a:cs typeface="Times New Roman" panose="02020603050405020304" pitchFamily="18" charset="0"/>
                        </a:rPr>
                        <m:t>cos</m:t>
                      </m:r>
                      <m:r>
                        <a:rPr lang="en-US" altLang="zh-TW" sz="1800"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m:t>
                      </m:r>
                      <m:r>
                        <a:rPr lang="en-US" altLang="zh-TW" i="1" kern="100">
                          <a:solidFill>
                            <a:srgbClr val="FF0000"/>
                          </a:solidFill>
                          <a:latin typeface="Cambria Math" panose="02040503050406030204" pitchFamily="18" charset="0"/>
                          <a:ea typeface="新細明體" panose="02020500000000000000" pitchFamily="18" charset="-120"/>
                          <a:cs typeface="Times New Roman" panose="02020603050405020304" pitchFamily="18" charset="0"/>
                        </a:rPr>
                        <m:t>𝑡</m:t>
                      </m:r>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m:t>
                      </m:r>
                      <m:sSup>
                        <m:sSupPr>
                          <m:ctrlPr>
                            <a:rPr lang="zh-TW" altLang="zh-TW"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TW" sz="1800" i="1" kern="100" smtClean="0">
                              <a:solidFill>
                                <a:srgbClr val="FF0000"/>
                              </a:solidFill>
                              <a:effectLst/>
                              <a:latin typeface="Cambria Math" panose="02040503050406030204" pitchFamily="18" charset="0"/>
                              <a:ea typeface="新細明體" panose="02020500000000000000" pitchFamily="18" charset="-120"/>
                              <a:cs typeface="Times New Roman" panose="02020603050405020304" pitchFamily="18" charset="0"/>
                            </a:rPr>
                            <m:t>10</m:t>
                          </m:r>
                          <m:r>
                            <a:rPr lang="en-US" altLang="zh-TW" sz="1800" b="0" i="1" kern="100" smtClean="0">
                              <a:solidFill>
                                <a:srgbClr val="FF0000"/>
                              </a:solidFill>
                              <a:effectLst/>
                              <a:latin typeface="Cambria Math" panose="02040503050406030204" pitchFamily="18" charset="0"/>
                              <a:ea typeface="新細明體" panose="02020500000000000000" pitchFamily="18" charset="-120"/>
                              <a:cs typeface="Times New Roman" panose="02020603050405020304" pitchFamily="18" charset="0"/>
                            </a:rPr>
                            <m:t>0</m:t>
                          </m:r>
                        </m:e>
                        <m:sup>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2</m:t>
                          </m:r>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𝑖</m:t>
                          </m:r>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m:t>
                          </m:r>
                          <m:sSub>
                            <m:sSubPr>
                              <m:ctrlPr>
                                <a:rPr lang="zh-TW" altLang="zh-TW"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𝑑</m:t>
                              </m:r>
                            </m:e>
                            <m:sub>
                              <m:r>
                                <m:rPr>
                                  <m:sty m:val="p"/>
                                </m:rPr>
                                <a:rPr lang="en-US" altLang="zh-TW" sz="1800" i="0" kern="100">
                                  <a:effectLst/>
                                  <a:latin typeface="Cambria Math" panose="02040503050406030204" pitchFamily="18" charset="0"/>
                                  <a:ea typeface="新細明體" panose="02020500000000000000" pitchFamily="18" charset="-120"/>
                                  <a:cs typeface="Times New Roman" panose="02020603050405020304" pitchFamily="18" charset="0"/>
                                </a:rPr>
                                <m:t>model</m:t>
                              </m:r>
                            </m:sub>
                          </m:sSub>
                        </m:sup>
                      </m:sSup>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m:t>
                      </m:r>
                    </m:oMath>
                  </m:oMathPara>
                </a14:m>
                <a:endParaRPr kumimoji="1" lang="zh-TW" altLang="en-US" dirty="0"/>
              </a:p>
            </p:txBody>
          </p:sp>
        </mc:Choice>
        <mc:Fallback>
          <p:sp>
            <p:nvSpPr>
              <p:cNvPr id="19" name="文字方塊 18">
                <a:extLst>
                  <a:ext uri="{FF2B5EF4-FFF2-40B4-BE49-F238E27FC236}">
                    <a16:creationId xmlns:a16="http://schemas.microsoft.com/office/drawing/2014/main" id="{06E82BB3-62C0-2C7E-5588-D9BF80559477}"/>
                  </a:ext>
                </a:extLst>
              </p:cNvPr>
              <p:cNvSpPr txBox="1">
                <a:spLocks noRot="1" noChangeAspect="1" noMove="1" noResize="1" noEditPoints="1" noAdjustHandles="1" noChangeArrowheads="1" noChangeShapeType="1" noTextEdit="1"/>
              </p:cNvSpPr>
              <p:nvPr/>
            </p:nvSpPr>
            <p:spPr>
              <a:xfrm>
                <a:off x="653143" y="1622158"/>
                <a:ext cx="3671252" cy="733021"/>
              </a:xfrm>
              <a:prstGeom prst="rect">
                <a:avLst/>
              </a:prstGeom>
              <a:blipFill>
                <a:blip r:embed="rId4"/>
                <a:stretch>
                  <a:fillRect b="-3390"/>
                </a:stretch>
              </a:blipFill>
            </p:spPr>
            <p:txBody>
              <a:bodyPr/>
              <a:lstStyle/>
              <a:p>
                <a:r>
                  <a:rPr lang="zh-TW" altLang="en-US">
                    <a:noFill/>
                  </a:rPr>
                  <a:t> </a:t>
                </a:r>
              </a:p>
            </p:txBody>
          </p:sp>
        </mc:Fallback>
      </mc:AlternateContent>
      <p:sp>
        <p:nvSpPr>
          <p:cNvPr id="20" name="文字方塊 19">
            <a:extLst>
              <a:ext uri="{FF2B5EF4-FFF2-40B4-BE49-F238E27FC236}">
                <a16:creationId xmlns:a16="http://schemas.microsoft.com/office/drawing/2014/main" id="{878387DA-9A8A-1BB2-BC59-5A6F65EA0847}"/>
              </a:ext>
            </a:extLst>
          </p:cNvPr>
          <p:cNvSpPr txBox="1"/>
          <p:nvPr/>
        </p:nvSpPr>
        <p:spPr>
          <a:xfrm>
            <a:off x="4158381" y="3368192"/>
            <a:ext cx="1511300" cy="707886"/>
          </a:xfrm>
          <a:prstGeom prst="rect">
            <a:avLst/>
          </a:prstGeom>
          <a:noFill/>
        </p:spPr>
        <p:txBody>
          <a:bodyPr wrap="square" rtlCol="0">
            <a:spAutoFit/>
          </a:bodyPr>
          <a:lstStyle/>
          <a:p>
            <a:r>
              <a:rPr kumimoji="1" lang="en-US" altLang="zh-TW" sz="4000" b="1" dirty="0">
                <a:solidFill>
                  <a:schemeClr val="accent6"/>
                </a:solidFill>
              </a:rPr>
              <a:t>[</a:t>
            </a:r>
            <a:endParaRPr kumimoji="1" lang="zh-TW" altLang="en-US" sz="4000" b="1" dirty="0">
              <a:solidFill>
                <a:schemeClr val="accent6"/>
              </a:solidFill>
            </a:endParaRPr>
          </a:p>
        </p:txBody>
      </p:sp>
      <p:sp>
        <p:nvSpPr>
          <p:cNvPr id="21" name="文字方塊 20">
            <a:extLst>
              <a:ext uri="{FF2B5EF4-FFF2-40B4-BE49-F238E27FC236}">
                <a16:creationId xmlns:a16="http://schemas.microsoft.com/office/drawing/2014/main" id="{4C46AAC3-F2C0-89EB-200C-588A15B0CDD4}"/>
              </a:ext>
            </a:extLst>
          </p:cNvPr>
          <p:cNvSpPr txBox="1"/>
          <p:nvPr/>
        </p:nvSpPr>
        <p:spPr>
          <a:xfrm>
            <a:off x="9263781" y="3368192"/>
            <a:ext cx="1511300" cy="707886"/>
          </a:xfrm>
          <a:prstGeom prst="rect">
            <a:avLst/>
          </a:prstGeom>
          <a:noFill/>
        </p:spPr>
        <p:txBody>
          <a:bodyPr wrap="square" rtlCol="0">
            <a:spAutoFit/>
          </a:bodyPr>
          <a:lstStyle/>
          <a:p>
            <a:r>
              <a:rPr kumimoji="1" lang="en-US" altLang="zh-TW" sz="4000" b="1" dirty="0">
                <a:solidFill>
                  <a:schemeClr val="accent6"/>
                </a:solidFill>
              </a:rPr>
              <a:t>] </a:t>
            </a:r>
            <a:r>
              <a:rPr kumimoji="1" lang="en-US" altLang="zh-TW" sz="2400" b="1" dirty="0">
                <a:solidFill>
                  <a:schemeClr val="accent6"/>
                </a:solidFill>
              </a:rPr>
              <a:t>I </a:t>
            </a:r>
            <a:r>
              <a:rPr kumimoji="1" lang="zh-TW" altLang="en-US" sz="2400" b="1" dirty="0">
                <a:solidFill>
                  <a:schemeClr val="accent6"/>
                </a:solidFill>
              </a:rPr>
              <a:t>的 </a:t>
            </a:r>
            <a:r>
              <a:rPr kumimoji="1" lang="en-US" altLang="zh-TW" sz="2400" b="1" dirty="0">
                <a:solidFill>
                  <a:schemeClr val="accent6"/>
                </a:solidFill>
              </a:rPr>
              <a:t>PE</a:t>
            </a:r>
            <a:endParaRPr kumimoji="1" lang="zh-TW" altLang="en-US" sz="4000" b="1" dirty="0">
              <a:solidFill>
                <a:schemeClr val="accent6"/>
              </a:solidFill>
            </a:endParaRPr>
          </a:p>
        </p:txBody>
      </p:sp>
      <p:sp>
        <p:nvSpPr>
          <p:cNvPr id="22" name="文字方塊 21">
            <a:extLst>
              <a:ext uri="{FF2B5EF4-FFF2-40B4-BE49-F238E27FC236}">
                <a16:creationId xmlns:a16="http://schemas.microsoft.com/office/drawing/2014/main" id="{4181B2BB-F650-E3CB-76B5-0201944DDA76}"/>
              </a:ext>
            </a:extLst>
          </p:cNvPr>
          <p:cNvSpPr txBox="1"/>
          <p:nvPr/>
        </p:nvSpPr>
        <p:spPr>
          <a:xfrm>
            <a:off x="4158381" y="4082185"/>
            <a:ext cx="1511300" cy="707886"/>
          </a:xfrm>
          <a:prstGeom prst="rect">
            <a:avLst/>
          </a:prstGeom>
          <a:noFill/>
        </p:spPr>
        <p:txBody>
          <a:bodyPr wrap="square" rtlCol="0">
            <a:spAutoFit/>
          </a:bodyPr>
          <a:lstStyle/>
          <a:p>
            <a:r>
              <a:rPr kumimoji="1" lang="en-US" altLang="zh-TW" sz="4000" b="1" dirty="0">
                <a:solidFill>
                  <a:schemeClr val="accent6"/>
                </a:solidFill>
              </a:rPr>
              <a:t>[</a:t>
            </a:r>
            <a:endParaRPr kumimoji="1" lang="zh-TW" altLang="en-US" sz="4000" b="1" dirty="0">
              <a:solidFill>
                <a:schemeClr val="accent6"/>
              </a:solidFill>
            </a:endParaRPr>
          </a:p>
        </p:txBody>
      </p:sp>
      <p:sp>
        <p:nvSpPr>
          <p:cNvPr id="23" name="文字方塊 22">
            <a:extLst>
              <a:ext uri="{FF2B5EF4-FFF2-40B4-BE49-F238E27FC236}">
                <a16:creationId xmlns:a16="http://schemas.microsoft.com/office/drawing/2014/main" id="{57C9E509-FC02-DDC0-8B59-10154BA26BF7}"/>
              </a:ext>
            </a:extLst>
          </p:cNvPr>
          <p:cNvSpPr txBox="1"/>
          <p:nvPr/>
        </p:nvSpPr>
        <p:spPr>
          <a:xfrm>
            <a:off x="9263780" y="4082185"/>
            <a:ext cx="2039219" cy="707886"/>
          </a:xfrm>
          <a:prstGeom prst="rect">
            <a:avLst/>
          </a:prstGeom>
          <a:noFill/>
        </p:spPr>
        <p:txBody>
          <a:bodyPr wrap="square" rtlCol="0">
            <a:spAutoFit/>
          </a:bodyPr>
          <a:lstStyle/>
          <a:p>
            <a:r>
              <a:rPr kumimoji="1" lang="en-US" altLang="zh-TW" sz="4000" b="1" dirty="0">
                <a:solidFill>
                  <a:schemeClr val="accent6"/>
                </a:solidFill>
              </a:rPr>
              <a:t>] </a:t>
            </a:r>
            <a:r>
              <a:rPr kumimoji="1" lang="en-US" altLang="zh-TW" sz="2400" b="1" dirty="0" err="1">
                <a:solidFill>
                  <a:schemeClr val="accent6"/>
                </a:solidFill>
              </a:rPr>
              <a:t>Iove</a:t>
            </a:r>
            <a:r>
              <a:rPr kumimoji="1" lang="en-US" altLang="zh-TW" sz="2400" b="1" dirty="0">
                <a:solidFill>
                  <a:schemeClr val="accent6"/>
                </a:solidFill>
              </a:rPr>
              <a:t> </a:t>
            </a:r>
            <a:r>
              <a:rPr kumimoji="1" lang="zh-TW" altLang="en-US" sz="2400" b="1" dirty="0">
                <a:solidFill>
                  <a:schemeClr val="accent6"/>
                </a:solidFill>
              </a:rPr>
              <a:t>的 </a:t>
            </a:r>
            <a:r>
              <a:rPr kumimoji="1" lang="en-US" altLang="zh-TW" sz="2400" b="1" dirty="0">
                <a:solidFill>
                  <a:schemeClr val="accent6"/>
                </a:solidFill>
              </a:rPr>
              <a:t>PE</a:t>
            </a:r>
            <a:endParaRPr kumimoji="1" lang="zh-TW" altLang="en-US" sz="4000" b="1" dirty="0">
              <a:solidFill>
                <a:schemeClr val="accent6"/>
              </a:solidFill>
            </a:endParaRPr>
          </a:p>
        </p:txBody>
      </p:sp>
      <p:sp>
        <p:nvSpPr>
          <p:cNvPr id="24" name="文字方塊 23">
            <a:extLst>
              <a:ext uri="{FF2B5EF4-FFF2-40B4-BE49-F238E27FC236}">
                <a16:creationId xmlns:a16="http://schemas.microsoft.com/office/drawing/2014/main" id="{E5550353-6400-352A-0D95-7BC5B56E758E}"/>
              </a:ext>
            </a:extLst>
          </p:cNvPr>
          <p:cNvSpPr txBox="1"/>
          <p:nvPr/>
        </p:nvSpPr>
        <p:spPr>
          <a:xfrm>
            <a:off x="4158381" y="4757993"/>
            <a:ext cx="1511300" cy="707886"/>
          </a:xfrm>
          <a:prstGeom prst="rect">
            <a:avLst/>
          </a:prstGeom>
          <a:noFill/>
        </p:spPr>
        <p:txBody>
          <a:bodyPr wrap="square" rtlCol="0">
            <a:spAutoFit/>
          </a:bodyPr>
          <a:lstStyle/>
          <a:p>
            <a:r>
              <a:rPr kumimoji="1" lang="en-US" altLang="zh-TW" sz="4000" b="1" dirty="0">
                <a:solidFill>
                  <a:schemeClr val="accent6"/>
                </a:solidFill>
              </a:rPr>
              <a:t>[</a:t>
            </a:r>
            <a:endParaRPr kumimoji="1" lang="zh-TW" altLang="en-US" sz="4000" b="1" dirty="0">
              <a:solidFill>
                <a:schemeClr val="accent6"/>
              </a:solidFill>
            </a:endParaRPr>
          </a:p>
        </p:txBody>
      </p:sp>
      <p:sp>
        <p:nvSpPr>
          <p:cNvPr id="25" name="文字方塊 24">
            <a:extLst>
              <a:ext uri="{FF2B5EF4-FFF2-40B4-BE49-F238E27FC236}">
                <a16:creationId xmlns:a16="http://schemas.microsoft.com/office/drawing/2014/main" id="{44B5554C-68CC-845A-EF3D-F498853BC7F9}"/>
              </a:ext>
            </a:extLst>
          </p:cNvPr>
          <p:cNvSpPr txBox="1"/>
          <p:nvPr/>
        </p:nvSpPr>
        <p:spPr>
          <a:xfrm>
            <a:off x="9263780" y="4757993"/>
            <a:ext cx="2039219" cy="707886"/>
          </a:xfrm>
          <a:prstGeom prst="rect">
            <a:avLst/>
          </a:prstGeom>
          <a:noFill/>
        </p:spPr>
        <p:txBody>
          <a:bodyPr wrap="square" rtlCol="0">
            <a:spAutoFit/>
          </a:bodyPr>
          <a:lstStyle/>
          <a:p>
            <a:r>
              <a:rPr kumimoji="1" lang="en-US" altLang="zh-TW" sz="4000" b="1" dirty="0">
                <a:solidFill>
                  <a:schemeClr val="accent6"/>
                </a:solidFill>
              </a:rPr>
              <a:t>] </a:t>
            </a:r>
            <a:r>
              <a:rPr kumimoji="1" lang="en-US" altLang="zh-TW" sz="2400" b="1" dirty="0" err="1">
                <a:solidFill>
                  <a:schemeClr val="accent6"/>
                </a:solidFill>
              </a:rPr>
              <a:t>nlp</a:t>
            </a:r>
            <a:r>
              <a:rPr kumimoji="1" lang="en-US" altLang="zh-TW" sz="2400" b="1" dirty="0">
                <a:solidFill>
                  <a:schemeClr val="accent6"/>
                </a:solidFill>
              </a:rPr>
              <a:t> </a:t>
            </a:r>
            <a:r>
              <a:rPr kumimoji="1" lang="zh-TW" altLang="en-US" sz="2400" b="1" dirty="0">
                <a:solidFill>
                  <a:schemeClr val="accent6"/>
                </a:solidFill>
              </a:rPr>
              <a:t>的 </a:t>
            </a:r>
            <a:r>
              <a:rPr kumimoji="1" lang="en-US" altLang="zh-TW" sz="2400" b="1" dirty="0">
                <a:solidFill>
                  <a:schemeClr val="accent6"/>
                </a:solidFill>
              </a:rPr>
              <a:t>PE</a:t>
            </a:r>
            <a:endParaRPr kumimoji="1" lang="zh-TW" altLang="en-US" sz="4000" b="1" dirty="0">
              <a:solidFill>
                <a:schemeClr val="accent6"/>
              </a:solidFill>
            </a:endParaRPr>
          </a:p>
        </p:txBody>
      </p:sp>
      <p:sp>
        <p:nvSpPr>
          <p:cNvPr id="27" name="文字方塊 26">
            <a:extLst>
              <a:ext uri="{FF2B5EF4-FFF2-40B4-BE49-F238E27FC236}">
                <a16:creationId xmlns:a16="http://schemas.microsoft.com/office/drawing/2014/main" id="{568D234C-1CCC-17F4-ACB3-310784E536AA}"/>
              </a:ext>
            </a:extLst>
          </p:cNvPr>
          <p:cNvSpPr txBox="1"/>
          <p:nvPr/>
        </p:nvSpPr>
        <p:spPr>
          <a:xfrm>
            <a:off x="4158381" y="5471986"/>
            <a:ext cx="1511300" cy="707886"/>
          </a:xfrm>
          <a:prstGeom prst="rect">
            <a:avLst/>
          </a:prstGeom>
          <a:noFill/>
        </p:spPr>
        <p:txBody>
          <a:bodyPr wrap="square" rtlCol="0">
            <a:spAutoFit/>
          </a:bodyPr>
          <a:lstStyle/>
          <a:p>
            <a:r>
              <a:rPr kumimoji="1" lang="en-US" altLang="zh-TW" sz="4000" b="1" dirty="0">
                <a:solidFill>
                  <a:schemeClr val="accent6"/>
                </a:solidFill>
              </a:rPr>
              <a:t>[</a:t>
            </a:r>
            <a:endParaRPr kumimoji="1" lang="zh-TW" altLang="en-US" sz="4000" b="1" dirty="0">
              <a:solidFill>
                <a:schemeClr val="accent6"/>
              </a:solidFill>
            </a:endParaRPr>
          </a:p>
        </p:txBody>
      </p:sp>
      <p:sp>
        <p:nvSpPr>
          <p:cNvPr id="28" name="文字方塊 27">
            <a:extLst>
              <a:ext uri="{FF2B5EF4-FFF2-40B4-BE49-F238E27FC236}">
                <a16:creationId xmlns:a16="http://schemas.microsoft.com/office/drawing/2014/main" id="{C6406D6D-96B8-472E-FB63-79724C43BE75}"/>
              </a:ext>
            </a:extLst>
          </p:cNvPr>
          <p:cNvSpPr txBox="1"/>
          <p:nvPr/>
        </p:nvSpPr>
        <p:spPr>
          <a:xfrm>
            <a:off x="9263780" y="5471986"/>
            <a:ext cx="2039219" cy="707886"/>
          </a:xfrm>
          <a:prstGeom prst="rect">
            <a:avLst/>
          </a:prstGeom>
          <a:noFill/>
        </p:spPr>
        <p:txBody>
          <a:bodyPr wrap="square" rtlCol="0">
            <a:spAutoFit/>
          </a:bodyPr>
          <a:lstStyle/>
          <a:p>
            <a:r>
              <a:rPr kumimoji="1" lang="en-US" altLang="zh-TW" sz="4000" b="1" dirty="0">
                <a:solidFill>
                  <a:schemeClr val="accent6"/>
                </a:solidFill>
              </a:rPr>
              <a:t>] </a:t>
            </a:r>
            <a:r>
              <a:rPr kumimoji="1" lang="en-US" altLang="zh-TW" sz="2400" b="1" dirty="0">
                <a:solidFill>
                  <a:schemeClr val="accent6"/>
                </a:solidFill>
              </a:rPr>
              <a:t>. </a:t>
            </a:r>
            <a:r>
              <a:rPr kumimoji="1" lang="zh-TW" altLang="en-US" sz="2400" b="1" dirty="0">
                <a:solidFill>
                  <a:schemeClr val="accent6"/>
                </a:solidFill>
              </a:rPr>
              <a:t>的 </a:t>
            </a:r>
            <a:r>
              <a:rPr kumimoji="1" lang="en-US" altLang="zh-TW" sz="2400" b="1" dirty="0">
                <a:solidFill>
                  <a:schemeClr val="accent6"/>
                </a:solidFill>
              </a:rPr>
              <a:t>PE</a:t>
            </a:r>
            <a:endParaRPr kumimoji="1" lang="zh-TW" altLang="en-US" sz="4000" b="1" dirty="0">
              <a:solidFill>
                <a:schemeClr val="accent6"/>
              </a:solidFill>
            </a:endParaRPr>
          </a:p>
        </p:txBody>
      </p:sp>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ECA944F3-979C-793D-C16F-3CB817170C4C}"/>
                  </a:ext>
                </a:extLst>
              </p:cNvPr>
              <p:cNvSpPr txBox="1"/>
              <p:nvPr/>
            </p:nvSpPr>
            <p:spPr>
              <a:xfrm>
                <a:off x="4914031" y="1632940"/>
                <a:ext cx="1816971" cy="369332"/>
              </a:xfrm>
              <a:prstGeom prst="rect">
                <a:avLst/>
              </a:prstGeom>
              <a:noFill/>
            </p:spPr>
            <p:txBody>
              <a:bodyPr wrap="square" rtlCol="0">
                <a:spAutoFit/>
              </a:bodyPr>
              <a:lstStyle/>
              <a:p>
                <a:r>
                  <a:rPr lang="zh-TW" altLang="en-US" kern="100" dirty="0">
                    <a:latin typeface="Microsoft JhengHei" panose="020B0604030504040204" pitchFamily="34" charset="-120"/>
                    <a:ea typeface="Microsoft JhengHei" panose="020B0604030504040204" pitchFamily="34" charset="-120"/>
                    <a:cs typeface="Times New Roman" panose="02020603050405020304" pitchFamily="18" charset="0"/>
                  </a:rPr>
                  <a:t>設</a:t>
                </a:r>
                <a:r>
                  <a:rPr lang="zh-TW" altLang="en-US" kern="100" dirty="0">
                    <a:ea typeface="Cambria Math" panose="02040503050406030204" pitchFamily="18" charset="0"/>
                    <a:cs typeface="Times New Roman" panose="02020603050405020304" pitchFamily="18" charset="0"/>
                  </a:rPr>
                  <a:t> </a:t>
                </a:r>
                <a14:m>
                  <m:oMath xmlns:m="http://schemas.openxmlformats.org/officeDocument/2006/math">
                    <m:sSub>
                      <m:sSubPr>
                        <m:ctrlPr>
                          <a:rPr lang="zh-TW" altLang="zh-TW" sz="1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𝑑</m:t>
                        </m:r>
                      </m:e>
                      <m:sub>
                        <m:r>
                          <m:rPr>
                            <m:sty m:val="p"/>
                          </m:rPr>
                          <a:rPr lang="en-US" altLang="zh-TW" sz="1800" i="0" kern="100">
                            <a:effectLst/>
                            <a:latin typeface="Cambria Math" panose="02040503050406030204" pitchFamily="18" charset="0"/>
                            <a:ea typeface="新細明體" panose="02020500000000000000" pitchFamily="18" charset="-120"/>
                            <a:cs typeface="Times New Roman" panose="02020603050405020304" pitchFamily="18" charset="0"/>
                          </a:rPr>
                          <m:t>model</m:t>
                        </m:r>
                      </m:sub>
                    </m:sSub>
                  </m:oMath>
                </a14:m>
                <a:r>
                  <a:rPr kumimoji="1" lang="en-US" altLang="zh-TW" dirty="0"/>
                  <a:t> = 4</a:t>
                </a:r>
                <a:endParaRPr kumimoji="1" lang="zh-TW" altLang="en-US" dirty="0"/>
              </a:p>
            </p:txBody>
          </p:sp>
        </mc:Choice>
        <mc:Fallback xmlns="">
          <p:sp>
            <p:nvSpPr>
              <p:cNvPr id="29" name="文字方塊 28">
                <a:extLst>
                  <a:ext uri="{FF2B5EF4-FFF2-40B4-BE49-F238E27FC236}">
                    <a16:creationId xmlns:a16="http://schemas.microsoft.com/office/drawing/2014/main" id="{ECA944F3-979C-793D-C16F-3CB817170C4C}"/>
                  </a:ext>
                </a:extLst>
              </p:cNvPr>
              <p:cNvSpPr txBox="1">
                <a:spLocks noRot="1" noChangeAspect="1" noMove="1" noResize="1" noEditPoints="1" noAdjustHandles="1" noChangeArrowheads="1" noChangeShapeType="1" noTextEdit="1"/>
              </p:cNvSpPr>
              <p:nvPr/>
            </p:nvSpPr>
            <p:spPr>
              <a:xfrm>
                <a:off x="4914031" y="1632940"/>
                <a:ext cx="1816971" cy="369332"/>
              </a:xfrm>
              <a:prstGeom prst="rect">
                <a:avLst/>
              </a:prstGeom>
              <a:blipFill>
                <a:blip r:embed="rId5"/>
                <a:stretch>
                  <a:fillRect l="-2083" t="-10000" b="-23333"/>
                </a:stretch>
              </a:blipFill>
            </p:spPr>
            <p:txBody>
              <a:bodyPr/>
              <a:lstStyle/>
              <a:p>
                <a:r>
                  <a:rPr lang="zh-TW" altLang="en-US">
                    <a:noFill/>
                  </a:rPr>
                  <a:t> </a:t>
                </a:r>
              </a:p>
            </p:txBody>
          </p:sp>
        </mc:Fallback>
      </mc:AlternateContent>
      <p:grpSp>
        <p:nvGrpSpPr>
          <p:cNvPr id="36" name="群組 35">
            <a:extLst>
              <a:ext uri="{FF2B5EF4-FFF2-40B4-BE49-F238E27FC236}">
                <a16:creationId xmlns:a16="http://schemas.microsoft.com/office/drawing/2014/main" id="{823FF3C4-8A22-1740-2DE0-389B48AFB362}"/>
              </a:ext>
            </a:extLst>
          </p:cNvPr>
          <p:cNvGrpSpPr/>
          <p:nvPr/>
        </p:nvGrpSpPr>
        <p:grpSpPr>
          <a:xfrm>
            <a:off x="5509078" y="2140444"/>
            <a:ext cx="1366201" cy="575808"/>
            <a:chOff x="5509078" y="2140444"/>
            <a:chExt cx="1366201" cy="575808"/>
          </a:xfrm>
        </p:grpSpPr>
        <p:sp>
          <p:nvSpPr>
            <p:cNvPr id="31" name="文字方塊 30">
              <a:extLst>
                <a:ext uri="{FF2B5EF4-FFF2-40B4-BE49-F238E27FC236}">
                  <a16:creationId xmlns:a16="http://schemas.microsoft.com/office/drawing/2014/main" id="{A23C046C-7212-DA5D-4856-43E721557F7F}"/>
                </a:ext>
              </a:extLst>
            </p:cNvPr>
            <p:cNvSpPr txBox="1"/>
            <p:nvPr/>
          </p:nvSpPr>
          <p:spPr>
            <a:xfrm>
              <a:off x="5541779" y="2140444"/>
              <a:ext cx="1333500" cy="369332"/>
            </a:xfrm>
            <a:prstGeom prst="rect">
              <a:avLst/>
            </a:prstGeom>
            <a:noFill/>
          </p:spPr>
          <p:txBody>
            <a:bodyPr wrap="square" rtlCol="0">
              <a:spAutoFit/>
            </a:bodyPr>
            <a:lstStyle/>
            <a:p>
              <a:pPr algn="ctr"/>
              <a:r>
                <a:rPr kumimoji="1" lang="en-US" altLang="zh-TW" dirty="0" err="1">
                  <a:solidFill>
                    <a:srgbClr val="7030A0"/>
                  </a:solidFill>
                </a:rPr>
                <a:t>i</a:t>
              </a:r>
              <a:r>
                <a:rPr kumimoji="1" lang="en-US" altLang="zh-TW" dirty="0">
                  <a:solidFill>
                    <a:srgbClr val="7030A0"/>
                  </a:solidFill>
                </a:rPr>
                <a:t> = 0</a:t>
              </a:r>
              <a:endParaRPr kumimoji="1" lang="zh-TW" altLang="en-US" dirty="0">
                <a:solidFill>
                  <a:srgbClr val="7030A0"/>
                </a:solidFill>
              </a:endParaRPr>
            </a:p>
          </p:txBody>
        </p:sp>
        <p:sp>
          <p:nvSpPr>
            <p:cNvPr id="33" name="右大括弧 32">
              <a:extLst>
                <a:ext uri="{FF2B5EF4-FFF2-40B4-BE49-F238E27FC236}">
                  <a16:creationId xmlns:a16="http://schemas.microsoft.com/office/drawing/2014/main" id="{3AED4B0C-9B24-DE67-63B6-345D453B059A}"/>
                </a:ext>
              </a:extLst>
            </p:cNvPr>
            <p:cNvSpPr/>
            <p:nvPr/>
          </p:nvSpPr>
          <p:spPr>
            <a:xfrm rot="16200000">
              <a:off x="6049770" y="1923444"/>
              <a:ext cx="252116" cy="1333500"/>
            </a:xfrm>
            <a:prstGeom prst="rightBrace">
              <a:avLst/>
            </a:prstGeom>
            <a:ln>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dirty="0">
                <a:solidFill>
                  <a:srgbClr val="7030A0"/>
                </a:solidFill>
              </a:endParaRPr>
            </a:p>
          </p:txBody>
        </p:sp>
      </p:grpSp>
      <p:grpSp>
        <p:nvGrpSpPr>
          <p:cNvPr id="35" name="群組 34">
            <a:extLst>
              <a:ext uri="{FF2B5EF4-FFF2-40B4-BE49-F238E27FC236}">
                <a16:creationId xmlns:a16="http://schemas.microsoft.com/office/drawing/2014/main" id="{D418DBD0-4FD8-B12C-1975-6CF769E76DF5}"/>
              </a:ext>
            </a:extLst>
          </p:cNvPr>
          <p:cNvGrpSpPr/>
          <p:nvPr/>
        </p:nvGrpSpPr>
        <p:grpSpPr>
          <a:xfrm>
            <a:off x="7668078" y="2140444"/>
            <a:ext cx="1333500" cy="575808"/>
            <a:chOff x="7668078" y="2140444"/>
            <a:chExt cx="1333500" cy="575808"/>
          </a:xfrm>
        </p:grpSpPr>
        <p:sp>
          <p:nvSpPr>
            <p:cNvPr id="32" name="文字方塊 31">
              <a:extLst>
                <a:ext uri="{FF2B5EF4-FFF2-40B4-BE49-F238E27FC236}">
                  <a16:creationId xmlns:a16="http://schemas.microsoft.com/office/drawing/2014/main" id="{3B89F832-681F-7B4C-3D5F-772E9C3F4E93}"/>
                </a:ext>
              </a:extLst>
            </p:cNvPr>
            <p:cNvSpPr txBox="1"/>
            <p:nvPr/>
          </p:nvSpPr>
          <p:spPr>
            <a:xfrm>
              <a:off x="7668078" y="2140444"/>
              <a:ext cx="1333500" cy="369332"/>
            </a:xfrm>
            <a:prstGeom prst="rect">
              <a:avLst/>
            </a:prstGeom>
            <a:noFill/>
          </p:spPr>
          <p:txBody>
            <a:bodyPr wrap="square" rtlCol="0">
              <a:spAutoFit/>
            </a:bodyPr>
            <a:lstStyle/>
            <a:p>
              <a:pPr algn="ctr"/>
              <a:r>
                <a:rPr kumimoji="1" lang="en-US" altLang="zh-TW" dirty="0" err="1">
                  <a:solidFill>
                    <a:srgbClr val="7030A0"/>
                  </a:solidFill>
                </a:rPr>
                <a:t>i</a:t>
              </a:r>
              <a:r>
                <a:rPr kumimoji="1" lang="en-US" altLang="zh-TW" dirty="0">
                  <a:solidFill>
                    <a:srgbClr val="7030A0"/>
                  </a:solidFill>
                </a:rPr>
                <a:t> = 1</a:t>
              </a:r>
              <a:endParaRPr kumimoji="1" lang="zh-TW" altLang="en-US" dirty="0">
                <a:solidFill>
                  <a:srgbClr val="7030A0"/>
                </a:solidFill>
              </a:endParaRPr>
            </a:p>
          </p:txBody>
        </p:sp>
        <p:sp>
          <p:nvSpPr>
            <p:cNvPr id="34" name="右大括弧 33">
              <a:extLst>
                <a:ext uri="{FF2B5EF4-FFF2-40B4-BE49-F238E27FC236}">
                  <a16:creationId xmlns:a16="http://schemas.microsoft.com/office/drawing/2014/main" id="{85049CCA-93EF-4807-23B8-F56425B5A4C4}"/>
                </a:ext>
              </a:extLst>
            </p:cNvPr>
            <p:cNvSpPr/>
            <p:nvPr/>
          </p:nvSpPr>
          <p:spPr>
            <a:xfrm rot="16200000">
              <a:off x="8208770" y="1923444"/>
              <a:ext cx="252116" cy="1333500"/>
            </a:xfrm>
            <a:prstGeom prst="rightBrace">
              <a:avLst/>
            </a:prstGeom>
            <a:ln>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solidFill>
                  <a:srgbClr val="7030A0"/>
                </a:solidFill>
              </a:endParaRPr>
            </a:p>
          </p:txBody>
        </p:sp>
      </p:grpSp>
      <p:sp>
        <p:nvSpPr>
          <p:cNvPr id="37" name="文字方塊 36">
            <a:extLst>
              <a:ext uri="{FF2B5EF4-FFF2-40B4-BE49-F238E27FC236}">
                <a16:creationId xmlns:a16="http://schemas.microsoft.com/office/drawing/2014/main" id="{4D65C23C-9840-085E-019C-D9B8E3DD647F}"/>
              </a:ext>
            </a:extLst>
          </p:cNvPr>
          <p:cNvSpPr txBox="1"/>
          <p:nvPr/>
        </p:nvSpPr>
        <p:spPr>
          <a:xfrm>
            <a:off x="9222051" y="393499"/>
            <a:ext cx="2275076" cy="923330"/>
          </a:xfrm>
          <a:prstGeom prst="rect">
            <a:avLst/>
          </a:prstGeom>
          <a:noFill/>
          <a:ln>
            <a:solidFill>
              <a:schemeClr val="tx1"/>
            </a:solidFill>
            <a:prstDash val="dash"/>
          </a:ln>
        </p:spPr>
        <p:txBody>
          <a:bodyPr wrap="square" rtlCol="0">
            <a:spAutoFit/>
          </a:bodyPr>
          <a:lstStyle/>
          <a:p>
            <a:r>
              <a:rPr kumimoji="1" lang="zh-TW" altLang="en-US" dirty="0"/>
              <a:t>分母：</a:t>
            </a:r>
            <a:endParaRPr kumimoji="1" lang="en-US" altLang="zh-TW" dirty="0"/>
          </a:p>
          <a:p>
            <a:r>
              <a:rPr kumimoji="1" lang="en-US" altLang="zh-TW" dirty="0" err="1"/>
              <a:t>i</a:t>
            </a:r>
            <a:r>
              <a:rPr kumimoji="1" lang="en-US" altLang="zh-TW" dirty="0"/>
              <a:t> = 0 -&gt; 100</a:t>
            </a:r>
            <a:r>
              <a:rPr kumimoji="1" lang="en-US" altLang="zh-TW" baseline="30000" dirty="0"/>
              <a:t>0</a:t>
            </a:r>
            <a:r>
              <a:rPr kumimoji="1" lang="en-US" altLang="zh-TW" dirty="0"/>
              <a:t> = 1</a:t>
            </a:r>
            <a:endParaRPr kumimoji="1" lang="en-US" altLang="zh-TW" baseline="30000" dirty="0"/>
          </a:p>
          <a:p>
            <a:r>
              <a:rPr kumimoji="1" lang="en-US" altLang="zh-TW" dirty="0" err="1"/>
              <a:t>i</a:t>
            </a:r>
            <a:r>
              <a:rPr kumimoji="1" lang="en-US" altLang="zh-TW" dirty="0"/>
              <a:t> = 1 -&gt; 100</a:t>
            </a:r>
            <a:r>
              <a:rPr kumimoji="1" lang="en-US" altLang="zh-TW" baseline="30000" dirty="0"/>
              <a:t>1/2</a:t>
            </a:r>
            <a:r>
              <a:rPr kumimoji="1" lang="en-US" altLang="zh-TW" dirty="0"/>
              <a:t> = 10</a:t>
            </a:r>
            <a:endParaRPr kumimoji="1" lang="zh-TW" altLang="en-US" baseline="30000" dirty="0"/>
          </a:p>
        </p:txBody>
      </p:sp>
    </p:spTree>
    <p:extLst>
      <p:ext uri="{BB962C8B-B14F-4D97-AF65-F5344CB8AC3E}">
        <p14:creationId xmlns:p14="http://schemas.microsoft.com/office/powerpoint/2010/main" val="763840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6"/>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8" grpId="0"/>
      <p:bldP spid="19" grpId="0"/>
      <p:bldP spid="20" grpId="0"/>
      <p:bldP spid="21" grpId="0"/>
      <p:bldP spid="22" grpId="0"/>
      <p:bldP spid="23" grpId="0"/>
      <p:bldP spid="24" grpId="0"/>
      <p:bldP spid="25" grpId="0"/>
      <p:bldP spid="27" grpId="0"/>
      <p:bldP spid="28" grpId="0"/>
      <p:bldP spid="29" grpId="0"/>
      <p:bldP spid="3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ED967D5-7D80-994F-6A47-90B01BE66348}"/>
              </a:ext>
            </a:extLst>
          </p:cNvPr>
          <p:cNvSpPr>
            <a:spLocks noGrp="1"/>
          </p:cNvSpPr>
          <p:nvPr>
            <p:ph type="title"/>
          </p:nvPr>
        </p:nvSpPr>
        <p:spPr/>
        <p:txBody>
          <a:bodyPr/>
          <a:lstStyle/>
          <a:p>
            <a:r>
              <a:rPr kumimoji="1" lang="en-US" altLang="zh-TW" dirty="0"/>
              <a:t>Positional </a:t>
            </a:r>
            <a:r>
              <a:rPr kumimoji="1" lang="en-US" altLang="zh-TW" dirty="0">
                <a:cs typeface="Calibri" panose="020F0502020204030204" pitchFamily="34" charset="0"/>
              </a:rPr>
              <a:t>Encoding</a:t>
            </a:r>
            <a:r>
              <a:rPr kumimoji="1" lang="zh-TW" altLang="en-US" dirty="0">
                <a:cs typeface="Calibri" panose="020F0502020204030204" pitchFamily="34" charset="0"/>
              </a:rPr>
              <a:t> </a:t>
            </a:r>
            <a:r>
              <a:rPr kumimoji="1" lang="en-US" altLang="zh-TW" dirty="0">
                <a:cs typeface="Calibri" panose="020F0502020204030204" pitchFamily="34" charset="0"/>
              </a:rPr>
              <a:t>Visualization</a:t>
            </a:r>
            <a:endParaRPr kumimoji="1" lang="zh-TW" altLang="en-US" dirty="0"/>
          </a:p>
        </p:txBody>
      </p:sp>
      <p:sp>
        <p:nvSpPr>
          <p:cNvPr id="4" name="投影片編號版面配置區 3">
            <a:extLst>
              <a:ext uri="{FF2B5EF4-FFF2-40B4-BE49-F238E27FC236}">
                <a16:creationId xmlns:a16="http://schemas.microsoft.com/office/drawing/2014/main" id="{C2957192-476E-F18C-A6CD-DB3BE3091DCA}"/>
              </a:ext>
            </a:extLst>
          </p:cNvPr>
          <p:cNvSpPr>
            <a:spLocks noGrp="1"/>
          </p:cNvSpPr>
          <p:nvPr>
            <p:ph type="sldNum" sz="quarter" idx="12"/>
          </p:nvPr>
        </p:nvSpPr>
        <p:spPr/>
        <p:txBody>
          <a:bodyPr/>
          <a:lstStyle/>
          <a:p>
            <a:fld id="{6113E31D-E2AB-40D1-8B51-AFA5AFEF393A}" type="slidenum">
              <a:rPr lang="en-US" smtClean="0"/>
              <a:pPr/>
              <a:t>10</a:t>
            </a:fld>
            <a:endParaRPr lang="en-US" dirty="0"/>
          </a:p>
        </p:txBody>
      </p:sp>
      <p:pic>
        <p:nvPicPr>
          <p:cNvPr id="6" name="圖片 5" descr="一張含有 行, 繪圖, 圖表 的圖片&#10;&#10;自動產生的描述">
            <a:extLst>
              <a:ext uri="{FF2B5EF4-FFF2-40B4-BE49-F238E27FC236}">
                <a16:creationId xmlns:a16="http://schemas.microsoft.com/office/drawing/2014/main" id="{F4FFE725-9F04-0ACC-857D-AC5A2D64E8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0352" y="1815754"/>
            <a:ext cx="8851295" cy="3307287"/>
          </a:xfrm>
          <a:prstGeom prst="rect">
            <a:avLst/>
          </a:prstGeom>
        </p:spPr>
      </p:pic>
      <p:sp>
        <p:nvSpPr>
          <p:cNvPr id="7" name="文字方塊 6">
            <a:extLst>
              <a:ext uri="{FF2B5EF4-FFF2-40B4-BE49-F238E27FC236}">
                <a16:creationId xmlns:a16="http://schemas.microsoft.com/office/drawing/2014/main" id="{8C87C506-C2E4-D3D6-BA0E-DB41C309DC45}"/>
              </a:ext>
            </a:extLst>
          </p:cNvPr>
          <p:cNvSpPr txBox="1"/>
          <p:nvPr/>
        </p:nvSpPr>
        <p:spPr>
          <a:xfrm>
            <a:off x="2703367" y="6379403"/>
            <a:ext cx="7293060" cy="307777"/>
          </a:xfrm>
          <a:prstGeom prst="rect">
            <a:avLst/>
          </a:prstGeom>
          <a:noFill/>
        </p:spPr>
        <p:txBody>
          <a:bodyPr wrap="square" rtlCol="0">
            <a:spAutoFit/>
          </a:bodyPr>
          <a:lstStyle/>
          <a:p>
            <a:r>
              <a:rPr kumimoji="1" lang="en-US" altLang="zh-TW" sz="1400" dirty="0"/>
              <a:t>Figure source: https://</a:t>
            </a:r>
            <a:r>
              <a:rPr kumimoji="1" lang="en-US" altLang="zh-TW" sz="1400" dirty="0" err="1"/>
              <a:t>nlp.seas.harvard.edu</a:t>
            </a:r>
            <a:r>
              <a:rPr kumimoji="1" lang="en-US" altLang="zh-TW" sz="1400" dirty="0"/>
              <a:t>/annotated-transformer/#positional-encoding</a:t>
            </a:r>
            <a:endParaRPr kumimoji="1" lang="zh-TW" altLang="en-US" sz="1400" dirty="0"/>
          </a:p>
        </p:txBody>
      </p:sp>
      <p:sp>
        <p:nvSpPr>
          <p:cNvPr id="8" name="文字方塊 7">
            <a:extLst>
              <a:ext uri="{FF2B5EF4-FFF2-40B4-BE49-F238E27FC236}">
                <a16:creationId xmlns:a16="http://schemas.microsoft.com/office/drawing/2014/main" id="{74E3DBAF-360E-36AD-FDC8-9459181D1B50}"/>
              </a:ext>
            </a:extLst>
          </p:cNvPr>
          <p:cNvSpPr txBox="1"/>
          <p:nvPr/>
        </p:nvSpPr>
        <p:spPr>
          <a:xfrm>
            <a:off x="1797627" y="5468496"/>
            <a:ext cx="7293060" cy="369332"/>
          </a:xfrm>
          <a:prstGeom prst="rect">
            <a:avLst/>
          </a:prstGeom>
          <a:noFill/>
        </p:spPr>
        <p:txBody>
          <a:bodyPr wrap="square" rtlCol="0">
            <a:spAutoFit/>
          </a:bodyPr>
          <a:lstStyle/>
          <a:p>
            <a:pPr marL="285750" indent="-285750">
              <a:buFont typeface="Arial" panose="020B0604020202020204" pitchFamily="34" charset="0"/>
              <a:buChar char="•"/>
            </a:pPr>
            <a:r>
              <a:rPr kumimoji="1" lang="en-US" altLang="zh-TW" dirty="0">
                <a:ea typeface="Microsoft JhengHei" panose="020B0604030504040204" pitchFamily="34" charset="-120"/>
              </a:rPr>
              <a:t>Question: </a:t>
            </a:r>
            <a:r>
              <a:rPr kumimoji="1" lang="zh-TW" altLang="en-US" dirty="0">
                <a:latin typeface="Microsoft JhengHei" panose="020B0604030504040204" pitchFamily="34" charset="-120"/>
                <a:ea typeface="Microsoft JhengHei" panose="020B0604030504040204" pitchFamily="34" charset="-120"/>
              </a:rPr>
              <a:t>為什麼需要同時有 </a:t>
            </a:r>
            <a:r>
              <a:rPr kumimoji="1" lang="en-US" altLang="zh-TW" dirty="0">
                <a:ea typeface="Microsoft JhengHei" panose="020B0604030504040204" pitchFamily="34" charset="-120"/>
              </a:rPr>
              <a:t>Sin</a:t>
            </a:r>
            <a:r>
              <a:rPr kumimoji="1" lang="zh-TW" altLang="en-US" dirty="0">
                <a:ea typeface="Microsoft JhengHei" panose="020B0604030504040204" pitchFamily="34" charset="-120"/>
              </a:rPr>
              <a:t> 和 </a:t>
            </a:r>
            <a:r>
              <a:rPr kumimoji="1" lang="en-US" altLang="zh-TW" dirty="0">
                <a:ea typeface="Microsoft JhengHei" panose="020B0604030504040204" pitchFamily="34" charset="-120"/>
              </a:rPr>
              <a:t>Cosine</a:t>
            </a:r>
            <a:r>
              <a:rPr kumimoji="1" lang="zh-TW" altLang="en-US" dirty="0">
                <a:ea typeface="Microsoft JhengHei" panose="020B0604030504040204" pitchFamily="34" charset="-120"/>
              </a:rPr>
              <a:t> </a:t>
            </a:r>
            <a:r>
              <a:rPr kumimoji="1" lang="zh-TW" altLang="en-US" dirty="0">
                <a:latin typeface="Microsoft JhengHei" panose="020B0604030504040204" pitchFamily="34" charset="-120"/>
                <a:ea typeface="Microsoft JhengHei" panose="020B0604030504040204" pitchFamily="34" charset="-120"/>
              </a:rPr>
              <a:t>的函數？</a:t>
            </a:r>
          </a:p>
        </p:txBody>
      </p:sp>
      <p:sp>
        <p:nvSpPr>
          <p:cNvPr id="3" name="文字方塊 2">
            <a:extLst>
              <a:ext uri="{FF2B5EF4-FFF2-40B4-BE49-F238E27FC236}">
                <a16:creationId xmlns:a16="http://schemas.microsoft.com/office/drawing/2014/main" id="{969A7344-3D29-8D6A-3F09-515FA8897D59}"/>
              </a:ext>
            </a:extLst>
          </p:cNvPr>
          <p:cNvSpPr txBox="1"/>
          <p:nvPr/>
        </p:nvSpPr>
        <p:spPr>
          <a:xfrm>
            <a:off x="1797627" y="5856443"/>
            <a:ext cx="7293060" cy="369332"/>
          </a:xfrm>
          <a:prstGeom prst="rect">
            <a:avLst/>
          </a:prstGeom>
          <a:noFill/>
        </p:spPr>
        <p:txBody>
          <a:bodyPr wrap="square" rtlCol="0">
            <a:spAutoFit/>
          </a:bodyPr>
          <a:lstStyle/>
          <a:p>
            <a:pPr marL="285750" indent="-285750">
              <a:buFont typeface="Arial" panose="020B0604020202020204" pitchFamily="34" charset="0"/>
              <a:buChar char="•"/>
            </a:pPr>
            <a:r>
              <a:rPr kumimoji="1" lang="en-US" altLang="zh-TW" dirty="0">
                <a:ea typeface="Microsoft JhengHei" panose="020B0604030504040204" pitchFamily="34" charset="-120"/>
              </a:rPr>
              <a:t>Ans: </a:t>
            </a:r>
            <a:r>
              <a:rPr kumimoji="1" lang="zh-TW" altLang="en-US" dirty="0">
                <a:ea typeface="Microsoft JhengHei" panose="020B0604030504040204" pitchFamily="34" charset="-120"/>
              </a:rPr>
              <a:t>藉由</a:t>
            </a:r>
            <a:r>
              <a:rPr kumimoji="1" lang="zh-TW" altLang="en-US" dirty="0">
                <a:solidFill>
                  <a:srgbClr val="FF0000"/>
                </a:solidFill>
                <a:ea typeface="Microsoft JhengHei" panose="020B0604030504040204" pitchFamily="34" charset="-120"/>
              </a:rPr>
              <a:t>不同週期性</a:t>
            </a:r>
            <a:r>
              <a:rPr kumimoji="1" lang="zh-TW" altLang="en-US" dirty="0">
                <a:ea typeface="Microsoft JhengHei" panose="020B0604030504040204" pitchFamily="34" charset="-120"/>
              </a:rPr>
              <a:t>來捕捉序列中各個位置的關係</a:t>
            </a:r>
            <a:endParaRPr kumimoji="1" lang="zh-TW" altLang="en-US" dirty="0">
              <a:latin typeface="Microsoft JhengHei" panose="020B0604030504040204" pitchFamily="34" charset="-120"/>
              <a:ea typeface="Microsoft JhengHei" panose="020B0604030504040204" pitchFamily="34" charset="-120"/>
            </a:endParaRPr>
          </a:p>
        </p:txBody>
      </p:sp>
      <p:sp>
        <p:nvSpPr>
          <p:cNvPr id="5" name="文字方塊 4">
            <a:extLst>
              <a:ext uri="{FF2B5EF4-FFF2-40B4-BE49-F238E27FC236}">
                <a16:creationId xmlns:a16="http://schemas.microsoft.com/office/drawing/2014/main" id="{CCB1E8BD-FE19-4F08-E7FF-DB4D9305F447}"/>
              </a:ext>
            </a:extLst>
          </p:cNvPr>
          <p:cNvSpPr txBox="1"/>
          <p:nvPr/>
        </p:nvSpPr>
        <p:spPr>
          <a:xfrm>
            <a:off x="7928944" y="5071551"/>
            <a:ext cx="3676850" cy="1354217"/>
          </a:xfrm>
          <a:prstGeom prst="rect">
            <a:avLst/>
          </a:prstGeom>
          <a:noFill/>
        </p:spPr>
        <p:txBody>
          <a:bodyPr wrap="square" rtlCol="0">
            <a:spAutoFit/>
          </a:bodyPr>
          <a:lstStyle/>
          <a:p>
            <a:r>
              <a:rPr kumimoji="1" lang="en" altLang="zh-TW" sz="1600" dirty="0"/>
              <a:t>sin30</a:t>
            </a:r>
            <a:r>
              <a:rPr kumimoji="1" lang="en" altLang="zh-TW" sz="1600" baseline="30000" dirty="0"/>
              <a:t>∘</a:t>
            </a:r>
            <a:r>
              <a:rPr kumimoji="1" lang="en" altLang="zh-TW" sz="1600" dirty="0"/>
              <a:t>=0.5</a:t>
            </a:r>
          </a:p>
          <a:p>
            <a:r>
              <a:rPr kumimoji="1" lang="en" altLang="zh-TW" sz="1600" dirty="0"/>
              <a:t>sin150</a:t>
            </a:r>
            <a:r>
              <a:rPr kumimoji="1" lang="en" altLang="zh-TW" sz="1600" baseline="30000" dirty="0"/>
              <a:t> ∘</a:t>
            </a:r>
            <a:r>
              <a:rPr kumimoji="1" lang="en" altLang="zh-TW" sz="1600" dirty="0"/>
              <a:t>=0.5</a:t>
            </a:r>
          </a:p>
          <a:p>
            <a:r>
              <a:rPr kumimoji="1" lang="en-US" altLang="zh-TW" sz="1600" dirty="0"/>
              <a:t>vs.</a:t>
            </a:r>
            <a:endParaRPr kumimoji="1" lang="zh-TW" altLang="en" sz="1600" dirty="0"/>
          </a:p>
          <a:p>
            <a:r>
              <a:rPr kumimoji="1" lang="en" altLang="zh-TW" sz="1600" dirty="0"/>
              <a:t>(sin30</a:t>
            </a:r>
            <a:r>
              <a:rPr kumimoji="1" lang="en" altLang="zh-TW" sz="1600" baseline="30000" dirty="0"/>
              <a:t> ∘</a:t>
            </a:r>
            <a:r>
              <a:rPr kumimoji="1" lang="en" altLang="zh-TW" sz="1600" dirty="0"/>
              <a:t>,cos30</a:t>
            </a:r>
            <a:r>
              <a:rPr kumimoji="1" lang="en" altLang="zh-TW" sz="1600" baseline="30000" dirty="0"/>
              <a:t> ∘</a:t>
            </a:r>
            <a:r>
              <a:rPr kumimoji="1" lang="en" altLang="zh-TW" sz="1600" dirty="0"/>
              <a:t>)=(0.5,0.866)</a:t>
            </a:r>
          </a:p>
          <a:p>
            <a:r>
              <a:rPr kumimoji="1" lang="en" altLang="zh-TW" sz="1600" dirty="0"/>
              <a:t>(sin150∘,cos150</a:t>
            </a:r>
            <a:r>
              <a:rPr kumimoji="1" lang="en" altLang="zh-TW" sz="1600" baseline="30000" dirty="0"/>
              <a:t> ∘</a:t>
            </a:r>
            <a:r>
              <a:rPr kumimoji="1" lang="en" altLang="zh-TW" sz="1600" dirty="0"/>
              <a:t>)=(0.5,−0.866)</a:t>
            </a:r>
          </a:p>
        </p:txBody>
      </p:sp>
      <p:sp>
        <p:nvSpPr>
          <p:cNvPr id="10" name="文字方塊 9">
            <a:extLst>
              <a:ext uri="{FF2B5EF4-FFF2-40B4-BE49-F238E27FC236}">
                <a16:creationId xmlns:a16="http://schemas.microsoft.com/office/drawing/2014/main" id="{F5C94D4D-B80F-56FF-52BE-64465DE25069}"/>
              </a:ext>
            </a:extLst>
          </p:cNvPr>
          <p:cNvSpPr txBox="1"/>
          <p:nvPr/>
        </p:nvSpPr>
        <p:spPr>
          <a:xfrm>
            <a:off x="6553274" y="1340219"/>
            <a:ext cx="5371706" cy="456920"/>
          </a:xfrm>
          <a:prstGeom prst="rect">
            <a:avLst/>
          </a:prstGeom>
          <a:noFill/>
        </p:spPr>
        <p:txBody>
          <a:bodyPr wrap="square">
            <a:spAutoFit/>
          </a:bodyPr>
          <a:lstStyle/>
          <a:p>
            <a:pPr>
              <a:lnSpc>
                <a:spcPct val="150000"/>
              </a:lnSpc>
            </a:pPr>
            <a:r>
              <a:rPr kumimoji="1" lang="en-US" altLang="zh-TW" sz="1800" dirty="0" err="1">
                <a:solidFill>
                  <a:schemeClr val="accent2"/>
                </a:solidFill>
                <a:latin typeface="Microsoft JhengHei" panose="020B0604030504040204" pitchFamily="34" charset="-120"/>
                <a:ea typeface="Microsoft JhengHei" panose="020B0604030504040204" pitchFamily="34" charset="-120"/>
              </a:rPr>
              <a:t>i</a:t>
            </a:r>
            <a:r>
              <a:rPr kumimoji="1" lang="zh-TW" altLang="en-US" sz="1800" dirty="0">
                <a:solidFill>
                  <a:schemeClr val="accent2"/>
                </a:solidFill>
                <a:latin typeface="Microsoft JhengHei" panose="020B0604030504040204" pitchFamily="34" charset="-120"/>
                <a:ea typeface="Microsoft JhengHei" panose="020B0604030504040204" pitchFamily="34" charset="-120"/>
              </a:rPr>
              <a:t>越大 </a:t>
            </a:r>
            <a:r>
              <a:rPr kumimoji="1" lang="en-US" altLang="zh-TW" sz="1800" dirty="0">
                <a:solidFill>
                  <a:schemeClr val="accent2"/>
                </a:solidFill>
                <a:latin typeface="Microsoft JhengHei" panose="020B0604030504040204" pitchFamily="34" charset="-120"/>
                <a:ea typeface="Microsoft JhengHei" panose="020B0604030504040204" pitchFamily="34" charset="-120"/>
              </a:rPr>
              <a:t>-&gt; </a:t>
            </a:r>
            <a:r>
              <a:rPr kumimoji="1" lang="zh-TW" altLang="en-US" sz="1800" dirty="0">
                <a:solidFill>
                  <a:schemeClr val="accent2"/>
                </a:solidFill>
                <a:latin typeface="Microsoft JhengHei" panose="020B0604030504040204" pitchFamily="34" charset="-120"/>
                <a:ea typeface="Microsoft JhengHei" panose="020B0604030504040204" pitchFamily="34" charset="-120"/>
              </a:rPr>
              <a:t>分母越大</a:t>
            </a:r>
            <a:r>
              <a:rPr kumimoji="1" lang="en-US" altLang="zh-TW" sz="1800" dirty="0">
                <a:solidFill>
                  <a:schemeClr val="accent2"/>
                </a:solidFill>
                <a:latin typeface="Microsoft JhengHei" panose="020B0604030504040204" pitchFamily="34" charset="-120"/>
                <a:ea typeface="Microsoft JhengHei" panose="020B0604030504040204" pitchFamily="34" charset="-120"/>
              </a:rPr>
              <a:t> -&gt; </a:t>
            </a:r>
            <a:r>
              <a:rPr kumimoji="1" lang="zh-TW" altLang="en-US" sz="1800" dirty="0">
                <a:solidFill>
                  <a:schemeClr val="accent2"/>
                </a:solidFill>
                <a:latin typeface="Microsoft JhengHei" panose="020B0604030504040204" pitchFamily="34" charset="-120"/>
                <a:ea typeface="Microsoft JhengHei" panose="020B0604030504040204" pitchFamily="34" charset="-120"/>
              </a:rPr>
              <a:t>相位變化越慢</a:t>
            </a:r>
            <a:r>
              <a:rPr kumimoji="1" lang="en-US" altLang="zh-TW" sz="1800" dirty="0">
                <a:solidFill>
                  <a:schemeClr val="accent2"/>
                </a:solidFill>
                <a:latin typeface="Microsoft JhengHei" panose="020B0604030504040204" pitchFamily="34" charset="-120"/>
                <a:ea typeface="Microsoft JhengHei" panose="020B0604030504040204" pitchFamily="34" charset="-120"/>
              </a:rPr>
              <a:t> -&gt; </a:t>
            </a:r>
            <a:r>
              <a:rPr kumimoji="1" lang="zh-TW" altLang="en-US" sz="1800" dirty="0">
                <a:solidFill>
                  <a:schemeClr val="accent2"/>
                </a:solidFill>
                <a:latin typeface="Microsoft JhengHei" panose="020B0604030504040204" pitchFamily="34" charset="-120"/>
                <a:ea typeface="Microsoft JhengHei" panose="020B0604030504040204" pitchFamily="34" charset="-120"/>
              </a:rPr>
              <a:t>頻率越小</a:t>
            </a:r>
            <a:endParaRPr kumimoji="1" lang="en-US" altLang="zh-TW" sz="1800" dirty="0">
              <a:solidFill>
                <a:schemeClr val="accent2"/>
              </a:solidFill>
              <a:latin typeface="Microsoft JhengHei" panose="020B0604030504040204" pitchFamily="34" charset="-120"/>
              <a:ea typeface="Microsoft JhengHei" panose="020B0604030504040204" pitchFamily="34" charset="-120"/>
            </a:endParaRPr>
          </a:p>
        </p:txBody>
      </p:sp>
    </p:spTree>
    <p:extLst>
      <p:ext uri="{BB962C8B-B14F-4D97-AF65-F5344CB8AC3E}">
        <p14:creationId xmlns:p14="http://schemas.microsoft.com/office/powerpoint/2010/main" val="850011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p:bldP spid="5"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0E41135-7ABE-3186-9905-CD194BE04E6D}"/>
              </a:ext>
            </a:extLst>
          </p:cNvPr>
          <p:cNvSpPr>
            <a:spLocks noGrp="1"/>
          </p:cNvSpPr>
          <p:nvPr>
            <p:ph type="title"/>
          </p:nvPr>
        </p:nvSpPr>
        <p:spPr/>
        <p:txBody>
          <a:bodyPr/>
          <a:lstStyle/>
          <a:p>
            <a:r>
              <a:rPr kumimoji="1" lang="zh-TW" altLang="en-US" dirty="0"/>
              <a:t>為什麼需要同時有 </a:t>
            </a:r>
            <a:r>
              <a:rPr kumimoji="1" lang="en" altLang="zh-TW" dirty="0"/>
              <a:t>Sin </a:t>
            </a:r>
            <a:r>
              <a:rPr kumimoji="1" lang="zh-TW" altLang="en-US" dirty="0"/>
              <a:t>和 </a:t>
            </a:r>
            <a:r>
              <a:rPr kumimoji="1" lang="en" altLang="zh-TW" dirty="0"/>
              <a:t>Cos </a:t>
            </a:r>
            <a:r>
              <a:rPr kumimoji="1" lang="zh-TW" altLang="en-US" dirty="0"/>
              <a:t>函數</a:t>
            </a:r>
            <a:r>
              <a:rPr kumimoji="1" lang="en-US" altLang="zh-TW" dirty="0"/>
              <a:t>?</a:t>
            </a:r>
            <a:endParaRPr kumimoji="1" lang="zh-TW" altLang="en-US" dirty="0"/>
          </a:p>
        </p:txBody>
      </p:sp>
      <p:sp>
        <p:nvSpPr>
          <p:cNvPr id="4" name="投影片編號版面配置區 3">
            <a:extLst>
              <a:ext uri="{FF2B5EF4-FFF2-40B4-BE49-F238E27FC236}">
                <a16:creationId xmlns:a16="http://schemas.microsoft.com/office/drawing/2014/main" id="{999BA511-62C2-F039-2CC5-33489C8B8FB9}"/>
              </a:ext>
            </a:extLst>
          </p:cNvPr>
          <p:cNvSpPr>
            <a:spLocks noGrp="1"/>
          </p:cNvSpPr>
          <p:nvPr>
            <p:ph type="sldNum" sz="quarter" idx="12"/>
          </p:nvPr>
        </p:nvSpPr>
        <p:spPr/>
        <p:txBody>
          <a:bodyPr/>
          <a:lstStyle/>
          <a:p>
            <a:fld id="{6113E31D-E2AB-40D1-8B51-AFA5AFEF393A}" type="slidenum">
              <a:rPr lang="en-US" smtClean="0"/>
              <a:pPr/>
              <a:t>11</a:t>
            </a:fld>
            <a:endParaRPr lang="en-US" dirty="0"/>
          </a:p>
        </p:txBody>
      </p:sp>
      <mc:AlternateContent xmlns:mc="http://schemas.openxmlformats.org/markup-compatibility/2006">
        <mc:Choice xmlns:a14="http://schemas.microsoft.com/office/drawing/2010/main" Requires="a14">
          <p:sp>
            <p:nvSpPr>
              <p:cNvPr id="5" name="文字方塊 4">
                <a:extLst>
                  <a:ext uri="{FF2B5EF4-FFF2-40B4-BE49-F238E27FC236}">
                    <a16:creationId xmlns:a16="http://schemas.microsoft.com/office/drawing/2014/main" id="{B3044377-354F-7A0D-4512-4B62B5F03789}"/>
                  </a:ext>
                </a:extLst>
              </p:cNvPr>
              <p:cNvSpPr txBox="1"/>
              <p:nvPr/>
            </p:nvSpPr>
            <p:spPr>
              <a:xfrm>
                <a:off x="653143" y="1600774"/>
                <a:ext cx="1816971" cy="369332"/>
              </a:xfrm>
              <a:prstGeom prst="rect">
                <a:avLst/>
              </a:prstGeom>
              <a:noFill/>
            </p:spPr>
            <p:txBody>
              <a:bodyPr wrap="square" rtlCol="0">
                <a:spAutoFit/>
              </a:bodyPr>
              <a:lstStyle/>
              <a:p>
                <a:r>
                  <a:rPr lang="zh-TW" altLang="en-US" kern="100" dirty="0">
                    <a:latin typeface="Microsoft JhengHei" panose="020B0604030504040204" pitchFamily="34" charset="-120"/>
                    <a:ea typeface="Microsoft JhengHei" panose="020B0604030504040204" pitchFamily="34" charset="-120"/>
                    <a:cs typeface="Times New Roman" panose="02020603050405020304" pitchFamily="18" charset="0"/>
                  </a:rPr>
                  <a:t>設</a:t>
                </a:r>
                <a:r>
                  <a:rPr lang="zh-TW" altLang="en-US" kern="100" dirty="0">
                    <a:ea typeface="Cambria Math" panose="02040503050406030204" pitchFamily="18" charset="0"/>
                    <a:cs typeface="Times New Roman" panose="02020603050405020304" pitchFamily="18" charset="0"/>
                  </a:rPr>
                  <a:t> </a:t>
                </a:r>
                <a14:m>
                  <m:oMath xmlns:m="http://schemas.openxmlformats.org/officeDocument/2006/math">
                    <m:sSub>
                      <m:sSubPr>
                        <m:ctrlPr>
                          <a:rPr lang="zh-TW" altLang="zh-TW" sz="1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𝑑</m:t>
                        </m:r>
                      </m:e>
                      <m:sub>
                        <m:r>
                          <m:rPr>
                            <m:sty m:val="p"/>
                          </m:rPr>
                          <a:rPr lang="en-US" altLang="zh-TW" sz="1800" i="0" kern="100">
                            <a:effectLst/>
                            <a:latin typeface="Cambria Math" panose="02040503050406030204" pitchFamily="18" charset="0"/>
                            <a:ea typeface="新細明體" panose="02020500000000000000" pitchFamily="18" charset="-120"/>
                            <a:cs typeface="Times New Roman" panose="02020603050405020304" pitchFamily="18" charset="0"/>
                          </a:rPr>
                          <m:t>model</m:t>
                        </m:r>
                      </m:sub>
                    </m:sSub>
                  </m:oMath>
                </a14:m>
                <a:r>
                  <a:rPr kumimoji="1" lang="en-US" altLang="zh-TW" dirty="0"/>
                  <a:t> = 2</a:t>
                </a:r>
                <a:endParaRPr kumimoji="1" lang="zh-TW" altLang="en-US" dirty="0"/>
              </a:p>
            </p:txBody>
          </p:sp>
        </mc:Choice>
        <mc:Fallback>
          <p:sp>
            <p:nvSpPr>
              <p:cNvPr id="5" name="文字方塊 4">
                <a:extLst>
                  <a:ext uri="{FF2B5EF4-FFF2-40B4-BE49-F238E27FC236}">
                    <a16:creationId xmlns:a16="http://schemas.microsoft.com/office/drawing/2014/main" id="{B3044377-354F-7A0D-4512-4B62B5F03789}"/>
                  </a:ext>
                </a:extLst>
              </p:cNvPr>
              <p:cNvSpPr txBox="1">
                <a:spLocks noRot="1" noChangeAspect="1" noMove="1" noResize="1" noEditPoints="1" noAdjustHandles="1" noChangeArrowheads="1" noChangeShapeType="1" noTextEdit="1"/>
              </p:cNvSpPr>
              <p:nvPr/>
            </p:nvSpPr>
            <p:spPr>
              <a:xfrm>
                <a:off x="653143" y="1600774"/>
                <a:ext cx="1816971" cy="369332"/>
              </a:xfrm>
              <a:prstGeom prst="rect">
                <a:avLst/>
              </a:prstGeom>
              <a:blipFill>
                <a:blip r:embed="rId3"/>
                <a:stretch>
                  <a:fillRect l="-2778" t="-13333" b="-20000"/>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9" name="文字方塊 8">
                <a:extLst>
                  <a:ext uri="{FF2B5EF4-FFF2-40B4-BE49-F238E27FC236}">
                    <a16:creationId xmlns:a16="http://schemas.microsoft.com/office/drawing/2014/main" id="{A8514998-02C7-6C85-77D6-C55BC5042D17}"/>
                  </a:ext>
                </a:extLst>
              </p:cNvPr>
              <p:cNvSpPr txBox="1"/>
              <p:nvPr/>
            </p:nvSpPr>
            <p:spPr>
              <a:xfrm>
                <a:off x="653142" y="2146414"/>
                <a:ext cx="5218740" cy="90441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TW" sz="1800" i="0" kern="100" smtClean="0">
                          <a:effectLst/>
                          <a:latin typeface="Cambria Math" panose="02040503050406030204" pitchFamily="18" charset="0"/>
                          <a:ea typeface="新細明體" panose="02020500000000000000" pitchFamily="18" charset="-120"/>
                          <a:cs typeface="Times New Roman" panose="02020603050405020304" pitchFamily="18" charset="0"/>
                        </a:rPr>
                        <m:t>PE</m:t>
                      </m:r>
                      <m:d>
                        <m:dPr>
                          <m:ctrlPr>
                            <a:rPr lang="en-US" altLang="zh-TW" sz="1800" i="1" kern="100" smtClean="0">
                              <a:effectLst/>
                              <a:latin typeface="Cambria Math" panose="02040503050406030204" pitchFamily="18" charset="0"/>
                              <a:ea typeface="新細明體" panose="02020500000000000000" pitchFamily="18" charset="-120"/>
                              <a:cs typeface="Times New Roman" panose="02020603050405020304" pitchFamily="18" charset="0"/>
                            </a:rPr>
                          </m:ctrlPr>
                        </m:dPr>
                        <m:e>
                          <m:r>
                            <a:rPr lang="en-US" altLang="zh-TW" sz="1800" i="1" kern="100" smtClean="0">
                              <a:effectLst/>
                              <a:latin typeface="Cambria Math" panose="02040503050406030204" pitchFamily="18" charset="0"/>
                              <a:ea typeface="新細明體" panose="02020500000000000000" pitchFamily="18" charset="-120"/>
                              <a:cs typeface="Times New Roman" panose="02020603050405020304" pitchFamily="18" charset="0"/>
                            </a:rPr>
                            <m:t>𝑡</m:t>
                          </m:r>
                        </m:e>
                      </m:d>
                      <m:r>
                        <a:rPr lang="en-US" altLang="zh-TW" sz="1800" i="1" kern="100" smtClean="0">
                          <a:effectLst/>
                          <a:latin typeface="Cambria Math" panose="02040503050406030204" pitchFamily="18" charset="0"/>
                          <a:ea typeface="新細明體" panose="02020500000000000000" pitchFamily="18" charset="-120"/>
                          <a:cs typeface="Times New Roman" panose="02020603050405020304" pitchFamily="18" charset="0"/>
                        </a:rPr>
                        <m:t>=</m:t>
                      </m:r>
                      <m:d>
                        <m:dPr>
                          <m:begChr m:val="["/>
                          <m:endChr m:val="]"/>
                          <m:ctrlPr>
                            <a:rPr lang="en-US" altLang="zh-TW" sz="1800" i="1" kern="100" smtClean="0">
                              <a:effectLst/>
                              <a:latin typeface="Cambria Math" panose="02040503050406030204" pitchFamily="18" charset="0"/>
                              <a:ea typeface="新細明體" panose="02020500000000000000" pitchFamily="18" charset="-120"/>
                              <a:cs typeface="Times New Roman" panose="02020603050405020304" pitchFamily="18" charset="0"/>
                            </a:rPr>
                          </m:ctrlPr>
                        </m:dPr>
                        <m:e>
                          <m:m>
                            <m:mPr>
                              <m:mcs>
                                <m:mc>
                                  <m:mcPr>
                                    <m:count m:val="1"/>
                                    <m:mcJc m:val="center"/>
                                  </m:mcPr>
                                </m:mc>
                              </m:mcs>
                              <m:ctrlPr>
                                <a:rPr lang="zh-TW" altLang="zh-TW" sz="1800" i="1" kern="100">
                                  <a:effectLst/>
                                  <a:latin typeface="Cambria Math" panose="02040503050406030204" pitchFamily="18" charset="0"/>
                                  <a:ea typeface="Cambria Math" panose="02040503050406030204" pitchFamily="18" charset="0"/>
                                  <a:cs typeface="Times New Roman" panose="02020603050405020304" pitchFamily="18" charset="0"/>
                                </a:rPr>
                              </m:ctrlPr>
                            </m:mPr>
                            <m:mr>
                              <m:e>
                                <m:func>
                                  <m:funcPr>
                                    <m:ctrlP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ctrlPr>
                                  </m:funcPr>
                                  <m:fName>
                                    <m:r>
                                      <m:rPr>
                                        <m:sty m:val="p"/>
                                      </m:rPr>
                                      <a:rPr lang="en-US" altLang="zh-TW" sz="1800" i="0" kern="100">
                                        <a:effectLst/>
                                        <a:latin typeface="Cambria Math" panose="02040503050406030204" pitchFamily="18" charset="0"/>
                                        <a:ea typeface="新細明體" panose="02020500000000000000" pitchFamily="18" charset="-120"/>
                                        <a:cs typeface="Times New Roman" panose="02020603050405020304" pitchFamily="18" charset="0"/>
                                      </a:rPr>
                                      <m:t>sin</m:t>
                                    </m:r>
                                  </m:fName>
                                  <m:e>
                                    <m:d>
                                      <m:dPr>
                                        <m:ctrlP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ctrlPr>
                                      </m:dPr>
                                      <m:e>
                                        <m:r>
                                          <a:rPr lang="en-US" altLang="zh-TW" i="1">
                                            <a:latin typeface="Cambria Math" panose="02040503050406030204" pitchFamily="18" charset="0"/>
                                          </a:rPr>
                                          <m:t>𝜔</m:t>
                                        </m:r>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𝑡</m:t>
                                        </m:r>
                                      </m:e>
                                    </m:d>
                                  </m:e>
                                </m:func>
                              </m:e>
                            </m:mr>
                            <m:mr>
                              <m:e>
                                <m:func>
                                  <m:funcPr>
                                    <m:ctrlP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ctrlPr>
                                  </m:funcPr>
                                  <m:fName>
                                    <m:r>
                                      <m:rPr>
                                        <m:sty m:val="p"/>
                                      </m:rPr>
                                      <a:rPr lang="en-US" altLang="zh-TW" sz="1800" i="0" kern="100">
                                        <a:effectLst/>
                                        <a:latin typeface="Cambria Math" panose="02040503050406030204" pitchFamily="18" charset="0"/>
                                        <a:ea typeface="新細明體" panose="02020500000000000000" pitchFamily="18" charset="-120"/>
                                        <a:cs typeface="Times New Roman" panose="02020603050405020304" pitchFamily="18" charset="0"/>
                                      </a:rPr>
                                      <m:t>cos</m:t>
                                    </m:r>
                                  </m:fName>
                                  <m:e>
                                    <m:d>
                                      <m:dPr>
                                        <m:ctrlP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ctrlPr>
                                      </m:dPr>
                                      <m:e>
                                        <m:r>
                                          <a:rPr lang="en-US" altLang="zh-TW" i="1">
                                            <a:latin typeface="Cambria Math" panose="02040503050406030204" pitchFamily="18" charset="0"/>
                                          </a:rPr>
                                          <m:t>𝜔</m:t>
                                        </m:r>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𝑡</m:t>
                                        </m:r>
                                      </m:e>
                                    </m:d>
                                  </m:e>
                                </m:func>
                              </m:e>
                            </m:mr>
                          </m:m>
                        </m:e>
                      </m:d>
                      <m:r>
                        <a:rPr lang="en-US" altLang="zh-TW" sz="1800" b="0" i="1" kern="100" smtClean="0">
                          <a:effectLst/>
                          <a:latin typeface="Cambria Math" panose="02040503050406030204" pitchFamily="18" charset="0"/>
                          <a:ea typeface="新細明體" panose="02020500000000000000" pitchFamily="18" charset="-120"/>
                          <a:cs typeface="Times New Roman" panose="02020603050405020304" pitchFamily="18" charset="0"/>
                        </a:rPr>
                        <m:t>, </m:t>
                      </m:r>
                      <m:r>
                        <a:rPr lang="en-US" altLang="zh-TW" i="1"/>
                        <m:t>𝜔</m:t>
                      </m:r>
                      <m:r>
                        <a:rPr lang="en-US" altLang="zh-TW" b="0" i="1" smtClean="0">
                          <a:latin typeface="Cambria Math" panose="02040503050406030204" pitchFamily="18" charset="0"/>
                        </a:rPr>
                        <m:t>=1/</m:t>
                      </m:r>
                      <m:sSup>
                        <m:sSupPr>
                          <m:ctrlPr>
                            <a:rPr lang="zh-TW" altLang="zh-TW"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TW" i="1" kern="100" smtClean="0">
                              <a:solidFill>
                                <a:schemeClr val="tx1"/>
                              </a:solidFill>
                              <a:latin typeface="Cambria Math" panose="02040503050406030204" pitchFamily="18" charset="0"/>
                              <a:ea typeface="新細明體" panose="02020500000000000000" pitchFamily="18" charset="-120"/>
                              <a:cs typeface="Times New Roman" panose="02020603050405020304" pitchFamily="18" charset="0"/>
                            </a:rPr>
                            <m:t>100</m:t>
                          </m:r>
                          <m:r>
                            <a:rPr lang="en-US" altLang="zh-TW" b="0" i="1" kern="100" smtClean="0">
                              <a:solidFill>
                                <a:schemeClr val="tx1"/>
                              </a:solidFill>
                              <a:latin typeface="Cambria Math" panose="02040503050406030204" pitchFamily="18" charset="0"/>
                              <a:ea typeface="新細明體" panose="02020500000000000000" pitchFamily="18" charset="-120"/>
                              <a:cs typeface="Times New Roman" panose="02020603050405020304" pitchFamily="18" charset="0"/>
                            </a:rPr>
                            <m:t>00</m:t>
                          </m:r>
                        </m:e>
                        <m:sup>
                          <m:r>
                            <a:rPr lang="en-US" altLang="zh-TW" i="1" kern="100">
                              <a:latin typeface="Cambria Math" panose="02040503050406030204" pitchFamily="18" charset="0"/>
                              <a:ea typeface="新細明體" panose="02020500000000000000" pitchFamily="18" charset="-120"/>
                              <a:cs typeface="Times New Roman" panose="02020603050405020304" pitchFamily="18" charset="0"/>
                            </a:rPr>
                            <m:t>2</m:t>
                          </m:r>
                          <m:r>
                            <a:rPr lang="en-US" altLang="zh-TW" i="1" kern="100">
                              <a:latin typeface="Cambria Math" panose="02040503050406030204" pitchFamily="18" charset="0"/>
                              <a:ea typeface="新細明體" panose="02020500000000000000" pitchFamily="18" charset="-120"/>
                              <a:cs typeface="Times New Roman" panose="02020603050405020304" pitchFamily="18" charset="0"/>
                            </a:rPr>
                            <m:t>𝑖</m:t>
                          </m:r>
                          <m:r>
                            <a:rPr lang="en-US" altLang="zh-TW" i="1" kern="100">
                              <a:latin typeface="Cambria Math" panose="02040503050406030204" pitchFamily="18" charset="0"/>
                              <a:ea typeface="新細明體" panose="02020500000000000000" pitchFamily="18" charset="-120"/>
                              <a:cs typeface="Times New Roman" panose="02020603050405020304" pitchFamily="18" charset="0"/>
                            </a:rPr>
                            <m:t>/</m:t>
                          </m:r>
                          <m:sSub>
                            <m:sSubPr>
                              <m:ctrlPr>
                                <a:rPr lang="zh-TW" altLang="zh-TW"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kern="100">
                                  <a:latin typeface="Cambria Math" panose="02040503050406030204" pitchFamily="18" charset="0"/>
                                  <a:ea typeface="新細明體" panose="02020500000000000000" pitchFamily="18" charset="-120"/>
                                  <a:cs typeface="Times New Roman" panose="02020603050405020304" pitchFamily="18" charset="0"/>
                                </a:rPr>
                                <m:t>𝑑</m:t>
                              </m:r>
                            </m:e>
                            <m:sub>
                              <m:r>
                                <m:rPr>
                                  <m:sty m:val="p"/>
                                </m:rPr>
                                <a:rPr lang="en-US" altLang="zh-TW" kern="100">
                                  <a:latin typeface="Cambria Math" panose="02040503050406030204" pitchFamily="18" charset="0"/>
                                  <a:ea typeface="新細明體" panose="02020500000000000000" pitchFamily="18" charset="-120"/>
                                  <a:cs typeface="Times New Roman" panose="02020603050405020304" pitchFamily="18" charset="0"/>
                                </a:rPr>
                                <m:t>model</m:t>
                              </m:r>
                            </m:sub>
                          </m:sSub>
                        </m:sup>
                      </m:sSup>
                    </m:oMath>
                  </m:oMathPara>
                </a14:m>
                <a:endParaRPr lang="zh-TW" altLang="zh-TW" dirty="0"/>
              </a:p>
              <a:p>
                <a:pPr marL="0" indent="0">
                  <a:buNone/>
                </a:pPr>
                <a:endParaRPr lang="zh-TW" altLang="zh-TW" sz="1800" kern="100" dirty="0">
                  <a:effectLst/>
                  <a:latin typeface="Aptos" panose="020B0004020202020204" pitchFamily="34" charset="0"/>
                  <a:ea typeface="新細明體" panose="02020500000000000000" pitchFamily="18" charset="-120"/>
                  <a:cs typeface="Times New Roman" panose="02020603050405020304" pitchFamily="18" charset="0"/>
                </a:endParaRPr>
              </a:p>
            </p:txBody>
          </p:sp>
        </mc:Choice>
        <mc:Fallback>
          <p:sp>
            <p:nvSpPr>
              <p:cNvPr id="9" name="文字方塊 8">
                <a:extLst>
                  <a:ext uri="{FF2B5EF4-FFF2-40B4-BE49-F238E27FC236}">
                    <a16:creationId xmlns:a16="http://schemas.microsoft.com/office/drawing/2014/main" id="{A8514998-02C7-6C85-77D6-C55BC5042D17}"/>
                  </a:ext>
                </a:extLst>
              </p:cNvPr>
              <p:cNvSpPr txBox="1">
                <a:spLocks noRot="1" noChangeAspect="1" noMove="1" noResize="1" noEditPoints="1" noAdjustHandles="1" noChangeArrowheads="1" noChangeShapeType="1" noTextEdit="1"/>
              </p:cNvSpPr>
              <p:nvPr/>
            </p:nvSpPr>
            <p:spPr>
              <a:xfrm>
                <a:off x="653142" y="2146414"/>
                <a:ext cx="5218740" cy="904415"/>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0" name="文字方塊 9">
                <a:extLst>
                  <a:ext uri="{FF2B5EF4-FFF2-40B4-BE49-F238E27FC236}">
                    <a16:creationId xmlns:a16="http://schemas.microsoft.com/office/drawing/2014/main" id="{72B48B29-D7E2-DF94-DD12-600980236A31}"/>
                  </a:ext>
                </a:extLst>
              </p:cNvPr>
              <p:cNvSpPr txBox="1"/>
              <p:nvPr/>
            </p:nvSpPr>
            <p:spPr>
              <a:xfrm>
                <a:off x="5187514" y="2307372"/>
                <a:ext cx="3508251" cy="369332"/>
              </a:xfrm>
              <a:prstGeom prst="rect">
                <a:avLst/>
              </a:prstGeom>
              <a:noFill/>
            </p:spPr>
            <p:txBody>
              <a:bodyPr wrap="square" rtlCol="0">
                <a:spAutoFit/>
              </a:bodyPr>
              <a:lstStyle/>
              <a:p>
                <a:r>
                  <a:rPr lang="en-US" altLang="zh-TW" kern="100" dirty="0">
                    <a:latin typeface="Microsoft JhengHei" panose="020B0604030504040204" pitchFamily="34" charset="-120"/>
                    <a:ea typeface="Microsoft JhengHei" panose="020B0604030504040204" pitchFamily="34" charset="-120"/>
                    <a:cs typeface="Times New Roman" panose="02020603050405020304" pitchFamily="18" charset="0"/>
                  </a:rPr>
                  <a:t>(</a:t>
                </a:r>
                <a:r>
                  <a:rPr lang="zh-TW" altLang="en-US" kern="100" dirty="0">
                    <a:latin typeface="Microsoft JhengHei" panose="020B0604030504040204" pitchFamily="34" charset="-120"/>
                    <a:ea typeface="Microsoft JhengHei" panose="020B0604030504040204" pitchFamily="34" charset="-120"/>
                    <a:cs typeface="Times New Roman" panose="02020603050405020304" pitchFamily="18" charset="0"/>
                  </a:rPr>
                  <a:t>為求公式簡潔，本頁會省略 </a:t>
                </a:r>
                <a14:m>
                  <m:oMath xmlns:m="http://schemas.openxmlformats.org/officeDocument/2006/math">
                    <m:r>
                      <a:rPr lang="en-US" altLang="zh-TW" i="1">
                        <a:latin typeface="Cambria Math" panose="02040503050406030204" pitchFamily="18" charset="0"/>
                      </a:rPr>
                      <m:t>𝜔</m:t>
                    </m:r>
                  </m:oMath>
                </a14:m>
                <a:r>
                  <a:rPr lang="en-US" altLang="zh-TW" kern="100" dirty="0">
                    <a:latin typeface="Microsoft JhengHei" panose="020B0604030504040204" pitchFamily="34" charset="-120"/>
                    <a:ea typeface="Microsoft JhengHei" panose="020B0604030504040204" pitchFamily="34" charset="-120"/>
                    <a:cs typeface="Times New Roman" panose="02020603050405020304" pitchFamily="18" charset="0"/>
                  </a:rPr>
                  <a:t>)</a:t>
                </a:r>
                <a:endParaRPr kumimoji="1" lang="zh-TW" altLang="en-US" dirty="0"/>
              </a:p>
            </p:txBody>
          </p:sp>
        </mc:Choice>
        <mc:Fallback>
          <p:sp>
            <p:nvSpPr>
              <p:cNvPr id="10" name="文字方塊 9">
                <a:extLst>
                  <a:ext uri="{FF2B5EF4-FFF2-40B4-BE49-F238E27FC236}">
                    <a16:creationId xmlns:a16="http://schemas.microsoft.com/office/drawing/2014/main" id="{72B48B29-D7E2-DF94-DD12-600980236A31}"/>
                  </a:ext>
                </a:extLst>
              </p:cNvPr>
              <p:cNvSpPr txBox="1">
                <a:spLocks noRot="1" noChangeAspect="1" noMove="1" noResize="1" noEditPoints="1" noAdjustHandles="1" noChangeArrowheads="1" noChangeShapeType="1" noTextEdit="1"/>
              </p:cNvSpPr>
              <p:nvPr/>
            </p:nvSpPr>
            <p:spPr>
              <a:xfrm>
                <a:off x="5187514" y="2307372"/>
                <a:ext cx="3508251" cy="369332"/>
              </a:xfrm>
              <a:prstGeom prst="rect">
                <a:avLst/>
              </a:prstGeom>
              <a:blipFill>
                <a:blip r:embed="rId5"/>
                <a:stretch>
                  <a:fillRect l="-1444" t="-6667" b="-23333"/>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2" name="文字方塊 11">
                <a:extLst>
                  <a:ext uri="{FF2B5EF4-FFF2-40B4-BE49-F238E27FC236}">
                    <a16:creationId xmlns:a16="http://schemas.microsoft.com/office/drawing/2014/main" id="{150AA6D6-4B84-CF94-3868-0EDFD7A0F6C2}"/>
                  </a:ext>
                </a:extLst>
              </p:cNvPr>
              <p:cNvSpPr txBox="1"/>
              <p:nvPr/>
            </p:nvSpPr>
            <p:spPr>
              <a:xfrm>
                <a:off x="3122583" y="4179873"/>
                <a:ext cx="6096000" cy="39895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zh-TW" altLang="en-US" smtClean="0">
                          <a:solidFill>
                            <a:schemeClr val="tx1"/>
                          </a:solidFill>
                          <a:latin typeface="Cambria Math" panose="02040503050406030204" pitchFamily="18" charset="0"/>
                        </a:rPr>
                        <m:t>s</m:t>
                      </m:r>
                      <m:r>
                        <m:rPr>
                          <m:sty m:val="p"/>
                        </m:rPr>
                        <a:rPr lang="zh-TW" altLang="en-US" i="0">
                          <a:solidFill>
                            <a:schemeClr val="tx1"/>
                          </a:solidFill>
                          <a:latin typeface="Cambria Math" panose="02040503050406030204" pitchFamily="18" charset="0"/>
                        </a:rPr>
                        <m:t>core</m:t>
                      </m:r>
                      <m:r>
                        <a:rPr lang="zh-TW" altLang="en-US" i="0">
                          <a:solidFill>
                            <a:schemeClr val="tx1"/>
                          </a:solidFill>
                          <a:latin typeface="Cambria Math" panose="02040503050406030204" pitchFamily="18" charset="0"/>
                        </a:rPr>
                        <m:t>=</m:t>
                      </m:r>
                      <m:d>
                        <m:dPr>
                          <m:ctrlPr>
                            <a:rPr lang="zh-TW" altLang="en-US" i="1">
                              <a:solidFill>
                                <a:schemeClr val="tx1"/>
                              </a:solidFill>
                              <a:latin typeface="Cambria Math" panose="02040503050406030204" pitchFamily="18" charset="0"/>
                            </a:rPr>
                          </m:ctrlPr>
                        </m:dPr>
                        <m:e>
                          <m:r>
                            <m:rPr>
                              <m:sty m:val="p"/>
                            </m:rPr>
                            <a:rPr lang="en-US" altLang="zh-TW" b="0" i="0" smtClean="0">
                              <a:solidFill>
                                <a:schemeClr val="tx1"/>
                              </a:solidFill>
                              <a:latin typeface="Cambria Math" panose="02040503050406030204" pitchFamily="18" charset="0"/>
                            </a:rPr>
                            <m:t>t</m:t>
                          </m:r>
                          <m:r>
                            <a:rPr lang="zh-TW" altLang="en-US" i="1">
                              <a:latin typeface="Cambria Math" panose="02040503050406030204" pitchFamily="18" charset="0"/>
                            </a:rPr>
                            <m:t>時間點的</m:t>
                          </m:r>
                          <m:r>
                            <m:rPr>
                              <m:sty m:val="p"/>
                            </m:rPr>
                            <a:rPr lang="en-US" altLang="zh-TW" b="0" i="0" smtClean="0">
                              <a:latin typeface="Cambria Math" panose="02040503050406030204" pitchFamily="18" charset="0"/>
                            </a:rPr>
                            <m:t>input</m:t>
                          </m:r>
                        </m:e>
                      </m:d>
                      <m:sSub>
                        <m:sSubPr>
                          <m:ctrlPr>
                            <a:rPr lang="zh-TW" altLang="en-US" i="1">
                              <a:solidFill>
                                <a:schemeClr val="tx1"/>
                              </a:solidFill>
                              <a:latin typeface="Cambria Math" panose="02040503050406030204" pitchFamily="18" charset="0"/>
                            </a:rPr>
                          </m:ctrlPr>
                        </m:sSubPr>
                        <m:e>
                          <m:r>
                            <a:rPr lang="zh-TW" altLang="en-US" i="1">
                              <a:solidFill>
                                <a:schemeClr val="tx1"/>
                              </a:solidFill>
                              <a:latin typeface="Cambria Math" panose="02040503050406030204" pitchFamily="18" charset="0"/>
                            </a:rPr>
                            <m:t>𝑊</m:t>
                          </m:r>
                        </m:e>
                        <m:sub>
                          <m:r>
                            <a:rPr lang="zh-TW" altLang="en-US" i="1">
                              <a:solidFill>
                                <a:schemeClr val="tx1"/>
                              </a:solidFill>
                              <a:latin typeface="Cambria Math" panose="02040503050406030204" pitchFamily="18" charset="0"/>
                            </a:rPr>
                            <m:t>𝑄</m:t>
                          </m:r>
                        </m:sub>
                      </m:sSub>
                      <m:r>
                        <a:rPr lang="zh-TW" altLang="en-US" i="0">
                          <a:solidFill>
                            <a:schemeClr val="tx1"/>
                          </a:solidFill>
                          <a:latin typeface="Cambria Math" panose="02040503050406030204" pitchFamily="18" charset="0"/>
                        </a:rPr>
                        <m:t>∙</m:t>
                      </m:r>
                      <m:sSubSup>
                        <m:sSubSupPr>
                          <m:ctrlPr>
                            <a:rPr lang="zh-TW" altLang="en-US" i="1">
                              <a:solidFill>
                                <a:schemeClr val="tx1"/>
                              </a:solidFill>
                              <a:latin typeface="Cambria Math" panose="02040503050406030204" pitchFamily="18" charset="0"/>
                            </a:rPr>
                          </m:ctrlPr>
                        </m:sSubSupPr>
                        <m:e>
                          <m:r>
                            <a:rPr lang="zh-TW" altLang="en-US" i="1">
                              <a:solidFill>
                                <a:schemeClr val="tx1"/>
                              </a:solidFill>
                              <a:latin typeface="Cambria Math" panose="02040503050406030204" pitchFamily="18" charset="0"/>
                            </a:rPr>
                            <m:t>𝑊</m:t>
                          </m:r>
                        </m:e>
                        <m:sub>
                          <m:r>
                            <a:rPr lang="zh-TW" altLang="en-US" i="1">
                              <a:solidFill>
                                <a:schemeClr val="tx1"/>
                              </a:solidFill>
                              <a:latin typeface="Cambria Math" panose="02040503050406030204" pitchFamily="18" charset="0"/>
                            </a:rPr>
                            <m:t>𝐾</m:t>
                          </m:r>
                        </m:sub>
                        <m:sup>
                          <m:r>
                            <a:rPr lang="zh-TW" altLang="en-US" i="1">
                              <a:solidFill>
                                <a:schemeClr val="tx1"/>
                              </a:solidFill>
                              <a:latin typeface="Cambria Math" panose="02040503050406030204" pitchFamily="18" charset="0"/>
                            </a:rPr>
                            <m:t>𝑇</m:t>
                          </m:r>
                        </m:sup>
                      </m:sSubSup>
                      <m:sSup>
                        <m:sSupPr>
                          <m:ctrlPr>
                            <a:rPr lang="zh-TW" altLang="en-US" i="1">
                              <a:solidFill>
                                <a:schemeClr val="tx1"/>
                              </a:solidFill>
                              <a:latin typeface="Cambria Math" panose="02040503050406030204" pitchFamily="18" charset="0"/>
                            </a:rPr>
                          </m:ctrlPr>
                        </m:sSupPr>
                        <m:e>
                          <m:d>
                            <m:dPr>
                              <m:ctrlPr>
                                <a:rPr lang="zh-TW" altLang="en-US" i="1">
                                  <a:solidFill>
                                    <a:schemeClr val="tx1"/>
                                  </a:solidFill>
                                  <a:latin typeface="Cambria Math" panose="02040503050406030204" pitchFamily="18" charset="0"/>
                                </a:rPr>
                              </m:ctrlPr>
                            </m:dPr>
                            <m:e>
                              <m:r>
                                <a:rPr lang="en-US" altLang="zh-TW" b="0" i="1" smtClean="0">
                                  <a:solidFill>
                                    <a:schemeClr val="tx1"/>
                                  </a:solidFill>
                                  <a:latin typeface="Cambria Math" panose="02040503050406030204" pitchFamily="18" charset="0"/>
                                </a:rPr>
                                <m:t>𝑡</m:t>
                              </m:r>
                              <m:r>
                                <a:rPr lang="en-US" altLang="zh-TW" b="0" i="1" smtClean="0">
                                  <a:solidFill>
                                    <a:schemeClr val="tx1"/>
                                  </a:solidFill>
                                  <a:latin typeface="Cambria Math" panose="02040503050406030204" pitchFamily="18" charset="0"/>
                                </a:rPr>
                                <m:t>+</m:t>
                              </m:r>
                              <m:r>
                                <a:rPr lang="en-US" altLang="zh-TW" b="0" i="1" smtClean="0">
                                  <a:solidFill>
                                    <a:schemeClr val="tx1"/>
                                  </a:solidFill>
                                  <a:latin typeface="Cambria Math" panose="02040503050406030204" pitchFamily="18" charset="0"/>
                                </a:rPr>
                                <m:t>𝑘</m:t>
                              </m:r>
                              <m:r>
                                <a:rPr lang="zh-TW" altLang="en-US" i="1">
                                  <a:latin typeface="Cambria Math" panose="02040503050406030204" pitchFamily="18" charset="0"/>
                                </a:rPr>
                                <m:t>時間點</m:t>
                              </m:r>
                              <m:r>
                                <a:rPr lang="zh-TW" altLang="en-US" i="1" smtClean="0">
                                  <a:latin typeface="Cambria Math" panose="02040503050406030204" pitchFamily="18" charset="0"/>
                                </a:rPr>
                                <m:t>的</m:t>
                              </m:r>
                              <m:r>
                                <m:rPr>
                                  <m:sty m:val="p"/>
                                </m:rPr>
                                <a:rPr lang="en-US" altLang="zh-TW" b="0" i="0" smtClean="0">
                                  <a:latin typeface="Cambria Math" panose="02040503050406030204" pitchFamily="18" charset="0"/>
                                </a:rPr>
                                <m:t>input</m:t>
                              </m:r>
                            </m:e>
                          </m:d>
                        </m:e>
                        <m:sup>
                          <m:r>
                            <a:rPr lang="zh-TW" altLang="en-US" i="1">
                              <a:solidFill>
                                <a:schemeClr val="tx1"/>
                              </a:solidFill>
                              <a:latin typeface="Cambria Math" panose="02040503050406030204" pitchFamily="18" charset="0"/>
                            </a:rPr>
                            <m:t>𝑇</m:t>
                          </m:r>
                        </m:sup>
                      </m:sSup>
                    </m:oMath>
                  </m:oMathPara>
                </a14:m>
                <a:endParaRPr lang="zh-TW" altLang="en-US" dirty="0">
                  <a:solidFill>
                    <a:schemeClr val="tx1"/>
                  </a:solidFill>
                </a:endParaRPr>
              </a:p>
            </p:txBody>
          </p:sp>
        </mc:Choice>
        <mc:Fallback>
          <p:sp>
            <p:nvSpPr>
              <p:cNvPr id="12" name="文字方塊 11">
                <a:extLst>
                  <a:ext uri="{FF2B5EF4-FFF2-40B4-BE49-F238E27FC236}">
                    <a16:creationId xmlns:a16="http://schemas.microsoft.com/office/drawing/2014/main" id="{150AA6D6-4B84-CF94-3868-0EDFD7A0F6C2}"/>
                  </a:ext>
                </a:extLst>
              </p:cNvPr>
              <p:cNvSpPr txBox="1">
                <a:spLocks noRot="1" noChangeAspect="1" noMove="1" noResize="1" noEditPoints="1" noAdjustHandles="1" noChangeArrowheads="1" noChangeShapeType="1" noTextEdit="1"/>
              </p:cNvSpPr>
              <p:nvPr/>
            </p:nvSpPr>
            <p:spPr>
              <a:xfrm>
                <a:off x="3122583" y="4179873"/>
                <a:ext cx="6096000" cy="398955"/>
              </a:xfrm>
              <a:prstGeom prst="rect">
                <a:avLst/>
              </a:prstGeom>
              <a:blipFill>
                <a:blip r:embed="rId6"/>
                <a:stretch>
                  <a:fillRect b="-937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4" name="文字方塊 13">
                <a:extLst>
                  <a:ext uri="{FF2B5EF4-FFF2-40B4-BE49-F238E27FC236}">
                    <a16:creationId xmlns:a16="http://schemas.microsoft.com/office/drawing/2014/main" id="{618131F3-DB4D-D734-AB89-374CD16B516C}"/>
                  </a:ext>
                </a:extLst>
              </p:cNvPr>
              <p:cNvSpPr txBox="1"/>
              <p:nvPr/>
            </p:nvSpPr>
            <p:spPr>
              <a:xfrm>
                <a:off x="3711209" y="4740075"/>
                <a:ext cx="4975412" cy="46346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zh-TW" altLang="en-US" i="0" smtClean="0">
                          <a:solidFill>
                            <a:schemeClr val="tx1"/>
                          </a:solidFill>
                          <a:latin typeface="Cambria Math" panose="02040503050406030204" pitchFamily="18" charset="0"/>
                        </a:rPr>
                        <m:t>=</m:t>
                      </m:r>
                      <m:d>
                        <m:dPr>
                          <m:ctrlPr>
                            <a:rPr lang="zh-TW" altLang="en-US" i="1">
                              <a:solidFill>
                                <a:schemeClr val="tx1"/>
                              </a:solidFill>
                              <a:latin typeface="Cambria Math" panose="02040503050406030204" pitchFamily="18" charset="0"/>
                            </a:rPr>
                          </m:ctrlPr>
                        </m:dPr>
                        <m:e>
                          <m:sSub>
                            <m:sSubPr>
                              <m:ctrlPr>
                                <a:rPr lang="zh-TW" altLang="en-US" i="1">
                                  <a:solidFill>
                                    <a:schemeClr val="tx1"/>
                                  </a:solidFill>
                                  <a:latin typeface="Cambria Math" panose="02040503050406030204" pitchFamily="18" charset="0"/>
                                </a:rPr>
                              </m:ctrlPr>
                            </m:sSubPr>
                            <m:e>
                              <m:r>
                                <a:rPr lang="zh-TW" altLang="en-US" i="1">
                                  <a:solidFill>
                                    <a:schemeClr val="tx1"/>
                                  </a:solidFill>
                                  <a:latin typeface="Cambria Math" panose="02040503050406030204" pitchFamily="18" charset="0"/>
                                </a:rPr>
                                <m:t>𝑥</m:t>
                              </m:r>
                            </m:e>
                            <m:sub>
                              <m:r>
                                <a:rPr lang="zh-TW" altLang="en-US" i="1">
                                  <a:solidFill>
                                    <a:schemeClr val="tx1"/>
                                  </a:solidFill>
                                  <a:latin typeface="Cambria Math" panose="02040503050406030204" pitchFamily="18" charset="0"/>
                                </a:rPr>
                                <m:t>𝑡</m:t>
                              </m:r>
                            </m:sub>
                          </m:sSub>
                          <m:r>
                            <a:rPr lang="zh-TW" altLang="en-US" i="0">
                              <a:solidFill>
                                <a:schemeClr val="tx1"/>
                              </a:solidFill>
                              <a:latin typeface="Cambria Math" panose="02040503050406030204" pitchFamily="18" charset="0"/>
                            </a:rPr>
                            <m:t>+</m:t>
                          </m:r>
                          <m:r>
                            <m:rPr>
                              <m:sty m:val="p"/>
                            </m:rPr>
                            <a:rPr lang="zh-TW" altLang="en-US">
                              <a:latin typeface="Cambria Math" panose="02040503050406030204" pitchFamily="18" charset="0"/>
                            </a:rPr>
                            <m:t>PE</m:t>
                          </m:r>
                          <m:d>
                            <m:dPr>
                              <m:ctrlPr>
                                <a:rPr lang="zh-TW" altLang="en-US" i="1">
                                  <a:solidFill>
                                    <a:schemeClr val="tx1"/>
                                  </a:solidFill>
                                  <a:latin typeface="Cambria Math" panose="02040503050406030204" pitchFamily="18" charset="0"/>
                                </a:rPr>
                              </m:ctrlPr>
                            </m:dPr>
                            <m:e>
                              <m:r>
                                <a:rPr lang="zh-TW" altLang="en-US" i="1">
                                  <a:solidFill>
                                    <a:schemeClr val="tx1"/>
                                  </a:solidFill>
                                  <a:latin typeface="Cambria Math" panose="02040503050406030204" pitchFamily="18" charset="0"/>
                                </a:rPr>
                                <m:t>𝑡</m:t>
                              </m:r>
                            </m:e>
                          </m:d>
                        </m:e>
                      </m:d>
                      <m:sSub>
                        <m:sSubPr>
                          <m:ctrlPr>
                            <a:rPr lang="zh-TW" altLang="en-US" i="1">
                              <a:solidFill>
                                <a:schemeClr val="tx1"/>
                              </a:solidFill>
                              <a:latin typeface="Cambria Math" panose="02040503050406030204" pitchFamily="18" charset="0"/>
                            </a:rPr>
                          </m:ctrlPr>
                        </m:sSubPr>
                        <m:e>
                          <m:r>
                            <a:rPr lang="zh-TW" altLang="en-US" i="1">
                              <a:solidFill>
                                <a:schemeClr val="tx1"/>
                              </a:solidFill>
                              <a:latin typeface="Cambria Math" panose="02040503050406030204" pitchFamily="18" charset="0"/>
                            </a:rPr>
                            <m:t>𝑊</m:t>
                          </m:r>
                        </m:e>
                        <m:sub>
                          <m:r>
                            <a:rPr lang="zh-TW" altLang="en-US" i="1">
                              <a:solidFill>
                                <a:schemeClr val="tx1"/>
                              </a:solidFill>
                              <a:latin typeface="Cambria Math" panose="02040503050406030204" pitchFamily="18" charset="0"/>
                            </a:rPr>
                            <m:t>𝑄</m:t>
                          </m:r>
                        </m:sub>
                      </m:sSub>
                      <m:r>
                        <a:rPr lang="zh-TW" altLang="en-US" i="0">
                          <a:solidFill>
                            <a:schemeClr val="tx1"/>
                          </a:solidFill>
                          <a:latin typeface="Cambria Math" panose="02040503050406030204" pitchFamily="18" charset="0"/>
                        </a:rPr>
                        <m:t>∙</m:t>
                      </m:r>
                      <m:sSubSup>
                        <m:sSubSupPr>
                          <m:ctrlPr>
                            <a:rPr lang="zh-TW" altLang="en-US" i="1">
                              <a:solidFill>
                                <a:schemeClr val="tx1"/>
                              </a:solidFill>
                              <a:latin typeface="Cambria Math" panose="02040503050406030204" pitchFamily="18" charset="0"/>
                            </a:rPr>
                          </m:ctrlPr>
                        </m:sSubSupPr>
                        <m:e>
                          <m:r>
                            <a:rPr lang="zh-TW" altLang="en-US" i="1">
                              <a:solidFill>
                                <a:schemeClr val="tx1"/>
                              </a:solidFill>
                              <a:latin typeface="Cambria Math" panose="02040503050406030204" pitchFamily="18" charset="0"/>
                            </a:rPr>
                            <m:t>𝑊</m:t>
                          </m:r>
                        </m:e>
                        <m:sub>
                          <m:r>
                            <a:rPr lang="zh-TW" altLang="en-US" i="1">
                              <a:solidFill>
                                <a:schemeClr val="tx1"/>
                              </a:solidFill>
                              <a:latin typeface="Cambria Math" panose="02040503050406030204" pitchFamily="18" charset="0"/>
                            </a:rPr>
                            <m:t>𝐾</m:t>
                          </m:r>
                        </m:sub>
                        <m:sup>
                          <m:r>
                            <a:rPr lang="zh-TW" altLang="en-US" i="1">
                              <a:solidFill>
                                <a:schemeClr val="tx1"/>
                              </a:solidFill>
                              <a:latin typeface="Cambria Math" panose="02040503050406030204" pitchFamily="18" charset="0"/>
                            </a:rPr>
                            <m:t>𝑇</m:t>
                          </m:r>
                        </m:sup>
                      </m:sSubSup>
                      <m:sSup>
                        <m:sSupPr>
                          <m:ctrlPr>
                            <a:rPr lang="zh-TW" altLang="en-US" i="1">
                              <a:solidFill>
                                <a:schemeClr val="tx1"/>
                              </a:solidFill>
                              <a:latin typeface="Cambria Math" panose="02040503050406030204" pitchFamily="18" charset="0"/>
                            </a:rPr>
                          </m:ctrlPr>
                        </m:sSupPr>
                        <m:e>
                          <m:d>
                            <m:dPr>
                              <m:ctrlPr>
                                <a:rPr lang="zh-TW" altLang="en-US" i="1">
                                  <a:solidFill>
                                    <a:schemeClr val="tx1"/>
                                  </a:solidFill>
                                  <a:latin typeface="Cambria Math" panose="02040503050406030204" pitchFamily="18" charset="0"/>
                                </a:rPr>
                              </m:ctrlPr>
                            </m:dPr>
                            <m:e>
                              <m:sSub>
                                <m:sSubPr>
                                  <m:ctrlPr>
                                    <a:rPr lang="zh-TW" altLang="en-US" i="1">
                                      <a:solidFill>
                                        <a:schemeClr val="tx1"/>
                                      </a:solidFill>
                                      <a:latin typeface="Cambria Math" panose="02040503050406030204" pitchFamily="18" charset="0"/>
                                    </a:rPr>
                                  </m:ctrlPr>
                                </m:sSubPr>
                                <m:e>
                                  <m:r>
                                    <a:rPr lang="zh-TW" altLang="en-US" i="1">
                                      <a:solidFill>
                                        <a:schemeClr val="tx1"/>
                                      </a:solidFill>
                                      <a:latin typeface="Cambria Math" panose="02040503050406030204" pitchFamily="18" charset="0"/>
                                    </a:rPr>
                                    <m:t>𝑥</m:t>
                                  </m:r>
                                </m:e>
                                <m:sub>
                                  <m:r>
                                    <a:rPr lang="zh-TW" altLang="en-US" i="1">
                                      <a:solidFill>
                                        <a:schemeClr val="tx1"/>
                                      </a:solidFill>
                                      <a:latin typeface="Cambria Math" panose="02040503050406030204" pitchFamily="18" charset="0"/>
                                    </a:rPr>
                                    <m:t>𝑡</m:t>
                                  </m:r>
                                  <m:r>
                                    <a:rPr lang="zh-TW" altLang="en-US" i="0">
                                      <a:solidFill>
                                        <a:schemeClr val="tx1"/>
                                      </a:solidFill>
                                      <a:latin typeface="Cambria Math" panose="02040503050406030204" pitchFamily="18" charset="0"/>
                                    </a:rPr>
                                    <m:t>+</m:t>
                                  </m:r>
                                  <m:r>
                                    <a:rPr lang="zh-TW" altLang="en-US" i="1">
                                      <a:solidFill>
                                        <a:schemeClr val="tx1"/>
                                      </a:solidFill>
                                      <a:latin typeface="Cambria Math" panose="02040503050406030204" pitchFamily="18" charset="0"/>
                                    </a:rPr>
                                    <m:t>𝑘</m:t>
                                  </m:r>
                                </m:sub>
                              </m:sSub>
                              <m:r>
                                <a:rPr lang="zh-TW" altLang="en-US" i="0">
                                  <a:solidFill>
                                    <a:schemeClr val="tx1"/>
                                  </a:solidFill>
                                  <a:latin typeface="Cambria Math" panose="02040503050406030204" pitchFamily="18" charset="0"/>
                                </a:rPr>
                                <m:t>+</m:t>
                              </m:r>
                              <m:r>
                                <m:rPr>
                                  <m:sty m:val="p"/>
                                </m:rPr>
                                <a:rPr lang="zh-TW" altLang="en-US">
                                  <a:latin typeface="Cambria Math" panose="02040503050406030204" pitchFamily="18" charset="0"/>
                                </a:rPr>
                                <m:t>PE</m:t>
                              </m:r>
                              <m:d>
                                <m:dPr>
                                  <m:ctrlPr>
                                    <a:rPr lang="zh-TW" altLang="en-US" i="1">
                                      <a:solidFill>
                                        <a:schemeClr val="tx1"/>
                                      </a:solidFill>
                                      <a:latin typeface="Cambria Math" panose="02040503050406030204" pitchFamily="18" charset="0"/>
                                    </a:rPr>
                                  </m:ctrlPr>
                                </m:dPr>
                                <m:e>
                                  <m:r>
                                    <a:rPr lang="zh-TW" altLang="en-US" i="1">
                                      <a:solidFill>
                                        <a:schemeClr val="tx1"/>
                                      </a:solidFill>
                                      <a:latin typeface="Cambria Math" panose="02040503050406030204" pitchFamily="18" charset="0"/>
                                    </a:rPr>
                                    <m:t>𝑡</m:t>
                                  </m:r>
                                  <m:r>
                                    <a:rPr lang="zh-TW" altLang="en-US" i="0">
                                      <a:solidFill>
                                        <a:schemeClr val="tx1"/>
                                      </a:solidFill>
                                      <a:latin typeface="Cambria Math" panose="02040503050406030204" pitchFamily="18" charset="0"/>
                                    </a:rPr>
                                    <m:t>+</m:t>
                                  </m:r>
                                  <m:r>
                                    <a:rPr lang="zh-TW" altLang="en-US" i="1">
                                      <a:solidFill>
                                        <a:schemeClr val="tx1"/>
                                      </a:solidFill>
                                      <a:latin typeface="Cambria Math" panose="02040503050406030204" pitchFamily="18" charset="0"/>
                                    </a:rPr>
                                    <m:t>𝑘</m:t>
                                  </m:r>
                                </m:e>
                              </m:d>
                            </m:e>
                          </m:d>
                        </m:e>
                        <m:sup>
                          <m:r>
                            <a:rPr lang="zh-TW" altLang="en-US" i="1">
                              <a:solidFill>
                                <a:schemeClr val="tx1"/>
                              </a:solidFill>
                              <a:latin typeface="Cambria Math" panose="02040503050406030204" pitchFamily="18" charset="0"/>
                            </a:rPr>
                            <m:t>𝑇</m:t>
                          </m:r>
                        </m:sup>
                      </m:sSup>
                    </m:oMath>
                  </m:oMathPara>
                </a14:m>
                <a:endParaRPr lang="zh-TW" altLang="en-US" dirty="0"/>
              </a:p>
            </p:txBody>
          </p:sp>
        </mc:Choice>
        <mc:Fallback>
          <p:sp>
            <p:nvSpPr>
              <p:cNvPr id="14" name="文字方塊 13">
                <a:extLst>
                  <a:ext uri="{FF2B5EF4-FFF2-40B4-BE49-F238E27FC236}">
                    <a16:creationId xmlns:a16="http://schemas.microsoft.com/office/drawing/2014/main" id="{618131F3-DB4D-D734-AB89-374CD16B516C}"/>
                  </a:ext>
                </a:extLst>
              </p:cNvPr>
              <p:cNvSpPr txBox="1">
                <a:spLocks noRot="1" noChangeAspect="1" noMove="1" noResize="1" noEditPoints="1" noAdjustHandles="1" noChangeArrowheads="1" noChangeShapeType="1" noTextEdit="1"/>
              </p:cNvSpPr>
              <p:nvPr/>
            </p:nvSpPr>
            <p:spPr>
              <a:xfrm>
                <a:off x="3711209" y="4740075"/>
                <a:ext cx="4975412" cy="463460"/>
              </a:xfrm>
              <a:prstGeom prst="rect">
                <a:avLst/>
              </a:prstGeom>
              <a:blipFill>
                <a:blip r:embed="rId7"/>
                <a:stretch>
                  <a:fillRect b="-8108"/>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6" name="文字方塊 15">
                <a:extLst>
                  <a:ext uri="{FF2B5EF4-FFF2-40B4-BE49-F238E27FC236}">
                    <a16:creationId xmlns:a16="http://schemas.microsoft.com/office/drawing/2014/main" id="{6A980E7E-062E-7121-D269-72B16BCE666D}"/>
                  </a:ext>
                </a:extLst>
              </p:cNvPr>
              <p:cNvSpPr txBox="1"/>
              <p:nvPr/>
            </p:nvSpPr>
            <p:spPr>
              <a:xfrm>
                <a:off x="403411" y="3008832"/>
                <a:ext cx="6096000" cy="6341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zh-TW" altLang="en-US" i="0" smtClean="0">
                          <a:solidFill>
                            <a:schemeClr val="tx1"/>
                          </a:solidFill>
                          <a:latin typeface="Cambria Math" panose="02040503050406030204" pitchFamily="18" charset="0"/>
                        </a:rPr>
                        <m:t>PE</m:t>
                      </m:r>
                      <m:d>
                        <m:dPr>
                          <m:ctrlPr>
                            <a:rPr lang="zh-TW" altLang="en-US" i="1">
                              <a:solidFill>
                                <a:schemeClr val="tx1"/>
                              </a:solidFill>
                              <a:latin typeface="Cambria Math" panose="02040503050406030204" pitchFamily="18" charset="0"/>
                            </a:rPr>
                          </m:ctrlPr>
                        </m:dPr>
                        <m:e>
                          <m:r>
                            <a:rPr lang="zh-TW" altLang="en-US" i="1">
                              <a:solidFill>
                                <a:schemeClr val="tx1"/>
                              </a:solidFill>
                              <a:latin typeface="Cambria Math" panose="02040503050406030204" pitchFamily="18" charset="0"/>
                            </a:rPr>
                            <m:t>𝑡</m:t>
                          </m:r>
                          <m:r>
                            <a:rPr lang="zh-TW" altLang="en-US" i="0">
                              <a:solidFill>
                                <a:schemeClr val="tx1"/>
                              </a:solidFill>
                              <a:latin typeface="Cambria Math" panose="02040503050406030204" pitchFamily="18" charset="0"/>
                            </a:rPr>
                            <m:t>+</m:t>
                          </m:r>
                          <m:r>
                            <a:rPr lang="zh-TW" altLang="en-US" i="1" smtClean="0">
                              <a:solidFill>
                                <a:srgbClr val="FF0000"/>
                              </a:solidFill>
                              <a:latin typeface="Cambria Math" panose="02040503050406030204" pitchFamily="18" charset="0"/>
                            </a:rPr>
                            <m:t>𝑘</m:t>
                          </m:r>
                        </m:e>
                      </m:d>
                      <m:r>
                        <a:rPr lang="zh-TW" altLang="en-US" i="0">
                          <a:solidFill>
                            <a:schemeClr val="tx1"/>
                          </a:solidFill>
                          <a:latin typeface="Cambria Math" panose="02040503050406030204" pitchFamily="18" charset="0"/>
                        </a:rPr>
                        <m:t>=</m:t>
                      </m:r>
                      <m:d>
                        <m:dPr>
                          <m:begChr m:val="["/>
                          <m:endChr m:val="]"/>
                          <m:ctrlPr>
                            <a:rPr lang="zh-TW" altLang="en-US" i="1">
                              <a:solidFill>
                                <a:schemeClr val="tx1"/>
                              </a:solidFill>
                              <a:latin typeface="Cambria Math" panose="02040503050406030204" pitchFamily="18" charset="0"/>
                            </a:rPr>
                          </m:ctrlPr>
                        </m:dPr>
                        <m:e>
                          <m:m>
                            <m:mPr>
                              <m:plcHide m:val="on"/>
                              <m:mcs>
                                <m:mc>
                                  <m:mcPr>
                                    <m:count m:val="2"/>
                                    <m:mcJc m:val="center"/>
                                  </m:mcPr>
                                </m:mc>
                              </m:mcs>
                              <m:ctrlPr>
                                <a:rPr lang="zh-TW" altLang="en-US" i="1">
                                  <a:solidFill>
                                    <a:schemeClr val="tx1"/>
                                  </a:solidFill>
                                  <a:latin typeface="Cambria Math" panose="02040503050406030204" pitchFamily="18" charset="0"/>
                                </a:rPr>
                              </m:ctrlPr>
                            </m:mPr>
                            <m:mr>
                              <m:e>
                                <m:r>
                                  <m:rPr>
                                    <m:sty m:val="p"/>
                                  </m:rPr>
                                  <a:rPr lang="zh-TW" altLang="en-US" i="0">
                                    <a:solidFill>
                                      <a:schemeClr val="tx1"/>
                                    </a:solidFill>
                                    <a:latin typeface="Cambria Math" panose="02040503050406030204" pitchFamily="18" charset="0"/>
                                  </a:rPr>
                                  <m:t>cos</m:t>
                                </m:r>
                                <m:d>
                                  <m:dPr>
                                    <m:ctrlPr>
                                      <a:rPr lang="zh-TW" altLang="en-US" i="1" smtClean="0">
                                        <a:solidFill>
                                          <a:schemeClr val="tx1"/>
                                        </a:solidFill>
                                        <a:latin typeface="Cambria Math" panose="02040503050406030204" pitchFamily="18" charset="0"/>
                                      </a:rPr>
                                    </m:ctrlPr>
                                  </m:dPr>
                                  <m:e>
                                    <m:r>
                                      <a:rPr lang="zh-TW" altLang="en-US" i="1">
                                        <a:solidFill>
                                          <a:srgbClr val="FF0000"/>
                                        </a:solidFill>
                                        <a:latin typeface="Cambria Math" panose="02040503050406030204" pitchFamily="18" charset="0"/>
                                      </a:rPr>
                                      <m:t>𝑘</m:t>
                                    </m:r>
                                  </m:e>
                                </m:d>
                              </m:e>
                              <m:e>
                                <m:r>
                                  <m:rPr>
                                    <m:sty m:val="p"/>
                                  </m:rPr>
                                  <a:rPr lang="zh-TW" altLang="en-US" i="0">
                                    <a:solidFill>
                                      <a:schemeClr val="tx1"/>
                                    </a:solidFill>
                                    <a:latin typeface="Cambria Math" panose="02040503050406030204" pitchFamily="18" charset="0"/>
                                  </a:rPr>
                                  <m:t>sin</m:t>
                                </m:r>
                                <m:d>
                                  <m:dPr>
                                    <m:ctrlPr>
                                      <a:rPr lang="zh-TW" altLang="en-US" i="1">
                                        <a:solidFill>
                                          <a:schemeClr val="tx1"/>
                                        </a:solidFill>
                                        <a:latin typeface="Cambria Math" panose="02040503050406030204" pitchFamily="18" charset="0"/>
                                      </a:rPr>
                                    </m:ctrlPr>
                                  </m:dPr>
                                  <m:e>
                                    <m:r>
                                      <a:rPr lang="zh-TW" altLang="en-US" i="1">
                                        <a:solidFill>
                                          <a:srgbClr val="FF0000"/>
                                        </a:solidFill>
                                        <a:latin typeface="Cambria Math" panose="02040503050406030204" pitchFamily="18" charset="0"/>
                                      </a:rPr>
                                      <m:t>𝑘</m:t>
                                    </m:r>
                                  </m:e>
                                </m:d>
                              </m:e>
                            </m:mr>
                            <m:mr>
                              <m:e>
                                <m:r>
                                  <a:rPr lang="zh-TW" altLang="en-US" i="0">
                                    <a:solidFill>
                                      <a:schemeClr val="tx1"/>
                                    </a:solidFill>
                                    <a:latin typeface="Cambria Math" panose="02040503050406030204" pitchFamily="18" charset="0"/>
                                  </a:rPr>
                                  <m:t>−</m:t>
                                </m:r>
                                <m:r>
                                  <m:rPr>
                                    <m:sty m:val="p"/>
                                  </m:rPr>
                                  <a:rPr lang="zh-TW" altLang="en-US" i="0">
                                    <a:solidFill>
                                      <a:schemeClr val="tx1"/>
                                    </a:solidFill>
                                    <a:latin typeface="Cambria Math" panose="02040503050406030204" pitchFamily="18" charset="0"/>
                                  </a:rPr>
                                  <m:t>sin</m:t>
                                </m:r>
                                <m:d>
                                  <m:dPr>
                                    <m:ctrlPr>
                                      <a:rPr lang="zh-TW" altLang="en-US" i="1">
                                        <a:solidFill>
                                          <a:schemeClr val="tx1"/>
                                        </a:solidFill>
                                        <a:latin typeface="Cambria Math" panose="02040503050406030204" pitchFamily="18" charset="0"/>
                                      </a:rPr>
                                    </m:ctrlPr>
                                  </m:dPr>
                                  <m:e>
                                    <m:r>
                                      <a:rPr lang="zh-TW" altLang="en-US" i="1">
                                        <a:solidFill>
                                          <a:srgbClr val="FF0000"/>
                                        </a:solidFill>
                                        <a:latin typeface="Cambria Math" panose="02040503050406030204" pitchFamily="18" charset="0"/>
                                      </a:rPr>
                                      <m:t>𝑘</m:t>
                                    </m:r>
                                  </m:e>
                                </m:d>
                              </m:e>
                              <m:e>
                                <m:r>
                                  <m:rPr>
                                    <m:sty m:val="p"/>
                                  </m:rPr>
                                  <a:rPr lang="zh-TW" altLang="en-US" i="0">
                                    <a:solidFill>
                                      <a:schemeClr val="tx1"/>
                                    </a:solidFill>
                                    <a:latin typeface="Cambria Math" panose="02040503050406030204" pitchFamily="18" charset="0"/>
                                  </a:rPr>
                                  <m:t>cos</m:t>
                                </m:r>
                                <m:d>
                                  <m:dPr>
                                    <m:ctrlPr>
                                      <a:rPr lang="zh-TW" altLang="en-US" i="1">
                                        <a:solidFill>
                                          <a:schemeClr val="tx1"/>
                                        </a:solidFill>
                                        <a:latin typeface="Cambria Math" panose="02040503050406030204" pitchFamily="18" charset="0"/>
                                      </a:rPr>
                                    </m:ctrlPr>
                                  </m:dPr>
                                  <m:e>
                                    <m:r>
                                      <a:rPr lang="zh-TW" altLang="en-US" i="1">
                                        <a:solidFill>
                                          <a:srgbClr val="FF0000"/>
                                        </a:solidFill>
                                        <a:latin typeface="Cambria Math" panose="02040503050406030204" pitchFamily="18" charset="0"/>
                                      </a:rPr>
                                      <m:t>𝑘</m:t>
                                    </m:r>
                                  </m:e>
                                </m:d>
                              </m:e>
                            </m:mr>
                          </m:m>
                        </m:e>
                      </m:d>
                      <m:d>
                        <m:dPr>
                          <m:begChr m:val="["/>
                          <m:endChr m:val="]"/>
                          <m:ctrlPr>
                            <a:rPr lang="zh-TW" altLang="en-US" i="1">
                              <a:solidFill>
                                <a:schemeClr val="tx1"/>
                              </a:solidFill>
                              <a:latin typeface="Cambria Math" panose="02040503050406030204" pitchFamily="18" charset="0"/>
                            </a:rPr>
                          </m:ctrlPr>
                        </m:dPr>
                        <m:e>
                          <m:m>
                            <m:mPr>
                              <m:plcHide m:val="on"/>
                              <m:mcs>
                                <m:mc>
                                  <m:mcPr>
                                    <m:count m:val="1"/>
                                    <m:mcJc m:val="center"/>
                                  </m:mcPr>
                                </m:mc>
                              </m:mcs>
                              <m:ctrlPr>
                                <a:rPr lang="zh-TW" altLang="en-US" i="1">
                                  <a:solidFill>
                                    <a:schemeClr val="tx1"/>
                                  </a:solidFill>
                                  <a:latin typeface="Cambria Math" panose="02040503050406030204" pitchFamily="18" charset="0"/>
                                </a:rPr>
                              </m:ctrlPr>
                            </m:mPr>
                            <m:mr>
                              <m:e>
                                <m:r>
                                  <m:rPr>
                                    <m:sty m:val="p"/>
                                  </m:rPr>
                                  <a:rPr lang="zh-TW" altLang="en-US" i="0">
                                    <a:solidFill>
                                      <a:schemeClr val="tx1"/>
                                    </a:solidFill>
                                    <a:latin typeface="Cambria Math" panose="02040503050406030204" pitchFamily="18" charset="0"/>
                                  </a:rPr>
                                  <m:t>sin</m:t>
                                </m:r>
                                <m:d>
                                  <m:dPr>
                                    <m:ctrlPr>
                                      <a:rPr lang="zh-TW" altLang="en-US" i="1">
                                        <a:solidFill>
                                          <a:schemeClr val="tx1"/>
                                        </a:solidFill>
                                        <a:latin typeface="Cambria Math" panose="02040503050406030204" pitchFamily="18" charset="0"/>
                                      </a:rPr>
                                    </m:ctrlPr>
                                  </m:dPr>
                                  <m:e>
                                    <m:r>
                                      <a:rPr lang="zh-TW" altLang="en-US" i="1">
                                        <a:solidFill>
                                          <a:schemeClr val="tx1"/>
                                        </a:solidFill>
                                        <a:latin typeface="Cambria Math" panose="02040503050406030204" pitchFamily="18" charset="0"/>
                                      </a:rPr>
                                      <m:t>𝑡</m:t>
                                    </m:r>
                                  </m:e>
                                </m:d>
                              </m:e>
                            </m:mr>
                            <m:mr>
                              <m:e>
                                <m:r>
                                  <m:rPr>
                                    <m:sty m:val="p"/>
                                  </m:rPr>
                                  <a:rPr lang="zh-TW" altLang="en-US" i="0">
                                    <a:solidFill>
                                      <a:schemeClr val="tx1"/>
                                    </a:solidFill>
                                    <a:latin typeface="Cambria Math" panose="02040503050406030204" pitchFamily="18" charset="0"/>
                                  </a:rPr>
                                  <m:t>cos</m:t>
                                </m:r>
                                <m:d>
                                  <m:dPr>
                                    <m:ctrlPr>
                                      <a:rPr lang="zh-TW" altLang="en-US" i="1">
                                        <a:solidFill>
                                          <a:schemeClr val="tx1"/>
                                        </a:solidFill>
                                        <a:latin typeface="Cambria Math" panose="02040503050406030204" pitchFamily="18" charset="0"/>
                                      </a:rPr>
                                    </m:ctrlPr>
                                  </m:dPr>
                                  <m:e>
                                    <m:r>
                                      <a:rPr lang="zh-TW" altLang="en-US" i="1">
                                        <a:solidFill>
                                          <a:schemeClr val="tx1"/>
                                        </a:solidFill>
                                        <a:latin typeface="Cambria Math" panose="02040503050406030204" pitchFamily="18" charset="0"/>
                                      </a:rPr>
                                      <m:t>𝑡</m:t>
                                    </m:r>
                                  </m:e>
                                </m:d>
                              </m:e>
                            </m:mr>
                          </m:m>
                        </m:e>
                      </m:d>
                      <m:r>
                        <a:rPr lang="zh-TW" altLang="en-US" i="0">
                          <a:solidFill>
                            <a:schemeClr val="tx1"/>
                          </a:solidFill>
                          <a:latin typeface="Cambria Math" panose="02040503050406030204" pitchFamily="18" charset="0"/>
                        </a:rPr>
                        <m:t>=</m:t>
                      </m:r>
                      <m:r>
                        <a:rPr lang="zh-TW" altLang="en-US" i="1" smtClean="0">
                          <a:solidFill>
                            <a:schemeClr val="accent1"/>
                          </a:solidFill>
                          <a:latin typeface="Cambria Math" panose="02040503050406030204" pitchFamily="18" charset="0"/>
                        </a:rPr>
                        <m:t>𝑀</m:t>
                      </m:r>
                      <m:d>
                        <m:dPr>
                          <m:ctrlPr>
                            <a:rPr lang="zh-TW" altLang="en-US" i="1">
                              <a:solidFill>
                                <a:schemeClr val="tx1"/>
                              </a:solidFill>
                              <a:latin typeface="Cambria Math" panose="02040503050406030204" pitchFamily="18" charset="0"/>
                            </a:rPr>
                          </m:ctrlPr>
                        </m:dPr>
                        <m:e>
                          <m:r>
                            <a:rPr lang="zh-TW" altLang="en-US" i="1">
                              <a:solidFill>
                                <a:srgbClr val="FF0000"/>
                              </a:solidFill>
                              <a:latin typeface="Cambria Math" panose="02040503050406030204" pitchFamily="18" charset="0"/>
                            </a:rPr>
                            <m:t>𝑘</m:t>
                          </m:r>
                        </m:e>
                      </m:d>
                      <m:r>
                        <a:rPr lang="zh-TW" altLang="en-US" i="0">
                          <a:solidFill>
                            <a:schemeClr val="tx1"/>
                          </a:solidFill>
                          <a:latin typeface="Cambria Math" panose="02040503050406030204" pitchFamily="18" charset="0"/>
                        </a:rPr>
                        <m:t>∙</m:t>
                      </m:r>
                      <m:r>
                        <m:rPr>
                          <m:sty m:val="p"/>
                        </m:rPr>
                        <a:rPr lang="zh-TW" altLang="en-US" i="0">
                          <a:solidFill>
                            <a:schemeClr val="tx1"/>
                          </a:solidFill>
                          <a:latin typeface="Cambria Math" panose="02040503050406030204" pitchFamily="18" charset="0"/>
                        </a:rPr>
                        <m:t>PE</m:t>
                      </m:r>
                      <m:d>
                        <m:dPr>
                          <m:ctrlPr>
                            <a:rPr lang="zh-TW" altLang="en-US" i="1">
                              <a:solidFill>
                                <a:schemeClr val="tx1"/>
                              </a:solidFill>
                              <a:latin typeface="Cambria Math" panose="02040503050406030204" pitchFamily="18" charset="0"/>
                            </a:rPr>
                          </m:ctrlPr>
                        </m:dPr>
                        <m:e>
                          <m:r>
                            <a:rPr lang="zh-TW" altLang="en-US" i="1">
                              <a:solidFill>
                                <a:schemeClr val="tx1"/>
                              </a:solidFill>
                              <a:latin typeface="Cambria Math" panose="02040503050406030204" pitchFamily="18" charset="0"/>
                            </a:rPr>
                            <m:t>𝑡</m:t>
                          </m:r>
                        </m:e>
                      </m:d>
                    </m:oMath>
                  </m:oMathPara>
                </a14:m>
                <a:endParaRPr lang="zh-TW" altLang="en-US" dirty="0">
                  <a:solidFill>
                    <a:schemeClr val="tx1"/>
                  </a:solidFill>
                </a:endParaRPr>
              </a:p>
            </p:txBody>
          </p:sp>
        </mc:Choice>
        <mc:Fallback>
          <p:sp>
            <p:nvSpPr>
              <p:cNvPr id="16" name="文字方塊 15">
                <a:extLst>
                  <a:ext uri="{FF2B5EF4-FFF2-40B4-BE49-F238E27FC236}">
                    <a16:creationId xmlns:a16="http://schemas.microsoft.com/office/drawing/2014/main" id="{6A980E7E-062E-7121-D269-72B16BCE666D}"/>
                  </a:ext>
                </a:extLst>
              </p:cNvPr>
              <p:cNvSpPr txBox="1">
                <a:spLocks noRot="1" noChangeAspect="1" noMove="1" noResize="1" noEditPoints="1" noAdjustHandles="1" noChangeArrowheads="1" noChangeShapeType="1" noTextEdit="1"/>
              </p:cNvSpPr>
              <p:nvPr/>
            </p:nvSpPr>
            <p:spPr>
              <a:xfrm>
                <a:off x="403411" y="3008832"/>
                <a:ext cx="6096000" cy="634148"/>
              </a:xfrm>
              <a:prstGeom prst="rect">
                <a:avLst/>
              </a:prstGeom>
              <a:blipFill>
                <a:blip r:embed="rId8"/>
                <a:stretch>
                  <a:fillRect/>
                </a:stretch>
              </a:blipFill>
            </p:spPr>
            <p:txBody>
              <a:bodyPr/>
              <a:lstStyle/>
              <a:p>
                <a:r>
                  <a:rPr lang="zh-TW" altLang="en-US">
                    <a:noFill/>
                  </a:rPr>
                  <a:t> </a:t>
                </a:r>
              </a:p>
            </p:txBody>
          </p:sp>
        </mc:Fallback>
      </mc:AlternateContent>
      <p:sp>
        <p:nvSpPr>
          <p:cNvPr id="17" name="文字方塊 16">
            <a:extLst>
              <a:ext uri="{FF2B5EF4-FFF2-40B4-BE49-F238E27FC236}">
                <a16:creationId xmlns:a16="http://schemas.microsoft.com/office/drawing/2014/main" id="{EAE964FA-1605-7F70-175D-5E8674E22BD1}"/>
              </a:ext>
            </a:extLst>
          </p:cNvPr>
          <p:cNvSpPr txBox="1"/>
          <p:nvPr/>
        </p:nvSpPr>
        <p:spPr>
          <a:xfrm>
            <a:off x="2180739" y="3649294"/>
            <a:ext cx="1539614" cy="369332"/>
          </a:xfrm>
          <a:prstGeom prst="rect">
            <a:avLst/>
          </a:prstGeom>
          <a:noFill/>
        </p:spPr>
        <p:txBody>
          <a:bodyPr wrap="square" rtlCol="0">
            <a:spAutoFit/>
          </a:bodyPr>
          <a:lstStyle/>
          <a:p>
            <a:pPr algn="ctr"/>
            <a:r>
              <a:rPr kumimoji="1" lang="zh-TW" altLang="en-US" dirty="0">
                <a:solidFill>
                  <a:schemeClr val="accent1"/>
                </a:solidFill>
              </a:rPr>
              <a:t>旋轉矩陣</a:t>
            </a:r>
          </a:p>
        </p:txBody>
      </p:sp>
      <mc:AlternateContent xmlns:mc="http://schemas.openxmlformats.org/markup-compatibility/2006">
        <mc:Choice xmlns:a14="http://schemas.microsoft.com/office/drawing/2010/main" Requires="a14">
          <p:sp>
            <p:nvSpPr>
              <p:cNvPr id="19" name="文字方塊 18">
                <a:extLst>
                  <a:ext uri="{FF2B5EF4-FFF2-40B4-BE49-F238E27FC236}">
                    <a16:creationId xmlns:a16="http://schemas.microsoft.com/office/drawing/2014/main" id="{F1E75E41-78AC-DBCA-1326-809ADE9B1E73}"/>
                  </a:ext>
                </a:extLst>
              </p:cNvPr>
              <p:cNvSpPr txBox="1"/>
              <p:nvPr/>
            </p:nvSpPr>
            <p:spPr>
              <a:xfrm>
                <a:off x="3876604" y="5463922"/>
                <a:ext cx="6922460" cy="459806"/>
              </a:xfrm>
              <a:prstGeom prst="rect">
                <a:avLst/>
              </a:prstGeom>
              <a:noFill/>
            </p:spPr>
            <p:txBody>
              <a:bodyPr wrap="square">
                <a:spAutoFit/>
              </a:bodyPr>
              <a:lstStyle/>
              <a:p>
                <a:r>
                  <a:rPr lang="en-US" altLang="zh-TW" dirty="0"/>
                  <a:t>➡️</a:t>
                </a:r>
                <a14:m>
                  <m:oMath xmlns:m="http://schemas.openxmlformats.org/officeDocument/2006/math">
                    <m:r>
                      <a:rPr lang="en-US" altLang="zh-TW" b="0" i="0" smtClean="0">
                        <a:latin typeface="Cambria Math" panose="02040503050406030204" pitchFamily="18" charset="0"/>
                      </a:rPr>
                      <m:t> </m:t>
                    </m:r>
                    <m:r>
                      <m:rPr>
                        <m:sty m:val="p"/>
                      </m:rPr>
                      <a:rPr lang="zh-TW" altLang="en-US">
                        <a:latin typeface="Cambria Math" panose="02040503050406030204" pitchFamily="18" charset="0"/>
                      </a:rPr>
                      <m:t>PE</m:t>
                    </m:r>
                    <m:d>
                      <m:dPr>
                        <m:ctrlPr>
                          <a:rPr lang="zh-TW" altLang="en-US" i="1">
                            <a:solidFill>
                              <a:schemeClr val="tx1"/>
                            </a:solidFill>
                            <a:latin typeface="Cambria Math" panose="02040503050406030204" pitchFamily="18" charset="0"/>
                          </a:rPr>
                        </m:ctrlPr>
                      </m:dPr>
                      <m:e>
                        <m:r>
                          <a:rPr lang="zh-TW" altLang="en-US" i="1">
                            <a:solidFill>
                              <a:schemeClr val="tx1"/>
                            </a:solidFill>
                            <a:latin typeface="Cambria Math" panose="02040503050406030204" pitchFamily="18" charset="0"/>
                          </a:rPr>
                          <m:t>𝑡</m:t>
                        </m:r>
                      </m:e>
                    </m:d>
                    <m:r>
                      <a:rPr lang="zh-TW" altLang="en-US" i="0">
                        <a:solidFill>
                          <a:schemeClr val="tx1"/>
                        </a:solidFill>
                        <a:latin typeface="Cambria Math" panose="02040503050406030204" pitchFamily="18" charset="0"/>
                      </a:rPr>
                      <m:t>∙</m:t>
                    </m:r>
                    <m:sSub>
                      <m:sSubPr>
                        <m:ctrlPr>
                          <a:rPr lang="zh-TW" altLang="en-US" i="1">
                            <a:solidFill>
                              <a:schemeClr val="tx1"/>
                            </a:solidFill>
                            <a:latin typeface="Cambria Math" panose="02040503050406030204" pitchFamily="18" charset="0"/>
                          </a:rPr>
                        </m:ctrlPr>
                      </m:sSubPr>
                      <m:e>
                        <m:r>
                          <a:rPr lang="zh-TW" altLang="en-US" i="1">
                            <a:solidFill>
                              <a:schemeClr val="tx1"/>
                            </a:solidFill>
                            <a:latin typeface="Cambria Math" panose="02040503050406030204" pitchFamily="18" charset="0"/>
                          </a:rPr>
                          <m:t>𝑊</m:t>
                        </m:r>
                      </m:e>
                      <m:sub>
                        <m:r>
                          <a:rPr lang="zh-TW" altLang="en-US" i="1">
                            <a:solidFill>
                              <a:schemeClr val="tx1"/>
                            </a:solidFill>
                            <a:latin typeface="Cambria Math" panose="02040503050406030204" pitchFamily="18" charset="0"/>
                          </a:rPr>
                          <m:t>𝑄</m:t>
                        </m:r>
                      </m:sub>
                    </m:sSub>
                    <m:sSubSup>
                      <m:sSubSupPr>
                        <m:ctrlPr>
                          <a:rPr lang="zh-TW" altLang="en-US" i="1">
                            <a:solidFill>
                              <a:schemeClr val="tx1"/>
                            </a:solidFill>
                            <a:latin typeface="Cambria Math" panose="02040503050406030204" pitchFamily="18" charset="0"/>
                          </a:rPr>
                        </m:ctrlPr>
                      </m:sSubSupPr>
                      <m:e>
                        <m:r>
                          <a:rPr lang="zh-TW" altLang="en-US" i="0">
                            <a:solidFill>
                              <a:schemeClr val="tx1"/>
                            </a:solidFill>
                            <a:latin typeface="Cambria Math" panose="02040503050406030204" pitchFamily="18" charset="0"/>
                          </a:rPr>
                          <m:t>∙</m:t>
                        </m:r>
                        <m:r>
                          <a:rPr lang="zh-TW" altLang="en-US" i="1">
                            <a:solidFill>
                              <a:schemeClr val="tx1"/>
                            </a:solidFill>
                            <a:latin typeface="Cambria Math" panose="02040503050406030204" pitchFamily="18" charset="0"/>
                          </a:rPr>
                          <m:t>𝑊</m:t>
                        </m:r>
                      </m:e>
                      <m:sub>
                        <m:r>
                          <a:rPr lang="zh-TW" altLang="en-US" i="1">
                            <a:solidFill>
                              <a:schemeClr val="tx1"/>
                            </a:solidFill>
                            <a:latin typeface="Cambria Math" panose="02040503050406030204" pitchFamily="18" charset="0"/>
                          </a:rPr>
                          <m:t>𝐾</m:t>
                        </m:r>
                      </m:sub>
                      <m:sup>
                        <m:r>
                          <a:rPr lang="zh-TW" altLang="en-US" i="1">
                            <a:solidFill>
                              <a:schemeClr val="tx1"/>
                            </a:solidFill>
                            <a:latin typeface="Cambria Math" panose="02040503050406030204" pitchFamily="18" charset="0"/>
                          </a:rPr>
                          <m:t>𝑇</m:t>
                        </m:r>
                      </m:sup>
                    </m:sSubSup>
                    <m:r>
                      <a:rPr lang="zh-TW" altLang="en-US" i="0">
                        <a:solidFill>
                          <a:schemeClr val="tx1"/>
                        </a:solidFill>
                        <a:latin typeface="Cambria Math" panose="02040503050406030204" pitchFamily="18" charset="0"/>
                      </a:rPr>
                      <m:t>∙</m:t>
                    </m:r>
                    <m:sSup>
                      <m:sSupPr>
                        <m:ctrlPr>
                          <a:rPr lang="zh-TW" altLang="zh-TW" i="1"/>
                        </m:ctrlPr>
                      </m:sSupPr>
                      <m:e>
                        <m:r>
                          <a:rPr lang="en-US" altLang="zh-TW" i="1"/>
                          <m:t>𝑃𝐸</m:t>
                        </m:r>
                        <m:d>
                          <m:dPr>
                            <m:ctrlPr>
                              <a:rPr lang="zh-TW" altLang="zh-TW" i="1"/>
                            </m:ctrlPr>
                          </m:dPr>
                          <m:e>
                            <m:r>
                              <a:rPr lang="en-US" altLang="zh-TW" i="1"/>
                              <m:t>𝑡</m:t>
                            </m:r>
                            <m:r>
                              <a:rPr lang="en-US" altLang="zh-TW" i="1"/>
                              <m:t>+</m:t>
                            </m:r>
                            <m:r>
                              <a:rPr lang="en-US" altLang="zh-TW" i="1"/>
                              <m:t>𝑘</m:t>
                            </m:r>
                          </m:e>
                        </m:d>
                      </m:e>
                      <m:sup>
                        <m:r>
                          <a:rPr lang="en-US" altLang="zh-TW" i="1"/>
                          <m:t>𝑇</m:t>
                        </m:r>
                      </m:sup>
                    </m:sSup>
                    <m:r>
                      <a:rPr lang="zh-TW" altLang="en-US" i="0">
                        <a:solidFill>
                          <a:schemeClr val="tx1"/>
                        </a:solidFill>
                        <a:latin typeface="Cambria Math" panose="02040503050406030204" pitchFamily="18" charset="0"/>
                      </a:rPr>
                      <m:t>=</m:t>
                    </m:r>
                    <m:r>
                      <m:rPr>
                        <m:sty m:val="p"/>
                      </m:rPr>
                      <a:rPr lang="zh-TW" altLang="en-US" i="0">
                        <a:solidFill>
                          <a:schemeClr val="tx1"/>
                        </a:solidFill>
                        <a:latin typeface="Cambria Math" panose="02040503050406030204" pitchFamily="18" charset="0"/>
                      </a:rPr>
                      <m:t>PE</m:t>
                    </m:r>
                    <m:d>
                      <m:dPr>
                        <m:ctrlPr>
                          <a:rPr lang="zh-TW" altLang="en-US" i="1">
                            <a:solidFill>
                              <a:schemeClr val="tx1"/>
                            </a:solidFill>
                            <a:latin typeface="Cambria Math" panose="02040503050406030204" pitchFamily="18" charset="0"/>
                          </a:rPr>
                        </m:ctrlPr>
                      </m:dPr>
                      <m:e>
                        <m:r>
                          <a:rPr lang="zh-TW" altLang="en-US" i="1">
                            <a:solidFill>
                              <a:schemeClr val="tx1"/>
                            </a:solidFill>
                            <a:latin typeface="Cambria Math" panose="02040503050406030204" pitchFamily="18" charset="0"/>
                          </a:rPr>
                          <m:t>𝑡</m:t>
                        </m:r>
                      </m:e>
                    </m:d>
                    <m:r>
                      <a:rPr lang="zh-TW" altLang="en-US" i="0">
                        <a:solidFill>
                          <a:schemeClr val="tx1"/>
                        </a:solidFill>
                        <a:latin typeface="Cambria Math" panose="02040503050406030204" pitchFamily="18" charset="0"/>
                      </a:rPr>
                      <m:t>∙</m:t>
                    </m:r>
                    <m:sSub>
                      <m:sSubPr>
                        <m:ctrlPr>
                          <a:rPr lang="zh-TW" altLang="en-US" i="1">
                            <a:solidFill>
                              <a:schemeClr val="tx1"/>
                            </a:solidFill>
                            <a:latin typeface="Cambria Math" panose="02040503050406030204" pitchFamily="18" charset="0"/>
                          </a:rPr>
                        </m:ctrlPr>
                      </m:sSubPr>
                      <m:e>
                        <m:r>
                          <a:rPr lang="zh-TW" altLang="en-US" i="1">
                            <a:solidFill>
                              <a:schemeClr val="tx1"/>
                            </a:solidFill>
                            <a:latin typeface="Cambria Math" panose="02040503050406030204" pitchFamily="18" charset="0"/>
                          </a:rPr>
                          <m:t>𝑊</m:t>
                        </m:r>
                      </m:e>
                      <m:sub>
                        <m:r>
                          <a:rPr lang="zh-TW" altLang="en-US" i="1">
                            <a:solidFill>
                              <a:schemeClr val="tx1"/>
                            </a:solidFill>
                            <a:latin typeface="Cambria Math" panose="02040503050406030204" pitchFamily="18" charset="0"/>
                          </a:rPr>
                          <m:t>𝑄</m:t>
                        </m:r>
                      </m:sub>
                    </m:sSub>
                    <m:sSubSup>
                      <m:sSubSupPr>
                        <m:ctrlPr>
                          <a:rPr lang="zh-TW" altLang="en-US" i="1">
                            <a:solidFill>
                              <a:schemeClr val="tx1"/>
                            </a:solidFill>
                            <a:latin typeface="Cambria Math" panose="02040503050406030204" pitchFamily="18" charset="0"/>
                          </a:rPr>
                        </m:ctrlPr>
                      </m:sSubSupPr>
                      <m:e>
                        <m:r>
                          <a:rPr lang="zh-TW" altLang="en-US" i="0">
                            <a:solidFill>
                              <a:schemeClr val="tx1"/>
                            </a:solidFill>
                            <a:latin typeface="Cambria Math" panose="02040503050406030204" pitchFamily="18" charset="0"/>
                          </a:rPr>
                          <m:t>∙</m:t>
                        </m:r>
                        <m:r>
                          <a:rPr lang="zh-TW" altLang="en-US" i="1">
                            <a:solidFill>
                              <a:schemeClr val="tx1"/>
                            </a:solidFill>
                            <a:latin typeface="Cambria Math" panose="02040503050406030204" pitchFamily="18" charset="0"/>
                          </a:rPr>
                          <m:t>𝑊</m:t>
                        </m:r>
                      </m:e>
                      <m:sub>
                        <m:r>
                          <a:rPr lang="zh-TW" altLang="en-US" i="1">
                            <a:solidFill>
                              <a:schemeClr val="tx1"/>
                            </a:solidFill>
                            <a:latin typeface="Cambria Math" panose="02040503050406030204" pitchFamily="18" charset="0"/>
                          </a:rPr>
                          <m:t>𝐾</m:t>
                        </m:r>
                      </m:sub>
                      <m:sup>
                        <m:r>
                          <a:rPr lang="zh-TW" altLang="en-US" i="1">
                            <a:solidFill>
                              <a:schemeClr val="tx1"/>
                            </a:solidFill>
                            <a:latin typeface="Cambria Math" panose="02040503050406030204" pitchFamily="18" charset="0"/>
                          </a:rPr>
                          <m:t>𝑇</m:t>
                        </m:r>
                      </m:sup>
                    </m:sSubSup>
                    <m:r>
                      <a:rPr lang="zh-TW" altLang="en-US" i="0">
                        <a:solidFill>
                          <a:schemeClr val="tx1"/>
                        </a:solidFill>
                        <a:latin typeface="Cambria Math" panose="02040503050406030204" pitchFamily="18" charset="0"/>
                      </a:rPr>
                      <m:t>∙</m:t>
                    </m:r>
                  </m:oMath>
                </a14:m>
                <a:r>
                  <a:rPr lang="zh-TW" altLang="zh-TW" dirty="0"/>
                  <a:t> </a:t>
                </a:r>
                <a14:m>
                  <m:oMath xmlns:m="http://schemas.openxmlformats.org/officeDocument/2006/math">
                    <m:sSup>
                      <m:sSupPr>
                        <m:ctrlPr>
                          <a:rPr lang="zh-TW" altLang="zh-TW" i="1">
                            <a:latin typeface="Cambria Math" panose="02040503050406030204" pitchFamily="18" charset="0"/>
                          </a:rPr>
                        </m:ctrlPr>
                      </m:sSupPr>
                      <m:e>
                        <m:d>
                          <m:dPr>
                            <m:ctrlPr>
                              <a:rPr lang="zh-TW" altLang="en-US" i="1">
                                <a:latin typeface="Cambria Math" panose="02040503050406030204" pitchFamily="18" charset="0"/>
                              </a:rPr>
                            </m:ctrlPr>
                          </m:dPr>
                          <m:e>
                            <m:r>
                              <a:rPr lang="zh-TW" altLang="en-US" i="1">
                                <a:latin typeface="Cambria Math" panose="02040503050406030204" pitchFamily="18" charset="0"/>
                              </a:rPr>
                              <m:t>𝑀</m:t>
                            </m:r>
                            <m:d>
                              <m:dPr>
                                <m:ctrlPr>
                                  <a:rPr lang="zh-TW" altLang="en-US" i="1">
                                    <a:latin typeface="Cambria Math" panose="02040503050406030204" pitchFamily="18" charset="0"/>
                                  </a:rPr>
                                </m:ctrlPr>
                              </m:dPr>
                              <m:e>
                                <m:r>
                                  <a:rPr lang="zh-TW" altLang="en-US" i="1">
                                    <a:latin typeface="Cambria Math" panose="02040503050406030204" pitchFamily="18" charset="0"/>
                                  </a:rPr>
                                  <m:t>𝑘</m:t>
                                </m:r>
                              </m:e>
                            </m:d>
                            <m:r>
                              <a:rPr lang="zh-TW" altLang="en-US">
                                <a:latin typeface="Cambria Math" panose="02040503050406030204" pitchFamily="18" charset="0"/>
                              </a:rPr>
                              <m:t>∙</m:t>
                            </m:r>
                            <m:r>
                              <m:rPr>
                                <m:sty m:val="p"/>
                              </m:rPr>
                              <a:rPr lang="zh-TW" altLang="en-US">
                                <a:latin typeface="Cambria Math" panose="02040503050406030204" pitchFamily="18" charset="0"/>
                              </a:rPr>
                              <m:t>PE</m:t>
                            </m:r>
                            <m:d>
                              <m:dPr>
                                <m:ctrlPr>
                                  <a:rPr lang="zh-TW" altLang="en-US" i="1">
                                    <a:latin typeface="Cambria Math" panose="02040503050406030204" pitchFamily="18" charset="0"/>
                                  </a:rPr>
                                </m:ctrlPr>
                              </m:dPr>
                              <m:e>
                                <m:r>
                                  <a:rPr lang="zh-TW" altLang="en-US" i="1">
                                    <a:latin typeface="Cambria Math" panose="02040503050406030204" pitchFamily="18" charset="0"/>
                                  </a:rPr>
                                  <m:t>𝑡</m:t>
                                </m:r>
                              </m:e>
                            </m:d>
                          </m:e>
                        </m:d>
                      </m:e>
                      <m:sup>
                        <m:r>
                          <a:rPr lang="en-US" altLang="zh-TW" i="1">
                            <a:latin typeface="Cambria Math" panose="02040503050406030204" pitchFamily="18" charset="0"/>
                          </a:rPr>
                          <m:t>𝑇</m:t>
                        </m:r>
                      </m:sup>
                    </m:sSup>
                  </m:oMath>
                </a14:m>
                <a:endParaRPr lang="zh-TW" altLang="en-US" dirty="0">
                  <a:solidFill>
                    <a:schemeClr val="tx1"/>
                  </a:solidFill>
                </a:endParaRPr>
              </a:p>
            </p:txBody>
          </p:sp>
        </mc:Choice>
        <mc:Fallback>
          <p:sp>
            <p:nvSpPr>
              <p:cNvPr id="19" name="文字方塊 18">
                <a:extLst>
                  <a:ext uri="{FF2B5EF4-FFF2-40B4-BE49-F238E27FC236}">
                    <a16:creationId xmlns:a16="http://schemas.microsoft.com/office/drawing/2014/main" id="{F1E75E41-78AC-DBCA-1326-809ADE9B1E73}"/>
                  </a:ext>
                </a:extLst>
              </p:cNvPr>
              <p:cNvSpPr txBox="1">
                <a:spLocks noRot="1" noChangeAspect="1" noMove="1" noResize="1" noEditPoints="1" noAdjustHandles="1" noChangeArrowheads="1" noChangeShapeType="1" noTextEdit="1"/>
              </p:cNvSpPr>
              <p:nvPr/>
            </p:nvSpPr>
            <p:spPr>
              <a:xfrm>
                <a:off x="3876604" y="5463922"/>
                <a:ext cx="6922460" cy="459806"/>
              </a:xfrm>
              <a:prstGeom prst="rect">
                <a:avLst/>
              </a:prstGeom>
              <a:blipFill>
                <a:blip r:embed="rId9"/>
                <a:stretch>
                  <a:fillRect l="-733" b="-18919"/>
                </a:stretch>
              </a:blipFill>
            </p:spPr>
            <p:txBody>
              <a:bodyPr/>
              <a:lstStyle/>
              <a:p>
                <a:r>
                  <a:rPr lang="zh-TW" altLang="en-US">
                    <a:noFill/>
                  </a:rPr>
                  <a:t> </a:t>
                </a:r>
              </a:p>
            </p:txBody>
          </p:sp>
        </mc:Fallback>
      </mc:AlternateContent>
      <p:grpSp>
        <p:nvGrpSpPr>
          <p:cNvPr id="29" name="群組 28">
            <a:extLst>
              <a:ext uri="{FF2B5EF4-FFF2-40B4-BE49-F238E27FC236}">
                <a16:creationId xmlns:a16="http://schemas.microsoft.com/office/drawing/2014/main" id="{70B25B75-F7DA-DA16-2758-71A3490D4F24}"/>
              </a:ext>
            </a:extLst>
          </p:cNvPr>
          <p:cNvGrpSpPr/>
          <p:nvPr/>
        </p:nvGrpSpPr>
        <p:grpSpPr>
          <a:xfrm>
            <a:off x="4599432" y="5148671"/>
            <a:ext cx="3246120" cy="0"/>
            <a:chOff x="4599432" y="5422991"/>
            <a:chExt cx="3246120" cy="0"/>
          </a:xfrm>
        </p:grpSpPr>
        <p:cxnSp>
          <p:nvCxnSpPr>
            <p:cNvPr id="21" name="直線接點 20">
              <a:extLst>
                <a:ext uri="{FF2B5EF4-FFF2-40B4-BE49-F238E27FC236}">
                  <a16:creationId xmlns:a16="http://schemas.microsoft.com/office/drawing/2014/main" id="{1D5F10EA-582E-EB8F-8E96-E5533AB6940D}"/>
                </a:ext>
              </a:extLst>
            </p:cNvPr>
            <p:cNvCxnSpPr>
              <a:cxnSpLocks/>
            </p:cNvCxnSpPr>
            <p:nvPr/>
          </p:nvCxnSpPr>
          <p:spPr>
            <a:xfrm>
              <a:off x="4599432" y="5422991"/>
              <a:ext cx="588082"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id="{B8F18EB0-A2FD-C4E3-0297-CD579B9DFB56}"/>
                </a:ext>
              </a:extLst>
            </p:cNvPr>
            <p:cNvCxnSpPr>
              <a:cxnSpLocks/>
            </p:cNvCxnSpPr>
            <p:nvPr/>
          </p:nvCxnSpPr>
          <p:spPr>
            <a:xfrm>
              <a:off x="6891528" y="5422991"/>
              <a:ext cx="95402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8" name="群組 27">
            <a:extLst>
              <a:ext uri="{FF2B5EF4-FFF2-40B4-BE49-F238E27FC236}">
                <a16:creationId xmlns:a16="http://schemas.microsoft.com/office/drawing/2014/main" id="{5E2CE85D-6E48-844D-B17C-A6C426F170A8}"/>
              </a:ext>
            </a:extLst>
          </p:cNvPr>
          <p:cNvGrpSpPr/>
          <p:nvPr/>
        </p:nvGrpSpPr>
        <p:grpSpPr>
          <a:xfrm>
            <a:off x="5650992" y="5887152"/>
            <a:ext cx="5920522" cy="534233"/>
            <a:chOff x="5650992" y="6097464"/>
            <a:chExt cx="5920522" cy="534233"/>
          </a:xfrm>
        </p:grpSpPr>
        <p:cxnSp>
          <p:nvCxnSpPr>
            <p:cNvPr id="24" name="直線接點 23">
              <a:extLst>
                <a:ext uri="{FF2B5EF4-FFF2-40B4-BE49-F238E27FC236}">
                  <a16:creationId xmlns:a16="http://schemas.microsoft.com/office/drawing/2014/main" id="{6679FADD-232D-88C2-2A35-32690BB04EE0}"/>
                </a:ext>
              </a:extLst>
            </p:cNvPr>
            <p:cNvCxnSpPr>
              <a:cxnSpLocks/>
            </p:cNvCxnSpPr>
            <p:nvPr/>
          </p:nvCxnSpPr>
          <p:spPr>
            <a:xfrm>
              <a:off x="7293864" y="6097464"/>
              <a:ext cx="588082"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CD8B8955-2C0D-B42F-E3A7-C2CDDBD58BF5}"/>
                </a:ext>
              </a:extLst>
            </p:cNvPr>
            <p:cNvCxnSpPr>
              <a:cxnSpLocks/>
            </p:cNvCxnSpPr>
            <p:nvPr/>
          </p:nvCxnSpPr>
          <p:spPr>
            <a:xfrm>
              <a:off x="9055608" y="6097464"/>
              <a:ext cx="135026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7" name="文字方塊 26">
              <a:extLst>
                <a:ext uri="{FF2B5EF4-FFF2-40B4-BE49-F238E27FC236}">
                  <a16:creationId xmlns:a16="http://schemas.microsoft.com/office/drawing/2014/main" id="{53E8BFAF-7818-9753-8638-2F31C19B3BD0}"/>
                </a:ext>
              </a:extLst>
            </p:cNvPr>
            <p:cNvSpPr txBox="1"/>
            <p:nvPr/>
          </p:nvSpPr>
          <p:spPr>
            <a:xfrm>
              <a:off x="5650992" y="6262365"/>
              <a:ext cx="5920522" cy="369332"/>
            </a:xfrm>
            <a:prstGeom prst="rect">
              <a:avLst/>
            </a:prstGeom>
            <a:noFill/>
          </p:spPr>
          <p:txBody>
            <a:bodyPr wrap="square" rtlCol="0">
              <a:spAutoFit/>
            </a:bodyPr>
            <a:lstStyle/>
            <a:p>
              <a:r>
                <a:rPr kumimoji="1" lang="zh-TW" altLang="en-US" dirty="0"/>
                <a:t>💡讓模型在計算 </a:t>
              </a:r>
              <a:r>
                <a:rPr kumimoji="1" lang="en-US" altLang="zh-TW" dirty="0"/>
                <a:t>attention</a:t>
              </a:r>
              <a:r>
                <a:rPr kumimoji="1" lang="zh-TW" altLang="en-US" dirty="0"/>
                <a:t> 時能留意相對位置 </a:t>
              </a:r>
              <a:r>
                <a:rPr kumimoji="1" lang="en-US" altLang="zh-TW" dirty="0"/>
                <a:t>(</a:t>
              </a:r>
              <a:r>
                <a:rPr kumimoji="1" lang="zh-TW" altLang="en-US" dirty="0"/>
                <a:t>角度</a:t>
              </a:r>
              <a:r>
                <a:rPr kumimoji="1" lang="en-US" altLang="zh-TW" dirty="0"/>
                <a:t>) </a:t>
              </a:r>
              <a:r>
                <a:rPr kumimoji="1" lang="zh-TW" altLang="en-US" dirty="0"/>
                <a:t>關係</a:t>
              </a:r>
            </a:p>
          </p:txBody>
        </p:sp>
      </p:grpSp>
    </p:spTree>
    <p:extLst>
      <p:ext uri="{BB962C8B-B14F-4D97-AF65-F5344CB8AC3E}">
        <p14:creationId xmlns:p14="http://schemas.microsoft.com/office/powerpoint/2010/main" val="1846948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p:bldP spid="14" grpId="0"/>
      <p:bldP spid="16" grpId="0"/>
      <p:bldP spid="1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A96EC5-5532-DA44-297E-A58EA4C98B04}"/>
              </a:ext>
            </a:extLst>
          </p:cNvPr>
          <p:cNvSpPr>
            <a:spLocks noGrp="1"/>
          </p:cNvSpPr>
          <p:nvPr>
            <p:ph type="title"/>
          </p:nvPr>
        </p:nvSpPr>
        <p:spPr/>
        <p:txBody>
          <a:bodyPr>
            <a:normAutofit/>
          </a:bodyPr>
          <a:lstStyle/>
          <a:p>
            <a:r>
              <a:rPr kumimoji="1" lang="en-US" altLang="zh-TW" dirty="0">
                <a:cs typeface="Calibri" panose="020F0502020204030204" pitchFamily="34" charset="0"/>
              </a:rPr>
              <a:t>Encoder-Decoder</a:t>
            </a:r>
            <a:r>
              <a:rPr kumimoji="1" lang="zh-TW" altLang="en-US" dirty="0">
                <a:cs typeface="Calibri" panose="020F0502020204030204" pitchFamily="34" charset="0"/>
              </a:rPr>
              <a:t> 橋樑</a:t>
            </a:r>
            <a:r>
              <a:rPr kumimoji="1" lang="en-US" altLang="zh-TW" dirty="0">
                <a:cs typeface="Calibri" panose="020F0502020204030204" pitchFamily="34" charset="0"/>
              </a:rPr>
              <a:t>: Cross-Attention</a:t>
            </a:r>
            <a:endParaRPr kumimoji="1" lang="zh-TW" altLang="en-US" dirty="0"/>
          </a:p>
        </p:txBody>
      </p:sp>
      <p:sp>
        <p:nvSpPr>
          <p:cNvPr id="4" name="投影片編號版面配置區 3">
            <a:extLst>
              <a:ext uri="{FF2B5EF4-FFF2-40B4-BE49-F238E27FC236}">
                <a16:creationId xmlns:a16="http://schemas.microsoft.com/office/drawing/2014/main" id="{EE2E3F19-3AC3-4AA8-44E2-6FFF5DD32493}"/>
              </a:ext>
            </a:extLst>
          </p:cNvPr>
          <p:cNvSpPr>
            <a:spLocks noGrp="1"/>
          </p:cNvSpPr>
          <p:nvPr>
            <p:ph type="sldNum" sz="quarter" idx="12"/>
          </p:nvPr>
        </p:nvSpPr>
        <p:spPr/>
        <p:txBody>
          <a:bodyPr/>
          <a:lstStyle/>
          <a:p>
            <a:fld id="{6113E31D-E2AB-40D1-8B51-AFA5AFEF393A}" type="slidenum">
              <a:rPr lang="en-US" smtClean="0"/>
              <a:t>12</a:t>
            </a:fld>
            <a:endParaRPr lang="en-US"/>
          </a:p>
        </p:txBody>
      </p:sp>
      <p:sp>
        <p:nvSpPr>
          <p:cNvPr id="5" name="文字方塊 4">
            <a:extLst>
              <a:ext uri="{FF2B5EF4-FFF2-40B4-BE49-F238E27FC236}">
                <a16:creationId xmlns:a16="http://schemas.microsoft.com/office/drawing/2014/main" id="{5868F626-3EFA-CCD9-2F9E-28233A46C231}"/>
              </a:ext>
            </a:extLst>
          </p:cNvPr>
          <p:cNvSpPr txBox="1"/>
          <p:nvPr/>
        </p:nvSpPr>
        <p:spPr>
          <a:xfrm>
            <a:off x="2520778" y="3797346"/>
            <a:ext cx="6098058" cy="974626"/>
          </a:xfrm>
          <a:prstGeom prst="rect">
            <a:avLst/>
          </a:prstGeom>
          <a:noFill/>
        </p:spPr>
        <p:txBody>
          <a:bodyPr wrap="square">
            <a:spAutoFit/>
          </a:bodyPr>
          <a:lstStyle/>
          <a:p>
            <a:pPr marL="0" indent="0">
              <a:spcBef>
                <a:spcPts val="200"/>
              </a:spcBef>
              <a:buNone/>
            </a:pPr>
            <a:r>
              <a:rPr kumimoji="1" lang="en-US" altLang="zh-TW" dirty="0">
                <a:latin typeface="Calibri" panose="020F0502020204030204" pitchFamily="34" charset="0"/>
                <a:cs typeface="Calibri" panose="020F0502020204030204" pitchFamily="34" charset="0"/>
              </a:rPr>
              <a:t>K, V uses the output from encoder as their X; </a:t>
            </a:r>
          </a:p>
          <a:p>
            <a:pPr marL="0" indent="0">
              <a:spcBef>
                <a:spcPts val="200"/>
              </a:spcBef>
              <a:buNone/>
            </a:pPr>
            <a:r>
              <a:rPr kumimoji="1" lang="en-US" altLang="zh-TW" dirty="0">
                <a:latin typeface="Calibri" panose="020F0502020204030204" pitchFamily="34" charset="0"/>
                <a:cs typeface="Calibri" panose="020F0502020204030204" pitchFamily="34" charset="0"/>
              </a:rPr>
              <a:t>Q uses the decoder’s information as X. </a:t>
            </a:r>
          </a:p>
          <a:p>
            <a:pPr marL="0" indent="0">
              <a:spcBef>
                <a:spcPts val="200"/>
              </a:spcBef>
              <a:buNone/>
            </a:pPr>
            <a:r>
              <a:rPr kumimoji="1" lang="en-US" altLang="zh-TW" dirty="0">
                <a:latin typeface="Calibri" panose="020F0502020204030204" pitchFamily="34" charset="0"/>
                <a:cs typeface="Calibri" panose="020F0502020204030204" pitchFamily="34" charset="0"/>
              </a:rPr>
              <a:t>This is </a:t>
            </a:r>
            <a:endParaRPr kumimoji="1" lang="zh-TW" altLang="en-US" dirty="0">
              <a:latin typeface="Calibri" panose="020F0502020204030204" pitchFamily="34" charset="0"/>
              <a:cs typeface="Calibri" panose="020F0502020204030204" pitchFamily="34" charset="0"/>
            </a:endParaRPr>
          </a:p>
        </p:txBody>
      </p:sp>
      <p:pic>
        <p:nvPicPr>
          <p:cNvPr id="3076" name="Picture 4">
            <a:extLst>
              <a:ext uri="{FF2B5EF4-FFF2-40B4-BE49-F238E27FC236}">
                <a16:creationId xmlns:a16="http://schemas.microsoft.com/office/drawing/2014/main" id="{BE7C3D80-D57C-1557-2C48-EE4EE6EDA0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0778" y="1011981"/>
            <a:ext cx="8810326" cy="7909520"/>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a:extLst>
              <a:ext uri="{FF2B5EF4-FFF2-40B4-BE49-F238E27FC236}">
                <a16:creationId xmlns:a16="http://schemas.microsoft.com/office/drawing/2014/main" id="{AC7C21DC-31DB-E831-86F3-CD4FF1E94951}"/>
              </a:ext>
            </a:extLst>
          </p:cNvPr>
          <p:cNvSpPr/>
          <p:nvPr/>
        </p:nvSpPr>
        <p:spPr>
          <a:xfrm>
            <a:off x="2520778" y="4500563"/>
            <a:ext cx="951085" cy="27140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TW" altLang="en-US"/>
          </a:p>
        </p:txBody>
      </p:sp>
      <p:pic>
        <p:nvPicPr>
          <p:cNvPr id="6" name="圖片 5">
            <a:extLst>
              <a:ext uri="{FF2B5EF4-FFF2-40B4-BE49-F238E27FC236}">
                <a16:creationId xmlns:a16="http://schemas.microsoft.com/office/drawing/2014/main" id="{6125DD7B-D812-7B41-1ED3-2B76B17E4085}"/>
              </a:ext>
            </a:extLst>
          </p:cNvPr>
          <p:cNvPicPr>
            <a:picLocks noChangeAspect="1"/>
          </p:cNvPicPr>
          <p:nvPr/>
        </p:nvPicPr>
        <p:blipFill>
          <a:blip r:embed="rId4"/>
          <a:stretch>
            <a:fillRect/>
          </a:stretch>
        </p:blipFill>
        <p:spPr>
          <a:xfrm>
            <a:off x="2698155" y="5872381"/>
            <a:ext cx="2972804" cy="543179"/>
          </a:xfrm>
          <a:prstGeom prst="rect">
            <a:avLst/>
          </a:prstGeom>
        </p:spPr>
      </p:pic>
    </p:spTree>
    <p:extLst>
      <p:ext uri="{BB962C8B-B14F-4D97-AF65-F5344CB8AC3E}">
        <p14:creationId xmlns:p14="http://schemas.microsoft.com/office/powerpoint/2010/main" val="2934886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E6448A1-8B39-1A28-B6AC-06E8DB0CBE24}"/>
              </a:ext>
            </a:extLst>
          </p:cNvPr>
          <p:cNvSpPr/>
          <p:nvPr/>
        </p:nvSpPr>
        <p:spPr>
          <a:xfrm>
            <a:off x="1231641" y="1810139"/>
            <a:ext cx="6792686" cy="4898571"/>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2" name="標題 1">
            <a:extLst>
              <a:ext uri="{FF2B5EF4-FFF2-40B4-BE49-F238E27FC236}">
                <a16:creationId xmlns:a16="http://schemas.microsoft.com/office/drawing/2014/main" id="{B4C7C744-4D6E-A486-0C23-1201579C9FD6}"/>
              </a:ext>
            </a:extLst>
          </p:cNvPr>
          <p:cNvSpPr>
            <a:spLocks noGrp="1"/>
          </p:cNvSpPr>
          <p:nvPr>
            <p:ph type="title"/>
          </p:nvPr>
        </p:nvSpPr>
        <p:spPr/>
        <p:txBody>
          <a:bodyPr>
            <a:normAutofit/>
          </a:bodyPr>
          <a:lstStyle/>
          <a:p>
            <a:r>
              <a:rPr kumimoji="1" lang="en-US" altLang="zh-TW" dirty="0"/>
              <a:t>Cross-attention</a:t>
            </a:r>
            <a:endParaRPr kumimoji="1" lang="zh-TW" altLang="en-US" dirty="0"/>
          </a:p>
        </p:txBody>
      </p:sp>
      <p:sp>
        <p:nvSpPr>
          <p:cNvPr id="4" name="投影片編號版面配置區 3">
            <a:extLst>
              <a:ext uri="{FF2B5EF4-FFF2-40B4-BE49-F238E27FC236}">
                <a16:creationId xmlns:a16="http://schemas.microsoft.com/office/drawing/2014/main" id="{4A9207B4-7A63-4047-96AA-B65EEDFAAA72}"/>
              </a:ext>
            </a:extLst>
          </p:cNvPr>
          <p:cNvSpPr>
            <a:spLocks noGrp="1"/>
          </p:cNvSpPr>
          <p:nvPr>
            <p:ph type="sldNum" sz="quarter" idx="12"/>
          </p:nvPr>
        </p:nvSpPr>
        <p:spPr/>
        <p:txBody>
          <a:bodyPr/>
          <a:lstStyle/>
          <a:p>
            <a:fld id="{6113E31D-E2AB-40D1-8B51-AFA5AFEF393A}" type="slidenum">
              <a:rPr lang="en-US" smtClean="0"/>
              <a:pPr/>
              <a:t>13</a:t>
            </a:fld>
            <a:endParaRPr lang="en-US" dirty="0"/>
          </a:p>
        </p:txBody>
      </p:sp>
      <p:sp>
        <p:nvSpPr>
          <p:cNvPr id="16" name="圓角矩形 15">
            <a:extLst>
              <a:ext uri="{FF2B5EF4-FFF2-40B4-BE49-F238E27FC236}">
                <a16:creationId xmlns:a16="http://schemas.microsoft.com/office/drawing/2014/main" id="{71E07550-B1F4-F3A3-60C6-02A78EE367C2}"/>
              </a:ext>
            </a:extLst>
          </p:cNvPr>
          <p:cNvSpPr/>
          <p:nvPr/>
        </p:nvSpPr>
        <p:spPr>
          <a:xfrm>
            <a:off x="1732106" y="6103487"/>
            <a:ext cx="518588" cy="400110"/>
          </a:xfrm>
          <a:prstGeom prst="round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kumimoji="1" lang="en-US" altLang="zh-TW" sz="2000" dirty="0">
                <a:solidFill>
                  <a:schemeClr val="tx1"/>
                </a:solidFill>
              </a:rPr>
              <a:t>e</a:t>
            </a:r>
            <a:r>
              <a:rPr kumimoji="1" lang="en-US" altLang="zh-TW" sz="2000" baseline="-25000" dirty="0">
                <a:solidFill>
                  <a:schemeClr val="tx1"/>
                </a:solidFill>
              </a:rPr>
              <a:t>1</a:t>
            </a:r>
            <a:endParaRPr kumimoji="1" lang="zh-TW" altLang="en-US" sz="2000" baseline="-25000" dirty="0">
              <a:solidFill>
                <a:schemeClr val="tx1"/>
              </a:solidFill>
            </a:endParaRPr>
          </a:p>
        </p:txBody>
      </p:sp>
      <p:sp>
        <p:nvSpPr>
          <p:cNvPr id="18" name="圓角矩形 17">
            <a:extLst>
              <a:ext uri="{FF2B5EF4-FFF2-40B4-BE49-F238E27FC236}">
                <a16:creationId xmlns:a16="http://schemas.microsoft.com/office/drawing/2014/main" id="{6FADA9CA-5DE9-26C4-D855-0AED0A46A53A}"/>
              </a:ext>
            </a:extLst>
          </p:cNvPr>
          <p:cNvSpPr/>
          <p:nvPr/>
        </p:nvSpPr>
        <p:spPr>
          <a:xfrm>
            <a:off x="1724700" y="4541495"/>
            <a:ext cx="533400" cy="561975"/>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kumimoji="1" lang="en-US" altLang="zh-TW" sz="2000" dirty="0"/>
              <a:t>k</a:t>
            </a:r>
            <a:r>
              <a:rPr kumimoji="1" lang="en-US" altLang="zh-TW" sz="2000" baseline="-25000" dirty="0"/>
              <a:t>1</a:t>
            </a:r>
            <a:endParaRPr kumimoji="1" lang="zh-TW" altLang="en-US" sz="2000" baseline="-25000" dirty="0"/>
          </a:p>
        </p:txBody>
      </p:sp>
      <p:sp>
        <p:nvSpPr>
          <p:cNvPr id="19" name="圓角矩形 18">
            <a:extLst>
              <a:ext uri="{FF2B5EF4-FFF2-40B4-BE49-F238E27FC236}">
                <a16:creationId xmlns:a16="http://schemas.microsoft.com/office/drawing/2014/main" id="{B9D2B63A-3EA1-04FE-E87D-84D6E4169992}"/>
              </a:ext>
            </a:extLst>
          </p:cNvPr>
          <p:cNvSpPr/>
          <p:nvPr/>
        </p:nvSpPr>
        <p:spPr>
          <a:xfrm>
            <a:off x="2396514" y="4541494"/>
            <a:ext cx="533400" cy="56197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kumimoji="1" lang="en-US" altLang="zh-TW" sz="2000" dirty="0"/>
              <a:t>v</a:t>
            </a:r>
            <a:r>
              <a:rPr kumimoji="1" lang="en-US" altLang="zh-TW" sz="2000" baseline="-25000" dirty="0"/>
              <a:t>1</a:t>
            </a:r>
            <a:endParaRPr kumimoji="1" lang="zh-TW" altLang="en-US" sz="2000" baseline="-25000" dirty="0"/>
          </a:p>
        </p:txBody>
      </p:sp>
      <p:sp>
        <p:nvSpPr>
          <p:cNvPr id="21" name="圓角矩形 20">
            <a:extLst>
              <a:ext uri="{FF2B5EF4-FFF2-40B4-BE49-F238E27FC236}">
                <a16:creationId xmlns:a16="http://schemas.microsoft.com/office/drawing/2014/main" id="{2B6A4EB6-343C-670B-45B7-C93A6F414213}"/>
              </a:ext>
            </a:extLst>
          </p:cNvPr>
          <p:cNvSpPr/>
          <p:nvPr/>
        </p:nvSpPr>
        <p:spPr>
          <a:xfrm>
            <a:off x="4061235" y="4541495"/>
            <a:ext cx="533400" cy="561975"/>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kumimoji="1" lang="en-US" altLang="zh-TW" sz="2000" dirty="0"/>
              <a:t>k</a:t>
            </a:r>
            <a:r>
              <a:rPr kumimoji="1" lang="en-US" altLang="zh-TW" sz="2000" baseline="-25000" dirty="0"/>
              <a:t>2</a:t>
            </a:r>
            <a:endParaRPr kumimoji="1" lang="zh-TW" altLang="en-US" sz="2000" baseline="-25000" dirty="0"/>
          </a:p>
        </p:txBody>
      </p:sp>
      <p:sp>
        <p:nvSpPr>
          <p:cNvPr id="22" name="圓角矩形 21">
            <a:extLst>
              <a:ext uri="{FF2B5EF4-FFF2-40B4-BE49-F238E27FC236}">
                <a16:creationId xmlns:a16="http://schemas.microsoft.com/office/drawing/2014/main" id="{5EA15339-C78F-8309-2C6C-75B90A6E8C32}"/>
              </a:ext>
            </a:extLst>
          </p:cNvPr>
          <p:cNvSpPr/>
          <p:nvPr/>
        </p:nvSpPr>
        <p:spPr>
          <a:xfrm>
            <a:off x="4733049" y="4541494"/>
            <a:ext cx="533400" cy="56197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kumimoji="1" lang="en-US" altLang="zh-TW" sz="2000" dirty="0"/>
              <a:t>v</a:t>
            </a:r>
            <a:r>
              <a:rPr kumimoji="1" lang="en-US" altLang="zh-TW" sz="2000" baseline="-25000" dirty="0"/>
              <a:t>2</a:t>
            </a:r>
            <a:endParaRPr kumimoji="1" lang="zh-TW" altLang="en-US" sz="2000" baseline="-25000" dirty="0"/>
          </a:p>
        </p:txBody>
      </p:sp>
      <p:sp>
        <p:nvSpPr>
          <p:cNvPr id="24" name="圓角矩形 23">
            <a:extLst>
              <a:ext uri="{FF2B5EF4-FFF2-40B4-BE49-F238E27FC236}">
                <a16:creationId xmlns:a16="http://schemas.microsoft.com/office/drawing/2014/main" id="{61B502CB-659A-2795-155B-F2F23C5E4500}"/>
              </a:ext>
            </a:extLst>
          </p:cNvPr>
          <p:cNvSpPr/>
          <p:nvPr/>
        </p:nvSpPr>
        <p:spPr>
          <a:xfrm>
            <a:off x="6537735" y="4541494"/>
            <a:ext cx="533400" cy="561975"/>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kumimoji="1" lang="en-US" altLang="zh-TW" sz="2000" dirty="0"/>
              <a:t>k</a:t>
            </a:r>
            <a:r>
              <a:rPr kumimoji="1" lang="en-US" altLang="zh-TW" sz="2000" baseline="-25000" dirty="0"/>
              <a:t>3</a:t>
            </a:r>
            <a:endParaRPr kumimoji="1" lang="zh-TW" altLang="en-US" sz="2000" baseline="-25000" dirty="0"/>
          </a:p>
        </p:txBody>
      </p:sp>
      <p:sp>
        <p:nvSpPr>
          <p:cNvPr id="25" name="圓角矩形 24">
            <a:extLst>
              <a:ext uri="{FF2B5EF4-FFF2-40B4-BE49-F238E27FC236}">
                <a16:creationId xmlns:a16="http://schemas.microsoft.com/office/drawing/2014/main" id="{15DB972C-5D18-3A55-15DE-D2C1647AF5D6}"/>
              </a:ext>
            </a:extLst>
          </p:cNvPr>
          <p:cNvSpPr/>
          <p:nvPr/>
        </p:nvSpPr>
        <p:spPr>
          <a:xfrm>
            <a:off x="7209549" y="4541493"/>
            <a:ext cx="533400" cy="561975"/>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kumimoji="1" lang="en-US" altLang="zh-TW" sz="2000" dirty="0"/>
              <a:t>v</a:t>
            </a:r>
            <a:r>
              <a:rPr kumimoji="1" lang="en-US" altLang="zh-TW" sz="2000" baseline="-25000" dirty="0"/>
              <a:t>3</a:t>
            </a:r>
            <a:endParaRPr kumimoji="1" lang="zh-TW" altLang="en-US" sz="2000" baseline="-25000" dirty="0"/>
          </a:p>
        </p:txBody>
      </p:sp>
      <p:sp>
        <p:nvSpPr>
          <p:cNvPr id="26" name="圓角矩形 25">
            <a:extLst>
              <a:ext uri="{FF2B5EF4-FFF2-40B4-BE49-F238E27FC236}">
                <a16:creationId xmlns:a16="http://schemas.microsoft.com/office/drawing/2014/main" id="{D4D9EDEF-A9EE-002E-CA82-EF618B88EF7D}"/>
              </a:ext>
            </a:extLst>
          </p:cNvPr>
          <p:cNvSpPr/>
          <p:nvPr/>
        </p:nvSpPr>
        <p:spPr>
          <a:xfrm>
            <a:off x="9233080" y="4545350"/>
            <a:ext cx="533400" cy="5619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000"/>
              <a:t>q</a:t>
            </a:r>
            <a:r>
              <a:rPr kumimoji="1" lang="en-US" altLang="zh-TW" sz="2000" baseline="-25000"/>
              <a:t>1</a:t>
            </a:r>
            <a:endParaRPr kumimoji="1" lang="zh-TW" altLang="en-US" sz="2000" baseline="-25000" dirty="0"/>
          </a:p>
        </p:txBody>
      </p:sp>
      <p:sp>
        <p:nvSpPr>
          <p:cNvPr id="30" name="文字方塊 29">
            <a:extLst>
              <a:ext uri="{FF2B5EF4-FFF2-40B4-BE49-F238E27FC236}">
                <a16:creationId xmlns:a16="http://schemas.microsoft.com/office/drawing/2014/main" id="{1F84A656-CA83-526C-B6FE-D93DD219E455}"/>
              </a:ext>
            </a:extLst>
          </p:cNvPr>
          <p:cNvSpPr txBox="1"/>
          <p:nvPr/>
        </p:nvSpPr>
        <p:spPr>
          <a:xfrm>
            <a:off x="8597358" y="5652179"/>
            <a:ext cx="965858" cy="646331"/>
          </a:xfrm>
          <a:prstGeom prst="rect">
            <a:avLst/>
          </a:prstGeom>
          <a:noFill/>
        </p:spPr>
        <p:txBody>
          <a:bodyPr wrap="square" rtlCol="0">
            <a:spAutoFit/>
          </a:bodyPr>
          <a:lstStyle/>
          <a:p>
            <a:pPr algn="ctr"/>
            <a:r>
              <a:rPr kumimoji="1" lang="en-US" altLang="zh-TW" sz="3600" dirty="0"/>
              <a:t>🎯</a:t>
            </a:r>
            <a:endParaRPr kumimoji="1" lang="zh-TW" altLang="en-US" sz="3600" dirty="0"/>
          </a:p>
        </p:txBody>
      </p:sp>
      <p:sp>
        <p:nvSpPr>
          <p:cNvPr id="33" name="矩形 32">
            <a:extLst>
              <a:ext uri="{FF2B5EF4-FFF2-40B4-BE49-F238E27FC236}">
                <a16:creationId xmlns:a16="http://schemas.microsoft.com/office/drawing/2014/main" id="{06DE0177-E8AE-105A-E9F0-EE21F0096888}"/>
              </a:ext>
            </a:extLst>
          </p:cNvPr>
          <p:cNvSpPr/>
          <p:nvPr/>
        </p:nvSpPr>
        <p:spPr>
          <a:xfrm>
            <a:off x="4024790" y="4317655"/>
            <a:ext cx="614061" cy="10096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4" name="矩形 33">
            <a:extLst>
              <a:ext uri="{FF2B5EF4-FFF2-40B4-BE49-F238E27FC236}">
                <a16:creationId xmlns:a16="http://schemas.microsoft.com/office/drawing/2014/main" id="{89FC1B44-5C41-9BD9-4299-AE348F3DB43A}"/>
              </a:ext>
            </a:extLst>
          </p:cNvPr>
          <p:cNvSpPr/>
          <p:nvPr/>
        </p:nvSpPr>
        <p:spPr>
          <a:xfrm>
            <a:off x="6493519" y="4317655"/>
            <a:ext cx="614061" cy="10096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5" name="矩形 34">
            <a:extLst>
              <a:ext uri="{FF2B5EF4-FFF2-40B4-BE49-F238E27FC236}">
                <a16:creationId xmlns:a16="http://schemas.microsoft.com/office/drawing/2014/main" id="{DAC756C1-DBDE-0F5B-FEBE-415CABCF9BBC}"/>
              </a:ext>
            </a:extLst>
          </p:cNvPr>
          <p:cNvSpPr/>
          <p:nvPr/>
        </p:nvSpPr>
        <p:spPr>
          <a:xfrm>
            <a:off x="9192740" y="4317655"/>
            <a:ext cx="614061" cy="10096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6" name="圓角矩形 35">
            <a:extLst>
              <a:ext uri="{FF2B5EF4-FFF2-40B4-BE49-F238E27FC236}">
                <a16:creationId xmlns:a16="http://schemas.microsoft.com/office/drawing/2014/main" id="{A42083A9-2C49-EA47-ADF8-6E81062DC093}"/>
              </a:ext>
            </a:extLst>
          </p:cNvPr>
          <p:cNvSpPr/>
          <p:nvPr/>
        </p:nvSpPr>
        <p:spPr>
          <a:xfrm>
            <a:off x="1703420" y="3105150"/>
            <a:ext cx="533400" cy="56197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TW" sz="2000" dirty="0"/>
              <a:t>a'</a:t>
            </a:r>
            <a:r>
              <a:rPr kumimoji="1" lang="en-US" altLang="zh-TW" sz="2000" baseline="-25000" dirty="0"/>
              <a:t>1</a:t>
            </a:r>
            <a:endParaRPr kumimoji="1" lang="zh-TW" altLang="en-US" sz="2000" baseline="-25000" dirty="0"/>
          </a:p>
        </p:txBody>
      </p:sp>
      <p:sp>
        <p:nvSpPr>
          <p:cNvPr id="37" name="矩形 36">
            <a:extLst>
              <a:ext uri="{FF2B5EF4-FFF2-40B4-BE49-F238E27FC236}">
                <a16:creationId xmlns:a16="http://schemas.microsoft.com/office/drawing/2014/main" id="{B5DE2814-C819-FE76-F772-36199E14317A}"/>
              </a:ext>
            </a:extLst>
          </p:cNvPr>
          <p:cNvSpPr/>
          <p:nvPr/>
        </p:nvSpPr>
        <p:spPr>
          <a:xfrm>
            <a:off x="1678924" y="4317655"/>
            <a:ext cx="614061" cy="10096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9" name="圓角矩形 38">
            <a:extLst>
              <a:ext uri="{FF2B5EF4-FFF2-40B4-BE49-F238E27FC236}">
                <a16:creationId xmlns:a16="http://schemas.microsoft.com/office/drawing/2014/main" id="{71EE1F06-3802-D9A6-95FE-7BCCFFB10230}"/>
              </a:ext>
            </a:extLst>
          </p:cNvPr>
          <p:cNvSpPr/>
          <p:nvPr/>
        </p:nvSpPr>
        <p:spPr>
          <a:xfrm>
            <a:off x="4039955" y="3105149"/>
            <a:ext cx="533400" cy="56197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TW" sz="2000" dirty="0"/>
              <a:t>a'</a:t>
            </a:r>
            <a:r>
              <a:rPr kumimoji="1" lang="en-US" altLang="zh-TW" sz="2000" baseline="-25000" dirty="0"/>
              <a:t>2</a:t>
            </a:r>
            <a:endParaRPr kumimoji="1" lang="zh-TW" altLang="en-US" sz="2000" baseline="-25000" dirty="0"/>
          </a:p>
        </p:txBody>
      </p:sp>
      <p:sp>
        <p:nvSpPr>
          <p:cNvPr id="40" name="圓角矩形 39">
            <a:extLst>
              <a:ext uri="{FF2B5EF4-FFF2-40B4-BE49-F238E27FC236}">
                <a16:creationId xmlns:a16="http://schemas.microsoft.com/office/drawing/2014/main" id="{4231810D-4672-CF67-DCEA-01729C32AC98}"/>
              </a:ext>
            </a:extLst>
          </p:cNvPr>
          <p:cNvSpPr/>
          <p:nvPr/>
        </p:nvSpPr>
        <p:spPr>
          <a:xfrm>
            <a:off x="6512569" y="3105149"/>
            <a:ext cx="533400" cy="56197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zh-TW" sz="2000" dirty="0"/>
              <a:t>a'</a:t>
            </a:r>
            <a:r>
              <a:rPr kumimoji="1" lang="en-US" altLang="zh-TW" sz="2000" baseline="-25000" dirty="0"/>
              <a:t>3</a:t>
            </a:r>
            <a:endParaRPr kumimoji="1" lang="zh-TW" altLang="en-US" sz="2000" baseline="-25000" dirty="0"/>
          </a:p>
        </p:txBody>
      </p:sp>
      <p:sp>
        <p:nvSpPr>
          <p:cNvPr id="44" name="文字方塊 43">
            <a:extLst>
              <a:ext uri="{FF2B5EF4-FFF2-40B4-BE49-F238E27FC236}">
                <a16:creationId xmlns:a16="http://schemas.microsoft.com/office/drawing/2014/main" id="{6A5A6D88-705C-DD66-EDD4-04A912D645B2}"/>
              </a:ext>
            </a:extLst>
          </p:cNvPr>
          <p:cNvSpPr txBox="1"/>
          <p:nvPr/>
        </p:nvSpPr>
        <p:spPr>
          <a:xfrm>
            <a:off x="2307249" y="6132580"/>
            <a:ext cx="242374" cy="369332"/>
          </a:xfrm>
          <a:prstGeom prst="rect">
            <a:avLst/>
          </a:prstGeom>
          <a:noFill/>
        </p:spPr>
        <p:txBody>
          <a:bodyPr wrap="none" rtlCol="0">
            <a:spAutoFit/>
          </a:bodyPr>
          <a:lstStyle/>
          <a:p>
            <a:r>
              <a:rPr kumimoji="1" lang="en-US" altLang="zh-TW" dirty="0"/>
              <a:t>I</a:t>
            </a:r>
            <a:endParaRPr kumimoji="1" lang="zh-TW" altLang="en-US" dirty="0"/>
          </a:p>
        </p:txBody>
      </p:sp>
      <p:sp>
        <p:nvSpPr>
          <p:cNvPr id="45" name="圓角矩形 44">
            <a:extLst>
              <a:ext uri="{FF2B5EF4-FFF2-40B4-BE49-F238E27FC236}">
                <a16:creationId xmlns:a16="http://schemas.microsoft.com/office/drawing/2014/main" id="{33802C79-6812-95D7-38EF-B4431E130C7D}"/>
              </a:ext>
            </a:extLst>
          </p:cNvPr>
          <p:cNvSpPr/>
          <p:nvPr/>
        </p:nvSpPr>
        <p:spPr>
          <a:xfrm>
            <a:off x="4068641" y="6103487"/>
            <a:ext cx="518588" cy="400110"/>
          </a:xfrm>
          <a:prstGeom prst="round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kumimoji="1" lang="en-US" altLang="zh-TW" sz="2000" dirty="0">
                <a:solidFill>
                  <a:schemeClr val="tx1"/>
                </a:solidFill>
              </a:rPr>
              <a:t>e</a:t>
            </a:r>
            <a:r>
              <a:rPr kumimoji="1" lang="en-US" altLang="zh-TW" sz="2000" baseline="-25000" dirty="0">
                <a:solidFill>
                  <a:schemeClr val="tx1"/>
                </a:solidFill>
              </a:rPr>
              <a:t>2</a:t>
            </a:r>
            <a:endParaRPr kumimoji="1" lang="zh-TW" altLang="en-US" sz="2000" baseline="-25000" dirty="0">
              <a:solidFill>
                <a:schemeClr val="tx1"/>
              </a:solidFill>
            </a:endParaRPr>
          </a:p>
        </p:txBody>
      </p:sp>
      <p:sp>
        <p:nvSpPr>
          <p:cNvPr id="46" name="文字方塊 45">
            <a:extLst>
              <a:ext uri="{FF2B5EF4-FFF2-40B4-BE49-F238E27FC236}">
                <a16:creationId xmlns:a16="http://schemas.microsoft.com/office/drawing/2014/main" id="{B20F8536-403E-3A6C-CDE9-9D49C6308AB0}"/>
              </a:ext>
            </a:extLst>
          </p:cNvPr>
          <p:cNvSpPr txBox="1"/>
          <p:nvPr/>
        </p:nvSpPr>
        <p:spPr>
          <a:xfrm>
            <a:off x="4594635" y="6113844"/>
            <a:ext cx="633507" cy="369332"/>
          </a:xfrm>
          <a:prstGeom prst="rect">
            <a:avLst/>
          </a:prstGeom>
          <a:noFill/>
        </p:spPr>
        <p:txBody>
          <a:bodyPr wrap="none" rtlCol="0">
            <a:spAutoFit/>
          </a:bodyPr>
          <a:lstStyle/>
          <a:p>
            <a:r>
              <a:rPr kumimoji="1" lang="en-US" altLang="zh-TW" dirty="0"/>
              <a:t>print</a:t>
            </a:r>
            <a:endParaRPr kumimoji="1" lang="zh-TW" altLang="en-US" dirty="0"/>
          </a:p>
        </p:txBody>
      </p:sp>
      <p:sp>
        <p:nvSpPr>
          <p:cNvPr id="47" name="圓角矩形 46">
            <a:extLst>
              <a:ext uri="{FF2B5EF4-FFF2-40B4-BE49-F238E27FC236}">
                <a16:creationId xmlns:a16="http://schemas.microsoft.com/office/drawing/2014/main" id="{261722A8-17DC-2F5B-0EBE-3023F950D3D6}"/>
              </a:ext>
            </a:extLst>
          </p:cNvPr>
          <p:cNvSpPr/>
          <p:nvPr/>
        </p:nvSpPr>
        <p:spPr>
          <a:xfrm>
            <a:off x="6545141" y="6098455"/>
            <a:ext cx="518588" cy="400110"/>
          </a:xfrm>
          <a:prstGeom prst="round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kumimoji="1" lang="en-US" altLang="zh-TW" sz="2000" dirty="0">
                <a:solidFill>
                  <a:schemeClr val="tx1"/>
                </a:solidFill>
              </a:rPr>
              <a:t>e</a:t>
            </a:r>
            <a:r>
              <a:rPr kumimoji="1" lang="en-US" altLang="zh-TW" sz="2000" baseline="-25000" dirty="0">
                <a:solidFill>
                  <a:schemeClr val="tx1"/>
                </a:solidFill>
              </a:rPr>
              <a:t>3</a:t>
            </a:r>
            <a:endParaRPr kumimoji="1" lang="zh-TW" altLang="en-US" sz="2000" baseline="-25000" dirty="0">
              <a:solidFill>
                <a:schemeClr val="tx1"/>
              </a:solidFill>
            </a:endParaRPr>
          </a:p>
        </p:txBody>
      </p:sp>
      <p:sp>
        <p:nvSpPr>
          <p:cNvPr id="48" name="文字方塊 47">
            <a:extLst>
              <a:ext uri="{FF2B5EF4-FFF2-40B4-BE49-F238E27FC236}">
                <a16:creationId xmlns:a16="http://schemas.microsoft.com/office/drawing/2014/main" id="{7481DC0A-0EBC-D763-FC9D-F88CF071CEA7}"/>
              </a:ext>
            </a:extLst>
          </p:cNvPr>
          <p:cNvSpPr txBox="1"/>
          <p:nvPr/>
        </p:nvSpPr>
        <p:spPr>
          <a:xfrm>
            <a:off x="7107580" y="6113329"/>
            <a:ext cx="671979" cy="369332"/>
          </a:xfrm>
          <a:prstGeom prst="rect">
            <a:avLst/>
          </a:prstGeom>
          <a:noFill/>
        </p:spPr>
        <p:txBody>
          <a:bodyPr wrap="none" rtlCol="0">
            <a:spAutoFit/>
          </a:bodyPr>
          <a:lstStyle/>
          <a:p>
            <a:r>
              <a:rPr kumimoji="1" lang="en-US" altLang="zh-TW" dirty="0"/>
              <a:t>Hello</a:t>
            </a:r>
            <a:endParaRPr kumimoji="1" lang="zh-TW" altLang="en-US" dirty="0"/>
          </a:p>
        </p:txBody>
      </p:sp>
      <p:sp>
        <p:nvSpPr>
          <p:cNvPr id="49" name="圓角矩形 48">
            <a:extLst>
              <a:ext uri="{FF2B5EF4-FFF2-40B4-BE49-F238E27FC236}">
                <a16:creationId xmlns:a16="http://schemas.microsoft.com/office/drawing/2014/main" id="{5E711CF6-4C5A-CF4B-018E-A38D0D359FDE}"/>
              </a:ext>
            </a:extLst>
          </p:cNvPr>
          <p:cNvSpPr/>
          <p:nvPr/>
        </p:nvSpPr>
        <p:spPr>
          <a:xfrm>
            <a:off x="9247892" y="6098455"/>
            <a:ext cx="518588" cy="400110"/>
          </a:xfrm>
          <a:prstGeom prst="round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kumimoji="1" lang="en-US" altLang="zh-TW" sz="2000" dirty="0">
                <a:solidFill>
                  <a:schemeClr val="tx1"/>
                </a:solidFill>
              </a:rPr>
              <a:t>e</a:t>
            </a:r>
            <a:r>
              <a:rPr kumimoji="1" lang="en-US" altLang="zh-TW" sz="2000" baseline="-25000" dirty="0">
                <a:solidFill>
                  <a:schemeClr val="tx1"/>
                </a:solidFill>
              </a:rPr>
              <a:t>1</a:t>
            </a:r>
            <a:endParaRPr kumimoji="1" lang="zh-TW" altLang="en-US" sz="2000" baseline="-25000" dirty="0">
              <a:solidFill>
                <a:schemeClr val="tx1"/>
              </a:solidFill>
            </a:endParaRPr>
          </a:p>
        </p:txBody>
      </p:sp>
      <p:sp>
        <p:nvSpPr>
          <p:cNvPr id="50" name="文字方塊 49">
            <a:extLst>
              <a:ext uri="{FF2B5EF4-FFF2-40B4-BE49-F238E27FC236}">
                <a16:creationId xmlns:a16="http://schemas.microsoft.com/office/drawing/2014/main" id="{BEB40D07-0A3B-583E-AF4D-2AAC53FC4885}"/>
              </a:ext>
            </a:extLst>
          </p:cNvPr>
          <p:cNvSpPr txBox="1"/>
          <p:nvPr/>
        </p:nvSpPr>
        <p:spPr>
          <a:xfrm>
            <a:off x="9806801" y="6120545"/>
            <a:ext cx="671979" cy="369332"/>
          </a:xfrm>
          <a:prstGeom prst="rect">
            <a:avLst/>
          </a:prstGeom>
          <a:noFill/>
        </p:spPr>
        <p:txBody>
          <a:bodyPr wrap="none" rtlCol="0">
            <a:spAutoFit/>
          </a:bodyPr>
          <a:lstStyle/>
          <a:p>
            <a:r>
              <a:rPr kumimoji="1" lang="en-US" altLang="zh-TW" dirty="0"/>
              <a:t>BOS</a:t>
            </a:r>
            <a:endParaRPr kumimoji="1" lang="zh-TW" altLang="en-US" dirty="0"/>
          </a:p>
        </p:txBody>
      </p:sp>
      <p:cxnSp>
        <p:nvCxnSpPr>
          <p:cNvPr id="54" name="肘形接點 53">
            <a:extLst>
              <a:ext uri="{FF2B5EF4-FFF2-40B4-BE49-F238E27FC236}">
                <a16:creationId xmlns:a16="http://schemas.microsoft.com/office/drawing/2014/main" id="{A44E4929-4C03-96E6-BCF3-938ED87DFA21}"/>
              </a:ext>
            </a:extLst>
          </p:cNvPr>
          <p:cNvCxnSpPr>
            <a:stCxn id="36" idx="3"/>
            <a:endCxn id="19" idx="0"/>
          </p:cNvCxnSpPr>
          <p:nvPr/>
        </p:nvCxnSpPr>
        <p:spPr>
          <a:xfrm>
            <a:off x="2236820" y="3386138"/>
            <a:ext cx="426394" cy="1155356"/>
          </a:xfrm>
          <a:prstGeom prst="bentConnector2">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肘形接點 54">
            <a:extLst>
              <a:ext uri="{FF2B5EF4-FFF2-40B4-BE49-F238E27FC236}">
                <a16:creationId xmlns:a16="http://schemas.microsoft.com/office/drawing/2014/main" id="{D2A4A1CE-1C12-0FB2-B308-6F8B08378831}"/>
              </a:ext>
            </a:extLst>
          </p:cNvPr>
          <p:cNvCxnSpPr>
            <a:cxnSpLocks/>
            <a:stCxn id="39" idx="3"/>
            <a:endCxn id="22" idx="0"/>
          </p:cNvCxnSpPr>
          <p:nvPr/>
        </p:nvCxnSpPr>
        <p:spPr>
          <a:xfrm>
            <a:off x="4573355" y="3386137"/>
            <a:ext cx="426394" cy="1155357"/>
          </a:xfrm>
          <a:prstGeom prst="bentConnector2">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8" name="肘形接點 57">
            <a:extLst>
              <a:ext uri="{FF2B5EF4-FFF2-40B4-BE49-F238E27FC236}">
                <a16:creationId xmlns:a16="http://schemas.microsoft.com/office/drawing/2014/main" id="{11D20EF7-F704-C358-059D-057CF8B79830}"/>
              </a:ext>
            </a:extLst>
          </p:cNvPr>
          <p:cNvCxnSpPr>
            <a:cxnSpLocks/>
            <a:stCxn id="40" idx="3"/>
            <a:endCxn id="25" idx="0"/>
          </p:cNvCxnSpPr>
          <p:nvPr/>
        </p:nvCxnSpPr>
        <p:spPr>
          <a:xfrm>
            <a:off x="7045969" y="3386137"/>
            <a:ext cx="430280" cy="1155356"/>
          </a:xfrm>
          <a:prstGeom prst="bentConnector2">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文字方塊 5">
            <a:extLst>
              <a:ext uri="{FF2B5EF4-FFF2-40B4-BE49-F238E27FC236}">
                <a16:creationId xmlns:a16="http://schemas.microsoft.com/office/drawing/2014/main" id="{5907E6D7-06F2-F9E2-2962-8A4B5F94371F}"/>
              </a:ext>
            </a:extLst>
          </p:cNvPr>
          <p:cNvSpPr txBox="1"/>
          <p:nvPr/>
        </p:nvSpPr>
        <p:spPr>
          <a:xfrm>
            <a:off x="3729721" y="1413289"/>
            <a:ext cx="1796525" cy="400110"/>
          </a:xfrm>
          <a:prstGeom prst="rect">
            <a:avLst/>
          </a:prstGeom>
          <a:noFill/>
        </p:spPr>
        <p:txBody>
          <a:bodyPr wrap="square" rtlCol="0">
            <a:spAutoFit/>
          </a:bodyPr>
          <a:lstStyle/>
          <a:p>
            <a:pPr algn="ctr"/>
            <a:r>
              <a:rPr kumimoji="1" lang="en-US" altLang="zh-TW" sz="2000" b="1" dirty="0"/>
              <a:t>Encoder</a:t>
            </a:r>
            <a:endParaRPr kumimoji="1" lang="zh-TW" altLang="en-US" sz="2000" b="1" dirty="0"/>
          </a:p>
        </p:txBody>
      </p:sp>
      <p:sp>
        <p:nvSpPr>
          <p:cNvPr id="7" name="圓角矩形 6">
            <a:extLst>
              <a:ext uri="{FF2B5EF4-FFF2-40B4-BE49-F238E27FC236}">
                <a16:creationId xmlns:a16="http://schemas.microsoft.com/office/drawing/2014/main" id="{D0B05900-430A-61A5-54B3-10167885F80D}"/>
              </a:ext>
            </a:extLst>
          </p:cNvPr>
          <p:cNvSpPr/>
          <p:nvPr/>
        </p:nvSpPr>
        <p:spPr>
          <a:xfrm>
            <a:off x="9233080" y="1983370"/>
            <a:ext cx="533400" cy="561975"/>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kumimoji="1" lang="en-US" altLang="zh-TW" dirty="0"/>
              <a:t>h'</a:t>
            </a:r>
            <a:r>
              <a:rPr kumimoji="1" lang="en-US" altLang="zh-TW" baseline="-25000" dirty="0"/>
              <a:t>1</a:t>
            </a:r>
            <a:endParaRPr kumimoji="1" lang="zh-TW" altLang="en-US" baseline="-25000" dirty="0"/>
          </a:p>
        </p:txBody>
      </p:sp>
      <p:cxnSp>
        <p:nvCxnSpPr>
          <p:cNvPr id="10" name="肘形接點 9">
            <a:extLst>
              <a:ext uri="{FF2B5EF4-FFF2-40B4-BE49-F238E27FC236}">
                <a16:creationId xmlns:a16="http://schemas.microsoft.com/office/drawing/2014/main" id="{BE6C3D03-4055-4556-6F8C-9498C1DA9B0C}"/>
              </a:ext>
            </a:extLst>
          </p:cNvPr>
          <p:cNvCxnSpPr>
            <a:stCxn id="36" idx="0"/>
            <a:endCxn id="39" idx="0"/>
          </p:cNvCxnSpPr>
          <p:nvPr/>
        </p:nvCxnSpPr>
        <p:spPr>
          <a:xfrm rot="5400000" flipH="1" flipV="1">
            <a:off x="3138387" y="1936883"/>
            <a:ext cx="1" cy="2336535"/>
          </a:xfrm>
          <a:prstGeom prst="bentConnector3">
            <a:avLst>
              <a:gd name="adj1" fmla="val 22860100000"/>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肘形接點 10">
            <a:extLst>
              <a:ext uri="{FF2B5EF4-FFF2-40B4-BE49-F238E27FC236}">
                <a16:creationId xmlns:a16="http://schemas.microsoft.com/office/drawing/2014/main" id="{7CE2DE16-F127-88EE-FF5B-3599AC4D7B61}"/>
              </a:ext>
            </a:extLst>
          </p:cNvPr>
          <p:cNvCxnSpPr>
            <a:cxnSpLocks/>
            <a:stCxn id="39" idx="0"/>
            <a:endCxn id="40" idx="0"/>
          </p:cNvCxnSpPr>
          <p:nvPr/>
        </p:nvCxnSpPr>
        <p:spPr>
          <a:xfrm rot="5400000" flipH="1" flipV="1">
            <a:off x="5542962" y="1868842"/>
            <a:ext cx="12700" cy="2472614"/>
          </a:xfrm>
          <a:prstGeom prst="bentConnector3">
            <a:avLst>
              <a:gd name="adj1" fmla="val 1873472"/>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肘形接點 37">
            <a:extLst>
              <a:ext uri="{FF2B5EF4-FFF2-40B4-BE49-F238E27FC236}">
                <a16:creationId xmlns:a16="http://schemas.microsoft.com/office/drawing/2014/main" id="{66EC57B1-65AC-6393-1C96-63746C3C0F66}"/>
              </a:ext>
            </a:extLst>
          </p:cNvPr>
          <p:cNvCxnSpPr>
            <a:cxnSpLocks/>
          </p:cNvCxnSpPr>
          <p:nvPr/>
        </p:nvCxnSpPr>
        <p:spPr>
          <a:xfrm rot="5400000" flipH="1" flipV="1">
            <a:off x="7041576" y="423933"/>
            <a:ext cx="346122" cy="4570285"/>
          </a:xfrm>
          <a:prstGeom prst="bentConnector3">
            <a:avLst>
              <a:gd name="adj1" fmla="val 50000"/>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65" name="文字方塊 64">
            <a:extLst>
              <a:ext uri="{FF2B5EF4-FFF2-40B4-BE49-F238E27FC236}">
                <a16:creationId xmlns:a16="http://schemas.microsoft.com/office/drawing/2014/main" id="{AD1873D6-DB42-69CC-9FB4-00D36A05E0B0}"/>
              </a:ext>
            </a:extLst>
          </p:cNvPr>
          <p:cNvSpPr txBox="1"/>
          <p:nvPr/>
        </p:nvSpPr>
        <p:spPr>
          <a:xfrm>
            <a:off x="6940334" y="2380753"/>
            <a:ext cx="2093338" cy="369332"/>
          </a:xfrm>
          <a:prstGeom prst="rect">
            <a:avLst/>
          </a:prstGeom>
          <a:noFill/>
        </p:spPr>
        <p:txBody>
          <a:bodyPr wrap="square" rtlCol="0">
            <a:spAutoFit/>
          </a:bodyPr>
          <a:lstStyle/>
          <a:p>
            <a:r>
              <a:rPr kumimoji="1" lang="en-US" altLang="zh-TW" dirty="0">
                <a:solidFill>
                  <a:srgbClr val="FF0000"/>
                </a:solidFill>
              </a:rPr>
              <a:t>Weighted sum</a:t>
            </a:r>
            <a:endParaRPr kumimoji="1" lang="zh-TW" altLang="en-US" dirty="0">
              <a:solidFill>
                <a:srgbClr val="FF0000"/>
              </a:solidFill>
            </a:endParaRPr>
          </a:p>
        </p:txBody>
      </p:sp>
    </p:spTree>
    <p:extLst>
      <p:ext uri="{BB962C8B-B14F-4D97-AF65-F5344CB8AC3E}">
        <p14:creationId xmlns:p14="http://schemas.microsoft.com/office/powerpoint/2010/main" val="585174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xit" presetSubtype="0" fill="hold" grpId="1" nodeType="withEffect">
                                  <p:stCondLst>
                                    <p:cond delay="0"/>
                                  </p:stCondLst>
                                  <p:childTnLst>
                                    <p:set>
                                      <p:cBhvr>
                                        <p:cTn id="16" dur="1" fill="hold">
                                          <p:stCondLst>
                                            <p:cond delay="0"/>
                                          </p:stCondLst>
                                        </p:cTn>
                                        <p:tgtEl>
                                          <p:spTgt spid="37"/>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par>
                                <p:cTn id="23" presetID="1" presetClass="exit" presetSubtype="0" fill="hold" grpId="1" nodeType="withEffect">
                                  <p:stCondLst>
                                    <p:cond delay="0"/>
                                  </p:stCondLst>
                                  <p:childTnLst>
                                    <p:set>
                                      <p:cBhvr>
                                        <p:cTn id="24" dur="1" fill="hold">
                                          <p:stCondLst>
                                            <p:cond delay="0"/>
                                          </p:stCondLst>
                                        </p:cTn>
                                        <p:tgtEl>
                                          <p:spTgt spid="33"/>
                                        </p:tgtEl>
                                        <p:attrNameLst>
                                          <p:attrName>style.visibility</p:attrName>
                                        </p:attrNameLst>
                                      </p:cBhvr>
                                      <p:to>
                                        <p:strVal val="hidden"/>
                                      </p:to>
                                    </p:set>
                                  </p:childTnLst>
                                </p:cTn>
                              </p:par>
                              <p:par>
                                <p:cTn id="25" presetID="1" presetClass="entr" presetSubtype="0" fill="hold" grpId="0" nodeType="with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5"/>
                                        </p:tgtEl>
                                        <p:attrNameLst>
                                          <p:attrName>style.visibility</p:attrName>
                                        </p:attrNameLst>
                                      </p:cBhvr>
                                      <p:to>
                                        <p:strVal val="visible"/>
                                      </p:to>
                                    </p:set>
                                  </p:childTnLst>
                                </p:cTn>
                              </p:par>
                              <p:par>
                                <p:cTn id="37" presetID="1" presetClass="exit" presetSubtype="0" fill="hold" grpId="1" nodeType="withEffect">
                                  <p:stCondLst>
                                    <p:cond delay="0"/>
                                  </p:stCondLst>
                                  <p:childTnLst>
                                    <p:set>
                                      <p:cBhvr>
                                        <p:cTn id="38" dur="1" fill="hold">
                                          <p:stCondLst>
                                            <p:cond delay="0"/>
                                          </p:stCondLst>
                                        </p:cTn>
                                        <p:tgtEl>
                                          <p:spTgt spid="34"/>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35"/>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3" grpId="1" animBg="1"/>
      <p:bldP spid="34" grpId="0" animBg="1"/>
      <p:bldP spid="34" grpId="1" animBg="1"/>
      <p:bldP spid="35" grpId="0" animBg="1"/>
      <p:bldP spid="35" grpId="1" animBg="1"/>
      <p:bldP spid="36" grpId="0" animBg="1"/>
      <p:bldP spid="37" grpId="0" animBg="1"/>
      <p:bldP spid="37" grpId="1" animBg="1"/>
      <p:bldP spid="39" grpId="0" animBg="1"/>
      <p:bldP spid="40" grpId="0" animBg="1"/>
      <p:bldP spid="6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EE2E3F19-3AC3-4AA8-44E2-6FFF5DD32493}"/>
              </a:ext>
            </a:extLst>
          </p:cNvPr>
          <p:cNvSpPr>
            <a:spLocks noGrp="1"/>
          </p:cNvSpPr>
          <p:nvPr>
            <p:ph type="sldNum" sz="quarter" idx="12"/>
          </p:nvPr>
        </p:nvSpPr>
        <p:spPr/>
        <p:txBody>
          <a:bodyPr/>
          <a:lstStyle/>
          <a:p>
            <a:fld id="{6113E31D-E2AB-40D1-8B51-AFA5AFEF393A}" type="slidenum">
              <a:rPr lang="en-US" smtClean="0"/>
              <a:t>14</a:t>
            </a:fld>
            <a:endParaRPr lang="en-US"/>
          </a:p>
        </p:txBody>
      </p:sp>
      <p:pic>
        <p:nvPicPr>
          <p:cNvPr id="5" name="Picture 2" descr="Original transformer model architecture.">
            <a:extLst>
              <a:ext uri="{FF2B5EF4-FFF2-40B4-BE49-F238E27FC236}">
                <a16:creationId xmlns:a16="http://schemas.microsoft.com/office/drawing/2014/main" id="{5FEA1F66-CAD3-705C-D8C2-5EE8DF0DD4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7853" y="462437"/>
            <a:ext cx="4196208" cy="5619225"/>
          </a:xfrm>
          <a:prstGeom prst="rect">
            <a:avLst/>
          </a:prstGeom>
          <a:noFill/>
          <a:extLst>
            <a:ext uri="{909E8E84-426E-40DD-AFC4-6F175D3DCCD1}">
              <a14:hiddenFill xmlns:a14="http://schemas.microsoft.com/office/drawing/2010/main">
                <a:solidFill>
                  <a:srgbClr val="FFFFFF"/>
                </a:solidFill>
              </a14:hiddenFill>
            </a:ext>
          </a:extLst>
        </p:spPr>
      </p:pic>
      <p:sp>
        <p:nvSpPr>
          <p:cNvPr id="6" name="文字方塊 5">
            <a:extLst>
              <a:ext uri="{FF2B5EF4-FFF2-40B4-BE49-F238E27FC236}">
                <a16:creationId xmlns:a16="http://schemas.microsoft.com/office/drawing/2014/main" id="{2AB15857-0DB9-8CEA-0EAC-40E5E5AEFCD4}"/>
              </a:ext>
            </a:extLst>
          </p:cNvPr>
          <p:cNvSpPr txBox="1"/>
          <p:nvPr/>
        </p:nvSpPr>
        <p:spPr>
          <a:xfrm>
            <a:off x="8448272" y="1744762"/>
            <a:ext cx="2192628" cy="707886"/>
          </a:xfrm>
          <a:prstGeom prst="rect">
            <a:avLst/>
          </a:prstGeom>
          <a:noFill/>
        </p:spPr>
        <p:txBody>
          <a:bodyPr wrap="square">
            <a:spAutoFit/>
          </a:bodyPr>
          <a:lstStyle/>
          <a:p>
            <a:r>
              <a:rPr lang="en-US" altLang="zh-TW" sz="1000" dirty="0">
                <a:solidFill>
                  <a:srgbClr val="222222"/>
                </a:solidFill>
                <a:effectLst/>
                <a:latin typeface="Calibri" panose="020F0502020204030204" pitchFamily="34" charset="0"/>
                <a:cs typeface="Calibri" panose="020F0502020204030204" pitchFamily="34" charset="0"/>
              </a:rPr>
              <a:t>Vaswani, Ashish, et al. "Attention is all you need." Advances in neural information processing systems 30 (2017).</a:t>
            </a:r>
            <a:endParaRPr lang="zh-TW" altLang="en-US" sz="1000" dirty="0">
              <a:latin typeface="Calibri" panose="020F0502020204030204" pitchFamily="34" charset="0"/>
              <a:cs typeface="Calibri" panose="020F0502020204030204" pitchFamily="34" charset="0"/>
            </a:endParaRPr>
          </a:p>
        </p:txBody>
      </p:sp>
      <p:sp>
        <p:nvSpPr>
          <p:cNvPr id="10" name="矩形 9">
            <a:extLst>
              <a:ext uri="{FF2B5EF4-FFF2-40B4-BE49-F238E27FC236}">
                <a16:creationId xmlns:a16="http://schemas.microsoft.com/office/drawing/2014/main" id="{3C60E25F-5259-576F-9BDF-7019CC4A4FA0}"/>
              </a:ext>
            </a:extLst>
          </p:cNvPr>
          <p:cNvSpPr/>
          <p:nvPr/>
        </p:nvSpPr>
        <p:spPr>
          <a:xfrm>
            <a:off x="4827853" y="2452648"/>
            <a:ext cx="2003580" cy="2214355"/>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C0C33F9F-256F-1C9D-4227-994819C2B865}"/>
                  </a:ext>
                </a:extLst>
              </p:cNvPr>
              <p:cNvSpPr txBox="1"/>
              <p:nvPr/>
            </p:nvSpPr>
            <p:spPr>
              <a:xfrm>
                <a:off x="3229023" y="4468567"/>
                <a:ext cx="1646156" cy="374270"/>
              </a:xfrm>
              <a:prstGeom prst="rect">
                <a:avLst/>
              </a:prstGeom>
              <a:noFill/>
            </p:spPr>
            <p:txBody>
              <a:bodyPr wrap="none" rtlCol="0">
                <a:spAutoFit/>
              </a:bodyPr>
              <a:lstStyle/>
              <a:p>
                <a:r>
                  <a:rPr kumimoji="1" lang="en-US" altLang="zh-TW" b="0" dirty="0">
                    <a:solidFill>
                      <a:srgbClr val="FF9300"/>
                    </a:solidFill>
                  </a:rPr>
                  <a:t>input</a:t>
                </a:r>
                <a14:m>
                  <m:oMath xmlns:m="http://schemas.openxmlformats.org/officeDocument/2006/math">
                    <m:r>
                      <a:rPr kumimoji="1" lang="en-US" altLang="zh-TW" b="0" i="1" smtClean="0">
                        <a:solidFill>
                          <a:srgbClr val="FF9300"/>
                        </a:solidFill>
                        <a:latin typeface="Cambria Math" panose="02040503050406030204" pitchFamily="18" charset="0"/>
                      </a:rPr>
                      <m:t> </m:t>
                    </m:r>
                    <m:r>
                      <a:rPr kumimoji="1" lang="zh-TW" altLang="en-US" i="1" smtClean="0">
                        <a:solidFill>
                          <a:srgbClr val="FF9300"/>
                        </a:solidFill>
                        <a:latin typeface="Cambria Math" panose="02040503050406030204" pitchFamily="18" charset="0"/>
                      </a:rPr>
                      <m:t>∈</m:t>
                    </m:r>
                    <m:r>
                      <a:rPr kumimoji="1" lang="en-US" altLang="zh-TW" b="0" i="1" smtClean="0">
                        <a:solidFill>
                          <a:srgbClr val="FF9300"/>
                        </a:solidFill>
                        <a:latin typeface="Cambria Math" panose="02040503050406030204" pitchFamily="18" charset="0"/>
                      </a:rPr>
                      <m:t> </m:t>
                    </m:r>
                    <m:sSup>
                      <m:sSupPr>
                        <m:ctrlPr>
                          <a:rPr kumimoji="1" lang="en-US" altLang="zh-TW" b="0" i="1" smtClean="0">
                            <a:solidFill>
                              <a:srgbClr val="FF9300"/>
                            </a:solidFill>
                            <a:latin typeface="Cambria Math" panose="02040503050406030204" pitchFamily="18" charset="0"/>
                            <a:ea typeface="Cambria Math" panose="02040503050406030204" pitchFamily="18" charset="0"/>
                          </a:rPr>
                        </m:ctrlPr>
                      </m:sSupPr>
                      <m:e>
                        <m:r>
                          <a:rPr kumimoji="1" lang="en-US" altLang="zh-TW" b="0" i="1" smtClean="0">
                            <a:solidFill>
                              <a:srgbClr val="FF9300"/>
                            </a:solidFill>
                            <a:latin typeface="Cambria Math" panose="02040503050406030204" pitchFamily="18" charset="0"/>
                            <a:ea typeface="Cambria Math" panose="02040503050406030204" pitchFamily="18" charset="0"/>
                          </a:rPr>
                          <m:t>ℝ</m:t>
                        </m:r>
                      </m:e>
                      <m:sup>
                        <m:r>
                          <a:rPr kumimoji="1" lang="en-US" altLang="zh-TW" b="0" i="1" smtClean="0">
                            <a:solidFill>
                              <a:srgbClr val="FF9300"/>
                            </a:solidFill>
                            <a:latin typeface="Cambria Math" panose="02040503050406030204" pitchFamily="18" charset="0"/>
                            <a:ea typeface="Cambria Math" panose="02040503050406030204" pitchFamily="18" charset="0"/>
                          </a:rPr>
                          <m:t>𝑁</m:t>
                        </m:r>
                        <m:r>
                          <a:rPr kumimoji="1" lang="en-US" altLang="zh-TW" b="0" i="1" smtClean="0">
                            <a:solidFill>
                              <a:srgbClr val="FF9300"/>
                            </a:solidFill>
                            <a:latin typeface="Cambria Math" panose="02040503050406030204" pitchFamily="18" charset="0"/>
                            <a:ea typeface="Cambria Math" panose="02040503050406030204" pitchFamily="18" charset="0"/>
                          </a:rPr>
                          <m:t> × </m:t>
                        </m:r>
                        <m:r>
                          <a:rPr kumimoji="1" lang="en-US" altLang="zh-TW" b="0" i="1" smtClean="0">
                            <a:solidFill>
                              <a:srgbClr val="FF9300"/>
                            </a:solidFill>
                            <a:latin typeface="Cambria Math" panose="02040503050406030204" pitchFamily="18" charset="0"/>
                            <a:ea typeface="Cambria Math" panose="02040503050406030204" pitchFamily="18" charset="0"/>
                          </a:rPr>
                          <m:t>𝑑</m:t>
                        </m:r>
                        <m:r>
                          <a:rPr kumimoji="1" lang="en-US" altLang="zh-TW" b="0" i="1" smtClean="0">
                            <a:solidFill>
                              <a:srgbClr val="FF9300"/>
                            </a:solidFill>
                            <a:latin typeface="Cambria Math" panose="02040503050406030204" pitchFamily="18" charset="0"/>
                            <a:ea typeface="Cambria Math" panose="02040503050406030204" pitchFamily="18" charset="0"/>
                          </a:rPr>
                          <m:t> </m:t>
                        </m:r>
                      </m:sup>
                    </m:sSup>
                  </m:oMath>
                </a14:m>
                <a:endParaRPr kumimoji="1" lang="zh-TW" altLang="en-US" dirty="0">
                  <a:solidFill>
                    <a:srgbClr val="FF9300"/>
                  </a:solidFill>
                </a:endParaRPr>
              </a:p>
            </p:txBody>
          </p:sp>
        </mc:Choice>
        <mc:Fallback xmlns="">
          <p:sp>
            <p:nvSpPr>
              <p:cNvPr id="3" name="文字方塊 2">
                <a:extLst>
                  <a:ext uri="{FF2B5EF4-FFF2-40B4-BE49-F238E27FC236}">
                    <a16:creationId xmlns:a16="http://schemas.microsoft.com/office/drawing/2014/main" id="{C0C33F9F-256F-1C9D-4227-994819C2B865}"/>
                  </a:ext>
                </a:extLst>
              </p:cNvPr>
              <p:cNvSpPr txBox="1">
                <a:spLocks noRot="1" noChangeAspect="1" noMove="1" noResize="1" noEditPoints="1" noAdjustHandles="1" noChangeArrowheads="1" noChangeShapeType="1" noTextEdit="1"/>
              </p:cNvSpPr>
              <p:nvPr/>
            </p:nvSpPr>
            <p:spPr>
              <a:xfrm>
                <a:off x="3229023" y="4468567"/>
                <a:ext cx="1646156" cy="374270"/>
              </a:xfrm>
              <a:prstGeom prst="rect">
                <a:avLst/>
              </a:prstGeom>
              <a:blipFill>
                <a:blip r:embed="rId4"/>
                <a:stretch>
                  <a:fillRect l="-3077" t="-6452" b="-2258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15C14CD1-53C0-CEDD-B1D8-789025189659}"/>
                  </a:ext>
                </a:extLst>
              </p:cNvPr>
              <p:cNvSpPr txBox="1"/>
              <p:nvPr/>
            </p:nvSpPr>
            <p:spPr>
              <a:xfrm>
                <a:off x="3112805" y="2202298"/>
                <a:ext cx="1878591" cy="374270"/>
              </a:xfrm>
              <a:prstGeom prst="rect">
                <a:avLst/>
              </a:prstGeom>
              <a:noFill/>
            </p:spPr>
            <p:txBody>
              <a:bodyPr wrap="none" rtlCol="0">
                <a:spAutoFit/>
              </a:bodyPr>
              <a:lstStyle/>
              <a:p>
                <a:r>
                  <a:rPr kumimoji="1" lang="en-US" altLang="zh-TW" b="0" dirty="0">
                    <a:solidFill>
                      <a:srgbClr val="FF9300"/>
                    </a:solidFill>
                  </a:rPr>
                  <a:t>o</a:t>
                </a:r>
                <a14:m>
                  <m:oMath xmlns:m="http://schemas.openxmlformats.org/officeDocument/2006/math">
                    <m:r>
                      <m:rPr>
                        <m:sty m:val="p"/>
                      </m:rPr>
                      <a:rPr kumimoji="1" lang="en-US" altLang="zh-TW" b="0" i="0" smtClean="0">
                        <a:solidFill>
                          <a:srgbClr val="FF9300"/>
                        </a:solidFill>
                        <a:latin typeface="Cambria Math" panose="02040503050406030204" pitchFamily="18" charset="0"/>
                      </a:rPr>
                      <m:t>utput</m:t>
                    </m:r>
                    <m:r>
                      <a:rPr kumimoji="1" lang="en-US" altLang="zh-TW" b="0" i="1" smtClean="0">
                        <a:solidFill>
                          <a:srgbClr val="FF9300"/>
                        </a:solidFill>
                        <a:latin typeface="Cambria Math" panose="02040503050406030204" pitchFamily="18" charset="0"/>
                      </a:rPr>
                      <m:t> </m:t>
                    </m:r>
                    <m:r>
                      <a:rPr kumimoji="1" lang="zh-TW" altLang="en-US" i="1" smtClean="0">
                        <a:solidFill>
                          <a:srgbClr val="FF9300"/>
                        </a:solidFill>
                        <a:latin typeface="Cambria Math" panose="02040503050406030204" pitchFamily="18" charset="0"/>
                      </a:rPr>
                      <m:t>∈</m:t>
                    </m:r>
                    <m:r>
                      <a:rPr kumimoji="1" lang="en-US" altLang="zh-TW" b="0" i="1" smtClean="0">
                        <a:solidFill>
                          <a:srgbClr val="FF9300"/>
                        </a:solidFill>
                        <a:latin typeface="Cambria Math" panose="02040503050406030204" pitchFamily="18" charset="0"/>
                      </a:rPr>
                      <m:t> </m:t>
                    </m:r>
                    <m:sSup>
                      <m:sSupPr>
                        <m:ctrlPr>
                          <a:rPr kumimoji="1" lang="en-US" altLang="zh-TW" b="0" i="1" smtClean="0">
                            <a:solidFill>
                              <a:srgbClr val="FF9300"/>
                            </a:solidFill>
                            <a:latin typeface="Cambria Math" panose="02040503050406030204" pitchFamily="18" charset="0"/>
                            <a:ea typeface="Cambria Math" panose="02040503050406030204" pitchFamily="18" charset="0"/>
                          </a:rPr>
                        </m:ctrlPr>
                      </m:sSupPr>
                      <m:e>
                        <m:r>
                          <a:rPr kumimoji="1" lang="en-US" altLang="zh-TW" b="0" i="1" smtClean="0">
                            <a:solidFill>
                              <a:srgbClr val="FF9300"/>
                            </a:solidFill>
                            <a:latin typeface="Cambria Math" panose="02040503050406030204" pitchFamily="18" charset="0"/>
                            <a:ea typeface="Cambria Math" panose="02040503050406030204" pitchFamily="18" charset="0"/>
                          </a:rPr>
                          <m:t>ℝ</m:t>
                        </m:r>
                      </m:e>
                      <m:sup>
                        <m:r>
                          <a:rPr kumimoji="1" lang="en-US" altLang="zh-TW" b="0" i="1" smtClean="0">
                            <a:solidFill>
                              <a:srgbClr val="FF9300"/>
                            </a:solidFill>
                            <a:latin typeface="Cambria Math" panose="02040503050406030204" pitchFamily="18" charset="0"/>
                            <a:ea typeface="Cambria Math" panose="02040503050406030204" pitchFamily="18" charset="0"/>
                          </a:rPr>
                          <m:t>𝑁</m:t>
                        </m:r>
                        <m:r>
                          <a:rPr kumimoji="1" lang="en-US" altLang="zh-TW" b="0" i="1" smtClean="0">
                            <a:solidFill>
                              <a:srgbClr val="FF9300"/>
                            </a:solidFill>
                            <a:latin typeface="Cambria Math" panose="02040503050406030204" pitchFamily="18" charset="0"/>
                            <a:ea typeface="Cambria Math" panose="02040503050406030204" pitchFamily="18" charset="0"/>
                          </a:rPr>
                          <m:t> × </m:t>
                        </m:r>
                        <m:r>
                          <a:rPr kumimoji="1" lang="en-US" altLang="zh-TW" b="0" i="1" smtClean="0">
                            <a:solidFill>
                              <a:srgbClr val="FF9300"/>
                            </a:solidFill>
                            <a:latin typeface="Cambria Math" panose="02040503050406030204" pitchFamily="18" charset="0"/>
                            <a:ea typeface="Cambria Math" panose="02040503050406030204" pitchFamily="18" charset="0"/>
                          </a:rPr>
                          <m:t>𝑑</m:t>
                        </m:r>
                        <m:r>
                          <a:rPr kumimoji="1" lang="en-US" altLang="zh-TW" b="0" i="1" smtClean="0">
                            <a:solidFill>
                              <a:srgbClr val="FF9300"/>
                            </a:solidFill>
                            <a:latin typeface="Cambria Math" panose="02040503050406030204" pitchFamily="18" charset="0"/>
                            <a:ea typeface="Cambria Math" panose="02040503050406030204" pitchFamily="18" charset="0"/>
                          </a:rPr>
                          <m:t> </m:t>
                        </m:r>
                      </m:sup>
                    </m:sSup>
                  </m:oMath>
                </a14:m>
                <a:endParaRPr kumimoji="1" lang="zh-TW" altLang="en-US" dirty="0">
                  <a:solidFill>
                    <a:srgbClr val="FF9300"/>
                  </a:solidFill>
                </a:endParaRPr>
              </a:p>
            </p:txBody>
          </p:sp>
        </mc:Choice>
        <mc:Fallback xmlns="">
          <p:sp>
            <p:nvSpPr>
              <p:cNvPr id="7" name="文字方塊 6">
                <a:extLst>
                  <a:ext uri="{FF2B5EF4-FFF2-40B4-BE49-F238E27FC236}">
                    <a16:creationId xmlns:a16="http://schemas.microsoft.com/office/drawing/2014/main" id="{15C14CD1-53C0-CEDD-B1D8-789025189659}"/>
                  </a:ext>
                </a:extLst>
              </p:cNvPr>
              <p:cNvSpPr txBox="1">
                <a:spLocks noRot="1" noChangeAspect="1" noMove="1" noResize="1" noEditPoints="1" noAdjustHandles="1" noChangeArrowheads="1" noChangeShapeType="1" noTextEdit="1"/>
              </p:cNvSpPr>
              <p:nvPr/>
            </p:nvSpPr>
            <p:spPr>
              <a:xfrm>
                <a:off x="3112805" y="2202298"/>
                <a:ext cx="1878591" cy="374270"/>
              </a:xfrm>
              <a:prstGeom prst="rect">
                <a:avLst/>
              </a:prstGeom>
              <a:blipFill>
                <a:blip r:embed="rId5"/>
                <a:stretch>
                  <a:fillRect l="-3356" t="-6452" b="-22581"/>
                </a:stretch>
              </a:blipFill>
            </p:spPr>
            <p:txBody>
              <a:bodyPr/>
              <a:lstStyle/>
              <a:p>
                <a:r>
                  <a:rPr lang="zh-TW" altLang="en-US">
                    <a:noFill/>
                  </a:rPr>
                  <a:t> </a:t>
                </a:r>
              </a:p>
            </p:txBody>
          </p:sp>
        </mc:Fallback>
      </mc:AlternateContent>
      <p:sp>
        <p:nvSpPr>
          <p:cNvPr id="9" name="文字方塊 8">
            <a:extLst>
              <a:ext uri="{FF2B5EF4-FFF2-40B4-BE49-F238E27FC236}">
                <a16:creationId xmlns:a16="http://schemas.microsoft.com/office/drawing/2014/main" id="{CC8B8A0D-B071-0312-F4A1-FA1EB69D24BE}"/>
              </a:ext>
            </a:extLst>
          </p:cNvPr>
          <p:cNvSpPr txBox="1"/>
          <p:nvPr/>
        </p:nvSpPr>
        <p:spPr>
          <a:xfrm>
            <a:off x="1474122" y="2682662"/>
            <a:ext cx="2374350" cy="175432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kumimoji="1" lang="en-US" altLang="zh-TW" dirty="0">
                <a:latin typeface="Calibri" panose="020F0502020204030204" pitchFamily="34" charset="0"/>
                <a:cs typeface="Calibri" panose="020F0502020204030204" pitchFamily="34" charset="0"/>
              </a:rPr>
              <a:t>Input, output dimension match! </a:t>
            </a:r>
          </a:p>
          <a:p>
            <a:r>
              <a:rPr kumimoji="1" lang="en-US" altLang="zh-TW" dirty="0">
                <a:latin typeface="Calibri" panose="020F0502020204030204" pitchFamily="34" charset="0"/>
                <a:cs typeface="Calibri" panose="020F0502020204030204" pitchFamily="34" charset="0"/>
              </a:rPr>
              <a:t>We can have multiple encoders stacked up, to increase the number of trainable parameters. </a:t>
            </a:r>
          </a:p>
        </p:txBody>
      </p:sp>
      <p:sp>
        <p:nvSpPr>
          <p:cNvPr id="8" name="文字方塊 7">
            <a:extLst>
              <a:ext uri="{FF2B5EF4-FFF2-40B4-BE49-F238E27FC236}">
                <a16:creationId xmlns:a16="http://schemas.microsoft.com/office/drawing/2014/main" id="{7D8D7EF1-351B-7E6A-959F-805DFB1C6F46}"/>
              </a:ext>
            </a:extLst>
          </p:cNvPr>
          <p:cNvSpPr txBox="1"/>
          <p:nvPr/>
        </p:nvSpPr>
        <p:spPr>
          <a:xfrm>
            <a:off x="4052100" y="3199402"/>
            <a:ext cx="816249" cy="646331"/>
          </a:xfrm>
          <a:prstGeom prst="rect">
            <a:avLst/>
          </a:prstGeom>
          <a:noFill/>
        </p:spPr>
        <p:txBody>
          <a:bodyPr wrap="none" rtlCol="0">
            <a:spAutoFit/>
          </a:bodyPr>
          <a:lstStyle/>
          <a:p>
            <a:r>
              <a:rPr kumimoji="1" lang="en-US" altLang="zh-TW" sz="3600" dirty="0">
                <a:solidFill>
                  <a:srgbClr val="FF9300"/>
                </a:solidFill>
              </a:rPr>
              <a:t>N *</a:t>
            </a:r>
            <a:endParaRPr kumimoji="1" lang="zh-TW" altLang="en-US" sz="3600" dirty="0">
              <a:solidFill>
                <a:srgbClr val="FF9300"/>
              </a:solidFill>
            </a:endParaRPr>
          </a:p>
        </p:txBody>
      </p:sp>
      <p:sp>
        <p:nvSpPr>
          <p:cNvPr id="13" name="標題 8">
            <a:extLst>
              <a:ext uri="{FF2B5EF4-FFF2-40B4-BE49-F238E27FC236}">
                <a16:creationId xmlns:a16="http://schemas.microsoft.com/office/drawing/2014/main" id="{96E5584D-C873-0246-547C-D21307915B59}"/>
              </a:ext>
            </a:extLst>
          </p:cNvPr>
          <p:cNvSpPr>
            <a:spLocks noGrp="1"/>
          </p:cNvSpPr>
          <p:nvPr>
            <p:ph type="title"/>
          </p:nvPr>
        </p:nvSpPr>
        <p:spPr>
          <a:xfrm>
            <a:off x="653143" y="356088"/>
            <a:ext cx="10918371" cy="1033416"/>
          </a:xfrm>
        </p:spPr>
        <p:txBody>
          <a:bodyPr/>
          <a:lstStyle/>
          <a:p>
            <a:r>
              <a:rPr kumimoji="1" lang="en-US" altLang="zh-TW" dirty="0">
                <a:cs typeface="Calibri" panose="020F0502020204030204" pitchFamily="34" charset="0"/>
              </a:rPr>
              <a:t>Number of Layers</a:t>
            </a:r>
            <a:endParaRPr lang="zh-TW" altLang="en-US" dirty="0"/>
          </a:p>
        </p:txBody>
      </p:sp>
    </p:spTree>
    <p:extLst>
      <p:ext uri="{BB962C8B-B14F-4D97-AF65-F5344CB8AC3E}">
        <p14:creationId xmlns:p14="http://schemas.microsoft.com/office/powerpoint/2010/main" val="2306403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4D32678-E3F3-1AC0-177F-95FBBE4D8B0C}"/>
              </a:ext>
            </a:extLst>
          </p:cNvPr>
          <p:cNvSpPr>
            <a:spLocks noGrp="1"/>
          </p:cNvSpPr>
          <p:nvPr>
            <p:ph type="title"/>
          </p:nvPr>
        </p:nvSpPr>
        <p:spPr/>
        <p:txBody>
          <a:bodyPr/>
          <a:lstStyle/>
          <a:p>
            <a:r>
              <a:rPr kumimoji="1" lang="en" altLang="zh-TW" dirty="0"/>
              <a:t>Outline of Transformer</a:t>
            </a:r>
            <a:endParaRPr kumimoji="1" lang="zh-TW" altLang="en-US" dirty="0"/>
          </a:p>
        </p:txBody>
      </p:sp>
      <p:sp>
        <p:nvSpPr>
          <p:cNvPr id="4" name="投影片編號版面配置區 3">
            <a:extLst>
              <a:ext uri="{FF2B5EF4-FFF2-40B4-BE49-F238E27FC236}">
                <a16:creationId xmlns:a16="http://schemas.microsoft.com/office/drawing/2014/main" id="{627DDE1C-CF0A-79E7-FBE5-7EF521BF2939}"/>
              </a:ext>
            </a:extLst>
          </p:cNvPr>
          <p:cNvSpPr>
            <a:spLocks noGrp="1"/>
          </p:cNvSpPr>
          <p:nvPr>
            <p:ph type="sldNum" sz="quarter" idx="12"/>
          </p:nvPr>
        </p:nvSpPr>
        <p:spPr/>
        <p:txBody>
          <a:bodyPr/>
          <a:lstStyle/>
          <a:p>
            <a:fld id="{6113E31D-E2AB-40D1-8B51-AFA5AFEF393A}" type="slidenum">
              <a:rPr lang="en-US" smtClean="0"/>
              <a:pPr/>
              <a:t>15</a:t>
            </a:fld>
            <a:endParaRPr lang="en-US" dirty="0"/>
          </a:p>
        </p:txBody>
      </p:sp>
      <p:pic>
        <p:nvPicPr>
          <p:cNvPr id="6" name="圖片 5">
            <a:extLst>
              <a:ext uri="{FF2B5EF4-FFF2-40B4-BE49-F238E27FC236}">
                <a16:creationId xmlns:a16="http://schemas.microsoft.com/office/drawing/2014/main" id="{31C71EC8-1B57-4201-3E94-FC9DC6C10491}"/>
              </a:ext>
            </a:extLst>
          </p:cNvPr>
          <p:cNvPicPr>
            <a:picLocks noChangeAspect="1"/>
          </p:cNvPicPr>
          <p:nvPr/>
        </p:nvPicPr>
        <p:blipFill>
          <a:blip r:embed="rId3"/>
          <a:stretch>
            <a:fillRect/>
          </a:stretch>
        </p:blipFill>
        <p:spPr>
          <a:xfrm>
            <a:off x="4386780" y="1530220"/>
            <a:ext cx="3619047" cy="5159829"/>
          </a:xfrm>
          <a:prstGeom prst="rect">
            <a:avLst/>
          </a:prstGeom>
        </p:spPr>
      </p:pic>
      <p:sp>
        <p:nvSpPr>
          <p:cNvPr id="7" name="文字方塊 6">
            <a:extLst>
              <a:ext uri="{FF2B5EF4-FFF2-40B4-BE49-F238E27FC236}">
                <a16:creationId xmlns:a16="http://schemas.microsoft.com/office/drawing/2014/main" id="{45312BF7-A272-740A-C7A1-E7AF231CC6D5}"/>
              </a:ext>
            </a:extLst>
          </p:cNvPr>
          <p:cNvSpPr txBox="1"/>
          <p:nvPr/>
        </p:nvSpPr>
        <p:spPr>
          <a:xfrm>
            <a:off x="9165836" y="1440227"/>
            <a:ext cx="2396347" cy="400110"/>
          </a:xfrm>
          <a:prstGeom prst="rect">
            <a:avLst/>
          </a:prstGeom>
          <a:noFill/>
        </p:spPr>
        <p:txBody>
          <a:bodyPr wrap="square">
            <a:spAutoFit/>
          </a:bodyPr>
          <a:lstStyle/>
          <a:p>
            <a:r>
              <a:rPr lang="en-US" altLang="zh-TW" sz="1000" dirty="0">
                <a:solidFill>
                  <a:srgbClr val="222222"/>
                </a:solidFill>
                <a:effectLst/>
                <a:latin typeface="Calibri" panose="020F0502020204030204" pitchFamily="34" charset="0"/>
                <a:cs typeface="Calibri" panose="020F0502020204030204" pitchFamily="34" charset="0"/>
              </a:rPr>
              <a:t>Vaswani, Ashish, et al. "Attention is all you need." </a:t>
            </a:r>
            <a:r>
              <a:rPr lang="en-US" altLang="zh-TW" sz="1000" dirty="0" err="1">
                <a:solidFill>
                  <a:srgbClr val="222222"/>
                </a:solidFill>
                <a:effectLst/>
                <a:latin typeface="Calibri" panose="020F0502020204030204" pitchFamily="34" charset="0"/>
                <a:cs typeface="Calibri" panose="020F0502020204030204" pitchFamily="34" charset="0"/>
              </a:rPr>
              <a:t>NeurIPS</a:t>
            </a:r>
            <a:r>
              <a:rPr lang="en-US" altLang="zh-TW" sz="1000" dirty="0">
                <a:solidFill>
                  <a:srgbClr val="222222"/>
                </a:solidFill>
                <a:effectLst/>
                <a:latin typeface="Calibri" panose="020F0502020204030204" pitchFamily="34" charset="0"/>
                <a:cs typeface="Calibri" panose="020F0502020204030204" pitchFamily="34" charset="0"/>
              </a:rPr>
              <a:t> (2017).</a:t>
            </a:r>
            <a:endParaRPr lang="zh-TW" altLang="en-US" sz="1000" dirty="0">
              <a:latin typeface="Calibri" panose="020F0502020204030204" pitchFamily="34" charset="0"/>
              <a:cs typeface="Calibri" panose="020F0502020204030204" pitchFamily="34" charset="0"/>
            </a:endParaRPr>
          </a:p>
        </p:txBody>
      </p:sp>
      <p:sp>
        <p:nvSpPr>
          <p:cNvPr id="5" name="矩形 4">
            <a:extLst>
              <a:ext uri="{FF2B5EF4-FFF2-40B4-BE49-F238E27FC236}">
                <a16:creationId xmlns:a16="http://schemas.microsoft.com/office/drawing/2014/main" id="{B547FF5F-8BF6-425E-157A-5FDEB514FDA7}"/>
              </a:ext>
            </a:extLst>
          </p:cNvPr>
          <p:cNvSpPr/>
          <p:nvPr/>
        </p:nvSpPr>
        <p:spPr>
          <a:xfrm>
            <a:off x="5169161" y="3741576"/>
            <a:ext cx="858417" cy="34523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11" name="矩形 10">
            <a:extLst>
              <a:ext uri="{FF2B5EF4-FFF2-40B4-BE49-F238E27FC236}">
                <a16:creationId xmlns:a16="http://schemas.microsoft.com/office/drawing/2014/main" id="{6AF1798C-4899-A3A5-9634-D1AB6AC6C4CE}"/>
              </a:ext>
            </a:extLst>
          </p:cNvPr>
          <p:cNvSpPr/>
          <p:nvPr/>
        </p:nvSpPr>
        <p:spPr>
          <a:xfrm>
            <a:off x="6403912" y="2904931"/>
            <a:ext cx="858417" cy="34523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12" name="內容版面配置區 11">
            <a:extLst>
              <a:ext uri="{FF2B5EF4-FFF2-40B4-BE49-F238E27FC236}">
                <a16:creationId xmlns:a16="http://schemas.microsoft.com/office/drawing/2014/main" id="{5A15AA51-89E7-A906-92F6-D0501CDE45ED}"/>
              </a:ext>
            </a:extLst>
          </p:cNvPr>
          <p:cNvSpPr>
            <a:spLocks noGrp="1"/>
          </p:cNvSpPr>
          <p:nvPr>
            <p:ph idx="1"/>
          </p:nvPr>
        </p:nvSpPr>
        <p:spPr>
          <a:xfrm>
            <a:off x="736260" y="2030887"/>
            <a:ext cx="3489649" cy="2438552"/>
          </a:xfrm>
        </p:spPr>
        <p:txBody>
          <a:bodyPr>
            <a:normAutofit/>
          </a:bodyPr>
          <a:lstStyle/>
          <a:p>
            <a:pPr marL="0" indent="0">
              <a:buNone/>
            </a:pPr>
            <a:r>
              <a:rPr kumimoji="1" lang="en-US" altLang="zh-TW" dirty="0">
                <a:latin typeface="Calibri" panose="020F0502020204030204" pitchFamily="34" charset="0"/>
                <a:cs typeface="Calibri" panose="020F0502020204030204" pitchFamily="34" charset="0"/>
              </a:rPr>
              <a:t>Feed Forward Networks:</a:t>
            </a:r>
          </a:p>
          <a:p>
            <a:pPr>
              <a:buFont typeface="Wingdings" pitchFamily="2" charset="2"/>
              <a:buChar char="n"/>
            </a:pPr>
            <a:r>
              <a:rPr kumimoji="1" lang="en-US" altLang="zh-TW" dirty="0">
                <a:latin typeface="Calibri" panose="020F0502020204030204" pitchFamily="34" charset="0"/>
                <a:cs typeface="Calibri" panose="020F0502020204030204" pitchFamily="34" charset="0"/>
              </a:rPr>
              <a:t> Simply multiply by a weight matrix (MLP). </a:t>
            </a:r>
          </a:p>
          <a:p>
            <a:pPr>
              <a:buFont typeface="Wingdings" pitchFamily="2" charset="2"/>
              <a:buChar char="n"/>
            </a:pPr>
            <a:r>
              <a:rPr kumimoji="1" lang="en-US" altLang="zh-TW" dirty="0">
                <a:latin typeface="Calibri" panose="020F0502020204030204" pitchFamily="34" charset="0"/>
                <a:cs typeface="Calibri" panose="020F0502020204030204" pitchFamily="34" charset="0"/>
              </a:rPr>
              <a:t> Used to project to a specific dimension. </a:t>
            </a:r>
            <a:endParaRPr kumimoji="1" lang="zh-TW" altLang="en-US" dirty="0">
              <a:latin typeface="Calibri" panose="020F0502020204030204" pitchFamily="34" charset="0"/>
              <a:cs typeface="Calibri" panose="020F0502020204030204" pitchFamily="34" charset="0"/>
            </a:endParaRPr>
          </a:p>
        </p:txBody>
      </p:sp>
      <p:sp>
        <p:nvSpPr>
          <p:cNvPr id="13" name="矩形 12">
            <a:extLst>
              <a:ext uri="{FF2B5EF4-FFF2-40B4-BE49-F238E27FC236}">
                <a16:creationId xmlns:a16="http://schemas.microsoft.com/office/drawing/2014/main" id="{FA0792B1-FEC6-F57C-965C-7B83786DFF15}"/>
              </a:ext>
            </a:extLst>
          </p:cNvPr>
          <p:cNvSpPr/>
          <p:nvPr/>
        </p:nvSpPr>
        <p:spPr>
          <a:xfrm>
            <a:off x="6403911" y="2295330"/>
            <a:ext cx="858417" cy="25465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Tree>
    <p:extLst>
      <p:ext uri="{BB962C8B-B14F-4D97-AF65-F5344CB8AC3E}">
        <p14:creationId xmlns:p14="http://schemas.microsoft.com/office/powerpoint/2010/main" val="17851945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ECFD3-9F9E-D486-2DC7-84073400ADC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0C0D99D-1E40-8E98-9837-A229A457C33B}"/>
              </a:ext>
            </a:extLst>
          </p:cNvPr>
          <p:cNvSpPr>
            <a:spLocks noGrp="1"/>
          </p:cNvSpPr>
          <p:nvPr>
            <p:ph type="title"/>
          </p:nvPr>
        </p:nvSpPr>
        <p:spPr/>
        <p:txBody>
          <a:bodyPr>
            <a:normAutofit/>
          </a:bodyPr>
          <a:lstStyle/>
          <a:p>
            <a:r>
              <a:rPr lang="en-US" altLang="zh-TW" dirty="0">
                <a:ea typeface="新細明體"/>
                <a:cs typeface="Calibri Light"/>
              </a:rPr>
              <a:t>[Recap] Text Generation with RNN</a:t>
            </a:r>
            <a:endParaRPr lang="zh-TW" altLang="en-US" dirty="0">
              <a:ea typeface="新細明體"/>
              <a:cs typeface="Calibri Light"/>
            </a:endParaRPr>
          </a:p>
        </p:txBody>
      </p:sp>
      <p:sp>
        <p:nvSpPr>
          <p:cNvPr id="5" name="投影片編號版面配置區 4">
            <a:extLst>
              <a:ext uri="{FF2B5EF4-FFF2-40B4-BE49-F238E27FC236}">
                <a16:creationId xmlns:a16="http://schemas.microsoft.com/office/drawing/2014/main" id="{A44121A3-4B88-E98F-8D6C-0396D7754A66}"/>
              </a:ext>
            </a:extLst>
          </p:cNvPr>
          <p:cNvSpPr>
            <a:spLocks noGrp="1"/>
          </p:cNvSpPr>
          <p:nvPr>
            <p:ph type="sldNum" sz="quarter" idx="12"/>
          </p:nvPr>
        </p:nvSpPr>
        <p:spPr/>
        <p:txBody>
          <a:bodyPr/>
          <a:lstStyle/>
          <a:p>
            <a:fld id="{6113E31D-E2AB-40D1-8B51-AFA5AFEF393A}" type="slidenum">
              <a:rPr lang="en-US" dirty="0"/>
              <a:t>16</a:t>
            </a:fld>
            <a:endParaRPr lang="zh-TW" altLang="en-US"/>
          </a:p>
        </p:txBody>
      </p:sp>
      <p:sp>
        <p:nvSpPr>
          <p:cNvPr id="14" name="圓角矩形 13">
            <a:extLst>
              <a:ext uri="{FF2B5EF4-FFF2-40B4-BE49-F238E27FC236}">
                <a16:creationId xmlns:a16="http://schemas.microsoft.com/office/drawing/2014/main" id="{C8F4C0A3-FA3F-2E2B-F8BE-653E57712662}"/>
              </a:ext>
            </a:extLst>
          </p:cNvPr>
          <p:cNvSpPr/>
          <p:nvPr/>
        </p:nvSpPr>
        <p:spPr>
          <a:xfrm>
            <a:off x="2450284" y="5222793"/>
            <a:ext cx="673768" cy="571500"/>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love</a:t>
            </a:r>
            <a:endParaRPr kumimoji="1" lang="zh-TW" altLang="en-US" dirty="0">
              <a:solidFill>
                <a:schemeClr val="tx1"/>
              </a:solidFill>
            </a:endParaRPr>
          </a:p>
        </p:txBody>
      </p:sp>
      <p:sp>
        <p:nvSpPr>
          <p:cNvPr id="15" name="圓角矩形 14">
            <a:extLst>
              <a:ext uri="{FF2B5EF4-FFF2-40B4-BE49-F238E27FC236}">
                <a16:creationId xmlns:a16="http://schemas.microsoft.com/office/drawing/2014/main" id="{74BF1484-9D99-02A5-AAAF-EE9BBEFB506F}"/>
              </a:ext>
            </a:extLst>
          </p:cNvPr>
          <p:cNvSpPr/>
          <p:nvPr/>
        </p:nvSpPr>
        <p:spPr>
          <a:xfrm>
            <a:off x="1079810" y="5222792"/>
            <a:ext cx="673768" cy="571500"/>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I</a:t>
            </a:r>
            <a:endParaRPr kumimoji="1" lang="zh-TW" altLang="en-US" dirty="0">
              <a:solidFill>
                <a:schemeClr val="tx1"/>
              </a:solidFill>
            </a:endParaRPr>
          </a:p>
        </p:txBody>
      </p:sp>
      <p:sp>
        <p:nvSpPr>
          <p:cNvPr id="16" name="圓角矩形 15">
            <a:extLst>
              <a:ext uri="{FF2B5EF4-FFF2-40B4-BE49-F238E27FC236}">
                <a16:creationId xmlns:a16="http://schemas.microsoft.com/office/drawing/2014/main" id="{22B29D0B-5991-2E5E-3F83-667A16EA833A}"/>
              </a:ext>
            </a:extLst>
          </p:cNvPr>
          <p:cNvSpPr/>
          <p:nvPr/>
        </p:nvSpPr>
        <p:spPr>
          <a:xfrm>
            <a:off x="3802954" y="5222792"/>
            <a:ext cx="673768" cy="571500"/>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an</a:t>
            </a:r>
            <a:endParaRPr kumimoji="1" lang="zh-TW" altLang="en-US" dirty="0">
              <a:solidFill>
                <a:schemeClr val="tx1"/>
              </a:solidFill>
            </a:endParaRPr>
          </a:p>
        </p:txBody>
      </p:sp>
      <p:cxnSp>
        <p:nvCxnSpPr>
          <p:cNvPr id="3" name="直線箭頭接點 2">
            <a:extLst>
              <a:ext uri="{FF2B5EF4-FFF2-40B4-BE49-F238E27FC236}">
                <a16:creationId xmlns:a16="http://schemas.microsoft.com/office/drawing/2014/main" id="{B6F1BF5D-E0DF-596A-0806-DB62092410DE}"/>
              </a:ext>
            </a:extLst>
          </p:cNvPr>
          <p:cNvCxnSpPr>
            <a:cxnSpLocks/>
          </p:cNvCxnSpPr>
          <p:nvPr/>
        </p:nvCxnSpPr>
        <p:spPr>
          <a:xfrm flipV="1">
            <a:off x="1416694" y="4635584"/>
            <a:ext cx="0" cy="5097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A74271B2-06A7-502A-FC23-4C6E28205970}"/>
              </a:ext>
            </a:extLst>
          </p:cNvPr>
          <p:cNvSpPr/>
          <p:nvPr/>
        </p:nvSpPr>
        <p:spPr>
          <a:xfrm>
            <a:off x="995391" y="3813918"/>
            <a:ext cx="842606" cy="7284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000" b="1" dirty="0">
                <a:solidFill>
                  <a:schemeClr val="tx1"/>
                </a:solidFill>
              </a:rPr>
              <a:t>RNN</a:t>
            </a:r>
            <a:endParaRPr kumimoji="1" lang="zh-TW" altLang="en-US" sz="2000" b="1" dirty="0">
              <a:solidFill>
                <a:schemeClr val="tx1"/>
              </a:solidFill>
            </a:endParaRPr>
          </a:p>
        </p:txBody>
      </p:sp>
      <p:sp>
        <p:nvSpPr>
          <p:cNvPr id="7" name="矩形 6">
            <a:extLst>
              <a:ext uri="{FF2B5EF4-FFF2-40B4-BE49-F238E27FC236}">
                <a16:creationId xmlns:a16="http://schemas.microsoft.com/office/drawing/2014/main" id="{B5B9775F-52E9-275E-3013-33A5AE9299C9}"/>
              </a:ext>
            </a:extLst>
          </p:cNvPr>
          <p:cNvSpPr/>
          <p:nvPr/>
        </p:nvSpPr>
        <p:spPr>
          <a:xfrm>
            <a:off x="2365865" y="3813918"/>
            <a:ext cx="842606" cy="7284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000" b="1" dirty="0">
                <a:solidFill>
                  <a:schemeClr val="tx1"/>
                </a:solidFill>
              </a:rPr>
              <a:t>RNN</a:t>
            </a:r>
            <a:endParaRPr kumimoji="1" lang="zh-TW" altLang="en-US" sz="2000" b="1" dirty="0">
              <a:solidFill>
                <a:schemeClr val="tx1"/>
              </a:solidFill>
            </a:endParaRPr>
          </a:p>
        </p:txBody>
      </p:sp>
      <p:sp>
        <p:nvSpPr>
          <p:cNvPr id="8" name="矩形 7">
            <a:extLst>
              <a:ext uri="{FF2B5EF4-FFF2-40B4-BE49-F238E27FC236}">
                <a16:creationId xmlns:a16="http://schemas.microsoft.com/office/drawing/2014/main" id="{B4A8E273-92C8-B725-9D20-B5D11A1BACFB}"/>
              </a:ext>
            </a:extLst>
          </p:cNvPr>
          <p:cNvSpPr/>
          <p:nvPr/>
        </p:nvSpPr>
        <p:spPr>
          <a:xfrm>
            <a:off x="3718535" y="3813917"/>
            <a:ext cx="842606" cy="7284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000" b="1" dirty="0">
                <a:solidFill>
                  <a:schemeClr val="tx1"/>
                </a:solidFill>
              </a:rPr>
              <a:t>RNN</a:t>
            </a:r>
            <a:endParaRPr kumimoji="1" lang="zh-TW" altLang="en-US" sz="2000" b="1" dirty="0">
              <a:solidFill>
                <a:schemeClr val="tx1"/>
              </a:solidFill>
            </a:endParaRPr>
          </a:p>
        </p:txBody>
      </p:sp>
      <p:cxnSp>
        <p:nvCxnSpPr>
          <p:cNvPr id="10" name="直線箭頭接點 9">
            <a:extLst>
              <a:ext uri="{FF2B5EF4-FFF2-40B4-BE49-F238E27FC236}">
                <a16:creationId xmlns:a16="http://schemas.microsoft.com/office/drawing/2014/main" id="{71962B3F-9FA6-0220-1AF1-6586D948FF0E}"/>
              </a:ext>
            </a:extLst>
          </p:cNvPr>
          <p:cNvCxnSpPr>
            <a:cxnSpLocks/>
          </p:cNvCxnSpPr>
          <p:nvPr/>
        </p:nvCxnSpPr>
        <p:spPr>
          <a:xfrm flipV="1">
            <a:off x="2787168" y="4635585"/>
            <a:ext cx="0" cy="5097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箭頭接點 10">
            <a:extLst>
              <a:ext uri="{FF2B5EF4-FFF2-40B4-BE49-F238E27FC236}">
                <a16:creationId xmlns:a16="http://schemas.microsoft.com/office/drawing/2014/main" id="{CB4E6377-CCC8-2632-4A20-88A949727A04}"/>
              </a:ext>
            </a:extLst>
          </p:cNvPr>
          <p:cNvCxnSpPr>
            <a:cxnSpLocks/>
          </p:cNvCxnSpPr>
          <p:nvPr/>
        </p:nvCxnSpPr>
        <p:spPr>
          <a:xfrm flipV="1">
            <a:off x="4141007" y="4635584"/>
            <a:ext cx="0" cy="5097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箭頭接點 11">
            <a:extLst>
              <a:ext uri="{FF2B5EF4-FFF2-40B4-BE49-F238E27FC236}">
                <a16:creationId xmlns:a16="http://schemas.microsoft.com/office/drawing/2014/main" id="{F1FF3DF9-C6C8-FDCE-E3CE-61925F28344B}"/>
              </a:ext>
            </a:extLst>
          </p:cNvPr>
          <p:cNvCxnSpPr>
            <a:cxnSpLocks/>
          </p:cNvCxnSpPr>
          <p:nvPr/>
        </p:nvCxnSpPr>
        <p:spPr>
          <a:xfrm>
            <a:off x="1880704" y="4197320"/>
            <a:ext cx="454165"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箭頭接點 25">
            <a:extLst>
              <a:ext uri="{FF2B5EF4-FFF2-40B4-BE49-F238E27FC236}">
                <a16:creationId xmlns:a16="http://schemas.microsoft.com/office/drawing/2014/main" id="{1D44DBB5-ED82-02A3-9302-A42011057600}"/>
              </a:ext>
            </a:extLst>
          </p:cNvPr>
          <p:cNvCxnSpPr>
            <a:cxnSpLocks/>
          </p:cNvCxnSpPr>
          <p:nvPr/>
        </p:nvCxnSpPr>
        <p:spPr>
          <a:xfrm>
            <a:off x="3255492" y="4197320"/>
            <a:ext cx="454165"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箭頭接點 32">
            <a:extLst>
              <a:ext uri="{FF2B5EF4-FFF2-40B4-BE49-F238E27FC236}">
                <a16:creationId xmlns:a16="http://schemas.microsoft.com/office/drawing/2014/main" id="{257328A5-5F55-A752-538F-ABF645111174}"/>
              </a:ext>
            </a:extLst>
          </p:cNvPr>
          <p:cNvCxnSpPr>
            <a:cxnSpLocks/>
          </p:cNvCxnSpPr>
          <p:nvPr/>
        </p:nvCxnSpPr>
        <p:spPr>
          <a:xfrm flipV="1">
            <a:off x="4132163" y="3226711"/>
            <a:ext cx="0" cy="5097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矩形 35">
                <a:extLst>
                  <a:ext uri="{FF2B5EF4-FFF2-40B4-BE49-F238E27FC236}">
                    <a16:creationId xmlns:a16="http://schemas.microsoft.com/office/drawing/2014/main" id="{6C09E09E-1B5A-6B4B-0B4C-ABDBCCADEF4B}"/>
                  </a:ext>
                </a:extLst>
              </p:cNvPr>
              <p:cNvSpPr/>
              <p:nvPr/>
            </p:nvSpPr>
            <p:spPr>
              <a:xfrm>
                <a:off x="5340637" y="2479771"/>
                <a:ext cx="1968284" cy="6884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Classification Layer </a:t>
                </a:r>
                <a14:m>
                  <m:oMath xmlns:m="http://schemas.openxmlformats.org/officeDocument/2006/math">
                    <m:r>
                      <a:rPr lang="en-US" altLang="zh-TW" i="1">
                        <a:solidFill>
                          <a:schemeClr val="tx1"/>
                        </a:solidFill>
                        <a:latin typeface="Cambria Math" panose="02040503050406030204" pitchFamily="18" charset="0"/>
                      </a:rPr>
                      <m:t>𝑉</m:t>
                    </m:r>
                  </m:oMath>
                </a14:m>
                <a:endParaRPr kumimoji="1" lang="zh-TW" altLang="en-US" dirty="0">
                  <a:solidFill>
                    <a:schemeClr val="tx1"/>
                  </a:solidFill>
                </a:endParaRPr>
              </a:p>
            </p:txBody>
          </p:sp>
        </mc:Choice>
        <mc:Fallback xmlns="">
          <p:sp>
            <p:nvSpPr>
              <p:cNvPr id="36" name="矩形 35">
                <a:extLst>
                  <a:ext uri="{FF2B5EF4-FFF2-40B4-BE49-F238E27FC236}">
                    <a16:creationId xmlns:a16="http://schemas.microsoft.com/office/drawing/2014/main" id="{6C09E09E-1B5A-6B4B-0B4C-ABDBCCADEF4B}"/>
                  </a:ext>
                </a:extLst>
              </p:cNvPr>
              <p:cNvSpPr>
                <a:spLocks noRot="1" noChangeAspect="1" noMove="1" noResize="1" noEditPoints="1" noAdjustHandles="1" noChangeArrowheads="1" noChangeShapeType="1" noTextEdit="1"/>
              </p:cNvSpPr>
              <p:nvPr/>
            </p:nvSpPr>
            <p:spPr>
              <a:xfrm>
                <a:off x="5340637" y="2479771"/>
                <a:ext cx="1968284" cy="688455"/>
              </a:xfrm>
              <a:prstGeom prst="rect">
                <a:avLst/>
              </a:prstGeom>
              <a:blipFill>
                <a:blip r:embed="rId3"/>
                <a:stretch>
                  <a:fillRect b="-7018"/>
                </a:stretch>
              </a:blipFill>
              <a:ln>
                <a:solidFill>
                  <a:schemeClr val="tx1"/>
                </a:solidFill>
              </a:ln>
            </p:spPr>
            <p:txBody>
              <a:bodyPr/>
              <a:lstStyle/>
              <a:p>
                <a:r>
                  <a:rPr lang="zh-TW" altLang="en-US">
                    <a:noFill/>
                  </a:rPr>
                  <a:t> </a:t>
                </a:r>
              </a:p>
            </p:txBody>
          </p:sp>
        </mc:Fallback>
      </mc:AlternateContent>
      <p:cxnSp>
        <p:nvCxnSpPr>
          <p:cNvPr id="37" name="直線箭頭接點 36">
            <a:extLst>
              <a:ext uri="{FF2B5EF4-FFF2-40B4-BE49-F238E27FC236}">
                <a16:creationId xmlns:a16="http://schemas.microsoft.com/office/drawing/2014/main" id="{F504C4C2-7B73-596C-F469-CE40F29F2DF4}"/>
              </a:ext>
            </a:extLst>
          </p:cNvPr>
          <p:cNvCxnSpPr>
            <a:cxnSpLocks/>
          </p:cNvCxnSpPr>
          <p:nvPr/>
        </p:nvCxnSpPr>
        <p:spPr>
          <a:xfrm>
            <a:off x="4592137" y="2823999"/>
            <a:ext cx="63761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圓角矩形 33">
                <a:extLst>
                  <a:ext uri="{FF2B5EF4-FFF2-40B4-BE49-F238E27FC236}">
                    <a16:creationId xmlns:a16="http://schemas.microsoft.com/office/drawing/2014/main" id="{42772646-7307-A288-7C9B-A7DFA1BD87C6}"/>
                  </a:ext>
                </a:extLst>
              </p:cNvPr>
              <p:cNvSpPr/>
              <p:nvPr/>
            </p:nvSpPr>
            <p:spPr>
              <a:xfrm>
                <a:off x="3795279" y="2538249"/>
                <a:ext cx="673768" cy="571500"/>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sSub>
                        <m:sSubPr>
                          <m:ctrlPr>
                            <a:rPr lang="zh-TW" altLang="zh-TW" sz="2400" i="1" smtClean="0">
                              <a:solidFill>
                                <a:schemeClr val="tx1"/>
                              </a:solidFill>
                              <a:latin typeface="Cambria Math" panose="02040503050406030204" pitchFamily="18" charset="0"/>
                            </a:rPr>
                          </m:ctrlPr>
                        </m:sSubPr>
                        <m:e>
                          <m:r>
                            <a:rPr lang="en-US" altLang="zh-TW" sz="2400" i="1">
                              <a:solidFill>
                                <a:schemeClr val="tx1"/>
                              </a:solidFill>
                              <a:latin typeface="Cambria Math" panose="02040503050406030204" pitchFamily="18" charset="0"/>
                            </a:rPr>
                            <m:t>h</m:t>
                          </m:r>
                        </m:e>
                        <m:sub>
                          <m:r>
                            <a:rPr lang="en-US" altLang="zh-TW" sz="2400" i="1">
                              <a:solidFill>
                                <a:schemeClr val="tx1"/>
                              </a:solidFill>
                              <a:latin typeface="Cambria Math" panose="02040503050406030204" pitchFamily="18" charset="0"/>
                            </a:rPr>
                            <m:t>3</m:t>
                          </m:r>
                        </m:sub>
                      </m:sSub>
                    </m:oMath>
                  </m:oMathPara>
                </a14:m>
                <a:endParaRPr lang="zh-TW" altLang="zh-TW" sz="2400" dirty="0">
                  <a:solidFill>
                    <a:schemeClr val="tx1"/>
                  </a:solidFill>
                </a:endParaRPr>
              </a:p>
            </p:txBody>
          </p:sp>
        </mc:Choice>
        <mc:Fallback xmlns="">
          <p:sp>
            <p:nvSpPr>
              <p:cNvPr id="34" name="圓角矩形 33">
                <a:extLst>
                  <a:ext uri="{FF2B5EF4-FFF2-40B4-BE49-F238E27FC236}">
                    <a16:creationId xmlns:a16="http://schemas.microsoft.com/office/drawing/2014/main" id="{42772646-7307-A288-7C9B-A7DFA1BD87C6}"/>
                  </a:ext>
                </a:extLst>
              </p:cNvPr>
              <p:cNvSpPr>
                <a:spLocks noRot="1" noChangeAspect="1" noMove="1" noResize="1" noEditPoints="1" noAdjustHandles="1" noChangeArrowheads="1" noChangeShapeType="1" noTextEdit="1"/>
              </p:cNvSpPr>
              <p:nvPr/>
            </p:nvSpPr>
            <p:spPr>
              <a:xfrm>
                <a:off x="3795279" y="2538249"/>
                <a:ext cx="673768" cy="571500"/>
              </a:xfrm>
              <a:prstGeom prst="roundRect">
                <a:avLst/>
              </a:prstGeom>
              <a:blipFill>
                <a:blip r:embed="rId4"/>
                <a:stretch>
                  <a:fillRect/>
                </a:stretch>
              </a:blipFill>
              <a:ln w="28575">
                <a:solidFill>
                  <a:srgbClr val="00B050"/>
                </a:solidFill>
              </a:ln>
            </p:spPr>
            <p:txBody>
              <a:bodyPr/>
              <a:lstStyle/>
              <a:p>
                <a:r>
                  <a:rPr lang="zh-TW" altLang="en-US">
                    <a:noFill/>
                  </a:rPr>
                  <a:t> </a:t>
                </a:r>
              </a:p>
            </p:txBody>
          </p:sp>
        </mc:Fallback>
      </mc:AlternateContent>
      <p:sp>
        <p:nvSpPr>
          <p:cNvPr id="39" name="文字方塊 38">
            <a:extLst>
              <a:ext uri="{FF2B5EF4-FFF2-40B4-BE49-F238E27FC236}">
                <a16:creationId xmlns:a16="http://schemas.microsoft.com/office/drawing/2014/main" id="{D522AE8D-1F2D-4249-2548-0DF2ADBD9008}"/>
              </a:ext>
            </a:extLst>
          </p:cNvPr>
          <p:cNvSpPr txBox="1"/>
          <p:nvPr/>
        </p:nvSpPr>
        <p:spPr>
          <a:xfrm>
            <a:off x="3379025" y="2075615"/>
            <a:ext cx="1521625" cy="307777"/>
          </a:xfrm>
          <a:prstGeom prst="rect">
            <a:avLst/>
          </a:prstGeom>
          <a:noFill/>
        </p:spPr>
        <p:txBody>
          <a:bodyPr wrap="square" rtlCol="0">
            <a:spAutoFit/>
          </a:bodyPr>
          <a:lstStyle/>
          <a:p>
            <a:pPr algn="ctr"/>
            <a:r>
              <a:rPr kumimoji="1" lang="en-US" altLang="zh-TW" sz="1400" dirty="0"/>
              <a:t>(1, </a:t>
            </a:r>
            <a:r>
              <a:rPr kumimoji="1" lang="en-US" altLang="zh-TW" sz="1400" dirty="0" err="1"/>
              <a:t>hidden_size</a:t>
            </a:r>
            <a:r>
              <a:rPr kumimoji="1" lang="en-US" altLang="zh-TW" sz="1400" dirty="0"/>
              <a:t>)</a:t>
            </a:r>
            <a:endParaRPr kumimoji="1" lang="zh-TW" altLang="en-US" sz="1400" dirty="0"/>
          </a:p>
        </p:txBody>
      </p:sp>
      <mc:AlternateContent xmlns:mc="http://schemas.openxmlformats.org/markup-compatibility/2006" xmlns:a14="http://schemas.microsoft.com/office/drawing/2010/main">
        <mc:Choice Requires="a14">
          <p:sp>
            <p:nvSpPr>
              <p:cNvPr id="40" name="圓角矩形 39">
                <a:extLst>
                  <a:ext uri="{FF2B5EF4-FFF2-40B4-BE49-F238E27FC236}">
                    <a16:creationId xmlns:a16="http://schemas.microsoft.com/office/drawing/2014/main" id="{37B4C94E-E666-2B84-016F-D31C7068B918}"/>
                  </a:ext>
                </a:extLst>
              </p:cNvPr>
              <p:cNvSpPr/>
              <p:nvPr/>
            </p:nvSpPr>
            <p:spPr>
              <a:xfrm>
                <a:off x="6013348" y="4046686"/>
                <a:ext cx="673768" cy="571500"/>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zh-TW" altLang="zh-TW" sz="2400" i="1" smtClean="0">
                              <a:solidFill>
                                <a:schemeClr val="tx1"/>
                              </a:solidFill>
                              <a:latin typeface="Cambria Math" panose="02040503050406030204" pitchFamily="18" charset="0"/>
                            </a:rPr>
                          </m:ctrlPr>
                        </m:sSubPr>
                        <m:e>
                          <m:r>
                            <a:rPr lang="en-US" altLang="zh-TW" sz="2400" b="0" i="1" smtClean="0">
                              <a:solidFill>
                                <a:schemeClr val="tx1"/>
                              </a:solidFill>
                              <a:latin typeface="Cambria Math" panose="02040503050406030204" pitchFamily="18" charset="0"/>
                            </a:rPr>
                            <m:t>𝑜</m:t>
                          </m:r>
                        </m:e>
                        <m:sub>
                          <m:r>
                            <a:rPr lang="en-US" altLang="zh-TW" sz="2400" i="1">
                              <a:solidFill>
                                <a:schemeClr val="tx1"/>
                              </a:solidFill>
                              <a:latin typeface="Cambria Math" panose="02040503050406030204" pitchFamily="18" charset="0"/>
                            </a:rPr>
                            <m:t>3</m:t>
                          </m:r>
                        </m:sub>
                      </m:sSub>
                    </m:oMath>
                  </m:oMathPara>
                </a14:m>
                <a:endParaRPr kumimoji="1" lang="zh-TW" altLang="en-US" sz="2400" b="1" dirty="0">
                  <a:solidFill>
                    <a:schemeClr val="tx1"/>
                  </a:solidFill>
                </a:endParaRPr>
              </a:p>
            </p:txBody>
          </p:sp>
        </mc:Choice>
        <mc:Fallback xmlns="">
          <p:sp>
            <p:nvSpPr>
              <p:cNvPr id="40" name="圓角矩形 39">
                <a:extLst>
                  <a:ext uri="{FF2B5EF4-FFF2-40B4-BE49-F238E27FC236}">
                    <a16:creationId xmlns:a16="http://schemas.microsoft.com/office/drawing/2014/main" id="{37B4C94E-E666-2B84-016F-D31C7068B918}"/>
                  </a:ext>
                </a:extLst>
              </p:cNvPr>
              <p:cNvSpPr>
                <a:spLocks noRot="1" noChangeAspect="1" noMove="1" noResize="1" noEditPoints="1" noAdjustHandles="1" noChangeArrowheads="1" noChangeShapeType="1" noTextEdit="1"/>
              </p:cNvSpPr>
              <p:nvPr/>
            </p:nvSpPr>
            <p:spPr>
              <a:xfrm>
                <a:off x="6013348" y="4046686"/>
                <a:ext cx="673768" cy="571500"/>
              </a:xfrm>
              <a:prstGeom prst="roundRect">
                <a:avLst/>
              </a:prstGeom>
              <a:blipFill>
                <a:blip r:embed="rId5"/>
                <a:stretch>
                  <a:fillRect/>
                </a:stretch>
              </a:blipFill>
              <a:ln w="28575">
                <a:solidFill>
                  <a:srgbClr val="00B050"/>
                </a:solidFill>
              </a:ln>
            </p:spPr>
            <p:txBody>
              <a:bodyPr/>
              <a:lstStyle/>
              <a:p>
                <a:r>
                  <a:rPr lang="zh-TW" altLang="en-US">
                    <a:noFill/>
                  </a:rPr>
                  <a:t> </a:t>
                </a:r>
              </a:p>
            </p:txBody>
          </p:sp>
        </mc:Fallback>
      </mc:AlternateContent>
      <p:sp>
        <p:nvSpPr>
          <p:cNvPr id="41" name="文字方塊 40">
            <a:extLst>
              <a:ext uri="{FF2B5EF4-FFF2-40B4-BE49-F238E27FC236}">
                <a16:creationId xmlns:a16="http://schemas.microsoft.com/office/drawing/2014/main" id="{82598EF1-AAEA-BC2D-6367-51A87950FCBF}"/>
              </a:ext>
            </a:extLst>
          </p:cNvPr>
          <p:cNvSpPr txBox="1"/>
          <p:nvPr/>
        </p:nvSpPr>
        <p:spPr>
          <a:xfrm>
            <a:off x="4984607" y="3639517"/>
            <a:ext cx="2727049" cy="338554"/>
          </a:xfrm>
          <a:prstGeom prst="rect">
            <a:avLst/>
          </a:prstGeom>
          <a:noFill/>
        </p:spPr>
        <p:txBody>
          <a:bodyPr wrap="square" rtlCol="0">
            <a:spAutoFit/>
          </a:bodyPr>
          <a:lstStyle/>
          <a:p>
            <a:pPr algn="ctr"/>
            <a:r>
              <a:rPr kumimoji="1" lang="en-US" altLang="zh-TW" sz="1600" dirty="0"/>
              <a:t>(1, </a:t>
            </a:r>
            <a:r>
              <a:rPr kumimoji="1" lang="en-US" altLang="zh-TW" sz="1600" dirty="0" err="1">
                <a:solidFill>
                  <a:srgbClr val="FF0000"/>
                </a:solidFill>
              </a:rPr>
              <a:t>Vocab_size</a:t>
            </a:r>
            <a:r>
              <a:rPr kumimoji="1" lang="en-US" altLang="zh-TW" sz="1600" dirty="0"/>
              <a:t>)</a:t>
            </a:r>
            <a:endParaRPr kumimoji="1" lang="zh-TW" altLang="en-US" sz="1600" dirty="0"/>
          </a:p>
        </p:txBody>
      </p:sp>
      <p:cxnSp>
        <p:nvCxnSpPr>
          <p:cNvPr id="42" name="直線箭頭接點 41">
            <a:extLst>
              <a:ext uri="{FF2B5EF4-FFF2-40B4-BE49-F238E27FC236}">
                <a16:creationId xmlns:a16="http://schemas.microsoft.com/office/drawing/2014/main" id="{AD626588-EC2D-EEE2-4116-B55D7C483E57}"/>
              </a:ext>
            </a:extLst>
          </p:cNvPr>
          <p:cNvCxnSpPr>
            <a:cxnSpLocks/>
          </p:cNvCxnSpPr>
          <p:nvPr/>
        </p:nvCxnSpPr>
        <p:spPr>
          <a:xfrm>
            <a:off x="6348132" y="3247790"/>
            <a:ext cx="0" cy="37818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文字方塊 44">
            <a:extLst>
              <a:ext uri="{FF2B5EF4-FFF2-40B4-BE49-F238E27FC236}">
                <a16:creationId xmlns:a16="http://schemas.microsoft.com/office/drawing/2014/main" id="{F2099F3C-F78E-6A2B-2947-F9C8737CFA85}"/>
              </a:ext>
            </a:extLst>
          </p:cNvPr>
          <p:cNvSpPr txBox="1"/>
          <p:nvPr/>
        </p:nvSpPr>
        <p:spPr>
          <a:xfrm>
            <a:off x="8430482" y="2323987"/>
            <a:ext cx="1246720" cy="3970318"/>
          </a:xfrm>
          <a:prstGeom prst="rect">
            <a:avLst/>
          </a:prstGeom>
          <a:noFill/>
        </p:spPr>
        <p:txBody>
          <a:bodyPr wrap="square" rtlCol="0">
            <a:spAutoFit/>
          </a:bodyPr>
          <a:lstStyle/>
          <a:p>
            <a:r>
              <a:rPr kumimoji="1" lang="en-US" altLang="zh-TW" dirty="0"/>
              <a:t>a</a:t>
            </a:r>
          </a:p>
          <a:p>
            <a:r>
              <a:rPr kumimoji="1" lang="en-US" altLang="zh-TW" dirty="0"/>
              <a:t>...</a:t>
            </a:r>
          </a:p>
          <a:p>
            <a:r>
              <a:rPr kumimoji="1" lang="en-US" altLang="zh-TW" dirty="0"/>
              <a:t>apple</a:t>
            </a:r>
          </a:p>
          <a:p>
            <a:r>
              <a:rPr kumimoji="1" lang="en-US" altLang="zh-TW" dirty="0"/>
              <a:t>...</a:t>
            </a:r>
          </a:p>
          <a:p>
            <a:r>
              <a:rPr kumimoji="1" lang="en-US" altLang="zh-TW" dirty="0"/>
              <a:t>b</a:t>
            </a:r>
          </a:p>
          <a:p>
            <a:r>
              <a:rPr kumimoji="1" lang="en-US" altLang="zh-TW" dirty="0"/>
              <a:t>...</a:t>
            </a:r>
          </a:p>
          <a:p>
            <a:r>
              <a:rPr kumimoji="1" lang="en-US" altLang="zh-TW" dirty="0"/>
              <a:t>banana</a:t>
            </a:r>
          </a:p>
          <a:p>
            <a:r>
              <a:rPr kumimoji="1" lang="en-US" altLang="zh-TW" dirty="0"/>
              <a:t>...</a:t>
            </a:r>
          </a:p>
          <a:p>
            <a:r>
              <a:rPr kumimoji="1" lang="en-US" altLang="zh-TW" dirty="0"/>
              <a:t>elephant</a:t>
            </a:r>
          </a:p>
          <a:p>
            <a:r>
              <a:rPr kumimoji="1" lang="en-US" altLang="zh-TW" dirty="0"/>
              <a:t>...</a:t>
            </a:r>
          </a:p>
          <a:p>
            <a:r>
              <a:rPr kumimoji="1" lang="en-US" altLang="zh-TW" dirty="0"/>
              <a:t>eraser</a:t>
            </a:r>
          </a:p>
          <a:p>
            <a:r>
              <a:rPr kumimoji="1" lang="en-US" altLang="zh-TW" dirty="0"/>
              <a:t>...</a:t>
            </a:r>
          </a:p>
          <a:p>
            <a:r>
              <a:rPr kumimoji="1" lang="en-US" altLang="zh-TW" dirty="0"/>
              <a:t>...</a:t>
            </a:r>
          </a:p>
          <a:p>
            <a:r>
              <a:rPr kumimoji="1" lang="en-US" altLang="zh-TW" dirty="0"/>
              <a:t>zoo</a:t>
            </a:r>
            <a:endParaRPr kumimoji="1" lang="zh-TW" altLang="en-US" dirty="0"/>
          </a:p>
        </p:txBody>
      </p:sp>
      <p:sp>
        <p:nvSpPr>
          <p:cNvPr id="46" name="文字方塊 45">
            <a:extLst>
              <a:ext uri="{FF2B5EF4-FFF2-40B4-BE49-F238E27FC236}">
                <a16:creationId xmlns:a16="http://schemas.microsoft.com/office/drawing/2014/main" id="{EB660368-A093-E449-96B6-37BABFD81213}"/>
              </a:ext>
            </a:extLst>
          </p:cNvPr>
          <p:cNvSpPr txBox="1"/>
          <p:nvPr/>
        </p:nvSpPr>
        <p:spPr>
          <a:xfrm>
            <a:off x="9528585" y="2323987"/>
            <a:ext cx="1246720" cy="3970318"/>
          </a:xfrm>
          <a:prstGeom prst="rect">
            <a:avLst/>
          </a:prstGeom>
          <a:noFill/>
        </p:spPr>
        <p:txBody>
          <a:bodyPr wrap="square" rtlCol="0">
            <a:spAutoFit/>
          </a:bodyPr>
          <a:lstStyle/>
          <a:p>
            <a:r>
              <a:rPr kumimoji="1" lang="en-US" altLang="zh-TW" dirty="0"/>
              <a:t>0.0001</a:t>
            </a:r>
          </a:p>
          <a:p>
            <a:r>
              <a:rPr kumimoji="1" lang="en-US" altLang="zh-TW" dirty="0"/>
              <a:t>...</a:t>
            </a:r>
          </a:p>
          <a:p>
            <a:r>
              <a:rPr kumimoji="1" lang="en-US" altLang="zh-TW" dirty="0">
                <a:solidFill>
                  <a:srgbClr val="FF0000"/>
                </a:solidFill>
              </a:rPr>
              <a:t>0.600</a:t>
            </a:r>
          </a:p>
          <a:p>
            <a:r>
              <a:rPr kumimoji="1" lang="en-US" altLang="zh-TW" dirty="0"/>
              <a:t>...</a:t>
            </a:r>
          </a:p>
          <a:p>
            <a:r>
              <a:rPr kumimoji="1" lang="en-US" altLang="zh-TW" dirty="0"/>
              <a:t>0.0001</a:t>
            </a:r>
          </a:p>
          <a:p>
            <a:r>
              <a:rPr kumimoji="1" lang="en-US" altLang="zh-TW" dirty="0"/>
              <a:t>...</a:t>
            </a:r>
          </a:p>
          <a:p>
            <a:r>
              <a:rPr kumimoji="1" lang="en-US" altLang="zh-TW" dirty="0"/>
              <a:t>0.0003</a:t>
            </a:r>
          </a:p>
          <a:p>
            <a:r>
              <a:rPr kumimoji="1" lang="en-US" altLang="zh-TW" dirty="0"/>
              <a:t>...</a:t>
            </a:r>
          </a:p>
          <a:p>
            <a:r>
              <a:rPr kumimoji="1" lang="en-US" altLang="zh-TW" dirty="0">
                <a:solidFill>
                  <a:srgbClr val="FF0000"/>
                </a:solidFill>
              </a:rPr>
              <a:t>0.300</a:t>
            </a:r>
          </a:p>
          <a:p>
            <a:r>
              <a:rPr kumimoji="1" lang="en-US" altLang="zh-TW" dirty="0"/>
              <a:t>...</a:t>
            </a:r>
          </a:p>
          <a:p>
            <a:r>
              <a:rPr kumimoji="1" lang="en-US" altLang="zh-TW" dirty="0">
                <a:solidFill>
                  <a:srgbClr val="FF0000"/>
                </a:solidFill>
              </a:rPr>
              <a:t>0.05</a:t>
            </a:r>
          </a:p>
          <a:p>
            <a:r>
              <a:rPr kumimoji="1" lang="en-US" altLang="zh-TW" dirty="0"/>
              <a:t>...</a:t>
            </a:r>
          </a:p>
          <a:p>
            <a:r>
              <a:rPr kumimoji="1" lang="en-US" altLang="zh-TW" dirty="0"/>
              <a:t>...</a:t>
            </a:r>
          </a:p>
          <a:p>
            <a:r>
              <a:rPr kumimoji="1" lang="en-US" altLang="zh-TW" dirty="0"/>
              <a:t>0.0001</a:t>
            </a:r>
            <a:endParaRPr kumimoji="1" lang="zh-TW" altLang="en-US" dirty="0"/>
          </a:p>
        </p:txBody>
      </p:sp>
      <p:cxnSp>
        <p:nvCxnSpPr>
          <p:cNvPr id="49" name="直線接點 48">
            <a:extLst>
              <a:ext uri="{FF2B5EF4-FFF2-40B4-BE49-F238E27FC236}">
                <a16:creationId xmlns:a16="http://schemas.microsoft.com/office/drawing/2014/main" id="{66956FDE-BE9A-324F-F66F-A8C197B137C2}"/>
              </a:ext>
            </a:extLst>
          </p:cNvPr>
          <p:cNvCxnSpPr/>
          <p:nvPr/>
        </p:nvCxnSpPr>
        <p:spPr>
          <a:xfrm flipV="1">
            <a:off x="7572381" y="2479771"/>
            <a:ext cx="728432" cy="1826218"/>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直線接點 49">
            <a:extLst>
              <a:ext uri="{FF2B5EF4-FFF2-40B4-BE49-F238E27FC236}">
                <a16:creationId xmlns:a16="http://schemas.microsoft.com/office/drawing/2014/main" id="{E9E6F8AF-77C6-BAD2-7887-E81A757F7645}"/>
              </a:ext>
            </a:extLst>
          </p:cNvPr>
          <p:cNvCxnSpPr>
            <a:cxnSpLocks/>
          </p:cNvCxnSpPr>
          <p:nvPr/>
        </p:nvCxnSpPr>
        <p:spPr>
          <a:xfrm flipH="1" flipV="1">
            <a:off x="7572381" y="4403283"/>
            <a:ext cx="728432" cy="1826218"/>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直線接點 51">
            <a:extLst>
              <a:ext uri="{FF2B5EF4-FFF2-40B4-BE49-F238E27FC236}">
                <a16:creationId xmlns:a16="http://schemas.microsoft.com/office/drawing/2014/main" id="{EEE00C0D-5F7E-C3ED-CA9C-8112CF99132E}"/>
              </a:ext>
            </a:extLst>
          </p:cNvPr>
          <p:cNvCxnSpPr/>
          <p:nvPr/>
        </p:nvCxnSpPr>
        <p:spPr>
          <a:xfrm>
            <a:off x="6843972" y="4349834"/>
            <a:ext cx="630978" cy="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3" name="右大括弧 52">
            <a:extLst>
              <a:ext uri="{FF2B5EF4-FFF2-40B4-BE49-F238E27FC236}">
                <a16:creationId xmlns:a16="http://schemas.microsoft.com/office/drawing/2014/main" id="{E09434B5-6FEC-D973-FCC9-0E540FD23417}"/>
              </a:ext>
            </a:extLst>
          </p:cNvPr>
          <p:cNvSpPr/>
          <p:nvPr/>
        </p:nvSpPr>
        <p:spPr>
          <a:xfrm>
            <a:off x="10501384" y="2417802"/>
            <a:ext cx="373278" cy="378268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TW" altLang="en-US"/>
          </a:p>
        </p:txBody>
      </p:sp>
      <p:sp>
        <p:nvSpPr>
          <p:cNvPr id="54" name="文字方塊 53">
            <a:extLst>
              <a:ext uri="{FF2B5EF4-FFF2-40B4-BE49-F238E27FC236}">
                <a16:creationId xmlns:a16="http://schemas.microsoft.com/office/drawing/2014/main" id="{2D8C42DF-7E9A-C921-36DB-8E5134655A89}"/>
              </a:ext>
            </a:extLst>
          </p:cNvPr>
          <p:cNvSpPr txBox="1"/>
          <p:nvPr/>
        </p:nvSpPr>
        <p:spPr>
          <a:xfrm>
            <a:off x="10859150" y="3982823"/>
            <a:ext cx="839694" cy="646331"/>
          </a:xfrm>
          <a:prstGeom prst="rect">
            <a:avLst/>
          </a:prstGeom>
          <a:noFill/>
        </p:spPr>
        <p:txBody>
          <a:bodyPr wrap="square" rtlCol="0">
            <a:spAutoFit/>
          </a:bodyPr>
          <a:lstStyle/>
          <a:p>
            <a:pPr algn="ctr"/>
            <a:r>
              <a:rPr kumimoji="1" lang="en-US" altLang="zh-TW" dirty="0">
                <a:solidFill>
                  <a:srgbClr val="FF0000"/>
                </a:solidFill>
              </a:rPr>
              <a:t>Vocab</a:t>
            </a:r>
          </a:p>
          <a:p>
            <a:pPr algn="ctr"/>
            <a:r>
              <a:rPr kumimoji="1" lang="en-US" altLang="zh-TW" dirty="0">
                <a:solidFill>
                  <a:srgbClr val="FF0000"/>
                </a:solidFill>
              </a:rPr>
              <a:t>size</a:t>
            </a:r>
            <a:endParaRPr kumimoji="1" lang="zh-TW" altLang="en-US" dirty="0">
              <a:solidFill>
                <a:srgbClr val="FF0000"/>
              </a:solidFill>
            </a:endParaRPr>
          </a:p>
        </p:txBody>
      </p:sp>
      <p:sp>
        <p:nvSpPr>
          <p:cNvPr id="55" name="文字方塊 54">
            <a:extLst>
              <a:ext uri="{FF2B5EF4-FFF2-40B4-BE49-F238E27FC236}">
                <a16:creationId xmlns:a16="http://schemas.microsoft.com/office/drawing/2014/main" id="{A151BD34-8F4C-0447-E9B3-FEF499EC3283}"/>
              </a:ext>
            </a:extLst>
          </p:cNvPr>
          <p:cNvSpPr txBox="1"/>
          <p:nvPr/>
        </p:nvSpPr>
        <p:spPr>
          <a:xfrm>
            <a:off x="8416651" y="1937300"/>
            <a:ext cx="839694" cy="369332"/>
          </a:xfrm>
          <a:prstGeom prst="rect">
            <a:avLst/>
          </a:prstGeom>
          <a:noFill/>
        </p:spPr>
        <p:txBody>
          <a:bodyPr wrap="square" rtlCol="0">
            <a:spAutoFit/>
          </a:bodyPr>
          <a:lstStyle/>
          <a:p>
            <a:pPr algn="ctr"/>
            <a:r>
              <a:rPr kumimoji="1" lang="en-US" altLang="zh-TW" dirty="0">
                <a:solidFill>
                  <a:srgbClr val="0070C0"/>
                </a:solidFill>
              </a:rPr>
              <a:t>Vocab</a:t>
            </a:r>
          </a:p>
        </p:txBody>
      </p:sp>
      <p:sp>
        <p:nvSpPr>
          <p:cNvPr id="56" name="文字方塊 55">
            <a:extLst>
              <a:ext uri="{FF2B5EF4-FFF2-40B4-BE49-F238E27FC236}">
                <a16:creationId xmlns:a16="http://schemas.microsoft.com/office/drawing/2014/main" id="{5EEBE339-6BDB-4693-61B8-51C7547502C9}"/>
              </a:ext>
            </a:extLst>
          </p:cNvPr>
          <p:cNvSpPr txBox="1"/>
          <p:nvPr/>
        </p:nvSpPr>
        <p:spPr>
          <a:xfrm>
            <a:off x="9513721" y="1937300"/>
            <a:ext cx="839694" cy="369332"/>
          </a:xfrm>
          <a:prstGeom prst="rect">
            <a:avLst/>
          </a:prstGeom>
          <a:noFill/>
        </p:spPr>
        <p:txBody>
          <a:bodyPr wrap="square" rtlCol="0">
            <a:spAutoFit/>
          </a:bodyPr>
          <a:lstStyle/>
          <a:p>
            <a:pPr algn="ctr"/>
            <a:r>
              <a:rPr kumimoji="1" lang="en-US" altLang="zh-TW" dirty="0">
                <a:solidFill>
                  <a:srgbClr val="0070C0"/>
                </a:solidFill>
              </a:rPr>
              <a:t>Prob</a:t>
            </a:r>
          </a:p>
        </p:txBody>
      </p:sp>
      <mc:AlternateContent xmlns:mc="http://schemas.openxmlformats.org/markup-compatibility/2006" xmlns:a14="http://schemas.microsoft.com/office/drawing/2010/main">
        <mc:Choice Requires="a14">
          <p:sp>
            <p:nvSpPr>
              <p:cNvPr id="13" name="圓角矩形 12">
                <a:extLst>
                  <a:ext uri="{FF2B5EF4-FFF2-40B4-BE49-F238E27FC236}">
                    <a16:creationId xmlns:a16="http://schemas.microsoft.com/office/drawing/2014/main" id="{81E01E23-EA7F-26CA-D7FD-D3AD34EF18E3}"/>
                  </a:ext>
                </a:extLst>
              </p:cNvPr>
              <p:cNvSpPr/>
              <p:nvPr/>
            </p:nvSpPr>
            <p:spPr>
              <a:xfrm>
                <a:off x="2450284" y="2531936"/>
                <a:ext cx="673768" cy="571500"/>
              </a:xfrm>
              <a:prstGeom prst="roundRect">
                <a:avLst/>
              </a:prstGeom>
              <a:noFill/>
              <a:ln w="28575">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sSub>
                        <m:sSubPr>
                          <m:ctrlPr>
                            <a:rPr lang="zh-TW" altLang="zh-TW" sz="2400" i="1" smtClean="0">
                              <a:solidFill>
                                <a:schemeClr val="tx1"/>
                              </a:solidFill>
                              <a:latin typeface="Cambria Math" panose="02040503050406030204" pitchFamily="18" charset="0"/>
                            </a:rPr>
                          </m:ctrlPr>
                        </m:sSubPr>
                        <m:e>
                          <m:r>
                            <a:rPr lang="en-US" altLang="zh-TW" sz="2400" i="1">
                              <a:solidFill>
                                <a:schemeClr val="tx1"/>
                              </a:solidFill>
                              <a:latin typeface="Cambria Math" panose="02040503050406030204" pitchFamily="18" charset="0"/>
                            </a:rPr>
                            <m:t>h</m:t>
                          </m:r>
                        </m:e>
                        <m:sub>
                          <m:r>
                            <a:rPr lang="en-US" altLang="zh-TW" sz="2400" b="0" i="1" smtClean="0">
                              <a:solidFill>
                                <a:schemeClr val="tx1"/>
                              </a:solidFill>
                              <a:latin typeface="Cambria Math" panose="02040503050406030204" pitchFamily="18" charset="0"/>
                            </a:rPr>
                            <m:t>2</m:t>
                          </m:r>
                        </m:sub>
                      </m:sSub>
                    </m:oMath>
                  </m:oMathPara>
                </a14:m>
                <a:endParaRPr lang="zh-TW" altLang="zh-TW" sz="2400" dirty="0">
                  <a:solidFill>
                    <a:schemeClr val="tx1"/>
                  </a:solidFill>
                </a:endParaRPr>
              </a:p>
            </p:txBody>
          </p:sp>
        </mc:Choice>
        <mc:Fallback xmlns="">
          <p:sp>
            <p:nvSpPr>
              <p:cNvPr id="13" name="圓角矩形 12">
                <a:extLst>
                  <a:ext uri="{FF2B5EF4-FFF2-40B4-BE49-F238E27FC236}">
                    <a16:creationId xmlns:a16="http://schemas.microsoft.com/office/drawing/2014/main" id="{81E01E23-EA7F-26CA-D7FD-D3AD34EF18E3}"/>
                  </a:ext>
                </a:extLst>
              </p:cNvPr>
              <p:cNvSpPr>
                <a:spLocks noRot="1" noChangeAspect="1" noMove="1" noResize="1" noEditPoints="1" noAdjustHandles="1" noChangeArrowheads="1" noChangeShapeType="1" noTextEdit="1"/>
              </p:cNvSpPr>
              <p:nvPr/>
            </p:nvSpPr>
            <p:spPr>
              <a:xfrm>
                <a:off x="2450284" y="2531936"/>
                <a:ext cx="673768" cy="571500"/>
              </a:xfrm>
              <a:prstGeom prst="roundRect">
                <a:avLst/>
              </a:prstGeom>
              <a:blipFill>
                <a:blip r:embed="rId6"/>
                <a:stretch>
                  <a:fillRect/>
                </a:stretch>
              </a:blipFill>
              <a:ln w="28575">
                <a:solidFill>
                  <a:schemeClr val="bg1">
                    <a:lumMod val="75000"/>
                  </a:schemeClr>
                </a:solidFill>
                <a:prstDash val="dash"/>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圓角矩形 17">
                <a:extLst>
                  <a:ext uri="{FF2B5EF4-FFF2-40B4-BE49-F238E27FC236}">
                    <a16:creationId xmlns:a16="http://schemas.microsoft.com/office/drawing/2014/main" id="{FCE531B0-0209-8911-AB20-73BB1EB3BEA0}"/>
                  </a:ext>
                </a:extLst>
              </p:cNvPr>
              <p:cNvSpPr/>
              <p:nvPr/>
            </p:nvSpPr>
            <p:spPr>
              <a:xfrm>
                <a:off x="1079810" y="2521669"/>
                <a:ext cx="673768" cy="571500"/>
              </a:xfrm>
              <a:prstGeom prst="roundRect">
                <a:avLst/>
              </a:prstGeom>
              <a:noFill/>
              <a:ln w="28575">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sSub>
                        <m:sSubPr>
                          <m:ctrlPr>
                            <a:rPr lang="zh-TW" altLang="zh-TW" sz="2400" i="1" smtClean="0">
                              <a:solidFill>
                                <a:schemeClr val="tx1"/>
                              </a:solidFill>
                              <a:latin typeface="Cambria Math" panose="02040503050406030204" pitchFamily="18" charset="0"/>
                            </a:rPr>
                          </m:ctrlPr>
                        </m:sSubPr>
                        <m:e>
                          <m:r>
                            <a:rPr lang="en-US" altLang="zh-TW" sz="2400" i="1">
                              <a:solidFill>
                                <a:schemeClr val="tx1"/>
                              </a:solidFill>
                              <a:latin typeface="Cambria Math" panose="02040503050406030204" pitchFamily="18" charset="0"/>
                            </a:rPr>
                            <m:t>h</m:t>
                          </m:r>
                        </m:e>
                        <m:sub>
                          <m:r>
                            <a:rPr lang="en-US" altLang="zh-TW" sz="2400" b="0" i="1" smtClean="0">
                              <a:solidFill>
                                <a:schemeClr val="tx1"/>
                              </a:solidFill>
                              <a:latin typeface="Cambria Math" panose="02040503050406030204" pitchFamily="18" charset="0"/>
                            </a:rPr>
                            <m:t>1</m:t>
                          </m:r>
                        </m:sub>
                      </m:sSub>
                    </m:oMath>
                  </m:oMathPara>
                </a14:m>
                <a:endParaRPr lang="zh-TW" altLang="zh-TW" sz="2400" dirty="0">
                  <a:solidFill>
                    <a:schemeClr val="tx1"/>
                  </a:solidFill>
                </a:endParaRPr>
              </a:p>
            </p:txBody>
          </p:sp>
        </mc:Choice>
        <mc:Fallback xmlns="">
          <p:sp>
            <p:nvSpPr>
              <p:cNvPr id="18" name="圓角矩形 17">
                <a:extLst>
                  <a:ext uri="{FF2B5EF4-FFF2-40B4-BE49-F238E27FC236}">
                    <a16:creationId xmlns:a16="http://schemas.microsoft.com/office/drawing/2014/main" id="{FCE531B0-0209-8911-AB20-73BB1EB3BEA0}"/>
                  </a:ext>
                </a:extLst>
              </p:cNvPr>
              <p:cNvSpPr>
                <a:spLocks noRot="1" noChangeAspect="1" noMove="1" noResize="1" noEditPoints="1" noAdjustHandles="1" noChangeArrowheads="1" noChangeShapeType="1" noTextEdit="1"/>
              </p:cNvSpPr>
              <p:nvPr/>
            </p:nvSpPr>
            <p:spPr>
              <a:xfrm>
                <a:off x="1079810" y="2521669"/>
                <a:ext cx="673768" cy="571500"/>
              </a:xfrm>
              <a:prstGeom prst="roundRect">
                <a:avLst/>
              </a:prstGeom>
              <a:blipFill>
                <a:blip r:embed="rId7"/>
                <a:stretch>
                  <a:fillRect/>
                </a:stretch>
              </a:blipFill>
              <a:ln w="28575">
                <a:solidFill>
                  <a:schemeClr val="bg1">
                    <a:lumMod val="75000"/>
                  </a:schemeClr>
                </a:solidFill>
                <a:prstDash val="dash"/>
              </a:ln>
            </p:spPr>
            <p:txBody>
              <a:bodyPr/>
              <a:lstStyle/>
              <a:p>
                <a:r>
                  <a:rPr lang="zh-TW" altLang="en-US">
                    <a:noFill/>
                  </a:rPr>
                  <a:t> </a:t>
                </a:r>
              </a:p>
            </p:txBody>
          </p:sp>
        </mc:Fallback>
      </mc:AlternateContent>
      <p:cxnSp>
        <p:nvCxnSpPr>
          <p:cNvPr id="19" name="直線箭頭接點 18">
            <a:extLst>
              <a:ext uri="{FF2B5EF4-FFF2-40B4-BE49-F238E27FC236}">
                <a16:creationId xmlns:a16="http://schemas.microsoft.com/office/drawing/2014/main" id="{695A3FD4-AD49-0352-EE91-263E004765AA}"/>
              </a:ext>
            </a:extLst>
          </p:cNvPr>
          <p:cNvCxnSpPr>
            <a:cxnSpLocks/>
          </p:cNvCxnSpPr>
          <p:nvPr/>
        </p:nvCxnSpPr>
        <p:spPr>
          <a:xfrm flipV="1">
            <a:off x="2787168" y="3226711"/>
            <a:ext cx="0" cy="5097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箭頭接點 19">
            <a:extLst>
              <a:ext uri="{FF2B5EF4-FFF2-40B4-BE49-F238E27FC236}">
                <a16:creationId xmlns:a16="http://schemas.microsoft.com/office/drawing/2014/main" id="{B6D5EDE0-8376-B273-E991-B30A58AC223C}"/>
              </a:ext>
            </a:extLst>
          </p:cNvPr>
          <p:cNvCxnSpPr>
            <a:cxnSpLocks/>
          </p:cNvCxnSpPr>
          <p:nvPr/>
        </p:nvCxnSpPr>
        <p:spPr>
          <a:xfrm flipV="1">
            <a:off x="1416694" y="3202782"/>
            <a:ext cx="0" cy="5097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圓角矩形 21">
            <a:extLst>
              <a:ext uri="{FF2B5EF4-FFF2-40B4-BE49-F238E27FC236}">
                <a16:creationId xmlns:a16="http://schemas.microsoft.com/office/drawing/2014/main" id="{3BCB72AE-B665-3A90-38A9-632038151578}"/>
              </a:ext>
            </a:extLst>
          </p:cNvPr>
          <p:cNvSpPr/>
          <p:nvPr/>
        </p:nvSpPr>
        <p:spPr>
          <a:xfrm>
            <a:off x="1563505" y="6423560"/>
            <a:ext cx="381628" cy="229227"/>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solidFill>
                <a:schemeClr val="tx1"/>
              </a:solidFill>
            </a:endParaRPr>
          </a:p>
        </p:txBody>
      </p:sp>
      <p:sp>
        <p:nvSpPr>
          <p:cNvPr id="23" name="文字方塊 22">
            <a:extLst>
              <a:ext uri="{FF2B5EF4-FFF2-40B4-BE49-F238E27FC236}">
                <a16:creationId xmlns:a16="http://schemas.microsoft.com/office/drawing/2014/main" id="{A6C6F730-BCC8-0DE4-DA77-FCA5960C49C4}"/>
              </a:ext>
            </a:extLst>
          </p:cNvPr>
          <p:cNvSpPr txBox="1"/>
          <p:nvPr/>
        </p:nvSpPr>
        <p:spPr>
          <a:xfrm>
            <a:off x="1878573" y="6390354"/>
            <a:ext cx="1839962" cy="307777"/>
          </a:xfrm>
          <a:prstGeom prst="rect">
            <a:avLst/>
          </a:prstGeom>
          <a:noFill/>
        </p:spPr>
        <p:txBody>
          <a:bodyPr wrap="square" rtlCol="0">
            <a:spAutoFit/>
          </a:bodyPr>
          <a:lstStyle/>
          <a:p>
            <a:pPr algn="ctr"/>
            <a:r>
              <a:rPr kumimoji="1" lang="en-US" altLang="zh-TW" sz="1400" dirty="0"/>
              <a:t>Word embeddings</a:t>
            </a:r>
            <a:endParaRPr kumimoji="1" lang="zh-TW" altLang="en-US" sz="1400" dirty="0"/>
          </a:p>
        </p:txBody>
      </p:sp>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15AFD019-80A5-86B6-961D-076B447FE072}"/>
                  </a:ext>
                </a:extLst>
              </p:cNvPr>
              <p:cNvSpPr txBox="1"/>
              <p:nvPr/>
            </p:nvSpPr>
            <p:spPr>
              <a:xfrm>
                <a:off x="1883751" y="3808794"/>
                <a:ext cx="45416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zh-TW" sz="1800" i="1" smtClean="0">
                              <a:solidFill>
                                <a:schemeClr val="tx1"/>
                              </a:solidFill>
                              <a:latin typeface="Cambria Math" panose="02040503050406030204" pitchFamily="18" charset="0"/>
                            </a:rPr>
                          </m:ctrlPr>
                        </m:sSubPr>
                        <m:e>
                          <m:r>
                            <a:rPr lang="en-US" altLang="zh-TW" sz="1800" i="1">
                              <a:solidFill>
                                <a:schemeClr val="tx1"/>
                              </a:solidFill>
                              <a:latin typeface="Cambria Math" panose="02040503050406030204" pitchFamily="18" charset="0"/>
                            </a:rPr>
                            <m:t>h</m:t>
                          </m:r>
                        </m:e>
                        <m:sub>
                          <m:r>
                            <a:rPr lang="en-US" altLang="zh-TW" sz="1800" b="0" i="1" smtClean="0">
                              <a:solidFill>
                                <a:schemeClr val="tx1"/>
                              </a:solidFill>
                              <a:latin typeface="Cambria Math" panose="02040503050406030204" pitchFamily="18" charset="0"/>
                            </a:rPr>
                            <m:t>1</m:t>
                          </m:r>
                        </m:sub>
                      </m:sSub>
                    </m:oMath>
                  </m:oMathPara>
                </a14:m>
                <a:endParaRPr lang="zh-TW" altLang="en-US" dirty="0"/>
              </a:p>
            </p:txBody>
          </p:sp>
        </mc:Choice>
        <mc:Fallback xmlns="">
          <p:sp>
            <p:nvSpPr>
              <p:cNvPr id="25" name="文字方塊 24">
                <a:extLst>
                  <a:ext uri="{FF2B5EF4-FFF2-40B4-BE49-F238E27FC236}">
                    <a16:creationId xmlns:a16="http://schemas.microsoft.com/office/drawing/2014/main" id="{15AFD019-80A5-86B6-961D-076B447FE072}"/>
                  </a:ext>
                </a:extLst>
              </p:cNvPr>
              <p:cNvSpPr txBox="1">
                <a:spLocks noRot="1" noChangeAspect="1" noMove="1" noResize="1" noEditPoints="1" noAdjustHandles="1" noChangeArrowheads="1" noChangeShapeType="1" noTextEdit="1"/>
              </p:cNvSpPr>
              <p:nvPr/>
            </p:nvSpPr>
            <p:spPr>
              <a:xfrm>
                <a:off x="1883751" y="3808794"/>
                <a:ext cx="454165" cy="369332"/>
              </a:xfrm>
              <a:prstGeom prst="rect">
                <a:avLst/>
              </a:prstGeom>
              <a:blipFill>
                <a:blip r:embed="rId8"/>
                <a:stretch>
                  <a:fillRect b="-344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774BC75C-EEF7-CEC5-4919-CAC1C4FEB363}"/>
                  </a:ext>
                </a:extLst>
              </p:cNvPr>
              <p:cNvSpPr txBox="1"/>
              <p:nvPr/>
            </p:nvSpPr>
            <p:spPr>
              <a:xfrm>
                <a:off x="3241515" y="3808794"/>
                <a:ext cx="45416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zh-TW" sz="1800" i="1" smtClean="0">
                              <a:solidFill>
                                <a:schemeClr val="tx1"/>
                              </a:solidFill>
                              <a:latin typeface="Cambria Math" panose="02040503050406030204" pitchFamily="18" charset="0"/>
                            </a:rPr>
                          </m:ctrlPr>
                        </m:sSubPr>
                        <m:e>
                          <m:r>
                            <a:rPr lang="en-US" altLang="zh-TW" sz="1800" i="1">
                              <a:solidFill>
                                <a:schemeClr val="tx1"/>
                              </a:solidFill>
                              <a:latin typeface="Cambria Math" panose="02040503050406030204" pitchFamily="18" charset="0"/>
                            </a:rPr>
                            <m:t>h</m:t>
                          </m:r>
                        </m:e>
                        <m:sub>
                          <m:r>
                            <a:rPr lang="en-US" altLang="zh-TW" sz="1800" b="0" i="1" smtClean="0">
                              <a:solidFill>
                                <a:schemeClr val="tx1"/>
                              </a:solidFill>
                              <a:latin typeface="Cambria Math" panose="02040503050406030204" pitchFamily="18" charset="0"/>
                            </a:rPr>
                            <m:t>2</m:t>
                          </m:r>
                        </m:sub>
                      </m:sSub>
                    </m:oMath>
                  </m:oMathPara>
                </a14:m>
                <a:endParaRPr lang="zh-TW" altLang="en-US" dirty="0"/>
              </a:p>
            </p:txBody>
          </p:sp>
        </mc:Choice>
        <mc:Fallback xmlns="">
          <p:sp>
            <p:nvSpPr>
              <p:cNvPr id="27" name="文字方塊 26">
                <a:extLst>
                  <a:ext uri="{FF2B5EF4-FFF2-40B4-BE49-F238E27FC236}">
                    <a16:creationId xmlns:a16="http://schemas.microsoft.com/office/drawing/2014/main" id="{774BC75C-EEF7-CEC5-4919-CAC1C4FEB363}"/>
                  </a:ext>
                </a:extLst>
              </p:cNvPr>
              <p:cNvSpPr txBox="1">
                <a:spLocks noRot="1" noChangeAspect="1" noMove="1" noResize="1" noEditPoints="1" noAdjustHandles="1" noChangeArrowheads="1" noChangeShapeType="1" noTextEdit="1"/>
              </p:cNvSpPr>
              <p:nvPr/>
            </p:nvSpPr>
            <p:spPr>
              <a:xfrm>
                <a:off x="3241515" y="3808794"/>
                <a:ext cx="454165" cy="369332"/>
              </a:xfrm>
              <a:prstGeom prst="rect">
                <a:avLst/>
              </a:prstGeom>
              <a:blipFill>
                <a:blip r:embed="rId9"/>
                <a:stretch>
                  <a:fillRect b="-344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99989ED1-753D-4460-DDA1-83C4D06A2F39}"/>
                  </a:ext>
                </a:extLst>
              </p:cNvPr>
              <p:cNvSpPr txBox="1"/>
              <p:nvPr/>
            </p:nvSpPr>
            <p:spPr>
              <a:xfrm>
                <a:off x="653142" y="1509513"/>
                <a:ext cx="2470909" cy="307777"/>
              </a:xfrm>
              <a:prstGeom prst="rect">
                <a:avLst/>
              </a:prstGeom>
              <a:noFill/>
            </p:spPr>
            <p:txBody>
              <a:bodyPr wrap="square" rtlCol="0">
                <a:spAutoFit/>
              </a:bodyPr>
              <a:lstStyle/>
              <a:p>
                <a:pPr algn="ctr"/>
                <a:r>
                  <a:rPr kumimoji="1" lang="en-US" altLang="zh-TW" sz="1400" dirty="0"/>
                  <a:t>*</a:t>
                </a:r>
                <a:r>
                  <a:rPr kumimoji="1" lang="zh-TW" altLang="en-US" sz="1400" dirty="0"/>
                  <a:t>本頁的</a:t>
                </a:r>
                <a:r>
                  <a:rPr kumimoji="1" lang="en-US" altLang="zh-TW" sz="1400" dirty="0"/>
                  <a:t>RNN</a:t>
                </a:r>
                <a:r>
                  <a:rPr kumimoji="1" lang="zh-TW" altLang="en-US" sz="1400" dirty="0"/>
                  <a:t>不包含輸出層</a:t>
                </a:r>
                <a14:m>
                  <m:oMath xmlns:m="http://schemas.openxmlformats.org/officeDocument/2006/math">
                    <m:r>
                      <a:rPr lang="en-US" altLang="zh-TW" sz="1400" b="0" i="1" smtClean="0">
                        <a:latin typeface="Cambria Math" panose="02040503050406030204" pitchFamily="18" charset="0"/>
                      </a:rPr>
                      <m:t>𝑉</m:t>
                    </m:r>
                  </m:oMath>
                </a14:m>
                <a:endParaRPr lang="zh-TW" altLang="en-US" sz="1400" dirty="0"/>
              </a:p>
            </p:txBody>
          </p:sp>
        </mc:Choice>
        <mc:Fallback xmlns="">
          <p:sp>
            <p:nvSpPr>
              <p:cNvPr id="28" name="文字方塊 27">
                <a:extLst>
                  <a:ext uri="{FF2B5EF4-FFF2-40B4-BE49-F238E27FC236}">
                    <a16:creationId xmlns:a16="http://schemas.microsoft.com/office/drawing/2014/main" id="{99989ED1-753D-4460-DDA1-83C4D06A2F39}"/>
                  </a:ext>
                </a:extLst>
              </p:cNvPr>
              <p:cNvSpPr txBox="1">
                <a:spLocks noRot="1" noChangeAspect="1" noMove="1" noResize="1" noEditPoints="1" noAdjustHandles="1" noChangeArrowheads="1" noChangeShapeType="1" noTextEdit="1"/>
              </p:cNvSpPr>
              <p:nvPr/>
            </p:nvSpPr>
            <p:spPr>
              <a:xfrm>
                <a:off x="653142" y="1509513"/>
                <a:ext cx="2470909" cy="307777"/>
              </a:xfrm>
              <a:prstGeom prst="rect">
                <a:avLst/>
              </a:prstGeom>
              <a:blipFill>
                <a:blip r:embed="rId10"/>
                <a:stretch>
                  <a:fillRect t="-4000" b="-20000"/>
                </a:stretch>
              </a:blipFill>
            </p:spPr>
            <p:txBody>
              <a:bodyPr/>
              <a:lstStyle/>
              <a:p>
                <a:r>
                  <a:rPr lang="zh-TW" altLang="en-US">
                    <a:noFill/>
                  </a:rPr>
                  <a:t> </a:t>
                </a:r>
              </a:p>
            </p:txBody>
          </p:sp>
        </mc:Fallback>
      </mc:AlternateContent>
      <p:sp>
        <p:nvSpPr>
          <p:cNvPr id="29" name="文字方塊 28">
            <a:extLst>
              <a:ext uri="{FF2B5EF4-FFF2-40B4-BE49-F238E27FC236}">
                <a16:creationId xmlns:a16="http://schemas.microsoft.com/office/drawing/2014/main" id="{8FF51323-929F-C653-8DF8-8B33CC851110}"/>
              </a:ext>
            </a:extLst>
          </p:cNvPr>
          <p:cNvSpPr txBox="1"/>
          <p:nvPr/>
        </p:nvSpPr>
        <p:spPr>
          <a:xfrm>
            <a:off x="2037741" y="2077071"/>
            <a:ext cx="1521625" cy="307777"/>
          </a:xfrm>
          <a:prstGeom prst="rect">
            <a:avLst/>
          </a:prstGeom>
          <a:noFill/>
        </p:spPr>
        <p:txBody>
          <a:bodyPr wrap="square" rtlCol="0">
            <a:spAutoFit/>
          </a:bodyPr>
          <a:lstStyle/>
          <a:p>
            <a:pPr algn="ctr"/>
            <a:r>
              <a:rPr kumimoji="1" lang="en-US" altLang="zh-TW" sz="1400" dirty="0"/>
              <a:t>(1, </a:t>
            </a:r>
            <a:r>
              <a:rPr kumimoji="1" lang="en-US" altLang="zh-TW" sz="1400" dirty="0" err="1"/>
              <a:t>hidden_size</a:t>
            </a:r>
            <a:r>
              <a:rPr kumimoji="1" lang="en-US" altLang="zh-TW" sz="1400" dirty="0"/>
              <a:t>)</a:t>
            </a:r>
            <a:endParaRPr kumimoji="1" lang="zh-TW" altLang="en-US" sz="1400" dirty="0"/>
          </a:p>
        </p:txBody>
      </p:sp>
      <p:sp>
        <p:nvSpPr>
          <p:cNvPr id="30" name="文字方塊 29">
            <a:extLst>
              <a:ext uri="{FF2B5EF4-FFF2-40B4-BE49-F238E27FC236}">
                <a16:creationId xmlns:a16="http://schemas.microsoft.com/office/drawing/2014/main" id="{4DDA4593-CCEC-BA37-2161-5E283A6CD22A}"/>
              </a:ext>
            </a:extLst>
          </p:cNvPr>
          <p:cNvSpPr txBox="1"/>
          <p:nvPr/>
        </p:nvSpPr>
        <p:spPr>
          <a:xfrm>
            <a:off x="655882" y="2078057"/>
            <a:ext cx="1521625" cy="307777"/>
          </a:xfrm>
          <a:prstGeom prst="rect">
            <a:avLst/>
          </a:prstGeom>
          <a:noFill/>
        </p:spPr>
        <p:txBody>
          <a:bodyPr wrap="square" rtlCol="0">
            <a:spAutoFit/>
          </a:bodyPr>
          <a:lstStyle/>
          <a:p>
            <a:pPr algn="ctr"/>
            <a:r>
              <a:rPr kumimoji="1" lang="en-US" altLang="zh-TW" sz="1400" dirty="0"/>
              <a:t>(1, </a:t>
            </a:r>
            <a:r>
              <a:rPr kumimoji="1" lang="en-US" altLang="zh-TW" sz="1400" dirty="0" err="1"/>
              <a:t>hidden_size</a:t>
            </a:r>
            <a:r>
              <a:rPr kumimoji="1" lang="en-US" altLang="zh-TW" sz="1400" dirty="0"/>
              <a:t>)</a:t>
            </a:r>
            <a:endParaRPr kumimoji="1" lang="zh-TW" altLang="en-US" sz="1400" dirty="0"/>
          </a:p>
        </p:txBody>
      </p:sp>
      <p:sp>
        <p:nvSpPr>
          <p:cNvPr id="31" name="文字方塊 30">
            <a:extLst>
              <a:ext uri="{FF2B5EF4-FFF2-40B4-BE49-F238E27FC236}">
                <a16:creationId xmlns:a16="http://schemas.microsoft.com/office/drawing/2014/main" id="{AD4420E8-C43F-C5D9-727D-B484E5B01716}"/>
              </a:ext>
            </a:extLst>
          </p:cNvPr>
          <p:cNvSpPr txBox="1"/>
          <p:nvPr/>
        </p:nvSpPr>
        <p:spPr>
          <a:xfrm>
            <a:off x="6287811" y="3275111"/>
            <a:ext cx="1089210" cy="307777"/>
          </a:xfrm>
          <a:prstGeom prst="rect">
            <a:avLst/>
          </a:prstGeom>
          <a:noFill/>
        </p:spPr>
        <p:txBody>
          <a:bodyPr wrap="square" rtlCol="0">
            <a:spAutoFit/>
          </a:bodyPr>
          <a:lstStyle/>
          <a:p>
            <a:pPr algn="ctr"/>
            <a:r>
              <a:rPr kumimoji="1" lang="en-US" altLang="zh-TW" sz="1400" b="1" dirty="0" err="1">
                <a:solidFill>
                  <a:schemeClr val="accent6"/>
                </a:solidFill>
              </a:rPr>
              <a:t>Softmax</a:t>
            </a:r>
            <a:endParaRPr kumimoji="1" lang="zh-TW" altLang="en-US" sz="1400" b="1" dirty="0">
              <a:solidFill>
                <a:schemeClr val="accent6"/>
              </a:solidFill>
            </a:endParaRPr>
          </a:p>
        </p:txBody>
      </p:sp>
    </p:spTree>
    <p:extLst>
      <p:ext uri="{BB962C8B-B14F-4D97-AF65-F5344CB8AC3E}">
        <p14:creationId xmlns:p14="http://schemas.microsoft.com/office/powerpoint/2010/main" val="1866904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6"/>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4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6"/>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9"/>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50"/>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53"/>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54"/>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5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56"/>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52"/>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36" grpId="0" animBg="1"/>
      <p:bldP spid="34" grpId="0" animBg="1"/>
      <p:bldP spid="39" grpId="0"/>
      <p:bldP spid="40" grpId="0" animBg="1"/>
      <p:bldP spid="41" grpId="0"/>
      <p:bldP spid="45" grpId="0"/>
      <p:bldP spid="46" grpId="0"/>
      <p:bldP spid="53" grpId="0" animBg="1"/>
      <p:bldP spid="54" grpId="0"/>
      <p:bldP spid="55" grpId="0"/>
      <p:bldP spid="56" grpId="0"/>
      <p:bldP spid="13" grpId="0" animBg="1"/>
      <p:bldP spid="18" grpId="0" animBg="1"/>
      <p:bldP spid="25" grpId="0"/>
      <p:bldP spid="27" grpId="0"/>
      <p:bldP spid="29" grpId="0"/>
      <p:bldP spid="30" grpId="0"/>
      <p:bldP spid="3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A3F028-993D-F301-8C72-D86DFC095DC8}"/>
              </a:ext>
            </a:extLst>
          </p:cNvPr>
          <p:cNvSpPr>
            <a:spLocks noGrp="1"/>
          </p:cNvSpPr>
          <p:nvPr>
            <p:ph type="title"/>
          </p:nvPr>
        </p:nvSpPr>
        <p:spPr/>
        <p:txBody>
          <a:bodyPr/>
          <a:lstStyle/>
          <a:p>
            <a:r>
              <a:rPr kumimoji="1" lang="en-US" altLang="zh-TW" dirty="0">
                <a:cs typeface="Calibri" panose="020F0502020204030204" pitchFamily="34" charset="0"/>
              </a:rPr>
              <a:t>Transformers’ Achievements</a:t>
            </a:r>
            <a:endParaRPr kumimoji="1" lang="zh-TW" altLang="en-US" dirty="0">
              <a:cs typeface="Calibri" panose="020F0502020204030204" pitchFamily="34" charset="0"/>
            </a:endParaRPr>
          </a:p>
        </p:txBody>
      </p:sp>
      <p:sp>
        <p:nvSpPr>
          <p:cNvPr id="3" name="內容版面配置區 2">
            <a:extLst>
              <a:ext uri="{FF2B5EF4-FFF2-40B4-BE49-F238E27FC236}">
                <a16:creationId xmlns:a16="http://schemas.microsoft.com/office/drawing/2014/main" id="{93EBF71A-B981-E505-92D2-44EEB882F963}"/>
              </a:ext>
            </a:extLst>
          </p:cNvPr>
          <p:cNvSpPr>
            <a:spLocks noGrp="1"/>
          </p:cNvSpPr>
          <p:nvPr>
            <p:ph idx="1"/>
          </p:nvPr>
        </p:nvSpPr>
        <p:spPr>
          <a:xfrm>
            <a:off x="1097280" y="1845734"/>
            <a:ext cx="10115203" cy="4023360"/>
          </a:xfrm>
        </p:spPr>
        <p:txBody>
          <a:bodyPr/>
          <a:lstStyle/>
          <a:p>
            <a:r>
              <a:rPr kumimoji="1" lang="en-US" altLang="zh-TW" dirty="0">
                <a:latin typeface="Calibri" panose="020F0502020204030204" pitchFamily="34" charset="0"/>
                <a:cs typeface="Calibri" panose="020F0502020204030204" pitchFamily="34" charset="0"/>
              </a:rPr>
              <a:t>1. In original paper, State-of-The-Art (</a:t>
            </a:r>
            <a:r>
              <a:rPr kumimoji="1" lang="en-US" altLang="zh-TW" dirty="0" err="1">
                <a:latin typeface="Calibri" panose="020F0502020204030204" pitchFamily="34" charset="0"/>
                <a:cs typeface="Calibri" panose="020F0502020204030204" pitchFamily="34" charset="0"/>
              </a:rPr>
              <a:t>SoTA</a:t>
            </a:r>
            <a:r>
              <a:rPr kumimoji="1" lang="en-US" altLang="zh-TW" dirty="0">
                <a:latin typeface="Calibri" panose="020F0502020204030204" pitchFamily="34" charset="0"/>
                <a:cs typeface="Calibri" panose="020F0502020204030204" pitchFamily="34" charset="0"/>
              </a:rPr>
              <a:t>) of machine translation. </a:t>
            </a:r>
          </a:p>
          <a:p>
            <a:endParaRPr kumimoji="1" lang="en-US" altLang="zh-TW" dirty="0"/>
          </a:p>
        </p:txBody>
      </p:sp>
      <p:sp>
        <p:nvSpPr>
          <p:cNvPr id="4" name="投影片編號版面配置區 3">
            <a:extLst>
              <a:ext uri="{FF2B5EF4-FFF2-40B4-BE49-F238E27FC236}">
                <a16:creationId xmlns:a16="http://schemas.microsoft.com/office/drawing/2014/main" id="{5E11D3E9-934D-9932-2A91-F9E4C2AA27C9}"/>
              </a:ext>
            </a:extLst>
          </p:cNvPr>
          <p:cNvSpPr>
            <a:spLocks noGrp="1"/>
          </p:cNvSpPr>
          <p:nvPr>
            <p:ph type="sldNum" sz="quarter" idx="12"/>
          </p:nvPr>
        </p:nvSpPr>
        <p:spPr/>
        <p:txBody>
          <a:bodyPr/>
          <a:lstStyle/>
          <a:p>
            <a:fld id="{6113E31D-E2AB-40D1-8B51-AFA5AFEF393A}" type="slidenum">
              <a:rPr lang="en-US" smtClean="0"/>
              <a:t>17</a:t>
            </a:fld>
            <a:endParaRPr lang="en-US"/>
          </a:p>
        </p:txBody>
      </p:sp>
      <p:pic>
        <p:nvPicPr>
          <p:cNvPr id="8" name="圖片 7">
            <a:extLst>
              <a:ext uri="{FF2B5EF4-FFF2-40B4-BE49-F238E27FC236}">
                <a16:creationId xmlns:a16="http://schemas.microsoft.com/office/drawing/2014/main" id="{74A17411-B717-645A-8507-E025B5B845F2}"/>
              </a:ext>
            </a:extLst>
          </p:cNvPr>
          <p:cNvPicPr>
            <a:picLocks noChangeAspect="1"/>
          </p:cNvPicPr>
          <p:nvPr/>
        </p:nvPicPr>
        <p:blipFill>
          <a:blip r:embed="rId2"/>
          <a:stretch>
            <a:fillRect/>
          </a:stretch>
        </p:blipFill>
        <p:spPr>
          <a:xfrm>
            <a:off x="2209800" y="2453980"/>
            <a:ext cx="7772400" cy="3523488"/>
          </a:xfrm>
          <a:prstGeom prst="rect">
            <a:avLst/>
          </a:prstGeom>
        </p:spPr>
      </p:pic>
      <p:sp>
        <p:nvSpPr>
          <p:cNvPr id="9" name="文字方塊 8">
            <a:extLst>
              <a:ext uri="{FF2B5EF4-FFF2-40B4-BE49-F238E27FC236}">
                <a16:creationId xmlns:a16="http://schemas.microsoft.com/office/drawing/2014/main" id="{42F3EFA5-FF43-F60E-C8CB-8C8F06602276}"/>
              </a:ext>
            </a:extLst>
          </p:cNvPr>
          <p:cNvSpPr txBox="1"/>
          <p:nvPr/>
        </p:nvSpPr>
        <p:spPr>
          <a:xfrm>
            <a:off x="2644685" y="5849295"/>
            <a:ext cx="7911785" cy="246221"/>
          </a:xfrm>
          <a:prstGeom prst="rect">
            <a:avLst/>
          </a:prstGeom>
          <a:noFill/>
        </p:spPr>
        <p:txBody>
          <a:bodyPr wrap="square">
            <a:spAutoFit/>
          </a:bodyPr>
          <a:lstStyle/>
          <a:p>
            <a:r>
              <a:rPr lang="en-US" altLang="zh-TW" sz="1000" dirty="0">
                <a:solidFill>
                  <a:srgbClr val="222222"/>
                </a:solidFill>
                <a:effectLst/>
                <a:latin typeface="Calibri" panose="020F0502020204030204" pitchFamily="34" charset="0"/>
                <a:cs typeface="Calibri" panose="020F0502020204030204" pitchFamily="34" charset="0"/>
              </a:rPr>
              <a:t>Vaswani, Ashish, et al. "Attention is all you need." Advances in neural information processing systems 30 (2017).</a:t>
            </a:r>
            <a:endParaRPr lang="zh-TW" altLang="en-US" sz="1000" dirty="0">
              <a:latin typeface="Calibri" panose="020F0502020204030204" pitchFamily="34" charset="0"/>
              <a:cs typeface="Calibri" panose="020F0502020204030204" pitchFamily="34" charset="0"/>
            </a:endParaRPr>
          </a:p>
        </p:txBody>
      </p:sp>
      <p:sp>
        <p:nvSpPr>
          <p:cNvPr id="11" name="文字方塊 10">
            <a:extLst>
              <a:ext uri="{FF2B5EF4-FFF2-40B4-BE49-F238E27FC236}">
                <a16:creationId xmlns:a16="http://schemas.microsoft.com/office/drawing/2014/main" id="{44BD2B3E-ECBF-1D19-A7BD-E65A9B1A98FD}"/>
              </a:ext>
            </a:extLst>
          </p:cNvPr>
          <p:cNvSpPr txBox="1"/>
          <p:nvPr/>
        </p:nvSpPr>
        <p:spPr>
          <a:xfrm>
            <a:off x="2644685" y="6021103"/>
            <a:ext cx="6097978" cy="276999"/>
          </a:xfrm>
          <a:prstGeom prst="rect">
            <a:avLst/>
          </a:prstGeom>
          <a:noFill/>
        </p:spPr>
        <p:txBody>
          <a:bodyPr wrap="square">
            <a:spAutoFit/>
          </a:bodyPr>
          <a:lstStyle/>
          <a:p>
            <a:r>
              <a:rPr lang="en-US" altLang="zh-TW" sz="1200" b="0" i="0" dirty="0">
                <a:solidFill>
                  <a:srgbClr val="000000"/>
                </a:solidFill>
                <a:effectLst/>
                <a:latin typeface="PingFang TC" panose="020B0400000000000000" pitchFamily="34" charset="-120"/>
                <a:ea typeface="PingFang TC" panose="020B0400000000000000" pitchFamily="34" charset="-120"/>
              </a:rPr>
              <a:t>https://</a:t>
            </a:r>
            <a:r>
              <a:rPr lang="en-US" altLang="zh-TW" sz="1200" b="0" i="0" dirty="0" err="1">
                <a:solidFill>
                  <a:srgbClr val="000000"/>
                </a:solidFill>
                <a:effectLst/>
                <a:latin typeface="PingFang TC" panose="020B0400000000000000" pitchFamily="34" charset="-120"/>
                <a:ea typeface="PingFang TC" panose="020B0400000000000000" pitchFamily="34" charset="-120"/>
              </a:rPr>
              <a:t>arxiv.org</a:t>
            </a:r>
            <a:r>
              <a:rPr lang="en-US" altLang="zh-TW" sz="1200" b="0" i="0" dirty="0">
                <a:solidFill>
                  <a:srgbClr val="000000"/>
                </a:solidFill>
                <a:effectLst/>
                <a:latin typeface="PingFang TC" panose="020B0400000000000000" pitchFamily="34" charset="-120"/>
                <a:ea typeface="PingFang TC" panose="020B0400000000000000" pitchFamily="34" charset="-120"/>
              </a:rPr>
              <a:t>/abs/1706.03762</a:t>
            </a:r>
            <a:endParaRPr lang="zh-TW" altLang="en-US" sz="1200" dirty="0"/>
          </a:p>
        </p:txBody>
      </p:sp>
      <p:sp>
        <p:nvSpPr>
          <p:cNvPr id="12" name="文字方塊 11">
            <a:extLst>
              <a:ext uri="{FF2B5EF4-FFF2-40B4-BE49-F238E27FC236}">
                <a16:creationId xmlns:a16="http://schemas.microsoft.com/office/drawing/2014/main" id="{6ADC889A-8EAE-1581-53D1-1AA1EE7FD6AF}"/>
              </a:ext>
            </a:extLst>
          </p:cNvPr>
          <p:cNvSpPr txBox="1"/>
          <p:nvPr/>
        </p:nvSpPr>
        <p:spPr>
          <a:xfrm>
            <a:off x="830878" y="5210332"/>
            <a:ext cx="1721922" cy="95410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en-US" altLang="zh-TW" sz="1400" dirty="0">
                <a:ln w="0"/>
                <a:solidFill>
                  <a:sysClr val="windowText" lastClr="000000"/>
                </a:solidFill>
                <a:effectLst>
                  <a:outerShdw blurRad="38100" dist="19050" dir="2700000" algn="tl" rotWithShape="0">
                    <a:schemeClr val="dk1">
                      <a:alpha val="40000"/>
                    </a:schemeClr>
                  </a:outerShdw>
                </a:effectLst>
              </a:rPr>
              <a:t>6 encoders, </a:t>
            </a:r>
          </a:p>
          <a:p>
            <a:r>
              <a:rPr kumimoji="1" lang="en-US" altLang="zh-TW" sz="1400" dirty="0">
                <a:ln w="0"/>
                <a:solidFill>
                  <a:sysClr val="windowText" lastClr="000000"/>
                </a:solidFill>
                <a:effectLst>
                  <a:outerShdw blurRad="38100" dist="19050" dir="2700000" algn="tl" rotWithShape="0">
                    <a:schemeClr val="dk1">
                      <a:alpha val="40000"/>
                    </a:schemeClr>
                  </a:outerShdw>
                </a:effectLst>
              </a:rPr>
              <a:t>6 decoders, </a:t>
            </a:r>
          </a:p>
          <a:p>
            <a:r>
              <a:rPr kumimoji="1" lang="en-US" altLang="zh-TW" sz="1400" dirty="0">
                <a:ln w="0"/>
                <a:solidFill>
                  <a:sysClr val="windowText" lastClr="000000"/>
                </a:solidFill>
                <a:effectLst>
                  <a:outerShdw blurRad="38100" dist="19050" dir="2700000" algn="tl" rotWithShape="0">
                    <a:schemeClr val="dk1">
                      <a:alpha val="40000"/>
                    </a:schemeClr>
                  </a:outerShdw>
                </a:effectLst>
              </a:rPr>
              <a:t>h = 1024, 300K train steps.</a:t>
            </a:r>
            <a:endParaRPr kumimoji="1" lang="zh-TW" altLang="en-US" sz="1400" dirty="0">
              <a:ln w="0"/>
              <a:solidFill>
                <a:sysClr val="windowText" lastClr="000000"/>
              </a:solidFill>
              <a:effectLst>
                <a:outerShdw blurRad="38100" dist="19050" dir="2700000" algn="tl" rotWithShape="0">
                  <a:schemeClr val="dk1">
                    <a:alpha val="40000"/>
                  </a:schemeClr>
                </a:outerShdw>
              </a:effectLst>
            </a:endParaRPr>
          </a:p>
        </p:txBody>
      </p:sp>
      <p:cxnSp>
        <p:nvCxnSpPr>
          <p:cNvPr id="14" name="直線箭頭接點 13">
            <a:extLst>
              <a:ext uri="{FF2B5EF4-FFF2-40B4-BE49-F238E27FC236}">
                <a16:creationId xmlns:a16="http://schemas.microsoft.com/office/drawing/2014/main" id="{B8D4DD5A-E706-B6F0-57ED-174E30069FCA}"/>
              </a:ext>
            </a:extLst>
          </p:cNvPr>
          <p:cNvCxnSpPr>
            <a:stCxn id="12" idx="3"/>
          </p:cNvCxnSpPr>
          <p:nvPr/>
        </p:nvCxnSpPr>
        <p:spPr>
          <a:xfrm>
            <a:off x="2552800" y="5687386"/>
            <a:ext cx="23790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文字方塊 14">
            <a:extLst>
              <a:ext uri="{FF2B5EF4-FFF2-40B4-BE49-F238E27FC236}">
                <a16:creationId xmlns:a16="http://schemas.microsoft.com/office/drawing/2014/main" id="{4C871A64-8FAB-C83E-4517-3E3017EF0ABA}"/>
              </a:ext>
            </a:extLst>
          </p:cNvPr>
          <p:cNvSpPr txBox="1"/>
          <p:nvPr/>
        </p:nvSpPr>
        <p:spPr>
          <a:xfrm>
            <a:off x="830878" y="4094317"/>
            <a:ext cx="1721922" cy="954107"/>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kumimoji="1" lang="en-US" altLang="zh-TW" sz="1400" dirty="0">
                <a:ln w="0"/>
                <a:solidFill>
                  <a:schemeClr val="tx1"/>
                </a:solidFill>
                <a:effectLst>
                  <a:outerShdw blurRad="38100" dist="19050" dir="2700000" algn="tl" rotWithShape="0">
                    <a:schemeClr val="dk1">
                      <a:alpha val="40000"/>
                    </a:schemeClr>
                  </a:outerShdw>
                </a:effectLst>
              </a:rPr>
              <a:t>6 encoders, </a:t>
            </a:r>
          </a:p>
          <a:p>
            <a:r>
              <a:rPr kumimoji="1" lang="en-US" altLang="zh-TW" sz="1400" dirty="0">
                <a:ln w="0"/>
                <a:solidFill>
                  <a:schemeClr val="tx1"/>
                </a:solidFill>
                <a:effectLst>
                  <a:outerShdw blurRad="38100" dist="19050" dir="2700000" algn="tl" rotWithShape="0">
                    <a:schemeClr val="dk1">
                      <a:alpha val="40000"/>
                    </a:schemeClr>
                  </a:outerShdw>
                </a:effectLst>
              </a:rPr>
              <a:t>6 decoders, </a:t>
            </a:r>
          </a:p>
          <a:p>
            <a:r>
              <a:rPr kumimoji="1" lang="en-US" altLang="zh-TW" sz="1400" dirty="0">
                <a:ln w="0"/>
                <a:solidFill>
                  <a:schemeClr val="tx1"/>
                </a:solidFill>
                <a:effectLst>
                  <a:outerShdw blurRad="38100" dist="19050" dir="2700000" algn="tl" rotWithShape="0">
                    <a:schemeClr val="dk1">
                      <a:alpha val="40000"/>
                    </a:schemeClr>
                  </a:outerShdw>
                </a:effectLst>
              </a:rPr>
              <a:t>h = 512, 100K train steps.</a:t>
            </a:r>
            <a:endParaRPr kumimoji="1" lang="zh-TW" altLang="en-US" sz="1400" dirty="0">
              <a:ln w="0"/>
              <a:solidFill>
                <a:schemeClr val="tx1"/>
              </a:solidFill>
              <a:effectLst>
                <a:outerShdw blurRad="38100" dist="19050" dir="2700000" algn="tl" rotWithShape="0">
                  <a:schemeClr val="dk1">
                    <a:alpha val="40000"/>
                  </a:schemeClr>
                </a:outerShdw>
              </a:effectLst>
            </a:endParaRPr>
          </a:p>
        </p:txBody>
      </p:sp>
      <p:cxnSp>
        <p:nvCxnSpPr>
          <p:cNvPr id="17" name="直線箭頭接點 16">
            <a:extLst>
              <a:ext uri="{FF2B5EF4-FFF2-40B4-BE49-F238E27FC236}">
                <a16:creationId xmlns:a16="http://schemas.microsoft.com/office/drawing/2014/main" id="{BF4CF4AA-1081-43CF-B15C-05EF6938393B}"/>
              </a:ext>
            </a:extLst>
          </p:cNvPr>
          <p:cNvCxnSpPr>
            <a:cxnSpLocks/>
            <a:stCxn id="15" idx="3"/>
          </p:cNvCxnSpPr>
          <p:nvPr/>
        </p:nvCxnSpPr>
        <p:spPr>
          <a:xfrm>
            <a:off x="2552800" y="4571371"/>
            <a:ext cx="237901" cy="911523"/>
          </a:xfrm>
          <a:prstGeom prst="straightConnector1">
            <a:avLst/>
          </a:prstGeom>
          <a:ln>
            <a:tailEnd type="triangle"/>
          </a:ln>
        </p:spPr>
        <p:style>
          <a:lnRef idx="2">
            <a:schemeClr val="accent5"/>
          </a:lnRef>
          <a:fillRef idx="1">
            <a:schemeClr val="lt1"/>
          </a:fillRef>
          <a:effectRef idx="0">
            <a:schemeClr val="accent5"/>
          </a:effectRef>
          <a:fontRef idx="minor">
            <a:schemeClr val="dk1"/>
          </a:fontRef>
        </p:style>
      </p:cxnSp>
    </p:spTree>
    <p:extLst>
      <p:ext uri="{BB962C8B-B14F-4D97-AF65-F5344CB8AC3E}">
        <p14:creationId xmlns:p14="http://schemas.microsoft.com/office/powerpoint/2010/main" val="40600898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D7C726B-1C00-4F26-0746-371876643587}"/>
              </a:ext>
            </a:extLst>
          </p:cNvPr>
          <p:cNvSpPr>
            <a:spLocks noGrp="1"/>
          </p:cNvSpPr>
          <p:nvPr>
            <p:ph type="title"/>
          </p:nvPr>
        </p:nvSpPr>
        <p:spPr/>
        <p:txBody>
          <a:bodyPr/>
          <a:lstStyle/>
          <a:p>
            <a:r>
              <a:rPr kumimoji="1" lang="en-US" altLang="zh-TW" dirty="0">
                <a:cs typeface="Calibri" panose="020F0502020204030204" pitchFamily="34" charset="0"/>
              </a:rPr>
              <a:t>Transformer Variants </a:t>
            </a:r>
            <a:r>
              <a:rPr kumimoji="1" lang="en-US" altLang="zh-TW" sz="2800" dirty="0">
                <a:latin typeface="Calibri" panose="020F0502020204030204" pitchFamily="34" charset="0"/>
                <a:cs typeface="Calibri" panose="020F0502020204030204" pitchFamily="34" charset="0"/>
              </a:rPr>
              <a:t>(there are many more)</a:t>
            </a:r>
            <a:endParaRPr kumimoji="1" lang="zh-TW" altLang="en-US" sz="2800" dirty="0">
              <a:latin typeface="Calibri" panose="020F0502020204030204" pitchFamily="34" charset="0"/>
              <a:cs typeface="Calibri" panose="020F0502020204030204" pitchFamily="34" charset="0"/>
            </a:endParaRPr>
          </a:p>
        </p:txBody>
      </p:sp>
      <p:sp>
        <p:nvSpPr>
          <p:cNvPr id="3" name="內容版面配置區 2">
            <a:extLst>
              <a:ext uri="{FF2B5EF4-FFF2-40B4-BE49-F238E27FC236}">
                <a16:creationId xmlns:a16="http://schemas.microsoft.com/office/drawing/2014/main" id="{46502E08-6439-3441-5CA6-525857B6CBBC}"/>
              </a:ext>
            </a:extLst>
          </p:cNvPr>
          <p:cNvSpPr>
            <a:spLocks noGrp="1"/>
          </p:cNvSpPr>
          <p:nvPr>
            <p:ph idx="1"/>
          </p:nvPr>
        </p:nvSpPr>
        <p:spPr/>
        <p:txBody>
          <a:bodyPr>
            <a:normAutofit fontScale="92500" lnSpcReduction="20000"/>
          </a:bodyPr>
          <a:lstStyle/>
          <a:p>
            <a:pPr>
              <a:buFont typeface="Wingdings" pitchFamily="2" charset="2"/>
              <a:buChar char="n"/>
            </a:pPr>
            <a:r>
              <a:rPr kumimoji="1" lang="en-US" altLang="zh-TW" dirty="0">
                <a:latin typeface="Calibri" panose="020F0502020204030204" pitchFamily="34" charset="0"/>
                <a:cs typeface="Calibri" panose="020F0502020204030204" pitchFamily="34" charset="0"/>
              </a:rPr>
              <a:t> Universal Transformer</a:t>
            </a:r>
          </a:p>
          <a:p>
            <a:pPr lvl="1">
              <a:buFont typeface="Wingdings" pitchFamily="2" charset="2"/>
              <a:buChar char="n"/>
            </a:pPr>
            <a:r>
              <a:rPr kumimoji="1" lang="en-US" altLang="zh-TW" dirty="0">
                <a:latin typeface="Calibri" panose="020F0502020204030204" pitchFamily="34" charset="0"/>
                <a:cs typeface="Calibri" panose="020F0502020204030204" pitchFamily="34" charset="0"/>
              </a:rPr>
              <a:t> Adds Adaptive Computation Time</a:t>
            </a:r>
          </a:p>
          <a:p>
            <a:pPr lvl="1">
              <a:buFont typeface="Wingdings" pitchFamily="2" charset="2"/>
              <a:buChar char="n"/>
            </a:pPr>
            <a:r>
              <a:rPr kumimoji="1" lang="en-US" altLang="zh-TW" dirty="0">
                <a:latin typeface="Calibri" panose="020F0502020204030204" pitchFamily="34" charset="0"/>
                <a:cs typeface="Calibri" panose="020F0502020204030204" pitchFamily="34" charset="0"/>
              </a:rPr>
              <a:t> </a:t>
            </a:r>
            <a:r>
              <a:rPr kumimoji="1" lang="en-US" altLang="zh-TW" dirty="0" err="1">
                <a:latin typeface="Calibri" panose="020F0502020204030204" pitchFamily="34" charset="0"/>
                <a:cs typeface="Calibri" panose="020F0502020204030204" pitchFamily="34" charset="0"/>
              </a:rPr>
              <a:t>Dehghani</a:t>
            </a:r>
            <a:r>
              <a:rPr kumimoji="1" lang="en-US" altLang="zh-TW" dirty="0">
                <a:latin typeface="Calibri" panose="020F0502020204030204" pitchFamily="34" charset="0"/>
                <a:cs typeface="Calibri" panose="020F0502020204030204" pitchFamily="34" charset="0"/>
              </a:rPr>
              <a:t>, Mostafa, et al. "Universal transformers." </a:t>
            </a:r>
            <a:r>
              <a:rPr kumimoji="1" lang="en-US" altLang="zh-TW" dirty="0" err="1">
                <a:latin typeface="Calibri" panose="020F0502020204030204" pitchFamily="34" charset="0"/>
                <a:cs typeface="Calibri" panose="020F0502020204030204" pitchFamily="34" charset="0"/>
              </a:rPr>
              <a:t>arXiv</a:t>
            </a:r>
            <a:r>
              <a:rPr kumimoji="1" lang="en-US" altLang="zh-TW" dirty="0">
                <a:latin typeface="Calibri" panose="020F0502020204030204" pitchFamily="34" charset="0"/>
                <a:cs typeface="Calibri" panose="020F0502020204030204" pitchFamily="34" charset="0"/>
              </a:rPr>
              <a:t> preprint arXiv:1807.03819 (2018). </a:t>
            </a:r>
          </a:p>
          <a:p>
            <a:pPr>
              <a:buFont typeface="Wingdings" pitchFamily="2" charset="2"/>
              <a:buChar char="n"/>
            </a:pPr>
            <a:r>
              <a:rPr kumimoji="1" lang="en-US" altLang="zh-TW" dirty="0">
                <a:latin typeface="Calibri" panose="020F0502020204030204" pitchFamily="34" charset="0"/>
                <a:cs typeface="Calibri" panose="020F0502020204030204" pitchFamily="34" charset="0"/>
              </a:rPr>
              <a:t> </a:t>
            </a:r>
            <a:r>
              <a:rPr kumimoji="1" lang="en-US" altLang="zh-TW" dirty="0" err="1">
                <a:latin typeface="Calibri" panose="020F0502020204030204" pitchFamily="34" charset="0"/>
                <a:cs typeface="Calibri" panose="020F0502020204030204" pitchFamily="34" charset="0"/>
              </a:rPr>
              <a:t>Longformer</a:t>
            </a:r>
            <a:r>
              <a:rPr kumimoji="1" lang="en-US" altLang="zh-TW" dirty="0">
                <a:latin typeface="Calibri" panose="020F0502020204030204" pitchFamily="34" charset="0"/>
                <a:cs typeface="Calibri" panose="020F0502020204030204" pitchFamily="34" charset="0"/>
              </a:rPr>
              <a:t> </a:t>
            </a:r>
          </a:p>
          <a:p>
            <a:pPr lvl="1">
              <a:buFont typeface="Wingdings" pitchFamily="2" charset="2"/>
              <a:buChar char="n"/>
            </a:pPr>
            <a:r>
              <a:rPr kumimoji="1" lang="en-US" altLang="zh-TW" dirty="0">
                <a:latin typeface="Calibri" panose="020F0502020204030204" pitchFamily="34" charset="0"/>
                <a:cs typeface="Calibri" panose="020F0502020204030204" pitchFamily="34" charset="0"/>
              </a:rPr>
              <a:t> Tackles long documents</a:t>
            </a:r>
          </a:p>
          <a:p>
            <a:pPr lvl="1">
              <a:buFont typeface="Wingdings" pitchFamily="2" charset="2"/>
              <a:buChar char="n"/>
            </a:pPr>
            <a:r>
              <a:rPr kumimoji="1" lang="en-US" altLang="zh-TW" dirty="0">
                <a:latin typeface="Calibri" panose="020F0502020204030204" pitchFamily="34" charset="0"/>
                <a:cs typeface="Calibri" panose="020F0502020204030204" pitchFamily="34" charset="0"/>
              </a:rPr>
              <a:t> </a:t>
            </a:r>
            <a:r>
              <a:rPr kumimoji="1" lang="en-US" altLang="zh-TW" dirty="0" err="1">
                <a:latin typeface="Calibri" panose="020F0502020204030204" pitchFamily="34" charset="0"/>
                <a:cs typeface="Calibri" panose="020F0502020204030204" pitchFamily="34" charset="0"/>
              </a:rPr>
              <a:t>Iz</a:t>
            </a:r>
            <a:r>
              <a:rPr kumimoji="1" lang="en-US" altLang="zh-TW" dirty="0">
                <a:latin typeface="Calibri" panose="020F0502020204030204" pitchFamily="34" charset="0"/>
                <a:cs typeface="Calibri" panose="020F0502020204030204" pitchFamily="34" charset="0"/>
              </a:rPr>
              <a:t> </a:t>
            </a:r>
            <a:r>
              <a:rPr kumimoji="1" lang="en-US" altLang="zh-TW" dirty="0" err="1">
                <a:latin typeface="Calibri" panose="020F0502020204030204" pitchFamily="34" charset="0"/>
                <a:cs typeface="Calibri" panose="020F0502020204030204" pitchFamily="34" charset="0"/>
              </a:rPr>
              <a:t>Beltagy</a:t>
            </a:r>
            <a:r>
              <a:rPr kumimoji="1" lang="en-US" altLang="zh-TW" dirty="0">
                <a:latin typeface="Calibri" panose="020F0502020204030204" pitchFamily="34" charset="0"/>
                <a:cs typeface="Calibri" panose="020F0502020204030204" pitchFamily="34" charset="0"/>
              </a:rPr>
              <a:t>, et al. (2020). </a:t>
            </a:r>
            <a:r>
              <a:rPr kumimoji="1" lang="en-US" altLang="zh-TW" dirty="0" err="1">
                <a:latin typeface="Calibri" panose="020F0502020204030204" pitchFamily="34" charset="0"/>
                <a:cs typeface="Calibri" panose="020F0502020204030204" pitchFamily="34" charset="0"/>
              </a:rPr>
              <a:t>Longformer</a:t>
            </a:r>
            <a:r>
              <a:rPr kumimoji="1" lang="en-US" altLang="zh-TW" dirty="0">
                <a:latin typeface="Calibri" panose="020F0502020204030204" pitchFamily="34" charset="0"/>
                <a:cs typeface="Calibri" panose="020F0502020204030204" pitchFamily="34" charset="0"/>
              </a:rPr>
              <a:t>: The Long-Document Transformer. arXiv:2004.05150.</a:t>
            </a:r>
          </a:p>
          <a:p>
            <a:pPr>
              <a:buFont typeface="Wingdings" pitchFamily="2" charset="2"/>
              <a:buChar char="n"/>
            </a:pPr>
            <a:r>
              <a:rPr kumimoji="1" lang="en-US" altLang="zh-TW" dirty="0">
                <a:latin typeface="Calibri" panose="020F0502020204030204" pitchFamily="34" charset="0"/>
                <a:cs typeface="Calibri" panose="020F0502020204030204" pitchFamily="34" charset="0"/>
              </a:rPr>
              <a:t> </a:t>
            </a:r>
            <a:r>
              <a:rPr kumimoji="1" lang="en-US" altLang="zh-TW" dirty="0" err="1">
                <a:latin typeface="Calibri" panose="020F0502020204030204" pitchFamily="34" charset="0"/>
                <a:cs typeface="Calibri" panose="020F0502020204030204" pitchFamily="34" charset="0"/>
              </a:rPr>
              <a:t>Roformer</a:t>
            </a:r>
            <a:r>
              <a:rPr kumimoji="1" lang="en-US" altLang="zh-TW" dirty="0">
                <a:latin typeface="Calibri" panose="020F0502020204030204" pitchFamily="34" charset="0"/>
                <a:cs typeface="Calibri" panose="020F0502020204030204" pitchFamily="34" charset="0"/>
              </a:rPr>
              <a:t> </a:t>
            </a:r>
          </a:p>
          <a:p>
            <a:pPr lvl="1">
              <a:buFont typeface="Wingdings" pitchFamily="2" charset="2"/>
              <a:buChar char="n"/>
            </a:pPr>
            <a:r>
              <a:rPr kumimoji="1" lang="en-US" altLang="zh-TW" dirty="0">
                <a:latin typeface="Calibri" panose="020F0502020204030204" pitchFamily="34" charset="0"/>
                <a:cs typeface="Calibri" panose="020F0502020204030204" pitchFamily="34" charset="0"/>
              </a:rPr>
              <a:t> Changes the design of positional encoding</a:t>
            </a:r>
          </a:p>
          <a:p>
            <a:pPr lvl="1">
              <a:buFont typeface="Wingdings" pitchFamily="2" charset="2"/>
              <a:buChar char="n"/>
            </a:pPr>
            <a:r>
              <a:rPr kumimoji="1" lang="en-US" altLang="zh-TW" dirty="0">
                <a:latin typeface="Calibri" panose="020F0502020204030204" pitchFamily="34" charset="0"/>
                <a:cs typeface="Calibri" panose="020F0502020204030204" pitchFamily="34" charset="0"/>
              </a:rPr>
              <a:t> </a:t>
            </a:r>
            <a:r>
              <a:rPr kumimoji="1" lang="en-US" altLang="zh-TW" dirty="0" err="1">
                <a:latin typeface="Calibri" panose="020F0502020204030204" pitchFamily="34" charset="0"/>
                <a:cs typeface="Calibri" panose="020F0502020204030204" pitchFamily="34" charset="0"/>
              </a:rPr>
              <a:t>Su</a:t>
            </a:r>
            <a:r>
              <a:rPr kumimoji="1" lang="en-US" altLang="zh-TW" dirty="0">
                <a:latin typeface="Calibri" panose="020F0502020204030204" pitchFamily="34" charset="0"/>
                <a:cs typeface="Calibri" panose="020F0502020204030204" pitchFamily="34" charset="0"/>
              </a:rPr>
              <a:t>, </a:t>
            </a:r>
            <a:r>
              <a:rPr kumimoji="1" lang="en-US" altLang="zh-TW" dirty="0" err="1">
                <a:latin typeface="Calibri" panose="020F0502020204030204" pitchFamily="34" charset="0"/>
                <a:cs typeface="Calibri" panose="020F0502020204030204" pitchFamily="34" charset="0"/>
              </a:rPr>
              <a:t>Jianlin</a:t>
            </a:r>
            <a:r>
              <a:rPr kumimoji="1" lang="en-US" altLang="zh-TW" dirty="0">
                <a:latin typeface="Calibri" panose="020F0502020204030204" pitchFamily="34" charset="0"/>
                <a:cs typeface="Calibri" panose="020F0502020204030204" pitchFamily="34" charset="0"/>
              </a:rPr>
              <a:t>, et al. "</a:t>
            </a:r>
            <a:r>
              <a:rPr kumimoji="1" lang="en-US" altLang="zh-TW" dirty="0" err="1">
                <a:latin typeface="Calibri" panose="020F0502020204030204" pitchFamily="34" charset="0"/>
                <a:cs typeface="Calibri" panose="020F0502020204030204" pitchFamily="34" charset="0"/>
              </a:rPr>
              <a:t>RoFormer</a:t>
            </a:r>
            <a:r>
              <a:rPr kumimoji="1" lang="en-US" altLang="zh-TW" dirty="0">
                <a:latin typeface="Calibri" panose="020F0502020204030204" pitchFamily="34" charset="0"/>
                <a:cs typeface="Calibri" panose="020F0502020204030204" pitchFamily="34" charset="0"/>
              </a:rPr>
              <a:t>: Enhanced Transformer with Rotary Position Embedding. </a:t>
            </a:r>
            <a:r>
              <a:rPr kumimoji="1" lang="en-US" altLang="zh-TW" dirty="0" err="1">
                <a:latin typeface="Calibri" panose="020F0502020204030204" pitchFamily="34" charset="0"/>
                <a:cs typeface="Calibri" panose="020F0502020204030204" pitchFamily="34" charset="0"/>
              </a:rPr>
              <a:t>CoRR</a:t>
            </a:r>
            <a:r>
              <a:rPr kumimoji="1" lang="en-US" altLang="zh-TW" dirty="0">
                <a:latin typeface="Calibri" panose="020F0502020204030204" pitchFamily="34" charset="0"/>
                <a:cs typeface="Calibri" panose="020F0502020204030204" pitchFamily="34" charset="0"/>
              </a:rPr>
              <a:t> abs/2104.09864 (2021)." </a:t>
            </a:r>
            <a:r>
              <a:rPr kumimoji="1" lang="en-US" altLang="zh-TW" dirty="0" err="1">
                <a:latin typeface="Calibri" panose="020F0502020204030204" pitchFamily="34" charset="0"/>
                <a:cs typeface="Calibri" panose="020F0502020204030204" pitchFamily="34" charset="0"/>
              </a:rPr>
              <a:t>arXiv</a:t>
            </a:r>
            <a:r>
              <a:rPr kumimoji="1" lang="en-US" altLang="zh-TW" dirty="0">
                <a:latin typeface="Calibri" panose="020F0502020204030204" pitchFamily="34" charset="0"/>
                <a:cs typeface="Calibri" panose="020F0502020204030204" pitchFamily="34" charset="0"/>
              </a:rPr>
              <a:t> preprint arXiv:2104.09864 (2021).</a:t>
            </a:r>
          </a:p>
          <a:p>
            <a:pPr>
              <a:buFont typeface="Wingdings" pitchFamily="2" charset="2"/>
              <a:buChar char="n"/>
            </a:pPr>
            <a:r>
              <a:rPr kumimoji="1" lang="en-US" altLang="zh-TW" dirty="0">
                <a:latin typeface="Calibri" panose="020F0502020204030204" pitchFamily="34" charset="0"/>
                <a:cs typeface="Calibri" panose="020F0502020204030204" pitchFamily="34" charset="0"/>
              </a:rPr>
              <a:t>Vision Transformer </a:t>
            </a:r>
          </a:p>
          <a:p>
            <a:pPr lvl="1">
              <a:buFont typeface="Wingdings" pitchFamily="2" charset="2"/>
              <a:buChar char="n"/>
            </a:pPr>
            <a:r>
              <a:rPr kumimoji="1" lang="en-US" altLang="zh-TW" dirty="0">
                <a:latin typeface="Calibri" panose="020F0502020204030204" pitchFamily="34" charset="0"/>
                <a:cs typeface="Calibri" panose="020F0502020204030204" pitchFamily="34" charset="0"/>
              </a:rPr>
              <a:t>Tackles vision tasks</a:t>
            </a:r>
          </a:p>
          <a:p>
            <a:pPr lvl="1">
              <a:buFont typeface="Wingdings" pitchFamily="2" charset="2"/>
              <a:buChar char="n"/>
            </a:pPr>
            <a:r>
              <a:rPr kumimoji="1" lang="en-US" altLang="zh-TW" dirty="0">
                <a:solidFill>
                  <a:srgbClr val="212529"/>
                </a:solidFill>
                <a:effectLst/>
                <a:latin typeface="Calibri" panose="020F0502020204030204" pitchFamily="34" charset="0"/>
                <a:cs typeface="Calibri" panose="020F0502020204030204" pitchFamily="34" charset="0"/>
              </a:rPr>
              <a:t> </a:t>
            </a:r>
            <a:r>
              <a:rPr lang="en-US" altLang="zh-TW" dirty="0">
                <a:solidFill>
                  <a:srgbClr val="212529"/>
                </a:solidFill>
                <a:effectLst/>
                <a:latin typeface="Calibri" panose="020F0502020204030204" pitchFamily="34" charset="0"/>
                <a:cs typeface="Calibri" panose="020F0502020204030204" pitchFamily="34" charset="0"/>
              </a:rPr>
              <a:t>Alexey </a:t>
            </a:r>
            <a:r>
              <a:rPr lang="en-US" altLang="zh-TW" dirty="0" err="1">
                <a:solidFill>
                  <a:srgbClr val="212529"/>
                </a:solidFill>
                <a:effectLst/>
                <a:latin typeface="Calibri" panose="020F0502020204030204" pitchFamily="34" charset="0"/>
                <a:cs typeface="Calibri" panose="020F0502020204030204" pitchFamily="34" charset="0"/>
              </a:rPr>
              <a:t>Dosovitskiy</a:t>
            </a:r>
            <a:r>
              <a:rPr lang="en-US" altLang="zh-TW" dirty="0">
                <a:solidFill>
                  <a:srgbClr val="212529"/>
                </a:solidFill>
                <a:effectLst/>
                <a:latin typeface="Calibri" panose="020F0502020204030204" pitchFamily="34" charset="0"/>
                <a:cs typeface="Calibri" panose="020F0502020204030204" pitchFamily="34" charset="0"/>
              </a:rPr>
              <a:t>, et al. “An Image is Worth 16x16 Words: Transformers for Image Recognition at Scale.” International Conference on Learning Representations. 2021.</a:t>
            </a:r>
            <a:endParaRPr kumimoji="1" lang="zh-TW" altLang="en-US" dirty="0">
              <a:latin typeface="Calibri" panose="020F0502020204030204" pitchFamily="34" charset="0"/>
              <a:cs typeface="Calibri" panose="020F0502020204030204" pitchFamily="34" charset="0"/>
            </a:endParaRPr>
          </a:p>
          <a:p>
            <a:pPr>
              <a:buFont typeface="Wingdings" pitchFamily="2" charset="2"/>
              <a:buChar char="n"/>
            </a:pPr>
            <a:endParaRPr kumimoji="1" lang="zh-TW" altLang="en-US" dirty="0">
              <a:latin typeface="Calibri" panose="020F0502020204030204" pitchFamily="34" charset="0"/>
              <a:cs typeface="Calibri" panose="020F0502020204030204" pitchFamily="34" charset="0"/>
            </a:endParaRPr>
          </a:p>
        </p:txBody>
      </p:sp>
      <p:sp>
        <p:nvSpPr>
          <p:cNvPr id="4" name="投影片編號版面配置區 3">
            <a:extLst>
              <a:ext uri="{FF2B5EF4-FFF2-40B4-BE49-F238E27FC236}">
                <a16:creationId xmlns:a16="http://schemas.microsoft.com/office/drawing/2014/main" id="{B2F75FD5-AF41-3278-FC08-A0E2F4C0696F}"/>
              </a:ext>
            </a:extLst>
          </p:cNvPr>
          <p:cNvSpPr>
            <a:spLocks noGrp="1"/>
          </p:cNvSpPr>
          <p:nvPr>
            <p:ph type="sldNum" sz="quarter" idx="12"/>
          </p:nvPr>
        </p:nvSpPr>
        <p:spPr/>
        <p:txBody>
          <a:bodyPr/>
          <a:lstStyle/>
          <a:p>
            <a:fld id="{6113E31D-E2AB-40D1-8B51-AFA5AFEF393A}" type="slidenum">
              <a:rPr lang="en-US" smtClean="0"/>
              <a:t>18</a:t>
            </a:fld>
            <a:endParaRPr lang="en-US"/>
          </a:p>
        </p:txBody>
      </p:sp>
    </p:spTree>
    <p:extLst>
      <p:ext uri="{BB962C8B-B14F-4D97-AF65-F5344CB8AC3E}">
        <p14:creationId xmlns:p14="http://schemas.microsoft.com/office/powerpoint/2010/main" val="2768323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93494F-1C3B-3D6B-A72E-E48366CA935E}"/>
              </a:ext>
            </a:extLst>
          </p:cNvPr>
          <p:cNvSpPr>
            <a:spLocks noGrp="1"/>
          </p:cNvSpPr>
          <p:nvPr>
            <p:ph type="title"/>
          </p:nvPr>
        </p:nvSpPr>
        <p:spPr/>
        <p:txBody>
          <a:bodyPr/>
          <a:lstStyle/>
          <a:p>
            <a:r>
              <a:rPr kumimoji="1" lang="en-US" altLang="zh-TW" dirty="0"/>
              <a:t>Additional Links</a:t>
            </a:r>
            <a:endParaRPr kumimoji="1" lang="zh-TW" altLang="en-US" dirty="0"/>
          </a:p>
        </p:txBody>
      </p:sp>
      <p:sp>
        <p:nvSpPr>
          <p:cNvPr id="4" name="投影片編號版面配置區 3">
            <a:extLst>
              <a:ext uri="{FF2B5EF4-FFF2-40B4-BE49-F238E27FC236}">
                <a16:creationId xmlns:a16="http://schemas.microsoft.com/office/drawing/2014/main" id="{90565246-5560-F81C-59D7-7A88C4F9367A}"/>
              </a:ext>
            </a:extLst>
          </p:cNvPr>
          <p:cNvSpPr>
            <a:spLocks noGrp="1"/>
          </p:cNvSpPr>
          <p:nvPr>
            <p:ph type="sldNum" sz="quarter" idx="12"/>
          </p:nvPr>
        </p:nvSpPr>
        <p:spPr/>
        <p:txBody>
          <a:bodyPr/>
          <a:lstStyle/>
          <a:p>
            <a:fld id="{6113E31D-E2AB-40D1-8B51-AFA5AFEF393A}" type="slidenum">
              <a:rPr lang="en-US" smtClean="0"/>
              <a:pPr/>
              <a:t>19</a:t>
            </a:fld>
            <a:endParaRPr lang="en-US" dirty="0"/>
          </a:p>
        </p:txBody>
      </p:sp>
      <p:sp>
        <p:nvSpPr>
          <p:cNvPr id="5" name="文字方塊 4">
            <a:extLst>
              <a:ext uri="{FF2B5EF4-FFF2-40B4-BE49-F238E27FC236}">
                <a16:creationId xmlns:a16="http://schemas.microsoft.com/office/drawing/2014/main" id="{D8A1C55F-1531-41D1-3ADF-3B915E461B49}"/>
              </a:ext>
            </a:extLst>
          </p:cNvPr>
          <p:cNvSpPr txBox="1"/>
          <p:nvPr/>
        </p:nvSpPr>
        <p:spPr>
          <a:xfrm>
            <a:off x="653144" y="1806093"/>
            <a:ext cx="10918370" cy="169706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en-US" altLang="zh-TW" sz="2400" dirty="0"/>
              <a:t>https://</a:t>
            </a:r>
            <a:r>
              <a:rPr kumimoji="1" lang="en-US" altLang="zh-TW" sz="2400" dirty="0" err="1"/>
              <a:t>nlp.seas.harvard.edu</a:t>
            </a:r>
            <a:r>
              <a:rPr kumimoji="1" lang="en-US" altLang="zh-TW" sz="2400" dirty="0"/>
              <a:t>/annotated-transformer/</a:t>
            </a:r>
          </a:p>
          <a:p>
            <a:pPr marL="342900" indent="-342900">
              <a:lnSpc>
                <a:spcPct val="150000"/>
              </a:lnSpc>
              <a:buFont typeface="Arial" panose="020B0604020202020204" pitchFamily="34" charset="0"/>
              <a:buChar char="•"/>
            </a:pPr>
            <a:r>
              <a:rPr kumimoji="1" lang="en-US" altLang="zh-TW" sz="2400" dirty="0"/>
              <a:t>https://</a:t>
            </a:r>
            <a:r>
              <a:rPr kumimoji="1" lang="en-US" altLang="zh-TW" sz="2400" dirty="0" err="1"/>
              <a:t>datascience.stackexchange.com</a:t>
            </a:r>
            <a:r>
              <a:rPr kumimoji="1" lang="en-US" altLang="zh-TW" sz="2400" dirty="0"/>
              <a:t>/questions/82451/why-is-10000-used-as-the-denominator-in-positional-encodings-in-the-transformer</a:t>
            </a:r>
          </a:p>
        </p:txBody>
      </p:sp>
    </p:spTree>
    <p:extLst>
      <p:ext uri="{BB962C8B-B14F-4D97-AF65-F5344CB8AC3E}">
        <p14:creationId xmlns:p14="http://schemas.microsoft.com/office/powerpoint/2010/main" val="27739329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a:extLst>
              <a:ext uri="{FF2B5EF4-FFF2-40B4-BE49-F238E27FC236}">
                <a16:creationId xmlns:a16="http://schemas.microsoft.com/office/drawing/2014/main" id="{0988A61A-7679-5029-E481-E972BCDA8321}"/>
              </a:ext>
            </a:extLst>
          </p:cNvPr>
          <p:cNvSpPr>
            <a:spLocks noGrp="1"/>
          </p:cNvSpPr>
          <p:nvPr>
            <p:ph type="title"/>
          </p:nvPr>
        </p:nvSpPr>
        <p:spPr>
          <a:xfrm>
            <a:off x="457200" y="2407297"/>
            <a:ext cx="3200400" cy="1315617"/>
          </a:xfrm>
        </p:spPr>
        <p:txBody>
          <a:bodyPr/>
          <a:lstStyle/>
          <a:p>
            <a:r>
              <a:rPr lang="en-US" altLang="zh-TW" dirty="0"/>
              <a:t>BERT and its Family</a:t>
            </a:r>
            <a:endParaRPr lang="zh-TW" altLang="en-US" dirty="0"/>
          </a:p>
        </p:txBody>
      </p:sp>
      <p:sp>
        <p:nvSpPr>
          <p:cNvPr id="4" name="投影片編號版面配置區 3">
            <a:extLst>
              <a:ext uri="{FF2B5EF4-FFF2-40B4-BE49-F238E27FC236}">
                <a16:creationId xmlns:a16="http://schemas.microsoft.com/office/drawing/2014/main" id="{642B01E6-53DD-CC83-28F9-073680E15DA3}"/>
              </a:ext>
            </a:extLst>
          </p:cNvPr>
          <p:cNvSpPr>
            <a:spLocks noGrp="1"/>
          </p:cNvSpPr>
          <p:nvPr>
            <p:ph type="sldNum" sz="quarter" idx="12"/>
          </p:nvPr>
        </p:nvSpPr>
        <p:spPr/>
        <p:txBody>
          <a:bodyPr/>
          <a:lstStyle/>
          <a:p>
            <a:fld id="{6113E31D-E2AB-40D1-8B51-AFA5AFEF393A}" type="slidenum">
              <a:rPr lang="en-US" smtClean="0"/>
              <a:pPr/>
              <a:t>20</a:t>
            </a:fld>
            <a:endParaRPr lang="en-US" dirty="0"/>
          </a:p>
        </p:txBody>
      </p:sp>
      <p:sp>
        <p:nvSpPr>
          <p:cNvPr id="2" name="文字方塊 1">
            <a:extLst>
              <a:ext uri="{FF2B5EF4-FFF2-40B4-BE49-F238E27FC236}">
                <a16:creationId xmlns:a16="http://schemas.microsoft.com/office/drawing/2014/main" id="{1C0915F4-406B-77AB-8C4F-858F740AB7BA}"/>
              </a:ext>
            </a:extLst>
          </p:cNvPr>
          <p:cNvSpPr txBox="1"/>
          <p:nvPr/>
        </p:nvSpPr>
        <p:spPr>
          <a:xfrm>
            <a:off x="4612852" y="2151727"/>
            <a:ext cx="3921550" cy="2554545"/>
          </a:xfrm>
          <a:prstGeom prst="rect">
            <a:avLst/>
          </a:prstGeom>
          <a:noFill/>
        </p:spPr>
        <p:txBody>
          <a:bodyPr wrap="square" rtlCol="0">
            <a:spAutoFit/>
          </a:bodyPr>
          <a:lstStyle/>
          <a:p>
            <a:pPr marL="457200" indent="-457200">
              <a:buFont typeface="Arial" panose="020B0604020202020204" pitchFamily="34" charset="0"/>
              <a:buChar char="•"/>
            </a:pPr>
            <a:r>
              <a:rPr kumimoji="1" lang="en-US" altLang="zh-TW" sz="3200" dirty="0" err="1">
                <a:solidFill>
                  <a:srgbClr val="FF0000"/>
                </a:solidFill>
              </a:rPr>
              <a:t>ELMo</a:t>
            </a:r>
            <a:endParaRPr kumimoji="1" lang="en-US" altLang="zh-TW" sz="3200" dirty="0">
              <a:solidFill>
                <a:srgbClr val="FF0000"/>
              </a:solidFill>
            </a:endParaRPr>
          </a:p>
          <a:p>
            <a:pPr marL="457200" indent="-457200">
              <a:buFont typeface="Arial" panose="020B0604020202020204" pitchFamily="34" charset="0"/>
              <a:buChar char="•"/>
            </a:pPr>
            <a:r>
              <a:rPr kumimoji="1" lang="en-US" altLang="zh-TW" sz="3200" dirty="0"/>
              <a:t>BERT</a:t>
            </a:r>
          </a:p>
          <a:p>
            <a:pPr marL="457200" indent="-457200">
              <a:buFont typeface="Arial" panose="020B0604020202020204" pitchFamily="34" charset="0"/>
              <a:buChar char="•"/>
            </a:pPr>
            <a:r>
              <a:rPr kumimoji="1" lang="en-US" altLang="zh-TW" sz="3200" dirty="0" err="1"/>
              <a:t>RoBERTa</a:t>
            </a:r>
            <a:endParaRPr kumimoji="1" lang="en-US" altLang="zh-TW" sz="3200" dirty="0"/>
          </a:p>
          <a:p>
            <a:pPr marL="457200" indent="-457200">
              <a:buFont typeface="Arial" panose="020B0604020202020204" pitchFamily="34" charset="0"/>
              <a:buChar char="•"/>
            </a:pPr>
            <a:r>
              <a:rPr kumimoji="1" lang="en-US" altLang="zh-TW" sz="3200" dirty="0" err="1"/>
              <a:t>SpanBERT</a:t>
            </a:r>
            <a:endParaRPr kumimoji="1" lang="en-US" altLang="zh-TW" sz="3200" dirty="0"/>
          </a:p>
          <a:p>
            <a:pPr marL="457200" indent="-457200">
              <a:buFont typeface="Arial" panose="020B0604020202020204" pitchFamily="34" charset="0"/>
              <a:buChar char="•"/>
            </a:pPr>
            <a:r>
              <a:rPr kumimoji="1" lang="en-US" altLang="zh-TW" sz="3200" dirty="0" err="1"/>
              <a:t>DeBERTa</a:t>
            </a:r>
            <a:endParaRPr kumimoji="1" lang="zh-TW" altLang="en-US" sz="3200" dirty="0"/>
          </a:p>
        </p:txBody>
      </p:sp>
    </p:spTree>
    <p:extLst>
      <p:ext uri="{BB962C8B-B14F-4D97-AF65-F5344CB8AC3E}">
        <p14:creationId xmlns:p14="http://schemas.microsoft.com/office/powerpoint/2010/main" val="23888189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101E046-4B7F-576F-5217-73815E85BF9E}"/>
              </a:ext>
            </a:extLst>
          </p:cNvPr>
          <p:cNvSpPr>
            <a:spLocks noGrp="1"/>
          </p:cNvSpPr>
          <p:nvPr>
            <p:ph type="title"/>
          </p:nvPr>
        </p:nvSpPr>
        <p:spPr/>
        <p:txBody>
          <a:bodyPr>
            <a:normAutofit fontScale="90000"/>
          </a:bodyPr>
          <a:lstStyle/>
          <a:p>
            <a:r>
              <a:rPr kumimoji="1" lang="en-US" altLang="zh-TW" dirty="0"/>
              <a:t>Evolutionary Tree of Large Language Models</a:t>
            </a:r>
            <a:endParaRPr kumimoji="1" lang="zh-TW" altLang="en-US" dirty="0"/>
          </a:p>
        </p:txBody>
      </p:sp>
      <p:sp>
        <p:nvSpPr>
          <p:cNvPr id="4" name="投影片編號版面配置區 3">
            <a:extLst>
              <a:ext uri="{FF2B5EF4-FFF2-40B4-BE49-F238E27FC236}">
                <a16:creationId xmlns:a16="http://schemas.microsoft.com/office/drawing/2014/main" id="{1BDC1253-FB74-481A-3604-569596C8DF8B}"/>
              </a:ext>
            </a:extLst>
          </p:cNvPr>
          <p:cNvSpPr>
            <a:spLocks noGrp="1"/>
          </p:cNvSpPr>
          <p:nvPr>
            <p:ph type="sldNum" sz="quarter" idx="12"/>
          </p:nvPr>
        </p:nvSpPr>
        <p:spPr/>
        <p:txBody>
          <a:bodyPr/>
          <a:lstStyle/>
          <a:p>
            <a:fld id="{6113E31D-E2AB-40D1-8B51-AFA5AFEF393A}" type="slidenum">
              <a:rPr lang="en-US" smtClean="0"/>
              <a:pPr/>
              <a:t>21</a:t>
            </a:fld>
            <a:endParaRPr lang="en-US" dirty="0"/>
          </a:p>
        </p:txBody>
      </p:sp>
      <p:pic>
        <p:nvPicPr>
          <p:cNvPr id="7" name="圖片 6">
            <a:extLst>
              <a:ext uri="{FF2B5EF4-FFF2-40B4-BE49-F238E27FC236}">
                <a16:creationId xmlns:a16="http://schemas.microsoft.com/office/drawing/2014/main" id="{67F15F43-9333-0F89-6741-3E82150A4FD0}"/>
              </a:ext>
            </a:extLst>
          </p:cNvPr>
          <p:cNvPicPr>
            <a:picLocks noChangeAspect="1"/>
          </p:cNvPicPr>
          <p:nvPr/>
        </p:nvPicPr>
        <p:blipFill>
          <a:blip r:embed="rId2"/>
          <a:stretch>
            <a:fillRect/>
          </a:stretch>
        </p:blipFill>
        <p:spPr>
          <a:xfrm>
            <a:off x="1156986" y="1541284"/>
            <a:ext cx="6521370" cy="5080085"/>
          </a:xfrm>
          <a:prstGeom prst="rect">
            <a:avLst/>
          </a:prstGeom>
        </p:spPr>
      </p:pic>
      <p:sp>
        <p:nvSpPr>
          <p:cNvPr id="8" name="文字方塊 7">
            <a:extLst>
              <a:ext uri="{FF2B5EF4-FFF2-40B4-BE49-F238E27FC236}">
                <a16:creationId xmlns:a16="http://schemas.microsoft.com/office/drawing/2014/main" id="{9D59790F-3374-1176-1EF0-C3FA17FE1DED}"/>
              </a:ext>
            </a:extLst>
          </p:cNvPr>
          <p:cNvSpPr txBox="1"/>
          <p:nvPr/>
        </p:nvSpPr>
        <p:spPr>
          <a:xfrm>
            <a:off x="7851059" y="5832901"/>
            <a:ext cx="3594949" cy="830997"/>
          </a:xfrm>
          <a:prstGeom prst="rect">
            <a:avLst/>
          </a:prstGeom>
          <a:noFill/>
        </p:spPr>
        <p:txBody>
          <a:bodyPr wrap="square" rtlCol="0">
            <a:spAutoFit/>
          </a:bodyPr>
          <a:lstStyle/>
          <a:p>
            <a:pPr algn="just"/>
            <a:r>
              <a:rPr kumimoji="1" lang="en" altLang="zh-TW" sz="1200" dirty="0"/>
              <a:t>Yang, </a:t>
            </a:r>
            <a:r>
              <a:rPr kumimoji="1" lang="en" altLang="zh-TW" sz="1200" dirty="0" err="1"/>
              <a:t>Jingfeng</a:t>
            </a:r>
            <a:r>
              <a:rPr kumimoji="1" lang="en" altLang="zh-TW" sz="1200" dirty="0"/>
              <a:t>, et al. "Harnessing the power of </a:t>
            </a:r>
            <a:r>
              <a:rPr kumimoji="1" lang="en" altLang="zh-TW" sz="1200" dirty="0" err="1"/>
              <a:t>llms</a:t>
            </a:r>
            <a:r>
              <a:rPr kumimoji="1" lang="en" altLang="zh-TW" sz="1200" dirty="0"/>
              <a:t> in practice: A survey on </a:t>
            </a:r>
            <a:r>
              <a:rPr kumimoji="1" lang="en" altLang="zh-TW" sz="1200" dirty="0" err="1"/>
              <a:t>chatgpt</a:t>
            </a:r>
            <a:r>
              <a:rPr kumimoji="1" lang="en" altLang="zh-TW" sz="1200" dirty="0"/>
              <a:t> and beyond." ACM Transactions on Knowledge Discovery from Data 18.6 (2024): 1-32.</a:t>
            </a:r>
            <a:endParaRPr kumimoji="1" lang="zh-TW" altLang="en-US" sz="1200" dirty="0"/>
          </a:p>
        </p:txBody>
      </p:sp>
      <p:sp>
        <p:nvSpPr>
          <p:cNvPr id="3" name="橢圓 2">
            <a:extLst>
              <a:ext uri="{FF2B5EF4-FFF2-40B4-BE49-F238E27FC236}">
                <a16:creationId xmlns:a16="http://schemas.microsoft.com/office/drawing/2014/main" id="{03DC58C2-9B16-5C54-C67D-3025FBC5CEA3}"/>
              </a:ext>
            </a:extLst>
          </p:cNvPr>
          <p:cNvSpPr/>
          <p:nvPr/>
        </p:nvSpPr>
        <p:spPr>
          <a:xfrm>
            <a:off x="1531620" y="5667262"/>
            <a:ext cx="601980" cy="581138"/>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2835635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ECFD3-9F9E-D486-2DC7-84073400ADC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0C0D99D-1E40-8E98-9837-A229A457C33B}"/>
              </a:ext>
            </a:extLst>
          </p:cNvPr>
          <p:cNvSpPr>
            <a:spLocks noGrp="1"/>
          </p:cNvSpPr>
          <p:nvPr>
            <p:ph type="title"/>
          </p:nvPr>
        </p:nvSpPr>
        <p:spPr/>
        <p:txBody>
          <a:bodyPr>
            <a:normAutofit/>
          </a:bodyPr>
          <a:lstStyle/>
          <a:p>
            <a:r>
              <a:rPr lang="zh-TW" altLang="en-US" dirty="0">
                <a:ea typeface="新細明體"/>
                <a:cs typeface="Calibri Light"/>
              </a:rPr>
              <a:t>Context Matters: ELMo</a:t>
            </a:r>
            <a:r>
              <a:rPr lang="en-US" altLang="zh-TW" dirty="0">
                <a:ea typeface="新細明體"/>
                <a:cs typeface="Calibri Light"/>
              </a:rPr>
              <a:t> </a:t>
            </a:r>
            <a:r>
              <a:rPr lang="en-US" altLang="zh-TW" sz="3200" dirty="0">
                <a:ea typeface="新細明體"/>
                <a:cs typeface="Calibri Light"/>
              </a:rPr>
              <a:t>(Peters et al., 2018)</a:t>
            </a:r>
            <a:endParaRPr lang="zh-TW" sz="3200" dirty="0"/>
          </a:p>
        </p:txBody>
      </p:sp>
      <p:sp>
        <p:nvSpPr>
          <p:cNvPr id="5" name="投影片編號版面配置區 4">
            <a:extLst>
              <a:ext uri="{FF2B5EF4-FFF2-40B4-BE49-F238E27FC236}">
                <a16:creationId xmlns:a16="http://schemas.microsoft.com/office/drawing/2014/main" id="{A44121A3-4B88-E98F-8D6C-0396D7754A66}"/>
              </a:ext>
            </a:extLst>
          </p:cNvPr>
          <p:cNvSpPr>
            <a:spLocks noGrp="1"/>
          </p:cNvSpPr>
          <p:nvPr>
            <p:ph type="sldNum" sz="quarter" idx="12"/>
          </p:nvPr>
        </p:nvSpPr>
        <p:spPr/>
        <p:txBody>
          <a:bodyPr/>
          <a:lstStyle/>
          <a:p>
            <a:fld id="{6113E31D-E2AB-40D1-8B51-AFA5AFEF393A}" type="slidenum">
              <a:rPr lang="en-US" dirty="0"/>
              <a:t>22</a:t>
            </a:fld>
            <a:endParaRPr lang="zh-TW" altLang="en-US"/>
          </a:p>
        </p:txBody>
      </p:sp>
      <p:sp>
        <p:nvSpPr>
          <p:cNvPr id="32" name="內容版面配置區 2">
            <a:extLst>
              <a:ext uri="{FF2B5EF4-FFF2-40B4-BE49-F238E27FC236}">
                <a16:creationId xmlns:a16="http://schemas.microsoft.com/office/drawing/2014/main" id="{1DE2B655-9283-C475-D572-1EEB36AA3E07}"/>
              </a:ext>
            </a:extLst>
          </p:cNvPr>
          <p:cNvSpPr>
            <a:spLocks noGrp="1"/>
          </p:cNvSpPr>
          <p:nvPr>
            <p:ph idx="1"/>
          </p:nvPr>
        </p:nvSpPr>
        <p:spPr>
          <a:xfrm>
            <a:off x="732805" y="1698351"/>
            <a:ext cx="10058400" cy="976855"/>
          </a:xfrm>
        </p:spPr>
        <p:txBody>
          <a:bodyPr vert="horz" lIns="0" tIns="45720" rIns="0" bIns="45720" rtlCol="0" anchor="t">
            <a:normAutofit/>
          </a:bodyPr>
          <a:lstStyle/>
          <a:p>
            <a:pPr marL="0" indent="0">
              <a:lnSpc>
                <a:spcPct val="100000"/>
              </a:lnSpc>
              <a:spcBef>
                <a:spcPts val="200"/>
              </a:spcBef>
              <a:buNone/>
            </a:pPr>
            <a:r>
              <a:rPr lang="en-US" sz="2400" dirty="0">
                <a:solidFill>
                  <a:schemeClr val="tx1"/>
                </a:solidFill>
                <a:ea typeface="新細明體"/>
                <a:cs typeface="Times New Roman"/>
              </a:rPr>
              <a:t>Rather than using a fixed representation for each word, </a:t>
            </a:r>
            <a:r>
              <a:rPr lang="en-US" sz="2400" dirty="0" err="1">
                <a:solidFill>
                  <a:schemeClr val="tx1"/>
                </a:solidFill>
                <a:ea typeface="新細明體"/>
                <a:cs typeface="Times New Roman"/>
              </a:rPr>
              <a:t>ELMo</a:t>
            </a:r>
            <a:r>
              <a:rPr lang="en-US" sz="2400" dirty="0">
                <a:solidFill>
                  <a:schemeClr val="tx1"/>
                </a:solidFill>
                <a:ea typeface="新細明體"/>
                <a:cs typeface="Times New Roman"/>
              </a:rPr>
              <a:t> considers the entire sentence before assigning each word in it an embedding.</a:t>
            </a:r>
            <a:endParaRPr lang="zh-TW" dirty="0">
              <a:solidFill>
                <a:schemeClr val="tx1"/>
              </a:solidFill>
              <a:cs typeface="Cascadia Mono SemiBold" panose="020B0609020000020004" pitchFamily="49" charset="0"/>
            </a:endParaRPr>
          </a:p>
        </p:txBody>
      </p:sp>
      <p:grpSp>
        <p:nvGrpSpPr>
          <p:cNvPr id="8" name="群組 7">
            <a:extLst>
              <a:ext uri="{FF2B5EF4-FFF2-40B4-BE49-F238E27FC236}">
                <a16:creationId xmlns:a16="http://schemas.microsoft.com/office/drawing/2014/main" id="{326ACCA1-5149-1E7D-2ED9-32579331BF62}"/>
              </a:ext>
            </a:extLst>
          </p:cNvPr>
          <p:cNvGrpSpPr/>
          <p:nvPr/>
        </p:nvGrpSpPr>
        <p:grpSpPr>
          <a:xfrm>
            <a:off x="2513895" y="2840222"/>
            <a:ext cx="7164209" cy="3063964"/>
            <a:chOff x="2513895" y="2840222"/>
            <a:chExt cx="7164209" cy="3063964"/>
          </a:xfrm>
        </p:grpSpPr>
        <p:grpSp>
          <p:nvGrpSpPr>
            <p:cNvPr id="18" name="群組 17">
              <a:extLst>
                <a:ext uri="{FF2B5EF4-FFF2-40B4-BE49-F238E27FC236}">
                  <a16:creationId xmlns:a16="http://schemas.microsoft.com/office/drawing/2014/main" id="{2D8ED953-3627-6EE1-BDFF-9CF272B9B038}"/>
                </a:ext>
              </a:extLst>
            </p:cNvPr>
            <p:cNvGrpSpPr/>
            <p:nvPr/>
          </p:nvGrpSpPr>
          <p:grpSpPr>
            <a:xfrm>
              <a:off x="4485284" y="4582177"/>
              <a:ext cx="293612" cy="795523"/>
              <a:chOff x="1295043" y="4665606"/>
              <a:chExt cx="293612" cy="795523"/>
            </a:xfrm>
          </p:grpSpPr>
          <p:sp>
            <p:nvSpPr>
              <p:cNvPr id="33" name="矩形 32">
                <a:extLst>
                  <a:ext uri="{FF2B5EF4-FFF2-40B4-BE49-F238E27FC236}">
                    <a16:creationId xmlns:a16="http://schemas.microsoft.com/office/drawing/2014/main" id="{C633F549-58D4-53B0-4960-3ABC5E610144}"/>
                  </a:ext>
                </a:extLst>
              </p:cNvPr>
              <p:cNvSpPr/>
              <p:nvPr/>
            </p:nvSpPr>
            <p:spPr>
              <a:xfrm rot="5400000">
                <a:off x="1186991" y="5059465"/>
                <a:ext cx="509716" cy="293612"/>
              </a:xfrm>
              <a:prstGeom prst="rect">
                <a:avLst/>
              </a:prstGeom>
              <a:solidFill>
                <a:srgbClr val="CA761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3" name="直線箭頭接點 2">
                <a:extLst>
                  <a:ext uri="{FF2B5EF4-FFF2-40B4-BE49-F238E27FC236}">
                    <a16:creationId xmlns:a16="http://schemas.microsoft.com/office/drawing/2014/main" id="{9EFE5581-99CE-B08B-B694-FDFE9FFABD98}"/>
                  </a:ext>
                </a:extLst>
              </p:cNvPr>
              <p:cNvCxnSpPr>
                <a:cxnSpLocks/>
              </p:cNvCxnSpPr>
              <p:nvPr/>
            </p:nvCxnSpPr>
            <p:spPr>
              <a:xfrm flipV="1">
                <a:off x="1441849" y="4665606"/>
                <a:ext cx="0" cy="5097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7" name="群組 16">
              <a:extLst>
                <a:ext uri="{FF2B5EF4-FFF2-40B4-BE49-F238E27FC236}">
                  <a16:creationId xmlns:a16="http://schemas.microsoft.com/office/drawing/2014/main" id="{3F751675-D6DF-F67E-C781-DFFFAA77BBFB}"/>
                </a:ext>
              </a:extLst>
            </p:cNvPr>
            <p:cNvGrpSpPr/>
            <p:nvPr/>
          </p:nvGrpSpPr>
          <p:grpSpPr>
            <a:xfrm>
              <a:off x="5922498" y="4582177"/>
              <a:ext cx="293612" cy="795523"/>
              <a:chOff x="2224279" y="4665606"/>
              <a:chExt cx="293612" cy="795523"/>
            </a:xfrm>
          </p:grpSpPr>
          <p:sp>
            <p:nvSpPr>
              <p:cNvPr id="4" name="矩形 3">
                <a:extLst>
                  <a:ext uri="{FF2B5EF4-FFF2-40B4-BE49-F238E27FC236}">
                    <a16:creationId xmlns:a16="http://schemas.microsoft.com/office/drawing/2014/main" id="{5F3097F3-341C-6E0F-D8A7-BB159AA7ADE9}"/>
                  </a:ext>
                </a:extLst>
              </p:cNvPr>
              <p:cNvSpPr/>
              <p:nvPr/>
            </p:nvSpPr>
            <p:spPr>
              <a:xfrm rot="5400000">
                <a:off x="2116227" y="5059465"/>
                <a:ext cx="509716" cy="293612"/>
              </a:xfrm>
              <a:prstGeom prst="rect">
                <a:avLst/>
              </a:prstGeom>
              <a:solidFill>
                <a:srgbClr val="CA761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 name="直線箭頭接點 2">
                <a:extLst>
                  <a:ext uri="{FF2B5EF4-FFF2-40B4-BE49-F238E27FC236}">
                    <a16:creationId xmlns:a16="http://schemas.microsoft.com/office/drawing/2014/main" id="{97BFA0BE-5A6A-CBFA-6500-8D4CD3FC4EDD}"/>
                  </a:ext>
                </a:extLst>
              </p:cNvPr>
              <p:cNvCxnSpPr>
                <a:cxnSpLocks/>
              </p:cNvCxnSpPr>
              <p:nvPr/>
            </p:nvCxnSpPr>
            <p:spPr>
              <a:xfrm flipV="1">
                <a:off x="2371085" y="4665606"/>
                <a:ext cx="0" cy="5097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9" name="群組 18">
              <a:extLst>
                <a:ext uri="{FF2B5EF4-FFF2-40B4-BE49-F238E27FC236}">
                  <a16:creationId xmlns:a16="http://schemas.microsoft.com/office/drawing/2014/main" id="{D0A18B3A-CB4B-B76F-09EB-586072B3BA0E}"/>
                </a:ext>
              </a:extLst>
            </p:cNvPr>
            <p:cNvGrpSpPr/>
            <p:nvPr/>
          </p:nvGrpSpPr>
          <p:grpSpPr>
            <a:xfrm>
              <a:off x="4051428" y="3056821"/>
              <a:ext cx="1161324" cy="190900"/>
              <a:chOff x="944109" y="3225027"/>
              <a:chExt cx="1161324" cy="190900"/>
            </a:xfrm>
          </p:grpSpPr>
          <p:sp>
            <p:nvSpPr>
              <p:cNvPr id="7" name="矩形 6">
                <a:extLst>
                  <a:ext uri="{FF2B5EF4-FFF2-40B4-BE49-F238E27FC236}">
                    <a16:creationId xmlns:a16="http://schemas.microsoft.com/office/drawing/2014/main" id="{00D8C6ED-D572-BD71-3662-AA3B06ADC762}"/>
                  </a:ext>
                </a:extLst>
              </p:cNvPr>
              <p:cNvSpPr/>
              <p:nvPr/>
            </p:nvSpPr>
            <p:spPr>
              <a:xfrm>
                <a:off x="944109" y="3225027"/>
                <a:ext cx="290331" cy="19090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37C48A07-80A4-588F-E9DC-1DC5899E15ED}"/>
                  </a:ext>
                </a:extLst>
              </p:cNvPr>
              <p:cNvSpPr/>
              <p:nvPr/>
            </p:nvSpPr>
            <p:spPr>
              <a:xfrm>
                <a:off x="1234440" y="3225027"/>
                <a:ext cx="290331" cy="19090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92D80D61-EC7C-B1D0-141D-C4C80EFA0787}"/>
                  </a:ext>
                </a:extLst>
              </p:cNvPr>
              <p:cNvSpPr/>
              <p:nvPr/>
            </p:nvSpPr>
            <p:spPr>
              <a:xfrm>
                <a:off x="1524771" y="3225027"/>
                <a:ext cx="290331" cy="19090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15">
                <a:extLst>
                  <a:ext uri="{FF2B5EF4-FFF2-40B4-BE49-F238E27FC236}">
                    <a16:creationId xmlns:a16="http://schemas.microsoft.com/office/drawing/2014/main" id="{D5BB3D36-4E61-F77E-96E8-198782001493}"/>
                  </a:ext>
                </a:extLst>
              </p:cNvPr>
              <p:cNvSpPr/>
              <p:nvPr/>
            </p:nvSpPr>
            <p:spPr>
              <a:xfrm>
                <a:off x="1815102" y="3225027"/>
                <a:ext cx="290331" cy="19090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22" name="矩形: 圓角 21">
              <a:extLst>
                <a:ext uri="{FF2B5EF4-FFF2-40B4-BE49-F238E27FC236}">
                  <a16:creationId xmlns:a16="http://schemas.microsoft.com/office/drawing/2014/main" id="{DD4FFC6C-D649-2540-B460-A50E2909EC3C}"/>
                </a:ext>
              </a:extLst>
            </p:cNvPr>
            <p:cNvSpPr/>
            <p:nvPr/>
          </p:nvSpPr>
          <p:spPr>
            <a:xfrm>
              <a:off x="3927273" y="4031946"/>
              <a:ext cx="5750831" cy="436493"/>
            </a:xfrm>
            <a:prstGeom prst="round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err="1">
                  <a:cs typeface="Times New Roman" panose="02020603050405020304" pitchFamily="18" charset="0"/>
                </a:rPr>
                <a:t>ELMo</a:t>
              </a:r>
              <a:endParaRPr lang="zh-TW" altLang="en-US" dirty="0">
                <a:cs typeface="Times New Roman" panose="02020603050405020304" pitchFamily="18" charset="0"/>
              </a:endParaRPr>
            </a:p>
          </p:txBody>
        </p:sp>
        <p:cxnSp>
          <p:nvCxnSpPr>
            <p:cNvPr id="24" name="直線箭頭接點 2">
              <a:extLst>
                <a:ext uri="{FF2B5EF4-FFF2-40B4-BE49-F238E27FC236}">
                  <a16:creationId xmlns:a16="http://schemas.microsoft.com/office/drawing/2014/main" id="{738750A6-659A-4F2E-25C8-E1899F891C7C}"/>
                </a:ext>
              </a:extLst>
            </p:cNvPr>
            <p:cNvCxnSpPr>
              <a:cxnSpLocks/>
            </p:cNvCxnSpPr>
            <p:nvPr/>
          </p:nvCxnSpPr>
          <p:spPr>
            <a:xfrm flipV="1">
              <a:off x="4632090" y="3390624"/>
              <a:ext cx="0" cy="5097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箭頭接點 2">
              <a:extLst>
                <a:ext uri="{FF2B5EF4-FFF2-40B4-BE49-F238E27FC236}">
                  <a16:creationId xmlns:a16="http://schemas.microsoft.com/office/drawing/2014/main" id="{137979C0-2879-F30B-46E5-CEE7E84D422B}"/>
                </a:ext>
              </a:extLst>
            </p:cNvPr>
            <p:cNvCxnSpPr>
              <a:cxnSpLocks/>
            </p:cNvCxnSpPr>
            <p:nvPr/>
          </p:nvCxnSpPr>
          <p:spPr>
            <a:xfrm flipV="1">
              <a:off x="6069304" y="3390624"/>
              <a:ext cx="0" cy="5097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6" name="群組 25">
              <a:extLst>
                <a:ext uri="{FF2B5EF4-FFF2-40B4-BE49-F238E27FC236}">
                  <a16:creationId xmlns:a16="http://schemas.microsoft.com/office/drawing/2014/main" id="{5799AA9C-1DE9-E8EF-41E0-2CC487CA7578}"/>
                </a:ext>
              </a:extLst>
            </p:cNvPr>
            <p:cNvGrpSpPr/>
            <p:nvPr/>
          </p:nvGrpSpPr>
          <p:grpSpPr>
            <a:xfrm>
              <a:off x="5488642" y="3056821"/>
              <a:ext cx="1161324" cy="190900"/>
              <a:chOff x="944109" y="3225027"/>
              <a:chExt cx="1161324" cy="190900"/>
            </a:xfrm>
          </p:grpSpPr>
          <p:sp>
            <p:nvSpPr>
              <p:cNvPr id="27" name="矩形 26">
                <a:extLst>
                  <a:ext uri="{FF2B5EF4-FFF2-40B4-BE49-F238E27FC236}">
                    <a16:creationId xmlns:a16="http://schemas.microsoft.com/office/drawing/2014/main" id="{7E4C03B1-99B9-F9BE-CEF4-80894B08395D}"/>
                  </a:ext>
                </a:extLst>
              </p:cNvPr>
              <p:cNvSpPr/>
              <p:nvPr/>
            </p:nvSpPr>
            <p:spPr>
              <a:xfrm>
                <a:off x="944109" y="3225027"/>
                <a:ext cx="290331" cy="19090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矩形 27">
                <a:extLst>
                  <a:ext uri="{FF2B5EF4-FFF2-40B4-BE49-F238E27FC236}">
                    <a16:creationId xmlns:a16="http://schemas.microsoft.com/office/drawing/2014/main" id="{BFAA5CFC-21DD-D989-DDE6-42B374C10B77}"/>
                  </a:ext>
                </a:extLst>
              </p:cNvPr>
              <p:cNvSpPr/>
              <p:nvPr/>
            </p:nvSpPr>
            <p:spPr>
              <a:xfrm>
                <a:off x="1234440" y="3225027"/>
                <a:ext cx="290331" cy="19090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a:extLst>
                  <a:ext uri="{FF2B5EF4-FFF2-40B4-BE49-F238E27FC236}">
                    <a16:creationId xmlns:a16="http://schemas.microsoft.com/office/drawing/2014/main" id="{322148D8-542E-15DD-954E-4B1B4AF6C38D}"/>
                  </a:ext>
                </a:extLst>
              </p:cNvPr>
              <p:cNvSpPr/>
              <p:nvPr/>
            </p:nvSpPr>
            <p:spPr>
              <a:xfrm>
                <a:off x="1524771" y="3225027"/>
                <a:ext cx="290331" cy="19090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19C27A99-B612-D40E-8356-0261D0D7149D}"/>
                  </a:ext>
                </a:extLst>
              </p:cNvPr>
              <p:cNvSpPr/>
              <p:nvPr/>
            </p:nvSpPr>
            <p:spPr>
              <a:xfrm>
                <a:off x="1815102" y="3225027"/>
                <a:ext cx="290331" cy="19090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31" name="文字方塊 30">
              <a:extLst>
                <a:ext uri="{FF2B5EF4-FFF2-40B4-BE49-F238E27FC236}">
                  <a16:creationId xmlns:a16="http://schemas.microsoft.com/office/drawing/2014/main" id="{A84EC8C8-7C44-2507-A926-E1CF3BAA61CB}"/>
                </a:ext>
              </a:extLst>
            </p:cNvPr>
            <p:cNvSpPr txBox="1"/>
            <p:nvPr/>
          </p:nvSpPr>
          <p:spPr>
            <a:xfrm>
              <a:off x="4128823" y="5491438"/>
              <a:ext cx="1006533" cy="369332"/>
            </a:xfrm>
            <a:prstGeom prst="rect">
              <a:avLst/>
            </a:prstGeom>
            <a:noFill/>
          </p:spPr>
          <p:txBody>
            <a:bodyPr wrap="square" rtlCol="0">
              <a:spAutoFit/>
            </a:bodyPr>
            <a:lstStyle/>
            <a:p>
              <a:pPr algn="ctr"/>
              <a:r>
                <a:rPr lang="en-US" altLang="zh-TW">
                  <a:cs typeface="Times New Roman" panose="02020603050405020304" pitchFamily="18" charset="0"/>
                </a:rPr>
                <a:t>I</a:t>
              </a:r>
              <a:endParaRPr lang="zh-TW" altLang="en-US">
                <a:cs typeface="Times New Roman" panose="02020603050405020304" pitchFamily="18" charset="0"/>
              </a:endParaRPr>
            </a:p>
          </p:txBody>
        </p:sp>
        <p:sp>
          <p:nvSpPr>
            <p:cNvPr id="34" name="文字方塊 33">
              <a:extLst>
                <a:ext uri="{FF2B5EF4-FFF2-40B4-BE49-F238E27FC236}">
                  <a16:creationId xmlns:a16="http://schemas.microsoft.com/office/drawing/2014/main" id="{0D5CB753-E1F6-B37E-E1D3-EE3C23B5EAD0}"/>
                </a:ext>
              </a:extLst>
            </p:cNvPr>
            <p:cNvSpPr txBox="1"/>
            <p:nvPr/>
          </p:nvSpPr>
          <p:spPr>
            <a:xfrm>
              <a:off x="5566037" y="5491438"/>
              <a:ext cx="1006533" cy="369332"/>
            </a:xfrm>
            <a:prstGeom prst="rect">
              <a:avLst/>
            </a:prstGeom>
            <a:noFill/>
          </p:spPr>
          <p:txBody>
            <a:bodyPr wrap="square" rtlCol="0">
              <a:spAutoFit/>
            </a:bodyPr>
            <a:lstStyle/>
            <a:p>
              <a:pPr algn="ctr"/>
              <a:r>
                <a:rPr lang="en-US" altLang="zh-TW">
                  <a:cs typeface="Times New Roman" panose="02020603050405020304" pitchFamily="18" charset="0"/>
                </a:rPr>
                <a:t>record</a:t>
              </a:r>
              <a:endParaRPr lang="zh-TW" altLang="en-US">
                <a:cs typeface="Times New Roman" panose="02020603050405020304" pitchFamily="18" charset="0"/>
              </a:endParaRPr>
            </a:p>
          </p:txBody>
        </p:sp>
        <p:grpSp>
          <p:nvGrpSpPr>
            <p:cNvPr id="35" name="群組 34">
              <a:extLst>
                <a:ext uri="{FF2B5EF4-FFF2-40B4-BE49-F238E27FC236}">
                  <a16:creationId xmlns:a16="http://schemas.microsoft.com/office/drawing/2014/main" id="{98E4C3AD-DAC5-50B5-C8BE-DCF4C70C3CA5}"/>
                </a:ext>
              </a:extLst>
            </p:cNvPr>
            <p:cNvGrpSpPr/>
            <p:nvPr/>
          </p:nvGrpSpPr>
          <p:grpSpPr>
            <a:xfrm>
              <a:off x="7379155" y="4582177"/>
              <a:ext cx="293612" cy="795523"/>
              <a:chOff x="1295043" y="4665606"/>
              <a:chExt cx="293612" cy="795523"/>
            </a:xfrm>
          </p:grpSpPr>
          <p:sp>
            <p:nvSpPr>
              <p:cNvPr id="36" name="矩形 35">
                <a:extLst>
                  <a:ext uri="{FF2B5EF4-FFF2-40B4-BE49-F238E27FC236}">
                    <a16:creationId xmlns:a16="http://schemas.microsoft.com/office/drawing/2014/main" id="{104E10FA-8230-CFA9-A987-09A8889457CE}"/>
                  </a:ext>
                </a:extLst>
              </p:cNvPr>
              <p:cNvSpPr/>
              <p:nvPr/>
            </p:nvSpPr>
            <p:spPr>
              <a:xfrm rot="5400000">
                <a:off x="1186991" y="5059465"/>
                <a:ext cx="509716" cy="293612"/>
              </a:xfrm>
              <a:prstGeom prst="rect">
                <a:avLst/>
              </a:prstGeom>
              <a:solidFill>
                <a:srgbClr val="CA761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7" name="直線箭頭接點 2">
                <a:extLst>
                  <a:ext uri="{FF2B5EF4-FFF2-40B4-BE49-F238E27FC236}">
                    <a16:creationId xmlns:a16="http://schemas.microsoft.com/office/drawing/2014/main" id="{175B418E-81FF-F67B-8021-598CD48FE269}"/>
                  </a:ext>
                </a:extLst>
              </p:cNvPr>
              <p:cNvCxnSpPr>
                <a:cxnSpLocks/>
              </p:cNvCxnSpPr>
              <p:nvPr/>
            </p:nvCxnSpPr>
            <p:spPr>
              <a:xfrm flipV="1">
                <a:off x="1441849" y="4665606"/>
                <a:ext cx="0" cy="5097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8" name="群組 37">
              <a:extLst>
                <a:ext uri="{FF2B5EF4-FFF2-40B4-BE49-F238E27FC236}">
                  <a16:creationId xmlns:a16="http://schemas.microsoft.com/office/drawing/2014/main" id="{55050157-F338-DF54-B3D1-279C660E79CA}"/>
                </a:ext>
              </a:extLst>
            </p:cNvPr>
            <p:cNvGrpSpPr/>
            <p:nvPr/>
          </p:nvGrpSpPr>
          <p:grpSpPr>
            <a:xfrm>
              <a:off x="6945299" y="3056821"/>
              <a:ext cx="1161324" cy="190900"/>
              <a:chOff x="944109" y="3225027"/>
              <a:chExt cx="1161324" cy="190900"/>
            </a:xfrm>
          </p:grpSpPr>
          <p:sp>
            <p:nvSpPr>
              <p:cNvPr id="39" name="矩形 38">
                <a:extLst>
                  <a:ext uri="{FF2B5EF4-FFF2-40B4-BE49-F238E27FC236}">
                    <a16:creationId xmlns:a16="http://schemas.microsoft.com/office/drawing/2014/main" id="{AFCC5608-5363-1011-A335-5863A079AA8D}"/>
                  </a:ext>
                </a:extLst>
              </p:cNvPr>
              <p:cNvSpPr/>
              <p:nvPr/>
            </p:nvSpPr>
            <p:spPr>
              <a:xfrm>
                <a:off x="944109" y="3225027"/>
                <a:ext cx="290331" cy="19090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矩形 39">
                <a:extLst>
                  <a:ext uri="{FF2B5EF4-FFF2-40B4-BE49-F238E27FC236}">
                    <a16:creationId xmlns:a16="http://schemas.microsoft.com/office/drawing/2014/main" id="{014E8AF6-A0AB-55D6-50E8-7DDA88389CC4}"/>
                  </a:ext>
                </a:extLst>
              </p:cNvPr>
              <p:cNvSpPr/>
              <p:nvPr/>
            </p:nvSpPr>
            <p:spPr>
              <a:xfrm>
                <a:off x="1234440" y="3225027"/>
                <a:ext cx="290331" cy="19090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1" name="矩形 40">
                <a:extLst>
                  <a:ext uri="{FF2B5EF4-FFF2-40B4-BE49-F238E27FC236}">
                    <a16:creationId xmlns:a16="http://schemas.microsoft.com/office/drawing/2014/main" id="{87051FDA-7AE2-B958-E16E-C94974F60543}"/>
                  </a:ext>
                </a:extLst>
              </p:cNvPr>
              <p:cNvSpPr/>
              <p:nvPr/>
            </p:nvSpPr>
            <p:spPr>
              <a:xfrm>
                <a:off x="1524771" y="3225027"/>
                <a:ext cx="290331" cy="19090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矩形 41">
                <a:extLst>
                  <a:ext uri="{FF2B5EF4-FFF2-40B4-BE49-F238E27FC236}">
                    <a16:creationId xmlns:a16="http://schemas.microsoft.com/office/drawing/2014/main" id="{E3E1C192-2537-8883-4902-B550E245717C}"/>
                  </a:ext>
                </a:extLst>
              </p:cNvPr>
              <p:cNvSpPr/>
              <p:nvPr/>
            </p:nvSpPr>
            <p:spPr>
              <a:xfrm>
                <a:off x="1815102" y="3225027"/>
                <a:ext cx="290331" cy="19090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43" name="直線箭頭接點 2">
              <a:extLst>
                <a:ext uri="{FF2B5EF4-FFF2-40B4-BE49-F238E27FC236}">
                  <a16:creationId xmlns:a16="http://schemas.microsoft.com/office/drawing/2014/main" id="{7B92CC13-6CCB-6E45-0CB8-1A1184CD3EE8}"/>
                </a:ext>
              </a:extLst>
            </p:cNvPr>
            <p:cNvCxnSpPr>
              <a:cxnSpLocks/>
            </p:cNvCxnSpPr>
            <p:nvPr/>
          </p:nvCxnSpPr>
          <p:spPr>
            <a:xfrm flipV="1">
              <a:off x="7525961" y="3390624"/>
              <a:ext cx="0" cy="5097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文字方塊 43">
              <a:extLst>
                <a:ext uri="{FF2B5EF4-FFF2-40B4-BE49-F238E27FC236}">
                  <a16:creationId xmlns:a16="http://schemas.microsoft.com/office/drawing/2014/main" id="{E8EF564B-C123-CCE0-FAFC-322681117EE6}"/>
                </a:ext>
              </a:extLst>
            </p:cNvPr>
            <p:cNvSpPr txBox="1"/>
            <p:nvPr/>
          </p:nvSpPr>
          <p:spPr>
            <a:xfrm>
              <a:off x="7022694" y="5491438"/>
              <a:ext cx="1006533" cy="369332"/>
            </a:xfrm>
            <a:prstGeom prst="rect">
              <a:avLst/>
            </a:prstGeom>
            <a:noFill/>
          </p:spPr>
          <p:txBody>
            <a:bodyPr wrap="square" rtlCol="0">
              <a:spAutoFit/>
            </a:bodyPr>
            <a:lstStyle/>
            <a:p>
              <a:pPr algn="ctr"/>
              <a:r>
                <a:rPr lang="en-US" altLang="zh-TW">
                  <a:cs typeface="Times New Roman" panose="02020603050405020304" pitchFamily="18" charset="0"/>
                </a:rPr>
                <a:t>the</a:t>
              </a:r>
              <a:endParaRPr lang="zh-TW" altLang="en-US">
                <a:cs typeface="Times New Roman" panose="02020603050405020304" pitchFamily="18" charset="0"/>
              </a:endParaRPr>
            </a:p>
          </p:txBody>
        </p:sp>
        <p:pic>
          <p:nvPicPr>
            <p:cNvPr id="1026" name="Picture 2" descr="Elmo head Svg, Sesame Street Svg, Sesame Street Clipart, Elm - Inspire  Uplift">
              <a:extLst>
                <a:ext uri="{FF2B5EF4-FFF2-40B4-BE49-F238E27FC236}">
                  <a16:creationId xmlns:a16="http://schemas.microsoft.com/office/drawing/2014/main" id="{3774A97B-51CD-8254-4933-72F601A70E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2323" y="3875337"/>
              <a:ext cx="749709" cy="749709"/>
            </a:xfrm>
            <a:prstGeom prst="rect">
              <a:avLst/>
            </a:prstGeom>
            <a:noFill/>
            <a:extLst>
              <a:ext uri="{909E8E84-426E-40DD-AFC4-6F175D3DCCD1}">
                <a14:hiddenFill xmlns:a14="http://schemas.microsoft.com/office/drawing/2010/main">
                  <a:solidFill>
                    <a:srgbClr val="FFFFFF"/>
                  </a:solidFill>
                </a14:hiddenFill>
              </a:ext>
            </a:extLst>
          </p:spPr>
        </p:pic>
        <p:grpSp>
          <p:nvGrpSpPr>
            <p:cNvPr id="45" name="群組 44">
              <a:extLst>
                <a:ext uri="{FF2B5EF4-FFF2-40B4-BE49-F238E27FC236}">
                  <a16:creationId xmlns:a16="http://schemas.microsoft.com/office/drawing/2014/main" id="{EA02F71B-91B1-DAE1-8485-5883E4A9D0C1}"/>
                </a:ext>
              </a:extLst>
            </p:cNvPr>
            <p:cNvGrpSpPr/>
            <p:nvPr/>
          </p:nvGrpSpPr>
          <p:grpSpPr>
            <a:xfrm>
              <a:off x="8835812" y="4582177"/>
              <a:ext cx="293612" cy="795523"/>
              <a:chOff x="1295043" y="4665606"/>
              <a:chExt cx="293612" cy="795523"/>
            </a:xfrm>
          </p:grpSpPr>
          <p:sp>
            <p:nvSpPr>
              <p:cNvPr id="46" name="矩形 45">
                <a:extLst>
                  <a:ext uri="{FF2B5EF4-FFF2-40B4-BE49-F238E27FC236}">
                    <a16:creationId xmlns:a16="http://schemas.microsoft.com/office/drawing/2014/main" id="{AF7FC4C3-1566-6109-4527-442A62D9D943}"/>
                  </a:ext>
                </a:extLst>
              </p:cNvPr>
              <p:cNvSpPr/>
              <p:nvPr/>
            </p:nvSpPr>
            <p:spPr>
              <a:xfrm rot="5400000">
                <a:off x="1186991" y="5059465"/>
                <a:ext cx="509716" cy="293612"/>
              </a:xfrm>
              <a:prstGeom prst="rect">
                <a:avLst/>
              </a:prstGeom>
              <a:solidFill>
                <a:srgbClr val="CA761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7" name="直線箭頭接點 2">
                <a:extLst>
                  <a:ext uri="{FF2B5EF4-FFF2-40B4-BE49-F238E27FC236}">
                    <a16:creationId xmlns:a16="http://schemas.microsoft.com/office/drawing/2014/main" id="{00FCBA44-38DD-7E5D-16CA-0CCE79A38E89}"/>
                  </a:ext>
                </a:extLst>
              </p:cNvPr>
              <p:cNvCxnSpPr>
                <a:cxnSpLocks/>
              </p:cNvCxnSpPr>
              <p:nvPr/>
            </p:nvCxnSpPr>
            <p:spPr>
              <a:xfrm flipV="1">
                <a:off x="1441849" y="4665606"/>
                <a:ext cx="0" cy="5097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1" name="群組 50">
              <a:extLst>
                <a:ext uri="{FF2B5EF4-FFF2-40B4-BE49-F238E27FC236}">
                  <a16:creationId xmlns:a16="http://schemas.microsoft.com/office/drawing/2014/main" id="{55690165-D3A5-7711-34A4-20C185F2F0BD}"/>
                </a:ext>
              </a:extLst>
            </p:cNvPr>
            <p:cNvGrpSpPr/>
            <p:nvPr/>
          </p:nvGrpSpPr>
          <p:grpSpPr>
            <a:xfrm>
              <a:off x="8401956" y="3056821"/>
              <a:ext cx="1161324" cy="190900"/>
              <a:chOff x="944109" y="3225027"/>
              <a:chExt cx="1161324" cy="190900"/>
            </a:xfrm>
          </p:grpSpPr>
          <p:sp>
            <p:nvSpPr>
              <p:cNvPr id="52" name="矩形 51">
                <a:extLst>
                  <a:ext uri="{FF2B5EF4-FFF2-40B4-BE49-F238E27FC236}">
                    <a16:creationId xmlns:a16="http://schemas.microsoft.com/office/drawing/2014/main" id="{83F7E65D-86CE-9EE3-866E-05976BE2BF54}"/>
                  </a:ext>
                </a:extLst>
              </p:cNvPr>
              <p:cNvSpPr/>
              <p:nvPr/>
            </p:nvSpPr>
            <p:spPr>
              <a:xfrm>
                <a:off x="944109" y="3225027"/>
                <a:ext cx="290331" cy="19090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3" name="矩形 52">
                <a:extLst>
                  <a:ext uri="{FF2B5EF4-FFF2-40B4-BE49-F238E27FC236}">
                    <a16:creationId xmlns:a16="http://schemas.microsoft.com/office/drawing/2014/main" id="{AC5BDD17-60A4-0173-1695-934F3EFCC3EE}"/>
                  </a:ext>
                </a:extLst>
              </p:cNvPr>
              <p:cNvSpPr/>
              <p:nvPr/>
            </p:nvSpPr>
            <p:spPr>
              <a:xfrm>
                <a:off x="1234440" y="3225027"/>
                <a:ext cx="290331" cy="19090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4" name="矩形 53">
                <a:extLst>
                  <a:ext uri="{FF2B5EF4-FFF2-40B4-BE49-F238E27FC236}">
                    <a16:creationId xmlns:a16="http://schemas.microsoft.com/office/drawing/2014/main" id="{22C569CE-EA19-F98D-12CA-F44468C9EA1D}"/>
                  </a:ext>
                </a:extLst>
              </p:cNvPr>
              <p:cNvSpPr/>
              <p:nvPr/>
            </p:nvSpPr>
            <p:spPr>
              <a:xfrm>
                <a:off x="1524771" y="3225027"/>
                <a:ext cx="290331" cy="19090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5" name="矩形 54">
                <a:extLst>
                  <a:ext uri="{FF2B5EF4-FFF2-40B4-BE49-F238E27FC236}">
                    <a16:creationId xmlns:a16="http://schemas.microsoft.com/office/drawing/2014/main" id="{991C6082-9849-DE95-88D7-33E3B9D6307A}"/>
                  </a:ext>
                </a:extLst>
              </p:cNvPr>
              <p:cNvSpPr/>
              <p:nvPr/>
            </p:nvSpPr>
            <p:spPr>
              <a:xfrm>
                <a:off x="1815102" y="3225027"/>
                <a:ext cx="290331" cy="190900"/>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56" name="直線箭頭接點 2">
              <a:extLst>
                <a:ext uri="{FF2B5EF4-FFF2-40B4-BE49-F238E27FC236}">
                  <a16:creationId xmlns:a16="http://schemas.microsoft.com/office/drawing/2014/main" id="{998D3FFA-D7F8-7DE3-707C-69E5D1168026}"/>
                </a:ext>
              </a:extLst>
            </p:cNvPr>
            <p:cNvCxnSpPr>
              <a:cxnSpLocks/>
            </p:cNvCxnSpPr>
            <p:nvPr/>
          </p:nvCxnSpPr>
          <p:spPr>
            <a:xfrm flipV="1">
              <a:off x="8982618" y="3390624"/>
              <a:ext cx="0" cy="5097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文字方塊 62">
              <a:extLst>
                <a:ext uri="{FF2B5EF4-FFF2-40B4-BE49-F238E27FC236}">
                  <a16:creationId xmlns:a16="http://schemas.microsoft.com/office/drawing/2014/main" id="{F7928E0C-084A-6889-DD68-07D26AFACB56}"/>
                </a:ext>
              </a:extLst>
            </p:cNvPr>
            <p:cNvSpPr txBox="1"/>
            <p:nvPr/>
          </p:nvSpPr>
          <p:spPr>
            <a:xfrm>
              <a:off x="8479351" y="5491438"/>
              <a:ext cx="1006533" cy="369332"/>
            </a:xfrm>
            <a:prstGeom prst="rect">
              <a:avLst/>
            </a:prstGeom>
            <a:noFill/>
          </p:spPr>
          <p:txBody>
            <a:bodyPr wrap="square" rtlCol="0">
              <a:spAutoFit/>
            </a:bodyPr>
            <a:lstStyle/>
            <a:p>
              <a:pPr algn="ctr"/>
              <a:r>
                <a:rPr lang="en-US" altLang="zh-TW">
                  <a:cs typeface="Times New Roman" panose="02020603050405020304" pitchFamily="18" charset="0"/>
                </a:rPr>
                <a:t>record</a:t>
              </a:r>
              <a:endParaRPr lang="zh-TW" altLang="en-US">
                <a:cs typeface="Times New Roman" panose="02020603050405020304" pitchFamily="18" charset="0"/>
              </a:endParaRPr>
            </a:p>
          </p:txBody>
        </p:sp>
        <p:sp>
          <p:nvSpPr>
            <p:cNvPr id="1039" name="文字方塊 1038">
              <a:extLst>
                <a:ext uri="{FF2B5EF4-FFF2-40B4-BE49-F238E27FC236}">
                  <a16:creationId xmlns:a16="http://schemas.microsoft.com/office/drawing/2014/main" id="{34D80D2D-0C52-B1FA-2276-5732B1CCFA32}"/>
                </a:ext>
              </a:extLst>
            </p:cNvPr>
            <p:cNvSpPr txBox="1"/>
            <p:nvPr/>
          </p:nvSpPr>
          <p:spPr>
            <a:xfrm>
              <a:off x="2513895" y="2840222"/>
              <a:ext cx="1446564" cy="646331"/>
            </a:xfrm>
            <a:prstGeom prst="rect">
              <a:avLst/>
            </a:prstGeom>
            <a:noFill/>
          </p:spPr>
          <p:txBody>
            <a:bodyPr wrap="square" rtlCol="0">
              <a:spAutoFit/>
            </a:bodyPr>
            <a:lstStyle/>
            <a:p>
              <a:pPr algn="ctr"/>
              <a:r>
                <a:rPr lang="en-US" altLang="zh-TW">
                  <a:cs typeface="Times New Roman" panose="02020603050405020304" pitchFamily="18" charset="0"/>
                </a:rPr>
                <a:t>ELMo embeddings</a:t>
              </a:r>
              <a:endParaRPr lang="zh-TW" altLang="en-US">
                <a:cs typeface="Times New Roman" panose="02020603050405020304" pitchFamily="18" charset="0"/>
              </a:endParaRPr>
            </a:p>
          </p:txBody>
        </p:sp>
        <p:sp>
          <p:nvSpPr>
            <p:cNvPr id="1040" name="文字方塊 1039">
              <a:extLst>
                <a:ext uri="{FF2B5EF4-FFF2-40B4-BE49-F238E27FC236}">
                  <a16:creationId xmlns:a16="http://schemas.microsoft.com/office/drawing/2014/main" id="{10AB4F5A-982B-DE68-3355-9F949738634A}"/>
                </a:ext>
              </a:extLst>
            </p:cNvPr>
            <p:cNvSpPr txBox="1"/>
            <p:nvPr/>
          </p:nvSpPr>
          <p:spPr>
            <a:xfrm>
              <a:off x="2513895" y="5257855"/>
              <a:ext cx="1446564" cy="646331"/>
            </a:xfrm>
            <a:prstGeom prst="rect">
              <a:avLst/>
            </a:prstGeom>
            <a:noFill/>
          </p:spPr>
          <p:txBody>
            <a:bodyPr wrap="square" rtlCol="0">
              <a:spAutoFit/>
            </a:bodyPr>
            <a:lstStyle/>
            <a:p>
              <a:pPr algn="ctr"/>
              <a:r>
                <a:rPr lang="en-US" altLang="zh-TW">
                  <a:cs typeface="Times New Roman" panose="02020603050405020304" pitchFamily="18" charset="0"/>
                </a:rPr>
                <a:t>Words to embed</a:t>
              </a:r>
              <a:endParaRPr lang="zh-TW" altLang="en-US">
                <a:cs typeface="Times New Roman" panose="02020603050405020304" pitchFamily="18" charset="0"/>
              </a:endParaRPr>
            </a:p>
          </p:txBody>
        </p:sp>
      </p:grpSp>
      <p:sp>
        <p:nvSpPr>
          <p:cNvPr id="3" name="文字方塊 2">
            <a:extLst>
              <a:ext uri="{FF2B5EF4-FFF2-40B4-BE49-F238E27FC236}">
                <a16:creationId xmlns:a16="http://schemas.microsoft.com/office/drawing/2014/main" id="{0DB22A2E-1559-F830-408C-08C5B0787AB5}"/>
              </a:ext>
            </a:extLst>
          </p:cNvPr>
          <p:cNvSpPr txBox="1"/>
          <p:nvPr/>
        </p:nvSpPr>
        <p:spPr>
          <a:xfrm>
            <a:off x="3088143" y="6239741"/>
            <a:ext cx="6015713" cy="461665"/>
          </a:xfrm>
          <a:prstGeom prst="rect">
            <a:avLst/>
          </a:prstGeom>
          <a:noFill/>
        </p:spPr>
        <p:txBody>
          <a:bodyPr wrap="square" rtlCol="0">
            <a:spAutoFit/>
          </a:bodyPr>
          <a:lstStyle/>
          <a:p>
            <a:pPr algn="ctr"/>
            <a:r>
              <a:rPr kumimoji="1" lang="en" altLang="zh-TW" sz="1200" dirty="0"/>
              <a:t>Peters, M., Neumann, M., </a:t>
            </a:r>
            <a:r>
              <a:rPr kumimoji="1" lang="en" altLang="zh-TW" sz="1200" dirty="0" err="1"/>
              <a:t>Iyyer</a:t>
            </a:r>
            <a:r>
              <a:rPr kumimoji="1" lang="en" altLang="zh-TW" sz="1200" dirty="0"/>
              <a:t>, M., Gardner, M., Clark, C., Lee, K., &amp; </a:t>
            </a:r>
            <a:r>
              <a:rPr kumimoji="1" lang="en" altLang="zh-TW" sz="1200" dirty="0" err="1"/>
              <a:t>Zettlemoyer</a:t>
            </a:r>
            <a:r>
              <a:rPr kumimoji="1" lang="en" altLang="zh-TW" sz="1200" dirty="0"/>
              <a:t>, L. Deep Contextualized Word Representations. NAACL 2018.</a:t>
            </a:r>
          </a:p>
        </p:txBody>
      </p:sp>
    </p:spTree>
    <p:extLst>
      <p:ext uri="{BB962C8B-B14F-4D97-AF65-F5344CB8AC3E}">
        <p14:creationId xmlns:p14="http://schemas.microsoft.com/office/powerpoint/2010/main" val="15151174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B2E1B86-445E-CF34-C352-A014EE594B30}"/>
              </a:ext>
            </a:extLst>
          </p:cNvPr>
          <p:cNvSpPr>
            <a:spLocks noGrp="1"/>
          </p:cNvSpPr>
          <p:nvPr>
            <p:ph type="title"/>
          </p:nvPr>
        </p:nvSpPr>
        <p:spPr/>
        <p:txBody>
          <a:bodyPr/>
          <a:lstStyle/>
          <a:p>
            <a:r>
              <a:rPr kumimoji="1" lang="en-US" altLang="zh-TW" dirty="0"/>
              <a:t>Bidirectional RNN with 2 Layers</a:t>
            </a:r>
            <a:endParaRPr kumimoji="1" lang="zh-TW" altLang="en-US" dirty="0"/>
          </a:p>
        </p:txBody>
      </p:sp>
      <p:sp>
        <p:nvSpPr>
          <p:cNvPr id="4" name="投影片編號版面配置區 3">
            <a:extLst>
              <a:ext uri="{FF2B5EF4-FFF2-40B4-BE49-F238E27FC236}">
                <a16:creationId xmlns:a16="http://schemas.microsoft.com/office/drawing/2014/main" id="{2F294403-D4C2-722C-C5C5-D19E37E21BE4}"/>
              </a:ext>
            </a:extLst>
          </p:cNvPr>
          <p:cNvSpPr>
            <a:spLocks noGrp="1"/>
          </p:cNvSpPr>
          <p:nvPr>
            <p:ph type="sldNum" sz="quarter" idx="12"/>
          </p:nvPr>
        </p:nvSpPr>
        <p:spPr/>
        <p:txBody>
          <a:bodyPr/>
          <a:lstStyle/>
          <a:p>
            <a:fld id="{6113E31D-E2AB-40D1-8B51-AFA5AFEF393A}" type="slidenum">
              <a:rPr lang="en-US" smtClean="0"/>
              <a:pPr/>
              <a:t>23</a:t>
            </a:fld>
            <a:endParaRPr lang="en-US" dirty="0"/>
          </a:p>
        </p:txBody>
      </p:sp>
      <p:sp>
        <p:nvSpPr>
          <p:cNvPr id="5" name="矩形 4">
            <a:extLst>
              <a:ext uri="{FF2B5EF4-FFF2-40B4-BE49-F238E27FC236}">
                <a16:creationId xmlns:a16="http://schemas.microsoft.com/office/drawing/2014/main" id="{9E1AF591-D968-5941-A2D2-AEB2FD9F4135}"/>
              </a:ext>
            </a:extLst>
          </p:cNvPr>
          <p:cNvSpPr/>
          <p:nvPr/>
        </p:nvSpPr>
        <p:spPr>
          <a:xfrm>
            <a:off x="2627565" y="5568393"/>
            <a:ext cx="1072890" cy="384600"/>
          </a:xfrm>
          <a:prstGeom prst="rect">
            <a:avLst/>
          </a:prstGeom>
          <a:solidFill>
            <a:srgbClr val="FDE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r>
              <a:rPr kumimoji="1" lang="en-US" altLang="zh-TW" sz="2400" baseline="30000" dirty="0">
                <a:solidFill>
                  <a:schemeClr val="tx1"/>
                </a:solidFill>
              </a:rPr>
              <a:t>1</a:t>
            </a:r>
            <a:endParaRPr kumimoji="1" lang="zh-TW" altLang="en-US" sz="2400" baseline="30000" dirty="0">
              <a:solidFill>
                <a:schemeClr val="tx1"/>
              </a:solidFill>
            </a:endParaRPr>
          </a:p>
        </p:txBody>
      </p:sp>
      <p:sp>
        <p:nvSpPr>
          <p:cNvPr id="6" name="矩形 5">
            <a:extLst>
              <a:ext uri="{FF2B5EF4-FFF2-40B4-BE49-F238E27FC236}">
                <a16:creationId xmlns:a16="http://schemas.microsoft.com/office/drawing/2014/main" id="{57458101-A4B5-97E4-2AB3-55DAFCB709EC}"/>
              </a:ext>
            </a:extLst>
          </p:cNvPr>
          <p:cNvSpPr/>
          <p:nvPr/>
        </p:nvSpPr>
        <p:spPr>
          <a:xfrm>
            <a:off x="4502696" y="5568393"/>
            <a:ext cx="1072890" cy="384600"/>
          </a:xfrm>
          <a:prstGeom prst="rect">
            <a:avLst/>
          </a:prstGeom>
          <a:solidFill>
            <a:srgbClr val="FDE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r>
              <a:rPr kumimoji="1" lang="en-US" altLang="zh-TW" sz="2400" baseline="30000" dirty="0">
                <a:solidFill>
                  <a:schemeClr val="tx1"/>
                </a:solidFill>
              </a:rPr>
              <a:t>1</a:t>
            </a:r>
            <a:endParaRPr kumimoji="1" lang="zh-TW" altLang="en-US" sz="2400" dirty="0">
              <a:solidFill>
                <a:schemeClr val="tx1"/>
              </a:solidFill>
            </a:endParaRPr>
          </a:p>
        </p:txBody>
      </p:sp>
      <p:sp>
        <p:nvSpPr>
          <p:cNvPr id="7" name="矩形 6">
            <a:extLst>
              <a:ext uri="{FF2B5EF4-FFF2-40B4-BE49-F238E27FC236}">
                <a16:creationId xmlns:a16="http://schemas.microsoft.com/office/drawing/2014/main" id="{1E76CFD8-4C6D-5879-FA7F-DBB0B50826AE}"/>
              </a:ext>
            </a:extLst>
          </p:cNvPr>
          <p:cNvSpPr/>
          <p:nvPr/>
        </p:nvSpPr>
        <p:spPr>
          <a:xfrm>
            <a:off x="6465052" y="5568393"/>
            <a:ext cx="1072890" cy="384600"/>
          </a:xfrm>
          <a:prstGeom prst="rect">
            <a:avLst/>
          </a:prstGeom>
          <a:solidFill>
            <a:srgbClr val="FDE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r>
              <a:rPr kumimoji="1" lang="en-US" altLang="zh-TW" sz="2400" baseline="30000" dirty="0">
                <a:solidFill>
                  <a:schemeClr val="tx1"/>
                </a:solidFill>
              </a:rPr>
              <a:t>1</a:t>
            </a:r>
            <a:endParaRPr kumimoji="1" lang="zh-TW" altLang="en-US" sz="2400" dirty="0">
              <a:solidFill>
                <a:schemeClr val="tx1"/>
              </a:solidFill>
            </a:endParaRPr>
          </a:p>
        </p:txBody>
      </p:sp>
      <p:sp>
        <p:nvSpPr>
          <p:cNvPr id="8" name="矩形 7">
            <a:extLst>
              <a:ext uri="{FF2B5EF4-FFF2-40B4-BE49-F238E27FC236}">
                <a16:creationId xmlns:a16="http://schemas.microsoft.com/office/drawing/2014/main" id="{D7400257-CFEC-0559-DAE7-9B7CED8B18FC}"/>
              </a:ext>
            </a:extLst>
          </p:cNvPr>
          <p:cNvSpPr/>
          <p:nvPr/>
        </p:nvSpPr>
        <p:spPr>
          <a:xfrm>
            <a:off x="8487195" y="5568393"/>
            <a:ext cx="1072890" cy="384600"/>
          </a:xfrm>
          <a:prstGeom prst="rect">
            <a:avLst/>
          </a:prstGeom>
          <a:solidFill>
            <a:srgbClr val="FDE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r>
              <a:rPr kumimoji="1" lang="en-US" altLang="zh-TW" sz="2400" baseline="30000" dirty="0">
                <a:solidFill>
                  <a:schemeClr val="tx1"/>
                </a:solidFill>
              </a:rPr>
              <a:t>1</a:t>
            </a:r>
            <a:endParaRPr kumimoji="1" lang="zh-TW" altLang="en-US" sz="2400" dirty="0">
              <a:solidFill>
                <a:schemeClr val="tx1"/>
              </a:solidFill>
            </a:endParaRPr>
          </a:p>
        </p:txBody>
      </p:sp>
      <p:cxnSp>
        <p:nvCxnSpPr>
          <p:cNvPr id="9" name="直線箭頭接點 8">
            <a:extLst>
              <a:ext uri="{FF2B5EF4-FFF2-40B4-BE49-F238E27FC236}">
                <a16:creationId xmlns:a16="http://schemas.microsoft.com/office/drawing/2014/main" id="{18B84B76-142A-5023-5E6C-4D41532F1172}"/>
              </a:ext>
            </a:extLst>
          </p:cNvPr>
          <p:cNvCxnSpPr>
            <a:cxnSpLocks/>
            <a:stCxn id="5" idx="3"/>
            <a:endCxn id="6" idx="1"/>
          </p:cNvCxnSpPr>
          <p:nvPr/>
        </p:nvCxnSpPr>
        <p:spPr>
          <a:xfrm>
            <a:off x="3700456" y="5760693"/>
            <a:ext cx="80224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箭頭接點 9">
            <a:extLst>
              <a:ext uri="{FF2B5EF4-FFF2-40B4-BE49-F238E27FC236}">
                <a16:creationId xmlns:a16="http://schemas.microsoft.com/office/drawing/2014/main" id="{F71E57FA-135C-F5FD-FAD5-1A98918A43F4}"/>
              </a:ext>
            </a:extLst>
          </p:cNvPr>
          <p:cNvCxnSpPr>
            <a:cxnSpLocks/>
            <a:stCxn id="6" idx="3"/>
            <a:endCxn id="7" idx="1"/>
          </p:cNvCxnSpPr>
          <p:nvPr/>
        </p:nvCxnSpPr>
        <p:spPr>
          <a:xfrm>
            <a:off x="5575586" y="5760693"/>
            <a:ext cx="88946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箭頭接點 10">
            <a:extLst>
              <a:ext uri="{FF2B5EF4-FFF2-40B4-BE49-F238E27FC236}">
                <a16:creationId xmlns:a16="http://schemas.microsoft.com/office/drawing/2014/main" id="{3C0B2572-09B3-94FC-B244-22C2831D777D}"/>
              </a:ext>
            </a:extLst>
          </p:cNvPr>
          <p:cNvCxnSpPr>
            <a:cxnSpLocks/>
            <a:stCxn id="7" idx="3"/>
            <a:endCxn id="8" idx="1"/>
          </p:cNvCxnSpPr>
          <p:nvPr/>
        </p:nvCxnSpPr>
        <p:spPr>
          <a:xfrm>
            <a:off x="7537942" y="5760693"/>
            <a:ext cx="949253" cy="0"/>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BDEA15D8-6190-8063-F631-4048A98A29D8}"/>
              </a:ext>
            </a:extLst>
          </p:cNvPr>
          <p:cNvSpPr/>
          <p:nvPr/>
        </p:nvSpPr>
        <p:spPr>
          <a:xfrm>
            <a:off x="3581662" y="4816982"/>
            <a:ext cx="1072890" cy="384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r>
              <a:rPr kumimoji="1" lang="en-US" altLang="zh-TW" sz="2400" baseline="30000" dirty="0">
                <a:solidFill>
                  <a:schemeClr val="tx1"/>
                </a:solidFill>
              </a:rPr>
              <a:t>1</a:t>
            </a:r>
            <a:endParaRPr kumimoji="1" lang="zh-TW" altLang="en-US" sz="2400" baseline="30000" dirty="0">
              <a:solidFill>
                <a:schemeClr val="tx1"/>
              </a:solidFill>
            </a:endParaRPr>
          </a:p>
        </p:txBody>
      </p:sp>
      <p:sp>
        <p:nvSpPr>
          <p:cNvPr id="13" name="矩形 12">
            <a:extLst>
              <a:ext uri="{FF2B5EF4-FFF2-40B4-BE49-F238E27FC236}">
                <a16:creationId xmlns:a16="http://schemas.microsoft.com/office/drawing/2014/main" id="{97E6D5BB-C672-78BA-0684-7CDBA98D6E31}"/>
              </a:ext>
            </a:extLst>
          </p:cNvPr>
          <p:cNvSpPr/>
          <p:nvPr/>
        </p:nvSpPr>
        <p:spPr>
          <a:xfrm>
            <a:off x="5435670" y="4816982"/>
            <a:ext cx="1072890" cy="384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r>
              <a:rPr kumimoji="1" lang="en-US" altLang="zh-TW" sz="2400" baseline="30000" dirty="0">
                <a:solidFill>
                  <a:schemeClr val="tx1"/>
                </a:solidFill>
              </a:rPr>
              <a:t>1</a:t>
            </a:r>
            <a:endParaRPr kumimoji="1" lang="zh-TW" altLang="en-US" sz="2400" dirty="0">
              <a:solidFill>
                <a:schemeClr val="tx1"/>
              </a:solidFill>
            </a:endParaRPr>
          </a:p>
        </p:txBody>
      </p:sp>
      <p:sp>
        <p:nvSpPr>
          <p:cNvPr id="14" name="矩形 13">
            <a:extLst>
              <a:ext uri="{FF2B5EF4-FFF2-40B4-BE49-F238E27FC236}">
                <a16:creationId xmlns:a16="http://schemas.microsoft.com/office/drawing/2014/main" id="{4E69AD0A-4336-CFC3-9BB4-4CF963984032}"/>
              </a:ext>
            </a:extLst>
          </p:cNvPr>
          <p:cNvSpPr/>
          <p:nvPr/>
        </p:nvSpPr>
        <p:spPr>
          <a:xfrm>
            <a:off x="7289678" y="4816982"/>
            <a:ext cx="1072890" cy="384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r>
              <a:rPr kumimoji="1" lang="en-US" altLang="zh-TW" sz="2400" baseline="30000" dirty="0">
                <a:solidFill>
                  <a:schemeClr val="tx1"/>
                </a:solidFill>
              </a:rPr>
              <a:t>1</a:t>
            </a:r>
            <a:endParaRPr kumimoji="1" lang="zh-TW" altLang="en-US" sz="2400" dirty="0">
              <a:solidFill>
                <a:schemeClr val="tx1"/>
              </a:solidFill>
            </a:endParaRPr>
          </a:p>
        </p:txBody>
      </p:sp>
      <p:sp>
        <p:nvSpPr>
          <p:cNvPr id="15" name="矩形 14">
            <a:extLst>
              <a:ext uri="{FF2B5EF4-FFF2-40B4-BE49-F238E27FC236}">
                <a16:creationId xmlns:a16="http://schemas.microsoft.com/office/drawing/2014/main" id="{62C75155-E72C-F607-0D74-2060ACA2029B}"/>
              </a:ext>
            </a:extLst>
          </p:cNvPr>
          <p:cNvSpPr/>
          <p:nvPr/>
        </p:nvSpPr>
        <p:spPr>
          <a:xfrm>
            <a:off x="9143684" y="4816982"/>
            <a:ext cx="1072890" cy="384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r>
              <a:rPr kumimoji="1" lang="en-US" altLang="zh-TW" sz="2400" baseline="30000" dirty="0">
                <a:solidFill>
                  <a:schemeClr val="tx1"/>
                </a:solidFill>
              </a:rPr>
              <a:t>1</a:t>
            </a:r>
            <a:endParaRPr kumimoji="1" lang="zh-TW" altLang="en-US" sz="2400" dirty="0">
              <a:solidFill>
                <a:schemeClr val="tx1"/>
              </a:solidFill>
            </a:endParaRPr>
          </a:p>
        </p:txBody>
      </p:sp>
      <p:cxnSp>
        <p:nvCxnSpPr>
          <p:cNvPr id="16" name="直線箭頭接點 15">
            <a:extLst>
              <a:ext uri="{FF2B5EF4-FFF2-40B4-BE49-F238E27FC236}">
                <a16:creationId xmlns:a16="http://schemas.microsoft.com/office/drawing/2014/main" id="{D2F84185-1AC3-3ACD-C981-C1E2E46BA3D1}"/>
              </a:ext>
            </a:extLst>
          </p:cNvPr>
          <p:cNvCxnSpPr>
            <a:cxnSpLocks/>
            <a:stCxn id="13" idx="1"/>
            <a:endCxn id="12" idx="3"/>
          </p:cNvCxnSpPr>
          <p:nvPr/>
        </p:nvCxnSpPr>
        <p:spPr>
          <a:xfrm flipH="1">
            <a:off x="4654553" y="5009282"/>
            <a:ext cx="78111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箭頭接點 16">
            <a:extLst>
              <a:ext uri="{FF2B5EF4-FFF2-40B4-BE49-F238E27FC236}">
                <a16:creationId xmlns:a16="http://schemas.microsoft.com/office/drawing/2014/main" id="{5C7E7311-9CA9-BF9A-AD6D-942E08AF7941}"/>
              </a:ext>
            </a:extLst>
          </p:cNvPr>
          <p:cNvCxnSpPr>
            <a:cxnSpLocks/>
            <a:stCxn id="14" idx="1"/>
            <a:endCxn id="13" idx="3"/>
          </p:cNvCxnSpPr>
          <p:nvPr/>
        </p:nvCxnSpPr>
        <p:spPr>
          <a:xfrm flipH="1">
            <a:off x="6508560" y="5009282"/>
            <a:ext cx="78111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箭頭接點 17">
            <a:extLst>
              <a:ext uri="{FF2B5EF4-FFF2-40B4-BE49-F238E27FC236}">
                <a16:creationId xmlns:a16="http://schemas.microsoft.com/office/drawing/2014/main" id="{55B08411-25FB-8618-508B-70A621D79F7E}"/>
              </a:ext>
            </a:extLst>
          </p:cNvPr>
          <p:cNvCxnSpPr>
            <a:cxnSpLocks/>
            <a:stCxn id="15" idx="1"/>
            <a:endCxn id="14" idx="3"/>
          </p:cNvCxnSpPr>
          <p:nvPr/>
        </p:nvCxnSpPr>
        <p:spPr>
          <a:xfrm flipH="1">
            <a:off x="8362568" y="5009282"/>
            <a:ext cx="781116" cy="0"/>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2" name="文字方塊 21">
            <a:extLst>
              <a:ext uri="{FF2B5EF4-FFF2-40B4-BE49-F238E27FC236}">
                <a16:creationId xmlns:a16="http://schemas.microsoft.com/office/drawing/2014/main" id="{CCF0AE36-595A-84A6-2883-3A556217B2C6}"/>
              </a:ext>
            </a:extLst>
          </p:cNvPr>
          <p:cNvSpPr txBox="1"/>
          <p:nvPr/>
        </p:nvSpPr>
        <p:spPr>
          <a:xfrm>
            <a:off x="7565548" y="6242736"/>
            <a:ext cx="522223" cy="461665"/>
          </a:xfrm>
          <a:prstGeom prst="rect">
            <a:avLst/>
          </a:prstGeom>
          <a:noFill/>
        </p:spPr>
        <p:txBody>
          <a:bodyPr wrap="square" rtlCol="0">
            <a:spAutoFit/>
          </a:bodyPr>
          <a:lstStyle/>
          <a:p>
            <a:pPr algn="ctr"/>
            <a:r>
              <a:rPr kumimoji="1" lang="en-US" altLang="zh-TW" sz="2400" dirty="0"/>
              <a:t>e</a:t>
            </a:r>
            <a:r>
              <a:rPr kumimoji="1" lang="en-US" altLang="zh-TW" sz="2400" baseline="-25000" dirty="0"/>
              <a:t>3</a:t>
            </a:r>
            <a:endParaRPr kumimoji="1" lang="zh-TW" altLang="en-US" sz="2400" baseline="-25000" dirty="0"/>
          </a:p>
        </p:txBody>
      </p:sp>
      <p:cxnSp>
        <p:nvCxnSpPr>
          <p:cNvPr id="26" name="直線箭頭接點 25">
            <a:extLst>
              <a:ext uri="{FF2B5EF4-FFF2-40B4-BE49-F238E27FC236}">
                <a16:creationId xmlns:a16="http://schemas.microsoft.com/office/drawing/2014/main" id="{7C392453-8CA8-A14B-0436-F90C6549ED20}"/>
              </a:ext>
            </a:extLst>
          </p:cNvPr>
          <p:cNvCxnSpPr>
            <a:cxnSpLocks/>
            <a:stCxn id="146" idx="0"/>
            <a:endCxn id="5" idx="2"/>
          </p:cNvCxnSpPr>
          <p:nvPr/>
        </p:nvCxnSpPr>
        <p:spPr>
          <a:xfrm flipH="1" flipV="1">
            <a:off x="3164010" y="5952993"/>
            <a:ext cx="954097" cy="28974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箭頭接點 28">
            <a:extLst>
              <a:ext uri="{FF2B5EF4-FFF2-40B4-BE49-F238E27FC236}">
                <a16:creationId xmlns:a16="http://schemas.microsoft.com/office/drawing/2014/main" id="{4CECA67E-B608-EF07-1996-8168200478A9}"/>
              </a:ext>
            </a:extLst>
          </p:cNvPr>
          <p:cNvCxnSpPr>
            <a:cxnSpLocks/>
            <a:stCxn id="133" idx="0"/>
            <a:endCxn id="15" idx="2"/>
          </p:cNvCxnSpPr>
          <p:nvPr/>
        </p:nvCxnSpPr>
        <p:spPr>
          <a:xfrm flipH="1" flipV="1">
            <a:off x="9680129" y="5201582"/>
            <a:ext cx="2" cy="10411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箭頭接點 29">
            <a:extLst>
              <a:ext uri="{FF2B5EF4-FFF2-40B4-BE49-F238E27FC236}">
                <a16:creationId xmlns:a16="http://schemas.microsoft.com/office/drawing/2014/main" id="{0E7E3084-CD1C-591C-A19C-B3B7CAB09498}"/>
              </a:ext>
            </a:extLst>
          </p:cNvPr>
          <p:cNvCxnSpPr>
            <a:cxnSpLocks/>
            <a:stCxn id="141" idx="0"/>
            <a:endCxn id="6" idx="2"/>
          </p:cNvCxnSpPr>
          <p:nvPr/>
        </p:nvCxnSpPr>
        <p:spPr>
          <a:xfrm flipH="1" flipV="1">
            <a:off x="5039141" y="5952993"/>
            <a:ext cx="926819" cy="28974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箭頭接點 30">
            <a:extLst>
              <a:ext uri="{FF2B5EF4-FFF2-40B4-BE49-F238E27FC236}">
                <a16:creationId xmlns:a16="http://schemas.microsoft.com/office/drawing/2014/main" id="{172313E9-A8FB-E1D2-AF31-FE1601197762}"/>
              </a:ext>
            </a:extLst>
          </p:cNvPr>
          <p:cNvCxnSpPr>
            <a:cxnSpLocks/>
            <a:stCxn id="22" idx="0"/>
            <a:endCxn id="7" idx="2"/>
          </p:cNvCxnSpPr>
          <p:nvPr/>
        </p:nvCxnSpPr>
        <p:spPr>
          <a:xfrm flipH="1" flipV="1">
            <a:off x="7001497" y="5952993"/>
            <a:ext cx="825163" cy="28974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箭頭接點 31">
            <a:extLst>
              <a:ext uri="{FF2B5EF4-FFF2-40B4-BE49-F238E27FC236}">
                <a16:creationId xmlns:a16="http://schemas.microsoft.com/office/drawing/2014/main" id="{34E47F68-E177-E39E-912C-7D117F98BFE3}"/>
              </a:ext>
            </a:extLst>
          </p:cNvPr>
          <p:cNvCxnSpPr>
            <a:cxnSpLocks/>
            <a:stCxn id="133" idx="0"/>
            <a:endCxn id="8" idx="2"/>
          </p:cNvCxnSpPr>
          <p:nvPr/>
        </p:nvCxnSpPr>
        <p:spPr>
          <a:xfrm flipH="1" flipV="1">
            <a:off x="9023640" y="5952993"/>
            <a:ext cx="656491" cy="28974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矩形 32">
            <a:extLst>
              <a:ext uri="{FF2B5EF4-FFF2-40B4-BE49-F238E27FC236}">
                <a16:creationId xmlns:a16="http://schemas.microsoft.com/office/drawing/2014/main" id="{C840673F-B4C4-3862-C91A-B42BE75FC324}"/>
              </a:ext>
            </a:extLst>
          </p:cNvPr>
          <p:cNvSpPr/>
          <p:nvPr/>
        </p:nvSpPr>
        <p:spPr>
          <a:xfrm>
            <a:off x="3700456" y="4177491"/>
            <a:ext cx="391155" cy="145645"/>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400" dirty="0">
              <a:solidFill>
                <a:schemeClr val="tx1"/>
              </a:solidFill>
            </a:endParaRPr>
          </a:p>
        </p:txBody>
      </p:sp>
      <p:sp>
        <p:nvSpPr>
          <p:cNvPr id="34" name="矩形 33">
            <a:extLst>
              <a:ext uri="{FF2B5EF4-FFF2-40B4-BE49-F238E27FC236}">
                <a16:creationId xmlns:a16="http://schemas.microsoft.com/office/drawing/2014/main" id="{080D7A7A-FDCA-4E43-CBC1-EA1E8BB8A29D}"/>
              </a:ext>
            </a:extLst>
          </p:cNvPr>
          <p:cNvSpPr/>
          <p:nvPr/>
        </p:nvSpPr>
        <p:spPr>
          <a:xfrm>
            <a:off x="3309301" y="4177491"/>
            <a:ext cx="391155" cy="145645"/>
          </a:xfrm>
          <a:prstGeom prst="rect">
            <a:avLst/>
          </a:prstGeom>
          <a:solidFill>
            <a:srgbClr val="FDE7D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400" dirty="0">
              <a:solidFill>
                <a:schemeClr val="tx1"/>
              </a:solidFill>
            </a:endParaRPr>
          </a:p>
        </p:txBody>
      </p:sp>
      <p:sp>
        <p:nvSpPr>
          <p:cNvPr id="35" name="矩形 34">
            <a:extLst>
              <a:ext uri="{FF2B5EF4-FFF2-40B4-BE49-F238E27FC236}">
                <a16:creationId xmlns:a16="http://schemas.microsoft.com/office/drawing/2014/main" id="{FFF3A1B9-905D-9875-8092-B59AFC6B75F4}"/>
              </a:ext>
            </a:extLst>
          </p:cNvPr>
          <p:cNvSpPr/>
          <p:nvPr/>
        </p:nvSpPr>
        <p:spPr>
          <a:xfrm>
            <a:off x="5472772" y="4176943"/>
            <a:ext cx="391155" cy="145645"/>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400" dirty="0">
              <a:solidFill>
                <a:schemeClr val="tx1"/>
              </a:solidFill>
            </a:endParaRPr>
          </a:p>
        </p:txBody>
      </p:sp>
      <p:sp>
        <p:nvSpPr>
          <p:cNvPr id="36" name="矩形 35">
            <a:extLst>
              <a:ext uri="{FF2B5EF4-FFF2-40B4-BE49-F238E27FC236}">
                <a16:creationId xmlns:a16="http://schemas.microsoft.com/office/drawing/2014/main" id="{97F7B013-8FD3-FF3D-49AB-D904B58C4D0E}"/>
              </a:ext>
            </a:extLst>
          </p:cNvPr>
          <p:cNvSpPr/>
          <p:nvPr/>
        </p:nvSpPr>
        <p:spPr>
          <a:xfrm>
            <a:off x="5081617" y="4176943"/>
            <a:ext cx="391155" cy="145645"/>
          </a:xfrm>
          <a:prstGeom prst="rect">
            <a:avLst/>
          </a:prstGeom>
          <a:solidFill>
            <a:srgbClr val="FDE7D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400" dirty="0">
              <a:solidFill>
                <a:schemeClr val="tx1"/>
              </a:solidFill>
            </a:endParaRPr>
          </a:p>
        </p:txBody>
      </p:sp>
      <p:sp>
        <p:nvSpPr>
          <p:cNvPr id="37" name="矩形 36">
            <a:extLst>
              <a:ext uri="{FF2B5EF4-FFF2-40B4-BE49-F238E27FC236}">
                <a16:creationId xmlns:a16="http://schemas.microsoft.com/office/drawing/2014/main" id="{05AD1BB9-7AAB-728B-F855-D517941EA816}"/>
              </a:ext>
            </a:extLst>
          </p:cNvPr>
          <p:cNvSpPr/>
          <p:nvPr/>
        </p:nvSpPr>
        <p:spPr>
          <a:xfrm>
            <a:off x="7289678" y="4174189"/>
            <a:ext cx="391155" cy="145645"/>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400" dirty="0">
              <a:solidFill>
                <a:schemeClr val="tx1"/>
              </a:solidFill>
            </a:endParaRPr>
          </a:p>
        </p:txBody>
      </p:sp>
      <p:sp>
        <p:nvSpPr>
          <p:cNvPr id="38" name="矩形 37">
            <a:extLst>
              <a:ext uri="{FF2B5EF4-FFF2-40B4-BE49-F238E27FC236}">
                <a16:creationId xmlns:a16="http://schemas.microsoft.com/office/drawing/2014/main" id="{A85A3FE5-081A-127E-F010-7C4BF3634FA9}"/>
              </a:ext>
            </a:extLst>
          </p:cNvPr>
          <p:cNvSpPr/>
          <p:nvPr/>
        </p:nvSpPr>
        <p:spPr>
          <a:xfrm>
            <a:off x="6898523" y="4174189"/>
            <a:ext cx="391155" cy="145645"/>
          </a:xfrm>
          <a:prstGeom prst="rect">
            <a:avLst/>
          </a:prstGeom>
          <a:solidFill>
            <a:srgbClr val="FDE7D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400" dirty="0">
              <a:solidFill>
                <a:schemeClr val="tx1"/>
              </a:solidFill>
            </a:endParaRPr>
          </a:p>
        </p:txBody>
      </p:sp>
      <p:sp>
        <p:nvSpPr>
          <p:cNvPr id="39" name="矩形 38">
            <a:extLst>
              <a:ext uri="{FF2B5EF4-FFF2-40B4-BE49-F238E27FC236}">
                <a16:creationId xmlns:a16="http://schemas.microsoft.com/office/drawing/2014/main" id="{1D8FEC98-7F2D-99FA-E453-D9B92CE7D6EC}"/>
              </a:ext>
            </a:extLst>
          </p:cNvPr>
          <p:cNvSpPr/>
          <p:nvPr/>
        </p:nvSpPr>
        <p:spPr>
          <a:xfrm>
            <a:off x="9077629" y="4176807"/>
            <a:ext cx="391155" cy="145645"/>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400" dirty="0">
              <a:solidFill>
                <a:schemeClr val="tx1"/>
              </a:solidFill>
            </a:endParaRPr>
          </a:p>
        </p:txBody>
      </p:sp>
      <p:sp>
        <p:nvSpPr>
          <p:cNvPr id="40" name="矩形 39">
            <a:extLst>
              <a:ext uri="{FF2B5EF4-FFF2-40B4-BE49-F238E27FC236}">
                <a16:creationId xmlns:a16="http://schemas.microsoft.com/office/drawing/2014/main" id="{332CE08C-6451-5C95-6ABA-8276A2521BD9}"/>
              </a:ext>
            </a:extLst>
          </p:cNvPr>
          <p:cNvSpPr/>
          <p:nvPr/>
        </p:nvSpPr>
        <p:spPr>
          <a:xfrm>
            <a:off x="8686474" y="4176807"/>
            <a:ext cx="391155" cy="145645"/>
          </a:xfrm>
          <a:prstGeom prst="rect">
            <a:avLst/>
          </a:prstGeom>
          <a:solidFill>
            <a:srgbClr val="FDE7D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400" dirty="0">
              <a:solidFill>
                <a:schemeClr val="tx1"/>
              </a:solidFill>
            </a:endParaRPr>
          </a:p>
        </p:txBody>
      </p:sp>
      <p:cxnSp>
        <p:nvCxnSpPr>
          <p:cNvPr id="41" name="直線箭頭接點 40">
            <a:extLst>
              <a:ext uri="{FF2B5EF4-FFF2-40B4-BE49-F238E27FC236}">
                <a16:creationId xmlns:a16="http://schemas.microsoft.com/office/drawing/2014/main" id="{8FC1EE22-C80C-B98C-0D2D-EE199220E6DA}"/>
              </a:ext>
            </a:extLst>
          </p:cNvPr>
          <p:cNvCxnSpPr>
            <a:cxnSpLocks/>
            <a:stCxn id="5" idx="0"/>
            <a:endCxn id="34" idx="2"/>
          </p:cNvCxnSpPr>
          <p:nvPr/>
        </p:nvCxnSpPr>
        <p:spPr>
          <a:xfrm flipV="1">
            <a:off x="3164010" y="4323136"/>
            <a:ext cx="340868" cy="124525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箭頭接點 41">
            <a:extLst>
              <a:ext uri="{FF2B5EF4-FFF2-40B4-BE49-F238E27FC236}">
                <a16:creationId xmlns:a16="http://schemas.microsoft.com/office/drawing/2014/main" id="{9D3D5E2A-84B2-5808-08D5-EE69926E13C6}"/>
              </a:ext>
            </a:extLst>
          </p:cNvPr>
          <p:cNvCxnSpPr>
            <a:cxnSpLocks/>
            <a:stCxn id="12" idx="0"/>
            <a:endCxn id="33" idx="2"/>
          </p:cNvCxnSpPr>
          <p:nvPr/>
        </p:nvCxnSpPr>
        <p:spPr>
          <a:xfrm flipH="1" flipV="1">
            <a:off x="3896033" y="4323136"/>
            <a:ext cx="222074" cy="49384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箭頭接點 43">
            <a:extLst>
              <a:ext uri="{FF2B5EF4-FFF2-40B4-BE49-F238E27FC236}">
                <a16:creationId xmlns:a16="http://schemas.microsoft.com/office/drawing/2014/main" id="{BBA28CCA-8A0D-E0F9-27BE-D14DCBF268DE}"/>
              </a:ext>
            </a:extLst>
          </p:cNvPr>
          <p:cNvCxnSpPr>
            <a:cxnSpLocks/>
            <a:stCxn id="6" idx="0"/>
            <a:endCxn id="36" idx="2"/>
          </p:cNvCxnSpPr>
          <p:nvPr/>
        </p:nvCxnSpPr>
        <p:spPr>
          <a:xfrm flipV="1">
            <a:off x="5039141" y="4322588"/>
            <a:ext cx="238054" cy="124580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箭頭接點 44">
            <a:extLst>
              <a:ext uri="{FF2B5EF4-FFF2-40B4-BE49-F238E27FC236}">
                <a16:creationId xmlns:a16="http://schemas.microsoft.com/office/drawing/2014/main" id="{EF4EE996-CB32-2A2E-C61F-E2DDB035EF6D}"/>
              </a:ext>
            </a:extLst>
          </p:cNvPr>
          <p:cNvCxnSpPr>
            <a:cxnSpLocks/>
            <a:stCxn id="13" idx="0"/>
            <a:endCxn id="35" idx="2"/>
          </p:cNvCxnSpPr>
          <p:nvPr/>
        </p:nvCxnSpPr>
        <p:spPr>
          <a:xfrm flipH="1" flipV="1">
            <a:off x="5668350" y="4322588"/>
            <a:ext cx="303766" cy="49439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箭頭接點 45">
            <a:extLst>
              <a:ext uri="{FF2B5EF4-FFF2-40B4-BE49-F238E27FC236}">
                <a16:creationId xmlns:a16="http://schemas.microsoft.com/office/drawing/2014/main" id="{98AD6C71-DBA4-9199-F030-A4BAEBBFFB7A}"/>
              </a:ext>
            </a:extLst>
          </p:cNvPr>
          <p:cNvCxnSpPr>
            <a:cxnSpLocks/>
            <a:stCxn id="14" idx="0"/>
            <a:endCxn id="37" idx="2"/>
          </p:cNvCxnSpPr>
          <p:nvPr/>
        </p:nvCxnSpPr>
        <p:spPr>
          <a:xfrm flipH="1" flipV="1">
            <a:off x="7485255" y="4319834"/>
            <a:ext cx="340868" cy="49714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箭頭接點 46">
            <a:extLst>
              <a:ext uri="{FF2B5EF4-FFF2-40B4-BE49-F238E27FC236}">
                <a16:creationId xmlns:a16="http://schemas.microsoft.com/office/drawing/2014/main" id="{0B370FBB-C90D-2373-1D29-A96BA57BC21E}"/>
              </a:ext>
            </a:extLst>
          </p:cNvPr>
          <p:cNvCxnSpPr>
            <a:cxnSpLocks/>
            <a:stCxn id="7" idx="0"/>
            <a:endCxn id="38" idx="2"/>
          </p:cNvCxnSpPr>
          <p:nvPr/>
        </p:nvCxnSpPr>
        <p:spPr>
          <a:xfrm flipV="1">
            <a:off x="7001497" y="4319834"/>
            <a:ext cx="92603" cy="124855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箭頭接點 47">
            <a:extLst>
              <a:ext uri="{FF2B5EF4-FFF2-40B4-BE49-F238E27FC236}">
                <a16:creationId xmlns:a16="http://schemas.microsoft.com/office/drawing/2014/main" id="{4D271285-340C-3713-A08B-D612952079C7}"/>
              </a:ext>
            </a:extLst>
          </p:cNvPr>
          <p:cNvCxnSpPr>
            <a:cxnSpLocks/>
            <a:stCxn id="8" idx="0"/>
            <a:endCxn id="40" idx="2"/>
          </p:cNvCxnSpPr>
          <p:nvPr/>
        </p:nvCxnSpPr>
        <p:spPr>
          <a:xfrm flipH="1" flipV="1">
            <a:off x="8882052" y="4322452"/>
            <a:ext cx="141589" cy="124594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箭頭接點 48">
            <a:extLst>
              <a:ext uri="{FF2B5EF4-FFF2-40B4-BE49-F238E27FC236}">
                <a16:creationId xmlns:a16="http://schemas.microsoft.com/office/drawing/2014/main" id="{7299AA3E-6D78-3905-B399-DC1C8D42292D}"/>
              </a:ext>
            </a:extLst>
          </p:cNvPr>
          <p:cNvCxnSpPr>
            <a:cxnSpLocks/>
            <a:stCxn id="15" idx="0"/>
            <a:endCxn id="39" idx="2"/>
          </p:cNvCxnSpPr>
          <p:nvPr/>
        </p:nvCxnSpPr>
        <p:spPr>
          <a:xfrm flipH="1" flipV="1">
            <a:off x="9273207" y="4322452"/>
            <a:ext cx="406923" cy="49453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文字方塊 49">
                <a:extLst>
                  <a:ext uri="{FF2B5EF4-FFF2-40B4-BE49-F238E27FC236}">
                    <a16:creationId xmlns:a16="http://schemas.microsoft.com/office/drawing/2014/main" id="{D312FBBF-0298-7C13-183E-E0679F7AE5D6}"/>
                  </a:ext>
                </a:extLst>
              </p:cNvPr>
              <p:cNvSpPr txBox="1"/>
              <p:nvPr/>
            </p:nvSpPr>
            <p:spPr>
              <a:xfrm>
                <a:off x="2809658" y="4064333"/>
                <a:ext cx="522223" cy="3719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zh-TW" altLang="zh-TW" sz="1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h</m:t>
                          </m:r>
                        </m:e>
                        <m:sub>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1</m:t>
                          </m:r>
                        </m:sub>
                        <m:sup>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1</m:t>
                          </m:r>
                        </m:sup>
                      </m:sSubSup>
                    </m:oMath>
                  </m:oMathPara>
                </a14:m>
                <a:endPar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50" name="文字方塊 49">
                <a:extLst>
                  <a:ext uri="{FF2B5EF4-FFF2-40B4-BE49-F238E27FC236}">
                    <a16:creationId xmlns:a16="http://schemas.microsoft.com/office/drawing/2014/main" id="{D312FBBF-0298-7C13-183E-E0679F7AE5D6}"/>
                  </a:ext>
                </a:extLst>
              </p:cNvPr>
              <p:cNvSpPr txBox="1">
                <a:spLocks noRot="1" noChangeAspect="1" noMove="1" noResize="1" noEditPoints="1" noAdjustHandles="1" noChangeArrowheads="1" noChangeShapeType="1" noTextEdit="1"/>
              </p:cNvSpPr>
              <p:nvPr/>
            </p:nvSpPr>
            <p:spPr>
              <a:xfrm>
                <a:off x="2809658" y="4064333"/>
                <a:ext cx="522223" cy="371961"/>
              </a:xfrm>
              <a:prstGeom prst="rect">
                <a:avLst/>
              </a:prstGeom>
              <a:blipFill>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1" name="文字方塊 50">
                <a:extLst>
                  <a:ext uri="{FF2B5EF4-FFF2-40B4-BE49-F238E27FC236}">
                    <a16:creationId xmlns:a16="http://schemas.microsoft.com/office/drawing/2014/main" id="{2CDA468F-CC11-2F36-A54A-6CF858EE8D27}"/>
                  </a:ext>
                </a:extLst>
              </p:cNvPr>
              <p:cNvSpPr txBox="1"/>
              <p:nvPr/>
            </p:nvSpPr>
            <p:spPr>
              <a:xfrm>
                <a:off x="4622666" y="4064333"/>
                <a:ext cx="522223" cy="3719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zh-TW" altLang="zh-TW" sz="1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h</m:t>
                          </m:r>
                        </m:e>
                        <m:sub>
                          <m:r>
                            <a:rPr lang="en-US" altLang="zh-TW" sz="1800" b="0" i="1" kern="100" smtClean="0">
                              <a:effectLst/>
                              <a:latin typeface="Cambria Math" panose="02040503050406030204" pitchFamily="18" charset="0"/>
                              <a:ea typeface="新細明體" panose="02020500000000000000" pitchFamily="18" charset="-120"/>
                              <a:cs typeface="Times New Roman" panose="02020603050405020304" pitchFamily="18" charset="0"/>
                            </a:rPr>
                            <m:t>2</m:t>
                          </m:r>
                        </m:sub>
                        <m:sup>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1</m:t>
                          </m:r>
                        </m:sup>
                      </m:sSubSup>
                    </m:oMath>
                  </m:oMathPara>
                </a14:m>
                <a:endPar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51" name="文字方塊 50">
                <a:extLst>
                  <a:ext uri="{FF2B5EF4-FFF2-40B4-BE49-F238E27FC236}">
                    <a16:creationId xmlns:a16="http://schemas.microsoft.com/office/drawing/2014/main" id="{2CDA468F-CC11-2F36-A54A-6CF858EE8D27}"/>
                  </a:ext>
                </a:extLst>
              </p:cNvPr>
              <p:cNvSpPr txBox="1">
                <a:spLocks noRot="1" noChangeAspect="1" noMove="1" noResize="1" noEditPoints="1" noAdjustHandles="1" noChangeArrowheads="1" noChangeShapeType="1" noTextEdit="1"/>
              </p:cNvSpPr>
              <p:nvPr/>
            </p:nvSpPr>
            <p:spPr>
              <a:xfrm>
                <a:off x="4622666" y="4064333"/>
                <a:ext cx="522223" cy="371961"/>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文字方塊 51">
                <a:extLst>
                  <a:ext uri="{FF2B5EF4-FFF2-40B4-BE49-F238E27FC236}">
                    <a16:creationId xmlns:a16="http://schemas.microsoft.com/office/drawing/2014/main" id="{97029DB2-031A-316D-092E-EC9B76C669CE}"/>
                  </a:ext>
                </a:extLst>
              </p:cNvPr>
              <p:cNvSpPr txBox="1"/>
              <p:nvPr/>
            </p:nvSpPr>
            <p:spPr>
              <a:xfrm>
                <a:off x="6400414" y="4064333"/>
                <a:ext cx="522223" cy="3719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zh-TW" altLang="zh-TW" sz="1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h</m:t>
                          </m:r>
                        </m:e>
                        <m:sub>
                          <m:r>
                            <a:rPr lang="en-US" altLang="zh-TW" sz="1800" b="0" i="1" kern="100" smtClean="0">
                              <a:effectLst/>
                              <a:latin typeface="Cambria Math" panose="02040503050406030204" pitchFamily="18" charset="0"/>
                              <a:ea typeface="新細明體" panose="02020500000000000000" pitchFamily="18" charset="-120"/>
                              <a:cs typeface="Times New Roman" panose="02020603050405020304" pitchFamily="18" charset="0"/>
                            </a:rPr>
                            <m:t>3</m:t>
                          </m:r>
                        </m:sub>
                        <m:sup>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1</m:t>
                          </m:r>
                        </m:sup>
                      </m:sSubSup>
                    </m:oMath>
                  </m:oMathPara>
                </a14:m>
                <a:endPar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52" name="文字方塊 51">
                <a:extLst>
                  <a:ext uri="{FF2B5EF4-FFF2-40B4-BE49-F238E27FC236}">
                    <a16:creationId xmlns:a16="http://schemas.microsoft.com/office/drawing/2014/main" id="{97029DB2-031A-316D-092E-EC9B76C669CE}"/>
                  </a:ext>
                </a:extLst>
              </p:cNvPr>
              <p:cNvSpPr txBox="1">
                <a:spLocks noRot="1" noChangeAspect="1" noMove="1" noResize="1" noEditPoints="1" noAdjustHandles="1" noChangeArrowheads="1" noChangeShapeType="1" noTextEdit="1"/>
              </p:cNvSpPr>
              <p:nvPr/>
            </p:nvSpPr>
            <p:spPr>
              <a:xfrm>
                <a:off x="6400414" y="4064333"/>
                <a:ext cx="522223" cy="371961"/>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3" name="文字方塊 52">
                <a:extLst>
                  <a:ext uri="{FF2B5EF4-FFF2-40B4-BE49-F238E27FC236}">
                    <a16:creationId xmlns:a16="http://schemas.microsoft.com/office/drawing/2014/main" id="{58D8BE42-86FB-B117-4D83-6B05E432CDCF}"/>
                  </a:ext>
                </a:extLst>
              </p:cNvPr>
              <p:cNvSpPr txBox="1"/>
              <p:nvPr/>
            </p:nvSpPr>
            <p:spPr>
              <a:xfrm>
                <a:off x="8193366" y="4064333"/>
                <a:ext cx="522223" cy="3719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zh-TW" altLang="zh-TW" sz="1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h</m:t>
                          </m:r>
                        </m:e>
                        <m:sub>
                          <m:r>
                            <a:rPr lang="en-US" altLang="zh-TW" sz="1800" b="0" i="1" kern="100" smtClean="0">
                              <a:effectLst/>
                              <a:latin typeface="Cambria Math" panose="02040503050406030204" pitchFamily="18" charset="0"/>
                              <a:ea typeface="新細明體" panose="02020500000000000000" pitchFamily="18" charset="-120"/>
                              <a:cs typeface="Times New Roman" panose="02020603050405020304" pitchFamily="18" charset="0"/>
                            </a:rPr>
                            <m:t>4</m:t>
                          </m:r>
                        </m:sub>
                        <m:sup>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1</m:t>
                          </m:r>
                        </m:sup>
                      </m:sSubSup>
                    </m:oMath>
                  </m:oMathPara>
                </a14:m>
                <a:endPar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53" name="文字方塊 52">
                <a:extLst>
                  <a:ext uri="{FF2B5EF4-FFF2-40B4-BE49-F238E27FC236}">
                    <a16:creationId xmlns:a16="http://schemas.microsoft.com/office/drawing/2014/main" id="{58D8BE42-86FB-B117-4D83-6B05E432CDCF}"/>
                  </a:ext>
                </a:extLst>
              </p:cNvPr>
              <p:cNvSpPr txBox="1">
                <a:spLocks noRot="1" noChangeAspect="1" noMove="1" noResize="1" noEditPoints="1" noAdjustHandles="1" noChangeArrowheads="1" noChangeShapeType="1" noTextEdit="1"/>
              </p:cNvSpPr>
              <p:nvPr/>
            </p:nvSpPr>
            <p:spPr>
              <a:xfrm>
                <a:off x="8193366" y="4064333"/>
                <a:ext cx="522223" cy="371961"/>
              </a:xfrm>
              <a:prstGeom prst="rect">
                <a:avLst/>
              </a:prstGeom>
              <a:blipFill>
                <a:blip r:embed="rId5"/>
                <a:stretch>
                  <a:fillRect/>
                </a:stretch>
              </a:blipFill>
            </p:spPr>
            <p:txBody>
              <a:bodyPr/>
              <a:lstStyle/>
              <a:p>
                <a:r>
                  <a:rPr lang="zh-TW" altLang="en-US">
                    <a:noFill/>
                  </a:rPr>
                  <a:t> </a:t>
                </a:r>
              </a:p>
            </p:txBody>
          </p:sp>
        </mc:Fallback>
      </mc:AlternateContent>
      <p:sp>
        <p:nvSpPr>
          <p:cNvPr id="58" name="矩形 57">
            <a:extLst>
              <a:ext uri="{FF2B5EF4-FFF2-40B4-BE49-F238E27FC236}">
                <a16:creationId xmlns:a16="http://schemas.microsoft.com/office/drawing/2014/main" id="{F450BAF4-6BD3-0737-E4C2-693E46BDFD79}"/>
              </a:ext>
            </a:extLst>
          </p:cNvPr>
          <p:cNvSpPr/>
          <p:nvPr/>
        </p:nvSpPr>
        <p:spPr>
          <a:xfrm>
            <a:off x="2621410" y="3150450"/>
            <a:ext cx="1072890" cy="384600"/>
          </a:xfrm>
          <a:prstGeom prst="rect">
            <a:avLst/>
          </a:prstGeom>
          <a:solidFill>
            <a:srgbClr val="FDE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r>
              <a:rPr kumimoji="1" lang="en-US" altLang="zh-TW" sz="2400" baseline="30000" dirty="0">
                <a:solidFill>
                  <a:schemeClr val="tx1"/>
                </a:solidFill>
              </a:rPr>
              <a:t>2</a:t>
            </a:r>
            <a:endParaRPr kumimoji="1" lang="zh-TW" altLang="en-US" sz="2400" baseline="30000" dirty="0">
              <a:solidFill>
                <a:schemeClr val="tx1"/>
              </a:solidFill>
            </a:endParaRPr>
          </a:p>
        </p:txBody>
      </p:sp>
      <p:sp>
        <p:nvSpPr>
          <p:cNvPr id="59" name="矩形 58">
            <a:extLst>
              <a:ext uri="{FF2B5EF4-FFF2-40B4-BE49-F238E27FC236}">
                <a16:creationId xmlns:a16="http://schemas.microsoft.com/office/drawing/2014/main" id="{629DDFC1-8D08-F487-B7B2-5F4DC94A69ED}"/>
              </a:ext>
            </a:extLst>
          </p:cNvPr>
          <p:cNvSpPr/>
          <p:nvPr/>
        </p:nvSpPr>
        <p:spPr>
          <a:xfrm>
            <a:off x="4496541" y="3150450"/>
            <a:ext cx="1072890" cy="384600"/>
          </a:xfrm>
          <a:prstGeom prst="rect">
            <a:avLst/>
          </a:prstGeom>
          <a:solidFill>
            <a:srgbClr val="FDE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r>
              <a:rPr kumimoji="1" lang="en-US" altLang="zh-TW" sz="2400" baseline="30000" dirty="0">
                <a:solidFill>
                  <a:schemeClr val="tx1"/>
                </a:solidFill>
              </a:rPr>
              <a:t>2</a:t>
            </a:r>
            <a:endParaRPr kumimoji="1" lang="zh-TW" altLang="en-US" sz="2400" baseline="30000" dirty="0">
              <a:solidFill>
                <a:schemeClr val="tx1"/>
              </a:solidFill>
            </a:endParaRPr>
          </a:p>
        </p:txBody>
      </p:sp>
      <p:sp>
        <p:nvSpPr>
          <p:cNvPr id="60" name="矩形 59">
            <a:extLst>
              <a:ext uri="{FF2B5EF4-FFF2-40B4-BE49-F238E27FC236}">
                <a16:creationId xmlns:a16="http://schemas.microsoft.com/office/drawing/2014/main" id="{835E1D23-561F-EC62-D9F6-289FEA9CDF59}"/>
              </a:ext>
            </a:extLst>
          </p:cNvPr>
          <p:cNvSpPr/>
          <p:nvPr/>
        </p:nvSpPr>
        <p:spPr>
          <a:xfrm>
            <a:off x="6458897" y="3150450"/>
            <a:ext cx="1072890" cy="384600"/>
          </a:xfrm>
          <a:prstGeom prst="rect">
            <a:avLst/>
          </a:prstGeom>
          <a:solidFill>
            <a:srgbClr val="FDE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r>
              <a:rPr kumimoji="1" lang="en-US" altLang="zh-TW" sz="2400" baseline="30000" dirty="0">
                <a:solidFill>
                  <a:schemeClr val="tx1"/>
                </a:solidFill>
              </a:rPr>
              <a:t>2</a:t>
            </a:r>
            <a:endParaRPr kumimoji="1" lang="zh-TW" altLang="en-US" sz="2400" dirty="0">
              <a:solidFill>
                <a:schemeClr val="tx1"/>
              </a:solidFill>
            </a:endParaRPr>
          </a:p>
        </p:txBody>
      </p:sp>
      <p:sp>
        <p:nvSpPr>
          <p:cNvPr id="61" name="矩形 60">
            <a:extLst>
              <a:ext uri="{FF2B5EF4-FFF2-40B4-BE49-F238E27FC236}">
                <a16:creationId xmlns:a16="http://schemas.microsoft.com/office/drawing/2014/main" id="{FDB4F7A2-2D87-0918-C6B3-0370E7367B08}"/>
              </a:ext>
            </a:extLst>
          </p:cNvPr>
          <p:cNvSpPr/>
          <p:nvPr/>
        </p:nvSpPr>
        <p:spPr>
          <a:xfrm>
            <a:off x="8481040" y="3150450"/>
            <a:ext cx="1072890" cy="384600"/>
          </a:xfrm>
          <a:prstGeom prst="rect">
            <a:avLst/>
          </a:prstGeom>
          <a:solidFill>
            <a:srgbClr val="FDE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r>
              <a:rPr kumimoji="1" lang="en-US" altLang="zh-TW" sz="2400" baseline="30000" dirty="0">
                <a:solidFill>
                  <a:schemeClr val="tx1"/>
                </a:solidFill>
              </a:rPr>
              <a:t>2</a:t>
            </a:r>
            <a:endParaRPr kumimoji="1" lang="zh-TW" altLang="en-US" sz="2400" baseline="30000" dirty="0">
              <a:solidFill>
                <a:schemeClr val="tx1"/>
              </a:solidFill>
            </a:endParaRPr>
          </a:p>
        </p:txBody>
      </p:sp>
      <p:cxnSp>
        <p:nvCxnSpPr>
          <p:cNvPr id="62" name="直線箭頭接點 61">
            <a:extLst>
              <a:ext uri="{FF2B5EF4-FFF2-40B4-BE49-F238E27FC236}">
                <a16:creationId xmlns:a16="http://schemas.microsoft.com/office/drawing/2014/main" id="{DE20D87D-4047-7D5F-2969-A70A2F557D8B}"/>
              </a:ext>
            </a:extLst>
          </p:cNvPr>
          <p:cNvCxnSpPr>
            <a:cxnSpLocks/>
            <a:stCxn id="58" idx="3"/>
            <a:endCxn id="59" idx="1"/>
          </p:cNvCxnSpPr>
          <p:nvPr/>
        </p:nvCxnSpPr>
        <p:spPr>
          <a:xfrm>
            <a:off x="3694301" y="3342750"/>
            <a:ext cx="80224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線箭頭接點 62">
            <a:extLst>
              <a:ext uri="{FF2B5EF4-FFF2-40B4-BE49-F238E27FC236}">
                <a16:creationId xmlns:a16="http://schemas.microsoft.com/office/drawing/2014/main" id="{B1EFF885-C254-1DD0-A8C1-16AA045F65ED}"/>
              </a:ext>
            </a:extLst>
          </p:cNvPr>
          <p:cNvCxnSpPr>
            <a:cxnSpLocks/>
            <a:stCxn id="59" idx="3"/>
            <a:endCxn id="60" idx="1"/>
          </p:cNvCxnSpPr>
          <p:nvPr/>
        </p:nvCxnSpPr>
        <p:spPr>
          <a:xfrm>
            <a:off x="5569431" y="3342750"/>
            <a:ext cx="88946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線箭頭接點 63">
            <a:extLst>
              <a:ext uri="{FF2B5EF4-FFF2-40B4-BE49-F238E27FC236}">
                <a16:creationId xmlns:a16="http://schemas.microsoft.com/office/drawing/2014/main" id="{5CEA42C5-F463-E6B6-AC6F-B614F47DBF82}"/>
              </a:ext>
            </a:extLst>
          </p:cNvPr>
          <p:cNvCxnSpPr>
            <a:cxnSpLocks/>
            <a:stCxn id="60" idx="3"/>
            <a:endCxn id="61" idx="1"/>
          </p:cNvCxnSpPr>
          <p:nvPr/>
        </p:nvCxnSpPr>
        <p:spPr>
          <a:xfrm>
            <a:off x="7531787" y="3342750"/>
            <a:ext cx="949253" cy="0"/>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5" name="矩形 64">
            <a:extLst>
              <a:ext uri="{FF2B5EF4-FFF2-40B4-BE49-F238E27FC236}">
                <a16:creationId xmlns:a16="http://schemas.microsoft.com/office/drawing/2014/main" id="{322EF766-68D0-D62F-368A-D3CC3677F70A}"/>
              </a:ext>
            </a:extLst>
          </p:cNvPr>
          <p:cNvSpPr/>
          <p:nvPr/>
        </p:nvSpPr>
        <p:spPr>
          <a:xfrm>
            <a:off x="3575507" y="2399039"/>
            <a:ext cx="1072890" cy="384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r>
              <a:rPr kumimoji="1" lang="en-US" altLang="zh-TW" sz="2400" baseline="30000" dirty="0">
                <a:solidFill>
                  <a:schemeClr val="tx1"/>
                </a:solidFill>
              </a:rPr>
              <a:t>2</a:t>
            </a:r>
            <a:endParaRPr kumimoji="1" lang="zh-TW" altLang="en-US" sz="2400" baseline="30000" dirty="0">
              <a:solidFill>
                <a:schemeClr val="tx1"/>
              </a:solidFill>
            </a:endParaRPr>
          </a:p>
        </p:txBody>
      </p:sp>
      <p:sp>
        <p:nvSpPr>
          <p:cNvPr id="66" name="矩形 65">
            <a:extLst>
              <a:ext uri="{FF2B5EF4-FFF2-40B4-BE49-F238E27FC236}">
                <a16:creationId xmlns:a16="http://schemas.microsoft.com/office/drawing/2014/main" id="{A453E5E0-FAAC-6425-8929-7CDD26F2A12C}"/>
              </a:ext>
            </a:extLst>
          </p:cNvPr>
          <p:cNvSpPr/>
          <p:nvPr/>
        </p:nvSpPr>
        <p:spPr>
          <a:xfrm>
            <a:off x="5429515" y="2399039"/>
            <a:ext cx="1072890" cy="384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r>
              <a:rPr kumimoji="1" lang="en-US" altLang="zh-TW" sz="2400" baseline="30000" dirty="0">
                <a:solidFill>
                  <a:schemeClr val="tx1"/>
                </a:solidFill>
              </a:rPr>
              <a:t>2</a:t>
            </a:r>
            <a:endParaRPr kumimoji="1" lang="zh-TW" altLang="en-US" sz="2400" baseline="30000" dirty="0">
              <a:solidFill>
                <a:schemeClr val="tx1"/>
              </a:solidFill>
            </a:endParaRPr>
          </a:p>
        </p:txBody>
      </p:sp>
      <p:sp>
        <p:nvSpPr>
          <p:cNvPr id="67" name="矩形 66">
            <a:extLst>
              <a:ext uri="{FF2B5EF4-FFF2-40B4-BE49-F238E27FC236}">
                <a16:creationId xmlns:a16="http://schemas.microsoft.com/office/drawing/2014/main" id="{9B1013AC-7DE2-99CE-9723-183703C8F49A}"/>
              </a:ext>
            </a:extLst>
          </p:cNvPr>
          <p:cNvSpPr/>
          <p:nvPr/>
        </p:nvSpPr>
        <p:spPr>
          <a:xfrm>
            <a:off x="7283523" y="2399039"/>
            <a:ext cx="1072890" cy="384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r>
              <a:rPr kumimoji="1" lang="en-US" altLang="zh-TW" sz="2400" baseline="30000" dirty="0">
                <a:solidFill>
                  <a:schemeClr val="tx1"/>
                </a:solidFill>
              </a:rPr>
              <a:t>2</a:t>
            </a:r>
            <a:endParaRPr kumimoji="1" lang="zh-TW" altLang="en-US" sz="2400" baseline="30000" dirty="0">
              <a:solidFill>
                <a:schemeClr val="tx1"/>
              </a:solidFill>
            </a:endParaRPr>
          </a:p>
        </p:txBody>
      </p:sp>
      <p:sp>
        <p:nvSpPr>
          <p:cNvPr id="68" name="矩形 67">
            <a:extLst>
              <a:ext uri="{FF2B5EF4-FFF2-40B4-BE49-F238E27FC236}">
                <a16:creationId xmlns:a16="http://schemas.microsoft.com/office/drawing/2014/main" id="{9C536572-7F1D-A22F-E574-9799520FB6F0}"/>
              </a:ext>
            </a:extLst>
          </p:cNvPr>
          <p:cNvSpPr/>
          <p:nvPr/>
        </p:nvSpPr>
        <p:spPr>
          <a:xfrm>
            <a:off x="9137529" y="2399039"/>
            <a:ext cx="1072890" cy="384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r>
              <a:rPr kumimoji="1" lang="en-US" altLang="zh-TW" sz="2400" baseline="30000" dirty="0">
                <a:solidFill>
                  <a:schemeClr val="tx1"/>
                </a:solidFill>
              </a:rPr>
              <a:t>2</a:t>
            </a:r>
            <a:endParaRPr kumimoji="1" lang="zh-TW" altLang="en-US" sz="2400" baseline="30000" dirty="0">
              <a:solidFill>
                <a:schemeClr val="tx1"/>
              </a:solidFill>
            </a:endParaRPr>
          </a:p>
        </p:txBody>
      </p:sp>
      <p:cxnSp>
        <p:nvCxnSpPr>
          <p:cNvPr id="69" name="直線箭頭接點 68">
            <a:extLst>
              <a:ext uri="{FF2B5EF4-FFF2-40B4-BE49-F238E27FC236}">
                <a16:creationId xmlns:a16="http://schemas.microsoft.com/office/drawing/2014/main" id="{D1FAB961-7480-B303-82E4-B8D62A2D370F}"/>
              </a:ext>
            </a:extLst>
          </p:cNvPr>
          <p:cNvCxnSpPr>
            <a:cxnSpLocks/>
            <a:stCxn id="66" idx="1"/>
            <a:endCxn id="65" idx="3"/>
          </p:cNvCxnSpPr>
          <p:nvPr/>
        </p:nvCxnSpPr>
        <p:spPr>
          <a:xfrm flipH="1">
            <a:off x="4648398" y="2591339"/>
            <a:ext cx="78111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線箭頭接點 69">
            <a:extLst>
              <a:ext uri="{FF2B5EF4-FFF2-40B4-BE49-F238E27FC236}">
                <a16:creationId xmlns:a16="http://schemas.microsoft.com/office/drawing/2014/main" id="{90AFC9A8-2E6B-8553-E050-80A178DF9770}"/>
              </a:ext>
            </a:extLst>
          </p:cNvPr>
          <p:cNvCxnSpPr>
            <a:cxnSpLocks/>
            <a:stCxn id="67" idx="1"/>
            <a:endCxn id="66" idx="3"/>
          </p:cNvCxnSpPr>
          <p:nvPr/>
        </p:nvCxnSpPr>
        <p:spPr>
          <a:xfrm flipH="1">
            <a:off x="6502405" y="2591339"/>
            <a:ext cx="78111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箭頭接點 70">
            <a:extLst>
              <a:ext uri="{FF2B5EF4-FFF2-40B4-BE49-F238E27FC236}">
                <a16:creationId xmlns:a16="http://schemas.microsoft.com/office/drawing/2014/main" id="{D7909725-530E-C311-FF38-F34E32153D36}"/>
              </a:ext>
            </a:extLst>
          </p:cNvPr>
          <p:cNvCxnSpPr>
            <a:cxnSpLocks/>
            <a:stCxn id="68" idx="1"/>
            <a:endCxn id="67" idx="3"/>
          </p:cNvCxnSpPr>
          <p:nvPr/>
        </p:nvCxnSpPr>
        <p:spPr>
          <a:xfrm flipH="1">
            <a:off x="8356413" y="2591339"/>
            <a:ext cx="781116" cy="0"/>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9" name="直線箭頭接點 78">
            <a:extLst>
              <a:ext uri="{FF2B5EF4-FFF2-40B4-BE49-F238E27FC236}">
                <a16:creationId xmlns:a16="http://schemas.microsoft.com/office/drawing/2014/main" id="{8655FBBD-2B20-2CF1-F283-16E6243D3A73}"/>
              </a:ext>
            </a:extLst>
          </p:cNvPr>
          <p:cNvCxnSpPr>
            <a:cxnSpLocks/>
            <a:stCxn id="33" idx="0"/>
            <a:endCxn id="65" idx="2"/>
          </p:cNvCxnSpPr>
          <p:nvPr/>
        </p:nvCxnSpPr>
        <p:spPr>
          <a:xfrm flipV="1">
            <a:off x="3896034" y="2783639"/>
            <a:ext cx="215918" cy="139385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直線箭頭接點 79">
            <a:extLst>
              <a:ext uri="{FF2B5EF4-FFF2-40B4-BE49-F238E27FC236}">
                <a16:creationId xmlns:a16="http://schemas.microsoft.com/office/drawing/2014/main" id="{939BA083-8E7C-2EFF-4436-9F6D0B1664B6}"/>
              </a:ext>
            </a:extLst>
          </p:cNvPr>
          <p:cNvCxnSpPr>
            <a:cxnSpLocks/>
            <a:stCxn id="35" idx="0"/>
            <a:endCxn id="66" idx="2"/>
          </p:cNvCxnSpPr>
          <p:nvPr/>
        </p:nvCxnSpPr>
        <p:spPr>
          <a:xfrm flipV="1">
            <a:off x="5668350" y="2783639"/>
            <a:ext cx="297610" cy="139330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線箭頭接點 80">
            <a:extLst>
              <a:ext uri="{FF2B5EF4-FFF2-40B4-BE49-F238E27FC236}">
                <a16:creationId xmlns:a16="http://schemas.microsoft.com/office/drawing/2014/main" id="{422C3531-6D3B-3B03-C7CF-8338835B9188}"/>
              </a:ext>
            </a:extLst>
          </p:cNvPr>
          <p:cNvCxnSpPr>
            <a:cxnSpLocks/>
            <a:stCxn id="37" idx="0"/>
            <a:endCxn id="67" idx="2"/>
          </p:cNvCxnSpPr>
          <p:nvPr/>
        </p:nvCxnSpPr>
        <p:spPr>
          <a:xfrm flipV="1">
            <a:off x="7485256" y="2783639"/>
            <a:ext cx="334712" cy="139055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直線箭頭接點 81">
            <a:extLst>
              <a:ext uri="{FF2B5EF4-FFF2-40B4-BE49-F238E27FC236}">
                <a16:creationId xmlns:a16="http://schemas.microsoft.com/office/drawing/2014/main" id="{AE88E34C-BA12-95C7-853C-4929610785FB}"/>
              </a:ext>
            </a:extLst>
          </p:cNvPr>
          <p:cNvCxnSpPr>
            <a:cxnSpLocks/>
            <a:stCxn id="39" idx="0"/>
            <a:endCxn id="68" idx="2"/>
          </p:cNvCxnSpPr>
          <p:nvPr/>
        </p:nvCxnSpPr>
        <p:spPr>
          <a:xfrm flipV="1">
            <a:off x="9273207" y="2783639"/>
            <a:ext cx="400767" cy="139316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線箭頭接點 83">
            <a:extLst>
              <a:ext uri="{FF2B5EF4-FFF2-40B4-BE49-F238E27FC236}">
                <a16:creationId xmlns:a16="http://schemas.microsoft.com/office/drawing/2014/main" id="{7628A7A0-89C9-F441-F5A3-6B45672B76DE}"/>
              </a:ext>
            </a:extLst>
          </p:cNvPr>
          <p:cNvCxnSpPr>
            <a:cxnSpLocks/>
            <a:stCxn id="38" idx="0"/>
            <a:endCxn id="60" idx="2"/>
          </p:cNvCxnSpPr>
          <p:nvPr/>
        </p:nvCxnSpPr>
        <p:spPr>
          <a:xfrm flipH="1" flipV="1">
            <a:off x="6995342" y="3535050"/>
            <a:ext cx="98759" cy="63913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線箭頭接點 84">
            <a:extLst>
              <a:ext uri="{FF2B5EF4-FFF2-40B4-BE49-F238E27FC236}">
                <a16:creationId xmlns:a16="http://schemas.microsoft.com/office/drawing/2014/main" id="{96F68AA8-0DEE-A1C3-7B71-82152B18D0AA}"/>
              </a:ext>
            </a:extLst>
          </p:cNvPr>
          <p:cNvCxnSpPr>
            <a:cxnSpLocks/>
            <a:stCxn id="40" idx="0"/>
            <a:endCxn id="61" idx="2"/>
          </p:cNvCxnSpPr>
          <p:nvPr/>
        </p:nvCxnSpPr>
        <p:spPr>
          <a:xfrm flipV="1">
            <a:off x="8882052" y="3535050"/>
            <a:ext cx="135433" cy="64175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6" name="矩形 85">
            <a:extLst>
              <a:ext uri="{FF2B5EF4-FFF2-40B4-BE49-F238E27FC236}">
                <a16:creationId xmlns:a16="http://schemas.microsoft.com/office/drawing/2014/main" id="{80A883F4-DA3C-5CC5-6056-8EFDF5DBBCEE}"/>
              </a:ext>
            </a:extLst>
          </p:cNvPr>
          <p:cNvSpPr/>
          <p:nvPr/>
        </p:nvSpPr>
        <p:spPr>
          <a:xfrm>
            <a:off x="3694301" y="1759548"/>
            <a:ext cx="391155" cy="145645"/>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400" dirty="0">
              <a:solidFill>
                <a:schemeClr val="tx1"/>
              </a:solidFill>
            </a:endParaRPr>
          </a:p>
        </p:txBody>
      </p:sp>
      <p:sp>
        <p:nvSpPr>
          <p:cNvPr id="87" name="矩形 86">
            <a:extLst>
              <a:ext uri="{FF2B5EF4-FFF2-40B4-BE49-F238E27FC236}">
                <a16:creationId xmlns:a16="http://schemas.microsoft.com/office/drawing/2014/main" id="{EA7D9452-0426-53B0-4F06-1D04B44CA92C}"/>
              </a:ext>
            </a:extLst>
          </p:cNvPr>
          <p:cNvSpPr/>
          <p:nvPr/>
        </p:nvSpPr>
        <p:spPr>
          <a:xfrm>
            <a:off x="3303146" y="1759548"/>
            <a:ext cx="391155" cy="145645"/>
          </a:xfrm>
          <a:prstGeom prst="rect">
            <a:avLst/>
          </a:prstGeom>
          <a:solidFill>
            <a:srgbClr val="FDE7D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400" dirty="0">
              <a:solidFill>
                <a:schemeClr val="tx1"/>
              </a:solidFill>
            </a:endParaRPr>
          </a:p>
        </p:txBody>
      </p:sp>
      <p:sp>
        <p:nvSpPr>
          <p:cNvPr id="88" name="矩形 87">
            <a:extLst>
              <a:ext uri="{FF2B5EF4-FFF2-40B4-BE49-F238E27FC236}">
                <a16:creationId xmlns:a16="http://schemas.microsoft.com/office/drawing/2014/main" id="{44016437-7783-A420-F2B7-320D072E20FA}"/>
              </a:ext>
            </a:extLst>
          </p:cNvPr>
          <p:cNvSpPr/>
          <p:nvPr/>
        </p:nvSpPr>
        <p:spPr>
          <a:xfrm>
            <a:off x="5466617" y="1759001"/>
            <a:ext cx="391155" cy="145645"/>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400" dirty="0">
              <a:solidFill>
                <a:schemeClr val="tx1"/>
              </a:solidFill>
            </a:endParaRPr>
          </a:p>
        </p:txBody>
      </p:sp>
      <p:sp>
        <p:nvSpPr>
          <p:cNvPr id="89" name="矩形 88">
            <a:extLst>
              <a:ext uri="{FF2B5EF4-FFF2-40B4-BE49-F238E27FC236}">
                <a16:creationId xmlns:a16="http://schemas.microsoft.com/office/drawing/2014/main" id="{F659FA52-E918-8143-BBEF-38F44D858F72}"/>
              </a:ext>
            </a:extLst>
          </p:cNvPr>
          <p:cNvSpPr/>
          <p:nvPr/>
        </p:nvSpPr>
        <p:spPr>
          <a:xfrm>
            <a:off x="5075462" y="1759001"/>
            <a:ext cx="391155" cy="145645"/>
          </a:xfrm>
          <a:prstGeom prst="rect">
            <a:avLst/>
          </a:prstGeom>
          <a:solidFill>
            <a:srgbClr val="FDE7D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400" dirty="0">
              <a:solidFill>
                <a:schemeClr val="tx1"/>
              </a:solidFill>
            </a:endParaRPr>
          </a:p>
        </p:txBody>
      </p:sp>
      <p:sp>
        <p:nvSpPr>
          <p:cNvPr id="90" name="矩形 89">
            <a:extLst>
              <a:ext uri="{FF2B5EF4-FFF2-40B4-BE49-F238E27FC236}">
                <a16:creationId xmlns:a16="http://schemas.microsoft.com/office/drawing/2014/main" id="{2E648AC2-F5C8-8563-01A1-9EBDBBD60C56}"/>
              </a:ext>
            </a:extLst>
          </p:cNvPr>
          <p:cNvSpPr/>
          <p:nvPr/>
        </p:nvSpPr>
        <p:spPr>
          <a:xfrm>
            <a:off x="7283523" y="1756246"/>
            <a:ext cx="391155" cy="145645"/>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400" dirty="0">
              <a:solidFill>
                <a:schemeClr val="tx1"/>
              </a:solidFill>
            </a:endParaRPr>
          </a:p>
        </p:txBody>
      </p:sp>
      <p:sp>
        <p:nvSpPr>
          <p:cNvPr id="91" name="矩形 90">
            <a:extLst>
              <a:ext uri="{FF2B5EF4-FFF2-40B4-BE49-F238E27FC236}">
                <a16:creationId xmlns:a16="http://schemas.microsoft.com/office/drawing/2014/main" id="{FDDC09B7-62BF-73E4-57FC-4EF294131118}"/>
              </a:ext>
            </a:extLst>
          </p:cNvPr>
          <p:cNvSpPr/>
          <p:nvPr/>
        </p:nvSpPr>
        <p:spPr>
          <a:xfrm>
            <a:off x="6892368" y="1756246"/>
            <a:ext cx="391155" cy="145645"/>
          </a:xfrm>
          <a:prstGeom prst="rect">
            <a:avLst/>
          </a:prstGeom>
          <a:solidFill>
            <a:srgbClr val="FDE7D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400" dirty="0">
              <a:solidFill>
                <a:schemeClr val="tx1"/>
              </a:solidFill>
            </a:endParaRPr>
          </a:p>
        </p:txBody>
      </p:sp>
      <p:sp>
        <p:nvSpPr>
          <p:cNvPr id="92" name="矩形 91">
            <a:extLst>
              <a:ext uri="{FF2B5EF4-FFF2-40B4-BE49-F238E27FC236}">
                <a16:creationId xmlns:a16="http://schemas.microsoft.com/office/drawing/2014/main" id="{4D404455-31CD-B9C8-94D8-10EAFE62373B}"/>
              </a:ext>
            </a:extLst>
          </p:cNvPr>
          <p:cNvSpPr/>
          <p:nvPr/>
        </p:nvSpPr>
        <p:spPr>
          <a:xfrm>
            <a:off x="9071474" y="1758864"/>
            <a:ext cx="391155" cy="145645"/>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400" dirty="0">
              <a:solidFill>
                <a:schemeClr val="tx1"/>
              </a:solidFill>
            </a:endParaRPr>
          </a:p>
        </p:txBody>
      </p:sp>
      <p:sp>
        <p:nvSpPr>
          <p:cNvPr id="93" name="矩形 92">
            <a:extLst>
              <a:ext uri="{FF2B5EF4-FFF2-40B4-BE49-F238E27FC236}">
                <a16:creationId xmlns:a16="http://schemas.microsoft.com/office/drawing/2014/main" id="{F8591BFF-A58C-1AB9-5ADD-4EBC5AA858B3}"/>
              </a:ext>
            </a:extLst>
          </p:cNvPr>
          <p:cNvSpPr/>
          <p:nvPr/>
        </p:nvSpPr>
        <p:spPr>
          <a:xfrm>
            <a:off x="8680319" y="1758864"/>
            <a:ext cx="391155" cy="145645"/>
          </a:xfrm>
          <a:prstGeom prst="rect">
            <a:avLst/>
          </a:prstGeom>
          <a:solidFill>
            <a:srgbClr val="FDE7D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400" dirty="0">
              <a:solidFill>
                <a:schemeClr val="tx1"/>
              </a:solidFill>
            </a:endParaRPr>
          </a:p>
        </p:txBody>
      </p:sp>
      <p:cxnSp>
        <p:nvCxnSpPr>
          <p:cNvPr id="94" name="直線箭頭接點 93">
            <a:extLst>
              <a:ext uri="{FF2B5EF4-FFF2-40B4-BE49-F238E27FC236}">
                <a16:creationId xmlns:a16="http://schemas.microsoft.com/office/drawing/2014/main" id="{35921406-D7F1-F4A7-EA1C-85370BBE30EA}"/>
              </a:ext>
            </a:extLst>
          </p:cNvPr>
          <p:cNvCxnSpPr>
            <a:cxnSpLocks/>
            <a:stCxn id="58" idx="0"/>
            <a:endCxn id="87" idx="2"/>
          </p:cNvCxnSpPr>
          <p:nvPr/>
        </p:nvCxnSpPr>
        <p:spPr>
          <a:xfrm flipV="1">
            <a:off x="3157855" y="1905193"/>
            <a:ext cx="340868" cy="124525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線箭頭接點 94">
            <a:extLst>
              <a:ext uri="{FF2B5EF4-FFF2-40B4-BE49-F238E27FC236}">
                <a16:creationId xmlns:a16="http://schemas.microsoft.com/office/drawing/2014/main" id="{481E7DFD-3D4D-3FA0-869B-0D349DAA0635}"/>
              </a:ext>
            </a:extLst>
          </p:cNvPr>
          <p:cNvCxnSpPr>
            <a:cxnSpLocks/>
            <a:stCxn id="65" idx="0"/>
            <a:endCxn id="86" idx="2"/>
          </p:cNvCxnSpPr>
          <p:nvPr/>
        </p:nvCxnSpPr>
        <p:spPr>
          <a:xfrm flipH="1" flipV="1">
            <a:off x="3889878" y="1905193"/>
            <a:ext cx="222074" cy="49384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線箭頭接點 96">
            <a:extLst>
              <a:ext uri="{FF2B5EF4-FFF2-40B4-BE49-F238E27FC236}">
                <a16:creationId xmlns:a16="http://schemas.microsoft.com/office/drawing/2014/main" id="{3ACA5991-01F9-5C83-FDF3-0CB1CEBD5EAE}"/>
              </a:ext>
            </a:extLst>
          </p:cNvPr>
          <p:cNvCxnSpPr>
            <a:cxnSpLocks/>
            <a:stCxn id="59" idx="0"/>
            <a:endCxn id="89" idx="2"/>
          </p:cNvCxnSpPr>
          <p:nvPr/>
        </p:nvCxnSpPr>
        <p:spPr>
          <a:xfrm flipV="1">
            <a:off x="5032986" y="1904645"/>
            <a:ext cx="238054" cy="124580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箭頭接點 97">
            <a:extLst>
              <a:ext uri="{FF2B5EF4-FFF2-40B4-BE49-F238E27FC236}">
                <a16:creationId xmlns:a16="http://schemas.microsoft.com/office/drawing/2014/main" id="{61234213-FA24-FFD0-84B7-E6B8F4877E9A}"/>
              </a:ext>
            </a:extLst>
          </p:cNvPr>
          <p:cNvCxnSpPr>
            <a:cxnSpLocks/>
            <a:stCxn id="66" idx="0"/>
            <a:endCxn id="88" idx="2"/>
          </p:cNvCxnSpPr>
          <p:nvPr/>
        </p:nvCxnSpPr>
        <p:spPr>
          <a:xfrm flipH="1" flipV="1">
            <a:off x="5662195" y="1904645"/>
            <a:ext cx="303766" cy="49439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直線箭頭接點 98">
            <a:extLst>
              <a:ext uri="{FF2B5EF4-FFF2-40B4-BE49-F238E27FC236}">
                <a16:creationId xmlns:a16="http://schemas.microsoft.com/office/drawing/2014/main" id="{148F879C-B1EB-34BB-6865-0AD5159A33C7}"/>
              </a:ext>
            </a:extLst>
          </p:cNvPr>
          <p:cNvCxnSpPr>
            <a:cxnSpLocks/>
            <a:stCxn id="67" idx="0"/>
            <a:endCxn id="90" idx="2"/>
          </p:cNvCxnSpPr>
          <p:nvPr/>
        </p:nvCxnSpPr>
        <p:spPr>
          <a:xfrm flipH="1" flipV="1">
            <a:off x="7479100" y="1901891"/>
            <a:ext cx="340868" cy="49714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直線箭頭接點 99">
            <a:extLst>
              <a:ext uri="{FF2B5EF4-FFF2-40B4-BE49-F238E27FC236}">
                <a16:creationId xmlns:a16="http://schemas.microsoft.com/office/drawing/2014/main" id="{F697AFDF-C6FC-294F-1A1D-67829208AFCA}"/>
              </a:ext>
            </a:extLst>
          </p:cNvPr>
          <p:cNvCxnSpPr>
            <a:cxnSpLocks/>
            <a:stCxn id="60" idx="0"/>
            <a:endCxn id="91" idx="2"/>
          </p:cNvCxnSpPr>
          <p:nvPr/>
        </p:nvCxnSpPr>
        <p:spPr>
          <a:xfrm flipV="1">
            <a:off x="6995342" y="1901891"/>
            <a:ext cx="92603" cy="124855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線箭頭接點 100">
            <a:extLst>
              <a:ext uri="{FF2B5EF4-FFF2-40B4-BE49-F238E27FC236}">
                <a16:creationId xmlns:a16="http://schemas.microsoft.com/office/drawing/2014/main" id="{F791297D-BBC9-4534-9FA1-7EF7D2BF68B3}"/>
              </a:ext>
            </a:extLst>
          </p:cNvPr>
          <p:cNvCxnSpPr>
            <a:cxnSpLocks/>
            <a:stCxn id="61" idx="0"/>
            <a:endCxn id="93" idx="2"/>
          </p:cNvCxnSpPr>
          <p:nvPr/>
        </p:nvCxnSpPr>
        <p:spPr>
          <a:xfrm flipH="1" flipV="1">
            <a:off x="8875897" y="1904509"/>
            <a:ext cx="141589" cy="124594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直線箭頭接點 101">
            <a:extLst>
              <a:ext uri="{FF2B5EF4-FFF2-40B4-BE49-F238E27FC236}">
                <a16:creationId xmlns:a16="http://schemas.microsoft.com/office/drawing/2014/main" id="{214FEC89-4294-47F2-75B5-967C3819A91B}"/>
              </a:ext>
            </a:extLst>
          </p:cNvPr>
          <p:cNvCxnSpPr>
            <a:cxnSpLocks/>
            <a:stCxn id="68" idx="0"/>
            <a:endCxn id="92" idx="2"/>
          </p:cNvCxnSpPr>
          <p:nvPr/>
        </p:nvCxnSpPr>
        <p:spPr>
          <a:xfrm flipH="1" flipV="1">
            <a:off x="9267052" y="1904509"/>
            <a:ext cx="406923" cy="49453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直線箭頭接點 119">
            <a:extLst>
              <a:ext uri="{FF2B5EF4-FFF2-40B4-BE49-F238E27FC236}">
                <a16:creationId xmlns:a16="http://schemas.microsoft.com/office/drawing/2014/main" id="{A993A7A3-9890-F7F4-1930-C59DCCF63DA9}"/>
              </a:ext>
            </a:extLst>
          </p:cNvPr>
          <p:cNvCxnSpPr>
            <a:cxnSpLocks/>
            <a:stCxn id="34" idx="0"/>
            <a:endCxn id="58" idx="2"/>
          </p:cNvCxnSpPr>
          <p:nvPr/>
        </p:nvCxnSpPr>
        <p:spPr>
          <a:xfrm flipH="1" flipV="1">
            <a:off x="3157855" y="3535050"/>
            <a:ext cx="347024" cy="64244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直線箭頭接點 122">
            <a:extLst>
              <a:ext uri="{FF2B5EF4-FFF2-40B4-BE49-F238E27FC236}">
                <a16:creationId xmlns:a16="http://schemas.microsoft.com/office/drawing/2014/main" id="{7510210A-DC5C-2F7C-00C4-F66548E69AAE}"/>
              </a:ext>
            </a:extLst>
          </p:cNvPr>
          <p:cNvCxnSpPr>
            <a:cxnSpLocks/>
            <a:stCxn id="36" idx="0"/>
            <a:endCxn id="59" idx="2"/>
          </p:cNvCxnSpPr>
          <p:nvPr/>
        </p:nvCxnSpPr>
        <p:spPr>
          <a:xfrm flipH="1" flipV="1">
            <a:off x="5032986" y="3535050"/>
            <a:ext cx="244209" cy="64189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3" name="文字方塊 132">
            <a:extLst>
              <a:ext uri="{FF2B5EF4-FFF2-40B4-BE49-F238E27FC236}">
                <a16:creationId xmlns:a16="http://schemas.microsoft.com/office/drawing/2014/main" id="{ABAB535B-4742-EA48-4DD2-89CBF2AADAF0}"/>
              </a:ext>
            </a:extLst>
          </p:cNvPr>
          <p:cNvSpPr txBox="1"/>
          <p:nvPr/>
        </p:nvSpPr>
        <p:spPr>
          <a:xfrm>
            <a:off x="9419019" y="6242737"/>
            <a:ext cx="522223" cy="461665"/>
          </a:xfrm>
          <a:prstGeom prst="rect">
            <a:avLst/>
          </a:prstGeom>
          <a:noFill/>
        </p:spPr>
        <p:txBody>
          <a:bodyPr wrap="square" rtlCol="0">
            <a:spAutoFit/>
          </a:bodyPr>
          <a:lstStyle/>
          <a:p>
            <a:pPr algn="ctr"/>
            <a:r>
              <a:rPr kumimoji="1" lang="en-US" altLang="zh-TW" sz="2400" dirty="0"/>
              <a:t>e</a:t>
            </a:r>
            <a:r>
              <a:rPr kumimoji="1" lang="en-US" altLang="zh-TW" sz="2400" baseline="-25000" dirty="0"/>
              <a:t>4</a:t>
            </a:r>
            <a:endParaRPr kumimoji="1" lang="zh-TW" altLang="en-US" sz="2400" baseline="-25000" dirty="0"/>
          </a:p>
        </p:txBody>
      </p:sp>
      <p:cxnSp>
        <p:nvCxnSpPr>
          <p:cNvPr id="137" name="直線箭頭接點 136">
            <a:extLst>
              <a:ext uri="{FF2B5EF4-FFF2-40B4-BE49-F238E27FC236}">
                <a16:creationId xmlns:a16="http://schemas.microsoft.com/office/drawing/2014/main" id="{2E3018A6-510B-611D-90DA-F8E9B08A4AA2}"/>
              </a:ext>
            </a:extLst>
          </p:cNvPr>
          <p:cNvCxnSpPr>
            <a:cxnSpLocks/>
            <a:stCxn id="22" idx="0"/>
            <a:endCxn id="14" idx="2"/>
          </p:cNvCxnSpPr>
          <p:nvPr/>
        </p:nvCxnSpPr>
        <p:spPr>
          <a:xfrm flipH="1" flipV="1">
            <a:off x="7826123" y="5201582"/>
            <a:ext cx="537" cy="10411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1" name="文字方塊 140">
            <a:extLst>
              <a:ext uri="{FF2B5EF4-FFF2-40B4-BE49-F238E27FC236}">
                <a16:creationId xmlns:a16="http://schemas.microsoft.com/office/drawing/2014/main" id="{FD99A321-3588-8E8B-97B7-3241034F1EB4}"/>
              </a:ext>
            </a:extLst>
          </p:cNvPr>
          <p:cNvSpPr txBox="1"/>
          <p:nvPr/>
        </p:nvSpPr>
        <p:spPr>
          <a:xfrm>
            <a:off x="5704848" y="6242735"/>
            <a:ext cx="522223" cy="461665"/>
          </a:xfrm>
          <a:prstGeom prst="rect">
            <a:avLst/>
          </a:prstGeom>
          <a:noFill/>
        </p:spPr>
        <p:txBody>
          <a:bodyPr wrap="square" rtlCol="0">
            <a:spAutoFit/>
          </a:bodyPr>
          <a:lstStyle/>
          <a:p>
            <a:pPr algn="ctr"/>
            <a:r>
              <a:rPr kumimoji="1" lang="en-US" altLang="zh-TW" sz="2400" dirty="0"/>
              <a:t>e</a:t>
            </a:r>
            <a:r>
              <a:rPr kumimoji="1" lang="en-US" altLang="zh-TW" sz="2400" baseline="-25000" dirty="0"/>
              <a:t>2</a:t>
            </a:r>
            <a:endParaRPr kumimoji="1" lang="zh-TW" altLang="en-US" sz="2400" baseline="-25000" dirty="0"/>
          </a:p>
        </p:txBody>
      </p:sp>
      <p:cxnSp>
        <p:nvCxnSpPr>
          <p:cNvPr id="143" name="直線箭頭接點 142">
            <a:extLst>
              <a:ext uri="{FF2B5EF4-FFF2-40B4-BE49-F238E27FC236}">
                <a16:creationId xmlns:a16="http://schemas.microsoft.com/office/drawing/2014/main" id="{19E99C0D-9A54-7DE0-0569-8C15E3D00E07}"/>
              </a:ext>
            </a:extLst>
          </p:cNvPr>
          <p:cNvCxnSpPr>
            <a:cxnSpLocks/>
            <a:stCxn id="141" idx="0"/>
            <a:endCxn id="13" idx="2"/>
          </p:cNvCxnSpPr>
          <p:nvPr/>
        </p:nvCxnSpPr>
        <p:spPr>
          <a:xfrm flipV="1">
            <a:off x="5965960" y="5201582"/>
            <a:ext cx="6155" cy="104115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6" name="文字方塊 145">
            <a:extLst>
              <a:ext uri="{FF2B5EF4-FFF2-40B4-BE49-F238E27FC236}">
                <a16:creationId xmlns:a16="http://schemas.microsoft.com/office/drawing/2014/main" id="{82370B2B-FDBC-5421-5D71-5D963C0B3B35}"/>
              </a:ext>
            </a:extLst>
          </p:cNvPr>
          <p:cNvSpPr txBox="1"/>
          <p:nvPr/>
        </p:nvSpPr>
        <p:spPr>
          <a:xfrm>
            <a:off x="3856995" y="6242734"/>
            <a:ext cx="522223" cy="461665"/>
          </a:xfrm>
          <a:prstGeom prst="rect">
            <a:avLst/>
          </a:prstGeom>
          <a:noFill/>
        </p:spPr>
        <p:txBody>
          <a:bodyPr wrap="square" rtlCol="0">
            <a:spAutoFit/>
          </a:bodyPr>
          <a:lstStyle/>
          <a:p>
            <a:pPr algn="ctr"/>
            <a:r>
              <a:rPr kumimoji="1" lang="en-US" altLang="zh-TW" sz="2400" dirty="0"/>
              <a:t>e</a:t>
            </a:r>
            <a:r>
              <a:rPr kumimoji="1" lang="en-US" altLang="zh-TW" sz="2400" baseline="-25000" dirty="0"/>
              <a:t>1</a:t>
            </a:r>
            <a:endParaRPr kumimoji="1" lang="zh-TW" altLang="en-US" sz="2400" baseline="-25000" dirty="0"/>
          </a:p>
        </p:txBody>
      </p:sp>
      <p:cxnSp>
        <p:nvCxnSpPr>
          <p:cNvPr id="148" name="直線箭頭接點 147">
            <a:extLst>
              <a:ext uri="{FF2B5EF4-FFF2-40B4-BE49-F238E27FC236}">
                <a16:creationId xmlns:a16="http://schemas.microsoft.com/office/drawing/2014/main" id="{75DB8569-F1F3-0BD8-D2E3-4313ACBE5C38}"/>
              </a:ext>
            </a:extLst>
          </p:cNvPr>
          <p:cNvCxnSpPr>
            <a:cxnSpLocks/>
            <a:stCxn id="146" idx="0"/>
            <a:endCxn id="12" idx="2"/>
          </p:cNvCxnSpPr>
          <p:nvPr/>
        </p:nvCxnSpPr>
        <p:spPr>
          <a:xfrm flipV="1">
            <a:off x="4118107" y="5201582"/>
            <a:ext cx="0" cy="104115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8" name="文字方塊 157">
                <a:extLst>
                  <a:ext uri="{FF2B5EF4-FFF2-40B4-BE49-F238E27FC236}">
                    <a16:creationId xmlns:a16="http://schemas.microsoft.com/office/drawing/2014/main" id="{8399FD9B-C00B-A032-7875-F1844940496A}"/>
                  </a:ext>
                </a:extLst>
              </p:cNvPr>
              <p:cNvSpPr txBox="1"/>
              <p:nvPr/>
            </p:nvSpPr>
            <p:spPr>
              <a:xfrm>
                <a:off x="6457732" y="1640166"/>
                <a:ext cx="522223" cy="3719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zh-TW" altLang="zh-TW" sz="1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h</m:t>
                          </m:r>
                        </m:e>
                        <m:sub>
                          <m:r>
                            <a:rPr lang="en-US" altLang="zh-TW" sz="1800" b="0" i="1" kern="100" smtClean="0">
                              <a:effectLst/>
                              <a:latin typeface="Cambria Math" panose="02040503050406030204" pitchFamily="18" charset="0"/>
                              <a:ea typeface="新細明體" panose="02020500000000000000" pitchFamily="18" charset="-120"/>
                              <a:cs typeface="Times New Roman" panose="02020603050405020304" pitchFamily="18" charset="0"/>
                            </a:rPr>
                            <m:t>3</m:t>
                          </m:r>
                        </m:sub>
                        <m:sup>
                          <m:r>
                            <a:rPr lang="en-US" altLang="zh-TW" sz="1800" b="0" i="1" kern="100" smtClean="0">
                              <a:effectLst/>
                              <a:latin typeface="Cambria Math" panose="02040503050406030204" pitchFamily="18" charset="0"/>
                              <a:ea typeface="新細明體" panose="02020500000000000000" pitchFamily="18" charset="-120"/>
                              <a:cs typeface="Times New Roman" panose="02020603050405020304" pitchFamily="18" charset="0"/>
                            </a:rPr>
                            <m:t>2</m:t>
                          </m:r>
                        </m:sup>
                      </m:sSubSup>
                    </m:oMath>
                  </m:oMathPara>
                </a14:m>
                <a:endPar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158" name="文字方塊 157">
                <a:extLst>
                  <a:ext uri="{FF2B5EF4-FFF2-40B4-BE49-F238E27FC236}">
                    <a16:creationId xmlns:a16="http://schemas.microsoft.com/office/drawing/2014/main" id="{8399FD9B-C00B-A032-7875-F1844940496A}"/>
                  </a:ext>
                </a:extLst>
              </p:cNvPr>
              <p:cNvSpPr txBox="1">
                <a:spLocks noRot="1" noChangeAspect="1" noMove="1" noResize="1" noEditPoints="1" noAdjustHandles="1" noChangeArrowheads="1" noChangeShapeType="1" noTextEdit="1"/>
              </p:cNvSpPr>
              <p:nvPr/>
            </p:nvSpPr>
            <p:spPr>
              <a:xfrm>
                <a:off x="6457732" y="1640166"/>
                <a:ext cx="522223" cy="371961"/>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9" name="文字方塊 158">
                <a:extLst>
                  <a:ext uri="{FF2B5EF4-FFF2-40B4-BE49-F238E27FC236}">
                    <a16:creationId xmlns:a16="http://schemas.microsoft.com/office/drawing/2014/main" id="{8A3AFB9E-99F5-9768-3435-28BBAEE41301}"/>
                  </a:ext>
                </a:extLst>
              </p:cNvPr>
              <p:cNvSpPr txBox="1"/>
              <p:nvPr/>
            </p:nvSpPr>
            <p:spPr>
              <a:xfrm>
                <a:off x="8252750" y="1640166"/>
                <a:ext cx="522223" cy="3719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zh-TW" altLang="zh-TW" sz="1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h</m:t>
                          </m:r>
                        </m:e>
                        <m:sub>
                          <m:r>
                            <a:rPr lang="en-US" altLang="zh-TW" sz="1800" b="0" i="1" kern="100" smtClean="0">
                              <a:effectLst/>
                              <a:latin typeface="Cambria Math" panose="02040503050406030204" pitchFamily="18" charset="0"/>
                              <a:ea typeface="新細明體" panose="02020500000000000000" pitchFamily="18" charset="-120"/>
                              <a:cs typeface="Times New Roman" panose="02020603050405020304" pitchFamily="18" charset="0"/>
                            </a:rPr>
                            <m:t>4</m:t>
                          </m:r>
                        </m:sub>
                        <m:sup>
                          <m:r>
                            <a:rPr lang="en-US" altLang="zh-TW" sz="1800" b="0" i="1" kern="100" smtClean="0">
                              <a:effectLst/>
                              <a:latin typeface="Cambria Math" panose="02040503050406030204" pitchFamily="18" charset="0"/>
                              <a:ea typeface="新細明體" panose="02020500000000000000" pitchFamily="18" charset="-120"/>
                              <a:cs typeface="Times New Roman" panose="02020603050405020304" pitchFamily="18" charset="0"/>
                            </a:rPr>
                            <m:t>2</m:t>
                          </m:r>
                        </m:sup>
                      </m:sSubSup>
                    </m:oMath>
                  </m:oMathPara>
                </a14:m>
                <a:endPar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159" name="文字方塊 158">
                <a:extLst>
                  <a:ext uri="{FF2B5EF4-FFF2-40B4-BE49-F238E27FC236}">
                    <a16:creationId xmlns:a16="http://schemas.microsoft.com/office/drawing/2014/main" id="{8A3AFB9E-99F5-9768-3435-28BBAEE41301}"/>
                  </a:ext>
                </a:extLst>
              </p:cNvPr>
              <p:cNvSpPr txBox="1">
                <a:spLocks noRot="1" noChangeAspect="1" noMove="1" noResize="1" noEditPoints="1" noAdjustHandles="1" noChangeArrowheads="1" noChangeShapeType="1" noTextEdit="1"/>
              </p:cNvSpPr>
              <p:nvPr/>
            </p:nvSpPr>
            <p:spPr>
              <a:xfrm>
                <a:off x="8252750" y="1640166"/>
                <a:ext cx="522223" cy="371961"/>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0" name="文字方塊 159">
                <a:extLst>
                  <a:ext uri="{FF2B5EF4-FFF2-40B4-BE49-F238E27FC236}">
                    <a16:creationId xmlns:a16="http://schemas.microsoft.com/office/drawing/2014/main" id="{4C347B50-2A15-8E73-26F3-7A67104174F8}"/>
                  </a:ext>
                </a:extLst>
              </p:cNvPr>
              <p:cNvSpPr txBox="1"/>
              <p:nvPr/>
            </p:nvSpPr>
            <p:spPr>
              <a:xfrm>
                <a:off x="4618774" y="1640166"/>
                <a:ext cx="522223" cy="3719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zh-TW" altLang="zh-TW" sz="1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h</m:t>
                          </m:r>
                        </m:e>
                        <m:sub>
                          <m:r>
                            <a:rPr lang="en-US" altLang="zh-TW" sz="1800" b="0" i="1" kern="100" smtClean="0">
                              <a:effectLst/>
                              <a:latin typeface="Cambria Math" panose="02040503050406030204" pitchFamily="18" charset="0"/>
                              <a:ea typeface="新細明體" panose="02020500000000000000" pitchFamily="18" charset="-120"/>
                              <a:cs typeface="Times New Roman" panose="02020603050405020304" pitchFamily="18" charset="0"/>
                            </a:rPr>
                            <m:t>2</m:t>
                          </m:r>
                        </m:sub>
                        <m:sup>
                          <m:r>
                            <a:rPr lang="en-US" altLang="zh-TW" sz="1800" b="0" i="1" kern="100" smtClean="0">
                              <a:effectLst/>
                              <a:latin typeface="Cambria Math" panose="02040503050406030204" pitchFamily="18" charset="0"/>
                              <a:ea typeface="新細明體" panose="02020500000000000000" pitchFamily="18" charset="-120"/>
                              <a:cs typeface="Times New Roman" panose="02020603050405020304" pitchFamily="18" charset="0"/>
                            </a:rPr>
                            <m:t>2</m:t>
                          </m:r>
                        </m:sup>
                      </m:sSubSup>
                    </m:oMath>
                  </m:oMathPara>
                </a14:m>
                <a:endPar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160" name="文字方塊 159">
                <a:extLst>
                  <a:ext uri="{FF2B5EF4-FFF2-40B4-BE49-F238E27FC236}">
                    <a16:creationId xmlns:a16="http://schemas.microsoft.com/office/drawing/2014/main" id="{4C347B50-2A15-8E73-26F3-7A67104174F8}"/>
                  </a:ext>
                </a:extLst>
              </p:cNvPr>
              <p:cNvSpPr txBox="1">
                <a:spLocks noRot="1" noChangeAspect="1" noMove="1" noResize="1" noEditPoints="1" noAdjustHandles="1" noChangeArrowheads="1" noChangeShapeType="1" noTextEdit="1"/>
              </p:cNvSpPr>
              <p:nvPr/>
            </p:nvSpPr>
            <p:spPr>
              <a:xfrm>
                <a:off x="4618774" y="1640166"/>
                <a:ext cx="522223" cy="371961"/>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1" name="文字方塊 160">
                <a:extLst>
                  <a:ext uri="{FF2B5EF4-FFF2-40B4-BE49-F238E27FC236}">
                    <a16:creationId xmlns:a16="http://schemas.microsoft.com/office/drawing/2014/main" id="{3E20D1F0-E2B1-2F3D-D889-0673FBE8250B}"/>
                  </a:ext>
                </a:extLst>
              </p:cNvPr>
              <p:cNvSpPr txBox="1"/>
              <p:nvPr/>
            </p:nvSpPr>
            <p:spPr>
              <a:xfrm>
                <a:off x="2846205" y="1640166"/>
                <a:ext cx="522223" cy="3719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zh-TW" altLang="zh-TW" sz="1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h</m:t>
                          </m:r>
                        </m:e>
                        <m:sub>
                          <m:r>
                            <a:rPr lang="en-US" altLang="zh-TW" sz="1800" b="0" i="1" kern="100" smtClean="0">
                              <a:effectLst/>
                              <a:latin typeface="Cambria Math" panose="02040503050406030204" pitchFamily="18" charset="0"/>
                              <a:ea typeface="新細明體" panose="02020500000000000000" pitchFamily="18" charset="-120"/>
                              <a:cs typeface="Times New Roman" panose="02020603050405020304" pitchFamily="18" charset="0"/>
                            </a:rPr>
                            <m:t>1</m:t>
                          </m:r>
                        </m:sub>
                        <m:sup>
                          <m:r>
                            <a:rPr lang="en-US" altLang="zh-TW" sz="1800" b="0" i="1" kern="100" smtClean="0">
                              <a:effectLst/>
                              <a:latin typeface="Cambria Math" panose="02040503050406030204" pitchFamily="18" charset="0"/>
                              <a:ea typeface="新細明體" panose="02020500000000000000" pitchFamily="18" charset="-120"/>
                              <a:cs typeface="Times New Roman" panose="02020603050405020304" pitchFamily="18" charset="0"/>
                            </a:rPr>
                            <m:t>2</m:t>
                          </m:r>
                        </m:sup>
                      </m:sSubSup>
                    </m:oMath>
                  </m:oMathPara>
                </a14:m>
                <a:endPar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161" name="文字方塊 160">
                <a:extLst>
                  <a:ext uri="{FF2B5EF4-FFF2-40B4-BE49-F238E27FC236}">
                    <a16:creationId xmlns:a16="http://schemas.microsoft.com/office/drawing/2014/main" id="{3E20D1F0-E2B1-2F3D-D889-0673FBE8250B}"/>
                  </a:ext>
                </a:extLst>
              </p:cNvPr>
              <p:cNvSpPr txBox="1">
                <a:spLocks noRot="1" noChangeAspect="1" noMove="1" noResize="1" noEditPoints="1" noAdjustHandles="1" noChangeArrowheads="1" noChangeShapeType="1" noTextEdit="1"/>
              </p:cNvSpPr>
              <p:nvPr/>
            </p:nvSpPr>
            <p:spPr>
              <a:xfrm>
                <a:off x="2846205" y="1640166"/>
                <a:ext cx="522223" cy="371961"/>
              </a:xfrm>
              <a:prstGeom prst="rect">
                <a:avLst/>
              </a:prstGeom>
              <a:blipFill>
                <a:blip r:embed="rId9"/>
                <a:stretch>
                  <a:fillRect/>
                </a:stretch>
              </a:blipFill>
            </p:spPr>
            <p:txBody>
              <a:bodyPr/>
              <a:lstStyle/>
              <a:p>
                <a:r>
                  <a:rPr lang="zh-TW" altLang="en-US">
                    <a:noFill/>
                  </a:rPr>
                  <a:t> </a:t>
                </a:r>
              </a:p>
            </p:txBody>
          </p:sp>
        </mc:Fallback>
      </mc:AlternateContent>
      <p:sp>
        <p:nvSpPr>
          <p:cNvPr id="162" name="文字方塊 161">
            <a:extLst>
              <a:ext uri="{FF2B5EF4-FFF2-40B4-BE49-F238E27FC236}">
                <a16:creationId xmlns:a16="http://schemas.microsoft.com/office/drawing/2014/main" id="{07C8F6C9-9556-901E-722A-FBC6EA62F3F9}"/>
              </a:ext>
            </a:extLst>
          </p:cNvPr>
          <p:cNvSpPr txBox="1"/>
          <p:nvPr/>
        </p:nvSpPr>
        <p:spPr>
          <a:xfrm>
            <a:off x="1121700" y="4845777"/>
            <a:ext cx="1807250" cy="369332"/>
          </a:xfrm>
          <a:prstGeom prst="rect">
            <a:avLst/>
          </a:prstGeom>
          <a:noFill/>
        </p:spPr>
        <p:txBody>
          <a:bodyPr wrap="square" rtlCol="0">
            <a:spAutoFit/>
          </a:bodyPr>
          <a:lstStyle/>
          <a:p>
            <a:pPr algn="ctr"/>
            <a:r>
              <a:rPr kumimoji="1" lang="en-US" altLang="zh-TW" b="1" dirty="0">
                <a:solidFill>
                  <a:srgbClr val="0070C0"/>
                </a:solidFill>
              </a:rPr>
              <a:t>Layer 1</a:t>
            </a:r>
            <a:endParaRPr kumimoji="1" lang="zh-TW" altLang="en-US" b="1" dirty="0">
              <a:solidFill>
                <a:srgbClr val="0070C0"/>
              </a:solidFill>
            </a:endParaRPr>
          </a:p>
        </p:txBody>
      </p:sp>
      <p:sp>
        <p:nvSpPr>
          <p:cNvPr id="163" name="文字方塊 162">
            <a:extLst>
              <a:ext uri="{FF2B5EF4-FFF2-40B4-BE49-F238E27FC236}">
                <a16:creationId xmlns:a16="http://schemas.microsoft.com/office/drawing/2014/main" id="{DA76E7BC-89AA-C708-F4CE-C2D905D2FF76}"/>
              </a:ext>
            </a:extLst>
          </p:cNvPr>
          <p:cNvSpPr txBox="1"/>
          <p:nvPr/>
        </p:nvSpPr>
        <p:spPr>
          <a:xfrm>
            <a:off x="1121700" y="2409230"/>
            <a:ext cx="1807250" cy="369332"/>
          </a:xfrm>
          <a:prstGeom prst="rect">
            <a:avLst/>
          </a:prstGeom>
          <a:noFill/>
        </p:spPr>
        <p:txBody>
          <a:bodyPr wrap="square" rtlCol="0">
            <a:spAutoFit/>
          </a:bodyPr>
          <a:lstStyle/>
          <a:p>
            <a:pPr algn="ctr"/>
            <a:r>
              <a:rPr kumimoji="1" lang="en-US" altLang="zh-TW" b="1" dirty="0">
                <a:solidFill>
                  <a:srgbClr val="0070C0"/>
                </a:solidFill>
              </a:rPr>
              <a:t>Layer 2</a:t>
            </a:r>
            <a:endParaRPr kumimoji="1" lang="zh-TW" altLang="en-US" b="1" dirty="0">
              <a:solidFill>
                <a:srgbClr val="0070C0"/>
              </a:solidFill>
            </a:endParaRPr>
          </a:p>
        </p:txBody>
      </p:sp>
    </p:spTree>
    <p:extLst>
      <p:ext uri="{BB962C8B-B14F-4D97-AF65-F5344CB8AC3E}">
        <p14:creationId xmlns:p14="http://schemas.microsoft.com/office/powerpoint/2010/main" val="3227574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8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9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6"/>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8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6"/>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9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8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90"/>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9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70"/>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81"/>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82"/>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7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68"/>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02"/>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92"/>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6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61"/>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60"/>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58"/>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9" grpId="0" animBg="1"/>
      <p:bldP spid="60" grpId="0" animBg="1"/>
      <p:bldP spid="61" grpId="0" animBg="1"/>
      <p:bldP spid="65" grpId="0" animBg="1"/>
      <p:bldP spid="66" grpId="0" animBg="1"/>
      <p:bldP spid="67" grpId="0" animBg="1"/>
      <p:bldP spid="68" grpId="0" animBg="1"/>
      <p:bldP spid="86" grpId="0" animBg="1"/>
      <p:bldP spid="87" grpId="0" animBg="1"/>
      <p:bldP spid="88" grpId="0" animBg="1"/>
      <p:bldP spid="89" grpId="0" animBg="1"/>
      <p:bldP spid="90" grpId="0" animBg="1"/>
      <p:bldP spid="91" grpId="0" animBg="1"/>
      <p:bldP spid="92" grpId="0" animBg="1"/>
      <p:bldP spid="93" grpId="0" animBg="1"/>
      <p:bldP spid="158" grpId="0"/>
      <p:bldP spid="159" grpId="0"/>
      <p:bldP spid="160" grpId="0"/>
      <p:bldP spid="16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B2E1B86-445E-CF34-C352-A014EE594B30}"/>
              </a:ext>
            </a:extLst>
          </p:cNvPr>
          <p:cNvSpPr>
            <a:spLocks noGrp="1"/>
          </p:cNvSpPr>
          <p:nvPr>
            <p:ph type="title"/>
          </p:nvPr>
        </p:nvSpPr>
        <p:spPr/>
        <p:txBody>
          <a:bodyPr/>
          <a:lstStyle/>
          <a:p>
            <a:r>
              <a:rPr kumimoji="1" lang="en-US" altLang="zh-TW" dirty="0" err="1"/>
              <a:t>ELMo</a:t>
            </a:r>
            <a:r>
              <a:rPr kumimoji="1" lang="en-US" altLang="zh-TW" dirty="0"/>
              <a:t> (1)</a:t>
            </a:r>
            <a:endParaRPr kumimoji="1" lang="zh-TW" altLang="en-US" dirty="0"/>
          </a:p>
        </p:txBody>
      </p:sp>
      <p:sp>
        <p:nvSpPr>
          <p:cNvPr id="4" name="投影片編號版面配置區 3">
            <a:extLst>
              <a:ext uri="{FF2B5EF4-FFF2-40B4-BE49-F238E27FC236}">
                <a16:creationId xmlns:a16="http://schemas.microsoft.com/office/drawing/2014/main" id="{2F294403-D4C2-722C-C5C5-D19E37E21BE4}"/>
              </a:ext>
            </a:extLst>
          </p:cNvPr>
          <p:cNvSpPr>
            <a:spLocks noGrp="1"/>
          </p:cNvSpPr>
          <p:nvPr>
            <p:ph type="sldNum" sz="quarter" idx="12"/>
          </p:nvPr>
        </p:nvSpPr>
        <p:spPr/>
        <p:txBody>
          <a:bodyPr/>
          <a:lstStyle/>
          <a:p>
            <a:fld id="{6113E31D-E2AB-40D1-8B51-AFA5AFEF393A}" type="slidenum">
              <a:rPr lang="en-US" smtClean="0"/>
              <a:pPr/>
              <a:t>24</a:t>
            </a:fld>
            <a:endParaRPr lang="en-US" dirty="0"/>
          </a:p>
        </p:txBody>
      </p:sp>
      <p:sp>
        <p:nvSpPr>
          <p:cNvPr id="5" name="矩形 4">
            <a:extLst>
              <a:ext uri="{FF2B5EF4-FFF2-40B4-BE49-F238E27FC236}">
                <a16:creationId xmlns:a16="http://schemas.microsoft.com/office/drawing/2014/main" id="{9E1AF591-D968-5941-A2D2-AEB2FD9F4135}"/>
              </a:ext>
            </a:extLst>
          </p:cNvPr>
          <p:cNvSpPr/>
          <p:nvPr/>
        </p:nvSpPr>
        <p:spPr>
          <a:xfrm>
            <a:off x="2627565" y="5568393"/>
            <a:ext cx="1072890" cy="384600"/>
          </a:xfrm>
          <a:prstGeom prst="rect">
            <a:avLst/>
          </a:prstGeom>
          <a:solidFill>
            <a:srgbClr val="FDE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r>
              <a:rPr kumimoji="1" lang="en-US" altLang="zh-TW" sz="2400" baseline="30000" dirty="0">
                <a:solidFill>
                  <a:schemeClr val="tx1"/>
                </a:solidFill>
              </a:rPr>
              <a:t>1</a:t>
            </a:r>
            <a:endParaRPr kumimoji="1" lang="zh-TW" altLang="en-US" sz="2400" baseline="30000" dirty="0">
              <a:solidFill>
                <a:schemeClr val="tx1"/>
              </a:solidFill>
            </a:endParaRPr>
          </a:p>
        </p:txBody>
      </p:sp>
      <p:sp>
        <p:nvSpPr>
          <p:cNvPr id="6" name="矩形 5">
            <a:extLst>
              <a:ext uri="{FF2B5EF4-FFF2-40B4-BE49-F238E27FC236}">
                <a16:creationId xmlns:a16="http://schemas.microsoft.com/office/drawing/2014/main" id="{57458101-A4B5-97E4-2AB3-55DAFCB709EC}"/>
              </a:ext>
            </a:extLst>
          </p:cNvPr>
          <p:cNvSpPr/>
          <p:nvPr/>
        </p:nvSpPr>
        <p:spPr>
          <a:xfrm>
            <a:off x="4502696" y="5568393"/>
            <a:ext cx="1072890" cy="384600"/>
          </a:xfrm>
          <a:prstGeom prst="rect">
            <a:avLst/>
          </a:prstGeom>
          <a:solidFill>
            <a:srgbClr val="FDE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r>
              <a:rPr kumimoji="1" lang="en-US" altLang="zh-TW" sz="2400" baseline="30000" dirty="0">
                <a:solidFill>
                  <a:schemeClr val="tx1"/>
                </a:solidFill>
              </a:rPr>
              <a:t>1</a:t>
            </a:r>
            <a:endParaRPr kumimoji="1" lang="zh-TW" altLang="en-US" sz="2400" dirty="0">
              <a:solidFill>
                <a:schemeClr val="tx1"/>
              </a:solidFill>
            </a:endParaRPr>
          </a:p>
        </p:txBody>
      </p:sp>
      <p:sp>
        <p:nvSpPr>
          <p:cNvPr id="7" name="矩形 6">
            <a:extLst>
              <a:ext uri="{FF2B5EF4-FFF2-40B4-BE49-F238E27FC236}">
                <a16:creationId xmlns:a16="http://schemas.microsoft.com/office/drawing/2014/main" id="{1E76CFD8-4C6D-5879-FA7F-DBB0B50826AE}"/>
              </a:ext>
            </a:extLst>
          </p:cNvPr>
          <p:cNvSpPr/>
          <p:nvPr/>
        </p:nvSpPr>
        <p:spPr>
          <a:xfrm>
            <a:off x="6465052" y="5568393"/>
            <a:ext cx="1072890" cy="384600"/>
          </a:xfrm>
          <a:prstGeom prst="rect">
            <a:avLst/>
          </a:prstGeom>
          <a:solidFill>
            <a:srgbClr val="FDE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r>
              <a:rPr kumimoji="1" lang="en-US" altLang="zh-TW" sz="2400" baseline="30000" dirty="0">
                <a:solidFill>
                  <a:schemeClr val="tx1"/>
                </a:solidFill>
              </a:rPr>
              <a:t>1</a:t>
            </a:r>
            <a:endParaRPr kumimoji="1" lang="zh-TW" altLang="en-US" sz="2400" dirty="0">
              <a:solidFill>
                <a:schemeClr val="tx1"/>
              </a:solidFill>
            </a:endParaRPr>
          </a:p>
        </p:txBody>
      </p:sp>
      <p:sp>
        <p:nvSpPr>
          <p:cNvPr id="8" name="矩形 7">
            <a:extLst>
              <a:ext uri="{FF2B5EF4-FFF2-40B4-BE49-F238E27FC236}">
                <a16:creationId xmlns:a16="http://schemas.microsoft.com/office/drawing/2014/main" id="{D7400257-CFEC-0559-DAE7-9B7CED8B18FC}"/>
              </a:ext>
            </a:extLst>
          </p:cNvPr>
          <p:cNvSpPr/>
          <p:nvPr/>
        </p:nvSpPr>
        <p:spPr>
          <a:xfrm>
            <a:off x="8487195" y="5568393"/>
            <a:ext cx="1072890" cy="384600"/>
          </a:xfrm>
          <a:prstGeom prst="rect">
            <a:avLst/>
          </a:prstGeom>
          <a:solidFill>
            <a:srgbClr val="FDE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r>
              <a:rPr kumimoji="1" lang="en-US" altLang="zh-TW" sz="2400" baseline="30000" dirty="0">
                <a:solidFill>
                  <a:schemeClr val="tx1"/>
                </a:solidFill>
              </a:rPr>
              <a:t>1</a:t>
            </a:r>
            <a:endParaRPr kumimoji="1" lang="zh-TW" altLang="en-US" sz="2400" dirty="0">
              <a:solidFill>
                <a:schemeClr val="tx1"/>
              </a:solidFill>
            </a:endParaRPr>
          </a:p>
        </p:txBody>
      </p:sp>
      <p:cxnSp>
        <p:nvCxnSpPr>
          <p:cNvPr id="9" name="直線箭頭接點 8">
            <a:extLst>
              <a:ext uri="{FF2B5EF4-FFF2-40B4-BE49-F238E27FC236}">
                <a16:creationId xmlns:a16="http://schemas.microsoft.com/office/drawing/2014/main" id="{18B84B76-142A-5023-5E6C-4D41532F1172}"/>
              </a:ext>
            </a:extLst>
          </p:cNvPr>
          <p:cNvCxnSpPr>
            <a:cxnSpLocks/>
            <a:stCxn id="5" idx="3"/>
            <a:endCxn id="6" idx="1"/>
          </p:cNvCxnSpPr>
          <p:nvPr/>
        </p:nvCxnSpPr>
        <p:spPr>
          <a:xfrm>
            <a:off x="3700456" y="5760693"/>
            <a:ext cx="80224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箭頭接點 9">
            <a:extLst>
              <a:ext uri="{FF2B5EF4-FFF2-40B4-BE49-F238E27FC236}">
                <a16:creationId xmlns:a16="http://schemas.microsoft.com/office/drawing/2014/main" id="{F71E57FA-135C-F5FD-FAD5-1A98918A43F4}"/>
              </a:ext>
            </a:extLst>
          </p:cNvPr>
          <p:cNvCxnSpPr>
            <a:cxnSpLocks/>
            <a:stCxn id="6" idx="3"/>
            <a:endCxn id="7" idx="1"/>
          </p:cNvCxnSpPr>
          <p:nvPr/>
        </p:nvCxnSpPr>
        <p:spPr>
          <a:xfrm>
            <a:off x="5575586" y="5760693"/>
            <a:ext cx="88946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箭頭接點 10">
            <a:extLst>
              <a:ext uri="{FF2B5EF4-FFF2-40B4-BE49-F238E27FC236}">
                <a16:creationId xmlns:a16="http://schemas.microsoft.com/office/drawing/2014/main" id="{3C0B2572-09B3-94FC-B244-22C2831D777D}"/>
              </a:ext>
            </a:extLst>
          </p:cNvPr>
          <p:cNvCxnSpPr>
            <a:cxnSpLocks/>
            <a:stCxn id="7" idx="3"/>
            <a:endCxn id="8" idx="1"/>
          </p:cNvCxnSpPr>
          <p:nvPr/>
        </p:nvCxnSpPr>
        <p:spPr>
          <a:xfrm>
            <a:off x="7537942" y="5760693"/>
            <a:ext cx="949253" cy="0"/>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BDEA15D8-6190-8063-F631-4048A98A29D8}"/>
              </a:ext>
            </a:extLst>
          </p:cNvPr>
          <p:cNvSpPr/>
          <p:nvPr/>
        </p:nvSpPr>
        <p:spPr>
          <a:xfrm>
            <a:off x="3581662" y="4816982"/>
            <a:ext cx="1072890" cy="384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r>
              <a:rPr kumimoji="1" lang="en-US" altLang="zh-TW" sz="2400" baseline="30000" dirty="0">
                <a:solidFill>
                  <a:schemeClr val="tx1"/>
                </a:solidFill>
              </a:rPr>
              <a:t>1</a:t>
            </a:r>
            <a:endParaRPr kumimoji="1" lang="zh-TW" altLang="en-US" sz="2400" baseline="30000" dirty="0">
              <a:solidFill>
                <a:schemeClr val="tx1"/>
              </a:solidFill>
            </a:endParaRPr>
          </a:p>
        </p:txBody>
      </p:sp>
      <p:sp>
        <p:nvSpPr>
          <p:cNvPr id="13" name="矩形 12">
            <a:extLst>
              <a:ext uri="{FF2B5EF4-FFF2-40B4-BE49-F238E27FC236}">
                <a16:creationId xmlns:a16="http://schemas.microsoft.com/office/drawing/2014/main" id="{97E6D5BB-C672-78BA-0684-7CDBA98D6E31}"/>
              </a:ext>
            </a:extLst>
          </p:cNvPr>
          <p:cNvSpPr/>
          <p:nvPr/>
        </p:nvSpPr>
        <p:spPr>
          <a:xfrm>
            <a:off x="5435670" y="4816982"/>
            <a:ext cx="1072890" cy="384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r>
              <a:rPr kumimoji="1" lang="en-US" altLang="zh-TW" sz="2400" baseline="30000" dirty="0">
                <a:solidFill>
                  <a:schemeClr val="tx1"/>
                </a:solidFill>
              </a:rPr>
              <a:t>1</a:t>
            </a:r>
            <a:endParaRPr kumimoji="1" lang="zh-TW" altLang="en-US" sz="2400" dirty="0">
              <a:solidFill>
                <a:schemeClr val="tx1"/>
              </a:solidFill>
            </a:endParaRPr>
          </a:p>
        </p:txBody>
      </p:sp>
      <p:sp>
        <p:nvSpPr>
          <p:cNvPr id="14" name="矩形 13">
            <a:extLst>
              <a:ext uri="{FF2B5EF4-FFF2-40B4-BE49-F238E27FC236}">
                <a16:creationId xmlns:a16="http://schemas.microsoft.com/office/drawing/2014/main" id="{4E69AD0A-4336-CFC3-9BB4-4CF963984032}"/>
              </a:ext>
            </a:extLst>
          </p:cNvPr>
          <p:cNvSpPr/>
          <p:nvPr/>
        </p:nvSpPr>
        <p:spPr>
          <a:xfrm>
            <a:off x="7289678" y="4816982"/>
            <a:ext cx="1072890" cy="384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r>
              <a:rPr kumimoji="1" lang="en-US" altLang="zh-TW" sz="2400" baseline="30000" dirty="0">
                <a:solidFill>
                  <a:schemeClr val="tx1"/>
                </a:solidFill>
              </a:rPr>
              <a:t>1</a:t>
            </a:r>
            <a:endParaRPr kumimoji="1" lang="zh-TW" altLang="en-US" sz="2400" dirty="0">
              <a:solidFill>
                <a:schemeClr val="tx1"/>
              </a:solidFill>
            </a:endParaRPr>
          </a:p>
        </p:txBody>
      </p:sp>
      <p:sp>
        <p:nvSpPr>
          <p:cNvPr id="15" name="矩形 14">
            <a:extLst>
              <a:ext uri="{FF2B5EF4-FFF2-40B4-BE49-F238E27FC236}">
                <a16:creationId xmlns:a16="http://schemas.microsoft.com/office/drawing/2014/main" id="{62C75155-E72C-F607-0D74-2060ACA2029B}"/>
              </a:ext>
            </a:extLst>
          </p:cNvPr>
          <p:cNvSpPr/>
          <p:nvPr/>
        </p:nvSpPr>
        <p:spPr>
          <a:xfrm>
            <a:off x="9143684" y="4816982"/>
            <a:ext cx="1072890" cy="384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r>
              <a:rPr kumimoji="1" lang="en-US" altLang="zh-TW" sz="2400" baseline="30000" dirty="0">
                <a:solidFill>
                  <a:schemeClr val="tx1"/>
                </a:solidFill>
              </a:rPr>
              <a:t>1</a:t>
            </a:r>
            <a:endParaRPr kumimoji="1" lang="zh-TW" altLang="en-US" sz="2400" dirty="0">
              <a:solidFill>
                <a:schemeClr val="tx1"/>
              </a:solidFill>
            </a:endParaRPr>
          </a:p>
        </p:txBody>
      </p:sp>
      <p:cxnSp>
        <p:nvCxnSpPr>
          <p:cNvPr id="16" name="直線箭頭接點 15">
            <a:extLst>
              <a:ext uri="{FF2B5EF4-FFF2-40B4-BE49-F238E27FC236}">
                <a16:creationId xmlns:a16="http://schemas.microsoft.com/office/drawing/2014/main" id="{D2F84185-1AC3-3ACD-C981-C1E2E46BA3D1}"/>
              </a:ext>
            </a:extLst>
          </p:cNvPr>
          <p:cNvCxnSpPr>
            <a:cxnSpLocks/>
            <a:stCxn id="13" idx="1"/>
            <a:endCxn id="12" idx="3"/>
          </p:cNvCxnSpPr>
          <p:nvPr/>
        </p:nvCxnSpPr>
        <p:spPr>
          <a:xfrm flipH="1">
            <a:off x="4654553" y="5009282"/>
            <a:ext cx="78111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箭頭接點 16">
            <a:extLst>
              <a:ext uri="{FF2B5EF4-FFF2-40B4-BE49-F238E27FC236}">
                <a16:creationId xmlns:a16="http://schemas.microsoft.com/office/drawing/2014/main" id="{5C7E7311-9CA9-BF9A-AD6D-942E08AF7941}"/>
              </a:ext>
            </a:extLst>
          </p:cNvPr>
          <p:cNvCxnSpPr>
            <a:cxnSpLocks/>
            <a:stCxn id="14" idx="1"/>
            <a:endCxn id="13" idx="3"/>
          </p:cNvCxnSpPr>
          <p:nvPr/>
        </p:nvCxnSpPr>
        <p:spPr>
          <a:xfrm flipH="1">
            <a:off x="6508560" y="5009282"/>
            <a:ext cx="78111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箭頭接點 17">
            <a:extLst>
              <a:ext uri="{FF2B5EF4-FFF2-40B4-BE49-F238E27FC236}">
                <a16:creationId xmlns:a16="http://schemas.microsoft.com/office/drawing/2014/main" id="{55B08411-25FB-8618-508B-70A621D79F7E}"/>
              </a:ext>
            </a:extLst>
          </p:cNvPr>
          <p:cNvCxnSpPr>
            <a:cxnSpLocks/>
            <a:stCxn id="15" idx="1"/>
            <a:endCxn id="14" idx="3"/>
          </p:cNvCxnSpPr>
          <p:nvPr/>
        </p:nvCxnSpPr>
        <p:spPr>
          <a:xfrm flipH="1">
            <a:off x="8362568" y="5009282"/>
            <a:ext cx="781116" cy="0"/>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2" name="文字方塊 21">
            <a:extLst>
              <a:ext uri="{FF2B5EF4-FFF2-40B4-BE49-F238E27FC236}">
                <a16:creationId xmlns:a16="http://schemas.microsoft.com/office/drawing/2014/main" id="{CCF0AE36-595A-84A6-2883-3A556217B2C6}"/>
              </a:ext>
            </a:extLst>
          </p:cNvPr>
          <p:cNvSpPr txBox="1"/>
          <p:nvPr/>
        </p:nvSpPr>
        <p:spPr>
          <a:xfrm>
            <a:off x="7565548" y="6242736"/>
            <a:ext cx="522223" cy="461665"/>
          </a:xfrm>
          <a:prstGeom prst="rect">
            <a:avLst/>
          </a:prstGeom>
          <a:noFill/>
        </p:spPr>
        <p:txBody>
          <a:bodyPr wrap="square" rtlCol="0">
            <a:spAutoFit/>
          </a:bodyPr>
          <a:lstStyle/>
          <a:p>
            <a:pPr algn="ctr"/>
            <a:r>
              <a:rPr kumimoji="1" lang="en-US" altLang="zh-TW" sz="2400" dirty="0"/>
              <a:t>e</a:t>
            </a:r>
            <a:r>
              <a:rPr kumimoji="1" lang="en-US" altLang="zh-TW" sz="2400" baseline="-25000" dirty="0"/>
              <a:t>3</a:t>
            </a:r>
            <a:endParaRPr kumimoji="1" lang="zh-TW" altLang="en-US" sz="2400" baseline="-25000" dirty="0"/>
          </a:p>
        </p:txBody>
      </p:sp>
      <p:cxnSp>
        <p:nvCxnSpPr>
          <p:cNvPr id="26" name="直線箭頭接點 25">
            <a:extLst>
              <a:ext uri="{FF2B5EF4-FFF2-40B4-BE49-F238E27FC236}">
                <a16:creationId xmlns:a16="http://schemas.microsoft.com/office/drawing/2014/main" id="{7C392453-8CA8-A14B-0436-F90C6549ED20}"/>
              </a:ext>
            </a:extLst>
          </p:cNvPr>
          <p:cNvCxnSpPr>
            <a:cxnSpLocks/>
            <a:stCxn id="146" idx="0"/>
            <a:endCxn id="5" idx="2"/>
          </p:cNvCxnSpPr>
          <p:nvPr/>
        </p:nvCxnSpPr>
        <p:spPr>
          <a:xfrm flipH="1" flipV="1">
            <a:off x="3164010" y="5952993"/>
            <a:ext cx="954097" cy="28974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箭頭接點 28">
            <a:extLst>
              <a:ext uri="{FF2B5EF4-FFF2-40B4-BE49-F238E27FC236}">
                <a16:creationId xmlns:a16="http://schemas.microsoft.com/office/drawing/2014/main" id="{4CECA67E-B608-EF07-1996-8168200478A9}"/>
              </a:ext>
            </a:extLst>
          </p:cNvPr>
          <p:cNvCxnSpPr>
            <a:cxnSpLocks/>
            <a:stCxn id="133" idx="0"/>
            <a:endCxn id="15" idx="2"/>
          </p:cNvCxnSpPr>
          <p:nvPr/>
        </p:nvCxnSpPr>
        <p:spPr>
          <a:xfrm flipH="1" flipV="1">
            <a:off x="9680129" y="5201582"/>
            <a:ext cx="2" cy="10411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箭頭接點 29">
            <a:extLst>
              <a:ext uri="{FF2B5EF4-FFF2-40B4-BE49-F238E27FC236}">
                <a16:creationId xmlns:a16="http://schemas.microsoft.com/office/drawing/2014/main" id="{0E7E3084-CD1C-591C-A19C-B3B7CAB09498}"/>
              </a:ext>
            </a:extLst>
          </p:cNvPr>
          <p:cNvCxnSpPr>
            <a:cxnSpLocks/>
            <a:stCxn id="141" idx="0"/>
            <a:endCxn id="6" idx="2"/>
          </p:cNvCxnSpPr>
          <p:nvPr/>
        </p:nvCxnSpPr>
        <p:spPr>
          <a:xfrm flipH="1" flipV="1">
            <a:off x="5039141" y="5952993"/>
            <a:ext cx="926819" cy="28974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箭頭接點 30">
            <a:extLst>
              <a:ext uri="{FF2B5EF4-FFF2-40B4-BE49-F238E27FC236}">
                <a16:creationId xmlns:a16="http://schemas.microsoft.com/office/drawing/2014/main" id="{172313E9-A8FB-E1D2-AF31-FE1601197762}"/>
              </a:ext>
            </a:extLst>
          </p:cNvPr>
          <p:cNvCxnSpPr>
            <a:cxnSpLocks/>
            <a:stCxn id="22" idx="0"/>
            <a:endCxn id="7" idx="2"/>
          </p:cNvCxnSpPr>
          <p:nvPr/>
        </p:nvCxnSpPr>
        <p:spPr>
          <a:xfrm flipH="1" flipV="1">
            <a:off x="7001497" y="5952993"/>
            <a:ext cx="825163" cy="28974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箭頭接點 31">
            <a:extLst>
              <a:ext uri="{FF2B5EF4-FFF2-40B4-BE49-F238E27FC236}">
                <a16:creationId xmlns:a16="http://schemas.microsoft.com/office/drawing/2014/main" id="{34E47F68-E177-E39E-912C-7D117F98BFE3}"/>
              </a:ext>
            </a:extLst>
          </p:cNvPr>
          <p:cNvCxnSpPr>
            <a:cxnSpLocks/>
            <a:stCxn id="133" idx="0"/>
            <a:endCxn id="8" idx="2"/>
          </p:cNvCxnSpPr>
          <p:nvPr/>
        </p:nvCxnSpPr>
        <p:spPr>
          <a:xfrm flipH="1" flipV="1">
            <a:off x="9023640" y="5952993"/>
            <a:ext cx="656491" cy="28974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矩形 32">
            <a:extLst>
              <a:ext uri="{FF2B5EF4-FFF2-40B4-BE49-F238E27FC236}">
                <a16:creationId xmlns:a16="http://schemas.microsoft.com/office/drawing/2014/main" id="{C840673F-B4C4-3862-C91A-B42BE75FC324}"/>
              </a:ext>
            </a:extLst>
          </p:cNvPr>
          <p:cNvSpPr/>
          <p:nvPr/>
        </p:nvSpPr>
        <p:spPr>
          <a:xfrm>
            <a:off x="3700456" y="4177491"/>
            <a:ext cx="391155" cy="145645"/>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400" dirty="0">
              <a:solidFill>
                <a:schemeClr val="tx1"/>
              </a:solidFill>
            </a:endParaRPr>
          </a:p>
        </p:txBody>
      </p:sp>
      <p:sp>
        <p:nvSpPr>
          <p:cNvPr id="34" name="矩形 33">
            <a:extLst>
              <a:ext uri="{FF2B5EF4-FFF2-40B4-BE49-F238E27FC236}">
                <a16:creationId xmlns:a16="http://schemas.microsoft.com/office/drawing/2014/main" id="{080D7A7A-FDCA-4E43-CBC1-EA1E8BB8A29D}"/>
              </a:ext>
            </a:extLst>
          </p:cNvPr>
          <p:cNvSpPr/>
          <p:nvPr/>
        </p:nvSpPr>
        <p:spPr>
          <a:xfrm>
            <a:off x="3309301" y="4177491"/>
            <a:ext cx="391155" cy="145645"/>
          </a:xfrm>
          <a:prstGeom prst="rect">
            <a:avLst/>
          </a:prstGeom>
          <a:solidFill>
            <a:srgbClr val="FDE7D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400" dirty="0">
              <a:solidFill>
                <a:schemeClr val="tx1"/>
              </a:solidFill>
            </a:endParaRPr>
          </a:p>
        </p:txBody>
      </p:sp>
      <p:sp>
        <p:nvSpPr>
          <p:cNvPr id="35" name="矩形 34">
            <a:extLst>
              <a:ext uri="{FF2B5EF4-FFF2-40B4-BE49-F238E27FC236}">
                <a16:creationId xmlns:a16="http://schemas.microsoft.com/office/drawing/2014/main" id="{FFF3A1B9-905D-9875-8092-B59AFC6B75F4}"/>
              </a:ext>
            </a:extLst>
          </p:cNvPr>
          <p:cNvSpPr/>
          <p:nvPr/>
        </p:nvSpPr>
        <p:spPr>
          <a:xfrm>
            <a:off x="5472772" y="4176943"/>
            <a:ext cx="391155" cy="145645"/>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400" dirty="0">
              <a:solidFill>
                <a:schemeClr val="tx1"/>
              </a:solidFill>
            </a:endParaRPr>
          </a:p>
        </p:txBody>
      </p:sp>
      <p:sp>
        <p:nvSpPr>
          <p:cNvPr id="36" name="矩形 35">
            <a:extLst>
              <a:ext uri="{FF2B5EF4-FFF2-40B4-BE49-F238E27FC236}">
                <a16:creationId xmlns:a16="http://schemas.microsoft.com/office/drawing/2014/main" id="{97F7B013-8FD3-FF3D-49AB-D904B58C4D0E}"/>
              </a:ext>
            </a:extLst>
          </p:cNvPr>
          <p:cNvSpPr/>
          <p:nvPr/>
        </p:nvSpPr>
        <p:spPr>
          <a:xfrm>
            <a:off x="5081617" y="4176943"/>
            <a:ext cx="391155" cy="145645"/>
          </a:xfrm>
          <a:prstGeom prst="rect">
            <a:avLst/>
          </a:prstGeom>
          <a:solidFill>
            <a:srgbClr val="FDE7D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400" dirty="0">
              <a:solidFill>
                <a:schemeClr val="tx1"/>
              </a:solidFill>
            </a:endParaRPr>
          </a:p>
        </p:txBody>
      </p:sp>
      <p:sp>
        <p:nvSpPr>
          <p:cNvPr id="37" name="矩形 36">
            <a:extLst>
              <a:ext uri="{FF2B5EF4-FFF2-40B4-BE49-F238E27FC236}">
                <a16:creationId xmlns:a16="http://schemas.microsoft.com/office/drawing/2014/main" id="{05AD1BB9-7AAB-728B-F855-D517941EA816}"/>
              </a:ext>
            </a:extLst>
          </p:cNvPr>
          <p:cNvSpPr/>
          <p:nvPr/>
        </p:nvSpPr>
        <p:spPr>
          <a:xfrm>
            <a:off x="7289678" y="4174189"/>
            <a:ext cx="391155" cy="145645"/>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400" dirty="0">
              <a:solidFill>
                <a:schemeClr val="tx1"/>
              </a:solidFill>
            </a:endParaRPr>
          </a:p>
        </p:txBody>
      </p:sp>
      <p:sp>
        <p:nvSpPr>
          <p:cNvPr id="38" name="矩形 37">
            <a:extLst>
              <a:ext uri="{FF2B5EF4-FFF2-40B4-BE49-F238E27FC236}">
                <a16:creationId xmlns:a16="http://schemas.microsoft.com/office/drawing/2014/main" id="{A85A3FE5-081A-127E-F010-7C4BF3634FA9}"/>
              </a:ext>
            </a:extLst>
          </p:cNvPr>
          <p:cNvSpPr/>
          <p:nvPr/>
        </p:nvSpPr>
        <p:spPr>
          <a:xfrm>
            <a:off x="6898523" y="4174189"/>
            <a:ext cx="391155" cy="145645"/>
          </a:xfrm>
          <a:prstGeom prst="rect">
            <a:avLst/>
          </a:prstGeom>
          <a:solidFill>
            <a:srgbClr val="FDE7D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400" dirty="0">
              <a:solidFill>
                <a:schemeClr val="tx1"/>
              </a:solidFill>
            </a:endParaRPr>
          </a:p>
        </p:txBody>
      </p:sp>
      <p:sp>
        <p:nvSpPr>
          <p:cNvPr id="39" name="矩形 38">
            <a:extLst>
              <a:ext uri="{FF2B5EF4-FFF2-40B4-BE49-F238E27FC236}">
                <a16:creationId xmlns:a16="http://schemas.microsoft.com/office/drawing/2014/main" id="{1D8FEC98-7F2D-99FA-E453-D9B92CE7D6EC}"/>
              </a:ext>
            </a:extLst>
          </p:cNvPr>
          <p:cNvSpPr/>
          <p:nvPr/>
        </p:nvSpPr>
        <p:spPr>
          <a:xfrm>
            <a:off x="9077629" y="4176807"/>
            <a:ext cx="391155" cy="145645"/>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400" dirty="0">
              <a:solidFill>
                <a:schemeClr val="tx1"/>
              </a:solidFill>
            </a:endParaRPr>
          </a:p>
        </p:txBody>
      </p:sp>
      <p:sp>
        <p:nvSpPr>
          <p:cNvPr id="40" name="矩形 39">
            <a:extLst>
              <a:ext uri="{FF2B5EF4-FFF2-40B4-BE49-F238E27FC236}">
                <a16:creationId xmlns:a16="http://schemas.microsoft.com/office/drawing/2014/main" id="{332CE08C-6451-5C95-6ABA-8276A2521BD9}"/>
              </a:ext>
            </a:extLst>
          </p:cNvPr>
          <p:cNvSpPr/>
          <p:nvPr/>
        </p:nvSpPr>
        <p:spPr>
          <a:xfrm>
            <a:off x="8686474" y="4176807"/>
            <a:ext cx="391155" cy="145645"/>
          </a:xfrm>
          <a:prstGeom prst="rect">
            <a:avLst/>
          </a:prstGeom>
          <a:solidFill>
            <a:srgbClr val="FDE7D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400" dirty="0">
              <a:solidFill>
                <a:schemeClr val="tx1"/>
              </a:solidFill>
            </a:endParaRPr>
          </a:p>
        </p:txBody>
      </p:sp>
      <p:cxnSp>
        <p:nvCxnSpPr>
          <p:cNvPr id="41" name="直線箭頭接點 40">
            <a:extLst>
              <a:ext uri="{FF2B5EF4-FFF2-40B4-BE49-F238E27FC236}">
                <a16:creationId xmlns:a16="http://schemas.microsoft.com/office/drawing/2014/main" id="{8FC1EE22-C80C-B98C-0D2D-EE199220E6DA}"/>
              </a:ext>
            </a:extLst>
          </p:cNvPr>
          <p:cNvCxnSpPr>
            <a:cxnSpLocks/>
            <a:stCxn id="5" idx="0"/>
            <a:endCxn id="34" idx="2"/>
          </p:cNvCxnSpPr>
          <p:nvPr/>
        </p:nvCxnSpPr>
        <p:spPr>
          <a:xfrm flipV="1">
            <a:off x="3164010" y="4323136"/>
            <a:ext cx="340868" cy="124525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箭頭接點 41">
            <a:extLst>
              <a:ext uri="{FF2B5EF4-FFF2-40B4-BE49-F238E27FC236}">
                <a16:creationId xmlns:a16="http://schemas.microsoft.com/office/drawing/2014/main" id="{9D3D5E2A-84B2-5808-08D5-EE69926E13C6}"/>
              </a:ext>
            </a:extLst>
          </p:cNvPr>
          <p:cNvCxnSpPr>
            <a:cxnSpLocks/>
            <a:stCxn id="12" idx="0"/>
            <a:endCxn id="33" idx="2"/>
          </p:cNvCxnSpPr>
          <p:nvPr/>
        </p:nvCxnSpPr>
        <p:spPr>
          <a:xfrm flipH="1" flipV="1">
            <a:off x="3896033" y="4323136"/>
            <a:ext cx="222074" cy="49384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文字方塊 42">
            <a:extLst>
              <a:ext uri="{FF2B5EF4-FFF2-40B4-BE49-F238E27FC236}">
                <a16:creationId xmlns:a16="http://schemas.microsoft.com/office/drawing/2014/main" id="{E1C6E501-18EE-D743-EA86-5A1493CE9315}"/>
              </a:ext>
            </a:extLst>
          </p:cNvPr>
          <p:cNvSpPr txBox="1"/>
          <p:nvPr/>
        </p:nvSpPr>
        <p:spPr>
          <a:xfrm>
            <a:off x="1121700" y="4845777"/>
            <a:ext cx="1807250" cy="369332"/>
          </a:xfrm>
          <a:prstGeom prst="rect">
            <a:avLst/>
          </a:prstGeom>
          <a:noFill/>
        </p:spPr>
        <p:txBody>
          <a:bodyPr wrap="square" rtlCol="0">
            <a:spAutoFit/>
          </a:bodyPr>
          <a:lstStyle/>
          <a:p>
            <a:pPr algn="ctr"/>
            <a:r>
              <a:rPr kumimoji="1" lang="en-US" altLang="zh-TW" b="1" dirty="0">
                <a:solidFill>
                  <a:srgbClr val="0070C0"/>
                </a:solidFill>
              </a:rPr>
              <a:t>Layer 1</a:t>
            </a:r>
            <a:endParaRPr kumimoji="1" lang="zh-TW" altLang="en-US" b="1" dirty="0">
              <a:solidFill>
                <a:srgbClr val="0070C0"/>
              </a:solidFill>
            </a:endParaRPr>
          </a:p>
        </p:txBody>
      </p:sp>
      <p:cxnSp>
        <p:nvCxnSpPr>
          <p:cNvPr id="44" name="直線箭頭接點 43">
            <a:extLst>
              <a:ext uri="{FF2B5EF4-FFF2-40B4-BE49-F238E27FC236}">
                <a16:creationId xmlns:a16="http://schemas.microsoft.com/office/drawing/2014/main" id="{BBA28CCA-8A0D-E0F9-27BE-D14DCBF268DE}"/>
              </a:ext>
            </a:extLst>
          </p:cNvPr>
          <p:cNvCxnSpPr>
            <a:cxnSpLocks/>
            <a:stCxn id="6" idx="0"/>
            <a:endCxn id="36" idx="2"/>
          </p:cNvCxnSpPr>
          <p:nvPr/>
        </p:nvCxnSpPr>
        <p:spPr>
          <a:xfrm flipV="1">
            <a:off x="5039141" y="4322588"/>
            <a:ext cx="238054" cy="124580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箭頭接點 44">
            <a:extLst>
              <a:ext uri="{FF2B5EF4-FFF2-40B4-BE49-F238E27FC236}">
                <a16:creationId xmlns:a16="http://schemas.microsoft.com/office/drawing/2014/main" id="{EF4EE996-CB32-2A2E-C61F-E2DDB035EF6D}"/>
              </a:ext>
            </a:extLst>
          </p:cNvPr>
          <p:cNvCxnSpPr>
            <a:cxnSpLocks/>
            <a:stCxn id="13" idx="0"/>
            <a:endCxn id="35" idx="2"/>
          </p:cNvCxnSpPr>
          <p:nvPr/>
        </p:nvCxnSpPr>
        <p:spPr>
          <a:xfrm flipH="1" flipV="1">
            <a:off x="5668350" y="4322588"/>
            <a:ext cx="303766" cy="49439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箭頭接點 45">
            <a:extLst>
              <a:ext uri="{FF2B5EF4-FFF2-40B4-BE49-F238E27FC236}">
                <a16:creationId xmlns:a16="http://schemas.microsoft.com/office/drawing/2014/main" id="{98AD6C71-DBA4-9199-F030-A4BAEBBFFB7A}"/>
              </a:ext>
            </a:extLst>
          </p:cNvPr>
          <p:cNvCxnSpPr>
            <a:cxnSpLocks/>
            <a:stCxn id="14" idx="0"/>
            <a:endCxn id="37" idx="2"/>
          </p:cNvCxnSpPr>
          <p:nvPr/>
        </p:nvCxnSpPr>
        <p:spPr>
          <a:xfrm flipH="1" flipV="1">
            <a:off x="7485255" y="4319834"/>
            <a:ext cx="340868" cy="49714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箭頭接點 46">
            <a:extLst>
              <a:ext uri="{FF2B5EF4-FFF2-40B4-BE49-F238E27FC236}">
                <a16:creationId xmlns:a16="http://schemas.microsoft.com/office/drawing/2014/main" id="{0B370FBB-C90D-2373-1D29-A96BA57BC21E}"/>
              </a:ext>
            </a:extLst>
          </p:cNvPr>
          <p:cNvCxnSpPr>
            <a:cxnSpLocks/>
            <a:stCxn id="7" idx="0"/>
            <a:endCxn id="38" idx="2"/>
          </p:cNvCxnSpPr>
          <p:nvPr/>
        </p:nvCxnSpPr>
        <p:spPr>
          <a:xfrm flipV="1">
            <a:off x="7001497" y="4319834"/>
            <a:ext cx="92603" cy="124855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箭頭接點 47">
            <a:extLst>
              <a:ext uri="{FF2B5EF4-FFF2-40B4-BE49-F238E27FC236}">
                <a16:creationId xmlns:a16="http://schemas.microsoft.com/office/drawing/2014/main" id="{4D271285-340C-3713-A08B-D612952079C7}"/>
              </a:ext>
            </a:extLst>
          </p:cNvPr>
          <p:cNvCxnSpPr>
            <a:cxnSpLocks/>
            <a:stCxn id="8" idx="0"/>
            <a:endCxn id="40" idx="2"/>
          </p:cNvCxnSpPr>
          <p:nvPr/>
        </p:nvCxnSpPr>
        <p:spPr>
          <a:xfrm flipH="1" flipV="1">
            <a:off x="8882052" y="4322452"/>
            <a:ext cx="141589" cy="124594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箭頭接點 48">
            <a:extLst>
              <a:ext uri="{FF2B5EF4-FFF2-40B4-BE49-F238E27FC236}">
                <a16:creationId xmlns:a16="http://schemas.microsoft.com/office/drawing/2014/main" id="{7299AA3E-6D78-3905-B399-DC1C8D42292D}"/>
              </a:ext>
            </a:extLst>
          </p:cNvPr>
          <p:cNvCxnSpPr>
            <a:cxnSpLocks/>
            <a:stCxn id="15" idx="0"/>
            <a:endCxn id="39" idx="2"/>
          </p:cNvCxnSpPr>
          <p:nvPr/>
        </p:nvCxnSpPr>
        <p:spPr>
          <a:xfrm flipH="1" flipV="1">
            <a:off x="9273207" y="4322452"/>
            <a:ext cx="406923" cy="49453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文字方塊 49">
                <a:extLst>
                  <a:ext uri="{FF2B5EF4-FFF2-40B4-BE49-F238E27FC236}">
                    <a16:creationId xmlns:a16="http://schemas.microsoft.com/office/drawing/2014/main" id="{D312FBBF-0298-7C13-183E-E0679F7AE5D6}"/>
                  </a:ext>
                </a:extLst>
              </p:cNvPr>
              <p:cNvSpPr txBox="1"/>
              <p:nvPr/>
            </p:nvSpPr>
            <p:spPr>
              <a:xfrm>
                <a:off x="2809658" y="4064333"/>
                <a:ext cx="522223" cy="3719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zh-TW" altLang="zh-TW" sz="1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h</m:t>
                          </m:r>
                        </m:e>
                        <m:sub>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1</m:t>
                          </m:r>
                        </m:sub>
                        <m:sup>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1</m:t>
                          </m:r>
                        </m:sup>
                      </m:sSubSup>
                    </m:oMath>
                  </m:oMathPara>
                </a14:m>
                <a:endPar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50" name="文字方塊 49">
                <a:extLst>
                  <a:ext uri="{FF2B5EF4-FFF2-40B4-BE49-F238E27FC236}">
                    <a16:creationId xmlns:a16="http://schemas.microsoft.com/office/drawing/2014/main" id="{D312FBBF-0298-7C13-183E-E0679F7AE5D6}"/>
                  </a:ext>
                </a:extLst>
              </p:cNvPr>
              <p:cNvSpPr txBox="1">
                <a:spLocks noRot="1" noChangeAspect="1" noMove="1" noResize="1" noEditPoints="1" noAdjustHandles="1" noChangeArrowheads="1" noChangeShapeType="1" noTextEdit="1"/>
              </p:cNvSpPr>
              <p:nvPr/>
            </p:nvSpPr>
            <p:spPr>
              <a:xfrm>
                <a:off x="2809658" y="4064333"/>
                <a:ext cx="522223" cy="371961"/>
              </a:xfrm>
              <a:prstGeom prst="rect">
                <a:avLst/>
              </a:prstGeom>
              <a:blipFill>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1" name="文字方塊 50">
                <a:extLst>
                  <a:ext uri="{FF2B5EF4-FFF2-40B4-BE49-F238E27FC236}">
                    <a16:creationId xmlns:a16="http://schemas.microsoft.com/office/drawing/2014/main" id="{2CDA468F-CC11-2F36-A54A-6CF858EE8D27}"/>
                  </a:ext>
                </a:extLst>
              </p:cNvPr>
              <p:cNvSpPr txBox="1"/>
              <p:nvPr/>
            </p:nvSpPr>
            <p:spPr>
              <a:xfrm>
                <a:off x="4618774" y="4064333"/>
                <a:ext cx="522223" cy="3719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zh-TW" altLang="zh-TW" sz="1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h</m:t>
                          </m:r>
                        </m:e>
                        <m:sub>
                          <m:r>
                            <a:rPr lang="en-US" altLang="zh-TW" sz="1800" b="0" i="1" kern="100" smtClean="0">
                              <a:effectLst/>
                              <a:latin typeface="Cambria Math" panose="02040503050406030204" pitchFamily="18" charset="0"/>
                              <a:ea typeface="新細明體" panose="02020500000000000000" pitchFamily="18" charset="-120"/>
                              <a:cs typeface="Times New Roman" panose="02020603050405020304" pitchFamily="18" charset="0"/>
                            </a:rPr>
                            <m:t>2</m:t>
                          </m:r>
                        </m:sub>
                        <m:sup>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1</m:t>
                          </m:r>
                        </m:sup>
                      </m:sSubSup>
                    </m:oMath>
                  </m:oMathPara>
                </a14:m>
                <a:endPar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51" name="文字方塊 50">
                <a:extLst>
                  <a:ext uri="{FF2B5EF4-FFF2-40B4-BE49-F238E27FC236}">
                    <a16:creationId xmlns:a16="http://schemas.microsoft.com/office/drawing/2014/main" id="{2CDA468F-CC11-2F36-A54A-6CF858EE8D27}"/>
                  </a:ext>
                </a:extLst>
              </p:cNvPr>
              <p:cNvSpPr txBox="1">
                <a:spLocks noRot="1" noChangeAspect="1" noMove="1" noResize="1" noEditPoints="1" noAdjustHandles="1" noChangeArrowheads="1" noChangeShapeType="1" noTextEdit="1"/>
              </p:cNvSpPr>
              <p:nvPr/>
            </p:nvSpPr>
            <p:spPr>
              <a:xfrm>
                <a:off x="4618774" y="4064333"/>
                <a:ext cx="522223" cy="371961"/>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文字方塊 51">
                <a:extLst>
                  <a:ext uri="{FF2B5EF4-FFF2-40B4-BE49-F238E27FC236}">
                    <a16:creationId xmlns:a16="http://schemas.microsoft.com/office/drawing/2014/main" id="{97029DB2-031A-316D-092E-EC9B76C669CE}"/>
                  </a:ext>
                </a:extLst>
              </p:cNvPr>
              <p:cNvSpPr txBox="1"/>
              <p:nvPr/>
            </p:nvSpPr>
            <p:spPr>
              <a:xfrm>
                <a:off x="6429674" y="4064333"/>
                <a:ext cx="522223" cy="3719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zh-TW" altLang="zh-TW" sz="1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h</m:t>
                          </m:r>
                        </m:e>
                        <m:sub>
                          <m:r>
                            <a:rPr lang="en-US" altLang="zh-TW" sz="1800" b="0" i="1" kern="100" smtClean="0">
                              <a:effectLst/>
                              <a:latin typeface="Cambria Math" panose="02040503050406030204" pitchFamily="18" charset="0"/>
                              <a:ea typeface="新細明體" panose="02020500000000000000" pitchFamily="18" charset="-120"/>
                              <a:cs typeface="Times New Roman" panose="02020603050405020304" pitchFamily="18" charset="0"/>
                            </a:rPr>
                            <m:t>3</m:t>
                          </m:r>
                        </m:sub>
                        <m:sup>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1</m:t>
                          </m:r>
                        </m:sup>
                      </m:sSubSup>
                    </m:oMath>
                  </m:oMathPara>
                </a14:m>
                <a:endPar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52" name="文字方塊 51">
                <a:extLst>
                  <a:ext uri="{FF2B5EF4-FFF2-40B4-BE49-F238E27FC236}">
                    <a16:creationId xmlns:a16="http://schemas.microsoft.com/office/drawing/2014/main" id="{97029DB2-031A-316D-092E-EC9B76C669CE}"/>
                  </a:ext>
                </a:extLst>
              </p:cNvPr>
              <p:cNvSpPr txBox="1">
                <a:spLocks noRot="1" noChangeAspect="1" noMove="1" noResize="1" noEditPoints="1" noAdjustHandles="1" noChangeArrowheads="1" noChangeShapeType="1" noTextEdit="1"/>
              </p:cNvSpPr>
              <p:nvPr/>
            </p:nvSpPr>
            <p:spPr>
              <a:xfrm>
                <a:off x="6429674" y="4064333"/>
                <a:ext cx="522223" cy="371961"/>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3" name="文字方塊 52">
                <a:extLst>
                  <a:ext uri="{FF2B5EF4-FFF2-40B4-BE49-F238E27FC236}">
                    <a16:creationId xmlns:a16="http://schemas.microsoft.com/office/drawing/2014/main" id="{58D8BE42-86FB-B117-4D83-6B05E432CDCF}"/>
                  </a:ext>
                </a:extLst>
              </p:cNvPr>
              <p:cNvSpPr txBox="1"/>
              <p:nvPr/>
            </p:nvSpPr>
            <p:spPr>
              <a:xfrm>
                <a:off x="8215311" y="4064333"/>
                <a:ext cx="522223" cy="3719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zh-TW" altLang="zh-TW" sz="1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h</m:t>
                          </m:r>
                        </m:e>
                        <m:sub>
                          <m:r>
                            <a:rPr lang="en-US" altLang="zh-TW" sz="1800" b="0" i="1" kern="100" smtClean="0">
                              <a:effectLst/>
                              <a:latin typeface="Cambria Math" panose="02040503050406030204" pitchFamily="18" charset="0"/>
                              <a:ea typeface="新細明體" panose="02020500000000000000" pitchFamily="18" charset="-120"/>
                              <a:cs typeface="Times New Roman" panose="02020603050405020304" pitchFamily="18" charset="0"/>
                            </a:rPr>
                            <m:t>4</m:t>
                          </m:r>
                        </m:sub>
                        <m:sup>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1</m:t>
                          </m:r>
                        </m:sup>
                      </m:sSubSup>
                    </m:oMath>
                  </m:oMathPara>
                </a14:m>
                <a:endPar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53" name="文字方塊 52">
                <a:extLst>
                  <a:ext uri="{FF2B5EF4-FFF2-40B4-BE49-F238E27FC236}">
                    <a16:creationId xmlns:a16="http://schemas.microsoft.com/office/drawing/2014/main" id="{58D8BE42-86FB-B117-4D83-6B05E432CDCF}"/>
                  </a:ext>
                </a:extLst>
              </p:cNvPr>
              <p:cNvSpPr txBox="1">
                <a:spLocks noRot="1" noChangeAspect="1" noMove="1" noResize="1" noEditPoints="1" noAdjustHandles="1" noChangeArrowheads="1" noChangeShapeType="1" noTextEdit="1"/>
              </p:cNvSpPr>
              <p:nvPr/>
            </p:nvSpPr>
            <p:spPr>
              <a:xfrm>
                <a:off x="8215311" y="4064333"/>
                <a:ext cx="522223" cy="371961"/>
              </a:xfrm>
              <a:prstGeom prst="rect">
                <a:avLst/>
              </a:prstGeom>
              <a:blipFill>
                <a:blip r:embed="rId5"/>
                <a:stretch>
                  <a:fillRect/>
                </a:stretch>
              </a:blipFill>
            </p:spPr>
            <p:txBody>
              <a:bodyPr/>
              <a:lstStyle/>
              <a:p>
                <a:r>
                  <a:rPr lang="zh-TW" altLang="en-US">
                    <a:noFill/>
                  </a:rPr>
                  <a:t> </a:t>
                </a:r>
              </a:p>
            </p:txBody>
          </p:sp>
        </mc:Fallback>
      </mc:AlternateContent>
      <p:sp>
        <p:nvSpPr>
          <p:cNvPr id="58" name="矩形 57">
            <a:extLst>
              <a:ext uri="{FF2B5EF4-FFF2-40B4-BE49-F238E27FC236}">
                <a16:creationId xmlns:a16="http://schemas.microsoft.com/office/drawing/2014/main" id="{F450BAF4-6BD3-0737-E4C2-693E46BDFD79}"/>
              </a:ext>
            </a:extLst>
          </p:cNvPr>
          <p:cNvSpPr/>
          <p:nvPr/>
        </p:nvSpPr>
        <p:spPr>
          <a:xfrm>
            <a:off x="2621410" y="3150450"/>
            <a:ext cx="1072890" cy="384600"/>
          </a:xfrm>
          <a:prstGeom prst="rect">
            <a:avLst/>
          </a:prstGeom>
          <a:solidFill>
            <a:srgbClr val="FDE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r>
              <a:rPr kumimoji="1" lang="en-US" altLang="zh-TW" sz="2400" baseline="30000" dirty="0">
                <a:solidFill>
                  <a:schemeClr val="tx1"/>
                </a:solidFill>
              </a:rPr>
              <a:t>2</a:t>
            </a:r>
            <a:endParaRPr kumimoji="1" lang="zh-TW" altLang="en-US" sz="2400" baseline="30000" dirty="0">
              <a:solidFill>
                <a:schemeClr val="tx1"/>
              </a:solidFill>
            </a:endParaRPr>
          </a:p>
        </p:txBody>
      </p:sp>
      <p:sp>
        <p:nvSpPr>
          <p:cNvPr id="59" name="矩形 58">
            <a:extLst>
              <a:ext uri="{FF2B5EF4-FFF2-40B4-BE49-F238E27FC236}">
                <a16:creationId xmlns:a16="http://schemas.microsoft.com/office/drawing/2014/main" id="{629DDFC1-8D08-F487-B7B2-5F4DC94A69ED}"/>
              </a:ext>
            </a:extLst>
          </p:cNvPr>
          <p:cNvSpPr/>
          <p:nvPr/>
        </p:nvSpPr>
        <p:spPr>
          <a:xfrm>
            <a:off x="4496541" y="3150450"/>
            <a:ext cx="1072890" cy="384600"/>
          </a:xfrm>
          <a:prstGeom prst="rect">
            <a:avLst/>
          </a:prstGeom>
          <a:solidFill>
            <a:srgbClr val="FDE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r>
              <a:rPr kumimoji="1" lang="en-US" altLang="zh-TW" sz="2400" baseline="30000" dirty="0">
                <a:solidFill>
                  <a:schemeClr val="tx1"/>
                </a:solidFill>
              </a:rPr>
              <a:t>2</a:t>
            </a:r>
            <a:endParaRPr kumimoji="1" lang="zh-TW" altLang="en-US" sz="2400" baseline="30000" dirty="0">
              <a:solidFill>
                <a:schemeClr val="tx1"/>
              </a:solidFill>
            </a:endParaRPr>
          </a:p>
        </p:txBody>
      </p:sp>
      <p:sp>
        <p:nvSpPr>
          <p:cNvPr id="60" name="矩形 59">
            <a:extLst>
              <a:ext uri="{FF2B5EF4-FFF2-40B4-BE49-F238E27FC236}">
                <a16:creationId xmlns:a16="http://schemas.microsoft.com/office/drawing/2014/main" id="{835E1D23-561F-EC62-D9F6-289FEA9CDF59}"/>
              </a:ext>
            </a:extLst>
          </p:cNvPr>
          <p:cNvSpPr/>
          <p:nvPr/>
        </p:nvSpPr>
        <p:spPr>
          <a:xfrm>
            <a:off x="6458897" y="3150450"/>
            <a:ext cx="1072890" cy="384600"/>
          </a:xfrm>
          <a:prstGeom prst="rect">
            <a:avLst/>
          </a:prstGeom>
          <a:solidFill>
            <a:srgbClr val="FDE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r>
              <a:rPr kumimoji="1" lang="en-US" altLang="zh-TW" sz="2400" baseline="30000" dirty="0">
                <a:solidFill>
                  <a:schemeClr val="tx1"/>
                </a:solidFill>
              </a:rPr>
              <a:t>2</a:t>
            </a:r>
            <a:endParaRPr kumimoji="1" lang="zh-TW" altLang="en-US" sz="2400" dirty="0">
              <a:solidFill>
                <a:schemeClr val="tx1"/>
              </a:solidFill>
            </a:endParaRPr>
          </a:p>
        </p:txBody>
      </p:sp>
      <p:sp>
        <p:nvSpPr>
          <p:cNvPr id="61" name="矩形 60">
            <a:extLst>
              <a:ext uri="{FF2B5EF4-FFF2-40B4-BE49-F238E27FC236}">
                <a16:creationId xmlns:a16="http://schemas.microsoft.com/office/drawing/2014/main" id="{FDB4F7A2-2D87-0918-C6B3-0370E7367B08}"/>
              </a:ext>
            </a:extLst>
          </p:cNvPr>
          <p:cNvSpPr/>
          <p:nvPr/>
        </p:nvSpPr>
        <p:spPr>
          <a:xfrm>
            <a:off x="8481040" y="3150450"/>
            <a:ext cx="1072890" cy="384600"/>
          </a:xfrm>
          <a:prstGeom prst="rect">
            <a:avLst/>
          </a:prstGeom>
          <a:solidFill>
            <a:srgbClr val="FDE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r>
              <a:rPr kumimoji="1" lang="en-US" altLang="zh-TW" sz="2400" baseline="30000" dirty="0">
                <a:solidFill>
                  <a:schemeClr val="tx1"/>
                </a:solidFill>
              </a:rPr>
              <a:t>2</a:t>
            </a:r>
            <a:endParaRPr kumimoji="1" lang="zh-TW" altLang="en-US" sz="2400" baseline="30000" dirty="0">
              <a:solidFill>
                <a:schemeClr val="tx1"/>
              </a:solidFill>
            </a:endParaRPr>
          </a:p>
        </p:txBody>
      </p:sp>
      <p:cxnSp>
        <p:nvCxnSpPr>
          <p:cNvPr id="62" name="直線箭頭接點 61">
            <a:extLst>
              <a:ext uri="{FF2B5EF4-FFF2-40B4-BE49-F238E27FC236}">
                <a16:creationId xmlns:a16="http://schemas.microsoft.com/office/drawing/2014/main" id="{DE20D87D-4047-7D5F-2969-A70A2F557D8B}"/>
              </a:ext>
            </a:extLst>
          </p:cNvPr>
          <p:cNvCxnSpPr>
            <a:cxnSpLocks/>
            <a:stCxn id="58" idx="3"/>
            <a:endCxn id="59" idx="1"/>
          </p:cNvCxnSpPr>
          <p:nvPr/>
        </p:nvCxnSpPr>
        <p:spPr>
          <a:xfrm>
            <a:off x="3694301" y="3342750"/>
            <a:ext cx="80224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線箭頭接點 62">
            <a:extLst>
              <a:ext uri="{FF2B5EF4-FFF2-40B4-BE49-F238E27FC236}">
                <a16:creationId xmlns:a16="http://schemas.microsoft.com/office/drawing/2014/main" id="{B1EFF885-C254-1DD0-A8C1-16AA045F65ED}"/>
              </a:ext>
            </a:extLst>
          </p:cNvPr>
          <p:cNvCxnSpPr>
            <a:cxnSpLocks/>
            <a:stCxn id="59" idx="3"/>
            <a:endCxn id="60" idx="1"/>
          </p:cNvCxnSpPr>
          <p:nvPr/>
        </p:nvCxnSpPr>
        <p:spPr>
          <a:xfrm>
            <a:off x="5569431" y="3342750"/>
            <a:ext cx="88946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線箭頭接點 63">
            <a:extLst>
              <a:ext uri="{FF2B5EF4-FFF2-40B4-BE49-F238E27FC236}">
                <a16:creationId xmlns:a16="http://schemas.microsoft.com/office/drawing/2014/main" id="{5CEA42C5-F463-E6B6-AC6F-B614F47DBF82}"/>
              </a:ext>
            </a:extLst>
          </p:cNvPr>
          <p:cNvCxnSpPr>
            <a:cxnSpLocks/>
            <a:stCxn id="60" idx="3"/>
            <a:endCxn id="61" idx="1"/>
          </p:cNvCxnSpPr>
          <p:nvPr/>
        </p:nvCxnSpPr>
        <p:spPr>
          <a:xfrm>
            <a:off x="7531787" y="3342750"/>
            <a:ext cx="949253" cy="0"/>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5" name="矩形 64">
            <a:extLst>
              <a:ext uri="{FF2B5EF4-FFF2-40B4-BE49-F238E27FC236}">
                <a16:creationId xmlns:a16="http://schemas.microsoft.com/office/drawing/2014/main" id="{322EF766-68D0-D62F-368A-D3CC3677F70A}"/>
              </a:ext>
            </a:extLst>
          </p:cNvPr>
          <p:cNvSpPr/>
          <p:nvPr/>
        </p:nvSpPr>
        <p:spPr>
          <a:xfrm>
            <a:off x="3575507" y="2399039"/>
            <a:ext cx="1072890" cy="384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r>
              <a:rPr kumimoji="1" lang="en-US" altLang="zh-TW" sz="2400" baseline="30000" dirty="0">
                <a:solidFill>
                  <a:schemeClr val="tx1"/>
                </a:solidFill>
              </a:rPr>
              <a:t>2</a:t>
            </a:r>
            <a:endParaRPr kumimoji="1" lang="zh-TW" altLang="en-US" sz="2400" baseline="30000" dirty="0">
              <a:solidFill>
                <a:schemeClr val="tx1"/>
              </a:solidFill>
            </a:endParaRPr>
          </a:p>
        </p:txBody>
      </p:sp>
      <p:sp>
        <p:nvSpPr>
          <p:cNvPr id="66" name="矩形 65">
            <a:extLst>
              <a:ext uri="{FF2B5EF4-FFF2-40B4-BE49-F238E27FC236}">
                <a16:creationId xmlns:a16="http://schemas.microsoft.com/office/drawing/2014/main" id="{A453E5E0-FAAC-6425-8929-7CDD26F2A12C}"/>
              </a:ext>
            </a:extLst>
          </p:cNvPr>
          <p:cNvSpPr/>
          <p:nvPr/>
        </p:nvSpPr>
        <p:spPr>
          <a:xfrm>
            <a:off x="5429515" y="2399039"/>
            <a:ext cx="1072890" cy="384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r>
              <a:rPr kumimoji="1" lang="en-US" altLang="zh-TW" sz="2400" baseline="30000" dirty="0">
                <a:solidFill>
                  <a:schemeClr val="tx1"/>
                </a:solidFill>
              </a:rPr>
              <a:t>2</a:t>
            </a:r>
            <a:endParaRPr kumimoji="1" lang="zh-TW" altLang="en-US" sz="2400" baseline="30000" dirty="0">
              <a:solidFill>
                <a:schemeClr val="tx1"/>
              </a:solidFill>
            </a:endParaRPr>
          </a:p>
        </p:txBody>
      </p:sp>
      <p:sp>
        <p:nvSpPr>
          <p:cNvPr id="67" name="矩形 66">
            <a:extLst>
              <a:ext uri="{FF2B5EF4-FFF2-40B4-BE49-F238E27FC236}">
                <a16:creationId xmlns:a16="http://schemas.microsoft.com/office/drawing/2014/main" id="{9B1013AC-7DE2-99CE-9723-183703C8F49A}"/>
              </a:ext>
            </a:extLst>
          </p:cNvPr>
          <p:cNvSpPr/>
          <p:nvPr/>
        </p:nvSpPr>
        <p:spPr>
          <a:xfrm>
            <a:off x="7283523" y="2399039"/>
            <a:ext cx="1072890" cy="384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r>
              <a:rPr kumimoji="1" lang="en-US" altLang="zh-TW" sz="2400" baseline="30000" dirty="0">
                <a:solidFill>
                  <a:schemeClr val="tx1"/>
                </a:solidFill>
              </a:rPr>
              <a:t>2</a:t>
            </a:r>
            <a:endParaRPr kumimoji="1" lang="zh-TW" altLang="en-US" sz="2400" baseline="30000" dirty="0">
              <a:solidFill>
                <a:schemeClr val="tx1"/>
              </a:solidFill>
            </a:endParaRPr>
          </a:p>
        </p:txBody>
      </p:sp>
      <p:sp>
        <p:nvSpPr>
          <p:cNvPr id="68" name="矩形 67">
            <a:extLst>
              <a:ext uri="{FF2B5EF4-FFF2-40B4-BE49-F238E27FC236}">
                <a16:creationId xmlns:a16="http://schemas.microsoft.com/office/drawing/2014/main" id="{9C536572-7F1D-A22F-E574-9799520FB6F0}"/>
              </a:ext>
            </a:extLst>
          </p:cNvPr>
          <p:cNvSpPr/>
          <p:nvPr/>
        </p:nvSpPr>
        <p:spPr>
          <a:xfrm>
            <a:off x="9137529" y="2399039"/>
            <a:ext cx="1072890" cy="384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r>
              <a:rPr kumimoji="1" lang="en-US" altLang="zh-TW" sz="2400" baseline="30000" dirty="0">
                <a:solidFill>
                  <a:schemeClr val="tx1"/>
                </a:solidFill>
              </a:rPr>
              <a:t>2</a:t>
            </a:r>
            <a:endParaRPr kumimoji="1" lang="zh-TW" altLang="en-US" sz="2400" baseline="30000" dirty="0">
              <a:solidFill>
                <a:schemeClr val="tx1"/>
              </a:solidFill>
            </a:endParaRPr>
          </a:p>
        </p:txBody>
      </p:sp>
      <p:cxnSp>
        <p:nvCxnSpPr>
          <p:cNvPr id="69" name="直線箭頭接點 68">
            <a:extLst>
              <a:ext uri="{FF2B5EF4-FFF2-40B4-BE49-F238E27FC236}">
                <a16:creationId xmlns:a16="http://schemas.microsoft.com/office/drawing/2014/main" id="{D1FAB961-7480-B303-82E4-B8D62A2D370F}"/>
              </a:ext>
            </a:extLst>
          </p:cNvPr>
          <p:cNvCxnSpPr>
            <a:cxnSpLocks/>
            <a:stCxn id="66" idx="1"/>
            <a:endCxn id="65" idx="3"/>
          </p:cNvCxnSpPr>
          <p:nvPr/>
        </p:nvCxnSpPr>
        <p:spPr>
          <a:xfrm flipH="1">
            <a:off x="4648398" y="2591339"/>
            <a:ext cx="78111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線箭頭接點 69">
            <a:extLst>
              <a:ext uri="{FF2B5EF4-FFF2-40B4-BE49-F238E27FC236}">
                <a16:creationId xmlns:a16="http://schemas.microsoft.com/office/drawing/2014/main" id="{90AFC9A8-2E6B-8553-E050-80A178DF9770}"/>
              </a:ext>
            </a:extLst>
          </p:cNvPr>
          <p:cNvCxnSpPr>
            <a:cxnSpLocks/>
            <a:stCxn id="67" idx="1"/>
            <a:endCxn id="66" idx="3"/>
          </p:cNvCxnSpPr>
          <p:nvPr/>
        </p:nvCxnSpPr>
        <p:spPr>
          <a:xfrm flipH="1">
            <a:off x="6502405" y="2591339"/>
            <a:ext cx="78111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箭頭接點 70">
            <a:extLst>
              <a:ext uri="{FF2B5EF4-FFF2-40B4-BE49-F238E27FC236}">
                <a16:creationId xmlns:a16="http://schemas.microsoft.com/office/drawing/2014/main" id="{D7909725-530E-C311-FF38-F34E32153D36}"/>
              </a:ext>
            </a:extLst>
          </p:cNvPr>
          <p:cNvCxnSpPr>
            <a:cxnSpLocks/>
            <a:stCxn id="68" idx="1"/>
            <a:endCxn id="67" idx="3"/>
          </p:cNvCxnSpPr>
          <p:nvPr/>
        </p:nvCxnSpPr>
        <p:spPr>
          <a:xfrm flipH="1">
            <a:off x="8356413" y="2591339"/>
            <a:ext cx="781116" cy="0"/>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9" name="直線箭頭接點 78">
            <a:extLst>
              <a:ext uri="{FF2B5EF4-FFF2-40B4-BE49-F238E27FC236}">
                <a16:creationId xmlns:a16="http://schemas.microsoft.com/office/drawing/2014/main" id="{8655FBBD-2B20-2CF1-F283-16E6243D3A73}"/>
              </a:ext>
            </a:extLst>
          </p:cNvPr>
          <p:cNvCxnSpPr>
            <a:cxnSpLocks/>
            <a:stCxn id="33" idx="0"/>
            <a:endCxn id="65" idx="2"/>
          </p:cNvCxnSpPr>
          <p:nvPr/>
        </p:nvCxnSpPr>
        <p:spPr>
          <a:xfrm flipV="1">
            <a:off x="3896034" y="2783639"/>
            <a:ext cx="215918" cy="139385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直線箭頭接點 79">
            <a:extLst>
              <a:ext uri="{FF2B5EF4-FFF2-40B4-BE49-F238E27FC236}">
                <a16:creationId xmlns:a16="http://schemas.microsoft.com/office/drawing/2014/main" id="{939BA083-8E7C-2EFF-4436-9F6D0B1664B6}"/>
              </a:ext>
            </a:extLst>
          </p:cNvPr>
          <p:cNvCxnSpPr>
            <a:cxnSpLocks/>
            <a:stCxn id="35" idx="0"/>
            <a:endCxn id="66" idx="2"/>
          </p:cNvCxnSpPr>
          <p:nvPr/>
        </p:nvCxnSpPr>
        <p:spPr>
          <a:xfrm flipV="1">
            <a:off x="5668350" y="2783639"/>
            <a:ext cx="297610" cy="139330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線箭頭接點 80">
            <a:extLst>
              <a:ext uri="{FF2B5EF4-FFF2-40B4-BE49-F238E27FC236}">
                <a16:creationId xmlns:a16="http://schemas.microsoft.com/office/drawing/2014/main" id="{422C3531-6D3B-3B03-C7CF-8338835B9188}"/>
              </a:ext>
            </a:extLst>
          </p:cNvPr>
          <p:cNvCxnSpPr>
            <a:cxnSpLocks/>
            <a:stCxn id="37" idx="0"/>
            <a:endCxn id="67" idx="2"/>
          </p:cNvCxnSpPr>
          <p:nvPr/>
        </p:nvCxnSpPr>
        <p:spPr>
          <a:xfrm flipV="1">
            <a:off x="7485256" y="2783639"/>
            <a:ext cx="334712" cy="139055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直線箭頭接點 81">
            <a:extLst>
              <a:ext uri="{FF2B5EF4-FFF2-40B4-BE49-F238E27FC236}">
                <a16:creationId xmlns:a16="http://schemas.microsoft.com/office/drawing/2014/main" id="{AE88E34C-BA12-95C7-853C-4929610785FB}"/>
              </a:ext>
            </a:extLst>
          </p:cNvPr>
          <p:cNvCxnSpPr>
            <a:cxnSpLocks/>
            <a:stCxn id="39" idx="0"/>
            <a:endCxn id="68" idx="2"/>
          </p:cNvCxnSpPr>
          <p:nvPr/>
        </p:nvCxnSpPr>
        <p:spPr>
          <a:xfrm flipV="1">
            <a:off x="9273207" y="2783639"/>
            <a:ext cx="400767" cy="139316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線箭頭接點 83">
            <a:extLst>
              <a:ext uri="{FF2B5EF4-FFF2-40B4-BE49-F238E27FC236}">
                <a16:creationId xmlns:a16="http://schemas.microsoft.com/office/drawing/2014/main" id="{7628A7A0-89C9-F441-F5A3-6B45672B76DE}"/>
              </a:ext>
            </a:extLst>
          </p:cNvPr>
          <p:cNvCxnSpPr>
            <a:cxnSpLocks/>
            <a:stCxn id="38" idx="0"/>
            <a:endCxn id="60" idx="2"/>
          </p:cNvCxnSpPr>
          <p:nvPr/>
        </p:nvCxnSpPr>
        <p:spPr>
          <a:xfrm flipH="1" flipV="1">
            <a:off x="6995342" y="3535050"/>
            <a:ext cx="98759" cy="63913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線箭頭接點 84">
            <a:extLst>
              <a:ext uri="{FF2B5EF4-FFF2-40B4-BE49-F238E27FC236}">
                <a16:creationId xmlns:a16="http://schemas.microsoft.com/office/drawing/2014/main" id="{96F68AA8-0DEE-A1C3-7B71-82152B18D0AA}"/>
              </a:ext>
            </a:extLst>
          </p:cNvPr>
          <p:cNvCxnSpPr>
            <a:cxnSpLocks/>
            <a:stCxn id="40" idx="0"/>
            <a:endCxn id="61" idx="2"/>
          </p:cNvCxnSpPr>
          <p:nvPr/>
        </p:nvCxnSpPr>
        <p:spPr>
          <a:xfrm flipV="1">
            <a:off x="8882052" y="3535050"/>
            <a:ext cx="135433" cy="64175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6" name="矩形 85">
            <a:extLst>
              <a:ext uri="{FF2B5EF4-FFF2-40B4-BE49-F238E27FC236}">
                <a16:creationId xmlns:a16="http://schemas.microsoft.com/office/drawing/2014/main" id="{80A883F4-DA3C-5CC5-6056-8EFDF5DBBCEE}"/>
              </a:ext>
            </a:extLst>
          </p:cNvPr>
          <p:cNvSpPr/>
          <p:nvPr/>
        </p:nvSpPr>
        <p:spPr>
          <a:xfrm>
            <a:off x="3694301" y="1759548"/>
            <a:ext cx="391155" cy="145645"/>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400" dirty="0">
              <a:solidFill>
                <a:schemeClr val="tx1"/>
              </a:solidFill>
            </a:endParaRPr>
          </a:p>
        </p:txBody>
      </p:sp>
      <p:sp>
        <p:nvSpPr>
          <p:cNvPr id="87" name="矩形 86">
            <a:extLst>
              <a:ext uri="{FF2B5EF4-FFF2-40B4-BE49-F238E27FC236}">
                <a16:creationId xmlns:a16="http://schemas.microsoft.com/office/drawing/2014/main" id="{EA7D9452-0426-53B0-4F06-1D04B44CA92C}"/>
              </a:ext>
            </a:extLst>
          </p:cNvPr>
          <p:cNvSpPr/>
          <p:nvPr/>
        </p:nvSpPr>
        <p:spPr>
          <a:xfrm>
            <a:off x="3303146" y="1759548"/>
            <a:ext cx="391155" cy="145645"/>
          </a:xfrm>
          <a:prstGeom prst="rect">
            <a:avLst/>
          </a:prstGeom>
          <a:solidFill>
            <a:srgbClr val="FDE7D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400" dirty="0">
              <a:solidFill>
                <a:schemeClr val="tx1"/>
              </a:solidFill>
            </a:endParaRPr>
          </a:p>
        </p:txBody>
      </p:sp>
      <p:sp>
        <p:nvSpPr>
          <p:cNvPr id="88" name="矩形 87">
            <a:extLst>
              <a:ext uri="{FF2B5EF4-FFF2-40B4-BE49-F238E27FC236}">
                <a16:creationId xmlns:a16="http://schemas.microsoft.com/office/drawing/2014/main" id="{44016437-7783-A420-F2B7-320D072E20FA}"/>
              </a:ext>
            </a:extLst>
          </p:cNvPr>
          <p:cNvSpPr/>
          <p:nvPr/>
        </p:nvSpPr>
        <p:spPr>
          <a:xfrm>
            <a:off x="5466617" y="1759001"/>
            <a:ext cx="391155" cy="145645"/>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400" dirty="0">
              <a:solidFill>
                <a:schemeClr val="tx1"/>
              </a:solidFill>
            </a:endParaRPr>
          </a:p>
        </p:txBody>
      </p:sp>
      <p:sp>
        <p:nvSpPr>
          <p:cNvPr id="89" name="矩形 88">
            <a:extLst>
              <a:ext uri="{FF2B5EF4-FFF2-40B4-BE49-F238E27FC236}">
                <a16:creationId xmlns:a16="http://schemas.microsoft.com/office/drawing/2014/main" id="{F659FA52-E918-8143-BBEF-38F44D858F72}"/>
              </a:ext>
            </a:extLst>
          </p:cNvPr>
          <p:cNvSpPr/>
          <p:nvPr/>
        </p:nvSpPr>
        <p:spPr>
          <a:xfrm>
            <a:off x="5075462" y="1759001"/>
            <a:ext cx="391155" cy="145645"/>
          </a:xfrm>
          <a:prstGeom prst="rect">
            <a:avLst/>
          </a:prstGeom>
          <a:solidFill>
            <a:srgbClr val="FDE7D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400" dirty="0">
              <a:solidFill>
                <a:schemeClr val="tx1"/>
              </a:solidFill>
            </a:endParaRPr>
          </a:p>
        </p:txBody>
      </p:sp>
      <p:sp>
        <p:nvSpPr>
          <p:cNvPr id="90" name="矩形 89">
            <a:extLst>
              <a:ext uri="{FF2B5EF4-FFF2-40B4-BE49-F238E27FC236}">
                <a16:creationId xmlns:a16="http://schemas.microsoft.com/office/drawing/2014/main" id="{2E648AC2-F5C8-8563-01A1-9EBDBBD60C56}"/>
              </a:ext>
            </a:extLst>
          </p:cNvPr>
          <p:cNvSpPr/>
          <p:nvPr/>
        </p:nvSpPr>
        <p:spPr>
          <a:xfrm>
            <a:off x="7283523" y="1756246"/>
            <a:ext cx="391155" cy="145645"/>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400" dirty="0">
              <a:solidFill>
                <a:schemeClr val="tx1"/>
              </a:solidFill>
            </a:endParaRPr>
          </a:p>
        </p:txBody>
      </p:sp>
      <p:sp>
        <p:nvSpPr>
          <p:cNvPr id="91" name="矩形 90">
            <a:extLst>
              <a:ext uri="{FF2B5EF4-FFF2-40B4-BE49-F238E27FC236}">
                <a16:creationId xmlns:a16="http://schemas.microsoft.com/office/drawing/2014/main" id="{FDDC09B7-62BF-73E4-57FC-4EF294131118}"/>
              </a:ext>
            </a:extLst>
          </p:cNvPr>
          <p:cNvSpPr/>
          <p:nvPr/>
        </p:nvSpPr>
        <p:spPr>
          <a:xfrm>
            <a:off x="6892368" y="1756246"/>
            <a:ext cx="391155" cy="145645"/>
          </a:xfrm>
          <a:prstGeom prst="rect">
            <a:avLst/>
          </a:prstGeom>
          <a:solidFill>
            <a:srgbClr val="FDE7D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400" dirty="0">
              <a:solidFill>
                <a:schemeClr val="tx1"/>
              </a:solidFill>
            </a:endParaRPr>
          </a:p>
        </p:txBody>
      </p:sp>
      <p:sp>
        <p:nvSpPr>
          <p:cNvPr id="92" name="矩形 91">
            <a:extLst>
              <a:ext uri="{FF2B5EF4-FFF2-40B4-BE49-F238E27FC236}">
                <a16:creationId xmlns:a16="http://schemas.microsoft.com/office/drawing/2014/main" id="{4D404455-31CD-B9C8-94D8-10EAFE62373B}"/>
              </a:ext>
            </a:extLst>
          </p:cNvPr>
          <p:cNvSpPr/>
          <p:nvPr/>
        </p:nvSpPr>
        <p:spPr>
          <a:xfrm>
            <a:off x="9071474" y="1758864"/>
            <a:ext cx="391155" cy="145645"/>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400" dirty="0">
              <a:solidFill>
                <a:schemeClr val="tx1"/>
              </a:solidFill>
            </a:endParaRPr>
          </a:p>
        </p:txBody>
      </p:sp>
      <p:sp>
        <p:nvSpPr>
          <p:cNvPr id="93" name="矩形 92">
            <a:extLst>
              <a:ext uri="{FF2B5EF4-FFF2-40B4-BE49-F238E27FC236}">
                <a16:creationId xmlns:a16="http://schemas.microsoft.com/office/drawing/2014/main" id="{F8591BFF-A58C-1AB9-5ADD-4EBC5AA858B3}"/>
              </a:ext>
            </a:extLst>
          </p:cNvPr>
          <p:cNvSpPr/>
          <p:nvPr/>
        </p:nvSpPr>
        <p:spPr>
          <a:xfrm>
            <a:off x="8680319" y="1758864"/>
            <a:ext cx="391155" cy="145645"/>
          </a:xfrm>
          <a:prstGeom prst="rect">
            <a:avLst/>
          </a:prstGeom>
          <a:solidFill>
            <a:srgbClr val="FDE7D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400" dirty="0">
              <a:solidFill>
                <a:schemeClr val="tx1"/>
              </a:solidFill>
            </a:endParaRPr>
          </a:p>
        </p:txBody>
      </p:sp>
      <p:cxnSp>
        <p:nvCxnSpPr>
          <p:cNvPr id="94" name="直線箭頭接點 93">
            <a:extLst>
              <a:ext uri="{FF2B5EF4-FFF2-40B4-BE49-F238E27FC236}">
                <a16:creationId xmlns:a16="http://schemas.microsoft.com/office/drawing/2014/main" id="{35921406-D7F1-F4A7-EA1C-85370BBE30EA}"/>
              </a:ext>
            </a:extLst>
          </p:cNvPr>
          <p:cNvCxnSpPr>
            <a:cxnSpLocks/>
            <a:stCxn id="58" idx="0"/>
            <a:endCxn id="87" idx="2"/>
          </p:cNvCxnSpPr>
          <p:nvPr/>
        </p:nvCxnSpPr>
        <p:spPr>
          <a:xfrm flipV="1">
            <a:off x="3157855" y="1905193"/>
            <a:ext cx="340868" cy="124525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線箭頭接點 94">
            <a:extLst>
              <a:ext uri="{FF2B5EF4-FFF2-40B4-BE49-F238E27FC236}">
                <a16:creationId xmlns:a16="http://schemas.microsoft.com/office/drawing/2014/main" id="{481E7DFD-3D4D-3FA0-869B-0D349DAA0635}"/>
              </a:ext>
            </a:extLst>
          </p:cNvPr>
          <p:cNvCxnSpPr>
            <a:cxnSpLocks/>
            <a:stCxn id="65" idx="0"/>
            <a:endCxn id="86" idx="2"/>
          </p:cNvCxnSpPr>
          <p:nvPr/>
        </p:nvCxnSpPr>
        <p:spPr>
          <a:xfrm flipH="1" flipV="1">
            <a:off x="3889878" y="1905193"/>
            <a:ext cx="222074" cy="49384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線箭頭接點 96">
            <a:extLst>
              <a:ext uri="{FF2B5EF4-FFF2-40B4-BE49-F238E27FC236}">
                <a16:creationId xmlns:a16="http://schemas.microsoft.com/office/drawing/2014/main" id="{3ACA5991-01F9-5C83-FDF3-0CB1CEBD5EAE}"/>
              </a:ext>
            </a:extLst>
          </p:cNvPr>
          <p:cNvCxnSpPr>
            <a:cxnSpLocks/>
            <a:stCxn id="59" idx="0"/>
            <a:endCxn id="89" idx="2"/>
          </p:cNvCxnSpPr>
          <p:nvPr/>
        </p:nvCxnSpPr>
        <p:spPr>
          <a:xfrm flipV="1">
            <a:off x="5032986" y="1904645"/>
            <a:ext cx="238054" cy="124580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箭頭接點 97">
            <a:extLst>
              <a:ext uri="{FF2B5EF4-FFF2-40B4-BE49-F238E27FC236}">
                <a16:creationId xmlns:a16="http://schemas.microsoft.com/office/drawing/2014/main" id="{61234213-FA24-FFD0-84B7-E6B8F4877E9A}"/>
              </a:ext>
            </a:extLst>
          </p:cNvPr>
          <p:cNvCxnSpPr>
            <a:cxnSpLocks/>
            <a:stCxn id="66" idx="0"/>
            <a:endCxn id="88" idx="2"/>
          </p:cNvCxnSpPr>
          <p:nvPr/>
        </p:nvCxnSpPr>
        <p:spPr>
          <a:xfrm flipH="1" flipV="1">
            <a:off x="5662195" y="1904645"/>
            <a:ext cx="303766" cy="49439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直線箭頭接點 98">
            <a:extLst>
              <a:ext uri="{FF2B5EF4-FFF2-40B4-BE49-F238E27FC236}">
                <a16:creationId xmlns:a16="http://schemas.microsoft.com/office/drawing/2014/main" id="{148F879C-B1EB-34BB-6865-0AD5159A33C7}"/>
              </a:ext>
            </a:extLst>
          </p:cNvPr>
          <p:cNvCxnSpPr>
            <a:cxnSpLocks/>
            <a:stCxn id="67" idx="0"/>
            <a:endCxn id="90" idx="2"/>
          </p:cNvCxnSpPr>
          <p:nvPr/>
        </p:nvCxnSpPr>
        <p:spPr>
          <a:xfrm flipH="1" flipV="1">
            <a:off x="7479100" y="1901891"/>
            <a:ext cx="340868" cy="49714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直線箭頭接點 99">
            <a:extLst>
              <a:ext uri="{FF2B5EF4-FFF2-40B4-BE49-F238E27FC236}">
                <a16:creationId xmlns:a16="http://schemas.microsoft.com/office/drawing/2014/main" id="{F697AFDF-C6FC-294F-1A1D-67829208AFCA}"/>
              </a:ext>
            </a:extLst>
          </p:cNvPr>
          <p:cNvCxnSpPr>
            <a:cxnSpLocks/>
            <a:stCxn id="60" idx="0"/>
            <a:endCxn id="91" idx="2"/>
          </p:cNvCxnSpPr>
          <p:nvPr/>
        </p:nvCxnSpPr>
        <p:spPr>
          <a:xfrm flipV="1">
            <a:off x="6995342" y="1901891"/>
            <a:ext cx="92603" cy="124855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線箭頭接點 100">
            <a:extLst>
              <a:ext uri="{FF2B5EF4-FFF2-40B4-BE49-F238E27FC236}">
                <a16:creationId xmlns:a16="http://schemas.microsoft.com/office/drawing/2014/main" id="{F791297D-BBC9-4534-9FA1-7EF7D2BF68B3}"/>
              </a:ext>
            </a:extLst>
          </p:cNvPr>
          <p:cNvCxnSpPr>
            <a:cxnSpLocks/>
            <a:stCxn id="61" idx="0"/>
            <a:endCxn id="93" idx="2"/>
          </p:cNvCxnSpPr>
          <p:nvPr/>
        </p:nvCxnSpPr>
        <p:spPr>
          <a:xfrm flipH="1" flipV="1">
            <a:off x="8875897" y="1904509"/>
            <a:ext cx="141589" cy="124594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直線箭頭接點 101">
            <a:extLst>
              <a:ext uri="{FF2B5EF4-FFF2-40B4-BE49-F238E27FC236}">
                <a16:creationId xmlns:a16="http://schemas.microsoft.com/office/drawing/2014/main" id="{214FEC89-4294-47F2-75B5-967C3819A91B}"/>
              </a:ext>
            </a:extLst>
          </p:cNvPr>
          <p:cNvCxnSpPr>
            <a:cxnSpLocks/>
            <a:stCxn id="68" idx="0"/>
            <a:endCxn id="92" idx="2"/>
          </p:cNvCxnSpPr>
          <p:nvPr/>
        </p:nvCxnSpPr>
        <p:spPr>
          <a:xfrm flipH="1" flipV="1">
            <a:off x="9267052" y="1904509"/>
            <a:ext cx="406923" cy="49453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8" name="文字方塊 117">
            <a:extLst>
              <a:ext uri="{FF2B5EF4-FFF2-40B4-BE49-F238E27FC236}">
                <a16:creationId xmlns:a16="http://schemas.microsoft.com/office/drawing/2014/main" id="{906B7CCF-0B0C-8C6F-211B-3E3FBCB6E728}"/>
              </a:ext>
            </a:extLst>
          </p:cNvPr>
          <p:cNvSpPr txBox="1"/>
          <p:nvPr/>
        </p:nvSpPr>
        <p:spPr>
          <a:xfrm>
            <a:off x="1121700" y="2409230"/>
            <a:ext cx="1807250" cy="369332"/>
          </a:xfrm>
          <a:prstGeom prst="rect">
            <a:avLst/>
          </a:prstGeom>
          <a:noFill/>
        </p:spPr>
        <p:txBody>
          <a:bodyPr wrap="square" rtlCol="0">
            <a:spAutoFit/>
          </a:bodyPr>
          <a:lstStyle/>
          <a:p>
            <a:pPr algn="ctr"/>
            <a:r>
              <a:rPr kumimoji="1" lang="en-US" altLang="zh-TW" b="1" dirty="0">
                <a:solidFill>
                  <a:srgbClr val="0070C0"/>
                </a:solidFill>
              </a:rPr>
              <a:t>Layer 2</a:t>
            </a:r>
            <a:endParaRPr kumimoji="1" lang="zh-TW" altLang="en-US" b="1" dirty="0">
              <a:solidFill>
                <a:srgbClr val="0070C0"/>
              </a:solidFill>
            </a:endParaRPr>
          </a:p>
        </p:txBody>
      </p:sp>
      <p:cxnSp>
        <p:nvCxnSpPr>
          <p:cNvPr id="120" name="直線箭頭接點 119">
            <a:extLst>
              <a:ext uri="{FF2B5EF4-FFF2-40B4-BE49-F238E27FC236}">
                <a16:creationId xmlns:a16="http://schemas.microsoft.com/office/drawing/2014/main" id="{A993A7A3-9890-F7F4-1930-C59DCCF63DA9}"/>
              </a:ext>
            </a:extLst>
          </p:cNvPr>
          <p:cNvCxnSpPr>
            <a:cxnSpLocks/>
            <a:stCxn id="34" idx="0"/>
            <a:endCxn id="58" idx="2"/>
          </p:cNvCxnSpPr>
          <p:nvPr/>
        </p:nvCxnSpPr>
        <p:spPr>
          <a:xfrm flipH="1" flipV="1">
            <a:off x="3157855" y="3535050"/>
            <a:ext cx="347024" cy="64244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直線箭頭接點 122">
            <a:extLst>
              <a:ext uri="{FF2B5EF4-FFF2-40B4-BE49-F238E27FC236}">
                <a16:creationId xmlns:a16="http://schemas.microsoft.com/office/drawing/2014/main" id="{7510210A-DC5C-2F7C-00C4-F66548E69AAE}"/>
              </a:ext>
            </a:extLst>
          </p:cNvPr>
          <p:cNvCxnSpPr>
            <a:cxnSpLocks/>
            <a:stCxn id="36" idx="0"/>
            <a:endCxn id="59" idx="2"/>
          </p:cNvCxnSpPr>
          <p:nvPr/>
        </p:nvCxnSpPr>
        <p:spPr>
          <a:xfrm flipH="1" flipV="1">
            <a:off x="5032986" y="3535050"/>
            <a:ext cx="244209" cy="64189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3" name="文字方塊 132">
            <a:extLst>
              <a:ext uri="{FF2B5EF4-FFF2-40B4-BE49-F238E27FC236}">
                <a16:creationId xmlns:a16="http://schemas.microsoft.com/office/drawing/2014/main" id="{ABAB535B-4742-EA48-4DD2-89CBF2AADAF0}"/>
              </a:ext>
            </a:extLst>
          </p:cNvPr>
          <p:cNvSpPr txBox="1"/>
          <p:nvPr/>
        </p:nvSpPr>
        <p:spPr>
          <a:xfrm>
            <a:off x="9419019" y="6242737"/>
            <a:ext cx="522223" cy="461665"/>
          </a:xfrm>
          <a:prstGeom prst="rect">
            <a:avLst/>
          </a:prstGeom>
          <a:noFill/>
        </p:spPr>
        <p:txBody>
          <a:bodyPr wrap="square" rtlCol="0">
            <a:spAutoFit/>
          </a:bodyPr>
          <a:lstStyle/>
          <a:p>
            <a:pPr algn="ctr"/>
            <a:r>
              <a:rPr kumimoji="1" lang="en-US" altLang="zh-TW" sz="2400" dirty="0"/>
              <a:t>e</a:t>
            </a:r>
            <a:r>
              <a:rPr kumimoji="1" lang="en-US" altLang="zh-TW" sz="2400" baseline="-25000" dirty="0"/>
              <a:t>4</a:t>
            </a:r>
            <a:endParaRPr kumimoji="1" lang="zh-TW" altLang="en-US" sz="2400" baseline="-25000" dirty="0"/>
          </a:p>
        </p:txBody>
      </p:sp>
      <p:cxnSp>
        <p:nvCxnSpPr>
          <p:cNvPr id="137" name="直線箭頭接點 136">
            <a:extLst>
              <a:ext uri="{FF2B5EF4-FFF2-40B4-BE49-F238E27FC236}">
                <a16:creationId xmlns:a16="http://schemas.microsoft.com/office/drawing/2014/main" id="{2E3018A6-510B-611D-90DA-F8E9B08A4AA2}"/>
              </a:ext>
            </a:extLst>
          </p:cNvPr>
          <p:cNvCxnSpPr>
            <a:cxnSpLocks/>
            <a:stCxn id="22" idx="0"/>
            <a:endCxn id="14" idx="2"/>
          </p:cNvCxnSpPr>
          <p:nvPr/>
        </p:nvCxnSpPr>
        <p:spPr>
          <a:xfrm flipH="1" flipV="1">
            <a:off x="7826123" y="5201582"/>
            <a:ext cx="537" cy="104115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1" name="文字方塊 140">
            <a:extLst>
              <a:ext uri="{FF2B5EF4-FFF2-40B4-BE49-F238E27FC236}">
                <a16:creationId xmlns:a16="http://schemas.microsoft.com/office/drawing/2014/main" id="{FD99A321-3588-8E8B-97B7-3241034F1EB4}"/>
              </a:ext>
            </a:extLst>
          </p:cNvPr>
          <p:cNvSpPr txBox="1"/>
          <p:nvPr/>
        </p:nvSpPr>
        <p:spPr>
          <a:xfrm>
            <a:off x="5704848" y="6242735"/>
            <a:ext cx="522223" cy="461665"/>
          </a:xfrm>
          <a:prstGeom prst="rect">
            <a:avLst/>
          </a:prstGeom>
          <a:noFill/>
        </p:spPr>
        <p:txBody>
          <a:bodyPr wrap="square" rtlCol="0">
            <a:spAutoFit/>
          </a:bodyPr>
          <a:lstStyle/>
          <a:p>
            <a:pPr algn="ctr"/>
            <a:r>
              <a:rPr kumimoji="1" lang="en-US" altLang="zh-TW" sz="2400" dirty="0"/>
              <a:t>e</a:t>
            </a:r>
            <a:r>
              <a:rPr kumimoji="1" lang="en-US" altLang="zh-TW" sz="2400" baseline="-25000" dirty="0"/>
              <a:t>2</a:t>
            </a:r>
            <a:endParaRPr kumimoji="1" lang="zh-TW" altLang="en-US" sz="2400" baseline="-25000" dirty="0"/>
          </a:p>
        </p:txBody>
      </p:sp>
      <p:cxnSp>
        <p:nvCxnSpPr>
          <p:cNvPr id="143" name="直線箭頭接點 142">
            <a:extLst>
              <a:ext uri="{FF2B5EF4-FFF2-40B4-BE49-F238E27FC236}">
                <a16:creationId xmlns:a16="http://schemas.microsoft.com/office/drawing/2014/main" id="{19E99C0D-9A54-7DE0-0569-8C15E3D00E07}"/>
              </a:ext>
            </a:extLst>
          </p:cNvPr>
          <p:cNvCxnSpPr>
            <a:cxnSpLocks/>
            <a:stCxn id="141" idx="0"/>
            <a:endCxn id="13" idx="2"/>
          </p:cNvCxnSpPr>
          <p:nvPr/>
        </p:nvCxnSpPr>
        <p:spPr>
          <a:xfrm flipV="1">
            <a:off x="5965960" y="5201582"/>
            <a:ext cx="6155" cy="104115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6" name="文字方塊 145">
            <a:extLst>
              <a:ext uri="{FF2B5EF4-FFF2-40B4-BE49-F238E27FC236}">
                <a16:creationId xmlns:a16="http://schemas.microsoft.com/office/drawing/2014/main" id="{82370B2B-FDBC-5421-5D71-5D963C0B3B35}"/>
              </a:ext>
            </a:extLst>
          </p:cNvPr>
          <p:cNvSpPr txBox="1"/>
          <p:nvPr/>
        </p:nvSpPr>
        <p:spPr>
          <a:xfrm>
            <a:off x="3856995" y="6242734"/>
            <a:ext cx="522223" cy="461665"/>
          </a:xfrm>
          <a:prstGeom prst="rect">
            <a:avLst/>
          </a:prstGeom>
          <a:noFill/>
        </p:spPr>
        <p:txBody>
          <a:bodyPr wrap="square" rtlCol="0">
            <a:spAutoFit/>
          </a:bodyPr>
          <a:lstStyle/>
          <a:p>
            <a:pPr algn="ctr"/>
            <a:r>
              <a:rPr kumimoji="1" lang="en-US" altLang="zh-TW" sz="2400" dirty="0"/>
              <a:t>e</a:t>
            </a:r>
            <a:r>
              <a:rPr kumimoji="1" lang="en-US" altLang="zh-TW" sz="2400" baseline="-25000" dirty="0"/>
              <a:t>1</a:t>
            </a:r>
            <a:endParaRPr kumimoji="1" lang="zh-TW" altLang="en-US" sz="2400" baseline="-25000" dirty="0"/>
          </a:p>
        </p:txBody>
      </p:sp>
      <p:cxnSp>
        <p:nvCxnSpPr>
          <p:cNvPr id="148" name="直線箭頭接點 147">
            <a:extLst>
              <a:ext uri="{FF2B5EF4-FFF2-40B4-BE49-F238E27FC236}">
                <a16:creationId xmlns:a16="http://schemas.microsoft.com/office/drawing/2014/main" id="{75DB8569-F1F3-0BD8-D2E3-4313ACBE5C38}"/>
              </a:ext>
            </a:extLst>
          </p:cNvPr>
          <p:cNvCxnSpPr>
            <a:cxnSpLocks/>
            <a:stCxn id="146" idx="0"/>
            <a:endCxn id="12" idx="2"/>
          </p:cNvCxnSpPr>
          <p:nvPr/>
        </p:nvCxnSpPr>
        <p:spPr>
          <a:xfrm flipV="1">
            <a:off x="4118107" y="5201582"/>
            <a:ext cx="0" cy="104115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8" name="文字方塊 157">
                <a:extLst>
                  <a:ext uri="{FF2B5EF4-FFF2-40B4-BE49-F238E27FC236}">
                    <a16:creationId xmlns:a16="http://schemas.microsoft.com/office/drawing/2014/main" id="{8399FD9B-C00B-A032-7875-F1844940496A}"/>
                  </a:ext>
                </a:extLst>
              </p:cNvPr>
              <p:cNvSpPr txBox="1"/>
              <p:nvPr/>
            </p:nvSpPr>
            <p:spPr>
              <a:xfrm>
                <a:off x="6429674" y="1640166"/>
                <a:ext cx="522223" cy="3719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zh-TW" altLang="zh-TW" sz="1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h</m:t>
                          </m:r>
                        </m:e>
                        <m:sub>
                          <m:r>
                            <a:rPr lang="en-US" altLang="zh-TW" sz="1800" b="0" i="1" kern="100" smtClean="0">
                              <a:effectLst/>
                              <a:latin typeface="Cambria Math" panose="02040503050406030204" pitchFamily="18" charset="0"/>
                              <a:ea typeface="新細明體" panose="02020500000000000000" pitchFamily="18" charset="-120"/>
                              <a:cs typeface="Times New Roman" panose="02020603050405020304" pitchFamily="18" charset="0"/>
                            </a:rPr>
                            <m:t>3</m:t>
                          </m:r>
                        </m:sub>
                        <m:sup>
                          <m:r>
                            <a:rPr lang="en-US" altLang="zh-TW" sz="1800" b="0" i="1" kern="100" smtClean="0">
                              <a:effectLst/>
                              <a:latin typeface="Cambria Math" panose="02040503050406030204" pitchFamily="18" charset="0"/>
                              <a:ea typeface="新細明體" panose="02020500000000000000" pitchFamily="18" charset="-120"/>
                              <a:cs typeface="Times New Roman" panose="02020603050405020304" pitchFamily="18" charset="0"/>
                            </a:rPr>
                            <m:t>2</m:t>
                          </m:r>
                        </m:sup>
                      </m:sSubSup>
                    </m:oMath>
                  </m:oMathPara>
                </a14:m>
                <a:endPar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158" name="文字方塊 157">
                <a:extLst>
                  <a:ext uri="{FF2B5EF4-FFF2-40B4-BE49-F238E27FC236}">
                    <a16:creationId xmlns:a16="http://schemas.microsoft.com/office/drawing/2014/main" id="{8399FD9B-C00B-A032-7875-F1844940496A}"/>
                  </a:ext>
                </a:extLst>
              </p:cNvPr>
              <p:cNvSpPr txBox="1">
                <a:spLocks noRot="1" noChangeAspect="1" noMove="1" noResize="1" noEditPoints="1" noAdjustHandles="1" noChangeArrowheads="1" noChangeShapeType="1" noTextEdit="1"/>
              </p:cNvSpPr>
              <p:nvPr/>
            </p:nvSpPr>
            <p:spPr>
              <a:xfrm>
                <a:off x="6429674" y="1640166"/>
                <a:ext cx="522223" cy="371961"/>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9" name="文字方塊 158">
                <a:extLst>
                  <a:ext uri="{FF2B5EF4-FFF2-40B4-BE49-F238E27FC236}">
                    <a16:creationId xmlns:a16="http://schemas.microsoft.com/office/drawing/2014/main" id="{8A3AFB9E-99F5-9768-3435-28BBAEE41301}"/>
                  </a:ext>
                </a:extLst>
              </p:cNvPr>
              <p:cNvSpPr txBox="1"/>
              <p:nvPr/>
            </p:nvSpPr>
            <p:spPr>
              <a:xfrm>
                <a:off x="8215311" y="1640166"/>
                <a:ext cx="522223" cy="3719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zh-TW" altLang="zh-TW" sz="1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h</m:t>
                          </m:r>
                        </m:e>
                        <m:sub>
                          <m:r>
                            <a:rPr lang="en-US" altLang="zh-TW" sz="1800" b="0" i="1" kern="100" smtClean="0">
                              <a:effectLst/>
                              <a:latin typeface="Cambria Math" panose="02040503050406030204" pitchFamily="18" charset="0"/>
                              <a:ea typeface="新細明體" panose="02020500000000000000" pitchFamily="18" charset="-120"/>
                              <a:cs typeface="Times New Roman" panose="02020603050405020304" pitchFamily="18" charset="0"/>
                            </a:rPr>
                            <m:t>4</m:t>
                          </m:r>
                        </m:sub>
                        <m:sup>
                          <m:r>
                            <a:rPr lang="en-US" altLang="zh-TW" sz="1800" b="0" i="1" kern="100" smtClean="0">
                              <a:effectLst/>
                              <a:latin typeface="Cambria Math" panose="02040503050406030204" pitchFamily="18" charset="0"/>
                              <a:ea typeface="新細明體" panose="02020500000000000000" pitchFamily="18" charset="-120"/>
                              <a:cs typeface="Times New Roman" panose="02020603050405020304" pitchFamily="18" charset="0"/>
                            </a:rPr>
                            <m:t>2</m:t>
                          </m:r>
                        </m:sup>
                      </m:sSubSup>
                    </m:oMath>
                  </m:oMathPara>
                </a14:m>
                <a:endPar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159" name="文字方塊 158">
                <a:extLst>
                  <a:ext uri="{FF2B5EF4-FFF2-40B4-BE49-F238E27FC236}">
                    <a16:creationId xmlns:a16="http://schemas.microsoft.com/office/drawing/2014/main" id="{8A3AFB9E-99F5-9768-3435-28BBAEE41301}"/>
                  </a:ext>
                </a:extLst>
              </p:cNvPr>
              <p:cNvSpPr txBox="1">
                <a:spLocks noRot="1" noChangeAspect="1" noMove="1" noResize="1" noEditPoints="1" noAdjustHandles="1" noChangeArrowheads="1" noChangeShapeType="1" noTextEdit="1"/>
              </p:cNvSpPr>
              <p:nvPr/>
            </p:nvSpPr>
            <p:spPr>
              <a:xfrm>
                <a:off x="8215311" y="1640166"/>
                <a:ext cx="522223" cy="371961"/>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0" name="文字方塊 159">
                <a:extLst>
                  <a:ext uri="{FF2B5EF4-FFF2-40B4-BE49-F238E27FC236}">
                    <a16:creationId xmlns:a16="http://schemas.microsoft.com/office/drawing/2014/main" id="{4C347B50-2A15-8E73-26F3-7A67104174F8}"/>
                  </a:ext>
                </a:extLst>
              </p:cNvPr>
              <p:cNvSpPr txBox="1"/>
              <p:nvPr/>
            </p:nvSpPr>
            <p:spPr>
              <a:xfrm>
                <a:off x="4618774" y="1640166"/>
                <a:ext cx="522223" cy="3719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zh-TW" altLang="zh-TW" sz="1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h</m:t>
                          </m:r>
                        </m:e>
                        <m:sub>
                          <m:r>
                            <a:rPr lang="en-US" altLang="zh-TW" sz="1800" b="0" i="1" kern="100" smtClean="0">
                              <a:effectLst/>
                              <a:latin typeface="Cambria Math" panose="02040503050406030204" pitchFamily="18" charset="0"/>
                              <a:ea typeface="新細明體" panose="02020500000000000000" pitchFamily="18" charset="-120"/>
                              <a:cs typeface="Times New Roman" panose="02020603050405020304" pitchFamily="18" charset="0"/>
                            </a:rPr>
                            <m:t>2</m:t>
                          </m:r>
                        </m:sub>
                        <m:sup>
                          <m:r>
                            <a:rPr lang="en-US" altLang="zh-TW" sz="1800" b="0" i="1" kern="100" smtClean="0">
                              <a:effectLst/>
                              <a:latin typeface="Cambria Math" panose="02040503050406030204" pitchFamily="18" charset="0"/>
                              <a:ea typeface="新細明體" panose="02020500000000000000" pitchFamily="18" charset="-120"/>
                              <a:cs typeface="Times New Roman" panose="02020603050405020304" pitchFamily="18" charset="0"/>
                            </a:rPr>
                            <m:t>2</m:t>
                          </m:r>
                        </m:sup>
                      </m:sSubSup>
                    </m:oMath>
                  </m:oMathPara>
                </a14:m>
                <a:endPar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160" name="文字方塊 159">
                <a:extLst>
                  <a:ext uri="{FF2B5EF4-FFF2-40B4-BE49-F238E27FC236}">
                    <a16:creationId xmlns:a16="http://schemas.microsoft.com/office/drawing/2014/main" id="{4C347B50-2A15-8E73-26F3-7A67104174F8}"/>
                  </a:ext>
                </a:extLst>
              </p:cNvPr>
              <p:cNvSpPr txBox="1">
                <a:spLocks noRot="1" noChangeAspect="1" noMove="1" noResize="1" noEditPoints="1" noAdjustHandles="1" noChangeArrowheads="1" noChangeShapeType="1" noTextEdit="1"/>
              </p:cNvSpPr>
              <p:nvPr/>
            </p:nvSpPr>
            <p:spPr>
              <a:xfrm>
                <a:off x="4618774" y="1640166"/>
                <a:ext cx="522223" cy="371961"/>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1" name="文字方塊 160">
                <a:extLst>
                  <a:ext uri="{FF2B5EF4-FFF2-40B4-BE49-F238E27FC236}">
                    <a16:creationId xmlns:a16="http://schemas.microsoft.com/office/drawing/2014/main" id="{3E20D1F0-E2B1-2F3D-D889-0673FBE8250B}"/>
                  </a:ext>
                </a:extLst>
              </p:cNvPr>
              <p:cNvSpPr txBox="1"/>
              <p:nvPr/>
            </p:nvSpPr>
            <p:spPr>
              <a:xfrm>
                <a:off x="2809658" y="1640166"/>
                <a:ext cx="522223" cy="3719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zh-TW" altLang="zh-TW" sz="1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h</m:t>
                          </m:r>
                        </m:e>
                        <m:sub>
                          <m:r>
                            <a:rPr lang="en-US" altLang="zh-TW" sz="1800" b="0" i="1" kern="100" smtClean="0">
                              <a:effectLst/>
                              <a:latin typeface="Cambria Math" panose="02040503050406030204" pitchFamily="18" charset="0"/>
                              <a:ea typeface="新細明體" panose="02020500000000000000" pitchFamily="18" charset="-120"/>
                              <a:cs typeface="Times New Roman" panose="02020603050405020304" pitchFamily="18" charset="0"/>
                            </a:rPr>
                            <m:t>1</m:t>
                          </m:r>
                        </m:sub>
                        <m:sup>
                          <m:r>
                            <a:rPr lang="en-US" altLang="zh-TW" sz="1800" b="0" i="1" kern="100" smtClean="0">
                              <a:effectLst/>
                              <a:latin typeface="Cambria Math" panose="02040503050406030204" pitchFamily="18" charset="0"/>
                              <a:ea typeface="新細明體" panose="02020500000000000000" pitchFamily="18" charset="-120"/>
                              <a:cs typeface="Times New Roman" panose="02020603050405020304" pitchFamily="18" charset="0"/>
                            </a:rPr>
                            <m:t>2</m:t>
                          </m:r>
                        </m:sup>
                      </m:sSubSup>
                    </m:oMath>
                  </m:oMathPara>
                </a14:m>
                <a:endPar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161" name="文字方塊 160">
                <a:extLst>
                  <a:ext uri="{FF2B5EF4-FFF2-40B4-BE49-F238E27FC236}">
                    <a16:creationId xmlns:a16="http://schemas.microsoft.com/office/drawing/2014/main" id="{3E20D1F0-E2B1-2F3D-D889-0673FBE8250B}"/>
                  </a:ext>
                </a:extLst>
              </p:cNvPr>
              <p:cNvSpPr txBox="1">
                <a:spLocks noRot="1" noChangeAspect="1" noMove="1" noResize="1" noEditPoints="1" noAdjustHandles="1" noChangeArrowheads="1" noChangeShapeType="1" noTextEdit="1"/>
              </p:cNvSpPr>
              <p:nvPr/>
            </p:nvSpPr>
            <p:spPr>
              <a:xfrm>
                <a:off x="2809658" y="1640166"/>
                <a:ext cx="522223" cy="371961"/>
              </a:xfrm>
              <a:prstGeom prst="rect">
                <a:avLst/>
              </a:prstGeom>
              <a:blipFill>
                <a:blip r:embed="rId9"/>
                <a:stretch>
                  <a:fillRect/>
                </a:stretch>
              </a:blipFill>
            </p:spPr>
            <p:txBody>
              <a:bodyPr/>
              <a:lstStyle/>
              <a:p>
                <a:r>
                  <a:rPr lang="zh-TW" altLang="en-US">
                    <a:noFill/>
                  </a:rPr>
                  <a:t> </a:t>
                </a:r>
              </a:p>
            </p:txBody>
          </p:sp>
        </mc:Fallback>
      </mc:AlternateContent>
      <p:cxnSp>
        <p:nvCxnSpPr>
          <p:cNvPr id="19" name="肘形接點 18">
            <a:extLst>
              <a:ext uri="{FF2B5EF4-FFF2-40B4-BE49-F238E27FC236}">
                <a16:creationId xmlns:a16="http://schemas.microsoft.com/office/drawing/2014/main" id="{33EA812F-626C-D2D7-9147-162BDB87E767}"/>
              </a:ext>
            </a:extLst>
          </p:cNvPr>
          <p:cNvCxnSpPr>
            <a:stCxn id="50" idx="1"/>
            <a:endCxn id="161" idx="1"/>
          </p:cNvCxnSpPr>
          <p:nvPr/>
        </p:nvCxnSpPr>
        <p:spPr>
          <a:xfrm rot="10800000">
            <a:off x="2809658" y="1826148"/>
            <a:ext cx="12700" cy="2424167"/>
          </a:xfrm>
          <a:prstGeom prst="bentConnector3">
            <a:avLst>
              <a:gd name="adj1" fmla="val 10267197"/>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文字方塊 20">
            <a:extLst>
              <a:ext uri="{FF2B5EF4-FFF2-40B4-BE49-F238E27FC236}">
                <a16:creationId xmlns:a16="http://schemas.microsoft.com/office/drawing/2014/main" id="{3247349D-73C7-CD0A-1D1B-67810AD5F78F}"/>
              </a:ext>
            </a:extLst>
          </p:cNvPr>
          <p:cNvSpPr txBox="1"/>
          <p:nvPr/>
        </p:nvSpPr>
        <p:spPr>
          <a:xfrm>
            <a:off x="196444" y="2576566"/>
            <a:ext cx="1367347" cy="923330"/>
          </a:xfrm>
          <a:prstGeom prst="rect">
            <a:avLst/>
          </a:prstGeom>
          <a:noFill/>
        </p:spPr>
        <p:txBody>
          <a:bodyPr wrap="square" rtlCol="0">
            <a:spAutoFit/>
          </a:bodyPr>
          <a:lstStyle/>
          <a:p>
            <a:pPr algn="ctr"/>
            <a:r>
              <a:rPr kumimoji="1" lang="en-US" altLang="zh-TW" dirty="0">
                <a:solidFill>
                  <a:srgbClr val="FF0000"/>
                </a:solidFill>
              </a:rPr>
              <a:t>Add</a:t>
            </a:r>
          </a:p>
          <a:p>
            <a:pPr algn="ctr"/>
            <a:r>
              <a:rPr kumimoji="1" lang="en-US" altLang="zh-TW" dirty="0">
                <a:solidFill>
                  <a:srgbClr val="FF0000"/>
                </a:solidFill>
              </a:rPr>
              <a:t>(residual connection)</a:t>
            </a:r>
            <a:endParaRPr kumimoji="1" lang="zh-TW" altLang="en-US" dirty="0">
              <a:solidFill>
                <a:srgbClr val="FF0000"/>
              </a:solidFill>
            </a:endParaRPr>
          </a:p>
        </p:txBody>
      </p:sp>
      <p:cxnSp>
        <p:nvCxnSpPr>
          <p:cNvPr id="24" name="肘形接點 23">
            <a:extLst>
              <a:ext uri="{FF2B5EF4-FFF2-40B4-BE49-F238E27FC236}">
                <a16:creationId xmlns:a16="http://schemas.microsoft.com/office/drawing/2014/main" id="{07D66C03-39E3-39F7-3BC2-94003D3DE9D4}"/>
              </a:ext>
            </a:extLst>
          </p:cNvPr>
          <p:cNvCxnSpPr>
            <a:cxnSpLocks/>
            <a:stCxn id="51" idx="1"/>
            <a:endCxn id="160" idx="1"/>
          </p:cNvCxnSpPr>
          <p:nvPr/>
        </p:nvCxnSpPr>
        <p:spPr>
          <a:xfrm rot="10800000">
            <a:off x="4618774" y="1826148"/>
            <a:ext cx="12700" cy="2424167"/>
          </a:xfrm>
          <a:prstGeom prst="bentConnector3">
            <a:avLst>
              <a:gd name="adj1" fmla="val 180000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4" name="肘形接點 53">
            <a:extLst>
              <a:ext uri="{FF2B5EF4-FFF2-40B4-BE49-F238E27FC236}">
                <a16:creationId xmlns:a16="http://schemas.microsoft.com/office/drawing/2014/main" id="{2939DFDB-04DB-753E-0B08-AECE3D8D7080}"/>
              </a:ext>
            </a:extLst>
          </p:cNvPr>
          <p:cNvCxnSpPr>
            <a:cxnSpLocks/>
            <a:stCxn id="52" idx="1"/>
            <a:endCxn id="158" idx="1"/>
          </p:cNvCxnSpPr>
          <p:nvPr/>
        </p:nvCxnSpPr>
        <p:spPr>
          <a:xfrm rot="10800000">
            <a:off x="6429674" y="1826148"/>
            <a:ext cx="12700" cy="2424167"/>
          </a:xfrm>
          <a:prstGeom prst="bentConnector3">
            <a:avLst>
              <a:gd name="adj1" fmla="val 180000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2" name="肘形接點 71">
            <a:extLst>
              <a:ext uri="{FF2B5EF4-FFF2-40B4-BE49-F238E27FC236}">
                <a16:creationId xmlns:a16="http://schemas.microsoft.com/office/drawing/2014/main" id="{3E1E1914-7889-D925-F9A0-D0A694A8300E}"/>
              </a:ext>
            </a:extLst>
          </p:cNvPr>
          <p:cNvCxnSpPr>
            <a:cxnSpLocks/>
            <a:stCxn id="53" idx="1"/>
            <a:endCxn id="159" idx="1"/>
          </p:cNvCxnSpPr>
          <p:nvPr/>
        </p:nvCxnSpPr>
        <p:spPr>
          <a:xfrm rot="10800000">
            <a:off x="8215311" y="1826148"/>
            <a:ext cx="12700" cy="2424167"/>
          </a:xfrm>
          <a:prstGeom prst="bentConnector3">
            <a:avLst>
              <a:gd name="adj1" fmla="val 180000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6" name="文字方塊 75">
            <a:extLst>
              <a:ext uri="{FF2B5EF4-FFF2-40B4-BE49-F238E27FC236}">
                <a16:creationId xmlns:a16="http://schemas.microsoft.com/office/drawing/2014/main" id="{40D0714C-F30C-6895-3272-48E9EB610870}"/>
              </a:ext>
            </a:extLst>
          </p:cNvPr>
          <p:cNvSpPr txBox="1"/>
          <p:nvPr/>
        </p:nvSpPr>
        <p:spPr>
          <a:xfrm>
            <a:off x="6583679" y="675243"/>
            <a:ext cx="5133191" cy="646331"/>
          </a:xfrm>
          <a:prstGeom prst="rect">
            <a:avLst/>
          </a:prstGeom>
          <a:noFill/>
        </p:spPr>
        <p:txBody>
          <a:bodyPr wrap="square" rtlCol="0">
            <a:spAutoFit/>
          </a:bodyPr>
          <a:lstStyle/>
          <a:p>
            <a:pPr marL="285750" indent="-285750">
              <a:buFont typeface="Arial" panose="020B0604020202020204" pitchFamily="34" charset="0"/>
              <a:buChar char="•"/>
            </a:pPr>
            <a:r>
              <a:rPr kumimoji="1" lang="en-US" altLang="zh-TW" dirty="0" err="1">
                <a:ea typeface="Microsoft JhengHei" panose="020B0604030504040204" pitchFamily="34" charset="-120"/>
              </a:rPr>
              <a:t>ELMo</a:t>
            </a:r>
            <a:r>
              <a:rPr kumimoji="1" lang="en-US" altLang="zh-TW" dirty="0">
                <a:ea typeface="Microsoft JhengHei" panose="020B0604030504040204" pitchFamily="34" charset="-120"/>
              </a:rPr>
              <a:t> </a:t>
            </a:r>
            <a:r>
              <a:rPr kumimoji="1" lang="zh-TW" altLang="en-US" dirty="0">
                <a:ea typeface="Microsoft JhengHei" panose="020B0604030504040204" pitchFamily="34" charset="-120"/>
              </a:rPr>
              <a:t>是一個</a:t>
            </a:r>
            <a:r>
              <a:rPr kumimoji="1" lang="zh-TW" altLang="en-US" dirty="0">
                <a:solidFill>
                  <a:srgbClr val="FF0000"/>
                </a:solidFill>
                <a:ea typeface="Microsoft JhengHei" panose="020B0604030504040204" pitchFamily="34" charset="-120"/>
              </a:rPr>
              <a:t>兩層</a:t>
            </a:r>
            <a:r>
              <a:rPr kumimoji="1" lang="zh-TW" altLang="en-US" dirty="0">
                <a:ea typeface="Microsoft JhengHei" panose="020B0604030504040204" pitchFamily="34" charset="-120"/>
              </a:rPr>
              <a:t>的</a:t>
            </a:r>
            <a:r>
              <a:rPr kumimoji="1" lang="en-US" altLang="zh-TW" dirty="0">
                <a:ea typeface="Microsoft JhengHei" panose="020B0604030504040204" pitchFamily="34" charset="-120"/>
              </a:rPr>
              <a:t>Bi-LSTM</a:t>
            </a:r>
          </a:p>
          <a:p>
            <a:pPr marL="285750" indent="-285750">
              <a:buFont typeface="Arial" panose="020B0604020202020204" pitchFamily="34" charset="0"/>
              <a:buChar char="•"/>
            </a:pPr>
            <a:r>
              <a:rPr kumimoji="1" lang="zh-TW" altLang="en-US" dirty="0">
                <a:ea typeface="Microsoft JhengHei" panose="020B0604030504040204" pitchFamily="34" charset="-120"/>
              </a:rPr>
              <a:t>在第</a:t>
            </a:r>
            <a:r>
              <a:rPr kumimoji="1" lang="en-US" altLang="zh-TW" dirty="0">
                <a:ea typeface="Microsoft JhengHei" panose="020B0604030504040204" pitchFamily="34" charset="-120"/>
              </a:rPr>
              <a:t>1</a:t>
            </a:r>
            <a:r>
              <a:rPr kumimoji="1" lang="zh-TW" altLang="en-US" dirty="0">
                <a:ea typeface="Microsoft JhengHei" panose="020B0604030504040204" pitchFamily="34" charset="-120"/>
              </a:rPr>
              <a:t>層和第</a:t>
            </a:r>
            <a:r>
              <a:rPr kumimoji="1" lang="en-US" altLang="zh-TW" dirty="0">
                <a:ea typeface="Microsoft JhengHei" panose="020B0604030504040204" pitchFamily="34" charset="-120"/>
              </a:rPr>
              <a:t>2</a:t>
            </a:r>
            <a:r>
              <a:rPr kumimoji="1" lang="zh-TW" altLang="en-US" dirty="0">
                <a:ea typeface="Microsoft JhengHei" panose="020B0604030504040204" pitchFamily="34" charset="-120"/>
              </a:rPr>
              <a:t>層之間有</a:t>
            </a:r>
            <a:r>
              <a:rPr kumimoji="1" lang="en" altLang="zh-TW" dirty="0">
                <a:ea typeface="Microsoft JhengHei" panose="020B0604030504040204" pitchFamily="34" charset="-120"/>
              </a:rPr>
              <a:t>: residual connections</a:t>
            </a:r>
            <a:endParaRPr kumimoji="1" lang="zh-TW" altLang="en-US" dirty="0">
              <a:ea typeface="Microsoft JhengHei" panose="020B0604030504040204" pitchFamily="34" charset="-120"/>
            </a:endParaRPr>
          </a:p>
        </p:txBody>
      </p:sp>
    </p:spTree>
    <p:extLst>
      <p:ext uri="{BB962C8B-B14F-4D97-AF65-F5344CB8AC3E}">
        <p14:creationId xmlns:p14="http://schemas.microsoft.com/office/powerpoint/2010/main" val="3203235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B2E1B86-445E-CF34-C352-A014EE594B30}"/>
              </a:ext>
            </a:extLst>
          </p:cNvPr>
          <p:cNvSpPr>
            <a:spLocks noGrp="1"/>
          </p:cNvSpPr>
          <p:nvPr>
            <p:ph type="title"/>
          </p:nvPr>
        </p:nvSpPr>
        <p:spPr/>
        <p:txBody>
          <a:bodyPr/>
          <a:lstStyle/>
          <a:p>
            <a:r>
              <a:rPr kumimoji="1" lang="en-US" altLang="zh-TW" dirty="0" err="1"/>
              <a:t>ELMo</a:t>
            </a:r>
            <a:r>
              <a:rPr kumimoji="1" lang="en-US" altLang="zh-TW" dirty="0"/>
              <a:t> (2)</a:t>
            </a:r>
            <a:endParaRPr kumimoji="1" lang="zh-TW" altLang="en-US" dirty="0"/>
          </a:p>
        </p:txBody>
      </p:sp>
      <p:sp>
        <p:nvSpPr>
          <p:cNvPr id="4" name="投影片編號版面配置區 3">
            <a:extLst>
              <a:ext uri="{FF2B5EF4-FFF2-40B4-BE49-F238E27FC236}">
                <a16:creationId xmlns:a16="http://schemas.microsoft.com/office/drawing/2014/main" id="{2F294403-D4C2-722C-C5C5-D19E37E21BE4}"/>
              </a:ext>
            </a:extLst>
          </p:cNvPr>
          <p:cNvSpPr>
            <a:spLocks noGrp="1"/>
          </p:cNvSpPr>
          <p:nvPr>
            <p:ph type="sldNum" sz="quarter" idx="12"/>
          </p:nvPr>
        </p:nvSpPr>
        <p:spPr/>
        <p:txBody>
          <a:bodyPr/>
          <a:lstStyle/>
          <a:p>
            <a:fld id="{6113E31D-E2AB-40D1-8B51-AFA5AFEF393A}" type="slidenum">
              <a:rPr lang="en-US" smtClean="0"/>
              <a:pPr/>
              <a:t>25</a:t>
            </a:fld>
            <a:endParaRPr lang="en-US" dirty="0"/>
          </a:p>
        </p:txBody>
      </p:sp>
      <p:sp>
        <p:nvSpPr>
          <p:cNvPr id="5" name="矩形 4">
            <a:extLst>
              <a:ext uri="{FF2B5EF4-FFF2-40B4-BE49-F238E27FC236}">
                <a16:creationId xmlns:a16="http://schemas.microsoft.com/office/drawing/2014/main" id="{9E1AF591-D968-5941-A2D2-AEB2FD9F4135}"/>
              </a:ext>
            </a:extLst>
          </p:cNvPr>
          <p:cNvSpPr/>
          <p:nvPr/>
        </p:nvSpPr>
        <p:spPr>
          <a:xfrm>
            <a:off x="2627565" y="5568393"/>
            <a:ext cx="1072890" cy="384600"/>
          </a:xfrm>
          <a:prstGeom prst="rect">
            <a:avLst/>
          </a:prstGeom>
          <a:solidFill>
            <a:srgbClr val="FDE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r>
              <a:rPr kumimoji="1" lang="en-US" altLang="zh-TW" sz="2400" baseline="30000" dirty="0">
                <a:solidFill>
                  <a:schemeClr val="tx1"/>
                </a:solidFill>
              </a:rPr>
              <a:t>1</a:t>
            </a:r>
            <a:endParaRPr kumimoji="1" lang="zh-TW" altLang="en-US" sz="2400" baseline="30000" dirty="0">
              <a:solidFill>
                <a:schemeClr val="tx1"/>
              </a:solidFill>
            </a:endParaRPr>
          </a:p>
        </p:txBody>
      </p:sp>
      <p:cxnSp>
        <p:nvCxnSpPr>
          <p:cNvPr id="9" name="直線箭頭接點 8">
            <a:extLst>
              <a:ext uri="{FF2B5EF4-FFF2-40B4-BE49-F238E27FC236}">
                <a16:creationId xmlns:a16="http://schemas.microsoft.com/office/drawing/2014/main" id="{18B84B76-142A-5023-5E6C-4D41532F1172}"/>
              </a:ext>
            </a:extLst>
          </p:cNvPr>
          <p:cNvCxnSpPr>
            <a:cxnSpLocks/>
            <a:stCxn id="5" idx="3"/>
          </p:cNvCxnSpPr>
          <p:nvPr/>
        </p:nvCxnSpPr>
        <p:spPr>
          <a:xfrm>
            <a:off x="3700456" y="5760693"/>
            <a:ext cx="80224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BDEA15D8-6190-8063-F631-4048A98A29D8}"/>
              </a:ext>
            </a:extLst>
          </p:cNvPr>
          <p:cNvSpPr/>
          <p:nvPr/>
        </p:nvSpPr>
        <p:spPr>
          <a:xfrm>
            <a:off x="3581662" y="4816982"/>
            <a:ext cx="1072890" cy="384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r>
              <a:rPr kumimoji="1" lang="en-US" altLang="zh-TW" sz="2400" baseline="30000" dirty="0">
                <a:solidFill>
                  <a:schemeClr val="tx1"/>
                </a:solidFill>
              </a:rPr>
              <a:t>1</a:t>
            </a:r>
            <a:endParaRPr kumimoji="1" lang="zh-TW" altLang="en-US" sz="2400" baseline="30000" dirty="0">
              <a:solidFill>
                <a:schemeClr val="tx1"/>
              </a:solidFill>
            </a:endParaRPr>
          </a:p>
        </p:txBody>
      </p:sp>
      <p:cxnSp>
        <p:nvCxnSpPr>
          <p:cNvPr id="26" name="直線箭頭接點 25">
            <a:extLst>
              <a:ext uri="{FF2B5EF4-FFF2-40B4-BE49-F238E27FC236}">
                <a16:creationId xmlns:a16="http://schemas.microsoft.com/office/drawing/2014/main" id="{7C392453-8CA8-A14B-0436-F90C6549ED20}"/>
              </a:ext>
            </a:extLst>
          </p:cNvPr>
          <p:cNvCxnSpPr>
            <a:cxnSpLocks/>
            <a:stCxn id="146" idx="0"/>
            <a:endCxn id="5" idx="2"/>
          </p:cNvCxnSpPr>
          <p:nvPr/>
        </p:nvCxnSpPr>
        <p:spPr>
          <a:xfrm flipH="1" flipV="1">
            <a:off x="3164010" y="5952993"/>
            <a:ext cx="954097" cy="28974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矩形 32">
            <a:extLst>
              <a:ext uri="{FF2B5EF4-FFF2-40B4-BE49-F238E27FC236}">
                <a16:creationId xmlns:a16="http://schemas.microsoft.com/office/drawing/2014/main" id="{C840673F-B4C4-3862-C91A-B42BE75FC324}"/>
              </a:ext>
            </a:extLst>
          </p:cNvPr>
          <p:cNvSpPr/>
          <p:nvPr/>
        </p:nvSpPr>
        <p:spPr>
          <a:xfrm>
            <a:off x="3700456" y="4177491"/>
            <a:ext cx="391155" cy="145645"/>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400" dirty="0">
              <a:solidFill>
                <a:schemeClr val="tx1"/>
              </a:solidFill>
            </a:endParaRPr>
          </a:p>
        </p:txBody>
      </p:sp>
      <p:sp>
        <p:nvSpPr>
          <p:cNvPr id="34" name="矩形 33">
            <a:extLst>
              <a:ext uri="{FF2B5EF4-FFF2-40B4-BE49-F238E27FC236}">
                <a16:creationId xmlns:a16="http://schemas.microsoft.com/office/drawing/2014/main" id="{080D7A7A-FDCA-4E43-CBC1-EA1E8BB8A29D}"/>
              </a:ext>
            </a:extLst>
          </p:cNvPr>
          <p:cNvSpPr/>
          <p:nvPr/>
        </p:nvSpPr>
        <p:spPr>
          <a:xfrm>
            <a:off x="3309301" y="4177491"/>
            <a:ext cx="391155" cy="145645"/>
          </a:xfrm>
          <a:prstGeom prst="rect">
            <a:avLst/>
          </a:prstGeom>
          <a:solidFill>
            <a:srgbClr val="FDE7D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400" dirty="0">
              <a:solidFill>
                <a:schemeClr val="tx1"/>
              </a:solidFill>
            </a:endParaRPr>
          </a:p>
        </p:txBody>
      </p:sp>
      <p:cxnSp>
        <p:nvCxnSpPr>
          <p:cNvPr id="41" name="直線箭頭接點 40">
            <a:extLst>
              <a:ext uri="{FF2B5EF4-FFF2-40B4-BE49-F238E27FC236}">
                <a16:creationId xmlns:a16="http://schemas.microsoft.com/office/drawing/2014/main" id="{8FC1EE22-C80C-B98C-0D2D-EE199220E6DA}"/>
              </a:ext>
            </a:extLst>
          </p:cNvPr>
          <p:cNvCxnSpPr>
            <a:cxnSpLocks/>
            <a:stCxn id="5" idx="0"/>
            <a:endCxn id="34" idx="2"/>
          </p:cNvCxnSpPr>
          <p:nvPr/>
        </p:nvCxnSpPr>
        <p:spPr>
          <a:xfrm flipV="1">
            <a:off x="3164010" y="4323136"/>
            <a:ext cx="340868" cy="124525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箭頭接點 41">
            <a:extLst>
              <a:ext uri="{FF2B5EF4-FFF2-40B4-BE49-F238E27FC236}">
                <a16:creationId xmlns:a16="http://schemas.microsoft.com/office/drawing/2014/main" id="{9D3D5E2A-84B2-5808-08D5-EE69926E13C6}"/>
              </a:ext>
            </a:extLst>
          </p:cNvPr>
          <p:cNvCxnSpPr>
            <a:cxnSpLocks/>
            <a:stCxn id="12" idx="0"/>
            <a:endCxn id="33" idx="2"/>
          </p:cNvCxnSpPr>
          <p:nvPr/>
        </p:nvCxnSpPr>
        <p:spPr>
          <a:xfrm flipH="1" flipV="1">
            <a:off x="3896033" y="4323136"/>
            <a:ext cx="222074" cy="49384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文字方塊 42">
            <a:extLst>
              <a:ext uri="{FF2B5EF4-FFF2-40B4-BE49-F238E27FC236}">
                <a16:creationId xmlns:a16="http://schemas.microsoft.com/office/drawing/2014/main" id="{E1C6E501-18EE-D743-EA86-5A1493CE9315}"/>
              </a:ext>
            </a:extLst>
          </p:cNvPr>
          <p:cNvSpPr txBox="1"/>
          <p:nvPr/>
        </p:nvSpPr>
        <p:spPr>
          <a:xfrm>
            <a:off x="1121700" y="4845777"/>
            <a:ext cx="1807250" cy="369332"/>
          </a:xfrm>
          <a:prstGeom prst="rect">
            <a:avLst/>
          </a:prstGeom>
          <a:noFill/>
        </p:spPr>
        <p:txBody>
          <a:bodyPr wrap="square" rtlCol="0">
            <a:spAutoFit/>
          </a:bodyPr>
          <a:lstStyle/>
          <a:p>
            <a:pPr algn="ctr"/>
            <a:r>
              <a:rPr kumimoji="1" lang="en-US" altLang="zh-TW" b="1" dirty="0">
                <a:solidFill>
                  <a:srgbClr val="0070C0"/>
                </a:solidFill>
              </a:rPr>
              <a:t>Layer 1</a:t>
            </a:r>
            <a:endParaRPr kumimoji="1" lang="zh-TW" altLang="en-US" b="1" dirty="0">
              <a:solidFill>
                <a:srgbClr val="0070C0"/>
              </a:solidFill>
            </a:endParaRPr>
          </a:p>
        </p:txBody>
      </p:sp>
      <mc:AlternateContent xmlns:mc="http://schemas.openxmlformats.org/markup-compatibility/2006" xmlns:a14="http://schemas.microsoft.com/office/drawing/2010/main">
        <mc:Choice Requires="a14">
          <p:sp>
            <p:nvSpPr>
              <p:cNvPr id="50" name="文字方塊 49">
                <a:extLst>
                  <a:ext uri="{FF2B5EF4-FFF2-40B4-BE49-F238E27FC236}">
                    <a16:creationId xmlns:a16="http://schemas.microsoft.com/office/drawing/2014/main" id="{D312FBBF-0298-7C13-183E-E0679F7AE5D6}"/>
                  </a:ext>
                </a:extLst>
              </p:cNvPr>
              <p:cNvSpPr txBox="1"/>
              <p:nvPr/>
            </p:nvSpPr>
            <p:spPr>
              <a:xfrm>
                <a:off x="2809658" y="4064333"/>
                <a:ext cx="522223" cy="3719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zh-TW" altLang="zh-TW" sz="1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h</m:t>
                          </m:r>
                        </m:e>
                        <m:sub>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1</m:t>
                          </m:r>
                        </m:sub>
                        <m:sup>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1</m:t>
                          </m:r>
                        </m:sup>
                      </m:sSubSup>
                    </m:oMath>
                  </m:oMathPara>
                </a14:m>
                <a:endPar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50" name="文字方塊 49">
                <a:extLst>
                  <a:ext uri="{FF2B5EF4-FFF2-40B4-BE49-F238E27FC236}">
                    <a16:creationId xmlns:a16="http://schemas.microsoft.com/office/drawing/2014/main" id="{D312FBBF-0298-7C13-183E-E0679F7AE5D6}"/>
                  </a:ext>
                </a:extLst>
              </p:cNvPr>
              <p:cNvSpPr txBox="1">
                <a:spLocks noRot="1" noChangeAspect="1" noMove="1" noResize="1" noEditPoints="1" noAdjustHandles="1" noChangeArrowheads="1" noChangeShapeType="1" noTextEdit="1"/>
              </p:cNvSpPr>
              <p:nvPr/>
            </p:nvSpPr>
            <p:spPr>
              <a:xfrm>
                <a:off x="2809658" y="4064333"/>
                <a:ext cx="522223" cy="371961"/>
              </a:xfrm>
              <a:prstGeom prst="rect">
                <a:avLst/>
              </a:prstGeom>
              <a:blipFill>
                <a:blip r:embed="rId2"/>
                <a:stretch>
                  <a:fillRect/>
                </a:stretch>
              </a:blipFill>
            </p:spPr>
            <p:txBody>
              <a:bodyPr/>
              <a:lstStyle/>
              <a:p>
                <a:r>
                  <a:rPr lang="zh-TW" altLang="en-US">
                    <a:noFill/>
                  </a:rPr>
                  <a:t> </a:t>
                </a:r>
              </a:p>
            </p:txBody>
          </p:sp>
        </mc:Fallback>
      </mc:AlternateContent>
      <p:sp>
        <p:nvSpPr>
          <p:cNvPr id="58" name="矩形 57">
            <a:extLst>
              <a:ext uri="{FF2B5EF4-FFF2-40B4-BE49-F238E27FC236}">
                <a16:creationId xmlns:a16="http://schemas.microsoft.com/office/drawing/2014/main" id="{F450BAF4-6BD3-0737-E4C2-693E46BDFD79}"/>
              </a:ext>
            </a:extLst>
          </p:cNvPr>
          <p:cNvSpPr/>
          <p:nvPr/>
        </p:nvSpPr>
        <p:spPr>
          <a:xfrm>
            <a:off x="2621410" y="3150450"/>
            <a:ext cx="1072890" cy="384600"/>
          </a:xfrm>
          <a:prstGeom prst="rect">
            <a:avLst/>
          </a:prstGeom>
          <a:solidFill>
            <a:srgbClr val="FDE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r>
              <a:rPr kumimoji="1" lang="en-US" altLang="zh-TW" sz="2400" baseline="30000" dirty="0">
                <a:solidFill>
                  <a:schemeClr val="tx1"/>
                </a:solidFill>
              </a:rPr>
              <a:t>2</a:t>
            </a:r>
            <a:endParaRPr kumimoji="1" lang="zh-TW" altLang="en-US" sz="2400" baseline="30000" dirty="0">
              <a:solidFill>
                <a:schemeClr val="tx1"/>
              </a:solidFill>
            </a:endParaRPr>
          </a:p>
        </p:txBody>
      </p:sp>
      <p:cxnSp>
        <p:nvCxnSpPr>
          <p:cNvPr id="62" name="直線箭頭接點 61">
            <a:extLst>
              <a:ext uri="{FF2B5EF4-FFF2-40B4-BE49-F238E27FC236}">
                <a16:creationId xmlns:a16="http://schemas.microsoft.com/office/drawing/2014/main" id="{DE20D87D-4047-7D5F-2969-A70A2F557D8B}"/>
              </a:ext>
            </a:extLst>
          </p:cNvPr>
          <p:cNvCxnSpPr>
            <a:cxnSpLocks/>
            <a:stCxn id="58" idx="3"/>
          </p:cNvCxnSpPr>
          <p:nvPr/>
        </p:nvCxnSpPr>
        <p:spPr>
          <a:xfrm>
            <a:off x="3694301" y="3342750"/>
            <a:ext cx="80224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矩形 64">
            <a:extLst>
              <a:ext uri="{FF2B5EF4-FFF2-40B4-BE49-F238E27FC236}">
                <a16:creationId xmlns:a16="http://schemas.microsoft.com/office/drawing/2014/main" id="{322EF766-68D0-D62F-368A-D3CC3677F70A}"/>
              </a:ext>
            </a:extLst>
          </p:cNvPr>
          <p:cNvSpPr/>
          <p:nvPr/>
        </p:nvSpPr>
        <p:spPr>
          <a:xfrm>
            <a:off x="3575507" y="2399039"/>
            <a:ext cx="1072890" cy="384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r>
              <a:rPr kumimoji="1" lang="en-US" altLang="zh-TW" sz="2400" baseline="30000" dirty="0">
                <a:solidFill>
                  <a:schemeClr val="tx1"/>
                </a:solidFill>
              </a:rPr>
              <a:t>2</a:t>
            </a:r>
            <a:endParaRPr kumimoji="1" lang="zh-TW" altLang="en-US" sz="2400" baseline="30000" dirty="0">
              <a:solidFill>
                <a:schemeClr val="tx1"/>
              </a:solidFill>
            </a:endParaRPr>
          </a:p>
        </p:txBody>
      </p:sp>
      <p:cxnSp>
        <p:nvCxnSpPr>
          <p:cNvPr id="79" name="直線箭頭接點 78">
            <a:extLst>
              <a:ext uri="{FF2B5EF4-FFF2-40B4-BE49-F238E27FC236}">
                <a16:creationId xmlns:a16="http://schemas.microsoft.com/office/drawing/2014/main" id="{8655FBBD-2B20-2CF1-F283-16E6243D3A73}"/>
              </a:ext>
            </a:extLst>
          </p:cNvPr>
          <p:cNvCxnSpPr>
            <a:cxnSpLocks/>
            <a:stCxn id="33" idx="0"/>
            <a:endCxn id="65" idx="2"/>
          </p:cNvCxnSpPr>
          <p:nvPr/>
        </p:nvCxnSpPr>
        <p:spPr>
          <a:xfrm flipV="1">
            <a:off x="3896034" y="2783639"/>
            <a:ext cx="215918" cy="139385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6" name="矩形 85">
            <a:extLst>
              <a:ext uri="{FF2B5EF4-FFF2-40B4-BE49-F238E27FC236}">
                <a16:creationId xmlns:a16="http://schemas.microsoft.com/office/drawing/2014/main" id="{80A883F4-DA3C-5CC5-6056-8EFDF5DBBCEE}"/>
              </a:ext>
            </a:extLst>
          </p:cNvPr>
          <p:cNvSpPr/>
          <p:nvPr/>
        </p:nvSpPr>
        <p:spPr>
          <a:xfrm>
            <a:off x="3694301" y="1759548"/>
            <a:ext cx="391155" cy="145645"/>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400" dirty="0">
              <a:solidFill>
                <a:schemeClr val="tx1"/>
              </a:solidFill>
            </a:endParaRPr>
          </a:p>
        </p:txBody>
      </p:sp>
      <p:sp>
        <p:nvSpPr>
          <p:cNvPr id="87" name="矩形 86">
            <a:extLst>
              <a:ext uri="{FF2B5EF4-FFF2-40B4-BE49-F238E27FC236}">
                <a16:creationId xmlns:a16="http://schemas.microsoft.com/office/drawing/2014/main" id="{EA7D9452-0426-53B0-4F06-1D04B44CA92C}"/>
              </a:ext>
            </a:extLst>
          </p:cNvPr>
          <p:cNvSpPr/>
          <p:nvPr/>
        </p:nvSpPr>
        <p:spPr>
          <a:xfrm>
            <a:off x="3303146" y="1759548"/>
            <a:ext cx="391155" cy="145645"/>
          </a:xfrm>
          <a:prstGeom prst="rect">
            <a:avLst/>
          </a:prstGeom>
          <a:solidFill>
            <a:srgbClr val="FDE7D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400" dirty="0">
              <a:solidFill>
                <a:schemeClr val="tx1"/>
              </a:solidFill>
            </a:endParaRPr>
          </a:p>
        </p:txBody>
      </p:sp>
      <p:cxnSp>
        <p:nvCxnSpPr>
          <p:cNvPr id="94" name="直線箭頭接點 93">
            <a:extLst>
              <a:ext uri="{FF2B5EF4-FFF2-40B4-BE49-F238E27FC236}">
                <a16:creationId xmlns:a16="http://schemas.microsoft.com/office/drawing/2014/main" id="{35921406-D7F1-F4A7-EA1C-85370BBE30EA}"/>
              </a:ext>
            </a:extLst>
          </p:cNvPr>
          <p:cNvCxnSpPr>
            <a:cxnSpLocks/>
            <a:stCxn id="58" idx="0"/>
            <a:endCxn id="87" idx="2"/>
          </p:cNvCxnSpPr>
          <p:nvPr/>
        </p:nvCxnSpPr>
        <p:spPr>
          <a:xfrm flipV="1">
            <a:off x="3157855" y="1905193"/>
            <a:ext cx="340868" cy="124525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線箭頭接點 94">
            <a:extLst>
              <a:ext uri="{FF2B5EF4-FFF2-40B4-BE49-F238E27FC236}">
                <a16:creationId xmlns:a16="http://schemas.microsoft.com/office/drawing/2014/main" id="{481E7DFD-3D4D-3FA0-869B-0D349DAA0635}"/>
              </a:ext>
            </a:extLst>
          </p:cNvPr>
          <p:cNvCxnSpPr>
            <a:cxnSpLocks/>
            <a:stCxn id="65" idx="0"/>
            <a:endCxn id="86" idx="2"/>
          </p:cNvCxnSpPr>
          <p:nvPr/>
        </p:nvCxnSpPr>
        <p:spPr>
          <a:xfrm flipH="1" flipV="1">
            <a:off x="3889878" y="1905193"/>
            <a:ext cx="222074" cy="49384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8" name="文字方塊 117">
            <a:extLst>
              <a:ext uri="{FF2B5EF4-FFF2-40B4-BE49-F238E27FC236}">
                <a16:creationId xmlns:a16="http://schemas.microsoft.com/office/drawing/2014/main" id="{906B7CCF-0B0C-8C6F-211B-3E3FBCB6E728}"/>
              </a:ext>
            </a:extLst>
          </p:cNvPr>
          <p:cNvSpPr txBox="1"/>
          <p:nvPr/>
        </p:nvSpPr>
        <p:spPr>
          <a:xfrm>
            <a:off x="1121700" y="2409230"/>
            <a:ext cx="1807250" cy="369332"/>
          </a:xfrm>
          <a:prstGeom prst="rect">
            <a:avLst/>
          </a:prstGeom>
          <a:noFill/>
        </p:spPr>
        <p:txBody>
          <a:bodyPr wrap="square" rtlCol="0">
            <a:spAutoFit/>
          </a:bodyPr>
          <a:lstStyle/>
          <a:p>
            <a:pPr algn="ctr"/>
            <a:r>
              <a:rPr kumimoji="1" lang="en-US" altLang="zh-TW" b="1" dirty="0">
                <a:solidFill>
                  <a:srgbClr val="0070C0"/>
                </a:solidFill>
              </a:rPr>
              <a:t>Layer 2</a:t>
            </a:r>
            <a:endParaRPr kumimoji="1" lang="zh-TW" altLang="en-US" b="1" dirty="0">
              <a:solidFill>
                <a:srgbClr val="0070C0"/>
              </a:solidFill>
            </a:endParaRPr>
          </a:p>
        </p:txBody>
      </p:sp>
      <p:cxnSp>
        <p:nvCxnSpPr>
          <p:cNvPr id="120" name="直線箭頭接點 119">
            <a:extLst>
              <a:ext uri="{FF2B5EF4-FFF2-40B4-BE49-F238E27FC236}">
                <a16:creationId xmlns:a16="http://schemas.microsoft.com/office/drawing/2014/main" id="{A993A7A3-9890-F7F4-1930-C59DCCF63DA9}"/>
              </a:ext>
            </a:extLst>
          </p:cNvPr>
          <p:cNvCxnSpPr>
            <a:cxnSpLocks/>
            <a:stCxn id="34" idx="0"/>
            <a:endCxn id="58" idx="2"/>
          </p:cNvCxnSpPr>
          <p:nvPr/>
        </p:nvCxnSpPr>
        <p:spPr>
          <a:xfrm flipH="1" flipV="1">
            <a:off x="3157855" y="3535050"/>
            <a:ext cx="347024" cy="64244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6" name="文字方塊 145">
            <a:extLst>
              <a:ext uri="{FF2B5EF4-FFF2-40B4-BE49-F238E27FC236}">
                <a16:creationId xmlns:a16="http://schemas.microsoft.com/office/drawing/2014/main" id="{82370B2B-FDBC-5421-5D71-5D963C0B3B35}"/>
              </a:ext>
            </a:extLst>
          </p:cNvPr>
          <p:cNvSpPr txBox="1"/>
          <p:nvPr/>
        </p:nvSpPr>
        <p:spPr>
          <a:xfrm>
            <a:off x="3856995" y="6242734"/>
            <a:ext cx="522223" cy="461665"/>
          </a:xfrm>
          <a:prstGeom prst="rect">
            <a:avLst/>
          </a:prstGeom>
          <a:noFill/>
        </p:spPr>
        <p:txBody>
          <a:bodyPr wrap="square" rtlCol="0">
            <a:spAutoFit/>
          </a:bodyPr>
          <a:lstStyle/>
          <a:p>
            <a:pPr algn="ctr"/>
            <a:r>
              <a:rPr kumimoji="1" lang="en-US" altLang="zh-TW" sz="2400" dirty="0"/>
              <a:t>e</a:t>
            </a:r>
            <a:r>
              <a:rPr kumimoji="1" lang="en-US" altLang="zh-TW" sz="2400" baseline="-25000" dirty="0"/>
              <a:t>1</a:t>
            </a:r>
            <a:endParaRPr kumimoji="1" lang="zh-TW" altLang="en-US" sz="2400" baseline="-25000" dirty="0"/>
          </a:p>
        </p:txBody>
      </p:sp>
      <p:cxnSp>
        <p:nvCxnSpPr>
          <p:cNvPr id="148" name="直線箭頭接點 147">
            <a:extLst>
              <a:ext uri="{FF2B5EF4-FFF2-40B4-BE49-F238E27FC236}">
                <a16:creationId xmlns:a16="http://schemas.microsoft.com/office/drawing/2014/main" id="{75DB8569-F1F3-0BD8-D2E3-4313ACBE5C38}"/>
              </a:ext>
            </a:extLst>
          </p:cNvPr>
          <p:cNvCxnSpPr>
            <a:cxnSpLocks/>
            <a:stCxn id="146" idx="0"/>
            <a:endCxn id="12" idx="2"/>
          </p:cNvCxnSpPr>
          <p:nvPr/>
        </p:nvCxnSpPr>
        <p:spPr>
          <a:xfrm flipV="1">
            <a:off x="4118107" y="5201582"/>
            <a:ext cx="0" cy="104115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1" name="文字方塊 160">
                <a:extLst>
                  <a:ext uri="{FF2B5EF4-FFF2-40B4-BE49-F238E27FC236}">
                    <a16:creationId xmlns:a16="http://schemas.microsoft.com/office/drawing/2014/main" id="{3E20D1F0-E2B1-2F3D-D889-0673FBE8250B}"/>
                  </a:ext>
                </a:extLst>
              </p:cNvPr>
              <p:cNvSpPr txBox="1"/>
              <p:nvPr/>
            </p:nvSpPr>
            <p:spPr>
              <a:xfrm>
                <a:off x="2809658" y="1640166"/>
                <a:ext cx="522223" cy="3719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zh-TW" altLang="zh-TW" sz="18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sz="1800" i="1" kern="100">
                              <a:effectLst/>
                              <a:latin typeface="Cambria Math" panose="02040503050406030204" pitchFamily="18" charset="0"/>
                              <a:ea typeface="新細明體" panose="02020500000000000000" pitchFamily="18" charset="-120"/>
                              <a:cs typeface="Times New Roman" panose="02020603050405020304" pitchFamily="18" charset="0"/>
                            </a:rPr>
                            <m:t>h</m:t>
                          </m:r>
                        </m:e>
                        <m:sub>
                          <m:r>
                            <a:rPr lang="en-US" altLang="zh-TW" sz="1800" b="0" i="1" kern="100" smtClean="0">
                              <a:effectLst/>
                              <a:latin typeface="Cambria Math" panose="02040503050406030204" pitchFamily="18" charset="0"/>
                              <a:ea typeface="新細明體" panose="02020500000000000000" pitchFamily="18" charset="-120"/>
                              <a:cs typeface="Times New Roman" panose="02020603050405020304" pitchFamily="18" charset="0"/>
                            </a:rPr>
                            <m:t>1</m:t>
                          </m:r>
                        </m:sub>
                        <m:sup>
                          <m:r>
                            <a:rPr lang="en-US" altLang="zh-TW" sz="1800" b="0" i="1" kern="100" smtClean="0">
                              <a:effectLst/>
                              <a:latin typeface="Cambria Math" panose="02040503050406030204" pitchFamily="18" charset="0"/>
                              <a:ea typeface="新細明體" panose="02020500000000000000" pitchFamily="18" charset="-120"/>
                              <a:cs typeface="Times New Roman" panose="02020603050405020304" pitchFamily="18" charset="0"/>
                            </a:rPr>
                            <m:t>2</m:t>
                          </m:r>
                        </m:sup>
                      </m:sSubSup>
                    </m:oMath>
                  </m:oMathPara>
                </a14:m>
                <a:endPar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161" name="文字方塊 160">
                <a:extLst>
                  <a:ext uri="{FF2B5EF4-FFF2-40B4-BE49-F238E27FC236}">
                    <a16:creationId xmlns:a16="http://schemas.microsoft.com/office/drawing/2014/main" id="{3E20D1F0-E2B1-2F3D-D889-0673FBE8250B}"/>
                  </a:ext>
                </a:extLst>
              </p:cNvPr>
              <p:cNvSpPr txBox="1">
                <a:spLocks noRot="1" noChangeAspect="1" noMove="1" noResize="1" noEditPoints="1" noAdjustHandles="1" noChangeArrowheads="1" noChangeShapeType="1" noTextEdit="1"/>
              </p:cNvSpPr>
              <p:nvPr/>
            </p:nvSpPr>
            <p:spPr>
              <a:xfrm>
                <a:off x="2809658" y="1640166"/>
                <a:ext cx="522223" cy="371961"/>
              </a:xfrm>
              <a:prstGeom prst="rect">
                <a:avLst/>
              </a:prstGeom>
              <a:blipFill>
                <a:blip r:embed="rId3"/>
                <a:stretch>
                  <a:fillRect/>
                </a:stretch>
              </a:blipFill>
            </p:spPr>
            <p:txBody>
              <a:bodyPr/>
              <a:lstStyle/>
              <a:p>
                <a:r>
                  <a:rPr lang="zh-TW" altLang="en-US">
                    <a:noFill/>
                  </a:rPr>
                  <a:t> </a:t>
                </a:r>
              </a:p>
            </p:txBody>
          </p:sp>
        </mc:Fallback>
      </mc:AlternateContent>
      <p:cxnSp>
        <p:nvCxnSpPr>
          <p:cNvPr id="19" name="肘形接點 18">
            <a:extLst>
              <a:ext uri="{FF2B5EF4-FFF2-40B4-BE49-F238E27FC236}">
                <a16:creationId xmlns:a16="http://schemas.microsoft.com/office/drawing/2014/main" id="{33EA812F-626C-D2D7-9147-162BDB87E767}"/>
              </a:ext>
            </a:extLst>
          </p:cNvPr>
          <p:cNvCxnSpPr>
            <a:stCxn id="50" idx="1"/>
            <a:endCxn id="161" idx="1"/>
          </p:cNvCxnSpPr>
          <p:nvPr/>
        </p:nvCxnSpPr>
        <p:spPr>
          <a:xfrm rot="10800000">
            <a:off x="2809658" y="1826148"/>
            <a:ext cx="12700" cy="2424167"/>
          </a:xfrm>
          <a:prstGeom prst="bentConnector3">
            <a:avLst>
              <a:gd name="adj1" fmla="val 10267197"/>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文字方塊 20">
            <a:extLst>
              <a:ext uri="{FF2B5EF4-FFF2-40B4-BE49-F238E27FC236}">
                <a16:creationId xmlns:a16="http://schemas.microsoft.com/office/drawing/2014/main" id="{3247349D-73C7-CD0A-1D1B-67810AD5F78F}"/>
              </a:ext>
            </a:extLst>
          </p:cNvPr>
          <p:cNvSpPr txBox="1"/>
          <p:nvPr/>
        </p:nvSpPr>
        <p:spPr>
          <a:xfrm>
            <a:off x="186437" y="2576566"/>
            <a:ext cx="1377354" cy="923330"/>
          </a:xfrm>
          <a:prstGeom prst="rect">
            <a:avLst/>
          </a:prstGeom>
          <a:noFill/>
        </p:spPr>
        <p:txBody>
          <a:bodyPr wrap="square" rtlCol="0">
            <a:spAutoFit/>
          </a:bodyPr>
          <a:lstStyle/>
          <a:p>
            <a:pPr algn="ctr"/>
            <a:r>
              <a:rPr kumimoji="1" lang="en-US" altLang="zh-TW" dirty="0">
                <a:solidFill>
                  <a:srgbClr val="FF0000"/>
                </a:solidFill>
              </a:rPr>
              <a:t>Add</a:t>
            </a:r>
          </a:p>
          <a:p>
            <a:pPr algn="ctr"/>
            <a:r>
              <a:rPr kumimoji="1" lang="en-US" altLang="zh-TW" dirty="0">
                <a:solidFill>
                  <a:srgbClr val="FF0000"/>
                </a:solidFill>
              </a:rPr>
              <a:t>(residual connection)</a:t>
            </a:r>
            <a:endParaRPr kumimoji="1" lang="zh-TW" altLang="en-US" dirty="0">
              <a:solidFill>
                <a:srgbClr val="FF0000"/>
              </a:solidFill>
            </a:endParaRPr>
          </a:p>
        </p:txBody>
      </p:sp>
      <p:sp>
        <p:nvSpPr>
          <p:cNvPr id="76" name="文字方塊 75">
            <a:extLst>
              <a:ext uri="{FF2B5EF4-FFF2-40B4-BE49-F238E27FC236}">
                <a16:creationId xmlns:a16="http://schemas.microsoft.com/office/drawing/2014/main" id="{40D0714C-F30C-6895-3272-48E9EB610870}"/>
              </a:ext>
            </a:extLst>
          </p:cNvPr>
          <p:cNvSpPr txBox="1"/>
          <p:nvPr/>
        </p:nvSpPr>
        <p:spPr>
          <a:xfrm>
            <a:off x="6024503" y="1777661"/>
            <a:ext cx="4987834" cy="235102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en-US" altLang="zh-TW" sz="2000" dirty="0" err="1">
                <a:ea typeface="Microsoft JhengHei" panose="020B0604030504040204" pitchFamily="34" charset="-120"/>
              </a:rPr>
              <a:t>ELMo</a:t>
            </a:r>
            <a:r>
              <a:rPr kumimoji="1" lang="en-US" altLang="zh-TW" sz="2000" dirty="0">
                <a:ea typeface="Microsoft JhengHei" panose="020B0604030504040204" pitchFamily="34" charset="-120"/>
              </a:rPr>
              <a:t> </a:t>
            </a:r>
            <a:r>
              <a:rPr kumimoji="1" lang="zh-TW" altLang="en-US" sz="2000" dirty="0">
                <a:ea typeface="Microsoft JhengHei" panose="020B0604030504040204" pitchFamily="34" charset="-120"/>
              </a:rPr>
              <a:t>的輸出是</a:t>
            </a:r>
            <a:r>
              <a:rPr kumimoji="1" lang="en-US" altLang="zh-TW" sz="2000" dirty="0">
                <a:ea typeface="Microsoft JhengHei" panose="020B0604030504040204" pitchFamily="34" charset="-120"/>
              </a:rPr>
              <a:t> embedding</a:t>
            </a:r>
          </a:p>
          <a:p>
            <a:pPr marL="285750" indent="-285750">
              <a:lnSpc>
                <a:spcPct val="150000"/>
              </a:lnSpc>
              <a:buFont typeface="Arial" panose="020B0604020202020204" pitchFamily="34" charset="0"/>
              <a:buChar char="•"/>
            </a:pPr>
            <a:r>
              <a:rPr kumimoji="1" lang="en-US" altLang="zh-TW" sz="2000" dirty="0" err="1">
                <a:ea typeface="Microsoft JhengHei" panose="020B0604030504040204" pitchFamily="34" charset="-120"/>
              </a:rPr>
              <a:t>ELMo</a:t>
            </a:r>
            <a:r>
              <a:rPr kumimoji="1" lang="en-US" altLang="zh-TW" sz="2000" dirty="0">
                <a:ea typeface="Microsoft JhengHei" panose="020B0604030504040204" pitchFamily="34" charset="-120"/>
              </a:rPr>
              <a:t> </a:t>
            </a:r>
            <a:r>
              <a:rPr kumimoji="1" lang="zh-TW" altLang="en-US" sz="2000" dirty="0">
                <a:ea typeface="Microsoft JhengHei" panose="020B0604030504040204" pitchFamily="34" charset="-120"/>
              </a:rPr>
              <a:t>是</a:t>
            </a:r>
            <a:r>
              <a:rPr kumimoji="1" lang="en-US" altLang="zh-TW" sz="2000" dirty="0">
                <a:ea typeface="Microsoft JhengHei" panose="020B0604030504040204" pitchFamily="34" charset="-120"/>
              </a:rPr>
              <a:t> contextual embedding</a:t>
            </a:r>
          </a:p>
          <a:p>
            <a:pPr marL="742950" lvl="1" indent="-285750">
              <a:lnSpc>
                <a:spcPct val="150000"/>
              </a:lnSpc>
              <a:buFont typeface="Arial" panose="020B0604020202020204" pitchFamily="34" charset="0"/>
              <a:buChar char="•"/>
            </a:pPr>
            <a:r>
              <a:rPr kumimoji="1" lang="zh-TW" altLang="en-US" sz="2000" dirty="0">
                <a:ea typeface="Microsoft JhengHei" panose="020B0604030504040204" pitchFamily="34" charset="-120"/>
              </a:rPr>
              <a:t>每個 </a:t>
            </a:r>
            <a:r>
              <a:rPr kumimoji="1" lang="en-US" altLang="zh-TW" sz="2000" dirty="0">
                <a:ea typeface="Microsoft JhengHei" panose="020B0604030504040204" pitchFamily="34" charset="-120"/>
              </a:rPr>
              <a:t>token </a:t>
            </a:r>
            <a:r>
              <a:rPr kumimoji="1" lang="zh-TW" altLang="en-US" sz="2000" dirty="0">
                <a:ea typeface="Microsoft JhengHei" panose="020B0604030504040204" pitchFamily="34" charset="-120"/>
              </a:rPr>
              <a:t>的 </a:t>
            </a:r>
            <a:r>
              <a:rPr kumimoji="1" lang="en-US" altLang="zh-TW" sz="2000" dirty="0">
                <a:ea typeface="Microsoft JhengHei" panose="020B0604030504040204" pitchFamily="34" charset="-120"/>
              </a:rPr>
              <a:t>embedding </a:t>
            </a:r>
            <a:r>
              <a:rPr kumimoji="1" lang="zh-TW" altLang="en-US" sz="2000" dirty="0">
                <a:ea typeface="Microsoft JhengHei" panose="020B0604030504040204" pitchFamily="34" charset="-120"/>
              </a:rPr>
              <a:t>由 </a:t>
            </a:r>
            <a:r>
              <a:rPr kumimoji="1" lang="en-US" altLang="zh-TW" sz="2000" dirty="0">
                <a:ea typeface="Microsoft JhengHei" panose="020B0604030504040204" pitchFamily="34" charset="-120"/>
              </a:rPr>
              <a:t>input embedding</a:t>
            </a:r>
            <a:r>
              <a:rPr kumimoji="1" lang="zh-TW" altLang="en-US" sz="2000" dirty="0">
                <a:ea typeface="Microsoft JhengHei" panose="020B0604030504040204" pitchFamily="34" charset="-120"/>
              </a:rPr>
              <a:t> 和每一層的</a:t>
            </a:r>
            <a:r>
              <a:rPr kumimoji="1" lang="en-US" altLang="zh-TW" sz="2000" dirty="0">
                <a:ea typeface="Microsoft JhengHei" panose="020B0604030504040204" pitchFamily="34" charset="-120"/>
              </a:rPr>
              <a:t> hidden state </a:t>
            </a:r>
            <a:r>
              <a:rPr kumimoji="1" lang="zh-TW" altLang="en-US" sz="2000" dirty="0">
                <a:ea typeface="Microsoft JhengHei" panose="020B0604030504040204" pitchFamily="34" charset="-120"/>
              </a:rPr>
              <a:t>做</a:t>
            </a:r>
            <a:r>
              <a:rPr kumimoji="1" lang="en-US" altLang="zh-TW" sz="2000" dirty="0">
                <a:ea typeface="Microsoft JhengHei" panose="020B0604030504040204" pitchFamily="34" charset="-120"/>
              </a:rPr>
              <a:t> concatenation</a:t>
            </a:r>
            <a:endParaRPr kumimoji="1" lang="zh-TW" altLang="en-US" sz="2000" dirty="0">
              <a:ea typeface="Microsoft JhengHei" panose="020B0604030504040204" pitchFamily="34" charset="-120"/>
            </a:endParaRPr>
          </a:p>
        </p:txBody>
      </p:sp>
      <mc:AlternateContent xmlns:mc="http://schemas.openxmlformats.org/markup-compatibility/2006" xmlns:a14="http://schemas.microsoft.com/office/drawing/2010/main">
        <mc:Choice Requires="a14">
          <p:sp>
            <p:nvSpPr>
              <p:cNvPr id="20" name="圓角矩形 19">
                <a:extLst>
                  <a:ext uri="{FF2B5EF4-FFF2-40B4-BE49-F238E27FC236}">
                    <a16:creationId xmlns:a16="http://schemas.microsoft.com/office/drawing/2014/main" id="{7D6F7089-7D68-DC35-3562-1F8F2BBB0F8C}"/>
                  </a:ext>
                </a:extLst>
              </p:cNvPr>
              <p:cNvSpPr/>
              <p:nvPr/>
            </p:nvSpPr>
            <p:spPr>
              <a:xfrm>
                <a:off x="7589389" y="4491512"/>
                <a:ext cx="1858061" cy="52486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zh-TW" altLang="zh-TW" sz="2000" i="1" kern="100" smtClean="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sz="2000" i="1" kern="100">
                              <a:solidFill>
                                <a:schemeClr val="tx1"/>
                              </a:solidFill>
                              <a:effectLst/>
                              <a:latin typeface="Cambria Math" panose="02040503050406030204" pitchFamily="18" charset="0"/>
                              <a:ea typeface="新細明體" panose="02020500000000000000" pitchFamily="18" charset="-120"/>
                              <a:cs typeface="Times New Roman" panose="02020603050405020304" pitchFamily="18" charset="0"/>
                            </a:rPr>
                            <m:t>h</m:t>
                          </m:r>
                        </m:e>
                        <m:sub>
                          <m:r>
                            <a:rPr lang="en-US" altLang="zh-TW" sz="2000" i="1" kern="100">
                              <a:solidFill>
                                <a:schemeClr val="tx1"/>
                              </a:solidFill>
                              <a:effectLst/>
                              <a:latin typeface="Cambria Math" panose="02040503050406030204" pitchFamily="18" charset="0"/>
                              <a:ea typeface="新細明體" panose="02020500000000000000" pitchFamily="18" charset="-120"/>
                              <a:cs typeface="Times New Roman" panose="02020603050405020304" pitchFamily="18" charset="0"/>
                            </a:rPr>
                            <m:t>1</m:t>
                          </m:r>
                        </m:sub>
                        <m:sup>
                          <m:r>
                            <a:rPr lang="en-US" altLang="zh-TW" sz="2000" i="1" kern="100">
                              <a:solidFill>
                                <a:schemeClr val="tx1"/>
                              </a:solidFill>
                              <a:effectLst/>
                              <a:latin typeface="Cambria Math" panose="02040503050406030204" pitchFamily="18" charset="0"/>
                              <a:ea typeface="新細明體" panose="02020500000000000000" pitchFamily="18" charset="-120"/>
                              <a:cs typeface="Times New Roman" panose="02020603050405020304" pitchFamily="18" charset="0"/>
                            </a:rPr>
                            <m:t>1</m:t>
                          </m:r>
                        </m:sup>
                      </m:sSubSup>
                    </m:oMath>
                  </m:oMathPara>
                </a14:m>
                <a:endParaRPr kumimoji="1" lang="zh-TW" altLang="en-US" sz="2000" dirty="0">
                  <a:solidFill>
                    <a:schemeClr val="tx1"/>
                  </a:solidFill>
                </a:endParaRPr>
              </a:p>
            </p:txBody>
          </p:sp>
        </mc:Choice>
        <mc:Fallback xmlns="">
          <p:sp>
            <p:nvSpPr>
              <p:cNvPr id="20" name="圓角矩形 19">
                <a:extLst>
                  <a:ext uri="{FF2B5EF4-FFF2-40B4-BE49-F238E27FC236}">
                    <a16:creationId xmlns:a16="http://schemas.microsoft.com/office/drawing/2014/main" id="{7D6F7089-7D68-DC35-3562-1F8F2BBB0F8C}"/>
                  </a:ext>
                </a:extLst>
              </p:cNvPr>
              <p:cNvSpPr>
                <a:spLocks noRot="1" noChangeAspect="1" noMove="1" noResize="1" noEditPoints="1" noAdjustHandles="1" noChangeArrowheads="1" noChangeShapeType="1" noTextEdit="1"/>
              </p:cNvSpPr>
              <p:nvPr/>
            </p:nvSpPr>
            <p:spPr>
              <a:xfrm>
                <a:off x="7589389" y="4491512"/>
                <a:ext cx="1858061" cy="524866"/>
              </a:xfrm>
              <a:prstGeom prst="round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圓角矩形 22">
                <a:extLst>
                  <a:ext uri="{FF2B5EF4-FFF2-40B4-BE49-F238E27FC236}">
                    <a16:creationId xmlns:a16="http://schemas.microsoft.com/office/drawing/2014/main" id="{55C9FDA1-5748-309D-CA7B-DBA680419AAD}"/>
                  </a:ext>
                </a:extLst>
              </p:cNvPr>
              <p:cNvSpPr/>
              <p:nvPr/>
            </p:nvSpPr>
            <p:spPr>
              <a:xfrm>
                <a:off x="9511066" y="4491512"/>
                <a:ext cx="1858061" cy="52486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zh-TW" altLang="zh-TW" sz="2000" i="1" kern="100" smtClean="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sz="2000" i="1" kern="100">
                              <a:solidFill>
                                <a:schemeClr val="tx1"/>
                              </a:solidFill>
                              <a:effectLst/>
                              <a:latin typeface="Cambria Math" panose="02040503050406030204" pitchFamily="18" charset="0"/>
                              <a:ea typeface="新細明體" panose="02020500000000000000" pitchFamily="18" charset="-120"/>
                              <a:cs typeface="Times New Roman" panose="02020603050405020304" pitchFamily="18" charset="0"/>
                            </a:rPr>
                            <m:t>h</m:t>
                          </m:r>
                        </m:e>
                        <m:sub>
                          <m:r>
                            <a:rPr lang="en-US" altLang="zh-TW" sz="2000" i="1" kern="100">
                              <a:solidFill>
                                <a:schemeClr val="tx1"/>
                              </a:solidFill>
                              <a:effectLst/>
                              <a:latin typeface="Cambria Math" panose="02040503050406030204" pitchFamily="18" charset="0"/>
                              <a:ea typeface="新細明體" panose="02020500000000000000" pitchFamily="18" charset="-120"/>
                              <a:cs typeface="Times New Roman" panose="02020603050405020304" pitchFamily="18" charset="0"/>
                            </a:rPr>
                            <m:t>1</m:t>
                          </m:r>
                        </m:sub>
                        <m:sup>
                          <m:r>
                            <a:rPr lang="en-US" altLang="zh-TW" sz="2000" b="0" i="1" kern="100" smtClean="0">
                              <a:solidFill>
                                <a:schemeClr val="tx1"/>
                              </a:solidFill>
                              <a:effectLst/>
                              <a:latin typeface="Cambria Math" panose="02040503050406030204" pitchFamily="18" charset="0"/>
                              <a:ea typeface="新細明體" panose="02020500000000000000" pitchFamily="18" charset="-120"/>
                              <a:cs typeface="Times New Roman" panose="02020603050405020304" pitchFamily="18" charset="0"/>
                            </a:rPr>
                            <m:t>2</m:t>
                          </m:r>
                        </m:sup>
                      </m:sSubSup>
                    </m:oMath>
                  </m:oMathPara>
                </a14:m>
                <a:endParaRPr kumimoji="1" lang="zh-TW" altLang="en-US" sz="2000" dirty="0">
                  <a:solidFill>
                    <a:schemeClr val="tx1"/>
                  </a:solidFill>
                </a:endParaRPr>
              </a:p>
            </p:txBody>
          </p:sp>
        </mc:Choice>
        <mc:Fallback xmlns="">
          <p:sp>
            <p:nvSpPr>
              <p:cNvPr id="23" name="圓角矩形 22">
                <a:extLst>
                  <a:ext uri="{FF2B5EF4-FFF2-40B4-BE49-F238E27FC236}">
                    <a16:creationId xmlns:a16="http://schemas.microsoft.com/office/drawing/2014/main" id="{55C9FDA1-5748-309D-CA7B-DBA680419AAD}"/>
                  </a:ext>
                </a:extLst>
              </p:cNvPr>
              <p:cNvSpPr>
                <a:spLocks noRot="1" noChangeAspect="1" noMove="1" noResize="1" noEditPoints="1" noAdjustHandles="1" noChangeArrowheads="1" noChangeShapeType="1" noTextEdit="1"/>
              </p:cNvSpPr>
              <p:nvPr/>
            </p:nvSpPr>
            <p:spPr>
              <a:xfrm>
                <a:off x="9511066" y="4491512"/>
                <a:ext cx="1858061" cy="524866"/>
              </a:xfrm>
              <a:prstGeom prst="roundRect">
                <a:avLst/>
              </a:prstGeom>
              <a:blipFill>
                <a:blip r:embed="rId5"/>
                <a:stretch>
                  <a:fillRect/>
                </a:stretch>
              </a:blipFill>
            </p:spPr>
            <p:txBody>
              <a:bodyPr/>
              <a:lstStyle/>
              <a:p>
                <a:r>
                  <a:rPr lang="zh-TW" altLang="en-US">
                    <a:noFill/>
                  </a:rPr>
                  <a:t> </a:t>
                </a:r>
              </a:p>
            </p:txBody>
          </p:sp>
        </mc:Fallback>
      </mc:AlternateContent>
      <p:sp>
        <p:nvSpPr>
          <p:cNvPr id="28" name="圓角矩形 27">
            <a:extLst>
              <a:ext uri="{FF2B5EF4-FFF2-40B4-BE49-F238E27FC236}">
                <a16:creationId xmlns:a16="http://schemas.microsoft.com/office/drawing/2014/main" id="{34C01EBF-5C57-F1F6-EB93-A4F64BC8BAA1}"/>
              </a:ext>
            </a:extLst>
          </p:cNvPr>
          <p:cNvSpPr/>
          <p:nvPr/>
        </p:nvSpPr>
        <p:spPr>
          <a:xfrm>
            <a:off x="6215046" y="4495092"/>
            <a:ext cx="1310727" cy="52486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e</a:t>
            </a:r>
            <a:r>
              <a:rPr kumimoji="1" lang="en-US" altLang="zh-TW" sz="2400" baseline="-25000" dirty="0">
                <a:solidFill>
                  <a:schemeClr val="tx1"/>
                </a:solidFill>
              </a:rPr>
              <a:t>1</a:t>
            </a:r>
            <a:endParaRPr kumimoji="1" lang="zh-TW" altLang="en-US" sz="2400" baseline="-25000" dirty="0">
              <a:solidFill>
                <a:schemeClr val="tx1"/>
              </a:solidFill>
            </a:endParaRPr>
          </a:p>
        </p:txBody>
      </p:sp>
      <p:sp>
        <p:nvSpPr>
          <p:cNvPr id="56" name="文字方塊 55">
            <a:extLst>
              <a:ext uri="{FF2B5EF4-FFF2-40B4-BE49-F238E27FC236}">
                <a16:creationId xmlns:a16="http://schemas.microsoft.com/office/drawing/2014/main" id="{8149EE79-FD07-92D6-1D59-5A83D10152DA}"/>
              </a:ext>
            </a:extLst>
          </p:cNvPr>
          <p:cNvSpPr txBox="1"/>
          <p:nvPr/>
        </p:nvSpPr>
        <p:spPr>
          <a:xfrm>
            <a:off x="5932420" y="5056035"/>
            <a:ext cx="1945230" cy="646331"/>
          </a:xfrm>
          <a:prstGeom prst="rect">
            <a:avLst/>
          </a:prstGeom>
          <a:noFill/>
        </p:spPr>
        <p:txBody>
          <a:bodyPr wrap="square" rtlCol="0">
            <a:spAutoFit/>
          </a:bodyPr>
          <a:lstStyle/>
          <a:p>
            <a:pPr algn="ctr"/>
            <a:r>
              <a:rPr kumimoji="1" lang="en-US" altLang="zh-TW" dirty="0"/>
              <a:t>Pre-trained</a:t>
            </a:r>
          </a:p>
          <a:p>
            <a:pPr algn="ctr"/>
            <a:r>
              <a:rPr kumimoji="1" lang="en-US" altLang="zh-TW" dirty="0" err="1"/>
              <a:t>GloVe</a:t>
            </a:r>
            <a:r>
              <a:rPr kumimoji="1" lang="en-US" altLang="zh-TW" dirty="0"/>
              <a:t> (size: 300)</a:t>
            </a:r>
            <a:endParaRPr kumimoji="1" lang="zh-TW" altLang="en-US" dirty="0"/>
          </a:p>
        </p:txBody>
      </p:sp>
      <p:sp>
        <p:nvSpPr>
          <p:cNvPr id="73" name="文字方塊 72">
            <a:extLst>
              <a:ext uri="{FF2B5EF4-FFF2-40B4-BE49-F238E27FC236}">
                <a16:creationId xmlns:a16="http://schemas.microsoft.com/office/drawing/2014/main" id="{2288A842-EFA8-A3C4-37A5-AADBE9EF94F8}"/>
              </a:ext>
            </a:extLst>
          </p:cNvPr>
          <p:cNvSpPr txBox="1"/>
          <p:nvPr/>
        </p:nvSpPr>
        <p:spPr>
          <a:xfrm>
            <a:off x="7886615" y="5056035"/>
            <a:ext cx="1263607" cy="369332"/>
          </a:xfrm>
          <a:prstGeom prst="rect">
            <a:avLst/>
          </a:prstGeom>
          <a:noFill/>
        </p:spPr>
        <p:txBody>
          <a:bodyPr wrap="square">
            <a:spAutoFit/>
          </a:bodyPr>
          <a:lstStyle/>
          <a:p>
            <a:r>
              <a:rPr kumimoji="1" lang="en-US" altLang="zh-TW" dirty="0"/>
              <a:t>(size: 512)</a:t>
            </a:r>
            <a:endParaRPr lang="zh-TW" altLang="en-US" dirty="0"/>
          </a:p>
        </p:txBody>
      </p:sp>
      <p:sp>
        <p:nvSpPr>
          <p:cNvPr id="74" name="文字方塊 73">
            <a:extLst>
              <a:ext uri="{FF2B5EF4-FFF2-40B4-BE49-F238E27FC236}">
                <a16:creationId xmlns:a16="http://schemas.microsoft.com/office/drawing/2014/main" id="{E7339CAE-6AFF-D63C-F152-63620F3F54EB}"/>
              </a:ext>
            </a:extLst>
          </p:cNvPr>
          <p:cNvSpPr txBox="1"/>
          <p:nvPr/>
        </p:nvSpPr>
        <p:spPr>
          <a:xfrm>
            <a:off x="9806693" y="5056035"/>
            <a:ext cx="1263607" cy="369332"/>
          </a:xfrm>
          <a:prstGeom prst="rect">
            <a:avLst/>
          </a:prstGeom>
          <a:noFill/>
        </p:spPr>
        <p:txBody>
          <a:bodyPr wrap="square">
            <a:spAutoFit/>
          </a:bodyPr>
          <a:lstStyle/>
          <a:p>
            <a:r>
              <a:rPr kumimoji="1" lang="en-US" altLang="zh-TW" dirty="0"/>
              <a:t>(size: 512)</a:t>
            </a:r>
            <a:endParaRPr lang="zh-TW" altLang="en-US" dirty="0"/>
          </a:p>
        </p:txBody>
      </p:sp>
      <p:sp>
        <p:nvSpPr>
          <p:cNvPr id="125" name="矩形 124">
            <a:extLst>
              <a:ext uri="{FF2B5EF4-FFF2-40B4-BE49-F238E27FC236}">
                <a16:creationId xmlns:a16="http://schemas.microsoft.com/office/drawing/2014/main" id="{1F36582B-826F-1DAE-3CE3-30584C0F8B09}"/>
              </a:ext>
            </a:extLst>
          </p:cNvPr>
          <p:cNvSpPr/>
          <p:nvPr/>
        </p:nvSpPr>
        <p:spPr>
          <a:xfrm>
            <a:off x="5874106" y="4250315"/>
            <a:ext cx="5588812" cy="1579899"/>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26" name="文字方塊 125">
            <a:extLst>
              <a:ext uri="{FF2B5EF4-FFF2-40B4-BE49-F238E27FC236}">
                <a16:creationId xmlns:a16="http://schemas.microsoft.com/office/drawing/2014/main" id="{D5F0CBB3-1D7F-8CD3-1D96-FFA48D3E576A}"/>
              </a:ext>
            </a:extLst>
          </p:cNvPr>
          <p:cNvSpPr txBox="1"/>
          <p:nvPr/>
        </p:nvSpPr>
        <p:spPr>
          <a:xfrm>
            <a:off x="6456438" y="5944033"/>
            <a:ext cx="4677724" cy="369332"/>
          </a:xfrm>
          <a:prstGeom prst="rect">
            <a:avLst/>
          </a:prstGeom>
          <a:noFill/>
        </p:spPr>
        <p:txBody>
          <a:bodyPr wrap="square" rtlCol="0">
            <a:spAutoFit/>
          </a:bodyPr>
          <a:lstStyle/>
          <a:p>
            <a:pPr algn="ctr"/>
            <a:r>
              <a:rPr kumimoji="1" lang="en-US" altLang="zh-TW" b="1" dirty="0">
                <a:solidFill>
                  <a:srgbClr val="0070C0"/>
                </a:solidFill>
              </a:rPr>
              <a:t>token</a:t>
            </a:r>
            <a:r>
              <a:rPr kumimoji="1" lang="en-US" altLang="zh-TW" b="1" baseline="-25000" dirty="0">
                <a:solidFill>
                  <a:srgbClr val="0070C0"/>
                </a:solidFill>
              </a:rPr>
              <a:t>1</a:t>
            </a:r>
            <a:r>
              <a:rPr kumimoji="1" lang="zh-TW" altLang="en-US" b="1" dirty="0">
                <a:solidFill>
                  <a:srgbClr val="0070C0"/>
                </a:solidFill>
              </a:rPr>
              <a:t> </a:t>
            </a:r>
            <a:r>
              <a:rPr kumimoji="1" lang="zh-TW" altLang="en-US" b="1" dirty="0">
                <a:solidFill>
                  <a:srgbClr val="0070C0"/>
                </a:solidFill>
                <a:latin typeface="Microsoft JhengHei" panose="020B0604030504040204" pitchFamily="34" charset="-120"/>
                <a:ea typeface="Microsoft JhengHei" panose="020B0604030504040204" pitchFamily="34" charset="-120"/>
              </a:rPr>
              <a:t>的</a:t>
            </a:r>
            <a:r>
              <a:rPr kumimoji="1" lang="en-US" altLang="zh-TW" b="1" dirty="0">
                <a:solidFill>
                  <a:srgbClr val="0070C0"/>
                </a:solidFill>
              </a:rPr>
              <a:t> token embedding (size: 1324)</a:t>
            </a:r>
            <a:endParaRPr kumimoji="1" lang="zh-TW" altLang="en-US" b="1" dirty="0">
              <a:solidFill>
                <a:srgbClr val="0070C0"/>
              </a:solidFill>
            </a:endParaRPr>
          </a:p>
        </p:txBody>
      </p:sp>
      <p:pic>
        <p:nvPicPr>
          <p:cNvPr id="3" name="Picture 2" descr="Elmo head Svg, Sesame Street Svg, Sesame Street Clipart, Elm - Inspire  Uplift">
            <a:extLst>
              <a:ext uri="{FF2B5EF4-FFF2-40B4-BE49-F238E27FC236}">
                <a16:creationId xmlns:a16="http://schemas.microsoft.com/office/drawing/2014/main" id="{56766478-6651-C02B-2230-8CD4B241320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41911" y="4226972"/>
            <a:ext cx="480190" cy="4801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1745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3" grpId="0" animBg="1"/>
      <p:bldP spid="28" grpId="0" animBg="1"/>
      <p:bldP spid="56" grpId="0"/>
      <p:bldP spid="73" grpId="0"/>
      <p:bldP spid="74" grpId="0"/>
      <p:bldP spid="125" grpId="0" animBg="1"/>
      <p:bldP spid="12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D3621F2-F253-054F-EBA0-050AE2F05340}"/>
              </a:ext>
            </a:extLst>
          </p:cNvPr>
          <p:cNvSpPr>
            <a:spLocks noGrp="1"/>
          </p:cNvSpPr>
          <p:nvPr>
            <p:ph type="title"/>
          </p:nvPr>
        </p:nvSpPr>
        <p:spPr/>
        <p:txBody>
          <a:bodyPr/>
          <a:lstStyle/>
          <a:p>
            <a:r>
              <a:rPr kumimoji="1" lang="en-US" altLang="zh-TW" dirty="0" err="1"/>
              <a:t>ELMo</a:t>
            </a:r>
            <a:r>
              <a:rPr kumimoji="1" lang="en-US" altLang="zh-TW" dirty="0"/>
              <a:t> </a:t>
            </a:r>
            <a:r>
              <a:rPr kumimoji="1" lang="zh-TW" altLang="en-US" dirty="0">
                <a:latin typeface="Microsoft JhengHei" panose="020B0604030504040204" pitchFamily="34" charset="-120"/>
                <a:ea typeface="Microsoft JhengHei" panose="020B0604030504040204" pitchFamily="34" charset="-120"/>
              </a:rPr>
              <a:t>的使用方法</a:t>
            </a:r>
          </a:p>
        </p:txBody>
      </p:sp>
      <p:sp>
        <p:nvSpPr>
          <p:cNvPr id="4" name="投影片編號版面配置區 3">
            <a:extLst>
              <a:ext uri="{FF2B5EF4-FFF2-40B4-BE49-F238E27FC236}">
                <a16:creationId xmlns:a16="http://schemas.microsoft.com/office/drawing/2014/main" id="{8232B697-F066-2F9E-1EC4-55929E68BE88}"/>
              </a:ext>
            </a:extLst>
          </p:cNvPr>
          <p:cNvSpPr>
            <a:spLocks noGrp="1"/>
          </p:cNvSpPr>
          <p:nvPr>
            <p:ph type="sldNum" sz="quarter" idx="12"/>
          </p:nvPr>
        </p:nvSpPr>
        <p:spPr/>
        <p:txBody>
          <a:bodyPr/>
          <a:lstStyle/>
          <a:p>
            <a:fld id="{6113E31D-E2AB-40D1-8B51-AFA5AFEF393A}" type="slidenum">
              <a:rPr lang="en-US" smtClean="0"/>
              <a:pPr/>
              <a:t>26</a:t>
            </a:fld>
            <a:endParaRPr lang="en-US" dirty="0"/>
          </a:p>
        </p:txBody>
      </p:sp>
      <p:sp>
        <p:nvSpPr>
          <p:cNvPr id="5" name="矩形 4">
            <a:extLst>
              <a:ext uri="{FF2B5EF4-FFF2-40B4-BE49-F238E27FC236}">
                <a16:creationId xmlns:a16="http://schemas.microsoft.com/office/drawing/2014/main" id="{9B60C2E4-03F0-76BC-2952-B4E568CAC071}"/>
              </a:ext>
            </a:extLst>
          </p:cNvPr>
          <p:cNvSpPr/>
          <p:nvPr/>
        </p:nvSpPr>
        <p:spPr>
          <a:xfrm>
            <a:off x="3068697" y="5154877"/>
            <a:ext cx="1199626" cy="480190"/>
          </a:xfrm>
          <a:prstGeom prst="rect">
            <a:avLst/>
          </a:prstGeom>
          <a:solidFill>
            <a:srgbClr val="FDE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endParaRPr kumimoji="1" lang="zh-TW" altLang="en-US" sz="2400" dirty="0">
              <a:solidFill>
                <a:schemeClr val="tx1"/>
              </a:solidFill>
            </a:endParaRPr>
          </a:p>
        </p:txBody>
      </p:sp>
      <p:sp>
        <p:nvSpPr>
          <p:cNvPr id="6" name="矩形 5">
            <a:extLst>
              <a:ext uri="{FF2B5EF4-FFF2-40B4-BE49-F238E27FC236}">
                <a16:creationId xmlns:a16="http://schemas.microsoft.com/office/drawing/2014/main" id="{D783DCDE-B78A-8D06-6069-C5F29C3BB76D}"/>
              </a:ext>
            </a:extLst>
          </p:cNvPr>
          <p:cNvSpPr/>
          <p:nvPr/>
        </p:nvSpPr>
        <p:spPr>
          <a:xfrm>
            <a:off x="4831783" y="5154877"/>
            <a:ext cx="1199626" cy="480190"/>
          </a:xfrm>
          <a:prstGeom prst="rect">
            <a:avLst/>
          </a:prstGeom>
          <a:solidFill>
            <a:srgbClr val="FDE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endParaRPr kumimoji="1" lang="zh-TW" altLang="en-US" sz="2400" dirty="0">
              <a:solidFill>
                <a:schemeClr val="tx1"/>
              </a:solidFill>
            </a:endParaRPr>
          </a:p>
        </p:txBody>
      </p:sp>
      <p:sp>
        <p:nvSpPr>
          <p:cNvPr id="7" name="矩形 6">
            <a:extLst>
              <a:ext uri="{FF2B5EF4-FFF2-40B4-BE49-F238E27FC236}">
                <a16:creationId xmlns:a16="http://schemas.microsoft.com/office/drawing/2014/main" id="{7F4A017F-AF78-A3AD-B8C8-4DBB60648456}"/>
              </a:ext>
            </a:extLst>
          </p:cNvPr>
          <p:cNvSpPr/>
          <p:nvPr/>
        </p:nvSpPr>
        <p:spPr>
          <a:xfrm>
            <a:off x="6594869" y="5154877"/>
            <a:ext cx="1199626" cy="480190"/>
          </a:xfrm>
          <a:prstGeom prst="rect">
            <a:avLst/>
          </a:prstGeom>
          <a:solidFill>
            <a:srgbClr val="FDE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endParaRPr kumimoji="1" lang="zh-TW" altLang="en-US" sz="2400" dirty="0">
              <a:solidFill>
                <a:schemeClr val="tx1"/>
              </a:solidFill>
            </a:endParaRPr>
          </a:p>
        </p:txBody>
      </p:sp>
      <p:sp>
        <p:nvSpPr>
          <p:cNvPr id="8" name="矩形 7">
            <a:extLst>
              <a:ext uri="{FF2B5EF4-FFF2-40B4-BE49-F238E27FC236}">
                <a16:creationId xmlns:a16="http://schemas.microsoft.com/office/drawing/2014/main" id="{3B27AE88-B55B-9EED-3FB0-2C979C94892D}"/>
              </a:ext>
            </a:extLst>
          </p:cNvPr>
          <p:cNvSpPr/>
          <p:nvPr/>
        </p:nvSpPr>
        <p:spPr>
          <a:xfrm>
            <a:off x="8357955" y="5154877"/>
            <a:ext cx="1199626" cy="480190"/>
          </a:xfrm>
          <a:prstGeom prst="rect">
            <a:avLst/>
          </a:prstGeom>
          <a:solidFill>
            <a:srgbClr val="FDE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RNN</a:t>
            </a:r>
            <a:endParaRPr kumimoji="1" lang="zh-TW" altLang="en-US" sz="2400" dirty="0">
              <a:solidFill>
                <a:schemeClr val="tx1"/>
              </a:solidFill>
            </a:endParaRPr>
          </a:p>
        </p:txBody>
      </p:sp>
      <p:cxnSp>
        <p:nvCxnSpPr>
          <p:cNvPr id="9" name="直線箭頭接點 8">
            <a:extLst>
              <a:ext uri="{FF2B5EF4-FFF2-40B4-BE49-F238E27FC236}">
                <a16:creationId xmlns:a16="http://schemas.microsoft.com/office/drawing/2014/main" id="{D8DF769E-B2A2-7A5A-1BF5-3D0922F33606}"/>
              </a:ext>
            </a:extLst>
          </p:cNvPr>
          <p:cNvCxnSpPr>
            <a:cxnSpLocks/>
            <a:stCxn id="5" idx="3"/>
            <a:endCxn id="6" idx="1"/>
          </p:cNvCxnSpPr>
          <p:nvPr/>
        </p:nvCxnSpPr>
        <p:spPr>
          <a:xfrm>
            <a:off x="4268323" y="5394972"/>
            <a:ext cx="56346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箭頭接點 9">
            <a:extLst>
              <a:ext uri="{FF2B5EF4-FFF2-40B4-BE49-F238E27FC236}">
                <a16:creationId xmlns:a16="http://schemas.microsoft.com/office/drawing/2014/main" id="{B6213716-254F-A74C-E272-3933BCE68453}"/>
              </a:ext>
            </a:extLst>
          </p:cNvPr>
          <p:cNvCxnSpPr>
            <a:cxnSpLocks/>
            <a:stCxn id="6" idx="3"/>
            <a:endCxn id="7" idx="1"/>
          </p:cNvCxnSpPr>
          <p:nvPr/>
        </p:nvCxnSpPr>
        <p:spPr>
          <a:xfrm>
            <a:off x="6031409" y="5394972"/>
            <a:ext cx="56346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箭頭接點 10">
            <a:extLst>
              <a:ext uri="{FF2B5EF4-FFF2-40B4-BE49-F238E27FC236}">
                <a16:creationId xmlns:a16="http://schemas.microsoft.com/office/drawing/2014/main" id="{B75D031C-6AF7-D269-7EA5-F7027A5AC8F0}"/>
              </a:ext>
            </a:extLst>
          </p:cNvPr>
          <p:cNvCxnSpPr>
            <a:cxnSpLocks/>
            <a:stCxn id="7" idx="3"/>
            <a:endCxn id="8" idx="1"/>
          </p:cNvCxnSpPr>
          <p:nvPr/>
        </p:nvCxnSpPr>
        <p:spPr>
          <a:xfrm>
            <a:off x="7794495" y="5394972"/>
            <a:ext cx="563460" cy="0"/>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 name="直線箭頭接點 11">
            <a:extLst>
              <a:ext uri="{FF2B5EF4-FFF2-40B4-BE49-F238E27FC236}">
                <a16:creationId xmlns:a16="http://schemas.microsoft.com/office/drawing/2014/main" id="{7D2B8164-3C02-A321-FB36-21DFB3525907}"/>
              </a:ext>
            </a:extLst>
          </p:cNvPr>
          <p:cNvCxnSpPr>
            <a:cxnSpLocks/>
          </p:cNvCxnSpPr>
          <p:nvPr/>
        </p:nvCxnSpPr>
        <p:spPr>
          <a:xfrm>
            <a:off x="2505237" y="5394972"/>
            <a:ext cx="563460" cy="0"/>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 name="直線箭頭接點 12">
            <a:extLst>
              <a:ext uri="{FF2B5EF4-FFF2-40B4-BE49-F238E27FC236}">
                <a16:creationId xmlns:a16="http://schemas.microsoft.com/office/drawing/2014/main" id="{8339B3A1-DCE6-2701-3452-9D3EE45AE732}"/>
              </a:ext>
            </a:extLst>
          </p:cNvPr>
          <p:cNvCxnSpPr>
            <a:cxnSpLocks/>
            <a:stCxn id="8" idx="0"/>
            <a:endCxn id="14" idx="2"/>
          </p:cNvCxnSpPr>
          <p:nvPr/>
        </p:nvCxnSpPr>
        <p:spPr>
          <a:xfrm flipV="1">
            <a:off x="8957768" y="4626194"/>
            <a:ext cx="1" cy="52868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文字方塊 13">
            <a:extLst>
              <a:ext uri="{FF2B5EF4-FFF2-40B4-BE49-F238E27FC236}">
                <a16:creationId xmlns:a16="http://schemas.microsoft.com/office/drawing/2014/main" id="{7C44E5D2-6121-01B5-C242-EDBA651F890B}"/>
              </a:ext>
            </a:extLst>
          </p:cNvPr>
          <p:cNvSpPr txBox="1"/>
          <p:nvPr/>
        </p:nvSpPr>
        <p:spPr>
          <a:xfrm>
            <a:off x="8665813" y="4164529"/>
            <a:ext cx="583911" cy="461665"/>
          </a:xfrm>
          <a:prstGeom prst="rect">
            <a:avLst/>
          </a:prstGeom>
          <a:noFill/>
        </p:spPr>
        <p:txBody>
          <a:bodyPr wrap="square" rtlCol="0">
            <a:spAutoFit/>
          </a:bodyPr>
          <a:lstStyle/>
          <a:p>
            <a:pPr algn="ctr"/>
            <a:r>
              <a:rPr kumimoji="1" lang="en-US" altLang="zh-TW" sz="2400" dirty="0" err="1"/>
              <a:t>h</a:t>
            </a:r>
            <a:r>
              <a:rPr kumimoji="1" lang="en-US" altLang="zh-TW" sz="2400" baseline="-25000" dirty="0" err="1"/>
              <a:t>n</a:t>
            </a:r>
            <a:endParaRPr kumimoji="1" lang="zh-TW" altLang="en-US" sz="2400" baseline="-25000" dirty="0"/>
          </a:p>
        </p:txBody>
      </p:sp>
      <p:sp>
        <p:nvSpPr>
          <p:cNvPr id="15" name="文字方塊 14">
            <a:extLst>
              <a:ext uri="{FF2B5EF4-FFF2-40B4-BE49-F238E27FC236}">
                <a16:creationId xmlns:a16="http://schemas.microsoft.com/office/drawing/2014/main" id="{D5A31E2F-432F-B577-367A-F3773EAB4231}"/>
              </a:ext>
            </a:extLst>
          </p:cNvPr>
          <p:cNvSpPr txBox="1"/>
          <p:nvPr/>
        </p:nvSpPr>
        <p:spPr>
          <a:xfrm>
            <a:off x="8665813" y="6204510"/>
            <a:ext cx="583911" cy="461665"/>
          </a:xfrm>
          <a:prstGeom prst="rect">
            <a:avLst/>
          </a:prstGeom>
          <a:noFill/>
        </p:spPr>
        <p:txBody>
          <a:bodyPr wrap="square" rtlCol="0">
            <a:spAutoFit/>
          </a:bodyPr>
          <a:lstStyle/>
          <a:p>
            <a:pPr algn="ctr"/>
            <a:r>
              <a:rPr kumimoji="1" lang="en-US" altLang="zh-TW" sz="2400" dirty="0" err="1"/>
              <a:t>e</a:t>
            </a:r>
            <a:r>
              <a:rPr kumimoji="1" lang="en-US" altLang="zh-TW" sz="2400" baseline="-25000" dirty="0" err="1"/>
              <a:t>n</a:t>
            </a:r>
            <a:endParaRPr kumimoji="1" lang="zh-TW" altLang="en-US" sz="2400" baseline="-25000" dirty="0"/>
          </a:p>
        </p:txBody>
      </p:sp>
      <p:cxnSp>
        <p:nvCxnSpPr>
          <p:cNvPr id="16" name="直線箭頭接點 15">
            <a:extLst>
              <a:ext uri="{FF2B5EF4-FFF2-40B4-BE49-F238E27FC236}">
                <a16:creationId xmlns:a16="http://schemas.microsoft.com/office/drawing/2014/main" id="{CDBA5EBA-CDAD-10C6-8906-141A7260004C}"/>
              </a:ext>
            </a:extLst>
          </p:cNvPr>
          <p:cNvCxnSpPr>
            <a:cxnSpLocks/>
            <a:stCxn id="15" idx="0"/>
            <a:endCxn id="8" idx="2"/>
          </p:cNvCxnSpPr>
          <p:nvPr/>
        </p:nvCxnSpPr>
        <p:spPr>
          <a:xfrm flipH="1" flipV="1">
            <a:off x="8957768" y="5635067"/>
            <a:ext cx="1" cy="56944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文字方塊 16">
            <a:extLst>
              <a:ext uri="{FF2B5EF4-FFF2-40B4-BE49-F238E27FC236}">
                <a16:creationId xmlns:a16="http://schemas.microsoft.com/office/drawing/2014/main" id="{16029540-BC63-63E5-78F9-BD3B3264D49C}"/>
              </a:ext>
            </a:extLst>
          </p:cNvPr>
          <p:cNvSpPr txBox="1"/>
          <p:nvPr/>
        </p:nvSpPr>
        <p:spPr>
          <a:xfrm>
            <a:off x="6902726" y="6204510"/>
            <a:ext cx="583911" cy="461665"/>
          </a:xfrm>
          <a:prstGeom prst="rect">
            <a:avLst/>
          </a:prstGeom>
          <a:noFill/>
        </p:spPr>
        <p:txBody>
          <a:bodyPr wrap="square" rtlCol="0">
            <a:spAutoFit/>
          </a:bodyPr>
          <a:lstStyle/>
          <a:p>
            <a:pPr algn="ctr"/>
            <a:r>
              <a:rPr kumimoji="1" lang="en-US" altLang="zh-TW" sz="2400" dirty="0"/>
              <a:t>e</a:t>
            </a:r>
            <a:r>
              <a:rPr kumimoji="1" lang="en-US" altLang="zh-TW" sz="2400" baseline="-25000" dirty="0"/>
              <a:t>3</a:t>
            </a:r>
            <a:endParaRPr kumimoji="1" lang="zh-TW" altLang="en-US" sz="2400" baseline="-25000" dirty="0"/>
          </a:p>
        </p:txBody>
      </p:sp>
      <p:cxnSp>
        <p:nvCxnSpPr>
          <p:cNvPr id="18" name="直線箭頭接點 17">
            <a:extLst>
              <a:ext uri="{FF2B5EF4-FFF2-40B4-BE49-F238E27FC236}">
                <a16:creationId xmlns:a16="http://schemas.microsoft.com/office/drawing/2014/main" id="{C4B394A2-DD7D-C0A3-F9C6-BA750F030517}"/>
              </a:ext>
            </a:extLst>
          </p:cNvPr>
          <p:cNvCxnSpPr>
            <a:cxnSpLocks/>
            <a:stCxn id="17" idx="0"/>
            <a:endCxn id="7" idx="2"/>
          </p:cNvCxnSpPr>
          <p:nvPr/>
        </p:nvCxnSpPr>
        <p:spPr>
          <a:xfrm flipV="1">
            <a:off x="7194682" y="5635067"/>
            <a:ext cx="0" cy="56944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文字方塊 18">
            <a:extLst>
              <a:ext uri="{FF2B5EF4-FFF2-40B4-BE49-F238E27FC236}">
                <a16:creationId xmlns:a16="http://schemas.microsoft.com/office/drawing/2014/main" id="{F3FCAF1F-2701-AA3B-D246-4967B1F47C5E}"/>
              </a:ext>
            </a:extLst>
          </p:cNvPr>
          <p:cNvSpPr txBox="1"/>
          <p:nvPr/>
        </p:nvSpPr>
        <p:spPr>
          <a:xfrm>
            <a:off x="5139640" y="6204509"/>
            <a:ext cx="583911" cy="461665"/>
          </a:xfrm>
          <a:prstGeom prst="rect">
            <a:avLst/>
          </a:prstGeom>
          <a:noFill/>
        </p:spPr>
        <p:txBody>
          <a:bodyPr wrap="square" rtlCol="0">
            <a:spAutoFit/>
          </a:bodyPr>
          <a:lstStyle/>
          <a:p>
            <a:pPr algn="ctr"/>
            <a:r>
              <a:rPr kumimoji="1" lang="en-US" altLang="zh-TW" sz="2400" dirty="0"/>
              <a:t>e</a:t>
            </a:r>
            <a:r>
              <a:rPr kumimoji="1" lang="en-US" altLang="zh-TW" sz="2400" baseline="-25000" dirty="0"/>
              <a:t>2</a:t>
            </a:r>
            <a:endParaRPr kumimoji="1" lang="zh-TW" altLang="en-US" sz="2400" baseline="-25000" dirty="0"/>
          </a:p>
        </p:txBody>
      </p:sp>
      <p:cxnSp>
        <p:nvCxnSpPr>
          <p:cNvPr id="20" name="直線箭頭接點 19">
            <a:extLst>
              <a:ext uri="{FF2B5EF4-FFF2-40B4-BE49-F238E27FC236}">
                <a16:creationId xmlns:a16="http://schemas.microsoft.com/office/drawing/2014/main" id="{2A3F8B70-94F0-0EFA-6634-7153523BA359}"/>
              </a:ext>
            </a:extLst>
          </p:cNvPr>
          <p:cNvCxnSpPr>
            <a:cxnSpLocks/>
            <a:stCxn id="19" idx="0"/>
            <a:endCxn id="6" idx="2"/>
          </p:cNvCxnSpPr>
          <p:nvPr/>
        </p:nvCxnSpPr>
        <p:spPr>
          <a:xfrm flipV="1">
            <a:off x="5431596" y="5635067"/>
            <a:ext cx="0" cy="56944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文字方塊 20">
            <a:extLst>
              <a:ext uri="{FF2B5EF4-FFF2-40B4-BE49-F238E27FC236}">
                <a16:creationId xmlns:a16="http://schemas.microsoft.com/office/drawing/2014/main" id="{8D64AD5C-AA3F-0F2B-BCEA-B6522820FDC4}"/>
              </a:ext>
            </a:extLst>
          </p:cNvPr>
          <p:cNvSpPr txBox="1"/>
          <p:nvPr/>
        </p:nvSpPr>
        <p:spPr>
          <a:xfrm>
            <a:off x="3376553" y="6204508"/>
            <a:ext cx="583911" cy="461665"/>
          </a:xfrm>
          <a:prstGeom prst="rect">
            <a:avLst/>
          </a:prstGeom>
          <a:noFill/>
        </p:spPr>
        <p:txBody>
          <a:bodyPr wrap="square" rtlCol="0">
            <a:spAutoFit/>
          </a:bodyPr>
          <a:lstStyle/>
          <a:p>
            <a:pPr algn="ctr"/>
            <a:r>
              <a:rPr kumimoji="1" lang="en-US" altLang="zh-TW" sz="2400" dirty="0"/>
              <a:t>e</a:t>
            </a:r>
            <a:r>
              <a:rPr kumimoji="1" lang="en-US" altLang="zh-TW" sz="2400" baseline="-25000" dirty="0"/>
              <a:t>1</a:t>
            </a:r>
            <a:endParaRPr kumimoji="1" lang="zh-TW" altLang="en-US" sz="2400" baseline="-25000" dirty="0"/>
          </a:p>
        </p:txBody>
      </p:sp>
      <p:cxnSp>
        <p:nvCxnSpPr>
          <p:cNvPr id="22" name="直線箭頭接點 21">
            <a:extLst>
              <a:ext uri="{FF2B5EF4-FFF2-40B4-BE49-F238E27FC236}">
                <a16:creationId xmlns:a16="http://schemas.microsoft.com/office/drawing/2014/main" id="{6ED02DED-336A-4BF6-398F-FDFA7BC986D7}"/>
              </a:ext>
            </a:extLst>
          </p:cNvPr>
          <p:cNvCxnSpPr>
            <a:cxnSpLocks/>
            <a:stCxn id="21" idx="0"/>
            <a:endCxn id="5" idx="2"/>
          </p:cNvCxnSpPr>
          <p:nvPr/>
        </p:nvCxnSpPr>
        <p:spPr>
          <a:xfrm flipV="1">
            <a:off x="3668509" y="5635067"/>
            <a:ext cx="1" cy="56944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D24D84FE-C8F1-2673-E620-A18209DF3C86}"/>
              </a:ext>
            </a:extLst>
          </p:cNvPr>
          <p:cNvSpPr/>
          <p:nvPr/>
        </p:nvSpPr>
        <p:spPr>
          <a:xfrm>
            <a:off x="8277740" y="3240904"/>
            <a:ext cx="1359016" cy="39832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FFN</a:t>
            </a:r>
            <a:endParaRPr kumimoji="1" lang="zh-TW" altLang="en-US" sz="2400" dirty="0">
              <a:solidFill>
                <a:schemeClr val="tx1"/>
              </a:solidFill>
            </a:endParaRPr>
          </a:p>
        </p:txBody>
      </p:sp>
      <p:cxnSp>
        <p:nvCxnSpPr>
          <p:cNvPr id="24" name="直線箭頭接點 23">
            <a:extLst>
              <a:ext uri="{FF2B5EF4-FFF2-40B4-BE49-F238E27FC236}">
                <a16:creationId xmlns:a16="http://schemas.microsoft.com/office/drawing/2014/main" id="{53094C66-D7D7-CE2A-4FC4-01EBF5E058DA}"/>
              </a:ext>
            </a:extLst>
          </p:cNvPr>
          <p:cNvCxnSpPr>
            <a:cxnSpLocks/>
            <a:stCxn id="14" idx="0"/>
            <a:endCxn id="23" idx="2"/>
          </p:cNvCxnSpPr>
          <p:nvPr/>
        </p:nvCxnSpPr>
        <p:spPr>
          <a:xfrm flipH="1" flipV="1">
            <a:off x="8957248" y="3639224"/>
            <a:ext cx="521" cy="52530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文字方塊 24">
            <a:extLst>
              <a:ext uri="{FF2B5EF4-FFF2-40B4-BE49-F238E27FC236}">
                <a16:creationId xmlns:a16="http://schemas.microsoft.com/office/drawing/2014/main" id="{2C9B3DA9-C0B6-8E2B-9050-E74470773ADE}"/>
              </a:ext>
            </a:extLst>
          </p:cNvPr>
          <p:cNvSpPr txBox="1"/>
          <p:nvPr/>
        </p:nvSpPr>
        <p:spPr>
          <a:xfrm>
            <a:off x="1869071" y="5154877"/>
            <a:ext cx="583911" cy="461665"/>
          </a:xfrm>
          <a:prstGeom prst="rect">
            <a:avLst/>
          </a:prstGeom>
          <a:noFill/>
        </p:spPr>
        <p:txBody>
          <a:bodyPr wrap="square" rtlCol="0">
            <a:spAutoFit/>
          </a:bodyPr>
          <a:lstStyle/>
          <a:p>
            <a:pPr algn="ctr"/>
            <a:r>
              <a:rPr kumimoji="1" lang="en-US" altLang="zh-TW" sz="2400" dirty="0"/>
              <a:t>h</a:t>
            </a:r>
            <a:r>
              <a:rPr kumimoji="1" lang="en-US" altLang="zh-TW" sz="2400" baseline="-25000" dirty="0"/>
              <a:t>0</a:t>
            </a:r>
            <a:endParaRPr kumimoji="1" lang="zh-TW" altLang="en-US" sz="2400" baseline="-25000" dirty="0"/>
          </a:p>
        </p:txBody>
      </p:sp>
      <p:sp>
        <p:nvSpPr>
          <p:cNvPr id="26" name="矩形 25">
            <a:extLst>
              <a:ext uri="{FF2B5EF4-FFF2-40B4-BE49-F238E27FC236}">
                <a16:creationId xmlns:a16="http://schemas.microsoft.com/office/drawing/2014/main" id="{14186764-327D-5137-5E33-433C0DB76724}"/>
              </a:ext>
            </a:extLst>
          </p:cNvPr>
          <p:cNvSpPr/>
          <p:nvPr/>
        </p:nvSpPr>
        <p:spPr>
          <a:xfrm>
            <a:off x="5783975" y="1778024"/>
            <a:ext cx="1778957" cy="9829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400" dirty="0">
                <a:solidFill>
                  <a:schemeClr val="tx1"/>
                </a:solidFill>
              </a:rPr>
              <a:t>Classifier</a:t>
            </a:r>
            <a:endParaRPr kumimoji="1" lang="zh-TW" altLang="en-US" sz="2400" dirty="0">
              <a:solidFill>
                <a:schemeClr val="tx1"/>
              </a:solidFill>
            </a:endParaRPr>
          </a:p>
        </p:txBody>
      </p:sp>
      <p:cxnSp>
        <p:nvCxnSpPr>
          <p:cNvPr id="27" name="直線箭頭接點 26">
            <a:extLst>
              <a:ext uri="{FF2B5EF4-FFF2-40B4-BE49-F238E27FC236}">
                <a16:creationId xmlns:a16="http://schemas.microsoft.com/office/drawing/2014/main" id="{B2810ED5-FA1F-5CD4-2D72-E69EB25E5265}"/>
              </a:ext>
            </a:extLst>
          </p:cNvPr>
          <p:cNvCxnSpPr/>
          <p:nvPr/>
        </p:nvCxnSpPr>
        <p:spPr>
          <a:xfrm>
            <a:off x="4991124" y="2292481"/>
            <a:ext cx="70866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箭頭接點 27">
            <a:extLst>
              <a:ext uri="{FF2B5EF4-FFF2-40B4-BE49-F238E27FC236}">
                <a16:creationId xmlns:a16="http://schemas.microsoft.com/office/drawing/2014/main" id="{2391074E-AF4B-3634-5761-0A7AEE17103F}"/>
              </a:ext>
            </a:extLst>
          </p:cNvPr>
          <p:cNvCxnSpPr>
            <a:cxnSpLocks/>
          </p:cNvCxnSpPr>
          <p:nvPr/>
        </p:nvCxnSpPr>
        <p:spPr>
          <a:xfrm>
            <a:off x="7688932" y="2292481"/>
            <a:ext cx="70866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文字方塊 28">
            <a:extLst>
              <a:ext uri="{FF2B5EF4-FFF2-40B4-BE49-F238E27FC236}">
                <a16:creationId xmlns:a16="http://schemas.microsoft.com/office/drawing/2014/main" id="{AECB3C4A-173D-DF55-8EB7-B8F6BB8821C8}"/>
              </a:ext>
            </a:extLst>
          </p:cNvPr>
          <p:cNvSpPr txBox="1"/>
          <p:nvPr/>
        </p:nvSpPr>
        <p:spPr>
          <a:xfrm>
            <a:off x="8520426" y="1835928"/>
            <a:ext cx="1116330" cy="400110"/>
          </a:xfrm>
          <a:prstGeom prst="rect">
            <a:avLst/>
          </a:prstGeom>
          <a:noFill/>
        </p:spPr>
        <p:txBody>
          <a:bodyPr wrap="square" rtlCol="0">
            <a:spAutoFit/>
          </a:bodyPr>
          <a:lstStyle/>
          <a:p>
            <a:r>
              <a:rPr kumimoji="1" lang="en-US" altLang="zh-TW" sz="2000" dirty="0"/>
              <a:t>Positive</a:t>
            </a:r>
            <a:endParaRPr kumimoji="1" lang="zh-TW" altLang="en-US" sz="2000" dirty="0"/>
          </a:p>
        </p:txBody>
      </p:sp>
      <p:sp>
        <p:nvSpPr>
          <p:cNvPr id="30" name="文字方塊 29">
            <a:extLst>
              <a:ext uri="{FF2B5EF4-FFF2-40B4-BE49-F238E27FC236}">
                <a16:creationId xmlns:a16="http://schemas.microsoft.com/office/drawing/2014/main" id="{23EE7964-0C46-583C-E23F-A9A55DFF8C84}"/>
              </a:ext>
            </a:extLst>
          </p:cNvPr>
          <p:cNvSpPr txBox="1"/>
          <p:nvPr/>
        </p:nvSpPr>
        <p:spPr>
          <a:xfrm>
            <a:off x="8520427" y="2333202"/>
            <a:ext cx="1272797" cy="400110"/>
          </a:xfrm>
          <a:prstGeom prst="rect">
            <a:avLst/>
          </a:prstGeom>
          <a:noFill/>
        </p:spPr>
        <p:txBody>
          <a:bodyPr wrap="square" rtlCol="0">
            <a:spAutoFit/>
          </a:bodyPr>
          <a:lstStyle/>
          <a:p>
            <a:r>
              <a:rPr kumimoji="1" lang="en-US" altLang="zh-TW" sz="2000" dirty="0"/>
              <a:t>Negative</a:t>
            </a:r>
            <a:endParaRPr kumimoji="1" lang="zh-TW" altLang="en-US" sz="2000" dirty="0"/>
          </a:p>
        </p:txBody>
      </p:sp>
      <p:pic>
        <p:nvPicPr>
          <p:cNvPr id="31" name="圖形 30" descr="核取方塊 (打勾) 以實心填滿">
            <a:extLst>
              <a:ext uri="{FF2B5EF4-FFF2-40B4-BE49-F238E27FC236}">
                <a16:creationId xmlns:a16="http://schemas.microsoft.com/office/drawing/2014/main" id="{1A18507A-F645-B03F-0E83-6F188265495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01303" y="2236038"/>
            <a:ext cx="625345" cy="625345"/>
          </a:xfrm>
          <a:prstGeom prst="rect">
            <a:avLst/>
          </a:prstGeom>
        </p:spPr>
      </p:pic>
      <p:sp>
        <p:nvSpPr>
          <p:cNvPr id="32" name="圓角矩形 31">
            <a:extLst>
              <a:ext uri="{FF2B5EF4-FFF2-40B4-BE49-F238E27FC236}">
                <a16:creationId xmlns:a16="http://schemas.microsoft.com/office/drawing/2014/main" id="{EDB4C753-4DDB-E5C5-6B75-618C6A2FB508}"/>
              </a:ext>
            </a:extLst>
          </p:cNvPr>
          <p:cNvSpPr/>
          <p:nvPr/>
        </p:nvSpPr>
        <p:spPr>
          <a:xfrm>
            <a:off x="1306119" y="1869404"/>
            <a:ext cx="3638711" cy="83132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 altLang="zh-TW" sz="2000" dirty="0">
                <a:solidFill>
                  <a:schemeClr val="tx1"/>
                </a:solidFill>
              </a:rPr>
              <a:t>This movie was awful. The ending was absolutely horrible.</a:t>
            </a:r>
            <a:endParaRPr kumimoji="1" lang="zh-TW" altLang="en-US" sz="2000" dirty="0">
              <a:solidFill>
                <a:schemeClr val="tx1"/>
              </a:solidFill>
            </a:endParaRPr>
          </a:p>
        </p:txBody>
      </p:sp>
      <p:pic>
        <p:nvPicPr>
          <p:cNvPr id="33" name="Picture 2" descr="Elmo head Svg, Sesame Street Svg, Sesame Street Clipart, Elm - Inspire  Uplift">
            <a:extLst>
              <a:ext uri="{FF2B5EF4-FFF2-40B4-BE49-F238E27FC236}">
                <a16:creationId xmlns:a16="http://schemas.microsoft.com/office/drawing/2014/main" id="{D66BF87B-3363-D2F6-EBCE-91A8BAE7EF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2341" y="5971013"/>
            <a:ext cx="480190" cy="480190"/>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Elmo head Svg, Sesame Street Svg, Sesame Street Clipart, Elm - Inspire  Uplift">
            <a:extLst>
              <a:ext uri="{FF2B5EF4-FFF2-40B4-BE49-F238E27FC236}">
                <a16:creationId xmlns:a16="http://schemas.microsoft.com/office/drawing/2014/main" id="{CDB68BA6-68AC-D36B-9854-E90003A74F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30548" y="5964413"/>
            <a:ext cx="480190" cy="480190"/>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 descr="Elmo head Svg, Sesame Street Svg, Sesame Street Clipart, Elm - Inspire  Uplift">
            <a:extLst>
              <a:ext uri="{FF2B5EF4-FFF2-40B4-BE49-F238E27FC236}">
                <a16:creationId xmlns:a16="http://schemas.microsoft.com/office/drawing/2014/main" id="{F0EAA69C-D1E2-84EC-1145-EBABFA329C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4733" y="5971821"/>
            <a:ext cx="480190" cy="48019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Elmo head Svg, Sesame Street Svg, Sesame Street Clipart, Elm - Inspire  Uplift">
            <a:extLst>
              <a:ext uri="{FF2B5EF4-FFF2-40B4-BE49-F238E27FC236}">
                <a16:creationId xmlns:a16="http://schemas.microsoft.com/office/drawing/2014/main" id="{004BC643-C469-1B04-C0F3-FBD2EE5BD7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17819" y="5971013"/>
            <a:ext cx="480190" cy="4801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8865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4" grpId="0"/>
      <p:bldP spid="15" grpId="0"/>
      <p:bldP spid="17" grpId="0"/>
      <p:bldP spid="19" grpId="0"/>
      <p:bldP spid="21" grpId="0"/>
      <p:bldP spid="23" grpId="0" animBg="1"/>
      <p:bldP spid="2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FF01120-99E5-0561-ECDA-EBF647ADC838}"/>
              </a:ext>
            </a:extLst>
          </p:cNvPr>
          <p:cNvSpPr>
            <a:spLocks noGrp="1"/>
          </p:cNvSpPr>
          <p:nvPr>
            <p:ph type="title"/>
          </p:nvPr>
        </p:nvSpPr>
        <p:spPr/>
        <p:txBody>
          <a:bodyPr>
            <a:normAutofit fontScale="90000"/>
          </a:bodyPr>
          <a:lstStyle/>
          <a:p>
            <a:r>
              <a:rPr kumimoji="1" lang="en-US" altLang="zh-TW" dirty="0" err="1"/>
              <a:t>ELMo</a:t>
            </a:r>
            <a:r>
              <a:rPr kumimoji="1" lang="en-US" altLang="zh-TW" dirty="0"/>
              <a:t> </a:t>
            </a:r>
            <a:r>
              <a:rPr kumimoji="1" lang="zh-TW" altLang="en-US" dirty="0"/>
              <a:t>相較於詞嵌入確實具備上下文語意資訊 </a:t>
            </a:r>
          </a:p>
        </p:txBody>
      </p:sp>
      <p:sp>
        <p:nvSpPr>
          <p:cNvPr id="4" name="投影片編號版面配置區 3">
            <a:extLst>
              <a:ext uri="{FF2B5EF4-FFF2-40B4-BE49-F238E27FC236}">
                <a16:creationId xmlns:a16="http://schemas.microsoft.com/office/drawing/2014/main" id="{6CBE02A5-6F77-BA15-0BE0-BDE52D9A86BF}"/>
              </a:ext>
            </a:extLst>
          </p:cNvPr>
          <p:cNvSpPr>
            <a:spLocks noGrp="1"/>
          </p:cNvSpPr>
          <p:nvPr>
            <p:ph type="sldNum" sz="quarter" idx="12"/>
          </p:nvPr>
        </p:nvSpPr>
        <p:spPr/>
        <p:txBody>
          <a:bodyPr/>
          <a:lstStyle/>
          <a:p>
            <a:fld id="{6113E31D-E2AB-40D1-8B51-AFA5AFEF393A}" type="slidenum">
              <a:rPr lang="en-US" smtClean="0"/>
              <a:pPr/>
              <a:t>27</a:t>
            </a:fld>
            <a:endParaRPr lang="en-US" dirty="0"/>
          </a:p>
        </p:txBody>
      </p:sp>
      <p:pic>
        <p:nvPicPr>
          <p:cNvPr id="6" name="圖片 5">
            <a:extLst>
              <a:ext uri="{FF2B5EF4-FFF2-40B4-BE49-F238E27FC236}">
                <a16:creationId xmlns:a16="http://schemas.microsoft.com/office/drawing/2014/main" id="{90CA2666-62FA-F3F0-49C8-01988EDA1F48}"/>
              </a:ext>
            </a:extLst>
          </p:cNvPr>
          <p:cNvPicPr>
            <a:picLocks noChangeAspect="1"/>
          </p:cNvPicPr>
          <p:nvPr/>
        </p:nvPicPr>
        <p:blipFill>
          <a:blip r:embed="rId2"/>
          <a:stretch>
            <a:fillRect/>
          </a:stretch>
        </p:blipFill>
        <p:spPr>
          <a:xfrm>
            <a:off x="653143" y="2203270"/>
            <a:ext cx="8902515" cy="3046887"/>
          </a:xfrm>
          <a:prstGeom prst="rect">
            <a:avLst/>
          </a:prstGeom>
        </p:spPr>
      </p:pic>
      <p:sp>
        <p:nvSpPr>
          <p:cNvPr id="7" name="文字方塊 6">
            <a:extLst>
              <a:ext uri="{FF2B5EF4-FFF2-40B4-BE49-F238E27FC236}">
                <a16:creationId xmlns:a16="http://schemas.microsoft.com/office/drawing/2014/main" id="{3B9D4BB8-DAEB-9EC9-42E1-E9C306E04F60}"/>
              </a:ext>
            </a:extLst>
          </p:cNvPr>
          <p:cNvSpPr txBox="1"/>
          <p:nvPr/>
        </p:nvSpPr>
        <p:spPr>
          <a:xfrm>
            <a:off x="9621698" y="4145857"/>
            <a:ext cx="1442719" cy="646331"/>
          </a:xfrm>
          <a:prstGeom prst="rect">
            <a:avLst/>
          </a:prstGeom>
          <a:noFill/>
        </p:spPr>
        <p:txBody>
          <a:bodyPr wrap="square" rtlCol="0">
            <a:spAutoFit/>
          </a:bodyPr>
          <a:lstStyle/>
          <a:p>
            <a:pPr algn="ctr"/>
            <a:r>
              <a:rPr kumimoji="1" lang="zh-TW" altLang="en-US" dirty="0">
                <a:solidFill>
                  <a:srgbClr val="FF0000"/>
                </a:solidFill>
                <a:latin typeface="Microsoft JhengHei" panose="020B0604030504040204" pitchFamily="34" charset="-120"/>
                <a:ea typeface="Microsoft JhengHei" panose="020B0604030504040204" pitchFamily="34" charset="-120"/>
              </a:rPr>
              <a:t>跟表演有關的</a:t>
            </a:r>
            <a:r>
              <a:rPr kumimoji="1" lang="en-US" altLang="zh-TW" dirty="0">
                <a:solidFill>
                  <a:srgbClr val="FF0000"/>
                </a:solidFill>
                <a:latin typeface="Microsoft JhengHei" panose="020B0604030504040204" pitchFamily="34" charset="-120"/>
                <a:ea typeface="Microsoft JhengHei" panose="020B0604030504040204" pitchFamily="34" charset="-120"/>
              </a:rPr>
              <a:t> play</a:t>
            </a:r>
            <a:endParaRPr kumimoji="1" lang="zh-TW" altLang="en-US" dirty="0">
              <a:solidFill>
                <a:srgbClr val="FF0000"/>
              </a:solidFill>
              <a:latin typeface="Microsoft JhengHei" panose="020B0604030504040204" pitchFamily="34" charset="-120"/>
              <a:ea typeface="Microsoft JhengHei" panose="020B0604030504040204" pitchFamily="34" charset="-120"/>
            </a:endParaRPr>
          </a:p>
        </p:txBody>
      </p:sp>
      <p:sp>
        <p:nvSpPr>
          <p:cNvPr id="8" name="文字方塊 7">
            <a:extLst>
              <a:ext uri="{FF2B5EF4-FFF2-40B4-BE49-F238E27FC236}">
                <a16:creationId xmlns:a16="http://schemas.microsoft.com/office/drawing/2014/main" id="{AA1066BA-5065-9E62-200C-23520FEABA23}"/>
              </a:ext>
            </a:extLst>
          </p:cNvPr>
          <p:cNvSpPr txBox="1"/>
          <p:nvPr/>
        </p:nvSpPr>
        <p:spPr>
          <a:xfrm>
            <a:off x="9621698" y="3248151"/>
            <a:ext cx="1442719" cy="646331"/>
          </a:xfrm>
          <a:prstGeom prst="rect">
            <a:avLst/>
          </a:prstGeom>
          <a:noFill/>
        </p:spPr>
        <p:txBody>
          <a:bodyPr wrap="square" rtlCol="0">
            <a:spAutoFit/>
          </a:bodyPr>
          <a:lstStyle/>
          <a:p>
            <a:pPr algn="ctr"/>
            <a:r>
              <a:rPr kumimoji="1" lang="zh-TW" altLang="en-US" dirty="0">
                <a:solidFill>
                  <a:srgbClr val="FF0000"/>
                </a:solidFill>
                <a:latin typeface="Microsoft JhengHei" panose="020B0604030504040204" pitchFamily="34" charset="-120"/>
                <a:ea typeface="Microsoft JhengHei" panose="020B0604030504040204" pitchFamily="34" charset="-120"/>
              </a:rPr>
              <a:t>跟球類有關的</a:t>
            </a:r>
            <a:r>
              <a:rPr kumimoji="1" lang="en-US" altLang="zh-TW" dirty="0">
                <a:solidFill>
                  <a:srgbClr val="FF0000"/>
                </a:solidFill>
                <a:latin typeface="Microsoft JhengHei" panose="020B0604030504040204" pitchFamily="34" charset="-120"/>
                <a:ea typeface="Microsoft JhengHei" panose="020B0604030504040204" pitchFamily="34" charset="-120"/>
              </a:rPr>
              <a:t> play</a:t>
            </a:r>
            <a:endParaRPr kumimoji="1" lang="zh-TW" altLang="en-US" dirty="0">
              <a:solidFill>
                <a:srgbClr val="FF0000"/>
              </a:solidFill>
              <a:latin typeface="Microsoft JhengHei" panose="020B0604030504040204" pitchFamily="34" charset="-120"/>
              <a:ea typeface="Microsoft JhengHei" panose="020B0604030504040204" pitchFamily="34" charset="-120"/>
            </a:endParaRPr>
          </a:p>
        </p:txBody>
      </p:sp>
      <p:sp>
        <p:nvSpPr>
          <p:cNvPr id="5" name="文字方塊 4">
            <a:extLst>
              <a:ext uri="{FF2B5EF4-FFF2-40B4-BE49-F238E27FC236}">
                <a16:creationId xmlns:a16="http://schemas.microsoft.com/office/drawing/2014/main" id="{B8E71023-160E-1FF6-1674-C83BB9FEF9D5}"/>
              </a:ext>
            </a:extLst>
          </p:cNvPr>
          <p:cNvSpPr txBox="1"/>
          <p:nvPr/>
        </p:nvSpPr>
        <p:spPr>
          <a:xfrm>
            <a:off x="3088143" y="6239741"/>
            <a:ext cx="6015713" cy="461665"/>
          </a:xfrm>
          <a:prstGeom prst="rect">
            <a:avLst/>
          </a:prstGeom>
          <a:noFill/>
        </p:spPr>
        <p:txBody>
          <a:bodyPr wrap="square" rtlCol="0">
            <a:spAutoFit/>
          </a:bodyPr>
          <a:lstStyle/>
          <a:p>
            <a:pPr algn="ctr"/>
            <a:r>
              <a:rPr kumimoji="1" lang="en" altLang="zh-TW" sz="1200" dirty="0"/>
              <a:t>Peters, M., Neumann, M., </a:t>
            </a:r>
            <a:r>
              <a:rPr kumimoji="1" lang="en" altLang="zh-TW" sz="1200" dirty="0" err="1"/>
              <a:t>Iyyer</a:t>
            </a:r>
            <a:r>
              <a:rPr kumimoji="1" lang="en" altLang="zh-TW" sz="1200" dirty="0"/>
              <a:t>, M., Gardner, M., Clark, C., Lee, K., &amp; </a:t>
            </a:r>
            <a:r>
              <a:rPr kumimoji="1" lang="en" altLang="zh-TW" sz="1200" dirty="0" err="1"/>
              <a:t>Zettlemoyer</a:t>
            </a:r>
            <a:r>
              <a:rPr kumimoji="1" lang="en" altLang="zh-TW" sz="1200" dirty="0"/>
              <a:t>, L. Deep Contextualized Word Representations. NAACL 2018.</a:t>
            </a:r>
          </a:p>
        </p:txBody>
      </p:sp>
    </p:spTree>
    <p:extLst>
      <p:ext uri="{BB962C8B-B14F-4D97-AF65-F5344CB8AC3E}">
        <p14:creationId xmlns:p14="http://schemas.microsoft.com/office/powerpoint/2010/main" val="28421797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72867D-BAE7-FE54-26EC-B7975F9110BD}"/>
              </a:ext>
            </a:extLst>
          </p:cNvPr>
          <p:cNvSpPr>
            <a:spLocks noGrp="1"/>
          </p:cNvSpPr>
          <p:nvPr>
            <p:ph type="title"/>
          </p:nvPr>
        </p:nvSpPr>
        <p:spPr/>
        <p:txBody>
          <a:bodyPr>
            <a:normAutofit fontScale="90000"/>
          </a:bodyPr>
          <a:lstStyle/>
          <a:p>
            <a:r>
              <a:rPr kumimoji="1" lang="en" altLang="zh-TW" dirty="0"/>
              <a:t>The Pre-training then Fine-tuning Paradigm</a:t>
            </a:r>
            <a:endParaRPr kumimoji="1" lang="zh-TW" altLang="en-US" dirty="0"/>
          </a:p>
        </p:txBody>
      </p:sp>
      <p:sp>
        <p:nvSpPr>
          <p:cNvPr id="4" name="投影片編號版面配置區 3">
            <a:extLst>
              <a:ext uri="{FF2B5EF4-FFF2-40B4-BE49-F238E27FC236}">
                <a16:creationId xmlns:a16="http://schemas.microsoft.com/office/drawing/2014/main" id="{284A643A-0C0A-2628-AAD2-9D4FEF8F0AB2}"/>
              </a:ext>
            </a:extLst>
          </p:cNvPr>
          <p:cNvSpPr>
            <a:spLocks noGrp="1"/>
          </p:cNvSpPr>
          <p:nvPr>
            <p:ph type="sldNum" sz="quarter" idx="12"/>
          </p:nvPr>
        </p:nvSpPr>
        <p:spPr/>
        <p:txBody>
          <a:bodyPr/>
          <a:lstStyle/>
          <a:p>
            <a:fld id="{6113E31D-E2AB-40D1-8B51-AFA5AFEF393A}" type="slidenum">
              <a:rPr lang="en-US" smtClean="0"/>
              <a:pPr/>
              <a:t>28</a:t>
            </a:fld>
            <a:endParaRPr lang="en-US" dirty="0"/>
          </a:p>
        </p:txBody>
      </p:sp>
      <p:sp>
        <p:nvSpPr>
          <p:cNvPr id="5" name="圓角矩形 4">
            <a:extLst>
              <a:ext uri="{FF2B5EF4-FFF2-40B4-BE49-F238E27FC236}">
                <a16:creationId xmlns:a16="http://schemas.microsoft.com/office/drawing/2014/main" id="{CB61D7AC-56C0-E3AD-F8C1-D0E6E1FFCDA0}"/>
              </a:ext>
            </a:extLst>
          </p:cNvPr>
          <p:cNvSpPr/>
          <p:nvPr/>
        </p:nvSpPr>
        <p:spPr>
          <a:xfrm>
            <a:off x="2133897" y="2727701"/>
            <a:ext cx="2557219" cy="1325105"/>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800" b="1" dirty="0">
                <a:solidFill>
                  <a:schemeClr val="tx1"/>
                </a:solidFill>
              </a:rPr>
              <a:t>Pre-training</a:t>
            </a:r>
            <a:endParaRPr kumimoji="1" lang="zh-TW" altLang="en-US" sz="3200" b="1" dirty="0">
              <a:solidFill>
                <a:schemeClr val="tx1"/>
              </a:solidFill>
            </a:endParaRPr>
          </a:p>
        </p:txBody>
      </p:sp>
      <p:sp>
        <p:nvSpPr>
          <p:cNvPr id="6" name="圓角矩形 5">
            <a:extLst>
              <a:ext uri="{FF2B5EF4-FFF2-40B4-BE49-F238E27FC236}">
                <a16:creationId xmlns:a16="http://schemas.microsoft.com/office/drawing/2014/main" id="{07C80630-6F48-071F-F928-16865BD1E686}"/>
              </a:ext>
            </a:extLst>
          </p:cNvPr>
          <p:cNvSpPr/>
          <p:nvPr/>
        </p:nvSpPr>
        <p:spPr>
          <a:xfrm>
            <a:off x="6956157" y="2727702"/>
            <a:ext cx="2557219" cy="1325105"/>
          </a:xfrm>
          <a:prstGeom prst="round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800" b="1" dirty="0">
                <a:solidFill>
                  <a:schemeClr val="tx1"/>
                </a:solidFill>
              </a:rPr>
              <a:t>Fine-tuning</a:t>
            </a:r>
            <a:endParaRPr kumimoji="1" lang="zh-TW" altLang="en-US" sz="2800" dirty="0"/>
          </a:p>
        </p:txBody>
      </p:sp>
      <p:cxnSp>
        <p:nvCxnSpPr>
          <p:cNvPr id="7" name="Google Shape;195;p17">
            <a:extLst>
              <a:ext uri="{FF2B5EF4-FFF2-40B4-BE49-F238E27FC236}">
                <a16:creationId xmlns:a16="http://schemas.microsoft.com/office/drawing/2014/main" id="{A42C9718-A3A1-C827-6BE8-93B311EC9440}"/>
              </a:ext>
            </a:extLst>
          </p:cNvPr>
          <p:cNvCxnSpPr>
            <a:cxnSpLocks/>
          </p:cNvCxnSpPr>
          <p:nvPr/>
        </p:nvCxnSpPr>
        <p:spPr>
          <a:xfrm>
            <a:off x="5176731" y="3399151"/>
            <a:ext cx="1293811" cy="0"/>
          </a:xfrm>
          <a:prstGeom prst="straightConnector1">
            <a:avLst/>
          </a:prstGeom>
          <a:noFill/>
          <a:ln w="28575" cap="flat" cmpd="sng">
            <a:solidFill>
              <a:schemeClr val="tx1"/>
            </a:solidFill>
            <a:prstDash val="solid"/>
            <a:round/>
            <a:headEnd type="none" w="med" len="med"/>
            <a:tailEnd type="triangle" w="med" len="med"/>
          </a:ln>
        </p:spPr>
      </p:cxnSp>
      <p:sp>
        <p:nvSpPr>
          <p:cNvPr id="9" name="文字方塊 8">
            <a:extLst>
              <a:ext uri="{FF2B5EF4-FFF2-40B4-BE49-F238E27FC236}">
                <a16:creationId xmlns:a16="http://schemas.microsoft.com/office/drawing/2014/main" id="{2C724D3D-D6A7-9A27-68C2-CCD45EB287C3}"/>
              </a:ext>
            </a:extLst>
          </p:cNvPr>
          <p:cNvSpPr txBox="1"/>
          <p:nvPr/>
        </p:nvSpPr>
        <p:spPr>
          <a:xfrm>
            <a:off x="1622452" y="4533254"/>
            <a:ext cx="3580108" cy="646331"/>
          </a:xfrm>
          <a:prstGeom prst="rect">
            <a:avLst/>
          </a:prstGeom>
          <a:noFill/>
        </p:spPr>
        <p:txBody>
          <a:bodyPr wrap="square" rtlCol="0">
            <a:spAutoFit/>
          </a:bodyPr>
          <a:lstStyle/>
          <a:p>
            <a:r>
              <a:rPr kumimoji="1" lang="zh-TW" altLang="en-US" dirty="0">
                <a:ea typeface="Microsoft JhengHei" panose="020B0604030504040204" pitchFamily="34" charset="-120"/>
              </a:rPr>
              <a:t>在</a:t>
            </a:r>
            <a:r>
              <a:rPr kumimoji="1" lang="zh-TW" altLang="en-US" dirty="0">
                <a:solidFill>
                  <a:srgbClr val="FF0000"/>
                </a:solidFill>
                <a:ea typeface="Microsoft JhengHei" panose="020B0604030504040204" pitchFamily="34" charset="-120"/>
              </a:rPr>
              <a:t>大量</a:t>
            </a:r>
            <a:r>
              <a:rPr kumimoji="1" lang="zh-TW" altLang="en-US" dirty="0">
                <a:ea typeface="Microsoft JhengHei" panose="020B0604030504040204" pitchFamily="34" charset="-120"/>
              </a:rPr>
              <a:t>資料上進行訓練，通常是自監督式 </a:t>
            </a:r>
            <a:r>
              <a:rPr kumimoji="1" lang="en-US" altLang="zh-TW" dirty="0">
                <a:ea typeface="Microsoft JhengHei" panose="020B0604030504040204" pitchFamily="34" charset="-120"/>
              </a:rPr>
              <a:t>(Self-Supervised Training)</a:t>
            </a:r>
            <a:endParaRPr kumimoji="1" lang="zh-TW" altLang="en-US" dirty="0">
              <a:ea typeface="Microsoft JhengHei" panose="020B0604030504040204" pitchFamily="34" charset="-120"/>
            </a:endParaRPr>
          </a:p>
        </p:txBody>
      </p:sp>
      <p:sp>
        <p:nvSpPr>
          <p:cNvPr id="10" name="文字方塊 9">
            <a:extLst>
              <a:ext uri="{FF2B5EF4-FFF2-40B4-BE49-F238E27FC236}">
                <a16:creationId xmlns:a16="http://schemas.microsoft.com/office/drawing/2014/main" id="{6AFA3B6E-1EDC-9352-30A0-71896FB0BC66}"/>
              </a:ext>
            </a:extLst>
          </p:cNvPr>
          <p:cNvSpPr txBox="1"/>
          <p:nvPr/>
        </p:nvSpPr>
        <p:spPr>
          <a:xfrm>
            <a:off x="6444712" y="4533254"/>
            <a:ext cx="3580108" cy="1200329"/>
          </a:xfrm>
          <a:prstGeom prst="rect">
            <a:avLst/>
          </a:prstGeom>
          <a:noFill/>
        </p:spPr>
        <p:txBody>
          <a:bodyPr wrap="square" rtlCol="0">
            <a:spAutoFit/>
          </a:bodyPr>
          <a:lstStyle/>
          <a:p>
            <a:pPr algn="just"/>
            <a:r>
              <a:rPr kumimoji="1" lang="zh-TW" altLang="en-US" dirty="0">
                <a:ea typeface="Microsoft JhengHei" panose="020B0604030504040204" pitchFamily="34" charset="-120"/>
              </a:rPr>
              <a:t>在</a:t>
            </a:r>
            <a:r>
              <a:rPr kumimoji="1" lang="zh-TW" altLang="en-US" dirty="0">
                <a:solidFill>
                  <a:srgbClr val="FF0000"/>
                </a:solidFill>
                <a:ea typeface="Microsoft JhengHei" panose="020B0604030504040204" pitchFamily="34" charset="-120"/>
              </a:rPr>
              <a:t>目標</a:t>
            </a:r>
            <a:r>
              <a:rPr kumimoji="1" lang="zh-TW" altLang="en-US" dirty="0">
                <a:ea typeface="Microsoft JhengHei" panose="020B0604030504040204" pitchFamily="34" charset="-120"/>
              </a:rPr>
              <a:t>資料上</a:t>
            </a:r>
            <a:r>
              <a:rPr kumimoji="1" lang="en-US" altLang="zh-TW" dirty="0">
                <a:ea typeface="Microsoft JhengHei" panose="020B0604030504040204" pitchFamily="34" charset="-120"/>
              </a:rPr>
              <a:t> (Down-stream tasks) </a:t>
            </a:r>
            <a:r>
              <a:rPr kumimoji="1" lang="zh-TW" altLang="en-US" dirty="0">
                <a:ea typeface="Microsoft JhengHei" panose="020B0604030504040204" pitchFamily="34" charset="-120"/>
              </a:rPr>
              <a:t>進行訓練，通常是監督式 </a:t>
            </a:r>
            <a:r>
              <a:rPr kumimoji="1" lang="en-US" altLang="zh-TW" dirty="0">
                <a:ea typeface="Microsoft JhengHei" panose="020B0604030504040204" pitchFamily="34" charset="-120"/>
              </a:rPr>
              <a:t>(Supervised Training)</a:t>
            </a:r>
            <a:r>
              <a:rPr kumimoji="1" lang="zh-TW" altLang="en-US" dirty="0">
                <a:ea typeface="Microsoft JhengHei" panose="020B0604030504040204" pitchFamily="34" charset="-120"/>
              </a:rPr>
              <a:t>，也就是需要有標註的資料才能進行模型訓練</a:t>
            </a:r>
          </a:p>
        </p:txBody>
      </p:sp>
    </p:spTree>
    <p:extLst>
      <p:ext uri="{BB962C8B-B14F-4D97-AF65-F5344CB8AC3E}">
        <p14:creationId xmlns:p14="http://schemas.microsoft.com/office/powerpoint/2010/main" val="30230471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3CB39AB-37C4-2575-6CE1-E97A620941ED}"/>
              </a:ext>
            </a:extLst>
          </p:cNvPr>
          <p:cNvSpPr>
            <a:spLocks noGrp="1"/>
          </p:cNvSpPr>
          <p:nvPr>
            <p:ph type="title"/>
          </p:nvPr>
        </p:nvSpPr>
        <p:spPr/>
        <p:txBody>
          <a:bodyPr>
            <a:normAutofit fontScale="90000"/>
          </a:bodyPr>
          <a:lstStyle/>
          <a:p>
            <a:r>
              <a:rPr kumimoji="1" lang="en-US" altLang="zh-TW" dirty="0"/>
              <a:t>Feature-based and Fine-tuning approaches</a:t>
            </a:r>
            <a:endParaRPr kumimoji="1" lang="zh-TW" altLang="en-US" dirty="0"/>
          </a:p>
        </p:txBody>
      </p:sp>
      <p:sp>
        <p:nvSpPr>
          <p:cNvPr id="4" name="投影片編號版面配置區 3">
            <a:extLst>
              <a:ext uri="{FF2B5EF4-FFF2-40B4-BE49-F238E27FC236}">
                <a16:creationId xmlns:a16="http://schemas.microsoft.com/office/drawing/2014/main" id="{08C03D75-3905-E775-CC7B-AC6F63EBD0AD}"/>
              </a:ext>
            </a:extLst>
          </p:cNvPr>
          <p:cNvSpPr>
            <a:spLocks noGrp="1"/>
          </p:cNvSpPr>
          <p:nvPr>
            <p:ph type="sldNum" sz="quarter" idx="12"/>
          </p:nvPr>
        </p:nvSpPr>
        <p:spPr/>
        <p:txBody>
          <a:bodyPr/>
          <a:lstStyle/>
          <a:p>
            <a:fld id="{6113E31D-E2AB-40D1-8B51-AFA5AFEF393A}" type="slidenum">
              <a:rPr lang="en-US" smtClean="0"/>
              <a:pPr/>
              <a:t>29</a:t>
            </a:fld>
            <a:endParaRPr lang="en-US" dirty="0"/>
          </a:p>
        </p:txBody>
      </p:sp>
      <p:sp>
        <p:nvSpPr>
          <p:cNvPr id="5" name="內容版面配置區 2">
            <a:extLst>
              <a:ext uri="{FF2B5EF4-FFF2-40B4-BE49-F238E27FC236}">
                <a16:creationId xmlns:a16="http://schemas.microsoft.com/office/drawing/2014/main" id="{F8E4A0F0-60E1-E16B-290D-B0F1865E1608}"/>
              </a:ext>
            </a:extLst>
          </p:cNvPr>
          <p:cNvSpPr>
            <a:spLocks noGrp="1"/>
          </p:cNvSpPr>
          <p:nvPr>
            <p:ph idx="1"/>
          </p:nvPr>
        </p:nvSpPr>
        <p:spPr>
          <a:xfrm>
            <a:off x="653143" y="1890852"/>
            <a:ext cx="10918371" cy="2391588"/>
          </a:xfrm>
        </p:spPr>
        <p:txBody>
          <a:bodyPr vert="horz" lIns="0" tIns="45720" rIns="0" bIns="45720" rtlCol="0" anchor="t">
            <a:normAutofit/>
          </a:bodyPr>
          <a:lstStyle/>
          <a:p>
            <a:pPr indent="-360000">
              <a:lnSpc>
                <a:spcPct val="100000"/>
              </a:lnSpc>
              <a:spcAft>
                <a:spcPts val="600"/>
              </a:spcAft>
              <a:buClr>
                <a:schemeClr val="tx1"/>
              </a:buClr>
              <a:buFont typeface="Arial" panose="020B0604020202020204" pitchFamily="34" charset="0"/>
              <a:buChar char="•"/>
            </a:pPr>
            <a:r>
              <a:rPr lang="en-US" altLang="zh-TW" sz="2400" dirty="0">
                <a:ea typeface="新細明體"/>
                <a:cs typeface="+mn-lt"/>
              </a:rPr>
              <a:t>Feature-based approach – </a:t>
            </a:r>
            <a:r>
              <a:rPr lang="en-US" altLang="zh-TW" sz="2400" dirty="0" err="1">
                <a:ea typeface="新細明體"/>
                <a:cs typeface="+mn-lt"/>
              </a:rPr>
              <a:t>ELMo</a:t>
            </a:r>
            <a:endParaRPr lang="en-US" altLang="zh-TW" sz="2400" dirty="0">
              <a:ea typeface="新細明體"/>
              <a:cs typeface="+mn-lt"/>
            </a:endParaRPr>
          </a:p>
          <a:p>
            <a:pPr lvl="2" indent="-360000">
              <a:lnSpc>
                <a:spcPct val="100000"/>
              </a:lnSpc>
              <a:spcAft>
                <a:spcPts val="600"/>
              </a:spcAft>
              <a:buClr>
                <a:schemeClr val="tx1"/>
              </a:buClr>
              <a:buFont typeface="Arial" panose="020B0604020202020204" pitchFamily="34" charset="0"/>
              <a:buChar char="•"/>
            </a:pPr>
            <a:r>
              <a:rPr lang="en" altLang="zh-TW" sz="2400" dirty="0" err="1">
                <a:ea typeface="Microsoft JhengHei" panose="020B0604030504040204" pitchFamily="34" charset="-120"/>
                <a:cs typeface="+mn-lt"/>
              </a:rPr>
              <a:t>ELMo</a:t>
            </a:r>
            <a:r>
              <a:rPr lang="zh-TW" altLang="en-US" sz="2400" dirty="0">
                <a:ea typeface="Microsoft JhengHei" panose="020B0604030504040204" pitchFamily="34" charset="-120"/>
                <a:cs typeface="+mn-lt"/>
              </a:rPr>
              <a:t> 並無針對下游任務設計模型結構</a:t>
            </a:r>
            <a:endParaRPr lang="en" altLang="zh-TW" sz="2400" dirty="0">
              <a:ea typeface="Microsoft JhengHei" panose="020B0604030504040204" pitchFamily="34" charset="-120"/>
              <a:cs typeface="+mn-lt"/>
            </a:endParaRPr>
          </a:p>
          <a:p>
            <a:pPr lvl="2" indent="-360000">
              <a:lnSpc>
                <a:spcPct val="100000"/>
              </a:lnSpc>
              <a:spcAft>
                <a:spcPts val="600"/>
              </a:spcAft>
              <a:buClr>
                <a:schemeClr val="tx1"/>
              </a:buClr>
              <a:buFont typeface="Arial" panose="020B0604020202020204" pitchFamily="34" charset="0"/>
              <a:buChar char="•"/>
            </a:pPr>
            <a:r>
              <a:rPr lang="en" altLang="zh-TW" sz="2400" dirty="0" err="1">
                <a:ea typeface="Microsoft JhengHei" panose="020B0604030504040204" pitchFamily="34" charset="-120"/>
                <a:cs typeface="+mn-lt"/>
              </a:rPr>
              <a:t>ELMo</a:t>
            </a:r>
            <a:r>
              <a:rPr lang="zh-TW" altLang="en-US" sz="2400" dirty="0">
                <a:ea typeface="Microsoft JhengHei" panose="020B0604030504040204" pitchFamily="34" charset="-120"/>
                <a:cs typeface="+mn-lt"/>
              </a:rPr>
              <a:t> 是一種外掛、增幅器，接在別人的工作上</a:t>
            </a:r>
            <a:endParaRPr lang="en-US" altLang="zh-TW" sz="2400" dirty="0">
              <a:ea typeface="Microsoft JhengHei" panose="020B0604030504040204" pitchFamily="34" charset="-120"/>
              <a:cs typeface="+mn-lt"/>
            </a:endParaRPr>
          </a:p>
          <a:p>
            <a:pPr lvl="1" indent="-360000">
              <a:lnSpc>
                <a:spcPct val="100000"/>
              </a:lnSpc>
              <a:spcAft>
                <a:spcPts val="600"/>
              </a:spcAft>
              <a:buClr>
                <a:schemeClr val="tx1"/>
              </a:buClr>
              <a:buFont typeface="Arial" panose="020B0604020202020204" pitchFamily="34" charset="0"/>
              <a:buChar char="•"/>
            </a:pPr>
            <a:r>
              <a:rPr lang="en-US" altLang="zh-TW" sz="2400" dirty="0">
                <a:ea typeface="新細明體" panose="02020500000000000000" pitchFamily="18" charset="-120"/>
                <a:cs typeface="+mn-lt"/>
              </a:rPr>
              <a:t>Fine-tuning </a:t>
            </a:r>
            <a:r>
              <a:rPr lang="en-US" altLang="zh-TW" sz="2400" dirty="0">
                <a:ea typeface="新細明體"/>
                <a:cs typeface="+mn-lt"/>
              </a:rPr>
              <a:t>approach –</a:t>
            </a:r>
            <a:r>
              <a:rPr lang="en-US" altLang="zh-TW" sz="2400" dirty="0">
                <a:ea typeface="新細明體" panose="02020500000000000000" pitchFamily="18" charset="-120"/>
                <a:cs typeface="+mn-lt"/>
              </a:rPr>
              <a:t> GPT, BERT</a:t>
            </a:r>
          </a:p>
          <a:p>
            <a:pPr lvl="2" indent="-360000">
              <a:lnSpc>
                <a:spcPct val="100000"/>
              </a:lnSpc>
              <a:spcAft>
                <a:spcPts val="600"/>
              </a:spcAft>
              <a:buClr>
                <a:schemeClr val="tx1"/>
              </a:buClr>
              <a:buFont typeface="Arial" panose="020B0604020202020204" pitchFamily="34" charset="0"/>
              <a:buChar char="•"/>
            </a:pPr>
            <a:r>
              <a:rPr lang="zh-TW" altLang="en-US" sz="2000" dirty="0">
                <a:latin typeface="Microsoft JhengHei" panose="020B0604030504040204" pitchFamily="34" charset="-120"/>
                <a:ea typeface="Microsoft JhengHei" panose="020B0604030504040204" pitchFamily="34" charset="-120"/>
                <a:cs typeface="Consolas" panose="020B0609020204030204" pitchFamily="49" charset="0"/>
              </a:rPr>
              <a:t>涵蓋下游任務設計</a:t>
            </a:r>
            <a:endParaRPr lang="en-US" altLang="zh-TW" sz="2000" dirty="0">
              <a:latin typeface="Microsoft JhengHei" panose="020B0604030504040204" pitchFamily="34" charset="-120"/>
              <a:ea typeface="Microsoft JhengHei" panose="020B0604030504040204" pitchFamily="34" charset="-120"/>
              <a:cs typeface="Consolas" panose="020B0609020204030204" pitchFamily="49" charset="0"/>
            </a:endParaRPr>
          </a:p>
          <a:p>
            <a:pPr lvl="2" indent="-360000">
              <a:lnSpc>
                <a:spcPct val="100000"/>
              </a:lnSpc>
              <a:spcAft>
                <a:spcPts val="600"/>
              </a:spcAft>
              <a:buClr>
                <a:schemeClr val="tx1"/>
              </a:buClr>
              <a:buFont typeface="Arial" panose="020B0604020202020204" pitchFamily="34" charset="0"/>
              <a:buChar char="•"/>
            </a:pPr>
            <a:endParaRPr lang="en-US" altLang="zh-TW" sz="2000" dirty="0">
              <a:ea typeface="新細明體" panose="02020500000000000000" pitchFamily="18" charset="-120"/>
              <a:cs typeface="+mn-lt"/>
            </a:endParaRPr>
          </a:p>
        </p:txBody>
      </p:sp>
      <p:sp>
        <p:nvSpPr>
          <p:cNvPr id="3" name="圓角矩形 2">
            <a:extLst>
              <a:ext uri="{FF2B5EF4-FFF2-40B4-BE49-F238E27FC236}">
                <a16:creationId xmlns:a16="http://schemas.microsoft.com/office/drawing/2014/main" id="{1C2B7F3E-DE44-AF69-5292-F95D12EDF574}"/>
              </a:ext>
            </a:extLst>
          </p:cNvPr>
          <p:cNvSpPr/>
          <p:nvPr/>
        </p:nvSpPr>
        <p:spPr>
          <a:xfrm>
            <a:off x="3086396" y="4475103"/>
            <a:ext cx="3924004" cy="981511"/>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800" b="1" dirty="0">
                <a:solidFill>
                  <a:schemeClr val="tx1"/>
                </a:solidFill>
              </a:rPr>
              <a:t>Pre-trained Model</a:t>
            </a:r>
            <a:endParaRPr kumimoji="1" lang="zh-TW" altLang="en-US" sz="3200" b="1" dirty="0">
              <a:solidFill>
                <a:schemeClr val="tx1"/>
              </a:solidFill>
            </a:endParaRPr>
          </a:p>
        </p:txBody>
      </p:sp>
      <p:sp>
        <p:nvSpPr>
          <p:cNvPr id="6" name="圓角矩形 5">
            <a:extLst>
              <a:ext uri="{FF2B5EF4-FFF2-40B4-BE49-F238E27FC236}">
                <a16:creationId xmlns:a16="http://schemas.microsoft.com/office/drawing/2014/main" id="{BA795056-BE68-97D3-63BB-C2D7B49F09E5}"/>
              </a:ext>
            </a:extLst>
          </p:cNvPr>
          <p:cNvSpPr/>
          <p:nvPr/>
        </p:nvSpPr>
        <p:spPr>
          <a:xfrm>
            <a:off x="7010399" y="4475103"/>
            <a:ext cx="1954491" cy="981511"/>
          </a:xfrm>
          <a:prstGeom prst="round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sz="2800" b="1" dirty="0">
                <a:solidFill>
                  <a:schemeClr val="tx1"/>
                </a:solidFill>
              </a:rPr>
              <a:t>New Layer (s)</a:t>
            </a:r>
            <a:endParaRPr kumimoji="1" lang="zh-TW" altLang="en-US" sz="2800" dirty="0"/>
          </a:p>
        </p:txBody>
      </p:sp>
    </p:spTree>
    <p:extLst>
      <p:ext uri="{BB962C8B-B14F-4D97-AF65-F5344CB8AC3E}">
        <p14:creationId xmlns:p14="http://schemas.microsoft.com/office/powerpoint/2010/main" val="39832135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0C38114-0291-5B64-7773-7580B63AEFD0}"/>
              </a:ext>
            </a:extLst>
          </p:cNvPr>
          <p:cNvSpPr>
            <a:spLocks noGrp="1"/>
          </p:cNvSpPr>
          <p:nvPr>
            <p:ph type="title"/>
          </p:nvPr>
        </p:nvSpPr>
        <p:spPr/>
        <p:txBody>
          <a:bodyPr>
            <a:normAutofit fontScale="90000"/>
          </a:bodyPr>
          <a:lstStyle/>
          <a:p>
            <a:r>
              <a:rPr kumimoji="1" lang="en-US" altLang="zh-TW" dirty="0"/>
              <a:t>Static Embedding vs. Contextual Embedding</a:t>
            </a:r>
            <a:endParaRPr kumimoji="1" lang="zh-TW" altLang="en-US" dirty="0"/>
          </a:p>
        </p:txBody>
      </p:sp>
      <p:sp>
        <p:nvSpPr>
          <p:cNvPr id="4" name="投影片編號版面配置區 3">
            <a:extLst>
              <a:ext uri="{FF2B5EF4-FFF2-40B4-BE49-F238E27FC236}">
                <a16:creationId xmlns:a16="http://schemas.microsoft.com/office/drawing/2014/main" id="{F15751BA-A445-6BBD-97AF-84402E25D0CD}"/>
              </a:ext>
            </a:extLst>
          </p:cNvPr>
          <p:cNvSpPr>
            <a:spLocks noGrp="1"/>
          </p:cNvSpPr>
          <p:nvPr>
            <p:ph type="sldNum" sz="quarter" idx="12"/>
          </p:nvPr>
        </p:nvSpPr>
        <p:spPr/>
        <p:txBody>
          <a:bodyPr/>
          <a:lstStyle/>
          <a:p>
            <a:fld id="{6113E31D-E2AB-40D1-8B51-AFA5AFEF393A}" type="slidenum">
              <a:rPr lang="en-US" smtClean="0"/>
              <a:pPr/>
              <a:t>30</a:t>
            </a:fld>
            <a:endParaRPr lang="en-US" dirty="0"/>
          </a:p>
        </p:txBody>
      </p:sp>
      <p:graphicFrame>
        <p:nvGraphicFramePr>
          <p:cNvPr id="5" name="表格 5">
            <a:extLst>
              <a:ext uri="{FF2B5EF4-FFF2-40B4-BE49-F238E27FC236}">
                <a16:creationId xmlns:a16="http://schemas.microsoft.com/office/drawing/2014/main" id="{ED6C8B69-9909-860F-9C54-0DAE1A3EEE66}"/>
              </a:ext>
            </a:extLst>
          </p:cNvPr>
          <p:cNvGraphicFramePr>
            <a:graphicFrameLocks noGrp="1"/>
          </p:cNvGraphicFramePr>
          <p:nvPr>
            <p:extLst>
              <p:ext uri="{D42A27DB-BD31-4B8C-83A1-F6EECF244321}">
                <p14:modId xmlns:p14="http://schemas.microsoft.com/office/powerpoint/2010/main" val="703227905"/>
              </p:ext>
            </p:extLst>
          </p:nvPr>
        </p:nvGraphicFramePr>
        <p:xfrm>
          <a:off x="2032000" y="2502738"/>
          <a:ext cx="8128000" cy="2473524"/>
        </p:xfrm>
        <a:graphic>
          <a:graphicData uri="http://schemas.openxmlformats.org/drawingml/2006/table">
            <a:tbl>
              <a:tblPr firstRow="1" bandRow="1">
                <a:tableStyleId>{5C22544A-7EE6-4342-B048-85BDC9FD1C3A}</a:tableStyleId>
              </a:tblPr>
              <a:tblGrid>
                <a:gridCol w="3156016">
                  <a:extLst>
                    <a:ext uri="{9D8B030D-6E8A-4147-A177-3AD203B41FA5}">
                      <a16:colId xmlns:a16="http://schemas.microsoft.com/office/drawing/2014/main" val="1966370525"/>
                    </a:ext>
                  </a:extLst>
                </a:gridCol>
                <a:gridCol w="4971984">
                  <a:extLst>
                    <a:ext uri="{9D8B030D-6E8A-4147-A177-3AD203B41FA5}">
                      <a16:colId xmlns:a16="http://schemas.microsoft.com/office/drawing/2014/main" val="3369927021"/>
                    </a:ext>
                  </a:extLst>
                </a:gridCol>
              </a:tblGrid>
              <a:tr h="824508">
                <a:tc>
                  <a:txBody>
                    <a:bodyPr/>
                    <a:lstStyle/>
                    <a:p>
                      <a:r>
                        <a:rPr lang="en-US" altLang="zh-TW" sz="2400" dirty="0"/>
                        <a:t>Type</a:t>
                      </a:r>
                      <a:endParaRPr lang="zh-TW" altLang="en-US" sz="2400" dirty="0"/>
                    </a:p>
                  </a:txBody>
                  <a:tcPr anchor="ctr"/>
                </a:tc>
                <a:tc>
                  <a:txBody>
                    <a:bodyPr/>
                    <a:lstStyle/>
                    <a:p>
                      <a:r>
                        <a:rPr lang="en-US" altLang="zh-TW" sz="2400" dirty="0"/>
                        <a:t>Models</a:t>
                      </a:r>
                      <a:endParaRPr lang="zh-TW" altLang="en-US" sz="2400" dirty="0"/>
                    </a:p>
                  </a:txBody>
                  <a:tcPr anchor="ctr"/>
                </a:tc>
                <a:extLst>
                  <a:ext uri="{0D108BD9-81ED-4DB2-BD59-A6C34878D82A}">
                    <a16:rowId xmlns:a16="http://schemas.microsoft.com/office/drawing/2014/main" val="2494003730"/>
                  </a:ext>
                </a:extLst>
              </a:tr>
              <a:tr h="824508">
                <a:tc>
                  <a:txBody>
                    <a:bodyPr/>
                    <a:lstStyle/>
                    <a:p>
                      <a:r>
                        <a:rPr lang="en" altLang="zh-TW" sz="2400" dirty="0"/>
                        <a:t>Static Embedding</a:t>
                      </a:r>
                      <a:endParaRPr lang="zh-TW" altLang="en-US" sz="2400" dirty="0"/>
                    </a:p>
                  </a:txBody>
                  <a:tcPr anchor="ctr"/>
                </a:tc>
                <a:tc>
                  <a:txBody>
                    <a:bodyPr/>
                    <a:lstStyle/>
                    <a:p>
                      <a:r>
                        <a:rPr lang="en-US" altLang="zh-TW" sz="2400" dirty="0"/>
                        <a:t>Word2Vec, </a:t>
                      </a:r>
                      <a:r>
                        <a:rPr lang="en-US" altLang="zh-TW" sz="2400" dirty="0" err="1"/>
                        <a:t>GloVe</a:t>
                      </a:r>
                      <a:r>
                        <a:rPr lang="en-US" altLang="zh-TW" sz="2400" dirty="0"/>
                        <a:t>, …</a:t>
                      </a:r>
                      <a:endParaRPr lang="zh-TW" altLang="en-US" sz="2400" dirty="0"/>
                    </a:p>
                  </a:txBody>
                  <a:tcPr anchor="ctr"/>
                </a:tc>
                <a:extLst>
                  <a:ext uri="{0D108BD9-81ED-4DB2-BD59-A6C34878D82A}">
                    <a16:rowId xmlns:a16="http://schemas.microsoft.com/office/drawing/2014/main" val="2528096276"/>
                  </a:ext>
                </a:extLst>
              </a:tr>
              <a:tr h="824508">
                <a:tc>
                  <a:txBody>
                    <a:bodyPr/>
                    <a:lstStyle/>
                    <a:p>
                      <a:r>
                        <a:rPr lang="en" altLang="zh-TW" sz="2400" dirty="0"/>
                        <a:t>Contextual Embedding</a:t>
                      </a:r>
                      <a:endParaRPr lang="zh-TW" altLang="en-US" sz="2400" dirty="0"/>
                    </a:p>
                  </a:txBody>
                  <a:tcPr anchor="ctr"/>
                </a:tc>
                <a:tc>
                  <a:txBody>
                    <a:bodyPr/>
                    <a:lstStyle/>
                    <a:p>
                      <a:r>
                        <a:rPr lang="en-US" altLang="zh-TW" sz="2400" dirty="0"/>
                        <a:t>RNN, </a:t>
                      </a:r>
                      <a:r>
                        <a:rPr lang="en-US" altLang="zh-TW" sz="2400" dirty="0" err="1"/>
                        <a:t>ELMo</a:t>
                      </a:r>
                      <a:r>
                        <a:rPr lang="en-US" altLang="zh-TW" sz="2400" dirty="0"/>
                        <a:t>, BERT, GPT, ...</a:t>
                      </a:r>
                      <a:endParaRPr lang="zh-TW" altLang="en-US" sz="2400" dirty="0"/>
                    </a:p>
                  </a:txBody>
                  <a:tcPr anchor="ctr"/>
                </a:tc>
                <a:extLst>
                  <a:ext uri="{0D108BD9-81ED-4DB2-BD59-A6C34878D82A}">
                    <a16:rowId xmlns:a16="http://schemas.microsoft.com/office/drawing/2014/main" val="971748665"/>
                  </a:ext>
                </a:extLst>
              </a:tr>
            </a:tbl>
          </a:graphicData>
        </a:graphic>
      </p:graphicFrame>
    </p:spTree>
    <p:extLst>
      <p:ext uri="{BB962C8B-B14F-4D97-AF65-F5344CB8AC3E}">
        <p14:creationId xmlns:p14="http://schemas.microsoft.com/office/powerpoint/2010/main" val="12741418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a:extLst>
              <a:ext uri="{FF2B5EF4-FFF2-40B4-BE49-F238E27FC236}">
                <a16:creationId xmlns:a16="http://schemas.microsoft.com/office/drawing/2014/main" id="{0988A61A-7679-5029-E481-E972BCDA8321}"/>
              </a:ext>
            </a:extLst>
          </p:cNvPr>
          <p:cNvSpPr>
            <a:spLocks noGrp="1"/>
          </p:cNvSpPr>
          <p:nvPr>
            <p:ph type="title"/>
          </p:nvPr>
        </p:nvSpPr>
        <p:spPr>
          <a:xfrm>
            <a:off x="457200" y="2407297"/>
            <a:ext cx="3200400" cy="1315617"/>
          </a:xfrm>
        </p:spPr>
        <p:txBody>
          <a:bodyPr/>
          <a:lstStyle/>
          <a:p>
            <a:r>
              <a:rPr lang="en-US" altLang="zh-TW" dirty="0"/>
              <a:t>BERT and its Family</a:t>
            </a:r>
            <a:endParaRPr lang="zh-TW" altLang="en-US" dirty="0"/>
          </a:p>
        </p:txBody>
      </p:sp>
      <p:sp>
        <p:nvSpPr>
          <p:cNvPr id="4" name="投影片編號版面配置區 3">
            <a:extLst>
              <a:ext uri="{FF2B5EF4-FFF2-40B4-BE49-F238E27FC236}">
                <a16:creationId xmlns:a16="http://schemas.microsoft.com/office/drawing/2014/main" id="{642B01E6-53DD-CC83-28F9-073680E15DA3}"/>
              </a:ext>
            </a:extLst>
          </p:cNvPr>
          <p:cNvSpPr>
            <a:spLocks noGrp="1"/>
          </p:cNvSpPr>
          <p:nvPr>
            <p:ph type="sldNum" sz="quarter" idx="12"/>
          </p:nvPr>
        </p:nvSpPr>
        <p:spPr/>
        <p:txBody>
          <a:bodyPr/>
          <a:lstStyle/>
          <a:p>
            <a:fld id="{6113E31D-E2AB-40D1-8B51-AFA5AFEF393A}" type="slidenum">
              <a:rPr lang="en-US" smtClean="0"/>
              <a:pPr/>
              <a:t>31</a:t>
            </a:fld>
            <a:endParaRPr lang="en-US" dirty="0"/>
          </a:p>
        </p:txBody>
      </p:sp>
      <p:sp>
        <p:nvSpPr>
          <p:cNvPr id="2" name="文字方塊 1">
            <a:extLst>
              <a:ext uri="{FF2B5EF4-FFF2-40B4-BE49-F238E27FC236}">
                <a16:creationId xmlns:a16="http://schemas.microsoft.com/office/drawing/2014/main" id="{1C0915F4-406B-77AB-8C4F-858F740AB7BA}"/>
              </a:ext>
            </a:extLst>
          </p:cNvPr>
          <p:cNvSpPr txBox="1"/>
          <p:nvPr/>
        </p:nvSpPr>
        <p:spPr>
          <a:xfrm>
            <a:off x="4612852" y="2151727"/>
            <a:ext cx="3921550" cy="2554545"/>
          </a:xfrm>
          <a:prstGeom prst="rect">
            <a:avLst/>
          </a:prstGeom>
          <a:noFill/>
        </p:spPr>
        <p:txBody>
          <a:bodyPr wrap="square" rtlCol="0">
            <a:spAutoFit/>
          </a:bodyPr>
          <a:lstStyle/>
          <a:p>
            <a:pPr marL="457200" indent="-457200">
              <a:buFont typeface="Arial" panose="020B0604020202020204" pitchFamily="34" charset="0"/>
              <a:buChar char="•"/>
            </a:pPr>
            <a:r>
              <a:rPr kumimoji="1" lang="en-US" altLang="zh-TW" sz="3200" dirty="0" err="1"/>
              <a:t>ELMo</a:t>
            </a:r>
            <a:endParaRPr kumimoji="1" lang="en-US" altLang="zh-TW" sz="3200" dirty="0"/>
          </a:p>
          <a:p>
            <a:pPr marL="457200" indent="-457200">
              <a:buFont typeface="Arial" panose="020B0604020202020204" pitchFamily="34" charset="0"/>
              <a:buChar char="•"/>
            </a:pPr>
            <a:r>
              <a:rPr kumimoji="1" lang="en-US" altLang="zh-TW" sz="3200" dirty="0">
                <a:solidFill>
                  <a:srgbClr val="FF0000"/>
                </a:solidFill>
              </a:rPr>
              <a:t>BERT</a:t>
            </a:r>
          </a:p>
          <a:p>
            <a:pPr marL="457200" indent="-457200">
              <a:buFont typeface="Arial" panose="020B0604020202020204" pitchFamily="34" charset="0"/>
              <a:buChar char="•"/>
            </a:pPr>
            <a:r>
              <a:rPr kumimoji="1" lang="en-US" altLang="zh-TW" sz="3200" dirty="0" err="1"/>
              <a:t>RoBERTa</a:t>
            </a:r>
            <a:endParaRPr kumimoji="1" lang="en-US" altLang="zh-TW" sz="3200" dirty="0"/>
          </a:p>
          <a:p>
            <a:pPr marL="457200" indent="-457200">
              <a:buFont typeface="Arial" panose="020B0604020202020204" pitchFamily="34" charset="0"/>
              <a:buChar char="•"/>
            </a:pPr>
            <a:r>
              <a:rPr kumimoji="1" lang="en-US" altLang="zh-TW" sz="3200" dirty="0" err="1"/>
              <a:t>SpanBERT</a:t>
            </a:r>
            <a:endParaRPr kumimoji="1" lang="en-US" altLang="zh-TW" sz="3200" dirty="0"/>
          </a:p>
          <a:p>
            <a:pPr marL="457200" indent="-457200">
              <a:buFont typeface="Arial" panose="020B0604020202020204" pitchFamily="34" charset="0"/>
              <a:buChar char="•"/>
            </a:pPr>
            <a:r>
              <a:rPr kumimoji="1" lang="en-US" altLang="zh-TW" sz="3200" dirty="0" err="1"/>
              <a:t>DeBERTa</a:t>
            </a:r>
            <a:endParaRPr kumimoji="1" lang="zh-TW" altLang="en-US" sz="3200" dirty="0"/>
          </a:p>
        </p:txBody>
      </p:sp>
    </p:spTree>
    <p:extLst>
      <p:ext uri="{BB962C8B-B14F-4D97-AF65-F5344CB8AC3E}">
        <p14:creationId xmlns:p14="http://schemas.microsoft.com/office/powerpoint/2010/main" val="23897928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D622F-6DF5-BAFE-B825-CD03712FF21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813E8C7-B1DC-EA6C-FFAC-6749507E8E19}"/>
              </a:ext>
            </a:extLst>
          </p:cNvPr>
          <p:cNvSpPr>
            <a:spLocks noGrp="1"/>
          </p:cNvSpPr>
          <p:nvPr>
            <p:ph type="title"/>
          </p:nvPr>
        </p:nvSpPr>
        <p:spPr/>
        <p:txBody>
          <a:bodyPr>
            <a:normAutofit/>
          </a:bodyPr>
          <a:lstStyle/>
          <a:p>
            <a:r>
              <a:rPr kumimoji="1" lang="en-US" altLang="zh-TW" dirty="0"/>
              <a:t>Transformer </a:t>
            </a:r>
            <a:r>
              <a:rPr kumimoji="1" lang="zh-TW" altLang="en-US" dirty="0"/>
              <a:t>架構的後續應用</a:t>
            </a:r>
          </a:p>
        </p:txBody>
      </p:sp>
      <p:sp>
        <p:nvSpPr>
          <p:cNvPr id="4" name="投影片編號版面配置區 3">
            <a:extLst>
              <a:ext uri="{FF2B5EF4-FFF2-40B4-BE49-F238E27FC236}">
                <a16:creationId xmlns:a16="http://schemas.microsoft.com/office/drawing/2014/main" id="{A23D7FD1-7E04-2941-C159-C50AF8FC6391}"/>
              </a:ext>
            </a:extLst>
          </p:cNvPr>
          <p:cNvSpPr>
            <a:spLocks noGrp="1"/>
          </p:cNvSpPr>
          <p:nvPr>
            <p:ph type="sldNum" sz="quarter" idx="12"/>
          </p:nvPr>
        </p:nvSpPr>
        <p:spPr/>
        <p:txBody>
          <a:bodyPr/>
          <a:lstStyle/>
          <a:p>
            <a:fld id="{6113E31D-E2AB-40D1-8B51-AFA5AFEF393A}" type="slidenum">
              <a:rPr lang="en-US" smtClean="0"/>
              <a:pPr/>
              <a:t>32</a:t>
            </a:fld>
            <a:endParaRPr lang="en-US" dirty="0"/>
          </a:p>
        </p:txBody>
      </p:sp>
      <p:pic>
        <p:nvPicPr>
          <p:cNvPr id="1026" name="Picture 2">
            <a:extLst>
              <a:ext uri="{FF2B5EF4-FFF2-40B4-BE49-F238E27FC236}">
                <a16:creationId xmlns:a16="http://schemas.microsoft.com/office/drawing/2014/main" id="{2403A1FC-F155-4AD1-D7F4-67127F93DF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4041" y="3595254"/>
            <a:ext cx="1213026" cy="2018595"/>
          </a:xfrm>
          <a:prstGeom prst="rect">
            <a:avLst/>
          </a:prstGeom>
          <a:noFill/>
          <a:extLst>
            <a:ext uri="{909E8E84-426E-40DD-AFC4-6F175D3DCCD1}">
              <a14:hiddenFill xmlns:a14="http://schemas.microsoft.com/office/drawing/2010/main">
                <a:solidFill>
                  <a:srgbClr val="FFFFFF"/>
                </a:solidFill>
              </a14:hiddenFill>
            </a:ext>
          </a:extLst>
        </p:spPr>
      </p:pic>
      <p:sp>
        <p:nvSpPr>
          <p:cNvPr id="5" name="文字方塊 4">
            <a:extLst>
              <a:ext uri="{FF2B5EF4-FFF2-40B4-BE49-F238E27FC236}">
                <a16:creationId xmlns:a16="http://schemas.microsoft.com/office/drawing/2014/main" id="{AC7382E0-053E-F76C-60B6-2B01EDB17B98}"/>
              </a:ext>
            </a:extLst>
          </p:cNvPr>
          <p:cNvSpPr txBox="1"/>
          <p:nvPr/>
        </p:nvSpPr>
        <p:spPr>
          <a:xfrm>
            <a:off x="653143" y="2257205"/>
            <a:ext cx="4472474" cy="234359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en-US" altLang="zh-TW" sz="2000" dirty="0"/>
              <a:t>Generative Pre-training (GPT) series</a:t>
            </a:r>
            <a:endParaRPr kumimoji="1" lang="en" altLang="zh-TW" sz="2000" dirty="0"/>
          </a:p>
          <a:p>
            <a:pPr marL="342900" indent="-342900">
              <a:lnSpc>
                <a:spcPct val="150000"/>
              </a:lnSpc>
              <a:buFont typeface="Arial" panose="020B0604020202020204" pitchFamily="34" charset="0"/>
              <a:buChar char="•"/>
            </a:pPr>
            <a:r>
              <a:rPr kumimoji="1" lang="en" altLang="zh-TW" sz="2000" dirty="0"/>
              <a:t>BERT (Bidirectional encoder representations from transformers)</a:t>
            </a:r>
          </a:p>
          <a:p>
            <a:pPr marL="800100" lvl="1" indent="-342900">
              <a:lnSpc>
                <a:spcPct val="150000"/>
              </a:lnSpc>
              <a:buFont typeface="Arial" panose="020B0604020202020204" pitchFamily="34" charset="0"/>
              <a:buChar char="•"/>
            </a:pPr>
            <a:r>
              <a:rPr kumimoji="1" lang="en-US" altLang="zh-TW" sz="2000" dirty="0">
                <a:hlinkClick r:id="rId3"/>
              </a:rPr>
              <a:t>Devlin et al., 2018</a:t>
            </a:r>
            <a:endParaRPr kumimoji="1" lang="en-US" altLang="zh-TW" sz="2000" dirty="0"/>
          </a:p>
        </p:txBody>
      </p:sp>
      <p:pic>
        <p:nvPicPr>
          <p:cNvPr id="6" name="圖片 5">
            <a:extLst>
              <a:ext uri="{FF2B5EF4-FFF2-40B4-BE49-F238E27FC236}">
                <a16:creationId xmlns:a16="http://schemas.microsoft.com/office/drawing/2014/main" id="{97977B06-16B5-D940-7133-3B0433D4C9FC}"/>
              </a:ext>
            </a:extLst>
          </p:cNvPr>
          <p:cNvPicPr>
            <a:picLocks noChangeAspect="1"/>
          </p:cNvPicPr>
          <p:nvPr/>
        </p:nvPicPr>
        <p:blipFill>
          <a:blip r:embed="rId4"/>
          <a:stretch>
            <a:fillRect/>
          </a:stretch>
        </p:blipFill>
        <p:spPr>
          <a:xfrm>
            <a:off x="7133249" y="1517710"/>
            <a:ext cx="3619047" cy="5159829"/>
          </a:xfrm>
          <a:prstGeom prst="rect">
            <a:avLst/>
          </a:prstGeom>
        </p:spPr>
      </p:pic>
      <p:sp>
        <p:nvSpPr>
          <p:cNvPr id="7" name="矩形 6">
            <a:extLst>
              <a:ext uri="{FF2B5EF4-FFF2-40B4-BE49-F238E27FC236}">
                <a16:creationId xmlns:a16="http://schemas.microsoft.com/office/drawing/2014/main" id="{56F27AF5-C636-B56D-135C-9C735963C388}"/>
              </a:ext>
            </a:extLst>
          </p:cNvPr>
          <p:cNvSpPr/>
          <p:nvPr/>
        </p:nvSpPr>
        <p:spPr>
          <a:xfrm>
            <a:off x="7133249" y="3206554"/>
            <a:ext cx="1793196" cy="3331024"/>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8" name="文字方塊 7">
            <a:extLst>
              <a:ext uri="{FF2B5EF4-FFF2-40B4-BE49-F238E27FC236}">
                <a16:creationId xmlns:a16="http://schemas.microsoft.com/office/drawing/2014/main" id="{92289EED-96B4-0EE2-234B-E9D264E8AA88}"/>
              </a:ext>
            </a:extLst>
          </p:cNvPr>
          <p:cNvSpPr txBox="1"/>
          <p:nvPr/>
        </p:nvSpPr>
        <p:spPr>
          <a:xfrm>
            <a:off x="5963410" y="4631416"/>
            <a:ext cx="953787" cy="369332"/>
          </a:xfrm>
          <a:prstGeom prst="rect">
            <a:avLst/>
          </a:prstGeom>
          <a:noFill/>
        </p:spPr>
        <p:txBody>
          <a:bodyPr wrap="none" rtlCol="0">
            <a:spAutoFit/>
          </a:bodyPr>
          <a:lstStyle/>
          <a:p>
            <a:r>
              <a:rPr kumimoji="1" lang="en-US" altLang="zh-TW" b="1" dirty="0">
                <a:solidFill>
                  <a:srgbClr val="FF9300"/>
                </a:solidFill>
              </a:rPr>
              <a:t>Encoder</a:t>
            </a:r>
            <a:endParaRPr kumimoji="1" lang="zh-TW" altLang="en-US" b="1" dirty="0">
              <a:solidFill>
                <a:srgbClr val="FF9300"/>
              </a:solidFill>
            </a:endParaRPr>
          </a:p>
        </p:txBody>
      </p:sp>
      <p:sp>
        <p:nvSpPr>
          <p:cNvPr id="9" name="文字方塊 8">
            <a:extLst>
              <a:ext uri="{FF2B5EF4-FFF2-40B4-BE49-F238E27FC236}">
                <a16:creationId xmlns:a16="http://schemas.microsoft.com/office/drawing/2014/main" id="{1F14C3B7-7BD5-26DB-D5E3-A1155E716891}"/>
              </a:ext>
            </a:extLst>
          </p:cNvPr>
          <p:cNvSpPr txBox="1"/>
          <p:nvPr/>
        </p:nvSpPr>
        <p:spPr>
          <a:xfrm>
            <a:off x="6183268" y="4220820"/>
            <a:ext cx="1026368" cy="369332"/>
          </a:xfrm>
          <a:prstGeom prst="rect">
            <a:avLst/>
          </a:prstGeom>
          <a:noFill/>
        </p:spPr>
        <p:txBody>
          <a:bodyPr wrap="square" rtlCol="0">
            <a:spAutoFit/>
          </a:bodyPr>
          <a:lstStyle/>
          <a:p>
            <a:pPr algn="ctr"/>
            <a:r>
              <a:rPr kumimoji="1" lang="en-US" altLang="zh-TW" dirty="0"/>
              <a:t>N=12</a:t>
            </a:r>
            <a:endParaRPr kumimoji="1" lang="zh-TW" altLang="en-US" dirty="0"/>
          </a:p>
        </p:txBody>
      </p:sp>
      <p:sp>
        <p:nvSpPr>
          <p:cNvPr id="11" name="文字方塊 10">
            <a:extLst>
              <a:ext uri="{FF2B5EF4-FFF2-40B4-BE49-F238E27FC236}">
                <a16:creationId xmlns:a16="http://schemas.microsoft.com/office/drawing/2014/main" id="{973A1884-478F-9158-16C1-FD7CFFE2DB79}"/>
              </a:ext>
            </a:extLst>
          </p:cNvPr>
          <p:cNvSpPr txBox="1"/>
          <p:nvPr/>
        </p:nvSpPr>
        <p:spPr>
          <a:xfrm>
            <a:off x="5125617" y="5636957"/>
            <a:ext cx="970383" cy="338554"/>
          </a:xfrm>
          <a:prstGeom prst="rect">
            <a:avLst/>
          </a:prstGeom>
          <a:noFill/>
        </p:spPr>
        <p:txBody>
          <a:bodyPr wrap="square" rtlCol="0">
            <a:spAutoFit/>
          </a:bodyPr>
          <a:lstStyle/>
          <a:p>
            <a:pPr algn="ctr"/>
            <a:r>
              <a:rPr kumimoji="1" lang="en-US" altLang="zh-TW" sz="1600" dirty="0"/>
              <a:t>(</a:t>
            </a:r>
            <a:r>
              <a:rPr kumimoji="1" lang="en" altLang="zh-TW" sz="1600" dirty="0"/>
              <a:t>BERT</a:t>
            </a:r>
            <a:r>
              <a:rPr kumimoji="1" lang="en-US" altLang="zh-TW" sz="1600" dirty="0"/>
              <a:t>)</a:t>
            </a:r>
            <a:endParaRPr kumimoji="1" lang="zh-TW" altLang="en-US" sz="1600" dirty="0"/>
          </a:p>
        </p:txBody>
      </p:sp>
      <p:pic>
        <p:nvPicPr>
          <p:cNvPr id="3" name="Picture 2">
            <a:extLst>
              <a:ext uri="{FF2B5EF4-FFF2-40B4-BE49-F238E27FC236}">
                <a16:creationId xmlns:a16="http://schemas.microsoft.com/office/drawing/2014/main" id="{B49329F0-994C-60CF-37AD-2F2E280FF3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15061" y="3385823"/>
            <a:ext cx="1033417" cy="1033417"/>
          </a:xfrm>
          <a:prstGeom prst="rect">
            <a:avLst/>
          </a:prstGeom>
          <a:noFill/>
          <a:extLst>
            <a:ext uri="{909E8E84-426E-40DD-AFC4-6F175D3DCCD1}">
              <a14:hiddenFill xmlns:a14="http://schemas.microsoft.com/office/drawing/2010/main">
                <a:solidFill>
                  <a:srgbClr val="FFFFFF"/>
                </a:solidFill>
              </a14:hiddenFill>
            </a:ext>
          </a:extLst>
        </p:spPr>
      </p:pic>
      <p:sp>
        <p:nvSpPr>
          <p:cNvPr id="10" name="文字方塊 9">
            <a:extLst>
              <a:ext uri="{FF2B5EF4-FFF2-40B4-BE49-F238E27FC236}">
                <a16:creationId xmlns:a16="http://schemas.microsoft.com/office/drawing/2014/main" id="{FD20F174-4877-B837-4651-39DBEEF54717}"/>
              </a:ext>
            </a:extLst>
          </p:cNvPr>
          <p:cNvSpPr txBox="1"/>
          <p:nvPr/>
        </p:nvSpPr>
        <p:spPr>
          <a:xfrm>
            <a:off x="10746577" y="4431518"/>
            <a:ext cx="970383" cy="338554"/>
          </a:xfrm>
          <a:prstGeom prst="rect">
            <a:avLst/>
          </a:prstGeom>
          <a:noFill/>
        </p:spPr>
        <p:txBody>
          <a:bodyPr wrap="square" rtlCol="0">
            <a:spAutoFit/>
          </a:bodyPr>
          <a:lstStyle/>
          <a:p>
            <a:pPr algn="ctr"/>
            <a:r>
              <a:rPr kumimoji="1" lang="en-US" altLang="zh-TW" sz="1600" dirty="0"/>
              <a:t>(</a:t>
            </a:r>
            <a:r>
              <a:rPr kumimoji="1" lang="en" altLang="zh-TW" sz="1600" dirty="0"/>
              <a:t>GPT</a:t>
            </a:r>
            <a:r>
              <a:rPr kumimoji="1" lang="en-US" altLang="zh-TW" sz="1600" dirty="0"/>
              <a:t>)</a:t>
            </a:r>
            <a:endParaRPr kumimoji="1" lang="zh-TW" altLang="en-US" sz="1600" dirty="0"/>
          </a:p>
        </p:txBody>
      </p:sp>
      <p:sp>
        <p:nvSpPr>
          <p:cNvPr id="12" name="橢圓 11">
            <a:extLst>
              <a:ext uri="{FF2B5EF4-FFF2-40B4-BE49-F238E27FC236}">
                <a16:creationId xmlns:a16="http://schemas.microsoft.com/office/drawing/2014/main" id="{8BC4BA32-C7A0-7162-4CF2-CC0BE22EE416}"/>
              </a:ext>
            </a:extLst>
          </p:cNvPr>
          <p:cNvSpPr/>
          <p:nvPr/>
        </p:nvSpPr>
        <p:spPr>
          <a:xfrm>
            <a:off x="4364182" y="3023755"/>
            <a:ext cx="2845454" cy="339180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30497288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BCCC564-6704-658E-730F-34F2BC57A2FD}"/>
              </a:ext>
            </a:extLst>
          </p:cNvPr>
          <p:cNvSpPr>
            <a:spLocks noGrp="1"/>
          </p:cNvSpPr>
          <p:nvPr>
            <p:ph type="title"/>
          </p:nvPr>
        </p:nvSpPr>
        <p:spPr/>
        <p:txBody>
          <a:bodyPr/>
          <a:lstStyle/>
          <a:p>
            <a:r>
              <a:rPr kumimoji="1" lang="en-US" altLang="zh-TW" dirty="0"/>
              <a:t>BERT </a:t>
            </a:r>
            <a:r>
              <a:rPr kumimoji="1" lang="zh-TW" altLang="en-US" dirty="0"/>
              <a:t>的輸入</a:t>
            </a:r>
          </a:p>
        </p:txBody>
      </p:sp>
      <p:sp>
        <p:nvSpPr>
          <p:cNvPr id="4" name="投影片編號版面配置區 3">
            <a:extLst>
              <a:ext uri="{FF2B5EF4-FFF2-40B4-BE49-F238E27FC236}">
                <a16:creationId xmlns:a16="http://schemas.microsoft.com/office/drawing/2014/main" id="{297053D9-2ED2-4144-20F8-D5A43F5165C3}"/>
              </a:ext>
            </a:extLst>
          </p:cNvPr>
          <p:cNvSpPr>
            <a:spLocks noGrp="1"/>
          </p:cNvSpPr>
          <p:nvPr>
            <p:ph type="sldNum" sz="quarter" idx="12"/>
          </p:nvPr>
        </p:nvSpPr>
        <p:spPr/>
        <p:txBody>
          <a:bodyPr/>
          <a:lstStyle/>
          <a:p>
            <a:fld id="{6113E31D-E2AB-40D1-8B51-AFA5AFEF393A}" type="slidenum">
              <a:rPr lang="en-US" smtClean="0"/>
              <a:pPr/>
              <a:t>33</a:t>
            </a:fld>
            <a:endParaRPr lang="en-US" dirty="0"/>
          </a:p>
        </p:txBody>
      </p:sp>
      <p:pic>
        <p:nvPicPr>
          <p:cNvPr id="5" name="圖片 4">
            <a:extLst>
              <a:ext uri="{FF2B5EF4-FFF2-40B4-BE49-F238E27FC236}">
                <a16:creationId xmlns:a16="http://schemas.microsoft.com/office/drawing/2014/main" id="{02E727D9-2750-F18B-0592-6FA444E9F8D2}"/>
              </a:ext>
            </a:extLst>
          </p:cNvPr>
          <p:cNvPicPr>
            <a:picLocks noChangeAspect="1"/>
          </p:cNvPicPr>
          <p:nvPr/>
        </p:nvPicPr>
        <p:blipFill>
          <a:blip r:embed="rId2"/>
          <a:stretch>
            <a:fillRect/>
          </a:stretch>
        </p:blipFill>
        <p:spPr>
          <a:xfrm>
            <a:off x="993881" y="2248695"/>
            <a:ext cx="10204238" cy="3307673"/>
          </a:xfrm>
          <a:prstGeom prst="rect">
            <a:avLst/>
          </a:prstGeom>
        </p:spPr>
      </p:pic>
      <p:sp>
        <p:nvSpPr>
          <p:cNvPr id="6" name="Google Shape;225;p17">
            <a:extLst>
              <a:ext uri="{FF2B5EF4-FFF2-40B4-BE49-F238E27FC236}">
                <a16:creationId xmlns:a16="http://schemas.microsoft.com/office/drawing/2014/main" id="{A3BB6804-CDD2-80C0-5495-2B3ED2EFAA61}"/>
              </a:ext>
            </a:extLst>
          </p:cNvPr>
          <p:cNvSpPr txBox="1"/>
          <p:nvPr/>
        </p:nvSpPr>
        <p:spPr>
          <a:xfrm>
            <a:off x="1965207" y="6308224"/>
            <a:ext cx="8277040" cy="36930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tLang="zh-TW" sz="1200" dirty="0">
                <a:latin typeface="Roboto"/>
                <a:ea typeface="Roboto"/>
                <a:cs typeface="Roboto"/>
                <a:sym typeface="Roboto"/>
              </a:rPr>
              <a:t>Devlin, Jacob, et al. "BERT: Pre-training of Deep Bidirectional Transformers for Language Understanding." NAACL 2019.</a:t>
            </a:r>
            <a:endParaRPr sz="1200" dirty="0">
              <a:latin typeface="Roboto"/>
              <a:ea typeface="Roboto"/>
              <a:cs typeface="Roboto"/>
              <a:sym typeface="Roboto"/>
            </a:endParaRPr>
          </a:p>
        </p:txBody>
      </p:sp>
    </p:spTree>
    <p:extLst>
      <p:ext uri="{BB962C8B-B14F-4D97-AF65-F5344CB8AC3E}">
        <p14:creationId xmlns:p14="http://schemas.microsoft.com/office/powerpoint/2010/main" val="1228562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ECFD3-9F9E-D486-2DC7-84073400ADC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0C0D99D-1E40-8E98-9837-A229A457C33B}"/>
              </a:ext>
            </a:extLst>
          </p:cNvPr>
          <p:cNvSpPr>
            <a:spLocks noGrp="1"/>
          </p:cNvSpPr>
          <p:nvPr>
            <p:ph type="title"/>
          </p:nvPr>
        </p:nvSpPr>
        <p:spPr/>
        <p:txBody>
          <a:bodyPr>
            <a:normAutofit fontScale="90000"/>
          </a:bodyPr>
          <a:lstStyle/>
          <a:p>
            <a:r>
              <a:rPr lang="en-US" altLang="zh-TW" dirty="0">
                <a:ea typeface="新細明體"/>
                <a:cs typeface="Calibri Light"/>
              </a:rPr>
              <a:t>BERT (</a:t>
            </a:r>
            <a:r>
              <a:rPr lang="en" altLang="zh-TW" dirty="0">
                <a:solidFill>
                  <a:srgbClr val="FF0000"/>
                </a:solidFill>
                <a:ea typeface="新細明體"/>
                <a:cs typeface="Calibri Light"/>
              </a:rPr>
              <a:t>Bidirectional </a:t>
            </a:r>
            <a:r>
              <a:rPr lang="en" altLang="zh-TW" dirty="0">
                <a:solidFill>
                  <a:schemeClr val="tx1"/>
                </a:solidFill>
                <a:ea typeface="新細明體"/>
                <a:cs typeface="Calibri Light"/>
              </a:rPr>
              <a:t>Encoder Representations from Transformers</a:t>
            </a:r>
            <a:r>
              <a:rPr lang="en-US" altLang="zh-TW" dirty="0">
                <a:ea typeface="新細明體"/>
                <a:cs typeface="Calibri Light"/>
              </a:rPr>
              <a:t>)</a:t>
            </a:r>
            <a:endParaRPr lang="zh-TW" dirty="0"/>
          </a:p>
        </p:txBody>
      </p:sp>
      <p:sp>
        <p:nvSpPr>
          <p:cNvPr id="5" name="投影片編號版面配置區 4">
            <a:extLst>
              <a:ext uri="{FF2B5EF4-FFF2-40B4-BE49-F238E27FC236}">
                <a16:creationId xmlns:a16="http://schemas.microsoft.com/office/drawing/2014/main" id="{A44121A3-4B88-E98F-8D6C-0396D7754A66}"/>
              </a:ext>
            </a:extLst>
          </p:cNvPr>
          <p:cNvSpPr>
            <a:spLocks noGrp="1"/>
          </p:cNvSpPr>
          <p:nvPr>
            <p:ph type="sldNum" sz="quarter" idx="12"/>
          </p:nvPr>
        </p:nvSpPr>
        <p:spPr/>
        <p:txBody>
          <a:bodyPr/>
          <a:lstStyle/>
          <a:p>
            <a:fld id="{6113E31D-E2AB-40D1-8B51-AFA5AFEF393A}" type="slidenum">
              <a:rPr lang="en-US" dirty="0"/>
              <a:t>34</a:t>
            </a:fld>
            <a:endParaRPr lang="zh-TW" altLang="en-US"/>
          </a:p>
        </p:txBody>
      </p:sp>
      <p:sp>
        <p:nvSpPr>
          <p:cNvPr id="78" name="Google Shape;187;p17">
            <a:extLst>
              <a:ext uri="{FF2B5EF4-FFF2-40B4-BE49-F238E27FC236}">
                <a16:creationId xmlns:a16="http://schemas.microsoft.com/office/drawing/2014/main" id="{12078826-8F85-944B-ADBB-9FD846B897DC}"/>
              </a:ext>
            </a:extLst>
          </p:cNvPr>
          <p:cNvSpPr/>
          <p:nvPr/>
        </p:nvSpPr>
        <p:spPr>
          <a:xfrm>
            <a:off x="2408842" y="3667141"/>
            <a:ext cx="174300" cy="5247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88;p17">
            <a:extLst>
              <a:ext uri="{FF2B5EF4-FFF2-40B4-BE49-F238E27FC236}">
                <a16:creationId xmlns:a16="http://schemas.microsoft.com/office/drawing/2014/main" id="{C5EB92C9-179D-21A5-A8B1-A959D1399419}"/>
              </a:ext>
            </a:extLst>
          </p:cNvPr>
          <p:cNvSpPr/>
          <p:nvPr/>
        </p:nvSpPr>
        <p:spPr>
          <a:xfrm>
            <a:off x="1698762" y="3667141"/>
            <a:ext cx="174300" cy="5247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89;p17">
            <a:extLst>
              <a:ext uri="{FF2B5EF4-FFF2-40B4-BE49-F238E27FC236}">
                <a16:creationId xmlns:a16="http://schemas.microsoft.com/office/drawing/2014/main" id="{BD6637FB-70DE-4DEE-362A-B3E116F08900}"/>
              </a:ext>
            </a:extLst>
          </p:cNvPr>
          <p:cNvSpPr/>
          <p:nvPr/>
        </p:nvSpPr>
        <p:spPr>
          <a:xfrm>
            <a:off x="4538547" y="3667141"/>
            <a:ext cx="174300" cy="5247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1" name="Google Shape;192;p17">
            <a:extLst>
              <a:ext uri="{FF2B5EF4-FFF2-40B4-BE49-F238E27FC236}">
                <a16:creationId xmlns:a16="http://schemas.microsoft.com/office/drawing/2014/main" id="{572F978B-DB27-932D-EBBB-25910B7F0C71}"/>
              </a:ext>
            </a:extLst>
          </p:cNvPr>
          <p:cNvCxnSpPr>
            <a:cxnSpLocks/>
          </p:cNvCxnSpPr>
          <p:nvPr/>
        </p:nvCxnSpPr>
        <p:spPr>
          <a:xfrm rot="10800000">
            <a:off x="1785909" y="5384410"/>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82" name="Google Shape;193;p17">
            <a:extLst>
              <a:ext uri="{FF2B5EF4-FFF2-40B4-BE49-F238E27FC236}">
                <a16:creationId xmlns:a16="http://schemas.microsoft.com/office/drawing/2014/main" id="{DE52FF4E-4D57-718C-A568-E103C0C28ABD}"/>
              </a:ext>
            </a:extLst>
          </p:cNvPr>
          <p:cNvCxnSpPr>
            <a:cxnSpLocks/>
          </p:cNvCxnSpPr>
          <p:nvPr/>
        </p:nvCxnSpPr>
        <p:spPr>
          <a:xfrm rot="10800000">
            <a:off x="3206079" y="5384410"/>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83" name="Google Shape;194;p17">
            <a:extLst>
              <a:ext uri="{FF2B5EF4-FFF2-40B4-BE49-F238E27FC236}">
                <a16:creationId xmlns:a16="http://schemas.microsoft.com/office/drawing/2014/main" id="{9E1B86D0-167B-F82B-4971-C1294716FF23}"/>
              </a:ext>
            </a:extLst>
          </p:cNvPr>
          <p:cNvCxnSpPr>
            <a:cxnSpLocks/>
          </p:cNvCxnSpPr>
          <p:nvPr/>
        </p:nvCxnSpPr>
        <p:spPr>
          <a:xfrm rot="10800000">
            <a:off x="3916164" y="5384410"/>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84" name="Google Shape;195;p17">
            <a:extLst>
              <a:ext uri="{FF2B5EF4-FFF2-40B4-BE49-F238E27FC236}">
                <a16:creationId xmlns:a16="http://schemas.microsoft.com/office/drawing/2014/main" id="{C91EDADF-2EF4-0682-E7C1-A612A6B98835}"/>
              </a:ext>
            </a:extLst>
          </p:cNvPr>
          <p:cNvCxnSpPr>
            <a:cxnSpLocks/>
          </p:cNvCxnSpPr>
          <p:nvPr/>
        </p:nvCxnSpPr>
        <p:spPr>
          <a:xfrm rot="10800000">
            <a:off x="4626247" y="5384410"/>
            <a:ext cx="0" cy="189000"/>
          </a:xfrm>
          <a:prstGeom prst="straightConnector1">
            <a:avLst/>
          </a:prstGeom>
          <a:noFill/>
          <a:ln w="9525" cap="flat" cmpd="sng">
            <a:solidFill>
              <a:schemeClr val="dk2"/>
            </a:solidFill>
            <a:prstDash val="solid"/>
            <a:round/>
            <a:headEnd type="none" w="med" len="med"/>
            <a:tailEnd type="triangle" w="med" len="med"/>
          </a:ln>
        </p:spPr>
      </p:cxnSp>
      <p:sp>
        <p:nvSpPr>
          <p:cNvPr id="85" name="Google Shape;200;p17">
            <a:extLst>
              <a:ext uri="{FF2B5EF4-FFF2-40B4-BE49-F238E27FC236}">
                <a16:creationId xmlns:a16="http://schemas.microsoft.com/office/drawing/2014/main" id="{08EE0E68-9D18-DAEC-6E65-313766CEBCE7}"/>
              </a:ext>
            </a:extLst>
          </p:cNvPr>
          <p:cNvSpPr txBox="1"/>
          <p:nvPr/>
        </p:nvSpPr>
        <p:spPr>
          <a:xfrm>
            <a:off x="3524904" y="2546158"/>
            <a:ext cx="754871" cy="430857"/>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altLang="zh-TW" sz="1600" dirty="0">
                <a:solidFill>
                  <a:srgbClr val="FF0000"/>
                </a:solidFill>
                <a:latin typeface="Roboto"/>
                <a:ea typeface="Roboto"/>
                <a:cs typeface="Roboto"/>
                <a:sym typeface="Roboto"/>
              </a:rPr>
              <a:t>bank</a:t>
            </a:r>
            <a:endParaRPr sz="1600" dirty="0">
              <a:solidFill>
                <a:srgbClr val="FF0000"/>
              </a:solidFill>
              <a:latin typeface="Roboto"/>
              <a:ea typeface="Roboto"/>
              <a:cs typeface="Roboto"/>
              <a:sym typeface="Roboto"/>
            </a:endParaRPr>
          </a:p>
        </p:txBody>
      </p:sp>
      <p:sp>
        <p:nvSpPr>
          <p:cNvPr id="86" name="Google Shape;202;p17">
            <a:extLst>
              <a:ext uri="{FF2B5EF4-FFF2-40B4-BE49-F238E27FC236}">
                <a16:creationId xmlns:a16="http://schemas.microsoft.com/office/drawing/2014/main" id="{BFAD6294-3106-25E9-8AA3-AAE0FC3A1DBE}"/>
              </a:ext>
            </a:extLst>
          </p:cNvPr>
          <p:cNvSpPr txBox="1"/>
          <p:nvPr/>
        </p:nvSpPr>
        <p:spPr>
          <a:xfrm>
            <a:off x="2042139" y="2047434"/>
            <a:ext cx="3153215" cy="4616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zh-TW" b="1" dirty="0">
                <a:latin typeface="Roboto"/>
                <a:ea typeface="Roboto"/>
                <a:cs typeface="Roboto"/>
                <a:sym typeface="Roboto"/>
              </a:rPr>
              <a:t>Masked Language Modelling</a:t>
            </a:r>
            <a:endParaRPr b="1" dirty="0">
              <a:latin typeface="Roboto"/>
              <a:ea typeface="Roboto"/>
              <a:cs typeface="Roboto"/>
              <a:sym typeface="Roboto"/>
            </a:endParaRPr>
          </a:p>
        </p:txBody>
      </p:sp>
      <p:sp>
        <p:nvSpPr>
          <p:cNvPr id="87" name="Google Shape;203;p17">
            <a:extLst>
              <a:ext uri="{FF2B5EF4-FFF2-40B4-BE49-F238E27FC236}">
                <a16:creationId xmlns:a16="http://schemas.microsoft.com/office/drawing/2014/main" id="{DAF192C6-ADD0-689F-D3D2-95114000BF88}"/>
              </a:ext>
            </a:extLst>
          </p:cNvPr>
          <p:cNvSpPr txBox="1"/>
          <p:nvPr/>
        </p:nvSpPr>
        <p:spPr>
          <a:xfrm>
            <a:off x="7225343" y="2047433"/>
            <a:ext cx="2984500" cy="4616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zh-TW" b="1" dirty="0">
                <a:latin typeface="Roboto"/>
                <a:ea typeface="Roboto"/>
                <a:cs typeface="Roboto"/>
                <a:sym typeface="Roboto"/>
              </a:rPr>
              <a:t>Next Sentence Prediction</a:t>
            </a:r>
            <a:endParaRPr b="1" dirty="0">
              <a:latin typeface="Roboto"/>
              <a:ea typeface="Roboto"/>
              <a:cs typeface="Roboto"/>
              <a:sym typeface="Roboto"/>
            </a:endParaRPr>
          </a:p>
        </p:txBody>
      </p:sp>
      <p:cxnSp>
        <p:nvCxnSpPr>
          <p:cNvPr id="88" name="Google Shape;218;p17">
            <a:extLst>
              <a:ext uri="{FF2B5EF4-FFF2-40B4-BE49-F238E27FC236}">
                <a16:creationId xmlns:a16="http://schemas.microsoft.com/office/drawing/2014/main" id="{89487FEF-8D42-11B8-9126-1E705AD9B8EA}"/>
              </a:ext>
            </a:extLst>
          </p:cNvPr>
          <p:cNvCxnSpPr>
            <a:cxnSpLocks/>
          </p:cNvCxnSpPr>
          <p:nvPr/>
        </p:nvCxnSpPr>
        <p:spPr>
          <a:xfrm flipV="1">
            <a:off x="6926968" y="3023925"/>
            <a:ext cx="0" cy="593615"/>
          </a:xfrm>
          <a:prstGeom prst="straightConnector1">
            <a:avLst/>
          </a:prstGeom>
          <a:noFill/>
          <a:ln w="9525" cap="flat" cmpd="sng">
            <a:solidFill>
              <a:schemeClr val="dk2"/>
            </a:solidFill>
            <a:prstDash val="solid"/>
            <a:round/>
            <a:headEnd type="none" w="med" len="med"/>
            <a:tailEnd type="triangle" w="med" len="med"/>
          </a:ln>
        </p:spPr>
      </p:cxnSp>
      <p:sp>
        <p:nvSpPr>
          <p:cNvPr id="89" name="Google Shape;224;p17">
            <a:extLst>
              <a:ext uri="{FF2B5EF4-FFF2-40B4-BE49-F238E27FC236}">
                <a16:creationId xmlns:a16="http://schemas.microsoft.com/office/drawing/2014/main" id="{9C2B0B34-C579-B13F-2C97-862E5EC79054}"/>
              </a:ext>
            </a:extLst>
          </p:cNvPr>
          <p:cNvSpPr txBox="1"/>
          <p:nvPr/>
        </p:nvSpPr>
        <p:spPr>
          <a:xfrm>
            <a:off x="6331918" y="2438925"/>
            <a:ext cx="1190100" cy="585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zh-TW" sz="1300" dirty="0">
                <a:solidFill>
                  <a:srgbClr val="4A86E8"/>
                </a:solidFill>
                <a:latin typeface="Roboto"/>
                <a:ea typeface="Roboto"/>
                <a:cs typeface="Roboto"/>
                <a:sym typeface="Roboto"/>
              </a:rPr>
              <a:t>binary classification</a:t>
            </a:r>
            <a:endParaRPr sz="1300" dirty="0">
              <a:solidFill>
                <a:srgbClr val="4A86E8"/>
              </a:solidFill>
              <a:latin typeface="Roboto"/>
              <a:ea typeface="Roboto"/>
              <a:cs typeface="Roboto"/>
              <a:sym typeface="Roboto"/>
            </a:endParaRPr>
          </a:p>
        </p:txBody>
      </p:sp>
      <p:sp>
        <p:nvSpPr>
          <p:cNvPr id="90" name="Google Shape;225;p17">
            <a:extLst>
              <a:ext uri="{FF2B5EF4-FFF2-40B4-BE49-F238E27FC236}">
                <a16:creationId xmlns:a16="http://schemas.microsoft.com/office/drawing/2014/main" id="{D2598E16-928B-F8ED-B1BC-08D08E1361F3}"/>
              </a:ext>
            </a:extLst>
          </p:cNvPr>
          <p:cNvSpPr txBox="1"/>
          <p:nvPr/>
        </p:nvSpPr>
        <p:spPr>
          <a:xfrm>
            <a:off x="1965207" y="6308224"/>
            <a:ext cx="8277040" cy="36930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tLang="zh-TW" sz="1200" dirty="0">
                <a:latin typeface="Roboto"/>
                <a:ea typeface="Roboto"/>
                <a:cs typeface="Roboto"/>
                <a:sym typeface="Roboto"/>
              </a:rPr>
              <a:t>Devlin, Jacob, et al. "BERT: Pre-training of Deep Bidirectional Transformers for Language Understanding." NAACL 2019.</a:t>
            </a:r>
            <a:endParaRPr sz="1200" dirty="0">
              <a:latin typeface="Roboto"/>
              <a:ea typeface="Roboto"/>
              <a:cs typeface="Roboto"/>
              <a:sym typeface="Roboto"/>
            </a:endParaRPr>
          </a:p>
        </p:txBody>
      </p:sp>
      <p:cxnSp>
        <p:nvCxnSpPr>
          <p:cNvPr id="91" name="Google Shape;195;p17">
            <a:extLst>
              <a:ext uri="{FF2B5EF4-FFF2-40B4-BE49-F238E27FC236}">
                <a16:creationId xmlns:a16="http://schemas.microsoft.com/office/drawing/2014/main" id="{66CA495A-19E6-1812-1E75-1E6512F61A5C}"/>
              </a:ext>
            </a:extLst>
          </p:cNvPr>
          <p:cNvCxnSpPr>
            <a:cxnSpLocks/>
          </p:cNvCxnSpPr>
          <p:nvPr/>
        </p:nvCxnSpPr>
        <p:spPr>
          <a:xfrm rot="10800000">
            <a:off x="2495994" y="5384410"/>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92" name="Google Shape;192;p17">
            <a:extLst>
              <a:ext uri="{FF2B5EF4-FFF2-40B4-BE49-F238E27FC236}">
                <a16:creationId xmlns:a16="http://schemas.microsoft.com/office/drawing/2014/main" id="{778DFAAD-6C8A-361E-FB33-A4D796293694}"/>
              </a:ext>
            </a:extLst>
          </p:cNvPr>
          <p:cNvCxnSpPr>
            <a:cxnSpLocks/>
          </p:cNvCxnSpPr>
          <p:nvPr/>
        </p:nvCxnSpPr>
        <p:spPr>
          <a:xfrm rot="10800000">
            <a:off x="1785909" y="4295523"/>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93" name="Google Shape;193;p17">
            <a:extLst>
              <a:ext uri="{FF2B5EF4-FFF2-40B4-BE49-F238E27FC236}">
                <a16:creationId xmlns:a16="http://schemas.microsoft.com/office/drawing/2014/main" id="{C1E80CEC-50C0-7A87-E961-F4BBEA568B72}"/>
              </a:ext>
            </a:extLst>
          </p:cNvPr>
          <p:cNvCxnSpPr>
            <a:cxnSpLocks/>
          </p:cNvCxnSpPr>
          <p:nvPr/>
        </p:nvCxnSpPr>
        <p:spPr>
          <a:xfrm rot="10800000">
            <a:off x="3206077" y="4295523"/>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94" name="Google Shape;194;p17">
            <a:extLst>
              <a:ext uri="{FF2B5EF4-FFF2-40B4-BE49-F238E27FC236}">
                <a16:creationId xmlns:a16="http://schemas.microsoft.com/office/drawing/2014/main" id="{65861D38-33A3-6511-151B-CF27648E78AB}"/>
              </a:ext>
            </a:extLst>
          </p:cNvPr>
          <p:cNvCxnSpPr>
            <a:cxnSpLocks/>
          </p:cNvCxnSpPr>
          <p:nvPr/>
        </p:nvCxnSpPr>
        <p:spPr>
          <a:xfrm rot="10800000">
            <a:off x="3916161" y="4295523"/>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95" name="Google Shape;195;p17">
            <a:extLst>
              <a:ext uri="{FF2B5EF4-FFF2-40B4-BE49-F238E27FC236}">
                <a16:creationId xmlns:a16="http://schemas.microsoft.com/office/drawing/2014/main" id="{C5C110D0-DF8E-4BD4-7DEB-66571C28E076}"/>
              </a:ext>
            </a:extLst>
          </p:cNvPr>
          <p:cNvCxnSpPr>
            <a:cxnSpLocks/>
          </p:cNvCxnSpPr>
          <p:nvPr/>
        </p:nvCxnSpPr>
        <p:spPr>
          <a:xfrm rot="10800000">
            <a:off x="4626247" y="4295523"/>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96" name="Google Shape;195;p17">
            <a:extLst>
              <a:ext uri="{FF2B5EF4-FFF2-40B4-BE49-F238E27FC236}">
                <a16:creationId xmlns:a16="http://schemas.microsoft.com/office/drawing/2014/main" id="{EFD06827-5649-BA80-52DA-0012BF5383FF}"/>
              </a:ext>
            </a:extLst>
          </p:cNvPr>
          <p:cNvCxnSpPr>
            <a:cxnSpLocks/>
          </p:cNvCxnSpPr>
          <p:nvPr/>
        </p:nvCxnSpPr>
        <p:spPr>
          <a:xfrm rot="10800000">
            <a:off x="2495993" y="4295523"/>
            <a:ext cx="0" cy="189000"/>
          </a:xfrm>
          <a:prstGeom prst="straightConnector1">
            <a:avLst/>
          </a:prstGeom>
          <a:noFill/>
          <a:ln w="9525" cap="flat" cmpd="sng">
            <a:solidFill>
              <a:schemeClr val="dk2"/>
            </a:solidFill>
            <a:prstDash val="solid"/>
            <a:round/>
            <a:headEnd type="none" w="med" len="med"/>
            <a:tailEnd type="triangle" w="med" len="med"/>
          </a:ln>
        </p:spPr>
      </p:cxnSp>
      <p:sp>
        <p:nvSpPr>
          <p:cNvPr id="97" name="Google Shape;187;p17">
            <a:extLst>
              <a:ext uri="{FF2B5EF4-FFF2-40B4-BE49-F238E27FC236}">
                <a16:creationId xmlns:a16="http://schemas.microsoft.com/office/drawing/2014/main" id="{558102B0-D487-A2C1-EF09-57DC0FCD8CBC}"/>
              </a:ext>
            </a:extLst>
          </p:cNvPr>
          <p:cNvSpPr/>
          <p:nvPr/>
        </p:nvSpPr>
        <p:spPr>
          <a:xfrm>
            <a:off x="3120852" y="3667141"/>
            <a:ext cx="174300" cy="5247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87;p17">
            <a:extLst>
              <a:ext uri="{FF2B5EF4-FFF2-40B4-BE49-F238E27FC236}">
                <a16:creationId xmlns:a16="http://schemas.microsoft.com/office/drawing/2014/main" id="{24679670-27FD-5658-45B2-3EDC97809CFD}"/>
              </a:ext>
            </a:extLst>
          </p:cNvPr>
          <p:cNvSpPr/>
          <p:nvPr/>
        </p:nvSpPr>
        <p:spPr>
          <a:xfrm>
            <a:off x="3819502" y="3667141"/>
            <a:ext cx="174300" cy="5247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文字方塊 98">
            <a:extLst>
              <a:ext uri="{FF2B5EF4-FFF2-40B4-BE49-F238E27FC236}">
                <a16:creationId xmlns:a16="http://schemas.microsoft.com/office/drawing/2014/main" id="{88D790F2-302A-1D31-CB9E-A2BBC2A7909D}"/>
              </a:ext>
            </a:extLst>
          </p:cNvPr>
          <p:cNvSpPr txBox="1"/>
          <p:nvPr/>
        </p:nvSpPr>
        <p:spPr>
          <a:xfrm>
            <a:off x="1476977" y="5554371"/>
            <a:ext cx="617862" cy="292388"/>
          </a:xfrm>
          <a:prstGeom prst="rect">
            <a:avLst/>
          </a:prstGeom>
          <a:noFill/>
        </p:spPr>
        <p:txBody>
          <a:bodyPr wrap="square" rtlCol="0">
            <a:spAutoFit/>
          </a:bodyPr>
          <a:lstStyle/>
          <a:p>
            <a:pPr algn="ctr"/>
            <a:r>
              <a:rPr kumimoji="1" lang="en-US" altLang="zh-TW" sz="1300" dirty="0"/>
              <a:t>[CLS]</a:t>
            </a:r>
            <a:endParaRPr kumimoji="1" lang="zh-TW" altLang="en-US" sz="1300" dirty="0"/>
          </a:p>
        </p:txBody>
      </p:sp>
      <p:sp>
        <p:nvSpPr>
          <p:cNvPr id="100" name="文字方塊 99">
            <a:extLst>
              <a:ext uri="{FF2B5EF4-FFF2-40B4-BE49-F238E27FC236}">
                <a16:creationId xmlns:a16="http://schemas.microsoft.com/office/drawing/2014/main" id="{98762416-0669-652B-27F1-64287FEE488B}"/>
              </a:ext>
            </a:extLst>
          </p:cNvPr>
          <p:cNvSpPr txBox="1"/>
          <p:nvPr/>
        </p:nvSpPr>
        <p:spPr>
          <a:xfrm>
            <a:off x="2187061" y="5554371"/>
            <a:ext cx="617862" cy="292388"/>
          </a:xfrm>
          <a:prstGeom prst="rect">
            <a:avLst/>
          </a:prstGeom>
          <a:noFill/>
        </p:spPr>
        <p:txBody>
          <a:bodyPr wrap="square" rtlCol="0">
            <a:spAutoFit/>
          </a:bodyPr>
          <a:lstStyle/>
          <a:p>
            <a:pPr algn="ctr"/>
            <a:r>
              <a:rPr kumimoji="1" lang="en-US" altLang="zh-TW" sz="1300" dirty="0"/>
              <a:t>open</a:t>
            </a:r>
            <a:endParaRPr kumimoji="1" lang="zh-TW" altLang="en-US" sz="1300" dirty="0"/>
          </a:p>
        </p:txBody>
      </p:sp>
      <p:sp>
        <p:nvSpPr>
          <p:cNvPr id="101" name="文字方塊 100">
            <a:extLst>
              <a:ext uri="{FF2B5EF4-FFF2-40B4-BE49-F238E27FC236}">
                <a16:creationId xmlns:a16="http://schemas.microsoft.com/office/drawing/2014/main" id="{CF1689B9-BC07-370F-3C26-2995578C7B6F}"/>
              </a:ext>
            </a:extLst>
          </p:cNvPr>
          <p:cNvSpPr txBox="1"/>
          <p:nvPr/>
        </p:nvSpPr>
        <p:spPr>
          <a:xfrm>
            <a:off x="2896420" y="5554371"/>
            <a:ext cx="617862" cy="292388"/>
          </a:xfrm>
          <a:prstGeom prst="rect">
            <a:avLst/>
          </a:prstGeom>
          <a:noFill/>
        </p:spPr>
        <p:txBody>
          <a:bodyPr wrap="square" rtlCol="0">
            <a:spAutoFit/>
          </a:bodyPr>
          <a:lstStyle/>
          <a:p>
            <a:pPr algn="ctr"/>
            <a:r>
              <a:rPr kumimoji="1" lang="en-US" altLang="zh-TW" sz="1300" dirty="0"/>
              <a:t>a</a:t>
            </a:r>
            <a:endParaRPr kumimoji="1" lang="zh-TW" altLang="en-US" sz="1300" dirty="0"/>
          </a:p>
        </p:txBody>
      </p:sp>
      <p:sp>
        <p:nvSpPr>
          <p:cNvPr id="102" name="文字方塊 101">
            <a:extLst>
              <a:ext uri="{FF2B5EF4-FFF2-40B4-BE49-F238E27FC236}">
                <a16:creationId xmlns:a16="http://schemas.microsoft.com/office/drawing/2014/main" id="{D3C6A9AC-925C-665B-DDA9-E28F39928D95}"/>
              </a:ext>
            </a:extLst>
          </p:cNvPr>
          <p:cNvSpPr txBox="1"/>
          <p:nvPr/>
        </p:nvSpPr>
        <p:spPr>
          <a:xfrm>
            <a:off x="3503432" y="5573410"/>
            <a:ext cx="824440" cy="292388"/>
          </a:xfrm>
          <a:prstGeom prst="rect">
            <a:avLst/>
          </a:prstGeom>
          <a:noFill/>
        </p:spPr>
        <p:txBody>
          <a:bodyPr wrap="square" rtlCol="0">
            <a:spAutoFit/>
          </a:bodyPr>
          <a:lstStyle/>
          <a:p>
            <a:pPr algn="ctr"/>
            <a:r>
              <a:rPr kumimoji="1" lang="en-US" altLang="zh-TW" sz="1300" dirty="0">
                <a:solidFill>
                  <a:srgbClr val="FF0000"/>
                </a:solidFill>
              </a:rPr>
              <a:t>[MASK]</a:t>
            </a:r>
            <a:endParaRPr kumimoji="1" lang="zh-TW" altLang="en-US" sz="1300" dirty="0">
              <a:solidFill>
                <a:srgbClr val="FF0000"/>
              </a:solidFill>
            </a:endParaRPr>
          </a:p>
        </p:txBody>
      </p:sp>
      <p:sp>
        <p:nvSpPr>
          <p:cNvPr id="103" name="文字方塊 102">
            <a:extLst>
              <a:ext uri="{FF2B5EF4-FFF2-40B4-BE49-F238E27FC236}">
                <a16:creationId xmlns:a16="http://schemas.microsoft.com/office/drawing/2014/main" id="{E621D8CB-3C9C-42D1-B506-AA87DFFB7C9B}"/>
              </a:ext>
            </a:extLst>
          </p:cNvPr>
          <p:cNvSpPr txBox="1"/>
          <p:nvPr/>
        </p:nvSpPr>
        <p:spPr>
          <a:xfrm>
            <a:off x="4188131" y="5554371"/>
            <a:ext cx="881616" cy="292388"/>
          </a:xfrm>
          <a:prstGeom prst="rect">
            <a:avLst/>
          </a:prstGeom>
          <a:noFill/>
        </p:spPr>
        <p:txBody>
          <a:bodyPr wrap="square" rtlCol="0">
            <a:spAutoFit/>
          </a:bodyPr>
          <a:lstStyle/>
          <a:p>
            <a:pPr algn="ctr"/>
            <a:r>
              <a:rPr kumimoji="1" lang="en-US" altLang="zh-TW" sz="1300" dirty="0"/>
              <a:t>account</a:t>
            </a:r>
            <a:endParaRPr kumimoji="1" lang="zh-TW" altLang="en-US" sz="1300" dirty="0"/>
          </a:p>
        </p:txBody>
      </p:sp>
      <p:sp>
        <p:nvSpPr>
          <p:cNvPr id="104" name="Google Shape;187;p17">
            <a:extLst>
              <a:ext uri="{FF2B5EF4-FFF2-40B4-BE49-F238E27FC236}">
                <a16:creationId xmlns:a16="http://schemas.microsoft.com/office/drawing/2014/main" id="{59572B40-01A3-7EAF-C5B8-000D6904EBBD}"/>
              </a:ext>
            </a:extLst>
          </p:cNvPr>
          <p:cNvSpPr/>
          <p:nvPr/>
        </p:nvSpPr>
        <p:spPr>
          <a:xfrm>
            <a:off x="7549902" y="3671414"/>
            <a:ext cx="174300" cy="5247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88;p17">
            <a:extLst>
              <a:ext uri="{FF2B5EF4-FFF2-40B4-BE49-F238E27FC236}">
                <a16:creationId xmlns:a16="http://schemas.microsoft.com/office/drawing/2014/main" id="{A2138C0A-D63F-B196-E393-70D87DEBF3E6}"/>
              </a:ext>
            </a:extLst>
          </p:cNvPr>
          <p:cNvSpPr/>
          <p:nvPr/>
        </p:nvSpPr>
        <p:spPr>
          <a:xfrm>
            <a:off x="6839822" y="3671414"/>
            <a:ext cx="174300" cy="5247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89;p17">
            <a:extLst>
              <a:ext uri="{FF2B5EF4-FFF2-40B4-BE49-F238E27FC236}">
                <a16:creationId xmlns:a16="http://schemas.microsoft.com/office/drawing/2014/main" id="{653CD364-19D7-3745-8D3E-F906F3D8C516}"/>
              </a:ext>
            </a:extLst>
          </p:cNvPr>
          <p:cNvSpPr/>
          <p:nvPr/>
        </p:nvSpPr>
        <p:spPr>
          <a:xfrm>
            <a:off x="9679607" y="3671414"/>
            <a:ext cx="174300" cy="5247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7" name="Google Shape;192;p17">
            <a:extLst>
              <a:ext uri="{FF2B5EF4-FFF2-40B4-BE49-F238E27FC236}">
                <a16:creationId xmlns:a16="http://schemas.microsoft.com/office/drawing/2014/main" id="{E1AB6907-4E04-C4D0-827C-2C448E29DF72}"/>
              </a:ext>
            </a:extLst>
          </p:cNvPr>
          <p:cNvCxnSpPr>
            <a:cxnSpLocks/>
          </p:cNvCxnSpPr>
          <p:nvPr/>
        </p:nvCxnSpPr>
        <p:spPr>
          <a:xfrm rot="10800000">
            <a:off x="6926969" y="5388683"/>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108" name="Google Shape;193;p17">
            <a:extLst>
              <a:ext uri="{FF2B5EF4-FFF2-40B4-BE49-F238E27FC236}">
                <a16:creationId xmlns:a16="http://schemas.microsoft.com/office/drawing/2014/main" id="{85141E47-534E-96C2-550D-CF8B36FAA3B5}"/>
              </a:ext>
            </a:extLst>
          </p:cNvPr>
          <p:cNvCxnSpPr>
            <a:cxnSpLocks/>
          </p:cNvCxnSpPr>
          <p:nvPr/>
        </p:nvCxnSpPr>
        <p:spPr>
          <a:xfrm rot="10800000">
            <a:off x="8347139" y="5388683"/>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109" name="Google Shape;194;p17">
            <a:extLst>
              <a:ext uri="{FF2B5EF4-FFF2-40B4-BE49-F238E27FC236}">
                <a16:creationId xmlns:a16="http://schemas.microsoft.com/office/drawing/2014/main" id="{9EB206F7-D6E3-A3B7-26CB-534F2D72CD4D}"/>
              </a:ext>
            </a:extLst>
          </p:cNvPr>
          <p:cNvCxnSpPr>
            <a:cxnSpLocks/>
          </p:cNvCxnSpPr>
          <p:nvPr/>
        </p:nvCxnSpPr>
        <p:spPr>
          <a:xfrm rot="10800000">
            <a:off x="9057224" y="5388683"/>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110" name="Google Shape;195;p17">
            <a:extLst>
              <a:ext uri="{FF2B5EF4-FFF2-40B4-BE49-F238E27FC236}">
                <a16:creationId xmlns:a16="http://schemas.microsoft.com/office/drawing/2014/main" id="{E2165EF3-15EC-4C88-F0C1-E70DD258E1FB}"/>
              </a:ext>
            </a:extLst>
          </p:cNvPr>
          <p:cNvCxnSpPr>
            <a:cxnSpLocks/>
          </p:cNvCxnSpPr>
          <p:nvPr/>
        </p:nvCxnSpPr>
        <p:spPr>
          <a:xfrm rot="10800000">
            <a:off x="9767307" y="5388683"/>
            <a:ext cx="0" cy="189000"/>
          </a:xfrm>
          <a:prstGeom prst="straightConnector1">
            <a:avLst/>
          </a:prstGeom>
          <a:noFill/>
          <a:ln w="9525" cap="flat" cmpd="sng">
            <a:solidFill>
              <a:schemeClr val="dk2"/>
            </a:solidFill>
            <a:prstDash val="solid"/>
            <a:round/>
            <a:headEnd type="none" w="med" len="med"/>
            <a:tailEnd type="triangle" w="med" len="med"/>
          </a:ln>
        </p:spPr>
      </p:cxnSp>
      <p:sp>
        <p:nvSpPr>
          <p:cNvPr id="111" name="Google Shape;204;p17">
            <a:extLst>
              <a:ext uri="{FF2B5EF4-FFF2-40B4-BE49-F238E27FC236}">
                <a16:creationId xmlns:a16="http://schemas.microsoft.com/office/drawing/2014/main" id="{E0DB81CE-AB87-EF79-D2CC-9D1E585D8EC8}"/>
              </a:ext>
            </a:extLst>
          </p:cNvPr>
          <p:cNvSpPr/>
          <p:nvPr/>
        </p:nvSpPr>
        <p:spPr>
          <a:xfrm>
            <a:off x="6607739" y="4567753"/>
            <a:ext cx="4210222" cy="774600"/>
          </a:xfrm>
          <a:prstGeom prst="rect">
            <a:avLst/>
          </a:prstGeom>
          <a:noFill/>
          <a:ln w="19050"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TW" dirty="0"/>
              <a:t>BERT</a:t>
            </a:r>
            <a:endParaRPr dirty="0"/>
          </a:p>
          <a:p>
            <a:pPr lvl="0" algn="ctr"/>
            <a:r>
              <a:rPr lang="zh-TW" dirty="0"/>
              <a:t>(</a:t>
            </a:r>
            <a:r>
              <a:rPr lang="en-US" altLang="zh-TW" b="1" dirty="0">
                <a:solidFill>
                  <a:srgbClr val="4A86E8"/>
                </a:solidFill>
              </a:rPr>
              <a:t>Transformer Encoder</a:t>
            </a:r>
            <a:r>
              <a:rPr lang="zh-TW" dirty="0"/>
              <a:t>)</a:t>
            </a:r>
            <a:endParaRPr dirty="0"/>
          </a:p>
        </p:txBody>
      </p:sp>
      <p:cxnSp>
        <p:nvCxnSpPr>
          <p:cNvPr id="112" name="Google Shape;195;p17">
            <a:extLst>
              <a:ext uri="{FF2B5EF4-FFF2-40B4-BE49-F238E27FC236}">
                <a16:creationId xmlns:a16="http://schemas.microsoft.com/office/drawing/2014/main" id="{35D8230C-B91F-711F-F2F2-C9C3CA150681}"/>
              </a:ext>
            </a:extLst>
          </p:cNvPr>
          <p:cNvCxnSpPr>
            <a:cxnSpLocks/>
          </p:cNvCxnSpPr>
          <p:nvPr/>
        </p:nvCxnSpPr>
        <p:spPr>
          <a:xfrm rot="10800000">
            <a:off x="7637054" y="5388683"/>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113" name="Google Shape;192;p17">
            <a:extLst>
              <a:ext uri="{FF2B5EF4-FFF2-40B4-BE49-F238E27FC236}">
                <a16:creationId xmlns:a16="http://schemas.microsoft.com/office/drawing/2014/main" id="{3FC8E1FA-890E-BD73-CC1E-A0F28B7F5261}"/>
              </a:ext>
            </a:extLst>
          </p:cNvPr>
          <p:cNvCxnSpPr>
            <a:cxnSpLocks/>
          </p:cNvCxnSpPr>
          <p:nvPr/>
        </p:nvCxnSpPr>
        <p:spPr>
          <a:xfrm rot="10800000">
            <a:off x="6926969" y="4299796"/>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114" name="Google Shape;193;p17">
            <a:extLst>
              <a:ext uri="{FF2B5EF4-FFF2-40B4-BE49-F238E27FC236}">
                <a16:creationId xmlns:a16="http://schemas.microsoft.com/office/drawing/2014/main" id="{D9F59E43-A1E2-FB62-B95E-A3943CF664A6}"/>
              </a:ext>
            </a:extLst>
          </p:cNvPr>
          <p:cNvCxnSpPr>
            <a:cxnSpLocks/>
          </p:cNvCxnSpPr>
          <p:nvPr/>
        </p:nvCxnSpPr>
        <p:spPr>
          <a:xfrm rot="10800000">
            <a:off x="8347137" y="4299796"/>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115" name="Google Shape;194;p17">
            <a:extLst>
              <a:ext uri="{FF2B5EF4-FFF2-40B4-BE49-F238E27FC236}">
                <a16:creationId xmlns:a16="http://schemas.microsoft.com/office/drawing/2014/main" id="{7CD6648E-DC1C-EC0E-53D1-38F1C2C2B0C0}"/>
              </a:ext>
            </a:extLst>
          </p:cNvPr>
          <p:cNvCxnSpPr>
            <a:cxnSpLocks/>
          </p:cNvCxnSpPr>
          <p:nvPr/>
        </p:nvCxnSpPr>
        <p:spPr>
          <a:xfrm rot="10800000">
            <a:off x="9057221" y="4299796"/>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116" name="Google Shape;195;p17">
            <a:extLst>
              <a:ext uri="{FF2B5EF4-FFF2-40B4-BE49-F238E27FC236}">
                <a16:creationId xmlns:a16="http://schemas.microsoft.com/office/drawing/2014/main" id="{25DA74D1-FAC8-57CA-5039-88343815ADEE}"/>
              </a:ext>
            </a:extLst>
          </p:cNvPr>
          <p:cNvCxnSpPr>
            <a:cxnSpLocks/>
          </p:cNvCxnSpPr>
          <p:nvPr/>
        </p:nvCxnSpPr>
        <p:spPr>
          <a:xfrm rot="10800000">
            <a:off x="9767307" y="4299796"/>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117" name="Google Shape;195;p17">
            <a:extLst>
              <a:ext uri="{FF2B5EF4-FFF2-40B4-BE49-F238E27FC236}">
                <a16:creationId xmlns:a16="http://schemas.microsoft.com/office/drawing/2014/main" id="{2C14B876-1C4A-636F-4EE8-28AD25172CFC}"/>
              </a:ext>
            </a:extLst>
          </p:cNvPr>
          <p:cNvCxnSpPr>
            <a:cxnSpLocks/>
          </p:cNvCxnSpPr>
          <p:nvPr/>
        </p:nvCxnSpPr>
        <p:spPr>
          <a:xfrm rot="10800000">
            <a:off x="7637053" y="4299796"/>
            <a:ext cx="0" cy="189000"/>
          </a:xfrm>
          <a:prstGeom prst="straightConnector1">
            <a:avLst/>
          </a:prstGeom>
          <a:noFill/>
          <a:ln w="9525" cap="flat" cmpd="sng">
            <a:solidFill>
              <a:schemeClr val="dk2"/>
            </a:solidFill>
            <a:prstDash val="solid"/>
            <a:round/>
            <a:headEnd type="none" w="med" len="med"/>
            <a:tailEnd type="triangle" w="med" len="med"/>
          </a:ln>
        </p:spPr>
      </p:cxnSp>
      <p:sp>
        <p:nvSpPr>
          <p:cNvPr id="118" name="Google Shape;187;p17">
            <a:extLst>
              <a:ext uri="{FF2B5EF4-FFF2-40B4-BE49-F238E27FC236}">
                <a16:creationId xmlns:a16="http://schemas.microsoft.com/office/drawing/2014/main" id="{DE2EE9E7-1DA0-658F-48D0-84B8CBAA5820}"/>
              </a:ext>
            </a:extLst>
          </p:cNvPr>
          <p:cNvSpPr/>
          <p:nvPr/>
        </p:nvSpPr>
        <p:spPr>
          <a:xfrm>
            <a:off x="8261912" y="3671414"/>
            <a:ext cx="174300" cy="5247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87;p17">
            <a:extLst>
              <a:ext uri="{FF2B5EF4-FFF2-40B4-BE49-F238E27FC236}">
                <a16:creationId xmlns:a16="http://schemas.microsoft.com/office/drawing/2014/main" id="{27C9A567-27DF-2703-3BF3-DC70801965ED}"/>
              </a:ext>
            </a:extLst>
          </p:cNvPr>
          <p:cNvSpPr/>
          <p:nvPr/>
        </p:nvSpPr>
        <p:spPr>
          <a:xfrm>
            <a:off x="8960562" y="3671414"/>
            <a:ext cx="174300" cy="5247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文字方塊 119">
            <a:extLst>
              <a:ext uri="{FF2B5EF4-FFF2-40B4-BE49-F238E27FC236}">
                <a16:creationId xmlns:a16="http://schemas.microsoft.com/office/drawing/2014/main" id="{02A8C332-AC64-C148-8283-2BA88D80B94A}"/>
              </a:ext>
            </a:extLst>
          </p:cNvPr>
          <p:cNvSpPr txBox="1"/>
          <p:nvPr/>
        </p:nvSpPr>
        <p:spPr>
          <a:xfrm>
            <a:off x="6607481" y="5554371"/>
            <a:ext cx="617862" cy="292388"/>
          </a:xfrm>
          <a:prstGeom prst="rect">
            <a:avLst/>
          </a:prstGeom>
          <a:noFill/>
        </p:spPr>
        <p:txBody>
          <a:bodyPr wrap="square" rtlCol="0">
            <a:spAutoFit/>
          </a:bodyPr>
          <a:lstStyle/>
          <a:p>
            <a:pPr algn="ctr"/>
            <a:r>
              <a:rPr kumimoji="1" lang="en-US" altLang="zh-TW" sz="1300" dirty="0"/>
              <a:t>[CLS]</a:t>
            </a:r>
            <a:endParaRPr kumimoji="1" lang="zh-TW" altLang="en-US" sz="1300" dirty="0"/>
          </a:p>
        </p:txBody>
      </p:sp>
      <p:sp>
        <p:nvSpPr>
          <p:cNvPr id="121" name="文字方塊 120">
            <a:extLst>
              <a:ext uri="{FF2B5EF4-FFF2-40B4-BE49-F238E27FC236}">
                <a16:creationId xmlns:a16="http://schemas.microsoft.com/office/drawing/2014/main" id="{A9FE2F54-4A09-A1D9-4463-BE47C826E83B}"/>
              </a:ext>
            </a:extLst>
          </p:cNvPr>
          <p:cNvSpPr txBox="1"/>
          <p:nvPr/>
        </p:nvSpPr>
        <p:spPr>
          <a:xfrm>
            <a:off x="7255286" y="5554371"/>
            <a:ext cx="736810" cy="292388"/>
          </a:xfrm>
          <a:prstGeom prst="rect">
            <a:avLst/>
          </a:prstGeom>
          <a:noFill/>
        </p:spPr>
        <p:txBody>
          <a:bodyPr wrap="square" rtlCol="0">
            <a:spAutoFit/>
          </a:bodyPr>
          <a:lstStyle/>
          <a:p>
            <a:pPr algn="ctr"/>
            <a:r>
              <a:rPr kumimoji="1" lang="en-US" altLang="zh-TW" sz="1300" dirty="0"/>
              <a:t>study</a:t>
            </a:r>
            <a:endParaRPr kumimoji="1" lang="zh-TW" altLang="en-US" sz="1300" dirty="0"/>
          </a:p>
        </p:txBody>
      </p:sp>
      <p:sp>
        <p:nvSpPr>
          <p:cNvPr id="122" name="文字方塊 121">
            <a:extLst>
              <a:ext uri="{FF2B5EF4-FFF2-40B4-BE49-F238E27FC236}">
                <a16:creationId xmlns:a16="http://schemas.microsoft.com/office/drawing/2014/main" id="{52805FBA-C031-BF0B-948B-2D3A3E19D0A7}"/>
              </a:ext>
            </a:extLst>
          </p:cNvPr>
          <p:cNvSpPr txBox="1"/>
          <p:nvPr/>
        </p:nvSpPr>
        <p:spPr>
          <a:xfrm>
            <a:off x="7992096" y="5554371"/>
            <a:ext cx="736810" cy="292388"/>
          </a:xfrm>
          <a:prstGeom prst="rect">
            <a:avLst/>
          </a:prstGeom>
          <a:noFill/>
        </p:spPr>
        <p:txBody>
          <a:bodyPr wrap="square" rtlCol="0">
            <a:spAutoFit/>
          </a:bodyPr>
          <a:lstStyle/>
          <a:p>
            <a:pPr algn="ctr"/>
            <a:r>
              <a:rPr kumimoji="1" lang="en-US" altLang="zh-TW" sz="1300" dirty="0"/>
              <a:t>hard</a:t>
            </a:r>
            <a:endParaRPr kumimoji="1" lang="zh-TW" altLang="en-US" sz="1300" dirty="0"/>
          </a:p>
        </p:txBody>
      </p:sp>
      <p:sp>
        <p:nvSpPr>
          <p:cNvPr id="123" name="文字方塊 122">
            <a:extLst>
              <a:ext uri="{FF2B5EF4-FFF2-40B4-BE49-F238E27FC236}">
                <a16:creationId xmlns:a16="http://schemas.microsoft.com/office/drawing/2014/main" id="{E670CD33-E05E-D383-6E36-D3851C6E858B}"/>
              </a:ext>
            </a:extLst>
          </p:cNvPr>
          <p:cNvSpPr txBox="1"/>
          <p:nvPr/>
        </p:nvSpPr>
        <p:spPr>
          <a:xfrm>
            <a:off x="8748290" y="5554371"/>
            <a:ext cx="617862" cy="292388"/>
          </a:xfrm>
          <a:prstGeom prst="rect">
            <a:avLst/>
          </a:prstGeom>
          <a:noFill/>
        </p:spPr>
        <p:txBody>
          <a:bodyPr wrap="square" rtlCol="0">
            <a:spAutoFit/>
          </a:bodyPr>
          <a:lstStyle/>
          <a:p>
            <a:pPr algn="ctr"/>
            <a:r>
              <a:rPr kumimoji="1" lang="en-US" altLang="zh-TW" sz="1300" dirty="0"/>
              <a:t>[SEP]</a:t>
            </a:r>
            <a:endParaRPr kumimoji="1" lang="zh-TW" altLang="en-US" sz="1300" dirty="0"/>
          </a:p>
        </p:txBody>
      </p:sp>
      <p:sp>
        <p:nvSpPr>
          <p:cNvPr id="124" name="文字方塊 123">
            <a:extLst>
              <a:ext uri="{FF2B5EF4-FFF2-40B4-BE49-F238E27FC236}">
                <a16:creationId xmlns:a16="http://schemas.microsoft.com/office/drawing/2014/main" id="{9F09B156-E611-6D2A-68C9-3807FB3C3501}"/>
              </a:ext>
            </a:extLst>
          </p:cNvPr>
          <p:cNvSpPr txBox="1"/>
          <p:nvPr/>
        </p:nvSpPr>
        <p:spPr>
          <a:xfrm>
            <a:off x="9408044" y="5554371"/>
            <a:ext cx="717426" cy="292388"/>
          </a:xfrm>
          <a:prstGeom prst="rect">
            <a:avLst/>
          </a:prstGeom>
          <a:noFill/>
        </p:spPr>
        <p:txBody>
          <a:bodyPr wrap="square" rtlCol="0">
            <a:spAutoFit/>
          </a:bodyPr>
          <a:lstStyle/>
          <a:p>
            <a:pPr algn="ctr"/>
            <a:r>
              <a:rPr kumimoji="1" lang="en-US" altLang="zh-TW" sz="1300" dirty="0" err="1"/>
              <a:t>plz</a:t>
            </a:r>
            <a:endParaRPr kumimoji="1" lang="zh-TW" altLang="en-US" sz="1300" dirty="0"/>
          </a:p>
        </p:txBody>
      </p:sp>
      <p:cxnSp>
        <p:nvCxnSpPr>
          <p:cNvPr id="125" name="Google Shape;218;p17">
            <a:extLst>
              <a:ext uri="{FF2B5EF4-FFF2-40B4-BE49-F238E27FC236}">
                <a16:creationId xmlns:a16="http://schemas.microsoft.com/office/drawing/2014/main" id="{473F3D53-6A24-7B28-C5D9-F387152D36A1}"/>
              </a:ext>
            </a:extLst>
          </p:cNvPr>
          <p:cNvCxnSpPr>
            <a:cxnSpLocks/>
          </p:cNvCxnSpPr>
          <p:nvPr/>
        </p:nvCxnSpPr>
        <p:spPr>
          <a:xfrm flipV="1">
            <a:off x="3914227" y="3023925"/>
            <a:ext cx="0" cy="593615"/>
          </a:xfrm>
          <a:prstGeom prst="straightConnector1">
            <a:avLst/>
          </a:prstGeom>
          <a:noFill/>
          <a:ln w="9525" cap="flat" cmpd="sng">
            <a:solidFill>
              <a:schemeClr val="dk2"/>
            </a:solidFill>
            <a:prstDash val="solid"/>
            <a:round/>
            <a:headEnd type="none" w="med" len="med"/>
            <a:tailEnd type="triangle" w="med" len="med"/>
          </a:ln>
        </p:spPr>
      </p:cxnSp>
      <p:sp>
        <p:nvSpPr>
          <p:cNvPr id="126" name="Google Shape;189;p17">
            <a:extLst>
              <a:ext uri="{FF2B5EF4-FFF2-40B4-BE49-F238E27FC236}">
                <a16:creationId xmlns:a16="http://schemas.microsoft.com/office/drawing/2014/main" id="{A1CB2C50-C879-6546-B45C-B7784D8B87C0}"/>
              </a:ext>
            </a:extLst>
          </p:cNvPr>
          <p:cNvSpPr/>
          <p:nvPr/>
        </p:nvSpPr>
        <p:spPr>
          <a:xfrm>
            <a:off x="10398652" y="3665353"/>
            <a:ext cx="174300" cy="5247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7" name="Google Shape;195;p17">
            <a:extLst>
              <a:ext uri="{FF2B5EF4-FFF2-40B4-BE49-F238E27FC236}">
                <a16:creationId xmlns:a16="http://schemas.microsoft.com/office/drawing/2014/main" id="{478D83BA-C7D3-C707-A342-E3BF7F033E88}"/>
              </a:ext>
            </a:extLst>
          </p:cNvPr>
          <p:cNvCxnSpPr>
            <a:cxnSpLocks/>
          </p:cNvCxnSpPr>
          <p:nvPr/>
        </p:nvCxnSpPr>
        <p:spPr>
          <a:xfrm rot="10800000">
            <a:off x="10486352" y="4293735"/>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128" name="Google Shape;194;p17">
            <a:extLst>
              <a:ext uri="{FF2B5EF4-FFF2-40B4-BE49-F238E27FC236}">
                <a16:creationId xmlns:a16="http://schemas.microsoft.com/office/drawing/2014/main" id="{258C40FA-1A10-5F0B-C970-982009A09BBF}"/>
              </a:ext>
            </a:extLst>
          </p:cNvPr>
          <p:cNvCxnSpPr>
            <a:cxnSpLocks/>
          </p:cNvCxnSpPr>
          <p:nvPr/>
        </p:nvCxnSpPr>
        <p:spPr>
          <a:xfrm rot="10800000">
            <a:off x="10457064" y="5388683"/>
            <a:ext cx="0" cy="189000"/>
          </a:xfrm>
          <a:prstGeom prst="straightConnector1">
            <a:avLst/>
          </a:prstGeom>
          <a:noFill/>
          <a:ln w="9525" cap="flat" cmpd="sng">
            <a:solidFill>
              <a:schemeClr val="dk2"/>
            </a:solidFill>
            <a:prstDash val="solid"/>
            <a:round/>
            <a:headEnd type="none" w="med" len="med"/>
            <a:tailEnd type="triangle" w="med" len="med"/>
          </a:ln>
        </p:spPr>
      </p:cxnSp>
      <p:sp>
        <p:nvSpPr>
          <p:cNvPr id="129" name="文字方塊 128">
            <a:extLst>
              <a:ext uri="{FF2B5EF4-FFF2-40B4-BE49-F238E27FC236}">
                <a16:creationId xmlns:a16="http://schemas.microsoft.com/office/drawing/2014/main" id="{7BA7909F-BD6D-9EFB-1E5E-5241672DFBEC}"/>
              </a:ext>
            </a:extLst>
          </p:cNvPr>
          <p:cNvSpPr txBox="1"/>
          <p:nvPr/>
        </p:nvSpPr>
        <p:spPr>
          <a:xfrm>
            <a:off x="10148130" y="5554371"/>
            <a:ext cx="617862" cy="292388"/>
          </a:xfrm>
          <a:prstGeom prst="rect">
            <a:avLst/>
          </a:prstGeom>
          <a:noFill/>
        </p:spPr>
        <p:txBody>
          <a:bodyPr wrap="square" rtlCol="0">
            <a:spAutoFit/>
          </a:bodyPr>
          <a:lstStyle/>
          <a:p>
            <a:pPr algn="ctr"/>
            <a:r>
              <a:rPr kumimoji="1" lang="en-US" altLang="zh-TW" sz="1300" dirty="0"/>
              <a:t>[SEP]</a:t>
            </a:r>
            <a:endParaRPr kumimoji="1" lang="zh-TW" altLang="en-US" sz="1300" dirty="0"/>
          </a:p>
        </p:txBody>
      </p:sp>
      <p:sp>
        <p:nvSpPr>
          <p:cNvPr id="130" name="Google Shape;204;p17">
            <a:extLst>
              <a:ext uri="{FF2B5EF4-FFF2-40B4-BE49-F238E27FC236}">
                <a16:creationId xmlns:a16="http://schemas.microsoft.com/office/drawing/2014/main" id="{B7E77234-E015-E8B0-DEEA-AC759BA87B22}"/>
              </a:ext>
            </a:extLst>
          </p:cNvPr>
          <p:cNvSpPr/>
          <p:nvPr/>
        </p:nvSpPr>
        <p:spPr>
          <a:xfrm>
            <a:off x="1409171" y="4571995"/>
            <a:ext cx="4210222" cy="774600"/>
          </a:xfrm>
          <a:prstGeom prst="rect">
            <a:avLst/>
          </a:prstGeom>
          <a:noFill/>
          <a:ln w="19050"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TW" dirty="0"/>
              <a:t>BERT</a:t>
            </a:r>
            <a:endParaRPr dirty="0"/>
          </a:p>
          <a:p>
            <a:pPr marL="0" lvl="0" indent="0" algn="ctr" rtl="0">
              <a:spcBef>
                <a:spcPts val="0"/>
              </a:spcBef>
              <a:spcAft>
                <a:spcPts val="0"/>
              </a:spcAft>
              <a:buNone/>
            </a:pPr>
            <a:r>
              <a:rPr lang="zh-TW" dirty="0"/>
              <a:t>(</a:t>
            </a:r>
            <a:r>
              <a:rPr lang="en-US" altLang="zh-TW" b="1" dirty="0">
                <a:solidFill>
                  <a:srgbClr val="4A86E8"/>
                </a:solidFill>
              </a:rPr>
              <a:t>Transformer Encoder</a:t>
            </a:r>
            <a:r>
              <a:rPr lang="zh-TW" dirty="0"/>
              <a:t>)</a:t>
            </a:r>
            <a:endParaRPr dirty="0"/>
          </a:p>
        </p:txBody>
      </p:sp>
      <p:sp>
        <p:nvSpPr>
          <p:cNvPr id="131" name="Google Shape;189;p17">
            <a:extLst>
              <a:ext uri="{FF2B5EF4-FFF2-40B4-BE49-F238E27FC236}">
                <a16:creationId xmlns:a16="http://schemas.microsoft.com/office/drawing/2014/main" id="{A7D052AC-D463-C5AF-A591-99C18CB61E86}"/>
              </a:ext>
            </a:extLst>
          </p:cNvPr>
          <p:cNvSpPr/>
          <p:nvPr/>
        </p:nvSpPr>
        <p:spPr>
          <a:xfrm>
            <a:off x="5238170" y="3665353"/>
            <a:ext cx="174300" cy="5247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2" name="Google Shape;195;p17">
            <a:extLst>
              <a:ext uri="{FF2B5EF4-FFF2-40B4-BE49-F238E27FC236}">
                <a16:creationId xmlns:a16="http://schemas.microsoft.com/office/drawing/2014/main" id="{60600E89-5453-EF68-D985-38A317C2F7A4}"/>
              </a:ext>
            </a:extLst>
          </p:cNvPr>
          <p:cNvCxnSpPr>
            <a:cxnSpLocks/>
          </p:cNvCxnSpPr>
          <p:nvPr/>
        </p:nvCxnSpPr>
        <p:spPr>
          <a:xfrm rot="10800000">
            <a:off x="5325870" y="4293735"/>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133" name="Google Shape;194;p17">
            <a:extLst>
              <a:ext uri="{FF2B5EF4-FFF2-40B4-BE49-F238E27FC236}">
                <a16:creationId xmlns:a16="http://schemas.microsoft.com/office/drawing/2014/main" id="{B96111B0-6497-73D3-60AD-97486643F3EC}"/>
              </a:ext>
            </a:extLst>
          </p:cNvPr>
          <p:cNvCxnSpPr>
            <a:cxnSpLocks/>
          </p:cNvCxnSpPr>
          <p:nvPr/>
        </p:nvCxnSpPr>
        <p:spPr>
          <a:xfrm rot="10800000">
            <a:off x="5304033" y="5391784"/>
            <a:ext cx="0" cy="189000"/>
          </a:xfrm>
          <a:prstGeom prst="straightConnector1">
            <a:avLst/>
          </a:prstGeom>
          <a:noFill/>
          <a:ln w="9525" cap="flat" cmpd="sng">
            <a:solidFill>
              <a:schemeClr val="dk2"/>
            </a:solidFill>
            <a:prstDash val="solid"/>
            <a:round/>
            <a:headEnd type="none" w="med" len="med"/>
            <a:tailEnd type="triangle" w="med" len="med"/>
          </a:ln>
        </p:spPr>
      </p:cxnSp>
      <p:sp>
        <p:nvSpPr>
          <p:cNvPr id="134" name="文字方塊 133">
            <a:extLst>
              <a:ext uri="{FF2B5EF4-FFF2-40B4-BE49-F238E27FC236}">
                <a16:creationId xmlns:a16="http://schemas.microsoft.com/office/drawing/2014/main" id="{9FFE0A9B-BCD2-39C8-0172-6FC6CA736A8A}"/>
              </a:ext>
            </a:extLst>
          </p:cNvPr>
          <p:cNvSpPr txBox="1"/>
          <p:nvPr/>
        </p:nvSpPr>
        <p:spPr>
          <a:xfrm>
            <a:off x="4995099" y="5557472"/>
            <a:ext cx="617862" cy="292388"/>
          </a:xfrm>
          <a:prstGeom prst="rect">
            <a:avLst/>
          </a:prstGeom>
          <a:noFill/>
        </p:spPr>
        <p:txBody>
          <a:bodyPr wrap="square" rtlCol="0">
            <a:spAutoFit/>
          </a:bodyPr>
          <a:lstStyle/>
          <a:p>
            <a:pPr algn="ctr"/>
            <a:r>
              <a:rPr kumimoji="1" lang="en-US" altLang="zh-TW" sz="1300" dirty="0"/>
              <a:t>[SEP]</a:t>
            </a:r>
            <a:endParaRPr kumimoji="1" lang="zh-TW" altLang="en-US" sz="1300" dirty="0"/>
          </a:p>
        </p:txBody>
      </p:sp>
      <p:sp>
        <p:nvSpPr>
          <p:cNvPr id="135" name="橢圓 134">
            <a:extLst>
              <a:ext uri="{FF2B5EF4-FFF2-40B4-BE49-F238E27FC236}">
                <a16:creationId xmlns:a16="http://schemas.microsoft.com/office/drawing/2014/main" id="{0E02166C-27AB-9A44-EE56-993C9EC6D96B}"/>
              </a:ext>
            </a:extLst>
          </p:cNvPr>
          <p:cNvSpPr/>
          <p:nvPr/>
        </p:nvSpPr>
        <p:spPr>
          <a:xfrm>
            <a:off x="6569567" y="5442805"/>
            <a:ext cx="712443" cy="585000"/>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 name="內容版面配置區 2">
            <a:extLst>
              <a:ext uri="{FF2B5EF4-FFF2-40B4-BE49-F238E27FC236}">
                <a16:creationId xmlns:a16="http://schemas.microsoft.com/office/drawing/2014/main" id="{6BAB7628-2F91-9C65-3980-4BC58D1E4D94}"/>
              </a:ext>
            </a:extLst>
          </p:cNvPr>
          <p:cNvSpPr>
            <a:spLocks noGrp="1"/>
          </p:cNvSpPr>
          <p:nvPr>
            <p:ph idx="1"/>
          </p:nvPr>
        </p:nvSpPr>
        <p:spPr>
          <a:xfrm>
            <a:off x="707592" y="1574318"/>
            <a:ext cx="10058400" cy="1244437"/>
          </a:xfrm>
        </p:spPr>
        <p:txBody>
          <a:bodyPr vert="horz" lIns="0" tIns="45720" rIns="0" bIns="45720" rtlCol="0" anchor="t">
            <a:normAutofit/>
          </a:bodyPr>
          <a:lstStyle/>
          <a:p>
            <a:pPr indent="-360000">
              <a:spcAft>
                <a:spcPts val="600"/>
              </a:spcAft>
              <a:buClr>
                <a:schemeClr val="tx1"/>
              </a:buClr>
              <a:buFont typeface="Arial" panose="020B0604020202020204" pitchFamily="34" charset="0"/>
              <a:buChar char="•"/>
            </a:pPr>
            <a:r>
              <a:rPr lang="en-US" altLang="zh-TW" dirty="0">
                <a:ea typeface="Microsoft JhengHei" panose="020B0604030504040204" pitchFamily="34" charset="-120"/>
                <a:cs typeface="+mn-lt"/>
              </a:rPr>
              <a:t>BERT</a:t>
            </a:r>
            <a:r>
              <a:rPr lang="zh-TW" altLang="en-US" dirty="0">
                <a:ea typeface="Microsoft JhengHei" panose="020B0604030504040204" pitchFamily="34" charset="-120"/>
                <a:cs typeface="+mn-lt"/>
              </a:rPr>
              <a:t> 有兩種預訓練任務：</a:t>
            </a:r>
            <a:endParaRPr kumimoji="1" lang="zh-TW" altLang="en-US" dirty="0"/>
          </a:p>
        </p:txBody>
      </p:sp>
    </p:spTree>
    <p:extLst>
      <p:ext uri="{BB962C8B-B14F-4D97-AF65-F5344CB8AC3E}">
        <p14:creationId xmlns:p14="http://schemas.microsoft.com/office/powerpoint/2010/main" val="249041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0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0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2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3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31"/>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3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3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3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87"/>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8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8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0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0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06"/>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07"/>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08"/>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09"/>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10"/>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11"/>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12"/>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13"/>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114"/>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15"/>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116"/>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117"/>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18"/>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19"/>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20"/>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21"/>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22"/>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23"/>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24"/>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26"/>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127"/>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128"/>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29"/>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animBg="1"/>
      <p:bldP spid="79" grpId="0" animBg="1"/>
      <p:bldP spid="80" grpId="0" animBg="1"/>
      <p:bldP spid="85" grpId="0"/>
      <p:bldP spid="86" grpId="0"/>
      <p:bldP spid="87" grpId="0"/>
      <p:bldP spid="89" grpId="0"/>
      <p:bldP spid="97" grpId="0" animBg="1"/>
      <p:bldP spid="98" grpId="0" animBg="1"/>
      <p:bldP spid="99" grpId="0"/>
      <p:bldP spid="100" grpId="0"/>
      <p:bldP spid="101" grpId="0"/>
      <p:bldP spid="102" grpId="0"/>
      <p:bldP spid="103" grpId="0"/>
      <p:bldP spid="104" grpId="0" animBg="1"/>
      <p:bldP spid="105" grpId="0" animBg="1"/>
      <p:bldP spid="106" grpId="0" animBg="1"/>
      <p:bldP spid="111" grpId="0" animBg="1"/>
      <p:bldP spid="118" grpId="0" animBg="1"/>
      <p:bldP spid="119" grpId="0" animBg="1"/>
      <p:bldP spid="120" grpId="0"/>
      <p:bldP spid="121" grpId="0"/>
      <p:bldP spid="122" grpId="0"/>
      <p:bldP spid="123" grpId="0"/>
      <p:bldP spid="124" grpId="0"/>
      <p:bldP spid="126" grpId="0" animBg="1"/>
      <p:bldP spid="129" grpId="0"/>
      <p:bldP spid="130" grpId="0" animBg="1"/>
      <p:bldP spid="131" grpId="0" animBg="1"/>
      <p:bldP spid="134" grpId="0"/>
      <p:bldP spid="13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FE2748-B8DE-69B6-55DB-3C5092EA9FED}"/>
              </a:ext>
            </a:extLst>
          </p:cNvPr>
          <p:cNvSpPr>
            <a:spLocks noGrp="1"/>
          </p:cNvSpPr>
          <p:nvPr>
            <p:ph type="title"/>
          </p:nvPr>
        </p:nvSpPr>
        <p:spPr/>
        <p:txBody>
          <a:bodyPr>
            <a:normAutofit/>
          </a:bodyPr>
          <a:lstStyle/>
          <a:p>
            <a:r>
              <a:rPr kumimoji="1" lang="en" altLang="zh-TW" dirty="0"/>
              <a:t>Next Sentence Prediction (NSP)</a:t>
            </a:r>
            <a:endParaRPr kumimoji="1" lang="zh-TW" altLang="en-US" dirty="0"/>
          </a:p>
        </p:txBody>
      </p:sp>
      <p:sp>
        <p:nvSpPr>
          <p:cNvPr id="4" name="投影片編號版面配置區 3">
            <a:extLst>
              <a:ext uri="{FF2B5EF4-FFF2-40B4-BE49-F238E27FC236}">
                <a16:creationId xmlns:a16="http://schemas.microsoft.com/office/drawing/2014/main" id="{F5B1DA35-3410-D556-3B9C-3B61B1116B2E}"/>
              </a:ext>
            </a:extLst>
          </p:cNvPr>
          <p:cNvSpPr>
            <a:spLocks noGrp="1"/>
          </p:cNvSpPr>
          <p:nvPr>
            <p:ph type="sldNum" sz="quarter" idx="12"/>
          </p:nvPr>
        </p:nvSpPr>
        <p:spPr/>
        <p:txBody>
          <a:bodyPr/>
          <a:lstStyle/>
          <a:p>
            <a:fld id="{6113E31D-E2AB-40D1-8B51-AFA5AFEF393A}" type="slidenum">
              <a:rPr lang="en-US" smtClean="0"/>
              <a:pPr/>
              <a:t>35</a:t>
            </a:fld>
            <a:endParaRPr lang="en-US" dirty="0"/>
          </a:p>
        </p:txBody>
      </p:sp>
      <p:pic>
        <p:nvPicPr>
          <p:cNvPr id="7" name="圖片 6">
            <a:extLst>
              <a:ext uri="{FF2B5EF4-FFF2-40B4-BE49-F238E27FC236}">
                <a16:creationId xmlns:a16="http://schemas.microsoft.com/office/drawing/2014/main" id="{36F9ACB5-81CC-6C73-DFB6-EFB87967B2D7}"/>
              </a:ext>
            </a:extLst>
          </p:cNvPr>
          <p:cNvPicPr>
            <a:picLocks noChangeAspect="1"/>
          </p:cNvPicPr>
          <p:nvPr/>
        </p:nvPicPr>
        <p:blipFill>
          <a:blip r:embed="rId2"/>
          <a:stretch>
            <a:fillRect/>
          </a:stretch>
        </p:blipFill>
        <p:spPr>
          <a:xfrm>
            <a:off x="5446429" y="2209192"/>
            <a:ext cx="6092429" cy="2994424"/>
          </a:xfrm>
          <a:prstGeom prst="rect">
            <a:avLst/>
          </a:prstGeom>
        </p:spPr>
      </p:pic>
      <p:sp>
        <p:nvSpPr>
          <p:cNvPr id="8" name="文字方塊 7">
            <a:extLst>
              <a:ext uri="{FF2B5EF4-FFF2-40B4-BE49-F238E27FC236}">
                <a16:creationId xmlns:a16="http://schemas.microsoft.com/office/drawing/2014/main" id="{C74B6F24-489A-0CA7-D2DD-20A7BDD1E8FE}"/>
              </a:ext>
            </a:extLst>
          </p:cNvPr>
          <p:cNvSpPr txBox="1"/>
          <p:nvPr/>
        </p:nvSpPr>
        <p:spPr>
          <a:xfrm>
            <a:off x="653142" y="2106778"/>
            <a:ext cx="4555279" cy="189128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en" altLang="zh-TW" sz="2000" dirty="0"/>
              <a:t>Binarized next sentence prediction task</a:t>
            </a:r>
          </a:p>
          <a:p>
            <a:pPr marL="285750" indent="-285750">
              <a:lnSpc>
                <a:spcPct val="150000"/>
              </a:lnSpc>
              <a:buFont typeface="Arial" panose="020B0604020202020204" pitchFamily="34" charset="0"/>
              <a:buChar char="•"/>
            </a:pPr>
            <a:r>
              <a:rPr kumimoji="1" lang="en-US" altLang="zh-TW" sz="2000" dirty="0"/>
              <a:t>Aimed at making BERT better on understanding the relationship between two sentences</a:t>
            </a:r>
            <a:endParaRPr kumimoji="1" lang="zh-TW" altLang="en-US" sz="2000" dirty="0"/>
          </a:p>
        </p:txBody>
      </p:sp>
    </p:spTree>
    <p:extLst>
      <p:ext uri="{BB962C8B-B14F-4D97-AF65-F5344CB8AC3E}">
        <p14:creationId xmlns:p14="http://schemas.microsoft.com/office/powerpoint/2010/main" val="6854037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8EB5045-AA95-861F-37B9-FEB39D82CEF2}"/>
              </a:ext>
            </a:extLst>
          </p:cNvPr>
          <p:cNvSpPr>
            <a:spLocks noGrp="1"/>
          </p:cNvSpPr>
          <p:nvPr>
            <p:ph type="title"/>
          </p:nvPr>
        </p:nvSpPr>
        <p:spPr/>
        <p:txBody>
          <a:bodyPr/>
          <a:lstStyle/>
          <a:p>
            <a:r>
              <a:rPr kumimoji="1" lang="zh-TW" altLang="en-US" dirty="0"/>
              <a:t>進行 </a:t>
            </a:r>
            <a:r>
              <a:rPr kumimoji="1" lang="en-US" altLang="zh-TW" dirty="0"/>
              <a:t>MLM </a:t>
            </a:r>
            <a:r>
              <a:rPr kumimoji="1" lang="zh-TW" altLang="en-US" dirty="0"/>
              <a:t>時的 </a:t>
            </a:r>
            <a:r>
              <a:rPr kumimoji="1" lang="en-US" altLang="zh-TW" dirty="0"/>
              <a:t>BERT </a:t>
            </a:r>
            <a:r>
              <a:rPr kumimoji="1" lang="zh-TW" altLang="en-US" dirty="0"/>
              <a:t>結構</a:t>
            </a:r>
          </a:p>
        </p:txBody>
      </p:sp>
      <p:sp>
        <p:nvSpPr>
          <p:cNvPr id="4" name="投影片編號版面配置區 3">
            <a:extLst>
              <a:ext uri="{FF2B5EF4-FFF2-40B4-BE49-F238E27FC236}">
                <a16:creationId xmlns:a16="http://schemas.microsoft.com/office/drawing/2014/main" id="{18DB61DF-C834-90DC-2533-A6CDEFB8F522}"/>
              </a:ext>
            </a:extLst>
          </p:cNvPr>
          <p:cNvSpPr>
            <a:spLocks noGrp="1"/>
          </p:cNvSpPr>
          <p:nvPr>
            <p:ph type="sldNum" sz="quarter" idx="12"/>
          </p:nvPr>
        </p:nvSpPr>
        <p:spPr/>
        <p:txBody>
          <a:bodyPr/>
          <a:lstStyle/>
          <a:p>
            <a:fld id="{6113E31D-E2AB-40D1-8B51-AFA5AFEF393A}" type="slidenum">
              <a:rPr lang="en-US" smtClean="0"/>
              <a:pPr/>
              <a:t>36</a:t>
            </a:fld>
            <a:endParaRPr lang="en-US" dirty="0"/>
          </a:p>
        </p:txBody>
      </p:sp>
      <p:pic>
        <p:nvPicPr>
          <p:cNvPr id="5" name="圖片 4">
            <a:extLst>
              <a:ext uri="{FF2B5EF4-FFF2-40B4-BE49-F238E27FC236}">
                <a16:creationId xmlns:a16="http://schemas.microsoft.com/office/drawing/2014/main" id="{767DA7CB-7AA4-6AE0-9E25-AB90185C9F94}"/>
              </a:ext>
            </a:extLst>
          </p:cNvPr>
          <p:cNvPicPr>
            <a:picLocks noChangeAspect="1"/>
          </p:cNvPicPr>
          <p:nvPr/>
        </p:nvPicPr>
        <p:blipFill rotWithShape="1">
          <a:blip r:embed="rId2"/>
          <a:srcRect t="36687" r="50451"/>
          <a:stretch/>
        </p:blipFill>
        <p:spPr>
          <a:xfrm>
            <a:off x="4179738" y="3429000"/>
            <a:ext cx="1793196" cy="3266827"/>
          </a:xfrm>
          <a:prstGeom prst="rect">
            <a:avLst/>
          </a:prstGeom>
        </p:spPr>
      </p:pic>
      <p:sp>
        <p:nvSpPr>
          <p:cNvPr id="6" name="矩形 5">
            <a:extLst>
              <a:ext uri="{FF2B5EF4-FFF2-40B4-BE49-F238E27FC236}">
                <a16:creationId xmlns:a16="http://schemas.microsoft.com/office/drawing/2014/main" id="{5ED702A9-152E-C3B5-941E-64B1D89C0A6B}"/>
              </a:ext>
            </a:extLst>
          </p:cNvPr>
          <p:cNvSpPr/>
          <p:nvPr/>
        </p:nvSpPr>
        <p:spPr>
          <a:xfrm>
            <a:off x="4179737" y="3224842"/>
            <a:ext cx="1793196" cy="3331024"/>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cxnSp>
        <p:nvCxnSpPr>
          <p:cNvPr id="9" name="直線箭頭接點 8">
            <a:extLst>
              <a:ext uri="{FF2B5EF4-FFF2-40B4-BE49-F238E27FC236}">
                <a16:creationId xmlns:a16="http://schemas.microsoft.com/office/drawing/2014/main" id="{382ABB1F-2D08-CBF5-C7BF-F0F899AA79EC}"/>
              </a:ext>
            </a:extLst>
          </p:cNvPr>
          <p:cNvCxnSpPr/>
          <p:nvPr/>
        </p:nvCxnSpPr>
        <p:spPr>
          <a:xfrm flipV="1">
            <a:off x="5385816" y="2752344"/>
            <a:ext cx="0" cy="67665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文字方塊 9">
            <a:extLst>
              <a:ext uri="{FF2B5EF4-FFF2-40B4-BE49-F238E27FC236}">
                <a16:creationId xmlns:a16="http://schemas.microsoft.com/office/drawing/2014/main" id="{A35115AB-CEE5-8872-13CB-EEC4FA53F2CF}"/>
              </a:ext>
            </a:extLst>
          </p:cNvPr>
          <p:cNvSpPr txBox="1"/>
          <p:nvPr/>
        </p:nvSpPr>
        <p:spPr>
          <a:xfrm>
            <a:off x="4455702" y="2001728"/>
            <a:ext cx="1793196" cy="646331"/>
          </a:xfrm>
          <a:prstGeom prst="rect">
            <a:avLst/>
          </a:prstGeom>
          <a:noFill/>
        </p:spPr>
        <p:txBody>
          <a:bodyPr wrap="square" rtlCol="0">
            <a:spAutoFit/>
          </a:bodyPr>
          <a:lstStyle/>
          <a:p>
            <a:pPr algn="ctr"/>
            <a:r>
              <a:rPr kumimoji="1" lang="zh-TW" altLang="en-US" dirty="0"/>
              <a:t>所有 </a:t>
            </a:r>
            <a:r>
              <a:rPr kumimoji="1" lang="en-US" altLang="zh-TW" dirty="0"/>
              <a:t>tokens </a:t>
            </a:r>
            <a:r>
              <a:rPr kumimoji="1" lang="zh-TW" altLang="en-US" dirty="0"/>
              <a:t>的 </a:t>
            </a:r>
            <a:r>
              <a:rPr kumimoji="1" lang="en-US" altLang="zh-TW" dirty="0"/>
              <a:t>hidden states</a:t>
            </a:r>
            <a:endParaRPr kumimoji="1" lang="zh-TW" altLang="en-US" dirty="0"/>
          </a:p>
        </p:txBody>
      </p:sp>
      <mc:AlternateContent xmlns:mc="http://schemas.openxmlformats.org/markup-compatibility/2006">
        <mc:Choice xmlns:a14="http://schemas.microsoft.com/office/drawing/2010/main" Requires="a14">
          <p:sp>
            <p:nvSpPr>
              <p:cNvPr id="11" name="矩形 10">
                <a:extLst>
                  <a:ext uri="{FF2B5EF4-FFF2-40B4-BE49-F238E27FC236}">
                    <a16:creationId xmlns:a16="http://schemas.microsoft.com/office/drawing/2014/main" id="{F2D0ECC9-0DC1-8D38-8154-CE4E96FFE1B9}"/>
                  </a:ext>
                </a:extLst>
              </p:cNvPr>
              <p:cNvSpPr/>
              <p:nvPr/>
            </p:nvSpPr>
            <p:spPr>
              <a:xfrm>
                <a:off x="7057952" y="1974191"/>
                <a:ext cx="1968284" cy="6884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Classification Layer </a:t>
                </a:r>
                <a14:m>
                  <m:oMath xmlns:m="http://schemas.openxmlformats.org/officeDocument/2006/math">
                    <m:r>
                      <a:rPr lang="en-US" altLang="zh-TW" i="1">
                        <a:solidFill>
                          <a:schemeClr val="tx1"/>
                        </a:solidFill>
                        <a:latin typeface="Cambria Math" panose="02040503050406030204" pitchFamily="18" charset="0"/>
                      </a:rPr>
                      <m:t>𝑉</m:t>
                    </m:r>
                  </m:oMath>
                </a14:m>
                <a:endParaRPr kumimoji="1" lang="zh-TW" altLang="en-US" dirty="0">
                  <a:solidFill>
                    <a:schemeClr val="tx1"/>
                  </a:solidFill>
                </a:endParaRPr>
              </a:p>
            </p:txBody>
          </p:sp>
        </mc:Choice>
        <mc:Fallback>
          <p:sp>
            <p:nvSpPr>
              <p:cNvPr id="11" name="矩形 10">
                <a:extLst>
                  <a:ext uri="{FF2B5EF4-FFF2-40B4-BE49-F238E27FC236}">
                    <a16:creationId xmlns:a16="http://schemas.microsoft.com/office/drawing/2014/main" id="{F2D0ECC9-0DC1-8D38-8154-CE4E96FFE1B9}"/>
                  </a:ext>
                </a:extLst>
              </p:cNvPr>
              <p:cNvSpPr>
                <a:spLocks noRot="1" noChangeAspect="1" noMove="1" noResize="1" noEditPoints="1" noAdjustHandles="1" noChangeArrowheads="1" noChangeShapeType="1" noTextEdit="1"/>
              </p:cNvSpPr>
              <p:nvPr/>
            </p:nvSpPr>
            <p:spPr>
              <a:xfrm>
                <a:off x="7057952" y="1974191"/>
                <a:ext cx="1968284" cy="688455"/>
              </a:xfrm>
              <a:prstGeom prst="rect">
                <a:avLst/>
              </a:prstGeom>
              <a:blipFill>
                <a:blip r:embed="rId3"/>
                <a:stretch>
                  <a:fillRect b="-8929"/>
                </a:stretch>
              </a:blipFill>
              <a:ln>
                <a:solidFill>
                  <a:schemeClr val="tx1"/>
                </a:solidFill>
              </a:ln>
            </p:spPr>
            <p:txBody>
              <a:bodyPr/>
              <a:lstStyle/>
              <a:p>
                <a:r>
                  <a:rPr lang="zh-TW" altLang="en-US">
                    <a:noFill/>
                  </a:rPr>
                  <a:t> </a:t>
                </a:r>
              </a:p>
            </p:txBody>
          </p:sp>
        </mc:Fallback>
      </mc:AlternateContent>
      <p:sp>
        <p:nvSpPr>
          <p:cNvPr id="13" name="文字方塊 12">
            <a:extLst>
              <a:ext uri="{FF2B5EF4-FFF2-40B4-BE49-F238E27FC236}">
                <a16:creationId xmlns:a16="http://schemas.microsoft.com/office/drawing/2014/main" id="{C2460608-1969-3897-CEB6-5A3B53261FC5}"/>
              </a:ext>
            </a:extLst>
          </p:cNvPr>
          <p:cNvSpPr txBox="1"/>
          <p:nvPr/>
        </p:nvSpPr>
        <p:spPr>
          <a:xfrm>
            <a:off x="7145497" y="1604859"/>
            <a:ext cx="1793193" cy="369332"/>
          </a:xfrm>
          <a:prstGeom prst="rect">
            <a:avLst/>
          </a:prstGeom>
          <a:noFill/>
        </p:spPr>
        <p:txBody>
          <a:bodyPr wrap="square">
            <a:spAutoFit/>
          </a:bodyPr>
          <a:lstStyle/>
          <a:p>
            <a:pPr algn="ctr"/>
            <a:r>
              <a:rPr kumimoji="1" lang="en-US" altLang="zh-TW" dirty="0"/>
              <a:t>MLM Head</a:t>
            </a:r>
            <a:endParaRPr kumimoji="1" lang="zh-TW" altLang="en-US" dirty="0"/>
          </a:p>
        </p:txBody>
      </p:sp>
      <p:cxnSp>
        <p:nvCxnSpPr>
          <p:cNvPr id="18" name="直線箭頭接點 17">
            <a:extLst>
              <a:ext uri="{FF2B5EF4-FFF2-40B4-BE49-F238E27FC236}">
                <a16:creationId xmlns:a16="http://schemas.microsoft.com/office/drawing/2014/main" id="{267531A5-DC2F-C513-DE32-22E1FB0E29E4}"/>
              </a:ext>
            </a:extLst>
          </p:cNvPr>
          <p:cNvCxnSpPr>
            <a:cxnSpLocks/>
          </p:cNvCxnSpPr>
          <p:nvPr/>
        </p:nvCxnSpPr>
        <p:spPr>
          <a:xfrm rot="5400000" flipV="1">
            <a:off x="6587226" y="1968061"/>
            <a:ext cx="0" cy="67665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046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8EB5045-AA95-861F-37B9-FEB39D82CEF2}"/>
              </a:ext>
            </a:extLst>
          </p:cNvPr>
          <p:cNvSpPr>
            <a:spLocks noGrp="1"/>
          </p:cNvSpPr>
          <p:nvPr>
            <p:ph type="title"/>
          </p:nvPr>
        </p:nvSpPr>
        <p:spPr/>
        <p:txBody>
          <a:bodyPr/>
          <a:lstStyle/>
          <a:p>
            <a:r>
              <a:rPr kumimoji="1" lang="zh-TW" altLang="en-US" dirty="0"/>
              <a:t>進行 </a:t>
            </a:r>
            <a:r>
              <a:rPr kumimoji="1" lang="en-US" altLang="zh-TW" dirty="0"/>
              <a:t>NSP </a:t>
            </a:r>
            <a:r>
              <a:rPr kumimoji="1" lang="zh-TW" altLang="en-US" dirty="0"/>
              <a:t>時的 </a:t>
            </a:r>
            <a:r>
              <a:rPr kumimoji="1" lang="en-US" altLang="zh-TW" dirty="0"/>
              <a:t>BERT </a:t>
            </a:r>
            <a:r>
              <a:rPr kumimoji="1" lang="zh-TW" altLang="en-US" dirty="0"/>
              <a:t>結構</a:t>
            </a:r>
          </a:p>
        </p:txBody>
      </p:sp>
      <p:sp>
        <p:nvSpPr>
          <p:cNvPr id="4" name="投影片編號版面配置區 3">
            <a:extLst>
              <a:ext uri="{FF2B5EF4-FFF2-40B4-BE49-F238E27FC236}">
                <a16:creationId xmlns:a16="http://schemas.microsoft.com/office/drawing/2014/main" id="{18DB61DF-C834-90DC-2533-A6CDEFB8F522}"/>
              </a:ext>
            </a:extLst>
          </p:cNvPr>
          <p:cNvSpPr>
            <a:spLocks noGrp="1"/>
          </p:cNvSpPr>
          <p:nvPr>
            <p:ph type="sldNum" sz="quarter" idx="12"/>
          </p:nvPr>
        </p:nvSpPr>
        <p:spPr/>
        <p:txBody>
          <a:bodyPr/>
          <a:lstStyle/>
          <a:p>
            <a:fld id="{6113E31D-E2AB-40D1-8B51-AFA5AFEF393A}" type="slidenum">
              <a:rPr lang="en-US" smtClean="0"/>
              <a:pPr/>
              <a:t>37</a:t>
            </a:fld>
            <a:endParaRPr lang="en-US" dirty="0"/>
          </a:p>
        </p:txBody>
      </p:sp>
      <p:pic>
        <p:nvPicPr>
          <p:cNvPr id="5" name="圖片 4">
            <a:extLst>
              <a:ext uri="{FF2B5EF4-FFF2-40B4-BE49-F238E27FC236}">
                <a16:creationId xmlns:a16="http://schemas.microsoft.com/office/drawing/2014/main" id="{767DA7CB-7AA4-6AE0-9E25-AB90185C9F94}"/>
              </a:ext>
            </a:extLst>
          </p:cNvPr>
          <p:cNvPicPr>
            <a:picLocks noChangeAspect="1"/>
          </p:cNvPicPr>
          <p:nvPr/>
        </p:nvPicPr>
        <p:blipFill rotWithShape="1">
          <a:blip r:embed="rId3"/>
          <a:srcRect t="36687" r="50451"/>
          <a:stretch/>
        </p:blipFill>
        <p:spPr>
          <a:xfrm>
            <a:off x="4179738" y="3429000"/>
            <a:ext cx="1793196" cy="3266827"/>
          </a:xfrm>
          <a:prstGeom prst="rect">
            <a:avLst/>
          </a:prstGeom>
        </p:spPr>
      </p:pic>
      <p:sp>
        <p:nvSpPr>
          <p:cNvPr id="6" name="矩形 5">
            <a:extLst>
              <a:ext uri="{FF2B5EF4-FFF2-40B4-BE49-F238E27FC236}">
                <a16:creationId xmlns:a16="http://schemas.microsoft.com/office/drawing/2014/main" id="{5ED702A9-152E-C3B5-941E-64B1D89C0A6B}"/>
              </a:ext>
            </a:extLst>
          </p:cNvPr>
          <p:cNvSpPr/>
          <p:nvPr/>
        </p:nvSpPr>
        <p:spPr>
          <a:xfrm>
            <a:off x="4179737" y="3224842"/>
            <a:ext cx="1793196" cy="3331024"/>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cxnSp>
        <p:nvCxnSpPr>
          <p:cNvPr id="9" name="直線箭頭接點 8">
            <a:extLst>
              <a:ext uri="{FF2B5EF4-FFF2-40B4-BE49-F238E27FC236}">
                <a16:creationId xmlns:a16="http://schemas.microsoft.com/office/drawing/2014/main" id="{382ABB1F-2D08-CBF5-C7BF-F0F899AA79EC}"/>
              </a:ext>
            </a:extLst>
          </p:cNvPr>
          <p:cNvCxnSpPr/>
          <p:nvPr/>
        </p:nvCxnSpPr>
        <p:spPr>
          <a:xfrm flipV="1">
            <a:off x="5385816" y="2752344"/>
            <a:ext cx="0" cy="67665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文字方塊 9">
            <a:extLst>
              <a:ext uri="{FF2B5EF4-FFF2-40B4-BE49-F238E27FC236}">
                <a16:creationId xmlns:a16="http://schemas.microsoft.com/office/drawing/2014/main" id="{A35115AB-CEE5-8872-13CB-EEC4FA53F2CF}"/>
              </a:ext>
            </a:extLst>
          </p:cNvPr>
          <p:cNvSpPr txBox="1"/>
          <p:nvPr/>
        </p:nvSpPr>
        <p:spPr>
          <a:xfrm>
            <a:off x="4455702" y="2001728"/>
            <a:ext cx="1793196" cy="646331"/>
          </a:xfrm>
          <a:prstGeom prst="rect">
            <a:avLst/>
          </a:prstGeom>
          <a:noFill/>
        </p:spPr>
        <p:txBody>
          <a:bodyPr wrap="square" rtlCol="0">
            <a:spAutoFit/>
          </a:bodyPr>
          <a:lstStyle/>
          <a:p>
            <a:pPr algn="ctr"/>
            <a:r>
              <a:rPr kumimoji="1" lang="en-US" altLang="zh-TW" dirty="0"/>
              <a:t>[CLS]</a:t>
            </a:r>
            <a:r>
              <a:rPr kumimoji="1" lang="zh-TW" altLang="en-US" dirty="0"/>
              <a:t> </a:t>
            </a:r>
            <a:r>
              <a:rPr kumimoji="1" lang="en-US" altLang="zh-TW" dirty="0"/>
              <a:t>token </a:t>
            </a:r>
            <a:r>
              <a:rPr kumimoji="1" lang="zh-TW" altLang="en-US" dirty="0"/>
              <a:t>的 </a:t>
            </a:r>
            <a:r>
              <a:rPr kumimoji="1" lang="en-US" altLang="zh-TW" dirty="0"/>
              <a:t>hidden state</a:t>
            </a:r>
            <a:endParaRPr kumimoji="1" lang="zh-TW" altLang="en-US" dirty="0"/>
          </a:p>
        </p:txBody>
      </p:sp>
      <p:sp>
        <p:nvSpPr>
          <p:cNvPr id="11" name="矩形 10">
            <a:extLst>
              <a:ext uri="{FF2B5EF4-FFF2-40B4-BE49-F238E27FC236}">
                <a16:creationId xmlns:a16="http://schemas.microsoft.com/office/drawing/2014/main" id="{F2D0ECC9-0DC1-8D38-8154-CE4E96FFE1B9}"/>
              </a:ext>
            </a:extLst>
          </p:cNvPr>
          <p:cNvSpPr/>
          <p:nvPr/>
        </p:nvSpPr>
        <p:spPr>
          <a:xfrm>
            <a:off x="7057952" y="1974191"/>
            <a:ext cx="2186632" cy="6884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Binary Classification Layer</a:t>
            </a:r>
            <a:endParaRPr kumimoji="1" lang="zh-TW" altLang="en-US" dirty="0">
              <a:solidFill>
                <a:schemeClr val="tx1"/>
              </a:solidFill>
            </a:endParaRPr>
          </a:p>
        </p:txBody>
      </p:sp>
      <p:cxnSp>
        <p:nvCxnSpPr>
          <p:cNvPr id="18" name="直線箭頭接點 17">
            <a:extLst>
              <a:ext uri="{FF2B5EF4-FFF2-40B4-BE49-F238E27FC236}">
                <a16:creationId xmlns:a16="http://schemas.microsoft.com/office/drawing/2014/main" id="{267531A5-DC2F-C513-DE32-22E1FB0E29E4}"/>
              </a:ext>
            </a:extLst>
          </p:cNvPr>
          <p:cNvCxnSpPr>
            <a:cxnSpLocks/>
          </p:cNvCxnSpPr>
          <p:nvPr/>
        </p:nvCxnSpPr>
        <p:spPr>
          <a:xfrm rot="5400000" flipV="1">
            <a:off x="6587226" y="1968061"/>
            <a:ext cx="0" cy="67665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7817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C8AD853-737A-C628-AD9A-22A1FF4C4F67}"/>
              </a:ext>
            </a:extLst>
          </p:cNvPr>
          <p:cNvSpPr>
            <a:spLocks noGrp="1"/>
          </p:cNvSpPr>
          <p:nvPr>
            <p:ph type="title"/>
          </p:nvPr>
        </p:nvSpPr>
        <p:spPr/>
        <p:txBody>
          <a:bodyPr>
            <a:normAutofit fontScale="90000"/>
          </a:bodyPr>
          <a:lstStyle/>
          <a:p>
            <a:r>
              <a:rPr kumimoji="1" lang="en-US" altLang="zh-TW" dirty="0"/>
              <a:t>Fine-tuning BERT (Sentence Classification)</a:t>
            </a:r>
            <a:endParaRPr kumimoji="1" lang="zh-TW" altLang="en-US" dirty="0"/>
          </a:p>
        </p:txBody>
      </p:sp>
      <p:sp>
        <p:nvSpPr>
          <p:cNvPr id="4" name="投影片編號版面配置區 3">
            <a:extLst>
              <a:ext uri="{FF2B5EF4-FFF2-40B4-BE49-F238E27FC236}">
                <a16:creationId xmlns:a16="http://schemas.microsoft.com/office/drawing/2014/main" id="{FE46E01F-027A-1F04-A6B7-858F67435D95}"/>
              </a:ext>
            </a:extLst>
          </p:cNvPr>
          <p:cNvSpPr>
            <a:spLocks noGrp="1"/>
          </p:cNvSpPr>
          <p:nvPr>
            <p:ph type="sldNum" sz="quarter" idx="12"/>
          </p:nvPr>
        </p:nvSpPr>
        <p:spPr/>
        <p:txBody>
          <a:bodyPr/>
          <a:lstStyle/>
          <a:p>
            <a:fld id="{6113E31D-E2AB-40D1-8B51-AFA5AFEF393A}" type="slidenum">
              <a:rPr lang="en-US" smtClean="0"/>
              <a:pPr/>
              <a:t>38</a:t>
            </a:fld>
            <a:endParaRPr lang="en-US" dirty="0"/>
          </a:p>
        </p:txBody>
      </p:sp>
      <p:sp>
        <p:nvSpPr>
          <p:cNvPr id="5" name="Google Shape;187;p17">
            <a:extLst>
              <a:ext uri="{FF2B5EF4-FFF2-40B4-BE49-F238E27FC236}">
                <a16:creationId xmlns:a16="http://schemas.microsoft.com/office/drawing/2014/main" id="{4BFA0C50-F3CC-3B14-D62E-0BF8B063DC50}"/>
              </a:ext>
            </a:extLst>
          </p:cNvPr>
          <p:cNvSpPr/>
          <p:nvPr/>
        </p:nvSpPr>
        <p:spPr>
          <a:xfrm>
            <a:off x="2408842" y="3923173"/>
            <a:ext cx="174300" cy="5247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88;p17">
            <a:extLst>
              <a:ext uri="{FF2B5EF4-FFF2-40B4-BE49-F238E27FC236}">
                <a16:creationId xmlns:a16="http://schemas.microsoft.com/office/drawing/2014/main" id="{071399E1-B45B-CA6E-17C4-AA14F43598DA}"/>
              </a:ext>
            </a:extLst>
          </p:cNvPr>
          <p:cNvSpPr/>
          <p:nvPr/>
        </p:nvSpPr>
        <p:spPr>
          <a:xfrm>
            <a:off x="1698762" y="3923173"/>
            <a:ext cx="174300" cy="5247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89;p17">
            <a:extLst>
              <a:ext uri="{FF2B5EF4-FFF2-40B4-BE49-F238E27FC236}">
                <a16:creationId xmlns:a16="http://schemas.microsoft.com/office/drawing/2014/main" id="{09A28465-505C-2170-12E9-BC31E207DB65}"/>
              </a:ext>
            </a:extLst>
          </p:cNvPr>
          <p:cNvSpPr/>
          <p:nvPr/>
        </p:nvSpPr>
        <p:spPr>
          <a:xfrm>
            <a:off x="4538547" y="3923173"/>
            <a:ext cx="174300" cy="5247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 name="Google Shape;192;p17">
            <a:extLst>
              <a:ext uri="{FF2B5EF4-FFF2-40B4-BE49-F238E27FC236}">
                <a16:creationId xmlns:a16="http://schemas.microsoft.com/office/drawing/2014/main" id="{E5FC3F8A-391F-6E7D-5CE8-F9877B8D6E65}"/>
              </a:ext>
            </a:extLst>
          </p:cNvPr>
          <p:cNvCxnSpPr>
            <a:cxnSpLocks/>
          </p:cNvCxnSpPr>
          <p:nvPr/>
        </p:nvCxnSpPr>
        <p:spPr>
          <a:xfrm rot="10800000">
            <a:off x="1785909" y="5647817"/>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9" name="Google Shape;193;p17">
            <a:extLst>
              <a:ext uri="{FF2B5EF4-FFF2-40B4-BE49-F238E27FC236}">
                <a16:creationId xmlns:a16="http://schemas.microsoft.com/office/drawing/2014/main" id="{EED24090-A08B-CE74-5BA2-BD943D52BB1D}"/>
              </a:ext>
            </a:extLst>
          </p:cNvPr>
          <p:cNvCxnSpPr>
            <a:cxnSpLocks/>
          </p:cNvCxnSpPr>
          <p:nvPr/>
        </p:nvCxnSpPr>
        <p:spPr>
          <a:xfrm rot="10800000">
            <a:off x="3206079" y="5647817"/>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10" name="Google Shape;194;p17">
            <a:extLst>
              <a:ext uri="{FF2B5EF4-FFF2-40B4-BE49-F238E27FC236}">
                <a16:creationId xmlns:a16="http://schemas.microsoft.com/office/drawing/2014/main" id="{B608227D-21EA-3A31-7CEF-65B336085C3D}"/>
              </a:ext>
            </a:extLst>
          </p:cNvPr>
          <p:cNvCxnSpPr>
            <a:cxnSpLocks/>
          </p:cNvCxnSpPr>
          <p:nvPr/>
        </p:nvCxnSpPr>
        <p:spPr>
          <a:xfrm rot="10800000">
            <a:off x="3916164" y="5647816"/>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11" name="Google Shape;195;p17">
            <a:extLst>
              <a:ext uri="{FF2B5EF4-FFF2-40B4-BE49-F238E27FC236}">
                <a16:creationId xmlns:a16="http://schemas.microsoft.com/office/drawing/2014/main" id="{A7B6BC9A-3D85-BC65-8A0F-4B19BF9BE79B}"/>
              </a:ext>
            </a:extLst>
          </p:cNvPr>
          <p:cNvCxnSpPr>
            <a:cxnSpLocks/>
          </p:cNvCxnSpPr>
          <p:nvPr/>
        </p:nvCxnSpPr>
        <p:spPr>
          <a:xfrm rot="10800000">
            <a:off x="4626247" y="5647816"/>
            <a:ext cx="0" cy="189000"/>
          </a:xfrm>
          <a:prstGeom prst="straightConnector1">
            <a:avLst/>
          </a:prstGeom>
          <a:noFill/>
          <a:ln w="9525" cap="flat" cmpd="sng">
            <a:solidFill>
              <a:schemeClr val="dk2"/>
            </a:solidFill>
            <a:prstDash val="solid"/>
            <a:round/>
            <a:headEnd type="none" w="med" len="med"/>
            <a:tailEnd type="triangle" w="med" len="med"/>
          </a:ln>
        </p:spPr>
      </p:cxnSp>
      <p:sp>
        <p:nvSpPr>
          <p:cNvPr id="12" name="Google Shape;200;p17">
            <a:extLst>
              <a:ext uri="{FF2B5EF4-FFF2-40B4-BE49-F238E27FC236}">
                <a16:creationId xmlns:a16="http://schemas.microsoft.com/office/drawing/2014/main" id="{34832F1F-333F-4867-0B25-AB1E82B41EC2}"/>
              </a:ext>
            </a:extLst>
          </p:cNvPr>
          <p:cNvSpPr txBox="1"/>
          <p:nvPr/>
        </p:nvSpPr>
        <p:spPr>
          <a:xfrm>
            <a:off x="1396036" y="2462026"/>
            <a:ext cx="754871" cy="430857"/>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600" dirty="0">
                <a:solidFill>
                  <a:srgbClr val="FF0000"/>
                </a:solidFill>
                <a:latin typeface="Roboto"/>
                <a:ea typeface="Roboto"/>
                <a:cs typeface="Roboto"/>
                <a:sym typeface="Roboto"/>
              </a:rPr>
              <a:t>class</a:t>
            </a:r>
            <a:endParaRPr sz="1600" dirty="0">
              <a:solidFill>
                <a:srgbClr val="FF0000"/>
              </a:solidFill>
              <a:latin typeface="Roboto"/>
              <a:ea typeface="Roboto"/>
              <a:cs typeface="Roboto"/>
              <a:sym typeface="Roboto"/>
            </a:endParaRPr>
          </a:p>
        </p:txBody>
      </p:sp>
      <p:sp>
        <p:nvSpPr>
          <p:cNvPr id="13" name="Google Shape;202;p17">
            <a:extLst>
              <a:ext uri="{FF2B5EF4-FFF2-40B4-BE49-F238E27FC236}">
                <a16:creationId xmlns:a16="http://schemas.microsoft.com/office/drawing/2014/main" id="{7C61FD1E-E08E-E921-F9B4-0F0A6795769D}"/>
              </a:ext>
            </a:extLst>
          </p:cNvPr>
          <p:cNvSpPr txBox="1"/>
          <p:nvPr/>
        </p:nvSpPr>
        <p:spPr>
          <a:xfrm>
            <a:off x="1973765" y="1966968"/>
            <a:ext cx="3409445" cy="4616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ltLang="zh-TW" b="1" dirty="0">
                <a:latin typeface="Roboto"/>
                <a:ea typeface="Roboto"/>
                <a:cs typeface="Roboto"/>
                <a:sym typeface="Roboto"/>
              </a:rPr>
              <a:t>Single-sentence classification</a:t>
            </a:r>
          </a:p>
        </p:txBody>
      </p:sp>
      <p:sp>
        <p:nvSpPr>
          <p:cNvPr id="14" name="Google Shape;203;p17">
            <a:extLst>
              <a:ext uri="{FF2B5EF4-FFF2-40B4-BE49-F238E27FC236}">
                <a16:creationId xmlns:a16="http://schemas.microsoft.com/office/drawing/2014/main" id="{4FBD2530-EC98-3E38-8C3A-34AEBD508C44}"/>
              </a:ext>
            </a:extLst>
          </p:cNvPr>
          <p:cNvSpPr txBox="1"/>
          <p:nvPr/>
        </p:nvSpPr>
        <p:spPr>
          <a:xfrm>
            <a:off x="7154266" y="1966968"/>
            <a:ext cx="3153215" cy="46163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ltLang="zh-TW" b="1" dirty="0">
                <a:latin typeface="Roboto"/>
                <a:ea typeface="Roboto"/>
                <a:cs typeface="Roboto"/>
                <a:sym typeface="Roboto"/>
              </a:rPr>
              <a:t>Sentence pair classification</a:t>
            </a:r>
          </a:p>
        </p:txBody>
      </p:sp>
      <p:cxnSp>
        <p:nvCxnSpPr>
          <p:cNvPr id="17" name="Google Shape;195;p17">
            <a:extLst>
              <a:ext uri="{FF2B5EF4-FFF2-40B4-BE49-F238E27FC236}">
                <a16:creationId xmlns:a16="http://schemas.microsoft.com/office/drawing/2014/main" id="{12432D4A-2379-87FB-D2B8-F0917EF14232}"/>
              </a:ext>
            </a:extLst>
          </p:cNvPr>
          <p:cNvCxnSpPr>
            <a:cxnSpLocks/>
          </p:cNvCxnSpPr>
          <p:nvPr/>
        </p:nvCxnSpPr>
        <p:spPr>
          <a:xfrm rot="10800000">
            <a:off x="2495994" y="5647817"/>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18" name="Google Shape;192;p17">
            <a:extLst>
              <a:ext uri="{FF2B5EF4-FFF2-40B4-BE49-F238E27FC236}">
                <a16:creationId xmlns:a16="http://schemas.microsoft.com/office/drawing/2014/main" id="{A64BDD77-6D63-191E-8C6D-FE02F9282FBB}"/>
              </a:ext>
            </a:extLst>
          </p:cNvPr>
          <p:cNvCxnSpPr>
            <a:cxnSpLocks/>
          </p:cNvCxnSpPr>
          <p:nvPr/>
        </p:nvCxnSpPr>
        <p:spPr>
          <a:xfrm rot="10800000">
            <a:off x="1785909" y="4549767"/>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19" name="Google Shape;193;p17">
            <a:extLst>
              <a:ext uri="{FF2B5EF4-FFF2-40B4-BE49-F238E27FC236}">
                <a16:creationId xmlns:a16="http://schemas.microsoft.com/office/drawing/2014/main" id="{3DBC80C2-5D55-1C5C-84F7-22A6EFAC6025}"/>
              </a:ext>
            </a:extLst>
          </p:cNvPr>
          <p:cNvCxnSpPr>
            <a:cxnSpLocks/>
          </p:cNvCxnSpPr>
          <p:nvPr/>
        </p:nvCxnSpPr>
        <p:spPr>
          <a:xfrm rot="10800000">
            <a:off x="3206077" y="4549767"/>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20" name="Google Shape;194;p17">
            <a:extLst>
              <a:ext uri="{FF2B5EF4-FFF2-40B4-BE49-F238E27FC236}">
                <a16:creationId xmlns:a16="http://schemas.microsoft.com/office/drawing/2014/main" id="{B78B94BB-CD58-6CD9-EEA6-358ADEE81BDD}"/>
              </a:ext>
            </a:extLst>
          </p:cNvPr>
          <p:cNvCxnSpPr>
            <a:cxnSpLocks/>
          </p:cNvCxnSpPr>
          <p:nvPr/>
        </p:nvCxnSpPr>
        <p:spPr>
          <a:xfrm rot="10800000">
            <a:off x="3916161" y="4549767"/>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21" name="Google Shape;195;p17">
            <a:extLst>
              <a:ext uri="{FF2B5EF4-FFF2-40B4-BE49-F238E27FC236}">
                <a16:creationId xmlns:a16="http://schemas.microsoft.com/office/drawing/2014/main" id="{6C0240C9-D66B-037F-2EAC-48AF6552E272}"/>
              </a:ext>
            </a:extLst>
          </p:cNvPr>
          <p:cNvCxnSpPr>
            <a:cxnSpLocks/>
          </p:cNvCxnSpPr>
          <p:nvPr/>
        </p:nvCxnSpPr>
        <p:spPr>
          <a:xfrm rot="10800000">
            <a:off x="4626247" y="4549767"/>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22" name="Google Shape;195;p17">
            <a:extLst>
              <a:ext uri="{FF2B5EF4-FFF2-40B4-BE49-F238E27FC236}">
                <a16:creationId xmlns:a16="http://schemas.microsoft.com/office/drawing/2014/main" id="{579A6249-0283-C146-DF13-EF760E83885B}"/>
              </a:ext>
            </a:extLst>
          </p:cNvPr>
          <p:cNvCxnSpPr>
            <a:cxnSpLocks/>
          </p:cNvCxnSpPr>
          <p:nvPr/>
        </p:nvCxnSpPr>
        <p:spPr>
          <a:xfrm rot="10800000">
            <a:off x="2495993" y="4549767"/>
            <a:ext cx="0" cy="189000"/>
          </a:xfrm>
          <a:prstGeom prst="straightConnector1">
            <a:avLst/>
          </a:prstGeom>
          <a:noFill/>
          <a:ln w="9525" cap="flat" cmpd="sng">
            <a:solidFill>
              <a:schemeClr val="dk2"/>
            </a:solidFill>
            <a:prstDash val="solid"/>
            <a:round/>
            <a:headEnd type="none" w="med" len="med"/>
            <a:tailEnd type="triangle" w="med" len="med"/>
          </a:ln>
        </p:spPr>
      </p:cxnSp>
      <p:sp>
        <p:nvSpPr>
          <p:cNvPr id="23" name="Google Shape;187;p17">
            <a:extLst>
              <a:ext uri="{FF2B5EF4-FFF2-40B4-BE49-F238E27FC236}">
                <a16:creationId xmlns:a16="http://schemas.microsoft.com/office/drawing/2014/main" id="{D34BE04E-722C-EB99-B128-9CBFEF0AEBE7}"/>
              </a:ext>
            </a:extLst>
          </p:cNvPr>
          <p:cNvSpPr/>
          <p:nvPr/>
        </p:nvSpPr>
        <p:spPr>
          <a:xfrm>
            <a:off x="3120852" y="3923173"/>
            <a:ext cx="174300" cy="5247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87;p17">
            <a:extLst>
              <a:ext uri="{FF2B5EF4-FFF2-40B4-BE49-F238E27FC236}">
                <a16:creationId xmlns:a16="http://schemas.microsoft.com/office/drawing/2014/main" id="{6A184166-9C72-5952-B491-9EED3E634ED8}"/>
              </a:ext>
            </a:extLst>
          </p:cNvPr>
          <p:cNvSpPr/>
          <p:nvPr/>
        </p:nvSpPr>
        <p:spPr>
          <a:xfrm>
            <a:off x="3819502" y="3923173"/>
            <a:ext cx="174300" cy="5247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文字方塊 24">
            <a:extLst>
              <a:ext uri="{FF2B5EF4-FFF2-40B4-BE49-F238E27FC236}">
                <a16:creationId xmlns:a16="http://schemas.microsoft.com/office/drawing/2014/main" id="{E91953C3-DD07-901B-07C4-7F0532FFBECB}"/>
              </a:ext>
            </a:extLst>
          </p:cNvPr>
          <p:cNvSpPr txBox="1"/>
          <p:nvPr/>
        </p:nvSpPr>
        <p:spPr>
          <a:xfrm>
            <a:off x="1377113" y="5829442"/>
            <a:ext cx="792624" cy="338554"/>
          </a:xfrm>
          <a:prstGeom prst="rect">
            <a:avLst/>
          </a:prstGeom>
          <a:noFill/>
        </p:spPr>
        <p:txBody>
          <a:bodyPr wrap="square" rtlCol="0">
            <a:spAutoFit/>
          </a:bodyPr>
          <a:lstStyle/>
          <a:p>
            <a:pPr algn="ctr"/>
            <a:r>
              <a:rPr kumimoji="1" lang="en-US" altLang="zh-TW" sz="1600" dirty="0"/>
              <a:t>[CLS]</a:t>
            </a:r>
            <a:endParaRPr kumimoji="1" lang="zh-TW" altLang="en-US" sz="1600" dirty="0"/>
          </a:p>
        </p:txBody>
      </p:sp>
      <p:sp>
        <p:nvSpPr>
          <p:cNvPr id="26" name="文字方塊 25">
            <a:extLst>
              <a:ext uri="{FF2B5EF4-FFF2-40B4-BE49-F238E27FC236}">
                <a16:creationId xmlns:a16="http://schemas.microsoft.com/office/drawing/2014/main" id="{7BAA1443-1DC8-4442-8D41-2ADC08C28546}"/>
              </a:ext>
            </a:extLst>
          </p:cNvPr>
          <p:cNvSpPr txBox="1"/>
          <p:nvPr/>
        </p:nvSpPr>
        <p:spPr>
          <a:xfrm>
            <a:off x="2131390" y="5829442"/>
            <a:ext cx="734583" cy="338554"/>
          </a:xfrm>
          <a:prstGeom prst="rect">
            <a:avLst/>
          </a:prstGeom>
          <a:noFill/>
        </p:spPr>
        <p:txBody>
          <a:bodyPr wrap="square" rtlCol="0">
            <a:spAutoFit/>
          </a:bodyPr>
          <a:lstStyle/>
          <a:p>
            <a:pPr algn="ctr"/>
            <a:r>
              <a:rPr kumimoji="1" lang="en-US" altLang="zh-TW" sz="1600" dirty="0"/>
              <a:t>open</a:t>
            </a:r>
            <a:endParaRPr kumimoji="1" lang="zh-TW" altLang="en-US" sz="1600" dirty="0"/>
          </a:p>
        </p:txBody>
      </p:sp>
      <p:sp>
        <p:nvSpPr>
          <p:cNvPr id="27" name="文字方塊 26">
            <a:extLst>
              <a:ext uri="{FF2B5EF4-FFF2-40B4-BE49-F238E27FC236}">
                <a16:creationId xmlns:a16="http://schemas.microsoft.com/office/drawing/2014/main" id="{F6CA7BBF-0173-9097-65A5-D5010ED8DBA0}"/>
              </a:ext>
            </a:extLst>
          </p:cNvPr>
          <p:cNvSpPr txBox="1"/>
          <p:nvPr/>
        </p:nvSpPr>
        <p:spPr>
          <a:xfrm>
            <a:off x="2895148" y="5829442"/>
            <a:ext cx="617862" cy="338554"/>
          </a:xfrm>
          <a:prstGeom prst="rect">
            <a:avLst/>
          </a:prstGeom>
          <a:noFill/>
        </p:spPr>
        <p:txBody>
          <a:bodyPr wrap="square" rtlCol="0">
            <a:spAutoFit/>
          </a:bodyPr>
          <a:lstStyle/>
          <a:p>
            <a:pPr algn="ctr"/>
            <a:r>
              <a:rPr kumimoji="1" lang="en-US" altLang="zh-TW" sz="1600" dirty="0"/>
              <a:t>a</a:t>
            </a:r>
            <a:endParaRPr kumimoji="1" lang="zh-TW" altLang="en-US" sz="1600" dirty="0"/>
          </a:p>
        </p:txBody>
      </p:sp>
      <p:sp>
        <p:nvSpPr>
          <p:cNvPr id="29" name="文字方塊 28">
            <a:extLst>
              <a:ext uri="{FF2B5EF4-FFF2-40B4-BE49-F238E27FC236}">
                <a16:creationId xmlns:a16="http://schemas.microsoft.com/office/drawing/2014/main" id="{986F16F1-7AD8-632B-2585-F060A3344220}"/>
              </a:ext>
            </a:extLst>
          </p:cNvPr>
          <p:cNvSpPr txBox="1"/>
          <p:nvPr/>
        </p:nvSpPr>
        <p:spPr>
          <a:xfrm>
            <a:off x="4141043" y="5829442"/>
            <a:ext cx="978563" cy="338554"/>
          </a:xfrm>
          <a:prstGeom prst="rect">
            <a:avLst/>
          </a:prstGeom>
          <a:noFill/>
        </p:spPr>
        <p:txBody>
          <a:bodyPr wrap="square" rtlCol="0">
            <a:spAutoFit/>
          </a:bodyPr>
          <a:lstStyle/>
          <a:p>
            <a:pPr algn="ctr"/>
            <a:r>
              <a:rPr kumimoji="1" lang="en-US" altLang="zh-TW" sz="1600" dirty="0"/>
              <a:t>account</a:t>
            </a:r>
            <a:endParaRPr kumimoji="1" lang="zh-TW" altLang="en-US" sz="1600" dirty="0"/>
          </a:p>
        </p:txBody>
      </p:sp>
      <p:sp>
        <p:nvSpPr>
          <p:cNvPr id="30" name="Google Shape;187;p17">
            <a:extLst>
              <a:ext uri="{FF2B5EF4-FFF2-40B4-BE49-F238E27FC236}">
                <a16:creationId xmlns:a16="http://schemas.microsoft.com/office/drawing/2014/main" id="{89D43A88-1226-B992-F18D-9BC9B8CFB8F1}"/>
              </a:ext>
            </a:extLst>
          </p:cNvPr>
          <p:cNvSpPr/>
          <p:nvPr/>
        </p:nvSpPr>
        <p:spPr>
          <a:xfrm>
            <a:off x="7549902" y="3927446"/>
            <a:ext cx="174300" cy="5247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88;p17">
            <a:extLst>
              <a:ext uri="{FF2B5EF4-FFF2-40B4-BE49-F238E27FC236}">
                <a16:creationId xmlns:a16="http://schemas.microsoft.com/office/drawing/2014/main" id="{6F1F7D18-A668-6DAC-291C-F159E9C0CD93}"/>
              </a:ext>
            </a:extLst>
          </p:cNvPr>
          <p:cNvSpPr/>
          <p:nvPr/>
        </p:nvSpPr>
        <p:spPr>
          <a:xfrm>
            <a:off x="6839822" y="3927446"/>
            <a:ext cx="174300" cy="5247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89;p17">
            <a:extLst>
              <a:ext uri="{FF2B5EF4-FFF2-40B4-BE49-F238E27FC236}">
                <a16:creationId xmlns:a16="http://schemas.microsoft.com/office/drawing/2014/main" id="{65F6983F-3776-08C9-FE32-B864BE0A729D}"/>
              </a:ext>
            </a:extLst>
          </p:cNvPr>
          <p:cNvSpPr/>
          <p:nvPr/>
        </p:nvSpPr>
        <p:spPr>
          <a:xfrm>
            <a:off x="9679607" y="3927446"/>
            <a:ext cx="174300" cy="5247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3" name="Google Shape;192;p17">
            <a:extLst>
              <a:ext uri="{FF2B5EF4-FFF2-40B4-BE49-F238E27FC236}">
                <a16:creationId xmlns:a16="http://schemas.microsoft.com/office/drawing/2014/main" id="{810D8EA7-8A42-F74E-A1B5-A20AF20D9E75}"/>
              </a:ext>
            </a:extLst>
          </p:cNvPr>
          <p:cNvCxnSpPr>
            <a:cxnSpLocks/>
          </p:cNvCxnSpPr>
          <p:nvPr/>
        </p:nvCxnSpPr>
        <p:spPr>
          <a:xfrm rot="10800000">
            <a:off x="6926969" y="5644715"/>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34" name="Google Shape;193;p17">
            <a:extLst>
              <a:ext uri="{FF2B5EF4-FFF2-40B4-BE49-F238E27FC236}">
                <a16:creationId xmlns:a16="http://schemas.microsoft.com/office/drawing/2014/main" id="{7C6D4B88-38FC-EDAC-B2F8-A9A291E74D9D}"/>
              </a:ext>
            </a:extLst>
          </p:cNvPr>
          <p:cNvCxnSpPr>
            <a:cxnSpLocks/>
          </p:cNvCxnSpPr>
          <p:nvPr/>
        </p:nvCxnSpPr>
        <p:spPr>
          <a:xfrm rot="10800000">
            <a:off x="8347139" y="5644715"/>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35" name="Google Shape;194;p17">
            <a:extLst>
              <a:ext uri="{FF2B5EF4-FFF2-40B4-BE49-F238E27FC236}">
                <a16:creationId xmlns:a16="http://schemas.microsoft.com/office/drawing/2014/main" id="{D3E47183-0AE5-88BA-92BF-3FBEDF474B19}"/>
              </a:ext>
            </a:extLst>
          </p:cNvPr>
          <p:cNvCxnSpPr>
            <a:cxnSpLocks/>
          </p:cNvCxnSpPr>
          <p:nvPr/>
        </p:nvCxnSpPr>
        <p:spPr>
          <a:xfrm rot="10800000">
            <a:off x="9057224" y="5644715"/>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36" name="Google Shape;195;p17">
            <a:extLst>
              <a:ext uri="{FF2B5EF4-FFF2-40B4-BE49-F238E27FC236}">
                <a16:creationId xmlns:a16="http://schemas.microsoft.com/office/drawing/2014/main" id="{2A1B0951-DC0B-9AF1-759E-61CC870855D1}"/>
              </a:ext>
            </a:extLst>
          </p:cNvPr>
          <p:cNvCxnSpPr>
            <a:cxnSpLocks/>
          </p:cNvCxnSpPr>
          <p:nvPr/>
        </p:nvCxnSpPr>
        <p:spPr>
          <a:xfrm rot="10800000">
            <a:off x="9767307" y="5644715"/>
            <a:ext cx="0" cy="189000"/>
          </a:xfrm>
          <a:prstGeom prst="straightConnector1">
            <a:avLst/>
          </a:prstGeom>
          <a:noFill/>
          <a:ln w="9525" cap="flat" cmpd="sng">
            <a:solidFill>
              <a:schemeClr val="dk2"/>
            </a:solidFill>
            <a:prstDash val="solid"/>
            <a:round/>
            <a:headEnd type="none" w="med" len="med"/>
            <a:tailEnd type="triangle" w="med" len="med"/>
          </a:ln>
        </p:spPr>
      </p:cxnSp>
      <p:sp>
        <p:nvSpPr>
          <p:cNvPr id="37" name="Google Shape;204;p17">
            <a:extLst>
              <a:ext uri="{FF2B5EF4-FFF2-40B4-BE49-F238E27FC236}">
                <a16:creationId xmlns:a16="http://schemas.microsoft.com/office/drawing/2014/main" id="{C7024231-E2FB-9B1F-1143-6646A334A1AF}"/>
              </a:ext>
            </a:extLst>
          </p:cNvPr>
          <p:cNvSpPr/>
          <p:nvPr/>
        </p:nvSpPr>
        <p:spPr>
          <a:xfrm>
            <a:off x="6607739" y="4823785"/>
            <a:ext cx="4210222" cy="774600"/>
          </a:xfrm>
          <a:prstGeom prst="rect">
            <a:avLst/>
          </a:prstGeom>
          <a:noFill/>
          <a:ln w="19050"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TW" dirty="0"/>
              <a:t>BERT</a:t>
            </a:r>
            <a:endParaRPr dirty="0"/>
          </a:p>
          <a:p>
            <a:pPr marL="0" lvl="0" indent="0" algn="ctr" rtl="0">
              <a:spcBef>
                <a:spcPts val="0"/>
              </a:spcBef>
              <a:spcAft>
                <a:spcPts val="0"/>
              </a:spcAft>
              <a:buNone/>
            </a:pPr>
            <a:r>
              <a:rPr lang="zh-TW" dirty="0"/>
              <a:t>(</a:t>
            </a:r>
            <a:r>
              <a:rPr lang="en-US" altLang="zh-TW" b="1" dirty="0">
                <a:solidFill>
                  <a:srgbClr val="4A86E8"/>
                </a:solidFill>
              </a:rPr>
              <a:t>C</a:t>
            </a:r>
            <a:r>
              <a:rPr lang="zh-TW" b="1" dirty="0">
                <a:solidFill>
                  <a:srgbClr val="4A86E8"/>
                </a:solidFill>
              </a:rPr>
              <a:t>ontex</a:t>
            </a:r>
            <a:r>
              <a:rPr lang="en-US" altLang="zh-TW" b="1" dirty="0">
                <a:solidFill>
                  <a:srgbClr val="4A86E8"/>
                </a:solidFill>
              </a:rPr>
              <a:t>t</a:t>
            </a:r>
            <a:r>
              <a:rPr lang="zh-TW" b="1" dirty="0">
                <a:solidFill>
                  <a:srgbClr val="4A86E8"/>
                </a:solidFill>
              </a:rPr>
              <a:t>ual </a:t>
            </a:r>
            <a:r>
              <a:rPr lang="en-US" altLang="zh-TW" b="1" dirty="0">
                <a:solidFill>
                  <a:srgbClr val="4A86E8"/>
                </a:solidFill>
              </a:rPr>
              <a:t>E</a:t>
            </a:r>
            <a:r>
              <a:rPr lang="zh-TW" b="1" dirty="0">
                <a:solidFill>
                  <a:srgbClr val="4A86E8"/>
                </a:solidFill>
              </a:rPr>
              <a:t>mbedding</a:t>
            </a:r>
            <a:r>
              <a:rPr lang="zh-TW" dirty="0"/>
              <a:t>)</a:t>
            </a:r>
            <a:endParaRPr dirty="0"/>
          </a:p>
        </p:txBody>
      </p:sp>
      <p:cxnSp>
        <p:nvCxnSpPr>
          <p:cNvPr id="38" name="Google Shape;195;p17">
            <a:extLst>
              <a:ext uri="{FF2B5EF4-FFF2-40B4-BE49-F238E27FC236}">
                <a16:creationId xmlns:a16="http://schemas.microsoft.com/office/drawing/2014/main" id="{B12A0870-8FD6-6FC6-F39E-A08070766A47}"/>
              </a:ext>
            </a:extLst>
          </p:cNvPr>
          <p:cNvCxnSpPr>
            <a:cxnSpLocks/>
          </p:cNvCxnSpPr>
          <p:nvPr/>
        </p:nvCxnSpPr>
        <p:spPr>
          <a:xfrm rot="10800000">
            <a:off x="7637054" y="5644715"/>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39" name="Google Shape;192;p17">
            <a:extLst>
              <a:ext uri="{FF2B5EF4-FFF2-40B4-BE49-F238E27FC236}">
                <a16:creationId xmlns:a16="http://schemas.microsoft.com/office/drawing/2014/main" id="{3FC4ACFC-8350-37DD-4EA3-C18AD4A0F496}"/>
              </a:ext>
            </a:extLst>
          </p:cNvPr>
          <p:cNvCxnSpPr>
            <a:cxnSpLocks/>
          </p:cNvCxnSpPr>
          <p:nvPr/>
        </p:nvCxnSpPr>
        <p:spPr>
          <a:xfrm rot="10800000">
            <a:off x="6926969" y="4549767"/>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40" name="Google Shape;193;p17">
            <a:extLst>
              <a:ext uri="{FF2B5EF4-FFF2-40B4-BE49-F238E27FC236}">
                <a16:creationId xmlns:a16="http://schemas.microsoft.com/office/drawing/2014/main" id="{F262E41D-086B-EDBA-AF3C-A6EEDE7E9963}"/>
              </a:ext>
            </a:extLst>
          </p:cNvPr>
          <p:cNvCxnSpPr>
            <a:cxnSpLocks/>
          </p:cNvCxnSpPr>
          <p:nvPr/>
        </p:nvCxnSpPr>
        <p:spPr>
          <a:xfrm rot="10800000">
            <a:off x="8347137" y="4549767"/>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41" name="Google Shape;194;p17">
            <a:extLst>
              <a:ext uri="{FF2B5EF4-FFF2-40B4-BE49-F238E27FC236}">
                <a16:creationId xmlns:a16="http://schemas.microsoft.com/office/drawing/2014/main" id="{DB4F0581-CA7C-6E96-EF0B-F6D84028BD72}"/>
              </a:ext>
            </a:extLst>
          </p:cNvPr>
          <p:cNvCxnSpPr>
            <a:cxnSpLocks/>
          </p:cNvCxnSpPr>
          <p:nvPr/>
        </p:nvCxnSpPr>
        <p:spPr>
          <a:xfrm rot="10800000">
            <a:off x="9057221" y="4549767"/>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42" name="Google Shape;195;p17">
            <a:extLst>
              <a:ext uri="{FF2B5EF4-FFF2-40B4-BE49-F238E27FC236}">
                <a16:creationId xmlns:a16="http://schemas.microsoft.com/office/drawing/2014/main" id="{EE7D24EC-8EC3-F5DF-F683-B0C902188A29}"/>
              </a:ext>
            </a:extLst>
          </p:cNvPr>
          <p:cNvCxnSpPr>
            <a:cxnSpLocks/>
          </p:cNvCxnSpPr>
          <p:nvPr/>
        </p:nvCxnSpPr>
        <p:spPr>
          <a:xfrm rot="10800000">
            <a:off x="9767307" y="4549767"/>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43" name="Google Shape;195;p17">
            <a:extLst>
              <a:ext uri="{FF2B5EF4-FFF2-40B4-BE49-F238E27FC236}">
                <a16:creationId xmlns:a16="http://schemas.microsoft.com/office/drawing/2014/main" id="{3B0955AC-9E1D-64DB-3F30-703421F29D1C}"/>
              </a:ext>
            </a:extLst>
          </p:cNvPr>
          <p:cNvCxnSpPr>
            <a:cxnSpLocks/>
          </p:cNvCxnSpPr>
          <p:nvPr/>
        </p:nvCxnSpPr>
        <p:spPr>
          <a:xfrm rot="10800000">
            <a:off x="7637053" y="4549767"/>
            <a:ext cx="0" cy="189000"/>
          </a:xfrm>
          <a:prstGeom prst="straightConnector1">
            <a:avLst/>
          </a:prstGeom>
          <a:noFill/>
          <a:ln w="9525" cap="flat" cmpd="sng">
            <a:solidFill>
              <a:schemeClr val="dk2"/>
            </a:solidFill>
            <a:prstDash val="solid"/>
            <a:round/>
            <a:headEnd type="none" w="med" len="med"/>
            <a:tailEnd type="triangle" w="med" len="med"/>
          </a:ln>
        </p:spPr>
      </p:cxnSp>
      <p:sp>
        <p:nvSpPr>
          <p:cNvPr id="44" name="Google Shape;187;p17">
            <a:extLst>
              <a:ext uri="{FF2B5EF4-FFF2-40B4-BE49-F238E27FC236}">
                <a16:creationId xmlns:a16="http://schemas.microsoft.com/office/drawing/2014/main" id="{CBE032C7-02E7-FE77-5D28-7C0BD080B871}"/>
              </a:ext>
            </a:extLst>
          </p:cNvPr>
          <p:cNvSpPr/>
          <p:nvPr/>
        </p:nvSpPr>
        <p:spPr>
          <a:xfrm>
            <a:off x="8261912" y="3927446"/>
            <a:ext cx="174300" cy="5247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87;p17">
            <a:extLst>
              <a:ext uri="{FF2B5EF4-FFF2-40B4-BE49-F238E27FC236}">
                <a16:creationId xmlns:a16="http://schemas.microsoft.com/office/drawing/2014/main" id="{FBD86C1B-3DC7-7A8B-A4C2-E9B53F7E1EC8}"/>
              </a:ext>
            </a:extLst>
          </p:cNvPr>
          <p:cNvSpPr/>
          <p:nvPr/>
        </p:nvSpPr>
        <p:spPr>
          <a:xfrm>
            <a:off x="8960562" y="3927446"/>
            <a:ext cx="174300" cy="5247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文字方塊 45">
            <a:extLst>
              <a:ext uri="{FF2B5EF4-FFF2-40B4-BE49-F238E27FC236}">
                <a16:creationId xmlns:a16="http://schemas.microsoft.com/office/drawing/2014/main" id="{5BF95381-116A-FB46-1E54-A29B7D9973C2}"/>
              </a:ext>
            </a:extLst>
          </p:cNvPr>
          <p:cNvSpPr txBox="1"/>
          <p:nvPr/>
        </p:nvSpPr>
        <p:spPr>
          <a:xfrm>
            <a:off x="6520365" y="5829442"/>
            <a:ext cx="814255" cy="338554"/>
          </a:xfrm>
          <a:prstGeom prst="rect">
            <a:avLst/>
          </a:prstGeom>
          <a:noFill/>
        </p:spPr>
        <p:txBody>
          <a:bodyPr wrap="square" rtlCol="0">
            <a:spAutoFit/>
          </a:bodyPr>
          <a:lstStyle/>
          <a:p>
            <a:pPr algn="ctr"/>
            <a:r>
              <a:rPr kumimoji="1" lang="en-US" altLang="zh-TW" sz="1600" dirty="0"/>
              <a:t>[CLS]</a:t>
            </a:r>
            <a:endParaRPr kumimoji="1" lang="zh-TW" altLang="en-US" sz="1600" dirty="0"/>
          </a:p>
        </p:txBody>
      </p:sp>
      <p:sp>
        <p:nvSpPr>
          <p:cNvPr id="47" name="文字方塊 46">
            <a:extLst>
              <a:ext uri="{FF2B5EF4-FFF2-40B4-BE49-F238E27FC236}">
                <a16:creationId xmlns:a16="http://schemas.microsoft.com/office/drawing/2014/main" id="{3DB0CCE5-7FA4-AB5C-B22C-EAD6DC331221}"/>
              </a:ext>
            </a:extLst>
          </p:cNvPr>
          <p:cNvSpPr txBox="1"/>
          <p:nvPr/>
        </p:nvSpPr>
        <p:spPr>
          <a:xfrm>
            <a:off x="7255286" y="5829442"/>
            <a:ext cx="736810" cy="338554"/>
          </a:xfrm>
          <a:prstGeom prst="rect">
            <a:avLst/>
          </a:prstGeom>
          <a:noFill/>
        </p:spPr>
        <p:txBody>
          <a:bodyPr wrap="square" rtlCol="0">
            <a:spAutoFit/>
          </a:bodyPr>
          <a:lstStyle/>
          <a:p>
            <a:pPr algn="ctr"/>
            <a:r>
              <a:rPr kumimoji="1" lang="en-US" altLang="zh-TW" sz="1600" dirty="0"/>
              <a:t>Good</a:t>
            </a:r>
            <a:endParaRPr kumimoji="1" lang="zh-TW" altLang="en-US" sz="1600" dirty="0"/>
          </a:p>
        </p:txBody>
      </p:sp>
      <p:sp>
        <p:nvSpPr>
          <p:cNvPr id="48" name="文字方塊 47">
            <a:extLst>
              <a:ext uri="{FF2B5EF4-FFF2-40B4-BE49-F238E27FC236}">
                <a16:creationId xmlns:a16="http://schemas.microsoft.com/office/drawing/2014/main" id="{83E6CF87-1D59-E1C5-9129-3569004418D6}"/>
              </a:ext>
            </a:extLst>
          </p:cNvPr>
          <p:cNvSpPr txBox="1"/>
          <p:nvPr/>
        </p:nvSpPr>
        <p:spPr>
          <a:xfrm>
            <a:off x="7992096" y="5829442"/>
            <a:ext cx="736810" cy="338554"/>
          </a:xfrm>
          <a:prstGeom prst="rect">
            <a:avLst/>
          </a:prstGeom>
          <a:noFill/>
        </p:spPr>
        <p:txBody>
          <a:bodyPr wrap="square" rtlCol="0">
            <a:spAutoFit/>
          </a:bodyPr>
          <a:lstStyle/>
          <a:p>
            <a:pPr algn="ctr"/>
            <a:r>
              <a:rPr kumimoji="1" lang="en-US" altLang="zh-TW" sz="1600" dirty="0"/>
              <a:t>movie</a:t>
            </a:r>
            <a:endParaRPr kumimoji="1" lang="zh-TW" altLang="en-US" sz="1600" dirty="0"/>
          </a:p>
        </p:txBody>
      </p:sp>
      <p:sp>
        <p:nvSpPr>
          <p:cNvPr id="49" name="文字方塊 48">
            <a:extLst>
              <a:ext uri="{FF2B5EF4-FFF2-40B4-BE49-F238E27FC236}">
                <a16:creationId xmlns:a16="http://schemas.microsoft.com/office/drawing/2014/main" id="{90F60713-577C-AFF6-E03F-98389B94E671}"/>
              </a:ext>
            </a:extLst>
          </p:cNvPr>
          <p:cNvSpPr txBox="1"/>
          <p:nvPr/>
        </p:nvSpPr>
        <p:spPr>
          <a:xfrm>
            <a:off x="8694729" y="5829442"/>
            <a:ext cx="736810" cy="338554"/>
          </a:xfrm>
          <a:prstGeom prst="rect">
            <a:avLst/>
          </a:prstGeom>
          <a:noFill/>
        </p:spPr>
        <p:txBody>
          <a:bodyPr wrap="square" rtlCol="0">
            <a:spAutoFit/>
          </a:bodyPr>
          <a:lstStyle/>
          <a:p>
            <a:pPr algn="ctr"/>
            <a:r>
              <a:rPr kumimoji="1" lang="en-US" altLang="zh-TW" sz="1600" dirty="0">
                <a:solidFill>
                  <a:srgbClr val="FF0000"/>
                </a:solidFill>
              </a:rPr>
              <a:t>[SEP]</a:t>
            </a:r>
            <a:endParaRPr kumimoji="1" lang="zh-TW" altLang="en-US" sz="1600" dirty="0">
              <a:solidFill>
                <a:srgbClr val="FF0000"/>
              </a:solidFill>
            </a:endParaRPr>
          </a:p>
        </p:txBody>
      </p:sp>
      <p:sp>
        <p:nvSpPr>
          <p:cNvPr id="50" name="文字方塊 49">
            <a:extLst>
              <a:ext uri="{FF2B5EF4-FFF2-40B4-BE49-F238E27FC236}">
                <a16:creationId xmlns:a16="http://schemas.microsoft.com/office/drawing/2014/main" id="{47141799-DCAF-A7A3-AA1F-057205908766}"/>
              </a:ext>
            </a:extLst>
          </p:cNvPr>
          <p:cNvSpPr txBox="1"/>
          <p:nvPr/>
        </p:nvSpPr>
        <p:spPr>
          <a:xfrm>
            <a:off x="9352205" y="5829442"/>
            <a:ext cx="852617" cy="338554"/>
          </a:xfrm>
          <a:prstGeom prst="rect">
            <a:avLst/>
          </a:prstGeom>
          <a:noFill/>
        </p:spPr>
        <p:txBody>
          <a:bodyPr wrap="square" rtlCol="0">
            <a:spAutoFit/>
          </a:bodyPr>
          <a:lstStyle/>
          <a:p>
            <a:pPr algn="ctr"/>
            <a:r>
              <a:rPr kumimoji="1" lang="en-US" altLang="zh-TW" sz="1600" dirty="0"/>
              <a:t>Bravo</a:t>
            </a:r>
            <a:endParaRPr kumimoji="1" lang="zh-TW" altLang="en-US" sz="1600" dirty="0"/>
          </a:p>
        </p:txBody>
      </p:sp>
      <p:cxnSp>
        <p:nvCxnSpPr>
          <p:cNvPr id="51" name="Google Shape;218;p17">
            <a:extLst>
              <a:ext uri="{FF2B5EF4-FFF2-40B4-BE49-F238E27FC236}">
                <a16:creationId xmlns:a16="http://schemas.microsoft.com/office/drawing/2014/main" id="{7825172B-5D96-1889-A56F-A824EB98EBEF}"/>
              </a:ext>
            </a:extLst>
          </p:cNvPr>
          <p:cNvCxnSpPr>
            <a:cxnSpLocks/>
          </p:cNvCxnSpPr>
          <p:nvPr/>
        </p:nvCxnSpPr>
        <p:spPr>
          <a:xfrm flipV="1">
            <a:off x="1793199" y="3606024"/>
            <a:ext cx="0" cy="263062"/>
          </a:xfrm>
          <a:prstGeom prst="straightConnector1">
            <a:avLst/>
          </a:prstGeom>
          <a:noFill/>
          <a:ln w="9525" cap="flat" cmpd="sng">
            <a:solidFill>
              <a:schemeClr val="dk2"/>
            </a:solidFill>
            <a:prstDash val="solid"/>
            <a:round/>
            <a:headEnd type="none" w="med" len="med"/>
            <a:tailEnd type="triangle" w="med" len="med"/>
          </a:ln>
        </p:spPr>
      </p:cxnSp>
      <p:sp>
        <p:nvSpPr>
          <p:cNvPr id="52" name="Google Shape;189;p17">
            <a:extLst>
              <a:ext uri="{FF2B5EF4-FFF2-40B4-BE49-F238E27FC236}">
                <a16:creationId xmlns:a16="http://schemas.microsoft.com/office/drawing/2014/main" id="{ED7E3AFB-4C36-DC6F-0DAE-E41AD2F99A2B}"/>
              </a:ext>
            </a:extLst>
          </p:cNvPr>
          <p:cNvSpPr/>
          <p:nvPr/>
        </p:nvSpPr>
        <p:spPr>
          <a:xfrm>
            <a:off x="10398652" y="3921385"/>
            <a:ext cx="174300" cy="5247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3" name="Google Shape;195;p17">
            <a:extLst>
              <a:ext uri="{FF2B5EF4-FFF2-40B4-BE49-F238E27FC236}">
                <a16:creationId xmlns:a16="http://schemas.microsoft.com/office/drawing/2014/main" id="{5CBDACAB-6816-4B94-F62C-723E70D23C76}"/>
              </a:ext>
            </a:extLst>
          </p:cNvPr>
          <p:cNvCxnSpPr>
            <a:cxnSpLocks/>
          </p:cNvCxnSpPr>
          <p:nvPr/>
        </p:nvCxnSpPr>
        <p:spPr>
          <a:xfrm rot="10800000">
            <a:off x="10486352" y="4549767"/>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54" name="Google Shape;194;p17">
            <a:extLst>
              <a:ext uri="{FF2B5EF4-FFF2-40B4-BE49-F238E27FC236}">
                <a16:creationId xmlns:a16="http://schemas.microsoft.com/office/drawing/2014/main" id="{346569CF-A2A7-A3F2-33C3-0E2049E95680}"/>
              </a:ext>
            </a:extLst>
          </p:cNvPr>
          <p:cNvCxnSpPr>
            <a:cxnSpLocks/>
          </p:cNvCxnSpPr>
          <p:nvPr/>
        </p:nvCxnSpPr>
        <p:spPr>
          <a:xfrm rot="10800000">
            <a:off x="10457064" y="5644715"/>
            <a:ext cx="0" cy="189000"/>
          </a:xfrm>
          <a:prstGeom prst="straightConnector1">
            <a:avLst/>
          </a:prstGeom>
          <a:noFill/>
          <a:ln w="9525" cap="flat" cmpd="sng">
            <a:solidFill>
              <a:schemeClr val="dk2"/>
            </a:solidFill>
            <a:prstDash val="solid"/>
            <a:round/>
            <a:headEnd type="none" w="med" len="med"/>
            <a:tailEnd type="triangle" w="med" len="med"/>
          </a:ln>
        </p:spPr>
      </p:cxnSp>
      <p:sp>
        <p:nvSpPr>
          <p:cNvPr id="55" name="文字方塊 54">
            <a:extLst>
              <a:ext uri="{FF2B5EF4-FFF2-40B4-BE49-F238E27FC236}">
                <a16:creationId xmlns:a16="http://schemas.microsoft.com/office/drawing/2014/main" id="{AC842531-BE47-EAD0-8188-03001849FAF1}"/>
              </a:ext>
            </a:extLst>
          </p:cNvPr>
          <p:cNvSpPr txBox="1"/>
          <p:nvPr/>
        </p:nvSpPr>
        <p:spPr>
          <a:xfrm>
            <a:off x="10148129" y="5829442"/>
            <a:ext cx="717417" cy="338554"/>
          </a:xfrm>
          <a:prstGeom prst="rect">
            <a:avLst/>
          </a:prstGeom>
          <a:noFill/>
        </p:spPr>
        <p:txBody>
          <a:bodyPr wrap="square" rtlCol="0">
            <a:spAutoFit/>
          </a:bodyPr>
          <a:lstStyle/>
          <a:p>
            <a:pPr algn="ctr"/>
            <a:r>
              <a:rPr kumimoji="1" lang="en-US" altLang="zh-TW" sz="1600" dirty="0"/>
              <a:t>[SEP]</a:t>
            </a:r>
            <a:endParaRPr kumimoji="1" lang="zh-TW" altLang="en-US" sz="1600" dirty="0"/>
          </a:p>
        </p:txBody>
      </p:sp>
      <p:sp>
        <p:nvSpPr>
          <p:cNvPr id="56" name="Google Shape;204;p17">
            <a:extLst>
              <a:ext uri="{FF2B5EF4-FFF2-40B4-BE49-F238E27FC236}">
                <a16:creationId xmlns:a16="http://schemas.microsoft.com/office/drawing/2014/main" id="{BB02AF41-8DB6-1C76-5D63-20B596D22E84}"/>
              </a:ext>
            </a:extLst>
          </p:cNvPr>
          <p:cNvSpPr/>
          <p:nvPr/>
        </p:nvSpPr>
        <p:spPr>
          <a:xfrm>
            <a:off x="1409171" y="4828027"/>
            <a:ext cx="4210222" cy="774600"/>
          </a:xfrm>
          <a:prstGeom prst="rect">
            <a:avLst/>
          </a:prstGeom>
          <a:noFill/>
          <a:ln w="19050"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TW" dirty="0"/>
              <a:t>BERT</a:t>
            </a:r>
            <a:endParaRPr dirty="0"/>
          </a:p>
          <a:p>
            <a:pPr marL="0" lvl="0" indent="0" algn="ctr" rtl="0">
              <a:spcBef>
                <a:spcPts val="0"/>
              </a:spcBef>
              <a:spcAft>
                <a:spcPts val="0"/>
              </a:spcAft>
              <a:buNone/>
            </a:pPr>
            <a:r>
              <a:rPr lang="zh-TW" dirty="0"/>
              <a:t>(</a:t>
            </a:r>
            <a:r>
              <a:rPr lang="en-US" altLang="zh-TW" b="1" dirty="0">
                <a:solidFill>
                  <a:srgbClr val="4A86E8"/>
                </a:solidFill>
              </a:rPr>
              <a:t>C</a:t>
            </a:r>
            <a:r>
              <a:rPr lang="zh-TW" b="1" dirty="0">
                <a:solidFill>
                  <a:srgbClr val="4A86E8"/>
                </a:solidFill>
              </a:rPr>
              <a:t>ontex</a:t>
            </a:r>
            <a:r>
              <a:rPr lang="en-US" altLang="zh-TW" b="1" dirty="0">
                <a:solidFill>
                  <a:srgbClr val="4A86E8"/>
                </a:solidFill>
              </a:rPr>
              <a:t>t</a:t>
            </a:r>
            <a:r>
              <a:rPr lang="zh-TW" b="1" dirty="0">
                <a:solidFill>
                  <a:srgbClr val="4A86E8"/>
                </a:solidFill>
              </a:rPr>
              <a:t>ual </a:t>
            </a:r>
            <a:r>
              <a:rPr lang="en-US" altLang="zh-TW" b="1" dirty="0">
                <a:solidFill>
                  <a:srgbClr val="4A86E8"/>
                </a:solidFill>
              </a:rPr>
              <a:t>E</a:t>
            </a:r>
            <a:r>
              <a:rPr lang="zh-TW" b="1" dirty="0">
                <a:solidFill>
                  <a:srgbClr val="4A86E8"/>
                </a:solidFill>
              </a:rPr>
              <a:t>mbedding</a:t>
            </a:r>
            <a:r>
              <a:rPr lang="zh-TW" dirty="0"/>
              <a:t>)</a:t>
            </a:r>
            <a:endParaRPr dirty="0"/>
          </a:p>
        </p:txBody>
      </p:sp>
      <p:sp>
        <p:nvSpPr>
          <p:cNvPr id="57" name="Google Shape;189;p17">
            <a:extLst>
              <a:ext uri="{FF2B5EF4-FFF2-40B4-BE49-F238E27FC236}">
                <a16:creationId xmlns:a16="http://schemas.microsoft.com/office/drawing/2014/main" id="{A582AB18-D20E-1C42-F70C-1B08046E4551}"/>
              </a:ext>
            </a:extLst>
          </p:cNvPr>
          <p:cNvSpPr/>
          <p:nvPr/>
        </p:nvSpPr>
        <p:spPr>
          <a:xfrm>
            <a:off x="5238170" y="3921385"/>
            <a:ext cx="174300" cy="5247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8" name="Google Shape;195;p17">
            <a:extLst>
              <a:ext uri="{FF2B5EF4-FFF2-40B4-BE49-F238E27FC236}">
                <a16:creationId xmlns:a16="http://schemas.microsoft.com/office/drawing/2014/main" id="{7CE5BBD0-EFBB-E737-6607-3F1BF6D96231}"/>
              </a:ext>
            </a:extLst>
          </p:cNvPr>
          <p:cNvCxnSpPr>
            <a:cxnSpLocks/>
          </p:cNvCxnSpPr>
          <p:nvPr/>
        </p:nvCxnSpPr>
        <p:spPr>
          <a:xfrm rot="10800000">
            <a:off x="5325870" y="4549767"/>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59" name="Google Shape;194;p17">
            <a:extLst>
              <a:ext uri="{FF2B5EF4-FFF2-40B4-BE49-F238E27FC236}">
                <a16:creationId xmlns:a16="http://schemas.microsoft.com/office/drawing/2014/main" id="{CD548259-B06D-3264-6912-F32840E52109}"/>
              </a:ext>
            </a:extLst>
          </p:cNvPr>
          <p:cNvCxnSpPr>
            <a:cxnSpLocks/>
          </p:cNvCxnSpPr>
          <p:nvPr/>
        </p:nvCxnSpPr>
        <p:spPr>
          <a:xfrm rot="10800000">
            <a:off x="5304033" y="5647816"/>
            <a:ext cx="0" cy="189000"/>
          </a:xfrm>
          <a:prstGeom prst="straightConnector1">
            <a:avLst/>
          </a:prstGeom>
          <a:noFill/>
          <a:ln w="9525" cap="flat" cmpd="sng">
            <a:solidFill>
              <a:schemeClr val="dk2"/>
            </a:solidFill>
            <a:prstDash val="solid"/>
            <a:round/>
            <a:headEnd type="none" w="med" len="med"/>
            <a:tailEnd type="triangle" w="med" len="med"/>
          </a:ln>
        </p:spPr>
      </p:cxnSp>
      <p:sp>
        <p:nvSpPr>
          <p:cNvPr id="60" name="文字方塊 59">
            <a:extLst>
              <a:ext uri="{FF2B5EF4-FFF2-40B4-BE49-F238E27FC236}">
                <a16:creationId xmlns:a16="http://schemas.microsoft.com/office/drawing/2014/main" id="{904C4923-706D-5B26-6850-87BD1F86E978}"/>
              </a:ext>
            </a:extLst>
          </p:cNvPr>
          <p:cNvSpPr txBox="1"/>
          <p:nvPr/>
        </p:nvSpPr>
        <p:spPr>
          <a:xfrm>
            <a:off x="4900509" y="5829442"/>
            <a:ext cx="814259" cy="338554"/>
          </a:xfrm>
          <a:prstGeom prst="rect">
            <a:avLst/>
          </a:prstGeom>
          <a:noFill/>
        </p:spPr>
        <p:txBody>
          <a:bodyPr wrap="square" rtlCol="0">
            <a:spAutoFit/>
          </a:bodyPr>
          <a:lstStyle/>
          <a:p>
            <a:pPr algn="ctr"/>
            <a:r>
              <a:rPr kumimoji="1" lang="en-US" altLang="zh-TW" sz="1600" dirty="0"/>
              <a:t>[SEP]</a:t>
            </a:r>
            <a:endParaRPr kumimoji="1" lang="zh-TW" altLang="en-US" sz="1600" dirty="0"/>
          </a:p>
        </p:txBody>
      </p:sp>
      <p:sp>
        <p:nvSpPr>
          <p:cNvPr id="64" name="Google Shape;204;p17">
            <a:extLst>
              <a:ext uri="{FF2B5EF4-FFF2-40B4-BE49-F238E27FC236}">
                <a16:creationId xmlns:a16="http://schemas.microsoft.com/office/drawing/2014/main" id="{0236EB4D-171E-8250-4790-04AADD539376}"/>
              </a:ext>
            </a:extLst>
          </p:cNvPr>
          <p:cNvSpPr/>
          <p:nvPr/>
        </p:nvSpPr>
        <p:spPr>
          <a:xfrm>
            <a:off x="1328596" y="3185580"/>
            <a:ext cx="904941" cy="324643"/>
          </a:xfrm>
          <a:prstGeom prst="rect">
            <a:avLst/>
          </a:prstGeom>
          <a:noFill/>
          <a:ln w="19050" cap="flat" cmpd="sng">
            <a:solidFill>
              <a:srgbClr val="00B05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TW" dirty="0"/>
              <a:t>Linear</a:t>
            </a:r>
            <a:endParaRPr dirty="0"/>
          </a:p>
        </p:txBody>
      </p:sp>
      <p:cxnSp>
        <p:nvCxnSpPr>
          <p:cNvPr id="66" name="Google Shape;218;p17">
            <a:extLst>
              <a:ext uri="{FF2B5EF4-FFF2-40B4-BE49-F238E27FC236}">
                <a16:creationId xmlns:a16="http://schemas.microsoft.com/office/drawing/2014/main" id="{B132FEFF-F32C-04DC-92AC-8BCACDBF22A7}"/>
              </a:ext>
            </a:extLst>
          </p:cNvPr>
          <p:cNvCxnSpPr>
            <a:cxnSpLocks/>
          </p:cNvCxnSpPr>
          <p:nvPr/>
        </p:nvCxnSpPr>
        <p:spPr>
          <a:xfrm flipV="1">
            <a:off x="1781067" y="2842180"/>
            <a:ext cx="0" cy="263062"/>
          </a:xfrm>
          <a:prstGeom prst="straightConnector1">
            <a:avLst/>
          </a:prstGeom>
          <a:noFill/>
          <a:ln w="9525" cap="flat" cmpd="sng">
            <a:solidFill>
              <a:schemeClr val="dk2"/>
            </a:solidFill>
            <a:prstDash val="solid"/>
            <a:round/>
            <a:headEnd type="none" w="med" len="med"/>
            <a:tailEnd type="triangle" w="med" len="med"/>
          </a:ln>
        </p:spPr>
      </p:cxnSp>
      <p:sp>
        <p:nvSpPr>
          <p:cNvPr id="70" name="Google Shape;200;p17">
            <a:extLst>
              <a:ext uri="{FF2B5EF4-FFF2-40B4-BE49-F238E27FC236}">
                <a16:creationId xmlns:a16="http://schemas.microsoft.com/office/drawing/2014/main" id="{372065EA-23D8-2643-8081-CACE2DB41F49}"/>
              </a:ext>
            </a:extLst>
          </p:cNvPr>
          <p:cNvSpPr txBox="1"/>
          <p:nvPr/>
        </p:nvSpPr>
        <p:spPr>
          <a:xfrm>
            <a:off x="6532807" y="2462026"/>
            <a:ext cx="754871" cy="430857"/>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600" dirty="0">
                <a:solidFill>
                  <a:srgbClr val="FF0000"/>
                </a:solidFill>
                <a:latin typeface="Roboto"/>
                <a:ea typeface="Roboto"/>
                <a:cs typeface="Roboto"/>
                <a:sym typeface="Roboto"/>
              </a:rPr>
              <a:t>class</a:t>
            </a:r>
            <a:endParaRPr sz="1600" dirty="0">
              <a:solidFill>
                <a:srgbClr val="FF0000"/>
              </a:solidFill>
              <a:latin typeface="Roboto"/>
              <a:ea typeface="Roboto"/>
              <a:cs typeface="Roboto"/>
              <a:sym typeface="Roboto"/>
            </a:endParaRPr>
          </a:p>
        </p:txBody>
      </p:sp>
      <p:cxnSp>
        <p:nvCxnSpPr>
          <p:cNvPr id="71" name="Google Shape;218;p17">
            <a:extLst>
              <a:ext uri="{FF2B5EF4-FFF2-40B4-BE49-F238E27FC236}">
                <a16:creationId xmlns:a16="http://schemas.microsoft.com/office/drawing/2014/main" id="{F95A1CB4-21D1-4220-CCC8-5504335EF3AC}"/>
              </a:ext>
            </a:extLst>
          </p:cNvPr>
          <p:cNvCxnSpPr>
            <a:cxnSpLocks/>
          </p:cNvCxnSpPr>
          <p:nvPr/>
        </p:nvCxnSpPr>
        <p:spPr>
          <a:xfrm flipV="1">
            <a:off x="6929970" y="3606024"/>
            <a:ext cx="0" cy="263062"/>
          </a:xfrm>
          <a:prstGeom prst="straightConnector1">
            <a:avLst/>
          </a:prstGeom>
          <a:noFill/>
          <a:ln w="9525" cap="flat" cmpd="sng">
            <a:solidFill>
              <a:schemeClr val="dk2"/>
            </a:solidFill>
            <a:prstDash val="solid"/>
            <a:round/>
            <a:headEnd type="none" w="med" len="med"/>
            <a:tailEnd type="triangle" w="med" len="med"/>
          </a:ln>
        </p:spPr>
      </p:cxnSp>
      <p:sp>
        <p:nvSpPr>
          <p:cNvPr id="72" name="Google Shape;204;p17">
            <a:extLst>
              <a:ext uri="{FF2B5EF4-FFF2-40B4-BE49-F238E27FC236}">
                <a16:creationId xmlns:a16="http://schemas.microsoft.com/office/drawing/2014/main" id="{01B3A02C-7152-06AC-0F90-AEAE567127E9}"/>
              </a:ext>
            </a:extLst>
          </p:cNvPr>
          <p:cNvSpPr/>
          <p:nvPr/>
        </p:nvSpPr>
        <p:spPr>
          <a:xfrm>
            <a:off x="6465367" y="3185580"/>
            <a:ext cx="904941" cy="324643"/>
          </a:xfrm>
          <a:prstGeom prst="rect">
            <a:avLst/>
          </a:prstGeom>
          <a:noFill/>
          <a:ln w="19050" cap="flat" cmpd="sng">
            <a:solidFill>
              <a:srgbClr val="00B05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TW" dirty="0"/>
              <a:t>Linear</a:t>
            </a:r>
            <a:endParaRPr dirty="0"/>
          </a:p>
        </p:txBody>
      </p:sp>
      <p:cxnSp>
        <p:nvCxnSpPr>
          <p:cNvPr id="73" name="Google Shape;218;p17">
            <a:extLst>
              <a:ext uri="{FF2B5EF4-FFF2-40B4-BE49-F238E27FC236}">
                <a16:creationId xmlns:a16="http://schemas.microsoft.com/office/drawing/2014/main" id="{DD6C7A13-3808-6BD8-9694-3083198E6D5A}"/>
              </a:ext>
            </a:extLst>
          </p:cNvPr>
          <p:cNvCxnSpPr>
            <a:cxnSpLocks/>
          </p:cNvCxnSpPr>
          <p:nvPr/>
        </p:nvCxnSpPr>
        <p:spPr>
          <a:xfrm flipV="1">
            <a:off x="6917838" y="2842180"/>
            <a:ext cx="0" cy="263062"/>
          </a:xfrm>
          <a:prstGeom prst="straightConnector1">
            <a:avLst/>
          </a:prstGeom>
          <a:noFill/>
          <a:ln w="9525" cap="flat" cmpd="sng">
            <a:solidFill>
              <a:schemeClr val="dk2"/>
            </a:solidFill>
            <a:prstDash val="solid"/>
            <a:round/>
            <a:headEnd type="none" w="med" len="med"/>
            <a:tailEnd type="triangle" w="med" len="med"/>
          </a:ln>
        </p:spPr>
      </p:cxnSp>
      <p:sp>
        <p:nvSpPr>
          <p:cNvPr id="74" name="文字方塊 73">
            <a:extLst>
              <a:ext uri="{FF2B5EF4-FFF2-40B4-BE49-F238E27FC236}">
                <a16:creationId xmlns:a16="http://schemas.microsoft.com/office/drawing/2014/main" id="{D17F142A-53AE-533B-8F04-8B2C6A7857D9}"/>
              </a:ext>
            </a:extLst>
          </p:cNvPr>
          <p:cNvSpPr txBox="1"/>
          <p:nvPr/>
        </p:nvSpPr>
        <p:spPr>
          <a:xfrm>
            <a:off x="3441879" y="5829442"/>
            <a:ext cx="881616" cy="338554"/>
          </a:xfrm>
          <a:prstGeom prst="rect">
            <a:avLst/>
          </a:prstGeom>
          <a:noFill/>
        </p:spPr>
        <p:txBody>
          <a:bodyPr wrap="square" rtlCol="0">
            <a:spAutoFit/>
          </a:bodyPr>
          <a:lstStyle/>
          <a:p>
            <a:pPr algn="ctr"/>
            <a:r>
              <a:rPr kumimoji="1" lang="en-US" altLang="zh-TW" sz="1600" dirty="0"/>
              <a:t>POST</a:t>
            </a:r>
            <a:endParaRPr kumimoji="1" lang="zh-TW" altLang="en-US" sz="1600" dirty="0"/>
          </a:p>
        </p:txBody>
      </p:sp>
      <p:sp>
        <p:nvSpPr>
          <p:cNvPr id="75" name="文字方塊 74">
            <a:extLst>
              <a:ext uri="{FF2B5EF4-FFF2-40B4-BE49-F238E27FC236}">
                <a16:creationId xmlns:a16="http://schemas.microsoft.com/office/drawing/2014/main" id="{1CE4B93D-0B72-B603-1363-3D7C334DF987}"/>
              </a:ext>
            </a:extLst>
          </p:cNvPr>
          <p:cNvSpPr txBox="1"/>
          <p:nvPr/>
        </p:nvSpPr>
        <p:spPr>
          <a:xfrm>
            <a:off x="7287678" y="6167996"/>
            <a:ext cx="1433779" cy="369332"/>
          </a:xfrm>
          <a:prstGeom prst="rect">
            <a:avLst/>
          </a:prstGeom>
          <a:noFill/>
        </p:spPr>
        <p:txBody>
          <a:bodyPr wrap="square" rtlCol="0">
            <a:spAutoFit/>
          </a:bodyPr>
          <a:lstStyle/>
          <a:p>
            <a:pPr algn="ctr"/>
            <a:r>
              <a:rPr kumimoji="1" lang="en-US" altLang="zh-TW" dirty="0">
                <a:solidFill>
                  <a:srgbClr val="00B050"/>
                </a:solidFill>
              </a:rPr>
              <a:t>Sentence1</a:t>
            </a:r>
            <a:endParaRPr kumimoji="1" lang="zh-TW" altLang="en-US" dirty="0">
              <a:solidFill>
                <a:srgbClr val="00B050"/>
              </a:solidFill>
            </a:endParaRPr>
          </a:p>
        </p:txBody>
      </p:sp>
      <p:sp>
        <p:nvSpPr>
          <p:cNvPr id="76" name="文字方塊 75">
            <a:extLst>
              <a:ext uri="{FF2B5EF4-FFF2-40B4-BE49-F238E27FC236}">
                <a16:creationId xmlns:a16="http://schemas.microsoft.com/office/drawing/2014/main" id="{05649E31-A01A-85ED-0419-2DDD2A6CFB19}"/>
              </a:ext>
            </a:extLst>
          </p:cNvPr>
          <p:cNvSpPr txBox="1"/>
          <p:nvPr/>
        </p:nvSpPr>
        <p:spPr>
          <a:xfrm>
            <a:off x="9047712" y="6167996"/>
            <a:ext cx="1433779" cy="369332"/>
          </a:xfrm>
          <a:prstGeom prst="rect">
            <a:avLst/>
          </a:prstGeom>
          <a:noFill/>
        </p:spPr>
        <p:txBody>
          <a:bodyPr wrap="square" rtlCol="0">
            <a:spAutoFit/>
          </a:bodyPr>
          <a:lstStyle/>
          <a:p>
            <a:pPr algn="ctr"/>
            <a:r>
              <a:rPr kumimoji="1" lang="en-US" altLang="zh-TW" dirty="0">
                <a:solidFill>
                  <a:srgbClr val="00B050"/>
                </a:solidFill>
              </a:rPr>
              <a:t>Sentence2</a:t>
            </a:r>
            <a:endParaRPr kumimoji="1" lang="zh-TW" altLang="en-US" dirty="0">
              <a:solidFill>
                <a:srgbClr val="00B050"/>
              </a:solidFill>
            </a:endParaRPr>
          </a:p>
        </p:txBody>
      </p:sp>
    </p:spTree>
    <p:extLst>
      <p:ext uri="{BB962C8B-B14F-4D97-AF65-F5344CB8AC3E}">
        <p14:creationId xmlns:p14="http://schemas.microsoft.com/office/powerpoint/2010/main" val="8859959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E200F41-E399-03E3-D854-2B2E0ECE5ED3}"/>
              </a:ext>
            </a:extLst>
          </p:cNvPr>
          <p:cNvSpPr>
            <a:spLocks noGrp="1"/>
          </p:cNvSpPr>
          <p:nvPr>
            <p:ph type="title"/>
          </p:nvPr>
        </p:nvSpPr>
        <p:spPr/>
        <p:txBody>
          <a:bodyPr>
            <a:normAutofit/>
          </a:bodyPr>
          <a:lstStyle/>
          <a:p>
            <a:r>
              <a:rPr kumimoji="1" lang="zh-TW" altLang="en-US" dirty="0"/>
              <a:t>任務：</a:t>
            </a:r>
            <a:r>
              <a:rPr kumimoji="1" lang="en" altLang="zh-TW" dirty="0"/>
              <a:t>Question Answering</a:t>
            </a:r>
            <a:r>
              <a:rPr kumimoji="1" lang="zh-TW" altLang="en-US" dirty="0"/>
              <a:t> </a:t>
            </a:r>
            <a:r>
              <a:rPr kumimoji="1" lang="en-US" altLang="zh-TW" dirty="0"/>
              <a:t>/ </a:t>
            </a:r>
            <a:r>
              <a:rPr kumimoji="1" lang="zh-TW" altLang="en-US" dirty="0"/>
              <a:t>閱讀理解</a:t>
            </a:r>
          </a:p>
        </p:txBody>
      </p:sp>
      <p:sp>
        <p:nvSpPr>
          <p:cNvPr id="3" name="內容版面配置區 2">
            <a:extLst>
              <a:ext uri="{FF2B5EF4-FFF2-40B4-BE49-F238E27FC236}">
                <a16:creationId xmlns:a16="http://schemas.microsoft.com/office/drawing/2014/main" id="{1588CF35-A37A-EEE7-8E20-F7785AD36F22}"/>
              </a:ext>
            </a:extLst>
          </p:cNvPr>
          <p:cNvSpPr>
            <a:spLocks noGrp="1"/>
          </p:cNvSpPr>
          <p:nvPr>
            <p:ph idx="1"/>
          </p:nvPr>
        </p:nvSpPr>
        <p:spPr>
          <a:xfrm>
            <a:off x="653143" y="1845734"/>
            <a:ext cx="10918371" cy="3366346"/>
          </a:xfrm>
        </p:spPr>
        <p:txBody>
          <a:bodyPr>
            <a:normAutofit lnSpcReduction="10000"/>
          </a:bodyPr>
          <a:lstStyle/>
          <a:p>
            <a:r>
              <a:rPr kumimoji="1" lang="en" altLang="zh-TW" dirty="0"/>
              <a:t>Question: To whom did the Virgin Mary allegedly appear in 1858 in Lourdes France?</a:t>
            </a:r>
          </a:p>
          <a:p>
            <a:pPr algn="just"/>
            <a:r>
              <a:rPr kumimoji="1" lang="en" altLang="zh-TW" dirty="0"/>
              <a:t>Context: Architecturally, the school has a Catholic character. Atop the Main Building\'s gold dome is a golden statue of the Virgin Mary. Immediately in front of the Main Building and facing it, is a copper statue of Christ with arms upraised with the legend "Venite Ad Me Omnes". Next to the Main Building is the Basilica of the Sacred Heart. Immediately behind the basilica is the Grotto, a Marian place of prayer and reflection. It is a replica of the grotto at Lourdes, France where the Virgin Mary reputedly appeared to </a:t>
            </a:r>
            <a:r>
              <a:rPr kumimoji="1" lang="en" altLang="zh-TW" dirty="0">
                <a:solidFill>
                  <a:srgbClr val="FF0000"/>
                </a:solidFill>
              </a:rPr>
              <a:t>Saint Bernadette Soubirous </a:t>
            </a:r>
            <a:r>
              <a:rPr kumimoji="1" lang="en" altLang="zh-TW" dirty="0"/>
              <a:t>in 1858. At the end of the main drive (and in a direct line that connects through 3 statues and the Gold Dome), is a simple, modern stone statue of Mary.</a:t>
            </a:r>
          </a:p>
          <a:p>
            <a:pPr algn="just"/>
            <a:endParaRPr kumimoji="1" lang="en" altLang="zh-TW" dirty="0"/>
          </a:p>
          <a:p>
            <a:pPr algn="just"/>
            <a:r>
              <a:rPr kumimoji="1" lang="en-US" altLang="zh-TW" dirty="0"/>
              <a:t>Answer: { "text": [ "Saint Bernadette Soubirous" ], "</a:t>
            </a:r>
            <a:r>
              <a:rPr kumimoji="1" lang="en-US" altLang="zh-TW" dirty="0" err="1"/>
              <a:t>answer_start</a:t>
            </a:r>
            <a:r>
              <a:rPr kumimoji="1" lang="en-US" altLang="zh-TW" dirty="0"/>
              <a:t>": [ 515 ] }</a:t>
            </a:r>
            <a:endParaRPr kumimoji="1" lang="zh-TW" altLang="en-US" dirty="0"/>
          </a:p>
        </p:txBody>
      </p:sp>
      <p:sp>
        <p:nvSpPr>
          <p:cNvPr id="4" name="投影片編號版面配置區 3">
            <a:extLst>
              <a:ext uri="{FF2B5EF4-FFF2-40B4-BE49-F238E27FC236}">
                <a16:creationId xmlns:a16="http://schemas.microsoft.com/office/drawing/2014/main" id="{8A7350BD-7881-5D23-CFB5-28DA655B4E98}"/>
              </a:ext>
            </a:extLst>
          </p:cNvPr>
          <p:cNvSpPr>
            <a:spLocks noGrp="1"/>
          </p:cNvSpPr>
          <p:nvPr>
            <p:ph type="sldNum" sz="quarter" idx="12"/>
          </p:nvPr>
        </p:nvSpPr>
        <p:spPr/>
        <p:txBody>
          <a:bodyPr/>
          <a:lstStyle/>
          <a:p>
            <a:fld id="{6113E31D-E2AB-40D1-8B51-AFA5AFEF393A}" type="slidenum">
              <a:rPr lang="en-US" smtClean="0"/>
              <a:pPr/>
              <a:t>39</a:t>
            </a:fld>
            <a:endParaRPr lang="en-US" dirty="0"/>
          </a:p>
        </p:txBody>
      </p:sp>
      <p:sp>
        <p:nvSpPr>
          <p:cNvPr id="5" name="文字方塊 4">
            <a:extLst>
              <a:ext uri="{FF2B5EF4-FFF2-40B4-BE49-F238E27FC236}">
                <a16:creationId xmlns:a16="http://schemas.microsoft.com/office/drawing/2014/main" id="{10D8D022-029E-7CBA-AAB1-1E6B4C3FAADF}"/>
              </a:ext>
            </a:extLst>
          </p:cNvPr>
          <p:cNvSpPr txBox="1"/>
          <p:nvPr/>
        </p:nvSpPr>
        <p:spPr>
          <a:xfrm>
            <a:off x="3337164" y="6415560"/>
            <a:ext cx="6183908" cy="307777"/>
          </a:xfrm>
          <a:prstGeom prst="rect">
            <a:avLst/>
          </a:prstGeom>
          <a:noFill/>
        </p:spPr>
        <p:txBody>
          <a:bodyPr wrap="square" rtlCol="0">
            <a:spAutoFit/>
          </a:bodyPr>
          <a:lstStyle/>
          <a:p>
            <a:pPr algn="ctr"/>
            <a:r>
              <a:rPr kumimoji="1" lang="en" altLang="zh-TW" sz="1400" dirty="0"/>
              <a:t>https://</a:t>
            </a:r>
            <a:r>
              <a:rPr kumimoji="1" lang="en" altLang="zh-TW" sz="1400" dirty="0" err="1"/>
              <a:t>huggingface.co</a:t>
            </a:r>
            <a:r>
              <a:rPr kumimoji="1" lang="en" altLang="zh-TW" sz="1400" dirty="0"/>
              <a:t>/docs/transformers/</a:t>
            </a:r>
            <a:r>
              <a:rPr kumimoji="1" lang="en" altLang="zh-TW" sz="1400" dirty="0" err="1"/>
              <a:t>en</a:t>
            </a:r>
            <a:r>
              <a:rPr kumimoji="1" lang="en" altLang="zh-TW" sz="1400" dirty="0"/>
              <a:t>/tasks/</a:t>
            </a:r>
            <a:r>
              <a:rPr kumimoji="1" lang="en" altLang="zh-TW" sz="1400" dirty="0" err="1"/>
              <a:t>question_answering</a:t>
            </a:r>
            <a:endParaRPr kumimoji="1" lang="zh-TW" altLang="en-US" sz="1400" dirty="0"/>
          </a:p>
        </p:txBody>
      </p:sp>
    </p:spTree>
    <p:extLst>
      <p:ext uri="{BB962C8B-B14F-4D97-AF65-F5344CB8AC3E}">
        <p14:creationId xmlns:p14="http://schemas.microsoft.com/office/powerpoint/2010/main" val="21069036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C8AD853-737A-C628-AD9A-22A1FF4C4F67}"/>
              </a:ext>
            </a:extLst>
          </p:cNvPr>
          <p:cNvSpPr>
            <a:spLocks noGrp="1"/>
          </p:cNvSpPr>
          <p:nvPr>
            <p:ph type="title"/>
          </p:nvPr>
        </p:nvSpPr>
        <p:spPr/>
        <p:txBody>
          <a:bodyPr/>
          <a:lstStyle/>
          <a:p>
            <a:r>
              <a:rPr kumimoji="1" lang="en-US" altLang="zh-TW" dirty="0"/>
              <a:t>Fine-tuning BERT (Question Answering)</a:t>
            </a:r>
            <a:endParaRPr kumimoji="1" lang="zh-TW" altLang="en-US" dirty="0"/>
          </a:p>
        </p:txBody>
      </p:sp>
      <p:sp>
        <p:nvSpPr>
          <p:cNvPr id="4" name="投影片編號版面配置區 3">
            <a:extLst>
              <a:ext uri="{FF2B5EF4-FFF2-40B4-BE49-F238E27FC236}">
                <a16:creationId xmlns:a16="http://schemas.microsoft.com/office/drawing/2014/main" id="{FE46E01F-027A-1F04-A6B7-858F67435D95}"/>
              </a:ext>
            </a:extLst>
          </p:cNvPr>
          <p:cNvSpPr>
            <a:spLocks noGrp="1"/>
          </p:cNvSpPr>
          <p:nvPr>
            <p:ph type="sldNum" sz="quarter" idx="12"/>
          </p:nvPr>
        </p:nvSpPr>
        <p:spPr/>
        <p:txBody>
          <a:bodyPr/>
          <a:lstStyle/>
          <a:p>
            <a:fld id="{6113E31D-E2AB-40D1-8B51-AFA5AFEF393A}" type="slidenum">
              <a:rPr lang="en-US" smtClean="0"/>
              <a:pPr/>
              <a:t>40</a:t>
            </a:fld>
            <a:endParaRPr lang="en-US" dirty="0"/>
          </a:p>
        </p:txBody>
      </p:sp>
      <p:cxnSp>
        <p:nvCxnSpPr>
          <p:cNvPr id="33" name="Google Shape;192;p17">
            <a:extLst>
              <a:ext uri="{FF2B5EF4-FFF2-40B4-BE49-F238E27FC236}">
                <a16:creationId xmlns:a16="http://schemas.microsoft.com/office/drawing/2014/main" id="{810D8EA7-8A42-F74E-A1B5-A20AF20D9E75}"/>
              </a:ext>
            </a:extLst>
          </p:cNvPr>
          <p:cNvCxnSpPr>
            <a:cxnSpLocks/>
          </p:cNvCxnSpPr>
          <p:nvPr/>
        </p:nvCxnSpPr>
        <p:spPr>
          <a:xfrm rot="10800000">
            <a:off x="3416607" y="5461192"/>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34" name="Google Shape;193;p17">
            <a:extLst>
              <a:ext uri="{FF2B5EF4-FFF2-40B4-BE49-F238E27FC236}">
                <a16:creationId xmlns:a16="http://schemas.microsoft.com/office/drawing/2014/main" id="{7C6D4B88-38FC-EDAC-B2F8-A9A291E74D9D}"/>
              </a:ext>
            </a:extLst>
          </p:cNvPr>
          <p:cNvCxnSpPr>
            <a:cxnSpLocks/>
          </p:cNvCxnSpPr>
          <p:nvPr/>
        </p:nvCxnSpPr>
        <p:spPr>
          <a:xfrm rot="10800000">
            <a:off x="4836777" y="5461192"/>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35" name="Google Shape;194;p17">
            <a:extLst>
              <a:ext uri="{FF2B5EF4-FFF2-40B4-BE49-F238E27FC236}">
                <a16:creationId xmlns:a16="http://schemas.microsoft.com/office/drawing/2014/main" id="{D3E47183-0AE5-88BA-92BF-3FBEDF474B19}"/>
              </a:ext>
            </a:extLst>
          </p:cNvPr>
          <p:cNvCxnSpPr>
            <a:cxnSpLocks/>
          </p:cNvCxnSpPr>
          <p:nvPr/>
        </p:nvCxnSpPr>
        <p:spPr>
          <a:xfrm rot="10800000">
            <a:off x="5546862" y="5461192"/>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36" name="Google Shape;195;p17">
            <a:extLst>
              <a:ext uri="{FF2B5EF4-FFF2-40B4-BE49-F238E27FC236}">
                <a16:creationId xmlns:a16="http://schemas.microsoft.com/office/drawing/2014/main" id="{2A1B0951-DC0B-9AF1-759E-61CC870855D1}"/>
              </a:ext>
            </a:extLst>
          </p:cNvPr>
          <p:cNvCxnSpPr>
            <a:cxnSpLocks/>
          </p:cNvCxnSpPr>
          <p:nvPr/>
        </p:nvCxnSpPr>
        <p:spPr>
          <a:xfrm rot="10800000">
            <a:off x="6256945" y="5461192"/>
            <a:ext cx="0" cy="189000"/>
          </a:xfrm>
          <a:prstGeom prst="straightConnector1">
            <a:avLst/>
          </a:prstGeom>
          <a:noFill/>
          <a:ln w="9525" cap="flat" cmpd="sng">
            <a:solidFill>
              <a:schemeClr val="dk2"/>
            </a:solidFill>
            <a:prstDash val="solid"/>
            <a:round/>
            <a:headEnd type="none" w="med" len="med"/>
            <a:tailEnd type="triangle" w="med" len="med"/>
          </a:ln>
        </p:spPr>
      </p:cxnSp>
      <p:sp>
        <p:nvSpPr>
          <p:cNvPr id="37" name="Google Shape;204;p17">
            <a:extLst>
              <a:ext uri="{FF2B5EF4-FFF2-40B4-BE49-F238E27FC236}">
                <a16:creationId xmlns:a16="http://schemas.microsoft.com/office/drawing/2014/main" id="{C7024231-E2FB-9B1F-1143-6646A334A1AF}"/>
              </a:ext>
            </a:extLst>
          </p:cNvPr>
          <p:cNvSpPr/>
          <p:nvPr/>
        </p:nvSpPr>
        <p:spPr>
          <a:xfrm>
            <a:off x="2400323" y="4618317"/>
            <a:ext cx="7063816" cy="774600"/>
          </a:xfrm>
          <a:prstGeom prst="rect">
            <a:avLst/>
          </a:prstGeom>
          <a:noFill/>
          <a:ln w="19050"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TW" dirty="0"/>
              <a:t>BERT</a:t>
            </a:r>
            <a:endParaRPr dirty="0"/>
          </a:p>
          <a:p>
            <a:pPr marL="0" lvl="0" indent="0" algn="ctr" rtl="0">
              <a:spcBef>
                <a:spcPts val="0"/>
              </a:spcBef>
              <a:spcAft>
                <a:spcPts val="0"/>
              </a:spcAft>
              <a:buNone/>
            </a:pPr>
            <a:r>
              <a:rPr lang="zh-TW" dirty="0"/>
              <a:t>(</a:t>
            </a:r>
            <a:r>
              <a:rPr lang="en-US" altLang="zh-TW" b="1" dirty="0">
                <a:solidFill>
                  <a:srgbClr val="4A86E8"/>
                </a:solidFill>
              </a:rPr>
              <a:t>C</a:t>
            </a:r>
            <a:r>
              <a:rPr lang="zh-TW" b="1" dirty="0">
                <a:solidFill>
                  <a:srgbClr val="4A86E8"/>
                </a:solidFill>
              </a:rPr>
              <a:t>ontex</a:t>
            </a:r>
            <a:r>
              <a:rPr lang="en-US" altLang="zh-TW" b="1" dirty="0">
                <a:solidFill>
                  <a:srgbClr val="4A86E8"/>
                </a:solidFill>
              </a:rPr>
              <a:t>t</a:t>
            </a:r>
            <a:r>
              <a:rPr lang="zh-TW" b="1" dirty="0">
                <a:solidFill>
                  <a:srgbClr val="4A86E8"/>
                </a:solidFill>
              </a:rPr>
              <a:t>ual </a:t>
            </a:r>
            <a:r>
              <a:rPr lang="en-US" altLang="zh-TW" b="1" dirty="0">
                <a:solidFill>
                  <a:srgbClr val="4A86E8"/>
                </a:solidFill>
              </a:rPr>
              <a:t>E</a:t>
            </a:r>
            <a:r>
              <a:rPr lang="zh-TW" b="1" dirty="0">
                <a:solidFill>
                  <a:srgbClr val="4A86E8"/>
                </a:solidFill>
              </a:rPr>
              <a:t>mbedding</a:t>
            </a:r>
            <a:r>
              <a:rPr lang="zh-TW" dirty="0"/>
              <a:t>)</a:t>
            </a:r>
            <a:endParaRPr dirty="0"/>
          </a:p>
        </p:txBody>
      </p:sp>
      <p:cxnSp>
        <p:nvCxnSpPr>
          <p:cNvPr id="38" name="Google Shape;195;p17">
            <a:extLst>
              <a:ext uri="{FF2B5EF4-FFF2-40B4-BE49-F238E27FC236}">
                <a16:creationId xmlns:a16="http://schemas.microsoft.com/office/drawing/2014/main" id="{B12A0870-8FD6-6FC6-F39E-A08070766A47}"/>
              </a:ext>
            </a:extLst>
          </p:cNvPr>
          <p:cNvCxnSpPr>
            <a:cxnSpLocks/>
          </p:cNvCxnSpPr>
          <p:nvPr/>
        </p:nvCxnSpPr>
        <p:spPr>
          <a:xfrm rot="10800000">
            <a:off x="4126692" y="5461192"/>
            <a:ext cx="0" cy="189000"/>
          </a:xfrm>
          <a:prstGeom prst="straightConnector1">
            <a:avLst/>
          </a:prstGeom>
          <a:noFill/>
          <a:ln w="9525" cap="flat" cmpd="sng">
            <a:solidFill>
              <a:schemeClr val="dk2"/>
            </a:solidFill>
            <a:prstDash val="solid"/>
            <a:round/>
            <a:headEnd type="none" w="med" len="med"/>
            <a:tailEnd type="triangle" w="med" len="med"/>
          </a:ln>
        </p:spPr>
      </p:cxnSp>
      <p:sp>
        <p:nvSpPr>
          <p:cNvPr id="46" name="文字方塊 45">
            <a:extLst>
              <a:ext uri="{FF2B5EF4-FFF2-40B4-BE49-F238E27FC236}">
                <a16:creationId xmlns:a16="http://schemas.microsoft.com/office/drawing/2014/main" id="{5BF95381-116A-FB46-1E54-A29B7D9973C2}"/>
              </a:ext>
            </a:extLst>
          </p:cNvPr>
          <p:cNvSpPr txBox="1"/>
          <p:nvPr/>
        </p:nvSpPr>
        <p:spPr>
          <a:xfrm>
            <a:off x="2322706" y="5626880"/>
            <a:ext cx="806757" cy="338554"/>
          </a:xfrm>
          <a:prstGeom prst="rect">
            <a:avLst/>
          </a:prstGeom>
          <a:noFill/>
        </p:spPr>
        <p:txBody>
          <a:bodyPr wrap="square" rtlCol="0">
            <a:spAutoFit/>
          </a:bodyPr>
          <a:lstStyle/>
          <a:p>
            <a:pPr algn="ctr"/>
            <a:r>
              <a:rPr kumimoji="1" lang="en-US" altLang="zh-TW" sz="1600" dirty="0"/>
              <a:t>[CLS]</a:t>
            </a:r>
            <a:endParaRPr kumimoji="1" lang="zh-TW" altLang="en-US" sz="1600" dirty="0"/>
          </a:p>
        </p:txBody>
      </p:sp>
      <p:sp>
        <p:nvSpPr>
          <p:cNvPr id="49" name="文字方塊 48">
            <a:extLst>
              <a:ext uri="{FF2B5EF4-FFF2-40B4-BE49-F238E27FC236}">
                <a16:creationId xmlns:a16="http://schemas.microsoft.com/office/drawing/2014/main" id="{90F60713-577C-AFF6-E03F-98389B94E671}"/>
              </a:ext>
            </a:extLst>
          </p:cNvPr>
          <p:cNvSpPr txBox="1"/>
          <p:nvPr/>
        </p:nvSpPr>
        <p:spPr>
          <a:xfrm>
            <a:off x="5153084" y="5626880"/>
            <a:ext cx="806757" cy="338554"/>
          </a:xfrm>
          <a:prstGeom prst="rect">
            <a:avLst/>
          </a:prstGeom>
          <a:noFill/>
        </p:spPr>
        <p:txBody>
          <a:bodyPr wrap="square" rtlCol="0">
            <a:spAutoFit/>
          </a:bodyPr>
          <a:lstStyle/>
          <a:p>
            <a:pPr algn="ctr"/>
            <a:r>
              <a:rPr kumimoji="1" lang="en-US" altLang="zh-TW" sz="1600" dirty="0"/>
              <a:t>[SEP]</a:t>
            </a:r>
            <a:endParaRPr kumimoji="1" lang="zh-TW" altLang="en-US" sz="1600" dirty="0"/>
          </a:p>
        </p:txBody>
      </p:sp>
      <p:sp>
        <p:nvSpPr>
          <p:cNvPr id="52" name="Google Shape;189;p17">
            <a:extLst>
              <a:ext uri="{FF2B5EF4-FFF2-40B4-BE49-F238E27FC236}">
                <a16:creationId xmlns:a16="http://schemas.microsoft.com/office/drawing/2014/main" id="{ED7E3AFB-4C36-DC6F-0DAE-E41AD2F99A2B}"/>
              </a:ext>
            </a:extLst>
          </p:cNvPr>
          <p:cNvSpPr/>
          <p:nvPr/>
        </p:nvSpPr>
        <p:spPr>
          <a:xfrm>
            <a:off x="6888290" y="3714286"/>
            <a:ext cx="174300" cy="5247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3" name="Google Shape;195;p17">
            <a:extLst>
              <a:ext uri="{FF2B5EF4-FFF2-40B4-BE49-F238E27FC236}">
                <a16:creationId xmlns:a16="http://schemas.microsoft.com/office/drawing/2014/main" id="{5CBDACAB-6816-4B94-F62C-723E70D23C76}"/>
              </a:ext>
            </a:extLst>
          </p:cNvPr>
          <p:cNvCxnSpPr>
            <a:cxnSpLocks/>
          </p:cNvCxnSpPr>
          <p:nvPr/>
        </p:nvCxnSpPr>
        <p:spPr>
          <a:xfrm rot="10800000">
            <a:off x="6975990" y="4344299"/>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54" name="Google Shape;194;p17">
            <a:extLst>
              <a:ext uri="{FF2B5EF4-FFF2-40B4-BE49-F238E27FC236}">
                <a16:creationId xmlns:a16="http://schemas.microsoft.com/office/drawing/2014/main" id="{346569CF-A2A7-A3F2-33C3-0E2049E95680}"/>
              </a:ext>
            </a:extLst>
          </p:cNvPr>
          <p:cNvCxnSpPr>
            <a:cxnSpLocks/>
          </p:cNvCxnSpPr>
          <p:nvPr/>
        </p:nvCxnSpPr>
        <p:spPr>
          <a:xfrm rot="10800000">
            <a:off x="6946702" y="5461192"/>
            <a:ext cx="0" cy="189000"/>
          </a:xfrm>
          <a:prstGeom prst="straightConnector1">
            <a:avLst/>
          </a:prstGeom>
          <a:noFill/>
          <a:ln w="9525" cap="flat" cmpd="sng">
            <a:solidFill>
              <a:schemeClr val="dk2"/>
            </a:solidFill>
            <a:prstDash val="solid"/>
            <a:round/>
            <a:headEnd type="none" w="med" len="med"/>
            <a:tailEnd type="triangle" w="med" len="med"/>
          </a:ln>
        </p:spPr>
      </p:cxnSp>
      <p:sp>
        <p:nvSpPr>
          <p:cNvPr id="55" name="文字方塊 54">
            <a:extLst>
              <a:ext uri="{FF2B5EF4-FFF2-40B4-BE49-F238E27FC236}">
                <a16:creationId xmlns:a16="http://schemas.microsoft.com/office/drawing/2014/main" id="{AC842531-BE47-EAD0-8188-03001849FAF1}"/>
              </a:ext>
            </a:extLst>
          </p:cNvPr>
          <p:cNvSpPr txBox="1"/>
          <p:nvPr/>
        </p:nvSpPr>
        <p:spPr>
          <a:xfrm>
            <a:off x="8752017" y="5626880"/>
            <a:ext cx="806757" cy="338554"/>
          </a:xfrm>
          <a:prstGeom prst="rect">
            <a:avLst/>
          </a:prstGeom>
          <a:noFill/>
        </p:spPr>
        <p:txBody>
          <a:bodyPr wrap="square" rtlCol="0">
            <a:spAutoFit/>
          </a:bodyPr>
          <a:lstStyle/>
          <a:p>
            <a:pPr algn="ctr"/>
            <a:r>
              <a:rPr kumimoji="1" lang="en-US" altLang="zh-TW" sz="1600" dirty="0"/>
              <a:t>[SEP]</a:t>
            </a:r>
            <a:endParaRPr kumimoji="1" lang="zh-TW" altLang="en-US" sz="1600" dirty="0"/>
          </a:p>
        </p:txBody>
      </p:sp>
      <p:sp>
        <p:nvSpPr>
          <p:cNvPr id="75" name="文字方塊 74">
            <a:extLst>
              <a:ext uri="{FF2B5EF4-FFF2-40B4-BE49-F238E27FC236}">
                <a16:creationId xmlns:a16="http://schemas.microsoft.com/office/drawing/2014/main" id="{1CE4B93D-0B72-B603-1363-3D7C334DF987}"/>
              </a:ext>
            </a:extLst>
          </p:cNvPr>
          <p:cNvSpPr txBox="1"/>
          <p:nvPr/>
        </p:nvSpPr>
        <p:spPr>
          <a:xfrm>
            <a:off x="3475479" y="6014731"/>
            <a:ext cx="1433779" cy="369332"/>
          </a:xfrm>
          <a:prstGeom prst="rect">
            <a:avLst/>
          </a:prstGeom>
          <a:noFill/>
        </p:spPr>
        <p:txBody>
          <a:bodyPr wrap="square" rtlCol="0">
            <a:spAutoFit/>
          </a:bodyPr>
          <a:lstStyle/>
          <a:p>
            <a:pPr algn="ctr"/>
            <a:r>
              <a:rPr kumimoji="1" lang="en-US" altLang="zh-TW" dirty="0">
                <a:solidFill>
                  <a:srgbClr val="00B050"/>
                </a:solidFill>
              </a:rPr>
              <a:t>Question</a:t>
            </a:r>
            <a:endParaRPr kumimoji="1" lang="zh-TW" altLang="en-US" dirty="0">
              <a:solidFill>
                <a:srgbClr val="00B050"/>
              </a:solidFill>
            </a:endParaRPr>
          </a:p>
        </p:txBody>
      </p:sp>
      <p:sp>
        <p:nvSpPr>
          <p:cNvPr id="76" name="文字方塊 75">
            <a:extLst>
              <a:ext uri="{FF2B5EF4-FFF2-40B4-BE49-F238E27FC236}">
                <a16:creationId xmlns:a16="http://schemas.microsoft.com/office/drawing/2014/main" id="{05649E31-A01A-85ED-0419-2DDD2A6CFB19}"/>
              </a:ext>
            </a:extLst>
          </p:cNvPr>
          <p:cNvSpPr txBox="1"/>
          <p:nvPr/>
        </p:nvSpPr>
        <p:spPr>
          <a:xfrm>
            <a:off x="6660518" y="6014731"/>
            <a:ext cx="1433779" cy="369332"/>
          </a:xfrm>
          <a:prstGeom prst="rect">
            <a:avLst/>
          </a:prstGeom>
          <a:noFill/>
        </p:spPr>
        <p:txBody>
          <a:bodyPr wrap="square" rtlCol="0">
            <a:spAutoFit/>
          </a:bodyPr>
          <a:lstStyle/>
          <a:p>
            <a:pPr algn="ctr"/>
            <a:r>
              <a:rPr kumimoji="1" lang="en-US" altLang="zh-TW" dirty="0">
                <a:solidFill>
                  <a:srgbClr val="00B050"/>
                </a:solidFill>
              </a:rPr>
              <a:t>Paragraph</a:t>
            </a:r>
            <a:endParaRPr kumimoji="1" lang="zh-TW" altLang="en-US" dirty="0">
              <a:solidFill>
                <a:srgbClr val="00B050"/>
              </a:solidFill>
            </a:endParaRPr>
          </a:p>
        </p:txBody>
      </p:sp>
      <p:sp>
        <p:nvSpPr>
          <p:cNvPr id="16" name="Google Shape;189;p17">
            <a:extLst>
              <a:ext uri="{FF2B5EF4-FFF2-40B4-BE49-F238E27FC236}">
                <a16:creationId xmlns:a16="http://schemas.microsoft.com/office/drawing/2014/main" id="{BCB33A12-B049-C05F-6A56-A25714FD98F9}"/>
              </a:ext>
            </a:extLst>
          </p:cNvPr>
          <p:cNvSpPr/>
          <p:nvPr/>
        </p:nvSpPr>
        <p:spPr>
          <a:xfrm>
            <a:off x="7586940" y="3714286"/>
            <a:ext cx="174300" cy="5247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 name="Google Shape;195;p17">
            <a:extLst>
              <a:ext uri="{FF2B5EF4-FFF2-40B4-BE49-F238E27FC236}">
                <a16:creationId xmlns:a16="http://schemas.microsoft.com/office/drawing/2014/main" id="{7F821245-DB0B-6A7B-EB89-BE7D0CDDA86C}"/>
              </a:ext>
            </a:extLst>
          </p:cNvPr>
          <p:cNvCxnSpPr>
            <a:cxnSpLocks/>
          </p:cNvCxnSpPr>
          <p:nvPr/>
        </p:nvCxnSpPr>
        <p:spPr>
          <a:xfrm rot="10800000">
            <a:off x="7674640" y="4344299"/>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61" name="Google Shape;195;p17">
            <a:extLst>
              <a:ext uri="{FF2B5EF4-FFF2-40B4-BE49-F238E27FC236}">
                <a16:creationId xmlns:a16="http://schemas.microsoft.com/office/drawing/2014/main" id="{3E9286E8-2C1F-D192-B2B0-3B40CED8C180}"/>
              </a:ext>
            </a:extLst>
          </p:cNvPr>
          <p:cNvCxnSpPr>
            <a:cxnSpLocks/>
          </p:cNvCxnSpPr>
          <p:nvPr/>
        </p:nvCxnSpPr>
        <p:spPr>
          <a:xfrm rot="10800000">
            <a:off x="9155220" y="5461192"/>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62" name="Google Shape;195;p17">
            <a:extLst>
              <a:ext uri="{FF2B5EF4-FFF2-40B4-BE49-F238E27FC236}">
                <a16:creationId xmlns:a16="http://schemas.microsoft.com/office/drawing/2014/main" id="{BC110995-DC31-427B-13DF-D791639F0E08}"/>
              </a:ext>
            </a:extLst>
          </p:cNvPr>
          <p:cNvCxnSpPr>
            <a:cxnSpLocks/>
          </p:cNvCxnSpPr>
          <p:nvPr/>
        </p:nvCxnSpPr>
        <p:spPr>
          <a:xfrm rot="10800000">
            <a:off x="2697561" y="5461192"/>
            <a:ext cx="0" cy="189000"/>
          </a:xfrm>
          <a:prstGeom prst="straightConnector1">
            <a:avLst/>
          </a:prstGeom>
          <a:noFill/>
          <a:ln w="9525" cap="flat" cmpd="sng">
            <a:solidFill>
              <a:schemeClr val="dk2"/>
            </a:solidFill>
            <a:prstDash val="solid"/>
            <a:round/>
            <a:headEnd type="none" w="med" len="med"/>
            <a:tailEnd type="triangle" w="med" len="med"/>
          </a:ln>
        </p:spPr>
      </p:cxnSp>
      <p:sp>
        <p:nvSpPr>
          <p:cNvPr id="63" name="文字方塊 62">
            <a:extLst>
              <a:ext uri="{FF2B5EF4-FFF2-40B4-BE49-F238E27FC236}">
                <a16:creationId xmlns:a16="http://schemas.microsoft.com/office/drawing/2014/main" id="{9B47A981-C363-5D3F-F2E2-F12F0C924E74}"/>
              </a:ext>
            </a:extLst>
          </p:cNvPr>
          <p:cNvSpPr txBox="1"/>
          <p:nvPr/>
        </p:nvSpPr>
        <p:spPr>
          <a:xfrm>
            <a:off x="2940568" y="5626880"/>
            <a:ext cx="962070" cy="338554"/>
          </a:xfrm>
          <a:prstGeom prst="rect">
            <a:avLst/>
          </a:prstGeom>
          <a:noFill/>
        </p:spPr>
        <p:txBody>
          <a:bodyPr wrap="square" rtlCol="0">
            <a:spAutoFit/>
          </a:bodyPr>
          <a:lstStyle/>
          <a:p>
            <a:pPr algn="ctr"/>
            <a:r>
              <a:rPr kumimoji="1" lang="en-US" altLang="zh-TW" sz="1600" dirty="0"/>
              <a:t>Tok 1</a:t>
            </a:r>
            <a:endParaRPr kumimoji="1" lang="zh-TW" altLang="en-US" sz="1600" dirty="0"/>
          </a:p>
        </p:txBody>
      </p:sp>
      <p:sp>
        <p:nvSpPr>
          <p:cNvPr id="65" name="文字方塊 64">
            <a:extLst>
              <a:ext uri="{FF2B5EF4-FFF2-40B4-BE49-F238E27FC236}">
                <a16:creationId xmlns:a16="http://schemas.microsoft.com/office/drawing/2014/main" id="{096E7BA4-423A-6A74-7F23-4876F022C12D}"/>
              </a:ext>
            </a:extLst>
          </p:cNvPr>
          <p:cNvSpPr txBox="1"/>
          <p:nvPr/>
        </p:nvSpPr>
        <p:spPr>
          <a:xfrm>
            <a:off x="3677378" y="5626880"/>
            <a:ext cx="962070" cy="338554"/>
          </a:xfrm>
          <a:prstGeom prst="rect">
            <a:avLst/>
          </a:prstGeom>
          <a:noFill/>
        </p:spPr>
        <p:txBody>
          <a:bodyPr wrap="square" rtlCol="0">
            <a:spAutoFit/>
          </a:bodyPr>
          <a:lstStyle/>
          <a:p>
            <a:pPr algn="ctr"/>
            <a:r>
              <a:rPr kumimoji="1" lang="en-US" altLang="zh-TW" sz="1600" dirty="0"/>
              <a:t>Tok 2</a:t>
            </a:r>
            <a:endParaRPr kumimoji="1" lang="zh-TW" altLang="en-US" sz="1600" dirty="0"/>
          </a:p>
        </p:txBody>
      </p:sp>
      <p:sp>
        <p:nvSpPr>
          <p:cNvPr id="67" name="文字方塊 66">
            <a:extLst>
              <a:ext uri="{FF2B5EF4-FFF2-40B4-BE49-F238E27FC236}">
                <a16:creationId xmlns:a16="http://schemas.microsoft.com/office/drawing/2014/main" id="{5D3AACA7-05D5-9953-6631-2727A4A30CAC}"/>
              </a:ext>
            </a:extLst>
          </p:cNvPr>
          <p:cNvSpPr txBox="1"/>
          <p:nvPr/>
        </p:nvSpPr>
        <p:spPr>
          <a:xfrm>
            <a:off x="4414188" y="5626880"/>
            <a:ext cx="962070" cy="338554"/>
          </a:xfrm>
          <a:prstGeom prst="rect">
            <a:avLst/>
          </a:prstGeom>
          <a:noFill/>
        </p:spPr>
        <p:txBody>
          <a:bodyPr wrap="square" rtlCol="0">
            <a:spAutoFit/>
          </a:bodyPr>
          <a:lstStyle/>
          <a:p>
            <a:pPr algn="ctr"/>
            <a:r>
              <a:rPr kumimoji="1" lang="en-US" altLang="zh-TW" sz="1600" dirty="0"/>
              <a:t>Tok 3</a:t>
            </a:r>
            <a:endParaRPr kumimoji="1" lang="zh-TW" altLang="en-US" sz="1600" dirty="0"/>
          </a:p>
        </p:txBody>
      </p:sp>
      <p:sp>
        <p:nvSpPr>
          <p:cNvPr id="68" name="文字方塊 67">
            <a:extLst>
              <a:ext uri="{FF2B5EF4-FFF2-40B4-BE49-F238E27FC236}">
                <a16:creationId xmlns:a16="http://schemas.microsoft.com/office/drawing/2014/main" id="{E8C4AE3D-6EE6-82E4-D633-CBDE5E887B5C}"/>
              </a:ext>
            </a:extLst>
          </p:cNvPr>
          <p:cNvSpPr txBox="1"/>
          <p:nvPr/>
        </p:nvSpPr>
        <p:spPr>
          <a:xfrm>
            <a:off x="5770742" y="5626880"/>
            <a:ext cx="962070" cy="338554"/>
          </a:xfrm>
          <a:prstGeom prst="rect">
            <a:avLst/>
          </a:prstGeom>
          <a:noFill/>
        </p:spPr>
        <p:txBody>
          <a:bodyPr wrap="square" rtlCol="0">
            <a:spAutoFit/>
          </a:bodyPr>
          <a:lstStyle/>
          <a:p>
            <a:pPr algn="ctr"/>
            <a:r>
              <a:rPr kumimoji="1" lang="en-US" altLang="zh-TW" sz="1600" dirty="0"/>
              <a:t>Tok 1</a:t>
            </a:r>
            <a:endParaRPr kumimoji="1" lang="zh-TW" altLang="en-US" sz="1600" dirty="0"/>
          </a:p>
        </p:txBody>
      </p:sp>
      <p:sp>
        <p:nvSpPr>
          <p:cNvPr id="69" name="文字方塊 68">
            <a:extLst>
              <a:ext uri="{FF2B5EF4-FFF2-40B4-BE49-F238E27FC236}">
                <a16:creationId xmlns:a16="http://schemas.microsoft.com/office/drawing/2014/main" id="{65862347-C078-B6E6-9A5F-2922E36813EA}"/>
              </a:ext>
            </a:extLst>
          </p:cNvPr>
          <p:cNvSpPr txBox="1"/>
          <p:nvPr/>
        </p:nvSpPr>
        <p:spPr>
          <a:xfrm>
            <a:off x="6507552" y="5626880"/>
            <a:ext cx="962070" cy="338554"/>
          </a:xfrm>
          <a:prstGeom prst="rect">
            <a:avLst/>
          </a:prstGeom>
          <a:noFill/>
        </p:spPr>
        <p:txBody>
          <a:bodyPr wrap="square" rtlCol="0">
            <a:spAutoFit/>
          </a:bodyPr>
          <a:lstStyle/>
          <a:p>
            <a:pPr algn="ctr"/>
            <a:r>
              <a:rPr kumimoji="1" lang="en-US" altLang="zh-TW" sz="1600" dirty="0"/>
              <a:t>Tok 2</a:t>
            </a:r>
            <a:endParaRPr kumimoji="1" lang="zh-TW" altLang="en-US" sz="1600" dirty="0"/>
          </a:p>
        </p:txBody>
      </p:sp>
      <p:cxnSp>
        <p:nvCxnSpPr>
          <p:cNvPr id="78" name="Google Shape;195;p17">
            <a:extLst>
              <a:ext uri="{FF2B5EF4-FFF2-40B4-BE49-F238E27FC236}">
                <a16:creationId xmlns:a16="http://schemas.microsoft.com/office/drawing/2014/main" id="{4DFE3636-387E-DA8B-87E1-B6F763B262B7}"/>
              </a:ext>
            </a:extLst>
          </p:cNvPr>
          <p:cNvCxnSpPr>
            <a:cxnSpLocks/>
          </p:cNvCxnSpPr>
          <p:nvPr/>
        </p:nvCxnSpPr>
        <p:spPr>
          <a:xfrm rot="10800000">
            <a:off x="7730565" y="5461192"/>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79" name="Google Shape;194;p17">
            <a:extLst>
              <a:ext uri="{FF2B5EF4-FFF2-40B4-BE49-F238E27FC236}">
                <a16:creationId xmlns:a16="http://schemas.microsoft.com/office/drawing/2014/main" id="{07E87038-308B-F476-2F63-7D6FE44A85FC}"/>
              </a:ext>
            </a:extLst>
          </p:cNvPr>
          <p:cNvCxnSpPr>
            <a:cxnSpLocks/>
          </p:cNvCxnSpPr>
          <p:nvPr/>
        </p:nvCxnSpPr>
        <p:spPr>
          <a:xfrm rot="10800000">
            <a:off x="8420322" y="5461192"/>
            <a:ext cx="0" cy="189000"/>
          </a:xfrm>
          <a:prstGeom prst="straightConnector1">
            <a:avLst/>
          </a:prstGeom>
          <a:noFill/>
          <a:ln w="9525" cap="flat" cmpd="sng">
            <a:solidFill>
              <a:schemeClr val="dk2"/>
            </a:solidFill>
            <a:prstDash val="solid"/>
            <a:round/>
            <a:headEnd type="none" w="med" len="med"/>
            <a:tailEnd type="triangle" w="med" len="med"/>
          </a:ln>
        </p:spPr>
      </p:cxnSp>
      <p:sp>
        <p:nvSpPr>
          <p:cNvPr id="80" name="文字方塊 79">
            <a:extLst>
              <a:ext uri="{FF2B5EF4-FFF2-40B4-BE49-F238E27FC236}">
                <a16:creationId xmlns:a16="http://schemas.microsoft.com/office/drawing/2014/main" id="{65765E2F-72CF-916D-0136-FF6A996044E5}"/>
              </a:ext>
            </a:extLst>
          </p:cNvPr>
          <p:cNvSpPr txBox="1"/>
          <p:nvPr/>
        </p:nvSpPr>
        <p:spPr>
          <a:xfrm>
            <a:off x="7272643" y="5626880"/>
            <a:ext cx="962070" cy="338554"/>
          </a:xfrm>
          <a:prstGeom prst="rect">
            <a:avLst/>
          </a:prstGeom>
          <a:noFill/>
        </p:spPr>
        <p:txBody>
          <a:bodyPr wrap="square" rtlCol="0">
            <a:spAutoFit/>
          </a:bodyPr>
          <a:lstStyle/>
          <a:p>
            <a:pPr algn="ctr"/>
            <a:r>
              <a:rPr kumimoji="1" lang="en-US" altLang="zh-TW" sz="1600" dirty="0"/>
              <a:t>Tok 3</a:t>
            </a:r>
            <a:endParaRPr kumimoji="1" lang="zh-TW" altLang="en-US" sz="1600" dirty="0"/>
          </a:p>
        </p:txBody>
      </p:sp>
      <p:sp>
        <p:nvSpPr>
          <p:cNvPr id="81" name="文字方塊 80">
            <a:extLst>
              <a:ext uri="{FF2B5EF4-FFF2-40B4-BE49-F238E27FC236}">
                <a16:creationId xmlns:a16="http://schemas.microsoft.com/office/drawing/2014/main" id="{61A91BA9-501E-5F1A-264F-89BDFBEA687B}"/>
              </a:ext>
            </a:extLst>
          </p:cNvPr>
          <p:cNvSpPr txBox="1"/>
          <p:nvPr/>
        </p:nvSpPr>
        <p:spPr>
          <a:xfrm>
            <a:off x="7981172" y="5626880"/>
            <a:ext cx="962070" cy="338554"/>
          </a:xfrm>
          <a:prstGeom prst="rect">
            <a:avLst/>
          </a:prstGeom>
          <a:noFill/>
        </p:spPr>
        <p:txBody>
          <a:bodyPr wrap="square" rtlCol="0">
            <a:spAutoFit/>
          </a:bodyPr>
          <a:lstStyle/>
          <a:p>
            <a:pPr algn="ctr"/>
            <a:r>
              <a:rPr kumimoji="1" lang="en-US" altLang="zh-TW" sz="1600" dirty="0"/>
              <a:t>Tok 4</a:t>
            </a:r>
            <a:endParaRPr kumimoji="1" lang="zh-TW" altLang="en-US" sz="1600" dirty="0"/>
          </a:p>
        </p:txBody>
      </p:sp>
      <p:sp>
        <p:nvSpPr>
          <p:cNvPr id="82" name="Google Shape;189;p17">
            <a:extLst>
              <a:ext uri="{FF2B5EF4-FFF2-40B4-BE49-F238E27FC236}">
                <a16:creationId xmlns:a16="http://schemas.microsoft.com/office/drawing/2014/main" id="{1CED3057-A069-B38C-F30C-05C35405FD55}"/>
              </a:ext>
            </a:extLst>
          </p:cNvPr>
          <p:cNvSpPr/>
          <p:nvPr/>
        </p:nvSpPr>
        <p:spPr>
          <a:xfrm>
            <a:off x="8333171" y="3714286"/>
            <a:ext cx="174300" cy="5247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3" name="Google Shape;195;p17">
            <a:extLst>
              <a:ext uri="{FF2B5EF4-FFF2-40B4-BE49-F238E27FC236}">
                <a16:creationId xmlns:a16="http://schemas.microsoft.com/office/drawing/2014/main" id="{C769FF81-1339-3CC9-B728-23C56D06760B}"/>
              </a:ext>
            </a:extLst>
          </p:cNvPr>
          <p:cNvCxnSpPr>
            <a:cxnSpLocks/>
          </p:cNvCxnSpPr>
          <p:nvPr/>
        </p:nvCxnSpPr>
        <p:spPr>
          <a:xfrm rot="10800000">
            <a:off x="8420871" y="4342668"/>
            <a:ext cx="0" cy="189000"/>
          </a:xfrm>
          <a:prstGeom prst="straightConnector1">
            <a:avLst/>
          </a:prstGeom>
          <a:noFill/>
          <a:ln w="9525" cap="flat" cmpd="sng">
            <a:solidFill>
              <a:schemeClr val="dk2"/>
            </a:solidFill>
            <a:prstDash val="solid"/>
            <a:round/>
            <a:headEnd type="none" w="med" len="med"/>
            <a:tailEnd type="triangle" w="med" len="med"/>
          </a:ln>
        </p:spPr>
      </p:cxnSp>
      <p:sp>
        <p:nvSpPr>
          <p:cNvPr id="84" name="Google Shape;189;p17">
            <a:extLst>
              <a:ext uri="{FF2B5EF4-FFF2-40B4-BE49-F238E27FC236}">
                <a16:creationId xmlns:a16="http://schemas.microsoft.com/office/drawing/2014/main" id="{2610584C-31BA-E901-1C02-819C14635E88}"/>
              </a:ext>
            </a:extLst>
          </p:cNvPr>
          <p:cNvSpPr/>
          <p:nvPr/>
        </p:nvSpPr>
        <p:spPr>
          <a:xfrm>
            <a:off x="9031821" y="3714286"/>
            <a:ext cx="174300" cy="5247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5" name="Google Shape;195;p17">
            <a:extLst>
              <a:ext uri="{FF2B5EF4-FFF2-40B4-BE49-F238E27FC236}">
                <a16:creationId xmlns:a16="http://schemas.microsoft.com/office/drawing/2014/main" id="{57765EED-B18F-4EAA-F952-1062ABF24441}"/>
              </a:ext>
            </a:extLst>
          </p:cNvPr>
          <p:cNvCxnSpPr>
            <a:cxnSpLocks/>
          </p:cNvCxnSpPr>
          <p:nvPr/>
        </p:nvCxnSpPr>
        <p:spPr>
          <a:xfrm rot="10800000">
            <a:off x="9119521" y="4342668"/>
            <a:ext cx="0" cy="189000"/>
          </a:xfrm>
          <a:prstGeom prst="straightConnector1">
            <a:avLst/>
          </a:prstGeom>
          <a:noFill/>
          <a:ln w="9525" cap="flat" cmpd="sng">
            <a:solidFill>
              <a:schemeClr val="dk2"/>
            </a:solidFill>
            <a:prstDash val="solid"/>
            <a:round/>
            <a:headEnd type="none" w="med" len="med"/>
            <a:tailEnd type="triangle" w="med" len="med"/>
          </a:ln>
        </p:spPr>
      </p:cxnSp>
      <p:sp>
        <p:nvSpPr>
          <p:cNvPr id="86" name="Google Shape;189;p17">
            <a:extLst>
              <a:ext uri="{FF2B5EF4-FFF2-40B4-BE49-F238E27FC236}">
                <a16:creationId xmlns:a16="http://schemas.microsoft.com/office/drawing/2014/main" id="{B0BEE46E-33A3-B644-D361-F4E7E453520A}"/>
              </a:ext>
            </a:extLst>
          </p:cNvPr>
          <p:cNvSpPr/>
          <p:nvPr/>
        </p:nvSpPr>
        <p:spPr>
          <a:xfrm>
            <a:off x="4781295" y="3019669"/>
            <a:ext cx="174300" cy="524700"/>
          </a:xfrm>
          <a:prstGeom prst="rect">
            <a:avLst/>
          </a:prstGeom>
          <a:solidFill>
            <a:schemeClr val="accent5">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89;p17">
            <a:extLst>
              <a:ext uri="{FF2B5EF4-FFF2-40B4-BE49-F238E27FC236}">
                <a16:creationId xmlns:a16="http://schemas.microsoft.com/office/drawing/2014/main" id="{2A59F05D-302A-5E8D-123E-E2FBB943114D}"/>
              </a:ext>
            </a:extLst>
          </p:cNvPr>
          <p:cNvSpPr/>
          <p:nvPr/>
        </p:nvSpPr>
        <p:spPr>
          <a:xfrm>
            <a:off x="5568837" y="3020915"/>
            <a:ext cx="174300" cy="524700"/>
          </a:xfrm>
          <a:prstGeom prst="rect">
            <a:avLst/>
          </a:pr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文字方塊 87">
            <a:extLst>
              <a:ext uri="{FF2B5EF4-FFF2-40B4-BE49-F238E27FC236}">
                <a16:creationId xmlns:a16="http://schemas.microsoft.com/office/drawing/2014/main" id="{E64A873F-54F1-3C35-5C14-E9DDA8E4B8B1}"/>
              </a:ext>
            </a:extLst>
          </p:cNvPr>
          <p:cNvSpPr txBox="1"/>
          <p:nvPr/>
        </p:nvSpPr>
        <p:spPr>
          <a:xfrm>
            <a:off x="4433970" y="3546410"/>
            <a:ext cx="834583" cy="646331"/>
          </a:xfrm>
          <a:prstGeom prst="rect">
            <a:avLst/>
          </a:prstGeom>
          <a:noFill/>
        </p:spPr>
        <p:txBody>
          <a:bodyPr wrap="square" rtlCol="0">
            <a:spAutoFit/>
          </a:bodyPr>
          <a:lstStyle/>
          <a:p>
            <a:pPr algn="ctr"/>
            <a:r>
              <a:rPr kumimoji="1" lang="en-US" altLang="zh-TW" dirty="0"/>
              <a:t>Start</a:t>
            </a:r>
          </a:p>
          <a:p>
            <a:pPr algn="ctr"/>
            <a:r>
              <a:rPr kumimoji="1" lang="en-US" altLang="zh-TW" dirty="0"/>
              <a:t>vector</a:t>
            </a:r>
            <a:endParaRPr kumimoji="1" lang="zh-TW" altLang="en-US" dirty="0"/>
          </a:p>
        </p:txBody>
      </p:sp>
      <p:sp>
        <p:nvSpPr>
          <p:cNvPr id="89" name="文字方塊 88">
            <a:extLst>
              <a:ext uri="{FF2B5EF4-FFF2-40B4-BE49-F238E27FC236}">
                <a16:creationId xmlns:a16="http://schemas.microsoft.com/office/drawing/2014/main" id="{1891641E-7A1C-B237-5B8C-35495F28C294}"/>
              </a:ext>
            </a:extLst>
          </p:cNvPr>
          <p:cNvSpPr txBox="1"/>
          <p:nvPr/>
        </p:nvSpPr>
        <p:spPr>
          <a:xfrm>
            <a:off x="5184959" y="3546410"/>
            <a:ext cx="903763" cy="646331"/>
          </a:xfrm>
          <a:prstGeom prst="rect">
            <a:avLst/>
          </a:prstGeom>
          <a:noFill/>
        </p:spPr>
        <p:txBody>
          <a:bodyPr wrap="square" rtlCol="0">
            <a:spAutoFit/>
          </a:bodyPr>
          <a:lstStyle/>
          <a:p>
            <a:pPr algn="ctr"/>
            <a:r>
              <a:rPr kumimoji="1" lang="en-US" altLang="zh-TW" dirty="0"/>
              <a:t>End vector</a:t>
            </a:r>
            <a:endParaRPr kumimoji="1" lang="zh-TW" altLang="en-US" dirty="0"/>
          </a:p>
        </p:txBody>
      </p:sp>
      <p:sp>
        <p:nvSpPr>
          <p:cNvPr id="90" name="向右箭號 89">
            <a:extLst>
              <a:ext uri="{FF2B5EF4-FFF2-40B4-BE49-F238E27FC236}">
                <a16:creationId xmlns:a16="http://schemas.microsoft.com/office/drawing/2014/main" id="{BA4F91DE-0124-2269-15A9-66C65D2E2FBC}"/>
              </a:ext>
            </a:extLst>
          </p:cNvPr>
          <p:cNvSpPr/>
          <p:nvPr/>
        </p:nvSpPr>
        <p:spPr>
          <a:xfrm rot="1964850">
            <a:off x="6151872" y="3459047"/>
            <a:ext cx="309727" cy="2706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96" name="Google Shape;195;p17">
            <a:extLst>
              <a:ext uri="{FF2B5EF4-FFF2-40B4-BE49-F238E27FC236}">
                <a16:creationId xmlns:a16="http://schemas.microsoft.com/office/drawing/2014/main" id="{98B65D59-4814-08EE-430A-7402FD64CE92}"/>
              </a:ext>
            </a:extLst>
          </p:cNvPr>
          <p:cNvCxnSpPr>
            <a:cxnSpLocks/>
          </p:cNvCxnSpPr>
          <p:nvPr/>
        </p:nvCxnSpPr>
        <p:spPr>
          <a:xfrm rot="10800000">
            <a:off x="6975440" y="3470016"/>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97" name="Google Shape;195;p17">
            <a:extLst>
              <a:ext uri="{FF2B5EF4-FFF2-40B4-BE49-F238E27FC236}">
                <a16:creationId xmlns:a16="http://schemas.microsoft.com/office/drawing/2014/main" id="{677B0C8E-2FAA-2AEF-B433-C6CB360F7045}"/>
              </a:ext>
            </a:extLst>
          </p:cNvPr>
          <p:cNvCxnSpPr>
            <a:cxnSpLocks/>
          </p:cNvCxnSpPr>
          <p:nvPr/>
        </p:nvCxnSpPr>
        <p:spPr>
          <a:xfrm rot="10800000">
            <a:off x="7674090" y="3470016"/>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98" name="Google Shape;195;p17">
            <a:extLst>
              <a:ext uri="{FF2B5EF4-FFF2-40B4-BE49-F238E27FC236}">
                <a16:creationId xmlns:a16="http://schemas.microsoft.com/office/drawing/2014/main" id="{2F3A10B1-9B4D-DE14-03B5-D066932B0341}"/>
              </a:ext>
            </a:extLst>
          </p:cNvPr>
          <p:cNvCxnSpPr>
            <a:cxnSpLocks/>
          </p:cNvCxnSpPr>
          <p:nvPr/>
        </p:nvCxnSpPr>
        <p:spPr>
          <a:xfrm rot="10800000">
            <a:off x="8420321" y="3470016"/>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99" name="Google Shape;195;p17">
            <a:extLst>
              <a:ext uri="{FF2B5EF4-FFF2-40B4-BE49-F238E27FC236}">
                <a16:creationId xmlns:a16="http://schemas.microsoft.com/office/drawing/2014/main" id="{4F6CA3CB-9210-AC14-9B6E-C3CE67E30246}"/>
              </a:ext>
            </a:extLst>
          </p:cNvPr>
          <p:cNvCxnSpPr>
            <a:cxnSpLocks/>
          </p:cNvCxnSpPr>
          <p:nvPr/>
        </p:nvCxnSpPr>
        <p:spPr>
          <a:xfrm rot="10800000">
            <a:off x="9118970" y="3470016"/>
            <a:ext cx="0" cy="189000"/>
          </a:xfrm>
          <a:prstGeom prst="straightConnector1">
            <a:avLst/>
          </a:prstGeom>
          <a:noFill/>
          <a:ln w="9525" cap="flat" cmpd="sng">
            <a:solidFill>
              <a:schemeClr val="dk2"/>
            </a:solidFill>
            <a:prstDash val="solid"/>
            <a:round/>
            <a:headEnd type="none" w="med" len="med"/>
            <a:tailEnd type="triangle" w="med" len="med"/>
          </a:ln>
        </p:spPr>
      </p:cxnSp>
      <p:sp>
        <p:nvSpPr>
          <p:cNvPr id="100" name="Google Shape;189;p17">
            <a:extLst>
              <a:ext uri="{FF2B5EF4-FFF2-40B4-BE49-F238E27FC236}">
                <a16:creationId xmlns:a16="http://schemas.microsoft.com/office/drawing/2014/main" id="{408B393F-A718-992E-B109-9A48C7C0F83F}"/>
              </a:ext>
            </a:extLst>
          </p:cNvPr>
          <p:cNvSpPr/>
          <p:nvPr/>
        </p:nvSpPr>
        <p:spPr>
          <a:xfrm>
            <a:off x="6772401" y="3136209"/>
            <a:ext cx="174300" cy="198342"/>
          </a:xfrm>
          <a:prstGeom prst="rect">
            <a:avLst/>
          </a:prstGeom>
          <a:solidFill>
            <a:schemeClr val="accent5">
              <a:lumMod val="60000"/>
              <a:lumOff val="40000"/>
            </a:schemeClr>
          </a:solidFill>
          <a:ln w="19050">
            <a:solidFill>
              <a:schemeClr val="accent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89;p17">
            <a:extLst>
              <a:ext uri="{FF2B5EF4-FFF2-40B4-BE49-F238E27FC236}">
                <a16:creationId xmlns:a16="http://schemas.microsoft.com/office/drawing/2014/main" id="{E68B8D27-8276-A8BB-8394-6AE2B683320C}"/>
              </a:ext>
            </a:extLst>
          </p:cNvPr>
          <p:cNvSpPr/>
          <p:nvPr/>
        </p:nvSpPr>
        <p:spPr>
          <a:xfrm>
            <a:off x="6994029" y="3136209"/>
            <a:ext cx="174300" cy="198341"/>
          </a:xfrm>
          <a:prstGeom prst="rect">
            <a:avLst/>
          </a:prstGeom>
          <a:solidFill>
            <a:schemeClr val="bg1">
              <a:lumMod val="75000"/>
            </a:schemeClr>
          </a:solidFill>
          <a:ln w="19050">
            <a:solidFill>
              <a:schemeClr val="bg1">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89;p17">
            <a:extLst>
              <a:ext uri="{FF2B5EF4-FFF2-40B4-BE49-F238E27FC236}">
                <a16:creationId xmlns:a16="http://schemas.microsoft.com/office/drawing/2014/main" id="{957E93BD-7640-0C78-E658-B2DE1BAB849D}"/>
              </a:ext>
            </a:extLst>
          </p:cNvPr>
          <p:cNvSpPr/>
          <p:nvPr/>
        </p:nvSpPr>
        <p:spPr>
          <a:xfrm>
            <a:off x="7468981" y="3136209"/>
            <a:ext cx="174300" cy="198342"/>
          </a:xfrm>
          <a:prstGeom prst="rect">
            <a:avLst/>
          </a:prstGeom>
          <a:solidFill>
            <a:schemeClr val="accent5">
              <a:lumMod val="60000"/>
              <a:lumOff val="40000"/>
            </a:schemeClr>
          </a:solidFill>
          <a:ln w="19050">
            <a:solidFill>
              <a:schemeClr val="accent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89;p17">
            <a:extLst>
              <a:ext uri="{FF2B5EF4-FFF2-40B4-BE49-F238E27FC236}">
                <a16:creationId xmlns:a16="http://schemas.microsoft.com/office/drawing/2014/main" id="{36C9523E-94C5-5E55-2B59-E6F15D9EC2CC}"/>
              </a:ext>
            </a:extLst>
          </p:cNvPr>
          <p:cNvSpPr/>
          <p:nvPr/>
        </p:nvSpPr>
        <p:spPr>
          <a:xfrm>
            <a:off x="7690609" y="3136209"/>
            <a:ext cx="174300" cy="198341"/>
          </a:xfrm>
          <a:prstGeom prst="rect">
            <a:avLst/>
          </a:prstGeom>
          <a:solidFill>
            <a:schemeClr val="bg1">
              <a:lumMod val="75000"/>
            </a:schemeClr>
          </a:solidFill>
          <a:ln w="19050">
            <a:solidFill>
              <a:schemeClr val="bg1">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89;p17">
            <a:extLst>
              <a:ext uri="{FF2B5EF4-FFF2-40B4-BE49-F238E27FC236}">
                <a16:creationId xmlns:a16="http://schemas.microsoft.com/office/drawing/2014/main" id="{7B86E799-7F75-0359-C0AE-665CE774CFF6}"/>
              </a:ext>
            </a:extLst>
          </p:cNvPr>
          <p:cNvSpPr/>
          <p:nvPr/>
        </p:nvSpPr>
        <p:spPr>
          <a:xfrm>
            <a:off x="8213323" y="3136209"/>
            <a:ext cx="174300" cy="198342"/>
          </a:xfrm>
          <a:prstGeom prst="rect">
            <a:avLst/>
          </a:prstGeom>
          <a:solidFill>
            <a:schemeClr val="accent5">
              <a:lumMod val="60000"/>
              <a:lumOff val="40000"/>
            </a:schemeClr>
          </a:solidFill>
          <a:ln w="19050">
            <a:solidFill>
              <a:schemeClr val="accent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89;p17">
            <a:extLst>
              <a:ext uri="{FF2B5EF4-FFF2-40B4-BE49-F238E27FC236}">
                <a16:creationId xmlns:a16="http://schemas.microsoft.com/office/drawing/2014/main" id="{D5A9680A-FAE7-D698-1A91-9893D6E7E486}"/>
              </a:ext>
            </a:extLst>
          </p:cNvPr>
          <p:cNvSpPr/>
          <p:nvPr/>
        </p:nvSpPr>
        <p:spPr>
          <a:xfrm>
            <a:off x="8434951" y="3136209"/>
            <a:ext cx="174300" cy="198341"/>
          </a:xfrm>
          <a:prstGeom prst="rect">
            <a:avLst/>
          </a:prstGeom>
          <a:solidFill>
            <a:schemeClr val="bg1">
              <a:lumMod val="75000"/>
            </a:schemeClr>
          </a:solidFill>
          <a:ln w="19050">
            <a:solidFill>
              <a:schemeClr val="bg1">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89;p17">
            <a:extLst>
              <a:ext uri="{FF2B5EF4-FFF2-40B4-BE49-F238E27FC236}">
                <a16:creationId xmlns:a16="http://schemas.microsoft.com/office/drawing/2014/main" id="{88419D7C-7CB5-6A71-FD51-670E8F59D885}"/>
              </a:ext>
            </a:extLst>
          </p:cNvPr>
          <p:cNvSpPr/>
          <p:nvPr/>
        </p:nvSpPr>
        <p:spPr>
          <a:xfrm>
            <a:off x="8918962" y="3136209"/>
            <a:ext cx="174300" cy="198342"/>
          </a:xfrm>
          <a:prstGeom prst="rect">
            <a:avLst/>
          </a:prstGeom>
          <a:solidFill>
            <a:schemeClr val="accent5">
              <a:lumMod val="60000"/>
              <a:lumOff val="40000"/>
            </a:schemeClr>
          </a:solidFill>
          <a:ln w="19050">
            <a:solidFill>
              <a:schemeClr val="accent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89;p17">
            <a:extLst>
              <a:ext uri="{FF2B5EF4-FFF2-40B4-BE49-F238E27FC236}">
                <a16:creationId xmlns:a16="http://schemas.microsoft.com/office/drawing/2014/main" id="{02508D9E-EB30-9E69-DFD0-A390BA5A5013}"/>
              </a:ext>
            </a:extLst>
          </p:cNvPr>
          <p:cNvSpPr/>
          <p:nvPr/>
        </p:nvSpPr>
        <p:spPr>
          <a:xfrm>
            <a:off x="9140590" y="3136209"/>
            <a:ext cx="174300" cy="198341"/>
          </a:xfrm>
          <a:prstGeom prst="rect">
            <a:avLst/>
          </a:prstGeom>
          <a:solidFill>
            <a:schemeClr val="bg1">
              <a:lumMod val="75000"/>
            </a:schemeClr>
          </a:solidFill>
          <a:ln w="19050">
            <a:solidFill>
              <a:schemeClr val="bg1">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89;p17">
            <a:extLst>
              <a:ext uri="{FF2B5EF4-FFF2-40B4-BE49-F238E27FC236}">
                <a16:creationId xmlns:a16="http://schemas.microsoft.com/office/drawing/2014/main" id="{8B0C8C4A-FA30-7343-BBB9-702DE1552590}"/>
              </a:ext>
            </a:extLst>
          </p:cNvPr>
          <p:cNvSpPr/>
          <p:nvPr/>
        </p:nvSpPr>
        <p:spPr>
          <a:xfrm>
            <a:off x="983925" y="2266845"/>
            <a:ext cx="174300" cy="198342"/>
          </a:xfrm>
          <a:prstGeom prst="rect">
            <a:avLst/>
          </a:prstGeom>
          <a:solidFill>
            <a:schemeClr val="accent5">
              <a:lumMod val="60000"/>
              <a:lumOff val="40000"/>
            </a:schemeClr>
          </a:solidFill>
          <a:ln w="19050">
            <a:solidFill>
              <a:schemeClr val="accent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89;p17">
            <a:extLst>
              <a:ext uri="{FF2B5EF4-FFF2-40B4-BE49-F238E27FC236}">
                <a16:creationId xmlns:a16="http://schemas.microsoft.com/office/drawing/2014/main" id="{168C9B76-F172-8603-A262-5BE875DD2BDD}"/>
              </a:ext>
            </a:extLst>
          </p:cNvPr>
          <p:cNvSpPr/>
          <p:nvPr/>
        </p:nvSpPr>
        <p:spPr>
          <a:xfrm>
            <a:off x="1589716" y="2100134"/>
            <a:ext cx="174300" cy="524700"/>
          </a:xfrm>
          <a:prstGeom prst="rect">
            <a:avLst/>
          </a:prstGeom>
          <a:solidFill>
            <a:schemeClr val="accent5">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89;p17">
            <a:extLst>
              <a:ext uri="{FF2B5EF4-FFF2-40B4-BE49-F238E27FC236}">
                <a16:creationId xmlns:a16="http://schemas.microsoft.com/office/drawing/2014/main" id="{853C0382-2983-9178-936A-AC25D9B547D5}"/>
              </a:ext>
            </a:extLst>
          </p:cNvPr>
          <p:cNvSpPr/>
          <p:nvPr/>
        </p:nvSpPr>
        <p:spPr>
          <a:xfrm>
            <a:off x="1895906" y="2100134"/>
            <a:ext cx="174300" cy="5247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文字方塊 110">
            <a:extLst>
              <a:ext uri="{FF2B5EF4-FFF2-40B4-BE49-F238E27FC236}">
                <a16:creationId xmlns:a16="http://schemas.microsoft.com/office/drawing/2014/main" id="{22D2C6D3-73E0-E3B3-DC17-1B08823A3235}"/>
              </a:ext>
            </a:extLst>
          </p:cNvPr>
          <p:cNvSpPr txBox="1"/>
          <p:nvPr/>
        </p:nvSpPr>
        <p:spPr>
          <a:xfrm>
            <a:off x="1202948" y="2171903"/>
            <a:ext cx="284138" cy="369332"/>
          </a:xfrm>
          <a:prstGeom prst="rect">
            <a:avLst/>
          </a:prstGeom>
          <a:noFill/>
        </p:spPr>
        <p:txBody>
          <a:bodyPr wrap="square" rtlCol="0">
            <a:spAutoFit/>
          </a:bodyPr>
          <a:lstStyle/>
          <a:p>
            <a:r>
              <a:rPr kumimoji="1" lang="en-US" altLang="zh-TW" dirty="0"/>
              <a:t>:</a:t>
            </a:r>
            <a:endParaRPr kumimoji="1" lang="zh-TW" altLang="en-US" dirty="0"/>
          </a:p>
        </p:txBody>
      </p:sp>
      <p:sp>
        <p:nvSpPr>
          <p:cNvPr id="114" name="Google Shape;189;p17">
            <a:extLst>
              <a:ext uri="{FF2B5EF4-FFF2-40B4-BE49-F238E27FC236}">
                <a16:creationId xmlns:a16="http://schemas.microsoft.com/office/drawing/2014/main" id="{5E330B12-92AB-BB67-ED61-BCD749A8F70A}"/>
              </a:ext>
            </a:extLst>
          </p:cNvPr>
          <p:cNvSpPr/>
          <p:nvPr/>
        </p:nvSpPr>
        <p:spPr>
          <a:xfrm>
            <a:off x="1895906" y="2821356"/>
            <a:ext cx="174300" cy="5247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文字方塊 114">
            <a:extLst>
              <a:ext uri="{FF2B5EF4-FFF2-40B4-BE49-F238E27FC236}">
                <a16:creationId xmlns:a16="http://schemas.microsoft.com/office/drawing/2014/main" id="{D8084EE7-22E2-E6B6-889E-281FA93C31C6}"/>
              </a:ext>
            </a:extLst>
          </p:cNvPr>
          <p:cNvSpPr txBox="1"/>
          <p:nvPr/>
        </p:nvSpPr>
        <p:spPr>
          <a:xfrm>
            <a:off x="1202948" y="2893125"/>
            <a:ext cx="284138" cy="369332"/>
          </a:xfrm>
          <a:prstGeom prst="rect">
            <a:avLst/>
          </a:prstGeom>
          <a:noFill/>
        </p:spPr>
        <p:txBody>
          <a:bodyPr wrap="square" rtlCol="0">
            <a:spAutoFit/>
          </a:bodyPr>
          <a:lstStyle/>
          <a:p>
            <a:r>
              <a:rPr kumimoji="1" lang="en-US" altLang="zh-TW" dirty="0"/>
              <a:t>:</a:t>
            </a:r>
            <a:endParaRPr kumimoji="1" lang="zh-TW" altLang="en-US" dirty="0"/>
          </a:p>
        </p:txBody>
      </p:sp>
      <p:sp>
        <p:nvSpPr>
          <p:cNvPr id="116" name="Google Shape;189;p17">
            <a:extLst>
              <a:ext uri="{FF2B5EF4-FFF2-40B4-BE49-F238E27FC236}">
                <a16:creationId xmlns:a16="http://schemas.microsoft.com/office/drawing/2014/main" id="{8F39E5AC-CFD5-4680-A86B-FE783C4CFD8F}"/>
              </a:ext>
            </a:extLst>
          </p:cNvPr>
          <p:cNvSpPr/>
          <p:nvPr/>
        </p:nvSpPr>
        <p:spPr>
          <a:xfrm>
            <a:off x="1588079" y="2823919"/>
            <a:ext cx="174300" cy="524700"/>
          </a:xfrm>
          <a:prstGeom prst="rect">
            <a:avLst/>
          </a:pr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89;p17">
            <a:extLst>
              <a:ext uri="{FF2B5EF4-FFF2-40B4-BE49-F238E27FC236}">
                <a16:creationId xmlns:a16="http://schemas.microsoft.com/office/drawing/2014/main" id="{51FB0EF8-FB73-1ACF-33B2-FB785EAEF506}"/>
              </a:ext>
            </a:extLst>
          </p:cNvPr>
          <p:cNvSpPr/>
          <p:nvPr/>
        </p:nvSpPr>
        <p:spPr>
          <a:xfrm>
            <a:off x="983925" y="2984535"/>
            <a:ext cx="174300" cy="198341"/>
          </a:xfrm>
          <a:prstGeom prst="rect">
            <a:avLst/>
          </a:prstGeom>
          <a:solidFill>
            <a:schemeClr val="bg1">
              <a:lumMod val="75000"/>
            </a:schemeClr>
          </a:solidFill>
          <a:ln w="19050">
            <a:solidFill>
              <a:schemeClr val="bg1">
                <a:lumMod val="50000"/>
              </a:schemeClr>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文字方塊 117">
            <a:extLst>
              <a:ext uri="{FF2B5EF4-FFF2-40B4-BE49-F238E27FC236}">
                <a16:creationId xmlns:a16="http://schemas.microsoft.com/office/drawing/2014/main" id="{4B9D58E8-B9F9-F8B2-6475-05F5AF44F0FE}"/>
              </a:ext>
            </a:extLst>
          </p:cNvPr>
          <p:cNvSpPr txBox="1"/>
          <p:nvPr/>
        </p:nvSpPr>
        <p:spPr>
          <a:xfrm>
            <a:off x="2172309" y="2186498"/>
            <a:ext cx="1453698" cy="369332"/>
          </a:xfrm>
          <a:prstGeom prst="rect">
            <a:avLst/>
          </a:prstGeom>
          <a:noFill/>
        </p:spPr>
        <p:txBody>
          <a:bodyPr wrap="square" rtlCol="0">
            <a:spAutoFit/>
          </a:bodyPr>
          <a:lstStyle/>
          <a:p>
            <a:r>
              <a:rPr kumimoji="1" lang="en-US" altLang="zh-TW" dirty="0"/>
              <a:t>Dot product</a:t>
            </a:r>
            <a:endParaRPr kumimoji="1" lang="zh-TW" altLang="en-US" dirty="0"/>
          </a:p>
        </p:txBody>
      </p:sp>
      <p:sp>
        <p:nvSpPr>
          <p:cNvPr id="119" name="文字方塊 118">
            <a:extLst>
              <a:ext uri="{FF2B5EF4-FFF2-40B4-BE49-F238E27FC236}">
                <a16:creationId xmlns:a16="http://schemas.microsoft.com/office/drawing/2014/main" id="{276EDFF2-5690-8B39-71BE-FF809FC21FE9}"/>
              </a:ext>
            </a:extLst>
          </p:cNvPr>
          <p:cNvSpPr txBox="1"/>
          <p:nvPr/>
        </p:nvSpPr>
        <p:spPr>
          <a:xfrm>
            <a:off x="2168268" y="2893125"/>
            <a:ext cx="1453698" cy="369332"/>
          </a:xfrm>
          <a:prstGeom prst="rect">
            <a:avLst/>
          </a:prstGeom>
          <a:noFill/>
        </p:spPr>
        <p:txBody>
          <a:bodyPr wrap="square" rtlCol="0">
            <a:spAutoFit/>
          </a:bodyPr>
          <a:lstStyle/>
          <a:p>
            <a:r>
              <a:rPr kumimoji="1" lang="en-US" altLang="zh-TW" dirty="0"/>
              <a:t>Dot product</a:t>
            </a:r>
            <a:endParaRPr kumimoji="1" lang="zh-TW" altLang="en-US" dirty="0"/>
          </a:p>
        </p:txBody>
      </p:sp>
      <p:cxnSp>
        <p:nvCxnSpPr>
          <p:cNvPr id="140" name="直線箭頭接點 139">
            <a:extLst>
              <a:ext uri="{FF2B5EF4-FFF2-40B4-BE49-F238E27FC236}">
                <a16:creationId xmlns:a16="http://schemas.microsoft.com/office/drawing/2014/main" id="{A89C5B0D-54E0-16C5-094A-6A7FBB88FADF}"/>
              </a:ext>
            </a:extLst>
          </p:cNvPr>
          <p:cNvCxnSpPr>
            <a:stCxn id="100" idx="0"/>
          </p:cNvCxnSpPr>
          <p:nvPr/>
        </p:nvCxnSpPr>
        <p:spPr>
          <a:xfrm flipV="1">
            <a:off x="6859551" y="2741375"/>
            <a:ext cx="0" cy="3948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1" name="直線箭頭接點 140">
            <a:extLst>
              <a:ext uri="{FF2B5EF4-FFF2-40B4-BE49-F238E27FC236}">
                <a16:creationId xmlns:a16="http://schemas.microsoft.com/office/drawing/2014/main" id="{4C11755B-C455-B527-D24D-97334E55CBE8}"/>
              </a:ext>
            </a:extLst>
          </p:cNvPr>
          <p:cNvCxnSpPr/>
          <p:nvPr/>
        </p:nvCxnSpPr>
        <p:spPr>
          <a:xfrm flipV="1">
            <a:off x="7565138" y="2741375"/>
            <a:ext cx="0" cy="3948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2" name="直線箭頭接點 141">
            <a:extLst>
              <a:ext uri="{FF2B5EF4-FFF2-40B4-BE49-F238E27FC236}">
                <a16:creationId xmlns:a16="http://schemas.microsoft.com/office/drawing/2014/main" id="{557B86A2-B01A-F672-0798-022A4AF0254A}"/>
              </a:ext>
            </a:extLst>
          </p:cNvPr>
          <p:cNvCxnSpPr/>
          <p:nvPr/>
        </p:nvCxnSpPr>
        <p:spPr>
          <a:xfrm flipV="1">
            <a:off x="8300473" y="2741375"/>
            <a:ext cx="0" cy="3948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3" name="直線箭頭接點 142">
            <a:extLst>
              <a:ext uri="{FF2B5EF4-FFF2-40B4-BE49-F238E27FC236}">
                <a16:creationId xmlns:a16="http://schemas.microsoft.com/office/drawing/2014/main" id="{137E646F-B557-A404-FD19-9E384AE00686}"/>
              </a:ext>
            </a:extLst>
          </p:cNvPr>
          <p:cNvCxnSpPr/>
          <p:nvPr/>
        </p:nvCxnSpPr>
        <p:spPr>
          <a:xfrm flipV="1">
            <a:off x="9006112" y="2741375"/>
            <a:ext cx="0" cy="3948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4" name="Google Shape;204;p17">
            <a:extLst>
              <a:ext uri="{FF2B5EF4-FFF2-40B4-BE49-F238E27FC236}">
                <a16:creationId xmlns:a16="http://schemas.microsoft.com/office/drawing/2014/main" id="{7B189EAA-D5C4-3046-F8D6-B7C730B5385D}"/>
              </a:ext>
            </a:extLst>
          </p:cNvPr>
          <p:cNvSpPr/>
          <p:nvPr/>
        </p:nvSpPr>
        <p:spPr>
          <a:xfrm>
            <a:off x="6804465" y="2335160"/>
            <a:ext cx="2495795" cy="28141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TW" dirty="0" err="1"/>
              <a:t>Softmax</a:t>
            </a:r>
            <a:endParaRPr dirty="0"/>
          </a:p>
        </p:txBody>
      </p:sp>
      <p:cxnSp>
        <p:nvCxnSpPr>
          <p:cNvPr id="145" name="直線箭頭接點 144">
            <a:extLst>
              <a:ext uri="{FF2B5EF4-FFF2-40B4-BE49-F238E27FC236}">
                <a16:creationId xmlns:a16="http://schemas.microsoft.com/office/drawing/2014/main" id="{6E22CE02-771D-A09C-A9AE-D1442883EA6D}"/>
              </a:ext>
            </a:extLst>
          </p:cNvPr>
          <p:cNvCxnSpPr/>
          <p:nvPr/>
        </p:nvCxnSpPr>
        <p:spPr>
          <a:xfrm flipV="1">
            <a:off x="7077786" y="2740156"/>
            <a:ext cx="0" cy="3948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6" name="直線箭頭接點 145">
            <a:extLst>
              <a:ext uri="{FF2B5EF4-FFF2-40B4-BE49-F238E27FC236}">
                <a16:creationId xmlns:a16="http://schemas.microsoft.com/office/drawing/2014/main" id="{07C8EFB2-92F3-EEBB-C355-FF36100046EC}"/>
              </a:ext>
            </a:extLst>
          </p:cNvPr>
          <p:cNvCxnSpPr/>
          <p:nvPr/>
        </p:nvCxnSpPr>
        <p:spPr>
          <a:xfrm flipV="1">
            <a:off x="7783373" y="2740156"/>
            <a:ext cx="0" cy="3948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7" name="直線箭頭接點 146">
            <a:extLst>
              <a:ext uri="{FF2B5EF4-FFF2-40B4-BE49-F238E27FC236}">
                <a16:creationId xmlns:a16="http://schemas.microsoft.com/office/drawing/2014/main" id="{F8DC6C63-E162-8BF9-1712-3C1993881325}"/>
              </a:ext>
            </a:extLst>
          </p:cNvPr>
          <p:cNvCxnSpPr/>
          <p:nvPr/>
        </p:nvCxnSpPr>
        <p:spPr>
          <a:xfrm flipV="1">
            <a:off x="8518708" y="2740156"/>
            <a:ext cx="0" cy="3948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8" name="直線箭頭接點 147">
            <a:extLst>
              <a:ext uri="{FF2B5EF4-FFF2-40B4-BE49-F238E27FC236}">
                <a16:creationId xmlns:a16="http://schemas.microsoft.com/office/drawing/2014/main" id="{21EEDD33-E4A1-DAD5-8050-6BE6EC4ABD59}"/>
              </a:ext>
            </a:extLst>
          </p:cNvPr>
          <p:cNvCxnSpPr/>
          <p:nvPr/>
        </p:nvCxnSpPr>
        <p:spPr>
          <a:xfrm flipV="1">
            <a:off x="9224347" y="2740156"/>
            <a:ext cx="0" cy="3948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9" name="文字方塊 148">
            <a:extLst>
              <a:ext uri="{FF2B5EF4-FFF2-40B4-BE49-F238E27FC236}">
                <a16:creationId xmlns:a16="http://schemas.microsoft.com/office/drawing/2014/main" id="{A1F98405-56D9-2F00-4927-36736C9CF8C4}"/>
              </a:ext>
            </a:extLst>
          </p:cNvPr>
          <p:cNvSpPr txBox="1"/>
          <p:nvPr/>
        </p:nvSpPr>
        <p:spPr>
          <a:xfrm>
            <a:off x="6645521" y="1965828"/>
            <a:ext cx="417292" cy="369332"/>
          </a:xfrm>
          <a:prstGeom prst="rect">
            <a:avLst/>
          </a:prstGeom>
          <a:noFill/>
        </p:spPr>
        <p:txBody>
          <a:bodyPr wrap="square" rtlCol="0">
            <a:spAutoFit/>
          </a:bodyPr>
          <a:lstStyle/>
          <a:p>
            <a:pPr algn="ctr"/>
            <a:r>
              <a:rPr kumimoji="1" lang="en-US" altLang="zh-TW" dirty="0"/>
              <a:t>S</a:t>
            </a:r>
            <a:endParaRPr kumimoji="1" lang="zh-TW" altLang="en-US" dirty="0"/>
          </a:p>
        </p:txBody>
      </p:sp>
      <p:sp>
        <p:nvSpPr>
          <p:cNvPr id="150" name="文字方塊 149">
            <a:extLst>
              <a:ext uri="{FF2B5EF4-FFF2-40B4-BE49-F238E27FC236}">
                <a16:creationId xmlns:a16="http://schemas.microsoft.com/office/drawing/2014/main" id="{61F9D53F-CF4D-4E83-9F00-15C1A0E7D482}"/>
              </a:ext>
            </a:extLst>
          </p:cNvPr>
          <p:cNvSpPr txBox="1"/>
          <p:nvPr/>
        </p:nvSpPr>
        <p:spPr>
          <a:xfrm>
            <a:off x="7343948" y="1965828"/>
            <a:ext cx="417292" cy="369332"/>
          </a:xfrm>
          <a:prstGeom prst="rect">
            <a:avLst/>
          </a:prstGeom>
          <a:noFill/>
        </p:spPr>
        <p:txBody>
          <a:bodyPr wrap="square" rtlCol="0">
            <a:spAutoFit/>
          </a:bodyPr>
          <a:lstStyle/>
          <a:p>
            <a:pPr algn="ctr"/>
            <a:r>
              <a:rPr kumimoji="1" lang="en-US" altLang="zh-TW" dirty="0"/>
              <a:t>S</a:t>
            </a:r>
            <a:endParaRPr kumimoji="1" lang="zh-TW" altLang="en-US" dirty="0"/>
          </a:p>
        </p:txBody>
      </p:sp>
      <p:sp>
        <p:nvSpPr>
          <p:cNvPr id="151" name="文字方塊 150">
            <a:extLst>
              <a:ext uri="{FF2B5EF4-FFF2-40B4-BE49-F238E27FC236}">
                <a16:creationId xmlns:a16="http://schemas.microsoft.com/office/drawing/2014/main" id="{302D4189-8C1C-B307-D448-93AC65C2D5D6}"/>
              </a:ext>
            </a:extLst>
          </p:cNvPr>
          <p:cNvSpPr txBox="1"/>
          <p:nvPr/>
        </p:nvSpPr>
        <p:spPr>
          <a:xfrm>
            <a:off x="8124525" y="1965828"/>
            <a:ext cx="417292" cy="369332"/>
          </a:xfrm>
          <a:prstGeom prst="rect">
            <a:avLst/>
          </a:prstGeom>
          <a:noFill/>
        </p:spPr>
        <p:txBody>
          <a:bodyPr wrap="square" rtlCol="0">
            <a:spAutoFit/>
          </a:bodyPr>
          <a:lstStyle/>
          <a:p>
            <a:pPr algn="ctr"/>
            <a:r>
              <a:rPr kumimoji="1" lang="en-US" altLang="zh-TW" dirty="0"/>
              <a:t>S</a:t>
            </a:r>
            <a:endParaRPr kumimoji="1" lang="zh-TW" altLang="en-US" dirty="0"/>
          </a:p>
        </p:txBody>
      </p:sp>
      <p:sp>
        <p:nvSpPr>
          <p:cNvPr id="152" name="文字方塊 151">
            <a:extLst>
              <a:ext uri="{FF2B5EF4-FFF2-40B4-BE49-F238E27FC236}">
                <a16:creationId xmlns:a16="http://schemas.microsoft.com/office/drawing/2014/main" id="{8E4C8D91-F860-0C6E-9659-020E2436B403}"/>
              </a:ext>
            </a:extLst>
          </p:cNvPr>
          <p:cNvSpPr txBox="1"/>
          <p:nvPr/>
        </p:nvSpPr>
        <p:spPr>
          <a:xfrm>
            <a:off x="8807055" y="1965828"/>
            <a:ext cx="417292" cy="369332"/>
          </a:xfrm>
          <a:prstGeom prst="rect">
            <a:avLst/>
          </a:prstGeom>
          <a:noFill/>
        </p:spPr>
        <p:txBody>
          <a:bodyPr wrap="square" rtlCol="0">
            <a:spAutoFit/>
          </a:bodyPr>
          <a:lstStyle/>
          <a:p>
            <a:pPr algn="ctr"/>
            <a:r>
              <a:rPr kumimoji="1" lang="en-US" altLang="zh-TW" dirty="0"/>
              <a:t>S</a:t>
            </a:r>
            <a:endParaRPr kumimoji="1" lang="zh-TW" altLang="en-US" dirty="0"/>
          </a:p>
        </p:txBody>
      </p:sp>
      <p:sp>
        <p:nvSpPr>
          <p:cNvPr id="153" name="文字方塊 152">
            <a:extLst>
              <a:ext uri="{FF2B5EF4-FFF2-40B4-BE49-F238E27FC236}">
                <a16:creationId xmlns:a16="http://schemas.microsoft.com/office/drawing/2014/main" id="{642CA7C0-F62A-2788-E1AE-BE267E3CD1E8}"/>
              </a:ext>
            </a:extLst>
          </p:cNvPr>
          <p:cNvSpPr txBox="1"/>
          <p:nvPr/>
        </p:nvSpPr>
        <p:spPr>
          <a:xfrm>
            <a:off x="6869178" y="1965828"/>
            <a:ext cx="417292" cy="369332"/>
          </a:xfrm>
          <a:prstGeom prst="rect">
            <a:avLst/>
          </a:prstGeom>
          <a:noFill/>
        </p:spPr>
        <p:txBody>
          <a:bodyPr wrap="square" rtlCol="0">
            <a:spAutoFit/>
          </a:bodyPr>
          <a:lstStyle/>
          <a:p>
            <a:pPr algn="ctr"/>
            <a:r>
              <a:rPr kumimoji="1" lang="en-US" altLang="zh-TW" dirty="0"/>
              <a:t>E</a:t>
            </a:r>
            <a:endParaRPr kumimoji="1" lang="zh-TW" altLang="en-US" dirty="0"/>
          </a:p>
        </p:txBody>
      </p:sp>
      <p:sp>
        <p:nvSpPr>
          <p:cNvPr id="154" name="文字方塊 153">
            <a:extLst>
              <a:ext uri="{FF2B5EF4-FFF2-40B4-BE49-F238E27FC236}">
                <a16:creationId xmlns:a16="http://schemas.microsoft.com/office/drawing/2014/main" id="{07A54E9C-1A46-D8F6-8D3F-FEA3715303C7}"/>
              </a:ext>
            </a:extLst>
          </p:cNvPr>
          <p:cNvSpPr txBox="1"/>
          <p:nvPr/>
        </p:nvSpPr>
        <p:spPr>
          <a:xfrm>
            <a:off x="7577032" y="1965828"/>
            <a:ext cx="417292" cy="369332"/>
          </a:xfrm>
          <a:prstGeom prst="rect">
            <a:avLst/>
          </a:prstGeom>
          <a:noFill/>
        </p:spPr>
        <p:txBody>
          <a:bodyPr wrap="square" rtlCol="0">
            <a:spAutoFit/>
          </a:bodyPr>
          <a:lstStyle/>
          <a:p>
            <a:pPr algn="ctr"/>
            <a:r>
              <a:rPr kumimoji="1" lang="en-US" altLang="zh-TW" dirty="0"/>
              <a:t>E</a:t>
            </a:r>
            <a:endParaRPr kumimoji="1" lang="zh-TW" altLang="en-US" dirty="0"/>
          </a:p>
        </p:txBody>
      </p:sp>
      <p:sp>
        <p:nvSpPr>
          <p:cNvPr id="155" name="文字方塊 154">
            <a:extLst>
              <a:ext uri="{FF2B5EF4-FFF2-40B4-BE49-F238E27FC236}">
                <a16:creationId xmlns:a16="http://schemas.microsoft.com/office/drawing/2014/main" id="{960F6F8A-A3D2-6FFB-2FD8-B32D19F7022A}"/>
              </a:ext>
            </a:extLst>
          </p:cNvPr>
          <p:cNvSpPr txBox="1"/>
          <p:nvPr/>
        </p:nvSpPr>
        <p:spPr>
          <a:xfrm>
            <a:off x="8357609" y="1965828"/>
            <a:ext cx="417292" cy="369332"/>
          </a:xfrm>
          <a:prstGeom prst="rect">
            <a:avLst/>
          </a:prstGeom>
          <a:noFill/>
        </p:spPr>
        <p:txBody>
          <a:bodyPr wrap="square" rtlCol="0">
            <a:spAutoFit/>
          </a:bodyPr>
          <a:lstStyle/>
          <a:p>
            <a:pPr algn="ctr"/>
            <a:r>
              <a:rPr kumimoji="1" lang="en-US" altLang="zh-TW" dirty="0"/>
              <a:t>E</a:t>
            </a:r>
            <a:endParaRPr kumimoji="1" lang="zh-TW" altLang="en-US" dirty="0"/>
          </a:p>
        </p:txBody>
      </p:sp>
      <p:sp>
        <p:nvSpPr>
          <p:cNvPr id="156" name="文字方塊 155">
            <a:extLst>
              <a:ext uri="{FF2B5EF4-FFF2-40B4-BE49-F238E27FC236}">
                <a16:creationId xmlns:a16="http://schemas.microsoft.com/office/drawing/2014/main" id="{46A6F024-3153-5444-D38A-E67227D5AB88}"/>
              </a:ext>
            </a:extLst>
          </p:cNvPr>
          <p:cNvSpPr txBox="1"/>
          <p:nvPr/>
        </p:nvSpPr>
        <p:spPr>
          <a:xfrm>
            <a:off x="9046847" y="1965828"/>
            <a:ext cx="417292" cy="369332"/>
          </a:xfrm>
          <a:prstGeom prst="rect">
            <a:avLst/>
          </a:prstGeom>
          <a:noFill/>
        </p:spPr>
        <p:txBody>
          <a:bodyPr wrap="square" rtlCol="0">
            <a:spAutoFit/>
          </a:bodyPr>
          <a:lstStyle/>
          <a:p>
            <a:pPr algn="ctr"/>
            <a:r>
              <a:rPr kumimoji="1" lang="en-US" altLang="zh-TW" dirty="0"/>
              <a:t>E</a:t>
            </a:r>
            <a:endParaRPr kumimoji="1" lang="zh-TW" altLang="en-US" dirty="0"/>
          </a:p>
        </p:txBody>
      </p:sp>
    </p:spTree>
    <p:extLst>
      <p:ext uri="{BB962C8B-B14F-4D97-AF65-F5344CB8AC3E}">
        <p14:creationId xmlns:p14="http://schemas.microsoft.com/office/powerpoint/2010/main" val="3435803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4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4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4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48"/>
                                        </p:tgtEl>
                                        <p:attrNameLst>
                                          <p:attrName>style.visibility</p:attrName>
                                        </p:attrNameLst>
                                      </p:cBhvr>
                                      <p:to>
                                        <p:strVal val="visible"/>
                                      </p:to>
                                    </p:set>
                                  </p:childTnLst>
                                </p:cTn>
                              </p:par>
                              <p:par>
                                <p:cTn id="49" presetID="1" presetClass="exit" presetSubtype="0" fill="hold" nodeType="withEffect">
                                  <p:stCondLst>
                                    <p:cond delay="0"/>
                                  </p:stCondLst>
                                  <p:childTnLst>
                                    <p:set>
                                      <p:cBhvr>
                                        <p:cTn id="50" dur="1" fill="hold">
                                          <p:stCondLst>
                                            <p:cond delay="0"/>
                                          </p:stCondLst>
                                        </p:cTn>
                                        <p:tgtEl>
                                          <p:spTgt spid="143"/>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142"/>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141"/>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140"/>
                                        </p:tgtEl>
                                        <p:attrNameLst>
                                          <p:attrName>style.visibility</p:attrName>
                                        </p:attrNameLst>
                                      </p:cBhvr>
                                      <p:to>
                                        <p:strVal val="hidden"/>
                                      </p:to>
                                    </p:set>
                                  </p:childTnLst>
                                </p:cTn>
                              </p:par>
                              <p:par>
                                <p:cTn id="57" presetID="1" presetClass="entr" presetSubtype="0" fill="hold" grpId="0" nodeType="withEffect">
                                  <p:stCondLst>
                                    <p:cond delay="0"/>
                                  </p:stCondLst>
                                  <p:childTnLst>
                                    <p:set>
                                      <p:cBhvr>
                                        <p:cTn id="58" dur="1" fill="hold">
                                          <p:stCondLst>
                                            <p:cond delay="0"/>
                                          </p:stCondLst>
                                        </p:cTn>
                                        <p:tgtEl>
                                          <p:spTgt spid="15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5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5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animBg="1"/>
      <p:bldP spid="101" grpId="0" animBg="1"/>
      <p:bldP spid="102" grpId="0" animBg="1"/>
      <p:bldP spid="103" grpId="0" animBg="1"/>
      <p:bldP spid="104" grpId="0" animBg="1"/>
      <p:bldP spid="105" grpId="0" animBg="1"/>
      <p:bldP spid="106" grpId="0" animBg="1"/>
      <p:bldP spid="107" grpId="0" animBg="1"/>
      <p:bldP spid="149" grpId="0"/>
      <p:bldP spid="150" grpId="0"/>
      <p:bldP spid="151" grpId="0"/>
      <p:bldP spid="152" grpId="0"/>
      <p:bldP spid="153" grpId="0"/>
      <p:bldP spid="154" grpId="0"/>
      <p:bldP spid="155" grpId="0"/>
      <p:bldP spid="15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554A2-2CDC-D39F-C24C-267B2E06DBA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CCCFA2ED-B0D5-E809-D255-4E45FEA991F4}"/>
              </a:ext>
            </a:extLst>
          </p:cNvPr>
          <p:cNvSpPr>
            <a:spLocks noGrp="1"/>
          </p:cNvSpPr>
          <p:nvPr>
            <p:ph type="title"/>
          </p:nvPr>
        </p:nvSpPr>
        <p:spPr/>
        <p:txBody>
          <a:bodyPr>
            <a:normAutofit fontScale="90000"/>
          </a:bodyPr>
          <a:lstStyle/>
          <a:p>
            <a:r>
              <a:rPr kumimoji="1" lang="zh-TW" altLang="en-US" dirty="0"/>
              <a:t>任務：命名實體辨識 </a:t>
            </a:r>
            <a:r>
              <a:rPr kumimoji="1" lang="en-US" altLang="zh-TW" dirty="0"/>
              <a:t>(</a:t>
            </a:r>
            <a:r>
              <a:rPr kumimoji="1" lang="en" altLang="zh-TW" dirty="0"/>
              <a:t>Named Entity Recognition, NER)</a:t>
            </a:r>
            <a:endParaRPr kumimoji="1" lang="zh-TW" altLang="en-US" dirty="0"/>
          </a:p>
        </p:txBody>
      </p:sp>
      <p:sp>
        <p:nvSpPr>
          <p:cNvPr id="3" name="內容版面配置區 2">
            <a:extLst>
              <a:ext uri="{FF2B5EF4-FFF2-40B4-BE49-F238E27FC236}">
                <a16:creationId xmlns:a16="http://schemas.microsoft.com/office/drawing/2014/main" id="{8513BD75-C735-93A8-CE91-A2FF010BB763}"/>
              </a:ext>
            </a:extLst>
          </p:cNvPr>
          <p:cNvSpPr>
            <a:spLocks noGrp="1"/>
          </p:cNvSpPr>
          <p:nvPr>
            <p:ph idx="1"/>
          </p:nvPr>
        </p:nvSpPr>
        <p:spPr>
          <a:xfrm>
            <a:off x="1230727" y="2117386"/>
            <a:ext cx="9907468" cy="4023360"/>
          </a:xfrm>
        </p:spPr>
        <p:txBody>
          <a:bodyPr>
            <a:normAutofit/>
          </a:bodyPr>
          <a:lstStyle/>
          <a:p>
            <a:pPr>
              <a:lnSpc>
                <a:spcPct val="200000"/>
              </a:lnSpc>
            </a:pPr>
            <a:r>
              <a:rPr kumimoji="1" lang="en" altLang="zh-TW" sz="3200" dirty="0">
                <a:highlight>
                  <a:srgbClr val="FFFF00"/>
                </a:highlight>
              </a:rPr>
              <a:t>John Wick</a:t>
            </a:r>
            <a:r>
              <a:rPr kumimoji="1" lang="en" altLang="zh-TW" sz="3200" dirty="0"/>
              <a:t> was admitted to </a:t>
            </a:r>
            <a:r>
              <a:rPr kumimoji="1" lang="en" altLang="zh-TW" sz="3200" dirty="0">
                <a:highlight>
                  <a:srgbClr val="00FFFF"/>
                </a:highlight>
              </a:rPr>
              <a:t>Taipei Veterans General Hospital</a:t>
            </a:r>
            <a:r>
              <a:rPr kumimoji="1" lang="en" altLang="zh-TW" sz="3200" dirty="0"/>
              <a:t> on </a:t>
            </a:r>
            <a:r>
              <a:rPr kumimoji="1" lang="en" altLang="zh-TW" sz="3200" dirty="0">
                <a:highlight>
                  <a:srgbClr val="C0C0C0"/>
                </a:highlight>
              </a:rPr>
              <a:t>March 3, 2023</a:t>
            </a:r>
            <a:r>
              <a:rPr kumimoji="1" lang="en" altLang="zh-TW" sz="3200" dirty="0"/>
              <a:t> due to </a:t>
            </a:r>
            <a:r>
              <a:rPr kumimoji="1" lang="en" altLang="zh-TW" sz="3200" dirty="0">
                <a:highlight>
                  <a:srgbClr val="00FF00"/>
                </a:highlight>
              </a:rPr>
              <a:t>pneumonia</a:t>
            </a:r>
            <a:r>
              <a:rPr kumimoji="1" lang="en" altLang="zh-TW" sz="3200" dirty="0"/>
              <a:t>.</a:t>
            </a:r>
            <a:endParaRPr kumimoji="1" lang="zh-TW" altLang="en-US" sz="3200" dirty="0"/>
          </a:p>
        </p:txBody>
      </p:sp>
      <p:sp>
        <p:nvSpPr>
          <p:cNvPr id="4" name="投影片編號版面配置區 3">
            <a:extLst>
              <a:ext uri="{FF2B5EF4-FFF2-40B4-BE49-F238E27FC236}">
                <a16:creationId xmlns:a16="http://schemas.microsoft.com/office/drawing/2014/main" id="{2C6F90A8-B75A-CA3A-C7BE-E97A7FA9063E}"/>
              </a:ext>
            </a:extLst>
          </p:cNvPr>
          <p:cNvSpPr>
            <a:spLocks noGrp="1"/>
          </p:cNvSpPr>
          <p:nvPr>
            <p:ph type="sldNum" sz="quarter" idx="12"/>
          </p:nvPr>
        </p:nvSpPr>
        <p:spPr/>
        <p:txBody>
          <a:bodyPr/>
          <a:lstStyle/>
          <a:p>
            <a:fld id="{6113E31D-E2AB-40D1-8B51-AFA5AFEF393A}" type="slidenum">
              <a:rPr lang="en-US" smtClean="0"/>
              <a:pPr/>
              <a:t>41</a:t>
            </a:fld>
            <a:endParaRPr lang="en-US" dirty="0"/>
          </a:p>
        </p:txBody>
      </p:sp>
      <p:sp>
        <p:nvSpPr>
          <p:cNvPr id="5" name="文字方塊 4">
            <a:extLst>
              <a:ext uri="{FF2B5EF4-FFF2-40B4-BE49-F238E27FC236}">
                <a16:creationId xmlns:a16="http://schemas.microsoft.com/office/drawing/2014/main" id="{A02554F8-6046-6C09-0BA1-12605AB9D607}"/>
              </a:ext>
            </a:extLst>
          </p:cNvPr>
          <p:cNvSpPr txBox="1"/>
          <p:nvPr/>
        </p:nvSpPr>
        <p:spPr>
          <a:xfrm>
            <a:off x="1071335" y="1748054"/>
            <a:ext cx="1426128" cy="369332"/>
          </a:xfrm>
          <a:prstGeom prst="rect">
            <a:avLst/>
          </a:prstGeom>
          <a:noFill/>
        </p:spPr>
        <p:txBody>
          <a:bodyPr wrap="square" rtlCol="0">
            <a:spAutoFit/>
          </a:bodyPr>
          <a:lstStyle/>
          <a:p>
            <a:pPr algn="ctr"/>
            <a:r>
              <a:rPr kumimoji="1" lang="en-US" altLang="zh-TW" dirty="0"/>
              <a:t>B-Person</a:t>
            </a:r>
            <a:endParaRPr kumimoji="1" lang="zh-TW" altLang="en-US" dirty="0"/>
          </a:p>
        </p:txBody>
      </p:sp>
      <p:sp>
        <p:nvSpPr>
          <p:cNvPr id="6" name="文字方塊 5">
            <a:extLst>
              <a:ext uri="{FF2B5EF4-FFF2-40B4-BE49-F238E27FC236}">
                <a16:creationId xmlns:a16="http://schemas.microsoft.com/office/drawing/2014/main" id="{C2F262A5-2DCA-E34A-C116-DDC031955702}"/>
              </a:ext>
            </a:extLst>
          </p:cNvPr>
          <p:cNvSpPr txBox="1"/>
          <p:nvPr/>
        </p:nvSpPr>
        <p:spPr>
          <a:xfrm>
            <a:off x="2062634" y="2023064"/>
            <a:ext cx="1426128" cy="369332"/>
          </a:xfrm>
          <a:prstGeom prst="rect">
            <a:avLst/>
          </a:prstGeom>
          <a:noFill/>
        </p:spPr>
        <p:txBody>
          <a:bodyPr wrap="square" rtlCol="0">
            <a:spAutoFit/>
          </a:bodyPr>
          <a:lstStyle/>
          <a:p>
            <a:pPr algn="ctr"/>
            <a:r>
              <a:rPr kumimoji="1" lang="en-US" altLang="zh-TW" dirty="0"/>
              <a:t>E-Person</a:t>
            </a:r>
            <a:endParaRPr kumimoji="1" lang="zh-TW" altLang="en-US" dirty="0"/>
          </a:p>
        </p:txBody>
      </p:sp>
      <p:sp>
        <p:nvSpPr>
          <p:cNvPr id="7" name="文字方塊 6">
            <a:extLst>
              <a:ext uri="{FF2B5EF4-FFF2-40B4-BE49-F238E27FC236}">
                <a16:creationId xmlns:a16="http://schemas.microsoft.com/office/drawing/2014/main" id="{D68919CC-FBFE-983D-1F0E-0A9E8604D830}"/>
              </a:ext>
            </a:extLst>
          </p:cNvPr>
          <p:cNvSpPr txBox="1"/>
          <p:nvPr/>
        </p:nvSpPr>
        <p:spPr>
          <a:xfrm>
            <a:off x="1349570" y="2991410"/>
            <a:ext cx="1426128" cy="369332"/>
          </a:xfrm>
          <a:prstGeom prst="rect">
            <a:avLst/>
          </a:prstGeom>
          <a:noFill/>
        </p:spPr>
        <p:txBody>
          <a:bodyPr wrap="square" rtlCol="0">
            <a:spAutoFit/>
          </a:bodyPr>
          <a:lstStyle/>
          <a:p>
            <a:pPr algn="ctr"/>
            <a:r>
              <a:rPr kumimoji="1" lang="en-US" altLang="zh-TW" dirty="0"/>
              <a:t>E-Location</a:t>
            </a:r>
            <a:endParaRPr kumimoji="1" lang="zh-TW" altLang="en-US" dirty="0"/>
          </a:p>
        </p:txBody>
      </p:sp>
      <p:sp>
        <p:nvSpPr>
          <p:cNvPr id="8" name="文字方塊 7">
            <a:extLst>
              <a:ext uri="{FF2B5EF4-FFF2-40B4-BE49-F238E27FC236}">
                <a16:creationId xmlns:a16="http://schemas.microsoft.com/office/drawing/2014/main" id="{4D0AAE23-3B60-92D6-8714-7909EA056638}"/>
              </a:ext>
            </a:extLst>
          </p:cNvPr>
          <p:cNvSpPr txBox="1"/>
          <p:nvPr/>
        </p:nvSpPr>
        <p:spPr>
          <a:xfrm>
            <a:off x="6090748" y="1748054"/>
            <a:ext cx="1426128" cy="369332"/>
          </a:xfrm>
          <a:prstGeom prst="rect">
            <a:avLst/>
          </a:prstGeom>
          <a:noFill/>
        </p:spPr>
        <p:txBody>
          <a:bodyPr wrap="square" rtlCol="0">
            <a:spAutoFit/>
          </a:bodyPr>
          <a:lstStyle/>
          <a:p>
            <a:pPr algn="ctr"/>
            <a:r>
              <a:rPr kumimoji="1" lang="en-US" altLang="zh-TW" dirty="0"/>
              <a:t>B-Location</a:t>
            </a:r>
            <a:endParaRPr kumimoji="1" lang="zh-TW" altLang="en-US" dirty="0"/>
          </a:p>
        </p:txBody>
      </p:sp>
      <p:sp>
        <p:nvSpPr>
          <p:cNvPr id="9" name="文字方塊 8">
            <a:extLst>
              <a:ext uri="{FF2B5EF4-FFF2-40B4-BE49-F238E27FC236}">
                <a16:creationId xmlns:a16="http://schemas.microsoft.com/office/drawing/2014/main" id="{662F1395-3534-5DEF-D29C-98174D924E28}"/>
              </a:ext>
            </a:extLst>
          </p:cNvPr>
          <p:cNvSpPr txBox="1"/>
          <p:nvPr/>
        </p:nvSpPr>
        <p:spPr>
          <a:xfrm>
            <a:off x="3315391" y="2991410"/>
            <a:ext cx="1426128" cy="369332"/>
          </a:xfrm>
          <a:prstGeom prst="rect">
            <a:avLst/>
          </a:prstGeom>
          <a:noFill/>
        </p:spPr>
        <p:txBody>
          <a:bodyPr wrap="square" rtlCol="0">
            <a:spAutoFit/>
          </a:bodyPr>
          <a:lstStyle/>
          <a:p>
            <a:pPr algn="ctr"/>
            <a:r>
              <a:rPr kumimoji="1" lang="en-US" altLang="zh-TW" dirty="0"/>
              <a:t>B-Time</a:t>
            </a:r>
            <a:endParaRPr kumimoji="1" lang="zh-TW" altLang="en-US" dirty="0"/>
          </a:p>
        </p:txBody>
      </p:sp>
      <p:sp>
        <p:nvSpPr>
          <p:cNvPr id="10" name="文字方塊 9">
            <a:extLst>
              <a:ext uri="{FF2B5EF4-FFF2-40B4-BE49-F238E27FC236}">
                <a16:creationId xmlns:a16="http://schemas.microsoft.com/office/drawing/2014/main" id="{1FD69A32-5FBB-F018-3A2A-A4EB37A0D5E1}"/>
              </a:ext>
            </a:extLst>
          </p:cNvPr>
          <p:cNvSpPr txBox="1"/>
          <p:nvPr/>
        </p:nvSpPr>
        <p:spPr>
          <a:xfrm>
            <a:off x="4900911" y="2991410"/>
            <a:ext cx="1426128" cy="369332"/>
          </a:xfrm>
          <a:prstGeom prst="rect">
            <a:avLst/>
          </a:prstGeom>
          <a:noFill/>
        </p:spPr>
        <p:txBody>
          <a:bodyPr wrap="square" rtlCol="0">
            <a:spAutoFit/>
          </a:bodyPr>
          <a:lstStyle/>
          <a:p>
            <a:pPr algn="ctr"/>
            <a:r>
              <a:rPr kumimoji="1" lang="en-US" altLang="zh-TW" dirty="0"/>
              <a:t>E-Time</a:t>
            </a:r>
            <a:endParaRPr kumimoji="1" lang="zh-TW" altLang="en-US" dirty="0"/>
          </a:p>
        </p:txBody>
      </p:sp>
      <p:sp>
        <p:nvSpPr>
          <p:cNvPr id="11" name="文字方塊 10">
            <a:extLst>
              <a:ext uri="{FF2B5EF4-FFF2-40B4-BE49-F238E27FC236}">
                <a16:creationId xmlns:a16="http://schemas.microsoft.com/office/drawing/2014/main" id="{315085F0-3A8C-CB1B-395E-DD0E1F3F1736}"/>
              </a:ext>
            </a:extLst>
          </p:cNvPr>
          <p:cNvSpPr txBox="1"/>
          <p:nvPr/>
        </p:nvSpPr>
        <p:spPr>
          <a:xfrm>
            <a:off x="7687454" y="2991410"/>
            <a:ext cx="1426128" cy="369332"/>
          </a:xfrm>
          <a:prstGeom prst="rect">
            <a:avLst/>
          </a:prstGeom>
          <a:noFill/>
        </p:spPr>
        <p:txBody>
          <a:bodyPr wrap="square" rtlCol="0">
            <a:spAutoFit/>
          </a:bodyPr>
          <a:lstStyle/>
          <a:p>
            <a:pPr algn="ctr"/>
            <a:r>
              <a:rPr kumimoji="1" lang="en-US" altLang="zh-TW" dirty="0"/>
              <a:t>B-Disease</a:t>
            </a:r>
            <a:endParaRPr kumimoji="1" lang="zh-TW" altLang="en-US" dirty="0"/>
          </a:p>
        </p:txBody>
      </p:sp>
      <p:cxnSp>
        <p:nvCxnSpPr>
          <p:cNvPr id="13" name="直線箭頭接點 12">
            <a:extLst>
              <a:ext uri="{FF2B5EF4-FFF2-40B4-BE49-F238E27FC236}">
                <a16:creationId xmlns:a16="http://schemas.microsoft.com/office/drawing/2014/main" id="{F9B36E73-428D-8B40-2E62-7064DD01D2B5}"/>
              </a:ext>
            </a:extLst>
          </p:cNvPr>
          <p:cNvCxnSpPr>
            <a:cxnSpLocks/>
          </p:cNvCxnSpPr>
          <p:nvPr/>
        </p:nvCxnSpPr>
        <p:spPr>
          <a:xfrm>
            <a:off x="1784399" y="2117386"/>
            <a:ext cx="0" cy="36895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直線箭頭接點 13">
            <a:extLst>
              <a:ext uri="{FF2B5EF4-FFF2-40B4-BE49-F238E27FC236}">
                <a16:creationId xmlns:a16="http://schemas.microsoft.com/office/drawing/2014/main" id="{F6EFBB7F-0ACB-15A8-56A4-0A42D01F1116}"/>
              </a:ext>
            </a:extLst>
          </p:cNvPr>
          <p:cNvCxnSpPr>
            <a:cxnSpLocks/>
          </p:cNvCxnSpPr>
          <p:nvPr/>
        </p:nvCxnSpPr>
        <p:spPr>
          <a:xfrm>
            <a:off x="2761576" y="2327032"/>
            <a:ext cx="0" cy="19978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直線箭頭接點 15">
            <a:extLst>
              <a:ext uri="{FF2B5EF4-FFF2-40B4-BE49-F238E27FC236}">
                <a16:creationId xmlns:a16="http://schemas.microsoft.com/office/drawing/2014/main" id="{5E1B1ED5-006E-C78E-694C-5472A0474530}"/>
              </a:ext>
            </a:extLst>
          </p:cNvPr>
          <p:cNvCxnSpPr>
            <a:cxnSpLocks/>
          </p:cNvCxnSpPr>
          <p:nvPr/>
        </p:nvCxnSpPr>
        <p:spPr>
          <a:xfrm>
            <a:off x="6803812" y="2117386"/>
            <a:ext cx="0" cy="36895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7" name="直線箭頭接點 16">
            <a:extLst>
              <a:ext uri="{FF2B5EF4-FFF2-40B4-BE49-F238E27FC236}">
                <a16:creationId xmlns:a16="http://schemas.microsoft.com/office/drawing/2014/main" id="{218C4264-ED67-3C65-E78E-FBEDD89E735A}"/>
              </a:ext>
            </a:extLst>
          </p:cNvPr>
          <p:cNvCxnSpPr>
            <a:cxnSpLocks/>
          </p:cNvCxnSpPr>
          <p:nvPr/>
        </p:nvCxnSpPr>
        <p:spPr>
          <a:xfrm>
            <a:off x="2062634" y="3288740"/>
            <a:ext cx="0" cy="19978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直線箭頭接點 17">
            <a:extLst>
              <a:ext uri="{FF2B5EF4-FFF2-40B4-BE49-F238E27FC236}">
                <a16:creationId xmlns:a16="http://schemas.microsoft.com/office/drawing/2014/main" id="{AD576AA7-3822-E976-F431-83D613C76420}"/>
              </a:ext>
            </a:extLst>
          </p:cNvPr>
          <p:cNvCxnSpPr>
            <a:cxnSpLocks/>
          </p:cNvCxnSpPr>
          <p:nvPr/>
        </p:nvCxnSpPr>
        <p:spPr>
          <a:xfrm>
            <a:off x="4027056" y="3288740"/>
            <a:ext cx="0" cy="19978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 name="直線箭頭接點 18">
            <a:extLst>
              <a:ext uri="{FF2B5EF4-FFF2-40B4-BE49-F238E27FC236}">
                <a16:creationId xmlns:a16="http://schemas.microsoft.com/office/drawing/2014/main" id="{AF709E5A-D726-A7F8-1ACE-BE4DE0A99069}"/>
              </a:ext>
            </a:extLst>
          </p:cNvPr>
          <p:cNvCxnSpPr>
            <a:cxnSpLocks/>
          </p:cNvCxnSpPr>
          <p:nvPr/>
        </p:nvCxnSpPr>
        <p:spPr>
          <a:xfrm>
            <a:off x="5601321" y="3288740"/>
            <a:ext cx="0" cy="19978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 name="直線箭頭接點 19">
            <a:extLst>
              <a:ext uri="{FF2B5EF4-FFF2-40B4-BE49-F238E27FC236}">
                <a16:creationId xmlns:a16="http://schemas.microsoft.com/office/drawing/2014/main" id="{22B13CEA-0537-0221-CA05-4FBC01098264}"/>
              </a:ext>
            </a:extLst>
          </p:cNvPr>
          <p:cNvCxnSpPr>
            <a:cxnSpLocks/>
          </p:cNvCxnSpPr>
          <p:nvPr/>
        </p:nvCxnSpPr>
        <p:spPr>
          <a:xfrm>
            <a:off x="8384999" y="3288740"/>
            <a:ext cx="0" cy="19978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1" name="文字方塊 20">
            <a:extLst>
              <a:ext uri="{FF2B5EF4-FFF2-40B4-BE49-F238E27FC236}">
                <a16:creationId xmlns:a16="http://schemas.microsoft.com/office/drawing/2014/main" id="{99D7E774-B071-2E7E-6ED6-A546F144A8D7}"/>
              </a:ext>
            </a:extLst>
          </p:cNvPr>
          <p:cNvSpPr txBox="1"/>
          <p:nvPr/>
        </p:nvSpPr>
        <p:spPr>
          <a:xfrm>
            <a:off x="7544876" y="1748054"/>
            <a:ext cx="1426128" cy="369332"/>
          </a:xfrm>
          <a:prstGeom prst="rect">
            <a:avLst/>
          </a:prstGeom>
          <a:noFill/>
        </p:spPr>
        <p:txBody>
          <a:bodyPr wrap="square" rtlCol="0">
            <a:spAutoFit/>
          </a:bodyPr>
          <a:lstStyle/>
          <a:p>
            <a:pPr algn="ctr"/>
            <a:r>
              <a:rPr kumimoji="1" lang="en-US" altLang="zh-TW" dirty="0"/>
              <a:t>I-Location</a:t>
            </a:r>
            <a:endParaRPr kumimoji="1" lang="zh-TW" altLang="en-US" dirty="0"/>
          </a:p>
        </p:txBody>
      </p:sp>
      <p:cxnSp>
        <p:nvCxnSpPr>
          <p:cNvPr id="22" name="直線箭頭接點 21">
            <a:extLst>
              <a:ext uri="{FF2B5EF4-FFF2-40B4-BE49-F238E27FC236}">
                <a16:creationId xmlns:a16="http://schemas.microsoft.com/office/drawing/2014/main" id="{2F51AAC4-A1FF-DE20-863D-CAD682883666}"/>
              </a:ext>
            </a:extLst>
          </p:cNvPr>
          <p:cNvCxnSpPr>
            <a:cxnSpLocks/>
          </p:cNvCxnSpPr>
          <p:nvPr/>
        </p:nvCxnSpPr>
        <p:spPr>
          <a:xfrm>
            <a:off x="8257940" y="2117386"/>
            <a:ext cx="0" cy="36895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3" name="文字方塊 22">
            <a:extLst>
              <a:ext uri="{FF2B5EF4-FFF2-40B4-BE49-F238E27FC236}">
                <a16:creationId xmlns:a16="http://schemas.microsoft.com/office/drawing/2014/main" id="{6559D461-8D42-DBFD-496C-6A388C9155B1}"/>
              </a:ext>
            </a:extLst>
          </p:cNvPr>
          <p:cNvSpPr txBox="1"/>
          <p:nvPr/>
        </p:nvSpPr>
        <p:spPr>
          <a:xfrm>
            <a:off x="9113582" y="1748054"/>
            <a:ext cx="1426128" cy="369332"/>
          </a:xfrm>
          <a:prstGeom prst="rect">
            <a:avLst/>
          </a:prstGeom>
          <a:noFill/>
        </p:spPr>
        <p:txBody>
          <a:bodyPr wrap="square" rtlCol="0">
            <a:spAutoFit/>
          </a:bodyPr>
          <a:lstStyle/>
          <a:p>
            <a:pPr algn="ctr"/>
            <a:r>
              <a:rPr kumimoji="1" lang="en-US" altLang="zh-TW" dirty="0"/>
              <a:t>I-Location</a:t>
            </a:r>
            <a:endParaRPr kumimoji="1" lang="zh-TW" altLang="en-US" dirty="0"/>
          </a:p>
        </p:txBody>
      </p:sp>
      <p:cxnSp>
        <p:nvCxnSpPr>
          <p:cNvPr id="24" name="直線箭頭接點 23">
            <a:extLst>
              <a:ext uri="{FF2B5EF4-FFF2-40B4-BE49-F238E27FC236}">
                <a16:creationId xmlns:a16="http://schemas.microsoft.com/office/drawing/2014/main" id="{3BD216C6-459B-C6CA-2925-E9586C7D39D1}"/>
              </a:ext>
            </a:extLst>
          </p:cNvPr>
          <p:cNvCxnSpPr>
            <a:cxnSpLocks/>
          </p:cNvCxnSpPr>
          <p:nvPr/>
        </p:nvCxnSpPr>
        <p:spPr>
          <a:xfrm>
            <a:off x="9826646" y="2117386"/>
            <a:ext cx="0" cy="36895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aphicFrame>
        <p:nvGraphicFramePr>
          <p:cNvPr id="25" name="表格 22">
            <a:extLst>
              <a:ext uri="{FF2B5EF4-FFF2-40B4-BE49-F238E27FC236}">
                <a16:creationId xmlns:a16="http://schemas.microsoft.com/office/drawing/2014/main" id="{350917E0-00BD-B61B-59F0-15EB6300A8F4}"/>
              </a:ext>
            </a:extLst>
          </p:cNvPr>
          <p:cNvGraphicFramePr>
            <a:graphicFrameLocks noGrp="1"/>
          </p:cNvGraphicFramePr>
          <p:nvPr/>
        </p:nvGraphicFramePr>
        <p:xfrm>
          <a:off x="8209787" y="4743922"/>
          <a:ext cx="2323472" cy="1854200"/>
        </p:xfrm>
        <a:graphic>
          <a:graphicData uri="http://schemas.openxmlformats.org/drawingml/2006/table">
            <a:tbl>
              <a:tblPr firstRow="1" bandRow="1">
                <a:tableStyleId>{5C22544A-7EE6-4342-B048-85BDC9FD1C3A}</a:tableStyleId>
              </a:tblPr>
              <a:tblGrid>
                <a:gridCol w="726088">
                  <a:extLst>
                    <a:ext uri="{9D8B030D-6E8A-4147-A177-3AD203B41FA5}">
                      <a16:colId xmlns:a16="http://schemas.microsoft.com/office/drawing/2014/main" val="2707557049"/>
                    </a:ext>
                  </a:extLst>
                </a:gridCol>
                <a:gridCol w="1597384">
                  <a:extLst>
                    <a:ext uri="{9D8B030D-6E8A-4147-A177-3AD203B41FA5}">
                      <a16:colId xmlns:a16="http://schemas.microsoft.com/office/drawing/2014/main" val="4182110517"/>
                    </a:ext>
                  </a:extLst>
                </a:gridCol>
              </a:tblGrid>
              <a:tr h="370840">
                <a:tc>
                  <a:txBody>
                    <a:bodyPr/>
                    <a:lstStyle/>
                    <a:p>
                      <a:endParaRPr lang="zh-TW" altLang="en-US"/>
                    </a:p>
                  </a:txBody>
                  <a:tcPr/>
                </a:tc>
                <a:tc>
                  <a:txBody>
                    <a:bodyPr/>
                    <a:lstStyle/>
                    <a:p>
                      <a:r>
                        <a:rPr lang="en-US" altLang="zh-TW" dirty="0"/>
                        <a:t>Meaning</a:t>
                      </a:r>
                      <a:endParaRPr lang="zh-TW" altLang="en-US" dirty="0"/>
                    </a:p>
                  </a:txBody>
                  <a:tcPr/>
                </a:tc>
                <a:extLst>
                  <a:ext uri="{0D108BD9-81ED-4DB2-BD59-A6C34878D82A}">
                    <a16:rowId xmlns:a16="http://schemas.microsoft.com/office/drawing/2014/main" val="3004316906"/>
                  </a:ext>
                </a:extLst>
              </a:tr>
              <a:tr h="370840">
                <a:tc>
                  <a:txBody>
                    <a:bodyPr/>
                    <a:lstStyle/>
                    <a:p>
                      <a:r>
                        <a:rPr lang="en-US" altLang="zh-TW" dirty="0"/>
                        <a:t>B</a:t>
                      </a:r>
                      <a:endParaRPr lang="zh-TW" altLang="en-US" dirty="0"/>
                    </a:p>
                  </a:txBody>
                  <a:tcPr/>
                </a:tc>
                <a:tc>
                  <a:txBody>
                    <a:bodyPr/>
                    <a:lstStyle/>
                    <a:p>
                      <a:r>
                        <a:rPr lang="en-US" altLang="zh-TW" dirty="0"/>
                        <a:t>Beginning</a:t>
                      </a:r>
                      <a:endParaRPr lang="zh-TW" altLang="en-US" dirty="0"/>
                    </a:p>
                  </a:txBody>
                  <a:tcPr/>
                </a:tc>
                <a:extLst>
                  <a:ext uri="{0D108BD9-81ED-4DB2-BD59-A6C34878D82A}">
                    <a16:rowId xmlns:a16="http://schemas.microsoft.com/office/drawing/2014/main" val="3646700824"/>
                  </a:ext>
                </a:extLst>
              </a:tr>
              <a:tr h="370840">
                <a:tc>
                  <a:txBody>
                    <a:bodyPr/>
                    <a:lstStyle/>
                    <a:p>
                      <a:r>
                        <a:rPr lang="en-US" altLang="zh-TW" dirty="0"/>
                        <a:t>I</a:t>
                      </a:r>
                      <a:endParaRPr lang="zh-TW" altLang="en-US" dirty="0"/>
                    </a:p>
                  </a:txBody>
                  <a:tcPr/>
                </a:tc>
                <a:tc>
                  <a:txBody>
                    <a:bodyPr/>
                    <a:lstStyle/>
                    <a:p>
                      <a:r>
                        <a:rPr lang="en-US" altLang="zh-TW" dirty="0"/>
                        <a:t>Inside</a:t>
                      </a:r>
                      <a:endParaRPr lang="zh-TW" altLang="en-US" dirty="0"/>
                    </a:p>
                  </a:txBody>
                  <a:tcPr/>
                </a:tc>
                <a:extLst>
                  <a:ext uri="{0D108BD9-81ED-4DB2-BD59-A6C34878D82A}">
                    <a16:rowId xmlns:a16="http://schemas.microsoft.com/office/drawing/2014/main" val="294631180"/>
                  </a:ext>
                </a:extLst>
              </a:tr>
              <a:tr h="370840">
                <a:tc>
                  <a:txBody>
                    <a:bodyPr/>
                    <a:lstStyle/>
                    <a:p>
                      <a:r>
                        <a:rPr lang="en-US" altLang="zh-TW" dirty="0"/>
                        <a:t>O</a:t>
                      </a:r>
                      <a:endParaRPr lang="zh-TW" altLang="en-US" dirty="0"/>
                    </a:p>
                  </a:txBody>
                  <a:tcPr/>
                </a:tc>
                <a:tc>
                  <a:txBody>
                    <a:bodyPr/>
                    <a:lstStyle/>
                    <a:p>
                      <a:r>
                        <a:rPr lang="en-US" altLang="zh-TW" dirty="0"/>
                        <a:t>Outside</a:t>
                      </a:r>
                      <a:endParaRPr lang="zh-TW" altLang="en-US" dirty="0"/>
                    </a:p>
                  </a:txBody>
                  <a:tcPr/>
                </a:tc>
                <a:extLst>
                  <a:ext uri="{0D108BD9-81ED-4DB2-BD59-A6C34878D82A}">
                    <a16:rowId xmlns:a16="http://schemas.microsoft.com/office/drawing/2014/main" val="1555578801"/>
                  </a:ext>
                </a:extLst>
              </a:tr>
              <a:tr h="370840">
                <a:tc>
                  <a:txBody>
                    <a:bodyPr/>
                    <a:lstStyle/>
                    <a:p>
                      <a:r>
                        <a:rPr lang="en-US" altLang="zh-TW" dirty="0"/>
                        <a:t>E</a:t>
                      </a:r>
                      <a:endParaRPr lang="zh-TW" altLang="en-US" dirty="0"/>
                    </a:p>
                  </a:txBody>
                  <a:tcPr/>
                </a:tc>
                <a:tc>
                  <a:txBody>
                    <a:bodyPr/>
                    <a:lstStyle/>
                    <a:p>
                      <a:r>
                        <a:rPr lang="en-US" altLang="zh-TW" dirty="0"/>
                        <a:t>End</a:t>
                      </a:r>
                      <a:endParaRPr lang="zh-TW" altLang="en-US" dirty="0"/>
                    </a:p>
                  </a:txBody>
                  <a:tcPr/>
                </a:tc>
                <a:extLst>
                  <a:ext uri="{0D108BD9-81ED-4DB2-BD59-A6C34878D82A}">
                    <a16:rowId xmlns:a16="http://schemas.microsoft.com/office/drawing/2014/main" val="613298110"/>
                  </a:ext>
                </a:extLst>
              </a:tr>
            </a:tbl>
          </a:graphicData>
        </a:graphic>
      </p:graphicFrame>
      <p:sp>
        <p:nvSpPr>
          <p:cNvPr id="26" name="文字方塊 25">
            <a:extLst>
              <a:ext uri="{FF2B5EF4-FFF2-40B4-BE49-F238E27FC236}">
                <a16:creationId xmlns:a16="http://schemas.microsoft.com/office/drawing/2014/main" id="{C80D2233-DDAD-B012-32C2-6523585822D6}"/>
              </a:ext>
            </a:extLst>
          </p:cNvPr>
          <p:cNvSpPr txBox="1"/>
          <p:nvPr/>
        </p:nvSpPr>
        <p:spPr>
          <a:xfrm>
            <a:off x="3000473" y="2281458"/>
            <a:ext cx="1426128" cy="369332"/>
          </a:xfrm>
          <a:prstGeom prst="rect">
            <a:avLst/>
          </a:prstGeom>
          <a:noFill/>
        </p:spPr>
        <p:txBody>
          <a:bodyPr wrap="square" rtlCol="0">
            <a:spAutoFit/>
          </a:bodyPr>
          <a:lstStyle/>
          <a:p>
            <a:pPr algn="ctr"/>
            <a:r>
              <a:rPr kumimoji="1" lang="en-US" altLang="zh-TW" b="1" dirty="0">
                <a:solidFill>
                  <a:srgbClr val="FF0000"/>
                </a:solidFill>
              </a:rPr>
              <a:t>O</a:t>
            </a:r>
            <a:endParaRPr kumimoji="1" lang="zh-TW" altLang="en-US" b="1" dirty="0">
              <a:solidFill>
                <a:srgbClr val="FF0000"/>
              </a:solidFill>
            </a:endParaRPr>
          </a:p>
        </p:txBody>
      </p:sp>
      <p:sp>
        <p:nvSpPr>
          <p:cNvPr id="27" name="文字方塊 26">
            <a:extLst>
              <a:ext uri="{FF2B5EF4-FFF2-40B4-BE49-F238E27FC236}">
                <a16:creationId xmlns:a16="http://schemas.microsoft.com/office/drawing/2014/main" id="{CF74A42F-8A8E-D43C-93E5-D16FAA78513F}"/>
              </a:ext>
            </a:extLst>
          </p:cNvPr>
          <p:cNvSpPr txBox="1"/>
          <p:nvPr/>
        </p:nvSpPr>
        <p:spPr>
          <a:xfrm>
            <a:off x="4204532" y="2281458"/>
            <a:ext cx="1426128" cy="369332"/>
          </a:xfrm>
          <a:prstGeom prst="rect">
            <a:avLst/>
          </a:prstGeom>
          <a:noFill/>
        </p:spPr>
        <p:txBody>
          <a:bodyPr wrap="square" rtlCol="0">
            <a:spAutoFit/>
          </a:bodyPr>
          <a:lstStyle/>
          <a:p>
            <a:pPr algn="ctr"/>
            <a:r>
              <a:rPr kumimoji="1" lang="en-US" altLang="zh-TW" b="1" dirty="0">
                <a:solidFill>
                  <a:srgbClr val="FF0000"/>
                </a:solidFill>
              </a:rPr>
              <a:t>O</a:t>
            </a:r>
            <a:endParaRPr kumimoji="1" lang="zh-TW" altLang="en-US" b="1" dirty="0">
              <a:solidFill>
                <a:srgbClr val="FF0000"/>
              </a:solidFill>
            </a:endParaRPr>
          </a:p>
        </p:txBody>
      </p:sp>
      <p:sp>
        <p:nvSpPr>
          <p:cNvPr id="28" name="文字方塊 27">
            <a:extLst>
              <a:ext uri="{FF2B5EF4-FFF2-40B4-BE49-F238E27FC236}">
                <a16:creationId xmlns:a16="http://schemas.microsoft.com/office/drawing/2014/main" id="{19F05630-D17B-0D4D-6EAD-6891470C8578}"/>
              </a:ext>
            </a:extLst>
          </p:cNvPr>
          <p:cNvSpPr txBox="1"/>
          <p:nvPr/>
        </p:nvSpPr>
        <p:spPr>
          <a:xfrm>
            <a:off x="5252334" y="2281458"/>
            <a:ext cx="1426128" cy="369332"/>
          </a:xfrm>
          <a:prstGeom prst="rect">
            <a:avLst/>
          </a:prstGeom>
          <a:noFill/>
        </p:spPr>
        <p:txBody>
          <a:bodyPr wrap="square" rtlCol="0">
            <a:spAutoFit/>
          </a:bodyPr>
          <a:lstStyle/>
          <a:p>
            <a:pPr algn="ctr"/>
            <a:r>
              <a:rPr kumimoji="1" lang="en-US" altLang="zh-TW" b="1" dirty="0">
                <a:solidFill>
                  <a:srgbClr val="FF0000"/>
                </a:solidFill>
              </a:rPr>
              <a:t>O</a:t>
            </a:r>
            <a:endParaRPr kumimoji="1" lang="zh-TW" altLang="en-US" b="1" dirty="0">
              <a:solidFill>
                <a:srgbClr val="FF0000"/>
              </a:solidFill>
            </a:endParaRPr>
          </a:p>
        </p:txBody>
      </p:sp>
      <p:sp>
        <p:nvSpPr>
          <p:cNvPr id="29" name="文字方塊 28">
            <a:extLst>
              <a:ext uri="{FF2B5EF4-FFF2-40B4-BE49-F238E27FC236}">
                <a16:creationId xmlns:a16="http://schemas.microsoft.com/office/drawing/2014/main" id="{A457AA5B-EEA8-23D9-6805-9EBE7594D071}"/>
              </a:ext>
            </a:extLst>
          </p:cNvPr>
          <p:cNvSpPr txBox="1"/>
          <p:nvPr/>
        </p:nvSpPr>
        <p:spPr>
          <a:xfrm>
            <a:off x="2440138" y="2991410"/>
            <a:ext cx="1426128" cy="369332"/>
          </a:xfrm>
          <a:prstGeom prst="rect">
            <a:avLst/>
          </a:prstGeom>
          <a:noFill/>
        </p:spPr>
        <p:txBody>
          <a:bodyPr wrap="square" rtlCol="0">
            <a:spAutoFit/>
          </a:bodyPr>
          <a:lstStyle/>
          <a:p>
            <a:pPr algn="ctr"/>
            <a:r>
              <a:rPr kumimoji="1" lang="en-US" altLang="zh-TW" b="1" dirty="0">
                <a:solidFill>
                  <a:srgbClr val="FF0000"/>
                </a:solidFill>
              </a:rPr>
              <a:t>O</a:t>
            </a:r>
            <a:endParaRPr kumimoji="1" lang="zh-TW" altLang="en-US" b="1" dirty="0">
              <a:solidFill>
                <a:srgbClr val="FF0000"/>
              </a:solidFill>
            </a:endParaRPr>
          </a:p>
        </p:txBody>
      </p:sp>
      <p:sp>
        <p:nvSpPr>
          <p:cNvPr id="30" name="文字方塊 29">
            <a:extLst>
              <a:ext uri="{FF2B5EF4-FFF2-40B4-BE49-F238E27FC236}">
                <a16:creationId xmlns:a16="http://schemas.microsoft.com/office/drawing/2014/main" id="{27687B09-27B1-A394-747D-86C19D8B059E}"/>
              </a:ext>
            </a:extLst>
          </p:cNvPr>
          <p:cNvSpPr txBox="1"/>
          <p:nvPr/>
        </p:nvSpPr>
        <p:spPr>
          <a:xfrm>
            <a:off x="5839089" y="2991410"/>
            <a:ext cx="1426128" cy="369332"/>
          </a:xfrm>
          <a:prstGeom prst="rect">
            <a:avLst/>
          </a:prstGeom>
          <a:noFill/>
        </p:spPr>
        <p:txBody>
          <a:bodyPr wrap="square" rtlCol="0">
            <a:spAutoFit/>
          </a:bodyPr>
          <a:lstStyle/>
          <a:p>
            <a:pPr algn="ctr"/>
            <a:r>
              <a:rPr kumimoji="1" lang="en-US" altLang="zh-TW" b="1" dirty="0">
                <a:solidFill>
                  <a:srgbClr val="FF0000"/>
                </a:solidFill>
              </a:rPr>
              <a:t>O</a:t>
            </a:r>
            <a:endParaRPr kumimoji="1" lang="zh-TW" altLang="en-US" b="1" dirty="0">
              <a:solidFill>
                <a:srgbClr val="FF0000"/>
              </a:solidFill>
            </a:endParaRPr>
          </a:p>
        </p:txBody>
      </p:sp>
      <p:sp>
        <p:nvSpPr>
          <p:cNvPr id="31" name="文字方塊 30">
            <a:extLst>
              <a:ext uri="{FF2B5EF4-FFF2-40B4-BE49-F238E27FC236}">
                <a16:creationId xmlns:a16="http://schemas.microsoft.com/office/drawing/2014/main" id="{739A140F-2702-B76E-F470-4554DB45214A}"/>
              </a:ext>
            </a:extLst>
          </p:cNvPr>
          <p:cNvSpPr txBox="1"/>
          <p:nvPr/>
        </p:nvSpPr>
        <p:spPr>
          <a:xfrm>
            <a:off x="6461124" y="2991410"/>
            <a:ext cx="1426128" cy="369332"/>
          </a:xfrm>
          <a:prstGeom prst="rect">
            <a:avLst/>
          </a:prstGeom>
          <a:noFill/>
        </p:spPr>
        <p:txBody>
          <a:bodyPr wrap="square" rtlCol="0">
            <a:spAutoFit/>
          </a:bodyPr>
          <a:lstStyle/>
          <a:p>
            <a:pPr algn="ctr"/>
            <a:r>
              <a:rPr kumimoji="1" lang="en-US" altLang="zh-TW" b="1" dirty="0">
                <a:solidFill>
                  <a:srgbClr val="FF0000"/>
                </a:solidFill>
              </a:rPr>
              <a:t>O</a:t>
            </a:r>
            <a:endParaRPr kumimoji="1" lang="zh-TW" altLang="en-US" b="1" dirty="0">
              <a:solidFill>
                <a:srgbClr val="FF0000"/>
              </a:solidFill>
            </a:endParaRPr>
          </a:p>
        </p:txBody>
      </p:sp>
    </p:spTree>
    <p:extLst>
      <p:ext uri="{BB962C8B-B14F-4D97-AF65-F5344CB8AC3E}">
        <p14:creationId xmlns:p14="http://schemas.microsoft.com/office/powerpoint/2010/main" val="2027827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p:bldP spid="7" grpId="0"/>
      <p:bldP spid="8" grpId="0"/>
      <p:bldP spid="9" grpId="0"/>
      <p:bldP spid="10" grpId="0"/>
      <p:bldP spid="11" grpId="0"/>
      <p:bldP spid="21" grpId="0"/>
      <p:bldP spid="23" grpId="0"/>
      <p:bldP spid="26" grpId="0"/>
      <p:bldP spid="27" grpId="0"/>
      <p:bldP spid="28" grpId="0"/>
      <p:bldP spid="29" grpId="0"/>
      <p:bldP spid="30" grpId="0"/>
      <p:bldP spid="3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59EE0DD-844C-5133-4614-8EF098CCB3B2}"/>
              </a:ext>
            </a:extLst>
          </p:cNvPr>
          <p:cNvSpPr>
            <a:spLocks noGrp="1"/>
          </p:cNvSpPr>
          <p:nvPr>
            <p:ph type="title"/>
          </p:nvPr>
        </p:nvSpPr>
        <p:spPr/>
        <p:txBody>
          <a:bodyPr>
            <a:normAutofit/>
          </a:bodyPr>
          <a:lstStyle/>
          <a:p>
            <a:r>
              <a:rPr kumimoji="1" lang="en-US" altLang="zh-TW" dirty="0"/>
              <a:t>Fine-tuning BERT (NER)</a:t>
            </a:r>
            <a:endParaRPr kumimoji="1" lang="zh-TW" altLang="en-US" dirty="0"/>
          </a:p>
        </p:txBody>
      </p:sp>
      <p:sp>
        <p:nvSpPr>
          <p:cNvPr id="4" name="投影片編號版面配置區 3">
            <a:extLst>
              <a:ext uri="{FF2B5EF4-FFF2-40B4-BE49-F238E27FC236}">
                <a16:creationId xmlns:a16="http://schemas.microsoft.com/office/drawing/2014/main" id="{934773CF-848D-32CE-534E-CE9240E77E8A}"/>
              </a:ext>
            </a:extLst>
          </p:cNvPr>
          <p:cNvSpPr>
            <a:spLocks noGrp="1"/>
          </p:cNvSpPr>
          <p:nvPr>
            <p:ph type="sldNum" sz="quarter" idx="12"/>
          </p:nvPr>
        </p:nvSpPr>
        <p:spPr/>
        <p:txBody>
          <a:bodyPr/>
          <a:lstStyle/>
          <a:p>
            <a:fld id="{6113E31D-E2AB-40D1-8B51-AFA5AFEF393A}" type="slidenum">
              <a:rPr lang="en-US" smtClean="0"/>
              <a:pPr/>
              <a:t>42</a:t>
            </a:fld>
            <a:endParaRPr lang="en-US" dirty="0"/>
          </a:p>
        </p:txBody>
      </p:sp>
      <p:sp>
        <p:nvSpPr>
          <p:cNvPr id="35" name="Google Shape;187;p17">
            <a:extLst>
              <a:ext uri="{FF2B5EF4-FFF2-40B4-BE49-F238E27FC236}">
                <a16:creationId xmlns:a16="http://schemas.microsoft.com/office/drawing/2014/main" id="{09D41EB1-852F-8713-0139-5E8F4F5E4A17}"/>
              </a:ext>
            </a:extLst>
          </p:cNvPr>
          <p:cNvSpPr/>
          <p:nvPr/>
        </p:nvSpPr>
        <p:spPr>
          <a:xfrm>
            <a:off x="4737187" y="4144508"/>
            <a:ext cx="174300" cy="5247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89;p17">
            <a:extLst>
              <a:ext uri="{FF2B5EF4-FFF2-40B4-BE49-F238E27FC236}">
                <a16:creationId xmlns:a16="http://schemas.microsoft.com/office/drawing/2014/main" id="{12480676-68AE-6B3D-7ECF-CB3E96577FFD}"/>
              </a:ext>
            </a:extLst>
          </p:cNvPr>
          <p:cNvSpPr/>
          <p:nvPr/>
        </p:nvSpPr>
        <p:spPr>
          <a:xfrm>
            <a:off x="6866892" y="4144508"/>
            <a:ext cx="174300" cy="5247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8" name="Google Shape;192;p17">
            <a:extLst>
              <a:ext uri="{FF2B5EF4-FFF2-40B4-BE49-F238E27FC236}">
                <a16:creationId xmlns:a16="http://schemas.microsoft.com/office/drawing/2014/main" id="{F32FBBD9-7296-49B1-D22E-A1850F174ACB}"/>
              </a:ext>
            </a:extLst>
          </p:cNvPr>
          <p:cNvCxnSpPr>
            <a:cxnSpLocks/>
          </p:cNvCxnSpPr>
          <p:nvPr/>
        </p:nvCxnSpPr>
        <p:spPr>
          <a:xfrm rot="10800000">
            <a:off x="4114254" y="5869151"/>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39" name="Google Shape;193;p17">
            <a:extLst>
              <a:ext uri="{FF2B5EF4-FFF2-40B4-BE49-F238E27FC236}">
                <a16:creationId xmlns:a16="http://schemas.microsoft.com/office/drawing/2014/main" id="{E0BD1B6E-1D6F-8EBE-43AB-79A4E248A21E}"/>
              </a:ext>
            </a:extLst>
          </p:cNvPr>
          <p:cNvCxnSpPr>
            <a:cxnSpLocks/>
          </p:cNvCxnSpPr>
          <p:nvPr/>
        </p:nvCxnSpPr>
        <p:spPr>
          <a:xfrm rot="10800000">
            <a:off x="5534424" y="5869151"/>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40" name="Google Shape;194;p17">
            <a:extLst>
              <a:ext uri="{FF2B5EF4-FFF2-40B4-BE49-F238E27FC236}">
                <a16:creationId xmlns:a16="http://schemas.microsoft.com/office/drawing/2014/main" id="{C30296A4-649A-C84A-E5E8-4B7BD588D776}"/>
              </a:ext>
            </a:extLst>
          </p:cNvPr>
          <p:cNvCxnSpPr>
            <a:cxnSpLocks/>
          </p:cNvCxnSpPr>
          <p:nvPr/>
        </p:nvCxnSpPr>
        <p:spPr>
          <a:xfrm rot="10800000">
            <a:off x="6244509" y="5869151"/>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41" name="Google Shape;195;p17">
            <a:extLst>
              <a:ext uri="{FF2B5EF4-FFF2-40B4-BE49-F238E27FC236}">
                <a16:creationId xmlns:a16="http://schemas.microsoft.com/office/drawing/2014/main" id="{0DB1B4D5-2F7A-3679-6BD3-8F5CB3B62A18}"/>
              </a:ext>
            </a:extLst>
          </p:cNvPr>
          <p:cNvCxnSpPr>
            <a:cxnSpLocks/>
          </p:cNvCxnSpPr>
          <p:nvPr/>
        </p:nvCxnSpPr>
        <p:spPr>
          <a:xfrm rot="10800000">
            <a:off x="6954592" y="5869151"/>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44" name="Google Shape;195;p17">
            <a:extLst>
              <a:ext uri="{FF2B5EF4-FFF2-40B4-BE49-F238E27FC236}">
                <a16:creationId xmlns:a16="http://schemas.microsoft.com/office/drawing/2014/main" id="{CD0EABFA-25A2-D08B-DF4B-C5C3B9A3497E}"/>
              </a:ext>
            </a:extLst>
          </p:cNvPr>
          <p:cNvCxnSpPr>
            <a:cxnSpLocks/>
          </p:cNvCxnSpPr>
          <p:nvPr/>
        </p:nvCxnSpPr>
        <p:spPr>
          <a:xfrm rot="10800000">
            <a:off x="4824339" y="5869151"/>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46" name="Google Shape;193;p17">
            <a:extLst>
              <a:ext uri="{FF2B5EF4-FFF2-40B4-BE49-F238E27FC236}">
                <a16:creationId xmlns:a16="http://schemas.microsoft.com/office/drawing/2014/main" id="{429DAFA0-BA12-D17A-0602-8C4C60B95E3B}"/>
              </a:ext>
            </a:extLst>
          </p:cNvPr>
          <p:cNvCxnSpPr>
            <a:cxnSpLocks/>
          </p:cNvCxnSpPr>
          <p:nvPr/>
        </p:nvCxnSpPr>
        <p:spPr>
          <a:xfrm rot="10800000">
            <a:off x="5534422" y="4772890"/>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47" name="Google Shape;194;p17">
            <a:extLst>
              <a:ext uri="{FF2B5EF4-FFF2-40B4-BE49-F238E27FC236}">
                <a16:creationId xmlns:a16="http://schemas.microsoft.com/office/drawing/2014/main" id="{9A06C193-7360-5390-802A-0BE80ECF257D}"/>
              </a:ext>
            </a:extLst>
          </p:cNvPr>
          <p:cNvCxnSpPr>
            <a:cxnSpLocks/>
          </p:cNvCxnSpPr>
          <p:nvPr/>
        </p:nvCxnSpPr>
        <p:spPr>
          <a:xfrm rot="10800000">
            <a:off x="6244506" y="4772890"/>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48" name="Google Shape;195;p17">
            <a:extLst>
              <a:ext uri="{FF2B5EF4-FFF2-40B4-BE49-F238E27FC236}">
                <a16:creationId xmlns:a16="http://schemas.microsoft.com/office/drawing/2014/main" id="{BFB10B3F-3A16-D30C-69AB-566B045522A8}"/>
              </a:ext>
            </a:extLst>
          </p:cNvPr>
          <p:cNvCxnSpPr>
            <a:cxnSpLocks/>
          </p:cNvCxnSpPr>
          <p:nvPr/>
        </p:nvCxnSpPr>
        <p:spPr>
          <a:xfrm rot="10800000">
            <a:off x="6954592" y="4772890"/>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49" name="Google Shape;195;p17">
            <a:extLst>
              <a:ext uri="{FF2B5EF4-FFF2-40B4-BE49-F238E27FC236}">
                <a16:creationId xmlns:a16="http://schemas.microsoft.com/office/drawing/2014/main" id="{FF6AA75F-13B5-7F4F-D432-776A72AB9F78}"/>
              </a:ext>
            </a:extLst>
          </p:cNvPr>
          <p:cNvCxnSpPr>
            <a:cxnSpLocks/>
          </p:cNvCxnSpPr>
          <p:nvPr/>
        </p:nvCxnSpPr>
        <p:spPr>
          <a:xfrm rot="10800000">
            <a:off x="4824338" y="4772890"/>
            <a:ext cx="0" cy="189000"/>
          </a:xfrm>
          <a:prstGeom prst="straightConnector1">
            <a:avLst/>
          </a:prstGeom>
          <a:noFill/>
          <a:ln w="9525" cap="flat" cmpd="sng">
            <a:solidFill>
              <a:schemeClr val="dk2"/>
            </a:solidFill>
            <a:prstDash val="solid"/>
            <a:round/>
            <a:headEnd type="none" w="med" len="med"/>
            <a:tailEnd type="triangle" w="med" len="med"/>
          </a:ln>
        </p:spPr>
      </p:cxnSp>
      <p:sp>
        <p:nvSpPr>
          <p:cNvPr id="50" name="Google Shape;187;p17">
            <a:extLst>
              <a:ext uri="{FF2B5EF4-FFF2-40B4-BE49-F238E27FC236}">
                <a16:creationId xmlns:a16="http://schemas.microsoft.com/office/drawing/2014/main" id="{AF97697A-66F7-AB90-4F56-469AD93E4597}"/>
              </a:ext>
            </a:extLst>
          </p:cNvPr>
          <p:cNvSpPr/>
          <p:nvPr/>
        </p:nvSpPr>
        <p:spPr>
          <a:xfrm>
            <a:off x="5449197" y="4144508"/>
            <a:ext cx="174300" cy="5247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87;p17">
            <a:extLst>
              <a:ext uri="{FF2B5EF4-FFF2-40B4-BE49-F238E27FC236}">
                <a16:creationId xmlns:a16="http://schemas.microsoft.com/office/drawing/2014/main" id="{2785C96F-7F22-3178-0835-66CB69143155}"/>
              </a:ext>
            </a:extLst>
          </p:cNvPr>
          <p:cNvSpPr/>
          <p:nvPr/>
        </p:nvSpPr>
        <p:spPr>
          <a:xfrm>
            <a:off x="6147847" y="4144508"/>
            <a:ext cx="174300" cy="5247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文字方塊 51">
            <a:extLst>
              <a:ext uri="{FF2B5EF4-FFF2-40B4-BE49-F238E27FC236}">
                <a16:creationId xmlns:a16="http://schemas.microsoft.com/office/drawing/2014/main" id="{A6DB86FC-A5EC-B1DB-2537-C1EE52CCA19E}"/>
              </a:ext>
            </a:extLst>
          </p:cNvPr>
          <p:cNvSpPr txBox="1"/>
          <p:nvPr/>
        </p:nvSpPr>
        <p:spPr>
          <a:xfrm>
            <a:off x="3647041" y="6077006"/>
            <a:ext cx="934427" cy="338554"/>
          </a:xfrm>
          <a:prstGeom prst="rect">
            <a:avLst/>
          </a:prstGeom>
          <a:noFill/>
        </p:spPr>
        <p:txBody>
          <a:bodyPr wrap="square" rtlCol="0">
            <a:spAutoFit/>
          </a:bodyPr>
          <a:lstStyle/>
          <a:p>
            <a:pPr algn="ctr"/>
            <a:r>
              <a:rPr kumimoji="1" lang="en-US" altLang="zh-TW" sz="1600" dirty="0"/>
              <a:t>[CLS]</a:t>
            </a:r>
            <a:endParaRPr kumimoji="1" lang="zh-TW" altLang="en-US" sz="1600" dirty="0"/>
          </a:p>
        </p:txBody>
      </p:sp>
      <p:sp>
        <p:nvSpPr>
          <p:cNvPr id="53" name="文字方塊 52">
            <a:extLst>
              <a:ext uri="{FF2B5EF4-FFF2-40B4-BE49-F238E27FC236}">
                <a16:creationId xmlns:a16="http://schemas.microsoft.com/office/drawing/2014/main" id="{ADC1A649-B45D-AC0A-A5D0-F868F398A78B}"/>
              </a:ext>
            </a:extLst>
          </p:cNvPr>
          <p:cNvSpPr txBox="1"/>
          <p:nvPr/>
        </p:nvSpPr>
        <p:spPr>
          <a:xfrm>
            <a:off x="4357125" y="6077006"/>
            <a:ext cx="934427" cy="338554"/>
          </a:xfrm>
          <a:prstGeom prst="rect">
            <a:avLst/>
          </a:prstGeom>
          <a:noFill/>
        </p:spPr>
        <p:txBody>
          <a:bodyPr wrap="square" rtlCol="0">
            <a:spAutoFit/>
          </a:bodyPr>
          <a:lstStyle/>
          <a:p>
            <a:pPr algn="ctr"/>
            <a:r>
              <a:rPr kumimoji="1" lang="en-US" altLang="zh-TW" sz="1600" dirty="0"/>
              <a:t>open</a:t>
            </a:r>
            <a:endParaRPr kumimoji="1" lang="zh-TW" altLang="en-US" sz="1600" dirty="0"/>
          </a:p>
        </p:txBody>
      </p:sp>
      <p:sp>
        <p:nvSpPr>
          <p:cNvPr id="54" name="文字方塊 53">
            <a:extLst>
              <a:ext uri="{FF2B5EF4-FFF2-40B4-BE49-F238E27FC236}">
                <a16:creationId xmlns:a16="http://schemas.microsoft.com/office/drawing/2014/main" id="{A1F839CC-9C63-A267-E870-82A8971F1954}"/>
              </a:ext>
            </a:extLst>
          </p:cNvPr>
          <p:cNvSpPr txBox="1"/>
          <p:nvPr/>
        </p:nvSpPr>
        <p:spPr>
          <a:xfrm>
            <a:off x="5066484" y="6077006"/>
            <a:ext cx="934427" cy="338554"/>
          </a:xfrm>
          <a:prstGeom prst="rect">
            <a:avLst/>
          </a:prstGeom>
          <a:noFill/>
        </p:spPr>
        <p:txBody>
          <a:bodyPr wrap="square" rtlCol="0">
            <a:spAutoFit/>
          </a:bodyPr>
          <a:lstStyle/>
          <a:p>
            <a:pPr algn="ctr"/>
            <a:r>
              <a:rPr kumimoji="1" lang="en-US" altLang="zh-TW" sz="1600" dirty="0"/>
              <a:t>a</a:t>
            </a:r>
            <a:endParaRPr kumimoji="1" lang="zh-TW" altLang="en-US" sz="1600" dirty="0"/>
          </a:p>
        </p:txBody>
      </p:sp>
      <p:sp>
        <p:nvSpPr>
          <p:cNvPr id="55" name="文字方塊 54">
            <a:extLst>
              <a:ext uri="{FF2B5EF4-FFF2-40B4-BE49-F238E27FC236}">
                <a16:creationId xmlns:a16="http://schemas.microsoft.com/office/drawing/2014/main" id="{3C8F492C-DAF2-A339-55FA-6A0EB71CC225}"/>
              </a:ext>
            </a:extLst>
          </p:cNvPr>
          <p:cNvSpPr txBox="1"/>
          <p:nvPr/>
        </p:nvSpPr>
        <p:spPr>
          <a:xfrm>
            <a:off x="6280708" y="6077006"/>
            <a:ext cx="1333317" cy="338554"/>
          </a:xfrm>
          <a:prstGeom prst="rect">
            <a:avLst/>
          </a:prstGeom>
          <a:noFill/>
        </p:spPr>
        <p:txBody>
          <a:bodyPr wrap="square" rtlCol="0">
            <a:spAutoFit/>
          </a:bodyPr>
          <a:lstStyle/>
          <a:p>
            <a:pPr algn="ctr"/>
            <a:r>
              <a:rPr kumimoji="1" lang="en-US" altLang="zh-TW" sz="1600" dirty="0"/>
              <a:t>account</a:t>
            </a:r>
            <a:endParaRPr kumimoji="1" lang="zh-TW" altLang="en-US" sz="1600" dirty="0"/>
          </a:p>
        </p:txBody>
      </p:sp>
      <p:sp>
        <p:nvSpPr>
          <p:cNvPr id="57" name="Google Shape;204;p17">
            <a:extLst>
              <a:ext uri="{FF2B5EF4-FFF2-40B4-BE49-F238E27FC236}">
                <a16:creationId xmlns:a16="http://schemas.microsoft.com/office/drawing/2014/main" id="{D1672416-0366-0B51-5856-72DC261B9C65}"/>
              </a:ext>
            </a:extLst>
          </p:cNvPr>
          <p:cNvSpPr/>
          <p:nvPr/>
        </p:nvSpPr>
        <p:spPr>
          <a:xfrm>
            <a:off x="3528318" y="5041460"/>
            <a:ext cx="4563514" cy="774600"/>
          </a:xfrm>
          <a:prstGeom prst="rect">
            <a:avLst/>
          </a:prstGeom>
          <a:noFill/>
          <a:ln w="19050"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zh-TW" dirty="0"/>
              <a:t>BERT</a:t>
            </a:r>
            <a:endParaRPr dirty="0"/>
          </a:p>
          <a:p>
            <a:pPr marL="0" lvl="0" indent="0" algn="ctr" rtl="0">
              <a:spcBef>
                <a:spcPts val="0"/>
              </a:spcBef>
              <a:spcAft>
                <a:spcPts val="0"/>
              </a:spcAft>
              <a:buNone/>
            </a:pPr>
            <a:r>
              <a:rPr lang="zh-TW" dirty="0"/>
              <a:t>(</a:t>
            </a:r>
            <a:r>
              <a:rPr lang="en-US" altLang="zh-TW" b="1" dirty="0">
                <a:solidFill>
                  <a:srgbClr val="4A86E8"/>
                </a:solidFill>
              </a:rPr>
              <a:t>C</a:t>
            </a:r>
            <a:r>
              <a:rPr lang="zh-TW" b="1" dirty="0">
                <a:solidFill>
                  <a:srgbClr val="4A86E8"/>
                </a:solidFill>
              </a:rPr>
              <a:t>ontex</a:t>
            </a:r>
            <a:r>
              <a:rPr lang="en-US" altLang="zh-TW" b="1" dirty="0">
                <a:solidFill>
                  <a:srgbClr val="4A86E8"/>
                </a:solidFill>
              </a:rPr>
              <a:t>t</a:t>
            </a:r>
            <a:r>
              <a:rPr lang="zh-TW" b="1" dirty="0">
                <a:solidFill>
                  <a:srgbClr val="4A86E8"/>
                </a:solidFill>
              </a:rPr>
              <a:t>ual </a:t>
            </a:r>
            <a:r>
              <a:rPr lang="en-US" altLang="zh-TW" b="1" dirty="0">
                <a:solidFill>
                  <a:srgbClr val="4A86E8"/>
                </a:solidFill>
              </a:rPr>
              <a:t>E</a:t>
            </a:r>
            <a:r>
              <a:rPr lang="zh-TW" b="1" dirty="0">
                <a:solidFill>
                  <a:srgbClr val="4A86E8"/>
                </a:solidFill>
              </a:rPr>
              <a:t>mbedding</a:t>
            </a:r>
            <a:r>
              <a:rPr lang="zh-TW" dirty="0"/>
              <a:t>)</a:t>
            </a:r>
            <a:endParaRPr dirty="0"/>
          </a:p>
        </p:txBody>
      </p:sp>
      <p:sp>
        <p:nvSpPr>
          <p:cNvPr id="58" name="Google Shape;189;p17">
            <a:extLst>
              <a:ext uri="{FF2B5EF4-FFF2-40B4-BE49-F238E27FC236}">
                <a16:creationId xmlns:a16="http://schemas.microsoft.com/office/drawing/2014/main" id="{633B273F-464A-3C2E-235C-3B39C1EF76DA}"/>
              </a:ext>
            </a:extLst>
          </p:cNvPr>
          <p:cNvSpPr/>
          <p:nvPr/>
        </p:nvSpPr>
        <p:spPr>
          <a:xfrm>
            <a:off x="7566515" y="4142720"/>
            <a:ext cx="174300" cy="5247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9" name="Google Shape;195;p17">
            <a:extLst>
              <a:ext uri="{FF2B5EF4-FFF2-40B4-BE49-F238E27FC236}">
                <a16:creationId xmlns:a16="http://schemas.microsoft.com/office/drawing/2014/main" id="{E725DDB6-B48D-08EF-AC87-BAF1FA1E3D6B}"/>
              </a:ext>
            </a:extLst>
          </p:cNvPr>
          <p:cNvCxnSpPr>
            <a:cxnSpLocks/>
          </p:cNvCxnSpPr>
          <p:nvPr/>
        </p:nvCxnSpPr>
        <p:spPr>
          <a:xfrm rot="10800000">
            <a:off x="7654215" y="4771102"/>
            <a:ext cx="0" cy="189000"/>
          </a:xfrm>
          <a:prstGeom prst="straightConnector1">
            <a:avLst/>
          </a:prstGeom>
          <a:noFill/>
          <a:ln w="9525" cap="flat" cmpd="sng">
            <a:solidFill>
              <a:schemeClr val="dk2"/>
            </a:solidFill>
            <a:prstDash val="solid"/>
            <a:round/>
            <a:headEnd type="none" w="med" len="med"/>
            <a:tailEnd type="triangle" w="med" len="med"/>
          </a:ln>
        </p:spPr>
      </p:cxnSp>
      <p:cxnSp>
        <p:nvCxnSpPr>
          <p:cNvPr id="60" name="Google Shape;194;p17">
            <a:extLst>
              <a:ext uri="{FF2B5EF4-FFF2-40B4-BE49-F238E27FC236}">
                <a16:creationId xmlns:a16="http://schemas.microsoft.com/office/drawing/2014/main" id="{59C11097-65E7-8C7B-FCC2-41EB6B4F8724}"/>
              </a:ext>
            </a:extLst>
          </p:cNvPr>
          <p:cNvCxnSpPr>
            <a:cxnSpLocks/>
          </p:cNvCxnSpPr>
          <p:nvPr/>
        </p:nvCxnSpPr>
        <p:spPr>
          <a:xfrm rot="10800000">
            <a:off x="7632378" y="5869151"/>
            <a:ext cx="0" cy="189000"/>
          </a:xfrm>
          <a:prstGeom prst="straightConnector1">
            <a:avLst/>
          </a:prstGeom>
          <a:noFill/>
          <a:ln w="9525" cap="flat" cmpd="sng">
            <a:solidFill>
              <a:schemeClr val="dk2"/>
            </a:solidFill>
            <a:prstDash val="solid"/>
            <a:round/>
            <a:headEnd type="none" w="med" len="med"/>
            <a:tailEnd type="triangle" w="med" len="med"/>
          </a:ln>
        </p:spPr>
      </p:cxnSp>
      <p:sp>
        <p:nvSpPr>
          <p:cNvPr id="61" name="文字方塊 60">
            <a:extLst>
              <a:ext uri="{FF2B5EF4-FFF2-40B4-BE49-F238E27FC236}">
                <a16:creationId xmlns:a16="http://schemas.microsoft.com/office/drawing/2014/main" id="{82C5B799-8C35-F437-7D65-2D64A1A7B31D}"/>
              </a:ext>
            </a:extLst>
          </p:cNvPr>
          <p:cNvSpPr txBox="1"/>
          <p:nvPr/>
        </p:nvSpPr>
        <p:spPr>
          <a:xfrm>
            <a:off x="7169853" y="6077006"/>
            <a:ext cx="934427" cy="338554"/>
          </a:xfrm>
          <a:prstGeom prst="rect">
            <a:avLst/>
          </a:prstGeom>
          <a:noFill/>
        </p:spPr>
        <p:txBody>
          <a:bodyPr wrap="square" rtlCol="0">
            <a:spAutoFit/>
          </a:bodyPr>
          <a:lstStyle/>
          <a:p>
            <a:pPr algn="ctr"/>
            <a:r>
              <a:rPr kumimoji="1" lang="en-US" altLang="zh-TW" sz="1600" dirty="0"/>
              <a:t>[SEP]</a:t>
            </a:r>
            <a:endParaRPr kumimoji="1" lang="zh-TW" altLang="en-US" sz="1600" dirty="0"/>
          </a:p>
        </p:txBody>
      </p:sp>
      <p:sp>
        <p:nvSpPr>
          <p:cNvPr id="64" name="文字方塊 63">
            <a:extLst>
              <a:ext uri="{FF2B5EF4-FFF2-40B4-BE49-F238E27FC236}">
                <a16:creationId xmlns:a16="http://schemas.microsoft.com/office/drawing/2014/main" id="{169DF41C-F25D-A967-2379-04100B8C2EF2}"/>
              </a:ext>
            </a:extLst>
          </p:cNvPr>
          <p:cNvSpPr txBox="1"/>
          <p:nvPr/>
        </p:nvSpPr>
        <p:spPr>
          <a:xfrm>
            <a:off x="5583303" y="6077006"/>
            <a:ext cx="1333317" cy="338554"/>
          </a:xfrm>
          <a:prstGeom prst="rect">
            <a:avLst/>
          </a:prstGeom>
          <a:noFill/>
        </p:spPr>
        <p:txBody>
          <a:bodyPr wrap="square" rtlCol="0">
            <a:spAutoFit/>
          </a:bodyPr>
          <a:lstStyle/>
          <a:p>
            <a:pPr algn="ctr"/>
            <a:r>
              <a:rPr kumimoji="1" lang="en-US" altLang="zh-TW" sz="1600" dirty="0"/>
              <a:t>POST</a:t>
            </a:r>
            <a:endParaRPr kumimoji="1" lang="zh-TW" altLang="en-US" sz="1600" dirty="0"/>
          </a:p>
        </p:txBody>
      </p:sp>
      <p:sp>
        <p:nvSpPr>
          <p:cNvPr id="69" name="Google Shape;200;p17">
            <a:extLst>
              <a:ext uri="{FF2B5EF4-FFF2-40B4-BE49-F238E27FC236}">
                <a16:creationId xmlns:a16="http://schemas.microsoft.com/office/drawing/2014/main" id="{987868F2-956F-56F0-57BE-913B35BE5586}"/>
              </a:ext>
            </a:extLst>
          </p:cNvPr>
          <p:cNvSpPr txBox="1"/>
          <p:nvPr/>
        </p:nvSpPr>
        <p:spPr>
          <a:xfrm>
            <a:off x="4441213" y="2240512"/>
            <a:ext cx="754871" cy="430857"/>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600" dirty="0">
                <a:solidFill>
                  <a:srgbClr val="FF0000"/>
                </a:solidFill>
                <a:latin typeface="Roboto"/>
                <a:ea typeface="Roboto"/>
                <a:cs typeface="Roboto"/>
                <a:sym typeface="Roboto"/>
              </a:rPr>
              <a:t>O</a:t>
            </a:r>
            <a:endParaRPr sz="1600" dirty="0">
              <a:solidFill>
                <a:srgbClr val="FF0000"/>
              </a:solidFill>
              <a:latin typeface="Roboto"/>
              <a:ea typeface="Roboto"/>
              <a:cs typeface="Roboto"/>
              <a:sym typeface="Roboto"/>
            </a:endParaRPr>
          </a:p>
        </p:txBody>
      </p:sp>
      <p:cxnSp>
        <p:nvCxnSpPr>
          <p:cNvPr id="70" name="Google Shape;218;p17">
            <a:extLst>
              <a:ext uri="{FF2B5EF4-FFF2-40B4-BE49-F238E27FC236}">
                <a16:creationId xmlns:a16="http://schemas.microsoft.com/office/drawing/2014/main" id="{223A7C40-5220-CBF6-1696-A4921463B695}"/>
              </a:ext>
            </a:extLst>
          </p:cNvPr>
          <p:cNvCxnSpPr>
            <a:cxnSpLocks/>
          </p:cNvCxnSpPr>
          <p:nvPr/>
        </p:nvCxnSpPr>
        <p:spPr>
          <a:xfrm flipV="1">
            <a:off x="4818964" y="3835147"/>
            <a:ext cx="0" cy="263062"/>
          </a:xfrm>
          <a:prstGeom prst="straightConnector1">
            <a:avLst/>
          </a:prstGeom>
          <a:noFill/>
          <a:ln w="9525" cap="flat" cmpd="sng">
            <a:solidFill>
              <a:schemeClr val="dk2"/>
            </a:solidFill>
            <a:prstDash val="solid"/>
            <a:round/>
            <a:headEnd type="none" w="med" len="med"/>
            <a:tailEnd type="triangle" w="med" len="med"/>
          </a:ln>
        </p:spPr>
      </p:cxnSp>
      <p:sp>
        <p:nvSpPr>
          <p:cNvPr id="71" name="Google Shape;204;p17">
            <a:extLst>
              <a:ext uri="{FF2B5EF4-FFF2-40B4-BE49-F238E27FC236}">
                <a16:creationId xmlns:a16="http://schemas.microsoft.com/office/drawing/2014/main" id="{8DE4C16F-2F1F-DE37-F21B-205AC342F7CA}"/>
              </a:ext>
            </a:extLst>
          </p:cNvPr>
          <p:cNvSpPr/>
          <p:nvPr/>
        </p:nvSpPr>
        <p:spPr>
          <a:xfrm rot="16200000">
            <a:off x="4401219" y="3210461"/>
            <a:ext cx="835492" cy="324643"/>
          </a:xfrm>
          <a:prstGeom prst="rect">
            <a:avLst/>
          </a:prstGeom>
          <a:noFill/>
          <a:ln w="19050" cap="flat" cmpd="sng">
            <a:solidFill>
              <a:srgbClr val="00B05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TW" dirty="0"/>
              <a:t>Linear</a:t>
            </a:r>
            <a:endParaRPr dirty="0"/>
          </a:p>
        </p:txBody>
      </p:sp>
      <p:cxnSp>
        <p:nvCxnSpPr>
          <p:cNvPr id="72" name="Google Shape;218;p17">
            <a:extLst>
              <a:ext uri="{FF2B5EF4-FFF2-40B4-BE49-F238E27FC236}">
                <a16:creationId xmlns:a16="http://schemas.microsoft.com/office/drawing/2014/main" id="{87CFCF9C-9A15-D312-6058-F90C794E1A5C}"/>
              </a:ext>
            </a:extLst>
          </p:cNvPr>
          <p:cNvCxnSpPr>
            <a:cxnSpLocks/>
          </p:cNvCxnSpPr>
          <p:nvPr/>
        </p:nvCxnSpPr>
        <p:spPr>
          <a:xfrm flipV="1">
            <a:off x="4826244" y="2629215"/>
            <a:ext cx="0" cy="263062"/>
          </a:xfrm>
          <a:prstGeom prst="straightConnector1">
            <a:avLst/>
          </a:prstGeom>
          <a:noFill/>
          <a:ln w="9525" cap="flat" cmpd="sng">
            <a:solidFill>
              <a:schemeClr val="dk2"/>
            </a:solidFill>
            <a:prstDash val="solid"/>
            <a:round/>
            <a:headEnd type="none" w="med" len="med"/>
            <a:tailEnd type="triangle" w="med" len="med"/>
          </a:ln>
        </p:spPr>
      </p:cxnSp>
      <p:sp>
        <p:nvSpPr>
          <p:cNvPr id="76" name="Google Shape;200;p17">
            <a:extLst>
              <a:ext uri="{FF2B5EF4-FFF2-40B4-BE49-F238E27FC236}">
                <a16:creationId xmlns:a16="http://schemas.microsoft.com/office/drawing/2014/main" id="{F9DA2BB2-45F3-2028-FF7E-64326B3C46A0}"/>
              </a:ext>
            </a:extLst>
          </p:cNvPr>
          <p:cNvSpPr txBox="1"/>
          <p:nvPr/>
        </p:nvSpPr>
        <p:spPr>
          <a:xfrm>
            <a:off x="5155340" y="2240512"/>
            <a:ext cx="754871" cy="430857"/>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600" dirty="0">
                <a:solidFill>
                  <a:srgbClr val="FF0000"/>
                </a:solidFill>
                <a:latin typeface="Roboto"/>
                <a:ea typeface="Roboto"/>
                <a:cs typeface="Roboto"/>
                <a:sym typeface="Roboto"/>
              </a:rPr>
              <a:t>O</a:t>
            </a:r>
            <a:endParaRPr sz="1600" dirty="0">
              <a:solidFill>
                <a:srgbClr val="FF0000"/>
              </a:solidFill>
              <a:latin typeface="Roboto"/>
              <a:ea typeface="Roboto"/>
              <a:cs typeface="Roboto"/>
              <a:sym typeface="Roboto"/>
            </a:endParaRPr>
          </a:p>
        </p:txBody>
      </p:sp>
      <p:cxnSp>
        <p:nvCxnSpPr>
          <p:cNvPr id="77" name="Google Shape;218;p17">
            <a:extLst>
              <a:ext uri="{FF2B5EF4-FFF2-40B4-BE49-F238E27FC236}">
                <a16:creationId xmlns:a16="http://schemas.microsoft.com/office/drawing/2014/main" id="{4FF313B2-D8F0-6891-4723-BE0008B4A0DD}"/>
              </a:ext>
            </a:extLst>
          </p:cNvPr>
          <p:cNvCxnSpPr>
            <a:cxnSpLocks/>
          </p:cNvCxnSpPr>
          <p:nvPr/>
        </p:nvCxnSpPr>
        <p:spPr>
          <a:xfrm flipV="1">
            <a:off x="5533091" y="3835147"/>
            <a:ext cx="0" cy="263062"/>
          </a:xfrm>
          <a:prstGeom prst="straightConnector1">
            <a:avLst/>
          </a:prstGeom>
          <a:noFill/>
          <a:ln w="9525" cap="flat" cmpd="sng">
            <a:solidFill>
              <a:schemeClr val="dk2"/>
            </a:solidFill>
            <a:prstDash val="solid"/>
            <a:round/>
            <a:headEnd type="none" w="med" len="med"/>
            <a:tailEnd type="triangle" w="med" len="med"/>
          </a:ln>
        </p:spPr>
      </p:cxnSp>
      <p:sp>
        <p:nvSpPr>
          <p:cNvPr id="78" name="Google Shape;204;p17">
            <a:extLst>
              <a:ext uri="{FF2B5EF4-FFF2-40B4-BE49-F238E27FC236}">
                <a16:creationId xmlns:a16="http://schemas.microsoft.com/office/drawing/2014/main" id="{82F6936F-A737-1CBB-5F7A-AFC594365D41}"/>
              </a:ext>
            </a:extLst>
          </p:cNvPr>
          <p:cNvSpPr/>
          <p:nvPr/>
        </p:nvSpPr>
        <p:spPr>
          <a:xfrm rot="16200000">
            <a:off x="5115346" y="3210461"/>
            <a:ext cx="835492" cy="324643"/>
          </a:xfrm>
          <a:prstGeom prst="rect">
            <a:avLst/>
          </a:prstGeom>
          <a:noFill/>
          <a:ln w="19050" cap="flat" cmpd="sng">
            <a:solidFill>
              <a:srgbClr val="00B05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TW" dirty="0"/>
              <a:t>Linear</a:t>
            </a:r>
            <a:endParaRPr dirty="0"/>
          </a:p>
        </p:txBody>
      </p:sp>
      <p:cxnSp>
        <p:nvCxnSpPr>
          <p:cNvPr id="79" name="Google Shape;218;p17">
            <a:extLst>
              <a:ext uri="{FF2B5EF4-FFF2-40B4-BE49-F238E27FC236}">
                <a16:creationId xmlns:a16="http://schemas.microsoft.com/office/drawing/2014/main" id="{2DF75D9D-5862-5CEA-289A-57039C85F5BF}"/>
              </a:ext>
            </a:extLst>
          </p:cNvPr>
          <p:cNvCxnSpPr>
            <a:cxnSpLocks/>
          </p:cNvCxnSpPr>
          <p:nvPr/>
        </p:nvCxnSpPr>
        <p:spPr>
          <a:xfrm flipV="1">
            <a:off x="5540371" y="2629215"/>
            <a:ext cx="0" cy="263062"/>
          </a:xfrm>
          <a:prstGeom prst="straightConnector1">
            <a:avLst/>
          </a:prstGeom>
          <a:noFill/>
          <a:ln w="9525" cap="flat" cmpd="sng">
            <a:solidFill>
              <a:schemeClr val="dk2"/>
            </a:solidFill>
            <a:prstDash val="solid"/>
            <a:round/>
            <a:headEnd type="none" w="med" len="med"/>
            <a:tailEnd type="triangle" w="med" len="med"/>
          </a:ln>
        </p:spPr>
      </p:cxnSp>
      <p:sp>
        <p:nvSpPr>
          <p:cNvPr id="81" name="Google Shape;200;p17">
            <a:extLst>
              <a:ext uri="{FF2B5EF4-FFF2-40B4-BE49-F238E27FC236}">
                <a16:creationId xmlns:a16="http://schemas.microsoft.com/office/drawing/2014/main" id="{B673D33E-3869-16E1-BD8F-22A7A8EB269E}"/>
              </a:ext>
            </a:extLst>
          </p:cNvPr>
          <p:cNvSpPr txBox="1"/>
          <p:nvPr/>
        </p:nvSpPr>
        <p:spPr>
          <a:xfrm>
            <a:off x="5864916" y="2240512"/>
            <a:ext cx="754871" cy="430857"/>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600" dirty="0">
                <a:solidFill>
                  <a:srgbClr val="FF0000"/>
                </a:solidFill>
                <a:latin typeface="Roboto"/>
                <a:ea typeface="Roboto"/>
                <a:cs typeface="Roboto"/>
                <a:sym typeface="Roboto"/>
              </a:rPr>
              <a:t>B</a:t>
            </a:r>
            <a:endParaRPr sz="1600" dirty="0">
              <a:solidFill>
                <a:srgbClr val="FF0000"/>
              </a:solidFill>
              <a:latin typeface="Roboto"/>
              <a:ea typeface="Roboto"/>
              <a:cs typeface="Roboto"/>
              <a:sym typeface="Roboto"/>
            </a:endParaRPr>
          </a:p>
        </p:txBody>
      </p:sp>
      <p:cxnSp>
        <p:nvCxnSpPr>
          <p:cNvPr id="82" name="Google Shape;218;p17">
            <a:extLst>
              <a:ext uri="{FF2B5EF4-FFF2-40B4-BE49-F238E27FC236}">
                <a16:creationId xmlns:a16="http://schemas.microsoft.com/office/drawing/2014/main" id="{1458D2C5-C600-FC02-B436-0D87AD7E2452}"/>
              </a:ext>
            </a:extLst>
          </p:cNvPr>
          <p:cNvCxnSpPr>
            <a:cxnSpLocks/>
          </p:cNvCxnSpPr>
          <p:nvPr/>
        </p:nvCxnSpPr>
        <p:spPr>
          <a:xfrm flipV="1">
            <a:off x="6242667" y="3835147"/>
            <a:ext cx="0" cy="263062"/>
          </a:xfrm>
          <a:prstGeom prst="straightConnector1">
            <a:avLst/>
          </a:prstGeom>
          <a:noFill/>
          <a:ln w="9525" cap="flat" cmpd="sng">
            <a:solidFill>
              <a:schemeClr val="dk2"/>
            </a:solidFill>
            <a:prstDash val="solid"/>
            <a:round/>
            <a:headEnd type="none" w="med" len="med"/>
            <a:tailEnd type="triangle" w="med" len="med"/>
          </a:ln>
        </p:spPr>
      </p:cxnSp>
      <p:sp>
        <p:nvSpPr>
          <p:cNvPr id="83" name="Google Shape;204;p17">
            <a:extLst>
              <a:ext uri="{FF2B5EF4-FFF2-40B4-BE49-F238E27FC236}">
                <a16:creationId xmlns:a16="http://schemas.microsoft.com/office/drawing/2014/main" id="{2B171686-206B-6DAC-9D21-4B8D9F689943}"/>
              </a:ext>
            </a:extLst>
          </p:cNvPr>
          <p:cNvSpPr/>
          <p:nvPr/>
        </p:nvSpPr>
        <p:spPr>
          <a:xfrm rot="16200000">
            <a:off x="5824922" y="3219010"/>
            <a:ext cx="835492" cy="324643"/>
          </a:xfrm>
          <a:prstGeom prst="rect">
            <a:avLst/>
          </a:prstGeom>
          <a:noFill/>
          <a:ln w="19050" cap="flat" cmpd="sng">
            <a:solidFill>
              <a:srgbClr val="00B05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TW" dirty="0"/>
              <a:t>Linear</a:t>
            </a:r>
            <a:endParaRPr dirty="0"/>
          </a:p>
        </p:txBody>
      </p:sp>
      <p:cxnSp>
        <p:nvCxnSpPr>
          <p:cNvPr id="84" name="Google Shape;218;p17">
            <a:extLst>
              <a:ext uri="{FF2B5EF4-FFF2-40B4-BE49-F238E27FC236}">
                <a16:creationId xmlns:a16="http://schemas.microsoft.com/office/drawing/2014/main" id="{5536018D-CECD-002A-75F0-687B496B02CA}"/>
              </a:ext>
            </a:extLst>
          </p:cNvPr>
          <p:cNvCxnSpPr>
            <a:cxnSpLocks/>
          </p:cNvCxnSpPr>
          <p:nvPr/>
        </p:nvCxnSpPr>
        <p:spPr>
          <a:xfrm flipV="1">
            <a:off x="6249947" y="2629215"/>
            <a:ext cx="0" cy="263062"/>
          </a:xfrm>
          <a:prstGeom prst="straightConnector1">
            <a:avLst/>
          </a:prstGeom>
          <a:noFill/>
          <a:ln w="9525" cap="flat" cmpd="sng">
            <a:solidFill>
              <a:schemeClr val="dk2"/>
            </a:solidFill>
            <a:prstDash val="solid"/>
            <a:round/>
            <a:headEnd type="none" w="med" len="med"/>
            <a:tailEnd type="triangle" w="med" len="med"/>
          </a:ln>
        </p:spPr>
      </p:cxnSp>
      <p:sp>
        <p:nvSpPr>
          <p:cNvPr id="85" name="Google Shape;200;p17">
            <a:extLst>
              <a:ext uri="{FF2B5EF4-FFF2-40B4-BE49-F238E27FC236}">
                <a16:creationId xmlns:a16="http://schemas.microsoft.com/office/drawing/2014/main" id="{03DB3F70-B053-47F4-DD02-CC7C6327B4AF}"/>
              </a:ext>
            </a:extLst>
          </p:cNvPr>
          <p:cNvSpPr txBox="1"/>
          <p:nvPr/>
        </p:nvSpPr>
        <p:spPr>
          <a:xfrm>
            <a:off x="6589879" y="2240512"/>
            <a:ext cx="754871" cy="430857"/>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600" dirty="0">
                <a:solidFill>
                  <a:srgbClr val="FF0000"/>
                </a:solidFill>
                <a:latin typeface="Roboto"/>
                <a:ea typeface="Roboto"/>
                <a:cs typeface="Roboto"/>
                <a:sym typeface="Roboto"/>
              </a:rPr>
              <a:t>I</a:t>
            </a:r>
            <a:endParaRPr sz="1600" dirty="0">
              <a:solidFill>
                <a:srgbClr val="FF0000"/>
              </a:solidFill>
              <a:latin typeface="Roboto"/>
              <a:ea typeface="Roboto"/>
              <a:cs typeface="Roboto"/>
              <a:sym typeface="Roboto"/>
            </a:endParaRPr>
          </a:p>
        </p:txBody>
      </p:sp>
      <p:cxnSp>
        <p:nvCxnSpPr>
          <p:cNvPr id="86" name="Google Shape;218;p17">
            <a:extLst>
              <a:ext uri="{FF2B5EF4-FFF2-40B4-BE49-F238E27FC236}">
                <a16:creationId xmlns:a16="http://schemas.microsoft.com/office/drawing/2014/main" id="{4AF450B4-E7FB-C3F5-458F-E419A69F089A}"/>
              </a:ext>
            </a:extLst>
          </p:cNvPr>
          <p:cNvCxnSpPr>
            <a:cxnSpLocks/>
          </p:cNvCxnSpPr>
          <p:nvPr/>
        </p:nvCxnSpPr>
        <p:spPr>
          <a:xfrm flipV="1">
            <a:off x="6940087" y="3835147"/>
            <a:ext cx="0" cy="263062"/>
          </a:xfrm>
          <a:prstGeom prst="straightConnector1">
            <a:avLst/>
          </a:prstGeom>
          <a:noFill/>
          <a:ln w="9525" cap="flat" cmpd="sng">
            <a:solidFill>
              <a:schemeClr val="dk2"/>
            </a:solidFill>
            <a:prstDash val="solid"/>
            <a:round/>
            <a:headEnd type="none" w="med" len="med"/>
            <a:tailEnd type="triangle" w="med" len="med"/>
          </a:ln>
        </p:spPr>
      </p:cxnSp>
      <p:sp>
        <p:nvSpPr>
          <p:cNvPr id="87" name="Google Shape;204;p17">
            <a:extLst>
              <a:ext uri="{FF2B5EF4-FFF2-40B4-BE49-F238E27FC236}">
                <a16:creationId xmlns:a16="http://schemas.microsoft.com/office/drawing/2014/main" id="{498C7D59-7439-12A0-55BE-2C4B1408E0D6}"/>
              </a:ext>
            </a:extLst>
          </p:cNvPr>
          <p:cNvSpPr/>
          <p:nvPr/>
        </p:nvSpPr>
        <p:spPr>
          <a:xfrm rot="16200000">
            <a:off x="6522342" y="3217371"/>
            <a:ext cx="835492" cy="324643"/>
          </a:xfrm>
          <a:prstGeom prst="rect">
            <a:avLst/>
          </a:prstGeom>
          <a:noFill/>
          <a:ln w="19050" cap="flat" cmpd="sng">
            <a:solidFill>
              <a:srgbClr val="00B05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TW" dirty="0"/>
              <a:t>Linear</a:t>
            </a:r>
            <a:endParaRPr dirty="0"/>
          </a:p>
        </p:txBody>
      </p:sp>
      <p:cxnSp>
        <p:nvCxnSpPr>
          <p:cNvPr id="88" name="Google Shape;218;p17">
            <a:extLst>
              <a:ext uri="{FF2B5EF4-FFF2-40B4-BE49-F238E27FC236}">
                <a16:creationId xmlns:a16="http://schemas.microsoft.com/office/drawing/2014/main" id="{8BFE5C2A-6481-C7BB-77F2-14FB0644CE8D}"/>
              </a:ext>
            </a:extLst>
          </p:cNvPr>
          <p:cNvCxnSpPr>
            <a:cxnSpLocks/>
          </p:cNvCxnSpPr>
          <p:nvPr/>
        </p:nvCxnSpPr>
        <p:spPr>
          <a:xfrm flipV="1">
            <a:off x="6947367" y="2629215"/>
            <a:ext cx="0" cy="263062"/>
          </a:xfrm>
          <a:prstGeom prst="straightConnector1">
            <a:avLst/>
          </a:prstGeom>
          <a:noFill/>
          <a:ln w="9525" cap="flat" cmpd="sng">
            <a:solidFill>
              <a:schemeClr val="dk2"/>
            </a:solidFill>
            <a:prstDash val="solid"/>
            <a:round/>
            <a:headEnd type="none" w="med" len="med"/>
            <a:tailEnd type="triangle" w="med" len="med"/>
          </a:ln>
        </p:spPr>
      </p:cxnSp>
      <p:sp>
        <p:nvSpPr>
          <p:cNvPr id="89" name="Google Shape;200;p17">
            <a:extLst>
              <a:ext uri="{FF2B5EF4-FFF2-40B4-BE49-F238E27FC236}">
                <a16:creationId xmlns:a16="http://schemas.microsoft.com/office/drawing/2014/main" id="{366013D8-4071-7E25-CBCC-E56E3A83B74B}"/>
              </a:ext>
            </a:extLst>
          </p:cNvPr>
          <p:cNvSpPr txBox="1"/>
          <p:nvPr/>
        </p:nvSpPr>
        <p:spPr>
          <a:xfrm>
            <a:off x="7276463" y="2240512"/>
            <a:ext cx="754871" cy="430857"/>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600" dirty="0">
                <a:solidFill>
                  <a:srgbClr val="FF0000"/>
                </a:solidFill>
                <a:latin typeface="Roboto"/>
                <a:ea typeface="Roboto"/>
                <a:cs typeface="Roboto"/>
                <a:sym typeface="Roboto"/>
              </a:rPr>
              <a:t>O</a:t>
            </a:r>
            <a:endParaRPr sz="1600" dirty="0">
              <a:solidFill>
                <a:srgbClr val="FF0000"/>
              </a:solidFill>
              <a:latin typeface="Roboto"/>
              <a:ea typeface="Roboto"/>
              <a:cs typeface="Roboto"/>
              <a:sym typeface="Roboto"/>
            </a:endParaRPr>
          </a:p>
        </p:txBody>
      </p:sp>
      <p:cxnSp>
        <p:nvCxnSpPr>
          <p:cNvPr id="90" name="Google Shape;218;p17">
            <a:extLst>
              <a:ext uri="{FF2B5EF4-FFF2-40B4-BE49-F238E27FC236}">
                <a16:creationId xmlns:a16="http://schemas.microsoft.com/office/drawing/2014/main" id="{D36AEB6E-684D-D2EF-25FD-A840ED3F6373}"/>
              </a:ext>
            </a:extLst>
          </p:cNvPr>
          <p:cNvCxnSpPr>
            <a:cxnSpLocks/>
          </p:cNvCxnSpPr>
          <p:nvPr/>
        </p:nvCxnSpPr>
        <p:spPr>
          <a:xfrm flipV="1">
            <a:off x="7654214" y="3835147"/>
            <a:ext cx="0" cy="263062"/>
          </a:xfrm>
          <a:prstGeom prst="straightConnector1">
            <a:avLst/>
          </a:prstGeom>
          <a:noFill/>
          <a:ln w="9525" cap="flat" cmpd="sng">
            <a:solidFill>
              <a:schemeClr val="dk2"/>
            </a:solidFill>
            <a:prstDash val="solid"/>
            <a:round/>
            <a:headEnd type="none" w="med" len="med"/>
            <a:tailEnd type="triangle" w="med" len="med"/>
          </a:ln>
        </p:spPr>
      </p:cxnSp>
      <p:sp>
        <p:nvSpPr>
          <p:cNvPr id="91" name="Google Shape;204;p17">
            <a:extLst>
              <a:ext uri="{FF2B5EF4-FFF2-40B4-BE49-F238E27FC236}">
                <a16:creationId xmlns:a16="http://schemas.microsoft.com/office/drawing/2014/main" id="{C11D83E6-7113-5C13-AF9A-AC5440ADF559}"/>
              </a:ext>
            </a:extLst>
          </p:cNvPr>
          <p:cNvSpPr/>
          <p:nvPr/>
        </p:nvSpPr>
        <p:spPr>
          <a:xfrm rot="16200000">
            <a:off x="7236469" y="3217371"/>
            <a:ext cx="835492" cy="324643"/>
          </a:xfrm>
          <a:prstGeom prst="rect">
            <a:avLst/>
          </a:prstGeom>
          <a:noFill/>
          <a:ln w="19050" cap="flat" cmpd="sng">
            <a:solidFill>
              <a:srgbClr val="00B05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TW" dirty="0"/>
              <a:t>Linear</a:t>
            </a:r>
            <a:endParaRPr dirty="0"/>
          </a:p>
        </p:txBody>
      </p:sp>
      <p:cxnSp>
        <p:nvCxnSpPr>
          <p:cNvPr id="92" name="Google Shape;218;p17">
            <a:extLst>
              <a:ext uri="{FF2B5EF4-FFF2-40B4-BE49-F238E27FC236}">
                <a16:creationId xmlns:a16="http://schemas.microsoft.com/office/drawing/2014/main" id="{DDA31A09-D722-A109-9F75-9AC3732BCFEA}"/>
              </a:ext>
            </a:extLst>
          </p:cNvPr>
          <p:cNvCxnSpPr>
            <a:cxnSpLocks/>
          </p:cNvCxnSpPr>
          <p:nvPr/>
        </p:nvCxnSpPr>
        <p:spPr>
          <a:xfrm flipV="1">
            <a:off x="7661494" y="2629215"/>
            <a:ext cx="0" cy="263062"/>
          </a:xfrm>
          <a:prstGeom prst="straightConnector1">
            <a:avLst/>
          </a:prstGeom>
          <a:noFill/>
          <a:ln w="9525" cap="flat" cmpd="sng">
            <a:solidFill>
              <a:schemeClr val="dk2"/>
            </a:solidFill>
            <a:prstDash val="solid"/>
            <a:round/>
            <a:headEnd type="none" w="med" len="med"/>
            <a:tailEnd type="triangle" w="med" len="med"/>
          </a:ln>
        </p:spPr>
      </p:cxnSp>
      <p:sp>
        <p:nvSpPr>
          <p:cNvPr id="3" name="Google Shape;189;p17">
            <a:extLst>
              <a:ext uri="{FF2B5EF4-FFF2-40B4-BE49-F238E27FC236}">
                <a16:creationId xmlns:a16="http://schemas.microsoft.com/office/drawing/2014/main" id="{3DA5E852-28AC-3850-6182-D35F49014387}"/>
              </a:ext>
            </a:extLst>
          </p:cNvPr>
          <p:cNvSpPr/>
          <p:nvPr/>
        </p:nvSpPr>
        <p:spPr>
          <a:xfrm>
            <a:off x="4023061" y="4142720"/>
            <a:ext cx="174300" cy="524700"/>
          </a:xfrm>
          <a:prstGeom prst="rect">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 name="Google Shape;195;p17">
            <a:extLst>
              <a:ext uri="{FF2B5EF4-FFF2-40B4-BE49-F238E27FC236}">
                <a16:creationId xmlns:a16="http://schemas.microsoft.com/office/drawing/2014/main" id="{14696C3A-19F2-5382-CAFC-98DBEAAA9B86}"/>
              </a:ext>
            </a:extLst>
          </p:cNvPr>
          <p:cNvCxnSpPr>
            <a:cxnSpLocks/>
          </p:cNvCxnSpPr>
          <p:nvPr/>
        </p:nvCxnSpPr>
        <p:spPr>
          <a:xfrm rot="10800000">
            <a:off x="4110761" y="4771102"/>
            <a:ext cx="0" cy="189000"/>
          </a:xfrm>
          <a:prstGeom prst="straightConnector1">
            <a:avLst/>
          </a:prstGeom>
          <a:noFill/>
          <a:ln w="9525" cap="flat" cmpd="sng">
            <a:solidFill>
              <a:schemeClr val="dk2"/>
            </a:solidFill>
            <a:prstDash val="solid"/>
            <a:round/>
            <a:headEnd type="none" w="med" len="med"/>
            <a:tailEnd type="triangle" w="med" len="med"/>
          </a:ln>
        </p:spPr>
      </p:cxnSp>
      <p:sp>
        <p:nvSpPr>
          <p:cNvPr id="6" name="Google Shape;200;p17">
            <a:extLst>
              <a:ext uri="{FF2B5EF4-FFF2-40B4-BE49-F238E27FC236}">
                <a16:creationId xmlns:a16="http://schemas.microsoft.com/office/drawing/2014/main" id="{C29FF653-B784-2A80-D349-C3AE2EC3750F}"/>
              </a:ext>
            </a:extLst>
          </p:cNvPr>
          <p:cNvSpPr txBox="1"/>
          <p:nvPr/>
        </p:nvSpPr>
        <p:spPr>
          <a:xfrm>
            <a:off x="3733009" y="2240512"/>
            <a:ext cx="754871" cy="430857"/>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600" dirty="0">
                <a:solidFill>
                  <a:srgbClr val="FF0000"/>
                </a:solidFill>
                <a:latin typeface="Roboto"/>
                <a:ea typeface="Roboto"/>
                <a:cs typeface="Roboto"/>
                <a:sym typeface="Roboto"/>
              </a:rPr>
              <a:t>O</a:t>
            </a:r>
            <a:endParaRPr sz="1600" dirty="0">
              <a:solidFill>
                <a:srgbClr val="FF0000"/>
              </a:solidFill>
              <a:latin typeface="Roboto"/>
              <a:ea typeface="Roboto"/>
              <a:cs typeface="Roboto"/>
              <a:sym typeface="Roboto"/>
            </a:endParaRPr>
          </a:p>
        </p:txBody>
      </p:sp>
      <p:cxnSp>
        <p:nvCxnSpPr>
          <p:cNvPr id="7" name="Google Shape;218;p17">
            <a:extLst>
              <a:ext uri="{FF2B5EF4-FFF2-40B4-BE49-F238E27FC236}">
                <a16:creationId xmlns:a16="http://schemas.microsoft.com/office/drawing/2014/main" id="{976029F3-9F49-2949-442E-610AEA4EAFD3}"/>
              </a:ext>
            </a:extLst>
          </p:cNvPr>
          <p:cNvCxnSpPr>
            <a:cxnSpLocks/>
          </p:cNvCxnSpPr>
          <p:nvPr/>
        </p:nvCxnSpPr>
        <p:spPr>
          <a:xfrm flipV="1">
            <a:off x="4110760" y="3835147"/>
            <a:ext cx="0" cy="263062"/>
          </a:xfrm>
          <a:prstGeom prst="straightConnector1">
            <a:avLst/>
          </a:prstGeom>
          <a:noFill/>
          <a:ln w="9525" cap="flat" cmpd="sng">
            <a:solidFill>
              <a:schemeClr val="dk2"/>
            </a:solidFill>
            <a:prstDash val="solid"/>
            <a:round/>
            <a:headEnd type="none" w="med" len="med"/>
            <a:tailEnd type="triangle" w="med" len="med"/>
          </a:ln>
        </p:spPr>
      </p:cxnSp>
      <p:sp>
        <p:nvSpPr>
          <p:cNvPr id="8" name="Google Shape;204;p17">
            <a:extLst>
              <a:ext uri="{FF2B5EF4-FFF2-40B4-BE49-F238E27FC236}">
                <a16:creationId xmlns:a16="http://schemas.microsoft.com/office/drawing/2014/main" id="{A8F43D5B-7A4C-84CD-C2A3-F23013193A53}"/>
              </a:ext>
            </a:extLst>
          </p:cNvPr>
          <p:cNvSpPr/>
          <p:nvPr/>
        </p:nvSpPr>
        <p:spPr>
          <a:xfrm rot="16200000">
            <a:off x="3693015" y="3217371"/>
            <a:ext cx="835492" cy="324643"/>
          </a:xfrm>
          <a:prstGeom prst="rect">
            <a:avLst/>
          </a:prstGeom>
          <a:noFill/>
          <a:ln w="19050" cap="flat" cmpd="sng">
            <a:solidFill>
              <a:srgbClr val="00B05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zh-TW" dirty="0"/>
              <a:t>Linear</a:t>
            </a:r>
            <a:endParaRPr dirty="0"/>
          </a:p>
        </p:txBody>
      </p:sp>
      <p:cxnSp>
        <p:nvCxnSpPr>
          <p:cNvPr id="9" name="Google Shape;218;p17">
            <a:extLst>
              <a:ext uri="{FF2B5EF4-FFF2-40B4-BE49-F238E27FC236}">
                <a16:creationId xmlns:a16="http://schemas.microsoft.com/office/drawing/2014/main" id="{DCEEED20-72B7-5601-E2A9-A32047693133}"/>
              </a:ext>
            </a:extLst>
          </p:cNvPr>
          <p:cNvCxnSpPr>
            <a:cxnSpLocks/>
          </p:cNvCxnSpPr>
          <p:nvPr/>
        </p:nvCxnSpPr>
        <p:spPr>
          <a:xfrm flipV="1">
            <a:off x="4118040" y="2629215"/>
            <a:ext cx="0" cy="263062"/>
          </a:xfrm>
          <a:prstGeom prst="straightConnector1">
            <a:avLst/>
          </a:prstGeom>
          <a:noFill/>
          <a:ln w="9525" cap="flat" cmpd="sng">
            <a:solidFill>
              <a:schemeClr val="dk2"/>
            </a:solidFill>
            <a:prstDash val="solid"/>
            <a:round/>
            <a:headEnd type="none" w="med" len="med"/>
            <a:tailEnd type="triangle" w="med" len="med"/>
          </a:ln>
        </p:spPr>
      </p:cxnSp>
      <p:sp>
        <p:nvSpPr>
          <p:cNvPr id="10" name="文字方塊 9">
            <a:extLst>
              <a:ext uri="{FF2B5EF4-FFF2-40B4-BE49-F238E27FC236}">
                <a16:creationId xmlns:a16="http://schemas.microsoft.com/office/drawing/2014/main" id="{D2C4D3F2-532B-6740-D31B-A34245F86400}"/>
              </a:ext>
            </a:extLst>
          </p:cNvPr>
          <p:cNvSpPr txBox="1"/>
          <p:nvPr/>
        </p:nvSpPr>
        <p:spPr>
          <a:xfrm>
            <a:off x="3573001" y="1680584"/>
            <a:ext cx="1102936" cy="646331"/>
          </a:xfrm>
          <a:prstGeom prst="rect">
            <a:avLst/>
          </a:prstGeom>
          <a:noFill/>
        </p:spPr>
        <p:txBody>
          <a:bodyPr wrap="square" rtlCol="0">
            <a:spAutoFit/>
          </a:bodyPr>
          <a:lstStyle/>
          <a:p>
            <a:pPr algn="ctr"/>
            <a:r>
              <a:rPr kumimoji="1" lang="zh-TW" altLang="en-US" dirty="0"/>
              <a:t>不會計算 </a:t>
            </a:r>
            <a:r>
              <a:rPr kumimoji="1" lang="en-US" altLang="zh-TW" dirty="0"/>
              <a:t>loss</a:t>
            </a:r>
            <a:endParaRPr kumimoji="1" lang="zh-TW" altLang="en-US" dirty="0"/>
          </a:p>
        </p:txBody>
      </p:sp>
      <p:sp>
        <p:nvSpPr>
          <p:cNvPr id="11" name="文字方塊 10">
            <a:extLst>
              <a:ext uri="{FF2B5EF4-FFF2-40B4-BE49-F238E27FC236}">
                <a16:creationId xmlns:a16="http://schemas.microsoft.com/office/drawing/2014/main" id="{3BC93F5D-145E-E093-4F92-FA593CF00EC3}"/>
              </a:ext>
            </a:extLst>
          </p:cNvPr>
          <p:cNvSpPr txBox="1"/>
          <p:nvPr/>
        </p:nvSpPr>
        <p:spPr>
          <a:xfrm>
            <a:off x="7080909" y="1681492"/>
            <a:ext cx="1102936" cy="646331"/>
          </a:xfrm>
          <a:prstGeom prst="rect">
            <a:avLst/>
          </a:prstGeom>
          <a:noFill/>
        </p:spPr>
        <p:txBody>
          <a:bodyPr wrap="square" rtlCol="0">
            <a:spAutoFit/>
          </a:bodyPr>
          <a:lstStyle/>
          <a:p>
            <a:pPr algn="ctr"/>
            <a:r>
              <a:rPr kumimoji="1" lang="zh-TW" altLang="en-US" dirty="0"/>
              <a:t>不會計算 </a:t>
            </a:r>
            <a:r>
              <a:rPr kumimoji="1" lang="en-US" altLang="zh-TW" dirty="0"/>
              <a:t>loss</a:t>
            </a:r>
            <a:endParaRPr kumimoji="1" lang="zh-TW" altLang="en-US" dirty="0"/>
          </a:p>
        </p:txBody>
      </p:sp>
    </p:spTree>
    <p:extLst>
      <p:ext uri="{BB962C8B-B14F-4D97-AF65-F5344CB8AC3E}">
        <p14:creationId xmlns:p14="http://schemas.microsoft.com/office/powerpoint/2010/main" val="2560568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a:extLst>
              <a:ext uri="{FF2B5EF4-FFF2-40B4-BE49-F238E27FC236}">
                <a16:creationId xmlns:a16="http://schemas.microsoft.com/office/drawing/2014/main" id="{0988A61A-7679-5029-E481-E972BCDA8321}"/>
              </a:ext>
            </a:extLst>
          </p:cNvPr>
          <p:cNvSpPr>
            <a:spLocks noGrp="1"/>
          </p:cNvSpPr>
          <p:nvPr>
            <p:ph type="title"/>
          </p:nvPr>
        </p:nvSpPr>
        <p:spPr>
          <a:xfrm>
            <a:off x="457200" y="2407297"/>
            <a:ext cx="3200400" cy="1315617"/>
          </a:xfrm>
        </p:spPr>
        <p:txBody>
          <a:bodyPr/>
          <a:lstStyle/>
          <a:p>
            <a:r>
              <a:rPr lang="en-US" altLang="zh-TW" dirty="0"/>
              <a:t>BERT and its Family</a:t>
            </a:r>
            <a:endParaRPr lang="zh-TW" altLang="en-US" dirty="0"/>
          </a:p>
        </p:txBody>
      </p:sp>
      <p:sp>
        <p:nvSpPr>
          <p:cNvPr id="4" name="投影片編號版面配置區 3">
            <a:extLst>
              <a:ext uri="{FF2B5EF4-FFF2-40B4-BE49-F238E27FC236}">
                <a16:creationId xmlns:a16="http://schemas.microsoft.com/office/drawing/2014/main" id="{642B01E6-53DD-CC83-28F9-073680E15DA3}"/>
              </a:ext>
            </a:extLst>
          </p:cNvPr>
          <p:cNvSpPr>
            <a:spLocks noGrp="1"/>
          </p:cNvSpPr>
          <p:nvPr>
            <p:ph type="sldNum" sz="quarter" idx="12"/>
          </p:nvPr>
        </p:nvSpPr>
        <p:spPr/>
        <p:txBody>
          <a:bodyPr/>
          <a:lstStyle/>
          <a:p>
            <a:fld id="{6113E31D-E2AB-40D1-8B51-AFA5AFEF393A}" type="slidenum">
              <a:rPr lang="en-US" smtClean="0"/>
              <a:pPr/>
              <a:t>43</a:t>
            </a:fld>
            <a:endParaRPr lang="en-US" dirty="0"/>
          </a:p>
        </p:txBody>
      </p:sp>
      <p:sp>
        <p:nvSpPr>
          <p:cNvPr id="2" name="文字方塊 1">
            <a:extLst>
              <a:ext uri="{FF2B5EF4-FFF2-40B4-BE49-F238E27FC236}">
                <a16:creationId xmlns:a16="http://schemas.microsoft.com/office/drawing/2014/main" id="{1C0915F4-406B-77AB-8C4F-858F740AB7BA}"/>
              </a:ext>
            </a:extLst>
          </p:cNvPr>
          <p:cNvSpPr txBox="1"/>
          <p:nvPr/>
        </p:nvSpPr>
        <p:spPr>
          <a:xfrm>
            <a:off x="4612852" y="2151727"/>
            <a:ext cx="3921550" cy="2554545"/>
          </a:xfrm>
          <a:prstGeom prst="rect">
            <a:avLst/>
          </a:prstGeom>
          <a:noFill/>
        </p:spPr>
        <p:txBody>
          <a:bodyPr wrap="square" rtlCol="0">
            <a:spAutoFit/>
          </a:bodyPr>
          <a:lstStyle/>
          <a:p>
            <a:pPr marL="457200" indent="-457200">
              <a:buFont typeface="Arial" panose="020B0604020202020204" pitchFamily="34" charset="0"/>
              <a:buChar char="•"/>
            </a:pPr>
            <a:r>
              <a:rPr kumimoji="1" lang="en-US" altLang="zh-TW" sz="3200" dirty="0" err="1"/>
              <a:t>ELMo</a:t>
            </a:r>
            <a:endParaRPr kumimoji="1" lang="en-US" altLang="zh-TW" sz="3200" dirty="0"/>
          </a:p>
          <a:p>
            <a:pPr marL="457200" indent="-457200">
              <a:buFont typeface="Arial" panose="020B0604020202020204" pitchFamily="34" charset="0"/>
              <a:buChar char="•"/>
            </a:pPr>
            <a:r>
              <a:rPr kumimoji="1" lang="en-US" altLang="zh-TW" sz="3200" dirty="0"/>
              <a:t>BERT</a:t>
            </a:r>
          </a:p>
          <a:p>
            <a:pPr marL="457200" indent="-457200">
              <a:buFont typeface="Arial" panose="020B0604020202020204" pitchFamily="34" charset="0"/>
              <a:buChar char="•"/>
            </a:pPr>
            <a:r>
              <a:rPr kumimoji="1" lang="en-US" altLang="zh-TW" sz="3200" dirty="0" err="1">
                <a:solidFill>
                  <a:srgbClr val="FF0000"/>
                </a:solidFill>
              </a:rPr>
              <a:t>RoBERTa</a:t>
            </a:r>
            <a:endParaRPr kumimoji="1" lang="en-US" altLang="zh-TW" sz="3200" dirty="0">
              <a:solidFill>
                <a:srgbClr val="FF0000"/>
              </a:solidFill>
            </a:endParaRPr>
          </a:p>
          <a:p>
            <a:pPr marL="457200" indent="-457200">
              <a:buFont typeface="Arial" panose="020B0604020202020204" pitchFamily="34" charset="0"/>
              <a:buChar char="•"/>
            </a:pPr>
            <a:r>
              <a:rPr kumimoji="1" lang="en-US" altLang="zh-TW" sz="3200" dirty="0" err="1"/>
              <a:t>SpanBERT</a:t>
            </a:r>
            <a:endParaRPr kumimoji="1" lang="en-US" altLang="zh-TW" sz="3200" dirty="0"/>
          </a:p>
          <a:p>
            <a:pPr marL="457200" indent="-457200">
              <a:buFont typeface="Arial" panose="020B0604020202020204" pitchFamily="34" charset="0"/>
              <a:buChar char="•"/>
            </a:pPr>
            <a:r>
              <a:rPr kumimoji="1" lang="en-US" altLang="zh-TW" sz="3200" dirty="0" err="1"/>
              <a:t>DeBERTa</a:t>
            </a:r>
            <a:endParaRPr kumimoji="1" lang="zh-TW" altLang="en-US" sz="3200" dirty="0"/>
          </a:p>
        </p:txBody>
      </p:sp>
    </p:spTree>
    <p:extLst>
      <p:ext uri="{BB962C8B-B14F-4D97-AF65-F5344CB8AC3E}">
        <p14:creationId xmlns:p14="http://schemas.microsoft.com/office/powerpoint/2010/main" val="32469589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8242A9-AA16-723D-DB23-07BCCE6061CD}"/>
              </a:ext>
            </a:extLst>
          </p:cNvPr>
          <p:cNvSpPr>
            <a:spLocks noGrp="1"/>
          </p:cNvSpPr>
          <p:nvPr>
            <p:ph type="title"/>
          </p:nvPr>
        </p:nvSpPr>
        <p:spPr/>
        <p:txBody>
          <a:bodyPr>
            <a:normAutofit fontScale="90000"/>
          </a:bodyPr>
          <a:lstStyle/>
          <a:p>
            <a:r>
              <a:rPr kumimoji="1" lang="en" altLang="zh-TW" dirty="0" err="1"/>
              <a:t>RoBERTa</a:t>
            </a:r>
            <a:r>
              <a:rPr kumimoji="1" lang="en" altLang="zh-TW" dirty="0"/>
              <a:t>: A Robustly Optimized BERT Pretraining Approach</a:t>
            </a:r>
            <a:endParaRPr kumimoji="1" lang="zh-TW" altLang="en-US" dirty="0"/>
          </a:p>
        </p:txBody>
      </p:sp>
      <p:sp>
        <p:nvSpPr>
          <p:cNvPr id="3" name="內容版面配置區 2">
            <a:extLst>
              <a:ext uri="{FF2B5EF4-FFF2-40B4-BE49-F238E27FC236}">
                <a16:creationId xmlns:a16="http://schemas.microsoft.com/office/drawing/2014/main" id="{41BD788E-8D9A-15D3-154E-5AB2072CE47E}"/>
              </a:ext>
            </a:extLst>
          </p:cNvPr>
          <p:cNvSpPr>
            <a:spLocks noGrp="1"/>
          </p:cNvSpPr>
          <p:nvPr>
            <p:ph idx="1"/>
          </p:nvPr>
        </p:nvSpPr>
        <p:spPr>
          <a:xfrm>
            <a:off x="3013710" y="6415559"/>
            <a:ext cx="6164580" cy="365126"/>
          </a:xfrm>
        </p:spPr>
        <p:txBody>
          <a:bodyPr>
            <a:normAutofit fontScale="92500"/>
          </a:bodyPr>
          <a:lstStyle/>
          <a:p>
            <a:r>
              <a:rPr kumimoji="1" lang="en" altLang="zh-TW" sz="1600" dirty="0"/>
              <a:t>Rejected by ICLR 2020. https://</a:t>
            </a:r>
            <a:r>
              <a:rPr kumimoji="1" lang="en" altLang="zh-TW" sz="1600" dirty="0" err="1"/>
              <a:t>openreview.net</a:t>
            </a:r>
            <a:r>
              <a:rPr kumimoji="1" lang="en" altLang="zh-TW" sz="1600" dirty="0"/>
              <a:t>/</a:t>
            </a:r>
            <a:r>
              <a:rPr kumimoji="1" lang="en" altLang="zh-TW" sz="1600" dirty="0" err="1"/>
              <a:t>forum?id</a:t>
            </a:r>
            <a:r>
              <a:rPr kumimoji="1" lang="en" altLang="zh-TW" sz="1600" dirty="0"/>
              <a:t>=SyxS0T4tvS</a:t>
            </a:r>
            <a:endParaRPr kumimoji="1" lang="zh-TW" altLang="en-US" sz="1600" dirty="0"/>
          </a:p>
        </p:txBody>
      </p:sp>
      <p:sp>
        <p:nvSpPr>
          <p:cNvPr id="4" name="投影片編號版面配置區 3">
            <a:extLst>
              <a:ext uri="{FF2B5EF4-FFF2-40B4-BE49-F238E27FC236}">
                <a16:creationId xmlns:a16="http://schemas.microsoft.com/office/drawing/2014/main" id="{6065E067-EE33-3DB9-640F-5A68F6DF89E4}"/>
              </a:ext>
            </a:extLst>
          </p:cNvPr>
          <p:cNvSpPr>
            <a:spLocks noGrp="1"/>
          </p:cNvSpPr>
          <p:nvPr>
            <p:ph type="sldNum" sz="quarter" idx="12"/>
          </p:nvPr>
        </p:nvSpPr>
        <p:spPr/>
        <p:txBody>
          <a:bodyPr/>
          <a:lstStyle/>
          <a:p>
            <a:fld id="{6113E31D-E2AB-40D1-8B51-AFA5AFEF393A}" type="slidenum">
              <a:rPr lang="en-US" smtClean="0"/>
              <a:pPr/>
              <a:t>44</a:t>
            </a:fld>
            <a:endParaRPr lang="en-US" dirty="0"/>
          </a:p>
        </p:txBody>
      </p:sp>
      <p:sp>
        <p:nvSpPr>
          <p:cNvPr id="5" name="文字方塊 4">
            <a:extLst>
              <a:ext uri="{FF2B5EF4-FFF2-40B4-BE49-F238E27FC236}">
                <a16:creationId xmlns:a16="http://schemas.microsoft.com/office/drawing/2014/main" id="{6BC1791E-3C44-6550-F71A-2FB51C777CF6}"/>
              </a:ext>
            </a:extLst>
          </p:cNvPr>
          <p:cNvSpPr txBox="1"/>
          <p:nvPr/>
        </p:nvSpPr>
        <p:spPr>
          <a:xfrm>
            <a:off x="653143" y="1868198"/>
            <a:ext cx="10918370" cy="224882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zh-TW" altLang="en-US" sz="2400" dirty="0">
                <a:ea typeface="Microsoft JhengHei" panose="020B0604030504040204" pitchFamily="34" charset="-120"/>
              </a:rPr>
              <a:t>和 </a:t>
            </a:r>
            <a:r>
              <a:rPr kumimoji="1" lang="en-US" altLang="zh-TW" sz="2400" dirty="0">
                <a:ea typeface="Microsoft JhengHei" panose="020B0604030504040204" pitchFamily="34" charset="-120"/>
              </a:rPr>
              <a:t>BERT </a:t>
            </a:r>
            <a:r>
              <a:rPr kumimoji="1" lang="zh-TW" altLang="en-US" sz="2400" dirty="0">
                <a:ea typeface="Microsoft JhengHei" panose="020B0604030504040204" pitchFamily="34" charset="-120"/>
              </a:rPr>
              <a:t>的結構完全一樣</a:t>
            </a:r>
            <a:endParaRPr kumimoji="1" lang="en-US" altLang="zh-TW" sz="2400" dirty="0">
              <a:ea typeface="Microsoft JhengHei" panose="020B0604030504040204" pitchFamily="34" charset="-120"/>
            </a:endParaRPr>
          </a:p>
          <a:p>
            <a:pPr marL="342900" indent="-342900">
              <a:lnSpc>
                <a:spcPct val="150000"/>
              </a:lnSpc>
              <a:buFont typeface="Arial" panose="020B0604020202020204" pitchFamily="34" charset="0"/>
              <a:buChar char="•"/>
            </a:pPr>
            <a:r>
              <a:rPr kumimoji="1" lang="zh-TW" altLang="en-US" sz="2400" dirty="0">
                <a:ea typeface="Microsoft JhengHei" panose="020B0604030504040204" pitchFamily="34" charset="-120"/>
              </a:rPr>
              <a:t>預訓練移除 </a:t>
            </a:r>
            <a:r>
              <a:rPr kumimoji="1" lang="en" altLang="zh-TW" sz="2400" dirty="0">
                <a:ea typeface="Microsoft JhengHei" panose="020B0604030504040204" pitchFamily="34" charset="-120"/>
              </a:rPr>
              <a:t>Next Sentence Prediction (NSP)</a:t>
            </a:r>
            <a:r>
              <a:rPr kumimoji="1" lang="zh-TW" altLang="en-US" sz="2400" dirty="0">
                <a:ea typeface="Microsoft JhengHei" panose="020B0604030504040204" pitchFamily="34" charset="-120"/>
              </a:rPr>
              <a:t>，且使用更多的資料進行預訓練</a:t>
            </a:r>
            <a:endParaRPr kumimoji="1" lang="en" altLang="zh-TW" sz="2400" dirty="0">
              <a:ea typeface="Microsoft JhengHei" panose="020B0604030504040204" pitchFamily="34" charset="-120"/>
            </a:endParaRPr>
          </a:p>
          <a:p>
            <a:pPr marL="342900" indent="-342900">
              <a:lnSpc>
                <a:spcPct val="150000"/>
              </a:lnSpc>
              <a:buFont typeface="Arial" panose="020B0604020202020204" pitchFamily="34" charset="0"/>
              <a:buChar char="•"/>
            </a:pPr>
            <a:r>
              <a:rPr kumimoji="1" lang="en" altLang="zh-TW" sz="2400" dirty="0">
                <a:ea typeface="Microsoft JhengHei" panose="020B0604030504040204" pitchFamily="34" charset="-120"/>
              </a:rPr>
              <a:t>Dynamic masking (BERT </a:t>
            </a:r>
            <a:r>
              <a:rPr kumimoji="1" lang="zh-TW" altLang="en-US" sz="2400" dirty="0">
                <a:ea typeface="Microsoft JhengHei" panose="020B0604030504040204" pitchFamily="34" charset="-120"/>
              </a:rPr>
              <a:t>全部的資料集只做一次隨機</a:t>
            </a:r>
            <a:r>
              <a:rPr kumimoji="1" lang="en-US" altLang="zh-TW" sz="2400" dirty="0">
                <a:ea typeface="Microsoft JhengHei" panose="020B0604030504040204" pitchFamily="34" charset="-120"/>
              </a:rPr>
              <a:t> masking)</a:t>
            </a:r>
          </a:p>
          <a:p>
            <a:pPr marL="342900" indent="-342900">
              <a:lnSpc>
                <a:spcPct val="150000"/>
              </a:lnSpc>
              <a:buFont typeface="Arial" panose="020B0604020202020204" pitchFamily="34" charset="0"/>
              <a:buChar char="•"/>
            </a:pPr>
            <a:r>
              <a:rPr kumimoji="1" lang="zh-TW" altLang="en-US" sz="2400" dirty="0">
                <a:ea typeface="Microsoft JhengHei" panose="020B0604030504040204" pitchFamily="34" charset="-120"/>
              </a:rPr>
              <a:t>更好的超參數 </a:t>
            </a:r>
            <a:r>
              <a:rPr kumimoji="1" lang="en-US" altLang="zh-TW" sz="2400" dirty="0">
                <a:ea typeface="Microsoft JhengHei" panose="020B0604030504040204" pitchFamily="34" charset="-120"/>
              </a:rPr>
              <a:t>(batch size, </a:t>
            </a:r>
            <a:r>
              <a:rPr kumimoji="1" lang="en-US" altLang="zh-TW" sz="2400" dirty="0" err="1">
                <a:ea typeface="Microsoft JhengHei" panose="020B0604030504040204" pitchFamily="34" charset="-120"/>
              </a:rPr>
              <a:t>learning_rate</a:t>
            </a:r>
            <a:r>
              <a:rPr kumimoji="1" lang="en-US" altLang="zh-TW" sz="2400" dirty="0">
                <a:ea typeface="Microsoft JhengHei" panose="020B0604030504040204" pitchFamily="34" charset="-120"/>
              </a:rPr>
              <a:t>, </a:t>
            </a:r>
            <a:r>
              <a:rPr kumimoji="1" lang="en-US" altLang="zh-TW" sz="2400" dirty="0" err="1">
                <a:ea typeface="Microsoft JhengHei" panose="020B0604030504040204" pitchFamily="34" charset="-120"/>
              </a:rPr>
              <a:t>num_epochs</a:t>
            </a:r>
            <a:r>
              <a:rPr kumimoji="1" lang="en-US" altLang="zh-TW" sz="2400" dirty="0">
                <a:ea typeface="Microsoft JhengHei" panose="020B0604030504040204" pitchFamily="34" charset="-120"/>
              </a:rPr>
              <a:t>)</a:t>
            </a:r>
          </a:p>
        </p:txBody>
      </p:sp>
      <p:sp>
        <p:nvSpPr>
          <p:cNvPr id="6" name="文字方塊 5">
            <a:extLst>
              <a:ext uri="{FF2B5EF4-FFF2-40B4-BE49-F238E27FC236}">
                <a16:creationId xmlns:a16="http://schemas.microsoft.com/office/drawing/2014/main" id="{73C6F407-BE36-B81E-E184-CDBA9919D5B8}"/>
              </a:ext>
            </a:extLst>
          </p:cNvPr>
          <p:cNvSpPr txBox="1"/>
          <p:nvPr/>
        </p:nvSpPr>
        <p:spPr>
          <a:xfrm>
            <a:off x="636815" y="4117019"/>
            <a:ext cx="10918370" cy="58907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kumimoji="1" lang="zh-TW" altLang="en-US" sz="2400" dirty="0">
                <a:solidFill>
                  <a:srgbClr val="FF0000"/>
                </a:solidFill>
                <a:ea typeface="Microsoft JhengHei" panose="020B0604030504040204" pitchFamily="34" charset="-120"/>
              </a:rPr>
              <a:t>實務上確實效能通常比 </a:t>
            </a:r>
            <a:r>
              <a:rPr kumimoji="1" lang="en-US" altLang="zh-TW" sz="2400" dirty="0">
                <a:solidFill>
                  <a:srgbClr val="FF0000"/>
                </a:solidFill>
                <a:ea typeface="Microsoft JhengHei" panose="020B0604030504040204" pitchFamily="34" charset="-120"/>
              </a:rPr>
              <a:t>BERT</a:t>
            </a:r>
            <a:r>
              <a:rPr kumimoji="1" lang="zh-TW" altLang="en-US" sz="2400" dirty="0">
                <a:solidFill>
                  <a:srgbClr val="FF0000"/>
                </a:solidFill>
                <a:ea typeface="Microsoft JhengHei" panose="020B0604030504040204" pitchFamily="34" charset="-120"/>
              </a:rPr>
              <a:t> 還要好</a:t>
            </a:r>
            <a:endParaRPr kumimoji="1" lang="en-US" altLang="zh-TW" sz="2400" dirty="0">
              <a:solidFill>
                <a:srgbClr val="FF0000"/>
              </a:solidFill>
              <a:ea typeface="Microsoft JhengHei" panose="020B0604030504040204" pitchFamily="34" charset="-120"/>
            </a:endParaRPr>
          </a:p>
        </p:txBody>
      </p:sp>
    </p:spTree>
    <p:extLst>
      <p:ext uri="{BB962C8B-B14F-4D97-AF65-F5344CB8AC3E}">
        <p14:creationId xmlns:p14="http://schemas.microsoft.com/office/powerpoint/2010/main" val="63556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71F6DC95-0680-391E-16BA-8C81E7934248}"/>
              </a:ext>
            </a:extLst>
          </p:cNvPr>
          <p:cNvSpPr>
            <a:spLocks noGrp="1"/>
          </p:cNvSpPr>
          <p:nvPr>
            <p:ph type="sldNum" sz="quarter" idx="12"/>
          </p:nvPr>
        </p:nvSpPr>
        <p:spPr/>
        <p:txBody>
          <a:bodyPr/>
          <a:lstStyle/>
          <a:p>
            <a:fld id="{6113E31D-E2AB-40D1-8B51-AFA5AFEF393A}" type="slidenum">
              <a:rPr lang="en-US" smtClean="0"/>
              <a:pPr/>
              <a:t>45</a:t>
            </a:fld>
            <a:endParaRPr lang="en-US" dirty="0"/>
          </a:p>
        </p:txBody>
      </p:sp>
      <p:pic>
        <p:nvPicPr>
          <p:cNvPr id="5" name="圖片 4">
            <a:extLst>
              <a:ext uri="{FF2B5EF4-FFF2-40B4-BE49-F238E27FC236}">
                <a16:creationId xmlns:a16="http://schemas.microsoft.com/office/drawing/2014/main" id="{A8F4654B-0857-33EB-0C16-B2651C78F33C}"/>
              </a:ext>
            </a:extLst>
          </p:cNvPr>
          <p:cNvPicPr>
            <a:picLocks noChangeAspect="1"/>
          </p:cNvPicPr>
          <p:nvPr/>
        </p:nvPicPr>
        <p:blipFill>
          <a:blip r:embed="rId2"/>
          <a:stretch>
            <a:fillRect/>
          </a:stretch>
        </p:blipFill>
        <p:spPr>
          <a:xfrm>
            <a:off x="1697283" y="1633179"/>
            <a:ext cx="8797434" cy="5053237"/>
          </a:xfrm>
          <a:prstGeom prst="rect">
            <a:avLst/>
          </a:prstGeom>
        </p:spPr>
      </p:pic>
      <p:sp>
        <p:nvSpPr>
          <p:cNvPr id="6" name="標題 1">
            <a:extLst>
              <a:ext uri="{FF2B5EF4-FFF2-40B4-BE49-F238E27FC236}">
                <a16:creationId xmlns:a16="http://schemas.microsoft.com/office/drawing/2014/main" id="{E5CE820A-8900-A434-3FE3-563D04CD36C6}"/>
              </a:ext>
            </a:extLst>
          </p:cNvPr>
          <p:cNvSpPr>
            <a:spLocks noGrp="1"/>
          </p:cNvSpPr>
          <p:nvPr>
            <p:ph type="title"/>
          </p:nvPr>
        </p:nvSpPr>
        <p:spPr>
          <a:xfrm>
            <a:off x="653143" y="356088"/>
            <a:ext cx="10918371" cy="1033416"/>
          </a:xfrm>
        </p:spPr>
        <p:txBody>
          <a:bodyPr>
            <a:normAutofit/>
          </a:bodyPr>
          <a:lstStyle/>
          <a:p>
            <a:r>
              <a:rPr kumimoji="1" lang="en" altLang="zh-TW" dirty="0" err="1"/>
              <a:t>RoBERTa</a:t>
            </a:r>
            <a:r>
              <a:rPr kumimoji="1" lang="en" altLang="zh-TW" dirty="0"/>
              <a:t> was rejected by ICLR.</a:t>
            </a:r>
            <a:endParaRPr kumimoji="1" lang="zh-TW" altLang="en-US" dirty="0"/>
          </a:p>
        </p:txBody>
      </p:sp>
      <p:sp>
        <p:nvSpPr>
          <p:cNvPr id="7" name="文字方塊 6">
            <a:extLst>
              <a:ext uri="{FF2B5EF4-FFF2-40B4-BE49-F238E27FC236}">
                <a16:creationId xmlns:a16="http://schemas.microsoft.com/office/drawing/2014/main" id="{85AB71D0-9073-0CF2-9129-FAF064EDEA44}"/>
              </a:ext>
            </a:extLst>
          </p:cNvPr>
          <p:cNvSpPr txBox="1"/>
          <p:nvPr/>
        </p:nvSpPr>
        <p:spPr>
          <a:xfrm>
            <a:off x="9571293" y="1389504"/>
            <a:ext cx="2083324" cy="646331"/>
          </a:xfrm>
          <a:prstGeom prst="rect">
            <a:avLst/>
          </a:prstGeom>
          <a:noFill/>
        </p:spPr>
        <p:txBody>
          <a:bodyPr wrap="square" rtlCol="0">
            <a:spAutoFit/>
          </a:bodyPr>
          <a:lstStyle/>
          <a:p>
            <a:pPr algn="ctr"/>
            <a:r>
              <a:rPr kumimoji="1" lang="en-US" altLang="zh-TW" dirty="0"/>
              <a:t>Citations: 26136</a:t>
            </a:r>
          </a:p>
          <a:p>
            <a:pPr algn="ctr"/>
            <a:r>
              <a:rPr kumimoji="1" lang="en-US" altLang="zh-TW" dirty="0"/>
              <a:t>(2026/03/27)</a:t>
            </a:r>
            <a:endParaRPr kumimoji="1" lang="zh-TW" altLang="en-US" dirty="0"/>
          </a:p>
        </p:txBody>
      </p:sp>
    </p:spTree>
    <p:extLst>
      <p:ext uri="{BB962C8B-B14F-4D97-AF65-F5344CB8AC3E}">
        <p14:creationId xmlns:p14="http://schemas.microsoft.com/office/powerpoint/2010/main" val="12978013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a:extLst>
              <a:ext uri="{FF2B5EF4-FFF2-40B4-BE49-F238E27FC236}">
                <a16:creationId xmlns:a16="http://schemas.microsoft.com/office/drawing/2014/main" id="{0988A61A-7679-5029-E481-E972BCDA8321}"/>
              </a:ext>
            </a:extLst>
          </p:cNvPr>
          <p:cNvSpPr>
            <a:spLocks noGrp="1"/>
          </p:cNvSpPr>
          <p:nvPr>
            <p:ph type="title"/>
          </p:nvPr>
        </p:nvSpPr>
        <p:spPr>
          <a:xfrm>
            <a:off x="457200" y="2407297"/>
            <a:ext cx="3200400" cy="1315617"/>
          </a:xfrm>
        </p:spPr>
        <p:txBody>
          <a:bodyPr/>
          <a:lstStyle/>
          <a:p>
            <a:r>
              <a:rPr lang="en-US" altLang="zh-TW" dirty="0"/>
              <a:t>BERT and its Family</a:t>
            </a:r>
            <a:endParaRPr lang="zh-TW" altLang="en-US" dirty="0"/>
          </a:p>
        </p:txBody>
      </p:sp>
      <p:sp>
        <p:nvSpPr>
          <p:cNvPr id="4" name="投影片編號版面配置區 3">
            <a:extLst>
              <a:ext uri="{FF2B5EF4-FFF2-40B4-BE49-F238E27FC236}">
                <a16:creationId xmlns:a16="http://schemas.microsoft.com/office/drawing/2014/main" id="{642B01E6-53DD-CC83-28F9-073680E15DA3}"/>
              </a:ext>
            </a:extLst>
          </p:cNvPr>
          <p:cNvSpPr>
            <a:spLocks noGrp="1"/>
          </p:cNvSpPr>
          <p:nvPr>
            <p:ph type="sldNum" sz="quarter" idx="12"/>
          </p:nvPr>
        </p:nvSpPr>
        <p:spPr/>
        <p:txBody>
          <a:bodyPr/>
          <a:lstStyle/>
          <a:p>
            <a:fld id="{6113E31D-E2AB-40D1-8B51-AFA5AFEF393A}" type="slidenum">
              <a:rPr lang="en-US" smtClean="0"/>
              <a:pPr/>
              <a:t>46</a:t>
            </a:fld>
            <a:endParaRPr lang="en-US" dirty="0"/>
          </a:p>
        </p:txBody>
      </p:sp>
      <p:sp>
        <p:nvSpPr>
          <p:cNvPr id="2" name="文字方塊 1">
            <a:extLst>
              <a:ext uri="{FF2B5EF4-FFF2-40B4-BE49-F238E27FC236}">
                <a16:creationId xmlns:a16="http://schemas.microsoft.com/office/drawing/2014/main" id="{1C0915F4-406B-77AB-8C4F-858F740AB7BA}"/>
              </a:ext>
            </a:extLst>
          </p:cNvPr>
          <p:cNvSpPr txBox="1"/>
          <p:nvPr/>
        </p:nvSpPr>
        <p:spPr>
          <a:xfrm>
            <a:off x="4612852" y="2151727"/>
            <a:ext cx="3921550" cy="2554545"/>
          </a:xfrm>
          <a:prstGeom prst="rect">
            <a:avLst/>
          </a:prstGeom>
          <a:noFill/>
        </p:spPr>
        <p:txBody>
          <a:bodyPr wrap="square" rtlCol="0">
            <a:spAutoFit/>
          </a:bodyPr>
          <a:lstStyle/>
          <a:p>
            <a:pPr marL="457200" indent="-457200">
              <a:buFont typeface="Arial" panose="020B0604020202020204" pitchFamily="34" charset="0"/>
              <a:buChar char="•"/>
            </a:pPr>
            <a:r>
              <a:rPr kumimoji="1" lang="en-US" altLang="zh-TW" sz="3200" dirty="0" err="1"/>
              <a:t>ELMo</a:t>
            </a:r>
            <a:endParaRPr kumimoji="1" lang="en-US" altLang="zh-TW" sz="3200" dirty="0"/>
          </a:p>
          <a:p>
            <a:pPr marL="457200" indent="-457200">
              <a:buFont typeface="Arial" panose="020B0604020202020204" pitchFamily="34" charset="0"/>
              <a:buChar char="•"/>
            </a:pPr>
            <a:r>
              <a:rPr kumimoji="1" lang="en-US" altLang="zh-TW" sz="3200" dirty="0"/>
              <a:t>BERT</a:t>
            </a:r>
          </a:p>
          <a:p>
            <a:pPr marL="457200" indent="-457200">
              <a:buFont typeface="Arial" panose="020B0604020202020204" pitchFamily="34" charset="0"/>
              <a:buChar char="•"/>
            </a:pPr>
            <a:r>
              <a:rPr kumimoji="1" lang="en-US" altLang="zh-TW" sz="3200" dirty="0" err="1"/>
              <a:t>RoBERTa</a:t>
            </a:r>
            <a:endParaRPr kumimoji="1" lang="en-US" altLang="zh-TW" sz="3200" dirty="0"/>
          </a:p>
          <a:p>
            <a:pPr marL="457200" indent="-457200">
              <a:buFont typeface="Arial" panose="020B0604020202020204" pitchFamily="34" charset="0"/>
              <a:buChar char="•"/>
            </a:pPr>
            <a:r>
              <a:rPr kumimoji="1" lang="en-US" altLang="zh-TW" sz="3200" dirty="0" err="1">
                <a:solidFill>
                  <a:srgbClr val="FF0000"/>
                </a:solidFill>
              </a:rPr>
              <a:t>SpanBERT</a:t>
            </a:r>
            <a:endParaRPr kumimoji="1" lang="en-US" altLang="zh-TW" sz="3200" dirty="0">
              <a:solidFill>
                <a:srgbClr val="FF0000"/>
              </a:solidFill>
            </a:endParaRPr>
          </a:p>
          <a:p>
            <a:pPr marL="457200" indent="-457200">
              <a:buFont typeface="Arial" panose="020B0604020202020204" pitchFamily="34" charset="0"/>
              <a:buChar char="•"/>
            </a:pPr>
            <a:r>
              <a:rPr kumimoji="1" lang="en-US" altLang="zh-TW" sz="3200" dirty="0" err="1"/>
              <a:t>DeBERTa</a:t>
            </a:r>
            <a:endParaRPr kumimoji="1" lang="zh-TW" altLang="en-US" sz="3200" dirty="0"/>
          </a:p>
        </p:txBody>
      </p:sp>
    </p:spTree>
    <p:extLst>
      <p:ext uri="{BB962C8B-B14F-4D97-AF65-F5344CB8AC3E}">
        <p14:creationId xmlns:p14="http://schemas.microsoft.com/office/powerpoint/2010/main" val="23564752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3A7ED-FCCB-6582-BAC9-BFA73C3339E7}"/>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5FA1CCC-0274-72F5-2C75-DE85E950754A}"/>
              </a:ext>
            </a:extLst>
          </p:cNvPr>
          <p:cNvSpPr>
            <a:spLocks noGrp="1"/>
          </p:cNvSpPr>
          <p:nvPr>
            <p:ph type="title"/>
          </p:nvPr>
        </p:nvSpPr>
        <p:spPr/>
        <p:txBody>
          <a:bodyPr/>
          <a:lstStyle/>
          <a:p>
            <a:r>
              <a:rPr lang="en-US" altLang="zh-TW" dirty="0">
                <a:ea typeface="新細明體"/>
                <a:cs typeface="Calibri Light"/>
              </a:rPr>
              <a:t>Span</a:t>
            </a:r>
            <a:r>
              <a:rPr lang="zh-TW" altLang="en-US" dirty="0">
                <a:ea typeface="新細明體"/>
                <a:cs typeface="Calibri Light"/>
              </a:rPr>
              <a:t>BERT</a:t>
            </a:r>
            <a:endParaRPr lang="zh-TW" dirty="0"/>
          </a:p>
        </p:txBody>
      </p:sp>
      <p:sp>
        <p:nvSpPr>
          <p:cNvPr id="5" name="投影片編號版面配置區 4">
            <a:extLst>
              <a:ext uri="{FF2B5EF4-FFF2-40B4-BE49-F238E27FC236}">
                <a16:creationId xmlns:a16="http://schemas.microsoft.com/office/drawing/2014/main" id="{815B822B-94D6-E97D-8954-60936D944DE5}"/>
              </a:ext>
            </a:extLst>
          </p:cNvPr>
          <p:cNvSpPr>
            <a:spLocks noGrp="1"/>
          </p:cNvSpPr>
          <p:nvPr>
            <p:ph type="sldNum" sz="quarter" idx="12"/>
          </p:nvPr>
        </p:nvSpPr>
        <p:spPr/>
        <p:txBody>
          <a:bodyPr/>
          <a:lstStyle/>
          <a:p>
            <a:fld id="{6113E31D-E2AB-40D1-8B51-AFA5AFEF393A}" type="slidenum">
              <a:rPr lang="en-US" dirty="0"/>
              <a:t>47</a:t>
            </a:fld>
            <a:endParaRPr lang="zh-TW" altLang="en-US"/>
          </a:p>
        </p:txBody>
      </p:sp>
      <p:sp>
        <p:nvSpPr>
          <p:cNvPr id="6" name="內容版面配置區 5">
            <a:extLst>
              <a:ext uri="{FF2B5EF4-FFF2-40B4-BE49-F238E27FC236}">
                <a16:creationId xmlns:a16="http://schemas.microsoft.com/office/drawing/2014/main" id="{DA0FDD0F-A540-F6CA-A9D2-E5B887B1418C}"/>
              </a:ext>
            </a:extLst>
          </p:cNvPr>
          <p:cNvSpPr>
            <a:spLocks noGrp="1"/>
          </p:cNvSpPr>
          <p:nvPr>
            <p:ph idx="1"/>
          </p:nvPr>
        </p:nvSpPr>
        <p:spPr>
          <a:xfrm>
            <a:off x="787061" y="1820746"/>
            <a:ext cx="10058400" cy="1127526"/>
          </a:xfrm>
        </p:spPr>
        <p:txBody>
          <a:bodyPr>
            <a:normAutofit/>
          </a:bodyPr>
          <a:lstStyle/>
          <a:p>
            <a:pPr marL="0" indent="0">
              <a:buNone/>
            </a:pPr>
            <a:r>
              <a:rPr lang="zh-TW" altLang="en-US" dirty="0">
                <a:solidFill>
                  <a:schemeClr val="tx1"/>
                </a:solidFill>
                <a:latin typeface="Microsoft JhengHei" panose="020B0604030504040204" pitchFamily="34" charset="-120"/>
                <a:ea typeface="Microsoft JhengHei" panose="020B0604030504040204" pitchFamily="34" charset="-120"/>
                <a:cs typeface="Times New Roman" panose="02020603050405020304" pitchFamily="18" charset="0"/>
              </a:rPr>
              <a:t>基於</a:t>
            </a:r>
            <a:r>
              <a:rPr lang="en-US" altLang="zh-TW" dirty="0">
                <a:solidFill>
                  <a:schemeClr val="tx1"/>
                </a:solidFill>
                <a:latin typeface="Microsoft JhengHei" panose="020B0604030504040204" pitchFamily="34" charset="-120"/>
                <a:ea typeface="Microsoft JhengHei" panose="020B0604030504040204" pitchFamily="34" charset="-120"/>
                <a:cs typeface="Times New Roman" panose="02020603050405020304" pitchFamily="18" charset="0"/>
              </a:rPr>
              <a:t>MLM</a:t>
            </a:r>
            <a:r>
              <a:rPr lang="zh-TW" altLang="en-US" dirty="0">
                <a:solidFill>
                  <a:schemeClr val="tx1"/>
                </a:solidFill>
                <a:latin typeface="Microsoft JhengHei" panose="020B0604030504040204" pitchFamily="34" charset="-120"/>
                <a:ea typeface="Microsoft JhengHei" panose="020B0604030504040204" pitchFamily="34" charset="-120"/>
                <a:cs typeface="Times New Roman" panose="02020603050405020304" pitchFamily="18" charset="0"/>
              </a:rPr>
              <a:t>的新目標函數</a:t>
            </a:r>
            <a:r>
              <a:rPr lang="en-US" altLang="zh-TW" dirty="0">
                <a:solidFill>
                  <a:schemeClr val="tx1"/>
                </a:solidFill>
                <a:cs typeface="Times New Roman" panose="02020603050405020304" pitchFamily="18" charset="0"/>
              </a:rPr>
              <a:t>: Span Boundary Objective (SBO)</a:t>
            </a:r>
          </a:p>
          <a:p>
            <a:pPr marL="0" indent="0">
              <a:buNone/>
            </a:pPr>
            <a:r>
              <a:rPr lang="en-US" altLang="zh-TW" dirty="0">
                <a:solidFill>
                  <a:schemeClr val="tx1"/>
                </a:solidFill>
                <a:latin typeface="Microsoft JhengHei" panose="020B0604030504040204" pitchFamily="34" charset="-120"/>
                <a:ea typeface="Microsoft JhengHei" panose="020B0604030504040204" pitchFamily="34" charset="-120"/>
                <a:cs typeface="Times New Roman" panose="02020603050405020304" pitchFamily="18" charset="0"/>
              </a:rPr>
              <a:t>➡️ </a:t>
            </a:r>
            <a:r>
              <a:rPr lang="zh-TW" altLang="en-US" dirty="0">
                <a:solidFill>
                  <a:schemeClr val="tx1"/>
                </a:solidFill>
                <a:latin typeface="Microsoft JhengHei" panose="020B0604030504040204" pitchFamily="34" charset="-120"/>
                <a:ea typeface="Microsoft JhengHei" panose="020B0604030504040204" pitchFamily="34" charset="-120"/>
                <a:cs typeface="Times New Roman" panose="02020603050405020304" pitchFamily="18" charset="0"/>
              </a:rPr>
              <a:t>一次</a:t>
            </a:r>
            <a:r>
              <a:rPr lang="en-US" altLang="zh-TW" dirty="0">
                <a:solidFill>
                  <a:schemeClr val="tx1"/>
                </a:solidFill>
                <a:latin typeface="Microsoft JhengHei" panose="020B0604030504040204" pitchFamily="34" charset="-120"/>
                <a:ea typeface="Microsoft JhengHei" panose="020B0604030504040204" pitchFamily="34" charset="-120"/>
                <a:cs typeface="Times New Roman" panose="02020603050405020304" pitchFamily="18" charset="0"/>
              </a:rPr>
              <a:t> mask </a:t>
            </a:r>
            <a:r>
              <a:rPr lang="zh-TW" altLang="en-US" dirty="0">
                <a:solidFill>
                  <a:schemeClr val="tx1"/>
                </a:solidFill>
                <a:latin typeface="Microsoft JhengHei" panose="020B0604030504040204" pitchFamily="34" charset="-120"/>
                <a:ea typeface="Microsoft JhengHei" panose="020B0604030504040204" pitchFamily="34" charset="-120"/>
                <a:cs typeface="Times New Roman" panose="02020603050405020304" pitchFamily="18" charset="0"/>
              </a:rPr>
              <a:t>一段 </a:t>
            </a:r>
            <a:r>
              <a:rPr lang="en-US" altLang="zh-TW" dirty="0">
                <a:solidFill>
                  <a:schemeClr val="tx1"/>
                </a:solidFill>
                <a:latin typeface="Microsoft JhengHei" panose="020B0604030504040204" pitchFamily="34" charset="-120"/>
                <a:ea typeface="Microsoft JhengHei" panose="020B0604030504040204" pitchFamily="34" charset="-120"/>
                <a:cs typeface="Times New Roman" panose="02020603050405020304" pitchFamily="18" charset="0"/>
              </a:rPr>
              <a:t>span</a:t>
            </a:r>
            <a:r>
              <a:rPr lang="zh-TW" altLang="en-US" dirty="0">
                <a:solidFill>
                  <a:schemeClr val="tx1"/>
                </a:solidFill>
                <a:latin typeface="Microsoft JhengHei" panose="020B0604030504040204" pitchFamily="34" charset="-120"/>
                <a:ea typeface="Microsoft JhengHei" panose="020B0604030504040204" pitchFamily="34" charset="-120"/>
                <a:cs typeface="Times New Roman" panose="02020603050405020304" pitchFamily="18" charset="0"/>
              </a:rPr>
              <a:t>，每次的目標為還原 </a:t>
            </a:r>
            <a:r>
              <a:rPr lang="en-US" altLang="zh-TW" dirty="0">
                <a:solidFill>
                  <a:schemeClr val="tx1"/>
                </a:solidFill>
                <a:latin typeface="Microsoft JhengHei" panose="020B0604030504040204" pitchFamily="34" charset="-120"/>
                <a:ea typeface="Microsoft JhengHei" panose="020B0604030504040204" pitchFamily="34" charset="-120"/>
                <a:cs typeface="Times New Roman" panose="02020603050405020304" pitchFamily="18" charset="0"/>
              </a:rPr>
              <a:t>span </a:t>
            </a:r>
            <a:r>
              <a:rPr lang="zh-TW" altLang="en-US" dirty="0">
                <a:solidFill>
                  <a:schemeClr val="tx1"/>
                </a:solidFill>
                <a:latin typeface="Microsoft JhengHei" panose="020B0604030504040204" pitchFamily="34" charset="-120"/>
                <a:ea typeface="Microsoft JhengHei" panose="020B0604030504040204" pitchFamily="34" charset="-120"/>
                <a:cs typeface="Times New Roman" panose="02020603050405020304" pitchFamily="18" charset="0"/>
              </a:rPr>
              <a:t>中的其中一個字</a:t>
            </a:r>
            <a:endParaRPr lang="zh-TW" altLang="en-US" dirty="0">
              <a:solidFill>
                <a:schemeClr val="tx1"/>
              </a:solidFill>
              <a:cs typeface="Times New Roman" panose="02020603050405020304" pitchFamily="18" charset="0"/>
            </a:endParaRPr>
          </a:p>
        </p:txBody>
      </p:sp>
      <p:grpSp>
        <p:nvGrpSpPr>
          <p:cNvPr id="39" name="群組 38">
            <a:extLst>
              <a:ext uri="{FF2B5EF4-FFF2-40B4-BE49-F238E27FC236}">
                <a16:creationId xmlns:a16="http://schemas.microsoft.com/office/drawing/2014/main" id="{FAECE2AB-FA42-154F-07D4-4B7AD07728D1}"/>
              </a:ext>
            </a:extLst>
          </p:cNvPr>
          <p:cNvGrpSpPr/>
          <p:nvPr/>
        </p:nvGrpSpPr>
        <p:grpSpPr>
          <a:xfrm>
            <a:off x="1401542" y="2896517"/>
            <a:ext cx="9008407" cy="2695638"/>
            <a:chOff x="1826611" y="2889631"/>
            <a:chExt cx="9008407" cy="2695638"/>
          </a:xfrm>
        </p:grpSpPr>
        <p:grpSp>
          <p:nvGrpSpPr>
            <p:cNvPr id="3" name="群組 2">
              <a:extLst>
                <a:ext uri="{FF2B5EF4-FFF2-40B4-BE49-F238E27FC236}">
                  <a16:creationId xmlns:a16="http://schemas.microsoft.com/office/drawing/2014/main" id="{785315FE-AEDC-C306-B440-C816C09B9791}"/>
                </a:ext>
              </a:extLst>
            </p:cNvPr>
            <p:cNvGrpSpPr/>
            <p:nvPr/>
          </p:nvGrpSpPr>
          <p:grpSpPr>
            <a:xfrm>
              <a:off x="2384622" y="4306676"/>
              <a:ext cx="293612" cy="795523"/>
              <a:chOff x="1295043" y="4665606"/>
              <a:chExt cx="293612" cy="795523"/>
            </a:xfrm>
          </p:grpSpPr>
          <p:sp>
            <p:nvSpPr>
              <p:cNvPr id="4" name="矩形 3">
                <a:extLst>
                  <a:ext uri="{FF2B5EF4-FFF2-40B4-BE49-F238E27FC236}">
                    <a16:creationId xmlns:a16="http://schemas.microsoft.com/office/drawing/2014/main" id="{B74C7A8E-CCDD-D4A5-17CE-AC04EE3481F0}"/>
                  </a:ext>
                </a:extLst>
              </p:cNvPr>
              <p:cNvSpPr/>
              <p:nvPr/>
            </p:nvSpPr>
            <p:spPr>
              <a:xfrm rot="5400000">
                <a:off x="1186991" y="5059465"/>
                <a:ext cx="509716" cy="293612"/>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7" name="直線箭頭接點 2">
                <a:extLst>
                  <a:ext uri="{FF2B5EF4-FFF2-40B4-BE49-F238E27FC236}">
                    <a16:creationId xmlns:a16="http://schemas.microsoft.com/office/drawing/2014/main" id="{2DF322DD-689F-F45F-08B1-E5CC8071889D}"/>
                  </a:ext>
                </a:extLst>
              </p:cNvPr>
              <p:cNvCxnSpPr>
                <a:cxnSpLocks/>
              </p:cNvCxnSpPr>
              <p:nvPr/>
            </p:nvCxnSpPr>
            <p:spPr>
              <a:xfrm flipV="1">
                <a:off x="1441849" y="4665606"/>
                <a:ext cx="0" cy="5097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8" name="矩形 7">
              <a:extLst>
                <a:ext uri="{FF2B5EF4-FFF2-40B4-BE49-F238E27FC236}">
                  <a16:creationId xmlns:a16="http://schemas.microsoft.com/office/drawing/2014/main" id="{B5B45B0F-61B1-095B-6992-C8558D5D47A4}"/>
                </a:ext>
              </a:extLst>
            </p:cNvPr>
            <p:cNvSpPr/>
            <p:nvPr/>
          </p:nvSpPr>
          <p:spPr>
            <a:xfrm rot="5400000">
              <a:off x="3364202" y="4700535"/>
              <a:ext cx="509716" cy="293612"/>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0" name="直線箭頭接點 2">
              <a:extLst>
                <a:ext uri="{FF2B5EF4-FFF2-40B4-BE49-F238E27FC236}">
                  <a16:creationId xmlns:a16="http://schemas.microsoft.com/office/drawing/2014/main" id="{A90C4C78-1796-1F46-1ABE-1D1BA6C7D716}"/>
                </a:ext>
              </a:extLst>
            </p:cNvPr>
            <p:cNvCxnSpPr>
              <a:cxnSpLocks/>
            </p:cNvCxnSpPr>
            <p:nvPr/>
          </p:nvCxnSpPr>
          <p:spPr>
            <a:xfrm flipV="1">
              <a:off x="3619060" y="4306676"/>
              <a:ext cx="0" cy="5097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矩形: 圓角 10">
              <a:extLst>
                <a:ext uri="{FF2B5EF4-FFF2-40B4-BE49-F238E27FC236}">
                  <a16:creationId xmlns:a16="http://schemas.microsoft.com/office/drawing/2014/main" id="{77201C3C-06C5-9EAD-2BDC-C7AEB6D7400E}"/>
                </a:ext>
              </a:extLst>
            </p:cNvPr>
            <p:cNvSpPr/>
            <p:nvPr/>
          </p:nvSpPr>
          <p:spPr>
            <a:xfrm>
              <a:off x="1826611" y="3756445"/>
              <a:ext cx="8951273" cy="436493"/>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cs typeface="Times New Roman" panose="02020603050405020304" pitchFamily="18" charset="0"/>
                </a:rPr>
                <a:t>Transformer Encoder</a:t>
              </a:r>
              <a:endParaRPr lang="zh-TW" altLang="en-US" dirty="0">
                <a:cs typeface="Times New Roman" panose="02020603050405020304" pitchFamily="18" charset="0"/>
              </a:endParaRPr>
            </a:p>
          </p:txBody>
        </p:sp>
        <p:cxnSp>
          <p:nvCxnSpPr>
            <p:cNvPr id="12" name="直線箭頭接點 2">
              <a:extLst>
                <a:ext uri="{FF2B5EF4-FFF2-40B4-BE49-F238E27FC236}">
                  <a16:creationId xmlns:a16="http://schemas.microsoft.com/office/drawing/2014/main" id="{896F5A6B-3C24-95B2-9DAD-C0554784D319}"/>
                </a:ext>
              </a:extLst>
            </p:cNvPr>
            <p:cNvCxnSpPr>
              <a:cxnSpLocks/>
            </p:cNvCxnSpPr>
            <p:nvPr/>
          </p:nvCxnSpPr>
          <p:spPr>
            <a:xfrm flipV="1">
              <a:off x="4706692" y="3267159"/>
              <a:ext cx="0" cy="34918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文字方塊 12">
              <a:extLst>
                <a:ext uri="{FF2B5EF4-FFF2-40B4-BE49-F238E27FC236}">
                  <a16:creationId xmlns:a16="http://schemas.microsoft.com/office/drawing/2014/main" id="{45C0F3CE-9FC5-029F-3A9A-2A7460ECFDD2}"/>
                </a:ext>
              </a:extLst>
            </p:cNvPr>
            <p:cNvSpPr txBox="1"/>
            <p:nvPr/>
          </p:nvSpPr>
          <p:spPr>
            <a:xfrm>
              <a:off x="1850126" y="5215937"/>
              <a:ext cx="1362604" cy="369332"/>
            </a:xfrm>
            <a:prstGeom prst="rect">
              <a:avLst/>
            </a:prstGeom>
            <a:noFill/>
          </p:spPr>
          <p:txBody>
            <a:bodyPr wrap="square" rtlCol="0">
              <a:spAutoFit/>
            </a:bodyPr>
            <a:lstStyle/>
            <a:p>
              <a:pPr algn="ctr"/>
              <a:r>
                <a:rPr lang="en-US" altLang="zh-TW">
                  <a:cs typeface="Times New Roman" panose="02020603050405020304" pitchFamily="18" charset="0"/>
                </a:rPr>
                <a:t>Generative</a:t>
              </a:r>
              <a:endParaRPr lang="zh-TW" altLang="en-US">
                <a:cs typeface="Times New Roman" panose="02020603050405020304" pitchFamily="18" charset="0"/>
              </a:endParaRPr>
            </a:p>
          </p:txBody>
        </p:sp>
        <p:grpSp>
          <p:nvGrpSpPr>
            <p:cNvPr id="14" name="群組 13">
              <a:extLst>
                <a:ext uri="{FF2B5EF4-FFF2-40B4-BE49-F238E27FC236}">
                  <a16:creationId xmlns:a16="http://schemas.microsoft.com/office/drawing/2014/main" id="{A2239CA2-6D70-47DD-FC2C-4228D903C9C8}"/>
                </a:ext>
              </a:extLst>
            </p:cNvPr>
            <p:cNvGrpSpPr/>
            <p:nvPr/>
          </p:nvGrpSpPr>
          <p:grpSpPr>
            <a:xfrm>
              <a:off x="4559886" y="4303243"/>
              <a:ext cx="293612" cy="795523"/>
              <a:chOff x="1295043" y="4665606"/>
              <a:chExt cx="293612" cy="795523"/>
            </a:xfrm>
          </p:grpSpPr>
          <p:sp>
            <p:nvSpPr>
              <p:cNvPr id="15" name="矩形 14">
                <a:extLst>
                  <a:ext uri="{FF2B5EF4-FFF2-40B4-BE49-F238E27FC236}">
                    <a16:creationId xmlns:a16="http://schemas.microsoft.com/office/drawing/2014/main" id="{384B2E4D-6DF1-7189-C0B1-AA942440211D}"/>
                  </a:ext>
                </a:extLst>
              </p:cNvPr>
              <p:cNvSpPr/>
              <p:nvPr/>
            </p:nvSpPr>
            <p:spPr>
              <a:xfrm rot="5400000">
                <a:off x="1186991" y="5059465"/>
                <a:ext cx="509716" cy="293612"/>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6" name="直線箭頭接點 2">
                <a:extLst>
                  <a:ext uri="{FF2B5EF4-FFF2-40B4-BE49-F238E27FC236}">
                    <a16:creationId xmlns:a16="http://schemas.microsoft.com/office/drawing/2014/main" id="{0C64DB10-5BD1-336B-1B8B-D04932E63D28}"/>
                  </a:ext>
                </a:extLst>
              </p:cNvPr>
              <p:cNvCxnSpPr>
                <a:cxnSpLocks/>
              </p:cNvCxnSpPr>
              <p:nvPr/>
            </p:nvCxnSpPr>
            <p:spPr>
              <a:xfrm flipV="1">
                <a:off x="1441849" y="4665606"/>
                <a:ext cx="0" cy="5097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7" name="群組 16">
              <a:extLst>
                <a:ext uri="{FF2B5EF4-FFF2-40B4-BE49-F238E27FC236}">
                  <a16:creationId xmlns:a16="http://schemas.microsoft.com/office/drawing/2014/main" id="{7F577772-9EF6-D100-55F6-B70D3A8E892D}"/>
                </a:ext>
              </a:extLst>
            </p:cNvPr>
            <p:cNvGrpSpPr/>
            <p:nvPr/>
          </p:nvGrpSpPr>
          <p:grpSpPr>
            <a:xfrm>
              <a:off x="5631718" y="4303243"/>
              <a:ext cx="293612" cy="795523"/>
              <a:chOff x="1295043" y="4665606"/>
              <a:chExt cx="293612" cy="795523"/>
            </a:xfrm>
          </p:grpSpPr>
          <p:sp>
            <p:nvSpPr>
              <p:cNvPr id="18" name="矩形 17">
                <a:extLst>
                  <a:ext uri="{FF2B5EF4-FFF2-40B4-BE49-F238E27FC236}">
                    <a16:creationId xmlns:a16="http://schemas.microsoft.com/office/drawing/2014/main" id="{3B352023-C56F-81D6-DD1F-211DC5D9E718}"/>
                  </a:ext>
                </a:extLst>
              </p:cNvPr>
              <p:cNvSpPr/>
              <p:nvPr/>
            </p:nvSpPr>
            <p:spPr>
              <a:xfrm rot="5400000">
                <a:off x="1186991" y="5059465"/>
                <a:ext cx="509716" cy="29361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9" name="直線箭頭接點 2">
                <a:extLst>
                  <a:ext uri="{FF2B5EF4-FFF2-40B4-BE49-F238E27FC236}">
                    <a16:creationId xmlns:a16="http://schemas.microsoft.com/office/drawing/2014/main" id="{E496F508-5D09-E7AF-8AA5-A6B9186D278C}"/>
                  </a:ext>
                </a:extLst>
              </p:cNvPr>
              <p:cNvCxnSpPr>
                <a:cxnSpLocks/>
              </p:cNvCxnSpPr>
              <p:nvPr/>
            </p:nvCxnSpPr>
            <p:spPr>
              <a:xfrm flipV="1">
                <a:off x="1441849" y="4665606"/>
                <a:ext cx="0" cy="5097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0" name="群組 19">
              <a:extLst>
                <a:ext uri="{FF2B5EF4-FFF2-40B4-BE49-F238E27FC236}">
                  <a16:creationId xmlns:a16="http://schemas.microsoft.com/office/drawing/2014/main" id="{C1F72340-355E-4F66-07E6-62A807894026}"/>
                </a:ext>
              </a:extLst>
            </p:cNvPr>
            <p:cNvGrpSpPr/>
            <p:nvPr/>
          </p:nvGrpSpPr>
          <p:grpSpPr>
            <a:xfrm>
              <a:off x="6742028" y="4303243"/>
              <a:ext cx="293612" cy="795523"/>
              <a:chOff x="1295043" y="4665606"/>
              <a:chExt cx="293612" cy="795523"/>
            </a:xfrm>
          </p:grpSpPr>
          <p:sp>
            <p:nvSpPr>
              <p:cNvPr id="21" name="矩形 20">
                <a:extLst>
                  <a:ext uri="{FF2B5EF4-FFF2-40B4-BE49-F238E27FC236}">
                    <a16:creationId xmlns:a16="http://schemas.microsoft.com/office/drawing/2014/main" id="{0F54B962-31DD-2A6C-F478-77E02FBD18E1}"/>
                  </a:ext>
                </a:extLst>
              </p:cNvPr>
              <p:cNvSpPr/>
              <p:nvPr/>
            </p:nvSpPr>
            <p:spPr>
              <a:xfrm rot="5400000">
                <a:off x="1186991" y="5059465"/>
                <a:ext cx="509716" cy="29361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2" name="直線箭頭接點 2">
                <a:extLst>
                  <a:ext uri="{FF2B5EF4-FFF2-40B4-BE49-F238E27FC236}">
                    <a16:creationId xmlns:a16="http://schemas.microsoft.com/office/drawing/2014/main" id="{7D74190B-F395-3292-6105-17FB81111C90}"/>
                  </a:ext>
                </a:extLst>
              </p:cNvPr>
              <p:cNvCxnSpPr>
                <a:cxnSpLocks/>
              </p:cNvCxnSpPr>
              <p:nvPr/>
            </p:nvCxnSpPr>
            <p:spPr>
              <a:xfrm flipV="1">
                <a:off x="1441849" y="4665606"/>
                <a:ext cx="0" cy="5097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3" name="文字方塊 22">
              <a:extLst>
                <a:ext uri="{FF2B5EF4-FFF2-40B4-BE49-F238E27FC236}">
                  <a16:creationId xmlns:a16="http://schemas.microsoft.com/office/drawing/2014/main" id="{0D67B7AE-EBAB-1D41-FEF2-5B7CEF9EF42F}"/>
                </a:ext>
              </a:extLst>
            </p:cNvPr>
            <p:cNvSpPr txBox="1"/>
            <p:nvPr/>
          </p:nvSpPr>
          <p:spPr>
            <a:xfrm>
              <a:off x="3115793" y="5215937"/>
              <a:ext cx="1006533" cy="369332"/>
            </a:xfrm>
            <a:prstGeom prst="rect">
              <a:avLst/>
            </a:prstGeom>
            <a:noFill/>
          </p:spPr>
          <p:txBody>
            <a:bodyPr wrap="square" rtlCol="0">
              <a:spAutoFit/>
            </a:bodyPr>
            <a:lstStyle/>
            <a:p>
              <a:pPr algn="ctr"/>
              <a:r>
                <a:rPr lang="en-US" altLang="zh-TW">
                  <a:cs typeface="Times New Roman" panose="02020603050405020304" pitchFamily="18" charset="0"/>
                </a:rPr>
                <a:t>AI</a:t>
              </a:r>
              <a:endParaRPr lang="zh-TW" altLang="en-US">
                <a:cs typeface="Times New Roman" panose="02020603050405020304" pitchFamily="18" charset="0"/>
              </a:endParaRPr>
            </a:p>
          </p:txBody>
        </p:sp>
        <p:sp>
          <p:nvSpPr>
            <p:cNvPr id="24" name="文字方塊 23">
              <a:extLst>
                <a:ext uri="{FF2B5EF4-FFF2-40B4-BE49-F238E27FC236}">
                  <a16:creationId xmlns:a16="http://schemas.microsoft.com/office/drawing/2014/main" id="{E6E7B173-D9FD-2A83-0E63-C8B1D9CBF36C}"/>
                </a:ext>
              </a:extLst>
            </p:cNvPr>
            <p:cNvSpPr txBox="1"/>
            <p:nvPr/>
          </p:nvSpPr>
          <p:spPr>
            <a:xfrm>
              <a:off x="6385567" y="5215937"/>
              <a:ext cx="1006533" cy="369332"/>
            </a:xfrm>
            <a:prstGeom prst="rect">
              <a:avLst/>
            </a:prstGeom>
            <a:noFill/>
          </p:spPr>
          <p:txBody>
            <a:bodyPr wrap="square" rtlCol="0">
              <a:spAutoFit/>
            </a:bodyPr>
            <a:lstStyle/>
            <a:p>
              <a:pPr algn="ctr"/>
              <a:r>
                <a:rPr lang="en-US" altLang="zh-TW">
                  <a:cs typeface="Times New Roman" panose="02020603050405020304" pitchFamily="18" charset="0"/>
                </a:rPr>
                <a:t>[MASK]</a:t>
              </a:r>
              <a:endParaRPr lang="zh-TW" altLang="en-US">
                <a:cs typeface="Times New Roman" panose="02020603050405020304" pitchFamily="18" charset="0"/>
              </a:endParaRPr>
            </a:p>
          </p:txBody>
        </p:sp>
        <p:sp>
          <p:nvSpPr>
            <p:cNvPr id="25" name="文字方塊 24">
              <a:extLst>
                <a:ext uri="{FF2B5EF4-FFF2-40B4-BE49-F238E27FC236}">
                  <a16:creationId xmlns:a16="http://schemas.microsoft.com/office/drawing/2014/main" id="{2BDA44E1-8503-0848-4DFB-BF849E991112}"/>
                </a:ext>
              </a:extLst>
            </p:cNvPr>
            <p:cNvSpPr txBox="1"/>
            <p:nvPr/>
          </p:nvSpPr>
          <p:spPr>
            <a:xfrm>
              <a:off x="5274976" y="5215937"/>
              <a:ext cx="1006533" cy="369332"/>
            </a:xfrm>
            <a:prstGeom prst="rect">
              <a:avLst/>
            </a:prstGeom>
            <a:noFill/>
          </p:spPr>
          <p:txBody>
            <a:bodyPr wrap="square" rtlCol="0">
              <a:spAutoFit/>
            </a:bodyPr>
            <a:lstStyle/>
            <a:p>
              <a:pPr algn="ctr"/>
              <a:r>
                <a:rPr lang="en-US" altLang="zh-TW">
                  <a:cs typeface="Times New Roman" panose="02020603050405020304" pitchFamily="18" charset="0"/>
                </a:rPr>
                <a:t>[MASK]</a:t>
              </a:r>
              <a:endParaRPr lang="zh-TW" altLang="en-US">
                <a:cs typeface="Times New Roman" panose="02020603050405020304" pitchFamily="18" charset="0"/>
              </a:endParaRPr>
            </a:p>
          </p:txBody>
        </p:sp>
        <p:grpSp>
          <p:nvGrpSpPr>
            <p:cNvPr id="26" name="群組 25">
              <a:extLst>
                <a:ext uri="{FF2B5EF4-FFF2-40B4-BE49-F238E27FC236}">
                  <a16:creationId xmlns:a16="http://schemas.microsoft.com/office/drawing/2014/main" id="{6DFE552E-6EC2-D5E3-E6F8-90C6E7016679}"/>
                </a:ext>
              </a:extLst>
            </p:cNvPr>
            <p:cNvGrpSpPr/>
            <p:nvPr/>
          </p:nvGrpSpPr>
          <p:grpSpPr>
            <a:xfrm>
              <a:off x="7852339" y="4303243"/>
              <a:ext cx="293612" cy="795523"/>
              <a:chOff x="1295043" y="4665606"/>
              <a:chExt cx="293612" cy="795523"/>
            </a:xfrm>
          </p:grpSpPr>
          <p:sp>
            <p:nvSpPr>
              <p:cNvPr id="27" name="矩形 26">
                <a:extLst>
                  <a:ext uri="{FF2B5EF4-FFF2-40B4-BE49-F238E27FC236}">
                    <a16:creationId xmlns:a16="http://schemas.microsoft.com/office/drawing/2014/main" id="{2FF23658-9CAC-7AE3-5F94-149EB50C8338}"/>
                  </a:ext>
                </a:extLst>
              </p:cNvPr>
              <p:cNvSpPr/>
              <p:nvPr/>
            </p:nvSpPr>
            <p:spPr>
              <a:xfrm rot="5400000">
                <a:off x="1186991" y="5059465"/>
                <a:ext cx="509716" cy="29361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8" name="直線箭頭接點 2">
                <a:extLst>
                  <a:ext uri="{FF2B5EF4-FFF2-40B4-BE49-F238E27FC236}">
                    <a16:creationId xmlns:a16="http://schemas.microsoft.com/office/drawing/2014/main" id="{A390AF83-358C-EF27-1603-2BB7298225FE}"/>
                  </a:ext>
                </a:extLst>
              </p:cNvPr>
              <p:cNvCxnSpPr>
                <a:cxnSpLocks/>
              </p:cNvCxnSpPr>
              <p:nvPr/>
            </p:nvCxnSpPr>
            <p:spPr>
              <a:xfrm flipV="1">
                <a:off x="1441849" y="4665606"/>
                <a:ext cx="0" cy="5097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群組 28">
              <a:extLst>
                <a:ext uri="{FF2B5EF4-FFF2-40B4-BE49-F238E27FC236}">
                  <a16:creationId xmlns:a16="http://schemas.microsoft.com/office/drawing/2014/main" id="{BE1016BC-9725-312E-0563-351E5A3FBF2E}"/>
                </a:ext>
              </a:extLst>
            </p:cNvPr>
            <p:cNvGrpSpPr/>
            <p:nvPr/>
          </p:nvGrpSpPr>
          <p:grpSpPr>
            <a:xfrm>
              <a:off x="8962650" y="4303243"/>
              <a:ext cx="293612" cy="795523"/>
              <a:chOff x="1295043" y="4665606"/>
              <a:chExt cx="293612" cy="795523"/>
            </a:xfrm>
          </p:grpSpPr>
          <p:sp>
            <p:nvSpPr>
              <p:cNvPr id="30" name="矩形 29">
                <a:extLst>
                  <a:ext uri="{FF2B5EF4-FFF2-40B4-BE49-F238E27FC236}">
                    <a16:creationId xmlns:a16="http://schemas.microsoft.com/office/drawing/2014/main" id="{22BBEC12-9E29-D667-A689-51147149FC07}"/>
                  </a:ext>
                </a:extLst>
              </p:cNvPr>
              <p:cNvSpPr/>
              <p:nvPr/>
            </p:nvSpPr>
            <p:spPr>
              <a:xfrm rot="5400000">
                <a:off x="1186991" y="5059465"/>
                <a:ext cx="509716" cy="293612"/>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1" name="直線箭頭接點 2">
                <a:extLst>
                  <a:ext uri="{FF2B5EF4-FFF2-40B4-BE49-F238E27FC236}">
                    <a16:creationId xmlns:a16="http://schemas.microsoft.com/office/drawing/2014/main" id="{59887B83-34A2-3CBF-577D-B2563CAC74E7}"/>
                  </a:ext>
                </a:extLst>
              </p:cNvPr>
              <p:cNvCxnSpPr>
                <a:cxnSpLocks/>
              </p:cNvCxnSpPr>
              <p:nvPr/>
            </p:nvCxnSpPr>
            <p:spPr>
              <a:xfrm flipV="1">
                <a:off x="1441849" y="4665606"/>
                <a:ext cx="0" cy="5097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2" name="群組 31">
              <a:extLst>
                <a:ext uri="{FF2B5EF4-FFF2-40B4-BE49-F238E27FC236}">
                  <a16:creationId xmlns:a16="http://schemas.microsoft.com/office/drawing/2014/main" id="{2DE98E84-255B-1337-B601-92F53F5F7D92}"/>
                </a:ext>
              </a:extLst>
            </p:cNvPr>
            <p:cNvGrpSpPr/>
            <p:nvPr/>
          </p:nvGrpSpPr>
          <p:grpSpPr>
            <a:xfrm>
              <a:off x="10072961" y="4303243"/>
              <a:ext cx="293612" cy="795523"/>
              <a:chOff x="1295043" y="4665606"/>
              <a:chExt cx="293612" cy="795523"/>
            </a:xfrm>
          </p:grpSpPr>
          <p:sp>
            <p:nvSpPr>
              <p:cNvPr id="33" name="矩形 32">
                <a:extLst>
                  <a:ext uri="{FF2B5EF4-FFF2-40B4-BE49-F238E27FC236}">
                    <a16:creationId xmlns:a16="http://schemas.microsoft.com/office/drawing/2014/main" id="{71D58242-1012-54F7-04DB-870C993FC7A8}"/>
                  </a:ext>
                </a:extLst>
              </p:cNvPr>
              <p:cNvSpPr/>
              <p:nvPr/>
            </p:nvSpPr>
            <p:spPr>
              <a:xfrm rot="5400000">
                <a:off x="1186991" y="5059465"/>
                <a:ext cx="509716" cy="293612"/>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4" name="直線箭頭接點 2">
                <a:extLst>
                  <a:ext uri="{FF2B5EF4-FFF2-40B4-BE49-F238E27FC236}">
                    <a16:creationId xmlns:a16="http://schemas.microsoft.com/office/drawing/2014/main" id="{2C18794D-C100-BDCD-3BB3-CDAA79D8C109}"/>
                  </a:ext>
                </a:extLst>
              </p:cNvPr>
              <p:cNvCxnSpPr>
                <a:cxnSpLocks/>
              </p:cNvCxnSpPr>
              <p:nvPr/>
            </p:nvCxnSpPr>
            <p:spPr>
              <a:xfrm flipV="1">
                <a:off x="1441849" y="4665606"/>
                <a:ext cx="0" cy="5097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5" name="文字方塊 34">
              <a:extLst>
                <a:ext uri="{FF2B5EF4-FFF2-40B4-BE49-F238E27FC236}">
                  <a16:creationId xmlns:a16="http://schemas.microsoft.com/office/drawing/2014/main" id="{8721174F-48B0-87EA-03EB-86A008AFE25D}"/>
                </a:ext>
              </a:extLst>
            </p:cNvPr>
            <p:cNvSpPr txBox="1"/>
            <p:nvPr/>
          </p:nvSpPr>
          <p:spPr>
            <a:xfrm>
              <a:off x="4187344" y="5215937"/>
              <a:ext cx="1006533" cy="369332"/>
            </a:xfrm>
            <a:prstGeom prst="rect">
              <a:avLst/>
            </a:prstGeom>
            <a:noFill/>
          </p:spPr>
          <p:txBody>
            <a:bodyPr wrap="square" rtlCol="0">
              <a:spAutoFit/>
            </a:bodyPr>
            <a:lstStyle/>
            <a:p>
              <a:pPr algn="ctr"/>
              <a:r>
                <a:rPr lang="en-US" altLang="zh-TW">
                  <a:cs typeface="Times New Roman" panose="02020603050405020304" pitchFamily="18" charset="0"/>
                </a:rPr>
                <a:t>is</a:t>
              </a:r>
              <a:endParaRPr lang="zh-TW" altLang="en-US">
                <a:cs typeface="Times New Roman" panose="02020603050405020304" pitchFamily="18" charset="0"/>
              </a:endParaRPr>
            </a:p>
          </p:txBody>
        </p:sp>
        <p:sp>
          <p:nvSpPr>
            <p:cNvPr id="36" name="文字方塊 35">
              <a:extLst>
                <a:ext uri="{FF2B5EF4-FFF2-40B4-BE49-F238E27FC236}">
                  <a16:creationId xmlns:a16="http://schemas.microsoft.com/office/drawing/2014/main" id="{3F781442-1D74-E794-C083-527BC4AB0D06}"/>
                </a:ext>
              </a:extLst>
            </p:cNvPr>
            <p:cNvSpPr txBox="1"/>
            <p:nvPr/>
          </p:nvSpPr>
          <p:spPr>
            <a:xfrm>
              <a:off x="7496158" y="5215937"/>
              <a:ext cx="1006533" cy="369332"/>
            </a:xfrm>
            <a:prstGeom prst="rect">
              <a:avLst/>
            </a:prstGeom>
            <a:noFill/>
          </p:spPr>
          <p:txBody>
            <a:bodyPr wrap="square" rtlCol="0">
              <a:spAutoFit/>
            </a:bodyPr>
            <a:lstStyle/>
            <a:p>
              <a:pPr algn="ctr"/>
              <a:r>
                <a:rPr lang="en-US" altLang="zh-TW">
                  <a:cs typeface="Times New Roman" panose="02020603050405020304" pitchFamily="18" charset="0"/>
                </a:rPr>
                <a:t>[MASK]</a:t>
              </a:r>
              <a:endParaRPr lang="zh-TW" altLang="en-US">
                <a:cs typeface="Times New Roman" panose="02020603050405020304" pitchFamily="18" charset="0"/>
              </a:endParaRPr>
            </a:p>
          </p:txBody>
        </p:sp>
        <p:sp>
          <p:nvSpPr>
            <p:cNvPr id="37" name="文字方塊 36">
              <a:extLst>
                <a:ext uri="{FF2B5EF4-FFF2-40B4-BE49-F238E27FC236}">
                  <a16:creationId xmlns:a16="http://schemas.microsoft.com/office/drawing/2014/main" id="{D62FC17A-8ADF-8711-1B34-71B2A412D01B}"/>
                </a:ext>
              </a:extLst>
            </p:cNvPr>
            <p:cNvSpPr txBox="1"/>
            <p:nvPr/>
          </p:nvSpPr>
          <p:spPr>
            <a:xfrm>
              <a:off x="8606749" y="5215937"/>
              <a:ext cx="1006533" cy="369332"/>
            </a:xfrm>
            <a:prstGeom prst="rect">
              <a:avLst/>
            </a:prstGeom>
            <a:noFill/>
          </p:spPr>
          <p:txBody>
            <a:bodyPr wrap="square" rtlCol="0">
              <a:spAutoFit/>
            </a:bodyPr>
            <a:lstStyle/>
            <a:p>
              <a:pPr algn="ctr"/>
              <a:r>
                <a:rPr lang="en-US" altLang="zh-TW" dirty="0">
                  <a:cs typeface="Times New Roman" panose="02020603050405020304" pitchFamily="18" charset="0"/>
                </a:rPr>
                <a:t>right</a:t>
              </a:r>
              <a:endParaRPr lang="zh-TW" altLang="en-US" dirty="0">
                <a:cs typeface="Times New Roman" panose="02020603050405020304" pitchFamily="18" charset="0"/>
              </a:endParaRPr>
            </a:p>
          </p:txBody>
        </p:sp>
        <p:sp>
          <p:nvSpPr>
            <p:cNvPr id="38" name="文字方塊 37">
              <a:extLst>
                <a:ext uri="{FF2B5EF4-FFF2-40B4-BE49-F238E27FC236}">
                  <a16:creationId xmlns:a16="http://schemas.microsoft.com/office/drawing/2014/main" id="{2FC3B185-4382-6162-4030-64D413DFEBED}"/>
                </a:ext>
              </a:extLst>
            </p:cNvPr>
            <p:cNvSpPr txBox="1"/>
            <p:nvPr/>
          </p:nvSpPr>
          <p:spPr>
            <a:xfrm>
              <a:off x="9604515" y="5215937"/>
              <a:ext cx="1230503" cy="369332"/>
            </a:xfrm>
            <a:prstGeom prst="rect">
              <a:avLst/>
            </a:prstGeom>
            <a:noFill/>
          </p:spPr>
          <p:txBody>
            <a:bodyPr wrap="square" rtlCol="0">
              <a:spAutoFit/>
            </a:bodyPr>
            <a:lstStyle/>
            <a:p>
              <a:pPr algn="ctr"/>
              <a:r>
                <a:rPr lang="en-US" altLang="zh-TW" dirty="0">
                  <a:cs typeface="Times New Roman" panose="02020603050405020304" pitchFamily="18" charset="0"/>
                </a:rPr>
                <a:t>now</a:t>
              </a:r>
              <a:endParaRPr lang="zh-TW" altLang="en-US" dirty="0">
                <a:cs typeface="Times New Roman" panose="02020603050405020304" pitchFamily="18" charset="0"/>
              </a:endParaRPr>
            </a:p>
          </p:txBody>
        </p:sp>
        <p:cxnSp>
          <p:nvCxnSpPr>
            <p:cNvPr id="40" name="直線箭頭接點 2">
              <a:extLst>
                <a:ext uri="{FF2B5EF4-FFF2-40B4-BE49-F238E27FC236}">
                  <a16:creationId xmlns:a16="http://schemas.microsoft.com/office/drawing/2014/main" id="{27DA6DB4-8C14-4EE7-579A-026C1EB02988}"/>
                </a:ext>
              </a:extLst>
            </p:cNvPr>
            <p:cNvCxnSpPr>
              <a:cxnSpLocks/>
            </p:cNvCxnSpPr>
            <p:nvPr/>
          </p:nvCxnSpPr>
          <p:spPr>
            <a:xfrm flipV="1">
              <a:off x="5782211" y="3267159"/>
              <a:ext cx="0" cy="34918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箭頭接點 2">
              <a:extLst>
                <a:ext uri="{FF2B5EF4-FFF2-40B4-BE49-F238E27FC236}">
                  <a16:creationId xmlns:a16="http://schemas.microsoft.com/office/drawing/2014/main" id="{CB4144A7-12F2-410E-72C4-22CB4729447C}"/>
                </a:ext>
              </a:extLst>
            </p:cNvPr>
            <p:cNvCxnSpPr>
              <a:cxnSpLocks/>
            </p:cNvCxnSpPr>
            <p:nvPr/>
          </p:nvCxnSpPr>
          <p:spPr>
            <a:xfrm flipV="1">
              <a:off x="6893181" y="3267159"/>
              <a:ext cx="0" cy="34918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箭頭接點 2">
              <a:extLst>
                <a:ext uri="{FF2B5EF4-FFF2-40B4-BE49-F238E27FC236}">
                  <a16:creationId xmlns:a16="http://schemas.microsoft.com/office/drawing/2014/main" id="{14913220-7B00-FD29-6C46-8AF6ECC1BE53}"/>
                </a:ext>
              </a:extLst>
            </p:cNvPr>
            <p:cNvCxnSpPr>
              <a:cxnSpLocks/>
            </p:cNvCxnSpPr>
            <p:nvPr/>
          </p:nvCxnSpPr>
          <p:spPr>
            <a:xfrm flipV="1">
              <a:off x="7999145" y="3267159"/>
              <a:ext cx="0" cy="34918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文字方塊 42">
              <a:extLst>
                <a:ext uri="{FF2B5EF4-FFF2-40B4-BE49-F238E27FC236}">
                  <a16:creationId xmlns:a16="http://schemas.microsoft.com/office/drawing/2014/main" id="{EEEB48FF-9FBC-5281-9302-30053FE28839}"/>
                </a:ext>
              </a:extLst>
            </p:cNvPr>
            <p:cNvSpPr txBox="1"/>
            <p:nvPr/>
          </p:nvSpPr>
          <p:spPr>
            <a:xfrm>
              <a:off x="4043117" y="2889631"/>
              <a:ext cx="1327150" cy="369332"/>
            </a:xfrm>
            <a:prstGeom prst="rect">
              <a:avLst/>
            </a:prstGeom>
            <a:noFill/>
          </p:spPr>
          <p:txBody>
            <a:bodyPr wrap="square" rtlCol="0">
              <a:spAutoFit/>
            </a:bodyPr>
            <a:lstStyle/>
            <a:p>
              <a:pPr algn="ctr"/>
              <a:r>
                <a:rPr lang="en-US" altLang="zh-TW" dirty="0">
                  <a:cs typeface="Times New Roman" panose="02020603050405020304" pitchFamily="18" charset="0"/>
                </a:rPr>
                <a:t>(boundary)</a:t>
              </a:r>
              <a:endParaRPr lang="zh-TW" altLang="en-US" dirty="0">
                <a:cs typeface="Times New Roman" panose="02020603050405020304" pitchFamily="18" charset="0"/>
              </a:endParaRPr>
            </a:p>
          </p:txBody>
        </p:sp>
        <p:sp>
          <p:nvSpPr>
            <p:cNvPr id="44" name="文字方塊 43">
              <a:extLst>
                <a:ext uri="{FF2B5EF4-FFF2-40B4-BE49-F238E27FC236}">
                  <a16:creationId xmlns:a16="http://schemas.microsoft.com/office/drawing/2014/main" id="{EABF27CC-B0F2-D18E-C637-AF9EF5141A77}"/>
                </a:ext>
              </a:extLst>
            </p:cNvPr>
            <p:cNvSpPr txBox="1"/>
            <p:nvPr/>
          </p:nvSpPr>
          <p:spPr>
            <a:xfrm>
              <a:off x="5274976" y="2918803"/>
              <a:ext cx="1006533" cy="369332"/>
            </a:xfrm>
            <a:prstGeom prst="rect">
              <a:avLst/>
            </a:prstGeom>
            <a:noFill/>
          </p:spPr>
          <p:txBody>
            <a:bodyPr wrap="square" rtlCol="0">
              <a:spAutoFit/>
            </a:bodyPr>
            <a:lstStyle/>
            <a:p>
              <a:pPr algn="ctr"/>
              <a:r>
                <a:rPr lang="en-US" altLang="zh-TW">
                  <a:cs typeface="Times New Roman" panose="02020603050405020304" pitchFamily="18" charset="0"/>
                </a:rPr>
                <a:t>a</a:t>
              </a:r>
              <a:endParaRPr lang="zh-TW" altLang="en-US">
                <a:cs typeface="Times New Roman" panose="02020603050405020304" pitchFamily="18" charset="0"/>
              </a:endParaRPr>
            </a:p>
          </p:txBody>
        </p:sp>
        <p:sp>
          <p:nvSpPr>
            <p:cNvPr id="45" name="文字方塊 44">
              <a:extLst>
                <a:ext uri="{FF2B5EF4-FFF2-40B4-BE49-F238E27FC236}">
                  <a16:creationId xmlns:a16="http://schemas.microsoft.com/office/drawing/2014/main" id="{CDB75C5A-0464-0B07-EAD7-BA6696C80C78}"/>
                </a:ext>
              </a:extLst>
            </p:cNvPr>
            <p:cNvSpPr txBox="1"/>
            <p:nvPr/>
          </p:nvSpPr>
          <p:spPr>
            <a:xfrm>
              <a:off x="6384908" y="2918803"/>
              <a:ext cx="1006533" cy="369332"/>
            </a:xfrm>
            <a:prstGeom prst="rect">
              <a:avLst/>
            </a:prstGeom>
            <a:noFill/>
            <a:ln>
              <a:solidFill>
                <a:srgbClr val="FF0000"/>
              </a:solidFill>
            </a:ln>
          </p:spPr>
          <p:txBody>
            <a:bodyPr wrap="square" rtlCol="0">
              <a:spAutoFit/>
            </a:bodyPr>
            <a:lstStyle/>
            <a:p>
              <a:pPr algn="ctr"/>
              <a:r>
                <a:rPr lang="en-US" altLang="zh-TW" dirty="0">
                  <a:cs typeface="Times New Roman" panose="02020603050405020304" pitchFamily="18" charset="0"/>
                </a:rPr>
                <a:t>hot</a:t>
              </a:r>
              <a:endParaRPr lang="zh-TW" altLang="en-US" dirty="0">
                <a:cs typeface="Times New Roman" panose="02020603050405020304" pitchFamily="18" charset="0"/>
              </a:endParaRPr>
            </a:p>
          </p:txBody>
        </p:sp>
        <p:sp>
          <p:nvSpPr>
            <p:cNvPr id="46" name="文字方塊 45">
              <a:extLst>
                <a:ext uri="{FF2B5EF4-FFF2-40B4-BE49-F238E27FC236}">
                  <a16:creationId xmlns:a16="http://schemas.microsoft.com/office/drawing/2014/main" id="{C9613F16-C2B2-337B-4879-E0AC9333E7DD}"/>
                </a:ext>
              </a:extLst>
            </p:cNvPr>
            <p:cNvSpPr txBox="1"/>
            <p:nvPr/>
          </p:nvSpPr>
          <p:spPr>
            <a:xfrm>
              <a:off x="7513366" y="2897764"/>
              <a:ext cx="1006533" cy="369332"/>
            </a:xfrm>
            <a:prstGeom prst="rect">
              <a:avLst/>
            </a:prstGeom>
            <a:noFill/>
          </p:spPr>
          <p:txBody>
            <a:bodyPr wrap="square" rtlCol="0">
              <a:spAutoFit/>
            </a:bodyPr>
            <a:lstStyle/>
            <a:p>
              <a:pPr algn="ctr"/>
              <a:r>
                <a:rPr lang="en-US" altLang="zh-TW" dirty="0">
                  <a:cs typeface="Times New Roman" panose="02020603050405020304" pitchFamily="18" charset="0"/>
                </a:rPr>
                <a:t>topic</a:t>
              </a:r>
              <a:endParaRPr lang="zh-TW" altLang="en-US" dirty="0">
                <a:cs typeface="Times New Roman" panose="02020603050405020304" pitchFamily="18" charset="0"/>
              </a:endParaRPr>
            </a:p>
          </p:txBody>
        </p:sp>
        <p:cxnSp>
          <p:nvCxnSpPr>
            <p:cNvPr id="47" name="直線箭頭接點 2">
              <a:extLst>
                <a:ext uri="{FF2B5EF4-FFF2-40B4-BE49-F238E27FC236}">
                  <a16:creationId xmlns:a16="http://schemas.microsoft.com/office/drawing/2014/main" id="{97131D9F-B434-C707-AA82-F4895AC229AF}"/>
                </a:ext>
              </a:extLst>
            </p:cNvPr>
            <p:cNvCxnSpPr>
              <a:cxnSpLocks/>
            </p:cNvCxnSpPr>
            <p:nvPr/>
          </p:nvCxnSpPr>
          <p:spPr>
            <a:xfrm flipV="1">
              <a:off x="9101248" y="3267096"/>
              <a:ext cx="0" cy="34918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文字方塊 48">
              <a:extLst>
                <a:ext uri="{FF2B5EF4-FFF2-40B4-BE49-F238E27FC236}">
                  <a16:creationId xmlns:a16="http://schemas.microsoft.com/office/drawing/2014/main" id="{8AC1DE26-66FD-1E66-9B94-59528791841B}"/>
                </a:ext>
              </a:extLst>
            </p:cNvPr>
            <p:cNvSpPr txBox="1"/>
            <p:nvPr/>
          </p:nvSpPr>
          <p:spPr>
            <a:xfrm>
              <a:off x="8437290" y="2907870"/>
              <a:ext cx="1327150" cy="369332"/>
            </a:xfrm>
            <a:prstGeom prst="rect">
              <a:avLst/>
            </a:prstGeom>
            <a:noFill/>
          </p:spPr>
          <p:txBody>
            <a:bodyPr wrap="square" rtlCol="0">
              <a:spAutoFit/>
            </a:bodyPr>
            <a:lstStyle/>
            <a:p>
              <a:pPr algn="ctr"/>
              <a:r>
                <a:rPr lang="en-US" altLang="zh-TW">
                  <a:cs typeface="Times New Roman" panose="02020603050405020304" pitchFamily="18" charset="0"/>
                </a:rPr>
                <a:t>(boundary)</a:t>
              </a:r>
              <a:endParaRPr lang="zh-TW" altLang="en-US">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50" name="文字方塊 49">
                <a:extLst>
                  <a:ext uri="{FF2B5EF4-FFF2-40B4-BE49-F238E27FC236}">
                    <a16:creationId xmlns:a16="http://schemas.microsoft.com/office/drawing/2014/main" id="{39AAA612-D98F-883F-C9DD-55F6CE78472E}"/>
                  </a:ext>
                </a:extLst>
              </p:cNvPr>
              <p:cNvSpPr txBox="1"/>
              <p:nvPr/>
            </p:nvSpPr>
            <p:spPr>
              <a:xfrm>
                <a:off x="931379" y="5890645"/>
                <a:ext cx="10056920" cy="369332"/>
              </a:xfrm>
              <a:prstGeom prst="rect">
                <a:avLst/>
              </a:prstGeom>
              <a:noFill/>
            </p:spPr>
            <p:txBody>
              <a:bodyPr wrap="none" lIns="0" tIns="0" rIns="0" bIns="0" rtlCol="0">
                <a:spAutoFit/>
              </a:bodyPr>
              <a:lstStyle/>
              <a:p>
                <a14:m>
                  <m:oMath xmlns:m="http://schemas.openxmlformats.org/officeDocument/2006/math">
                    <m:r>
                      <a:rPr lang="en-US" altLang="zh-TW" sz="2400" i="1" smtClean="0">
                        <a:latin typeface="Cambria Math" panose="02040503050406030204" pitchFamily="18" charset="0"/>
                        <a:ea typeface="Cambria Math" panose="02040503050406030204" pitchFamily="18" charset="0"/>
                      </a:rPr>
                      <m:t>ℒ</m:t>
                    </m:r>
                    <m:d>
                      <m:dPr>
                        <m:ctrlPr>
                          <a:rPr lang="en-US" altLang="zh-TW" sz="2400" b="0" i="1" smtClean="0">
                            <a:latin typeface="Cambria Math" panose="02040503050406030204" pitchFamily="18" charset="0"/>
                            <a:ea typeface="Cambria Math" panose="02040503050406030204" pitchFamily="18" charset="0"/>
                          </a:rPr>
                        </m:ctrlPr>
                      </m:dPr>
                      <m:e>
                        <m:r>
                          <m:rPr>
                            <m:sty m:val="p"/>
                          </m:rPr>
                          <a:rPr lang="en-US" altLang="zh-TW" sz="2400" b="0" i="0" smtClean="0">
                            <a:latin typeface="Cambria Math" panose="02040503050406030204" pitchFamily="18" charset="0"/>
                            <a:ea typeface="Cambria Math" panose="02040503050406030204" pitchFamily="18" charset="0"/>
                          </a:rPr>
                          <m:t>hot</m:t>
                        </m:r>
                      </m:e>
                    </m:d>
                    <m:r>
                      <a:rPr lang="en-US" altLang="zh-TW" sz="2400" b="0" i="1" smtClean="0">
                        <a:latin typeface="Cambria Math" panose="02040503050406030204" pitchFamily="18" charset="0"/>
                        <a:ea typeface="Cambria Math" panose="02040503050406030204" pitchFamily="18" charset="0"/>
                      </a:rPr>
                      <m: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ℒ</m:t>
                        </m:r>
                      </m:e>
                      <m:sub>
                        <m:r>
                          <a:rPr lang="en-US" altLang="zh-TW" sz="2400" b="0" i="1" smtClean="0">
                            <a:latin typeface="Cambria Math" panose="02040503050406030204" pitchFamily="18" charset="0"/>
                            <a:ea typeface="Cambria Math" panose="02040503050406030204" pitchFamily="18" charset="0"/>
                          </a:rPr>
                          <m:t>𝑀𝐿𝑀</m:t>
                        </m:r>
                      </m:sub>
                    </m:sSub>
                    <m:d>
                      <m:dPr>
                        <m:ctrlPr>
                          <a:rPr lang="en-US" altLang="zh-TW" sz="2400" b="0" i="1" smtClean="0">
                            <a:latin typeface="Cambria Math" panose="02040503050406030204" pitchFamily="18" charset="0"/>
                            <a:ea typeface="Cambria Math" panose="02040503050406030204" pitchFamily="18" charset="0"/>
                          </a:rPr>
                        </m:ctrlPr>
                      </m:dPr>
                      <m:e>
                        <m:r>
                          <m:rPr>
                            <m:sty m:val="p"/>
                          </m:rPr>
                          <a:rPr lang="en-US" altLang="zh-TW" sz="2400">
                            <a:latin typeface="Cambria Math" panose="02040503050406030204" pitchFamily="18" charset="0"/>
                            <a:ea typeface="Cambria Math" panose="02040503050406030204" pitchFamily="18" charset="0"/>
                          </a:rPr>
                          <m:t>hot</m:t>
                        </m:r>
                      </m:e>
                    </m:d>
                    <m:r>
                      <a:rPr lang="en-US" altLang="zh-TW" sz="2400" b="0" i="1" smtClean="0">
                        <a:latin typeface="Cambria Math" panose="02040503050406030204" pitchFamily="18" charset="0"/>
                        <a:ea typeface="Cambria Math" panose="02040503050406030204" pitchFamily="18" charset="0"/>
                      </a:rPr>
                      <m: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ℒ</m:t>
                        </m:r>
                      </m:e>
                      <m:sub>
                        <m:r>
                          <a:rPr lang="en-US" altLang="zh-TW" sz="2400" b="0" i="1" smtClean="0">
                            <a:latin typeface="Cambria Math" panose="02040503050406030204" pitchFamily="18" charset="0"/>
                            <a:ea typeface="Cambria Math" panose="02040503050406030204" pitchFamily="18" charset="0"/>
                          </a:rPr>
                          <m:t>𝑆𝐵𝑂</m:t>
                        </m:r>
                      </m:sub>
                    </m:sSub>
                    <m:d>
                      <m:dPr>
                        <m:ctrlPr>
                          <a:rPr lang="en-US" altLang="zh-TW" sz="2400" b="0" i="1" smtClean="0">
                            <a:latin typeface="Cambria Math" panose="02040503050406030204" pitchFamily="18" charset="0"/>
                            <a:ea typeface="Cambria Math" panose="02040503050406030204" pitchFamily="18" charset="0"/>
                          </a:rPr>
                        </m:ctrlPr>
                      </m:dPr>
                      <m:e>
                        <m:r>
                          <m:rPr>
                            <m:sty m:val="p"/>
                          </m:rPr>
                          <a:rPr lang="en-US" altLang="zh-TW" sz="2400">
                            <a:latin typeface="Cambria Math" panose="02040503050406030204" pitchFamily="18" charset="0"/>
                            <a:ea typeface="Cambria Math" panose="02040503050406030204" pitchFamily="18" charset="0"/>
                          </a:rPr>
                          <m:t>hot</m:t>
                        </m:r>
                      </m:e>
                    </m:d>
                    <m:r>
                      <a:rPr lang="en-US"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𝑙𝑜𝑔𝑃</m:t>
                    </m:r>
                    <m:d>
                      <m:dPr>
                        <m:endChr m:val="|"/>
                        <m:ctrlPr>
                          <a:rPr lang="en-US" altLang="zh-TW" sz="2400" b="0" i="1" smtClean="0">
                            <a:latin typeface="Cambria Math" panose="02040503050406030204" pitchFamily="18" charset="0"/>
                            <a:ea typeface="Cambria Math" panose="02040503050406030204" pitchFamily="18" charset="0"/>
                          </a:rPr>
                        </m:ctrlPr>
                      </m:dPr>
                      <m:e>
                        <m:r>
                          <m:rPr>
                            <m:sty m:val="p"/>
                          </m:rPr>
                          <a:rPr lang="en-US" altLang="zh-TW" sz="2400">
                            <a:latin typeface="Cambria Math" panose="02040503050406030204" pitchFamily="18" charset="0"/>
                            <a:ea typeface="Cambria Math" panose="02040503050406030204" pitchFamily="18" charset="0"/>
                          </a:rPr>
                          <m:t>hot</m:t>
                        </m:r>
                      </m:e>
                    </m:d>
                    <m:r>
                      <a:rPr lang="en-US" altLang="zh-TW" sz="2400" b="0" i="1" smtClean="0">
                        <a:latin typeface="Cambria Math" panose="02040503050406030204" pitchFamily="18" charset="0"/>
                        <a:ea typeface="Cambria Math" panose="02040503050406030204" pitchFamily="18" charset="0"/>
                      </a:rPr>
                      <m:t> </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𝑥</m:t>
                        </m:r>
                      </m:e>
                      <m:sub>
                        <m:r>
                          <a:rPr lang="en-US" altLang="zh-TW" sz="2400" b="0" i="1" smtClean="0">
                            <a:latin typeface="Cambria Math" panose="02040503050406030204" pitchFamily="18" charset="0"/>
                            <a:ea typeface="Cambria Math" panose="02040503050406030204" pitchFamily="18" charset="0"/>
                          </a:rPr>
                          <m:t>5</m:t>
                        </m:r>
                      </m:sub>
                    </m:sSub>
                    <m:r>
                      <a:rPr lang="en-US" altLang="zh-TW" sz="2400" b="0" i="1" smtClean="0">
                        <a:latin typeface="Cambria Math" panose="02040503050406030204" pitchFamily="18" charset="0"/>
                        <a:ea typeface="Cambria Math" panose="02040503050406030204" pitchFamily="18" charset="0"/>
                      </a:rPr>
                      <m:t>)−</m:t>
                    </m:r>
                  </m:oMath>
                </a14:m>
                <a:r>
                  <a:rPr lang="en-US" altLang="zh-TW" sz="2400" dirty="0">
                    <a:ea typeface="Cambria Math" panose="02040503050406030204" pitchFamily="18" charset="0"/>
                  </a:rPr>
                  <a:t> </a:t>
                </a:r>
                <a14:m>
                  <m:oMath xmlns:m="http://schemas.openxmlformats.org/officeDocument/2006/math">
                    <m:r>
                      <a:rPr lang="en-US" altLang="zh-TW" sz="2400" i="1">
                        <a:latin typeface="Cambria Math" panose="02040503050406030204" pitchFamily="18" charset="0"/>
                        <a:ea typeface="Cambria Math" panose="02040503050406030204" pitchFamily="18" charset="0"/>
                      </a:rPr>
                      <m:t>𝑙𝑜𝑔𝑃</m:t>
                    </m:r>
                    <m:d>
                      <m:dPr>
                        <m:endChr m:val="|"/>
                        <m:ctrlPr>
                          <a:rPr lang="en-US" altLang="zh-TW" sz="2400" i="1">
                            <a:latin typeface="Cambria Math" panose="02040503050406030204" pitchFamily="18" charset="0"/>
                            <a:ea typeface="Cambria Math" panose="02040503050406030204" pitchFamily="18" charset="0"/>
                          </a:rPr>
                        </m:ctrlPr>
                      </m:dPr>
                      <m:e>
                        <m:r>
                          <m:rPr>
                            <m:sty m:val="p"/>
                          </m:rPr>
                          <a:rPr lang="en-US" altLang="zh-TW" sz="2400">
                            <a:latin typeface="Cambria Math" panose="02040503050406030204" pitchFamily="18" charset="0"/>
                            <a:ea typeface="Cambria Math" panose="02040503050406030204" pitchFamily="18" charset="0"/>
                          </a:rPr>
                          <m:t>hot</m:t>
                        </m:r>
                      </m:e>
                    </m:d>
                    <m:r>
                      <a:rPr lang="en-US" altLang="zh-TW" sz="2400" i="1">
                        <a:latin typeface="Cambria Math" panose="02040503050406030204" pitchFamily="18" charset="0"/>
                        <a:ea typeface="Cambria Math" panose="02040503050406030204" pitchFamily="18" charset="0"/>
                      </a:rPr>
                      <m:t> </m:t>
                    </m:r>
                    <m:sSub>
                      <m:sSubPr>
                        <m:ctrlPr>
                          <a:rPr lang="en-US" altLang="zh-TW" sz="2400" i="1">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𝑥</m:t>
                        </m:r>
                      </m:e>
                      <m:sub>
                        <m:r>
                          <a:rPr lang="en-US" altLang="zh-TW" sz="2400" b="0" i="1" smtClean="0">
                            <a:latin typeface="Cambria Math" panose="02040503050406030204" pitchFamily="18" charset="0"/>
                            <a:ea typeface="Cambria Math" panose="02040503050406030204" pitchFamily="18" charset="0"/>
                          </a:rPr>
                          <m:t>3</m:t>
                        </m:r>
                      </m:sub>
                    </m:sSub>
                    <m:r>
                      <a:rPr lang="en-US" altLang="zh-TW" sz="2400" b="0" i="1" smtClean="0">
                        <a:latin typeface="Cambria Math" panose="02040503050406030204" pitchFamily="18" charset="0"/>
                        <a:ea typeface="Cambria Math" panose="02040503050406030204" pitchFamily="18" charset="0"/>
                      </a:rPr>
                      <m:t>,</m:t>
                    </m:r>
                    <m:sSub>
                      <m:sSubPr>
                        <m:ctrlPr>
                          <a:rPr lang="en-US" altLang="zh-TW" sz="2400" i="1">
                            <a:latin typeface="Cambria Math" panose="02040503050406030204" pitchFamily="18" charset="0"/>
                            <a:ea typeface="Cambria Math" panose="02040503050406030204" pitchFamily="18" charset="0"/>
                          </a:rPr>
                        </m:ctrlPr>
                      </m:sSubPr>
                      <m:e>
                        <m:r>
                          <a:rPr lang="en-US" altLang="zh-TW" sz="2400" i="1">
                            <a:latin typeface="Cambria Math" panose="02040503050406030204" pitchFamily="18" charset="0"/>
                            <a:ea typeface="Cambria Math" panose="02040503050406030204" pitchFamily="18" charset="0"/>
                          </a:rPr>
                          <m:t>𝑥</m:t>
                        </m:r>
                      </m:e>
                      <m:sub>
                        <m:r>
                          <a:rPr lang="en-US" altLang="zh-TW" sz="2400" b="0" i="1" smtClean="0">
                            <a:latin typeface="Cambria Math" panose="02040503050406030204" pitchFamily="18" charset="0"/>
                            <a:ea typeface="Cambria Math" panose="02040503050406030204" pitchFamily="18" charset="0"/>
                          </a:rPr>
                          <m:t>7</m:t>
                        </m:r>
                      </m:sub>
                    </m:sSub>
                    <m:r>
                      <a:rPr lang="en-US" altLang="zh-TW" sz="2400" b="0" i="1" smtClean="0">
                        <a:latin typeface="Cambria Math" panose="02040503050406030204" pitchFamily="18" charset="0"/>
                        <a:ea typeface="Cambria Math" panose="02040503050406030204" pitchFamily="18" charset="0"/>
                      </a:rPr>
                      <m:t>,</m:t>
                    </m:r>
                    <m:sSub>
                      <m:sSubPr>
                        <m:ctrlPr>
                          <a:rPr lang="en-US" altLang="zh-TW" sz="2400" i="1">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𝑝</m:t>
                        </m:r>
                      </m:e>
                      <m:sub>
                        <m:r>
                          <a:rPr lang="en-US" altLang="zh-TW" sz="2400" b="0" i="1" smtClean="0">
                            <a:latin typeface="Cambria Math" panose="02040503050406030204" pitchFamily="18" charset="0"/>
                            <a:ea typeface="Cambria Math" panose="02040503050406030204" pitchFamily="18" charset="0"/>
                          </a:rPr>
                          <m:t>2</m:t>
                        </m:r>
                      </m:sub>
                    </m:sSub>
                    <m:r>
                      <a:rPr lang="en-US" altLang="zh-TW" sz="2400" i="1">
                        <a:latin typeface="Cambria Math" panose="02040503050406030204" pitchFamily="18" charset="0"/>
                        <a:ea typeface="Cambria Math" panose="02040503050406030204" pitchFamily="18" charset="0"/>
                      </a:rPr>
                      <m:t>)</m:t>
                    </m:r>
                  </m:oMath>
                </a14:m>
                <a:endParaRPr lang="zh-TW" altLang="en-US" sz="2400" dirty="0"/>
              </a:p>
            </p:txBody>
          </p:sp>
        </mc:Choice>
        <mc:Fallback xmlns="">
          <p:sp>
            <p:nvSpPr>
              <p:cNvPr id="50" name="文字方塊 49">
                <a:extLst>
                  <a:ext uri="{FF2B5EF4-FFF2-40B4-BE49-F238E27FC236}">
                    <a16:creationId xmlns:a16="http://schemas.microsoft.com/office/drawing/2014/main" id="{39AAA612-D98F-883F-C9DD-55F6CE78472E}"/>
                  </a:ext>
                </a:extLst>
              </p:cNvPr>
              <p:cNvSpPr txBox="1">
                <a:spLocks noRot="1" noChangeAspect="1" noMove="1" noResize="1" noEditPoints="1" noAdjustHandles="1" noChangeArrowheads="1" noChangeShapeType="1" noTextEdit="1"/>
              </p:cNvSpPr>
              <p:nvPr/>
            </p:nvSpPr>
            <p:spPr>
              <a:xfrm>
                <a:off x="931379" y="5890645"/>
                <a:ext cx="10056920" cy="369332"/>
              </a:xfrm>
              <a:prstGeom prst="rect">
                <a:avLst/>
              </a:prstGeom>
              <a:blipFill>
                <a:blip r:embed="rId2"/>
                <a:stretch>
                  <a:fillRect l="-1009" t="-6667" b="-4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文字方塊 51">
                <a:extLst>
                  <a:ext uri="{FF2B5EF4-FFF2-40B4-BE49-F238E27FC236}">
                    <a16:creationId xmlns:a16="http://schemas.microsoft.com/office/drawing/2014/main" id="{1586013E-1EB9-1C00-E2AB-603A96A19905}"/>
                  </a:ext>
                </a:extLst>
              </p:cNvPr>
              <p:cNvSpPr txBox="1"/>
              <p:nvPr/>
            </p:nvSpPr>
            <p:spPr>
              <a:xfrm>
                <a:off x="4376073" y="3310075"/>
                <a:ext cx="2814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3</m:t>
                          </m:r>
                        </m:sub>
                      </m:sSub>
                    </m:oMath>
                  </m:oMathPara>
                </a14:m>
                <a:endParaRPr lang="zh-TW" altLang="en-US"/>
              </a:p>
            </p:txBody>
          </p:sp>
        </mc:Choice>
        <mc:Fallback xmlns="">
          <p:sp>
            <p:nvSpPr>
              <p:cNvPr id="52" name="文字方塊 51">
                <a:extLst>
                  <a:ext uri="{FF2B5EF4-FFF2-40B4-BE49-F238E27FC236}">
                    <a16:creationId xmlns:a16="http://schemas.microsoft.com/office/drawing/2014/main" id="{1586013E-1EB9-1C00-E2AB-603A96A19905}"/>
                  </a:ext>
                </a:extLst>
              </p:cNvPr>
              <p:cNvSpPr txBox="1">
                <a:spLocks noRot="1" noChangeAspect="1" noMove="1" noResize="1" noEditPoints="1" noAdjustHandles="1" noChangeArrowheads="1" noChangeShapeType="1" noTextEdit="1"/>
              </p:cNvSpPr>
              <p:nvPr/>
            </p:nvSpPr>
            <p:spPr>
              <a:xfrm>
                <a:off x="4376073" y="3310075"/>
                <a:ext cx="281423" cy="276999"/>
              </a:xfrm>
              <a:prstGeom prst="rect">
                <a:avLst/>
              </a:prstGeom>
              <a:blipFill>
                <a:blip r:embed="rId3"/>
                <a:stretch>
                  <a:fillRect l="-13043" r="-8696" b="-1304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3" name="文字方塊 52">
                <a:extLst>
                  <a:ext uri="{FF2B5EF4-FFF2-40B4-BE49-F238E27FC236}">
                    <a16:creationId xmlns:a16="http://schemas.microsoft.com/office/drawing/2014/main" id="{D91F814B-C1D7-6FAB-5CF2-48F240BE0C33}"/>
                  </a:ext>
                </a:extLst>
              </p:cNvPr>
              <p:cNvSpPr txBox="1"/>
              <p:nvPr/>
            </p:nvSpPr>
            <p:spPr>
              <a:xfrm>
                <a:off x="6546993" y="3310074"/>
                <a:ext cx="2814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5</m:t>
                          </m:r>
                        </m:sub>
                      </m:sSub>
                    </m:oMath>
                  </m:oMathPara>
                </a14:m>
                <a:endParaRPr lang="zh-TW" altLang="en-US"/>
              </a:p>
            </p:txBody>
          </p:sp>
        </mc:Choice>
        <mc:Fallback xmlns="">
          <p:sp>
            <p:nvSpPr>
              <p:cNvPr id="53" name="文字方塊 52">
                <a:extLst>
                  <a:ext uri="{FF2B5EF4-FFF2-40B4-BE49-F238E27FC236}">
                    <a16:creationId xmlns:a16="http://schemas.microsoft.com/office/drawing/2014/main" id="{D91F814B-C1D7-6FAB-5CF2-48F240BE0C33}"/>
                  </a:ext>
                </a:extLst>
              </p:cNvPr>
              <p:cNvSpPr txBox="1">
                <a:spLocks noRot="1" noChangeAspect="1" noMove="1" noResize="1" noEditPoints="1" noAdjustHandles="1" noChangeArrowheads="1" noChangeShapeType="1" noTextEdit="1"/>
              </p:cNvSpPr>
              <p:nvPr/>
            </p:nvSpPr>
            <p:spPr>
              <a:xfrm>
                <a:off x="6546993" y="3310074"/>
                <a:ext cx="281423" cy="276999"/>
              </a:xfrm>
              <a:prstGeom prst="rect">
                <a:avLst/>
              </a:prstGeom>
              <a:blipFill>
                <a:blip r:embed="rId4"/>
                <a:stretch>
                  <a:fillRect l="-8696" r="-8696" b="-1304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4" name="文字方塊 53">
                <a:extLst>
                  <a:ext uri="{FF2B5EF4-FFF2-40B4-BE49-F238E27FC236}">
                    <a16:creationId xmlns:a16="http://schemas.microsoft.com/office/drawing/2014/main" id="{3CCB9CBF-8842-A4B3-22CF-1DC382E0931E}"/>
                  </a:ext>
                </a:extLst>
              </p:cNvPr>
              <p:cNvSpPr txBox="1"/>
              <p:nvPr/>
            </p:nvSpPr>
            <p:spPr>
              <a:xfrm>
                <a:off x="7649095" y="3313434"/>
                <a:ext cx="2814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6</m:t>
                          </m:r>
                        </m:sub>
                      </m:sSub>
                    </m:oMath>
                  </m:oMathPara>
                </a14:m>
                <a:endParaRPr lang="zh-TW" altLang="en-US"/>
              </a:p>
            </p:txBody>
          </p:sp>
        </mc:Choice>
        <mc:Fallback xmlns="">
          <p:sp>
            <p:nvSpPr>
              <p:cNvPr id="54" name="文字方塊 53">
                <a:extLst>
                  <a:ext uri="{FF2B5EF4-FFF2-40B4-BE49-F238E27FC236}">
                    <a16:creationId xmlns:a16="http://schemas.microsoft.com/office/drawing/2014/main" id="{3CCB9CBF-8842-A4B3-22CF-1DC382E0931E}"/>
                  </a:ext>
                </a:extLst>
              </p:cNvPr>
              <p:cNvSpPr txBox="1">
                <a:spLocks noRot="1" noChangeAspect="1" noMove="1" noResize="1" noEditPoints="1" noAdjustHandles="1" noChangeArrowheads="1" noChangeShapeType="1" noTextEdit="1"/>
              </p:cNvSpPr>
              <p:nvPr/>
            </p:nvSpPr>
            <p:spPr>
              <a:xfrm>
                <a:off x="7649095" y="3313434"/>
                <a:ext cx="281423" cy="276999"/>
              </a:xfrm>
              <a:prstGeom prst="rect">
                <a:avLst/>
              </a:prstGeom>
              <a:blipFill>
                <a:blip r:embed="rId5"/>
                <a:stretch>
                  <a:fillRect l="-13043" r="-4348" b="-1363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5" name="文字方塊 54">
                <a:extLst>
                  <a:ext uri="{FF2B5EF4-FFF2-40B4-BE49-F238E27FC236}">
                    <a16:creationId xmlns:a16="http://schemas.microsoft.com/office/drawing/2014/main" id="{19949D51-B5D6-1BCE-987C-75FB6641CA1B}"/>
                  </a:ext>
                </a:extLst>
              </p:cNvPr>
              <p:cNvSpPr txBox="1"/>
              <p:nvPr/>
            </p:nvSpPr>
            <p:spPr>
              <a:xfrm>
                <a:off x="5436024" y="3310075"/>
                <a:ext cx="2814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4</m:t>
                          </m:r>
                        </m:sub>
                      </m:sSub>
                    </m:oMath>
                  </m:oMathPara>
                </a14:m>
                <a:endParaRPr lang="zh-TW" altLang="en-US"/>
              </a:p>
            </p:txBody>
          </p:sp>
        </mc:Choice>
        <mc:Fallback xmlns="">
          <p:sp>
            <p:nvSpPr>
              <p:cNvPr id="55" name="文字方塊 54">
                <a:extLst>
                  <a:ext uri="{FF2B5EF4-FFF2-40B4-BE49-F238E27FC236}">
                    <a16:creationId xmlns:a16="http://schemas.microsoft.com/office/drawing/2014/main" id="{19949D51-B5D6-1BCE-987C-75FB6641CA1B}"/>
                  </a:ext>
                </a:extLst>
              </p:cNvPr>
              <p:cNvSpPr txBox="1">
                <a:spLocks noRot="1" noChangeAspect="1" noMove="1" noResize="1" noEditPoints="1" noAdjustHandles="1" noChangeArrowheads="1" noChangeShapeType="1" noTextEdit="1"/>
              </p:cNvSpPr>
              <p:nvPr/>
            </p:nvSpPr>
            <p:spPr>
              <a:xfrm>
                <a:off x="5436024" y="3310075"/>
                <a:ext cx="281423" cy="276999"/>
              </a:xfrm>
              <a:prstGeom prst="rect">
                <a:avLst/>
              </a:prstGeom>
              <a:blipFill>
                <a:blip r:embed="rId6"/>
                <a:stretch>
                  <a:fillRect l="-13043" r="-4348" b="-1304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6" name="文字方塊 55">
                <a:extLst>
                  <a:ext uri="{FF2B5EF4-FFF2-40B4-BE49-F238E27FC236}">
                    <a16:creationId xmlns:a16="http://schemas.microsoft.com/office/drawing/2014/main" id="{76EA673D-0317-7B4A-4957-497AD591548C}"/>
                  </a:ext>
                </a:extLst>
              </p:cNvPr>
              <p:cNvSpPr txBox="1"/>
              <p:nvPr/>
            </p:nvSpPr>
            <p:spPr>
              <a:xfrm>
                <a:off x="8752647" y="3310074"/>
                <a:ext cx="2814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7</m:t>
                          </m:r>
                        </m:sub>
                      </m:sSub>
                    </m:oMath>
                  </m:oMathPara>
                </a14:m>
                <a:endParaRPr lang="zh-TW" altLang="en-US"/>
              </a:p>
            </p:txBody>
          </p:sp>
        </mc:Choice>
        <mc:Fallback xmlns="">
          <p:sp>
            <p:nvSpPr>
              <p:cNvPr id="56" name="文字方塊 55">
                <a:extLst>
                  <a:ext uri="{FF2B5EF4-FFF2-40B4-BE49-F238E27FC236}">
                    <a16:creationId xmlns:a16="http://schemas.microsoft.com/office/drawing/2014/main" id="{76EA673D-0317-7B4A-4957-497AD591548C}"/>
                  </a:ext>
                </a:extLst>
              </p:cNvPr>
              <p:cNvSpPr txBox="1">
                <a:spLocks noRot="1" noChangeAspect="1" noMove="1" noResize="1" noEditPoints="1" noAdjustHandles="1" noChangeArrowheads="1" noChangeShapeType="1" noTextEdit="1"/>
              </p:cNvSpPr>
              <p:nvPr/>
            </p:nvSpPr>
            <p:spPr>
              <a:xfrm>
                <a:off x="8752647" y="3310074"/>
                <a:ext cx="281423" cy="276999"/>
              </a:xfrm>
              <a:prstGeom prst="rect">
                <a:avLst/>
              </a:prstGeom>
              <a:blipFill>
                <a:blip r:embed="rId7"/>
                <a:stretch>
                  <a:fillRect l="-13043" r="-4348" b="-1304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7" name="文字方塊 56">
                <a:extLst>
                  <a:ext uri="{FF2B5EF4-FFF2-40B4-BE49-F238E27FC236}">
                    <a16:creationId xmlns:a16="http://schemas.microsoft.com/office/drawing/2014/main" id="{0B0B2699-6ADE-F2C3-6174-245D48F5A5CA}"/>
                  </a:ext>
                </a:extLst>
              </p:cNvPr>
              <p:cNvSpPr txBox="1"/>
              <p:nvPr/>
            </p:nvSpPr>
            <p:spPr>
              <a:xfrm>
                <a:off x="6099982" y="3306635"/>
                <a:ext cx="28116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𝑝</m:t>
                          </m:r>
                        </m:e>
                        <m:sub>
                          <m:r>
                            <a:rPr lang="en-US" altLang="zh-TW" b="0" i="1" smtClean="0">
                              <a:latin typeface="Cambria Math" panose="02040503050406030204" pitchFamily="18" charset="0"/>
                            </a:rPr>
                            <m:t>2</m:t>
                          </m:r>
                        </m:sub>
                      </m:sSub>
                    </m:oMath>
                  </m:oMathPara>
                </a14:m>
                <a:endParaRPr lang="zh-TW" altLang="en-US"/>
              </a:p>
            </p:txBody>
          </p:sp>
        </mc:Choice>
        <mc:Fallback xmlns="">
          <p:sp>
            <p:nvSpPr>
              <p:cNvPr id="57" name="文字方塊 56">
                <a:extLst>
                  <a:ext uri="{FF2B5EF4-FFF2-40B4-BE49-F238E27FC236}">
                    <a16:creationId xmlns:a16="http://schemas.microsoft.com/office/drawing/2014/main" id="{0B0B2699-6ADE-F2C3-6174-245D48F5A5CA}"/>
                  </a:ext>
                </a:extLst>
              </p:cNvPr>
              <p:cNvSpPr txBox="1">
                <a:spLocks noRot="1" noChangeAspect="1" noMove="1" noResize="1" noEditPoints="1" noAdjustHandles="1" noChangeArrowheads="1" noChangeShapeType="1" noTextEdit="1"/>
              </p:cNvSpPr>
              <p:nvPr/>
            </p:nvSpPr>
            <p:spPr>
              <a:xfrm>
                <a:off x="6099982" y="3306635"/>
                <a:ext cx="281166" cy="276999"/>
              </a:xfrm>
              <a:prstGeom prst="rect">
                <a:avLst/>
              </a:prstGeom>
              <a:blipFill>
                <a:blip r:embed="rId8"/>
                <a:stretch>
                  <a:fillRect l="-21739" r="-8696" b="-2173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8" name="文字方塊 57">
                <a:extLst>
                  <a:ext uri="{FF2B5EF4-FFF2-40B4-BE49-F238E27FC236}">
                    <a16:creationId xmlns:a16="http://schemas.microsoft.com/office/drawing/2014/main" id="{C42CDE20-5065-57D9-01AF-FA1C6C9C009A}"/>
                  </a:ext>
                </a:extLst>
              </p:cNvPr>
              <p:cNvSpPr txBox="1"/>
              <p:nvPr/>
            </p:nvSpPr>
            <p:spPr>
              <a:xfrm>
                <a:off x="4986099" y="3303829"/>
                <a:ext cx="27584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𝑝</m:t>
                          </m:r>
                        </m:e>
                        <m:sub>
                          <m:r>
                            <a:rPr lang="en-US" altLang="zh-TW" b="0" i="1" smtClean="0">
                              <a:latin typeface="Cambria Math" panose="02040503050406030204" pitchFamily="18" charset="0"/>
                            </a:rPr>
                            <m:t>1</m:t>
                          </m:r>
                        </m:sub>
                      </m:sSub>
                    </m:oMath>
                  </m:oMathPara>
                </a14:m>
                <a:endParaRPr lang="zh-TW" altLang="en-US"/>
              </a:p>
            </p:txBody>
          </p:sp>
        </mc:Choice>
        <mc:Fallback xmlns="">
          <p:sp>
            <p:nvSpPr>
              <p:cNvPr id="58" name="文字方塊 57">
                <a:extLst>
                  <a:ext uri="{FF2B5EF4-FFF2-40B4-BE49-F238E27FC236}">
                    <a16:creationId xmlns:a16="http://schemas.microsoft.com/office/drawing/2014/main" id="{C42CDE20-5065-57D9-01AF-FA1C6C9C009A}"/>
                  </a:ext>
                </a:extLst>
              </p:cNvPr>
              <p:cNvSpPr txBox="1">
                <a:spLocks noRot="1" noChangeAspect="1" noMove="1" noResize="1" noEditPoints="1" noAdjustHandles="1" noChangeArrowheads="1" noChangeShapeType="1" noTextEdit="1"/>
              </p:cNvSpPr>
              <p:nvPr/>
            </p:nvSpPr>
            <p:spPr>
              <a:xfrm>
                <a:off x="4986099" y="3303829"/>
                <a:ext cx="275845" cy="276999"/>
              </a:xfrm>
              <a:prstGeom prst="rect">
                <a:avLst/>
              </a:prstGeom>
              <a:blipFill>
                <a:blip r:embed="rId9"/>
                <a:stretch>
                  <a:fillRect l="-21739" r="-4348" b="-2727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9" name="文字方塊 58">
                <a:extLst>
                  <a:ext uri="{FF2B5EF4-FFF2-40B4-BE49-F238E27FC236}">
                    <a16:creationId xmlns:a16="http://schemas.microsoft.com/office/drawing/2014/main" id="{F5CD7B3D-A034-3BAB-A0B5-F6341E764CD0}"/>
                  </a:ext>
                </a:extLst>
              </p:cNvPr>
              <p:cNvSpPr txBox="1"/>
              <p:nvPr/>
            </p:nvSpPr>
            <p:spPr>
              <a:xfrm>
                <a:off x="7208130" y="3303828"/>
                <a:ext cx="28116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𝑝</m:t>
                          </m:r>
                        </m:e>
                        <m:sub>
                          <m:r>
                            <a:rPr lang="en-US" altLang="zh-TW" b="0" i="1" smtClean="0">
                              <a:latin typeface="Cambria Math" panose="02040503050406030204" pitchFamily="18" charset="0"/>
                            </a:rPr>
                            <m:t>3</m:t>
                          </m:r>
                        </m:sub>
                      </m:sSub>
                    </m:oMath>
                  </m:oMathPara>
                </a14:m>
                <a:endParaRPr lang="zh-TW" altLang="en-US"/>
              </a:p>
            </p:txBody>
          </p:sp>
        </mc:Choice>
        <mc:Fallback xmlns="">
          <p:sp>
            <p:nvSpPr>
              <p:cNvPr id="59" name="文字方塊 58">
                <a:extLst>
                  <a:ext uri="{FF2B5EF4-FFF2-40B4-BE49-F238E27FC236}">
                    <a16:creationId xmlns:a16="http://schemas.microsoft.com/office/drawing/2014/main" id="{F5CD7B3D-A034-3BAB-A0B5-F6341E764CD0}"/>
                  </a:ext>
                </a:extLst>
              </p:cNvPr>
              <p:cNvSpPr txBox="1">
                <a:spLocks noRot="1" noChangeAspect="1" noMove="1" noResize="1" noEditPoints="1" noAdjustHandles="1" noChangeArrowheads="1" noChangeShapeType="1" noTextEdit="1"/>
              </p:cNvSpPr>
              <p:nvPr/>
            </p:nvSpPr>
            <p:spPr>
              <a:xfrm>
                <a:off x="7208130" y="3303828"/>
                <a:ext cx="281166" cy="276999"/>
              </a:xfrm>
              <a:prstGeom prst="rect">
                <a:avLst/>
              </a:prstGeom>
              <a:blipFill>
                <a:blip r:embed="rId10"/>
                <a:stretch>
                  <a:fillRect l="-17391" r="-4348" b="-27273"/>
                </a:stretch>
              </a:blipFill>
            </p:spPr>
            <p:txBody>
              <a:bodyPr/>
              <a:lstStyle/>
              <a:p>
                <a:r>
                  <a:rPr lang="zh-TW" altLang="en-US">
                    <a:noFill/>
                  </a:rPr>
                  <a:t> </a:t>
                </a:r>
              </a:p>
            </p:txBody>
          </p:sp>
        </mc:Fallback>
      </mc:AlternateContent>
      <p:sp>
        <p:nvSpPr>
          <p:cNvPr id="9" name="文字方塊 8">
            <a:extLst>
              <a:ext uri="{FF2B5EF4-FFF2-40B4-BE49-F238E27FC236}">
                <a16:creationId xmlns:a16="http://schemas.microsoft.com/office/drawing/2014/main" id="{51806725-7F7F-A4C8-EEF0-AC22F6F01BD2}"/>
              </a:ext>
            </a:extLst>
          </p:cNvPr>
          <p:cNvSpPr txBox="1"/>
          <p:nvPr/>
        </p:nvSpPr>
        <p:spPr>
          <a:xfrm>
            <a:off x="8143114" y="991008"/>
            <a:ext cx="3387965" cy="369332"/>
          </a:xfrm>
          <a:prstGeom prst="rect">
            <a:avLst/>
          </a:prstGeom>
          <a:noFill/>
        </p:spPr>
        <p:txBody>
          <a:bodyPr wrap="square" rtlCol="0">
            <a:spAutoFit/>
          </a:bodyPr>
          <a:lstStyle/>
          <a:p>
            <a:r>
              <a:rPr kumimoji="1" lang="en" altLang="zh-TW" dirty="0"/>
              <a:t>https://</a:t>
            </a:r>
            <a:r>
              <a:rPr kumimoji="1" lang="en" altLang="zh-TW" dirty="0" err="1"/>
              <a:t>arxiv.org</a:t>
            </a:r>
            <a:r>
              <a:rPr kumimoji="1" lang="en" altLang="zh-TW" dirty="0"/>
              <a:t>/pdf/1907.10529</a:t>
            </a:r>
            <a:endParaRPr kumimoji="1" lang="zh-TW" altLang="en-US" dirty="0"/>
          </a:p>
        </p:txBody>
      </p:sp>
    </p:spTree>
    <p:extLst>
      <p:ext uri="{BB962C8B-B14F-4D97-AF65-F5344CB8AC3E}">
        <p14:creationId xmlns:p14="http://schemas.microsoft.com/office/powerpoint/2010/main" val="3607170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2" grpId="0"/>
      <p:bldP spid="53" grpId="0"/>
      <p:bldP spid="54" grpId="0"/>
      <p:bldP spid="55" grpId="0"/>
      <p:bldP spid="56" grpId="0"/>
      <p:bldP spid="57" grpId="0"/>
      <p:bldP spid="58" grpId="0"/>
      <p:bldP spid="59"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64133-2BCC-B726-D38D-E90A0FA0415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DC81470-51FE-45C9-D470-39A2E6F2688C}"/>
              </a:ext>
            </a:extLst>
          </p:cNvPr>
          <p:cNvSpPr>
            <a:spLocks noGrp="1"/>
          </p:cNvSpPr>
          <p:nvPr>
            <p:ph type="title"/>
          </p:nvPr>
        </p:nvSpPr>
        <p:spPr/>
        <p:txBody>
          <a:bodyPr/>
          <a:lstStyle/>
          <a:p>
            <a:r>
              <a:rPr lang="en-US" altLang="zh-TW" dirty="0">
                <a:ea typeface="新細明體"/>
                <a:cs typeface="Calibri Light"/>
              </a:rPr>
              <a:t>Extensions</a:t>
            </a:r>
            <a:r>
              <a:rPr lang="zh-TW" altLang="en-US" dirty="0">
                <a:ea typeface="新細明體"/>
                <a:cs typeface="Calibri Light"/>
              </a:rPr>
              <a:t> of BERT </a:t>
            </a:r>
            <a:r>
              <a:rPr lang="en-US" altLang="zh-TW">
                <a:ea typeface="新細明體"/>
                <a:cs typeface="Calibri Light"/>
              </a:rPr>
              <a:t>(Summary</a:t>
            </a:r>
            <a:r>
              <a:rPr lang="en-US" altLang="zh-TW" dirty="0">
                <a:ea typeface="新細明體"/>
                <a:cs typeface="Calibri Light"/>
              </a:rPr>
              <a:t>)</a:t>
            </a:r>
            <a:endParaRPr lang="zh-TW" dirty="0"/>
          </a:p>
        </p:txBody>
      </p:sp>
      <p:sp>
        <p:nvSpPr>
          <p:cNvPr id="5" name="投影片編號版面配置區 4">
            <a:extLst>
              <a:ext uri="{FF2B5EF4-FFF2-40B4-BE49-F238E27FC236}">
                <a16:creationId xmlns:a16="http://schemas.microsoft.com/office/drawing/2014/main" id="{6865E2BB-3469-729D-C97B-582DF2D7A2BB}"/>
              </a:ext>
            </a:extLst>
          </p:cNvPr>
          <p:cNvSpPr>
            <a:spLocks noGrp="1"/>
          </p:cNvSpPr>
          <p:nvPr>
            <p:ph type="sldNum" sz="quarter" idx="12"/>
          </p:nvPr>
        </p:nvSpPr>
        <p:spPr/>
        <p:txBody>
          <a:bodyPr/>
          <a:lstStyle/>
          <a:p>
            <a:fld id="{6113E31D-E2AB-40D1-8B51-AFA5AFEF393A}" type="slidenum">
              <a:rPr lang="en-US" dirty="0"/>
              <a:t>48</a:t>
            </a:fld>
            <a:endParaRPr lang="zh-TW" altLang="en-US"/>
          </a:p>
        </p:txBody>
      </p:sp>
      <p:graphicFrame>
        <p:nvGraphicFramePr>
          <p:cNvPr id="7" name="表格 6">
            <a:extLst>
              <a:ext uri="{FF2B5EF4-FFF2-40B4-BE49-F238E27FC236}">
                <a16:creationId xmlns:a16="http://schemas.microsoft.com/office/drawing/2014/main" id="{25A61A13-958C-B94F-1266-A94896CAD2D2}"/>
              </a:ext>
            </a:extLst>
          </p:cNvPr>
          <p:cNvGraphicFramePr>
            <a:graphicFrameLocks noGrp="1"/>
          </p:cNvGraphicFramePr>
          <p:nvPr/>
        </p:nvGraphicFramePr>
        <p:xfrm>
          <a:off x="1066800" y="2403484"/>
          <a:ext cx="10058400" cy="2803500"/>
        </p:xfrm>
        <a:graphic>
          <a:graphicData uri="http://schemas.openxmlformats.org/drawingml/2006/table">
            <a:tbl>
              <a:tblPr firstRow="1" bandRow="1">
                <a:tableStyleId>{5C22544A-7EE6-4342-B048-85BDC9FD1C3A}</a:tableStyleId>
              </a:tblPr>
              <a:tblGrid>
                <a:gridCol w="1656771">
                  <a:extLst>
                    <a:ext uri="{9D8B030D-6E8A-4147-A177-3AD203B41FA5}">
                      <a16:colId xmlns:a16="http://schemas.microsoft.com/office/drawing/2014/main" val="2298293913"/>
                    </a:ext>
                  </a:extLst>
                </a:gridCol>
                <a:gridCol w="3487119">
                  <a:extLst>
                    <a:ext uri="{9D8B030D-6E8A-4147-A177-3AD203B41FA5}">
                      <a16:colId xmlns:a16="http://schemas.microsoft.com/office/drawing/2014/main" val="3411019013"/>
                    </a:ext>
                  </a:extLst>
                </a:gridCol>
                <a:gridCol w="2839922">
                  <a:extLst>
                    <a:ext uri="{9D8B030D-6E8A-4147-A177-3AD203B41FA5}">
                      <a16:colId xmlns:a16="http://schemas.microsoft.com/office/drawing/2014/main" val="554494824"/>
                    </a:ext>
                  </a:extLst>
                </a:gridCol>
                <a:gridCol w="2074588">
                  <a:extLst>
                    <a:ext uri="{9D8B030D-6E8A-4147-A177-3AD203B41FA5}">
                      <a16:colId xmlns:a16="http://schemas.microsoft.com/office/drawing/2014/main" val="1776605526"/>
                    </a:ext>
                  </a:extLst>
                </a:gridCol>
              </a:tblGrid>
              <a:tr h="700875">
                <a:tc>
                  <a:txBody>
                    <a:bodyPr/>
                    <a:lstStyle/>
                    <a:p>
                      <a:pPr algn="ctr"/>
                      <a:r>
                        <a:rPr lang="en-US" altLang="zh-TW">
                          <a:solidFill>
                            <a:schemeClr val="tx1"/>
                          </a:solidFill>
                          <a:latin typeface="+mn-lt"/>
                          <a:cs typeface="Times New Roman" panose="02020603050405020304" pitchFamily="18" charset="0"/>
                        </a:rPr>
                        <a:t>Model</a:t>
                      </a:r>
                      <a:endParaRPr lang="zh-TW" altLang="en-US">
                        <a:solidFill>
                          <a:schemeClr val="tx1"/>
                        </a:solidFill>
                        <a:latin typeface="+mn-lt"/>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a:solidFill>
                            <a:schemeClr val="tx1"/>
                          </a:solidFill>
                          <a:latin typeface="+mn-lt"/>
                          <a:cs typeface="Times New Roman" panose="02020603050405020304" pitchFamily="18" charset="0"/>
                        </a:rPr>
                        <a:t>MLM task</a:t>
                      </a:r>
                      <a:endParaRPr lang="zh-TW" altLang="en-US">
                        <a:solidFill>
                          <a:schemeClr val="tx1"/>
                        </a:solidFill>
                        <a:latin typeface="+mn-lt"/>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a:solidFill>
                            <a:schemeClr val="tx1"/>
                          </a:solidFill>
                          <a:latin typeface="+mn-lt"/>
                          <a:cs typeface="Times New Roman" panose="02020603050405020304" pitchFamily="18" charset="0"/>
                        </a:rPr>
                        <a:t>NSP task</a:t>
                      </a:r>
                      <a:endParaRPr lang="zh-TW" altLang="en-US">
                        <a:solidFill>
                          <a:schemeClr val="tx1"/>
                        </a:solidFill>
                        <a:latin typeface="+mn-lt"/>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a:solidFill>
                            <a:schemeClr val="tx1"/>
                          </a:solidFill>
                          <a:latin typeface="+mn-lt"/>
                          <a:cs typeface="Times New Roman" panose="02020603050405020304" pitchFamily="18" charset="0"/>
                        </a:rPr>
                        <a:t>Release</a:t>
                      </a:r>
                      <a:endParaRPr lang="zh-TW" altLang="en-US">
                        <a:solidFill>
                          <a:schemeClr val="tx1"/>
                        </a:solidFill>
                        <a:latin typeface="+mn-lt"/>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294156070"/>
                  </a:ext>
                </a:extLst>
              </a:tr>
              <a:tr h="700875">
                <a:tc>
                  <a:txBody>
                    <a:bodyPr/>
                    <a:lstStyle/>
                    <a:p>
                      <a:pPr algn="ctr"/>
                      <a:r>
                        <a:rPr lang="en-US" altLang="zh-TW">
                          <a:solidFill>
                            <a:schemeClr val="tx1"/>
                          </a:solidFill>
                          <a:latin typeface="+mn-lt"/>
                          <a:cs typeface="Times New Roman" panose="02020603050405020304" pitchFamily="18" charset="0"/>
                        </a:rPr>
                        <a:t>BERT</a:t>
                      </a:r>
                      <a:endParaRPr lang="zh-TW" altLang="en-US">
                        <a:solidFill>
                          <a:schemeClr val="tx1"/>
                        </a:solidFill>
                        <a:latin typeface="+mn-lt"/>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altLang="zh-TW">
                          <a:solidFill>
                            <a:schemeClr val="tx1"/>
                          </a:solidFill>
                          <a:latin typeface="+mn-lt"/>
                          <a:cs typeface="Times New Roman" panose="02020603050405020304" pitchFamily="18" charset="0"/>
                        </a:rPr>
                        <a:t>Static masking</a:t>
                      </a:r>
                      <a:endParaRPr lang="zh-TW" altLang="en-US">
                        <a:solidFill>
                          <a:schemeClr val="tx1"/>
                        </a:solidFill>
                        <a:latin typeface="+mn-lt"/>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altLang="zh-TW">
                          <a:solidFill>
                            <a:schemeClr val="tx1"/>
                          </a:solidFill>
                          <a:latin typeface="+mn-lt"/>
                          <a:cs typeface="Times New Roman" panose="02020603050405020304" pitchFamily="18" charset="0"/>
                        </a:rPr>
                        <a:t>Sentence relationship</a:t>
                      </a:r>
                      <a:endParaRPr lang="zh-TW" altLang="en-US">
                        <a:solidFill>
                          <a:schemeClr val="tx1"/>
                        </a:solidFill>
                        <a:latin typeface="+mn-lt"/>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altLang="zh-TW">
                          <a:solidFill>
                            <a:schemeClr val="tx1"/>
                          </a:solidFill>
                          <a:latin typeface="+mn-lt"/>
                          <a:cs typeface="Times New Roman" panose="02020603050405020304" pitchFamily="18" charset="0"/>
                        </a:rPr>
                        <a:t>2018/10</a:t>
                      </a:r>
                      <a:endParaRPr lang="zh-TW" altLang="en-US">
                        <a:solidFill>
                          <a:schemeClr val="tx1"/>
                        </a:solidFill>
                        <a:latin typeface="+mn-lt"/>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88246185"/>
                  </a:ext>
                </a:extLst>
              </a:tr>
              <a:tr h="700875">
                <a:tc>
                  <a:txBody>
                    <a:bodyPr/>
                    <a:lstStyle/>
                    <a:p>
                      <a:pPr algn="ctr"/>
                      <a:r>
                        <a:rPr lang="en-US" altLang="zh-TW">
                          <a:solidFill>
                            <a:schemeClr val="tx1"/>
                          </a:solidFill>
                          <a:latin typeface="+mn-lt"/>
                          <a:cs typeface="Times New Roman" panose="02020603050405020304" pitchFamily="18" charset="0"/>
                        </a:rPr>
                        <a:t>RoBERTa</a:t>
                      </a:r>
                      <a:endParaRPr lang="zh-TW" altLang="en-US">
                        <a:solidFill>
                          <a:schemeClr val="tx1"/>
                        </a:solidFill>
                        <a:latin typeface="+mn-lt"/>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altLang="zh-TW">
                          <a:solidFill>
                            <a:schemeClr val="tx1"/>
                          </a:solidFill>
                          <a:latin typeface="+mn-lt"/>
                          <a:cs typeface="Times New Roman" panose="02020603050405020304" pitchFamily="18" charset="0"/>
                        </a:rPr>
                        <a:t>Dynamic masking</a:t>
                      </a:r>
                      <a:endParaRPr lang="zh-TW" altLang="en-US">
                        <a:solidFill>
                          <a:schemeClr val="tx1"/>
                        </a:solidFill>
                        <a:latin typeface="+mn-lt"/>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altLang="zh-TW">
                          <a:solidFill>
                            <a:schemeClr val="tx1"/>
                          </a:solidFill>
                          <a:latin typeface="+mn-lt"/>
                          <a:cs typeface="Times New Roman" panose="02020603050405020304" pitchFamily="18" charset="0"/>
                        </a:rPr>
                        <a:t>Remove NSP task</a:t>
                      </a:r>
                      <a:endParaRPr lang="zh-TW" altLang="en-US">
                        <a:solidFill>
                          <a:schemeClr val="tx1"/>
                        </a:solidFill>
                        <a:latin typeface="+mn-lt"/>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altLang="zh-TW">
                          <a:solidFill>
                            <a:schemeClr val="tx1"/>
                          </a:solidFill>
                          <a:latin typeface="+mn-lt"/>
                          <a:cs typeface="Times New Roman" panose="02020603050405020304" pitchFamily="18" charset="0"/>
                        </a:rPr>
                        <a:t>2019/07</a:t>
                      </a:r>
                      <a:endParaRPr lang="zh-TW" altLang="en-US">
                        <a:solidFill>
                          <a:schemeClr val="tx1"/>
                        </a:solidFill>
                        <a:latin typeface="+mn-lt"/>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612987167"/>
                  </a:ext>
                </a:extLst>
              </a:tr>
              <a:tr h="700875">
                <a:tc>
                  <a:txBody>
                    <a:bodyPr/>
                    <a:lstStyle/>
                    <a:p>
                      <a:pPr algn="ctr"/>
                      <a:r>
                        <a:rPr lang="en-US" altLang="zh-TW" dirty="0" err="1">
                          <a:solidFill>
                            <a:schemeClr val="tx1"/>
                          </a:solidFill>
                          <a:latin typeface="+mn-lt"/>
                          <a:cs typeface="Times New Roman" panose="02020603050405020304" pitchFamily="18" charset="0"/>
                        </a:rPr>
                        <a:t>SpanBERT</a:t>
                      </a:r>
                      <a:endParaRPr lang="zh-TW" altLang="en-US" dirty="0">
                        <a:solidFill>
                          <a:schemeClr val="tx1"/>
                        </a:solidFill>
                        <a:latin typeface="+mn-lt"/>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altLang="zh-TW">
                          <a:solidFill>
                            <a:schemeClr val="tx1"/>
                          </a:solidFill>
                          <a:latin typeface="+mn-lt"/>
                          <a:cs typeface="Times New Roman" panose="02020603050405020304" pitchFamily="18" charset="0"/>
                        </a:rPr>
                        <a:t>Span masking</a:t>
                      </a:r>
                      <a:endParaRPr lang="zh-TW" altLang="en-US">
                        <a:solidFill>
                          <a:schemeClr val="tx1"/>
                        </a:solidFill>
                        <a:latin typeface="+mn-lt"/>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a:solidFill>
                            <a:schemeClr val="tx1"/>
                          </a:solidFill>
                          <a:latin typeface="+mn-lt"/>
                          <a:cs typeface="Times New Roman" panose="02020603050405020304" pitchFamily="18" charset="0"/>
                        </a:rPr>
                        <a:t>Remove NSP task</a:t>
                      </a:r>
                      <a:endParaRPr lang="zh-TW" altLang="en-US">
                        <a:solidFill>
                          <a:schemeClr val="tx1"/>
                        </a:solidFill>
                        <a:latin typeface="+mn-lt"/>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altLang="zh-TW" dirty="0">
                          <a:solidFill>
                            <a:schemeClr val="tx1"/>
                          </a:solidFill>
                          <a:latin typeface="+mn-lt"/>
                          <a:cs typeface="Times New Roman" panose="02020603050405020304" pitchFamily="18" charset="0"/>
                        </a:rPr>
                        <a:t>2019/07</a:t>
                      </a:r>
                      <a:endParaRPr lang="zh-TW" altLang="en-US" dirty="0">
                        <a:solidFill>
                          <a:schemeClr val="tx1"/>
                        </a:solidFill>
                        <a:latin typeface="+mn-lt"/>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955729928"/>
                  </a:ext>
                </a:extLst>
              </a:tr>
            </a:tbl>
          </a:graphicData>
        </a:graphic>
      </p:graphicFrame>
    </p:spTree>
    <p:extLst>
      <p:ext uri="{BB962C8B-B14F-4D97-AF65-F5344CB8AC3E}">
        <p14:creationId xmlns:p14="http://schemas.microsoft.com/office/powerpoint/2010/main" val="7334746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a:extLst>
              <a:ext uri="{FF2B5EF4-FFF2-40B4-BE49-F238E27FC236}">
                <a16:creationId xmlns:a16="http://schemas.microsoft.com/office/drawing/2014/main" id="{0988A61A-7679-5029-E481-E972BCDA8321}"/>
              </a:ext>
            </a:extLst>
          </p:cNvPr>
          <p:cNvSpPr>
            <a:spLocks noGrp="1"/>
          </p:cNvSpPr>
          <p:nvPr>
            <p:ph type="title"/>
          </p:nvPr>
        </p:nvSpPr>
        <p:spPr>
          <a:xfrm>
            <a:off x="457200" y="2407297"/>
            <a:ext cx="3200400" cy="1315617"/>
          </a:xfrm>
        </p:spPr>
        <p:txBody>
          <a:bodyPr/>
          <a:lstStyle/>
          <a:p>
            <a:r>
              <a:rPr lang="en-US" altLang="zh-TW" dirty="0"/>
              <a:t>BERT and its Family</a:t>
            </a:r>
            <a:endParaRPr lang="zh-TW" altLang="en-US" dirty="0"/>
          </a:p>
        </p:txBody>
      </p:sp>
      <p:sp>
        <p:nvSpPr>
          <p:cNvPr id="4" name="投影片編號版面配置區 3">
            <a:extLst>
              <a:ext uri="{FF2B5EF4-FFF2-40B4-BE49-F238E27FC236}">
                <a16:creationId xmlns:a16="http://schemas.microsoft.com/office/drawing/2014/main" id="{642B01E6-53DD-CC83-28F9-073680E15DA3}"/>
              </a:ext>
            </a:extLst>
          </p:cNvPr>
          <p:cNvSpPr>
            <a:spLocks noGrp="1"/>
          </p:cNvSpPr>
          <p:nvPr>
            <p:ph type="sldNum" sz="quarter" idx="12"/>
          </p:nvPr>
        </p:nvSpPr>
        <p:spPr/>
        <p:txBody>
          <a:bodyPr/>
          <a:lstStyle/>
          <a:p>
            <a:fld id="{6113E31D-E2AB-40D1-8B51-AFA5AFEF393A}" type="slidenum">
              <a:rPr lang="en-US" smtClean="0"/>
              <a:pPr/>
              <a:t>49</a:t>
            </a:fld>
            <a:endParaRPr lang="en-US" dirty="0"/>
          </a:p>
        </p:txBody>
      </p:sp>
      <p:sp>
        <p:nvSpPr>
          <p:cNvPr id="2" name="文字方塊 1">
            <a:extLst>
              <a:ext uri="{FF2B5EF4-FFF2-40B4-BE49-F238E27FC236}">
                <a16:creationId xmlns:a16="http://schemas.microsoft.com/office/drawing/2014/main" id="{1C0915F4-406B-77AB-8C4F-858F740AB7BA}"/>
              </a:ext>
            </a:extLst>
          </p:cNvPr>
          <p:cNvSpPr txBox="1"/>
          <p:nvPr/>
        </p:nvSpPr>
        <p:spPr>
          <a:xfrm>
            <a:off x="4612852" y="2151727"/>
            <a:ext cx="3921550" cy="2554545"/>
          </a:xfrm>
          <a:prstGeom prst="rect">
            <a:avLst/>
          </a:prstGeom>
          <a:noFill/>
        </p:spPr>
        <p:txBody>
          <a:bodyPr wrap="square" rtlCol="0">
            <a:spAutoFit/>
          </a:bodyPr>
          <a:lstStyle/>
          <a:p>
            <a:pPr marL="457200" indent="-457200">
              <a:buFont typeface="Arial" panose="020B0604020202020204" pitchFamily="34" charset="0"/>
              <a:buChar char="•"/>
            </a:pPr>
            <a:r>
              <a:rPr kumimoji="1" lang="en-US" altLang="zh-TW" sz="3200" dirty="0" err="1"/>
              <a:t>ELMo</a:t>
            </a:r>
            <a:endParaRPr kumimoji="1" lang="en-US" altLang="zh-TW" sz="3200" dirty="0"/>
          </a:p>
          <a:p>
            <a:pPr marL="457200" indent="-457200">
              <a:buFont typeface="Arial" panose="020B0604020202020204" pitchFamily="34" charset="0"/>
              <a:buChar char="•"/>
            </a:pPr>
            <a:r>
              <a:rPr kumimoji="1" lang="en-US" altLang="zh-TW" sz="3200" dirty="0"/>
              <a:t>BERT</a:t>
            </a:r>
          </a:p>
          <a:p>
            <a:pPr marL="457200" indent="-457200">
              <a:buFont typeface="Arial" panose="020B0604020202020204" pitchFamily="34" charset="0"/>
              <a:buChar char="•"/>
            </a:pPr>
            <a:r>
              <a:rPr kumimoji="1" lang="en-US" altLang="zh-TW" sz="3200" dirty="0" err="1"/>
              <a:t>RoBERTa</a:t>
            </a:r>
            <a:endParaRPr kumimoji="1" lang="en-US" altLang="zh-TW" sz="3200" dirty="0"/>
          </a:p>
          <a:p>
            <a:pPr marL="457200" indent="-457200">
              <a:buFont typeface="Arial" panose="020B0604020202020204" pitchFamily="34" charset="0"/>
              <a:buChar char="•"/>
            </a:pPr>
            <a:r>
              <a:rPr kumimoji="1" lang="en-US" altLang="zh-TW" sz="3200" dirty="0" err="1"/>
              <a:t>SpanBERT</a:t>
            </a:r>
            <a:endParaRPr kumimoji="1" lang="en-US" altLang="zh-TW" sz="3200" dirty="0"/>
          </a:p>
          <a:p>
            <a:pPr marL="457200" indent="-457200">
              <a:buFont typeface="Arial" panose="020B0604020202020204" pitchFamily="34" charset="0"/>
              <a:buChar char="•"/>
            </a:pPr>
            <a:r>
              <a:rPr kumimoji="1" lang="en-US" altLang="zh-TW" sz="3200" dirty="0" err="1">
                <a:solidFill>
                  <a:srgbClr val="FF0000"/>
                </a:solidFill>
              </a:rPr>
              <a:t>DeBERTa</a:t>
            </a:r>
            <a:endParaRPr kumimoji="1" lang="zh-TW" altLang="en-US" sz="3200" dirty="0">
              <a:solidFill>
                <a:srgbClr val="FF0000"/>
              </a:solidFill>
            </a:endParaRPr>
          </a:p>
        </p:txBody>
      </p:sp>
    </p:spTree>
    <p:extLst>
      <p:ext uri="{BB962C8B-B14F-4D97-AF65-F5344CB8AC3E}">
        <p14:creationId xmlns:p14="http://schemas.microsoft.com/office/powerpoint/2010/main" val="41151767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11EBC1-FC9E-33DC-B984-F6E78B4B374C}"/>
              </a:ext>
            </a:extLst>
          </p:cNvPr>
          <p:cNvSpPr>
            <a:spLocks noGrp="1"/>
          </p:cNvSpPr>
          <p:nvPr>
            <p:ph type="title"/>
          </p:nvPr>
        </p:nvSpPr>
        <p:spPr/>
        <p:txBody>
          <a:bodyPr>
            <a:normAutofit/>
          </a:bodyPr>
          <a:lstStyle/>
          <a:p>
            <a:r>
              <a:rPr kumimoji="1" lang="en-US" altLang="zh-TW" dirty="0"/>
              <a:t>Positional Encodings </a:t>
            </a:r>
            <a:r>
              <a:rPr kumimoji="1" lang="zh-TW" altLang="en-US" dirty="0"/>
              <a:t>常常是加在</a:t>
            </a:r>
            <a:r>
              <a:rPr kumimoji="1" lang="en-US" altLang="zh-TW" dirty="0"/>
              <a:t> Input</a:t>
            </a:r>
            <a:endParaRPr kumimoji="1" lang="zh-TW" altLang="en-US" dirty="0"/>
          </a:p>
        </p:txBody>
      </p:sp>
      <p:sp>
        <p:nvSpPr>
          <p:cNvPr id="4" name="投影片編號版面配置區 3">
            <a:extLst>
              <a:ext uri="{FF2B5EF4-FFF2-40B4-BE49-F238E27FC236}">
                <a16:creationId xmlns:a16="http://schemas.microsoft.com/office/drawing/2014/main" id="{5DB095D8-ABDB-CC42-D333-63DF6D2C4DD6}"/>
              </a:ext>
            </a:extLst>
          </p:cNvPr>
          <p:cNvSpPr>
            <a:spLocks noGrp="1"/>
          </p:cNvSpPr>
          <p:nvPr>
            <p:ph type="sldNum" sz="quarter" idx="12"/>
          </p:nvPr>
        </p:nvSpPr>
        <p:spPr/>
        <p:txBody>
          <a:bodyPr/>
          <a:lstStyle/>
          <a:p>
            <a:fld id="{6113E31D-E2AB-40D1-8B51-AFA5AFEF393A}" type="slidenum">
              <a:rPr lang="en-US" smtClean="0"/>
              <a:pPr/>
              <a:t>50</a:t>
            </a:fld>
            <a:endParaRPr lang="en-US" dirty="0"/>
          </a:p>
        </p:txBody>
      </p:sp>
      <p:pic>
        <p:nvPicPr>
          <p:cNvPr id="5" name="圖片 4">
            <a:extLst>
              <a:ext uri="{FF2B5EF4-FFF2-40B4-BE49-F238E27FC236}">
                <a16:creationId xmlns:a16="http://schemas.microsoft.com/office/drawing/2014/main" id="{D5852D27-ED6A-7115-2E08-F651723F96B1}"/>
              </a:ext>
            </a:extLst>
          </p:cNvPr>
          <p:cNvPicPr>
            <a:picLocks noChangeAspect="1"/>
          </p:cNvPicPr>
          <p:nvPr/>
        </p:nvPicPr>
        <p:blipFill>
          <a:blip r:embed="rId2"/>
          <a:stretch>
            <a:fillRect/>
          </a:stretch>
        </p:blipFill>
        <p:spPr>
          <a:xfrm>
            <a:off x="1097882" y="1620856"/>
            <a:ext cx="3619047" cy="5159829"/>
          </a:xfrm>
          <a:prstGeom prst="rect">
            <a:avLst/>
          </a:prstGeom>
        </p:spPr>
      </p:pic>
      <p:sp>
        <p:nvSpPr>
          <p:cNvPr id="6" name="矩形 5">
            <a:extLst>
              <a:ext uri="{FF2B5EF4-FFF2-40B4-BE49-F238E27FC236}">
                <a16:creationId xmlns:a16="http://schemas.microsoft.com/office/drawing/2014/main" id="{24B47805-3005-CD6C-F0CC-646CD43AE016}"/>
              </a:ext>
            </a:extLst>
          </p:cNvPr>
          <p:cNvSpPr/>
          <p:nvPr/>
        </p:nvSpPr>
        <p:spPr>
          <a:xfrm>
            <a:off x="1097882" y="5354425"/>
            <a:ext cx="3619046" cy="43401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pic>
        <p:nvPicPr>
          <p:cNvPr id="8" name="圖片 7">
            <a:extLst>
              <a:ext uri="{FF2B5EF4-FFF2-40B4-BE49-F238E27FC236}">
                <a16:creationId xmlns:a16="http://schemas.microsoft.com/office/drawing/2014/main" id="{5745880D-1E06-F93E-D0E7-50E5AC66C71C}"/>
              </a:ext>
            </a:extLst>
          </p:cNvPr>
          <p:cNvPicPr>
            <a:picLocks noChangeAspect="1"/>
          </p:cNvPicPr>
          <p:nvPr/>
        </p:nvPicPr>
        <p:blipFill>
          <a:blip r:embed="rId3"/>
          <a:stretch>
            <a:fillRect/>
          </a:stretch>
        </p:blipFill>
        <p:spPr>
          <a:xfrm>
            <a:off x="4983409" y="2879204"/>
            <a:ext cx="6588105" cy="2002696"/>
          </a:xfrm>
          <a:prstGeom prst="rect">
            <a:avLst/>
          </a:prstGeom>
        </p:spPr>
      </p:pic>
      <p:sp>
        <p:nvSpPr>
          <p:cNvPr id="9" name="矩形 8">
            <a:extLst>
              <a:ext uri="{FF2B5EF4-FFF2-40B4-BE49-F238E27FC236}">
                <a16:creationId xmlns:a16="http://schemas.microsoft.com/office/drawing/2014/main" id="{83F09663-FDDF-BD49-B9BF-1DEDC999049C}"/>
              </a:ext>
            </a:extLst>
          </p:cNvPr>
          <p:cNvSpPr/>
          <p:nvPr/>
        </p:nvSpPr>
        <p:spPr>
          <a:xfrm>
            <a:off x="4983408" y="4270343"/>
            <a:ext cx="6588105" cy="61155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Tree>
    <p:extLst>
      <p:ext uri="{BB962C8B-B14F-4D97-AF65-F5344CB8AC3E}">
        <p14:creationId xmlns:p14="http://schemas.microsoft.com/office/powerpoint/2010/main" val="3318206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D711679-D020-07F5-7082-EC1E603097EB}"/>
              </a:ext>
            </a:extLst>
          </p:cNvPr>
          <p:cNvSpPr>
            <a:spLocks noGrp="1"/>
          </p:cNvSpPr>
          <p:nvPr>
            <p:ph type="title"/>
          </p:nvPr>
        </p:nvSpPr>
        <p:spPr/>
        <p:txBody>
          <a:bodyPr/>
          <a:lstStyle/>
          <a:p>
            <a:r>
              <a:rPr kumimoji="1" lang="zh-TW" altLang="en-US" dirty="0"/>
              <a:t>相對位置的重要性</a:t>
            </a:r>
          </a:p>
        </p:txBody>
      </p:sp>
      <p:sp>
        <p:nvSpPr>
          <p:cNvPr id="3" name="內容版面配置區 2">
            <a:extLst>
              <a:ext uri="{FF2B5EF4-FFF2-40B4-BE49-F238E27FC236}">
                <a16:creationId xmlns:a16="http://schemas.microsoft.com/office/drawing/2014/main" id="{EAD2F3BB-CB27-C8E5-D28C-2331A25DE122}"/>
              </a:ext>
            </a:extLst>
          </p:cNvPr>
          <p:cNvSpPr>
            <a:spLocks noGrp="1"/>
          </p:cNvSpPr>
          <p:nvPr>
            <p:ph idx="1"/>
          </p:nvPr>
        </p:nvSpPr>
        <p:spPr>
          <a:xfrm>
            <a:off x="653143" y="1845734"/>
            <a:ext cx="10918371" cy="2594291"/>
          </a:xfrm>
        </p:spPr>
        <p:txBody>
          <a:bodyPr/>
          <a:lstStyle/>
          <a:p>
            <a:r>
              <a:rPr kumimoji="1" lang="en" altLang="zh-TW" dirty="0"/>
              <a:t>[</a:t>
            </a:r>
            <a:r>
              <a:rPr kumimoji="1" lang="zh-TW" altLang="en-US" dirty="0"/>
              <a:t>句子</a:t>
            </a:r>
            <a:r>
              <a:rPr kumimoji="1" lang="en-US" altLang="zh-TW" dirty="0"/>
              <a:t>1</a:t>
            </a:r>
            <a:r>
              <a:rPr kumimoji="1" lang="en" altLang="zh-TW" dirty="0"/>
              <a:t>]</a:t>
            </a:r>
          </a:p>
          <a:p>
            <a:r>
              <a:rPr kumimoji="1" lang="en" altLang="zh-TW" dirty="0"/>
              <a:t>I am studying </a:t>
            </a:r>
            <a:r>
              <a:rPr kumimoji="1" lang="en" altLang="zh-TW" dirty="0">
                <a:solidFill>
                  <a:srgbClr val="FF0000"/>
                </a:solidFill>
              </a:rPr>
              <a:t>deep learning </a:t>
            </a:r>
            <a:r>
              <a:rPr kumimoji="1" lang="en" altLang="zh-TW" dirty="0"/>
              <a:t>today.</a:t>
            </a:r>
          </a:p>
          <a:p>
            <a:endParaRPr kumimoji="1" lang="en" altLang="zh-TW" dirty="0"/>
          </a:p>
          <a:p>
            <a:r>
              <a:rPr kumimoji="1" lang="en" altLang="zh-TW" dirty="0"/>
              <a:t>[</a:t>
            </a:r>
            <a:r>
              <a:rPr kumimoji="1" lang="zh-TW" altLang="en-US" dirty="0"/>
              <a:t>句子</a:t>
            </a:r>
            <a:r>
              <a:rPr kumimoji="1" lang="en-US" altLang="zh-TW" dirty="0"/>
              <a:t>2</a:t>
            </a:r>
            <a:r>
              <a:rPr kumimoji="1" lang="en" altLang="zh-TW" dirty="0"/>
              <a:t>]</a:t>
            </a:r>
          </a:p>
          <a:p>
            <a:r>
              <a:rPr kumimoji="1" lang="en" altLang="zh-TW" dirty="0"/>
              <a:t>We discussed a </a:t>
            </a:r>
            <a:r>
              <a:rPr kumimoji="1" lang="en" altLang="zh-TW" dirty="0">
                <a:solidFill>
                  <a:srgbClr val="FF0000"/>
                </a:solidFill>
              </a:rPr>
              <a:t>deep</a:t>
            </a:r>
            <a:r>
              <a:rPr kumimoji="1" lang="en" altLang="zh-TW" dirty="0"/>
              <a:t> neural architecture for robots, and later talked about </a:t>
            </a:r>
            <a:r>
              <a:rPr kumimoji="1" lang="en" altLang="zh-TW" dirty="0">
                <a:solidFill>
                  <a:srgbClr val="FF0000"/>
                </a:solidFill>
              </a:rPr>
              <a:t>learning</a:t>
            </a:r>
            <a:r>
              <a:rPr kumimoji="1" lang="en" altLang="zh-TW" dirty="0"/>
              <a:t> strategies.</a:t>
            </a:r>
            <a:endParaRPr kumimoji="1" lang="zh-TW" altLang="en-US" dirty="0"/>
          </a:p>
        </p:txBody>
      </p:sp>
      <p:sp>
        <p:nvSpPr>
          <p:cNvPr id="4" name="投影片編號版面配置區 3">
            <a:extLst>
              <a:ext uri="{FF2B5EF4-FFF2-40B4-BE49-F238E27FC236}">
                <a16:creationId xmlns:a16="http://schemas.microsoft.com/office/drawing/2014/main" id="{7B88E74C-58D1-1860-51B1-1F575D1617B0}"/>
              </a:ext>
            </a:extLst>
          </p:cNvPr>
          <p:cNvSpPr>
            <a:spLocks noGrp="1"/>
          </p:cNvSpPr>
          <p:nvPr>
            <p:ph type="sldNum" sz="quarter" idx="12"/>
          </p:nvPr>
        </p:nvSpPr>
        <p:spPr/>
        <p:txBody>
          <a:bodyPr/>
          <a:lstStyle/>
          <a:p>
            <a:fld id="{6113E31D-E2AB-40D1-8B51-AFA5AFEF393A}" type="slidenum">
              <a:rPr lang="en-US" smtClean="0"/>
              <a:pPr/>
              <a:t>51</a:t>
            </a:fld>
            <a:endParaRPr lang="en-US" dirty="0"/>
          </a:p>
        </p:txBody>
      </p:sp>
      <p:sp>
        <p:nvSpPr>
          <p:cNvPr id="5" name="文字方塊 4">
            <a:extLst>
              <a:ext uri="{FF2B5EF4-FFF2-40B4-BE49-F238E27FC236}">
                <a16:creationId xmlns:a16="http://schemas.microsoft.com/office/drawing/2014/main" id="{6A165F09-924D-982B-1351-83FD12CFF105}"/>
              </a:ext>
            </a:extLst>
          </p:cNvPr>
          <p:cNvSpPr txBox="1"/>
          <p:nvPr/>
        </p:nvSpPr>
        <p:spPr>
          <a:xfrm>
            <a:off x="1856126" y="5027682"/>
            <a:ext cx="8512404" cy="400110"/>
          </a:xfrm>
          <a:prstGeom prst="rect">
            <a:avLst/>
          </a:prstGeom>
          <a:noFill/>
        </p:spPr>
        <p:txBody>
          <a:bodyPr wrap="square" rtlCol="0">
            <a:spAutoFit/>
          </a:bodyPr>
          <a:lstStyle/>
          <a:p>
            <a:pPr algn="ctr"/>
            <a:r>
              <a:rPr kumimoji="1" lang="zh-TW" altLang="en-US" sz="2000" dirty="0"/>
              <a:t>💡 </a:t>
            </a:r>
            <a:r>
              <a:rPr kumimoji="1" lang="en" altLang="zh-TW" sz="2000" b="1" dirty="0"/>
              <a:t>attention weight</a:t>
            </a:r>
            <a:r>
              <a:rPr kumimoji="1" lang="zh-TW" altLang="en-US" sz="2000" b="1" dirty="0"/>
              <a:t> 不能只由內容決定，還要由相對位置決定</a:t>
            </a:r>
          </a:p>
        </p:txBody>
      </p:sp>
      <p:sp>
        <p:nvSpPr>
          <p:cNvPr id="6" name="文字方塊 5">
            <a:extLst>
              <a:ext uri="{FF2B5EF4-FFF2-40B4-BE49-F238E27FC236}">
                <a16:creationId xmlns:a16="http://schemas.microsoft.com/office/drawing/2014/main" id="{114D78D4-A3B5-BDB2-632B-E6B514A085F6}"/>
              </a:ext>
            </a:extLst>
          </p:cNvPr>
          <p:cNvSpPr txBox="1"/>
          <p:nvPr/>
        </p:nvSpPr>
        <p:spPr>
          <a:xfrm>
            <a:off x="7644973" y="1452500"/>
            <a:ext cx="3926541" cy="461665"/>
          </a:xfrm>
          <a:prstGeom prst="rect">
            <a:avLst/>
          </a:prstGeom>
          <a:noFill/>
        </p:spPr>
        <p:txBody>
          <a:bodyPr wrap="square" rtlCol="0">
            <a:spAutoFit/>
          </a:bodyPr>
          <a:lstStyle/>
          <a:p>
            <a:r>
              <a:rPr kumimoji="1" lang="en" altLang="zh-TW" sz="1200" dirty="0"/>
              <a:t>He, </a:t>
            </a:r>
            <a:r>
              <a:rPr kumimoji="1" lang="en" altLang="zh-TW" sz="1200" dirty="0" err="1"/>
              <a:t>Pengcheng</a:t>
            </a:r>
            <a:r>
              <a:rPr kumimoji="1" lang="en" altLang="zh-TW" sz="1200" dirty="0"/>
              <a:t>, et al. "</a:t>
            </a:r>
            <a:r>
              <a:rPr kumimoji="1" lang="en" altLang="zh-TW" sz="1200" dirty="0" err="1"/>
              <a:t>DeBERTa</a:t>
            </a:r>
            <a:r>
              <a:rPr kumimoji="1" lang="en" altLang="zh-TW" sz="1200" dirty="0"/>
              <a:t>: Decoding-enhanced BERT with Disentangled Attention." ICLR 2021.</a:t>
            </a:r>
            <a:endParaRPr kumimoji="1" lang="zh-TW" altLang="en-US" sz="1200" dirty="0"/>
          </a:p>
        </p:txBody>
      </p:sp>
    </p:spTree>
    <p:extLst>
      <p:ext uri="{BB962C8B-B14F-4D97-AF65-F5344CB8AC3E}">
        <p14:creationId xmlns:p14="http://schemas.microsoft.com/office/powerpoint/2010/main" val="69312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5AA3C13-B653-04FC-25AC-39AA3DEFABE5}"/>
              </a:ext>
            </a:extLst>
          </p:cNvPr>
          <p:cNvSpPr>
            <a:spLocks noGrp="1"/>
          </p:cNvSpPr>
          <p:nvPr>
            <p:ph type="title"/>
          </p:nvPr>
        </p:nvSpPr>
        <p:spPr/>
        <p:txBody>
          <a:bodyPr/>
          <a:lstStyle/>
          <a:p>
            <a:r>
              <a:rPr kumimoji="1" lang="en-US" altLang="zh-TW" dirty="0">
                <a:ea typeface="Microsoft JhengHei" panose="020B0604030504040204" pitchFamily="34" charset="-120"/>
              </a:rPr>
              <a:t>[Recap] Transformer </a:t>
            </a:r>
            <a:r>
              <a:rPr kumimoji="1" lang="zh-TW" altLang="en-US" dirty="0">
                <a:ea typeface="Microsoft JhengHei" panose="020B0604030504040204" pitchFamily="34" charset="-120"/>
              </a:rPr>
              <a:t>的權重值</a:t>
            </a:r>
            <a:endParaRPr kumimoji="1" lang="zh-TW" altLang="en-US" dirty="0"/>
          </a:p>
        </p:txBody>
      </p:sp>
      <p:sp>
        <p:nvSpPr>
          <p:cNvPr id="4" name="投影片編號版面配置區 3">
            <a:extLst>
              <a:ext uri="{FF2B5EF4-FFF2-40B4-BE49-F238E27FC236}">
                <a16:creationId xmlns:a16="http://schemas.microsoft.com/office/drawing/2014/main" id="{765C7B03-2F89-183E-7768-69826AC7704C}"/>
              </a:ext>
            </a:extLst>
          </p:cNvPr>
          <p:cNvSpPr>
            <a:spLocks noGrp="1"/>
          </p:cNvSpPr>
          <p:nvPr>
            <p:ph type="sldNum" sz="quarter" idx="12"/>
          </p:nvPr>
        </p:nvSpPr>
        <p:spPr/>
        <p:txBody>
          <a:bodyPr/>
          <a:lstStyle/>
          <a:p>
            <a:fld id="{6113E31D-E2AB-40D1-8B51-AFA5AFEF393A}" type="slidenum">
              <a:rPr lang="en-US" smtClean="0"/>
              <a:pPr/>
              <a:t>52</a:t>
            </a:fld>
            <a:endParaRPr lang="en-US" dirty="0"/>
          </a:p>
        </p:txBody>
      </p:sp>
      <p:sp>
        <p:nvSpPr>
          <p:cNvPr id="5" name="圓角矩形 4">
            <a:extLst>
              <a:ext uri="{FF2B5EF4-FFF2-40B4-BE49-F238E27FC236}">
                <a16:creationId xmlns:a16="http://schemas.microsoft.com/office/drawing/2014/main" id="{BA7233D7-8027-5530-4D81-0B7985EBB2A2}"/>
              </a:ext>
            </a:extLst>
          </p:cNvPr>
          <p:cNvSpPr/>
          <p:nvPr/>
        </p:nvSpPr>
        <p:spPr>
          <a:xfrm>
            <a:off x="5816621" y="2282859"/>
            <a:ext cx="507439" cy="110351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kumimoji="1" lang="en-US" altLang="zh-TW" sz="2000" dirty="0"/>
              <a:t>k</a:t>
            </a:r>
            <a:r>
              <a:rPr kumimoji="1" lang="en-US" altLang="zh-TW" sz="2000" baseline="-25000" dirty="0"/>
              <a:t>1</a:t>
            </a:r>
            <a:endParaRPr kumimoji="1" lang="zh-TW" altLang="en-US" sz="2000" baseline="-25000" dirty="0"/>
          </a:p>
        </p:txBody>
      </p:sp>
      <p:sp>
        <p:nvSpPr>
          <p:cNvPr id="6" name="圓角矩形 5">
            <a:extLst>
              <a:ext uri="{FF2B5EF4-FFF2-40B4-BE49-F238E27FC236}">
                <a16:creationId xmlns:a16="http://schemas.microsoft.com/office/drawing/2014/main" id="{1DE79E5E-ADF9-CC6D-1AFD-3B1CEB17E57C}"/>
              </a:ext>
            </a:extLst>
          </p:cNvPr>
          <p:cNvSpPr/>
          <p:nvPr/>
        </p:nvSpPr>
        <p:spPr>
          <a:xfrm>
            <a:off x="6394098" y="2282859"/>
            <a:ext cx="507439" cy="110351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kumimoji="1" lang="en-US" altLang="zh-TW" sz="2000" dirty="0"/>
              <a:t>k</a:t>
            </a:r>
            <a:r>
              <a:rPr kumimoji="1" lang="en-US" altLang="zh-TW" sz="2000" baseline="-25000" dirty="0"/>
              <a:t>2</a:t>
            </a:r>
            <a:endParaRPr kumimoji="1" lang="zh-TW" altLang="en-US" sz="2000" baseline="-25000" dirty="0"/>
          </a:p>
        </p:txBody>
      </p:sp>
      <p:sp>
        <p:nvSpPr>
          <p:cNvPr id="7" name="圓角矩形 6">
            <a:extLst>
              <a:ext uri="{FF2B5EF4-FFF2-40B4-BE49-F238E27FC236}">
                <a16:creationId xmlns:a16="http://schemas.microsoft.com/office/drawing/2014/main" id="{BF7C6F2F-C7CE-DA0A-404C-C3837FDBE455}"/>
              </a:ext>
            </a:extLst>
          </p:cNvPr>
          <p:cNvSpPr/>
          <p:nvPr/>
        </p:nvSpPr>
        <p:spPr>
          <a:xfrm>
            <a:off x="6975769" y="2282859"/>
            <a:ext cx="507439" cy="110351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kumimoji="1" lang="en-US" altLang="zh-TW" sz="2000" dirty="0"/>
              <a:t>k</a:t>
            </a:r>
            <a:r>
              <a:rPr kumimoji="1" lang="en-US" altLang="zh-TW" sz="2000" baseline="-25000" dirty="0"/>
              <a:t>3</a:t>
            </a:r>
            <a:endParaRPr kumimoji="1" lang="zh-TW" altLang="en-US" sz="2000" baseline="-25000" dirty="0"/>
          </a:p>
        </p:txBody>
      </p:sp>
      <p:sp>
        <p:nvSpPr>
          <p:cNvPr id="8" name="圓角矩形 7">
            <a:extLst>
              <a:ext uri="{FF2B5EF4-FFF2-40B4-BE49-F238E27FC236}">
                <a16:creationId xmlns:a16="http://schemas.microsoft.com/office/drawing/2014/main" id="{F3C5D05F-8248-D78B-E139-80232082DBA9}"/>
              </a:ext>
            </a:extLst>
          </p:cNvPr>
          <p:cNvSpPr/>
          <p:nvPr/>
        </p:nvSpPr>
        <p:spPr>
          <a:xfrm rot="16200000">
            <a:off x="1025544" y="2263033"/>
            <a:ext cx="507439" cy="11035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000" baseline="-25000" dirty="0"/>
          </a:p>
        </p:txBody>
      </p:sp>
      <p:sp>
        <p:nvSpPr>
          <p:cNvPr id="9" name="文字方塊 8">
            <a:extLst>
              <a:ext uri="{FF2B5EF4-FFF2-40B4-BE49-F238E27FC236}">
                <a16:creationId xmlns:a16="http://schemas.microsoft.com/office/drawing/2014/main" id="{D50439BA-F9EA-7A2A-A0DB-07808A6AF1D1}"/>
              </a:ext>
            </a:extLst>
          </p:cNvPr>
          <p:cNvSpPr txBox="1"/>
          <p:nvPr/>
        </p:nvSpPr>
        <p:spPr>
          <a:xfrm>
            <a:off x="1096904" y="2621976"/>
            <a:ext cx="578498" cy="369332"/>
          </a:xfrm>
          <a:prstGeom prst="rect">
            <a:avLst/>
          </a:prstGeom>
          <a:noFill/>
        </p:spPr>
        <p:txBody>
          <a:bodyPr wrap="square" rtlCol="0">
            <a:spAutoFit/>
          </a:bodyPr>
          <a:lstStyle/>
          <a:p>
            <a:r>
              <a:rPr kumimoji="1" lang="en-US" altLang="zh-TW" sz="1800" dirty="0">
                <a:solidFill>
                  <a:schemeClr val="bg1"/>
                </a:solidFill>
              </a:rPr>
              <a:t>q</a:t>
            </a:r>
            <a:r>
              <a:rPr kumimoji="1" lang="en-US" altLang="zh-TW" sz="1800" baseline="-25000" dirty="0">
                <a:solidFill>
                  <a:schemeClr val="bg1"/>
                </a:solidFill>
              </a:rPr>
              <a:t>2</a:t>
            </a:r>
            <a:endParaRPr kumimoji="1" lang="zh-TW" altLang="en-US" sz="1800" baseline="-25000" dirty="0">
              <a:solidFill>
                <a:schemeClr val="bg1"/>
              </a:solidFill>
            </a:endParaRPr>
          </a:p>
        </p:txBody>
      </p:sp>
      <p:sp>
        <p:nvSpPr>
          <p:cNvPr id="10" name="圓角矩形 9">
            <a:extLst>
              <a:ext uri="{FF2B5EF4-FFF2-40B4-BE49-F238E27FC236}">
                <a16:creationId xmlns:a16="http://schemas.microsoft.com/office/drawing/2014/main" id="{5211135A-FE15-2460-3B7A-8CFE643B1384}"/>
              </a:ext>
            </a:extLst>
          </p:cNvPr>
          <p:cNvSpPr/>
          <p:nvPr/>
        </p:nvSpPr>
        <p:spPr>
          <a:xfrm rot="16200000">
            <a:off x="1023758" y="2852807"/>
            <a:ext cx="507439" cy="11035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000" baseline="-25000" dirty="0"/>
          </a:p>
        </p:txBody>
      </p:sp>
      <p:sp>
        <p:nvSpPr>
          <p:cNvPr id="11" name="文字方塊 10">
            <a:extLst>
              <a:ext uri="{FF2B5EF4-FFF2-40B4-BE49-F238E27FC236}">
                <a16:creationId xmlns:a16="http://schemas.microsoft.com/office/drawing/2014/main" id="{009F2B71-040D-AF13-0B02-1457D308C460}"/>
              </a:ext>
            </a:extLst>
          </p:cNvPr>
          <p:cNvSpPr txBox="1"/>
          <p:nvPr/>
        </p:nvSpPr>
        <p:spPr>
          <a:xfrm>
            <a:off x="1095118" y="3211750"/>
            <a:ext cx="578498" cy="369332"/>
          </a:xfrm>
          <a:prstGeom prst="rect">
            <a:avLst/>
          </a:prstGeom>
          <a:noFill/>
        </p:spPr>
        <p:txBody>
          <a:bodyPr wrap="square" rtlCol="0">
            <a:spAutoFit/>
          </a:bodyPr>
          <a:lstStyle/>
          <a:p>
            <a:r>
              <a:rPr kumimoji="1" lang="en-US" altLang="zh-TW" sz="1800" dirty="0">
                <a:solidFill>
                  <a:schemeClr val="bg1"/>
                </a:solidFill>
              </a:rPr>
              <a:t>q</a:t>
            </a:r>
            <a:r>
              <a:rPr kumimoji="1" lang="en-US" altLang="zh-TW" sz="1800" baseline="-25000" dirty="0">
                <a:solidFill>
                  <a:schemeClr val="bg1"/>
                </a:solidFill>
              </a:rPr>
              <a:t>3</a:t>
            </a:r>
            <a:endParaRPr kumimoji="1" lang="zh-TW" altLang="en-US" sz="1800" baseline="-25000" dirty="0">
              <a:solidFill>
                <a:schemeClr val="bg1"/>
              </a:solidFill>
            </a:endParaRPr>
          </a:p>
        </p:txBody>
      </p:sp>
      <p:sp>
        <p:nvSpPr>
          <p:cNvPr id="12" name="圓角矩形 11">
            <a:extLst>
              <a:ext uri="{FF2B5EF4-FFF2-40B4-BE49-F238E27FC236}">
                <a16:creationId xmlns:a16="http://schemas.microsoft.com/office/drawing/2014/main" id="{29A8AB3F-E18D-7C06-592B-874FD6E2DF37}"/>
              </a:ext>
            </a:extLst>
          </p:cNvPr>
          <p:cNvSpPr/>
          <p:nvPr/>
        </p:nvSpPr>
        <p:spPr>
          <a:xfrm rot="16200000">
            <a:off x="1018522" y="1673258"/>
            <a:ext cx="507439" cy="11035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000" baseline="-25000" dirty="0"/>
          </a:p>
        </p:txBody>
      </p:sp>
      <p:sp>
        <p:nvSpPr>
          <p:cNvPr id="13" name="文字方塊 12">
            <a:extLst>
              <a:ext uri="{FF2B5EF4-FFF2-40B4-BE49-F238E27FC236}">
                <a16:creationId xmlns:a16="http://schemas.microsoft.com/office/drawing/2014/main" id="{087AD23E-311D-D665-741D-93EE60473046}"/>
              </a:ext>
            </a:extLst>
          </p:cNvPr>
          <p:cNvSpPr txBox="1"/>
          <p:nvPr/>
        </p:nvSpPr>
        <p:spPr>
          <a:xfrm>
            <a:off x="1089882" y="2032201"/>
            <a:ext cx="578498" cy="369332"/>
          </a:xfrm>
          <a:prstGeom prst="rect">
            <a:avLst/>
          </a:prstGeom>
          <a:noFill/>
        </p:spPr>
        <p:txBody>
          <a:bodyPr wrap="square" rtlCol="0">
            <a:spAutoFit/>
          </a:bodyPr>
          <a:lstStyle/>
          <a:p>
            <a:r>
              <a:rPr kumimoji="1" lang="en-US" altLang="zh-TW" sz="1800" dirty="0">
                <a:solidFill>
                  <a:schemeClr val="bg1"/>
                </a:solidFill>
              </a:rPr>
              <a:t>q</a:t>
            </a:r>
            <a:r>
              <a:rPr kumimoji="1" lang="en-US" altLang="zh-TW" sz="1800" baseline="-25000" dirty="0">
                <a:solidFill>
                  <a:schemeClr val="bg1"/>
                </a:solidFill>
              </a:rPr>
              <a:t>1</a:t>
            </a:r>
            <a:endParaRPr kumimoji="1" lang="zh-TW" altLang="en-US" sz="1800" baseline="-25000" dirty="0">
              <a:solidFill>
                <a:schemeClr val="bg1"/>
              </a:solidFill>
            </a:endParaRPr>
          </a:p>
        </p:txBody>
      </p:sp>
      <p:sp>
        <p:nvSpPr>
          <p:cNvPr id="14" name="圓角矩形 13">
            <a:extLst>
              <a:ext uri="{FF2B5EF4-FFF2-40B4-BE49-F238E27FC236}">
                <a16:creationId xmlns:a16="http://schemas.microsoft.com/office/drawing/2014/main" id="{56415A89-E2C3-F2DE-517A-B1021B3747C4}"/>
              </a:ext>
            </a:extLst>
          </p:cNvPr>
          <p:cNvSpPr/>
          <p:nvPr/>
        </p:nvSpPr>
        <p:spPr>
          <a:xfrm rot="16200000">
            <a:off x="4201182" y="4962486"/>
            <a:ext cx="507439" cy="110351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kumimoji="1" lang="zh-TW" altLang="en-US" sz="2000" baseline="-25000" dirty="0"/>
          </a:p>
        </p:txBody>
      </p:sp>
      <p:sp>
        <p:nvSpPr>
          <p:cNvPr id="15" name="文字方塊 14">
            <a:extLst>
              <a:ext uri="{FF2B5EF4-FFF2-40B4-BE49-F238E27FC236}">
                <a16:creationId xmlns:a16="http://schemas.microsoft.com/office/drawing/2014/main" id="{5F38FA28-D565-1F12-C2EB-EF38B63F321F}"/>
              </a:ext>
            </a:extLst>
          </p:cNvPr>
          <p:cNvSpPr txBox="1"/>
          <p:nvPr/>
        </p:nvSpPr>
        <p:spPr>
          <a:xfrm>
            <a:off x="4272542" y="5321429"/>
            <a:ext cx="578498" cy="369332"/>
          </a:xfrm>
          <a:prstGeom prst="rect">
            <a:avLst/>
          </a:prstGeom>
          <a:noFill/>
        </p:spPr>
        <p:txBody>
          <a:bodyPr wrap="square" rtlCol="0">
            <a:spAutoFit/>
          </a:bodyPr>
          <a:lstStyle/>
          <a:p>
            <a:r>
              <a:rPr kumimoji="1" lang="en-US" altLang="zh-TW" sz="1800" dirty="0">
                <a:solidFill>
                  <a:schemeClr val="bg1"/>
                </a:solidFill>
              </a:rPr>
              <a:t>v</a:t>
            </a:r>
            <a:r>
              <a:rPr kumimoji="1" lang="en-US" altLang="zh-TW" sz="1800" baseline="-25000" dirty="0">
                <a:solidFill>
                  <a:schemeClr val="bg1"/>
                </a:solidFill>
              </a:rPr>
              <a:t>2</a:t>
            </a:r>
            <a:endParaRPr kumimoji="1" lang="zh-TW" altLang="en-US" sz="1800" baseline="-25000" dirty="0">
              <a:solidFill>
                <a:schemeClr val="bg1"/>
              </a:solidFill>
            </a:endParaRPr>
          </a:p>
        </p:txBody>
      </p:sp>
      <p:sp>
        <p:nvSpPr>
          <p:cNvPr id="16" name="圓角矩形 15">
            <a:extLst>
              <a:ext uri="{FF2B5EF4-FFF2-40B4-BE49-F238E27FC236}">
                <a16:creationId xmlns:a16="http://schemas.microsoft.com/office/drawing/2014/main" id="{EC60A673-B450-4070-819C-03D8995F15EB}"/>
              </a:ext>
            </a:extLst>
          </p:cNvPr>
          <p:cNvSpPr/>
          <p:nvPr/>
        </p:nvSpPr>
        <p:spPr>
          <a:xfrm rot="16200000">
            <a:off x="4199396" y="5552260"/>
            <a:ext cx="507439" cy="110351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kumimoji="1" lang="zh-TW" altLang="en-US" sz="2000" baseline="-25000" dirty="0"/>
          </a:p>
        </p:txBody>
      </p:sp>
      <p:sp>
        <p:nvSpPr>
          <p:cNvPr id="17" name="文字方塊 16">
            <a:extLst>
              <a:ext uri="{FF2B5EF4-FFF2-40B4-BE49-F238E27FC236}">
                <a16:creationId xmlns:a16="http://schemas.microsoft.com/office/drawing/2014/main" id="{E6A319F4-C02C-5FB0-D104-DF36FBD7842E}"/>
              </a:ext>
            </a:extLst>
          </p:cNvPr>
          <p:cNvSpPr txBox="1"/>
          <p:nvPr/>
        </p:nvSpPr>
        <p:spPr>
          <a:xfrm>
            <a:off x="4270756" y="5911203"/>
            <a:ext cx="578498" cy="369332"/>
          </a:xfrm>
          <a:prstGeom prst="rect">
            <a:avLst/>
          </a:prstGeom>
          <a:noFill/>
        </p:spPr>
        <p:txBody>
          <a:bodyPr wrap="square" rtlCol="0">
            <a:spAutoFit/>
          </a:bodyPr>
          <a:lstStyle/>
          <a:p>
            <a:r>
              <a:rPr kumimoji="1" lang="en-US" altLang="zh-TW" sz="1800" dirty="0">
                <a:solidFill>
                  <a:schemeClr val="bg1"/>
                </a:solidFill>
              </a:rPr>
              <a:t>v</a:t>
            </a:r>
            <a:r>
              <a:rPr kumimoji="1" lang="en-US" altLang="zh-TW" sz="1800" baseline="-25000" dirty="0">
                <a:solidFill>
                  <a:schemeClr val="bg1"/>
                </a:solidFill>
              </a:rPr>
              <a:t>3</a:t>
            </a:r>
            <a:endParaRPr kumimoji="1" lang="zh-TW" altLang="en-US" sz="1800" baseline="-25000" dirty="0">
              <a:solidFill>
                <a:schemeClr val="bg1"/>
              </a:solidFill>
            </a:endParaRPr>
          </a:p>
        </p:txBody>
      </p:sp>
      <p:sp>
        <p:nvSpPr>
          <p:cNvPr id="18" name="圓角矩形 17">
            <a:extLst>
              <a:ext uri="{FF2B5EF4-FFF2-40B4-BE49-F238E27FC236}">
                <a16:creationId xmlns:a16="http://schemas.microsoft.com/office/drawing/2014/main" id="{26D063D6-F87E-FE78-35A0-4D34497AEF6B}"/>
              </a:ext>
            </a:extLst>
          </p:cNvPr>
          <p:cNvSpPr/>
          <p:nvPr/>
        </p:nvSpPr>
        <p:spPr>
          <a:xfrm rot="16200000">
            <a:off x="4194160" y="4372711"/>
            <a:ext cx="507439" cy="110351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kumimoji="1" lang="zh-TW" altLang="en-US" sz="2000" baseline="-25000" dirty="0"/>
          </a:p>
        </p:txBody>
      </p:sp>
      <p:sp>
        <p:nvSpPr>
          <p:cNvPr id="19" name="文字方塊 18">
            <a:extLst>
              <a:ext uri="{FF2B5EF4-FFF2-40B4-BE49-F238E27FC236}">
                <a16:creationId xmlns:a16="http://schemas.microsoft.com/office/drawing/2014/main" id="{04193FE4-07C0-DD2B-8452-FB6BFAC1173F}"/>
              </a:ext>
            </a:extLst>
          </p:cNvPr>
          <p:cNvSpPr txBox="1"/>
          <p:nvPr/>
        </p:nvSpPr>
        <p:spPr>
          <a:xfrm>
            <a:off x="4265520" y="4731654"/>
            <a:ext cx="578498" cy="369332"/>
          </a:xfrm>
          <a:prstGeom prst="rect">
            <a:avLst/>
          </a:prstGeom>
          <a:noFill/>
        </p:spPr>
        <p:txBody>
          <a:bodyPr wrap="square" rtlCol="0">
            <a:spAutoFit/>
          </a:bodyPr>
          <a:lstStyle/>
          <a:p>
            <a:r>
              <a:rPr kumimoji="1" lang="en-US" altLang="zh-TW" sz="1800" dirty="0">
                <a:solidFill>
                  <a:schemeClr val="bg1"/>
                </a:solidFill>
              </a:rPr>
              <a:t>v</a:t>
            </a:r>
            <a:r>
              <a:rPr kumimoji="1" lang="en-US" altLang="zh-TW" sz="1800" baseline="-25000" dirty="0">
                <a:solidFill>
                  <a:schemeClr val="bg1"/>
                </a:solidFill>
              </a:rPr>
              <a:t>1</a:t>
            </a:r>
            <a:endParaRPr kumimoji="1" lang="zh-TW" altLang="en-US" sz="1800" baseline="-25000" dirty="0">
              <a:solidFill>
                <a:schemeClr val="bg1"/>
              </a:solidFill>
            </a:endParaRPr>
          </a:p>
        </p:txBody>
      </p:sp>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B92B1429-2168-C6A4-E1AE-AE7E7248FD43}"/>
                  </a:ext>
                </a:extLst>
              </p:cNvPr>
              <p:cNvSpPr txBox="1"/>
              <p:nvPr/>
            </p:nvSpPr>
            <p:spPr>
              <a:xfrm>
                <a:off x="928786" y="1490037"/>
                <a:ext cx="68690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TW" altLang="en-US" sz="2400" i="1" smtClean="0">
                          <a:latin typeface="Cambria Math" panose="02040503050406030204" pitchFamily="18" charset="0"/>
                        </a:rPr>
                        <m:t>𝑄</m:t>
                      </m:r>
                    </m:oMath>
                  </m:oMathPara>
                </a14:m>
                <a:endParaRPr lang="zh-TW" altLang="en-US" sz="2400" dirty="0"/>
              </a:p>
            </p:txBody>
          </p:sp>
        </mc:Choice>
        <mc:Fallback xmlns="">
          <p:sp>
            <p:nvSpPr>
              <p:cNvPr id="20" name="文字方塊 19">
                <a:extLst>
                  <a:ext uri="{FF2B5EF4-FFF2-40B4-BE49-F238E27FC236}">
                    <a16:creationId xmlns:a16="http://schemas.microsoft.com/office/drawing/2014/main" id="{B92B1429-2168-C6A4-E1AE-AE7E7248FD43}"/>
                  </a:ext>
                </a:extLst>
              </p:cNvPr>
              <p:cNvSpPr txBox="1">
                <a:spLocks noRot="1" noChangeAspect="1" noMove="1" noResize="1" noEditPoints="1" noAdjustHandles="1" noChangeArrowheads="1" noChangeShapeType="1" noTextEdit="1"/>
              </p:cNvSpPr>
              <p:nvPr/>
            </p:nvSpPr>
            <p:spPr>
              <a:xfrm>
                <a:off x="928786" y="1490037"/>
                <a:ext cx="686909" cy="461665"/>
              </a:xfrm>
              <a:prstGeom prst="rect">
                <a:avLst/>
              </a:prstGeom>
              <a:blipFill>
                <a:blip r:embed="rId3"/>
                <a:stretch>
                  <a:fillRect b="-1351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762943A1-16DC-34F1-E1D7-6C9A45C161DE}"/>
                  </a:ext>
                </a:extLst>
              </p:cNvPr>
              <p:cNvSpPr txBox="1"/>
              <p:nvPr/>
            </p:nvSpPr>
            <p:spPr>
              <a:xfrm>
                <a:off x="6348815" y="1496262"/>
                <a:ext cx="68690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𝐾</m:t>
                      </m:r>
                      <m:r>
                        <a:rPr lang="en-US" altLang="zh-TW" sz="2400" b="0" i="1" baseline="30000" smtClean="0">
                          <a:latin typeface="Cambria Math" panose="02040503050406030204" pitchFamily="18" charset="0"/>
                        </a:rPr>
                        <m:t>𝑇</m:t>
                      </m:r>
                    </m:oMath>
                  </m:oMathPara>
                </a14:m>
                <a:endParaRPr lang="zh-TW" altLang="en-US" sz="2400" baseline="30000" dirty="0"/>
              </a:p>
            </p:txBody>
          </p:sp>
        </mc:Choice>
        <mc:Fallback xmlns="">
          <p:sp>
            <p:nvSpPr>
              <p:cNvPr id="21" name="文字方塊 20">
                <a:extLst>
                  <a:ext uri="{FF2B5EF4-FFF2-40B4-BE49-F238E27FC236}">
                    <a16:creationId xmlns:a16="http://schemas.microsoft.com/office/drawing/2014/main" id="{762943A1-16DC-34F1-E1D7-6C9A45C161DE}"/>
                  </a:ext>
                </a:extLst>
              </p:cNvPr>
              <p:cNvSpPr txBox="1">
                <a:spLocks noRot="1" noChangeAspect="1" noMove="1" noResize="1" noEditPoints="1" noAdjustHandles="1" noChangeArrowheads="1" noChangeShapeType="1" noTextEdit="1"/>
              </p:cNvSpPr>
              <p:nvPr/>
            </p:nvSpPr>
            <p:spPr>
              <a:xfrm>
                <a:off x="6348815" y="1496262"/>
                <a:ext cx="686909" cy="461665"/>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文字方塊 21">
                <a:extLst>
                  <a:ext uri="{FF2B5EF4-FFF2-40B4-BE49-F238E27FC236}">
                    <a16:creationId xmlns:a16="http://schemas.microsoft.com/office/drawing/2014/main" id="{2720FCA0-05B6-52D3-CD1A-09B315C78B70}"/>
                  </a:ext>
                </a:extLst>
              </p:cNvPr>
              <p:cNvSpPr txBox="1"/>
              <p:nvPr/>
            </p:nvSpPr>
            <p:spPr>
              <a:xfrm>
                <a:off x="4126600" y="4186152"/>
                <a:ext cx="68690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𝑉</m:t>
                      </m:r>
                    </m:oMath>
                  </m:oMathPara>
                </a14:m>
                <a:endParaRPr lang="zh-TW" altLang="en-US" sz="2400" dirty="0"/>
              </a:p>
            </p:txBody>
          </p:sp>
        </mc:Choice>
        <mc:Fallback xmlns="">
          <p:sp>
            <p:nvSpPr>
              <p:cNvPr id="22" name="文字方塊 21">
                <a:extLst>
                  <a:ext uri="{FF2B5EF4-FFF2-40B4-BE49-F238E27FC236}">
                    <a16:creationId xmlns:a16="http://schemas.microsoft.com/office/drawing/2014/main" id="{2720FCA0-05B6-52D3-CD1A-09B315C78B70}"/>
                  </a:ext>
                </a:extLst>
              </p:cNvPr>
              <p:cNvSpPr txBox="1">
                <a:spLocks noRot="1" noChangeAspect="1" noMove="1" noResize="1" noEditPoints="1" noAdjustHandles="1" noChangeArrowheads="1" noChangeShapeType="1" noTextEdit="1"/>
              </p:cNvSpPr>
              <p:nvPr/>
            </p:nvSpPr>
            <p:spPr>
              <a:xfrm>
                <a:off x="4126600" y="4186152"/>
                <a:ext cx="686909" cy="461665"/>
              </a:xfrm>
              <a:prstGeom prst="rect">
                <a:avLst/>
              </a:prstGeom>
              <a:blipFill>
                <a:blip r:embed="rId5"/>
                <a:stretch>
                  <a:fillRect/>
                </a:stretch>
              </a:blipFill>
            </p:spPr>
            <p:txBody>
              <a:bodyPr/>
              <a:lstStyle/>
              <a:p>
                <a:r>
                  <a:rPr lang="zh-TW" altLang="en-US">
                    <a:noFill/>
                  </a:rPr>
                  <a:t> </a:t>
                </a:r>
              </a:p>
            </p:txBody>
          </p:sp>
        </mc:Fallback>
      </mc:AlternateContent>
      <p:sp>
        <p:nvSpPr>
          <p:cNvPr id="23" name="文字方塊 22">
            <a:extLst>
              <a:ext uri="{FF2B5EF4-FFF2-40B4-BE49-F238E27FC236}">
                <a16:creationId xmlns:a16="http://schemas.microsoft.com/office/drawing/2014/main" id="{051B7684-70C7-182C-2CAC-28F6F0C5E7E8}"/>
              </a:ext>
            </a:extLst>
          </p:cNvPr>
          <p:cNvSpPr txBox="1"/>
          <p:nvPr/>
        </p:nvSpPr>
        <p:spPr>
          <a:xfrm>
            <a:off x="4113238" y="6360005"/>
            <a:ext cx="805300" cy="369332"/>
          </a:xfrm>
          <a:prstGeom prst="rect">
            <a:avLst/>
          </a:prstGeom>
          <a:noFill/>
        </p:spPr>
        <p:txBody>
          <a:bodyPr wrap="square" rtlCol="0">
            <a:spAutoFit/>
          </a:bodyPr>
          <a:lstStyle/>
          <a:p>
            <a:r>
              <a:rPr kumimoji="1" lang="en-US" altLang="zh-TW" dirty="0"/>
              <a:t>N x d</a:t>
            </a:r>
            <a:r>
              <a:rPr kumimoji="1" lang="en-US" altLang="zh-TW" baseline="-25000" dirty="0"/>
              <a:t>v</a:t>
            </a:r>
            <a:endParaRPr kumimoji="1" lang="zh-TW" altLang="en-US" baseline="-25000" dirty="0"/>
          </a:p>
        </p:txBody>
      </p:sp>
      <p:sp>
        <p:nvSpPr>
          <p:cNvPr id="24" name="文字方塊 23">
            <a:extLst>
              <a:ext uri="{FF2B5EF4-FFF2-40B4-BE49-F238E27FC236}">
                <a16:creationId xmlns:a16="http://schemas.microsoft.com/office/drawing/2014/main" id="{D368FA7D-E8DC-BAB9-D3C8-0C5C2842C13F}"/>
              </a:ext>
            </a:extLst>
          </p:cNvPr>
          <p:cNvSpPr txBox="1"/>
          <p:nvPr/>
        </p:nvSpPr>
        <p:spPr>
          <a:xfrm>
            <a:off x="901723" y="3684702"/>
            <a:ext cx="805300" cy="369332"/>
          </a:xfrm>
          <a:prstGeom prst="rect">
            <a:avLst/>
          </a:prstGeom>
          <a:noFill/>
        </p:spPr>
        <p:txBody>
          <a:bodyPr wrap="square" rtlCol="0">
            <a:spAutoFit/>
          </a:bodyPr>
          <a:lstStyle/>
          <a:p>
            <a:r>
              <a:rPr kumimoji="1" lang="en-US" altLang="zh-TW" dirty="0"/>
              <a:t>N x </a:t>
            </a:r>
            <a:r>
              <a:rPr kumimoji="1" lang="en-US" altLang="zh-TW" dirty="0" err="1"/>
              <a:t>d</a:t>
            </a:r>
            <a:r>
              <a:rPr kumimoji="1" lang="en-US" altLang="zh-TW" baseline="-25000" dirty="0" err="1"/>
              <a:t>q</a:t>
            </a:r>
            <a:endParaRPr kumimoji="1" lang="zh-TW" altLang="en-US" baseline="-25000" dirty="0"/>
          </a:p>
        </p:txBody>
      </p:sp>
      <p:sp>
        <p:nvSpPr>
          <p:cNvPr id="25" name="文字方塊 24">
            <a:extLst>
              <a:ext uri="{FF2B5EF4-FFF2-40B4-BE49-F238E27FC236}">
                <a16:creationId xmlns:a16="http://schemas.microsoft.com/office/drawing/2014/main" id="{0EF29E84-A2E9-6D78-5426-C84E276AD8CE}"/>
              </a:ext>
            </a:extLst>
          </p:cNvPr>
          <p:cNvSpPr txBox="1"/>
          <p:nvPr/>
        </p:nvSpPr>
        <p:spPr>
          <a:xfrm>
            <a:off x="6307529" y="3684702"/>
            <a:ext cx="805300" cy="369332"/>
          </a:xfrm>
          <a:prstGeom prst="rect">
            <a:avLst/>
          </a:prstGeom>
          <a:noFill/>
        </p:spPr>
        <p:txBody>
          <a:bodyPr wrap="square" rtlCol="0">
            <a:spAutoFit/>
          </a:bodyPr>
          <a:lstStyle/>
          <a:p>
            <a:r>
              <a:rPr kumimoji="1" lang="en-US" altLang="zh-TW" dirty="0"/>
              <a:t>d</a:t>
            </a:r>
            <a:r>
              <a:rPr kumimoji="1" lang="en-US" altLang="zh-TW" baseline="-25000" dirty="0"/>
              <a:t>k </a:t>
            </a:r>
            <a:r>
              <a:rPr kumimoji="1" lang="en-US" altLang="zh-TW" dirty="0"/>
              <a:t>x N</a:t>
            </a:r>
            <a:endParaRPr kumimoji="1" lang="zh-TW" altLang="en-US" baseline="-25000" dirty="0"/>
          </a:p>
        </p:txBody>
      </p:sp>
      <p:sp>
        <p:nvSpPr>
          <p:cNvPr id="26" name="圓角矩形 25">
            <a:extLst>
              <a:ext uri="{FF2B5EF4-FFF2-40B4-BE49-F238E27FC236}">
                <a16:creationId xmlns:a16="http://schemas.microsoft.com/office/drawing/2014/main" id="{A691098B-E24E-2838-7B69-363BDBEC591B}"/>
              </a:ext>
            </a:extLst>
          </p:cNvPr>
          <p:cNvSpPr/>
          <p:nvPr/>
        </p:nvSpPr>
        <p:spPr>
          <a:xfrm rot="16200000">
            <a:off x="2508566" y="2263034"/>
            <a:ext cx="507439" cy="1103516"/>
          </a:xfrm>
          <a:prstGeom prst="round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000" baseline="-25000" dirty="0"/>
          </a:p>
        </p:txBody>
      </p:sp>
      <p:sp>
        <p:nvSpPr>
          <p:cNvPr id="27" name="文字方塊 26">
            <a:extLst>
              <a:ext uri="{FF2B5EF4-FFF2-40B4-BE49-F238E27FC236}">
                <a16:creationId xmlns:a16="http://schemas.microsoft.com/office/drawing/2014/main" id="{EFC31714-82BC-0BA3-C0EA-9E44F142CE54}"/>
              </a:ext>
            </a:extLst>
          </p:cNvPr>
          <p:cNvSpPr txBox="1"/>
          <p:nvPr/>
        </p:nvSpPr>
        <p:spPr>
          <a:xfrm>
            <a:off x="2579926" y="2621977"/>
            <a:ext cx="578498" cy="369332"/>
          </a:xfrm>
          <a:prstGeom prst="rect">
            <a:avLst/>
          </a:prstGeom>
          <a:noFill/>
        </p:spPr>
        <p:txBody>
          <a:bodyPr wrap="square" rtlCol="0">
            <a:spAutoFit/>
          </a:bodyPr>
          <a:lstStyle/>
          <a:p>
            <a:r>
              <a:rPr kumimoji="1" lang="en-US" altLang="zh-TW" sz="1800" dirty="0"/>
              <a:t>e</a:t>
            </a:r>
            <a:r>
              <a:rPr kumimoji="1" lang="en-US" altLang="zh-TW" sz="1800" baseline="-25000" dirty="0"/>
              <a:t>2</a:t>
            </a:r>
            <a:endParaRPr kumimoji="1" lang="zh-TW" altLang="en-US" sz="1800" baseline="-25000" dirty="0"/>
          </a:p>
        </p:txBody>
      </p:sp>
      <p:sp>
        <p:nvSpPr>
          <p:cNvPr id="28" name="圓角矩形 27">
            <a:extLst>
              <a:ext uri="{FF2B5EF4-FFF2-40B4-BE49-F238E27FC236}">
                <a16:creationId xmlns:a16="http://schemas.microsoft.com/office/drawing/2014/main" id="{5F2415F1-C5A5-29CD-5B6B-4924B0DF6285}"/>
              </a:ext>
            </a:extLst>
          </p:cNvPr>
          <p:cNvSpPr/>
          <p:nvPr/>
        </p:nvSpPr>
        <p:spPr>
          <a:xfrm rot="16200000">
            <a:off x="2506780" y="2852808"/>
            <a:ext cx="507439" cy="1103516"/>
          </a:xfrm>
          <a:prstGeom prst="round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000" baseline="-25000" dirty="0"/>
          </a:p>
        </p:txBody>
      </p:sp>
      <p:sp>
        <p:nvSpPr>
          <p:cNvPr id="29" name="文字方塊 28">
            <a:extLst>
              <a:ext uri="{FF2B5EF4-FFF2-40B4-BE49-F238E27FC236}">
                <a16:creationId xmlns:a16="http://schemas.microsoft.com/office/drawing/2014/main" id="{9522759D-9144-D96A-7B98-1171A439F1AA}"/>
              </a:ext>
            </a:extLst>
          </p:cNvPr>
          <p:cNvSpPr txBox="1"/>
          <p:nvPr/>
        </p:nvSpPr>
        <p:spPr>
          <a:xfrm>
            <a:off x="2578140" y="3211751"/>
            <a:ext cx="578498" cy="369332"/>
          </a:xfrm>
          <a:prstGeom prst="rect">
            <a:avLst/>
          </a:prstGeom>
          <a:noFill/>
        </p:spPr>
        <p:txBody>
          <a:bodyPr wrap="square" rtlCol="0">
            <a:spAutoFit/>
          </a:bodyPr>
          <a:lstStyle/>
          <a:p>
            <a:r>
              <a:rPr kumimoji="1" lang="en-US" altLang="zh-TW" sz="1800" dirty="0"/>
              <a:t>e</a:t>
            </a:r>
            <a:r>
              <a:rPr kumimoji="1" lang="en-US" altLang="zh-TW" sz="1800" baseline="-25000" dirty="0"/>
              <a:t>3</a:t>
            </a:r>
            <a:endParaRPr kumimoji="1" lang="zh-TW" altLang="en-US" sz="1800" baseline="-25000" dirty="0"/>
          </a:p>
        </p:txBody>
      </p:sp>
      <p:sp>
        <p:nvSpPr>
          <p:cNvPr id="30" name="圓角矩形 29">
            <a:extLst>
              <a:ext uri="{FF2B5EF4-FFF2-40B4-BE49-F238E27FC236}">
                <a16:creationId xmlns:a16="http://schemas.microsoft.com/office/drawing/2014/main" id="{40AABE49-99C0-23D9-7D71-CFD96B73AC05}"/>
              </a:ext>
            </a:extLst>
          </p:cNvPr>
          <p:cNvSpPr/>
          <p:nvPr/>
        </p:nvSpPr>
        <p:spPr>
          <a:xfrm rot="16200000">
            <a:off x="2501544" y="1673259"/>
            <a:ext cx="507439" cy="1103516"/>
          </a:xfrm>
          <a:prstGeom prst="round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000" baseline="-25000" dirty="0"/>
          </a:p>
        </p:txBody>
      </p:sp>
      <p:sp>
        <p:nvSpPr>
          <p:cNvPr id="31" name="文字方塊 30">
            <a:extLst>
              <a:ext uri="{FF2B5EF4-FFF2-40B4-BE49-F238E27FC236}">
                <a16:creationId xmlns:a16="http://schemas.microsoft.com/office/drawing/2014/main" id="{088760E6-0B08-3959-8A3E-2B1BAE98726E}"/>
              </a:ext>
            </a:extLst>
          </p:cNvPr>
          <p:cNvSpPr txBox="1"/>
          <p:nvPr/>
        </p:nvSpPr>
        <p:spPr>
          <a:xfrm>
            <a:off x="2572904" y="2032202"/>
            <a:ext cx="578498" cy="369332"/>
          </a:xfrm>
          <a:prstGeom prst="rect">
            <a:avLst/>
          </a:prstGeom>
          <a:noFill/>
        </p:spPr>
        <p:txBody>
          <a:bodyPr wrap="square" rtlCol="0">
            <a:spAutoFit/>
          </a:bodyPr>
          <a:lstStyle/>
          <a:p>
            <a:r>
              <a:rPr kumimoji="1" lang="en-US" altLang="zh-TW" sz="1800" dirty="0"/>
              <a:t>e</a:t>
            </a:r>
            <a:r>
              <a:rPr kumimoji="1" lang="en-US" altLang="zh-TW" sz="1800" baseline="-25000" dirty="0"/>
              <a:t>1</a:t>
            </a:r>
            <a:endParaRPr kumimoji="1" lang="zh-TW" altLang="en-US" sz="1800" baseline="-25000" dirty="0"/>
          </a:p>
        </p:txBody>
      </p:sp>
      <p:sp>
        <p:nvSpPr>
          <p:cNvPr id="32" name="文字方塊 31">
            <a:extLst>
              <a:ext uri="{FF2B5EF4-FFF2-40B4-BE49-F238E27FC236}">
                <a16:creationId xmlns:a16="http://schemas.microsoft.com/office/drawing/2014/main" id="{C2A2D9B1-CA6D-6F44-D0C3-54123B988D5F}"/>
              </a:ext>
            </a:extLst>
          </p:cNvPr>
          <p:cNvSpPr txBox="1"/>
          <p:nvPr/>
        </p:nvSpPr>
        <p:spPr>
          <a:xfrm>
            <a:off x="2229897" y="3684702"/>
            <a:ext cx="1151855" cy="369332"/>
          </a:xfrm>
          <a:prstGeom prst="rect">
            <a:avLst/>
          </a:prstGeom>
          <a:noFill/>
        </p:spPr>
        <p:txBody>
          <a:bodyPr wrap="square" rtlCol="0">
            <a:spAutoFit/>
          </a:bodyPr>
          <a:lstStyle/>
          <a:p>
            <a:r>
              <a:rPr kumimoji="1" lang="en-US" altLang="zh-TW" dirty="0"/>
              <a:t>N x </a:t>
            </a:r>
            <a:r>
              <a:rPr kumimoji="1" lang="en-US" altLang="zh-TW" dirty="0" err="1"/>
              <a:t>d</a:t>
            </a:r>
            <a:r>
              <a:rPr kumimoji="1" lang="en-US" altLang="zh-TW" baseline="-25000" dirty="0" err="1"/>
              <a:t>model</a:t>
            </a:r>
            <a:endParaRPr kumimoji="1" lang="zh-TW" altLang="en-US" baseline="-25000" dirty="0"/>
          </a:p>
        </p:txBody>
      </p:sp>
      <p:sp>
        <p:nvSpPr>
          <p:cNvPr id="33" name="圓角矩形 32">
            <a:extLst>
              <a:ext uri="{FF2B5EF4-FFF2-40B4-BE49-F238E27FC236}">
                <a16:creationId xmlns:a16="http://schemas.microsoft.com/office/drawing/2014/main" id="{571D26EE-D335-D656-06E9-2DBDCCDE63FA}"/>
              </a:ext>
            </a:extLst>
          </p:cNvPr>
          <p:cNvSpPr/>
          <p:nvPr/>
        </p:nvSpPr>
        <p:spPr>
          <a:xfrm rot="16200000">
            <a:off x="3391093" y="1956826"/>
            <a:ext cx="1732052" cy="1721804"/>
          </a:xfrm>
          <a:prstGeom prst="roundRect">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000" baseline="-25000" dirty="0"/>
          </a:p>
        </p:txBody>
      </p:sp>
      <p:sp>
        <p:nvSpPr>
          <p:cNvPr id="34" name="文字方塊 33">
            <a:extLst>
              <a:ext uri="{FF2B5EF4-FFF2-40B4-BE49-F238E27FC236}">
                <a16:creationId xmlns:a16="http://schemas.microsoft.com/office/drawing/2014/main" id="{15C0AD2F-197E-788C-77B9-F4243EE4A6B3}"/>
              </a:ext>
            </a:extLst>
          </p:cNvPr>
          <p:cNvSpPr txBox="1"/>
          <p:nvPr/>
        </p:nvSpPr>
        <p:spPr>
          <a:xfrm>
            <a:off x="3564301" y="3684702"/>
            <a:ext cx="1385635" cy="369332"/>
          </a:xfrm>
          <a:prstGeom prst="rect">
            <a:avLst/>
          </a:prstGeom>
          <a:noFill/>
        </p:spPr>
        <p:txBody>
          <a:bodyPr wrap="square" rtlCol="0">
            <a:spAutoFit/>
          </a:bodyPr>
          <a:lstStyle/>
          <a:p>
            <a:pPr algn="ctr"/>
            <a:r>
              <a:rPr kumimoji="1" lang="en-US" altLang="zh-TW" dirty="0" err="1"/>
              <a:t>d</a:t>
            </a:r>
            <a:r>
              <a:rPr kumimoji="1" lang="en-US" altLang="zh-TW" baseline="-25000" dirty="0" err="1"/>
              <a:t>model</a:t>
            </a:r>
            <a:r>
              <a:rPr kumimoji="1" lang="en-US" altLang="zh-TW" dirty="0"/>
              <a:t> x </a:t>
            </a:r>
            <a:r>
              <a:rPr kumimoji="1" lang="en-US" altLang="zh-TW" dirty="0" err="1"/>
              <a:t>d</a:t>
            </a:r>
            <a:r>
              <a:rPr kumimoji="1" lang="en-US" altLang="zh-TW" baseline="-25000" dirty="0" err="1"/>
              <a:t>q</a:t>
            </a:r>
            <a:endParaRPr kumimoji="1" lang="zh-TW" altLang="en-US" baseline="-25000" dirty="0"/>
          </a:p>
        </p:txBody>
      </p:sp>
      <p:sp>
        <p:nvSpPr>
          <p:cNvPr id="35" name="文字方塊 34">
            <a:extLst>
              <a:ext uri="{FF2B5EF4-FFF2-40B4-BE49-F238E27FC236}">
                <a16:creationId xmlns:a16="http://schemas.microsoft.com/office/drawing/2014/main" id="{A1495D93-286A-63BB-892E-A0CB050E7C02}"/>
              </a:ext>
            </a:extLst>
          </p:cNvPr>
          <p:cNvSpPr txBox="1"/>
          <p:nvPr/>
        </p:nvSpPr>
        <p:spPr>
          <a:xfrm>
            <a:off x="3933454" y="2612847"/>
            <a:ext cx="671571" cy="461665"/>
          </a:xfrm>
          <a:prstGeom prst="rect">
            <a:avLst/>
          </a:prstGeom>
          <a:noFill/>
        </p:spPr>
        <p:txBody>
          <a:bodyPr wrap="square" rtlCol="0">
            <a:spAutoFit/>
          </a:bodyPr>
          <a:lstStyle/>
          <a:p>
            <a:r>
              <a:rPr kumimoji="1" lang="en-US" altLang="zh-TW" sz="2400" dirty="0">
                <a:solidFill>
                  <a:schemeClr val="bg1"/>
                </a:solidFill>
              </a:rPr>
              <a:t>W</a:t>
            </a:r>
            <a:r>
              <a:rPr kumimoji="1" lang="en-US" altLang="zh-TW" sz="2400" baseline="30000" dirty="0">
                <a:solidFill>
                  <a:schemeClr val="bg1"/>
                </a:solidFill>
              </a:rPr>
              <a:t>Q</a:t>
            </a:r>
            <a:endParaRPr kumimoji="1" lang="zh-TW" altLang="en-US" sz="2400" baseline="-25000" dirty="0">
              <a:solidFill>
                <a:schemeClr val="bg1"/>
              </a:solidFill>
            </a:endParaRPr>
          </a:p>
        </p:txBody>
      </p:sp>
      <p:sp>
        <p:nvSpPr>
          <p:cNvPr id="36" name="文字方塊 35">
            <a:extLst>
              <a:ext uri="{FF2B5EF4-FFF2-40B4-BE49-F238E27FC236}">
                <a16:creationId xmlns:a16="http://schemas.microsoft.com/office/drawing/2014/main" id="{C580728A-CCC7-9510-699E-4BCADB4DE44A}"/>
              </a:ext>
            </a:extLst>
          </p:cNvPr>
          <p:cNvSpPr txBox="1"/>
          <p:nvPr/>
        </p:nvSpPr>
        <p:spPr>
          <a:xfrm>
            <a:off x="1772982" y="2478736"/>
            <a:ext cx="509155" cy="646331"/>
          </a:xfrm>
          <a:prstGeom prst="rect">
            <a:avLst/>
          </a:prstGeom>
          <a:noFill/>
        </p:spPr>
        <p:txBody>
          <a:bodyPr wrap="square" rtlCol="0">
            <a:spAutoFit/>
          </a:bodyPr>
          <a:lstStyle/>
          <a:p>
            <a:pPr algn="ctr"/>
            <a:r>
              <a:rPr kumimoji="1" lang="en-US" altLang="zh-TW" sz="3600" b="1" dirty="0"/>
              <a:t>=</a:t>
            </a:r>
            <a:endParaRPr kumimoji="1" lang="zh-TW" altLang="en-US" sz="3600" b="1" dirty="0"/>
          </a:p>
        </p:txBody>
      </p:sp>
      <p:sp>
        <p:nvSpPr>
          <p:cNvPr id="37" name="圓角矩形 36">
            <a:extLst>
              <a:ext uri="{FF2B5EF4-FFF2-40B4-BE49-F238E27FC236}">
                <a16:creationId xmlns:a16="http://schemas.microsoft.com/office/drawing/2014/main" id="{E90D4509-3FDA-3935-C4F9-459D9F32A524}"/>
              </a:ext>
            </a:extLst>
          </p:cNvPr>
          <p:cNvSpPr/>
          <p:nvPr/>
        </p:nvSpPr>
        <p:spPr>
          <a:xfrm rot="16200000">
            <a:off x="5817951" y="4967253"/>
            <a:ext cx="507439" cy="1103516"/>
          </a:xfrm>
          <a:prstGeom prst="roundRect">
            <a:avLst/>
          </a:prstGeom>
          <a:noFill/>
          <a:ln w="19050">
            <a:solidFill>
              <a:srgbClr val="0070C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kumimoji="1" lang="zh-TW" altLang="en-US" sz="2000" baseline="-25000" dirty="0"/>
          </a:p>
        </p:txBody>
      </p:sp>
      <p:sp>
        <p:nvSpPr>
          <p:cNvPr id="38" name="文字方塊 37">
            <a:extLst>
              <a:ext uri="{FF2B5EF4-FFF2-40B4-BE49-F238E27FC236}">
                <a16:creationId xmlns:a16="http://schemas.microsoft.com/office/drawing/2014/main" id="{942D479B-3BD9-F0E7-92AA-77DE33C5CAD9}"/>
              </a:ext>
            </a:extLst>
          </p:cNvPr>
          <p:cNvSpPr txBox="1"/>
          <p:nvPr/>
        </p:nvSpPr>
        <p:spPr>
          <a:xfrm>
            <a:off x="5889311" y="5326196"/>
            <a:ext cx="578498" cy="369332"/>
          </a:xfrm>
          <a:prstGeom prst="rect">
            <a:avLst/>
          </a:prstGeom>
          <a:noFill/>
        </p:spPr>
        <p:txBody>
          <a:bodyPr wrap="square" rtlCol="0">
            <a:spAutoFit/>
          </a:bodyPr>
          <a:lstStyle/>
          <a:p>
            <a:r>
              <a:rPr kumimoji="1" lang="en-US" altLang="zh-TW" dirty="0"/>
              <a:t>e</a:t>
            </a:r>
            <a:r>
              <a:rPr kumimoji="1" lang="en-US" altLang="zh-TW" sz="1800" baseline="-25000" dirty="0"/>
              <a:t>2</a:t>
            </a:r>
            <a:endParaRPr kumimoji="1" lang="zh-TW" altLang="en-US" sz="1800" baseline="-25000" dirty="0"/>
          </a:p>
        </p:txBody>
      </p:sp>
      <p:sp>
        <p:nvSpPr>
          <p:cNvPr id="39" name="圓角矩形 38">
            <a:extLst>
              <a:ext uri="{FF2B5EF4-FFF2-40B4-BE49-F238E27FC236}">
                <a16:creationId xmlns:a16="http://schemas.microsoft.com/office/drawing/2014/main" id="{EC4EFC26-6800-51E4-8108-7BC79E6F0D94}"/>
              </a:ext>
            </a:extLst>
          </p:cNvPr>
          <p:cNvSpPr/>
          <p:nvPr/>
        </p:nvSpPr>
        <p:spPr>
          <a:xfrm rot="16200000">
            <a:off x="5816165" y="5557027"/>
            <a:ext cx="507439" cy="1103516"/>
          </a:xfrm>
          <a:prstGeom prst="roundRect">
            <a:avLst/>
          </a:prstGeom>
          <a:noFill/>
          <a:ln w="19050">
            <a:solidFill>
              <a:srgbClr val="0070C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kumimoji="1" lang="zh-TW" altLang="en-US" sz="2000" baseline="-25000" dirty="0"/>
          </a:p>
        </p:txBody>
      </p:sp>
      <p:sp>
        <p:nvSpPr>
          <p:cNvPr id="40" name="文字方塊 39">
            <a:extLst>
              <a:ext uri="{FF2B5EF4-FFF2-40B4-BE49-F238E27FC236}">
                <a16:creationId xmlns:a16="http://schemas.microsoft.com/office/drawing/2014/main" id="{8141522C-08A2-4981-B050-DC821CEC64BF}"/>
              </a:ext>
            </a:extLst>
          </p:cNvPr>
          <p:cNvSpPr txBox="1"/>
          <p:nvPr/>
        </p:nvSpPr>
        <p:spPr>
          <a:xfrm>
            <a:off x="5887525" y="5915970"/>
            <a:ext cx="578498" cy="369332"/>
          </a:xfrm>
          <a:prstGeom prst="rect">
            <a:avLst/>
          </a:prstGeom>
          <a:noFill/>
        </p:spPr>
        <p:txBody>
          <a:bodyPr wrap="square" rtlCol="0">
            <a:spAutoFit/>
          </a:bodyPr>
          <a:lstStyle/>
          <a:p>
            <a:r>
              <a:rPr kumimoji="1" lang="en-US" altLang="zh-TW" sz="1800" dirty="0"/>
              <a:t>e</a:t>
            </a:r>
            <a:r>
              <a:rPr kumimoji="1" lang="en-US" altLang="zh-TW" sz="1800" baseline="-25000" dirty="0"/>
              <a:t>3</a:t>
            </a:r>
            <a:endParaRPr kumimoji="1" lang="zh-TW" altLang="en-US" sz="1800" baseline="-25000" dirty="0"/>
          </a:p>
        </p:txBody>
      </p:sp>
      <p:sp>
        <p:nvSpPr>
          <p:cNvPr id="41" name="圓角矩形 40">
            <a:extLst>
              <a:ext uri="{FF2B5EF4-FFF2-40B4-BE49-F238E27FC236}">
                <a16:creationId xmlns:a16="http://schemas.microsoft.com/office/drawing/2014/main" id="{C78ED41E-C2D2-A47C-7AA0-2FC66B070E0F}"/>
              </a:ext>
            </a:extLst>
          </p:cNvPr>
          <p:cNvSpPr/>
          <p:nvPr/>
        </p:nvSpPr>
        <p:spPr>
          <a:xfrm rot="16200000">
            <a:off x="5810929" y="4377478"/>
            <a:ext cx="507439" cy="1103516"/>
          </a:xfrm>
          <a:prstGeom prst="roundRect">
            <a:avLst/>
          </a:prstGeom>
          <a:noFill/>
          <a:ln w="19050">
            <a:solidFill>
              <a:srgbClr val="0070C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kumimoji="1" lang="zh-TW" altLang="en-US" sz="2000" baseline="-25000" dirty="0"/>
          </a:p>
        </p:txBody>
      </p:sp>
      <p:sp>
        <p:nvSpPr>
          <p:cNvPr id="42" name="文字方塊 41">
            <a:extLst>
              <a:ext uri="{FF2B5EF4-FFF2-40B4-BE49-F238E27FC236}">
                <a16:creationId xmlns:a16="http://schemas.microsoft.com/office/drawing/2014/main" id="{ABDCB82A-E8C6-44F9-30D7-C1F01EC66F1D}"/>
              </a:ext>
            </a:extLst>
          </p:cNvPr>
          <p:cNvSpPr txBox="1"/>
          <p:nvPr/>
        </p:nvSpPr>
        <p:spPr>
          <a:xfrm>
            <a:off x="5882289" y="4736421"/>
            <a:ext cx="578498" cy="369332"/>
          </a:xfrm>
          <a:prstGeom prst="rect">
            <a:avLst/>
          </a:prstGeom>
          <a:noFill/>
        </p:spPr>
        <p:txBody>
          <a:bodyPr wrap="square" rtlCol="0">
            <a:spAutoFit/>
          </a:bodyPr>
          <a:lstStyle/>
          <a:p>
            <a:r>
              <a:rPr kumimoji="1" lang="en-US" altLang="zh-TW" sz="1800" dirty="0"/>
              <a:t>e</a:t>
            </a:r>
            <a:r>
              <a:rPr kumimoji="1" lang="en-US" altLang="zh-TW" sz="1800" baseline="-25000" dirty="0"/>
              <a:t>1</a:t>
            </a:r>
            <a:endParaRPr kumimoji="1" lang="zh-TW" altLang="en-US" sz="1800" baseline="-25000" dirty="0"/>
          </a:p>
        </p:txBody>
      </p:sp>
      <p:sp>
        <p:nvSpPr>
          <p:cNvPr id="43" name="圓角矩形 42">
            <a:extLst>
              <a:ext uri="{FF2B5EF4-FFF2-40B4-BE49-F238E27FC236}">
                <a16:creationId xmlns:a16="http://schemas.microsoft.com/office/drawing/2014/main" id="{7874C4A8-6274-5C53-883E-25AD87003978}"/>
              </a:ext>
            </a:extLst>
          </p:cNvPr>
          <p:cNvSpPr/>
          <p:nvPr/>
        </p:nvSpPr>
        <p:spPr>
          <a:xfrm rot="16200000">
            <a:off x="6683552" y="4656665"/>
            <a:ext cx="1732052" cy="1721804"/>
          </a:xfrm>
          <a:prstGeom prst="roundRect">
            <a:avLst/>
          </a:prstGeom>
          <a:ln w="19050">
            <a:solidFill>
              <a:srgbClr val="FF0000"/>
            </a:solidFill>
          </a:ln>
        </p:spPr>
        <p:style>
          <a:lnRef idx="3">
            <a:schemeClr val="lt1"/>
          </a:lnRef>
          <a:fillRef idx="1">
            <a:schemeClr val="accent4"/>
          </a:fillRef>
          <a:effectRef idx="1">
            <a:schemeClr val="accent4"/>
          </a:effectRef>
          <a:fontRef idx="minor">
            <a:schemeClr val="lt1"/>
          </a:fontRef>
        </p:style>
        <p:txBody>
          <a:bodyPr rtlCol="0" anchor="ctr"/>
          <a:lstStyle/>
          <a:p>
            <a:pPr algn="ctr"/>
            <a:endParaRPr kumimoji="1" lang="zh-TW" altLang="en-US" sz="2000" baseline="-25000" dirty="0"/>
          </a:p>
        </p:txBody>
      </p:sp>
      <p:sp>
        <p:nvSpPr>
          <p:cNvPr id="44" name="文字方塊 43">
            <a:extLst>
              <a:ext uri="{FF2B5EF4-FFF2-40B4-BE49-F238E27FC236}">
                <a16:creationId xmlns:a16="http://schemas.microsoft.com/office/drawing/2014/main" id="{8DDCBB80-632C-092F-3C60-95A79EB10447}"/>
              </a:ext>
            </a:extLst>
          </p:cNvPr>
          <p:cNvSpPr txBox="1"/>
          <p:nvPr/>
        </p:nvSpPr>
        <p:spPr>
          <a:xfrm>
            <a:off x="7225913" y="5312686"/>
            <a:ext cx="671571" cy="461665"/>
          </a:xfrm>
          <a:prstGeom prst="rect">
            <a:avLst/>
          </a:prstGeom>
          <a:noFill/>
        </p:spPr>
        <p:txBody>
          <a:bodyPr wrap="square" rtlCol="0">
            <a:spAutoFit/>
          </a:bodyPr>
          <a:lstStyle/>
          <a:p>
            <a:r>
              <a:rPr kumimoji="1" lang="en-US" altLang="zh-TW" sz="2400" dirty="0">
                <a:solidFill>
                  <a:schemeClr val="bg1"/>
                </a:solidFill>
              </a:rPr>
              <a:t>W</a:t>
            </a:r>
            <a:r>
              <a:rPr kumimoji="1" lang="en-US" altLang="zh-TW" sz="2400" baseline="30000" dirty="0">
                <a:solidFill>
                  <a:schemeClr val="bg1"/>
                </a:solidFill>
              </a:rPr>
              <a:t>V</a:t>
            </a:r>
            <a:endParaRPr kumimoji="1" lang="zh-TW" altLang="en-US" sz="2400" baseline="-25000" dirty="0">
              <a:solidFill>
                <a:schemeClr val="bg1"/>
              </a:solidFill>
            </a:endParaRPr>
          </a:p>
        </p:txBody>
      </p:sp>
      <p:sp>
        <p:nvSpPr>
          <p:cNvPr id="45" name="文字方塊 44">
            <a:extLst>
              <a:ext uri="{FF2B5EF4-FFF2-40B4-BE49-F238E27FC236}">
                <a16:creationId xmlns:a16="http://schemas.microsoft.com/office/drawing/2014/main" id="{92CB29ED-F72E-131D-99F0-9C1F3619669A}"/>
              </a:ext>
            </a:extLst>
          </p:cNvPr>
          <p:cNvSpPr txBox="1"/>
          <p:nvPr/>
        </p:nvSpPr>
        <p:spPr>
          <a:xfrm>
            <a:off x="6975770" y="6407570"/>
            <a:ext cx="1359656" cy="369332"/>
          </a:xfrm>
          <a:prstGeom prst="rect">
            <a:avLst/>
          </a:prstGeom>
          <a:noFill/>
        </p:spPr>
        <p:txBody>
          <a:bodyPr wrap="square" rtlCol="0">
            <a:spAutoFit/>
          </a:bodyPr>
          <a:lstStyle/>
          <a:p>
            <a:r>
              <a:rPr kumimoji="1" lang="en-US" altLang="zh-TW" dirty="0" err="1"/>
              <a:t>d</a:t>
            </a:r>
            <a:r>
              <a:rPr kumimoji="1" lang="en-US" altLang="zh-TW" baseline="-25000" dirty="0" err="1"/>
              <a:t>model</a:t>
            </a:r>
            <a:r>
              <a:rPr kumimoji="1" lang="en-US" altLang="zh-TW" dirty="0"/>
              <a:t> x d</a:t>
            </a:r>
            <a:r>
              <a:rPr kumimoji="1" lang="en-US" altLang="zh-TW" baseline="-25000" dirty="0"/>
              <a:t>v</a:t>
            </a:r>
            <a:endParaRPr kumimoji="1" lang="zh-TW" altLang="en-US" baseline="-25000" dirty="0"/>
          </a:p>
        </p:txBody>
      </p:sp>
      <p:sp>
        <p:nvSpPr>
          <p:cNvPr id="46" name="文字方塊 45">
            <a:extLst>
              <a:ext uri="{FF2B5EF4-FFF2-40B4-BE49-F238E27FC236}">
                <a16:creationId xmlns:a16="http://schemas.microsoft.com/office/drawing/2014/main" id="{16BB1430-DDA7-74F3-01A4-EE772C975878}"/>
              </a:ext>
            </a:extLst>
          </p:cNvPr>
          <p:cNvSpPr txBox="1"/>
          <p:nvPr/>
        </p:nvSpPr>
        <p:spPr>
          <a:xfrm>
            <a:off x="5548063" y="6407570"/>
            <a:ext cx="1151855" cy="369332"/>
          </a:xfrm>
          <a:prstGeom prst="rect">
            <a:avLst/>
          </a:prstGeom>
          <a:noFill/>
        </p:spPr>
        <p:txBody>
          <a:bodyPr wrap="square" rtlCol="0">
            <a:spAutoFit/>
          </a:bodyPr>
          <a:lstStyle/>
          <a:p>
            <a:r>
              <a:rPr kumimoji="1" lang="en-US" altLang="zh-TW" dirty="0"/>
              <a:t>N x </a:t>
            </a:r>
            <a:r>
              <a:rPr kumimoji="1" lang="en-US" altLang="zh-TW" dirty="0" err="1"/>
              <a:t>d</a:t>
            </a:r>
            <a:r>
              <a:rPr kumimoji="1" lang="en-US" altLang="zh-TW" baseline="-25000" dirty="0" err="1"/>
              <a:t>model</a:t>
            </a:r>
            <a:endParaRPr kumimoji="1" lang="zh-TW" altLang="en-US" baseline="-25000" dirty="0"/>
          </a:p>
        </p:txBody>
      </p:sp>
      <p:sp>
        <p:nvSpPr>
          <p:cNvPr id="47" name="文字方塊 46">
            <a:extLst>
              <a:ext uri="{FF2B5EF4-FFF2-40B4-BE49-F238E27FC236}">
                <a16:creationId xmlns:a16="http://schemas.microsoft.com/office/drawing/2014/main" id="{282DFA2D-DE0D-0321-47F4-997D2F4B9596}"/>
              </a:ext>
            </a:extLst>
          </p:cNvPr>
          <p:cNvSpPr txBox="1"/>
          <p:nvPr/>
        </p:nvSpPr>
        <p:spPr>
          <a:xfrm>
            <a:off x="4987360" y="5220352"/>
            <a:ext cx="509155" cy="646331"/>
          </a:xfrm>
          <a:prstGeom prst="rect">
            <a:avLst/>
          </a:prstGeom>
          <a:noFill/>
        </p:spPr>
        <p:txBody>
          <a:bodyPr wrap="square" rtlCol="0">
            <a:spAutoFit/>
          </a:bodyPr>
          <a:lstStyle/>
          <a:p>
            <a:pPr algn="ctr"/>
            <a:r>
              <a:rPr kumimoji="1" lang="en-US" altLang="zh-TW" sz="3600" b="1" dirty="0"/>
              <a:t>=</a:t>
            </a:r>
            <a:endParaRPr kumimoji="1" lang="zh-TW" altLang="en-US" sz="3600" b="1" dirty="0"/>
          </a:p>
        </p:txBody>
      </p:sp>
      <p:sp>
        <p:nvSpPr>
          <p:cNvPr id="48" name="文字方塊 47">
            <a:extLst>
              <a:ext uri="{FF2B5EF4-FFF2-40B4-BE49-F238E27FC236}">
                <a16:creationId xmlns:a16="http://schemas.microsoft.com/office/drawing/2014/main" id="{BDECEF77-DEDF-1937-F350-F924B0117FA1}"/>
              </a:ext>
            </a:extLst>
          </p:cNvPr>
          <p:cNvSpPr txBox="1"/>
          <p:nvPr/>
        </p:nvSpPr>
        <p:spPr>
          <a:xfrm>
            <a:off x="9874086" y="3684702"/>
            <a:ext cx="1237665" cy="369332"/>
          </a:xfrm>
          <a:prstGeom prst="rect">
            <a:avLst/>
          </a:prstGeom>
          <a:noFill/>
        </p:spPr>
        <p:txBody>
          <a:bodyPr wrap="square" rtlCol="0">
            <a:spAutoFit/>
          </a:bodyPr>
          <a:lstStyle/>
          <a:p>
            <a:pPr algn="ctr"/>
            <a:r>
              <a:rPr kumimoji="1" lang="en-US" altLang="zh-TW" dirty="0" err="1"/>
              <a:t>d</a:t>
            </a:r>
            <a:r>
              <a:rPr kumimoji="1" lang="en-US" altLang="zh-TW" baseline="-25000" dirty="0" err="1"/>
              <a:t>model</a:t>
            </a:r>
            <a:r>
              <a:rPr kumimoji="1" lang="en-US" altLang="zh-TW" dirty="0"/>
              <a:t> x d</a:t>
            </a:r>
            <a:r>
              <a:rPr kumimoji="1" lang="en-US" altLang="zh-TW" baseline="-25000" dirty="0"/>
              <a:t>k</a:t>
            </a:r>
            <a:endParaRPr kumimoji="1" lang="zh-TW" altLang="en-US" baseline="-25000" dirty="0"/>
          </a:p>
        </p:txBody>
      </p:sp>
      <p:sp>
        <p:nvSpPr>
          <p:cNvPr id="49" name="文字方塊 48">
            <a:extLst>
              <a:ext uri="{FF2B5EF4-FFF2-40B4-BE49-F238E27FC236}">
                <a16:creationId xmlns:a16="http://schemas.microsoft.com/office/drawing/2014/main" id="{9F4BA553-160F-0794-9506-C4029FE6AEBB}"/>
              </a:ext>
            </a:extLst>
          </p:cNvPr>
          <p:cNvSpPr txBox="1"/>
          <p:nvPr/>
        </p:nvSpPr>
        <p:spPr>
          <a:xfrm>
            <a:off x="8469310" y="3684702"/>
            <a:ext cx="1151855" cy="369332"/>
          </a:xfrm>
          <a:prstGeom prst="rect">
            <a:avLst/>
          </a:prstGeom>
          <a:noFill/>
        </p:spPr>
        <p:txBody>
          <a:bodyPr wrap="square" rtlCol="0">
            <a:spAutoFit/>
          </a:bodyPr>
          <a:lstStyle/>
          <a:p>
            <a:r>
              <a:rPr kumimoji="1" lang="en-US" altLang="zh-TW" dirty="0"/>
              <a:t>N x </a:t>
            </a:r>
            <a:r>
              <a:rPr kumimoji="1" lang="en-US" altLang="zh-TW" dirty="0" err="1"/>
              <a:t>d</a:t>
            </a:r>
            <a:r>
              <a:rPr kumimoji="1" lang="en-US" altLang="zh-TW" baseline="-25000" dirty="0" err="1"/>
              <a:t>model</a:t>
            </a:r>
            <a:endParaRPr kumimoji="1" lang="zh-TW" altLang="en-US" baseline="-25000" dirty="0"/>
          </a:p>
        </p:txBody>
      </p:sp>
      <p:sp>
        <p:nvSpPr>
          <p:cNvPr id="50" name="圓角矩形 49">
            <a:extLst>
              <a:ext uri="{FF2B5EF4-FFF2-40B4-BE49-F238E27FC236}">
                <a16:creationId xmlns:a16="http://schemas.microsoft.com/office/drawing/2014/main" id="{9AF9B271-4680-0343-57D0-1D7869B15FE2}"/>
              </a:ext>
            </a:extLst>
          </p:cNvPr>
          <p:cNvSpPr/>
          <p:nvPr/>
        </p:nvSpPr>
        <p:spPr>
          <a:xfrm rot="16200000">
            <a:off x="8715952" y="2283371"/>
            <a:ext cx="507439" cy="1103516"/>
          </a:xfrm>
          <a:prstGeom prst="roundRect">
            <a:avLst/>
          </a:prstGeom>
          <a:noFill/>
          <a:ln w="19050">
            <a:solidFill>
              <a:srgbClr val="0070C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TW" altLang="en-US" sz="2000" baseline="-25000" dirty="0"/>
          </a:p>
        </p:txBody>
      </p:sp>
      <p:sp>
        <p:nvSpPr>
          <p:cNvPr id="51" name="文字方塊 50">
            <a:extLst>
              <a:ext uri="{FF2B5EF4-FFF2-40B4-BE49-F238E27FC236}">
                <a16:creationId xmlns:a16="http://schemas.microsoft.com/office/drawing/2014/main" id="{E3C0466D-73A7-5734-6A24-D74002DF8F7E}"/>
              </a:ext>
            </a:extLst>
          </p:cNvPr>
          <p:cNvSpPr txBox="1"/>
          <p:nvPr/>
        </p:nvSpPr>
        <p:spPr>
          <a:xfrm>
            <a:off x="8787312" y="2642314"/>
            <a:ext cx="578498" cy="369332"/>
          </a:xfrm>
          <a:prstGeom prst="rect">
            <a:avLst/>
          </a:prstGeom>
          <a:noFill/>
        </p:spPr>
        <p:txBody>
          <a:bodyPr wrap="square" rtlCol="0">
            <a:spAutoFit/>
          </a:bodyPr>
          <a:lstStyle/>
          <a:p>
            <a:r>
              <a:rPr kumimoji="1" lang="en-US" altLang="zh-TW" sz="1800" dirty="0"/>
              <a:t>e</a:t>
            </a:r>
            <a:r>
              <a:rPr kumimoji="1" lang="en-US" altLang="zh-TW" sz="1800" baseline="-25000" dirty="0"/>
              <a:t>2</a:t>
            </a:r>
            <a:endParaRPr kumimoji="1" lang="zh-TW" altLang="en-US" sz="1800" baseline="-25000" dirty="0"/>
          </a:p>
        </p:txBody>
      </p:sp>
      <p:sp>
        <p:nvSpPr>
          <p:cNvPr id="52" name="圓角矩形 51">
            <a:extLst>
              <a:ext uri="{FF2B5EF4-FFF2-40B4-BE49-F238E27FC236}">
                <a16:creationId xmlns:a16="http://schemas.microsoft.com/office/drawing/2014/main" id="{6DAAA412-8054-B36F-2765-2C509F010F82}"/>
              </a:ext>
            </a:extLst>
          </p:cNvPr>
          <p:cNvSpPr/>
          <p:nvPr/>
        </p:nvSpPr>
        <p:spPr>
          <a:xfrm rot="16200000">
            <a:off x="8714166" y="2873145"/>
            <a:ext cx="507439" cy="1103516"/>
          </a:xfrm>
          <a:prstGeom prst="roundRect">
            <a:avLst/>
          </a:prstGeom>
          <a:noFill/>
          <a:ln w="19050">
            <a:solidFill>
              <a:srgbClr val="0070C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TW" altLang="en-US" sz="2000" baseline="-25000" dirty="0"/>
          </a:p>
        </p:txBody>
      </p:sp>
      <p:sp>
        <p:nvSpPr>
          <p:cNvPr id="53" name="文字方塊 52">
            <a:extLst>
              <a:ext uri="{FF2B5EF4-FFF2-40B4-BE49-F238E27FC236}">
                <a16:creationId xmlns:a16="http://schemas.microsoft.com/office/drawing/2014/main" id="{15BC683B-06F7-89D1-4B90-369095EF00D3}"/>
              </a:ext>
            </a:extLst>
          </p:cNvPr>
          <p:cNvSpPr txBox="1"/>
          <p:nvPr/>
        </p:nvSpPr>
        <p:spPr>
          <a:xfrm>
            <a:off x="8785526" y="3232088"/>
            <a:ext cx="578498" cy="369332"/>
          </a:xfrm>
          <a:prstGeom prst="rect">
            <a:avLst/>
          </a:prstGeom>
          <a:noFill/>
        </p:spPr>
        <p:txBody>
          <a:bodyPr wrap="square" rtlCol="0">
            <a:spAutoFit/>
          </a:bodyPr>
          <a:lstStyle/>
          <a:p>
            <a:r>
              <a:rPr kumimoji="1" lang="en-US" altLang="zh-TW" sz="1800" dirty="0"/>
              <a:t>e</a:t>
            </a:r>
            <a:r>
              <a:rPr kumimoji="1" lang="en-US" altLang="zh-TW" sz="1800" baseline="-25000" dirty="0"/>
              <a:t>3</a:t>
            </a:r>
            <a:endParaRPr kumimoji="1" lang="zh-TW" altLang="en-US" sz="1800" baseline="-25000" dirty="0"/>
          </a:p>
        </p:txBody>
      </p:sp>
      <p:sp>
        <p:nvSpPr>
          <p:cNvPr id="54" name="圓角矩形 53">
            <a:extLst>
              <a:ext uri="{FF2B5EF4-FFF2-40B4-BE49-F238E27FC236}">
                <a16:creationId xmlns:a16="http://schemas.microsoft.com/office/drawing/2014/main" id="{77E2D64E-3B9A-0C90-7B1B-E55EFDB735B3}"/>
              </a:ext>
            </a:extLst>
          </p:cNvPr>
          <p:cNvSpPr/>
          <p:nvPr/>
        </p:nvSpPr>
        <p:spPr>
          <a:xfrm rot="16200000">
            <a:off x="8708930" y="1693596"/>
            <a:ext cx="507439" cy="1103516"/>
          </a:xfrm>
          <a:prstGeom prst="roundRect">
            <a:avLst/>
          </a:prstGeom>
          <a:noFill/>
          <a:ln w="19050">
            <a:solidFill>
              <a:srgbClr val="0070C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TW" altLang="en-US" sz="2000" baseline="-25000" dirty="0"/>
          </a:p>
        </p:txBody>
      </p:sp>
      <p:sp>
        <p:nvSpPr>
          <p:cNvPr id="55" name="文字方塊 54">
            <a:extLst>
              <a:ext uri="{FF2B5EF4-FFF2-40B4-BE49-F238E27FC236}">
                <a16:creationId xmlns:a16="http://schemas.microsoft.com/office/drawing/2014/main" id="{2E8A2073-7114-12D0-9A45-C318D4D42075}"/>
              </a:ext>
            </a:extLst>
          </p:cNvPr>
          <p:cNvSpPr txBox="1"/>
          <p:nvPr/>
        </p:nvSpPr>
        <p:spPr>
          <a:xfrm>
            <a:off x="8780290" y="2052539"/>
            <a:ext cx="578498" cy="369332"/>
          </a:xfrm>
          <a:prstGeom prst="rect">
            <a:avLst/>
          </a:prstGeom>
          <a:noFill/>
        </p:spPr>
        <p:txBody>
          <a:bodyPr wrap="square" rtlCol="0">
            <a:spAutoFit/>
          </a:bodyPr>
          <a:lstStyle/>
          <a:p>
            <a:r>
              <a:rPr kumimoji="1" lang="en-US" altLang="zh-TW" sz="1800" dirty="0"/>
              <a:t>e</a:t>
            </a:r>
            <a:r>
              <a:rPr kumimoji="1" lang="en-US" altLang="zh-TW" sz="1800" baseline="-25000" dirty="0"/>
              <a:t>1</a:t>
            </a:r>
            <a:endParaRPr kumimoji="1" lang="zh-TW" altLang="en-US" sz="1800" baseline="-25000" dirty="0"/>
          </a:p>
        </p:txBody>
      </p:sp>
      <p:sp>
        <p:nvSpPr>
          <p:cNvPr id="56" name="圓角矩形 55">
            <a:extLst>
              <a:ext uri="{FF2B5EF4-FFF2-40B4-BE49-F238E27FC236}">
                <a16:creationId xmlns:a16="http://schemas.microsoft.com/office/drawing/2014/main" id="{EB3B477A-9F38-FACD-87CF-7CE34A5E7222}"/>
              </a:ext>
            </a:extLst>
          </p:cNvPr>
          <p:cNvSpPr/>
          <p:nvPr/>
        </p:nvSpPr>
        <p:spPr>
          <a:xfrm rot="16200000">
            <a:off x="9598479" y="1977163"/>
            <a:ext cx="1732052" cy="1721804"/>
          </a:xfrm>
          <a:prstGeom prst="roundRect">
            <a:avLst/>
          </a:prstGeom>
          <a:ln w="19050">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TW" altLang="en-US" sz="2000" baseline="-25000" dirty="0"/>
          </a:p>
        </p:txBody>
      </p:sp>
      <p:sp>
        <p:nvSpPr>
          <p:cNvPr id="57" name="文字方塊 56">
            <a:extLst>
              <a:ext uri="{FF2B5EF4-FFF2-40B4-BE49-F238E27FC236}">
                <a16:creationId xmlns:a16="http://schemas.microsoft.com/office/drawing/2014/main" id="{17376D16-2168-85B9-9751-887E7245AC78}"/>
              </a:ext>
            </a:extLst>
          </p:cNvPr>
          <p:cNvSpPr txBox="1"/>
          <p:nvPr/>
        </p:nvSpPr>
        <p:spPr>
          <a:xfrm>
            <a:off x="10140840" y="2633184"/>
            <a:ext cx="671571" cy="461665"/>
          </a:xfrm>
          <a:prstGeom prst="rect">
            <a:avLst/>
          </a:prstGeom>
          <a:noFill/>
        </p:spPr>
        <p:txBody>
          <a:bodyPr wrap="square" rtlCol="0">
            <a:spAutoFit/>
          </a:bodyPr>
          <a:lstStyle/>
          <a:p>
            <a:r>
              <a:rPr kumimoji="1" lang="en-US" altLang="zh-TW" sz="2400" dirty="0">
                <a:solidFill>
                  <a:schemeClr val="bg1"/>
                </a:solidFill>
              </a:rPr>
              <a:t>W</a:t>
            </a:r>
            <a:r>
              <a:rPr kumimoji="1" lang="en-US" altLang="zh-TW" sz="2400" baseline="30000" dirty="0">
                <a:solidFill>
                  <a:schemeClr val="bg1"/>
                </a:solidFill>
              </a:rPr>
              <a:t>K</a:t>
            </a:r>
            <a:endParaRPr kumimoji="1" lang="zh-TW" altLang="en-US" sz="2400" baseline="-25000" dirty="0">
              <a:solidFill>
                <a:schemeClr val="bg1"/>
              </a:solidFill>
            </a:endParaRPr>
          </a:p>
        </p:txBody>
      </p:sp>
      <p:sp>
        <p:nvSpPr>
          <p:cNvPr id="58" name="文字方塊 57">
            <a:extLst>
              <a:ext uri="{FF2B5EF4-FFF2-40B4-BE49-F238E27FC236}">
                <a16:creationId xmlns:a16="http://schemas.microsoft.com/office/drawing/2014/main" id="{49391E5E-DDDC-8167-1642-FFDB05F83676}"/>
              </a:ext>
            </a:extLst>
          </p:cNvPr>
          <p:cNvSpPr txBox="1"/>
          <p:nvPr/>
        </p:nvSpPr>
        <p:spPr>
          <a:xfrm>
            <a:off x="7756544" y="1600675"/>
            <a:ext cx="420438" cy="2215991"/>
          </a:xfrm>
          <a:prstGeom prst="rect">
            <a:avLst/>
          </a:prstGeom>
          <a:noFill/>
        </p:spPr>
        <p:txBody>
          <a:bodyPr wrap="square" rtlCol="0">
            <a:spAutoFit/>
          </a:bodyPr>
          <a:lstStyle/>
          <a:p>
            <a:r>
              <a:rPr kumimoji="1" lang="en-US" altLang="zh-TW" sz="13800" dirty="0"/>
              <a:t>(</a:t>
            </a:r>
            <a:endParaRPr kumimoji="1" lang="zh-TW" altLang="en-US" sz="13800" dirty="0"/>
          </a:p>
        </p:txBody>
      </p:sp>
      <p:sp>
        <p:nvSpPr>
          <p:cNvPr id="59" name="文字方塊 58">
            <a:extLst>
              <a:ext uri="{FF2B5EF4-FFF2-40B4-BE49-F238E27FC236}">
                <a16:creationId xmlns:a16="http://schemas.microsoft.com/office/drawing/2014/main" id="{3F5ED974-471F-FB06-B615-0498742C2234}"/>
              </a:ext>
            </a:extLst>
          </p:cNvPr>
          <p:cNvSpPr txBox="1"/>
          <p:nvPr/>
        </p:nvSpPr>
        <p:spPr>
          <a:xfrm>
            <a:off x="11151076" y="1600674"/>
            <a:ext cx="420438" cy="2215991"/>
          </a:xfrm>
          <a:prstGeom prst="rect">
            <a:avLst/>
          </a:prstGeom>
          <a:noFill/>
        </p:spPr>
        <p:txBody>
          <a:bodyPr wrap="square" rtlCol="0">
            <a:spAutoFit/>
          </a:bodyPr>
          <a:lstStyle/>
          <a:p>
            <a:r>
              <a:rPr kumimoji="1" lang="en-US" altLang="zh-TW" sz="13800" dirty="0"/>
              <a:t>)</a:t>
            </a:r>
            <a:endParaRPr kumimoji="1" lang="zh-TW" altLang="en-US" sz="13800" dirty="0"/>
          </a:p>
        </p:txBody>
      </p:sp>
      <mc:AlternateContent xmlns:mc="http://schemas.openxmlformats.org/markup-compatibility/2006" xmlns:a14="http://schemas.microsoft.com/office/drawing/2010/main">
        <mc:Choice Requires="a14">
          <p:sp>
            <p:nvSpPr>
              <p:cNvPr id="60" name="文字方塊 59">
                <a:extLst>
                  <a:ext uri="{FF2B5EF4-FFF2-40B4-BE49-F238E27FC236}">
                    <a16:creationId xmlns:a16="http://schemas.microsoft.com/office/drawing/2014/main" id="{D0031901-CC8B-414C-C2F7-F6C600283772}"/>
                  </a:ext>
                </a:extLst>
              </p:cNvPr>
              <p:cNvSpPr txBox="1"/>
              <p:nvPr/>
            </p:nvSpPr>
            <p:spPr>
              <a:xfrm>
                <a:off x="11375257" y="1889505"/>
                <a:ext cx="686909" cy="5132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𝑇</m:t>
                      </m:r>
                    </m:oMath>
                  </m:oMathPara>
                </a14:m>
                <a:endParaRPr lang="zh-TW" altLang="en-US" sz="2800" baseline="30000" dirty="0"/>
              </a:p>
            </p:txBody>
          </p:sp>
        </mc:Choice>
        <mc:Fallback xmlns="">
          <p:sp>
            <p:nvSpPr>
              <p:cNvPr id="60" name="文字方塊 59">
                <a:extLst>
                  <a:ext uri="{FF2B5EF4-FFF2-40B4-BE49-F238E27FC236}">
                    <a16:creationId xmlns:a16="http://schemas.microsoft.com/office/drawing/2014/main" id="{D0031901-CC8B-414C-C2F7-F6C600283772}"/>
                  </a:ext>
                </a:extLst>
              </p:cNvPr>
              <p:cNvSpPr txBox="1">
                <a:spLocks noRot="1" noChangeAspect="1" noMove="1" noResize="1" noEditPoints="1" noAdjustHandles="1" noChangeArrowheads="1" noChangeShapeType="1" noTextEdit="1"/>
              </p:cNvSpPr>
              <p:nvPr/>
            </p:nvSpPr>
            <p:spPr>
              <a:xfrm>
                <a:off x="11375257" y="1889505"/>
                <a:ext cx="686909" cy="513282"/>
              </a:xfrm>
              <a:prstGeom prst="rect">
                <a:avLst/>
              </a:prstGeom>
              <a:blipFill>
                <a:blip r:embed="rId6"/>
                <a:stretch>
                  <a:fillRect/>
                </a:stretch>
              </a:blipFill>
            </p:spPr>
            <p:txBody>
              <a:bodyPr/>
              <a:lstStyle/>
              <a:p>
                <a:r>
                  <a:rPr lang="zh-TW" altLang="en-US">
                    <a:noFill/>
                  </a:rPr>
                  <a:t> </a:t>
                </a:r>
              </a:p>
            </p:txBody>
          </p:sp>
        </mc:Fallback>
      </mc:AlternateContent>
      <p:sp>
        <p:nvSpPr>
          <p:cNvPr id="61" name="文字方塊 60">
            <a:extLst>
              <a:ext uri="{FF2B5EF4-FFF2-40B4-BE49-F238E27FC236}">
                <a16:creationId xmlns:a16="http://schemas.microsoft.com/office/drawing/2014/main" id="{FEE59A29-ED88-1DA6-BEC5-BD762B3177BB}"/>
              </a:ext>
            </a:extLst>
          </p:cNvPr>
          <p:cNvSpPr txBox="1"/>
          <p:nvPr/>
        </p:nvSpPr>
        <p:spPr>
          <a:xfrm>
            <a:off x="7487841" y="2511451"/>
            <a:ext cx="509155" cy="646331"/>
          </a:xfrm>
          <a:prstGeom prst="rect">
            <a:avLst/>
          </a:prstGeom>
          <a:noFill/>
        </p:spPr>
        <p:txBody>
          <a:bodyPr wrap="square" rtlCol="0">
            <a:spAutoFit/>
          </a:bodyPr>
          <a:lstStyle/>
          <a:p>
            <a:pPr algn="ctr"/>
            <a:r>
              <a:rPr kumimoji="1" lang="en-US" altLang="zh-TW" sz="3600" b="1" dirty="0"/>
              <a:t>=</a:t>
            </a:r>
            <a:endParaRPr kumimoji="1" lang="zh-TW" altLang="en-US" sz="3600" b="1" dirty="0"/>
          </a:p>
        </p:txBody>
      </p:sp>
      <p:pic>
        <p:nvPicPr>
          <p:cNvPr id="62" name="圖片 61">
            <a:extLst>
              <a:ext uri="{FF2B5EF4-FFF2-40B4-BE49-F238E27FC236}">
                <a16:creationId xmlns:a16="http://schemas.microsoft.com/office/drawing/2014/main" id="{AB6A7DA7-2EB3-7C56-60E2-9B80CAE03AD4}"/>
              </a:ext>
            </a:extLst>
          </p:cNvPr>
          <p:cNvPicPr>
            <a:picLocks noChangeAspect="1"/>
          </p:cNvPicPr>
          <p:nvPr/>
        </p:nvPicPr>
        <p:blipFill>
          <a:blip r:embed="rId7"/>
          <a:stretch>
            <a:fillRect/>
          </a:stretch>
        </p:blipFill>
        <p:spPr>
          <a:xfrm>
            <a:off x="8694215" y="5495107"/>
            <a:ext cx="2972804" cy="543179"/>
          </a:xfrm>
          <a:prstGeom prst="rect">
            <a:avLst/>
          </a:prstGeom>
        </p:spPr>
      </p:pic>
      <p:sp>
        <p:nvSpPr>
          <p:cNvPr id="3" name="文字方塊 2">
            <a:extLst>
              <a:ext uri="{FF2B5EF4-FFF2-40B4-BE49-F238E27FC236}">
                <a16:creationId xmlns:a16="http://schemas.microsoft.com/office/drawing/2014/main" id="{76743F71-D218-246F-7E68-03BE4A4A096C}"/>
              </a:ext>
            </a:extLst>
          </p:cNvPr>
          <p:cNvSpPr txBox="1"/>
          <p:nvPr/>
        </p:nvSpPr>
        <p:spPr>
          <a:xfrm>
            <a:off x="8981403" y="95205"/>
            <a:ext cx="2079681" cy="369332"/>
          </a:xfrm>
          <a:prstGeom prst="rect">
            <a:avLst/>
          </a:prstGeom>
          <a:noFill/>
        </p:spPr>
        <p:txBody>
          <a:bodyPr wrap="square" rtlCol="0">
            <a:spAutoFit/>
          </a:bodyPr>
          <a:lstStyle/>
          <a:p>
            <a:r>
              <a:rPr kumimoji="1" lang="zh-TW" altLang="en-US" dirty="0">
                <a:solidFill>
                  <a:srgbClr val="FF0000"/>
                </a:solidFill>
              </a:rPr>
              <a:t>可以被訓練的參數</a:t>
            </a:r>
            <a:endParaRPr kumimoji="1" lang="en-US" altLang="zh-TW" dirty="0">
              <a:solidFill>
                <a:srgbClr val="FF0000"/>
              </a:solidFill>
            </a:endParaRPr>
          </a:p>
        </p:txBody>
      </p:sp>
      <p:cxnSp>
        <p:nvCxnSpPr>
          <p:cNvPr id="63" name="肘形接點 62">
            <a:extLst>
              <a:ext uri="{FF2B5EF4-FFF2-40B4-BE49-F238E27FC236}">
                <a16:creationId xmlns:a16="http://schemas.microsoft.com/office/drawing/2014/main" id="{B1E9D7FC-0C9F-A734-6796-593F19C9A9AE}"/>
              </a:ext>
            </a:extLst>
          </p:cNvPr>
          <p:cNvCxnSpPr>
            <a:stCxn id="3" idx="1"/>
          </p:cNvCxnSpPr>
          <p:nvPr/>
        </p:nvCxnSpPr>
        <p:spPr>
          <a:xfrm rot="10800000" flipV="1">
            <a:off x="7903309" y="279871"/>
            <a:ext cx="1078094" cy="221072"/>
          </a:xfrm>
          <a:prstGeom prst="bentConnector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39972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5AA3C13-B653-04FC-25AC-39AA3DEFABE5}"/>
              </a:ext>
            </a:extLst>
          </p:cNvPr>
          <p:cNvSpPr>
            <a:spLocks noGrp="1"/>
          </p:cNvSpPr>
          <p:nvPr>
            <p:ph type="title"/>
          </p:nvPr>
        </p:nvSpPr>
        <p:spPr/>
        <p:txBody>
          <a:bodyPr/>
          <a:lstStyle/>
          <a:p>
            <a:r>
              <a:rPr kumimoji="1" lang="en-US" altLang="zh-TW" dirty="0" err="1">
                <a:ea typeface="Microsoft JhengHei" panose="020B0604030504040204" pitchFamily="34" charset="-120"/>
              </a:rPr>
              <a:t>DeBERTa</a:t>
            </a:r>
            <a:r>
              <a:rPr kumimoji="1" lang="zh-TW" altLang="en-US" dirty="0">
                <a:ea typeface="Microsoft JhengHei" panose="020B0604030504040204" pitchFamily="34" charset="-120"/>
              </a:rPr>
              <a:t> 的</a:t>
            </a:r>
            <a:r>
              <a:rPr kumimoji="1" lang="en-US" altLang="zh-TW" dirty="0">
                <a:ea typeface="Microsoft JhengHei" panose="020B0604030504040204" pitchFamily="34" charset="-120"/>
              </a:rPr>
              <a:t> Queries, Keys</a:t>
            </a:r>
            <a:endParaRPr kumimoji="1" lang="zh-TW" altLang="en-US" dirty="0"/>
          </a:p>
        </p:txBody>
      </p:sp>
      <p:sp>
        <p:nvSpPr>
          <p:cNvPr id="4" name="投影片編號版面配置區 3">
            <a:extLst>
              <a:ext uri="{FF2B5EF4-FFF2-40B4-BE49-F238E27FC236}">
                <a16:creationId xmlns:a16="http://schemas.microsoft.com/office/drawing/2014/main" id="{765C7B03-2F89-183E-7768-69826AC7704C}"/>
              </a:ext>
            </a:extLst>
          </p:cNvPr>
          <p:cNvSpPr>
            <a:spLocks noGrp="1"/>
          </p:cNvSpPr>
          <p:nvPr>
            <p:ph type="sldNum" sz="quarter" idx="12"/>
          </p:nvPr>
        </p:nvSpPr>
        <p:spPr/>
        <p:txBody>
          <a:bodyPr/>
          <a:lstStyle/>
          <a:p>
            <a:fld id="{6113E31D-E2AB-40D1-8B51-AFA5AFEF393A}" type="slidenum">
              <a:rPr lang="en-US" smtClean="0"/>
              <a:pPr/>
              <a:t>53</a:t>
            </a:fld>
            <a:endParaRPr lang="en-US" dirty="0"/>
          </a:p>
        </p:txBody>
      </p:sp>
      <mc:AlternateContent xmlns:mc="http://schemas.openxmlformats.org/markup-compatibility/2006" xmlns:a14="http://schemas.microsoft.com/office/drawing/2010/main">
        <mc:Choice Requires="a14">
          <p:sp>
            <p:nvSpPr>
              <p:cNvPr id="5" name="圓角矩形 4">
                <a:extLst>
                  <a:ext uri="{FF2B5EF4-FFF2-40B4-BE49-F238E27FC236}">
                    <a16:creationId xmlns:a16="http://schemas.microsoft.com/office/drawing/2014/main" id="{BA7233D7-8027-5530-4D81-0B7985EBB2A2}"/>
                  </a:ext>
                </a:extLst>
              </p:cNvPr>
              <p:cNvSpPr/>
              <p:nvPr/>
            </p:nvSpPr>
            <p:spPr>
              <a:xfrm>
                <a:off x="5816621" y="2179162"/>
                <a:ext cx="507439" cy="110351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zh-TW" altLang="zh-TW" sz="20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TW" sz="2000" b="0" i="0"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k</m:t>
                          </m:r>
                        </m:e>
                        <m:sub>
                          <m:r>
                            <a:rPr lang="en-US" altLang="zh-TW" sz="2000" i="0" kern="10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1</m:t>
                          </m:r>
                        </m:sub>
                        <m:sup>
                          <m:r>
                            <m:rPr>
                              <m:sty m:val="p"/>
                            </m:rPr>
                            <a:rPr lang="en-US" altLang="zh-TW" sz="20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c</m:t>
                          </m:r>
                        </m:sup>
                      </m:sSubSup>
                    </m:oMath>
                  </m:oMathPara>
                </a14:m>
                <a:endParaRPr kumimoji="1" lang="zh-TW" altLang="en-US" sz="2000" baseline="-25000" dirty="0"/>
              </a:p>
            </p:txBody>
          </p:sp>
        </mc:Choice>
        <mc:Fallback xmlns="">
          <p:sp>
            <p:nvSpPr>
              <p:cNvPr id="5" name="圓角矩形 4">
                <a:extLst>
                  <a:ext uri="{FF2B5EF4-FFF2-40B4-BE49-F238E27FC236}">
                    <a16:creationId xmlns:a16="http://schemas.microsoft.com/office/drawing/2014/main" id="{BA7233D7-8027-5530-4D81-0B7985EBB2A2}"/>
                  </a:ext>
                </a:extLst>
              </p:cNvPr>
              <p:cNvSpPr>
                <a:spLocks noRot="1" noChangeAspect="1" noMove="1" noResize="1" noEditPoints="1" noAdjustHandles="1" noChangeArrowheads="1" noChangeShapeType="1" noTextEdit="1"/>
              </p:cNvSpPr>
              <p:nvPr/>
            </p:nvSpPr>
            <p:spPr>
              <a:xfrm>
                <a:off x="5816621" y="2179162"/>
                <a:ext cx="507439" cy="1103516"/>
              </a:xfrm>
              <a:prstGeom prst="round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圓角矩形 5">
                <a:extLst>
                  <a:ext uri="{FF2B5EF4-FFF2-40B4-BE49-F238E27FC236}">
                    <a16:creationId xmlns:a16="http://schemas.microsoft.com/office/drawing/2014/main" id="{1DE79E5E-ADF9-CC6D-1AFD-3B1CEB17E57C}"/>
                  </a:ext>
                </a:extLst>
              </p:cNvPr>
              <p:cNvSpPr/>
              <p:nvPr/>
            </p:nvSpPr>
            <p:spPr>
              <a:xfrm>
                <a:off x="6394098" y="2179162"/>
                <a:ext cx="507439" cy="110351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zh-TW" altLang="zh-TW" sz="20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TW" sz="20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k</m:t>
                          </m:r>
                        </m:e>
                        <m:sub>
                          <m:r>
                            <a:rPr lang="en-US" altLang="zh-TW" sz="20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2</m:t>
                          </m:r>
                        </m:sub>
                        <m:sup>
                          <m:r>
                            <m:rPr>
                              <m:sty m:val="p"/>
                            </m:rPr>
                            <a:rPr lang="en-US" altLang="zh-TW" sz="20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c</m:t>
                          </m:r>
                        </m:sup>
                      </m:sSubSup>
                    </m:oMath>
                  </m:oMathPara>
                </a14:m>
                <a:endParaRPr kumimoji="1" lang="zh-TW" altLang="en-US" sz="2000" baseline="-25000" dirty="0"/>
              </a:p>
            </p:txBody>
          </p:sp>
        </mc:Choice>
        <mc:Fallback xmlns="">
          <p:sp>
            <p:nvSpPr>
              <p:cNvPr id="6" name="圓角矩形 5">
                <a:extLst>
                  <a:ext uri="{FF2B5EF4-FFF2-40B4-BE49-F238E27FC236}">
                    <a16:creationId xmlns:a16="http://schemas.microsoft.com/office/drawing/2014/main" id="{1DE79E5E-ADF9-CC6D-1AFD-3B1CEB17E57C}"/>
                  </a:ext>
                </a:extLst>
              </p:cNvPr>
              <p:cNvSpPr>
                <a:spLocks noRot="1" noChangeAspect="1" noMove="1" noResize="1" noEditPoints="1" noAdjustHandles="1" noChangeArrowheads="1" noChangeShapeType="1" noTextEdit="1"/>
              </p:cNvSpPr>
              <p:nvPr/>
            </p:nvSpPr>
            <p:spPr>
              <a:xfrm>
                <a:off x="6394098" y="2179162"/>
                <a:ext cx="507439" cy="1103516"/>
              </a:xfrm>
              <a:prstGeom prst="round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圓角矩形 6">
                <a:extLst>
                  <a:ext uri="{FF2B5EF4-FFF2-40B4-BE49-F238E27FC236}">
                    <a16:creationId xmlns:a16="http://schemas.microsoft.com/office/drawing/2014/main" id="{BF7C6F2F-C7CE-DA0A-404C-C3837FDBE455}"/>
                  </a:ext>
                </a:extLst>
              </p:cNvPr>
              <p:cNvSpPr/>
              <p:nvPr/>
            </p:nvSpPr>
            <p:spPr>
              <a:xfrm>
                <a:off x="6975769" y="2179162"/>
                <a:ext cx="507439" cy="110351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zh-TW" altLang="zh-TW" sz="20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TW" sz="20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k</m:t>
                          </m:r>
                        </m:e>
                        <m:sub>
                          <m:r>
                            <a:rPr lang="en-US" altLang="zh-TW" sz="20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3</m:t>
                          </m:r>
                        </m:sub>
                        <m:sup>
                          <m:r>
                            <m:rPr>
                              <m:sty m:val="p"/>
                            </m:rPr>
                            <a:rPr lang="en-US" altLang="zh-TW" sz="20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c</m:t>
                          </m:r>
                        </m:sup>
                      </m:sSubSup>
                    </m:oMath>
                  </m:oMathPara>
                </a14:m>
                <a:endParaRPr kumimoji="1" lang="zh-TW" altLang="en-US" sz="2000" baseline="-25000" dirty="0"/>
              </a:p>
            </p:txBody>
          </p:sp>
        </mc:Choice>
        <mc:Fallback xmlns="">
          <p:sp>
            <p:nvSpPr>
              <p:cNvPr id="7" name="圓角矩形 6">
                <a:extLst>
                  <a:ext uri="{FF2B5EF4-FFF2-40B4-BE49-F238E27FC236}">
                    <a16:creationId xmlns:a16="http://schemas.microsoft.com/office/drawing/2014/main" id="{BF7C6F2F-C7CE-DA0A-404C-C3837FDBE455}"/>
                  </a:ext>
                </a:extLst>
              </p:cNvPr>
              <p:cNvSpPr>
                <a:spLocks noRot="1" noChangeAspect="1" noMove="1" noResize="1" noEditPoints="1" noAdjustHandles="1" noChangeArrowheads="1" noChangeShapeType="1" noTextEdit="1"/>
              </p:cNvSpPr>
              <p:nvPr/>
            </p:nvSpPr>
            <p:spPr>
              <a:xfrm>
                <a:off x="6975769" y="2179162"/>
                <a:ext cx="507439" cy="1103516"/>
              </a:xfrm>
              <a:prstGeom prst="roundRect">
                <a:avLst/>
              </a:prstGeom>
              <a:blipFill>
                <a:blip r:embed="rId5"/>
                <a:stretch>
                  <a:fillRect/>
                </a:stretch>
              </a:blipFill>
            </p:spPr>
            <p:txBody>
              <a:bodyPr/>
              <a:lstStyle/>
              <a:p>
                <a:r>
                  <a:rPr lang="zh-TW" altLang="en-US">
                    <a:noFill/>
                  </a:rPr>
                  <a:t> </a:t>
                </a:r>
              </a:p>
            </p:txBody>
          </p:sp>
        </mc:Fallback>
      </mc:AlternateContent>
      <p:sp>
        <p:nvSpPr>
          <p:cNvPr id="8" name="圓角矩形 7">
            <a:extLst>
              <a:ext uri="{FF2B5EF4-FFF2-40B4-BE49-F238E27FC236}">
                <a16:creationId xmlns:a16="http://schemas.microsoft.com/office/drawing/2014/main" id="{F3C5D05F-8248-D78B-E139-80232082DBA9}"/>
              </a:ext>
            </a:extLst>
          </p:cNvPr>
          <p:cNvSpPr/>
          <p:nvPr/>
        </p:nvSpPr>
        <p:spPr>
          <a:xfrm rot="16200000">
            <a:off x="1025544" y="2159336"/>
            <a:ext cx="507439" cy="11035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000" baseline="-25000" dirty="0"/>
          </a:p>
        </p:txBody>
      </p:sp>
      <p:sp>
        <p:nvSpPr>
          <p:cNvPr id="10" name="圓角矩形 9">
            <a:extLst>
              <a:ext uri="{FF2B5EF4-FFF2-40B4-BE49-F238E27FC236}">
                <a16:creationId xmlns:a16="http://schemas.microsoft.com/office/drawing/2014/main" id="{5211135A-FE15-2460-3B7A-8CFE643B1384}"/>
              </a:ext>
            </a:extLst>
          </p:cNvPr>
          <p:cNvSpPr/>
          <p:nvPr/>
        </p:nvSpPr>
        <p:spPr>
          <a:xfrm rot="16200000">
            <a:off x="1023758" y="2749110"/>
            <a:ext cx="507439" cy="11035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000" baseline="-25000" dirty="0"/>
          </a:p>
        </p:txBody>
      </p:sp>
      <p:sp>
        <p:nvSpPr>
          <p:cNvPr id="12" name="圓角矩形 11">
            <a:extLst>
              <a:ext uri="{FF2B5EF4-FFF2-40B4-BE49-F238E27FC236}">
                <a16:creationId xmlns:a16="http://schemas.microsoft.com/office/drawing/2014/main" id="{29A8AB3F-E18D-7C06-592B-874FD6E2DF37}"/>
              </a:ext>
            </a:extLst>
          </p:cNvPr>
          <p:cNvSpPr/>
          <p:nvPr/>
        </p:nvSpPr>
        <p:spPr>
          <a:xfrm rot="16200000">
            <a:off x="1018522" y="1569561"/>
            <a:ext cx="507439" cy="11035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000" baseline="-25000" dirty="0"/>
          </a:p>
        </p:txBody>
      </p:sp>
      <mc:AlternateContent xmlns:mc="http://schemas.openxmlformats.org/markup-compatibility/2006">
        <mc:Choice xmlns:a14="http://schemas.microsoft.com/office/drawing/2010/main" Requires="a14">
          <p:sp>
            <p:nvSpPr>
              <p:cNvPr id="20" name="文字方塊 19">
                <a:extLst>
                  <a:ext uri="{FF2B5EF4-FFF2-40B4-BE49-F238E27FC236}">
                    <a16:creationId xmlns:a16="http://schemas.microsoft.com/office/drawing/2014/main" id="{B92B1429-2168-C6A4-E1AE-AE7E7248FD43}"/>
                  </a:ext>
                </a:extLst>
              </p:cNvPr>
              <p:cNvSpPr txBox="1"/>
              <p:nvPr/>
            </p:nvSpPr>
            <p:spPr>
              <a:xfrm>
                <a:off x="957880" y="1349466"/>
                <a:ext cx="686909" cy="50404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zh-TW" altLang="zh-TW" sz="2400" i="1" kern="100" smtClean="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sz="2400" i="1" kern="100">
                              <a:latin typeface="Cambria Math" panose="02040503050406030204" pitchFamily="18" charset="0"/>
                              <a:ea typeface="新細明體" panose="02020500000000000000" pitchFamily="18" charset="-120"/>
                              <a:cs typeface="Times New Roman" panose="02020603050405020304" pitchFamily="18" charset="0"/>
                            </a:rPr>
                            <m:t>𝑄</m:t>
                          </m:r>
                        </m:e>
                        <m:sub>
                          <m:r>
                            <a:rPr lang="en-US" altLang="zh-TW" sz="2400" b="0" i="1" kern="100" smtClean="0">
                              <a:latin typeface="Cambria Math" panose="02040503050406030204" pitchFamily="18" charset="0"/>
                              <a:ea typeface="新細明體" panose="02020500000000000000" pitchFamily="18" charset="-120"/>
                              <a:cs typeface="Times New Roman" panose="02020603050405020304" pitchFamily="18" charset="0"/>
                            </a:rPr>
                            <m:t>𝐶</m:t>
                          </m:r>
                        </m:sub>
                        <m:sup/>
                      </m:sSubSup>
                    </m:oMath>
                  </m:oMathPara>
                </a14:m>
                <a:endParaRPr lang="zh-TW" altLang="en-US" sz="2400" dirty="0">
                  <a:solidFill>
                    <a:schemeClr val="tx1"/>
                  </a:solidFill>
                </a:endParaRPr>
              </a:p>
            </p:txBody>
          </p:sp>
        </mc:Choice>
        <mc:Fallback>
          <p:sp>
            <p:nvSpPr>
              <p:cNvPr id="20" name="文字方塊 19">
                <a:extLst>
                  <a:ext uri="{FF2B5EF4-FFF2-40B4-BE49-F238E27FC236}">
                    <a16:creationId xmlns:a16="http://schemas.microsoft.com/office/drawing/2014/main" id="{B92B1429-2168-C6A4-E1AE-AE7E7248FD43}"/>
                  </a:ext>
                </a:extLst>
              </p:cNvPr>
              <p:cNvSpPr txBox="1">
                <a:spLocks noRot="1" noChangeAspect="1" noMove="1" noResize="1" noEditPoints="1" noAdjustHandles="1" noChangeArrowheads="1" noChangeShapeType="1" noTextEdit="1"/>
              </p:cNvSpPr>
              <p:nvPr/>
            </p:nvSpPr>
            <p:spPr>
              <a:xfrm>
                <a:off x="957880" y="1349466"/>
                <a:ext cx="686909" cy="504049"/>
              </a:xfrm>
              <a:prstGeom prst="rect">
                <a:avLst/>
              </a:prstGeom>
              <a:blipFill>
                <a:blip r:embed="rId6"/>
                <a:stretch>
                  <a:fillRect b="-12500"/>
                </a:stretch>
              </a:blipFill>
            </p:spPr>
            <p:txBody>
              <a:bodyPr/>
              <a:lstStyle/>
              <a:p>
                <a:r>
                  <a:rPr lang="zh-TW" altLang="en-US">
                    <a:noFill/>
                  </a:rPr>
                  <a:t> </a:t>
                </a:r>
              </a:p>
            </p:txBody>
          </p:sp>
        </mc:Fallback>
      </mc:AlternateContent>
      <p:sp>
        <p:nvSpPr>
          <p:cNvPr id="24" name="文字方塊 23">
            <a:extLst>
              <a:ext uri="{FF2B5EF4-FFF2-40B4-BE49-F238E27FC236}">
                <a16:creationId xmlns:a16="http://schemas.microsoft.com/office/drawing/2014/main" id="{D368FA7D-E8DC-BAB9-D3C8-0C5C2842C13F}"/>
              </a:ext>
            </a:extLst>
          </p:cNvPr>
          <p:cNvSpPr txBox="1"/>
          <p:nvPr/>
        </p:nvSpPr>
        <p:spPr>
          <a:xfrm>
            <a:off x="901723" y="3581005"/>
            <a:ext cx="805300" cy="369332"/>
          </a:xfrm>
          <a:prstGeom prst="rect">
            <a:avLst/>
          </a:prstGeom>
          <a:noFill/>
        </p:spPr>
        <p:txBody>
          <a:bodyPr wrap="square" rtlCol="0">
            <a:spAutoFit/>
          </a:bodyPr>
          <a:lstStyle/>
          <a:p>
            <a:r>
              <a:rPr kumimoji="1" lang="en-US" altLang="zh-TW" dirty="0"/>
              <a:t>N x </a:t>
            </a:r>
            <a:r>
              <a:rPr kumimoji="1" lang="en-US" altLang="zh-TW" dirty="0" err="1"/>
              <a:t>d</a:t>
            </a:r>
            <a:r>
              <a:rPr kumimoji="1" lang="en-US" altLang="zh-TW" baseline="-25000" dirty="0" err="1"/>
              <a:t>q</a:t>
            </a:r>
            <a:endParaRPr kumimoji="1" lang="zh-TW" altLang="en-US" baseline="-25000" dirty="0"/>
          </a:p>
        </p:txBody>
      </p:sp>
      <p:sp>
        <p:nvSpPr>
          <p:cNvPr id="25" name="文字方塊 24">
            <a:extLst>
              <a:ext uri="{FF2B5EF4-FFF2-40B4-BE49-F238E27FC236}">
                <a16:creationId xmlns:a16="http://schemas.microsoft.com/office/drawing/2014/main" id="{0EF29E84-A2E9-6D78-5426-C84E276AD8CE}"/>
              </a:ext>
            </a:extLst>
          </p:cNvPr>
          <p:cNvSpPr txBox="1"/>
          <p:nvPr/>
        </p:nvSpPr>
        <p:spPr>
          <a:xfrm>
            <a:off x="6307529" y="3581005"/>
            <a:ext cx="805300" cy="369332"/>
          </a:xfrm>
          <a:prstGeom prst="rect">
            <a:avLst/>
          </a:prstGeom>
          <a:noFill/>
        </p:spPr>
        <p:txBody>
          <a:bodyPr wrap="square" rtlCol="0">
            <a:spAutoFit/>
          </a:bodyPr>
          <a:lstStyle/>
          <a:p>
            <a:r>
              <a:rPr kumimoji="1" lang="en-US" altLang="zh-TW" dirty="0"/>
              <a:t>d</a:t>
            </a:r>
            <a:r>
              <a:rPr kumimoji="1" lang="en-US" altLang="zh-TW" baseline="-25000" dirty="0"/>
              <a:t>k </a:t>
            </a:r>
            <a:r>
              <a:rPr kumimoji="1" lang="en-US" altLang="zh-TW" dirty="0"/>
              <a:t>x N</a:t>
            </a:r>
            <a:endParaRPr kumimoji="1" lang="zh-TW" altLang="en-US" baseline="-25000" dirty="0"/>
          </a:p>
        </p:txBody>
      </p:sp>
      <p:sp>
        <p:nvSpPr>
          <p:cNvPr id="26" name="圓角矩形 25">
            <a:extLst>
              <a:ext uri="{FF2B5EF4-FFF2-40B4-BE49-F238E27FC236}">
                <a16:creationId xmlns:a16="http://schemas.microsoft.com/office/drawing/2014/main" id="{A691098B-E24E-2838-7B69-363BDBEC591B}"/>
              </a:ext>
            </a:extLst>
          </p:cNvPr>
          <p:cNvSpPr/>
          <p:nvPr/>
        </p:nvSpPr>
        <p:spPr>
          <a:xfrm rot="16200000">
            <a:off x="2508566" y="2159337"/>
            <a:ext cx="507439" cy="1103516"/>
          </a:xfrm>
          <a:prstGeom prst="round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000" baseline="-25000" dirty="0"/>
          </a:p>
        </p:txBody>
      </p:sp>
      <p:sp>
        <p:nvSpPr>
          <p:cNvPr id="27" name="文字方塊 26">
            <a:extLst>
              <a:ext uri="{FF2B5EF4-FFF2-40B4-BE49-F238E27FC236}">
                <a16:creationId xmlns:a16="http://schemas.microsoft.com/office/drawing/2014/main" id="{EFC31714-82BC-0BA3-C0EA-9E44F142CE54}"/>
              </a:ext>
            </a:extLst>
          </p:cNvPr>
          <p:cNvSpPr txBox="1"/>
          <p:nvPr/>
        </p:nvSpPr>
        <p:spPr>
          <a:xfrm>
            <a:off x="2579926" y="2518280"/>
            <a:ext cx="578498" cy="369332"/>
          </a:xfrm>
          <a:prstGeom prst="rect">
            <a:avLst/>
          </a:prstGeom>
          <a:noFill/>
        </p:spPr>
        <p:txBody>
          <a:bodyPr wrap="square" rtlCol="0">
            <a:spAutoFit/>
          </a:bodyPr>
          <a:lstStyle/>
          <a:p>
            <a:r>
              <a:rPr kumimoji="1" lang="en-US" altLang="zh-TW" sz="1800" dirty="0"/>
              <a:t>e</a:t>
            </a:r>
            <a:r>
              <a:rPr kumimoji="1" lang="en-US" altLang="zh-TW" sz="1800" baseline="-25000" dirty="0"/>
              <a:t>2</a:t>
            </a:r>
            <a:endParaRPr kumimoji="1" lang="zh-TW" altLang="en-US" sz="1800" baseline="-25000" dirty="0"/>
          </a:p>
        </p:txBody>
      </p:sp>
      <p:sp>
        <p:nvSpPr>
          <p:cNvPr id="28" name="圓角矩形 27">
            <a:extLst>
              <a:ext uri="{FF2B5EF4-FFF2-40B4-BE49-F238E27FC236}">
                <a16:creationId xmlns:a16="http://schemas.microsoft.com/office/drawing/2014/main" id="{5F2415F1-C5A5-29CD-5B6B-4924B0DF6285}"/>
              </a:ext>
            </a:extLst>
          </p:cNvPr>
          <p:cNvSpPr/>
          <p:nvPr/>
        </p:nvSpPr>
        <p:spPr>
          <a:xfrm rot="16200000">
            <a:off x="2506780" y="2749111"/>
            <a:ext cx="507439" cy="1103516"/>
          </a:xfrm>
          <a:prstGeom prst="round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000" baseline="-25000" dirty="0"/>
          </a:p>
        </p:txBody>
      </p:sp>
      <p:sp>
        <p:nvSpPr>
          <p:cNvPr id="29" name="文字方塊 28">
            <a:extLst>
              <a:ext uri="{FF2B5EF4-FFF2-40B4-BE49-F238E27FC236}">
                <a16:creationId xmlns:a16="http://schemas.microsoft.com/office/drawing/2014/main" id="{9522759D-9144-D96A-7B98-1171A439F1AA}"/>
              </a:ext>
            </a:extLst>
          </p:cNvPr>
          <p:cNvSpPr txBox="1"/>
          <p:nvPr/>
        </p:nvSpPr>
        <p:spPr>
          <a:xfrm>
            <a:off x="2578140" y="3108054"/>
            <a:ext cx="578498" cy="369332"/>
          </a:xfrm>
          <a:prstGeom prst="rect">
            <a:avLst/>
          </a:prstGeom>
          <a:noFill/>
        </p:spPr>
        <p:txBody>
          <a:bodyPr wrap="square" rtlCol="0">
            <a:spAutoFit/>
          </a:bodyPr>
          <a:lstStyle/>
          <a:p>
            <a:r>
              <a:rPr kumimoji="1" lang="en-US" altLang="zh-TW" sz="1800" dirty="0"/>
              <a:t>e</a:t>
            </a:r>
            <a:r>
              <a:rPr kumimoji="1" lang="en-US" altLang="zh-TW" sz="1800" baseline="-25000" dirty="0"/>
              <a:t>3</a:t>
            </a:r>
            <a:endParaRPr kumimoji="1" lang="zh-TW" altLang="en-US" sz="1800" baseline="-25000" dirty="0"/>
          </a:p>
        </p:txBody>
      </p:sp>
      <p:sp>
        <p:nvSpPr>
          <p:cNvPr id="30" name="圓角矩形 29">
            <a:extLst>
              <a:ext uri="{FF2B5EF4-FFF2-40B4-BE49-F238E27FC236}">
                <a16:creationId xmlns:a16="http://schemas.microsoft.com/office/drawing/2014/main" id="{40AABE49-99C0-23D9-7D71-CFD96B73AC05}"/>
              </a:ext>
            </a:extLst>
          </p:cNvPr>
          <p:cNvSpPr/>
          <p:nvPr/>
        </p:nvSpPr>
        <p:spPr>
          <a:xfrm rot="16200000">
            <a:off x="2501544" y="1569562"/>
            <a:ext cx="507439" cy="1103516"/>
          </a:xfrm>
          <a:prstGeom prst="round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000" baseline="-25000" dirty="0"/>
          </a:p>
        </p:txBody>
      </p:sp>
      <p:sp>
        <p:nvSpPr>
          <p:cNvPr id="31" name="文字方塊 30">
            <a:extLst>
              <a:ext uri="{FF2B5EF4-FFF2-40B4-BE49-F238E27FC236}">
                <a16:creationId xmlns:a16="http://schemas.microsoft.com/office/drawing/2014/main" id="{088760E6-0B08-3959-8A3E-2B1BAE98726E}"/>
              </a:ext>
            </a:extLst>
          </p:cNvPr>
          <p:cNvSpPr txBox="1"/>
          <p:nvPr/>
        </p:nvSpPr>
        <p:spPr>
          <a:xfrm>
            <a:off x="2572904" y="1928505"/>
            <a:ext cx="578498" cy="369332"/>
          </a:xfrm>
          <a:prstGeom prst="rect">
            <a:avLst/>
          </a:prstGeom>
          <a:noFill/>
        </p:spPr>
        <p:txBody>
          <a:bodyPr wrap="square" rtlCol="0">
            <a:spAutoFit/>
          </a:bodyPr>
          <a:lstStyle/>
          <a:p>
            <a:r>
              <a:rPr kumimoji="1" lang="en-US" altLang="zh-TW" sz="1800" dirty="0"/>
              <a:t>e</a:t>
            </a:r>
            <a:r>
              <a:rPr kumimoji="1" lang="en-US" altLang="zh-TW" sz="1800" baseline="-25000" dirty="0"/>
              <a:t>1</a:t>
            </a:r>
            <a:endParaRPr kumimoji="1" lang="zh-TW" altLang="en-US" sz="1800" baseline="-25000" dirty="0"/>
          </a:p>
        </p:txBody>
      </p:sp>
      <p:sp>
        <p:nvSpPr>
          <p:cNvPr id="32" name="文字方塊 31">
            <a:extLst>
              <a:ext uri="{FF2B5EF4-FFF2-40B4-BE49-F238E27FC236}">
                <a16:creationId xmlns:a16="http://schemas.microsoft.com/office/drawing/2014/main" id="{C2A2D9B1-CA6D-6F44-D0C3-54123B988D5F}"/>
              </a:ext>
            </a:extLst>
          </p:cNvPr>
          <p:cNvSpPr txBox="1"/>
          <p:nvPr/>
        </p:nvSpPr>
        <p:spPr>
          <a:xfrm>
            <a:off x="2229897" y="3581005"/>
            <a:ext cx="1151855" cy="369332"/>
          </a:xfrm>
          <a:prstGeom prst="rect">
            <a:avLst/>
          </a:prstGeom>
          <a:noFill/>
        </p:spPr>
        <p:txBody>
          <a:bodyPr wrap="square" rtlCol="0">
            <a:spAutoFit/>
          </a:bodyPr>
          <a:lstStyle/>
          <a:p>
            <a:r>
              <a:rPr kumimoji="1" lang="en-US" altLang="zh-TW" dirty="0"/>
              <a:t>N x </a:t>
            </a:r>
            <a:r>
              <a:rPr kumimoji="1" lang="en-US" altLang="zh-TW" dirty="0" err="1"/>
              <a:t>d</a:t>
            </a:r>
            <a:r>
              <a:rPr kumimoji="1" lang="en-US" altLang="zh-TW" baseline="-25000" dirty="0" err="1"/>
              <a:t>model</a:t>
            </a:r>
            <a:endParaRPr kumimoji="1" lang="zh-TW" altLang="en-US" baseline="-25000" dirty="0"/>
          </a:p>
        </p:txBody>
      </p:sp>
      <p:sp>
        <p:nvSpPr>
          <p:cNvPr id="33" name="圓角矩形 32">
            <a:extLst>
              <a:ext uri="{FF2B5EF4-FFF2-40B4-BE49-F238E27FC236}">
                <a16:creationId xmlns:a16="http://schemas.microsoft.com/office/drawing/2014/main" id="{571D26EE-D335-D656-06E9-2DBDCCDE63FA}"/>
              </a:ext>
            </a:extLst>
          </p:cNvPr>
          <p:cNvSpPr/>
          <p:nvPr/>
        </p:nvSpPr>
        <p:spPr>
          <a:xfrm rot="16200000">
            <a:off x="3391093" y="1853129"/>
            <a:ext cx="1732052" cy="1721804"/>
          </a:xfrm>
          <a:prstGeom prst="roundRect">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000" baseline="-25000" dirty="0"/>
          </a:p>
        </p:txBody>
      </p:sp>
      <p:sp>
        <p:nvSpPr>
          <p:cNvPr id="34" name="文字方塊 33">
            <a:extLst>
              <a:ext uri="{FF2B5EF4-FFF2-40B4-BE49-F238E27FC236}">
                <a16:creationId xmlns:a16="http://schemas.microsoft.com/office/drawing/2014/main" id="{15C0AD2F-197E-788C-77B9-F4243EE4A6B3}"/>
              </a:ext>
            </a:extLst>
          </p:cNvPr>
          <p:cNvSpPr txBox="1"/>
          <p:nvPr/>
        </p:nvSpPr>
        <p:spPr>
          <a:xfrm>
            <a:off x="3564301" y="3581005"/>
            <a:ext cx="1385635" cy="369332"/>
          </a:xfrm>
          <a:prstGeom prst="rect">
            <a:avLst/>
          </a:prstGeom>
          <a:noFill/>
        </p:spPr>
        <p:txBody>
          <a:bodyPr wrap="square" rtlCol="0">
            <a:spAutoFit/>
          </a:bodyPr>
          <a:lstStyle/>
          <a:p>
            <a:pPr algn="ctr"/>
            <a:r>
              <a:rPr kumimoji="1" lang="en-US" altLang="zh-TW" dirty="0" err="1"/>
              <a:t>d</a:t>
            </a:r>
            <a:r>
              <a:rPr kumimoji="1" lang="en-US" altLang="zh-TW" baseline="-25000" dirty="0" err="1"/>
              <a:t>model</a:t>
            </a:r>
            <a:r>
              <a:rPr kumimoji="1" lang="en-US" altLang="zh-TW" dirty="0"/>
              <a:t> x </a:t>
            </a:r>
            <a:r>
              <a:rPr kumimoji="1" lang="en-US" altLang="zh-TW" dirty="0" err="1"/>
              <a:t>d</a:t>
            </a:r>
            <a:r>
              <a:rPr kumimoji="1" lang="en-US" altLang="zh-TW" baseline="-25000" dirty="0" err="1"/>
              <a:t>q</a:t>
            </a:r>
            <a:endParaRPr kumimoji="1" lang="zh-TW" altLang="en-US" baseline="-25000" dirty="0"/>
          </a:p>
        </p:txBody>
      </p:sp>
      <p:sp>
        <p:nvSpPr>
          <p:cNvPr id="35" name="文字方塊 34">
            <a:extLst>
              <a:ext uri="{FF2B5EF4-FFF2-40B4-BE49-F238E27FC236}">
                <a16:creationId xmlns:a16="http://schemas.microsoft.com/office/drawing/2014/main" id="{A1495D93-286A-63BB-892E-A0CB050E7C02}"/>
              </a:ext>
            </a:extLst>
          </p:cNvPr>
          <p:cNvSpPr txBox="1"/>
          <p:nvPr/>
        </p:nvSpPr>
        <p:spPr>
          <a:xfrm>
            <a:off x="3820165" y="2460510"/>
            <a:ext cx="926277" cy="461665"/>
          </a:xfrm>
          <a:prstGeom prst="rect">
            <a:avLst/>
          </a:prstGeom>
          <a:noFill/>
        </p:spPr>
        <p:txBody>
          <a:bodyPr wrap="square" rtlCol="0">
            <a:spAutoFit/>
          </a:bodyPr>
          <a:lstStyle/>
          <a:p>
            <a:r>
              <a:rPr kumimoji="1" lang="en-US" altLang="zh-TW" sz="2400" dirty="0" err="1">
                <a:solidFill>
                  <a:schemeClr val="bg1"/>
                </a:solidFill>
              </a:rPr>
              <a:t>W</a:t>
            </a:r>
            <a:r>
              <a:rPr kumimoji="1" lang="en-US" altLang="zh-TW" sz="2400" baseline="-25000" dirty="0" err="1">
                <a:solidFill>
                  <a:schemeClr val="bg1"/>
                </a:solidFill>
              </a:rPr>
              <a:t>Q,c</a:t>
            </a:r>
            <a:endParaRPr kumimoji="1" lang="zh-TW" altLang="en-US" sz="2400" baseline="-25000" dirty="0">
              <a:solidFill>
                <a:schemeClr val="bg1"/>
              </a:solidFill>
            </a:endParaRPr>
          </a:p>
        </p:txBody>
      </p:sp>
      <p:sp>
        <p:nvSpPr>
          <p:cNvPr id="36" name="文字方塊 35">
            <a:extLst>
              <a:ext uri="{FF2B5EF4-FFF2-40B4-BE49-F238E27FC236}">
                <a16:creationId xmlns:a16="http://schemas.microsoft.com/office/drawing/2014/main" id="{C580728A-CCC7-9510-699E-4BCADB4DE44A}"/>
              </a:ext>
            </a:extLst>
          </p:cNvPr>
          <p:cNvSpPr txBox="1"/>
          <p:nvPr/>
        </p:nvSpPr>
        <p:spPr>
          <a:xfrm>
            <a:off x="1772982" y="2375039"/>
            <a:ext cx="509155" cy="646331"/>
          </a:xfrm>
          <a:prstGeom prst="rect">
            <a:avLst/>
          </a:prstGeom>
          <a:noFill/>
        </p:spPr>
        <p:txBody>
          <a:bodyPr wrap="square" rtlCol="0">
            <a:spAutoFit/>
          </a:bodyPr>
          <a:lstStyle/>
          <a:p>
            <a:pPr algn="ctr"/>
            <a:r>
              <a:rPr kumimoji="1" lang="en-US" altLang="zh-TW" sz="3600" b="1" dirty="0"/>
              <a:t>=</a:t>
            </a:r>
            <a:endParaRPr kumimoji="1" lang="zh-TW" altLang="en-US" sz="3600" b="1" dirty="0"/>
          </a:p>
        </p:txBody>
      </p:sp>
      <p:sp>
        <p:nvSpPr>
          <p:cNvPr id="48" name="文字方塊 47">
            <a:extLst>
              <a:ext uri="{FF2B5EF4-FFF2-40B4-BE49-F238E27FC236}">
                <a16:creationId xmlns:a16="http://schemas.microsoft.com/office/drawing/2014/main" id="{BDECEF77-DEDF-1937-F350-F924B0117FA1}"/>
              </a:ext>
            </a:extLst>
          </p:cNvPr>
          <p:cNvSpPr txBox="1"/>
          <p:nvPr/>
        </p:nvSpPr>
        <p:spPr>
          <a:xfrm>
            <a:off x="9874086" y="3581005"/>
            <a:ext cx="1237665" cy="369332"/>
          </a:xfrm>
          <a:prstGeom prst="rect">
            <a:avLst/>
          </a:prstGeom>
          <a:noFill/>
        </p:spPr>
        <p:txBody>
          <a:bodyPr wrap="square" rtlCol="0">
            <a:spAutoFit/>
          </a:bodyPr>
          <a:lstStyle/>
          <a:p>
            <a:pPr algn="ctr"/>
            <a:r>
              <a:rPr kumimoji="1" lang="en-US" altLang="zh-TW" dirty="0" err="1"/>
              <a:t>d</a:t>
            </a:r>
            <a:r>
              <a:rPr kumimoji="1" lang="en-US" altLang="zh-TW" baseline="-25000" dirty="0" err="1"/>
              <a:t>model</a:t>
            </a:r>
            <a:r>
              <a:rPr kumimoji="1" lang="en-US" altLang="zh-TW" dirty="0"/>
              <a:t> x d</a:t>
            </a:r>
            <a:r>
              <a:rPr kumimoji="1" lang="en-US" altLang="zh-TW" baseline="-25000" dirty="0"/>
              <a:t>k</a:t>
            </a:r>
            <a:endParaRPr kumimoji="1" lang="zh-TW" altLang="en-US" baseline="-25000" dirty="0"/>
          </a:p>
        </p:txBody>
      </p:sp>
      <p:sp>
        <p:nvSpPr>
          <p:cNvPr id="49" name="文字方塊 48">
            <a:extLst>
              <a:ext uri="{FF2B5EF4-FFF2-40B4-BE49-F238E27FC236}">
                <a16:creationId xmlns:a16="http://schemas.microsoft.com/office/drawing/2014/main" id="{9F4BA553-160F-0794-9506-C4029FE6AEBB}"/>
              </a:ext>
            </a:extLst>
          </p:cNvPr>
          <p:cNvSpPr txBox="1"/>
          <p:nvPr/>
        </p:nvSpPr>
        <p:spPr>
          <a:xfrm>
            <a:off x="8469310" y="3581005"/>
            <a:ext cx="1151855" cy="369332"/>
          </a:xfrm>
          <a:prstGeom prst="rect">
            <a:avLst/>
          </a:prstGeom>
          <a:noFill/>
        </p:spPr>
        <p:txBody>
          <a:bodyPr wrap="square" rtlCol="0">
            <a:spAutoFit/>
          </a:bodyPr>
          <a:lstStyle/>
          <a:p>
            <a:r>
              <a:rPr kumimoji="1" lang="en-US" altLang="zh-TW" dirty="0"/>
              <a:t>N x </a:t>
            </a:r>
            <a:r>
              <a:rPr kumimoji="1" lang="en-US" altLang="zh-TW" dirty="0" err="1"/>
              <a:t>d</a:t>
            </a:r>
            <a:r>
              <a:rPr kumimoji="1" lang="en-US" altLang="zh-TW" baseline="-25000" dirty="0" err="1"/>
              <a:t>model</a:t>
            </a:r>
            <a:endParaRPr kumimoji="1" lang="zh-TW" altLang="en-US" baseline="-25000" dirty="0"/>
          </a:p>
        </p:txBody>
      </p:sp>
      <p:sp>
        <p:nvSpPr>
          <p:cNvPr id="50" name="圓角矩形 49">
            <a:extLst>
              <a:ext uri="{FF2B5EF4-FFF2-40B4-BE49-F238E27FC236}">
                <a16:creationId xmlns:a16="http://schemas.microsoft.com/office/drawing/2014/main" id="{9AF9B271-4680-0343-57D0-1D7869B15FE2}"/>
              </a:ext>
            </a:extLst>
          </p:cNvPr>
          <p:cNvSpPr/>
          <p:nvPr/>
        </p:nvSpPr>
        <p:spPr>
          <a:xfrm rot="16200000">
            <a:off x="8715952" y="2179674"/>
            <a:ext cx="507439" cy="1103516"/>
          </a:xfrm>
          <a:prstGeom prst="roundRect">
            <a:avLst/>
          </a:prstGeom>
          <a:noFill/>
          <a:ln w="19050">
            <a:solidFill>
              <a:srgbClr val="0070C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TW" altLang="en-US" sz="2000" baseline="-25000" dirty="0"/>
          </a:p>
        </p:txBody>
      </p:sp>
      <p:sp>
        <p:nvSpPr>
          <p:cNvPr id="51" name="文字方塊 50">
            <a:extLst>
              <a:ext uri="{FF2B5EF4-FFF2-40B4-BE49-F238E27FC236}">
                <a16:creationId xmlns:a16="http://schemas.microsoft.com/office/drawing/2014/main" id="{E3C0466D-73A7-5734-6A24-D74002DF8F7E}"/>
              </a:ext>
            </a:extLst>
          </p:cNvPr>
          <p:cNvSpPr txBox="1"/>
          <p:nvPr/>
        </p:nvSpPr>
        <p:spPr>
          <a:xfrm>
            <a:off x="8787312" y="2538617"/>
            <a:ext cx="578498" cy="369332"/>
          </a:xfrm>
          <a:prstGeom prst="rect">
            <a:avLst/>
          </a:prstGeom>
          <a:noFill/>
        </p:spPr>
        <p:txBody>
          <a:bodyPr wrap="square" rtlCol="0">
            <a:spAutoFit/>
          </a:bodyPr>
          <a:lstStyle/>
          <a:p>
            <a:r>
              <a:rPr kumimoji="1" lang="en-US" altLang="zh-TW" sz="1800" dirty="0"/>
              <a:t>e</a:t>
            </a:r>
            <a:r>
              <a:rPr kumimoji="1" lang="en-US" altLang="zh-TW" sz="1800" baseline="-25000" dirty="0"/>
              <a:t>2</a:t>
            </a:r>
            <a:endParaRPr kumimoji="1" lang="zh-TW" altLang="en-US" sz="1800" baseline="-25000" dirty="0"/>
          </a:p>
        </p:txBody>
      </p:sp>
      <p:sp>
        <p:nvSpPr>
          <p:cNvPr id="52" name="圓角矩形 51">
            <a:extLst>
              <a:ext uri="{FF2B5EF4-FFF2-40B4-BE49-F238E27FC236}">
                <a16:creationId xmlns:a16="http://schemas.microsoft.com/office/drawing/2014/main" id="{6DAAA412-8054-B36F-2765-2C509F010F82}"/>
              </a:ext>
            </a:extLst>
          </p:cNvPr>
          <p:cNvSpPr/>
          <p:nvPr/>
        </p:nvSpPr>
        <p:spPr>
          <a:xfrm rot="16200000">
            <a:off x="8714166" y="2769448"/>
            <a:ext cx="507439" cy="1103516"/>
          </a:xfrm>
          <a:prstGeom prst="roundRect">
            <a:avLst/>
          </a:prstGeom>
          <a:noFill/>
          <a:ln w="19050">
            <a:solidFill>
              <a:srgbClr val="0070C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TW" altLang="en-US" sz="2000" baseline="-25000" dirty="0"/>
          </a:p>
        </p:txBody>
      </p:sp>
      <p:sp>
        <p:nvSpPr>
          <p:cNvPr id="53" name="文字方塊 52">
            <a:extLst>
              <a:ext uri="{FF2B5EF4-FFF2-40B4-BE49-F238E27FC236}">
                <a16:creationId xmlns:a16="http://schemas.microsoft.com/office/drawing/2014/main" id="{15BC683B-06F7-89D1-4B90-369095EF00D3}"/>
              </a:ext>
            </a:extLst>
          </p:cNvPr>
          <p:cNvSpPr txBox="1"/>
          <p:nvPr/>
        </p:nvSpPr>
        <p:spPr>
          <a:xfrm>
            <a:off x="8785526" y="3128391"/>
            <a:ext cx="578498" cy="369332"/>
          </a:xfrm>
          <a:prstGeom prst="rect">
            <a:avLst/>
          </a:prstGeom>
          <a:noFill/>
        </p:spPr>
        <p:txBody>
          <a:bodyPr wrap="square" rtlCol="0">
            <a:spAutoFit/>
          </a:bodyPr>
          <a:lstStyle/>
          <a:p>
            <a:r>
              <a:rPr kumimoji="1" lang="en-US" altLang="zh-TW" sz="1800" dirty="0"/>
              <a:t>e</a:t>
            </a:r>
            <a:r>
              <a:rPr kumimoji="1" lang="en-US" altLang="zh-TW" sz="1800" baseline="-25000" dirty="0"/>
              <a:t>3</a:t>
            </a:r>
            <a:endParaRPr kumimoji="1" lang="zh-TW" altLang="en-US" sz="1800" baseline="-25000" dirty="0"/>
          </a:p>
        </p:txBody>
      </p:sp>
      <p:sp>
        <p:nvSpPr>
          <p:cNvPr id="54" name="圓角矩形 53">
            <a:extLst>
              <a:ext uri="{FF2B5EF4-FFF2-40B4-BE49-F238E27FC236}">
                <a16:creationId xmlns:a16="http://schemas.microsoft.com/office/drawing/2014/main" id="{77E2D64E-3B9A-0C90-7B1B-E55EFDB735B3}"/>
              </a:ext>
            </a:extLst>
          </p:cNvPr>
          <p:cNvSpPr/>
          <p:nvPr/>
        </p:nvSpPr>
        <p:spPr>
          <a:xfrm rot="16200000">
            <a:off x="8708930" y="1589899"/>
            <a:ext cx="507439" cy="1103516"/>
          </a:xfrm>
          <a:prstGeom prst="roundRect">
            <a:avLst/>
          </a:prstGeom>
          <a:noFill/>
          <a:ln w="19050">
            <a:solidFill>
              <a:srgbClr val="0070C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TW" altLang="en-US" sz="2000" baseline="-25000" dirty="0"/>
          </a:p>
        </p:txBody>
      </p:sp>
      <p:sp>
        <p:nvSpPr>
          <p:cNvPr id="55" name="文字方塊 54">
            <a:extLst>
              <a:ext uri="{FF2B5EF4-FFF2-40B4-BE49-F238E27FC236}">
                <a16:creationId xmlns:a16="http://schemas.microsoft.com/office/drawing/2014/main" id="{2E8A2073-7114-12D0-9A45-C318D4D42075}"/>
              </a:ext>
            </a:extLst>
          </p:cNvPr>
          <p:cNvSpPr txBox="1"/>
          <p:nvPr/>
        </p:nvSpPr>
        <p:spPr>
          <a:xfrm>
            <a:off x="8780290" y="1948842"/>
            <a:ext cx="578498" cy="369332"/>
          </a:xfrm>
          <a:prstGeom prst="rect">
            <a:avLst/>
          </a:prstGeom>
          <a:noFill/>
        </p:spPr>
        <p:txBody>
          <a:bodyPr wrap="square" rtlCol="0">
            <a:spAutoFit/>
          </a:bodyPr>
          <a:lstStyle/>
          <a:p>
            <a:r>
              <a:rPr kumimoji="1" lang="en-US" altLang="zh-TW" sz="1800" dirty="0"/>
              <a:t>e</a:t>
            </a:r>
            <a:r>
              <a:rPr kumimoji="1" lang="en-US" altLang="zh-TW" sz="1800" baseline="-25000" dirty="0"/>
              <a:t>1</a:t>
            </a:r>
            <a:endParaRPr kumimoji="1" lang="zh-TW" altLang="en-US" sz="1800" baseline="-25000" dirty="0"/>
          </a:p>
        </p:txBody>
      </p:sp>
      <p:sp>
        <p:nvSpPr>
          <p:cNvPr id="56" name="圓角矩形 55">
            <a:extLst>
              <a:ext uri="{FF2B5EF4-FFF2-40B4-BE49-F238E27FC236}">
                <a16:creationId xmlns:a16="http://schemas.microsoft.com/office/drawing/2014/main" id="{EB3B477A-9F38-FACD-87CF-7CE34A5E7222}"/>
              </a:ext>
            </a:extLst>
          </p:cNvPr>
          <p:cNvSpPr/>
          <p:nvPr/>
        </p:nvSpPr>
        <p:spPr>
          <a:xfrm rot="16200000">
            <a:off x="9598479" y="1873466"/>
            <a:ext cx="1732052" cy="1721804"/>
          </a:xfrm>
          <a:prstGeom prst="roundRect">
            <a:avLst/>
          </a:prstGeom>
          <a:ln w="19050">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TW" altLang="en-US" sz="2000" baseline="-25000" dirty="0"/>
          </a:p>
        </p:txBody>
      </p:sp>
      <p:sp>
        <p:nvSpPr>
          <p:cNvPr id="57" name="文字方塊 56">
            <a:extLst>
              <a:ext uri="{FF2B5EF4-FFF2-40B4-BE49-F238E27FC236}">
                <a16:creationId xmlns:a16="http://schemas.microsoft.com/office/drawing/2014/main" id="{17376D16-2168-85B9-9751-887E7245AC78}"/>
              </a:ext>
            </a:extLst>
          </p:cNvPr>
          <p:cNvSpPr txBox="1"/>
          <p:nvPr/>
        </p:nvSpPr>
        <p:spPr>
          <a:xfrm>
            <a:off x="10093257" y="2492450"/>
            <a:ext cx="805425" cy="461665"/>
          </a:xfrm>
          <a:prstGeom prst="rect">
            <a:avLst/>
          </a:prstGeom>
          <a:noFill/>
        </p:spPr>
        <p:txBody>
          <a:bodyPr wrap="square" rtlCol="0">
            <a:spAutoFit/>
          </a:bodyPr>
          <a:lstStyle/>
          <a:p>
            <a:r>
              <a:rPr kumimoji="1" lang="en-US" altLang="zh-TW" sz="2400" dirty="0" err="1">
                <a:solidFill>
                  <a:schemeClr val="bg1"/>
                </a:solidFill>
              </a:rPr>
              <a:t>W</a:t>
            </a:r>
            <a:r>
              <a:rPr kumimoji="1" lang="en-US" altLang="zh-TW" sz="2400" baseline="-25000" dirty="0" err="1">
                <a:solidFill>
                  <a:schemeClr val="bg1"/>
                </a:solidFill>
              </a:rPr>
              <a:t>K,c</a:t>
            </a:r>
            <a:endParaRPr kumimoji="1" lang="zh-TW" altLang="en-US" sz="2400" baseline="-25000" dirty="0">
              <a:solidFill>
                <a:schemeClr val="bg1"/>
              </a:solidFill>
            </a:endParaRPr>
          </a:p>
        </p:txBody>
      </p:sp>
      <p:sp>
        <p:nvSpPr>
          <p:cNvPr id="58" name="文字方塊 57">
            <a:extLst>
              <a:ext uri="{FF2B5EF4-FFF2-40B4-BE49-F238E27FC236}">
                <a16:creationId xmlns:a16="http://schemas.microsoft.com/office/drawing/2014/main" id="{49391E5E-DDDC-8167-1642-FFDB05F83676}"/>
              </a:ext>
            </a:extLst>
          </p:cNvPr>
          <p:cNvSpPr txBox="1"/>
          <p:nvPr/>
        </p:nvSpPr>
        <p:spPr>
          <a:xfrm>
            <a:off x="7756544" y="1544113"/>
            <a:ext cx="420438" cy="2215991"/>
          </a:xfrm>
          <a:prstGeom prst="rect">
            <a:avLst/>
          </a:prstGeom>
          <a:noFill/>
        </p:spPr>
        <p:txBody>
          <a:bodyPr wrap="square" rtlCol="0">
            <a:spAutoFit/>
          </a:bodyPr>
          <a:lstStyle/>
          <a:p>
            <a:r>
              <a:rPr kumimoji="1" lang="en-US" altLang="zh-TW" sz="13800" dirty="0"/>
              <a:t>(</a:t>
            </a:r>
            <a:endParaRPr kumimoji="1" lang="zh-TW" altLang="en-US" sz="13800" dirty="0"/>
          </a:p>
        </p:txBody>
      </p:sp>
      <p:sp>
        <p:nvSpPr>
          <p:cNvPr id="59" name="文字方塊 58">
            <a:extLst>
              <a:ext uri="{FF2B5EF4-FFF2-40B4-BE49-F238E27FC236}">
                <a16:creationId xmlns:a16="http://schemas.microsoft.com/office/drawing/2014/main" id="{3F5ED974-471F-FB06-B615-0498742C2234}"/>
              </a:ext>
            </a:extLst>
          </p:cNvPr>
          <p:cNvSpPr txBox="1"/>
          <p:nvPr/>
        </p:nvSpPr>
        <p:spPr>
          <a:xfrm>
            <a:off x="11151076" y="1544112"/>
            <a:ext cx="420438" cy="2215991"/>
          </a:xfrm>
          <a:prstGeom prst="rect">
            <a:avLst/>
          </a:prstGeom>
          <a:noFill/>
        </p:spPr>
        <p:txBody>
          <a:bodyPr wrap="square" rtlCol="0">
            <a:spAutoFit/>
          </a:bodyPr>
          <a:lstStyle/>
          <a:p>
            <a:r>
              <a:rPr kumimoji="1" lang="en-US" altLang="zh-TW" sz="13800" dirty="0"/>
              <a:t>)</a:t>
            </a:r>
            <a:endParaRPr kumimoji="1" lang="zh-TW" altLang="en-US" sz="13800" dirty="0"/>
          </a:p>
        </p:txBody>
      </p:sp>
      <mc:AlternateContent xmlns:mc="http://schemas.openxmlformats.org/markup-compatibility/2006" xmlns:a14="http://schemas.microsoft.com/office/drawing/2010/main">
        <mc:Choice Requires="a14">
          <p:sp>
            <p:nvSpPr>
              <p:cNvPr id="60" name="文字方塊 59">
                <a:extLst>
                  <a:ext uri="{FF2B5EF4-FFF2-40B4-BE49-F238E27FC236}">
                    <a16:creationId xmlns:a16="http://schemas.microsoft.com/office/drawing/2014/main" id="{D0031901-CC8B-414C-C2F7-F6C600283772}"/>
                  </a:ext>
                </a:extLst>
              </p:cNvPr>
              <p:cNvSpPr txBox="1"/>
              <p:nvPr/>
            </p:nvSpPr>
            <p:spPr>
              <a:xfrm>
                <a:off x="11375257" y="1832943"/>
                <a:ext cx="686909" cy="5132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𝑇</m:t>
                      </m:r>
                    </m:oMath>
                  </m:oMathPara>
                </a14:m>
                <a:endParaRPr lang="zh-TW" altLang="en-US" sz="2800" baseline="30000" dirty="0"/>
              </a:p>
            </p:txBody>
          </p:sp>
        </mc:Choice>
        <mc:Fallback xmlns="">
          <p:sp>
            <p:nvSpPr>
              <p:cNvPr id="60" name="文字方塊 59">
                <a:extLst>
                  <a:ext uri="{FF2B5EF4-FFF2-40B4-BE49-F238E27FC236}">
                    <a16:creationId xmlns:a16="http://schemas.microsoft.com/office/drawing/2014/main" id="{D0031901-CC8B-414C-C2F7-F6C600283772}"/>
                  </a:ext>
                </a:extLst>
              </p:cNvPr>
              <p:cNvSpPr txBox="1">
                <a:spLocks noRot="1" noChangeAspect="1" noMove="1" noResize="1" noEditPoints="1" noAdjustHandles="1" noChangeArrowheads="1" noChangeShapeType="1" noTextEdit="1"/>
              </p:cNvSpPr>
              <p:nvPr/>
            </p:nvSpPr>
            <p:spPr>
              <a:xfrm>
                <a:off x="11375257" y="1832943"/>
                <a:ext cx="686909" cy="513282"/>
              </a:xfrm>
              <a:prstGeom prst="rect">
                <a:avLst/>
              </a:prstGeom>
              <a:blipFill>
                <a:blip r:embed="rId7"/>
                <a:stretch>
                  <a:fillRect/>
                </a:stretch>
              </a:blipFill>
            </p:spPr>
            <p:txBody>
              <a:bodyPr/>
              <a:lstStyle/>
              <a:p>
                <a:r>
                  <a:rPr lang="zh-TW" altLang="en-US">
                    <a:noFill/>
                  </a:rPr>
                  <a:t> </a:t>
                </a:r>
              </a:p>
            </p:txBody>
          </p:sp>
        </mc:Fallback>
      </mc:AlternateContent>
      <p:sp>
        <p:nvSpPr>
          <p:cNvPr id="61" name="文字方塊 60">
            <a:extLst>
              <a:ext uri="{FF2B5EF4-FFF2-40B4-BE49-F238E27FC236}">
                <a16:creationId xmlns:a16="http://schemas.microsoft.com/office/drawing/2014/main" id="{FEE59A29-ED88-1DA6-BEC5-BD762B3177BB}"/>
              </a:ext>
            </a:extLst>
          </p:cNvPr>
          <p:cNvSpPr txBox="1"/>
          <p:nvPr/>
        </p:nvSpPr>
        <p:spPr>
          <a:xfrm>
            <a:off x="7487841" y="2407754"/>
            <a:ext cx="509155" cy="646331"/>
          </a:xfrm>
          <a:prstGeom prst="rect">
            <a:avLst/>
          </a:prstGeom>
          <a:noFill/>
        </p:spPr>
        <p:txBody>
          <a:bodyPr wrap="square" rtlCol="0">
            <a:spAutoFit/>
          </a:bodyPr>
          <a:lstStyle/>
          <a:p>
            <a:pPr algn="ctr"/>
            <a:r>
              <a:rPr kumimoji="1" lang="en-US" altLang="zh-TW" sz="3600" b="1" dirty="0"/>
              <a:t>=</a:t>
            </a:r>
            <a:endParaRPr kumimoji="1" lang="zh-TW" altLang="en-US" sz="3600" b="1" dirty="0"/>
          </a:p>
        </p:txBody>
      </p:sp>
      <p:sp>
        <p:nvSpPr>
          <p:cNvPr id="64" name="圓角矩形 63">
            <a:extLst>
              <a:ext uri="{FF2B5EF4-FFF2-40B4-BE49-F238E27FC236}">
                <a16:creationId xmlns:a16="http://schemas.microsoft.com/office/drawing/2014/main" id="{19554E73-08A7-AD23-A42E-F6D2820FA557}"/>
              </a:ext>
            </a:extLst>
          </p:cNvPr>
          <p:cNvSpPr/>
          <p:nvPr/>
        </p:nvSpPr>
        <p:spPr>
          <a:xfrm rot="16200000">
            <a:off x="1025989" y="4790032"/>
            <a:ext cx="507439" cy="11035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000" baseline="-25000" dirty="0"/>
          </a:p>
        </p:txBody>
      </p:sp>
      <mc:AlternateContent xmlns:mc="http://schemas.openxmlformats.org/markup-compatibility/2006" xmlns:a14="http://schemas.microsoft.com/office/drawing/2010/main">
        <mc:Choice Requires="a14">
          <p:sp>
            <p:nvSpPr>
              <p:cNvPr id="65" name="文字方塊 64">
                <a:extLst>
                  <a:ext uri="{FF2B5EF4-FFF2-40B4-BE49-F238E27FC236}">
                    <a16:creationId xmlns:a16="http://schemas.microsoft.com/office/drawing/2014/main" id="{07FAEE50-3817-2CE4-106C-6418FD576984}"/>
                  </a:ext>
                </a:extLst>
              </p:cNvPr>
              <p:cNvSpPr txBox="1"/>
              <p:nvPr/>
            </p:nvSpPr>
            <p:spPr>
              <a:xfrm>
                <a:off x="990014" y="5147908"/>
                <a:ext cx="578498" cy="4006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zh-TW" altLang="zh-TW" sz="1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TW" sz="1800" i="0" kern="10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q</m:t>
                          </m:r>
                        </m:e>
                        <m:sub>
                          <m:r>
                            <a:rPr lang="en-US" altLang="zh-TW" sz="18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2</m:t>
                          </m:r>
                        </m:sub>
                        <m:sup>
                          <m:r>
                            <m:rPr>
                              <m:sty m:val="p"/>
                            </m:rPr>
                            <a:rPr lang="en-US" altLang="zh-TW" sz="1800" i="0" kern="10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p</m:t>
                          </m:r>
                        </m:sup>
                      </m:sSubSup>
                    </m:oMath>
                  </m:oMathPara>
                </a14:m>
                <a:endParaRPr kumimoji="1" lang="zh-TW" altLang="en-US" sz="1800" baseline="-25000" dirty="0">
                  <a:solidFill>
                    <a:schemeClr val="bg1"/>
                  </a:solidFill>
                </a:endParaRPr>
              </a:p>
            </p:txBody>
          </p:sp>
        </mc:Choice>
        <mc:Fallback xmlns="">
          <p:sp>
            <p:nvSpPr>
              <p:cNvPr id="65" name="文字方塊 64">
                <a:extLst>
                  <a:ext uri="{FF2B5EF4-FFF2-40B4-BE49-F238E27FC236}">
                    <a16:creationId xmlns:a16="http://schemas.microsoft.com/office/drawing/2014/main" id="{07FAEE50-3817-2CE4-106C-6418FD576984}"/>
                  </a:ext>
                </a:extLst>
              </p:cNvPr>
              <p:cNvSpPr txBox="1">
                <a:spLocks noRot="1" noChangeAspect="1" noMove="1" noResize="1" noEditPoints="1" noAdjustHandles="1" noChangeArrowheads="1" noChangeShapeType="1" noTextEdit="1"/>
              </p:cNvSpPr>
              <p:nvPr/>
            </p:nvSpPr>
            <p:spPr>
              <a:xfrm>
                <a:off x="990014" y="5147908"/>
                <a:ext cx="578498" cy="400687"/>
              </a:xfrm>
              <a:prstGeom prst="rect">
                <a:avLst/>
              </a:prstGeom>
              <a:blipFill>
                <a:blip r:embed="rId8"/>
                <a:stretch>
                  <a:fillRect b="-6250"/>
                </a:stretch>
              </a:blipFill>
            </p:spPr>
            <p:txBody>
              <a:bodyPr/>
              <a:lstStyle/>
              <a:p>
                <a:r>
                  <a:rPr lang="zh-TW" altLang="en-US">
                    <a:noFill/>
                  </a:rPr>
                  <a:t> </a:t>
                </a:r>
              </a:p>
            </p:txBody>
          </p:sp>
        </mc:Fallback>
      </mc:AlternateContent>
      <p:sp>
        <p:nvSpPr>
          <p:cNvPr id="66" name="圓角矩形 65">
            <a:extLst>
              <a:ext uri="{FF2B5EF4-FFF2-40B4-BE49-F238E27FC236}">
                <a16:creationId xmlns:a16="http://schemas.microsoft.com/office/drawing/2014/main" id="{CA626999-9B52-1711-4F7F-AA7F465E545F}"/>
              </a:ext>
            </a:extLst>
          </p:cNvPr>
          <p:cNvSpPr/>
          <p:nvPr/>
        </p:nvSpPr>
        <p:spPr>
          <a:xfrm rot="16200000">
            <a:off x="1024203" y="5379806"/>
            <a:ext cx="507439" cy="11035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000" baseline="-25000" dirty="0"/>
          </a:p>
        </p:txBody>
      </p:sp>
      <p:sp>
        <p:nvSpPr>
          <p:cNvPr id="68" name="圓角矩形 67">
            <a:extLst>
              <a:ext uri="{FF2B5EF4-FFF2-40B4-BE49-F238E27FC236}">
                <a16:creationId xmlns:a16="http://schemas.microsoft.com/office/drawing/2014/main" id="{D8C9CDB0-AE88-98A7-4C02-C87D061D5409}"/>
              </a:ext>
            </a:extLst>
          </p:cNvPr>
          <p:cNvSpPr/>
          <p:nvPr/>
        </p:nvSpPr>
        <p:spPr>
          <a:xfrm rot="16200000">
            <a:off x="1018967" y="4200257"/>
            <a:ext cx="507439" cy="11035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000" baseline="-25000" dirty="0"/>
          </a:p>
        </p:txBody>
      </p:sp>
      <mc:AlternateContent xmlns:mc="http://schemas.openxmlformats.org/markup-compatibility/2006" xmlns:a14="http://schemas.microsoft.com/office/drawing/2010/main">
        <mc:Choice Requires="a14">
          <p:sp>
            <p:nvSpPr>
              <p:cNvPr id="69" name="文字方塊 68">
                <a:extLst>
                  <a:ext uri="{FF2B5EF4-FFF2-40B4-BE49-F238E27FC236}">
                    <a16:creationId xmlns:a16="http://schemas.microsoft.com/office/drawing/2014/main" id="{78FD3942-71F7-1216-A12C-FA20364E8331}"/>
                  </a:ext>
                </a:extLst>
              </p:cNvPr>
              <p:cNvSpPr txBox="1"/>
              <p:nvPr/>
            </p:nvSpPr>
            <p:spPr>
              <a:xfrm>
                <a:off x="982991" y="4546120"/>
                <a:ext cx="578498" cy="40036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zh-TW" altLang="zh-TW" sz="1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TW" sz="1800" i="0" kern="10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q</m:t>
                          </m:r>
                        </m:e>
                        <m:sub>
                          <m:r>
                            <a:rPr lang="en-US" altLang="zh-TW" sz="1800" i="0" kern="10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1</m:t>
                          </m:r>
                        </m:sub>
                        <m:sup>
                          <m:r>
                            <m:rPr>
                              <m:sty m:val="p"/>
                            </m:rPr>
                            <a:rPr lang="en-US" altLang="zh-TW" sz="1800" i="0" kern="10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p</m:t>
                          </m:r>
                        </m:sup>
                      </m:sSubSup>
                    </m:oMath>
                  </m:oMathPara>
                </a14:m>
                <a:endParaRPr lang="zh-TW" altLang="zh-TW" sz="1800" kern="100" dirty="0">
                  <a:solidFill>
                    <a:schemeClr val="bg1"/>
                  </a:solidFill>
                  <a:effectLst/>
                  <a:latin typeface="Aptos" panose="020B0004020202020204" pitchFamily="34" charset="0"/>
                  <a:ea typeface="新細明體" panose="02020500000000000000" pitchFamily="18" charset="-120"/>
                  <a:cs typeface="Times New Roman" panose="02020603050405020304" pitchFamily="18" charset="0"/>
                </a:endParaRPr>
              </a:p>
            </p:txBody>
          </p:sp>
        </mc:Choice>
        <mc:Fallback xmlns="">
          <p:sp>
            <p:nvSpPr>
              <p:cNvPr id="69" name="文字方塊 68">
                <a:extLst>
                  <a:ext uri="{FF2B5EF4-FFF2-40B4-BE49-F238E27FC236}">
                    <a16:creationId xmlns:a16="http://schemas.microsoft.com/office/drawing/2014/main" id="{78FD3942-71F7-1216-A12C-FA20364E8331}"/>
                  </a:ext>
                </a:extLst>
              </p:cNvPr>
              <p:cNvSpPr txBox="1">
                <a:spLocks noRot="1" noChangeAspect="1" noMove="1" noResize="1" noEditPoints="1" noAdjustHandles="1" noChangeArrowheads="1" noChangeShapeType="1" noTextEdit="1"/>
              </p:cNvSpPr>
              <p:nvPr/>
            </p:nvSpPr>
            <p:spPr>
              <a:xfrm>
                <a:off x="982991" y="4546120"/>
                <a:ext cx="578498" cy="400366"/>
              </a:xfrm>
              <a:prstGeom prst="rect">
                <a:avLst/>
              </a:prstGeom>
              <a:blipFill>
                <a:blip r:embed="rId9"/>
                <a:stretch>
                  <a:fillRect b="-6250"/>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0" name="文字方塊 69">
                <a:extLst>
                  <a:ext uri="{FF2B5EF4-FFF2-40B4-BE49-F238E27FC236}">
                    <a16:creationId xmlns:a16="http://schemas.microsoft.com/office/drawing/2014/main" id="{E4DCA29F-767C-9CEC-7EDA-C0D15A31F100}"/>
                  </a:ext>
                </a:extLst>
              </p:cNvPr>
              <p:cNvSpPr txBox="1"/>
              <p:nvPr/>
            </p:nvSpPr>
            <p:spPr>
              <a:xfrm>
                <a:off x="957879" y="3982743"/>
                <a:ext cx="686909" cy="5015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zh-TW" altLang="zh-TW" sz="2400" i="1" kern="100" smtClean="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sz="2400" i="1" kern="100">
                              <a:latin typeface="Cambria Math" panose="02040503050406030204" pitchFamily="18" charset="0"/>
                              <a:ea typeface="新細明體" panose="02020500000000000000" pitchFamily="18" charset="-120"/>
                              <a:cs typeface="Times New Roman" panose="02020603050405020304" pitchFamily="18" charset="0"/>
                            </a:rPr>
                            <m:t>𝑄</m:t>
                          </m:r>
                        </m:e>
                        <m:sub>
                          <m:r>
                            <a:rPr lang="en-US" altLang="zh-TW" sz="2400" b="0" i="1" kern="100" smtClean="0">
                              <a:latin typeface="Cambria Math" panose="02040503050406030204" pitchFamily="18" charset="0"/>
                              <a:ea typeface="新細明體" panose="02020500000000000000" pitchFamily="18" charset="-120"/>
                              <a:cs typeface="Times New Roman" panose="02020603050405020304" pitchFamily="18" charset="0"/>
                            </a:rPr>
                            <m:t>𝑃</m:t>
                          </m:r>
                        </m:sub>
                        <m:sup/>
                      </m:sSubSup>
                    </m:oMath>
                  </m:oMathPara>
                </a14:m>
                <a:endParaRPr lang="zh-TW" altLang="en-US" sz="2400" dirty="0"/>
              </a:p>
            </p:txBody>
          </p:sp>
        </mc:Choice>
        <mc:Fallback>
          <p:sp>
            <p:nvSpPr>
              <p:cNvPr id="70" name="文字方塊 69">
                <a:extLst>
                  <a:ext uri="{FF2B5EF4-FFF2-40B4-BE49-F238E27FC236}">
                    <a16:creationId xmlns:a16="http://schemas.microsoft.com/office/drawing/2014/main" id="{E4DCA29F-767C-9CEC-7EDA-C0D15A31F100}"/>
                  </a:ext>
                </a:extLst>
              </p:cNvPr>
              <p:cNvSpPr txBox="1">
                <a:spLocks noRot="1" noChangeAspect="1" noMove="1" noResize="1" noEditPoints="1" noAdjustHandles="1" noChangeArrowheads="1" noChangeShapeType="1" noTextEdit="1"/>
              </p:cNvSpPr>
              <p:nvPr/>
            </p:nvSpPr>
            <p:spPr>
              <a:xfrm>
                <a:off x="957879" y="3982743"/>
                <a:ext cx="686909" cy="501548"/>
              </a:xfrm>
              <a:prstGeom prst="rect">
                <a:avLst/>
              </a:prstGeom>
              <a:blipFill>
                <a:blip r:embed="rId10"/>
                <a:stretch>
                  <a:fillRect b="-9756"/>
                </a:stretch>
              </a:blipFill>
            </p:spPr>
            <p:txBody>
              <a:bodyPr/>
              <a:lstStyle/>
              <a:p>
                <a:r>
                  <a:rPr lang="zh-TW" altLang="en-US">
                    <a:noFill/>
                  </a:rPr>
                  <a:t> </a:t>
                </a:r>
              </a:p>
            </p:txBody>
          </p:sp>
        </mc:Fallback>
      </mc:AlternateContent>
      <p:sp>
        <p:nvSpPr>
          <p:cNvPr id="71" name="文字方塊 70">
            <a:extLst>
              <a:ext uri="{FF2B5EF4-FFF2-40B4-BE49-F238E27FC236}">
                <a16:creationId xmlns:a16="http://schemas.microsoft.com/office/drawing/2014/main" id="{D15DAEDF-5A45-F900-33FD-AD43BD111163}"/>
              </a:ext>
            </a:extLst>
          </p:cNvPr>
          <p:cNvSpPr txBox="1"/>
          <p:nvPr/>
        </p:nvSpPr>
        <p:spPr>
          <a:xfrm>
            <a:off x="902168" y="6211701"/>
            <a:ext cx="805300" cy="369332"/>
          </a:xfrm>
          <a:prstGeom prst="rect">
            <a:avLst/>
          </a:prstGeom>
          <a:noFill/>
        </p:spPr>
        <p:txBody>
          <a:bodyPr wrap="square" rtlCol="0">
            <a:spAutoFit/>
          </a:bodyPr>
          <a:lstStyle/>
          <a:p>
            <a:r>
              <a:rPr kumimoji="1" lang="en-US" altLang="zh-TW" dirty="0"/>
              <a:t>N x </a:t>
            </a:r>
            <a:r>
              <a:rPr kumimoji="1" lang="en-US" altLang="zh-TW" dirty="0" err="1"/>
              <a:t>d</a:t>
            </a:r>
            <a:r>
              <a:rPr kumimoji="1" lang="en-US" altLang="zh-TW" baseline="-25000" dirty="0" err="1"/>
              <a:t>q</a:t>
            </a:r>
            <a:endParaRPr kumimoji="1" lang="zh-TW" altLang="en-US" baseline="-25000" dirty="0"/>
          </a:p>
        </p:txBody>
      </p:sp>
      <p:sp>
        <p:nvSpPr>
          <p:cNvPr id="72" name="圓角矩形 71">
            <a:extLst>
              <a:ext uri="{FF2B5EF4-FFF2-40B4-BE49-F238E27FC236}">
                <a16:creationId xmlns:a16="http://schemas.microsoft.com/office/drawing/2014/main" id="{11084660-9437-524B-25AB-7EF430888B74}"/>
              </a:ext>
            </a:extLst>
          </p:cNvPr>
          <p:cNvSpPr/>
          <p:nvPr/>
        </p:nvSpPr>
        <p:spPr>
          <a:xfrm rot="16200000">
            <a:off x="2509011" y="4790033"/>
            <a:ext cx="507439" cy="1103516"/>
          </a:xfrm>
          <a:prstGeom prst="round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000" baseline="-25000" dirty="0"/>
          </a:p>
        </p:txBody>
      </p:sp>
      <p:sp>
        <p:nvSpPr>
          <p:cNvPr id="73" name="文字方塊 72">
            <a:extLst>
              <a:ext uri="{FF2B5EF4-FFF2-40B4-BE49-F238E27FC236}">
                <a16:creationId xmlns:a16="http://schemas.microsoft.com/office/drawing/2014/main" id="{0EA9DDC8-7DC2-AFD0-8D0B-531589DCD3DB}"/>
              </a:ext>
            </a:extLst>
          </p:cNvPr>
          <p:cNvSpPr txBox="1"/>
          <p:nvPr/>
        </p:nvSpPr>
        <p:spPr>
          <a:xfrm>
            <a:off x="2580371" y="5148976"/>
            <a:ext cx="578498" cy="369332"/>
          </a:xfrm>
          <a:prstGeom prst="rect">
            <a:avLst/>
          </a:prstGeom>
          <a:noFill/>
        </p:spPr>
        <p:txBody>
          <a:bodyPr wrap="square" rtlCol="0">
            <a:spAutoFit/>
          </a:bodyPr>
          <a:lstStyle/>
          <a:p>
            <a:r>
              <a:rPr kumimoji="1" lang="en-US" altLang="zh-TW" sz="1800" dirty="0"/>
              <a:t>p</a:t>
            </a:r>
            <a:r>
              <a:rPr kumimoji="1" lang="en-US" altLang="zh-TW" sz="1800" baseline="-25000" dirty="0"/>
              <a:t>2</a:t>
            </a:r>
            <a:endParaRPr kumimoji="1" lang="zh-TW" altLang="en-US" sz="1800" baseline="-25000" dirty="0"/>
          </a:p>
        </p:txBody>
      </p:sp>
      <p:sp>
        <p:nvSpPr>
          <p:cNvPr id="74" name="圓角矩形 73">
            <a:extLst>
              <a:ext uri="{FF2B5EF4-FFF2-40B4-BE49-F238E27FC236}">
                <a16:creationId xmlns:a16="http://schemas.microsoft.com/office/drawing/2014/main" id="{3DD332C6-DE68-EC03-3171-07C5F3B1EB1F}"/>
              </a:ext>
            </a:extLst>
          </p:cNvPr>
          <p:cNvSpPr/>
          <p:nvPr/>
        </p:nvSpPr>
        <p:spPr>
          <a:xfrm rot="16200000">
            <a:off x="2507225" y="5379807"/>
            <a:ext cx="507439" cy="1103516"/>
          </a:xfrm>
          <a:prstGeom prst="round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000" baseline="-25000" dirty="0"/>
          </a:p>
        </p:txBody>
      </p:sp>
      <p:sp>
        <p:nvSpPr>
          <p:cNvPr id="75" name="文字方塊 74">
            <a:extLst>
              <a:ext uri="{FF2B5EF4-FFF2-40B4-BE49-F238E27FC236}">
                <a16:creationId xmlns:a16="http://schemas.microsoft.com/office/drawing/2014/main" id="{EB9E9DDC-E467-3949-0F0F-A79C8851F6EC}"/>
              </a:ext>
            </a:extLst>
          </p:cNvPr>
          <p:cNvSpPr txBox="1"/>
          <p:nvPr/>
        </p:nvSpPr>
        <p:spPr>
          <a:xfrm>
            <a:off x="2578585" y="5738750"/>
            <a:ext cx="578498" cy="369332"/>
          </a:xfrm>
          <a:prstGeom prst="rect">
            <a:avLst/>
          </a:prstGeom>
          <a:noFill/>
        </p:spPr>
        <p:txBody>
          <a:bodyPr wrap="square" rtlCol="0">
            <a:spAutoFit/>
          </a:bodyPr>
          <a:lstStyle/>
          <a:p>
            <a:r>
              <a:rPr kumimoji="1" lang="en-US" altLang="zh-TW" sz="1800" dirty="0"/>
              <a:t>p</a:t>
            </a:r>
            <a:r>
              <a:rPr kumimoji="1" lang="en-US" altLang="zh-TW" sz="1800" baseline="-25000" dirty="0"/>
              <a:t>3</a:t>
            </a:r>
            <a:endParaRPr kumimoji="1" lang="zh-TW" altLang="en-US" sz="1800" baseline="-25000" dirty="0"/>
          </a:p>
        </p:txBody>
      </p:sp>
      <p:sp>
        <p:nvSpPr>
          <p:cNvPr id="76" name="圓角矩形 75">
            <a:extLst>
              <a:ext uri="{FF2B5EF4-FFF2-40B4-BE49-F238E27FC236}">
                <a16:creationId xmlns:a16="http://schemas.microsoft.com/office/drawing/2014/main" id="{CBF060AA-9DF2-3A10-349F-E86C83A041E3}"/>
              </a:ext>
            </a:extLst>
          </p:cNvPr>
          <p:cNvSpPr/>
          <p:nvPr/>
        </p:nvSpPr>
        <p:spPr>
          <a:xfrm rot="16200000">
            <a:off x="2501989" y="4200258"/>
            <a:ext cx="507439" cy="1103516"/>
          </a:xfrm>
          <a:prstGeom prst="round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000" baseline="-25000" dirty="0"/>
          </a:p>
        </p:txBody>
      </p:sp>
      <p:sp>
        <p:nvSpPr>
          <p:cNvPr id="77" name="文字方塊 76">
            <a:extLst>
              <a:ext uri="{FF2B5EF4-FFF2-40B4-BE49-F238E27FC236}">
                <a16:creationId xmlns:a16="http://schemas.microsoft.com/office/drawing/2014/main" id="{75DF0769-9CC8-F60F-4E73-DE1DF502D8F4}"/>
              </a:ext>
            </a:extLst>
          </p:cNvPr>
          <p:cNvSpPr txBox="1"/>
          <p:nvPr/>
        </p:nvSpPr>
        <p:spPr>
          <a:xfrm>
            <a:off x="2573349" y="4559201"/>
            <a:ext cx="578498" cy="369332"/>
          </a:xfrm>
          <a:prstGeom prst="rect">
            <a:avLst/>
          </a:prstGeom>
          <a:noFill/>
        </p:spPr>
        <p:txBody>
          <a:bodyPr wrap="square" rtlCol="0">
            <a:spAutoFit/>
          </a:bodyPr>
          <a:lstStyle/>
          <a:p>
            <a:r>
              <a:rPr kumimoji="1" lang="en-US" altLang="zh-TW" sz="1800" dirty="0"/>
              <a:t>p</a:t>
            </a:r>
            <a:r>
              <a:rPr kumimoji="1" lang="en-US" altLang="zh-TW" sz="1800" baseline="-25000" dirty="0"/>
              <a:t>1</a:t>
            </a:r>
            <a:endParaRPr kumimoji="1" lang="zh-TW" altLang="en-US" sz="1800" baseline="-25000" dirty="0"/>
          </a:p>
        </p:txBody>
      </p:sp>
      <p:sp>
        <p:nvSpPr>
          <p:cNvPr id="78" name="文字方塊 77">
            <a:extLst>
              <a:ext uri="{FF2B5EF4-FFF2-40B4-BE49-F238E27FC236}">
                <a16:creationId xmlns:a16="http://schemas.microsoft.com/office/drawing/2014/main" id="{D225FC65-2E87-3272-3B0F-7787720ABDE3}"/>
              </a:ext>
            </a:extLst>
          </p:cNvPr>
          <p:cNvSpPr txBox="1"/>
          <p:nvPr/>
        </p:nvSpPr>
        <p:spPr>
          <a:xfrm>
            <a:off x="2230342" y="6211701"/>
            <a:ext cx="1151855" cy="369332"/>
          </a:xfrm>
          <a:prstGeom prst="rect">
            <a:avLst/>
          </a:prstGeom>
          <a:noFill/>
        </p:spPr>
        <p:txBody>
          <a:bodyPr wrap="square" rtlCol="0">
            <a:spAutoFit/>
          </a:bodyPr>
          <a:lstStyle/>
          <a:p>
            <a:r>
              <a:rPr kumimoji="1" lang="en-US" altLang="zh-TW" dirty="0"/>
              <a:t>N x </a:t>
            </a:r>
            <a:r>
              <a:rPr kumimoji="1" lang="en-US" altLang="zh-TW" dirty="0" err="1"/>
              <a:t>d</a:t>
            </a:r>
            <a:r>
              <a:rPr kumimoji="1" lang="en-US" altLang="zh-TW" baseline="-25000" dirty="0" err="1"/>
              <a:t>model</a:t>
            </a:r>
            <a:endParaRPr kumimoji="1" lang="zh-TW" altLang="en-US" baseline="-25000" dirty="0"/>
          </a:p>
        </p:txBody>
      </p:sp>
      <p:sp>
        <p:nvSpPr>
          <p:cNvPr id="79" name="圓角矩形 78">
            <a:extLst>
              <a:ext uri="{FF2B5EF4-FFF2-40B4-BE49-F238E27FC236}">
                <a16:creationId xmlns:a16="http://schemas.microsoft.com/office/drawing/2014/main" id="{1303EB8A-CA8F-2E1C-CEBD-A4707BC4FF56}"/>
              </a:ext>
            </a:extLst>
          </p:cNvPr>
          <p:cNvSpPr/>
          <p:nvPr/>
        </p:nvSpPr>
        <p:spPr>
          <a:xfrm rot="16200000">
            <a:off x="3391538" y="4483825"/>
            <a:ext cx="1732052" cy="1721804"/>
          </a:xfrm>
          <a:prstGeom prst="roundRect">
            <a:avLst/>
          </a:prstGeom>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000" baseline="-25000" dirty="0"/>
          </a:p>
        </p:txBody>
      </p:sp>
      <p:sp>
        <p:nvSpPr>
          <p:cNvPr id="80" name="文字方塊 79">
            <a:extLst>
              <a:ext uri="{FF2B5EF4-FFF2-40B4-BE49-F238E27FC236}">
                <a16:creationId xmlns:a16="http://schemas.microsoft.com/office/drawing/2014/main" id="{75F15CE5-1D2D-32C0-F6F5-1E883384EBFE}"/>
              </a:ext>
            </a:extLst>
          </p:cNvPr>
          <p:cNvSpPr txBox="1"/>
          <p:nvPr/>
        </p:nvSpPr>
        <p:spPr>
          <a:xfrm>
            <a:off x="3564746" y="6211701"/>
            <a:ext cx="1385635" cy="369332"/>
          </a:xfrm>
          <a:prstGeom prst="rect">
            <a:avLst/>
          </a:prstGeom>
          <a:noFill/>
        </p:spPr>
        <p:txBody>
          <a:bodyPr wrap="square" rtlCol="0">
            <a:spAutoFit/>
          </a:bodyPr>
          <a:lstStyle/>
          <a:p>
            <a:pPr algn="ctr"/>
            <a:r>
              <a:rPr kumimoji="1" lang="en-US" altLang="zh-TW" dirty="0" err="1"/>
              <a:t>d</a:t>
            </a:r>
            <a:r>
              <a:rPr kumimoji="1" lang="en-US" altLang="zh-TW" baseline="-25000" dirty="0" err="1"/>
              <a:t>model</a:t>
            </a:r>
            <a:r>
              <a:rPr kumimoji="1" lang="en-US" altLang="zh-TW" dirty="0"/>
              <a:t> x </a:t>
            </a:r>
            <a:r>
              <a:rPr kumimoji="1" lang="en-US" altLang="zh-TW" dirty="0" err="1"/>
              <a:t>d</a:t>
            </a:r>
            <a:r>
              <a:rPr kumimoji="1" lang="en-US" altLang="zh-TW" baseline="-25000" dirty="0" err="1"/>
              <a:t>q</a:t>
            </a:r>
            <a:endParaRPr kumimoji="1" lang="zh-TW" altLang="en-US" baseline="-25000" dirty="0"/>
          </a:p>
        </p:txBody>
      </p:sp>
      <p:sp>
        <p:nvSpPr>
          <p:cNvPr id="81" name="文字方塊 80">
            <a:extLst>
              <a:ext uri="{FF2B5EF4-FFF2-40B4-BE49-F238E27FC236}">
                <a16:creationId xmlns:a16="http://schemas.microsoft.com/office/drawing/2014/main" id="{076E23F8-D0E8-819E-39BE-EB6F97172B4A}"/>
              </a:ext>
            </a:extLst>
          </p:cNvPr>
          <p:cNvSpPr txBox="1"/>
          <p:nvPr/>
        </p:nvSpPr>
        <p:spPr>
          <a:xfrm>
            <a:off x="3827114" y="5110957"/>
            <a:ext cx="912378" cy="461665"/>
          </a:xfrm>
          <a:prstGeom prst="rect">
            <a:avLst/>
          </a:prstGeom>
          <a:noFill/>
        </p:spPr>
        <p:txBody>
          <a:bodyPr wrap="square" rtlCol="0">
            <a:spAutoFit/>
          </a:bodyPr>
          <a:lstStyle/>
          <a:p>
            <a:r>
              <a:rPr kumimoji="1" lang="en-US" altLang="zh-TW" sz="2400" dirty="0" err="1">
                <a:solidFill>
                  <a:schemeClr val="bg1"/>
                </a:solidFill>
              </a:rPr>
              <a:t>W</a:t>
            </a:r>
            <a:r>
              <a:rPr kumimoji="1" lang="en-US" altLang="zh-TW" sz="2400" baseline="-25000" dirty="0" err="1">
                <a:solidFill>
                  <a:schemeClr val="bg1"/>
                </a:solidFill>
              </a:rPr>
              <a:t>Q,p</a:t>
            </a:r>
            <a:endParaRPr kumimoji="1" lang="zh-TW" altLang="en-US" sz="2400" baseline="-25000" dirty="0">
              <a:solidFill>
                <a:schemeClr val="bg1"/>
              </a:solidFill>
            </a:endParaRPr>
          </a:p>
        </p:txBody>
      </p:sp>
      <p:sp>
        <p:nvSpPr>
          <p:cNvPr id="82" name="文字方塊 81">
            <a:extLst>
              <a:ext uri="{FF2B5EF4-FFF2-40B4-BE49-F238E27FC236}">
                <a16:creationId xmlns:a16="http://schemas.microsoft.com/office/drawing/2014/main" id="{F52570F5-5F28-D14A-7554-E85006A43FA9}"/>
              </a:ext>
            </a:extLst>
          </p:cNvPr>
          <p:cNvSpPr txBox="1"/>
          <p:nvPr/>
        </p:nvSpPr>
        <p:spPr>
          <a:xfrm>
            <a:off x="1773427" y="5005735"/>
            <a:ext cx="509155" cy="646331"/>
          </a:xfrm>
          <a:prstGeom prst="rect">
            <a:avLst/>
          </a:prstGeom>
          <a:noFill/>
        </p:spPr>
        <p:txBody>
          <a:bodyPr wrap="square" rtlCol="0">
            <a:spAutoFit/>
          </a:bodyPr>
          <a:lstStyle/>
          <a:p>
            <a:pPr algn="ctr"/>
            <a:r>
              <a:rPr kumimoji="1" lang="en-US" altLang="zh-TW" sz="3600" b="1" dirty="0"/>
              <a:t>=</a:t>
            </a:r>
            <a:endParaRPr kumimoji="1" lang="zh-TW" altLang="en-US" sz="3600" b="1" dirty="0"/>
          </a:p>
        </p:txBody>
      </p:sp>
      <mc:AlternateContent xmlns:mc="http://schemas.openxmlformats.org/markup-compatibility/2006" xmlns:a14="http://schemas.microsoft.com/office/drawing/2010/main">
        <mc:Choice Requires="a14">
          <p:sp>
            <p:nvSpPr>
              <p:cNvPr id="83" name="文字方塊 82">
                <a:extLst>
                  <a:ext uri="{FF2B5EF4-FFF2-40B4-BE49-F238E27FC236}">
                    <a16:creationId xmlns:a16="http://schemas.microsoft.com/office/drawing/2014/main" id="{EFB9526E-D085-8C8E-E5B9-5EB81D59B54E}"/>
                  </a:ext>
                </a:extLst>
              </p:cNvPr>
              <p:cNvSpPr txBox="1"/>
              <p:nvPr/>
            </p:nvSpPr>
            <p:spPr>
              <a:xfrm>
                <a:off x="982991" y="5725669"/>
                <a:ext cx="578498" cy="4020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zh-TW" altLang="zh-TW" sz="1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TW" sz="1800" i="0" kern="10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q</m:t>
                          </m:r>
                        </m:e>
                        <m:sub>
                          <m:r>
                            <a:rPr lang="en-US" altLang="zh-TW" sz="18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3</m:t>
                          </m:r>
                        </m:sub>
                        <m:sup>
                          <m:r>
                            <m:rPr>
                              <m:sty m:val="p"/>
                            </m:rPr>
                            <a:rPr lang="en-US" altLang="zh-TW" sz="1800" i="0" kern="10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p</m:t>
                          </m:r>
                        </m:sup>
                      </m:sSubSup>
                    </m:oMath>
                  </m:oMathPara>
                </a14:m>
                <a:endParaRPr kumimoji="1" lang="zh-TW" altLang="en-US" sz="1800" baseline="-25000" dirty="0">
                  <a:solidFill>
                    <a:schemeClr val="bg1"/>
                  </a:solidFill>
                </a:endParaRPr>
              </a:p>
            </p:txBody>
          </p:sp>
        </mc:Choice>
        <mc:Fallback xmlns="">
          <p:sp>
            <p:nvSpPr>
              <p:cNvPr id="83" name="文字方塊 82">
                <a:extLst>
                  <a:ext uri="{FF2B5EF4-FFF2-40B4-BE49-F238E27FC236}">
                    <a16:creationId xmlns:a16="http://schemas.microsoft.com/office/drawing/2014/main" id="{EFB9526E-D085-8C8E-E5B9-5EB81D59B54E}"/>
                  </a:ext>
                </a:extLst>
              </p:cNvPr>
              <p:cNvSpPr txBox="1">
                <a:spLocks noRot="1" noChangeAspect="1" noMove="1" noResize="1" noEditPoints="1" noAdjustHandles="1" noChangeArrowheads="1" noChangeShapeType="1" noTextEdit="1"/>
              </p:cNvSpPr>
              <p:nvPr/>
            </p:nvSpPr>
            <p:spPr>
              <a:xfrm>
                <a:off x="982991" y="5725669"/>
                <a:ext cx="578498" cy="402098"/>
              </a:xfrm>
              <a:prstGeom prst="rect">
                <a:avLst/>
              </a:prstGeom>
              <a:blipFill>
                <a:blip r:embed="rId11"/>
                <a:stretch>
                  <a:fillRect b="-606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4" name="文字方塊 83">
                <a:extLst>
                  <a:ext uri="{FF2B5EF4-FFF2-40B4-BE49-F238E27FC236}">
                    <a16:creationId xmlns:a16="http://schemas.microsoft.com/office/drawing/2014/main" id="{5B9C0E1E-219C-492E-694B-04740EA7FCBE}"/>
                  </a:ext>
                </a:extLst>
              </p:cNvPr>
              <p:cNvSpPr txBox="1"/>
              <p:nvPr/>
            </p:nvSpPr>
            <p:spPr>
              <a:xfrm>
                <a:off x="993488" y="1928428"/>
                <a:ext cx="578498" cy="36535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zh-TW" altLang="zh-TW" sz="1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TW" sz="1800" i="0" kern="10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q</m:t>
                          </m:r>
                        </m:e>
                        <m:sub>
                          <m:r>
                            <a:rPr lang="en-US" altLang="zh-TW" sz="18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1</m:t>
                          </m:r>
                        </m:sub>
                        <m:sup>
                          <m:r>
                            <m:rPr>
                              <m:sty m:val="p"/>
                            </m:rPr>
                            <a:rPr lang="en-US" altLang="zh-TW" sz="18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c</m:t>
                          </m:r>
                        </m:sup>
                      </m:sSubSup>
                    </m:oMath>
                  </m:oMathPara>
                </a14:m>
                <a:endParaRPr kumimoji="1" lang="zh-TW" altLang="en-US" sz="1800" baseline="-25000" dirty="0">
                  <a:solidFill>
                    <a:schemeClr val="bg1"/>
                  </a:solidFill>
                </a:endParaRPr>
              </a:p>
            </p:txBody>
          </p:sp>
        </mc:Choice>
        <mc:Fallback xmlns="">
          <p:sp>
            <p:nvSpPr>
              <p:cNvPr id="84" name="文字方塊 83">
                <a:extLst>
                  <a:ext uri="{FF2B5EF4-FFF2-40B4-BE49-F238E27FC236}">
                    <a16:creationId xmlns:a16="http://schemas.microsoft.com/office/drawing/2014/main" id="{5B9C0E1E-219C-492E-694B-04740EA7FCBE}"/>
                  </a:ext>
                </a:extLst>
              </p:cNvPr>
              <p:cNvSpPr txBox="1">
                <a:spLocks noRot="1" noChangeAspect="1" noMove="1" noResize="1" noEditPoints="1" noAdjustHandles="1" noChangeArrowheads="1" noChangeShapeType="1" noTextEdit="1"/>
              </p:cNvSpPr>
              <p:nvPr/>
            </p:nvSpPr>
            <p:spPr>
              <a:xfrm>
                <a:off x="993488" y="1928428"/>
                <a:ext cx="578498" cy="365356"/>
              </a:xfrm>
              <a:prstGeom prst="rect">
                <a:avLst/>
              </a:prstGeom>
              <a:blipFill>
                <a:blip r:embed="rId12"/>
                <a:stretch>
                  <a:fillRect b="-1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5" name="文字方塊 84">
                <a:extLst>
                  <a:ext uri="{FF2B5EF4-FFF2-40B4-BE49-F238E27FC236}">
                    <a16:creationId xmlns:a16="http://schemas.microsoft.com/office/drawing/2014/main" id="{26CB4CB4-F015-DC20-9837-7812E212CCA5}"/>
                  </a:ext>
                </a:extLst>
              </p:cNvPr>
              <p:cNvSpPr txBox="1"/>
              <p:nvPr/>
            </p:nvSpPr>
            <p:spPr>
              <a:xfrm>
                <a:off x="982510" y="2505755"/>
                <a:ext cx="578498" cy="36535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zh-TW" altLang="zh-TW" sz="1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TW" sz="1800" i="0" kern="10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q</m:t>
                          </m:r>
                        </m:e>
                        <m:sub>
                          <m:r>
                            <a:rPr lang="en-US" altLang="zh-TW" sz="18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2</m:t>
                          </m:r>
                        </m:sub>
                        <m:sup>
                          <m:r>
                            <m:rPr>
                              <m:sty m:val="p"/>
                            </m:rPr>
                            <a:rPr lang="en-US" altLang="zh-TW" sz="18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c</m:t>
                          </m:r>
                        </m:sup>
                      </m:sSubSup>
                    </m:oMath>
                  </m:oMathPara>
                </a14:m>
                <a:endParaRPr kumimoji="1" lang="zh-TW" altLang="en-US" sz="1800" baseline="-25000" dirty="0">
                  <a:solidFill>
                    <a:schemeClr val="bg1"/>
                  </a:solidFill>
                </a:endParaRPr>
              </a:p>
            </p:txBody>
          </p:sp>
        </mc:Choice>
        <mc:Fallback xmlns="">
          <p:sp>
            <p:nvSpPr>
              <p:cNvPr id="85" name="文字方塊 84">
                <a:extLst>
                  <a:ext uri="{FF2B5EF4-FFF2-40B4-BE49-F238E27FC236}">
                    <a16:creationId xmlns:a16="http://schemas.microsoft.com/office/drawing/2014/main" id="{26CB4CB4-F015-DC20-9837-7812E212CCA5}"/>
                  </a:ext>
                </a:extLst>
              </p:cNvPr>
              <p:cNvSpPr txBox="1">
                <a:spLocks noRot="1" noChangeAspect="1" noMove="1" noResize="1" noEditPoints="1" noAdjustHandles="1" noChangeArrowheads="1" noChangeShapeType="1" noTextEdit="1"/>
              </p:cNvSpPr>
              <p:nvPr/>
            </p:nvSpPr>
            <p:spPr>
              <a:xfrm>
                <a:off x="982510" y="2505755"/>
                <a:ext cx="578498" cy="365356"/>
              </a:xfrm>
              <a:prstGeom prst="rect">
                <a:avLst/>
              </a:prstGeom>
              <a:blipFill>
                <a:blip r:embed="rId13"/>
                <a:stretch>
                  <a:fillRect b="-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6" name="文字方塊 85">
                <a:extLst>
                  <a:ext uri="{FF2B5EF4-FFF2-40B4-BE49-F238E27FC236}">
                    <a16:creationId xmlns:a16="http://schemas.microsoft.com/office/drawing/2014/main" id="{385C792E-D019-91FD-0971-D998D15CDD7E}"/>
                  </a:ext>
                </a:extLst>
              </p:cNvPr>
              <p:cNvSpPr txBox="1"/>
              <p:nvPr/>
            </p:nvSpPr>
            <p:spPr>
              <a:xfrm>
                <a:off x="976352" y="3110042"/>
                <a:ext cx="578498" cy="36535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zh-TW" altLang="zh-TW" sz="1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TW" sz="1800" i="0" kern="10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q</m:t>
                          </m:r>
                        </m:e>
                        <m:sub>
                          <m:r>
                            <a:rPr lang="en-US" altLang="zh-TW" sz="18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3</m:t>
                          </m:r>
                        </m:sub>
                        <m:sup>
                          <m:r>
                            <m:rPr>
                              <m:sty m:val="p"/>
                            </m:rPr>
                            <a:rPr lang="en-US" altLang="zh-TW" sz="18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c</m:t>
                          </m:r>
                        </m:sup>
                      </m:sSubSup>
                    </m:oMath>
                  </m:oMathPara>
                </a14:m>
                <a:endParaRPr kumimoji="1" lang="zh-TW" altLang="en-US" sz="1800" baseline="-25000" dirty="0">
                  <a:solidFill>
                    <a:schemeClr val="bg1"/>
                  </a:solidFill>
                </a:endParaRPr>
              </a:p>
            </p:txBody>
          </p:sp>
        </mc:Choice>
        <mc:Fallback xmlns="">
          <p:sp>
            <p:nvSpPr>
              <p:cNvPr id="86" name="文字方塊 85">
                <a:extLst>
                  <a:ext uri="{FF2B5EF4-FFF2-40B4-BE49-F238E27FC236}">
                    <a16:creationId xmlns:a16="http://schemas.microsoft.com/office/drawing/2014/main" id="{385C792E-D019-91FD-0971-D998D15CDD7E}"/>
                  </a:ext>
                </a:extLst>
              </p:cNvPr>
              <p:cNvSpPr txBox="1">
                <a:spLocks noRot="1" noChangeAspect="1" noMove="1" noResize="1" noEditPoints="1" noAdjustHandles="1" noChangeArrowheads="1" noChangeShapeType="1" noTextEdit="1"/>
              </p:cNvSpPr>
              <p:nvPr/>
            </p:nvSpPr>
            <p:spPr>
              <a:xfrm>
                <a:off x="976352" y="3110042"/>
                <a:ext cx="578498" cy="365356"/>
              </a:xfrm>
              <a:prstGeom prst="rect">
                <a:avLst/>
              </a:prstGeom>
              <a:blipFill>
                <a:blip r:embed="rId14"/>
                <a:stretch>
                  <a:fillRect b="-6667"/>
                </a:stretch>
              </a:blipFill>
            </p:spPr>
            <p:txBody>
              <a:bodyPr/>
              <a:lstStyle/>
              <a:p>
                <a:r>
                  <a:rPr lang="zh-TW" altLang="en-US">
                    <a:noFill/>
                  </a:rPr>
                  <a:t> </a:t>
                </a:r>
              </a:p>
            </p:txBody>
          </p:sp>
        </mc:Fallback>
      </mc:AlternateContent>
      <p:sp>
        <p:nvSpPr>
          <p:cNvPr id="105" name="圓角矩形 104">
            <a:extLst>
              <a:ext uri="{FF2B5EF4-FFF2-40B4-BE49-F238E27FC236}">
                <a16:creationId xmlns:a16="http://schemas.microsoft.com/office/drawing/2014/main" id="{925B71B8-5752-5FFD-21F0-268233C7EFCB}"/>
              </a:ext>
            </a:extLst>
          </p:cNvPr>
          <p:cNvSpPr/>
          <p:nvPr/>
        </p:nvSpPr>
        <p:spPr>
          <a:xfrm rot="16200000">
            <a:off x="8715952" y="4790033"/>
            <a:ext cx="507439" cy="1103516"/>
          </a:xfrm>
          <a:prstGeom prst="round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000" baseline="-25000" dirty="0"/>
          </a:p>
        </p:txBody>
      </p:sp>
      <p:sp>
        <p:nvSpPr>
          <p:cNvPr id="106" name="文字方塊 105">
            <a:extLst>
              <a:ext uri="{FF2B5EF4-FFF2-40B4-BE49-F238E27FC236}">
                <a16:creationId xmlns:a16="http://schemas.microsoft.com/office/drawing/2014/main" id="{10FCD2B4-3696-A252-4415-41CD62A777BE}"/>
              </a:ext>
            </a:extLst>
          </p:cNvPr>
          <p:cNvSpPr txBox="1"/>
          <p:nvPr/>
        </p:nvSpPr>
        <p:spPr>
          <a:xfrm>
            <a:off x="8787312" y="5148976"/>
            <a:ext cx="578498" cy="369332"/>
          </a:xfrm>
          <a:prstGeom prst="rect">
            <a:avLst/>
          </a:prstGeom>
          <a:noFill/>
        </p:spPr>
        <p:txBody>
          <a:bodyPr wrap="square" rtlCol="0">
            <a:spAutoFit/>
          </a:bodyPr>
          <a:lstStyle/>
          <a:p>
            <a:r>
              <a:rPr kumimoji="1" lang="en-US" altLang="zh-TW" sz="1800" dirty="0"/>
              <a:t>p</a:t>
            </a:r>
            <a:r>
              <a:rPr kumimoji="1" lang="en-US" altLang="zh-TW" sz="1800" baseline="-25000" dirty="0"/>
              <a:t>2</a:t>
            </a:r>
            <a:endParaRPr kumimoji="1" lang="zh-TW" altLang="en-US" sz="1800" baseline="-25000" dirty="0"/>
          </a:p>
        </p:txBody>
      </p:sp>
      <p:sp>
        <p:nvSpPr>
          <p:cNvPr id="107" name="圓角矩形 106">
            <a:extLst>
              <a:ext uri="{FF2B5EF4-FFF2-40B4-BE49-F238E27FC236}">
                <a16:creationId xmlns:a16="http://schemas.microsoft.com/office/drawing/2014/main" id="{08544724-2B2D-8742-69D7-B8006855E487}"/>
              </a:ext>
            </a:extLst>
          </p:cNvPr>
          <p:cNvSpPr/>
          <p:nvPr/>
        </p:nvSpPr>
        <p:spPr>
          <a:xfrm rot="16200000">
            <a:off x="8714166" y="5379807"/>
            <a:ext cx="507439" cy="1103516"/>
          </a:xfrm>
          <a:prstGeom prst="round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000" baseline="-25000" dirty="0"/>
          </a:p>
        </p:txBody>
      </p:sp>
      <p:sp>
        <p:nvSpPr>
          <p:cNvPr id="108" name="文字方塊 107">
            <a:extLst>
              <a:ext uri="{FF2B5EF4-FFF2-40B4-BE49-F238E27FC236}">
                <a16:creationId xmlns:a16="http://schemas.microsoft.com/office/drawing/2014/main" id="{D9C1B456-DB83-0C9E-F4AD-31370A3ED094}"/>
              </a:ext>
            </a:extLst>
          </p:cNvPr>
          <p:cNvSpPr txBox="1"/>
          <p:nvPr/>
        </p:nvSpPr>
        <p:spPr>
          <a:xfrm>
            <a:off x="8785526" y="5738750"/>
            <a:ext cx="578498" cy="369332"/>
          </a:xfrm>
          <a:prstGeom prst="rect">
            <a:avLst/>
          </a:prstGeom>
          <a:noFill/>
        </p:spPr>
        <p:txBody>
          <a:bodyPr wrap="square" rtlCol="0">
            <a:spAutoFit/>
          </a:bodyPr>
          <a:lstStyle/>
          <a:p>
            <a:r>
              <a:rPr kumimoji="1" lang="en-US" altLang="zh-TW" sz="1800" dirty="0"/>
              <a:t>p</a:t>
            </a:r>
            <a:r>
              <a:rPr kumimoji="1" lang="en-US" altLang="zh-TW" sz="1800" baseline="-25000" dirty="0"/>
              <a:t>3</a:t>
            </a:r>
            <a:endParaRPr kumimoji="1" lang="zh-TW" altLang="en-US" sz="1800" baseline="-25000" dirty="0"/>
          </a:p>
        </p:txBody>
      </p:sp>
      <p:sp>
        <p:nvSpPr>
          <p:cNvPr id="109" name="圓角矩形 108">
            <a:extLst>
              <a:ext uri="{FF2B5EF4-FFF2-40B4-BE49-F238E27FC236}">
                <a16:creationId xmlns:a16="http://schemas.microsoft.com/office/drawing/2014/main" id="{7FE45078-607E-CDDB-3AB0-653E00D762B4}"/>
              </a:ext>
            </a:extLst>
          </p:cNvPr>
          <p:cNvSpPr/>
          <p:nvPr/>
        </p:nvSpPr>
        <p:spPr>
          <a:xfrm rot="16200000">
            <a:off x="8708930" y="4200258"/>
            <a:ext cx="507439" cy="1103516"/>
          </a:xfrm>
          <a:prstGeom prst="round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000" baseline="-25000" dirty="0"/>
          </a:p>
        </p:txBody>
      </p:sp>
      <p:sp>
        <p:nvSpPr>
          <p:cNvPr id="110" name="文字方塊 109">
            <a:extLst>
              <a:ext uri="{FF2B5EF4-FFF2-40B4-BE49-F238E27FC236}">
                <a16:creationId xmlns:a16="http://schemas.microsoft.com/office/drawing/2014/main" id="{538C33CC-5AC4-F835-480D-F2B866803D78}"/>
              </a:ext>
            </a:extLst>
          </p:cNvPr>
          <p:cNvSpPr txBox="1"/>
          <p:nvPr/>
        </p:nvSpPr>
        <p:spPr>
          <a:xfrm>
            <a:off x="8780290" y="4559201"/>
            <a:ext cx="578498" cy="369332"/>
          </a:xfrm>
          <a:prstGeom prst="rect">
            <a:avLst/>
          </a:prstGeom>
          <a:noFill/>
        </p:spPr>
        <p:txBody>
          <a:bodyPr wrap="square" rtlCol="0">
            <a:spAutoFit/>
          </a:bodyPr>
          <a:lstStyle/>
          <a:p>
            <a:r>
              <a:rPr kumimoji="1" lang="en-US" altLang="zh-TW" sz="1800" dirty="0"/>
              <a:t>p</a:t>
            </a:r>
            <a:r>
              <a:rPr kumimoji="1" lang="en-US" altLang="zh-TW" sz="1800" baseline="-25000" dirty="0"/>
              <a:t>1</a:t>
            </a:r>
            <a:endParaRPr kumimoji="1" lang="zh-TW" altLang="en-US" sz="1800" baseline="-25000" dirty="0"/>
          </a:p>
        </p:txBody>
      </p:sp>
      <p:sp>
        <p:nvSpPr>
          <p:cNvPr id="111" name="文字方塊 110">
            <a:extLst>
              <a:ext uri="{FF2B5EF4-FFF2-40B4-BE49-F238E27FC236}">
                <a16:creationId xmlns:a16="http://schemas.microsoft.com/office/drawing/2014/main" id="{3701FFFF-F322-601D-98D7-B633DDBDF8AE}"/>
              </a:ext>
            </a:extLst>
          </p:cNvPr>
          <p:cNvSpPr txBox="1"/>
          <p:nvPr/>
        </p:nvSpPr>
        <p:spPr>
          <a:xfrm>
            <a:off x="8437283" y="6211701"/>
            <a:ext cx="1151855" cy="369332"/>
          </a:xfrm>
          <a:prstGeom prst="rect">
            <a:avLst/>
          </a:prstGeom>
          <a:noFill/>
        </p:spPr>
        <p:txBody>
          <a:bodyPr wrap="square" rtlCol="0">
            <a:spAutoFit/>
          </a:bodyPr>
          <a:lstStyle/>
          <a:p>
            <a:r>
              <a:rPr kumimoji="1" lang="en-US" altLang="zh-TW" dirty="0"/>
              <a:t>N x </a:t>
            </a:r>
            <a:r>
              <a:rPr kumimoji="1" lang="en-US" altLang="zh-TW" dirty="0" err="1"/>
              <a:t>d</a:t>
            </a:r>
            <a:r>
              <a:rPr kumimoji="1" lang="en-US" altLang="zh-TW" baseline="-25000" dirty="0" err="1"/>
              <a:t>model</a:t>
            </a:r>
            <a:endParaRPr kumimoji="1" lang="zh-TW" altLang="en-US" baseline="-25000" dirty="0"/>
          </a:p>
        </p:txBody>
      </p:sp>
      <p:sp>
        <p:nvSpPr>
          <p:cNvPr id="112" name="圓角矩形 111">
            <a:extLst>
              <a:ext uri="{FF2B5EF4-FFF2-40B4-BE49-F238E27FC236}">
                <a16:creationId xmlns:a16="http://schemas.microsoft.com/office/drawing/2014/main" id="{2CEB4685-4E90-AA4B-EEC8-286226DDDC6B}"/>
              </a:ext>
            </a:extLst>
          </p:cNvPr>
          <p:cNvSpPr/>
          <p:nvPr/>
        </p:nvSpPr>
        <p:spPr>
          <a:xfrm rot="16200000">
            <a:off x="9598479" y="4483825"/>
            <a:ext cx="1732052" cy="1721804"/>
          </a:xfrm>
          <a:prstGeom prst="roundRect">
            <a:avLst/>
          </a:prstGeom>
          <a:solidFill>
            <a:schemeClr val="accent6"/>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000" baseline="-25000" dirty="0"/>
          </a:p>
        </p:txBody>
      </p:sp>
      <p:sp>
        <p:nvSpPr>
          <p:cNvPr id="113" name="文字方塊 112">
            <a:extLst>
              <a:ext uri="{FF2B5EF4-FFF2-40B4-BE49-F238E27FC236}">
                <a16:creationId xmlns:a16="http://schemas.microsoft.com/office/drawing/2014/main" id="{DA1AAA23-3F28-8378-C79A-351B4F1658A0}"/>
              </a:ext>
            </a:extLst>
          </p:cNvPr>
          <p:cNvSpPr txBox="1"/>
          <p:nvPr/>
        </p:nvSpPr>
        <p:spPr>
          <a:xfrm>
            <a:off x="9771687" y="6211701"/>
            <a:ext cx="1385635" cy="369332"/>
          </a:xfrm>
          <a:prstGeom prst="rect">
            <a:avLst/>
          </a:prstGeom>
          <a:noFill/>
        </p:spPr>
        <p:txBody>
          <a:bodyPr wrap="square" rtlCol="0">
            <a:spAutoFit/>
          </a:bodyPr>
          <a:lstStyle/>
          <a:p>
            <a:pPr algn="ctr"/>
            <a:r>
              <a:rPr kumimoji="1" lang="en-US" altLang="zh-TW" dirty="0" err="1"/>
              <a:t>d</a:t>
            </a:r>
            <a:r>
              <a:rPr kumimoji="1" lang="en-US" altLang="zh-TW" baseline="-25000" dirty="0" err="1"/>
              <a:t>model</a:t>
            </a:r>
            <a:r>
              <a:rPr kumimoji="1" lang="en-US" altLang="zh-TW" dirty="0"/>
              <a:t> x </a:t>
            </a:r>
            <a:r>
              <a:rPr kumimoji="1" lang="en-US" altLang="zh-TW" dirty="0" err="1"/>
              <a:t>d</a:t>
            </a:r>
            <a:r>
              <a:rPr kumimoji="1" lang="en-US" altLang="zh-TW" baseline="-25000" dirty="0" err="1"/>
              <a:t>q</a:t>
            </a:r>
            <a:endParaRPr kumimoji="1" lang="zh-TW" altLang="en-US" baseline="-25000" dirty="0"/>
          </a:p>
        </p:txBody>
      </p:sp>
      <p:sp>
        <p:nvSpPr>
          <p:cNvPr id="114" name="文字方塊 113">
            <a:extLst>
              <a:ext uri="{FF2B5EF4-FFF2-40B4-BE49-F238E27FC236}">
                <a16:creationId xmlns:a16="http://schemas.microsoft.com/office/drawing/2014/main" id="{D780AA0B-54BF-3E79-0ED3-7CB6F56D4526}"/>
              </a:ext>
            </a:extLst>
          </p:cNvPr>
          <p:cNvSpPr txBox="1"/>
          <p:nvPr/>
        </p:nvSpPr>
        <p:spPr>
          <a:xfrm>
            <a:off x="10034055" y="5110957"/>
            <a:ext cx="912378" cy="461665"/>
          </a:xfrm>
          <a:prstGeom prst="rect">
            <a:avLst/>
          </a:prstGeom>
          <a:noFill/>
        </p:spPr>
        <p:txBody>
          <a:bodyPr wrap="square" rtlCol="0">
            <a:spAutoFit/>
          </a:bodyPr>
          <a:lstStyle/>
          <a:p>
            <a:r>
              <a:rPr kumimoji="1" lang="en-US" altLang="zh-TW" sz="2400" dirty="0" err="1">
                <a:solidFill>
                  <a:schemeClr val="bg1"/>
                </a:solidFill>
              </a:rPr>
              <a:t>W</a:t>
            </a:r>
            <a:r>
              <a:rPr kumimoji="1" lang="en-US" altLang="zh-TW" sz="2400" baseline="-25000" dirty="0" err="1">
                <a:solidFill>
                  <a:schemeClr val="bg1"/>
                </a:solidFill>
              </a:rPr>
              <a:t>K,p</a:t>
            </a:r>
            <a:endParaRPr kumimoji="1" lang="zh-TW" altLang="en-US" sz="2400" baseline="-25000" dirty="0">
              <a:solidFill>
                <a:schemeClr val="bg1"/>
              </a:solidFill>
            </a:endParaRPr>
          </a:p>
        </p:txBody>
      </p:sp>
      <p:sp>
        <p:nvSpPr>
          <p:cNvPr id="115" name="文字方塊 114">
            <a:extLst>
              <a:ext uri="{FF2B5EF4-FFF2-40B4-BE49-F238E27FC236}">
                <a16:creationId xmlns:a16="http://schemas.microsoft.com/office/drawing/2014/main" id="{94FDA12E-5A2D-1FE1-3A4E-97805C103AAB}"/>
              </a:ext>
            </a:extLst>
          </p:cNvPr>
          <p:cNvSpPr txBox="1"/>
          <p:nvPr/>
        </p:nvSpPr>
        <p:spPr>
          <a:xfrm>
            <a:off x="7477521" y="5005735"/>
            <a:ext cx="509155" cy="646331"/>
          </a:xfrm>
          <a:prstGeom prst="rect">
            <a:avLst/>
          </a:prstGeom>
          <a:noFill/>
        </p:spPr>
        <p:txBody>
          <a:bodyPr wrap="square" rtlCol="0">
            <a:spAutoFit/>
          </a:bodyPr>
          <a:lstStyle/>
          <a:p>
            <a:pPr algn="ctr"/>
            <a:r>
              <a:rPr kumimoji="1" lang="en-US" altLang="zh-TW" sz="3600" b="1" dirty="0"/>
              <a:t>=</a:t>
            </a:r>
            <a:endParaRPr kumimoji="1" lang="zh-TW" altLang="en-US" sz="3600" b="1" dirty="0"/>
          </a:p>
        </p:txBody>
      </p:sp>
      <mc:AlternateContent xmlns:mc="http://schemas.openxmlformats.org/markup-compatibility/2006" xmlns:a14="http://schemas.microsoft.com/office/drawing/2010/main">
        <mc:Choice Requires="a14">
          <p:sp>
            <p:nvSpPr>
              <p:cNvPr id="116" name="圓角矩形 115">
                <a:extLst>
                  <a:ext uri="{FF2B5EF4-FFF2-40B4-BE49-F238E27FC236}">
                    <a16:creationId xmlns:a16="http://schemas.microsoft.com/office/drawing/2014/main" id="{ABE7B7CB-1F51-ADE3-D438-90533852FD27}"/>
                  </a:ext>
                </a:extLst>
              </p:cNvPr>
              <p:cNvSpPr/>
              <p:nvPr/>
            </p:nvSpPr>
            <p:spPr>
              <a:xfrm>
                <a:off x="5818325" y="4724428"/>
                <a:ext cx="507439" cy="110351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zh-TW" altLang="zh-TW" sz="20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TW" sz="2000" b="0" i="0"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k</m:t>
                          </m:r>
                        </m:e>
                        <m:sub>
                          <m:r>
                            <a:rPr lang="en-US" altLang="zh-TW" sz="2000" i="0" kern="10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1</m:t>
                          </m:r>
                        </m:sub>
                        <m:sup>
                          <m:r>
                            <m:rPr>
                              <m:sty m:val="p"/>
                            </m:rPr>
                            <a:rPr lang="en-US" altLang="zh-TW" sz="2000" i="0" kern="10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p</m:t>
                          </m:r>
                        </m:sup>
                      </m:sSubSup>
                    </m:oMath>
                  </m:oMathPara>
                </a14:m>
                <a:endParaRPr kumimoji="1" lang="zh-TW" altLang="en-US" sz="2000" baseline="-25000" dirty="0"/>
              </a:p>
            </p:txBody>
          </p:sp>
        </mc:Choice>
        <mc:Fallback xmlns="">
          <p:sp>
            <p:nvSpPr>
              <p:cNvPr id="116" name="圓角矩形 115">
                <a:extLst>
                  <a:ext uri="{FF2B5EF4-FFF2-40B4-BE49-F238E27FC236}">
                    <a16:creationId xmlns:a16="http://schemas.microsoft.com/office/drawing/2014/main" id="{ABE7B7CB-1F51-ADE3-D438-90533852FD27}"/>
                  </a:ext>
                </a:extLst>
              </p:cNvPr>
              <p:cNvSpPr>
                <a:spLocks noRot="1" noChangeAspect="1" noMove="1" noResize="1" noEditPoints="1" noAdjustHandles="1" noChangeArrowheads="1" noChangeShapeType="1" noTextEdit="1"/>
              </p:cNvSpPr>
              <p:nvPr/>
            </p:nvSpPr>
            <p:spPr>
              <a:xfrm>
                <a:off x="5818325" y="4724428"/>
                <a:ext cx="507439" cy="1103516"/>
              </a:xfrm>
              <a:prstGeom prst="roundRect">
                <a:avLst/>
              </a:prstGeom>
              <a:blipFill>
                <a:blip r:embed="rId1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7" name="圓角矩形 116">
                <a:extLst>
                  <a:ext uri="{FF2B5EF4-FFF2-40B4-BE49-F238E27FC236}">
                    <a16:creationId xmlns:a16="http://schemas.microsoft.com/office/drawing/2014/main" id="{F99A68EB-792A-B791-E509-DECB799DBC33}"/>
                  </a:ext>
                </a:extLst>
              </p:cNvPr>
              <p:cNvSpPr/>
              <p:nvPr/>
            </p:nvSpPr>
            <p:spPr>
              <a:xfrm>
                <a:off x="6395802" y="4724428"/>
                <a:ext cx="507439" cy="110351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zh-TW" altLang="zh-TW" sz="20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TW" sz="20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k</m:t>
                          </m:r>
                        </m:e>
                        <m:sub>
                          <m:r>
                            <a:rPr lang="en-US" altLang="zh-TW" sz="20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2</m:t>
                          </m:r>
                        </m:sub>
                        <m:sup>
                          <m:r>
                            <m:rPr>
                              <m:sty m:val="p"/>
                            </m:rPr>
                            <a:rPr lang="en-US" altLang="zh-TW" sz="2000" i="0" kern="10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p</m:t>
                          </m:r>
                        </m:sup>
                      </m:sSubSup>
                    </m:oMath>
                  </m:oMathPara>
                </a14:m>
                <a:endParaRPr kumimoji="1" lang="zh-TW" altLang="en-US" sz="2000" baseline="-25000" dirty="0"/>
              </a:p>
            </p:txBody>
          </p:sp>
        </mc:Choice>
        <mc:Fallback xmlns="">
          <p:sp>
            <p:nvSpPr>
              <p:cNvPr id="117" name="圓角矩形 116">
                <a:extLst>
                  <a:ext uri="{FF2B5EF4-FFF2-40B4-BE49-F238E27FC236}">
                    <a16:creationId xmlns:a16="http://schemas.microsoft.com/office/drawing/2014/main" id="{F99A68EB-792A-B791-E509-DECB799DBC33}"/>
                  </a:ext>
                </a:extLst>
              </p:cNvPr>
              <p:cNvSpPr>
                <a:spLocks noRot="1" noChangeAspect="1" noMove="1" noResize="1" noEditPoints="1" noAdjustHandles="1" noChangeArrowheads="1" noChangeShapeType="1" noTextEdit="1"/>
              </p:cNvSpPr>
              <p:nvPr/>
            </p:nvSpPr>
            <p:spPr>
              <a:xfrm>
                <a:off x="6395802" y="4724428"/>
                <a:ext cx="507439" cy="1103516"/>
              </a:xfrm>
              <a:prstGeom prst="roundRect">
                <a:avLst/>
              </a:prstGeom>
              <a:blipFill>
                <a:blip r:embed="rId1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8" name="圓角矩形 117">
                <a:extLst>
                  <a:ext uri="{FF2B5EF4-FFF2-40B4-BE49-F238E27FC236}">
                    <a16:creationId xmlns:a16="http://schemas.microsoft.com/office/drawing/2014/main" id="{ADE75382-EFB6-5D18-5674-F705AA7D2C93}"/>
                  </a:ext>
                </a:extLst>
              </p:cNvPr>
              <p:cNvSpPr/>
              <p:nvPr/>
            </p:nvSpPr>
            <p:spPr>
              <a:xfrm>
                <a:off x="6977473" y="4724428"/>
                <a:ext cx="507439" cy="110351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zh-TW" altLang="zh-TW" sz="20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TW" sz="20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k</m:t>
                          </m:r>
                        </m:e>
                        <m:sub>
                          <m:r>
                            <a:rPr lang="en-US" altLang="zh-TW" sz="20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3</m:t>
                          </m:r>
                        </m:sub>
                        <m:sup>
                          <m:r>
                            <m:rPr>
                              <m:sty m:val="p"/>
                            </m:rPr>
                            <a:rPr lang="en-US" altLang="zh-TW" sz="2000" i="0" kern="10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p</m:t>
                          </m:r>
                        </m:sup>
                      </m:sSubSup>
                    </m:oMath>
                  </m:oMathPara>
                </a14:m>
                <a:endParaRPr kumimoji="1" lang="zh-TW" altLang="en-US" sz="2000" baseline="-25000" dirty="0"/>
              </a:p>
            </p:txBody>
          </p:sp>
        </mc:Choice>
        <mc:Fallback xmlns="">
          <p:sp>
            <p:nvSpPr>
              <p:cNvPr id="118" name="圓角矩形 117">
                <a:extLst>
                  <a:ext uri="{FF2B5EF4-FFF2-40B4-BE49-F238E27FC236}">
                    <a16:creationId xmlns:a16="http://schemas.microsoft.com/office/drawing/2014/main" id="{ADE75382-EFB6-5D18-5674-F705AA7D2C93}"/>
                  </a:ext>
                </a:extLst>
              </p:cNvPr>
              <p:cNvSpPr>
                <a:spLocks noRot="1" noChangeAspect="1" noMove="1" noResize="1" noEditPoints="1" noAdjustHandles="1" noChangeArrowheads="1" noChangeShapeType="1" noTextEdit="1"/>
              </p:cNvSpPr>
              <p:nvPr/>
            </p:nvSpPr>
            <p:spPr>
              <a:xfrm>
                <a:off x="6977473" y="4724428"/>
                <a:ext cx="507439" cy="1103516"/>
              </a:xfrm>
              <a:prstGeom prst="roundRect">
                <a:avLst/>
              </a:prstGeom>
              <a:blipFill>
                <a:blip r:embed="rId17"/>
                <a:stretch>
                  <a:fillRect/>
                </a:stretch>
              </a:blipFill>
            </p:spPr>
            <p:txBody>
              <a:bodyPr/>
              <a:lstStyle/>
              <a:p>
                <a:r>
                  <a:rPr lang="zh-TW" altLang="en-US">
                    <a:noFill/>
                  </a:rPr>
                  <a:t> </a:t>
                </a:r>
              </a:p>
            </p:txBody>
          </p:sp>
        </mc:Fallback>
      </mc:AlternateContent>
      <p:sp>
        <p:nvSpPr>
          <p:cNvPr id="138" name="文字方塊 137">
            <a:extLst>
              <a:ext uri="{FF2B5EF4-FFF2-40B4-BE49-F238E27FC236}">
                <a16:creationId xmlns:a16="http://schemas.microsoft.com/office/drawing/2014/main" id="{82DE0775-14EB-77B8-7727-A06EFB4E3AD4}"/>
              </a:ext>
            </a:extLst>
          </p:cNvPr>
          <p:cNvSpPr txBox="1"/>
          <p:nvPr/>
        </p:nvSpPr>
        <p:spPr>
          <a:xfrm>
            <a:off x="7770506" y="4076333"/>
            <a:ext cx="420438" cy="2215991"/>
          </a:xfrm>
          <a:prstGeom prst="rect">
            <a:avLst/>
          </a:prstGeom>
          <a:noFill/>
        </p:spPr>
        <p:txBody>
          <a:bodyPr wrap="square" rtlCol="0">
            <a:spAutoFit/>
          </a:bodyPr>
          <a:lstStyle/>
          <a:p>
            <a:r>
              <a:rPr kumimoji="1" lang="en-US" altLang="zh-TW" sz="13800" dirty="0"/>
              <a:t>(</a:t>
            </a:r>
            <a:endParaRPr kumimoji="1" lang="zh-TW" altLang="en-US" sz="13800" dirty="0"/>
          </a:p>
        </p:txBody>
      </p:sp>
      <p:sp>
        <p:nvSpPr>
          <p:cNvPr id="139" name="文字方塊 138">
            <a:extLst>
              <a:ext uri="{FF2B5EF4-FFF2-40B4-BE49-F238E27FC236}">
                <a16:creationId xmlns:a16="http://schemas.microsoft.com/office/drawing/2014/main" id="{646038E6-73D8-CF1B-56F3-E58C143F92C6}"/>
              </a:ext>
            </a:extLst>
          </p:cNvPr>
          <p:cNvSpPr txBox="1"/>
          <p:nvPr/>
        </p:nvSpPr>
        <p:spPr>
          <a:xfrm>
            <a:off x="11165038" y="4076332"/>
            <a:ext cx="420438" cy="2215991"/>
          </a:xfrm>
          <a:prstGeom prst="rect">
            <a:avLst/>
          </a:prstGeom>
          <a:noFill/>
        </p:spPr>
        <p:txBody>
          <a:bodyPr wrap="square" rtlCol="0">
            <a:spAutoFit/>
          </a:bodyPr>
          <a:lstStyle/>
          <a:p>
            <a:r>
              <a:rPr kumimoji="1" lang="en-US" altLang="zh-TW" sz="13800" dirty="0"/>
              <a:t>)</a:t>
            </a:r>
            <a:endParaRPr kumimoji="1" lang="zh-TW" altLang="en-US" sz="13800" dirty="0"/>
          </a:p>
        </p:txBody>
      </p:sp>
      <mc:AlternateContent xmlns:mc="http://schemas.openxmlformats.org/markup-compatibility/2006" xmlns:a14="http://schemas.microsoft.com/office/drawing/2010/main">
        <mc:Choice Requires="a14">
          <p:sp>
            <p:nvSpPr>
              <p:cNvPr id="140" name="文字方塊 139">
                <a:extLst>
                  <a:ext uri="{FF2B5EF4-FFF2-40B4-BE49-F238E27FC236}">
                    <a16:creationId xmlns:a16="http://schemas.microsoft.com/office/drawing/2014/main" id="{98959612-2845-7064-3F3E-C6DFC386AEB5}"/>
                  </a:ext>
                </a:extLst>
              </p:cNvPr>
              <p:cNvSpPr txBox="1"/>
              <p:nvPr/>
            </p:nvSpPr>
            <p:spPr>
              <a:xfrm>
                <a:off x="11389219" y="4365163"/>
                <a:ext cx="686909" cy="5132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𝑇</m:t>
                      </m:r>
                    </m:oMath>
                  </m:oMathPara>
                </a14:m>
                <a:endParaRPr lang="zh-TW" altLang="en-US" sz="2800" baseline="30000" dirty="0"/>
              </a:p>
            </p:txBody>
          </p:sp>
        </mc:Choice>
        <mc:Fallback xmlns="">
          <p:sp>
            <p:nvSpPr>
              <p:cNvPr id="140" name="文字方塊 139">
                <a:extLst>
                  <a:ext uri="{FF2B5EF4-FFF2-40B4-BE49-F238E27FC236}">
                    <a16:creationId xmlns:a16="http://schemas.microsoft.com/office/drawing/2014/main" id="{98959612-2845-7064-3F3E-C6DFC386AEB5}"/>
                  </a:ext>
                </a:extLst>
              </p:cNvPr>
              <p:cNvSpPr txBox="1">
                <a:spLocks noRot="1" noChangeAspect="1" noMove="1" noResize="1" noEditPoints="1" noAdjustHandles="1" noChangeArrowheads="1" noChangeShapeType="1" noTextEdit="1"/>
              </p:cNvSpPr>
              <p:nvPr/>
            </p:nvSpPr>
            <p:spPr>
              <a:xfrm>
                <a:off x="11389219" y="4365163"/>
                <a:ext cx="686909" cy="513282"/>
              </a:xfrm>
              <a:prstGeom prst="rect">
                <a:avLst/>
              </a:prstGeom>
              <a:blipFill>
                <a:blip r:embed="rId1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3" name="文字方塊 142">
                <a:extLst>
                  <a:ext uri="{FF2B5EF4-FFF2-40B4-BE49-F238E27FC236}">
                    <a16:creationId xmlns:a16="http://schemas.microsoft.com/office/drawing/2014/main" id="{C5F81CC9-1FF4-447B-76B2-1DEDBBF79E10}"/>
                  </a:ext>
                </a:extLst>
              </p:cNvPr>
              <p:cNvSpPr txBox="1"/>
              <p:nvPr/>
            </p:nvSpPr>
            <p:spPr>
              <a:xfrm>
                <a:off x="6366724" y="1376898"/>
                <a:ext cx="686909" cy="47153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zh-TW" altLang="zh-TW" sz="2400" i="1" kern="100" smtClean="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sz="2400" b="0" i="1" kern="100" smtClean="0">
                              <a:latin typeface="Cambria Math" panose="02040503050406030204" pitchFamily="18" charset="0"/>
                              <a:ea typeface="新細明體" panose="02020500000000000000" pitchFamily="18" charset="-120"/>
                              <a:cs typeface="Times New Roman" panose="02020603050405020304" pitchFamily="18" charset="0"/>
                            </a:rPr>
                            <m:t>𝐾</m:t>
                          </m:r>
                        </m:e>
                        <m:sub>
                          <m:r>
                            <a:rPr lang="en-US" altLang="zh-TW" sz="2400" b="0" i="1" kern="100" smtClean="0">
                              <a:latin typeface="Cambria Math" panose="02040503050406030204" pitchFamily="18" charset="0"/>
                              <a:ea typeface="新細明體" panose="02020500000000000000" pitchFamily="18" charset="-120"/>
                              <a:cs typeface="Times New Roman" panose="02020603050405020304" pitchFamily="18" charset="0"/>
                            </a:rPr>
                            <m:t>𝐶</m:t>
                          </m:r>
                        </m:sub>
                        <m:sup>
                          <m:r>
                            <a:rPr lang="en-US" altLang="zh-TW" sz="2400" b="0" i="1" kern="100" smtClean="0">
                              <a:latin typeface="Cambria Math" panose="02040503050406030204" pitchFamily="18" charset="0"/>
                              <a:ea typeface="新細明體" panose="02020500000000000000" pitchFamily="18" charset="-120"/>
                              <a:cs typeface="Times New Roman" panose="02020603050405020304" pitchFamily="18" charset="0"/>
                            </a:rPr>
                            <m:t>𝑇</m:t>
                          </m:r>
                        </m:sup>
                      </m:sSubSup>
                    </m:oMath>
                  </m:oMathPara>
                </a14:m>
                <a:endParaRPr lang="zh-TW" altLang="en-US" sz="2400" dirty="0">
                  <a:solidFill>
                    <a:schemeClr val="tx1"/>
                  </a:solidFill>
                </a:endParaRPr>
              </a:p>
            </p:txBody>
          </p:sp>
        </mc:Choice>
        <mc:Fallback xmlns="">
          <p:sp>
            <p:nvSpPr>
              <p:cNvPr id="143" name="文字方塊 142">
                <a:extLst>
                  <a:ext uri="{FF2B5EF4-FFF2-40B4-BE49-F238E27FC236}">
                    <a16:creationId xmlns:a16="http://schemas.microsoft.com/office/drawing/2014/main" id="{C5F81CC9-1FF4-447B-76B2-1DEDBBF79E10}"/>
                  </a:ext>
                </a:extLst>
              </p:cNvPr>
              <p:cNvSpPr txBox="1">
                <a:spLocks noRot="1" noChangeAspect="1" noMove="1" noResize="1" noEditPoints="1" noAdjustHandles="1" noChangeArrowheads="1" noChangeShapeType="1" noTextEdit="1"/>
              </p:cNvSpPr>
              <p:nvPr/>
            </p:nvSpPr>
            <p:spPr>
              <a:xfrm>
                <a:off x="6366724" y="1376898"/>
                <a:ext cx="686909" cy="471539"/>
              </a:xfrm>
              <a:prstGeom prst="rect">
                <a:avLst/>
              </a:prstGeom>
              <a:blipFill>
                <a:blip r:embed="rId19"/>
                <a:stretch>
                  <a:fillRect b="-526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4" name="文字方塊 143">
                <a:extLst>
                  <a:ext uri="{FF2B5EF4-FFF2-40B4-BE49-F238E27FC236}">
                    <a16:creationId xmlns:a16="http://schemas.microsoft.com/office/drawing/2014/main" id="{A29F1BCD-6F3A-A3B0-5B6A-1B010EB440D7}"/>
                  </a:ext>
                </a:extLst>
              </p:cNvPr>
              <p:cNvSpPr txBox="1"/>
              <p:nvPr/>
            </p:nvSpPr>
            <p:spPr>
              <a:xfrm>
                <a:off x="6366724" y="4040184"/>
                <a:ext cx="686909" cy="47153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zh-TW" altLang="zh-TW" sz="2400" i="1" kern="100" smtClean="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sz="2400" b="0" i="1" kern="100" smtClean="0">
                              <a:latin typeface="Cambria Math" panose="02040503050406030204" pitchFamily="18" charset="0"/>
                              <a:ea typeface="新細明體" panose="02020500000000000000" pitchFamily="18" charset="-120"/>
                              <a:cs typeface="Times New Roman" panose="02020603050405020304" pitchFamily="18" charset="0"/>
                            </a:rPr>
                            <m:t>𝐾</m:t>
                          </m:r>
                        </m:e>
                        <m:sub>
                          <m:r>
                            <a:rPr lang="en-US" altLang="zh-TW" sz="2400" b="0" i="1" kern="100" smtClean="0">
                              <a:latin typeface="Cambria Math" panose="02040503050406030204" pitchFamily="18" charset="0"/>
                              <a:ea typeface="新細明體" panose="02020500000000000000" pitchFamily="18" charset="-120"/>
                              <a:cs typeface="Times New Roman" panose="02020603050405020304" pitchFamily="18" charset="0"/>
                            </a:rPr>
                            <m:t>𝑃</m:t>
                          </m:r>
                        </m:sub>
                        <m:sup>
                          <m:r>
                            <a:rPr lang="en-US" altLang="zh-TW" sz="2400" b="0" i="1" kern="100" smtClean="0">
                              <a:latin typeface="Cambria Math" panose="02040503050406030204" pitchFamily="18" charset="0"/>
                              <a:ea typeface="新細明體" panose="02020500000000000000" pitchFamily="18" charset="-120"/>
                              <a:cs typeface="Times New Roman" panose="02020603050405020304" pitchFamily="18" charset="0"/>
                            </a:rPr>
                            <m:t>𝑇</m:t>
                          </m:r>
                        </m:sup>
                      </m:sSubSup>
                    </m:oMath>
                  </m:oMathPara>
                </a14:m>
                <a:endParaRPr lang="zh-TW" altLang="en-US" sz="2400" dirty="0">
                  <a:solidFill>
                    <a:schemeClr val="tx1"/>
                  </a:solidFill>
                </a:endParaRPr>
              </a:p>
            </p:txBody>
          </p:sp>
        </mc:Choice>
        <mc:Fallback xmlns="">
          <p:sp>
            <p:nvSpPr>
              <p:cNvPr id="144" name="文字方塊 143">
                <a:extLst>
                  <a:ext uri="{FF2B5EF4-FFF2-40B4-BE49-F238E27FC236}">
                    <a16:creationId xmlns:a16="http://schemas.microsoft.com/office/drawing/2014/main" id="{A29F1BCD-6F3A-A3B0-5B6A-1B010EB440D7}"/>
                  </a:ext>
                </a:extLst>
              </p:cNvPr>
              <p:cNvSpPr txBox="1">
                <a:spLocks noRot="1" noChangeAspect="1" noMove="1" noResize="1" noEditPoints="1" noAdjustHandles="1" noChangeArrowheads="1" noChangeShapeType="1" noTextEdit="1"/>
              </p:cNvSpPr>
              <p:nvPr/>
            </p:nvSpPr>
            <p:spPr>
              <a:xfrm>
                <a:off x="6366724" y="4040184"/>
                <a:ext cx="686909" cy="471539"/>
              </a:xfrm>
              <a:prstGeom prst="rect">
                <a:avLst/>
              </a:prstGeom>
              <a:blipFill>
                <a:blip r:embed="rId20"/>
                <a:stretch>
                  <a:fillRect b="-2632"/>
                </a:stretch>
              </a:blipFill>
            </p:spPr>
            <p:txBody>
              <a:bodyPr/>
              <a:lstStyle/>
              <a:p>
                <a:r>
                  <a:rPr lang="zh-TW" altLang="en-US">
                    <a:noFill/>
                  </a:rPr>
                  <a:t> </a:t>
                </a:r>
              </a:p>
            </p:txBody>
          </p:sp>
        </mc:Fallback>
      </mc:AlternateContent>
      <p:sp>
        <p:nvSpPr>
          <p:cNvPr id="3" name="文字方塊 2">
            <a:extLst>
              <a:ext uri="{FF2B5EF4-FFF2-40B4-BE49-F238E27FC236}">
                <a16:creationId xmlns:a16="http://schemas.microsoft.com/office/drawing/2014/main" id="{23047D8A-5F9C-AB95-AC90-21A12E32F0A1}"/>
              </a:ext>
            </a:extLst>
          </p:cNvPr>
          <p:cNvSpPr txBox="1"/>
          <p:nvPr/>
        </p:nvSpPr>
        <p:spPr>
          <a:xfrm>
            <a:off x="8869056" y="546569"/>
            <a:ext cx="2695529" cy="646331"/>
          </a:xfrm>
          <a:prstGeom prst="rect">
            <a:avLst/>
          </a:prstGeom>
          <a:noFill/>
        </p:spPr>
        <p:txBody>
          <a:bodyPr wrap="square" rtlCol="0">
            <a:spAutoFit/>
          </a:bodyPr>
          <a:lstStyle/>
          <a:p>
            <a:r>
              <a:rPr kumimoji="1" lang="en" altLang="zh-TW" sz="1200" dirty="0"/>
              <a:t>He, </a:t>
            </a:r>
            <a:r>
              <a:rPr kumimoji="1" lang="en" altLang="zh-TW" sz="1200" dirty="0" err="1"/>
              <a:t>Pengcheng</a:t>
            </a:r>
            <a:r>
              <a:rPr kumimoji="1" lang="en" altLang="zh-TW" sz="1200" dirty="0"/>
              <a:t>, et al. "</a:t>
            </a:r>
            <a:r>
              <a:rPr kumimoji="1" lang="en" altLang="zh-TW" sz="1200" dirty="0" err="1"/>
              <a:t>DeBERTa</a:t>
            </a:r>
            <a:r>
              <a:rPr kumimoji="1" lang="en" altLang="zh-TW" sz="1200" dirty="0"/>
              <a:t>: Decoding-enhanced BERT with Disentangled Attention." ICLR 2021.</a:t>
            </a:r>
            <a:endParaRPr kumimoji="1" lang="zh-TW" altLang="en-US" sz="1200" dirty="0"/>
          </a:p>
        </p:txBody>
      </p:sp>
    </p:spTree>
    <p:extLst>
      <p:ext uri="{BB962C8B-B14F-4D97-AF65-F5344CB8AC3E}">
        <p14:creationId xmlns:p14="http://schemas.microsoft.com/office/powerpoint/2010/main" val="297186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0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0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0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1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1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1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1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1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1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1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1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1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3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3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65" grpId="0"/>
      <p:bldP spid="66" grpId="0" animBg="1"/>
      <p:bldP spid="68" grpId="0" animBg="1"/>
      <p:bldP spid="69" grpId="0"/>
      <p:bldP spid="70" grpId="0"/>
      <p:bldP spid="71" grpId="0"/>
      <p:bldP spid="72" grpId="0" animBg="1"/>
      <p:bldP spid="73" grpId="0"/>
      <p:bldP spid="74" grpId="0" animBg="1"/>
      <p:bldP spid="75" grpId="0"/>
      <p:bldP spid="76" grpId="0" animBg="1"/>
      <p:bldP spid="77" grpId="0"/>
      <p:bldP spid="78" grpId="0"/>
      <p:bldP spid="79" grpId="0" animBg="1"/>
      <p:bldP spid="80" grpId="0"/>
      <p:bldP spid="81" grpId="0"/>
      <p:bldP spid="82" grpId="0"/>
      <p:bldP spid="83" grpId="0"/>
      <p:bldP spid="105" grpId="0" animBg="1"/>
      <p:bldP spid="106" grpId="0"/>
      <p:bldP spid="107" grpId="0" animBg="1"/>
      <p:bldP spid="108" grpId="0"/>
      <p:bldP spid="109" grpId="0" animBg="1"/>
      <p:bldP spid="110" grpId="0"/>
      <p:bldP spid="111" grpId="0"/>
      <p:bldP spid="112" grpId="0" animBg="1"/>
      <p:bldP spid="113" grpId="0"/>
      <p:bldP spid="114" grpId="0"/>
      <p:bldP spid="115" grpId="0"/>
      <p:bldP spid="116" grpId="0" animBg="1"/>
      <p:bldP spid="117" grpId="0" animBg="1"/>
      <p:bldP spid="118" grpId="0" animBg="1"/>
      <p:bldP spid="138" grpId="0"/>
      <p:bldP spid="139" grpId="0"/>
      <p:bldP spid="144"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EE1E35-7A33-5747-EF62-CCA0F972319F}"/>
              </a:ext>
            </a:extLst>
          </p:cNvPr>
          <p:cNvSpPr>
            <a:spLocks noGrp="1"/>
          </p:cNvSpPr>
          <p:nvPr>
            <p:ph type="title"/>
          </p:nvPr>
        </p:nvSpPr>
        <p:spPr/>
        <p:txBody>
          <a:bodyPr/>
          <a:lstStyle/>
          <a:p>
            <a:r>
              <a:rPr kumimoji="1" lang="en-US" altLang="zh-TW" dirty="0" err="1">
                <a:ea typeface="Microsoft JhengHei" panose="020B0604030504040204" pitchFamily="34" charset="-120"/>
              </a:rPr>
              <a:t>DeBERTa</a:t>
            </a:r>
            <a:r>
              <a:rPr kumimoji="1" lang="en-US" altLang="zh-TW" dirty="0">
                <a:ea typeface="Microsoft JhengHei" panose="020B0604030504040204" pitchFamily="34" charset="-120"/>
              </a:rPr>
              <a:t> Attention</a:t>
            </a:r>
            <a:endParaRPr kumimoji="1" lang="zh-TW" altLang="en-US" dirty="0"/>
          </a:p>
        </p:txBody>
      </p:sp>
      <p:sp>
        <p:nvSpPr>
          <p:cNvPr id="4" name="投影片編號版面配置區 3">
            <a:extLst>
              <a:ext uri="{FF2B5EF4-FFF2-40B4-BE49-F238E27FC236}">
                <a16:creationId xmlns:a16="http://schemas.microsoft.com/office/drawing/2014/main" id="{2DC9FB23-A8DA-09FA-3993-FCD6498C2D5A}"/>
              </a:ext>
            </a:extLst>
          </p:cNvPr>
          <p:cNvSpPr>
            <a:spLocks noGrp="1"/>
          </p:cNvSpPr>
          <p:nvPr>
            <p:ph type="sldNum" sz="quarter" idx="12"/>
          </p:nvPr>
        </p:nvSpPr>
        <p:spPr/>
        <p:txBody>
          <a:bodyPr/>
          <a:lstStyle/>
          <a:p>
            <a:fld id="{6113E31D-E2AB-40D1-8B51-AFA5AFEF393A}" type="slidenum">
              <a:rPr lang="en-US" smtClean="0"/>
              <a:pPr/>
              <a:t>54</a:t>
            </a:fld>
            <a:endParaRPr lang="en-US" dirty="0"/>
          </a:p>
        </p:txBody>
      </p:sp>
      <p:pic>
        <p:nvPicPr>
          <p:cNvPr id="5" name="圖片 4">
            <a:extLst>
              <a:ext uri="{FF2B5EF4-FFF2-40B4-BE49-F238E27FC236}">
                <a16:creationId xmlns:a16="http://schemas.microsoft.com/office/drawing/2014/main" id="{6BB730CD-E97A-A813-9E24-AAF618823020}"/>
              </a:ext>
            </a:extLst>
          </p:cNvPr>
          <p:cNvPicPr>
            <a:picLocks noChangeAspect="1"/>
          </p:cNvPicPr>
          <p:nvPr/>
        </p:nvPicPr>
        <p:blipFill>
          <a:blip r:embed="rId2"/>
          <a:stretch>
            <a:fillRect/>
          </a:stretch>
        </p:blipFill>
        <p:spPr>
          <a:xfrm>
            <a:off x="684461" y="1804151"/>
            <a:ext cx="4040956" cy="738348"/>
          </a:xfrm>
          <a:prstGeom prst="rect">
            <a:avLst/>
          </a:prstGeom>
        </p:spPr>
      </p:pic>
      <mc:AlternateContent xmlns:mc="http://schemas.openxmlformats.org/markup-compatibility/2006" xmlns:a14="http://schemas.microsoft.com/office/drawing/2010/main">
        <mc:Choice Requires="a14">
          <p:sp>
            <p:nvSpPr>
              <p:cNvPr id="7" name="圓角矩形 6">
                <a:extLst>
                  <a:ext uri="{FF2B5EF4-FFF2-40B4-BE49-F238E27FC236}">
                    <a16:creationId xmlns:a16="http://schemas.microsoft.com/office/drawing/2014/main" id="{9808D2D4-9997-A9AD-7D50-26C31877948F}"/>
                  </a:ext>
                </a:extLst>
              </p:cNvPr>
              <p:cNvSpPr/>
              <p:nvPr/>
            </p:nvSpPr>
            <p:spPr>
              <a:xfrm>
                <a:off x="3059288" y="3906692"/>
                <a:ext cx="507439" cy="110351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zh-TW" altLang="zh-TW" sz="20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TW" sz="2000" b="0" i="0"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k</m:t>
                          </m:r>
                        </m:e>
                        <m:sub>
                          <m:r>
                            <a:rPr lang="en-US" altLang="zh-TW" sz="2000" i="0" kern="10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1</m:t>
                          </m:r>
                        </m:sub>
                        <m:sup>
                          <m:r>
                            <m:rPr>
                              <m:sty m:val="p"/>
                            </m:rPr>
                            <a:rPr lang="en-US" altLang="zh-TW" sz="20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c</m:t>
                          </m:r>
                        </m:sup>
                      </m:sSubSup>
                    </m:oMath>
                  </m:oMathPara>
                </a14:m>
                <a:endParaRPr kumimoji="1" lang="zh-TW" altLang="en-US" sz="2000" baseline="-25000" dirty="0"/>
              </a:p>
            </p:txBody>
          </p:sp>
        </mc:Choice>
        <mc:Fallback xmlns="">
          <p:sp>
            <p:nvSpPr>
              <p:cNvPr id="7" name="圓角矩形 6">
                <a:extLst>
                  <a:ext uri="{FF2B5EF4-FFF2-40B4-BE49-F238E27FC236}">
                    <a16:creationId xmlns:a16="http://schemas.microsoft.com/office/drawing/2014/main" id="{9808D2D4-9997-A9AD-7D50-26C31877948F}"/>
                  </a:ext>
                </a:extLst>
              </p:cNvPr>
              <p:cNvSpPr>
                <a:spLocks noRot="1" noChangeAspect="1" noMove="1" noResize="1" noEditPoints="1" noAdjustHandles="1" noChangeArrowheads="1" noChangeShapeType="1" noTextEdit="1"/>
              </p:cNvSpPr>
              <p:nvPr/>
            </p:nvSpPr>
            <p:spPr>
              <a:xfrm>
                <a:off x="3059288" y="3906692"/>
                <a:ext cx="507439" cy="1103516"/>
              </a:xfrm>
              <a:prstGeom prst="round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圓角矩形 7">
                <a:extLst>
                  <a:ext uri="{FF2B5EF4-FFF2-40B4-BE49-F238E27FC236}">
                    <a16:creationId xmlns:a16="http://schemas.microsoft.com/office/drawing/2014/main" id="{110673F2-768E-CF94-C6B5-13A48BF3B698}"/>
                  </a:ext>
                </a:extLst>
              </p:cNvPr>
              <p:cNvSpPr/>
              <p:nvPr/>
            </p:nvSpPr>
            <p:spPr>
              <a:xfrm>
                <a:off x="3636765" y="3906692"/>
                <a:ext cx="507439" cy="110351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zh-TW" altLang="zh-TW" sz="20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TW" sz="20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k</m:t>
                          </m:r>
                        </m:e>
                        <m:sub>
                          <m:r>
                            <a:rPr lang="en-US" altLang="zh-TW" sz="20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2</m:t>
                          </m:r>
                        </m:sub>
                        <m:sup>
                          <m:r>
                            <m:rPr>
                              <m:sty m:val="p"/>
                            </m:rPr>
                            <a:rPr lang="en-US" altLang="zh-TW" sz="20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c</m:t>
                          </m:r>
                        </m:sup>
                      </m:sSubSup>
                    </m:oMath>
                  </m:oMathPara>
                </a14:m>
                <a:endParaRPr kumimoji="1" lang="zh-TW" altLang="en-US" sz="2000" baseline="-25000" dirty="0"/>
              </a:p>
            </p:txBody>
          </p:sp>
        </mc:Choice>
        <mc:Fallback xmlns="">
          <p:sp>
            <p:nvSpPr>
              <p:cNvPr id="8" name="圓角矩形 7">
                <a:extLst>
                  <a:ext uri="{FF2B5EF4-FFF2-40B4-BE49-F238E27FC236}">
                    <a16:creationId xmlns:a16="http://schemas.microsoft.com/office/drawing/2014/main" id="{110673F2-768E-CF94-C6B5-13A48BF3B698}"/>
                  </a:ext>
                </a:extLst>
              </p:cNvPr>
              <p:cNvSpPr>
                <a:spLocks noRot="1" noChangeAspect="1" noMove="1" noResize="1" noEditPoints="1" noAdjustHandles="1" noChangeArrowheads="1" noChangeShapeType="1" noTextEdit="1"/>
              </p:cNvSpPr>
              <p:nvPr/>
            </p:nvSpPr>
            <p:spPr>
              <a:xfrm>
                <a:off x="3636765" y="3906692"/>
                <a:ext cx="507439" cy="1103516"/>
              </a:xfrm>
              <a:prstGeom prst="round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圓角矩形 8">
                <a:extLst>
                  <a:ext uri="{FF2B5EF4-FFF2-40B4-BE49-F238E27FC236}">
                    <a16:creationId xmlns:a16="http://schemas.microsoft.com/office/drawing/2014/main" id="{33A91FD7-150F-765E-8FCB-93AFCE8340DC}"/>
                  </a:ext>
                </a:extLst>
              </p:cNvPr>
              <p:cNvSpPr/>
              <p:nvPr/>
            </p:nvSpPr>
            <p:spPr>
              <a:xfrm>
                <a:off x="4218436" y="3906692"/>
                <a:ext cx="507439" cy="110351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zh-TW" altLang="zh-TW" sz="20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TW" sz="20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k</m:t>
                          </m:r>
                        </m:e>
                        <m:sub>
                          <m:r>
                            <a:rPr lang="en-US" altLang="zh-TW" sz="20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3</m:t>
                          </m:r>
                        </m:sub>
                        <m:sup>
                          <m:r>
                            <m:rPr>
                              <m:sty m:val="p"/>
                            </m:rPr>
                            <a:rPr lang="en-US" altLang="zh-TW" sz="20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c</m:t>
                          </m:r>
                        </m:sup>
                      </m:sSubSup>
                    </m:oMath>
                  </m:oMathPara>
                </a14:m>
                <a:endParaRPr kumimoji="1" lang="zh-TW" altLang="en-US" sz="2000" baseline="-25000" dirty="0"/>
              </a:p>
            </p:txBody>
          </p:sp>
        </mc:Choice>
        <mc:Fallback xmlns="">
          <p:sp>
            <p:nvSpPr>
              <p:cNvPr id="9" name="圓角矩形 8">
                <a:extLst>
                  <a:ext uri="{FF2B5EF4-FFF2-40B4-BE49-F238E27FC236}">
                    <a16:creationId xmlns:a16="http://schemas.microsoft.com/office/drawing/2014/main" id="{33A91FD7-150F-765E-8FCB-93AFCE8340DC}"/>
                  </a:ext>
                </a:extLst>
              </p:cNvPr>
              <p:cNvSpPr>
                <a:spLocks noRot="1" noChangeAspect="1" noMove="1" noResize="1" noEditPoints="1" noAdjustHandles="1" noChangeArrowheads="1" noChangeShapeType="1" noTextEdit="1"/>
              </p:cNvSpPr>
              <p:nvPr/>
            </p:nvSpPr>
            <p:spPr>
              <a:xfrm>
                <a:off x="4218436" y="3906692"/>
                <a:ext cx="507439" cy="1103516"/>
              </a:xfrm>
              <a:prstGeom prst="roundRect">
                <a:avLst/>
              </a:prstGeom>
              <a:blipFill>
                <a:blip r:embed="rId5"/>
                <a:stretch>
                  <a:fillRect/>
                </a:stretch>
              </a:blipFill>
            </p:spPr>
            <p:txBody>
              <a:bodyPr/>
              <a:lstStyle/>
              <a:p>
                <a:r>
                  <a:rPr lang="zh-TW" altLang="en-US">
                    <a:noFill/>
                  </a:rPr>
                  <a:t> </a:t>
                </a:r>
              </a:p>
            </p:txBody>
          </p:sp>
        </mc:Fallback>
      </mc:AlternateContent>
      <p:sp>
        <p:nvSpPr>
          <p:cNvPr id="10" name="圓角矩形 9">
            <a:extLst>
              <a:ext uri="{FF2B5EF4-FFF2-40B4-BE49-F238E27FC236}">
                <a16:creationId xmlns:a16="http://schemas.microsoft.com/office/drawing/2014/main" id="{0F4DBB4D-0B27-E3A4-61A4-F7DED968F239}"/>
              </a:ext>
            </a:extLst>
          </p:cNvPr>
          <p:cNvSpPr/>
          <p:nvPr/>
        </p:nvSpPr>
        <p:spPr>
          <a:xfrm rot="16200000">
            <a:off x="2135851" y="3881349"/>
            <a:ext cx="507439" cy="11035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000" baseline="-25000" dirty="0"/>
          </a:p>
        </p:txBody>
      </p:sp>
      <p:sp>
        <p:nvSpPr>
          <p:cNvPr id="11" name="圓角矩形 10">
            <a:extLst>
              <a:ext uri="{FF2B5EF4-FFF2-40B4-BE49-F238E27FC236}">
                <a16:creationId xmlns:a16="http://schemas.microsoft.com/office/drawing/2014/main" id="{EC48A7E6-B081-896B-2C2A-295730EEECB8}"/>
              </a:ext>
            </a:extLst>
          </p:cNvPr>
          <p:cNvSpPr/>
          <p:nvPr/>
        </p:nvSpPr>
        <p:spPr>
          <a:xfrm rot="16200000">
            <a:off x="2134065" y="4471123"/>
            <a:ext cx="507439" cy="11035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000" baseline="-25000" dirty="0"/>
          </a:p>
        </p:txBody>
      </p:sp>
      <p:sp>
        <p:nvSpPr>
          <p:cNvPr id="12" name="圓角矩形 11">
            <a:extLst>
              <a:ext uri="{FF2B5EF4-FFF2-40B4-BE49-F238E27FC236}">
                <a16:creationId xmlns:a16="http://schemas.microsoft.com/office/drawing/2014/main" id="{2E57E2FF-0615-4A39-8CBC-66620EB1F7B5}"/>
              </a:ext>
            </a:extLst>
          </p:cNvPr>
          <p:cNvSpPr/>
          <p:nvPr/>
        </p:nvSpPr>
        <p:spPr>
          <a:xfrm rot="16200000">
            <a:off x="2128829" y="3291574"/>
            <a:ext cx="507439" cy="11035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000" baseline="-25000" dirty="0"/>
          </a:p>
        </p:txBody>
      </p:sp>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1956301C-2A4E-EC11-49BA-9585B2E7E590}"/>
                  </a:ext>
                </a:extLst>
              </p:cNvPr>
              <p:cNvSpPr txBox="1"/>
              <p:nvPr/>
            </p:nvSpPr>
            <p:spPr>
              <a:xfrm>
                <a:off x="2068187" y="3051776"/>
                <a:ext cx="686909" cy="50404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zh-TW" altLang="zh-TW" sz="2400" i="1" kern="100" smtClean="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sz="2400" i="1" kern="100">
                              <a:latin typeface="Cambria Math" panose="02040503050406030204" pitchFamily="18" charset="0"/>
                              <a:ea typeface="新細明體" panose="02020500000000000000" pitchFamily="18" charset="-120"/>
                              <a:cs typeface="Times New Roman" panose="02020603050405020304" pitchFamily="18" charset="0"/>
                            </a:rPr>
                            <m:t>𝑄</m:t>
                          </m:r>
                        </m:e>
                        <m:sub>
                          <m:r>
                            <a:rPr lang="en-US" altLang="zh-TW" sz="2400" b="0" i="1" kern="100" smtClean="0">
                              <a:latin typeface="Cambria Math" panose="02040503050406030204" pitchFamily="18" charset="0"/>
                              <a:ea typeface="新細明體" panose="02020500000000000000" pitchFamily="18" charset="-120"/>
                              <a:cs typeface="Times New Roman" panose="02020603050405020304" pitchFamily="18" charset="0"/>
                            </a:rPr>
                            <m:t>𝐶</m:t>
                          </m:r>
                        </m:sub>
                        <m:sup/>
                      </m:sSubSup>
                    </m:oMath>
                  </m:oMathPara>
                </a14:m>
                <a:endParaRPr lang="zh-TW" altLang="en-US" sz="2400" dirty="0">
                  <a:solidFill>
                    <a:schemeClr val="tx1"/>
                  </a:solidFill>
                </a:endParaRPr>
              </a:p>
            </p:txBody>
          </p:sp>
        </mc:Choice>
        <mc:Fallback xmlns="">
          <p:sp>
            <p:nvSpPr>
              <p:cNvPr id="13" name="文字方塊 12">
                <a:extLst>
                  <a:ext uri="{FF2B5EF4-FFF2-40B4-BE49-F238E27FC236}">
                    <a16:creationId xmlns:a16="http://schemas.microsoft.com/office/drawing/2014/main" id="{1956301C-2A4E-EC11-49BA-9585B2E7E590}"/>
                  </a:ext>
                </a:extLst>
              </p:cNvPr>
              <p:cNvSpPr txBox="1">
                <a:spLocks noRot="1" noChangeAspect="1" noMove="1" noResize="1" noEditPoints="1" noAdjustHandles="1" noChangeArrowheads="1" noChangeShapeType="1" noTextEdit="1"/>
              </p:cNvSpPr>
              <p:nvPr/>
            </p:nvSpPr>
            <p:spPr>
              <a:xfrm>
                <a:off x="2068187" y="3051776"/>
                <a:ext cx="686909" cy="504049"/>
              </a:xfrm>
              <a:prstGeom prst="rect">
                <a:avLst/>
              </a:prstGeom>
              <a:blipFill>
                <a:blip r:embed="rId6"/>
                <a:stretch>
                  <a:fillRect b="-125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90A55F65-41E0-0F54-F509-B69C13331FDD}"/>
                  </a:ext>
                </a:extLst>
              </p:cNvPr>
              <p:cNvSpPr txBox="1"/>
              <p:nvPr/>
            </p:nvSpPr>
            <p:spPr>
              <a:xfrm>
                <a:off x="2103795" y="3650441"/>
                <a:ext cx="578498" cy="36535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zh-TW" altLang="zh-TW" sz="1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TW" sz="1800" i="0" kern="10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q</m:t>
                          </m:r>
                        </m:e>
                        <m:sub>
                          <m:r>
                            <a:rPr lang="en-US" altLang="zh-TW" sz="18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1</m:t>
                          </m:r>
                        </m:sub>
                        <m:sup>
                          <m:r>
                            <m:rPr>
                              <m:sty m:val="p"/>
                            </m:rPr>
                            <a:rPr lang="en-US" altLang="zh-TW" sz="18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c</m:t>
                          </m:r>
                        </m:sup>
                      </m:sSubSup>
                    </m:oMath>
                  </m:oMathPara>
                </a14:m>
                <a:endParaRPr kumimoji="1" lang="zh-TW" altLang="en-US" sz="1800" baseline="-25000" dirty="0">
                  <a:solidFill>
                    <a:schemeClr val="bg1"/>
                  </a:solidFill>
                </a:endParaRPr>
              </a:p>
            </p:txBody>
          </p:sp>
        </mc:Choice>
        <mc:Fallback xmlns="">
          <p:sp>
            <p:nvSpPr>
              <p:cNvPr id="14" name="文字方塊 13">
                <a:extLst>
                  <a:ext uri="{FF2B5EF4-FFF2-40B4-BE49-F238E27FC236}">
                    <a16:creationId xmlns:a16="http://schemas.microsoft.com/office/drawing/2014/main" id="{90A55F65-41E0-0F54-F509-B69C13331FDD}"/>
                  </a:ext>
                </a:extLst>
              </p:cNvPr>
              <p:cNvSpPr txBox="1">
                <a:spLocks noRot="1" noChangeAspect="1" noMove="1" noResize="1" noEditPoints="1" noAdjustHandles="1" noChangeArrowheads="1" noChangeShapeType="1" noTextEdit="1"/>
              </p:cNvSpPr>
              <p:nvPr/>
            </p:nvSpPr>
            <p:spPr>
              <a:xfrm>
                <a:off x="2103795" y="3650441"/>
                <a:ext cx="578498" cy="365356"/>
              </a:xfrm>
              <a:prstGeom prst="rect">
                <a:avLst/>
              </a:prstGeom>
              <a:blipFill>
                <a:blip r:embed="rId7"/>
                <a:stretch>
                  <a:fillRect b="-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2772001A-C12C-599E-C721-EB70FF8830AB}"/>
                  </a:ext>
                </a:extLst>
              </p:cNvPr>
              <p:cNvSpPr txBox="1"/>
              <p:nvPr/>
            </p:nvSpPr>
            <p:spPr>
              <a:xfrm>
                <a:off x="2092817" y="4227768"/>
                <a:ext cx="578498" cy="36535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zh-TW" altLang="zh-TW" sz="1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TW" sz="1800" i="0" kern="10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q</m:t>
                          </m:r>
                        </m:e>
                        <m:sub>
                          <m:r>
                            <a:rPr lang="en-US" altLang="zh-TW" sz="18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2</m:t>
                          </m:r>
                        </m:sub>
                        <m:sup>
                          <m:r>
                            <m:rPr>
                              <m:sty m:val="p"/>
                            </m:rPr>
                            <a:rPr lang="en-US" altLang="zh-TW" sz="18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c</m:t>
                          </m:r>
                        </m:sup>
                      </m:sSubSup>
                    </m:oMath>
                  </m:oMathPara>
                </a14:m>
                <a:endParaRPr kumimoji="1" lang="zh-TW" altLang="en-US" sz="1800" baseline="-25000" dirty="0">
                  <a:solidFill>
                    <a:schemeClr val="bg1"/>
                  </a:solidFill>
                </a:endParaRPr>
              </a:p>
            </p:txBody>
          </p:sp>
        </mc:Choice>
        <mc:Fallback xmlns="">
          <p:sp>
            <p:nvSpPr>
              <p:cNvPr id="15" name="文字方塊 14">
                <a:extLst>
                  <a:ext uri="{FF2B5EF4-FFF2-40B4-BE49-F238E27FC236}">
                    <a16:creationId xmlns:a16="http://schemas.microsoft.com/office/drawing/2014/main" id="{2772001A-C12C-599E-C721-EB70FF8830AB}"/>
                  </a:ext>
                </a:extLst>
              </p:cNvPr>
              <p:cNvSpPr txBox="1">
                <a:spLocks noRot="1" noChangeAspect="1" noMove="1" noResize="1" noEditPoints="1" noAdjustHandles="1" noChangeArrowheads="1" noChangeShapeType="1" noTextEdit="1"/>
              </p:cNvSpPr>
              <p:nvPr/>
            </p:nvSpPr>
            <p:spPr>
              <a:xfrm>
                <a:off x="2092817" y="4227768"/>
                <a:ext cx="578498" cy="365356"/>
              </a:xfrm>
              <a:prstGeom prst="rect">
                <a:avLst/>
              </a:prstGeom>
              <a:blipFill>
                <a:blip r:embed="rId8"/>
                <a:stretch>
                  <a:fillRect b="-1034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A0384AEB-1F0F-72FE-14BB-21128C2AC5A7}"/>
                  </a:ext>
                </a:extLst>
              </p:cNvPr>
              <p:cNvSpPr txBox="1"/>
              <p:nvPr/>
            </p:nvSpPr>
            <p:spPr>
              <a:xfrm>
                <a:off x="2086659" y="4832055"/>
                <a:ext cx="578498" cy="36535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zh-TW" altLang="zh-TW" sz="1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TW" sz="1800" i="0" kern="10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q</m:t>
                          </m:r>
                        </m:e>
                        <m:sub>
                          <m:r>
                            <a:rPr lang="en-US" altLang="zh-TW" sz="18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3</m:t>
                          </m:r>
                        </m:sub>
                        <m:sup>
                          <m:r>
                            <m:rPr>
                              <m:sty m:val="p"/>
                            </m:rPr>
                            <a:rPr lang="en-US" altLang="zh-TW" sz="18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c</m:t>
                          </m:r>
                        </m:sup>
                      </m:sSubSup>
                    </m:oMath>
                  </m:oMathPara>
                </a14:m>
                <a:endParaRPr kumimoji="1" lang="zh-TW" altLang="en-US" sz="1800" baseline="-25000" dirty="0">
                  <a:solidFill>
                    <a:schemeClr val="bg1"/>
                  </a:solidFill>
                </a:endParaRPr>
              </a:p>
            </p:txBody>
          </p:sp>
        </mc:Choice>
        <mc:Fallback xmlns="">
          <p:sp>
            <p:nvSpPr>
              <p:cNvPr id="16" name="文字方塊 15">
                <a:extLst>
                  <a:ext uri="{FF2B5EF4-FFF2-40B4-BE49-F238E27FC236}">
                    <a16:creationId xmlns:a16="http://schemas.microsoft.com/office/drawing/2014/main" id="{A0384AEB-1F0F-72FE-14BB-21128C2AC5A7}"/>
                  </a:ext>
                </a:extLst>
              </p:cNvPr>
              <p:cNvSpPr txBox="1">
                <a:spLocks noRot="1" noChangeAspect="1" noMove="1" noResize="1" noEditPoints="1" noAdjustHandles="1" noChangeArrowheads="1" noChangeShapeType="1" noTextEdit="1"/>
              </p:cNvSpPr>
              <p:nvPr/>
            </p:nvSpPr>
            <p:spPr>
              <a:xfrm>
                <a:off x="2086659" y="4832055"/>
                <a:ext cx="578498" cy="365356"/>
              </a:xfrm>
              <a:prstGeom prst="rect">
                <a:avLst/>
              </a:prstGeom>
              <a:blipFill>
                <a:blip r:embed="rId9"/>
                <a:stretch>
                  <a:fillRect b="-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8B9FDEE7-893F-4D03-4D1D-CDF666921E3D}"/>
                  </a:ext>
                </a:extLst>
              </p:cNvPr>
              <p:cNvSpPr txBox="1"/>
              <p:nvPr/>
            </p:nvSpPr>
            <p:spPr>
              <a:xfrm>
                <a:off x="3609391" y="3098911"/>
                <a:ext cx="686909" cy="47153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zh-TW" altLang="zh-TW" sz="2400" i="1" kern="100" smtClean="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sz="2400" b="0" i="1" kern="100" smtClean="0">
                              <a:latin typeface="Cambria Math" panose="02040503050406030204" pitchFamily="18" charset="0"/>
                              <a:ea typeface="新細明體" panose="02020500000000000000" pitchFamily="18" charset="-120"/>
                              <a:cs typeface="Times New Roman" panose="02020603050405020304" pitchFamily="18" charset="0"/>
                            </a:rPr>
                            <m:t>𝐾</m:t>
                          </m:r>
                        </m:e>
                        <m:sub>
                          <m:r>
                            <a:rPr lang="en-US" altLang="zh-TW" sz="2400" b="0" i="1" kern="100" smtClean="0">
                              <a:latin typeface="Cambria Math" panose="02040503050406030204" pitchFamily="18" charset="0"/>
                              <a:ea typeface="新細明體" panose="02020500000000000000" pitchFamily="18" charset="-120"/>
                              <a:cs typeface="Times New Roman" panose="02020603050405020304" pitchFamily="18" charset="0"/>
                            </a:rPr>
                            <m:t>𝐶</m:t>
                          </m:r>
                        </m:sub>
                        <m:sup>
                          <m:r>
                            <a:rPr lang="en-US" altLang="zh-TW" sz="2400" b="0" i="1" kern="100" smtClean="0">
                              <a:latin typeface="Cambria Math" panose="02040503050406030204" pitchFamily="18" charset="0"/>
                              <a:ea typeface="新細明體" panose="02020500000000000000" pitchFamily="18" charset="-120"/>
                              <a:cs typeface="Times New Roman" panose="02020603050405020304" pitchFamily="18" charset="0"/>
                            </a:rPr>
                            <m:t>𝑇</m:t>
                          </m:r>
                        </m:sup>
                      </m:sSubSup>
                    </m:oMath>
                  </m:oMathPara>
                </a14:m>
                <a:endParaRPr lang="zh-TW" altLang="en-US" sz="2400" dirty="0">
                  <a:solidFill>
                    <a:schemeClr val="tx1"/>
                  </a:solidFill>
                </a:endParaRPr>
              </a:p>
            </p:txBody>
          </p:sp>
        </mc:Choice>
        <mc:Fallback xmlns="">
          <p:sp>
            <p:nvSpPr>
              <p:cNvPr id="17" name="文字方塊 16">
                <a:extLst>
                  <a:ext uri="{FF2B5EF4-FFF2-40B4-BE49-F238E27FC236}">
                    <a16:creationId xmlns:a16="http://schemas.microsoft.com/office/drawing/2014/main" id="{8B9FDEE7-893F-4D03-4D1D-CDF666921E3D}"/>
                  </a:ext>
                </a:extLst>
              </p:cNvPr>
              <p:cNvSpPr txBox="1">
                <a:spLocks noRot="1" noChangeAspect="1" noMove="1" noResize="1" noEditPoints="1" noAdjustHandles="1" noChangeArrowheads="1" noChangeShapeType="1" noTextEdit="1"/>
              </p:cNvSpPr>
              <p:nvPr/>
            </p:nvSpPr>
            <p:spPr>
              <a:xfrm>
                <a:off x="3609391" y="3098911"/>
                <a:ext cx="686909" cy="471539"/>
              </a:xfrm>
              <a:prstGeom prst="rect">
                <a:avLst/>
              </a:prstGeom>
              <a:blipFill>
                <a:blip r:embed="rId10"/>
                <a:stretch>
                  <a:fillRect b="-5128"/>
                </a:stretch>
              </a:blipFill>
            </p:spPr>
            <p:txBody>
              <a:bodyPr/>
              <a:lstStyle/>
              <a:p>
                <a:r>
                  <a:rPr lang="zh-TW" altLang="en-US">
                    <a:noFill/>
                  </a:rPr>
                  <a:t> </a:t>
                </a:r>
              </a:p>
            </p:txBody>
          </p:sp>
        </mc:Fallback>
      </mc:AlternateContent>
      <p:sp>
        <p:nvSpPr>
          <p:cNvPr id="61" name="圓角矩形 60">
            <a:extLst>
              <a:ext uri="{FF2B5EF4-FFF2-40B4-BE49-F238E27FC236}">
                <a16:creationId xmlns:a16="http://schemas.microsoft.com/office/drawing/2014/main" id="{8CEF4BFD-1E72-5D05-3262-3724E149C880}"/>
              </a:ext>
            </a:extLst>
          </p:cNvPr>
          <p:cNvSpPr/>
          <p:nvPr/>
        </p:nvSpPr>
        <p:spPr>
          <a:xfrm rot="16200000">
            <a:off x="5635370" y="3881350"/>
            <a:ext cx="507439" cy="11035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000" baseline="-25000" dirty="0"/>
          </a:p>
        </p:txBody>
      </p:sp>
      <p:sp>
        <p:nvSpPr>
          <p:cNvPr id="62" name="圓角矩形 61">
            <a:extLst>
              <a:ext uri="{FF2B5EF4-FFF2-40B4-BE49-F238E27FC236}">
                <a16:creationId xmlns:a16="http://schemas.microsoft.com/office/drawing/2014/main" id="{81780BA7-14CA-3CBD-DC7F-A8E122EA373D}"/>
              </a:ext>
            </a:extLst>
          </p:cNvPr>
          <p:cNvSpPr/>
          <p:nvPr/>
        </p:nvSpPr>
        <p:spPr>
          <a:xfrm rot="16200000">
            <a:off x="5633584" y="4471124"/>
            <a:ext cx="507439" cy="11035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000" baseline="-25000" dirty="0"/>
          </a:p>
        </p:txBody>
      </p:sp>
      <p:sp>
        <p:nvSpPr>
          <p:cNvPr id="63" name="圓角矩形 62">
            <a:extLst>
              <a:ext uri="{FF2B5EF4-FFF2-40B4-BE49-F238E27FC236}">
                <a16:creationId xmlns:a16="http://schemas.microsoft.com/office/drawing/2014/main" id="{32C66DD4-688B-B0BF-7A7F-FE8B902D63EE}"/>
              </a:ext>
            </a:extLst>
          </p:cNvPr>
          <p:cNvSpPr/>
          <p:nvPr/>
        </p:nvSpPr>
        <p:spPr>
          <a:xfrm rot="16200000">
            <a:off x="5628348" y="3291575"/>
            <a:ext cx="507439" cy="11035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000" baseline="-25000" dirty="0"/>
          </a:p>
        </p:txBody>
      </p:sp>
      <mc:AlternateContent xmlns:mc="http://schemas.openxmlformats.org/markup-compatibility/2006" xmlns:a14="http://schemas.microsoft.com/office/drawing/2010/main">
        <mc:Choice Requires="a14">
          <p:sp>
            <p:nvSpPr>
              <p:cNvPr id="64" name="文字方塊 63">
                <a:extLst>
                  <a:ext uri="{FF2B5EF4-FFF2-40B4-BE49-F238E27FC236}">
                    <a16:creationId xmlns:a16="http://schemas.microsoft.com/office/drawing/2014/main" id="{6F6DCFFA-97DA-CF05-0969-DBD8730ACCC8}"/>
                  </a:ext>
                </a:extLst>
              </p:cNvPr>
              <p:cNvSpPr txBox="1"/>
              <p:nvPr/>
            </p:nvSpPr>
            <p:spPr>
              <a:xfrm>
                <a:off x="5567706" y="3051776"/>
                <a:ext cx="686909" cy="50404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zh-TW" altLang="zh-TW" sz="2400" i="1" kern="100" smtClean="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sz="2400" i="1" kern="100">
                              <a:latin typeface="Cambria Math" panose="02040503050406030204" pitchFamily="18" charset="0"/>
                              <a:ea typeface="新細明體" panose="02020500000000000000" pitchFamily="18" charset="-120"/>
                              <a:cs typeface="Times New Roman" panose="02020603050405020304" pitchFamily="18" charset="0"/>
                            </a:rPr>
                            <m:t>𝑄</m:t>
                          </m:r>
                        </m:e>
                        <m:sub>
                          <m:r>
                            <a:rPr lang="en-US" altLang="zh-TW" sz="2400" b="0" i="1" kern="100" smtClean="0">
                              <a:latin typeface="Cambria Math" panose="02040503050406030204" pitchFamily="18" charset="0"/>
                              <a:ea typeface="新細明體" panose="02020500000000000000" pitchFamily="18" charset="-120"/>
                              <a:cs typeface="Times New Roman" panose="02020603050405020304" pitchFamily="18" charset="0"/>
                            </a:rPr>
                            <m:t>𝐶</m:t>
                          </m:r>
                        </m:sub>
                        <m:sup/>
                      </m:sSubSup>
                    </m:oMath>
                  </m:oMathPara>
                </a14:m>
                <a:endParaRPr lang="zh-TW" altLang="en-US" sz="2400" dirty="0">
                  <a:solidFill>
                    <a:schemeClr val="tx1"/>
                  </a:solidFill>
                </a:endParaRPr>
              </a:p>
            </p:txBody>
          </p:sp>
        </mc:Choice>
        <mc:Fallback xmlns="">
          <p:sp>
            <p:nvSpPr>
              <p:cNvPr id="64" name="文字方塊 63">
                <a:extLst>
                  <a:ext uri="{FF2B5EF4-FFF2-40B4-BE49-F238E27FC236}">
                    <a16:creationId xmlns:a16="http://schemas.microsoft.com/office/drawing/2014/main" id="{6F6DCFFA-97DA-CF05-0969-DBD8730ACCC8}"/>
                  </a:ext>
                </a:extLst>
              </p:cNvPr>
              <p:cNvSpPr txBox="1">
                <a:spLocks noRot="1" noChangeAspect="1" noMove="1" noResize="1" noEditPoints="1" noAdjustHandles="1" noChangeArrowheads="1" noChangeShapeType="1" noTextEdit="1"/>
              </p:cNvSpPr>
              <p:nvPr/>
            </p:nvSpPr>
            <p:spPr>
              <a:xfrm>
                <a:off x="5567706" y="3051776"/>
                <a:ext cx="686909" cy="504049"/>
              </a:xfrm>
              <a:prstGeom prst="rect">
                <a:avLst/>
              </a:prstGeom>
              <a:blipFill>
                <a:blip r:embed="rId11"/>
                <a:stretch>
                  <a:fillRect b="-125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5" name="文字方塊 64">
                <a:extLst>
                  <a:ext uri="{FF2B5EF4-FFF2-40B4-BE49-F238E27FC236}">
                    <a16:creationId xmlns:a16="http://schemas.microsoft.com/office/drawing/2014/main" id="{765F2ED0-3252-76BE-BB41-F7A739162E08}"/>
                  </a:ext>
                </a:extLst>
              </p:cNvPr>
              <p:cNvSpPr txBox="1"/>
              <p:nvPr/>
            </p:nvSpPr>
            <p:spPr>
              <a:xfrm>
                <a:off x="5603314" y="3650442"/>
                <a:ext cx="578498" cy="36535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zh-TW" altLang="zh-TW" sz="1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TW" sz="1800" i="0" kern="10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q</m:t>
                          </m:r>
                        </m:e>
                        <m:sub>
                          <m:r>
                            <a:rPr lang="en-US" altLang="zh-TW" sz="18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1</m:t>
                          </m:r>
                        </m:sub>
                        <m:sup>
                          <m:r>
                            <m:rPr>
                              <m:sty m:val="p"/>
                            </m:rPr>
                            <a:rPr lang="en-US" altLang="zh-TW" sz="18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c</m:t>
                          </m:r>
                        </m:sup>
                      </m:sSubSup>
                    </m:oMath>
                  </m:oMathPara>
                </a14:m>
                <a:endParaRPr kumimoji="1" lang="zh-TW" altLang="en-US" sz="1800" baseline="-25000" dirty="0">
                  <a:solidFill>
                    <a:schemeClr val="bg1"/>
                  </a:solidFill>
                </a:endParaRPr>
              </a:p>
            </p:txBody>
          </p:sp>
        </mc:Choice>
        <mc:Fallback xmlns="">
          <p:sp>
            <p:nvSpPr>
              <p:cNvPr id="65" name="文字方塊 64">
                <a:extLst>
                  <a:ext uri="{FF2B5EF4-FFF2-40B4-BE49-F238E27FC236}">
                    <a16:creationId xmlns:a16="http://schemas.microsoft.com/office/drawing/2014/main" id="{765F2ED0-3252-76BE-BB41-F7A739162E08}"/>
                  </a:ext>
                </a:extLst>
              </p:cNvPr>
              <p:cNvSpPr txBox="1">
                <a:spLocks noRot="1" noChangeAspect="1" noMove="1" noResize="1" noEditPoints="1" noAdjustHandles="1" noChangeArrowheads="1" noChangeShapeType="1" noTextEdit="1"/>
              </p:cNvSpPr>
              <p:nvPr/>
            </p:nvSpPr>
            <p:spPr>
              <a:xfrm>
                <a:off x="5603314" y="3650442"/>
                <a:ext cx="578498" cy="365356"/>
              </a:xfrm>
              <a:prstGeom prst="rect">
                <a:avLst/>
              </a:prstGeom>
              <a:blipFill>
                <a:blip r:embed="rId12"/>
                <a:stretch>
                  <a:fillRect b="-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6" name="文字方塊 65">
                <a:extLst>
                  <a:ext uri="{FF2B5EF4-FFF2-40B4-BE49-F238E27FC236}">
                    <a16:creationId xmlns:a16="http://schemas.microsoft.com/office/drawing/2014/main" id="{AE9A829D-5DF6-F39A-D8D5-8C8328CB6E35}"/>
                  </a:ext>
                </a:extLst>
              </p:cNvPr>
              <p:cNvSpPr txBox="1"/>
              <p:nvPr/>
            </p:nvSpPr>
            <p:spPr>
              <a:xfrm>
                <a:off x="5592336" y="4227769"/>
                <a:ext cx="578498" cy="36535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zh-TW" altLang="zh-TW" sz="1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TW" sz="1800" i="0" kern="10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q</m:t>
                          </m:r>
                        </m:e>
                        <m:sub>
                          <m:r>
                            <a:rPr lang="en-US" altLang="zh-TW" sz="18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2</m:t>
                          </m:r>
                        </m:sub>
                        <m:sup>
                          <m:r>
                            <m:rPr>
                              <m:sty m:val="p"/>
                            </m:rPr>
                            <a:rPr lang="en-US" altLang="zh-TW" sz="18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c</m:t>
                          </m:r>
                        </m:sup>
                      </m:sSubSup>
                    </m:oMath>
                  </m:oMathPara>
                </a14:m>
                <a:endParaRPr kumimoji="1" lang="zh-TW" altLang="en-US" sz="1800" baseline="-25000" dirty="0">
                  <a:solidFill>
                    <a:schemeClr val="bg1"/>
                  </a:solidFill>
                </a:endParaRPr>
              </a:p>
            </p:txBody>
          </p:sp>
        </mc:Choice>
        <mc:Fallback xmlns="">
          <p:sp>
            <p:nvSpPr>
              <p:cNvPr id="66" name="文字方塊 65">
                <a:extLst>
                  <a:ext uri="{FF2B5EF4-FFF2-40B4-BE49-F238E27FC236}">
                    <a16:creationId xmlns:a16="http://schemas.microsoft.com/office/drawing/2014/main" id="{AE9A829D-5DF6-F39A-D8D5-8C8328CB6E35}"/>
                  </a:ext>
                </a:extLst>
              </p:cNvPr>
              <p:cNvSpPr txBox="1">
                <a:spLocks noRot="1" noChangeAspect="1" noMove="1" noResize="1" noEditPoints="1" noAdjustHandles="1" noChangeArrowheads="1" noChangeShapeType="1" noTextEdit="1"/>
              </p:cNvSpPr>
              <p:nvPr/>
            </p:nvSpPr>
            <p:spPr>
              <a:xfrm>
                <a:off x="5592336" y="4227769"/>
                <a:ext cx="578498" cy="365356"/>
              </a:xfrm>
              <a:prstGeom prst="rect">
                <a:avLst/>
              </a:prstGeom>
              <a:blipFill>
                <a:blip r:embed="rId13"/>
                <a:stretch>
                  <a:fillRect b="-1034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7" name="文字方塊 66">
                <a:extLst>
                  <a:ext uri="{FF2B5EF4-FFF2-40B4-BE49-F238E27FC236}">
                    <a16:creationId xmlns:a16="http://schemas.microsoft.com/office/drawing/2014/main" id="{2474FC8B-C12C-1B2D-EFA0-D0A591781FC9}"/>
                  </a:ext>
                </a:extLst>
              </p:cNvPr>
              <p:cNvSpPr txBox="1"/>
              <p:nvPr/>
            </p:nvSpPr>
            <p:spPr>
              <a:xfrm>
                <a:off x="5586178" y="4832056"/>
                <a:ext cx="578498" cy="36535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zh-TW" altLang="zh-TW" sz="1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TW" sz="1800" i="0" kern="10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q</m:t>
                          </m:r>
                        </m:e>
                        <m:sub>
                          <m:r>
                            <a:rPr lang="en-US" altLang="zh-TW" sz="18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3</m:t>
                          </m:r>
                        </m:sub>
                        <m:sup>
                          <m:r>
                            <m:rPr>
                              <m:sty m:val="p"/>
                            </m:rPr>
                            <a:rPr lang="en-US" altLang="zh-TW" sz="18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c</m:t>
                          </m:r>
                        </m:sup>
                      </m:sSubSup>
                    </m:oMath>
                  </m:oMathPara>
                </a14:m>
                <a:endParaRPr kumimoji="1" lang="zh-TW" altLang="en-US" sz="1800" baseline="-25000" dirty="0">
                  <a:solidFill>
                    <a:schemeClr val="bg1"/>
                  </a:solidFill>
                </a:endParaRPr>
              </a:p>
            </p:txBody>
          </p:sp>
        </mc:Choice>
        <mc:Fallback xmlns="">
          <p:sp>
            <p:nvSpPr>
              <p:cNvPr id="67" name="文字方塊 66">
                <a:extLst>
                  <a:ext uri="{FF2B5EF4-FFF2-40B4-BE49-F238E27FC236}">
                    <a16:creationId xmlns:a16="http://schemas.microsoft.com/office/drawing/2014/main" id="{2474FC8B-C12C-1B2D-EFA0-D0A591781FC9}"/>
                  </a:ext>
                </a:extLst>
              </p:cNvPr>
              <p:cNvSpPr txBox="1">
                <a:spLocks noRot="1" noChangeAspect="1" noMove="1" noResize="1" noEditPoints="1" noAdjustHandles="1" noChangeArrowheads="1" noChangeShapeType="1" noTextEdit="1"/>
              </p:cNvSpPr>
              <p:nvPr/>
            </p:nvSpPr>
            <p:spPr>
              <a:xfrm>
                <a:off x="5586178" y="4832056"/>
                <a:ext cx="578498" cy="365356"/>
              </a:xfrm>
              <a:prstGeom prst="rect">
                <a:avLst/>
              </a:prstGeom>
              <a:blipFill>
                <a:blip r:embed="rId14"/>
                <a:stretch>
                  <a:fillRect b="-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8" name="圓角矩形 67">
                <a:extLst>
                  <a:ext uri="{FF2B5EF4-FFF2-40B4-BE49-F238E27FC236}">
                    <a16:creationId xmlns:a16="http://schemas.microsoft.com/office/drawing/2014/main" id="{CF15302E-93AC-2292-205D-17C1F1A1A7EF}"/>
                  </a:ext>
                </a:extLst>
              </p:cNvPr>
              <p:cNvSpPr/>
              <p:nvPr/>
            </p:nvSpPr>
            <p:spPr>
              <a:xfrm>
                <a:off x="6540206" y="3906692"/>
                <a:ext cx="507439" cy="110351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zh-TW" altLang="zh-TW" sz="20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TW" sz="2000" b="0" i="0"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k</m:t>
                          </m:r>
                        </m:e>
                        <m:sub>
                          <m:r>
                            <a:rPr lang="en-US" altLang="zh-TW" sz="2000" i="0" kern="10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1</m:t>
                          </m:r>
                        </m:sub>
                        <m:sup>
                          <m:r>
                            <m:rPr>
                              <m:sty m:val="p"/>
                            </m:rPr>
                            <a:rPr lang="en-US" altLang="zh-TW" sz="2000" i="0" kern="10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p</m:t>
                          </m:r>
                        </m:sup>
                      </m:sSubSup>
                    </m:oMath>
                  </m:oMathPara>
                </a14:m>
                <a:endParaRPr kumimoji="1" lang="zh-TW" altLang="en-US" sz="2000" baseline="-25000" dirty="0"/>
              </a:p>
            </p:txBody>
          </p:sp>
        </mc:Choice>
        <mc:Fallback xmlns="">
          <p:sp>
            <p:nvSpPr>
              <p:cNvPr id="68" name="圓角矩形 67">
                <a:extLst>
                  <a:ext uri="{FF2B5EF4-FFF2-40B4-BE49-F238E27FC236}">
                    <a16:creationId xmlns:a16="http://schemas.microsoft.com/office/drawing/2014/main" id="{CF15302E-93AC-2292-205D-17C1F1A1A7EF}"/>
                  </a:ext>
                </a:extLst>
              </p:cNvPr>
              <p:cNvSpPr>
                <a:spLocks noRot="1" noChangeAspect="1" noMove="1" noResize="1" noEditPoints="1" noAdjustHandles="1" noChangeArrowheads="1" noChangeShapeType="1" noTextEdit="1"/>
              </p:cNvSpPr>
              <p:nvPr/>
            </p:nvSpPr>
            <p:spPr>
              <a:xfrm>
                <a:off x="6540206" y="3906692"/>
                <a:ext cx="507439" cy="1103516"/>
              </a:xfrm>
              <a:prstGeom prst="roundRect">
                <a:avLst/>
              </a:prstGeom>
              <a:blipFill>
                <a:blip r:embed="rId1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9" name="圓角矩形 68">
                <a:extLst>
                  <a:ext uri="{FF2B5EF4-FFF2-40B4-BE49-F238E27FC236}">
                    <a16:creationId xmlns:a16="http://schemas.microsoft.com/office/drawing/2014/main" id="{B4410E09-40B1-017B-B720-C54DCDA218B2}"/>
                  </a:ext>
                </a:extLst>
              </p:cNvPr>
              <p:cNvSpPr/>
              <p:nvPr/>
            </p:nvSpPr>
            <p:spPr>
              <a:xfrm>
                <a:off x="7117683" y="3906692"/>
                <a:ext cx="507439" cy="110351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zh-TW" altLang="zh-TW" sz="20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TW" sz="20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k</m:t>
                          </m:r>
                        </m:e>
                        <m:sub>
                          <m:r>
                            <a:rPr lang="en-US" altLang="zh-TW" sz="20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2</m:t>
                          </m:r>
                        </m:sub>
                        <m:sup>
                          <m:r>
                            <m:rPr>
                              <m:sty m:val="p"/>
                            </m:rPr>
                            <a:rPr lang="en-US" altLang="zh-TW" sz="2000" i="0" kern="10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p</m:t>
                          </m:r>
                        </m:sup>
                      </m:sSubSup>
                    </m:oMath>
                  </m:oMathPara>
                </a14:m>
                <a:endParaRPr kumimoji="1" lang="zh-TW" altLang="en-US" sz="2000" baseline="-25000" dirty="0"/>
              </a:p>
            </p:txBody>
          </p:sp>
        </mc:Choice>
        <mc:Fallback xmlns="">
          <p:sp>
            <p:nvSpPr>
              <p:cNvPr id="69" name="圓角矩形 68">
                <a:extLst>
                  <a:ext uri="{FF2B5EF4-FFF2-40B4-BE49-F238E27FC236}">
                    <a16:creationId xmlns:a16="http://schemas.microsoft.com/office/drawing/2014/main" id="{B4410E09-40B1-017B-B720-C54DCDA218B2}"/>
                  </a:ext>
                </a:extLst>
              </p:cNvPr>
              <p:cNvSpPr>
                <a:spLocks noRot="1" noChangeAspect="1" noMove="1" noResize="1" noEditPoints="1" noAdjustHandles="1" noChangeArrowheads="1" noChangeShapeType="1" noTextEdit="1"/>
              </p:cNvSpPr>
              <p:nvPr/>
            </p:nvSpPr>
            <p:spPr>
              <a:xfrm>
                <a:off x="7117683" y="3906692"/>
                <a:ext cx="507439" cy="1103516"/>
              </a:xfrm>
              <a:prstGeom prst="roundRect">
                <a:avLst/>
              </a:prstGeom>
              <a:blipFill>
                <a:blip r:embed="rId16"/>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0" name="圓角矩形 69">
                <a:extLst>
                  <a:ext uri="{FF2B5EF4-FFF2-40B4-BE49-F238E27FC236}">
                    <a16:creationId xmlns:a16="http://schemas.microsoft.com/office/drawing/2014/main" id="{EC967B76-ED81-AB75-CAC4-0987BA3CB87B}"/>
                  </a:ext>
                </a:extLst>
              </p:cNvPr>
              <p:cNvSpPr/>
              <p:nvPr/>
            </p:nvSpPr>
            <p:spPr>
              <a:xfrm>
                <a:off x="7699354" y="3906692"/>
                <a:ext cx="507439" cy="110351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zh-TW" altLang="zh-TW" sz="20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TW" sz="20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k</m:t>
                          </m:r>
                        </m:e>
                        <m:sub>
                          <m:r>
                            <a:rPr lang="en-US" altLang="zh-TW" sz="20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3</m:t>
                          </m:r>
                        </m:sub>
                        <m:sup>
                          <m:r>
                            <m:rPr>
                              <m:sty m:val="p"/>
                            </m:rPr>
                            <a:rPr lang="en-US" altLang="zh-TW" sz="2000" i="0" kern="10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p</m:t>
                          </m:r>
                        </m:sup>
                      </m:sSubSup>
                    </m:oMath>
                  </m:oMathPara>
                </a14:m>
                <a:endParaRPr kumimoji="1" lang="zh-TW" altLang="en-US" sz="2000" baseline="-25000" dirty="0"/>
              </a:p>
            </p:txBody>
          </p:sp>
        </mc:Choice>
        <mc:Fallback>
          <p:sp>
            <p:nvSpPr>
              <p:cNvPr id="70" name="圓角矩形 69">
                <a:extLst>
                  <a:ext uri="{FF2B5EF4-FFF2-40B4-BE49-F238E27FC236}">
                    <a16:creationId xmlns:a16="http://schemas.microsoft.com/office/drawing/2014/main" id="{EC967B76-ED81-AB75-CAC4-0987BA3CB87B}"/>
                  </a:ext>
                </a:extLst>
              </p:cNvPr>
              <p:cNvSpPr>
                <a:spLocks noRot="1" noChangeAspect="1" noMove="1" noResize="1" noEditPoints="1" noAdjustHandles="1" noChangeArrowheads="1" noChangeShapeType="1" noTextEdit="1"/>
              </p:cNvSpPr>
              <p:nvPr/>
            </p:nvSpPr>
            <p:spPr>
              <a:xfrm>
                <a:off x="7699354" y="3906692"/>
                <a:ext cx="507439" cy="1103516"/>
              </a:xfrm>
              <a:prstGeom prst="roundRect">
                <a:avLst/>
              </a:prstGeom>
              <a:blipFill>
                <a:blip r:embed="rId1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1" name="文字方塊 70">
                <a:extLst>
                  <a:ext uri="{FF2B5EF4-FFF2-40B4-BE49-F238E27FC236}">
                    <a16:creationId xmlns:a16="http://schemas.microsoft.com/office/drawing/2014/main" id="{DFD3791B-9CA1-506C-6437-6C62B1B9AB85}"/>
                  </a:ext>
                </a:extLst>
              </p:cNvPr>
              <p:cNvSpPr txBox="1"/>
              <p:nvPr/>
            </p:nvSpPr>
            <p:spPr>
              <a:xfrm>
                <a:off x="7088605" y="3098911"/>
                <a:ext cx="686909" cy="47153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zh-TW" altLang="zh-TW" sz="2400" i="1" kern="100" smtClean="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sz="2400" b="0" i="1" kern="100" smtClean="0">
                              <a:latin typeface="Cambria Math" panose="02040503050406030204" pitchFamily="18" charset="0"/>
                              <a:ea typeface="新細明體" panose="02020500000000000000" pitchFamily="18" charset="-120"/>
                              <a:cs typeface="Times New Roman" panose="02020603050405020304" pitchFamily="18" charset="0"/>
                            </a:rPr>
                            <m:t>𝐾</m:t>
                          </m:r>
                        </m:e>
                        <m:sub>
                          <m:r>
                            <a:rPr lang="en-US" altLang="zh-TW" sz="2400" b="0" i="1" kern="100" smtClean="0">
                              <a:latin typeface="Cambria Math" panose="02040503050406030204" pitchFamily="18" charset="0"/>
                              <a:ea typeface="新細明體" panose="02020500000000000000" pitchFamily="18" charset="-120"/>
                              <a:cs typeface="Times New Roman" panose="02020603050405020304" pitchFamily="18" charset="0"/>
                            </a:rPr>
                            <m:t>𝑃</m:t>
                          </m:r>
                        </m:sub>
                        <m:sup>
                          <m:r>
                            <a:rPr lang="en-US" altLang="zh-TW" sz="2400" b="0" i="1" kern="100" smtClean="0">
                              <a:latin typeface="Cambria Math" panose="02040503050406030204" pitchFamily="18" charset="0"/>
                              <a:ea typeface="新細明體" panose="02020500000000000000" pitchFamily="18" charset="-120"/>
                              <a:cs typeface="Times New Roman" panose="02020603050405020304" pitchFamily="18" charset="0"/>
                            </a:rPr>
                            <m:t>𝑇</m:t>
                          </m:r>
                        </m:sup>
                      </m:sSubSup>
                    </m:oMath>
                  </m:oMathPara>
                </a14:m>
                <a:endParaRPr lang="zh-TW" altLang="en-US" sz="2400" dirty="0">
                  <a:solidFill>
                    <a:schemeClr val="tx1"/>
                  </a:solidFill>
                </a:endParaRPr>
              </a:p>
            </p:txBody>
          </p:sp>
        </mc:Choice>
        <mc:Fallback xmlns="">
          <p:sp>
            <p:nvSpPr>
              <p:cNvPr id="71" name="文字方塊 70">
                <a:extLst>
                  <a:ext uri="{FF2B5EF4-FFF2-40B4-BE49-F238E27FC236}">
                    <a16:creationId xmlns:a16="http://schemas.microsoft.com/office/drawing/2014/main" id="{DFD3791B-9CA1-506C-6437-6C62B1B9AB85}"/>
                  </a:ext>
                </a:extLst>
              </p:cNvPr>
              <p:cNvSpPr txBox="1">
                <a:spLocks noRot="1" noChangeAspect="1" noMove="1" noResize="1" noEditPoints="1" noAdjustHandles="1" noChangeArrowheads="1" noChangeShapeType="1" noTextEdit="1"/>
              </p:cNvSpPr>
              <p:nvPr/>
            </p:nvSpPr>
            <p:spPr>
              <a:xfrm>
                <a:off x="7088605" y="3098911"/>
                <a:ext cx="686909" cy="471539"/>
              </a:xfrm>
              <a:prstGeom prst="rect">
                <a:avLst/>
              </a:prstGeom>
              <a:blipFill>
                <a:blip r:embed="rId18"/>
                <a:stretch>
                  <a:fillRect b="-2564"/>
                </a:stretch>
              </a:blipFill>
            </p:spPr>
            <p:txBody>
              <a:bodyPr/>
              <a:lstStyle/>
              <a:p>
                <a:r>
                  <a:rPr lang="zh-TW" altLang="en-US">
                    <a:noFill/>
                  </a:rPr>
                  <a:t> </a:t>
                </a:r>
              </a:p>
            </p:txBody>
          </p:sp>
        </mc:Fallback>
      </mc:AlternateContent>
      <p:sp>
        <p:nvSpPr>
          <p:cNvPr id="72" name="圓角矩形 71">
            <a:extLst>
              <a:ext uri="{FF2B5EF4-FFF2-40B4-BE49-F238E27FC236}">
                <a16:creationId xmlns:a16="http://schemas.microsoft.com/office/drawing/2014/main" id="{5190A475-586E-7607-577B-4FF52509DC11}"/>
              </a:ext>
            </a:extLst>
          </p:cNvPr>
          <p:cNvSpPr/>
          <p:nvPr/>
        </p:nvSpPr>
        <p:spPr>
          <a:xfrm rot="16200000">
            <a:off x="9037830" y="3886867"/>
            <a:ext cx="507439" cy="11035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000" baseline="-25000" dirty="0"/>
          </a:p>
        </p:txBody>
      </p:sp>
      <mc:AlternateContent xmlns:mc="http://schemas.openxmlformats.org/markup-compatibility/2006" xmlns:a14="http://schemas.microsoft.com/office/drawing/2010/main">
        <mc:Choice Requires="a14">
          <p:sp>
            <p:nvSpPr>
              <p:cNvPr id="73" name="文字方塊 72">
                <a:extLst>
                  <a:ext uri="{FF2B5EF4-FFF2-40B4-BE49-F238E27FC236}">
                    <a16:creationId xmlns:a16="http://schemas.microsoft.com/office/drawing/2014/main" id="{B8264E6C-291D-0057-8E81-64E1F14665E7}"/>
                  </a:ext>
                </a:extLst>
              </p:cNvPr>
              <p:cNvSpPr txBox="1"/>
              <p:nvPr/>
            </p:nvSpPr>
            <p:spPr>
              <a:xfrm>
                <a:off x="9001855" y="4244743"/>
                <a:ext cx="578498" cy="4006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zh-TW" altLang="zh-TW" sz="1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TW" sz="1800" i="0" kern="10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q</m:t>
                          </m:r>
                        </m:e>
                        <m:sub>
                          <m:r>
                            <a:rPr lang="en-US" altLang="zh-TW" sz="18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2</m:t>
                          </m:r>
                        </m:sub>
                        <m:sup>
                          <m:r>
                            <m:rPr>
                              <m:sty m:val="p"/>
                            </m:rPr>
                            <a:rPr lang="en-US" altLang="zh-TW" sz="1800" i="0" kern="10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p</m:t>
                          </m:r>
                        </m:sup>
                      </m:sSubSup>
                    </m:oMath>
                  </m:oMathPara>
                </a14:m>
                <a:endParaRPr kumimoji="1" lang="zh-TW" altLang="en-US" sz="1800" baseline="-25000" dirty="0">
                  <a:solidFill>
                    <a:schemeClr val="bg1"/>
                  </a:solidFill>
                </a:endParaRPr>
              </a:p>
            </p:txBody>
          </p:sp>
        </mc:Choice>
        <mc:Fallback xmlns="">
          <p:sp>
            <p:nvSpPr>
              <p:cNvPr id="73" name="文字方塊 72">
                <a:extLst>
                  <a:ext uri="{FF2B5EF4-FFF2-40B4-BE49-F238E27FC236}">
                    <a16:creationId xmlns:a16="http://schemas.microsoft.com/office/drawing/2014/main" id="{B8264E6C-291D-0057-8E81-64E1F14665E7}"/>
                  </a:ext>
                </a:extLst>
              </p:cNvPr>
              <p:cNvSpPr txBox="1">
                <a:spLocks noRot="1" noChangeAspect="1" noMove="1" noResize="1" noEditPoints="1" noAdjustHandles="1" noChangeArrowheads="1" noChangeShapeType="1" noTextEdit="1"/>
              </p:cNvSpPr>
              <p:nvPr/>
            </p:nvSpPr>
            <p:spPr>
              <a:xfrm>
                <a:off x="9001855" y="4244743"/>
                <a:ext cx="578498" cy="400687"/>
              </a:xfrm>
              <a:prstGeom prst="rect">
                <a:avLst/>
              </a:prstGeom>
              <a:blipFill>
                <a:blip r:embed="rId19"/>
                <a:stretch>
                  <a:fillRect b="-6250"/>
                </a:stretch>
              </a:blipFill>
            </p:spPr>
            <p:txBody>
              <a:bodyPr/>
              <a:lstStyle/>
              <a:p>
                <a:r>
                  <a:rPr lang="zh-TW" altLang="en-US">
                    <a:noFill/>
                  </a:rPr>
                  <a:t> </a:t>
                </a:r>
              </a:p>
            </p:txBody>
          </p:sp>
        </mc:Fallback>
      </mc:AlternateContent>
      <p:sp>
        <p:nvSpPr>
          <p:cNvPr id="74" name="圓角矩形 73">
            <a:extLst>
              <a:ext uri="{FF2B5EF4-FFF2-40B4-BE49-F238E27FC236}">
                <a16:creationId xmlns:a16="http://schemas.microsoft.com/office/drawing/2014/main" id="{4756D8D2-15D6-BC8B-C6C9-AFCFC5AEA887}"/>
              </a:ext>
            </a:extLst>
          </p:cNvPr>
          <p:cNvSpPr/>
          <p:nvPr/>
        </p:nvSpPr>
        <p:spPr>
          <a:xfrm rot="16200000">
            <a:off x="9036044" y="4476641"/>
            <a:ext cx="507439" cy="11035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000" baseline="-25000" dirty="0"/>
          </a:p>
        </p:txBody>
      </p:sp>
      <p:sp>
        <p:nvSpPr>
          <p:cNvPr id="75" name="圓角矩形 74">
            <a:extLst>
              <a:ext uri="{FF2B5EF4-FFF2-40B4-BE49-F238E27FC236}">
                <a16:creationId xmlns:a16="http://schemas.microsoft.com/office/drawing/2014/main" id="{D6DD4CBE-97EC-C39E-DDF9-79AF70999D5D}"/>
              </a:ext>
            </a:extLst>
          </p:cNvPr>
          <p:cNvSpPr/>
          <p:nvPr/>
        </p:nvSpPr>
        <p:spPr>
          <a:xfrm rot="16200000">
            <a:off x="9030808" y="3297092"/>
            <a:ext cx="507439" cy="11035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2000" baseline="-25000" dirty="0"/>
          </a:p>
        </p:txBody>
      </p:sp>
      <mc:AlternateContent xmlns:mc="http://schemas.openxmlformats.org/markup-compatibility/2006" xmlns:a14="http://schemas.microsoft.com/office/drawing/2010/main">
        <mc:Choice Requires="a14">
          <p:sp>
            <p:nvSpPr>
              <p:cNvPr id="76" name="文字方塊 75">
                <a:extLst>
                  <a:ext uri="{FF2B5EF4-FFF2-40B4-BE49-F238E27FC236}">
                    <a16:creationId xmlns:a16="http://schemas.microsoft.com/office/drawing/2014/main" id="{FCC9F7F2-A54C-0B73-7137-76E690442028}"/>
                  </a:ext>
                </a:extLst>
              </p:cNvPr>
              <p:cNvSpPr txBox="1"/>
              <p:nvPr/>
            </p:nvSpPr>
            <p:spPr>
              <a:xfrm>
                <a:off x="8994832" y="3642955"/>
                <a:ext cx="578498" cy="40036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zh-TW" altLang="zh-TW" sz="1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TW" sz="1800" i="0" kern="10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q</m:t>
                          </m:r>
                        </m:e>
                        <m:sub>
                          <m:r>
                            <a:rPr lang="en-US" altLang="zh-TW" sz="1800" i="0" kern="10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1</m:t>
                          </m:r>
                        </m:sub>
                        <m:sup>
                          <m:r>
                            <m:rPr>
                              <m:sty m:val="p"/>
                            </m:rPr>
                            <a:rPr lang="en-US" altLang="zh-TW" sz="1800" i="0" kern="10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p</m:t>
                          </m:r>
                        </m:sup>
                      </m:sSubSup>
                    </m:oMath>
                  </m:oMathPara>
                </a14:m>
                <a:endParaRPr lang="zh-TW" altLang="zh-TW" sz="1800" kern="100" dirty="0">
                  <a:solidFill>
                    <a:schemeClr val="bg1"/>
                  </a:solidFill>
                  <a:effectLst/>
                  <a:latin typeface="Aptos" panose="020B0004020202020204" pitchFamily="34" charset="0"/>
                  <a:ea typeface="新細明體" panose="02020500000000000000" pitchFamily="18" charset="-120"/>
                  <a:cs typeface="Times New Roman" panose="02020603050405020304" pitchFamily="18" charset="0"/>
                </a:endParaRPr>
              </a:p>
            </p:txBody>
          </p:sp>
        </mc:Choice>
        <mc:Fallback xmlns="">
          <p:sp>
            <p:nvSpPr>
              <p:cNvPr id="76" name="文字方塊 75">
                <a:extLst>
                  <a:ext uri="{FF2B5EF4-FFF2-40B4-BE49-F238E27FC236}">
                    <a16:creationId xmlns:a16="http://schemas.microsoft.com/office/drawing/2014/main" id="{FCC9F7F2-A54C-0B73-7137-76E690442028}"/>
                  </a:ext>
                </a:extLst>
              </p:cNvPr>
              <p:cNvSpPr txBox="1">
                <a:spLocks noRot="1" noChangeAspect="1" noMove="1" noResize="1" noEditPoints="1" noAdjustHandles="1" noChangeArrowheads="1" noChangeShapeType="1" noTextEdit="1"/>
              </p:cNvSpPr>
              <p:nvPr/>
            </p:nvSpPr>
            <p:spPr>
              <a:xfrm>
                <a:off x="8994832" y="3642955"/>
                <a:ext cx="578498" cy="400366"/>
              </a:xfrm>
              <a:prstGeom prst="rect">
                <a:avLst/>
              </a:prstGeom>
              <a:blipFill>
                <a:blip r:embed="rId20"/>
                <a:stretch>
                  <a:fillRect b="-625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7" name="文字方塊 76">
                <a:extLst>
                  <a:ext uri="{FF2B5EF4-FFF2-40B4-BE49-F238E27FC236}">
                    <a16:creationId xmlns:a16="http://schemas.microsoft.com/office/drawing/2014/main" id="{CD6C80C3-8D24-474C-F6E7-28B17ED06242}"/>
                  </a:ext>
                </a:extLst>
              </p:cNvPr>
              <p:cNvSpPr txBox="1"/>
              <p:nvPr/>
            </p:nvSpPr>
            <p:spPr>
              <a:xfrm>
                <a:off x="8969720" y="3059875"/>
                <a:ext cx="686909" cy="5015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zh-TW" altLang="zh-TW" sz="2400" i="1" kern="100" smtClean="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sz="2400" i="1" kern="100">
                              <a:latin typeface="Cambria Math" panose="02040503050406030204" pitchFamily="18" charset="0"/>
                              <a:ea typeface="新細明體" panose="02020500000000000000" pitchFamily="18" charset="-120"/>
                              <a:cs typeface="Times New Roman" panose="02020603050405020304" pitchFamily="18" charset="0"/>
                            </a:rPr>
                            <m:t>𝑄</m:t>
                          </m:r>
                        </m:e>
                        <m:sub>
                          <m:r>
                            <a:rPr lang="en-US" altLang="zh-TW" sz="2400" b="0" i="1" kern="100" smtClean="0">
                              <a:latin typeface="Cambria Math" panose="02040503050406030204" pitchFamily="18" charset="0"/>
                              <a:ea typeface="新細明體" panose="02020500000000000000" pitchFamily="18" charset="-120"/>
                              <a:cs typeface="Times New Roman" panose="02020603050405020304" pitchFamily="18" charset="0"/>
                            </a:rPr>
                            <m:t>𝑃</m:t>
                          </m:r>
                        </m:sub>
                        <m:sup/>
                      </m:sSubSup>
                    </m:oMath>
                  </m:oMathPara>
                </a14:m>
                <a:endParaRPr lang="zh-TW" altLang="en-US" sz="2400" dirty="0"/>
              </a:p>
            </p:txBody>
          </p:sp>
        </mc:Choice>
        <mc:Fallback xmlns="">
          <p:sp>
            <p:nvSpPr>
              <p:cNvPr id="77" name="文字方塊 76">
                <a:extLst>
                  <a:ext uri="{FF2B5EF4-FFF2-40B4-BE49-F238E27FC236}">
                    <a16:creationId xmlns:a16="http://schemas.microsoft.com/office/drawing/2014/main" id="{CD6C80C3-8D24-474C-F6E7-28B17ED06242}"/>
                  </a:ext>
                </a:extLst>
              </p:cNvPr>
              <p:cNvSpPr txBox="1">
                <a:spLocks noRot="1" noChangeAspect="1" noMove="1" noResize="1" noEditPoints="1" noAdjustHandles="1" noChangeArrowheads="1" noChangeShapeType="1" noTextEdit="1"/>
              </p:cNvSpPr>
              <p:nvPr/>
            </p:nvSpPr>
            <p:spPr>
              <a:xfrm>
                <a:off x="8969720" y="3059875"/>
                <a:ext cx="686909" cy="501548"/>
              </a:xfrm>
              <a:prstGeom prst="rect">
                <a:avLst/>
              </a:prstGeom>
              <a:blipFill>
                <a:blip r:embed="rId21"/>
                <a:stretch>
                  <a:fillRect b="-975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8" name="文字方塊 77">
                <a:extLst>
                  <a:ext uri="{FF2B5EF4-FFF2-40B4-BE49-F238E27FC236}">
                    <a16:creationId xmlns:a16="http://schemas.microsoft.com/office/drawing/2014/main" id="{9A587AEB-760A-B106-62A3-907FB4F97FB6}"/>
                  </a:ext>
                </a:extLst>
              </p:cNvPr>
              <p:cNvSpPr txBox="1"/>
              <p:nvPr/>
            </p:nvSpPr>
            <p:spPr>
              <a:xfrm>
                <a:off x="8994832" y="4822504"/>
                <a:ext cx="578498" cy="4020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zh-TW" altLang="zh-TW" sz="1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TW" sz="1800" i="0" kern="10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q</m:t>
                          </m:r>
                        </m:e>
                        <m:sub>
                          <m:r>
                            <a:rPr lang="en-US" altLang="zh-TW" sz="18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3</m:t>
                          </m:r>
                        </m:sub>
                        <m:sup>
                          <m:r>
                            <m:rPr>
                              <m:sty m:val="p"/>
                            </m:rPr>
                            <a:rPr lang="en-US" altLang="zh-TW" sz="1800" i="0" kern="10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p</m:t>
                          </m:r>
                        </m:sup>
                      </m:sSubSup>
                    </m:oMath>
                  </m:oMathPara>
                </a14:m>
                <a:endParaRPr kumimoji="1" lang="zh-TW" altLang="en-US" sz="1800" baseline="-25000" dirty="0">
                  <a:solidFill>
                    <a:schemeClr val="bg1"/>
                  </a:solidFill>
                </a:endParaRPr>
              </a:p>
            </p:txBody>
          </p:sp>
        </mc:Choice>
        <mc:Fallback xmlns="">
          <p:sp>
            <p:nvSpPr>
              <p:cNvPr id="78" name="文字方塊 77">
                <a:extLst>
                  <a:ext uri="{FF2B5EF4-FFF2-40B4-BE49-F238E27FC236}">
                    <a16:creationId xmlns:a16="http://schemas.microsoft.com/office/drawing/2014/main" id="{9A587AEB-760A-B106-62A3-907FB4F97FB6}"/>
                  </a:ext>
                </a:extLst>
              </p:cNvPr>
              <p:cNvSpPr txBox="1">
                <a:spLocks noRot="1" noChangeAspect="1" noMove="1" noResize="1" noEditPoints="1" noAdjustHandles="1" noChangeArrowheads="1" noChangeShapeType="1" noTextEdit="1"/>
              </p:cNvSpPr>
              <p:nvPr/>
            </p:nvSpPr>
            <p:spPr>
              <a:xfrm>
                <a:off x="8994832" y="4822504"/>
                <a:ext cx="578498" cy="402098"/>
              </a:xfrm>
              <a:prstGeom prst="rect">
                <a:avLst/>
              </a:prstGeom>
              <a:blipFill>
                <a:blip r:embed="rId22"/>
                <a:stretch>
                  <a:fillRect b="-606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9" name="圓角矩形 78">
                <a:extLst>
                  <a:ext uri="{FF2B5EF4-FFF2-40B4-BE49-F238E27FC236}">
                    <a16:creationId xmlns:a16="http://schemas.microsoft.com/office/drawing/2014/main" id="{3617370A-C82B-9850-567A-128D946B13F2}"/>
                  </a:ext>
                </a:extLst>
              </p:cNvPr>
              <p:cNvSpPr/>
              <p:nvPr/>
            </p:nvSpPr>
            <p:spPr>
              <a:xfrm>
                <a:off x="9945311" y="3906692"/>
                <a:ext cx="507439" cy="110351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zh-TW" altLang="zh-TW" sz="20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TW" sz="2000" b="0" i="0"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t>k</m:t>
                          </m:r>
                        </m:e>
                        <m:sub>
                          <m:r>
                            <a:rPr lang="en-US" altLang="zh-TW" sz="2000" i="0" kern="10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1</m:t>
                          </m:r>
                        </m:sub>
                        <m:sup>
                          <m:r>
                            <m:rPr>
                              <m:sty m:val="p"/>
                            </m:rPr>
                            <a:rPr lang="en-US" altLang="zh-TW" sz="20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c</m:t>
                          </m:r>
                        </m:sup>
                      </m:sSubSup>
                    </m:oMath>
                  </m:oMathPara>
                </a14:m>
                <a:endParaRPr kumimoji="1" lang="zh-TW" altLang="en-US" sz="2000" baseline="-25000" dirty="0"/>
              </a:p>
            </p:txBody>
          </p:sp>
        </mc:Choice>
        <mc:Fallback xmlns="">
          <p:sp>
            <p:nvSpPr>
              <p:cNvPr id="79" name="圓角矩形 78">
                <a:extLst>
                  <a:ext uri="{FF2B5EF4-FFF2-40B4-BE49-F238E27FC236}">
                    <a16:creationId xmlns:a16="http://schemas.microsoft.com/office/drawing/2014/main" id="{3617370A-C82B-9850-567A-128D946B13F2}"/>
                  </a:ext>
                </a:extLst>
              </p:cNvPr>
              <p:cNvSpPr>
                <a:spLocks noRot="1" noChangeAspect="1" noMove="1" noResize="1" noEditPoints="1" noAdjustHandles="1" noChangeArrowheads="1" noChangeShapeType="1" noTextEdit="1"/>
              </p:cNvSpPr>
              <p:nvPr/>
            </p:nvSpPr>
            <p:spPr>
              <a:xfrm>
                <a:off x="9945311" y="3906692"/>
                <a:ext cx="507439" cy="1103516"/>
              </a:xfrm>
              <a:prstGeom prst="roundRect">
                <a:avLst/>
              </a:prstGeom>
              <a:blipFill>
                <a:blip r:embed="rId2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0" name="圓角矩形 79">
                <a:extLst>
                  <a:ext uri="{FF2B5EF4-FFF2-40B4-BE49-F238E27FC236}">
                    <a16:creationId xmlns:a16="http://schemas.microsoft.com/office/drawing/2014/main" id="{DCE547EE-E336-DD30-7218-4452C822F33D}"/>
                  </a:ext>
                </a:extLst>
              </p:cNvPr>
              <p:cNvSpPr/>
              <p:nvPr/>
            </p:nvSpPr>
            <p:spPr>
              <a:xfrm>
                <a:off x="10522788" y="3906692"/>
                <a:ext cx="507439" cy="110351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zh-TW" altLang="zh-TW" sz="20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TW" sz="20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k</m:t>
                          </m:r>
                        </m:e>
                        <m:sub>
                          <m:r>
                            <a:rPr lang="en-US" altLang="zh-TW" sz="20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2</m:t>
                          </m:r>
                        </m:sub>
                        <m:sup>
                          <m:r>
                            <m:rPr>
                              <m:sty m:val="p"/>
                            </m:rPr>
                            <a:rPr lang="en-US" altLang="zh-TW" sz="20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c</m:t>
                          </m:r>
                        </m:sup>
                      </m:sSubSup>
                    </m:oMath>
                  </m:oMathPara>
                </a14:m>
                <a:endParaRPr kumimoji="1" lang="zh-TW" altLang="en-US" sz="2000" baseline="-25000" dirty="0"/>
              </a:p>
            </p:txBody>
          </p:sp>
        </mc:Choice>
        <mc:Fallback xmlns="">
          <p:sp>
            <p:nvSpPr>
              <p:cNvPr id="80" name="圓角矩形 79">
                <a:extLst>
                  <a:ext uri="{FF2B5EF4-FFF2-40B4-BE49-F238E27FC236}">
                    <a16:creationId xmlns:a16="http://schemas.microsoft.com/office/drawing/2014/main" id="{DCE547EE-E336-DD30-7218-4452C822F33D}"/>
                  </a:ext>
                </a:extLst>
              </p:cNvPr>
              <p:cNvSpPr>
                <a:spLocks noRot="1" noChangeAspect="1" noMove="1" noResize="1" noEditPoints="1" noAdjustHandles="1" noChangeArrowheads="1" noChangeShapeType="1" noTextEdit="1"/>
              </p:cNvSpPr>
              <p:nvPr/>
            </p:nvSpPr>
            <p:spPr>
              <a:xfrm>
                <a:off x="10522788" y="3906692"/>
                <a:ext cx="507439" cy="1103516"/>
              </a:xfrm>
              <a:prstGeom prst="roundRect">
                <a:avLst/>
              </a:prstGeom>
              <a:blipFill>
                <a:blip r:embed="rId2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1" name="圓角矩形 80">
                <a:extLst>
                  <a:ext uri="{FF2B5EF4-FFF2-40B4-BE49-F238E27FC236}">
                    <a16:creationId xmlns:a16="http://schemas.microsoft.com/office/drawing/2014/main" id="{0A90D9AE-E6B5-4CD8-51D6-4FA5212CF445}"/>
                  </a:ext>
                </a:extLst>
              </p:cNvPr>
              <p:cNvSpPr/>
              <p:nvPr/>
            </p:nvSpPr>
            <p:spPr>
              <a:xfrm>
                <a:off x="11104459" y="3906692"/>
                <a:ext cx="507439" cy="110351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zh-TW" altLang="zh-TW" sz="20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n-US" altLang="zh-TW" sz="20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k</m:t>
                          </m:r>
                        </m:e>
                        <m:sub>
                          <m:r>
                            <a:rPr lang="en-US" altLang="zh-TW" sz="20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3</m:t>
                          </m:r>
                        </m:sub>
                        <m:sup>
                          <m:r>
                            <m:rPr>
                              <m:sty m:val="p"/>
                            </m:rPr>
                            <a:rPr lang="en-US" altLang="zh-TW" sz="2000" b="0" i="0" kern="100" smtClean="0">
                              <a:solidFill>
                                <a:schemeClr val="bg1"/>
                              </a:solidFill>
                              <a:effectLst/>
                              <a:latin typeface="Cambria Math" panose="02040503050406030204" pitchFamily="18" charset="0"/>
                              <a:ea typeface="新細明體" panose="02020500000000000000" pitchFamily="18" charset="-120"/>
                              <a:cs typeface="Times New Roman" panose="02020603050405020304" pitchFamily="18" charset="0"/>
                            </a:rPr>
                            <m:t>c</m:t>
                          </m:r>
                        </m:sup>
                      </m:sSubSup>
                    </m:oMath>
                  </m:oMathPara>
                </a14:m>
                <a:endParaRPr kumimoji="1" lang="zh-TW" altLang="en-US" sz="2000" baseline="-25000" dirty="0"/>
              </a:p>
            </p:txBody>
          </p:sp>
        </mc:Choice>
        <mc:Fallback xmlns="">
          <p:sp>
            <p:nvSpPr>
              <p:cNvPr id="81" name="圓角矩形 80">
                <a:extLst>
                  <a:ext uri="{FF2B5EF4-FFF2-40B4-BE49-F238E27FC236}">
                    <a16:creationId xmlns:a16="http://schemas.microsoft.com/office/drawing/2014/main" id="{0A90D9AE-E6B5-4CD8-51D6-4FA5212CF445}"/>
                  </a:ext>
                </a:extLst>
              </p:cNvPr>
              <p:cNvSpPr>
                <a:spLocks noRot="1" noChangeAspect="1" noMove="1" noResize="1" noEditPoints="1" noAdjustHandles="1" noChangeArrowheads="1" noChangeShapeType="1" noTextEdit="1"/>
              </p:cNvSpPr>
              <p:nvPr/>
            </p:nvSpPr>
            <p:spPr>
              <a:xfrm>
                <a:off x="11104459" y="3906692"/>
                <a:ext cx="507439" cy="1103516"/>
              </a:xfrm>
              <a:prstGeom prst="roundRect">
                <a:avLst/>
              </a:prstGeom>
              <a:blipFill>
                <a:blip r:embed="rId2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2" name="文字方塊 81">
                <a:extLst>
                  <a:ext uri="{FF2B5EF4-FFF2-40B4-BE49-F238E27FC236}">
                    <a16:creationId xmlns:a16="http://schemas.microsoft.com/office/drawing/2014/main" id="{B2C3D3C0-DF8D-8EFC-D239-B52A02B974B1}"/>
                  </a:ext>
                </a:extLst>
              </p:cNvPr>
              <p:cNvSpPr txBox="1"/>
              <p:nvPr/>
            </p:nvSpPr>
            <p:spPr>
              <a:xfrm>
                <a:off x="10495414" y="3104428"/>
                <a:ext cx="686909" cy="47153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zh-TW" altLang="zh-TW" sz="2400" i="1" kern="100" smtClean="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sz="2400" b="0" i="1" kern="100" smtClean="0">
                              <a:latin typeface="Cambria Math" panose="02040503050406030204" pitchFamily="18" charset="0"/>
                              <a:ea typeface="新細明體" panose="02020500000000000000" pitchFamily="18" charset="-120"/>
                              <a:cs typeface="Times New Roman" panose="02020603050405020304" pitchFamily="18" charset="0"/>
                            </a:rPr>
                            <m:t>𝐾</m:t>
                          </m:r>
                        </m:e>
                        <m:sub>
                          <m:r>
                            <a:rPr lang="en-US" altLang="zh-TW" sz="2400" b="0" i="1" kern="100" smtClean="0">
                              <a:latin typeface="Cambria Math" panose="02040503050406030204" pitchFamily="18" charset="0"/>
                              <a:ea typeface="新細明體" panose="02020500000000000000" pitchFamily="18" charset="-120"/>
                              <a:cs typeface="Times New Roman" panose="02020603050405020304" pitchFamily="18" charset="0"/>
                            </a:rPr>
                            <m:t>𝐶</m:t>
                          </m:r>
                        </m:sub>
                        <m:sup>
                          <m:r>
                            <a:rPr lang="en-US" altLang="zh-TW" sz="2400" b="0" i="1" kern="100" smtClean="0">
                              <a:latin typeface="Cambria Math" panose="02040503050406030204" pitchFamily="18" charset="0"/>
                              <a:ea typeface="新細明體" panose="02020500000000000000" pitchFamily="18" charset="-120"/>
                              <a:cs typeface="Times New Roman" panose="02020603050405020304" pitchFamily="18" charset="0"/>
                            </a:rPr>
                            <m:t>𝑇</m:t>
                          </m:r>
                        </m:sup>
                      </m:sSubSup>
                    </m:oMath>
                  </m:oMathPara>
                </a14:m>
                <a:endParaRPr lang="zh-TW" altLang="en-US" sz="2400" dirty="0">
                  <a:solidFill>
                    <a:schemeClr val="tx1"/>
                  </a:solidFill>
                </a:endParaRPr>
              </a:p>
            </p:txBody>
          </p:sp>
        </mc:Choice>
        <mc:Fallback xmlns="">
          <p:sp>
            <p:nvSpPr>
              <p:cNvPr id="82" name="文字方塊 81">
                <a:extLst>
                  <a:ext uri="{FF2B5EF4-FFF2-40B4-BE49-F238E27FC236}">
                    <a16:creationId xmlns:a16="http://schemas.microsoft.com/office/drawing/2014/main" id="{B2C3D3C0-DF8D-8EFC-D239-B52A02B974B1}"/>
                  </a:ext>
                </a:extLst>
              </p:cNvPr>
              <p:cNvSpPr txBox="1">
                <a:spLocks noRot="1" noChangeAspect="1" noMove="1" noResize="1" noEditPoints="1" noAdjustHandles="1" noChangeArrowheads="1" noChangeShapeType="1" noTextEdit="1"/>
              </p:cNvSpPr>
              <p:nvPr/>
            </p:nvSpPr>
            <p:spPr>
              <a:xfrm>
                <a:off x="10495414" y="3104428"/>
                <a:ext cx="686909" cy="471539"/>
              </a:xfrm>
              <a:prstGeom prst="rect">
                <a:avLst/>
              </a:prstGeom>
              <a:blipFill>
                <a:blip r:embed="rId26"/>
                <a:stretch>
                  <a:fillRect b="-526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4" name="文字方塊 83">
                <a:extLst>
                  <a:ext uri="{FF2B5EF4-FFF2-40B4-BE49-F238E27FC236}">
                    <a16:creationId xmlns:a16="http://schemas.microsoft.com/office/drawing/2014/main" id="{100C5ADD-CBFD-0742-0820-11E347043A9A}"/>
                  </a:ext>
                </a:extLst>
              </p:cNvPr>
              <p:cNvSpPr txBox="1"/>
              <p:nvPr/>
            </p:nvSpPr>
            <p:spPr>
              <a:xfrm>
                <a:off x="3048786" y="5764421"/>
                <a:ext cx="6094428" cy="93827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zh-TW" altLang="en-US" sz="2400" i="0" smtClean="0">
                          <a:solidFill>
                            <a:schemeClr val="tx1"/>
                          </a:solidFill>
                          <a:latin typeface="Cambria Math" panose="02040503050406030204" pitchFamily="18" charset="0"/>
                        </a:rPr>
                        <m:t>DeBERTa</m:t>
                      </m:r>
                      <m:r>
                        <m:rPr>
                          <m:lit/>
                        </m:rPr>
                        <a:rPr lang="zh-TW" altLang="en-US" sz="2400" i="0">
                          <a:solidFill>
                            <a:schemeClr val="tx1"/>
                          </a:solidFill>
                          <a:latin typeface="Cambria Math" panose="02040503050406030204" pitchFamily="18" charset="0"/>
                        </a:rPr>
                        <m:t>_</m:t>
                      </m:r>
                      <m:r>
                        <m:rPr>
                          <m:sty m:val="p"/>
                        </m:rPr>
                        <a:rPr lang="zh-TW" altLang="en-US" sz="2400" i="0">
                          <a:solidFill>
                            <a:schemeClr val="tx1"/>
                          </a:solidFill>
                          <a:latin typeface="Cambria Math" panose="02040503050406030204" pitchFamily="18" charset="0"/>
                        </a:rPr>
                        <m:t>attn</m:t>
                      </m:r>
                      <m:r>
                        <a:rPr lang="zh-TW" altLang="en-US" sz="2400" i="0">
                          <a:solidFill>
                            <a:schemeClr val="tx1"/>
                          </a:solidFill>
                          <a:latin typeface="Cambria Math" panose="02040503050406030204" pitchFamily="18" charset="0"/>
                        </a:rPr>
                        <m:t> = </m:t>
                      </m:r>
                      <m:r>
                        <m:rPr>
                          <m:sty m:val="p"/>
                        </m:rPr>
                        <a:rPr lang="zh-TW" altLang="en-US" sz="2400" i="0">
                          <a:solidFill>
                            <a:schemeClr val="tx1"/>
                          </a:solidFill>
                          <a:latin typeface="Cambria Math" panose="02040503050406030204" pitchFamily="18" charset="0"/>
                        </a:rPr>
                        <m:t>softmax</m:t>
                      </m:r>
                      <m:d>
                        <m:dPr>
                          <m:ctrlPr>
                            <a:rPr lang="zh-TW" altLang="en-US" sz="2400" i="1">
                              <a:solidFill>
                                <a:schemeClr val="tx1"/>
                              </a:solidFill>
                              <a:latin typeface="Cambria Math" panose="02040503050406030204" pitchFamily="18" charset="0"/>
                            </a:rPr>
                          </m:ctrlPr>
                        </m:dPr>
                        <m:e>
                          <m:f>
                            <m:fPr>
                              <m:ctrlPr>
                                <a:rPr lang="zh-TW" altLang="en-US" sz="2400" i="1">
                                  <a:solidFill>
                                    <a:schemeClr val="tx1"/>
                                  </a:solidFill>
                                  <a:latin typeface="Cambria Math" panose="02040503050406030204" pitchFamily="18" charset="0"/>
                                </a:rPr>
                              </m:ctrlPr>
                            </m:fPr>
                            <m:num>
                              <m:acc>
                                <m:accPr>
                                  <m:chr m:val="̃"/>
                                  <m:ctrlPr>
                                    <a:rPr lang="zh-TW" altLang="en-US" sz="2400" i="1">
                                      <a:solidFill>
                                        <a:schemeClr val="tx1"/>
                                      </a:solidFill>
                                      <a:latin typeface="Cambria Math" panose="02040503050406030204" pitchFamily="18" charset="0"/>
                                    </a:rPr>
                                  </m:ctrlPr>
                                </m:accPr>
                                <m:e>
                                  <m:r>
                                    <a:rPr lang="zh-TW" altLang="en-US" sz="2400" i="1">
                                      <a:solidFill>
                                        <a:schemeClr val="tx1"/>
                                      </a:solidFill>
                                      <a:latin typeface="Cambria Math" panose="02040503050406030204" pitchFamily="18" charset="0"/>
                                    </a:rPr>
                                    <m:t>𝐴</m:t>
                                  </m:r>
                                </m:e>
                              </m:acc>
                            </m:num>
                            <m:den>
                              <m:rad>
                                <m:radPr>
                                  <m:degHide m:val="on"/>
                                  <m:ctrlPr>
                                    <a:rPr lang="zh-TW" altLang="en-US" sz="2400" i="1">
                                      <a:solidFill>
                                        <a:schemeClr val="tx1"/>
                                      </a:solidFill>
                                      <a:latin typeface="Cambria Math" panose="02040503050406030204" pitchFamily="18" charset="0"/>
                                    </a:rPr>
                                  </m:ctrlPr>
                                </m:radPr>
                                <m:deg/>
                                <m:e>
                                  <m:r>
                                    <a:rPr lang="zh-TW" altLang="en-US" sz="2400" i="0" smtClean="0">
                                      <a:solidFill>
                                        <a:srgbClr val="FF0000"/>
                                      </a:solidFill>
                                      <a:latin typeface="Cambria Math" panose="02040503050406030204" pitchFamily="18" charset="0"/>
                                    </a:rPr>
                                    <m:t>3</m:t>
                                  </m:r>
                                  <m:r>
                                    <a:rPr lang="zh-TW" altLang="en-US" sz="2400" i="1">
                                      <a:solidFill>
                                        <a:schemeClr val="tx1"/>
                                      </a:solidFill>
                                      <a:latin typeface="Cambria Math" panose="02040503050406030204" pitchFamily="18" charset="0"/>
                                    </a:rPr>
                                    <m:t>𝑑</m:t>
                                  </m:r>
                                </m:e>
                              </m:rad>
                            </m:den>
                          </m:f>
                        </m:e>
                      </m:d>
                      <m:sSub>
                        <m:sSubPr>
                          <m:ctrlPr>
                            <a:rPr lang="zh-TW" altLang="en-US" sz="2400" i="1">
                              <a:solidFill>
                                <a:schemeClr val="tx1"/>
                              </a:solidFill>
                              <a:latin typeface="Cambria Math" panose="02040503050406030204" pitchFamily="18" charset="0"/>
                            </a:rPr>
                          </m:ctrlPr>
                        </m:sSubPr>
                        <m:e>
                          <m:r>
                            <a:rPr lang="zh-TW" altLang="en-US" sz="2400" i="1">
                              <a:solidFill>
                                <a:schemeClr val="tx1"/>
                              </a:solidFill>
                              <a:latin typeface="Cambria Math" panose="02040503050406030204" pitchFamily="18" charset="0"/>
                            </a:rPr>
                            <m:t>𝑉</m:t>
                          </m:r>
                        </m:e>
                        <m:sub>
                          <m:r>
                            <a:rPr lang="zh-TW" altLang="en-US" sz="2400" i="1">
                              <a:solidFill>
                                <a:schemeClr val="tx1"/>
                              </a:solidFill>
                              <a:latin typeface="Cambria Math" panose="02040503050406030204" pitchFamily="18" charset="0"/>
                            </a:rPr>
                            <m:t>𝑐</m:t>
                          </m:r>
                        </m:sub>
                      </m:sSub>
                    </m:oMath>
                  </m:oMathPara>
                </a14:m>
                <a:endParaRPr lang="zh-TW" altLang="en-US" sz="2400" dirty="0">
                  <a:solidFill>
                    <a:schemeClr val="tx1"/>
                  </a:solidFill>
                </a:endParaRPr>
              </a:p>
            </p:txBody>
          </p:sp>
        </mc:Choice>
        <mc:Fallback xmlns="">
          <p:sp>
            <p:nvSpPr>
              <p:cNvPr id="84" name="文字方塊 83">
                <a:extLst>
                  <a:ext uri="{FF2B5EF4-FFF2-40B4-BE49-F238E27FC236}">
                    <a16:creationId xmlns:a16="http://schemas.microsoft.com/office/drawing/2014/main" id="{100C5ADD-CBFD-0742-0820-11E347043A9A}"/>
                  </a:ext>
                </a:extLst>
              </p:cNvPr>
              <p:cNvSpPr txBox="1">
                <a:spLocks noRot="1" noChangeAspect="1" noMove="1" noResize="1" noEditPoints="1" noAdjustHandles="1" noChangeArrowheads="1" noChangeShapeType="1" noTextEdit="1"/>
              </p:cNvSpPr>
              <p:nvPr/>
            </p:nvSpPr>
            <p:spPr>
              <a:xfrm>
                <a:off x="3048786" y="5764421"/>
                <a:ext cx="6094428" cy="938270"/>
              </a:xfrm>
              <a:prstGeom prst="rect">
                <a:avLst/>
              </a:prstGeom>
              <a:blipFill>
                <a:blip r:embed="rId27"/>
                <a:stretch>
                  <a:fillRect t="-1351"/>
                </a:stretch>
              </a:blipFill>
            </p:spPr>
            <p:txBody>
              <a:bodyPr/>
              <a:lstStyle/>
              <a:p>
                <a:r>
                  <a:rPr lang="zh-TW" altLang="en-US">
                    <a:noFill/>
                  </a:rPr>
                  <a:t> </a:t>
                </a:r>
              </a:p>
            </p:txBody>
          </p:sp>
        </mc:Fallback>
      </mc:AlternateContent>
      <p:sp>
        <p:nvSpPr>
          <p:cNvPr id="85" name="圓角矩形 84">
            <a:extLst>
              <a:ext uri="{FF2B5EF4-FFF2-40B4-BE49-F238E27FC236}">
                <a16:creationId xmlns:a16="http://schemas.microsoft.com/office/drawing/2014/main" id="{F4594DBB-40FB-264E-9B88-A6B581F48A83}"/>
              </a:ext>
            </a:extLst>
          </p:cNvPr>
          <p:cNvSpPr/>
          <p:nvPr/>
        </p:nvSpPr>
        <p:spPr>
          <a:xfrm rot="16200000">
            <a:off x="7477654" y="855276"/>
            <a:ext cx="507439" cy="110351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kumimoji="1" lang="zh-TW" altLang="en-US" sz="2000" baseline="-25000" dirty="0"/>
          </a:p>
        </p:txBody>
      </p:sp>
      <p:sp>
        <p:nvSpPr>
          <p:cNvPr id="86" name="文字方塊 85">
            <a:extLst>
              <a:ext uri="{FF2B5EF4-FFF2-40B4-BE49-F238E27FC236}">
                <a16:creationId xmlns:a16="http://schemas.microsoft.com/office/drawing/2014/main" id="{0943F9EF-5445-5DF9-201A-9AF220E871CD}"/>
              </a:ext>
            </a:extLst>
          </p:cNvPr>
          <p:cNvSpPr txBox="1"/>
          <p:nvPr/>
        </p:nvSpPr>
        <p:spPr>
          <a:xfrm>
            <a:off x="7549014" y="1214219"/>
            <a:ext cx="578498" cy="369332"/>
          </a:xfrm>
          <a:prstGeom prst="rect">
            <a:avLst/>
          </a:prstGeom>
          <a:noFill/>
        </p:spPr>
        <p:txBody>
          <a:bodyPr wrap="square" rtlCol="0">
            <a:spAutoFit/>
          </a:bodyPr>
          <a:lstStyle/>
          <a:p>
            <a:r>
              <a:rPr kumimoji="1" lang="en-US" altLang="zh-TW" sz="1800" dirty="0">
                <a:solidFill>
                  <a:schemeClr val="bg1"/>
                </a:solidFill>
              </a:rPr>
              <a:t>v</a:t>
            </a:r>
            <a:r>
              <a:rPr kumimoji="1" lang="en-US" altLang="zh-TW" sz="1800" baseline="-25000" dirty="0">
                <a:solidFill>
                  <a:schemeClr val="bg1"/>
                </a:solidFill>
              </a:rPr>
              <a:t>2</a:t>
            </a:r>
            <a:endParaRPr kumimoji="1" lang="zh-TW" altLang="en-US" sz="1800" baseline="-25000" dirty="0">
              <a:solidFill>
                <a:schemeClr val="bg1"/>
              </a:solidFill>
            </a:endParaRPr>
          </a:p>
        </p:txBody>
      </p:sp>
      <p:sp>
        <p:nvSpPr>
          <p:cNvPr id="87" name="圓角矩形 86">
            <a:extLst>
              <a:ext uri="{FF2B5EF4-FFF2-40B4-BE49-F238E27FC236}">
                <a16:creationId xmlns:a16="http://schemas.microsoft.com/office/drawing/2014/main" id="{D0F0451D-6EFF-4CEC-3162-C497CC8AB259}"/>
              </a:ext>
            </a:extLst>
          </p:cNvPr>
          <p:cNvSpPr/>
          <p:nvPr/>
        </p:nvSpPr>
        <p:spPr>
          <a:xfrm rot="16200000">
            <a:off x="7475868" y="1445050"/>
            <a:ext cx="507439" cy="110351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kumimoji="1" lang="zh-TW" altLang="en-US" sz="2000" baseline="-25000" dirty="0"/>
          </a:p>
        </p:txBody>
      </p:sp>
      <p:sp>
        <p:nvSpPr>
          <p:cNvPr id="88" name="文字方塊 87">
            <a:extLst>
              <a:ext uri="{FF2B5EF4-FFF2-40B4-BE49-F238E27FC236}">
                <a16:creationId xmlns:a16="http://schemas.microsoft.com/office/drawing/2014/main" id="{427F012F-EEDF-B108-F515-13B05D860FB1}"/>
              </a:ext>
            </a:extLst>
          </p:cNvPr>
          <p:cNvSpPr txBox="1"/>
          <p:nvPr/>
        </p:nvSpPr>
        <p:spPr>
          <a:xfrm>
            <a:off x="7547228" y="1803993"/>
            <a:ext cx="578498" cy="369332"/>
          </a:xfrm>
          <a:prstGeom prst="rect">
            <a:avLst/>
          </a:prstGeom>
          <a:noFill/>
        </p:spPr>
        <p:txBody>
          <a:bodyPr wrap="square" rtlCol="0">
            <a:spAutoFit/>
          </a:bodyPr>
          <a:lstStyle/>
          <a:p>
            <a:r>
              <a:rPr kumimoji="1" lang="en-US" altLang="zh-TW" sz="1800" dirty="0">
                <a:solidFill>
                  <a:schemeClr val="bg1"/>
                </a:solidFill>
              </a:rPr>
              <a:t>v</a:t>
            </a:r>
            <a:r>
              <a:rPr kumimoji="1" lang="en-US" altLang="zh-TW" sz="1800" baseline="-25000" dirty="0">
                <a:solidFill>
                  <a:schemeClr val="bg1"/>
                </a:solidFill>
              </a:rPr>
              <a:t>3</a:t>
            </a:r>
            <a:endParaRPr kumimoji="1" lang="zh-TW" altLang="en-US" sz="1800" baseline="-25000" dirty="0">
              <a:solidFill>
                <a:schemeClr val="bg1"/>
              </a:solidFill>
            </a:endParaRPr>
          </a:p>
        </p:txBody>
      </p:sp>
      <p:sp>
        <p:nvSpPr>
          <p:cNvPr id="89" name="圓角矩形 88">
            <a:extLst>
              <a:ext uri="{FF2B5EF4-FFF2-40B4-BE49-F238E27FC236}">
                <a16:creationId xmlns:a16="http://schemas.microsoft.com/office/drawing/2014/main" id="{325AED92-C5FB-AEA6-9F6D-71E8E35E1562}"/>
              </a:ext>
            </a:extLst>
          </p:cNvPr>
          <p:cNvSpPr/>
          <p:nvPr/>
        </p:nvSpPr>
        <p:spPr>
          <a:xfrm rot="16200000">
            <a:off x="7470632" y="265501"/>
            <a:ext cx="507439" cy="1103516"/>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kumimoji="1" lang="zh-TW" altLang="en-US" sz="2000" baseline="-25000" dirty="0"/>
          </a:p>
        </p:txBody>
      </p:sp>
      <p:sp>
        <p:nvSpPr>
          <p:cNvPr id="90" name="文字方塊 89">
            <a:extLst>
              <a:ext uri="{FF2B5EF4-FFF2-40B4-BE49-F238E27FC236}">
                <a16:creationId xmlns:a16="http://schemas.microsoft.com/office/drawing/2014/main" id="{C113EB26-D53E-A218-72DB-A414EA8F5CA9}"/>
              </a:ext>
            </a:extLst>
          </p:cNvPr>
          <p:cNvSpPr txBox="1"/>
          <p:nvPr/>
        </p:nvSpPr>
        <p:spPr>
          <a:xfrm>
            <a:off x="7541992" y="624444"/>
            <a:ext cx="578498" cy="369332"/>
          </a:xfrm>
          <a:prstGeom prst="rect">
            <a:avLst/>
          </a:prstGeom>
          <a:noFill/>
        </p:spPr>
        <p:txBody>
          <a:bodyPr wrap="square" rtlCol="0">
            <a:spAutoFit/>
          </a:bodyPr>
          <a:lstStyle/>
          <a:p>
            <a:r>
              <a:rPr kumimoji="1" lang="en-US" altLang="zh-TW" sz="1800" dirty="0">
                <a:solidFill>
                  <a:schemeClr val="bg1"/>
                </a:solidFill>
              </a:rPr>
              <a:t>v</a:t>
            </a:r>
            <a:r>
              <a:rPr kumimoji="1" lang="en-US" altLang="zh-TW" sz="1800" baseline="-25000" dirty="0">
                <a:solidFill>
                  <a:schemeClr val="bg1"/>
                </a:solidFill>
              </a:rPr>
              <a:t>1</a:t>
            </a:r>
            <a:endParaRPr kumimoji="1" lang="zh-TW" altLang="en-US" sz="1800" baseline="-25000" dirty="0">
              <a:solidFill>
                <a:schemeClr val="bg1"/>
              </a:solidFill>
            </a:endParaRPr>
          </a:p>
        </p:txBody>
      </p:sp>
      <mc:AlternateContent xmlns:mc="http://schemas.openxmlformats.org/markup-compatibility/2006" xmlns:a14="http://schemas.microsoft.com/office/drawing/2010/main">
        <mc:Choice Requires="a14">
          <p:sp>
            <p:nvSpPr>
              <p:cNvPr id="91" name="文字方塊 90">
                <a:extLst>
                  <a:ext uri="{FF2B5EF4-FFF2-40B4-BE49-F238E27FC236}">
                    <a16:creationId xmlns:a16="http://schemas.microsoft.com/office/drawing/2014/main" id="{8BF1D2EC-13DF-A244-13C7-8824FAAC5596}"/>
                  </a:ext>
                </a:extLst>
              </p:cNvPr>
              <p:cNvSpPr txBox="1"/>
              <p:nvPr/>
            </p:nvSpPr>
            <p:spPr>
              <a:xfrm>
                <a:off x="7403072" y="78942"/>
                <a:ext cx="68690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𝑉</m:t>
                      </m:r>
                    </m:oMath>
                  </m:oMathPara>
                </a14:m>
                <a:endParaRPr lang="zh-TW" altLang="en-US" sz="2400" dirty="0"/>
              </a:p>
            </p:txBody>
          </p:sp>
        </mc:Choice>
        <mc:Fallback xmlns="">
          <p:sp>
            <p:nvSpPr>
              <p:cNvPr id="91" name="文字方塊 90">
                <a:extLst>
                  <a:ext uri="{FF2B5EF4-FFF2-40B4-BE49-F238E27FC236}">
                    <a16:creationId xmlns:a16="http://schemas.microsoft.com/office/drawing/2014/main" id="{8BF1D2EC-13DF-A244-13C7-8824FAAC5596}"/>
                  </a:ext>
                </a:extLst>
              </p:cNvPr>
              <p:cNvSpPr txBox="1">
                <a:spLocks noRot="1" noChangeAspect="1" noMove="1" noResize="1" noEditPoints="1" noAdjustHandles="1" noChangeArrowheads="1" noChangeShapeType="1" noTextEdit="1"/>
              </p:cNvSpPr>
              <p:nvPr/>
            </p:nvSpPr>
            <p:spPr>
              <a:xfrm>
                <a:off x="7403072" y="78942"/>
                <a:ext cx="686909" cy="461665"/>
              </a:xfrm>
              <a:prstGeom prst="rect">
                <a:avLst/>
              </a:prstGeom>
              <a:blipFill>
                <a:blip r:embed="rId28"/>
                <a:stretch>
                  <a:fillRect/>
                </a:stretch>
              </a:blipFill>
            </p:spPr>
            <p:txBody>
              <a:bodyPr/>
              <a:lstStyle/>
              <a:p>
                <a:r>
                  <a:rPr lang="zh-TW" altLang="en-US">
                    <a:noFill/>
                  </a:rPr>
                  <a:t> </a:t>
                </a:r>
              </a:p>
            </p:txBody>
          </p:sp>
        </mc:Fallback>
      </mc:AlternateContent>
      <p:sp>
        <p:nvSpPr>
          <p:cNvPr id="92" name="文字方塊 91">
            <a:extLst>
              <a:ext uri="{FF2B5EF4-FFF2-40B4-BE49-F238E27FC236}">
                <a16:creationId xmlns:a16="http://schemas.microsoft.com/office/drawing/2014/main" id="{F4FAD033-7450-D106-4E5B-7B167B75A749}"/>
              </a:ext>
            </a:extLst>
          </p:cNvPr>
          <p:cNvSpPr txBox="1"/>
          <p:nvPr/>
        </p:nvSpPr>
        <p:spPr>
          <a:xfrm>
            <a:off x="7389710" y="2252795"/>
            <a:ext cx="805300" cy="369332"/>
          </a:xfrm>
          <a:prstGeom prst="rect">
            <a:avLst/>
          </a:prstGeom>
          <a:noFill/>
        </p:spPr>
        <p:txBody>
          <a:bodyPr wrap="square" rtlCol="0">
            <a:spAutoFit/>
          </a:bodyPr>
          <a:lstStyle/>
          <a:p>
            <a:r>
              <a:rPr kumimoji="1" lang="en-US" altLang="zh-TW" dirty="0"/>
              <a:t>N x d</a:t>
            </a:r>
            <a:r>
              <a:rPr kumimoji="1" lang="en-US" altLang="zh-TW" baseline="-25000" dirty="0"/>
              <a:t>v</a:t>
            </a:r>
            <a:endParaRPr kumimoji="1" lang="zh-TW" altLang="en-US" baseline="-25000" dirty="0"/>
          </a:p>
        </p:txBody>
      </p:sp>
      <p:sp>
        <p:nvSpPr>
          <p:cNvPr id="93" name="圓角矩形 92">
            <a:extLst>
              <a:ext uri="{FF2B5EF4-FFF2-40B4-BE49-F238E27FC236}">
                <a16:creationId xmlns:a16="http://schemas.microsoft.com/office/drawing/2014/main" id="{455C4173-28C4-B4D8-18C8-57535EF84844}"/>
              </a:ext>
            </a:extLst>
          </p:cNvPr>
          <p:cNvSpPr/>
          <p:nvPr/>
        </p:nvSpPr>
        <p:spPr>
          <a:xfrm rot="16200000">
            <a:off x="9094423" y="860043"/>
            <a:ext cx="507439" cy="1103516"/>
          </a:xfrm>
          <a:prstGeom prst="roundRect">
            <a:avLst/>
          </a:prstGeom>
          <a:solidFill>
            <a:schemeClr val="bg1"/>
          </a:solidFill>
          <a:ln w="19050">
            <a:solidFill>
              <a:srgbClr val="0070C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kumimoji="1" lang="zh-TW" altLang="en-US" sz="2000" baseline="-25000" dirty="0"/>
          </a:p>
        </p:txBody>
      </p:sp>
      <p:sp>
        <p:nvSpPr>
          <p:cNvPr id="94" name="文字方塊 93">
            <a:extLst>
              <a:ext uri="{FF2B5EF4-FFF2-40B4-BE49-F238E27FC236}">
                <a16:creationId xmlns:a16="http://schemas.microsoft.com/office/drawing/2014/main" id="{36E7B041-AE05-EE2B-6EA1-92F42DD90CD6}"/>
              </a:ext>
            </a:extLst>
          </p:cNvPr>
          <p:cNvSpPr txBox="1"/>
          <p:nvPr/>
        </p:nvSpPr>
        <p:spPr>
          <a:xfrm>
            <a:off x="9165783" y="1218986"/>
            <a:ext cx="578498" cy="369332"/>
          </a:xfrm>
          <a:prstGeom prst="rect">
            <a:avLst/>
          </a:prstGeom>
          <a:noFill/>
        </p:spPr>
        <p:txBody>
          <a:bodyPr wrap="square" rtlCol="0">
            <a:spAutoFit/>
          </a:bodyPr>
          <a:lstStyle/>
          <a:p>
            <a:r>
              <a:rPr kumimoji="1" lang="en-US" altLang="zh-TW" dirty="0"/>
              <a:t>e</a:t>
            </a:r>
            <a:r>
              <a:rPr kumimoji="1" lang="en-US" altLang="zh-TW" sz="1800" baseline="-25000" dirty="0"/>
              <a:t>2</a:t>
            </a:r>
            <a:endParaRPr kumimoji="1" lang="zh-TW" altLang="en-US" sz="1800" baseline="-25000" dirty="0"/>
          </a:p>
        </p:txBody>
      </p:sp>
      <p:sp>
        <p:nvSpPr>
          <p:cNvPr id="95" name="圓角矩形 94">
            <a:extLst>
              <a:ext uri="{FF2B5EF4-FFF2-40B4-BE49-F238E27FC236}">
                <a16:creationId xmlns:a16="http://schemas.microsoft.com/office/drawing/2014/main" id="{7467C89F-3E1D-B002-34AF-3D4F5C707E79}"/>
              </a:ext>
            </a:extLst>
          </p:cNvPr>
          <p:cNvSpPr/>
          <p:nvPr/>
        </p:nvSpPr>
        <p:spPr>
          <a:xfrm rot="16200000">
            <a:off x="9092637" y="1449817"/>
            <a:ext cx="507439" cy="1103516"/>
          </a:xfrm>
          <a:prstGeom prst="roundRect">
            <a:avLst/>
          </a:prstGeom>
          <a:noFill/>
          <a:ln w="19050">
            <a:solidFill>
              <a:srgbClr val="0070C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kumimoji="1" lang="zh-TW" altLang="en-US" sz="2000" baseline="-25000" dirty="0"/>
          </a:p>
        </p:txBody>
      </p:sp>
      <p:sp>
        <p:nvSpPr>
          <p:cNvPr id="96" name="文字方塊 95">
            <a:extLst>
              <a:ext uri="{FF2B5EF4-FFF2-40B4-BE49-F238E27FC236}">
                <a16:creationId xmlns:a16="http://schemas.microsoft.com/office/drawing/2014/main" id="{12A00125-167D-2903-EBC7-73AEC8192DBD}"/>
              </a:ext>
            </a:extLst>
          </p:cNvPr>
          <p:cNvSpPr txBox="1"/>
          <p:nvPr/>
        </p:nvSpPr>
        <p:spPr>
          <a:xfrm>
            <a:off x="9163997" y="1808760"/>
            <a:ext cx="578498" cy="369332"/>
          </a:xfrm>
          <a:prstGeom prst="rect">
            <a:avLst/>
          </a:prstGeom>
          <a:noFill/>
        </p:spPr>
        <p:txBody>
          <a:bodyPr wrap="square" rtlCol="0">
            <a:spAutoFit/>
          </a:bodyPr>
          <a:lstStyle/>
          <a:p>
            <a:r>
              <a:rPr kumimoji="1" lang="en-US" altLang="zh-TW" sz="1800" dirty="0"/>
              <a:t>e</a:t>
            </a:r>
            <a:r>
              <a:rPr kumimoji="1" lang="en-US" altLang="zh-TW" sz="1800" baseline="-25000" dirty="0"/>
              <a:t>3</a:t>
            </a:r>
            <a:endParaRPr kumimoji="1" lang="zh-TW" altLang="en-US" sz="1800" baseline="-25000" dirty="0"/>
          </a:p>
        </p:txBody>
      </p:sp>
      <p:sp>
        <p:nvSpPr>
          <p:cNvPr id="97" name="圓角矩形 96">
            <a:extLst>
              <a:ext uri="{FF2B5EF4-FFF2-40B4-BE49-F238E27FC236}">
                <a16:creationId xmlns:a16="http://schemas.microsoft.com/office/drawing/2014/main" id="{0189331B-934D-323C-D2F6-F22A003873A9}"/>
              </a:ext>
            </a:extLst>
          </p:cNvPr>
          <p:cNvSpPr/>
          <p:nvPr/>
        </p:nvSpPr>
        <p:spPr>
          <a:xfrm rot="16200000">
            <a:off x="9087401" y="270268"/>
            <a:ext cx="507439" cy="1103516"/>
          </a:xfrm>
          <a:prstGeom prst="roundRect">
            <a:avLst/>
          </a:prstGeom>
          <a:noFill/>
          <a:ln w="19050">
            <a:solidFill>
              <a:srgbClr val="0070C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kumimoji="1" lang="zh-TW" altLang="en-US" sz="2000" baseline="-25000" dirty="0"/>
          </a:p>
        </p:txBody>
      </p:sp>
      <p:sp>
        <p:nvSpPr>
          <p:cNvPr id="98" name="文字方塊 97">
            <a:extLst>
              <a:ext uri="{FF2B5EF4-FFF2-40B4-BE49-F238E27FC236}">
                <a16:creationId xmlns:a16="http://schemas.microsoft.com/office/drawing/2014/main" id="{8ABC1E60-EE0D-BCD4-846D-4A9E35160D61}"/>
              </a:ext>
            </a:extLst>
          </p:cNvPr>
          <p:cNvSpPr txBox="1"/>
          <p:nvPr/>
        </p:nvSpPr>
        <p:spPr>
          <a:xfrm>
            <a:off x="9158761" y="629211"/>
            <a:ext cx="578498" cy="369332"/>
          </a:xfrm>
          <a:prstGeom prst="rect">
            <a:avLst/>
          </a:prstGeom>
          <a:noFill/>
        </p:spPr>
        <p:txBody>
          <a:bodyPr wrap="square" rtlCol="0">
            <a:spAutoFit/>
          </a:bodyPr>
          <a:lstStyle/>
          <a:p>
            <a:r>
              <a:rPr kumimoji="1" lang="en-US" altLang="zh-TW" sz="1800" dirty="0"/>
              <a:t>e</a:t>
            </a:r>
            <a:r>
              <a:rPr kumimoji="1" lang="en-US" altLang="zh-TW" sz="1800" baseline="-25000" dirty="0"/>
              <a:t>1</a:t>
            </a:r>
            <a:endParaRPr kumimoji="1" lang="zh-TW" altLang="en-US" sz="1800" baseline="-25000" dirty="0"/>
          </a:p>
        </p:txBody>
      </p:sp>
      <p:sp>
        <p:nvSpPr>
          <p:cNvPr id="99" name="圓角矩形 98">
            <a:extLst>
              <a:ext uri="{FF2B5EF4-FFF2-40B4-BE49-F238E27FC236}">
                <a16:creationId xmlns:a16="http://schemas.microsoft.com/office/drawing/2014/main" id="{C6C843D6-26E5-231D-ED5C-7186E77EE696}"/>
              </a:ext>
            </a:extLst>
          </p:cNvPr>
          <p:cNvSpPr/>
          <p:nvPr/>
        </p:nvSpPr>
        <p:spPr>
          <a:xfrm rot="16200000">
            <a:off x="9960024" y="549455"/>
            <a:ext cx="1732052" cy="1721804"/>
          </a:xfrm>
          <a:prstGeom prst="roundRect">
            <a:avLst/>
          </a:prstGeom>
          <a:ln w="19050">
            <a:solidFill>
              <a:srgbClr val="FF0000"/>
            </a:solidFill>
          </a:ln>
        </p:spPr>
        <p:style>
          <a:lnRef idx="3">
            <a:schemeClr val="lt1"/>
          </a:lnRef>
          <a:fillRef idx="1">
            <a:schemeClr val="accent4"/>
          </a:fillRef>
          <a:effectRef idx="1">
            <a:schemeClr val="accent4"/>
          </a:effectRef>
          <a:fontRef idx="minor">
            <a:schemeClr val="lt1"/>
          </a:fontRef>
        </p:style>
        <p:txBody>
          <a:bodyPr rtlCol="0" anchor="ctr"/>
          <a:lstStyle/>
          <a:p>
            <a:pPr algn="ctr"/>
            <a:endParaRPr kumimoji="1" lang="zh-TW" altLang="en-US" sz="2000" baseline="-25000" dirty="0"/>
          </a:p>
        </p:txBody>
      </p:sp>
      <p:sp>
        <p:nvSpPr>
          <p:cNvPr id="100" name="文字方塊 99">
            <a:extLst>
              <a:ext uri="{FF2B5EF4-FFF2-40B4-BE49-F238E27FC236}">
                <a16:creationId xmlns:a16="http://schemas.microsoft.com/office/drawing/2014/main" id="{DB2556D8-DA42-293F-7CAE-3B30083A046C}"/>
              </a:ext>
            </a:extLst>
          </p:cNvPr>
          <p:cNvSpPr txBox="1"/>
          <p:nvPr/>
        </p:nvSpPr>
        <p:spPr>
          <a:xfrm>
            <a:off x="10502385" y="1205476"/>
            <a:ext cx="671571" cy="461665"/>
          </a:xfrm>
          <a:prstGeom prst="rect">
            <a:avLst/>
          </a:prstGeom>
          <a:noFill/>
        </p:spPr>
        <p:txBody>
          <a:bodyPr wrap="square" rtlCol="0">
            <a:spAutoFit/>
          </a:bodyPr>
          <a:lstStyle/>
          <a:p>
            <a:r>
              <a:rPr kumimoji="1" lang="en-US" altLang="zh-TW" sz="2400" dirty="0">
                <a:solidFill>
                  <a:schemeClr val="bg1"/>
                </a:solidFill>
              </a:rPr>
              <a:t>W</a:t>
            </a:r>
            <a:r>
              <a:rPr kumimoji="1" lang="en-US" altLang="zh-TW" sz="2400" baseline="30000" dirty="0">
                <a:solidFill>
                  <a:schemeClr val="bg1"/>
                </a:solidFill>
              </a:rPr>
              <a:t>V</a:t>
            </a:r>
            <a:endParaRPr kumimoji="1" lang="zh-TW" altLang="en-US" sz="2400" baseline="-25000" dirty="0">
              <a:solidFill>
                <a:schemeClr val="bg1"/>
              </a:solidFill>
            </a:endParaRPr>
          </a:p>
        </p:txBody>
      </p:sp>
      <p:sp>
        <p:nvSpPr>
          <p:cNvPr id="101" name="文字方塊 100">
            <a:extLst>
              <a:ext uri="{FF2B5EF4-FFF2-40B4-BE49-F238E27FC236}">
                <a16:creationId xmlns:a16="http://schemas.microsoft.com/office/drawing/2014/main" id="{10A4335E-E8DF-E986-DD1D-F4A89A46919D}"/>
              </a:ext>
            </a:extLst>
          </p:cNvPr>
          <p:cNvSpPr txBox="1"/>
          <p:nvPr/>
        </p:nvSpPr>
        <p:spPr>
          <a:xfrm>
            <a:off x="10252242" y="2300360"/>
            <a:ext cx="1359656" cy="369332"/>
          </a:xfrm>
          <a:prstGeom prst="rect">
            <a:avLst/>
          </a:prstGeom>
          <a:noFill/>
        </p:spPr>
        <p:txBody>
          <a:bodyPr wrap="square" rtlCol="0">
            <a:spAutoFit/>
          </a:bodyPr>
          <a:lstStyle/>
          <a:p>
            <a:r>
              <a:rPr kumimoji="1" lang="en-US" altLang="zh-TW" dirty="0" err="1"/>
              <a:t>d</a:t>
            </a:r>
            <a:r>
              <a:rPr kumimoji="1" lang="en-US" altLang="zh-TW" baseline="-25000" dirty="0" err="1"/>
              <a:t>model</a:t>
            </a:r>
            <a:r>
              <a:rPr kumimoji="1" lang="en-US" altLang="zh-TW" dirty="0"/>
              <a:t> x d</a:t>
            </a:r>
            <a:r>
              <a:rPr kumimoji="1" lang="en-US" altLang="zh-TW" baseline="-25000" dirty="0"/>
              <a:t>v</a:t>
            </a:r>
            <a:endParaRPr kumimoji="1" lang="zh-TW" altLang="en-US" baseline="-25000" dirty="0"/>
          </a:p>
        </p:txBody>
      </p:sp>
      <p:sp>
        <p:nvSpPr>
          <p:cNvPr id="102" name="文字方塊 101">
            <a:extLst>
              <a:ext uri="{FF2B5EF4-FFF2-40B4-BE49-F238E27FC236}">
                <a16:creationId xmlns:a16="http://schemas.microsoft.com/office/drawing/2014/main" id="{C561EEED-06B7-586C-69AF-D1CB6F980DBE}"/>
              </a:ext>
            </a:extLst>
          </p:cNvPr>
          <p:cNvSpPr txBox="1"/>
          <p:nvPr/>
        </p:nvSpPr>
        <p:spPr>
          <a:xfrm>
            <a:off x="8824535" y="2300360"/>
            <a:ext cx="1151855" cy="369332"/>
          </a:xfrm>
          <a:prstGeom prst="rect">
            <a:avLst/>
          </a:prstGeom>
          <a:noFill/>
        </p:spPr>
        <p:txBody>
          <a:bodyPr wrap="square" rtlCol="0">
            <a:spAutoFit/>
          </a:bodyPr>
          <a:lstStyle/>
          <a:p>
            <a:r>
              <a:rPr kumimoji="1" lang="en-US" altLang="zh-TW" dirty="0"/>
              <a:t>N x </a:t>
            </a:r>
            <a:r>
              <a:rPr kumimoji="1" lang="en-US" altLang="zh-TW" dirty="0" err="1"/>
              <a:t>d</a:t>
            </a:r>
            <a:r>
              <a:rPr kumimoji="1" lang="en-US" altLang="zh-TW" baseline="-25000" dirty="0" err="1"/>
              <a:t>model</a:t>
            </a:r>
            <a:endParaRPr kumimoji="1" lang="zh-TW" altLang="en-US" baseline="-25000" dirty="0"/>
          </a:p>
        </p:txBody>
      </p:sp>
      <p:sp>
        <p:nvSpPr>
          <p:cNvPr id="103" name="文字方塊 102">
            <a:extLst>
              <a:ext uri="{FF2B5EF4-FFF2-40B4-BE49-F238E27FC236}">
                <a16:creationId xmlns:a16="http://schemas.microsoft.com/office/drawing/2014/main" id="{1B5E721C-54FB-AFA6-1BDF-0B3CC9713FB4}"/>
              </a:ext>
            </a:extLst>
          </p:cNvPr>
          <p:cNvSpPr txBox="1"/>
          <p:nvPr/>
        </p:nvSpPr>
        <p:spPr>
          <a:xfrm>
            <a:off x="8263832" y="1113142"/>
            <a:ext cx="509155" cy="646331"/>
          </a:xfrm>
          <a:prstGeom prst="rect">
            <a:avLst/>
          </a:prstGeom>
          <a:noFill/>
        </p:spPr>
        <p:txBody>
          <a:bodyPr wrap="square" rtlCol="0">
            <a:spAutoFit/>
          </a:bodyPr>
          <a:lstStyle/>
          <a:p>
            <a:pPr algn="ctr"/>
            <a:r>
              <a:rPr kumimoji="1" lang="en-US" altLang="zh-TW" sz="3600" b="1" dirty="0"/>
              <a:t>=</a:t>
            </a:r>
            <a:endParaRPr kumimoji="1" lang="zh-TW" altLang="en-US" sz="3600" b="1" dirty="0"/>
          </a:p>
        </p:txBody>
      </p:sp>
      <mc:AlternateContent xmlns:mc="http://schemas.openxmlformats.org/markup-compatibility/2006" xmlns:a14="http://schemas.microsoft.com/office/drawing/2010/main">
        <mc:Choice Requires="a14">
          <p:sp>
            <p:nvSpPr>
              <p:cNvPr id="104" name="文字方塊 103">
                <a:extLst>
                  <a:ext uri="{FF2B5EF4-FFF2-40B4-BE49-F238E27FC236}">
                    <a16:creationId xmlns:a16="http://schemas.microsoft.com/office/drawing/2014/main" id="{58BA6DBA-86EF-B3BB-BEC2-86B2BDC6B2BE}"/>
                  </a:ext>
                </a:extLst>
              </p:cNvPr>
              <p:cNvSpPr txBox="1"/>
              <p:nvPr/>
            </p:nvSpPr>
            <p:spPr>
              <a:xfrm>
                <a:off x="653143" y="4112960"/>
                <a:ext cx="971318" cy="59497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zh-TW" altLang="en-US" sz="3200" i="1" smtClean="0">
                              <a:solidFill>
                                <a:schemeClr val="tx1"/>
                              </a:solidFill>
                              <a:latin typeface="Cambria Math" panose="02040503050406030204" pitchFamily="18" charset="0"/>
                            </a:rPr>
                          </m:ctrlPr>
                        </m:accPr>
                        <m:e>
                          <m:r>
                            <a:rPr lang="zh-TW" altLang="en-US" sz="3200" i="1">
                              <a:solidFill>
                                <a:schemeClr val="tx1"/>
                              </a:solidFill>
                              <a:latin typeface="Cambria Math" panose="02040503050406030204" pitchFamily="18" charset="0"/>
                            </a:rPr>
                            <m:t>𝐴</m:t>
                          </m:r>
                        </m:e>
                      </m:acc>
                      <m:r>
                        <a:rPr lang="en-US" altLang="zh-TW" sz="3200" b="0" i="1" smtClean="0">
                          <a:solidFill>
                            <a:schemeClr val="tx1"/>
                          </a:solidFill>
                          <a:latin typeface="Cambria Math" panose="02040503050406030204" pitchFamily="18" charset="0"/>
                        </a:rPr>
                        <m:t>=</m:t>
                      </m:r>
                    </m:oMath>
                  </m:oMathPara>
                </a14:m>
                <a:endParaRPr kumimoji="1" lang="zh-TW" altLang="en-US" sz="3200" dirty="0"/>
              </a:p>
            </p:txBody>
          </p:sp>
        </mc:Choice>
        <mc:Fallback xmlns="">
          <p:sp>
            <p:nvSpPr>
              <p:cNvPr id="104" name="文字方塊 103">
                <a:extLst>
                  <a:ext uri="{FF2B5EF4-FFF2-40B4-BE49-F238E27FC236}">
                    <a16:creationId xmlns:a16="http://schemas.microsoft.com/office/drawing/2014/main" id="{58BA6DBA-86EF-B3BB-BEC2-86B2BDC6B2BE}"/>
                  </a:ext>
                </a:extLst>
              </p:cNvPr>
              <p:cNvSpPr txBox="1">
                <a:spLocks noRot="1" noChangeAspect="1" noMove="1" noResize="1" noEditPoints="1" noAdjustHandles="1" noChangeArrowheads="1" noChangeShapeType="1" noTextEdit="1"/>
              </p:cNvSpPr>
              <p:nvPr/>
            </p:nvSpPr>
            <p:spPr>
              <a:xfrm>
                <a:off x="653143" y="4112960"/>
                <a:ext cx="971318" cy="594971"/>
              </a:xfrm>
              <a:prstGeom prst="rect">
                <a:avLst/>
              </a:prstGeom>
              <a:blipFill>
                <a:blip r:embed="rId2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5" name="文字方塊 104">
                <a:extLst>
                  <a:ext uri="{FF2B5EF4-FFF2-40B4-BE49-F238E27FC236}">
                    <a16:creationId xmlns:a16="http://schemas.microsoft.com/office/drawing/2014/main" id="{43177382-D58A-CBED-2B13-C9E8313E571B}"/>
                  </a:ext>
                </a:extLst>
              </p:cNvPr>
              <p:cNvSpPr txBox="1"/>
              <p:nvPr/>
            </p:nvSpPr>
            <p:spPr>
              <a:xfrm>
                <a:off x="4541492" y="4188000"/>
                <a:ext cx="971318"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sz="2400" i="1" smtClean="0">
                          <a:solidFill>
                            <a:schemeClr val="tx1"/>
                          </a:solidFill>
                          <a:latin typeface="Cambria Math" panose="02040503050406030204" pitchFamily="18" charset="0"/>
                        </a:rPr>
                        <m:t>+</m:t>
                      </m:r>
                    </m:oMath>
                  </m:oMathPara>
                </a14:m>
                <a:endParaRPr kumimoji="1" lang="zh-TW" altLang="en-US" sz="2400" dirty="0"/>
              </a:p>
            </p:txBody>
          </p:sp>
        </mc:Choice>
        <mc:Fallback xmlns="">
          <p:sp>
            <p:nvSpPr>
              <p:cNvPr id="105" name="文字方塊 104">
                <a:extLst>
                  <a:ext uri="{FF2B5EF4-FFF2-40B4-BE49-F238E27FC236}">
                    <a16:creationId xmlns:a16="http://schemas.microsoft.com/office/drawing/2014/main" id="{43177382-D58A-CBED-2B13-C9E8313E571B}"/>
                  </a:ext>
                </a:extLst>
              </p:cNvPr>
              <p:cNvSpPr txBox="1">
                <a:spLocks noRot="1" noChangeAspect="1" noMove="1" noResize="1" noEditPoints="1" noAdjustHandles="1" noChangeArrowheads="1" noChangeShapeType="1" noTextEdit="1"/>
              </p:cNvSpPr>
              <p:nvPr/>
            </p:nvSpPr>
            <p:spPr>
              <a:xfrm>
                <a:off x="4541492" y="4188000"/>
                <a:ext cx="971318" cy="461665"/>
              </a:xfrm>
              <a:prstGeom prst="rect">
                <a:avLst/>
              </a:prstGeom>
              <a:blipFill>
                <a:blip r:embed="rId3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6" name="文字方塊 105">
                <a:extLst>
                  <a:ext uri="{FF2B5EF4-FFF2-40B4-BE49-F238E27FC236}">
                    <a16:creationId xmlns:a16="http://schemas.microsoft.com/office/drawing/2014/main" id="{4D68017C-2B02-B4DF-D7EB-7F0848D0DA39}"/>
                  </a:ext>
                </a:extLst>
              </p:cNvPr>
              <p:cNvSpPr txBox="1"/>
              <p:nvPr/>
            </p:nvSpPr>
            <p:spPr>
              <a:xfrm>
                <a:off x="7995386" y="4171417"/>
                <a:ext cx="971318"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sz="2400" i="1" smtClean="0">
                          <a:solidFill>
                            <a:schemeClr val="tx1"/>
                          </a:solidFill>
                          <a:latin typeface="Cambria Math" panose="02040503050406030204" pitchFamily="18" charset="0"/>
                        </a:rPr>
                        <m:t>+</m:t>
                      </m:r>
                    </m:oMath>
                  </m:oMathPara>
                </a14:m>
                <a:endParaRPr kumimoji="1" lang="zh-TW" altLang="en-US" sz="2400" dirty="0"/>
              </a:p>
            </p:txBody>
          </p:sp>
        </mc:Choice>
        <mc:Fallback xmlns="">
          <p:sp>
            <p:nvSpPr>
              <p:cNvPr id="106" name="文字方塊 105">
                <a:extLst>
                  <a:ext uri="{FF2B5EF4-FFF2-40B4-BE49-F238E27FC236}">
                    <a16:creationId xmlns:a16="http://schemas.microsoft.com/office/drawing/2014/main" id="{4D68017C-2B02-B4DF-D7EB-7F0848D0DA39}"/>
                  </a:ext>
                </a:extLst>
              </p:cNvPr>
              <p:cNvSpPr txBox="1">
                <a:spLocks noRot="1" noChangeAspect="1" noMove="1" noResize="1" noEditPoints="1" noAdjustHandles="1" noChangeArrowheads="1" noChangeShapeType="1" noTextEdit="1"/>
              </p:cNvSpPr>
              <p:nvPr/>
            </p:nvSpPr>
            <p:spPr>
              <a:xfrm>
                <a:off x="7995386" y="4171417"/>
                <a:ext cx="971318" cy="461665"/>
              </a:xfrm>
              <a:prstGeom prst="rect">
                <a:avLst/>
              </a:prstGeom>
              <a:blipFill>
                <a:blip r:embed="rId31"/>
                <a:stretch>
                  <a:fillRect/>
                </a:stretch>
              </a:blipFill>
            </p:spPr>
            <p:txBody>
              <a:bodyPr/>
              <a:lstStyle/>
              <a:p>
                <a:r>
                  <a:rPr lang="zh-TW" altLang="en-US">
                    <a:noFill/>
                  </a:rPr>
                  <a:t> </a:t>
                </a:r>
              </a:p>
            </p:txBody>
          </p:sp>
        </mc:Fallback>
      </mc:AlternateContent>
      <p:grpSp>
        <p:nvGrpSpPr>
          <p:cNvPr id="22" name="群組 21">
            <a:extLst>
              <a:ext uri="{FF2B5EF4-FFF2-40B4-BE49-F238E27FC236}">
                <a16:creationId xmlns:a16="http://schemas.microsoft.com/office/drawing/2014/main" id="{DD4EB81B-2B78-665A-DBA3-AF0493FFD434}"/>
              </a:ext>
            </a:extLst>
          </p:cNvPr>
          <p:cNvGrpSpPr/>
          <p:nvPr/>
        </p:nvGrpSpPr>
        <p:grpSpPr>
          <a:xfrm>
            <a:off x="6540206" y="3593636"/>
            <a:ext cx="3311024" cy="1682964"/>
            <a:chOff x="6540206" y="3593636"/>
            <a:chExt cx="3311024" cy="1682964"/>
          </a:xfrm>
        </p:grpSpPr>
        <p:sp>
          <p:nvSpPr>
            <p:cNvPr id="3" name="圓角矩形 2">
              <a:extLst>
                <a:ext uri="{FF2B5EF4-FFF2-40B4-BE49-F238E27FC236}">
                  <a16:creationId xmlns:a16="http://schemas.microsoft.com/office/drawing/2014/main" id="{CAE43D91-4784-B65B-EE44-E30A501F65FE}"/>
                </a:ext>
              </a:extLst>
            </p:cNvPr>
            <p:cNvSpPr/>
            <p:nvPr/>
          </p:nvSpPr>
          <p:spPr>
            <a:xfrm>
              <a:off x="6540206" y="3906692"/>
              <a:ext cx="507439" cy="110351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 name="圓角矩形 5">
              <a:extLst>
                <a:ext uri="{FF2B5EF4-FFF2-40B4-BE49-F238E27FC236}">
                  <a16:creationId xmlns:a16="http://schemas.microsoft.com/office/drawing/2014/main" id="{68CC57BD-ABDB-1CD5-A2B1-78274AC6D586}"/>
                </a:ext>
              </a:extLst>
            </p:cNvPr>
            <p:cNvSpPr/>
            <p:nvPr/>
          </p:nvSpPr>
          <p:spPr>
            <a:xfrm>
              <a:off x="7134558" y="3906692"/>
              <a:ext cx="507439" cy="110351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 name="圓角矩形 17">
              <a:extLst>
                <a:ext uri="{FF2B5EF4-FFF2-40B4-BE49-F238E27FC236}">
                  <a16:creationId xmlns:a16="http://schemas.microsoft.com/office/drawing/2014/main" id="{AD28F68D-26E3-2B3C-246B-18FBCA96486A}"/>
                </a:ext>
              </a:extLst>
            </p:cNvPr>
            <p:cNvSpPr/>
            <p:nvPr/>
          </p:nvSpPr>
          <p:spPr>
            <a:xfrm>
              <a:off x="7706515" y="3905091"/>
              <a:ext cx="507439" cy="110351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9" name="圓角矩形 18">
              <a:extLst>
                <a:ext uri="{FF2B5EF4-FFF2-40B4-BE49-F238E27FC236}">
                  <a16:creationId xmlns:a16="http://schemas.microsoft.com/office/drawing/2014/main" id="{944DAEE5-4C01-1A22-BA0C-1DA4A1777E9A}"/>
                </a:ext>
              </a:extLst>
            </p:cNvPr>
            <p:cNvSpPr/>
            <p:nvPr/>
          </p:nvSpPr>
          <p:spPr>
            <a:xfrm rot="5400000">
              <a:off x="9030361" y="3295598"/>
              <a:ext cx="507439" cy="110351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 name="圓角矩形 19">
              <a:extLst>
                <a:ext uri="{FF2B5EF4-FFF2-40B4-BE49-F238E27FC236}">
                  <a16:creationId xmlns:a16="http://schemas.microsoft.com/office/drawing/2014/main" id="{787626C0-68CD-9D1A-24BF-1CD9A9FE922D}"/>
                </a:ext>
              </a:extLst>
            </p:cNvPr>
            <p:cNvSpPr/>
            <p:nvPr/>
          </p:nvSpPr>
          <p:spPr>
            <a:xfrm rot="5400000">
              <a:off x="9038395" y="3888218"/>
              <a:ext cx="507439" cy="110351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 name="圓角矩形 20">
              <a:extLst>
                <a:ext uri="{FF2B5EF4-FFF2-40B4-BE49-F238E27FC236}">
                  <a16:creationId xmlns:a16="http://schemas.microsoft.com/office/drawing/2014/main" id="{4108BCB3-5C34-2A2D-2F79-DB3513091160}"/>
                </a:ext>
              </a:extLst>
            </p:cNvPr>
            <p:cNvSpPr/>
            <p:nvPr/>
          </p:nvSpPr>
          <p:spPr>
            <a:xfrm rot="5400000">
              <a:off x="9045752" y="4471123"/>
              <a:ext cx="507439" cy="110351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sp>
        <p:nvSpPr>
          <p:cNvPr id="23" name="文字方塊 22">
            <a:extLst>
              <a:ext uri="{FF2B5EF4-FFF2-40B4-BE49-F238E27FC236}">
                <a16:creationId xmlns:a16="http://schemas.microsoft.com/office/drawing/2014/main" id="{8AE87DA8-8F85-2431-98FD-C16F4732DB46}"/>
              </a:ext>
            </a:extLst>
          </p:cNvPr>
          <p:cNvSpPr txBox="1"/>
          <p:nvPr/>
        </p:nvSpPr>
        <p:spPr>
          <a:xfrm>
            <a:off x="5567706" y="5404613"/>
            <a:ext cx="5208801" cy="369332"/>
          </a:xfrm>
          <a:prstGeom prst="rect">
            <a:avLst/>
          </a:prstGeom>
          <a:noFill/>
        </p:spPr>
        <p:txBody>
          <a:bodyPr wrap="square" rtlCol="0">
            <a:spAutoFit/>
          </a:bodyPr>
          <a:lstStyle/>
          <a:p>
            <a:pPr algn="ctr"/>
            <a:r>
              <a:rPr kumimoji="1" lang="en-US" altLang="zh-TW" dirty="0">
                <a:solidFill>
                  <a:srgbClr val="FF0000"/>
                </a:solidFill>
              </a:rPr>
              <a:t>(</a:t>
            </a:r>
            <a:r>
              <a:rPr kumimoji="1" lang="zh-TW" altLang="en-US" dirty="0">
                <a:solidFill>
                  <a:srgbClr val="FF0000"/>
                </a:solidFill>
              </a:rPr>
              <a:t>本頁的 </a:t>
            </a:r>
            <a:r>
              <a:rPr kumimoji="1" lang="en-US" altLang="zh-TW" dirty="0">
                <a:solidFill>
                  <a:srgbClr val="FF0000"/>
                </a:solidFill>
              </a:rPr>
              <a:t>positional embedding</a:t>
            </a:r>
            <a:r>
              <a:rPr kumimoji="1" lang="zh-TW" altLang="en-US" dirty="0">
                <a:solidFill>
                  <a:srgbClr val="FF0000"/>
                </a:solidFill>
              </a:rPr>
              <a:t> 對象有經過簡化</a:t>
            </a:r>
            <a:r>
              <a:rPr kumimoji="1" lang="en-US" altLang="zh-TW" dirty="0">
                <a:solidFill>
                  <a:srgbClr val="FF0000"/>
                </a:solidFill>
              </a:rPr>
              <a:t>)</a:t>
            </a:r>
            <a:endParaRPr kumimoji="1" lang="zh-TW" altLang="en-US" dirty="0">
              <a:solidFill>
                <a:srgbClr val="FF0000"/>
              </a:solidFill>
            </a:endParaRPr>
          </a:p>
        </p:txBody>
      </p:sp>
    </p:spTree>
    <p:extLst>
      <p:ext uri="{BB962C8B-B14F-4D97-AF65-F5344CB8AC3E}">
        <p14:creationId xmlns:p14="http://schemas.microsoft.com/office/powerpoint/2010/main" val="3758785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p:bldP spid="2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320E10-9F19-C328-E74E-D1C3D0A089F6}"/>
              </a:ext>
            </a:extLst>
          </p:cNvPr>
          <p:cNvSpPr>
            <a:spLocks noGrp="1"/>
          </p:cNvSpPr>
          <p:nvPr>
            <p:ph type="title"/>
          </p:nvPr>
        </p:nvSpPr>
        <p:spPr/>
        <p:txBody>
          <a:bodyPr/>
          <a:lstStyle/>
          <a:p>
            <a:r>
              <a:rPr kumimoji="1" lang="en" altLang="zh-TW" dirty="0"/>
              <a:t>Positional Embedding </a:t>
            </a:r>
            <a:r>
              <a:rPr kumimoji="1" lang="zh-TW" altLang="en-US" dirty="0"/>
              <a:t>要取哪一個？</a:t>
            </a:r>
          </a:p>
        </p:txBody>
      </p:sp>
      <p:sp>
        <p:nvSpPr>
          <p:cNvPr id="4" name="投影片編號版面配置區 3">
            <a:extLst>
              <a:ext uri="{FF2B5EF4-FFF2-40B4-BE49-F238E27FC236}">
                <a16:creationId xmlns:a16="http://schemas.microsoft.com/office/drawing/2014/main" id="{CEC95FF0-D7BD-91DE-4597-CA1ED5384099}"/>
              </a:ext>
            </a:extLst>
          </p:cNvPr>
          <p:cNvSpPr>
            <a:spLocks noGrp="1"/>
          </p:cNvSpPr>
          <p:nvPr>
            <p:ph type="sldNum" sz="quarter" idx="12"/>
          </p:nvPr>
        </p:nvSpPr>
        <p:spPr/>
        <p:txBody>
          <a:bodyPr/>
          <a:lstStyle/>
          <a:p>
            <a:fld id="{6113E31D-E2AB-40D1-8B51-AFA5AFEF393A}" type="slidenum">
              <a:rPr lang="en-US" smtClean="0"/>
              <a:pPr/>
              <a:t>55</a:t>
            </a:fld>
            <a:endParaRPr lang="en-US" dirty="0"/>
          </a:p>
        </p:txBody>
      </p:sp>
      <p:sp>
        <p:nvSpPr>
          <p:cNvPr id="5" name="剪去同側角落矩形 4">
            <a:extLst>
              <a:ext uri="{FF2B5EF4-FFF2-40B4-BE49-F238E27FC236}">
                <a16:creationId xmlns:a16="http://schemas.microsoft.com/office/drawing/2014/main" id="{3A1E73BC-E2DA-A549-A8A9-EA06F74A36B2}"/>
              </a:ext>
            </a:extLst>
          </p:cNvPr>
          <p:cNvSpPr/>
          <p:nvPr/>
        </p:nvSpPr>
        <p:spPr>
          <a:xfrm>
            <a:off x="1054482" y="3279755"/>
            <a:ext cx="566928" cy="548640"/>
          </a:xfrm>
          <a:prstGeom prst="snip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0</a:t>
            </a:r>
            <a:endParaRPr kumimoji="1" lang="zh-TW" altLang="en-US" dirty="0">
              <a:solidFill>
                <a:schemeClr val="tx1"/>
              </a:solidFill>
            </a:endParaRPr>
          </a:p>
        </p:txBody>
      </p:sp>
      <p:sp>
        <p:nvSpPr>
          <p:cNvPr id="6" name="剪去同側角落矩形 5">
            <a:extLst>
              <a:ext uri="{FF2B5EF4-FFF2-40B4-BE49-F238E27FC236}">
                <a16:creationId xmlns:a16="http://schemas.microsoft.com/office/drawing/2014/main" id="{03ADDE02-6BB2-1C11-9FB8-D775DB9D9092}"/>
              </a:ext>
            </a:extLst>
          </p:cNvPr>
          <p:cNvSpPr/>
          <p:nvPr/>
        </p:nvSpPr>
        <p:spPr>
          <a:xfrm>
            <a:off x="2931024" y="3279755"/>
            <a:ext cx="566928" cy="548640"/>
          </a:xfrm>
          <a:prstGeom prst="snip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4</a:t>
            </a:r>
            <a:endParaRPr kumimoji="1" lang="zh-TW" altLang="en-US" dirty="0">
              <a:solidFill>
                <a:schemeClr val="tx1"/>
              </a:solidFill>
            </a:endParaRPr>
          </a:p>
        </p:txBody>
      </p:sp>
      <p:sp>
        <p:nvSpPr>
          <p:cNvPr id="7" name="剪去同側角落矩形 6">
            <a:extLst>
              <a:ext uri="{FF2B5EF4-FFF2-40B4-BE49-F238E27FC236}">
                <a16:creationId xmlns:a16="http://schemas.microsoft.com/office/drawing/2014/main" id="{915E1863-222D-C9E1-0759-CC7D696B7766}"/>
              </a:ext>
            </a:extLst>
          </p:cNvPr>
          <p:cNvSpPr/>
          <p:nvPr/>
        </p:nvSpPr>
        <p:spPr>
          <a:xfrm>
            <a:off x="5775834" y="3279755"/>
            <a:ext cx="566928" cy="548640"/>
          </a:xfrm>
          <a:prstGeom prst="snip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99</a:t>
            </a:r>
            <a:endParaRPr kumimoji="1" lang="zh-TW" altLang="en-US" dirty="0">
              <a:solidFill>
                <a:schemeClr val="tx1"/>
              </a:solidFill>
            </a:endParaRPr>
          </a:p>
        </p:txBody>
      </p:sp>
      <p:sp>
        <p:nvSpPr>
          <p:cNvPr id="8" name="文字方塊 7">
            <a:extLst>
              <a:ext uri="{FF2B5EF4-FFF2-40B4-BE49-F238E27FC236}">
                <a16:creationId xmlns:a16="http://schemas.microsoft.com/office/drawing/2014/main" id="{71EF942A-F09C-59A1-0FDC-E2F9C654FD8A}"/>
              </a:ext>
            </a:extLst>
          </p:cNvPr>
          <p:cNvSpPr txBox="1"/>
          <p:nvPr/>
        </p:nvSpPr>
        <p:spPr>
          <a:xfrm>
            <a:off x="835026" y="3928979"/>
            <a:ext cx="1005840" cy="369332"/>
          </a:xfrm>
          <a:prstGeom prst="rect">
            <a:avLst/>
          </a:prstGeom>
          <a:noFill/>
        </p:spPr>
        <p:txBody>
          <a:bodyPr wrap="square" rtlCol="0">
            <a:spAutoFit/>
          </a:bodyPr>
          <a:lstStyle/>
          <a:p>
            <a:pPr algn="ctr"/>
            <a:r>
              <a:rPr kumimoji="1" lang="en-US" altLang="zh-TW" dirty="0" err="1"/>
              <a:t>i</a:t>
            </a:r>
            <a:r>
              <a:rPr kumimoji="1" lang="en-US" altLang="zh-TW" dirty="0"/>
              <a:t>=0</a:t>
            </a:r>
            <a:endParaRPr kumimoji="1" lang="zh-TW" altLang="en-US" dirty="0"/>
          </a:p>
        </p:txBody>
      </p:sp>
      <p:sp>
        <p:nvSpPr>
          <p:cNvPr id="12" name="文字方塊 11">
            <a:extLst>
              <a:ext uri="{FF2B5EF4-FFF2-40B4-BE49-F238E27FC236}">
                <a16:creationId xmlns:a16="http://schemas.microsoft.com/office/drawing/2014/main" id="{AE0C1DE1-24D6-8115-EB63-9F97B4A2951E}"/>
              </a:ext>
            </a:extLst>
          </p:cNvPr>
          <p:cNvSpPr txBox="1"/>
          <p:nvPr/>
        </p:nvSpPr>
        <p:spPr>
          <a:xfrm>
            <a:off x="491252" y="2856005"/>
            <a:ext cx="965858" cy="646331"/>
          </a:xfrm>
          <a:prstGeom prst="rect">
            <a:avLst/>
          </a:prstGeom>
          <a:noFill/>
        </p:spPr>
        <p:txBody>
          <a:bodyPr wrap="square" rtlCol="0">
            <a:spAutoFit/>
          </a:bodyPr>
          <a:lstStyle/>
          <a:p>
            <a:pPr algn="ctr"/>
            <a:r>
              <a:rPr kumimoji="1" lang="en-US" altLang="zh-TW" sz="3600" dirty="0"/>
              <a:t>🎯</a:t>
            </a:r>
            <a:endParaRPr kumimoji="1" lang="zh-TW" altLang="en-US" sz="3600" dirty="0"/>
          </a:p>
        </p:txBody>
      </p:sp>
      <p:sp>
        <p:nvSpPr>
          <p:cNvPr id="13" name="文字方塊 12">
            <a:extLst>
              <a:ext uri="{FF2B5EF4-FFF2-40B4-BE49-F238E27FC236}">
                <a16:creationId xmlns:a16="http://schemas.microsoft.com/office/drawing/2014/main" id="{206AB0BB-EADD-4CE5-1758-78D91709B332}"/>
              </a:ext>
            </a:extLst>
          </p:cNvPr>
          <p:cNvSpPr txBox="1"/>
          <p:nvPr/>
        </p:nvSpPr>
        <p:spPr>
          <a:xfrm>
            <a:off x="3294762" y="3369409"/>
            <a:ext cx="1764792" cy="369332"/>
          </a:xfrm>
          <a:prstGeom prst="rect">
            <a:avLst/>
          </a:prstGeom>
          <a:noFill/>
        </p:spPr>
        <p:txBody>
          <a:bodyPr wrap="square" rtlCol="0">
            <a:spAutoFit/>
          </a:bodyPr>
          <a:lstStyle/>
          <a:p>
            <a:pPr algn="ctr"/>
            <a:r>
              <a:rPr kumimoji="1" lang="en-US" altLang="zh-TW" dirty="0"/>
              <a:t>...</a:t>
            </a:r>
            <a:endParaRPr kumimoji="1" lang="zh-TW" altLang="en-US" dirty="0"/>
          </a:p>
        </p:txBody>
      </p:sp>
      <p:pic>
        <p:nvPicPr>
          <p:cNvPr id="14" name="圖片 13">
            <a:extLst>
              <a:ext uri="{FF2B5EF4-FFF2-40B4-BE49-F238E27FC236}">
                <a16:creationId xmlns:a16="http://schemas.microsoft.com/office/drawing/2014/main" id="{6A851A7A-7B2D-73BC-03D5-3935EE63B5CF}"/>
              </a:ext>
            </a:extLst>
          </p:cNvPr>
          <p:cNvPicPr>
            <a:picLocks noChangeAspect="1"/>
          </p:cNvPicPr>
          <p:nvPr/>
        </p:nvPicPr>
        <p:blipFill>
          <a:blip r:embed="rId2"/>
          <a:stretch>
            <a:fillRect/>
          </a:stretch>
        </p:blipFill>
        <p:spPr>
          <a:xfrm>
            <a:off x="6892834" y="1730068"/>
            <a:ext cx="4678680" cy="896180"/>
          </a:xfrm>
          <a:prstGeom prst="rect">
            <a:avLst/>
          </a:prstGeom>
        </p:spPr>
      </p:pic>
      <p:sp>
        <p:nvSpPr>
          <p:cNvPr id="15" name="文字方塊 14">
            <a:extLst>
              <a:ext uri="{FF2B5EF4-FFF2-40B4-BE49-F238E27FC236}">
                <a16:creationId xmlns:a16="http://schemas.microsoft.com/office/drawing/2014/main" id="{B7A26AD3-80F9-05A2-D3CC-AB1DEE51F29C}"/>
              </a:ext>
            </a:extLst>
          </p:cNvPr>
          <p:cNvSpPr txBox="1"/>
          <p:nvPr/>
        </p:nvSpPr>
        <p:spPr>
          <a:xfrm>
            <a:off x="835026" y="4735340"/>
            <a:ext cx="3218688" cy="369332"/>
          </a:xfrm>
          <a:prstGeom prst="rect">
            <a:avLst/>
          </a:prstGeom>
          <a:noFill/>
        </p:spPr>
        <p:txBody>
          <a:bodyPr wrap="square" rtlCol="0">
            <a:spAutoFit/>
          </a:bodyPr>
          <a:lstStyle/>
          <a:p>
            <a:pPr algn="ctr"/>
            <a:r>
              <a:rPr kumimoji="1" lang="en-US" altLang="zh-TW" dirty="0"/>
              <a:t>j=0</a:t>
            </a:r>
            <a:r>
              <a:rPr kumimoji="1" lang="zh-TW" altLang="en-US" dirty="0"/>
              <a:t> 時，取</a:t>
            </a:r>
            <a:r>
              <a:rPr kumimoji="1" lang="en-US" altLang="zh-TW" dirty="0"/>
              <a:t> index</a:t>
            </a:r>
            <a:r>
              <a:rPr kumimoji="1" lang="zh-TW" altLang="en-US" dirty="0"/>
              <a:t> 為</a:t>
            </a:r>
            <a:r>
              <a:rPr kumimoji="1" lang="en-US" altLang="zh-TW" dirty="0"/>
              <a:t> 4</a:t>
            </a:r>
            <a:r>
              <a:rPr kumimoji="1" lang="zh-TW" altLang="en-US" dirty="0"/>
              <a:t> 的 </a:t>
            </a:r>
            <a:r>
              <a:rPr kumimoji="1" lang="en-US" altLang="zh-TW" dirty="0"/>
              <a:t>PE</a:t>
            </a:r>
            <a:endParaRPr kumimoji="1" lang="zh-TW" altLang="en-US" dirty="0"/>
          </a:p>
        </p:txBody>
      </p:sp>
      <p:sp>
        <p:nvSpPr>
          <p:cNvPr id="16" name="文字方塊 15">
            <a:extLst>
              <a:ext uri="{FF2B5EF4-FFF2-40B4-BE49-F238E27FC236}">
                <a16:creationId xmlns:a16="http://schemas.microsoft.com/office/drawing/2014/main" id="{06B22951-B8B4-37B1-0B23-65FBBCFFD6EA}"/>
              </a:ext>
            </a:extLst>
          </p:cNvPr>
          <p:cNvSpPr txBox="1"/>
          <p:nvPr/>
        </p:nvSpPr>
        <p:spPr>
          <a:xfrm>
            <a:off x="653143" y="1783958"/>
            <a:ext cx="5122691" cy="872355"/>
          </a:xfrm>
          <a:prstGeom prst="rect">
            <a:avLst/>
          </a:prstGeom>
          <a:noFill/>
        </p:spPr>
        <p:txBody>
          <a:bodyPr wrap="square" rtlCol="0">
            <a:spAutoFit/>
          </a:bodyPr>
          <a:lstStyle/>
          <a:p>
            <a:pPr>
              <a:lnSpc>
                <a:spcPct val="150000"/>
              </a:lnSpc>
            </a:pPr>
            <a:r>
              <a:rPr kumimoji="1" lang="zh-TW" altLang="en-US" dirty="0"/>
              <a:t>總 </a:t>
            </a:r>
            <a:r>
              <a:rPr kumimoji="1" lang="en-US" altLang="zh-TW" dirty="0"/>
              <a:t>PE </a:t>
            </a:r>
            <a:r>
              <a:rPr kumimoji="1" lang="zh-TW" altLang="en-US" dirty="0"/>
              <a:t>的形狀為 </a:t>
            </a:r>
            <a:r>
              <a:rPr kumimoji="1" lang="en-US" altLang="zh-TW" dirty="0"/>
              <a:t>(</a:t>
            </a:r>
            <a:r>
              <a:rPr kumimoji="1" lang="en-US" altLang="zh-TW" dirty="0" err="1"/>
              <a:t>num_positions</a:t>
            </a:r>
            <a:r>
              <a:rPr kumimoji="1" lang="en-US" altLang="zh-TW" dirty="0"/>
              <a:t>, </a:t>
            </a:r>
            <a:r>
              <a:rPr kumimoji="1" lang="en-US" altLang="zh-TW" dirty="0" err="1"/>
              <a:t>embed_size</a:t>
            </a:r>
            <a:r>
              <a:rPr kumimoji="1" lang="en-US" altLang="zh-TW" dirty="0"/>
              <a:t>)</a:t>
            </a:r>
          </a:p>
          <a:p>
            <a:pPr>
              <a:lnSpc>
                <a:spcPct val="150000"/>
              </a:lnSpc>
            </a:pPr>
            <a:r>
              <a:rPr kumimoji="1" lang="zh-TW" altLang="en-US" dirty="0"/>
              <a:t>假設</a:t>
            </a:r>
            <a:r>
              <a:rPr kumimoji="1" lang="en-US" altLang="zh-TW" dirty="0"/>
              <a:t>k=4</a:t>
            </a:r>
            <a:endParaRPr kumimoji="1" lang="zh-TW" altLang="en-US" dirty="0"/>
          </a:p>
        </p:txBody>
      </p:sp>
      <p:sp>
        <p:nvSpPr>
          <p:cNvPr id="17" name="文字方塊 16">
            <a:extLst>
              <a:ext uri="{FF2B5EF4-FFF2-40B4-BE49-F238E27FC236}">
                <a16:creationId xmlns:a16="http://schemas.microsoft.com/office/drawing/2014/main" id="{F4793DBD-6E94-7861-14CD-D41F4EE756D2}"/>
              </a:ext>
            </a:extLst>
          </p:cNvPr>
          <p:cNvSpPr txBox="1"/>
          <p:nvPr/>
        </p:nvSpPr>
        <p:spPr>
          <a:xfrm>
            <a:off x="835026" y="5248030"/>
            <a:ext cx="3218688" cy="369332"/>
          </a:xfrm>
          <a:prstGeom prst="rect">
            <a:avLst/>
          </a:prstGeom>
          <a:noFill/>
        </p:spPr>
        <p:txBody>
          <a:bodyPr wrap="square" rtlCol="0">
            <a:spAutoFit/>
          </a:bodyPr>
          <a:lstStyle/>
          <a:p>
            <a:pPr algn="ctr"/>
            <a:r>
              <a:rPr kumimoji="1" lang="en-US" altLang="zh-TW" dirty="0"/>
              <a:t>j=1</a:t>
            </a:r>
            <a:r>
              <a:rPr kumimoji="1" lang="zh-TW" altLang="en-US" dirty="0"/>
              <a:t> 時，取</a:t>
            </a:r>
            <a:r>
              <a:rPr kumimoji="1" lang="en-US" altLang="zh-TW" dirty="0"/>
              <a:t> index</a:t>
            </a:r>
            <a:r>
              <a:rPr kumimoji="1" lang="zh-TW" altLang="en-US" dirty="0"/>
              <a:t> 為</a:t>
            </a:r>
            <a:r>
              <a:rPr kumimoji="1" lang="en-US" altLang="zh-TW" dirty="0"/>
              <a:t> 3</a:t>
            </a:r>
            <a:r>
              <a:rPr kumimoji="1" lang="zh-TW" altLang="en-US" dirty="0"/>
              <a:t> 的 </a:t>
            </a:r>
            <a:r>
              <a:rPr kumimoji="1" lang="en-US" altLang="zh-TW" dirty="0"/>
              <a:t>PE</a:t>
            </a:r>
            <a:endParaRPr kumimoji="1" lang="zh-TW" altLang="en-US" dirty="0"/>
          </a:p>
        </p:txBody>
      </p:sp>
      <p:sp>
        <p:nvSpPr>
          <p:cNvPr id="18" name="剪去同側角落矩形 17">
            <a:extLst>
              <a:ext uri="{FF2B5EF4-FFF2-40B4-BE49-F238E27FC236}">
                <a16:creationId xmlns:a16="http://schemas.microsoft.com/office/drawing/2014/main" id="{9B5F22AC-1622-971D-D89F-403D782AEF3A}"/>
              </a:ext>
            </a:extLst>
          </p:cNvPr>
          <p:cNvSpPr/>
          <p:nvPr/>
        </p:nvSpPr>
        <p:spPr>
          <a:xfrm>
            <a:off x="1793994" y="3279755"/>
            <a:ext cx="566928" cy="548640"/>
          </a:xfrm>
          <a:prstGeom prst="snip2Same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solidFill>
                  <a:schemeClr val="tx1"/>
                </a:solidFill>
              </a:rPr>
              <a:t>1</a:t>
            </a:r>
            <a:endParaRPr kumimoji="1" lang="zh-TW" altLang="en-US" dirty="0">
              <a:solidFill>
                <a:schemeClr val="tx1"/>
              </a:solidFill>
            </a:endParaRPr>
          </a:p>
        </p:txBody>
      </p:sp>
      <p:sp>
        <p:nvSpPr>
          <p:cNvPr id="19" name="文字方塊 18">
            <a:extLst>
              <a:ext uri="{FF2B5EF4-FFF2-40B4-BE49-F238E27FC236}">
                <a16:creationId xmlns:a16="http://schemas.microsoft.com/office/drawing/2014/main" id="{551F3059-9D44-A5AB-8E90-0F58D2917B89}"/>
              </a:ext>
            </a:extLst>
          </p:cNvPr>
          <p:cNvSpPr txBox="1"/>
          <p:nvPr/>
        </p:nvSpPr>
        <p:spPr>
          <a:xfrm>
            <a:off x="4919600" y="4735340"/>
            <a:ext cx="3218688" cy="369332"/>
          </a:xfrm>
          <a:prstGeom prst="rect">
            <a:avLst/>
          </a:prstGeom>
          <a:noFill/>
        </p:spPr>
        <p:txBody>
          <a:bodyPr wrap="square" rtlCol="0">
            <a:spAutoFit/>
          </a:bodyPr>
          <a:lstStyle/>
          <a:p>
            <a:pPr algn="ctr"/>
            <a:r>
              <a:rPr kumimoji="1" lang="en-US" altLang="zh-TW" dirty="0"/>
              <a:t>j=4</a:t>
            </a:r>
            <a:r>
              <a:rPr kumimoji="1" lang="zh-TW" altLang="en-US" dirty="0"/>
              <a:t> 時，取</a:t>
            </a:r>
            <a:r>
              <a:rPr kumimoji="1" lang="en-US" altLang="zh-TW" dirty="0"/>
              <a:t> index</a:t>
            </a:r>
            <a:r>
              <a:rPr kumimoji="1" lang="zh-TW" altLang="en-US" dirty="0"/>
              <a:t> 為</a:t>
            </a:r>
            <a:r>
              <a:rPr kumimoji="1" lang="en-US" altLang="zh-TW" dirty="0"/>
              <a:t> 0</a:t>
            </a:r>
            <a:r>
              <a:rPr kumimoji="1" lang="zh-TW" altLang="en-US" dirty="0"/>
              <a:t> 的 </a:t>
            </a:r>
            <a:r>
              <a:rPr kumimoji="1" lang="en-US" altLang="zh-TW" dirty="0"/>
              <a:t>PE</a:t>
            </a:r>
            <a:endParaRPr kumimoji="1" lang="zh-TW" altLang="en-US" dirty="0"/>
          </a:p>
        </p:txBody>
      </p:sp>
      <p:sp>
        <p:nvSpPr>
          <p:cNvPr id="20" name="文字方塊 19">
            <a:extLst>
              <a:ext uri="{FF2B5EF4-FFF2-40B4-BE49-F238E27FC236}">
                <a16:creationId xmlns:a16="http://schemas.microsoft.com/office/drawing/2014/main" id="{9DE699C6-DBF0-1432-DBA4-CE3BB3F4BBD8}"/>
              </a:ext>
            </a:extLst>
          </p:cNvPr>
          <p:cNvSpPr txBox="1"/>
          <p:nvPr/>
        </p:nvSpPr>
        <p:spPr>
          <a:xfrm>
            <a:off x="4919600" y="5248030"/>
            <a:ext cx="3593464" cy="369332"/>
          </a:xfrm>
          <a:prstGeom prst="rect">
            <a:avLst/>
          </a:prstGeom>
          <a:noFill/>
        </p:spPr>
        <p:txBody>
          <a:bodyPr wrap="square" rtlCol="0">
            <a:spAutoFit/>
          </a:bodyPr>
          <a:lstStyle/>
          <a:p>
            <a:pPr algn="ctr"/>
            <a:r>
              <a:rPr kumimoji="1" lang="en-US" altLang="zh-TW" dirty="0"/>
              <a:t>j=99</a:t>
            </a:r>
            <a:r>
              <a:rPr kumimoji="1" lang="zh-TW" altLang="en-US" dirty="0"/>
              <a:t> 時，也取</a:t>
            </a:r>
            <a:r>
              <a:rPr kumimoji="1" lang="en-US" altLang="zh-TW" dirty="0"/>
              <a:t> index</a:t>
            </a:r>
            <a:r>
              <a:rPr kumimoji="1" lang="zh-TW" altLang="en-US" dirty="0"/>
              <a:t> 為</a:t>
            </a:r>
            <a:r>
              <a:rPr kumimoji="1" lang="en-US" altLang="zh-TW" dirty="0"/>
              <a:t> 0</a:t>
            </a:r>
            <a:r>
              <a:rPr kumimoji="1" lang="zh-TW" altLang="en-US" dirty="0"/>
              <a:t> 的 </a:t>
            </a:r>
            <a:r>
              <a:rPr kumimoji="1" lang="en-US" altLang="zh-TW" dirty="0"/>
              <a:t>PE</a:t>
            </a:r>
            <a:endParaRPr kumimoji="1" lang="zh-TW" altLang="en-US" dirty="0"/>
          </a:p>
        </p:txBody>
      </p:sp>
    </p:spTree>
    <p:extLst>
      <p:ext uri="{BB962C8B-B14F-4D97-AF65-F5344CB8AC3E}">
        <p14:creationId xmlns:p14="http://schemas.microsoft.com/office/powerpoint/2010/main" val="833919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p:bldP spid="12" grpId="0"/>
      <p:bldP spid="13" grpId="0"/>
      <p:bldP spid="15" grpId="0"/>
      <p:bldP spid="17" grpId="0"/>
      <p:bldP spid="18" grpId="0" animBg="1"/>
      <p:bldP spid="19" grpId="0"/>
      <p:bldP spid="20"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標題 1">
                <a:extLst>
                  <a:ext uri="{FF2B5EF4-FFF2-40B4-BE49-F238E27FC236}">
                    <a16:creationId xmlns:a16="http://schemas.microsoft.com/office/drawing/2014/main" id="{ACBD6541-1BFA-96AC-1B24-92A60A70FCDD}"/>
                  </a:ext>
                </a:extLst>
              </p:cNvPr>
              <p:cNvSpPr>
                <a:spLocks noGrp="1"/>
              </p:cNvSpPr>
              <p:nvPr>
                <p:ph type="title"/>
              </p:nvPr>
            </p:nvSpPr>
            <p:spPr/>
            <p:txBody>
              <a:bodyPr/>
              <a:lstStyle/>
              <a:p>
                <a:r>
                  <a:rPr kumimoji="1" lang="en-US" altLang="zh-TW" dirty="0"/>
                  <a:t>Why there’s no </a:t>
                </a:r>
                <a14:m>
                  <m:oMath xmlns:m="http://schemas.openxmlformats.org/officeDocument/2006/math">
                    <m:sSubSup>
                      <m:sSubSupPr>
                        <m:ctrlPr>
                          <a:rPr lang="zh-TW" altLang="zh-TW" sz="4800" i="1" kern="100" smtClean="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sz="4800" i="1" kern="100">
                            <a:latin typeface="Cambria Math" panose="02040503050406030204" pitchFamily="18" charset="0"/>
                            <a:ea typeface="新細明體" panose="02020500000000000000" pitchFamily="18" charset="-120"/>
                            <a:cs typeface="Times New Roman" panose="02020603050405020304" pitchFamily="18" charset="0"/>
                          </a:rPr>
                          <m:t>𝑄</m:t>
                        </m:r>
                      </m:e>
                      <m:sub>
                        <m:r>
                          <a:rPr lang="en-US" altLang="zh-TW" sz="4800" b="0" i="1" kern="100" smtClean="0">
                            <a:latin typeface="Cambria Math" panose="02040503050406030204" pitchFamily="18" charset="0"/>
                            <a:ea typeface="新細明體" panose="02020500000000000000" pitchFamily="18" charset="-120"/>
                            <a:cs typeface="Times New Roman" panose="02020603050405020304" pitchFamily="18" charset="0"/>
                          </a:rPr>
                          <m:t>𝑃</m:t>
                        </m:r>
                      </m:sub>
                      <m:sup/>
                    </m:sSubSup>
                    <m:r>
                      <a:rPr lang="en-US" altLang="zh-TW" sz="4800" b="0" i="1" kern="100" smtClean="0">
                        <a:latin typeface="Cambria Math" panose="02040503050406030204" pitchFamily="18" charset="0"/>
                        <a:ea typeface="新細明體" panose="02020500000000000000" pitchFamily="18" charset="-120"/>
                        <a:cs typeface="Times New Roman" panose="02020603050405020304" pitchFamily="18" charset="0"/>
                      </a:rPr>
                      <m:t>×</m:t>
                    </m:r>
                    <m:sSubSup>
                      <m:sSubSupPr>
                        <m:ctrlPr>
                          <a:rPr lang="zh-TW" altLang="zh-TW"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i="1" kern="100">
                            <a:latin typeface="Cambria Math" panose="02040503050406030204" pitchFamily="18" charset="0"/>
                            <a:ea typeface="新細明體" panose="02020500000000000000" pitchFamily="18" charset="-120"/>
                            <a:cs typeface="Times New Roman" panose="02020603050405020304" pitchFamily="18" charset="0"/>
                          </a:rPr>
                          <m:t>𝐾</m:t>
                        </m:r>
                      </m:e>
                      <m:sub>
                        <m:r>
                          <a:rPr lang="en-US" altLang="zh-TW" i="1" kern="100">
                            <a:latin typeface="Cambria Math" panose="02040503050406030204" pitchFamily="18" charset="0"/>
                            <a:ea typeface="新細明體" panose="02020500000000000000" pitchFamily="18" charset="-120"/>
                            <a:cs typeface="Times New Roman" panose="02020603050405020304" pitchFamily="18" charset="0"/>
                          </a:rPr>
                          <m:t>𝑃</m:t>
                        </m:r>
                      </m:sub>
                      <m:sup>
                        <m:r>
                          <a:rPr lang="en-US" altLang="zh-TW" i="1" kern="100">
                            <a:latin typeface="Cambria Math" panose="02040503050406030204" pitchFamily="18" charset="0"/>
                            <a:ea typeface="新細明體" panose="02020500000000000000" pitchFamily="18" charset="-120"/>
                            <a:cs typeface="Times New Roman" panose="02020603050405020304" pitchFamily="18" charset="0"/>
                          </a:rPr>
                          <m:t>𝑇</m:t>
                        </m:r>
                      </m:sup>
                    </m:sSubSup>
                  </m:oMath>
                </a14:m>
                <a:r>
                  <a:rPr kumimoji="1" lang="en-US" altLang="zh-TW" dirty="0"/>
                  <a:t>?</a:t>
                </a:r>
                <a:endParaRPr kumimoji="1" lang="zh-TW" altLang="en-US" dirty="0"/>
              </a:p>
            </p:txBody>
          </p:sp>
        </mc:Choice>
        <mc:Fallback xmlns="">
          <p:sp>
            <p:nvSpPr>
              <p:cNvPr id="2" name="標題 1">
                <a:extLst>
                  <a:ext uri="{FF2B5EF4-FFF2-40B4-BE49-F238E27FC236}">
                    <a16:creationId xmlns:a16="http://schemas.microsoft.com/office/drawing/2014/main" id="{ACBD6541-1BFA-96AC-1B24-92A60A70FCDD}"/>
                  </a:ext>
                </a:extLst>
              </p:cNvPr>
              <p:cNvSpPr>
                <a:spLocks noGrp="1" noRot="1" noChangeAspect="1" noMove="1" noResize="1" noEditPoints="1" noAdjustHandles="1" noChangeArrowheads="1" noChangeShapeType="1" noTextEdit="1"/>
              </p:cNvSpPr>
              <p:nvPr>
                <p:ph type="title"/>
              </p:nvPr>
            </p:nvSpPr>
            <p:spPr>
              <a:blipFill>
                <a:blip r:embed="rId2"/>
                <a:stretch>
                  <a:fillRect l="-2555" t="-4819" b="-18072"/>
                </a:stretch>
              </a:blipFill>
            </p:spPr>
            <p:txBody>
              <a:bodyPr/>
              <a:lstStyle/>
              <a:p>
                <a:r>
                  <a:rPr lang="zh-TW" altLang="en-US">
                    <a:noFill/>
                  </a:rPr>
                  <a:t> </a:t>
                </a:r>
              </a:p>
            </p:txBody>
          </p:sp>
        </mc:Fallback>
      </mc:AlternateContent>
      <p:sp>
        <p:nvSpPr>
          <p:cNvPr id="3" name="內容版面配置區 2">
            <a:extLst>
              <a:ext uri="{FF2B5EF4-FFF2-40B4-BE49-F238E27FC236}">
                <a16:creationId xmlns:a16="http://schemas.microsoft.com/office/drawing/2014/main" id="{1533365D-8657-FC52-EA50-795F9DB58020}"/>
              </a:ext>
            </a:extLst>
          </p:cNvPr>
          <p:cNvSpPr>
            <a:spLocks noGrp="1"/>
          </p:cNvSpPr>
          <p:nvPr>
            <p:ph idx="1"/>
          </p:nvPr>
        </p:nvSpPr>
        <p:spPr/>
        <p:txBody>
          <a:bodyPr>
            <a:normAutofit/>
          </a:bodyPr>
          <a:lstStyle/>
          <a:p>
            <a:pPr>
              <a:lnSpc>
                <a:spcPct val="150000"/>
              </a:lnSpc>
            </a:pPr>
            <a:r>
              <a:rPr kumimoji="1" lang="zh-TW" altLang="en-US" sz="2800" dirty="0"/>
              <a:t>💡</a:t>
            </a:r>
            <a:r>
              <a:rPr kumimoji="1" lang="en-US" altLang="zh-TW" sz="2800" dirty="0"/>
              <a:t> </a:t>
            </a:r>
            <a:r>
              <a:rPr kumimoji="1" lang="zh-TW" altLang="en-US" sz="2800" dirty="0"/>
              <a:t>「設定上」是</a:t>
            </a:r>
            <a:r>
              <a:rPr kumimoji="1" lang="zh-TW" altLang="en-US" sz="2800" u="sng" dirty="0"/>
              <a:t>相對距離</a:t>
            </a:r>
            <a:r>
              <a:rPr kumimoji="1" lang="zh-TW" altLang="en-US" sz="2800" dirty="0"/>
              <a:t>和</a:t>
            </a:r>
            <a:r>
              <a:rPr kumimoji="1" lang="zh-TW" altLang="en-US" sz="2800" u="sng" dirty="0"/>
              <a:t>語義內容</a:t>
            </a:r>
            <a:r>
              <a:rPr kumimoji="1" lang="zh-TW" altLang="en-US" sz="2800" dirty="0"/>
              <a:t>具備關聯性</a:t>
            </a:r>
            <a:endParaRPr kumimoji="1" lang="en-US" altLang="zh-TW" sz="2800" dirty="0"/>
          </a:p>
          <a:p>
            <a:pPr>
              <a:lnSpc>
                <a:spcPct val="150000"/>
              </a:lnSpc>
            </a:pPr>
            <a:r>
              <a:rPr kumimoji="1" lang="zh-TW" altLang="en-US" sz="2800" dirty="0"/>
              <a:t>➡️  </a:t>
            </a:r>
            <a:r>
              <a:rPr kumimoji="1" lang="zh-TW" altLang="en-US" sz="2800" u="sng" dirty="0"/>
              <a:t>相對距離</a:t>
            </a:r>
            <a:r>
              <a:rPr kumimoji="1" lang="zh-TW" altLang="en-US" sz="2800" dirty="0"/>
              <a:t>和</a:t>
            </a:r>
            <a:r>
              <a:rPr kumimoji="1" lang="zh-TW" altLang="en-US" sz="2800" u="sng" dirty="0"/>
              <a:t>相對距離</a:t>
            </a:r>
            <a:r>
              <a:rPr kumimoji="1" lang="zh-TW" altLang="en-US" sz="2800" dirty="0"/>
              <a:t>理論上不應貢獻資訊量</a:t>
            </a:r>
          </a:p>
        </p:txBody>
      </p:sp>
      <p:sp>
        <p:nvSpPr>
          <p:cNvPr id="4" name="投影片編號版面配置區 3">
            <a:extLst>
              <a:ext uri="{FF2B5EF4-FFF2-40B4-BE49-F238E27FC236}">
                <a16:creationId xmlns:a16="http://schemas.microsoft.com/office/drawing/2014/main" id="{10599CAC-25F2-56C5-557F-B7664FBF3669}"/>
              </a:ext>
            </a:extLst>
          </p:cNvPr>
          <p:cNvSpPr>
            <a:spLocks noGrp="1"/>
          </p:cNvSpPr>
          <p:nvPr>
            <p:ph type="sldNum" sz="quarter" idx="12"/>
          </p:nvPr>
        </p:nvSpPr>
        <p:spPr/>
        <p:txBody>
          <a:bodyPr/>
          <a:lstStyle/>
          <a:p>
            <a:fld id="{6113E31D-E2AB-40D1-8B51-AFA5AFEF393A}" type="slidenum">
              <a:rPr lang="en-US" smtClean="0"/>
              <a:pPr/>
              <a:t>56</a:t>
            </a:fld>
            <a:endParaRPr lang="en-US" dirty="0"/>
          </a:p>
        </p:txBody>
      </p:sp>
    </p:spTree>
    <p:extLst>
      <p:ext uri="{BB962C8B-B14F-4D97-AF65-F5344CB8AC3E}">
        <p14:creationId xmlns:p14="http://schemas.microsoft.com/office/powerpoint/2010/main" val="42819769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a:extLst>
              <a:ext uri="{FF2B5EF4-FFF2-40B4-BE49-F238E27FC236}">
                <a16:creationId xmlns:a16="http://schemas.microsoft.com/office/drawing/2014/main" id="{6CD83C5C-EA61-C255-DF28-E9CFF9EEAA75}"/>
              </a:ext>
            </a:extLst>
          </p:cNvPr>
          <p:cNvSpPr>
            <a:spLocks noGrp="1"/>
          </p:cNvSpPr>
          <p:nvPr>
            <p:ph type="title"/>
          </p:nvPr>
        </p:nvSpPr>
        <p:spPr>
          <a:xfrm>
            <a:off x="495300" y="3065145"/>
            <a:ext cx="3200400" cy="727709"/>
          </a:xfrm>
        </p:spPr>
        <p:txBody>
          <a:bodyPr anchor="ctr">
            <a:normAutofit/>
          </a:bodyPr>
          <a:lstStyle/>
          <a:p>
            <a:r>
              <a:rPr lang="en-US" altLang="zh-TW" sz="4800" dirty="0"/>
              <a:t>Thank you!</a:t>
            </a:r>
            <a:endParaRPr lang="zh-TW" altLang="en-US" sz="4800" dirty="0"/>
          </a:p>
        </p:txBody>
      </p:sp>
      <p:sp>
        <p:nvSpPr>
          <p:cNvPr id="4" name="投影片編號版面配置區 3">
            <a:extLst>
              <a:ext uri="{FF2B5EF4-FFF2-40B4-BE49-F238E27FC236}">
                <a16:creationId xmlns:a16="http://schemas.microsoft.com/office/drawing/2014/main" id="{5060AC63-905C-E7E8-4AEA-D711150C4E03}"/>
              </a:ext>
            </a:extLst>
          </p:cNvPr>
          <p:cNvSpPr>
            <a:spLocks noGrp="1"/>
          </p:cNvSpPr>
          <p:nvPr>
            <p:ph type="sldNum" sz="quarter" idx="12"/>
          </p:nvPr>
        </p:nvSpPr>
        <p:spPr/>
        <p:txBody>
          <a:bodyPr/>
          <a:lstStyle/>
          <a:p>
            <a:fld id="{6113E31D-E2AB-40D1-8B51-AFA5AFEF393A}" type="slidenum">
              <a:rPr lang="en-US" smtClean="0"/>
              <a:pPr/>
              <a:t>57</a:t>
            </a:fld>
            <a:endParaRPr lang="en-US" dirty="0"/>
          </a:p>
        </p:txBody>
      </p:sp>
      <p:sp>
        <p:nvSpPr>
          <p:cNvPr id="13" name="內容版面配置區 2">
            <a:extLst>
              <a:ext uri="{FF2B5EF4-FFF2-40B4-BE49-F238E27FC236}">
                <a16:creationId xmlns:a16="http://schemas.microsoft.com/office/drawing/2014/main" id="{AB6151A5-2D6F-3748-8575-59D412696C53}"/>
              </a:ext>
            </a:extLst>
          </p:cNvPr>
          <p:cNvSpPr txBox="1">
            <a:spLocks/>
          </p:cNvSpPr>
          <p:nvPr/>
        </p:nvSpPr>
        <p:spPr>
          <a:xfrm>
            <a:off x="4725880" y="2315977"/>
            <a:ext cx="4737788" cy="2516218"/>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kumimoji="1" lang="en-US" altLang="zh-TW" sz="3200" dirty="0">
                <a:latin typeface="Calibri" panose="020F0502020204030204" pitchFamily="34" charset="0"/>
                <a:ea typeface="Microsoft JhengHei" panose="020B0604030504040204" pitchFamily="34" charset="-120"/>
                <a:cs typeface="Calibri" panose="020F0502020204030204" pitchFamily="34" charset="0"/>
              </a:rPr>
              <a:t>Instructor: </a:t>
            </a:r>
            <a:r>
              <a:rPr kumimoji="1" lang="zh-TW" altLang="en-US" sz="3200" dirty="0">
                <a:latin typeface="Calibri" panose="020F0502020204030204" pitchFamily="34" charset="0"/>
                <a:ea typeface="Microsoft JhengHei" panose="020B0604030504040204" pitchFamily="34" charset="-120"/>
                <a:cs typeface="Calibri" panose="020F0502020204030204" pitchFamily="34" charset="0"/>
              </a:rPr>
              <a:t>林英嘉</a:t>
            </a:r>
            <a:endParaRPr kumimoji="1" lang="en-US" altLang="zh-TW" sz="3200" dirty="0">
              <a:latin typeface="Calibri" panose="020F0502020204030204" pitchFamily="34" charset="0"/>
              <a:ea typeface="Microsoft JhengHei" panose="020B0604030504040204" pitchFamily="34" charset="-120"/>
              <a:cs typeface="Calibri" panose="020F0502020204030204" pitchFamily="34" charset="0"/>
            </a:endParaRPr>
          </a:p>
          <a:p>
            <a:pPr marL="0" indent="0">
              <a:buFont typeface="Calibri" panose="020F0502020204030204" pitchFamily="34" charset="0"/>
              <a:buNone/>
            </a:pPr>
            <a:r>
              <a:rPr kumimoji="1" lang="en-US" altLang="zh-TW" sz="3200" dirty="0">
                <a:latin typeface="Calibri" panose="020F0502020204030204" pitchFamily="34" charset="0"/>
                <a:ea typeface="Microsoft JhengHei" panose="020B0604030504040204" pitchFamily="34" charset="-120"/>
                <a:cs typeface="Calibri" panose="020F0502020204030204" pitchFamily="34" charset="0"/>
              </a:rPr>
              <a:t> ✉️ </a:t>
            </a:r>
            <a:r>
              <a:rPr kumimoji="1" lang="en-US" altLang="zh-TW" sz="3200" dirty="0" err="1">
                <a:latin typeface="Calibri" panose="020F0502020204030204" pitchFamily="34" charset="0"/>
                <a:ea typeface="Microsoft JhengHei" panose="020B0604030504040204" pitchFamily="34" charset="-120"/>
                <a:cs typeface="Calibri" panose="020F0502020204030204" pitchFamily="34" charset="0"/>
              </a:rPr>
              <a:t>yjlin@cgu.edu.tw</a:t>
            </a:r>
            <a:endParaRPr kumimoji="1" lang="en-US" altLang="zh-TW" sz="3200" dirty="0">
              <a:latin typeface="Calibri" panose="020F0502020204030204" pitchFamily="34" charset="0"/>
              <a:ea typeface="Microsoft JhengHei" panose="020B0604030504040204" pitchFamily="34" charset="-120"/>
              <a:cs typeface="Calibri" panose="020F0502020204030204" pitchFamily="34" charset="0"/>
            </a:endParaRPr>
          </a:p>
          <a:p>
            <a:pPr marL="0" indent="0">
              <a:buFont typeface="Calibri" panose="020F0502020204030204" pitchFamily="34" charset="0"/>
              <a:buNone/>
            </a:pPr>
            <a:r>
              <a:rPr kumimoji="1" lang="en-US" altLang="zh-TW" sz="3200" dirty="0">
                <a:latin typeface="Calibri" panose="020F0502020204030204" pitchFamily="34" charset="0"/>
                <a:ea typeface="Microsoft JhengHei" panose="020B0604030504040204" pitchFamily="34" charset="-120"/>
                <a:cs typeface="Calibri" panose="020F0502020204030204" pitchFamily="34" charset="0"/>
              </a:rPr>
              <a:t> TA: </a:t>
            </a:r>
            <a:r>
              <a:rPr kumimoji="1" lang="zh-TW" altLang="en-US" sz="3200" dirty="0">
                <a:latin typeface="Calibri" panose="020F0502020204030204" pitchFamily="34" charset="0"/>
                <a:ea typeface="Microsoft JhengHei" panose="020B0604030504040204" pitchFamily="34" charset="-120"/>
                <a:cs typeface="Calibri" panose="020F0502020204030204" pitchFamily="34" charset="0"/>
              </a:rPr>
              <a:t>林宣辰</a:t>
            </a:r>
          </a:p>
          <a:p>
            <a:pPr marL="0" indent="0">
              <a:buFont typeface="Calibri" panose="020F0502020204030204" pitchFamily="34" charset="0"/>
              <a:buNone/>
            </a:pPr>
            <a:r>
              <a:rPr kumimoji="1" lang="en-US" altLang="zh-TW" sz="3200" dirty="0">
                <a:latin typeface="Calibri" panose="020F0502020204030204" pitchFamily="34" charset="0"/>
                <a:ea typeface="Microsoft JhengHei" panose="020B0604030504040204" pitchFamily="34" charset="-120"/>
                <a:cs typeface="Calibri" panose="020F0502020204030204" pitchFamily="34" charset="0"/>
              </a:rPr>
              <a:t> </a:t>
            </a:r>
            <a:r>
              <a:rPr kumimoji="1" lang="zh-TW" altLang="en-US" sz="3200" dirty="0">
                <a:latin typeface="Calibri" panose="020F0502020204030204" pitchFamily="34" charset="0"/>
                <a:ea typeface="Microsoft JhengHei" panose="020B0604030504040204" pitchFamily="34" charset="-120"/>
                <a:cs typeface="Calibri" panose="020F0502020204030204" pitchFamily="34" charset="0"/>
              </a:rPr>
              <a:t>✉️ </a:t>
            </a:r>
            <a:r>
              <a:rPr kumimoji="1" lang="en-US" altLang="zh-TW" sz="3200" dirty="0">
                <a:latin typeface="Calibri" panose="020F0502020204030204" pitchFamily="34" charset="0"/>
                <a:ea typeface="Microsoft JhengHei" panose="020B0604030504040204" pitchFamily="34" charset="-120"/>
                <a:cs typeface="Calibri" panose="020F0502020204030204" pitchFamily="34" charset="0"/>
              </a:rPr>
              <a:t>b1128015@cgu.edu.tw</a:t>
            </a:r>
          </a:p>
        </p:txBody>
      </p:sp>
    </p:spTree>
    <p:extLst>
      <p:ext uri="{BB962C8B-B14F-4D97-AF65-F5344CB8AC3E}">
        <p14:creationId xmlns:p14="http://schemas.microsoft.com/office/powerpoint/2010/main" val="2684697706"/>
      </p:ext>
    </p:extLst>
  </p:cSld>
  <p:clrMapOvr>
    <a:masterClrMapping/>
  </p:clrMapOvr>
</p:sld>
</file>

<file path=ppt/theme/theme1.xml><?xml version="1.0" encoding="utf-8"?>
<a:theme xmlns:a="http://schemas.openxmlformats.org/drawingml/2006/main" name="回顧">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course_template_DL" id="{E71C07C9-5718-B34F-9EA9-A4FDE47A262C}" vid="{F05AA8C9-6C58-904C-AE8A-42257BEE94D0}"/>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回顧</Template>
  <TotalTime>3981</TotalTime>
  <Words>3423</Words>
  <Application>Microsoft Macintosh PowerPoint</Application>
  <PresentationFormat>寬螢幕</PresentationFormat>
  <Paragraphs>899</Paragraphs>
  <Slides>57</Slides>
  <Notes>19</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57</vt:i4>
      </vt:variant>
    </vt:vector>
  </HeadingPairs>
  <TitlesOfParts>
    <vt:vector size="66" baseType="lpstr">
      <vt:lpstr>Microsoft JhengHei</vt:lpstr>
      <vt:lpstr>PingFang TC</vt:lpstr>
      <vt:lpstr>Aptos</vt:lpstr>
      <vt:lpstr>Arial</vt:lpstr>
      <vt:lpstr>Calibri</vt:lpstr>
      <vt:lpstr>Cambria Math</vt:lpstr>
      <vt:lpstr>Roboto</vt:lpstr>
      <vt:lpstr>Wingdings</vt:lpstr>
      <vt:lpstr>回顧</vt:lpstr>
      <vt:lpstr>自然語言處理與應用 Natural Language Processing and Applications</vt:lpstr>
      <vt:lpstr>Outline</vt:lpstr>
      <vt:lpstr>Outline of Transformer</vt:lpstr>
      <vt:lpstr>Lack of Position Modeling</vt:lpstr>
      <vt:lpstr>常見位置資訊作法：Learned Positional Embeddings (PE)</vt:lpstr>
      <vt:lpstr>Learned Positional Embeddings 程式碼</vt:lpstr>
      <vt:lpstr>BERT PE 範例</vt:lpstr>
      <vt:lpstr>Positional Encoding in Transformer</vt:lpstr>
      <vt:lpstr>Transformer PE 範例</vt:lpstr>
      <vt:lpstr>Positional Encoding Visualization</vt:lpstr>
      <vt:lpstr>為什麼需要同時有 Sin 和 Cos 函數?</vt:lpstr>
      <vt:lpstr>Encoder-Decoder 橋樑: Cross-Attention</vt:lpstr>
      <vt:lpstr>Cross-attention</vt:lpstr>
      <vt:lpstr>Number of Layers</vt:lpstr>
      <vt:lpstr>Outline of Transformer</vt:lpstr>
      <vt:lpstr>[Recap] Text Generation with RNN</vt:lpstr>
      <vt:lpstr>Transformers’ Achievements</vt:lpstr>
      <vt:lpstr>Transformer Variants (there are many more)</vt:lpstr>
      <vt:lpstr>Additional Links</vt:lpstr>
      <vt:lpstr>BERT and its Family</vt:lpstr>
      <vt:lpstr>Evolutionary Tree of Large Language Models</vt:lpstr>
      <vt:lpstr>Context Matters: ELMo (Peters et al., 2018)</vt:lpstr>
      <vt:lpstr>Bidirectional RNN with 2 Layers</vt:lpstr>
      <vt:lpstr>ELMo (1)</vt:lpstr>
      <vt:lpstr>ELMo (2)</vt:lpstr>
      <vt:lpstr>ELMo 的使用方法</vt:lpstr>
      <vt:lpstr>ELMo 相較於詞嵌入確實具備上下文語意資訊 </vt:lpstr>
      <vt:lpstr>The Pre-training then Fine-tuning Paradigm</vt:lpstr>
      <vt:lpstr>Feature-based and Fine-tuning approaches</vt:lpstr>
      <vt:lpstr>Static Embedding vs. Contextual Embedding</vt:lpstr>
      <vt:lpstr>BERT and its Family</vt:lpstr>
      <vt:lpstr>Transformer 架構的後續應用</vt:lpstr>
      <vt:lpstr>BERT 的輸入</vt:lpstr>
      <vt:lpstr>BERT (Bidirectional Encoder Representations from Transformers)</vt:lpstr>
      <vt:lpstr>Next Sentence Prediction (NSP)</vt:lpstr>
      <vt:lpstr>進行 MLM 時的 BERT 結構</vt:lpstr>
      <vt:lpstr>進行 NSP 時的 BERT 結構</vt:lpstr>
      <vt:lpstr>Fine-tuning BERT (Sentence Classification)</vt:lpstr>
      <vt:lpstr>任務：Question Answering / 閱讀理解</vt:lpstr>
      <vt:lpstr>Fine-tuning BERT (Question Answering)</vt:lpstr>
      <vt:lpstr>任務：命名實體辨識 (Named Entity Recognition, NER)</vt:lpstr>
      <vt:lpstr>Fine-tuning BERT (NER)</vt:lpstr>
      <vt:lpstr>BERT and its Family</vt:lpstr>
      <vt:lpstr>RoBERTa: A Robustly Optimized BERT Pretraining Approach</vt:lpstr>
      <vt:lpstr>RoBERTa was rejected by ICLR.</vt:lpstr>
      <vt:lpstr>BERT and its Family</vt:lpstr>
      <vt:lpstr>SpanBERT</vt:lpstr>
      <vt:lpstr>Extensions of BERT (Summary)</vt:lpstr>
      <vt:lpstr>BERT and its Family</vt:lpstr>
      <vt:lpstr>Positional Encodings 常常是加在 Input</vt:lpstr>
      <vt:lpstr>相對位置的重要性</vt:lpstr>
      <vt:lpstr>[Recap] Transformer 的權重值</vt:lpstr>
      <vt:lpstr>DeBERTa 的 Queries, Keys</vt:lpstr>
      <vt:lpstr>DeBERTa Attention</vt:lpstr>
      <vt:lpstr>Positional Embedding 要取哪一個？</vt:lpstr>
      <vt:lpstr>Why there’s no Q_P^ ×K_P^T?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深度學習 Deep Learning</dc:title>
  <dc:creator>林英嘉</dc:creator>
  <cp:lastModifiedBy>林英嘉</cp:lastModifiedBy>
  <cp:revision>1100</cp:revision>
  <dcterms:created xsi:type="dcterms:W3CDTF">2025-02-07T09:05:59Z</dcterms:created>
  <dcterms:modified xsi:type="dcterms:W3CDTF">2026-03-30T04:45:06Z</dcterms:modified>
</cp:coreProperties>
</file>