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7"/>
  </p:notesMasterIdLst>
  <p:sldIdLst>
    <p:sldId id="508" r:id="rId2"/>
    <p:sldId id="740" r:id="rId3"/>
    <p:sldId id="518" r:id="rId4"/>
    <p:sldId id="627" r:id="rId5"/>
    <p:sldId id="263" r:id="rId6"/>
    <p:sldId id="615" r:id="rId7"/>
    <p:sldId id="264" r:id="rId8"/>
    <p:sldId id="281" r:id="rId9"/>
    <p:sldId id="755" r:id="rId10"/>
    <p:sldId id="756" r:id="rId11"/>
    <p:sldId id="304" r:id="rId12"/>
    <p:sldId id="282" r:id="rId13"/>
    <p:sldId id="560" r:id="rId14"/>
    <p:sldId id="265" r:id="rId15"/>
    <p:sldId id="628" r:id="rId16"/>
    <p:sldId id="298" r:id="rId17"/>
    <p:sldId id="257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9" r:id="rId33"/>
    <p:sldId id="629" r:id="rId34"/>
    <p:sldId id="300" r:id="rId35"/>
    <p:sldId id="614" r:id="rId36"/>
    <p:sldId id="743" r:id="rId37"/>
    <p:sldId id="744" r:id="rId38"/>
    <p:sldId id="745" r:id="rId39"/>
    <p:sldId id="741" r:id="rId40"/>
    <p:sldId id="742" r:id="rId41"/>
    <p:sldId id="635" r:id="rId42"/>
    <p:sldId id="637" r:id="rId43"/>
    <p:sldId id="638" r:id="rId44"/>
    <p:sldId id="746" r:id="rId45"/>
    <p:sldId id="267" r:id="rId46"/>
    <p:sldId id="749" r:id="rId47"/>
    <p:sldId id="750" r:id="rId48"/>
    <p:sldId id="752" r:id="rId49"/>
    <p:sldId id="751" r:id="rId50"/>
    <p:sldId id="747" r:id="rId51"/>
    <p:sldId id="753" r:id="rId52"/>
    <p:sldId id="754" r:id="rId53"/>
    <p:sldId id="326" r:id="rId54"/>
    <p:sldId id="639" r:id="rId55"/>
    <p:sldId id="739" r:id="rId5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F773BFB9-3CF9-6F4C-8A7C-856EA42EA4CE}">
          <p14:sldIdLst>
            <p14:sldId id="508"/>
            <p14:sldId id="740"/>
            <p14:sldId id="518"/>
            <p14:sldId id="627"/>
            <p14:sldId id="263"/>
            <p14:sldId id="615"/>
            <p14:sldId id="264"/>
            <p14:sldId id="281"/>
            <p14:sldId id="755"/>
            <p14:sldId id="756"/>
            <p14:sldId id="304"/>
            <p14:sldId id="282"/>
            <p14:sldId id="560"/>
            <p14:sldId id="265"/>
            <p14:sldId id="628"/>
            <p14:sldId id="298"/>
            <p14:sldId id="257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9"/>
            <p14:sldId id="629"/>
            <p14:sldId id="300"/>
            <p14:sldId id="614"/>
            <p14:sldId id="743"/>
            <p14:sldId id="744"/>
            <p14:sldId id="745"/>
            <p14:sldId id="741"/>
            <p14:sldId id="742"/>
            <p14:sldId id="635"/>
            <p14:sldId id="637"/>
            <p14:sldId id="638"/>
            <p14:sldId id="746"/>
            <p14:sldId id="267"/>
            <p14:sldId id="749"/>
            <p14:sldId id="750"/>
            <p14:sldId id="752"/>
            <p14:sldId id="751"/>
            <p14:sldId id="747"/>
            <p14:sldId id="753"/>
            <p14:sldId id="754"/>
            <p14:sldId id="326"/>
            <p14:sldId id="639"/>
            <p14:sldId id="73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AED6"/>
    <a:srgbClr val="FF9400"/>
    <a:srgbClr val="FFCE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1"/>
    <p:restoredTop sz="94270"/>
  </p:normalViewPr>
  <p:slideViewPr>
    <p:cSldViewPr snapToGrid="0">
      <p:cViewPr varScale="1">
        <p:scale>
          <a:sx n="143" d="100"/>
          <a:sy n="143" d="100"/>
        </p:scale>
        <p:origin x="9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56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2026/3/16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2717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67264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0755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43793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54132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Before we get into the intra-attention mechanism in this paper</a:t>
            </a:r>
          </a:p>
          <a:p>
            <a:r>
              <a:rPr kumimoji="1" lang="en-US" altLang="zh-TW" dirty="0"/>
              <a:t>Let’s recap the standard attention mechanism first.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B6FA3-6A5C-4F42-A62F-1E0AEA80CC2A}" type="slidenum">
              <a:rPr kumimoji="1" lang="zh-TW" altLang="en-US" smtClean="0"/>
              <a:t>45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01889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70EF9-EF8A-53A1-CD30-9B6C4C974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066CFB1-31B0-0C3D-42B7-2E2A3B593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A7484396-AF6E-D57B-55A9-8F729669B88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zh-TW" dirty="0"/>
                  <a:t>(Laser pointer)</a:t>
                </a:r>
              </a:p>
              <a:p>
                <a:r>
                  <a:rPr kumimoji="1" lang="en-US" altLang="zh-TW" dirty="0"/>
                  <a:t>Attention mechanism starts from the encoder hidden states which can be concatenated by bi-directional outputs.</a:t>
                </a:r>
              </a:p>
              <a:p>
                <a:r>
                  <a:rPr kumimoji="1" lang="en-US" altLang="zh-TW" dirty="0"/>
                  <a:t>Called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</m:oMath>
                </a14:m>
                <a:endParaRPr kumimoji="1" lang="en-US" altLang="zh-TW" dirty="0"/>
              </a:p>
              <a:p>
                <a:endParaRPr kumimoji="1" lang="en-US" altLang="zh-TW" dirty="0"/>
              </a:p>
              <a:p>
                <a:r>
                  <a:rPr kumimoji="1" lang="en-US" altLang="zh-TW" dirty="0"/>
                  <a:t>than the temporal attention 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𝑡𝑖</m:t>
                        </m:r>
                      </m:sub>
                    </m:sSub>
                  </m:oMath>
                </a14:m>
                <a:r>
                  <a:rPr kumimoji="1" lang="en-US" altLang="zh-TW" dirty="0"/>
                  <a:t> is obtained by the alignment model</a:t>
                </a:r>
              </a:p>
              <a:p>
                <a:r>
                  <a:rPr kumimoji="1" lang="en-US" altLang="zh-TW" dirty="0"/>
                  <a:t>The alignment model is a feed forward network, which scores how well the inputs at position </a:t>
                </a:r>
                <a:r>
                  <a:rPr kumimoji="1" lang="en-US" altLang="zh-TW" dirty="0" err="1"/>
                  <a:t>i</a:t>
                </a:r>
                <a:r>
                  <a:rPr kumimoji="1" lang="en-US" altLang="zh-TW" dirty="0"/>
                  <a:t> and outputs at timestep t match</a:t>
                </a:r>
              </a:p>
              <a:p>
                <a:r>
                  <a:rPr kumimoji="1" lang="en-US" altLang="zh-TW" dirty="0"/>
                  <a:t>Then the attention score alpha is computed by a </a:t>
                </a:r>
                <a:r>
                  <a:rPr kumimoji="1" lang="en-US" altLang="zh-TW" dirty="0" err="1"/>
                  <a:t>softmax</a:t>
                </a:r>
                <a:r>
                  <a:rPr kumimoji="1" lang="en-US" altLang="zh-TW" dirty="0"/>
                  <a:t> function</a:t>
                </a:r>
              </a:p>
              <a:p>
                <a:r>
                  <a:rPr kumimoji="1" lang="en-US" altLang="zh-TW" dirty="0"/>
                  <a:t>Finally, the context vector of weighted sum is used to compute output at the decoding timestep t</a:t>
                </a:r>
              </a:p>
              <a:p>
                <a:endParaRPr kumimoji="1"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zh-TW" dirty="0"/>
                  <a:t>(Laser pointer)</a:t>
                </a:r>
              </a:p>
              <a:p>
                <a:r>
                  <a:rPr kumimoji="1" lang="en-US" altLang="zh-TW" dirty="0"/>
                  <a:t>Attention mechanism starts from the encoder hidden states which can be concatenated by bi-directional outputs.</a:t>
                </a:r>
              </a:p>
              <a:p>
                <a:r>
                  <a:rPr kumimoji="1" lang="en-US" altLang="zh-TW" dirty="0"/>
                  <a:t>Called </a:t>
                </a:r>
                <a:r>
                  <a:rPr kumimoji="1" lang="en-US" altLang="zh-TW" b="0" i="0">
                    <a:latin typeface="Cambria Math" panose="02040503050406030204" pitchFamily="18" charset="0"/>
                  </a:rPr>
                  <a:t>ℎ_𝑖^𝑒</a:t>
                </a:r>
                <a:endParaRPr kumimoji="1" lang="en-US" altLang="zh-TW" dirty="0"/>
              </a:p>
              <a:p>
                <a:endParaRPr kumimoji="1" lang="en-US" altLang="zh-TW" dirty="0"/>
              </a:p>
              <a:p>
                <a:r>
                  <a:rPr kumimoji="1" lang="en-US" altLang="zh-TW" dirty="0"/>
                  <a:t>than the temporal attention score </a:t>
                </a:r>
                <a:r>
                  <a:rPr kumimoji="1" lang="en-US" altLang="zh-TW" b="0" i="0">
                    <a:latin typeface="Cambria Math" panose="02040503050406030204" pitchFamily="18" charset="0"/>
                  </a:rPr>
                  <a:t>𝑒_𝑡𝑖</a:t>
                </a:r>
                <a:r>
                  <a:rPr kumimoji="1" lang="en-US" altLang="zh-TW" dirty="0"/>
                  <a:t> is obtained by the alignment model</a:t>
                </a:r>
              </a:p>
              <a:p>
                <a:r>
                  <a:rPr kumimoji="1" lang="en-US" altLang="zh-TW" dirty="0"/>
                  <a:t>The alignment model is a feed forward network, which scores how well the inputs at position </a:t>
                </a:r>
                <a:r>
                  <a:rPr kumimoji="1" lang="en-US" altLang="zh-TW" dirty="0" err="1"/>
                  <a:t>i</a:t>
                </a:r>
                <a:r>
                  <a:rPr kumimoji="1" lang="en-US" altLang="zh-TW" dirty="0"/>
                  <a:t> and outputs at timestep t match</a:t>
                </a:r>
              </a:p>
              <a:p>
                <a:r>
                  <a:rPr kumimoji="1" lang="en-US" altLang="zh-TW" dirty="0"/>
                  <a:t>Then the attention score alpha is computed by a </a:t>
                </a:r>
                <a:r>
                  <a:rPr kumimoji="1" lang="en-US" altLang="zh-TW" dirty="0" err="1"/>
                  <a:t>softmax</a:t>
                </a:r>
                <a:r>
                  <a:rPr kumimoji="1" lang="en-US" altLang="zh-TW" dirty="0"/>
                  <a:t> function</a:t>
                </a:r>
              </a:p>
              <a:p>
                <a:r>
                  <a:rPr kumimoji="1" lang="en-US" altLang="zh-TW" dirty="0"/>
                  <a:t>Finally, the context vector of weighted sum is used to compute output at the decoding timestep t</a:t>
                </a:r>
              </a:p>
              <a:p>
                <a:endParaRPr kumimoji="1" lang="zh-TW" altLang="en-US" dirty="0"/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CE80A11-7531-8EDF-A4B0-C046924096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B6FA3-6A5C-4F42-A62F-1E0AEA80CC2A}" type="slidenum">
              <a:rPr kumimoji="1" lang="zh-TW" altLang="en-US" smtClean="0"/>
              <a:t>46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54299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0C6E3-AD3D-7A51-4DD8-9DBB3A7EA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73189D4-27F6-32FE-F9A3-B13A4EBD7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5F13FFD4-9CFA-B187-15C3-861A050DB7D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zh-TW" dirty="0"/>
                  <a:t>(Laser pointer)</a:t>
                </a:r>
              </a:p>
              <a:p>
                <a:r>
                  <a:rPr kumimoji="1" lang="en-US" altLang="zh-TW" dirty="0"/>
                  <a:t>Attention mechanism starts from the encoder hidden states which can be concatenated by bi-directional outputs.</a:t>
                </a:r>
              </a:p>
              <a:p>
                <a:r>
                  <a:rPr kumimoji="1" lang="en-US" altLang="zh-TW" dirty="0"/>
                  <a:t>Called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</m:oMath>
                </a14:m>
                <a:endParaRPr kumimoji="1" lang="en-US" altLang="zh-TW" dirty="0"/>
              </a:p>
              <a:p>
                <a:endParaRPr kumimoji="1" lang="en-US" altLang="zh-TW" dirty="0"/>
              </a:p>
              <a:p>
                <a:r>
                  <a:rPr kumimoji="1" lang="en-US" altLang="zh-TW" dirty="0"/>
                  <a:t>than the temporal attention 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𝑡𝑖</m:t>
                        </m:r>
                      </m:sub>
                    </m:sSub>
                  </m:oMath>
                </a14:m>
                <a:r>
                  <a:rPr kumimoji="1" lang="en-US" altLang="zh-TW" dirty="0"/>
                  <a:t> is obtained by the alignment model</a:t>
                </a:r>
              </a:p>
              <a:p>
                <a:r>
                  <a:rPr kumimoji="1" lang="en-US" altLang="zh-TW" dirty="0"/>
                  <a:t>The alignment model is a feed forward network, which scores how well the inputs at position </a:t>
                </a:r>
                <a:r>
                  <a:rPr kumimoji="1" lang="en-US" altLang="zh-TW" dirty="0" err="1"/>
                  <a:t>i</a:t>
                </a:r>
                <a:r>
                  <a:rPr kumimoji="1" lang="en-US" altLang="zh-TW" dirty="0"/>
                  <a:t> and outputs at timestep t match</a:t>
                </a:r>
              </a:p>
              <a:p>
                <a:r>
                  <a:rPr kumimoji="1" lang="en-US" altLang="zh-TW" dirty="0"/>
                  <a:t>Then the attention score alpha is computed by a </a:t>
                </a:r>
                <a:r>
                  <a:rPr kumimoji="1" lang="en-US" altLang="zh-TW" dirty="0" err="1"/>
                  <a:t>softmax</a:t>
                </a:r>
                <a:r>
                  <a:rPr kumimoji="1" lang="en-US" altLang="zh-TW" dirty="0"/>
                  <a:t> function</a:t>
                </a:r>
              </a:p>
              <a:p>
                <a:r>
                  <a:rPr kumimoji="1" lang="en-US" altLang="zh-TW" dirty="0"/>
                  <a:t>Finally, the context vector of weighted sum is used to compute output at the decoding timestep t</a:t>
                </a:r>
              </a:p>
              <a:p>
                <a:endParaRPr kumimoji="1"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zh-TW" dirty="0"/>
                  <a:t>(Laser pointer)</a:t>
                </a:r>
              </a:p>
              <a:p>
                <a:r>
                  <a:rPr kumimoji="1" lang="en-US" altLang="zh-TW" dirty="0"/>
                  <a:t>Attention mechanism starts from the encoder hidden states which can be concatenated by bi-directional outputs.</a:t>
                </a:r>
              </a:p>
              <a:p>
                <a:r>
                  <a:rPr kumimoji="1" lang="en-US" altLang="zh-TW" dirty="0"/>
                  <a:t>Called </a:t>
                </a:r>
                <a:r>
                  <a:rPr kumimoji="1" lang="en-US" altLang="zh-TW" b="0" i="0">
                    <a:latin typeface="Cambria Math" panose="02040503050406030204" pitchFamily="18" charset="0"/>
                  </a:rPr>
                  <a:t>ℎ_𝑖^𝑒</a:t>
                </a:r>
                <a:endParaRPr kumimoji="1" lang="en-US" altLang="zh-TW" dirty="0"/>
              </a:p>
              <a:p>
                <a:endParaRPr kumimoji="1" lang="en-US" altLang="zh-TW" dirty="0"/>
              </a:p>
              <a:p>
                <a:r>
                  <a:rPr kumimoji="1" lang="en-US" altLang="zh-TW" dirty="0"/>
                  <a:t>than the temporal attention score </a:t>
                </a:r>
                <a:r>
                  <a:rPr kumimoji="1" lang="en-US" altLang="zh-TW" b="0" i="0">
                    <a:latin typeface="Cambria Math" panose="02040503050406030204" pitchFamily="18" charset="0"/>
                  </a:rPr>
                  <a:t>𝑒_𝑡𝑖</a:t>
                </a:r>
                <a:r>
                  <a:rPr kumimoji="1" lang="en-US" altLang="zh-TW" dirty="0"/>
                  <a:t> is obtained by the alignment model</a:t>
                </a:r>
              </a:p>
              <a:p>
                <a:r>
                  <a:rPr kumimoji="1" lang="en-US" altLang="zh-TW" dirty="0"/>
                  <a:t>The alignment model is a feed forward network, which scores how well the inputs at position </a:t>
                </a:r>
                <a:r>
                  <a:rPr kumimoji="1" lang="en-US" altLang="zh-TW" dirty="0" err="1"/>
                  <a:t>i</a:t>
                </a:r>
                <a:r>
                  <a:rPr kumimoji="1" lang="en-US" altLang="zh-TW" dirty="0"/>
                  <a:t> and outputs at timestep t match</a:t>
                </a:r>
              </a:p>
              <a:p>
                <a:r>
                  <a:rPr kumimoji="1" lang="en-US" altLang="zh-TW" dirty="0"/>
                  <a:t>Then the attention score alpha is computed by a </a:t>
                </a:r>
                <a:r>
                  <a:rPr kumimoji="1" lang="en-US" altLang="zh-TW" dirty="0" err="1"/>
                  <a:t>softmax</a:t>
                </a:r>
                <a:r>
                  <a:rPr kumimoji="1" lang="en-US" altLang="zh-TW" dirty="0"/>
                  <a:t> function</a:t>
                </a:r>
              </a:p>
              <a:p>
                <a:r>
                  <a:rPr kumimoji="1" lang="en-US" altLang="zh-TW" dirty="0"/>
                  <a:t>Finally, the context vector of weighted sum is used to compute output at the decoding timestep t</a:t>
                </a:r>
              </a:p>
              <a:p>
                <a:endParaRPr kumimoji="1" lang="zh-TW" altLang="en-US" dirty="0"/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2801BC-017D-D660-B700-1ACE0C2A62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B6FA3-6A5C-4F42-A62F-1E0AEA80CC2A}" type="slidenum">
              <a:rPr kumimoji="1" lang="zh-TW" altLang="en-US" smtClean="0"/>
              <a:t>48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36876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9D8F3-B40D-2E9A-C0F2-8CE1BF169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922823-228E-FB7B-5FD9-8A9C411F4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E8278A36-2777-FB96-818D-729C330F82D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zh-TW" dirty="0"/>
                  <a:t>(Laser pointer)</a:t>
                </a:r>
              </a:p>
              <a:p>
                <a:r>
                  <a:rPr kumimoji="1" lang="en-US" altLang="zh-TW" dirty="0"/>
                  <a:t>Attention mechanism starts from the encoder hidden states which can be concatenated by bi-directional outputs.</a:t>
                </a:r>
              </a:p>
              <a:p>
                <a:r>
                  <a:rPr kumimoji="1" lang="en-US" altLang="zh-TW" dirty="0"/>
                  <a:t>Called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</m:oMath>
                </a14:m>
                <a:endParaRPr kumimoji="1" lang="en-US" altLang="zh-TW" dirty="0"/>
              </a:p>
              <a:p>
                <a:endParaRPr kumimoji="1" lang="en-US" altLang="zh-TW" dirty="0"/>
              </a:p>
              <a:p>
                <a:r>
                  <a:rPr kumimoji="1" lang="en-US" altLang="zh-TW" dirty="0"/>
                  <a:t>than the temporal attention 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𝑡𝑖</m:t>
                        </m:r>
                      </m:sub>
                    </m:sSub>
                  </m:oMath>
                </a14:m>
                <a:r>
                  <a:rPr kumimoji="1" lang="en-US" altLang="zh-TW" dirty="0"/>
                  <a:t> is obtained by the alignment model</a:t>
                </a:r>
              </a:p>
              <a:p>
                <a:r>
                  <a:rPr kumimoji="1" lang="en-US" altLang="zh-TW" dirty="0"/>
                  <a:t>The alignment model is a feed forward network, which scores how well the inputs at position </a:t>
                </a:r>
                <a:r>
                  <a:rPr kumimoji="1" lang="en-US" altLang="zh-TW" dirty="0" err="1"/>
                  <a:t>i</a:t>
                </a:r>
                <a:r>
                  <a:rPr kumimoji="1" lang="en-US" altLang="zh-TW" dirty="0"/>
                  <a:t> and outputs at timestep t match</a:t>
                </a:r>
              </a:p>
              <a:p>
                <a:r>
                  <a:rPr kumimoji="1" lang="en-US" altLang="zh-TW" dirty="0"/>
                  <a:t>Then the attention score alpha is computed by a </a:t>
                </a:r>
                <a:r>
                  <a:rPr kumimoji="1" lang="en-US" altLang="zh-TW" dirty="0" err="1"/>
                  <a:t>softmax</a:t>
                </a:r>
                <a:r>
                  <a:rPr kumimoji="1" lang="en-US" altLang="zh-TW" dirty="0"/>
                  <a:t> function</a:t>
                </a:r>
              </a:p>
              <a:p>
                <a:r>
                  <a:rPr kumimoji="1" lang="en-US" altLang="zh-TW" dirty="0"/>
                  <a:t>Finally, the context vector of weighted sum is used to compute output at the decoding timestep t</a:t>
                </a:r>
              </a:p>
              <a:p>
                <a:endParaRPr kumimoji="1"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zh-TW" dirty="0"/>
                  <a:t>(Laser pointer)</a:t>
                </a:r>
              </a:p>
              <a:p>
                <a:r>
                  <a:rPr kumimoji="1" lang="en-US" altLang="zh-TW" dirty="0"/>
                  <a:t>Attention mechanism starts from the encoder hidden states which can be concatenated by bi-directional outputs.</a:t>
                </a:r>
              </a:p>
              <a:p>
                <a:r>
                  <a:rPr kumimoji="1" lang="en-US" altLang="zh-TW" dirty="0"/>
                  <a:t>Called </a:t>
                </a:r>
                <a:r>
                  <a:rPr kumimoji="1" lang="en-US" altLang="zh-TW" b="0" i="0">
                    <a:latin typeface="Cambria Math" panose="02040503050406030204" pitchFamily="18" charset="0"/>
                  </a:rPr>
                  <a:t>ℎ_𝑖^𝑒</a:t>
                </a:r>
                <a:endParaRPr kumimoji="1" lang="en-US" altLang="zh-TW" dirty="0"/>
              </a:p>
              <a:p>
                <a:endParaRPr kumimoji="1" lang="en-US" altLang="zh-TW" dirty="0"/>
              </a:p>
              <a:p>
                <a:r>
                  <a:rPr kumimoji="1" lang="en-US" altLang="zh-TW" dirty="0"/>
                  <a:t>than the temporal attention score </a:t>
                </a:r>
                <a:r>
                  <a:rPr kumimoji="1" lang="en-US" altLang="zh-TW" b="0" i="0">
                    <a:latin typeface="Cambria Math" panose="02040503050406030204" pitchFamily="18" charset="0"/>
                  </a:rPr>
                  <a:t>𝑒_𝑡𝑖</a:t>
                </a:r>
                <a:r>
                  <a:rPr kumimoji="1" lang="en-US" altLang="zh-TW" dirty="0"/>
                  <a:t> is obtained by the alignment model</a:t>
                </a:r>
              </a:p>
              <a:p>
                <a:r>
                  <a:rPr kumimoji="1" lang="en-US" altLang="zh-TW" dirty="0"/>
                  <a:t>The alignment model is a feed forward network, which scores how well the inputs at position </a:t>
                </a:r>
                <a:r>
                  <a:rPr kumimoji="1" lang="en-US" altLang="zh-TW" dirty="0" err="1"/>
                  <a:t>i</a:t>
                </a:r>
                <a:r>
                  <a:rPr kumimoji="1" lang="en-US" altLang="zh-TW" dirty="0"/>
                  <a:t> and outputs at timestep t match</a:t>
                </a:r>
              </a:p>
              <a:p>
                <a:r>
                  <a:rPr kumimoji="1" lang="en-US" altLang="zh-TW" dirty="0"/>
                  <a:t>Then the attention score alpha is computed by a </a:t>
                </a:r>
                <a:r>
                  <a:rPr kumimoji="1" lang="en-US" altLang="zh-TW" dirty="0" err="1"/>
                  <a:t>softmax</a:t>
                </a:r>
                <a:r>
                  <a:rPr kumimoji="1" lang="en-US" altLang="zh-TW" dirty="0"/>
                  <a:t> function</a:t>
                </a:r>
              </a:p>
              <a:p>
                <a:r>
                  <a:rPr kumimoji="1" lang="en-US" altLang="zh-TW" dirty="0"/>
                  <a:t>Finally, the context vector of weighted sum is used to compute output at the decoding timestep t</a:t>
                </a:r>
              </a:p>
              <a:p>
                <a:endParaRPr kumimoji="1" lang="zh-TW" altLang="en-US" dirty="0"/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8D1194-BF17-7BB9-01C6-F4AA6BAF9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B6FA3-6A5C-4F42-A62F-1E0AEA80CC2A}" type="slidenum">
              <a:rPr kumimoji="1" lang="zh-TW" altLang="en-US" smtClean="0"/>
              <a:t>49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58006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形狀小百科</a:t>
            </a:r>
            <a:endParaRPr kumimoji="1" lang="en-US" altLang="zh-TW" dirty="0"/>
          </a:p>
          <a:p>
            <a:r>
              <a:rPr kumimoji="1" lang="en-US" altLang="zh-TW" dirty="0" err="1"/>
              <a:t>h_i</a:t>
            </a:r>
            <a:r>
              <a:rPr kumimoji="1" lang="en-US" altLang="zh-TW" dirty="0"/>
              <a:t>: 2H</a:t>
            </a:r>
          </a:p>
          <a:p>
            <a:r>
              <a:rPr kumimoji="1" lang="en-US" altLang="zh-TW" dirty="0"/>
              <a:t>U: (H, 2H)</a:t>
            </a:r>
          </a:p>
          <a:p>
            <a:r>
              <a:rPr kumimoji="1" lang="en-US" altLang="zh-TW" dirty="0" err="1"/>
              <a:t>s_t</a:t>
            </a:r>
            <a:r>
              <a:rPr kumimoji="1" lang="en-US" altLang="zh-TW" dirty="0"/>
              <a:t>: H</a:t>
            </a:r>
          </a:p>
          <a:p>
            <a:r>
              <a:rPr kumimoji="1" lang="en-US" altLang="zh-TW" dirty="0"/>
              <a:t>W: (H, H)</a:t>
            </a:r>
          </a:p>
          <a:p>
            <a:r>
              <a:rPr kumimoji="1" lang="en-US" altLang="zh-TW" dirty="0"/>
              <a:t>v: (1, H)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893368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034273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DBCF3-5D59-8C23-F14C-99F5F701C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98AE26A-80C7-BABE-F42D-45C754B351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3E14A9CC-3994-48CF-871D-9FF33D85C5A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的維度為</a:t>
                </a:r>
                <a:r>
                  <a:rPr kumimoji="1" lang="en-US" altLang="zh-TW" dirty="0"/>
                  <a:t>(H, H)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zh-TW" dirty="0"/>
                  <a:t>(Laser pointer)</a:t>
                </a:r>
              </a:p>
              <a:p>
                <a:r>
                  <a:rPr kumimoji="1" lang="en-US" altLang="zh-TW" dirty="0"/>
                  <a:t>Attention mechanism starts from the encoder hidden states which can be concatenated by bi-directional outputs.</a:t>
                </a:r>
              </a:p>
              <a:p>
                <a:r>
                  <a:rPr kumimoji="1" lang="en-US" altLang="zh-TW" dirty="0"/>
                  <a:t>Called </a:t>
                </a:r>
                <a:r>
                  <a:rPr kumimoji="1" lang="en-US" altLang="zh-TW" b="0" i="0">
                    <a:latin typeface="Cambria Math" panose="02040503050406030204" pitchFamily="18" charset="0"/>
                  </a:rPr>
                  <a:t>ℎ_𝑖^𝑒</a:t>
                </a:r>
                <a:endParaRPr kumimoji="1" lang="en-US" altLang="zh-TW" dirty="0"/>
              </a:p>
              <a:p>
                <a:endParaRPr kumimoji="1" lang="en-US" altLang="zh-TW" dirty="0"/>
              </a:p>
              <a:p>
                <a:r>
                  <a:rPr kumimoji="1" lang="en-US" altLang="zh-TW" dirty="0"/>
                  <a:t>than the temporal attention score </a:t>
                </a:r>
                <a:r>
                  <a:rPr kumimoji="1" lang="en-US" altLang="zh-TW" b="0" i="0">
                    <a:latin typeface="Cambria Math" panose="02040503050406030204" pitchFamily="18" charset="0"/>
                  </a:rPr>
                  <a:t>𝑒_𝑡𝑖</a:t>
                </a:r>
                <a:r>
                  <a:rPr kumimoji="1" lang="en-US" altLang="zh-TW" dirty="0"/>
                  <a:t> is obtained by the alignment model</a:t>
                </a:r>
              </a:p>
              <a:p>
                <a:r>
                  <a:rPr kumimoji="1" lang="en-US" altLang="zh-TW" dirty="0"/>
                  <a:t>The alignment model is a feed forward network, which scores how well the inputs at position </a:t>
                </a:r>
                <a:r>
                  <a:rPr kumimoji="1" lang="en-US" altLang="zh-TW" dirty="0" err="1"/>
                  <a:t>i</a:t>
                </a:r>
                <a:r>
                  <a:rPr kumimoji="1" lang="en-US" altLang="zh-TW" dirty="0"/>
                  <a:t> and outputs at timestep t match</a:t>
                </a:r>
              </a:p>
              <a:p>
                <a:r>
                  <a:rPr kumimoji="1" lang="en-US" altLang="zh-TW" dirty="0"/>
                  <a:t>Then the attention score alpha is computed by a </a:t>
                </a:r>
                <a:r>
                  <a:rPr kumimoji="1" lang="en-US" altLang="zh-TW" dirty="0" err="1"/>
                  <a:t>softmax</a:t>
                </a:r>
                <a:r>
                  <a:rPr kumimoji="1" lang="en-US" altLang="zh-TW" dirty="0"/>
                  <a:t> function</a:t>
                </a:r>
              </a:p>
              <a:p>
                <a:r>
                  <a:rPr kumimoji="1" lang="en-US" altLang="zh-TW" dirty="0"/>
                  <a:t>Finally, the context vector of weighted sum is used to compute output at the decoding timestep t</a:t>
                </a:r>
              </a:p>
              <a:p>
                <a:endParaRPr kumimoji="1" lang="zh-TW" altLang="en-US" dirty="0"/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3776B7-914F-E44A-D3B8-8A2DD7E70B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B6FA3-6A5C-4F42-A62F-1E0AEA80CC2A}" type="slidenum">
              <a:rPr kumimoji="1" lang="zh-TW" altLang="en-US" smtClean="0"/>
              <a:t>52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06903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B05C12B-E59D-D8B7-A3B4-27931CBD675F}"/>
              </a:ext>
            </a:extLst>
          </p:cNvPr>
          <p:cNvSpPr txBox="1"/>
          <p:nvPr userDrawn="1"/>
        </p:nvSpPr>
        <p:spPr>
          <a:xfrm>
            <a:off x="423038" y="6442992"/>
            <a:ext cx="557608" cy="268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kumimoji="1" lang="en-US" altLang="zh-TW" sz="1400" dirty="0">
                <a:ea typeface="Nanum Brush Script" panose="03060600000000000000" pitchFamily="66" charset="-127"/>
                <a:cs typeface="Arial" panose="020B0604020202020204" pitchFamily="34" charset="0"/>
              </a:rPr>
              <a:t>NLP</a:t>
            </a:r>
            <a:endParaRPr kumimoji="1" lang="zh-TW" altLang="en-US" sz="1400" dirty="0">
              <a:cs typeface="Arial" panose="020B0604020202020204" pitchFamily="34" charset="0"/>
            </a:endParaRPr>
          </a:p>
        </p:txBody>
      </p:sp>
      <p:pic>
        <p:nvPicPr>
          <p:cNvPr id="7" name="圖形 6" descr="聊天泡泡 外框">
            <a:extLst>
              <a:ext uri="{FF2B5EF4-FFF2-40B4-BE49-F238E27FC236}">
                <a16:creationId xmlns:a16="http://schemas.microsoft.com/office/drawing/2014/main" id="{0B067696-6EA5-0A4A-14B8-D7C17072FE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093" y="6388664"/>
            <a:ext cx="377640" cy="37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sli.do/event/coTzHMJufgFUhyMLQgCXQ2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3" Type="http://schemas.openxmlformats.org/officeDocument/2006/relationships/image" Target="../media/image270.png"/><Relationship Id="rId7" Type="http://schemas.openxmlformats.org/officeDocument/2006/relationships/image" Target="../media/image3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png"/><Relationship Id="rId5" Type="http://schemas.openxmlformats.org/officeDocument/2006/relationships/image" Target="../media/image290.png"/><Relationship Id="rId10" Type="http://schemas.openxmlformats.org/officeDocument/2006/relationships/image" Target="../media/image340.png"/><Relationship Id="rId4" Type="http://schemas.openxmlformats.org/officeDocument/2006/relationships/image" Target="../media/image280.png"/><Relationship Id="rId9" Type="http://schemas.openxmlformats.org/officeDocument/2006/relationships/image" Target="../media/image33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2" Type="http://schemas.openxmlformats.org/officeDocument/2006/relationships/image" Target="../media/image101.png"/><Relationship Id="rId16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5" Type="http://schemas.openxmlformats.org/officeDocument/2006/relationships/image" Target="../media/image114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22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7.png"/><Relationship Id="rId5" Type="http://schemas.openxmlformats.org/officeDocument/2006/relationships/image" Target="../media/image14.png"/><Relationship Id="rId10" Type="http://schemas.openxmlformats.org/officeDocument/2006/relationships/image" Target="../media/image26.png"/><Relationship Id="rId4" Type="http://schemas.openxmlformats.org/officeDocument/2006/relationships/image" Target="../media/image220.png"/><Relationship Id="rId9" Type="http://schemas.openxmlformats.org/officeDocument/2006/relationships/image" Target="../media/image25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4.png"/><Relationship Id="rId7" Type="http://schemas.openxmlformats.org/officeDocument/2006/relationships/image" Target="../media/image291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32.png"/><Relationship Id="rId5" Type="http://schemas.openxmlformats.org/officeDocument/2006/relationships/image" Target="../media/image14.png"/><Relationship Id="rId10" Type="http://schemas.openxmlformats.org/officeDocument/2006/relationships/image" Target="../media/image31.png"/><Relationship Id="rId4" Type="http://schemas.openxmlformats.org/officeDocument/2006/relationships/image" Target="../media/image220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7.png"/><Relationship Id="rId3" Type="http://schemas.openxmlformats.org/officeDocument/2006/relationships/image" Target="../media/image3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34.png"/><Relationship Id="rId5" Type="http://schemas.openxmlformats.org/officeDocument/2006/relationships/image" Target="../media/image39.png"/><Relationship Id="rId15" Type="http://schemas.openxmlformats.org/officeDocument/2006/relationships/image" Target="../media/image41.png"/><Relationship Id="rId10" Type="http://schemas.openxmlformats.org/officeDocument/2006/relationships/image" Target="../media/image33.png"/><Relationship Id="rId4" Type="http://schemas.openxmlformats.org/officeDocument/2006/relationships/image" Target="../media/image38.png"/><Relationship Id="rId9" Type="http://schemas.openxmlformats.org/officeDocument/2006/relationships/image" Target="../media/image32.png"/><Relationship Id="rId14" Type="http://schemas.openxmlformats.org/officeDocument/2006/relationships/image" Target="../media/image22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1.png"/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49.png"/><Relationship Id="rId5" Type="http://schemas.openxmlformats.org/officeDocument/2006/relationships/image" Target="../media/image160.png"/><Relationship Id="rId10" Type="http://schemas.openxmlformats.org/officeDocument/2006/relationships/image" Target="../media/image210.png"/><Relationship Id="rId4" Type="http://schemas.openxmlformats.org/officeDocument/2006/relationships/image" Target="../media/image44.png"/><Relationship Id="rId9" Type="http://schemas.openxmlformats.org/officeDocument/2006/relationships/image" Target="../media/image48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56.png"/><Relationship Id="rId5" Type="http://schemas.openxmlformats.org/officeDocument/2006/relationships/image" Target="../media/image14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image" Target="../media/image220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>
            <a:extLst>
              <a:ext uri="{FF2B5EF4-FFF2-40B4-BE49-F238E27FC236}">
                <a16:creationId xmlns:a16="http://schemas.microsoft.com/office/drawing/2014/main" id="{AA8F8551-2C61-48D1-9E5C-345C10BAAC8B}"/>
              </a:ext>
            </a:extLst>
          </p:cNvPr>
          <p:cNvSpPr/>
          <p:nvPr/>
        </p:nvSpPr>
        <p:spPr>
          <a:xfrm>
            <a:off x="667422" y="1891904"/>
            <a:ext cx="10857156" cy="2857500"/>
          </a:xfrm>
          <a:prstGeom prst="roundRect">
            <a:avLst/>
          </a:prstGeom>
          <a:solidFill>
            <a:srgbClr val="FFC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9623" y="2056517"/>
            <a:ext cx="10857156" cy="2758710"/>
          </a:xfrm>
        </p:spPr>
        <p:txBody>
          <a:bodyPr anchor="ctr">
            <a:noAutofit/>
          </a:bodyPr>
          <a:lstStyle/>
          <a:p>
            <a:r>
              <a:rPr kumimoji="1" lang="zh-TW" altLang="en-US" sz="4800" b="1" dirty="0">
                <a:ea typeface="Microsoft JhengHei" panose="020B0604030504040204" pitchFamily="34" charset="-120"/>
              </a:rPr>
              <a:t>自然語言處理與應用</a:t>
            </a:r>
            <a:br>
              <a:rPr kumimoji="1" lang="en-US" altLang="zh-TW" sz="4800" b="1" dirty="0">
                <a:ea typeface="Microsoft JhengHei" panose="020B0604030504040204" pitchFamily="34" charset="-120"/>
              </a:rPr>
            </a:br>
            <a:r>
              <a:rPr kumimoji="1" lang="en-US" altLang="zh-TW" sz="4800" b="1" dirty="0">
                <a:ea typeface="Microsoft JhengHei" panose="020B0604030504040204" pitchFamily="34" charset="-120"/>
              </a:rPr>
              <a:t>Natural Language Processing and Applications</a:t>
            </a:r>
            <a:endParaRPr kumimoji="1" lang="zh-TW" altLang="en-US" sz="4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759623" y="4881049"/>
            <a:ext cx="45605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注意力機制與現代字詞分割演算法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759623" y="5914787"/>
            <a:ext cx="4182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2026/03/16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0118" y="130472"/>
            <a:ext cx="1394460" cy="139446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6DEED3F-C826-615A-5EF9-02C833E509E8}"/>
              </a:ext>
            </a:extLst>
          </p:cNvPr>
          <p:cNvSpPr txBox="1"/>
          <p:nvPr/>
        </p:nvSpPr>
        <p:spPr>
          <a:xfrm>
            <a:off x="10169046" y="5391531"/>
            <a:ext cx="15583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Slido</a:t>
            </a:r>
            <a:endParaRPr kumimoji="1" lang="en" altLang="zh-TW" dirty="0"/>
          </a:p>
          <a:p>
            <a:r>
              <a:rPr kumimoji="1" lang="en" altLang="zh-TW" dirty="0"/>
              <a:t># NLP0316 (</a:t>
            </a:r>
            <a:r>
              <a:rPr kumimoji="1" lang="en" altLang="zh-TW" dirty="0">
                <a:hlinkClick r:id="rId3"/>
              </a:rPr>
              <a:t>Link</a:t>
            </a:r>
            <a:r>
              <a:rPr kumimoji="1" lang="en" altLang="zh-TW" dirty="0"/>
              <a:t>)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5D8B8BA-01EA-719E-DB6F-35B59009F0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39"/>
          <a:stretch/>
        </p:blipFill>
        <p:spPr>
          <a:xfrm>
            <a:off x="5498071" y="4881049"/>
            <a:ext cx="2108982" cy="195843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E320E30-561F-DF85-CC02-2709CD58A10B}"/>
              </a:ext>
            </a:extLst>
          </p:cNvPr>
          <p:cNvSpPr txBox="1"/>
          <p:nvPr/>
        </p:nvSpPr>
        <p:spPr>
          <a:xfrm>
            <a:off x="7389634" y="5642689"/>
            <a:ext cx="101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GitHub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D9049BA-D965-A233-C00C-28ADEF9982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0068" y="4932745"/>
            <a:ext cx="1689928" cy="168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9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C8C9F6-BEB5-F736-7564-E6B31963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現代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自然語言處理基本功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0B37D4-3CE3-A10B-27BE-C4CECB2F6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C7C62DA-BDF2-0D01-1A6C-2EA30B3A18CA}"/>
              </a:ext>
            </a:extLst>
          </p:cNvPr>
          <p:cNvSpPr txBox="1"/>
          <p:nvPr/>
        </p:nvSpPr>
        <p:spPr>
          <a:xfrm>
            <a:off x="636815" y="1627495"/>
            <a:ext cx="10918370" cy="195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ea typeface="Microsoft JhengHei" panose="020B0604030504040204" pitchFamily="34" charset="-120"/>
              </a:rPr>
              <a:t>Week 4 – Week 5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800" dirty="0">
                <a:ea typeface="Microsoft JhengHei" panose="020B0604030504040204" pitchFamily="34" charset="-120"/>
              </a:rPr>
              <a:t>Sub-word </a:t>
            </a:r>
            <a:r>
              <a:rPr kumimoji="1" lang="zh-TW" altLang="en-US" sz="2800" dirty="0">
                <a:ea typeface="Microsoft JhengHei" panose="020B0604030504040204" pitchFamily="34" charset="-120"/>
              </a:rPr>
              <a:t>分詞法</a:t>
            </a:r>
            <a:r>
              <a:rPr kumimoji="1" lang="en-US" altLang="zh-TW" sz="2800" dirty="0">
                <a:ea typeface="Microsoft JhengHei" panose="020B0604030504040204" pitchFamily="34" charset="-120"/>
              </a:rPr>
              <a:t>, </a:t>
            </a:r>
            <a:r>
              <a:rPr kumimoji="1" lang="zh-TW" altLang="en-US" sz="2800" dirty="0">
                <a:ea typeface="Microsoft JhengHei" panose="020B0604030504040204" pitchFamily="34" charset="-120"/>
              </a:rPr>
              <a:t>注意力機制</a:t>
            </a:r>
            <a:endParaRPr kumimoji="1" lang="en-US" altLang="zh-TW" sz="28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ea typeface="Microsoft JhengHei" panose="020B0604030504040204" pitchFamily="34" charset="-120"/>
              </a:rPr>
              <a:t>Transformer</a:t>
            </a:r>
            <a:r>
              <a:rPr kumimoji="1" lang="zh-TW" altLang="en-US" sz="2800" dirty="0">
                <a:ea typeface="Microsoft JhengHei" panose="020B0604030504040204" pitchFamily="34" charset="-120"/>
              </a:rPr>
              <a:t> 架構</a:t>
            </a:r>
            <a:endParaRPr kumimoji="1" lang="en" altLang="zh-TW" sz="2800" dirty="0">
              <a:ea typeface="Microsoft JhengHei" panose="020B0604030504040204" pitchFamily="34" charset="-120"/>
            </a:endParaRP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9DF83CD4-2F27-79BE-9831-4BE356FB9D31}"/>
              </a:ext>
            </a:extLst>
          </p:cNvPr>
          <p:cNvSpPr/>
          <p:nvPr/>
        </p:nvSpPr>
        <p:spPr>
          <a:xfrm>
            <a:off x="2668652" y="5836117"/>
            <a:ext cx="372490" cy="207951"/>
          </a:xfrm>
          <a:prstGeom prst="roundRect">
            <a:avLst/>
          </a:prstGeom>
          <a:solidFill>
            <a:srgbClr val="00EED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0A399ACA-D0EB-2970-08EB-1BC6AEFEE554}"/>
              </a:ext>
            </a:extLst>
          </p:cNvPr>
          <p:cNvSpPr/>
          <p:nvPr/>
        </p:nvSpPr>
        <p:spPr>
          <a:xfrm>
            <a:off x="5569199" y="5836117"/>
            <a:ext cx="372490" cy="207951"/>
          </a:xfrm>
          <a:prstGeom prst="roundRect">
            <a:avLst/>
          </a:prstGeom>
          <a:solidFill>
            <a:srgbClr val="00EED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B4D3DD98-80F0-7C9C-3C0A-931AF09BE7BD}"/>
              </a:ext>
            </a:extLst>
          </p:cNvPr>
          <p:cNvSpPr/>
          <p:nvPr/>
        </p:nvSpPr>
        <p:spPr>
          <a:xfrm>
            <a:off x="1701803" y="5836117"/>
            <a:ext cx="372490" cy="207951"/>
          </a:xfrm>
          <a:prstGeom prst="roundRect">
            <a:avLst/>
          </a:prstGeom>
          <a:solidFill>
            <a:srgbClr val="C1EED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9FDD36C2-7145-C233-D358-B235354BFDB2}"/>
              </a:ext>
            </a:extLst>
          </p:cNvPr>
          <p:cNvSpPr/>
          <p:nvPr/>
        </p:nvSpPr>
        <p:spPr>
          <a:xfrm>
            <a:off x="3605367" y="5836117"/>
            <a:ext cx="372490" cy="207951"/>
          </a:xfrm>
          <a:prstGeom prst="roundRect">
            <a:avLst/>
          </a:prstGeom>
          <a:solidFill>
            <a:srgbClr val="C1EED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34E24EB8-7BF2-1298-B431-0989F32053A3}"/>
              </a:ext>
            </a:extLst>
          </p:cNvPr>
          <p:cNvSpPr/>
          <p:nvPr/>
        </p:nvSpPr>
        <p:spPr>
          <a:xfrm>
            <a:off x="4598564" y="5836117"/>
            <a:ext cx="372490" cy="207951"/>
          </a:xfrm>
          <a:prstGeom prst="roundRect">
            <a:avLst/>
          </a:prstGeom>
          <a:solidFill>
            <a:srgbClr val="C1EED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A5578B6F-D640-AF78-D5DA-073607548C39}"/>
              </a:ext>
            </a:extLst>
          </p:cNvPr>
          <p:cNvCxnSpPr>
            <a:cxnSpLocks/>
          </p:cNvCxnSpPr>
          <p:nvPr/>
        </p:nvCxnSpPr>
        <p:spPr>
          <a:xfrm flipV="1">
            <a:off x="1888048" y="4750915"/>
            <a:ext cx="1621151" cy="9810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836FC4BB-585A-037A-6449-ED5B648663F9}"/>
              </a:ext>
            </a:extLst>
          </p:cNvPr>
          <p:cNvCxnSpPr>
            <a:cxnSpLocks/>
          </p:cNvCxnSpPr>
          <p:nvPr/>
        </p:nvCxnSpPr>
        <p:spPr>
          <a:xfrm flipH="1" flipV="1">
            <a:off x="4826715" y="4750915"/>
            <a:ext cx="920640" cy="10393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E708AF77-7F65-96BC-B81F-840358BC5F7F}"/>
              </a:ext>
            </a:extLst>
          </p:cNvPr>
          <p:cNvCxnSpPr>
            <a:cxnSpLocks/>
          </p:cNvCxnSpPr>
          <p:nvPr/>
        </p:nvCxnSpPr>
        <p:spPr>
          <a:xfrm flipH="1" flipV="1">
            <a:off x="4476813" y="4769786"/>
            <a:ext cx="313059" cy="10663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559A8AF7-35F5-4D76-A2FD-C24CD7A2FB4A}"/>
              </a:ext>
            </a:extLst>
          </p:cNvPr>
          <p:cNvCxnSpPr>
            <a:cxnSpLocks/>
          </p:cNvCxnSpPr>
          <p:nvPr/>
        </p:nvCxnSpPr>
        <p:spPr>
          <a:xfrm flipV="1">
            <a:off x="2937122" y="4763850"/>
            <a:ext cx="846986" cy="10452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6FB4A6F7-84E3-AB1C-697B-9502E3EF2E76}"/>
              </a:ext>
            </a:extLst>
          </p:cNvPr>
          <p:cNvCxnSpPr>
            <a:cxnSpLocks/>
          </p:cNvCxnSpPr>
          <p:nvPr/>
        </p:nvCxnSpPr>
        <p:spPr>
          <a:xfrm flipV="1">
            <a:off x="3820358" y="4803439"/>
            <a:ext cx="287386" cy="9927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CD9FBF6C-3A4E-6275-9F58-A02F30488736}"/>
              </a:ext>
            </a:extLst>
          </p:cNvPr>
          <p:cNvSpPr/>
          <p:nvPr/>
        </p:nvSpPr>
        <p:spPr>
          <a:xfrm>
            <a:off x="4181665" y="4111486"/>
            <a:ext cx="249382" cy="53439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29194D6-8E49-837A-295D-9FA56CC456B8}"/>
              </a:ext>
            </a:extLst>
          </p:cNvPr>
          <p:cNvSpPr txBox="1"/>
          <p:nvPr/>
        </p:nvSpPr>
        <p:spPr>
          <a:xfrm>
            <a:off x="3413897" y="4146568"/>
            <a:ext cx="792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Context vector</a:t>
            </a:r>
            <a:endParaRPr kumimoji="1" lang="zh-TW" altLang="en-US" sz="1400" dirty="0"/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18052D9A-82CE-6A33-00CB-3174CDAC2F6A}"/>
              </a:ext>
            </a:extLst>
          </p:cNvPr>
          <p:cNvCxnSpPr>
            <a:cxnSpLocks/>
          </p:cNvCxnSpPr>
          <p:nvPr/>
        </p:nvCxnSpPr>
        <p:spPr>
          <a:xfrm>
            <a:off x="8418715" y="5924904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959DF220-4673-4DEF-FBED-74E6553B93FF}"/>
              </a:ext>
            </a:extLst>
          </p:cNvPr>
          <p:cNvSpPr/>
          <p:nvPr/>
        </p:nvSpPr>
        <p:spPr>
          <a:xfrm>
            <a:off x="7995497" y="5834099"/>
            <a:ext cx="372490" cy="20552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821FA276-9200-18BB-473F-6D8378EE0CC4}"/>
              </a:ext>
            </a:extLst>
          </p:cNvPr>
          <p:cNvSpPr/>
          <p:nvPr/>
        </p:nvSpPr>
        <p:spPr>
          <a:xfrm>
            <a:off x="8844242" y="5834099"/>
            <a:ext cx="372490" cy="20552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AC4CDD1-8616-95F0-8D6F-677F0C5DC7B6}"/>
                  </a:ext>
                </a:extLst>
              </p:cNvPr>
              <p:cNvSpPr txBox="1"/>
              <p:nvPr/>
            </p:nvSpPr>
            <p:spPr>
              <a:xfrm>
                <a:off x="8888946" y="6074116"/>
                <a:ext cx="307392" cy="2860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AC4CDD1-8616-95F0-8D6F-677F0C5DC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946" y="6074116"/>
                <a:ext cx="307392" cy="286040"/>
              </a:xfrm>
              <a:prstGeom prst="rect">
                <a:avLst/>
              </a:prstGeom>
              <a:blipFill>
                <a:blip r:embed="rId2"/>
                <a:stretch>
                  <a:fillRect l="-15385" r="-3846" b="-173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839299A-3A5D-5329-8EB6-C6FEB8C353AC}"/>
                  </a:ext>
                </a:extLst>
              </p:cNvPr>
              <p:cNvSpPr txBox="1"/>
              <p:nvPr/>
            </p:nvSpPr>
            <p:spPr>
              <a:xfrm>
                <a:off x="7995497" y="6072455"/>
                <a:ext cx="488532" cy="2888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839299A-3A5D-5329-8EB6-C6FEB8C35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497" y="6072455"/>
                <a:ext cx="488532" cy="288862"/>
              </a:xfrm>
              <a:prstGeom prst="rect">
                <a:avLst/>
              </a:prstGeom>
              <a:blipFill>
                <a:blip r:embed="rId3"/>
                <a:stretch>
                  <a:fillRect l="-12500" t="-4167" r="-2500"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B7294E9D-70AE-0914-CF15-CC0297182BD1}"/>
              </a:ext>
            </a:extLst>
          </p:cNvPr>
          <p:cNvCxnSpPr>
            <a:cxnSpLocks/>
          </p:cNvCxnSpPr>
          <p:nvPr/>
        </p:nvCxnSpPr>
        <p:spPr>
          <a:xfrm>
            <a:off x="7542080" y="5938428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182166DF-E70B-14E3-DB57-F504E07C47E8}"/>
              </a:ext>
            </a:extLst>
          </p:cNvPr>
          <p:cNvCxnSpPr>
            <a:cxnSpLocks/>
          </p:cNvCxnSpPr>
          <p:nvPr/>
        </p:nvCxnSpPr>
        <p:spPr>
          <a:xfrm>
            <a:off x="9250518" y="5938428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曲線接點 23">
            <a:extLst>
              <a:ext uri="{FF2B5EF4-FFF2-40B4-BE49-F238E27FC236}">
                <a16:creationId xmlns:a16="http://schemas.microsoft.com/office/drawing/2014/main" id="{00E2C3EA-0C88-B646-627B-455B0220A06E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4431047" y="4378681"/>
            <a:ext cx="4164978" cy="1507606"/>
          </a:xfrm>
          <a:prstGeom prst="curvedConnector3">
            <a:avLst>
              <a:gd name="adj1" fmla="val 998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3553E97-B333-560C-E94C-527DB76A05F4}"/>
              </a:ext>
            </a:extLst>
          </p:cNvPr>
          <p:cNvSpPr txBox="1"/>
          <p:nvPr/>
        </p:nvSpPr>
        <p:spPr>
          <a:xfrm>
            <a:off x="7253986" y="5697634"/>
            <a:ext cx="227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…</a:t>
            </a:r>
            <a:endParaRPr kumimoji="1" lang="zh-TW" altLang="en-US" dirty="0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1C76AAFC-8FFA-FCAD-4106-92F96C8903DF}"/>
              </a:ext>
            </a:extLst>
          </p:cNvPr>
          <p:cNvCxnSpPr/>
          <p:nvPr/>
        </p:nvCxnSpPr>
        <p:spPr>
          <a:xfrm>
            <a:off x="6260593" y="3736873"/>
            <a:ext cx="0" cy="265890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5352AF36-4C46-8475-6234-0C95BA60353E}"/>
              </a:ext>
            </a:extLst>
          </p:cNvPr>
          <p:cNvGrpSpPr/>
          <p:nvPr/>
        </p:nvGrpSpPr>
        <p:grpSpPr>
          <a:xfrm>
            <a:off x="2185220" y="5905725"/>
            <a:ext cx="398515" cy="95121"/>
            <a:chOff x="1557538" y="4722048"/>
            <a:chExt cx="398515" cy="95121"/>
          </a:xfrm>
        </p:grpSpPr>
        <p:cxnSp>
          <p:nvCxnSpPr>
            <p:cNvPr id="28" name="直線箭頭接點 27">
              <a:extLst>
                <a:ext uri="{FF2B5EF4-FFF2-40B4-BE49-F238E27FC236}">
                  <a16:creationId xmlns:a16="http://schemas.microsoft.com/office/drawing/2014/main" id="{3270C5E6-3905-7ABE-DD13-9F88B429A40B}"/>
                </a:ext>
              </a:extLst>
            </p:cNvPr>
            <p:cNvCxnSpPr>
              <a:cxnSpLocks/>
            </p:cNvCxnSpPr>
            <p:nvPr/>
          </p:nvCxnSpPr>
          <p:spPr>
            <a:xfrm>
              <a:off x="1557538" y="4722048"/>
              <a:ext cx="3985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箭頭接點 28">
              <a:extLst>
                <a:ext uri="{FF2B5EF4-FFF2-40B4-BE49-F238E27FC236}">
                  <a16:creationId xmlns:a16="http://schemas.microsoft.com/office/drawing/2014/main" id="{82E56E54-2927-8EEB-360B-7D56693F9F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7539" y="4817169"/>
              <a:ext cx="39851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8CBA68F0-BCDF-6B13-2811-79018A791C7B}"/>
              </a:ext>
            </a:extLst>
          </p:cNvPr>
          <p:cNvGrpSpPr/>
          <p:nvPr/>
        </p:nvGrpSpPr>
        <p:grpSpPr>
          <a:xfrm>
            <a:off x="3124874" y="5901550"/>
            <a:ext cx="398515" cy="95121"/>
            <a:chOff x="1557538" y="4722048"/>
            <a:chExt cx="398515" cy="95121"/>
          </a:xfrm>
        </p:grpSpPr>
        <p:cxnSp>
          <p:nvCxnSpPr>
            <p:cNvPr id="31" name="直線箭頭接點 30">
              <a:extLst>
                <a:ext uri="{FF2B5EF4-FFF2-40B4-BE49-F238E27FC236}">
                  <a16:creationId xmlns:a16="http://schemas.microsoft.com/office/drawing/2014/main" id="{5583236E-D0FB-8963-2AF6-59082A00964A}"/>
                </a:ext>
              </a:extLst>
            </p:cNvPr>
            <p:cNvCxnSpPr>
              <a:cxnSpLocks/>
            </p:cNvCxnSpPr>
            <p:nvPr/>
          </p:nvCxnSpPr>
          <p:spPr>
            <a:xfrm>
              <a:off x="1557538" y="4722048"/>
              <a:ext cx="3985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箭頭接點 31">
              <a:extLst>
                <a:ext uri="{FF2B5EF4-FFF2-40B4-BE49-F238E27FC236}">
                  <a16:creationId xmlns:a16="http://schemas.microsoft.com/office/drawing/2014/main" id="{CB6E88CE-E389-A9D3-3C2C-06E9769F49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7539" y="4817169"/>
              <a:ext cx="39851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B7C367C0-1D4B-EA39-1FF4-2AD2C509D473}"/>
              </a:ext>
            </a:extLst>
          </p:cNvPr>
          <p:cNvGrpSpPr/>
          <p:nvPr/>
        </p:nvGrpSpPr>
        <p:grpSpPr>
          <a:xfrm>
            <a:off x="4061589" y="5900203"/>
            <a:ext cx="398515" cy="95121"/>
            <a:chOff x="1557538" y="4722048"/>
            <a:chExt cx="398515" cy="95121"/>
          </a:xfrm>
        </p:grpSpPr>
        <p:cxnSp>
          <p:nvCxnSpPr>
            <p:cNvPr id="34" name="直線箭頭接點 33">
              <a:extLst>
                <a:ext uri="{FF2B5EF4-FFF2-40B4-BE49-F238E27FC236}">
                  <a16:creationId xmlns:a16="http://schemas.microsoft.com/office/drawing/2014/main" id="{0CE961F5-B0BE-25DD-544A-D7E045D6444A}"/>
                </a:ext>
              </a:extLst>
            </p:cNvPr>
            <p:cNvCxnSpPr>
              <a:cxnSpLocks/>
            </p:cNvCxnSpPr>
            <p:nvPr/>
          </p:nvCxnSpPr>
          <p:spPr>
            <a:xfrm>
              <a:off x="1557538" y="4722048"/>
              <a:ext cx="3985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箭頭接點 34">
              <a:extLst>
                <a:ext uri="{FF2B5EF4-FFF2-40B4-BE49-F238E27FC236}">
                  <a16:creationId xmlns:a16="http://schemas.microsoft.com/office/drawing/2014/main" id="{8BD900CE-2244-005E-1A07-D001D35363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7539" y="4817169"/>
              <a:ext cx="39851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11FF93D5-8D9D-213E-BC84-B3A515A865C5}"/>
              </a:ext>
            </a:extLst>
          </p:cNvPr>
          <p:cNvGrpSpPr/>
          <p:nvPr/>
        </p:nvGrpSpPr>
        <p:grpSpPr>
          <a:xfrm>
            <a:off x="5067943" y="5899559"/>
            <a:ext cx="398515" cy="95121"/>
            <a:chOff x="1557538" y="4722048"/>
            <a:chExt cx="398515" cy="95121"/>
          </a:xfrm>
        </p:grpSpPr>
        <p:cxnSp>
          <p:nvCxnSpPr>
            <p:cNvPr id="37" name="直線箭頭接點 36">
              <a:extLst>
                <a:ext uri="{FF2B5EF4-FFF2-40B4-BE49-F238E27FC236}">
                  <a16:creationId xmlns:a16="http://schemas.microsoft.com/office/drawing/2014/main" id="{9DD3F403-70D3-3725-AEDD-362D5F759658}"/>
                </a:ext>
              </a:extLst>
            </p:cNvPr>
            <p:cNvCxnSpPr>
              <a:cxnSpLocks/>
            </p:cNvCxnSpPr>
            <p:nvPr/>
          </p:nvCxnSpPr>
          <p:spPr>
            <a:xfrm>
              <a:off x="1557538" y="4722048"/>
              <a:ext cx="3985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箭頭接點 37">
              <a:extLst>
                <a:ext uri="{FF2B5EF4-FFF2-40B4-BE49-F238E27FC236}">
                  <a16:creationId xmlns:a16="http://schemas.microsoft.com/office/drawing/2014/main" id="{06E7132B-BB9C-8D16-984D-0680EBA559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7539" y="4817169"/>
              <a:ext cx="39851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A00D7E94-4A4F-F413-06B9-89725C286DC6}"/>
              </a:ext>
            </a:extLst>
          </p:cNvPr>
          <p:cNvSpPr txBox="1"/>
          <p:nvPr/>
        </p:nvSpPr>
        <p:spPr>
          <a:xfrm>
            <a:off x="2660898" y="6373948"/>
            <a:ext cx="2453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Encoder time steps</a:t>
            </a:r>
            <a:endParaRPr kumimoji="1"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21E6543-D941-AE6A-6B34-8E8955F6589F}"/>
              </a:ext>
            </a:extLst>
          </p:cNvPr>
          <p:cNvSpPr txBox="1"/>
          <p:nvPr/>
        </p:nvSpPr>
        <p:spPr>
          <a:xfrm>
            <a:off x="7415749" y="6373948"/>
            <a:ext cx="2453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Decoder time steps</a:t>
            </a:r>
            <a:endParaRPr kumimoji="1"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19EB9FC7-39F4-527E-C9B8-5E105C0299DC}"/>
              </a:ext>
            </a:extLst>
          </p:cNvPr>
          <p:cNvSpPr txBox="1"/>
          <p:nvPr/>
        </p:nvSpPr>
        <p:spPr>
          <a:xfrm>
            <a:off x="8091249" y="3386778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 err="1"/>
              <a:t>i</a:t>
            </a:r>
            <a:endParaRPr kumimoji="1" lang="zh-TW" altLang="en-US" sz="14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D1C6BF24-1E87-2E9E-D72F-55AC175E9BA7}"/>
              </a:ext>
            </a:extLst>
          </p:cNvPr>
          <p:cNvSpPr txBox="1"/>
          <p:nvPr/>
        </p:nvSpPr>
        <p:spPr>
          <a:xfrm>
            <a:off x="8818029" y="3386777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love</a:t>
            </a:r>
            <a:endParaRPr kumimoji="1" lang="zh-TW" altLang="en-US" sz="14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9D63A4D0-2D9A-949B-56CC-1BDB7F7E2F1E}"/>
              </a:ext>
            </a:extLst>
          </p:cNvPr>
          <p:cNvSpPr txBox="1"/>
          <p:nvPr/>
        </p:nvSpPr>
        <p:spPr>
          <a:xfrm>
            <a:off x="9489307" y="3386778"/>
            <a:ext cx="73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deep</a:t>
            </a:r>
            <a:endParaRPr kumimoji="1" lang="zh-TW" altLang="en-US" sz="14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2B12A0A8-56E4-AE60-D383-30233137D583}"/>
              </a:ext>
            </a:extLst>
          </p:cNvPr>
          <p:cNvSpPr txBox="1"/>
          <p:nvPr/>
        </p:nvSpPr>
        <p:spPr>
          <a:xfrm>
            <a:off x="10139072" y="3386778"/>
            <a:ext cx="881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learning</a:t>
            </a:r>
            <a:endParaRPr kumimoji="1" lang="zh-TW" altLang="en-US" sz="1400" dirty="0"/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F1EA2E62-62EF-871C-C0D0-A6330156E9A7}"/>
              </a:ext>
            </a:extLst>
          </p:cNvPr>
          <p:cNvSpPr/>
          <p:nvPr/>
        </p:nvSpPr>
        <p:spPr>
          <a:xfrm>
            <a:off x="8238042" y="2706320"/>
            <a:ext cx="324276" cy="3242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6" name="圓角矩形 45">
            <a:extLst>
              <a:ext uri="{FF2B5EF4-FFF2-40B4-BE49-F238E27FC236}">
                <a16:creationId xmlns:a16="http://schemas.microsoft.com/office/drawing/2014/main" id="{6022375C-FD06-DF47-18B2-5485FADE5987}"/>
              </a:ext>
            </a:extLst>
          </p:cNvPr>
          <p:cNvSpPr/>
          <p:nvPr/>
        </p:nvSpPr>
        <p:spPr>
          <a:xfrm>
            <a:off x="8961740" y="2709320"/>
            <a:ext cx="324276" cy="3242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A1491165-3E17-8AB6-5FDA-A9FE701D4AD1}"/>
              </a:ext>
            </a:extLst>
          </p:cNvPr>
          <p:cNvSpPr/>
          <p:nvPr/>
        </p:nvSpPr>
        <p:spPr>
          <a:xfrm>
            <a:off x="9685438" y="2709916"/>
            <a:ext cx="324276" cy="3242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8" name="圓角矩形 47">
            <a:extLst>
              <a:ext uri="{FF2B5EF4-FFF2-40B4-BE49-F238E27FC236}">
                <a16:creationId xmlns:a16="http://schemas.microsoft.com/office/drawing/2014/main" id="{B25F291C-7245-D639-5CAE-F8085633EEE0}"/>
              </a:ext>
            </a:extLst>
          </p:cNvPr>
          <p:cNvSpPr/>
          <p:nvPr/>
        </p:nvSpPr>
        <p:spPr>
          <a:xfrm>
            <a:off x="10409136" y="2706320"/>
            <a:ext cx="324276" cy="3242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9" name="Google Shape;193;p17">
            <a:extLst>
              <a:ext uri="{FF2B5EF4-FFF2-40B4-BE49-F238E27FC236}">
                <a16:creationId xmlns:a16="http://schemas.microsoft.com/office/drawing/2014/main" id="{84AC4C84-4546-7289-55B0-FD1CCB3E8189}"/>
              </a:ext>
            </a:extLst>
          </p:cNvPr>
          <p:cNvCxnSpPr>
            <a:cxnSpLocks/>
          </p:cNvCxnSpPr>
          <p:nvPr/>
        </p:nvCxnSpPr>
        <p:spPr>
          <a:xfrm rot="10800000">
            <a:off x="9128175" y="313839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" name="Google Shape;194;p17">
            <a:extLst>
              <a:ext uri="{FF2B5EF4-FFF2-40B4-BE49-F238E27FC236}">
                <a16:creationId xmlns:a16="http://schemas.microsoft.com/office/drawing/2014/main" id="{FAF0CB16-85B9-9BA6-E0B6-287B9EB09C42}"/>
              </a:ext>
            </a:extLst>
          </p:cNvPr>
          <p:cNvCxnSpPr>
            <a:cxnSpLocks/>
          </p:cNvCxnSpPr>
          <p:nvPr/>
        </p:nvCxnSpPr>
        <p:spPr>
          <a:xfrm rot="10800000">
            <a:off x="9849725" y="313839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" name="Google Shape;195;p17">
            <a:extLst>
              <a:ext uri="{FF2B5EF4-FFF2-40B4-BE49-F238E27FC236}">
                <a16:creationId xmlns:a16="http://schemas.microsoft.com/office/drawing/2014/main" id="{89AD0ADF-A9EF-8411-A6CB-EF76D308B0FC}"/>
              </a:ext>
            </a:extLst>
          </p:cNvPr>
          <p:cNvCxnSpPr>
            <a:cxnSpLocks/>
          </p:cNvCxnSpPr>
          <p:nvPr/>
        </p:nvCxnSpPr>
        <p:spPr>
          <a:xfrm rot="10800000">
            <a:off x="10571275" y="313839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" name="Google Shape;195;p17">
            <a:extLst>
              <a:ext uri="{FF2B5EF4-FFF2-40B4-BE49-F238E27FC236}">
                <a16:creationId xmlns:a16="http://schemas.microsoft.com/office/drawing/2014/main" id="{F49DBC0C-DDFE-4C40-D282-CFF12CDE5E24}"/>
              </a:ext>
            </a:extLst>
          </p:cNvPr>
          <p:cNvCxnSpPr>
            <a:cxnSpLocks/>
          </p:cNvCxnSpPr>
          <p:nvPr/>
        </p:nvCxnSpPr>
        <p:spPr>
          <a:xfrm rot="10800000">
            <a:off x="8406625" y="313839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193;p17">
            <a:extLst>
              <a:ext uri="{FF2B5EF4-FFF2-40B4-BE49-F238E27FC236}">
                <a16:creationId xmlns:a16="http://schemas.microsoft.com/office/drawing/2014/main" id="{401CD49E-5237-921E-1A82-C34DC79F6894}"/>
              </a:ext>
            </a:extLst>
          </p:cNvPr>
          <p:cNvCxnSpPr>
            <a:cxnSpLocks/>
          </p:cNvCxnSpPr>
          <p:nvPr/>
        </p:nvCxnSpPr>
        <p:spPr>
          <a:xfrm rot="16200000">
            <a:off x="8769668" y="278631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" name="Google Shape;193;p17">
            <a:extLst>
              <a:ext uri="{FF2B5EF4-FFF2-40B4-BE49-F238E27FC236}">
                <a16:creationId xmlns:a16="http://schemas.microsoft.com/office/drawing/2014/main" id="{C55F814C-4359-F270-7985-C1A1F08C4079}"/>
              </a:ext>
            </a:extLst>
          </p:cNvPr>
          <p:cNvCxnSpPr>
            <a:cxnSpLocks/>
          </p:cNvCxnSpPr>
          <p:nvPr/>
        </p:nvCxnSpPr>
        <p:spPr>
          <a:xfrm rot="16200000">
            <a:off x="9485727" y="278631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" name="Google Shape;193;p17">
            <a:extLst>
              <a:ext uri="{FF2B5EF4-FFF2-40B4-BE49-F238E27FC236}">
                <a16:creationId xmlns:a16="http://schemas.microsoft.com/office/drawing/2014/main" id="{BD367D88-65CA-EDAD-3694-85AE22547031}"/>
              </a:ext>
            </a:extLst>
          </p:cNvPr>
          <p:cNvCxnSpPr>
            <a:cxnSpLocks/>
          </p:cNvCxnSpPr>
          <p:nvPr/>
        </p:nvCxnSpPr>
        <p:spPr>
          <a:xfrm rot="16200000">
            <a:off x="10206540" y="278631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" name="曲線接點 55">
            <a:extLst>
              <a:ext uri="{FF2B5EF4-FFF2-40B4-BE49-F238E27FC236}">
                <a16:creationId xmlns:a16="http://schemas.microsoft.com/office/drawing/2014/main" id="{3FECCC39-9BA6-0AAF-3B5F-14773F696A30}"/>
              </a:ext>
            </a:extLst>
          </p:cNvPr>
          <p:cNvCxnSpPr>
            <a:stCxn id="45" idx="0"/>
            <a:endCxn id="46" idx="0"/>
          </p:cNvCxnSpPr>
          <p:nvPr/>
        </p:nvCxnSpPr>
        <p:spPr>
          <a:xfrm rot="16200000" flipH="1">
            <a:off x="8760529" y="2345971"/>
            <a:ext cx="3000" cy="723698"/>
          </a:xfrm>
          <a:prstGeom prst="curvedConnector3">
            <a:avLst>
              <a:gd name="adj1" fmla="val -762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曲線接點 56">
            <a:extLst>
              <a:ext uri="{FF2B5EF4-FFF2-40B4-BE49-F238E27FC236}">
                <a16:creationId xmlns:a16="http://schemas.microsoft.com/office/drawing/2014/main" id="{2E98C6F7-80A7-0599-652C-8103CED4D9B2}"/>
              </a:ext>
            </a:extLst>
          </p:cNvPr>
          <p:cNvCxnSpPr>
            <a:cxnSpLocks/>
            <a:stCxn id="46" idx="0"/>
            <a:endCxn id="47" idx="0"/>
          </p:cNvCxnSpPr>
          <p:nvPr/>
        </p:nvCxnSpPr>
        <p:spPr>
          <a:xfrm rot="16200000" flipH="1">
            <a:off x="9485429" y="2347769"/>
            <a:ext cx="596" cy="723698"/>
          </a:xfrm>
          <a:prstGeom prst="curvedConnector3">
            <a:avLst>
              <a:gd name="adj1" fmla="val -38355705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曲線接點 57">
            <a:extLst>
              <a:ext uri="{FF2B5EF4-FFF2-40B4-BE49-F238E27FC236}">
                <a16:creationId xmlns:a16="http://schemas.microsoft.com/office/drawing/2014/main" id="{21043AA4-2778-0282-81DC-D65F6AC6E9BA}"/>
              </a:ext>
            </a:extLst>
          </p:cNvPr>
          <p:cNvCxnSpPr>
            <a:cxnSpLocks/>
            <a:stCxn id="47" idx="0"/>
            <a:endCxn id="48" idx="0"/>
          </p:cNvCxnSpPr>
          <p:nvPr/>
        </p:nvCxnSpPr>
        <p:spPr>
          <a:xfrm rot="5400000" flipH="1" flipV="1">
            <a:off x="10207627" y="2346269"/>
            <a:ext cx="3596" cy="723698"/>
          </a:xfrm>
          <a:prstGeom prst="curvedConnector3">
            <a:avLst>
              <a:gd name="adj1" fmla="val 6457063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曲線接點 58">
            <a:extLst>
              <a:ext uri="{FF2B5EF4-FFF2-40B4-BE49-F238E27FC236}">
                <a16:creationId xmlns:a16="http://schemas.microsoft.com/office/drawing/2014/main" id="{2C18CE4C-0392-3598-ED35-C5C9ED9617EB}"/>
              </a:ext>
            </a:extLst>
          </p:cNvPr>
          <p:cNvCxnSpPr>
            <a:cxnSpLocks/>
            <a:stCxn id="45" idx="0"/>
            <a:endCxn id="47" idx="0"/>
          </p:cNvCxnSpPr>
          <p:nvPr/>
        </p:nvCxnSpPr>
        <p:spPr>
          <a:xfrm rot="16200000" flipH="1">
            <a:off x="9122080" y="1984420"/>
            <a:ext cx="3596" cy="1447396"/>
          </a:xfrm>
          <a:prstGeom prst="curvedConnector3">
            <a:avLst>
              <a:gd name="adj1" fmla="val -6357063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曲線接點 59">
            <a:extLst>
              <a:ext uri="{FF2B5EF4-FFF2-40B4-BE49-F238E27FC236}">
                <a16:creationId xmlns:a16="http://schemas.microsoft.com/office/drawing/2014/main" id="{6DB09659-86F6-5970-D7D5-3CBEA609687C}"/>
              </a:ext>
            </a:extLst>
          </p:cNvPr>
          <p:cNvCxnSpPr>
            <a:cxnSpLocks/>
            <a:stCxn id="45" idx="0"/>
            <a:endCxn id="48" idx="0"/>
          </p:cNvCxnSpPr>
          <p:nvPr/>
        </p:nvCxnSpPr>
        <p:spPr>
          <a:xfrm rot="5400000" flipH="1" flipV="1">
            <a:off x="9485727" y="1620773"/>
            <a:ext cx="12700" cy="2171094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曲線接點 60">
            <a:extLst>
              <a:ext uri="{FF2B5EF4-FFF2-40B4-BE49-F238E27FC236}">
                <a16:creationId xmlns:a16="http://schemas.microsoft.com/office/drawing/2014/main" id="{9B738E07-EF0F-302D-47FF-FB744EB00FE2}"/>
              </a:ext>
            </a:extLst>
          </p:cNvPr>
          <p:cNvCxnSpPr>
            <a:cxnSpLocks/>
            <a:stCxn id="46" idx="0"/>
            <a:endCxn id="48" idx="0"/>
          </p:cNvCxnSpPr>
          <p:nvPr/>
        </p:nvCxnSpPr>
        <p:spPr>
          <a:xfrm rot="5400000" flipH="1" flipV="1">
            <a:off x="9846076" y="1984122"/>
            <a:ext cx="3000" cy="1447396"/>
          </a:xfrm>
          <a:prstGeom prst="curvedConnector3">
            <a:avLst>
              <a:gd name="adj1" fmla="val 772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584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5B9393-1699-985A-E66F-F2B388438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A6DC57-0B7A-1B21-F9F0-721D122B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FAFA69A-F103-08DD-98C8-542BFACBF3C4}"/>
              </a:ext>
            </a:extLst>
          </p:cNvPr>
          <p:cNvSpPr txBox="1"/>
          <p:nvPr/>
        </p:nvSpPr>
        <p:spPr>
          <a:xfrm>
            <a:off x="653143" y="1586847"/>
            <a:ext cx="10918370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Announcement, GAI money [10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Sub-word tokenization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Byte-pair Encoding (BPE) [30 min]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BPE Code [50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Attention (Not self-attention) [30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Quiz [20 min]</a:t>
            </a:r>
          </a:p>
        </p:txBody>
      </p:sp>
    </p:spTree>
    <p:extLst>
      <p:ext uri="{BB962C8B-B14F-4D97-AF65-F5344CB8AC3E}">
        <p14:creationId xmlns:p14="http://schemas.microsoft.com/office/powerpoint/2010/main" val="264700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748D6B33-81BB-3434-DF16-FBA7921D3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Sub-word Tokenization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18B721E6-84E1-23EC-7EFA-7E9DBEA5A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EBB1DA-54A1-9DDE-D4C0-9CE40FB01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600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CFD3-9F9E-D486-2DC7-84073400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0D99D-1E40-8E98-9837-A229A457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a typeface="新細明體"/>
                <a:cs typeface="Calibri Light"/>
              </a:rPr>
              <a:t>Recap: Word Representations</a:t>
            </a:r>
            <a:endParaRPr lang="zh-TW" altLang="en-US" dirty="0">
              <a:ea typeface="新細明體"/>
              <a:cs typeface="Calibri Light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4121A3-4B88-E98F-8D6C-0396D775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5</a:t>
            </a:fld>
            <a:endParaRPr lang="zh-TW" altLang="en-US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C8F4C0A3-FA3F-2E2B-F8BE-653E57712662}"/>
              </a:ext>
            </a:extLst>
          </p:cNvPr>
          <p:cNvSpPr/>
          <p:nvPr/>
        </p:nvSpPr>
        <p:spPr>
          <a:xfrm>
            <a:off x="2058296" y="3396969"/>
            <a:ext cx="705971" cy="571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love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74BF1484-9D99-02A5-AAAF-EE9BBEFB506F}"/>
              </a:ext>
            </a:extLst>
          </p:cNvPr>
          <p:cNvSpPr/>
          <p:nvPr/>
        </p:nvSpPr>
        <p:spPr>
          <a:xfrm>
            <a:off x="1174376" y="3396969"/>
            <a:ext cx="705971" cy="571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I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22B29D0B-5991-2E5E-3F83-667A16EA833A}"/>
              </a:ext>
            </a:extLst>
          </p:cNvPr>
          <p:cNvSpPr/>
          <p:nvPr/>
        </p:nvSpPr>
        <p:spPr>
          <a:xfrm>
            <a:off x="2942216" y="3396969"/>
            <a:ext cx="705971" cy="571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an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CCB73278-99F8-2C9A-99C2-D510FFE5DA2E}"/>
              </a:ext>
            </a:extLst>
          </p:cNvPr>
          <p:cNvSpPr/>
          <p:nvPr/>
        </p:nvSpPr>
        <p:spPr>
          <a:xfrm>
            <a:off x="3826136" y="3396969"/>
            <a:ext cx="705971" cy="571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_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8" name="橢圓圖說文字 17">
            <a:extLst>
              <a:ext uri="{FF2B5EF4-FFF2-40B4-BE49-F238E27FC236}">
                <a16:creationId xmlns:a16="http://schemas.microsoft.com/office/drawing/2014/main" id="{53A751E3-DCB9-5618-C3F8-AADE8D8DB4EC}"/>
              </a:ext>
            </a:extLst>
          </p:cNvPr>
          <p:cNvSpPr/>
          <p:nvPr/>
        </p:nvSpPr>
        <p:spPr>
          <a:xfrm>
            <a:off x="5256007" y="2058992"/>
            <a:ext cx="5836920" cy="3327734"/>
          </a:xfrm>
          <a:prstGeom prst="wedgeEllipseCallout">
            <a:avLst>
              <a:gd name="adj1" fmla="val -57219"/>
              <a:gd name="adj2" fmla="val 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B9527BC-4A66-3AF5-F327-DCD79ABEBEF6}"/>
              </a:ext>
            </a:extLst>
          </p:cNvPr>
          <p:cNvSpPr/>
          <p:nvPr/>
        </p:nvSpPr>
        <p:spPr>
          <a:xfrm>
            <a:off x="7661983" y="3049201"/>
            <a:ext cx="1325880" cy="1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5434917-7EA5-46BD-83D5-A00186505B3B}"/>
              </a:ext>
            </a:extLst>
          </p:cNvPr>
          <p:cNvSpPr txBox="1"/>
          <p:nvPr/>
        </p:nvSpPr>
        <p:spPr>
          <a:xfrm>
            <a:off x="6436651" y="2955103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apple</a:t>
            </a:r>
            <a:endParaRPr kumimoji="1"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BDE8D013-4E7F-A09F-3337-C066DCBEBD55}"/>
              </a:ext>
            </a:extLst>
          </p:cNvPr>
          <p:cNvSpPr txBox="1"/>
          <p:nvPr/>
        </p:nvSpPr>
        <p:spPr>
          <a:xfrm>
            <a:off x="6436651" y="3371013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elephant</a:t>
            </a:r>
            <a:endParaRPr kumimoji="1"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30F7BD3-16F8-9831-CD2C-C40000072F84}"/>
              </a:ext>
            </a:extLst>
          </p:cNvPr>
          <p:cNvSpPr txBox="1"/>
          <p:nvPr/>
        </p:nvSpPr>
        <p:spPr>
          <a:xfrm>
            <a:off x="6436651" y="3783803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eraser</a:t>
            </a:r>
            <a:endParaRPr kumimoji="1" lang="zh-TW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418B462-E5B0-F5D3-73F2-4E8ACA26D052}"/>
              </a:ext>
            </a:extLst>
          </p:cNvPr>
          <p:cNvSpPr/>
          <p:nvPr/>
        </p:nvSpPr>
        <p:spPr>
          <a:xfrm>
            <a:off x="7661983" y="3479737"/>
            <a:ext cx="643890" cy="1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D2FB286-18FE-A964-9D66-90D51F714500}"/>
              </a:ext>
            </a:extLst>
          </p:cNvPr>
          <p:cNvSpPr/>
          <p:nvPr/>
        </p:nvSpPr>
        <p:spPr>
          <a:xfrm>
            <a:off x="7661983" y="3894775"/>
            <a:ext cx="194310" cy="18288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B4DC5FB-D4AB-1218-7DD4-C6507A4F7FDB}"/>
              </a:ext>
            </a:extLst>
          </p:cNvPr>
          <p:cNvSpPr txBox="1"/>
          <p:nvPr/>
        </p:nvSpPr>
        <p:spPr>
          <a:xfrm rot="5400000">
            <a:off x="6615144" y="4268346"/>
            <a:ext cx="4835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/>
              <a:t>…</a:t>
            </a:r>
            <a:endParaRPr kumimoji="1" lang="zh-TW" altLang="en-US" sz="2000" b="1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37652EC-C4D0-FC0F-2258-150383B0D1C7}"/>
              </a:ext>
            </a:extLst>
          </p:cNvPr>
          <p:cNvSpPr/>
          <p:nvPr/>
        </p:nvSpPr>
        <p:spPr>
          <a:xfrm>
            <a:off x="6265201" y="2827073"/>
            <a:ext cx="1257300" cy="18830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43B2971C-832A-A13C-7365-51AEFB8B4ED4}"/>
              </a:ext>
            </a:extLst>
          </p:cNvPr>
          <p:cNvSpPr txBox="1"/>
          <p:nvPr/>
        </p:nvSpPr>
        <p:spPr>
          <a:xfrm>
            <a:off x="5917720" y="5541856"/>
            <a:ext cx="1878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b="1" dirty="0">
                <a:solidFill>
                  <a:srgbClr val="FF0000"/>
                </a:solidFill>
              </a:rPr>
              <a:t>Vocabulary</a:t>
            </a:r>
            <a:endParaRPr kumimoji="1" lang="zh-TW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B791F758-F246-F3C3-2267-447BC3BF3FE3}"/>
              </a:ext>
            </a:extLst>
          </p:cNvPr>
          <p:cNvCxnSpPr>
            <a:cxnSpLocks/>
          </p:cNvCxnSpPr>
          <p:nvPr/>
        </p:nvCxnSpPr>
        <p:spPr>
          <a:xfrm flipV="1">
            <a:off x="6893851" y="4817610"/>
            <a:ext cx="0" cy="7242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77983EFC-1B2B-AF56-974E-42537526922F}"/>
              </a:ext>
            </a:extLst>
          </p:cNvPr>
          <p:cNvSpPr txBox="1"/>
          <p:nvPr/>
        </p:nvSpPr>
        <p:spPr>
          <a:xfrm>
            <a:off x="7385742" y="2342119"/>
            <a:ext cx="1878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b="1" dirty="0">
                <a:solidFill>
                  <a:srgbClr val="0070C0"/>
                </a:solidFill>
              </a:rPr>
              <a:t>Probability</a:t>
            </a:r>
            <a:endParaRPr kumimoji="1" lang="zh-TW" altLang="en-US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206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CFD3-9F9E-D486-2DC7-84073400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0D99D-1E40-8E98-9837-A229A457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a typeface="新細明體"/>
                <a:cs typeface="Calibri Light"/>
              </a:rPr>
              <a:t>Recap: Text Generation with RNN</a:t>
            </a:r>
            <a:endParaRPr lang="zh-TW" altLang="en-US" dirty="0">
              <a:ea typeface="新細明體"/>
              <a:cs typeface="Calibri Light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4121A3-4B88-E98F-8D6C-0396D775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6</a:t>
            </a:fld>
            <a:endParaRPr lang="zh-TW" altLang="en-US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C8F4C0A3-FA3F-2E2B-F8BE-653E57712662}"/>
              </a:ext>
            </a:extLst>
          </p:cNvPr>
          <p:cNvSpPr/>
          <p:nvPr/>
        </p:nvSpPr>
        <p:spPr>
          <a:xfrm>
            <a:off x="2450284" y="5222793"/>
            <a:ext cx="673768" cy="5715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love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74BF1484-9D99-02A5-AAAF-EE9BBEFB506F}"/>
              </a:ext>
            </a:extLst>
          </p:cNvPr>
          <p:cNvSpPr/>
          <p:nvPr/>
        </p:nvSpPr>
        <p:spPr>
          <a:xfrm>
            <a:off x="1079810" y="5222792"/>
            <a:ext cx="673768" cy="5715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22B29D0B-5991-2E5E-3F83-667A16EA833A}"/>
              </a:ext>
            </a:extLst>
          </p:cNvPr>
          <p:cNvSpPr/>
          <p:nvPr/>
        </p:nvSpPr>
        <p:spPr>
          <a:xfrm>
            <a:off x="3802954" y="5222792"/>
            <a:ext cx="673768" cy="5715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" name="直線箭頭接點 2">
            <a:extLst>
              <a:ext uri="{FF2B5EF4-FFF2-40B4-BE49-F238E27FC236}">
                <a16:creationId xmlns:a16="http://schemas.microsoft.com/office/drawing/2014/main" id="{B6F1BF5D-E0DF-596A-0806-DB62092410DE}"/>
              </a:ext>
            </a:extLst>
          </p:cNvPr>
          <p:cNvCxnSpPr>
            <a:cxnSpLocks/>
          </p:cNvCxnSpPr>
          <p:nvPr/>
        </p:nvCxnSpPr>
        <p:spPr>
          <a:xfrm flipV="1">
            <a:off x="1416694" y="4635584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A74271B2-06A7-502A-FC23-4C6E28205970}"/>
              </a:ext>
            </a:extLst>
          </p:cNvPr>
          <p:cNvSpPr/>
          <p:nvPr/>
        </p:nvSpPr>
        <p:spPr>
          <a:xfrm>
            <a:off x="995391" y="3813918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B9775F-52E9-275E-3013-33A5AE9299C9}"/>
              </a:ext>
            </a:extLst>
          </p:cNvPr>
          <p:cNvSpPr/>
          <p:nvPr/>
        </p:nvSpPr>
        <p:spPr>
          <a:xfrm>
            <a:off x="2365865" y="3813918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A8E273-92C8-B725-9D20-B5D11A1BACFB}"/>
              </a:ext>
            </a:extLst>
          </p:cNvPr>
          <p:cNvSpPr/>
          <p:nvPr/>
        </p:nvSpPr>
        <p:spPr>
          <a:xfrm>
            <a:off x="3718535" y="3813917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71962B3F-9FA6-0220-1AF1-6586D948FF0E}"/>
              </a:ext>
            </a:extLst>
          </p:cNvPr>
          <p:cNvCxnSpPr>
            <a:cxnSpLocks/>
          </p:cNvCxnSpPr>
          <p:nvPr/>
        </p:nvCxnSpPr>
        <p:spPr>
          <a:xfrm flipV="1">
            <a:off x="2787168" y="4635585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CB4E6377-CCC8-2632-4A20-88A949727A04}"/>
              </a:ext>
            </a:extLst>
          </p:cNvPr>
          <p:cNvCxnSpPr>
            <a:cxnSpLocks/>
          </p:cNvCxnSpPr>
          <p:nvPr/>
        </p:nvCxnSpPr>
        <p:spPr>
          <a:xfrm flipV="1">
            <a:off x="4141007" y="4635584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F1FF3DF9-C6C8-FDCE-E3CE-61925F28344B}"/>
              </a:ext>
            </a:extLst>
          </p:cNvPr>
          <p:cNvCxnSpPr>
            <a:cxnSpLocks/>
          </p:cNvCxnSpPr>
          <p:nvPr/>
        </p:nvCxnSpPr>
        <p:spPr>
          <a:xfrm>
            <a:off x="1880704" y="4197320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1D44DBB5-ED82-02A3-9302-A42011057600}"/>
              </a:ext>
            </a:extLst>
          </p:cNvPr>
          <p:cNvCxnSpPr>
            <a:cxnSpLocks/>
          </p:cNvCxnSpPr>
          <p:nvPr/>
        </p:nvCxnSpPr>
        <p:spPr>
          <a:xfrm>
            <a:off x="3255492" y="4197320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257328A5-5F55-A752-538F-ABF645111174}"/>
              </a:ext>
            </a:extLst>
          </p:cNvPr>
          <p:cNvCxnSpPr>
            <a:cxnSpLocks/>
          </p:cNvCxnSpPr>
          <p:nvPr/>
        </p:nvCxnSpPr>
        <p:spPr>
          <a:xfrm flipV="1">
            <a:off x="4132163" y="3226711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C09E09E-1B5A-6B4B-0B4C-ABDBCCADEF4B}"/>
                  </a:ext>
                </a:extLst>
              </p:cNvPr>
              <p:cNvSpPr/>
              <p:nvPr/>
            </p:nvSpPr>
            <p:spPr>
              <a:xfrm>
                <a:off x="5340637" y="2479771"/>
                <a:ext cx="1968284" cy="6884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</a:rPr>
                  <a:t>Classification Layer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C09E09E-1B5A-6B4B-0B4C-ABDBCCADEF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637" y="2479771"/>
                <a:ext cx="1968284" cy="688455"/>
              </a:xfrm>
              <a:prstGeom prst="rect">
                <a:avLst/>
              </a:prstGeom>
              <a:blipFill>
                <a:blip r:embed="rId3"/>
                <a:stretch>
                  <a:fillRect b="-70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F504C4C2-7B73-596C-F469-CE40F29F2DF4}"/>
              </a:ext>
            </a:extLst>
          </p:cNvPr>
          <p:cNvCxnSpPr>
            <a:cxnSpLocks/>
          </p:cNvCxnSpPr>
          <p:nvPr/>
        </p:nvCxnSpPr>
        <p:spPr>
          <a:xfrm>
            <a:off x="4592137" y="2823999"/>
            <a:ext cx="6376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/>
              <p:nvPr/>
            </p:nvSpPr>
            <p:spPr>
              <a:xfrm>
                <a:off x="3795279" y="2538249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79" y="2538249"/>
                <a:ext cx="673768" cy="5715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字方塊 38">
            <a:extLst>
              <a:ext uri="{FF2B5EF4-FFF2-40B4-BE49-F238E27FC236}">
                <a16:creationId xmlns:a16="http://schemas.microsoft.com/office/drawing/2014/main" id="{D522AE8D-1F2D-4249-2548-0DF2ADBD9008}"/>
              </a:ext>
            </a:extLst>
          </p:cNvPr>
          <p:cNvSpPr txBox="1"/>
          <p:nvPr/>
        </p:nvSpPr>
        <p:spPr>
          <a:xfrm>
            <a:off x="3379025" y="2075615"/>
            <a:ext cx="152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(1, </a:t>
            </a:r>
            <a:r>
              <a:rPr kumimoji="1" lang="en-US" altLang="zh-TW" sz="1400" dirty="0" err="1"/>
              <a:t>hidden_size</a:t>
            </a:r>
            <a:r>
              <a:rPr kumimoji="1" lang="en-US" altLang="zh-TW" sz="1400" dirty="0"/>
              <a:t>)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/>
              <p:nvPr/>
            </p:nvSpPr>
            <p:spPr>
              <a:xfrm>
                <a:off x="6013348" y="4046686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348" y="4046686"/>
                <a:ext cx="673768" cy="5715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82598EF1-AAEA-BC2D-6367-51A87950FCBF}"/>
              </a:ext>
            </a:extLst>
          </p:cNvPr>
          <p:cNvSpPr txBox="1"/>
          <p:nvPr/>
        </p:nvSpPr>
        <p:spPr>
          <a:xfrm>
            <a:off x="4984607" y="3639517"/>
            <a:ext cx="2727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(1, </a:t>
            </a:r>
            <a:r>
              <a:rPr kumimoji="1" lang="en-US" altLang="zh-TW" sz="1600" dirty="0" err="1">
                <a:solidFill>
                  <a:srgbClr val="FF0000"/>
                </a:solidFill>
              </a:rPr>
              <a:t>Vocab_size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AD626588-EC2D-EEE2-4116-B55D7C483E57}"/>
              </a:ext>
            </a:extLst>
          </p:cNvPr>
          <p:cNvCxnSpPr>
            <a:cxnSpLocks/>
          </p:cNvCxnSpPr>
          <p:nvPr/>
        </p:nvCxnSpPr>
        <p:spPr>
          <a:xfrm>
            <a:off x="6348132" y="3247790"/>
            <a:ext cx="0" cy="3781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F2099F3C-F78E-6A2B-2947-F9C8737CFA85}"/>
              </a:ext>
            </a:extLst>
          </p:cNvPr>
          <p:cNvSpPr txBox="1"/>
          <p:nvPr/>
        </p:nvSpPr>
        <p:spPr>
          <a:xfrm>
            <a:off x="8430482" y="232398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a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apple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b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banana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elephant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eraser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zoo</a:t>
            </a:r>
            <a:endParaRPr kumimoji="1"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EB660368-A093-E449-96B6-37BABFD81213}"/>
              </a:ext>
            </a:extLst>
          </p:cNvPr>
          <p:cNvSpPr txBox="1"/>
          <p:nvPr/>
        </p:nvSpPr>
        <p:spPr>
          <a:xfrm>
            <a:off x="9528585" y="232398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0.600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0.0003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0.300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0.05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  <a:endParaRPr kumimoji="1" lang="zh-TW" altLang="en-US" dirty="0"/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66956FDE-BE9A-324F-F66F-A8C197B137C2}"/>
              </a:ext>
            </a:extLst>
          </p:cNvPr>
          <p:cNvCxnSpPr/>
          <p:nvPr/>
        </p:nvCxnSpPr>
        <p:spPr>
          <a:xfrm flipV="1">
            <a:off x="7572381" y="2479771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E9E6F8AF-77C6-BAD2-7887-E81A757F7645}"/>
              </a:ext>
            </a:extLst>
          </p:cNvPr>
          <p:cNvCxnSpPr>
            <a:cxnSpLocks/>
          </p:cNvCxnSpPr>
          <p:nvPr/>
        </p:nvCxnSpPr>
        <p:spPr>
          <a:xfrm flipH="1" flipV="1">
            <a:off x="7572381" y="4403283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EEE00C0D-5F7E-C3ED-CA9C-8112CF99132E}"/>
              </a:ext>
            </a:extLst>
          </p:cNvPr>
          <p:cNvCxnSpPr/>
          <p:nvPr/>
        </p:nvCxnSpPr>
        <p:spPr>
          <a:xfrm>
            <a:off x="6843972" y="4349834"/>
            <a:ext cx="63097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右大括弧 52">
            <a:extLst>
              <a:ext uri="{FF2B5EF4-FFF2-40B4-BE49-F238E27FC236}">
                <a16:creationId xmlns:a16="http://schemas.microsoft.com/office/drawing/2014/main" id="{E09434B5-6FEC-D973-FCC9-0E540FD23417}"/>
              </a:ext>
            </a:extLst>
          </p:cNvPr>
          <p:cNvSpPr/>
          <p:nvPr/>
        </p:nvSpPr>
        <p:spPr>
          <a:xfrm>
            <a:off x="10501384" y="2417802"/>
            <a:ext cx="373278" cy="37826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2D8C42DF-7E9A-C921-36DB-8E5134655A89}"/>
              </a:ext>
            </a:extLst>
          </p:cNvPr>
          <p:cNvSpPr txBox="1"/>
          <p:nvPr/>
        </p:nvSpPr>
        <p:spPr>
          <a:xfrm>
            <a:off x="10859150" y="3982823"/>
            <a:ext cx="839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Vocab</a:t>
            </a:r>
          </a:p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size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A151BD34-8F4C-0447-E9B3-FEF499EC3283}"/>
              </a:ext>
            </a:extLst>
          </p:cNvPr>
          <p:cNvSpPr txBox="1"/>
          <p:nvPr/>
        </p:nvSpPr>
        <p:spPr>
          <a:xfrm>
            <a:off x="8416651" y="193730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Vocab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EEBE339-6BDB-4693-61B8-51C7547502C9}"/>
              </a:ext>
            </a:extLst>
          </p:cNvPr>
          <p:cNvSpPr txBox="1"/>
          <p:nvPr/>
        </p:nvSpPr>
        <p:spPr>
          <a:xfrm>
            <a:off x="9513721" y="193730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Prob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圓角矩形 12">
                <a:extLst>
                  <a:ext uri="{FF2B5EF4-FFF2-40B4-BE49-F238E27FC236}">
                    <a16:creationId xmlns:a16="http://schemas.microsoft.com/office/drawing/2014/main" id="{81E01E23-EA7F-26CA-D7FD-D3AD34EF18E3}"/>
                  </a:ext>
                </a:extLst>
              </p:cNvPr>
              <p:cNvSpPr/>
              <p:nvPr/>
            </p:nvSpPr>
            <p:spPr>
              <a:xfrm>
                <a:off x="2450284" y="2531936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圓角矩形 12">
                <a:extLst>
                  <a:ext uri="{FF2B5EF4-FFF2-40B4-BE49-F238E27FC236}">
                    <a16:creationId xmlns:a16="http://schemas.microsoft.com/office/drawing/2014/main" id="{81E01E23-EA7F-26CA-D7FD-D3AD34EF18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284" y="2531936"/>
                <a:ext cx="673768" cy="5715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FCE531B0-0209-8911-AB20-73BB1EB3BEA0}"/>
                  </a:ext>
                </a:extLst>
              </p:cNvPr>
              <p:cNvSpPr/>
              <p:nvPr/>
            </p:nvSpPr>
            <p:spPr>
              <a:xfrm>
                <a:off x="1079810" y="2521669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FCE531B0-0209-8911-AB20-73BB1EB3B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810" y="2521669"/>
                <a:ext cx="673768" cy="5715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695A3FD4-AD49-0352-EE91-263E004765AA}"/>
              </a:ext>
            </a:extLst>
          </p:cNvPr>
          <p:cNvCxnSpPr>
            <a:cxnSpLocks/>
          </p:cNvCxnSpPr>
          <p:nvPr/>
        </p:nvCxnSpPr>
        <p:spPr>
          <a:xfrm flipV="1">
            <a:off x="2787168" y="3226711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B6D5EDE0-8376-B273-E991-B30A58AC223C}"/>
              </a:ext>
            </a:extLst>
          </p:cNvPr>
          <p:cNvCxnSpPr>
            <a:cxnSpLocks/>
          </p:cNvCxnSpPr>
          <p:nvPr/>
        </p:nvCxnSpPr>
        <p:spPr>
          <a:xfrm flipV="1">
            <a:off x="1416694" y="3202782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3BCB72AE-B665-3A90-38A9-632038151578}"/>
              </a:ext>
            </a:extLst>
          </p:cNvPr>
          <p:cNvSpPr/>
          <p:nvPr/>
        </p:nvSpPr>
        <p:spPr>
          <a:xfrm>
            <a:off x="1563505" y="6423560"/>
            <a:ext cx="381628" cy="22922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6C6F730-BCC8-0DE4-DA77-FCA5960C49C4}"/>
              </a:ext>
            </a:extLst>
          </p:cNvPr>
          <p:cNvSpPr txBox="1"/>
          <p:nvPr/>
        </p:nvSpPr>
        <p:spPr>
          <a:xfrm>
            <a:off x="1878573" y="6390354"/>
            <a:ext cx="1839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Word embeddings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5AFD019-80A5-86B6-961D-076B447FE072}"/>
                  </a:ext>
                </a:extLst>
              </p:cNvPr>
              <p:cNvSpPr txBox="1"/>
              <p:nvPr/>
            </p:nvSpPr>
            <p:spPr>
              <a:xfrm>
                <a:off x="1883751" y="3808794"/>
                <a:ext cx="4541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5AFD019-80A5-86B6-961D-076B447FE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751" y="3808794"/>
                <a:ext cx="454165" cy="369332"/>
              </a:xfrm>
              <a:prstGeom prst="rect">
                <a:avLst/>
              </a:prstGeom>
              <a:blipFill>
                <a:blip r:embed="rId8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74BC75C-EEF7-CEC5-4919-CAC1C4FEB363}"/>
                  </a:ext>
                </a:extLst>
              </p:cNvPr>
              <p:cNvSpPr txBox="1"/>
              <p:nvPr/>
            </p:nvSpPr>
            <p:spPr>
              <a:xfrm>
                <a:off x="3241515" y="3808794"/>
                <a:ext cx="4541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74BC75C-EEF7-CEC5-4919-CAC1C4FEB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515" y="3808794"/>
                <a:ext cx="454165" cy="369332"/>
              </a:xfrm>
              <a:prstGeom prst="rect">
                <a:avLst/>
              </a:prstGeom>
              <a:blipFill>
                <a:blip r:embed="rId9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9989ED1-753D-4460-DDA1-83C4D06A2F39}"/>
                  </a:ext>
                </a:extLst>
              </p:cNvPr>
              <p:cNvSpPr txBox="1"/>
              <p:nvPr/>
            </p:nvSpPr>
            <p:spPr>
              <a:xfrm>
                <a:off x="653142" y="1509513"/>
                <a:ext cx="24709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TW" sz="1400" dirty="0"/>
                  <a:t>*</a:t>
                </a:r>
                <a:r>
                  <a:rPr kumimoji="1" lang="zh-TW" altLang="en-US" sz="1400" dirty="0"/>
                  <a:t>本頁的</a:t>
                </a:r>
                <a:r>
                  <a:rPr kumimoji="1" lang="en-US" altLang="zh-TW" sz="1400" dirty="0"/>
                  <a:t>RNN</a:t>
                </a:r>
                <a:r>
                  <a:rPr kumimoji="1" lang="zh-TW" altLang="en-US" sz="1400" dirty="0"/>
                  <a:t>不包含輸出層</a:t>
                </a:r>
                <a14:m>
                  <m:oMath xmlns:m="http://schemas.openxmlformats.org/officeDocument/2006/math">
                    <m:r>
                      <a:rPr lang="en-US" altLang="zh-TW" sz="1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9989ED1-753D-4460-DDA1-83C4D06A2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2" y="1509513"/>
                <a:ext cx="2470909" cy="307777"/>
              </a:xfrm>
              <a:prstGeom prst="rect">
                <a:avLst/>
              </a:prstGeom>
              <a:blipFill>
                <a:blip r:embed="rId10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8FF51323-929F-C653-8DF8-8B33CC851110}"/>
              </a:ext>
            </a:extLst>
          </p:cNvPr>
          <p:cNvSpPr txBox="1"/>
          <p:nvPr/>
        </p:nvSpPr>
        <p:spPr>
          <a:xfrm>
            <a:off x="2037741" y="2077071"/>
            <a:ext cx="152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(1, </a:t>
            </a:r>
            <a:r>
              <a:rPr kumimoji="1" lang="en-US" altLang="zh-TW" sz="1400" dirty="0" err="1"/>
              <a:t>hidden_size</a:t>
            </a:r>
            <a:r>
              <a:rPr kumimoji="1" lang="en-US" altLang="zh-TW" sz="1400" dirty="0"/>
              <a:t>)</a:t>
            </a:r>
            <a:endParaRPr kumimoji="1" lang="zh-TW" altLang="en-US" sz="1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DDA4593-CCEC-BA37-2161-5E283A6CD22A}"/>
              </a:ext>
            </a:extLst>
          </p:cNvPr>
          <p:cNvSpPr txBox="1"/>
          <p:nvPr/>
        </p:nvSpPr>
        <p:spPr>
          <a:xfrm>
            <a:off x="655882" y="2078057"/>
            <a:ext cx="152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(1, </a:t>
            </a:r>
            <a:r>
              <a:rPr kumimoji="1" lang="en-US" altLang="zh-TW" sz="1400" dirty="0" err="1"/>
              <a:t>hidden_size</a:t>
            </a:r>
            <a:r>
              <a:rPr kumimoji="1" lang="en-US" altLang="zh-TW" sz="1400" dirty="0"/>
              <a:t>)</a:t>
            </a:r>
            <a:endParaRPr kumimoji="1" lang="zh-TW" altLang="en-US" sz="14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D4420E8-C43F-C5D9-727D-B484E5B01716}"/>
              </a:ext>
            </a:extLst>
          </p:cNvPr>
          <p:cNvSpPr txBox="1"/>
          <p:nvPr/>
        </p:nvSpPr>
        <p:spPr>
          <a:xfrm>
            <a:off x="6287811" y="3275111"/>
            <a:ext cx="1089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b="1" dirty="0" err="1">
                <a:solidFill>
                  <a:schemeClr val="accent6"/>
                </a:solidFill>
              </a:rPr>
              <a:t>Softmax</a:t>
            </a:r>
            <a:endParaRPr kumimoji="1" lang="zh-TW" altLang="en-US" sz="14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17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36" grpId="0" animBg="1"/>
      <p:bldP spid="34" grpId="0" animBg="1"/>
      <p:bldP spid="39" grpId="0"/>
      <p:bldP spid="40" grpId="0" animBg="1"/>
      <p:bldP spid="41" grpId="0"/>
      <p:bldP spid="45" grpId="0"/>
      <p:bldP spid="46" grpId="0"/>
      <p:bldP spid="53" grpId="0" animBg="1"/>
      <p:bldP spid="54" grpId="0"/>
      <p:bldP spid="55" grpId="0"/>
      <p:bldP spid="56" grpId="0"/>
      <p:bldP spid="13" grpId="0" animBg="1"/>
      <p:bldP spid="18" grpId="0" animBg="1"/>
      <p:bldP spid="25" grpId="0"/>
      <p:bldP spid="27" grpId="0"/>
      <p:bldP spid="29" grpId="0"/>
      <p:bldP spid="30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0B5A0-59BC-5F33-B5BF-8A8A5008F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7EE2BE-503A-E20D-3BA8-EF4AA3EFF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  <a:cs typeface="Calibri Light"/>
              </a:rPr>
              <a:t>Basic Pipeline of Natural Language Processing</a:t>
            </a:r>
            <a:endParaRPr lang="zh-TW" altLang="en-US" sz="2000" dirty="0">
              <a:ea typeface="新細明體"/>
              <a:cs typeface="Calibri Light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B0628AC-3C2C-248F-B32F-158CA66BF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7</a:t>
            </a:fld>
            <a:endParaRPr lang="zh-TW" altLang="en-US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32AC537B-E7AC-6AB1-CD93-A7FDA1DD8BB8}"/>
              </a:ext>
            </a:extLst>
          </p:cNvPr>
          <p:cNvSpPr/>
          <p:nvPr/>
        </p:nvSpPr>
        <p:spPr>
          <a:xfrm>
            <a:off x="4459059" y="2018576"/>
            <a:ext cx="3239146" cy="103341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Build the vocabulary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7530C24F-75F0-4E4A-A3D5-574766305F31}"/>
              </a:ext>
            </a:extLst>
          </p:cNvPr>
          <p:cNvSpPr/>
          <p:nvPr/>
        </p:nvSpPr>
        <p:spPr>
          <a:xfrm>
            <a:off x="4476427" y="3636653"/>
            <a:ext cx="3239146" cy="1033415"/>
          </a:xfrm>
          <a:prstGeom prst="round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Learn the representations</a:t>
            </a:r>
          </a:p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(Training)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741EEA33-9443-9466-3E45-3A6F98971455}"/>
              </a:ext>
            </a:extLst>
          </p:cNvPr>
          <p:cNvSpPr/>
          <p:nvPr/>
        </p:nvSpPr>
        <p:spPr>
          <a:xfrm>
            <a:off x="4459059" y="5254730"/>
            <a:ext cx="3239146" cy="1033415"/>
          </a:xfrm>
          <a:prstGeom prst="round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Perform predictions</a:t>
            </a:r>
          </a:p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(Testing)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11" name="向右箭號 10">
            <a:extLst>
              <a:ext uri="{FF2B5EF4-FFF2-40B4-BE49-F238E27FC236}">
                <a16:creationId xmlns:a16="http://schemas.microsoft.com/office/drawing/2014/main" id="{94B75ED1-CBB5-0197-939B-8ABF7927BBBA}"/>
              </a:ext>
            </a:extLst>
          </p:cNvPr>
          <p:cNvSpPr/>
          <p:nvPr/>
        </p:nvSpPr>
        <p:spPr>
          <a:xfrm rot="5400000">
            <a:off x="6001250" y="3133896"/>
            <a:ext cx="250460" cy="358947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rgbClr val="0070C0"/>
              </a:solidFill>
            </a:endParaRPr>
          </a:p>
        </p:txBody>
      </p:sp>
      <p:sp>
        <p:nvSpPr>
          <p:cNvPr id="12" name="向右箭號 11">
            <a:extLst>
              <a:ext uri="{FF2B5EF4-FFF2-40B4-BE49-F238E27FC236}">
                <a16:creationId xmlns:a16="http://schemas.microsoft.com/office/drawing/2014/main" id="{92E56770-096D-8A53-2F71-3871746D250B}"/>
              </a:ext>
            </a:extLst>
          </p:cNvPr>
          <p:cNvSpPr/>
          <p:nvPr/>
        </p:nvSpPr>
        <p:spPr>
          <a:xfrm rot="5400000">
            <a:off x="6001249" y="4782926"/>
            <a:ext cx="250460" cy="358947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852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54DC94-E1A1-54D5-C3B9-0BB3AD95E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[Recap] How to build the vocabulary?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DB5A7A-CB21-463D-1701-F684343B8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42864"/>
            <a:ext cx="10058400" cy="132037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 Segment words based on delimiters (e.g., white spaces).</a:t>
            </a:r>
          </a:p>
          <a:p>
            <a:pPr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 Then we can collect the words from training corpora.</a:t>
            </a:r>
            <a:endParaRPr kumimoji="1"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442538-BA26-4DD5-A425-3C3A57711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剪去單一角落矩形 5">
            <a:extLst>
              <a:ext uri="{FF2B5EF4-FFF2-40B4-BE49-F238E27FC236}">
                <a16:creationId xmlns:a16="http://schemas.microsoft.com/office/drawing/2014/main" id="{4CDA2D8A-8F29-B104-5D3F-D7B260597E1B}"/>
              </a:ext>
            </a:extLst>
          </p:cNvPr>
          <p:cNvSpPr/>
          <p:nvPr/>
        </p:nvSpPr>
        <p:spPr>
          <a:xfrm>
            <a:off x="1165860" y="3636755"/>
            <a:ext cx="5200650" cy="1405890"/>
          </a:xfrm>
          <a:prstGeom prst="snip1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 love apples. I like apples and pineapples.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向右箭號 10">
            <a:extLst>
              <a:ext uri="{FF2B5EF4-FFF2-40B4-BE49-F238E27FC236}">
                <a16:creationId xmlns:a16="http://schemas.microsoft.com/office/drawing/2014/main" id="{09D2CD8D-8797-264B-2747-861454280641}"/>
              </a:ext>
            </a:extLst>
          </p:cNvPr>
          <p:cNvSpPr/>
          <p:nvPr/>
        </p:nvSpPr>
        <p:spPr>
          <a:xfrm>
            <a:off x="6721338" y="4205947"/>
            <a:ext cx="673872" cy="358947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graphicFrame>
        <p:nvGraphicFramePr>
          <p:cNvPr id="13" name="表格 13">
            <a:extLst>
              <a:ext uri="{FF2B5EF4-FFF2-40B4-BE49-F238E27FC236}">
                <a16:creationId xmlns:a16="http://schemas.microsoft.com/office/drawing/2014/main" id="{A6E86E99-CC3D-0829-9102-D595FCC095BA}"/>
              </a:ext>
            </a:extLst>
          </p:cNvPr>
          <p:cNvGraphicFramePr>
            <a:graphicFrameLocks noGrp="1"/>
          </p:cNvGraphicFramePr>
          <p:nvPr/>
        </p:nvGraphicFramePr>
        <p:xfrm>
          <a:off x="7730720" y="3162410"/>
          <a:ext cx="282575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875">
                  <a:extLst>
                    <a:ext uri="{9D8B030D-6E8A-4147-A177-3AD203B41FA5}">
                      <a16:colId xmlns:a16="http://schemas.microsoft.com/office/drawing/2014/main" val="299152187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626042458"/>
                    </a:ext>
                  </a:extLst>
                </a:gridCol>
              </a:tblGrid>
              <a:tr h="207433"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Word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410158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and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72698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apples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67199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810822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like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135537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love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905863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pineapples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216673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676502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&lt;UNK&gt;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872859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04F22120-A255-47AB-723B-87FDD9B67CE4}"/>
              </a:ext>
            </a:extLst>
          </p:cNvPr>
          <p:cNvSpPr txBox="1"/>
          <p:nvPr/>
        </p:nvSpPr>
        <p:spPr>
          <a:xfrm>
            <a:off x="1165860" y="5296248"/>
            <a:ext cx="5200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(You can also perform stemming / lemmatization for building the vocabulary!)</a:t>
            </a:r>
            <a:endParaRPr kumimoji="1"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1495F4E-E4FF-E306-2DB1-6CF8187143D0}"/>
              </a:ext>
            </a:extLst>
          </p:cNvPr>
          <p:cNvSpPr txBox="1"/>
          <p:nvPr/>
        </p:nvSpPr>
        <p:spPr>
          <a:xfrm>
            <a:off x="8467569" y="2781758"/>
            <a:ext cx="1352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Vocabulary</a:t>
            </a:r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6B31E0C-FE06-F43D-3D30-22863B03A757}"/>
              </a:ext>
            </a:extLst>
          </p:cNvPr>
          <p:cNvSpPr txBox="1"/>
          <p:nvPr/>
        </p:nvSpPr>
        <p:spPr>
          <a:xfrm>
            <a:off x="7730720" y="5917040"/>
            <a:ext cx="4293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Unknown words </a:t>
            </a:r>
            <a:r>
              <a:rPr kumimoji="1" lang="en-US" altLang="zh-TW" sz="1400" dirty="0">
                <a:solidFill>
                  <a:srgbClr val="FF0000"/>
                </a:solidFill>
              </a:rPr>
              <a:t>(not shown up in the training corpora)</a:t>
            </a:r>
            <a:endParaRPr kumimoji="1" lang="zh-TW" altLang="en-US" sz="1400" dirty="0">
              <a:solidFill>
                <a:srgbClr val="FF0000"/>
              </a:solidFill>
            </a:endParaRPr>
          </a:p>
        </p:txBody>
      </p:sp>
      <p:cxnSp>
        <p:nvCxnSpPr>
          <p:cNvPr id="8" name="肘形接點 7">
            <a:extLst>
              <a:ext uri="{FF2B5EF4-FFF2-40B4-BE49-F238E27FC236}">
                <a16:creationId xmlns:a16="http://schemas.microsoft.com/office/drawing/2014/main" id="{F6926AEB-FD0F-6D0B-D0A2-D0C3E10FA20F}"/>
              </a:ext>
            </a:extLst>
          </p:cNvPr>
          <p:cNvCxnSpPr>
            <a:cxnSpLocks/>
          </p:cNvCxnSpPr>
          <p:nvPr/>
        </p:nvCxnSpPr>
        <p:spPr>
          <a:xfrm rot="5400000">
            <a:off x="7559153" y="5922221"/>
            <a:ext cx="297415" cy="12700"/>
          </a:xfrm>
          <a:prstGeom prst="bentConnector4">
            <a:avLst>
              <a:gd name="adj1" fmla="val 1069"/>
              <a:gd name="adj2" fmla="val 244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068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4" grpId="0"/>
      <p:bldP spid="15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E9876F-FF91-913D-37AD-859B6A712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Stemming (</a:t>
            </a:r>
            <a:r>
              <a:rPr kumimoji="1" lang="zh-TW" altLang="en-US" dirty="0"/>
              <a:t>詞幹提取</a:t>
            </a:r>
            <a:r>
              <a:rPr kumimoji="1" lang="en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1CB5B3-3F48-6A5E-8636-18279111A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1033416"/>
          </a:xfrm>
        </p:spPr>
        <p:txBody>
          <a:bodyPr/>
          <a:lstStyle/>
          <a:p>
            <a:pPr marL="0" indent="0">
              <a:buNone/>
            </a:pPr>
            <a:r>
              <a:rPr kumimoji="1" lang="zh-TW" altLang="en-US" dirty="0"/>
              <a:t>💡</a:t>
            </a:r>
            <a:r>
              <a:rPr kumimoji="1" lang="en" altLang="zh-TW" dirty="0"/>
              <a:t>Stemming </a:t>
            </a:r>
            <a:r>
              <a:rPr kumimoji="1" lang="zh-TW" altLang="en-US" dirty="0"/>
              <a:t>是一種文字前處理方法，</a:t>
            </a:r>
          </a:p>
          <a:p>
            <a:r>
              <a:rPr kumimoji="1" lang="zh-TW" altLang="en-US" dirty="0"/>
              <a:t>目的是把不同變化型的單字，裁切成共同字根（</a:t>
            </a:r>
            <a:r>
              <a:rPr kumimoji="1" lang="en" altLang="zh-TW" dirty="0"/>
              <a:t>stem</a:t>
            </a:r>
            <a:r>
              <a:rPr kumimoji="1" lang="zh-TW" altLang="en" dirty="0"/>
              <a:t>），</a:t>
            </a:r>
            <a:r>
              <a:rPr kumimoji="1" lang="zh-TW" altLang="en-US" dirty="0"/>
              <a:t>以減少詞彙數量。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B0500C-ED32-2373-D762-DBB923FA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797F9C50-06AC-8198-AFDC-110FAE1BB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493172"/>
              </p:ext>
            </p:extLst>
          </p:nvPr>
        </p:nvGraphicFramePr>
        <p:xfrm>
          <a:off x="1643529" y="3270894"/>
          <a:ext cx="8904942" cy="1415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1553">
                  <a:extLst>
                    <a:ext uri="{9D8B030D-6E8A-4147-A177-3AD203B41FA5}">
                      <a16:colId xmlns:a16="http://schemas.microsoft.com/office/drawing/2014/main" val="3870822281"/>
                    </a:ext>
                  </a:extLst>
                </a:gridCol>
                <a:gridCol w="3203389">
                  <a:extLst>
                    <a:ext uri="{9D8B030D-6E8A-4147-A177-3AD203B41FA5}">
                      <a16:colId xmlns:a16="http://schemas.microsoft.com/office/drawing/2014/main" val="1859656535"/>
                    </a:ext>
                  </a:extLst>
                </a:gridCol>
              </a:tblGrid>
              <a:tr h="471971">
                <a:tc>
                  <a:txBody>
                    <a:bodyPr/>
                    <a:lstStyle/>
                    <a:p>
                      <a:r>
                        <a:rPr lang="en-US" altLang="zh-TW" dirty="0"/>
                        <a:t>Words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Stemmed results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5223822"/>
                  </a:ext>
                </a:extLst>
              </a:tr>
              <a:tr h="471971">
                <a:tc>
                  <a:txBody>
                    <a:bodyPr/>
                    <a:lstStyle/>
                    <a:p>
                      <a:r>
                        <a:rPr lang="en" altLang="zh-TW" dirty="0"/>
                        <a:t>connect, connected, connecting, connection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dirty="0"/>
                        <a:t>connect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5488683"/>
                  </a:ext>
                </a:extLst>
              </a:tr>
              <a:tr h="471971">
                <a:tc>
                  <a:txBody>
                    <a:bodyPr/>
                    <a:lstStyle/>
                    <a:p>
                      <a:r>
                        <a:rPr lang="en" altLang="zh-TW" dirty="0"/>
                        <a:t>study, studies, studied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dirty="0" err="1"/>
                        <a:t>stud</a:t>
                      </a:r>
                      <a:r>
                        <a:rPr lang="en" altLang="zh-TW" dirty="0" err="1">
                          <a:solidFill>
                            <a:srgbClr val="FF0000"/>
                          </a:solidFill>
                        </a:rPr>
                        <a:t>i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496823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C016F9C4-2E83-A70B-9A4A-90652DA62D9E}"/>
              </a:ext>
            </a:extLst>
          </p:cNvPr>
          <p:cNvSpPr txBox="1"/>
          <p:nvPr/>
        </p:nvSpPr>
        <p:spPr>
          <a:xfrm>
            <a:off x="2962728" y="6046228"/>
            <a:ext cx="629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dirty="0"/>
              <a:t>https://</a:t>
            </a:r>
            <a:r>
              <a:rPr kumimoji="1" lang="en" altLang="zh-TW" dirty="0" err="1"/>
              <a:t>cloud.google.com</a:t>
            </a:r>
            <a:r>
              <a:rPr kumimoji="1" lang="en" altLang="zh-TW" dirty="0"/>
              <a:t>/discover/what-is-stemming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dirty="0"/>
              <a:t>https://</a:t>
            </a:r>
            <a:r>
              <a:rPr kumimoji="1" lang="en" altLang="zh-TW" dirty="0" err="1"/>
              <a:t>www.nltk.org</a:t>
            </a:r>
            <a:r>
              <a:rPr kumimoji="1" lang="en" altLang="zh-TW" dirty="0"/>
              <a:t>/</a:t>
            </a:r>
            <a:r>
              <a:rPr kumimoji="1" lang="en" altLang="zh-TW" dirty="0" err="1"/>
              <a:t>howto</a:t>
            </a:r>
            <a:r>
              <a:rPr kumimoji="1" lang="en" altLang="zh-TW" dirty="0"/>
              <a:t>/</a:t>
            </a:r>
            <a:r>
              <a:rPr kumimoji="1" lang="en" altLang="zh-TW" dirty="0" err="1"/>
              <a:t>stem.html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13782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2FF708-9C93-E06B-4330-73283DF10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Lemmatization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/>
              <a:t>詞形還原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D9CAE8-8767-065B-ADBF-FFE6863C7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856C043E-86B5-B120-F6C5-C828F6189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699622"/>
            <a:ext cx="10918371" cy="13188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TW" altLang="en-US" dirty="0"/>
              <a:t>💡類似於 </a:t>
            </a:r>
            <a:r>
              <a:rPr kumimoji="1" lang="en" altLang="zh-TW" dirty="0"/>
              <a:t>stemming</a:t>
            </a:r>
            <a:r>
              <a:rPr kumimoji="1" lang="zh-TW" altLang="en-US" dirty="0"/>
              <a:t>，</a:t>
            </a:r>
            <a:r>
              <a:rPr kumimoji="1" lang="en" altLang="zh-TW" dirty="0"/>
              <a:t>lemmatization</a:t>
            </a:r>
            <a:r>
              <a:rPr kumimoji="1" lang="zh-TW" altLang="en-US" dirty="0"/>
              <a:t> 也是一種文字前處理方法，</a:t>
            </a:r>
          </a:p>
          <a:p>
            <a:r>
              <a:rPr kumimoji="1" lang="zh-TW" altLang="en-US" dirty="0"/>
              <a:t>目的是把單字還原成它的字典原型</a:t>
            </a:r>
            <a:r>
              <a:rPr kumimoji="1" lang="en-US" altLang="zh-TW" dirty="0"/>
              <a:t> (</a:t>
            </a:r>
            <a:r>
              <a:rPr kumimoji="1" lang="en" altLang="zh-TW" dirty="0"/>
              <a:t>lemma</a:t>
            </a:r>
            <a:r>
              <a:rPr kumimoji="1" lang="en-US" altLang="zh-TW" dirty="0"/>
              <a:t>)</a:t>
            </a:r>
            <a:r>
              <a:rPr kumimoji="1" lang="zh-TW" altLang="en-US" dirty="0"/>
              <a:t>，把不同詞形統一成同一個基本形式。</a:t>
            </a:r>
            <a:endParaRPr kumimoji="1" lang="en-US" altLang="zh-TW" dirty="0"/>
          </a:p>
          <a:p>
            <a:r>
              <a:rPr kumimoji="1" lang="zh-TW" altLang="en-US" dirty="0"/>
              <a:t>不同於 </a:t>
            </a:r>
            <a:r>
              <a:rPr kumimoji="1" lang="en-US" altLang="zh-TW" dirty="0"/>
              <a:t>stemming</a:t>
            </a:r>
            <a:r>
              <a:rPr kumimoji="1" lang="zh-TW" altLang="en-US" dirty="0"/>
              <a:t>，</a:t>
            </a:r>
            <a:r>
              <a:rPr kumimoji="1" lang="en" altLang="zh-TW" dirty="0"/>
              <a:t> lemmatization</a:t>
            </a:r>
            <a:r>
              <a:rPr kumimoji="1" lang="zh-TW" altLang="en-US" dirty="0"/>
              <a:t> 在處理字詞時會考慮到詞性和語言規則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0C1F68D-6B0A-A73A-05B5-DDA1304AC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70872"/>
              </p:ext>
            </p:extLst>
          </p:nvPr>
        </p:nvGraphicFramePr>
        <p:xfrm>
          <a:off x="1643529" y="3301081"/>
          <a:ext cx="8904942" cy="2831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1553">
                  <a:extLst>
                    <a:ext uri="{9D8B030D-6E8A-4147-A177-3AD203B41FA5}">
                      <a16:colId xmlns:a16="http://schemas.microsoft.com/office/drawing/2014/main" val="3870822281"/>
                    </a:ext>
                  </a:extLst>
                </a:gridCol>
                <a:gridCol w="3203389">
                  <a:extLst>
                    <a:ext uri="{9D8B030D-6E8A-4147-A177-3AD203B41FA5}">
                      <a16:colId xmlns:a16="http://schemas.microsoft.com/office/drawing/2014/main" val="1859656535"/>
                    </a:ext>
                  </a:extLst>
                </a:gridCol>
              </a:tblGrid>
              <a:tr h="471971">
                <a:tc>
                  <a:txBody>
                    <a:bodyPr/>
                    <a:lstStyle/>
                    <a:p>
                      <a:r>
                        <a:rPr lang="en-US" altLang="zh-TW" dirty="0"/>
                        <a:t>Words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Lemma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5223822"/>
                  </a:ext>
                </a:extLst>
              </a:tr>
              <a:tr h="471971">
                <a:tc>
                  <a:txBody>
                    <a:bodyPr/>
                    <a:lstStyle/>
                    <a:p>
                      <a:r>
                        <a:rPr lang="en" altLang="zh-TW" dirty="0"/>
                        <a:t>connect, connected, connecting, connection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dirty="0"/>
                        <a:t>connect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5488683"/>
                  </a:ext>
                </a:extLst>
              </a:tr>
              <a:tr h="471971">
                <a:tc>
                  <a:txBody>
                    <a:bodyPr/>
                    <a:lstStyle/>
                    <a:p>
                      <a:r>
                        <a:rPr lang="en" altLang="zh-TW" dirty="0"/>
                        <a:t>study, studies, studied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dirty="0"/>
                        <a:t>stud</a:t>
                      </a:r>
                      <a:r>
                        <a:rPr lang="en" altLang="zh-TW" dirty="0">
                          <a:solidFill>
                            <a:srgbClr val="FF0000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496823"/>
                  </a:ext>
                </a:extLst>
              </a:tr>
              <a:tr h="471971">
                <a:tc>
                  <a:txBody>
                    <a:bodyPr/>
                    <a:lstStyle/>
                    <a:p>
                      <a:r>
                        <a:rPr lang="en" altLang="zh-TW" dirty="0"/>
                        <a:t>running, ran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dirty="0"/>
                        <a:t>run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188614"/>
                  </a:ext>
                </a:extLst>
              </a:tr>
              <a:tr h="471971">
                <a:tc>
                  <a:txBody>
                    <a:bodyPr/>
                    <a:lstStyle/>
                    <a:p>
                      <a:r>
                        <a:rPr lang="en" altLang="zh-TW" dirty="0"/>
                        <a:t>The autumn </a:t>
                      </a:r>
                      <a:r>
                        <a:rPr lang="en" altLang="zh-TW" b="1" dirty="0"/>
                        <a:t>leaves</a:t>
                      </a:r>
                      <a:r>
                        <a:rPr lang="en" altLang="zh-TW" dirty="0"/>
                        <a:t> are falling.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leaf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名詞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1065707"/>
                  </a:ext>
                </a:extLst>
              </a:tr>
              <a:tr h="471971">
                <a:tc>
                  <a:txBody>
                    <a:bodyPr/>
                    <a:lstStyle/>
                    <a:p>
                      <a:r>
                        <a:rPr lang="en" altLang="zh-TW" dirty="0"/>
                        <a:t>He </a:t>
                      </a:r>
                      <a:r>
                        <a:rPr lang="en" altLang="zh-TW" b="1" dirty="0"/>
                        <a:t>leaves</a:t>
                      </a:r>
                      <a:r>
                        <a:rPr lang="en" altLang="zh-TW" dirty="0"/>
                        <a:t> the office at 6 PM.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leave (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動詞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8252703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16137BBA-A111-8C80-A4AD-A345347EC8F7}"/>
              </a:ext>
            </a:extLst>
          </p:cNvPr>
          <p:cNvSpPr txBox="1"/>
          <p:nvPr/>
        </p:nvSpPr>
        <p:spPr>
          <a:xfrm>
            <a:off x="2855259" y="6317246"/>
            <a:ext cx="6481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dirty="0"/>
              <a:t>https://</a:t>
            </a:r>
            <a:r>
              <a:rPr kumimoji="1" lang="en" altLang="zh-TW" dirty="0" err="1"/>
              <a:t>www.nltk.org</a:t>
            </a:r>
            <a:r>
              <a:rPr kumimoji="1" lang="en" altLang="zh-TW" dirty="0"/>
              <a:t>/</a:t>
            </a:r>
            <a:r>
              <a:rPr kumimoji="1" lang="en" altLang="zh-TW" dirty="0" err="1"/>
              <a:t>api</a:t>
            </a:r>
            <a:r>
              <a:rPr kumimoji="1" lang="en" altLang="zh-TW" dirty="0"/>
              <a:t>/</a:t>
            </a:r>
            <a:r>
              <a:rPr kumimoji="1" lang="en" altLang="zh-TW" dirty="0" err="1"/>
              <a:t>nltk.stem.WordNetLemmatizer.html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66302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1B222C-80F6-FEC9-47AC-B38C2903D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Segmentation vs. Tokenization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CD1B07-BC3A-15DA-87F8-3E0AB47F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3498F06-66DC-585C-C165-16D8B84FE72E}"/>
              </a:ext>
            </a:extLst>
          </p:cNvPr>
          <p:cNvSpPr txBox="1"/>
          <p:nvPr/>
        </p:nvSpPr>
        <p:spPr>
          <a:xfrm>
            <a:off x="653143" y="1755181"/>
            <a:ext cx="10262665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All tokenization is segmentation, but not all segmentation is tokenization.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Segmentation can be</a:t>
            </a:r>
            <a:r>
              <a:rPr kumimoji="1" lang="en-US" altLang="zh-TW" sz="2400" dirty="0"/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Word segmentation from a </a:t>
            </a:r>
            <a:r>
              <a:rPr kumimoji="1" lang="en-US" altLang="zh-TW" sz="2400" dirty="0">
                <a:solidFill>
                  <a:srgbClr val="0070C0"/>
                </a:solidFill>
              </a:rPr>
              <a:t>sentence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Sentence segmentation from a </a:t>
            </a:r>
            <a:r>
              <a:rPr kumimoji="1" lang="en-US" altLang="zh-TW" sz="2400" dirty="0">
                <a:solidFill>
                  <a:srgbClr val="0070C0"/>
                </a:solidFill>
              </a:rPr>
              <a:t>document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Tokenization can be: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Word segmentation from a </a:t>
            </a:r>
            <a:r>
              <a:rPr kumimoji="1" lang="en-US" altLang="zh-TW" sz="2400" dirty="0">
                <a:solidFill>
                  <a:srgbClr val="0070C0"/>
                </a:solidFill>
              </a:rPr>
              <a:t>sentence </a:t>
            </a:r>
            <a:r>
              <a:rPr kumimoji="1" lang="en-US" altLang="zh-TW" sz="2400" dirty="0"/>
              <a:t>(then `words` become `tokens`)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Sub-word tokenization from a </a:t>
            </a:r>
            <a:r>
              <a:rPr kumimoji="1" lang="en-US" altLang="zh-TW" sz="2400" dirty="0">
                <a:solidFill>
                  <a:srgbClr val="0070C0"/>
                </a:solidFill>
              </a:rPr>
              <a:t>word </a:t>
            </a:r>
            <a:r>
              <a:rPr kumimoji="1" lang="en-US" altLang="zh-TW" sz="2400" dirty="0"/>
              <a:t>or</a:t>
            </a:r>
            <a:r>
              <a:rPr kumimoji="1" lang="en-US" altLang="zh-TW" sz="2400" dirty="0">
                <a:solidFill>
                  <a:srgbClr val="0070C0"/>
                </a:solidFill>
              </a:rPr>
              <a:t> sentence</a:t>
            </a:r>
            <a:endParaRPr kumimoji="1" lang="en" altLang="zh-TW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84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9A6154-8575-4AE1-BCE5-2886E601F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Delimiter-based Segmentation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02CF28-D261-1349-B727-6F55F740E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3926541"/>
            <a:ext cx="11080376" cy="231442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b="1" dirty="0"/>
              <a:t> </a:t>
            </a:r>
            <a:r>
              <a:rPr kumimoji="1" lang="zh-TW" altLang="en-US" b="1" dirty="0"/>
              <a:t>西方語言是用 </a:t>
            </a:r>
            <a:r>
              <a:rPr kumimoji="1" lang="en-US" altLang="zh-TW" b="1" dirty="0"/>
              <a:t>(e.g., </a:t>
            </a:r>
            <a:r>
              <a:rPr kumimoji="1" lang="zh-TW" altLang="en-US" b="1" dirty="0"/>
              <a:t>英語</a:t>
            </a:r>
            <a:r>
              <a:rPr kumimoji="1" lang="en-US" altLang="zh-TW" b="1" dirty="0"/>
              <a:t>)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Cannot work for Chinese, Japanese.</a:t>
            </a:r>
          </a:p>
          <a:p>
            <a:pPr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dirty="0"/>
              <a:t> </a:t>
            </a:r>
            <a:r>
              <a:rPr kumimoji="1" lang="zh-TW" altLang="en-US" dirty="0"/>
              <a:t>模型訓練完成後，</a:t>
            </a:r>
            <a:r>
              <a:rPr kumimoji="1" lang="zh-TW" altLang="en-US" b="1" dirty="0"/>
              <a:t>無法處理不在字典中的字 </a:t>
            </a:r>
            <a:r>
              <a:rPr kumimoji="1" lang="en-US" altLang="zh-TW" b="1" dirty="0"/>
              <a:t>(</a:t>
            </a:r>
            <a:r>
              <a:rPr kumimoji="1" lang="zh-TW" altLang="en-US" b="1" dirty="0"/>
              <a:t>這些字通常是因為不存在於訓練集</a:t>
            </a:r>
            <a:r>
              <a:rPr kumimoji="1" lang="en-US" altLang="zh-TW" b="1" dirty="0"/>
              <a:t>)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 </a:t>
            </a:r>
            <a:r>
              <a:rPr kumimoji="1" lang="zh-TW" altLang="en-US" sz="2000" dirty="0"/>
              <a:t>此情況也包含拼錯字的情形</a:t>
            </a:r>
            <a:endParaRPr kumimoji="1" lang="en-US" altLang="zh-TW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EA7EA3-E4EB-C850-1A20-78EBF44EB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EA06B4C-C4B3-B14E-6B5B-8B31D88D506B}"/>
              </a:ext>
            </a:extLst>
          </p:cNvPr>
          <p:cNvSpPr txBox="1"/>
          <p:nvPr/>
        </p:nvSpPr>
        <p:spPr>
          <a:xfrm>
            <a:off x="2788025" y="2343238"/>
            <a:ext cx="4061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NLP is fun, useful, and practical.</a:t>
            </a:r>
            <a:r>
              <a:rPr kumimoji="1" lang="zh-TW" altLang="en-US" dirty="0"/>
              <a:t> </a:t>
            </a:r>
            <a:r>
              <a:rPr kumimoji="1" lang="en-US" altLang="zh-TW" dirty="0"/>
              <a:t>-&gt;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947642A-E7D5-D9A1-C79B-9D35A074BEF4}"/>
              </a:ext>
            </a:extLst>
          </p:cNvPr>
          <p:cNvSpPr txBox="1"/>
          <p:nvPr/>
        </p:nvSpPr>
        <p:spPr>
          <a:xfrm>
            <a:off x="6974873" y="1650741"/>
            <a:ext cx="180157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dirty="0"/>
              <a:t>NLP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dirty="0"/>
              <a:t>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dirty="0"/>
              <a:t>fun,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dirty="0"/>
              <a:t>useful,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dirty="0"/>
              <a:t>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dirty="0"/>
              <a:t>practical.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570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C62884-14FE-B7E3-75EA-869F9C9CB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[Recap] Embedding Lookup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BEB593-59D1-AC66-DFE2-9D45E0405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F195A59-224D-5C51-A26B-B2D639F5A42F}"/>
              </a:ext>
            </a:extLst>
          </p:cNvPr>
          <p:cNvGraphicFramePr>
            <a:graphicFrameLocks noGrp="1"/>
          </p:cNvGraphicFramePr>
          <p:nvPr/>
        </p:nvGraphicFramePr>
        <p:xfrm>
          <a:off x="1883352" y="1955120"/>
          <a:ext cx="9124725" cy="362327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98935">
                  <a:extLst>
                    <a:ext uri="{9D8B030D-6E8A-4147-A177-3AD203B41FA5}">
                      <a16:colId xmlns:a16="http://schemas.microsoft.com/office/drawing/2014/main" val="414904887"/>
                    </a:ext>
                  </a:extLst>
                </a:gridCol>
                <a:gridCol w="3612895">
                  <a:extLst>
                    <a:ext uri="{9D8B030D-6E8A-4147-A177-3AD203B41FA5}">
                      <a16:colId xmlns:a16="http://schemas.microsoft.com/office/drawing/2014/main" val="3836347131"/>
                    </a:ext>
                  </a:extLst>
                </a:gridCol>
                <a:gridCol w="3612895">
                  <a:extLst>
                    <a:ext uri="{9D8B030D-6E8A-4147-A177-3AD203B41FA5}">
                      <a16:colId xmlns:a16="http://schemas.microsoft.com/office/drawing/2014/main" val="3015099582"/>
                    </a:ext>
                  </a:extLst>
                </a:gridCol>
              </a:tblGrid>
              <a:tr h="452296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Vocab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Dimension 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Dimension 2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9892997"/>
                  </a:ext>
                </a:extLst>
              </a:tr>
              <a:tr h="452296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I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-0.47030617476956654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-4.440892098500626e-16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432672"/>
                  </a:ext>
                </a:extLst>
              </a:tr>
              <a:tr h="452296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love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-8.326672684688674e-16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0.4464710977801294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127588"/>
                  </a:ext>
                </a:extLst>
              </a:tr>
              <a:tr h="452296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do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8.881784197001252e-16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0.7838949952895327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5057017"/>
                  </a:ext>
                </a:extLst>
              </a:tr>
              <a:tr h="452296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deep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-0.4915010045415975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-1.3016463110087907e-16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582313"/>
                  </a:ext>
                </a:extLst>
              </a:tr>
              <a:tr h="452296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learning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-1.582067810090848e-15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0.4314767609119055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366270"/>
                  </a:ext>
                </a:extLst>
              </a:tr>
              <a:tr h="452296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NLP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-0.2523320838384413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-2.1837832516159107e-16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2000942"/>
                  </a:ext>
                </a:extLst>
              </a:tr>
              <a:tr h="452296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programming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-0.6881623238553303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-1.914220234434739e-16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9166274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47F98E09-3199-A25A-4977-BA4729146826}"/>
              </a:ext>
            </a:extLst>
          </p:cNvPr>
          <p:cNvSpPr txBox="1"/>
          <p:nvPr/>
        </p:nvSpPr>
        <p:spPr>
          <a:xfrm>
            <a:off x="925286" y="2416628"/>
            <a:ext cx="500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0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46F0DB0-36A2-C4A4-449F-3C3736DE6F43}"/>
              </a:ext>
            </a:extLst>
          </p:cNvPr>
          <p:cNvSpPr txBox="1"/>
          <p:nvPr/>
        </p:nvSpPr>
        <p:spPr>
          <a:xfrm>
            <a:off x="694004" y="1955277"/>
            <a:ext cx="979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Index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8120791-1A8A-11B0-D38C-E5C9FB56B3BA}"/>
              </a:ext>
            </a:extLst>
          </p:cNvPr>
          <p:cNvSpPr txBox="1"/>
          <p:nvPr/>
        </p:nvSpPr>
        <p:spPr>
          <a:xfrm>
            <a:off x="933551" y="2878293"/>
            <a:ext cx="500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1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AC3E7D1-716D-22DA-6DD8-BFDF495612D8}"/>
              </a:ext>
            </a:extLst>
          </p:cNvPr>
          <p:cNvSpPr txBox="1"/>
          <p:nvPr/>
        </p:nvSpPr>
        <p:spPr>
          <a:xfrm>
            <a:off x="925286" y="3339644"/>
            <a:ext cx="500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2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621BBBC-3813-2B26-3B50-1774E59F4ED1}"/>
              </a:ext>
            </a:extLst>
          </p:cNvPr>
          <p:cNvSpPr txBox="1"/>
          <p:nvPr/>
        </p:nvSpPr>
        <p:spPr>
          <a:xfrm>
            <a:off x="933551" y="3801309"/>
            <a:ext cx="500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3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3E46389-1BA8-F3EF-BEB0-037AC262AF41}"/>
              </a:ext>
            </a:extLst>
          </p:cNvPr>
          <p:cNvSpPr txBox="1"/>
          <p:nvPr/>
        </p:nvSpPr>
        <p:spPr>
          <a:xfrm>
            <a:off x="933551" y="4262660"/>
            <a:ext cx="500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4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B2817CE-D44A-4EDC-1998-E80BDF984F0D}"/>
              </a:ext>
            </a:extLst>
          </p:cNvPr>
          <p:cNvSpPr txBox="1"/>
          <p:nvPr/>
        </p:nvSpPr>
        <p:spPr>
          <a:xfrm>
            <a:off x="933551" y="4724325"/>
            <a:ext cx="500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5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D94914C-32EB-0CA3-7FF6-11D48B77C672}"/>
              </a:ext>
            </a:extLst>
          </p:cNvPr>
          <p:cNvSpPr txBox="1"/>
          <p:nvPr/>
        </p:nvSpPr>
        <p:spPr>
          <a:xfrm>
            <a:off x="933551" y="5185676"/>
            <a:ext cx="500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6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747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E9702-4B56-D69D-2044-8BE4C20E6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9A4BF69-E3A1-CFA7-C259-1A536571B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14</a:t>
            </a:fld>
            <a:endParaRPr lang="zh-TW" altLang="en-US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A1DF1DE7-4A7B-AAD0-6B0B-A3703F56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046" y="356088"/>
            <a:ext cx="10522634" cy="1033416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Delimiter-based Segmentation (Continued.)</a:t>
            </a:r>
            <a:endParaRPr lang="zh-TW" altLang="en-US" sz="2400" dirty="0">
              <a:latin typeface="Times New Roman"/>
              <a:ea typeface="新細明體"/>
              <a:cs typeface="Calibri Light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51FEC2F-4B75-5784-1452-EA50F1C55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035" y="1845734"/>
            <a:ext cx="10402645" cy="36406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 </a:t>
            </a:r>
            <a:r>
              <a:rPr kumimoji="1" lang="zh-TW" altLang="en-US" sz="2400" dirty="0"/>
              <a:t>特別在機器翻譯任務，</a:t>
            </a:r>
            <a:r>
              <a:rPr kumimoji="1" lang="en-US" altLang="zh-TW" sz="2400" dirty="0"/>
              <a:t>source </a:t>
            </a:r>
            <a:r>
              <a:rPr kumimoji="1" lang="zh-TW" altLang="en-US" sz="2400" dirty="0"/>
              <a:t>和 </a:t>
            </a:r>
            <a:r>
              <a:rPr kumimoji="1" lang="en-US" altLang="zh-TW" sz="2400" dirty="0"/>
              <a:t>target </a:t>
            </a:r>
            <a:r>
              <a:rPr kumimoji="1" lang="zh-TW" altLang="en-US" sz="2400" dirty="0"/>
              <a:t>語言不一定 </a:t>
            </a:r>
            <a:r>
              <a:rPr kumimoji="1" lang="en-US" altLang="zh-TW" sz="2400" dirty="0"/>
              <a:t>1-to-1 </a:t>
            </a:r>
            <a:r>
              <a:rPr kumimoji="1" lang="zh-TW" altLang="en-US" sz="2400" dirty="0"/>
              <a:t>對齊</a:t>
            </a:r>
            <a:endParaRPr kumimoji="1" lang="en-US" altLang="zh-TW" sz="2400" dirty="0"/>
          </a:p>
          <a:p>
            <a:pPr lvl="1"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200" dirty="0"/>
              <a:t>target language </a:t>
            </a:r>
            <a:r>
              <a:rPr kumimoji="1" lang="zh-TW" altLang="en-US" sz="2200" dirty="0"/>
              <a:t>出現複合詞時，如果模型只用 </a:t>
            </a:r>
            <a:r>
              <a:rPr kumimoji="1" lang="en-US" altLang="zh-TW" sz="2200" dirty="0"/>
              <a:t>word-level token</a:t>
            </a:r>
            <a:r>
              <a:rPr kumimoji="1" lang="zh-TW" altLang="en-US" sz="2200" dirty="0"/>
              <a:t> 難以學到複合關係；</a:t>
            </a:r>
            <a:r>
              <a:rPr kumimoji="1" lang="zh-TW" altLang="en-US" sz="2200" dirty="0">
                <a:solidFill>
                  <a:srgbClr val="0070C0"/>
                </a:solidFill>
              </a:rPr>
              <a:t>改用 </a:t>
            </a:r>
            <a:r>
              <a:rPr kumimoji="1" lang="en-US" altLang="zh-TW" sz="2200" dirty="0" err="1">
                <a:solidFill>
                  <a:srgbClr val="0070C0"/>
                </a:solidFill>
              </a:rPr>
              <a:t>subword</a:t>
            </a:r>
            <a:r>
              <a:rPr kumimoji="1" lang="zh-TW" altLang="en-US" sz="2200" dirty="0">
                <a:solidFill>
                  <a:srgbClr val="0070C0"/>
                </a:solidFill>
              </a:rPr>
              <a:t>，模型比較能學到可重複運用的對應關係</a:t>
            </a:r>
            <a:endParaRPr kumimoji="1" lang="en-US" altLang="zh-TW" sz="22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 For example, sewage water treatment plant (English) -&gt; </a:t>
            </a:r>
            <a:r>
              <a:rPr kumimoji="1" lang="en-US" altLang="zh-TW" sz="2400" dirty="0" err="1"/>
              <a:t>Abwasserbehandlungsanlage</a:t>
            </a:r>
            <a:r>
              <a:rPr kumimoji="1" lang="en-US" altLang="zh-TW" sz="2400" dirty="0"/>
              <a:t> (German)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0006E73-1AFD-7F29-30CD-E12E7E389721}"/>
              </a:ext>
            </a:extLst>
          </p:cNvPr>
          <p:cNvSpPr txBox="1"/>
          <p:nvPr/>
        </p:nvSpPr>
        <p:spPr>
          <a:xfrm>
            <a:off x="1036320" y="4791967"/>
            <a:ext cx="155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sewage water</a:t>
            </a:r>
            <a:endParaRPr kumimoji="1"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2D26664-88E0-CA47-C4C8-D3BE2DE62E6F}"/>
              </a:ext>
            </a:extLst>
          </p:cNvPr>
          <p:cNvSpPr txBox="1"/>
          <p:nvPr/>
        </p:nvSpPr>
        <p:spPr>
          <a:xfrm>
            <a:off x="2319352" y="4807465"/>
            <a:ext cx="155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treatment</a:t>
            </a:r>
            <a:endParaRPr kumimoji="1"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D3DA3AF-FC50-D3EB-9B50-802102C19BAB}"/>
              </a:ext>
            </a:extLst>
          </p:cNvPr>
          <p:cNvSpPr txBox="1"/>
          <p:nvPr/>
        </p:nvSpPr>
        <p:spPr>
          <a:xfrm>
            <a:off x="3873832" y="4805419"/>
            <a:ext cx="155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dirty="0"/>
              <a:t>plant/facility</a:t>
            </a:r>
            <a:endParaRPr kumimoji="1" lang="zh-TW" altLang="en-US" dirty="0"/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CF4BAE6E-53D7-0312-4CA4-5E843833127E}"/>
              </a:ext>
            </a:extLst>
          </p:cNvPr>
          <p:cNvCxnSpPr>
            <a:cxnSpLocks/>
          </p:cNvCxnSpPr>
          <p:nvPr/>
        </p:nvCxnSpPr>
        <p:spPr>
          <a:xfrm>
            <a:off x="816237" y="4767384"/>
            <a:ext cx="131736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849C16AB-2C20-ABEF-A7A3-B06E913DAED6}"/>
              </a:ext>
            </a:extLst>
          </p:cNvPr>
          <p:cNvCxnSpPr>
            <a:cxnSpLocks/>
          </p:cNvCxnSpPr>
          <p:nvPr/>
        </p:nvCxnSpPr>
        <p:spPr>
          <a:xfrm>
            <a:off x="2175732" y="4767384"/>
            <a:ext cx="176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3CF5993C-F9D1-E33C-6679-9EBFFC0BA1BC}"/>
              </a:ext>
            </a:extLst>
          </p:cNvPr>
          <p:cNvCxnSpPr>
            <a:cxnSpLocks/>
          </p:cNvCxnSpPr>
          <p:nvPr/>
        </p:nvCxnSpPr>
        <p:spPr>
          <a:xfrm>
            <a:off x="4002487" y="4767384"/>
            <a:ext cx="86307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向右箭號 31">
            <a:extLst>
              <a:ext uri="{FF2B5EF4-FFF2-40B4-BE49-F238E27FC236}">
                <a16:creationId xmlns:a16="http://schemas.microsoft.com/office/drawing/2014/main" id="{AE1EFD24-4C21-4AB2-C01D-9BF2DCDC1CFB}"/>
              </a:ext>
            </a:extLst>
          </p:cNvPr>
          <p:cNvSpPr/>
          <p:nvPr/>
        </p:nvSpPr>
        <p:spPr>
          <a:xfrm>
            <a:off x="6711344" y="4656389"/>
            <a:ext cx="542441" cy="4649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6F013914-D83F-CE10-2E29-DF66F2216CAC}"/>
              </a:ext>
            </a:extLst>
          </p:cNvPr>
          <p:cNvSpPr txBox="1"/>
          <p:nvPr/>
        </p:nvSpPr>
        <p:spPr>
          <a:xfrm>
            <a:off x="7353843" y="4690669"/>
            <a:ext cx="4029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FF0000"/>
                </a:solidFill>
              </a:rPr>
              <a:t>Sub-word units are favored.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028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960D3B-4A97-4F00-ADE0-442D64957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Summary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ECB99D-79A0-3C24-DD1B-B8AF71EE8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CF0C65F-C6BA-C006-AC02-03B81963BEC1}"/>
              </a:ext>
            </a:extLst>
          </p:cNvPr>
          <p:cNvSpPr txBox="1"/>
          <p:nvPr/>
        </p:nvSpPr>
        <p:spPr>
          <a:xfrm>
            <a:off x="653143" y="1868198"/>
            <a:ext cx="10918370" cy="3910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為什麼我們需要 </a:t>
            </a:r>
            <a:r>
              <a:rPr kumimoji="1" lang="en-US" altLang="zh-TW" sz="2400" dirty="0"/>
              <a:t>Sub-word Tokenization?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為了解決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OOV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的問題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有些語言特別容易出現長單詞，例如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</a:t>
            </a:r>
            <a:r>
              <a:rPr kumimoji="1" lang="en" altLang="zh-TW" sz="2400" dirty="0" err="1">
                <a:ea typeface="Microsoft JhengHei" panose="020B0604030504040204" pitchFamily="34" charset="-120"/>
              </a:rPr>
              <a:t>Abwasserbehandlungsanlage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這種可拆式複合字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沒看過的字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(Unseen words)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擴增字典大小，如果原本字典在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30,000–50,000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個字，那如果用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Sub-word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的方式建立字典就可以在原本的字典大小範圍表達更多的字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173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D30579-4E7D-185F-97A5-789F3C15D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Common Sub-word Tokenization Algorithms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367009-F797-FAD8-B0A9-DC1EDD978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B3E6967-380C-D53C-B33B-EAF4CB16A2F5}"/>
              </a:ext>
            </a:extLst>
          </p:cNvPr>
          <p:cNvSpPr txBox="1"/>
          <p:nvPr/>
        </p:nvSpPr>
        <p:spPr>
          <a:xfrm>
            <a:off x="1280160" y="4994398"/>
            <a:ext cx="92763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[1] </a:t>
            </a:r>
            <a:r>
              <a:rPr kumimoji="1" lang="en" altLang="zh-TW" sz="1200" dirty="0" err="1"/>
              <a:t>Sennrich</a:t>
            </a:r>
            <a:r>
              <a:rPr kumimoji="1" lang="en" altLang="zh-TW" sz="1200" dirty="0"/>
              <a:t>, Rico, Barry Haddow, and Alexandra Birch. "Neural Machine Translation of Rare Words with </a:t>
            </a:r>
            <a:r>
              <a:rPr kumimoji="1" lang="en" altLang="zh-TW" sz="1200" dirty="0" err="1"/>
              <a:t>Subword</a:t>
            </a:r>
            <a:r>
              <a:rPr kumimoji="1" lang="en" altLang="zh-TW" sz="1200" dirty="0"/>
              <a:t> Units." Proceedings of the 54th Annual Meeting of the Association for Computational Linguistics (ACL), 2016.</a:t>
            </a:r>
          </a:p>
          <a:p>
            <a:r>
              <a:rPr kumimoji="1" lang="en" altLang="zh-TW" sz="1200" dirty="0"/>
              <a:t>[2] Schuster, Mike, and </a:t>
            </a:r>
            <a:r>
              <a:rPr kumimoji="1" lang="en" altLang="zh-TW" sz="1200" dirty="0" err="1"/>
              <a:t>Kaisuke</a:t>
            </a:r>
            <a:r>
              <a:rPr kumimoji="1" lang="en" altLang="zh-TW" sz="1200" dirty="0"/>
              <a:t> Nakajima. "Japanese and </a:t>
            </a:r>
            <a:r>
              <a:rPr kumimoji="1" lang="en" altLang="zh-TW" sz="1200" dirty="0" err="1"/>
              <a:t>korean</a:t>
            </a:r>
            <a:r>
              <a:rPr kumimoji="1" lang="en" altLang="zh-TW" sz="1200" dirty="0"/>
              <a:t> voice search." 2012 IEEE international conference on acoustics, speech and signal processing (ICASSP). IEEE, 2012.</a:t>
            </a:r>
          </a:p>
          <a:p>
            <a:r>
              <a:rPr kumimoji="1" lang="en" altLang="zh-TW" sz="1200" dirty="0"/>
              <a:t>[3] Kudo, </a:t>
            </a:r>
            <a:r>
              <a:rPr kumimoji="1" lang="en" altLang="zh-TW" sz="1200" dirty="0" err="1"/>
              <a:t>Taku</a:t>
            </a:r>
            <a:r>
              <a:rPr kumimoji="1" lang="en" altLang="zh-TW" sz="1200" dirty="0"/>
              <a:t>. "</a:t>
            </a:r>
            <a:r>
              <a:rPr kumimoji="1" lang="en" altLang="zh-TW" sz="1200" dirty="0" err="1"/>
              <a:t>Subword</a:t>
            </a:r>
            <a:r>
              <a:rPr kumimoji="1" lang="en" altLang="zh-TW" sz="1200" dirty="0"/>
              <a:t> Regularization: Improving Neural Network Translation Models with Multiple </a:t>
            </a:r>
            <a:r>
              <a:rPr kumimoji="1" lang="en" altLang="zh-TW" sz="1200" dirty="0" err="1"/>
              <a:t>Subword</a:t>
            </a:r>
            <a:r>
              <a:rPr kumimoji="1" lang="en" altLang="zh-TW" sz="1200" dirty="0"/>
              <a:t> Candidates." Proceedings of the 56th Annual Meeting of the Association for Computational Linguistics (ACL). 2018.</a:t>
            </a:r>
            <a:endParaRPr kumimoji="1" lang="zh-TW" altLang="en-US" sz="12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46C6FBC-68AC-BAD5-F6F3-9D0AED341E76}"/>
              </a:ext>
            </a:extLst>
          </p:cNvPr>
          <p:cNvSpPr txBox="1"/>
          <p:nvPr/>
        </p:nvSpPr>
        <p:spPr>
          <a:xfrm>
            <a:off x="653143" y="1868198"/>
            <a:ext cx="10918370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</a:rPr>
              <a:t>Byte Pair Encoding (</a:t>
            </a:r>
            <a:r>
              <a:rPr kumimoji="1" lang="en" altLang="zh-TW" sz="2400" dirty="0" err="1">
                <a:ea typeface="Microsoft JhengHei" panose="020B0604030504040204" pitchFamily="34" charset="-120"/>
              </a:rPr>
              <a:t>Sennrich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 et al., 2016)</a:t>
            </a:r>
            <a:r>
              <a:rPr kumimoji="1" lang="en" altLang="zh-TW" sz="2400" baseline="30000" dirty="0">
                <a:ea typeface="Microsoft JhengHei" panose="020B0604030504040204" pitchFamily="34" charset="-120"/>
              </a:rPr>
              <a:t>[1]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 err="1">
                <a:ea typeface="Microsoft JhengHei" panose="020B0604030504040204" pitchFamily="34" charset="-120"/>
              </a:rPr>
              <a:t>WordPiece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 (Schuster and Nakajima, 2012)</a:t>
            </a:r>
            <a:r>
              <a:rPr kumimoji="1" lang="en" altLang="zh-TW" sz="2400" baseline="30000" dirty="0">
                <a:ea typeface="Microsoft JhengHei" panose="020B0604030504040204" pitchFamily="34" charset="-120"/>
              </a:rPr>
              <a:t>[2]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</a:rPr>
              <a:t>Unigram Language Model (Kudo, 2018)</a:t>
            </a:r>
            <a:r>
              <a:rPr kumimoji="1" lang="en" altLang="zh-TW" sz="2400" baseline="30000" dirty="0">
                <a:ea typeface="Microsoft JhengHei" panose="020B0604030504040204" pitchFamily="34" charset="-120"/>
              </a:rPr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3132523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17</a:t>
            </a:fld>
            <a:endParaRPr lang="zh-TW" altLang="en-US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48A7588B-B0B2-7411-9D52-1DF0EDC27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400" y="356088"/>
            <a:ext cx="10058400" cy="1033416"/>
          </a:xfrm>
        </p:spPr>
        <p:txBody>
          <a:bodyPr/>
          <a:lstStyle/>
          <a:p>
            <a:r>
              <a:rPr lang="en-US" altLang="zh-TW" dirty="0">
                <a:ea typeface="新細明體"/>
                <a:cs typeface="Calibri Light"/>
              </a:rPr>
              <a:t>Sub-word Tokenization (1)</a:t>
            </a:r>
            <a:endParaRPr lang="zh-TW" altLang="en-US" sz="2400" dirty="0">
              <a:ea typeface="新細明體"/>
              <a:cs typeface="Calibri Light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AE5E23E-1E1F-3A47-7CA1-2E500F47E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400" y="1584820"/>
            <a:ext cx="9997439" cy="14432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600" dirty="0"/>
              <a:t> Given a training corpus, we first turn each word into </a:t>
            </a:r>
            <a:r>
              <a:rPr kumimoji="1" lang="en-US" altLang="zh-TW" sz="2600" dirty="0">
                <a:solidFill>
                  <a:srgbClr val="FF0000"/>
                </a:solidFill>
              </a:rPr>
              <a:t>a sequence of characters </a:t>
            </a:r>
            <a:r>
              <a:rPr kumimoji="1" lang="en-US" altLang="zh-TW" sz="2600" dirty="0"/>
              <a:t>(separated by </a:t>
            </a:r>
            <a:r>
              <a:rPr kumimoji="1" lang="en-US" altLang="zh-TW" sz="2600" dirty="0">
                <a:solidFill>
                  <a:srgbClr val="FF0000"/>
                </a:solidFill>
              </a:rPr>
              <a:t>spaces</a:t>
            </a:r>
            <a:r>
              <a:rPr kumimoji="1" lang="en-US" altLang="zh-TW" sz="2600" dirty="0"/>
              <a:t>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04B5B4-2CD1-88C5-2321-D680AF125440}"/>
              </a:ext>
            </a:extLst>
          </p:cNvPr>
          <p:cNvSpPr/>
          <p:nvPr/>
        </p:nvSpPr>
        <p:spPr>
          <a:xfrm>
            <a:off x="1097280" y="3646671"/>
            <a:ext cx="5554980" cy="868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TW" dirty="0">
                <a:solidFill>
                  <a:schemeClr val="tx1"/>
                </a:solidFill>
              </a:rPr>
              <a:t>low low low low low lower lower newest newest newest newest newest newest widest widest widest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12" name="表格 13">
            <a:extLst>
              <a:ext uri="{FF2B5EF4-FFF2-40B4-BE49-F238E27FC236}">
                <a16:creationId xmlns:a16="http://schemas.microsoft.com/office/drawing/2014/main" id="{CBDAAF26-0372-BCF3-F6DE-C668E9324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678999"/>
              </p:ext>
            </p:extLst>
          </p:nvPr>
        </p:nvGraphicFramePr>
        <p:xfrm>
          <a:off x="7698204" y="3220452"/>
          <a:ext cx="3537145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022">
                  <a:extLst>
                    <a:ext uri="{9D8B030D-6E8A-4147-A177-3AD203B41FA5}">
                      <a16:colId xmlns:a16="http://schemas.microsoft.com/office/drawing/2014/main" val="299152187"/>
                    </a:ext>
                  </a:extLst>
                </a:gridCol>
                <a:gridCol w="1499123">
                  <a:extLst>
                    <a:ext uri="{9D8B030D-6E8A-4147-A177-3AD203B41FA5}">
                      <a16:colId xmlns:a16="http://schemas.microsoft.com/office/drawing/2014/main" val="626042458"/>
                    </a:ext>
                  </a:extLst>
                </a:gridCol>
              </a:tblGrid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Word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410158"/>
                  </a:ext>
                </a:extLst>
              </a:tr>
              <a:tr h="302338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72698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e r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67199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n e w e s t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810822"/>
                  </a:ext>
                </a:extLst>
              </a:tr>
              <a:tr h="184072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 </a:t>
                      </a:r>
                      <a:r>
                        <a:rPr lang="en-US" altLang="zh-TW" sz="20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 d e s t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135537"/>
                  </a:ext>
                </a:extLst>
              </a:tr>
            </a:tbl>
          </a:graphicData>
        </a:graphic>
      </p:graphicFrame>
      <p:sp>
        <p:nvSpPr>
          <p:cNvPr id="13" name="向右箭號 12">
            <a:extLst>
              <a:ext uri="{FF2B5EF4-FFF2-40B4-BE49-F238E27FC236}">
                <a16:creationId xmlns:a16="http://schemas.microsoft.com/office/drawing/2014/main" id="{2372D6A0-C695-4EB4-D3E1-9A9DF992C9B1}"/>
              </a:ext>
            </a:extLst>
          </p:cNvPr>
          <p:cNvSpPr/>
          <p:nvPr/>
        </p:nvSpPr>
        <p:spPr>
          <a:xfrm>
            <a:off x="6958063" y="3937702"/>
            <a:ext cx="434340" cy="358947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CC559A4-6395-559B-7C82-8EA08609F05A}"/>
              </a:ext>
            </a:extLst>
          </p:cNvPr>
          <p:cNvSpPr txBox="1"/>
          <p:nvPr/>
        </p:nvSpPr>
        <p:spPr>
          <a:xfrm>
            <a:off x="2857500" y="3206085"/>
            <a:ext cx="20345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Training corpus</a:t>
            </a:r>
            <a:endParaRPr kumimoji="1" lang="zh-TW" altLang="en-US" sz="2000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2E3FF4EA-D0F0-F3A4-6333-27862578FFFC}"/>
              </a:ext>
            </a:extLst>
          </p:cNvPr>
          <p:cNvSpPr txBox="1">
            <a:spLocks/>
          </p:cNvSpPr>
          <p:nvPr/>
        </p:nvSpPr>
        <p:spPr>
          <a:xfrm>
            <a:off x="1097280" y="4832238"/>
            <a:ext cx="5860783" cy="189187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 </a:t>
            </a:r>
            <a:r>
              <a:rPr kumimoji="1" lang="en-US" altLang="zh-TW" sz="2400" dirty="0">
                <a:solidFill>
                  <a:srgbClr val="0070C0"/>
                </a:solidFill>
              </a:rPr>
              <a:t>&lt;/w&gt; </a:t>
            </a:r>
            <a:r>
              <a:rPr kumimoji="1" lang="en-US" altLang="zh-TW" sz="2400" dirty="0"/>
              <a:t>is a special </a:t>
            </a:r>
            <a:r>
              <a:rPr kumimoji="1" lang="en-US" altLang="zh-TW" sz="2400" dirty="0">
                <a:solidFill>
                  <a:srgbClr val="FF0000"/>
                </a:solidFill>
              </a:rPr>
              <a:t>end-of-word</a:t>
            </a:r>
            <a:r>
              <a:rPr kumimoji="1" lang="en-US" altLang="zh-TW" sz="2400" dirty="0"/>
              <a:t> symbol, allowing us to restore the original tokenization.</a:t>
            </a:r>
          </a:p>
        </p:txBody>
      </p:sp>
    </p:spTree>
    <p:extLst>
      <p:ext uri="{BB962C8B-B14F-4D97-AF65-F5344CB8AC3E}">
        <p14:creationId xmlns:p14="http://schemas.microsoft.com/office/powerpoint/2010/main" val="257157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18</a:t>
            </a:fld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AE5E23E-1E1F-3A47-7CA1-2E500F47E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8403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600" dirty="0"/>
              <a:t> Initialize the vocabulary with the existing characters: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04B5B4-2CD1-88C5-2321-D680AF125440}"/>
              </a:ext>
            </a:extLst>
          </p:cNvPr>
          <p:cNvSpPr/>
          <p:nvPr/>
        </p:nvSpPr>
        <p:spPr>
          <a:xfrm>
            <a:off x="1097280" y="3349491"/>
            <a:ext cx="5554980" cy="868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TW" dirty="0">
                <a:solidFill>
                  <a:schemeClr val="tx1"/>
                </a:solidFill>
              </a:rPr>
              <a:t>low low low low low lower lower newest newest newest newest newest newest widest widest widest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向右箭號 12">
            <a:extLst>
              <a:ext uri="{FF2B5EF4-FFF2-40B4-BE49-F238E27FC236}">
                <a16:creationId xmlns:a16="http://schemas.microsoft.com/office/drawing/2014/main" id="{2372D6A0-C695-4EB4-D3E1-9A9DF992C9B1}"/>
              </a:ext>
            </a:extLst>
          </p:cNvPr>
          <p:cNvSpPr/>
          <p:nvPr/>
        </p:nvSpPr>
        <p:spPr>
          <a:xfrm rot="5400000">
            <a:off x="3657599" y="4450178"/>
            <a:ext cx="434340" cy="358947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A342BD5-DDC4-3956-B13B-90B8E3DB594F}"/>
              </a:ext>
            </a:extLst>
          </p:cNvPr>
          <p:cNvSpPr txBox="1"/>
          <p:nvPr/>
        </p:nvSpPr>
        <p:spPr>
          <a:xfrm>
            <a:off x="1097281" y="4988719"/>
            <a:ext cx="5690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Initial vocab: </a:t>
            </a:r>
            <a:r>
              <a:rPr kumimoji="1" lang="en-US" altLang="zh-TW" sz="2400" dirty="0">
                <a:solidFill>
                  <a:srgbClr val="0070C0"/>
                </a:solidFill>
              </a:rPr>
              <a:t>&lt;/w&gt;</a:t>
            </a:r>
            <a:r>
              <a:rPr kumimoji="1" lang="en-US" altLang="zh-TW" sz="2400" dirty="0"/>
              <a:t>, d, e, </a:t>
            </a:r>
            <a:r>
              <a:rPr kumimoji="1" lang="en-US" altLang="zh-TW" sz="2400" dirty="0" err="1"/>
              <a:t>i</a:t>
            </a:r>
            <a:r>
              <a:rPr kumimoji="1" lang="en-US" altLang="zh-TW" sz="2400" dirty="0"/>
              <a:t>, l, n, o, r, s, t, w</a:t>
            </a:r>
            <a:endParaRPr kumimoji="1" lang="zh-TW" altLang="en-US" sz="2400" dirty="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9AA498D4-6BD0-BE2F-BFD0-8D60AC9BD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400" y="356088"/>
            <a:ext cx="10058400" cy="1033416"/>
          </a:xfrm>
        </p:spPr>
        <p:txBody>
          <a:bodyPr/>
          <a:lstStyle/>
          <a:p>
            <a:r>
              <a:rPr lang="en-US" altLang="zh-TW" dirty="0">
                <a:ea typeface="新細明體"/>
                <a:cs typeface="Calibri Light"/>
              </a:rPr>
              <a:t>Sub-word Tokenization (1)</a:t>
            </a:r>
            <a:endParaRPr lang="zh-TW" altLang="en-US" sz="2400" dirty="0">
              <a:ea typeface="新細明體"/>
              <a:cs typeface="Calibri Light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52177BE-D41F-012A-922D-87B3C8493DCA}"/>
              </a:ext>
            </a:extLst>
          </p:cNvPr>
          <p:cNvSpPr txBox="1"/>
          <p:nvPr/>
        </p:nvSpPr>
        <p:spPr>
          <a:xfrm>
            <a:off x="3695295" y="5400144"/>
            <a:ext cx="1728316" cy="504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逗號不算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49192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19</a:t>
            </a:fld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AE5E23E-1E1F-3A47-7CA1-2E500F47E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92008"/>
            <a:ext cx="10058400" cy="8403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600" dirty="0"/>
              <a:t> Find the character </a:t>
            </a:r>
            <a:r>
              <a:rPr kumimoji="1" lang="en-US" altLang="zh-TW" sz="2600" b="1" dirty="0">
                <a:solidFill>
                  <a:srgbClr val="FF0000"/>
                </a:solidFill>
              </a:rPr>
              <a:t>pair</a:t>
            </a:r>
            <a:r>
              <a:rPr kumimoji="1" lang="en-US" altLang="zh-TW" sz="2600" dirty="0"/>
              <a:t> with the highest frequency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A342BD5-DDC4-3956-B13B-90B8E3DB594F}"/>
              </a:ext>
            </a:extLst>
          </p:cNvPr>
          <p:cNvSpPr txBox="1"/>
          <p:nvPr/>
        </p:nvSpPr>
        <p:spPr>
          <a:xfrm>
            <a:off x="1224011" y="5323184"/>
            <a:ext cx="6913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Current Vocabulary: </a:t>
            </a:r>
            <a:r>
              <a:rPr kumimoji="1" lang="en-US" altLang="zh-TW" sz="2400" dirty="0">
                <a:solidFill>
                  <a:srgbClr val="0070C0"/>
                </a:solidFill>
              </a:rPr>
              <a:t>&lt;/w&gt;</a:t>
            </a:r>
            <a:r>
              <a:rPr kumimoji="1" lang="en-US" altLang="zh-TW" sz="2400" dirty="0"/>
              <a:t>, d, e, </a:t>
            </a:r>
            <a:r>
              <a:rPr kumimoji="1" lang="en-US" altLang="zh-TW" sz="2400" dirty="0" err="1"/>
              <a:t>i</a:t>
            </a:r>
            <a:r>
              <a:rPr kumimoji="1" lang="en-US" altLang="zh-TW" sz="2400" dirty="0"/>
              <a:t>, l, n, o, r, s, t, w</a:t>
            </a:r>
            <a:endParaRPr kumimoji="1" lang="zh-TW" altLang="en-US" sz="2400" dirty="0"/>
          </a:p>
        </p:txBody>
      </p:sp>
      <p:graphicFrame>
        <p:nvGraphicFramePr>
          <p:cNvPr id="8" name="表格 13">
            <a:extLst>
              <a:ext uri="{FF2B5EF4-FFF2-40B4-BE49-F238E27FC236}">
                <a16:creationId xmlns:a16="http://schemas.microsoft.com/office/drawing/2014/main" id="{CBB42C6D-7C61-FDA9-5D84-3C154EDCD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994912"/>
              </p:ext>
            </p:extLst>
          </p:nvPr>
        </p:nvGraphicFramePr>
        <p:xfrm>
          <a:off x="1240255" y="2476339"/>
          <a:ext cx="3566637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015">
                  <a:extLst>
                    <a:ext uri="{9D8B030D-6E8A-4147-A177-3AD203B41FA5}">
                      <a16:colId xmlns:a16="http://schemas.microsoft.com/office/drawing/2014/main" val="299152187"/>
                    </a:ext>
                  </a:extLst>
                </a:gridCol>
                <a:gridCol w="1511622">
                  <a:extLst>
                    <a:ext uri="{9D8B030D-6E8A-4147-A177-3AD203B41FA5}">
                      <a16:colId xmlns:a16="http://schemas.microsoft.com/office/drawing/2014/main" val="626042458"/>
                    </a:ext>
                  </a:extLst>
                </a:gridCol>
              </a:tblGrid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Word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410158"/>
                  </a:ext>
                </a:extLst>
              </a:tr>
              <a:tr h="302338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72698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e r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67199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n e w e s t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810822"/>
                  </a:ext>
                </a:extLst>
              </a:tr>
              <a:tr h="184072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 </a:t>
                      </a:r>
                      <a:r>
                        <a:rPr lang="en-US" altLang="zh-TW" sz="20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 d e s t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135537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93D2CCBB-5A99-70E1-BFC9-2D8BCD3C3BC6}"/>
              </a:ext>
            </a:extLst>
          </p:cNvPr>
          <p:cNvSpPr/>
          <p:nvPr/>
        </p:nvSpPr>
        <p:spPr>
          <a:xfrm>
            <a:off x="1998782" y="3741579"/>
            <a:ext cx="358524" cy="2945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5239FF-1462-0713-52CE-D2F3CA12FAB1}"/>
              </a:ext>
            </a:extLst>
          </p:cNvPr>
          <p:cNvSpPr/>
          <p:nvPr/>
        </p:nvSpPr>
        <p:spPr>
          <a:xfrm>
            <a:off x="1905035" y="4130604"/>
            <a:ext cx="358524" cy="2945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B4E8D6D-35BD-3ACB-7EA5-1B49EF382CAD}"/>
              </a:ext>
            </a:extLst>
          </p:cNvPr>
          <p:cNvSpPr txBox="1"/>
          <p:nvPr/>
        </p:nvSpPr>
        <p:spPr>
          <a:xfrm>
            <a:off x="4914899" y="3798802"/>
            <a:ext cx="6025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FF0000"/>
                </a:solidFill>
              </a:rPr>
              <a:t>Found “e s” with the highest frequency 6+3=9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1FF48755-3013-099E-1FCD-EE753A009D71}"/>
              </a:ext>
            </a:extLst>
          </p:cNvPr>
          <p:cNvCxnSpPr/>
          <p:nvPr/>
        </p:nvCxnSpPr>
        <p:spPr>
          <a:xfrm>
            <a:off x="1097280" y="4781725"/>
            <a:ext cx="10058400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1">
            <a:extLst>
              <a:ext uri="{FF2B5EF4-FFF2-40B4-BE49-F238E27FC236}">
                <a16:creationId xmlns:a16="http://schemas.microsoft.com/office/drawing/2014/main" id="{CE8E9C35-BD83-6B5C-A8BB-F87E92658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400" y="356088"/>
            <a:ext cx="10058400" cy="1033416"/>
          </a:xfrm>
        </p:spPr>
        <p:txBody>
          <a:bodyPr/>
          <a:lstStyle/>
          <a:p>
            <a:r>
              <a:rPr lang="en-US" altLang="zh-TW" dirty="0">
                <a:ea typeface="新細明體"/>
                <a:cs typeface="Calibri Light"/>
              </a:rPr>
              <a:t>Sub-word Tokenization (2)</a:t>
            </a:r>
            <a:endParaRPr lang="zh-TW" altLang="en-US" sz="2400" dirty="0">
              <a:ea typeface="新細明體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85976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20</a:t>
            </a:fld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AE5E23E-1E1F-3A47-7CA1-2E500F47E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92008"/>
            <a:ext cx="10058400" cy="8403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600" dirty="0"/>
              <a:t> Add the pair with the highest frequency to the vocab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A342BD5-DDC4-3956-B13B-90B8E3DB594F}"/>
              </a:ext>
            </a:extLst>
          </p:cNvPr>
          <p:cNvSpPr txBox="1"/>
          <p:nvPr/>
        </p:nvSpPr>
        <p:spPr>
          <a:xfrm>
            <a:off x="1224011" y="5323184"/>
            <a:ext cx="74502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Current Vocabulary: </a:t>
            </a:r>
            <a:r>
              <a:rPr kumimoji="1" lang="en-US" altLang="zh-TW" sz="2400" dirty="0">
                <a:solidFill>
                  <a:srgbClr val="0070C0"/>
                </a:solidFill>
              </a:rPr>
              <a:t>&lt;/w&gt;</a:t>
            </a:r>
            <a:r>
              <a:rPr kumimoji="1" lang="en-US" altLang="zh-TW" sz="2400" dirty="0"/>
              <a:t>, d, e, </a:t>
            </a:r>
            <a:r>
              <a:rPr kumimoji="1" lang="en-US" altLang="zh-TW" sz="2400" dirty="0" err="1"/>
              <a:t>i</a:t>
            </a:r>
            <a:r>
              <a:rPr kumimoji="1" lang="en-US" altLang="zh-TW" sz="2400" dirty="0"/>
              <a:t>, l, n, o, r, s, t, w, </a:t>
            </a:r>
            <a:r>
              <a:rPr kumimoji="1" lang="en-US" altLang="zh-TW" sz="2400" dirty="0">
                <a:solidFill>
                  <a:srgbClr val="FF0000"/>
                </a:solidFill>
              </a:rPr>
              <a:t>es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ED23A911-049D-04B5-4BDA-07EA3747B1F9}"/>
              </a:ext>
            </a:extLst>
          </p:cNvPr>
          <p:cNvCxnSpPr/>
          <p:nvPr/>
        </p:nvCxnSpPr>
        <p:spPr>
          <a:xfrm>
            <a:off x="1097280" y="4781725"/>
            <a:ext cx="10058400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肘形接點 3">
            <a:extLst>
              <a:ext uri="{FF2B5EF4-FFF2-40B4-BE49-F238E27FC236}">
                <a16:creationId xmlns:a16="http://schemas.microsoft.com/office/drawing/2014/main" id="{4B6034F0-F9D2-3E93-5BF5-F403FC61315D}"/>
              </a:ext>
            </a:extLst>
          </p:cNvPr>
          <p:cNvCxnSpPr>
            <a:cxnSpLocks/>
            <a:stCxn id="22" idx="3"/>
            <a:endCxn id="19" idx="0"/>
          </p:cNvCxnSpPr>
          <p:nvPr/>
        </p:nvCxnSpPr>
        <p:spPr>
          <a:xfrm>
            <a:off x="4850305" y="4056035"/>
            <a:ext cx="3236682" cy="1347945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表格 13">
            <a:extLst>
              <a:ext uri="{FF2B5EF4-FFF2-40B4-BE49-F238E27FC236}">
                <a16:creationId xmlns:a16="http://schemas.microsoft.com/office/drawing/2014/main" id="{0FEE244D-CEB7-48FB-5ACB-0C8606D78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637995"/>
              </p:ext>
            </p:extLst>
          </p:nvPr>
        </p:nvGraphicFramePr>
        <p:xfrm>
          <a:off x="1240255" y="2476339"/>
          <a:ext cx="3566637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015">
                  <a:extLst>
                    <a:ext uri="{9D8B030D-6E8A-4147-A177-3AD203B41FA5}">
                      <a16:colId xmlns:a16="http://schemas.microsoft.com/office/drawing/2014/main" val="299152187"/>
                    </a:ext>
                  </a:extLst>
                </a:gridCol>
                <a:gridCol w="1511622">
                  <a:extLst>
                    <a:ext uri="{9D8B030D-6E8A-4147-A177-3AD203B41FA5}">
                      <a16:colId xmlns:a16="http://schemas.microsoft.com/office/drawing/2014/main" val="626042458"/>
                    </a:ext>
                  </a:extLst>
                </a:gridCol>
              </a:tblGrid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Word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410158"/>
                  </a:ext>
                </a:extLst>
              </a:tr>
              <a:tr h="302338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72698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e r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67199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n e w e s t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810822"/>
                  </a:ext>
                </a:extLst>
              </a:tr>
              <a:tr h="184072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 </a:t>
                      </a:r>
                      <a:r>
                        <a:rPr lang="en-US" altLang="zh-TW" sz="20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 d e s t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135537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E855ED9C-31F3-7ED1-CBF2-74E65BFE652B}"/>
              </a:ext>
            </a:extLst>
          </p:cNvPr>
          <p:cNvSpPr/>
          <p:nvPr/>
        </p:nvSpPr>
        <p:spPr>
          <a:xfrm>
            <a:off x="1998782" y="3741579"/>
            <a:ext cx="358524" cy="2945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346CE8-2956-B9E1-147B-DC57678234D7}"/>
              </a:ext>
            </a:extLst>
          </p:cNvPr>
          <p:cNvSpPr/>
          <p:nvPr/>
        </p:nvSpPr>
        <p:spPr>
          <a:xfrm>
            <a:off x="1905035" y="4130604"/>
            <a:ext cx="358524" cy="2945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EC23152-1762-D80F-E614-6C13A12ACDDA}"/>
              </a:ext>
            </a:extLst>
          </p:cNvPr>
          <p:cNvSpPr txBox="1"/>
          <p:nvPr/>
        </p:nvSpPr>
        <p:spPr>
          <a:xfrm>
            <a:off x="7789177" y="5403980"/>
            <a:ext cx="595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CB3CD2A-A1D1-C3AC-A392-CF72AD43A85C}"/>
              </a:ext>
            </a:extLst>
          </p:cNvPr>
          <p:cNvSpPr txBox="1"/>
          <p:nvPr/>
        </p:nvSpPr>
        <p:spPr>
          <a:xfrm>
            <a:off x="4254686" y="3871369"/>
            <a:ext cx="595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28" name="標題 1">
            <a:extLst>
              <a:ext uri="{FF2B5EF4-FFF2-40B4-BE49-F238E27FC236}">
                <a16:creationId xmlns:a16="http://schemas.microsoft.com/office/drawing/2014/main" id="{7237EB6A-4AAF-3066-9599-7C23317F3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400" y="356088"/>
            <a:ext cx="10058400" cy="1033416"/>
          </a:xfrm>
        </p:spPr>
        <p:txBody>
          <a:bodyPr/>
          <a:lstStyle/>
          <a:p>
            <a:r>
              <a:rPr lang="en-US" altLang="zh-TW" dirty="0">
                <a:ea typeface="新細明體"/>
                <a:cs typeface="Calibri Light"/>
              </a:rPr>
              <a:t>Sub-word Tokenization (3)</a:t>
            </a:r>
            <a:endParaRPr lang="zh-TW" altLang="en-US" sz="2400" dirty="0">
              <a:ea typeface="新細明體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453027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21</a:t>
            </a:fld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A342BD5-DDC4-3956-B13B-90B8E3DB594F}"/>
              </a:ext>
            </a:extLst>
          </p:cNvPr>
          <p:cNvSpPr txBox="1"/>
          <p:nvPr/>
        </p:nvSpPr>
        <p:spPr>
          <a:xfrm>
            <a:off x="1224011" y="5281239"/>
            <a:ext cx="7894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Current Vocabulary: </a:t>
            </a:r>
            <a:r>
              <a:rPr kumimoji="1" lang="en-US" altLang="zh-TW" sz="2400" dirty="0">
                <a:solidFill>
                  <a:srgbClr val="0070C0"/>
                </a:solidFill>
              </a:rPr>
              <a:t>&lt;/w&gt;</a:t>
            </a:r>
            <a:r>
              <a:rPr kumimoji="1" lang="en-US" altLang="zh-TW" sz="2400" dirty="0"/>
              <a:t>, d, e, </a:t>
            </a:r>
            <a:r>
              <a:rPr kumimoji="1" lang="en-US" altLang="zh-TW" sz="2400" dirty="0" err="1"/>
              <a:t>i</a:t>
            </a:r>
            <a:r>
              <a:rPr kumimoji="1" lang="en-US" altLang="zh-TW" sz="2400" dirty="0"/>
              <a:t>, l, n, o, r, s, t, w, </a:t>
            </a:r>
            <a:r>
              <a:rPr kumimoji="1" lang="en-US" altLang="zh-TW" sz="2400" dirty="0">
                <a:solidFill>
                  <a:srgbClr val="FF0000"/>
                </a:solidFill>
              </a:rPr>
              <a:t>es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E6F7506F-449C-7499-F845-3B4F9F8F6480}"/>
              </a:ext>
            </a:extLst>
          </p:cNvPr>
          <p:cNvCxnSpPr/>
          <p:nvPr/>
        </p:nvCxnSpPr>
        <p:spPr>
          <a:xfrm>
            <a:off x="1097280" y="4781725"/>
            <a:ext cx="10058400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B704230E-DAA4-49BC-6540-85567C227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401" y="1426297"/>
            <a:ext cx="10779128" cy="103340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600" dirty="0"/>
              <a:t> </a:t>
            </a:r>
            <a:r>
              <a:rPr kumimoji="1" lang="en-US" altLang="zh-TW" sz="2600" dirty="0">
                <a:solidFill>
                  <a:srgbClr val="FF0000"/>
                </a:solidFill>
              </a:rPr>
              <a:t>Merge</a:t>
            </a:r>
            <a:r>
              <a:rPr kumimoji="1" lang="en-US" altLang="zh-TW" sz="2600" dirty="0"/>
              <a:t> the characters by replacing all words in the corpus with </a:t>
            </a:r>
            <a:r>
              <a:rPr kumimoji="1" lang="en-US" altLang="zh-TW" sz="2600" dirty="0">
                <a:solidFill>
                  <a:srgbClr val="FF0000"/>
                </a:solidFill>
              </a:rPr>
              <a:t>the newly added pair</a:t>
            </a:r>
            <a:r>
              <a:rPr kumimoji="1" lang="en-US" altLang="zh-TW" sz="2600" dirty="0">
                <a:solidFill>
                  <a:schemeClr val="tx1"/>
                </a:solidFill>
              </a:rPr>
              <a:t>.</a:t>
            </a:r>
          </a:p>
        </p:txBody>
      </p:sp>
      <p:graphicFrame>
        <p:nvGraphicFramePr>
          <p:cNvPr id="4" name="表格 13">
            <a:extLst>
              <a:ext uri="{FF2B5EF4-FFF2-40B4-BE49-F238E27FC236}">
                <a16:creationId xmlns:a16="http://schemas.microsoft.com/office/drawing/2014/main" id="{20C202B9-A25F-6163-2783-04706533A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4258"/>
              </p:ext>
            </p:extLst>
          </p:nvPr>
        </p:nvGraphicFramePr>
        <p:xfrm>
          <a:off x="1240255" y="2476339"/>
          <a:ext cx="3566637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015">
                  <a:extLst>
                    <a:ext uri="{9D8B030D-6E8A-4147-A177-3AD203B41FA5}">
                      <a16:colId xmlns:a16="http://schemas.microsoft.com/office/drawing/2014/main" val="299152187"/>
                    </a:ext>
                  </a:extLst>
                </a:gridCol>
                <a:gridCol w="1511622">
                  <a:extLst>
                    <a:ext uri="{9D8B030D-6E8A-4147-A177-3AD203B41FA5}">
                      <a16:colId xmlns:a16="http://schemas.microsoft.com/office/drawing/2014/main" val="626042458"/>
                    </a:ext>
                  </a:extLst>
                </a:gridCol>
              </a:tblGrid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Word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410158"/>
                  </a:ext>
                </a:extLst>
              </a:tr>
              <a:tr h="302338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72698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e r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67199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n e w </a:t>
                      </a:r>
                      <a:r>
                        <a:rPr lang="en-US" altLang="zh-TW" sz="2000" b="1" dirty="0">
                          <a:solidFill>
                            <a:srgbClr val="FF0000"/>
                          </a:solidFill>
                        </a:rPr>
                        <a:t>es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 t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810822"/>
                  </a:ext>
                </a:extLst>
              </a:tr>
              <a:tr h="184072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 </a:t>
                      </a:r>
                      <a:r>
                        <a:rPr lang="en-US" altLang="zh-TW" sz="20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 d </a:t>
                      </a:r>
                      <a:r>
                        <a:rPr lang="en-US" altLang="zh-TW" sz="2000" b="1" dirty="0">
                          <a:solidFill>
                            <a:srgbClr val="FF0000"/>
                          </a:solidFill>
                        </a:rPr>
                        <a:t>es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 t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135537"/>
                  </a:ext>
                </a:extLst>
              </a:tr>
            </a:tbl>
          </a:graphicData>
        </a:graphic>
      </p:graphicFrame>
      <p:sp>
        <p:nvSpPr>
          <p:cNvPr id="10" name="標題 1">
            <a:extLst>
              <a:ext uri="{FF2B5EF4-FFF2-40B4-BE49-F238E27FC236}">
                <a16:creationId xmlns:a16="http://schemas.microsoft.com/office/drawing/2014/main" id="{58D078F0-DDD7-8D15-F549-D68C6A819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400" y="356088"/>
            <a:ext cx="10058400" cy="1033416"/>
          </a:xfrm>
        </p:spPr>
        <p:txBody>
          <a:bodyPr/>
          <a:lstStyle/>
          <a:p>
            <a:r>
              <a:rPr lang="en-US" altLang="zh-TW" dirty="0">
                <a:ea typeface="新細明體"/>
                <a:cs typeface="Calibri Light"/>
              </a:rPr>
              <a:t>Sub-word Tokenization (4)</a:t>
            </a:r>
            <a:endParaRPr lang="zh-TW" altLang="en-US" sz="2400" dirty="0">
              <a:ea typeface="新細明體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512604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22</a:t>
            </a:fld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AE5E23E-1E1F-3A47-7CA1-2E500F47E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400" y="1512763"/>
            <a:ext cx="10058400" cy="8403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600" dirty="0"/>
              <a:t> Find the character </a:t>
            </a:r>
            <a:r>
              <a:rPr kumimoji="1" lang="en-US" altLang="zh-TW" sz="2600" b="1" dirty="0">
                <a:solidFill>
                  <a:srgbClr val="FF0000"/>
                </a:solidFill>
              </a:rPr>
              <a:t>pair</a:t>
            </a:r>
            <a:r>
              <a:rPr kumimoji="1" lang="en-US" altLang="zh-TW" sz="2600" dirty="0"/>
              <a:t> with the highest frequency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B4E8D6D-35BD-3ACB-7EA5-1B49EF382CAD}"/>
              </a:ext>
            </a:extLst>
          </p:cNvPr>
          <p:cNvSpPr txBox="1"/>
          <p:nvPr/>
        </p:nvSpPr>
        <p:spPr>
          <a:xfrm>
            <a:off x="4914899" y="3664578"/>
            <a:ext cx="6025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FF0000"/>
                </a:solidFill>
              </a:rPr>
              <a:t>Found “es t” with the highest frequency 6+3=9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12E0A2-8D37-E4A6-3287-91D6002EB9A4}"/>
              </a:ext>
            </a:extLst>
          </p:cNvPr>
          <p:cNvSpPr/>
          <p:nvPr/>
        </p:nvSpPr>
        <p:spPr>
          <a:xfrm>
            <a:off x="8282940" y="533680"/>
            <a:ext cx="2811780" cy="71762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Repeated (2)-(4)</a:t>
            </a:r>
          </a:p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according to `</a:t>
            </a:r>
            <a:r>
              <a:rPr kumimoji="1" lang="en-US" altLang="zh-TW" sz="1600" dirty="0" err="1">
                <a:solidFill>
                  <a:srgbClr val="00B050"/>
                </a:solidFill>
              </a:rPr>
              <a:t>num_merges</a:t>
            </a:r>
            <a:r>
              <a:rPr kumimoji="1" lang="en-US" altLang="zh-TW" sz="1600" dirty="0">
                <a:solidFill>
                  <a:srgbClr val="00B050"/>
                </a:solidFill>
              </a:rPr>
              <a:t>`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02DFB553-460A-264E-6B4D-1A5147B8D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400" y="356088"/>
            <a:ext cx="10058400" cy="1033416"/>
          </a:xfrm>
        </p:spPr>
        <p:txBody>
          <a:bodyPr/>
          <a:lstStyle/>
          <a:p>
            <a:r>
              <a:rPr lang="en-US" altLang="zh-TW" dirty="0">
                <a:ea typeface="新細明體"/>
                <a:cs typeface="Calibri Light"/>
              </a:rPr>
              <a:t>Sub-word Tokenization (2)</a:t>
            </a:r>
            <a:endParaRPr lang="zh-TW" altLang="en-US" sz="2400" dirty="0">
              <a:ea typeface="新細明體"/>
              <a:cs typeface="Calibri Light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A9CF8D0-806F-6A35-956D-32D5CE9D589F}"/>
              </a:ext>
            </a:extLst>
          </p:cNvPr>
          <p:cNvSpPr txBox="1"/>
          <p:nvPr/>
        </p:nvSpPr>
        <p:spPr>
          <a:xfrm>
            <a:off x="1224011" y="5281239"/>
            <a:ext cx="7894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Current Vocabulary: </a:t>
            </a:r>
            <a:r>
              <a:rPr kumimoji="1" lang="en-US" altLang="zh-TW" sz="2400" dirty="0">
                <a:solidFill>
                  <a:srgbClr val="0070C0"/>
                </a:solidFill>
              </a:rPr>
              <a:t>&lt;/w&gt;</a:t>
            </a:r>
            <a:r>
              <a:rPr kumimoji="1" lang="en-US" altLang="zh-TW" sz="2400" dirty="0"/>
              <a:t>, d, e, </a:t>
            </a:r>
            <a:r>
              <a:rPr kumimoji="1" lang="en-US" altLang="zh-TW" sz="2400" dirty="0" err="1"/>
              <a:t>i</a:t>
            </a:r>
            <a:r>
              <a:rPr kumimoji="1" lang="en-US" altLang="zh-TW" sz="2400" dirty="0"/>
              <a:t>, l, n, o, r, s, t, w, es</a:t>
            </a:r>
            <a:endParaRPr kumimoji="1" lang="zh-TW" altLang="en-US" sz="2400" dirty="0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E37D4E13-1A44-FFBD-5C71-0817B5031DF2}"/>
              </a:ext>
            </a:extLst>
          </p:cNvPr>
          <p:cNvCxnSpPr/>
          <p:nvPr/>
        </p:nvCxnSpPr>
        <p:spPr>
          <a:xfrm>
            <a:off x="1097280" y="4781725"/>
            <a:ext cx="10058400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表格 13">
            <a:extLst>
              <a:ext uri="{FF2B5EF4-FFF2-40B4-BE49-F238E27FC236}">
                <a16:creationId xmlns:a16="http://schemas.microsoft.com/office/drawing/2014/main" id="{270DA055-B138-321D-2D60-B6AEBFDE8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916435"/>
              </p:ext>
            </p:extLst>
          </p:nvPr>
        </p:nvGraphicFramePr>
        <p:xfrm>
          <a:off x="1240255" y="2476339"/>
          <a:ext cx="3566637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015">
                  <a:extLst>
                    <a:ext uri="{9D8B030D-6E8A-4147-A177-3AD203B41FA5}">
                      <a16:colId xmlns:a16="http://schemas.microsoft.com/office/drawing/2014/main" val="299152187"/>
                    </a:ext>
                  </a:extLst>
                </a:gridCol>
                <a:gridCol w="1511622">
                  <a:extLst>
                    <a:ext uri="{9D8B030D-6E8A-4147-A177-3AD203B41FA5}">
                      <a16:colId xmlns:a16="http://schemas.microsoft.com/office/drawing/2014/main" val="626042458"/>
                    </a:ext>
                  </a:extLst>
                </a:gridCol>
              </a:tblGrid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Word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410158"/>
                  </a:ext>
                </a:extLst>
              </a:tr>
              <a:tr h="302338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72698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e r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67199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n e w </a:t>
                      </a:r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es t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810822"/>
                  </a:ext>
                </a:extLst>
              </a:tr>
              <a:tr h="184072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 </a:t>
                      </a:r>
                      <a:r>
                        <a:rPr lang="en-US" altLang="zh-TW" sz="20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 d </a:t>
                      </a:r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es 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t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135537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0A33D4DD-051D-8403-3D62-F4AABE05B484}"/>
              </a:ext>
            </a:extLst>
          </p:cNvPr>
          <p:cNvSpPr/>
          <p:nvPr/>
        </p:nvSpPr>
        <p:spPr>
          <a:xfrm>
            <a:off x="1990392" y="3733190"/>
            <a:ext cx="467581" cy="2683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00CFF0B-EA7F-DD1B-B700-E3CCD5AF4A7D}"/>
              </a:ext>
            </a:extLst>
          </p:cNvPr>
          <p:cNvSpPr/>
          <p:nvPr/>
        </p:nvSpPr>
        <p:spPr>
          <a:xfrm>
            <a:off x="1907900" y="4129430"/>
            <a:ext cx="467581" cy="2683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97121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23</a:t>
            </a:fld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AE5E23E-1E1F-3A47-7CA1-2E500F47E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400" y="1547824"/>
            <a:ext cx="10058400" cy="8403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600" dirty="0"/>
              <a:t> Add the pair with the highest frequency to the vocab</a:t>
            </a:r>
          </a:p>
        </p:txBody>
      </p:sp>
      <p:cxnSp>
        <p:nvCxnSpPr>
          <p:cNvPr id="4" name="肘形接點 3">
            <a:extLst>
              <a:ext uri="{FF2B5EF4-FFF2-40B4-BE49-F238E27FC236}">
                <a16:creationId xmlns:a16="http://schemas.microsoft.com/office/drawing/2014/main" id="{4B6034F0-F9D2-3E93-5BF5-F403FC61315D}"/>
              </a:ext>
            </a:extLst>
          </p:cNvPr>
          <p:cNvCxnSpPr>
            <a:cxnSpLocks/>
          </p:cNvCxnSpPr>
          <p:nvPr/>
        </p:nvCxnSpPr>
        <p:spPr>
          <a:xfrm>
            <a:off x="4857226" y="4060272"/>
            <a:ext cx="3772354" cy="1310053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4374AA92-1610-6D5F-FE52-08A333101ABA}"/>
              </a:ext>
            </a:extLst>
          </p:cNvPr>
          <p:cNvSpPr/>
          <p:nvPr/>
        </p:nvSpPr>
        <p:spPr>
          <a:xfrm>
            <a:off x="8282940" y="533680"/>
            <a:ext cx="2811780" cy="71762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Repeated (2)-(4)</a:t>
            </a:r>
          </a:p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according to `</a:t>
            </a:r>
            <a:r>
              <a:rPr kumimoji="1" lang="en-US" altLang="zh-TW" sz="1600" dirty="0" err="1">
                <a:solidFill>
                  <a:srgbClr val="00B050"/>
                </a:solidFill>
              </a:rPr>
              <a:t>num_merges</a:t>
            </a:r>
            <a:r>
              <a:rPr kumimoji="1" lang="en-US" altLang="zh-TW" sz="1600" dirty="0">
                <a:solidFill>
                  <a:srgbClr val="00B050"/>
                </a:solidFill>
              </a:rPr>
              <a:t>`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CAAC7C3-B1F5-A335-25B0-2C24C3DFC659}"/>
              </a:ext>
            </a:extLst>
          </p:cNvPr>
          <p:cNvSpPr txBox="1"/>
          <p:nvPr/>
        </p:nvSpPr>
        <p:spPr>
          <a:xfrm>
            <a:off x="1224011" y="5281239"/>
            <a:ext cx="7894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Current Vocabulary: </a:t>
            </a:r>
            <a:r>
              <a:rPr kumimoji="1" lang="en-US" altLang="zh-TW" sz="2400" dirty="0">
                <a:solidFill>
                  <a:srgbClr val="0070C0"/>
                </a:solidFill>
              </a:rPr>
              <a:t>&lt;/w&gt;</a:t>
            </a:r>
            <a:r>
              <a:rPr kumimoji="1" lang="en-US" altLang="zh-TW" sz="2400" dirty="0"/>
              <a:t>, d, e, </a:t>
            </a:r>
            <a:r>
              <a:rPr kumimoji="1" lang="en-US" altLang="zh-TW" sz="2400" dirty="0" err="1"/>
              <a:t>i</a:t>
            </a:r>
            <a:r>
              <a:rPr kumimoji="1" lang="en-US" altLang="zh-TW" sz="2400" dirty="0"/>
              <a:t>, l, n, o, r, s, t, w, es, </a:t>
            </a:r>
            <a:r>
              <a:rPr kumimoji="1" lang="en-US" altLang="zh-TW" sz="2400" dirty="0" err="1">
                <a:solidFill>
                  <a:srgbClr val="FF0000"/>
                </a:solidFill>
              </a:rPr>
              <a:t>est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826B6C95-7907-04E9-5201-E370D87552B0}"/>
              </a:ext>
            </a:extLst>
          </p:cNvPr>
          <p:cNvCxnSpPr/>
          <p:nvPr/>
        </p:nvCxnSpPr>
        <p:spPr>
          <a:xfrm>
            <a:off x="1097280" y="4781725"/>
            <a:ext cx="10058400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表格 13">
            <a:extLst>
              <a:ext uri="{FF2B5EF4-FFF2-40B4-BE49-F238E27FC236}">
                <a16:creationId xmlns:a16="http://schemas.microsoft.com/office/drawing/2014/main" id="{F4B2B028-8020-5C76-DA06-DB7F678CF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817339"/>
              </p:ext>
            </p:extLst>
          </p:nvPr>
        </p:nvGraphicFramePr>
        <p:xfrm>
          <a:off x="1240255" y="2476339"/>
          <a:ext cx="3566637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015">
                  <a:extLst>
                    <a:ext uri="{9D8B030D-6E8A-4147-A177-3AD203B41FA5}">
                      <a16:colId xmlns:a16="http://schemas.microsoft.com/office/drawing/2014/main" val="299152187"/>
                    </a:ext>
                  </a:extLst>
                </a:gridCol>
                <a:gridCol w="1511622">
                  <a:extLst>
                    <a:ext uri="{9D8B030D-6E8A-4147-A177-3AD203B41FA5}">
                      <a16:colId xmlns:a16="http://schemas.microsoft.com/office/drawing/2014/main" val="626042458"/>
                    </a:ext>
                  </a:extLst>
                </a:gridCol>
              </a:tblGrid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Word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410158"/>
                  </a:ext>
                </a:extLst>
              </a:tr>
              <a:tr h="302338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72698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e r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67199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n e w </a:t>
                      </a:r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es t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810822"/>
                  </a:ext>
                </a:extLst>
              </a:tr>
              <a:tr h="184072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 </a:t>
                      </a:r>
                      <a:r>
                        <a:rPr lang="en-US" altLang="zh-TW" sz="20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 d </a:t>
                      </a:r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es 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t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135537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8C7E592C-E5D0-C8AC-1C57-D038110C99BF}"/>
              </a:ext>
            </a:extLst>
          </p:cNvPr>
          <p:cNvSpPr/>
          <p:nvPr/>
        </p:nvSpPr>
        <p:spPr>
          <a:xfrm>
            <a:off x="1990392" y="3733190"/>
            <a:ext cx="467581" cy="2683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81CDDE0-DD51-9C48-6441-7BF23194E13F}"/>
              </a:ext>
            </a:extLst>
          </p:cNvPr>
          <p:cNvSpPr/>
          <p:nvPr/>
        </p:nvSpPr>
        <p:spPr>
          <a:xfrm>
            <a:off x="1907900" y="4129430"/>
            <a:ext cx="467581" cy="2683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標題 1">
            <a:extLst>
              <a:ext uri="{FF2B5EF4-FFF2-40B4-BE49-F238E27FC236}">
                <a16:creationId xmlns:a16="http://schemas.microsoft.com/office/drawing/2014/main" id="{1F86BEC0-725A-1CDD-EE98-0D6103B9E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400" y="356088"/>
            <a:ext cx="7497040" cy="1033416"/>
          </a:xfrm>
        </p:spPr>
        <p:txBody>
          <a:bodyPr/>
          <a:lstStyle/>
          <a:p>
            <a:r>
              <a:rPr lang="en-US" altLang="zh-TW" dirty="0">
                <a:ea typeface="新細明體"/>
                <a:cs typeface="Calibri Light"/>
              </a:rPr>
              <a:t>Sub-word Tokenization (3)</a:t>
            </a:r>
            <a:endParaRPr lang="zh-TW" altLang="en-US" sz="2400" dirty="0">
              <a:ea typeface="新細明體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34745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24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436427E2-6DA6-D9C8-FFB7-87EE9F075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400" y="356088"/>
            <a:ext cx="7497040" cy="1033416"/>
          </a:xfrm>
        </p:spPr>
        <p:txBody>
          <a:bodyPr/>
          <a:lstStyle/>
          <a:p>
            <a:r>
              <a:rPr lang="en-US" altLang="zh-TW" dirty="0">
                <a:ea typeface="新細明體"/>
                <a:cs typeface="Calibri Light"/>
              </a:rPr>
              <a:t>Sub-word Tokenization (4)</a:t>
            </a:r>
            <a:endParaRPr lang="zh-TW" altLang="en-US" sz="2400" dirty="0">
              <a:ea typeface="新細明體"/>
              <a:cs typeface="Calibri Ligh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13D5B8-B083-DB36-FA59-BBB58B33BF00}"/>
              </a:ext>
            </a:extLst>
          </p:cNvPr>
          <p:cNvSpPr/>
          <p:nvPr/>
        </p:nvSpPr>
        <p:spPr>
          <a:xfrm>
            <a:off x="8282940" y="533680"/>
            <a:ext cx="2811780" cy="71762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Repeated (2)-(4)</a:t>
            </a:r>
          </a:p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according to `</a:t>
            </a:r>
            <a:r>
              <a:rPr kumimoji="1" lang="en-US" altLang="zh-TW" sz="1600" dirty="0" err="1">
                <a:solidFill>
                  <a:srgbClr val="00B050"/>
                </a:solidFill>
              </a:rPr>
              <a:t>num_merges</a:t>
            </a:r>
            <a:r>
              <a:rPr kumimoji="1" lang="en-US" altLang="zh-TW" sz="1600" dirty="0">
                <a:solidFill>
                  <a:srgbClr val="00B050"/>
                </a:solidFill>
              </a:rPr>
              <a:t>`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1B5168E4-C191-57D7-E720-3E982B399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401" y="1426297"/>
            <a:ext cx="10779128" cy="103340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600" dirty="0"/>
              <a:t> </a:t>
            </a:r>
            <a:r>
              <a:rPr kumimoji="1" lang="en-US" altLang="zh-TW" sz="2600" dirty="0">
                <a:solidFill>
                  <a:srgbClr val="FF0000"/>
                </a:solidFill>
              </a:rPr>
              <a:t>Merge</a:t>
            </a:r>
            <a:r>
              <a:rPr kumimoji="1" lang="en-US" altLang="zh-TW" sz="2600" dirty="0"/>
              <a:t> the characters by replacing all words in the corpus with </a:t>
            </a:r>
            <a:r>
              <a:rPr kumimoji="1" lang="en-US" altLang="zh-TW" sz="2600" dirty="0">
                <a:solidFill>
                  <a:srgbClr val="FF0000"/>
                </a:solidFill>
              </a:rPr>
              <a:t>the newly added pair</a:t>
            </a:r>
            <a:r>
              <a:rPr kumimoji="1" lang="en-US" altLang="zh-TW" sz="2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E6C2947-0BB7-9060-D602-5A18538C3B23}"/>
              </a:ext>
            </a:extLst>
          </p:cNvPr>
          <p:cNvSpPr txBox="1"/>
          <p:nvPr/>
        </p:nvSpPr>
        <p:spPr>
          <a:xfrm>
            <a:off x="1224011" y="5281239"/>
            <a:ext cx="7894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Current Vocabulary: </a:t>
            </a:r>
            <a:r>
              <a:rPr kumimoji="1" lang="en-US" altLang="zh-TW" sz="2400" dirty="0">
                <a:solidFill>
                  <a:srgbClr val="0070C0"/>
                </a:solidFill>
              </a:rPr>
              <a:t>&lt;/w&gt;</a:t>
            </a:r>
            <a:r>
              <a:rPr kumimoji="1" lang="en-US" altLang="zh-TW" sz="2400" dirty="0"/>
              <a:t>, d, e, </a:t>
            </a:r>
            <a:r>
              <a:rPr kumimoji="1" lang="en-US" altLang="zh-TW" sz="2400" dirty="0" err="1"/>
              <a:t>i</a:t>
            </a:r>
            <a:r>
              <a:rPr kumimoji="1" lang="en-US" altLang="zh-TW" sz="2400" dirty="0"/>
              <a:t>, l, n, o, r, s, t, w, es, </a:t>
            </a:r>
            <a:r>
              <a:rPr kumimoji="1" lang="en-US" altLang="zh-TW" sz="2400" dirty="0" err="1">
                <a:solidFill>
                  <a:srgbClr val="FF0000"/>
                </a:solidFill>
              </a:rPr>
              <a:t>est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BF4AFD6-8FBE-AAC8-D888-65AF7D225232}"/>
              </a:ext>
            </a:extLst>
          </p:cNvPr>
          <p:cNvCxnSpPr/>
          <p:nvPr/>
        </p:nvCxnSpPr>
        <p:spPr>
          <a:xfrm>
            <a:off x="1097280" y="4781725"/>
            <a:ext cx="10058400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表格 13">
            <a:extLst>
              <a:ext uri="{FF2B5EF4-FFF2-40B4-BE49-F238E27FC236}">
                <a16:creationId xmlns:a16="http://schemas.microsoft.com/office/drawing/2014/main" id="{ED7622BC-D7FD-F601-A0C2-B5B100E00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080696"/>
              </p:ext>
            </p:extLst>
          </p:nvPr>
        </p:nvGraphicFramePr>
        <p:xfrm>
          <a:off x="1240255" y="2476339"/>
          <a:ext cx="3566637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015">
                  <a:extLst>
                    <a:ext uri="{9D8B030D-6E8A-4147-A177-3AD203B41FA5}">
                      <a16:colId xmlns:a16="http://schemas.microsoft.com/office/drawing/2014/main" val="299152187"/>
                    </a:ext>
                  </a:extLst>
                </a:gridCol>
                <a:gridCol w="1511622">
                  <a:extLst>
                    <a:ext uri="{9D8B030D-6E8A-4147-A177-3AD203B41FA5}">
                      <a16:colId xmlns:a16="http://schemas.microsoft.com/office/drawing/2014/main" val="626042458"/>
                    </a:ext>
                  </a:extLst>
                </a:gridCol>
              </a:tblGrid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Word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410158"/>
                  </a:ext>
                </a:extLst>
              </a:tr>
              <a:tr h="302338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72698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e r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67199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n e w </a:t>
                      </a:r>
                      <a:r>
                        <a:rPr lang="en-US" altLang="zh-TW" sz="2000" b="1" dirty="0" err="1">
                          <a:solidFill>
                            <a:srgbClr val="FF0000"/>
                          </a:solidFill>
                        </a:rPr>
                        <a:t>est</a:t>
                      </a:r>
                      <a:r>
                        <a:rPr lang="en-US" altLang="zh-TW" sz="20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810822"/>
                  </a:ext>
                </a:extLst>
              </a:tr>
              <a:tr h="184072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 </a:t>
                      </a:r>
                      <a:r>
                        <a:rPr lang="en-US" altLang="zh-TW" sz="20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 d </a:t>
                      </a:r>
                      <a:r>
                        <a:rPr lang="en-US" altLang="zh-TW" sz="2000" b="1" dirty="0" err="1">
                          <a:solidFill>
                            <a:srgbClr val="FF0000"/>
                          </a:solidFill>
                        </a:rPr>
                        <a:t>est</a:t>
                      </a:r>
                      <a:r>
                        <a:rPr lang="en-US" altLang="zh-TW" sz="20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135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72747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25</a:t>
            </a:fld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AE5E23E-1E1F-3A47-7CA1-2E500F47E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400" y="1397353"/>
            <a:ext cx="10058400" cy="8403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600" dirty="0"/>
              <a:t> Find the character </a:t>
            </a:r>
            <a:r>
              <a:rPr kumimoji="1" lang="en-US" altLang="zh-TW" sz="2600" b="1" dirty="0">
                <a:solidFill>
                  <a:srgbClr val="FF0000"/>
                </a:solidFill>
              </a:rPr>
              <a:t>pair</a:t>
            </a:r>
            <a:r>
              <a:rPr kumimoji="1" lang="en-US" altLang="zh-TW" sz="2600" dirty="0"/>
              <a:t> with the highest frequency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B4E8D6D-35BD-3ACB-7EA5-1B49EF382CAD}"/>
              </a:ext>
            </a:extLst>
          </p:cNvPr>
          <p:cNvSpPr txBox="1"/>
          <p:nvPr/>
        </p:nvSpPr>
        <p:spPr>
          <a:xfrm>
            <a:off x="4914899" y="3589077"/>
            <a:ext cx="6595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FF0000"/>
                </a:solidFill>
              </a:rPr>
              <a:t>Found “</a:t>
            </a:r>
            <a:r>
              <a:rPr kumimoji="1" lang="en-US" altLang="zh-TW" sz="2400" dirty="0" err="1">
                <a:solidFill>
                  <a:srgbClr val="FF0000"/>
                </a:solidFill>
              </a:rPr>
              <a:t>est</a:t>
            </a:r>
            <a:r>
              <a:rPr kumimoji="1" lang="en-US" altLang="zh-TW" sz="2400" dirty="0">
                <a:solidFill>
                  <a:srgbClr val="FF0000"/>
                </a:solidFill>
              </a:rPr>
              <a:t> &lt;/w&gt;” with the highest frequency 6+3=9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0C4F38AC-93F4-1B7B-3E19-185E578CF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400" y="363937"/>
            <a:ext cx="10058400" cy="1033416"/>
          </a:xfrm>
        </p:spPr>
        <p:txBody>
          <a:bodyPr/>
          <a:lstStyle/>
          <a:p>
            <a:r>
              <a:rPr lang="en-US" altLang="zh-TW" dirty="0">
                <a:ea typeface="新細明體"/>
                <a:cs typeface="Calibri Light"/>
              </a:rPr>
              <a:t>Sub-word Tokenization (2)</a:t>
            </a:r>
            <a:endParaRPr lang="zh-TW" altLang="en-US" sz="2400" dirty="0">
              <a:ea typeface="新細明體"/>
              <a:cs typeface="Calibri Ligh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F09EF9E-C0A0-D816-3C4B-92D77742ABAE}"/>
              </a:ext>
            </a:extLst>
          </p:cNvPr>
          <p:cNvSpPr/>
          <p:nvPr/>
        </p:nvSpPr>
        <p:spPr>
          <a:xfrm>
            <a:off x="8282940" y="533680"/>
            <a:ext cx="2811780" cy="71762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Repeated (2)-(4)</a:t>
            </a:r>
          </a:p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according to `</a:t>
            </a:r>
            <a:r>
              <a:rPr kumimoji="1" lang="en-US" altLang="zh-TW" sz="1600" dirty="0" err="1">
                <a:solidFill>
                  <a:srgbClr val="00B050"/>
                </a:solidFill>
              </a:rPr>
              <a:t>num_merges</a:t>
            </a:r>
            <a:r>
              <a:rPr kumimoji="1" lang="en-US" altLang="zh-TW" sz="1600" dirty="0">
                <a:solidFill>
                  <a:srgbClr val="00B050"/>
                </a:solidFill>
              </a:rPr>
              <a:t>`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95971A12-453A-15CE-F6F1-122A955C8D85}"/>
              </a:ext>
            </a:extLst>
          </p:cNvPr>
          <p:cNvCxnSpPr/>
          <p:nvPr/>
        </p:nvCxnSpPr>
        <p:spPr>
          <a:xfrm>
            <a:off x="1097280" y="4781725"/>
            <a:ext cx="10058400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表格 13">
            <a:extLst>
              <a:ext uri="{FF2B5EF4-FFF2-40B4-BE49-F238E27FC236}">
                <a16:creationId xmlns:a16="http://schemas.microsoft.com/office/drawing/2014/main" id="{EFFB8D59-6EF3-CE02-5F6B-45168D5FA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665442"/>
              </p:ext>
            </p:extLst>
          </p:nvPr>
        </p:nvGraphicFramePr>
        <p:xfrm>
          <a:off x="1240255" y="2476339"/>
          <a:ext cx="3566637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015">
                  <a:extLst>
                    <a:ext uri="{9D8B030D-6E8A-4147-A177-3AD203B41FA5}">
                      <a16:colId xmlns:a16="http://schemas.microsoft.com/office/drawing/2014/main" val="299152187"/>
                    </a:ext>
                  </a:extLst>
                </a:gridCol>
                <a:gridCol w="1511622">
                  <a:extLst>
                    <a:ext uri="{9D8B030D-6E8A-4147-A177-3AD203B41FA5}">
                      <a16:colId xmlns:a16="http://schemas.microsoft.com/office/drawing/2014/main" val="626042458"/>
                    </a:ext>
                  </a:extLst>
                </a:gridCol>
              </a:tblGrid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Word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410158"/>
                  </a:ext>
                </a:extLst>
              </a:tr>
              <a:tr h="302338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72698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e r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67199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n e w </a:t>
                      </a:r>
                      <a:r>
                        <a:rPr lang="en-US" altLang="zh-TW" sz="2000" b="0" dirty="0" err="1">
                          <a:solidFill>
                            <a:schemeClr val="tx1"/>
                          </a:solidFill>
                        </a:rPr>
                        <a:t>est</a:t>
                      </a:r>
                      <a:r>
                        <a:rPr lang="en-US" altLang="zh-TW" sz="20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810822"/>
                  </a:ext>
                </a:extLst>
              </a:tr>
              <a:tr h="184072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 </a:t>
                      </a:r>
                      <a:r>
                        <a:rPr lang="en-US" altLang="zh-TW" sz="20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 d </a:t>
                      </a:r>
                      <a:r>
                        <a:rPr lang="en-US" altLang="zh-TW" sz="2000" b="0" dirty="0" err="1">
                          <a:solidFill>
                            <a:schemeClr val="tx1"/>
                          </a:solidFill>
                        </a:rPr>
                        <a:t>est</a:t>
                      </a:r>
                      <a:r>
                        <a:rPr lang="en-US" altLang="zh-TW" sz="20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135537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5633E412-5AE6-B951-115B-E27823D22A2E}"/>
              </a:ext>
            </a:extLst>
          </p:cNvPr>
          <p:cNvSpPr/>
          <p:nvPr/>
        </p:nvSpPr>
        <p:spPr>
          <a:xfrm>
            <a:off x="1990392" y="3730028"/>
            <a:ext cx="988198" cy="2715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AB15179-A9EE-F2D4-762B-C8CB47065452}"/>
              </a:ext>
            </a:extLst>
          </p:cNvPr>
          <p:cNvSpPr/>
          <p:nvPr/>
        </p:nvSpPr>
        <p:spPr>
          <a:xfrm>
            <a:off x="1907402" y="4135659"/>
            <a:ext cx="988198" cy="2715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6D7E9D5-2BA1-3733-FC6D-12C769CA7F29}"/>
              </a:ext>
            </a:extLst>
          </p:cNvPr>
          <p:cNvSpPr txBox="1"/>
          <p:nvPr/>
        </p:nvSpPr>
        <p:spPr>
          <a:xfrm>
            <a:off x="1224011" y="5281239"/>
            <a:ext cx="7894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Current Vocabulary: </a:t>
            </a:r>
            <a:r>
              <a:rPr kumimoji="1" lang="en-US" altLang="zh-TW" sz="2400" dirty="0">
                <a:solidFill>
                  <a:srgbClr val="0070C0"/>
                </a:solidFill>
              </a:rPr>
              <a:t>&lt;/w&gt;</a:t>
            </a:r>
            <a:r>
              <a:rPr kumimoji="1" lang="en-US" altLang="zh-TW" sz="2400" dirty="0"/>
              <a:t>, d, e, </a:t>
            </a:r>
            <a:r>
              <a:rPr kumimoji="1" lang="en-US" altLang="zh-TW" sz="2400" dirty="0" err="1"/>
              <a:t>i</a:t>
            </a:r>
            <a:r>
              <a:rPr kumimoji="1" lang="en-US" altLang="zh-TW" sz="2400" dirty="0"/>
              <a:t>, l, n, o, r, s, t, w, es, </a:t>
            </a:r>
            <a:r>
              <a:rPr kumimoji="1" lang="en-US" altLang="zh-TW" sz="2400" dirty="0" err="1"/>
              <a:t>est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053436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26</a:t>
            </a:fld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AE5E23E-1E1F-3A47-7CA1-2E500F47E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400" y="1386267"/>
            <a:ext cx="10058400" cy="8403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600" dirty="0"/>
              <a:t> Add the pair with the highest frequency to the vocab</a:t>
            </a:r>
          </a:p>
        </p:txBody>
      </p:sp>
      <p:cxnSp>
        <p:nvCxnSpPr>
          <p:cNvPr id="4" name="肘形接點 3">
            <a:extLst>
              <a:ext uri="{FF2B5EF4-FFF2-40B4-BE49-F238E27FC236}">
                <a16:creationId xmlns:a16="http://schemas.microsoft.com/office/drawing/2014/main" id="{4B6034F0-F9D2-3E93-5BF5-F403FC61315D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4850171" y="4027348"/>
            <a:ext cx="4642391" cy="1253891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ED143074-2EE5-98C6-2554-7EB4E68D6D63}"/>
              </a:ext>
            </a:extLst>
          </p:cNvPr>
          <p:cNvSpPr txBox="1"/>
          <p:nvPr/>
        </p:nvSpPr>
        <p:spPr>
          <a:xfrm>
            <a:off x="1224011" y="5281239"/>
            <a:ext cx="9187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Current Vocabulary: </a:t>
            </a:r>
            <a:r>
              <a:rPr kumimoji="1" lang="en-US" altLang="zh-TW" sz="2400" dirty="0">
                <a:solidFill>
                  <a:srgbClr val="0070C0"/>
                </a:solidFill>
              </a:rPr>
              <a:t>&lt;/w&gt;</a:t>
            </a:r>
            <a:r>
              <a:rPr kumimoji="1" lang="en-US" altLang="zh-TW" sz="2400" dirty="0"/>
              <a:t>, d, e, </a:t>
            </a:r>
            <a:r>
              <a:rPr kumimoji="1" lang="en-US" altLang="zh-TW" sz="2400" dirty="0" err="1"/>
              <a:t>i</a:t>
            </a:r>
            <a:r>
              <a:rPr kumimoji="1" lang="en-US" altLang="zh-TW" sz="2400" dirty="0"/>
              <a:t>, l, n, o, r, s, t, w, es, </a:t>
            </a:r>
            <a:r>
              <a:rPr kumimoji="1" lang="en-US" altLang="zh-TW" sz="2400" dirty="0" err="1"/>
              <a:t>est</a:t>
            </a:r>
            <a:r>
              <a:rPr kumimoji="1" lang="en-US" altLang="zh-TW" sz="2400" dirty="0"/>
              <a:t>, </a:t>
            </a:r>
            <a:r>
              <a:rPr kumimoji="1" lang="en-US" altLang="zh-TW" sz="2400" dirty="0" err="1">
                <a:solidFill>
                  <a:srgbClr val="FF0000"/>
                </a:solidFill>
              </a:rPr>
              <a:t>est</a:t>
            </a:r>
            <a:r>
              <a:rPr kumimoji="1" lang="en-US" altLang="zh-TW" sz="2400" dirty="0">
                <a:solidFill>
                  <a:srgbClr val="FF0000"/>
                </a:solidFill>
              </a:rPr>
              <a:t>&lt;/w&gt;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37E5C117-83FC-54D4-7E61-DCD01917841C}"/>
              </a:ext>
            </a:extLst>
          </p:cNvPr>
          <p:cNvCxnSpPr/>
          <p:nvPr/>
        </p:nvCxnSpPr>
        <p:spPr>
          <a:xfrm>
            <a:off x="1097280" y="4781725"/>
            <a:ext cx="10058400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表格 13">
            <a:extLst>
              <a:ext uri="{FF2B5EF4-FFF2-40B4-BE49-F238E27FC236}">
                <a16:creationId xmlns:a16="http://schemas.microsoft.com/office/drawing/2014/main" id="{33C58DC9-B149-7F6E-790C-9149A18E3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381327"/>
              </p:ext>
            </p:extLst>
          </p:nvPr>
        </p:nvGraphicFramePr>
        <p:xfrm>
          <a:off x="1240255" y="2476339"/>
          <a:ext cx="3566637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015">
                  <a:extLst>
                    <a:ext uri="{9D8B030D-6E8A-4147-A177-3AD203B41FA5}">
                      <a16:colId xmlns:a16="http://schemas.microsoft.com/office/drawing/2014/main" val="299152187"/>
                    </a:ext>
                  </a:extLst>
                </a:gridCol>
                <a:gridCol w="1511622">
                  <a:extLst>
                    <a:ext uri="{9D8B030D-6E8A-4147-A177-3AD203B41FA5}">
                      <a16:colId xmlns:a16="http://schemas.microsoft.com/office/drawing/2014/main" val="626042458"/>
                    </a:ext>
                  </a:extLst>
                </a:gridCol>
              </a:tblGrid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Word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410158"/>
                  </a:ext>
                </a:extLst>
              </a:tr>
              <a:tr h="302338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72698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e r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67199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n e w </a:t>
                      </a:r>
                      <a:r>
                        <a:rPr lang="en-US" altLang="zh-TW" sz="2000" b="0" dirty="0" err="1">
                          <a:solidFill>
                            <a:schemeClr val="tx1"/>
                          </a:solidFill>
                        </a:rPr>
                        <a:t>est</a:t>
                      </a:r>
                      <a:r>
                        <a:rPr lang="en-US" altLang="zh-TW" sz="20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810822"/>
                  </a:ext>
                </a:extLst>
              </a:tr>
              <a:tr h="184072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 </a:t>
                      </a:r>
                      <a:r>
                        <a:rPr lang="en-US" altLang="zh-TW" sz="20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 d </a:t>
                      </a:r>
                      <a:r>
                        <a:rPr lang="en-US" altLang="zh-TW" sz="2000" b="0" dirty="0" err="1">
                          <a:solidFill>
                            <a:schemeClr val="tx1"/>
                          </a:solidFill>
                        </a:rPr>
                        <a:t>est</a:t>
                      </a:r>
                      <a:r>
                        <a:rPr lang="en-US" altLang="zh-TW" sz="20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135537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9E525FE0-39E6-82F3-1A49-542DB5304361}"/>
              </a:ext>
            </a:extLst>
          </p:cNvPr>
          <p:cNvSpPr/>
          <p:nvPr/>
        </p:nvSpPr>
        <p:spPr>
          <a:xfrm>
            <a:off x="1990392" y="3730028"/>
            <a:ext cx="988198" cy="2715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83CD7B0-A732-CAFE-5014-BBBD517220EC}"/>
              </a:ext>
            </a:extLst>
          </p:cNvPr>
          <p:cNvSpPr/>
          <p:nvPr/>
        </p:nvSpPr>
        <p:spPr>
          <a:xfrm>
            <a:off x="1907402" y="4135659"/>
            <a:ext cx="988198" cy="2715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FEA661B-DA7A-37BC-F15E-BBEE71B84996}"/>
              </a:ext>
            </a:extLst>
          </p:cNvPr>
          <p:cNvSpPr txBox="1"/>
          <p:nvPr/>
        </p:nvSpPr>
        <p:spPr>
          <a:xfrm>
            <a:off x="9153057" y="5281239"/>
            <a:ext cx="679010" cy="540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25" name="標題 1">
            <a:extLst>
              <a:ext uri="{FF2B5EF4-FFF2-40B4-BE49-F238E27FC236}">
                <a16:creationId xmlns:a16="http://schemas.microsoft.com/office/drawing/2014/main" id="{46DB3AC3-BEE8-6B6F-17E0-39CCEA71B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400" y="356088"/>
            <a:ext cx="10058400" cy="1033416"/>
          </a:xfrm>
        </p:spPr>
        <p:txBody>
          <a:bodyPr/>
          <a:lstStyle/>
          <a:p>
            <a:r>
              <a:rPr lang="en-US" altLang="zh-TW" dirty="0">
                <a:ea typeface="新細明體"/>
                <a:cs typeface="Calibri Light"/>
              </a:rPr>
              <a:t>Sub-word Tokenization (3)</a:t>
            </a:r>
            <a:endParaRPr lang="zh-TW" altLang="en-US" sz="2400" dirty="0">
              <a:ea typeface="新細明體"/>
              <a:cs typeface="Calibri Light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DC183A7-A678-F074-C38D-5A1A287067C1}"/>
              </a:ext>
            </a:extLst>
          </p:cNvPr>
          <p:cNvSpPr/>
          <p:nvPr/>
        </p:nvSpPr>
        <p:spPr>
          <a:xfrm>
            <a:off x="8282940" y="533680"/>
            <a:ext cx="2811780" cy="71762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Repeated (2)-(4)</a:t>
            </a:r>
          </a:p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according to `</a:t>
            </a:r>
            <a:r>
              <a:rPr kumimoji="1" lang="en-US" altLang="zh-TW" sz="1600" dirty="0" err="1">
                <a:solidFill>
                  <a:srgbClr val="00B050"/>
                </a:solidFill>
              </a:rPr>
              <a:t>num_merges</a:t>
            </a:r>
            <a:r>
              <a:rPr kumimoji="1" lang="en-US" altLang="zh-TW" sz="1600" dirty="0">
                <a:solidFill>
                  <a:srgbClr val="00B050"/>
                </a:solidFill>
              </a:rPr>
              <a:t>`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5753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27</a:t>
            </a:fld>
            <a:endParaRPr lang="zh-TW" altLang="en-US"/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5DAB3D95-7922-1D43-DC54-85B7B8E80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400" y="1426297"/>
            <a:ext cx="10450280" cy="103340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600" dirty="0"/>
              <a:t> </a:t>
            </a:r>
            <a:r>
              <a:rPr kumimoji="1" lang="en-US" altLang="zh-TW" sz="2600" dirty="0">
                <a:solidFill>
                  <a:srgbClr val="FF0000"/>
                </a:solidFill>
              </a:rPr>
              <a:t>Merge</a:t>
            </a:r>
            <a:r>
              <a:rPr kumimoji="1" lang="en-US" altLang="zh-TW" sz="2600" dirty="0"/>
              <a:t> the characters by replacing all words in the corpus with </a:t>
            </a:r>
            <a:r>
              <a:rPr kumimoji="1" lang="en-US" altLang="zh-TW" sz="2600" dirty="0">
                <a:solidFill>
                  <a:srgbClr val="FF0000"/>
                </a:solidFill>
              </a:rPr>
              <a:t>the newly added pair</a:t>
            </a:r>
            <a:r>
              <a:rPr kumimoji="1" lang="en-US" altLang="zh-TW" sz="2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0F8B10A-0728-28B4-9D76-556A64D33D8E}"/>
              </a:ext>
            </a:extLst>
          </p:cNvPr>
          <p:cNvSpPr txBox="1"/>
          <p:nvPr/>
        </p:nvSpPr>
        <p:spPr>
          <a:xfrm>
            <a:off x="1224011" y="5281239"/>
            <a:ext cx="9187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Current Vocabulary: </a:t>
            </a:r>
            <a:r>
              <a:rPr kumimoji="1" lang="en-US" altLang="zh-TW" sz="2400" dirty="0">
                <a:solidFill>
                  <a:srgbClr val="0070C0"/>
                </a:solidFill>
              </a:rPr>
              <a:t>&lt;/w&gt;</a:t>
            </a:r>
            <a:r>
              <a:rPr kumimoji="1" lang="en-US" altLang="zh-TW" sz="2400" dirty="0"/>
              <a:t>, d, e, </a:t>
            </a:r>
            <a:r>
              <a:rPr kumimoji="1" lang="en-US" altLang="zh-TW" sz="2400" dirty="0" err="1"/>
              <a:t>i</a:t>
            </a:r>
            <a:r>
              <a:rPr kumimoji="1" lang="en-US" altLang="zh-TW" sz="2400" dirty="0"/>
              <a:t>, l, n, o, r, s, t, w, es, </a:t>
            </a:r>
            <a:r>
              <a:rPr kumimoji="1" lang="en-US" altLang="zh-TW" sz="2400" dirty="0" err="1"/>
              <a:t>est</a:t>
            </a:r>
            <a:r>
              <a:rPr kumimoji="1" lang="en-US" altLang="zh-TW" sz="2400" dirty="0"/>
              <a:t>, </a:t>
            </a:r>
            <a:r>
              <a:rPr kumimoji="1" lang="en-US" altLang="zh-TW" sz="2400" dirty="0" err="1">
                <a:solidFill>
                  <a:srgbClr val="FF0000"/>
                </a:solidFill>
              </a:rPr>
              <a:t>est</a:t>
            </a:r>
            <a:r>
              <a:rPr kumimoji="1" lang="en-US" altLang="zh-TW" sz="2400" dirty="0">
                <a:solidFill>
                  <a:srgbClr val="FF0000"/>
                </a:solidFill>
              </a:rPr>
              <a:t>&lt;/w&gt;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C198257C-D62D-E0CC-4E49-F7619B95F27F}"/>
              </a:ext>
            </a:extLst>
          </p:cNvPr>
          <p:cNvCxnSpPr/>
          <p:nvPr/>
        </p:nvCxnSpPr>
        <p:spPr>
          <a:xfrm>
            <a:off x="1097280" y="4781725"/>
            <a:ext cx="10058400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表格 13">
            <a:extLst>
              <a:ext uri="{FF2B5EF4-FFF2-40B4-BE49-F238E27FC236}">
                <a16:creationId xmlns:a16="http://schemas.microsoft.com/office/drawing/2014/main" id="{D0F26A9B-A7A0-2013-CEB1-0F6337A5D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561602"/>
              </p:ext>
            </p:extLst>
          </p:nvPr>
        </p:nvGraphicFramePr>
        <p:xfrm>
          <a:off x="1240255" y="2476339"/>
          <a:ext cx="3566637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015">
                  <a:extLst>
                    <a:ext uri="{9D8B030D-6E8A-4147-A177-3AD203B41FA5}">
                      <a16:colId xmlns:a16="http://schemas.microsoft.com/office/drawing/2014/main" val="299152187"/>
                    </a:ext>
                  </a:extLst>
                </a:gridCol>
                <a:gridCol w="1511622">
                  <a:extLst>
                    <a:ext uri="{9D8B030D-6E8A-4147-A177-3AD203B41FA5}">
                      <a16:colId xmlns:a16="http://schemas.microsoft.com/office/drawing/2014/main" val="626042458"/>
                    </a:ext>
                  </a:extLst>
                </a:gridCol>
              </a:tblGrid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Word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410158"/>
                  </a:ext>
                </a:extLst>
              </a:tr>
              <a:tr h="302338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72698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e r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67199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n e w </a:t>
                      </a:r>
                      <a:r>
                        <a:rPr lang="en-US" altLang="zh-TW" sz="2000" b="1" dirty="0" err="1">
                          <a:solidFill>
                            <a:srgbClr val="FF0000"/>
                          </a:solidFill>
                        </a:rPr>
                        <a:t>est</a:t>
                      </a:r>
                      <a:r>
                        <a:rPr lang="en-US" altLang="zh-TW" sz="2000" b="1" dirty="0">
                          <a:solidFill>
                            <a:srgbClr val="FF0000"/>
                          </a:solidFill>
                        </a:rPr>
                        <a:t>&lt;/w&gt;</a:t>
                      </a:r>
                      <a:endParaRPr lang="zh-TW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810822"/>
                  </a:ext>
                </a:extLst>
              </a:tr>
              <a:tr h="184072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 </a:t>
                      </a:r>
                      <a:r>
                        <a:rPr lang="en-US" altLang="zh-TW" sz="20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 d </a:t>
                      </a:r>
                      <a:r>
                        <a:rPr lang="en-US" altLang="zh-TW" sz="2000" b="1" dirty="0" err="1">
                          <a:solidFill>
                            <a:srgbClr val="FF0000"/>
                          </a:solidFill>
                        </a:rPr>
                        <a:t>est</a:t>
                      </a:r>
                      <a:r>
                        <a:rPr lang="en-US" altLang="zh-TW" sz="2000" b="1" dirty="0">
                          <a:solidFill>
                            <a:srgbClr val="FF0000"/>
                          </a:solidFill>
                        </a:rPr>
                        <a:t>&lt;/w&gt;</a:t>
                      </a:r>
                      <a:endParaRPr lang="zh-TW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135537"/>
                  </a:ext>
                </a:extLst>
              </a:tr>
            </a:tbl>
          </a:graphicData>
        </a:graphic>
      </p:graphicFrame>
      <p:sp>
        <p:nvSpPr>
          <p:cNvPr id="14" name="標題 1">
            <a:extLst>
              <a:ext uri="{FF2B5EF4-FFF2-40B4-BE49-F238E27FC236}">
                <a16:creationId xmlns:a16="http://schemas.microsoft.com/office/drawing/2014/main" id="{F9FA7FCE-7211-388D-7EEA-2D6056E49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400" y="356088"/>
            <a:ext cx="10058400" cy="1033416"/>
          </a:xfrm>
        </p:spPr>
        <p:txBody>
          <a:bodyPr/>
          <a:lstStyle/>
          <a:p>
            <a:r>
              <a:rPr lang="en-US" altLang="zh-TW" dirty="0">
                <a:ea typeface="新細明體"/>
                <a:cs typeface="Calibri Light"/>
              </a:rPr>
              <a:t>Sub-word Tokenization (4)</a:t>
            </a:r>
            <a:endParaRPr lang="zh-TW" altLang="en-US" sz="2400" dirty="0">
              <a:ea typeface="新細明體"/>
              <a:cs typeface="Calibri Light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41E943B-0CFE-3E97-5639-D6AB0B1F6BD6}"/>
              </a:ext>
            </a:extLst>
          </p:cNvPr>
          <p:cNvSpPr/>
          <p:nvPr/>
        </p:nvSpPr>
        <p:spPr>
          <a:xfrm>
            <a:off x="8282940" y="533680"/>
            <a:ext cx="2811780" cy="71762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Repeated (2)-(4)</a:t>
            </a:r>
          </a:p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according to `</a:t>
            </a:r>
            <a:r>
              <a:rPr kumimoji="1" lang="en-US" altLang="zh-TW" sz="1600" dirty="0" err="1">
                <a:solidFill>
                  <a:srgbClr val="00B050"/>
                </a:solidFill>
              </a:rPr>
              <a:t>num_merges</a:t>
            </a:r>
            <a:r>
              <a:rPr kumimoji="1" lang="en-US" altLang="zh-TW" sz="1600" dirty="0">
                <a:solidFill>
                  <a:srgbClr val="00B050"/>
                </a:solidFill>
              </a:rPr>
              <a:t>`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958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28</a:t>
            </a:fld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AE5E23E-1E1F-3A47-7CA1-2E500F47E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400" y="1511686"/>
            <a:ext cx="10058400" cy="8403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600" dirty="0"/>
              <a:t> Find the character </a:t>
            </a:r>
            <a:r>
              <a:rPr kumimoji="1" lang="en-US" altLang="zh-TW" sz="2600" b="1" dirty="0">
                <a:solidFill>
                  <a:srgbClr val="FF0000"/>
                </a:solidFill>
              </a:rPr>
              <a:t>pair</a:t>
            </a:r>
            <a:r>
              <a:rPr kumimoji="1" lang="en-US" altLang="zh-TW" sz="2600" dirty="0"/>
              <a:t> with the highest frequency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5239FF-1462-0713-52CE-D2F3CA12FAB1}"/>
              </a:ext>
            </a:extLst>
          </p:cNvPr>
          <p:cNvSpPr/>
          <p:nvPr/>
        </p:nvSpPr>
        <p:spPr>
          <a:xfrm>
            <a:off x="1311242" y="2921065"/>
            <a:ext cx="311818" cy="2945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B4E8D6D-35BD-3ACB-7EA5-1B49EF382CAD}"/>
              </a:ext>
            </a:extLst>
          </p:cNvPr>
          <p:cNvSpPr txBox="1"/>
          <p:nvPr/>
        </p:nvSpPr>
        <p:spPr>
          <a:xfrm>
            <a:off x="4914899" y="3589077"/>
            <a:ext cx="6595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FF0000"/>
                </a:solidFill>
              </a:rPr>
              <a:t>Found “l o” with the highest frequency 5+2=7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16A301-59B4-A82B-95B5-76B8338AE7F0}"/>
              </a:ext>
            </a:extLst>
          </p:cNvPr>
          <p:cNvSpPr/>
          <p:nvPr/>
        </p:nvSpPr>
        <p:spPr>
          <a:xfrm>
            <a:off x="1311242" y="3312667"/>
            <a:ext cx="311818" cy="2945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01BC7333-9390-C70D-4334-004B3412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400" y="356088"/>
            <a:ext cx="10058400" cy="1033416"/>
          </a:xfrm>
        </p:spPr>
        <p:txBody>
          <a:bodyPr/>
          <a:lstStyle/>
          <a:p>
            <a:r>
              <a:rPr lang="en-US" altLang="zh-TW" dirty="0">
                <a:ea typeface="新細明體"/>
                <a:cs typeface="Calibri Light"/>
              </a:rPr>
              <a:t>Sub-word Tokenization (2)</a:t>
            </a:r>
            <a:endParaRPr lang="zh-TW" altLang="en-US" sz="2400" dirty="0">
              <a:ea typeface="新細明體"/>
              <a:cs typeface="Calibri Ligh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22B294E-8831-A2F4-C632-758CA234798F}"/>
              </a:ext>
            </a:extLst>
          </p:cNvPr>
          <p:cNvSpPr/>
          <p:nvPr/>
        </p:nvSpPr>
        <p:spPr>
          <a:xfrm>
            <a:off x="8282940" y="533680"/>
            <a:ext cx="2811780" cy="71762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Repeated (2)-(4)</a:t>
            </a:r>
          </a:p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according to `</a:t>
            </a:r>
            <a:r>
              <a:rPr kumimoji="1" lang="en-US" altLang="zh-TW" sz="1600" dirty="0" err="1">
                <a:solidFill>
                  <a:srgbClr val="00B050"/>
                </a:solidFill>
              </a:rPr>
              <a:t>num_merges</a:t>
            </a:r>
            <a:r>
              <a:rPr kumimoji="1" lang="en-US" altLang="zh-TW" sz="1600" dirty="0">
                <a:solidFill>
                  <a:srgbClr val="00B050"/>
                </a:solidFill>
              </a:rPr>
              <a:t>`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7779074-F5F1-AF4B-5E9A-73D812CFB765}"/>
              </a:ext>
            </a:extLst>
          </p:cNvPr>
          <p:cNvSpPr txBox="1"/>
          <p:nvPr/>
        </p:nvSpPr>
        <p:spPr>
          <a:xfrm>
            <a:off x="1224011" y="5281239"/>
            <a:ext cx="9187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Current Vocabulary: </a:t>
            </a:r>
            <a:r>
              <a:rPr kumimoji="1" lang="en-US" altLang="zh-TW" sz="2400" dirty="0">
                <a:solidFill>
                  <a:srgbClr val="0070C0"/>
                </a:solidFill>
              </a:rPr>
              <a:t>&lt;/w&gt;</a:t>
            </a:r>
            <a:r>
              <a:rPr kumimoji="1" lang="en-US" altLang="zh-TW" sz="2400" dirty="0"/>
              <a:t>, d, e, </a:t>
            </a:r>
            <a:r>
              <a:rPr kumimoji="1" lang="en-US" altLang="zh-TW" sz="2400" dirty="0" err="1"/>
              <a:t>i</a:t>
            </a:r>
            <a:r>
              <a:rPr kumimoji="1" lang="en-US" altLang="zh-TW" sz="2400" dirty="0"/>
              <a:t>, l, n, o, r, s, t, w, es, </a:t>
            </a:r>
            <a:r>
              <a:rPr kumimoji="1" lang="en-US" altLang="zh-TW" sz="2400" dirty="0" err="1"/>
              <a:t>est</a:t>
            </a:r>
            <a:r>
              <a:rPr kumimoji="1" lang="en-US" altLang="zh-TW" sz="2400" dirty="0"/>
              <a:t>, </a:t>
            </a:r>
            <a:r>
              <a:rPr kumimoji="1" lang="en-US" altLang="zh-TW" sz="2400" dirty="0" err="1"/>
              <a:t>est</a:t>
            </a:r>
            <a:r>
              <a:rPr kumimoji="1" lang="en-US" altLang="zh-TW" sz="2400" dirty="0"/>
              <a:t>&lt;/w&gt;</a:t>
            </a:r>
            <a:endParaRPr kumimoji="1" lang="zh-TW" altLang="en-US" sz="2400" dirty="0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5B1AF654-4FFB-3685-0D2A-BBC80A048EA6}"/>
              </a:ext>
            </a:extLst>
          </p:cNvPr>
          <p:cNvCxnSpPr/>
          <p:nvPr/>
        </p:nvCxnSpPr>
        <p:spPr>
          <a:xfrm>
            <a:off x="1097280" y="4781725"/>
            <a:ext cx="10058400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表格 13">
            <a:extLst>
              <a:ext uri="{FF2B5EF4-FFF2-40B4-BE49-F238E27FC236}">
                <a16:creationId xmlns:a16="http://schemas.microsoft.com/office/drawing/2014/main" id="{0C683F8E-977B-5DEC-9665-BBDBDCDE8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695208"/>
              </p:ext>
            </p:extLst>
          </p:nvPr>
        </p:nvGraphicFramePr>
        <p:xfrm>
          <a:off x="1240255" y="2476339"/>
          <a:ext cx="3566637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015">
                  <a:extLst>
                    <a:ext uri="{9D8B030D-6E8A-4147-A177-3AD203B41FA5}">
                      <a16:colId xmlns:a16="http://schemas.microsoft.com/office/drawing/2014/main" val="299152187"/>
                    </a:ext>
                  </a:extLst>
                </a:gridCol>
                <a:gridCol w="1511622">
                  <a:extLst>
                    <a:ext uri="{9D8B030D-6E8A-4147-A177-3AD203B41FA5}">
                      <a16:colId xmlns:a16="http://schemas.microsoft.com/office/drawing/2014/main" val="626042458"/>
                    </a:ext>
                  </a:extLst>
                </a:gridCol>
              </a:tblGrid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Word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410158"/>
                  </a:ext>
                </a:extLst>
              </a:tr>
              <a:tr h="302338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72698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e r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67199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n e w </a:t>
                      </a:r>
                      <a:r>
                        <a:rPr lang="en-US" altLang="zh-TW" sz="2000" b="0" dirty="0" err="1">
                          <a:solidFill>
                            <a:schemeClr val="tx1"/>
                          </a:solidFill>
                        </a:rPr>
                        <a:t>est</a:t>
                      </a:r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&lt;/w&gt;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810822"/>
                  </a:ext>
                </a:extLst>
              </a:tr>
              <a:tr h="184072">
                <a:tc>
                  <a:txBody>
                    <a:bodyPr/>
                    <a:lstStyle/>
                    <a:p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w </a:t>
                      </a:r>
                      <a:r>
                        <a:rPr lang="en-US" altLang="zh-TW" sz="2000" b="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 d </a:t>
                      </a:r>
                      <a:r>
                        <a:rPr lang="en-US" altLang="zh-TW" sz="2000" b="0" dirty="0" err="1">
                          <a:solidFill>
                            <a:schemeClr val="tx1"/>
                          </a:solidFill>
                        </a:rPr>
                        <a:t>est</a:t>
                      </a:r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&lt;/w&gt;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135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28946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29</a:t>
            </a:fld>
            <a:endParaRPr lang="zh-TW" altLang="en-US"/>
          </a:p>
        </p:txBody>
      </p:sp>
      <p:cxnSp>
        <p:nvCxnSpPr>
          <p:cNvPr id="4" name="肘形接點 3">
            <a:extLst>
              <a:ext uri="{FF2B5EF4-FFF2-40B4-BE49-F238E27FC236}">
                <a16:creationId xmlns:a16="http://schemas.microsoft.com/office/drawing/2014/main" id="{4B6034F0-F9D2-3E93-5BF5-F403FC61315D}"/>
              </a:ext>
            </a:extLst>
          </p:cNvPr>
          <p:cNvCxnSpPr>
            <a:cxnSpLocks/>
          </p:cNvCxnSpPr>
          <p:nvPr/>
        </p:nvCxnSpPr>
        <p:spPr>
          <a:xfrm>
            <a:off x="4877879" y="3259947"/>
            <a:ext cx="5417257" cy="2032412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070026F4-8E4A-17F0-FACD-A2A8AA772809}"/>
              </a:ext>
            </a:extLst>
          </p:cNvPr>
          <p:cNvSpPr/>
          <p:nvPr/>
        </p:nvSpPr>
        <p:spPr>
          <a:xfrm>
            <a:off x="8282940" y="533680"/>
            <a:ext cx="2811780" cy="71762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Repeated (2)-(4)</a:t>
            </a:r>
          </a:p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according to `</a:t>
            </a:r>
            <a:r>
              <a:rPr kumimoji="1" lang="en-US" altLang="zh-TW" sz="1600" dirty="0" err="1">
                <a:solidFill>
                  <a:srgbClr val="00B050"/>
                </a:solidFill>
              </a:rPr>
              <a:t>num_merges</a:t>
            </a:r>
            <a:r>
              <a:rPr kumimoji="1" lang="en-US" altLang="zh-TW" sz="1600" dirty="0">
                <a:solidFill>
                  <a:srgbClr val="00B050"/>
                </a:solidFill>
              </a:rPr>
              <a:t>`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1A9CEFCA-D0A0-9992-E06C-66261E10D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400" y="356088"/>
            <a:ext cx="10058400" cy="1033416"/>
          </a:xfrm>
        </p:spPr>
        <p:txBody>
          <a:bodyPr/>
          <a:lstStyle/>
          <a:p>
            <a:r>
              <a:rPr lang="en-US" altLang="zh-TW" dirty="0">
                <a:ea typeface="新細明體"/>
                <a:cs typeface="Calibri Light"/>
              </a:rPr>
              <a:t>Sub-word Tokenization (3)</a:t>
            </a:r>
            <a:endParaRPr lang="zh-TW" altLang="en-US" sz="2400" dirty="0">
              <a:ea typeface="新細明體"/>
              <a:cs typeface="Calibri Light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9C011C2-F753-2867-EFC8-92B2FCEF8FB3}"/>
              </a:ext>
            </a:extLst>
          </p:cNvPr>
          <p:cNvSpPr/>
          <p:nvPr/>
        </p:nvSpPr>
        <p:spPr>
          <a:xfrm>
            <a:off x="1311242" y="2921065"/>
            <a:ext cx="311818" cy="2945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105C65-BFE4-B815-6F0D-B759AE211A4E}"/>
              </a:ext>
            </a:extLst>
          </p:cNvPr>
          <p:cNvSpPr/>
          <p:nvPr/>
        </p:nvSpPr>
        <p:spPr>
          <a:xfrm>
            <a:off x="1311242" y="3312667"/>
            <a:ext cx="311818" cy="2945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9C0B60E-CDBB-33B1-A634-479E8368EBF0}"/>
              </a:ext>
            </a:extLst>
          </p:cNvPr>
          <p:cNvSpPr txBox="1"/>
          <p:nvPr/>
        </p:nvSpPr>
        <p:spPr>
          <a:xfrm>
            <a:off x="1224010" y="5281239"/>
            <a:ext cx="9676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Current Vocabulary: </a:t>
            </a:r>
            <a:r>
              <a:rPr kumimoji="1" lang="en-US" altLang="zh-TW" sz="2400" dirty="0">
                <a:solidFill>
                  <a:srgbClr val="0070C0"/>
                </a:solidFill>
              </a:rPr>
              <a:t>&lt;/w&gt;</a:t>
            </a:r>
            <a:r>
              <a:rPr kumimoji="1" lang="en-US" altLang="zh-TW" sz="2400" dirty="0"/>
              <a:t>, d, e, </a:t>
            </a:r>
            <a:r>
              <a:rPr kumimoji="1" lang="en-US" altLang="zh-TW" sz="2400" dirty="0" err="1"/>
              <a:t>i</a:t>
            </a:r>
            <a:r>
              <a:rPr kumimoji="1" lang="en-US" altLang="zh-TW" sz="2400" dirty="0"/>
              <a:t>, l, n, o, r, s, t, w, es, </a:t>
            </a:r>
            <a:r>
              <a:rPr kumimoji="1" lang="en-US" altLang="zh-TW" sz="2400" dirty="0" err="1"/>
              <a:t>est</a:t>
            </a:r>
            <a:r>
              <a:rPr kumimoji="1" lang="en-US" altLang="zh-TW" sz="2400" dirty="0"/>
              <a:t>, </a:t>
            </a:r>
            <a:r>
              <a:rPr kumimoji="1" lang="en-US" altLang="zh-TW" sz="2400" dirty="0" err="1"/>
              <a:t>est</a:t>
            </a:r>
            <a:r>
              <a:rPr kumimoji="1" lang="en-US" altLang="zh-TW" sz="2400" dirty="0"/>
              <a:t>&lt;/w&gt;, </a:t>
            </a:r>
            <a:r>
              <a:rPr kumimoji="1" lang="en-US" altLang="zh-TW" sz="2400" dirty="0">
                <a:solidFill>
                  <a:srgbClr val="FF0000"/>
                </a:solidFill>
              </a:rPr>
              <a:t>lo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D314A96E-4054-A65B-9851-684F94AF7AB3}"/>
              </a:ext>
            </a:extLst>
          </p:cNvPr>
          <p:cNvCxnSpPr/>
          <p:nvPr/>
        </p:nvCxnSpPr>
        <p:spPr>
          <a:xfrm>
            <a:off x="1097280" y="4781725"/>
            <a:ext cx="10058400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表格 13">
            <a:extLst>
              <a:ext uri="{FF2B5EF4-FFF2-40B4-BE49-F238E27FC236}">
                <a16:creationId xmlns:a16="http://schemas.microsoft.com/office/drawing/2014/main" id="{EF590B33-5D16-813D-6BCD-8160CAD82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623323"/>
              </p:ext>
            </p:extLst>
          </p:nvPr>
        </p:nvGraphicFramePr>
        <p:xfrm>
          <a:off x="1240255" y="2476339"/>
          <a:ext cx="3566637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015">
                  <a:extLst>
                    <a:ext uri="{9D8B030D-6E8A-4147-A177-3AD203B41FA5}">
                      <a16:colId xmlns:a16="http://schemas.microsoft.com/office/drawing/2014/main" val="299152187"/>
                    </a:ext>
                  </a:extLst>
                </a:gridCol>
                <a:gridCol w="1511622">
                  <a:extLst>
                    <a:ext uri="{9D8B030D-6E8A-4147-A177-3AD203B41FA5}">
                      <a16:colId xmlns:a16="http://schemas.microsoft.com/office/drawing/2014/main" val="626042458"/>
                    </a:ext>
                  </a:extLst>
                </a:gridCol>
              </a:tblGrid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Word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410158"/>
                  </a:ext>
                </a:extLst>
              </a:tr>
              <a:tr h="302338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72698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l o w e r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67199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n e w </a:t>
                      </a:r>
                      <a:r>
                        <a:rPr lang="en-US" altLang="zh-TW" sz="2000" b="0" dirty="0" err="1">
                          <a:solidFill>
                            <a:schemeClr val="tx1"/>
                          </a:solidFill>
                        </a:rPr>
                        <a:t>est</a:t>
                      </a:r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&lt;/w&gt;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810822"/>
                  </a:ext>
                </a:extLst>
              </a:tr>
              <a:tr h="184072">
                <a:tc>
                  <a:txBody>
                    <a:bodyPr/>
                    <a:lstStyle/>
                    <a:p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w </a:t>
                      </a:r>
                      <a:r>
                        <a:rPr lang="en-US" altLang="zh-TW" sz="2000" b="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 d </a:t>
                      </a:r>
                      <a:r>
                        <a:rPr lang="en-US" altLang="zh-TW" sz="2000" b="0" dirty="0" err="1">
                          <a:solidFill>
                            <a:schemeClr val="tx1"/>
                          </a:solidFill>
                        </a:rPr>
                        <a:t>est</a:t>
                      </a:r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&lt;/w&gt;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135537"/>
                  </a:ext>
                </a:extLst>
              </a:tr>
            </a:tbl>
          </a:graphicData>
        </a:graphic>
      </p:graphicFrame>
      <p:sp>
        <p:nvSpPr>
          <p:cNvPr id="29" name="內容版面配置區 2">
            <a:extLst>
              <a:ext uri="{FF2B5EF4-FFF2-40B4-BE49-F238E27FC236}">
                <a16:creationId xmlns:a16="http://schemas.microsoft.com/office/drawing/2014/main" id="{C30B09EF-4B99-3AE9-C5D2-BB99F55C2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400" y="1386267"/>
            <a:ext cx="10058400" cy="8403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600" dirty="0"/>
              <a:t> Add the pair with the highest frequency to the vocab</a:t>
            </a:r>
          </a:p>
        </p:txBody>
      </p:sp>
    </p:spTree>
    <p:extLst>
      <p:ext uri="{BB962C8B-B14F-4D97-AF65-F5344CB8AC3E}">
        <p14:creationId xmlns:p14="http://schemas.microsoft.com/office/powerpoint/2010/main" val="15854086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B6B308-E528-1567-412F-2BF52CB9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30</a:t>
            </a:fld>
            <a:endParaRPr lang="zh-TW" altLang="en-US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72B7EC78-AE70-CE80-E90A-785982A83242}"/>
              </a:ext>
            </a:extLst>
          </p:cNvPr>
          <p:cNvSpPr txBox="1">
            <a:spLocks/>
          </p:cNvSpPr>
          <p:nvPr/>
        </p:nvSpPr>
        <p:spPr>
          <a:xfrm>
            <a:off x="705400" y="1426297"/>
            <a:ext cx="10450280" cy="103340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600"/>
              <a:t> </a:t>
            </a:r>
            <a:r>
              <a:rPr kumimoji="1" lang="en-US" altLang="zh-TW" sz="2600">
                <a:solidFill>
                  <a:srgbClr val="FF0000"/>
                </a:solidFill>
              </a:rPr>
              <a:t>Merge</a:t>
            </a:r>
            <a:r>
              <a:rPr kumimoji="1" lang="en-US" altLang="zh-TW" sz="2600"/>
              <a:t> the characters by replacing all words in the corpus with </a:t>
            </a:r>
            <a:r>
              <a:rPr kumimoji="1" lang="en-US" altLang="zh-TW" sz="2600">
                <a:solidFill>
                  <a:srgbClr val="FF0000"/>
                </a:solidFill>
              </a:rPr>
              <a:t>the newly added pair</a:t>
            </a:r>
            <a:r>
              <a:rPr kumimoji="1" lang="en-US" altLang="zh-TW" sz="2600">
                <a:solidFill>
                  <a:schemeClr val="tx1"/>
                </a:solidFill>
              </a:rPr>
              <a:t>.</a:t>
            </a:r>
            <a:endParaRPr kumimoji="1" lang="en-US" altLang="zh-TW" sz="26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30D6CE-F9DB-512C-FA63-1D7779F8BE36}"/>
              </a:ext>
            </a:extLst>
          </p:cNvPr>
          <p:cNvSpPr/>
          <p:nvPr/>
        </p:nvSpPr>
        <p:spPr>
          <a:xfrm>
            <a:off x="8282940" y="533680"/>
            <a:ext cx="2811780" cy="71762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Repeated (2)-(4)</a:t>
            </a:r>
          </a:p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according to `</a:t>
            </a:r>
            <a:r>
              <a:rPr kumimoji="1" lang="en-US" altLang="zh-TW" sz="1600" dirty="0" err="1">
                <a:solidFill>
                  <a:srgbClr val="00B050"/>
                </a:solidFill>
              </a:rPr>
              <a:t>num_merges</a:t>
            </a:r>
            <a:r>
              <a:rPr kumimoji="1" lang="en-US" altLang="zh-TW" sz="1600" dirty="0">
                <a:solidFill>
                  <a:srgbClr val="00B050"/>
                </a:solidFill>
              </a:rPr>
              <a:t>`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7AA0BAA-AA83-E1BE-8ED6-86082B1C7706}"/>
              </a:ext>
            </a:extLst>
          </p:cNvPr>
          <p:cNvSpPr txBox="1"/>
          <p:nvPr/>
        </p:nvSpPr>
        <p:spPr>
          <a:xfrm>
            <a:off x="1224010" y="5281239"/>
            <a:ext cx="9676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Current Vocabulary: </a:t>
            </a:r>
            <a:r>
              <a:rPr kumimoji="1" lang="en-US" altLang="zh-TW" sz="2400" dirty="0">
                <a:solidFill>
                  <a:srgbClr val="0070C0"/>
                </a:solidFill>
              </a:rPr>
              <a:t>&lt;/w&gt;</a:t>
            </a:r>
            <a:r>
              <a:rPr kumimoji="1" lang="en-US" altLang="zh-TW" sz="2400" dirty="0"/>
              <a:t>, d, e, </a:t>
            </a:r>
            <a:r>
              <a:rPr kumimoji="1" lang="en-US" altLang="zh-TW" sz="2400" dirty="0" err="1"/>
              <a:t>i</a:t>
            </a:r>
            <a:r>
              <a:rPr kumimoji="1" lang="en-US" altLang="zh-TW" sz="2400" dirty="0"/>
              <a:t>, l, n, o, r, s, t, w, es, </a:t>
            </a:r>
            <a:r>
              <a:rPr kumimoji="1" lang="en-US" altLang="zh-TW" sz="2400" dirty="0" err="1"/>
              <a:t>est</a:t>
            </a:r>
            <a:r>
              <a:rPr kumimoji="1" lang="en-US" altLang="zh-TW" sz="2400" dirty="0"/>
              <a:t>, </a:t>
            </a:r>
            <a:r>
              <a:rPr kumimoji="1" lang="en-US" altLang="zh-TW" sz="2400" dirty="0" err="1"/>
              <a:t>est</a:t>
            </a:r>
            <a:r>
              <a:rPr kumimoji="1" lang="en-US" altLang="zh-TW" sz="2400" dirty="0"/>
              <a:t>&lt;/w&gt;, </a:t>
            </a:r>
            <a:r>
              <a:rPr kumimoji="1" lang="en-US" altLang="zh-TW" sz="2400" dirty="0">
                <a:solidFill>
                  <a:srgbClr val="FF0000"/>
                </a:solidFill>
              </a:rPr>
              <a:t>lo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C00858D0-1236-7120-8A39-BF975599B3A3}"/>
              </a:ext>
            </a:extLst>
          </p:cNvPr>
          <p:cNvCxnSpPr/>
          <p:nvPr/>
        </p:nvCxnSpPr>
        <p:spPr>
          <a:xfrm>
            <a:off x="1097280" y="4781725"/>
            <a:ext cx="10058400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13">
            <a:extLst>
              <a:ext uri="{FF2B5EF4-FFF2-40B4-BE49-F238E27FC236}">
                <a16:creationId xmlns:a16="http://schemas.microsoft.com/office/drawing/2014/main" id="{093E7E62-2DDB-81E8-0371-BA435D439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926340"/>
              </p:ext>
            </p:extLst>
          </p:nvPr>
        </p:nvGraphicFramePr>
        <p:xfrm>
          <a:off x="1240255" y="2476339"/>
          <a:ext cx="3566637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015">
                  <a:extLst>
                    <a:ext uri="{9D8B030D-6E8A-4147-A177-3AD203B41FA5}">
                      <a16:colId xmlns:a16="http://schemas.microsoft.com/office/drawing/2014/main" val="299152187"/>
                    </a:ext>
                  </a:extLst>
                </a:gridCol>
                <a:gridCol w="1511622">
                  <a:extLst>
                    <a:ext uri="{9D8B030D-6E8A-4147-A177-3AD203B41FA5}">
                      <a16:colId xmlns:a16="http://schemas.microsoft.com/office/drawing/2014/main" val="626042458"/>
                    </a:ext>
                  </a:extLst>
                </a:gridCol>
              </a:tblGrid>
              <a:tr h="207433"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Word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410158"/>
                  </a:ext>
                </a:extLst>
              </a:tr>
              <a:tr h="302338">
                <a:tc>
                  <a:txBody>
                    <a:bodyPr/>
                    <a:lstStyle/>
                    <a:p>
                      <a:r>
                        <a:rPr lang="en-US" altLang="zh-TW" sz="2000" b="1" dirty="0">
                          <a:solidFill>
                            <a:srgbClr val="FF0000"/>
                          </a:solidFill>
                        </a:rPr>
                        <a:t>lo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 w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72698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b="1" dirty="0">
                          <a:solidFill>
                            <a:srgbClr val="FF0000"/>
                          </a:solidFill>
                        </a:rPr>
                        <a:t>lo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 w e r </a:t>
                      </a:r>
                      <a:r>
                        <a:rPr lang="en-US" altLang="zh-TW" sz="2000" dirty="0">
                          <a:solidFill>
                            <a:srgbClr val="0070C0"/>
                          </a:solidFill>
                        </a:rPr>
                        <a:t>&lt;/w&gt;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67199"/>
                  </a:ext>
                </a:extLst>
              </a:tr>
              <a:tr h="207433">
                <a:tc>
                  <a:txBody>
                    <a:bodyPr/>
                    <a:lstStyle/>
                    <a:p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n e w </a:t>
                      </a:r>
                      <a:r>
                        <a:rPr lang="en-US" altLang="zh-TW" sz="2000" b="0" dirty="0" err="1">
                          <a:solidFill>
                            <a:schemeClr val="tx1"/>
                          </a:solidFill>
                        </a:rPr>
                        <a:t>est</a:t>
                      </a:r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&lt;/w&gt;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810822"/>
                  </a:ext>
                </a:extLst>
              </a:tr>
              <a:tr h="184072">
                <a:tc>
                  <a:txBody>
                    <a:bodyPr/>
                    <a:lstStyle/>
                    <a:p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w </a:t>
                      </a:r>
                      <a:r>
                        <a:rPr lang="en-US" altLang="zh-TW" sz="2000" b="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 d </a:t>
                      </a:r>
                      <a:r>
                        <a:rPr lang="en-US" altLang="zh-TW" sz="2000" b="0" dirty="0" err="1">
                          <a:solidFill>
                            <a:schemeClr val="tx1"/>
                          </a:solidFill>
                        </a:rPr>
                        <a:t>est</a:t>
                      </a:r>
                      <a:r>
                        <a:rPr lang="en-US" altLang="zh-TW" sz="2000" b="0" dirty="0">
                          <a:solidFill>
                            <a:schemeClr val="tx1"/>
                          </a:solidFill>
                        </a:rPr>
                        <a:t>&lt;/w&gt;</a:t>
                      </a:r>
                      <a:endParaRPr lang="zh-TW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135537"/>
                  </a:ext>
                </a:extLst>
              </a:tr>
            </a:tbl>
          </a:graphicData>
        </a:graphic>
      </p:graphicFrame>
      <p:sp>
        <p:nvSpPr>
          <p:cNvPr id="18" name="標題 1">
            <a:extLst>
              <a:ext uri="{FF2B5EF4-FFF2-40B4-BE49-F238E27FC236}">
                <a16:creationId xmlns:a16="http://schemas.microsoft.com/office/drawing/2014/main" id="{FCB01297-B2B8-2F42-04AD-CF603DEFF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400" y="356088"/>
            <a:ext cx="10058400" cy="1033416"/>
          </a:xfrm>
        </p:spPr>
        <p:txBody>
          <a:bodyPr/>
          <a:lstStyle/>
          <a:p>
            <a:r>
              <a:rPr lang="en-US" altLang="zh-TW" dirty="0">
                <a:ea typeface="新細明體"/>
                <a:cs typeface="Calibri Light"/>
              </a:rPr>
              <a:t>Sub-word Tokenization (4)</a:t>
            </a:r>
            <a:endParaRPr lang="zh-TW" altLang="en-US" sz="2400" dirty="0">
              <a:ea typeface="新細明體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4260572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3D0126-8108-F0DB-44C8-AAF1BBD0D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Finishing the </a:t>
            </a:r>
            <a:r>
              <a:rPr lang="en-US" altLang="zh-TW" dirty="0">
                <a:ea typeface="新細明體"/>
                <a:cs typeface="Calibri Light"/>
              </a:rPr>
              <a:t>Sub-word Leaning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480402-71DD-FFDD-6B85-5A1762AB7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4CCC245-B8CB-CC29-B7DE-FDA9C5A32FAA}"/>
              </a:ext>
            </a:extLst>
          </p:cNvPr>
          <p:cNvSpPr txBox="1"/>
          <p:nvPr/>
        </p:nvSpPr>
        <p:spPr>
          <a:xfrm>
            <a:off x="636815" y="1942399"/>
            <a:ext cx="10918370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</a:rPr>
              <a:t>Assume `</a:t>
            </a:r>
            <a:r>
              <a:rPr kumimoji="1" lang="en" altLang="zh-TW" sz="2400" dirty="0" err="1">
                <a:ea typeface="Microsoft JhengHei" panose="020B0604030504040204" pitchFamily="34" charset="-120"/>
              </a:rPr>
              <a:t>num_merges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`=4 (we just repeated four times.)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</a:rPr>
              <a:t>`</a:t>
            </a:r>
            <a:r>
              <a:rPr kumimoji="1" lang="en" altLang="zh-TW" sz="2400" dirty="0" err="1">
                <a:ea typeface="Microsoft JhengHei" panose="020B0604030504040204" pitchFamily="34" charset="-120"/>
              </a:rPr>
              <a:t>num_merges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` is a hyperparameter that you need to set for BPE.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</a:rPr>
              <a:t>The learned vocabulary is: </a:t>
            </a:r>
            <a:r>
              <a:rPr kumimoji="1" lang="en" altLang="zh-TW" sz="2400" dirty="0">
                <a:solidFill>
                  <a:srgbClr val="0070C0"/>
                </a:solidFill>
                <a:ea typeface="Microsoft JhengHei" panose="020B0604030504040204" pitchFamily="34" charset="-120"/>
              </a:rPr>
              <a:t>&lt;/w&gt;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, d, e, </a:t>
            </a:r>
            <a:r>
              <a:rPr kumimoji="1" lang="en" altLang="zh-TW" sz="2400" dirty="0" err="1">
                <a:ea typeface="Microsoft JhengHei" panose="020B0604030504040204" pitchFamily="34" charset="-120"/>
              </a:rPr>
              <a:t>i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, l, n, o, r, s, t, w, es, </a:t>
            </a:r>
            <a:r>
              <a:rPr kumimoji="1" lang="en" altLang="zh-TW" sz="2400" dirty="0" err="1">
                <a:ea typeface="Microsoft JhengHei" panose="020B0604030504040204" pitchFamily="34" charset="-120"/>
              </a:rPr>
              <a:t>est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, </a:t>
            </a:r>
            <a:r>
              <a:rPr kumimoji="1" lang="en" altLang="zh-TW" sz="2400" dirty="0" err="1">
                <a:ea typeface="Microsoft JhengHei" panose="020B0604030504040204" pitchFamily="34" charset="-120"/>
              </a:rPr>
              <a:t>est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&lt;/w&gt;, lo</a:t>
            </a:r>
            <a:endParaRPr kumimoji="1" lang="en" altLang="zh-TW" sz="2400" baseline="300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883048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AFD1CF-5983-F8CD-F466-8DD51E475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Tokenization with Learned BPE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ECD23A-CBE2-E1D9-C33B-BCCA31A0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957CCD0-7915-B189-F783-1047BEA13B8A}"/>
              </a:ext>
            </a:extLst>
          </p:cNvPr>
          <p:cNvSpPr txBox="1"/>
          <p:nvPr/>
        </p:nvSpPr>
        <p:spPr>
          <a:xfrm>
            <a:off x="2579737" y="4751253"/>
            <a:ext cx="188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dirty="0"/>
              <a:t>l o w &lt;/w&gt;</a:t>
            </a:r>
            <a:endParaRPr kumimoji="1" lang="zh-TW" altLang="en-US" sz="2800" dirty="0"/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BD282179-6EFD-5AE3-0C80-326D32FE6A35}"/>
              </a:ext>
            </a:extLst>
          </p:cNvPr>
          <p:cNvCxnSpPr/>
          <p:nvPr/>
        </p:nvCxnSpPr>
        <p:spPr>
          <a:xfrm>
            <a:off x="4846475" y="5012863"/>
            <a:ext cx="10744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055553EB-04E6-8EA6-2000-F1B53C617D3F}"/>
              </a:ext>
            </a:extLst>
          </p:cNvPr>
          <p:cNvSpPr/>
          <p:nvPr/>
        </p:nvSpPr>
        <p:spPr>
          <a:xfrm>
            <a:off x="6492395" y="4805285"/>
            <a:ext cx="754380" cy="41515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lo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FA72F671-27EC-F730-EE80-F28F11325EC7}"/>
              </a:ext>
            </a:extLst>
          </p:cNvPr>
          <p:cNvSpPr/>
          <p:nvPr/>
        </p:nvSpPr>
        <p:spPr>
          <a:xfrm>
            <a:off x="7372505" y="4805285"/>
            <a:ext cx="754380" cy="41515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w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5F70A26E-C19E-D77C-A0AD-3A983A69EBCA}"/>
              </a:ext>
            </a:extLst>
          </p:cNvPr>
          <p:cNvSpPr/>
          <p:nvPr/>
        </p:nvSpPr>
        <p:spPr>
          <a:xfrm>
            <a:off x="8252615" y="4805285"/>
            <a:ext cx="948442" cy="41515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&lt;/w&gt;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696B974-5A0E-DEC2-531C-A3D469175551}"/>
              </a:ext>
            </a:extLst>
          </p:cNvPr>
          <p:cNvSpPr txBox="1"/>
          <p:nvPr/>
        </p:nvSpPr>
        <p:spPr>
          <a:xfrm>
            <a:off x="1602397" y="5534968"/>
            <a:ext cx="3171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dirty="0"/>
              <a:t>w </a:t>
            </a:r>
            <a:r>
              <a:rPr kumimoji="1" lang="en-US" altLang="zh-TW" sz="2800" dirty="0" err="1"/>
              <a:t>i</a:t>
            </a:r>
            <a:r>
              <a:rPr kumimoji="1" lang="en-US" altLang="zh-TW" sz="2800" dirty="0"/>
              <a:t> d e s t &lt;/w&gt;</a:t>
            </a:r>
            <a:endParaRPr kumimoji="1" lang="zh-TW" altLang="en-US" sz="2800" dirty="0"/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D56B77D8-D359-CDCA-D8F9-20D4EFCBC718}"/>
              </a:ext>
            </a:extLst>
          </p:cNvPr>
          <p:cNvCxnSpPr/>
          <p:nvPr/>
        </p:nvCxnSpPr>
        <p:spPr>
          <a:xfrm>
            <a:off x="4846475" y="5796578"/>
            <a:ext cx="10744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EE12E1A2-E76B-5ED8-EC41-6187A5D3AABD}"/>
              </a:ext>
            </a:extLst>
          </p:cNvPr>
          <p:cNvSpPr/>
          <p:nvPr/>
        </p:nvSpPr>
        <p:spPr>
          <a:xfrm>
            <a:off x="6492395" y="5589000"/>
            <a:ext cx="754380" cy="41515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w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1685C7EE-71EC-72D2-918C-9998A9CBB8EF}"/>
              </a:ext>
            </a:extLst>
          </p:cNvPr>
          <p:cNvSpPr/>
          <p:nvPr/>
        </p:nvSpPr>
        <p:spPr>
          <a:xfrm>
            <a:off x="7372505" y="5589000"/>
            <a:ext cx="754380" cy="41515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i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35CDC14E-9FE6-8E0B-3A28-45382F4B14DC}"/>
              </a:ext>
            </a:extLst>
          </p:cNvPr>
          <p:cNvSpPr/>
          <p:nvPr/>
        </p:nvSpPr>
        <p:spPr>
          <a:xfrm>
            <a:off x="8252615" y="5589000"/>
            <a:ext cx="754380" cy="41515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d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024AB80C-6C81-1C19-14FA-DA5924222782}"/>
              </a:ext>
            </a:extLst>
          </p:cNvPr>
          <p:cNvSpPr/>
          <p:nvPr/>
        </p:nvSpPr>
        <p:spPr>
          <a:xfrm>
            <a:off x="9132725" y="5589000"/>
            <a:ext cx="1312024" cy="41515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 err="1">
                <a:solidFill>
                  <a:schemeClr val="tx1"/>
                </a:solidFill>
              </a:rPr>
              <a:t>est</a:t>
            </a:r>
            <a:r>
              <a:rPr kumimoji="1" lang="en-US" altLang="zh-TW" sz="2400" dirty="0">
                <a:solidFill>
                  <a:schemeClr val="tx1"/>
                </a:solidFill>
              </a:rPr>
              <a:t>&lt;/w&gt;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8D17BD1-C38E-8BC8-E4DC-B2E2B9E12858}"/>
              </a:ext>
            </a:extLst>
          </p:cNvPr>
          <p:cNvSpPr txBox="1"/>
          <p:nvPr/>
        </p:nvSpPr>
        <p:spPr>
          <a:xfrm>
            <a:off x="636815" y="1600039"/>
            <a:ext cx="10918370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</a:rPr>
              <a:t>The learned vocabulary is: </a:t>
            </a:r>
            <a:r>
              <a:rPr kumimoji="1" lang="en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&lt;/w&gt;, d, e, </a:t>
            </a:r>
            <a:r>
              <a:rPr kumimoji="1" lang="en" altLang="zh-TW" sz="2400" dirty="0" err="1">
                <a:solidFill>
                  <a:srgbClr val="FF0000"/>
                </a:solidFill>
                <a:ea typeface="Microsoft JhengHei" panose="020B0604030504040204" pitchFamily="34" charset="-120"/>
              </a:rPr>
              <a:t>i</a:t>
            </a:r>
            <a:r>
              <a:rPr kumimoji="1" lang="en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, l, n, o, r, s, t, w, es, </a:t>
            </a:r>
            <a:r>
              <a:rPr kumimoji="1" lang="en" altLang="zh-TW" sz="2400" dirty="0" err="1">
                <a:solidFill>
                  <a:srgbClr val="FF0000"/>
                </a:solidFill>
                <a:ea typeface="Microsoft JhengHei" panose="020B0604030504040204" pitchFamily="34" charset="-120"/>
              </a:rPr>
              <a:t>est</a:t>
            </a:r>
            <a:r>
              <a:rPr kumimoji="1" lang="en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, </a:t>
            </a:r>
            <a:r>
              <a:rPr kumimoji="1" lang="en" altLang="zh-TW" sz="2400" dirty="0" err="1">
                <a:solidFill>
                  <a:srgbClr val="FF0000"/>
                </a:solidFill>
                <a:ea typeface="Microsoft JhengHei" panose="020B0604030504040204" pitchFamily="34" charset="-120"/>
              </a:rPr>
              <a:t>est</a:t>
            </a:r>
            <a:r>
              <a:rPr kumimoji="1" lang="en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&lt;/w&gt;, lo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</a:rPr>
              <a:t>We first turn each word into a sequence of characters with &lt;/w&gt; placed at the end of a word, same as the first step during the learning phase.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</a:rPr>
              <a:t>Then we can merge the characters according to the learned vocabulary.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</a:rPr>
              <a:t>Examples:</a:t>
            </a:r>
          </a:p>
        </p:txBody>
      </p:sp>
    </p:spTree>
    <p:extLst>
      <p:ext uri="{BB962C8B-B14F-4D97-AF65-F5344CB8AC3E}">
        <p14:creationId xmlns:p14="http://schemas.microsoft.com/office/powerpoint/2010/main" val="25998729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AFD1CF-5983-F8CD-F466-8DD51E475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[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注意事項</a:t>
            </a:r>
            <a:r>
              <a:rPr kumimoji="1" lang="en-US" altLang="zh-TW" dirty="0"/>
              <a:t>] Tokenization with Learned BPE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ECD23A-CBE2-E1D9-C33B-BCCA31A0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113A12A-4DAF-6F41-B6E4-4C9830E4B54A}"/>
              </a:ext>
            </a:extLst>
          </p:cNvPr>
          <p:cNvSpPr txBox="1"/>
          <p:nvPr/>
        </p:nvSpPr>
        <p:spPr>
          <a:xfrm>
            <a:off x="653144" y="1674614"/>
            <a:ext cx="10918370" cy="2794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合併的順序：</a:t>
            </a:r>
            <a:r>
              <a:rPr kumimoji="1" lang="en-US" altLang="zh-TW" sz="2400" dirty="0"/>
              <a:t>left to right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在實際 </a:t>
            </a:r>
            <a:r>
              <a:rPr kumimoji="1" lang="en-US" altLang="zh-TW" sz="2400" dirty="0"/>
              <a:t>tokenization </a:t>
            </a:r>
            <a:r>
              <a:rPr kumimoji="1" lang="zh-TW" altLang="en-US" sz="2400" dirty="0"/>
              <a:t>時，常會從左到右掃描字串，依照已學到的 </a:t>
            </a:r>
            <a:r>
              <a:rPr kumimoji="1" lang="en-US" altLang="zh-TW" sz="2400" dirty="0"/>
              <a:t>merge rules </a:t>
            </a:r>
            <a:r>
              <a:rPr kumimoji="1" lang="zh-TW" altLang="en-US" sz="2400" dirty="0"/>
              <a:t>去合併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每次合併的依據：依照 </a:t>
            </a:r>
            <a:r>
              <a:rPr kumimoji="1" lang="en-US" altLang="zh-TW" sz="2400" dirty="0"/>
              <a:t>learned merge rules </a:t>
            </a:r>
            <a:r>
              <a:rPr kumimoji="1" lang="zh-TW" altLang="en-US" sz="2400" dirty="0"/>
              <a:t>進行；若可形成較長的已學習子詞，通常會繼續合併 </a:t>
            </a:r>
            <a:r>
              <a:rPr kumimoji="1" lang="en-US" altLang="zh-TW" sz="2400" dirty="0"/>
              <a:t>(e.g., low: </a:t>
            </a:r>
            <a:r>
              <a:rPr kumimoji="1" lang="en-US" altLang="zh-TW" sz="2400" dirty="0" err="1"/>
              <a:t>l+o→lo</a:t>
            </a:r>
            <a:r>
              <a:rPr kumimoji="1" lang="en-US" altLang="zh-TW" sz="2400" dirty="0"/>
              <a:t>, </a:t>
            </a:r>
            <a:r>
              <a:rPr kumimoji="1" lang="en-US" altLang="zh-TW" sz="2400" dirty="0" err="1"/>
              <a:t>lo+w→low</a:t>
            </a:r>
            <a:r>
              <a:rPr kumimoji="1" lang="en-US" altLang="zh-TW" sz="2400" dirty="0"/>
              <a:t>)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585530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AFD1CF-5983-F8CD-F466-8DD51E475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Properties of BPE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ECD23A-CBE2-E1D9-C33B-BCCA31A0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8F2AA645-42AB-D409-3A78-9907E9044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751618"/>
            <a:ext cx="10058400" cy="8572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600" dirty="0"/>
              <a:t> The final learned vocabulary size = </a:t>
            </a:r>
            <a:r>
              <a:rPr kumimoji="1" lang="en-US" altLang="zh-TW" sz="2600" b="1" dirty="0">
                <a:solidFill>
                  <a:srgbClr val="0070C0"/>
                </a:solidFill>
              </a:rPr>
              <a:t>initial</a:t>
            </a:r>
            <a:r>
              <a:rPr kumimoji="1" lang="en-US" altLang="zh-TW" sz="2600" dirty="0"/>
              <a:t> size + `</a:t>
            </a:r>
            <a:r>
              <a:rPr kumimoji="1" lang="en-US" altLang="zh-TW" sz="2600" dirty="0" err="1"/>
              <a:t>num_merges</a:t>
            </a:r>
            <a:r>
              <a:rPr kumimoji="1" lang="en-US" altLang="zh-TW" sz="2600" dirty="0"/>
              <a:t>`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9064212-E49C-6CB9-272D-14266AFC3608}"/>
              </a:ext>
            </a:extLst>
          </p:cNvPr>
          <p:cNvSpPr txBox="1"/>
          <p:nvPr/>
        </p:nvSpPr>
        <p:spPr>
          <a:xfrm>
            <a:off x="1156062" y="2451526"/>
            <a:ext cx="9012755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b="1" dirty="0">
                <a:solidFill>
                  <a:srgbClr val="0070C0"/>
                </a:solidFill>
              </a:rPr>
              <a:t>Initial</a:t>
            </a:r>
            <a:r>
              <a:rPr kumimoji="1" lang="en-US" altLang="zh-TW" sz="2400" dirty="0"/>
              <a:t> vocab: &lt;/w&gt;, d, e, </a:t>
            </a:r>
            <a:r>
              <a:rPr kumimoji="1" lang="en-US" altLang="zh-TW" sz="2400" dirty="0" err="1"/>
              <a:t>i</a:t>
            </a:r>
            <a:r>
              <a:rPr kumimoji="1" lang="en-US" altLang="zh-TW" sz="2400" dirty="0"/>
              <a:t>, l, n, o, r, s, t, w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Learned vocab: &lt;/w&gt;, d, e, </a:t>
            </a:r>
            <a:r>
              <a:rPr kumimoji="1" lang="en-US" altLang="zh-TW" sz="2400" dirty="0" err="1"/>
              <a:t>i</a:t>
            </a:r>
            <a:r>
              <a:rPr kumimoji="1" lang="en-US" altLang="zh-TW" sz="2400" dirty="0"/>
              <a:t>, l, n, o, r, s, t, w, </a:t>
            </a:r>
            <a:r>
              <a:rPr kumimoji="1" lang="en-US" altLang="zh-TW" sz="2400" dirty="0">
                <a:solidFill>
                  <a:srgbClr val="FF0000"/>
                </a:solidFill>
              </a:rPr>
              <a:t>es, </a:t>
            </a:r>
            <a:r>
              <a:rPr kumimoji="1" lang="en-US" altLang="zh-TW" sz="2400" dirty="0" err="1">
                <a:solidFill>
                  <a:srgbClr val="FF0000"/>
                </a:solidFill>
              </a:rPr>
              <a:t>est</a:t>
            </a:r>
            <a:r>
              <a:rPr kumimoji="1" lang="en-US" altLang="zh-TW" sz="2400" dirty="0">
                <a:solidFill>
                  <a:srgbClr val="FF0000"/>
                </a:solidFill>
              </a:rPr>
              <a:t>, </a:t>
            </a:r>
            <a:r>
              <a:rPr kumimoji="1" lang="en-US" altLang="zh-TW" sz="2400" dirty="0" err="1">
                <a:solidFill>
                  <a:srgbClr val="FF0000"/>
                </a:solidFill>
              </a:rPr>
              <a:t>est</a:t>
            </a:r>
            <a:r>
              <a:rPr kumimoji="1" lang="en-US" altLang="zh-TW" sz="2400" dirty="0">
                <a:solidFill>
                  <a:srgbClr val="FF0000"/>
                </a:solidFill>
              </a:rPr>
              <a:t>&lt;/w&gt;, lo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3141190-598E-A36A-28EC-E3F047D8193D}"/>
              </a:ext>
            </a:extLst>
          </p:cNvPr>
          <p:cNvSpPr txBox="1">
            <a:spLocks/>
          </p:cNvSpPr>
          <p:nvPr/>
        </p:nvSpPr>
        <p:spPr>
          <a:xfrm>
            <a:off x="653143" y="3594596"/>
            <a:ext cx="10058400" cy="153718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kumimoji="1" lang="en-US" altLang="zh-TW" sz="2600" dirty="0"/>
              <a:t> This algorithm is based on statistics, so frequent sub-word units in provided corpora will be put to the learned vocabulary.</a:t>
            </a:r>
          </a:p>
        </p:txBody>
      </p:sp>
    </p:spTree>
    <p:extLst>
      <p:ext uri="{BB962C8B-B14F-4D97-AF65-F5344CB8AC3E}">
        <p14:creationId xmlns:p14="http://schemas.microsoft.com/office/powerpoint/2010/main" val="12225624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748D6B33-81BB-3434-DF16-FBA7921D3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Attention</a:t>
            </a:r>
            <a:endParaRPr lang="zh-TW" altLang="en-US" dirty="0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18B721E6-84E1-23EC-7EFA-7E9DBEA5A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EBB1DA-54A1-9DDE-D4C0-9CE40FB01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3033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BC97FD-B1C6-A558-52C8-BEB404A96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Attention relationship among words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2B1FD8-9661-0A9E-7D0D-141E73225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4537" y="6492875"/>
            <a:ext cx="1312025" cy="365125"/>
          </a:xfrm>
        </p:spPr>
        <p:txBody>
          <a:bodyPr/>
          <a:lstStyle/>
          <a:p>
            <a:fld id="{6113E31D-E2AB-40D1-8B51-AFA5AFEF393A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51BE58B-84C4-6C1D-BA9C-06BA723D2AF3}"/>
              </a:ext>
            </a:extLst>
          </p:cNvPr>
          <p:cNvSpPr txBox="1"/>
          <p:nvPr/>
        </p:nvSpPr>
        <p:spPr>
          <a:xfrm>
            <a:off x="653143" y="2338093"/>
            <a:ext cx="1008066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" altLang="zh-TW" sz="2400" dirty="0"/>
              <a:t>Katniss looked at Prim sleeping beside her and felt a sudden heaviness, because today was the </a:t>
            </a:r>
            <a:r>
              <a:rPr kumimoji="1" lang="en" altLang="zh-TW" sz="2400" dirty="0">
                <a:solidFill>
                  <a:srgbClr val="FF0000"/>
                </a:solidFill>
              </a:rPr>
              <a:t>Reaping</a:t>
            </a:r>
            <a:r>
              <a:rPr kumimoji="1" lang="en" altLang="zh-TW" sz="2400" dirty="0"/>
              <a:t>.</a:t>
            </a:r>
            <a:endParaRPr kumimoji="1" lang="zh-TW" altLang="en-US" sz="2400" dirty="0"/>
          </a:p>
        </p:txBody>
      </p:sp>
      <p:pic>
        <p:nvPicPr>
          <p:cNvPr id="1026" name="Picture 2" descr="Cover of the novel, showing the title in white text on a black and grey background, above a depiction of a gold pin featuring a bird in flight, its wings spread and an arrow clasped in its beak.">
            <a:extLst>
              <a:ext uri="{FF2B5EF4-FFF2-40B4-BE49-F238E27FC236}">
                <a16:creationId xmlns:a16="http://schemas.microsoft.com/office/drawing/2014/main" id="{E7F0B92B-2E4A-5AAE-8783-AA93B994D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2243" y="2213264"/>
            <a:ext cx="716614" cy="108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82CCE80-F14D-2E56-3B46-73C25F78E174}"/>
              </a:ext>
            </a:extLst>
          </p:cNvPr>
          <p:cNvSpPr txBox="1"/>
          <p:nvPr/>
        </p:nvSpPr>
        <p:spPr>
          <a:xfrm>
            <a:off x="4239492" y="3083867"/>
            <a:ext cx="477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b="1" dirty="0"/>
              <a:t>?</a:t>
            </a:r>
            <a:endParaRPr kumimoji="1" lang="zh-TW" altLang="en-US" sz="2400" b="1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2EE99200-C7D9-E5BE-BDEC-EE5D857C5BBA}"/>
              </a:ext>
            </a:extLst>
          </p:cNvPr>
          <p:cNvCxnSpPr/>
          <p:nvPr/>
        </p:nvCxnSpPr>
        <p:spPr>
          <a:xfrm>
            <a:off x="7169727" y="2784764"/>
            <a:ext cx="32004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接點 9">
            <a:extLst>
              <a:ext uri="{FF2B5EF4-FFF2-40B4-BE49-F238E27FC236}">
                <a16:creationId xmlns:a16="http://schemas.microsoft.com/office/drawing/2014/main" id="{C4594478-F00B-88FB-FF9E-82A52F3CA073}"/>
              </a:ext>
            </a:extLst>
          </p:cNvPr>
          <p:cNvCxnSpPr>
            <a:cxnSpLocks/>
          </p:cNvCxnSpPr>
          <p:nvPr/>
        </p:nvCxnSpPr>
        <p:spPr>
          <a:xfrm rot="5400000">
            <a:off x="6405194" y="1052546"/>
            <a:ext cx="622406" cy="4195496"/>
          </a:xfrm>
          <a:prstGeom prst="bentConnector3">
            <a:avLst>
              <a:gd name="adj1" fmla="val 136728"/>
            </a:avLst>
          </a:prstGeom>
          <a:ln w="28575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CD1B84A-4108-E7CC-3450-B0EF823108BB}"/>
              </a:ext>
            </a:extLst>
          </p:cNvPr>
          <p:cNvSpPr txBox="1"/>
          <p:nvPr/>
        </p:nvSpPr>
        <p:spPr>
          <a:xfrm>
            <a:off x="6096000" y="3808714"/>
            <a:ext cx="87792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dirty="0"/>
              <a:t>沈重</a:t>
            </a: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197873B2-5840-0721-B1A7-67FE2AC56412}"/>
              </a:ext>
            </a:extLst>
          </p:cNvPr>
          <p:cNvCxnSpPr>
            <a:cxnSpLocks/>
          </p:cNvCxnSpPr>
          <p:nvPr/>
        </p:nvCxnSpPr>
        <p:spPr>
          <a:xfrm>
            <a:off x="1939636" y="3104649"/>
            <a:ext cx="85551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接點 18">
            <a:extLst>
              <a:ext uri="{FF2B5EF4-FFF2-40B4-BE49-F238E27FC236}">
                <a16:creationId xmlns:a16="http://schemas.microsoft.com/office/drawing/2014/main" id="{570637E3-F38B-E337-0129-884885607CE2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09899" y="2296347"/>
            <a:ext cx="316054" cy="2023464"/>
          </a:xfrm>
          <a:prstGeom prst="bentConnector3">
            <a:avLst>
              <a:gd name="adj1" fmla="val 172329"/>
            </a:avLst>
          </a:prstGeom>
          <a:ln w="28575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C0E28A72-845C-DD27-C191-B981B7C37145}"/>
              </a:ext>
            </a:extLst>
          </p:cNvPr>
          <p:cNvSpPr txBox="1"/>
          <p:nvPr/>
        </p:nvSpPr>
        <p:spPr>
          <a:xfrm>
            <a:off x="2642579" y="3808713"/>
            <a:ext cx="145069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dirty="0"/>
              <a:t>特殊節日</a:t>
            </a:r>
          </a:p>
        </p:txBody>
      </p: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A7C87D01-09FC-AFE4-5517-71107CD46EDD}"/>
              </a:ext>
            </a:extLst>
          </p:cNvPr>
          <p:cNvCxnSpPr>
            <a:cxnSpLocks/>
          </p:cNvCxnSpPr>
          <p:nvPr/>
        </p:nvCxnSpPr>
        <p:spPr>
          <a:xfrm>
            <a:off x="1181100" y="5164281"/>
            <a:ext cx="758536" cy="0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16ECC648-04DD-6BB3-3561-962C9A895560}"/>
              </a:ext>
            </a:extLst>
          </p:cNvPr>
          <p:cNvCxnSpPr>
            <a:cxnSpLocks/>
          </p:cNvCxnSpPr>
          <p:nvPr/>
        </p:nvCxnSpPr>
        <p:spPr>
          <a:xfrm>
            <a:off x="1181100" y="5389418"/>
            <a:ext cx="758536" cy="0"/>
          </a:xfrm>
          <a:prstGeom prst="straightConnector1">
            <a:avLst/>
          </a:prstGeom>
          <a:ln w="28575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5348AAD7-5571-ECC5-F85A-9DDCEB5139C3}"/>
              </a:ext>
            </a:extLst>
          </p:cNvPr>
          <p:cNvSpPr txBox="1"/>
          <p:nvPr/>
        </p:nvSpPr>
        <p:spPr>
          <a:xfrm>
            <a:off x="1939636" y="5056623"/>
            <a:ext cx="132311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dirty="0"/>
              <a:t>注意力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E333497F-33DA-C1CE-E8BA-4CE584C9DA9C}"/>
              </a:ext>
            </a:extLst>
          </p:cNvPr>
          <p:cNvSpPr txBox="1"/>
          <p:nvPr/>
        </p:nvSpPr>
        <p:spPr>
          <a:xfrm>
            <a:off x="7169727" y="4597630"/>
            <a:ext cx="3699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0070C0"/>
                </a:solidFill>
              </a:rPr>
              <a:t>任務</a:t>
            </a:r>
            <a:r>
              <a:rPr kumimoji="1" lang="en-US" altLang="zh-TW" sz="2000" dirty="0">
                <a:solidFill>
                  <a:srgbClr val="0070C0"/>
                </a:solidFill>
              </a:rPr>
              <a:t>1</a:t>
            </a:r>
            <a:r>
              <a:rPr kumimoji="1" lang="zh-TW" altLang="en-US" sz="2000" dirty="0">
                <a:solidFill>
                  <a:srgbClr val="0070C0"/>
                </a:solidFill>
              </a:rPr>
              <a:t>：找出與時間相關的字詞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4903E00C-445A-CD7F-40FD-01264A223DB7}"/>
              </a:ext>
            </a:extLst>
          </p:cNvPr>
          <p:cNvSpPr txBox="1"/>
          <p:nvPr/>
        </p:nvSpPr>
        <p:spPr>
          <a:xfrm>
            <a:off x="7169727" y="5056623"/>
            <a:ext cx="3699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chemeClr val="accent6"/>
                </a:solidFill>
              </a:rPr>
              <a:t>任務</a:t>
            </a:r>
            <a:r>
              <a:rPr kumimoji="1" lang="en-US" altLang="zh-TW" sz="2000" dirty="0">
                <a:solidFill>
                  <a:schemeClr val="accent6"/>
                </a:solidFill>
              </a:rPr>
              <a:t>2</a:t>
            </a:r>
            <a:r>
              <a:rPr kumimoji="1" lang="zh-TW" altLang="en-US" sz="2000" dirty="0">
                <a:solidFill>
                  <a:schemeClr val="accent6"/>
                </a:solidFill>
              </a:rPr>
              <a:t>：情感分類任務</a:t>
            </a:r>
          </a:p>
        </p:txBody>
      </p:sp>
    </p:spTree>
    <p:extLst>
      <p:ext uri="{BB962C8B-B14F-4D97-AF65-F5344CB8AC3E}">
        <p14:creationId xmlns:p14="http://schemas.microsoft.com/office/powerpoint/2010/main" val="1918876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  <p:bldP spid="33" grpId="0"/>
      <p:bldP spid="40" grpId="0"/>
      <p:bldP spid="41" grpId="0"/>
      <p:bldP spid="4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2ECE1C-38DD-0C44-7B47-AE272BD92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Attention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C818A6-DE03-FAA5-FF37-8FF2DFEE7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6" name="圖片 5" descr="一張含有 寵物, 哺乳動物, 狗飼養, 室內 的圖片&#10;&#10;AI 產生的內容可能不正確。">
            <a:extLst>
              <a:ext uri="{FF2B5EF4-FFF2-40B4-BE49-F238E27FC236}">
                <a16:creationId xmlns:a16="http://schemas.microsoft.com/office/drawing/2014/main" id="{755FA42C-E534-5026-A496-3918D97E0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158405" y="1139597"/>
            <a:ext cx="6268067" cy="47010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7ECC4DE-E08B-AB92-193C-1D07E9018A70}"/>
              </a:ext>
            </a:extLst>
          </p:cNvPr>
          <p:cNvSpPr/>
          <p:nvPr/>
        </p:nvSpPr>
        <p:spPr>
          <a:xfrm>
            <a:off x="4100947" y="2673927"/>
            <a:ext cx="4433455" cy="346363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F64DDC-9B4C-AD94-96C5-833384874D32}"/>
              </a:ext>
            </a:extLst>
          </p:cNvPr>
          <p:cNvSpPr/>
          <p:nvPr/>
        </p:nvSpPr>
        <p:spPr>
          <a:xfrm>
            <a:off x="4253349" y="1496290"/>
            <a:ext cx="637309" cy="64948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7E7EF0-546B-9276-0E4A-E032A91142C9}"/>
              </a:ext>
            </a:extLst>
          </p:cNvPr>
          <p:cNvSpPr/>
          <p:nvPr/>
        </p:nvSpPr>
        <p:spPr>
          <a:xfrm>
            <a:off x="3941913" y="548056"/>
            <a:ext cx="1059580" cy="200118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D8DD0B-FCE0-FBA4-1F32-F30BD29D1C0B}"/>
              </a:ext>
            </a:extLst>
          </p:cNvPr>
          <p:cNvSpPr/>
          <p:nvPr/>
        </p:nvSpPr>
        <p:spPr>
          <a:xfrm>
            <a:off x="4052753" y="698458"/>
            <a:ext cx="519249" cy="5623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6A5B99-5AF6-3FEC-3B4E-68131E2571AA}"/>
              </a:ext>
            </a:extLst>
          </p:cNvPr>
          <p:cNvSpPr/>
          <p:nvPr/>
        </p:nvSpPr>
        <p:spPr>
          <a:xfrm>
            <a:off x="3823858" y="1086423"/>
            <a:ext cx="318654" cy="6494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3623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F9CE89-F6FC-9C66-BFEA-A465E734F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What is Attention?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111AE4-402B-F8D1-0C7B-0518C5E9F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zh-TW" altLang="en-US" sz="2400" dirty="0"/>
              <a:t>💡 </a:t>
            </a:r>
            <a:r>
              <a:rPr kumimoji="1" lang="en" altLang="zh-TW" sz="2400" dirty="0"/>
              <a:t>attention</a:t>
            </a:r>
            <a:r>
              <a:rPr kumimoji="1" lang="zh-TW" altLang="en-US" sz="2400" dirty="0"/>
              <a:t> </a:t>
            </a:r>
            <a:r>
              <a:rPr kumimoji="1" lang="en-US" altLang="zh-TW" sz="2400" dirty="0"/>
              <a:t>(</a:t>
            </a:r>
            <a:r>
              <a:rPr kumimoji="1" lang="zh-TW" altLang="en-US" sz="2400" dirty="0"/>
              <a:t>注意力機制</a:t>
            </a:r>
            <a:r>
              <a:rPr kumimoji="1" lang="en-US" altLang="zh-TW" sz="2400" dirty="0"/>
              <a:t>): </a:t>
            </a:r>
            <a:r>
              <a:rPr kumimoji="1" lang="zh-TW" altLang="en-US" sz="2400" dirty="0"/>
              <a:t>在理解一個輸入時，不平均看所有部分，而是根據當前任務，動態聚焦在更重要的位置。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C97441-7B5C-AB6E-6EE2-375FAD33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8361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4F1A4A-CD25-CA33-D24D-3378C19FC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  <a:cs typeface="Calibri" panose="020F0502020204030204" pitchFamily="34" charset="0"/>
              </a:rPr>
              <a:t>RNNs for Sequence Classification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80EE0A-14CB-26DA-AFB0-AC82E231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B04E54-D2BC-8D8D-50F0-461FD07E0978}"/>
              </a:ext>
            </a:extLst>
          </p:cNvPr>
          <p:cNvSpPr/>
          <p:nvPr/>
        </p:nvSpPr>
        <p:spPr>
          <a:xfrm>
            <a:off x="3068697" y="5154877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690842-2CE2-E937-C171-AA4EC12DB334}"/>
              </a:ext>
            </a:extLst>
          </p:cNvPr>
          <p:cNvSpPr/>
          <p:nvPr/>
        </p:nvSpPr>
        <p:spPr>
          <a:xfrm>
            <a:off x="4831783" y="5154877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CEE7C6-F0A2-9CC7-3EC1-6F5250ECDFDE}"/>
              </a:ext>
            </a:extLst>
          </p:cNvPr>
          <p:cNvSpPr/>
          <p:nvPr/>
        </p:nvSpPr>
        <p:spPr>
          <a:xfrm>
            <a:off x="6594869" y="5154877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E84988-8F7F-FD67-2DBD-AE6DA97211BF}"/>
              </a:ext>
            </a:extLst>
          </p:cNvPr>
          <p:cNvSpPr/>
          <p:nvPr/>
        </p:nvSpPr>
        <p:spPr>
          <a:xfrm>
            <a:off x="8357955" y="5154877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04A82676-3DD9-5CBC-80CA-998E95154332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268323" y="5394972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BB0ACD56-077F-C9B2-46F1-8C47271DCC9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031409" y="5394972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B7431EB4-9D29-2322-F02E-987531213755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7794495" y="5394972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DE69DE4D-7AD4-BDC8-682F-B93B3563AD5C}"/>
              </a:ext>
            </a:extLst>
          </p:cNvPr>
          <p:cNvCxnSpPr>
            <a:cxnSpLocks/>
          </p:cNvCxnSpPr>
          <p:nvPr/>
        </p:nvCxnSpPr>
        <p:spPr>
          <a:xfrm>
            <a:off x="2505237" y="5394972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F696ABF9-E315-977F-25E7-16CF78C0B9DA}"/>
              </a:ext>
            </a:extLst>
          </p:cNvPr>
          <p:cNvCxnSpPr>
            <a:cxnSpLocks/>
            <a:stCxn id="8" idx="0"/>
            <a:endCxn id="21" idx="2"/>
          </p:cNvCxnSpPr>
          <p:nvPr/>
        </p:nvCxnSpPr>
        <p:spPr>
          <a:xfrm flipV="1">
            <a:off x="8957768" y="4626194"/>
            <a:ext cx="1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1526BA0-669D-C4F9-1455-B37469D8E0CE}"/>
              </a:ext>
            </a:extLst>
          </p:cNvPr>
          <p:cNvSpPr txBox="1"/>
          <p:nvPr/>
        </p:nvSpPr>
        <p:spPr>
          <a:xfrm>
            <a:off x="8665813" y="4164529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h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DE4E141-BAE7-A865-A4F5-A4A6E33CD0AF}"/>
              </a:ext>
            </a:extLst>
          </p:cNvPr>
          <p:cNvSpPr txBox="1"/>
          <p:nvPr/>
        </p:nvSpPr>
        <p:spPr>
          <a:xfrm>
            <a:off x="8665813" y="6204510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x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5A4C08DF-E5D4-5563-EC2D-830A92791D61}"/>
              </a:ext>
            </a:extLst>
          </p:cNvPr>
          <p:cNvCxnSpPr>
            <a:cxnSpLocks/>
            <a:stCxn id="22" idx="0"/>
            <a:endCxn id="8" idx="2"/>
          </p:cNvCxnSpPr>
          <p:nvPr/>
        </p:nvCxnSpPr>
        <p:spPr>
          <a:xfrm flipH="1" flipV="1">
            <a:off x="8957768" y="5635067"/>
            <a:ext cx="1" cy="5694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278D5D3-B09A-98A1-EBDC-D046681C4D7D}"/>
              </a:ext>
            </a:extLst>
          </p:cNvPr>
          <p:cNvSpPr txBox="1"/>
          <p:nvPr/>
        </p:nvSpPr>
        <p:spPr>
          <a:xfrm>
            <a:off x="6902726" y="6204510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B8526637-2BD6-AFB8-4391-FFB61B9883C9}"/>
              </a:ext>
            </a:extLst>
          </p:cNvPr>
          <p:cNvCxnSpPr>
            <a:cxnSpLocks/>
            <a:stCxn id="29" idx="0"/>
            <a:endCxn id="7" idx="2"/>
          </p:cNvCxnSpPr>
          <p:nvPr/>
        </p:nvCxnSpPr>
        <p:spPr>
          <a:xfrm flipV="1">
            <a:off x="7194682" y="5635067"/>
            <a:ext cx="0" cy="5694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97E4E5F-2C7B-BD7A-2851-B62968EE1DCC}"/>
              </a:ext>
            </a:extLst>
          </p:cNvPr>
          <p:cNvSpPr txBox="1"/>
          <p:nvPr/>
        </p:nvSpPr>
        <p:spPr>
          <a:xfrm>
            <a:off x="5139640" y="6204509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F19E2494-222B-0814-C4BF-47AA2F14D440}"/>
              </a:ext>
            </a:extLst>
          </p:cNvPr>
          <p:cNvCxnSpPr>
            <a:cxnSpLocks/>
            <a:stCxn id="33" idx="0"/>
            <a:endCxn id="6" idx="2"/>
          </p:cNvCxnSpPr>
          <p:nvPr/>
        </p:nvCxnSpPr>
        <p:spPr>
          <a:xfrm flipV="1">
            <a:off x="5431596" y="5635067"/>
            <a:ext cx="0" cy="5694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F02BE93E-143E-F494-E2A5-B4CE3879C16C}"/>
              </a:ext>
            </a:extLst>
          </p:cNvPr>
          <p:cNvSpPr txBox="1"/>
          <p:nvPr/>
        </p:nvSpPr>
        <p:spPr>
          <a:xfrm>
            <a:off x="3376553" y="6204508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1</a:t>
            </a:r>
            <a:endParaRPr kumimoji="1" lang="zh-TW" altLang="en-US" sz="2400" baseline="-25000" dirty="0"/>
          </a:p>
        </p:txBody>
      </p: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88B6814A-3C7F-EA84-8719-15E95A77055B}"/>
              </a:ext>
            </a:extLst>
          </p:cNvPr>
          <p:cNvCxnSpPr>
            <a:cxnSpLocks/>
            <a:stCxn id="38" idx="0"/>
            <a:endCxn id="5" idx="2"/>
          </p:cNvCxnSpPr>
          <p:nvPr/>
        </p:nvCxnSpPr>
        <p:spPr>
          <a:xfrm flipV="1">
            <a:off x="3668509" y="5635067"/>
            <a:ext cx="1" cy="5694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17DF49CA-6CF6-7DB4-1B70-36AB7E8DEECD}"/>
              </a:ext>
            </a:extLst>
          </p:cNvPr>
          <p:cNvSpPr/>
          <p:nvPr/>
        </p:nvSpPr>
        <p:spPr>
          <a:xfrm>
            <a:off x="8277740" y="3240904"/>
            <a:ext cx="1359016" cy="398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Linear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44" name="直線箭頭接點 43">
            <a:extLst>
              <a:ext uri="{FF2B5EF4-FFF2-40B4-BE49-F238E27FC236}">
                <a16:creationId xmlns:a16="http://schemas.microsoft.com/office/drawing/2014/main" id="{8DEDAD73-EC07-22D1-87E5-E42F9A81A3E2}"/>
              </a:ext>
            </a:extLst>
          </p:cNvPr>
          <p:cNvCxnSpPr>
            <a:cxnSpLocks/>
            <a:stCxn id="21" idx="0"/>
            <a:endCxn id="43" idx="2"/>
          </p:cNvCxnSpPr>
          <p:nvPr/>
        </p:nvCxnSpPr>
        <p:spPr>
          <a:xfrm flipH="1" flipV="1">
            <a:off x="8957248" y="3639224"/>
            <a:ext cx="521" cy="5253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B4FCB8DC-5CE4-68DE-E83C-2089B15BC849}"/>
              </a:ext>
            </a:extLst>
          </p:cNvPr>
          <p:cNvSpPr/>
          <p:nvPr/>
        </p:nvSpPr>
        <p:spPr>
          <a:xfrm>
            <a:off x="5783975" y="1778024"/>
            <a:ext cx="1778957" cy="9829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Classifier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8DB77B57-3C2D-E26B-7DE1-110F78D5A9CE}"/>
              </a:ext>
            </a:extLst>
          </p:cNvPr>
          <p:cNvCxnSpPr/>
          <p:nvPr/>
        </p:nvCxnSpPr>
        <p:spPr>
          <a:xfrm>
            <a:off x="4991124" y="2292481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0AC2D424-C201-5977-592C-BE24E500C28A}"/>
              </a:ext>
            </a:extLst>
          </p:cNvPr>
          <p:cNvCxnSpPr>
            <a:cxnSpLocks/>
          </p:cNvCxnSpPr>
          <p:nvPr/>
        </p:nvCxnSpPr>
        <p:spPr>
          <a:xfrm>
            <a:off x="7688932" y="2292481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18A97ED-564C-956B-F4FB-E36700E98E54}"/>
              </a:ext>
            </a:extLst>
          </p:cNvPr>
          <p:cNvSpPr txBox="1"/>
          <p:nvPr/>
        </p:nvSpPr>
        <p:spPr>
          <a:xfrm>
            <a:off x="8520426" y="1835928"/>
            <a:ext cx="111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Positive</a:t>
            </a:r>
            <a:endParaRPr kumimoji="1"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5D059DD-6255-2747-EC02-C7018CC56B9B}"/>
              </a:ext>
            </a:extLst>
          </p:cNvPr>
          <p:cNvSpPr txBox="1"/>
          <p:nvPr/>
        </p:nvSpPr>
        <p:spPr>
          <a:xfrm>
            <a:off x="8520427" y="2333202"/>
            <a:ext cx="1116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Negative</a:t>
            </a:r>
            <a:endParaRPr kumimoji="1" lang="zh-TW" altLang="en-US" dirty="0"/>
          </a:p>
        </p:txBody>
      </p:sp>
      <p:pic>
        <p:nvPicPr>
          <p:cNvPr id="16" name="圖形 15" descr="核取方塊 (打勾) 以實心填滿">
            <a:extLst>
              <a:ext uri="{FF2B5EF4-FFF2-40B4-BE49-F238E27FC236}">
                <a16:creationId xmlns:a16="http://schemas.microsoft.com/office/drawing/2014/main" id="{2B1EF158-498D-B7E8-0BA1-E32A351FBD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303" y="2236038"/>
            <a:ext cx="625345" cy="625345"/>
          </a:xfrm>
          <a:prstGeom prst="rect">
            <a:avLst/>
          </a:prstGeom>
        </p:spPr>
      </p:pic>
      <p:sp>
        <p:nvSpPr>
          <p:cNvPr id="18" name="圓角矩形 17">
            <a:extLst>
              <a:ext uri="{FF2B5EF4-FFF2-40B4-BE49-F238E27FC236}">
                <a16:creationId xmlns:a16="http://schemas.microsoft.com/office/drawing/2014/main" id="{A3653BC2-A605-A5A9-2A10-3170798F91BB}"/>
              </a:ext>
            </a:extLst>
          </p:cNvPr>
          <p:cNvSpPr/>
          <p:nvPr/>
        </p:nvSpPr>
        <p:spPr>
          <a:xfrm>
            <a:off x="1306119" y="1869404"/>
            <a:ext cx="3638711" cy="8313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TW" dirty="0">
                <a:solidFill>
                  <a:schemeClr val="tx1"/>
                </a:solidFill>
              </a:rPr>
              <a:t>This movie was awful. The ending was absolutely horrible.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7406DC4-AE6C-9997-C6CA-B7A3AEF2F03B}"/>
              </a:ext>
            </a:extLst>
          </p:cNvPr>
          <p:cNvSpPr txBox="1"/>
          <p:nvPr/>
        </p:nvSpPr>
        <p:spPr>
          <a:xfrm>
            <a:off x="1869071" y="5154877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0</a:t>
            </a:r>
            <a:endParaRPr kumimoji="1" lang="zh-TW" alt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3744553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21" grpId="0"/>
      <p:bldP spid="22" grpId="0"/>
      <p:bldP spid="29" grpId="0"/>
      <p:bldP spid="33" grpId="0"/>
      <p:bldP spid="38" grpId="0"/>
      <p:bldP spid="43" grpId="0" animBg="1"/>
      <p:bldP spid="2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a typeface="新細明體"/>
                <a:cs typeface="Calibri" panose="020F0502020204030204" pitchFamily="34" charset="0"/>
              </a:rPr>
              <a:t>Machine Translation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9EB9D7-5382-F76F-9765-F433DC2CE373}"/>
              </a:ext>
            </a:extLst>
          </p:cNvPr>
          <p:cNvSpPr/>
          <p:nvPr/>
        </p:nvSpPr>
        <p:spPr>
          <a:xfrm>
            <a:off x="5384936" y="2421539"/>
            <a:ext cx="1778957" cy="9829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Classifier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191F08BA-00B9-523D-18E8-E1BEBDE0EF31}"/>
              </a:ext>
            </a:extLst>
          </p:cNvPr>
          <p:cNvCxnSpPr>
            <a:cxnSpLocks/>
          </p:cNvCxnSpPr>
          <p:nvPr/>
        </p:nvCxnSpPr>
        <p:spPr>
          <a:xfrm>
            <a:off x="4592085" y="2935996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87C9E241-B2FD-4AD6-767E-5597A66B9E74}"/>
              </a:ext>
            </a:extLst>
          </p:cNvPr>
          <p:cNvCxnSpPr>
            <a:cxnSpLocks/>
          </p:cNvCxnSpPr>
          <p:nvPr/>
        </p:nvCxnSpPr>
        <p:spPr>
          <a:xfrm>
            <a:off x="7289893" y="2935996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F04A82FF-EA22-34EE-B28C-9E8AE6212E90}"/>
              </a:ext>
            </a:extLst>
          </p:cNvPr>
          <p:cNvSpPr txBox="1"/>
          <p:nvPr/>
        </p:nvSpPr>
        <p:spPr>
          <a:xfrm>
            <a:off x="8121387" y="2479443"/>
            <a:ext cx="11163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Positive</a:t>
            </a:r>
            <a:endParaRPr kumimoji="1" lang="zh-TW" altLang="en-US" sz="2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7226957-9761-C28C-2424-6053D69286C7}"/>
              </a:ext>
            </a:extLst>
          </p:cNvPr>
          <p:cNvSpPr txBox="1"/>
          <p:nvPr/>
        </p:nvSpPr>
        <p:spPr>
          <a:xfrm>
            <a:off x="8121388" y="2976717"/>
            <a:ext cx="1342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Negative</a:t>
            </a:r>
            <a:endParaRPr kumimoji="1" lang="zh-TW" altLang="en-US" sz="2000" dirty="0"/>
          </a:p>
        </p:txBody>
      </p:sp>
      <p:pic>
        <p:nvPicPr>
          <p:cNvPr id="13" name="圖形 12" descr="核取方塊 (打勾) 以實心填滿">
            <a:extLst>
              <a:ext uri="{FF2B5EF4-FFF2-40B4-BE49-F238E27FC236}">
                <a16:creationId xmlns:a16="http://schemas.microsoft.com/office/drawing/2014/main" id="{B23474AF-1033-3A78-09F3-C58B758F5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63665" y="2885861"/>
            <a:ext cx="625345" cy="62534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B35F807D-5BE7-1955-53BE-C38722BBE6D5}"/>
              </a:ext>
            </a:extLst>
          </p:cNvPr>
          <p:cNvSpPr/>
          <p:nvPr/>
        </p:nvSpPr>
        <p:spPr>
          <a:xfrm>
            <a:off x="5384937" y="4330045"/>
            <a:ext cx="1778957" cy="11391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Machine Translation Model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A982891E-49AF-1107-C15A-9CF26665FE06}"/>
              </a:ext>
            </a:extLst>
          </p:cNvPr>
          <p:cNvSpPr/>
          <p:nvPr/>
        </p:nvSpPr>
        <p:spPr>
          <a:xfrm>
            <a:off x="728664" y="2512919"/>
            <a:ext cx="3803949" cy="8313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TW" sz="2000" dirty="0">
                <a:solidFill>
                  <a:schemeClr val="tx1"/>
                </a:solidFill>
              </a:rPr>
              <a:t>This movie was awful. The ending was absolutely horrible.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CC3473E-072F-357A-9552-96D6D144B925}"/>
              </a:ext>
            </a:extLst>
          </p:cNvPr>
          <p:cNvSpPr txBox="1"/>
          <p:nvPr/>
        </p:nvSpPr>
        <p:spPr>
          <a:xfrm>
            <a:off x="663685" y="1896895"/>
            <a:ext cx="4248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Sentiment Analysis (IMDb dataset </a:t>
            </a:r>
            <a:r>
              <a:rPr kumimoji="1" lang="en-US" altLang="zh-TW" b="1" baseline="30000" dirty="0"/>
              <a:t>[1]</a:t>
            </a:r>
            <a:r>
              <a:rPr kumimoji="1" lang="en-US" altLang="zh-TW" b="1" dirty="0"/>
              <a:t>)</a:t>
            </a:r>
            <a:endParaRPr kumimoji="1" lang="zh-TW" altLang="en-US" b="1" dirty="0"/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E3FAF670-483D-4B7B-5ED1-BC3C4E534FD7}"/>
              </a:ext>
            </a:extLst>
          </p:cNvPr>
          <p:cNvCxnSpPr>
            <a:cxnSpLocks/>
          </p:cNvCxnSpPr>
          <p:nvPr/>
        </p:nvCxnSpPr>
        <p:spPr>
          <a:xfrm>
            <a:off x="7289893" y="4973841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29E178F-9D2C-6576-7190-265F8085553D}"/>
              </a:ext>
            </a:extLst>
          </p:cNvPr>
          <p:cNvSpPr txBox="1"/>
          <p:nvPr/>
        </p:nvSpPr>
        <p:spPr>
          <a:xfrm>
            <a:off x="1204857" y="5951791"/>
            <a:ext cx="6260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[1] https://</a:t>
            </a:r>
            <a:r>
              <a:rPr kumimoji="1" lang="en-US" altLang="zh-TW" dirty="0" err="1"/>
              <a:t>huggingface.co</a:t>
            </a:r>
            <a:r>
              <a:rPr kumimoji="1" lang="en-US" altLang="zh-TW" dirty="0"/>
              <a:t>/datasets/</a:t>
            </a:r>
            <a:r>
              <a:rPr kumimoji="1" lang="en-US" altLang="zh-TW" dirty="0" err="1"/>
              <a:t>stanfordnlp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imdb</a:t>
            </a:r>
            <a:endParaRPr kumimoji="1" lang="en-US" altLang="zh-TW" dirty="0"/>
          </a:p>
          <a:p>
            <a:r>
              <a:rPr kumimoji="1" lang="en-US" altLang="zh-TW" dirty="0"/>
              <a:t>[2] https://</a:t>
            </a:r>
            <a:r>
              <a:rPr kumimoji="1" lang="en-US" altLang="zh-TW" dirty="0" err="1"/>
              <a:t>huggingface.co</a:t>
            </a:r>
            <a:r>
              <a:rPr kumimoji="1" lang="en-US" altLang="zh-TW" dirty="0"/>
              <a:t>/datasets/</a:t>
            </a:r>
            <a:r>
              <a:rPr kumimoji="1" lang="en-US" altLang="zh-TW" dirty="0" err="1"/>
              <a:t>wmt</a:t>
            </a:r>
            <a:r>
              <a:rPr kumimoji="1" lang="en-US" altLang="zh-TW" dirty="0"/>
              <a:t>/wmt19/viewer/</a:t>
            </a:r>
            <a:r>
              <a:rPr kumimoji="1" lang="en-US" altLang="zh-TW" dirty="0" err="1"/>
              <a:t>zh-en</a:t>
            </a:r>
            <a:endParaRPr kumimoji="1" lang="zh-TW" altLang="en-US" dirty="0"/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369D77DA-D31C-71D1-BD02-F87ACF1F91CD}"/>
              </a:ext>
            </a:extLst>
          </p:cNvPr>
          <p:cNvSpPr/>
          <p:nvPr/>
        </p:nvSpPr>
        <p:spPr>
          <a:xfrm>
            <a:off x="728662" y="4547424"/>
            <a:ext cx="3803951" cy="8313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TW" sz="2000" dirty="0">
                <a:solidFill>
                  <a:schemeClr val="tx1"/>
                </a:solidFill>
              </a:rPr>
              <a:t>Yet not nearly enough has been invested in this effort.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6A0EDB81-EC8B-58F3-D3FA-CFA1AF557F8B}"/>
              </a:ext>
            </a:extLst>
          </p:cNvPr>
          <p:cNvSpPr/>
          <p:nvPr/>
        </p:nvSpPr>
        <p:spPr>
          <a:xfrm>
            <a:off x="8121387" y="4569081"/>
            <a:ext cx="3638713" cy="8313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但目前這方面的投入還遠遠不夠。</a:t>
            </a:r>
          </a:p>
        </p:txBody>
      </p: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227C6226-B03A-2165-9329-A086E781C41E}"/>
              </a:ext>
            </a:extLst>
          </p:cNvPr>
          <p:cNvCxnSpPr>
            <a:cxnSpLocks/>
          </p:cNvCxnSpPr>
          <p:nvPr/>
        </p:nvCxnSpPr>
        <p:spPr>
          <a:xfrm>
            <a:off x="4592085" y="4973841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429DB1A-E286-5F26-1A3C-DD621585FB47}"/>
              </a:ext>
            </a:extLst>
          </p:cNvPr>
          <p:cNvSpPr txBox="1"/>
          <p:nvPr/>
        </p:nvSpPr>
        <p:spPr>
          <a:xfrm>
            <a:off x="663684" y="4043784"/>
            <a:ext cx="4520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Translation, EN-ZH (WMT-19 dataset </a:t>
            </a:r>
            <a:r>
              <a:rPr kumimoji="1" lang="en-US" altLang="zh-TW" b="1" baseline="30000" dirty="0"/>
              <a:t>[2]</a:t>
            </a:r>
            <a:r>
              <a:rPr kumimoji="1" lang="en-US" altLang="zh-TW" b="1" dirty="0"/>
              <a:t>)</a:t>
            </a:r>
            <a:endParaRPr kumimoji="1"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020377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/>
      <p:bldP spid="10" grpId="0"/>
      <p:bldP spid="19" grpId="0" animBg="1"/>
      <p:bldP spid="14" grpId="0"/>
      <p:bldP spid="3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433469-7E3A-98C5-5BBB-44E032B54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  <a:cs typeface="Calibri" panose="020F0502020204030204" pitchFamily="34" charset="0"/>
              </a:rPr>
              <a:t>RNNs for Machine Translation?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DD1EA3-9DB5-3A6F-8BEE-644F66F36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37B020-61FE-162C-DF6D-08E817680597}"/>
              </a:ext>
            </a:extLst>
          </p:cNvPr>
          <p:cNvSpPr/>
          <p:nvPr/>
        </p:nvSpPr>
        <p:spPr>
          <a:xfrm>
            <a:off x="4008189" y="508682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FF1937-1273-0723-6638-7D9A807A63CB}"/>
              </a:ext>
            </a:extLst>
          </p:cNvPr>
          <p:cNvSpPr/>
          <p:nvPr/>
        </p:nvSpPr>
        <p:spPr>
          <a:xfrm>
            <a:off x="5771275" y="508682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CA9ACB-2A99-7B0D-37EE-07B43DB6B191}"/>
              </a:ext>
            </a:extLst>
          </p:cNvPr>
          <p:cNvSpPr/>
          <p:nvPr/>
        </p:nvSpPr>
        <p:spPr>
          <a:xfrm>
            <a:off x="7534361" y="508682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A8A6D1DC-2DA8-B010-93EB-3D2A32E7CC1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207815" y="5326921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216B5E2D-EAF9-8F6C-26EF-427929925E01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970901" y="5326921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EB337213-A21F-E30E-A69A-21524492F4DA}"/>
              </a:ext>
            </a:extLst>
          </p:cNvPr>
          <p:cNvCxnSpPr>
            <a:cxnSpLocks/>
          </p:cNvCxnSpPr>
          <p:nvPr/>
        </p:nvCxnSpPr>
        <p:spPr>
          <a:xfrm>
            <a:off x="3444729" y="5326921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8D1C757-F165-4C94-EC7A-88D8DE9B93C0}"/>
              </a:ext>
            </a:extLst>
          </p:cNvPr>
          <p:cNvSpPr txBox="1"/>
          <p:nvPr/>
        </p:nvSpPr>
        <p:spPr>
          <a:xfrm>
            <a:off x="7704005" y="6136457"/>
            <a:ext cx="860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NLP</a:t>
            </a:r>
            <a:endParaRPr kumimoji="1" lang="zh-TW" altLang="en-US" sz="2400" baseline="-25000" dirty="0">
              <a:solidFill>
                <a:srgbClr val="0070C0"/>
              </a:solidFill>
            </a:endParaRPr>
          </a:p>
        </p:txBody>
      </p: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58114885-90FD-ACDB-0E5B-D611AD86F1B0}"/>
              </a:ext>
            </a:extLst>
          </p:cNvPr>
          <p:cNvCxnSpPr>
            <a:cxnSpLocks/>
            <a:stCxn id="17" idx="0"/>
            <a:endCxn id="7" idx="2"/>
          </p:cNvCxnSpPr>
          <p:nvPr/>
        </p:nvCxnSpPr>
        <p:spPr>
          <a:xfrm flipV="1">
            <a:off x="8134174" y="5567016"/>
            <a:ext cx="0" cy="5694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AE6B60D-3AB8-BB81-B1B8-A7F6FD1B2D9A}"/>
              </a:ext>
            </a:extLst>
          </p:cNvPr>
          <p:cNvSpPr txBox="1"/>
          <p:nvPr/>
        </p:nvSpPr>
        <p:spPr>
          <a:xfrm>
            <a:off x="5901149" y="6136457"/>
            <a:ext cx="931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love</a:t>
            </a:r>
            <a:endParaRPr kumimoji="1" lang="zh-TW" altLang="en-US" sz="2400" baseline="-25000" dirty="0">
              <a:solidFill>
                <a:srgbClr val="0070C0"/>
              </a:solidFill>
            </a:endParaRPr>
          </a:p>
        </p:txBody>
      </p: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41B60809-99CA-F2B9-8C36-A18B6B12774A}"/>
              </a:ext>
            </a:extLst>
          </p:cNvPr>
          <p:cNvCxnSpPr>
            <a:cxnSpLocks/>
            <a:stCxn id="19" idx="0"/>
            <a:endCxn id="6" idx="2"/>
          </p:cNvCxnSpPr>
          <p:nvPr/>
        </p:nvCxnSpPr>
        <p:spPr>
          <a:xfrm flipV="1">
            <a:off x="6366653" y="5567016"/>
            <a:ext cx="4435" cy="5694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1881DAB3-D8E9-7F25-98D9-20A646E02E19}"/>
              </a:ext>
            </a:extLst>
          </p:cNvPr>
          <p:cNvSpPr txBox="1"/>
          <p:nvPr/>
        </p:nvSpPr>
        <p:spPr>
          <a:xfrm>
            <a:off x="4316045" y="6136457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I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471415F5-6A37-5163-DB38-B19F87A7079D}"/>
              </a:ext>
            </a:extLst>
          </p:cNvPr>
          <p:cNvCxnSpPr>
            <a:cxnSpLocks/>
            <a:stCxn id="21" idx="0"/>
            <a:endCxn id="5" idx="2"/>
          </p:cNvCxnSpPr>
          <p:nvPr/>
        </p:nvCxnSpPr>
        <p:spPr>
          <a:xfrm flipV="1">
            <a:off x="4608001" y="5567016"/>
            <a:ext cx="1" cy="5694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25338653-3CBF-5C8C-122D-2ED2A92A5E4A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8134694" y="4558143"/>
            <a:ext cx="1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BB9DAF9A-9C16-BC86-356E-7EBCF75E5A3B}"/>
              </a:ext>
            </a:extLst>
          </p:cNvPr>
          <p:cNvSpPr txBox="1"/>
          <p:nvPr/>
        </p:nvSpPr>
        <p:spPr>
          <a:xfrm>
            <a:off x="7842739" y="4096478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0E296DC-51C9-C170-CC34-438AC8871DD8}"/>
              </a:ext>
            </a:extLst>
          </p:cNvPr>
          <p:cNvSpPr/>
          <p:nvPr/>
        </p:nvSpPr>
        <p:spPr>
          <a:xfrm>
            <a:off x="7454665" y="3169475"/>
            <a:ext cx="1359016" cy="398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FFN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70B35BAF-D990-504B-BE7B-2479F3E85380}"/>
              </a:ext>
            </a:extLst>
          </p:cNvPr>
          <p:cNvCxnSpPr>
            <a:cxnSpLocks/>
            <a:stCxn id="26" idx="0"/>
            <a:endCxn id="27" idx="2"/>
          </p:cNvCxnSpPr>
          <p:nvPr/>
        </p:nvCxnSpPr>
        <p:spPr>
          <a:xfrm flipH="1" flipV="1">
            <a:off x="8134173" y="3567795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7E6E1A47-44CE-8E86-7872-50CF0327DB00}"/>
              </a:ext>
            </a:extLst>
          </p:cNvPr>
          <p:cNvCxnSpPr>
            <a:cxnSpLocks/>
            <a:endCxn id="32" idx="2"/>
          </p:cNvCxnSpPr>
          <p:nvPr/>
        </p:nvCxnSpPr>
        <p:spPr>
          <a:xfrm flipV="1">
            <a:off x="6371087" y="4558143"/>
            <a:ext cx="1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903C2C63-171D-2030-FA36-90108870F8B2}"/>
              </a:ext>
            </a:extLst>
          </p:cNvPr>
          <p:cNvSpPr txBox="1"/>
          <p:nvPr/>
        </p:nvSpPr>
        <p:spPr>
          <a:xfrm>
            <a:off x="6079132" y="4096478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0A08A8D-6C02-5F3F-95C2-E757C7F62C28}"/>
              </a:ext>
            </a:extLst>
          </p:cNvPr>
          <p:cNvSpPr/>
          <p:nvPr/>
        </p:nvSpPr>
        <p:spPr>
          <a:xfrm>
            <a:off x="5691058" y="3169475"/>
            <a:ext cx="1359016" cy="398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FFN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47BC7729-FABC-DF76-81F5-0075D6C486E2}"/>
              </a:ext>
            </a:extLst>
          </p:cNvPr>
          <p:cNvCxnSpPr>
            <a:cxnSpLocks/>
            <a:stCxn id="32" idx="0"/>
            <a:endCxn id="33" idx="2"/>
          </p:cNvCxnSpPr>
          <p:nvPr/>
        </p:nvCxnSpPr>
        <p:spPr>
          <a:xfrm flipH="1" flipV="1">
            <a:off x="6370566" y="3567795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50AB749A-B322-A69B-0AC0-DF441AA29F55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4607481" y="4558143"/>
            <a:ext cx="1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999FC653-A24B-F89F-BAF2-C1169DC040D6}"/>
              </a:ext>
            </a:extLst>
          </p:cNvPr>
          <p:cNvSpPr txBox="1"/>
          <p:nvPr/>
        </p:nvSpPr>
        <p:spPr>
          <a:xfrm>
            <a:off x="4315526" y="4096478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4B38394-4648-53CF-F240-37BB59F8A8DF}"/>
              </a:ext>
            </a:extLst>
          </p:cNvPr>
          <p:cNvSpPr/>
          <p:nvPr/>
        </p:nvSpPr>
        <p:spPr>
          <a:xfrm>
            <a:off x="3927452" y="3169475"/>
            <a:ext cx="1359016" cy="398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FFN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48" name="直線箭頭接點 47">
            <a:extLst>
              <a:ext uri="{FF2B5EF4-FFF2-40B4-BE49-F238E27FC236}">
                <a16:creationId xmlns:a16="http://schemas.microsoft.com/office/drawing/2014/main" id="{27F6B528-320A-0F87-1211-AB566B7B1D40}"/>
              </a:ext>
            </a:extLst>
          </p:cNvPr>
          <p:cNvCxnSpPr>
            <a:cxnSpLocks/>
            <a:stCxn id="46" idx="0"/>
            <a:endCxn id="47" idx="2"/>
          </p:cNvCxnSpPr>
          <p:nvPr/>
        </p:nvCxnSpPr>
        <p:spPr>
          <a:xfrm flipH="1" flipV="1">
            <a:off x="4606960" y="3567795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箭頭接點 50">
            <a:extLst>
              <a:ext uri="{FF2B5EF4-FFF2-40B4-BE49-F238E27FC236}">
                <a16:creationId xmlns:a16="http://schemas.microsoft.com/office/drawing/2014/main" id="{0E3FF17E-D905-F1BA-BFD4-A54CAB5CA474}"/>
              </a:ext>
            </a:extLst>
          </p:cNvPr>
          <p:cNvCxnSpPr>
            <a:cxnSpLocks/>
          </p:cNvCxnSpPr>
          <p:nvPr/>
        </p:nvCxnSpPr>
        <p:spPr>
          <a:xfrm flipH="1" flipV="1">
            <a:off x="4606438" y="2543938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箭頭接點 51">
            <a:extLst>
              <a:ext uri="{FF2B5EF4-FFF2-40B4-BE49-F238E27FC236}">
                <a16:creationId xmlns:a16="http://schemas.microsoft.com/office/drawing/2014/main" id="{66A0858A-6C9B-190C-40CA-BFA3C8C64A12}"/>
              </a:ext>
            </a:extLst>
          </p:cNvPr>
          <p:cNvCxnSpPr>
            <a:cxnSpLocks/>
          </p:cNvCxnSpPr>
          <p:nvPr/>
        </p:nvCxnSpPr>
        <p:spPr>
          <a:xfrm flipH="1" flipV="1">
            <a:off x="6370044" y="2543938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箭頭接點 52">
            <a:extLst>
              <a:ext uri="{FF2B5EF4-FFF2-40B4-BE49-F238E27FC236}">
                <a16:creationId xmlns:a16="http://schemas.microsoft.com/office/drawing/2014/main" id="{8FE41B8A-D56D-2B80-FE67-A8920AF4B20C}"/>
              </a:ext>
            </a:extLst>
          </p:cNvPr>
          <p:cNvCxnSpPr>
            <a:cxnSpLocks/>
          </p:cNvCxnSpPr>
          <p:nvPr/>
        </p:nvCxnSpPr>
        <p:spPr>
          <a:xfrm flipH="1" flipV="1">
            <a:off x="8133128" y="2543938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B33C7010-8D51-57BF-CB2B-C18557264178}"/>
              </a:ext>
            </a:extLst>
          </p:cNvPr>
          <p:cNvSpPr txBox="1"/>
          <p:nvPr/>
        </p:nvSpPr>
        <p:spPr>
          <a:xfrm>
            <a:off x="4314482" y="2019811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</a:t>
            </a: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A63FEE21-D844-2142-64AE-9B07316B3500}"/>
              </a:ext>
            </a:extLst>
          </p:cNvPr>
          <p:cNvSpPr txBox="1"/>
          <p:nvPr/>
        </p:nvSpPr>
        <p:spPr>
          <a:xfrm>
            <a:off x="5953538" y="2019811"/>
            <a:ext cx="833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喜歡</a:t>
            </a: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9630A91B-C649-0811-D30E-495BEAC63A94}"/>
              </a:ext>
            </a:extLst>
          </p:cNvPr>
          <p:cNvSpPr txBox="1"/>
          <p:nvPr/>
        </p:nvSpPr>
        <p:spPr>
          <a:xfrm>
            <a:off x="7704005" y="2015255"/>
            <a:ext cx="860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NLP</a:t>
            </a:r>
            <a:endParaRPr kumimoji="1" lang="zh-TW" altLang="en-US" sz="2400" baseline="-25000" dirty="0">
              <a:solidFill>
                <a:srgbClr val="0070C0"/>
              </a:solidFill>
            </a:endParaRP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43879581-28BE-7564-8A29-4B30FF5F11D2}"/>
              </a:ext>
            </a:extLst>
          </p:cNvPr>
          <p:cNvSpPr txBox="1"/>
          <p:nvPr/>
        </p:nvSpPr>
        <p:spPr>
          <a:xfrm>
            <a:off x="653143" y="1527605"/>
            <a:ext cx="4386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>
                <a:solidFill>
                  <a:srgbClr val="00B050"/>
                </a:solidFill>
              </a:rPr>
              <a:t>Method 1 (</a:t>
            </a:r>
            <a:r>
              <a:rPr kumimoji="1" lang="zh-TW" altLang="en-US" sz="24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逐字對齊</a:t>
            </a:r>
            <a:r>
              <a:rPr kumimoji="1" lang="en-US" altLang="zh-TW" sz="2400" b="1" dirty="0">
                <a:solidFill>
                  <a:srgbClr val="00B050"/>
                </a:solidFill>
              </a:rPr>
              <a:t>)</a:t>
            </a:r>
            <a:endParaRPr kumimoji="1" lang="zh-TW" altLang="en-US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0117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433469-7E3A-98C5-5BBB-44E032B54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  <a:cs typeface="Calibri" panose="020F0502020204030204" pitchFamily="34" charset="0"/>
              </a:rPr>
              <a:t>RNNs for Machine Translation?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DD1EA3-9DB5-3A6F-8BEE-644F66F36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37B020-61FE-162C-DF6D-08E817680597}"/>
              </a:ext>
            </a:extLst>
          </p:cNvPr>
          <p:cNvSpPr/>
          <p:nvPr/>
        </p:nvSpPr>
        <p:spPr>
          <a:xfrm>
            <a:off x="4008189" y="508682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FF1937-1273-0723-6638-7D9A807A63CB}"/>
              </a:ext>
            </a:extLst>
          </p:cNvPr>
          <p:cNvSpPr/>
          <p:nvPr/>
        </p:nvSpPr>
        <p:spPr>
          <a:xfrm>
            <a:off x="5771275" y="508682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CA9ACB-2A99-7B0D-37EE-07B43DB6B191}"/>
              </a:ext>
            </a:extLst>
          </p:cNvPr>
          <p:cNvSpPr/>
          <p:nvPr/>
        </p:nvSpPr>
        <p:spPr>
          <a:xfrm>
            <a:off x="7534361" y="508682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A8A6D1DC-2DA8-B010-93EB-3D2A32E7CC1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207815" y="5326921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216B5E2D-EAF9-8F6C-26EF-427929925E01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970901" y="5326921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EB337213-A21F-E30E-A69A-21524492F4DA}"/>
              </a:ext>
            </a:extLst>
          </p:cNvPr>
          <p:cNvCxnSpPr>
            <a:cxnSpLocks/>
          </p:cNvCxnSpPr>
          <p:nvPr/>
        </p:nvCxnSpPr>
        <p:spPr>
          <a:xfrm>
            <a:off x="3444729" y="5326921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58114885-90FD-ACDB-0E5B-D611AD86F1B0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8134174" y="5567016"/>
            <a:ext cx="0" cy="5694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41B60809-99CA-F2B9-8C36-A18B6B12774A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6371088" y="5567016"/>
            <a:ext cx="0" cy="5694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1881DAB3-D8E9-7F25-98D9-20A646E02E19}"/>
              </a:ext>
            </a:extLst>
          </p:cNvPr>
          <p:cNvSpPr txBox="1"/>
          <p:nvPr/>
        </p:nvSpPr>
        <p:spPr>
          <a:xfrm>
            <a:off x="4316045" y="6136457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I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471415F5-6A37-5163-DB38-B19F87A7079D}"/>
              </a:ext>
            </a:extLst>
          </p:cNvPr>
          <p:cNvCxnSpPr>
            <a:cxnSpLocks/>
            <a:stCxn id="21" idx="0"/>
            <a:endCxn id="5" idx="2"/>
          </p:cNvCxnSpPr>
          <p:nvPr/>
        </p:nvCxnSpPr>
        <p:spPr>
          <a:xfrm flipV="1">
            <a:off x="4608001" y="5567016"/>
            <a:ext cx="1" cy="5694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25338653-3CBF-5C8C-122D-2ED2A92A5E4A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8134694" y="4558143"/>
            <a:ext cx="1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BB9DAF9A-9C16-BC86-356E-7EBCF75E5A3B}"/>
              </a:ext>
            </a:extLst>
          </p:cNvPr>
          <p:cNvSpPr txBox="1"/>
          <p:nvPr/>
        </p:nvSpPr>
        <p:spPr>
          <a:xfrm>
            <a:off x="7842739" y="4096478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0E296DC-51C9-C170-CC34-438AC8871DD8}"/>
              </a:ext>
            </a:extLst>
          </p:cNvPr>
          <p:cNvSpPr/>
          <p:nvPr/>
        </p:nvSpPr>
        <p:spPr>
          <a:xfrm>
            <a:off x="7454665" y="3169475"/>
            <a:ext cx="1359016" cy="398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FFN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70B35BAF-D990-504B-BE7B-2479F3E85380}"/>
              </a:ext>
            </a:extLst>
          </p:cNvPr>
          <p:cNvCxnSpPr>
            <a:cxnSpLocks/>
            <a:stCxn id="26" idx="0"/>
            <a:endCxn id="27" idx="2"/>
          </p:cNvCxnSpPr>
          <p:nvPr/>
        </p:nvCxnSpPr>
        <p:spPr>
          <a:xfrm flipH="1" flipV="1">
            <a:off x="8134173" y="3567795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7E6E1A47-44CE-8E86-7872-50CF0327DB00}"/>
              </a:ext>
            </a:extLst>
          </p:cNvPr>
          <p:cNvCxnSpPr>
            <a:cxnSpLocks/>
            <a:endCxn id="32" idx="2"/>
          </p:cNvCxnSpPr>
          <p:nvPr/>
        </p:nvCxnSpPr>
        <p:spPr>
          <a:xfrm flipV="1">
            <a:off x="6371087" y="4558143"/>
            <a:ext cx="1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903C2C63-171D-2030-FA36-90108870F8B2}"/>
              </a:ext>
            </a:extLst>
          </p:cNvPr>
          <p:cNvSpPr txBox="1"/>
          <p:nvPr/>
        </p:nvSpPr>
        <p:spPr>
          <a:xfrm>
            <a:off x="6079132" y="4096478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0A08A8D-6C02-5F3F-95C2-E757C7F62C28}"/>
              </a:ext>
            </a:extLst>
          </p:cNvPr>
          <p:cNvSpPr/>
          <p:nvPr/>
        </p:nvSpPr>
        <p:spPr>
          <a:xfrm>
            <a:off x="5691058" y="3169475"/>
            <a:ext cx="1359016" cy="398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FFN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47BC7729-FABC-DF76-81F5-0075D6C486E2}"/>
              </a:ext>
            </a:extLst>
          </p:cNvPr>
          <p:cNvCxnSpPr>
            <a:cxnSpLocks/>
            <a:stCxn id="32" idx="0"/>
            <a:endCxn id="33" idx="2"/>
          </p:cNvCxnSpPr>
          <p:nvPr/>
        </p:nvCxnSpPr>
        <p:spPr>
          <a:xfrm flipH="1" flipV="1">
            <a:off x="6370566" y="3567795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50AB749A-B322-A69B-0AC0-DF441AA29F55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4607481" y="4558143"/>
            <a:ext cx="1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999FC653-A24B-F89F-BAF2-C1169DC040D6}"/>
              </a:ext>
            </a:extLst>
          </p:cNvPr>
          <p:cNvSpPr txBox="1"/>
          <p:nvPr/>
        </p:nvSpPr>
        <p:spPr>
          <a:xfrm>
            <a:off x="4315526" y="4096478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4B38394-4648-53CF-F240-37BB59F8A8DF}"/>
              </a:ext>
            </a:extLst>
          </p:cNvPr>
          <p:cNvSpPr/>
          <p:nvPr/>
        </p:nvSpPr>
        <p:spPr>
          <a:xfrm>
            <a:off x="3927452" y="3169475"/>
            <a:ext cx="1359016" cy="398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FFN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48" name="直線箭頭接點 47">
            <a:extLst>
              <a:ext uri="{FF2B5EF4-FFF2-40B4-BE49-F238E27FC236}">
                <a16:creationId xmlns:a16="http://schemas.microsoft.com/office/drawing/2014/main" id="{27F6B528-320A-0F87-1211-AB566B7B1D40}"/>
              </a:ext>
            </a:extLst>
          </p:cNvPr>
          <p:cNvCxnSpPr>
            <a:cxnSpLocks/>
            <a:stCxn id="46" idx="0"/>
            <a:endCxn id="47" idx="2"/>
          </p:cNvCxnSpPr>
          <p:nvPr/>
        </p:nvCxnSpPr>
        <p:spPr>
          <a:xfrm flipH="1" flipV="1">
            <a:off x="4606960" y="3567795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箭頭接點 50">
            <a:extLst>
              <a:ext uri="{FF2B5EF4-FFF2-40B4-BE49-F238E27FC236}">
                <a16:creationId xmlns:a16="http://schemas.microsoft.com/office/drawing/2014/main" id="{0E3FF17E-D905-F1BA-BFD4-A54CAB5CA474}"/>
              </a:ext>
            </a:extLst>
          </p:cNvPr>
          <p:cNvCxnSpPr>
            <a:cxnSpLocks/>
          </p:cNvCxnSpPr>
          <p:nvPr/>
        </p:nvCxnSpPr>
        <p:spPr>
          <a:xfrm flipH="1" flipV="1">
            <a:off x="4606438" y="2543938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箭頭接點 51">
            <a:extLst>
              <a:ext uri="{FF2B5EF4-FFF2-40B4-BE49-F238E27FC236}">
                <a16:creationId xmlns:a16="http://schemas.microsoft.com/office/drawing/2014/main" id="{66A0858A-6C9B-190C-40CA-BFA3C8C64A12}"/>
              </a:ext>
            </a:extLst>
          </p:cNvPr>
          <p:cNvCxnSpPr>
            <a:cxnSpLocks/>
          </p:cNvCxnSpPr>
          <p:nvPr/>
        </p:nvCxnSpPr>
        <p:spPr>
          <a:xfrm flipH="1" flipV="1">
            <a:off x="6370044" y="2543938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箭頭接點 52">
            <a:extLst>
              <a:ext uri="{FF2B5EF4-FFF2-40B4-BE49-F238E27FC236}">
                <a16:creationId xmlns:a16="http://schemas.microsoft.com/office/drawing/2014/main" id="{8FE41B8A-D56D-2B80-FE67-A8920AF4B20C}"/>
              </a:ext>
            </a:extLst>
          </p:cNvPr>
          <p:cNvCxnSpPr>
            <a:cxnSpLocks/>
          </p:cNvCxnSpPr>
          <p:nvPr/>
        </p:nvCxnSpPr>
        <p:spPr>
          <a:xfrm flipH="1" flipV="1">
            <a:off x="8133128" y="2543938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9630A91B-C649-0811-D30E-495BEAC63A94}"/>
              </a:ext>
            </a:extLst>
          </p:cNvPr>
          <p:cNvSpPr txBox="1"/>
          <p:nvPr/>
        </p:nvSpPr>
        <p:spPr>
          <a:xfrm>
            <a:off x="528428" y="2917797"/>
            <a:ext cx="3271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私</a:t>
            </a:r>
            <a:r>
              <a:rPr kumimoji="1" lang="ja-JP" altLang="en-US" sz="240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は </a:t>
            </a:r>
            <a:r>
              <a:rPr kumimoji="1" lang="en-US" altLang="zh-TW" sz="24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NLP </a:t>
            </a:r>
            <a:r>
              <a:rPr kumimoji="1" lang="ja-JP" altLang="en-US" sz="240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が</a:t>
            </a:r>
            <a:r>
              <a:rPr kumimoji="1" lang="zh-TW" altLang="en-US" sz="24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好</a:t>
            </a:r>
            <a:r>
              <a:rPr kumimoji="1" lang="ja-JP" altLang="en-US" sz="240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きです</a:t>
            </a:r>
            <a:endParaRPr kumimoji="1" lang="zh-TW" altLang="en-US" sz="2400" baseline="-25000" dirty="0">
              <a:solidFill>
                <a:srgbClr val="0070C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771782BD-AB02-C336-1506-EC50AD928AFA}"/>
              </a:ext>
            </a:extLst>
          </p:cNvPr>
          <p:cNvSpPr txBox="1"/>
          <p:nvPr/>
        </p:nvSpPr>
        <p:spPr>
          <a:xfrm>
            <a:off x="653143" y="1527605"/>
            <a:ext cx="4386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>
                <a:solidFill>
                  <a:srgbClr val="00B050"/>
                </a:solidFill>
              </a:rPr>
              <a:t>Method 1 (</a:t>
            </a:r>
            <a:r>
              <a:rPr kumimoji="1" lang="zh-TW" altLang="en-US" sz="24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逐字對齊</a:t>
            </a:r>
            <a:r>
              <a:rPr kumimoji="1" lang="en-US" altLang="zh-TW" sz="2400" b="1" dirty="0">
                <a:solidFill>
                  <a:srgbClr val="00B050"/>
                </a:solidFill>
              </a:rPr>
              <a:t>)</a:t>
            </a:r>
            <a:endParaRPr kumimoji="1" lang="zh-TW" altLang="en-US" sz="2400" b="1" dirty="0">
              <a:solidFill>
                <a:srgbClr val="00B05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9F61714-DDAB-8D0B-BF2F-D56B4B0B10E5}"/>
              </a:ext>
            </a:extLst>
          </p:cNvPr>
          <p:cNvSpPr txBox="1"/>
          <p:nvPr/>
        </p:nvSpPr>
        <p:spPr>
          <a:xfrm>
            <a:off x="4194995" y="1918187"/>
            <a:ext cx="822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私</a:t>
            </a:r>
            <a:r>
              <a:rPr kumimoji="1" lang="ja-JP" altLang="en-US" sz="240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は</a:t>
            </a:r>
            <a:endParaRPr kumimoji="1" lang="zh-TW" altLang="en-US" sz="2400" baseline="-25000" dirty="0">
              <a:solidFill>
                <a:srgbClr val="0070C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FE291C3-05C1-5C96-E8A3-E7F7715BF46E}"/>
              </a:ext>
            </a:extLst>
          </p:cNvPr>
          <p:cNvSpPr txBox="1"/>
          <p:nvPr/>
        </p:nvSpPr>
        <p:spPr>
          <a:xfrm>
            <a:off x="6034035" y="1918186"/>
            <a:ext cx="661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???</a:t>
            </a:r>
            <a:endParaRPr kumimoji="1" lang="zh-TW" altLang="en-US" sz="2400" baseline="-250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283C708-98C1-606C-DF37-CACFDC2AEAE1}"/>
              </a:ext>
            </a:extLst>
          </p:cNvPr>
          <p:cNvSpPr txBox="1"/>
          <p:nvPr/>
        </p:nvSpPr>
        <p:spPr>
          <a:xfrm>
            <a:off x="7802460" y="1918186"/>
            <a:ext cx="661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???</a:t>
            </a:r>
            <a:endParaRPr kumimoji="1" lang="zh-TW" altLang="en-US" sz="2400" baseline="-250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5A9B65C-6033-ED29-6BC5-E3F98E2AC5AA}"/>
              </a:ext>
            </a:extLst>
          </p:cNvPr>
          <p:cNvSpPr txBox="1"/>
          <p:nvPr/>
        </p:nvSpPr>
        <p:spPr>
          <a:xfrm>
            <a:off x="653143" y="2446870"/>
            <a:ext cx="3147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ea typeface="Microsoft JhengHei" panose="020B0604030504040204" pitchFamily="34" charset="-120"/>
              </a:rPr>
              <a:t>Target sequence:</a:t>
            </a:r>
            <a:endParaRPr kumimoji="1" lang="zh-TW" altLang="en-US" sz="2400" baseline="-25000" dirty="0">
              <a:ea typeface="Microsoft JhengHei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3BBD655-F016-BD32-AF92-5C0D387D7D02}"/>
              </a:ext>
            </a:extLst>
          </p:cNvPr>
          <p:cNvSpPr txBox="1"/>
          <p:nvPr/>
        </p:nvSpPr>
        <p:spPr>
          <a:xfrm>
            <a:off x="9044836" y="1758437"/>
            <a:ext cx="25266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ea typeface="Microsoft JhengHei" panose="020B0604030504040204" pitchFamily="34" charset="-120"/>
              </a:rPr>
              <a:t>缺點：在不能逐字對齊的資料上效果不佳</a:t>
            </a:r>
            <a:endParaRPr kumimoji="1" lang="zh-TW" altLang="en-US" sz="2000" baseline="-25000" dirty="0"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679366E-5E44-F396-E318-EC95B513E4DF}"/>
              </a:ext>
            </a:extLst>
          </p:cNvPr>
          <p:cNvSpPr txBox="1"/>
          <p:nvPr/>
        </p:nvSpPr>
        <p:spPr>
          <a:xfrm>
            <a:off x="7704005" y="6136457"/>
            <a:ext cx="860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NLP</a:t>
            </a:r>
            <a:endParaRPr kumimoji="1" lang="zh-TW" altLang="en-US" sz="2400" baseline="-25000" dirty="0">
              <a:solidFill>
                <a:srgbClr val="0070C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34FC258-0340-18EB-2F73-D50FC49952FF}"/>
              </a:ext>
            </a:extLst>
          </p:cNvPr>
          <p:cNvSpPr txBox="1"/>
          <p:nvPr/>
        </p:nvSpPr>
        <p:spPr>
          <a:xfrm>
            <a:off x="5901149" y="6136457"/>
            <a:ext cx="931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love</a:t>
            </a:r>
            <a:endParaRPr kumimoji="1" lang="zh-TW" altLang="en-US" sz="2400" baseline="-25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45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9ABE6F-1D43-5B48-0F4F-A8CC383BC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  <a:cs typeface="Calibri" panose="020F0502020204030204" pitchFamily="34" charset="0"/>
              </a:rPr>
              <a:t>RNNs for Machine Translation?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CF0CBC-B074-F0C6-4089-585A820BB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4BC45B8-006D-F25A-8E34-3AFB3B75703B}"/>
              </a:ext>
            </a:extLst>
          </p:cNvPr>
          <p:cNvSpPr txBox="1"/>
          <p:nvPr/>
        </p:nvSpPr>
        <p:spPr>
          <a:xfrm>
            <a:off x="653143" y="1527605"/>
            <a:ext cx="4386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>
                <a:solidFill>
                  <a:srgbClr val="00B050"/>
                </a:solidFill>
              </a:rPr>
              <a:t>Method 2 (</a:t>
            </a:r>
            <a:r>
              <a:rPr kumimoji="1" lang="zh-TW" altLang="en-US" sz="24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利用特殊</a:t>
            </a:r>
            <a:r>
              <a:rPr kumimoji="1" lang="en-US" altLang="zh-TW" sz="24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token</a:t>
            </a:r>
            <a:r>
              <a:rPr kumimoji="1" lang="en-US" altLang="zh-TW" sz="2400" b="1" dirty="0">
                <a:solidFill>
                  <a:srgbClr val="00B050"/>
                </a:solidFill>
              </a:rPr>
              <a:t>)</a:t>
            </a:r>
            <a:endParaRPr kumimoji="1" lang="zh-TW" altLang="en-US" sz="2400" b="1" dirty="0">
              <a:solidFill>
                <a:srgbClr val="00B05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EBEEC6-D87B-E5E7-4C13-E51B8C838697}"/>
              </a:ext>
            </a:extLst>
          </p:cNvPr>
          <p:cNvSpPr/>
          <p:nvPr/>
        </p:nvSpPr>
        <p:spPr>
          <a:xfrm>
            <a:off x="1161292" y="5124534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95C689-E51D-0260-9970-89AE769385B4}"/>
              </a:ext>
            </a:extLst>
          </p:cNvPr>
          <p:cNvSpPr/>
          <p:nvPr/>
        </p:nvSpPr>
        <p:spPr>
          <a:xfrm>
            <a:off x="2924378" y="5124534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94CCA6-8EEA-F6F7-D04C-09C0709C520A}"/>
              </a:ext>
            </a:extLst>
          </p:cNvPr>
          <p:cNvSpPr/>
          <p:nvPr/>
        </p:nvSpPr>
        <p:spPr>
          <a:xfrm>
            <a:off x="4687464" y="5124534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5CBA0F0D-798E-5BC2-5D36-9754AB48D131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2360918" y="5364629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26BF9430-1B8E-DFB2-94DF-45E388F9E1E2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4124004" y="5364629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F64149A8-07C0-527C-75FA-E2E702FD28C7}"/>
              </a:ext>
            </a:extLst>
          </p:cNvPr>
          <p:cNvCxnSpPr>
            <a:cxnSpLocks/>
          </p:cNvCxnSpPr>
          <p:nvPr/>
        </p:nvCxnSpPr>
        <p:spPr>
          <a:xfrm>
            <a:off x="597832" y="5364629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95969CB3-9034-565E-695A-ADF07DEC92B4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5287277" y="5604724"/>
            <a:ext cx="0" cy="5694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37F9DDA-1181-DA06-DB8F-C8EF1C1F6552}"/>
              </a:ext>
            </a:extLst>
          </p:cNvPr>
          <p:cNvSpPr txBox="1"/>
          <p:nvPr/>
        </p:nvSpPr>
        <p:spPr>
          <a:xfrm>
            <a:off x="3153963" y="6174165"/>
            <a:ext cx="740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like</a:t>
            </a:r>
            <a:endParaRPr kumimoji="1" lang="zh-TW" altLang="en-US" sz="2400" baseline="-25000" dirty="0">
              <a:solidFill>
                <a:srgbClr val="0070C0"/>
              </a:solidFill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A81E0A73-F6F5-611B-E224-BB8D19385D04}"/>
              </a:ext>
            </a:extLst>
          </p:cNvPr>
          <p:cNvCxnSpPr>
            <a:cxnSpLocks/>
            <a:stCxn id="14" idx="0"/>
            <a:endCxn id="7" idx="2"/>
          </p:cNvCxnSpPr>
          <p:nvPr/>
        </p:nvCxnSpPr>
        <p:spPr>
          <a:xfrm flipV="1">
            <a:off x="3524191" y="5604724"/>
            <a:ext cx="0" cy="5694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99B3228-B719-7828-DE46-B1CC59D6279D}"/>
              </a:ext>
            </a:extLst>
          </p:cNvPr>
          <p:cNvSpPr txBox="1"/>
          <p:nvPr/>
        </p:nvSpPr>
        <p:spPr>
          <a:xfrm>
            <a:off x="1469148" y="617416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I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C902842C-CA7C-C050-F474-83BD056B5AD7}"/>
              </a:ext>
            </a:extLst>
          </p:cNvPr>
          <p:cNvCxnSpPr>
            <a:cxnSpLocks/>
            <a:stCxn id="16" idx="0"/>
            <a:endCxn id="6" idx="2"/>
          </p:cNvCxnSpPr>
          <p:nvPr/>
        </p:nvCxnSpPr>
        <p:spPr>
          <a:xfrm flipV="1">
            <a:off x="1761104" y="5604724"/>
            <a:ext cx="1" cy="5694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16BCE43C-E172-39CD-F0C8-F78E75404B20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5287797" y="4595851"/>
            <a:ext cx="1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9995A7D-C4D7-BF18-4BE4-E4497B441264}"/>
              </a:ext>
            </a:extLst>
          </p:cNvPr>
          <p:cNvSpPr txBox="1"/>
          <p:nvPr/>
        </p:nvSpPr>
        <p:spPr>
          <a:xfrm>
            <a:off x="4995842" y="4134186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48F1C2D-0616-4627-D91F-5B36860970A6}"/>
              </a:ext>
            </a:extLst>
          </p:cNvPr>
          <p:cNvSpPr/>
          <p:nvPr/>
        </p:nvSpPr>
        <p:spPr>
          <a:xfrm>
            <a:off x="4607768" y="3207183"/>
            <a:ext cx="1359016" cy="398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FFN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32A2F7A0-9B1C-1F4B-F580-189469D8B9FD}"/>
              </a:ext>
            </a:extLst>
          </p:cNvPr>
          <p:cNvCxnSpPr>
            <a:cxnSpLocks/>
            <a:stCxn id="19" idx="0"/>
            <a:endCxn id="20" idx="2"/>
          </p:cNvCxnSpPr>
          <p:nvPr/>
        </p:nvCxnSpPr>
        <p:spPr>
          <a:xfrm flipH="1" flipV="1">
            <a:off x="5287276" y="3605503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A482EEF5-E649-D846-EB9C-DE21B29C548C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3524190" y="4595851"/>
            <a:ext cx="1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36DED55-095C-C8FD-8B30-7C2A993BF31E}"/>
              </a:ext>
            </a:extLst>
          </p:cNvPr>
          <p:cNvSpPr txBox="1"/>
          <p:nvPr/>
        </p:nvSpPr>
        <p:spPr>
          <a:xfrm>
            <a:off x="3232235" y="4134186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F65285B-C3A9-6413-7132-697B4595F732}"/>
              </a:ext>
            </a:extLst>
          </p:cNvPr>
          <p:cNvSpPr/>
          <p:nvPr/>
        </p:nvSpPr>
        <p:spPr>
          <a:xfrm>
            <a:off x="2844161" y="3207183"/>
            <a:ext cx="1359016" cy="398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FFN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E6B0D2D2-66E7-32D7-04CC-1F3CCE9B2E6B}"/>
              </a:ext>
            </a:extLst>
          </p:cNvPr>
          <p:cNvCxnSpPr>
            <a:cxnSpLocks/>
            <a:stCxn id="23" idx="0"/>
            <a:endCxn id="24" idx="2"/>
          </p:cNvCxnSpPr>
          <p:nvPr/>
        </p:nvCxnSpPr>
        <p:spPr>
          <a:xfrm flipH="1" flipV="1">
            <a:off x="3523669" y="3605503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DD9382E9-A4AC-3EF0-D927-B2A8D55F0E55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1760584" y="4595851"/>
            <a:ext cx="1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96FA16A-CBFF-A13F-2826-5A1C4EC77EF4}"/>
              </a:ext>
            </a:extLst>
          </p:cNvPr>
          <p:cNvSpPr txBox="1"/>
          <p:nvPr/>
        </p:nvSpPr>
        <p:spPr>
          <a:xfrm>
            <a:off x="1468629" y="4134186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055E8A4-CB52-AE1E-BB4F-D507A6036A52}"/>
              </a:ext>
            </a:extLst>
          </p:cNvPr>
          <p:cNvSpPr/>
          <p:nvPr/>
        </p:nvSpPr>
        <p:spPr>
          <a:xfrm>
            <a:off x="1080555" y="3207183"/>
            <a:ext cx="1359016" cy="398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FFN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58A6A4BF-7FBF-F9F7-5E23-077401B705F1}"/>
              </a:ext>
            </a:extLst>
          </p:cNvPr>
          <p:cNvCxnSpPr>
            <a:cxnSpLocks/>
            <a:stCxn id="27" idx="0"/>
            <a:endCxn id="28" idx="2"/>
          </p:cNvCxnSpPr>
          <p:nvPr/>
        </p:nvCxnSpPr>
        <p:spPr>
          <a:xfrm flipH="1" flipV="1">
            <a:off x="1760063" y="3605503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98456CEC-29C5-58FE-44FD-B274756470C9}"/>
              </a:ext>
            </a:extLst>
          </p:cNvPr>
          <p:cNvCxnSpPr>
            <a:cxnSpLocks/>
          </p:cNvCxnSpPr>
          <p:nvPr/>
        </p:nvCxnSpPr>
        <p:spPr>
          <a:xfrm flipH="1" flipV="1">
            <a:off x="1759541" y="2581646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F6718BCC-C400-1026-D690-8FB7C1209254}"/>
              </a:ext>
            </a:extLst>
          </p:cNvPr>
          <p:cNvCxnSpPr>
            <a:cxnSpLocks/>
          </p:cNvCxnSpPr>
          <p:nvPr/>
        </p:nvCxnSpPr>
        <p:spPr>
          <a:xfrm flipH="1" flipV="1">
            <a:off x="3523147" y="2581646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F14F13DB-AD41-CDD3-AEDA-EA135EC29267}"/>
              </a:ext>
            </a:extLst>
          </p:cNvPr>
          <p:cNvCxnSpPr>
            <a:cxnSpLocks/>
          </p:cNvCxnSpPr>
          <p:nvPr/>
        </p:nvCxnSpPr>
        <p:spPr>
          <a:xfrm flipH="1" flipV="1">
            <a:off x="5286231" y="2581646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FE15B5FD-5063-E76E-7BD7-B11249249060}"/>
              </a:ext>
            </a:extLst>
          </p:cNvPr>
          <p:cNvSpPr/>
          <p:nvPr/>
        </p:nvSpPr>
        <p:spPr>
          <a:xfrm>
            <a:off x="6451589" y="5124534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E47F5C4-F832-0D18-647D-D2BD2514E0D3}"/>
              </a:ext>
            </a:extLst>
          </p:cNvPr>
          <p:cNvSpPr/>
          <p:nvPr/>
        </p:nvSpPr>
        <p:spPr>
          <a:xfrm>
            <a:off x="8214675" y="5124534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3048F61-B999-908E-2F4A-0A75682A3D9A}"/>
              </a:ext>
            </a:extLst>
          </p:cNvPr>
          <p:cNvSpPr/>
          <p:nvPr/>
        </p:nvSpPr>
        <p:spPr>
          <a:xfrm>
            <a:off x="9977761" y="5124534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D339375B-0343-B53B-CE5F-5200D88E47E4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7651215" y="5364629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14E0B2FD-6C7D-82F5-6A10-7985D1722D4F}"/>
              </a:ext>
            </a:extLst>
          </p:cNvPr>
          <p:cNvCxnSpPr>
            <a:cxnSpLocks/>
            <a:stCxn id="34" idx="3"/>
            <a:endCxn id="35" idx="1"/>
          </p:cNvCxnSpPr>
          <p:nvPr/>
        </p:nvCxnSpPr>
        <p:spPr>
          <a:xfrm>
            <a:off x="9414301" y="5364629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6B11BBF7-CA67-8EFA-508B-315A1E034192}"/>
              </a:ext>
            </a:extLst>
          </p:cNvPr>
          <p:cNvCxnSpPr>
            <a:cxnSpLocks/>
            <a:endCxn id="35" idx="2"/>
          </p:cNvCxnSpPr>
          <p:nvPr/>
        </p:nvCxnSpPr>
        <p:spPr>
          <a:xfrm flipV="1">
            <a:off x="10577574" y="5604724"/>
            <a:ext cx="0" cy="5694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2FA54CCB-521C-8B2F-B87A-78D6797B8F5F}"/>
              </a:ext>
            </a:extLst>
          </p:cNvPr>
          <p:cNvCxnSpPr>
            <a:cxnSpLocks/>
            <a:endCxn id="34" idx="2"/>
          </p:cNvCxnSpPr>
          <p:nvPr/>
        </p:nvCxnSpPr>
        <p:spPr>
          <a:xfrm flipV="1">
            <a:off x="8814488" y="5604724"/>
            <a:ext cx="0" cy="5694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978E8CDB-9F01-34CA-0953-561DD48F71B3}"/>
              </a:ext>
            </a:extLst>
          </p:cNvPr>
          <p:cNvCxnSpPr>
            <a:cxnSpLocks/>
            <a:endCxn id="33" idx="2"/>
          </p:cNvCxnSpPr>
          <p:nvPr/>
        </p:nvCxnSpPr>
        <p:spPr>
          <a:xfrm flipV="1">
            <a:off x="7051401" y="5604724"/>
            <a:ext cx="1" cy="5694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B41B84D7-B62F-5274-4CBD-107C0F331346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10578094" y="4595851"/>
            <a:ext cx="1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03408CFC-61E4-6BBA-2F63-57549FE15D6D}"/>
              </a:ext>
            </a:extLst>
          </p:cNvPr>
          <p:cNvSpPr txBox="1"/>
          <p:nvPr/>
        </p:nvSpPr>
        <p:spPr>
          <a:xfrm>
            <a:off x="10286139" y="4134186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6</a:t>
            </a:r>
            <a:endParaRPr kumimoji="1" lang="zh-TW" altLang="en-US" sz="2400" baseline="-25000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A3B372F-353A-F458-8E40-12D64734A268}"/>
              </a:ext>
            </a:extLst>
          </p:cNvPr>
          <p:cNvSpPr/>
          <p:nvPr/>
        </p:nvSpPr>
        <p:spPr>
          <a:xfrm>
            <a:off x="9898065" y="3207183"/>
            <a:ext cx="1359016" cy="398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FFN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1424E9E3-D468-F799-92D0-0B8655D8E18D}"/>
              </a:ext>
            </a:extLst>
          </p:cNvPr>
          <p:cNvCxnSpPr>
            <a:cxnSpLocks/>
            <a:stCxn id="43" idx="0"/>
            <a:endCxn id="44" idx="2"/>
          </p:cNvCxnSpPr>
          <p:nvPr/>
        </p:nvCxnSpPr>
        <p:spPr>
          <a:xfrm flipH="1" flipV="1">
            <a:off x="10577573" y="3605503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箭頭接點 45">
            <a:extLst>
              <a:ext uri="{FF2B5EF4-FFF2-40B4-BE49-F238E27FC236}">
                <a16:creationId xmlns:a16="http://schemas.microsoft.com/office/drawing/2014/main" id="{1100FB67-0B99-95B2-C48E-69F7AE0E6C13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8814487" y="4595851"/>
            <a:ext cx="1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8B882AD6-B490-5F3B-FBA7-9F7148FE82B3}"/>
              </a:ext>
            </a:extLst>
          </p:cNvPr>
          <p:cNvSpPr txBox="1"/>
          <p:nvPr/>
        </p:nvSpPr>
        <p:spPr>
          <a:xfrm>
            <a:off x="8522532" y="4134186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5</a:t>
            </a:r>
            <a:endParaRPr kumimoji="1" lang="zh-TW" altLang="en-US" sz="2400" baseline="-25000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DF5E51E-7E35-FF16-448C-BC12F565A6B7}"/>
              </a:ext>
            </a:extLst>
          </p:cNvPr>
          <p:cNvSpPr/>
          <p:nvPr/>
        </p:nvSpPr>
        <p:spPr>
          <a:xfrm>
            <a:off x="8134458" y="3207183"/>
            <a:ext cx="1359016" cy="398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FFN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49" name="直線箭頭接點 48">
            <a:extLst>
              <a:ext uri="{FF2B5EF4-FFF2-40B4-BE49-F238E27FC236}">
                <a16:creationId xmlns:a16="http://schemas.microsoft.com/office/drawing/2014/main" id="{E2E0F8E1-F2AE-2224-9CA7-230C6FB1750E}"/>
              </a:ext>
            </a:extLst>
          </p:cNvPr>
          <p:cNvCxnSpPr>
            <a:cxnSpLocks/>
            <a:stCxn id="47" idx="0"/>
            <a:endCxn id="48" idx="2"/>
          </p:cNvCxnSpPr>
          <p:nvPr/>
        </p:nvCxnSpPr>
        <p:spPr>
          <a:xfrm flipH="1" flipV="1">
            <a:off x="8813966" y="3605503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4843B538-0ED5-03BE-8DFA-6C0E5F3A4EB1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7050881" y="4595851"/>
            <a:ext cx="1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7F68A909-AD9B-3D4E-C636-7FC992CC810A}"/>
              </a:ext>
            </a:extLst>
          </p:cNvPr>
          <p:cNvSpPr txBox="1"/>
          <p:nvPr/>
        </p:nvSpPr>
        <p:spPr>
          <a:xfrm>
            <a:off x="6758926" y="4134186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4</a:t>
            </a:r>
            <a:endParaRPr kumimoji="1" lang="zh-TW" altLang="en-US" sz="2400" baseline="-25000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14F3AB4-9142-AE01-D036-B0D24C0C9FDC}"/>
              </a:ext>
            </a:extLst>
          </p:cNvPr>
          <p:cNvSpPr/>
          <p:nvPr/>
        </p:nvSpPr>
        <p:spPr>
          <a:xfrm>
            <a:off x="6370852" y="3207183"/>
            <a:ext cx="1359016" cy="398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FFN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53" name="直線箭頭接點 52">
            <a:extLst>
              <a:ext uri="{FF2B5EF4-FFF2-40B4-BE49-F238E27FC236}">
                <a16:creationId xmlns:a16="http://schemas.microsoft.com/office/drawing/2014/main" id="{DEF40CEE-F6A3-BE7F-974F-D7C3E5B9581B}"/>
              </a:ext>
            </a:extLst>
          </p:cNvPr>
          <p:cNvCxnSpPr>
            <a:cxnSpLocks/>
            <a:stCxn id="51" idx="0"/>
            <a:endCxn id="52" idx="2"/>
          </p:cNvCxnSpPr>
          <p:nvPr/>
        </p:nvCxnSpPr>
        <p:spPr>
          <a:xfrm flipH="1" flipV="1">
            <a:off x="7050360" y="3605503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箭頭接點 53">
            <a:extLst>
              <a:ext uri="{FF2B5EF4-FFF2-40B4-BE49-F238E27FC236}">
                <a16:creationId xmlns:a16="http://schemas.microsoft.com/office/drawing/2014/main" id="{835E0716-AF15-EFB5-3E35-811BEC154BBF}"/>
              </a:ext>
            </a:extLst>
          </p:cNvPr>
          <p:cNvCxnSpPr>
            <a:cxnSpLocks/>
          </p:cNvCxnSpPr>
          <p:nvPr/>
        </p:nvCxnSpPr>
        <p:spPr>
          <a:xfrm flipH="1" flipV="1">
            <a:off x="7049838" y="2581646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78A99E46-9FFE-76CB-6677-6ED6C1EAD0CE}"/>
              </a:ext>
            </a:extLst>
          </p:cNvPr>
          <p:cNvCxnSpPr>
            <a:cxnSpLocks/>
          </p:cNvCxnSpPr>
          <p:nvPr/>
        </p:nvCxnSpPr>
        <p:spPr>
          <a:xfrm flipH="1" flipV="1">
            <a:off x="8813444" y="2581646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箭頭接點 55">
            <a:extLst>
              <a:ext uri="{FF2B5EF4-FFF2-40B4-BE49-F238E27FC236}">
                <a16:creationId xmlns:a16="http://schemas.microsoft.com/office/drawing/2014/main" id="{A5FE3DAD-2B2C-23B1-C789-08D48AB95E30}"/>
              </a:ext>
            </a:extLst>
          </p:cNvPr>
          <p:cNvCxnSpPr>
            <a:cxnSpLocks/>
          </p:cNvCxnSpPr>
          <p:nvPr/>
        </p:nvCxnSpPr>
        <p:spPr>
          <a:xfrm flipH="1" flipV="1">
            <a:off x="10576528" y="2581646"/>
            <a:ext cx="522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箭頭接點 56">
            <a:extLst>
              <a:ext uri="{FF2B5EF4-FFF2-40B4-BE49-F238E27FC236}">
                <a16:creationId xmlns:a16="http://schemas.microsoft.com/office/drawing/2014/main" id="{8B8730F9-4028-A664-A953-7664BB0143B6}"/>
              </a:ext>
            </a:extLst>
          </p:cNvPr>
          <p:cNvCxnSpPr>
            <a:cxnSpLocks/>
          </p:cNvCxnSpPr>
          <p:nvPr/>
        </p:nvCxnSpPr>
        <p:spPr>
          <a:xfrm>
            <a:off x="5888129" y="5364629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21714EE5-DD12-565D-FE7E-48D9EFB80149}"/>
              </a:ext>
            </a:extLst>
          </p:cNvPr>
          <p:cNvSpPr txBox="1"/>
          <p:nvPr/>
        </p:nvSpPr>
        <p:spPr>
          <a:xfrm>
            <a:off x="6336737" y="6207844"/>
            <a:ext cx="1426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solidFill>
                  <a:srgbClr val="0070C0"/>
                </a:solidFill>
              </a:rPr>
              <a:t>[translate]</a:t>
            </a:r>
            <a:endParaRPr kumimoji="1" lang="zh-TW" altLang="en-US" sz="2000" baseline="-25000" dirty="0">
              <a:solidFill>
                <a:srgbClr val="0070C0"/>
              </a:solidFill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EFC2E6B3-CAB1-A6BE-AC35-B1636EA154FB}"/>
              </a:ext>
            </a:extLst>
          </p:cNvPr>
          <p:cNvSpPr txBox="1"/>
          <p:nvPr/>
        </p:nvSpPr>
        <p:spPr>
          <a:xfrm>
            <a:off x="8400954" y="6184727"/>
            <a:ext cx="822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私</a:t>
            </a:r>
            <a:r>
              <a:rPr kumimoji="1" lang="ja-JP" altLang="en-US" sz="240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は</a:t>
            </a:r>
            <a:endParaRPr kumimoji="1" lang="zh-TW" altLang="en-US" sz="2400" baseline="-25000" dirty="0">
              <a:solidFill>
                <a:srgbClr val="0070C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1AEAC186-2354-D397-93B5-9A929DB17F7C}"/>
              </a:ext>
            </a:extLst>
          </p:cNvPr>
          <p:cNvSpPr txBox="1"/>
          <p:nvPr/>
        </p:nvSpPr>
        <p:spPr>
          <a:xfrm>
            <a:off x="6638394" y="2052963"/>
            <a:ext cx="822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私</a:t>
            </a:r>
            <a:r>
              <a:rPr kumimoji="1" lang="ja-JP" altLang="en-US" sz="240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は</a:t>
            </a:r>
            <a:endParaRPr kumimoji="1" lang="zh-TW" altLang="en-US" sz="2400" baseline="-25000" dirty="0">
              <a:solidFill>
                <a:srgbClr val="0070C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80168DC5-B595-D8C5-53CC-1BB20AB43CB4}"/>
              </a:ext>
            </a:extLst>
          </p:cNvPr>
          <p:cNvSpPr txBox="1"/>
          <p:nvPr/>
        </p:nvSpPr>
        <p:spPr>
          <a:xfrm>
            <a:off x="10362512" y="2050473"/>
            <a:ext cx="428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が</a:t>
            </a:r>
            <a:endParaRPr lang="zh-TW" altLang="en-US" sz="2400" dirty="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7B863191-78C2-E2C5-116E-EB5F074DA077}"/>
              </a:ext>
            </a:extLst>
          </p:cNvPr>
          <p:cNvSpPr txBox="1"/>
          <p:nvPr/>
        </p:nvSpPr>
        <p:spPr>
          <a:xfrm>
            <a:off x="11031653" y="5106175"/>
            <a:ext cx="684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baseline="-25000" dirty="0">
                <a:solidFill>
                  <a:srgbClr val="0070C0"/>
                </a:solidFill>
              </a:rPr>
              <a:t>...</a:t>
            </a:r>
            <a:endParaRPr kumimoji="1" lang="zh-TW" altLang="en-US" sz="2400" baseline="-25000" dirty="0">
              <a:solidFill>
                <a:srgbClr val="0070C0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824AF13-DA43-5EB2-4320-04F1F9A26864}"/>
              </a:ext>
            </a:extLst>
          </p:cNvPr>
          <p:cNvSpPr txBox="1"/>
          <p:nvPr/>
        </p:nvSpPr>
        <p:spPr>
          <a:xfrm>
            <a:off x="11031653" y="3138610"/>
            <a:ext cx="684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baseline="-25000" dirty="0">
                <a:solidFill>
                  <a:srgbClr val="0070C0"/>
                </a:solidFill>
              </a:rPr>
              <a:t>...</a:t>
            </a:r>
            <a:endParaRPr kumimoji="1" lang="zh-TW" altLang="en-US" sz="2400" baseline="-25000" dirty="0">
              <a:solidFill>
                <a:srgbClr val="0070C0"/>
              </a:solidFill>
            </a:endParaRP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CB0AAB48-2B90-A176-8F15-3343AD59604A}"/>
              </a:ext>
            </a:extLst>
          </p:cNvPr>
          <p:cNvSpPr txBox="1"/>
          <p:nvPr/>
        </p:nvSpPr>
        <p:spPr>
          <a:xfrm>
            <a:off x="8978975" y="503229"/>
            <a:ext cx="25266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ea typeface="Microsoft JhengHei" panose="020B0604030504040204" pitchFamily="34" charset="-120"/>
              </a:rPr>
              <a:t>缺點：長距離的關係難以被記憶</a:t>
            </a:r>
            <a:endParaRPr kumimoji="1" lang="zh-TW" altLang="en-US" sz="2000" baseline="-25000" dirty="0"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26FDBF9-D4EB-DDF6-376A-549B2FE89519}"/>
              </a:ext>
            </a:extLst>
          </p:cNvPr>
          <p:cNvSpPr txBox="1"/>
          <p:nvPr/>
        </p:nvSpPr>
        <p:spPr>
          <a:xfrm>
            <a:off x="8400954" y="2050472"/>
            <a:ext cx="860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NLP</a:t>
            </a:r>
            <a:endParaRPr kumimoji="1" lang="zh-TW" altLang="en-US" sz="2400" baseline="-25000" dirty="0">
              <a:solidFill>
                <a:srgbClr val="0070C0"/>
              </a:solidFill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7F68F150-70EA-5584-618A-B864B92278D0}"/>
              </a:ext>
            </a:extLst>
          </p:cNvPr>
          <p:cNvSpPr txBox="1"/>
          <p:nvPr/>
        </p:nvSpPr>
        <p:spPr>
          <a:xfrm>
            <a:off x="4857179" y="6174163"/>
            <a:ext cx="860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NLP</a:t>
            </a:r>
            <a:endParaRPr kumimoji="1" lang="zh-TW" altLang="en-US" sz="2400" baseline="-25000" dirty="0">
              <a:solidFill>
                <a:srgbClr val="0070C0"/>
              </a:solidFill>
            </a:endParaRP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7E3AC00E-495C-D926-E702-E6FF2213044A}"/>
              </a:ext>
            </a:extLst>
          </p:cNvPr>
          <p:cNvSpPr txBox="1"/>
          <p:nvPr/>
        </p:nvSpPr>
        <p:spPr>
          <a:xfrm>
            <a:off x="10147203" y="6174210"/>
            <a:ext cx="860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NLP</a:t>
            </a:r>
            <a:endParaRPr kumimoji="1" lang="zh-TW" altLang="en-US" sz="2400" baseline="-25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15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2" grpId="0"/>
      <p:bldP spid="65" grpId="0"/>
      <p:bldP spid="69" grpId="0"/>
      <p:bldP spid="3" grpId="0"/>
      <p:bldP spid="6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B8AE9C-1909-B974-E8C8-9807CE1A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Encoder and Decoder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106C75-A795-3924-7F0C-B509934C7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BA383E56-D04D-340B-A396-C1FF6DCBC646}"/>
              </a:ext>
            </a:extLst>
          </p:cNvPr>
          <p:cNvSpPr/>
          <p:nvPr/>
        </p:nvSpPr>
        <p:spPr>
          <a:xfrm>
            <a:off x="6777738" y="4052638"/>
            <a:ext cx="4433985" cy="99135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Decoder</a:t>
            </a:r>
            <a:endParaRPr kumimoji="1"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CD4D7DE-FEA6-5EAD-BA7D-0E9B63A81999}"/>
              </a:ext>
            </a:extLst>
          </p:cNvPr>
          <p:cNvSpPr txBox="1"/>
          <p:nvPr/>
        </p:nvSpPr>
        <p:spPr>
          <a:xfrm>
            <a:off x="6848723" y="5855027"/>
            <a:ext cx="589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/>
              <a:t>(Start)</a:t>
            </a:r>
            <a:endParaRPr kumimoji="1" lang="zh-TW" altLang="en-US" sz="1200" dirty="0"/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21F30ECC-84F2-5D18-362E-5D5B043F7E7B}"/>
              </a:ext>
            </a:extLst>
          </p:cNvPr>
          <p:cNvCxnSpPr>
            <a:cxnSpLocks/>
          </p:cNvCxnSpPr>
          <p:nvPr/>
        </p:nvCxnSpPr>
        <p:spPr>
          <a:xfrm flipV="1">
            <a:off x="7141779" y="3739303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DFBBA531-BE7B-F9F3-E719-5242A0B9E4BD}"/>
              </a:ext>
            </a:extLst>
          </p:cNvPr>
          <p:cNvCxnSpPr>
            <a:cxnSpLocks/>
          </p:cNvCxnSpPr>
          <p:nvPr/>
        </p:nvCxnSpPr>
        <p:spPr>
          <a:xfrm flipV="1">
            <a:off x="7864194" y="3739303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5213826B-7FF7-F9EA-A9F9-445F4081DE0B}"/>
              </a:ext>
            </a:extLst>
          </p:cNvPr>
          <p:cNvCxnSpPr>
            <a:cxnSpLocks/>
          </p:cNvCxnSpPr>
          <p:nvPr/>
        </p:nvCxnSpPr>
        <p:spPr>
          <a:xfrm flipV="1">
            <a:off x="10791469" y="3739303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252A1EFC-B9A1-E9B9-C671-FC420A3A4AAD}"/>
              </a:ext>
            </a:extLst>
          </p:cNvPr>
          <p:cNvCxnSpPr>
            <a:cxnSpLocks/>
          </p:cNvCxnSpPr>
          <p:nvPr/>
        </p:nvCxnSpPr>
        <p:spPr>
          <a:xfrm flipV="1">
            <a:off x="10069054" y="3739303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A8FFAB12-7688-B996-CE29-CCFBB2E29E54}"/>
              </a:ext>
            </a:extLst>
          </p:cNvPr>
          <p:cNvCxnSpPr>
            <a:cxnSpLocks/>
          </p:cNvCxnSpPr>
          <p:nvPr/>
        </p:nvCxnSpPr>
        <p:spPr>
          <a:xfrm flipV="1">
            <a:off x="7141779" y="5095489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A3271C6B-2A38-B65E-147B-30B6DBA820E4}"/>
              </a:ext>
            </a:extLst>
          </p:cNvPr>
          <p:cNvCxnSpPr>
            <a:cxnSpLocks/>
          </p:cNvCxnSpPr>
          <p:nvPr/>
        </p:nvCxnSpPr>
        <p:spPr>
          <a:xfrm flipV="1">
            <a:off x="7864193" y="5095489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7DB29C07-EE45-FDF3-50C5-462B179F554D}"/>
              </a:ext>
            </a:extLst>
          </p:cNvPr>
          <p:cNvCxnSpPr>
            <a:cxnSpLocks/>
          </p:cNvCxnSpPr>
          <p:nvPr/>
        </p:nvCxnSpPr>
        <p:spPr>
          <a:xfrm flipV="1">
            <a:off x="10069053" y="509199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E80F3625-6DB5-7DD1-C50D-5733EC81F434}"/>
              </a:ext>
            </a:extLst>
          </p:cNvPr>
          <p:cNvCxnSpPr>
            <a:cxnSpLocks/>
          </p:cNvCxnSpPr>
          <p:nvPr/>
        </p:nvCxnSpPr>
        <p:spPr>
          <a:xfrm flipV="1">
            <a:off x="10791467" y="509199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7DBE63A-42BD-8531-2AE3-FBE67A0DD8F9}"/>
              </a:ext>
            </a:extLst>
          </p:cNvPr>
          <p:cNvSpPr txBox="1"/>
          <p:nvPr/>
        </p:nvSpPr>
        <p:spPr>
          <a:xfrm>
            <a:off x="8643134" y="5288270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CC40672F-B910-D24E-72DA-0F22F07E9DA9}"/>
                  </a:ext>
                </a:extLst>
              </p:cNvPr>
              <p:cNvSpPr/>
              <p:nvPr/>
            </p:nvSpPr>
            <p:spPr>
              <a:xfrm>
                <a:off x="9794143" y="2529790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CC40672F-B910-D24E-72DA-0F22F07E9D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4143" y="2529790"/>
                <a:ext cx="555203" cy="465105"/>
              </a:xfrm>
              <a:prstGeom prst="roundRect">
                <a:avLst/>
              </a:prstGeom>
              <a:blipFill>
                <a:blip r:embed="rId2"/>
                <a:stretch>
                  <a:fillRect l="-638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E1C6C418-46CC-12F4-672C-B6855778DDE5}"/>
                  </a:ext>
                </a:extLst>
              </p:cNvPr>
              <p:cNvSpPr/>
              <p:nvPr/>
            </p:nvSpPr>
            <p:spPr>
              <a:xfrm>
                <a:off x="10516557" y="2527725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E1C6C418-46CC-12F4-672C-B6855778DD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6557" y="2527725"/>
                <a:ext cx="555203" cy="4651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C0A43D43-98FF-A85D-04B6-07EBBD0002F4}"/>
                  </a:ext>
                </a:extLst>
              </p:cNvPr>
              <p:cNvSpPr/>
              <p:nvPr/>
            </p:nvSpPr>
            <p:spPr>
              <a:xfrm>
                <a:off x="6864175" y="2517133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C0A43D43-98FF-A85D-04B6-07EBBD0002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175" y="2517133"/>
                <a:ext cx="555203" cy="46510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98DFC2C4-6948-C430-C594-C839C38C8914}"/>
                  </a:ext>
                </a:extLst>
              </p:cNvPr>
              <p:cNvSpPr/>
              <p:nvPr/>
            </p:nvSpPr>
            <p:spPr>
              <a:xfrm>
                <a:off x="7593229" y="2526949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98DFC2C4-6948-C430-C594-C839C38C89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229" y="2526949"/>
                <a:ext cx="555203" cy="46510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42A5367A-AD7E-8CDF-135E-95FD34743972}"/>
                  </a:ext>
                </a:extLst>
              </p:cNvPr>
              <p:cNvSpPr/>
              <p:nvPr/>
            </p:nvSpPr>
            <p:spPr>
              <a:xfrm>
                <a:off x="7583370" y="5397054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42A5367A-AD7E-8CDF-135E-95FD347439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370" y="5397054"/>
                <a:ext cx="555203" cy="46510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122C1FB2-0AE1-FE9A-2ADD-E02D1F9F24AF}"/>
                  </a:ext>
                </a:extLst>
              </p:cNvPr>
              <p:cNvSpPr/>
              <p:nvPr/>
            </p:nvSpPr>
            <p:spPr>
              <a:xfrm>
                <a:off x="9786336" y="5397054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122C1FB2-0AE1-FE9A-2ADD-E02D1F9F24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6336" y="5397054"/>
                <a:ext cx="555203" cy="465105"/>
              </a:xfrm>
              <a:prstGeom prst="roundRect">
                <a:avLst/>
              </a:prstGeom>
              <a:blipFill>
                <a:blip r:embed="rId7"/>
                <a:stretch>
                  <a:fillRect l="-425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2CFB6DE4-298A-6478-84DC-2C4D458C4382}"/>
                  </a:ext>
                </a:extLst>
              </p:cNvPr>
              <p:cNvSpPr/>
              <p:nvPr/>
            </p:nvSpPr>
            <p:spPr>
              <a:xfrm>
                <a:off x="10508748" y="5397054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2CFB6DE4-298A-6478-84DC-2C4D458C43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8748" y="5397054"/>
                <a:ext cx="555203" cy="465105"/>
              </a:xfrm>
              <a:prstGeom prst="roundRect">
                <a:avLst/>
              </a:prstGeom>
              <a:blipFill>
                <a:blip r:embed="rId8"/>
                <a:stretch>
                  <a:fillRect l="-869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17DF5A0E-5598-F2D7-42EB-37949F9013C8}"/>
              </a:ext>
            </a:extLst>
          </p:cNvPr>
          <p:cNvSpPr txBox="1"/>
          <p:nvPr/>
        </p:nvSpPr>
        <p:spPr>
          <a:xfrm>
            <a:off x="8640752" y="2450264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391C10AD-0D04-2B3F-B88B-1109E98C804F}"/>
              </a:ext>
            </a:extLst>
          </p:cNvPr>
          <p:cNvSpPr txBox="1"/>
          <p:nvPr/>
        </p:nvSpPr>
        <p:spPr>
          <a:xfrm>
            <a:off x="7716416" y="1835327"/>
            <a:ext cx="2632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/>
              <a:t>輸出是</a:t>
            </a:r>
            <a:r>
              <a:rPr kumimoji="1" lang="en-US" altLang="zh-TW" b="1" dirty="0"/>
              <a:t> sequence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(</a:t>
            </a:r>
            <a:r>
              <a:rPr kumimoji="1" lang="zh-TW" altLang="en-US" b="1" dirty="0"/>
              <a:t>文字</a:t>
            </a:r>
            <a:r>
              <a:rPr kumimoji="1" lang="en-US" altLang="zh-TW" b="1" dirty="0"/>
              <a:t>)</a:t>
            </a:r>
            <a:endParaRPr kumimoji="1" lang="zh-TW" altLang="en-US" b="1" dirty="0"/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FE795842-E8E8-E357-93AF-80C6CBCBD5A4}"/>
              </a:ext>
            </a:extLst>
          </p:cNvPr>
          <p:cNvSpPr/>
          <p:nvPr/>
        </p:nvSpPr>
        <p:spPr>
          <a:xfrm>
            <a:off x="1443211" y="4100635"/>
            <a:ext cx="4433985" cy="99135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Encoder</a:t>
            </a:r>
            <a:endParaRPr kumimoji="1"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8CD6FE4-CA94-843B-C904-8FB743CE2756}"/>
              </a:ext>
            </a:extLst>
          </p:cNvPr>
          <p:cNvSpPr txBox="1"/>
          <p:nvPr/>
        </p:nvSpPr>
        <p:spPr>
          <a:xfrm>
            <a:off x="1494740" y="5903024"/>
            <a:ext cx="589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/>
              <a:t>(Start)</a:t>
            </a:r>
            <a:endParaRPr kumimoji="1" lang="zh-TW" altLang="en-US" sz="1200" dirty="0"/>
          </a:p>
        </p:txBody>
      </p: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DDBAC394-6EE5-2FC2-0AFE-A713E61495B0}"/>
              </a:ext>
            </a:extLst>
          </p:cNvPr>
          <p:cNvCxnSpPr>
            <a:cxnSpLocks/>
          </p:cNvCxnSpPr>
          <p:nvPr/>
        </p:nvCxnSpPr>
        <p:spPr>
          <a:xfrm flipV="1">
            <a:off x="5456942" y="3787300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B349A6FB-CF9B-DA91-CB56-8692C92F97F5}"/>
              </a:ext>
            </a:extLst>
          </p:cNvPr>
          <p:cNvCxnSpPr>
            <a:cxnSpLocks/>
          </p:cNvCxnSpPr>
          <p:nvPr/>
        </p:nvCxnSpPr>
        <p:spPr>
          <a:xfrm flipV="1">
            <a:off x="4734527" y="3787300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39036F0C-DCCB-713A-C8B2-0BEBB6436E03}"/>
              </a:ext>
            </a:extLst>
          </p:cNvPr>
          <p:cNvSpPr/>
          <p:nvPr/>
        </p:nvSpPr>
        <p:spPr>
          <a:xfrm>
            <a:off x="1529648" y="5445051"/>
            <a:ext cx="555205" cy="46510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_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D6255ADE-8DF4-9330-0FFD-EC385724AA4E}"/>
              </a:ext>
            </a:extLst>
          </p:cNvPr>
          <p:cNvCxnSpPr>
            <a:cxnSpLocks/>
          </p:cNvCxnSpPr>
          <p:nvPr/>
        </p:nvCxnSpPr>
        <p:spPr>
          <a:xfrm flipV="1">
            <a:off x="1807252" y="5143486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A551582A-C5A2-5592-1221-7E161A40C794}"/>
              </a:ext>
            </a:extLst>
          </p:cNvPr>
          <p:cNvCxnSpPr>
            <a:cxnSpLocks/>
          </p:cNvCxnSpPr>
          <p:nvPr/>
        </p:nvCxnSpPr>
        <p:spPr>
          <a:xfrm flipV="1">
            <a:off x="2529666" y="5143486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439D5CC1-5EA9-6E67-7ED0-8CF169A9CD0E}"/>
              </a:ext>
            </a:extLst>
          </p:cNvPr>
          <p:cNvCxnSpPr>
            <a:cxnSpLocks/>
          </p:cNvCxnSpPr>
          <p:nvPr/>
        </p:nvCxnSpPr>
        <p:spPr>
          <a:xfrm flipV="1">
            <a:off x="4734526" y="5139991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0BE18513-56CA-7723-A853-A59FE538F500}"/>
              </a:ext>
            </a:extLst>
          </p:cNvPr>
          <p:cNvCxnSpPr>
            <a:cxnSpLocks/>
          </p:cNvCxnSpPr>
          <p:nvPr/>
        </p:nvCxnSpPr>
        <p:spPr>
          <a:xfrm flipV="1">
            <a:off x="5456940" y="5139991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AA108D4A-2D70-D2F4-BA03-472F6B0C8135}"/>
              </a:ext>
            </a:extLst>
          </p:cNvPr>
          <p:cNvSpPr txBox="1"/>
          <p:nvPr/>
        </p:nvSpPr>
        <p:spPr>
          <a:xfrm>
            <a:off x="3308607" y="5336267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圓角矩形 43">
                <a:extLst>
                  <a:ext uri="{FF2B5EF4-FFF2-40B4-BE49-F238E27FC236}">
                    <a16:creationId xmlns:a16="http://schemas.microsoft.com/office/drawing/2014/main" id="{6E92D372-707B-990C-5677-ABFB0EDD2AC2}"/>
                  </a:ext>
                </a:extLst>
              </p:cNvPr>
              <p:cNvSpPr/>
              <p:nvPr/>
            </p:nvSpPr>
            <p:spPr>
              <a:xfrm>
                <a:off x="5182030" y="3273307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圓角矩形 43">
                <a:extLst>
                  <a:ext uri="{FF2B5EF4-FFF2-40B4-BE49-F238E27FC236}">
                    <a16:creationId xmlns:a16="http://schemas.microsoft.com/office/drawing/2014/main" id="{6E92D372-707B-990C-5677-ABFB0EDD2A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2030" y="3273307"/>
                <a:ext cx="555203" cy="46510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圓角矩形 46">
                <a:extLst>
                  <a:ext uri="{FF2B5EF4-FFF2-40B4-BE49-F238E27FC236}">
                    <a16:creationId xmlns:a16="http://schemas.microsoft.com/office/drawing/2014/main" id="{208F923A-C07F-9336-2A8D-148DF86F32EF}"/>
                  </a:ext>
                </a:extLst>
              </p:cNvPr>
              <p:cNvSpPr/>
              <p:nvPr/>
            </p:nvSpPr>
            <p:spPr>
              <a:xfrm>
                <a:off x="2248843" y="5445051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TW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zh-TW" alt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圓角矩形 46">
                <a:extLst>
                  <a:ext uri="{FF2B5EF4-FFF2-40B4-BE49-F238E27FC236}">
                    <a16:creationId xmlns:a16="http://schemas.microsoft.com/office/drawing/2014/main" id="{208F923A-C07F-9336-2A8D-148DF86F32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843" y="5445051"/>
                <a:ext cx="555203" cy="465105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圓角矩形 47">
                <a:extLst>
                  <a:ext uri="{FF2B5EF4-FFF2-40B4-BE49-F238E27FC236}">
                    <a16:creationId xmlns:a16="http://schemas.microsoft.com/office/drawing/2014/main" id="{3AAFEB0B-670C-44F4-929F-FF77BFF36766}"/>
                  </a:ext>
                </a:extLst>
              </p:cNvPr>
              <p:cNvSpPr/>
              <p:nvPr/>
            </p:nvSpPr>
            <p:spPr>
              <a:xfrm>
                <a:off x="4451809" y="5445051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圓角矩形 47">
                <a:extLst>
                  <a:ext uri="{FF2B5EF4-FFF2-40B4-BE49-F238E27FC236}">
                    <a16:creationId xmlns:a16="http://schemas.microsoft.com/office/drawing/2014/main" id="{3AAFEB0B-670C-44F4-929F-FF77BFF36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809" y="5445051"/>
                <a:ext cx="555203" cy="465105"/>
              </a:xfrm>
              <a:prstGeom prst="roundRect">
                <a:avLst/>
              </a:prstGeom>
              <a:blipFill>
                <a:blip r:embed="rId11"/>
                <a:stretch>
                  <a:fillRect l="-425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圓角矩形 48">
                <a:extLst>
                  <a:ext uri="{FF2B5EF4-FFF2-40B4-BE49-F238E27FC236}">
                    <a16:creationId xmlns:a16="http://schemas.microsoft.com/office/drawing/2014/main" id="{59EE0DFB-89F9-3CC1-5DC1-D108E8C73741}"/>
                  </a:ext>
                </a:extLst>
              </p:cNvPr>
              <p:cNvSpPr/>
              <p:nvPr/>
            </p:nvSpPr>
            <p:spPr>
              <a:xfrm>
                <a:off x="5174221" y="5445051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圓角矩形 48">
                <a:extLst>
                  <a:ext uri="{FF2B5EF4-FFF2-40B4-BE49-F238E27FC236}">
                    <a16:creationId xmlns:a16="http://schemas.microsoft.com/office/drawing/2014/main" id="{59EE0DFB-89F9-3CC1-5DC1-D108E8C737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221" y="5445051"/>
                <a:ext cx="555203" cy="465105"/>
              </a:xfrm>
              <a:prstGeom prst="roundRect">
                <a:avLst/>
              </a:prstGeom>
              <a:blipFill>
                <a:blip r:embed="rId12"/>
                <a:stretch>
                  <a:fillRect l="-652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>
            <a:extLst>
              <a:ext uri="{FF2B5EF4-FFF2-40B4-BE49-F238E27FC236}">
                <a16:creationId xmlns:a16="http://schemas.microsoft.com/office/drawing/2014/main" id="{4782AF22-6890-C7C6-11B4-E49023BCC087}"/>
              </a:ext>
            </a:extLst>
          </p:cNvPr>
          <p:cNvSpPr txBox="1"/>
          <p:nvPr/>
        </p:nvSpPr>
        <p:spPr>
          <a:xfrm>
            <a:off x="3306225" y="3195846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A85894FF-15D2-4990-41DC-3797CEBC41B5}"/>
              </a:ext>
            </a:extLst>
          </p:cNvPr>
          <p:cNvSpPr txBox="1"/>
          <p:nvPr/>
        </p:nvSpPr>
        <p:spPr>
          <a:xfrm>
            <a:off x="2778842" y="6129446"/>
            <a:ext cx="1656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/>
              <a:t>Input sequence</a:t>
            </a:r>
            <a:endParaRPr kumimoji="1" lang="zh-TW" altLang="en-US" b="1" dirty="0"/>
          </a:p>
        </p:txBody>
      </p:sp>
      <p:cxnSp>
        <p:nvCxnSpPr>
          <p:cNvPr id="52" name="直線箭頭接點 51">
            <a:extLst>
              <a:ext uri="{FF2B5EF4-FFF2-40B4-BE49-F238E27FC236}">
                <a16:creationId xmlns:a16="http://schemas.microsoft.com/office/drawing/2014/main" id="{C9EE1A76-88B2-97B8-52E6-5D10FC82A873}"/>
              </a:ext>
            </a:extLst>
          </p:cNvPr>
          <p:cNvCxnSpPr>
            <a:cxnSpLocks/>
          </p:cNvCxnSpPr>
          <p:nvPr/>
        </p:nvCxnSpPr>
        <p:spPr>
          <a:xfrm flipV="1">
            <a:off x="2526444" y="3804040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箭頭接點 52">
            <a:extLst>
              <a:ext uri="{FF2B5EF4-FFF2-40B4-BE49-F238E27FC236}">
                <a16:creationId xmlns:a16="http://schemas.microsoft.com/office/drawing/2014/main" id="{72CEF067-EC75-D88C-AA69-CCB9C35A8DBF}"/>
              </a:ext>
            </a:extLst>
          </p:cNvPr>
          <p:cNvCxnSpPr>
            <a:cxnSpLocks/>
          </p:cNvCxnSpPr>
          <p:nvPr/>
        </p:nvCxnSpPr>
        <p:spPr>
          <a:xfrm flipV="1">
            <a:off x="1828042" y="3804040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1E3ABA0E-0F56-BA7F-4F49-6550375C6564}"/>
              </a:ext>
            </a:extLst>
          </p:cNvPr>
          <p:cNvSpPr/>
          <p:nvPr/>
        </p:nvSpPr>
        <p:spPr>
          <a:xfrm>
            <a:off x="6860958" y="5397054"/>
            <a:ext cx="555203" cy="46510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_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D02ED2D0-D980-8C22-C056-B89AFB0087E6}"/>
              </a:ext>
            </a:extLst>
          </p:cNvPr>
          <p:cNvSpPr/>
          <p:nvPr/>
        </p:nvSpPr>
        <p:spPr>
          <a:xfrm>
            <a:off x="6777737" y="3345490"/>
            <a:ext cx="4433985" cy="33678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FFN</a:t>
            </a:r>
            <a:r>
              <a:rPr kumimoji="1" lang="zh-TW" altLang="en-US" sz="2000" dirty="0">
                <a:solidFill>
                  <a:schemeClr val="tx1"/>
                </a:solidFill>
              </a:rPr>
              <a:t> </a:t>
            </a:r>
            <a:r>
              <a:rPr kumimoji="1" lang="en-US" altLang="zh-TW" sz="2000" dirty="0">
                <a:solidFill>
                  <a:schemeClr val="tx1"/>
                </a:solidFill>
              </a:rPr>
              <a:t>(linear layer(s))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58" name="直線箭頭接點 57">
            <a:extLst>
              <a:ext uri="{FF2B5EF4-FFF2-40B4-BE49-F238E27FC236}">
                <a16:creationId xmlns:a16="http://schemas.microsoft.com/office/drawing/2014/main" id="{16D9C1FE-8A91-B03A-2377-8B83EC0DE09D}"/>
              </a:ext>
            </a:extLst>
          </p:cNvPr>
          <p:cNvCxnSpPr>
            <a:cxnSpLocks/>
          </p:cNvCxnSpPr>
          <p:nvPr/>
        </p:nvCxnSpPr>
        <p:spPr>
          <a:xfrm flipV="1">
            <a:off x="7135747" y="305287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箭頭接點 58">
            <a:extLst>
              <a:ext uri="{FF2B5EF4-FFF2-40B4-BE49-F238E27FC236}">
                <a16:creationId xmlns:a16="http://schemas.microsoft.com/office/drawing/2014/main" id="{62086DA5-5290-A670-AC1A-38D2A56FE1A2}"/>
              </a:ext>
            </a:extLst>
          </p:cNvPr>
          <p:cNvCxnSpPr>
            <a:cxnSpLocks/>
          </p:cNvCxnSpPr>
          <p:nvPr/>
        </p:nvCxnSpPr>
        <p:spPr>
          <a:xfrm flipV="1">
            <a:off x="7858162" y="305287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箭頭接點 59">
            <a:extLst>
              <a:ext uri="{FF2B5EF4-FFF2-40B4-BE49-F238E27FC236}">
                <a16:creationId xmlns:a16="http://schemas.microsoft.com/office/drawing/2014/main" id="{5A918736-41AC-8EE9-E232-C16FDD90E533}"/>
              </a:ext>
            </a:extLst>
          </p:cNvPr>
          <p:cNvCxnSpPr>
            <a:cxnSpLocks/>
          </p:cNvCxnSpPr>
          <p:nvPr/>
        </p:nvCxnSpPr>
        <p:spPr>
          <a:xfrm flipV="1">
            <a:off x="10785437" y="305287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箭頭接點 60">
            <a:extLst>
              <a:ext uri="{FF2B5EF4-FFF2-40B4-BE49-F238E27FC236}">
                <a16:creationId xmlns:a16="http://schemas.microsoft.com/office/drawing/2014/main" id="{CE5F32AD-EAE1-A054-DFF3-5593839A3D00}"/>
              </a:ext>
            </a:extLst>
          </p:cNvPr>
          <p:cNvCxnSpPr>
            <a:cxnSpLocks/>
          </p:cNvCxnSpPr>
          <p:nvPr/>
        </p:nvCxnSpPr>
        <p:spPr>
          <a:xfrm flipV="1">
            <a:off x="10063022" y="305287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圓角矩形 61">
                <a:extLst>
                  <a:ext uri="{FF2B5EF4-FFF2-40B4-BE49-F238E27FC236}">
                    <a16:creationId xmlns:a16="http://schemas.microsoft.com/office/drawing/2014/main" id="{71810DFC-9484-4F06-0116-C8859C9ABBF2}"/>
                  </a:ext>
                </a:extLst>
              </p:cNvPr>
              <p:cNvSpPr/>
              <p:nvPr/>
            </p:nvSpPr>
            <p:spPr>
              <a:xfrm>
                <a:off x="4459559" y="3270703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圓角矩形 61">
                <a:extLst>
                  <a:ext uri="{FF2B5EF4-FFF2-40B4-BE49-F238E27FC236}">
                    <a16:creationId xmlns:a16="http://schemas.microsoft.com/office/drawing/2014/main" id="{71810DFC-9484-4F06-0116-C8859C9ABB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559" y="3270703"/>
                <a:ext cx="555203" cy="465105"/>
              </a:xfrm>
              <a:prstGeom prst="roundRect">
                <a:avLst/>
              </a:prstGeom>
              <a:blipFill>
                <a:blip r:embed="rId13"/>
                <a:stretch>
                  <a:fillRect l="-869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圓角矩形 62">
                <a:extLst>
                  <a:ext uri="{FF2B5EF4-FFF2-40B4-BE49-F238E27FC236}">
                    <a16:creationId xmlns:a16="http://schemas.microsoft.com/office/drawing/2014/main" id="{8C29360F-E395-BEC8-9AF5-ECF378961DA5}"/>
                  </a:ext>
                </a:extLst>
              </p:cNvPr>
              <p:cNvSpPr/>
              <p:nvPr/>
            </p:nvSpPr>
            <p:spPr>
              <a:xfrm>
                <a:off x="2248941" y="3281329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圓角矩形 62">
                <a:extLst>
                  <a:ext uri="{FF2B5EF4-FFF2-40B4-BE49-F238E27FC236}">
                    <a16:creationId xmlns:a16="http://schemas.microsoft.com/office/drawing/2014/main" id="{8C29360F-E395-BEC8-9AF5-ECF378961D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941" y="3281329"/>
                <a:ext cx="555203" cy="46510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圓角矩形 63">
                <a:extLst>
                  <a:ext uri="{FF2B5EF4-FFF2-40B4-BE49-F238E27FC236}">
                    <a16:creationId xmlns:a16="http://schemas.microsoft.com/office/drawing/2014/main" id="{B2575567-B447-B8EC-E46E-582ED19CA356}"/>
                  </a:ext>
                </a:extLst>
              </p:cNvPr>
              <p:cNvSpPr/>
              <p:nvPr/>
            </p:nvSpPr>
            <p:spPr>
              <a:xfrm>
                <a:off x="1535835" y="3273307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圓角矩形 63">
                <a:extLst>
                  <a:ext uri="{FF2B5EF4-FFF2-40B4-BE49-F238E27FC236}">
                    <a16:creationId xmlns:a16="http://schemas.microsoft.com/office/drawing/2014/main" id="{B2575567-B447-B8EC-E46E-582ED19CA3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835" y="3273307"/>
                <a:ext cx="555203" cy="465105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圓角矩形 64">
                <a:extLst>
                  <a:ext uri="{FF2B5EF4-FFF2-40B4-BE49-F238E27FC236}">
                    <a16:creationId xmlns:a16="http://schemas.microsoft.com/office/drawing/2014/main" id="{4C90679A-B23D-0A3F-2D94-6DDF798DBDCA}"/>
                  </a:ext>
                </a:extLst>
              </p:cNvPr>
              <p:cNvSpPr/>
              <p:nvPr/>
            </p:nvSpPr>
            <p:spPr>
              <a:xfrm>
                <a:off x="433242" y="4335480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TW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init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圓角矩形 64">
                <a:extLst>
                  <a:ext uri="{FF2B5EF4-FFF2-40B4-BE49-F238E27FC236}">
                    <a16:creationId xmlns:a16="http://schemas.microsoft.com/office/drawing/2014/main" id="{4C90679A-B23D-0A3F-2D94-6DDF798DBD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42" y="4335480"/>
                <a:ext cx="555203" cy="465105"/>
              </a:xfrm>
              <a:prstGeom prst="roundRect">
                <a:avLst/>
              </a:prstGeom>
              <a:blipFill>
                <a:blip r:embed="rId16"/>
                <a:stretch>
                  <a:fillRect l="-652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線箭頭接點 65">
            <a:extLst>
              <a:ext uri="{FF2B5EF4-FFF2-40B4-BE49-F238E27FC236}">
                <a16:creationId xmlns:a16="http://schemas.microsoft.com/office/drawing/2014/main" id="{F9645189-5848-7448-BF59-C9E3DAD0EA6A}"/>
              </a:ext>
            </a:extLst>
          </p:cNvPr>
          <p:cNvCxnSpPr>
            <a:cxnSpLocks/>
          </p:cNvCxnSpPr>
          <p:nvPr/>
        </p:nvCxnSpPr>
        <p:spPr>
          <a:xfrm>
            <a:off x="1045007" y="4590483"/>
            <a:ext cx="338153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4CF5AD8-03CD-B0B9-652B-DF4DB8FE9238}"/>
              </a:ext>
            </a:extLst>
          </p:cNvPr>
          <p:cNvSpPr txBox="1"/>
          <p:nvPr/>
        </p:nvSpPr>
        <p:spPr>
          <a:xfrm>
            <a:off x="2526444" y="1835327"/>
            <a:ext cx="2529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/>
              <a:t>輸出是</a:t>
            </a:r>
            <a:r>
              <a:rPr kumimoji="1" lang="en-US" altLang="zh-TW" b="1" dirty="0"/>
              <a:t> hidden states</a:t>
            </a:r>
            <a:endParaRPr kumimoji="1" lang="zh-TW" altLang="en-US" b="1" dirty="0"/>
          </a:p>
        </p:txBody>
      </p:sp>
      <p:cxnSp>
        <p:nvCxnSpPr>
          <p:cNvPr id="12" name="肘形接點 11">
            <a:extLst>
              <a:ext uri="{FF2B5EF4-FFF2-40B4-BE49-F238E27FC236}">
                <a16:creationId xmlns:a16="http://schemas.microsoft.com/office/drawing/2014/main" id="{F7BCD1C7-82B8-FFA2-09EC-A4BC0337536B}"/>
              </a:ext>
            </a:extLst>
          </p:cNvPr>
          <p:cNvCxnSpPr>
            <a:cxnSpLocks/>
            <a:stCxn id="44" idx="3"/>
            <a:endCxn id="6" idx="1"/>
          </p:cNvCxnSpPr>
          <p:nvPr/>
        </p:nvCxnSpPr>
        <p:spPr>
          <a:xfrm>
            <a:off x="5737233" y="3505860"/>
            <a:ext cx="1040505" cy="1042458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19C8A55-A2F5-4A64-598E-FCB4A79275C2}"/>
              </a:ext>
            </a:extLst>
          </p:cNvPr>
          <p:cNvSpPr txBox="1"/>
          <p:nvPr/>
        </p:nvSpPr>
        <p:spPr>
          <a:xfrm>
            <a:off x="5368375" y="6195910"/>
            <a:ext cx="2502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>
                <a:solidFill>
                  <a:srgbClr val="FF0000"/>
                </a:solidFill>
              </a:rPr>
              <a:t>(Encoder </a:t>
            </a:r>
            <a:r>
              <a:rPr kumimoji="1" lang="zh-TW" altLang="en-US" sz="1600" dirty="0">
                <a:solidFill>
                  <a:srgbClr val="FF0000"/>
                </a:solidFill>
              </a:rPr>
              <a:t>的輸出有很多種被</a:t>
            </a:r>
            <a:r>
              <a:rPr kumimoji="1" lang="en-US" altLang="zh-TW" sz="1600" dirty="0">
                <a:solidFill>
                  <a:srgbClr val="FF0000"/>
                </a:solidFill>
              </a:rPr>
              <a:t>Decoder</a:t>
            </a:r>
            <a:r>
              <a:rPr kumimoji="1" lang="zh-TW" altLang="en-US" sz="1600" dirty="0">
                <a:solidFill>
                  <a:srgbClr val="FF0000"/>
                </a:solidFill>
              </a:rPr>
              <a:t>運用的方式</a:t>
            </a:r>
            <a:r>
              <a:rPr kumimoji="1" lang="en-US" altLang="zh-TW" sz="1600" dirty="0">
                <a:solidFill>
                  <a:srgbClr val="FF0000"/>
                </a:solidFill>
              </a:rPr>
              <a:t>)</a:t>
            </a:r>
            <a:endParaRPr kumimoji="1" lang="zh-TW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20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animBg="1"/>
      <p:bldP spid="32" grpId="0"/>
      <p:bldP spid="37" grpId="0" animBg="1"/>
      <p:bldP spid="42" grpId="0"/>
      <p:bldP spid="44" grpId="0" animBg="1"/>
      <p:bldP spid="47" grpId="0" animBg="1"/>
      <p:bldP spid="48" grpId="0" animBg="1"/>
      <p:bldP spid="49" grpId="0" animBg="1"/>
      <p:bldP spid="50" grpId="0"/>
      <p:bldP spid="51" grpId="0"/>
      <p:bldP spid="62" grpId="0" animBg="1"/>
      <p:bldP spid="63" grpId="0" animBg="1"/>
      <p:bldP spid="64" grpId="0" animBg="1"/>
      <p:bldP spid="65" grpId="0" animBg="1"/>
      <p:bldP spid="3" grpId="0"/>
      <p:bldP spid="2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2BA026D-D0A5-154B-B2E7-F6D1A5A54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0449" y="1151922"/>
            <a:ext cx="10831101" cy="4554156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5C61218-2627-FA44-81F7-DC534906A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81C-F638-B044-A8F2-A1B9864D5A40}" type="slidenum">
              <a:rPr kumimoji="1" lang="zh-TW" altLang="en-US" smtClean="0"/>
              <a:t>45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534162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33476-9204-FDC7-DF40-E423D2C0F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D92849-6EB0-5CDA-1AA2-84983D12F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機器翻譯 </a:t>
            </a:r>
            <a:r>
              <a:rPr kumimoji="1" lang="en-US" altLang="zh-TW" dirty="0"/>
              <a:t>(</a:t>
            </a:r>
            <a:r>
              <a:rPr kumimoji="1" lang="zh-TW" altLang="en-US" dirty="0"/>
              <a:t>一般情況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5B788956-E287-40E6-C469-B4A2E4E9F6F6}"/>
              </a:ext>
            </a:extLst>
          </p:cNvPr>
          <p:cNvSpPr/>
          <p:nvPr/>
        </p:nvSpPr>
        <p:spPr>
          <a:xfrm rot="5400000">
            <a:off x="1041463" y="406411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1CBACF8-B505-A338-65B1-9DBFC23CE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81C-F638-B044-A8F2-A1B9864D5A40}" type="slidenum">
              <a:rPr kumimoji="1" lang="zh-TW" altLang="en-US" smtClean="0"/>
              <a:t>46</a:t>
            </a:fld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D22115D-902C-F890-952F-00983B5F2487}"/>
                  </a:ext>
                </a:extLst>
              </p:cNvPr>
              <p:cNvSpPr txBox="1"/>
              <p:nvPr/>
            </p:nvSpPr>
            <p:spPr>
              <a:xfrm>
                <a:off x="9380098" y="1474702"/>
                <a:ext cx="2191416" cy="646331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en-US" altLang="zh-TW" dirty="0"/>
                  <a:t>: encoder timestep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TW" dirty="0"/>
                  <a:t>: decoder timestep</a:t>
                </a: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D22115D-902C-F890-952F-00983B5F2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0098" y="1474702"/>
                <a:ext cx="2191416" cy="646331"/>
              </a:xfrm>
              <a:prstGeom prst="rect">
                <a:avLst/>
              </a:prstGeom>
              <a:blipFill>
                <a:blip r:embed="rId3"/>
                <a:stretch>
                  <a:fillRect t="-3704" b="-9259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974E7177-F7B3-47C1-2047-67A83DE95B32}"/>
              </a:ext>
            </a:extLst>
          </p:cNvPr>
          <p:cNvCxnSpPr/>
          <p:nvPr/>
        </p:nvCxnSpPr>
        <p:spPr>
          <a:xfrm>
            <a:off x="5632911" y="2553196"/>
            <a:ext cx="0" cy="265890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3557CB2D-302E-5A8A-C3A8-A27AC55EE9D6}"/>
              </a:ext>
            </a:extLst>
          </p:cNvPr>
          <p:cNvCxnSpPr>
            <a:cxnSpLocks/>
          </p:cNvCxnSpPr>
          <p:nvPr/>
        </p:nvCxnSpPr>
        <p:spPr>
          <a:xfrm flipH="1">
            <a:off x="1503108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4201E5EB-C09D-0469-3D41-51BF32003312}"/>
              </a:ext>
            </a:extLst>
          </p:cNvPr>
          <p:cNvSpPr/>
          <p:nvPr/>
        </p:nvSpPr>
        <p:spPr>
          <a:xfrm rot="5400000">
            <a:off x="1041463" y="4445564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9DB28BEF-7932-8301-CBD2-4A88543D8E23}"/>
              </a:ext>
            </a:extLst>
          </p:cNvPr>
          <p:cNvCxnSpPr>
            <a:cxnSpLocks/>
          </p:cNvCxnSpPr>
          <p:nvPr/>
        </p:nvCxnSpPr>
        <p:spPr>
          <a:xfrm>
            <a:off x="1524880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63891F3B-5FED-94AB-87ED-41AECAECB1D8}"/>
              </a:ext>
            </a:extLst>
          </p:cNvPr>
          <p:cNvCxnSpPr>
            <a:cxnSpLocks/>
          </p:cNvCxnSpPr>
          <p:nvPr/>
        </p:nvCxnSpPr>
        <p:spPr>
          <a:xfrm>
            <a:off x="246797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0568C0D6-0989-C213-E2FF-3DB5FCF4D8D4}"/>
              </a:ext>
            </a:extLst>
          </p:cNvPr>
          <p:cNvCxnSpPr>
            <a:cxnSpLocks/>
          </p:cNvCxnSpPr>
          <p:nvPr/>
        </p:nvCxnSpPr>
        <p:spPr>
          <a:xfrm>
            <a:off x="342618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E35A97DE-2A9A-A06C-51B9-C8CBF99344FF}"/>
              </a:ext>
            </a:extLst>
          </p:cNvPr>
          <p:cNvCxnSpPr>
            <a:cxnSpLocks/>
          </p:cNvCxnSpPr>
          <p:nvPr/>
        </p:nvCxnSpPr>
        <p:spPr>
          <a:xfrm>
            <a:off x="441990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D9AC6AF4-48B6-D9C9-C460-89AC705DDD50}"/>
              </a:ext>
            </a:extLst>
          </p:cNvPr>
          <p:cNvCxnSpPr>
            <a:cxnSpLocks/>
          </p:cNvCxnSpPr>
          <p:nvPr/>
        </p:nvCxnSpPr>
        <p:spPr>
          <a:xfrm flipH="1">
            <a:off x="2457088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258C71BE-B1BE-D088-CAD1-163B92D7B94B}"/>
              </a:ext>
            </a:extLst>
          </p:cNvPr>
          <p:cNvCxnSpPr>
            <a:cxnSpLocks/>
          </p:cNvCxnSpPr>
          <p:nvPr/>
        </p:nvCxnSpPr>
        <p:spPr>
          <a:xfrm flipH="1">
            <a:off x="3415531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613B7F33-4272-162E-B4AA-371CD519958A}"/>
              </a:ext>
            </a:extLst>
          </p:cNvPr>
          <p:cNvCxnSpPr>
            <a:cxnSpLocks/>
          </p:cNvCxnSpPr>
          <p:nvPr/>
        </p:nvCxnSpPr>
        <p:spPr>
          <a:xfrm flipH="1">
            <a:off x="4398132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5BDBFB7F-61F5-8EAE-2C60-28F9B4C2C802}"/>
                  </a:ext>
                </a:extLst>
              </p:cNvPr>
              <p:cNvSpPr txBox="1"/>
              <p:nvPr/>
            </p:nvSpPr>
            <p:spPr>
              <a:xfrm>
                <a:off x="422226" y="1837768"/>
                <a:ext cx="1618744" cy="518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;"/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e>
                          <m:groupChr>
                            <m:groupChrPr>
                              <m:chr m:val="←"/>
                              <m:pos m:val="top"/>
                              <m:vertJc m:val="bot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groupCh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5BDBFB7F-61F5-8EAE-2C60-28F9B4C2C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26" y="1837768"/>
                <a:ext cx="1618744" cy="5188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BF552B40-AD9A-4122-7DC7-AD71EE704406}"/>
                  </a:ext>
                </a:extLst>
              </p:cNvPr>
              <p:cNvSpPr txBox="1"/>
              <p:nvPr/>
            </p:nvSpPr>
            <p:spPr>
              <a:xfrm>
                <a:off x="496181" y="4380899"/>
                <a:ext cx="572956" cy="3396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BF552B40-AD9A-4122-7DC7-AD71EE704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81" y="4380899"/>
                <a:ext cx="572956" cy="3396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6C015F74-6D89-5871-6E64-2A85C07BA765}"/>
                  </a:ext>
                </a:extLst>
              </p:cNvPr>
              <p:cNvSpPr txBox="1"/>
              <p:nvPr/>
            </p:nvSpPr>
            <p:spPr>
              <a:xfrm>
                <a:off x="494670" y="4012978"/>
                <a:ext cx="572956" cy="3679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←"/>
                          <m:pos m:val="top"/>
                          <m:vertJc m:val="bot"/>
                          <m:ctrlPr>
                            <a:rPr lang="zh-TW" altLang="en-US" sz="14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6C015F74-6D89-5871-6E64-2A85C07BA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70" y="4012978"/>
                <a:ext cx="572956" cy="3679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圓角矩形 8">
            <a:extLst>
              <a:ext uri="{FF2B5EF4-FFF2-40B4-BE49-F238E27FC236}">
                <a16:creationId xmlns:a16="http://schemas.microsoft.com/office/drawing/2014/main" id="{C92E606B-1A37-74CC-368B-F0715BDF1852}"/>
              </a:ext>
            </a:extLst>
          </p:cNvPr>
          <p:cNvSpPr/>
          <p:nvPr/>
        </p:nvSpPr>
        <p:spPr>
          <a:xfrm rot="5400000">
            <a:off x="2003003" y="4061589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2E6F75A5-3832-D9F5-A394-CC1F607C76C1}"/>
              </a:ext>
            </a:extLst>
          </p:cNvPr>
          <p:cNvSpPr/>
          <p:nvPr/>
        </p:nvSpPr>
        <p:spPr>
          <a:xfrm rot="5400000">
            <a:off x="2003003" y="4443043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94387754-25D6-11E5-C934-DB75A30C22E0}"/>
              </a:ext>
            </a:extLst>
          </p:cNvPr>
          <p:cNvSpPr/>
          <p:nvPr/>
        </p:nvSpPr>
        <p:spPr>
          <a:xfrm rot="5400000">
            <a:off x="2959245" y="4061589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073BD1E7-0B31-1E6E-2189-C3385A008F6F}"/>
              </a:ext>
            </a:extLst>
          </p:cNvPr>
          <p:cNvSpPr/>
          <p:nvPr/>
        </p:nvSpPr>
        <p:spPr>
          <a:xfrm rot="5400000">
            <a:off x="2959245" y="4443043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5E26A7E3-C87D-F6C8-62EC-F4156883CA0F}"/>
              </a:ext>
            </a:extLst>
          </p:cNvPr>
          <p:cNvSpPr/>
          <p:nvPr/>
        </p:nvSpPr>
        <p:spPr>
          <a:xfrm rot="5400000">
            <a:off x="3979527" y="4057806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937C2B9C-5152-A38E-437A-C41738E2DAD7}"/>
              </a:ext>
            </a:extLst>
          </p:cNvPr>
          <p:cNvSpPr/>
          <p:nvPr/>
        </p:nvSpPr>
        <p:spPr>
          <a:xfrm rot="5400000">
            <a:off x="3979527" y="443926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B86DF7B1-8B48-5EB6-53B1-3D12E7D3C8F4}"/>
              </a:ext>
            </a:extLst>
          </p:cNvPr>
          <p:cNvSpPr/>
          <p:nvPr/>
        </p:nvSpPr>
        <p:spPr>
          <a:xfrm rot="5400000">
            <a:off x="4949287" y="405696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DEBB9907-9B6C-EDA5-42B5-BB850272233C}"/>
              </a:ext>
            </a:extLst>
          </p:cNvPr>
          <p:cNvSpPr/>
          <p:nvPr/>
        </p:nvSpPr>
        <p:spPr>
          <a:xfrm rot="5400000">
            <a:off x="4949287" y="4438414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204D723C-8628-5114-F524-D1024275B520}"/>
              </a:ext>
            </a:extLst>
          </p:cNvPr>
          <p:cNvSpPr txBox="1"/>
          <p:nvPr/>
        </p:nvSpPr>
        <p:spPr>
          <a:xfrm>
            <a:off x="1028450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我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25E84D3-EEFD-4E30-10B3-DC53DDA00276}"/>
              </a:ext>
            </a:extLst>
          </p:cNvPr>
          <p:cNvSpPr txBox="1"/>
          <p:nvPr/>
        </p:nvSpPr>
        <p:spPr>
          <a:xfrm>
            <a:off x="1989990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想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43378B5-20EA-9022-4800-2224CCE60664}"/>
              </a:ext>
            </a:extLst>
          </p:cNvPr>
          <p:cNvSpPr txBox="1"/>
          <p:nvPr/>
        </p:nvSpPr>
        <p:spPr>
          <a:xfrm>
            <a:off x="2946232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要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0EC1098-E3B3-E012-A8F4-908CFE46AD42}"/>
              </a:ext>
            </a:extLst>
          </p:cNvPr>
          <p:cNvSpPr txBox="1"/>
          <p:nvPr/>
        </p:nvSpPr>
        <p:spPr>
          <a:xfrm>
            <a:off x="3966514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放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32D244C-CEDF-F946-F885-EAFF878CF653}"/>
              </a:ext>
            </a:extLst>
          </p:cNvPr>
          <p:cNvSpPr txBox="1"/>
          <p:nvPr/>
        </p:nvSpPr>
        <p:spPr>
          <a:xfrm>
            <a:off x="4936274" y="5843215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假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9366382-D520-D4FC-4410-5DB256F698D8}"/>
              </a:ext>
            </a:extLst>
          </p:cNvPr>
          <p:cNvSpPr/>
          <p:nvPr/>
        </p:nvSpPr>
        <p:spPr>
          <a:xfrm>
            <a:off x="911313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9069FF0-69B7-5EF1-4CF7-13C192A439E7}"/>
              </a:ext>
            </a:extLst>
          </p:cNvPr>
          <p:cNvSpPr/>
          <p:nvPr/>
        </p:nvSpPr>
        <p:spPr>
          <a:xfrm>
            <a:off x="1901622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8F7B689-C2B2-1B34-2B3C-E0F5A84356D3}"/>
              </a:ext>
            </a:extLst>
          </p:cNvPr>
          <p:cNvSpPr/>
          <p:nvPr/>
        </p:nvSpPr>
        <p:spPr>
          <a:xfrm>
            <a:off x="2850931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D9A9D19-14BC-7C64-5A3F-A68EEA86EF0B}"/>
              </a:ext>
            </a:extLst>
          </p:cNvPr>
          <p:cNvSpPr/>
          <p:nvPr/>
        </p:nvSpPr>
        <p:spPr>
          <a:xfrm>
            <a:off x="3878145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72D4D06-61F2-0F4D-9A57-F5FD6C144EAE}"/>
              </a:ext>
            </a:extLst>
          </p:cNvPr>
          <p:cNvSpPr/>
          <p:nvPr/>
        </p:nvSpPr>
        <p:spPr>
          <a:xfrm>
            <a:off x="4847905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213B201F-C9C9-162C-159B-0BD8BE525E24}"/>
              </a:ext>
            </a:extLst>
          </p:cNvPr>
          <p:cNvCxnSpPr>
            <a:cxnSpLocks/>
          </p:cNvCxnSpPr>
          <p:nvPr/>
        </p:nvCxnSpPr>
        <p:spPr>
          <a:xfrm flipV="1">
            <a:off x="1216822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箭頭接點 59">
            <a:extLst>
              <a:ext uri="{FF2B5EF4-FFF2-40B4-BE49-F238E27FC236}">
                <a16:creationId xmlns:a16="http://schemas.microsoft.com/office/drawing/2014/main" id="{044D67CF-2BCB-A948-F34C-74E69E558347}"/>
              </a:ext>
            </a:extLst>
          </p:cNvPr>
          <p:cNvCxnSpPr>
            <a:cxnSpLocks/>
          </p:cNvCxnSpPr>
          <p:nvPr/>
        </p:nvCxnSpPr>
        <p:spPr>
          <a:xfrm flipV="1">
            <a:off x="1227708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箭頭接點 61">
            <a:extLst>
              <a:ext uri="{FF2B5EF4-FFF2-40B4-BE49-F238E27FC236}">
                <a16:creationId xmlns:a16="http://schemas.microsoft.com/office/drawing/2014/main" id="{83A1BA2F-F3D1-4B12-F970-2DD4EC28B28B}"/>
              </a:ext>
            </a:extLst>
          </p:cNvPr>
          <p:cNvCxnSpPr>
            <a:cxnSpLocks/>
          </p:cNvCxnSpPr>
          <p:nvPr/>
        </p:nvCxnSpPr>
        <p:spPr>
          <a:xfrm flipV="1">
            <a:off x="2189248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箭頭接點 62">
            <a:extLst>
              <a:ext uri="{FF2B5EF4-FFF2-40B4-BE49-F238E27FC236}">
                <a16:creationId xmlns:a16="http://schemas.microsoft.com/office/drawing/2014/main" id="{13949679-4AB3-234A-773C-4FE2D726BF59}"/>
              </a:ext>
            </a:extLst>
          </p:cNvPr>
          <p:cNvCxnSpPr>
            <a:cxnSpLocks/>
          </p:cNvCxnSpPr>
          <p:nvPr/>
        </p:nvCxnSpPr>
        <p:spPr>
          <a:xfrm flipV="1">
            <a:off x="2189248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箭頭接點 67">
            <a:extLst>
              <a:ext uri="{FF2B5EF4-FFF2-40B4-BE49-F238E27FC236}">
                <a16:creationId xmlns:a16="http://schemas.microsoft.com/office/drawing/2014/main" id="{1D304632-8F35-DB71-D398-BD3E3491AEDF}"/>
              </a:ext>
            </a:extLst>
          </p:cNvPr>
          <p:cNvCxnSpPr>
            <a:cxnSpLocks/>
          </p:cNvCxnSpPr>
          <p:nvPr/>
        </p:nvCxnSpPr>
        <p:spPr>
          <a:xfrm flipV="1">
            <a:off x="3150664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箭頭接點 68">
            <a:extLst>
              <a:ext uri="{FF2B5EF4-FFF2-40B4-BE49-F238E27FC236}">
                <a16:creationId xmlns:a16="http://schemas.microsoft.com/office/drawing/2014/main" id="{51FA1684-5FD9-6DBC-319D-3A594F5D0F6C}"/>
              </a:ext>
            </a:extLst>
          </p:cNvPr>
          <p:cNvCxnSpPr>
            <a:cxnSpLocks/>
          </p:cNvCxnSpPr>
          <p:nvPr/>
        </p:nvCxnSpPr>
        <p:spPr>
          <a:xfrm flipV="1">
            <a:off x="3150664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箭頭接點 69">
            <a:extLst>
              <a:ext uri="{FF2B5EF4-FFF2-40B4-BE49-F238E27FC236}">
                <a16:creationId xmlns:a16="http://schemas.microsoft.com/office/drawing/2014/main" id="{1A56991F-1023-0A83-B9AE-A83F04F9E3DE}"/>
              </a:ext>
            </a:extLst>
          </p:cNvPr>
          <p:cNvCxnSpPr>
            <a:cxnSpLocks/>
          </p:cNvCxnSpPr>
          <p:nvPr/>
        </p:nvCxnSpPr>
        <p:spPr>
          <a:xfrm flipV="1">
            <a:off x="4165771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箭頭接點 70">
            <a:extLst>
              <a:ext uri="{FF2B5EF4-FFF2-40B4-BE49-F238E27FC236}">
                <a16:creationId xmlns:a16="http://schemas.microsoft.com/office/drawing/2014/main" id="{3E6B0BDF-1DFC-04A0-7CD5-6BA19E3EECFD}"/>
              </a:ext>
            </a:extLst>
          </p:cNvPr>
          <p:cNvCxnSpPr>
            <a:cxnSpLocks/>
          </p:cNvCxnSpPr>
          <p:nvPr/>
        </p:nvCxnSpPr>
        <p:spPr>
          <a:xfrm flipV="1">
            <a:off x="416577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箭頭接點 71">
            <a:extLst>
              <a:ext uri="{FF2B5EF4-FFF2-40B4-BE49-F238E27FC236}">
                <a16:creationId xmlns:a16="http://schemas.microsoft.com/office/drawing/2014/main" id="{A02D3CCF-5471-FF03-B900-BF2C1E3B4942}"/>
              </a:ext>
            </a:extLst>
          </p:cNvPr>
          <p:cNvCxnSpPr>
            <a:cxnSpLocks/>
          </p:cNvCxnSpPr>
          <p:nvPr/>
        </p:nvCxnSpPr>
        <p:spPr>
          <a:xfrm flipV="1">
            <a:off x="5135531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箭頭接點 72">
            <a:extLst>
              <a:ext uri="{FF2B5EF4-FFF2-40B4-BE49-F238E27FC236}">
                <a16:creationId xmlns:a16="http://schemas.microsoft.com/office/drawing/2014/main" id="{8DC86193-C03A-FB52-7AD0-4CF3A123A7C7}"/>
              </a:ext>
            </a:extLst>
          </p:cNvPr>
          <p:cNvCxnSpPr>
            <a:cxnSpLocks/>
          </p:cNvCxnSpPr>
          <p:nvPr/>
        </p:nvCxnSpPr>
        <p:spPr>
          <a:xfrm flipV="1">
            <a:off x="513553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5E3C23B4-07EB-A6D5-71D2-BFFAA6764F22}"/>
              </a:ext>
            </a:extLst>
          </p:cNvPr>
          <p:cNvSpPr txBox="1"/>
          <p:nvPr/>
        </p:nvSpPr>
        <p:spPr>
          <a:xfrm>
            <a:off x="6182953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_</a:t>
            </a:r>
            <a:endParaRPr kumimoji="1" lang="zh-TW" altLang="en-US" dirty="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69338519-D469-6F2B-8EC2-8D88CA3E8B57}"/>
              </a:ext>
            </a:extLst>
          </p:cNvPr>
          <p:cNvSpPr/>
          <p:nvPr/>
        </p:nvSpPr>
        <p:spPr>
          <a:xfrm>
            <a:off x="6065816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84" name="直線箭頭接點 83">
            <a:extLst>
              <a:ext uri="{FF2B5EF4-FFF2-40B4-BE49-F238E27FC236}">
                <a16:creationId xmlns:a16="http://schemas.microsoft.com/office/drawing/2014/main" id="{E33A24B3-9DDB-02D7-BAF2-BC4B38624D36}"/>
              </a:ext>
            </a:extLst>
          </p:cNvPr>
          <p:cNvCxnSpPr>
            <a:cxnSpLocks/>
          </p:cNvCxnSpPr>
          <p:nvPr/>
        </p:nvCxnSpPr>
        <p:spPr>
          <a:xfrm flipV="1">
            <a:off x="6371325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圓角矩形 97">
            <a:extLst>
              <a:ext uri="{FF2B5EF4-FFF2-40B4-BE49-F238E27FC236}">
                <a16:creationId xmlns:a16="http://schemas.microsoft.com/office/drawing/2014/main" id="{1931643E-26A7-F08B-F668-40B6A7022F9B}"/>
              </a:ext>
            </a:extLst>
          </p:cNvPr>
          <p:cNvSpPr/>
          <p:nvPr/>
        </p:nvSpPr>
        <p:spPr>
          <a:xfrm rot="5400000">
            <a:off x="5446665" y="3332793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0" name="肘形接點 99">
            <a:extLst>
              <a:ext uri="{FF2B5EF4-FFF2-40B4-BE49-F238E27FC236}">
                <a16:creationId xmlns:a16="http://schemas.microsoft.com/office/drawing/2014/main" id="{ECF3CCFA-A9BD-A0EC-6E09-3F93BBE23403}"/>
              </a:ext>
            </a:extLst>
          </p:cNvPr>
          <p:cNvCxnSpPr>
            <a:cxnSpLocks/>
            <a:stCxn id="20" idx="1"/>
            <a:endCxn id="98" idx="2"/>
          </p:cNvCxnSpPr>
          <p:nvPr/>
        </p:nvCxnSpPr>
        <p:spPr>
          <a:xfrm rot="5400000" flipH="1" flipV="1">
            <a:off x="5063272" y="3509029"/>
            <a:ext cx="537922" cy="3934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箭頭接點 104">
            <a:extLst>
              <a:ext uri="{FF2B5EF4-FFF2-40B4-BE49-F238E27FC236}">
                <a16:creationId xmlns:a16="http://schemas.microsoft.com/office/drawing/2014/main" id="{BEF0AF55-4740-7EAB-390F-8D27D252010E}"/>
              </a:ext>
            </a:extLst>
          </p:cNvPr>
          <p:cNvCxnSpPr>
            <a:cxnSpLocks/>
          </p:cNvCxnSpPr>
          <p:nvPr/>
        </p:nvCxnSpPr>
        <p:spPr>
          <a:xfrm>
            <a:off x="153035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箭頭接點 106">
            <a:extLst>
              <a:ext uri="{FF2B5EF4-FFF2-40B4-BE49-F238E27FC236}">
                <a16:creationId xmlns:a16="http://schemas.microsoft.com/office/drawing/2014/main" id="{2485EC92-AC3E-DFE8-FBC9-0E14C12A34E2}"/>
              </a:ext>
            </a:extLst>
          </p:cNvPr>
          <p:cNvCxnSpPr>
            <a:cxnSpLocks/>
          </p:cNvCxnSpPr>
          <p:nvPr/>
        </p:nvCxnSpPr>
        <p:spPr>
          <a:xfrm>
            <a:off x="2495216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箭頭接點 107">
            <a:extLst>
              <a:ext uri="{FF2B5EF4-FFF2-40B4-BE49-F238E27FC236}">
                <a16:creationId xmlns:a16="http://schemas.microsoft.com/office/drawing/2014/main" id="{049E9A4D-441B-CDA6-44BC-FCD3F836CC97}"/>
              </a:ext>
            </a:extLst>
          </p:cNvPr>
          <p:cNvCxnSpPr>
            <a:cxnSpLocks/>
          </p:cNvCxnSpPr>
          <p:nvPr/>
        </p:nvCxnSpPr>
        <p:spPr>
          <a:xfrm>
            <a:off x="348067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箭頭接點 108">
            <a:extLst>
              <a:ext uri="{FF2B5EF4-FFF2-40B4-BE49-F238E27FC236}">
                <a16:creationId xmlns:a16="http://schemas.microsoft.com/office/drawing/2014/main" id="{9B0D88FC-C422-1C14-601B-54ADAC054B62}"/>
              </a:ext>
            </a:extLst>
          </p:cNvPr>
          <p:cNvCxnSpPr>
            <a:cxnSpLocks/>
          </p:cNvCxnSpPr>
          <p:nvPr/>
        </p:nvCxnSpPr>
        <p:spPr>
          <a:xfrm>
            <a:off x="449299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357C2E4A-9FE9-FA48-208C-A11B59C84DB3}"/>
              </a:ext>
            </a:extLst>
          </p:cNvPr>
          <p:cNvGrpSpPr/>
          <p:nvPr/>
        </p:nvGrpSpPr>
        <p:grpSpPr>
          <a:xfrm>
            <a:off x="6681569" y="5134787"/>
            <a:ext cx="1019335" cy="1111138"/>
            <a:chOff x="6681569" y="5134787"/>
            <a:chExt cx="1019335" cy="1111138"/>
          </a:xfrm>
        </p:grpSpPr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2D4B66CE-E4E2-F27A-8909-474246C624FD}"/>
                </a:ext>
              </a:extLst>
            </p:cNvPr>
            <p:cNvSpPr txBox="1"/>
            <p:nvPr/>
          </p:nvSpPr>
          <p:spPr>
            <a:xfrm>
              <a:off x="6981299" y="5876593"/>
              <a:ext cx="7196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I</a:t>
              </a:r>
              <a:endParaRPr kumimoji="1" lang="zh-TW" altLang="en-US" dirty="0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C4F1579C-4DE8-65FC-3988-F4649521897F}"/>
                </a:ext>
              </a:extLst>
            </p:cNvPr>
            <p:cNvSpPr/>
            <p:nvPr/>
          </p:nvSpPr>
          <p:spPr>
            <a:xfrm>
              <a:off x="7056125" y="5134787"/>
              <a:ext cx="575253" cy="3798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RNN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86" name="直線箭頭接點 85">
              <a:extLst>
                <a:ext uri="{FF2B5EF4-FFF2-40B4-BE49-F238E27FC236}">
                  <a16:creationId xmlns:a16="http://schemas.microsoft.com/office/drawing/2014/main" id="{AE79368C-D8CA-8D66-1E81-77BA0C4D56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3751" y="5607843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箭頭接點 109">
              <a:extLst>
                <a:ext uri="{FF2B5EF4-FFF2-40B4-BE49-F238E27FC236}">
                  <a16:creationId xmlns:a16="http://schemas.microsoft.com/office/drawing/2014/main" id="{D76CCA10-624E-4578-584C-06D5915F1EF0}"/>
                </a:ext>
              </a:extLst>
            </p:cNvPr>
            <p:cNvCxnSpPr>
              <a:cxnSpLocks/>
            </p:cNvCxnSpPr>
            <p:nvPr/>
          </p:nvCxnSpPr>
          <p:spPr>
            <a:xfrm>
              <a:off x="6681569" y="5324624"/>
              <a:ext cx="34402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群組 174">
            <a:extLst>
              <a:ext uri="{FF2B5EF4-FFF2-40B4-BE49-F238E27FC236}">
                <a16:creationId xmlns:a16="http://schemas.microsoft.com/office/drawing/2014/main" id="{BAEFCB2B-D410-C45E-82D1-988C09E59F23}"/>
              </a:ext>
            </a:extLst>
          </p:cNvPr>
          <p:cNvGrpSpPr/>
          <p:nvPr/>
        </p:nvGrpSpPr>
        <p:grpSpPr>
          <a:xfrm>
            <a:off x="7646435" y="5134787"/>
            <a:ext cx="1023758" cy="1106032"/>
            <a:chOff x="7646435" y="5134787"/>
            <a:chExt cx="1023758" cy="1106032"/>
          </a:xfrm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9FDAF860-A1EA-5EE1-A7BC-B1F200F8FA71}"/>
                </a:ext>
              </a:extLst>
            </p:cNvPr>
            <p:cNvSpPr/>
            <p:nvPr/>
          </p:nvSpPr>
          <p:spPr>
            <a:xfrm>
              <a:off x="8005434" y="5134787"/>
              <a:ext cx="575253" cy="3798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RNN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88" name="直線箭頭接點 87">
              <a:extLst>
                <a:ext uri="{FF2B5EF4-FFF2-40B4-BE49-F238E27FC236}">
                  <a16:creationId xmlns:a16="http://schemas.microsoft.com/office/drawing/2014/main" id="{A431406E-C890-7ACB-7A70-0D4B0B07C2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5167" y="5607843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線箭頭接點 110">
              <a:extLst>
                <a:ext uri="{FF2B5EF4-FFF2-40B4-BE49-F238E27FC236}">
                  <a16:creationId xmlns:a16="http://schemas.microsoft.com/office/drawing/2014/main" id="{0BCDD360-EF15-3170-131C-403363C11400}"/>
                </a:ext>
              </a:extLst>
            </p:cNvPr>
            <p:cNvCxnSpPr>
              <a:cxnSpLocks/>
            </p:cNvCxnSpPr>
            <p:nvPr/>
          </p:nvCxnSpPr>
          <p:spPr>
            <a:xfrm>
              <a:off x="7646435" y="5324624"/>
              <a:ext cx="34402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文字方塊 154">
              <a:extLst>
                <a:ext uri="{FF2B5EF4-FFF2-40B4-BE49-F238E27FC236}">
                  <a16:creationId xmlns:a16="http://schemas.microsoft.com/office/drawing/2014/main" id="{482F00AD-E5D3-D4F2-9F11-5DC3E9F294DD}"/>
                </a:ext>
              </a:extLst>
            </p:cNvPr>
            <p:cNvSpPr txBox="1"/>
            <p:nvPr/>
          </p:nvSpPr>
          <p:spPr>
            <a:xfrm>
              <a:off x="7950588" y="5871487"/>
              <a:ext cx="7196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want</a:t>
              </a:r>
              <a:endParaRPr kumimoji="1" lang="zh-TW" altLang="en-US" dirty="0"/>
            </a:p>
          </p:txBody>
        </p:sp>
      </p:grpSp>
      <p:grpSp>
        <p:nvGrpSpPr>
          <p:cNvPr id="176" name="群組 175">
            <a:extLst>
              <a:ext uri="{FF2B5EF4-FFF2-40B4-BE49-F238E27FC236}">
                <a16:creationId xmlns:a16="http://schemas.microsoft.com/office/drawing/2014/main" id="{535631E2-6439-AF55-DE05-C96F6CF01248}"/>
              </a:ext>
            </a:extLst>
          </p:cNvPr>
          <p:cNvGrpSpPr/>
          <p:nvPr/>
        </p:nvGrpSpPr>
        <p:grpSpPr>
          <a:xfrm>
            <a:off x="8631889" y="5134787"/>
            <a:ext cx="976012" cy="1116518"/>
            <a:chOff x="8631889" y="5134787"/>
            <a:chExt cx="976012" cy="1116518"/>
          </a:xfrm>
        </p:grpSpPr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B18E41FF-2EA4-C2DD-F6A4-443B596A653F}"/>
                </a:ext>
              </a:extLst>
            </p:cNvPr>
            <p:cNvSpPr/>
            <p:nvPr/>
          </p:nvSpPr>
          <p:spPr>
            <a:xfrm>
              <a:off x="9032648" y="5134787"/>
              <a:ext cx="575253" cy="3798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RNN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90" name="直線箭頭接點 89">
              <a:extLst>
                <a:ext uri="{FF2B5EF4-FFF2-40B4-BE49-F238E27FC236}">
                  <a16:creationId xmlns:a16="http://schemas.microsoft.com/office/drawing/2014/main" id="{EEFE06B8-1817-D740-34E1-ED9A6DED2D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0274" y="5607843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線箭頭接點 111">
              <a:extLst>
                <a:ext uri="{FF2B5EF4-FFF2-40B4-BE49-F238E27FC236}">
                  <a16:creationId xmlns:a16="http://schemas.microsoft.com/office/drawing/2014/main" id="{18B60F0E-8260-7B3F-2D7A-ED1D9C401CB7}"/>
                </a:ext>
              </a:extLst>
            </p:cNvPr>
            <p:cNvCxnSpPr>
              <a:cxnSpLocks/>
            </p:cNvCxnSpPr>
            <p:nvPr/>
          </p:nvCxnSpPr>
          <p:spPr>
            <a:xfrm>
              <a:off x="8631889" y="5324624"/>
              <a:ext cx="34402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文字方塊 155">
              <a:extLst>
                <a:ext uri="{FF2B5EF4-FFF2-40B4-BE49-F238E27FC236}">
                  <a16:creationId xmlns:a16="http://schemas.microsoft.com/office/drawing/2014/main" id="{88B105B0-21A6-22EC-6B23-BD8B06527B02}"/>
                </a:ext>
              </a:extLst>
            </p:cNvPr>
            <p:cNvSpPr txBox="1"/>
            <p:nvPr/>
          </p:nvSpPr>
          <p:spPr>
            <a:xfrm>
              <a:off x="9121019" y="5871487"/>
              <a:ext cx="398509" cy="379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a</a:t>
              </a:r>
              <a:endParaRPr kumimoji="1" lang="zh-TW" altLang="en-US" dirty="0"/>
            </a:p>
          </p:txBody>
        </p:sp>
      </p:grpSp>
      <p:grpSp>
        <p:nvGrpSpPr>
          <p:cNvPr id="177" name="群組 176">
            <a:extLst>
              <a:ext uri="{FF2B5EF4-FFF2-40B4-BE49-F238E27FC236}">
                <a16:creationId xmlns:a16="http://schemas.microsoft.com/office/drawing/2014/main" id="{BD9D61D4-656C-1C8D-44CA-F3CA1C1A5963}"/>
              </a:ext>
            </a:extLst>
          </p:cNvPr>
          <p:cNvGrpSpPr/>
          <p:nvPr/>
        </p:nvGrpSpPr>
        <p:grpSpPr>
          <a:xfrm>
            <a:off x="9644209" y="5134787"/>
            <a:ext cx="1044803" cy="1106032"/>
            <a:chOff x="9644209" y="5134787"/>
            <a:chExt cx="1044803" cy="1106032"/>
          </a:xfrm>
        </p:grpSpPr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3562D2E4-0D07-6328-86C8-9143B3A56FF9}"/>
                </a:ext>
              </a:extLst>
            </p:cNvPr>
            <p:cNvSpPr/>
            <p:nvPr/>
          </p:nvSpPr>
          <p:spPr>
            <a:xfrm>
              <a:off x="10002408" y="5134787"/>
              <a:ext cx="575253" cy="3798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RNN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92" name="直線箭頭接點 91">
              <a:extLst>
                <a:ext uri="{FF2B5EF4-FFF2-40B4-BE49-F238E27FC236}">
                  <a16:creationId xmlns:a16="http://schemas.microsoft.com/office/drawing/2014/main" id="{8A492D63-0231-825B-FA17-E105036652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90034" y="5607843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線箭頭接點 112">
              <a:extLst>
                <a:ext uri="{FF2B5EF4-FFF2-40B4-BE49-F238E27FC236}">
                  <a16:creationId xmlns:a16="http://schemas.microsoft.com/office/drawing/2014/main" id="{52723E11-5FDA-86E0-EA18-627A49722810}"/>
                </a:ext>
              </a:extLst>
            </p:cNvPr>
            <p:cNvCxnSpPr>
              <a:cxnSpLocks/>
            </p:cNvCxnSpPr>
            <p:nvPr/>
          </p:nvCxnSpPr>
          <p:spPr>
            <a:xfrm>
              <a:off x="9644209" y="5324624"/>
              <a:ext cx="34402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文字方塊 156">
              <a:extLst>
                <a:ext uri="{FF2B5EF4-FFF2-40B4-BE49-F238E27FC236}">
                  <a16:creationId xmlns:a16="http://schemas.microsoft.com/office/drawing/2014/main" id="{F18CEE3A-C5F6-AEC4-577E-5643CDCABF0B}"/>
                </a:ext>
              </a:extLst>
            </p:cNvPr>
            <p:cNvSpPr txBox="1"/>
            <p:nvPr/>
          </p:nvSpPr>
          <p:spPr>
            <a:xfrm>
              <a:off x="9891055" y="5871487"/>
              <a:ext cx="7979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day</a:t>
              </a:r>
              <a:endParaRPr kumimoji="1" lang="zh-TW" altLang="en-US" dirty="0"/>
            </a:p>
          </p:txBody>
        </p:sp>
      </p:grpSp>
      <p:cxnSp>
        <p:nvCxnSpPr>
          <p:cNvPr id="102" name="肘形接點 101">
            <a:extLst>
              <a:ext uri="{FF2B5EF4-FFF2-40B4-BE49-F238E27FC236}">
                <a16:creationId xmlns:a16="http://schemas.microsoft.com/office/drawing/2014/main" id="{4187BF72-D891-B97B-C6F0-AC33A684B644}"/>
              </a:ext>
            </a:extLst>
          </p:cNvPr>
          <p:cNvCxnSpPr>
            <a:cxnSpLocks/>
            <a:stCxn id="98" idx="0"/>
            <a:endCxn id="79" idx="1"/>
          </p:cNvCxnSpPr>
          <p:nvPr/>
        </p:nvCxnSpPr>
        <p:spPr>
          <a:xfrm>
            <a:off x="5736886" y="3436769"/>
            <a:ext cx="328930" cy="18879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8" name="群組 167">
            <a:extLst>
              <a:ext uri="{FF2B5EF4-FFF2-40B4-BE49-F238E27FC236}">
                <a16:creationId xmlns:a16="http://schemas.microsoft.com/office/drawing/2014/main" id="{80F340EB-2088-5166-7459-6B55A9CB0FE1}"/>
              </a:ext>
            </a:extLst>
          </p:cNvPr>
          <p:cNvGrpSpPr/>
          <p:nvPr/>
        </p:nvGrpSpPr>
        <p:grpSpPr>
          <a:xfrm>
            <a:off x="6026315" y="2625090"/>
            <a:ext cx="719605" cy="2448900"/>
            <a:chOff x="6026315" y="2625090"/>
            <a:chExt cx="719605" cy="2448900"/>
          </a:xfrm>
        </p:grpSpPr>
        <p:cxnSp>
          <p:nvCxnSpPr>
            <p:cNvPr id="85" name="直線箭頭接點 84">
              <a:extLst>
                <a:ext uri="{FF2B5EF4-FFF2-40B4-BE49-F238E27FC236}">
                  <a16:creationId xmlns:a16="http://schemas.microsoft.com/office/drawing/2014/main" id="{6F99F63A-DB45-9627-BC8F-3E68741763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2211" y="4825311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圓角矩形 49">
              <a:extLst>
                <a:ext uri="{FF2B5EF4-FFF2-40B4-BE49-F238E27FC236}">
                  <a16:creationId xmlns:a16="http://schemas.microsoft.com/office/drawing/2014/main" id="{F7F7A3B4-4B4D-651B-5C7B-3B594E39FA25}"/>
                </a:ext>
              </a:extLst>
            </p:cNvPr>
            <p:cNvSpPr/>
            <p:nvPr/>
          </p:nvSpPr>
          <p:spPr>
            <a:xfrm rot="16200000">
              <a:off x="6192813" y="4419031"/>
              <a:ext cx="372490" cy="205528"/>
            </a:xfrm>
            <a:prstGeom prst="roundRect">
              <a:avLst/>
            </a:prstGeom>
            <a:solidFill>
              <a:srgbClr val="C6E0B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C8BF1169-D14B-597B-268B-EA7BA7FC6B4B}"/>
                </a:ext>
              </a:extLst>
            </p:cNvPr>
            <p:cNvSpPr/>
            <p:nvPr/>
          </p:nvSpPr>
          <p:spPr>
            <a:xfrm>
              <a:off x="6097363" y="3517941"/>
              <a:ext cx="575253" cy="3798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100" dirty="0">
                  <a:solidFill>
                    <a:schemeClr val="tx1"/>
                  </a:solidFill>
                </a:rPr>
                <a:t>Linear</a:t>
              </a:r>
              <a:endParaRPr kumimoji="1" lang="zh-TW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47" name="直線箭頭接點 146">
              <a:extLst>
                <a:ext uri="{FF2B5EF4-FFF2-40B4-BE49-F238E27FC236}">
                  <a16:creationId xmlns:a16="http://schemas.microsoft.com/office/drawing/2014/main" id="{13F4EF51-A24C-9837-8493-9E6C890003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2211" y="4012978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線箭頭接點 152">
              <a:extLst>
                <a:ext uri="{FF2B5EF4-FFF2-40B4-BE49-F238E27FC236}">
                  <a16:creationId xmlns:a16="http://schemas.microsoft.com/office/drawing/2014/main" id="{A008C7A7-A61A-A3FC-106A-EC24DCDB26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2844" y="3130780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字方塊 153">
              <a:extLst>
                <a:ext uri="{FF2B5EF4-FFF2-40B4-BE49-F238E27FC236}">
                  <a16:creationId xmlns:a16="http://schemas.microsoft.com/office/drawing/2014/main" id="{C30307C3-84BC-842E-D41B-C2B9CB5E4B20}"/>
                </a:ext>
              </a:extLst>
            </p:cNvPr>
            <p:cNvSpPr txBox="1"/>
            <p:nvPr/>
          </p:nvSpPr>
          <p:spPr>
            <a:xfrm>
              <a:off x="6026315" y="2625090"/>
              <a:ext cx="7196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I</a:t>
              </a:r>
              <a:endParaRPr kumimoji="1"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字方塊 159">
                  <a:extLst>
                    <a:ext uri="{FF2B5EF4-FFF2-40B4-BE49-F238E27FC236}">
                      <a16:creationId xmlns:a16="http://schemas.microsoft.com/office/drawing/2014/main" id="{D57025E9-E64A-0C9F-7A47-7D9B7A244419}"/>
                    </a:ext>
                  </a:extLst>
                </p:cNvPr>
                <p:cNvSpPr txBox="1"/>
                <p:nvPr/>
              </p:nvSpPr>
              <p:spPr>
                <a:xfrm>
                  <a:off x="6118558" y="4335549"/>
                  <a:ext cx="54131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60" name="文字方塊 159">
                  <a:extLst>
                    <a:ext uri="{FF2B5EF4-FFF2-40B4-BE49-F238E27FC236}">
                      <a16:creationId xmlns:a16="http://schemas.microsoft.com/office/drawing/2014/main" id="{D57025E9-E64A-0C9F-7A47-7D9B7A2444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8558" y="4335549"/>
                  <a:ext cx="541313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9" name="群組 168">
            <a:extLst>
              <a:ext uri="{FF2B5EF4-FFF2-40B4-BE49-F238E27FC236}">
                <a16:creationId xmlns:a16="http://schemas.microsoft.com/office/drawing/2014/main" id="{508299B3-CB86-887B-C754-91B82D8F12C9}"/>
              </a:ext>
            </a:extLst>
          </p:cNvPr>
          <p:cNvGrpSpPr/>
          <p:nvPr/>
        </p:nvGrpSpPr>
        <p:grpSpPr>
          <a:xfrm>
            <a:off x="6980828" y="2625090"/>
            <a:ext cx="719605" cy="2448900"/>
            <a:chOff x="6980828" y="2625090"/>
            <a:chExt cx="719605" cy="2448900"/>
          </a:xfrm>
        </p:grpSpPr>
        <p:cxnSp>
          <p:nvCxnSpPr>
            <p:cNvPr id="87" name="直線箭頭接點 86">
              <a:extLst>
                <a:ext uri="{FF2B5EF4-FFF2-40B4-BE49-F238E27FC236}">
                  <a16:creationId xmlns:a16="http://schemas.microsoft.com/office/drawing/2014/main" id="{2F0E6AF6-9AC1-EBC0-BCCD-94F572384A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3751" y="4825311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圓角矩形 114">
              <a:extLst>
                <a:ext uri="{FF2B5EF4-FFF2-40B4-BE49-F238E27FC236}">
                  <a16:creationId xmlns:a16="http://schemas.microsoft.com/office/drawing/2014/main" id="{AAE447D7-106F-8FBE-8547-FDDB9E766CCC}"/>
                </a:ext>
              </a:extLst>
            </p:cNvPr>
            <p:cNvSpPr/>
            <p:nvPr/>
          </p:nvSpPr>
          <p:spPr>
            <a:xfrm rot="16200000">
              <a:off x="7153651" y="4419031"/>
              <a:ext cx="372490" cy="205528"/>
            </a:xfrm>
            <a:prstGeom prst="roundRect">
              <a:avLst/>
            </a:prstGeom>
            <a:solidFill>
              <a:srgbClr val="C6E0B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2657CEC1-E207-7D96-81DF-F03FE7CCE528}"/>
                </a:ext>
              </a:extLst>
            </p:cNvPr>
            <p:cNvSpPr txBox="1"/>
            <p:nvPr/>
          </p:nvSpPr>
          <p:spPr>
            <a:xfrm>
              <a:off x="6980828" y="2625090"/>
              <a:ext cx="7196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want</a:t>
              </a:r>
              <a:endParaRPr kumimoji="1" lang="zh-TW" altLang="en-US" dirty="0"/>
            </a:p>
          </p:txBody>
        </p:sp>
        <p:cxnSp>
          <p:nvCxnSpPr>
            <p:cNvPr id="125" name="直線箭頭接點 124">
              <a:extLst>
                <a:ext uri="{FF2B5EF4-FFF2-40B4-BE49-F238E27FC236}">
                  <a16:creationId xmlns:a16="http://schemas.microsoft.com/office/drawing/2014/main" id="{88F0CAC0-4281-231D-9CD5-FF5681E51A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3118" y="4008381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749B4DB2-5DC6-81C6-B2A1-AD89F9A8F8E6}"/>
                </a:ext>
              </a:extLst>
            </p:cNvPr>
            <p:cNvSpPr/>
            <p:nvPr/>
          </p:nvSpPr>
          <p:spPr>
            <a:xfrm>
              <a:off x="7047983" y="3523324"/>
              <a:ext cx="575253" cy="3798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100" dirty="0">
                  <a:solidFill>
                    <a:schemeClr val="tx1"/>
                  </a:solidFill>
                </a:rPr>
                <a:t>Linear</a:t>
              </a:r>
              <a:endParaRPr kumimoji="1" lang="zh-TW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48" name="直線箭頭接點 147">
              <a:extLst>
                <a:ext uri="{FF2B5EF4-FFF2-40B4-BE49-F238E27FC236}">
                  <a16:creationId xmlns:a16="http://schemas.microsoft.com/office/drawing/2014/main" id="{F262D97C-C825-29B1-426D-14F584C9D3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3751" y="3126183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字方塊 160">
                  <a:extLst>
                    <a:ext uri="{FF2B5EF4-FFF2-40B4-BE49-F238E27FC236}">
                      <a16:creationId xmlns:a16="http://schemas.microsoft.com/office/drawing/2014/main" id="{CA96D657-DC87-75C0-74DE-C10E60D751EF}"/>
                    </a:ext>
                  </a:extLst>
                </p:cNvPr>
                <p:cNvSpPr txBox="1"/>
                <p:nvPr/>
              </p:nvSpPr>
              <p:spPr>
                <a:xfrm>
                  <a:off x="7076020" y="4335549"/>
                  <a:ext cx="54131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61" name="文字方塊 160">
                  <a:extLst>
                    <a:ext uri="{FF2B5EF4-FFF2-40B4-BE49-F238E27FC236}">
                      <a16:creationId xmlns:a16="http://schemas.microsoft.com/office/drawing/2014/main" id="{CA96D657-DC87-75C0-74DE-C10E60D751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6020" y="4335549"/>
                  <a:ext cx="541313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0" name="群組 169">
            <a:extLst>
              <a:ext uri="{FF2B5EF4-FFF2-40B4-BE49-F238E27FC236}">
                <a16:creationId xmlns:a16="http://schemas.microsoft.com/office/drawing/2014/main" id="{B7238234-28D8-430C-113E-A7EAFE69D4C4}"/>
              </a:ext>
            </a:extLst>
          </p:cNvPr>
          <p:cNvGrpSpPr/>
          <p:nvPr/>
        </p:nvGrpSpPr>
        <p:grpSpPr>
          <a:xfrm>
            <a:off x="7997292" y="2625090"/>
            <a:ext cx="581903" cy="2448900"/>
            <a:chOff x="7997292" y="2625090"/>
            <a:chExt cx="581903" cy="2448900"/>
          </a:xfrm>
        </p:grpSpPr>
        <p:cxnSp>
          <p:nvCxnSpPr>
            <p:cNvPr id="89" name="直線箭頭接點 88">
              <a:extLst>
                <a:ext uri="{FF2B5EF4-FFF2-40B4-BE49-F238E27FC236}">
                  <a16:creationId xmlns:a16="http://schemas.microsoft.com/office/drawing/2014/main" id="{81674CA5-48F3-3AF1-84C0-5582020973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5167" y="4825311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圓角矩形 115">
              <a:extLst>
                <a:ext uri="{FF2B5EF4-FFF2-40B4-BE49-F238E27FC236}">
                  <a16:creationId xmlns:a16="http://schemas.microsoft.com/office/drawing/2014/main" id="{CC2E2906-2BC0-4B4A-4ED7-76C501D4A048}"/>
                </a:ext>
              </a:extLst>
            </p:cNvPr>
            <p:cNvSpPr/>
            <p:nvPr/>
          </p:nvSpPr>
          <p:spPr>
            <a:xfrm rot="16200000">
              <a:off x="8106815" y="4419030"/>
              <a:ext cx="372490" cy="205528"/>
            </a:xfrm>
            <a:prstGeom prst="roundRect">
              <a:avLst/>
            </a:prstGeom>
            <a:solidFill>
              <a:srgbClr val="C6E0B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1" name="文字方塊 120">
              <a:extLst>
                <a:ext uri="{FF2B5EF4-FFF2-40B4-BE49-F238E27FC236}">
                  <a16:creationId xmlns:a16="http://schemas.microsoft.com/office/drawing/2014/main" id="{CB4F50F2-9AEA-7BBE-352A-151397E236CA}"/>
                </a:ext>
              </a:extLst>
            </p:cNvPr>
            <p:cNvSpPr txBox="1"/>
            <p:nvPr/>
          </p:nvSpPr>
          <p:spPr>
            <a:xfrm>
              <a:off x="8105438" y="2625090"/>
              <a:ext cx="39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a</a:t>
              </a:r>
              <a:endParaRPr kumimoji="1" lang="zh-TW" altLang="en-US" dirty="0"/>
            </a:p>
          </p:txBody>
        </p:sp>
        <p:cxnSp>
          <p:nvCxnSpPr>
            <p:cNvPr id="126" name="直線箭頭接點 125">
              <a:extLst>
                <a:ext uri="{FF2B5EF4-FFF2-40B4-BE49-F238E27FC236}">
                  <a16:creationId xmlns:a16="http://schemas.microsoft.com/office/drawing/2014/main" id="{794F92D3-D442-0280-705A-6D2431C402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4534" y="4008381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6ADE8BE8-9910-74E6-8E60-BED8A01A4FE2}"/>
                </a:ext>
              </a:extLst>
            </p:cNvPr>
            <p:cNvSpPr/>
            <p:nvPr/>
          </p:nvSpPr>
          <p:spPr>
            <a:xfrm>
              <a:off x="7997292" y="3523324"/>
              <a:ext cx="575253" cy="3798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100" dirty="0">
                  <a:solidFill>
                    <a:schemeClr val="tx1"/>
                  </a:solidFill>
                </a:rPr>
                <a:t>Linear</a:t>
              </a:r>
              <a:endParaRPr kumimoji="1" lang="zh-TW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49" name="直線箭頭接點 148">
              <a:extLst>
                <a:ext uri="{FF2B5EF4-FFF2-40B4-BE49-F238E27FC236}">
                  <a16:creationId xmlns:a16="http://schemas.microsoft.com/office/drawing/2014/main" id="{962BEBC7-F287-7EF8-2BBE-2C1A62345B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5167" y="3126183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字方塊 161">
                  <a:extLst>
                    <a:ext uri="{FF2B5EF4-FFF2-40B4-BE49-F238E27FC236}">
                      <a16:creationId xmlns:a16="http://schemas.microsoft.com/office/drawing/2014/main" id="{36D0D7E0-6799-9EB3-2D94-E6BEAFAA4092}"/>
                    </a:ext>
                  </a:extLst>
                </p:cNvPr>
                <p:cNvSpPr txBox="1"/>
                <p:nvPr/>
              </p:nvSpPr>
              <p:spPr>
                <a:xfrm>
                  <a:off x="8037882" y="4335549"/>
                  <a:ext cx="54131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62" name="文字方塊 161">
                  <a:extLst>
                    <a:ext uri="{FF2B5EF4-FFF2-40B4-BE49-F238E27FC236}">
                      <a16:creationId xmlns:a16="http://schemas.microsoft.com/office/drawing/2014/main" id="{36D0D7E0-6799-9EB3-2D94-E6BEAFAA40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7882" y="4335549"/>
                  <a:ext cx="541313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1" name="群組 170">
            <a:extLst>
              <a:ext uri="{FF2B5EF4-FFF2-40B4-BE49-F238E27FC236}">
                <a16:creationId xmlns:a16="http://schemas.microsoft.com/office/drawing/2014/main" id="{E6F0D95E-70DD-4C1C-4A37-5D7DB7E49B81}"/>
              </a:ext>
            </a:extLst>
          </p:cNvPr>
          <p:cNvGrpSpPr/>
          <p:nvPr/>
        </p:nvGrpSpPr>
        <p:grpSpPr>
          <a:xfrm>
            <a:off x="8921295" y="2621967"/>
            <a:ext cx="797957" cy="2452023"/>
            <a:chOff x="8921295" y="2621967"/>
            <a:chExt cx="797957" cy="2452023"/>
          </a:xfrm>
        </p:grpSpPr>
        <p:cxnSp>
          <p:nvCxnSpPr>
            <p:cNvPr id="91" name="直線箭頭接點 90">
              <a:extLst>
                <a:ext uri="{FF2B5EF4-FFF2-40B4-BE49-F238E27FC236}">
                  <a16:creationId xmlns:a16="http://schemas.microsoft.com/office/drawing/2014/main" id="{86630825-5C09-C2AA-FBED-38EC5DFDFB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0274" y="4825311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圓角矩形 116">
              <a:extLst>
                <a:ext uri="{FF2B5EF4-FFF2-40B4-BE49-F238E27FC236}">
                  <a16:creationId xmlns:a16="http://schemas.microsoft.com/office/drawing/2014/main" id="{6E3E0136-FCE5-C635-36F6-3D50A05620EA}"/>
                </a:ext>
              </a:extLst>
            </p:cNvPr>
            <p:cNvSpPr/>
            <p:nvPr/>
          </p:nvSpPr>
          <p:spPr>
            <a:xfrm rot="16200000">
              <a:off x="9140140" y="4419030"/>
              <a:ext cx="372490" cy="205528"/>
            </a:xfrm>
            <a:prstGeom prst="roundRect">
              <a:avLst/>
            </a:prstGeom>
            <a:solidFill>
              <a:srgbClr val="C6E0B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2" name="文字方塊 121">
              <a:extLst>
                <a:ext uri="{FF2B5EF4-FFF2-40B4-BE49-F238E27FC236}">
                  <a16:creationId xmlns:a16="http://schemas.microsoft.com/office/drawing/2014/main" id="{447A9551-FB79-0CAD-ECE8-903E4B5E10DE}"/>
                </a:ext>
              </a:extLst>
            </p:cNvPr>
            <p:cNvSpPr txBox="1"/>
            <p:nvPr/>
          </p:nvSpPr>
          <p:spPr>
            <a:xfrm>
              <a:off x="8921295" y="2621967"/>
              <a:ext cx="7979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day</a:t>
              </a:r>
              <a:endParaRPr kumimoji="1" lang="zh-TW" altLang="en-US" dirty="0"/>
            </a:p>
          </p:txBody>
        </p:sp>
        <p:cxnSp>
          <p:nvCxnSpPr>
            <p:cNvPr id="127" name="直線箭頭接點 126">
              <a:extLst>
                <a:ext uri="{FF2B5EF4-FFF2-40B4-BE49-F238E27FC236}">
                  <a16:creationId xmlns:a16="http://schemas.microsoft.com/office/drawing/2014/main" id="{CB982BE3-B634-C3C8-4A31-0407E7C670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19641" y="4008381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0F6F3668-C5CA-0190-77D6-15E4A1A20ABE}"/>
                </a:ext>
              </a:extLst>
            </p:cNvPr>
            <p:cNvSpPr/>
            <p:nvPr/>
          </p:nvSpPr>
          <p:spPr>
            <a:xfrm>
              <a:off x="9024506" y="3523324"/>
              <a:ext cx="575253" cy="3798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100" dirty="0">
                  <a:solidFill>
                    <a:schemeClr val="tx1"/>
                  </a:solidFill>
                </a:rPr>
                <a:t>Linear</a:t>
              </a:r>
              <a:endParaRPr kumimoji="1" lang="zh-TW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50" name="直線箭頭接點 149">
              <a:extLst>
                <a:ext uri="{FF2B5EF4-FFF2-40B4-BE49-F238E27FC236}">
                  <a16:creationId xmlns:a16="http://schemas.microsoft.com/office/drawing/2014/main" id="{300BB494-8F07-27B6-9008-7D794A672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0274" y="3126183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字方塊 162">
                  <a:extLst>
                    <a:ext uri="{FF2B5EF4-FFF2-40B4-BE49-F238E27FC236}">
                      <a16:creationId xmlns:a16="http://schemas.microsoft.com/office/drawing/2014/main" id="{4E12538A-2DA1-B77C-E187-ACF785E6277A}"/>
                    </a:ext>
                  </a:extLst>
                </p:cNvPr>
                <p:cNvSpPr txBox="1"/>
                <p:nvPr/>
              </p:nvSpPr>
              <p:spPr>
                <a:xfrm>
                  <a:off x="9066588" y="4335549"/>
                  <a:ext cx="54131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63" name="文字方塊 162">
                  <a:extLst>
                    <a:ext uri="{FF2B5EF4-FFF2-40B4-BE49-F238E27FC236}">
                      <a16:creationId xmlns:a16="http://schemas.microsoft.com/office/drawing/2014/main" id="{4E12538A-2DA1-B77C-E187-ACF785E627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6588" y="4335549"/>
                  <a:ext cx="541313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9" name="群組 178">
            <a:extLst>
              <a:ext uri="{FF2B5EF4-FFF2-40B4-BE49-F238E27FC236}">
                <a16:creationId xmlns:a16="http://schemas.microsoft.com/office/drawing/2014/main" id="{930B7AA9-0CF2-D6F2-7523-0F56FA1927D9}"/>
              </a:ext>
            </a:extLst>
          </p:cNvPr>
          <p:cNvGrpSpPr/>
          <p:nvPr/>
        </p:nvGrpSpPr>
        <p:grpSpPr>
          <a:xfrm>
            <a:off x="10593800" y="5134715"/>
            <a:ext cx="930168" cy="1077832"/>
            <a:chOff x="10593800" y="5134715"/>
            <a:chExt cx="930168" cy="1077832"/>
          </a:xfrm>
        </p:grpSpPr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9ABF3F34-63B7-67E3-EB87-510426C68DD9}"/>
                </a:ext>
              </a:extLst>
            </p:cNvPr>
            <p:cNvSpPr/>
            <p:nvPr/>
          </p:nvSpPr>
          <p:spPr>
            <a:xfrm>
              <a:off x="10948715" y="5134715"/>
              <a:ext cx="575253" cy="3798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RNN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96" name="直線箭頭接點 95">
              <a:extLst>
                <a:ext uri="{FF2B5EF4-FFF2-40B4-BE49-F238E27FC236}">
                  <a16:creationId xmlns:a16="http://schemas.microsoft.com/office/drawing/2014/main" id="{E6F704AA-EA5D-75D4-EF40-3633BE874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36341" y="5607771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文字方塊 157">
              <a:extLst>
                <a:ext uri="{FF2B5EF4-FFF2-40B4-BE49-F238E27FC236}">
                  <a16:creationId xmlns:a16="http://schemas.microsoft.com/office/drawing/2014/main" id="{2BD85E62-0832-594F-56B0-A3B9856B3F6F}"/>
                </a:ext>
              </a:extLst>
            </p:cNvPr>
            <p:cNvSpPr txBox="1"/>
            <p:nvPr/>
          </p:nvSpPr>
          <p:spPr>
            <a:xfrm>
              <a:off x="10948721" y="5843215"/>
              <a:ext cx="5752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off </a:t>
              </a:r>
              <a:endParaRPr kumimoji="1" lang="zh-TW" altLang="en-US" dirty="0"/>
            </a:p>
          </p:txBody>
        </p:sp>
        <p:cxnSp>
          <p:nvCxnSpPr>
            <p:cNvPr id="114" name="直線箭頭接點 113">
              <a:extLst>
                <a:ext uri="{FF2B5EF4-FFF2-40B4-BE49-F238E27FC236}">
                  <a16:creationId xmlns:a16="http://schemas.microsoft.com/office/drawing/2014/main" id="{579F628B-54D4-EEB5-48FF-994C28072C19}"/>
                </a:ext>
              </a:extLst>
            </p:cNvPr>
            <p:cNvCxnSpPr>
              <a:cxnSpLocks/>
            </p:cNvCxnSpPr>
            <p:nvPr/>
          </p:nvCxnSpPr>
          <p:spPr>
            <a:xfrm>
              <a:off x="10593800" y="5324624"/>
              <a:ext cx="34402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AAB1C208-E0C5-1C00-4747-39163E714310}"/>
              </a:ext>
            </a:extLst>
          </p:cNvPr>
          <p:cNvGrpSpPr/>
          <p:nvPr/>
        </p:nvGrpSpPr>
        <p:grpSpPr>
          <a:xfrm>
            <a:off x="10644535" y="2621967"/>
            <a:ext cx="1154909" cy="2451951"/>
            <a:chOff x="10644535" y="2621967"/>
            <a:chExt cx="1154909" cy="2451951"/>
          </a:xfrm>
        </p:grpSpPr>
        <p:cxnSp>
          <p:nvCxnSpPr>
            <p:cNvPr id="97" name="直線箭頭接點 96">
              <a:extLst>
                <a:ext uri="{FF2B5EF4-FFF2-40B4-BE49-F238E27FC236}">
                  <a16:creationId xmlns:a16="http://schemas.microsoft.com/office/drawing/2014/main" id="{8AF55BE6-7DE0-35F4-7CFD-030084B42C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36341" y="4825239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圓角矩形 118">
              <a:extLst>
                <a:ext uri="{FF2B5EF4-FFF2-40B4-BE49-F238E27FC236}">
                  <a16:creationId xmlns:a16="http://schemas.microsoft.com/office/drawing/2014/main" id="{B3B05978-1EF3-B1CA-015F-32847360A405}"/>
                </a:ext>
              </a:extLst>
            </p:cNvPr>
            <p:cNvSpPr/>
            <p:nvPr/>
          </p:nvSpPr>
          <p:spPr>
            <a:xfrm rot="16200000">
              <a:off x="11050096" y="4419030"/>
              <a:ext cx="372490" cy="205528"/>
            </a:xfrm>
            <a:prstGeom prst="roundRect">
              <a:avLst/>
            </a:prstGeom>
            <a:solidFill>
              <a:srgbClr val="C6E0B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4" name="文字方塊 123">
              <a:extLst>
                <a:ext uri="{FF2B5EF4-FFF2-40B4-BE49-F238E27FC236}">
                  <a16:creationId xmlns:a16="http://schemas.microsoft.com/office/drawing/2014/main" id="{B79A94A3-8037-6853-9DC7-A39998637EDC}"/>
                </a:ext>
              </a:extLst>
            </p:cNvPr>
            <p:cNvSpPr txBox="1"/>
            <p:nvPr/>
          </p:nvSpPr>
          <p:spPr>
            <a:xfrm>
              <a:off x="10644535" y="2621967"/>
              <a:ext cx="11549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[EOS] </a:t>
              </a:r>
              <a:endParaRPr kumimoji="1" lang="zh-TW" altLang="en-US" dirty="0"/>
            </a:p>
          </p:txBody>
        </p:sp>
        <p:cxnSp>
          <p:nvCxnSpPr>
            <p:cNvPr id="129" name="直線箭頭接點 128">
              <a:extLst>
                <a:ext uri="{FF2B5EF4-FFF2-40B4-BE49-F238E27FC236}">
                  <a16:creationId xmlns:a16="http://schemas.microsoft.com/office/drawing/2014/main" id="{1DFBED17-5F3C-457F-A8F5-1909931E74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35708" y="4008309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6DC25139-623B-B660-5E7E-97D4294CA4E0}"/>
                </a:ext>
              </a:extLst>
            </p:cNvPr>
            <p:cNvSpPr/>
            <p:nvPr/>
          </p:nvSpPr>
          <p:spPr>
            <a:xfrm>
              <a:off x="10940573" y="3523252"/>
              <a:ext cx="575253" cy="3798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100" dirty="0">
                  <a:solidFill>
                    <a:schemeClr val="tx1"/>
                  </a:solidFill>
                </a:rPr>
                <a:t>Linear</a:t>
              </a:r>
              <a:endParaRPr kumimoji="1" lang="zh-TW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52" name="直線箭頭接點 151">
              <a:extLst>
                <a:ext uri="{FF2B5EF4-FFF2-40B4-BE49-F238E27FC236}">
                  <a16:creationId xmlns:a16="http://schemas.microsoft.com/office/drawing/2014/main" id="{7E6F7A4C-2BE7-2F79-9C04-CA1E39A803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36341" y="3126111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字方塊 164">
                  <a:extLst>
                    <a:ext uri="{FF2B5EF4-FFF2-40B4-BE49-F238E27FC236}">
                      <a16:creationId xmlns:a16="http://schemas.microsoft.com/office/drawing/2014/main" id="{34A0BB91-1125-221E-3AA8-648572FFCDFA}"/>
                    </a:ext>
                  </a:extLst>
                </p:cNvPr>
                <p:cNvSpPr txBox="1"/>
                <p:nvPr/>
              </p:nvSpPr>
              <p:spPr>
                <a:xfrm>
                  <a:off x="10976570" y="4335549"/>
                  <a:ext cx="54131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65" name="文字方塊 164">
                  <a:extLst>
                    <a:ext uri="{FF2B5EF4-FFF2-40B4-BE49-F238E27FC236}">
                      <a16:creationId xmlns:a16="http://schemas.microsoft.com/office/drawing/2014/main" id="{34A0BB91-1125-221E-3AA8-648572FFCD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6570" y="4335549"/>
                  <a:ext cx="541313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2" name="群組 171">
            <a:extLst>
              <a:ext uri="{FF2B5EF4-FFF2-40B4-BE49-F238E27FC236}">
                <a16:creationId xmlns:a16="http://schemas.microsoft.com/office/drawing/2014/main" id="{99E8C5B2-AE25-A7FB-7A9B-2672C63E5C97}"/>
              </a:ext>
            </a:extLst>
          </p:cNvPr>
          <p:cNvGrpSpPr/>
          <p:nvPr/>
        </p:nvGrpSpPr>
        <p:grpSpPr>
          <a:xfrm>
            <a:off x="9994266" y="2621967"/>
            <a:ext cx="583395" cy="2452023"/>
            <a:chOff x="9994266" y="2621967"/>
            <a:chExt cx="583395" cy="2452023"/>
          </a:xfrm>
        </p:grpSpPr>
        <p:cxnSp>
          <p:nvCxnSpPr>
            <p:cNvPr id="93" name="直線箭頭接點 92">
              <a:extLst>
                <a:ext uri="{FF2B5EF4-FFF2-40B4-BE49-F238E27FC236}">
                  <a16:creationId xmlns:a16="http://schemas.microsoft.com/office/drawing/2014/main" id="{CF4974F4-9BE5-07F4-132C-73C18C3B45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90034" y="4825311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圓角矩形 117">
              <a:extLst>
                <a:ext uri="{FF2B5EF4-FFF2-40B4-BE49-F238E27FC236}">
                  <a16:creationId xmlns:a16="http://schemas.microsoft.com/office/drawing/2014/main" id="{40F43785-23C9-5482-A0B7-A6E829C65020}"/>
                </a:ext>
              </a:extLst>
            </p:cNvPr>
            <p:cNvSpPr/>
            <p:nvPr/>
          </p:nvSpPr>
          <p:spPr>
            <a:xfrm rot="16200000">
              <a:off x="10103789" y="4419030"/>
              <a:ext cx="372490" cy="205528"/>
            </a:xfrm>
            <a:prstGeom prst="roundRect">
              <a:avLst/>
            </a:prstGeom>
            <a:solidFill>
              <a:srgbClr val="C6E0B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3" name="文字方塊 122">
              <a:extLst>
                <a:ext uri="{FF2B5EF4-FFF2-40B4-BE49-F238E27FC236}">
                  <a16:creationId xmlns:a16="http://schemas.microsoft.com/office/drawing/2014/main" id="{860CCC8D-1883-2C59-A6FA-4ACCB3F4B1A2}"/>
                </a:ext>
              </a:extLst>
            </p:cNvPr>
            <p:cNvSpPr txBox="1"/>
            <p:nvPr/>
          </p:nvSpPr>
          <p:spPr>
            <a:xfrm>
              <a:off x="10002422" y="2621967"/>
              <a:ext cx="5752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off </a:t>
              </a:r>
              <a:endParaRPr kumimoji="1" lang="zh-TW" altLang="en-US" dirty="0"/>
            </a:p>
          </p:txBody>
        </p:sp>
        <p:cxnSp>
          <p:nvCxnSpPr>
            <p:cNvPr id="128" name="直線箭頭接點 127">
              <a:extLst>
                <a:ext uri="{FF2B5EF4-FFF2-40B4-BE49-F238E27FC236}">
                  <a16:creationId xmlns:a16="http://schemas.microsoft.com/office/drawing/2014/main" id="{F6ABF1B6-A2F8-7682-9C0D-0A649A02DE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89401" y="4008381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02D5FEC9-A200-F350-47F3-F0DE569908F8}"/>
                </a:ext>
              </a:extLst>
            </p:cNvPr>
            <p:cNvSpPr/>
            <p:nvPr/>
          </p:nvSpPr>
          <p:spPr>
            <a:xfrm>
              <a:off x="9994266" y="3523324"/>
              <a:ext cx="575253" cy="3798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100" dirty="0">
                  <a:solidFill>
                    <a:schemeClr val="tx1"/>
                  </a:solidFill>
                </a:rPr>
                <a:t>Linear</a:t>
              </a:r>
              <a:endParaRPr kumimoji="1" lang="zh-TW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51" name="直線箭頭接點 150">
              <a:extLst>
                <a:ext uri="{FF2B5EF4-FFF2-40B4-BE49-F238E27FC236}">
                  <a16:creationId xmlns:a16="http://schemas.microsoft.com/office/drawing/2014/main" id="{C19298A3-DB5B-91DE-1C84-7285068A2E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90034" y="3126183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字方塊 163">
                  <a:extLst>
                    <a:ext uri="{FF2B5EF4-FFF2-40B4-BE49-F238E27FC236}">
                      <a16:creationId xmlns:a16="http://schemas.microsoft.com/office/drawing/2014/main" id="{A023A421-96AF-D869-47C6-F6F79A8E8001}"/>
                    </a:ext>
                  </a:extLst>
                </p:cNvPr>
                <p:cNvSpPr txBox="1"/>
                <p:nvPr/>
              </p:nvSpPr>
              <p:spPr>
                <a:xfrm>
                  <a:off x="10030263" y="4335549"/>
                  <a:ext cx="54131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64" name="文字方塊 163">
                  <a:extLst>
                    <a:ext uri="{FF2B5EF4-FFF2-40B4-BE49-F238E27FC236}">
                      <a16:creationId xmlns:a16="http://schemas.microsoft.com/office/drawing/2014/main" id="{A023A421-96AF-D869-47C6-F6F79A8E80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0263" y="4335549"/>
                  <a:ext cx="541313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4705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9" grpId="0" animBg="1"/>
      <p:bldP spid="9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914E0E-D85E-7338-591F-EDAF38360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TW" altLang="en-US" dirty="0"/>
              <a:t>一般情況的</a:t>
            </a:r>
            <a:r>
              <a:rPr kumimoji="1" lang="en-US" altLang="zh-TW" dirty="0"/>
              <a:t> encoder-decoder </a:t>
            </a:r>
            <a:r>
              <a:rPr kumimoji="1" lang="zh-TW" altLang="en-US" dirty="0"/>
              <a:t>有什麼問題？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269C2F-96E0-ED18-B8AB-EF13B1900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65CF0AC-1A8B-8F3B-D5E7-4EAB4C7AE2FD}"/>
              </a:ext>
            </a:extLst>
          </p:cNvPr>
          <p:cNvSpPr txBox="1"/>
          <p:nvPr/>
        </p:nvSpPr>
        <p:spPr>
          <a:xfrm>
            <a:off x="653143" y="1586847"/>
            <a:ext cx="10918370" cy="2240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依賴</a:t>
            </a:r>
            <a:r>
              <a:rPr kumimoji="1" lang="en-US" altLang="zh-TW" sz="2400" dirty="0"/>
              <a:t> encoder </a:t>
            </a:r>
            <a:r>
              <a:rPr kumimoji="1" lang="zh-TW" altLang="en-US" sz="2400" dirty="0"/>
              <a:t>的 </a:t>
            </a:r>
            <a:r>
              <a:rPr kumimoji="1" lang="en-US" altLang="zh-TW" sz="2400" dirty="0"/>
              <a:t>hidden state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好像要你看完一整篇文章後</a:t>
            </a:r>
            <a:r>
              <a:rPr kumimoji="1" lang="zh-TW" altLang="en-US" sz="2400"/>
              <a:t>，不能再</a:t>
            </a:r>
            <a:r>
              <a:rPr kumimoji="1" lang="zh-TW" altLang="en-US" sz="2400" dirty="0"/>
              <a:t>回頭看原文，只能憑腦中最後留下的一小段印象把它</a:t>
            </a:r>
            <a:r>
              <a:rPr kumimoji="1" lang="zh-TW" altLang="en-US" sz="2400"/>
              <a:t>完整翻譯出來</a:t>
            </a:r>
            <a:endParaRPr kumimoji="1" lang="en-US" altLang="zh-TW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不管原句多短多長，最後都要塞進同樣大小的向量</a:t>
            </a:r>
            <a:endParaRPr kumimoji="1"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38827255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C3E64-DC58-7055-4D7F-E7E37F39B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F15AE-6803-ACCC-6F87-FF61EFED0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機器翻譯 </a:t>
            </a:r>
            <a:r>
              <a:rPr kumimoji="1" lang="en-US" altLang="zh-TW" dirty="0"/>
              <a:t>(</a:t>
            </a:r>
            <a:r>
              <a:rPr kumimoji="1" lang="zh-TW" altLang="en-US" dirty="0"/>
              <a:t>一般情況</a:t>
            </a:r>
            <a:r>
              <a:rPr kumimoji="1" lang="en-US" altLang="zh-TW" dirty="0"/>
              <a:t>, t = 2)</a:t>
            </a:r>
            <a:endParaRPr kumimoji="1" lang="zh-TW" altLang="en-US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94D9E790-783A-329F-CB18-2AD3E891A331}"/>
              </a:ext>
            </a:extLst>
          </p:cNvPr>
          <p:cNvSpPr/>
          <p:nvPr/>
        </p:nvSpPr>
        <p:spPr>
          <a:xfrm rot="5400000">
            <a:off x="1041463" y="406411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F8EE193-CB55-5961-AD5B-6C6B55B99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81C-F638-B044-A8F2-A1B9864D5A40}" type="slidenum">
              <a:rPr kumimoji="1" lang="zh-TW" altLang="en-US" smtClean="0"/>
              <a:t>48</a:t>
            </a:fld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E9BF460-0B7E-F280-6EBC-AD88005E6620}"/>
                  </a:ext>
                </a:extLst>
              </p:cNvPr>
              <p:cNvSpPr txBox="1"/>
              <p:nvPr/>
            </p:nvSpPr>
            <p:spPr>
              <a:xfrm>
                <a:off x="9380098" y="1474702"/>
                <a:ext cx="2191416" cy="646331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en-US" altLang="zh-TW" dirty="0"/>
                  <a:t>: encoder timestep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TW" dirty="0"/>
                  <a:t>: decoder timestep</a:t>
                </a: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E9BF460-0B7E-F280-6EBC-AD88005E6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0098" y="1474702"/>
                <a:ext cx="2191416" cy="646331"/>
              </a:xfrm>
              <a:prstGeom prst="rect">
                <a:avLst/>
              </a:prstGeom>
              <a:blipFill>
                <a:blip r:embed="rId3"/>
                <a:stretch>
                  <a:fillRect t="-3774" b="-11321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286EFF00-C48B-7D31-5457-3CB387487C24}"/>
              </a:ext>
            </a:extLst>
          </p:cNvPr>
          <p:cNvCxnSpPr/>
          <p:nvPr/>
        </p:nvCxnSpPr>
        <p:spPr>
          <a:xfrm>
            <a:off x="5632911" y="2553196"/>
            <a:ext cx="0" cy="265890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0C6B669E-8C3D-5CB1-1179-EC84C6186FC1}"/>
              </a:ext>
            </a:extLst>
          </p:cNvPr>
          <p:cNvCxnSpPr>
            <a:cxnSpLocks/>
          </p:cNvCxnSpPr>
          <p:nvPr/>
        </p:nvCxnSpPr>
        <p:spPr>
          <a:xfrm flipH="1">
            <a:off x="1503108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2FDFD191-EB28-4078-9248-45201C52CDD0}"/>
              </a:ext>
            </a:extLst>
          </p:cNvPr>
          <p:cNvSpPr/>
          <p:nvPr/>
        </p:nvSpPr>
        <p:spPr>
          <a:xfrm rot="5400000">
            <a:off x="1041463" y="4445564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AC542505-7302-BC6C-0EB7-31355EEF41BC}"/>
              </a:ext>
            </a:extLst>
          </p:cNvPr>
          <p:cNvCxnSpPr>
            <a:cxnSpLocks/>
          </p:cNvCxnSpPr>
          <p:nvPr/>
        </p:nvCxnSpPr>
        <p:spPr>
          <a:xfrm>
            <a:off x="1524880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E7128892-CB18-9019-C0FD-76AEC0FA56D9}"/>
              </a:ext>
            </a:extLst>
          </p:cNvPr>
          <p:cNvCxnSpPr>
            <a:cxnSpLocks/>
          </p:cNvCxnSpPr>
          <p:nvPr/>
        </p:nvCxnSpPr>
        <p:spPr>
          <a:xfrm>
            <a:off x="246797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582EBE76-3735-B6E1-BFD7-44C5DDFBA6DB}"/>
              </a:ext>
            </a:extLst>
          </p:cNvPr>
          <p:cNvCxnSpPr>
            <a:cxnSpLocks/>
          </p:cNvCxnSpPr>
          <p:nvPr/>
        </p:nvCxnSpPr>
        <p:spPr>
          <a:xfrm>
            <a:off x="342618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2CDACAA6-667C-A884-4EE8-9EC7B5DEA5F2}"/>
              </a:ext>
            </a:extLst>
          </p:cNvPr>
          <p:cNvCxnSpPr>
            <a:cxnSpLocks/>
          </p:cNvCxnSpPr>
          <p:nvPr/>
        </p:nvCxnSpPr>
        <p:spPr>
          <a:xfrm>
            <a:off x="441990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0D00C6CC-7042-68BE-0436-DB690113FE41}"/>
              </a:ext>
            </a:extLst>
          </p:cNvPr>
          <p:cNvCxnSpPr>
            <a:cxnSpLocks/>
          </p:cNvCxnSpPr>
          <p:nvPr/>
        </p:nvCxnSpPr>
        <p:spPr>
          <a:xfrm flipH="1">
            <a:off x="2457088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E3AF4923-12BE-22FB-4474-A02E4B4996B8}"/>
              </a:ext>
            </a:extLst>
          </p:cNvPr>
          <p:cNvCxnSpPr>
            <a:cxnSpLocks/>
          </p:cNvCxnSpPr>
          <p:nvPr/>
        </p:nvCxnSpPr>
        <p:spPr>
          <a:xfrm flipH="1">
            <a:off x="3415531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FE5C0BC4-8BEE-A03B-EFD3-135148674A9D}"/>
              </a:ext>
            </a:extLst>
          </p:cNvPr>
          <p:cNvCxnSpPr>
            <a:cxnSpLocks/>
          </p:cNvCxnSpPr>
          <p:nvPr/>
        </p:nvCxnSpPr>
        <p:spPr>
          <a:xfrm flipH="1">
            <a:off x="4398132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8FE444D-62C5-7EBF-2724-E6A7D264095B}"/>
                  </a:ext>
                </a:extLst>
              </p:cNvPr>
              <p:cNvSpPr txBox="1"/>
              <p:nvPr/>
            </p:nvSpPr>
            <p:spPr>
              <a:xfrm>
                <a:off x="543259" y="1378420"/>
                <a:ext cx="1618744" cy="518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;"/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e>
                          <m:groupChr>
                            <m:groupChrPr>
                              <m:chr m:val="←"/>
                              <m:pos m:val="top"/>
                              <m:vertJc m:val="bot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groupCh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8FE444D-62C5-7EBF-2724-E6A7D2640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59" y="1378420"/>
                <a:ext cx="1618744" cy="5188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A7B5729A-807D-704C-5D5F-9096E8DA105C}"/>
                  </a:ext>
                </a:extLst>
              </p:cNvPr>
              <p:cNvSpPr txBox="1"/>
              <p:nvPr/>
            </p:nvSpPr>
            <p:spPr>
              <a:xfrm>
                <a:off x="496181" y="4380899"/>
                <a:ext cx="572956" cy="3396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A7B5729A-807D-704C-5D5F-9096E8DA1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81" y="4380899"/>
                <a:ext cx="572956" cy="3396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30FD4111-053B-3B4F-FB29-215086228B1A}"/>
                  </a:ext>
                </a:extLst>
              </p:cNvPr>
              <p:cNvSpPr txBox="1"/>
              <p:nvPr/>
            </p:nvSpPr>
            <p:spPr>
              <a:xfrm>
                <a:off x="494670" y="4012978"/>
                <a:ext cx="572956" cy="3679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←"/>
                          <m:pos m:val="top"/>
                          <m:vertJc m:val="bot"/>
                          <m:ctrlPr>
                            <a:rPr lang="zh-TW" altLang="en-US" sz="14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30FD4111-053B-3B4F-FB29-215086228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70" y="4012978"/>
                <a:ext cx="572956" cy="3679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圓角矩形 8">
            <a:extLst>
              <a:ext uri="{FF2B5EF4-FFF2-40B4-BE49-F238E27FC236}">
                <a16:creationId xmlns:a16="http://schemas.microsoft.com/office/drawing/2014/main" id="{638B3AC5-D9A0-FE1D-A540-7A55C9249353}"/>
              </a:ext>
            </a:extLst>
          </p:cNvPr>
          <p:cNvSpPr/>
          <p:nvPr/>
        </p:nvSpPr>
        <p:spPr>
          <a:xfrm rot="5400000">
            <a:off x="2003003" y="4061589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D434C6E1-9F22-9EF3-9B5E-A9DEF274999F}"/>
              </a:ext>
            </a:extLst>
          </p:cNvPr>
          <p:cNvSpPr/>
          <p:nvPr/>
        </p:nvSpPr>
        <p:spPr>
          <a:xfrm rot="5400000">
            <a:off x="2003003" y="4443043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2AAF1417-BC17-AB7E-17C8-47A88B68F5A0}"/>
              </a:ext>
            </a:extLst>
          </p:cNvPr>
          <p:cNvSpPr/>
          <p:nvPr/>
        </p:nvSpPr>
        <p:spPr>
          <a:xfrm rot="5400000">
            <a:off x="2959245" y="4061589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2B9B03F4-ECEB-5FB0-0251-FE79957176F4}"/>
              </a:ext>
            </a:extLst>
          </p:cNvPr>
          <p:cNvSpPr/>
          <p:nvPr/>
        </p:nvSpPr>
        <p:spPr>
          <a:xfrm rot="5400000">
            <a:off x="2959245" y="4443043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B347BE11-1663-6288-F09A-9BDAE1590A24}"/>
              </a:ext>
            </a:extLst>
          </p:cNvPr>
          <p:cNvSpPr/>
          <p:nvPr/>
        </p:nvSpPr>
        <p:spPr>
          <a:xfrm rot="5400000">
            <a:off x="3979527" y="4057806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738E9198-4D21-11F1-F374-80B1D1C57F27}"/>
              </a:ext>
            </a:extLst>
          </p:cNvPr>
          <p:cNvSpPr/>
          <p:nvPr/>
        </p:nvSpPr>
        <p:spPr>
          <a:xfrm rot="5400000">
            <a:off x="3979527" y="443926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C678314A-33AC-155C-CFAD-D7580EA3B7F8}"/>
              </a:ext>
            </a:extLst>
          </p:cNvPr>
          <p:cNvSpPr/>
          <p:nvPr/>
        </p:nvSpPr>
        <p:spPr>
          <a:xfrm rot="5400000">
            <a:off x="4949287" y="405696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C4EFC7AC-7E1B-9766-64AA-6B054AEC41E4}"/>
              </a:ext>
            </a:extLst>
          </p:cNvPr>
          <p:cNvSpPr/>
          <p:nvPr/>
        </p:nvSpPr>
        <p:spPr>
          <a:xfrm rot="5400000">
            <a:off x="4949287" y="4438414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A6A6592-7EE1-13F9-B621-BB3985FF2BAE}"/>
              </a:ext>
            </a:extLst>
          </p:cNvPr>
          <p:cNvSpPr txBox="1"/>
          <p:nvPr/>
        </p:nvSpPr>
        <p:spPr>
          <a:xfrm>
            <a:off x="1028450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我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702A967-B34E-97D3-9B6F-B071E5340B7C}"/>
              </a:ext>
            </a:extLst>
          </p:cNvPr>
          <p:cNvSpPr txBox="1"/>
          <p:nvPr/>
        </p:nvSpPr>
        <p:spPr>
          <a:xfrm>
            <a:off x="1989990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想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18FAE4A-98F2-589C-5274-D4547985C1FB}"/>
              </a:ext>
            </a:extLst>
          </p:cNvPr>
          <p:cNvSpPr txBox="1"/>
          <p:nvPr/>
        </p:nvSpPr>
        <p:spPr>
          <a:xfrm>
            <a:off x="2946232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要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620EC6A-8402-8871-51F2-0D62CEB47990}"/>
              </a:ext>
            </a:extLst>
          </p:cNvPr>
          <p:cNvSpPr txBox="1"/>
          <p:nvPr/>
        </p:nvSpPr>
        <p:spPr>
          <a:xfrm>
            <a:off x="3966514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放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BC181061-0936-0F5C-AB18-865D9785FB13}"/>
              </a:ext>
            </a:extLst>
          </p:cNvPr>
          <p:cNvSpPr txBox="1"/>
          <p:nvPr/>
        </p:nvSpPr>
        <p:spPr>
          <a:xfrm>
            <a:off x="4936274" y="5843215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假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4ABE1B6-7669-FBA1-692F-AEFC04E9C304}"/>
              </a:ext>
            </a:extLst>
          </p:cNvPr>
          <p:cNvSpPr/>
          <p:nvPr/>
        </p:nvSpPr>
        <p:spPr>
          <a:xfrm>
            <a:off x="911313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295B3EF-930D-FF9B-8CD3-54F2406AB0CA}"/>
              </a:ext>
            </a:extLst>
          </p:cNvPr>
          <p:cNvSpPr/>
          <p:nvPr/>
        </p:nvSpPr>
        <p:spPr>
          <a:xfrm>
            <a:off x="1901622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B947359-F127-D523-8233-7AA7E7418154}"/>
              </a:ext>
            </a:extLst>
          </p:cNvPr>
          <p:cNvSpPr/>
          <p:nvPr/>
        </p:nvSpPr>
        <p:spPr>
          <a:xfrm>
            <a:off x="2850931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447963A-637F-D331-F030-8E3A53574913}"/>
              </a:ext>
            </a:extLst>
          </p:cNvPr>
          <p:cNvSpPr/>
          <p:nvPr/>
        </p:nvSpPr>
        <p:spPr>
          <a:xfrm>
            <a:off x="3878145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7FD5B8B-AECC-E7C9-203A-BF4EDBDEDB0F}"/>
              </a:ext>
            </a:extLst>
          </p:cNvPr>
          <p:cNvSpPr/>
          <p:nvPr/>
        </p:nvSpPr>
        <p:spPr>
          <a:xfrm>
            <a:off x="4847905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4BEACC5B-5BF9-14D6-B559-A293BAB34843}"/>
              </a:ext>
            </a:extLst>
          </p:cNvPr>
          <p:cNvCxnSpPr>
            <a:cxnSpLocks/>
          </p:cNvCxnSpPr>
          <p:nvPr/>
        </p:nvCxnSpPr>
        <p:spPr>
          <a:xfrm flipV="1">
            <a:off x="1216822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箭頭接點 59">
            <a:extLst>
              <a:ext uri="{FF2B5EF4-FFF2-40B4-BE49-F238E27FC236}">
                <a16:creationId xmlns:a16="http://schemas.microsoft.com/office/drawing/2014/main" id="{DC1D47E9-8329-614B-F5A1-790DCE59C43C}"/>
              </a:ext>
            </a:extLst>
          </p:cNvPr>
          <p:cNvCxnSpPr>
            <a:cxnSpLocks/>
          </p:cNvCxnSpPr>
          <p:nvPr/>
        </p:nvCxnSpPr>
        <p:spPr>
          <a:xfrm flipV="1">
            <a:off x="1227708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箭頭接點 61">
            <a:extLst>
              <a:ext uri="{FF2B5EF4-FFF2-40B4-BE49-F238E27FC236}">
                <a16:creationId xmlns:a16="http://schemas.microsoft.com/office/drawing/2014/main" id="{6C4A253C-DC31-5C87-0627-F56694BC3229}"/>
              </a:ext>
            </a:extLst>
          </p:cNvPr>
          <p:cNvCxnSpPr>
            <a:cxnSpLocks/>
          </p:cNvCxnSpPr>
          <p:nvPr/>
        </p:nvCxnSpPr>
        <p:spPr>
          <a:xfrm flipV="1">
            <a:off x="2189248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箭頭接點 62">
            <a:extLst>
              <a:ext uri="{FF2B5EF4-FFF2-40B4-BE49-F238E27FC236}">
                <a16:creationId xmlns:a16="http://schemas.microsoft.com/office/drawing/2014/main" id="{8E424DF0-B0E9-C79C-2D71-6D32EDF5F9BA}"/>
              </a:ext>
            </a:extLst>
          </p:cNvPr>
          <p:cNvCxnSpPr>
            <a:cxnSpLocks/>
          </p:cNvCxnSpPr>
          <p:nvPr/>
        </p:nvCxnSpPr>
        <p:spPr>
          <a:xfrm flipV="1">
            <a:off x="2189248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箭頭接點 67">
            <a:extLst>
              <a:ext uri="{FF2B5EF4-FFF2-40B4-BE49-F238E27FC236}">
                <a16:creationId xmlns:a16="http://schemas.microsoft.com/office/drawing/2014/main" id="{BDA43D88-3C25-CFD6-1212-CDBEB967CC47}"/>
              </a:ext>
            </a:extLst>
          </p:cNvPr>
          <p:cNvCxnSpPr>
            <a:cxnSpLocks/>
          </p:cNvCxnSpPr>
          <p:nvPr/>
        </p:nvCxnSpPr>
        <p:spPr>
          <a:xfrm flipV="1">
            <a:off x="3150664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箭頭接點 68">
            <a:extLst>
              <a:ext uri="{FF2B5EF4-FFF2-40B4-BE49-F238E27FC236}">
                <a16:creationId xmlns:a16="http://schemas.microsoft.com/office/drawing/2014/main" id="{B86EF079-C72F-B7DB-3F1E-42F79167A28D}"/>
              </a:ext>
            </a:extLst>
          </p:cNvPr>
          <p:cNvCxnSpPr>
            <a:cxnSpLocks/>
          </p:cNvCxnSpPr>
          <p:nvPr/>
        </p:nvCxnSpPr>
        <p:spPr>
          <a:xfrm flipV="1">
            <a:off x="3150664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箭頭接點 69">
            <a:extLst>
              <a:ext uri="{FF2B5EF4-FFF2-40B4-BE49-F238E27FC236}">
                <a16:creationId xmlns:a16="http://schemas.microsoft.com/office/drawing/2014/main" id="{096115B3-A628-80AA-5290-6F8705A0BCA5}"/>
              </a:ext>
            </a:extLst>
          </p:cNvPr>
          <p:cNvCxnSpPr>
            <a:cxnSpLocks/>
          </p:cNvCxnSpPr>
          <p:nvPr/>
        </p:nvCxnSpPr>
        <p:spPr>
          <a:xfrm flipV="1">
            <a:off x="4165771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箭頭接點 70">
            <a:extLst>
              <a:ext uri="{FF2B5EF4-FFF2-40B4-BE49-F238E27FC236}">
                <a16:creationId xmlns:a16="http://schemas.microsoft.com/office/drawing/2014/main" id="{DBE46EB3-404F-F7B2-7FF6-81C8C87A35EC}"/>
              </a:ext>
            </a:extLst>
          </p:cNvPr>
          <p:cNvCxnSpPr>
            <a:cxnSpLocks/>
          </p:cNvCxnSpPr>
          <p:nvPr/>
        </p:nvCxnSpPr>
        <p:spPr>
          <a:xfrm flipV="1">
            <a:off x="416577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箭頭接點 71">
            <a:extLst>
              <a:ext uri="{FF2B5EF4-FFF2-40B4-BE49-F238E27FC236}">
                <a16:creationId xmlns:a16="http://schemas.microsoft.com/office/drawing/2014/main" id="{D209245E-828F-DB1A-FE91-774EFEA0237F}"/>
              </a:ext>
            </a:extLst>
          </p:cNvPr>
          <p:cNvCxnSpPr>
            <a:cxnSpLocks/>
          </p:cNvCxnSpPr>
          <p:nvPr/>
        </p:nvCxnSpPr>
        <p:spPr>
          <a:xfrm flipV="1">
            <a:off x="5135531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箭頭接點 72">
            <a:extLst>
              <a:ext uri="{FF2B5EF4-FFF2-40B4-BE49-F238E27FC236}">
                <a16:creationId xmlns:a16="http://schemas.microsoft.com/office/drawing/2014/main" id="{266FBBFA-CDF7-C0FC-8007-02A713302871}"/>
              </a:ext>
            </a:extLst>
          </p:cNvPr>
          <p:cNvCxnSpPr>
            <a:cxnSpLocks/>
          </p:cNvCxnSpPr>
          <p:nvPr/>
        </p:nvCxnSpPr>
        <p:spPr>
          <a:xfrm flipV="1">
            <a:off x="513553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18B6AE5F-A7E7-8726-7A8F-CF70496C1FEF}"/>
              </a:ext>
            </a:extLst>
          </p:cNvPr>
          <p:cNvSpPr txBox="1"/>
          <p:nvPr/>
        </p:nvSpPr>
        <p:spPr>
          <a:xfrm>
            <a:off x="6182953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_</a:t>
            </a:r>
            <a:endParaRPr kumimoji="1" lang="zh-TW" altLang="en-US" dirty="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15F3176-953B-3F6A-64B4-30AA8A3168B4}"/>
              </a:ext>
            </a:extLst>
          </p:cNvPr>
          <p:cNvSpPr/>
          <p:nvPr/>
        </p:nvSpPr>
        <p:spPr>
          <a:xfrm>
            <a:off x="6065816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84" name="直線箭頭接點 83">
            <a:extLst>
              <a:ext uri="{FF2B5EF4-FFF2-40B4-BE49-F238E27FC236}">
                <a16:creationId xmlns:a16="http://schemas.microsoft.com/office/drawing/2014/main" id="{4F391EF9-CCD3-4FB6-4CFE-ACE9E3C66012}"/>
              </a:ext>
            </a:extLst>
          </p:cNvPr>
          <p:cNvCxnSpPr>
            <a:cxnSpLocks/>
          </p:cNvCxnSpPr>
          <p:nvPr/>
        </p:nvCxnSpPr>
        <p:spPr>
          <a:xfrm flipV="1">
            <a:off x="6371325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箭頭接點 104">
            <a:extLst>
              <a:ext uri="{FF2B5EF4-FFF2-40B4-BE49-F238E27FC236}">
                <a16:creationId xmlns:a16="http://schemas.microsoft.com/office/drawing/2014/main" id="{D171D7D8-8C68-3104-B447-2E7D3791AA89}"/>
              </a:ext>
            </a:extLst>
          </p:cNvPr>
          <p:cNvCxnSpPr>
            <a:cxnSpLocks/>
          </p:cNvCxnSpPr>
          <p:nvPr/>
        </p:nvCxnSpPr>
        <p:spPr>
          <a:xfrm>
            <a:off x="153035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箭頭接點 106">
            <a:extLst>
              <a:ext uri="{FF2B5EF4-FFF2-40B4-BE49-F238E27FC236}">
                <a16:creationId xmlns:a16="http://schemas.microsoft.com/office/drawing/2014/main" id="{188E9F8B-72F1-DB79-9696-95DDD64BB510}"/>
              </a:ext>
            </a:extLst>
          </p:cNvPr>
          <p:cNvCxnSpPr>
            <a:cxnSpLocks/>
          </p:cNvCxnSpPr>
          <p:nvPr/>
        </p:nvCxnSpPr>
        <p:spPr>
          <a:xfrm>
            <a:off x="2495216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箭頭接點 107">
            <a:extLst>
              <a:ext uri="{FF2B5EF4-FFF2-40B4-BE49-F238E27FC236}">
                <a16:creationId xmlns:a16="http://schemas.microsoft.com/office/drawing/2014/main" id="{73BBD917-B4E4-C491-C249-20391DB35276}"/>
              </a:ext>
            </a:extLst>
          </p:cNvPr>
          <p:cNvCxnSpPr>
            <a:cxnSpLocks/>
          </p:cNvCxnSpPr>
          <p:nvPr/>
        </p:nvCxnSpPr>
        <p:spPr>
          <a:xfrm>
            <a:off x="348067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箭頭接點 108">
            <a:extLst>
              <a:ext uri="{FF2B5EF4-FFF2-40B4-BE49-F238E27FC236}">
                <a16:creationId xmlns:a16="http://schemas.microsoft.com/office/drawing/2014/main" id="{E02A9A0F-62EC-2296-E514-888E6F4A6CD5}"/>
              </a:ext>
            </a:extLst>
          </p:cNvPr>
          <p:cNvCxnSpPr>
            <a:cxnSpLocks/>
          </p:cNvCxnSpPr>
          <p:nvPr/>
        </p:nvCxnSpPr>
        <p:spPr>
          <a:xfrm>
            <a:off x="449299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箭頭接點 109">
            <a:extLst>
              <a:ext uri="{FF2B5EF4-FFF2-40B4-BE49-F238E27FC236}">
                <a16:creationId xmlns:a16="http://schemas.microsoft.com/office/drawing/2014/main" id="{6FFD6C30-6E8F-049B-7DC1-FFE15C859B34}"/>
              </a:ext>
            </a:extLst>
          </p:cNvPr>
          <p:cNvCxnSpPr>
            <a:cxnSpLocks/>
          </p:cNvCxnSpPr>
          <p:nvPr/>
        </p:nvCxnSpPr>
        <p:spPr>
          <a:xfrm>
            <a:off x="6681569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箭頭接點 84">
            <a:extLst>
              <a:ext uri="{FF2B5EF4-FFF2-40B4-BE49-F238E27FC236}">
                <a16:creationId xmlns:a16="http://schemas.microsoft.com/office/drawing/2014/main" id="{66A42BD9-9DA1-4A32-E98D-2047F346A1B3}"/>
              </a:ext>
            </a:extLst>
          </p:cNvPr>
          <p:cNvCxnSpPr>
            <a:cxnSpLocks/>
          </p:cNvCxnSpPr>
          <p:nvPr/>
        </p:nvCxnSpPr>
        <p:spPr>
          <a:xfrm flipV="1">
            <a:off x="638221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圓角矩形 49">
            <a:extLst>
              <a:ext uri="{FF2B5EF4-FFF2-40B4-BE49-F238E27FC236}">
                <a16:creationId xmlns:a16="http://schemas.microsoft.com/office/drawing/2014/main" id="{26AFD2CA-0461-413B-D174-CFA269F31CDB}"/>
              </a:ext>
            </a:extLst>
          </p:cNvPr>
          <p:cNvSpPr/>
          <p:nvPr/>
        </p:nvSpPr>
        <p:spPr>
          <a:xfrm rot="16200000">
            <a:off x="6192813" y="4419031"/>
            <a:ext cx="372490" cy="205528"/>
          </a:xfrm>
          <a:prstGeom prst="roundRect">
            <a:avLst/>
          </a:prstGeom>
          <a:solidFill>
            <a:srgbClr val="C6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47" name="直線箭頭接點 146">
            <a:extLst>
              <a:ext uri="{FF2B5EF4-FFF2-40B4-BE49-F238E27FC236}">
                <a16:creationId xmlns:a16="http://schemas.microsoft.com/office/drawing/2014/main" id="{FF4DF05B-2975-82C6-6339-22B9F80D4113}"/>
              </a:ext>
            </a:extLst>
          </p:cNvPr>
          <p:cNvCxnSpPr>
            <a:cxnSpLocks/>
          </p:cNvCxnSpPr>
          <p:nvPr/>
        </p:nvCxnSpPr>
        <p:spPr>
          <a:xfrm flipV="1">
            <a:off x="6382211" y="4012978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F03F4B7E-046B-522F-5D94-EF2A6F1BF36D}"/>
                  </a:ext>
                </a:extLst>
              </p:cNvPr>
              <p:cNvSpPr txBox="1"/>
              <p:nvPr/>
            </p:nvSpPr>
            <p:spPr>
              <a:xfrm>
                <a:off x="6118558" y="4325610"/>
                <a:ext cx="5413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F03F4B7E-046B-522F-5D94-EF2A6F1BF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8558" y="4325610"/>
                <a:ext cx="541313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圓角矩形 6">
            <a:extLst>
              <a:ext uri="{FF2B5EF4-FFF2-40B4-BE49-F238E27FC236}">
                <a16:creationId xmlns:a16="http://schemas.microsoft.com/office/drawing/2014/main" id="{E4387330-B311-6F94-5219-000F4FE6BF01}"/>
              </a:ext>
            </a:extLst>
          </p:cNvPr>
          <p:cNvSpPr/>
          <p:nvPr/>
        </p:nvSpPr>
        <p:spPr>
          <a:xfrm>
            <a:off x="1052704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C674D36-F636-2527-BD9E-DE1961317E16}"/>
                  </a:ext>
                </a:extLst>
              </p:cNvPr>
              <p:cNvSpPr txBox="1"/>
              <p:nvPr/>
            </p:nvSpPr>
            <p:spPr>
              <a:xfrm>
                <a:off x="949631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C674D36-F636-2527-BD9E-DE1961317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631" y="3265111"/>
                <a:ext cx="575249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B26C3416-FCBB-E93E-4F25-A729E79F9806}"/>
                  </a:ext>
                </a:extLst>
              </p:cNvPr>
              <p:cNvSpPr txBox="1"/>
              <p:nvPr/>
            </p:nvSpPr>
            <p:spPr>
              <a:xfrm>
                <a:off x="1874379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B26C3416-FCBB-E93E-4F25-A729E79F9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379" y="3265111"/>
                <a:ext cx="575249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D9853FFD-96AE-B181-3B0F-2F9924217096}"/>
                  </a:ext>
                </a:extLst>
              </p:cNvPr>
              <p:cNvSpPr txBox="1"/>
              <p:nvPr/>
            </p:nvSpPr>
            <p:spPr>
              <a:xfrm>
                <a:off x="2841162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D9853FFD-96AE-B181-3B0F-2F9924217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162" y="3265111"/>
                <a:ext cx="57524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BC8E41F3-8DEA-C43F-0844-6DB68D82A1A8}"/>
                  </a:ext>
                </a:extLst>
              </p:cNvPr>
              <p:cNvSpPr txBox="1"/>
              <p:nvPr/>
            </p:nvSpPr>
            <p:spPr>
              <a:xfrm>
                <a:off x="3865939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BC8E41F3-8DEA-C43F-0844-6DB68D82A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939" y="3265111"/>
                <a:ext cx="575249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0B5C303C-AF38-5753-E50A-FA88E38E818C}"/>
                  </a:ext>
                </a:extLst>
              </p:cNvPr>
              <p:cNvSpPr txBox="1"/>
              <p:nvPr/>
            </p:nvSpPr>
            <p:spPr>
              <a:xfrm>
                <a:off x="4847905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0B5C303C-AF38-5753-E50A-FA88E38E8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05" y="3265111"/>
                <a:ext cx="575249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圓角矩形 37">
            <a:extLst>
              <a:ext uri="{FF2B5EF4-FFF2-40B4-BE49-F238E27FC236}">
                <a16:creationId xmlns:a16="http://schemas.microsoft.com/office/drawing/2014/main" id="{664B9C6A-0C19-FFEF-FF28-6FD9D2E6BEF2}"/>
              </a:ext>
            </a:extLst>
          </p:cNvPr>
          <p:cNvSpPr/>
          <p:nvPr/>
        </p:nvSpPr>
        <p:spPr>
          <a:xfrm>
            <a:off x="6264739" y="4320356"/>
            <a:ext cx="233876" cy="4031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BE0BAEBA-C531-8EC2-58C2-B7F12442454B}"/>
              </a:ext>
            </a:extLst>
          </p:cNvPr>
          <p:cNvSpPr/>
          <p:nvPr/>
        </p:nvSpPr>
        <p:spPr>
          <a:xfrm>
            <a:off x="2020773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106F42A0-03FB-06AA-3461-F479DD3A6EAA}"/>
              </a:ext>
            </a:extLst>
          </p:cNvPr>
          <p:cNvSpPr/>
          <p:nvPr/>
        </p:nvSpPr>
        <p:spPr>
          <a:xfrm>
            <a:off x="2968706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A816B909-52B0-8E8D-965E-33137A332699}"/>
              </a:ext>
            </a:extLst>
          </p:cNvPr>
          <p:cNvSpPr/>
          <p:nvPr/>
        </p:nvSpPr>
        <p:spPr>
          <a:xfrm>
            <a:off x="3990149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890BADA3-5CD5-5D99-958F-B8E25DC90680}"/>
              </a:ext>
            </a:extLst>
          </p:cNvPr>
          <p:cNvSpPr/>
          <p:nvPr/>
        </p:nvSpPr>
        <p:spPr>
          <a:xfrm>
            <a:off x="4971597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32F2BB0D-047A-9414-8C93-ABC316A12BC5}"/>
              </a:ext>
            </a:extLst>
          </p:cNvPr>
          <p:cNvSpPr/>
          <p:nvPr/>
        </p:nvSpPr>
        <p:spPr>
          <a:xfrm>
            <a:off x="3024614" y="2596981"/>
            <a:ext cx="249382" cy="53439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AA6B49E8-04C7-FC39-5775-D5E6E7A9CA49}"/>
              </a:ext>
            </a:extLst>
          </p:cNvPr>
          <p:cNvSpPr txBox="1"/>
          <p:nvPr/>
        </p:nvSpPr>
        <p:spPr>
          <a:xfrm>
            <a:off x="2100046" y="2608210"/>
            <a:ext cx="949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Context vector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E520D0E5-F80A-CCE4-FE34-A09BB04FD1DD}"/>
                  </a:ext>
                </a:extLst>
              </p:cNvPr>
              <p:cNvSpPr txBox="1"/>
              <p:nvPr/>
            </p:nvSpPr>
            <p:spPr>
              <a:xfrm>
                <a:off x="2315189" y="1717555"/>
                <a:ext cx="1443729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TW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E520D0E5-F80A-CCE4-FE34-A09BB04FD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189" y="1717555"/>
                <a:ext cx="1443729" cy="756233"/>
              </a:xfrm>
              <a:prstGeom prst="rect">
                <a:avLst/>
              </a:prstGeom>
              <a:blipFill>
                <a:blip r:embed="rId13"/>
                <a:stretch>
                  <a:fillRect l="-22609" t="-120000" b="-18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直線箭頭接點 95">
            <a:extLst>
              <a:ext uri="{FF2B5EF4-FFF2-40B4-BE49-F238E27FC236}">
                <a16:creationId xmlns:a16="http://schemas.microsoft.com/office/drawing/2014/main" id="{5A547A06-8F75-16EB-988C-5058DA705A93}"/>
              </a:ext>
            </a:extLst>
          </p:cNvPr>
          <p:cNvCxnSpPr>
            <a:cxnSpLocks/>
          </p:cNvCxnSpPr>
          <p:nvPr/>
        </p:nvCxnSpPr>
        <p:spPr>
          <a:xfrm flipV="1">
            <a:off x="6397832" y="3115478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7EBAD02F-4B53-52B0-0F8E-DF702000A7CF}"/>
              </a:ext>
            </a:extLst>
          </p:cNvPr>
          <p:cNvSpPr txBox="1"/>
          <p:nvPr/>
        </p:nvSpPr>
        <p:spPr>
          <a:xfrm>
            <a:off x="6041303" y="2609788"/>
            <a:ext cx="719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000C1764-FD36-D330-F515-ECE8033480FF}"/>
              </a:ext>
            </a:extLst>
          </p:cNvPr>
          <p:cNvSpPr/>
          <p:nvPr/>
        </p:nvSpPr>
        <p:spPr>
          <a:xfrm>
            <a:off x="6097363" y="3517941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>
                <a:solidFill>
                  <a:schemeClr val="tx1"/>
                </a:solidFill>
              </a:rPr>
              <a:t>Linear</a:t>
            </a:r>
            <a:endParaRPr kumimoji="1" lang="zh-TW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5557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0" grpId="0"/>
      <p:bldP spid="12" grpId="0"/>
      <p:bldP spid="13" grpId="0"/>
      <p:bldP spid="33" grpId="0"/>
      <p:bldP spid="34" grpId="0"/>
      <p:bldP spid="38" grpId="0" animBg="1"/>
      <p:bldP spid="39" grpId="0" animBg="1"/>
      <p:bldP spid="39" grpId="1" animBg="1"/>
      <p:bldP spid="40" grpId="0" animBg="1"/>
      <p:bldP spid="40" grpId="1" animBg="1"/>
      <p:bldP spid="42" grpId="0" animBg="1"/>
      <p:bldP spid="42" grpId="1" animBg="1"/>
      <p:bldP spid="43" grpId="0" animBg="1"/>
      <p:bldP spid="49" grpId="0" animBg="1"/>
      <p:bldP spid="51" grpId="0"/>
      <p:bldP spid="5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CC86A-7648-F737-AC03-7C4F91A5F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F914C9-089C-427A-A15B-8FA6ADF40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機器翻譯 </a:t>
            </a:r>
            <a:r>
              <a:rPr kumimoji="1" lang="en-US" altLang="zh-TW" dirty="0"/>
              <a:t>(</a:t>
            </a:r>
            <a:r>
              <a:rPr kumimoji="1" lang="zh-TW" altLang="en-US" dirty="0"/>
              <a:t>一般情況</a:t>
            </a:r>
            <a:r>
              <a:rPr kumimoji="1" lang="en-US" altLang="zh-TW" dirty="0"/>
              <a:t>, t = 3)</a:t>
            </a:r>
            <a:endParaRPr kumimoji="1" lang="zh-TW" altLang="en-US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75AC3A14-B87E-1142-2B61-B7AA3C603C05}"/>
              </a:ext>
            </a:extLst>
          </p:cNvPr>
          <p:cNvSpPr/>
          <p:nvPr/>
        </p:nvSpPr>
        <p:spPr>
          <a:xfrm rot="5400000">
            <a:off x="1041463" y="406411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53DEB15-94BD-2A1B-7A1A-E3EDFD955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81C-F638-B044-A8F2-A1B9864D5A40}" type="slidenum">
              <a:rPr kumimoji="1" lang="zh-TW" altLang="en-US" smtClean="0"/>
              <a:t>49</a:t>
            </a:fld>
            <a:endParaRPr kumimoji="1" lang="zh-TW" altLang="en-US"/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F0237EC1-79C7-5910-F94F-844C2EAFAD09}"/>
              </a:ext>
            </a:extLst>
          </p:cNvPr>
          <p:cNvCxnSpPr/>
          <p:nvPr/>
        </p:nvCxnSpPr>
        <p:spPr>
          <a:xfrm>
            <a:off x="5632911" y="2553196"/>
            <a:ext cx="0" cy="265890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CADF65C9-5550-3019-EB5C-6AC5CF1CCE6E}"/>
              </a:ext>
            </a:extLst>
          </p:cNvPr>
          <p:cNvCxnSpPr>
            <a:cxnSpLocks/>
          </p:cNvCxnSpPr>
          <p:nvPr/>
        </p:nvCxnSpPr>
        <p:spPr>
          <a:xfrm flipH="1">
            <a:off x="1503108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E7D4982C-7C15-E182-B5D4-6AF4871B0075}"/>
              </a:ext>
            </a:extLst>
          </p:cNvPr>
          <p:cNvSpPr/>
          <p:nvPr/>
        </p:nvSpPr>
        <p:spPr>
          <a:xfrm rot="5400000">
            <a:off x="1041463" y="4445564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11162C03-E4F5-3759-6175-D7E4583391E5}"/>
              </a:ext>
            </a:extLst>
          </p:cNvPr>
          <p:cNvCxnSpPr>
            <a:cxnSpLocks/>
          </p:cNvCxnSpPr>
          <p:nvPr/>
        </p:nvCxnSpPr>
        <p:spPr>
          <a:xfrm>
            <a:off x="1524880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4356034F-4F40-2DC5-895E-E14D0BE7BB9A}"/>
              </a:ext>
            </a:extLst>
          </p:cNvPr>
          <p:cNvCxnSpPr>
            <a:cxnSpLocks/>
          </p:cNvCxnSpPr>
          <p:nvPr/>
        </p:nvCxnSpPr>
        <p:spPr>
          <a:xfrm>
            <a:off x="246797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043F507E-884A-14A8-2F7D-17AC6A867B38}"/>
              </a:ext>
            </a:extLst>
          </p:cNvPr>
          <p:cNvCxnSpPr>
            <a:cxnSpLocks/>
          </p:cNvCxnSpPr>
          <p:nvPr/>
        </p:nvCxnSpPr>
        <p:spPr>
          <a:xfrm>
            <a:off x="342618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0BE6EDA1-B7B0-6950-F079-2AF6197020BC}"/>
              </a:ext>
            </a:extLst>
          </p:cNvPr>
          <p:cNvCxnSpPr>
            <a:cxnSpLocks/>
          </p:cNvCxnSpPr>
          <p:nvPr/>
        </p:nvCxnSpPr>
        <p:spPr>
          <a:xfrm>
            <a:off x="441990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D68497B8-8C65-8141-9F5C-6140E0828F75}"/>
              </a:ext>
            </a:extLst>
          </p:cNvPr>
          <p:cNvCxnSpPr>
            <a:cxnSpLocks/>
          </p:cNvCxnSpPr>
          <p:nvPr/>
        </p:nvCxnSpPr>
        <p:spPr>
          <a:xfrm flipH="1">
            <a:off x="2457088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D21DD11B-7E1E-BD88-6E26-15DC023FDB22}"/>
              </a:ext>
            </a:extLst>
          </p:cNvPr>
          <p:cNvCxnSpPr>
            <a:cxnSpLocks/>
          </p:cNvCxnSpPr>
          <p:nvPr/>
        </p:nvCxnSpPr>
        <p:spPr>
          <a:xfrm flipH="1">
            <a:off x="3415531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BA819FC6-4DE2-D753-6BF4-699FD623CBAE}"/>
              </a:ext>
            </a:extLst>
          </p:cNvPr>
          <p:cNvCxnSpPr>
            <a:cxnSpLocks/>
          </p:cNvCxnSpPr>
          <p:nvPr/>
        </p:nvCxnSpPr>
        <p:spPr>
          <a:xfrm flipH="1">
            <a:off x="4398132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B9289712-839E-74FE-0D78-263EBE951B3D}"/>
                  </a:ext>
                </a:extLst>
              </p:cNvPr>
              <p:cNvSpPr txBox="1"/>
              <p:nvPr/>
            </p:nvSpPr>
            <p:spPr>
              <a:xfrm>
                <a:off x="543259" y="1378420"/>
                <a:ext cx="1618744" cy="518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;"/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e>
                          <m:groupChr>
                            <m:groupChrPr>
                              <m:chr m:val="←"/>
                              <m:pos m:val="top"/>
                              <m:vertJc m:val="bot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groupCh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B9289712-839E-74FE-0D78-263EBE951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59" y="1378420"/>
                <a:ext cx="1618744" cy="5188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6DE65D9D-B8E2-3848-B09B-3CCDC43DFDA3}"/>
                  </a:ext>
                </a:extLst>
              </p:cNvPr>
              <p:cNvSpPr txBox="1"/>
              <p:nvPr/>
            </p:nvSpPr>
            <p:spPr>
              <a:xfrm>
                <a:off x="496181" y="4380899"/>
                <a:ext cx="572956" cy="3396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6DE65D9D-B8E2-3848-B09B-3CCDC43DF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81" y="4380899"/>
                <a:ext cx="572956" cy="3396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7C037385-47E8-3BD9-6526-DC079A72442C}"/>
                  </a:ext>
                </a:extLst>
              </p:cNvPr>
              <p:cNvSpPr txBox="1"/>
              <p:nvPr/>
            </p:nvSpPr>
            <p:spPr>
              <a:xfrm>
                <a:off x="494670" y="4012978"/>
                <a:ext cx="572956" cy="3679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←"/>
                          <m:pos m:val="top"/>
                          <m:vertJc m:val="bot"/>
                          <m:ctrlPr>
                            <a:rPr lang="zh-TW" altLang="en-US" sz="14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7C037385-47E8-3BD9-6526-DC079A724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70" y="4012978"/>
                <a:ext cx="572956" cy="3679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圓角矩形 8">
            <a:extLst>
              <a:ext uri="{FF2B5EF4-FFF2-40B4-BE49-F238E27FC236}">
                <a16:creationId xmlns:a16="http://schemas.microsoft.com/office/drawing/2014/main" id="{F6B2561E-F36B-DB27-FFC7-88FE58BC0CD8}"/>
              </a:ext>
            </a:extLst>
          </p:cNvPr>
          <p:cNvSpPr/>
          <p:nvPr/>
        </p:nvSpPr>
        <p:spPr>
          <a:xfrm rot="5400000">
            <a:off x="2003003" y="4061589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9CAFF000-2F58-3AFA-15ED-F25AF55A0154}"/>
              </a:ext>
            </a:extLst>
          </p:cNvPr>
          <p:cNvSpPr/>
          <p:nvPr/>
        </p:nvSpPr>
        <p:spPr>
          <a:xfrm rot="5400000">
            <a:off x="2003003" y="4443043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8F557398-8354-F4F5-B289-ECFF05BCA6CA}"/>
              </a:ext>
            </a:extLst>
          </p:cNvPr>
          <p:cNvSpPr/>
          <p:nvPr/>
        </p:nvSpPr>
        <p:spPr>
          <a:xfrm rot="5400000">
            <a:off x="2959245" y="4061589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9FFBA47B-B39D-71D0-384D-59828CF146C9}"/>
              </a:ext>
            </a:extLst>
          </p:cNvPr>
          <p:cNvSpPr/>
          <p:nvPr/>
        </p:nvSpPr>
        <p:spPr>
          <a:xfrm rot="5400000">
            <a:off x="2959245" y="4443043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F06926BC-79B7-C344-8D26-E805077D2096}"/>
              </a:ext>
            </a:extLst>
          </p:cNvPr>
          <p:cNvSpPr/>
          <p:nvPr/>
        </p:nvSpPr>
        <p:spPr>
          <a:xfrm rot="5400000">
            <a:off x="3979527" y="4057806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A09F4F5D-2A58-ECF2-787E-7FDD6B67DCB9}"/>
              </a:ext>
            </a:extLst>
          </p:cNvPr>
          <p:cNvSpPr/>
          <p:nvPr/>
        </p:nvSpPr>
        <p:spPr>
          <a:xfrm rot="5400000">
            <a:off x="3979527" y="443926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60ED5C5D-D01B-11E2-D255-0A307090C76A}"/>
              </a:ext>
            </a:extLst>
          </p:cNvPr>
          <p:cNvSpPr/>
          <p:nvPr/>
        </p:nvSpPr>
        <p:spPr>
          <a:xfrm rot="5400000">
            <a:off x="4949287" y="405696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3F3ED5D6-5FFD-D1B7-30BE-7B0D8E603886}"/>
              </a:ext>
            </a:extLst>
          </p:cNvPr>
          <p:cNvSpPr/>
          <p:nvPr/>
        </p:nvSpPr>
        <p:spPr>
          <a:xfrm rot="5400000">
            <a:off x="4949287" y="4438414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206D02E-2F3A-3266-7887-EF4D20DBA19F}"/>
              </a:ext>
            </a:extLst>
          </p:cNvPr>
          <p:cNvSpPr txBox="1"/>
          <p:nvPr/>
        </p:nvSpPr>
        <p:spPr>
          <a:xfrm>
            <a:off x="1028450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我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D182E89-4E79-0C50-9696-8D349F1760AA}"/>
              </a:ext>
            </a:extLst>
          </p:cNvPr>
          <p:cNvSpPr txBox="1"/>
          <p:nvPr/>
        </p:nvSpPr>
        <p:spPr>
          <a:xfrm>
            <a:off x="1989990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想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EF4C955-833A-3DC6-2086-A706F345DFB4}"/>
              </a:ext>
            </a:extLst>
          </p:cNvPr>
          <p:cNvSpPr txBox="1"/>
          <p:nvPr/>
        </p:nvSpPr>
        <p:spPr>
          <a:xfrm>
            <a:off x="2946232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要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3BF7017-1329-5EBC-9C49-711B1AE821B2}"/>
              </a:ext>
            </a:extLst>
          </p:cNvPr>
          <p:cNvSpPr txBox="1"/>
          <p:nvPr/>
        </p:nvSpPr>
        <p:spPr>
          <a:xfrm>
            <a:off x="3966514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放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A043F48-3A2B-16A7-2E87-CCCF7EEEDFC1}"/>
              </a:ext>
            </a:extLst>
          </p:cNvPr>
          <p:cNvSpPr txBox="1"/>
          <p:nvPr/>
        </p:nvSpPr>
        <p:spPr>
          <a:xfrm>
            <a:off x="4936274" y="5843215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假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F1439A4-AEA7-C276-B3F4-A81865D648E7}"/>
              </a:ext>
            </a:extLst>
          </p:cNvPr>
          <p:cNvSpPr/>
          <p:nvPr/>
        </p:nvSpPr>
        <p:spPr>
          <a:xfrm>
            <a:off x="911313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9D67784-EEE3-FB52-73D7-C1369B82E8C1}"/>
              </a:ext>
            </a:extLst>
          </p:cNvPr>
          <p:cNvSpPr/>
          <p:nvPr/>
        </p:nvSpPr>
        <p:spPr>
          <a:xfrm>
            <a:off x="1901622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7489E77-9AB6-086E-E205-F0BD31664BBF}"/>
              </a:ext>
            </a:extLst>
          </p:cNvPr>
          <p:cNvSpPr/>
          <p:nvPr/>
        </p:nvSpPr>
        <p:spPr>
          <a:xfrm>
            <a:off x="2850931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CD11246-16A2-2AD7-4118-6F0EBE27A63F}"/>
              </a:ext>
            </a:extLst>
          </p:cNvPr>
          <p:cNvSpPr/>
          <p:nvPr/>
        </p:nvSpPr>
        <p:spPr>
          <a:xfrm>
            <a:off x="3878145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5C7B18-05E9-E8B5-886E-AE082CF72A44}"/>
              </a:ext>
            </a:extLst>
          </p:cNvPr>
          <p:cNvSpPr/>
          <p:nvPr/>
        </p:nvSpPr>
        <p:spPr>
          <a:xfrm>
            <a:off x="4847905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44E3A6FF-C81C-2862-702A-353C15505D20}"/>
              </a:ext>
            </a:extLst>
          </p:cNvPr>
          <p:cNvCxnSpPr>
            <a:cxnSpLocks/>
          </p:cNvCxnSpPr>
          <p:nvPr/>
        </p:nvCxnSpPr>
        <p:spPr>
          <a:xfrm flipV="1">
            <a:off x="1216822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箭頭接點 59">
            <a:extLst>
              <a:ext uri="{FF2B5EF4-FFF2-40B4-BE49-F238E27FC236}">
                <a16:creationId xmlns:a16="http://schemas.microsoft.com/office/drawing/2014/main" id="{1BF6A9F7-4F55-C836-18C6-9786C3F77D30}"/>
              </a:ext>
            </a:extLst>
          </p:cNvPr>
          <p:cNvCxnSpPr>
            <a:cxnSpLocks/>
          </p:cNvCxnSpPr>
          <p:nvPr/>
        </p:nvCxnSpPr>
        <p:spPr>
          <a:xfrm flipV="1">
            <a:off x="1227708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箭頭接點 61">
            <a:extLst>
              <a:ext uri="{FF2B5EF4-FFF2-40B4-BE49-F238E27FC236}">
                <a16:creationId xmlns:a16="http://schemas.microsoft.com/office/drawing/2014/main" id="{176DB90F-0E4C-705A-43F7-F63BECBCCFBB}"/>
              </a:ext>
            </a:extLst>
          </p:cNvPr>
          <p:cNvCxnSpPr>
            <a:cxnSpLocks/>
          </p:cNvCxnSpPr>
          <p:nvPr/>
        </p:nvCxnSpPr>
        <p:spPr>
          <a:xfrm flipV="1">
            <a:off x="2189248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箭頭接點 62">
            <a:extLst>
              <a:ext uri="{FF2B5EF4-FFF2-40B4-BE49-F238E27FC236}">
                <a16:creationId xmlns:a16="http://schemas.microsoft.com/office/drawing/2014/main" id="{C2C3A4A5-EA7A-8563-E4D6-B42C1AEA9D0D}"/>
              </a:ext>
            </a:extLst>
          </p:cNvPr>
          <p:cNvCxnSpPr>
            <a:cxnSpLocks/>
          </p:cNvCxnSpPr>
          <p:nvPr/>
        </p:nvCxnSpPr>
        <p:spPr>
          <a:xfrm flipV="1">
            <a:off x="2189248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箭頭接點 67">
            <a:extLst>
              <a:ext uri="{FF2B5EF4-FFF2-40B4-BE49-F238E27FC236}">
                <a16:creationId xmlns:a16="http://schemas.microsoft.com/office/drawing/2014/main" id="{14FFC856-2E17-7C2E-66CF-50697DEA3C6E}"/>
              </a:ext>
            </a:extLst>
          </p:cNvPr>
          <p:cNvCxnSpPr>
            <a:cxnSpLocks/>
          </p:cNvCxnSpPr>
          <p:nvPr/>
        </p:nvCxnSpPr>
        <p:spPr>
          <a:xfrm flipV="1">
            <a:off x="3150664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箭頭接點 68">
            <a:extLst>
              <a:ext uri="{FF2B5EF4-FFF2-40B4-BE49-F238E27FC236}">
                <a16:creationId xmlns:a16="http://schemas.microsoft.com/office/drawing/2014/main" id="{BE6934FA-B49B-6A35-2E05-256E2878CD02}"/>
              </a:ext>
            </a:extLst>
          </p:cNvPr>
          <p:cNvCxnSpPr>
            <a:cxnSpLocks/>
          </p:cNvCxnSpPr>
          <p:nvPr/>
        </p:nvCxnSpPr>
        <p:spPr>
          <a:xfrm flipV="1">
            <a:off x="3150664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箭頭接點 69">
            <a:extLst>
              <a:ext uri="{FF2B5EF4-FFF2-40B4-BE49-F238E27FC236}">
                <a16:creationId xmlns:a16="http://schemas.microsoft.com/office/drawing/2014/main" id="{06F6D1E8-5DC3-5722-F4D6-03BF45B69E8B}"/>
              </a:ext>
            </a:extLst>
          </p:cNvPr>
          <p:cNvCxnSpPr>
            <a:cxnSpLocks/>
          </p:cNvCxnSpPr>
          <p:nvPr/>
        </p:nvCxnSpPr>
        <p:spPr>
          <a:xfrm flipV="1">
            <a:off x="4165771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箭頭接點 70">
            <a:extLst>
              <a:ext uri="{FF2B5EF4-FFF2-40B4-BE49-F238E27FC236}">
                <a16:creationId xmlns:a16="http://schemas.microsoft.com/office/drawing/2014/main" id="{827EC041-D5E4-854F-83D6-5985CDF68C27}"/>
              </a:ext>
            </a:extLst>
          </p:cNvPr>
          <p:cNvCxnSpPr>
            <a:cxnSpLocks/>
          </p:cNvCxnSpPr>
          <p:nvPr/>
        </p:nvCxnSpPr>
        <p:spPr>
          <a:xfrm flipV="1">
            <a:off x="416577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箭頭接點 71">
            <a:extLst>
              <a:ext uri="{FF2B5EF4-FFF2-40B4-BE49-F238E27FC236}">
                <a16:creationId xmlns:a16="http://schemas.microsoft.com/office/drawing/2014/main" id="{D7F971C5-33C2-AD0B-D59A-AE5F1A9CECF3}"/>
              </a:ext>
            </a:extLst>
          </p:cNvPr>
          <p:cNvCxnSpPr>
            <a:cxnSpLocks/>
          </p:cNvCxnSpPr>
          <p:nvPr/>
        </p:nvCxnSpPr>
        <p:spPr>
          <a:xfrm flipV="1">
            <a:off x="5135531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箭頭接點 72">
            <a:extLst>
              <a:ext uri="{FF2B5EF4-FFF2-40B4-BE49-F238E27FC236}">
                <a16:creationId xmlns:a16="http://schemas.microsoft.com/office/drawing/2014/main" id="{CC6448D2-89C4-FAB7-F15C-C59828D9B2AA}"/>
              </a:ext>
            </a:extLst>
          </p:cNvPr>
          <p:cNvCxnSpPr>
            <a:cxnSpLocks/>
          </p:cNvCxnSpPr>
          <p:nvPr/>
        </p:nvCxnSpPr>
        <p:spPr>
          <a:xfrm flipV="1">
            <a:off x="513553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AD29305A-F691-CFA9-FD79-D0D413C6D1EC}"/>
              </a:ext>
            </a:extLst>
          </p:cNvPr>
          <p:cNvSpPr txBox="1"/>
          <p:nvPr/>
        </p:nvSpPr>
        <p:spPr>
          <a:xfrm>
            <a:off x="6182953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_</a:t>
            </a:r>
            <a:endParaRPr kumimoji="1" lang="zh-TW" altLang="en-US" dirty="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3E7FDBAC-60FB-1FD1-4807-A990D0780315}"/>
              </a:ext>
            </a:extLst>
          </p:cNvPr>
          <p:cNvSpPr/>
          <p:nvPr/>
        </p:nvSpPr>
        <p:spPr>
          <a:xfrm>
            <a:off x="6065816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84" name="直線箭頭接點 83">
            <a:extLst>
              <a:ext uri="{FF2B5EF4-FFF2-40B4-BE49-F238E27FC236}">
                <a16:creationId xmlns:a16="http://schemas.microsoft.com/office/drawing/2014/main" id="{BF81CE4C-AB82-CB11-E6C7-AD76313C2737}"/>
              </a:ext>
            </a:extLst>
          </p:cNvPr>
          <p:cNvCxnSpPr>
            <a:cxnSpLocks/>
          </p:cNvCxnSpPr>
          <p:nvPr/>
        </p:nvCxnSpPr>
        <p:spPr>
          <a:xfrm flipV="1">
            <a:off x="6371325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箭頭接點 104">
            <a:extLst>
              <a:ext uri="{FF2B5EF4-FFF2-40B4-BE49-F238E27FC236}">
                <a16:creationId xmlns:a16="http://schemas.microsoft.com/office/drawing/2014/main" id="{8693E33F-58AE-0723-D878-7E9842DFB8F9}"/>
              </a:ext>
            </a:extLst>
          </p:cNvPr>
          <p:cNvCxnSpPr>
            <a:cxnSpLocks/>
          </p:cNvCxnSpPr>
          <p:nvPr/>
        </p:nvCxnSpPr>
        <p:spPr>
          <a:xfrm>
            <a:off x="153035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箭頭接點 106">
            <a:extLst>
              <a:ext uri="{FF2B5EF4-FFF2-40B4-BE49-F238E27FC236}">
                <a16:creationId xmlns:a16="http://schemas.microsoft.com/office/drawing/2014/main" id="{EB4ACAEB-8FDB-3F6E-BD24-B7F47BE6C293}"/>
              </a:ext>
            </a:extLst>
          </p:cNvPr>
          <p:cNvCxnSpPr>
            <a:cxnSpLocks/>
          </p:cNvCxnSpPr>
          <p:nvPr/>
        </p:nvCxnSpPr>
        <p:spPr>
          <a:xfrm>
            <a:off x="2495216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箭頭接點 107">
            <a:extLst>
              <a:ext uri="{FF2B5EF4-FFF2-40B4-BE49-F238E27FC236}">
                <a16:creationId xmlns:a16="http://schemas.microsoft.com/office/drawing/2014/main" id="{8B234FDF-CD61-7D0E-716C-7B5628F20B4B}"/>
              </a:ext>
            </a:extLst>
          </p:cNvPr>
          <p:cNvCxnSpPr>
            <a:cxnSpLocks/>
          </p:cNvCxnSpPr>
          <p:nvPr/>
        </p:nvCxnSpPr>
        <p:spPr>
          <a:xfrm>
            <a:off x="348067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箭頭接點 108">
            <a:extLst>
              <a:ext uri="{FF2B5EF4-FFF2-40B4-BE49-F238E27FC236}">
                <a16:creationId xmlns:a16="http://schemas.microsoft.com/office/drawing/2014/main" id="{780CE823-1E4E-306E-2684-15413BE34DDF}"/>
              </a:ext>
            </a:extLst>
          </p:cNvPr>
          <p:cNvCxnSpPr>
            <a:cxnSpLocks/>
          </p:cNvCxnSpPr>
          <p:nvPr/>
        </p:nvCxnSpPr>
        <p:spPr>
          <a:xfrm>
            <a:off x="449299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F5B21701-26EE-FFD4-7FCF-1E7BCDA59BF0}"/>
              </a:ext>
            </a:extLst>
          </p:cNvPr>
          <p:cNvGrpSpPr/>
          <p:nvPr/>
        </p:nvGrpSpPr>
        <p:grpSpPr>
          <a:xfrm>
            <a:off x="6681569" y="5134787"/>
            <a:ext cx="1019335" cy="1111138"/>
            <a:chOff x="6681569" y="5134787"/>
            <a:chExt cx="1019335" cy="1111138"/>
          </a:xfrm>
        </p:grpSpPr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5507FF3D-38D9-72AE-D4A0-E629376042F7}"/>
                </a:ext>
              </a:extLst>
            </p:cNvPr>
            <p:cNvSpPr txBox="1"/>
            <p:nvPr/>
          </p:nvSpPr>
          <p:spPr>
            <a:xfrm>
              <a:off x="6981299" y="5876593"/>
              <a:ext cx="7196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I</a:t>
              </a:r>
              <a:endParaRPr kumimoji="1" lang="zh-TW" altLang="en-US" dirty="0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F1F57040-6CC3-FB33-515C-4AE7606D9CB0}"/>
                </a:ext>
              </a:extLst>
            </p:cNvPr>
            <p:cNvSpPr/>
            <p:nvPr/>
          </p:nvSpPr>
          <p:spPr>
            <a:xfrm>
              <a:off x="7056125" y="5134787"/>
              <a:ext cx="575253" cy="3798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RNN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86" name="直線箭頭接點 85">
              <a:extLst>
                <a:ext uri="{FF2B5EF4-FFF2-40B4-BE49-F238E27FC236}">
                  <a16:creationId xmlns:a16="http://schemas.microsoft.com/office/drawing/2014/main" id="{CA7779AB-C2C1-5041-039A-252E88CB4C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3751" y="5607843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箭頭接點 109">
              <a:extLst>
                <a:ext uri="{FF2B5EF4-FFF2-40B4-BE49-F238E27FC236}">
                  <a16:creationId xmlns:a16="http://schemas.microsoft.com/office/drawing/2014/main" id="{5528168B-A750-3A38-4B4E-F4B73C08CD7F}"/>
                </a:ext>
              </a:extLst>
            </p:cNvPr>
            <p:cNvCxnSpPr>
              <a:cxnSpLocks/>
            </p:cNvCxnSpPr>
            <p:nvPr/>
          </p:nvCxnSpPr>
          <p:spPr>
            <a:xfrm>
              <a:off x="6681569" y="5324624"/>
              <a:ext cx="34402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5" name="直線箭頭接點 84">
            <a:extLst>
              <a:ext uri="{FF2B5EF4-FFF2-40B4-BE49-F238E27FC236}">
                <a16:creationId xmlns:a16="http://schemas.microsoft.com/office/drawing/2014/main" id="{6FD3C545-6857-CA6B-BAAD-6A8F4928415E}"/>
              </a:ext>
            </a:extLst>
          </p:cNvPr>
          <p:cNvCxnSpPr>
            <a:cxnSpLocks/>
          </p:cNvCxnSpPr>
          <p:nvPr/>
        </p:nvCxnSpPr>
        <p:spPr>
          <a:xfrm flipV="1">
            <a:off x="638221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圓角矩形 49">
            <a:extLst>
              <a:ext uri="{FF2B5EF4-FFF2-40B4-BE49-F238E27FC236}">
                <a16:creationId xmlns:a16="http://schemas.microsoft.com/office/drawing/2014/main" id="{1D9241BF-7E86-6135-9B66-A903AAF2E2E0}"/>
              </a:ext>
            </a:extLst>
          </p:cNvPr>
          <p:cNvSpPr/>
          <p:nvPr/>
        </p:nvSpPr>
        <p:spPr>
          <a:xfrm rot="16200000">
            <a:off x="6192813" y="4419031"/>
            <a:ext cx="372490" cy="205528"/>
          </a:xfrm>
          <a:prstGeom prst="roundRect">
            <a:avLst/>
          </a:prstGeom>
          <a:solidFill>
            <a:srgbClr val="C6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47" name="直線箭頭接點 146">
            <a:extLst>
              <a:ext uri="{FF2B5EF4-FFF2-40B4-BE49-F238E27FC236}">
                <a16:creationId xmlns:a16="http://schemas.microsoft.com/office/drawing/2014/main" id="{C3CAB93E-BE0A-984B-0120-B219B93BCEDF}"/>
              </a:ext>
            </a:extLst>
          </p:cNvPr>
          <p:cNvCxnSpPr>
            <a:cxnSpLocks/>
          </p:cNvCxnSpPr>
          <p:nvPr/>
        </p:nvCxnSpPr>
        <p:spPr>
          <a:xfrm flipV="1">
            <a:off x="6382211" y="4012978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71D2BEA9-206C-1C7F-7F78-2795C5F6B0E4}"/>
                  </a:ext>
                </a:extLst>
              </p:cNvPr>
              <p:cNvSpPr txBox="1"/>
              <p:nvPr/>
            </p:nvSpPr>
            <p:spPr>
              <a:xfrm>
                <a:off x="6117565" y="4315478"/>
                <a:ext cx="5413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71D2BEA9-206C-1C7F-7F78-2795C5F6B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565" y="4315478"/>
                <a:ext cx="54131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直線箭頭接點 86">
            <a:extLst>
              <a:ext uri="{FF2B5EF4-FFF2-40B4-BE49-F238E27FC236}">
                <a16:creationId xmlns:a16="http://schemas.microsoft.com/office/drawing/2014/main" id="{C5A2F45E-E9E4-32D7-16C5-F7377A6220F4}"/>
              </a:ext>
            </a:extLst>
          </p:cNvPr>
          <p:cNvCxnSpPr>
            <a:cxnSpLocks/>
          </p:cNvCxnSpPr>
          <p:nvPr/>
        </p:nvCxnSpPr>
        <p:spPr>
          <a:xfrm flipV="1">
            <a:off x="734375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圓角矩形 114">
            <a:extLst>
              <a:ext uri="{FF2B5EF4-FFF2-40B4-BE49-F238E27FC236}">
                <a16:creationId xmlns:a16="http://schemas.microsoft.com/office/drawing/2014/main" id="{DB349061-6ADE-44F3-7176-E7ED517535F7}"/>
              </a:ext>
            </a:extLst>
          </p:cNvPr>
          <p:cNvSpPr/>
          <p:nvPr/>
        </p:nvSpPr>
        <p:spPr>
          <a:xfrm rot="16200000">
            <a:off x="7153651" y="4419031"/>
            <a:ext cx="372490" cy="205528"/>
          </a:xfrm>
          <a:prstGeom prst="roundRect">
            <a:avLst/>
          </a:prstGeom>
          <a:solidFill>
            <a:srgbClr val="C6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25" name="直線箭頭接點 124">
            <a:extLst>
              <a:ext uri="{FF2B5EF4-FFF2-40B4-BE49-F238E27FC236}">
                <a16:creationId xmlns:a16="http://schemas.microsoft.com/office/drawing/2014/main" id="{04293B29-9EC0-3D6A-C756-7C324EB37688}"/>
              </a:ext>
            </a:extLst>
          </p:cNvPr>
          <p:cNvCxnSpPr>
            <a:cxnSpLocks/>
          </p:cNvCxnSpPr>
          <p:nvPr/>
        </p:nvCxnSpPr>
        <p:spPr>
          <a:xfrm flipV="1">
            <a:off x="7343118" y="400838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文字方塊 160">
                <a:extLst>
                  <a:ext uri="{FF2B5EF4-FFF2-40B4-BE49-F238E27FC236}">
                    <a16:creationId xmlns:a16="http://schemas.microsoft.com/office/drawing/2014/main" id="{CD6EC75C-0B5F-EE0A-B8EB-021527707F47}"/>
                  </a:ext>
                </a:extLst>
              </p:cNvPr>
              <p:cNvSpPr txBox="1"/>
              <p:nvPr/>
            </p:nvSpPr>
            <p:spPr>
              <a:xfrm>
                <a:off x="7076020" y="4335549"/>
                <a:ext cx="5413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1" name="文字方塊 160">
                <a:extLst>
                  <a:ext uri="{FF2B5EF4-FFF2-40B4-BE49-F238E27FC236}">
                    <a16:creationId xmlns:a16="http://schemas.microsoft.com/office/drawing/2014/main" id="{CD6EC75C-0B5F-EE0A-B8EB-021527707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020" y="4335549"/>
                <a:ext cx="541313" cy="369332"/>
              </a:xfrm>
              <a:prstGeom prst="rect">
                <a:avLst/>
              </a:prstGeom>
              <a:blipFill>
                <a:blip r:embed="rId8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圓角矩形 6">
            <a:extLst>
              <a:ext uri="{FF2B5EF4-FFF2-40B4-BE49-F238E27FC236}">
                <a16:creationId xmlns:a16="http://schemas.microsoft.com/office/drawing/2014/main" id="{E4B84E33-C79A-AC82-DA12-278E8E7DA540}"/>
              </a:ext>
            </a:extLst>
          </p:cNvPr>
          <p:cNvSpPr/>
          <p:nvPr/>
        </p:nvSpPr>
        <p:spPr>
          <a:xfrm>
            <a:off x="1052704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607BCFAB-9C1D-BFE1-143C-648056DB062A}"/>
                  </a:ext>
                </a:extLst>
              </p:cNvPr>
              <p:cNvSpPr txBox="1"/>
              <p:nvPr/>
            </p:nvSpPr>
            <p:spPr>
              <a:xfrm>
                <a:off x="949631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607BCFAB-9C1D-BFE1-143C-648056DB0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631" y="3265111"/>
                <a:ext cx="575249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1CD73B98-4F03-342D-8E6B-ADE90330F340}"/>
                  </a:ext>
                </a:extLst>
              </p:cNvPr>
              <p:cNvSpPr txBox="1"/>
              <p:nvPr/>
            </p:nvSpPr>
            <p:spPr>
              <a:xfrm>
                <a:off x="1874379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1CD73B98-4F03-342D-8E6B-ADE90330F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379" y="3265111"/>
                <a:ext cx="57524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7A1DBF4-C268-204A-CC03-A3F97C93B1FB}"/>
                  </a:ext>
                </a:extLst>
              </p:cNvPr>
              <p:cNvSpPr txBox="1"/>
              <p:nvPr/>
            </p:nvSpPr>
            <p:spPr>
              <a:xfrm>
                <a:off x="2841162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7A1DBF4-C268-204A-CC03-A3F97C93B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162" y="3265111"/>
                <a:ext cx="575249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65280AB4-310C-E1F8-4190-69E252BE3F08}"/>
                  </a:ext>
                </a:extLst>
              </p:cNvPr>
              <p:cNvSpPr txBox="1"/>
              <p:nvPr/>
            </p:nvSpPr>
            <p:spPr>
              <a:xfrm>
                <a:off x="3865939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34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65280AB4-310C-E1F8-4190-69E252BE3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939" y="3265111"/>
                <a:ext cx="575249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FD616A79-0860-A8FA-EC37-0743B7681141}"/>
                  </a:ext>
                </a:extLst>
              </p:cNvPr>
              <p:cNvSpPr txBox="1"/>
              <p:nvPr/>
            </p:nvSpPr>
            <p:spPr>
              <a:xfrm>
                <a:off x="4847905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FD616A79-0860-A8FA-EC37-0743B7681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05" y="3265111"/>
                <a:ext cx="575249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圓角矩形 38">
            <a:extLst>
              <a:ext uri="{FF2B5EF4-FFF2-40B4-BE49-F238E27FC236}">
                <a16:creationId xmlns:a16="http://schemas.microsoft.com/office/drawing/2014/main" id="{1B0C2B00-5679-A921-6D0A-7604CF6BFDBA}"/>
              </a:ext>
            </a:extLst>
          </p:cNvPr>
          <p:cNvSpPr/>
          <p:nvPr/>
        </p:nvSpPr>
        <p:spPr>
          <a:xfrm>
            <a:off x="2020773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384EAAB2-E6EB-1412-2DBF-481655B4ECAF}"/>
              </a:ext>
            </a:extLst>
          </p:cNvPr>
          <p:cNvSpPr/>
          <p:nvPr/>
        </p:nvSpPr>
        <p:spPr>
          <a:xfrm>
            <a:off x="2968706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FBAEDCF8-9FDF-172A-8EB1-11CD04EDA652}"/>
              </a:ext>
            </a:extLst>
          </p:cNvPr>
          <p:cNvSpPr/>
          <p:nvPr/>
        </p:nvSpPr>
        <p:spPr>
          <a:xfrm>
            <a:off x="3990149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F7DFFFE2-0052-3F7C-8DAE-7F86CF8DC25A}"/>
              </a:ext>
            </a:extLst>
          </p:cNvPr>
          <p:cNvSpPr/>
          <p:nvPr/>
        </p:nvSpPr>
        <p:spPr>
          <a:xfrm>
            <a:off x="4971597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07FB3C3C-6E4B-95C6-66A4-5DDD64E91337}"/>
              </a:ext>
            </a:extLst>
          </p:cNvPr>
          <p:cNvSpPr/>
          <p:nvPr/>
        </p:nvSpPr>
        <p:spPr>
          <a:xfrm>
            <a:off x="3024614" y="2596981"/>
            <a:ext cx="249382" cy="53439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B7B62013-EBD6-D558-209A-CC7F4EC1EB1D}"/>
                  </a:ext>
                </a:extLst>
              </p:cNvPr>
              <p:cNvSpPr txBox="1"/>
              <p:nvPr/>
            </p:nvSpPr>
            <p:spPr>
              <a:xfrm>
                <a:off x="2315189" y="1717555"/>
                <a:ext cx="1443729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TW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B7B62013-EBD6-D558-209A-CC7F4EC1E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189" y="1717555"/>
                <a:ext cx="1443729" cy="756233"/>
              </a:xfrm>
              <a:prstGeom prst="rect">
                <a:avLst/>
              </a:prstGeom>
              <a:blipFill>
                <a:blip r:embed="rId14"/>
                <a:stretch>
                  <a:fillRect l="-22609" t="-120000" b="-18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圓角矩形 55">
            <a:extLst>
              <a:ext uri="{FF2B5EF4-FFF2-40B4-BE49-F238E27FC236}">
                <a16:creationId xmlns:a16="http://schemas.microsoft.com/office/drawing/2014/main" id="{0BE1A0E1-3007-B69F-1779-4464AB880CF7}"/>
              </a:ext>
            </a:extLst>
          </p:cNvPr>
          <p:cNvSpPr/>
          <p:nvPr/>
        </p:nvSpPr>
        <p:spPr>
          <a:xfrm>
            <a:off x="7229738" y="4313959"/>
            <a:ext cx="233876" cy="4031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30DE564-DF93-D914-D5BE-46A971B09B91}"/>
                  </a:ext>
                </a:extLst>
              </p:cNvPr>
              <p:cNvSpPr txBox="1"/>
              <p:nvPr/>
            </p:nvSpPr>
            <p:spPr>
              <a:xfrm>
                <a:off x="9380098" y="1474702"/>
                <a:ext cx="2191416" cy="646331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en-US" altLang="zh-TW" dirty="0"/>
                  <a:t>: encoder timestep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TW" dirty="0"/>
                  <a:t>: decoder timestep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30DE564-DF93-D914-D5BE-46A971B09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0098" y="1474702"/>
                <a:ext cx="2191416" cy="646331"/>
              </a:xfrm>
              <a:prstGeom prst="rect">
                <a:avLst/>
              </a:prstGeom>
              <a:blipFill>
                <a:blip r:embed="rId4"/>
                <a:stretch>
                  <a:fillRect t="-3774" b="-11321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線箭頭接點 56">
            <a:extLst>
              <a:ext uri="{FF2B5EF4-FFF2-40B4-BE49-F238E27FC236}">
                <a16:creationId xmlns:a16="http://schemas.microsoft.com/office/drawing/2014/main" id="{2D522D09-C89E-C482-1BE9-4ADA7893BB73}"/>
              </a:ext>
            </a:extLst>
          </p:cNvPr>
          <p:cNvCxnSpPr>
            <a:cxnSpLocks/>
          </p:cNvCxnSpPr>
          <p:nvPr/>
        </p:nvCxnSpPr>
        <p:spPr>
          <a:xfrm>
            <a:off x="7646435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1F4946DA-A13B-D94A-3454-1ADF6A3C7FA7}"/>
              </a:ext>
            </a:extLst>
          </p:cNvPr>
          <p:cNvSpPr txBox="1"/>
          <p:nvPr/>
        </p:nvSpPr>
        <p:spPr>
          <a:xfrm>
            <a:off x="2100046" y="2618149"/>
            <a:ext cx="949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Context vector</a:t>
            </a:r>
            <a:endParaRPr kumimoji="1" lang="zh-TW" altLang="en-US" sz="1400" dirty="0"/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C4FD82FB-83DF-AF11-8E64-F58F691F1FF3}"/>
              </a:ext>
            </a:extLst>
          </p:cNvPr>
          <p:cNvSpPr txBox="1"/>
          <p:nvPr/>
        </p:nvSpPr>
        <p:spPr>
          <a:xfrm>
            <a:off x="6980828" y="2625090"/>
            <a:ext cx="719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want</a:t>
            </a:r>
            <a:endParaRPr kumimoji="1" lang="zh-TW" altLang="en-US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AA8745C3-7ADB-0CB9-53E9-2478BF78BB06}"/>
              </a:ext>
            </a:extLst>
          </p:cNvPr>
          <p:cNvSpPr/>
          <p:nvPr/>
        </p:nvSpPr>
        <p:spPr>
          <a:xfrm>
            <a:off x="7047983" y="3523324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>
                <a:solidFill>
                  <a:schemeClr val="tx1"/>
                </a:solidFill>
              </a:rPr>
              <a:t>Linear</a:t>
            </a:r>
            <a:endParaRPr kumimoji="1" lang="zh-TW" altLang="en-US" sz="1100" dirty="0">
              <a:solidFill>
                <a:schemeClr val="tx1"/>
              </a:solidFill>
            </a:endParaRPr>
          </a:p>
        </p:txBody>
      </p:sp>
      <p:cxnSp>
        <p:nvCxnSpPr>
          <p:cNvPr id="83" name="直線箭頭接點 82">
            <a:extLst>
              <a:ext uri="{FF2B5EF4-FFF2-40B4-BE49-F238E27FC236}">
                <a16:creationId xmlns:a16="http://schemas.microsoft.com/office/drawing/2014/main" id="{8EBAF0EB-C418-367F-13B1-D778D9ED1C17}"/>
              </a:ext>
            </a:extLst>
          </p:cNvPr>
          <p:cNvCxnSpPr>
            <a:cxnSpLocks/>
          </p:cNvCxnSpPr>
          <p:nvPr/>
        </p:nvCxnSpPr>
        <p:spPr>
          <a:xfrm flipV="1">
            <a:off x="7343751" y="312618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箭頭接點 87">
            <a:extLst>
              <a:ext uri="{FF2B5EF4-FFF2-40B4-BE49-F238E27FC236}">
                <a16:creationId xmlns:a16="http://schemas.microsoft.com/office/drawing/2014/main" id="{582DEF64-BDB8-E382-31CA-5B1DC54AC589}"/>
              </a:ext>
            </a:extLst>
          </p:cNvPr>
          <p:cNvCxnSpPr>
            <a:cxnSpLocks/>
          </p:cNvCxnSpPr>
          <p:nvPr/>
        </p:nvCxnSpPr>
        <p:spPr>
          <a:xfrm flipV="1">
            <a:off x="6397832" y="3115478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5D49BACB-88C2-9A7C-B436-F557054B383D}"/>
              </a:ext>
            </a:extLst>
          </p:cNvPr>
          <p:cNvSpPr txBox="1"/>
          <p:nvPr/>
        </p:nvSpPr>
        <p:spPr>
          <a:xfrm>
            <a:off x="6041303" y="2609788"/>
            <a:ext cx="719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4EE61079-2C7E-3FAF-73B7-167E8C73CA22}"/>
              </a:ext>
            </a:extLst>
          </p:cNvPr>
          <p:cNvSpPr/>
          <p:nvPr/>
        </p:nvSpPr>
        <p:spPr>
          <a:xfrm>
            <a:off x="6097363" y="3517941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>
                <a:solidFill>
                  <a:schemeClr val="tx1"/>
                </a:solidFill>
              </a:rPr>
              <a:t>Linear</a:t>
            </a:r>
            <a:endParaRPr kumimoji="1" lang="zh-TW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017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0" grpId="0"/>
      <p:bldP spid="12" grpId="0"/>
      <p:bldP spid="13" grpId="0"/>
      <p:bldP spid="33" grpId="0"/>
      <p:bldP spid="34" grpId="0"/>
      <p:bldP spid="39" grpId="0" animBg="1"/>
      <p:bldP spid="39" grpId="1" animBg="1"/>
      <p:bldP spid="40" grpId="0" animBg="1"/>
      <p:bldP spid="40" grpId="1" animBg="1"/>
      <p:bldP spid="42" grpId="0" animBg="1"/>
      <p:bldP spid="42" grpId="1" animBg="1"/>
      <p:bldP spid="43" grpId="0" animBg="1"/>
      <p:bldP spid="49" grpId="0" animBg="1"/>
      <p:bldP spid="54" grpId="0"/>
      <p:bldP spid="56" grpId="0" animBg="1"/>
      <p:bldP spid="6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C584641-BD80-F9CA-83CC-41AACEC0698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zh-TW" dirty="0"/>
                  <a:t>Additive Attention (</a:t>
                </a:r>
                <a:r>
                  <a:rPr kumimoji="1" lang="zh-TW" altLang="en-US" dirty="0"/>
                  <a:t>算出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zh-TW" dirty="0"/>
                  <a:t>)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C584641-BD80-F9CA-83CC-41AACEC069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555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402B91-725B-F09B-149C-2D5127091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4160188F-F292-5497-7D6A-ADF259571E70}"/>
              </a:ext>
            </a:extLst>
          </p:cNvPr>
          <p:cNvSpPr/>
          <p:nvPr/>
        </p:nvSpPr>
        <p:spPr>
          <a:xfrm rot="5400000">
            <a:off x="1041463" y="406411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6A8CACAB-C745-FEEF-46C7-B6FF01783DD2}"/>
              </a:ext>
            </a:extLst>
          </p:cNvPr>
          <p:cNvCxnSpPr/>
          <p:nvPr/>
        </p:nvCxnSpPr>
        <p:spPr>
          <a:xfrm>
            <a:off x="5632911" y="2553196"/>
            <a:ext cx="0" cy="265890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34FF5907-8500-4607-7644-9C8C19637267}"/>
              </a:ext>
            </a:extLst>
          </p:cNvPr>
          <p:cNvCxnSpPr>
            <a:cxnSpLocks/>
          </p:cNvCxnSpPr>
          <p:nvPr/>
        </p:nvCxnSpPr>
        <p:spPr>
          <a:xfrm flipH="1">
            <a:off x="1503108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圓角矩形 8">
            <a:extLst>
              <a:ext uri="{FF2B5EF4-FFF2-40B4-BE49-F238E27FC236}">
                <a16:creationId xmlns:a16="http://schemas.microsoft.com/office/drawing/2014/main" id="{761388E5-A64C-DA7C-1DEE-95B653C9C054}"/>
              </a:ext>
            </a:extLst>
          </p:cNvPr>
          <p:cNvSpPr/>
          <p:nvPr/>
        </p:nvSpPr>
        <p:spPr>
          <a:xfrm rot="5400000">
            <a:off x="1041463" y="4445564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B1AF4480-58B0-0D69-E0F5-E16A71662E37}"/>
              </a:ext>
            </a:extLst>
          </p:cNvPr>
          <p:cNvCxnSpPr>
            <a:cxnSpLocks/>
          </p:cNvCxnSpPr>
          <p:nvPr/>
        </p:nvCxnSpPr>
        <p:spPr>
          <a:xfrm>
            <a:off x="1524880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86F55B55-06BF-B116-3A8D-290DF67DD59C}"/>
              </a:ext>
            </a:extLst>
          </p:cNvPr>
          <p:cNvCxnSpPr>
            <a:cxnSpLocks/>
          </p:cNvCxnSpPr>
          <p:nvPr/>
        </p:nvCxnSpPr>
        <p:spPr>
          <a:xfrm>
            <a:off x="246797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12B61FE0-0A4B-A172-6D4C-676ED8CFB9A1}"/>
              </a:ext>
            </a:extLst>
          </p:cNvPr>
          <p:cNvCxnSpPr>
            <a:cxnSpLocks/>
          </p:cNvCxnSpPr>
          <p:nvPr/>
        </p:nvCxnSpPr>
        <p:spPr>
          <a:xfrm>
            <a:off x="342618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81325370-F1C2-6A0E-0EDF-6C71A7D562A6}"/>
              </a:ext>
            </a:extLst>
          </p:cNvPr>
          <p:cNvCxnSpPr>
            <a:cxnSpLocks/>
          </p:cNvCxnSpPr>
          <p:nvPr/>
        </p:nvCxnSpPr>
        <p:spPr>
          <a:xfrm>
            <a:off x="441990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A4501734-6243-B8F0-5CB2-93A5866C00DC}"/>
              </a:ext>
            </a:extLst>
          </p:cNvPr>
          <p:cNvCxnSpPr>
            <a:cxnSpLocks/>
          </p:cNvCxnSpPr>
          <p:nvPr/>
        </p:nvCxnSpPr>
        <p:spPr>
          <a:xfrm flipH="1">
            <a:off x="2457088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EB8CD2B7-FC81-7019-FED6-3B4529D4ABC0}"/>
              </a:ext>
            </a:extLst>
          </p:cNvPr>
          <p:cNvCxnSpPr>
            <a:cxnSpLocks/>
          </p:cNvCxnSpPr>
          <p:nvPr/>
        </p:nvCxnSpPr>
        <p:spPr>
          <a:xfrm flipH="1">
            <a:off x="3415531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33EBF5ED-BC4B-5708-5479-8DDD1545DC84}"/>
              </a:ext>
            </a:extLst>
          </p:cNvPr>
          <p:cNvCxnSpPr>
            <a:cxnSpLocks/>
          </p:cNvCxnSpPr>
          <p:nvPr/>
        </p:nvCxnSpPr>
        <p:spPr>
          <a:xfrm flipH="1">
            <a:off x="4398132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DA57FF2-E340-F9F2-2BCB-57717E5CEEB7}"/>
                  </a:ext>
                </a:extLst>
              </p:cNvPr>
              <p:cNvSpPr txBox="1"/>
              <p:nvPr/>
            </p:nvSpPr>
            <p:spPr>
              <a:xfrm>
                <a:off x="543259" y="1378420"/>
                <a:ext cx="1618744" cy="518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;"/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e>
                          <m:groupChr>
                            <m:groupChrPr>
                              <m:chr m:val="←"/>
                              <m:pos m:val="top"/>
                              <m:vertJc m:val="bot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groupCh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DA57FF2-E340-F9F2-2BCB-57717E5CE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59" y="1378420"/>
                <a:ext cx="1618744" cy="5188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0C9D4C69-7780-7B4A-59C5-081A65F827F7}"/>
                  </a:ext>
                </a:extLst>
              </p:cNvPr>
              <p:cNvSpPr txBox="1"/>
              <p:nvPr/>
            </p:nvSpPr>
            <p:spPr>
              <a:xfrm>
                <a:off x="496181" y="4380899"/>
                <a:ext cx="572956" cy="3396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0C9D4C69-7780-7B4A-59C5-081A65F82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81" y="4380899"/>
                <a:ext cx="572956" cy="3396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F9D1530B-0656-35EB-46DD-78B87067120E}"/>
                  </a:ext>
                </a:extLst>
              </p:cNvPr>
              <p:cNvSpPr txBox="1"/>
              <p:nvPr/>
            </p:nvSpPr>
            <p:spPr>
              <a:xfrm>
                <a:off x="494670" y="4012978"/>
                <a:ext cx="572956" cy="3679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←"/>
                          <m:pos m:val="top"/>
                          <m:vertJc m:val="bot"/>
                          <m:ctrlPr>
                            <a:rPr lang="zh-TW" altLang="en-US" sz="14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F9D1530B-0656-35EB-46DD-78B870671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70" y="4012978"/>
                <a:ext cx="572956" cy="3679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圓角矩形 19">
            <a:extLst>
              <a:ext uri="{FF2B5EF4-FFF2-40B4-BE49-F238E27FC236}">
                <a16:creationId xmlns:a16="http://schemas.microsoft.com/office/drawing/2014/main" id="{0BAFF476-B6DE-E959-8C03-18F3B4E1D014}"/>
              </a:ext>
            </a:extLst>
          </p:cNvPr>
          <p:cNvSpPr/>
          <p:nvPr/>
        </p:nvSpPr>
        <p:spPr>
          <a:xfrm rot="5400000">
            <a:off x="2003003" y="4061589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05C575AF-1A68-3363-38D7-15F14E1C3C77}"/>
              </a:ext>
            </a:extLst>
          </p:cNvPr>
          <p:cNvSpPr/>
          <p:nvPr/>
        </p:nvSpPr>
        <p:spPr>
          <a:xfrm rot="5400000">
            <a:off x="2003003" y="4443043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55D24A8C-324A-FB09-FE0B-1AC840B2FD0A}"/>
              </a:ext>
            </a:extLst>
          </p:cNvPr>
          <p:cNvSpPr/>
          <p:nvPr/>
        </p:nvSpPr>
        <p:spPr>
          <a:xfrm rot="5400000">
            <a:off x="2959245" y="4061589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A6D87805-8845-F9EE-4994-192EA17757C4}"/>
              </a:ext>
            </a:extLst>
          </p:cNvPr>
          <p:cNvSpPr/>
          <p:nvPr/>
        </p:nvSpPr>
        <p:spPr>
          <a:xfrm rot="5400000">
            <a:off x="2959245" y="4443043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53D4233B-B646-44DC-9D31-4CE0E9F3E2A2}"/>
              </a:ext>
            </a:extLst>
          </p:cNvPr>
          <p:cNvSpPr/>
          <p:nvPr/>
        </p:nvSpPr>
        <p:spPr>
          <a:xfrm rot="5400000">
            <a:off x="3979527" y="4057806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4BDFD465-BDD9-754F-E27D-059F451415EC}"/>
              </a:ext>
            </a:extLst>
          </p:cNvPr>
          <p:cNvSpPr/>
          <p:nvPr/>
        </p:nvSpPr>
        <p:spPr>
          <a:xfrm rot="5400000">
            <a:off x="3979527" y="443926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A58059DE-C79F-17D4-BDC0-A57225709FBA}"/>
              </a:ext>
            </a:extLst>
          </p:cNvPr>
          <p:cNvSpPr/>
          <p:nvPr/>
        </p:nvSpPr>
        <p:spPr>
          <a:xfrm rot="5400000">
            <a:off x="4949287" y="405696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8F8EB2C4-DAA4-2CCF-3B43-02BC351756FD}"/>
              </a:ext>
            </a:extLst>
          </p:cNvPr>
          <p:cNvSpPr/>
          <p:nvPr/>
        </p:nvSpPr>
        <p:spPr>
          <a:xfrm rot="5400000">
            <a:off x="4949287" y="4438414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85796B9-6FDC-0896-ACC4-73E46B542012}"/>
              </a:ext>
            </a:extLst>
          </p:cNvPr>
          <p:cNvSpPr txBox="1"/>
          <p:nvPr/>
        </p:nvSpPr>
        <p:spPr>
          <a:xfrm>
            <a:off x="1028450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我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2752A774-9A9A-4461-6702-B40CBDE4C938}"/>
              </a:ext>
            </a:extLst>
          </p:cNvPr>
          <p:cNvSpPr txBox="1"/>
          <p:nvPr/>
        </p:nvSpPr>
        <p:spPr>
          <a:xfrm>
            <a:off x="1989990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想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80BC2C9D-D63F-C1DE-95A4-1401743B91F1}"/>
              </a:ext>
            </a:extLst>
          </p:cNvPr>
          <p:cNvSpPr txBox="1"/>
          <p:nvPr/>
        </p:nvSpPr>
        <p:spPr>
          <a:xfrm>
            <a:off x="2946232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要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B60D3F9-CB27-0237-D942-A21EDC30F8C4}"/>
              </a:ext>
            </a:extLst>
          </p:cNvPr>
          <p:cNvSpPr txBox="1"/>
          <p:nvPr/>
        </p:nvSpPr>
        <p:spPr>
          <a:xfrm>
            <a:off x="3966514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放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E169D7F1-87F2-0148-CE64-F972BE5DBF59}"/>
              </a:ext>
            </a:extLst>
          </p:cNvPr>
          <p:cNvSpPr txBox="1"/>
          <p:nvPr/>
        </p:nvSpPr>
        <p:spPr>
          <a:xfrm>
            <a:off x="4936274" y="5843215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假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B0C5A40-7E88-C0D6-144F-F349FA2E84C4}"/>
              </a:ext>
            </a:extLst>
          </p:cNvPr>
          <p:cNvSpPr/>
          <p:nvPr/>
        </p:nvSpPr>
        <p:spPr>
          <a:xfrm>
            <a:off x="911313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491C181-D903-35F9-5C27-4B759589B64E}"/>
              </a:ext>
            </a:extLst>
          </p:cNvPr>
          <p:cNvSpPr/>
          <p:nvPr/>
        </p:nvSpPr>
        <p:spPr>
          <a:xfrm>
            <a:off x="1901622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DC37359-2E08-A534-EAE5-D03E9DD24399}"/>
              </a:ext>
            </a:extLst>
          </p:cNvPr>
          <p:cNvSpPr/>
          <p:nvPr/>
        </p:nvSpPr>
        <p:spPr>
          <a:xfrm>
            <a:off x="2850931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A5C7F4E-AC3B-9D3C-8C46-75908B7322AC}"/>
              </a:ext>
            </a:extLst>
          </p:cNvPr>
          <p:cNvSpPr/>
          <p:nvPr/>
        </p:nvSpPr>
        <p:spPr>
          <a:xfrm>
            <a:off x="3878145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B50FBF0-53DF-35FD-16FA-3AF25F50AB18}"/>
              </a:ext>
            </a:extLst>
          </p:cNvPr>
          <p:cNvSpPr/>
          <p:nvPr/>
        </p:nvSpPr>
        <p:spPr>
          <a:xfrm>
            <a:off x="4847905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B4C9BE52-5A2E-B362-92C7-6EEC73F0148B}"/>
              </a:ext>
            </a:extLst>
          </p:cNvPr>
          <p:cNvCxnSpPr>
            <a:cxnSpLocks/>
          </p:cNvCxnSpPr>
          <p:nvPr/>
        </p:nvCxnSpPr>
        <p:spPr>
          <a:xfrm flipV="1">
            <a:off x="1216822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7CD3A666-EEE7-1195-81D1-E76129C45EE0}"/>
              </a:ext>
            </a:extLst>
          </p:cNvPr>
          <p:cNvCxnSpPr>
            <a:cxnSpLocks/>
          </p:cNvCxnSpPr>
          <p:nvPr/>
        </p:nvCxnSpPr>
        <p:spPr>
          <a:xfrm flipV="1">
            <a:off x="1227708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ADFEB274-BAEA-6610-16BB-E7F34B8940A3}"/>
              </a:ext>
            </a:extLst>
          </p:cNvPr>
          <p:cNvCxnSpPr>
            <a:cxnSpLocks/>
          </p:cNvCxnSpPr>
          <p:nvPr/>
        </p:nvCxnSpPr>
        <p:spPr>
          <a:xfrm flipV="1">
            <a:off x="2189248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F12D39EA-5833-2E4A-BA97-928F36B678FD}"/>
              </a:ext>
            </a:extLst>
          </p:cNvPr>
          <p:cNvCxnSpPr>
            <a:cxnSpLocks/>
          </p:cNvCxnSpPr>
          <p:nvPr/>
        </p:nvCxnSpPr>
        <p:spPr>
          <a:xfrm flipV="1">
            <a:off x="2189248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81D69136-14A4-CBCD-1B38-58FDBFA9154A}"/>
              </a:ext>
            </a:extLst>
          </p:cNvPr>
          <p:cNvCxnSpPr>
            <a:cxnSpLocks/>
          </p:cNvCxnSpPr>
          <p:nvPr/>
        </p:nvCxnSpPr>
        <p:spPr>
          <a:xfrm flipV="1">
            <a:off x="3150664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箭頭接點 42">
            <a:extLst>
              <a:ext uri="{FF2B5EF4-FFF2-40B4-BE49-F238E27FC236}">
                <a16:creationId xmlns:a16="http://schemas.microsoft.com/office/drawing/2014/main" id="{0DBB2D0C-DE9C-BE9A-C540-FFA0472556AC}"/>
              </a:ext>
            </a:extLst>
          </p:cNvPr>
          <p:cNvCxnSpPr>
            <a:cxnSpLocks/>
          </p:cNvCxnSpPr>
          <p:nvPr/>
        </p:nvCxnSpPr>
        <p:spPr>
          <a:xfrm flipV="1">
            <a:off x="3150664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箭頭接點 43">
            <a:extLst>
              <a:ext uri="{FF2B5EF4-FFF2-40B4-BE49-F238E27FC236}">
                <a16:creationId xmlns:a16="http://schemas.microsoft.com/office/drawing/2014/main" id="{3CD720BD-C643-41B2-6C06-348ED0771128}"/>
              </a:ext>
            </a:extLst>
          </p:cNvPr>
          <p:cNvCxnSpPr>
            <a:cxnSpLocks/>
          </p:cNvCxnSpPr>
          <p:nvPr/>
        </p:nvCxnSpPr>
        <p:spPr>
          <a:xfrm flipV="1">
            <a:off x="4165771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92C1E55C-8074-7405-ED37-EC68A6330447}"/>
              </a:ext>
            </a:extLst>
          </p:cNvPr>
          <p:cNvCxnSpPr>
            <a:cxnSpLocks/>
          </p:cNvCxnSpPr>
          <p:nvPr/>
        </p:nvCxnSpPr>
        <p:spPr>
          <a:xfrm flipV="1">
            <a:off x="416577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箭頭接點 45">
            <a:extLst>
              <a:ext uri="{FF2B5EF4-FFF2-40B4-BE49-F238E27FC236}">
                <a16:creationId xmlns:a16="http://schemas.microsoft.com/office/drawing/2014/main" id="{1414E01D-E91D-AD55-13BD-FECD0B5C8F7E}"/>
              </a:ext>
            </a:extLst>
          </p:cNvPr>
          <p:cNvCxnSpPr>
            <a:cxnSpLocks/>
          </p:cNvCxnSpPr>
          <p:nvPr/>
        </p:nvCxnSpPr>
        <p:spPr>
          <a:xfrm flipV="1">
            <a:off x="5135531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箭頭接點 46">
            <a:extLst>
              <a:ext uri="{FF2B5EF4-FFF2-40B4-BE49-F238E27FC236}">
                <a16:creationId xmlns:a16="http://schemas.microsoft.com/office/drawing/2014/main" id="{289DCFAD-61DB-7E78-FE77-31AE084D8506}"/>
              </a:ext>
            </a:extLst>
          </p:cNvPr>
          <p:cNvCxnSpPr>
            <a:cxnSpLocks/>
          </p:cNvCxnSpPr>
          <p:nvPr/>
        </p:nvCxnSpPr>
        <p:spPr>
          <a:xfrm flipV="1">
            <a:off x="513553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箭頭接點 50">
            <a:extLst>
              <a:ext uri="{FF2B5EF4-FFF2-40B4-BE49-F238E27FC236}">
                <a16:creationId xmlns:a16="http://schemas.microsoft.com/office/drawing/2014/main" id="{04703463-37B5-C5D8-377A-FFC3C386B15E}"/>
              </a:ext>
            </a:extLst>
          </p:cNvPr>
          <p:cNvCxnSpPr>
            <a:cxnSpLocks/>
          </p:cNvCxnSpPr>
          <p:nvPr/>
        </p:nvCxnSpPr>
        <p:spPr>
          <a:xfrm>
            <a:off x="153035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箭頭接點 51">
            <a:extLst>
              <a:ext uri="{FF2B5EF4-FFF2-40B4-BE49-F238E27FC236}">
                <a16:creationId xmlns:a16="http://schemas.microsoft.com/office/drawing/2014/main" id="{C0E375EA-3782-0354-9251-23A0A909ECCC}"/>
              </a:ext>
            </a:extLst>
          </p:cNvPr>
          <p:cNvCxnSpPr>
            <a:cxnSpLocks/>
          </p:cNvCxnSpPr>
          <p:nvPr/>
        </p:nvCxnSpPr>
        <p:spPr>
          <a:xfrm>
            <a:off x="2495216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箭頭接點 52">
            <a:extLst>
              <a:ext uri="{FF2B5EF4-FFF2-40B4-BE49-F238E27FC236}">
                <a16:creationId xmlns:a16="http://schemas.microsoft.com/office/drawing/2014/main" id="{1997E9F8-45F4-1D8D-3221-3A1C7E25F0AB}"/>
              </a:ext>
            </a:extLst>
          </p:cNvPr>
          <p:cNvCxnSpPr>
            <a:cxnSpLocks/>
          </p:cNvCxnSpPr>
          <p:nvPr/>
        </p:nvCxnSpPr>
        <p:spPr>
          <a:xfrm>
            <a:off x="348067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箭頭接點 53">
            <a:extLst>
              <a:ext uri="{FF2B5EF4-FFF2-40B4-BE49-F238E27FC236}">
                <a16:creationId xmlns:a16="http://schemas.microsoft.com/office/drawing/2014/main" id="{C46A1E60-0DD8-1066-55CE-EC90BD66FEA3}"/>
              </a:ext>
            </a:extLst>
          </p:cNvPr>
          <p:cNvCxnSpPr>
            <a:cxnSpLocks/>
          </p:cNvCxnSpPr>
          <p:nvPr/>
        </p:nvCxnSpPr>
        <p:spPr>
          <a:xfrm>
            <a:off x="449299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圓角矩形 67">
            <a:extLst>
              <a:ext uri="{FF2B5EF4-FFF2-40B4-BE49-F238E27FC236}">
                <a16:creationId xmlns:a16="http://schemas.microsoft.com/office/drawing/2014/main" id="{4770452D-76D8-2196-67DC-873E2201A4A5}"/>
              </a:ext>
            </a:extLst>
          </p:cNvPr>
          <p:cNvSpPr/>
          <p:nvPr/>
        </p:nvSpPr>
        <p:spPr>
          <a:xfrm>
            <a:off x="1052704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15FFC6FE-A52E-BEF4-1F18-46034DF1B564}"/>
                  </a:ext>
                </a:extLst>
              </p:cNvPr>
              <p:cNvSpPr txBox="1"/>
              <p:nvPr/>
            </p:nvSpPr>
            <p:spPr>
              <a:xfrm>
                <a:off x="949631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15FFC6FE-A52E-BEF4-1F18-46034DF1B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631" y="3265111"/>
                <a:ext cx="575249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54BC0B7A-3075-0B8E-F135-F48EBA5BD6AA}"/>
                  </a:ext>
                </a:extLst>
              </p:cNvPr>
              <p:cNvSpPr txBox="1"/>
              <p:nvPr/>
            </p:nvSpPr>
            <p:spPr>
              <a:xfrm>
                <a:off x="1874379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54BC0B7A-3075-0B8E-F135-F48EBA5BD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379" y="3265111"/>
                <a:ext cx="575249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A140905E-D9C8-3D56-03F1-2C7C2992A665}"/>
                  </a:ext>
                </a:extLst>
              </p:cNvPr>
              <p:cNvSpPr txBox="1"/>
              <p:nvPr/>
            </p:nvSpPr>
            <p:spPr>
              <a:xfrm>
                <a:off x="2841162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A140905E-D9C8-3D56-03F1-2C7C2992A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162" y="3265111"/>
                <a:ext cx="575249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C84F1FF7-1C2C-EACC-313B-82E8195D1701}"/>
                  </a:ext>
                </a:extLst>
              </p:cNvPr>
              <p:cNvSpPr txBox="1"/>
              <p:nvPr/>
            </p:nvSpPr>
            <p:spPr>
              <a:xfrm>
                <a:off x="3865939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34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C84F1FF7-1C2C-EACC-313B-82E8195D1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939" y="3265111"/>
                <a:ext cx="57524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A6C51F4-3DFA-314F-C100-8F655334C64E}"/>
                  </a:ext>
                </a:extLst>
              </p:cNvPr>
              <p:cNvSpPr txBox="1"/>
              <p:nvPr/>
            </p:nvSpPr>
            <p:spPr>
              <a:xfrm>
                <a:off x="4847905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A6C51F4-3DFA-314F-C100-8F655334C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05" y="3265111"/>
                <a:ext cx="575249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圓角矩形 73">
            <a:extLst>
              <a:ext uri="{FF2B5EF4-FFF2-40B4-BE49-F238E27FC236}">
                <a16:creationId xmlns:a16="http://schemas.microsoft.com/office/drawing/2014/main" id="{4A08F483-5EA2-A994-0E1C-226345FAE2AB}"/>
              </a:ext>
            </a:extLst>
          </p:cNvPr>
          <p:cNvSpPr/>
          <p:nvPr/>
        </p:nvSpPr>
        <p:spPr>
          <a:xfrm>
            <a:off x="2020773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5" name="圓角矩形 74">
            <a:extLst>
              <a:ext uri="{FF2B5EF4-FFF2-40B4-BE49-F238E27FC236}">
                <a16:creationId xmlns:a16="http://schemas.microsoft.com/office/drawing/2014/main" id="{61A6027D-9418-4A29-45A7-6889C95C52CF}"/>
              </a:ext>
            </a:extLst>
          </p:cNvPr>
          <p:cNvSpPr/>
          <p:nvPr/>
        </p:nvSpPr>
        <p:spPr>
          <a:xfrm>
            <a:off x="2968706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6" name="圓角矩形 75">
            <a:extLst>
              <a:ext uri="{FF2B5EF4-FFF2-40B4-BE49-F238E27FC236}">
                <a16:creationId xmlns:a16="http://schemas.microsoft.com/office/drawing/2014/main" id="{B91E278D-D65B-8108-9DDE-563B553D2F19}"/>
              </a:ext>
            </a:extLst>
          </p:cNvPr>
          <p:cNvSpPr/>
          <p:nvPr/>
        </p:nvSpPr>
        <p:spPr>
          <a:xfrm>
            <a:off x="3990149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7" name="圓角矩形 76">
            <a:extLst>
              <a:ext uri="{FF2B5EF4-FFF2-40B4-BE49-F238E27FC236}">
                <a16:creationId xmlns:a16="http://schemas.microsoft.com/office/drawing/2014/main" id="{AF9EC357-327F-1F6E-EE57-B8F4D9BD59F6}"/>
              </a:ext>
            </a:extLst>
          </p:cNvPr>
          <p:cNvSpPr/>
          <p:nvPr/>
        </p:nvSpPr>
        <p:spPr>
          <a:xfrm>
            <a:off x="4971597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8" name="圓角矩形 77">
            <a:extLst>
              <a:ext uri="{FF2B5EF4-FFF2-40B4-BE49-F238E27FC236}">
                <a16:creationId xmlns:a16="http://schemas.microsoft.com/office/drawing/2014/main" id="{697875B0-2A3D-072B-0602-61809FCD37FB}"/>
              </a:ext>
            </a:extLst>
          </p:cNvPr>
          <p:cNvSpPr/>
          <p:nvPr/>
        </p:nvSpPr>
        <p:spPr>
          <a:xfrm>
            <a:off x="3024614" y="2596981"/>
            <a:ext cx="249382" cy="53439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AD96DF43-5D80-FEE5-1165-12AE46B86302}"/>
              </a:ext>
            </a:extLst>
          </p:cNvPr>
          <p:cNvSpPr txBox="1"/>
          <p:nvPr/>
        </p:nvSpPr>
        <p:spPr>
          <a:xfrm>
            <a:off x="2100046" y="2622124"/>
            <a:ext cx="949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Context vector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2834D78-CD22-4BA4-1C85-44CE3A9DF328}"/>
                  </a:ext>
                </a:extLst>
              </p:cNvPr>
              <p:cNvSpPr txBox="1"/>
              <p:nvPr/>
            </p:nvSpPr>
            <p:spPr>
              <a:xfrm>
                <a:off x="2315189" y="1717555"/>
                <a:ext cx="1443729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TW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2834D78-CD22-4BA4-1C85-44CE3A9DF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189" y="1717555"/>
                <a:ext cx="1443729" cy="756233"/>
              </a:xfrm>
              <a:prstGeom prst="rect">
                <a:avLst/>
              </a:prstGeom>
              <a:blipFill>
                <a:blip r:embed="rId12"/>
                <a:stretch>
                  <a:fillRect l="-22609" t="-120000" b="-18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943939FD-3D1F-EF81-C93D-403E6E09EE10}"/>
                  </a:ext>
                </a:extLst>
              </p:cNvPr>
              <p:cNvSpPr txBox="1"/>
              <p:nvPr/>
            </p:nvSpPr>
            <p:spPr>
              <a:xfrm>
                <a:off x="7818449" y="2464892"/>
                <a:ext cx="420446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TW" dirty="0">
                    <a:latin typeface="Cambria Math" panose="02040503050406030204" pitchFamily="18" charset="0"/>
                  </a:rPr>
                  <a:t>Given </a:t>
                </a:r>
                <a:r>
                  <a:rPr lang="en-US" altLang="zh-TW" dirty="0" err="1">
                    <a:latin typeface="Cambria Math" panose="02040503050406030204" pitchFamily="18" charset="0"/>
                  </a:rPr>
                  <a:t>i</a:t>
                </a:r>
                <a:r>
                  <a:rPr lang="en-US" altLang="zh-TW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zh-TW" altLang="zh-TW" dirty="0">
                    <a:effectLst/>
                  </a:rPr>
                  <a:t> </a:t>
                </a:r>
                <a:r>
                  <a:rPr lang="en-US" altLang="zh-TW" dirty="0">
                    <a:latin typeface="Cambria Math" panose="02040503050406030204" pitchFamily="18" charset="0"/>
                  </a:rPr>
                  <a:t>{1, ..., n},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oftmax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180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altLang="zh-TW" sz="1800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altLang="zh-TW" sz="180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800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  <m:sSub>
                                <m:sSubPr>
                                  <m:ctrlPr>
                                    <a:rPr lang="zh-TW" altLang="zh-TW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TW" sz="1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TW" sz="1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zh-TW" sz="1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TW" sz="1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  <m:sSub>
                                <m:sSubPr>
                                  <m:ctrlPr>
                                    <a:rPr lang="zh-TW" altLang="zh-TW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sz="1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TW" sz="1800" b="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943939FD-3D1F-EF81-C93D-403E6E09E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449" y="2464892"/>
                <a:ext cx="4204465" cy="1200329"/>
              </a:xfrm>
              <a:prstGeom prst="rect">
                <a:avLst/>
              </a:prstGeom>
              <a:blipFill>
                <a:blip r:embed="rId13"/>
                <a:stretch>
                  <a:fillRect l="-12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D0ADAAD-A404-FD88-AB2A-3C821615D782}"/>
                  </a:ext>
                </a:extLst>
              </p:cNvPr>
              <p:cNvSpPr txBox="1"/>
              <p:nvPr/>
            </p:nvSpPr>
            <p:spPr>
              <a:xfrm>
                <a:off x="9380098" y="1474702"/>
                <a:ext cx="2191416" cy="646331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en-US" altLang="zh-TW" dirty="0"/>
                  <a:t>: encoder timestep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TW" dirty="0"/>
                  <a:t>: decoder timestep</a:t>
                </a: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D0ADAAD-A404-FD88-AB2A-3C821615D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0098" y="1474702"/>
                <a:ext cx="2191416" cy="646331"/>
              </a:xfrm>
              <a:prstGeom prst="rect">
                <a:avLst/>
              </a:prstGeom>
              <a:blipFill>
                <a:blip r:embed="rId14"/>
                <a:stretch>
                  <a:fillRect t="-3774" b="-11321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文字方塊 81">
            <a:extLst>
              <a:ext uri="{FF2B5EF4-FFF2-40B4-BE49-F238E27FC236}">
                <a16:creationId xmlns:a16="http://schemas.microsoft.com/office/drawing/2014/main" id="{590B4992-B3A8-AF96-318A-9467CFCD12B9}"/>
              </a:ext>
            </a:extLst>
          </p:cNvPr>
          <p:cNvSpPr txBox="1"/>
          <p:nvPr/>
        </p:nvSpPr>
        <p:spPr>
          <a:xfrm>
            <a:off x="6182953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_</a:t>
            </a:r>
            <a:endParaRPr kumimoji="1" lang="zh-TW" altLang="en-US" dirty="0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3CCA7AB-C2D5-8A2D-D22D-FDAA33E61DEB}"/>
              </a:ext>
            </a:extLst>
          </p:cNvPr>
          <p:cNvSpPr/>
          <p:nvPr/>
        </p:nvSpPr>
        <p:spPr>
          <a:xfrm>
            <a:off x="6065816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86" name="直線箭頭接點 85">
            <a:extLst>
              <a:ext uri="{FF2B5EF4-FFF2-40B4-BE49-F238E27FC236}">
                <a16:creationId xmlns:a16="http://schemas.microsoft.com/office/drawing/2014/main" id="{B6462883-F7DA-E7FE-EC80-5AED967F5B3C}"/>
              </a:ext>
            </a:extLst>
          </p:cNvPr>
          <p:cNvCxnSpPr>
            <a:cxnSpLocks/>
          </p:cNvCxnSpPr>
          <p:nvPr/>
        </p:nvCxnSpPr>
        <p:spPr>
          <a:xfrm flipV="1">
            <a:off x="6371325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B075E4F0-ABE3-2EB0-C7DB-AC7B8679EA9B}"/>
              </a:ext>
            </a:extLst>
          </p:cNvPr>
          <p:cNvGrpSpPr/>
          <p:nvPr/>
        </p:nvGrpSpPr>
        <p:grpSpPr>
          <a:xfrm>
            <a:off x="6681569" y="5134787"/>
            <a:ext cx="1019335" cy="1111138"/>
            <a:chOff x="6681569" y="5134787"/>
            <a:chExt cx="1019335" cy="1111138"/>
          </a:xfrm>
        </p:grpSpPr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id="{F2FFC009-1F3F-5286-A1B0-80ED47045075}"/>
                </a:ext>
              </a:extLst>
            </p:cNvPr>
            <p:cNvSpPr txBox="1"/>
            <p:nvPr/>
          </p:nvSpPr>
          <p:spPr>
            <a:xfrm>
              <a:off x="6981299" y="5876593"/>
              <a:ext cx="7196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I</a:t>
              </a:r>
              <a:endParaRPr kumimoji="1" lang="zh-TW" altLang="en-US" dirty="0"/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33533553-0283-00AC-04CA-6939E7F5E8F7}"/>
                </a:ext>
              </a:extLst>
            </p:cNvPr>
            <p:cNvSpPr/>
            <p:nvPr/>
          </p:nvSpPr>
          <p:spPr>
            <a:xfrm>
              <a:off x="7056125" y="5134787"/>
              <a:ext cx="575253" cy="3798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RNN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90" name="直線箭頭接點 89">
              <a:extLst>
                <a:ext uri="{FF2B5EF4-FFF2-40B4-BE49-F238E27FC236}">
                  <a16:creationId xmlns:a16="http://schemas.microsoft.com/office/drawing/2014/main" id="{4431D8D3-6EEA-2FF1-E7C0-2D60100DC0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3751" y="5607843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箭頭接點 90">
              <a:extLst>
                <a:ext uri="{FF2B5EF4-FFF2-40B4-BE49-F238E27FC236}">
                  <a16:creationId xmlns:a16="http://schemas.microsoft.com/office/drawing/2014/main" id="{7A9C0E7B-865D-182B-7788-A1CECAE9D8B0}"/>
                </a:ext>
              </a:extLst>
            </p:cNvPr>
            <p:cNvCxnSpPr>
              <a:cxnSpLocks/>
            </p:cNvCxnSpPr>
            <p:nvPr/>
          </p:nvCxnSpPr>
          <p:spPr>
            <a:xfrm>
              <a:off x="6681569" y="5324624"/>
              <a:ext cx="34402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2" name="直線箭頭接點 91">
            <a:extLst>
              <a:ext uri="{FF2B5EF4-FFF2-40B4-BE49-F238E27FC236}">
                <a16:creationId xmlns:a16="http://schemas.microsoft.com/office/drawing/2014/main" id="{04F2E73F-98AF-F213-1CFF-F1520CE0C7FB}"/>
              </a:ext>
            </a:extLst>
          </p:cNvPr>
          <p:cNvCxnSpPr>
            <a:cxnSpLocks/>
          </p:cNvCxnSpPr>
          <p:nvPr/>
        </p:nvCxnSpPr>
        <p:spPr>
          <a:xfrm flipV="1">
            <a:off x="638221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圓角矩形 92">
            <a:extLst>
              <a:ext uri="{FF2B5EF4-FFF2-40B4-BE49-F238E27FC236}">
                <a16:creationId xmlns:a16="http://schemas.microsoft.com/office/drawing/2014/main" id="{634C2E98-31E6-5E37-BB02-FC5BA6C08660}"/>
              </a:ext>
            </a:extLst>
          </p:cNvPr>
          <p:cNvSpPr/>
          <p:nvPr/>
        </p:nvSpPr>
        <p:spPr>
          <a:xfrm rot="16200000">
            <a:off x="6192813" y="4419031"/>
            <a:ext cx="372490" cy="205528"/>
          </a:xfrm>
          <a:prstGeom prst="roundRect">
            <a:avLst/>
          </a:prstGeom>
          <a:solidFill>
            <a:srgbClr val="C6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94" name="直線箭頭接點 93">
            <a:extLst>
              <a:ext uri="{FF2B5EF4-FFF2-40B4-BE49-F238E27FC236}">
                <a16:creationId xmlns:a16="http://schemas.microsoft.com/office/drawing/2014/main" id="{102E44D5-2487-FC06-9E31-711E3C020344}"/>
              </a:ext>
            </a:extLst>
          </p:cNvPr>
          <p:cNvCxnSpPr>
            <a:cxnSpLocks/>
          </p:cNvCxnSpPr>
          <p:nvPr/>
        </p:nvCxnSpPr>
        <p:spPr>
          <a:xfrm flipV="1">
            <a:off x="6382211" y="4012978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8DBE2B8E-4926-162F-6171-279E9FD9803D}"/>
                  </a:ext>
                </a:extLst>
              </p:cNvPr>
              <p:cNvSpPr txBox="1"/>
              <p:nvPr/>
            </p:nvSpPr>
            <p:spPr>
              <a:xfrm>
                <a:off x="6117565" y="4315478"/>
                <a:ext cx="5413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8DBE2B8E-4926-162F-6171-279E9FD98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565" y="4315478"/>
                <a:ext cx="54131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直線箭頭接點 95">
            <a:extLst>
              <a:ext uri="{FF2B5EF4-FFF2-40B4-BE49-F238E27FC236}">
                <a16:creationId xmlns:a16="http://schemas.microsoft.com/office/drawing/2014/main" id="{F602A087-B34A-95B1-A23F-2A7460E592A9}"/>
              </a:ext>
            </a:extLst>
          </p:cNvPr>
          <p:cNvCxnSpPr>
            <a:cxnSpLocks/>
          </p:cNvCxnSpPr>
          <p:nvPr/>
        </p:nvCxnSpPr>
        <p:spPr>
          <a:xfrm flipV="1">
            <a:off x="734375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圓角矩形 96">
            <a:extLst>
              <a:ext uri="{FF2B5EF4-FFF2-40B4-BE49-F238E27FC236}">
                <a16:creationId xmlns:a16="http://schemas.microsoft.com/office/drawing/2014/main" id="{63DB67C7-B024-5596-18DD-990E4C636040}"/>
              </a:ext>
            </a:extLst>
          </p:cNvPr>
          <p:cNvSpPr/>
          <p:nvPr/>
        </p:nvSpPr>
        <p:spPr>
          <a:xfrm rot="16200000">
            <a:off x="7153651" y="4419031"/>
            <a:ext cx="372490" cy="205528"/>
          </a:xfrm>
          <a:prstGeom prst="roundRect">
            <a:avLst/>
          </a:prstGeom>
          <a:solidFill>
            <a:srgbClr val="C6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98" name="直線箭頭接點 97">
            <a:extLst>
              <a:ext uri="{FF2B5EF4-FFF2-40B4-BE49-F238E27FC236}">
                <a16:creationId xmlns:a16="http://schemas.microsoft.com/office/drawing/2014/main" id="{70BCEA1D-A887-B807-D9F7-F06756CD6A9A}"/>
              </a:ext>
            </a:extLst>
          </p:cNvPr>
          <p:cNvCxnSpPr>
            <a:cxnSpLocks/>
          </p:cNvCxnSpPr>
          <p:nvPr/>
        </p:nvCxnSpPr>
        <p:spPr>
          <a:xfrm flipV="1">
            <a:off x="7343118" y="400838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A4E7F70A-20A0-2333-9DED-DC212AD99954}"/>
                  </a:ext>
                </a:extLst>
              </p:cNvPr>
              <p:cNvSpPr txBox="1"/>
              <p:nvPr/>
            </p:nvSpPr>
            <p:spPr>
              <a:xfrm>
                <a:off x="7076020" y="4335549"/>
                <a:ext cx="5413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A4E7F70A-20A0-2333-9DED-DC212AD99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020" y="4335549"/>
                <a:ext cx="541313" cy="369332"/>
              </a:xfrm>
              <a:prstGeom prst="rect">
                <a:avLst/>
              </a:prstGeom>
              <a:blipFill>
                <a:blip r:embed="rId16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圓角矩形 99">
            <a:extLst>
              <a:ext uri="{FF2B5EF4-FFF2-40B4-BE49-F238E27FC236}">
                <a16:creationId xmlns:a16="http://schemas.microsoft.com/office/drawing/2014/main" id="{2D8E558C-2C81-9184-A0DB-585475C529E0}"/>
              </a:ext>
            </a:extLst>
          </p:cNvPr>
          <p:cNvSpPr/>
          <p:nvPr/>
        </p:nvSpPr>
        <p:spPr>
          <a:xfrm>
            <a:off x="7229738" y="4313959"/>
            <a:ext cx="233876" cy="4031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1" name="直線箭頭接點 100">
            <a:extLst>
              <a:ext uri="{FF2B5EF4-FFF2-40B4-BE49-F238E27FC236}">
                <a16:creationId xmlns:a16="http://schemas.microsoft.com/office/drawing/2014/main" id="{F93632BC-8465-2C02-6BF4-DEF3424389FC}"/>
              </a:ext>
            </a:extLst>
          </p:cNvPr>
          <p:cNvCxnSpPr>
            <a:cxnSpLocks/>
          </p:cNvCxnSpPr>
          <p:nvPr/>
        </p:nvCxnSpPr>
        <p:spPr>
          <a:xfrm>
            <a:off x="7646435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37B2763F-70D5-472D-8930-B08C2AFBC1C9}"/>
              </a:ext>
            </a:extLst>
          </p:cNvPr>
          <p:cNvSpPr txBox="1"/>
          <p:nvPr/>
        </p:nvSpPr>
        <p:spPr>
          <a:xfrm>
            <a:off x="6980828" y="2625090"/>
            <a:ext cx="719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want</a:t>
            </a:r>
            <a:endParaRPr kumimoji="1" lang="zh-TW" altLang="en-US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4509A95-088F-B531-0F1F-15E466564546}"/>
              </a:ext>
            </a:extLst>
          </p:cNvPr>
          <p:cNvSpPr/>
          <p:nvPr/>
        </p:nvSpPr>
        <p:spPr>
          <a:xfrm>
            <a:off x="7047983" y="3523324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>
                <a:solidFill>
                  <a:schemeClr val="tx1"/>
                </a:solidFill>
              </a:rPr>
              <a:t>Linear</a:t>
            </a:r>
            <a:endParaRPr kumimoji="1" lang="zh-TW" altLang="en-US" sz="1100" dirty="0">
              <a:solidFill>
                <a:schemeClr val="tx1"/>
              </a:solidFill>
            </a:endParaRPr>
          </a:p>
        </p:txBody>
      </p:sp>
      <p:cxnSp>
        <p:nvCxnSpPr>
          <p:cNvPr id="104" name="直線箭頭接點 103">
            <a:extLst>
              <a:ext uri="{FF2B5EF4-FFF2-40B4-BE49-F238E27FC236}">
                <a16:creationId xmlns:a16="http://schemas.microsoft.com/office/drawing/2014/main" id="{4F3DCE39-8D78-BE78-0D86-833EE03F67DD}"/>
              </a:ext>
            </a:extLst>
          </p:cNvPr>
          <p:cNvCxnSpPr>
            <a:cxnSpLocks/>
          </p:cNvCxnSpPr>
          <p:nvPr/>
        </p:nvCxnSpPr>
        <p:spPr>
          <a:xfrm flipV="1">
            <a:off x="7343751" y="312618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箭頭接點 104">
            <a:extLst>
              <a:ext uri="{FF2B5EF4-FFF2-40B4-BE49-F238E27FC236}">
                <a16:creationId xmlns:a16="http://schemas.microsoft.com/office/drawing/2014/main" id="{11FC7235-7A9F-BF2A-2D3B-3F7D8026C472}"/>
              </a:ext>
            </a:extLst>
          </p:cNvPr>
          <p:cNvCxnSpPr>
            <a:cxnSpLocks/>
          </p:cNvCxnSpPr>
          <p:nvPr/>
        </p:nvCxnSpPr>
        <p:spPr>
          <a:xfrm flipV="1">
            <a:off x="6397832" y="3115478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D89954EB-074F-90B0-4B67-ED1EAE9243A6}"/>
              </a:ext>
            </a:extLst>
          </p:cNvPr>
          <p:cNvSpPr txBox="1"/>
          <p:nvPr/>
        </p:nvSpPr>
        <p:spPr>
          <a:xfrm>
            <a:off x="6041303" y="2609788"/>
            <a:ext cx="719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72A4A1D-795F-F1FC-270D-C76C5398DE77}"/>
              </a:ext>
            </a:extLst>
          </p:cNvPr>
          <p:cNvSpPr/>
          <p:nvPr/>
        </p:nvSpPr>
        <p:spPr>
          <a:xfrm>
            <a:off x="6097363" y="3517941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>
                <a:solidFill>
                  <a:schemeClr val="tx1"/>
                </a:solidFill>
              </a:rPr>
              <a:t>Linear</a:t>
            </a:r>
            <a:endParaRPr kumimoji="1" lang="zh-TW" altLang="en-US" sz="1100" dirty="0">
              <a:solidFill>
                <a:schemeClr val="tx1"/>
              </a:solidFill>
            </a:endParaRPr>
          </a:p>
        </p:txBody>
      </p:sp>
      <p:cxnSp>
        <p:nvCxnSpPr>
          <p:cNvPr id="113" name="直線接點 112">
            <a:extLst>
              <a:ext uri="{FF2B5EF4-FFF2-40B4-BE49-F238E27FC236}">
                <a16:creationId xmlns:a16="http://schemas.microsoft.com/office/drawing/2014/main" id="{1E610C6A-BC0D-6DA5-0C43-DE1A2C3C7C59}"/>
              </a:ext>
            </a:extLst>
          </p:cNvPr>
          <p:cNvCxnSpPr>
            <a:cxnSpLocks/>
          </p:cNvCxnSpPr>
          <p:nvPr/>
        </p:nvCxnSpPr>
        <p:spPr>
          <a:xfrm>
            <a:off x="9849678" y="3597535"/>
            <a:ext cx="173177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46800E0B-440B-673F-6993-4F3D59588FBB}"/>
              </a:ext>
            </a:extLst>
          </p:cNvPr>
          <p:cNvSpPr txBox="1"/>
          <p:nvPr/>
        </p:nvSpPr>
        <p:spPr>
          <a:xfrm>
            <a:off x="10106728" y="3665221"/>
            <a:ext cx="1250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Additive Attention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A6AE8083-31E8-1924-F72F-4E60A32C1ECD}"/>
              </a:ext>
            </a:extLst>
          </p:cNvPr>
          <p:cNvSpPr txBox="1"/>
          <p:nvPr/>
        </p:nvSpPr>
        <p:spPr>
          <a:xfrm>
            <a:off x="8964764" y="4347181"/>
            <a:ext cx="1250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00B050"/>
                </a:solidFill>
              </a:rPr>
              <a:t>轉為</a:t>
            </a:r>
            <a:r>
              <a:rPr kumimoji="1" lang="en-US" altLang="zh-TW" dirty="0">
                <a:solidFill>
                  <a:srgbClr val="00B050"/>
                </a:solidFill>
              </a:rPr>
              <a:t>1</a:t>
            </a:r>
            <a:r>
              <a:rPr kumimoji="1" lang="zh-TW" altLang="en-US" dirty="0">
                <a:solidFill>
                  <a:srgbClr val="00B050"/>
                </a:solidFill>
              </a:rPr>
              <a:t>個</a:t>
            </a:r>
            <a:endParaRPr kumimoji="1" lang="en-US" altLang="zh-TW" dirty="0">
              <a:solidFill>
                <a:srgbClr val="00B050"/>
              </a:solidFill>
            </a:endParaRPr>
          </a:p>
          <a:p>
            <a:pPr algn="ctr"/>
            <a:r>
              <a:rPr kumimoji="1" lang="zh-TW" altLang="en-US" dirty="0">
                <a:solidFill>
                  <a:srgbClr val="00B050"/>
                </a:solidFill>
              </a:rPr>
              <a:t>數字</a:t>
            </a:r>
          </a:p>
        </p:txBody>
      </p:sp>
      <p:cxnSp>
        <p:nvCxnSpPr>
          <p:cNvPr id="123" name="直線箭頭接點 122">
            <a:extLst>
              <a:ext uri="{FF2B5EF4-FFF2-40B4-BE49-F238E27FC236}">
                <a16:creationId xmlns:a16="http://schemas.microsoft.com/office/drawing/2014/main" id="{9917BC55-DF9F-C99D-1D6E-ECE7CA14769A}"/>
              </a:ext>
            </a:extLst>
          </p:cNvPr>
          <p:cNvCxnSpPr>
            <a:cxnSpLocks/>
          </p:cNvCxnSpPr>
          <p:nvPr/>
        </p:nvCxnSpPr>
        <p:spPr>
          <a:xfrm flipV="1">
            <a:off x="9583368" y="3533419"/>
            <a:ext cx="0" cy="820912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87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  <p:bldP spid="11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2D7674-5005-2540-1A67-6D290F5C9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得到了 </a:t>
            </a:r>
            <a:r>
              <a:rPr kumimoji="1" lang="en" altLang="zh-TW" dirty="0"/>
              <a:t>Context vector</a:t>
            </a:r>
            <a:r>
              <a:rPr kumimoji="1" lang="zh-TW" altLang="en-US" dirty="0"/>
              <a:t> 之後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5F6B8E-2731-C26F-C219-FB445661C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42D54FFD-AC3D-A2B9-AEA7-A95D8AFB678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66800" y="1877409"/>
                <a:ext cx="10058400" cy="4023360"/>
              </a:xfrm>
              <a:prstGeom prst="rect">
                <a:avLst/>
              </a:prstGeom>
            </p:spPr>
            <p:txBody>
              <a:bodyPr vert="horz" lIns="0" tIns="45720" rIns="0" bIns="45720" rtlCol="0" anchor="t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Wingdings" panose="020F0502020204030204" pitchFamily="34" charset="0"/>
                  <a:buChar char="Ø"/>
                </a:pPr>
                <a:r>
                  <a:rPr lang="en-US" sz="2400" dirty="0">
                    <a:solidFill>
                      <a:srgbClr val="404040"/>
                    </a:solidFill>
                    <a:latin typeface="Calibri" panose="020F0502020204030204" pitchFamily="34" charset="0"/>
                    <a:ea typeface="+mn-lt"/>
                    <a:cs typeface="+mn-lt"/>
                  </a:rPr>
                  <a:t>The equation on step t is:</a:t>
                </a:r>
                <a:endParaRPr lang="zh-TW" altLang="en-US" sz="1600" dirty="0">
                  <a:solidFill>
                    <a:srgbClr val="404040"/>
                  </a:solidFill>
                  <a:latin typeface="Calibri" panose="020F0502020204030204"/>
                  <a:ea typeface="新細明體" panose="02020500000000000000" pitchFamily="18" charset="-120"/>
                  <a:cs typeface="+mn-lt"/>
                </a:endParaRPr>
              </a:p>
              <a:p>
                <a:pPr marL="342900" indent="-342900">
                  <a:buFont typeface="Wingdings" panose="020F0502020204030204" pitchFamily="34" charset="0"/>
                  <a:buChar char="Ø"/>
                </a:pPr>
                <a:endParaRPr lang="en-US" sz="2400" dirty="0">
                  <a:latin typeface="Calibri" panose="020F0502020204030204" pitchFamily="34" charset="0"/>
                  <a:ea typeface="Calibri"/>
                  <a:cs typeface="Calibri"/>
                </a:endParaRPr>
              </a:p>
              <a:p>
                <a:pPr marL="342900" indent="-342900">
                  <a:buFont typeface="Wingdings" panose="020F0502020204030204" pitchFamily="34" charset="0"/>
                  <a:buChar char="Ø"/>
                </a:pPr>
                <a:endParaRPr lang="en-US" sz="2400" dirty="0">
                  <a:latin typeface="Calibri" panose="020F0502020204030204" pitchFamily="34" charset="0"/>
                  <a:ea typeface="Calibri"/>
                  <a:cs typeface="Calibri"/>
                </a:endParaRPr>
              </a:p>
              <a:p>
                <a:pPr marL="0" indent="0">
                  <a:buNone/>
                </a:pPr>
                <a:endParaRPr lang="en-US" sz="2400" dirty="0">
                  <a:latin typeface="Calibri" panose="020F0502020204030204" pitchFamily="34" charset="0"/>
                  <a:ea typeface="Calibri"/>
                  <a:cs typeface="Calibri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Calibri" panose="020F0502020204030204" pitchFamily="34" charset="0"/>
                    <a:ea typeface="Calibri"/>
                    <a:cs typeface="Calibri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</a:rPr>
                      <m:t>tanh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/>
                    <a:cs typeface="Calibri"/>
                  </a:rPr>
                  <a:t> is an activation function.</a:t>
                </a:r>
                <a:endParaRPr lang="en-US" dirty="0"/>
              </a:p>
              <a:p>
                <a:pPr marL="342900" indent="-342900">
                  <a:buFont typeface="Wingdings" panose="020F0502020204030204" pitchFamily="34" charset="0"/>
                  <a:buChar char="Ø"/>
                </a:pPr>
                <a:endParaRPr lang="en-US" sz="2400" dirty="0">
                  <a:latin typeface="Calibri" panose="020F0502020204030204" pitchFamily="34" charset="0"/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42D54FFD-AC3D-A2B9-AEA7-A95D8AFB67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1877409"/>
                <a:ext cx="10058400" cy="4023360"/>
              </a:xfrm>
              <a:prstGeom prst="rect">
                <a:avLst/>
              </a:prstGeom>
              <a:blipFill>
                <a:blip r:embed="rId3"/>
                <a:stretch>
                  <a:fillRect l="-1892" t="-15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群組 5">
            <a:extLst>
              <a:ext uri="{FF2B5EF4-FFF2-40B4-BE49-F238E27FC236}">
                <a16:creationId xmlns:a16="http://schemas.microsoft.com/office/drawing/2014/main" id="{73B3B868-1635-1F77-0085-7EA14DE90AC1}"/>
              </a:ext>
            </a:extLst>
          </p:cNvPr>
          <p:cNvGrpSpPr/>
          <p:nvPr/>
        </p:nvGrpSpPr>
        <p:grpSpPr>
          <a:xfrm>
            <a:off x="5638799" y="5925366"/>
            <a:ext cx="895546" cy="490194"/>
            <a:chOff x="7654565" y="5128181"/>
            <a:chExt cx="895546" cy="490194"/>
          </a:xfrm>
        </p:grpSpPr>
        <p:sp>
          <p:nvSpPr>
            <p:cNvPr id="7" name="圓角矩形 6">
              <a:extLst>
                <a:ext uri="{FF2B5EF4-FFF2-40B4-BE49-F238E27FC236}">
                  <a16:creationId xmlns:a16="http://schemas.microsoft.com/office/drawing/2014/main" id="{1720B577-D6CF-947F-11A7-D137EE628E1A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7B2A365D-EB7E-79F3-7CC6-9B8E247AA6D8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TW" altLang="en-US" sz="2000" i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7B2A365D-EB7E-79F3-7CC6-9B8E247AA6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B0807DAA-C0BA-D2DA-972B-C99B078BC663}"/>
              </a:ext>
            </a:extLst>
          </p:cNvPr>
          <p:cNvGrpSpPr/>
          <p:nvPr/>
        </p:nvGrpSpPr>
        <p:grpSpPr>
          <a:xfrm>
            <a:off x="8051190" y="5925366"/>
            <a:ext cx="895546" cy="490194"/>
            <a:chOff x="7654565" y="5128181"/>
            <a:chExt cx="895546" cy="490194"/>
          </a:xfrm>
        </p:grpSpPr>
        <p:sp>
          <p:nvSpPr>
            <p:cNvPr id="10" name="圓角矩形 9">
              <a:extLst>
                <a:ext uri="{FF2B5EF4-FFF2-40B4-BE49-F238E27FC236}">
                  <a16:creationId xmlns:a16="http://schemas.microsoft.com/office/drawing/2014/main" id="{FFE0992E-3F53-C59E-AAC1-0F8B5B422D11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3611D238-334F-953B-8A91-7193A318D953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16569C70-18FB-3D33-E97C-9C217BC07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平行四邊形 11">
            <a:extLst>
              <a:ext uri="{FF2B5EF4-FFF2-40B4-BE49-F238E27FC236}">
                <a16:creationId xmlns:a16="http://schemas.microsoft.com/office/drawing/2014/main" id="{E76CBAF1-363E-E2CC-0405-6D4187093B71}"/>
              </a:ext>
            </a:extLst>
          </p:cNvPr>
          <p:cNvSpPr/>
          <p:nvPr/>
        </p:nvSpPr>
        <p:spPr>
          <a:xfrm>
            <a:off x="5822620" y="4605613"/>
            <a:ext cx="1899503" cy="1219078"/>
          </a:xfrm>
          <a:prstGeom prst="parallelogram">
            <a:avLst>
              <a:gd name="adj" fmla="val 11155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3" name="不規則四邊形 12">
            <a:extLst>
              <a:ext uri="{FF2B5EF4-FFF2-40B4-BE49-F238E27FC236}">
                <a16:creationId xmlns:a16="http://schemas.microsoft.com/office/drawing/2014/main" id="{8D885531-68A0-E3EF-B4D3-67612D6B2272}"/>
              </a:ext>
            </a:extLst>
          </p:cNvPr>
          <p:cNvSpPr/>
          <p:nvPr/>
        </p:nvSpPr>
        <p:spPr>
          <a:xfrm>
            <a:off x="8203197" y="4605613"/>
            <a:ext cx="591437" cy="1219078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0DF195FC-8C9D-9B3A-3462-A25092EED6B7}"/>
                  </a:ext>
                </a:extLst>
              </p:cNvPr>
              <p:cNvSpPr txBox="1"/>
              <p:nvPr/>
            </p:nvSpPr>
            <p:spPr>
              <a:xfrm>
                <a:off x="6485007" y="5030486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0DF195FC-8C9D-9B3A-3462-A25092EED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007" y="5030486"/>
                <a:ext cx="53497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9CBC462E-8EA1-678C-9FAD-055008E2ACEE}"/>
                  </a:ext>
                </a:extLst>
              </p:cNvPr>
              <p:cNvSpPr txBox="1"/>
              <p:nvPr/>
            </p:nvSpPr>
            <p:spPr>
              <a:xfrm>
                <a:off x="8261764" y="5030486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9CBC462E-8EA1-678C-9FAD-055008E2A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764" y="5030486"/>
                <a:ext cx="534971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群組 15">
            <a:extLst>
              <a:ext uri="{FF2B5EF4-FFF2-40B4-BE49-F238E27FC236}">
                <a16:creationId xmlns:a16="http://schemas.microsoft.com/office/drawing/2014/main" id="{5D5296D3-6916-CF86-77DA-9DDBBD894186}"/>
              </a:ext>
            </a:extLst>
          </p:cNvPr>
          <p:cNvGrpSpPr/>
          <p:nvPr/>
        </p:nvGrpSpPr>
        <p:grpSpPr>
          <a:xfrm>
            <a:off x="8044665" y="3612945"/>
            <a:ext cx="895546" cy="490194"/>
            <a:chOff x="7654565" y="5128181"/>
            <a:chExt cx="895546" cy="490194"/>
          </a:xfrm>
        </p:grpSpPr>
        <p:sp>
          <p:nvSpPr>
            <p:cNvPr id="17" name="圓角矩形 16">
              <a:extLst>
                <a:ext uri="{FF2B5EF4-FFF2-40B4-BE49-F238E27FC236}">
                  <a16:creationId xmlns:a16="http://schemas.microsoft.com/office/drawing/2014/main" id="{806E94F5-C0B5-A581-9695-FF8BBEAF8B6C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C5822D3E-0553-33D8-28B7-981C8D27C5DB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C5822D3E-0553-33D8-28B7-981C8D27C5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715CB03-5B8B-E6CA-8037-F9AF69841DB3}"/>
              </a:ext>
            </a:extLst>
          </p:cNvPr>
          <p:cNvSpPr txBox="1"/>
          <p:nvPr/>
        </p:nvSpPr>
        <p:spPr>
          <a:xfrm>
            <a:off x="8330179" y="4117708"/>
            <a:ext cx="35821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zh-TW" sz="2400" dirty="0"/>
              <a:t>+</a:t>
            </a:r>
            <a:endParaRPr kumimoji="1" lang="zh-TW" altLang="en-US" sz="2400" dirty="0"/>
          </a:p>
        </p:txBody>
      </p:sp>
      <p:sp>
        <p:nvSpPr>
          <p:cNvPr id="20" name="不規則四邊形 19">
            <a:extLst>
              <a:ext uri="{FF2B5EF4-FFF2-40B4-BE49-F238E27FC236}">
                <a16:creationId xmlns:a16="http://schemas.microsoft.com/office/drawing/2014/main" id="{5E794ECF-A752-B5AA-A856-13EFFE902B26}"/>
              </a:ext>
            </a:extLst>
          </p:cNvPr>
          <p:cNvSpPr/>
          <p:nvPr/>
        </p:nvSpPr>
        <p:spPr>
          <a:xfrm flipV="1">
            <a:off x="8179917" y="2297043"/>
            <a:ext cx="591437" cy="1219078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50C7B8-2FD6-7B6E-C721-3931BCA93028}"/>
                  </a:ext>
                </a:extLst>
              </p:cNvPr>
              <p:cNvSpPr txBox="1"/>
              <p:nvPr/>
            </p:nvSpPr>
            <p:spPr>
              <a:xfrm>
                <a:off x="8220297" y="2721916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50C7B8-2FD6-7B6E-C721-3931BCA93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0297" y="2721916"/>
                <a:ext cx="53497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48FD60A0-1CB2-B259-7371-9BEE8F024FA6}"/>
              </a:ext>
            </a:extLst>
          </p:cNvPr>
          <p:cNvGrpSpPr/>
          <p:nvPr/>
        </p:nvGrpSpPr>
        <p:grpSpPr>
          <a:xfrm>
            <a:off x="8027862" y="1696979"/>
            <a:ext cx="895546" cy="490194"/>
            <a:chOff x="7654565" y="5128181"/>
            <a:chExt cx="895546" cy="490194"/>
          </a:xfrm>
        </p:grpSpPr>
        <p:sp>
          <p:nvSpPr>
            <p:cNvPr id="23" name="圓角矩形 22">
              <a:extLst>
                <a:ext uri="{FF2B5EF4-FFF2-40B4-BE49-F238E27FC236}">
                  <a16:creationId xmlns:a16="http://schemas.microsoft.com/office/drawing/2014/main" id="{C69662E3-DF54-D26E-916C-296A87D047F9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B244BB02-D304-BA7D-3D2A-49ACD7631D8D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10CF887D-6BA7-4674-B095-B5205D3938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303C124-377B-808B-825D-23F955BFB5C1}"/>
                  </a:ext>
                </a:extLst>
              </p:cNvPr>
              <p:cNvSpPr txBox="1"/>
              <p:nvPr/>
            </p:nvSpPr>
            <p:spPr>
              <a:xfrm>
                <a:off x="1439852" y="2656036"/>
                <a:ext cx="5368452" cy="83099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b>
                        <m:sSub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oftmax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303C124-377B-808B-825D-23F955BFB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852" y="2656036"/>
                <a:ext cx="5368452" cy="830997"/>
              </a:xfrm>
              <a:prstGeom prst="rect">
                <a:avLst/>
              </a:prstGeom>
              <a:blipFill>
                <a:blip r:embed="rId11"/>
                <a:stretch>
                  <a:fillRect l="-23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群組 25">
            <a:extLst>
              <a:ext uri="{FF2B5EF4-FFF2-40B4-BE49-F238E27FC236}">
                <a16:creationId xmlns:a16="http://schemas.microsoft.com/office/drawing/2014/main" id="{82B0BF2C-E721-0E0E-19A3-71216AC7B20F}"/>
              </a:ext>
            </a:extLst>
          </p:cNvPr>
          <p:cNvGrpSpPr/>
          <p:nvPr/>
        </p:nvGrpSpPr>
        <p:grpSpPr>
          <a:xfrm>
            <a:off x="9669684" y="5925366"/>
            <a:ext cx="895546" cy="490194"/>
            <a:chOff x="7654565" y="5128181"/>
            <a:chExt cx="895546" cy="490194"/>
          </a:xfrm>
        </p:grpSpPr>
        <p:sp>
          <p:nvSpPr>
            <p:cNvPr id="27" name="圓角矩形 26">
              <a:extLst>
                <a:ext uri="{FF2B5EF4-FFF2-40B4-BE49-F238E27FC236}">
                  <a16:creationId xmlns:a16="http://schemas.microsoft.com/office/drawing/2014/main" id="{90F6EEAB-DA39-9D98-7459-3113DB9A0456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3E06C85F-0D2F-CF7F-D071-0AEF2A0AFE66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3E06C85F-0D2F-CF7F-D071-0AEF2A0AFE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不規則四邊形 28">
            <a:extLst>
              <a:ext uri="{FF2B5EF4-FFF2-40B4-BE49-F238E27FC236}">
                <a16:creationId xmlns:a16="http://schemas.microsoft.com/office/drawing/2014/main" id="{19CFBD5D-1A02-9C1B-2EC4-EDE3AAFC036A}"/>
              </a:ext>
            </a:extLst>
          </p:cNvPr>
          <p:cNvSpPr/>
          <p:nvPr/>
        </p:nvSpPr>
        <p:spPr>
          <a:xfrm>
            <a:off x="9821691" y="4605613"/>
            <a:ext cx="591437" cy="1219078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1C11164-5429-4655-EF9F-B53EB610A6F2}"/>
                  </a:ext>
                </a:extLst>
              </p:cNvPr>
              <p:cNvSpPr txBox="1"/>
              <p:nvPr/>
            </p:nvSpPr>
            <p:spPr>
              <a:xfrm>
                <a:off x="9880258" y="5030486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1C11164-5429-4655-EF9F-B53EB610A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0258" y="5030486"/>
                <a:ext cx="534971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字方塊 30">
            <a:extLst>
              <a:ext uri="{FF2B5EF4-FFF2-40B4-BE49-F238E27FC236}">
                <a16:creationId xmlns:a16="http://schemas.microsoft.com/office/drawing/2014/main" id="{93C6C41E-B257-671C-F05B-53ED17B3836B}"/>
              </a:ext>
            </a:extLst>
          </p:cNvPr>
          <p:cNvSpPr txBox="1"/>
          <p:nvPr/>
        </p:nvSpPr>
        <p:spPr>
          <a:xfrm>
            <a:off x="1012502" y="5875283"/>
            <a:ext cx="3409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600" dirty="0"/>
              <a:t>爲方便同學理解，此頁為 </a:t>
            </a:r>
            <a:r>
              <a:rPr kumimoji="1" lang="en" altLang="zh-TW" sz="1600" dirty="0" err="1"/>
              <a:t>Bahdanau</a:t>
            </a:r>
            <a:r>
              <a:rPr kumimoji="1" lang="en" altLang="zh-TW" sz="1600" dirty="0"/>
              <a:t> et al. (2014). </a:t>
            </a:r>
            <a:r>
              <a:rPr kumimoji="1" lang="zh-TW" altLang="en-US" sz="1600" dirty="0"/>
              <a:t>的模型簡化版</a:t>
            </a:r>
          </a:p>
        </p:txBody>
      </p:sp>
    </p:spTree>
    <p:extLst>
      <p:ext uri="{BB962C8B-B14F-4D97-AF65-F5344CB8AC3E}">
        <p14:creationId xmlns:p14="http://schemas.microsoft.com/office/powerpoint/2010/main" val="15601054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8431D-5546-3D3E-ACD4-C342AA56C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A39461-2562-8F4D-EC12-68940223A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機器翻譯 </a:t>
            </a:r>
            <a:r>
              <a:rPr kumimoji="1" lang="en-US" altLang="zh-TW" dirty="0"/>
              <a:t>(</a:t>
            </a:r>
            <a:r>
              <a:rPr kumimoji="1" lang="zh-TW" altLang="en-US" dirty="0"/>
              <a:t>一般情況</a:t>
            </a:r>
            <a:r>
              <a:rPr kumimoji="1" lang="en-US" altLang="zh-TW" dirty="0"/>
              <a:t>, t = 1)</a:t>
            </a:r>
            <a:endParaRPr kumimoji="1" lang="zh-TW" altLang="en-US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376524F6-EC4E-8F6E-DE34-A2CF55DA3B02}"/>
              </a:ext>
            </a:extLst>
          </p:cNvPr>
          <p:cNvSpPr/>
          <p:nvPr/>
        </p:nvSpPr>
        <p:spPr>
          <a:xfrm rot="5400000">
            <a:off x="1041463" y="406411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6905C5C-E3C9-7F3A-0461-A80BFBB1D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81C-F638-B044-A8F2-A1B9864D5A40}" type="slidenum">
              <a:rPr kumimoji="1" lang="zh-TW" altLang="en-US" smtClean="0"/>
              <a:t>52</a:t>
            </a:fld>
            <a:endParaRPr kumimoji="1" lang="zh-TW" altLang="en-US"/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3D02438E-D23C-28FB-8F19-53C97D587803}"/>
              </a:ext>
            </a:extLst>
          </p:cNvPr>
          <p:cNvCxnSpPr/>
          <p:nvPr/>
        </p:nvCxnSpPr>
        <p:spPr>
          <a:xfrm>
            <a:off x="5632911" y="2553196"/>
            <a:ext cx="0" cy="265890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28B701BB-F73C-7D3F-4153-7B0281D332FA}"/>
              </a:ext>
            </a:extLst>
          </p:cNvPr>
          <p:cNvCxnSpPr>
            <a:cxnSpLocks/>
          </p:cNvCxnSpPr>
          <p:nvPr/>
        </p:nvCxnSpPr>
        <p:spPr>
          <a:xfrm flipH="1">
            <a:off x="1503108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250DFB15-E718-54F8-7A92-D334435D2C06}"/>
              </a:ext>
            </a:extLst>
          </p:cNvPr>
          <p:cNvSpPr/>
          <p:nvPr/>
        </p:nvSpPr>
        <p:spPr>
          <a:xfrm rot="5400000">
            <a:off x="1041463" y="4445564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A93424DE-5BF8-84C2-6BB4-A26332F4F865}"/>
              </a:ext>
            </a:extLst>
          </p:cNvPr>
          <p:cNvCxnSpPr>
            <a:cxnSpLocks/>
          </p:cNvCxnSpPr>
          <p:nvPr/>
        </p:nvCxnSpPr>
        <p:spPr>
          <a:xfrm>
            <a:off x="1524880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78CC9FDB-3C32-6A63-B7B8-71E5D310B447}"/>
              </a:ext>
            </a:extLst>
          </p:cNvPr>
          <p:cNvCxnSpPr>
            <a:cxnSpLocks/>
          </p:cNvCxnSpPr>
          <p:nvPr/>
        </p:nvCxnSpPr>
        <p:spPr>
          <a:xfrm>
            <a:off x="246797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A4E3F2B6-4A50-E8C1-7FB0-A49A9C21F838}"/>
              </a:ext>
            </a:extLst>
          </p:cNvPr>
          <p:cNvCxnSpPr>
            <a:cxnSpLocks/>
          </p:cNvCxnSpPr>
          <p:nvPr/>
        </p:nvCxnSpPr>
        <p:spPr>
          <a:xfrm>
            <a:off x="342618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C83A9FE3-C46B-1FD6-920A-B483941EB4AE}"/>
              </a:ext>
            </a:extLst>
          </p:cNvPr>
          <p:cNvCxnSpPr>
            <a:cxnSpLocks/>
          </p:cNvCxnSpPr>
          <p:nvPr/>
        </p:nvCxnSpPr>
        <p:spPr>
          <a:xfrm>
            <a:off x="441990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8BB2F7CF-ABBA-A76B-2655-C966CA2205D8}"/>
              </a:ext>
            </a:extLst>
          </p:cNvPr>
          <p:cNvCxnSpPr>
            <a:cxnSpLocks/>
          </p:cNvCxnSpPr>
          <p:nvPr/>
        </p:nvCxnSpPr>
        <p:spPr>
          <a:xfrm flipH="1">
            <a:off x="2457088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1A4A65C0-1E4B-59A1-22B7-CE518455176D}"/>
              </a:ext>
            </a:extLst>
          </p:cNvPr>
          <p:cNvCxnSpPr>
            <a:cxnSpLocks/>
          </p:cNvCxnSpPr>
          <p:nvPr/>
        </p:nvCxnSpPr>
        <p:spPr>
          <a:xfrm flipH="1">
            <a:off x="3415531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EBBFB187-D7D9-6989-B047-673065F28D28}"/>
              </a:ext>
            </a:extLst>
          </p:cNvPr>
          <p:cNvCxnSpPr>
            <a:cxnSpLocks/>
          </p:cNvCxnSpPr>
          <p:nvPr/>
        </p:nvCxnSpPr>
        <p:spPr>
          <a:xfrm flipH="1">
            <a:off x="4398132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C97FBBAE-7163-52FB-D22D-7C7D8AA3163D}"/>
                  </a:ext>
                </a:extLst>
              </p:cNvPr>
              <p:cNvSpPr txBox="1"/>
              <p:nvPr/>
            </p:nvSpPr>
            <p:spPr>
              <a:xfrm>
                <a:off x="543259" y="1378420"/>
                <a:ext cx="1618744" cy="518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;"/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e>
                          <m:groupChr>
                            <m:groupChrPr>
                              <m:chr m:val="←"/>
                              <m:pos m:val="top"/>
                              <m:vertJc m:val="bot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groupCh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B9289712-839E-74FE-0D78-263EBE951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59" y="1378420"/>
                <a:ext cx="1618744" cy="5188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74803148-7D92-A78B-2D8C-FFD8A3208618}"/>
                  </a:ext>
                </a:extLst>
              </p:cNvPr>
              <p:cNvSpPr txBox="1"/>
              <p:nvPr/>
            </p:nvSpPr>
            <p:spPr>
              <a:xfrm>
                <a:off x="496181" y="4380899"/>
                <a:ext cx="572956" cy="3396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6DE65D9D-B8E2-3848-B09B-3CCDC43DF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81" y="4380899"/>
                <a:ext cx="572956" cy="3396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F1CD9EAA-622F-3099-E7EB-A2C567E58827}"/>
                  </a:ext>
                </a:extLst>
              </p:cNvPr>
              <p:cNvSpPr txBox="1"/>
              <p:nvPr/>
            </p:nvSpPr>
            <p:spPr>
              <a:xfrm>
                <a:off x="494670" y="4012978"/>
                <a:ext cx="572956" cy="3679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←"/>
                          <m:pos m:val="top"/>
                          <m:vertJc m:val="bot"/>
                          <m:ctrlPr>
                            <a:rPr lang="zh-TW" altLang="en-US" sz="14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7C037385-47E8-3BD9-6526-DC079A724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70" y="4012978"/>
                <a:ext cx="572956" cy="3679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圓角矩形 8">
            <a:extLst>
              <a:ext uri="{FF2B5EF4-FFF2-40B4-BE49-F238E27FC236}">
                <a16:creationId xmlns:a16="http://schemas.microsoft.com/office/drawing/2014/main" id="{D4425BFA-9342-5795-6ABF-311868054140}"/>
              </a:ext>
            </a:extLst>
          </p:cNvPr>
          <p:cNvSpPr/>
          <p:nvPr/>
        </p:nvSpPr>
        <p:spPr>
          <a:xfrm rot="5400000">
            <a:off x="2003003" y="4061589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A0C39102-D8F2-6316-0FD3-C5F337FA1125}"/>
              </a:ext>
            </a:extLst>
          </p:cNvPr>
          <p:cNvSpPr/>
          <p:nvPr/>
        </p:nvSpPr>
        <p:spPr>
          <a:xfrm rot="5400000">
            <a:off x="2003003" y="4443043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D6173CAE-3872-4DFC-84B5-D16CA32AA5FC}"/>
              </a:ext>
            </a:extLst>
          </p:cNvPr>
          <p:cNvSpPr/>
          <p:nvPr/>
        </p:nvSpPr>
        <p:spPr>
          <a:xfrm rot="5400000">
            <a:off x="2959245" y="4061589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7B02D0CD-DA34-204B-927F-F9D4E8805674}"/>
              </a:ext>
            </a:extLst>
          </p:cNvPr>
          <p:cNvSpPr/>
          <p:nvPr/>
        </p:nvSpPr>
        <p:spPr>
          <a:xfrm rot="5400000">
            <a:off x="2959245" y="4443043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5AE87C2F-5F25-41EB-FE8B-23D2AE5E8459}"/>
              </a:ext>
            </a:extLst>
          </p:cNvPr>
          <p:cNvSpPr/>
          <p:nvPr/>
        </p:nvSpPr>
        <p:spPr>
          <a:xfrm rot="5400000">
            <a:off x="3979527" y="4057806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FAC5CC59-5441-F3C8-A92E-1E16AD9B30B7}"/>
              </a:ext>
            </a:extLst>
          </p:cNvPr>
          <p:cNvSpPr/>
          <p:nvPr/>
        </p:nvSpPr>
        <p:spPr>
          <a:xfrm rot="5400000">
            <a:off x="3979527" y="443926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A616EA83-4558-01A2-DD52-D42AB9947B2F}"/>
              </a:ext>
            </a:extLst>
          </p:cNvPr>
          <p:cNvSpPr/>
          <p:nvPr/>
        </p:nvSpPr>
        <p:spPr>
          <a:xfrm rot="5400000">
            <a:off x="4949287" y="405696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7053B225-CA4C-4B15-987F-F5221194A362}"/>
              </a:ext>
            </a:extLst>
          </p:cNvPr>
          <p:cNvSpPr/>
          <p:nvPr/>
        </p:nvSpPr>
        <p:spPr>
          <a:xfrm rot="5400000">
            <a:off x="4949287" y="4438414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C02B190-0061-F490-9FB9-9ADF8A879EE2}"/>
              </a:ext>
            </a:extLst>
          </p:cNvPr>
          <p:cNvSpPr txBox="1"/>
          <p:nvPr/>
        </p:nvSpPr>
        <p:spPr>
          <a:xfrm>
            <a:off x="1028450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我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5E67001-9BB1-A38D-A03F-2CEB9B897A91}"/>
              </a:ext>
            </a:extLst>
          </p:cNvPr>
          <p:cNvSpPr txBox="1"/>
          <p:nvPr/>
        </p:nvSpPr>
        <p:spPr>
          <a:xfrm>
            <a:off x="1989990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想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C639E37-86EE-DA53-EC99-7B174338F27E}"/>
              </a:ext>
            </a:extLst>
          </p:cNvPr>
          <p:cNvSpPr txBox="1"/>
          <p:nvPr/>
        </p:nvSpPr>
        <p:spPr>
          <a:xfrm>
            <a:off x="2946232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要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EE52BD5-363B-2E8F-576E-45C658659CF5}"/>
              </a:ext>
            </a:extLst>
          </p:cNvPr>
          <p:cNvSpPr txBox="1"/>
          <p:nvPr/>
        </p:nvSpPr>
        <p:spPr>
          <a:xfrm>
            <a:off x="3966514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放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07AF3F4-21AE-7FFA-9683-C23BE88481C5}"/>
              </a:ext>
            </a:extLst>
          </p:cNvPr>
          <p:cNvSpPr txBox="1"/>
          <p:nvPr/>
        </p:nvSpPr>
        <p:spPr>
          <a:xfrm>
            <a:off x="4936274" y="5843215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假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2AE6685-DA50-CA01-F2B0-99E0E7A2C929}"/>
              </a:ext>
            </a:extLst>
          </p:cNvPr>
          <p:cNvSpPr/>
          <p:nvPr/>
        </p:nvSpPr>
        <p:spPr>
          <a:xfrm>
            <a:off x="911313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6401709-04A5-F183-DDD5-29A87F03E253}"/>
              </a:ext>
            </a:extLst>
          </p:cNvPr>
          <p:cNvSpPr/>
          <p:nvPr/>
        </p:nvSpPr>
        <p:spPr>
          <a:xfrm>
            <a:off x="1901622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D3952DE-13AF-DBC7-3759-68EA07C73E95}"/>
              </a:ext>
            </a:extLst>
          </p:cNvPr>
          <p:cNvSpPr/>
          <p:nvPr/>
        </p:nvSpPr>
        <p:spPr>
          <a:xfrm>
            <a:off x="2850931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DDFA10F-C172-E2DD-DF6E-BC4911DC4425}"/>
              </a:ext>
            </a:extLst>
          </p:cNvPr>
          <p:cNvSpPr/>
          <p:nvPr/>
        </p:nvSpPr>
        <p:spPr>
          <a:xfrm>
            <a:off x="3878145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FE5974F-8EC7-5C80-E80A-AD2B9166DB3F}"/>
              </a:ext>
            </a:extLst>
          </p:cNvPr>
          <p:cNvSpPr/>
          <p:nvPr/>
        </p:nvSpPr>
        <p:spPr>
          <a:xfrm>
            <a:off x="4847905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002D38E3-A7FE-A896-4381-9DAEA2B63A81}"/>
              </a:ext>
            </a:extLst>
          </p:cNvPr>
          <p:cNvCxnSpPr>
            <a:cxnSpLocks/>
          </p:cNvCxnSpPr>
          <p:nvPr/>
        </p:nvCxnSpPr>
        <p:spPr>
          <a:xfrm flipV="1">
            <a:off x="1216822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箭頭接點 59">
            <a:extLst>
              <a:ext uri="{FF2B5EF4-FFF2-40B4-BE49-F238E27FC236}">
                <a16:creationId xmlns:a16="http://schemas.microsoft.com/office/drawing/2014/main" id="{03B1BC5C-1EA3-739D-0B1C-84C775A7F870}"/>
              </a:ext>
            </a:extLst>
          </p:cNvPr>
          <p:cNvCxnSpPr>
            <a:cxnSpLocks/>
          </p:cNvCxnSpPr>
          <p:nvPr/>
        </p:nvCxnSpPr>
        <p:spPr>
          <a:xfrm flipV="1">
            <a:off x="1227708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箭頭接點 61">
            <a:extLst>
              <a:ext uri="{FF2B5EF4-FFF2-40B4-BE49-F238E27FC236}">
                <a16:creationId xmlns:a16="http://schemas.microsoft.com/office/drawing/2014/main" id="{475F5E98-B628-9540-B0B3-EB5936B92008}"/>
              </a:ext>
            </a:extLst>
          </p:cNvPr>
          <p:cNvCxnSpPr>
            <a:cxnSpLocks/>
          </p:cNvCxnSpPr>
          <p:nvPr/>
        </p:nvCxnSpPr>
        <p:spPr>
          <a:xfrm flipV="1">
            <a:off x="2189248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箭頭接點 62">
            <a:extLst>
              <a:ext uri="{FF2B5EF4-FFF2-40B4-BE49-F238E27FC236}">
                <a16:creationId xmlns:a16="http://schemas.microsoft.com/office/drawing/2014/main" id="{2881F978-315F-25D4-09DE-E5D29933D2AD}"/>
              </a:ext>
            </a:extLst>
          </p:cNvPr>
          <p:cNvCxnSpPr>
            <a:cxnSpLocks/>
          </p:cNvCxnSpPr>
          <p:nvPr/>
        </p:nvCxnSpPr>
        <p:spPr>
          <a:xfrm flipV="1">
            <a:off x="2189248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箭頭接點 67">
            <a:extLst>
              <a:ext uri="{FF2B5EF4-FFF2-40B4-BE49-F238E27FC236}">
                <a16:creationId xmlns:a16="http://schemas.microsoft.com/office/drawing/2014/main" id="{06E96EB0-B72C-94A6-D06F-0C6644117DB5}"/>
              </a:ext>
            </a:extLst>
          </p:cNvPr>
          <p:cNvCxnSpPr>
            <a:cxnSpLocks/>
          </p:cNvCxnSpPr>
          <p:nvPr/>
        </p:nvCxnSpPr>
        <p:spPr>
          <a:xfrm flipV="1">
            <a:off x="3150664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箭頭接點 68">
            <a:extLst>
              <a:ext uri="{FF2B5EF4-FFF2-40B4-BE49-F238E27FC236}">
                <a16:creationId xmlns:a16="http://schemas.microsoft.com/office/drawing/2014/main" id="{0D462E51-333F-7D4A-BF54-B09F3DEAE997}"/>
              </a:ext>
            </a:extLst>
          </p:cNvPr>
          <p:cNvCxnSpPr>
            <a:cxnSpLocks/>
          </p:cNvCxnSpPr>
          <p:nvPr/>
        </p:nvCxnSpPr>
        <p:spPr>
          <a:xfrm flipV="1">
            <a:off x="3150664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箭頭接點 69">
            <a:extLst>
              <a:ext uri="{FF2B5EF4-FFF2-40B4-BE49-F238E27FC236}">
                <a16:creationId xmlns:a16="http://schemas.microsoft.com/office/drawing/2014/main" id="{7E9A7AFB-319B-28EE-66C8-25177B467176}"/>
              </a:ext>
            </a:extLst>
          </p:cNvPr>
          <p:cNvCxnSpPr>
            <a:cxnSpLocks/>
          </p:cNvCxnSpPr>
          <p:nvPr/>
        </p:nvCxnSpPr>
        <p:spPr>
          <a:xfrm flipV="1">
            <a:off x="4165771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箭頭接點 70">
            <a:extLst>
              <a:ext uri="{FF2B5EF4-FFF2-40B4-BE49-F238E27FC236}">
                <a16:creationId xmlns:a16="http://schemas.microsoft.com/office/drawing/2014/main" id="{8FDBB8C0-A7E7-4FE3-3052-E729505FB559}"/>
              </a:ext>
            </a:extLst>
          </p:cNvPr>
          <p:cNvCxnSpPr>
            <a:cxnSpLocks/>
          </p:cNvCxnSpPr>
          <p:nvPr/>
        </p:nvCxnSpPr>
        <p:spPr>
          <a:xfrm flipV="1">
            <a:off x="416577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箭頭接點 71">
            <a:extLst>
              <a:ext uri="{FF2B5EF4-FFF2-40B4-BE49-F238E27FC236}">
                <a16:creationId xmlns:a16="http://schemas.microsoft.com/office/drawing/2014/main" id="{B3C5D776-92FB-98D9-F0C3-60F462368829}"/>
              </a:ext>
            </a:extLst>
          </p:cNvPr>
          <p:cNvCxnSpPr>
            <a:cxnSpLocks/>
          </p:cNvCxnSpPr>
          <p:nvPr/>
        </p:nvCxnSpPr>
        <p:spPr>
          <a:xfrm flipV="1">
            <a:off x="5135531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箭頭接點 72">
            <a:extLst>
              <a:ext uri="{FF2B5EF4-FFF2-40B4-BE49-F238E27FC236}">
                <a16:creationId xmlns:a16="http://schemas.microsoft.com/office/drawing/2014/main" id="{9A13DDFD-850F-3C51-D71D-BB822FBA4502}"/>
              </a:ext>
            </a:extLst>
          </p:cNvPr>
          <p:cNvCxnSpPr>
            <a:cxnSpLocks/>
          </p:cNvCxnSpPr>
          <p:nvPr/>
        </p:nvCxnSpPr>
        <p:spPr>
          <a:xfrm flipV="1">
            <a:off x="513553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箭頭接點 104">
            <a:extLst>
              <a:ext uri="{FF2B5EF4-FFF2-40B4-BE49-F238E27FC236}">
                <a16:creationId xmlns:a16="http://schemas.microsoft.com/office/drawing/2014/main" id="{0E67C758-9E7F-F551-25E0-503873964593}"/>
              </a:ext>
            </a:extLst>
          </p:cNvPr>
          <p:cNvCxnSpPr>
            <a:cxnSpLocks/>
          </p:cNvCxnSpPr>
          <p:nvPr/>
        </p:nvCxnSpPr>
        <p:spPr>
          <a:xfrm>
            <a:off x="153035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箭頭接點 106">
            <a:extLst>
              <a:ext uri="{FF2B5EF4-FFF2-40B4-BE49-F238E27FC236}">
                <a16:creationId xmlns:a16="http://schemas.microsoft.com/office/drawing/2014/main" id="{DA21A1FD-3B60-513E-CA26-2A7CB38CED46}"/>
              </a:ext>
            </a:extLst>
          </p:cNvPr>
          <p:cNvCxnSpPr>
            <a:cxnSpLocks/>
          </p:cNvCxnSpPr>
          <p:nvPr/>
        </p:nvCxnSpPr>
        <p:spPr>
          <a:xfrm>
            <a:off x="2495216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箭頭接點 107">
            <a:extLst>
              <a:ext uri="{FF2B5EF4-FFF2-40B4-BE49-F238E27FC236}">
                <a16:creationId xmlns:a16="http://schemas.microsoft.com/office/drawing/2014/main" id="{9C554C1F-8561-0EE8-5F94-28AFF9B70033}"/>
              </a:ext>
            </a:extLst>
          </p:cNvPr>
          <p:cNvCxnSpPr>
            <a:cxnSpLocks/>
          </p:cNvCxnSpPr>
          <p:nvPr/>
        </p:nvCxnSpPr>
        <p:spPr>
          <a:xfrm>
            <a:off x="348067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箭頭接點 108">
            <a:extLst>
              <a:ext uri="{FF2B5EF4-FFF2-40B4-BE49-F238E27FC236}">
                <a16:creationId xmlns:a16="http://schemas.microsoft.com/office/drawing/2014/main" id="{894FC633-4354-F346-53A8-8E4B7B438E89}"/>
              </a:ext>
            </a:extLst>
          </p:cNvPr>
          <p:cNvCxnSpPr>
            <a:cxnSpLocks/>
          </p:cNvCxnSpPr>
          <p:nvPr/>
        </p:nvCxnSpPr>
        <p:spPr>
          <a:xfrm>
            <a:off x="449299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圓角矩形 49">
            <a:extLst>
              <a:ext uri="{FF2B5EF4-FFF2-40B4-BE49-F238E27FC236}">
                <a16:creationId xmlns:a16="http://schemas.microsoft.com/office/drawing/2014/main" id="{0D45F2EE-C7F5-368C-9403-2ADD81361F8B}"/>
              </a:ext>
            </a:extLst>
          </p:cNvPr>
          <p:cNvSpPr/>
          <p:nvPr/>
        </p:nvSpPr>
        <p:spPr>
          <a:xfrm rot="16200000">
            <a:off x="6192813" y="4419031"/>
            <a:ext cx="372490" cy="205528"/>
          </a:xfrm>
          <a:prstGeom prst="roundRect">
            <a:avLst/>
          </a:prstGeom>
          <a:solidFill>
            <a:srgbClr val="C6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9497C815-8FF4-0CF0-F8CA-35C3BC834A06}"/>
                  </a:ext>
                </a:extLst>
              </p:cNvPr>
              <p:cNvSpPr txBox="1"/>
              <p:nvPr/>
            </p:nvSpPr>
            <p:spPr>
              <a:xfrm>
                <a:off x="6117565" y="4315478"/>
                <a:ext cx="5413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9497C815-8FF4-0CF0-F8CA-35C3BC834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565" y="4315478"/>
                <a:ext cx="54131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圓角矩形 6">
            <a:extLst>
              <a:ext uri="{FF2B5EF4-FFF2-40B4-BE49-F238E27FC236}">
                <a16:creationId xmlns:a16="http://schemas.microsoft.com/office/drawing/2014/main" id="{82A04A53-5AE8-3133-5905-FA0C75FF65DF}"/>
              </a:ext>
            </a:extLst>
          </p:cNvPr>
          <p:cNvSpPr/>
          <p:nvPr/>
        </p:nvSpPr>
        <p:spPr>
          <a:xfrm>
            <a:off x="1052704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A6EC48E9-18DA-278B-9B21-E4B208533CD8}"/>
                  </a:ext>
                </a:extLst>
              </p:cNvPr>
              <p:cNvSpPr txBox="1"/>
              <p:nvPr/>
            </p:nvSpPr>
            <p:spPr>
              <a:xfrm>
                <a:off x="949631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A6EC48E9-18DA-278B-9B21-E4B208533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631" y="3265111"/>
                <a:ext cx="575249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3D6131C-2994-13E3-57A8-BC8F96E2B1D1}"/>
                  </a:ext>
                </a:extLst>
              </p:cNvPr>
              <p:cNvSpPr txBox="1"/>
              <p:nvPr/>
            </p:nvSpPr>
            <p:spPr>
              <a:xfrm>
                <a:off x="1874379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3D6131C-2994-13E3-57A8-BC8F96E2B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379" y="3265111"/>
                <a:ext cx="575249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20BCC4E-8C48-0C23-C111-DD03E5754B68}"/>
                  </a:ext>
                </a:extLst>
              </p:cNvPr>
              <p:cNvSpPr txBox="1"/>
              <p:nvPr/>
            </p:nvSpPr>
            <p:spPr>
              <a:xfrm>
                <a:off x="2841162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20BCC4E-8C48-0C23-C111-DD03E5754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162" y="3265111"/>
                <a:ext cx="57524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C29CABC4-4080-AB9C-66D5-79E7C6CB611A}"/>
                  </a:ext>
                </a:extLst>
              </p:cNvPr>
              <p:cNvSpPr txBox="1"/>
              <p:nvPr/>
            </p:nvSpPr>
            <p:spPr>
              <a:xfrm>
                <a:off x="3865939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C29CABC4-4080-AB9C-66D5-79E7C6CB6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939" y="3265111"/>
                <a:ext cx="575249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B414F673-3C4F-2873-A0CB-6CB896A8D54F}"/>
                  </a:ext>
                </a:extLst>
              </p:cNvPr>
              <p:cNvSpPr txBox="1"/>
              <p:nvPr/>
            </p:nvSpPr>
            <p:spPr>
              <a:xfrm>
                <a:off x="4847905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B414F673-3C4F-2873-A0CB-6CB896A8D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05" y="3265111"/>
                <a:ext cx="575249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圓角矩形 38">
            <a:extLst>
              <a:ext uri="{FF2B5EF4-FFF2-40B4-BE49-F238E27FC236}">
                <a16:creationId xmlns:a16="http://schemas.microsoft.com/office/drawing/2014/main" id="{E8C7212F-01A1-1305-85A3-383CCA39AF90}"/>
              </a:ext>
            </a:extLst>
          </p:cNvPr>
          <p:cNvSpPr/>
          <p:nvPr/>
        </p:nvSpPr>
        <p:spPr>
          <a:xfrm>
            <a:off x="2020773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F7C0DED8-53BC-1E66-B676-D621B90D47F2}"/>
              </a:ext>
            </a:extLst>
          </p:cNvPr>
          <p:cNvSpPr/>
          <p:nvPr/>
        </p:nvSpPr>
        <p:spPr>
          <a:xfrm>
            <a:off x="2968706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3284DA27-CC76-93B6-76AD-97BAF7008C1C}"/>
              </a:ext>
            </a:extLst>
          </p:cNvPr>
          <p:cNvSpPr/>
          <p:nvPr/>
        </p:nvSpPr>
        <p:spPr>
          <a:xfrm>
            <a:off x="3990149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C225F537-86B2-F320-A72D-0F0B6D019A20}"/>
              </a:ext>
            </a:extLst>
          </p:cNvPr>
          <p:cNvSpPr/>
          <p:nvPr/>
        </p:nvSpPr>
        <p:spPr>
          <a:xfrm>
            <a:off x="4971597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50B3297B-4E35-0837-2581-542A5BB34CAE}"/>
              </a:ext>
            </a:extLst>
          </p:cNvPr>
          <p:cNvSpPr/>
          <p:nvPr/>
        </p:nvSpPr>
        <p:spPr>
          <a:xfrm>
            <a:off x="3024614" y="2596981"/>
            <a:ext cx="249382" cy="53439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DB3164C6-EE9D-AB51-ABDC-0707697D6083}"/>
                  </a:ext>
                </a:extLst>
              </p:cNvPr>
              <p:cNvSpPr txBox="1"/>
              <p:nvPr/>
            </p:nvSpPr>
            <p:spPr>
              <a:xfrm>
                <a:off x="2315189" y="1717555"/>
                <a:ext cx="1433085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TW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DB3164C6-EE9D-AB51-ABDC-0707697D6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189" y="1717555"/>
                <a:ext cx="1433085" cy="756233"/>
              </a:xfrm>
              <a:prstGeom prst="rect">
                <a:avLst/>
              </a:prstGeom>
              <a:blipFill>
                <a:blip r:embed="rId13"/>
                <a:stretch>
                  <a:fillRect l="-22807" t="-120000" b="-18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1639B0E-8D90-A23F-374D-E92D636C5417}"/>
                  </a:ext>
                </a:extLst>
              </p:cNvPr>
              <p:cNvSpPr txBox="1"/>
              <p:nvPr/>
            </p:nvSpPr>
            <p:spPr>
              <a:xfrm>
                <a:off x="9380098" y="1474702"/>
                <a:ext cx="2191416" cy="646331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en-US" altLang="zh-TW" dirty="0"/>
                  <a:t>: encoder timestep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TW" dirty="0"/>
                  <a:t>: decoder timestep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1639B0E-8D90-A23F-374D-E92D636C5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0098" y="1474702"/>
                <a:ext cx="2191416" cy="646331"/>
              </a:xfrm>
              <a:prstGeom prst="rect">
                <a:avLst/>
              </a:prstGeom>
              <a:blipFill>
                <a:blip r:embed="rId4"/>
                <a:stretch>
                  <a:fillRect t="-3774" b="-11321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文字方塊 65">
            <a:extLst>
              <a:ext uri="{FF2B5EF4-FFF2-40B4-BE49-F238E27FC236}">
                <a16:creationId xmlns:a16="http://schemas.microsoft.com/office/drawing/2014/main" id="{4C98B803-5565-EEEB-6EF5-BFE9BBA885FF}"/>
              </a:ext>
            </a:extLst>
          </p:cNvPr>
          <p:cNvSpPr txBox="1"/>
          <p:nvPr/>
        </p:nvSpPr>
        <p:spPr>
          <a:xfrm>
            <a:off x="2100046" y="2618149"/>
            <a:ext cx="949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Context vector</a:t>
            </a:r>
            <a:endParaRPr kumimoji="1" lang="zh-TW" altLang="en-US" sz="1400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1143D18F-E743-ED2B-3896-652E141B4137}"/>
              </a:ext>
            </a:extLst>
          </p:cNvPr>
          <p:cNvSpPr/>
          <p:nvPr/>
        </p:nvSpPr>
        <p:spPr>
          <a:xfrm>
            <a:off x="6264739" y="4320356"/>
            <a:ext cx="233876" cy="4031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3EB5F19-8203-CE93-CAD3-D6A58CDE6038}"/>
                  </a:ext>
                </a:extLst>
              </p:cNvPr>
              <p:cNvSpPr txBox="1"/>
              <p:nvPr/>
            </p:nvSpPr>
            <p:spPr>
              <a:xfrm>
                <a:off x="6574159" y="4261315"/>
                <a:ext cx="1687922" cy="446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1800" b="0" i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zh-TW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groupChr>
                        <m:groupChrPr>
                          <m:chr m:val="←"/>
                          <m:pos m:val="top"/>
                          <m:vertJc m:val="bot"/>
                          <m:ctrlPr>
                            <a:rPr lang="zh-TW" altLang="en-US" sz="18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zh-TW" alt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3EB5F19-8203-CE93-CAD3-D6A58CDE6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4159" y="4261315"/>
                <a:ext cx="1687922" cy="446725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F59F4401-0F10-2DE4-3901-D3C850EFD1C8}"/>
                  </a:ext>
                </a:extLst>
              </p:cNvPr>
              <p:cNvSpPr txBox="1"/>
              <p:nvPr/>
            </p:nvSpPr>
            <p:spPr>
              <a:xfrm>
                <a:off x="7758815" y="2464892"/>
                <a:ext cx="420446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TW" dirty="0">
                    <a:latin typeface="Cambria Math" panose="02040503050406030204" pitchFamily="18" charset="0"/>
                  </a:rPr>
                  <a:t>Given </a:t>
                </a:r>
                <a:r>
                  <a:rPr lang="en-US" altLang="zh-TW" dirty="0" err="1">
                    <a:latin typeface="Cambria Math" panose="02040503050406030204" pitchFamily="18" charset="0"/>
                  </a:rPr>
                  <a:t>i</a:t>
                </a:r>
                <a:r>
                  <a:rPr lang="en-US" altLang="zh-TW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zh-TW" altLang="zh-TW" dirty="0">
                    <a:effectLst/>
                  </a:rPr>
                  <a:t> </a:t>
                </a:r>
                <a:r>
                  <a:rPr lang="en-US" altLang="zh-TW" dirty="0">
                    <a:latin typeface="Cambria Math" panose="02040503050406030204" pitchFamily="18" charset="0"/>
                  </a:rPr>
                  <a:t>{1, ..., n},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oftmax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180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altLang="zh-TW" sz="1800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altLang="zh-TW" sz="180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800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  <m:sSub>
                                <m:sSubPr>
                                  <m:ctrlPr>
                                    <a:rPr lang="zh-TW" altLang="zh-TW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TW" sz="18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TW" sz="1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TW" sz="1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  <m:sSub>
                                <m:sSubPr>
                                  <m:ctrlPr>
                                    <a:rPr lang="zh-TW" altLang="zh-TW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sz="1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TW" sz="1800" b="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F59F4401-0F10-2DE4-3901-D3C850EFD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8815" y="2464892"/>
                <a:ext cx="4204465" cy="1200329"/>
              </a:xfrm>
              <a:prstGeom prst="rect">
                <a:avLst/>
              </a:prstGeom>
              <a:blipFill>
                <a:blip r:embed="rId15"/>
                <a:stretch>
                  <a:fillRect l="-15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318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0" grpId="0"/>
      <p:bldP spid="12" grpId="0"/>
      <p:bldP spid="13" grpId="0"/>
      <p:bldP spid="33" grpId="0"/>
      <p:bldP spid="34" grpId="0"/>
      <p:bldP spid="39" grpId="0" animBg="1"/>
      <p:bldP spid="39" grpId="1" animBg="1"/>
      <p:bldP spid="40" grpId="0" animBg="1"/>
      <p:bldP spid="40" grpId="1" animBg="1"/>
      <p:bldP spid="42" grpId="0" animBg="1"/>
      <p:bldP spid="42" grpId="1" animBg="1"/>
      <p:bldP spid="43" grpId="0" animBg="1"/>
      <p:bldP spid="49" grpId="0" animBg="1"/>
      <p:bldP spid="54" grpId="0"/>
      <p:bldP spid="66" grpId="0"/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844F5-9BB5-8741-7E11-3D7900B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ea typeface="+mj-lt"/>
                <a:cs typeface="Calibri" panose="020F0502020204030204" pitchFamily="34" charset="0"/>
              </a:rPr>
              <a:t>Attention</a:t>
            </a:r>
            <a:endParaRPr 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9731F-DF8E-F243-F6F3-E092608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53</a:t>
            </a:fld>
            <a:endParaRPr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C45719CF-10F0-17DE-7709-103598A84762}"/>
              </a:ext>
            </a:extLst>
          </p:cNvPr>
          <p:cNvSpPr>
            <a:spLocks noGrp="1"/>
          </p:cNvSpPr>
          <p:nvPr/>
        </p:nvSpPr>
        <p:spPr>
          <a:xfrm>
            <a:off x="1164515" y="1614250"/>
            <a:ext cx="10050457" cy="628714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An example of machine translation.</a:t>
            </a:r>
            <a:endParaRPr lang="en-US" sz="2400" dirty="0">
              <a:latin typeface="Calibri" panose="020F0502020204030204" pitchFamily="34" charset="0"/>
              <a:ea typeface="新細明體" panose="02020500000000000000" pitchFamily="18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altLang="zh-TW" sz="2400" dirty="0">
              <a:latin typeface="Calibri" panose="020F0502020204030204" pitchFamily="34" charset="0"/>
              <a:ea typeface="新細明體" panose="02020500000000000000" pitchFamily="18" charset="-120"/>
              <a:cs typeface="Calibri" panose="020F0502020204030204" pitchFamily="34" charset="0"/>
            </a:endParaRPr>
          </a:p>
        </p:txBody>
      </p:sp>
      <p:pic>
        <p:nvPicPr>
          <p:cNvPr id="11" name="圖片 10" descr="一張含有 文字, 螢幕擷取畫面, 正方形, Rectangle 的圖片&#10;&#10;自動產生的描述">
            <a:extLst>
              <a:ext uri="{FF2B5EF4-FFF2-40B4-BE49-F238E27FC236}">
                <a16:creationId xmlns:a16="http://schemas.microsoft.com/office/drawing/2014/main" id="{8850556C-9065-9DCD-DEE3-5B91D798D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370" y="1998764"/>
            <a:ext cx="4142818" cy="4326466"/>
          </a:xfrm>
          <a:prstGeom prst="rect">
            <a:avLst/>
          </a:prstGeom>
        </p:spPr>
      </p:pic>
      <p:pic>
        <p:nvPicPr>
          <p:cNvPr id="14" name="圖片 13" descr="一張含有 文字, 螢幕擷取畫面, 正方形, 圖表 的圖片&#10;&#10;自動產生的描述">
            <a:extLst>
              <a:ext uri="{FF2B5EF4-FFF2-40B4-BE49-F238E27FC236}">
                <a16:creationId xmlns:a16="http://schemas.microsoft.com/office/drawing/2014/main" id="{C2907997-541D-968E-42F4-56A8E5DE5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38" y="1999662"/>
            <a:ext cx="4134134" cy="432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6119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6A5673-1205-424D-2050-367F76047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Other Attention Approaches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D3044F-0A0E-1C6E-C413-E78A85225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/>
              <a:t>Dot-product Attention: https://</a:t>
            </a:r>
            <a:r>
              <a:rPr kumimoji="1" lang="en" altLang="zh-TW" dirty="0" err="1"/>
              <a:t>arxiv.org</a:t>
            </a:r>
            <a:r>
              <a:rPr kumimoji="1" lang="en" altLang="zh-TW" dirty="0"/>
              <a:t>/abs/1508.04025</a:t>
            </a:r>
          </a:p>
          <a:p>
            <a:r>
              <a:rPr kumimoji="1" lang="en" altLang="zh-TW" dirty="0"/>
              <a:t>https://</a:t>
            </a:r>
            <a:r>
              <a:rPr kumimoji="1" lang="en" altLang="zh-TW" dirty="0" err="1"/>
              <a:t>lilianweng.github.io</a:t>
            </a:r>
            <a:r>
              <a:rPr kumimoji="1" lang="en" altLang="zh-TW" dirty="0"/>
              <a:t>/posts/2018-06-24-attention/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F1424B-F0D2-673F-DF31-A6621AC66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901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AB6151A5-2D6F-3748-8575-59D412696C53}"/>
              </a:ext>
            </a:extLst>
          </p:cNvPr>
          <p:cNvSpPr txBox="1">
            <a:spLocks/>
          </p:cNvSpPr>
          <p:nvPr/>
        </p:nvSpPr>
        <p:spPr>
          <a:xfrm>
            <a:off x="4725880" y="2315977"/>
            <a:ext cx="4737788" cy="251621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林宣辰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b1128015@cgu.edu.tw</a:t>
            </a:r>
          </a:p>
        </p:txBody>
      </p:sp>
    </p:spTree>
    <p:extLst>
      <p:ext uri="{BB962C8B-B14F-4D97-AF65-F5344CB8AC3E}">
        <p14:creationId xmlns:p14="http://schemas.microsoft.com/office/powerpoint/2010/main" val="2684697706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3532</TotalTime>
  <Words>3968</Words>
  <Application>Microsoft Macintosh PowerPoint</Application>
  <PresentationFormat>寬螢幕</PresentationFormat>
  <Paragraphs>895</Paragraphs>
  <Slides>55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55</vt:i4>
      </vt:variant>
    </vt:vector>
  </HeadingPairs>
  <TitlesOfParts>
    <vt:vector size="63" baseType="lpstr">
      <vt:lpstr>Microsoft JhengHei</vt:lpstr>
      <vt:lpstr>Aptos</vt:lpstr>
      <vt:lpstr>Arial</vt:lpstr>
      <vt:lpstr>Calibri</vt:lpstr>
      <vt:lpstr>Cambria Math</vt:lpstr>
      <vt:lpstr>Times New Roman</vt:lpstr>
      <vt:lpstr>Wingdings</vt:lpstr>
      <vt:lpstr>回顧</vt:lpstr>
      <vt:lpstr>自然語言處理與應用 Natural Language Processing and Applications</vt:lpstr>
      <vt:lpstr>現代自然語言處理基本功</vt:lpstr>
      <vt:lpstr>Outline</vt:lpstr>
      <vt:lpstr>Sub-word Tokenization</vt:lpstr>
      <vt:lpstr>Recap: Word Representations</vt:lpstr>
      <vt:lpstr>Recap: Text Generation with RNN</vt:lpstr>
      <vt:lpstr>Basic Pipeline of Natural Language Processing</vt:lpstr>
      <vt:lpstr>[Recap] How to build the vocabulary?</vt:lpstr>
      <vt:lpstr>Stemming (詞幹提取)</vt:lpstr>
      <vt:lpstr>Lemmatization (詞形還原)</vt:lpstr>
      <vt:lpstr>Segmentation vs. Tokenization</vt:lpstr>
      <vt:lpstr>Delimiter-based Segmentation</vt:lpstr>
      <vt:lpstr>[Recap] Embedding Lookup</vt:lpstr>
      <vt:lpstr>Delimiter-based Segmentation (Continued.)</vt:lpstr>
      <vt:lpstr>Summary</vt:lpstr>
      <vt:lpstr>Common Sub-word Tokenization Algorithms</vt:lpstr>
      <vt:lpstr>Sub-word Tokenization (1)</vt:lpstr>
      <vt:lpstr>Sub-word Tokenization (1)</vt:lpstr>
      <vt:lpstr>Sub-word Tokenization (2)</vt:lpstr>
      <vt:lpstr>Sub-word Tokenization (3)</vt:lpstr>
      <vt:lpstr>Sub-word Tokenization (4)</vt:lpstr>
      <vt:lpstr>Sub-word Tokenization (2)</vt:lpstr>
      <vt:lpstr>Sub-word Tokenization (3)</vt:lpstr>
      <vt:lpstr>Sub-word Tokenization (4)</vt:lpstr>
      <vt:lpstr>Sub-word Tokenization (2)</vt:lpstr>
      <vt:lpstr>Sub-word Tokenization (3)</vt:lpstr>
      <vt:lpstr>Sub-word Tokenization (4)</vt:lpstr>
      <vt:lpstr>Sub-word Tokenization (2)</vt:lpstr>
      <vt:lpstr>Sub-word Tokenization (3)</vt:lpstr>
      <vt:lpstr>Sub-word Tokenization (4)</vt:lpstr>
      <vt:lpstr>Finishing the Sub-word Leaning </vt:lpstr>
      <vt:lpstr>Tokenization with Learned BPE</vt:lpstr>
      <vt:lpstr>[注意事項] Tokenization with Learned BPE</vt:lpstr>
      <vt:lpstr>Properties of BPE</vt:lpstr>
      <vt:lpstr>Attention</vt:lpstr>
      <vt:lpstr>Attention relationship among words</vt:lpstr>
      <vt:lpstr>Attention</vt:lpstr>
      <vt:lpstr>What is Attention?</vt:lpstr>
      <vt:lpstr>RNNs for Sequence Classification</vt:lpstr>
      <vt:lpstr>Machine Translation</vt:lpstr>
      <vt:lpstr>RNNs for Machine Translation?</vt:lpstr>
      <vt:lpstr>RNNs for Machine Translation?</vt:lpstr>
      <vt:lpstr>RNNs for Machine Translation?</vt:lpstr>
      <vt:lpstr>Encoder and Decoder</vt:lpstr>
      <vt:lpstr>PowerPoint 簡報</vt:lpstr>
      <vt:lpstr>機器翻譯 (一般情況)</vt:lpstr>
      <vt:lpstr>一般情況的 encoder-decoder 有什麼問題？</vt:lpstr>
      <vt:lpstr>機器翻譯 (一般情況, t = 2)</vt:lpstr>
      <vt:lpstr>機器翻譯 (一般情況, t = 3)</vt:lpstr>
      <vt:lpstr>Additive Attention (算出 α_ti)</vt:lpstr>
      <vt:lpstr>得到了 Context vector 之後</vt:lpstr>
      <vt:lpstr>機器翻譯 (一般情況, t = 1)</vt:lpstr>
      <vt:lpstr>Attention</vt:lpstr>
      <vt:lpstr>Other Attention Approaches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林英嘉</cp:lastModifiedBy>
  <cp:revision>868</cp:revision>
  <dcterms:created xsi:type="dcterms:W3CDTF">2025-02-07T09:05:59Z</dcterms:created>
  <dcterms:modified xsi:type="dcterms:W3CDTF">2026-03-16T04:53:03Z</dcterms:modified>
</cp:coreProperties>
</file>