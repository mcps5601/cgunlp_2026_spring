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1"/>
  </p:notesMasterIdLst>
  <p:sldIdLst>
    <p:sldId id="508" r:id="rId2"/>
    <p:sldId id="518" r:id="rId3"/>
    <p:sldId id="681" r:id="rId4"/>
    <p:sldId id="741" r:id="rId5"/>
    <p:sldId id="615" r:id="rId6"/>
    <p:sldId id="698" r:id="rId7"/>
    <p:sldId id="700" r:id="rId8"/>
    <p:sldId id="631" r:id="rId9"/>
    <p:sldId id="752" r:id="rId10"/>
    <p:sldId id="751" r:id="rId11"/>
    <p:sldId id="747" r:id="rId12"/>
    <p:sldId id="703" r:id="rId13"/>
    <p:sldId id="701" r:id="rId14"/>
    <p:sldId id="709" r:id="rId15"/>
    <p:sldId id="710" r:id="rId16"/>
    <p:sldId id="521" r:id="rId17"/>
    <p:sldId id="523" r:id="rId18"/>
    <p:sldId id="706" r:id="rId19"/>
    <p:sldId id="285" r:id="rId20"/>
    <p:sldId id="526" r:id="rId21"/>
    <p:sldId id="528" r:id="rId22"/>
    <p:sldId id="529" r:id="rId23"/>
    <p:sldId id="704" r:id="rId24"/>
    <p:sldId id="707" r:id="rId25"/>
    <p:sldId id="708" r:id="rId26"/>
    <p:sldId id="753" r:id="rId27"/>
    <p:sldId id="748" r:id="rId28"/>
    <p:sldId id="702" r:id="rId29"/>
    <p:sldId id="520" r:id="rId30"/>
    <p:sldId id="525" r:id="rId31"/>
    <p:sldId id="754" r:id="rId32"/>
    <p:sldId id="527" r:id="rId33"/>
    <p:sldId id="530" r:id="rId34"/>
    <p:sldId id="531" r:id="rId35"/>
    <p:sldId id="532" r:id="rId36"/>
    <p:sldId id="533" r:id="rId37"/>
    <p:sldId id="662" r:id="rId38"/>
    <p:sldId id="740" r:id="rId39"/>
    <p:sldId id="325" r:id="rId40"/>
    <p:sldId id="711" r:id="rId41"/>
    <p:sldId id="331" r:id="rId42"/>
    <p:sldId id="333" r:id="rId43"/>
    <p:sldId id="650" r:id="rId44"/>
    <p:sldId id="667" r:id="rId45"/>
    <p:sldId id="712" r:id="rId46"/>
    <p:sldId id="300" r:id="rId47"/>
    <p:sldId id="720" r:id="rId48"/>
    <p:sldId id="721" r:id="rId49"/>
    <p:sldId id="654" r:id="rId50"/>
    <p:sldId id="653" r:id="rId51"/>
    <p:sldId id="334" r:id="rId52"/>
    <p:sldId id="714" r:id="rId53"/>
    <p:sldId id="338" r:id="rId54"/>
    <p:sldId id="713" r:id="rId55"/>
    <p:sldId id="755" r:id="rId56"/>
    <p:sldId id="320" r:id="rId57"/>
    <p:sldId id="321" r:id="rId58"/>
    <p:sldId id="652" r:id="rId59"/>
    <p:sldId id="739" r:id="rId6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F773BFB9-3CF9-6F4C-8A7C-856EA42EA4CE}">
          <p14:sldIdLst>
            <p14:sldId id="508"/>
            <p14:sldId id="518"/>
            <p14:sldId id="681"/>
            <p14:sldId id="741"/>
            <p14:sldId id="615"/>
            <p14:sldId id="698"/>
            <p14:sldId id="700"/>
            <p14:sldId id="631"/>
            <p14:sldId id="752"/>
            <p14:sldId id="751"/>
            <p14:sldId id="747"/>
            <p14:sldId id="703"/>
            <p14:sldId id="701"/>
            <p14:sldId id="709"/>
            <p14:sldId id="710"/>
            <p14:sldId id="521"/>
            <p14:sldId id="523"/>
            <p14:sldId id="706"/>
            <p14:sldId id="285"/>
            <p14:sldId id="526"/>
            <p14:sldId id="528"/>
            <p14:sldId id="529"/>
            <p14:sldId id="704"/>
            <p14:sldId id="707"/>
            <p14:sldId id="708"/>
            <p14:sldId id="753"/>
            <p14:sldId id="748"/>
            <p14:sldId id="702"/>
            <p14:sldId id="520"/>
            <p14:sldId id="525"/>
            <p14:sldId id="754"/>
            <p14:sldId id="527"/>
            <p14:sldId id="530"/>
            <p14:sldId id="531"/>
            <p14:sldId id="532"/>
            <p14:sldId id="533"/>
            <p14:sldId id="662"/>
            <p14:sldId id="740"/>
            <p14:sldId id="325"/>
            <p14:sldId id="711"/>
            <p14:sldId id="331"/>
            <p14:sldId id="333"/>
            <p14:sldId id="650"/>
            <p14:sldId id="667"/>
            <p14:sldId id="712"/>
            <p14:sldId id="300"/>
            <p14:sldId id="720"/>
            <p14:sldId id="721"/>
            <p14:sldId id="654"/>
            <p14:sldId id="653"/>
            <p14:sldId id="334"/>
            <p14:sldId id="714"/>
            <p14:sldId id="338"/>
            <p14:sldId id="713"/>
            <p14:sldId id="755"/>
            <p14:sldId id="320"/>
            <p14:sldId id="321"/>
            <p14:sldId id="652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8"/>
    <p:restoredTop sz="94270"/>
  </p:normalViewPr>
  <p:slideViewPr>
    <p:cSldViewPr snapToGrid="0">
      <p:cViewPr varScale="1">
        <p:scale>
          <a:sx n="133" d="100"/>
          <a:sy n="133" d="100"/>
        </p:scale>
        <p:origin x="22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2:32:29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22966 14129 8191,'19'0'0,"-3"0"0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2026/3/23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717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855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C6E3-AD3D-7A51-4DD8-9DBB3A7E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3189D4-27F6-32FE-F9A3-B13A4EBD7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5F13FFD4-9CFA-B187-15C3-861A050DB7D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ℎ_𝑖^𝑒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𝑒_𝑡𝑖</a:t>
                </a:r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801BC-017D-D660-B700-1ACE0C2A6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6876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9D8F3-B40D-2E9A-C0F2-8CE1BF16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922823-228E-FB7B-5FD9-8A9C411F4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8278A36-2777-FB96-818D-729C330F82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(Laser pointer)</a:t>
                </a:r>
              </a:p>
              <a:p>
                <a:r>
                  <a:rPr kumimoji="1" lang="en-US" altLang="zh-TW" dirty="0"/>
                  <a:t>Attention mechanism starts from the encoder hidden states which can be concatenated by bi-directional outputs.</a:t>
                </a:r>
              </a:p>
              <a:p>
                <a:r>
                  <a:rPr kumimoji="1" lang="en-US" altLang="zh-TW" dirty="0"/>
                  <a:t>Called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ℎ_𝑖^𝑒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r>
                  <a:rPr kumimoji="1" lang="en-US" altLang="zh-TW" dirty="0"/>
                  <a:t>than the temporal attention score </a:t>
                </a:r>
                <a:r>
                  <a:rPr kumimoji="1" lang="en-US" altLang="zh-TW" b="0" i="0">
                    <a:latin typeface="Cambria Math" panose="02040503050406030204" pitchFamily="18" charset="0"/>
                  </a:rPr>
                  <a:t>𝑒_𝑡𝑖</a:t>
                </a:r>
                <a:r>
                  <a:rPr kumimoji="1" lang="en-US" altLang="zh-TW" dirty="0"/>
                  <a:t> is obtained by the alignment model</a:t>
                </a:r>
              </a:p>
              <a:p>
                <a:r>
                  <a:rPr kumimoji="1" lang="en-US" altLang="zh-TW" dirty="0"/>
                  <a:t>The alignment model is a feed forward network, which scores how well the inputs at position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 and outputs at timestep t match</a:t>
                </a:r>
              </a:p>
              <a:p>
                <a:r>
                  <a:rPr kumimoji="1" lang="en-US" altLang="zh-TW" dirty="0"/>
                  <a:t>Then the attention score alpha is computed by a </a:t>
                </a:r>
                <a:r>
                  <a:rPr kumimoji="1" lang="en-US" altLang="zh-TW" dirty="0" err="1"/>
                  <a:t>softmax</a:t>
                </a:r>
                <a:r>
                  <a:rPr kumimoji="1" lang="en-US" altLang="zh-TW" dirty="0"/>
                  <a:t> function</a:t>
                </a:r>
              </a:p>
              <a:p>
                <a:r>
                  <a:rPr kumimoji="1" lang="en-US" altLang="zh-TW" dirty="0"/>
                  <a:t>Finally, the context vector of weighted sum is used to compute output at the decoding timestep t</a:t>
                </a:r>
              </a:p>
              <a:p>
                <a:endParaRPr kumimoji="1" lang="zh-TW" altLang="en-US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8D1194-BF17-7BB9-01C6-F4AA6BAF9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B6FA3-6A5C-4F42-A62F-1E0AEA80CC2A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5800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形狀小百科</a:t>
            </a:r>
            <a:endParaRPr kumimoji="1" lang="en-US" altLang="zh-TW" dirty="0"/>
          </a:p>
          <a:p>
            <a:r>
              <a:rPr kumimoji="1" lang="en-US" altLang="zh-TW" dirty="0" err="1"/>
              <a:t>h_i</a:t>
            </a:r>
            <a:r>
              <a:rPr kumimoji="1" lang="en-US" altLang="zh-TW" dirty="0"/>
              <a:t>: 2H</a:t>
            </a:r>
          </a:p>
          <a:p>
            <a:r>
              <a:rPr kumimoji="1" lang="en-US" altLang="zh-TW" dirty="0"/>
              <a:t>U: (H, 2H)</a:t>
            </a:r>
          </a:p>
          <a:p>
            <a:r>
              <a:rPr kumimoji="1" lang="en-US" altLang="zh-TW" dirty="0" err="1"/>
              <a:t>s_t</a:t>
            </a:r>
            <a:r>
              <a:rPr kumimoji="1" lang="en-US" altLang="zh-TW" dirty="0"/>
              <a:t>: H</a:t>
            </a:r>
          </a:p>
          <a:p>
            <a:r>
              <a:rPr kumimoji="1" lang="en-US" altLang="zh-TW" dirty="0"/>
              <a:t>W: (H, H)</a:t>
            </a:r>
          </a:p>
          <a:p>
            <a:r>
              <a:rPr kumimoji="1" lang="en-US" altLang="zh-TW" dirty="0"/>
              <a:t>v: (1, H)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9336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7841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24841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6992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64759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stats.stackexchange.com</a:t>
            </a:r>
            <a:r>
              <a:rPr kumimoji="1" lang="en" altLang="zh-TW" dirty="0"/>
              <a:t>/questions/421935/what-exactly-are-keys-queries-and-values-in-attention-mechanisms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109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5913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3701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8279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87132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63576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0920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9703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011812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6081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1553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0778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可以把 </a:t>
            </a:r>
            <a:r>
              <a:rPr kumimoji="1" lang="en-US" altLang="zh-TW" dirty="0"/>
              <a:t>FN</a:t>
            </a:r>
            <a:r>
              <a:rPr kumimoji="1" lang="zh-TW" altLang="en-US" dirty="0"/>
              <a:t> 想成 </a:t>
            </a:r>
            <a:r>
              <a:rPr kumimoji="1" lang="en-US" altLang="zh-TW" dirty="0"/>
              <a:t>Feature Normalization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42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03406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簡單來說，</a:t>
            </a:r>
            <a:r>
              <a:rPr kumimoji="1" lang="en" altLang="zh-TW" dirty="0"/>
              <a:t>LN</a:t>
            </a:r>
            <a:r>
              <a:rPr kumimoji="1" lang="zh-TW" altLang="en-US" dirty="0"/>
              <a:t>會在每個時間點的 </a:t>
            </a:r>
            <a:r>
              <a:rPr kumimoji="1" lang="en" altLang="zh-TW" dirty="0"/>
              <a:t>hidden state </a:t>
            </a:r>
            <a:r>
              <a:rPr kumimoji="1" lang="zh-TW" altLang="en-US" dirty="0"/>
              <a:t>都算出一組平均數跟標準差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81524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30901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RNNs use the recurrent nature to encode relative distance, but self-attention alone does not have the concept of distance. </a:t>
            </a:r>
          </a:p>
          <a:p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link: https://</a:t>
            </a:r>
            <a:r>
              <a:rPr kumimoji="1" lang="en-US" altLang="zh-TW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www.google.com</a:t>
            </a:r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en-US" altLang="zh-TW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imgres?imgurl</a:t>
            </a:r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=https%3A%2F%2Fen.pimg.jp%2F062%2F372%2F497%2F1%2F62372497.jpg&amp;tbnid=h12XO59LOC-2AM&amp;vet=12ahUKEwi-hZz5-aeEAxUjiq8BHWxaD30QMygLegQIARBw..i&amp;imgrefurl=https%3A%2F%2Fwww.pixtastock.com%2Fillustration%2F62372497&amp;docid=</a:t>
            </a:r>
            <a:r>
              <a:rPr kumimoji="1" lang="en-US" altLang="zh-TW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EjyqzObtASteNM&amp;w</a:t>
            </a:r>
            <a:r>
              <a:rPr kumimoji="1" lang="en-US" alt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=450&amp;h=468&amp;q=trouble%20face%20cute%20&amp;ved=2ahUKEwi-hZz5-aeEAxUjiq8BHWxaD30QMygLegQIARBw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783470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83771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005929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sin(</a:t>
            </a:r>
            <a:r>
              <a:rPr kumimoji="1" lang="en-US" altLang="zh-TW" dirty="0" err="1"/>
              <a:t>wt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</a:t>
            </a:r>
            <a:r>
              <a:rPr kumimoji="1" lang="en-US" altLang="zh-TW" dirty="0"/>
              <a:t>w</a:t>
            </a:r>
            <a:r>
              <a:rPr kumimoji="1" lang="zh-TW" altLang="en-US" dirty="0"/>
              <a:t>是角速度，</a:t>
            </a:r>
            <a:r>
              <a:rPr kumimoji="1" lang="en-US" altLang="zh-TW" dirty="0"/>
              <a:t>t</a:t>
            </a:r>
            <a:r>
              <a:rPr kumimoji="1" lang="zh-TW" altLang="en-US" dirty="0"/>
              <a:t>是時間，在這邊指的是</a:t>
            </a:r>
            <a:r>
              <a:rPr kumimoji="1" lang="en-US" altLang="zh-TW" dirty="0"/>
              <a:t>pos</a:t>
            </a:r>
          </a:p>
          <a:p>
            <a:r>
              <a:rPr kumimoji="1" lang="en-US" altLang="zh-TW" dirty="0"/>
              <a:t>w=</a:t>
            </a:r>
            <a:r>
              <a:rPr lang="el-GR" altLang="zh-TW" dirty="0"/>
              <a:t>2π</a:t>
            </a:r>
            <a:r>
              <a:rPr lang="en-US" altLang="zh-TW" dirty="0"/>
              <a:t>/</a:t>
            </a:r>
            <a:r>
              <a:rPr lang="el-GR" altLang="zh-TW" dirty="0"/>
              <a:t>λ</a:t>
            </a:r>
            <a:endParaRPr lang="en-US" altLang="zh-TW" dirty="0"/>
          </a:p>
          <a:p>
            <a:r>
              <a:rPr kumimoji="1" lang="en-US" altLang="zh-TW" dirty="0"/>
              <a:t>PE</a:t>
            </a:r>
            <a:r>
              <a:rPr kumimoji="1" lang="zh-TW" altLang="en-US" dirty="0"/>
              <a:t>公式可寫成</a:t>
            </a:r>
            <a:r>
              <a:rPr kumimoji="1" lang="en-US" altLang="zh-TW" dirty="0"/>
              <a:t>sin(</a:t>
            </a:r>
            <a:r>
              <a:rPr lang="el-GR" altLang="zh-TW" dirty="0"/>
              <a:t>2π</a:t>
            </a:r>
            <a:r>
              <a:rPr lang="en-US" altLang="zh-TW" dirty="0"/>
              <a:t>pos / 10000^{2i / d_{model}}</a:t>
            </a:r>
            <a:r>
              <a:rPr lang="zh-TW" altLang="en-US" dirty="0"/>
              <a:t> </a:t>
            </a:r>
            <a:r>
              <a:rPr lang="en-US" altLang="zh-TW" dirty="0"/>
              <a:t>* </a:t>
            </a:r>
            <a:r>
              <a:rPr lang="el-GR" altLang="zh-TW" dirty="0"/>
              <a:t>2π</a:t>
            </a:r>
            <a:r>
              <a:rPr lang="en-US" altLang="zh-TW" dirty="0"/>
              <a:t>)</a:t>
            </a:r>
          </a:p>
          <a:p>
            <a:r>
              <a:rPr kumimoji="1" lang="zh-TW" altLang="en-US" dirty="0"/>
              <a:t>因此</a:t>
            </a:r>
            <a:r>
              <a:rPr lang="el-GR" altLang="zh-TW" dirty="0"/>
              <a:t>λ</a:t>
            </a:r>
            <a:r>
              <a:rPr lang="zh-TW" altLang="en-US" dirty="0"/>
              <a:t>為</a:t>
            </a:r>
            <a:r>
              <a:rPr lang="en-US" altLang="zh-TW" dirty="0"/>
              <a:t>10000^{2i / d_{model}} * </a:t>
            </a:r>
            <a:r>
              <a:rPr lang="el-GR" altLang="zh-TW" dirty="0"/>
              <a:t>2π</a:t>
            </a:r>
            <a:endParaRPr lang="en-US" altLang="zh-TW" dirty="0"/>
          </a:p>
          <a:p>
            <a:endParaRPr kumimoji="1"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dirty="0" err="1"/>
              <a:t>i</a:t>
            </a:r>
            <a:r>
              <a:rPr kumimoji="1" lang="zh-TW" altLang="en-US" dirty="0"/>
              <a:t>最小時</a:t>
            </a:r>
            <a:r>
              <a:rPr lang="el-GR" altLang="zh-TW" dirty="0"/>
              <a:t>λ</a:t>
            </a:r>
            <a:r>
              <a:rPr lang="zh-TW" altLang="en-US" dirty="0"/>
              <a:t>為</a:t>
            </a:r>
            <a:r>
              <a:rPr lang="el-GR" altLang="zh-TW" dirty="0"/>
              <a:t>2π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dirty="0" err="1"/>
              <a:t>i</a:t>
            </a:r>
            <a:r>
              <a:rPr kumimoji="1" lang="zh-TW" altLang="en-US" dirty="0"/>
              <a:t>最大時</a:t>
            </a:r>
            <a:r>
              <a:rPr lang="el-GR" altLang="zh-TW" dirty="0"/>
              <a:t>λ</a:t>
            </a:r>
            <a:r>
              <a:rPr lang="zh-TW" altLang="en-US" dirty="0"/>
              <a:t>為</a:t>
            </a:r>
            <a:r>
              <a:rPr lang="en-US" altLang="zh-TW" dirty="0"/>
              <a:t>10000 * </a:t>
            </a:r>
            <a:r>
              <a:rPr lang="el-GR" altLang="zh-TW" dirty="0"/>
              <a:t>2π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84972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97072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K, V uses the output from encoder as their X;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Q uses the decoder’s information as X.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5751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90684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3B28-2F7C-524C-99B0-DFA9B150710E}" type="slidenum">
              <a:rPr kumimoji="1" lang="zh-TW" altLang="en-US" smtClean="0"/>
              <a:t>53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315757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4918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67559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151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rDgwJqWZxTaVWR2Pfkw8Q1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0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12" Type="http://schemas.openxmlformats.org/officeDocument/2006/relationships/image" Target="../media/image2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70.png"/><Relationship Id="rId5" Type="http://schemas.openxmlformats.org/officeDocument/2006/relationships/image" Target="../media/image14.png"/><Relationship Id="rId10" Type="http://schemas.openxmlformats.org/officeDocument/2006/relationships/image" Target="../media/image26.png"/><Relationship Id="rId4" Type="http://schemas.openxmlformats.org/officeDocument/2006/relationships/image" Target="../media/image2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40.png"/><Relationship Id="rId7" Type="http://schemas.openxmlformats.org/officeDocument/2006/relationships/image" Target="../media/image291.png"/><Relationship Id="rId12" Type="http://schemas.openxmlformats.org/officeDocument/2006/relationships/image" Target="../media/image3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320.png"/><Relationship Id="rId5" Type="http://schemas.openxmlformats.org/officeDocument/2006/relationships/image" Target="../media/image14.png"/><Relationship Id="rId10" Type="http://schemas.openxmlformats.org/officeDocument/2006/relationships/image" Target="../media/image310.png"/><Relationship Id="rId4" Type="http://schemas.openxmlformats.org/officeDocument/2006/relationships/image" Target="../media/image220.png"/><Relationship Id="rId9" Type="http://schemas.openxmlformats.org/officeDocument/2006/relationships/image" Target="../media/image300.png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7.png"/><Relationship Id="rId3" Type="http://schemas.openxmlformats.org/officeDocument/2006/relationships/image" Target="../media/image36.png"/><Relationship Id="rId7" Type="http://schemas.openxmlformats.org/officeDocument/2006/relationships/image" Target="../media/image30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340.png"/><Relationship Id="rId5" Type="http://schemas.openxmlformats.org/officeDocument/2006/relationships/image" Target="../media/image39.png"/><Relationship Id="rId15" Type="http://schemas.openxmlformats.org/officeDocument/2006/relationships/image" Target="../media/image41.png"/><Relationship Id="rId10" Type="http://schemas.openxmlformats.org/officeDocument/2006/relationships/image" Target="../media/image330.png"/><Relationship Id="rId4" Type="http://schemas.openxmlformats.org/officeDocument/2006/relationships/image" Target="../media/image38.png"/><Relationship Id="rId9" Type="http://schemas.openxmlformats.org/officeDocument/2006/relationships/image" Target="../media/image320.png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An-example-of-the-self-attention-mechanism-following-long-distance-dependency-in-the_fig1_342301870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190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png"/><Relationship Id="rId13" Type="http://schemas.openxmlformats.org/officeDocument/2006/relationships/image" Target="../media/image301.png"/><Relationship Id="rId18" Type="http://schemas.openxmlformats.org/officeDocument/2006/relationships/image" Target="../media/image350.png"/><Relationship Id="rId3" Type="http://schemas.openxmlformats.org/officeDocument/2006/relationships/image" Target="../media/image171.png"/><Relationship Id="rId7" Type="http://schemas.openxmlformats.org/officeDocument/2006/relationships/image" Target="../media/image240.png"/><Relationship Id="rId12" Type="http://schemas.openxmlformats.org/officeDocument/2006/relationships/image" Target="../media/image292.png"/><Relationship Id="rId17" Type="http://schemas.openxmlformats.org/officeDocument/2006/relationships/image" Target="../media/image341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31.png"/><Relationship Id="rId20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81.png"/><Relationship Id="rId5" Type="http://schemas.openxmlformats.org/officeDocument/2006/relationships/image" Target="../media/image192.png"/><Relationship Id="rId15" Type="http://schemas.openxmlformats.org/officeDocument/2006/relationships/image" Target="../media/image321.png"/><Relationship Id="rId10" Type="http://schemas.openxmlformats.org/officeDocument/2006/relationships/image" Target="../media/image271.png"/><Relationship Id="rId19" Type="http://schemas.openxmlformats.org/officeDocument/2006/relationships/image" Target="../media/image360.png"/><Relationship Id="rId4" Type="http://schemas.openxmlformats.org/officeDocument/2006/relationships/image" Target="../media/image182.png"/><Relationship Id="rId9" Type="http://schemas.openxmlformats.org/officeDocument/2006/relationships/image" Target="../media/image260.png"/><Relationship Id="rId14" Type="http://schemas.openxmlformats.org/officeDocument/2006/relationships/image" Target="../media/image3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image" Target="../media/image48.png"/><Relationship Id="rId18" Type="http://schemas.openxmlformats.org/officeDocument/2006/relationships/image" Target="../media/image59.png"/><Relationship Id="rId3" Type="http://schemas.openxmlformats.org/officeDocument/2006/relationships/image" Target="../media/image380.png"/><Relationship Id="rId7" Type="http://schemas.openxmlformats.org/officeDocument/2006/relationships/image" Target="../media/image420.png"/><Relationship Id="rId12" Type="http://schemas.openxmlformats.org/officeDocument/2006/relationships/image" Target="../media/image47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11" Type="http://schemas.openxmlformats.org/officeDocument/2006/relationships/image" Target="../media/image46.png"/><Relationship Id="rId5" Type="http://schemas.openxmlformats.org/officeDocument/2006/relationships/image" Target="../media/image400.png"/><Relationship Id="rId15" Type="http://schemas.openxmlformats.org/officeDocument/2006/relationships/image" Target="../media/image56.png"/><Relationship Id="rId10" Type="http://schemas.openxmlformats.org/officeDocument/2006/relationships/image" Target="../media/image45.png"/><Relationship Id="rId19" Type="http://schemas.openxmlformats.org/officeDocument/2006/relationships/image" Target="../media/image60.png"/><Relationship Id="rId4" Type="http://schemas.openxmlformats.org/officeDocument/2006/relationships/image" Target="../media/image39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5.png"/><Relationship Id="rId18" Type="http://schemas.openxmlformats.org/officeDocument/2006/relationships/image" Target="../media/image76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64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63.png"/><Relationship Id="rId5" Type="http://schemas.openxmlformats.org/officeDocument/2006/relationships/image" Target="../media/image52.png"/><Relationship Id="rId15" Type="http://schemas.openxmlformats.org/officeDocument/2006/relationships/image" Target="../media/image73.png"/><Relationship Id="rId10" Type="http://schemas.openxmlformats.org/officeDocument/2006/relationships/image" Target="../media/image62.png"/><Relationship Id="rId19" Type="http://schemas.openxmlformats.org/officeDocument/2006/relationships/image" Target="../media/image77.png"/><Relationship Id="rId4" Type="http://schemas.openxmlformats.org/officeDocument/2006/relationships/image" Target="../media/image51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9.png"/><Relationship Id="rId7" Type="http://schemas.openxmlformats.org/officeDocument/2006/relationships/image" Target="../media/image7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86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8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81.png"/><Relationship Id="rId10" Type="http://schemas.openxmlformats.org/officeDocument/2006/relationships/image" Target="../media/image2200.png"/><Relationship Id="rId4" Type="http://schemas.openxmlformats.org/officeDocument/2006/relationships/image" Target="../media/image80.png"/><Relationship Id="rId9" Type="http://schemas.openxmlformats.org/officeDocument/2006/relationships/image" Target="../media/image19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250.png"/><Relationship Id="rId4" Type="http://schemas.openxmlformats.org/officeDocument/2006/relationships/image" Target="../media/image9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7" Type="http://schemas.openxmlformats.org/officeDocument/2006/relationships/image" Target="../media/image9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250.png"/><Relationship Id="rId4" Type="http://schemas.openxmlformats.org/officeDocument/2006/relationships/image" Target="../media/image9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85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89.png"/><Relationship Id="rId9" Type="http://schemas.openxmlformats.org/officeDocument/2006/relationships/image" Target="../media/image1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.png"/><Relationship Id="rId4" Type="http://schemas.openxmlformats.org/officeDocument/2006/relationships/image" Target="../media/image600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Transformer</a:t>
            </a:r>
            <a:endParaRPr kumimoji="1" lang="zh-TW" altLang="en-US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2026/03/23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NLP0323 (</a:t>
            </a:r>
            <a:r>
              <a:rPr kumimoji="1" lang="en" altLang="zh-TW" dirty="0">
                <a:hlinkClick r:id="rId3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1076601-8F0B-4A65-46BC-95807A948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045" y="4921241"/>
            <a:ext cx="1768121" cy="176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586847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Recaps [10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Transformers [90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Homework 2 [30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[15 min]</a:t>
            </a:r>
          </a:p>
        </p:txBody>
      </p:sp>
    </p:spTree>
    <p:extLst>
      <p:ext uri="{BB962C8B-B14F-4D97-AF65-F5344CB8AC3E}">
        <p14:creationId xmlns:p14="http://schemas.microsoft.com/office/powerpoint/2010/main" val="264700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A4B0D-ADBF-AB68-88BC-C7280251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深度學習常見模型架構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BBB56-7C58-7116-360E-46E09CF1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2E9188-99F9-535E-4937-651819D2F4C8}"/>
              </a:ext>
            </a:extLst>
          </p:cNvPr>
          <p:cNvSpPr/>
          <p:nvPr/>
        </p:nvSpPr>
        <p:spPr>
          <a:xfrm>
            <a:off x="1131525" y="3941806"/>
            <a:ext cx="827903" cy="8279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655BDE-80C9-BC0F-087B-077AA3C3E281}"/>
              </a:ext>
            </a:extLst>
          </p:cNvPr>
          <p:cNvSpPr/>
          <p:nvPr/>
        </p:nvSpPr>
        <p:spPr>
          <a:xfrm>
            <a:off x="1131525" y="3941806"/>
            <a:ext cx="185351" cy="1853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4FF96C0-8C5E-FC12-FC17-12129436ED20}"/>
              </a:ext>
            </a:extLst>
          </p:cNvPr>
          <p:cNvCxnSpPr/>
          <p:nvPr/>
        </p:nvCxnSpPr>
        <p:spPr>
          <a:xfrm>
            <a:off x="1168593" y="4232193"/>
            <a:ext cx="228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CF9AAC7-E80D-8D7A-6E43-541F9F024DC6}"/>
              </a:ext>
            </a:extLst>
          </p:cNvPr>
          <p:cNvSpPr/>
          <p:nvPr/>
        </p:nvSpPr>
        <p:spPr>
          <a:xfrm>
            <a:off x="2237455" y="4126127"/>
            <a:ext cx="459259" cy="459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E7F158E-1D25-24C4-633A-A777A22970FF}"/>
              </a:ext>
            </a:extLst>
          </p:cNvPr>
          <p:cNvCxnSpPr>
            <a:cxnSpLocks/>
          </p:cNvCxnSpPr>
          <p:nvPr/>
        </p:nvCxnSpPr>
        <p:spPr>
          <a:xfrm>
            <a:off x="1316876" y="3954165"/>
            <a:ext cx="920579" cy="1800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BAF0285-AB7B-39F9-42E8-C08004E7AED7}"/>
              </a:ext>
            </a:extLst>
          </p:cNvPr>
          <p:cNvCxnSpPr>
            <a:cxnSpLocks/>
          </p:cNvCxnSpPr>
          <p:nvPr/>
        </p:nvCxnSpPr>
        <p:spPr>
          <a:xfrm flipH="1" flipV="1">
            <a:off x="1336441" y="4134225"/>
            <a:ext cx="913371" cy="917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58D325B-C331-0BF8-C410-E65BF635FA6D}"/>
              </a:ext>
            </a:extLst>
          </p:cNvPr>
          <p:cNvSpPr/>
          <p:nvPr/>
        </p:nvSpPr>
        <p:spPr>
          <a:xfrm>
            <a:off x="2249813" y="4143939"/>
            <a:ext cx="113268" cy="1132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A1B0241-5667-67A0-4760-C4AFBAA24C0D}"/>
              </a:ext>
            </a:extLst>
          </p:cNvPr>
          <p:cNvSpPr txBox="1"/>
          <p:nvPr/>
        </p:nvSpPr>
        <p:spPr>
          <a:xfrm>
            <a:off x="4225146" y="476970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08A08CA-B884-E7D6-82ED-8D06577D0930}"/>
              </a:ext>
            </a:extLst>
          </p:cNvPr>
          <p:cNvSpPr txBox="1"/>
          <p:nvPr/>
        </p:nvSpPr>
        <p:spPr>
          <a:xfrm>
            <a:off x="4951926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50706D6-17A1-8F84-2888-5A7582AB79D7}"/>
              </a:ext>
            </a:extLst>
          </p:cNvPr>
          <p:cNvSpPr txBox="1"/>
          <p:nvPr/>
        </p:nvSpPr>
        <p:spPr>
          <a:xfrm>
            <a:off x="5623204" y="476970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B1AE786-D22F-2101-21DB-229967DB29A7}"/>
              </a:ext>
            </a:extLst>
          </p:cNvPr>
          <p:cNvSpPr txBox="1"/>
          <p:nvPr/>
        </p:nvSpPr>
        <p:spPr>
          <a:xfrm>
            <a:off x="6272969" y="476970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57222733-D9EB-7984-460E-7ABCBB7385C6}"/>
              </a:ext>
            </a:extLst>
          </p:cNvPr>
          <p:cNvSpPr/>
          <p:nvPr/>
        </p:nvSpPr>
        <p:spPr>
          <a:xfrm>
            <a:off x="4371939" y="408925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DCD118DC-6BE9-8EEA-7BE1-01AA713649B0}"/>
              </a:ext>
            </a:extLst>
          </p:cNvPr>
          <p:cNvSpPr/>
          <p:nvPr/>
        </p:nvSpPr>
        <p:spPr>
          <a:xfrm>
            <a:off x="5095637" y="409225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42F0CA90-5C5C-23E1-2CF1-D204376A27A7}"/>
              </a:ext>
            </a:extLst>
          </p:cNvPr>
          <p:cNvSpPr/>
          <p:nvPr/>
        </p:nvSpPr>
        <p:spPr>
          <a:xfrm>
            <a:off x="5819335" y="409284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764EF694-3B95-C672-D21C-80EBFD7841D5}"/>
              </a:ext>
            </a:extLst>
          </p:cNvPr>
          <p:cNvSpPr/>
          <p:nvPr/>
        </p:nvSpPr>
        <p:spPr>
          <a:xfrm>
            <a:off x="6543033" y="408925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Google Shape;193;p17">
            <a:extLst>
              <a:ext uri="{FF2B5EF4-FFF2-40B4-BE49-F238E27FC236}">
                <a16:creationId xmlns:a16="http://schemas.microsoft.com/office/drawing/2014/main" id="{5B495652-96CC-929A-39BF-7A1AAF8DE5F9}"/>
              </a:ext>
            </a:extLst>
          </p:cNvPr>
          <p:cNvCxnSpPr>
            <a:cxnSpLocks/>
          </p:cNvCxnSpPr>
          <p:nvPr/>
        </p:nvCxnSpPr>
        <p:spPr>
          <a:xfrm rot="10800000">
            <a:off x="52620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94;p17">
            <a:extLst>
              <a:ext uri="{FF2B5EF4-FFF2-40B4-BE49-F238E27FC236}">
                <a16:creationId xmlns:a16="http://schemas.microsoft.com/office/drawing/2014/main" id="{D5AE85F3-A023-C627-9075-4AF080934D79}"/>
              </a:ext>
            </a:extLst>
          </p:cNvPr>
          <p:cNvCxnSpPr>
            <a:cxnSpLocks/>
          </p:cNvCxnSpPr>
          <p:nvPr/>
        </p:nvCxnSpPr>
        <p:spPr>
          <a:xfrm rot="10800000">
            <a:off x="59836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195;p17">
            <a:extLst>
              <a:ext uri="{FF2B5EF4-FFF2-40B4-BE49-F238E27FC236}">
                <a16:creationId xmlns:a16="http://schemas.microsoft.com/office/drawing/2014/main" id="{7CC17379-F806-21C9-6178-06E32AB7CCB9}"/>
              </a:ext>
            </a:extLst>
          </p:cNvPr>
          <p:cNvCxnSpPr>
            <a:cxnSpLocks/>
          </p:cNvCxnSpPr>
          <p:nvPr/>
        </p:nvCxnSpPr>
        <p:spPr>
          <a:xfrm rot="10800000">
            <a:off x="67051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195;p17">
            <a:extLst>
              <a:ext uri="{FF2B5EF4-FFF2-40B4-BE49-F238E27FC236}">
                <a16:creationId xmlns:a16="http://schemas.microsoft.com/office/drawing/2014/main" id="{C8031A89-C128-95D0-0770-E7F9380655E0}"/>
              </a:ext>
            </a:extLst>
          </p:cNvPr>
          <p:cNvCxnSpPr>
            <a:cxnSpLocks/>
          </p:cNvCxnSpPr>
          <p:nvPr/>
        </p:nvCxnSpPr>
        <p:spPr>
          <a:xfrm rot="10800000">
            <a:off x="45405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193;p17">
            <a:extLst>
              <a:ext uri="{FF2B5EF4-FFF2-40B4-BE49-F238E27FC236}">
                <a16:creationId xmlns:a16="http://schemas.microsoft.com/office/drawing/2014/main" id="{4B4F0FEB-E883-FD23-5465-FE979C5AC073}"/>
              </a:ext>
            </a:extLst>
          </p:cNvPr>
          <p:cNvCxnSpPr>
            <a:cxnSpLocks/>
          </p:cNvCxnSpPr>
          <p:nvPr/>
        </p:nvCxnSpPr>
        <p:spPr>
          <a:xfrm rot="16200000">
            <a:off x="4903565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193;p17">
            <a:extLst>
              <a:ext uri="{FF2B5EF4-FFF2-40B4-BE49-F238E27FC236}">
                <a16:creationId xmlns:a16="http://schemas.microsoft.com/office/drawing/2014/main" id="{7BD1291D-6361-51E2-2205-10B8DC139E0C}"/>
              </a:ext>
            </a:extLst>
          </p:cNvPr>
          <p:cNvCxnSpPr>
            <a:cxnSpLocks/>
          </p:cNvCxnSpPr>
          <p:nvPr/>
        </p:nvCxnSpPr>
        <p:spPr>
          <a:xfrm rot="16200000">
            <a:off x="5619624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193;p17">
            <a:extLst>
              <a:ext uri="{FF2B5EF4-FFF2-40B4-BE49-F238E27FC236}">
                <a16:creationId xmlns:a16="http://schemas.microsoft.com/office/drawing/2014/main" id="{7084FCB7-0B38-CEAF-2E24-64352DB0AA7A}"/>
              </a:ext>
            </a:extLst>
          </p:cNvPr>
          <p:cNvCxnSpPr>
            <a:cxnSpLocks/>
          </p:cNvCxnSpPr>
          <p:nvPr/>
        </p:nvCxnSpPr>
        <p:spPr>
          <a:xfrm rot="16200000">
            <a:off x="6340437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5DCFA54-065A-9330-DF7E-C15CD8100274}"/>
              </a:ext>
            </a:extLst>
          </p:cNvPr>
          <p:cNvSpPr txBox="1"/>
          <p:nvPr/>
        </p:nvSpPr>
        <p:spPr>
          <a:xfrm>
            <a:off x="8357179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AA1C1EA-B16D-CDA1-4329-A79D6D83CD2A}"/>
              </a:ext>
            </a:extLst>
          </p:cNvPr>
          <p:cNvSpPr txBox="1"/>
          <p:nvPr/>
        </p:nvSpPr>
        <p:spPr>
          <a:xfrm>
            <a:off x="9083959" y="476970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066A6BB9-24C9-E51A-99EF-5E94A4D532FB}"/>
              </a:ext>
            </a:extLst>
          </p:cNvPr>
          <p:cNvSpPr txBox="1"/>
          <p:nvPr/>
        </p:nvSpPr>
        <p:spPr>
          <a:xfrm>
            <a:off x="9755237" y="476970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CF9AA4D-F329-672F-66E5-8772CCFBA6CF}"/>
              </a:ext>
            </a:extLst>
          </p:cNvPr>
          <p:cNvSpPr txBox="1"/>
          <p:nvPr/>
        </p:nvSpPr>
        <p:spPr>
          <a:xfrm>
            <a:off x="10405002" y="476970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F1E97076-7658-B55C-62FF-EF3573CCFD8A}"/>
              </a:ext>
            </a:extLst>
          </p:cNvPr>
          <p:cNvSpPr/>
          <p:nvPr/>
        </p:nvSpPr>
        <p:spPr>
          <a:xfrm>
            <a:off x="8503972" y="408925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A5D5AAFA-167E-7D28-CBD6-4D33575C199E}"/>
              </a:ext>
            </a:extLst>
          </p:cNvPr>
          <p:cNvSpPr/>
          <p:nvPr/>
        </p:nvSpPr>
        <p:spPr>
          <a:xfrm>
            <a:off x="9227670" y="409225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9" name="圓角矩形 98">
            <a:extLst>
              <a:ext uri="{FF2B5EF4-FFF2-40B4-BE49-F238E27FC236}">
                <a16:creationId xmlns:a16="http://schemas.microsoft.com/office/drawing/2014/main" id="{C74F5FDB-9EF8-19C4-3758-A0F0844832BD}"/>
              </a:ext>
            </a:extLst>
          </p:cNvPr>
          <p:cNvSpPr/>
          <p:nvPr/>
        </p:nvSpPr>
        <p:spPr>
          <a:xfrm>
            <a:off x="9951368" y="409284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0" name="圓角矩形 99">
            <a:extLst>
              <a:ext uri="{FF2B5EF4-FFF2-40B4-BE49-F238E27FC236}">
                <a16:creationId xmlns:a16="http://schemas.microsoft.com/office/drawing/2014/main" id="{1AE583C5-B4F9-3C53-D5C0-7E19525EA0DC}"/>
              </a:ext>
            </a:extLst>
          </p:cNvPr>
          <p:cNvSpPr/>
          <p:nvPr/>
        </p:nvSpPr>
        <p:spPr>
          <a:xfrm>
            <a:off x="10675066" y="408925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Google Shape;193;p17">
            <a:extLst>
              <a:ext uri="{FF2B5EF4-FFF2-40B4-BE49-F238E27FC236}">
                <a16:creationId xmlns:a16="http://schemas.microsoft.com/office/drawing/2014/main" id="{7247A728-A4BF-8C3B-D6BD-7D3ADCA43A7F}"/>
              </a:ext>
            </a:extLst>
          </p:cNvPr>
          <p:cNvCxnSpPr>
            <a:cxnSpLocks/>
          </p:cNvCxnSpPr>
          <p:nvPr/>
        </p:nvCxnSpPr>
        <p:spPr>
          <a:xfrm rot="10800000">
            <a:off x="93941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7043418C-CD6E-9785-39B3-024E3D7F95A5}"/>
              </a:ext>
            </a:extLst>
          </p:cNvPr>
          <p:cNvCxnSpPr>
            <a:cxnSpLocks/>
          </p:cNvCxnSpPr>
          <p:nvPr/>
        </p:nvCxnSpPr>
        <p:spPr>
          <a:xfrm rot="10800000">
            <a:off x="101156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95;p17">
            <a:extLst>
              <a:ext uri="{FF2B5EF4-FFF2-40B4-BE49-F238E27FC236}">
                <a16:creationId xmlns:a16="http://schemas.microsoft.com/office/drawing/2014/main" id="{C44E3066-5A68-7A64-3D40-9C7428C9C3D1}"/>
              </a:ext>
            </a:extLst>
          </p:cNvPr>
          <p:cNvCxnSpPr>
            <a:cxnSpLocks/>
          </p:cNvCxnSpPr>
          <p:nvPr/>
        </p:nvCxnSpPr>
        <p:spPr>
          <a:xfrm rot="10800000">
            <a:off x="108372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95;p17">
            <a:extLst>
              <a:ext uri="{FF2B5EF4-FFF2-40B4-BE49-F238E27FC236}">
                <a16:creationId xmlns:a16="http://schemas.microsoft.com/office/drawing/2014/main" id="{9A0FFD74-D705-46EF-DF84-52CB48C7B516}"/>
              </a:ext>
            </a:extLst>
          </p:cNvPr>
          <p:cNvCxnSpPr>
            <a:cxnSpLocks/>
          </p:cNvCxnSpPr>
          <p:nvPr/>
        </p:nvCxnSpPr>
        <p:spPr>
          <a:xfrm rot="10800000">
            <a:off x="86725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93;p17">
            <a:extLst>
              <a:ext uri="{FF2B5EF4-FFF2-40B4-BE49-F238E27FC236}">
                <a16:creationId xmlns:a16="http://schemas.microsoft.com/office/drawing/2014/main" id="{FD0E2963-5602-8F08-39E6-55B96C6CCF62}"/>
              </a:ext>
            </a:extLst>
          </p:cNvPr>
          <p:cNvCxnSpPr>
            <a:cxnSpLocks/>
          </p:cNvCxnSpPr>
          <p:nvPr/>
        </p:nvCxnSpPr>
        <p:spPr>
          <a:xfrm rot="16200000">
            <a:off x="9035598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93;p17">
            <a:extLst>
              <a:ext uri="{FF2B5EF4-FFF2-40B4-BE49-F238E27FC236}">
                <a16:creationId xmlns:a16="http://schemas.microsoft.com/office/drawing/2014/main" id="{4D8E11BB-9004-0A1E-66FF-75A286F739B3}"/>
              </a:ext>
            </a:extLst>
          </p:cNvPr>
          <p:cNvCxnSpPr>
            <a:cxnSpLocks/>
          </p:cNvCxnSpPr>
          <p:nvPr/>
        </p:nvCxnSpPr>
        <p:spPr>
          <a:xfrm rot="16200000">
            <a:off x="9751657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93;p17">
            <a:extLst>
              <a:ext uri="{FF2B5EF4-FFF2-40B4-BE49-F238E27FC236}">
                <a16:creationId xmlns:a16="http://schemas.microsoft.com/office/drawing/2014/main" id="{99B72DB4-CEAC-0E13-6E27-91490FAD7578}"/>
              </a:ext>
            </a:extLst>
          </p:cNvPr>
          <p:cNvCxnSpPr>
            <a:cxnSpLocks/>
          </p:cNvCxnSpPr>
          <p:nvPr/>
        </p:nvCxnSpPr>
        <p:spPr>
          <a:xfrm rot="16200000">
            <a:off x="10472470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曲線接點 108">
            <a:extLst>
              <a:ext uri="{FF2B5EF4-FFF2-40B4-BE49-F238E27FC236}">
                <a16:creationId xmlns:a16="http://schemas.microsoft.com/office/drawing/2014/main" id="{9B0DC847-52C3-76FB-2373-932B3C701608}"/>
              </a:ext>
            </a:extLst>
          </p:cNvPr>
          <p:cNvCxnSpPr>
            <a:stCxn id="97" idx="0"/>
            <a:endCxn id="98" idx="0"/>
          </p:cNvCxnSpPr>
          <p:nvPr/>
        </p:nvCxnSpPr>
        <p:spPr>
          <a:xfrm rot="16200000" flipH="1">
            <a:off x="9026459" y="372890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曲線接點 109">
            <a:extLst>
              <a:ext uri="{FF2B5EF4-FFF2-40B4-BE49-F238E27FC236}">
                <a16:creationId xmlns:a16="http://schemas.microsoft.com/office/drawing/2014/main" id="{3ABF1D0F-B4D8-0BD3-1526-56AA941B8741}"/>
              </a:ext>
            </a:extLst>
          </p:cNvPr>
          <p:cNvCxnSpPr>
            <a:cxnSpLocks/>
            <a:stCxn id="98" idx="0"/>
            <a:endCxn id="99" idx="0"/>
          </p:cNvCxnSpPr>
          <p:nvPr/>
        </p:nvCxnSpPr>
        <p:spPr>
          <a:xfrm rot="16200000" flipH="1">
            <a:off x="9751359" y="373069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線接點 112">
            <a:extLst>
              <a:ext uri="{FF2B5EF4-FFF2-40B4-BE49-F238E27FC236}">
                <a16:creationId xmlns:a16="http://schemas.microsoft.com/office/drawing/2014/main" id="{071F9B04-E6F1-FF40-77A2-9B70F784B658}"/>
              </a:ext>
            </a:extLst>
          </p:cNvPr>
          <p:cNvCxnSpPr>
            <a:cxnSpLocks/>
            <a:stCxn id="99" idx="0"/>
            <a:endCxn id="100" idx="0"/>
          </p:cNvCxnSpPr>
          <p:nvPr/>
        </p:nvCxnSpPr>
        <p:spPr>
          <a:xfrm rot="5400000" flipH="1" flipV="1">
            <a:off x="10473557" y="372919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線接點 116">
            <a:extLst>
              <a:ext uri="{FF2B5EF4-FFF2-40B4-BE49-F238E27FC236}">
                <a16:creationId xmlns:a16="http://schemas.microsoft.com/office/drawing/2014/main" id="{50AAA37A-AAEB-B816-D4DF-F4EBC42DC848}"/>
              </a:ext>
            </a:extLst>
          </p:cNvPr>
          <p:cNvCxnSpPr>
            <a:cxnSpLocks/>
            <a:stCxn id="97" idx="0"/>
            <a:endCxn id="99" idx="0"/>
          </p:cNvCxnSpPr>
          <p:nvPr/>
        </p:nvCxnSpPr>
        <p:spPr>
          <a:xfrm rot="16200000" flipH="1">
            <a:off x="9388010" y="336735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線接點 119">
            <a:extLst>
              <a:ext uri="{FF2B5EF4-FFF2-40B4-BE49-F238E27FC236}">
                <a16:creationId xmlns:a16="http://schemas.microsoft.com/office/drawing/2014/main" id="{9D51BEA6-5532-9FA5-BEB5-B22F97781C89}"/>
              </a:ext>
            </a:extLst>
          </p:cNvPr>
          <p:cNvCxnSpPr>
            <a:cxnSpLocks/>
            <a:stCxn id="97" idx="0"/>
            <a:endCxn id="100" idx="0"/>
          </p:cNvCxnSpPr>
          <p:nvPr/>
        </p:nvCxnSpPr>
        <p:spPr>
          <a:xfrm rot="5400000" flipH="1" flipV="1">
            <a:off x="9751657" y="300370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線接點 122">
            <a:extLst>
              <a:ext uri="{FF2B5EF4-FFF2-40B4-BE49-F238E27FC236}">
                <a16:creationId xmlns:a16="http://schemas.microsoft.com/office/drawing/2014/main" id="{99D2E61B-76E9-83D6-4E33-F1BBFA6095A3}"/>
              </a:ext>
            </a:extLst>
          </p:cNvPr>
          <p:cNvCxnSpPr>
            <a:cxnSpLocks/>
            <a:stCxn id="98" idx="0"/>
            <a:endCxn id="100" idx="0"/>
          </p:cNvCxnSpPr>
          <p:nvPr/>
        </p:nvCxnSpPr>
        <p:spPr>
          <a:xfrm rot="5400000" flipH="1" flipV="1">
            <a:off x="10112006" y="336705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AD886D36-8D5C-CC16-CF33-9A3F0966E28D}"/>
              </a:ext>
            </a:extLst>
          </p:cNvPr>
          <p:cNvSpPr txBox="1"/>
          <p:nvPr/>
        </p:nvSpPr>
        <p:spPr>
          <a:xfrm>
            <a:off x="541757" y="2529359"/>
            <a:ext cx="2831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CNN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著重局部資訊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A760FD09-FFA9-A4A1-6C7D-4C30DE6ADB6C}"/>
              </a:ext>
            </a:extLst>
          </p:cNvPr>
          <p:cNvSpPr txBox="1"/>
          <p:nvPr/>
        </p:nvSpPr>
        <p:spPr>
          <a:xfrm>
            <a:off x="4273083" y="2529359"/>
            <a:ext cx="278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RNN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1DD5EF3-243B-2AE6-190D-F1CD8A694FCA}"/>
              </a:ext>
            </a:extLst>
          </p:cNvPr>
          <p:cNvSpPr txBox="1"/>
          <p:nvPr/>
        </p:nvSpPr>
        <p:spPr>
          <a:xfrm>
            <a:off x="7708438" y="2529359"/>
            <a:ext cx="425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Transformer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著重全局資訊與記憶力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8899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[Recap] Recurrent Neural Networks (RNN)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4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615276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Recurrent Neural Networks (RNNs) are a type of artificial neural network designed to handle sequential data by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+mn-lt"/>
                <a:cs typeface="+mn-lt"/>
              </a:rPr>
              <a:t>capturing temporal dependencies</a:t>
            </a: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.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RNN </a:t>
            </a:r>
            <a:r>
              <a:rPr lang="zh-TW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的“遞迴”是指它在每一個時間步中重複使用相同的參數（同一組權重），並把先前的隱藏狀態傳到下一個時間步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n-lt"/>
              <a:cs typeface="+mn-lt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C4F34826-E22D-51B8-3036-543B02C0B18B}"/>
              </a:ext>
            </a:extLst>
          </p:cNvPr>
          <p:cNvSpPr/>
          <p:nvPr/>
        </p:nvSpPr>
        <p:spPr>
          <a:xfrm>
            <a:off x="3880620" y="4646841"/>
            <a:ext cx="326571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pic>
        <p:nvPicPr>
          <p:cNvPr id="6" name="圖片 5" descr="一張含有 圖表, 螢幕擷取畫面, 行, 設計 的圖片&#10;&#10;自動產生的描述">
            <a:extLst>
              <a:ext uri="{FF2B5EF4-FFF2-40B4-BE49-F238E27FC236}">
                <a16:creationId xmlns:a16="http://schemas.microsoft.com/office/drawing/2014/main" id="{64D6D508-1E28-1B2F-1579-DEBDD383C2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3" b="4767"/>
          <a:stretch/>
        </p:blipFill>
        <p:spPr>
          <a:xfrm>
            <a:off x="1368657" y="3296659"/>
            <a:ext cx="1966371" cy="3009684"/>
          </a:xfrm>
          <a:prstGeom prst="rect">
            <a:avLst/>
          </a:prstGeom>
        </p:spPr>
      </p:pic>
      <p:pic>
        <p:nvPicPr>
          <p:cNvPr id="10" name="圖片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DA0F7D75-46D7-D4A7-34E0-3F7381D1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51" y="3188521"/>
            <a:ext cx="6636151" cy="338234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3C060A4-1105-64D4-7C5A-851DC170782A}"/>
              </a:ext>
            </a:extLst>
          </p:cNvPr>
          <p:cNvSpPr txBox="1"/>
          <p:nvPr/>
        </p:nvSpPr>
        <p:spPr>
          <a:xfrm>
            <a:off x="2981479" y="4591128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9AF237-68C2-08B1-8E39-39571BE4C14F}"/>
              </a:ext>
            </a:extLst>
          </p:cNvPr>
          <p:cNvSpPr txBox="1"/>
          <p:nvPr/>
        </p:nvSpPr>
        <p:spPr>
          <a:xfrm>
            <a:off x="1716045" y="5330904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A3932A-C9B4-D22D-067E-9ED8A243C486}"/>
              </a:ext>
            </a:extLst>
          </p:cNvPr>
          <p:cNvSpPr txBox="1"/>
          <p:nvPr/>
        </p:nvSpPr>
        <p:spPr>
          <a:xfrm>
            <a:off x="6366296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54130EE-EDD3-A318-160A-9C8A359863FA}"/>
              </a:ext>
            </a:extLst>
          </p:cNvPr>
          <p:cNvSpPr txBox="1"/>
          <p:nvPr/>
        </p:nvSpPr>
        <p:spPr>
          <a:xfrm>
            <a:off x="8070093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A424E99-0010-411E-5EC1-AD35454ABA22}"/>
              </a:ext>
            </a:extLst>
          </p:cNvPr>
          <p:cNvSpPr txBox="1"/>
          <p:nvPr/>
        </p:nvSpPr>
        <p:spPr>
          <a:xfrm>
            <a:off x="9733339" y="5404992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</a:t>
            </a:r>
            <a:endParaRPr kumimoji="1"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009686C-244D-A00B-134D-4B588CB2C9D0}"/>
              </a:ext>
            </a:extLst>
          </p:cNvPr>
          <p:cNvSpPr txBox="1"/>
          <p:nvPr/>
        </p:nvSpPr>
        <p:spPr>
          <a:xfrm>
            <a:off x="5758779" y="4432125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797FE8-86D9-A238-9F1C-74CFF3C428A2}"/>
              </a:ext>
            </a:extLst>
          </p:cNvPr>
          <p:cNvSpPr txBox="1"/>
          <p:nvPr/>
        </p:nvSpPr>
        <p:spPr>
          <a:xfrm>
            <a:off x="7437101" y="4440486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D09C79E-ABED-368D-8B61-4F488796062B}"/>
              </a:ext>
            </a:extLst>
          </p:cNvPr>
          <p:cNvSpPr txBox="1"/>
          <p:nvPr/>
        </p:nvSpPr>
        <p:spPr>
          <a:xfrm>
            <a:off x="9127837" y="4440486"/>
            <a:ext cx="35354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U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5440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[Recap] 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99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6" grpId="0" animBg="1"/>
      <p:bldP spid="34" grpId="0" animBg="1"/>
      <p:bldP spid="39" grpId="0"/>
      <p:bldP spid="40" grpId="0" animBg="1"/>
      <p:bldP spid="41" grpId="0"/>
      <p:bldP spid="45" grpId="0"/>
      <p:bldP spid="46" grpId="0"/>
      <p:bldP spid="53" grpId="0" animBg="1"/>
      <p:bldP spid="54" grpId="0"/>
      <p:bldP spid="55" grpId="0"/>
      <p:bldP spid="56" grpId="0"/>
      <p:bldP spid="13" grpId="0" animBg="1"/>
      <p:bldP spid="18" grpId="0" animBg="1"/>
      <p:bldP spid="25" grpId="0"/>
      <p:bldP spid="27" grpId="0"/>
      <p:bldP spid="29" grpId="0"/>
      <p:bldP spid="30" grpId="0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C849-99A3-298B-56BE-116F7AC9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1C72E-08E9-5217-5A48-C6EC9969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[Recap] RNN </a:t>
            </a:r>
            <a:r>
              <a:rPr lang="zh-TW" altLang="en-US" dirty="0">
                <a:latin typeface="+mj-ea"/>
                <a:cs typeface="Calibri" panose="020F0502020204030204" pitchFamily="34" charset="0"/>
              </a:rPr>
              <a:t>的記憶力意義</a:t>
            </a:r>
            <a:endParaRPr lang="zh-TW" altLang="en-US" dirty="0">
              <a:latin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D66F8-5DAE-FCEE-39E0-0C1722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6</a:t>
            </a:fld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307D465-17E9-F1ED-BC61-CAB9793DF4CB}"/>
              </a:ext>
            </a:extLst>
          </p:cNvPr>
          <p:cNvGrpSpPr/>
          <p:nvPr/>
        </p:nvGrpSpPr>
        <p:grpSpPr>
          <a:xfrm>
            <a:off x="547970" y="4012670"/>
            <a:ext cx="11023544" cy="1782262"/>
            <a:chOff x="547970" y="4012670"/>
            <a:chExt cx="11023544" cy="178226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8AD376-A5C1-BCEE-A20E-1E48C4A91012}"/>
                </a:ext>
              </a:extLst>
            </p:cNvPr>
            <p:cNvSpPr/>
            <p:nvPr/>
          </p:nvSpPr>
          <p:spPr>
            <a:xfrm>
              <a:off x="2392525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庭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F3EBA4E-3A00-2125-D9AF-F8605FEAFFE6}"/>
                </a:ext>
              </a:extLst>
            </p:cNvPr>
            <p:cNvSpPr/>
            <p:nvPr/>
          </p:nvSpPr>
          <p:spPr>
            <a:xfrm>
              <a:off x="4033257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院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9D0CDE6-9FB0-4205-398E-636C340A773C}"/>
                </a:ext>
              </a:extLst>
            </p:cNvPr>
            <p:cNvSpPr/>
            <p:nvPr/>
          </p:nvSpPr>
          <p:spPr>
            <a:xfrm>
              <a:off x="2188705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D46F4B8-76DD-B4A5-5BAC-8C9FCB3608E9}"/>
                </a:ext>
              </a:extLst>
            </p:cNvPr>
            <p:cNvSpPr/>
            <p:nvPr/>
          </p:nvSpPr>
          <p:spPr>
            <a:xfrm>
              <a:off x="3829441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D2FF996-4635-36A8-C173-A858231CA9F9}"/>
                </a:ext>
              </a:extLst>
            </p:cNvPr>
            <p:cNvSpPr/>
            <p:nvPr/>
          </p:nvSpPr>
          <p:spPr>
            <a:xfrm>
              <a:off x="5673993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深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F0364B9-3372-2696-B9BF-7FE6B48F8ABE}"/>
                </a:ext>
              </a:extLst>
            </p:cNvPr>
            <p:cNvSpPr/>
            <p:nvPr/>
          </p:nvSpPr>
          <p:spPr>
            <a:xfrm>
              <a:off x="5470177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07E1F00-22F0-2B19-3BB5-583849515D8D}"/>
                </a:ext>
              </a:extLst>
            </p:cNvPr>
            <p:cNvSpPr/>
            <p:nvPr/>
          </p:nvSpPr>
          <p:spPr>
            <a:xfrm>
              <a:off x="9047292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幾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A299266-13B9-3FC0-4780-6364DC60E4D0}"/>
                </a:ext>
              </a:extLst>
            </p:cNvPr>
            <p:cNvSpPr/>
            <p:nvPr/>
          </p:nvSpPr>
          <p:spPr>
            <a:xfrm>
              <a:off x="8843476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939ED7D-EB84-B212-99D9-551BE533707B}"/>
                </a:ext>
              </a:extLst>
            </p:cNvPr>
            <p:cNvSpPr/>
            <p:nvPr/>
          </p:nvSpPr>
          <p:spPr>
            <a:xfrm>
              <a:off x="10684115" y="5306660"/>
              <a:ext cx="683581" cy="488272"/>
            </a:xfrm>
            <a:prstGeom prst="rect">
              <a:avLst/>
            </a:prstGeom>
            <a:solidFill>
              <a:srgbClr val="F9EDC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dirty="0">
                  <a:solidFill>
                    <a:schemeClr val="tx1"/>
                  </a:solidFill>
                </a:rPr>
                <a:t>許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B0583E1-A83D-31F2-B786-D989656FF794}"/>
                </a:ext>
              </a:extLst>
            </p:cNvPr>
            <p:cNvSpPr/>
            <p:nvPr/>
          </p:nvSpPr>
          <p:spPr>
            <a:xfrm>
              <a:off x="10480299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7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箭頭接點 18">
              <a:extLst>
                <a:ext uri="{FF2B5EF4-FFF2-40B4-BE49-F238E27FC236}">
                  <a16:creationId xmlns:a16="http://schemas.microsoft.com/office/drawing/2014/main" id="{707408FA-1271-969E-0707-1DF05634E9F4}"/>
                </a:ext>
              </a:extLst>
            </p:cNvPr>
            <p:cNvCxnSpPr>
              <a:stCxn id="9" idx="3"/>
              <a:endCxn id="11" idx="1"/>
            </p:cNvCxnSpPr>
            <p:nvPr/>
          </p:nvCxnSpPr>
          <p:spPr>
            <a:xfrm>
              <a:off x="3279920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箭頭接點 19">
              <a:extLst>
                <a:ext uri="{FF2B5EF4-FFF2-40B4-BE49-F238E27FC236}">
                  <a16:creationId xmlns:a16="http://schemas.microsoft.com/office/drawing/2014/main" id="{52D2F549-477F-F97E-B3F4-000FA572D702}"/>
                </a:ext>
              </a:extLst>
            </p:cNvPr>
            <p:cNvCxnSpPr>
              <a:cxnSpLocks/>
              <a:stCxn id="11" idx="3"/>
              <a:endCxn id="13" idx="1"/>
            </p:cNvCxnSpPr>
            <p:nvPr/>
          </p:nvCxnSpPr>
          <p:spPr>
            <a:xfrm>
              <a:off x="4920656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箭頭接點 24">
              <a:extLst>
                <a:ext uri="{FF2B5EF4-FFF2-40B4-BE49-F238E27FC236}">
                  <a16:creationId xmlns:a16="http://schemas.microsoft.com/office/drawing/2014/main" id="{25079409-120F-E7F7-131B-F009222EB0B4}"/>
                </a:ext>
              </a:extLst>
            </p:cNvPr>
            <p:cNvCxnSpPr>
              <a:cxnSpLocks/>
              <a:stCxn id="15" idx="3"/>
              <a:endCxn id="17" idx="1"/>
            </p:cNvCxnSpPr>
            <p:nvPr/>
          </p:nvCxnSpPr>
          <p:spPr>
            <a:xfrm>
              <a:off x="9934691" y="4428155"/>
              <a:ext cx="545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35C780D0-7996-5F86-8069-EA01AF90FB20}"/>
                </a:ext>
              </a:extLst>
            </p:cNvPr>
            <p:cNvCxnSpPr>
              <a:cxnSpLocks/>
            </p:cNvCxnSpPr>
            <p:nvPr/>
          </p:nvCxnSpPr>
          <p:spPr>
            <a:xfrm>
              <a:off x="6561392" y="4428155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05DE6BAC-D3EF-5A24-7B88-655B2F585ABC}"/>
                </a:ext>
              </a:extLst>
            </p:cNvPr>
            <p:cNvCxnSpPr>
              <a:cxnSpLocks/>
            </p:cNvCxnSpPr>
            <p:nvPr/>
          </p:nvCxnSpPr>
          <p:spPr>
            <a:xfrm>
              <a:off x="8293955" y="4421143"/>
              <a:ext cx="5495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2F8951A5-49BA-68FF-521E-025C42F06150}"/>
                </a:ext>
              </a:extLst>
            </p:cNvPr>
            <p:cNvSpPr txBox="1"/>
            <p:nvPr/>
          </p:nvSpPr>
          <p:spPr>
            <a:xfrm>
              <a:off x="7500792" y="4012670"/>
              <a:ext cx="6835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3200" dirty="0"/>
                <a:t>...</a:t>
              </a:r>
              <a:endParaRPr kumimoji="1" lang="zh-TW" altLang="en-US" sz="3200" dirty="0"/>
            </a:p>
          </p:txBody>
        </p:sp>
        <p:cxnSp>
          <p:nvCxnSpPr>
            <p:cNvPr id="31" name="直線箭頭接點 30">
              <a:extLst>
                <a:ext uri="{FF2B5EF4-FFF2-40B4-BE49-F238E27FC236}">
                  <a16:creationId xmlns:a16="http://schemas.microsoft.com/office/drawing/2014/main" id="{A969CE53-E3D8-B939-64D9-72A82539CDFB}"/>
                </a:ext>
              </a:extLst>
            </p:cNvPr>
            <p:cNvCxnSpPr>
              <a:cxnSpLocks/>
              <a:stCxn id="5" idx="0"/>
              <a:endCxn id="9" idx="2"/>
            </p:cNvCxnSpPr>
            <p:nvPr/>
          </p:nvCxnSpPr>
          <p:spPr>
            <a:xfrm flipH="1" flipV="1">
              <a:off x="2734313" y="4747365"/>
              <a:ext cx="3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89C7E87-90B6-9E46-F431-A995A78D4751}"/>
                </a:ext>
              </a:extLst>
            </p:cNvPr>
            <p:cNvSpPr txBox="1"/>
            <p:nvPr/>
          </p:nvSpPr>
          <p:spPr>
            <a:xfrm>
              <a:off x="7500792" y="5141128"/>
              <a:ext cx="6835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3200" dirty="0"/>
                <a:t>...</a:t>
              </a:r>
              <a:endParaRPr kumimoji="1" lang="zh-TW" altLang="en-US" sz="3200" dirty="0"/>
            </a:p>
          </p:txBody>
        </p:sp>
        <p:cxnSp>
          <p:nvCxnSpPr>
            <p:cNvPr id="37" name="直線箭頭接點 36">
              <a:extLst>
                <a:ext uri="{FF2B5EF4-FFF2-40B4-BE49-F238E27FC236}">
                  <a16:creationId xmlns:a16="http://schemas.microsoft.com/office/drawing/2014/main" id="{4096EDDB-A80B-2CE9-109B-79E72E6289AB}"/>
                </a:ext>
              </a:extLst>
            </p:cNvPr>
            <p:cNvCxnSpPr>
              <a:cxnSpLocks/>
              <a:stCxn id="7" idx="0"/>
              <a:endCxn id="11" idx="2"/>
            </p:cNvCxnSpPr>
            <p:nvPr/>
          </p:nvCxnSpPr>
          <p:spPr>
            <a:xfrm flipV="1">
              <a:off x="4375048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箭頭接點 39">
              <a:extLst>
                <a:ext uri="{FF2B5EF4-FFF2-40B4-BE49-F238E27FC236}">
                  <a16:creationId xmlns:a16="http://schemas.microsoft.com/office/drawing/2014/main" id="{0F7B40D0-4B10-0688-0473-A5E3FA79DD54}"/>
                </a:ext>
              </a:extLst>
            </p:cNvPr>
            <p:cNvCxnSpPr>
              <a:cxnSpLocks/>
              <a:stCxn id="12" idx="0"/>
              <a:endCxn id="13" idx="2"/>
            </p:cNvCxnSpPr>
            <p:nvPr/>
          </p:nvCxnSpPr>
          <p:spPr>
            <a:xfrm flipV="1">
              <a:off x="6015784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箭頭接點 42">
              <a:extLst>
                <a:ext uri="{FF2B5EF4-FFF2-40B4-BE49-F238E27FC236}">
                  <a16:creationId xmlns:a16="http://schemas.microsoft.com/office/drawing/2014/main" id="{FCC67591-7155-7503-9B19-204703774C54}"/>
                </a:ext>
              </a:extLst>
            </p:cNvPr>
            <p:cNvCxnSpPr>
              <a:cxnSpLocks/>
              <a:stCxn id="14" idx="0"/>
              <a:endCxn id="15" idx="2"/>
            </p:cNvCxnSpPr>
            <p:nvPr/>
          </p:nvCxnSpPr>
          <p:spPr>
            <a:xfrm flipV="1">
              <a:off x="9389083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箭頭接點 45">
              <a:extLst>
                <a:ext uri="{FF2B5EF4-FFF2-40B4-BE49-F238E27FC236}">
                  <a16:creationId xmlns:a16="http://schemas.microsoft.com/office/drawing/2014/main" id="{D0688ECF-FE41-D1A7-AFCE-73157BA34EA3}"/>
                </a:ext>
              </a:extLst>
            </p:cNvPr>
            <p:cNvCxnSpPr>
              <a:cxnSpLocks/>
              <a:stCxn id="16" idx="0"/>
              <a:endCxn id="17" idx="2"/>
            </p:cNvCxnSpPr>
            <p:nvPr/>
          </p:nvCxnSpPr>
          <p:spPr>
            <a:xfrm flipV="1">
              <a:off x="11025906" y="4747365"/>
              <a:ext cx="1" cy="5592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39A4EAF7-C8F8-F0D7-DD7B-205830FD698E}"/>
                </a:ext>
              </a:extLst>
            </p:cNvPr>
            <p:cNvSpPr/>
            <p:nvPr/>
          </p:nvSpPr>
          <p:spPr>
            <a:xfrm>
              <a:off x="547970" y="4108945"/>
              <a:ext cx="1091215" cy="638420"/>
            </a:xfrm>
            <a:prstGeom prst="rect">
              <a:avLst/>
            </a:prstGeom>
            <a:solidFill>
              <a:srgbClr val="FCE7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h</a:t>
              </a:r>
              <a:r>
                <a:rPr kumimoji="1" lang="en-US" altLang="zh-TW" sz="2400" baseline="-25000" dirty="0">
                  <a:solidFill>
                    <a:schemeClr val="tx1"/>
                  </a:solidFill>
                </a:rPr>
                <a:t>0</a:t>
              </a:r>
              <a:endParaRPr kumimoji="1" lang="zh-TW" altLang="en-US" sz="2400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直線箭頭接點 49">
              <a:extLst>
                <a:ext uri="{FF2B5EF4-FFF2-40B4-BE49-F238E27FC236}">
                  <a16:creationId xmlns:a16="http://schemas.microsoft.com/office/drawing/2014/main" id="{E4E944BF-886A-D3C5-57CB-3E981E9EAC43}"/>
                </a:ext>
              </a:extLst>
            </p:cNvPr>
            <p:cNvCxnSpPr>
              <a:cxnSpLocks/>
              <a:stCxn id="49" idx="3"/>
              <a:endCxn id="9" idx="1"/>
            </p:cNvCxnSpPr>
            <p:nvPr/>
          </p:nvCxnSpPr>
          <p:spPr>
            <a:xfrm>
              <a:off x="1639185" y="4428155"/>
              <a:ext cx="5495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橢圓圖說文字 52">
            <a:extLst>
              <a:ext uri="{FF2B5EF4-FFF2-40B4-BE49-F238E27FC236}">
                <a16:creationId xmlns:a16="http://schemas.microsoft.com/office/drawing/2014/main" id="{BDBD93E0-28A2-1AB2-38AF-AFFC35864028}"/>
              </a:ext>
            </a:extLst>
          </p:cNvPr>
          <p:cNvSpPr/>
          <p:nvPr/>
        </p:nvSpPr>
        <p:spPr>
          <a:xfrm>
            <a:off x="8341650" y="2556776"/>
            <a:ext cx="3229864" cy="1096429"/>
          </a:xfrm>
          <a:prstGeom prst="wedgeEllipseCallout">
            <a:avLst>
              <a:gd name="adj1" fmla="val 28517"/>
              <a:gd name="adj2" fmla="val 7977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已經包含了「庭院深深深幾許」的資訊</a:t>
            </a:r>
          </a:p>
        </p:txBody>
      </p:sp>
      <p:sp>
        <p:nvSpPr>
          <p:cNvPr id="55" name="橢圓圖說文字 54">
            <a:extLst>
              <a:ext uri="{FF2B5EF4-FFF2-40B4-BE49-F238E27FC236}">
                <a16:creationId xmlns:a16="http://schemas.microsoft.com/office/drawing/2014/main" id="{F329370E-F317-6D2F-F92C-17AF8813E0F8}"/>
              </a:ext>
            </a:extLst>
          </p:cNvPr>
          <p:cNvSpPr/>
          <p:nvPr/>
        </p:nvSpPr>
        <p:spPr>
          <a:xfrm>
            <a:off x="979121" y="2556776"/>
            <a:ext cx="2419168" cy="1096429"/>
          </a:xfrm>
          <a:prstGeom prst="wedgeEllipseCallout">
            <a:avLst>
              <a:gd name="adj1" fmla="val 23746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得知第一個字為「庭」</a:t>
            </a:r>
          </a:p>
        </p:txBody>
      </p:sp>
      <p:sp>
        <p:nvSpPr>
          <p:cNvPr id="57" name="橢圓圖說文字 56">
            <a:extLst>
              <a:ext uri="{FF2B5EF4-FFF2-40B4-BE49-F238E27FC236}">
                <a16:creationId xmlns:a16="http://schemas.microsoft.com/office/drawing/2014/main" id="{D0EF801E-7A48-BF0D-EC47-D60F0F11D8D6}"/>
              </a:ext>
            </a:extLst>
          </p:cNvPr>
          <p:cNvSpPr/>
          <p:nvPr/>
        </p:nvSpPr>
        <p:spPr>
          <a:xfrm>
            <a:off x="3606288" y="2556776"/>
            <a:ext cx="3229864" cy="1096429"/>
          </a:xfrm>
          <a:prstGeom prst="wedgeEllipseCallout">
            <a:avLst>
              <a:gd name="adj1" fmla="val 24394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已經包含了「庭院深」的資訊</a:t>
            </a:r>
          </a:p>
        </p:txBody>
      </p:sp>
    </p:spTree>
    <p:extLst>
      <p:ext uri="{BB962C8B-B14F-4D97-AF65-F5344CB8AC3E}">
        <p14:creationId xmlns:p14="http://schemas.microsoft.com/office/powerpoint/2010/main" val="19645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47294B-057B-CF76-374A-E0E0AD93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為什麼我們需要序列模型</a:t>
            </a:r>
            <a:r>
              <a:rPr kumimoji="1" lang="en" altLang="zh-TW" dirty="0"/>
              <a:t>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6F0BEF-F086-67B5-4C45-6C3E6E92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7E0D01-DF5F-9FDA-B28B-88BD22B023D6}"/>
              </a:ext>
            </a:extLst>
          </p:cNvPr>
          <p:cNvSpPr/>
          <p:nvPr/>
        </p:nvSpPr>
        <p:spPr>
          <a:xfrm>
            <a:off x="1341364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430356-F0BC-3C54-0743-3EA48CCDF238}"/>
              </a:ext>
            </a:extLst>
          </p:cNvPr>
          <p:cNvSpPr/>
          <p:nvPr/>
        </p:nvSpPr>
        <p:spPr>
          <a:xfrm>
            <a:off x="2427099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C8CBCE-CD50-F953-51E6-44FD642733A6}"/>
              </a:ext>
            </a:extLst>
          </p:cNvPr>
          <p:cNvSpPr/>
          <p:nvPr/>
        </p:nvSpPr>
        <p:spPr>
          <a:xfrm>
            <a:off x="3512834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A3DBFE1C-B07C-558A-6EDA-FED0F895E1D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036209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3E1F0DF0-5BB6-59E2-566E-CA6DB118843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121944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5D89391E-EBD1-FD77-A537-D7A4239F14CC}"/>
              </a:ext>
            </a:extLst>
          </p:cNvPr>
          <p:cNvSpPr/>
          <p:nvPr/>
        </p:nvSpPr>
        <p:spPr>
          <a:xfrm>
            <a:off x="4598570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9DE089D-B868-23AA-D4B4-3AFBB8D462FD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07679" y="4060336"/>
            <a:ext cx="3908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89F7D9DB-90EC-35CF-CEC5-1DDF5A61BBBF}"/>
              </a:ext>
            </a:extLst>
          </p:cNvPr>
          <p:cNvSpPr/>
          <p:nvPr/>
        </p:nvSpPr>
        <p:spPr>
          <a:xfrm>
            <a:off x="1589693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532B7F-1F0B-BF23-FBBC-9214EC576DCC}"/>
              </a:ext>
            </a:extLst>
          </p:cNvPr>
          <p:cNvSpPr/>
          <p:nvPr/>
        </p:nvSpPr>
        <p:spPr>
          <a:xfrm>
            <a:off x="2675428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FE3883-E20F-7FB2-E4B6-B4326F44A75B}"/>
              </a:ext>
            </a:extLst>
          </p:cNvPr>
          <p:cNvSpPr/>
          <p:nvPr/>
        </p:nvSpPr>
        <p:spPr>
          <a:xfrm>
            <a:off x="3761163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4277B2-B7E7-D17E-BAC4-D1FA7AADC990}"/>
              </a:ext>
            </a:extLst>
          </p:cNvPr>
          <p:cNvSpPr/>
          <p:nvPr/>
        </p:nvSpPr>
        <p:spPr>
          <a:xfrm>
            <a:off x="4846899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13D764-A530-053D-D983-615947CEBE1F}"/>
              </a:ext>
            </a:extLst>
          </p:cNvPr>
          <p:cNvSpPr/>
          <p:nvPr/>
        </p:nvSpPr>
        <p:spPr>
          <a:xfrm>
            <a:off x="1589693" y="260165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0E0F23-CC19-703B-F1B9-C6B61024E816}"/>
              </a:ext>
            </a:extLst>
          </p:cNvPr>
          <p:cNvSpPr/>
          <p:nvPr/>
        </p:nvSpPr>
        <p:spPr>
          <a:xfrm>
            <a:off x="2675428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2F3E36-26BB-8CD7-E1D4-B9BDC8B00688}"/>
              </a:ext>
            </a:extLst>
          </p:cNvPr>
          <p:cNvSpPr/>
          <p:nvPr/>
        </p:nvSpPr>
        <p:spPr>
          <a:xfrm>
            <a:off x="3761163" y="2600497"/>
            <a:ext cx="198186" cy="6554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4D048C-A4F0-7830-2440-E59EAFCFC14B}"/>
              </a:ext>
            </a:extLst>
          </p:cNvPr>
          <p:cNvSpPr/>
          <p:nvPr/>
        </p:nvSpPr>
        <p:spPr>
          <a:xfrm>
            <a:off x="4846897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52C7D96-3CA8-3A2A-DAA7-4AB4E5AFF843}"/>
              </a:ext>
            </a:extLst>
          </p:cNvPr>
          <p:cNvCxnSpPr>
            <a:cxnSpLocks/>
            <a:stCxn id="6" idx="0"/>
            <a:endCxn id="23" idx="2"/>
          </p:cNvCxnSpPr>
          <p:nvPr/>
        </p:nvCxnSpPr>
        <p:spPr>
          <a:xfrm flipH="1" flipV="1">
            <a:off x="2774521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C9886DD7-7EEC-F054-5DED-86E6DBF8C9EB}"/>
              </a:ext>
            </a:extLst>
          </p:cNvPr>
          <p:cNvCxnSpPr>
            <a:cxnSpLocks/>
            <a:stCxn id="5" idx="0"/>
            <a:endCxn id="22" idx="2"/>
          </p:cNvCxnSpPr>
          <p:nvPr/>
        </p:nvCxnSpPr>
        <p:spPr>
          <a:xfrm flipH="1" flipV="1">
            <a:off x="1688786" y="3257095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A3611AA6-58C5-563F-0FAE-3EE587CC5B18}"/>
              </a:ext>
            </a:extLst>
          </p:cNvPr>
          <p:cNvCxnSpPr>
            <a:cxnSpLocks/>
            <a:stCxn id="18" idx="0"/>
            <a:endCxn id="5" idx="2"/>
          </p:cNvCxnSpPr>
          <p:nvPr/>
        </p:nvCxnSpPr>
        <p:spPr>
          <a:xfrm flipV="1">
            <a:off x="1688786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A547A155-6986-3AD3-A3E0-F3A814415EA2}"/>
              </a:ext>
            </a:extLst>
          </p:cNvPr>
          <p:cNvCxnSpPr>
            <a:cxnSpLocks/>
            <a:stCxn id="19" idx="0"/>
            <a:endCxn id="6" idx="2"/>
          </p:cNvCxnSpPr>
          <p:nvPr/>
        </p:nvCxnSpPr>
        <p:spPr>
          <a:xfrm flipV="1">
            <a:off x="2774521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3F57C7D8-0091-A308-A651-53BC914EBB63}"/>
              </a:ext>
            </a:extLst>
          </p:cNvPr>
          <p:cNvCxnSpPr>
            <a:cxnSpLocks/>
            <a:stCxn id="20" idx="0"/>
            <a:endCxn id="7" idx="2"/>
          </p:cNvCxnSpPr>
          <p:nvPr/>
        </p:nvCxnSpPr>
        <p:spPr>
          <a:xfrm flipV="1">
            <a:off x="3860256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A287D365-41BE-6306-A2E4-C197E79F0563}"/>
              </a:ext>
            </a:extLst>
          </p:cNvPr>
          <p:cNvCxnSpPr>
            <a:cxnSpLocks/>
            <a:stCxn id="21" idx="0"/>
            <a:endCxn id="10" idx="2"/>
          </p:cNvCxnSpPr>
          <p:nvPr/>
        </p:nvCxnSpPr>
        <p:spPr>
          <a:xfrm flipV="1">
            <a:off x="4945992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946DF4D8-EACC-CBDA-2FDC-B276984986F0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flipH="1" flipV="1">
            <a:off x="4945990" y="3255941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D1F0AEBA-D174-B3D1-92B6-7F91085534C7}"/>
              </a:ext>
            </a:extLst>
          </p:cNvPr>
          <p:cNvCxnSpPr>
            <a:cxnSpLocks/>
            <a:stCxn id="7" idx="0"/>
            <a:endCxn id="24" idx="2"/>
          </p:cNvCxnSpPr>
          <p:nvPr/>
        </p:nvCxnSpPr>
        <p:spPr>
          <a:xfrm flipH="1" flipV="1">
            <a:off x="3860256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CEBE5F1-40F4-848B-AABD-2CBD6A27ADE5}"/>
              </a:ext>
            </a:extLst>
          </p:cNvPr>
          <p:cNvSpPr txBox="1"/>
          <p:nvPr/>
        </p:nvSpPr>
        <p:spPr>
          <a:xfrm>
            <a:off x="1250261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194CC2ED-0831-C9FD-8A77-5580A6C2D7A6}"/>
              </a:ext>
            </a:extLst>
          </p:cNvPr>
          <p:cNvSpPr txBox="1"/>
          <p:nvPr/>
        </p:nvSpPr>
        <p:spPr>
          <a:xfrm>
            <a:off x="2335996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708BD810-B636-1101-8BC7-6094A78994B5}"/>
              </a:ext>
            </a:extLst>
          </p:cNvPr>
          <p:cNvSpPr txBox="1"/>
          <p:nvPr/>
        </p:nvSpPr>
        <p:spPr>
          <a:xfrm>
            <a:off x="3421731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25CBC80-B814-2761-4803-B4D45FF5E837}"/>
              </a:ext>
            </a:extLst>
          </p:cNvPr>
          <p:cNvSpPr txBox="1"/>
          <p:nvPr/>
        </p:nvSpPr>
        <p:spPr>
          <a:xfrm>
            <a:off x="4465087" y="5658294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45C2139-9DFE-ECA5-3AFE-E70041C0953F}"/>
              </a:ext>
            </a:extLst>
          </p:cNvPr>
          <p:cNvSpPr/>
          <p:nvPr/>
        </p:nvSpPr>
        <p:spPr>
          <a:xfrm>
            <a:off x="6703391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5A189EF-310B-28AC-ED6B-20A0B7001859}"/>
              </a:ext>
            </a:extLst>
          </p:cNvPr>
          <p:cNvSpPr/>
          <p:nvPr/>
        </p:nvSpPr>
        <p:spPr>
          <a:xfrm>
            <a:off x="7789126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C1ADC05-3091-6FDF-4FC0-F571D331F899}"/>
              </a:ext>
            </a:extLst>
          </p:cNvPr>
          <p:cNvSpPr/>
          <p:nvPr/>
        </p:nvSpPr>
        <p:spPr>
          <a:xfrm>
            <a:off x="8874861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BD877B6A-D2AA-7044-A665-3A5FAE0E9CCD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7398236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63F4DC13-AF58-C154-937C-A94FE92F367B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8483971" y="4060336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77959D83-A107-2258-D535-FBEB61F7D5F0}"/>
              </a:ext>
            </a:extLst>
          </p:cNvPr>
          <p:cNvSpPr/>
          <p:nvPr/>
        </p:nvSpPr>
        <p:spPr>
          <a:xfrm>
            <a:off x="9960597" y="3732614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C5988EBB-95AA-46BA-C7AD-026A0B08208D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>
            <a:off x="9569706" y="4060336"/>
            <a:ext cx="3908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21A0A42E-F02F-0B79-F346-D963AC3D21FB}"/>
              </a:ext>
            </a:extLst>
          </p:cNvPr>
          <p:cNvSpPr/>
          <p:nvPr/>
        </p:nvSpPr>
        <p:spPr>
          <a:xfrm>
            <a:off x="6951720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380F248-5A37-CEC6-1B9C-B513E962594A}"/>
              </a:ext>
            </a:extLst>
          </p:cNvPr>
          <p:cNvSpPr/>
          <p:nvPr/>
        </p:nvSpPr>
        <p:spPr>
          <a:xfrm>
            <a:off x="8037455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A7044A1-7051-7215-01DA-8E480A5D9206}"/>
              </a:ext>
            </a:extLst>
          </p:cNvPr>
          <p:cNvSpPr/>
          <p:nvPr/>
        </p:nvSpPr>
        <p:spPr>
          <a:xfrm>
            <a:off x="9123190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34AA197-828F-AA0B-5EFF-05C97191E827}"/>
              </a:ext>
            </a:extLst>
          </p:cNvPr>
          <p:cNvSpPr/>
          <p:nvPr/>
        </p:nvSpPr>
        <p:spPr>
          <a:xfrm>
            <a:off x="10208926" y="4864731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50E6582-C8B8-9BE4-6BA9-FE9A73554388}"/>
              </a:ext>
            </a:extLst>
          </p:cNvPr>
          <p:cNvSpPr/>
          <p:nvPr/>
        </p:nvSpPr>
        <p:spPr>
          <a:xfrm>
            <a:off x="6951720" y="260165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1DF3EBB-D516-8434-FABD-7B2B4F08B126}"/>
              </a:ext>
            </a:extLst>
          </p:cNvPr>
          <p:cNvSpPr/>
          <p:nvPr/>
        </p:nvSpPr>
        <p:spPr>
          <a:xfrm>
            <a:off x="8037455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63B3B80-1AB4-34C5-A696-657C9EAA4177}"/>
              </a:ext>
            </a:extLst>
          </p:cNvPr>
          <p:cNvSpPr/>
          <p:nvPr/>
        </p:nvSpPr>
        <p:spPr>
          <a:xfrm>
            <a:off x="9123190" y="260049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8707A40-216D-B23D-0956-98BEEC8E9A1F}"/>
              </a:ext>
            </a:extLst>
          </p:cNvPr>
          <p:cNvSpPr/>
          <p:nvPr/>
        </p:nvSpPr>
        <p:spPr>
          <a:xfrm>
            <a:off x="10208924" y="2600497"/>
            <a:ext cx="198186" cy="6554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0D79868B-BE47-A2BB-95AB-5C14D1906C4C}"/>
              </a:ext>
            </a:extLst>
          </p:cNvPr>
          <p:cNvCxnSpPr>
            <a:cxnSpLocks/>
            <a:stCxn id="59" idx="0"/>
            <a:endCxn id="70" idx="2"/>
          </p:cNvCxnSpPr>
          <p:nvPr/>
        </p:nvCxnSpPr>
        <p:spPr>
          <a:xfrm flipH="1" flipV="1">
            <a:off x="8136548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箭頭接點 73">
            <a:extLst>
              <a:ext uri="{FF2B5EF4-FFF2-40B4-BE49-F238E27FC236}">
                <a16:creationId xmlns:a16="http://schemas.microsoft.com/office/drawing/2014/main" id="{9BA9D3A9-FE11-3E8C-50A8-D1959539E455}"/>
              </a:ext>
            </a:extLst>
          </p:cNvPr>
          <p:cNvCxnSpPr>
            <a:cxnSpLocks/>
            <a:stCxn id="58" idx="0"/>
            <a:endCxn id="69" idx="2"/>
          </p:cNvCxnSpPr>
          <p:nvPr/>
        </p:nvCxnSpPr>
        <p:spPr>
          <a:xfrm flipH="1" flipV="1">
            <a:off x="7050813" y="3257095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箭頭接點 74">
            <a:extLst>
              <a:ext uri="{FF2B5EF4-FFF2-40B4-BE49-F238E27FC236}">
                <a16:creationId xmlns:a16="http://schemas.microsoft.com/office/drawing/2014/main" id="{C5B89438-0271-2911-2CEE-BDE76FAD0727}"/>
              </a:ext>
            </a:extLst>
          </p:cNvPr>
          <p:cNvCxnSpPr>
            <a:cxnSpLocks/>
            <a:stCxn id="65" idx="0"/>
            <a:endCxn id="58" idx="2"/>
          </p:cNvCxnSpPr>
          <p:nvPr/>
        </p:nvCxnSpPr>
        <p:spPr>
          <a:xfrm flipV="1">
            <a:off x="7050813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箭頭接點 75">
            <a:extLst>
              <a:ext uri="{FF2B5EF4-FFF2-40B4-BE49-F238E27FC236}">
                <a16:creationId xmlns:a16="http://schemas.microsoft.com/office/drawing/2014/main" id="{012C37A8-A2E6-2D56-8CCF-6470B636B786}"/>
              </a:ext>
            </a:extLst>
          </p:cNvPr>
          <p:cNvCxnSpPr>
            <a:cxnSpLocks/>
            <a:stCxn id="66" idx="0"/>
            <a:endCxn id="59" idx="2"/>
          </p:cNvCxnSpPr>
          <p:nvPr/>
        </p:nvCxnSpPr>
        <p:spPr>
          <a:xfrm flipV="1">
            <a:off x="8136548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id="{9AF486D3-A361-6702-16FA-78D4ED93B8EF}"/>
              </a:ext>
            </a:extLst>
          </p:cNvPr>
          <p:cNvCxnSpPr>
            <a:cxnSpLocks/>
            <a:stCxn id="67" idx="0"/>
            <a:endCxn id="60" idx="2"/>
          </p:cNvCxnSpPr>
          <p:nvPr/>
        </p:nvCxnSpPr>
        <p:spPr>
          <a:xfrm flipV="1">
            <a:off x="9222283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6D65CAF5-FCD9-6488-A3DB-6A8222E4CF04}"/>
              </a:ext>
            </a:extLst>
          </p:cNvPr>
          <p:cNvCxnSpPr>
            <a:cxnSpLocks/>
            <a:stCxn id="68" idx="0"/>
            <a:endCxn id="63" idx="2"/>
          </p:cNvCxnSpPr>
          <p:nvPr/>
        </p:nvCxnSpPr>
        <p:spPr>
          <a:xfrm flipV="1">
            <a:off x="10308019" y="4388058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箭頭接點 78">
            <a:extLst>
              <a:ext uri="{FF2B5EF4-FFF2-40B4-BE49-F238E27FC236}">
                <a16:creationId xmlns:a16="http://schemas.microsoft.com/office/drawing/2014/main" id="{A6AC5094-4A3B-B872-5BBA-2B64EDB8FCF8}"/>
              </a:ext>
            </a:extLst>
          </p:cNvPr>
          <p:cNvCxnSpPr>
            <a:cxnSpLocks/>
            <a:stCxn id="63" idx="0"/>
            <a:endCxn id="72" idx="2"/>
          </p:cNvCxnSpPr>
          <p:nvPr/>
        </p:nvCxnSpPr>
        <p:spPr>
          <a:xfrm flipH="1" flipV="1">
            <a:off x="10308017" y="3255941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箭頭接點 79">
            <a:extLst>
              <a:ext uri="{FF2B5EF4-FFF2-40B4-BE49-F238E27FC236}">
                <a16:creationId xmlns:a16="http://schemas.microsoft.com/office/drawing/2014/main" id="{73C19F83-0E0F-76A6-E5BA-A2B98EBCC94E}"/>
              </a:ext>
            </a:extLst>
          </p:cNvPr>
          <p:cNvCxnSpPr>
            <a:cxnSpLocks/>
            <a:stCxn id="60" idx="0"/>
            <a:endCxn id="71" idx="2"/>
          </p:cNvCxnSpPr>
          <p:nvPr/>
        </p:nvCxnSpPr>
        <p:spPr>
          <a:xfrm flipH="1" flipV="1">
            <a:off x="9222283" y="325594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E0F19CF3-2427-D1A5-EA59-44D8CC1D182E}"/>
              </a:ext>
            </a:extLst>
          </p:cNvPr>
          <p:cNvSpPr txBox="1"/>
          <p:nvPr/>
        </p:nvSpPr>
        <p:spPr>
          <a:xfrm>
            <a:off x="6612288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06886F13-1EAD-91CC-848B-B4365FA79919}"/>
              </a:ext>
            </a:extLst>
          </p:cNvPr>
          <p:cNvSpPr txBox="1"/>
          <p:nvPr/>
        </p:nvSpPr>
        <p:spPr>
          <a:xfrm>
            <a:off x="7698023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EEF83116-D66A-BEB2-6CE2-C8E040EF0D67}"/>
              </a:ext>
            </a:extLst>
          </p:cNvPr>
          <p:cNvSpPr txBox="1"/>
          <p:nvPr/>
        </p:nvSpPr>
        <p:spPr>
          <a:xfrm>
            <a:off x="8783758" y="5658294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river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文字方塊 83">
            <a:extLst>
              <a:ext uri="{FF2B5EF4-FFF2-40B4-BE49-F238E27FC236}">
                <a16:creationId xmlns:a16="http://schemas.microsoft.com/office/drawing/2014/main" id="{104DEB2F-2FA1-98F3-C82D-9438DF61D2B8}"/>
              </a:ext>
            </a:extLst>
          </p:cNvPr>
          <p:cNvSpPr txBox="1"/>
          <p:nvPr/>
        </p:nvSpPr>
        <p:spPr>
          <a:xfrm>
            <a:off x="9827114" y="5658294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7861B53C-401A-84F6-8501-A0D54B8BA766}"/>
              </a:ext>
            </a:extLst>
          </p:cNvPr>
          <p:cNvSpPr txBox="1"/>
          <p:nvPr/>
        </p:nvSpPr>
        <p:spPr>
          <a:xfrm>
            <a:off x="5593475" y="1583246"/>
            <a:ext cx="29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Contextual</a:t>
            </a:r>
            <a:r>
              <a:rPr kumimoji="1" lang="en-US" altLang="zh-TW" dirty="0"/>
              <a:t> Embedding</a:t>
            </a:r>
          </a:p>
          <a:p>
            <a:pPr algn="ctr"/>
            <a:r>
              <a:rPr kumimoji="1" lang="en-US" altLang="zh-TW" dirty="0"/>
              <a:t>(</a:t>
            </a:r>
            <a:r>
              <a:rPr kumimoji="1" lang="zh-TW" altLang="en-US" dirty="0"/>
              <a:t>具備上下文知識的表達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cxnSp>
        <p:nvCxnSpPr>
          <p:cNvPr id="87" name="肘形接點 86">
            <a:extLst>
              <a:ext uri="{FF2B5EF4-FFF2-40B4-BE49-F238E27FC236}">
                <a16:creationId xmlns:a16="http://schemas.microsoft.com/office/drawing/2014/main" id="{37F23EB2-F95F-6851-B603-A3361CD85142}"/>
              </a:ext>
            </a:extLst>
          </p:cNvPr>
          <p:cNvCxnSpPr>
            <a:stCxn id="24" idx="0"/>
            <a:endCxn id="72" idx="0"/>
          </p:cNvCxnSpPr>
          <p:nvPr/>
        </p:nvCxnSpPr>
        <p:spPr>
          <a:xfrm rot="5400000" flipH="1" flipV="1">
            <a:off x="7084136" y="-623383"/>
            <a:ext cx="12700" cy="6447761"/>
          </a:xfrm>
          <a:prstGeom prst="bentConnector3">
            <a:avLst>
              <a:gd name="adj1" fmla="val 304898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曲線接點 89">
            <a:extLst>
              <a:ext uri="{FF2B5EF4-FFF2-40B4-BE49-F238E27FC236}">
                <a16:creationId xmlns:a16="http://schemas.microsoft.com/office/drawing/2014/main" id="{680F2D6E-3514-78E3-82B3-D769D21E236C}"/>
              </a:ext>
            </a:extLst>
          </p:cNvPr>
          <p:cNvCxnSpPr>
            <a:cxnSpLocks/>
            <a:stCxn id="20" idx="2"/>
            <a:endCxn id="68" idx="2"/>
          </p:cNvCxnSpPr>
          <p:nvPr/>
        </p:nvCxnSpPr>
        <p:spPr>
          <a:xfrm rot="16200000" flipH="1">
            <a:off x="7084137" y="2296293"/>
            <a:ext cx="12700" cy="6447763"/>
          </a:xfrm>
          <a:prstGeom prst="curvedConnector3">
            <a:avLst>
              <a:gd name="adj1" fmla="val 5620409"/>
            </a:avLst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39265129-9C40-FEF4-BAC1-2382F3BAD034}"/>
              </a:ext>
            </a:extLst>
          </p:cNvPr>
          <p:cNvSpPr txBox="1"/>
          <p:nvPr/>
        </p:nvSpPr>
        <p:spPr>
          <a:xfrm>
            <a:off x="5494382" y="6282959"/>
            <a:ext cx="2914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Same word embedding</a:t>
            </a:r>
          </a:p>
        </p:txBody>
      </p:sp>
    </p:spTree>
    <p:extLst>
      <p:ext uri="{BB962C8B-B14F-4D97-AF65-F5344CB8AC3E}">
        <p14:creationId xmlns:p14="http://schemas.microsoft.com/office/powerpoint/2010/main" val="73232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8AE9C-1909-B974-E8C8-9807CE1A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Encoder and Decoder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106C75-A795-3924-7F0C-B509934C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BA383E56-D04D-340B-A396-C1FF6DCBC646}"/>
              </a:ext>
            </a:extLst>
          </p:cNvPr>
          <p:cNvSpPr/>
          <p:nvPr/>
        </p:nvSpPr>
        <p:spPr>
          <a:xfrm>
            <a:off x="6777738" y="4052638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D4D7DE-FEA6-5EAD-BA7D-0E9B63A81999}"/>
              </a:ext>
            </a:extLst>
          </p:cNvPr>
          <p:cNvSpPr txBox="1"/>
          <p:nvPr/>
        </p:nvSpPr>
        <p:spPr>
          <a:xfrm>
            <a:off x="6848723" y="5855027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21F30ECC-84F2-5D18-362E-5D5B043F7E7B}"/>
              </a:ext>
            </a:extLst>
          </p:cNvPr>
          <p:cNvCxnSpPr>
            <a:cxnSpLocks/>
          </p:cNvCxnSpPr>
          <p:nvPr/>
        </p:nvCxnSpPr>
        <p:spPr>
          <a:xfrm flipV="1">
            <a:off x="714177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FBBA531-BE7B-F9F3-E719-5242A0B9E4BD}"/>
              </a:ext>
            </a:extLst>
          </p:cNvPr>
          <p:cNvCxnSpPr>
            <a:cxnSpLocks/>
          </p:cNvCxnSpPr>
          <p:nvPr/>
        </p:nvCxnSpPr>
        <p:spPr>
          <a:xfrm flipV="1">
            <a:off x="786419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5213826B-7FF7-F9EA-A9F9-445F4081DE0B}"/>
              </a:ext>
            </a:extLst>
          </p:cNvPr>
          <p:cNvCxnSpPr>
            <a:cxnSpLocks/>
          </p:cNvCxnSpPr>
          <p:nvPr/>
        </p:nvCxnSpPr>
        <p:spPr>
          <a:xfrm flipV="1">
            <a:off x="10791469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252A1EFC-B9A1-E9B9-C671-FC420A3A4AAD}"/>
              </a:ext>
            </a:extLst>
          </p:cNvPr>
          <p:cNvCxnSpPr>
            <a:cxnSpLocks/>
          </p:cNvCxnSpPr>
          <p:nvPr/>
        </p:nvCxnSpPr>
        <p:spPr>
          <a:xfrm flipV="1">
            <a:off x="10069054" y="3739303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8FFAB12-7688-B996-CE29-CCFBB2E29E54}"/>
              </a:ext>
            </a:extLst>
          </p:cNvPr>
          <p:cNvCxnSpPr>
            <a:cxnSpLocks/>
          </p:cNvCxnSpPr>
          <p:nvPr/>
        </p:nvCxnSpPr>
        <p:spPr>
          <a:xfrm flipV="1">
            <a:off x="7141779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A3271C6B-2A38-B65E-147B-30B6DBA820E4}"/>
              </a:ext>
            </a:extLst>
          </p:cNvPr>
          <p:cNvCxnSpPr>
            <a:cxnSpLocks/>
          </p:cNvCxnSpPr>
          <p:nvPr/>
        </p:nvCxnSpPr>
        <p:spPr>
          <a:xfrm flipV="1">
            <a:off x="7864193" y="50954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7DB29C07-EE45-FDF3-50C5-462B179F554D}"/>
              </a:ext>
            </a:extLst>
          </p:cNvPr>
          <p:cNvCxnSpPr>
            <a:cxnSpLocks/>
          </p:cNvCxnSpPr>
          <p:nvPr/>
        </p:nvCxnSpPr>
        <p:spPr>
          <a:xfrm flipV="1">
            <a:off x="10069053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E80F3625-6DB5-7DD1-C50D-5733EC81F434}"/>
              </a:ext>
            </a:extLst>
          </p:cNvPr>
          <p:cNvCxnSpPr>
            <a:cxnSpLocks/>
          </p:cNvCxnSpPr>
          <p:nvPr/>
        </p:nvCxnSpPr>
        <p:spPr>
          <a:xfrm flipV="1">
            <a:off x="10791467" y="509199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7DBE63A-42BD-8531-2AE3-FBE67A0DD8F9}"/>
              </a:ext>
            </a:extLst>
          </p:cNvPr>
          <p:cNvSpPr txBox="1"/>
          <p:nvPr/>
        </p:nvSpPr>
        <p:spPr>
          <a:xfrm>
            <a:off x="8643134" y="5288270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/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CC40672F-B910-D24E-72DA-0F22F07E9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4143" y="2529790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 l="-63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/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E1C6C418-46CC-12F4-672C-B6855778D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557" y="252772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/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C0A43D43-98FF-A85D-04B6-07EBBD000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175" y="2517133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/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98DFC2C4-6948-C430-C594-C839C38C8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229" y="2526949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/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2A5367A-AD7E-8CDF-135E-95FD34743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370" y="5397054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/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122C1FB2-0AE1-FE9A-2ADD-E02D1F9F2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336" y="5397054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/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2CFB6DE4-298A-6478-84DC-2C4D458C43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748" y="5397054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17DF5A0E-5598-F2D7-42EB-37949F9013C8}"/>
              </a:ext>
            </a:extLst>
          </p:cNvPr>
          <p:cNvSpPr txBox="1"/>
          <p:nvPr/>
        </p:nvSpPr>
        <p:spPr>
          <a:xfrm>
            <a:off x="8640752" y="2450264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391C10AD-0D04-2B3F-B88B-1109E98C804F}"/>
              </a:ext>
            </a:extLst>
          </p:cNvPr>
          <p:cNvSpPr txBox="1"/>
          <p:nvPr/>
        </p:nvSpPr>
        <p:spPr>
          <a:xfrm>
            <a:off x="7716416" y="1835327"/>
            <a:ext cx="263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sequence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(</a:t>
            </a:r>
            <a:r>
              <a:rPr kumimoji="1" lang="zh-TW" altLang="en-US" b="1" dirty="0"/>
              <a:t>文字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FE795842-E8E8-E357-93AF-80C6CBCBD5A4}"/>
              </a:ext>
            </a:extLst>
          </p:cNvPr>
          <p:cNvSpPr/>
          <p:nvPr/>
        </p:nvSpPr>
        <p:spPr>
          <a:xfrm>
            <a:off x="1443211" y="4100635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Encoder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8CD6FE4-CA94-843B-C904-8FB743CE2756}"/>
              </a:ext>
            </a:extLst>
          </p:cNvPr>
          <p:cNvSpPr txBox="1"/>
          <p:nvPr/>
        </p:nvSpPr>
        <p:spPr>
          <a:xfrm>
            <a:off x="1494740" y="5903024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DDBAC394-6EE5-2FC2-0AFE-A713E61495B0}"/>
              </a:ext>
            </a:extLst>
          </p:cNvPr>
          <p:cNvCxnSpPr>
            <a:cxnSpLocks/>
          </p:cNvCxnSpPr>
          <p:nvPr/>
        </p:nvCxnSpPr>
        <p:spPr>
          <a:xfrm flipV="1">
            <a:off x="5456942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B349A6FB-CF9B-DA91-CB56-8692C92F97F5}"/>
              </a:ext>
            </a:extLst>
          </p:cNvPr>
          <p:cNvCxnSpPr>
            <a:cxnSpLocks/>
          </p:cNvCxnSpPr>
          <p:nvPr/>
        </p:nvCxnSpPr>
        <p:spPr>
          <a:xfrm flipV="1">
            <a:off x="4734527" y="378730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39036F0C-DCCB-713A-C8B2-0BEBB6436E03}"/>
              </a:ext>
            </a:extLst>
          </p:cNvPr>
          <p:cNvSpPr/>
          <p:nvPr/>
        </p:nvSpPr>
        <p:spPr>
          <a:xfrm>
            <a:off x="1529648" y="5445051"/>
            <a:ext cx="555205" cy="46510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D6255ADE-8DF4-9330-0FFD-EC385724AA4E}"/>
              </a:ext>
            </a:extLst>
          </p:cNvPr>
          <p:cNvCxnSpPr>
            <a:cxnSpLocks/>
          </p:cNvCxnSpPr>
          <p:nvPr/>
        </p:nvCxnSpPr>
        <p:spPr>
          <a:xfrm flipV="1">
            <a:off x="1807252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A551582A-C5A2-5592-1221-7E161A40C794}"/>
              </a:ext>
            </a:extLst>
          </p:cNvPr>
          <p:cNvCxnSpPr>
            <a:cxnSpLocks/>
          </p:cNvCxnSpPr>
          <p:nvPr/>
        </p:nvCxnSpPr>
        <p:spPr>
          <a:xfrm flipV="1">
            <a:off x="2529666" y="5143486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439D5CC1-5EA9-6E67-7ED0-8CF169A9CD0E}"/>
              </a:ext>
            </a:extLst>
          </p:cNvPr>
          <p:cNvCxnSpPr>
            <a:cxnSpLocks/>
          </p:cNvCxnSpPr>
          <p:nvPr/>
        </p:nvCxnSpPr>
        <p:spPr>
          <a:xfrm flipV="1">
            <a:off x="4734526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0BE18513-56CA-7723-A853-A59FE538F500}"/>
              </a:ext>
            </a:extLst>
          </p:cNvPr>
          <p:cNvCxnSpPr>
            <a:cxnSpLocks/>
          </p:cNvCxnSpPr>
          <p:nvPr/>
        </p:nvCxnSpPr>
        <p:spPr>
          <a:xfrm flipV="1">
            <a:off x="5456940" y="5139991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A108D4A-2D70-D2F4-BA03-472F6B0C8135}"/>
              </a:ext>
            </a:extLst>
          </p:cNvPr>
          <p:cNvSpPr txBox="1"/>
          <p:nvPr/>
        </p:nvSpPr>
        <p:spPr>
          <a:xfrm>
            <a:off x="3308607" y="5336267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/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6E92D372-707B-990C-5677-ABFB0EDD2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2030" y="3273307"/>
                <a:ext cx="555203" cy="46510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/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zh-TW" altLang="en-US" baseline="-25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208F923A-C07F-9336-2A8D-148DF86F3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843" y="5445051"/>
                <a:ext cx="555203" cy="465105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/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3AAFEB0B-670C-44F4-929F-FF77BFF36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809" y="5445051"/>
                <a:ext cx="555203" cy="465105"/>
              </a:xfrm>
              <a:prstGeom prst="roundRect">
                <a:avLst/>
              </a:prstGeom>
              <a:blipFill>
                <a:blip r:embed="rId11"/>
                <a:stretch>
                  <a:fillRect l="-4255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/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59EE0DFB-89F9-3CC1-5DC1-D108E8C737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221" y="5445051"/>
                <a:ext cx="555203" cy="465105"/>
              </a:xfrm>
              <a:prstGeom prst="roundRect">
                <a:avLst/>
              </a:prstGeom>
              <a:blipFill>
                <a:blip r:embed="rId12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>
            <a:extLst>
              <a:ext uri="{FF2B5EF4-FFF2-40B4-BE49-F238E27FC236}">
                <a16:creationId xmlns:a16="http://schemas.microsoft.com/office/drawing/2014/main" id="{4782AF22-6890-C7C6-11B4-E49023BCC087}"/>
              </a:ext>
            </a:extLst>
          </p:cNvPr>
          <p:cNvSpPr txBox="1"/>
          <p:nvPr/>
        </p:nvSpPr>
        <p:spPr>
          <a:xfrm>
            <a:off x="3306225" y="3195846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85894FF-15D2-4990-41DC-3797CEBC41B5}"/>
              </a:ext>
            </a:extLst>
          </p:cNvPr>
          <p:cNvSpPr txBox="1"/>
          <p:nvPr/>
        </p:nvSpPr>
        <p:spPr>
          <a:xfrm>
            <a:off x="2778842" y="6129446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Input sequence</a:t>
            </a:r>
            <a:endParaRPr kumimoji="1" lang="zh-TW" altLang="en-US" b="1" dirty="0"/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9EE1A76-88B2-97B8-52E6-5D10FC82A873}"/>
              </a:ext>
            </a:extLst>
          </p:cNvPr>
          <p:cNvCxnSpPr>
            <a:cxnSpLocks/>
          </p:cNvCxnSpPr>
          <p:nvPr/>
        </p:nvCxnSpPr>
        <p:spPr>
          <a:xfrm flipV="1">
            <a:off x="2526444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72CEF067-EC75-D88C-AA69-CCB9C35A8DBF}"/>
              </a:ext>
            </a:extLst>
          </p:cNvPr>
          <p:cNvCxnSpPr>
            <a:cxnSpLocks/>
          </p:cNvCxnSpPr>
          <p:nvPr/>
        </p:nvCxnSpPr>
        <p:spPr>
          <a:xfrm flipV="1">
            <a:off x="1828042" y="3804040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1E3ABA0E-0F56-BA7F-4F49-6550375C6564}"/>
              </a:ext>
            </a:extLst>
          </p:cNvPr>
          <p:cNvSpPr/>
          <p:nvPr/>
        </p:nvSpPr>
        <p:spPr>
          <a:xfrm>
            <a:off x="6860958" y="5397054"/>
            <a:ext cx="555203" cy="4651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D02ED2D0-D980-8C22-C056-B89AFB0087E6}"/>
              </a:ext>
            </a:extLst>
          </p:cNvPr>
          <p:cNvSpPr/>
          <p:nvPr/>
        </p:nvSpPr>
        <p:spPr>
          <a:xfrm>
            <a:off x="6777737" y="3345490"/>
            <a:ext cx="4433985" cy="33678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FFN</a:t>
            </a:r>
            <a:r>
              <a:rPr kumimoji="1" lang="zh-TW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TW" sz="2000" dirty="0">
                <a:solidFill>
                  <a:schemeClr val="tx1"/>
                </a:solidFill>
              </a:rPr>
              <a:t>(linear layer(s))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16D9C1FE-8A91-B03A-2377-8B83EC0DE09D}"/>
              </a:ext>
            </a:extLst>
          </p:cNvPr>
          <p:cNvCxnSpPr>
            <a:cxnSpLocks/>
          </p:cNvCxnSpPr>
          <p:nvPr/>
        </p:nvCxnSpPr>
        <p:spPr>
          <a:xfrm flipV="1">
            <a:off x="713574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箭頭接點 58">
            <a:extLst>
              <a:ext uri="{FF2B5EF4-FFF2-40B4-BE49-F238E27FC236}">
                <a16:creationId xmlns:a16="http://schemas.microsoft.com/office/drawing/2014/main" id="{62086DA5-5290-A670-AC1A-38D2A56FE1A2}"/>
              </a:ext>
            </a:extLst>
          </p:cNvPr>
          <p:cNvCxnSpPr>
            <a:cxnSpLocks/>
          </p:cNvCxnSpPr>
          <p:nvPr/>
        </p:nvCxnSpPr>
        <p:spPr>
          <a:xfrm flipV="1">
            <a:off x="785816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5A918736-41AC-8EE9-E232-C16FDD90E533}"/>
              </a:ext>
            </a:extLst>
          </p:cNvPr>
          <p:cNvCxnSpPr>
            <a:cxnSpLocks/>
          </p:cNvCxnSpPr>
          <p:nvPr/>
        </p:nvCxnSpPr>
        <p:spPr>
          <a:xfrm flipV="1">
            <a:off x="10785437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箭頭接點 60">
            <a:extLst>
              <a:ext uri="{FF2B5EF4-FFF2-40B4-BE49-F238E27FC236}">
                <a16:creationId xmlns:a16="http://schemas.microsoft.com/office/drawing/2014/main" id="{CE5F32AD-EAE1-A054-DFF3-5593839A3D00}"/>
              </a:ext>
            </a:extLst>
          </p:cNvPr>
          <p:cNvCxnSpPr>
            <a:cxnSpLocks/>
          </p:cNvCxnSpPr>
          <p:nvPr/>
        </p:nvCxnSpPr>
        <p:spPr>
          <a:xfrm flipV="1">
            <a:off x="10063022" y="305287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/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圓角矩形 61">
                <a:extLst>
                  <a:ext uri="{FF2B5EF4-FFF2-40B4-BE49-F238E27FC236}">
                    <a16:creationId xmlns:a16="http://schemas.microsoft.com/office/drawing/2014/main" id="{71810DFC-9484-4F06-0116-C8859C9AB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559" y="3270703"/>
                <a:ext cx="555203" cy="465105"/>
              </a:xfrm>
              <a:prstGeom prst="roundRect">
                <a:avLst/>
              </a:prstGeom>
              <a:blipFill>
                <a:blip r:embed="rId13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/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圓角矩形 62">
                <a:extLst>
                  <a:ext uri="{FF2B5EF4-FFF2-40B4-BE49-F238E27FC236}">
                    <a16:creationId xmlns:a16="http://schemas.microsoft.com/office/drawing/2014/main" id="{8C29360F-E395-BEC8-9AF5-ECF378961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8941" y="3281329"/>
                <a:ext cx="555203" cy="46510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/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B2575567-B447-B8EC-E46E-582ED19CA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835" y="3273307"/>
                <a:ext cx="555203" cy="46510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/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TW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4C90679A-B23D-0A3F-2D94-6DDF798DB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42" y="4335480"/>
                <a:ext cx="555203" cy="465105"/>
              </a:xfrm>
              <a:prstGeom prst="roundRect">
                <a:avLst/>
              </a:prstGeom>
              <a:blipFill>
                <a:blip r:embed="rId16"/>
                <a:stretch>
                  <a:fillRect l="-6522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F9645189-5848-7448-BF59-C9E3DAD0EA6A}"/>
              </a:ext>
            </a:extLst>
          </p:cNvPr>
          <p:cNvCxnSpPr>
            <a:cxnSpLocks/>
          </p:cNvCxnSpPr>
          <p:nvPr/>
        </p:nvCxnSpPr>
        <p:spPr>
          <a:xfrm>
            <a:off x="1045007" y="4590483"/>
            <a:ext cx="33815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CF5AD8-03CD-B0B9-652B-DF4DB8FE9238}"/>
              </a:ext>
            </a:extLst>
          </p:cNvPr>
          <p:cNvSpPr txBox="1"/>
          <p:nvPr/>
        </p:nvSpPr>
        <p:spPr>
          <a:xfrm>
            <a:off x="2526444" y="1835327"/>
            <a:ext cx="252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/>
              <a:t>輸出是</a:t>
            </a:r>
            <a:r>
              <a:rPr kumimoji="1" lang="en-US" altLang="zh-TW" b="1" dirty="0"/>
              <a:t> hidden states</a:t>
            </a:r>
            <a:endParaRPr kumimoji="1" lang="zh-TW" altLang="en-US" b="1" dirty="0"/>
          </a:p>
        </p:txBody>
      </p:sp>
      <p:cxnSp>
        <p:nvCxnSpPr>
          <p:cNvPr id="12" name="肘形接點 11">
            <a:extLst>
              <a:ext uri="{FF2B5EF4-FFF2-40B4-BE49-F238E27FC236}">
                <a16:creationId xmlns:a16="http://schemas.microsoft.com/office/drawing/2014/main" id="{F7BCD1C7-82B8-FFA2-09EC-A4BC0337536B}"/>
              </a:ext>
            </a:extLst>
          </p:cNvPr>
          <p:cNvCxnSpPr>
            <a:cxnSpLocks/>
            <a:stCxn id="44" idx="3"/>
            <a:endCxn id="6" idx="1"/>
          </p:cNvCxnSpPr>
          <p:nvPr/>
        </p:nvCxnSpPr>
        <p:spPr>
          <a:xfrm>
            <a:off x="5737233" y="3505860"/>
            <a:ext cx="1040505" cy="104245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19C8A55-A2F5-4A64-598E-FCB4A79275C2}"/>
              </a:ext>
            </a:extLst>
          </p:cNvPr>
          <p:cNvSpPr txBox="1"/>
          <p:nvPr/>
        </p:nvSpPr>
        <p:spPr>
          <a:xfrm>
            <a:off x="5368375" y="6195910"/>
            <a:ext cx="2502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FF0000"/>
                </a:solidFill>
              </a:rPr>
              <a:t>(Encoder </a:t>
            </a:r>
            <a:r>
              <a:rPr kumimoji="1" lang="zh-TW" altLang="en-US" sz="1600" dirty="0">
                <a:solidFill>
                  <a:srgbClr val="FF0000"/>
                </a:solidFill>
              </a:rPr>
              <a:t>的輸出有很多種被</a:t>
            </a:r>
            <a:r>
              <a:rPr kumimoji="1" lang="en-US" altLang="zh-TW" sz="1600" dirty="0">
                <a:solidFill>
                  <a:srgbClr val="FF0000"/>
                </a:solidFill>
              </a:rPr>
              <a:t>Decoder</a:t>
            </a:r>
            <a:r>
              <a:rPr kumimoji="1" lang="zh-TW" altLang="en-US" sz="1600" dirty="0">
                <a:solidFill>
                  <a:srgbClr val="FF0000"/>
                </a:solidFill>
              </a:rPr>
              <a:t>運用的方式</a:t>
            </a:r>
            <a:r>
              <a:rPr kumimoji="1" lang="en-US" altLang="zh-TW" sz="1600" dirty="0">
                <a:solidFill>
                  <a:srgbClr val="FF0000"/>
                </a:solidFill>
              </a:rPr>
              <a:t>)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24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/>
      <p:bldP spid="37" grpId="0" animBg="1"/>
      <p:bldP spid="42" grpId="0"/>
      <p:bldP spid="44" grpId="0" animBg="1"/>
      <p:bldP spid="47" grpId="0" animBg="1"/>
      <p:bldP spid="48" grpId="0" animBg="1"/>
      <p:bldP spid="49" grpId="0" animBg="1"/>
      <p:bldP spid="50" grpId="0"/>
      <p:bldP spid="51" grpId="0"/>
      <p:bldP spid="62" grpId="0" animBg="1"/>
      <p:bldP spid="63" grpId="0" animBg="1"/>
      <p:bldP spid="64" grpId="0" animBg="1"/>
      <p:bldP spid="65" grpId="0" animBg="1"/>
      <p:bldP spid="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3E64-DC58-7055-4D7F-E7E37F39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F15AE-6803-ACCC-6F87-FF61EFED0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機器翻譯 </a:t>
            </a:r>
            <a:r>
              <a:rPr kumimoji="1" lang="en-US" altLang="zh-TW" dirty="0"/>
              <a:t>(with Attention, t = 2)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94D9E790-783A-329F-CB18-2AD3E891A331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F8EE193-CB55-5961-AD5B-6C6B55B9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9</a:t>
            </a:fld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E9BF460-0B7E-F280-6EBC-AD88005E6620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E9BF460-0B7E-F280-6EBC-AD88005E6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3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286EFF00-C48B-7D31-5457-3CB387487C24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0C6B669E-8C3D-5CB1-1179-EC84C6186FC1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FDFD191-EB28-4078-9248-45201C52CDD0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C542505-7302-BC6C-0EB7-31355EEF41BC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E7128892-CB18-9019-C0FD-76AEC0FA56D9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582EBE76-3735-B6E1-BFD7-44C5DDFBA6DB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CDACAA6-667C-A884-4EE8-9EC7B5DEA5F2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0D00C6CC-7042-68BE-0436-DB690113FE41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E3AF4923-12BE-22FB-4474-A02E4B4996B8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FE5C0BC4-8BEE-A03B-EFD3-135148674A9D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8FE444D-62C5-7EBF-2724-E6A7D264095B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8FE444D-62C5-7EBF-2724-E6A7D2640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7B5729A-807D-704C-5D5F-9096E8DA105C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A7B5729A-807D-704C-5D5F-9096E8DA1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0FD4111-053B-3B4F-FB29-215086228B1A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30FD4111-053B-3B4F-FB29-215086228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638B3AC5-D9A0-FE1D-A540-7A55C9249353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D434C6E1-9F22-9EF3-9B5E-A9DEF274999F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AAF1417-BC17-AB7E-17C8-47A88B68F5A0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2B9B03F4-ECEB-5FB0-0251-FE79957176F4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B347BE11-1663-6288-F09A-9BDAE1590A24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738E9198-4D21-11F1-F374-80B1D1C57F27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C678314A-33AC-155C-CFAD-D7580EA3B7F8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C4EFC7AC-7E1B-9766-64AA-6B054AEC41E4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A6A6592-7EE1-13F9-B621-BB3985FF2BAE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702A967-B34E-97D3-9B6F-B071E5340B7C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18FAE4A-98F2-589C-5274-D4547985C1FB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620EC6A-8402-8871-51F2-0D62CEB47990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C181061-0936-0F5C-AB18-865D9785FB13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ABE1B6-7669-FBA1-692F-AEFC04E9C304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295B3EF-930D-FF9B-8CD3-54F2406AB0CA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947359-F127-D523-8233-7AA7E7418154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447963A-637F-D331-F030-8E3A53574913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7FD5B8B-AECC-E7C9-203A-BF4EDBDEDB0F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4BEACC5B-5BF9-14D6-B559-A293BAB34843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DC1D47E9-8329-614B-F5A1-790DCE59C43C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6C4A253C-DC31-5C87-0627-F56694BC3229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8E424DF0-B0E9-C79C-2D71-6D32EDF5F9BA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BDA43D88-3C25-CFD6-1212-CDBEB967CC47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B86EF079-C72F-B7DB-3F1E-42F79167A28D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96115B3-A628-80AA-5290-6F8705A0BCA5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DBE46EB3-404F-F7B2-7FF6-81C8C87A35EC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D209245E-828F-DB1A-FE91-774EFEA0237F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266FBBFA-CDF7-C0FC-8007-02A713302871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18B6AE5F-A7E7-8726-7A8F-CF70496C1FEF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15F3176-953B-3F6A-64B4-30AA8A3168B4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4" name="直線箭頭接點 83">
            <a:extLst>
              <a:ext uri="{FF2B5EF4-FFF2-40B4-BE49-F238E27FC236}">
                <a16:creationId xmlns:a16="http://schemas.microsoft.com/office/drawing/2014/main" id="{4F391EF9-CCD3-4FB6-4CFE-ACE9E3C66012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D171D7D8-8C68-3104-B447-2E7D3791AA89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188E9F8B-72F1-DB79-9696-95DDD64BB510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箭頭接點 107">
            <a:extLst>
              <a:ext uri="{FF2B5EF4-FFF2-40B4-BE49-F238E27FC236}">
                <a16:creationId xmlns:a16="http://schemas.microsoft.com/office/drawing/2014/main" id="{73BBD917-B4E4-C491-C249-20391DB35276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E02A9A0F-62EC-2296-E514-888E6F4A6CD5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箭頭接點 109">
            <a:extLst>
              <a:ext uri="{FF2B5EF4-FFF2-40B4-BE49-F238E27FC236}">
                <a16:creationId xmlns:a16="http://schemas.microsoft.com/office/drawing/2014/main" id="{6FFD6C30-6E8F-049B-7DC1-FFE15C859B34}"/>
              </a:ext>
            </a:extLst>
          </p:cNvPr>
          <p:cNvCxnSpPr>
            <a:cxnSpLocks/>
          </p:cNvCxnSpPr>
          <p:nvPr/>
        </p:nvCxnSpPr>
        <p:spPr>
          <a:xfrm>
            <a:off x="6681569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66A42BD9-9DA1-4A32-E98D-2047F346A1B3}"/>
              </a:ext>
            </a:extLst>
          </p:cNvPr>
          <p:cNvCxnSpPr>
            <a:cxnSpLocks/>
          </p:cNvCxnSpPr>
          <p:nvPr/>
        </p:nvCxnSpPr>
        <p:spPr>
          <a:xfrm flipV="1">
            <a:off x="638221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26AFD2CA-0461-413B-D174-CFA269F31CDB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7" name="直線箭頭接點 146">
            <a:extLst>
              <a:ext uri="{FF2B5EF4-FFF2-40B4-BE49-F238E27FC236}">
                <a16:creationId xmlns:a16="http://schemas.microsoft.com/office/drawing/2014/main" id="{FF4DF05B-2975-82C6-6339-22B9F80D4113}"/>
              </a:ext>
            </a:extLst>
          </p:cNvPr>
          <p:cNvCxnSpPr>
            <a:cxnSpLocks/>
          </p:cNvCxnSpPr>
          <p:nvPr/>
        </p:nvCxnSpPr>
        <p:spPr>
          <a:xfrm flipV="1">
            <a:off x="6382211" y="40129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F03F4B7E-046B-522F-5D94-EF2A6F1BF36D}"/>
                  </a:ext>
                </a:extLst>
              </p:cNvPr>
              <p:cNvSpPr txBox="1"/>
              <p:nvPr/>
            </p:nvSpPr>
            <p:spPr>
              <a:xfrm>
                <a:off x="6118558" y="4325610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F03F4B7E-046B-522F-5D94-EF2A6F1BF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558" y="4325610"/>
                <a:ext cx="541313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E4387330-B311-6F94-5219-000F4FE6BF01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C674D36-F636-2527-BD9E-DE1961317E16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C674D36-F636-2527-BD9E-DE1961317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26C3416-FCBB-E93E-4F25-A729E79F9806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26C3416-FCBB-E93E-4F25-A729E79F9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9853FFD-96AE-B181-3B0F-2F9924217096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9853FFD-96AE-B181-3B0F-2F9924217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BC8E41F3-8DEA-C43F-0844-6DB68D82A1A8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BC8E41F3-8DEA-C43F-0844-6DB68D82A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B5C303C-AF38-5753-E50A-FA88E38E818C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0B5C303C-AF38-5753-E50A-FA88E38E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圓角矩形 37">
            <a:extLst>
              <a:ext uri="{FF2B5EF4-FFF2-40B4-BE49-F238E27FC236}">
                <a16:creationId xmlns:a16="http://schemas.microsoft.com/office/drawing/2014/main" id="{664B9C6A-0C19-FFEF-FF28-6FD9D2E6BEF2}"/>
              </a:ext>
            </a:extLst>
          </p:cNvPr>
          <p:cNvSpPr/>
          <p:nvPr/>
        </p:nvSpPr>
        <p:spPr>
          <a:xfrm>
            <a:off x="6264739" y="4320356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BE0BAEBA-C531-8EC2-58C2-B7F12442454B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106F42A0-03FB-06AA-3461-F479DD3A6EAA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A816B909-52B0-8E8D-965E-33137A332699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890BADA3-5CD5-5D99-958F-B8E25DC90680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32F2BB0D-047A-9414-8C93-ABC316A12BC5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A6B49E8-04C7-FC39-5775-D5E6E7A9CA49}"/>
              </a:ext>
            </a:extLst>
          </p:cNvPr>
          <p:cNvSpPr txBox="1"/>
          <p:nvPr/>
        </p:nvSpPr>
        <p:spPr>
          <a:xfrm>
            <a:off x="2100046" y="2608210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520D0E5-F80A-CCE4-FE34-A09BB04FD1DD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E520D0E5-F80A-CCE4-FE34-A09BB04FD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blipFill>
                <a:blip r:embed="rId13"/>
                <a:stretch>
                  <a:fillRect l="-22609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5A547A06-8F75-16EB-988C-5058DA705A93}"/>
              </a:ext>
            </a:extLst>
          </p:cNvPr>
          <p:cNvCxnSpPr>
            <a:cxnSpLocks/>
          </p:cNvCxnSpPr>
          <p:nvPr/>
        </p:nvCxnSpPr>
        <p:spPr>
          <a:xfrm flipV="1">
            <a:off x="6397832" y="31154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7EBAD02F-4B53-52B0-0F8E-DF702000A7CF}"/>
              </a:ext>
            </a:extLst>
          </p:cNvPr>
          <p:cNvSpPr txBox="1"/>
          <p:nvPr/>
        </p:nvSpPr>
        <p:spPr>
          <a:xfrm>
            <a:off x="6041303" y="2609788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00C1764-FD36-D330-F515-ECE8033480FF}"/>
              </a:ext>
            </a:extLst>
          </p:cNvPr>
          <p:cNvSpPr/>
          <p:nvPr/>
        </p:nvSpPr>
        <p:spPr>
          <a:xfrm>
            <a:off x="6097363" y="3517941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55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2" grpId="0"/>
      <p:bldP spid="13" grpId="0"/>
      <p:bldP spid="33" grpId="0"/>
      <p:bldP spid="34" grpId="0"/>
      <p:bldP spid="38" grpId="0" animBg="1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9" grpId="0" animBg="1"/>
      <p:bldP spid="51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C86A-7648-F737-AC03-7C4F91A5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F914C9-089C-427A-A15B-8FA6ADF4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機器翻譯 </a:t>
            </a:r>
            <a:r>
              <a:rPr kumimoji="1" lang="en-US" altLang="zh-TW" dirty="0"/>
              <a:t>(with Attention, t = 3)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5AC3A14-B87E-1142-2B61-B7AA3C603C05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3DEB15-94BD-2A1B-7A1A-E3EDFD95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1681C-F638-B044-A8F2-A1B9864D5A40}" type="slidenum">
              <a:rPr kumimoji="1" lang="zh-TW" altLang="en-US" smtClean="0"/>
              <a:t>10</a:t>
            </a:fld>
            <a:endParaRPr kumimoji="1" lang="zh-TW" altLang="en-US"/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F0237EC1-79C7-5910-F94F-844C2EAFAD09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CADF65C9-5550-3019-EB5C-6AC5CF1CCE6E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E7D4982C-7C15-E182-B5D4-6AF4871B0075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1162C03-E4F5-3759-6175-D7E4583391E5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4356034F-4F40-2DC5-895E-E14D0BE7BB9A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43F507E-884A-14A8-2F7D-17AC6A867B38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0BE6EDA1-B7B0-6950-F079-2AF6197020BC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D68497B8-8C65-8141-9F5C-6140E0828F75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D21DD11B-7E1E-BD88-6E26-15DC023FDB22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BA819FC6-4DE2-D753-6BF4-699FD623CBAE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9289712-839E-74FE-0D78-263EBE951B3D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B9289712-839E-74FE-0D78-263EBE951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6DE65D9D-B8E2-3848-B09B-3CCDC43DFDA3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6DE65D9D-B8E2-3848-B09B-3CCDC43D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C037385-47E8-3BD9-6526-DC079A72442C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C037385-47E8-3BD9-6526-DC079A724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圓角矩形 8">
            <a:extLst>
              <a:ext uri="{FF2B5EF4-FFF2-40B4-BE49-F238E27FC236}">
                <a16:creationId xmlns:a16="http://schemas.microsoft.com/office/drawing/2014/main" id="{F6B2561E-F36B-DB27-FFC7-88FE58BC0CD8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AFF000-2F58-3AFA-15ED-F25AF55A0154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8F557398-8354-F4F5-B289-ECFF05BCA6CA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9FFBA47B-B39D-71D0-384D-59828CF146C9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F06926BC-79B7-C344-8D26-E805077D2096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A09F4F5D-2A58-ECF2-787E-7FDD6B67DCB9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60ED5C5D-D01B-11E2-D255-0A307090C76A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3F3ED5D6-5FFD-D1B7-30BE-7B0D8E603886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206D02E-2F3A-3266-7887-EF4D20DBA19F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D182E89-4E79-0C50-9696-8D349F1760AA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EF4C955-833A-3DC6-2086-A706F345DFB4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3BF7017-1329-5EBC-9C49-711B1AE821B2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A043F48-3A2B-16A7-2E87-CCCF7EEEDFC1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1439A4-AEA7-C276-B3F4-A81865D648E7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9D67784-EEE3-FB52-73D7-C1369B82E8C1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489E77-9AB6-086E-E205-F0BD31664BBF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CD11246-16A2-2AD7-4118-6F0EBE27A63F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5C7B18-05E9-E8B5-886E-AE082CF72A44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44E3A6FF-C81C-2862-702A-353C15505D20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箭頭接點 59">
            <a:extLst>
              <a:ext uri="{FF2B5EF4-FFF2-40B4-BE49-F238E27FC236}">
                <a16:creationId xmlns:a16="http://schemas.microsoft.com/office/drawing/2014/main" id="{1BF6A9F7-4F55-C836-18C6-9786C3F77D30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箭頭接點 61">
            <a:extLst>
              <a:ext uri="{FF2B5EF4-FFF2-40B4-BE49-F238E27FC236}">
                <a16:creationId xmlns:a16="http://schemas.microsoft.com/office/drawing/2014/main" id="{176DB90F-0E4C-705A-43F7-F63BECBCCFBB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C2C3A4A5-EA7A-8563-E4D6-B42C1AEA9D0D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箭頭接點 67">
            <a:extLst>
              <a:ext uri="{FF2B5EF4-FFF2-40B4-BE49-F238E27FC236}">
                <a16:creationId xmlns:a16="http://schemas.microsoft.com/office/drawing/2014/main" id="{14FFC856-2E17-7C2E-66CF-50697DEA3C6E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BE6934FA-B49B-6A35-2E05-256E2878CD02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6F6D1E8-5DC3-5722-F4D6-03BF45B69E8B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827EC041-D5E4-854F-83D6-5985CDF68C27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D7F971C5-33C2-AD0B-D59A-AE5F1A9CECF3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箭頭接點 72">
            <a:extLst>
              <a:ext uri="{FF2B5EF4-FFF2-40B4-BE49-F238E27FC236}">
                <a16:creationId xmlns:a16="http://schemas.microsoft.com/office/drawing/2014/main" id="{CC6448D2-89C4-FAB7-F15C-C59828D9B2AA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AD29305A-F691-CFA9-FD79-D0D413C6D1EC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E7FDBAC-60FB-1FD1-4807-A990D0780315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4" name="直線箭頭接點 83">
            <a:extLst>
              <a:ext uri="{FF2B5EF4-FFF2-40B4-BE49-F238E27FC236}">
                <a16:creationId xmlns:a16="http://schemas.microsoft.com/office/drawing/2014/main" id="{BF81CE4C-AB82-CB11-E6C7-AD76313C2737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8693E33F-58AE-0723-D878-7E9842DFB8F9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箭頭接點 106">
            <a:extLst>
              <a:ext uri="{FF2B5EF4-FFF2-40B4-BE49-F238E27FC236}">
                <a16:creationId xmlns:a16="http://schemas.microsoft.com/office/drawing/2014/main" id="{EB4ACAEB-8FDB-3F6E-BD24-B7F47BE6C293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箭頭接點 107">
            <a:extLst>
              <a:ext uri="{FF2B5EF4-FFF2-40B4-BE49-F238E27FC236}">
                <a16:creationId xmlns:a16="http://schemas.microsoft.com/office/drawing/2014/main" id="{8B234FDF-CD61-7D0E-716C-7B5628F20B4B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箭頭接點 108">
            <a:extLst>
              <a:ext uri="{FF2B5EF4-FFF2-40B4-BE49-F238E27FC236}">
                <a16:creationId xmlns:a16="http://schemas.microsoft.com/office/drawing/2014/main" id="{780CE823-1E4E-306E-2684-15413BE34DDF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4" name="群組 173">
            <a:extLst>
              <a:ext uri="{FF2B5EF4-FFF2-40B4-BE49-F238E27FC236}">
                <a16:creationId xmlns:a16="http://schemas.microsoft.com/office/drawing/2014/main" id="{F5B21701-26EE-FFD4-7FCF-1E7BCDA59BF0}"/>
              </a:ext>
            </a:extLst>
          </p:cNvPr>
          <p:cNvGrpSpPr/>
          <p:nvPr/>
        </p:nvGrpSpPr>
        <p:grpSpPr>
          <a:xfrm>
            <a:off x="6681569" y="5134787"/>
            <a:ext cx="1019335" cy="1111138"/>
            <a:chOff x="6681569" y="5134787"/>
            <a:chExt cx="1019335" cy="1111138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5507FF3D-38D9-72AE-D4A0-E629376042F7}"/>
                </a:ext>
              </a:extLst>
            </p:cNvPr>
            <p:cNvSpPr txBox="1"/>
            <p:nvPr/>
          </p:nvSpPr>
          <p:spPr>
            <a:xfrm>
              <a:off x="6981299" y="5876593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I</a:t>
              </a:r>
              <a:endParaRPr kumimoji="1" lang="zh-TW" altLang="en-US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F1F57040-6CC3-FB33-515C-4AE7606D9CB0}"/>
                </a:ext>
              </a:extLst>
            </p:cNvPr>
            <p:cNvSpPr/>
            <p:nvPr/>
          </p:nvSpPr>
          <p:spPr>
            <a:xfrm>
              <a:off x="7056125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86" name="直線箭頭接點 85">
              <a:extLst>
                <a:ext uri="{FF2B5EF4-FFF2-40B4-BE49-F238E27FC236}">
                  <a16:creationId xmlns:a16="http://schemas.microsoft.com/office/drawing/2014/main" id="{CA7779AB-C2C1-5041-039A-252E88CB4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箭頭接點 109">
              <a:extLst>
                <a:ext uri="{FF2B5EF4-FFF2-40B4-BE49-F238E27FC236}">
                  <a16:creationId xmlns:a16="http://schemas.microsoft.com/office/drawing/2014/main" id="{5528168B-A750-3A38-4B4E-F4B73C08CD7F}"/>
                </a:ext>
              </a:extLst>
            </p:cNvPr>
            <p:cNvCxnSpPr>
              <a:cxnSpLocks/>
            </p:cNvCxnSpPr>
            <p:nvPr/>
          </p:nvCxnSpPr>
          <p:spPr>
            <a:xfrm>
              <a:off x="668156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直線箭頭接點 84">
            <a:extLst>
              <a:ext uri="{FF2B5EF4-FFF2-40B4-BE49-F238E27FC236}">
                <a16:creationId xmlns:a16="http://schemas.microsoft.com/office/drawing/2014/main" id="{6FD3C545-6857-CA6B-BAAD-6A8F4928415E}"/>
              </a:ext>
            </a:extLst>
          </p:cNvPr>
          <p:cNvCxnSpPr>
            <a:cxnSpLocks/>
          </p:cNvCxnSpPr>
          <p:nvPr/>
        </p:nvCxnSpPr>
        <p:spPr>
          <a:xfrm flipV="1">
            <a:off x="638221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1D9241BF-7E86-6135-9B66-A903AAF2E2E0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7" name="直線箭頭接點 146">
            <a:extLst>
              <a:ext uri="{FF2B5EF4-FFF2-40B4-BE49-F238E27FC236}">
                <a16:creationId xmlns:a16="http://schemas.microsoft.com/office/drawing/2014/main" id="{C3CAB93E-BE0A-984B-0120-B219B93BCEDF}"/>
              </a:ext>
            </a:extLst>
          </p:cNvPr>
          <p:cNvCxnSpPr>
            <a:cxnSpLocks/>
          </p:cNvCxnSpPr>
          <p:nvPr/>
        </p:nvCxnSpPr>
        <p:spPr>
          <a:xfrm flipV="1">
            <a:off x="6382211" y="40129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1D2BEA9-206C-1C7F-7F78-2795C5F6B0E4}"/>
                  </a:ext>
                </a:extLst>
              </p:cNvPr>
              <p:cNvSpPr txBox="1"/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1D2BEA9-206C-1C7F-7F78-2795C5F6B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箭頭接點 86">
            <a:extLst>
              <a:ext uri="{FF2B5EF4-FFF2-40B4-BE49-F238E27FC236}">
                <a16:creationId xmlns:a16="http://schemas.microsoft.com/office/drawing/2014/main" id="{C5A2F45E-E9E4-32D7-16C5-F7377A6220F4}"/>
              </a:ext>
            </a:extLst>
          </p:cNvPr>
          <p:cNvCxnSpPr>
            <a:cxnSpLocks/>
          </p:cNvCxnSpPr>
          <p:nvPr/>
        </p:nvCxnSpPr>
        <p:spPr>
          <a:xfrm flipV="1">
            <a:off x="734375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圓角矩形 114">
            <a:extLst>
              <a:ext uri="{FF2B5EF4-FFF2-40B4-BE49-F238E27FC236}">
                <a16:creationId xmlns:a16="http://schemas.microsoft.com/office/drawing/2014/main" id="{DB349061-6ADE-44F3-7176-E7ED517535F7}"/>
              </a:ext>
            </a:extLst>
          </p:cNvPr>
          <p:cNvSpPr/>
          <p:nvPr/>
        </p:nvSpPr>
        <p:spPr>
          <a:xfrm rot="16200000">
            <a:off x="7153651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5" name="直線箭頭接點 124">
            <a:extLst>
              <a:ext uri="{FF2B5EF4-FFF2-40B4-BE49-F238E27FC236}">
                <a16:creationId xmlns:a16="http://schemas.microsoft.com/office/drawing/2014/main" id="{04293B29-9EC0-3D6A-C756-7C324EB37688}"/>
              </a:ext>
            </a:extLst>
          </p:cNvPr>
          <p:cNvCxnSpPr>
            <a:cxnSpLocks/>
          </p:cNvCxnSpPr>
          <p:nvPr/>
        </p:nvCxnSpPr>
        <p:spPr>
          <a:xfrm flipV="1">
            <a:off x="7343118" y="400838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CD6EC75C-0B5F-EE0A-B8EB-021527707F47}"/>
                  </a:ext>
                </a:extLst>
              </p:cNvPr>
              <p:cNvSpPr txBox="1"/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CD6EC75C-0B5F-EE0A-B8EB-021527707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圓角矩形 6">
            <a:extLst>
              <a:ext uri="{FF2B5EF4-FFF2-40B4-BE49-F238E27FC236}">
                <a16:creationId xmlns:a16="http://schemas.microsoft.com/office/drawing/2014/main" id="{E4B84E33-C79A-AC82-DA12-278E8E7DA540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07BCFAB-9C1D-BFE1-143C-648056DB062A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607BCFAB-9C1D-BFE1-143C-648056DB0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CD73B98-4F03-342D-8E6B-ADE90330F340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CD73B98-4F03-342D-8E6B-ADE90330F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7A1DBF4-C268-204A-CC03-A3F97C93B1FB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7A1DBF4-C268-204A-CC03-A3F97C93B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5280AB4-310C-E1F8-4190-69E252BE3F08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65280AB4-310C-E1F8-4190-69E252BE3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D616A79-0860-A8FA-EC37-0743B7681141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FD616A79-0860-A8FA-EC37-0743B7681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圓角矩形 38">
            <a:extLst>
              <a:ext uri="{FF2B5EF4-FFF2-40B4-BE49-F238E27FC236}">
                <a16:creationId xmlns:a16="http://schemas.microsoft.com/office/drawing/2014/main" id="{1B0C2B00-5679-A921-6D0A-7604CF6BFDBA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384EAAB2-E6EB-1412-2DBF-481655B4ECAF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FBAEDCF8-9FDF-172A-8EB1-11CD04EDA652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F7DFFFE2-0052-3F7C-8DAE-7F86CF8DC25A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07FB3C3C-6E4B-95C6-66A4-5DDD64E91337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7B62013-EBD6-D558-209A-CC7F4EC1EB1D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7B62013-EBD6-D558-209A-CC7F4EC1E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blipFill>
                <a:blip r:embed="rId14"/>
                <a:stretch>
                  <a:fillRect l="-22609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圓角矩形 55">
            <a:extLst>
              <a:ext uri="{FF2B5EF4-FFF2-40B4-BE49-F238E27FC236}">
                <a16:creationId xmlns:a16="http://schemas.microsoft.com/office/drawing/2014/main" id="{0BE1A0E1-3007-B69F-1779-4464AB880CF7}"/>
              </a:ext>
            </a:extLst>
          </p:cNvPr>
          <p:cNvSpPr/>
          <p:nvPr/>
        </p:nvSpPr>
        <p:spPr>
          <a:xfrm>
            <a:off x="7229738" y="4313959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30DE564-DF93-D914-D5BE-46A971B09B91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30DE564-DF93-D914-D5BE-46A971B09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4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2D522D09-C89E-C482-1BE9-4ADA7893BB73}"/>
              </a:ext>
            </a:extLst>
          </p:cNvPr>
          <p:cNvCxnSpPr>
            <a:cxnSpLocks/>
          </p:cNvCxnSpPr>
          <p:nvPr/>
        </p:nvCxnSpPr>
        <p:spPr>
          <a:xfrm>
            <a:off x="7646435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1F4946DA-A13B-D94A-3454-1ADF6A3C7FA7}"/>
              </a:ext>
            </a:extLst>
          </p:cNvPr>
          <p:cNvSpPr txBox="1"/>
          <p:nvPr/>
        </p:nvSpPr>
        <p:spPr>
          <a:xfrm>
            <a:off x="2100046" y="2618149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C4FD82FB-83DF-AF11-8E64-F58F691F1FF3}"/>
              </a:ext>
            </a:extLst>
          </p:cNvPr>
          <p:cNvSpPr txBox="1"/>
          <p:nvPr/>
        </p:nvSpPr>
        <p:spPr>
          <a:xfrm>
            <a:off x="6980828" y="2625090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want</a:t>
            </a:r>
            <a:endParaRPr kumimoji="1" lang="zh-TW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A8745C3-7ADB-0CB9-53E9-2478BF78BB06}"/>
              </a:ext>
            </a:extLst>
          </p:cNvPr>
          <p:cNvSpPr/>
          <p:nvPr/>
        </p:nvSpPr>
        <p:spPr>
          <a:xfrm>
            <a:off x="7047983" y="3523324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83" name="直線箭頭接點 82">
            <a:extLst>
              <a:ext uri="{FF2B5EF4-FFF2-40B4-BE49-F238E27FC236}">
                <a16:creationId xmlns:a16="http://schemas.microsoft.com/office/drawing/2014/main" id="{8EBAF0EB-C418-367F-13B1-D778D9ED1C17}"/>
              </a:ext>
            </a:extLst>
          </p:cNvPr>
          <p:cNvCxnSpPr>
            <a:cxnSpLocks/>
          </p:cNvCxnSpPr>
          <p:nvPr/>
        </p:nvCxnSpPr>
        <p:spPr>
          <a:xfrm flipV="1">
            <a:off x="7343751" y="312618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箭頭接點 87">
            <a:extLst>
              <a:ext uri="{FF2B5EF4-FFF2-40B4-BE49-F238E27FC236}">
                <a16:creationId xmlns:a16="http://schemas.microsoft.com/office/drawing/2014/main" id="{582DEF64-BDB8-E382-31CA-5B1DC54AC589}"/>
              </a:ext>
            </a:extLst>
          </p:cNvPr>
          <p:cNvCxnSpPr>
            <a:cxnSpLocks/>
          </p:cNvCxnSpPr>
          <p:nvPr/>
        </p:nvCxnSpPr>
        <p:spPr>
          <a:xfrm flipV="1">
            <a:off x="6397832" y="31154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5D49BACB-88C2-9A7C-B436-F557054B383D}"/>
              </a:ext>
            </a:extLst>
          </p:cNvPr>
          <p:cNvSpPr txBox="1"/>
          <p:nvPr/>
        </p:nvSpPr>
        <p:spPr>
          <a:xfrm>
            <a:off x="6041303" y="2609788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EE61079-2C7E-3FAF-73B7-167E8C73CA22}"/>
              </a:ext>
            </a:extLst>
          </p:cNvPr>
          <p:cNvSpPr/>
          <p:nvPr/>
        </p:nvSpPr>
        <p:spPr>
          <a:xfrm>
            <a:off x="6097363" y="3517941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01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2" grpId="0"/>
      <p:bldP spid="13" grpId="0"/>
      <p:bldP spid="33" grpId="0"/>
      <p:bldP spid="34" grpId="0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9" grpId="0" animBg="1"/>
      <p:bldP spid="54" grpId="0"/>
      <p:bldP spid="56" grpId="0" animBg="1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C584641-BD80-F9CA-83CC-41AACEC0698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Additive Attention (</a:t>
                </a:r>
                <a:r>
                  <a:rPr kumimoji="1" lang="zh-TW" altLang="en-US" dirty="0"/>
                  <a:t>算出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C584641-BD80-F9CA-83CC-41AACEC069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402B91-725B-F09B-149C-2D512709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4160188F-F292-5497-7D6A-ADF259571E70}"/>
              </a:ext>
            </a:extLst>
          </p:cNvPr>
          <p:cNvSpPr/>
          <p:nvPr/>
        </p:nvSpPr>
        <p:spPr>
          <a:xfrm rot="5400000">
            <a:off x="1041463" y="406411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A8CACAB-C745-FEEF-46C7-B6FF01783DD2}"/>
              </a:ext>
            </a:extLst>
          </p:cNvPr>
          <p:cNvCxnSpPr/>
          <p:nvPr/>
        </p:nvCxnSpPr>
        <p:spPr>
          <a:xfrm>
            <a:off x="5632911" y="2553196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4FF5907-8500-4607-7644-9C8C19637267}"/>
              </a:ext>
            </a:extLst>
          </p:cNvPr>
          <p:cNvCxnSpPr>
            <a:cxnSpLocks/>
          </p:cNvCxnSpPr>
          <p:nvPr/>
        </p:nvCxnSpPr>
        <p:spPr>
          <a:xfrm flipH="1">
            <a:off x="150310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圓角矩形 8">
            <a:extLst>
              <a:ext uri="{FF2B5EF4-FFF2-40B4-BE49-F238E27FC236}">
                <a16:creationId xmlns:a16="http://schemas.microsoft.com/office/drawing/2014/main" id="{761388E5-A64C-DA7C-1DEE-95B653C9C054}"/>
              </a:ext>
            </a:extLst>
          </p:cNvPr>
          <p:cNvSpPr/>
          <p:nvPr/>
        </p:nvSpPr>
        <p:spPr>
          <a:xfrm rot="5400000">
            <a:off x="1041463" y="444556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B1AF4480-58B0-0D69-E0F5-E16A71662E37}"/>
              </a:ext>
            </a:extLst>
          </p:cNvPr>
          <p:cNvCxnSpPr>
            <a:cxnSpLocks/>
          </p:cNvCxnSpPr>
          <p:nvPr/>
        </p:nvCxnSpPr>
        <p:spPr>
          <a:xfrm>
            <a:off x="1524880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6F55B55-06BF-B116-3A8D-290DF67DD59C}"/>
              </a:ext>
            </a:extLst>
          </p:cNvPr>
          <p:cNvCxnSpPr>
            <a:cxnSpLocks/>
          </p:cNvCxnSpPr>
          <p:nvPr/>
        </p:nvCxnSpPr>
        <p:spPr>
          <a:xfrm>
            <a:off x="246797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12B61FE0-0A4B-A172-6D4C-676ED8CFB9A1}"/>
              </a:ext>
            </a:extLst>
          </p:cNvPr>
          <p:cNvCxnSpPr>
            <a:cxnSpLocks/>
          </p:cNvCxnSpPr>
          <p:nvPr/>
        </p:nvCxnSpPr>
        <p:spPr>
          <a:xfrm>
            <a:off x="342618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1325370-F1C2-6A0E-0EDF-6C71A7D562A6}"/>
              </a:ext>
            </a:extLst>
          </p:cNvPr>
          <p:cNvCxnSpPr>
            <a:cxnSpLocks/>
          </p:cNvCxnSpPr>
          <p:nvPr/>
        </p:nvCxnSpPr>
        <p:spPr>
          <a:xfrm>
            <a:off x="4419904" y="4544055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A4501734-6243-B8F0-5CB2-93A5866C00DC}"/>
              </a:ext>
            </a:extLst>
          </p:cNvPr>
          <p:cNvCxnSpPr>
            <a:cxnSpLocks/>
          </p:cNvCxnSpPr>
          <p:nvPr/>
        </p:nvCxnSpPr>
        <p:spPr>
          <a:xfrm flipH="1">
            <a:off x="2457088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EB8CD2B7-FC81-7019-FED6-3B4529D4ABC0}"/>
              </a:ext>
            </a:extLst>
          </p:cNvPr>
          <p:cNvCxnSpPr>
            <a:cxnSpLocks/>
          </p:cNvCxnSpPr>
          <p:nvPr/>
        </p:nvCxnSpPr>
        <p:spPr>
          <a:xfrm flipH="1">
            <a:off x="3415531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33EBF5ED-BC4B-5708-5479-8DDD1545DC84}"/>
              </a:ext>
            </a:extLst>
          </p:cNvPr>
          <p:cNvCxnSpPr>
            <a:cxnSpLocks/>
          </p:cNvCxnSpPr>
          <p:nvPr/>
        </p:nvCxnSpPr>
        <p:spPr>
          <a:xfrm flipH="1">
            <a:off x="4398132" y="4232235"/>
            <a:ext cx="398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DA57FF2-E340-F9F2-2BCB-57717E5CEEB7}"/>
                  </a:ext>
                </a:extLst>
              </p:cNvPr>
              <p:cNvSpPr txBox="1"/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  <m:e>
                          <m:groupChr>
                            <m:groupChrPr>
                              <m:chr m:val="←"/>
                              <m:pos m:val="top"/>
                              <m:vertJc m:val="bot"/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DA57FF2-E340-F9F2-2BCB-57717E5C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59" y="1378420"/>
                <a:ext cx="1618744" cy="5188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C9D4C69-7780-7B4A-59C5-081A65F827F7}"/>
                  </a:ext>
                </a:extLst>
              </p:cNvPr>
              <p:cNvSpPr txBox="1"/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C9D4C69-7780-7B4A-59C5-081A65F82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1" y="4380899"/>
                <a:ext cx="572956" cy="339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9D1530B-0656-35EB-46DD-78B87067120E}"/>
                  </a:ext>
                </a:extLst>
              </p:cNvPr>
              <p:cNvSpPr txBox="1"/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←"/>
                          <m:pos m:val="top"/>
                          <m:vertJc m:val="bot"/>
                          <m:ctrlPr>
                            <a:rPr lang="zh-TW" alt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9D1530B-0656-35EB-46DD-78B870671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70" y="4012978"/>
                <a:ext cx="572956" cy="3679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圓角矩形 19">
            <a:extLst>
              <a:ext uri="{FF2B5EF4-FFF2-40B4-BE49-F238E27FC236}">
                <a16:creationId xmlns:a16="http://schemas.microsoft.com/office/drawing/2014/main" id="{0BAFF476-B6DE-E959-8C03-18F3B4E1D014}"/>
              </a:ext>
            </a:extLst>
          </p:cNvPr>
          <p:cNvSpPr/>
          <p:nvPr/>
        </p:nvSpPr>
        <p:spPr>
          <a:xfrm rot="5400000">
            <a:off x="2003003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05C575AF-1A68-3363-38D7-15F14E1C3C77}"/>
              </a:ext>
            </a:extLst>
          </p:cNvPr>
          <p:cNvSpPr/>
          <p:nvPr/>
        </p:nvSpPr>
        <p:spPr>
          <a:xfrm rot="5400000">
            <a:off x="2003003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5D24A8C-324A-FB09-FE0B-1AC840B2FD0A}"/>
              </a:ext>
            </a:extLst>
          </p:cNvPr>
          <p:cNvSpPr/>
          <p:nvPr/>
        </p:nvSpPr>
        <p:spPr>
          <a:xfrm rot="5400000">
            <a:off x="2959245" y="4061589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A6D87805-8845-F9EE-4994-192EA17757C4}"/>
              </a:ext>
            </a:extLst>
          </p:cNvPr>
          <p:cNvSpPr/>
          <p:nvPr/>
        </p:nvSpPr>
        <p:spPr>
          <a:xfrm rot="5400000">
            <a:off x="2959245" y="4443043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53D4233B-B646-44DC-9D31-4CE0E9F3E2A2}"/>
              </a:ext>
            </a:extLst>
          </p:cNvPr>
          <p:cNvSpPr/>
          <p:nvPr/>
        </p:nvSpPr>
        <p:spPr>
          <a:xfrm rot="5400000">
            <a:off x="3979527" y="4057806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4BDFD465-BDD9-754F-E27D-059F451415EC}"/>
              </a:ext>
            </a:extLst>
          </p:cNvPr>
          <p:cNvSpPr/>
          <p:nvPr/>
        </p:nvSpPr>
        <p:spPr>
          <a:xfrm rot="5400000">
            <a:off x="3979527" y="44392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A58059DE-C79F-17D4-BDC0-A57225709FBA}"/>
              </a:ext>
            </a:extLst>
          </p:cNvPr>
          <p:cNvSpPr/>
          <p:nvPr/>
        </p:nvSpPr>
        <p:spPr>
          <a:xfrm rot="5400000">
            <a:off x="4949287" y="4056960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8F8EB2C4-DAA4-2CCF-3B43-02BC351756FD}"/>
              </a:ext>
            </a:extLst>
          </p:cNvPr>
          <p:cNvSpPr/>
          <p:nvPr/>
        </p:nvSpPr>
        <p:spPr>
          <a:xfrm rot="5400000">
            <a:off x="4949287" y="4438414"/>
            <a:ext cx="372490" cy="20795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85796B9-6FDC-0896-ACC4-73E46B542012}"/>
              </a:ext>
            </a:extLst>
          </p:cNvPr>
          <p:cNvSpPr txBox="1"/>
          <p:nvPr/>
        </p:nvSpPr>
        <p:spPr>
          <a:xfrm>
            <a:off x="102845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我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752A774-9A9A-4461-6702-B40CBDE4C938}"/>
              </a:ext>
            </a:extLst>
          </p:cNvPr>
          <p:cNvSpPr txBox="1"/>
          <p:nvPr/>
        </p:nvSpPr>
        <p:spPr>
          <a:xfrm>
            <a:off x="1989990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想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0BC2C9D-D63F-C1DE-95A4-1401743B91F1}"/>
              </a:ext>
            </a:extLst>
          </p:cNvPr>
          <p:cNvSpPr txBox="1"/>
          <p:nvPr/>
        </p:nvSpPr>
        <p:spPr>
          <a:xfrm>
            <a:off x="2946232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要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B60D3F9-CB27-0237-D942-A21EDC30F8C4}"/>
              </a:ext>
            </a:extLst>
          </p:cNvPr>
          <p:cNvSpPr txBox="1"/>
          <p:nvPr/>
        </p:nvSpPr>
        <p:spPr>
          <a:xfrm>
            <a:off x="3966514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放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169D7F1-87F2-0148-CE64-F972BE5DBF59}"/>
              </a:ext>
            </a:extLst>
          </p:cNvPr>
          <p:cNvSpPr txBox="1"/>
          <p:nvPr/>
        </p:nvSpPr>
        <p:spPr>
          <a:xfrm>
            <a:off x="4936274" y="5843215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0C5A40-7E88-C0D6-144F-F349FA2E84C4}"/>
              </a:ext>
            </a:extLst>
          </p:cNvPr>
          <p:cNvSpPr/>
          <p:nvPr/>
        </p:nvSpPr>
        <p:spPr>
          <a:xfrm>
            <a:off x="911313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491C181-D903-35F9-5C27-4B759589B64E}"/>
              </a:ext>
            </a:extLst>
          </p:cNvPr>
          <p:cNvSpPr/>
          <p:nvPr/>
        </p:nvSpPr>
        <p:spPr>
          <a:xfrm>
            <a:off x="1901622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C37359-2E08-A534-EAE5-D03E9DD24399}"/>
              </a:ext>
            </a:extLst>
          </p:cNvPr>
          <p:cNvSpPr/>
          <p:nvPr/>
        </p:nvSpPr>
        <p:spPr>
          <a:xfrm>
            <a:off x="2850931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5C7F4E-AC3B-9D3C-8C46-75908B7322AC}"/>
              </a:ext>
            </a:extLst>
          </p:cNvPr>
          <p:cNvSpPr/>
          <p:nvPr/>
        </p:nvSpPr>
        <p:spPr>
          <a:xfrm>
            <a:off x="387814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B50FBF0-53DF-35FD-16FA-3AF25F50AB18}"/>
              </a:ext>
            </a:extLst>
          </p:cNvPr>
          <p:cNvSpPr/>
          <p:nvPr/>
        </p:nvSpPr>
        <p:spPr>
          <a:xfrm>
            <a:off x="4847905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B4C9BE52-5A2E-B362-92C7-6EEC73F0148B}"/>
              </a:ext>
            </a:extLst>
          </p:cNvPr>
          <p:cNvCxnSpPr>
            <a:cxnSpLocks/>
          </p:cNvCxnSpPr>
          <p:nvPr/>
        </p:nvCxnSpPr>
        <p:spPr>
          <a:xfrm flipV="1">
            <a:off x="1216822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7CD3A666-EEE7-1195-81D1-E76129C45EE0}"/>
              </a:ext>
            </a:extLst>
          </p:cNvPr>
          <p:cNvCxnSpPr>
            <a:cxnSpLocks/>
          </p:cNvCxnSpPr>
          <p:nvPr/>
        </p:nvCxnSpPr>
        <p:spPr>
          <a:xfrm flipV="1">
            <a:off x="122770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ADFEB274-BAEA-6610-16BB-E7F34B8940A3}"/>
              </a:ext>
            </a:extLst>
          </p:cNvPr>
          <p:cNvCxnSpPr>
            <a:cxnSpLocks/>
          </p:cNvCxnSpPr>
          <p:nvPr/>
        </p:nvCxnSpPr>
        <p:spPr>
          <a:xfrm flipV="1">
            <a:off x="2189248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F12D39EA-5833-2E4A-BA97-928F36B678FD}"/>
              </a:ext>
            </a:extLst>
          </p:cNvPr>
          <p:cNvCxnSpPr>
            <a:cxnSpLocks/>
          </p:cNvCxnSpPr>
          <p:nvPr/>
        </p:nvCxnSpPr>
        <p:spPr>
          <a:xfrm flipV="1">
            <a:off x="2189248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81D69136-14A4-CBCD-1B38-58FDBFA9154A}"/>
              </a:ext>
            </a:extLst>
          </p:cNvPr>
          <p:cNvCxnSpPr>
            <a:cxnSpLocks/>
          </p:cNvCxnSpPr>
          <p:nvPr/>
        </p:nvCxnSpPr>
        <p:spPr>
          <a:xfrm flipV="1">
            <a:off x="3150664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0DBB2D0C-DE9C-BE9A-C540-FFA0472556AC}"/>
              </a:ext>
            </a:extLst>
          </p:cNvPr>
          <p:cNvCxnSpPr>
            <a:cxnSpLocks/>
          </p:cNvCxnSpPr>
          <p:nvPr/>
        </p:nvCxnSpPr>
        <p:spPr>
          <a:xfrm flipV="1">
            <a:off x="3150664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3CD720BD-C643-41B2-6C06-348ED0771128}"/>
              </a:ext>
            </a:extLst>
          </p:cNvPr>
          <p:cNvCxnSpPr>
            <a:cxnSpLocks/>
          </p:cNvCxnSpPr>
          <p:nvPr/>
        </p:nvCxnSpPr>
        <p:spPr>
          <a:xfrm flipV="1">
            <a:off x="416577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92C1E55C-8074-7405-ED37-EC68A6330447}"/>
              </a:ext>
            </a:extLst>
          </p:cNvPr>
          <p:cNvCxnSpPr>
            <a:cxnSpLocks/>
          </p:cNvCxnSpPr>
          <p:nvPr/>
        </p:nvCxnSpPr>
        <p:spPr>
          <a:xfrm flipV="1">
            <a:off x="416577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1414E01D-E91D-AD55-13BD-FECD0B5C8F7E}"/>
              </a:ext>
            </a:extLst>
          </p:cNvPr>
          <p:cNvCxnSpPr>
            <a:cxnSpLocks/>
          </p:cNvCxnSpPr>
          <p:nvPr/>
        </p:nvCxnSpPr>
        <p:spPr>
          <a:xfrm flipV="1">
            <a:off x="5135531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289DCFAD-61DB-7E78-FE77-31AE084D8506}"/>
              </a:ext>
            </a:extLst>
          </p:cNvPr>
          <p:cNvCxnSpPr>
            <a:cxnSpLocks/>
          </p:cNvCxnSpPr>
          <p:nvPr/>
        </p:nvCxnSpPr>
        <p:spPr>
          <a:xfrm flipV="1">
            <a:off x="513553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04703463-37B5-C5D8-377A-FFC3C386B15E}"/>
              </a:ext>
            </a:extLst>
          </p:cNvPr>
          <p:cNvCxnSpPr>
            <a:cxnSpLocks/>
          </p:cNvCxnSpPr>
          <p:nvPr/>
        </p:nvCxnSpPr>
        <p:spPr>
          <a:xfrm>
            <a:off x="153035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C0E375EA-3782-0354-9251-23A0A909ECCC}"/>
              </a:ext>
            </a:extLst>
          </p:cNvPr>
          <p:cNvCxnSpPr>
            <a:cxnSpLocks/>
          </p:cNvCxnSpPr>
          <p:nvPr/>
        </p:nvCxnSpPr>
        <p:spPr>
          <a:xfrm>
            <a:off x="2495216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1997E9F8-45F4-1D8D-3221-3A1C7E25F0AB}"/>
              </a:ext>
            </a:extLst>
          </p:cNvPr>
          <p:cNvCxnSpPr>
            <a:cxnSpLocks/>
          </p:cNvCxnSpPr>
          <p:nvPr/>
        </p:nvCxnSpPr>
        <p:spPr>
          <a:xfrm>
            <a:off x="348067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C46A1E60-0DD8-1066-55CE-EC90BD66FEA3}"/>
              </a:ext>
            </a:extLst>
          </p:cNvPr>
          <p:cNvCxnSpPr>
            <a:cxnSpLocks/>
          </p:cNvCxnSpPr>
          <p:nvPr/>
        </p:nvCxnSpPr>
        <p:spPr>
          <a:xfrm>
            <a:off x="4492990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圓角矩形 67">
            <a:extLst>
              <a:ext uri="{FF2B5EF4-FFF2-40B4-BE49-F238E27FC236}">
                <a16:creationId xmlns:a16="http://schemas.microsoft.com/office/drawing/2014/main" id="{4770452D-76D8-2196-67DC-873E2201A4A5}"/>
              </a:ext>
            </a:extLst>
          </p:cNvPr>
          <p:cNvSpPr/>
          <p:nvPr/>
        </p:nvSpPr>
        <p:spPr>
          <a:xfrm>
            <a:off x="1052704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15FFC6FE-A52E-BEF4-1F18-46034DF1B564}"/>
                  </a:ext>
                </a:extLst>
              </p:cNvPr>
              <p:cNvSpPr txBox="1"/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15FFC6FE-A52E-BEF4-1F18-46034DF1B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31" y="3265111"/>
                <a:ext cx="57524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54BC0B7A-3075-0B8E-F135-F48EBA5BD6AA}"/>
                  </a:ext>
                </a:extLst>
              </p:cNvPr>
              <p:cNvSpPr txBox="1"/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54BC0B7A-3075-0B8E-F135-F48EBA5B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379" y="3265111"/>
                <a:ext cx="575249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A140905E-D9C8-3D56-03F1-2C7C2992A665}"/>
                  </a:ext>
                </a:extLst>
              </p:cNvPr>
              <p:cNvSpPr txBox="1"/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A140905E-D9C8-3D56-03F1-2C7C2992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62" y="3265111"/>
                <a:ext cx="57524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84F1FF7-1C2C-EACC-313B-82E8195D1701}"/>
                  </a:ext>
                </a:extLst>
              </p:cNvPr>
              <p:cNvSpPr txBox="1"/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84F1FF7-1C2C-EACC-313B-82E8195D1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939" y="3265111"/>
                <a:ext cx="57524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A6C51F4-3DFA-314F-C100-8F655334C64E}"/>
                  </a:ext>
                </a:extLst>
              </p:cNvPr>
              <p:cNvSpPr txBox="1"/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A6C51F4-3DFA-314F-C100-8F655334C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05" y="3265111"/>
                <a:ext cx="57524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圓角矩形 73">
            <a:extLst>
              <a:ext uri="{FF2B5EF4-FFF2-40B4-BE49-F238E27FC236}">
                <a16:creationId xmlns:a16="http://schemas.microsoft.com/office/drawing/2014/main" id="{4A08F483-5EA2-A994-0E1C-226345FAE2AB}"/>
              </a:ext>
            </a:extLst>
          </p:cNvPr>
          <p:cNvSpPr/>
          <p:nvPr/>
        </p:nvSpPr>
        <p:spPr>
          <a:xfrm>
            <a:off x="2020773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5" name="圓角矩形 74">
            <a:extLst>
              <a:ext uri="{FF2B5EF4-FFF2-40B4-BE49-F238E27FC236}">
                <a16:creationId xmlns:a16="http://schemas.microsoft.com/office/drawing/2014/main" id="{61A6027D-9418-4A29-45A7-6889C95C52CF}"/>
              </a:ext>
            </a:extLst>
          </p:cNvPr>
          <p:cNvSpPr/>
          <p:nvPr/>
        </p:nvSpPr>
        <p:spPr>
          <a:xfrm>
            <a:off x="2968706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6" name="圓角矩形 75">
            <a:extLst>
              <a:ext uri="{FF2B5EF4-FFF2-40B4-BE49-F238E27FC236}">
                <a16:creationId xmlns:a16="http://schemas.microsoft.com/office/drawing/2014/main" id="{B91E278D-D65B-8108-9DDE-563B553D2F19}"/>
              </a:ext>
            </a:extLst>
          </p:cNvPr>
          <p:cNvSpPr/>
          <p:nvPr/>
        </p:nvSpPr>
        <p:spPr>
          <a:xfrm>
            <a:off x="3990149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圓角矩形 76">
            <a:extLst>
              <a:ext uri="{FF2B5EF4-FFF2-40B4-BE49-F238E27FC236}">
                <a16:creationId xmlns:a16="http://schemas.microsoft.com/office/drawing/2014/main" id="{AF9EC357-327F-1F6E-EE57-B8F4D9BD59F6}"/>
              </a:ext>
            </a:extLst>
          </p:cNvPr>
          <p:cNvSpPr/>
          <p:nvPr/>
        </p:nvSpPr>
        <p:spPr>
          <a:xfrm>
            <a:off x="4971597" y="3930616"/>
            <a:ext cx="343791" cy="86469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圓角矩形 77">
            <a:extLst>
              <a:ext uri="{FF2B5EF4-FFF2-40B4-BE49-F238E27FC236}">
                <a16:creationId xmlns:a16="http://schemas.microsoft.com/office/drawing/2014/main" id="{697875B0-2A3D-072B-0602-61809FCD37FB}"/>
              </a:ext>
            </a:extLst>
          </p:cNvPr>
          <p:cNvSpPr/>
          <p:nvPr/>
        </p:nvSpPr>
        <p:spPr>
          <a:xfrm>
            <a:off x="3024614" y="2596981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D96DF43-5D80-FEE5-1165-12AE46B86302}"/>
              </a:ext>
            </a:extLst>
          </p:cNvPr>
          <p:cNvSpPr txBox="1"/>
          <p:nvPr/>
        </p:nvSpPr>
        <p:spPr>
          <a:xfrm>
            <a:off x="2100046" y="2622124"/>
            <a:ext cx="94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2834D78-CD22-4BA4-1C85-44CE3A9DF328}"/>
                  </a:ext>
                </a:extLst>
              </p:cNvPr>
              <p:cNvSpPr txBox="1"/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2834D78-CD22-4BA4-1C85-44CE3A9DF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189" y="1717555"/>
                <a:ext cx="1443729" cy="756233"/>
              </a:xfrm>
              <a:prstGeom prst="rect">
                <a:avLst/>
              </a:prstGeom>
              <a:blipFill>
                <a:blip r:embed="rId12"/>
                <a:stretch>
                  <a:fillRect l="-22609" t="-120000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43939FD-3D1F-EF81-C93D-403E6E09EE10}"/>
                  </a:ext>
                </a:extLst>
              </p:cNvPr>
              <p:cNvSpPr txBox="1"/>
              <p:nvPr/>
            </p:nvSpPr>
            <p:spPr>
              <a:xfrm>
                <a:off x="7818449" y="2464892"/>
                <a:ext cx="420446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dirty="0">
                    <a:latin typeface="Cambria Math" panose="02040503050406030204" pitchFamily="18" charset="0"/>
                  </a:rPr>
                  <a:t>Given </a:t>
                </a:r>
                <a:r>
                  <a:rPr lang="en-US" altLang="zh-TW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zh-TW" altLang="zh-TW" dirty="0">
                    <a:effectLst/>
                  </a:rPr>
                  <a:t> </a:t>
                </a:r>
                <a:r>
                  <a:rPr lang="en-US" altLang="zh-TW" dirty="0">
                    <a:latin typeface="Cambria Math" panose="02040503050406030204" pitchFamily="18" charset="0"/>
                  </a:rPr>
                  <a:t>{1, ..., n},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oftmax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𝑣</m:t>
                      </m:r>
                      <m:r>
                        <a:rPr lang="en-US" altLang="zh-TW" sz="18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zh-TW" sz="180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800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  <m:sSub>
                                <m:sSubPr>
                                  <m:ctrlPr>
                                    <a:rPr lang="zh-TW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altLang="zh-TW" sz="18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  <m:sSub>
                                <m:sSubPr>
                                  <m:ctrlPr>
                                    <a:rPr lang="zh-TW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zh-TW" sz="1800" i="1" kern="100">
                                      <a:effectLst/>
                                      <a:latin typeface="Cambria Math" panose="02040503050406030204" pitchFamily="18" charset="0"/>
                                      <a:ea typeface="新細明體" panose="02020500000000000000" pitchFamily="18" charset="-12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TW" sz="18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43939FD-3D1F-EF81-C93D-403E6E09E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449" y="2464892"/>
                <a:ext cx="4204465" cy="1200329"/>
              </a:xfrm>
              <a:prstGeom prst="rect">
                <a:avLst/>
              </a:prstGeom>
              <a:blipFill>
                <a:blip r:embed="rId13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D0ADAAD-A404-FD88-AB2A-3C821615D782}"/>
                  </a:ext>
                </a:extLst>
              </p:cNvPr>
              <p:cNvSpPr txBox="1"/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: encoder timestep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zh-TW" dirty="0"/>
                  <a:t>: decoder timestep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D0ADAAD-A404-FD88-AB2A-3C821615D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098" y="1474702"/>
                <a:ext cx="2191416" cy="646331"/>
              </a:xfrm>
              <a:prstGeom prst="rect">
                <a:avLst/>
              </a:prstGeom>
              <a:blipFill>
                <a:blip r:embed="rId14"/>
                <a:stretch>
                  <a:fillRect t="-3774" b="-1132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字方塊 81">
            <a:extLst>
              <a:ext uri="{FF2B5EF4-FFF2-40B4-BE49-F238E27FC236}">
                <a16:creationId xmlns:a16="http://schemas.microsoft.com/office/drawing/2014/main" id="{590B4992-B3A8-AF96-318A-9467CFCD12B9}"/>
              </a:ext>
            </a:extLst>
          </p:cNvPr>
          <p:cNvSpPr txBox="1"/>
          <p:nvPr/>
        </p:nvSpPr>
        <p:spPr>
          <a:xfrm>
            <a:off x="6182953" y="5876593"/>
            <a:ext cx="39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_</a:t>
            </a:r>
            <a:endParaRPr kumimoji="1" lang="zh-TW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3CCA7AB-C2D5-8A2D-D22D-FDAA33E61DEB}"/>
              </a:ext>
            </a:extLst>
          </p:cNvPr>
          <p:cNvSpPr/>
          <p:nvPr/>
        </p:nvSpPr>
        <p:spPr>
          <a:xfrm>
            <a:off x="6065816" y="5134787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RNN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B6462883-F7DA-E7FE-EC80-5AED967F5B3C}"/>
              </a:ext>
            </a:extLst>
          </p:cNvPr>
          <p:cNvCxnSpPr>
            <a:cxnSpLocks/>
          </p:cNvCxnSpPr>
          <p:nvPr/>
        </p:nvCxnSpPr>
        <p:spPr>
          <a:xfrm flipV="1">
            <a:off x="6371325" y="560784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群組 86">
            <a:extLst>
              <a:ext uri="{FF2B5EF4-FFF2-40B4-BE49-F238E27FC236}">
                <a16:creationId xmlns:a16="http://schemas.microsoft.com/office/drawing/2014/main" id="{B075E4F0-ABE3-2EB0-C7DB-AC7B8679EA9B}"/>
              </a:ext>
            </a:extLst>
          </p:cNvPr>
          <p:cNvGrpSpPr/>
          <p:nvPr/>
        </p:nvGrpSpPr>
        <p:grpSpPr>
          <a:xfrm>
            <a:off x="6681569" y="5134787"/>
            <a:ext cx="1019335" cy="1111138"/>
            <a:chOff x="6681569" y="5134787"/>
            <a:chExt cx="1019335" cy="1111138"/>
          </a:xfrm>
        </p:grpSpPr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F2FFC009-1F3F-5286-A1B0-80ED47045075}"/>
                </a:ext>
              </a:extLst>
            </p:cNvPr>
            <p:cNvSpPr txBox="1"/>
            <p:nvPr/>
          </p:nvSpPr>
          <p:spPr>
            <a:xfrm>
              <a:off x="6981299" y="5876593"/>
              <a:ext cx="7196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dirty="0"/>
                <a:t>I</a:t>
              </a:r>
              <a:endParaRPr kumimoji="1" lang="zh-TW" altLang="en-US" dirty="0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3533553-0283-00AC-04CA-6939E7F5E8F7}"/>
                </a:ext>
              </a:extLst>
            </p:cNvPr>
            <p:cNvSpPr/>
            <p:nvPr/>
          </p:nvSpPr>
          <p:spPr>
            <a:xfrm>
              <a:off x="7056125" y="5134787"/>
              <a:ext cx="575253" cy="37981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1400" dirty="0">
                  <a:solidFill>
                    <a:schemeClr val="tx1"/>
                  </a:solidFill>
                </a:rPr>
                <a:t>RNN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0" name="直線箭頭接點 89">
              <a:extLst>
                <a:ext uri="{FF2B5EF4-FFF2-40B4-BE49-F238E27FC236}">
                  <a16:creationId xmlns:a16="http://schemas.microsoft.com/office/drawing/2014/main" id="{4431D8D3-6EEA-2FF1-E7C0-2D60100DC0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3751" y="5607843"/>
              <a:ext cx="0" cy="2486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箭頭接點 90">
              <a:extLst>
                <a:ext uri="{FF2B5EF4-FFF2-40B4-BE49-F238E27FC236}">
                  <a16:creationId xmlns:a16="http://schemas.microsoft.com/office/drawing/2014/main" id="{7A9C0E7B-865D-182B-7788-A1CECAE9D8B0}"/>
                </a:ext>
              </a:extLst>
            </p:cNvPr>
            <p:cNvCxnSpPr>
              <a:cxnSpLocks/>
            </p:cNvCxnSpPr>
            <p:nvPr/>
          </p:nvCxnSpPr>
          <p:spPr>
            <a:xfrm>
              <a:off x="6681569" y="5324624"/>
              <a:ext cx="3440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04F2E73F-98AF-F213-1CFF-F1520CE0C7FB}"/>
              </a:ext>
            </a:extLst>
          </p:cNvPr>
          <p:cNvCxnSpPr>
            <a:cxnSpLocks/>
          </p:cNvCxnSpPr>
          <p:nvPr/>
        </p:nvCxnSpPr>
        <p:spPr>
          <a:xfrm flipV="1">
            <a:off x="638221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圓角矩形 92">
            <a:extLst>
              <a:ext uri="{FF2B5EF4-FFF2-40B4-BE49-F238E27FC236}">
                <a16:creationId xmlns:a16="http://schemas.microsoft.com/office/drawing/2014/main" id="{634C2E98-31E6-5E37-BB02-FC5BA6C08660}"/>
              </a:ext>
            </a:extLst>
          </p:cNvPr>
          <p:cNvSpPr/>
          <p:nvPr/>
        </p:nvSpPr>
        <p:spPr>
          <a:xfrm rot="16200000">
            <a:off x="6192813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4" name="直線箭頭接點 93">
            <a:extLst>
              <a:ext uri="{FF2B5EF4-FFF2-40B4-BE49-F238E27FC236}">
                <a16:creationId xmlns:a16="http://schemas.microsoft.com/office/drawing/2014/main" id="{102E44D5-2487-FC06-9E31-711E3C020344}"/>
              </a:ext>
            </a:extLst>
          </p:cNvPr>
          <p:cNvCxnSpPr>
            <a:cxnSpLocks/>
          </p:cNvCxnSpPr>
          <p:nvPr/>
        </p:nvCxnSpPr>
        <p:spPr>
          <a:xfrm flipV="1">
            <a:off x="6382211" y="40129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DBE2B8E-4926-162F-6171-279E9FD9803D}"/>
                  </a:ext>
                </a:extLst>
              </p:cNvPr>
              <p:cNvSpPr txBox="1"/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8DBE2B8E-4926-162F-6171-279E9FD98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565" y="4315478"/>
                <a:ext cx="54131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F602A087-B34A-95B1-A23F-2A7460E592A9}"/>
              </a:ext>
            </a:extLst>
          </p:cNvPr>
          <p:cNvCxnSpPr>
            <a:cxnSpLocks/>
          </p:cNvCxnSpPr>
          <p:nvPr/>
        </p:nvCxnSpPr>
        <p:spPr>
          <a:xfrm flipV="1">
            <a:off x="7343751" y="482531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63DB67C7-B024-5596-18DD-990E4C636040}"/>
              </a:ext>
            </a:extLst>
          </p:cNvPr>
          <p:cNvSpPr/>
          <p:nvPr/>
        </p:nvSpPr>
        <p:spPr>
          <a:xfrm rot="16200000">
            <a:off x="7153651" y="4419031"/>
            <a:ext cx="372490" cy="205528"/>
          </a:xfrm>
          <a:prstGeom prst="roundRect">
            <a:avLst/>
          </a:prstGeom>
          <a:solidFill>
            <a:srgbClr val="C6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8" name="直線箭頭接點 97">
            <a:extLst>
              <a:ext uri="{FF2B5EF4-FFF2-40B4-BE49-F238E27FC236}">
                <a16:creationId xmlns:a16="http://schemas.microsoft.com/office/drawing/2014/main" id="{70BCEA1D-A887-B807-D9F7-F06756CD6A9A}"/>
              </a:ext>
            </a:extLst>
          </p:cNvPr>
          <p:cNvCxnSpPr>
            <a:cxnSpLocks/>
          </p:cNvCxnSpPr>
          <p:nvPr/>
        </p:nvCxnSpPr>
        <p:spPr>
          <a:xfrm flipV="1">
            <a:off x="7343118" y="4008381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A4E7F70A-20A0-2333-9DED-DC212AD99954}"/>
                  </a:ext>
                </a:extLst>
              </p:cNvPr>
              <p:cNvSpPr txBox="1"/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A4E7F70A-20A0-2333-9DED-DC212AD99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020" y="4335549"/>
                <a:ext cx="541313" cy="369332"/>
              </a:xfrm>
              <a:prstGeom prst="rect">
                <a:avLst/>
              </a:prstGeom>
              <a:blipFill>
                <a:blip r:embed="rId1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圓角矩形 99">
            <a:extLst>
              <a:ext uri="{FF2B5EF4-FFF2-40B4-BE49-F238E27FC236}">
                <a16:creationId xmlns:a16="http://schemas.microsoft.com/office/drawing/2014/main" id="{2D8E558C-2C81-9184-A0DB-585475C529E0}"/>
              </a:ext>
            </a:extLst>
          </p:cNvPr>
          <p:cNvSpPr/>
          <p:nvPr/>
        </p:nvSpPr>
        <p:spPr>
          <a:xfrm>
            <a:off x="7229738" y="4313959"/>
            <a:ext cx="233876" cy="4031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直線箭頭接點 100">
            <a:extLst>
              <a:ext uri="{FF2B5EF4-FFF2-40B4-BE49-F238E27FC236}">
                <a16:creationId xmlns:a16="http://schemas.microsoft.com/office/drawing/2014/main" id="{F93632BC-8465-2C02-6BF4-DEF3424389FC}"/>
              </a:ext>
            </a:extLst>
          </p:cNvPr>
          <p:cNvCxnSpPr>
            <a:cxnSpLocks/>
          </p:cNvCxnSpPr>
          <p:nvPr/>
        </p:nvCxnSpPr>
        <p:spPr>
          <a:xfrm>
            <a:off x="7646435" y="5324624"/>
            <a:ext cx="344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37B2763F-70D5-472D-8930-B08C2AFBC1C9}"/>
              </a:ext>
            </a:extLst>
          </p:cNvPr>
          <p:cNvSpPr txBox="1"/>
          <p:nvPr/>
        </p:nvSpPr>
        <p:spPr>
          <a:xfrm>
            <a:off x="6980828" y="2625090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want</a:t>
            </a:r>
            <a:endParaRPr kumimoji="1" lang="zh-TW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4509A95-088F-B531-0F1F-15E466564546}"/>
              </a:ext>
            </a:extLst>
          </p:cNvPr>
          <p:cNvSpPr/>
          <p:nvPr/>
        </p:nvSpPr>
        <p:spPr>
          <a:xfrm>
            <a:off x="7047983" y="3523324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104" name="直線箭頭接點 103">
            <a:extLst>
              <a:ext uri="{FF2B5EF4-FFF2-40B4-BE49-F238E27FC236}">
                <a16:creationId xmlns:a16="http://schemas.microsoft.com/office/drawing/2014/main" id="{4F3DCE39-8D78-BE78-0D86-833EE03F67DD}"/>
              </a:ext>
            </a:extLst>
          </p:cNvPr>
          <p:cNvCxnSpPr>
            <a:cxnSpLocks/>
          </p:cNvCxnSpPr>
          <p:nvPr/>
        </p:nvCxnSpPr>
        <p:spPr>
          <a:xfrm flipV="1">
            <a:off x="7343751" y="3126183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11FC7235-7A9F-BF2A-2D3B-3F7D8026C472}"/>
              </a:ext>
            </a:extLst>
          </p:cNvPr>
          <p:cNvCxnSpPr>
            <a:cxnSpLocks/>
          </p:cNvCxnSpPr>
          <p:nvPr/>
        </p:nvCxnSpPr>
        <p:spPr>
          <a:xfrm flipV="1">
            <a:off x="6397832" y="3115478"/>
            <a:ext cx="0" cy="2486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D89954EB-074F-90B0-4B67-ED1EAE9243A6}"/>
              </a:ext>
            </a:extLst>
          </p:cNvPr>
          <p:cNvSpPr txBox="1"/>
          <p:nvPr/>
        </p:nvSpPr>
        <p:spPr>
          <a:xfrm>
            <a:off x="6041303" y="2609788"/>
            <a:ext cx="719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72A4A1D-795F-F1FC-270D-C76C5398DE77}"/>
              </a:ext>
            </a:extLst>
          </p:cNvPr>
          <p:cNvSpPr/>
          <p:nvPr/>
        </p:nvSpPr>
        <p:spPr>
          <a:xfrm>
            <a:off x="6097363" y="3517941"/>
            <a:ext cx="575253" cy="379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100" dirty="0">
                <a:solidFill>
                  <a:schemeClr val="tx1"/>
                </a:solidFill>
              </a:rPr>
              <a:t>Linear</a:t>
            </a:r>
            <a:endParaRPr kumimoji="1" lang="zh-TW" altLang="en-US" sz="1100" dirty="0">
              <a:solidFill>
                <a:schemeClr val="tx1"/>
              </a:solidFill>
            </a:endParaRPr>
          </a:p>
        </p:txBody>
      </p: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1E610C6A-BC0D-6DA5-0C43-DE1A2C3C7C59}"/>
              </a:ext>
            </a:extLst>
          </p:cNvPr>
          <p:cNvCxnSpPr>
            <a:cxnSpLocks/>
          </p:cNvCxnSpPr>
          <p:nvPr/>
        </p:nvCxnSpPr>
        <p:spPr>
          <a:xfrm>
            <a:off x="9849678" y="3597535"/>
            <a:ext cx="17317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46800E0B-440B-673F-6993-4F3D59588FBB}"/>
              </a:ext>
            </a:extLst>
          </p:cNvPr>
          <p:cNvSpPr txBox="1"/>
          <p:nvPr/>
        </p:nvSpPr>
        <p:spPr>
          <a:xfrm>
            <a:off x="10106728" y="3665221"/>
            <a:ext cx="125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Additive Attention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A6AE8083-31E8-1924-F72F-4E60A32C1ECD}"/>
              </a:ext>
            </a:extLst>
          </p:cNvPr>
          <p:cNvSpPr txBox="1"/>
          <p:nvPr/>
        </p:nvSpPr>
        <p:spPr>
          <a:xfrm>
            <a:off x="8964764" y="4347181"/>
            <a:ext cx="125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B050"/>
                </a:solidFill>
              </a:rPr>
              <a:t>轉為</a:t>
            </a:r>
            <a:r>
              <a:rPr kumimoji="1" lang="en-US" altLang="zh-TW" dirty="0">
                <a:solidFill>
                  <a:srgbClr val="00B050"/>
                </a:solidFill>
              </a:rPr>
              <a:t>1</a:t>
            </a:r>
            <a:r>
              <a:rPr kumimoji="1" lang="zh-TW" altLang="en-US" dirty="0">
                <a:solidFill>
                  <a:srgbClr val="00B050"/>
                </a:solidFill>
              </a:rPr>
              <a:t>個</a:t>
            </a:r>
            <a:endParaRPr kumimoji="1" lang="en-US" altLang="zh-TW" dirty="0">
              <a:solidFill>
                <a:srgbClr val="00B050"/>
              </a:solidFill>
            </a:endParaRPr>
          </a:p>
          <a:p>
            <a:pPr algn="ctr"/>
            <a:r>
              <a:rPr kumimoji="1" lang="zh-TW" altLang="en-US" dirty="0">
                <a:solidFill>
                  <a:srgbClr val="00B050"/>
                </a:solidFill>
              </a:rPr>
              <a:t>數字</a:t>
            </a:r>
          </a:p>
        </p:txBody>
      </p:sp>
      <p:cxnSp>
        <p:nvCxnSpPr>
          <p:cNvPr id="123" name="直線箭頭接點 122">
            <a:extLst>
              <a:ext uri="{FF2B5EF4-FFF2-40B4-BE49-F238E27FC236}">
                <a16:creationId xmlns:a16="http://schemas.microsoft.com/office/drawing/2014/main" id="{9917BC55-DF9F-C99D-1D6E-ECE7CA14769A}"/>
              </a:ext>
            </a:extLst>
          </p:cNvPr>
          <p:cNvCxnSpPr>
            <a:cxnSpLocks/>
          </p:cNvCxnSpPr>
          <p:nvPr/>
        </p:nvCxnSpPr>
        <p:spPr>
          <a:xfrm flipV="1">
            <a:off x="9583368" y="3533419"/>
            <a:ext cx="0" cy="820912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7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  <p:bldP spid="1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988A61A-7679-5029-E481-E972BCDA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07297"/>
            <a:ext cx="3200400" cy="1315617"/>
          </a:xfrm>
        </p:spPr>
        <p:txBody>
          <a:bodyPr/>
          <a:lstStyle/>
          <a:p>
            <a:r>
              <a:rPr lang="en-US" altLang="zh-TW" dirty="0"/>
              <a:t>Transformer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2B01E6-53DD-CC83-28F9-073680E1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圖片 2" descr="一張含有 卡通, 虛構角色, 動畫卡通, 虛構小說 的圖片&#10;&#10;自動產生的描述">
            <a:extLst>
              <a:ext uri="{FF2B5EF4-FFF2-40B4-BE49-F238E27FC236}">
                <a16:creationId xmlns:a16="http://schemas.microsoft.com/office/drawing/2014/main" id="{E132445E-8368-87E9-4AD3-2FD115664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66487"/>
            <a:ext cx="3928866" cy="58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18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5C561-855F-5840-B0B0-831EEC25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</a:t>
            </a:r>
            <a:r>
              <a:rPr kumimoji="1" lang="zh-TW" altLang="en-US" dirty="0"/>
              <a:t> 與 </a:t>
            </a:r>
            <a:r>
              <a:rPr kumimoji="1" lang="en-US" altLang="zh-TW" dirty="0"/>
              <a:t>CNN</a:t>
            </a:r>
            <a:r>
              <a:rPr kumimoji="1" lang="zh-TW" altLang="en-US" dirty="0"/>
              <a:t> 作為序列模型的問題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1E7976-058F-51C5-AF05-241AB31D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9A1FB7-CCCB-3A41-3FA2-3AB4638F7189}"/>
              </a:ext>
            </a:extLst>
          </p:cNvPr>
          <p:cNvSpPr/>
          <p:nvPr/>
        </p:nvSpPr>
        <p:spPr>
          <a:xfrm>
            <a:off x="1341364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DF8195-529D-38D2-B062-1491DCCBC74D}"/>
              </a:ext>
            </a:extLst>
          </p:cNvPr>
          <p:cNvSpPr/>
          <p:nvPr/>
        </p:nvSpPr>
        <p:spPr>
          <a:xfrm>
            <a:off x="2427099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46C43F-E24F-0DAB-A9D6-DF2B8BB03BFE}"/>
              </a:ext>
            </a:extLst>
          </p:cNvPr>
          <p:cNvSpPr/>
          <p:nvPr/>
        </p:nvSpPr>
        <p:spPr>
          <a:xfrm>
            <a:off x="3512834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DC23FD15-BE19-8972-B6A5-F92A7AB8AA8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036209" y="4106991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61E5EEF9-DA32-5F0C-BD79-74F18BD674E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121944" y="4106991"/>
            <a:ext cx="39089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80C92C7-B0D0-7CA6-1A0B-1D8970D76846}"/>
              </a:ext>
            </a:extLst>
          </p:cNvPr>
          <p:cNvSpPr/>
          <p:nvPr/>
        </p:nvSpPr>
        <p:spPr>
          <a:xfrm>
            <a:off x="4598570" y="3779269"/>
            <a:ext cx="694845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RNN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983AF56-58ED-B9E8-5E07-8CBFF42E8EBA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207679" y="4106991"/>
            <a:ext cx="3908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7F12AA5-FEEF-6BD6-07A3-D372FDF21393}"/>
              </a:ext>
            </a:extLst>
          </p:cNvPr>
          <p:cNvSpPr/>
          <p:nvPr/>
        </p:nvSpPr>
        <p:spPr>
          <a:xfrm>
            <a:off x="1589693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61FD25-C0F9-70A3-CE25-8703CD303D44}"/>
              </a:ext>
            </a:extLst>
          </p:cNvPr>
          <p:cNvSpPr/>
          <p:nvPr/>
        </p:nvSpPr>
        <p:spPr>
          <a:xfrm>
            <a:off x="2675428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1621A2-6269-B8D5-3CB1-448FDC7B97CA}"/>
              </a:ext>
            </a:extLst>
          </p:cNvPr>
          <p:cNvSpPr/>
          <p:nvPr/>
        </p:nvSpPr>
        <p:spPr>
          <a:xfrm>
            <a:off x="3761163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D8416C-474A-891A-1E8A-9789B30F93FD}"/>
              </a:ext>
            </a:extLst>
          </p:cNvPr>
          <p:cNvSpPr/>
          <p:nvPr/>
        </p:nvSpPr>
        <p:spPr>
          <a:xfrm>
            <a:off x="4846899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64AF26-FFD8-A3FE-F160-0052FBB1D051}"/>
              </a:ext>
            </a:extLst>
          </p:cNvPr>
          <p:cNvSpPr/>
          <p:nvPr/>
        </p:nvSpPr>
        <p:spPr>
          <a:xfrm>
            <a:off x="1589693" y="250834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6333B6-BFEE-E40B-18BE-C8B62FD53CDA}"/>
              </a:ext>
            </a:extLst>
          </p:cNvPr>
          <p:cNvSpPr/>
          <p:nvPr/>
        </p:nvSpPr>
        <p:spPr>
          <a:xfrm>
            <a:off x="2675428" y="250718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2FAF73-53FE-17BB-5D94-646093F2F1FC}"/>
              </a:ext>
            </a:extLst>
          </p:cNvPr>
          <p:cNvSpPr/>
          <p:nvPr/>
        </p:nvSpPr>
        <p:spPr>
          <a:xfrm>
            <a:off x="3761163" y="250718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70FA54-9953-191E-5867-347E42C525B0}"/>
              </a:ext>
            </a:extLst>
          </p:cNvPr>
          <p:cNvSpPr/>
          <p:nvPr/>
        </p:nvSpPr>
        <p:spPr>
          <a:xfrm>
            <a:off x="4846897" y="250718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A91728F-25C6-9062-A73F-C87E43C9B050}"/>
              </a:ext>
            </a:extLst>
          </p:cNvPr>
          <p:cNvCxnSpPr>
            <a:cxnSpLocks/>
          </p:cNvCxnSpPr>
          <p:nvPr/>
        </p:nvCxnSpPr>
        <p:spPr>
          <a:xfrm flipH="1" flipV="1">
            <a:off x="2774521" y="320928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50D58B3A-6448-1538-DC06-6C69B403937B}"/>
              </a:ext>
            </a:extLst>
          </p:cNvPr>
          <p:cNvCxnSpPr>
            <a:cxnSpLocks/>
          </p:cNvCxnSpPr>
          <p:nvPr/>
        </p:nvCxnSpPr>
        <p:spPr>
          <a:xfrm flipH="1" flipV="1">
            <a:off x="1688786" y="3210440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0D04A58E-D13D-6620-DFFC-7505B81A9055}"/>
              </a:ext>
            </a:extLst>
          </p:cNvPr>
          <p:cNvCxnSpPr>
            <a:cxnSpLocks/>
          </p:cNvCxnSpPr>
          <p:nvPr/>
        </p:nvCxnSpPr>
        <p:spPr>
          <a:xfrm flipV="1">
            <a:off x="1688786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E25E6F09-F7CF-C2F6-E32F-4F4ABD4ACB67}"/>
              </a:ext>
            </a:extLst>
          </p:cNvPr>
          <p:cNvCxnSpPr>
            <a:cxnSpLocks/>
          </p:cNvCxnSpPr>
          <p:nvPr/>
        </p:nvCxnSpPr>
        <p:spPr>
          <a:xfrm flipV="1">
            <a:off x="2774521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6D237900-83F1-D889-12B5-82EE1BF908E1}"/>
              </a:ext>
            </a:extLst>
          </p:cNvPr>
          <p:cNvCxnSpPr>
            <a:cxnSpLocks/>
          </p:cNvCxnSpPr>
          <p:nvPr/>
        </p:nvCxnSpPr>
        <p:spPr>
          <a:xfrm flipV="1">
            <a:off x="3860256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B4A92FE8-D938-4E23-6F6C-27304A8290CE}"/>
              </a:ext>
            </a:extLst>
          </p:cNvPr>
          <p:cNvCxnSpPr>
            <a:cxnSpLocks/>
          </p:cNvCxnSpPr>
          <p:nvPr/>
        </p:nvCxnSpPr>
        <p:spPr>
          <a:xfrm flipV="1">
            <a:off x="4945992" y="45000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2D9A0AD8-DA18-8F70-4807-E0C696BED3C4}"/>
              </a:ext>
            </a:extLst>
          </p:cNvPr>
          <p:cNvCxnSpPr>
            <a:cxnSpLocks/>
          </p:cNvCxnSpPr>
          <p:nvPr/>
        </p:nvCxnSpPr>
        <p:spPr>
          <a:xfrm flipH="1" flipV="1">
            <a:off x="4945990" y="3209286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1F95A78D-8A89-6C2B-D08C-F757807D6CD8}"/>
              </a:ext>
            </a:extLst>
          </p:cNvPr>
          <p:cNvCxnSpPr>
            <a:cxnSpLocks/>
          </p:cNvCxnSpPr>
          <p:nvPr/>
        </p:nvCxnSpPr>
        <p:spPr>
          <a:xfrm flipH="1" flipV="1">
            <a:off x="3860256" y="320928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BEB1961-0F60-7DE4-EBB5-925969788285}"/>
              </a:ext>
            </a:extLst>
          </p:cNvPr>
          <p:cNvSpPr txBox="1"/>
          <p:nvPr/>
        </p:nvSpPr>
        <p:spPr>
          <a:xfrm>
            <a:off x="1250261" y="5816921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5070180-548B-DB19-5BF8-01AC126481ED}"/>
              </a:ext>
            </a:extLst>
          </p:cNvPr>
          <p:cNvSpPr txBox="1"/>
          <p:nvPr/>
        </p:nvSpPr>
        <p:spPr>
          <a:xfrm>
            <a:off x="2335996" y="5816921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4D81FBB-5484-21C4-DA63-9FE2F7AC09AA}"/>
              </a:ext>
            </a:extLst>
          </p:cNvPr>
          <p:cNvSpPr txBox="1"/>
          <p:nvPr/>
        </p:nvSpPr>
        <p:spPr>
          <a:xfrm>
            <a:off x="3421731" y="5816921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621F9DB-4474-0446-FA7A-AC87BE66BA9D}"/>
              </a:ext>
            </a:extLst>
          </p:cNvPr>
          <p:cNvSpPr txBox="1"/>
          <p:nvPr/>
        </p:nvSpPr>
        <p:spPr>
          <a:xfrm>
            <a:off x="4465087" y="5816921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0681473-A86B-9478-A8CA-554B4256CE66}"/>
              </a:ext>
            </a:extLst>
          </p:cNvPr>
          <p:cNvSpPr txBox="1"/>
          <p:nvPr/>
        </p:nvSpPr>
        <p:spPr>
          <a:xfrm>
            <a:off x="1840997" y="1797033"/>
            <a:ext cx="2952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問題：</a:t>
            </a:r>
            <a:r>
              <a:rPr kumimoji="1" lang="en-US" altLang="zh-TW" sz="2000" dirty="0"/>
              <a:t>RNN</a:t>
            </a:r>
            <a:r>
              <a:rPr kumimoji="1" lang="zh-TW" altLang="en-US" sz="2000" dirty="0"/>
              <a:t> 難以平行化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A5CF0794-D736-07DA-F8D8-24FCBF4B8FF8}"/>
              </a:ext>
            </a:extLst>
          </p:cNvPr>
          <p:cNvCxnSpPr>
            <a:cxnSpLocks/>
          </p:cNvCxnSpPr>
          <p:nvPr/>
        </p:nvCxnSpPr>
        <p:spPr>
          <a:xfrm>
            <a:off x="6096000" y="1797033"/>
            <a:ext cx="0" cy="441715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D2A0F45-590F-12AA-BC20-F8ECAFA58099}"/>
              </a:ext>
            </a:extLst>
          </p:cNvPr>
          <p:cNvSpPr/>
          <p:nvPr/>
        </p:nvSpPr>
        <p:spPr>
          <a:xfrm>
            <a:off x="7104540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580EE99-5C5A-7692-BDF5-7F559E58F9E7}"/>
              </a:ext>
            </a:extLst>
          </p:cNvPr>
          <p:cNvSpPr/>
          <p:nvPr/>
        </p:nvSpPr>
        <p:spPr>
          <a:xfrm>
            <a:off x="8190275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D886029-C36B-AA70-4EEA-F6588CFF9711}"/>
              </a:ext>
            </a:extLst>
          </p:cNvPr>
          <p:cNvSpPr/>
          <p:nvPr/>
        </p:nvSpPr>
        <p:spPr>
          <a:xfrm>
            <a:off x="9276010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FFD979D-274B-8CBA-EDD7-93AD7F3F8DBD}"/>
              </a:ext>
            </a:extLst>
          </p:cNvPr>
          <p:cNvSpPr/>
          <p:nvPr/>
        </p:nvSpPr>
        <p:spPr>
          <a:xfrm>
            <a:off x="10361746" y="5023358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6AC0775-2EE2-DBA5-8316-C0842C57BB4E}"/>
              </a:ext>
            </a:extLst>
          </p:cNvPr>
          <p:cNvSpPr txBox="1"/>
          <p:nvPr/>
        </p:nvSpPr>
        <p:spPr>
          <a:xfrm>
            <a:off x="6765108" y="5770266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538C42B6-CC86-6942-240B-7608E93032A3}"/>
              </a:ext>
            </a:extLst>
          </p:cNvPr>
          <p:cNvSpPr txBox="1"/>
          <p:nvPr/>
        </p:nvSpPr>
        <p:spPr>
          <a:xfrm>
            <a:off x="7850843" y="5770266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69F9B92-7B20-D778-A07D-50E09042E807}"/>
              </a:ext>
            </a:extLst>
          </p:cNvPr>
          <p:cNvSpPr txBox="1"/>
          <p:nvPr/>
        </p:nvSpPr>
        <p:spPr>
          <a:xfrm>
            <a:off x="8936578" y="5770266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89DA2F0-9FA4-7E20-75AE-DF3B973C8FB5}"/>
              </a:ext>
            </a:extLst>
          </p:cNvPr>
          <p:cNvSpPr txBox="1"/>
          <p:nvPr/>
        </p:nvSpPr>
        <p:spPr>
          <a:xfrm>
            <a:off x="9979934" y="5770266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3BD3C57C-BFE3-DC23-6A7C-AB6E791CA0D3}"/>
              </a:ext>
            </a:extLst>
          </p:cNvPr>
          <p:cNvSpPr txBox="1"/>
          <p:nvPr/>
        </p:nvSpPr>
        <p:spPr>
          <a:xfrm>
            <a:off x="7203631" y="1796769"/>
            <a:ext cx="33277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/>
              <a:t>問題：</a:t>
            </a:r>
            <a:r>
              <a:rPr kumimoji="1" lang="en-US" altLang="zh-TW" sz="2000" dirty="0"/>
              <a:t>CNN</a:t>
            </a:r>
            <a:r>
              <a:rPr kumimoji="1" lang="zh-TW" altLang="en-US" sz="2000" dirty="0"/>
              <a:t> 著重局部資訊</a:t>
            </a:r>
          </a:p>
        </p:txBody>
      </p:sp>
      <p:sp>
        <p:nvSpPr>
          <p:cNvPr id="64" name="不規則四邊形 63">
            <a:extLst>
              <a:ext uri="{FF2B5EF4-FFF2-40B4-BE49-F238E27FC236}">
                <a16:creationId xmlns:a16="http://schemas.microsoft.com/office/drawing/2014/main" id="{784C4A3C-C687-7F3C-3369-9EDB3168593A}"/>
              </a:ext>
            </a:extLst>
          </p:cNvPr>
          <p:cNvSpPr/>
          <p:nvPr/>
        </p:nvSpPr>
        <p:spPr>
          <a:xfrm>
            <a:off x="7105837" y="4072786"/>
            <a:ext cx="1203848" cy="33855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CNN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5" name="不規則四邊形 64">
            <a:extLst>
              <a:ext uri="{FF2B5EF4-FFF2-40B4-BE49-F238E27FC236}">
                <a16:creationId xmlns:a16="http://schemas.microsoft.com/office/drawing/2014/main" id="{94786ED8-9C1F-1924-AA78-912655E5D39B}"/>
              </a:ext>
            </a:extLst>
          </p:cNvPr>
          <p:cNvSpPr/>
          <p:nvPr/>
        </p:nvSpPr>
        <p:spPr>
          <a:xfrm>
            <a:off x="8232652" y="4072786"/>
            <a:ext cx="1203848" cy="33855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CNN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6" name="不規則四邊形 65">
            <a:extLst>
              <a:ext uri="{FF2B5EF4-FFF2-40B4-BE49-F238E27FC236}">
                <a16:creationId xmlns:a16="http://schemas.microsoft.com/office/drawing/2014/main" id="{AA4D104A-DE8E-9DC8-5F3C-DB3A68CA4960}"/>
              </a:ext>
            </a:extLst>
          </p:cNvPr>
          <p:cNvSpPr/>
          <p:nvPr/>
        </p:nvSpPr>
        <p:spPr>
          <a:xfrm>
            <a:off x="9356082" y="4071391"/>
            <a:ext cx="1203848" cy="338555"/>
          </a:xfrm>
          <a:prstGeom prst="trapezoi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CNN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BED65694-1241-6AFD-2448-22F7A513EDAC}"/>
              </a:ext>
            </a:extLst>
          </p:cNvPr>
          <p:cNvCxnSpPr>
            <a:cxnSpLocks/>
          </p:cNvCxnSpPr>
          <p:nvPr/>
        </p:nvCxnSpPr>
        <p:spPr>
          <a:xfrm flipV="1">
            <a:off x="7203631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C9DD4CF6-D977-7951-7038-4A35180AF8EC}"/>
              </a:ext>
            </a:extLst>
          </p:cNvPr>
          <p:cNvCxnSpPr>
            <a:cxnSpLocks/>
          </p:cNvCxnSpPr>
          <p:nvPr/>
        </p:nvCxnSpPr>
        <p:spPr>
          <a:xfrm flipV="1">
            <a:off x="8289366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8A0D6C7A-0DD3-8D6C-9B1A-D87CEE9865ED}"/>
              </a:ext>
            </a:extLst>
          </p:cNvPr>
          <p:cNvCxnSpPr>
            <a:cxnSpLocks/>
          </p:cNvCxnSpPr>
          <p:nvPr/>
        </p:nvCxnSpPr>
        <p:spPr>
          <a:xfrm flipV="1">
            <a:off x="9375101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AB7C8023-A170-C4D0-B5F5-79844C7766B5}"/>
              </a:ext>
            </a:extLst>
          </p:cNvPr>
          <p:cNvCxnSpPr>
            <a:cxnSpLocks/>
          </p:cNvCxnSpPr>
          <p:nvPr/>
        </p:nvCxnSpPr>
        <p:spPr>
          <a:xfrm flipV="1">
            <a:off x="10460837" y="4455221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FA4D7496-4E61-4726-07F3-C25612DAC1B0}"/>
              </a:ext>
            </a:extLst>
          </p:cNvPr>
          <p:cNvSpPr/>
          <p:nvPr/>
        </p:nvSpPr>
        <p:spPr>
          <a:xfrm>
            <a:off x="7104538" y="2503585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53D24C8-5FAC-50A3-4D0D-57718D1188DA}"/>
              </a:ext>
            </a:extLst>
          </p:cNvPr>
          <p:cNvSpPr/>
          <p:nvPr/>
        </p:nvSpPr>
        <p:spPr>
          <a:xfrm>
            <a:off x="8190273" y="250243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224AF52-9C2D-5444-C647-03EA29329B93}"/>
              </a:ext>
            </a:extLst>
          </p:cNvPr>
          <p:cNvSpPr/>
          <p:nvPr/>
        </p:nvSpPr>
        <p:spPr>
          <a:xfrm>
            <a:off x="9276008" y="250243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C62F46C-1D7D-981B-251A-978326437238}"/>
              </a:ext>
            </a:extLst>
          </p:cNvPr>
          <p:cNvSpPr/>
          <p:nvPr/>
        </p:nvSpPr>
        <p:spPr>
          <a:xfrm>
            <a:off x="10361742" y="2502431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77" name="直線箭頭接點 76">
            <a:extLst>
              <a:ext uri="{FF2B5EF4-FFF2-40B4-BE49-F238E27FC236}">
                <a16:creationId xmlns:a16="http://schemas.microsoft.com/office/drawing/2014/main" id="{F5F3B9B5-6BF8-4252-994B-3F2C69703D71}"/>
              </a:ext>
            </a:extLst>
          </p:cNvPr>
          <p:cNvCxnSpPr>
            <a:cxnSpLocks/>
          </p:cNvCxnSpPr>
          <p:nvPr/>
        </p:nvCxnSpPr>
        <p:spPr>
          <a:xfrm flipH="1" flipV="1">
            <a:off x="8289366" y="32045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箭頭接點 77">
            <a:extLst>
              <a:ext uri="{FF2B5EF4-FFF2-40B4-BE49-F238E27FC236}">
                <a16:creationId xmlns:a16="http://schemas.microsoft.com/office/drawing/2014/main" id="{7E1CFCB0-70D2-1191-ED3B-D99C1346DDF2}"/>
              </a:ext>
            </a:extLst>
          </p:cNvPr>
          <p:cNvCxnSpPr>
            <a:cxnSpLocks/>
          </p:cNvCxnSpPr>
          <p:nvPr/>
        </p:nvCxnSpPr>
        <p:spPr>
          <a:xfrm flipH="1" flipV="1">
            <a:off x="7203631" y="3205684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箭頭接點 78">
            <a:extLst>
              <a:ext uri="{FF2B5EF4-FFF2-40B4-BE49-F238E27FC236}">
                <a16:creationId xmlns:a16="http://schemas.microsoft.com/office/drawing/2014/main" id="{7DE5DAE9-B81D-79D6-5E54-49A69128E2D4}"/>
              </a:ext>
            </a:extLst>
          </p:cNvPr>
          <p:cNvCxnSpPr>
            <a:cxnSpLocks/>
          </p:cNvCxnSpPr>
          <p:nvPr/>
        </p:nvCxnSpPr>
        <p:spPr>
          <a:xfrm flipH="1" flipV="1">
            <a:off x="10460835" y="3204530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箭頭接點 79">
            <a:extLst>
              <a:ext uri="{FF2B5EF4-FFF2-40B4-BE49-F238E27FC236}">
                <a16:creationId xmlns:a16="http://schemas.microsoft.com/office/drawing/2014/main" id="{F2B41B5F-24DC-2AA2-B1C0-98B0F04B2183}"/>
              </a:ext>
            </a:extLst>
          </p:cNvPr>
          <p:cNvCxnSpPr>
            <a:cxnSpLocks/>
          </p:cNvCxnSpPr>
          <p:nvPr/>
        </p:nvCxnSpPr>
        <p:spPr>
          <a:xfrm flipH="1" flipV="1">
            <a:off x="9375101" y="3204530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51481737-33DD-7877-0684-32BC3DB938EC}"/>
              </a:ext>
            </a:extLst>
          </p:cNvPr>
          <p:cNvSpPr/>
          <p:nvPr/>
        </p:nvSpPr>
        <p:spPr>
          <a:xfrm>
            <a:off x="7146916" y="3782510"/>
            <a:ext cx="3356297" cy="2249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Pooling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81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8" grpId="0"/>
      <p:bldP spid="29" grpId="0"/>
      <p:bldP spid="30" grpId="0"/>
      <p:bldP spid="31" grpId="0"/>
      <p:bldP spid="43" grpId="0" animBg="1"/>
      <p:bldP spid="44" grpId="0" animBg="1"/>
      <p:bldP spid="45" grpId="0" animBg="1"/>
      <p:bldP spid="46" grpId="0" animBg="1"/>
      <p:bldP spid="59" grpId="0"/>
      <p:bldP spid="60" grpId="0"/>
      <p:bldP spid="61" grpId="0"/>
      <p:bldP spid="62" grpId="0"/>
      <p:bldP spid="63" grpId="0"/>
      <p:bldP spid="64" grpId="0" animBg="1"/>
      <p:bldP spid="65" grpId="0" animBg="1"/>
      <p:bldP spid="66" grpId="0" animBg="1"/>
      <p:bldP spid="73" grpId="0" animBg="1"/>
      <p:bldP spid="74" grpId="0" animBg="1"/>
      <p:bldP spid="75" grpId="0" animBg="1"/>
      <p:bldP spid="76" grpId="0" animBg="1"/>
      <p:bldP spid="8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2B0647-C2D5-4AE6-D86D-5ABAE971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Overview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F88109-2AFA-7FDE-AC59-65FFDB1F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73BA5E-8200-87D9-8789-960358423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42" y="1530220"/>
            <a:ext cx="3619047" cy="515982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4F8BB7E-A3D0-2FE9-0D69-343DBC7ACBB2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8E70EB-5C39-EE6C-A7A4-B1B5A2DF6295}"/>
              </a:ext>
            </a:extLst>
          </p:cNvPr>
          <p:cNvSpPr/>
          <p:nvPr/>
        </p:nvSpPr>
        <p:spPr>
          <a:xfrm>
            <a:off x="4284142" y="3219064"/>
            <a:ext cx="1793196" cy="333102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2F74B1C-D857-5A91-CF2E-CFAEC7CBECFA}"/>
              </a:ext>
            </a:extLst>
          </p:cNvPr>
          <p:cNvSpPr txBox="1"/>
          <p:nvPr/>
        </p:nvSpPr>
        <p:spPr>
          <a:xfrm>
            <a:off x="3012803" y="4699910"/>
            <a:ext cx="95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solidFill>
                  <a:srgbClr val="FF9300"/>
                </a:solidFill>
              </a:rPr>
              <a:t>Encoder</a:t>
            </a:r>
            <a:endParaRPr kumimoji="1" lang="zh-TW" altLang="en-US" b="1" dirty="0">
              <a:solidFill>
                <a:srgbClr val="FF93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A4C49-5A67-F2AD-DE32-3094E2806229}"/>
              </a:ext>
            </a:extLst>
          </p:cNvPr>
          <p:cNvSpPr txBox="1"/>
          <p:nvPr/>
        </p:nvSpPr>
        <p:spPr>
          <a:xfrm>
            <a:off x="8006652" y="3925468"/>
            <a:ext cx="1103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chemeClr val="bg2">
                    <a:lumMod val="25000"/>
                  </a:schemeClr>
                </a:solidFill>
              </a:rPr>
              <a:t>Decoder</a:t>
            </a:r>
            <a:endParaRPr kumimoji="1" lang="zh-TW" alt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79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142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21FA8-BF6C-08DC-D82D-F6A4055B5A7C}"/>
              </a:ext>
            </a:extLst>
          </p:cNvPr>
          <p:cNvSpPr/>
          <p:nvPr/>
        </p:nvSpPr>
        <p:spPr>
          <a:xfrm>
            <a:off x="5019869" y="4581331"/>
            <a:ext cx="951722" cy="5131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3598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278DEF-6E89-E355-EA39-783FBA72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922932-B69B-701E-CDFA-192BFB5B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E5907-2812-4288-312F-44F6E8A0D411}"/>
              </a:ext>
            </a:extLst>
          </p:cNvPr>
          <p:cNvSpPr txBox="1"/>
          <p:nvPr/>
        </p:nvSpPr>
        <p:spPr>
          <a:xfrm>
            <a:off x="653143" y="1782378"/>
            <a:ext cx="10918370" cy="958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Transformer</a:t>
            </a:r>
            <a:r>
              <a:rPr kumimoji="1" lang="zh-TW" altLang="en-US" sz="2000" dirty="0"/>
              <a:t> 來自論文：</a:t>
            </a:r>
            <a:r>
              <a:rPr kumimoji="1" lang="en-US" altLang="zh-TW" sz="2000" dirty="0"/>
              <a:t>Attention Is All You Need (Vaswani et al., 2017)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Transformer</a:t>
            </a:r>
            <a:r>
              <a:rPr kumimoji="1" lang="zh-TW" altLang="en-US" sz="2000" dirty="0"/>
              <a:t> 內部的主要機制為 </a:t>
            </a:r>
            <a:r>
              <a:rPr kumimoji="1" lang="en-US" altLang="zh-TW" sz="2000" dirty="0"/>
              <a:t>Self-attention</a:t>
            </a:r>
          </a:p>
        </p:txBody>
      </p:sp>
      <p:pic>
        <p:nvPicPr>
          <p:cNvPr id="11" name="Picture 2" descr="An example of the self-attention mechanism following long-distance... |  Download Scientific Diagram">
            <a:extLst>
              <a:ext uri="{FF2B5EF4-FFF2-40B4-BE49-F238E27FC236}">
                <a16:creationId xmlns:a16="http://schemas.microsoft.com/office/drawing/2014/main" id="{D27BF699-1C9D-83B3-05F1-467BFC464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166" y="4063123"/>
            <a:ext cx="2574277" cy="243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F1D241A5-B782-7E7D-94EF-C4CB6B319D2C}"/>
              </a:ext>
            </a:extLst>
          </p:cNvPr>
          <p:cNvSpPr txBox="1"/>
          <p:nvPr/>
        </p:nvSpPr>
        <p:spPr>
          <a:xfrm>
            <a:off x="8235189" y="657179"/>
            <a:ext cx="3336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TW" sz="1000" dirty="0"/>
              <a:t>Source:  </a:t>
            </a:r>
            <a:r>
              <a:rPr lang="en-US" altLang="zh-TW" sz="1000" dirty="0">
                <a:hlinkClick r:id="rId4"/>
              </a:rPr>
              <a:t>An example of the self-attention mechanism following long-distance... | Download Scientific Diagram (researchgate.net)</a:t>
            </a:r>
            <a:endParaRPr kumimoji="1" lang="zh-TW" altLang="en-US" sz="1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596E24C-8837-E4CB-668B-111077149FF6}"/>
              </a:ext>
            </a:extLst>
          </p:cNvPr>
          <p:cNvSpPr txBox="1"/>
          <p:nvPr/>
        </p:nvSpPr>
        <p:spPr>
          <a:xfrm>
            <a:off x="1016648" y="3013501"/>
            <a:ext cx="5713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Self-attention: 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句子內的每個</a:t>
            </a: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token </a:t>
            </a:r>
            <a:r>
              <a:rPr kumimoji="1" lang="zh-TW" altLang="en-US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自己跟自己做 </a:t>
            </a:r>
            <a:r>
              <a:rPr kumimoji="1" lang="en-US" altLang="zh-TW" sz="24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attention</a:t>
            </a:r>
            <a:endParaRPr kumimoji="1" lang="zh-TW" altLang="en-US" sz="2800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99D4D8-8FEF-8896-ABBF-169C70A5ED46}"/>
              </a:ext>
            </a:extLst>
          </p:cNvPr>
          <p:cNvSpPr/>
          <p:nvPr/>
        </p:nvSpPr>
        <p:spPr>
          <a:xfrm>
            <a:off x="6991352" y="4229935"/>
            <a:ext cx="3969026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Self-attention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C264D1-8CB3-30E8-7DF9-70BA946628FA}"/>
              </a:ext>
            </a:extLst>
          </p:cNvPr>
          <p:cNvSpPr/>
          <p:nvPr/>
        </p:nvSpPr>
        <p:spPr>
          <a:xfrm>
            <a:off x="7256655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9430DF-4168-3C2A-E619-D15C74A36129}"/>
              </a:ext>
            </a:extLst>
          </p:cNvPr>
          <p:cNvSpPr/>
          <p:nvPr/>
        </p:nvSpPr>
        <p:spPr>
          <a:xfrm>
            <a:off x="8342390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DE3523-782F-A9AC-5694-5D5444917831}"/>
              </a:ext>
            </a:extLst>
          </p:cNvPr>
          <p:cNvSpPr/>
          <p:nvPr/>
        </p:nvSpPr>
        <p:spPr>
          <a:xfrm>
            <a:off x="9428125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BF96CC-5120-AE99-5F01-BD0E54A29D80}"/>
              </a:ext>
            </a:extLst>
          </p:cNvPr>
          <p:cNvSpPr/>
          <p:nvPr/>
        </p:nvSpPr>
        <p:spPr>
          <a:xfrm>
            <a:off x="10513861" y="5474024"/>
            <a:ext cx="198186" cy="6554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47FA16-B95E-51FD-ED76-0AB83511CF71}"/>
              </a:ext>
            </a:extLst>
          </p:cNvPr>
          <p:cNvSpPr/>
          <p:nvPr/>
        </p:nvSpPr>
        <p:spPr>
          <a:xfrm>
            <a:off x="7256655" y="2959007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F75E8D-A223-5D3B-BACB-586258BDC78D}"/>
              </a:ext>
            </a:extLst>
          </p:cNvPr>
          <p:cNvSpPr/>
          <p:nvPr/>
        </p:nvSpPr>
        <p:spPr>
          <a:xfrm>
            <a:off x="8342390" y="2957853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7CFC3B-300D-0935-8C2C-57D4825575FE}"/>
              </a:ext>
            </a:extLst>
          </p:cNvPr>
          <p:cNvSpPr/>
          <p:nvPr/>
        </p:nvSpPr>
        <p:spPr>
          <a:xfrm>
            <a:off x="9428125" y="2957853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1C258EC-B73B-4830-72E7-458868D34801}"/>
              </a:ext>
            </a:extLst>
          </p:cNvPr>
          <p:cNvSpPr/>
          <p:nvPr/>
        </p:nvSpPr>
        <p:spPr>
          <a:xfrm>
            <a:off x="10513859" y="2957853"/>
            <a:ext cx="198186" cy="65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B4F18413-6B49-AC47-A147-6B5A5EA35449}"/>
              </a:ext>
            </a:extLst>
          </p:cNvPr>
          <p:cNvCxnSpPr>
            <a:cxnSpLocks/>
          </p:cNvCxnSpPr>
          <p:nvPr/>
        </p:nvCxnSpPr>
        <p:spPr>
          <a:xfrm flipH="1" flipV="1">
            <a:off x="8441483" y="3659952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19964024-F7F9-13B6-6673-A26A1FD7E37C}"/>
              </a:ext>
            </a:extLst>
          </p:cNvPr>
          <p:cNvCxnSpPr>
            <a:cxnSpLocks/>
          </p:cNvCxnSpPr>
          <p:nvPr/>
        </p:nvCxnSpPr>
        <p:spPr>
          <a:xfrm flipH="1" flipV="1">
            <a:off x="7355748" y="3661106"/>
            <a:ext cx="1" cy="4755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E6A0404C-133F-6390-3EFA-BAFB44078F77}"/>
              </a:ext>
            </a:extLst>
          </p:cNvPr>
          <p:cNvCxnSpPr>
            <a:cxnSpLocks/>
          </p:cNvCxnSpPr>
          <p:nvPr/>
        </p:nvCxnSpPr>
        <p:spPr>
          <a:xfrm flipV="1">
            <a:off x="7355748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F669D6FD-9956-7FAB-875F-C6BC4EEA5B9B}"/>
              </a:ext>
            </a:extLst>
          </p:cNvPr>
          <p:cNvCxnSpPr>
            <a:cxnSpLocks/>
          </p:cNvCxnSpPr>
          <p:nvPr/>
        </p:nvCxnSpPr>
        <p:spPr>
          <a:xfrm flipV="1">
            <a:off x="8441483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397A92AC-3E97-378C-6C92-D2466D92170D}"/>
              </a:ext>
            </a:extLst>
          </p:cNvPr>
          <p:cNvCxnSpPr>
            <a:cxnSpLocks/>
          </p:cNvCxnSpPr>
          <p:nvPr/>
        </p:nvCxnSpPr>
        <p:spPr>
          <a:xfrm flipV="1">
            <a:off x="9527218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4F0AB2AA-F447-AE6F-EDCA-CD8DF4897E59}"/>
              </a:ext>
            </a:extLst>
          </p:cNvPr>
          <p:cNvCxnSpPr>
            <a:cxnSpLocks/>
          </p:cNvCxnSpPr>
          <p:nvPr/>
        </p:nvCxnSpPr>
        <p:spPr>
          <a:xfrm flipV="1">
            <a:off x="10612954" y="4950696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9C9F9F19-887F-E917-195B-3222016C0F08}"/>
              </a:ext>
            </a:extLst>
          </p:cNvPr>
          <p:cNvCxnSpPr>
            <a:cxnSpLocks/>
          </p:cNvCxnSpPr>
          <p:nvPr/>
        </p:nvCxnSpPr>
        <p:spPr>
          <a:xfrm flipH="1" flipV="1">
            <a:off x="10612952" y="3659952"/>
            <a:ext cx="3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08793E43-9FBA-ECE1-932A-DD41FEB4A43D}"/>
              </a:ext>
            </a:extLst>
          </p:cNvPr>
          <p:cNvCxnSpPr>
            <a:cxnSpLocks/>
          </p:cNvCxnSpPr>
          <p:nvPr/>
        </p:nvCxnSpPr>
        <p:spPr>
          <a:xfrm flipH="1" flipV="1">
            <a:off x="9527218" y="3659952"/>
            <a:ext cx="1" cy="4766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6A45F95-DF4C-51C6-EC27-950AD8293693}"/>
              </a:ext>
            </a:extLst>
          </p:cNvPr>
          <p:cNvSpPr txBox="1"/>
          <p:nvPr/>
        </p:nvSpPr>
        <p:spPr>
          <a:xfrm>
            <a:off x="6917223" y="6267587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open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87944A4-BEF4-300A-91D9-6FDCEE491AA9}"/>
              </a:ext>
            </a:extLst>
          </p:cNvPr>
          <p:cNvSpPr txBox="1"/>
          <p:nvPr/>
        </p:nvSpPr>
        <p:spPr>
          <a:xfrm>
            <a:off x="8002958" y="6267587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4528C0B-3E7A-BB2D-1CE1-C6732C8F70E4}"/>
              </a:ext>
            </a:extLst>
          </p:cNvPr>
          <p:cNvSpPr txBox="1"/>
          <p:nvPr/>
        </p:nvSpPr>
        <p:spPr>
          <a:xfrm>
            <a:off x="9088693" y="6267587"/>
            <a:ext cx="877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bank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53CC24D-541E-A23B-34A8-6D67A553DB19}"/>
              </a:ext>
            </a:extLst>
          </p:cNvPr>
          <p:cNvSpPr txBox="1"/>
          <p:nvPr/>
        </p:nvSpPr>
        <p:spPr>
          <a:xfrm>
            <a:off x="10132049" y="6267587"/>
            <a:ext cx="96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account</a:t>
            </a:r>
            <a:endParaRPr kumimoji="1" lang="zh-TW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曲線接點 40">
            <a:extLst>
              <a:ext uri="{FF2B5EF4-FFF2-40B4-BE49-F238E27FC236}">
                <a16:creationId xmlns:a16="http://schemas.microsoft.com/office/drawing/2014/main" id="{FEC63B3A-DEE4-8F0C-1A59-5B89414DD97D}"/>
              </a:ext>
            </a:extLst>
          </p:cNvPr>
          <p:cNvCxnSpPr>
            <a:stCxn id="15" idx="0"/>
            <a:endCxn id="16" idx="0"/>
          </p:cNvCxnSpPr>
          <p:nvPr/>
        </p:nvCxnSpPr>
        <p:spPr>
          <a:xfrm rot="5400000" flipH="1" flipV="1">
            <a:off x="7898615" y="4931157"/>
            <a:ext cx="12700" cy="1085735"/>
          </a:xfrm>
          <a:prstGeom prst="curvedConnector3">
            <a:avLst>
              <a:gd name="adj1" fmla="val 7875008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曲線接點 41">
            <a:extLst>
              <a:ext uri="{FF2B5EF4-FFF2-40B4-BE49-F238E27FC236}">
                <a16:creationId xmlns:a16="http://schemas.microsoft.com/office/drawing/2014/main" id="{667965F5-AD4E-38D5-38F9-208B34806463}"/>
              </a:ext>
            </a:extLst>
          </p:cNvPr>
          <p:cNvCxnSpPr>
            <a:cxnSpLocks/>
            <a:stCxn id="15" idx="0"/>
            <a:endCxn id="17" idx="0"/>
          </p:cNvCxnSpPr>
          <p:nvPr/>
        </p:nvCxnSpPr>
        <p:spPr>
          <a:xfrm rot="5400000" flipH="1" flipV="1">
            <a:off x="8441483" y="4388289"/>
            <a:ext cx="12700" cy="2171470"/>
          </a:xfrm>
          <a:prstGeom prst="curvedConnector3">
            <a:avLst>
              <a:gd name="adj1" fmla="val 8775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曲線接點 44">
            <a:extLst>
              <a:ext uri="{FF2B5EF4-FFF2-40B4-BE49-F238E27FC236}">
                <a16:creationId xmlns:a16="http://schemas.microsoft.com/office/drawing/2014/main" id="{659D7D06-A3D4-F085-E644-D198900D7E25}"/>
              </a:ext>
            </a:extLst>
          </p:cNvPr>
          <p:cNvCxnSpPr>
            <a:cxnSpLocks/>
            <a:stCxn id="15" idx="0"/>
            <a:endCxn id="18" idx="0"/>
          </p:cNvCxnSpPr>
          <p:nvPr/>
        </p:nvCxnSpPr>
        <p:spPr>
          <a:xfrm rot="5400000" flipH="1" flipV="1">
            <a:off x="8984351" y="3845421"/>
            <a:ext cx="12700" cy="3257206"/>
          </a:xfrm>
          <a:prstGeom prst="curvedConnector3">
            <a:avLst>
              <a:gd name="adj1" fmla="val 7650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線接點 48">
            <a:extLst>
              <a:ext uri="{FF2B5EF4-FFF2-40B4-BE49-F238E27FC236}">
                <a16:creationId xmlns:a16="http://schemas.microsoft.com/office/drawing/2014/main" id="{93C236FF-30A9-1C21-E6AE-E5AF57C82284}"/>
              </a:ext>
            </a:extLst>
          </p:cNvPr>
          <p:cNvCxnSpPr>
            <a:cxnSpLocks/>
            <a:stCxn id="16" idx="0"/>
            <a:endCxn id="17" idx="0"/>
          </p:cNvCxnSpPr>
          <p:nvPr/>
        </p:nvCxnSpPr>
        <p:spPr>
          <a:xfrm rot="5400000" flipH="1" flipV="1">
            <a:off x="8984350" y="4931157"/>
            <a:ext cx="12700" cy="1085735"/>
          </a:xfrm>
          <a:prstGeom prst="curvedConnector3">
            <a:avLst>
              <a:gd name="adj1" fmla="val 8775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線接點 51">
            <a:extLst>
              <a:ext uri="{FF2B5EF4-FFF2-40B4-BE49-F238E27FC236}">
                <a16:creationId xmlns:a16="http://schemas.microsoft.com/office/drawing/2014/main" id="{4510A638-09BF-5419-C0EB-2248E10A4C47}"/>
              </a:ext>
            </a:extLst>
          </p:cNvPr>
          <p:cNvCxnSpPr>
            <a:cxnSpLocks/>
            <a:stCxn id="16" idx="0"/>
            <a:endCxn id="18" idx="0"/>
          </p:cNvCxnSpPr>
          <p:nvPr/>
        </p:nvCxnSpPr>
        <p:spPr>
          <a:xfrm rot="5400000" flipH="1" flipV="1">
            <a:off x="9527218" y="4388289"/>
            <a:ext cx="12700" cy="2171471"/>
          </a:xfrm>
          <a:prstGeom prst="curvedConnector3">
            <a:avLst>
              <a:gd name="adj1" fmla="val 8400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線接點 54">
            <a:extLst>
              <a:ext uri="{FF2B5EF4-FFF2-40B4-BE49-F238E27FC236}">
                <a16:creationId xmlns:a16="http://schemas.microsoft.com/office/drawing/2014/main" id="{A6969B6B-26AB-272F-FA5A-9C7D2A17AF02}"/>
              </a:ext>
            </a:extLst>
          </p:cNvPr>
          <p:cNvCxnSpPr>
            <a:cxnSpLocks/>
            <a:stCxn id="17" idx="0"/>
            <a:endCxn id="18" idx="0"/>
          </p:cNvCxnSpPr>
          <p:nvPr/>
        </p:nvCxnSpPr>
        <p:spPr>
          <a:xfrm rot="5400000" flipH="1" flipV="1">
            <a:off x="10070086" y="4931156"/>
            <a:ext cx="12700" cy="1085736"/>
          </a:xfrm>
          <a:prstGeom prst="curvedConnector3">
            <a:avLst>
              <a:gd name="adj1" fmla="val 8250000"/>
            </a:avLst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01784E2C-2271-BC85-C99B-5D4E1B9DA093}"/>
              </a:ext>
            </a:extLst>
          </p:cNvPr>
          <p:cNvSpPr txBox="1"/>
          <p:nvPr/>
        </p:nvSpPr>
        <p:spPr>
          <a:xfrm>
            <a:off x="4327460" y="4203714"/>
            <a:ext cx="2574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attention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進行的過程需要主動與被動</a:t>
            </a:r>
          </a:p>
        </p:txBody>
      </p:sp>
    </p:spTree>
    <p:extLst>
      <p:ext uri="{BB962C8B-B14F-4D97-AF65-F5344CB8AC3E}">
        <p14:creationId xmlns:p14="http://schemas.microsoft.com/office/powerpoint/2010/main" val="295916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958E9F76-24EA-EB9B-8EE4-61ADA15A3925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6FADA9CA-5DE9-26C4-D855-0AED0A46A53A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9D2B63A-3EA1-04FE-E87D-84D6E4169992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33038FDF-A8CB-65DB-B2AE-374EDAC276CB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2B6A4EB6-343C-670B-45B7-C93A6F414213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EA15339-C78F-8309-2C6C-75B90A6E8C32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9F589A7-4EF9-1A8F-A904-C0D64280F0CB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1B502CB-659A-2795-155B-F2F23C5E4500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5DB972C-5D18-3A55-15DE-D2C1647AF5D6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D4D9EDEF-A9EE-002E-CA82-EF618B88EF7D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1408F9D-316F-26B5-3AA6-F42B4089F99E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3277445-F103-6185-5D76-1714ACFE0590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  <a:endCxn id="28" idx="0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3439714" y="2229593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CEEF3A-096B-368A-D6CC-5F0A6A8D6DE8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1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41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3963050" y="5624190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3875048" y="4321363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3" idx="2"/>
            <a:endCxn id="29" idx="0"/>
          </p:cNvCxnSpPr>
          <p:nvPr/>
        </p:nvCxnSpPr>
        <p:spPr>
          <a:xfrm rot="16200000" flipH="1">
            <a:off x="5203409" y="1899671"/>
            <a:ext cx="606442" cy="135262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5363719" y="2194779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798C23A6-D724-6810-F30D-DBB666BE34E6}"/>
              </a:ext>
            </a:extLst>
          </p:cNvPr>
          <p:cNvSpPr/>
          <p:nvPr/>
        </p:nvSpPr>
        <p:spPr>
          <a:xfrm>
            <a:off x="4563619" y="1710786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170A659-6516-E18F-F9E6-BB63DF97EE16}"/>
              </a:ext>
            </a:extLst>
          </p:cNvPr>
          <p:cNvSpPr txBox="1"/>
          <p:nvPr/>
        </p:nvSpPr>
        <p:spPr>
          <a:xfrm>
            <a:off x="5861035" y="2879203"/>
            <a:ext cx="643812" cy="394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33FC077-B966-4BC5-CB81-CD8E7A4A66A7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2</a:t>
            </a:r>
            <a:endParaRPr kumimoji="1" lang="zh-TW" alt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0D71A4C7-DB37-C230-E3E6-9FD92EBFDBC4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2657CA6-0056-9CD7-AE53-953CF39118F9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960ADA8F-E51E-C65E-4341-9077F64AB199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4EC8B848-14B5-BC04-E72E-A96A59A07E9B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C13CD066-0257-5209-D728-F8A2954482C1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6ABEA6E-A73B-7E0C-BD8F-E2381AC0FF12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3277D2B-62DC-44A9-7EDD-D0114E5102A8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BF5FB52-3BEF-26A2-E5F6-8B14A2787A80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7C9B5056-6D20-D90B-300A-DB3217152E3F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DDE3720-988C-94D9-372C-46097B32F582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9DCD9CB0-7A63-B413-969A-A07B829E2CDE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E9777522-CEAA-4579-F276-6F26411CF274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292427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9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5022A-1D3A-208E-38FC-16EA5B4E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+mn-ea"/>
                <a:cs typeface="Calibri" panose="020F0502020204030204" pitchFamily="34" charset="0"/>
              </a:rPr>
              <a:t>QKV</a:t>
            </a:r>
            <a:r>
              <a:rPr lang="zh-TW" altLang="en-US" dirty="0">
                <a:ea typeface="+mn-ea"/>
                <a:cs typeface="Calibri" panose="020F0502020204030204" pitchFamily="34" charset="0"/>
              </a:rPr>
              <a:t> 的比喻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E927CE-170B-572C-ABAF-1538491E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19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CD54E07-2670-BF3A-C99F-3C71977B7189}"/>
              </a:ext>
            </a:extLst>
          </p:cNvPr>
          <p:cNvSpPr txBox="1"/>
          <p:nvPr/>
        </p:nvSpPr>
        <p:spPr>
          <a:xfrm>
            <a:off x="7959844" y="1081133"/>
            <a:ext cx="37500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4F69B63-AF80-53D1-7655-66B0AECD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55" y="1963711"/>
            <a:ext cx="9160669" cy="3259083"/>
          </a:xfrm>
          <a:prstGeom prst="rect">
            <a:avLst/>
          </a:prstGeom>
        </p:spPr>
      </p:pic>
      <p:sp>
        <p:nvSpPr>
          <p:cNvPr id="5" name="圓角矩形 4">
            <a:extLst>
              <a:ext uri="{FF2B5EF4-FFF2-40B4-BE49-F238E27FC236}">
                <a16:creationId xmlns:a16="http://schemas.microsoft.com/office/drawing/2014/main" id="{50CCDC48-5F34-4009-8BCA-BC2EBF35C1B9}"/>
              </a:ext>
            </a:extLst>
          </p:cNvPr>
          <p:cNvSpPr/>
          <p:nvPr/>
        </p:nvSpPr>
        <p:spPr>
          <a:xfrm>
            <a:off x="3229204" y="1963711"/>
            <a:ext cx="2024743" cy="3402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A492400-AA7A-B145-F4AC-B93F1B806608}"/>
              </a:ext>
            </a:extLst>
          </p:cNvPr>
          <p:cNvSpPr txBox="1"/>
          <p:nvPr/>
        </p:nvSpPr>
        <p:spPr>
          <a:xfrm>
            <a:off x="3756383" y="1594379"/>
            <a:ext cx="97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Query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DE8B4F4E-F656-8E47-1E8D-474AC5236D16}"/>
              </a:ext>
            </a:extLst>
          </p:cNvPr>
          <p:cNvSpPr/>
          <p:nvPr/>
        </p:nvSpPr>
        <p:spPr>
          <a:xfrm>
            <a:off x="5701814" y="2929089"/>
            <a:ext cx="2593910" cy="251927"/>
          </a:xfrm>
          <a:prstGeom prst="roundRect">
            <a:avLst/>
          </a:prstGeom>
          <a:noFill/>
          <a:ln w="28575">
            <a:solidFill>
              <a:srgbClr val="9EF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60E8B354-9A6A-95B2-477A-9FE56CE5990E}"/>
              </a:ext>
            </a:extLst>
          </p:cNvPr>
          <p:cNvSpPr/>
          <p:nvPr/>
        </p:nvSpPr>
        <p:spPr>
          <a:xfrm>
            <a:off x="5776457" y="3665459"/>
            <a:ext cx="4676750" cy="251927"/>
          </a:xfrm>
          <a:prstGeom prst="roundRect">
            <a:avLst/>
          </a:prstGeom>
          <a:noFill/>
          <a:ln w="28575">
            <a:solidFill>
              <a:srgbClr val="9EF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5254C35C-671F-A13C-E37E-19AE6F99BD38}"/>
              </a:ext>
            </a:extLst>
          </p:cNvPr>
          <p:cNvSpPr/>
          <p:nvPr/>
        </p:nvSpPr>
        <p:spPr>
          <a:xfrm>
            <a:off x="6849480" y="4062460"/>
            <a:ext cx="3566404" cy="251927"/>
          </a:xfrm>
          <a:prstGeom prst="roundRect">
            <a:avLst/>
          </a:prstGeom>
          <a:noFill/>
          <a:ln w="28575">
            <a:solidFill>
              <a:srgbClr val="9EF5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65DB248-9E91-CBD6-4300-834D995268A4}"/>
              </a:ext>
            </a:extLst>
          </p:cNvPr>
          <p:cNvSpPr txBox="1"/>
          <p:nvPr/>
        </p:nvSpPr>
        <p:spPr>
          <a:xfrm>
            <a:off x="8295724" y="2873905"/>
            <a:ext cx="78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9EF5EA"/>
                </a:solidFill>
              </a:rPr>
              <a:t>Key</a:t>
            </a:r>
            <a:endParaRPr kumimoji="1" lang="zh-TW" altLang="en-US" dirty="0">
              <a:solidFill>
                <a:srgbClr val="9EF5EA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D08AC4E-EA6F-EA9A-AFD0-93BFDD79F121}"/>
              </a:ext>
            </a:extLst>
          </p:cNvPr>
          <p:cNvSpPr/>
          <p:nvPr/>
        </p:nvSpPr>
        <p:spPr>
          <a:xfrm>
            <a:off x="1526361" y="2776980"/>
            <a:ext cx="8982832" cy="2372795"/>
          </a:xfrm>
          <a:prstGeom prst="roundRect">
            <a:avLst/>
          </a:prstGeom>
          <a:noFill/>
          <a:ln w="28575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A7EC74E-D55D-F019-1794-B331C5EA1680}"/>
              </a:ext>
            </a:extLst>
          </p:cNvPr>
          <p:cNvSpPr txBox="1"/>
          <p:nvPr/>
        </p:nvSpPr>
        <p:spPr>
          <a:xfrm>
            <a:off x="10453207" y="3808191"/>
            <a:ext cx="970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40FF"/>
                </a:solidFill>
              </a:rPr>
              <a:t>Value</a:t>
            </a:r>
            <a:endParaRPr kumimoji="1" lang="zh-TW" altLang="en-US" dirty="0">
              <a:solidFill>
                <a:srgbClr val="FF40FF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0620BE0-AC8F-E101-0BD8-7BBB9F8B3A97}"/>
              </a:ext>
            </a:extLst>
          </p:cNvPr>
          <p:cNvSpPr txBox="1"/>
          <p:nvPr/>
        </p:nvSpPr>
        <p:spPr>
          <a:xfrm>
            <a:off x="1357855" y="5565860"/>
            <a:ext cx="9857541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Query: (</a:t>
            </a:r>
            <a:r>
              <a:rPr kumimoji="1" lang="zh-TW" altLang="en-US" sz="2000" dirty="0"/>
              <a:t>主動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查詢的關鍵字；</a:t>
            </a:r>
            <a:r>
              <a:rPr kumimoji="1" lang="en-US" altLang="zh-TW" sz="2000" dirty="0"/>
              <a:t>Key: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(</a:t>
            </a:r>
            <a:r>
              <a:rPr kumimoji="1" lang="zh-TW" altLang="en-US" sz="2000" dirty="0"/>
              <a:t>被動</a:t>
            </a:r>
            <a:r>
              <a:rPr kumimoji="1" lang="en-US" altLang="zh-TW" sz="2000" dirty="0"/>
              <a:t>) </a:t>
            </a:r>
            <a:r>
              <a:rPr kumimoji="1" lang="zh-TW" altLang="en-US" sz="2000" dirty="0"/>
              <a:t>查詢的對象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Value: </a:t>
            </a:r>
            <a:r>
              <a:rPr kumimoji="1" lang="zh-TW" altLang="en-US" sz="2000" dirty="0"/>
              <a:t>值，關鍵字與對象的匹配程度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70432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0" grpId="0" animBg="1"/>
      <p:bldP spid="11" grpId="0" animBg="1"/>
      <p:bldP spid="12" grpId="0"/>
      <p:bldP spid="13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34632-1925-DED6-ABF9-99E9101D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為什麼 </a:t>
            </a:r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可以平行化？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37672B-4E61-A146-0784-0A62D7E2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98250A1-BEB4-61A1-6F07-5433DEFD6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44" y="2378948"/>
            <a:ext cx="2765086" cy="3450957"/>
          </a:xfrm>
          <a:prstGeom prst="rect">
            <a:avLst/>
          </a:prstGeom>
        </p:spPr>
      </p:pic>
      <p:sp>
        <p:nvSpPr>
          <p:cNvPr id="6" name="圓角矩形 5">
            <a:extLst>
              <a:ext uri="{FF2B5EF4-FFF2-40B4-BE49-F238E27FC236}">
                <a16:creationId xmlns:a16="http://schemas.microsoft.com/office/drawing/2014/main" id="{50745F76-BCA4-CF78-F4BE-CC059C9C5E66}"/>
              </a:ext>
            </a:extLst>
          </p:cNvPr>
          <p:cNvSpPr/>
          <p:nvPr/>
        </p:nvSpPr>
        <p:spPr>
          <a:xfrm>
            <a:off x="5286399" y="614972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9C815E1-E390-94FE-3B0C-2541453CF7E5}"/>
              </a:ext>
            </a:extLst>
          </p:cNvPr>
          <p:cNvSpPr txBox="1"/>
          <p:nvPr/>
        </p:nvSpPr>
        <p:spPr>
          <a:xfrm>
            <a:off x="5861542" y="6178818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07179721-A00D-70F9-E0B9-B7D199E2B83F}"/>
              </a:ext>
            </a:extLst>
          </p:cNvPr>
          <p:cNvSpPr/>
          <p:nvPr/>
        </p:nvSpPr>
        <p:spPr>
          <a:xfrm>
            <a:off x="7734909" y="614972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3C4D787-EFD9-A8BE-C118-31679759D4A0}"/>
              </a:ext>
            </a:extLst>
          </p:cNvPr>
          <p:cNvSpPr txBox="1"/>
          <p:nvPr/>
        </p:nvSpPr>
        <p:spPr>
          <a:xfrm>
            <a:off x="8294219" y="617157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9114E970-6D06-8883-69F2-AC2FFA14557A}"/>
              </a:ext>
            </a:extLst>
          </p:cNvPr>
          <p:cNvSpPr/>
          <p:nvPr/>
        </p:nvSpPr>
        <p:spPr>
          <a:xfrm>
            <a:off x="10155423" y="6144693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D70E040-DB77-5805-20E8-637906B04D89}"/>
              </a:ext>
            </a:extLst>
          </p:cNvPr>
          <p:cNvSpPr txBox="1"/>
          <p:nvPr/>
        </p:nvSpPr>
        <p:spPr>
          <a:xfrm>
            <a:off x="10731099" y="617948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15C3A9E0-5231-9712-211B-F2543263D056}"/>
              </a:ext>
            </a:extLst>
          </p:cNvPr>
          <p:cNvSpPr/>
          <p:nvPr/>
        </p:nvSpPr>
        <p:spPr>
          <a:xfrm>
            <a:off x="9554464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A5B26178-0D41-620D-92E0-C21F1A858AB7}"/>
              </a:ext>
            </a:extLst>
          </p:cNvPr>
          <p:cNvSpPr/>
          <p:nvPr/>
        </p:nvSpPr>
        <p:spPr>
          <a:xfrm>
            <a:off x="10130090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179815C8-E81D-DC79-5550-8E3356121A36}"/>
              </a:ext>
            </a:extLst>
          </p:cNvPr>
          <p:cNvSpPr/>
          <p:nvPr/>
        </p:nvSpPr>
        <p:spPr>
          <a:xfrm>
            <a:off x="10711761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ADD29C84-8D9E-E259-1D7D-EC0C2203643F}"/>
              </a:ext>
            </a:extLst>
          </p:cNvPr>
          <p:cNvSpPr/>
          <p:nvPr/>
        </p:nvSpPr>
        <p:spPr>
          <a:xfrm>
            <a:off x="7153938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2CB7E018-5210-57E9-0114-3AB680FE07B3}"/>
              </a:ext>
            </a:extLst>
          </p:cNvPr>
          <p:cNvSpPr/>
          <p:nvPr/>
        </p:nvSpPr>
        <p:spPr>
          <a:xfrm>
            <a:off x="7729564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AB014BF2-81E8-25AD-3BA9-D63775853E00}"/>
              </a:ext>
            </a:extLst>
          </p:cNvPr>
          <p:cNvSpPr/>
          <p:nvPr/>
        </p:nvSpPr>
        <p:spPr>
          <a:xfrm>
            <a:off x="8311235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07F6C340-CAF8-D2E3-1412-CEFFB7AA4162}"/>
              </a:ext>
            </a:extLst>
          </p:cNvPr>
          <p:cNvSpPr/>
          <p:nvPr/>
        </p:nvSpPr>
        <p:spPr>
          <a:xfrm>
            <a:off x="4704315" y="469235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A2587DFD-21BD-CDE2-5D60-FAD3BA577A0A}"/>
              </a:ext>
            </a:extLst>
          </p:cNvPr>
          <p:cNvSpPr/>
          <p:nvPr/>
        </p:nvSpPr>
        <p:spPr>
          <a:xfrm>
            <a:off x="5279941" y="469235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5" name="圓角矩形 34">
            <a:extLst>
              <a:ext uri="{FF2B5EF4-FFF2-40B4-BE49-F238E27FC236}">
                <a16:creationId xmlns:a16="http://schemas.microsoft.com/office/drawing/2014/main" id="{1979137F-8769-9695-7637-80134D5BA169}"/>
              </a:ext>
            </a:extLst>
          </p:cNvPr>
          <p:cNvSpPr/>
          <p:nvPr/>
        </p:nvSpPr>
        <p:spPr>
          <a:xfrm>
            <a:off x="5861612" y="468873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8BD889CF-9484-0C82-70C0-6340D918B3E9}"/>
              </a:ext>
            </a:extLst>
          </p:cNvPr>
          <p:cNvSpPr/>
          <p:nvPr/>
        </p:nvSpPr>
        <p:spPr>
          <a:xfrm>
            <a:off x="7135071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69BDE403-6F2B-2A4A-A376-248D173FC50A}"/>
              </a:ext>
            </a:extLst>
          </p:cNvPr>
          <p:cNvSpPr/>
          <p:nvPr/>
        </p:nvSpPr>
        <p:spPr>
          <a:xfrm>
            <a:off x="7712548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1E6B737-A27E-9B79-CD6B-948592E1FA13}"/>
              </a:ext>
            </a:extLst>
          </p:cNvPr>
          <p:cNvSpPr/>
          <p:nvPr/>
        </p:nvSpPr>
        <p:spPr>
          <a:xfrm>
            <a:off x="8294219" y="2734171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B71A2F6-89FA-437E-911F-6ECCE0DE0856}"/>
              </a:ext>
            </a:extLst>
          </p:cNvPr>
          <p:cNvSpPr/>
          <p:nvPr/>
        </p:nvSpPr>
        <p:spPr>
          <a:xfrm rot="16200000">
            <a:off x="5266864" y="2670685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75455F1-1A19-97DA-1A63-86C922D54717}"/>
              </a:ext>
            </a:extLst>
          </p:cNvPr>
          <p:cNvSpPr txBox="1"/>
          <p:nvPr/>
        </p:nvSpPr>
        <p:spPr>
          <a:xfrm>
            <a:off x="5338224" y="302962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86E813EF-10BA-8164-EA0E-7646D39428B3}"/>
              </a:ext>
            </a:extLst>
          </p:cNvPr>
          <p:cNvSpPr/>
          <p:nvPr/>
        </p:nvSpPr>
        <p:spPr>
          <a:xfrm rot="16200000">
            <a:off x="5265078" y="3260459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D09BE094-8006-8567-2B01-7E1A261C401B}"/>
              </a:ext>
            </a:extLst>
          </p:cNvPr>
          <p:cNvSpPr txBox="1"/>
          <p:nvPr/>
        </p:nvSpPr>
        <p:spPr>
          <a:xfrm>
            <a:off x="5336438" y="361940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497FDF6-6E6B-CACA-AD68-09882C9FB31F}"/>
              </a:ext>
            </a:extLst>
          </p:cNvPr>
          <p:cNvSpPr/>
          <p:nvPr/>
        </p:nvSpPr>
        <p:spPr>
          <a:xfrm rot="16200000">
            <a:off x="5259842" y="2080910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4B6D927-ED3F-30DF-7A82-B1BEB8F9C1F9}"/>
              </a:ext>
            </a:extLst>
          </p:cNvPr>
          <p:cNvSpPr txBox="1"/>
          <p:nvPr/>
        </p:nvSpPr>
        <p:spPr>
          <a:xfrm>
            <a:off x="5331202" y="243985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DBE572CA-6E7D-04A6-5ED2-C9A5276AABCF}"/>
              </a:ext>
            </a:extLst>
          </p:cNvPr>
          <p:cNvSpPr/>
          <p:nvPr/>
        </p:nvSpPr>
        <p:spPr>
          <a:xfrm rot="16200000">
            <a:off x="10069103" y="267068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6D73BE6-9C95-6F38-F654-FBC3629F1DE7}"/>
              </a:ext>
            </a:extLst>
          </p:cNvPr>
          <p:cNvSpPr txBox="1"/>
          <p:nvPr/>
        </p:nvSpPr>
        <p:spPr>
          <a:xfrm>
            <a:off x="10140463" y="30296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3D84D303-7B5B-C0CB-60A6-6ACAC5096849}"/>
              </a:ext>
            </a:extLst>
          </p:cNvPr>
          <p:cNvSpPr/>
          <p:nvPr/>
        </p:nvSpPr>
        <p:spPr>
          <a:xfrm rot="16200000">
            <a:off x="10067317" y="3260460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FD09C80F-9497-4E1F-EF28-F577821AE9AA}"/>
              </a:ext>
            </a:extLst>
          </p:cNvPr>
          <p:cNvSpPr txBox="1"/>
          <p:nvPr/>
        </p:nvSpPr>
        <p:spPr>
          <a:xfrm>
            <a:off x="10138677" y="361940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76BA6002-F22B-2534-E7EB-97C846B2E2BE}"/>
              </a:ext>
            </a:extLst>
          </p:cNvPr>
          <p:cNvSpPr/>
          <p:nvPr/>
        </p:nvSpPr>
        <p:spPr>
          <a:xfrm rot="16200000">
            <a:off x="10062081" y="2080911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DAD992D-C285-0814-141D-78D30180B5F4}"/>
              </a:ext>
            </a:extLst>
          </p:cNvPr>
          <p:cNvSpPr txBox="1"/>
          <p:nvPr/>
        </p:nvSpPr>
        <p:spPr>
          <a:xfrm>
            <a:off x="10133441" y="243985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6A02C634-C3E5-CA5F-30E9-2F145997B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49" y="5820305"/>
            <a:ext cx="2972804" cy="543179"/>
          </a:xfrm>
          <a:prstGeom prst="rect">
            <a:avLst/>
          </a:prstGeom>
        </p:spPr>
      </p:pic>
      <p:sp>
        <p:nvSpPr>
          <p:cNvPr id="61" name="文字方塊 60">
            <a:extLst>
              <a:ext uri="{FF2B5EF4-FFF2-40B4-BE49-F238E27FC236}">
                <a16:creationId xmlns:a16="http://schemas.microsoft.com/office/drawing/2014/main" id="{C520CD93-873C-463D-AF8C-A1DDD87CCA79}"/>
              </a:ext>
            </a:extLst>
          </p:cNvPr>
          <p:cNvSpPr txBox="1"/>
          <p:nvPr/>
        </p:nvSpPr>
        <p:spPr>
          <a:xfrm>
            <a:off x="5069918" y="1504369"/>
            <a:ext cx="556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自注意力機制可以利用矩陣乘積來進行平行化計算</a:t>
            </a:r>
            <a:r>
              <a:rPr kumimoji="1" lang="en-US" altLang="zh-TW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C9D9FE6-4146-C56B-E668-E84FB1F3BDE9}"/>
              </a:ext>
            </a:extLst>
          </p:cNvPr>
          <p:cNvSpPr/>
          <p:nvPr/>
        </p:nvSpPr>
        <p:spPr>
          <a:xfrm>
            <a:off x="4704315" y="1912366"/>
            <a:ext cx="6362773" cy="252517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ADCB5F9-BA0B-0BF2-5398-5CFFBFF82156}"/>
                  </a:ext>
                </a:extLst>
              </p:cNvPr>
              <p:cNvSpPr txBox="1"/>
              <p:nvPr/>
            </p:nvSpPr>
            <p:spPr>
              <a:xfrm>
                <a:off x="5170106" y="1897689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3ADCB5F9-BA0B-0BF2-5398-5CFFBFF82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106" y="1897689"/>
                <a:ext cx="686909" cy="461665"/>
              </a:xfrm>
              <a:prstGeom prst="rect">
                <a:avLst/>
              </a:prstGeom>
              <a:blipFill>
                <a:blip r:embed="rId5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338EB73-7A7A-1E1C-F380-BE0988980C28}"/>
                  </a:ext>
                </a:extLst>
              </p:cNvPr>
              <p:cNvSpPr txBox="1"/>
              <p:nvPr/>
            </p:nvSpPr>
            <p:spPr>
              <a:xfrm>
                <a:off x="7639828" y="1897689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4338EB73-7A7A-1E1C-F380-BE098898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828" y="1897689"/>
                <a:ext cx="68690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9649E02-9C83-7F4F-C360-3872FF98D2F6}"/>
                  </a:ext>
                </a:extLst>
              </p:cNvPr>
              <p:cNvSpPr txBox="1"/>
              <p:nvPr/>
            </p:nvSpPr>
            <p:spPr>
              <a:xfrm>
                <a:off x="9994521" y="189435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69649E02-9C83-7F4F-C360-3872FF98D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521" y="1894352"/>
                <a:ext cx="68690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A23F0C9-C20A-2C50-004E-F213D1CB681A}"/>
              </a:ext>
            </a:extLst>
          </p:cNvPr>
          <p:cNvSpPr txBox="1"/>
          <p:nvPr/>
        </p:nvSpPr>
        <p:spPr>
          <a:xfrm>
            <a:off x="9981159" y="4068205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v</a:t>
            </a:r>
            <a:endParaRPr kumimoji="1" lang="zh-TW" altLang="en-US" baseline="-25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6DFDC0E-0195-B0B8-3023-708C64EC10D0}"/>
              </a:ext>
            </a:extLst>
          </p:cNvPr>
          <p:cNvSpPr txBox="1"/>
          <p:nvPr/>
        </p:nvSpPr>
        <p:spPr>
          <a:xfrm>
            <a:off x="5143043" y="4074554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51F3D3-FCD0-B930-B86E-B1048D8098B7}"/>
              </a:ext>
            </a:extLst>
          </p:cNvPr>
          <p:cNvSpPr txBox="1"/>
          <p:nvPr/>
        </p:nvSpPr>
        <p:spPr>
          <a:xfrm>
            <a:off x="7625979" y="4070697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</a:t>
            </a:r>
            <a:r>
              <a:rPr kumimoji="1" lang="en-US" altLang="zh-TW" baseline="-25000" dirty="0"/>
              <a:t>k </a:t>
            </a:r>
            <a:r>
              <a:rPr kumimoji="1" lang="en-US" altLang="zh-TW" dirty="0"/>
              <a:t>x N</a:t>
            </a:r>
            <a:endParaRPr kumimoji="1" lang="zh-TW" altLang="en-US" baseline="-25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87E2A89-6805-53F1-922F-5A0A7785DDBF}"/>
              </a:ext>
            </a:extLst>
          </p:cNvPr>
          <p:cNvSpPr txBox="1"/>
          <p:nvPr/>
        </p:nvSpPr>
        <p:spPr>
          <a:xfrm>
            <a:off x="822444" y="1810993"/>
            <a:ext cx="2546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0070C0"/>
                </a:solidFill>
              </a:rPr>
              <a:t>通常設置 </a:t>
            </a:r>
            <a:r>
              <a:rPr kumimoji="1" lang="en-US" altLang="zh-TW" dirty="0" err="1">
                <a:solidFill>
                  <a:srgbClr val="0070C0"/>
                </a:solidFill>
              </a:rPr>
              <a:t>d</a:t>
            </a:r>
            <a:r>
              <a:rPr kumimoji="1" lang="en-US" altLang="zh-TW" baseline="-25000" dirty="0" err="1">
                <a:solidFill>
                  <a:srgbClr val="0070C0"/>
                </a:solidFill>
              </a:rPr>
              <a:t>q</a:t>
            </a:r>
            <a:r>
              <a:rPr kumimoji="1" lang="en-US" altLang="zh-TW" baseline="-25000" dirty="0">
                <a:solidFill>
                  <a:srgbClr val="0070C0"/>
                </a:solidFill>
              </a:rPr>
              <a:t>  </a:t>
            </a:r>
            <a:r>
              <a:rPr kumimoji="1" lang="en-US" altLang="zh-TW" dirty="0">
                <a:solidFill>
                  <a:srgbClr val="0070C0"/>
                </a:solidFill>
              </a:rPr>
              <a:t>= d</a:t>
            </a:r>
            <a:r>
              <a:rPr kumimoji="1" lang="en-US" altLang="zh-TW" baseline="-25000" dirty="0">
                <a:solidFill>
                  <a:srgbClr val="0070C0"/>
                </a:solidFill>
              </a:rPr>
              <a:t>k</a:t>
            </a:r>
            <a:r>
              <a:rPr kumimoji="1" lang="en-US" altLang="zh-TW" dirty="0">
                <a:solidFill>
                  <a:srgbClr val="0070C0"/>
                </a:solidFill>
              </a:rPr>
              <a:t> = d</a:t>
            </a:r>
            <a:r>
              <a:rPr kumimoji="1" lang="en-US" altLang="zh-TW" baseline="-25000" dirty="0">
                <a:solidFill>
                  <a:srgbClr val="0070C0"/>
                </a:solidFill>
              </a:rPr>
              <a:t>v</a:t>
            </a:r>
            <a:endParaRPr kumimoji="1" lang="zh-TW" altLang="en-US" dirty="0">
              <a:solidFill>
                <a:srgbClr val="0070C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873072C-93E4-FA21-5E7C-100A4F7EDEB3}"/>
              </a:ext>
            </a:extLst>
          </p:cNvPr>
          <p:cNvSpPr txBox="1"/>
          <p:nvPr/>
        </p:nvSpPr>
        <p:spPr>
          <a:xfrm>
            <a:off x="855799" y="1439777"/>
            <a:ext cx="3113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d</a:t>
            </a:r>
            <a:r>
              <a:rPr kumimoji="1" lang="en-US" altLang="zh-TW" sz="1600" baseline="-25000" dirty="0">
                <a:solidFill>
                  <a:srgbClr val="0070C0"/>
                </a:solidFill>
                <a:ea typeface="Microsoft JhengHei" panose="020B0604030504040204" pitchFamily="34" charset="-120"/>
              </a:rPr>
              <a:t>k </a:t>
            </a:r>
            <a:r>
              <a:rPr kumimoji="1" lang="en-US" altLang="zh-TW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: queries</a:t>
            </a:r>
            <a:r>
              <a:rPr kumimoji="1" lang="zh-TW" altLang="en-US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 和 </a:t>
            </a:r>
            <a:r>
              <a:rPr kumimoji="1" lang="en-US" altLang="zh-TW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keys </a:t>
            </a:r>
            <a:r>
              <a:rPr kumimoji="1" lang="zh-TW" altLang="en-US" sz="1600" dirty="0">
                <a:solidFill>
                  <a:srgbClr val="0070C0"/>
                </a:solidFill>
                <a:ea typeface="Microsoft JhengHei" panose="020B0604030504040204" pitchFamily="34" charset="-120"/>
              </a:rPr>
              <a:t>的維度大小</a:t>
            </a: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FADADD24-90A7-6BA7-B587-A3A16503F0F4}"/>
              </a:ext>
            </a:extLst>
          </p:cNvPr>
          <p:cNvGrpSpPr/>
          <p:nvPr/>
        </p:nvGrpSpPr>
        <p:grpSpPr>
          <a:xfrm>
            <a:off x="5555417" y="4082111"/>
            <a:ext cx="5231042" cy="381135"/>
            <a:chOff x="5555417" y="4082111"/>
            <a:chExt cx="5231042" cy="381135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8A6E456D-BA68-F512-5076-DAB3AE5C3458}"/>
                </a:ext>
              </a:extLst>
            </p:cNvPr>
            <p:cNvSpPr/>
            <p:nvPr/>
          </p:nvSpPr>
          <p:spPr>
            <a:xfrm>
              <a:off x="7639828" y="4082111"/>
              <a:ext cx="381135" cy="381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482A743-8AB6-AB5E-8A2B-E478A200F125}"/>
                </a:ext>
              </a:extLst>
            </p:cNvPr>
            <p:cNvSpPr/>
            <p:nvPr/>
          </p:nvSpPr>
          <p:spPr>
            <a:xfrm>
              <a:off x="5555417" y="4082111"/>
              <a:ext cx="381135" cy="381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92A9913F-19FE-EB23-D530-52568699FA66}"/>
                </a:ext>
              </a:extLst>
            </p:cNvPr>
            <p:cNvSpPr/>
            <p:nvPr/>
          </p:nvSpPr>
          <p:spPr>
            <a:xfrm>
              <a:off x="10405324" y="4082111"/>
              <a:ext cx="381135" cy="381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982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5" grpId="0"/>
      <p:bldP spid="46" grpId="0" animBg="1"/>
      <p:bldP spid="47" grpId="0"/>
      <p:bldP spid="49" grpId="0" animBg="1"/>
      <p:bldP spid="50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61" grpId="0"/>
      <p:bldP spid="62" grpId="0" animBg="1"/>
      <p:bldP spid="64" grpId="0"/>
      <p:bldP spid="65" grpId="0"/>
      <p:bldP spid="66" grpId="0"/>
      <p:bldP spid="3" grpId="0"/>
      <p:bldP spid="7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E6A68A-301E-B63D-162A-5B3335DF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的權重值</a:t>
            </a:r>
            <a:r>
              <a:rPr kumimoji="1" lang="en-US" altLang="zh-TW" dirty="0">
                <a:ea typeface="Microsoft JhengHei" panose="020B0604030504040204" pitchFamily="34" charset="-120"/>
              </a:rPr>
              <a:t> (1/2)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AF7FA8-74D3-90D4-E217-2B573E67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938BF0D-40C4-8AE8-DA83-56C66988DDE3}"/>
              </a:ext>
            </a:extLst>
          </p:cNvPr>
          <p:cNvSpPr txBox="1"/>
          <p:nvPr/>
        </p:nvSpPr>
        <p:spPr>
          <a:xfrm flipH="1">
            <a:off x="3294318" y="6380722"/>
            <a:ext cx="307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71FF92-2DD4-2188-4923-BA97A6F2420C}"/>
              </a:ext>
            </a:extLst>
          </p:cNvPr>
          <p:cNvSpPr txBox="1"/>
          <p:nvPr/>
        </p:nvSpPr>
        <p:spPr>
          <a:xfrm>
            <a:off x="5751426" y="6370226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98D692E-18CA-45DC-0ADE-751EC2AF257B}"/>
              </a:ext>
            </a:extLst>
          </p:cNvPr>
          <p:cNvSpPr txBox="1"/>
          <p:nvPr/>
        </p:nvSpPr>
        <p:spPr>
          <a:xfrm>
            <a:off x="8683120" y="635881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473031F7-19CE-0B6C-0A73-1EDD56C383BE}"/>
              </a:ext>
            </a:extLst>
          </p:cNvPr>
          <p:cNvSpPr/>
          <p:nvPr/>
        </p:nvSpPr>
        <p:spPr>
          <a:xfrm>
            <a:off x="8175681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1FC4D4EB-5E06-0111-4343-8171CF9623B9}"/>
              </a:ext>
            </a:extLst>
          </p:cNvPr>
          <p:cNvSpPr/>
          <p:nvPr/>
        </p:nvSpPr>
        <p:spPr>
          <a:xfrm>
            <a:off x="8751307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611F69F7-65E0-4490-C5C6-5778B7BF6D8D}"/>
              </a:ext>
            </a:extLst>
          </p:cNvPr>
          <p:cNvSpPr/>
          <p:nvPr/>
        </p:nvSpPr>
        <p:spPr>
          <a:xfrm>
            <a:off x="9332978" y="50146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E9A81773-6398-0FD8-CFD4-FD0C35E6F8EE}"/>
              </a:ext>
            </a:extLst>
          </p:cNvPr>
          <p:cNvSpPr/>
          <p:nvPr/>
        </p:nvSpPr>
        <p:spPr>
          <a:xfrm>
            <a:off x="5380297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4756521D-145C-8D15-AB0F-07969BA0CEFC}"/>
              </a:ext>
            </a:extLst>
          </p:cNvPr>
          <p:cNvSpPr/>
          <p:nvPr/>
        </p:nvSpPr>
        <p:spPr>
          <a:xfrm>
            <a:off x="5955923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FE491CB-F796-F616-11B0-221FD736E911}"/>
              </a:ext>
            </a:extLst>
          </p:cNvPr>
          <p:cNvSpPr/>
          <p:nvPr/>
        </p:nvSpPr>
        <p:spPr>
          <a:xfrm>
            <a:off x="6537594" y="50146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4F638086-0B95-9BE7-E2C1-7CC74B40F307}"/>
              </a:ext>
            </a:extLst>
          </p:cNvPr>
          <p:cNvSpPr/>
          <p:nvPr/>
        </p:nvSpPr>
        <p:spPr>
          <a:xfrm>
            <a:off x="2618944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2D7B499-4C3E-2874-182E-6417E0B5D7EE}"/>
              </a:ext>
            </a:extLst>
          </p:cNvPr>
          <p:cNvSpPr/>
          <p:nvPr/>
        </p:nvSpPr>
        <p:spPr>
          <a:xfrm>
            <a:off x="3194570" y="501827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024C8A30-DC99-4DAB-5978-2BB988269EAA}"/>
              </a:ext>
            </a:extLst>
          </p:cNvPr>
          <p:cNvSpPr/>
          <p:nvPr/>
        </p:nvSpPr>
        <p:spPr>
          <a:xfrm>
            <a:off x="3776241" y="50146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A4B00D99-E63E-51F8-8E80-DAC3303E99E0}"/>
              </a:ext>
            </a:extLst>
          </p:cNvPr>
          <p:cNvSpPr/>
          <p:nvPr/>
        </p:nvSpPr>
        <p:spPr>
          <a:xfrm rot="16200000">
            <a:off x="1023025" y="2516499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B2790E8-356B-E31F-C1D2-BDF92C1401A3}"/>
              </a:ext>
            </a:extLst>
          </p:cNvPr>
          <p:cNvSpPr txBox="1"/>
          <p:nvPr/>
        </p:nvSpPr>
        <p:spPr>
          <a:xfrm>
            <a:off x="1094385" y="287544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4C40CFEC-7F97-D4C5-B2BF-D29C8371C62D}"/>
              </a:ext>
            </a:extLst>
          </p:cNvPr>
          <p:cNvSpPr/>
          <p:nvPr/>
        </p:nvSpPr>
        <p:spPr>
          <a:xfrm rot="16200000">
            <a:off x="1021239" y="3106273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E524CB2-73CC-21F9-B3B5-BEEF2C249011}"/>
              </a:ext>
            </a:extLst>
          </p:cNvPr>
          <p:cNvSpPr txBox="1"/>
          <p:nvPr/>
        </p:nvSpPr>
        <p:spPr>
          <a:xfrm>
            <a:off x="1092599" y="3465216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8EAAB3D0-CD13-31DA-3835-DC7199C9D374}"/>
              </a:ext>
            </a:extLst>
          </p:cNvPr>
          <p:cNvSpPr/>
          <p:nvPr/>
        </p:nvSpPr>
        <p:spPr>
          <a:xfrm rot="16200000">
            <a:off x="1016003" y="1926724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8FB1D95-DE5F-3026-238D-0B20A60B05F8}"/>
              </a:ext>
            </a:extLst>
          </p:cNvPr>
          <p:cNvSpPr txBox="1"/>
          <p:nvPr/>
        </p:nvSpPr>
        <p:spPr>
          <a:xfrm>
            <a:off x="1087363" y="2285667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B002EE1-BED1-51AD-9687-997241B7A987}"/>
              </a:ext>
            </a:extLst>
          </p:cNvPr>
          <p:cNvSpPr txBox="1"/>
          <p:nvPr/>
        </p:nvSpPr>
        <p:spPr>
          <a:xfrm>
            <a:off x="744356" y="3937219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32" name="圓角矩形 31">
            <a:extLst>
              <a:ext uri="{FF2B5EF4-FFF2-40B4-BE49-F238E27FC236}">
                <a16:creationId xmlns:a16="http://schemas.microsoft.com/office/drawing/2014/main" id="{BA39ED8B-77EF-49D8-DE0B-9FAF0F1AE540}"/>
              </a:ext>
            </a:extLst>
          </p:cNvPr>
          <p:cNvSpPr/>
          <p:nvPr/>
        </p:nvSpPr>
        <p:spPr>
          <a:xfrm rot="16200000">
            <a:off x="8945632" y="2493095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29D977C-7DE0-FF3E-EB00-04982A3BF2E8}"/>
              </a:ext>
            </a:extLst>
          </p:cNvPr>
          <p:cNvSpPr txBox="1"/>
          <p:nvPr/>
        </p:nvSpPr>
        <p:spPr>
          <a:xfrm>
            <a:off x="9016992" y="285203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DA8CBA8B-7F66-2F2B-C7C8-9716AB1CBF22}"/>
              </a:ext>
            </a:extLst>
          </p:cNvPr>
          <p:cNvSpPr/>
          <p:nvPr/>
        </p:nvSpPr>
        <p:spPr>
          <a:xfrm rot="16200000">
            <a:off x="8943846" y="3082869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1FBA7A4-A711-C6F6-1FA2-EDD2E590B2D5}"/>
              </a:ext>
            </a:extLst>
          </p:cNvPr>
          <p:cNvSpPr txBox="1"/>
          <p:nvPr/>
        </p:nvSpPr>
        <p:spPr>
          <a:xfrm>
            <a:off x="9015206" y="344181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5D93D995-CA86-B16E-D5DD-495D8E9D2688}"/>
              </a:ext>
            </a:extLst>
          </p:cNvPr>
          <p:cNvSpPr/>
          <p:nvPr/>
        </p:nvSpPr>
        <p:spPr>
          <a:xfrm rot="16200000">
            <a:off x="8938610" y="1903320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94F8A34-11C1-C5F0-5E5F-0BD107D8AFAC}"/>
              </a:ext>
            </a:extLst>
          </p:cNvPr>
          <p:cNvSpPr txBox="1"/>
          <p:nvPr/>
        </p:nvSpPr>
        <p:spPr>
          <a:xfrm>
            <a:off x="9009970" y="226226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DD28048C-E9C3-2AEE-E956-6F6A334CA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645" y="764395"/>
            <a:ext cx="2972804" cy="543179"/>
          </a:xfrm>
          <a:prstGeom prst="rect">
            <a:avLst/>
          </a:prstGeom>
        </p:spPr>
      </p:pic>
      <p:sp>
        <p:nvSpPr>
          <p:cNvPr id="46" name="圓角矩形 45">
            <a:extLst>
              <a:ext uri="{FF2B5EF4-FFF2-40B4-BE49-F238E27FC236}">
                <a16:creationId xmlns:a16="http://schemas.microsoft.com/office/drawing/2014/main" id="{B025E6CD-3BD7-AA5E-7E5C-87E608ABC292}"/>
              </a:ext>
            </a:extLst>
          </p:cNvPr>
          <p:cNvSpPr/>
          <p:nvPr/>
        </p:nvSpPr>
        <p:spPr>
          <a:xfrm rot="16200000">
            <a:off x="1905552" y="2210291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AB4D5B1F-BB78-9B23-FB73-452C2273ECF0}"/>
              </a:ext>
            </a:extLst>
          </p:cNvPr>
          <p:cNvSpPr txBox="1"/>
          <p:nvPr/>
        </p:nvSpPr>
        <p:spPr>
          <a:xfrm>
            <a:off x="2142647" y="3937219"/>
            <a:ext cx="125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6C1DA17E-5B4C-917A-45A6-842F460AFF80}"/>
              </a:ext>
            </a:extLst>
          </p:cNvPr>
          <p:cNvSpPr txBox="1"/>
          <p:nvPr/>
        </p:nvSpPr>
        <p:spPr>
          <a:xfrm>
            <a:off x="2447913" y="2866312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Q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A044B2FF-92A0-C400-6A7A-C12E669DA6D0}"/>
              </a:ext>
            </a:extLst>
          </p:cNvPr>
          <p:cNvSpPr txBox="1"/>
          <p:nvPr/>
        </p:nvSpPr>
        <p:spPr>
          <a:xfrm>
            <a:off x="6069050" y="3937219"/>
            <a:ext cx="1305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2929EA0-4FE9-E667-1E2D-D666ECE0919E}"/>
              </a:ext>
            </a:extLst>
          </p:cNvPr>
          <p:cNvSpPr txBox="1"/>
          <p:nvPr/>
        </p:nvSpPr>
        <p:spPr>
          <a:xfrm>
            <a:off x="4670759" y="3937219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2AB4D049-063C-DCB9-36E0-55CD1463C524}"/>
              </a:ext>
            </a:extLst>
          </p:cNvPr>
          <p:cNvSpPr/>
          <p:nvPr/>
        </p:nvSpPr>
        <p:spPr>
          <a:xfrm rot="16200000">
            <a:off x="4948574" y="251269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E33F03E8-FC3B-1D67-892A-56E27AF2768B}"/>
              </a:ext>
            </a:extLst>
          </p:cNvPr>
          <p:cNvSpPr txBox="1"/>
          <p:nvPr/>
        </p:nvSpPr>
        <p:spPr>
          <a:xfrm>
            <a:off x="5019934" y="2871635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699435B4-693F-948F-A463-A0BDDB495A6A}"/>
              </a:ext>
            </a:extLst>
          </p:cNvPr>
          <p:cNvSpPr/>
          <p:nvPr/>
        </p:nvSpPr>
        <p:spPr>
          <a:xfrm rot="16200000">
            <a:off x="4946788" y="3102466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DD67790-73F3-EB03-8995-410285E8DFB0}"/>
              </a:ext>
            </a:extLst>
          </p:cNvPr>
          <p:cNvSpPr txBox="1"/>
          <p:nvPr/>
        </p:nvSpPr>
        <p:spPr>
          <a:xfrm>
            <a:off x="5018148" y="346140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CAC3D342-125F-5370-D0D8-7247DE6439E8}"/>
              </a:ext>
            </a:extLst>
          </p:cNvPr>
          <p:cNvSpPr/>
          <p:nvPr/>
        </p:nvSpPr>
        <p:spPr>
          <a:xfrm rot="16200000">
            <a:off x="4941552" y="192291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20B2D1D-225A-0B29-9AB5-54C276FAF02A}"/>
              </a:ext>
            </a:extLst>
          </p:cNvPr>
          <p:cNvSpPr txBox="1"/>
          <p:nvPr/>
        </p:nvSpPr>
        <p:spPr>
          <a:xfrm>
            <a:off x="5012912" y="228186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733D17FB-6D3A-89DD-07AB-D1203B0DCE53}"/>
              </a:ext>
            </a:extLst>
          </p:cNvPr>
          <p:cNvSpPr/>
          <p:nvPr/>
        </p:nvSpPr>
        <p:spPr>
          <a:xfrm rot="16200000">
            <a:off x="5831101" y="2206484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14DA6F2C-49DB-DE80-404D-39260F2F86C2}"/>
              </a:ext>
            </a:extLst>
          </p:cNvPr>
          <p:cNvSpPr txBox="1"/>
          <p:nvPr/>
        </p:nvSpPr>
        <p:spPr>
          <a:xfrm>
            <a:off x="6373462" y="2862505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K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0CD71591-DAC3-C8CA-B896-544CCC0141FB}"/>
              </a:ext>
            </a:extLst>
          </p:cNvPr>
          <p:cNvSpPr/>
          <p:nvPr/>
        </p:nvSpPr>
        <p:spPr>
          <a:xfrm rot="16200000">
            <a:off x="9811233" y="2182507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FDB5CA85-2498-28A0-CB4C-961B784CFFA7}"/>
              </a:ext>
            </a:extLst>
          </p:cNvPr>
          <p:cNvSpPr txBox="1"/>
          <p:nvPr/>
        </p:nvSpPr>
        <p:spPr>
          <a:xfrm>
            <a:off x="10353594" y="2838528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V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17EAF1D3-C74C-B3BC-F58E-91B383B7C5BD}"/>
              </a:ext>
            </a:extLst>
          </p:cNvPr>
          <p:cNvSpPr txBox="1"/>
          <p:nvPr/>
        </p:nvSpPr>
        <p:spPr>
          <a:xfrm>
            <a:off x="3998498" y="1788431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(</a:t>
            </a:r>
            <a:endParaRPr kumimoji="1" lang="zh-TW" altLang="en-US" sz="138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80E0D3FB-9B92-1E45-E773-FDEDBEBF618C}"/>
              </a:ext>
            </a:extLst>
          </p:cNvPr>
          <p:cNvSpPr txBox="1"/>
          <p:nvPr/>
        </p:nvSpPr>
        <p:spPr>
          <a:xfrm>
            <a:off x="7383698" y="1788430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)</a:t>
            </a:r>
            <a:endParaRPr kumimoji="1" lang="zh-TW" altLang="en-US" sz="1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BCDE0234-544F-C827-3B52-AB9EE84C0BEF}"/>
                  </a:ext>
                </a:extLst>
              </p:cNvPr>
              <p:cNvSpPr txBox="1"/>
              <p:nvPr/>
            </p:nvSpPr>
            <p:spPr>
              <a:xfrm>
                <a:off x="7607879" y="2118826"/>
                <a:ext cx="686909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baseline="30000" dirty="0"/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BCDE0234-544F-C827-3B52-AB9EE84C0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879" y="2118826"/>
                <a:ext cx="686909" cy="513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>
            <a:extLst>
              <a:ext uri="{FF2B5EF4-FFF2-40B4-BE49-F238E27FC236}">
                <a16:creationId xmlns:a16="http://schemas.microsoft.com/office/drawing/2014/main" id="{477173E1-8D52-B8B2-85DB-C383766057D1}"/>
              </a:ext>
            </a:extLst>
          </p:cNvPr>
          <p:cNvSpPr txBox="1"/>
          <p:nvPr/>
        </p:nvSpPr>
        <p:spPr>
          <a:xfrm>
            <a:off x="9484492" y="1508781"/>
            <a:ext cx="1311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V: N x d</a:t>
            </a:r>
            <a:r>
              <a:rPr kumimoji="1" lang="en-US" altLang="zh-TW" sz="2000" baseline="-25000" dirty="0"/>
              <a:t>v</a:t>
            </a:r>
            <a:endParaRPr kumimoji="1" lang="zh-TW" altLang="en-US" sz="2000" baseline="-25000" dirty="0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D5691509-CB79-A458-424D-4F6FCE6B7F61}"/>
              </a:ext>
            </a:extLst>
          </p:cNvPr>
          <p:cNvSpPr txBox="1"/>
          <p:nvPr/>
        </p:nvSpPr>
        <p:spPr>
          <a:xfrm>
            <a:off x="1406874" y="1509459"/>
            <a:ext cx="1468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Q: N x </a:t>
            </a:r>
            <a:r>
              <a:rPr kumimoji="1" lang="en-US" altLang="zh-TW" sz="2000" dirty="0" err="1"/>
              <a:t>d</a:t>
            </a:r>
            <a:r>
              <a:rPr kumimoji="1" lang="en-US" altLang="zh-TW" sz="2000" baseline="-25000" dirty="0" err="1"/>
              <a:t>q</a:t>
            </a:r>
            <a:endParaRPr kumimoji="1" lang="zh-TW" altLang="en-US" sz="2000" baseline="-250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0CD38873-9614-04BC-8841-4997C4942A56}"/>
              </a:ext>
            </a:extLst>
          </p:cNvPr>
          <p:cNvSpPr txBox="1"/>
          <p:nvPr/>
        </p:nvSpPr>
        <p:spPr>
          <a:xfrm>
            <a:off x="5552041" y="1507282"/>
            <a:ext cx="1203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K: N x d</a:t>
            </a:r>
            <a:r>
              <a:rPr kumimoji="1" lang="en-US" altLang="zh-TW" sz="2000" baseline="-25000" dirty="0"/>
              <a:t>k</a:t>
            </a:r>
            <a:endParaRPr kumimoji="1" lang="zh-TW" altLang="en-US" sz="2000" baseline="-25000" dirty="0"/>
          </a:p>
        </p:txBody>
      </p:sp>
      <p:sp>
        <p:nvSpPr>
          <p:cNvPr id="72" name="向右箭號 71">
            <a:extLst>
              <a:ext uri="{FF2B5EF4-FFF2-40B4-BE49-F238E27FC236}">
                <a16:creationId xmlns:a16="http://schemas.microsoft.com/office/drawing/2014/main" id="{491FA22E-7F0F-35A9-B538-130C61C31608}"/>
              </a:ext>
            </a:extLst>
          </p:cNvPr>
          <p:cNvSpPr/>
          <p:nvPr/>
        </p:nvSpPr>
        <p:spPr>
          <a:xfrm rot="16200000">
            <a:off x="6053778" y="4410624"/>
            <a:ext cx="311727" cy="426027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BBFB79C2-988B-C075-3686-C3AD7C02E9AC}"/>
              </a:ext>
            </a:extLst>
          </p:cNvPr>
          <p:cNvSpPr txBox="1"/>
          <p:nvPr/>
        </p:nvSpPr>
        <p:spPr>
          <a:xfrm>
            <a:off x="10070049" y="3933412"/>
            <a:ext cx="13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v</a:t>
            </a:r>
            <a:endParaRPr kumimoji="1" lang="zh-TW" altLang="en-US" baseline="-250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06018B9F-ECAC-B785-4568-BAB5992AA405}"/>
              </a:ext>
            </a:extLst>
          </p:cNvPr>
          <p:cNvSpPr txBox="1"/>
          <p:nvPr/>
        </p:nvSpPr>
        <p:spPr>
          <a:xfrm>
            <a:off x="8758872" y="393341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76" name="左中括弧 75">
            <a:extLst>
              <a:ext uri="{FF2B5EF4-FFF2-40B4-BE49-F238E27FC236}">
                <a16:creationId xmlns:a16="http://schemas.microsoft.com/office/drawing/2014/main" id="{8A91D5AB-DB0E-B888-8835-D6D4412887CA}"/>
              </a:ext>
            </a:extLst>
          </p:cNvPr>
          <p:cNvSpPr/>
          <p:nvPr/>
        </p:nvSpPr>
        <p:spPr>
          <a:xfrm rot="5400000">
            <a:off x="2066899" y="605993"/>
            <a:ext cx="123206" cy="27880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7" name="左中括弧 76">
            <a:extLst>
              <a:ext uri="{FF2B5EF4-FFF2-40B4-BE49-F238E27FC236}">
                <a16:creationId xmlns:a16="http://schemas.microsoft.com/office/drawing/2014/main" id="{83AF3BB9-4537-5E77-7100-63B578AFFE54}"/>
              </a:ext>
            </a:extLst>
          </p:cNvPr>
          <p:cNvSpPr/>
          <p:nvPr/>
        </p:nvSpPr>
        <p:spPr>
          <a:xfrm rot="5400000">
            <a:off x="6021057" y="592753"/>
            <a:ext cx="123206" cy="27880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8" name="左中括弧 77">
            <a:extLst>
              <a:ext uri="{FF2B5EF4-FFF2-40B4-BE49-F238E27FC236}">
                <a16:creationId xmlns:a16="http://schemas.microsoft.com/office/drawing/2014/main" id="{6CE4AB56-1E8E-E12B-D41D-63F79A7104BF}"/>
              </a:ext>
            </a:extLst>
          </p:cNvPr>
          <p:cNvSpPr/>
          <p:nvPr/>
        </p:nvSpPr>
        <p:spPr>
          <a:xfrm rot="5400000">
            <a:off x="10028472" y="598450"/>
            <a:ext cx="123206" cy="278803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8FBFF0-C1A2-F290-DF9D-49EAE72C0BAE}"/>
              </a:ext>
            </a:extLst>
          </p:cNvPr>
          <p:cNvSpPr txBox="1"/>
          <p:nvPr/>
        </p:nvSpPr>
        <p:spPr>
          <a:xfrm>
            <a:off x="663371" y="5287181"/>
            <a:ext cx="1247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>
                <a:ea typeface="Microsoft JhengHei" panose="020B0604030504040204" pitchFamily="34" charset="-120"/>
              </a:rPr>
              <a:t>d</a:t>
            </a:r>
            <a:r>
              <a:rPr kumimoji="1" lang="en-US" altLang="zh-TW" sz="1600" baseline="-25000" dirty="0" err="1">
                <a:ea typeface="Microsoft JhengHei" panose="020B0604030504040204" pitchFamily="34" charset="-120"/>
              </a:rPr>
              <a:t>model</a:t>
            </a:r>
            <a:r>
              <a:rPr kumimoji="1" lang="en-US" altLang="zh-TW" sz="1600" baseline="-25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1600" dirty="0">
                <a:ea typeface="Microsoft JhengHei" panose="020B0604030504040204" pitchFamily="34" charset="-120"/>
              </a:rPr>
              <a:t>: Embedding 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的維度大小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464A43-6C6A-B0AC-B201-793641C2B5AB}"/>
              </a:ext>
            </a:extLst>
          </p:cNvPr>
          <p:cNvSpPr txBox="1"/>
          <p:nvPr/>
        </p:nvSpPr>
        <p:spPr>
          <a:xfrm>
            <a:off x="7019990" y="92286"/>
            <a:ext cx="207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可以被訓練的參數</a:t>
            </a:r>
            <a:endParaRPr kumimoji="1"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AFA71CCD-C4CD-D555-DF30-151FCB8F03BA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5941896" y="276952"/>
            <a:ext cx="1078094" cy="221072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45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46" grpId="0" animBg="1"/>
      <p:bldP spid="47" grpId="0"/>
      <p:bldP spid="48" grpId="0"/>
      <p:bldP spid="50" grpId="0"/>
      <p:bldP spid="52" grpId="0"/>
      <p:bldP spid="53" grpId="0" animBg="1"/>
      <p:bldP spid="54" grpId="0"/>
      <p:bldP spid="55" grpId="0" animBg="1"/>
      <p:bldP spid="56" grpId="0"/>
      <p:bldP spid="57" grpId="0" animBg="1"/>
      <p:bldP spid="58" grpId="0"/>
      <p:bldP spid="60" grpId="0" animBg="1"/>
      <p:bldP spid="61" grpId="0"/>
      <p:bldP spid="63" grpId="0" animBg="1"/>
      <p:bldP spid="64" grpId="0"/>
      <p:bldP spid="65" grpId="0"/>
      <p:bldP spid="67" grpId="0"/>
      <p:bldP spid="68" grpId="0"/>
      <p:bldP spid="69" grpId="0"/>
      <p:bldP spid="70" grpId="0"/>
      <p:bldP spid="71" grpId="0"/>
      <p:bldP spid="72" grpId="0" animBg="1"/>
      <p:bldP spid="74" grpId="0"/>
      <p:bldP spid="75" grpId="0"/>
      <p:bldP spid="76" grpId="0" animBg="1"/>
      <p:bldP spid="77" grpId="0" animBg="1"/>
      <p:bldP spid="78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AA3C13-B653-04FC-25AC-39AA3DEF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Transformers </a:t>
            </a:r>
            <a:r>
              <a:rPr kumimoji="1" lang="zh-TW" altLang="en-US" dirty="0">
                <a:ea typeface="Microsoft JhengHei" panose="020B0604030504040204" pitchFamily="34" charset="-120"/>
              </a:rPr>
              <a:t>的權重值</a:t>
            </a:r>
            <a:r>
              <a:rPr kumimoji="1" lang="en-US" altLang="zh-TW" dirty="0">
                <a:ea typeface="Microsoft JhengHei" panose="020B0604030504040204" pitchFamily="34" charset="-120"/>
              </a:rPr>
              <a:t> (2/2)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5C7B03-2F89-183E-7768-69826AC7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BA7233D7-8027-5530-4D81-0B7985EBB2A2}"/>
              </a:ext>
            </a:extLst>
          </p:cNvPr>
          <p:cNvSpPr/>
          <p:nvPr/>
        </p:nvSpPr>
        <p:spPr>
          <a:xfrm>
            <a:off x="5816621" y="2282859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1DE79E5E-ADF9-CC6D-1AFD-3B1CEB17E57C}"/>
              </a:ext>
            </a:extLst>
          </p:cNvPr>
          <p:cNvSpPr/>
          <p:nvPr/>
        </p:nvSpPr>
        <p:spPr>
          <a:xfrm>
            <a:off x="6394098" y="2282859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F7C6F2F-C7CE-DA0A-404C-C3837FDBE455}"/>
              </a:ext>
            </a:extLst>
          </p:cNvPr>
          <p:cNvSpPr/>
          <p:nvPr/>
        </p:nvSpPr>
        <p:spPr>
          <a:xfrm>
            <a:off x="6975769" y="2282859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3C5D05F-8248-D78B-E139-80232082DBA9}"/>
              </a:ext>
            </a:extLst>
          </p:cNvPr>
          <p:cNvSpPr/>
          <p:nvPr/>
        </p:nvSpPr>
        <p:spPr>
          <a:xfrm rot="16200000">
            <a:off x="1025544" y="2263033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0439BA-F9EA-7A2A-A0DB-07808A6AF1D1}"/>
              </a:ext>
            </a:extLst>
          </p:cNvPr>
          <p:cNvSpPr txBox="1"/>
          <p:nvPr/>
        </p:nvSpPr>
        <p:spPr>
          <a:xfrm>
            <a:off x="1096904" y="2621976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211135A-FE15-2460-3B7A-8CFE643B1384}"/>
              </a:ext>
            </a:extLst>
          </p:cNvPr>
          <p:cNvSpPr/>
          <p:nvPr/>
        </p:nvSpPr>
        <p:spPr>
          <a:xfrm rot="16200000">
            <a:off x="1023758" y="2852807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09F2B71-040D-AF13-0B02-1457D308C460}"/>
              </a:ext>
            </a:extLst>
          </p:cNvPr>
          <p:cNvSpPr txBox="1"/>
          <p:nvPr/>
        </p:nvSpPr>
        <p:spPr>
          <a:xfrm>
            <a:off x="1095118" y="321175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9A8AB3F-E18D-7C06-592B-874FD6E2DF37}"/>
              </a:ext>
            </a:extLst>
          </p:cNvPr>
          <p:cNvSpPr/>
          <p:nvPr/>
        </p:nvSpPr>
        <p:spPr>
          <a:xfrm rot="16200000">
            <a:off x="1018522" y="1673258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7AD23E-311D-D665-741D-93EE60473046}"/>
              </a:ext>
            </a:extLst>
          </p:cNvPr>
          <p:cNvSpPr txBox="1"/>
          <p:nvPr/>
        </p:nvSpPr>
        <p:spPr>
          <a:xfrm>
            <a:off x="1089882" y="2032201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6415A89-E2C3-F2DE-517A-B1021B3747C4}"/>
              </a:ext>
            </a:extLst>
          </p:cNvPr>
          <p:cNvSpPr/>
          <p:nvPr/>
        </p:nvSpPr>
        <p:spPr>
          <a:xfrm rot="16200000">
            <a:off x="4201182" y="4962486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F38FA28-D565-1F12-C2EB-EF38B63F321F}"/>
              </a:ext>
            </a:extLst>
          </p:cNvPr>
          <p:cNvSpPr txBox="1"/>
          <p:nvPr/>
        </p:nvSpPr>
        <p:spPr>
          <a:xfrm>
            <a:off x="4272542" y="53214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EC60A673-B450-4070-819C-03D8995F15EB}"/>
              </a:ext>
            </a:extLst>
          </p:cNvPr>
          <p:cNvSpPr/>
          <p:nvPr/>
        </p:nvSpPr>
        <p:spPr>
          <a:xfrm rot="16200000">
            <a:off x="4199396" y="5552260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6A319F4-C02C-5FB0-D104-DF36FBD7842E}"/>
              </a:ext>
            </a:extLst>
          </p:cNvPr>
          <p:cNvSpPr txBox="1"/>
          <p:nvPr/>
        </p:nvSpPr>
        <p:spPr>
          <a:xfrm>
            <a:off x="4270756" y="591120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26D063D6-F87E-FE78-35A0-4D34497AEF6B}"/>
              </a:ext>
            </a:extLst>
          </p:cNvPr>
          <p:cNvSpPr/>
          <p:nvPr/>
        </p:nvSpPr>
        <p:spPr>
          <a:xfrm rot="16200000">
            <a:off x="4194160" y="4372711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4193FE4-07C0-DD2B-8452-FB6BFAC1173F}"/>
              </a:ext>
            </a:extLst>
          </p:cNvPr>
          <p:cNvSpPr txBox="1"/>
          <p:nvPr/>
        </p:nvSpPr>
        <p:spPr>
          <a:xfrm>
            <a:off x="4265520" y="473165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v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92B1429-2168-C6A4-E1AE-AE7E7248FD43}"/>
                  </a:ext>
                </a:extLst>
              </p:cNvPr>
              <p:cNvSpPr txBox="1"/>
              <p:nvPr/>
            </p:nvSpPr>
            <p:spPr>
              <a:xfrm>
                <a:off x="928786" y="1490037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B92B1429-2168-C6A4-E1AE-AE7E7248F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786" y="1490037"/>
                <a:ext cx="686909" cy="461665"/>
              </a:xfrm>
              <a:prstGeom prst="rect">
                <a:avLst/>
              </a:prstGeom>
              <a:blipFill>
                <a:blip r:embed="rId3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62943A1-16DC-34F1-E1D7-6C9A45C161DE}"/>
                  </a:ext>
                </a:extLst>
              </p:cNvPr>
              <p:cNvSpPr txBox="1"/>
              <p:nvPr/>
            </p:nvSpPr>
            <p:spPr>
              <a:xfrm>
                <a:off x="6348815" y="149626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400" b="0" i="1" baseline="3000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baseline="30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62943A1-16DC-34F1-E1D7-6C9A45C16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815" y="1496262"/>
                <a:ext cx="68690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720FCA0-05B6-52D3-CD1A-09B315C78B70}"/>
                  </a:ext>
                </a:extLst>
              </p:cNvPr>
              <p:cNvSpPr txBox="1"/>
              <p:nvPr/>
            </p:nvSpPr>
            <p:spPr>
              <a:xfrm>
                <a:off x="4126600" y="4186152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720FCA0-05B6-52D3-CD1A-09B315C78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600" y="4186152"/>
                <a:ext cx="686909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051B7684-70C7-182C-2CAC-28F6F0C5E7E8}"/>
              </a:ext>
            </a:extLst>
          </p:cNvPr>
          <p:cNvSpPr txBox="1"/>
          <p:nvPr/>
        </p:nvSpPr>
        <p:spPr>
          <a:xfrm>
            <a:off x="4113238" y="6360005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d</a:t>
            </a:r>
            <a:r>
              <a:rPr kumimoji="1" lang="en-US" altLang="zh-TW" baseline="-25000" dirty="0"/>
              <a:t>v</a:t>
            </a:r>
            <a:endParaRPr kumimoji="1" lang="zh-TW" altLang="en-US" baseline="-25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68FA7D-E8DC-BAB9-D3C8-0C5C2842C13F}"/>
              </a:ext>
            </a:extLst>
          </p:cNvPr>
          <p:cNvSpPr txBox="1"/>
          <p:nvPr/>
        </p:nvSpPr>
        <p:spPr>
          <a:xfrm>
            <a:off x="901723" y="3684702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EF29E84-A2E9-6D78-5426-C84E276AD8CE}"/>
              </a:ext>
            </a:extLst>
          </p:cNvPr>
          <p:cNvSpPr txBox="1"/>
          <p:nvPr/>
        </p:nvSpPr>
        <p:spPr>
          <a:xfrm>
            <a:off x="6307529" y="3684702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</a:t>
            </a:r>
            <a:r>
              <a:rPr kumimoji="1" lang="en-US" altLang="zh-TW" baseline="-25000" dirty="0"/>
              <a:t>k </a:t>
            </a:r>
            <a:r>
              <a:rPr kumimoji="1" lang="en-US" altLang="zh-TW" dirty="0"/>
              <a:t>x N</a:t>
            </a:r>
            <a:endParaRPr kumimoji="1" lang="zh-TW" altLang="en-US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A691098B-E24E-2838-7B69-363BDBEC591B}"/>
              </a:ext>
            </a:extLst>
          </p:cNvPr>
          <p:cNvSpPr/>
          <p:nvPr/>
        </p:nvSpPr>
        <p:spPr>
          <a:xfrm rot="16200000">
            <a:off x="2508566" y="2263034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EFC31714-82BC-0BA3-C0EA-9E44F142CE54}"/>
              </a:ext>
            </a:extLst>
          </p:cNvPr>
          <p:cNvSpPr txBox="1"/>
          <p:nvPr/>
        </p:nvSpPr>
        <p:spPr>
          <a:xfrm>
            <a:off x="2579926" y="2621977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5F2415F1-C5A5-29CD-5B6B-4924B0DF6285}"/>
              </a:ext>
            </a:extLst>
          </p:cNvPr>
          <p:cNvSpPr/>
          <p:nvPr/>
        </p:nvSpPr>
        <p:spPr>
          <a:xfrm rot="16200000">
            <a:off x="2506780" y="2852808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522759D-9144-D96A-7B98-1171A439F1AA}"/>
              </a:ext>
            </a:extLst>
          </p:cNvPr>
          <p:cNvSpPr txBox="1"/>
          <p:nvPr/>
        </p:nvSpPr>
        <p:spPr>
          <a:xfrm>
            <a:off x="2578140" y="3211751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40AABE49-99C0-23D9-7D71-CFD96B73AC05}"/>
              </a:ext>
            </a:extLst>
          </p:cNvPr>
          <p:cNvSpPr/>
          <p:nvPr/>
        </p:nvSpPr>
        <p:spPr>
          <a:xfrm rot="16200000">
            <a:off x="2501544" y="1673259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88760E6-0B08-3959-8A3E-2B1BAE98726E}"/>
              </a:ext>
            </a:extLst>
          </p:cNvPr>
          <p:cNvSpPr txBox="1"/>
          <p:nvPr/>
        </p:nvSpPr>
        <p:spPr>
          <a:xfrm>
            <a:off x="2572904" y="2032202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2A2D9B1-CA6D-6F44-D0C3-54123B988D5F}"/>
              </a:ext>
            </a:extLst>
          </p:cNvPr>
          <p:cNvSpPr txBox="1"/>
          <p:nvPr/>
        </p:nvSpPr>
        <p:spPr>
          <a:xfrm>
            <a:off x="2229897" y="368470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33" name="圓角矩形 32">
            <a:extLst>
              <a:ext uri="{FF2B5EF4-FFF2-40B4-BE49-F238E27FC236}">
                <a16:creationId xmlns:a16="http://schemas.microsoft.com/office/drawing/2014/main" id="{571D26EE-D335-D656-06E9-2DBDCCDE63FA}"/>
              </a:ext>
            </a:extLst>
          </p:cNvPr>
          <p:cNvSpPr/>
          <p:nvPr/>
        </p:nvSpPr>
        <p:spPr>
          <a:xfrm rot="16200000">
            <a:off x="3391093" y="1956826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5C0AD2F-197E-788C-77B9-F4243EE4A6B3}"/>
              </a:ext>
            </a:extLst>
          </p:cNvPr>
          <p:cNvSpPr txBox="1"/>
          <p:nvPr/>
        </p:nvSpPr>
        <p:spPr>
          <a:xfrm>
            <a:off x="3564301" y="3684702"/>
            <a:ext cx="138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1495D93-286A-63BB-892E-A0CB050E7C02}"/>
              </a:ext>
            </a:extLst>
          </p:cNvPr>
          <p:cNvSpPr txBox="1"/>
          <p:nvPr/>
        </p:nvSpPr>
        <p:spPr>
          <a:xfrm>
            <a:off x="3933454" y="2612847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Q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C580728A-CCC7-9510-699E-4BCADB4DE44A}"/>
              </a:ext>
            </a:extLst>
          </p:cNvPr>
          <p:cNvSpPr txBox="1"/>
          <p:nvPr/>
        </p:nvSpPr>
        <p:spPr>
          <a:xfrm>
            <a:off x="1772982" y="2478736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37" name="圓角矩形 36">
            <a:extLst>
              <a:ext uri="{FF2B5EF4-FFF2-40B4-BE49-F238E27FC236}">
                <a16:creationId xmlns:a16="http://schemas.microsoft.com/office/drawing/2014/main" id="{E90D4509-3FDA-3935-C4F9-459D9F32A524}"/>
              </a:ext>
            </a:extLst>
          </p:cNvPr>
          <p:cNvSpPr/>
          <p:nvPr/>
        </p:nvSpPr>
        <p:spPr>
          <a:xfrm rot="16200000">
            <a:off x="5817951" y="4967253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42D479B-3BD9-F0E7-92AA-77DE33C5CAD9}"/>
              </a:ext>
            </a:extLst>
          </p:cNvPr>
          <p:cNvSpPr txBox="1"/>
          <p:nvPr/>
        </p:nvSpPr>
        <p:spPr>
          <a:xfrm>
            <a:off x="5889311" y="5326196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EC4EFC26-6800-51E4-8108-7BC79E6F0D94}"/>
              </a:ext>
            </a:extLst>
          </p:cNvPr>
          <p:cNvSpPr/>
          <p:nvPr/>
        </p:nvSpPr>
        <p:spPr>
          <a:xfrm rot="16200000">
            <a:off x="5816165" y="555702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8141522C-08A2-4981-B050-DC821CEC64BF}"/>
              </a:ext>
            </a:extLst>
          </p:cNvPr>
          <p:cNvSpPr txBox="1"/>
          <p:nvPr/>
        </p:nvSpPr>
        <p:spPr>
          <a:xfrm>
            <a:off x="5887525" y="591597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C78ED41E-C2D2-A47C-7AA0-2FC66B070E0F}"/>
              </a:ext>
            </a:extLst>
          </p:cNvPr>
          <p:cNvSpPr/>
          <p:nvPr/>
        </p:nvSpPr>
        <p:spPr>
          <a:xfrm rot="16200000">
            <a:off x="5810929" y="4377478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BDCB82A-E8C6-44F9-30D7-C1F01EC66F1D}"/>
              </a:ext>
            </a:extLst>
          </p:cNvPr>
          <p:cNvSpPr txBox="1"/>
          <p:nvPr/>
        </p:nvSpPr>
        <p:spPr>
          <a:xfrm>
            <a:off x="5882289" y="4736421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7874C4A8-6274-5C53-883E-25AD87003978}"/>
              </a:ext>
            </a:extLst>
          </p:cNvPr>
          <p:cNvSpPr/>
          <p:nvPr/>
        </p:nvSpPr>
        <p:spPr>
          <a:xfrm rot="16200000">
            <a:off x="6683552" y="4656665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8DDCBB80-632C-092F-3C60-95A79EB10447}"/>
              </a:ext>
            </a:extLst>
          </p:cNvPr>
          <p:cNvSpPr txBox="1"/>
          <p:nvPr/>
        </p:nvSpPr>
        <p:spPr>
          <a:xfrm>
            <a:off x="7225913" y="5312686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V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2CB29ED-F72E-131D-99F0-9C1F3619669A}"/>
              </a:ext>
            </a:extLst>
          </p:cNvPr>
          <p:cNvSpPr txBox="1"/>
          <p:nvPr/>
        </p:nvSpPr>
        <p:spPr>
          <a:xfrm>
            <a:off x="6975770" y="6407570"/>
            <a:ext cx="1359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v</a:t>
            </a:r>
            <a:endParaRPr kumimoji="1" lang="zh-TW" altLang="en-US" baseline="-250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16BB1430-DDA7-74F3-01A4-EE772C975878}"/>
              </a:ext>
            </a:extLst>
          </p:cNvPr>
          <p:cNvSpPr txBox="1"/>
          <p:nvPr/>
        </p:nvSpPr>
        <p:spPr>
          <a:xfrm>
            <a:off x="5548063" y="6407570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82DFA2D-DE0D-0321-47F4-997D2F4B9596}"/>
              </a:ext>
            </a:extLst>
          </p:cNvPr>
          <p:cNvSpPr txBox="1"/>
          <p:nvPr/>
        </p:nvSpPr>
        <p:spPr>
          <a:xfrm>
            <a:off x="4987360" y="5220352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DECEF77-DEDF-1937-F350-F924B0117FA1}"/>
              </a:ext>
            </a:extLst>
          </p:cNvPr>
          <p:cNvSpPr txBox="1"/>
          <p:nvPr/>
        </p:nvSpPr>
        <p:spPr>
          <a:xfrm>
            <a:off x="9874086" y="3684702"/>
            <a:ext cx="123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d</a:t>
            </a:r>
            <a:r>
              <a:rPr kumimoji="1" lang="en-US" altLang="zh-TW" baseline="-25000" dirty="0"/>
              <a:t>k</a:t>
            </a:r>
            <a:endParaRPr kumimoji="1" lang="zh-TW" altLang="en-US" baseline="-250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9F4BA553-160F-0794-9506-C4029FE6AEBB}"/>
              </a:ext>
            </a:extLst>
          </p:cNvPr>
          <p:cNvSpPr txBox="1"/>
          <p:nvPr/>
        </p:nvSpPr>
        <p:spPr>
          <a:xfrm>
            <a:off x="8469310" y="368470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50" name="圓角矩形 49">
            <a:extLst>
              <a:ext uri="{FF2B5EF4-FFF2-40B4-BE49-F238E27FC236}">
                <a16:creationId xmlns:a16="http://schemas.microsoft.com/office/drawing/2014/main" id="{9AF9B271-4680-0343-57D0-1D7869B15FE2}"/>
              </a:ext>
            </a:extLst>
          </p:cNvPr>
          <p:cNvSpPr/>
          <p:nvPr/>
        </p:nvSpPr>
        <p:spPr>
          <a:xfrm rot="16200000">
            <a:off x="8715952" y="2283371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3C0466D-73A7-5734-6A24-D74002DF8F7E}"/>
              </a:ext>
            </a:extLst>
          </p:cNvPr>
          <p:cNvSpPr txBox="1"/>
          <p:nvPr/>
        </p:nvSpPr>
        <p:spPr>
          <a:xfrm>
            <a:off x="8787312" y="264231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6DAAA412-8054-B36F-2765-2C509F010F82}"/>
              </a:ext>
            </a:extLst>
          </p:cNvPr>
          <p:cNvSpPr/>
          <p:nvPr/>
        </p:nvSpPr>
        <p:spPr>
          <a:xfrm rot="16200000">
            <a:off x="8714166" y="2873145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5BC683B-06F7-89D1-4B90-369095EF00D3}"/>
              </a:ext>
            </a:extLst>
          </p:cNvPr>
          <p:cNvSpPr txBox="1"/>
          <p:nvPr/>
        </p:nvSpPr>
        <p:spPr>
          <a:xfrm>
            <a:off x="8785526" y="323208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77E2D64E-3B9A-0C90-7B1B-E55EFDB735B3}"/>
              </a:ext>
            </a:extLst>
          </p:cNvPr>
          <p:cNvSpPr/>
          <p:nvPr/>
        </p:nvSpPr>
        <p:spPr>
          <a:xfrm rot="16200000">
            <a:off x="8708930" y="1693596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2E8A2073-7114-12D0-9A45-C318D4D42075}"/>
              </a:ext>
            </a:extLst>
          </p:cNvPr>
          <p:cNvSpPr txBox="1"/>
          <p:nvPr/>
        </p:nvSpPr>
        <p:spPr>
          <a:xfrm>
            <a:off x="8780290" y="205253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EB3B477A-9F38-FACD-87CF-7CE34A5E7222}"/>
              </a:ext>
            </a:extLst>
          </p:cNvPr>
          <p:cNvSpPr/>
          <p:nvPr/>
        </p:nvSpPr>
        <p:spPr>
          <a:xfrm rot="16200000">
            <a:off x="9598479" y="1977163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17376D16-2168-85B9-9751-887E7245AC78}"/>
              </a:ext>
            </a:extLst>
          </p:cNvPr>
          <p:cNvSpPr txBox="1"/>
          <p:nvPr/>
        </p:nvSpPr>
        <p:spPr>
          <a:xfrm>
            <a:off x="10140840" y="2633184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K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9391E5E-DDDC-8167-1642-FFDB05F83676}"/>
              </a:ext>
            </a:extLst>
          </p:cNvPr>
          <p:cNvSpPr txBox="1"/>
          <p:nvPr/>
        </p:nvSpPr>
        <p:spPr>
          <a:xfrm>
            <a:off x="7756544" y="1600675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(</a:t>
            </a:r>
            <a:endParaRPr kumimoji="1" lang="zh-TW" altLang="en-US" sz="138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F5ED974-471F-FB06-B615-0498742C2234}"/>
              </a:ext>
            </a:extLst>
          </p:cNvPr>
          <p:cNvSpPr txBox="1"/>
          <p:nvPr/>
        </p:nvSpPr>
        <p:spPr>
          <a:xfrm>
            <a:off x="11151076" y="1600674"/>
            <a:ext cx="4204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dirty="0"/>
              <a:t>)</a:t>
            </a:r>
            <a:endParaRPr kumimoji="1" lang="zh-TW" altLang="en-US" sz="1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0031901-CC8B-414C-C2F7-F6C600283772}"/>
                  </a:ext>
                </a:extLst>
              </p:cNvPr>
              <p:cNvSpPr txBox="1"/>
              <p:nvPr/>
            </p:nvSpPr>
            <p:spPr>
              <a:xfrm>
                <a:off x="11375257" y="1889505"/>
                <a:ext cx="686909" cy="513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800" baseline="30000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D0031901-CC8B-414C-C2F7-F6C600283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5257" y="1889505"/>
                <a:ext cx="686909" cy="5132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60">
            <a:extLst>
              <a:ext uri="{FF2B5EF4-FFF2-40B4-BE49-F238E27FC236}">
                <a16:creationId xmlns:a16="http://schemas.microsoft.com/office/drawing/2014/main" id="{FEE59A29-ED88-1DA6-BEC5-BD762B3177BB}"/>
              </a:ext>
            </a:extLst>
          </p:cNvPr>
          <p:cNvSpPr txBox="1"/>
          <p:nvPr/>
        </p:nvSpPr>
        <p:spPr>
          <a:xfrm>
            <a:off x="7487841" y="2511451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AB6A7DA7-2EB3-7C56-60E2-9B80CAE03A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645" y="764395"/>
            <a:ext cx="2972804" cy="54317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76743F71-D218-246F-7E68-03BE4A4A096C}"/>
              </a:ext>
            </a:extLst>
          </p:cNvPr>
          <p:cNvSpPr txBox="1"/>
          <p:nvPr/>
        </p:nvSpPr>
        <p:spPr>
          <a:xfrm>
            <a:off x="7019990" y="92286"/>
            <a:ext cx="207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可以被訓練的參數</a:t>
            </a:r>
            <a:endParaRPr kumimoji="1" lang="en-US" altLang="zh-TW" dirty="0">
              <a:solidFill>
                <a:srgbClr val="FF0000"/>
              </a:solidFill>
            </a:endParaRPr>
          </a:p>
        </p:txBody>
      </p:sp>
      <p:cxnSp>
        <p:nvCxnSpPr>
          <p:cNvPr id="63" name="肘形接點 62">
            <a:extLst>
              <a:ext uri="{FF2B5EF4-FFF2-40B4-BE49-F238E27FC236}">
                <a16:creationId xmlns:a16="http://schemas.microsoft.com/office/drawing/2014/main" id="{B1E9D7FC-0C9F-A734-6796-593F19C9A9AE}"/>
              </a:ext>
            </a:extLst>
          </p:cNvPr>
          <p:cNvCxnSpPr>
            <a:stCxn id="3" idx="1"/>
          </p:cNvCxnSpPr>
          <p:nvPr/>
        </p:nvCxnSpPr>
        <p:spPr>
          <a:xfrm rot="10800000" flipV="1">
            <a:off x="5941896" y="276952"/>
            <a:ext cx="1078094" cy="221072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997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8C6C47-A75A-67B1-8BA1-67AA4150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Self-attention </a:t>
            </a:r>
            <a:r>
              <a:rPr kumimoji="1" lang="zh-TW" altLang="en-US" dirty="0"/>
              <a:t>的公式與縮放項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325A49-BA11-4ECC-4198-978BEF30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885DF9D-C6F6-0AE9-9D6D-776DBE80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322" y="1776364"/>
            <a:ext cx="3585013" cy="447426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D94DDF0-F45F-C7B1-C063-387CF957D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35" y="3429000"/>
            <a:ext cx="4685336" cy="8560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3E20DBB-A5A1-5852-FC59-B7B0FB9BA199}"/>
              </a:ext>
            </a:extLst>
          </p:cNvPr>
          <p:cNvSpPr/>
          <p:nvPr/>
        </p:nvSpPr>
        <p:spPr>
          <a:xfrm>
            <a:off x="3209731" y="4544008"/>
            <a:ext cx="1343608" cy="5225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93F75E-48C4-DF0C-629D-48881BC04322}"/>
              </a:ext>
            </a:extLst>
          </p:cNvPr>
          <p:cNvSpPr/>
          <p:nvPr/>
        </p:nvSpPr>
        <p:spPr>
          <a:xfrm>
            <a:off x="9660294" y="3894367"/>
            <a:ext cx="538065" cy="3230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021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42" idx="2"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3439714" y="2229593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3CEEF3A-096B-368A-D6CC-5F0A6A8D6DE8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1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F61E927-F1BF-1314-8AC2-702FA4015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478" y="1426473"/>
            <a:ext cx="4222424" cy="77150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33C50B8-9BD1-D00A-2EF3-781F6A2F057C}"/>
              </a:ext>
            </a:extLst>
          </p:cNvPr>
          <p:cNvSpPr/>
          <p:nvPr/>
        </p:nvSpPr>
        <p:spPr>
          <a:xfrm>
            <a:off x="9619862" y="1454871"/>
            <a:ext cx="1558211" cy="733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86DEAD-FA87-C1F0-E50E-BE3487F6451D}"/>
              </a:ext>
            </a:extLst>
          </p:cNvPr>
          <p:cNvSpPr/>
          <p:nvPr/>
        </p:nvSpPr>
        <p:spPr>
          <a:xfrm>
            <a:off x="11273006" y="1604865"/>
            <a:ext cx="217565" cy="3732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0E6BF5C-B62E-25F3-AB39-7B27780D4D11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7FED66AA-9E1A-5D23-1889-0AABB774924A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C8ECCC90-BA61-4BA8-3547-B5D4BE8FC30A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8DD4E539-4901-EC90-FBAA-AC3C72481221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CF62877C-3A81-4C56-66B9-B9C645F717A6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AFB9D7F8-F31B-8108-B8D8-59415B5D946F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A514D6E9-DAA7-FF13-C883-4D95D366E449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E2B232B3-E2A0-7183-74D1-AA769D5C8245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B01B2022-D8B2-B48A-9B75-1101E912AEFC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B6605E7B-90DB-890F-71DB-78A04F50D04E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43" name="圓角矩形 42">
            <a:extLst>
              <a:ext uri="{FF2B5EF4-FFF2-40B4-BE49-F238E27FC236}">
                <a16:creationId xmlns:a16="http://schemas.microsoft.com/office/drawing/2014/main" id="{2AC6C5AC-D588-467F-3F4F-C4B9DB6CF877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2AEE2374-BE02-1A8E-12AC-AF679BD85950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151401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9" grpId="0"/>
      <p:bldP spid="8" grpId="0" animBg="1"/>
      <p:bldP spid="8" grpId="1" animBg="1"/>
      <p:bldP spid="10" grpId="0" animBg="1"/>
      <p:bldP spid="10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Query (Q), Key (K), and Value (V)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3963050" y="5624190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3875048" y="4321363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2085975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56247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703508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3</a:t>
            </a:r>
            <a:endParaRPr kumimoji="1" lang="zh-TW" altLang="en-US" sz="2200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2C36422D-8D63-CA3B-5137-8C605787F43A}"/>
              </a:ext>
            </a:extLst>
          </p:cNvPr>
          <p:cNvSpPr/>
          <p:nvPr/>
        </p:nvSpPr>
        <p:spPr>
          <a:xfrm>
            <a:off x="9407741" y="310457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a</a:t>
            </a:r>
            <a:r>
              <a:rPr kumimoji="1" lang="en-US" altLang="zh-TW" sz="2200" baseline="-25000" dirty="0"/>
              <a:t>4</a:t>
            </a:r>
            <a:endParaRPr kumimoji="1" lang="zh-TW" altLang="en-US" sz="2200" baseline="-25000" dirty="0"/>
          </a:p>
        </p:txBody>
      </p:sp>
      <p:sp>
        <p:nvSpPr>
          <p:cNvPr id="42" name="圓角矩形 41">
            <a:extLst>
              <a:ext uri="{FF2B5EF4-FFF2-40B4-BE49-F238E27FC236}">
                <a16:creationId xmlns:a16="http://schemas.microsoft.com/office/drawing/2014/main" id="{0D34AF9D-E022-1513-BACF-34016A7B9AE1}"/>
              </a:ext>
            </a:extLst>
          </p:cNvPr>
          <p:cNvSpPr/>
          <p:nvPr/>
        </p:nvSpPr>
        <p:spPr>
          <a:xfrm>
            <a:off x="2090592" y="1707483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接點 78">
            <a:extLst>
              <a:ext uri="{FF2B5EF4-FFF2-40B4-BE49-F238E27FC236}">
                <a16:creationId xmlns:a16="http://schemas.microsoft.com/office/drawing/2014/main" id="{4327E1C5-B662-6BB4-6B62-40A5A99FBE6D}"/>
              </a:ext>
            </a:extLst>
          </p:cNvPr>
          <p:cNvCxnSpPr>
            <a:cxnSpLocks/>
            <a:stCxn id="3" idx="2"/>
            <a:endCxn id="29" idx="0"/>
          </p:cNvCxnSpPr>
          <p:nvPr/>
        </p:nvCxnSpPr>
        <p:spPr>
          <a:xfrm rot="16200000" flipH="1">
            <a:off x="5203409" y="1899671"/>
            <a:ext cx="606442" cy="135262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5DC2FBD7-A1EE-AA47-3C6B-FAE67A12BD47}"/>
              </a:ext>
            </a:extLst>
          </p:cNvPr>
          <p:cNvSpPr txBox="1"/>
          <p:nvPr/>
        </p:nvSpPr>
        <p:spPr>
          <a:xfrm>
            <a:off x="5363719" y="2194779"/>
            <a:ext cx="175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798C23A6-D724-6810-F30D-DBB666BE34E6}"/>
              </a:ext>
            </a:extLst>
          </p:cNvPr>
          <p:cNvSpPr/>
          <p:nvPr/>
        </p:nvSpPr>
        <p:spPr>
          <a:xfrm>
            <a:off x="4563619" y="1710786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2</a:t>
            </a:r>
            <a:endParaRPr kumimoji="1" lang="zh-TW" altLang="en-US" sz="22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170A659-6516-E18F-F9E6-BB63DF97EE16}"/>
              </a:ext>
            </a:extLst>
          </p:cNvPr>
          <p:cNvSpPr txBox="1"/>
          <p:nvPr/>
        </p:nvSpPr>
        <p:spPr>
          <a:xfrm>
            <a:off x="5861035" y="2879203"/>
            <a:ext cx="643812" cy="394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33FC077-B966-4BC5-CB81-CD8E7A4A66A7}"/>
              </a:ext>
            </a:extLst>
          </p:cNvPr>
          <p:cNvSpPr txBox="1"/>
          <p:nvPr/>
        </p:nvSpPr>
        <p:spPr>
          <a:xfrm>
            <a:off x="373627" y="1422809"/>
            <a:ext cx="111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t = 2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9CD860-E77A-D841-66FD-09B16626B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478" y="1426473"/>
            <a:ext cx="4222424" cy="77150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2F17A5E-0CD0-8FD1-B7FD-8538C3C71ED6}"/>
              </a:ext>
            </a:extLst>
          </p:cNvPr>
          <p:cNvSpPr/>
          <p:nvPr/>
        </p:nvSpPr>
        <p:spPr>
          <a:xfrm>
            <a:off x="9619862" y="1454871"/>
            <a:ext cx="1558211" cy="733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BB4326-1B2F-F5E7-4915-49A065F1AF76}"/>
              </a:ext>
            </a:extLst>
          </p:cNvPr>
          <p:cNvSpPr/>
          <p:nvPr/>
        </p:nvSpPr>
        <p:spPr>
          <a:xfrm>
            <a:off x="11273006" y="1604865"/>
            <a:ext cx="217565" cy="3732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3C3B79E8-AD22-2830-EAC0-5E39C4997D9A}"/>
              </a:ext>
            </a:extLst>
          </p:cNvPr>
          <p:cNvSpPr/>
          <p:nvPr/>
        </p:nvSpPr>
        <p:spPr>
          <a:xfrm>
            <a:off x="14354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DAE3B48B-8398-C53D-7BAE-1B954653479F}"/>
              </a:ext>
            </a:extLst>
          </p:cNvPr>
          <p:cNvSpPr/>
          <p:nvPr/>
        </p:nvSpPr>
        <p:spPr>
          <a:xfrm>
            <a:off x="21072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8E271F4-B940-BD15-D999-84605C86BBFF}"/>
              </a:ext>
            </a:extLst>
          </p:cNvPr>
          <p:cNvSpPr/>
          <p:nvPr/>
        </p:nvSpPr>
        <p:spPr>
          <a:xfrm>
            <a:off x="27790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06AAD4D1-A6F3-8042-3B6F-D715C8169663}"/>
              </a:ext>
            </a:extLst>
          </p:cNvPr>
          <p:cNvSpPr/>
          <p:nvPr/>
        </p:nvSpPr>
        <p:spPr>
          <a:xfrm>
            <a:off x="3911941" y="4541496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6A78D0EA-F64D-9934-FE5A-F2D83668B41B}"/>
              </a:ext>
            </a:extLst>
          </p:cNvPr>
          <p:cNvSpPr/>
          <p:nvPr/>
        </p:nvSpPr>
        <p:spPr>
          <a:xfrm>
            <a:off x="458375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B5AC6563-DF15-4088-9B82-7E18AB7B6CAB}"/>
              </a:ext>
            </a:extLst>
          </p:cNvPr>
          <p:cNvSpPr/>
          <p:nvPr/>
        </p:nvSpPr>
        <p:spPr>
          <a:xfrm>
            <a:off x="525556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9C3F8AE-1CA9-9400-1081-D721DEB4EDFE}"/>
              </a:ext>
            </a:extLst>
          </p:cNvPr>
          <p:cNvSpPr/>
          <p:nvPr/>
        </p:nvSpPr>
        <p:spPr>
          <a:xfrm>
            <a:off x="6388441" y="4541495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7D99A817-A28C-F147-C840-9955158F4853}"/>
              </a:ext>
            </a:extLst>
          </p:cNvPr>
          <p:cNvSpPr/>
          <p:nvPr/>
        </p:nvSpPr>
        <p:spPr>
          <a:xfrm>
            <a:off x="706025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D17695EF-B8F3-9CAB-DD1F-95CE77063A64}"/>
              </a:ext>
            </a:extLst>
          </p:cNvPr>
          <p:cNvSpPr/>
          <p:nvPr/>
        </p:nvSpPr>
        <p:spPr>
          <a:xfrm>
            <a:off x="773206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51" name="圓角矩形 50">
            <a:extLst>
              <a:ext uri="{FF2B5EF4-FFF2-40B4-BE49-F238E27FC236}">
                <a16:creationId xmlns:a16="http://schemas.microsoft.com/office/drawing/2014/main" id="{49F15B57-9EC3-E20D-E251-239221BED53D}"/>
              </a:ext>
            </a:extLst>
          </p:cNvPr>
          <p:cNvSpPr/>
          <p:nvPr/>
        </p:nvSpPr>
        <p:spPr>
          <a:xfrm>
            <a:off x="8757207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52" name="圓角矩形 51">
            <a:extLst>
              <a:ext uri="{FF2B5EF4-FFF2-40B4-BE49-F238E27FC236}">
                <a16:creationId xmlns:a16="http://schemas.microsoft.com/office/drawing/2014/main" id="{F01B82BA-B1B5-C597-6033-B59AAE058B92}"/>
              </a:ext>
            </a:extLst>
          </p:cNvPr>
          <p:cNvSpPr/>
          <p:nvPr/>
        </p:nvSpPr>
        <p:spPr>
          <a:xfrm>
            <a:off x="9429021" y="4545349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6D7A1D69-CDC1-B514-2B00-4F9167D4FF96}"/>
              </a:ext>
            </a:extLst>
          </p:cNvPr>
          <p:cNvSpPr/>
          <p:nvPr/>
        </p:nvSpPr>
        <p:spPr>
          <a:xfrm>
            <a:off x="10100835" y="4545348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113357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9" grpId="0"/>
      <p:bldP spid="3" grpId="0" animBg="1"/>
      <p:bldP spid="6" grpId="0" animBg="1"/>
      <p:bldP spid="6" grpId="1" animBg="1"/>
      <p:bldP spid="7" grpId="0" animBg="1"/>
      <p:bldP spid="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95AC75-7511-5747-8B0E-C3D022BE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Self-Attention (Transformer)</a:t>
            </a:r>
            <a:r>
              <a:rPr kumimoji="1" lang="zh-TW" altLang="en-US" dirty="0"/>
              <a:t> 過程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198081-C049-BBE5-9674-DDAE6BD4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6A606F1-C0F0-DFB8-A11C-122FBFCF2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94" y="1842003"/>
            <a:ext cx="9603412" cy="487084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EC12656-76DC-CFCA-B98A-5B8448F3BEC2}"/>
              </a:ext>
            </a:extLst>
          </p:cNvPr>
          <p:cNvSpPr txBox="1"/>
          <p:nvPr/>
        </p:nvSpPr>
        <p:spPr>
          <a:xfrm>
            <a:off x="8052620" y="1411626"/>
            <a:ext cx="3657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50" dirty="0"/>
              <a:t>Vaswani et al. "Attention is all you need." </a:t>
            </a:r>
            <a:r>
              <a:rPr kumimoji="1" lang="en" altLang="zh-TW" sz="1050" dirty="0" err="1"/>
              <a:t>NeurIPS</a:t>
            </a:r>
            <a:r>
              <a:rPr kumimoji="1" lang="en" altLang="zh-TW" sz="1050" dirty="0"/>
              <a:t> 2017.</a:t>
            </a:r>
          </a:p>
          <a:p>
            <a:r>
              <a:rPr kumimoji="1" lang="en" altLang="zh-TW" sz="1050" dirty="0"/>
              <a:t>https://</a:t>
            </a:r>
            <a:r>
              <a:rPr kumimoji="1" lang="en" altLang="zh-TW" sz="1050" dirty="0" err="1"/>
              <a:t>research.google</a:t>
            </a:r>
            <a:r>
              <a:rPr kumimoji="1" lang="en" altLang="zh-TW" sz="1050" dirty="0"/>
              <a:t>/blog/transformer-a-novel-neural-network-architecture-for-language-understanding/</a:t>
            </a:r>
            <a:endParaRPr kumimoji="1" lang="zh-TW" alt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筆跡 2">
                <a:extLst>
                  <a:ext uri="{FF2B5EF4-FFF2-40B4-BE49-F238E27FC236}">
                    <a16:creationId xmlns:a16="http://schemas.microsoft.com/office/drawing/2014/main" id="{1E8D8A60-206B-9359-50C3-33F99346807F}"/>
                  </a:ext>
                </a:extLst>
              </p14:cNvPr>
              <p14:cNvContentPartPr/>
              <p14:nvPr/>
            </p14:nvContentPartPr>
            <p14:xfrm>
              <a:off x="8267760" y="5086440"/>
              <a:ext cx="12960" cy="360"/>
            </p14:xfrm>
          </p:contentPart>
        </mc:Choice>
        <mc:Fallback xmlns="">
          <p:pic>
            <p:nvPicPr>
              <p:cNvPr id="3" name="筆跡 2">
                <a:extLst>
                  <a:ext uri="{FF2B5EF4-FFF2-40B4-BE49-F238E27FC236}">
                    <a16:creationId xmlns:a16="http://schemas.microsoft.com/office/drawing/2014/main" id="{1E8D8A60-206B-9359-50C3-33F9934680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8400" y="5077080"/>
                <a:ext cx="316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3559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42775-BA93-B785-6304-578382A8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A711A-1FB9-8768-018A-D99C7331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Self-Attention (Transformer)</a:t>
            </a:r>
            <a:r>
              <a:rPr kumimoji="1" lang="zh-TW" altLang="en-US" dirty="0"/>
              <a:t> 過程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514E42-B09E-5F46-7BFA-63FA2E33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A629FF2-8D4F-082B-664E-C31B58B34C84}"/>
              </a:ext>
            </a:extLst>
          </p:cNvPr>
          <p:cNvSpPr txBox="1"/>
          <p:nvPr/>
        </p:nvSpPr>
        <p:spPr>
          <a:xfrm>
            <a:off x="8052620" y="1411626"/>
            <a:ext cx="36576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50" dirty="0"/>
              <a:t>Vaswani et al. "Attention is all you need." </a:t>
            </a:r>
            <a:r>
              <a:rPr kumimoji="1" lang="en" altLang="zh-TW" sz="1050" dirty="0" err="1"/>
              <a:t>NeurIPS</a:t>
            </a:r>
            <a:r>
              <a:rPr kumimoji="1" lang="en" altLang="zh-TW" sz="1050" dirty="0"/>
              <a:t> 2017.</a:t>
            </a:r>
          </a:p>
          <a:p>
            <a:r>
              <a:rPr kumimoji="1" lang="en" altLang="zh-TW" sz="1050" dirty="0"/>
              <a:t>https://</a:t>
            </a:r>
            <a:r>
              <a:rPr kumimoji="1" lang="en" altLang="zh-TW" sz="1050" dirty="0" err="1"/>
              <a:t>research.google</a:t>
            </a:r>
            <a:r>
              <a:rPr kumimoji="1" lang="en" altLang="zh-TW" sz="1050" dirty="0"/>
              <a:t>/blog/transformer-a-novel-neural-network-architecture-for-language-understanding/</a:t>
            </a:r>
            <a:endParaRPr kumimoji="1" lang="zh-TW" altLang="en-US" sz="105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F7FD14F-720C-3F78-78DF-32503652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57" y="1836807"/>
            <a:ext cx="9714486" cy="4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53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3973B-891B-BADF-F9F1-501CAC8A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Self-attention </a:t>
            </a:r>
            <a:r>
              <a:rPr kumimoji="1" lang="zh-TW" altLang="en-US" dirty="0"/>
              <a:t>動畫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5686C8-8BF9-08B0-E400-DDDA8D21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圖片 5" descr="一張含有 白色, 設計 的圖片&#10;&#10;自動產生的描述">
            <a:extLst>
              <a:ext uri="{FF2B5EF4-FFF2-40B4-BE49-F238E27FC236}">
                <a16:creationId xmlns:a16="http://schemas.microsoft.com/office/drawing/2014/main" id="{651379A5-8D19-AE8E-759F-03DE6AC62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709" y="1614196"/>
            <a:ext cx="5760582" cy="509451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B53A6D3-7ACC-7D2E-8C82-F722CAEE0BE3}"/>
              </a:ext>
            </a:extLst>
          </p:cNvPr>
          <p:cNvSpPr txBox="1"/>
          <p:nvPr/>
        </p:nvSpPr>
        <p:spPr>
          <a:xfrm>
            <a:off x="7507116" y="395742"/>
            <a:ext cx="40643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research.google</a:t>
            </a:r>
            <a:r>
              <a:rPr kumimoji="1" lang="en" altLang="zh-TW" sz="1400" dirty="0"/>
              <a:t>/blog/transformer-a-novel-neural-network-architecture-for-language-understanding/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6985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45C4EA-0221-F241-375A-6D3155DD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3658902-D0CD-CCD2-3F00-43B62E3BB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12" y="698830"/>
            <a:ext cx="9151776" cy="526482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8B69D55-0AF8-5594-8199-B6201BAE0577}"/>
              </a:ext>
            </a:extLst>
          </p:cNvPr>
          <p:cNvSpPr txBox="1"/>
          <p:nvPr/>
        </p:nvSpPr>
        <p:spPr>
          <a:xfrm>
            <a:off x="9814686" y="4208107"/>
            <a:ext cx="131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>
                <a:solidFill>
                  <a:srgbClr val="0070C0"/>
                </a:solidFill>
              </a:rPr>
              <a:t>OpenAI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34E68DC-BD30-8156-D5D7-E93EBA19C2F7}"/>
              </a:ext>
            </a:extLst>
          </p:cNvPr>
          <p:cNvSpPr txBox="1"/>
          <p:nvPr/>
        </p:nvSpPr>
        <p:spPr>
          <a:xfrm>
            <a:off x="662911" y="4208106"/>
            <a:ext cx="158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Sakana AI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0D19FC-6EB0-4E19-AE25-DB765FD97692}"/>
              </a:ext>
            </a:extLst>
          </p:cNvPr>
          <p:cNvSpPr txBox="1"/>
          <p:nvPr/>
        </p:nvSpPr>
        <p:spPr>
          <a:xfrm>
            <a:off x="5011387" y="3888756"/>
            <a:ext cx="131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Cohere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9C39924-8466-9C65-0F2C-B67FB074C2B4}"/>
              </a:ext>
            </a:extLst>
          </p:cNvPr>
          <p:cNvSpPr txBox="1"/>
          <p:nvPr/>
        </p:nvSpPr>
        <p:spPr>
          <a:xfrm>
            <a:off x="5439987" y="5004319"/>
            <a:ext cx="1312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NEAR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708CDF4-F66D-AA4A-0BBB-78B6404978FC}"/>
              </a:ext>
            </a:extLst>
          </p:cNvPr>
          <p:cNvSpPr txBox="1"/>
          <p:nvPr/>
        </p:nvSpPr>
        <p:spPr>
          <a:xfrm>
            <a:off x="2082818" y="2679883"/>
            <a:ext cx="1882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Essential AI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960FB2E-F740-FFF1-25A6-D1B3C112C612}"/>
              </a:ext>
            </a:extLst>
          </p:cNvPr>
          <p:cNvSpPr txBox="1"/>
          <p:nvPr/>
        </p:nvSpPr>
        <p:spPr>
          <a:xfrm>
            <a:off x="6595727" y="2679883"/>
            <a:ext cx="177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Anthropic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DE5F3D4-5658-5E7D-AEA8-A32B6B92DA8E}"/>
              </a:ext>
            </a:extLst>
          </p:cNvPr>
          <p:cNvSpPr txBox="1"/>
          <p:nvPr/>
        </p:nvSpPr>
        <p:spPr>
          <a:xfrm>
            <a:off x="8699974" y="2670632"/>
            <a:ext cx="177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 Inceptive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6D4BAF7-A3A9-B0B8-64BF-5E67A6D78254}"/>
              </a:ext>
            </a:extLst>
          </p:cNvPr>
          <p:cNvSpPr txBox="1"/>
          <p:nvPr/>
        </p:nvSpPr>
        <p:spPr>
          <a:xfrm>
            <a:off x="7574973" y="5963653"/>
            <a:ext cx="414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/abs/1706.03762v6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02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27E861-8C80-70F2-482E-E81AD2BA0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Multi-Head Attention (MHA)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2CC3B3-4C85-15B8-847D-0C07EB9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065EBD-F6CE-A648-78BE-F215B2C3B775}"/>
              </a:ext>
            </a:extLst>
          </p:cNvPr>
          <p:cNvSpPr txBox="1"/>
          <p:nvPr/>
        </p:nvSpPr>
        <p:spPr>
          <a:xfrm>
            <a:off x="636815" y="1669003"/>
            <a:ext cx="10918370" cy="2517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到目前為止，我們已經介紹了</a:t>
            </a:r>
            <a:r>
              <a:rPr kumimoji="1" lang="en-US" altLang="zh-TW" sz="2400" dirty="0"/>
              <a:t> self-attention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We </a:t>
            </a:r>
            <a:r>
              <a:rPr kumimoji="1" lang="en-US" altLang="zh-TW" sz="2000" dirty="0">
                <a:solidFill>
                  <a:srgbClr val="FF0000"/>
                </a:solidFill>
              </a:rPr>
              <a:t>query</a:t>
            </a:r>
            <a:r>
              <a:rPr kumimoji="1" lang="en-US" altLang="zh-TW" sz="2000" dirty="0"/>
              <a:t> the search engine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We search engine tries to map our query to the </a:t>
            </a:r>
            <a:r>
              <a:rPr kumimoji="1" lang="en-US" altLang="zh-TW" sz="2000" dirty="0">
                <a:solidFill>
                  <a:srgbClr val="FF0000"/>
                </a:solidFill>
              </a:rPr>
              <a:t>keys</a:t>
            </a:r>
            <a:r>
              <a:rPr kumimoji="1" lang="en-US" altLang="zh-TW" sz="2000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The outputs are the attended </a:t>
            </a:r>
            <a:r>
              <a:rPr kumimoji="1" lang="en-US" altLang="zh-TW" sz="2000" dirty="0">
                <a:solidFill>
                  <a:srgbClr val="FF0000"/>
                </a:solidFill>
              </a:rPr>
              <a:t>values</a:t>
            </a:r>
            <a:r>
              <a:rPr kumimoji="1" lang="en-US" altLang="zh-TW" sz="2000" dirty="0"/>
              <a:t> (e.g., the best matched videos).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 </a:t>
            </a:r>
            <a:r>
              <a:rPr kumimoji="1" lang="zh-TW" altLang="en-US" sz="2400" dirty="0"/>
              <a:t>試想：如果我們想要模型注意到多種語言行爲呢？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45550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89FD9-9915-9397-0CFC-AC1429DA8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語言存在多種行為</a:t>
            </a:r>
            <a:r>
              <a:rPr kumimoji="1" lang="en-US" altLang="zh-TW" dirty="0"/>
              <a:t> / </a:t>
            </a:r>
            <a:r>
              <a:rPr kumimoji="1" lang="zh-TW" altLang="en-US" dirty="0"/>
              <a:t>模式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D26A75-F80E-D879-D84D-27248B99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7CD13273-7F16-C623-1AE9-A7B40A11223A}"/>
              </a:ext>
            </a:extLst>
          </p:cNvPr>
          <p:cNvSpPr/>
          <p:nvPr/>
        </p:nvSpPr>
        <p:spPr>
          <a:xfrm>
            <a:off x="1527520" y="2958476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299A4B-27A2-50B3-CC7A-1042EF2112E5}"/>
              </a:ext>
            </a:extLst>
          </p:cNvPr>
          <p:cNvSpPr txBox="1"/>
          <p:nvPr/>
        </p:nvSpPr>
        <p:spPr>
          <a:xfrm>
            <a:off x="2102663" y="298756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C38CEE90-9030-B99D-8851-B558C3D84193}"/>
              </a:ext>
            </a:extLst>
          </p:cNvPr>
          <p:cNvSpPr/>
          <p:nvPr/>
        </p:nvSpPr>
        <p:spPr>
          <a:xfrm>
            <a:off x="4004020" y="2958476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B72B309-545D-567D-564F-CC613B71A44F}"/>
              </a:ext>
            </a:extLst>
          </p:cNvPr>
          <p:cNvSpPr txBox="1"/>
          <p:nvPr/>
        </p:nvSpPr>
        <p:spPr>
          <a:xfrm>
            <a:off x="4570252" y="298756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28ED0E18-C493-5CFF-5A9B-77C91300E43D}"/>
              </a:ext>
            </a:extLst>
          </p:cNvPr>
          <p:cNvSpPr/>
          <p:nvPr/>
        </p:nvSpPr>
        <p:spPr>
          <a:xfrm>
            <a:off x="6480520" y="2953444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AA5CDF6-4335-6D8D-8BDF-E3A660E8379F}"/>
              </a:ext>
            </a:extLst>
          </p:cNvPr>
          <p:cNvSpPr txBox="1"/>
          <p:nvPr/>
        </p:nvSpPr>
        <p:spPr>
          <a:xfrm>
            <a:off x="7042959" y="295344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3606E31D-80D3-D967-2C29-F264AFC5D91F}"/>
              </a:ext>
            </a:extLst>
          </p:cNvPr>
          <p:cNvSpPr/>
          <p:nvPr/>
        </p:nvSpPr>
        <p:spPr>
          <a:xfrm>
            <a:off x="8856692" y="2953444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1DA01F0-9EB6-30AC-4A29-F7E72E5CBA6D}"/>
              </a:ext>
            </a:extLst>
          </p:cNvPr>
          <p:cNvSpPr txBox="1"/>
          <p:nvPr/>
        </p:nvSpPr>
        <p:spPr>
          <a:xfrm>
            <a:off x="9419131" y="2953444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14" name="肘形接點 13">
            <a:extLst>
              <a:ext uri="{FF2B5EF4-FFF2-40B4-BE49-F238E27FC236}">
                <a16:creationId xmlns:a16="http://schemas.microsoft.com/office/drawing/2014/main" id="{ED957C60-1588-697B-7210-319D9E746500}"/>
              </a:ext>
            </a:extLst>
          </p:cNvPr>
          <p:cNvCxnSpPr>
            <a:stCxn id="6" idx="2"/>
            <a:endCxn id="8" idx="2"/>
          </p:cNvCxnSpPr>
          <p:nvPr/>
        </p:nvCxnSpPr>
        <p:spPr>
          <a:xfrm rot="16200000" flipH="1">
            <a:off x="3619548" y="1961203"/>
            <a:ext cx="12700" cy="2791396"/>
          </a:xfrm>
          <a:prstGeom prst="bentConnector3">
            <a:avLst>
              <a:gd name="adj1" fmla="val 3315787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C622D40-4B77-FBD1-5382-0F9D1C212DB8}"/>
              </a:ext>
            </a:extLst>
          </p:cNvPr>
          <p:cNvSpPr txBox="1"/>
          <p:nvPr/>
        </p:nvSpPr>
        <p:spPr>
          <a:xfrm>
            <a:off x="2965171" y="3903756"/>
            <a:ext cx="132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FF0000"/>
                </a:solidFill>
              </a:rPr>
              <a:t>時態</a:t>
            </a:r>
          </a:p>
        </p:txBody>
      </p:sp>
      <p:cxnSp>
        <p:nvCxnSpPr>
          <p:cNvPr id="17" name="肘形接點 16">
            <a:extLst>
              <a:ext uri="{FF2B5EF4-FFF2-40B4-BE49-F238E27FC236}">
                <a16:creationId xmlns:a16="http://schemas.microsoft.com/office/drawing/2014/main" id="{CACAB5D8-913B-7CB4-A852-0F986B27B627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4784337" y="392958"/>
            <a:ext cx="34125" cy="5155099"/>
          </a:xfrm>
          <a:prstGeom prst="bentConnector3">
            <a:avLst>
              <a:gd name="adj1" fmla="val 1277594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A0631FB2-C024-EDB5-E020-01C0CF74F342}"/>
              </a:ext>
            </a:extLst>
          </p:cNvPr>
          <p:cNvCxnSpPr>
            <a:cxnSpLocks/>
            <a:stCxn id="6" idx="0"/>
            <a:endCxn id="12" idx="0"/>
          </p:cNvCxnSpPr>
          <p:nvPr/>
        </p:nvCxnSpPr>
        <p:spPr>
          <a:xfrm rot="5400000" flipH="1" flipV="1">
            <a:off x="5985520" y="-808225"/>
            <a:ext cx="34125" cy="7557464"/>
          </a:xfrm>
          <a:prstGeom prst="bentConnector3">
            <a:avLst>
              <a:gd name="adj1" fmla="val 2180188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4D08F5A-AB41-32E2-3889-7AEC8536EA62}"/>
              </a:ext>
            </a:extLst>
          </p:cNvPr>
          <p:cNvSpPr txBox="1"/>
          <p:nvPr/>
        </p:nvSpPr>
        <p:spPr>
          <a:xfrm>
            <a:off x="4236263" y="1839578"/>
            <a:ext cx="360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solidFill>
                  <a:srgbClr val="00B050"/>
                </a:solidFill>
              </a:rPr>
              <a:t>語義（這人可能會</a:t>
            </a:r>
            <a:r>
              <a:rPr kumimoji="1" lang="en-US" altLang="zh-TW" dirty="0">
                <a:solidFill>
                  <a:srgbClr val="00B050"/>
                </a:solidFill>
              </a:rPr>
              <a:t> programming</a:t>
            </a:r>
            <a:r>
              <a:rPr kumimoji="1" lang="zh-TW" altLang="en-US" dirty="0">
                <a:solidFill>
                  <a:srgbClr val="00B050"/>
                </a:solidFill>
              </a:rPr>
              <a:t>）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44E31C25-C17B-C283-58E8-29CC53695D45}"/>
              </a:ext>
            </a:extLst>
          </p:cNvPr>
          <p:cNvSpPr/>
          <p:nvPr/>
        </p:nvSpPr>
        <p:spPr>
          <a:xfrm>
            <a:off x="1520114" y="4826068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1135B63-8AD7-EAE0-8410-C248D5A8D0E2}"/>
              </a:ext>
            </a:extLst>
          </p:cNvPr>
          <p:cNvSpPr txBox="1"/>
          <p:nvPr/>
        </p:nvSpPr>
        <p:spPr>
          <a:xfrm>
            <a:off x="2345037" y="4922389"/>
            <a:ext cx="6477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&lt;-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</a:t>
            </a:r>
            <a:r>
              <a:rPr kumimoji="1" lang="zh-TW" altLang="en-US" dirty="0"/>
              <a:t>也是一種 </a:t>
            </a:r>
            <a:r>
              <a:rPr kumimoji="1" lang="en-US" altLang="zh-TW" dirty="0"/>
              <a:t>max</a:t>
            </a:r>
            <a:r>
              <a:rPr kumimoji="1" lang="zh-TW" altLang="en-US" dirty="0"/>
              <a:t>，只能取得一種最有可能的語言模式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9FBAD413-B5C4-A879-64E3-C01E47DB1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73" y="6037344"/>
            <a:ext cx="3528120" cy="644644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43FBF9-627F-673D-512D-29144FF29A12}"/>
              </a:ext>
            </a:extLst>
          </p:cNvPr>
          <p:cNvSpPr txBox="1"/>
          <p:nvPr/>
        </p:nvSpPr>
        <p:spPr>
          <a:xfrm>
            <a:off x="6095999" y="5531119"/>
            <a:ext cx="5172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有沒有可能讓模型同時學到多種語言模式？</a:t>
            </a:r>
            <a:endParaRPr kumimoji="1" lang="en-US" altLang="zh-TW" dirty="0"/>
          </a:p>
          <a:p>
            <a:r>
              <a:rPr kumimoji="1" lang="en-US" altLang="zh-TW" dirty="0"/>
              <a:t>-&gt; </a:t>
            </a:r>
            <a:r>
              <a:rPr kumimoji="1" lang="en-US" altLang="zh-TW" dirty="0">
                <a:solidFill>
                  <a:srgbClr val="FF0000"/>
                </a:solidFill>
              </a:rPr>
              <a:t>Multi-head Attention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12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26" grpId="0" animBg="1"/>
      <p:bldP spid="2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AAD79-4C70-332D-A42F-D4192094A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Multi-Head Attention (MHA)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CE2508-05B1-4A95-78EF-DFF8DF21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751F7E57-821E-4072-0243-C90040F629C8}"/>
              </a:ext>
            </a:extLst>
          </p:cNvPr>
          <p:cNvSpPr/>
          <p:nvPr/>
        </p:nvSpPr>
        <p:spPr>
          <a:xfrm>
            <a:off x="2304191" y="3711896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71C703-2960-6C2D-E7A0-7D9BB8B04574}"/>
              </a:ext>
            </a:extLst>
          </p:cNvPr>
          <p:cNvSpPr txBox="1"/>
          <p:nvPr/>
        </p:nvSpPr>
        <p:spPr>
          <a:xfrm>
            <a:off x="2879334" y="3740989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53A9A648-7962-0A75-75FB-E8046A83D399}"/>
              </a:ext>
            </a:extLst>
          </p:cNvPr>
          <p:cNvSpPr/>
          <p:nvPr/>
        </p:nvSpPr>
        <p:spPr>
          <a:xfrm>
            <a:off x="5852088" y="3708281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6359020-C9CE-B6EE-2946-1EA882D68E77}"/>
              </a:ext>
            </a:extLst>
          </p:cNvPr>
          <p:cNvSpPr txBox="1"/>
          <p:nvPr/>
        </p:nvSpPr>
        <p:spPr>
          <a:xfrm>
            <a:off x="6411398" y="3730126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FC8BC6EA-CB74-9691-54A4-4FB174721209}"/>
              </a:ext>
            </a:extLst>
          </p:cNvPr>
          <p:cNvSpPr/>
          <p:nvPr/>
        </p:nvSpPr>
        <p:spPr>
          <a:xfrm>
            <a:off x="9469078" y="371539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2F81370-0020-55FF-BBB0-6BF887CD52E8}"/>
              </a:ext>
            </a:extLst>
          </p:cNvPr>
          <p:cNvSpPr txBox="1"/>
          <p:nvPr/>
        </p:nvSpPr>
        <p:spPr>
          <a:xfrm>
            <a:off x="10044754" y="375019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A4A4C3DE-8BBA-8C10-33F8-BAF21743B5E7}"/>
              </a:ext>
            </a:extLst>
          </p:cNvPr>
          <p:cNvSpPr/>
          <p:nvPr/>
        </p:nvSpPr>
        <p:spPr>
          <a:xfrm>
            <a:off x="8868119" y="2263053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AD83EC29-DF50-FF58-A107-F95C0BDB71E9}"/>
              </a:ext>
            </a:extLst>
          </p:cNvPr>
          <p:cNvSpPr/>
          <p:nvPr/>
        </p:nvSpPr>
        <p:spPr>
          <a:xfrm>
            <a:off x="9443745" y="2263053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61865791-D02B-DA94-2665-87334703FFAF}"/>
              </a:ext>
            </a:extLst>
          </p:cNvPr>
          <p:cNvSpPr/>
          <p:nvPr/>
        </p:nvSpPr>
        <p:spPr>
          <a:xfrm>
            <a:off x="10025416" y="2259438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3</a:t>
            </a:r>
            <a:endParaRPr kumimoji="1" lang="zh-TW" altLang="en-US" baseline="-25000" dirty="0"/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763B29D-6A4E-F9A1-C72A-6C6451EE133F}"/>
              </a:ext>
            </a:extLst>
          </p:cNvPr>
          <p:cNvSpPr/>
          <p:nvPr/>
        </p:nvSpPr>
        <p:spPr>
          <a:xfrm>
            <a:off x="5271117" y="2250907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D13634D-3ABB-E7A0-B3FE-4541E5526456}"/>
              </a:ext>
            </a:extLst>
          </p:cNvPr>
          <p:cNvSpPr/>
          <p:nvPr/>
        </p:nvSpPr>
        <p:spPr>
          <a:xfrm>
            <a:off x="5846743" y="2250907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DE724D48-8FB4-7CFF-DEC9-6709287B5A48}"/>
              </a:ext>
            </a:extLst>
          </p:cNvPr>
          <p:cNvSpPr/>
          <p:nvPr/>
        </p:nvSpPr>
        <p:spPr>
          <a:xfrm>
            <a:off x="6428414" y="2247292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2</a:t>
            </a:r>
            <a:endParaRPr kumimoji="1" lang="zh-TW" altLang="en-US" baseline="-25000" dirty="0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892D7E3D-1E8A-A022-4135-3EB7F9BA4A59}"/>
              </a:ext>
            </a:extLst>
          </p:cNvPr>
          <p:cNvSpPr/>
          <p:nvPr/>
        </p:nvSpPr>
        <p:spPr>
          <a:xfrm>
            <a:off x="1722107" y="2254522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q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B63B24D0-458F-AF9D-A219-9759A8F8B6DA}"/>
              </a:ext>
            </a:extLst>
          </p:cNvPr>
          <p:cNvSpPr/>
          <p:nvPr/>
        </p:nvSpPr>
        <p:spPr>
          <a:xfrm>
            <a:off x="2297733" y="2254522"/>
            <a:ext cx="507439" cy="11035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k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7A3F346-6F8B-29EC-C76E-50E3C07827CA}"/>
              </a:ext>
            </a:extLst>
          </p:cNvPr>
          <p:cNvSpPr/>
          <p:nvPr/>
        </p:nvSpPr>
        <p:spPr>
          <a:xfrm>
            <a:off x="2879404" y="2250907"/>
            <a:ext cx="507439" cy="11035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v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120B82-3D5D-4DA1-300E-27DF6A0A25D4}"/>
              </a:ext>
            </a:extLst>
          </p:cNvPr>
          <p:cNvSpPr txBox="1"/>
          <p:nvPr/>
        </p:nvSpPr>
        <p:spPr>
          <a:xfrm>
            <a:off x="664196" y="1619912"/>
            <a:ext cx="3954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1 (without MHA)</a:t>
            </a:r>
            <a:endParaRPr kumimoji="1" lang="zh-TW" altLang="en-US" sz="2400" b="1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9174078F-9ABB-A1BC-EF04-8A5F32823479}"/>
              </a:ext>
            </a:extLst>
          </p:cNvPr>
          <p:cNvSpPr/>
          <p:nvPr/>
        </p:nvSpPr>
        <p:spPr>
          <a:xfrm>
            <a:off x="2304191" y="6098090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66F4DB1-7313-0479-4C42-D86949A72FC3}"/>
              </a:ext>
            </a:extLst>
          </p:cNvPr>
          <p:cNvSpPr txBox="1"/>
          <p:nvPr/>
        </p:nvSpPr>
        <p:spPr>
          <a:xfrm>
            <a:off x="2879334" y="612718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A170DCF-3F0C-0B26-5800-55CE7AC29713}"/>
              </a:ext>
            </a:extLst>
          </p:cNvPr>
          <p:cNvSpPr/>
          <p:nvPr/>
        </p:nvSpPr>
        <p:spPr>
          <a:xfrm>
            <a:off x="5852088" y="6096940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3B41D52-A1EC-DBE7-4991-6EF147AE61DC}"/>
              </a:ext>
            </a:extLst>
          </p:cNvPr>
          <p:cNvSpPr txBox="1"/>
          <p:nvPr/>
        </p:nvSpPr>
        <p:spPr>
          <a:xfrm>
            <a:off x="6411398" y="6118785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1AC585CF-4AB9-7166-0D6D-B264AF924080}"/>
              </a:ext>
            </a:extLst>
          </p:cNvPr>
          <p:cNvSpPr/>
          <p:nvPr/>
        </p:nvSpPr>
        <p:spPr>
          <a:xfrm>
            <a:off x="9469078" y="609913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5425430-A898-2040-270A-CCC326328EE2}"/>
              </a:ext>
            </a:extLst>
          </p:cNvPr>
          <p:cNvSpPr txBox="1"/>
          <p:nvPr/>
        </p:nvSpPr>
        <p:spPr>
          <a:xfrm>
            <a:off x="10044754" y="613393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40183B00-0514-7243-0FCA-779E298DA814}"/>
                  </a:ext>
                </a:extLst>
              </p:cNvPr>
              <p:cNvSpPr/>
              <p:nvPr/>
            </p:nvSpPr>
            <p:spPr>
              <a:xfrm>
                <a:off x="921925" y="5186872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圓角矩形 34">
                <a:extLst>
                  <a:ext uri="{FF2B5EF4-FFF2-40B4-BE49-F238E27FC236}">
                    <a16:creationId xmlns:a16="http://schemas.microsoft.com/office/drawing/2014/main" id="{40183B00-0514-7243-0FCA-779E298DA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925" y="5186872"/>
                <a:ext cx="507439" cy="55916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D0E58C9A-425B-D8AD-5B7C-912EE8350228}"/>
                  </a:ext>
                </a:extLst>
              </p:cNvPr>
              <p:cNvSpPr/>
              <p:nvPr/>
            </p:nvSpPr>
            <p:spPr>
              <a:xfrm>
                <a:off x="2008049" y="5185063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D0E58C9A-425B-D8AD-5B7C-912EE8350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049" y="5185063"/>
                <a:ext cx="507439" cy="55916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29726D24-CFD0-8BFB-B5DF-EC5BCF358DBA}"/>
                  </a:ext>
                </a:extLst>
              </p:cNvPr>
              <p:cNvSpPr/>
              <p:nvPr/>
            </p:nvSpPr>
            <p:spPr>
              <a:xfrm>
                <a:off x="3094173" y="5170225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37" name="圓角矩形 36">
                <a:extLst>
                  <a:ext uri="{FF2B5EF4-FFF2-40B4-BE49-F238E27FC236}">
                    <a16:creationId xmlns:a16="http://schemas.microsoft.com/office/drawing/2014/main" id="{29726D24-CFD0-8BFB-B5DF-EC5BCF358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173" y="5170225"/>
                <a:ext cx="507439" cy="55916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0DC487A1-5BFF-EB47-508A-23B0DDE31284}"/>
              </a:ext>
            </a:extLst>
          </p:cNvPr>
          <p:cNvSpPr txBox="1"/>
          <p:nvPr/>
        </p:nvSpPr>
        <p:spPr>
          <a:xfrm>
            <a:off x="664196" y="4379685"/>
            <a:ext cx="3857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2 (with MHA)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4D3867A4-172E-0CE8-FCD5-8A118A2D18E8}"/>
                  </a:ext>
                </a:extLst>
              </p:cNvPr>
              <p:cNvSpPr/>
              <p:nvPr/>
            </p:nvSpPr>
            <p:spPr>
              <a:xfrm>
                <a:off x="1464987" y="5185063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4D3867A4-172E-0CE8-FCD5-8A118A2D18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987" y="5185063"/>
                <a:ext cx="507439" cy="55916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68D728B8-08A7-B03A-EB00-490C707EF5D1}"/>
                  </a:ext>
                </a:extLst>
              </p:cNvPr>
              <p:cNvSpPr/>
              <p:nvPr/>
            </p:nvSpPr>
            <p:spPr>
              <a:xfrm>
                <a:off x="2551111" y="5181449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68D728B8-08A7-B03A-EB00-490C707EF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111" y="5181449"/>
                <a:ext cx="507439" cy="559167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C16204A2-B81C-EB52-E852-CF11855397D8}"/>
                  </a:ext>
                </a:extLst>
              </p:cNvPr>
              <p:cNvSpPr/>
              <p:nvPr/>
            </p:nvSpPr>
            <p:spPr>
              <a:xfrm>
                <a:off x="3637233" y="5170224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C16204A2-B81C-EB52-E852-CF11855397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233" y="5170224"/>
                <a:ext cx="507439" cy="55916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F6AC4575-AE73-7906-CA9E-41F353C27126}"/>
                  </a:ext>
                </a:extLst>
              </p:cNvPr>
              <p:cNvSpPr/>
              <p:nvPr/>
            </p:nvSpPr>
            <p:spPr>
              <a:xfrm>
                <a:off x="4521598" y="5172049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F6AC4575-AE73-7906-CA9E-41F353C271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598" y="5172049"/>
                <a:ext cx="507439" cy="55916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圓角矩形 42">
                <a:extLst>
                  <a:ext uri="{FF2B5EF4-FFF2-40B4-BE49-F238E27FC236}">
                    <a16:creationId xmlns:a16="http://schemas.microsoft.com/office/drawing/2014/main" id="{3119BCC2-0B45-5D62-BF62-B9D1CC4A03F3}"/>
                  </a:ext>
                </a:extLst>
              </p:cNvPr>
              <p:cNvSpPr/>
              <p:nvPr/>
            </p:nvSpPr>
            <p:spPr>
              <a:xfrm>
                <a:off x="5607722" y="5170240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3" name="圓角矩形 42">
                <a:extLst>
                  <a:ext uri="{FF2B5EF4-FFF2-40B4-BE49-F238E27FC236}">
                    <a16:creationId xmlns:a16="http://schemas.microsoft.com/office/drawing/2014/main" id="{3119BCC2-0B45-5D62-BF62-B9D1CC4A0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7722" y="5170240"/>
                <a:ext cx="507439" cy="559167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835275C3-BDD0-3F7C-0C48-C8FE2BBF635E}"/>
                  </a:ext>
                </a:extLst>
              </p:cNvPr>
              <p:cNvSpPr/>
              <p:nvPr/>
            </p:nvSpPr>
            <p:spPr>
              <a:xfrm>
                <a:off x="6693846" y="5155402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4" name="圓角矩形 43">
                <a:extLst>
                  <a:ext uri="{FF2B5EF4-FFF2-40B4-BE49-F238E27FC236}">
                    <a16:creationId xmlns:a16="http://schemas.microsoft.com/office/drawing/2014/main" id="{835275C3-BDD0-3F7C-0C48-C8FE2BBF63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846" y="5155402"/>
                <a:ext cx="507439" cy="55916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圓角矩形 44">
                <a:extLst>
                  <a:ext uri="{FF2B5EF4-FFF2-40B4-BE49-F238E27FC236}">
                    <a16:creationId xmlns:a16="http://schemas.microsoft.com/office/drawing/2014/main" id="{DB25BF8D-C2C3-A62E-CB02-86E7B5D0B210}"/>
                  </a:ext>
                </a:extLst>
              </p:cNvPr>
              <p:cNvSpPr/>
              <p:nvPr/>
            </p:nvSpPr>
            <p:spPr>
              <a:xfrm>
                <a:off x="5064660" y="5170240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5" name="圓角矩形 44">
                <a:extLst>
                  <a:ext uri="{FF2B5EF4-FFF2-40B4-BE49-F238E27FC236}">
                    <a16:creationId xmlns:a16="http://schemas.microsoft.com/office/drawing/2014/main" id="{DB25BF8D-C2C3-A62E-CB02-86E7B5D0B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660" y="5170240"/>
                <a:ext cx="507439" cy="559166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圓角矩形 45">
                <a:extLst>
                  <a:ext uri="{FF2B5EF4-FFF2-40B4-BE49-F238E27FC236}">
                    <a16:creationId xmlns:a16="http://schemas.microsoft.com/office/drawing/2014/main" id="{FA31B0FD-5717-3204-7917-015E91F237A2}"/>
                  </a:ext>
                </a:extLst>
              </p:cNvPr>
              <p:cNvSpPr/>
              <p:nvPr/>
            </p:nvSpPr>
            <p:spPr>
              <a:xfrm>
                <a:off x="6150784" y="5166626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6" name="圓角矩形 45">
                <a:extLst>
                  <a:ext uri="{FF2B5EF4-FFF2-40B4-BE49-F238E27FC236}">
                    <a16:creationId xmlns:a16="http://schemas.microsoft.com/office/drawing/2014/main" id="{FA31B0FD-5717-3204-7917-015E91F237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84" y="5166626"/>
                <a:ext cx="507439" cy="55916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AE93121E-E446-803A-FFC5-8D26534E22C8}"/>
                  </a:ext>
                </a:extLst>
              </p:cNvPr>
              <p:cNvSpPr/>
              <p:nvPr/>
            </p:nvSpPr>
            <p:spPr>
              <a:xfrm>
                <a:off x="7236906" y="5155401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7" name="圓角矩形 46">
                <a:extLst>
                  <a:ext uri="{FF2B5EF4-FFF2-40B4-BE49-F238E27FC236}">
                    <a16:creationId xmlns:a16="http://schemas.microsoft.com/office/drawing/2014/main" id="{AE93121E-E446-803A-FFC5-8D26534E22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906" y="5155401"/>
                <a:ext cx="507439" cy="559167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F398DAE8-CC26-4D2F-4CF7-84F03F111DCC}"/>
                  </a:ext>
                </a:extLst>
              </p:cNvPr>
              <p:cNvSpPr/>
              <p:nvPr/>
            </p:nvSpPr>
            <p:spPr>
              <a:xfrm>
                <a:off x="8103607" y="5155402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圓角矩形 47">
                <a:extLst>
                  <a:ext uri="{FF2B5EF4-FFF2-40B4-BE49-F238E27FC236}">
                    <a16:creationId xmlns:a16="http://schemas.microsoft.com/office/drawing/2014/main" id="{F398DAE8-CC26-4D2F-4CF7-84F03F111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607" y="5155402"/>
                <a:ext cx="507439" cy="559166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F855A972-90E9-F1D7-01EB-D1EA7CB728CC}"/>
                  </a:ext>
                </a:extLst>
              </p:cNvPr>
              <p:cNvSpPr/>
              <p:nvPr/>
            </p:nvSpPr>
            <p:spPr>
              <a:xfrm>
                <a:off x="9189731" y="5153593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49" name="圓角矩形 48">
                <a:extLst>
                  <a:ext uri="{FF2B5EF4-FFF2-40B4-BE49-F238E27FC236}">
                    <a16:creationId xmlns:a16="http://schemas.microsoft.com/office/drawing/2014/main" id="{F855A972-90E9-F1D7-01EB-D1EA7CB72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9731" y="5153593"/>
                <a:ext cx="507439" cy="559167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圓角矩形 49">
                <a:extLst>
                  <a:ext uri="{FF2B5EF4-FFF2-40B4-BE49-F238E27FC236}">
                    <a16:creationId xmlns:a16="http://schemas.microsoft.com/office/drawing/2014/main" id="{E35D63B3-2E0C-B09E-643E-44A7A8BDD32E}"/>
                  </a:ext>
                </a:extLst>
              </p:cNvPr>
              <p:cNvSpPr/>
              <p:nvPr/>
            </p:nvSpPr>
            <p:spPr>
              <a:xfrm>
                <a:off x="10275855" y="5138755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0" name="圓角矩形 49">
                <a:extLst>
                  <a:ext uri="{FF2B5EF4-FFF2-40B4-BE49-F238E27FC236}">
                    <a16:creationId xmlns:a16="http://schemas.microsoft.com/office/drawing/2014/main" id="{E35D63B3-2E0C-B09E-643E-44A7A8BDD3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855" y="5138755"/>
                <a:ext cx="507439" cy="559167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圓角矩形 50">
                <a:extLst>
                  <a:ext uri="{FF2B5EF4-FFF2-40B4-BE49-F238E27FC236}">
                    <a16:creationId xmlns:a16="http://schemas.microsoft.com/office/drawing/2014/main" id="{1A2EB07D-C038-1A80-4416-48058B3BAD5E}"/>
                  </a:ext>
                </a:extLst>
              </p:cNvPr>
              <p:cNvSpPr/>
              <p:nvPr/>
            </p:nvSpPr>
            <p:spPr>
              <a:xfrm>
                <a:off x="8646669" y="5153593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1" name="圓角矩形 50">
                <a:extLst>
                  <a:ext uri="{FF2B5EF4-FFF2-40B4-BE49-F238E27FC236}">
                    <a16:creationId xmlns:a16="http://schemas.microsoft.com/office/drawing/2014/main" id="{1A2EB07D-C038-1A80-4416-48058B3BA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669" y="5153593"/>
                <a:ext cx="507439" cy="559166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圓角矩形 51">
                <a:extLst>
                  <a:ext uri="{FF2B5EF4-FFF2-40B4-BE49-F238E27FC236}">
                    <a16:creationId xmlns:a16="http://schemas.microsoft.com/office/drawing/2014/main" id="{9292C8EC-D90E-6300-FAD5-9FE6C34814BD}"/>
                  </a:ext>
                </a:extLst>
              </p:cNvPr>
              <p:cNvSpPr/>
              <p:nvPr/>
            </p:nvSpPr>
            <p:spPr>
              <a:xfrm>
                <a:off x="9732793" y="5149979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2" name="圓角矩形 51">
                <a:extLst>
                  <a:ext uri="{FF2B5EF4-FFF2-40B4-BE49-F238E27FC236}">
                    <a16:creationId xmlns:a16="http://schemas.microsoft.com/office/drawing/2014/main" id="{9292C8EC-D90E-6300-FAD5-9FE6C3481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793" y="5149979"/>
                <a:ext cx="507439" cy="559167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664E4E38-4F68-F1B4-71ED-001B4D27701A}"/>
                  </a:ext>
                </a:extLst>
              </p:cNvPr>
              <p:cNvSpPr/>
              <p:nvPr/>
            </p:nvSpPr>
            <p:spPr>
              <a:xfrm>
                <a:off x="10818915" y="5138754"/>
                <a:ext cx="507439" cy="559167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000" baseline="-25000" dirty="0"/>
              </a:p>
            </p:txBody>
          </p:sp>
        </mc:Choice>
        <mc:Fallback xmlns=""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664E4E38-4F68-F1B4-71ED-001B4D2770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8915" y="5138754"/>
                <a:ext cx="507439" cy="559167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53">
            <a:extLst>
              <a:ext uri="{FF2B5EF4-FFF2-40B4-BE49-F238E27FC236}">
                <a16:creationId xmlns:a16="http://schemas.microsoft.com/office/drawing/2014/main" id="{6A51591A-9722-1565-B40E-6778D3D92B48}"/>
              </a:ext>
            </a:extLst>
          </p:cNvPr>
          <p:cNvSpPr txBox="1"/>
          <p:nvPr/>
        </p:nvSpPr>
        <p:spPr>
          <a:xfrm>
            <a:off x="9469077" y="719594"/>
            <a:ext cx="2082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上標</a:t>
            </a:r>
            <a:r>
              <a:rPr kumimoji="1" lang="en-US" altLang="zh-TW" dirty="0">
                <a:ea typeface="Microsoft JhengHei" panose="020B0604030504040204" pitchFamily="34" charset="-120"/>
              </a:rPr>
              <a:t>: head</a:t>
            </a:r>
          </a:p>
          <a:p>
            <a:r>
              <a:rPr kumimoji="1" lang="zh-TW" altLang="en-US" dirty="0">
                <a:ea typeface="Microsoft JhengHei" panose="020B0604030504040204" pitchFamily="34" charset="-120"/>
              </a:rPr>
              <a:t>下標</a:t>
            </a:r>
            <a:r>
              <a:rPr kumimoji="1" lang="en-US" altLang="zh-TW" dirty="0">
                <a:ea typeface="Microsoft JhengHei" panose="020B0604030504040204" pitchFamily="34" charset="-120"/>
              </a:rPr>
              <a:t>: token index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220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Query (Q), Key (K), and Value (V) with MHA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/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  <a:blipFill>
                <a:blip r:embed="rId3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/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  <a:blipFill>
                <a:blip r:embed="rId4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/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/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  <a:blipFill>
                <a:blip r:embed="rId6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/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  <a:blipFill>
                <a:blip r:embed="rId7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/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/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  <a:blipFill>
                <a:blip r:embed="rId9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/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  <a:blipFill>
                <a:blip r:embed="rId10"/>
                <a:stretch>
                  <a:fillRect l="-44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/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/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/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  <a:blipFill>
                <a:blip r:embed="rId13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/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/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/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/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/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/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  <a:endCxn id="28" idx="0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42BE57CF-8AC2-2CE1-29BE-1B24F7F56CD4}"/>
              </a:ext>
            </a:extLst>
          </p:cNvPr>
          <p:cNvSpPr txBox="1"/>
          <p:nvPr/>
        </p:nvSpPr>
        <p:spPr>
          <a:xfrm>
            <a:off x="8757207" y="1515738"/>
            <a:ext cx="29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Head = 2, </a:t>
            </a:r>
            <a:r>
              <a:rPr kumimoji="1" lang="zh-TW" altLang="en-US" dirty="0">
                <a:ea typeface="Microsoft JhengHei" panose="020B0604030504040204" pitchFamily="34" charset="-120"/>
              </a:rPr>
              <a:t>使用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第一個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head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9476D76B-087E-D55B-57B9-B75A57029A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279D34-12EE-C627-87E2-FA0248390F1E}"/>
              </a:ext>
            </a:extLst>
          </p:cNvPr>
          <p:cNvSpPr txBox="1"/>
          <p:nvPr/>
        </p:nvSpPr>
        <p:spPr>
          <a:xfrm>
            <a:off x="3505029" y="2229593"/>
            <a:ext cx="209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89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Query (Q), Key (K), and Value (V) with MHA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21146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/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7" name="圓角矩形 16">
                <a:extLst>
                  <a:ext uri="{FF2B5EF4-FFF2-40B4-BE49-F238E27FC236}">
                    <a16:creationId xmlns:a16="http://schemas.microsoft.com/office/drawing/2014/main" id="{958E9F76-24EA-EB9B-8EE4-61ADA15A39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441" y="4541496"/>
                <a:ext cx="533400" cy="561975"/>
              </a:xfrm>
              <a:prstGeom prst="roundRect">
                <a:avLst/>
              </a:prstGeom>
              <a:blipFill>
                <a:blip r:embed="rId3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/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FADA9CA-5DE9-26C4-D855-0AED0A46A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255" y="4541495"/>
                <a:ext cx="533400" cy="561975"/>
              </a:xfrm>
              <a:prstGeom prst="roundRect">
                <a:avLst/>
              </a:prstGeom>
              <a:blipFill>
                <a:blip r:embed="rId4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/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B9D2B63A-3EA1-04FE-E87D-84D6E416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9069" y="4541494"/>
                <a:ext cx="533400" cy="5619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/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33038FDF-A8CB-65DB-B2AE-374EDAC276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941" y="4541496"/>
                <a:ext cx="533400" cy="561975"/>
              </a:xfrm>
              <a:prstGeom prst="roundRect">
                <a:avLst/>
              </a:prstGeom>
              <a:blipFill>
                <a:blip r:embed="rId6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/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2B6A4EB6-343C-670B-45B7-C93A6F414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755" y="4541495"/>
                <a:ext cx="533400" cy="561975"/>
              </a:xfrm>
              <a:prstGeom prst="roundRect">
                <a:avLst/>
              </a:prstGeom>
              <a:blipFill>
                <a:blip r:embed="rId7"/>
                <a:stretch>
                  <a:fillRect l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/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5EA15339-C78F-8309-2C6C-75B90A6E8C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569" y="4541494"/>
                <a:ext cx="533400" cy="56197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/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39F589A7-4EF9-1A8F-A904-C0D64280F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441" y="4541495"/>
                <a:ext cx="533400" cy="561975"/>
              </a:xfrm>
              <a:prstGeom prst="roundRect">
                <a:avLst/>
              </a:prstGeom>
              <a:blipFill>
                <a:blip r:embed="rId9"/>
                <a:stretch>
                  <a:fillRect l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/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61B502CB-659A-2795-155B-F2F23C5E4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255" y="4541494"/>
                <a:ext cx="533400" cy="561975"/>
              </a:xfrm>
              <a:prstGeom prst="roundRect">
                <a:avLst/>
              </a:prstGeom>
              <a:blipFill>
                <a:blip r:embed="rId10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/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5" name="圓角矩形 24">
                <a:extLst>
                  <a:ext uri="{FF2B5EF4-FFF2-40B4-BE49-F238E27FC236}">
                    <a16:creationId xmlns:a16="http://schemas.microsoft.com/office/drawing/2014/main" id="{15DB972C-5D18-3A55-15DE-D2C1647AF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069" y="4541493"/>
                <a:ext cx="533400" cy="56197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/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6" name="圓角矩形 25">
                <a:extLst>
                  <a:ext uri="{FF2B5EF4-FFF2-40B4-BE49-F238E27FC236}">
                    <a16:creationId xmlns:a16="http://schemas.microsoft.com/office/drawing/2014/main" id="{D4D9EDEF-A9EE-002E-CA82-EF618B88E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207" y="4545350"/>
                <a:ext cx="533400" cy="56197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/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7" name="圓角矩形 26">
                <a:extLst>
                  <a:ext uri="{FF2B5EF4-FFF2-40B4-BE49-F238E27FC236}">
                    <a16:creationId xmlns:a16="http://schemas.microsoft.com/office/drawing/2014/main" id="{21408F9D-316F-26B5-3AA6-F42B4089F9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021" y="4545349"/>
                <a:ext cx="533400" cy="561975"/>
              </a:xfrm>
              <a:prstGeom prst="roundRect">
                <a:avLst/>
              </a:prstGeom>
              <a:blipFill>
                <a:blip r:embed="rId13"/>
                <a:stretch>
                  <a:fillRect l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/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28" name="圓角矩形 27">
                <a:extLst>
                  <a:ext uri="{FF2B5EF4-FFF2-40B4-BE49-F238E27FC236}">
                    <a16:creationId xmlns:a16="http://schemas.microsoft.com/office/drawing/2014/main" id="{A3277445-F103-6185-5D76-1714ACFE0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0835" y="4545348"/>
                <a:ext cx="533400" cy="561975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1485912" y="5657211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DDB966-8DC7-C5CF-35B1-AEB9264CA4C6}"/>
              </a:ext>
            </a:extLst>
          </p:cNvPr>
          <p:cNvSpPr/>
          <p:nvPr/>
        </p:nvSpPr>
        <p:spPr>
          <a:xfrm>
            <a:off x="1383355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54731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701603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3886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/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6" name="圓角矩形 35">
                <a:extLst>
                  <a:ext uri="{FF2B5EF4-FFF2-40B4-BE49-F238E27FC236}">
                    <a16:creationId xmlns:a16="http://schemas.microsoft.com/office/drawing/2014/main" id="{A42083A9-2C49-EA47-ADF8-6E81062DC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975" y="3105150"/>
                <a:ext cx="533400" cy="561975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2059786" y="4293846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/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39" name="圓角矩形 38">
                <a:extLst>
                  <a:ext uri="{FF2B5EF4-FFF2-40B4-BE49-F238E27FC236}">
                    <a16:creationId xmlns:a16="http://schemas.microsoft.com/office/drawing/2014/main" id="{71EE1F06-3802-D9A6-95FE-7BCCFFB102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475" y="3105149"/>
                <a:ext cx="533400" cy="56197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/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4231810D-4672-CF67-DCEA-01729C32AC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089" y="3105149"/>
                <a:ext cx="533400" cy="561975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/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1" name="圓角矩形 40">
                <a:extLst>
                  <a:ext uri="{FF2B5EF4-FFF2-40B4-BE49-F238E27FC236}">
                    <a16:creationId xmlns:a16="http://schemas.microsoft.com/office/drawing/2014/main" id="{2C36422D-8D63-CA3B-5137-8C605787F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741" y="3104574"/>
                <a:ext cx="533400" cy="561975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/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42" name="圓角矩形 41">
                <a:extLst>
                  <a:ext uri="{FF2B5EF4-FFF2-40B4-BE49-F238E27FC236}">
                    <a16:creationId xmlns:a16="http://schemas.microsoft.com/office/drawing/2014/main" id="{0D34AF9D-E022-1513-BACF-34016A7B9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592" y="1707483"/>
                <a:ext cx="533400" cy="561975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689804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59116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5157393" y="6132580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706766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630100" y="609845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443833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10006272" y="6098455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619375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509587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56848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>
            <a:extLst>
              <a:ext uri="{FF2B5EF4-FFF2-40B4-BE49-F238E27FC236}">
                <a16:creationId xmlns:a16="http://schemas.microsoft.com/office/drawing/2014/main" id="{4040174D-2F57-CDE1-E3F7-3B7FE58C5903}"/>
              </a:ext>
            </a:extLst>
          </p:cNvPr>
          <p:cNvCxnSpPr>
            <a:cxnSpLocks/>
            <a:stCxn id="41" idx="3"/>
            <a:endCxn id="28" idx="0"/>
          </p:cNvCxnSpPr>
          <p:nvPr/>
        </p:nvCxnSpPr>
        <p:spPr>
          <a:xfrm>
            <a:off x="9941141" y="3385562"/>
            <a:ext cx="426394" cy="115978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接點 63">
            <a:extLst>
              <a:ext uri="{FF2B5EF4-FFF2-40B4-BE49-F238E27FC236}">
                <a16:creationId xmlns:a16="http://schemas.microsoft.com/office/drawing/2014/main" id="{D9A4B7CD-1490-8A33-2233-E61A89161405}"/>
              </a:ext>
            </a:extLst>
          </p:cNvPr>
          <p:cNvCxnSpPr>
            <a:cxnSpLocks/>
            <a:stCxn id="36" idx="0"/>
            <a:endCxn id="39" idx="0"/>
          </p:cNvCxnSpPr>
          <p:nvPr/>
        </p:nvCxnSpPr>
        <p:spPr>
          <a:xfrm rot="5400000" flipH="1" flipV="1">
            <a:off x="3590925" y="186690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接點 73">
            <a:extLst>
              <a:ext uri="{FF2B5EF4-FFF2-40B4-BE49-F238E27FC236}">
                <a16:creationId xmlns:a16="http://schemas.microsoft.com/office/drawing/2014/main" id="{7EB525AD-E0E1-A4FF-F376-EA45F8E75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1866326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肘形接點 74">
            <a:extLst>
              <a:ext uri="{FF2B5EF4-FFF2-40B4-BE49-F238E27FC236}">
                <a16:creationId xmlns:a16="http://schemas.microsoft.com/office/drawing/2014/main" id="{9CCAD307-5598-6E11-0B84-0E590E6F8050}"/>
              </a:ext>
            </a:extLst>
          </p:cNvPr>
          <p:cNvCxnSpPr>
            <a:cxnSpLocks/>
            <a:stCxn id="40" idx="0"/>
            <a:endCxn id="41" idx="0"/>
          </p:cNvCxnSpPr>
          <p:nvPr/>
        </p:nvCxnSpPr>
        <p:spPr>
          <a:xfrm rot="5400000" flipH="1" flipV="1">
            <a:off x="8487828" y="1918536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807A6717-2133-18BA-D7FD-1FA059FB6472}"/>
              </a:ext>
            </a:extLst>
          </p:cNvPr>
          <p:cNvSpPr txBox="1"/>
          <p:nvPr/>
        </p:nvSpPr>
        <p:spPr>
          <a:xfrm>
            <a:off x="8757207" y="1515738"/>
            <a:ext cx="29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Head = 2, </a:t>
            </a:r>
            <a:r>
              <a:rPr kumimoji="1" lang="zh-TW" altLang="en-US" dirty="0">
                <a:ea typeface="Microsoft JhengHei" panose="020B0604030504040204" pitchFamily="34" charset="-120"/>
              </a:rPr>
              <a:t>使用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第二個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head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5" name="肘形接點 4">
            <a:extLst>
              <a:ext uri="{FF2B5EF4-FFF2-40B4-BE49-F238E27FC236}">
                <a16:creationId xmlns:a16="http://schemas.microsoft.com/office/drawing/2014/main" id="{1226F75D-FE2E-7777-912B-F936432BCE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73029" y="753721"/>
            <a:ext cx="608827" cy="3640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5CB29E-2796-52C3-149A-078206D3AE0F}"/>
              </a:ext>
            </a:extLst>
          </p:cNvPr>
          <p:cNvSpPr txBox="1"/>
          <p:nvPr/>
        </p:nvSpPr>
        <p:spPr>
          <a:xfrm>
            <a:off x="3505029" y="2229593"/>
            <a:ext cx="2523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5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41" grpId="0" animBg="1"/>
      <p:bldP spid="42" grpId="0" animBg="1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66E170-CFBE-86C6-2A74-5D3775D6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Input Dimensions of MHA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772CC-1841-6F48-81A7-ECE75360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07CCAFD-4F22-A3D2-FA6F-2EB554DAF992}"/>
              </a:ext>
            </a:extLst>
          </p:cNvPr>
          <p:cNvSpPr txBox="1"/>
          <p:nvPr/>
        </p:nvSpPr>
        <p:spPr>
          <a:xfrm>
            <a:off x="651298" y="1492711"/>
            <a:ext cx="3631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1 (without MHA)</a:t>
            </a:r>
            <a:endParaRPr kumimoji="1" lang="zh-TW" altLang="en-US" sz="2400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05A1A75-6E45-9343-C71D-93A7A1D72F48}"/>
              </a:ext>
            </a:extLst>
          </p:cNvPr>
          <p:cNvSpPr txBox="1"/>
          <p:nvPr/>
        </p:nvSpPr>
        <p:spPr>
          <a:xfrm>
            <a:off x="664196" y="4265384"/>
            <a:ext cx="3359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2 (with MHA)</a:t>
            </a:r>
            <a:endParaRPr kumimoji="1" lang="zh-TW" altLang="en-US" sz="2400" b="1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939058B4-8174-A1E6-C718-4D7FD6D4CC79}"/>
              </a:ext>
            </a:extLst>
          </p:cNvPr>
          <p:cNvSpPr/>
          <p:nvPr/>
        </p:nvSpPr>
        <p:spPr>
          <a:xfrm rot="16200000">
            <a:off x="4967274" y="2216261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E19A208-239C-5B7E-7C76-AEFD5D225DB1}"/>
              </a:ext>
            </a:extLst>
          </p:cNvPr>
          <p:cNvSpPr txBox="1"/>
          <p:nvPr/>
        </p:nvSpPr>
        <p:spPr>
          <a:xfrm>
            <a:off x="5038634" y="2575204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2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FA8C3C5C-DBF6-D3E3-3C2E-F7D2FC933C14}"/>
              </a:ext>
            </a:extLst>
          </p:cNvPr>
          <p:cNvSpPr/>
          <p:nvPr/>
        </p:nvSpPr>
        <p:spPr>
          <a:xfrm rot="16200000">
            <a:off x="4965488" y="2806035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238289C-30AE-21E2-15A8-DC241AF3E043}"/>
              </a:ext>
            </a:extLst>
          </p:cNvPr>
          <p:cNvSpPr txBox="1"/>
          <p:nvPr/>
        </p:nvSpPr>
        <p:spPr>
          <a:xfrm>
            <a:off x="5036848" y="316497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3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601B2F9F-ADA5-C27E-2280-65F9B17CC050}"/>
              </a:ext>
            </a:extLst>
          </p:cNvPr>
          <p:cNvSpPr/>
          <p:nvPr/>
        </p:nvSpPr>
        <p:spPr>
          <a:xfrm rot="16200000">
            <a:off x="4960252" y="1626486"/>
            <a:ext cx="507439" cy="11035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2AF980F-493B-B6A6-E936-6B794352F150}"/>
              </a:ext>
            </a:extLst>
          </p:cNvPr>
          <p:cNvSpPr txBox="1"/>
          <p:nvPr/>
        </p:nvSpPr>
        <p:spPr>
          <a:xfrm>
            <a:off x="5031612" y="198542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>
                <a:solidFill>
                  <a:schemeClr val="bg1"/>
                </a:solidFill>
              </a:rPr>
              <a:t>q</a:t>
            </a:r>
            <a:r>
              <a:rPr kumimoji="1" lang="en-US" altLang="zh-TW" sz="1800" baseline="-25000" dirty="0">
                <a:solidFill>
                  <a:schemeClr val="bg1"/>
                </a:solidFill>
              </a:rPr>
              <a:t>1</a:t>
            </a:r>
            <a:endParaRPr kumimoji="1" lang="zh-TW" altLang="en-US" sz="1800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67C0D30-D1F9-6F99-B9D3-1B038516BFE5}"/>
                  </a:ext>
                </a:extLst>
              </p:cNvPr>
              <p:cNvSpPr txBox="1"/>
              <p:nvPr/>
            </p:nvSpPr>
            <p:spPr>
              <a:xfrm>
                <a:off x="4870516" y="1443265"/>
                <a:ext cx="68690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67C0D30-D1F9-6F99-B9D3-1B038516B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516" y="1443265"/>
                <a:ext cx="686909" cy="461665"/>
              </a:xfrm>
              <a:prstGeom prst="rect">
                <a:avLst/>
              </a:prstGeom>
              <a:blipFill>
                <a:blip r:embed="rId2"/>
                <a:stretch>
                  <a:fillRect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5810BCB9-CAA9-8185-A1DA-5092A533BF43}"/>
              </a:ext>
            </a:extLst>
          </p:cNvPr>
          <p:cNvSpPr txBox="1"/>
          <p:nvPr/>
        </p:nvSpPr>
        <p:spPr>
          <a:xfrm>
            <a:off x="4843453" y="3620130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34" name="圓角矩形 33">
            <a:extLst>
              <a:ext uri="{FF2B5EF4-FFF2-40B4-BE49-F238E27FC236}">
                <a16:creationId xmlns:a16="http://schemas.microsoft.com/office/drawing/2014/main" id="{57676BC5-F379-BE56-2171-03C038E854BF}"/>
              </a:ext>
            </a:extLst>
          </p:cNvPr>
          <p:cNvSpPr/>
          <p:nvPr/>
        </p:nvSpPr>
        <p:spPr>
          <a:xfrm rot="16200000">
            <a:off x="6450296" y="2216262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D202BF0-C308-6A06-3132-50ADF944D4D4}"/>
              </a:ext>
            </a:extLst>
          </p:cNvPr>
          <p:cNvSpPr txBox="1"/>
          <p:nvPr/>
        </p:nvSpPr>
        <p:spPr>
          <a:xfrm>
            <a:off x="6521656" y="2575205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79A473B7-A5C7-B1B8-4960-0990E9292C09}"/>
              </a:ext>
            </a:extLst>
          </p:cNvPr>
          <p:cNvSpPr/>
          <p:nvPr/>
        </p:nvSpPr>
        <p:spPr>
          <a:xfrm rot="16200000">
            <a:off x="6448510" y="2806036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1CF5476A-A3D1-D640-5268-EFC5313ABF43}"/>
              </a:ext>
            </a:extLst>
          </p:cNvPr>
          <p:cNvSpPr txBox="1"/>
          <p:nvPr/>
        </p:nvSpPr>
        <p:spPr>
          <a:xfrm>
            <a:off x="6519870" y="3164979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09E3B535-A438-AB3E-03FE-B4E36D2877DA}"/>
              </a:ext>
            </a:extLst>
          </p:cNvPr>
          <p:cNvSpPr/>
          <p:nvPr/>
        </p:nvSpPr>
        <p:spPr>
          <a:xfrm rot="16200000">
            <a:off x="6443274" y="1626487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27F8EC44-0C63-FA2F-E868-15190580447C}"/>
              </a:ext>
            </a:extLst>
          </p:cNvPr>
          <p:cNvSpPr txBox="1"/>
          <p:nvPr/>
        </p:nvSpPr>
        <p:spPr>
          <a:xfrm>
            <a:off x="6514634" y="1985430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106C05B1-308B-C59A-BF88-A019FC498CB0}"/>
              </a:ext>
            </a:extLst>
          </p:cNvPr>
          <p:cNvSpPr txBox="1"/>
          <p:nvPr/>
        </p:nvSpPr>
        <p:spPr>
          <a:xfrm>
            <a:off x="6171627" y="3636982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75BEA534-53B4-FCE3-C6AC-1CDDEBBA4D07}"/>
              </a:ext>
            </a:extLst>
          </p:cNvPr>
          <p:cNvSpPr/>
          <p:nvPr/>
        </p:nvSpPr>
        <p:spPr>
          <a:xfrm rot="16200000">
            <a:off x="7332823" y="1910054"/>
            <a:ext cx="1732052" cy="17218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B316610-C31C-CF70-2AE0-4C89450749DE}"/>
              </a:ext>
            </a:extLst>
          </p:cNvPr>
          <p:cNvSpPr txBox="1"/>
          <p:nvPr/>
        </p:nvSpPr>
        <p:spPr>
          <a:xfrm>
            <a:off x="7674116" y="3636982"/>
            <a:ext cx="14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3A7ED15-A1B2-4FA7-EAD1-120991913376}"/>
              </a:ext>
            </a:extLst>
          </p:cNvPr>
          <p:cNvSpPr txBox="1"/>
          <p:nvPr/>
        </p:nvSpPr>
        <p:spPr>
          <a:xfrm>
            <a:off x="7875184" y="2566075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Q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D7EF3AEC-855E-F415-F3D7-CAA8E8822C51}"/>
              </a:ext>
            </a:extLst>
          </p:cNvPr>
          <p:cNvSpPr txBox="1"/>
          <p:nvPr/>
        </p:nvSpPr>
        <p:spPr>
          <a:xfrm>
            <a:off x="5714712" y="2431964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p:sp>
        <p:nvSpPr>
          <p:cNvPr id="53" name="圓角矩形 52">
            <a:extLst>
              <a:ext uri="{FF2B5EF4-FFF2-40B4-BE49-F238E27FC236}">
                <a16:creationId xmlns:a16="http://schemas.microsoft.com/office/drawing/2014/main" id="{B2D2D164-5472-4E71-AB2E-FC47BD94AE6A}"/>
              </a:ext>
            </a:extLst>
          </p:cNvPr>
          <p:cNvSpPr/>
          <p:nvPr/>
        </p:nvSpPr>
        <p:spPr>
          <a:xfrm rot="16200000">
            <a:off x="6450792" y="4907670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4371DCE-81CF-991E-EEA8-D1B2E9214B30}"/>
              </a:ext>
            </a:extLst>
          </p:cNvPr>
          <p:cNvSpPr txBox="1"/>
          <p:nvPr/>
        </p:nvSpPr>
        <p:spPr>
          <a:xfrm>
            <a:off x="6522152" y="5266613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2</a:t>
            </a:r>
            <a:endParaRPr kumimoji="1" lang="zh-TW" altLang="en-US" sz="1800" baseline="-25000" dirty="0"/>
          </a:p>
        </p:txBody>
      </p:sp>
      <p:sp>
        <p:nvSpPr>
          <p:cNvPr id="55" name="圓角矩形 54">
            <a:extLst>
              <a:ext uri="{FF2B5EF4-FFF2-40B4-BE49-F238E27FC236}">
                <a16:creationId xmlns:a16="http://schemas.microsoft.com/office/drawing/2014/main" id="{A3F18122-AC6C-295E-7A95-D5D6BE733938}"/>
              </a:ext>
            </a:extLst>
          </p:cNvPr>
          <p:cNvSpPr/>
          <p:nvPr/>
        </p:nvSpPr>
        <p:spPr>
          <a:xfrm rot="16200000">
            <a:off x="6449006" y="5497444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2DE0410B-8CDD-A372-1DCB-B6EFB5B53FBC}"/>
              </a:ext>
            </a:extLst>
          </p:cNvPr>
          <p:cNvSpPr txBox="1"/>
          <p:nvPr/>
        </p:nvSpPr>
        <p:spPr>
          <a:xfrm>
            <a:off x="6520366" y="5856387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3</a:t>
            </a:r>
            <a:endParaRPr kumimoji="1" lang="zh-TW" altLang="en-US" sz="1800" baseline="-25000" dirty="0"/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4F749F0D-7646-C905-6302-EB06B4760FBC}"/>
              </a:ext>
            </a:extLst>
          </p:cNvPr>
          <p:cNvSpPr/>
          <p:nvPr/>
        </p:nvSpPr>
        <p:spPr>
          <a:xfrm rot="16200000">
            <a:off x="6443770" y="4317895"/>
            <a:ext cx="507439" cy="110351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491F5992-8735-84ED-FC31-840E1434531D}"/>
              </a:ext>
            </a:extLst>
          </p:cNvPr>
          <p:cNvSpPr txBox="1"/>
          <p:nvPr/>
        </p:nvSpPr>
        <p:spPr>
          <a:xfrm>
            <a:off x="6515130" y="4676838"/>
            <a:ext cx="578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800" dirty="0"/>
              <a:t>e</a:t>
            </a:r>
            <a:r>
              <a:rPr kumimoji="1" lang="en-US" altLang="zh-TW" sz="1800" baseline="-25000" dirty="0"/>
              <a:t>1</a:t>
            </a:r>
            <a:endParaRPr kumimoji="1" lang="zh-TW" altLang="en-US" sz="1800" baseline="-25000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335B9D0-169F-5DB1-6789-F3B0912478CF}"/>
              </a:ext>
            </a:extLst>
          </p:cNvPr>
          <p:cNvSpPr txBox="1"/>
          <p:nvPr/>
        </p:nvSpPr>
        <p:spPr>
          <a:xfrm>
            <a:off x="6172123" y="6328390"/>
            <a:ext cx="1151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endParaRPr kumimoji="1" lang="zh-TW" altLang="en-US" baseline="-25000" dirty="0"/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B11D4280-D6CA-B53C-198E-7E7DCACA3146}"/>
              </a:ext>
            </a:extLst>
          </p:cNvPr>
          <p:cNvSpPr/>
          <p:nvPr/>
        </p:nvSpPr>
        <p:spPr>
          <a:xfrm rot="16200000">
            <a:off x="6902621" y="5032162"/>
            <a:ext cx="1732052" cy="860404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805346E-EFD8-049F-68BC-FFD482A6DB8E}"/>
              </a:ext>
            </a:extLst>
          </p:cNvPr>
          <p:cNvSpPr txBox="1"/>
          <p:nvPr/>
        </p:nvSpPr>
        <p:spPr>
          <a:xfrm>
            <a:off x="8172526" y="4246224"/>
            <a:ext cx="79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r>
              <a:rPr kumimoji="1" lang="en-US" altLang="zh-TW" baseline="-25000" dirty="0"/>
              <a:t>k</a:t>
            </a:r>
            <a:r>
              <a:rPr kumimoji="1" lang="en-US" altLang="zh-TW" dirty="0"/>
              <a:t> / 2</a:t>
            </a:r>
            <a:endParaRPr kumimoji="1" lang="zh-TW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C9534DBF-69ED-70AB-28CF-11C6CF3BB85F}"/>
                  </a:ext>
                </a:extLst>
              </p:cNvPr>
              <p:cNvSpPr txBox="1"/>
              <p:nvPr/>
            </p:nvSpPr>
            <p:spPr>
              <a:xfrm>
                <a:off x="7432861" y="5287138"/>
                <a:ext cx="671571" cy="508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zh-TW" sz="2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C9534DBF-69ED-70AB-28CF-11C6CF3BB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861" y="5287138"/>
                <a:ext cx="671571" cy="508344"/>
              </a:xfrm>
              <a:prstGeom prst="rect">
                <a:avLst/>
              </a:prstGeom>
              <a:blipFill>
                <a:blip r:embed="rId3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62">
            <a:extLst>
              <a:ext uri="{FF2B5EF4-FFF2-40B4-BE49-F238E27FC236}">
                <a16:creationId xmlns:a16="http://schemas.microsoft.com/office/drawing/2014/main" id="{B54D322E-4AF3-3422-76C3-7961DA42A069}"/>
              </a:ext>
            </a:extLst>
          </p:cNvPr>
          <p:cNvSpPr txBox="1"/>
          <p:nvPr/>
        </p:nvSpPr>
        <p:spPr>
          <a:xfrm>
            <a:off x="5715208" y="5123372"/>
            <a:ext cx="509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=</a:t>
            </a:r>
            <a:endParaRPr kumimoji="1" lang="zh-TW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3FDF9A60-6DE8-EF84-6AC3-F48812DB6E9C}"/>
                  </a:ext>
                </a:extLst>
              </p:cNvPr>
              <p:cNvSpPr/>
              <p:nvPr/>
            </p:nvSpPr>
            <p:spPr>
              <a:xfrm>
                <a:off x="4662213" y="4594884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圓角矩形 63">
                <a:extLst>
                  <a:ext uri="{FF2B5EF4-FFF2-40B4-BE49-F238E27FC236}">
                    <a16:creationId xmlns:a16="http://schemas.microsoft.com/office/drawing/2014/main" id="{3FDF9A60-6DE8-EF84-6AC3-F48812DB6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213" y="4594884"/>
                <a:ext cx="507439" cy="55916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21BC9C8A-C3D3-8EBF-99C5-CA6342476DF8}"/>
                  </a:ext>
                </a:extLst>
              </p:cNvPr>
              <p:cNvSpPr/>
              <p:nvPr/>
            </p:nvSpPr>
            <p:spPr>
              <a:xfrm>
                <a:off x="4669234" y="5185556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圓角矩形 64">
                <a:extLst>
                  <a:ext uri="{FF2B5EF4-FFF2-40B4-BE49-F238E27FC236}">
                    <a16:creationId xmlns:a16="http://schemas.microsoft.com/office/drawing/2014/main" id="{21BC9C8A-C3D3-8EBF-99C5-CA6342476D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34" y="5185556"/>
                <a:ext cx="507439" cy="55916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圓角矩形 65">
                <a:extLst>
                  <a:ext uri="{FF2B5EF4-FFF2-40B4-BE49-F238E27FC236}">
                    <a16:creationId xmlns:a16="http://schemas.microsoft.com/office/drawing/2014/main" id="{4D55FA13-7A7B-13FA-5DBE-FCD76E001DF5}"/>
                  </a:ext>
                </a:extLst>
              </p:cNvPr>
              <p:cNvSpPr/>
              <p:nvPr/>
            </p:nvSpPr>
            <p:spPr>
              <a:xfrm>
                <a:off x="4669235" y="5778925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圓角矩形 65">
                <a:extLst>
                  <a:ext uri="{FF2B5EF4-FFF2-40B4-BE49-F238E27FC236}">
                    <a16:creationId xmlns:a16="http://schemas.microsoft.com/office/drawing/2014/main" id="{4D55FA13-7A7B-13FA-5DBE-FCD76E001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235" y="5778925"/>
                <a:ext cx="507439" cy="559166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圓角矩形 67">
                <a:extLst>
                  <a:ext uri="{FF2B5EF4-FFF2-40B4-BE49-F238E27FC236}">
                    <a16:creationId xmlns:a16="http://schemas.microsoft.com/office/drawing/2014/main" id="{10B79AB3-B595-5CC8-07F1-0C6921696A68}"/>
                  </a:ext>
                </a:extLst>
              </p:cNvPr>
              <p:cNvSpPr/>
              <p:nvPr/>
            </p:nvSpPr>
            <p:spPr>
              <a:xfrm>
                <a:off x="5220742" y="4592552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圓角矩形 67">
                <a:extLst>
                  <a:ext uri="{FF2B5EF4-FFF2-40B4-BE49-F238E27FC236}">
                    <a16:creationId xmlns:a16="http://schemas.microsoft.com/office/drawing/2014/main" id="{10B79AB3-B595-5CC8-07F1-0C6921696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742" y="4592552"/>
                <a:ext cx="507439" cy="5591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圓角矩形 68">
                <a:extLst>
                  <a:ext uri="{FF2B5EF4-FFF2-40B4-BE49-F238E27FC236}">
                    <a16:creationId xmlns:a16="http://schemas.microsoft.com/office/drawing/2014/main" id="{9EF4322D-D6E5-1750-B485-AF57048037B1}"/>
                  </a:ext>
                </a:extLst>
              </p:cNvPr>
              <p:cNvSpPr/>
              <p:nvPr/>
            </p:nvSpPr>
            <p:spPr>
              <a:xfrm>
                <a:off x="5227763" y="5183224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圓角矩形 68">
                <a:extLst>
                  <a:ext uri="{FF2B5EF4-FFF2-40B4-BE49-F238E27FC236}">
                    <a16:creationId xmlns:a16="http://schemas.microsoft.com/office/drawing/2014/main" id="{9EF4322D-D6E5-1750-B485-AF57048037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763" y="5183224"/>
                <a:ext cx="507439" cy="5591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圓角矩形 69">
                <a:extLst>
                  <a:ext uri="{FF2B5EF4-FFF2-40B4-BE49-F238E27FC236}">
                    <a16:creationId xmlns:a16="http://schemas.microsoft.com/office/drawing/2014/main" id="{670DA9A2-2EE3-935B-3980-2F6784DB4013}"/>
                  </a:ext>
                </a:extLst>
              </p:cNvPr>
              <p:cNvSpPr/>
              <p:nvPr/>
            </p:nvSpPr>
            <p:spPr>
              <a:xfrm>
                <a:off x="5227764" y="5776593"/>
                <a:ext cx="507439" cy="55916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8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圓角矩形 69">
                <a:extLst>
                  <a:ext uri="{FF2B5EF4-FFF2-40B4-BE49-F238E27FC236}">
                    <a16:creationId xmlns:a16="http://schemas.microsoft.com/office/drawing/2014/main" id="{670DA9A2-2EE3-935B-3980-2F6784DB40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764" y="5776593"/>
                <a:ext cx="507439" cy="559166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圓角矩形 70">
            <a:extLst>
              <a:ext uri="{FF2B5EF4-FFF2-40B4-BE49-F238E27FC236}">
                <a16:creationId xmlns:a16="http://schemas.microsoft.com/office/drawing/2014/main" id="{A975B5CA-1F72-1CAE-A766-A9E51284AE11}"/>
              </a:ext>
            </a:extLst>
          </p:cNvPr>
          <p:cNvSpPr/>
          <p:nvPr/>
        </p:nvSpPr>
        <p:spPr>
          <a:xfrm rot="16200000">
            <a:off x="7736702" y="5028376"/>
            <a:ext cx="1732052" cy="860403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20FC983-E9EB-986E-8320-730C60F3B904}"/>
                  </a:ext>
                </a:extLst>
              </p:cNvPr>
              <p:cNvSpPr txBox="1"/>
              <p:nvPr/>
            </p:nvSpPr>
            <p:spPr>
              <a:xfrm>
                <a:off x="8244135" y="5287138"/>
                <a:ext cx="671571" cy="508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820FC983-E9EB-986E-8320-730C60F3B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135" y="5287138"/>
                <a:ext cx="671571" cy="508344"/>
              </a:xfrm>
              <a:prstGeom prst="rect">
                <a:avLst/>
              </a:prstGeom>
              <a:blipFill>
                <a:blip r:embed="rId10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72">
            <a:extLst>
              <a:ext uri="{FF2B5EF4-FFF2-40B4-BE49-F238E27FC236}">
                <a16:creationId xmlns:a16="http://schemas.microsoft.com/office/drawing/2014/main" id="{58FCE292-5C36-01D3-4887-32FC11865AE0}"/>
              </a:ext>
            </a:extLst>
          </p:cNvPr>
          <p:cNvSpPr txBox="1"/>
          <p:nvPr/>
        </p:nvSpPr>
        <p:spPr>
          <a:xfrm>
            <a:off x="7692738" y="6333426"/>
            <a:ext cx="14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model</a:t>
            </a:r>
            <a:r>
              <a:rPr kumimoji="1" lang="en-US" altLang="zh-TW" dirty="0"/>
              <a:t>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AC24D79-8DD2-68B4-C1D6-030CDED0A8B0}"/>
              </a:ext>
            </a:extLst>
          </p:cNvPr>
          <p:cNvSpPr txBox="1"/>
          <p:nvPr/>
        </p:nvSpPr>
        <p:spPr>
          <a:xfrm>
            <a:off x="7357076" y="4245986"/>
            <a:ext cx="79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</a:t>
            </a:r>
            <a:r>
              <a:rPr kumimoji="1" lang="en-US" altLang="zh-TW" baseline="-25000" dirty="0"/>
              <a:t>k</a:t>
            </a:r>
            <a:r>
              <a:rPr kumimoji="1" lang="en-US" altLang="zh-TW" dirty="0"/>
              <a:t> / 2</a:t>
            </a:r>
            <a:endParaRPr kumimoji="1" lang="zh-TW" altLang="en-US" baseline="-250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5288BE81-A502-6358-3873-457506E7FC2D}"/>
              </a:ext>
            </a:extLst>
          </p:cNvPr>
          <p:cNvSpPr txBox="1"/>
          <p:nvPr/>
        </p:nvSpPr>
        <p:spPr>
          <a:xfrm>
            <a:off x="4840300" y="6339230"/>
            <a:ext cx="8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 x </a:t>
            </a:r>
            <a:r>
              <a:rPr kumimoji="1" lang="en-US" altLang="zh-TW" dirty="0" err="1"/>
              <a:t>d</a:t>
            </a:r>
            <a:r>
              <a:rPr kumimoji="1" lang="en-US" altLang="zh-TW" baseline="-25000" dirty="0" err="1"/>
              <a:t>q</a:t>
            </a:r>
            <a:endParaRPr kumimoji="1" lang="zh-TW" altLang="en-US" baseline="-25000" dirty="0"/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A8DABB75-D93B-5672-FA6E-55B8D406D9EE}"/>
              </a:ext>
            </a:extLst>
          </p:cNvPr>
          <p:cNvSpPr txBox="1"/>
          <p:nvPr/>
        </p:nvSpPr>
        <p:spPr>
          <a:xfrm>
            <a:off x="4542266" y="4242728"/>
            <a:ext cx="796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d</a:t>
            </a:r>
            <a:r>
              <a:rPr kumimoji="1" lang="en-US" altLang="zh-TW" sz="1600" baseline="-25000" dirty="0"/>
              <a:t>k</a:t>
            </a:r>
            <a:r>
              <a:rPr kumimoji="1" lang="en-US" altLang="zh-TW" sz="1600" dirty="0"/>
              <a:t> / 2</a:t>
            </a:r>
            <a:endParaRPr kumimoji="1" lang="zh-TW" altLang="en-US" sz="1600" baseline="-25000" dirty="0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A3C230CA-AB1B-9DAF-A698-851BFA61D0AF}"/>
              </a:ext>
            </a:extLst>
          </p:cNvPr>
          <p:cNvSpPr txBox="1"/>
          <p:nvPr/>
        </p:nvSpPr>
        <p:spPr>
          <a:xfrm>
            <a:off x="5060971" y="4249440"/>
            <a:ext cx="796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d</a:t>
            </a:r>
            <a:r>
              <a:rPr kumimoji="1" lang="en-US" altLang="zh-TW" sz="1600" baseline="-25000" dirty="0"/>
              <a:t>k</a:t>
            </a:r>
            <a:r>
              <a:rPr kumimoji="1" lang="en-US" altLang="zh-TW" sz="1600" dirty="0"/>
              <a:t> / 2</a:t>
            </a:r>
            <a:endParaRPr kumimoji="1" lang="zh-TW" altLang="en-US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388449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/>
      <p:bldP spid="62" grpId="0"/>
      <p:bldP spid="63" grpId="0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/>
      <p:bldP spid="73" grpId="0"/>
      <p:bldP spid="74" grpId="0"/>
      <p:bldP spid="75" grpId="0"/>
      <p:bldP spid="76" grpId="0"/>
      <p:bldP spid="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66E170-CFBE-86C6-2A74-5D3775D6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Output Dimensions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772CC-1841-6F48-81A7-ECE75360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E8A022-B941-5199-848E-6444585207C1}"/>
              </a:ext>
            </a:extLst>
          </p:cNvPr>
          <p:cNvSpPr txBox="1"/>
          <p:nvPr/>
        </p:nvSpPr>
        <p:spPr>
          <a:xfrm>
            <a:off x="651298" y="1492711"/>
            <a:ext cx="4303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1 (without MHA)</a:t>
            </a:r>
            <a:endParaRPr kumimoji="1" lang="zh-TW" altLang="en-US" sz="2400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E98EFC-9765-E89A-B0EF-CF82BFF27239}"/>
              </a:ext>
            </a:extLst>
          </p:cNvPr>
          <p:cNvSpPr txBox="1"/>
          <p:nvPr/>
        </p:nvSpPr>
        <p:spPr>
          <a:xfrm>
            <a:off x="664196" y="4265384"/>
            <a:ext cx="3590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Head = 2 (with MHA)</a:t>
            </a:r>
            <a:endParaRPr kumimoji="1" lang="zh-TW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圓角矩形 7">
                <a:extLst>
                  <a:ext uri="{FF2B5EF4-FFF2-40B4-BE49-F238E27FC236}">
                    <a16:creationId xmlns:a16="http://schemas.microsoft.com/office/drawing/2014/main" id="{A055C0AB-60D4-1636-4C3D-68244E7A2736}"/>
                  </a:ext>
                </a:extLst>
              </p:cNvPr>
              <p:cNvSpPr/>
              <p:nvPr/>
            </p:nvSpPr>
            <p:spPr>
              <a:xfrm>
                <a:off x="1976293" y="5646276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8" name="圓角矩形 7">
                <a:extLst>
                  <a:ext uri="{FF2B5EF4-FFF2-40B4-BE49-F238E27FC236}">
                    <a16:creationId xmlns:a16="http://schemas.microsoft.com/office/drawing/2014/main" id="{A055C0AB-60D4-1636-4C3D-68244E7A2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293" y="5646276"/>
                <a:ext cx="533400" cy="5619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EA15B147-BC5B-A6A6-211A-BD5827EBABF5}"/>
                  </a:ext>
                </a:extLst>
              </p:cNvPr>
              <p:cNvSpPr/>
              <p:nvPr/>
            </p:nvSpPr>
            <p:spPr>
              <a:xfrm>
                <a:off x="1976293" y="5084301"/>
                <a:ext cx="533400" cy="56197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200" baseline="-25000" dirty="0"/>
              </a:p>
            </p:txBody>
          </p:sp>
        </mc:Choice>
        <mc:Fallback xmlns="">
          <p:sp>
            <p:nvSpPr>
              <p:cNvPr id="9" name="圓角矩形 8">
                <a:extLst>
                  <a:ext uri="{FF2B5EF4-FFF2-40B4-BE49-F238E27FC236}">
                    <a16:creationId xmlns:a16="http://schemas.microsoft.com/office/drawing/2014/main" id="{EA15B147-BC5B-A6A6-211A-BD5827EBAB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293" y="5084301"/>
                <a:ext cx="533400" cy="5619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圓角矩形 23">
            <a:extLst>
              <a:ext uri="{FF2B5EF4-FFF2-40B4-BE49-F238E27FC236}">
                <a16:creationId xmlns:a16="http://schemas.microsoft.com/office/drawing/2014/main" id="{43D6FDF4-32C4-8668-30C3-51F76856F56F}"/>
              </a:ext>
            </a:extLst>
          </p:cNvPr>
          <p:cNvSpPr/>
          <p:nvPr/>
        </p:nvSpPr>
        <p:spPr>
          <a:xfrm>
            <a:off x="1940213" y="2311628"/>
            <a:ext cx="533400" cy="11173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1453DD7E-9694-FDEC-0E5F-7DA33AC27E9B}"/>
              </a:ext>
            </a:extLst>
          </p:cNvPr>
          <p:cNvSpPr/>
          <p:nvPr/>
        </p:nvSpPr>
        <p:spPr>
          <a:xfrm rot="16200000">
            <a:off x="3219958" y="2314933"/>
            <a:ext cx="1117372" cy="1110761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B947F8A-DF8B-1BBD-5A1A-C9AAB3EB2BFD}"/>
              </a:ext>
            </a:extLst>
          </p:cNvPr>
          <p:cNvSpPr txBox="1"/>
          <p:nvPr/>
        </p:nvSpPr>
        <p:spPr>
          <a:xfrm>
            <a:off x="3514128" y="2648214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O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2DB9608-2D01-D3C8-372F-60AB4D9C7430}"/>
              </a:ext>
            </a:extLst>
          </p:cNvPr>
          <p:cNvSpPr/>
          <p:nvPr/>
        </p:nvSpPr>
        <p:spPr>
          <a:xfrm rot="16200000">
            <a:off x="3219957" y="5087607"/>
            <a:ext cx="1117372" cy="1110761"/>
          </a:xfrm>
          <a:prstGeom prst="round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000" baseline="-25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3157949-CFDA-0920-72FC-6161C7D6617B}"/>
              </a:ext>
            </a:extLst>
          </p:cNvPr>
          <p:cNvSpPr txBox="1"/>
          <p:nvPr/>
        </p:nvSpPr>
        <p:spPr>
          <a:xfrm>
            <a:off x="3514127" y="5420888"/>
            <a:ext cx="671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chemeClr val="bg1"/>
                </a:solidFill>
              </a:rPr>
              <a:t>W</a:t>
            </a:r>
            <a:r>
              <a:rPr kumimoji="1" lang="en-US" altLang="zh-TW" sz="2400" baseline="30000" dirty="0">
                <a:solidFill>
                  <a:schemeClr val="bg1"/>
                </a:solidFill>
              </a:rPr>
              <a:t>O</a:t>
            </a:r>
            <a:endParaRPr kumimoji="1" lang="zh-TW" altLang="en-US" sz="2400" baseline="-25000" dirty="0">
              <a:solidFill>
                <a:schemeClr val="bg1"/>
              </a:solidFill>
            </a:endParaRPr>
          </a:p>
        </p:txBody>
      </p:sp>
      <p:sp>
        <p:nvSpPr>
          <p:cNvPr id="30" name="圓角矩形 29">
            <a:extLst>
              <a:ext uri="{FF2B5EF4-FFF2-40B4-BE49-F238E27FC236}">
                <a16:creationId xmlns:a16="http://schemas.microsoft.com/office/drawing/2014/main" id="{0C0AB7C3-752C-EB7D-544B-0EB683CEFAE7}"/>
              </a:ext>
            </a:extLst>
          </p:cNvPr>
          <p:cNvSpPr/>
          <p:nvPr/>
        </p:nvSpPr>
        <p:spPr>
          <a:xfrm>
            <a:off x="5261840" y="5084301"/>
            <a:ext cx="533400" cy="11173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1" name="圓角矩形 30">
            <a:extLst>
              <a:ext uri="{FF2B5EF4-FFF2-40B4-BE49-F238E27FC236}">
                <a16:creationId xmlns:a16="http://schemas.microsoft.com/office/drawing/2014/main" id="{806A0C68-2B8F-79B4-2661-9465ABBA2010}"/>
              </a:ext>
            </a:extLst>
          </p:cNvPr>
          <p:cNvSpPr/>
          <p:nvPr/>
        </p:nvSpPr>
        <p:spPr>
          <a:xfrm>
            <a:off x="5261840" y="2320360"/>
            <a:ext cx="533400" cy="11173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200" dirty="0"/>
              <a:t>h</a:t>
            </a:r>
            <a:r>
              <a:rPr kumimoji="1" lang="en-US" altLang="zh-TW" sz="2200" baseline="-25000" dirty="0"/>
              <a:t>1</a:t>
            </a:r>
            <a:endParaRPr kumimoji="1" lang="zh-TW" altLang="en-US" sz="2200" baseline="-25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69E164E-F6CD-A6B4-D09F-E7D260707004}"/>
              </a:ext>
            </a:extLst>
          </p:cNvPr>
          <p:cNvSpPr txBox="1"/>
          <p:nvPr/>
        </p:nvSpPr>
        <p:spPr>
          <a:xfrm>
            <a:off x="2703919" y="2648214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4AE01C6-7D31-3429-6EA3-72AA1B146E4F}"/>
              </a:ext>
            </a:extLst>
          </p:cNvPr>
          <p:cNvSpPr txBox="1"/>
          <p:nvPr/>
        </p:nvSpPr>
        <p:spPr>
          <a:xfrm>
            <a:off x="4557724" y="2648214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=</a:t>
            </a:r>
            <a:endParaRPr kumimoji="1" lang="zh-TW" altLang="en-US" sz="2400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480FC514-61AA-6A3E-3BE3-F6DB3F113ACB}"/>
              </a:ext>
            </a:extLst>
          </p:cNvPr>
          <p:cNvSpPr txBox="1"/>
          <p:nvPr/>
        </p:nvSpPr>
        <p:spPr>
          <a:xfrm>
            <a:off x="2703919" y="5448171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X</a:t>
            </a:r>
            <a:endParaRPr kumimoji="1" lang="zh-TW" altLang="en-US" sz="2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4E15EA7-5783-1839-7B50-8F612FFEC354}"/>
              </a:ext>
            </a:extLst>
          </p:cNvPr>
          <p:cNvSpPr txBox="1"/>
          <p:nvPr/>
        </p:nvSpPr>
        <p:spPr>
          <a:xfrm>
            <a:off x="4557724" y="5448171"/>
            <a:ext cx="283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=</a:t>
            </a:r>
            <a:endParaRPr kumimoji="1" lang="zh-TW" altLang="en-US" sz="2400" b="1" dirty="0"/>
          </a:p>
        </p:txBody>
      </p:sp>
      <p:sp>
        <p:nvSpPr>
          <p:cNvPr id="36" name="AutoShape 2" descr="d7fb8885690247c9a26854846b52276f">
            <a:extLst>
              <a:ext uri="{FF2B5EF4-FFF2-40B4-BE49-F238E27FC236}">
                <a16:creationId xmlns:a16="http://schemas.microsoft.com/office/drawing/2014/main" id="{C45400A9-B020-DF3B-5CC5-365CB6BEB9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85064" y="354923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37" name="AutoShape 4" descr="d7fb8885690247c9a26854846b52276f">
            <a:extLst>
              <a:ext uri="{FF2B5EF4-FFF2-40B4-BE49-F238E27FC236}">
                <a16:creationId xmlns:a16="http://schemas.microsoft.com/office/drawing/2014/main" id="{CABA0668-9CBC-CFE7-28ED-2C9402C44F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9633" y="2353802"/>
            <a:ext cx="1652631" cy="165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1F458F9F-6DF1-E55D-CFA3-7BAD8405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001" y="2389041"/>
            <a:ext cx="2982591" cy="3752686"/>
          </a:xfrm>
          <a:prstGeom prst="rect">
            <a:avLst/>
          </a:prstGeom>
        </p:spPr>
      </p:pic>
      <p:pic>
        <p:nvPicPr>
          <p:cNvPr id="39" name="內容版面配置區 12">
            <a:extLst>
              <a:ext uri="{FF2B5EF4-FFF2-40B4-BE49-F238E27FC236}">
                <a16:creationId xmlns:a16="http://schemas.microsoft.com/office/drawing/2014/main" id="{B6453C47-A2C4-E380-5C64-D12AED88A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/>
          <a:srcRect b="50000"/>
          <a:stretch/>
        </p:blipFill>
        <p:spPr>
          <a:xfrm>
            <a:off x="5990837" y="478009"/>
            <a:ext cx="5815012" cy="455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ED5424F-F1BD-C336-BC95-5AB8845522EB}"/>
                  </a:ext>
                </a:extLst>
              </p:cNvPr>
              <p:cNvSpPr txBox="1"/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ED5424F-F1BD-C336-BC95-5AB8845522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5437046D-A1E6-41FB-BF8F-92ECD8F49F92}"/>
                  </a:ext>
                </a:extLst>
              </p:cNvPr>
              <p:cNvSpPr txBox="1"/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5437046D-A1E6-41FB-BF8F-92ECD8F49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42585FA2-B896-B911-F3CF-7F2256F1520B}"/>
                  </a:ext>
                </a:extLst>
              </p:cNvPr>
              <p:cNvSpPr txBox="1"/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42585FA2-B896-B911-F3CF-7F2256F1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blipFill>
                <a:blip r:embed="rId8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DC807219-1A4A-E8F1-8769-9756C391D4FB}"/>
              </a:ext>
            </a:extLst>
          </p:cNvPr>
          <p:cNvSpPr txBox="1"/>
          <p:nvPr/>
        </p:nvSpPr>
        <p:spPr>
          <a:xfrm>
            <a:off x="10148051" y="3891114"/>
            <a:ext cx="305895" cy="37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E13FBD4-2A24-CB1C-A77B-97D0A707C1A9}"/>
              </a:ext>
            </a:extLst>
          </p:cNvPr>
          <p:cNvSpPr/>
          <p:nvPr/>
        </p:nvSpPr>
        <p:spPr>
          <a:xfrm flipV="1">
            <a:off x="8387540" y="369061"/>
            <a:ext cx="2549216" cy="56408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x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598CBA4-5794-ECD7-BD95-83E8E5354DE8}"/>
                  </a:ext>
                </a:extLst>
              </p:cNvPr>
              <p:cNvSpPr txBox="1"/>
              <p:nvPr/>
            </p:nvSpPr>
            <p:spPr>
              <a:xfrm>
                <a:off x="8506671" y="971572"/>
                <a:ext cx="1450077" cy="380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zh-TW" altLang="en-US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8598CBA4-5794-ECD7-BD95-83E8E5354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71" y="971572"/>
                <a:ext cx="1450077" cy="380810"/>
              </a:xfrm>
              <a:prstGeom prst="rect">
                <a:avLst/>
              </a:prstGeom>
              <a:blipFill>
                <a:blip r:embed="rId9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矩形 45">
            <a:extLst>
              <a:ext uri="{FF2B5EF4-FFF2-40B4-BE49-F238E27FC236}">
                <a16:creationId xmlns:a16="http://schemas.microsoft.com/office/drawing/2014/main" id="{8723F714-7EB9-75FF-A17D-BAF9FF4F2AEA}"/>
              </a:ext>
            </a:extLst>
          </p:cNvPr>
          <p:cNvSpPr/>
          <p:nvPr/>
        </p:nvSpPr>
        <p:spPr>
          <a:xfrm flipV="1">
            <a:off x="10899383" y="369061"/>
            <a:ext cx="507484" cy="564082"/>
          </a:xfrm>
          <a:prstGeom prst="rect">
            <a:avLst/>
          </a:pr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x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E5BA9FDF-BB2C-9479-4F17-6B59FBD0ABCD}"/>
                  </a:ext>
                </a:extLst>
              </p:cNvPr>
              <p:cNvSpPr txBox="1"/>
              <p:nvPr/>
            </p:nvSpPr>
            <p:spPr>
              <a:xfrm>
                <a:off x="10357352" y="960158"/>
                <a:ext cx="1682832" cy="387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d>
                            <m:dPr>
                              <m:ctrlP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⋅</m:t>
                              </m:r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kumimoji="1" lang="en-US" altLang="zh-TW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zh-TW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E5BA9FDF-BB2C-9479-4F17-6B59FBD0A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7352" y="960158"/>
                <a:ext cx="1682832" cy="387927"/>
              </a:xfrm>
              <a:prstGeom prst="rect">
                <a:avLst/>
              </a:prstGeom>
              <a:blipFill>
                <a:blip r:embed="rId10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E7B14EFA-5676-1928-C7D3-3F6CD37C0A27}"/>
                  </a:ext>
                </a:extLst>
              </p:cNvPr>
              <p:cNvSpPr txBox="1"/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E7B14EFA-5676-1928-C7D3-3F6CD37C0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19427F2-A02A-7369-C570-C3CD6FF6FA69}"/>
                  </a:ext>
                </a:extLst>
              </p:cNvPr>
              <p:cNvSpPr txBox="1"/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19427F2-A02A-7369-C570-C3CD6FF6F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blipFill>
                <a:blip r:embed="rId12"/>
                <a:stretch>
                  <a:fillRect l="-7895" t="-2703" r="-68421"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4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24" grpId="0" animBg="1"/>
      <p:bldP spid="30" grpId="0" animBg="1"/>
      <p:bldP spid="31" grpId="0" animBg="1"/>
      <p:bldP spid="40" grpId="0"/>
      <p:bldP spid="41" grpId="0"/>
      <p:bldP spid="42" grpId="0"/>
      <p:bldP spid="43" grpId="0"/>
      <p:bldP spid="48" grpId="0"/>
      <p:bldP spid="4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E250D-F59B-9F2A-18CF-2B4C6C44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MHA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比較好嗎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4A42DA-7060-6472-AB52-36BB8FFD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724350-515B-3F0D-35A5-2E0A6C13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471" y="2272315"/>
            <a:ext cx="9329057" cy="422959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50A31FA-F874-23E0-4B6E-E55C8B4D201F}"/>
              </a:ext>
            </a:extLst>
          </p:cNvPr>
          <p:cNvSpPr txBox="1"/>
          <p:nvPr/>
        </p:nvSpPr>
        <p:spPr>
          <a:xfrm>
            <a:off x="653143" y="1564720"/>
            <a:ext cx="5944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實驗證明：不同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head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關注的地方不太一樣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C6191D7-66F3-067C-56C0-E40B28FF3B2B}"/>
              </a:ext>
            </a:extLst>
          </p:cNvPr>
          <p:cNvSpPr txBox="1"/>
          <p:nvPr/>
        </p:nvSpPr>
        <p:spPr>
          <a:xfrm>
            <a:off x="5607996" y="522460"/>
            <a:ext cx="5930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400" dirty="0"/>
              <a:t>Clark, Kevin, et al. "What Does BERT Look at? An Analysis of BERT’s Attention." Proceedings of the 2019 ACL Workshop </a:t>
            </a:r>
            <a:r>
              <a:rPr lang="en" altLang="zh-TW" sz="1400" dirty="0" err="1"/>
              <a:t>BlackboxNLP</a:t>
            </a:r>
            <a:r>
              <a:rPr lang="en" altLang="zh-TW" sz="1400" dirty="0"/>
              <a:t>: Analyzing and Interpreting Neural Networks for NLP. 2019.</a:t>
            </a:r>
            <a:endParaRPr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DD94B6A-34A6-9E82-17AB-E50561CD32B7}"/>
              </a:ext>
            </a:extLst>
          </p:cNvPr>
          <p:cNvSpPr txBox="1"/>
          <p:nvPr/>
        </p:nvSpPr>
        <p:spPr>
          <a:xfrm>
            <a:off x="4531351" y="2201601"/>
            <a:ext cx="1564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關注受詞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1CF96CB-EA9D-A0C0-294D-495BCB572DF5}"/>
              </a:ext>
            </a:extLst>
          </p:cNvPr>
          <p:cNvSpPr txBox="1"/>
          <p:nvPr/>
        </p:nvSpPr>
        <p:spPr>
          <a:xfrm>
            <a:off x="9518398" y="2201601"/>
            <a:ext cx="1564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關注限定詞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42C909-6AA2-F91C-9AFF-F431C71279E2}"/>
              </a:ext>
            </a:extLst>
          </p:cNvPr>
          <p:cNvSpPr txBox="1"/>
          <p:nvPr/>
        </p:nvSpPr>
        <p:spPr>
          <a:xfrm>
            <a:off x="8510155" y="1450768"/>
            <a:ext cx="3093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&lt;layer&gt;-&lt;head number&gt;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3505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7518-6FA7-3B01-E949-1D6EFEEB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C593B1-CFFF-7087-6E59-876C4A1D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38</a:t>
            </a:fld>
            <a:endParaRPr lang="en-US"/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250B85E2-5DBB-E03C-EF88-F7ABEED0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MHA</a:t>
            </a:r>
            <a:r>
              <a:rPr kumimoji="1" lang="zh-TW" altLang="en-US" dirty="0"/>
              <a:t> 的過程中涵蓋了多次 </a:t>
            </a:r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8EDB3422-B1D0-1761-F285-65662EE76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001" y="2389041"/>
            <a:ext cx="2982591" cy="3752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5BF2AEF-E06F-D663-D618-D0FA82CDD348}"/>
                  </a:ext>
                </a:extLst>
              </p:cNvPr>
              <p:cNvSpPr txBox="1"/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ED09D0F-9D4C-8149-8F1C-18FE73714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E5506A4D-BF56-A966-81D8-090C45AAA211}"/>
                  </a:ext>
                </a:extLst>
              </p:cNvPr>
              <p:cNvSpPr txBox="1"/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B118555-0960-864B-0B45-ACCC2E87D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205E788-025B-0642-B9FD-222DA0C1EAFE}"/>
                  </a:ext>
                </a:extLst>
              </p:cNvPr>
              <p:cNvSpPr txBox="1"/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97D11B8-EE06-47D7-8754-A23DABADB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33454F12-17B9-B1A1-4097-658A911D96A8}"/>
              </a:ext>
            </a:extLst>
          </p:cNvPr>
          <p:cNvSpPr txBox="1"/>
          <p:nvPr/>
        </p:nvSpPr>
        <p:spPr>
          <a:xfrm>
            <a:off x="10148051" y="3891114"/>
            <a:ext cx="464904" cy="37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DFD5732-86DC-DEEF-3A74-29C7BAB77514}"/>
                  </a:ext>
                </a:extLst>
              </p:cNvPr>
              <p:cNvSpPr txBox="1"/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F68B3FD-CBD7-CDC4-FEF1-EA674C7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D49A4CEF-F8AD-BB78-85B3-6DEDF29ADE73}"/>
                  </a:ext>
                </a:extLst>
              </p:cNvPr>
              <p:cNvSpPr txBox="1"/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2053F4F-FB31-E153-3CD5-D7C759A33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blipFill>
                <a:blip r:embed="rId8"/>
                <a:stretch>
                  <a:fillRect l="-7895" t="-2703" r="-68421"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5128D976-FCEC-7977-BE40-0824F1773293}"/>
              </a:ext>
            </a:extLst>
          </p:cNvPr>
          <p:cNvSpPr txBox="1"/>
          <p:nvPr/>
        </p:nvSpPr>
        <p:spPr>
          <a:xfrm>
            <a:off x="3329433" y="3829746"/>
            <a:ext cx="2937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每次 </a:t>
            </a:r>
            <a:r>
              <a:rPr kumimoji="1" lang="en-US" altLang="zh-TW" dirty="0"/>
              <a:t>scaled dot-product attention </a:t>
            </a:r>
            <a:r>
              <a:rPr kumimoji="1" lang="zh-TW" altLang="en-US" dirty="0"/>
              <a:t>都會做 </a:t>
            </a:r>
            <a:r>
              <a:rPr kumimoji="1" lang="en-US" altLang="zh-TW" dirty="0" err="1"/>
              <a:t>softmax</a:t>
            </a:r>
            <a:endParaRPr kumimoji="1" lang="zh-TW" altLang="en-US" dirty="0"/>
          </a:p>
        </p:txBody>
      </p:sp>
      <p:cxnSp>
        <p:nvCxnSpPr>
          <p:cNvPr id="5" name="直線箭頭接點 4">
            <a:extLst>
              <a:ext uri="{FF2B5EF4-FFF2-40B4-BE49-F238E27FC236}">
                <a16:creationId xmlns:a16="http://schemas.microsoft.com/office/drawing/2014/main" id="{548E20F9-C247-F13B-CD48-F367B29EBF8E}"/>
              </a:ext>
            </a:extLst>
          </p:cNvPr>
          <p:cNvCxnSpPr/>
          <p:nvPr/>
        </p:nvCxnSpPr>
        <p:spPr>
          <a:xfrm>
            <a:off x="6178588" y="4330644"/>
            <a:ext cx="62791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06399F06-A519-B699-67EC-F1067819FA46}"/>
              </a:ext>
            </a:extLst>
          </p:cNvPr>
          <p:cNvCxnSpPr/>
          <p:nvPr/>
        </p:nvCxnSpPr>
        <p:spPr>
          <a:xfrm>
            <a:off x="6307586" y="4152912"/>
            <a:ext cx="62791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22072F65-749B-59FF-9C37-7A4E9E03E298}"/>
              </a:ext>
            </a:extLst>
          </p:cNvPr>
          <p:cNvCxnSpPr/>
          <p:nvPr/>
        </p:nvCxnSpPr>
        <p:spPr>
          <a:xfrm>
            <a:off x="6505799" y="3979331"/>
            <a:ext cx="62791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123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CB7354-9D15-409E-0B29-090B1BB3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39</a:t>
            </a:fld>
            <a:endParaRPr lang="en-US"/>
          </a:p>
        </p:txBody>
      </p:sp>
      <p:sp>
        <p:nvSpPr>
          <p:cNvPr id="19" name="內容版面配置區 2">
            <a:extLst>
              <a:ext uri="{FF2B5EF4-FFF2-40B4-BE49-F238E27FC236}">
                <a16:creationId xmlns:a16="http://schemas.microsoft.com/office/drawing/2014/main" id="{4BB10F39-A03E-AB6C-0F91-A122ED2FAD5B}"/>
              </a:ext>
            </a:extLst>
          </p:cNvPr>
          <p:cNvSpPr txBox="1">
            <a:spLocks/>
          </p:cNvSpPr>
          <p:nvPr/>
        </p:nvSpPr>
        <p:spPr>
          <a:xfrm>
            <a:off x="1216574" y="3429000"/>
            <a:ext cx="5523673" cy="18886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TW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C8C9033-E6DF-71DC-B4B5-F1ABD93D46B7}"/>
              </a:ext>
            </a:extLst>
          </p:cNvPr>
          <p:cNvSpPr txBox="1"/>
          <p:nvPr/>
        </p:nvSpPr>
        <p:spPr>
          <a:xfrm>
            <a:off x="740032" y="2225419"/>
            <a:ext cx="5141004" cy="373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透過 </a:t>
            </a:r>
            <a:r>
              <a:rPr kumimoji="1" lang="en-US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MHA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，模型會將表示投影到多個不同的子空間，讓每個 </a:t>
            </a:r>
            <a:r>
              <a:rPr kumimoji="1" lang="en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head 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各自進行 </a:t>
            </a:r>
            <a:r>
              <a:rPr kumimoji="1" lang="en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self-attention</a:t>
            </a:r>
            <a:r>
              <a:rPr kumimoji="1" lang="zh-TW" altLang="en" sz="2000" dirty="0"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因此同一個時間點可以同時從不同角度捕捉序列中的關係</a:t>
            </a:r>
            <a:endParaRPr kumimoji="1" lang="en-US" altLang="zh-T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標準 </a:t>
            </a:r>
            <a:r>
              <a:rPr kumimoji="1" lang="en-US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Transformer 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的 </a:t>
            </a:r>
            <a:r>
              <a:rPr kumimoji="1" lang="en-US" altLang="zh-TW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num_heads</a:t>
            </a:r>
            <a:r>
              <a:rPr kumimoji="1" lang="en-US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通常不改變最終輸出維度，因為總模型維度 </a:t>
            </a:r>
            <a:r>
              <a:rPr kumimoji="1" lang="en-US" altLang="zh-TW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d_model</a:t>
            </a:r>
            <a:r>
              <a:rPr kumimoji="1" lang="en-US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固定，</a:t>
            </a:r>
            <a:r>
              <a:rPr kumimoji="1" lang="en-US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head 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數改變時會相應調整每個 </a:t>
            </a:r>
            <a:r>
              <a:rPr kumimoji="1" lang="en-US" altLang="zh-TW" sz="2000" dirty="0">
                <a:latin typeface="Calibri" panose="020F0502020204030204" pitchFamily="34" charset="0"/>
                <a:cs typeface="Calibri" panose="020F0502020204030204" pitchFamily="34" charset="0"/>
              </a:rPr>
              <a:t>head </a:t>
            </a:r>
            <a:r>
              <a:rPr kumimoji="1" lang="zh-TW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的維度</a:t>
            </a:r>
            <a:endParaRPr kumimoji="1" lang="en-US" altLang="zh-TW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標題 1">
            <a:extLst>
              <a:ext uri="{FF2B5EF4-FFF2-40B4-BE49-F238E27FC236}">
                <a16:creationId xmlns:a16="http://schemas.microsoft.com/office/drawing/2014/main" id="{3229EFE1-940A-38A8-F323-9BBC83722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Summary of MHA</a:t>
            </a:r>
            <a:endParaRPr kumimoji="1" lang="zh-TW" altLang="en-US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03B8906-F6F5-296C-3459-27DD3AFB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001" y="2389041"/>
            <a:ext cx="2982591" cy="37526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ED09D0F-9D4C-8149-8F1C-18FE73714CF5}"/>
                  </a:ext>
                </a:extLst>
              </p:cNvPr>
              <p:cNvSpPr txBox="1"/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ED09D0F-9D4C-8149-8F1C-18FE73714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6176" y="4425603"/>
                <a:ext cx="1489643" cy="374270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B118555-0960-864B-0B45-ACCC2E87DB56}"/>
                  </a:ext>
                </a:extLst>
              </p:cNvPr>
              <p:cNvSpPr txBox="1"/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DB118555-0960-864B-0B45-ACCC2E87D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125" y="4130258"/>
                <a:ext cx="1489643" cy="37427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97D11B8-EE06-47D7-8754-A23DABADBC41}"/>
                  </a:ext>
                </a:extLst>
              </p:cNvPr>
              <p:cNvSpPr txBox="1"/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97D11B8-EE06-47D7-8754-A23DABADB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592" y="3725634"/>
                <a:ext cx="1489643" cy="374270"/>
              </a:xfrm>
              <a:prstGeom prst="rect">
                <a:avLst/>
              </a:prstGeom>
              <a:blipFill>
                <a:blip r:embed="rId6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FD53E5D7-826B-E51E-AD97-A5C84C5910C0}"/>
              </a:ext>
            </a:extLst>
          </p:cNvPr>
          <p:cNvSpPr txBox="1"/>
          <p:nvPr/>
        </p:nvSpPr>
        <p:spPr>
          <a:xfrm>
            <a:off x="10148051" y="3891114"/>
            <a:ext cx="464904" cy="374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F68B3FD-CBD7-CDC4-FEF1-EA674C76B0FC}"/>
                  </a:ext>
                </a:extLst>
              </p:cNvPr>
              <p:cNvSpPr txBox="1"/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TW" altLang="en-US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solidFill>
                            <a:srgbClr val="FF93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(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⋅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TW" b="0" i="1" smtClean="0">
                              <a:solidFill>
                                <a:srgbClr val="FF93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F68B3FD-CBD7-CDC4-FEF1-EA674C76B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006" y="3377776"/>
                <a:ext cx="1419720" cy="380810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2053F4F-FB31-E153-3CD5-D7C759A33ACC}"/>
                  </a:ext>
                </a:extLst>
              </p:cNvPr>
              <p:cNvSpPr txBox="1"/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∈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kumimoji="1"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2053F4F-FB31-E153-3CD5-D7C759A33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076" y="2302012"/>
                <a:ext cx="964035" cy="468205"/>
              </a:xfrm>
              <a:prstGeom prst="rect">
                <a:avLst/>
              </a:prstGeom>
              <a:blipFill>
                <a:blip r:embed="rId8"/>
                <a:stretch>
                  <a:fillRect l="-7895" t="-2703" r="-68421" b="-216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19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804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21FA8-BF6C-08DC-D82D-F6A4055B5A7C}"/>
              </a:ext>
            </a:extLst>
          </p:cNvPr>
          <p:cNvSpPr/>
          <p:nvPr/>
        </p:nvSpPr>
        <p:spPr>
          <a:xfrm>
            <a:off x="4963885" y="4329405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45AD95-2235-FAA3-E90C-45FE8920B0AA}"/>
              </a:ext>
            </a:extLst>
          </p:cNvPr>
          <p:cNvSpPr/>
          <p:nvPr/>
        </p:nvSpPr>
        <p:spPr>
          <a:xfrm>
            <a:off x="6281444" y="4198776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7FF5F-8BF6-425E-157A-5FDEB514FDA7}"/>
              </a:ext>
            </a:extLst>
          </p:cNvPr>
          <p:cNvSpPr/>
          <p:nvPr/>
        </p:nvSpPr>
        <p:spPr>
          <a:xfrm>
            <a:off x="4963885" y="3502072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8F7EAE-D5B1-34D5-3FFC-C765122CEDBE}"/>
              </a:ext>
            </a:extLst>
          </p:cNvPr>
          <p:cNvSpPr/>
          <p:nvPr/>
        </p:nvSpPr>
        <p:spPr>
          <a:xfrm>
            <a:off x="6281444" y="2621903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43C22E-6ED1-3EC0-BFEC-780941DD26EC}"/>
              </a:ext>
            </a:extLst>
          </p:cNvPr>
          <p:cNvSpPr/>
          <p:nvPr/>
        </p:nvSpPr>
        <p:spPr>
          <a:xfrm>
            <a:off x="6281444" y="3374554"/>
            <a:ext cx="1026368" cy="24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內容版面配置區 11">
            <a:extLst>
              <a:ext uri="{FF2B5EF4-FFF2-40B4-BE49-F238E27FC236}">
                <a16:creationId xmlns:a16="http://schemas.microsoft.com/office/drawing/2014/main" id="{AD0221C5-C4D4-07B3-187D-01D027F9B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0" y="2180165"/>
            <a:ext cx="3331029" cy="2631372"/>
          </a:xfrm>
        </p:spPr>
        <p:txBody>
          <a:bodyPr/>
          <a:lstStyle/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Add: Residual Connection 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Norm: Layer Normalization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82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845734"/>
                <a:ext cx="4439455" cy="1527522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00"/>
                  </a:spcBef>
                  <a:buFont typeface="Wingdings" pitchFamily="2" charset="2"/>
                  <a:buChar char="n"/>
                </a:pP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Research shows that Residual Connection (He, </a:t>
                </a:r>
                <a:r>
                  <a:rPr kumimoji="1" lang="en-US" altLang="zh-TW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Kaiming</a:t>
                </a: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et al., 2016) stabilizes training. </a:t>
                </a:r>
              </a:p>
              <a:p>
                <a:pPr>
                  <a:spcBef>
                    <a:spcPts val="200"/>
                  </a:spcBef>
                  <a:buFont typeface="Wingdings" pitchFamily="2" charset="2"/>
                  <a:buChar char="n"/>
                </a:pPr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Let the layers in between learn the residual relationship (i.e. </a:t>
                </a:r>
                <a14:m>
                  <m:oMath xmlns:m="http://schemas.openxmlformats.org/officeDocument/2006/math">
                    <m:r>
                      <a:rPr kumimoji="1"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kumimoji="1"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).  </a:t>
                </a:r>
                <a:endParaRPr kumimoji="1" lang="zh-TW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845734"/>
                <a:ext cx="4439455" cy="1527522"/>
              </a:xfrm>
              <a:blipFill>
                <a:blip r:embed="rId3"/>
                <a:stretch>
                  <a:fillRect l="-3143" t="-4959" b="-66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66AF3E9B-8073-0A06-0E26-A442F783E922}"/>
              </a:ext>
            </a:extLst>
          </p:cNvPr>
          <p:cNvGrpSpPr/>
          <p:nvPr/>
        </p:nvGrpSpPr>
        <p:grpSpPr>
          <a:xfrm>
            <a:off x="5536734" y="1845734"/>
            <a:ext cx="5729077" cy="3279676"/>
            <a:chOff x="1487244" y="3429000"/>
            <a:chExt cx="4341001" cy="2438400"/>
          </a:xfrm>
        </p:grpSpPr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AC779B95-3AD3-DF11-CE41-9BD368CA8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6545" y="3429000"/>
              <a:ext cx="3441700" cy="2438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788C8FC-5EEE-1E2E-A51C-621CFEAF185F}"/>
                </a:ext>
              </a:extLst>
            </p:cNvPr>
            <p:cNvSpPr txBox="1"/>
            <p:nvPr/>
          </p:nvSpPr>
          <p:spPr>
            <a:xfrm>
              <a:off x="1487245" y="5120641"/>
              <a:ext cx="1279199" cy="297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Residual</a:t>
              </a:r>
              <a:endParaRPr lang="zh-TW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0222FB4-48A5-B892-ED54-49A505228E45}"/>
                </a:ext>
              </a:extLst>
            </p:cNvPr>
            <p:cNvSpPr txBox="1"/>
            <p:nvPr/>
          </p:nvSpPr>
          <p:spPr>
            <a:xfrm>
              <a:off x="1487244" y="3719905"/>
              <a:ext cx="1279199" cy="297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Standard</a:t>
              </a:r>
              <a:endParaRPr lang="zh-TW" altLang="en-US" sz="20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91BD39-6D1A-4467-01AB-173375ED05C5}"/>
              </a:ext>
            </a:extLst>
          </p:cNvPr>
          <p:cNvSpPr txBox="1"/>
          <p:nvPr/>
        </p:nvSpPr>
        <p:spPr>
          <a:xfrm>
            <a:off x="1386071" y="6459622"/>
            <a:ext cx="9989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He, </a:t>
            </a:r>
            <a:r>
              <a:rPr lang="en-US" altLang="zh-TW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Kaiming</a:t>
            </a:r>
            <a:r>
              <a:rPr lang="en-US" altLang="zh-TW" sz="1200" dirty="0">
                <a:latin typeface="Calibri" panose="020F0502020204030204" pitchFamily="34" charset="0"/>
                <a:cs typeface="Calibri" panose="020F0502020204030204" pitchFamily="34" charset="0"/>
              </a:rPr>
              <a:t>, et al. "Deep residual learning for image recognition." Proceedings of the IEEE conference on computer vision and pattern recognition (2016).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098383AD-DEBB-9374-ABB1-2768F534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/>
          </a:bodyPr>
          <a:lstStyle/>
          <a:p>
            <a:r>
              <a:rPr kumimoji="1" lang="en-US" altLang="zh-TW" u="sng" dirty="0">
                <a:cs typeface="Calibri" panose="020F0502020204030204" pitchFamily="34" charset="0"/>
              </a:rPr>
              <a:t>Add</a:t>
            </a:r>
            <a:r>
              <a:rPr kumimoji="1" lang="en-US" altLang="zh-TW" dirty="0">
                <a:cs typeface="Calibri" panose="020F0502020204030204" pitchFamily="34" charset="0"/>
              </a:rPr>
              <a:t> &amp; Norm</a:t>
            </a:r>
            <a:endParaRPr lang="zh-TW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4896667-01DC-384D-5D83-367F7FA36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89" y="3829486"/>
            <a:ext cx="3992852" cy="21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548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C4281DB4-CD8B-BC23-22DE-5A9CFB8EE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68" y="2613298"/>
            <a:ext cx="4938540" cy="3802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42</a:t>
            </a:fld>
            <a:endParaRPr 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C3013DB-845C-D2CC-87BE-1E67024EAA4F}"/>
              </a:ext>
            </a:extLst>
          </p:cNvPr>
          <p:cNvSpPr txBox="1"/>
          <p:nvPr/>
        </p:nvSpPr>
        <p:spPr>
          <a:xfrm>
            <a:off x="6803188" y="1470307"/>
            <a:ext cx="49552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B: Batch Size</a:t>
            </a:r>
          </a:p>
          <a:p>
            <a:r>
              <a:rPr kumimoji="1" lang="en-US" altLang="zh-TW" dirty="0"/>
              <a:t>C: Channels / Feature Dimension</a:t>
            </a:r>
          </a:p>
          <a:p>
            <a:r>
              <a:rPr kumimoji="1" lang="en-US" altLang="zh-TW" dirty="0"/>
              <a:t>N: Sequence length</a:t>
            </a:r>
            <a:r>
              <a:rPr kumimoji="1" lang="zh-TW" altLang="en-US" dirty="0"/>
              <a:t> </a:t>
            </a:r>
            <a:r>
              <a:rPr kumimoji="1" lang="en-US" altLang="zh-TW" dirty="0"/>
              <a:t>(CNN </a:t>
            </a:r>
            <a:r>
              <a:rPr kumimoji="1" lang="zh-TW" altLang="en-US" dirty="0"/>
              <a:t>中代表長</a:t>
            </a:r>
            <a:r>
              <a:rPr kumimoji="1" lang="en-US" altLang="zh-TW" dirty="0"/>
              <a:t>x</a:t>
            </a:r>
            <a:r>
              <a:rPr kumimoji="1" lang="zh-TW" altLang="en-US" dirty="0"/>
              <a:t>寬的數目</a:t>
            </a:r>
            <a:r>
              <a:rPr kumimoji="1" lang="en-US" altLang="zh-TW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7892" y="1654717"/>
                <a:ext cx="5428108" cy="2528177"/>
              </a:xfrm>
            </p:spPr>
            <p:txBody>
              <a:bodyPr>
                <a:noAutofit/>
              </a:bodyPr>
              <a:lstStyle/>
              <a:p>
                <a:pPr algn="just">
                  <a:spcBef>
                    <a:spcPts val="200"/>
                  </a:spcBef>
                  <a:buFont typeface="Wingdings" pitchFamily="2" charset="2"/>
                  <a:buChar char="n"/>
                </a:pPr>
                <a:r>
                  <a:rPr kumimoji="1" lang="en-US" altLang="zh-TW" dirty="0">
                    <a:highlight>
                      <a:srgbClr val="FFFF00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Layer Norm: For an input vector, calculate its mean and std across embedding dimension</a:t>
                </a:r>
                <a:r>
                  <a:rPr kumimoji="1" lang="zh-TW" altLang="en-US" dirty="0">
                    <a:highlight>
                      <a:srgbClr val="FFFF00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zh-TW" dirty="0">
                    <a:highlight>
                      <a:srgbClr val="FFFF00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(within an example).</a:t>
                </a:r>
              </a:p>
              <a:p>
                <a:pPr lvl="1">
                  <a:buFont typeface="Wingdings" pitchFamily="2" charset="2"/>
                  <a:buChar char="n"/>
                </a:pPr>
                <a:r>
                  <a:rPr kumimoji="1" lang="en-US" altLang="zh-TW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𝐧𝐨𝐫𝐦</m:t>
                    </m:r>
                    <m:d>
                      <m:d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</m:e>
                    </m:d>
                    <m:r>
                      <a:rPr kumimoji="1" lang="en-US" altLang="zh-TW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TW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𝑿</m:t>
                        </m:r>
                        <m:r>
                          <a:rPr kumimoji="1" lang="en-US" altLang="zh-TW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1" lang="en-US" altLang="zh-TW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</m:num>
                      <m:den>
                        <m:r>
                          <a:rPr kumimoji="1" lang="en-US" altLang="zh-TW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𝝈</m:t>
                        </m:r>
                      </m:den>
                    </m:f>
                  </m:oMath>
                </a14:m>
                <a:r>
                  <a:rPr kumimoji="1" lang="en-US" altLang="zh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9372C1F0-CF52-6A42-B166-128A4D26DB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892" y="1654717"/>
                <a:ext cx="5428108" cy="2528177"/>
              </a:xfrm>
              <a:blipFill>
                <a:blip r:embed="rId4"/>
                <a:stretch>
                  <a:fillRect l="-2564" t="-3000" r="-37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EC66F5E8-925C-9D58-7580-BFF2846FCD83}"/>
              </a:ext>
            </a:extLst>
          </p:cNvPr>
          <p:cNvSpPr txBox="1"/>
          <p:nvPr/>
        </p:nvSpPr>
        <p:spPr>
          <a:xfrm>
            <a:off x="2445532" y="6445901"/>
            <a:ext cx="765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Ba, Jimmy Lei, Jamie Ryan 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Kiros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Geoffrey E. Hinton. "Layer normalization." 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arXiv:1607.06450 (2016).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DDAEE2A0-1F04-B1F5-58E5-EAD20D6E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Add &amp; </a:t>
            </a:r>
            <a:r>
              <a:rPr kumimoji="1" lang="en-US" altLang="zh-TW" u="sng" dirty="0">
                <a:cs typeface="Calibri" panose="020F0502020204030204" pitchFamily="34" charset="0"/>
              </a:rPr>
              <a:t>Norm (Layer Normalization)</a:t>
            </a:r>
            <a:endParaRPr lang="zh-TW" altLang="en-US" u="sng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0C74D646-DA8A-23B9-AAFE-B6692FA2A543}"/>
              </a:ext>
            </a:extLst>
          </p:cNvPr>
          <p:cNvSpPr/>
          <p:nvPr/>
        </p:nvSpPr>
        <p:spPr>
          <a:xfrm>
            <a:off x="5994017" y="37101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B37AA9C-30E3-FC27-4469-33A6860658A5}"/>
              </a:ext>
            </a:extLst>
          </p:cNvPr>
          <p:cNvSpPr/>
          <p:nvPr/>
        </p:nvSpPr>
        <p:spPr>
          <a:xfrm>
            <a:off x="5994017" y="48983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496D91D-FEC6-71A0-3C44-6ED9AFDD409A}"/>
              </a:ext>
            </a:extLst>
          </p:cNvPr>
          <p:cNvCxnSpPr>
            <a:cxnSpLocks/>
            <a:stCxn id="2" idx="6"/>
            <a:endCxn id="11" idx="2"/>
          </p:cNvCxnSpPr>
          <p:nvPr/>
        </p:nvCxnSpPr>
        <p:spPr>
          <a:xfrm>
            <a:off x="6565517" y="3995933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8DD46C8-1545-B11D-880A-AD1EB6D16D11}"/>
              </a:ext>
            </a:extLst>
          </p:cNvPr>
          <p:cNvCxnSpPr>
            <a:cxnSpLocks/>
            <a:stCxn id="3" idx="6"/>
            <a:endCxn id="10" idx="2"/>
          </p:cNvCxnSpPr>
          <p:nvPr/>
        </p:nvCxnSpPr>
        <p:spPr>
          <a:xfrm flipV="1">
            <a:off x="6565517" y="3995933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FCFBDEB3-364D-612D-F642-0262B1FE7B78}"/>
              </a:ext>
            </a:extLst>
          </p:cNvPr>
          <p:cNvSpPr/>
          <p:nvPr/>
        </p:nvSpPr>
        <p:spPr>
          <a:xfrm>
            <a:off x="7742807" y="37101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A4F4FEE-CF98-CDA8-5059-4075DEC3C4ED}"/>
              </a:ext>
            </a:extLst>
          </p:cNvPr>
          <p:cNvSpPr/>
          <p:nvPr/>
        </p:nvSpPr>
        <p:spPr>
          <a:xfrm>
            <a:off x="7742807" y="48983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1C3D44D-0569-5E22-A32D-6A0323433EEC}"/>
              </a:ext>
            </a:extLst>
          </p:cNvPr>
          <p:cNvCxnSpPr>
            <a:cxnSpLocks/>
          </p:cNvCxnSpPr>
          <p:nvPr/>
        </p:nvCxnSpPr>
        <p:spPr>
          <a:xfrm>
            <a:off x="6565517" y="3995933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742519E-6833-60C2-3EF7-A01F9DC7286F}"/>
              </a:ext>
            </a:extLst>
          </p:cNvPr>
          <p:cNvCxnSpPr>
            <a:cxnSpLocks/>
            <a:stCxn id="3" idx="6"/>
            <a:endCxn id="11" idx="2"/>
          </p:cNvCxnSpPr>
          <p:nvPr/>
        </p:nvCxnSpPr>
        <p:spPr>
          <a:xfrm>
            <a:off x="6565517" y="5184139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CFEE8F7-D460-2A94-9691-411E6FC49902}"/>
                  </a:ext>
                </a:extLst>
              </p:cNvPr>
              <p:cNvSpPr txBox="1"/>
              <p:nvPr/>
            </p:nvSpPr>
            <p:spPr>
              <a:xfrm>
                <a:off x="6099732" y="3795878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CFEE8F7-D460-2A94-9691-411E6FC49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732" y="3795878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590755F-5E28-78D6-373D-21D3FEF8DDE9}"/>
                  </a:ext>
                </a:extLst>
              </p:cNvPr>
              <p:cNvSpPr txBox="1"/>
              <p:nvPr/>
            </p:nvSpPr>
            <p:spPr>
              <a:xfrm>
                <a:off x="6075949" y="4964874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D590755F-5E28-78D6-373D-21D3FEF8D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949" y="4964874"/>
                <a:ext cx="44485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F6D31A5-184A-D948-E4F4-6F66E7257E2A}"/>
                  </a:ext>
                </a:extLst>
              </p:cNvPr>
              <p:cNvSpPr txBox="1"/>
              <p:nvPr/>
            </p:nvSpPr>
            <p:spPr>
              <a:xfrm>
                <a:off x="7799824" y="379587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F6D31A5-184A-D948-E4F4-6F66E7257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824" y="3795878"/>
                <a:ext cx="5158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AB7316-E624-D455-AF64-921B968B21A7}"/>
                  </a:ext>
                </a:extLst>
              </p:cNvPr>
              <p:cNvSpPr txBox="1"/>
              <p:nvPr/>
            </p:nvSpPr>
            <p:spPr>
              <a:xfrm>
                <a:off x="7776335" y="4984084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AB7316-E624-D455-AF64-921B968B2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335" y="4984084"/>
                <a:ext cx="504444" cy="424796"/>
              </a:xfrm>
              <a:prstGeom prst="rect">
                <a:avLst/>
              </a:prstGeom>
              <a:blipFill>
                <a:blip r:embed="rId8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97D766D3-C4D0-7F1D-6CB4-15B7CA436DDF}"/>
              </a:ext>
            </a:extLst>
          </p:cNvPr>
          <p:cNvSpPr txBox="1"/>
          <p:nvPr/>
        </p:nvSpPr>
        <p:spPr>
          <a:xfrm rot="5400000">
            <a:off x="5997283" y="452828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416EB0C-7560-2BF9-6E7F-02E8AAFF0922}"/>
              </a:ext>
            </a:extLst>
          </p:cNvPr>
          <p:cNvSpPr txBox="1"/>
          <p:nvPr/>
        </p:nvSpPr>
        <p:spPr>
          <a:xfrm rot="5400000">
            <a:off x="7741793" y="452828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E1E5C7-9033-DFA9-F504-143C01EF6ED8}"/>
              </a:ext>
            </a:extLst>
          </p:cNvPr>
          <p:cNvSpPr/>
          <p:nvPr/>
        </p:nvSpPr>
        <p:spPr>
          <a:xfrm>
            <a:off x="7652543" y="3468993"/>
            <a:ext cx="792480" cy="22758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5C827BF-E405-F9E4-F980-7BBB4B76E1F5}"/>
                  </a:ext>
                </a:extLst>
              </p:cNvPr>
              <p:cNvSpPr txBox="1"/>
              <p:nvPr/>
            </p:nvSpPr>
            <p:spPr>
              <a:xfrm>
                <a:off x="8617743" y="3050520"/>
                <a:ext cx="3413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計算：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平均數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標準差</a:t>
                </a:r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95C827BF-E405-F9E4-F980-7BBB4B76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743" y="3050520"/>
                <a:ext cx="3413760" cy="369332"/>
              </a:xfrm>
              <a:prstGeom prst="rect">
                <a:avLst/>
              </a:prstGeom>
              <a:blipFill>
                <a:blip r:embed="rId9"/>
                <a:stretch>
                  <a:fillRect l="-1481" t="-6667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肘形接點 22">
            <a:extLst>
              <a:ext uri="{FF2B5EF4-FFF2-40B4-BE49-F238E27FC236}">
                <a16:creationId xmlns:a16="http://schemas.microsoft.com/office/drawing/2014/main" id="{F26838D2-583C-C750-9591-250996FAD27B}"/>
              </a:ext>
            </a:extLst>
          </p:cNvPr>
          <p:cNvCxnSpPr>
            <a:stCxn id="21" idx="0"/>
            <a:endCxn id="22" idx="1"/>
          </p:cNvCxnSpPr>
          <p:nvPr/>
        </p:nvCxnSpPr>
        <p:spPr>
          <a:xfrm rot="5400000" flipH="1" flipV="1">
            <a:off x="8216360" y="3067610"/>
            <a:ext cx="233807" cy="56896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0198E803-A99E-19C2-9809-A786F3F1CABF}"/>
              </a:ext>
            </a:extLst>
          </p:cNvPr>
          <p:cNvSpPr/>
          <p:nvPr/>
        </p:nvSpPr>
        <p:spPr>
          <a:xfrm>
            <a:off x="9510258" y="371018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CFB37E9-551B-0C91-FD6B-0C1905058B64}"/>
              </a:ext>
            </a:extLst>
          </p:cNvPr>
          <p:cNvSpPr/>
          <p:nvPr/>
        </p:nvSpPr>
        <p:spPr>
          <a:xfrm>
            <a:off x="9510258" y="489838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68C9451-AEEF-8D4F-9426-7FCCA3E0541B}"/>
                  </a:ext>
                </a:extLst>
              </p:cNvPr>
              <p:cNvSpPr txBox="1"/>
              <p:nvPr/>
            </p:nvSpPr>
            <p:spPr>
              <a:xfrm>
                <a:off x="9567275" y="379587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E68C9451-AEEF-8D4F-9426-7FCCA3E05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275" y="3795878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1D959C4-7D55-8CB8-10D4-050706149BB6}"/>
                  </a:ext>
                </a:extLst>
              </p:cNvPr>
              <p:cNvSpPr txBox="1"/>
              <p:nvPr/>
            </p:nvSpPr>
            <p:spPr>
              <a:xfrm>
                <a:off x="9543786" y="4984084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1D959C4-7D55-8CB8-10D4-050706149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3786" y="4984084"/>
                <a:ext cx="504444" cy="424796"/>
              </a:xfrm>
              <a:prstGeom prst="rect">
                <a:avLst/>
              </a:prstGeom>
              <a:blipFill>
                <a:blip r:embed="rId11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7">
            <a:extLst>
              <a:ext uri="{FF2B5EF4-FFF2-40B4-BE49-F238E27FC236}">
                <a16:creationId xmlns:a16="http://schemas.microsoft.com/office/drawing/2014/main" id="{63EFE47F-4839-4886-8DF6-1DB320B9A316}"/>
              </a:ext>
            </a:extLst>
          </p:cNvPr>
          <p:cNvSpPr txBox="1"/>
          <p:nvPr/>
        </p:nvSpPr>
        <p:spPr>
          <a:xfrm rot="5400000">
            <a:off x="9509244" y="452828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2895C43-DC03-C392-7552-89EA811C6A5B}"/>
              </a:ext>
            </a:extLst>
          </p:cNvPr>
          <p:cNvCxnSpPr>
            <a:cxnSpLocks/>
            <a:stCxn id="17" idx="3"/>
            <a:endCxn id="24" idx="2"/>
          </p:cNvCxnSpPr>
          <p:nvPr/>
        </p:nvCxnSpPr>
        <p:spPr>
          <a:xfrm>
            <a:off x="8315698" y="3995933"/>
            <a:ext cx="119456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DCB84E8-F73A-120B-18E8-D595188F2917}"/>
              </a:ext>
            </a:extLst>
          </p:cNvPr>
          <p:cNvCxnSpPr>
            <a:cxnSpLocks/>
            <a:stCxn id="11" idx="6"/>
            <a:endCxn id="25" idx="2"/>
          </p:cNvCxnSpPr>
          <p:nvPr/>
        </p:nvCxnSpPr>
        <p:spPr>
          <a:xfrm>
            <a:off x="8314307" y="5184139"/>
            <a:ext cx="1195951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9E94672-4701-CA1A-0EE2-254A445FA577}"/>
              </a:ext>
            </a:extLst>
          </p:cNvPr>
          <p:cNvSpPr txBox="1"/>
          <p:nvPr/>
        </p:nvSpPr>
        <p:spPr>
          <a:xfrm>
            <a:off x="6891354" y="5901929"/>
            <a:ext cx="2274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(Batch Normalization)</a:t>
            </a:r>
          </a:p>
        </p:txBody>
      </p:sp>
      <p:sp>
        <p:nvSpPr>
          <p:cNvPr id="32" name="手繪多邊形 31">
            <a:extLst>
              <a:ext uri="{FF2B5EF4-FFF2-40B4-BE49-F238E27FC236}">
                <a16:creationId xmlns:a16="http://schemas.microsoft.com/office/drawing/2014/main" id="{510354D1-6AB6-4B17-8C94-B2CA77AF5A07}"/>
              </a:ext>
            </a:extLst>
          </p:cNvPr>
          <p:cNvSpPr/>
          <p:nvPr/>
        </p:nvSpPr>
        <p:spPr>
          <a:xfrm>
            <a:off x="3356009" y="5066952"/>
            <a:ext cx="987391" cy="648048"/>
          </a:xfrm>
          <a:custGeom>
            <a:avLst/>
            <a:gdLst>
              <a:gd name="connsiteX0" fmla="*/ 31427 w 987391"/>
              <a:gd name="connsiteY0" fmla="*/ 3812 h 648048"/>
              <a:gd name="connsiteX1" fmla="*/ 104164 w 987391"/>
              <a:gd name="connsiteY1" fmla="*/ 14203 h 648048"/>
              <a:gd name="connsiteX2" fmla="*/ 280809 w 987391"/>
              <a:gd name="connsiteY2" fmla="*/ 24593 h 648048"/>
              <a:gd name="connsiteX3" fmla="*/ 311982 w 987391"/>
              <a:gd name="connsiteY3" fmla="*/ 34984 h 648048"/>
              <a:gd name="connsiteX4" fmla="*/ 363936 w 987391"/>
              <a:gd name="connsiteY4" fmla="*/ 45375 h 648048"/>
              <a:gd name="connsiteX5" fmla="*/ 426282 w 987391"/>
              <a:gd name="connsiteY5" fmla="*/ 66157 h 648048"/>
              <a:gd name="connsiteX6" fmla="*/ 457455 w 987391"/>
              <a:gd name="connsiteY6" fmla="*/ 76548 h 648048"/>
              <a:gd name="connsiteX7" fmla="*/ 499018 w 987391"/>
              <a:gd name="connsiteY7" fmla="*/ 86939 h 648048"/>
              <a:gd name="connsiteX8" fmla="*/ 561364 w 987391"/>
              <a:gd name="connsiteY8" fmla="*/ 107721 h 648048"/>
              <a:gd name="connsiteX9" fmla="*/ 644491 w 987391"/>
              <a:gd name="connsiteY9" fmla="*/ 128503 h 648048"/>
              <a:gd name="connsiteX10" fmla="*/ 706836 w 987391"/>
              <a:gd name="connsiteY10" fmla="*/ 170066 h 648048"/>
              <a:gd name="connsiteX11" fmla="*/ 738009 w 987391"/>
              <a:gd name="connsiteY11" fmla="*/ 190848 h 648048"/>
              <a:gd name="connsiteX12" fmla="*/ 758791 w 987391"/>
              <a:gd name="connsiteY12" fmla="*/ 222021 h 648048"/>
              <a:gd name="connsiteX13" fmla="*/ 821136 w 987391"/>
              <a:gd name="connsiteY13" fmla="*/ 263584 h 648048"/>
              <a:gd name="connsiteX14" fmla="*/ 873091 w 987391"/>
              <a:gd name="connsiteY14" fmla="*/ 315539 h 648048"/>
              <a:gd name="connsiteX15" fmla="*/ 893873 w 987391"/>
              <a:gd name="connsiteY15" fmla="*/ 346712 h 648048"/>
              <a:gd name="connsiteX16" fmla="*/ 925046 w 987391"/>
              <a:gd name="connsiteY16" fmla="*/ 377884 h 648048"/>
              <a:gd name="connsiteX17" fmla="*/ 935436 w 987391"/>
              <a:gd name="connsiteY17" fmla="*/ 409057 h 648048"/>
              <a:gd name="connsiteX18" fmla="*/ 956218 w 987391"/>
              <a:gd name="connsiteY18" fmla="*/ 440230 h 648048"/>
              <a:gd name="connsiteX19" fmla="*/ 977000 w 987391"/>
              <a:gd name="connsiteY19" fmla="*/ 502575 h 648048"/>
              <a:gd name="connsiteX20" fmla="*/ 987391 w 987391"/>
              <a:gd name="connsiteY20" fmla="*/ 533748 h 648048"/>
              <a:gd name="connsiteX21" fmla="*/ 977000 w 987391"/>
              <a:gd name="connsiteY21" fmla="*/ 627266 h 648048"/>
              <a:gd name="connsiteX22" fmla="*/ 945827 w 987391"/>
              <a:gd name="connsiteY22" fmla="*/ 648048 h 648048"/>
              <a:gd name="connsiteX23" fmla="*/ 748400 w 987391"/>
              <a:gd name="connsiteY23" fmla="*/ 637657 h 648048"/>
              <a:gd name="connsiteX24" fmla="*/ 686055 w 987391"/>
              <a:gd name="connsiteY24" fmla="*/ 606484 h 648048"/>
              <a:gd name="connsiteX25" fmla="*/ 654882 w 987391"/>
              <a:gd name="connsiteY25" fmla="*/ 596093 h 648048"/>
              <a:gd name="connsiteX26" fmla="*/ 592536 w 987391"/>
              <a:gd name="connsiteY26" fmla="*/ 564921 h 648048"/>
              <a:gd name="connsiteX27" fmla="*/ 499018 w 987391"/>
              <a:gd name="connsiteY27" fmla="*/ 512966 h 648048"/>
              <a:gd name="connsiteX28" fmla="*/ 436673 w 987391"/>
              <a:gd name="connsiteY28" fmla="*/ 481793 h 648048"/>
              <a:gd name="connsiteX29" fmla="*/ 405500 w 987391"/>
              <a:gd name="connsiteY29" fmla="*/ 461012 h 648048"/>
              <a:gd name="connsiteX30" fmla="*/ 363936 w 987391"/>
              <a:gd name="connsiteY30" fmla="*/ 440230 h 648048"/>
              <a:gd name="connsiteX31" fmla="*/ 332764 w 987391"/>
              <a:gd name="connsiteY31" fmla="*/ 419448 h 648048"/>
              <a:gd name="connsiteX32" fmla="*/ 301591 w 987391"/>
              <a:gd name="connsiteY32" fmla="*/ 409057 h 648048"/>
              <a:gd name="connsiteX33" fmla="*/ 239246 w 987391"/>
              <a:gd name="connsiteY33" fmla="*/ 367493 h 648048"/>
              <a:gd name="connsiteX34" fmla="*/ 176900 w 987391"/>
              <a:gd name="connsiteY34" fmla="*/ 315539 h 648048"/>
              <a:gd name="connsiteX35" fmla="*/ 114555 w 987391"/>
              <a:gd name="connsiteY35" fmla="*/ 273975 h 648048"/>
              <a:gd name="connsiteX36" fmla="*/ 93773 w 987391"/>
              <a:gd name="connsiteY36" fmla="*/ 242803 h 648048"/>
              <a:gd name="connsiteX37" fmla="*/ 62600 w 987391"/>
              <a:gd name="connsiteY37" fmla="*/ 211630 h 648048"/>
              <a:gd name="connsiteX38" fmla="*/ 52209 w 987391"/>
              <a:gd name="connsiteY38" fmla="*/ 180457 h 648048"/>
              <a:gd name="connsiteX39" fmla="*/ 255 w 987391"/>
              <a:gd name="connsiteY39" fmla="*/ 86939 h 648048"/>
              <a:gd name="connsiteX40" fmla="*/ 31427 w 987391"/>
              <a:gd name="connsiteY40" fmla="*/ 3812 h 64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87391" h="648048">
                <a:moveTo>
                  <a:pt x="31427" y="3812"/>
                </a:moveTo>
                <a:cubicBezTo>
                  <a:pt x="48745" y="-8311"/>
                  <a:pt x="79757" y="12169"/>
                  <a:pt x="104164" y="14203"/>
                </a:cubicBezTo>
                <a:cubicBezTo>
                  <a:pt x="162944" y="19101"/>
                  <a:pt x="222118" y="18724"/>
                  <a:pt x="280809" y="24593"/>
                </a:cubicBezTo>
                <a:cubicBezTo>
                  <a:pt x="291708" y="25683"/>
                  <a:pt x="301356" y="32327"/>
                  <a:pt x="311982" y="34984"/>
                </a:cubicBezTo>
                <a:cubicBezTo>
                  <a:pt x="329116" y="39267"/>
                  <a:pt x="346897" y="40728"/>
                  <a:pt x="363936" y="45375"/>
                </a:cubicBezTo>
                <a:cubicBezTo>
                  <a:pt x="385070" y="51139"/>
                  <a:pt x="405500" y="59230"/>
                  <a:pt x="426282" y="66157"/>
                </a:cubicBezTo>
                <a:cubicBezTo>
                  <a:pt x="436673" y="69621"/>
                  <a:pt x="446829" y="73891"/>
                  <a:pt x="457455" y="76548"/>
                </a:cubicBezTo>
                <a:cubicBezTo>
                  <a:pt x="471309" y="80012"/>
                  <a:pt x="485340" y="82835"/>
                  <a:pt x="499018" y="86939"/>
                </a:cubicBezTo>
                <a:cubicBezTo>
                  <a:pt x="520000" y="93234"/>
                  <a:pt x="539883" y="103425"/>
                  <a:pt x="561364" y="107721"/>
                </a:cubicBezTo>
                <a:cubicBezTo>
                  <a:pt x="575758" y="110600"/>
                  <a:pt x="626518" y="118518"/>
                  <a:pt x="644491" y="128503"/>
                </a:cubicBezTo>
                <a:cubicBezTo>
                  <a:pt x="666324" y="140633"/>
                  <a:pt x="686054" y="156212"/>
                  <a:pt x="706836" y="170066"/>
                </a:cubicBezTo>
                <a:lnTo>
                  <a:pt x="738009" y="190848"/>
                </a:lnTo>
                <a:cubicBezTo>
                  <a:pt x="744936" y="201239"/>
                  <a:pt x="749392" y="213797"/>
                  <a:pt x="758791" y="222021"/>
                </a:cubicBezTo>
                <a:cubicBezTo>
                  <a:pt x="777588" y="238468"/>
                  <a:pt x="821136" y="263584"/>
                  <a:pt x="821136" y="263584"/>
                </a:cubicBezTo>
                <a:cubicBezTo>
                  <a:pt x="876555" y="346712"/>
                  <a:pt x="803818" y="246266"/>
                  <a:pt x="873091" y="315539"/>
                </a:cubicBezTo>
                <a:cubicBezTo>
                  <a:pt x="881922" y="324370"/>
                  <a:pt x="885878" y="337118"/>
                  <a:pt x="893873" y="346712"/>
                </a:cubicBezTo>
                <a:cubicBezTo>
                  <a:pt x="903281" y="358001"/>
                  <a:pt x="914655" y="367493"/>
                  <a:pt x="925046" y="377884"/>
                </a:cubicBezTo>
                <a:cubicBezTo>
                  <a:pt x="928509" y="388275"/>
                  <a:pt x="930538" y="399260"/>
                  <a:pt x="935436" y="409057"/>
                </a:cubicBezTo>
                <a:cubicBezTo>
                  <a:pt x="941021" y="420227"/>
                  <a:pt x="951146" y="428818"/>
                  <a:pt x="956218" y="440230"/>
                </a:cubicBezTo>
                <a:cubicBezTo>
                  <a:pt x="965115" y="460248"/>
                  <a:pt x="970073" y="481793"/>
                  <a:pt x="977000" y="502575"/>
                </a:cubicBezTo>
                <a:lnTo>
                  <a:pt x="987391" y="533748"/>
                </a:lnTo>
                <a:cubicBezTo>
                  <a:pt x="983927" y="564921"/>
                  <a:pt x="987719" y="597790"/>
                  <a:pt x="977000" y="627266"/>
                </a:cubicBezTo>
                <a:cubicBezTo>
                  <a:pt x="972732" y="639003"/>
                  <a:pt x="958303" y="647481"/>
                  <a:pt x="945827" y="648048"/>
                </a:cubicBezTo>
                <a:lnTo>
                  <a:pt x="748400" y="637657"/>
                </a:lnTo>
                <a:cubicBezTo>
                  <a:pt x="670045" y="611539"/>
                  <a:pt x="766627" y="646771"/>
                  <a:pt x="686055" y="606484"/>
                </a:cubicBezTo>
                <a:cubicBezTo>
                  <a:pt x="676258" y="601586"/>
                  <a:pt x="664679" y="600991"/>
                  <a:pt x="654882" y="596093"/>
                </a:cubicBezTo>
                <a:cubicBezTo>
                  <a:pt x="574309" y="555808"/>
                  <a:pt x="670891" y="591039"/>
                  <a:pt x="592536" y="564921"/>
                </a:cubicBezTo>
                <a:cubicBezTo>
                  <a:pt x="521078" y="517281"/>
                  <a:pt x="553886" y="531255"/>
                  <a:pt x="499018" y="512966"/>
                </a:cubicBezTo>
                <a:cubicBezTo>
                  <a:pt x="409699" y="453418"/>
                  <a:pt x="522700" y="524805"/>
                  <a:pt x="436673" y="481793"/>
                </a:cubicBezTo>
                <a:cubicBezTo>
                  <a:pt x="425503" y="476208"/>
                  <a:pt x="416343" y="467208"/>
                  <a:pt x="405500" y="461012"/>
                </a:cubicBezTo>
                <a:cubicBezTo>
                  <a:pt x="392051" y="453327"/>
                  <a:pt x="377385" y="447915"/>
                  <a:pt x="363936" y="440230"/>
                </a:cubicBezTo>
                <a:cubicBezTo>
                  <a:pt x="353093" y="434034"/>
                  <a:pt x="343934" y="425033"/>
                  <a:pt x="332764" y="419448"/>
                </a:cubicBezTo>
                <a:cubicBezTo>
                  <a:pt x="322967" y="414550"/>
                  <a:pt x="311166" y="414376"/>
                  <a:pt x="301591" y="409057"/>
                </a:cubicBezTo>
                <a:cubicBezTo>
                  <a:pt x="279758" y="396927"/>
                  <a:pt x="260028" y="381347"/>
                  <a:pt x="239246" y="367493"/>
                </a:cubicBezTo>
                <a:cubicBezTo>
                  <a:pt x="127853" y="293231"/>
                  <a:pt x="296912" y="408883"/>
                  <a:pt x="176900" y="315539"/>
                </a:cubicBezTo>
                <a:cubicBezTo>
                  <a:pt x="157185" y="300205"/>
                  <a:pt x="114555" y="273975"/>
                  <a:pt x="114555" y="273975"/>
                </a:cubicBezTo>
                <a:cubicBezTo>
                  <a:pt x="107628" y="263584"/>
                  <a:pt x="101768" y="252397"/>
                  <a:pt x="93773" y="242803"/>
                </a:cubicBezTo>
                <a:cubicBezTo>
                  <a:pt x="84365" y="231514"/>
                  <a:pt x="70751" y="223857"/>
                  <a:pt x="62600" y="211630"/>
                </a:cubicBezTo>
                <a:cubicBezTo>
                  <a:pt x="56524" y="202516"/>
                  <a:pt x="57528" y="190032"/>
                  <a:pt x="52209" y="180457"/>
                </a:cubicBezTo>
                <a:cubicBezTo>
                  <a:pt x="39282" y="157189"/>
                  <a:pt x="3322" y="120674"/>
                  <a:pt x="255" y="86939"/>
                </a:cubicBezTo>
                <a:cubicBezTo>
                  <a:pt x="-2254" y="59344"/>
                  <a:pt x="14109" y="15935"/>
                  <a:pt x="31427" y="3812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966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337F5-BBE0-702D-062C-F6B9FA10B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u="sng" dirty="0">
                <a:cs typeface="Calibri" panose="020F0502020204030204" pitchFamily="34" charset="0"/>
              </a:rPr>
              <a:t>Add</a:t>
            </a:r>
            <a:r>
              <a:rPr kumimoji="1" lang="en-US" altLang="zh-TW" dirty="0">
                <a:cs typeface="Calibri" panose="020F0502020204030204" pitchFamily="34" charset="0"/>
              </a:rPr>
              <a:t> &amp; </a:t>
            </a:r>
            <a:r>
              <a:rPr kumimoji="1" lang="en-US" altLang="zh-TW" u="sng" dirty="0">
                <a:cs typeface="Calibri" panose="020F0502020204030204" pitchFamily="34" charset="0"/>
              </a:rPr>
              <a:t>Norm (Layer Normalization)</a:t>
            </a:r>
            <a:endParaRPr kumimoji="1" lang="zh-TW" altLang="en-US" u="sng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835697-ACC9-5D37-3519-4A99AF9D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5DBDDD-49EF-F891-7BBD-3BA9FD385313}"/>
              </a:ext>
            </a:extLst>
          </p:cNvPr>
          <p:cNvSpPr txBox="1"/>
          <p:nvPr/>
        </p:nvSpPr>
        <p:spPr>
          <a:xfrm>
            <a:off x="2119398" y="6459622"/>
            <a:ext cx="7786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Ba, Jimmy Lei, Jamie Ryan 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Kiros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and Geoffrey E. Hinton. "Layer normalization." </a:t>
            </a:r>
            <a:r>
              <a:rPr lang="en-US" altLang="zh-TW" sz="12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lang="en-US" altLang="zh-TW" sz="12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preprint arXiv:1607.06450 (2016).</a:t>
            </a:r>
            <a:endParaRPr lang="zh-TW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圓角矩形 125">
            <a:extLst>
              <a:ext uri="{FF2B5EF4-FFF2-40B4-BE49-F238E27FC236}">
                <a16:creationId xmlns:a16="http://schemas.microsoft.com/office/drawing/2014/main" id="{21188D0E-E04B-1B16-56FA-9AE6DC9449B9}"/>
              </a:ext>
            </a:extLst>
          </p:cNvPr>
          <p:cNvSpPr/>
          <p:nvPr/>
        </p:nvSpPr>
        <p:spPr>
          <a:xfrm>
            <a:off x="2114661" y="5968404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27" name="圓角矩形 126">
            <a:extLst>
              <a:ext uri="{FF2B5EF4-FFF2-40B4-BE49-F238E27FC236}">
                <a16:creationId xmlns:a16="http://schemas.microsoft.com/office/drawing/2014/main" id="{64CEB917-2800-F297-4975-38124C36292E}"/>
              </a:ext>
            </a:extLst>
          </p:cNvPr>
          <p:cNvSpPr/>
          <p:nvPr/>
        </p:nvSpPr>
        <p:spPr>
          <a:xfrm>
            <a:off x="1435441" y="4988309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8" name="圓角矩形 127">
            <a:extLst>
              <a:ext uri="{FF2B5EF4-FFF2-40B4-BE49-F238E27FC236}">
                <a16:creationId xmlns:a16="http://schemas.microsoft.com/office/drawing/2014/main" id="{02D4DE40-18FA-320C-9927-C33C583C1302}"/>
              </a:ext>
            </a:extLst>
          </p:cNvPr>
          <p:cNvSpPr/>
          <p:nvPr/>
        </p:nvSpPr>
        <p:spPr>
          <a:xfrm>
            <a:off x="2107255" y="4988308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29" name="圓角矩形 128">
            <a:extLst>
              <a:ext uri="{FF2B5EF4-FFF2-40B4-BE49-F238E27FC236}">
                <a16:creationId xmlns:a16="http://schemas.microsoft.com/office/drawing/2014/main" id="{4CCB9AB1-7FB6-18DE-2E5A-695EC6CAD0B7}"/>
              </a:ext>
            </a:extLst>
          </p:cNvPr>
          <p:cNvSpPr/>
          <p:nvPr/>
        </p:nvSpPr>
        <p:spPr>
          <a:xfrm>
            <a:off x="2779069" y="4988307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30" name="圓角矩形 129">
            <a:extLst>
              <a:ext uri="{FF2B5EF4-FFF2-40B4-BE49-F238E27FC236}">
                <a16:creationId xmlns:a16="http://schemas.microsoft.com/office/drawing/2014/main" id="{8231FF23-CC5E-C53A-0505-5E6854214D06}"/>
              </a:ext>
            </a:extLst>
          </p:cNvPr>
          <p:cNvSpPr/>
          <p:nvPr/>
        </p:nvSpPr>
        <p:spPr>
          <a:xfrm>
            <a:off x="3911941" y="4988309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1" name="圓角矩形 130">
            <a:extLst>
              <a:ext uri="{FF2B5EF4-FFF2-40B4-BE49-F238E27FC236}">
                <a16:creationId xmlns:a16="http://schemas.microsoft.com/office/drawing/2014/main" id="{5DA5171A-B2F2-DA41-08AE-98771C03A81E}"/>
              </a:ext>
            </a:extLst>
          </p:cNvPr>
          <p:cNvSpPr/>
          <p:nvPr/>
        </p:nvSpPr>
        <p:spPr>
          <a:xfrm>
            <a:off x="4583755" y="4988308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2" name="圓角矩形 131">
            <a:extLst>
              <a:ext uri="{FF2B5EF4-FFF2-40B4-BE49-F238E27FC236}">
                <a16:creationId xmlns:a16="http://schemas.microsoft.com/office/drawing/2014/main" id="{8FB6E389-8359-C101-318C-6867C0314958}"/>
              </a:ext>
            </a:extLst>
          </p:cNvPr>
          <p:cNvSpPr/>
          <p:nvPr/>
        </p:nvSpPr>
        <p:spPr>
          <a:xfrm>
            <a:off x="5255569" y="4988307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33" name="圓角矩形 132">
            <a:extLst>
              <a:ext uri="{FF2B5EF4-FFF2-40B4-BE49-F238E27FC236}">
                <a16:creationId xmlns:a16="http://schemas.microsoft.com/office/drawing/2014/main" id="{D01861E1-93A8-BE9B-5640-BE9FC27BC6C5}"/>
              </a:ext>
            </a:extLst>
          </p:cNvPr>
          <p:cNvSpPr/>
          <p:nvPr/>
        </p:nvSpPr>
        <p:spPr>
          <a:xfrm>
            <a:off x="6388441" y="4988308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4" name="圓角矩形 133">
            <a:extLst>
              <a:ext uri="{FF2B5EF4-FFF2-40B4-BE49-F238E27FC236}">
                <a16:creationId xmlns:a16="http://schemas.microsoft.com/office/drawing/2014/main" id="{DE5E85D5-30BB-CFC0-DAFD-5513817C9B61}"/>
              </a:ext>
            </a:extLst>
          </p:cNvPr>
          <p:cNvSpPr/>
          <p:nvPr/>
        </p:nvSpPr>
        <p:spPr>
          <a:xfrm>
            <a:off x="7060255" y="4988307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5" name="圓角矩形 134">
            <a:extLst>
              <a:ext uri="{FF2B5EF4-FFF2-40B4-BE49-F238E27FC236}">
                <a16:creationId xmlns:a16="http://schemas.microsoft.com/office/drawing/2014/main" id="{85C472BA-2F9F-4579-519B-646396AE6701}"/>
              </a:ext>
            </a:extLst>
          </p:cNvPr>
          <p:cNvSpPr/>
          <p:nvPr/>
        </p:nvSpPr>
        <p:spPr>
          <a:xfrm>
            <a:off x="7732069" y="4988306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36" name="圓角矩形 135">
            <a:extLst>
              <a:ext uri="{FF2B5EF4-FFF2-40B4-BE49-F238E27FC236}">
                <a16:creationId xmlns:a16="http://schemas.microsoft.com/office/drawing/2014/main" id="{4B57EC57-E0BA-7E81-9A22-06CB74D7B7D9}"/>
              </a:ext>
            </a:extLst>
          </p:cNvPr>
          <p:cNvSpPr/>
          <p:nvPr/>
        </p:nvSpPr>
        <p:spPr>
          <a:xfrm>
            <a:off x="8757207" y="4992163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q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37" name="圓角矩形 136">
            <a:extLst>
              <a:ext uri="{FF2B5EF4-FFF2-40B4-BE49-F238E27FC236}">
                <a16:creationId xmlns:a16="http://schemas.microsoft.com/office/drawing/2014/main" id="{E8925126-DA3C-0C50-5CBB-9AD9EFF26D6C}"/>
              </a:ext>
            </a:extLst>
          </p:cNvPr>
          <p:cNvSpPr/>
          <p:nvPr/>
        </p:nvSpPr>
        <p:spPr>
          <a:xfrm>
            <a:off x="9429021" y="4992162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38" name="圓角矩形 137">
            <a:extLst>
              <a:ext uri="{FF2B5EF4-FFF2-40B4-BE49-F238E27FC236}">
                <a16:creationId xmlns:a16="http://schemas.microsoft.com/office/drawing/2014/main" id="{147ACDAA-F805-3B3E-2340-B2E8DD407637}"/>
              </a:ext>
            </a:extLst>
          </p:cNvPr>
          <p:cNvSpPr/>
          <p:nvPr/>
        </p:nvSpPr>
        <p:spPr>
          <a:xfrm>
            <a:off x="10100835" y="4992161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44" name="圓角矩形 143">
            <a:extLst>
              <a:ext uri="{FF2B5EF4-FFF2-40B4-BE49-F238E27FC236}">
                <a16:creationId xmlns:a16="http://schemas.microsoft.com/office/drawing/2014/main" id="{9FDF8431-6CBC-6B13-74B3-D3C1BB61699A}"/>
              </a:ext>
            </a:extLst>
          </p:cNvPr>
          <p:cNvSpPr/>
          <p:nvPr/>
        </p:nvSpPr>
        <p:spPr>
          <a:xfrm>
            <a:off x="2085975" y="3977994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46" name="圓角矩形 145">
            <a:extLst>
              <a:ext uri="{FF2B5EF4-FFF2-40B4-BE49-F238E27FC236}">
                <a16:creationId xmlns:a16="http://schemas.microsoft.com/office/drawing/2014/main" id="{2BBF2825-D932-A0F0-9FC6-1E04DD1AF3B3}"/>
              </a:ext>
            </a:extLst>
          </p:cNvPr>
          <p:cNvSpPr/>
          <p:nvPr/>
        </p:nvSpPr>
        <p:spPr>
          <a:xfrm>
            <a:off x="4562475" y="3977993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47" name="圓角矩形 146">
            <a:extLst>
              <a:ext uri="{FF2B5EF4-FFF2-40B4-BE49-F238E27FC236}">
                <a16:creationId xmlns:a16="http://schemas.microsoft.com/office/drawing/2014/main" id="{A7770556-B5FB-4D38-8664-A02295C60BBB}"/>
              </a:ext>
            </a:extLst>
          </p:cNvPr>
          <p:cNvSpPr/>
          <p:nvPr/>
        </p:nvSpPr>
        <p:spPr>
          <a:xfrm>
            <a:off x="7035089" y="3977993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48" name="圓角矩形 147">
            <a:extLst>
              <a:ext uri="{FF2B5EF4-FFF2-40B4-BE49-F238E27FC236}">
                <a16:creationId xmlns:a16="http://schemas.microsoft.com/office/drawing/2014/main" id="{AA9C4A52-020D-2D95-9825-AAD484823A73}"/>
              </a:ext>
            </a:extLst>
          </p:cNvPr>
          <p:cNvSpPr/>
          <p:nvPr/>
        </p:nvSpPr>
        <p:spPr>
          <a:xfrm>
            <a:off x="9407741" y="3977418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sp>
        <p:nvSpPr>
          <p:cNvPr id="149" name="圓角矩形 148">
            <a:extLst>
              <a:ext uri="{FF2B5EF4-FFF2-40B4-BE49-F238E27FC236}">
                <a16:creationId xmlns:a16="http://schemas.microsoft.com/office/drawing/2014/main" id="{929C3387-115D-2918-FCEE-8E1A66CCCFD2}"/>
              </a:ext>
            </a:extLst>
          </p:cNvPr>
          <p:cNvSpPr/>
          <p:nvPr/>
        </p:nvSpPr>
        <p:spPr>
          <a:xfrm>
            <a:off x="2090592" y="2601109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E80CE28C-D04B-30D6-6255-EFB5319659BA}"/>
              </a:ext>
            </a:extLst>
          </p:cNvPr>
          <p:cNvSpPr txBox="1"/>
          <p:nvPr/>
        </p:nvSpPr>
        <p:spPr>
          <a:xfrm>
            <a:off x="2689804" y="5997497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151" name="圓角矩形 150">
            <a:extLst>
              <a:ext uri="{FF2B5EF4-FFF2-40B4-BE49-F238E27FC236}">
                <a16:creationId xmlns:a16="http://schemas.microsoft.com/office/drawing/2014/main" id="{5149D184-A143-5763-5DA6-CD710DABD83E}"/>
              </a:ext>
            </a:extLst>
          </p:cNvPr>
          <p:cNvSpPr/>
          <p:nvPr/>
        </p:nvSpPr>
        <p:spPr>
          <a:xfrm>
            <a:off x="4591161" y="5968404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2" name="文字方塊 151">
            <a:extLst>
              <a:ext uri="{FF2B5EF4-FFF2-40B4-BE49-F238E27FC236}">
                <a16:creationId xmlns:a16="http://schemas.microsoft.com/office/drawing/2014/main" id="{F76E1056-220B-B17F-216D-6C3AB5D82CE7}"/>
              </a:ext>
            </a:extLst>
          </p:cNvPr>
          <p:cNvSpPr txBox="1"/>
          <p:nvPr/>
        </p:nvSpPr>
        <p:spPr>
          <a:xfrm>
            <a:off x="5157393" y="5997497"/>
            <a:ext cx="87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printed</a:t>
            </a:r>
            <a:endParaRPr kumimoji="1" lang="zh-TW" altLang="en-US" dirty="0"/>
          </a:p>
        </p:txBody>
      </p:sp>
      <p:sp>
        <p:nvSpPr>
          <p:cNvPr id="153" name="圓角矩形 152">
            <a:extLst>
              <a:ext uri="{FF2B5EF4-FFF2-40B4-BE49-F238E27FC236}">
                <a16:creationId xmlns:a16="http://schemas.microsoft.com/office/drawing/2014/main" id="{6B774203-DA4F-4855-A256-CD70A80066D7}"/>
              </a:ext>
            </a:extLst>
          </p:cNvPr>
          <p:cNvSpPr/>
          <p:nvPr/>
        </p:nvSpPr>
        <p:spPr>
          <a:xfrm>
            <a:off x="7067661" y="5963372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BEE6EC71-2F1B-03C8-6F1F-A4B5B374C56F}"/>
              </a:ext>
            </a:extLst>
          </p:cNvPr>
          <p:cNvSpPr txBox="1"/>
          <p:nvPr/>
        </p:nvSpPr>
        <p:spPr>
          <a:xfrm>
            <a:off x="7630100" y="596337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155" name="圓角矩形 154">
            <a:extLst>
              <a:ext uri="{FF2B5EF4-FFF2-40B4-BE49-F238E27FC236}">
                <a16:creationId xmlns:a16="http://schemas.microsoft.com/office/drawing/2014/main" id="{45CB5C92-C3F9-F11A-9C54-1C9600834DD9}"/>
              </a:ext>
            </a:extLst>
          </p:cNvPr>
          <p:cNvSpPr/>
          <p:nvPr/>
        </p:nvSpPr>
        <p:spPr>
          <a:xfrm>
            <a:off x="9443833" y="5963372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4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43ED9DC6-1240-C47C-F450-62D265723BF4}"/>
              </a:ext>
            </a:extLst>
          </p:cNvPr>
          <p:cNvSpPr txBox="1"/>
          <p:nvPr/>
        </p:nvSpPr>
        <p:spPr>
          <a:xfrm>
            <a:off x="10006272" y="5963372"/>
            <a:ext cx="724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world</a:t>
            </a:r>
            <a:endParaRPr kumimoji="1" lang="zh-TW" altLang="en-US" dirty="0"/>
          </a:p>
        </p:txBody>
      </p:sp>
      <p:cxnSp>
        <p:nvCxnSpPr>
          <p:cNvPr id="157" name="肘形接點 156">
            <a:extLst>
              <a:ext uri="{FF2B5EF4-FFF2-40B4-BE49-F238E27FC236}">
                <a16:creationId xmlns:a16="http://schemas.microsoft.com/office/drawing/2014/main" id="{AB118C3E-5DA4-C42D-899E-06FD3EBAFF5F}"/>
              </a:ext>
            </a:extLst>
          </p:cNvPr>
          <p:cNvCxnSpPr>
            <a:stCxn id="144" idx="3"/>
            <a:endCxn id="129" idx="0"/>
          </p:cNvCxnSpPr>
          <p:nvPr/>
        </p:nvCxnSpPr>
        <p:spPr>
          <a:xfrm>
            <a:off x="2619375" y="4258982"/>
            <a:ext cx="426394" cy="729325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肘形接點 157">
            <a:extLst>
              <a:ext uri="{FF2B5EF4-FFF2-40B4-BE49-F238E27FC236}">
                <a16:creationId xmlns:a16="http://schemas.microsoft.com/office/drawing/2014/main" id="{960D324B-3993-5876-6734-050A67BFCCEE}"/>
              </a:ext>
            </a:extLst>
          </p:cNvPr>
          <p:cNvCxnSpPr>
            <a:cxnSpLocks/>
            <a:stCxn id="146" idx="3"/>
            <a:endCxn id="132" idx="0"/>
          </p:cNvCxnSpPr>
          <p:nvPr/>
        </p:nvCxnSpPr>
        <p:spPr>
          <a:xfrm>
            <a:off x="5095875" y="4258981"/>
            <a:ext cx="426394" cy="729326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肘形接點 158">
            <a:extLst>
              <a:ext uri="{FF2B5EF4-FFF2-40B4-BE49-F238E27FC236}">
                <a16:creationId xmlns:a16="http://schemas.microsoft.com/office/drawing/2014/main" id="{CAC97027-AE63-BF67-FEAB-4C1DA7F60771}"/>
              </a:ext>
            </a:extLst>
          </p:cNvPr>
          <p:cNvCxnSpPr>
            <a:cxnSpLocks/>
            <a:stCxn id="147" idx="3"/>
            <a:endCxn id="135" idx="0"/>
          </p:cNvCxnSpPr>
          <p:nvPr/>
        </p:nvCxnSpPr>
        <p:spPr>
          <a:xfrm>
            <a:off x="7568489" y="4258981"/>
            <a:ext cx="430280" cy="729325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肘形接點 159">
            <a:extLst>
              <a:ext uri="{FF2B5EF4-FFF2-40B4-BE49-F238E27FC236}">
                <a16:creationId xmlns:a16="http://schemas.microsoft.com/office/drawing/2014/main" id="{F83B067D-1635-9879-587C-BC555EFA2E91}"/>
              </a:ext>
            </a:extLst>
          </p:cNvPr>
          <p:cNvCxnSpPr>
            <a:cxnSpLocks/>
            <a:stCxn id="148" idx="3"/>
            <a:endCxn id="138" idx="0"/>
          </p:cNvCxnSpPr>
          <p:nvPr/>
        </p:nvCxnSpPr>
        <p:spPr>
          <a:xfrm>
            <a:off x="9941141" y="4258406"/>
            <a:ext cx="426394" cy="733755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接點 160">
            <a:extLst>
              <a:ext uri="{FF2B5EF4-FFF2-40B4-BE49-F238E27FC236}">
                <a16:creationId xmlns:a16="http://schemas.microsoft.com/office/drawing/2014/main" id="{9FB69C77-3405-43F6-F02A-9354D4962483}"/>
              </a:ext>
            </a:extLst>
          </p:cNvPr>
          <p:cNvCxnSpPr>
            <a:cxnSpLocks/>
            <a:stCxn id="144" idx="0"/>
            <a:endCxn id="146" idx="0"/>
          </p:cNvCxnSpPr>
          <p:nvPr/>
        </p:nvCxnSpPr>
        <p:spPr>
          <a:xfrm rot="5400000" flipH="1" flipV="1">
            <a:off x="3590925" y="2739744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接點 161">
            <a:extLst>
              <a:ext uri="{FF2B5EF4-FFF2-40B4-BE49-F238E27FC236}">
                <a16:creationId xmlns:a16="http://schemas.microsoft.com/office/drawing/2014/main" id="{838A811A-6599-5C36-357C-ABB414CB76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65482" y="2739170"/>
            <a:ext cx="1" cy="2476500"/>
          </a:xfrm>
          <a:prstGeom prst="bentConnector3">
            <a:avLst>
              <a:gd name="adj1" fmla="val 228601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接點 162">
            <a:extLst>
              <a:ext uri="{FF2B5EF4-FFF2-40B4-BE49-F238E27FC236}">
                <a16:creationId xmlns:a16="http://schemas.microsoft.com/office/drawing/2014/main" id="{CA05571F-1FC6-A6B3-EE42-CD6420B49510}"/>
              </a:ext>
            </a:extLst>
          </p:cNvPr>
          <p:cNvCxnSpPr>
            <a:cxnSpLocks/>
            <a:stCxn id="147" idx="0"/>
            <a:endCxn id="148" idx="0"/>
          </p:cNvCxnSpPr>
          <p:nvPr/>
        </p:nvCxnSpPr>
        <p:spPr>
          <a:xfrm rot="5400000" flipH="1" flipV="1">
            <a:off x="8487828" y="2791380"/>
            <a:ext cx="575" cy="2372652"/>
          </a:xfrm>
          <a:prstGeom prst="bentConnector3">
            <a:avLst>
              <a:gd name="adj1" fmla="val 3985652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圓角矩形 165">
            <a:extLst>
              <a:ext uri="{FF2B5EF4-FFF2-40B4-BE49-F238E27FC236}">
                <a16:creationId xmlns:a16="http://schemas.microsoft.com/office/drawing/2014/main" id="{F562B737-86BE-30AA-68C5-FEC2960842B5}"/>
              </a:ext>
            </a:extLst>
          </p:cNvPr>
          <p:cNvSpPr/>
          <p:nvPr/>
        </p:nvSpPr>
        <p:spPr>
          <a:xfrm>
            <a:off x="4560532" y="2603499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167" name="圓角矩形 166">
            <a:extLst>
              <a:ext uri="{FF2B5EF4-FFF2-40B4-BE49-F238E27FC236}">
                <a16:creationId xmlns:a16="http://schemas.microsoft.com/office/drawing/2014/main" id="{30CDB28F-641D-E35E-DB8E-2EA97669A4B3}"/>
              </a:ext>
            </a:extLst>
          </p:cNvPr>
          <p:cNvSpPr/>
          <p:nvPr/>
        </p:nvSpPr>
        <p:spPr>
          <a:xfrm>
            <a:off x="7030472" y="2601108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168" name="圓角矩形 167">
            <a:extLst>
              <a:ext uri="{FF2B5EF4-FFF2-40B4-BE49-F238E27FC236}">
                <a16:creationId xmlns:a16="http://schemas.microsoft.com/office/drawing/2014/main" id="{891C1292-8496-D841-CC78-8102C2FCECDA}"/>
              </a:ext>
            </a:extLst>
          </p:cNvPr>
          <p:cNvSpPr/>
          <p:nvPr/>
        </p:nvSpPr>
        <p:spPr>
          <a:xfrm>
            <a:off x="9407741" y="2604912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h</a:t>
            </a:r>
            <a:r>
              <a:rPr kumimoji="1" lang="en-US" altLang="zh-TW" sz="2000" baseline="-25000" dirty="0"/>
              <a:t>4</a:t>
            </a:r>
            <a:endParaRPr kumimoji="1" lang="zh-TW" altLang="en-US" sz="2000" baseline="-25000" dirty="0"/>
          </a:p>
        </p:txBody>
      </p:sp>
      <p:cxnSp>
        <p:nvCxnSpPr>
          <p:cNvPr id="169" name="肘形接點 168">
            <a:extLst>
              <a:ext uri="{FF2B5EF4-FFF2-40B4-BE49-F238E27FC236}">
                <a16:creationId xmlns:a16="http://schemas.microsoft.com/office/drawing/2014/main" id="{C8624727-5DE9-1AB9-FC29-B4D5F253CC02}"/>
              </a:ext>
            </a:extLst>
          </p:cNvPr>
          <p:cNvCxnSpPr>
            <a:cxnSpLocks/>
            <a:stCxn id="144" idx="2"/>
            <a:endCxn id="127" idx="0"/>
          </p:cNvCxnSpPr>
          <p:nvPr/>
        </p:nvCxnSpPr>
        <p:spPr>
          <a:xfrm rot="5400000">
            <a:off x="1803238" y="4438872"/>
            <a:ext cx="448340" cy="650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肘形接點 171">
            <a:extLst>
              <a:ext uri="{FF2B5EF4-FFF2-40B4-BE49-F238E27FC236}">
                <a16:creationId xmlns:a16="http://schemas.microsoft.com/office/drawing/2014/main" id="{805DB1A5-AE9E-820F-02E2-849702615140}"/>
              </a:ext>
            </a:extLst>
          </p:cNvPr>
          <p:cNvCxnSpPr>
            <a:cxnSpLocks/>
            <a:stCxn id="146" idx="2"/>
            <a:endCxn id="130" idx="0"/>
          </p:cNvCxnSpPr>
          <p:nvPr/>
        </p:nvCxnSpPr>
        <p:spPr>
          <a:xfrm rot="5400000">
            <a:off x="4279738" y="4438871"/>
            <a:ext cx="448341" cy="650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肘形接點 174">
            <a:extLst>
              <a:ext uri="{FF2B5EF4-FFF2-40B4-BE49-F238E27FC236}">
                <a16:creationId xmlns:a16="http://schemas.microsoft.com/office/drawing/2014/main" id="{BD64C11C-B4E1-6465-D40C-A38744A17F69}"/>
              </a:ext>
            </a:extLst>
          </p:cNvPr>
          <p:cNvCxnSpPr>
            <a:cxnSpLocks/>
            <a:stCxn id="147" idx="2"/>
            <a:endCxn id="133" idx="0"/>
          </p:cNvCxnSpPr>
          <p:nvPr/>
        </p:nvCxnSpPr>
        <p:spPr>
          <a:xfrm rot="5400000">
            <a:off x="6754295" y="4440814"/>
            <a:ext cx="448340" cy="64664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肘形接點 177">
            <a:extLst>
              <a:ext uri="{FF2B5EF4-FFF2-40B4-BE49-F238E27FC236}">
                <a16:creationId xmlns:a16="http://schemas.microsoft.com/office/drawing/2014/main" id="{95D3D4F7-C90D-BE33-AC40-BA0D54177803}"/>
              </a:ext>
            </a:extLst>
          </p:cNvPr>
          <p:cNvCxnSpPr>
            <a:cxnSpLocks/>
            <a:stCxn id="148" idx="2"/>
            <a:endCxn id="136" idx="0"/>
          </p:cNvCxnSpPr>
          <p:nvPr/>
        </p:nvCxnSpPr>
        <p:spPr>
          <a:xfrm rot="5400000">
            <a:off x="9122789" y="4440511"/>
            <a:ext cx="452770" cy="650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箭頭接點 181">
            <a:extLst>
              <a:ext uri="{FF2B5EF4-FFF2-40B4-BE49-F238E27FC236}">
                <a16:creationId xmlns:a16="http://schemas.microsoft.com/office/drawing/2014/main" id="{E8C2832B-018B-87CD-185B-ED44E42EAA35}"/>
              </a:ext>
            </a:extLst>
          </p:cNvPr>
          <p:cNvCxnSpPr>
            <a:cxnSpLocks/>
          </p:cNvCxnSpPr>
          <p:nvPr/>
        </p:nvCxnSpPr>
        <p:spPr>
          <a:xfrm flipV="1">
            <a:off x="2357292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箭頭接點 183">
            <a:extLst>
              <a:ext uri="{FF2B5EF4-FFF2-40B4-BE49-F238E27FC236}">
                <a16:creationId xmlns:a16="http://schemas.microsoft.com/office/drawing/2014/main" id="{B58655A5-2AD5-C1FF-F6DB-4FD4F5B1BA27}"/>
              </a:ext>
            </a:extLst>
          </p:cNvPr>
          <p:cNvCxnSpPr>
            <a:cxnSpLocks/>
          </p:cNvCxnSpPr>
          <p:nvPr/>
        </p:nvCxnSpPr>
        <p:spPr>
          <a:xfrm flipV="1">
            <a:off x="4827232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線箭頭接點 184">
            <a:extLst>
              <a:ext uri="{FF2B5EF4-FFF2-40B4-BE49-F238E27FC236}">
                <a16:creationId xmlns:a16="http://schemas.microsoft.com/office/drawing/2014/main" id="{243FABC1-0262-9E5F-1EBA-8F5206179AB0}"/>
              </a:ext>
            </a:extLst>
          </p:cNvPr>
          <p:cNvCxnSpPr>
            <a:cxnSpLocks/>
          </p:cNvCxnSpPr>
          <p:nvPr/>
        </p:nvCxnSpPr>
        <p:spPr>
          <a:xfrm flipV="1">
            <a:off x="7298169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線箭頭接點 185">
            <a:extLst>
              <a:ext uri="{FF2B5EF4-FFF2-40B4-BE49-F238E27FC236}">
                <a16:creationId xmlns:a16="http://schemas.microsoft.com/office/drawing/2014/main" id="{5522B9B3-0117-8A41-329A-39135A07FBD9}"/>
              </a:ext>
            </a:extLst>
          </p:cNvPr>
          <p:cNvCxnSpPr>
            <a:cxnSpLocks/>
          </p:cNvCxnSpPr>
          <p:nvPr/>
        </p:nvCxnSpPr>
        <p:spPr>
          <a:xfrm flipV="1">
            <a:off x="9674441" y="3204648"/>
            <a:ext cx="0" cy="520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肘形接點 187">
            <a:extLst>
              <a:ext uri="{FF2B5EF4-FFF2-40B4-BE49-F238E27FC236}">
                <a16:creationId xmlns:a16="http://schemas.microsoft.com/office/drawing/2014/main" id="{E7C71E86-6469-6E64-8153-CE81BF7F38F0}"/>
              </a:ext>
            </a:extLst>
          </p:cNvPr>
          <p:cNvCxnSpPr>
            <a:stCxn id="126" idx="1"/>
            <a:endCxn id="149" idx="1"/>
          </p:cNvCxnSpPr>
          <p:nvPr/>
        </p:nvCxnSpPr>
        <p:spPr>
          <a:xfrm rot="10800000">
            <a:off x="2090593" y="2882097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肘形接點 189">
            <a:extLst>
              <a:ext uri="{FF2B5EF4-FFF2-40B4-BE49-F238E27FC236}">
                <a16:creationId xmlns:a16="http://schemas.microsoft.com/office/drawing/2014/main" id="{02EE5454-DA56-B30F-66F1-B0FDE85C0A15}"/>
              </a:ext>
            </a:extLst>
          </p:cNvPr>
          <p:cNvCxnSpPr/>
          <p:nvPr/>
        </p:nvCxnSpPr>
        <p:spPr>
          <a:xfrm rot="10800000">
            <a:off x="4560831" y="2895801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肘形接點 190">
            <a:extLst>
              <a:ext uri="{FF2B5EF4-FFF2-40B4-BE49-F238E27FC236}">
                <a16:creationId xmlns:a16="http://schemas.microsoft.com/office/drawing/2014/main" id="{5B217B7A-650A-7D34-0839-21EBEA373035}"/>
              </a:ext>
            </a:extLst>
          </p:cNvPr>
          <p:cNvCxnSpPr/>
          <p:nvPr/>
        </p:nvCxnSpPr>
        <p:spPr>
          <a:xfrm rot="10800000">
            <a:off x="7030472" y="2882097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肘形接點 191">
            <a:extLst>
              <a:ext uri="{FF2B5EF4-FFF2-40B4-BE49-F238E27FC236}">
                <a16:creationId xmlns:a16="http://schemas.microsoft.com/office/drawing/2014/main" id="{29F9CFEF-21E2-60DD-53E3-BA7E5D373258}"/>
              </a:ext>
            </a:extLst>
          </p:cNvPr>
          <p:cNvCxnSpPr/>
          <p:nvPr/>
        </p:nvCxnSpPr>
        <p:spPr>
          <a:xfrm rot="10800000">
            <a:off x="9416986" y="2897118"/>
            <a:ext cx="24069" cy="3286362"/>
          </a:xfrm>
          <a:prstGeom prst="bentConnector3">
            <a:avLst>
              <a:gd name="adj1" fmla="val 3985417"/>
            </a:avLst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E01F2C50-9E43-DA7E-565C-C768C863CC75}"/>
              </a:ext>
            </a:extLst>
          </p:cNvPr>
          <p:cNvSpPr/>
          <p:nvPr/>
        </p:nvSpPr>
        <p:spPr>
          <a:xfrm>
            <a:off x="1891147" y="2570480"/>
            <a:ext cx="942649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文字方塊 193">
                <a:extLst>
                  <a:ext uri="{FF2B5EF4-FFF2-40B4-BE49-F238E27FC236}">
                    <a16:creationId xmlns:a16="http://schemas.microsoft.com/office/drawing/2014/main" id="{CCB2FD08-0E0E-E750-4A81-8A228FD0DB82}"/>
                  </a:ext>
                </a:extLst>
              </p:cNvPr>
              <p:cNvSpPr txBox="1"/>
              <p:nvPr/>
            </p:nvSpPr>
            <p:spPr>
              <a:xfrm>
                <a:off x="10033070" y="2572635"/>
                <a:ext cx="194385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>
                    <a:solidFill>
                      <a:schemeClr val="tx1"/>
                    </a:solidFill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計算：</a:t>
                </a:r>
                <a14:m>
                  <m:oMath xmlns:m="http://schemas.openxmlformats.org/officeDocument/2006/math">
                    <m:r>
                      <a:rPr lang="en-US" altLang="zh-TW" sz="1800" i="1" kern="1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平均數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kern="100" dirty="0">
                    <a:solidFill>
                      <a:schemeClr val="tx1"/>
                    </a:solidFill>
                    <a:effectLst/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&amp;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 (</a:t>
                </a:r>
                <a:r>
                  <a:rPr lang="zh-TW" altLang="en-US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標準差</a:t>
                </a:r>
                <a:r>
                  <a:rPr lang="en-US" altLang="zh-TW" kern="1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Times New Roman" panose="02020603050405020304" pitchFamily="18" charset="0"/>
                  </a:rPr>
                  <a:t>)</a:t>
                </a:r>
                <a:endParaRPr lang="zh-TW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194" name="文字方塊 193">
                <a:extLst>
                  <a:ext uri="{FF2B5EF4-FFF2-40B4-BE49-F238E27FC236}">
                    <a16:creationId xmlns:a16="http://schemas.microsoft.com/office/drawing/2014/main" id="{CCB2FD08-0E0E-E750-4A81-8A228FD0D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3070" y="2572635"/>
                <a:ext cx="1943857" cy="646331"/>
              </a:xfrm>
              <a:prstGeom prst="rect">
                <a:avLst/>
              </a:prstGeom>
              <a:blipFill>
                <a:blip r:embed="rId3"/>
                <a:stretch>
                  <a:fillRect l="-3247" t="-3846" b="-13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D858D1B8-C8D7-80E6-476A-B7F3E2EA775B}"/>
                  </a:ext>
                </a:extLst>
              </p:cNvPr>
              <p:cNvSpPr txBox="1"/>
              <p:nvPr/>
            </p:nvSpPr>
            <p:spPr>
              <a:xfrm>
                <a:off x="1700700" y="1654728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zh-TW" altLang="en-US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i="1" kern="100" baseline="-25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D858D1B8-C8D7-80E6-476A-B7F3E2EA7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00" y="1654728"/>
                <a:ext cx="1300947" cy="814262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ACB11949-8CA0-98D1-CD4A-54726C6FE707}"/>
                  </a:ext>
                </a:extLst>
              </p:cNvPr>
              <p:cNvSpPr txBox="1"/>
              <p:nvPr/>
            </p:nvSpPr>
            <p:spPr>
              <a:xfrm>
                <a:off x="4176758" y="1650508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ACB11949-8CA0-98D1-CD4A-54726C6FE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6758" y="1650508"/>
                <a:ext cx="1300947" cy="814262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D7B635A0-A233-3BBE-5567-21A0DE11E3C0}"/>
                  </a:ext>
                </a:extLst>
              </p:cNvPr>
              <p:cNvSpPr txBox="1"/>
              <p:nvPr/>
            </p:nvSpPr>
            <p:spPr>
              <a:xfrm>
                <a:off x="6665142" y="1657906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D7B635A0-A233-3BBE-5567-21A0DE11E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142" y="1657906"/>
                <a:ext cx="1300947" cy="814262"/>
              </a:xfrm>
              <a:prstGeom prst="rect">
                <a:avLst/>
              </a:prstGeom>
              <a:blipFill>
                <a:blip r:embed="rId6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48D4481E-50BD-A530-7239-E37121AB1695}"/>
                  </a:ext>
                </a:extLst>
              </p:cNvPr>
              <p:cNvSpPr txBox="1"/>
              <p:nvPr/>
            </p:nvSpPr>
            <p:spPr>
              <a:xfrm>
                <a:off x="9023907" y="1652633"/>
                <a:ext cx="1300947" cy="814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TW" sz="2400" b="0" i="1" kern="100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48D4481E-50BD-A530-7239-E37121AB1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907" y="1652633"/>
                <a:ext cx="1300947" cy="814262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E926EAE7-7EBC-106D-ADB2-46BA5926BAB6}"/>
              </a:ext>
            </a:extLst>
          </p:cNvPr>
          <p:cNvSpPr/>
          <p:nvPr/>
        </p:nvSpPr>
        <p:spPr>
          <a:xfrm>
            <a:off x="4341998" y="2568010"/>
            <a:ext cx="942649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19CF8-718B-DF6E-1087-DFD3F62E01B9}"/>
              </a:ext>
            </a:extLst>
          </p:cNvPr>
          <p:cNvSpPr/>
          <p:nvPr/>
        </p:nvSpPr>
        <p:spPr>
          <a:xfrm>
            <a:off x="6821790" y="2575439"/>
            <a:ext cx="942649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96097D-F9D1-805F-EC75-8C9A943A2046}"/>
              </a:ext>
            </a:extLst>
          </p:cNvPr>
          <p:cNvSpPr/>
          <p:nvPr/>
        </p:nvSpPr>
        <p:spPr>
          <a:xfrm>
            <a:off x="9255836" y="2582799"/>
            <a:ext cx="777898" cy="6286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2016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  <p:bldP spid="194" grpId="0"/>
      <p:bldP spid="196" grpId="0"/>
      <p:bldP spid="197" grpId="0"/>
      <p:bldP spid="198" grpId="0"/>
      <p:bldP spid="199" grpId="0"/>
      <p:bldP spid="3" grpId="0" animBg="1"/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47196-ECCE-00F8-584A-FAB19891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Why LN not BN?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77FB0B-9A84-544C-34FA-77B4002A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B4FED7-7F4F-C291-97B1-81DE903B35DD}"/>
              </a:ext>
            </a:extLst>
          </p:cNvPr>
          <p:cNvSpPr txBox="1"/>
          <p:nvPr/>
        </p:nvSpPr>
        <p:spPr>
          <a:xfrm>
            <a:off x="653144" y="1953959"/>
            <a:ext cx="10918370" cy="114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資料長度差距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模型實作表現差異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495E54-EC25-32E9-93AD-DA42A7E6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56" y="2073283"/>
            <a:ext cx="7772400" cy="381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06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142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121FA8-BF6C-08DC-D82D-F6A4055B5A7C}"/>
              </a:ext>
            </a:extLst>
          </p:cNvPr>
          <p:cNvSpPr/>
          <p:nvPr/>
        </p:nvSpPr>
        <p:spPr>
          <a:xfrm>
            <a:off x="4320069" y="5299787"/>
            <a:ext cx="1268965" cy="373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7B5C01-EAB6-E0F6-1949-444BAF6391DB}"/>
              </a:ext>
            </a:extLst>
          </p:cNvPr>
          <p:cNvSpPr/>
          <p:nvPr/>
        </p:nvSpPr>
        <p:spPr>
          <a:xfrm>
            <a:off x="6634141" y="5299786"/>
            <a:ext cx="1268965" cy="373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6236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96EC5-5532-DA44-297E-A58EA4C9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Lack of Position Modeling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46</a:t>
            </a:fld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EF54391A-3D74-0DE4-B1EC-95EEE4317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166" y="1835882"/>
            <a:ext cx="4923579" cy="494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CC822CA-CED2-6066-6A28-15BD538DDAB2}"/>
              </a:ext>
            </a:extLst>
          </p:cNvPr>
          <p:cNvSpPr/>
          <p:nvPr/>
        </p:nvSpPr>
        <p:spPr>
          <a:xfrm flipV="1">
            <a:off x="7007059" y="1950752"/>
            <a:ext cx="1467853" cy="51951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59E51B-3C6B-0416-2A87-F581F36C0282}"/>
              </a:ext>
            </a:extLst>
          </p:cNvPr>
          <p:cNvSpPr txBox="1"/>
          <p:nvPr/>
        </p:nvSpPr>
        <p:spPr>
          <a:xfrm>
            <a:off x="8672470" y="1887344"/>
            <a:ext cx="3088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不同語意的句子但文字資訊卻沒有根據上下文而變化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9FC2741-55E8-DC2A-35F1-5983D8B810A8}"/>
              </a:ext>
            </a:extLst>
          </p:cNvPr>
          <p:cNvSpPr txBox="1"/>
          <p:nvPr/>
        </p:nvSpPr>
        <p:spPr>
          <a:xfrm>
            <a:off x="653142" y="1950752"/>
            <a:ext cx="4454886" cy="23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RNN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有位置資訊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因為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RNN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step-by-step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處理文字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然而，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Transformer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中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self-attention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的操作遺失了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step-by-step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處理文字的方式，故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缺少位置資訊</a:t>
            </a:r>
          </a:p>
        </p:txBody>
      </p:sp>
    </p:spTree>
    <p:extLst>
      <p:ext uri="{BB962C8B-B14F-4D97-AF65-F5344CB8AC3E}">
        <p14:creationId xmlns:p14="http://schemas.microsoft.com/office/powerpoint/2010/main" val="26343597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BFCB6-0F05-BCE4-CB71-FA8B6A10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常見位置資訊作法：</a:t>
            </a:r>
            <a:r>
              <a:rPr kumimoji="1" lang="en-US" altLang="zh-TW" dirty="0"/>
              <a:t>Learned Positional 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45D86B-A2AA-27FF-3FDA-2CF7ED37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C041B-4C98-5794-2FAE-7AFC39C4AED5}"/>
              </a:ext>
            </a:extLst>
          </p:cNvPr>
          <p:cNvSpPr/>
          <p:nvPr/>
        </p:nvSpPr>
        <p:spPr>
          <a:xfrm>
            <a:off x="2383875" y="4484516"/>
            <a:ext cx="409904" cy="10334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e</a:t>
            </a:r>
            <a:r>
              <a:rPr kumimoji="1" lang="en-US" altLang="zh-TW" baseline="-25000" dirty="0"/>
              <a:t>1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596D75C-280D-F9EC-26CE-F6D0AD249BDF}"/>
              </a:ext>
            </a:extLst>
          </p:cNvPr>
          <p:cNvSpPr txBox="1"/>
          <p:nvPr/>
        </p:nvSpPr>
        <p:spPr>
          <a:xfrm>
            <a:off x="2230161" y="551793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John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B9E024-638B-3B8C-37D6-4603CE50E837}"/>
              </a:ext>
            </a:extLst>
          </p:cNvPr>
          <p:cNvSpPr/>
          <p:nvPr/>
        </p:nvSpPr>
        <p:spPr>
          <a:xfrm>
            <a:off x="3553151" y="4484516"/>
            <a:ext cx="409904" cy="10334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e</a:t>
            </a:r>
            <a:r>
              <a:rPr kumimoji="1" lang="en-US" altLang="zh-TW" baseline="-25000" dirty="0"/>
              <a:t>2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9AEAF12-772F-AE2F-C62A-D32CC649E6B7}"/>
              </a:ext>
            </a:extLst>
          </p:cNvPr>
          <p:cNvSpPr txBox="1"/>
          <p:nvPr/>
        </p:nvSpPr>
        <p:spPr>
          <a:xfrm>
            <a:off x="3399437" y="551793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likes</a:t>
            </a:r>
            <a:endParaRPr kumimoji="1"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4CA0CA-E7ED-B3A9-5181-A00B7F182F13}"/>
              </a:ext>
            </a:extLst>
          </p:cNvPr>
          <p:cNvSpPr/>
          <p:nvPr/>
        </p:nvSpPr>
        <p:spPr>
          <a:xfrm>
            <a:off x="4722427" y="4484516"/>
            <a:ext cx="409904" cy="10334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e</a:t>
            </a:r>
            <a:r>
              <a:rPr kumimoji="1" lang="en-US" altLang="zh-TW" baseline="-25000" dirty="0"/>
              <a:t>3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C2FB9EA-0017-7AD3-4E61-24334D208866}"/>
              </a:ext>
            </a:extLst>
          </p:cNvPr>
          <p:cNvSpPr txBox="1"/>
          <p:nvPr/>
        </p:nvSpPr>
        <p:spPr>
          <a:xfrm>
            <a:off x="4568713" y="551793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Amy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14B58F-EDD1-E799-CA5D-AB9C9CAF9C10}"/>
              </a:ext>
            </a:extLst>
          </p:cNvPr>
          <p:cNvSpPr/>
          <p:nvPr/>
        </p:nvSpPr>
        <p:spPr>
          <a:xfrm>
            <a:off x="7262646" y="4484516"/>
            <a:ext cx="409904" cy="10334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e</a:t>
            </a:r>
            <a:r>
              <a:rPr kumimoji="1" lang="en-US" altLang="zh-TW" baseline="-25000" dirty="0"/>
              <a:t>1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715DC70-A4A9-F0EE-6CA5-FD51D41ACE62}"/>
              </a:ext>
            </a:extLst>
          </p:cNvPr>
          <p:cNvSpPr txBox="1"/>
          <p:nvPr/>
        </p:nvSpPr>
        <p:spPr>
          <a:xfrm>
            <a:off x="7108932" y="551793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Amy</a:t>
            </a:r>
            <a:endParaRPr kumimoji="1"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7536A2-222A-BCC9-A657-C32379DB3098}"/>
              </a:ext>
            </a:extLst>
          </p:cNvPr>
          <p:cNvSpPr/>
          <p:nvPr/>
        </p:nvSpPr>
        <p:spPr>
          <a:xfrm>
            <a:off x="8431922" y="4484516"/>
            <a:ext cx="409904" cy="10334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e</a:t>
            </a:r>
            <a:r>
              <a:rPr kumimoji="1" lang="en-US" altLang="zh-TW" baseline="-25000" dirty="0"/>
              <a:t>2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141C865-A88C-EF0A-3E4D-83D7FA243631}"/>
              </a:ext>
            </a:extLst>
          </p:cNvPr>
          <p:cNvSpPr txBox="1"/>
          <p:nvPr/>
        </p:nvSpPr>
        <p:spPr>
          <a:xfrm>
            <a:off x="8278208" y="551793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likes</a:t>
            </a:r>
            <a:endParaRPr kumimoji="1"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380C70-080B-C2C5-D892-C367CCE00000}"/>
              </a:ext>
            </a:extLst>
          </p:cNvPr>
          <p:cNvSpPr/>
          <p:nvPr/>
        </p:nvSpPr>
        <p:spPr>
          <a:xfrm>
            <a:off x="9601198" y="4484516"/>
            <a:ext cx="409904" cy="10334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e</a:t>
            </a:r>
            <a:r>
              <a:rPr kumimoji="1" lang="en-US" altLang="zh-TW" baseline="-25000" dirty="0"/>
              <a:t>3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77C95A5-3B40-D67C-D13C-A65CA6EEF72B}"/>
              </a:ext>
            </a:extLst>
          </p:cNvPr>
          <p:cNvSpPr txBox="1"/>
          <p:nvPr/>
        </p:nvSpPr>
        <p:spPr>
          <a:xfrm>
            <a:off x="9447484" y="551793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John</a:t>
            </a:r>
            <a:endParaRPr kumimoji="1"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D52B90-75AB-33A6-322E-4C35571B7ED4}"/>
              </a:ext>
            </a:extLst>
          </p:cNvPr>
          <p:cNvSpPr/>
          <p:nvPr/>
        </p:nvSpPr>
        <p:spPr>
          <a:xfrm>
            <a:off x="1880691" y="4484516"/>
            <a:ext cx="409904" cy="10334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</a:t>
            </a:r>
            <a:r>
              <a:rPr kumimoji="1" lang="en-US" altLang="zh-TW" baseline="-25000" dirty="0"/>
              <a:t>1</a:t>
            </a:r>
            <a:endParaRPr kumimoji="1"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96C3B-9AA0-FACD-19C6-2B2EEB79C6AA}"/>
              </a:ext>
            </a:extLst>
          </p:cNvPr>
          <p:cNvSpPr/>
          <p:nvPr/>
        </p:nvSpPr>
        <p:spPr>
          <a:xfrm>
            <a:off x="3049967" y="4484516"/>
            <a:ext cx="409904" cy="10334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</a:t>
            </a:r>
            <a:r>
              <a:rPr kumimoji="1" lang="en-US" altLang="zh-TW" baseline="-25000" dirty="0"/>
              <a:t>2</a:t>
            </a:r>
            <a:endParaRPr kumimoji="1"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AA3398-0AE9-2D00-6CBB-894BE6E424F4}"/>
              </a:ext>
            </a:extLst>
          </p:cNvPr>
          <p:cNvSpPr/>
          <p:nvPr/>
        </p:nvSpPr>
        <p:spPr>
          <a:xfrm>
            <a:off x="4219243" y="4484516"/>
            <a:ext cx="409904" cy="10334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</a:t>
            </a:r>
            <a:r>
              <a:rPr kumimoji="1" lang="en-US" altLang="zh-TW" baseline="-25000" dirty="0"/>
              <a:t>3</a:t>
            </a:r>
            <a:endParaRPr kumimoji="1"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E01D4B-24BB-20AB-694D-F57CE8E97DFE}"/>
              </a:ext>
            </a:extLst>
          </p:cNvPr>
          <p:cNvSpPr/>
          <p:nvPr/>
        </p:nvSpPr>
        <p:spPr>
          <a:xfrm>
            <a:off x="6754865" y="4484516"/>
            <a:ext cx="409904" cy="10334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</a:t>
            </a:r>
            <a:r>
              <a:rPr kumimoji="1" lang="en-US" altLang="zh-TW" baseline="-25000" dirty="0"/>
              <a:t>1</a:t>
            </a:r>
            <a:endParaRPr kumimoji="1"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43D585-155D-8841-E64B-FEEF56A4C9FE}"/>
              </a:ext>
            </a:extLst>
          </p:cNvPr>
          <p:cNvSpPr/>
          <p:nvPr/>
        </p:nvSpPr>
        <p:spPr>
          <a:xfrm>
            <a:off x="7924141" y="4484516"/>
            <a:ext cx="409904" cy="10334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</a:t>
            </a:r>
            <a:r>
              <a:rPr kumimoji="1" lang="en-US" altLang="zh-TW" baseline="-25000" dirty="0"/>
              <a:t>2</a:t>
            </a:r>
            <a:endParaRPr kumimoji="1"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5AF5E2-C983-0D00-E74D-BE6763687C86}"/>
              </a:ext>
            </a:extLst>
          </p:cNvPr>
          <p:cNvSpPr/>
          <p:nvPr/>
        </p:nvSpPr>
        <p:spPr>
          <a:xfrm>
            <a:off x="9093417" y="4484516"/>
            <a:ext cx="409904" cy="10334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</a:t>
            </a:r>
            <a:r>
              <a:rPr kumimoji="1" lang="en-US" altLang="zh-TW" baseline="-25000" dirty="0"/>
              <a:t>3</a:t>
            </a:r>
            <a:endParaRPr kumimoji="1"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DE5978C-6B38-5D46-92B9-AE46DCC9829F}"/>
              </a:ext>
            </a:extLst>
          </p:cNvPr>
          <p:cNvSpPr txBox="1"/>
          <p:nvPr/>
        </p:nvSpPr>
        <p:spPr>
          <a:xfrm>
            <a:off x="1828140" y="5516775"/>
            <a:ext cx="51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1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EB2D2D52-0284-95B6-1BEA-83FF8BFDF642}"/>
              </a:ext>
            </a:extLst>
          </p:cNvPr>
          <p:cNvSpPr txBox="1"/>
          <p:nvPr/>
        </p:nvSpPr>
        <p:spPr>
          <a:xfrm>
            <a:off x="2998729" y="5516775"/>
            <a:ext cx="51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2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2486D89-F7FF-E026-62F5-C78CB5093F94}"/>
              </a:ext>
            </a:extLst>
          </p:cNvPr>
          <p:cNvSpPr txBox="1"/>
          <p:nvPr/>
        </p:nvSpPr>
        <p:spPr>
          <a:xfrm>
            <a:off x="4173259" y="5516775"/>
            <a:ext cx="51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3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967E1AC-CC8B-DD19-B227-330211F20D98}"/>
              </a:ext>
            </a:extLst>
          </p:cNvPr>
          <p:cNvSpPr txBox="1"/>
          <p:nvPr/>
        </p:nvSpPr>
        <p:spPr>
          <a:xfrm>
            <a:off x="6712498" y="5516775"/>
            <a:ext cx="51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1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EB735DF5-084D-6628-9904-D04A6EF25FCB}"/>
              </a:ext>
            </a:extLst>
          </p:cNvPr>
          <p:cNvSpPr txBox="1"/>
          <p:nvPr/>
        </p:nvSpPr>
        <p:spPr>
          <a:xfrm>
            <a:off x="7883087" y="5516775"/>
            <a:ext cx="51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2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C428CE8-8E6C-D033-7403-A41554769EEA}"/>
              </a:ext>
            </a:extLst>
          </p:cNvPr>
          <p:cNvSpPr txBox="1"/>
          <p:nvPr/>
        </p:nvSpPr>
        <p:spPr>
          <a:xfrm>
            <a:off x="9057617" y="5516775"/>
            <a:ext cx="51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3</a:t>
            </a:r>
            <a:endParaRPr kumimoji="1" lang="zh-TW" altLang="en-US" dirty="0">
              <a:solidFill>
                <a:schemeClr val="accent2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C2DC0D-DEC8-1486-FCD1-DBBE5D225931}"/>
              </a:ext>
            </a:extLst>
          </p:cNvPr>
          <p:cNvSpPr/>
          <p:nvPr/>
        </p:nvSpPr>
        <p:spPr>
          <a:xfrm>
            <a:off x="1526595" y="3459740"/>
            <a:ext cx="3969026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Self-attention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8E2AB4-F5C9-F6EA-BEF9-A5E618D7E9AA}"/>
              </a:ext>
            </a:extLst>
          </p:cNvPr>
          <p:cNvSpPr/>
          <p:nvPr/>
        </p:nvSpPr>
        <p:spPr>
          <a:xfrm>
            <a:off x="6447409" y="3459740"/>
            <a:ext cx="3969026" cy="65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Self-attention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D96202E9-65BE-B8E5-C9A2-79FF263A0249}"/>
              </a:ext>
            </a:extLst>
          </p:cNvPr>
          <p:cNvCxnSpPr>
            <a:cxnSpLocks/>
          </p:cNvCxnSpPr>
          <p:nvPr/>
        </p:nvCxnSpPr>
        <p:spPr>
          <a:xfrm flipV="1">
            <a:off x="2596709" y="416170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9E3B5C8C-5ED2-12AC-6BBE-7E6E8D7AD19B}"/>
              </a:ext>
            </a:extLst>
          </p:cNvPr>
          <p:cNvCxnSpPr>
            <a:cxnSpLocks/>
          </p:cNvCxnSpPr>
          <p:nvPr/>
        </p:nvCxnSpPr>
        <p:spPr>
          <a:xfrm flipV="1">
            <a:off x="3758102" y="416170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D59C0F2F-6935-0010-5210-611E4DCB31E4}"/>
              </a:ext>
            </a:extLst>
          </p:cNvPr>
          <p:cNvCxnSpPr>
            <a:cxnSpLocks/>
          </p:cNvCxnSpPr>
          <p:nvPr/>
        </p:nvCxnSpPr>
        <p:spPr>
          <a:xfrm flipV="1">
            <a:off x="4935261" y="416170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DF502FB2-B836-E8DC-5D85-007C1D6CF894}"/>
              </a:ext>
            </a:extLst>
          </p:cNvPr>
          <p:cNvCxnSpPr>
            <a:cxnSpLocks/>
          </p:cNvCxnSpPr>
          <p:nvPr/>
        </p:nvCxnSpPr>
        <p:spPr>
          <a:xfrm flipV="1">
            <a:off x="7467597" y="416170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0ACB7BA3-007A-42BB-4E97-366BB0D9FAC7}"/>
              </a:ext>
            </a:extLst>
          </p:cNvPr>
          <p:cNvCxnSpPr>
            <a:cxnSpLocks/>
          </p:cNvCxnSpPr>
          <p:nvPr/>
        </p:nvCxnSpPr>
        <p:spPr>
          <a:xfrm flipV="1">
            <a:off x="8628990" y="416170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A1866D55-7ED0-7C7E-B74E-7B38A507714C}"/>
              </a:ext>
            </a:extLst>
          </p:cNvPr>
          <p:cNvCxnSpPr>
            <a:cxnSpLocks/>
          </p:cNvCxnSpPr>
          <p:nvPr/>
        </p:nvCxnSpPr>
        <p:spPr>
          <a:xfrm flipV="1">
            <a:off x="9806149" y="416170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0B9F1A8-1CAD-C3EC-5B97-09BD3E753E34}"/>
              </a:ext>
            </a:extLst>
          </p:cNvPr>
          <p:cNvSpPr txBox="1"/>
          <p:nvPr/>
        </p:nvSpPr>
        <p:spPr>
          <a:xfrm>
            <a:off x="1981853" y="483808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D124635A-FE45-D46B-626C-7BEFFACB6F38}"/>
              </a:ext>
            </a:extLst>
          </p:cNvPr>
          <p:cNvSpPr txBox="1"/>
          <p:nvPr/>
        </p:nvSpPr>
        <p:spPr>
          <a:xfrm>
            <a:off x="3150144" y="483808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12D3C30-E22A-D8AE-9C89-7A197E086129}"/>
              </a:ext>
            </a:extLst>
          </p:cNvPr>
          <p:cNvSpPr txBox="1"/>
          <p:nvPr/>
        </p:nvSpPr>
        <p:spPr>
          <a:xfrm>
            <a:off x="4321718" y="483808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6597993C-4B04-C025-76F3-5B9D95A9EEB7}"/>
              </a:ext>
            </a:extLst>
          </p:cNvPr>
          <p:cNvSpPr txBox="1"/>
          <p:nvPr/>
        </p:nvSpPr>
        <p:spPr>
          <a:xfrm>
            <a:off x="6855042" y="483808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2DAE614-301E-6BEF-70E5-6BBEF6BD10AB}"/>
              </a:ext>
            </a:extLst>
          </p:cNvPr>
          <p:cNvSpPr txBox="1"/>
          <p:nvPr/>
        </p:nvSpPr>
        <p:spPr>
          <a:xfrm>
            <a:off x="8024318" y="483808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9FC6EC99-8848-9867-743A-2E1051D4419A}"/>
              </a:ext>
            </a:extLst>
          </p:cNvPr>
          <p:cNvSpPr txBox="1"/>
          <p:nvPr/>
        </p:nvSpPr>
        <p:spPr>
          <a:xfrm>
            <a:off x="9193428" y="4838082"/>
            <a:ext cx="717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+</a:t>
            </a:r>
            <a:endParaRPr kumimoji="1" lang="zh-TW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64A69B-C4CA-8B79-AD79-5E9822CF7CD2}"/>
              </a:ext>
            </a:extLst>
          </p:cNvPr>
          <p:cNvSpPr/>
          <p:nvPr/>
        </p:nvSpPr>
        <p:spPr>
          <a:xfrm>
            <a:off x="2428381" y="2128331"/>
            <a:ext cx="320889" cy="8892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9D3A286F-F008-3B19-4FE7-E41984808E77}"/>
              </a:ext>
            </a:extLst>
          </p:cNvPr>
          <p:cNvCxnSpPr>
            <a:cxnSpLocks/>
          </p:cNvCxnSpPr>
          <p:nvPr/>
        </p:nvCxnSpPr>
        <p:spPr>
          <a:xfrm flipV="1">
            <a:off x="7486645" y="3098291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箭頭接點 52">
            <a:extLst>
              <a:ext uri="{FF2B5EF4-FFF2-40B4-BE49-F238E27FC236}">
                <a16:creationId xmlns:a16="http://schemas.microsoft.com/office/drawing/2014/main" id="{232D2F95-9A32-DB2C-1546-6D67B4EE08AD}"/>
              </a:ext>
            </a:extLst>
          </p:cNvPr>
          <p:cNvCxnSpPr>
            <a:cxnSpLocks/>
          </p:cNvCxnSpPr>
          <p:nvPr/>
        </p:nvCxnSpPr>
        <p:spPr>
          <a:xfrm flipV="1">
            <a:off x="8648038" y="3098291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B1E266D5-A580-143C-2A46-3D95EBC974ED}"/>
              </a:ext>
            </a:extLst>
          </p:cNvPr>
          <p:cNvCxnSpPr>
            <a:cxnSpLocks/>
          </p:cNvCxnSpPr>
          <p:nvPr/>
        </p:nvCxnSpPr>
        <p:spPr>
          <a:xfrm flipV="1">
            <a:off x="9825197" y="3098291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7A127BAF-0D3E-D86F-0D78-03AAC320DE69}"/>
              </a:ext>
            </a:extLst>
          </p:cNvPr>
          <p:cNvCxnSpPr>
            <a:cxnSpLocks/>
          </p:cNvCxnSpPr>
          <p:nvPr/>
        </p:nvCxnSpPr>
        <p:spPr>
          <a:xfrm flipV="1">
            <a:off x="2588826" y="310033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箭頭接點 55">
            <a:extLst>
              <a:ext uri="{FF2B5EF4-FFF2-40B4-BE49-F238E27FC236}">
                <a16:creationId xmlns:a16="http://schemas.microsoft.com/office/drawing/2014/main" id="{8B6C7410-5A3D-6C4B-8229-22474B471EC8}"/>
              </a:ext>
            </a:extLst>
          </p:cNvPr>
          <p:cNvCxnSpPr>
            <a:cxnSpLocks/>
          </p:cNvCxnSpPr>
          <p:nvPr/>
        </p:nvCxnSpPr>
        <p:spPr>
          <a:xfrm flipV="1">
            <a:off x="3750219" y="310033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F117886F-2B14-90EF-C8E3-9DBF560B801C}"/>
              </a:ext>
            </a:extLst>
          </p:cNvPr>
          <p:cNvCxnSpPr>
            <a:cxnSpLocks/>
          </p:cNvCxnSpPr>
          <p:nvPr/>
        </p:nvCxnSpPr>
        <p:spPr>
          <a:xfrm flipV="1">
            <a:off x="4927378" y="3100335"/>
            <a:ext cx="0" cy="29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53E72C6D-EB8C-93B4-8AFB-26BA371822B1}"/>
              </a:ext>
            </a:extLst>
          </p:cNvPr>
          <p:cNvSpPr/>
          <p:nvPr/>
        </p:nvSpPr>
        <p:spPr>
          <a:xfrm>
            <a:off x="3589774" y="2128331"/>
            <a:ext cx="320889" cy="8892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BF04034-86AB-1182-3DAF-BB25644C786C}"/>
              </a:ext>
            </a:extLst>
          </p:cNvPr>
          <p:cNvSpPr/>
          <p:nvPr/>
        </p:nvSpPr>
        <p:spPr>
          <a:xfrm>
            <a:off x="4774816" y="2128331"/>
            <a:ext cx="320889" cy="8892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356E94B-8D35-9D7C-A1BF-8053B23C6146}"/>
              </a:ext>
            </a:extLst>
          </p:cNvPr>
          <p:cNvSpPr/>
          <p:nvPr/>
        </p:nvSpPr>
        <p:spPr>
          <a:xfrm>
            <a:off x="7326200" y="2126287"/>
            <a:ext cx="320889" cy="8892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975C40B-7997-D0A9-6E1B-5AD75EBFA3A6}"/>
              </a:ext>
            </a:extLst>
          </p:cNvPr>
          <p:cNvSpPr/>
          <p:nvPr/>
        </p:nvSpPr>
        <p:spPr>
          <a:xfrm>
            <a:off x="8487593" y="2126287"/>
            <a:ext cx="320889" cy="8892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E91A45E-9F7B-E750-5928-E59950D2BD3D}"/>
              </a:ext>
            </a:extLst>
          </p:cNvPr>
          <p:cNvSpPr/>
          <p:nvPr/>
        </p:nvSpPr>
        <p:spPr>
          <a:xfrm>
            <a:off x="9660814" y="2126287"/>
            <a:ext cx="320889" cy="8892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0C72EF17-30DB-73D8-C359-035A7D13B107}"/>
              </a:ext>
            </a:extLst>
          </p:cNvPr>
          <p:cNvSpPr txBox="1"/>
          <p:nvPr/>
        </p:nvSpPr>
        <p:spPr>
          <a:xfrm>
            <a:off x="2249214" y="6317246"/>
            <a:ext cx="769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此做法又稱絕對位置資訊編碼 </a:t>
            </a:r>
            <a:r>
              <a:rPr kumimoji="1" lang="en-US" altLang="zh-TW" dirty="0"/>
              <a:t>(Absolute positional Encoding)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16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BB77E-3CCA-A6A4-EB95-8625CFAA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Learned Positional Embeddings</a:t>
            </a:r>
            <a:r>
              <a:rPr kumimoji="1" lang="zh-TW" altLang="en-US" dirty="0"/>
              <a:t> 程式碼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39CB26-A76A-A595-2939-F9BF8D40F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023F39-06C6-862C-16C2-96C079CEA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535" y="1971020"/>
            <a:ext cx="10201586" cy="291596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3575EC4-8C46-6FBC-5025-B8DC8F01405D}"/>
              </a:ext>
            </a:extLst>
          </p:cNvPr>
          <p:cNvSpPr/>
          <p:nvPr/>
        </p:nvSpPr>
        <p:spPr>
          <a:xfrm>
            <a:off x="1761043" y="3325957"/>
            <a:ext cx="8544910" cy="205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7D4F23E-FC5D-D22B-6DCA-73A9EDB4825C}"/>
              </a:ext>
            </a:extLst>
          </p:cNvPr>
          <p:cNvSpPr txBox="1"/>
          <p:nvPr/>
        </p:nvSpPr>
        <p:spPr>
          <a:xfrm>
            <a:off x="5612524" y="1389504"/>
            <a:ext cx="6117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https://</a:t>
            </a:r>
            <a:r>
              <a:rPr kumimoji="1" lang="en" altLang="zh-TW" sz="1200" dirty="0" err="1"/>
              <a:t>huggingface.co</a:t>
            </a:r>
            <a:r>
              <a:rPr kumimoji="1" lang="en" altLang="zh-TW" sz="1200" dirty="0"/>
              <a:t>/transformers/v2.1.1/_modules/transformers/</a:t>
            </a:r>
            <a:r>
              <a:rPr kumimoji="1" lang="en" altLang="zh-TW" sz="1200" dirty="0" err="1"/>
              <a:t>modeling_bert.html</a:t>
            </a:r>
            <a:endParaRPr kumimoji="1" lang="zh-TW" altLang="en-US" sz="12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C80E418-40C1-4582-88D0-A44DEA20E4F1}"/>
              </a:ext>
            </a:extLst>
          </p:cNvPr>
          <p:cNvSpPr txBox="1"/>
          <p:nvPr/>
        </p:nvSpPr>
        <p:spPr>
          <a:xfrm>
            <a:off x="2249214" y="5537549"/>
            <a:ext cx="7693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缺點：</a:t>
            </a:r>
            <a:r>
              <a:rPr kumimoji="1" lang="en" altLang="zh-TW" dirty="0"/>
              <a:t>Learned Positional Embeddings</a:t>
            </a:r>
            <a:r>
              <a:rPr kumimoji="1" lang="zh-TW" altLang="en-US" dirty="0"/>
              <a:t> 不會超出 </a:t>
            </a:r>
            <a:r>
              <a:rPr kumimoji="1" lang="en-US" altLang="zh-TW" dirty="0" err="1"/>
              <a:t>max_position</a:t>
            </a:r>
            <a:r>
              <a:rPr kumimoji="1" lang="zh-TW" altLang="en-US" dirty="0"/>
              <a:t> 之後的資訊</a:t>
            </a:r>
          </a:p>
        </p:txBody>
      </p:sp>
    </p:spTree>
    <p:extLst>
      <p:ext uri="{BB962C8B-B14F-4D97-AF65-F5344CB8AC3E}">
        <p14:creationId xmlns:p14="http://schemas.microsoft.com/office/powerpoint/2010/main" val="376847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967D5-7D80-994F-6A47-90B01BE6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Positional </a:t>
            </a:r>
            <a:r>
              <a:rPr kumimoji="1" lang="en-US" altLang="zh-TW" dirty="0">
                <a:cs typeface="Calibri" panose="020F0502020204030204" pitchFamily="34" charset="0"/>
              </a:rPr>
              <a:t>Encoding</a:t>
            </a:r>
            <a:r>
              <a:rPr kumimoji="1" lang="zh-TW" altLang="en-US" dirty="0"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cs typeface="Calibri" panose="020F0502020204030204" pitchFamily="34" charset="0"/>
              </a:rPr>
              <a:t>in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957192-476E-F18C-A6CD-DB3BE309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C87C506-C2E4-D3D6-BA0E-DB41C309DC45}"/>
              </a:ext>
            </a:extLst>
          </p:cNvPr>
          <p:cNvSpPr txBox="1"/>
          <p:nvPr/>
        </p:nvSpPr>
        <p:spPr>
          <a:xfrm>
            <a:off x="2703367" y="6379403"/>
            <a:ext cx="7308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nlp.seas.harvard.edu</a:t>
            </a:r>
            <a:r>
              <a:rPr kumimoji="1" lang="en-US" altLang="zh-TW" sz="1400" dirty="0"/>
              <a:t>/annotated-transformer/#positional-encoding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E3DBAF-360E-36AD-FDC8-9459181D1B50}"/>
              </a:ext>
            </a:extLst>
          </p:cNvPr>
          <p:cNvSpPr txBox="1"/>
          <p:nvPr/>
        </p:nvSpPr>
        <p:spPr>
          <a:xfrm>
            <a:off x="653142" y="1756063"/>
            <a:ext cx="9155876" cy="1889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創造出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相對位置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embeddings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核心精神：利用三角函數的週期性來建構序列資訊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偶數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embedding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單元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2i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,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= 0, 2, 4, …, </a:t>
            </a:r>
            <a:r>
              <a:rPr kumimoji="1" lang="en-US" altLang="zh-TW" sz="2000" dirty="0" err="1">
                <a:solidFill>
                  <a:srgbClr val="0070C0"/>
                </a:solidFill>
              </a:rPr>
              <a:t>d</a:t>
            </a:r>
            <a:r>
              <a:rPr kumimoji="1" lang="en-US" altLang="zh-TW" sz="2000" baseline="-25000" dirty="0" err="1">
                <a:solidFill>
                  <a:srgbClr val="0070C0"/>
                </a:solidFill>
              </a:rPr>
              <a:t>model</a:t>
            </a:r>
            <a:r>
              <a:rPr kumimoji="1" lang="en-US" altLang="zh-TW" sz="2000" dirty="0">
                <a:solidFill>
                  <a:srgbClr val="0070C0"/>
                </a:solidFill>
                <a:ea typeface="Microsoft JhengHei" panose="020B0604030504040204" pitchFamily="34" charset="-120"/>
              </a:rPr>
              <a:t> / 2 - 2)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Sin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函數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chemeClr val="accent6"/>
                </a:solidFill>
                <a:ea typeface="Microsoft JhengHei" panose="020B0604030504040204" pitchFamily="34" charset="-120"/>
              </a:rPr>
              <a:t>奇數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embedding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單元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(</a:t>
            </a:r>
            <a:r>
              <a:rPr kumimoji="1" lang="en-US" altLang="zh-TW" sz="2000" dirty="0">
                <a:solidFill>
                  <a:schemeClr val="accent6"/>
                </a:solidFill>
                <a:ea typeface="Microsoft JhengHei" panose="020B0604030504040204" pitchFamily="34" charset="-120"/>
              </a:rPr>
              <a:t>2i+1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, 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= 1, 3, 5, …, </a:t>
            </a:r>
            <a:r>
              <a:rPr kumimoji="1" lang="en-US" altLang="zh-TW" sz="2000" dirty="0" err="1">
                <a:solidFill>
                  <a:schemeClr val="accent6"/>
                </a:solidFill>
              </a:rPr>
              <a:t>d</a:t>
            </a:r>
            <a:r>
              <a:rPr kumimoji="1" lang="en-US" altLang="zh-TW" sz="2000" baseline="-25000" dirty="0" err="1">
                <a:solidFill>
                  <a:schemeClr val="accent6"/>
                </a:solidFill>
              </a:rPr>
              <a:t>model</a:t>
            </a:r>
            <a:r>
              <a:rPr kumimoji="1" lang="en-US" altLang="zh-TW" sz="2000" baseline="-25000" dirty="0">
                <a:solidFill>
                  <a:schemeClr val="accent6"/>
                </a:solidFill>
              </a:rPr>
              <a:t> </a:t>
            </a:r>
            <a:r>
              <a:rPr kumimoji="1" lang="en-US" altLang="zh-TW" sz="2000" dirty="0">
                <a:solidFill>
                  <a:schemeClr val="accent6"/>
                </a:solidFill>
                <a:ea typeface="Microsoft JhengHei" panose="020B0604030504040204" pitchFamily="34" charset="-120"/>
              </a:rPr>
              <a:t>/ 2 - 1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：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Cosine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函數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EB5A69B-2C19-BD24-9448-291950201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12" y="4052850"/>
            <a:ext cx="4658591" cy="89044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E6F196F-C8B3-4018-5426-0BC154649F04}"/>
              </a:ext>
            </a:extLst>
          </p:cNvPr>
          <p:cNvSpPr txBox="1"/>
          <p:nvPr/>
        </p:nvSpPr>
        <p:spPr>
          <a:xfrm>
            <a:off x="2419400" y="5111714"/>
            <a:ext cx="3550203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輸入序列中任一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的位置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522B4799-4167-55A8-686C-6141ADD08D3E}"/>
              </a:ext>
            </a:extLst>
          </p:cNvPr>
          <p:cNvCxnSpPr/>
          <p:nvPr/>
        </p:nvCxnSpPr>
        <p:spPr>
          <a:xfrm>
            <a:off x="3671480" y="4405748"/>
            <a:ext cx="5991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CFD3839-658F-69D1-BF56-56504049DF0B}"/>
              </a:ext>
            </a:extLst>
          </p:cNvPr>
          <p:cNvCxnSpPr/>
          <p:nvPr/>
        </p:nvCxnSpPr>
        <p:spPr>
          <a:xfrm>
            <a:off x="3700934" y="4919049"/>
            <a:ext cx="5991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FF49AE4-3D2E-1D09-68E6-933562581145}"/>
              </a:ext>
            </a:extLst>
          </p:cNvPr>
          <p:cNvSpPr txBox="1"/>
          <p:nvPr/>
        </p:nvSpPr>
        <p:spPr>
          <a:xfrm>
            <a:off x="6096000" y="3959940"/>
            <a:ext cx="5828980" cy="959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 err="1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</a:t>
            </a:r>
            <a:r>
              <a:rPr kumimoji="1" lang="zh-TW" altLang="en-US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越大 </a:t>
            </a:r>
            <a:r>
              <a:rPr kumimoji="1" lang="en-US" altLang="zh-TW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-&gt; </a:t>
            </a:r>
            <a:r>
              <a:rPr kumimoji="1" lang="zh-TW" altLang="en-US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分母越大</a:t>
            </a:r>
            <a:r>
              <a:rPr kumimoji="1" lang="en-US" altLang="zh-TW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zh-TW" altLang="en-US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相位變化越慢</a:t>
            </a:r>
            <a:r>
              <a:rPr kumimoji="1" lang="en-US" altLang="zh-TW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-&gt; </a:t>
            </a:r>
            <a:r>
              <a:rPr kumimoji="1" lang="zh-TW" altLang="en-US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頻率越小</a:t>
            </a:r>
            <a:endParaRPr kumimoji="1" lang="en-US" altLang="zh-TW" sz="2000" dirty="0">
              <a:solidFill>
                <a:schemeClr val="accent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kumimoji="1" lang="en-US" altLang="zh-TW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10000</a:t>
            </a:r>
            <a:r>
              <a:rPr kumimoji="1" lang="zh-TW" altLang="en-US" sz="2000" dirty="0">
                <a:solidFill>
                  <a:schemeClr val="accent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是實驗得出的較佳數值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2E1C61-9D99-DC50-CAB1-0AB458E605D1}"/>
              </a:ext>
            </a:extLst>
          </p:cNvPr>
          <p:cNvSpPr/>
          <p:nvPr/>
        </p:nvSpPr>
        <p:spPr>
          <a:xfrm>
            <a:off x="4300118" y="4031438"/>
            <a:ext cx="1537169" cy="37430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7BFBE0-8297-8BE1-9577-CD50060ED8D8}"/>
              </a:ext>
            </a:extLst>
          </p:cNvPr>
          <p:cNvSpPr/>
          <p:nvPr/>
        </p:nvSpPr>
        <p:spPr>
          <a:xfrm>
            <a:off x="4300117" y="4516657"/>
            <a:ext cx="1537169" cy="40239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51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3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D967D5-7D80-994F-6A47-90B01BE6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Positional </a:t>
            </a:r>
            <a:r>
              <a:rPr kumimoji="1" lang="en-US" altLang="zh-TW" dirty="0">
                <a:cs typeface="Calibri" panose="020F0502020204030204" pitchFamily="34" charset="0"/>
              </a:rPr>
              <a:t>Encoding</a:t>
            </a:r>
            <a:r>
              <a:rPr kumimoji="1" lang="zh-TW" altLang="en-US" dirty="0">
                <a:cs typeface="Calibri" panose="020F0502020204030204" pitchFamily="34" charset="0"/>
              </a:rPr>
              <a:t> </a:t>
            </a:r>
            <a:r>
              <a:rPr kumimoji="1" lang="en-US" altLang="zh-TW" dirty="0">
                <a:cs typeface="Calibri" panose="020F0502020204030204" pitchFamily="34" charset="0"/>
              </a:rPr>
              <a:t>Visualization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957192-476E-F18C-A6CD-DB3BE309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6" name="圖片 5" descr="一張含有 行, 繪圖, 圖表 的圖片&#10;&#10;自動產生的描述">
            <a:extLst>
              <a:ext uri="{FF2B5EF4-FFF2-40B4-BE49-F238E27FC236}">
                <a16:creationId xmlns:a16="http://schemas.microsoft.com/office/drawing/2014/main" id="{F4FFE725-9F04-0ACC-857D-AC5A2D64E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2865" y="1740085"/>
            <a:ext cx="9040090" cy="337783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87C506-C2E4-D3D6-BA0E-DB41C309DC45}"/>
              </a:ext>
            </a:extLst>
          </p:cNvPr>
          <p:cNvSpPr txBox="1"/>
          <p:nvPr/>
        </p:nvSpPr>
        <p:spPr>
          <a:xfrm>
            <a:off x="2703367" y="6379403"/>
            <a:ext cx="7293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nlp.seas.harvard.edu</a:t>
            </a:r>
            <a:r>
              <a:rPr kumimoji="1" lang="en-US" altLang="zh-TW" sz="1400" dirty="0"/>
              <a:t>/annotated-transformer/#positional-encoding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E3DBAF-360E-36AD-FDC8-9459181D1B50}"/>
              </a:ext>
            </a:extLst>
          </p:cNvPr>
          <p:cNvSpPr txBox="1"/>
          <p:nvPr/>
        </p:nvSpPr>
        <p:spPr>
          <a:xfrm>
            <a:off x="1797627" y="5468496"/>
            <a:ext cx="7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Question: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為什麼需要同時有 </a:t>
            </a:r>
            <a:r>
              <a:rPr kumimoji="1" lang="en-US" altLang="zh-TW" dirty="0">
                <a:ea typeface="Microsoft JhengHei" panose="020B0604030504040204" pitchFamily="34" charset="-120"/>
              </a:rPr>
              <a:t>Sin</a:t>
            </a:r>
            <a:r>
              <a:rPr kumimoji="1" lang="zh-TW" altLang="en-US" dirty="0">
                <a:ea typeface="Microsoft JhengHei" panose="020B0604030504040204" pitchFamily="34" charset="-120"/>
              </a:rPr>
              <a:t> 和 </a:t>
            </a:r>
            <a:r>
              <a:rPr kumimoji="1" lang="en-US" altLang="zh-TW" dirty="0">
                <a:ea typeface="Microsoft JhengHei" panose="020B0604030504040204" pitchFamily="34" charset="-120"/>
              </a:rPr>
              <a:t>Cosine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的函數？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9A7344-3D29-8D6A-3F09-515FA8897D59}"/>
              </a:ext>
            </a:extLst>
          </p:cNvPr>
          <p:cNvSpPr txBox="1"/>
          <p:nvPr/>
        </p:nvSpPr>
        <p:spPr>
          <a:xfrm>
            <a:off x="1797627" y="5856443"/>
            <a:ext cx="7293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ea typeface="Microsoft JhengHei" panose="020B0604030504040204" pitchFamily="34" charset="-120"/>
              </a:rPr>
              <a:t>Ans: </a:t>
            </a:r>
            <a:r>
              <a:rPr kumimoji="1" lang="zh-TW" altLang="en-US" dirty="0">
                <a:ea typeface="Microsoft JhengHei" panose="020B0604030504040204" pitchFamily="34" charset="-120"/>
              </a:rPr>
              <a:t>藉由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不同週期性</a:t>
            </a:r>
            <a:r>
              <a:rPr kumimoji="1" lang="zh-TW" altLang="en-US" dirty="0">
                <a:ea typeface="Microsoft JhengHei" panose="020B0604030504040204" pitchFamily="34" charset="-120"/>
              </a:rPr>
              <a:t>來捕捉序列中各個位置的關係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B1E8BD-FE19-4F08-E7FF-DB4D9305F447}"/>
              </a:ext>
            </a:extLst>
          </p:cNvPr>
          <p:cNvSpPr txBox="1"/>
          <p:nvPr/>
        </p:nvSpPr>
        <p:spPr>
          <a:xfrm>
            <a:off x="7928944" y="5071551"/>
            <a:ext cx="367685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sin30</a:t>
            </a:r>
            <a:r>
              <a:rPr kumimoji="1" lang="en" altLang="zh-TW" sz="1600" baseline="30000" dirty="0"/>
              <a:t>∘</a:t>
            </a:r>
            <a:r>
              <a:rPr kumimoji="1" lang="en" altLang="zh-TW" sz="1600" dirty="0"/>
              <a:t>=0.5</a:t>
            </a:r>
          </a:p>
          <a:p>
            <a:r>
              <a:rPr kumimoji="1" lang="en" altLang="zh-TW" sz="1600" dirty="0"/>
              <a:t>sin150</a:t>
            </a:r>
            <a:r>
              <a:rPr kumimoji="1" lang="en" altLang="zh-TW" sz="1600" baseline="30000" dirty="0"/>
              <a:t> ∘</a:t>
            </a:r>
            <a:r>
              <a:rPr kumimoji="1" lang="en" altLang="zh-TW" sz="1600" dirty="0"/>
              <a:t>=0.5</a:t>
            </a:r>
          </a:p>
          <a:p>
            <a:r>
              <a:rPr kumimoji="1" lang="en-US" altLang="zh-TW" sz="1600" dirty="0"/>
              <a:t>vs.</a:t>
            </a:r>
            <a:endParaRPr kumimoji="1" lang="zh-TW" altLang="en" sz="1600" dirty="0"/>
          </a:p>
          <a:p>
            <a:r>
              <a:rPr kumimoji="1" lang="en" altLang="zh-TW" sz="1600" dirty="0"/>
              <a:t>(sin30</a:t>
            </a:r>
            <a:r>
              <a:rPr kumimoji="1" lang="en" altLang="zh-TW" sz="1600" baseline="30000" dirty="0"/>
              <a:t> ∘</a:t>
            </a:r>
            <a:r>
              <a:rPr kumimoji="1" lang="en" altLang="zh-TW" sz="1600" dirty="0"/>
              <a:t>,cos30</a:t>
            </a:r>
            <a:r>
              <a:rPr kumimoji="1" lang="en" altLang="zh-TW" sz="1600" baseline="30000" dirty="0"/>
              <a:t> ∘</a:t>
            </a:r>
            <a:r>
              <a:rPr kumimoji="1" lang="en" altLang="zh-TW" sz="1600" dirty="0"/>
              <a:t>)=(0.5,0.866)</a:t>
            </a:r>
          </a:p>
          <a:p>
            <a:r>
              <a:rPr kumimoji="1" lang="en" altLang="zh-TW" sz="1600" dirty="0"/>
              <a:t>(sin150∘,cos150</a:t>
            </a:r>
            <a:r>
              <a:rPr kumimoji="1" lang="en" altLang="zh-TW" sz="1600" baseline="30000" dirty="0"/>
              <a:t> ∘</a:t>
            </a:r>
            <a:r>
              <a:rPr kumimoji="1" lang="en" altLang="zh-TW" sz="1600" dirty="0"/>
              <a:t>)=(0.5,−0.866)</a:t>
            </a:r>
          </a:p>
        </p:txBody>
      </p:sp>
    </p:spTree>
    <p:extLst>
      <p:ext uri="{BB962C8B-B14F-4D97-AF65-F5344CB8AC3E}">
        <p14:creationId xmlns:p14="http://schemas.microsoft.com/office/powerpoint/2010/main" val="85001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A96EC5-5532-DA44-297E-A58EA4C9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cs typeface="Calibri" panose="020F0502020204030204" pitchFamily="34" charset="0"/>
              </a:rPr>
              <a:t>Encoder-Decoder</a:t>
            </a:r>
            <a:r>
              <a:rPr kumimoji="1" lang="zh-TW" altLang="en-US" dirty="0">
                <a:cs typeface="Calibri" panose="020F0502020204030204" pitchFamily="34" charset="0"/>
              </a:rPr>
              <a:t> 橋樑</a:t>
            </a:r>
            <a:r>
              <a:rPr kumimoji="1" lang="en-US" altLang="zh-TW" dirty="0">
                <a:cs typeface="Calibri" panose="020F0502020204030204" pitchFamily="34" charset="0"/>
              </a:rPr>
              <a:t>: Cross-Attention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51</a:t>
            </a:fld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68F626-3EFA-CCD9-2F9E-28233A46C231}"/>
              </a:ext>
            </a:extLst>
          </p:cNvPr>
          <p:cNvSpPr txBox="1"/>
          <p:nvPr/>
        </p:nvSpPr>
        <p:spPr>
          <a:xfrm>
            <a:off x="2520778" y="3797346"/>
            <a:ext cx="6098058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K, V uses the output from encoder as their X;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Q uses the decoder’s information as X. </a:t>
            </a:r>
          </a:p>
          <a:p>
            <a:pPr marL="0" indent="0">
              <a:spcBef>
                <a:spcPts val="200"/>
              </a:spcBef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This is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E7C3D80-D57C-1557-2C48-EE4EE6EDA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778" y="1011981"/>
            <a:ext cx="8810326" cy="790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C7C21DC-31DB-E831-86F3-CD4FF1E94951}"/>
              </a:ext>
            </a:extLst>
          </p:cNvPr>
          <p:cNvSpPr/>
          <p:nvPr/>
        </p:nvSpPr>
        <p:spPr>
          <a:xfrm>
            <a:off x="2520778" y="4500563"/>
            <a:ext cx="951085" cy="2714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25DD7B-D812-7B41-1ED3-2B76B17E4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8155" y="5872381"/>
            <a:ext cx="2972804" cy="54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863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E6448A1-8B39-1A28-B6AC-06E8DB0CBE24}"/>
              </a:ext>
            </a:extLst>
          </p:cNvPr>
          <p:cNvSpPr/>
          <p:nvPr/>
        </p:nvSpPr>
        <p:spPr>
          <a:xfrm>
            <a:off x="1231641" y="1810139"/>
            <a:ext cx="6792686" cy="48985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4C7C744-4D6E-A486-0C23-1201579C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Cross-attention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9207B4-7A63-4047-96AA-B65EEDFA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71E07550-B1F4-F3A3-60C6-02A78EE367C2}"/>
              </a:ext>
            </a:extLst>
          </p:cNvPr>
          <p:cNvSpPr/>
          <p:nvPr/>
        </p:nvSpPr>
        <p:spPr>
          <a:xfrm>
            <a:off x="1732106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6FADA9CA-5DE9-26C4-D855-0AED0A46A53A}"/>
              </a:ext>
            </a:extLst>
          </p:cNvPr>
          <p:cNvSpPr/>
          <p:nvPr/>
        </p:nvSpPr>
        <p:spPr>
          <a:xfrm>
            <a:off x="1724700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9D2B63A-3EA1-04FE-E87D-84D6E4169992}"/>
              </a:ext>
            </a:extLst>
          </p:cNvPr>
          <p:cNvSpPr/>
          <p:nvPr/>
        </p:nvSpPr>
        <p:spPr>
          <a:xfrm>
            <a:off x="2396514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2B6A4EB6-343C-670B-45B7-C93A6F414213}"/>
              </a:ext>
            </a:extLst>
          </p:cNvPr>
          <p:cNvSpPr/>
          <p:nvPr/>
        </p:nvSpPr>
        <p:spPr>
          <a:xfrm>
            <a:off x="4061235" y="4541495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5EA15339-C78F-8309-2C6C-75B90A6E8C32}"/>
              </a:ext>
            </a:extLst>
          </p:cNvPr>
          <p:cNvSpPr/>
          <p:nvPr/>
        </p:nvSpPr>
        <p:spPr>
          <a:xfrm>
            <a:off x="4733049" y="4541494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61B502CB-659A-2795-155B-F2F23C5E4500}"/>
              </a:ext>
            </a:extLst>
          </p:cNvPr>
          <p:cNvSpPr/>
          <p:nvPr/>
        </p:nvSpPr>
        <p:spPr>
          <a:xfrm>
            <a:off x="6537735" y="4541494"/>
            <a:ext cx="533400" cy="56197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k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15DB972C-5D18-3A55-15DE-D2C1647AF5D6}"/>
              </a:ext>
            </a:extLst>
          </p:cNvPr>
          <p:cNvSpPr/>
          <p:nvPr/>
        </p:nvSpPr>
        <p:spPr>
          <a:xfrm>
            <a:off x="7209549" y="4541493"/>
            <a:ext cx="533400" cy="56197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v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D4D9EDEF-A9EE-002E-CA82-EF618B88EF7D}"/>
              </a:ext>
            </a:extLst>
          </p:cNvPr>
          <p:cNvSpPr/>
          <p:nvPr/>
        </p:nvSpPr>
        <p:spPr>
          <a:xfrm>
            <a:off x="9233080" y="4545350"/>
            <a:ext cx="533400" cy="5619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/>
              <a:t>q</a:t>
            </a:r>
            <a:r>
              <a:rPr kumimoji="1" lang="en-US" altLang="zh-TW" sz="2000" baseline="-25000"/>
              <a:t>1</a:t>
            </a:r>
            <a:endParaRPr kumimoji="1" lang="zh-TW" altLang="en-US" sz="2000" baseline="-25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F84A656-CA83-526C-B6FE-D93DD219E455}"/>
              </a:ext>
            </a:extLst>
          </p:cNvPr>
          <p:cNvSpPr txBox="1"/>
          <p:nvPr/>
        </p:nvSpPr>
        <p:spPr>
          <a:xfrm>
            <a:off x="8597358" y="5652179"/>
            <a:ext cx="965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dirty="0"/>
              <a:t>🎯</a:t>
            </a:r>
            <a:endParaRPr kumimoji="1" lang="zh-TW" altLang="en-US" sz="36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6DE0177-E8AE-105A-E9F0-EE21F0096888}"/>
              </a:ext>
            </a:extLst>
          </p:cNvPr>
          <p:cNvSpPr/>
          <p:nvPr/>
        </p:nvSpPr>
        <p:spPr>
          <a:xfrm>
            <a:off x="402479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FC1B44-5C41-9BD9-4299-AE348F3DB43A}"/>
              </a:ext>
            </a:extLst>
          </p:cNvPr>
          <p:cNvSpPr/>
          <p:nvPr/>
        </p:nvSpPr>
        <p:spPr>
          <a:xfrm>
            <a:off x="6493519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C756C1-DBDE-0F5B-FEBE-415CABCF9BBC}"/>
              </a:ext>
            </a:extLst>
          </p:cNvPr>
          <p:cNvSpPr/>
          <p:nvPr/>
        </p:nvSpPr>
        <p:spPr>
          <a:xfrm>
            <a:off x="9192740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圓角矩形 35">
            <a:extLst>
              <a:ext uri="{FF2B5EF4-FFF2-40B4-BE49-F238E27FC236}">
                <a16:creationId xmlns:a16="http://schemas.microsoft.com/office/drawing/2014/main" id="{A42083A9-2C49-EA47-ADF8-6E81062DC093}"/>
              </a:ext>
            </a:extLst>
          </p:cNvPr>
          <p:cNvSpPr/>
          <p:nvPr/>
        </p:nvSpPr>
        <p:spPr>
          <a:xfrm>
            <a:off x="1703420" y="3105150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1</a:t>
            </a:r>
            <a:endParaRPr kumimoji="1" lang="zh-TW" altLang="en-US" sz="2000" baseline="-250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DE2814-C819-FE76-F772-36199E14317A}"/>
              </a:ext>
            </a:extLst>
          </p:cNvPr>
          <p:cNvSpPr/>
          <p:nvPr/>
        </p:nvSpPr>
        <p:spPr>
          <a:xfrm>
            <a:off x="1678924" y="4317655"/>
            <a:ext cx="614061" cy="1009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9" name="圓角矩形 38">
            <a:extLst>
              <a:ext uri="{FF2B5EF4-FFF2-40B4-BE49-F238E27FC236}">
                <a16:creationId xmlns:a16="http://schemas.microsoft.com/office/drawing/2014/main" id="{71EE1F06-3802-D9A6-95FE-7BCCFFB10230}"/>
              </a:ext>
            </a:extLst>
          </p:cNvPr>
          <p:cNvSpPr/>
          <p:nvPr/>
        </p:nvSpPr>
        <p:spPr>
          <a:xfrm>
            <a:off x="4039955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2</a:t>
            </a:r>
            <a:endParaRPr kumimoji="1" lang="zh-TW" altLang="en-US" sz="2000" baseline="-25000" dirty="0"/>
          </a:p>
        </p:txBody>
      </p:sp>
      <p:sp>
        <p:nvSpPr>
          <p:cNvPr id="40" name="圓角矩形 39">
            <a:extLst>
              <a:ext uri="{FF2B5EF4-FFF2-40B4-BE49-F238E27FC236}">
                <a16:creationId xmlns:a16="http://schemas.microsoft.com/office/drawing/2014/main" id="{4231810D-4672-CF67-DCEA-01729C32AC98}"/>
              </a:ext>
            </a:extLst>
          </p:cNvPr>
          <p:cNvSpPr/>
          <p:nvPr/>
        </p:nvSpPr>
        <p:spPr>
          <a:xfrm>
            <a:off x="6512569" y="3105149"/>
            <a:ext cx="533400" cy="56197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/>
              <a:t>a'</a:t>
            </a:r>
            <a:r>
              <a:rPr kumimoji="1" lang="en-US" altLang="zh-TW" sz="2000" baseline="-25000" dirty="0"/>
              <a:t>3</a:t>
            </a:r>
            <a:endParaRPr kumimoji="1" lang="zh-TW" altLang="en-US" sz="2000" baseline="-250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A5A6D88-705C-DD66-EDD4-04A912D645B2}"/>
              </a:ext>
            </a:extLst>
          </p:cNvPr>
          <p:cNvSpPr txBox="1"/>
          <p:nvPr/>
        </p:nvSpPr>
        <p:spPr>
          <a:xfrm>
            <a:off x="2307249" y="613258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</a:t>
            </a:r>
            <a:endParaRPr kumimoji="1" lang="zh-TW" altLang="en-US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33802C79-6812-95D7-38EF-B4431E130C7D}"/>
              </a:ext>
            </a:extLst>
          </p:cNvPr>
          <p:cNvSpPr/>
          <p:nvPr/>
        </p:nvSpPr>
        <p:spPr>
          <a:xfrm>
            <a:off x="4068641" y="6103487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2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B20F8536-403E-3A6C-CDE9-9D49C6308AB0}"/>
              </a:ext>
            </a:extLst>
          </p:cNvPr>
          <p:cNvSpPr txBox="1"/>
          <p:nvPr/>
        </p:nvSpPr>
        <p:spPr>
          <a:xfrm>
            <a:off x="4594635" y="611384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print</a:t>
            </a:r>
            <a:endParaRPr kumimoji="1" lang="zh-TW" altLang="en-US" dirty="0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261722A8-17DC-2F5B-0EBE-3023F950D3D6}"/>
              </a:ext>
            </a:extLst>
          </p:cNvPr>
          <p:cNvSpPr/>
          <p:nvPr/>
        </p:nvSpPr>
        <p:spPr>
          <a:xfrm>
            <a:off x="6545141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3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7481DC0A-0EBC-D763-FC9D-F88CF071CEA7}"/>
              </a:ext>
            </a:extLst>
          </p:cNvPr>
          <p:cNvSpPr txBox="1"/>
          <p:nvPr/>
        </p:nvSpPr>
        <p:spPr>
          <a:xfrm>
            <a:off x="7107580" y="611332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Hello</a:t>
            </a:r>
            <a:endParaRPr kumimoji="1" lang="zh-TW" altLang="en-US" dirty="0"/>
          </a:p>
        </p:txBody>
      </p:sp>
      <p:sp>
        <p:nvSpPr>
          <p:cNvPr id="49" name="圓角矩形 48">
            <a:extLst>
              <a:ext uri="{FF2B5EF4-FFF2-40B4-BE49-F238E27FC236}">
                <a16:creationId xmlns:a16="http://schemas.microsoft.com/office/drawing/2014/main" id="{5E711CF6-4C5A-CF4B-018E-A38D0D359FDE}"/>
              </a:ext>
            </a:extLst>
          </p:cNvPr>
          <p:cNvSpPr/>
          <p:nvPr/>
        </p:nvSpPr>
        <p:spPr>
          <a:xfrm>
            <a:off x="9247892" y="6098455"/>
            <a:ext cx="51858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</a:t>
            </a:r>
            <a:r>
              <a:rPr kumimoji="1" lang="en-US" altLang="zh-TW" sz="2000" baseline="-25000" dirty="0">
                <a:solidFill>
                  <a:schemeClr val="tx1"/>
                </a:solidFill>
              </a:rPr>
              <a:t>1</a:t>
            </a:r>
            <a:endParaRPr kumimoji="1" lang="zh-TW" alt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EB40D07-0A3B-583E-AF4D-2AAC53FC4885}"/>
              </a:ext>
            </a:extLst>
          </p:cNvPr>
          <p:cNvSpPr txBox="1"/>
          <p:nvPr/>
        </p:nvSpPr>
        <p:spPr>
          <a:xfrm>
            <a:off x="9806801" y="61205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BOS</a:t>
            </a:r>
            <a:endParaRPr kumimoji="1" lang="zh-TW" altLang="en-US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A44E4929-4C03-96E6-BCF3-938ED87DFA21}"/>
              </a:ext>
            </a:extLst>
          </p:cNvPr>
          <p:cNvCxnSpPr>
            <a:stCxn id="36" idx="3"/>
            <a:endCxn id="19" idx="0"/>
          </p:cNvCxnSpPr>
          <p:nvPr/>
        </p:nvCxnSpPr>
        <p:spPr>
          <a:xfrm>
            <a:off x="2236820" y="3386138"/>
            <a:ext cx="426394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接點 54">
            <a:extLst>
              <a:ext uri="{FF2B5EF4-FFF2-40B4-BE49-F238E27FC236}">
                <a16:creationId xmlns:a16="http://schemas.microsoft.com/office/drawing/2014/main" id="{D2A4A1CE-1C12-0FB2-B308-6F8B08378831}"/>
              </a:ext>
            </a:extLst>
          </p:cNvPr>
          <p:cNvCxnSpPr>
            <a:cxnSpLocks/>
            <a:stCxn id="39" idx="3"/>
            <a:endCxn id="22" idx="0"/>
          </p:cNvCxnSpPr>
          <p:nvPr/>
        </p:nvCxnSpPr>
        <p:spPr>
          <a:xfrm>
            <a:off x="4573355" y="3386137"/>
            <a:ext cx="426394" cy="1155357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>
            <a:extLst>
              <a:ext uri="{FF2B5EF4-FFF2-40B4-BE49-F238E27FC236}">
                <a16:creationId xmlns:a16="http://schemas.microsoft.com/office/drawing/2014/main" id="{11D20EF7-F704-C358-059D-057CF8B79830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>
            <a:off x="7045969" y="3386137"/>
            <a:ext cx="430280" cy="1155356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07E6D7-06F2-F9E2-2962-8A4B5F94371F}"/>
              </a:ext>
            </a:extLst>
          </p:cNvPr>
          <p:cNvSpPr txBox="1"/>
          <p:nvPr/>
        </p:nvSpPr>
        <p:spPr>
          <a:xfrm>
            <a:off x="3729721" y="1413289"/>
            <a:ext cx="1796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Encoder</a:t>
            </a:r>
            <a:endParaRPr kumimoji="1" lang="zh-TW" altLang="en-US" sz="2000" b="1" dirty="0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D0B05900-430A-61A5-54B3-10167885F80D}"/>
              </a:ext>
            </a:extLst>
          </p:cNvPr>
          <p:cNvSpPr/>
          <p:nvPr/>
        </p:nvSpPr>
        <p:spPr>
          <a:xfrm>
            <a:off x="9233080" y="1983370"/>
            <a:ext cx="533400" cy="5619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h'</a:t>
            </a:r>
            <a:r>
              <a:rPr kumimoji="1" lang="en-US" altLang="zh-TW" baseline="-25000" dirty="0"/>
              <a:t>1</a:t>
            </a:r>
            <a:endParaRPr kumimoji="1" lang="zh-TW" altLang="en-US" baseline="-25000" dirty="0"/>
          </a:p>
        </p:txBody>
      </p:sp>
      <p:cxnSp>
        <p:nvCxnSpPr>
          <p:cNvPr id="10" name="肘形接點 9">
            <a:extLst>
              <a:ext uri="{FF2B5EF4-FFF2-40B4-BE49-F238E27FC236}">
                <a16:creationId xmlns:a16="http://schemas.microsoft.com/office/drawing/2014/main" id="{BE6C3D03-4055-4556-6F8C-9498C1DA9B0C}"/>
              </a:ext>
            </a:extLst>
          </p:cNvPr>
          <p:cNvCxnSpPr>
            <a:stCxn id="36" idx="0"/>
            <a:endCxn id="39" idx="0"/>
          </p:cNvCxnSpPr>
          <p:nvPr/>
        </p:nvCxnSpPr>
        <p:spPr>
          <a:xfrm rot="5400000" flipH="1" flipV="1">
            <a:off x="3138387" y="1936883"/>
            <a:ext cx="1" cy="2336535"/>
          </a:xfrm>
          <a:prstGeom prst="bentConnector3">
            <a:avLst>
              <a:gd name="adj1" fmla="val 2286010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肘形接點 10">
            <a:extLst>
              <a:ext uri="{FF2B5EF4-FFF2-40B4-BE49-F238E27FC236}">
                <a16:creationId xmlns:a16="http://schemas.microsoft.com/office/drawing/2014/main" id="{7CE2DE16-F127-88EE-FF5B-3599AC4D7B61}"/>
              </a:ext>
            </a:extLst>
          </p:cNvPr>
          <p:cNvCxnSpPr>
            <a:cxnSpLocks/>
            <a:stCxn id="39" idx="0"/>
            <a:endCxn id="40" idx="0"/>
          </p:cNvCxnSpPr>
          <p:nvPr/>
        </p:nvCxnSpPr>
        <p:spPr>
          <a:xfrm rot="5400000" flipH="1" flipV="1">
            <a:off x="5542962" y="1868842"/>
            <a:ext cx="12700" cy="2472614"/>
          </a:xfrm>
          <a:prstGeom prst="bentConnector3">
            <a:avLst>
              <a:gd name="adj1" fmla="val 1873472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接點 37">
            <a:extLst>
              <a:ext uri="{FF2B5EF4-FFF2-40B4-BE49-F238E27FC236}">
                <a16:creationId xmlns:a16="http://schemas.microsoft.com/office/drawing/2014/main" id="{66EC57B1-65AC-6393-1C96-63746C3C0F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41576" y="423933"/>
            <a:ext cx="346122" cy="457028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AD1873D6-DB42-69CC-9FB4-00D36A05E0B0}"/>
              </a:ext>
            </a:extLst>
          </p:cNvPr>
          <p:cNvSpPr txBox="1"/>
          <p:nvPr/>
        </p:nvSpPr>
        <p:spPr>
          <a:xfrm>
            <a:off x="6940334" y="2380753"/>
            <a:ext cx="2093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Weighted sum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17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9" grpId="0" animBg="1"/>
      <p:bldP spid="40" grpId="0" animBg="1"/>
      <p:bldP spid="6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2E3F19-3AC3-4AA8-44E2-6FFF5DD3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2" descr="Original transformer model architecture.">
            <a:extLst>
              <a:ext uri="{FF2B5EF4-FFF2-40B4-BE49-F238E27FC236}">
                <a16:creationId xmlns:a16="http://schemas.microsoft.com/office/drawing/2014/main" id="{5FEA1F66-CAD3-705C-D8C2-5EE8DF0DD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853" y="462437"/>
            <a:ext cx="4196208" cy="56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AB15857-0DB9-8CEA-0EAC-40E5E5AEFCD4}"/>
              </a:ext>
            </a:extLst>
          </p:cNvPr>
          <p:cNvSpPr txBox="1"/>
          <p:nvPr/>
        </p:nvSpPr>
        <p:spPr>
          <a:xfrm>
            <a:off x="8448272" y="1744762"/>
            <a:ext cx="21926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Advances in neural information processing systems 30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0E25F-5259-576F-9BDF-7019CC4A4FA0}"/>
              </a:ext>
            </a:extLst>
          </p:cNvPr>
          <p:cNvSpPr/>
          <p:nvPr/>
        </p:nvSpPr>
        <p:spPr>
          <a:xfrm>
            <a:off x="4827853" y="2452648"/>
            <a:ext cx="2003580" cy="221435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0C33F9F-256F-1C9D-4227-994819C2B865}"/>
                  </a:ext>
                </a:extLst>
              </p:cNvPr>
              <p:cNvSpPr txBox="1"/>
              <p:nvPr/>
            </p:nvSpPr>
            <p:spPr>
              <a:xfrm>
                <a:off x="3229023" y="4468567"/>
                <a:ext cx="1646156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0" dirty="0">
                    <a:solidFill>
                      <a:srgbClr val="FF9300"/>
                    </a:solidFill>
                  </a:rPr>
                  <a:t>input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TW" altLang="en-US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1" lang="zh-TW" altLang="en-US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0C33F9F-256F-1C9D-4227-994819C2B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023" y="4468567"/>
                <a:ext cx="1646156" cy="374270"/>
              </a:xfrm>
              <a:prstGeom prst="rect">
                <a:avLst/>
              </a:prstGeom>
              <a:blipFill>
                <a:blip r:embed="rId4"/>
                <a:stretch>
                  <a:fillRect l="-3077"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C14CD1-53C0-CEDD-B1D8-789025189659}"/>
                  </a:ext>
                </a:extLst>
              </p:cNvPr>
              <p:cNvSpPr txBox="1"/>
              <p:nvPr/>
            </p:nvSpPr>
            <p:spPr>
              <a:xfrm>
                <a:off x="3112805" y="2202298"/>
                <a:ext cx="1878591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b="0" dirty="0">
                    <a:solidFill>
                      <a:srgbClr val="FF9300"/>
                    </a:solidFill>
                  </a:rPr>
                  <a:t>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TW" b="0" i="0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utput</m:t>
                    </m:r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TW" altLang="en-US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TW" b="0" i="1" smtClean="0">
                        <a:solidFill>
                          <a:srgbClr val="FF93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 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kumimoji="1" lang="en-US" altLang="zh-TW" b="0" i="1" smtClean="0">
                            <a:solidFill>
                              <a:srgbClr val="FF93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kumimoji="1" lang="zh-TW" altLang="en-US" dirty="0">
                  <a:solidFill>
                    <a:srgbClr val="FF9300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5C14CD1-53C0-CEDD-B1D8-789025189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805" y="2202298"/>
                <a:ext cx="1878591" cy="374270"/>
              </a:xfrm>
              <a:prstGeom prst="rect">
                <a:avLst/>
              </a:prstGeom>
              <a:blipFill>
                <a:blip r:embed="rId5"/>
                <a:stretch>
                  <a:fillRect l="-3356" t="-6452" b="-225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CC8B8A0D-B071-0312-F4A1-FA1EB69D24BE}"/>
              </a:ext>
            </a:extLst>
          </p:cNvPr>
          <p:cNvSpPr txBox="1"/>
          <p:nvPr/>
        </p:nvSpPr>
        <p:spPr>
          <a:xfrm>
            <a:off x="1474122" y="2682662"/>
            <a:ext cx="237435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Input, output dimension match! </a:t>
            </a:r>
          </a:p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We can have multiple encoders stacked up, to increase the number of trainable parameters.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8D7EF1-351B-7E6A-959F-805DFB1C6F46}"/>
              </a:ext>
            </a:extLst>
          </p:cNvPr>
          <p:cNvSpPr txBox="1"/>
          <p:nvPr/>
        </p:nvSpPr>
        <p:spPr>
          <a:xfrm>
            <a:off x="4052100" y="3199402"/>
            <a:ext cx="81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600" dirty="0">
                <a:solidFill>
                  <a:srgbClr val="FF9300"/>
                </a:solidFill>
              </a:rPr>
              <a:t>N *</a:t>
            </a:r>
            <a:endParaRPr kumimoji="1" lang="zh-TW" altLang="en-US" sz="3600" dirty="0">
              <a:solidFill>
                <a:srgbClr val="FF9300"/>
              </a:solidFill>
            </a:endParaRPr>
          </a:p>
        </p:txBody>
      </p:sp>
      <p:sp>
        <p:nvSpPr>
          <p:cNvPr id="13" name="標題 8">
            <a:extLst>
              <a:ext uri="{FF2B5EF4-FFF2-40B4-BE49-F238E27FC236}">
                <a16:creationId xmlns:a16="http://schemas.microsoft.com/office/drawing/2014/main" id="{96E5584D-C873-0246-547C-D2130791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Number of Layers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640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32678-E3F3-1AC0-177F-95FBBE4D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Outline of Transformer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7DDE1C-CF0A-79E7-FBE5-7EF521BF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C71EC8-1B57-4201-3E94-FC9DC6C10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80" y="1530220"/>
            <a:ext cx="3619047" cy="515982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5312BF7-A272-740A-C7A1-E7AF231CC6D5}"/>
              </a:ext>
            </a:extLst>
          </p:cNvPr>
          <p:cNvSpPr txBox="1"/>
          <p:nvPr/>
        </p:nvSpPr>
        <p:spPr>
          <a:xfrm>
            <a:off x="9165836" y="1440227"/>
            <a:ext cx="2396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</a:t>
            </a:r>
            <a:r>
              <a:rPr lang="en-US" altLang="zh-TW" sz="100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7FF5F-8BF6-425E-157A-5FDEB514FDA7}"/>
              </a:ext>
            </a:extLst>
          </p:cNvPr>
          <p:cNvSpPr/>
          <p:nvPr/>
        </p:nvSpPr>
        <p:spPr>
          <a:xfrm>
            <a:off x="5169161" y="3741576"/>
            <a:ext cx="858417" cy="345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F1798C-4899-A3A5-9634-D1AB6AC6C4CE}"/>
              </a:ext>
            </a:extLst>
          </p:cNvPr>
          <p:cNvSpPr/>
          <p:nvPr/>
        </p:nvSpPr>
        <p:spPr>
          <a:xfrm>
            <a:off x="6403912" y="2904931"/>
            <a:ext cx="858417" cy="345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5A15AA51-89E7-A906-92F6-D0501CDE4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60" y="2030887"/>
            <a:ext cx="3489649" cy="243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Feed Forward Networks: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Simply multiply by a weight matrix (MLP). 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Used to project to a specific dimension. 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0792B1-FEC6-F57C-965C-7B83786DFF15}"/>
              </a:ext>
            </a:extLst>
          </p:cNvPr>
          <p:cNvSpPr/>
          <p:nvPr/>
        </p:nvSpPr>
        <p:spPr>
          <a:xfrm>
            <a:off x="6403911" y="2295330"/>
            <a:ext cx="858417" cy="254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51945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[Recap] 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55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0284" y="5222793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79810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6694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5391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55492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/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dirty="0">
                    <a:solidFill>
                      <a:schemeClr val="tx1"/>
                    </a:solidFill>
                  </a:rPr>
                  <a:t>Classification Layer 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C09E09E-1B5A-6B4B-0B4C-ABDBCCADE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37" y="2479771"/>
                <a:ext cx="1968284" cy="688455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379025" y="2075615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zh-TW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348" y="4046686"/>
                <a:ext cx="673768" cy="5715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84607" y="3639517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(1,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/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圓角矩形 12">
                <a:extLst>
                  <a:ext uri="{FF2B5EF4-FFF2-40B4-BE49-F238E27FC236}">
                    <a16:creationId xmlns:a16="http://schemas.microsoft.com/office/drawing/2014/main" id="{81E01E23-EA7F-26CA-D7FD-D3AD34EF1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284" y="2531936"/>
                <a:ext cx="673768" cy="5715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/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zh-TW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FCE531B0-0209-8911-AB20-73BB1EB3B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10" y="2521669"/>
                <a:ext cx="673768" cy="5715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95A3FD4-AD49-0352-EE91-263E004765AA}"/>
              </a:ext>
            </a:extLst>
          </p:cNvPr>
          <p:cNvCxnSpPr>
            <a:cxnSpLocks/>
          </p:cNvCxnSpPr>
          <p:nvPr/>
        </p:nvCxnSpPr>
        <p:spPr>
          <a:xfrm flipV="1">
            <a:off x="2787168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6D5EDE0-8376-B273-E991-B30A58AC223C}"/>
              </a:ext>
            </a:extLst>
          </p:cNvPr>
          <p:cNvCxnSpPr>
            <a:cxnSpLocks/>
          </p:cNvCxnSpPr>
          <p:nvPr/>
        </p:nvCxnSpPr>
        <p:spPr>
          <a:xfrm flipV="1">
            <a:off x="1416694" y="3202782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BCB72AE-B665-3A90-38A9-632038151578}"/>
              </a:ext>
            </a:extLst>
          </p:cNvPr>
          <p:cNvSpPr/>
          <p:nvPr/>
        </p:nvSpPr>
        <p:spPr>
          <a:xfrm>
            <a:off x="1563505" y="6423560"/>
            <a:ext cx="381628" cy="22922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6C6F730-BCC8-0DE4-DA77-FCA5960C49C4}"/>
              </a:ext>
            </a:extLst>
          </p:cNvPr>
          <p:cNvSpPr txBox="1"/>
          <p:nvPr/>
        </p:nvSpPr>
        <p:spPr>
          <a:xfrm>
            <a:off x="1878573" y="6390354"/>
            <a:ext cx="1839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Word embeddings</a:t>
            </a:r>
            <a:endParaRPr kumimoji="1" lang="zh-TW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/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AFD019-80A5-86B6-961D-076B447FE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751" y="3808794"/>
                <a:ext cx="454165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/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774BC75C-EEF7-CEC5-4919-CAC1C4FE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515" y="3808794"/>
                <a:ext cx="454165" cy="369332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/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TW" sz="1400" dirty="0"/>
                  <a:t>*</a:t>
                </a:r>
                <a:r>
                  <a:rPr kumimoji="1" lang="zh-TW" altLang="en-US" sz="1400" dirty="0"/>
                  <a:t>本頁的</a:t>
                </a:r>
                <a:r>
                  <a:rPr kumimoji="1" lang="en-US" altLang="zh-TW" sz="1400" dirty="0"/>
                  <a:t>RNN</a:t>
                </a:r>
                <a:r>
                  <a:rPr kumimoji="1" lang="zh-TW" altLang="en-US" sz="1400" dirty="0"/>
                  <a:t>不包含輸出層</a:t>
                </a:r>
                <a14:m>
                  <m:oMath xmlns:m="http://schemas.openxmlformats.org/officeDocument/2006/math">
                    <m:r>
                      <a:rPr lang="en-US" altLang="zh-TW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9989ED1-753D-4460-DDA1-83C4D06A2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2" y="1509513"/>
                <a:ext cx="2470909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8FF51323-929F-C653-8DF8-8B33CC851110}"/>
              </a:ext>
            </a:extLst>
          </p:cNvPr>
          <p:cNvSpPr txBox="1"/>
          <p:nvPr/>
        </p:nvSpPr>
        <p:spPr>
          <a:xfrm>
            <a:off x="2037741" y="2077071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DA4593-CCEC-BA37-2161-5E283A6CD22A}"/>
              </a:ext>
            </a:extLst>
          </p:cNvPr>
          <p:cNvSpPr txBox="1"/>
          <p:nvPr/>
        </p:nvSpPr>
        <p:spPr>
          <a:xfrm>
            <a:off x="655882" y="2078057"/>
            <a:ext cx="152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(1, </a:t>
            </a:r>
            <a:r>
              <a:rPr kumimoji="1" lang="en-US" altLang="zh-TW" sz="1400" dirty="0" err="1"/>
              <a:t>hidden_size</a:t>
            </a:r>
            <a:r>
              <a:rPr kumimoji="1" lang="en-US" altLang="zh-TW" sz="1400" dirty="0"/>
              <a:t>)</a:t>
            </a:r>
            <a:endParaRPr kumimoji="1" lang="zh-TW" altLang="en-US" sz="14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D4420E8-C43F-C5D9-727D-B484E5B01716}"/>
              </a:ext>
            </a:extLst>
          </p:cNvPr>
          <p:cNvSpPr txBox="1"/>
          <p:nvPr/>
        </p:nvSpPr>
        <p:spPr>
          <a:xfrm>
            <a:off x="6287811" y="3275111"/>
            <a:ext cx="1089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1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90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6" grpId="0" animBg="1"/>
      <p:bldP spid="34" grpId="0" animBg="1"/>
      <p:bldP spid="39" grpId="0"/>
      <p:bldP spid="40" grpId="0" animBg="1"/>
      <p:bldP spid="41" grpId="0"/>
      <p:bldP spid="45" grpId="0"/>
      <p:bldP spid="46" grpId="0"/>
      <p:bldP spid="53" grpId="0" animBg="1"/>
      <p:bldP spid="54" grpId="0"/>
      <p:bldP spid="55" grpId="0"/>
      <p:bldP spid="56" grpId="0"/>
      <p:bldP spid="13" grpId="0" animBg="1"/>
      <p:bldP spid="18" grpId="0" animBg="1"/>
      <p:bldP spid="25" grpId="0"/>
      <p:bldP spid="27" grpId="0"/>
      <p:bldP spid="29" grpId="0"/>
      <p:bldP spid="30" grpId="0"/>
      <p:bldP spid="3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3F028-993D-F301-8C72-D86DFC095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Transformers’ Achievements</a:t>
            </a:r>
            <a:endParaRPr kumimoji="1" lang="zh-TW" altLang="en-US" dirty="0"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EBF71A-B981-E505-92D2-44EEB882F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4023360"/>
          </a:xfrm>
        </p:spPr>
        <p:txBody>
          <a:bodyPr/>
          <a:lstStyle/>
          <a:p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1. In original paper, State-of-The-Art (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SoTA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 of machine translation. </a:t>
            </a:r>
          </a:p>
          <a:p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11D3E9-934D-9932-2A91-F9E4C2AA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56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4A17411-B717-645A-8507-E025B5B84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53980"/>
            <a:ext cx="7772400" cy="352348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2F3EFA5-FF43-F60E-C8CB-8C8F06602276}"/>
              </a:ext>
            </a:extLst>
          </p:cNvPr>
          <p:cNvSpPr txBox="1"/>
          <p:nvPr/>
        </p:nvSpPr>
        <p:spPr>
          <a:xfrm>
            <a:off x="2644685" y="5849295"/>
            <a:ext cx="79117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Vaswani, Ashish, et al. "Attention is all you need." Advances in neural information processing systems 30 (2017).</a:t>
            </a:r>
            <a:endParaRPr lang="zh-TW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4BD2B3E-ECBF-1D19-A7BD-E65A9B1A98FD}"/>
              </a:ext>
            </a:extLst>
          </p:cNvPr>
          <p:cNvSpPr txBox="1"/>
          <p:nvPr/>
        </p:nvSpPr>
        <p:spPr>
          <a:xfrm>
            <a:off x="2644685" y="6021103"/>
            <a:ext cx="6097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000000"/>
                </a:solidFill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https://</a:t>
            </a:r>
            <a:r>
              <a:rPr lang="en-US" altLang="zh-TW" sz="1200" b="0" i="0" dirty="0" err="1">
                <a:solidFill>
                  <a:srgbClr val="000000"/>
                </a:solidFill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arxiv.org</a:t>
            </a:r>
            <a:r>
              <a:rPr lang="en-US" altLang="zh-TW" sz="1200" b="0" i="0" dirty="0">
                <a:solidFill>
                  <a:srgbClr val="000000"/>
                </a:solidFill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/abs/1706.03762</a:t>
            </a:r>
            <a:endParaRPr lang="zh-TW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DC889A-8EAE-1581-53D1-1AA1EE7FD6AF}"/>
              </a:ext>
            </a:extLst>
          </p:cNvPr>
          <p:cNvSpPr txBox="1"/>
          <p:nvPr/>
        </p:nvSpPr>
        <p:spPr>
          <a:xfrm>
            <a:off x="830878" y="5210332"/>
            <a:ext cx="1721922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14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encoders, </a:t>
            </a:r>
          </a:p>
          <a:p>
            <a:r>
              <a:rPr kumimoji="1" lang="en-US" altLang="zh-TW" sz="14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decoders, </a:t>
            </a:r>
          </a:p>
          <a:p>
            <a:r>
              <a:rPr kumimoji="1" lang="en-US" altLang="zh-TW" sz="1400" dirty="0">
                <a:ln w="0"/>
                <a:solidFill>
                  <a:sysClr val="windowText" lastClr="0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 = 1024, 300K train steps.</a:t>
            </a:r>
            <a:endParaRPr kumimoji="1" lang="zh-TW" altLang="en-US" sz="1400" dirty="0">
              <a:ln w="0"/>
              <a:solidFill>
                <a:sysClr val="windowText" lastClr="0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8D4DD5A-E706-B6F0-57ED-174E30069FCA}"/>
              </a:ext>
            </a:extLst>
          </p:cNvPr>
          <p:cNvCxnSpPr>
            <a:stCxn id="12" idx="3"/>
          </p:cNvCxnSpPr>
          <p:nvPr/>
        </p:nvCxnSpPr>
        <p:spPr>
          <a:xfrm>
            <a:off x="2552800" y="5687386"/>
            <a:ext cx="2379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C871A64-8FAB-C83E-4517-3E3017EF0ABA}"/>
              </a:ext>
            </a:extLst>
          </p:cNvPr>
          <p:cNvSpPr txBox="1"/>
          <p:nvPr/>
        </p:nvSpPr>
        <p:spPr>
          <a:xfrm>
            <a:off x="830878" y="4094317"/>
            <a:ext cx="1721922" cy="95410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encoders, </a:t>
            </a:r>
          </a:p>
          <a:p>
            <a:r>
              <a:rPr kumimoji="1"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 decoders, </a:t>
            </a:r>
          </a:p>
          <a:p>
            <a:r>
              <a:rPr kumimoji="1" lang="en-US" altLang="zh-TW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 = 512, 100K train steps.</a:t>
            </a:r>
            <a:endParaRPr kumimoji="1" lang="zh-TW" alt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BF4CF4AA-1081-43CF-B15C-05EF6938393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552800" y="4571371"/>
            <a:ext cx="237901" cy="911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40600898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C726B-1C00-4F26-0746-37187664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cs typeface="Calibri" panose="020F0502020204030204" pitchFamily="34" charset="0"/>
              </a:rPr>
              <a:t>Transformer Variants </a:t>
            </a:r>
            <a:r>
              <a:rPr kumimoji="1" lang="en-US" altLang="zh-TW" sz="2800" dirty="0">
                <a:latin typeface="Calibri" panose="020F0502020204030204" pitchFamily="34" charset="0"/>
                <a:cs typeface="Calibri" panose="020F0502020204030204" pitchFamily="34" charset="0"/>
              </a:rPr>
              <a:t>(there are many more)</a:t>
            </a:r>
            <a:endParaRPr kumimoji="1" lang="zh-TW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502E08-6439-3441-5CA6-525857B6C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Universal Transformer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Adds Adaptive Computation Time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Dehghani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Mostafa, et al. "Universal transformers." 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preprint arXiv:1807.03819 (2018). 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Longformer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Tackles long documents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Iz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Beltagy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et al. (2020).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Longformer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The Long-Document Transformer. arXiv:2004.05150.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Roformer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Changes the design of positional encoding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Jianlin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, et al. "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RoFormer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 Enhanced Transformer with Rotary Position Embedding. 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CoRR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abs/2104.09864 (2021)." </a:t>
            </a:r>
            <a:r>
              <a:rPr kumimoji="1" lang="en-US" altLang="zh-TW" dirty="0" err="1">
                <a:latin typeface="Calibri" panose="020F0502020204030204" pitchFamily="34" charset="0"/>
                <a:cs typeface="Calibri" panose="020F0502020204030204" pitchFamily="34" charset="0"/>
              </a:rPr>
              <a:t>arXiv</a:t>
            </a: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 preprint arXiv:2104.09864 (2021).</a:t>
            </a:r>
          </a:p>
          <a:p>
            <a:pPr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Vision Transformer 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Tackles vision tasks</a:t>
            </a:r>
          </a:p>
          <a:p>
            <a:pPr lvl="1">
              <a:buFont typeface="Wingdings" pitchFamily="2" charset="2"/>
              <a:buChar char="n"/>
            </a:pPr>
            <a:r>
              <a:rPr kumimoji="1" lang="en-US" altLang="zh-TW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Alexey </a:t>
            </a:r>
            <a:r>
              <a:rPr lang="en-US" altLang="zh-TW" dirty="0" err="1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Dosovitskiy</a:t>
            </a:r>
            <a:r>
              <a:rPr lang="en-US" altLang="zh-TW" dirty="0">
                <a:solidFill>
                  <a:srgbClr val="21252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et al. “An Image is Worth 16x16 Words: Transformers for Image Recognition at Scale.” International Conference on Learning Representations. 2021.</a:t>
            </a: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n"/>
            </a:pPr>
            <a:endParaRPr kumimoji="1"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F75FD5-AF41-3278-FC08-A0E2F4C0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23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3494F-1C3B-3D6B-A72E-E48366CA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Additional Links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565246-5560-F81C-59D7-7A88C4F9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A1C55F-1531-41D1-3ADF-3B915E461B49}"/>
              </a:ext>
            </a:extLst>
          </p:cNvPr>
          <p:cNvSpPr txBox="1"/>
          <p:nvPr/>
        </p:nvSpPr>
        <p:spPr>
          <a:xfrm>
            <a:off x="653144" y="1806093"/>
            <a:ext cx="1091837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nlp.seas.harvard.edu</a:t>
            </a:r>
            <a:r>
              <a:rPr kumimoji="1" lang="en-US" altLang="zh-TW" sz="2400" dirty="0"/>
              <a:t>/annotated-transformer/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datascience.stackexchange.com</a:t>
            </a:r>
            <a:r>
              <a:rPr kumimoji="1" lang="en-US" altLang="zh-TW" sz="2400" dirty="0"/>
              <a:t>/questions/82451/why-is-10000-used-as-the-denominator-in-positional-encodings-in-the-transformer</a:t>
            </a:r>
          </a:p>
        </p:txBody>
      </p:sp>
    </p:spTree>
    <p:extLst>
      <p:ext uri="{BB962C8B-B14F-4D97-AF65-F5344CB8AC3E}">
        <p14:creationId xmlns:p14="http://schemas.microsoft.com/office/powerpoint/2010/main" val="27739329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3663</TotalTime>
  <Words>3588</Words>
  <Application>Microsoft Macintosh PowerPoint</Application>
  <PresentationFormat>寬螢幕</PresentationFormat>
  <Paragraphs>1134</Paragraphs>
  <Slides>59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59</vt:i4>
      </vt:variant>
    </vt:vector>
  </HeadingPairs>
  <TitlesOfParts>
    <vt:vector size="69" baseType="lpstr">
      <vt:lpstr>微軟正黑體</vt:lpstr>
      <vt:lpstr>微軟正黑體</vt:lpstr>
      <vt:lpstr>PingFang TC</vt:lpstr>
      <vt:lpstr>Aptos</vt:lpstr>
      <vt:lpstr>Arial</vt:lpstr>
      <vt:lpstr>Calibri</vt:lpstr>
      <vt:lpstr>Cambria Math</vt:lpstr>
      <vt:lpstr>Courier New</vt:lpstr>
      <vt:lpstr>Wingdings</vt:lpstr>
      <vt:lpstr>回顧</vt:lpstr>
      <vt:lpstr>自然語言處理與應用 Natural Language Processing and Applications</vt:lpstr>
      <vt:lpstr>Outline</vt:lpstr>
      <vt:lpstr>深度學習常見模型架構</vt:lpstr>
      <vt:lpstr>[Recap] Recurrent Neural Networks (RNN)</vt:lpstr>
      <vt:lpstr>[Recap] Text Generation with RNN</vt:lpstr>
      <vt:lpstr>[Recap] RNN 的記憶力意義</vt:lpstr>
      <vt:lpstr>為什麼我們需要序列模型?</vt:lpstr>
      <vt:lpstr>Encoder and Decoder</vt:lpstr>
      <vt:lpstr>機器翻譯 (with Attention, t = 2)</vt:lpstr>
      <vt:lpstr>機器翻譯 (with Attention, t = 3)</vt:lpstr>
      <vt:lpstr>Additive Attention (算出 α_ti)</vt:lpstr>
      <vt:lpstr>Transformer</vt:lpstr>
      <vt:lpstr>RNN 與 CNN 作為序列模型的問題</vt:lpstr>
      <vt:lpstr>Overview of Transformer</vt:lpstr>
      <vt:lpstr>Outline of Transformer</vt:lpstr>
      <vt:lpstr>Transformer</vt:lpstr>
      <vt:lpstr>Query (Q), Key (K), and Value (V)</vt:lpstr>
      <vt:lpstr>Query (Q), Key (K), and Value (V)</vt:lpstr>
      <vt:lpstr>QKV 的比喻</vt:lpstr>
      <vt:lpstr>為什麼 Transformers 可以平行化？</vt:lpstr>
      <vt:lpstr>Transformers 的權重值 (1/2)</vt:lpstr>
      <vt:lpstr>Transformers 的權重值 (2/2)</vt:lpstr>
      <vt:lpstr>Self-attention 的公式與縮放項</vt:lpstr>
      <vt:lpstr>Query (Q), Key (K), and Value (V)</vt:lpstr>
      <vt:lpstr>Query (Q), Key (K), and Value (V)</vt:lpstr>
      <vt:lpstr>Self-Attention (Transformer) 過程</vt:lpstr>
      <vt:lpstr>Self-Attention (Transformer) 過程</vt:lpstr>
      <vt:lpstr>Self-attention 動畫</vt:lpstr>
      <vt:lpstr>PowerPoint 簡報</vt:lpstr>
      <vt:lpstr>Multi-Head Attention (MHA)</vt:lpstr>
      <vt:lpstr>語言存在多種行為 / 模式</vt:lpstr>
      <vt:lpstr>Multi-Head Attention (MHA)</vt:lpstr>
      <vt:lpstr>Query (Q), Key (K), and Value (V) with MHA</vt:lpstr>
      <vt:lpstr>Query (Q), Key (K), and Value (V) with MHA</vt:lpstr>
      <vt:lpstr>Input Dimensions of MHA</vt:lpstr>
      <vt:lpstr>Output Dimensions</vt:lpstr>
      <vt:lpstr>MHA 比較好嗎？</vt:lpstr>
      <vt:lpstr>MHA 的過程中涵蓋了多次 softmax</vt:lpstr>
      <vt:lpstr>Summary of MHA</vt:lpstr>
      <vt:lpstr>Outline of Transformer</vt:lpstr>
      <vt:lpstr>Add &amp; Norm</vt:lpstr>
      <vt:lpstr>Add &amp; Norm (Layer Normalization)</vt:lpstr>
      <vt:lpstr>Add &amp; Norm (Layer Normalization)</vt:lpstr>
      <vt:lpstr>Why LN not BN? </vt:lpstr>
      <vt:lpstr>Outline of Transformer</vt:lpstr>
      <vt:lpstr>Lack of Position Modeling</vt:lpstr>
      <vt:lpstr>常見位置資訊作法：Learned Positional Embeddings</vt:lpstr>
      <vt:lpstr>Learned Positional Embeddings 程式碼</vt:lpstr>
      <vt:lpstr>Positional Encoding in Transformer</vt:lpstr>
      <vt:lpstr>Positional Encoding Visualization</vt:lpstr>
      <vt:lpstr>Encoder-Decoder 橋樑: Cross-Attention</vt:lpstr>
      <vt:lpstr>Cross-attention</vt:lpstr>
      <vt:lpstr>Number of Layers</vt:lpstr>
      <vt:lpstr>Outline of Transformer</vt:lpstr>
      <vt:lpstr>[Recap] Text Generation with RNN</vt:lpstr>
      <vt:lpstr>Transformers’ Achievements</vt:lpstr>
      <vt:lpstr>Transformer Variants (there are many more)</vt:lpstr>
      <vt:lpstr>Additional Links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930</cp:revision>
  <dcterms:created xsi:type="dcterms:W3CDTF">2025-02-07T09:05:59Z</dcterms:created>
  <dcterms:modified xsi:type="dcterms:W3CDTF">2026-03-23T03:00:16Z</dcterms:modified>
</cp:coreProperties>
</file>