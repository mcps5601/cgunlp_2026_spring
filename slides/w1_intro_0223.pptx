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6"/>
  </p:notesMasterIdLst>
  <p:sldIdLst>
    <p:sldId id="507" r:id="rId2"/>
    <p:sldId id="508" r:id="rId3"/>
    <p:sldId id="274" r:id="rId4"/>
    <p:sldId id="278" r:id="rId5"/>
    <p:sldId id="715" r:id="rId6"/>
    <p:sldId id="696" r:id="rId7"/>
    <p:sldId id="697" r:id="rId8"/>
    <p:sldId id="716" r:id="rId9"/>
    <p:sldId id="717" r:id="rId10"/>
    <p:sldId id="317" r:id="rId11"/>
    <p:sldId id="727" r:id="rId12"/>
    <p:sldId id="728" r:id="rId13"/>
    <p:sldId id="273" r:id="rId14"/>
    <p:sldId id="271" r:id="rId15"/>
    <p:sldId id="314" r:id="rId16"/>
    <p:sldId id="322" r:id="rId17"/>
    <p:sldId id="492" r:id="rId18"/>
    <p:sldId id="694" r:id="rId19"/>
    <p:sldId id="487" r:id="rId20"/>
    <p:sldId id="719" r:id="rId21"/>
    <p:sldId id="720" r:id="rId22"/>
    <p:sldId id="490" r:id="rId23"/>
    <p:sldId id="493" r:id="rId24"/>
    <p:sldId id="494" r:id="rId25"/>
    <p:sldId id="721" r:id="rId26"/>
    <p:sldId id="496" r:id="rId27"/>
    <p:sldId id="497" r:id="rId28"/>
    <p:sldId id="498" r:id="rId29"/>
    <p:sldId id="443" r:id="rId30"/>
    <p:sldId id="486" r:id="rId31"/>
    <p:sldId id="444" r:id="rId32"/>
    <p:sldId id="291" r:id="rId33"/>
    <p:sldId id="445" r:id="rId34"/>
    <p:sldId id="532" r:id="rId35"/>
    <p:sldId id="726" r:id="rId36"/>
    <p:sldId id="723" r:id="rId37"/>
    <p:sldId id="722" r:id="rId38"/>
    <p:sldId id="724" r:id="rId39"/>
    <p:sldId id="677" r:id="rId40"/>
    <p:sldId id="729" r:id="rId41"/>
    <p:sldId id="725" r:id="rId42"/>
    <p:sldId id="681" r:id="rId43"/>
    <p:sldId id="730" r:id="rId44"/>
    <p:sldId id="731" r:id="rId45"/>
    <p:sldId id="732" r:id="rId46"/>
    <p:sldId id="309" r:id="rId47"/>
    <p:sldId id="513" r:id="rId48"/>
    <p:sldId id="321" r:id="rId49"/>
    <p:sldId id="501" r:id="rId50"/>
    <p:sldId id="502" r:id="rId51"/>
    <p:sldId id="503" r:id="rId52"/>
    <p:sldId id="315" r:id="rId53"/>
    <p:sldId id="514" r:id="rId54"/>
    <p:sldId id="320" r:id="rId55"/>
    <p:sldId id="512" r:id="rId56"/>
    <p:sldId id="491" r:id="rId57"/>
    <p:sldId id="511" r:id="rId58"/>
    <p:sldId id="323" r:id="rId59"/>
    <p:sldId id="324" r:id="rId60"/>
    <p:sldId id="283" r:id="rId61"/>
    <p:sldId id="295" r:id="rId62"/>
    <p:sldId id="509" r:id="rId63"/>
    <p:sldId id="282" r:id="rId64"/>
    <p:sldId id="505" r:id="rId6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400"/>
    <a:srgbClr val="FFCE9E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72"/>
    <p:restoredTop sz="96327"/>
  </p:normalViewPr>
  <p:slideViewPr>
    <p:cSldViewPr snapToGrid="0">
      <p:cViewPr varScale="1">
        <p:scale>
          <a:sx n="152" d="100"/>
          <a:sy n="152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2026/2/23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9099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5098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3191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96744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4119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1996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2/23/26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2/23/26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2/23/26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2/23/26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mcps5601/CGUNLP_2026_Spring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npG3KERCfHbYrCWCsx9GjJ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lifearchitect.ai/models/#model-bubbl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42.png"/><Relationship Id="rId4" Type="http://schemas.openxmlformats.org/officeDocument/2006/relationships/image" Target="../media/image54.png"/><Relationship Id="rId9" Type="http://schemas.openxmlformats.org/officeDocument/2006/relationships/image" Target="../media/image4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hyperlink" Target="https://web.stanford.edu/~jurafsky/slp3/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hyperlink" Target="https://github.com/oreilly-japan/deep-learning-from-scratch-2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3A48C00-FB33-8D1E-48BB-5565C25E1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49154"/>
            <a:ext cx="3200400" cy="1977075"/>
          </a:xfrm>
        </p:spPr>
        <p:txBody>
          <a:bodyPr/>
          <a:lstStyle/>
          <a:p>
            <a:r>
              <a:rPr lang="en-US" dirty="0"/>
              <a:t>Course Website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9DE0835-5654-8C0B-2F94-3A98F22D6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199" y="3522846"/>
            <a:ext cx="3523785" cy="2782358"/>
          </a:xfrm>
        </p:spPr>
        <p:txBody>
          <a:bodyPr>
            <a:normAutofit/>
          </a:bodyPr>
          <a:lstStyle/>
          <a:p>
            <a:r>
              <a:rPr lang="en-US" sz="3200" dirty="0"/>
              <a:t>114-2</a:t>
            </a:r>
          </a:p>
          <a:p>
            <a:r>
              <a:rPr lang="en-US" sz="3200" dirty="0" err="1"/>
              <a:t>自然語言處理與</a:t>
            </a:r>
            <a:endParaRPr lang="en-US" sz="3200" dirty="0"/>
          </a:p>
          <a:p>
            <a:r>
              <a:rPr lang="en-US" sz="3200" dirty="0" err="1"/>
              <a:t>應用</a:t>
            </a:r>
            <a:endParaRPr lang="en-US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B2D917-65AB-4D47-24BE-A1CBA0CAA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113E31D-E2AB-40D1-8B51-AFA5AFEF393A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0DAFB1-0C37-B0C6-C135-AD78ABD84C12}"/>
              </a:ext>
            </a:extLst>
          </p:cNvPr>
          <p:cNvSpPr txBox="1"/>
          <p:nvPr/>
        </p:nvSpPr>
        <p:spPr>
          <a:xfrm>
            <a:off x="5078665" y="6120538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>
                <a:hlinkClick r:id="rId2"/>
              </a:rPr>
              <a:t>https://github.com/mcps5601/CGUNLP_2026_Spring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5556A94-69EB-0366-64B5-C94F52109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040" y="754575"/>
            <a:ext cx="5348850" cy="53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392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6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Course</a:t>
            </a:r>
            <a:r>
              <a:rPr kumimoji="1" lang="zh-TW" altLang="en-US" sz="36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kumimoji="1" lang="en-US" altLang="zh-TW" sz="36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Introduction</a:t>
            </a:r>
            <a:endParaRPr kumimoji="1" lang="zh-TW" altLang="en-US" sz="36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670570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2026/02/23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9185279" y="5425440"/>
            <a:ext cx="2052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NLP0223 (</a:t>
            </a:r>
            <a:r>
              <a:rPr kumimoji="1" lang="en" altLang="zh-TW" dirty="0">
                <a:hlinkClick r:id="rId3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C45EBC-BB73-6D08-F3AD-932E3EC9BA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955" y="4881049"/>
            <a:ext cx="1741624" cy="17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About Me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EE2BE87C-D3AC-0051-5257-96B9E9288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08492"/>
              </p:ext>
            </p:extLst>
          </p:nvPr>
        </p:nvGraphicFramePr>
        <p:xfrm>
          <a:off x="687433" y="1983313"/>
          <a:ext cx="9370967" cy="4086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814">
                  <a:extLst>
                    <a:ext uri="{9D8B030D-6E8A-4147-A177-3AD203B41FA5}">
                      <a16:colId xmlns:a16="http://schemas.microsoft.com/office/drawing/2014/main" val="3714535649"/>
                    </a:ext>
                  </a:extLst>
                </a:gridCol>
                <a:gridCol w="7749153">
                  <a:extLst>
                    <a:ext uri="{9D8B030D-6E8A-4147-A177-3AD203B41FA5}">
                      <a16:colId xmlns:a16="http://schemas.microsoft.com/office/drawing/2014/main" val="992160667"/>
                    </a:ext>
                  </a:extLst>
                </a:gridCol>
              </a:tblGrid>
              <a:tr h="378479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Experience and Education (Time)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255261"/>
                  </a:ext>
                </a:extLst>
              </a:tr>
              <a:tr h="7415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Assistant Professor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Department of Artificial Intelligence,</a:t>
                      </a:r>
                    </a:p>
                    <a:p>
                      <a:pPr algn="l"/>
                      <a:r>
                        <a:rPr lang="en-US" altLang="zh-TW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Chang Gung University</a:t>
                      </a:r>
                      <a:r>
                        <a:rPr lang="zh-TW" altLang="en-US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(2025/02 - 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54115"/>
                  </a:ext>
                </a:extLst>
              </a:tr>
              <a:tr h="7415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Postdoctoral Researcher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Department of Computer Science,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National Tsing Hua University</a:t>
                      </a:r>
                      <a:r>
                        <a:rPr lang="zh-TW" altLang="en-US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(2024/09 - 2025/01)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163837"/>
                  </a:ext>
                </a:extLst>
              </a:tr>
              <a:tr h="7415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Ph.D.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Department of Computer Science and Information Engineering, </a:t>
                      </a:r>
                      <a:r>
                        <a:rPr lang="en-US" altLang="zh-TW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National Cheng Kung University</a:t>
                      </a:r>
                      <a:r>
                        <a:rPr lang="zh-TW" altLang="en-US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(2019/08 - 2024/02)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2068293"/>
                  </a:ext>
                </a:extLst>
              </a:tr>
              <a:tr h="7415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M.S.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Institute of Biomedical Informatics,</a:t>
                      </a:r>
                    </a:p>
                    <a:p>
                      <a:pPr algn="l"/>
                      <a:r>
                        <a:rPr lang="en-US" altLang="zh-TW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National Yang-Ming University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(2017/09 - 2019/07)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614757"/>
                  </a:ext>
                </a:extLst>
              </a:tr>
              <a:tr h="74150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B.S.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Department of Biomedical Sciences,</a:t>
                      </a:r>
                    </a:p>
                    <a:p>
                      <a:pPr algn="l"/>
                      <a:r>
                        <a:rPr lang="en-US" altLang="zh-TW" sz="1800" dirty="0">
                          <a:solidFill>
                            <a:srgbClr val="0070C0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Chang Gung University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(2013/09 - 2017/06)</a:t>
                      </a:r>
                      <a:endParaRPr lang="zh-TW" altLang="en-US" sz="18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93559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DED34CA9-EF5B-1D1B-BDE7-E28FBFF75EEB}"/>
              </a:ext>
            </a:extLst>
          </p:cNvPr>
          <p:cNvSpPr txBox="1"/>
          <p:nvPr/>
        </p:nvSpPr>
        <p:spPr>
          <a:xfrm>
            <a:off x="10989028" y="3671699"/>
            <a:ext cx="611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/>
              <a:t>🪖</a:t>
            </a: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F426E42A-20C3-EE78-B16C-6BD4E1F60178}"/>
              </a:ext>
            </a:extLst>
          </p:cNvPr>
          <p:cNvCxnSpPr>
            <a:cxnSpLocks/>
          </p:cNvCxnSpPr>
          <p:nvPr/>
        </p:nvCxnSpPr>
        <p:spPr>
          <a:xfrm flipH="1">
            <a:off x="10242778" y="3850806"/>
            <a:ext cx="66545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0C983769-7D1B-9636-79A5-94A7D70A9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526" y="4751149"/>
            <a:ext cx="462323" cy="453571"/>
          </a:xfrm>
          <a:prstGeom prst="rect">
            <a:avLst/>
          </a:prstGeom>
        </p:spPr>
      </p:pic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196D2414-2C04-E7D9-B7B1-E94E222BE935}"/>
              </a:ext>
            </a:extLst>
          </p:cNvPr>
          <p:cNvCxnSpPr>
            <a:cxnSpLocks/>
          </p:cNvCxnSpPr>
          <p:nvPr/>
        </p:nvCxnSpPr>
        <p:spPr>
          <a:xfrm flipH="1">
            <a:off x="10242778" y="4964691"/>
            <a:ext cx="66545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圖片 11">
            <a:extLst>
              <a:ext uri="{FF2B5EF4-FFF2-40B4-BE49-F238E27FC236}">
                <a16:creationId xmlns:a16="http://schemas.microsoft.com/office/drawing/2014/main" id="{7C904C69-96DD-7F8F-A0D8-214ADA27C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463" y="2440983"/>
            <a:ext cx="602782" cy="60278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58ED029-9145-0531-EEB0-619F2C394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621" y="5414074"/>
            <a:ext cx="602782" cy="602782"/>
          </a:xfrm>
          <a:prstGeom prst="rect">
            <a:avLst/>
          </a:prstGeom>
        </p:spPr>
      </p:pic>
      <p:pic>
        <p:nvPicPr>
          <p:cNvPr id="1026" name="Picture 2" descr="校徽_標準字01">
            <a:extLst>
              <a:ext uri="{FF2B5EF4-FFF2-40B4-BE49-F238E27FC236}">
                <a16:creationId xmlns:a16="http://schemas.microsoft.com/office/drawing/2014/main" id="{0A356161-92B2-A849-57C0-062216E5E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269" y="3177623"/>
            <a:ext cx="616627" cy="61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84CABAD-FA76-DAD6-BC4C-27DB004D6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3621" y="3928108"/>
            <a:ext cx="602782" cy="60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國立陽明大學- 維基百科，自由的百科全書">
            <a:extLst>
              <a:ext uri="{FF2B5EF4-FFF2-40B4-BE49-F238E27FC236}">
                <a16:creationId xmlns:a16="http://schemas.microsoft.com/office/drawing/2014/main" id="{CD44842B-CFD3-B77F-23C5-97D91D6BA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9449" y="4668205"/>
            <a:ext cx="596954" cy="59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1894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918370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Introduction to Natural Language Processing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Introduction to Large Language 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Course Introduction and requirements</a:t>
            </a:r>
          </a:p>
        </p:txBody>
      </p:sp>
    </p:spTree>
    <p:extLst>
      <p:ext uri="{BB962C8B-B14F-4D97-AF65-F5344CB8AC3E}">
        <p14:creationId xmlns:p14="http://schemas.microsoft.com/office/powerpoint/2010/main" val="343904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3EBAE6-B0D3-68C7-4057-B6BBCB29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什麼是自然語言處理（</a:t>
            </a:r>
            <a:r>
              <a:rPr kumimoji="1" lang="en-US" altLang="zh-TW" dirty="0"/>
              <a:t>Natural Language Processing, NLP</a:t>
            </a:r>
            <a:r>
              <a:rPr kumimoji="1" lang="zh-TW" altLang="en-US" dirty="0"/>
              <a:t>）？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8DF8F6F-9749-77DC-0B84-A5883421A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1281" r="1174"/>
          <a:stretch/>
        </p:blipFill>
        <p:spPr>
          <a:xfrm>
            <a:off x="653143" y="2573631"/>
            <a:ext cx="5141949" cy="3247387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F4FC4D-0209-B517-62A5-42E3A0F59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43103C8-C901-C978-C62E-2DC49907A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453" y="2573631"/>
            <a:ext cx="5700404" cy="324738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8F0AB0F-7B7D-3865-2BA0-5E681B3AE3F0}"/>
              </a:ext>
            </a:extLst>
          </p:cNvPr>
          <p:cNvSpPr txBox="1"/>
          <p:nvPr/>
        </p:nvSpPr>
        <p:spPr>
          <a:xfrm>
            <a:off x="2398039" y="1997665"/>
            <a:ext cx="16521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文字搜尋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0D2CBE3-4F03-5FA6-C0D7-7C4EA033F0BB}"/>
              </a:ext>
            </a:extLst>
          </p:cNvPr>
          <p:cNvSpPr txBox="1"/>
          <p:nvPr/>
        </p:nvSpPr>
        <p:spPr>
          <a:xfrm>
            <a:off x="7490838" y="1997665"/>
            <a:ext cx="2395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400" dirty="0"/>
              <a:t>下一個字預測</a:t>
            </a:r>
          </a:p>
        </p:txBody>
      </p:sp>
    </p:spTree>
    <p:extLst>
      <p:ext uri="{BB962C8B-B14F-4D97-AF65-F5344CB8AC3E}">
        <p14:creationId xmlns:p14="http://schemas.microsoft.com/office/powerpoint/2010/main" val="329685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2C9B8-BCF0-D2EA-F79D-4A25C77DD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程式語言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自然語言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B15CD4-9765-5757-6967-F61DB4C2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9C1285-1FB9-F388-84F3-932062FB7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3" y="1925617"/>
            <a:ext cx="5617349" cy="42826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BAF0217-7E8A-5276-C64A-BE15A58EAC57}"/>
              </a:ext>
            </a:extLst>
          </p:cNvPr>
          <p:cNvSpPr txBox="1"/>
          <p:nvPr/>
        </p:nvSpPr>
        <p:spPr>
          <a:xfrm>
            <a:off x="6817355" y="1943297"/>
            <a:ext cx="4754159" cy="42473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BiauKaiTC Regular" panose="03000500000000000000" pitchFamily="66" charset="-120"/>
                <a:ea typeface="BiauKaiTC Regular" panose="03000500000000000000" pitchFamily="66" charset="-120"/>
              </a:rPr>
              <a:t>先生不知何許人也，亦不詳其姓字。宅邊有五柳樹，因以為號焉</a:t>
            </a:r>
          </a:p>
          <a:p>
            <a:endParaRPr kumimoji="1" lang="zh-TW" altLang="en-US" dirty="0">
              <a:latin typeface="BiauKaiTC Regular" panose="03000500000000000000" pitchFamily="66" charset="-120"/>
              <a:ea typeface="BiauKaiTC Regular" panose="03000500000000000000" pitchFamily="66" charset="-120"/>
            </a:endParaRPr>
          </a:p>
          <a:p>
            <a:r>
              <a:rPr kumimoji="1" lang="zh-TW" altLang="en-US" dirty="0">
                <a:latin typeface="BiauKaiTC Regular" panose="03000500000000000000" pitchFamily="66" charset="-120"/>
                <a:ea typeface="BiauKaiTC Regular" panose="03000500000000000000" pitchFamily="66" charset="-120"/>
              </a:rPr>
              <a:t>　　閑靜少言，不慕榮利。好讀書，不求甚解，每有會意，便欣然忘食。性嗜酒，家貧，不能常得。親舊知其如此，或置酒而招之。造飲輒盡，期在必醉，既醉而退，曾不吝情去留。環堵蕭然，不蔽風日；短褐穿結，簞瓢屢空。</a:t>
            </a:r>
            <a:r>
              <a:rPr kumimoji="1" lang="en-US" altLang="zh-TW" dirty="0">
                <a:latin typeface="BiauKaiTC Regular" panose="03000500000000000000" pitchFamily="66" charset="-120"/>
                <a:ea typeface="BiauKaiTC Regular" panose="03000500000000000000" pitchFamily="66" charset="-120"/>
              </a:rPr>
              <a:t>——</a:t>
            </a:r>
            <a:r>
              <a:rPr kumimoji="1" lang="zh-TW" altLang="en-US" dirty="0">
                <a:latin typeface="BiauKaiTC Regular" panose="03000500000000000000" pitchFamily="66" charset="-120"/>
                <a:ea typeface="BiauKaiTC Regular" panose="03000500000000000000" pitchFamily="66" charset="-120"/>
              </a:rPr>
              <a:t>晏如也。常著文章自娛，頗示己志。忘懷得失，以此自終。</a:t>
            </a:r>
          </a:p>
          <a:p>
            <a:endParaRPr kumimoji="1" lang="zh-TW" altLang="en-US" dirty="0">
              <a:latin typeface="BiauKaiTC Regular" panose="03000500000000000000" pitchFamily="66" charset="-120"/>
              <a:ea typeface="BiauKaiTC Regular" panose="03000500000000000000" pitchFamily="66" charset="-120"/>
            </a:endParaRPr>
          </a:p>
          <a:p>
            <a:r>
              <a:rPr kumimoji="1" lang="zh-TW" altLang="en-US" dirty="0">
                <a:latin typeface="BiauKaiTC Regular" panose="03000500000000000000" pitchFamily="66" charset="-120"/>
                <a:ea typeface="BiauKaiTC Regular" panose="03000500000000000000" pitchFamily="66" charset="-120"/>
              </a:rPr>
              <a:t>　　贊曰：黔婁之妻有言：「不戚戚於貧賤，不汲汲於富貴。」極其言，茲若人儔乎？酣觴賦詩，以樂其志。無懷氏之民歟！葛天氏之民歟！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6A3D714-93B1-1978-107B-50296EF06D90}"/>
              </a:ext>
            </a:extLst>
          </p:cNvPr>
          <p:cNvSpPr txBox="1"/>
          <p:nvPr/>
        </p:nvSpPr>
        <p:spPr>
          <a:xfrm>
            <a:off x="2682393" y="1556285"/>
            <a:ext cx="183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程式語言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717F58E-D38B-733F-3670-78948181A3AB}"/>
              </a:ext>
            </a:extLst>
          </p:cNvPr>
          <p:cNvSpPr txBox="1"/>
          <p:nvPr/>
        </p:nvSpPr>
        <p:spPr>
          <a:xfrm>
            <a:off x="8299742" y="1553162"/>
            <a:ext cx="1831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自然語言</a:t>
            </a:r>
          </a:p>
        </p:txBody>
      </p:sp>
    </p:spTree>
    <p:extLst>
      <p:ext uri="{BB962C8B-B14F-4D97-AF65-F5344CB8AC3E}">
        <p14:creationId xmlns:p14="http://schemas.microsoft.com/office/powerpoint/2010/main" val="3055751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8E7F4-E208-9434-B548-4258AE4F7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什麼是自然語言處理？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54F38B-25EE-6AF8-DEA4-8110F916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5867DBE-79FC-E45D-CBAF-986CADD79C48}"/>
              </a:ext>
            </a:extLst>
          </p:cNvPr>
          <p:cNvSpPr/>
          <p:nvPr/>
        </p:nvSpPr>
        <p:spPr>
          <a:xfrm>
            <a:off x="2858704" y="4488885"/>
            <a:ext cx="7864656" cy="124165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400" dirty="0">
                <a:solidFill>
                  <a:schemeClr val="tx1"/>
                </a:solidFill>
              </a:rPr>
              <a:t>自然語言處理（</a:t>
            </a:r>
            <a:r>
              <a:rPr kumimoji="1" lang="en" altLang="zh-TW" sz="2400" dirty="0">
                <a:solidFill>
                  <a:schemeClr val="tx1"/>
                </a:solidFill>
              </a:rPr>
              <a:t>Natural Language Processing, NLP</a:t>
            </a:r>
            <a:r>
              <a:rPr kumimoji="1" lang="zh-TW" altLang="en" sz="2400" dirty="0">
                <a:solidFill>
                  <a:schemeClr val="tx1"/>
                </a:solidFill>
              </a:rPr>
              <a:t>）</a:t>
            </a:r>
          </a:p>
          <a:p>
            <a:r>
              <a:rPr kumimoji="1" lang="zh-TW" altLang="en-US" sz="2400" dirty="0">
                <a:solidFill>
                  <a:schemeClr val="tx1"/>
                </a:solidFill>
              </a:rPr>
              <a:t>是讓電腦能「理解、分析、產生」人類語言的技術。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B8FAD21-E59B-4654-F9C4-12606C092549}"/>
              </a:ext>
            </a:extLst>
          </p:cNvPr>
          <p:cNvSpPr txBox="1"/>
          <p:nvPr/>
        </p:nvSpPr>
        <p:spPr>
          <a:xfrm>
            <a:off x="1270536" y="4848105"/>
            <a:ext cx="1588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/>
              <a:t>定義 ➡️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BE573D3-4906-2E9B-40EC-ECB69417F4DA}"/>
              </a:ext>
            </a:extLst>
          </p:cNvPr>
          <p:cNvSpPr/>
          <p:nvPr/>
        </p:nvSpPr>
        <p:spPr>
          <a:xfrm>
            <a:off x="1617044" y="2277475"/>
            <a:ext cx="186742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zh-TW" altLang="en-US" sz="2000" dirty="0">
                <a:solidFill>
                  <a:schemeClr val="tx1"/>
                </a:solidFill>
              </a:rPr>
              <a:t>天青色等煙雨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A58E6CA2-BA08-18FD-F160-F3C102E441D2}"/>
              </a:ext>
            </a:extLst>
          </p:cNvPr>
          <p:cNvSpPr/>
          <p:nvPr/>
        </p:nvSpPr>
        <p:spPr>
          <a:xfrm>
            <a:off x="1617044" y="2902392"/>
            <a:ext cx="186742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 like apple!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512C373B-6DB1-AA57-EEA4-B319048AAE77}"/>
              </a:ext>
            </a:extLst>
          </p:cNvPr>
          <p:cNvCxnSpPr>
            <a:cxnSpLocks/>
          </p:cNvCxnSpPr>
          <p:nvPr/>
        </p:nvCxnSpPr>
        <p:spPr>
          <a:xfrm>
            <a:off x="3936346" y="2751850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63A3DDC-4014-057D-8458-C528CE7FA764}"/>
              </a:ext>
            </a:extLst>
          </p:cNvPr>
          <p:cNvSpPr txBox="1"/>
          <p:nvPr/>
        </p:nvSpPr>
        <p:spPr>
          <a:xfrm>
            <a:off x="5236028" y="2277475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8000" dirty="0"/>
              <a:t>🖥️</a:t>
            </a:r>
            <a:endParaRPr kumimoji="1" lang="zh-TW" altLang="en-US" sz="8000" dirty="0"/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81EBA36-0AFE-6220-37B8-F968592CD31A}"/>
              </a:ext>
            </a:extLst>
          </p:cNvPr>
          <p:cNvCxnSpPr>
            <a:cxnSpLocks/>
          </p:cNvCxnSpPr>
          <p:nvPr/>
        </p:nvCxnSpPr>
        <p:spPr>
          <a:xfrm>
            <a:off x="6988628" y="2751850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71B2F0B-DF3D-369B-47D5-AFCEDE489616}"/>
              </a:ext>
            </a:extLst>
          </p:cNvPr>
          <p:cNvSpPr txBox="1"/>
          <p:nvPr/>
        </p:nvSpPr>
        <p:spPr>
          <a:xfrm>
            <a:off x="8375468" y="2451288"/>
            <a:ext cx="57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?</a:t>
            </a:r>
            <a:endParaRPr kumimoji="1" lang="zh-TW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623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8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4243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01E046-4B7F-576F-5217-73815E85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大型語言模型的演化樹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DC1253-FB74-481A-3604-569596C8D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7F15F43-9333-0F89-6741-3E82150A4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86" y="1541284"/>
            <a:ext cx="6521370" cy="508008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D59790F-3374-1176-1EF0-C3FA17FE1DED}"/>
              </a:ext>
            </a:extLst>
          </p:cNvPr>
          <p:cNvSpPr txBox="1"/>
          <p:nvPr/>
        </p:nvSpPr>
        <p:spPr>
          <a:xfrm>
            <a:off x="7976565" y="5882415"/>
            <a:ext cx="3594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Yang, </a:t>
            </a:r>
            <a:r>
              <a:rPr kumimoji="1" lang="en" altLang="zh-TW" sz="1200" dirty="0" err="1"/>
              <a:t>Jingfeng</a:t>
            </a:r>
            <a:r>
              <a:rPr kumimoji="1" lang="en" altLang="zh-TW" sz="1200" dirty="0"/>
              <a:t>, et al. "Harnessing the power of </a:t>
            </a:r>
            <a:r>
              <a:rPr kumimoji="1" lang="en" altLang="zh-TW" sz="1200" dirty="0" err="1"/>
              <a:t>llms</a:t>
            </a:r>
            <a:r>
              <a:rPr kumimoji="1" lang="en" altLang="zh-TW" sz="1200" dirty="0"/>
              <a:t> in practice: A survey on </a:t>
            </a:r>
            <a:r>
              <a:rPr kumimoji="1" lang="en" altLang="zh-TW" sz="1200" dirty="0" err="1"/>
              <a:t>chatgpt</a:t>
            </a:r>
            <a:r>
              <a:rPr kumimoji="1" lang="en" altLang="zh-TW" sz="1200" dirty="0"/>
              <a:t> and beyond." ACM Transactions on Knowledge Discovery from Data 18.6 (2024): 1-32.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110448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0DD39-A177-D23C-A162-F6A1D1D5C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Chinese LLMs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6B97AF-49AB-1E02-3261-3A3A4E562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76C3986-D7CA-1274-AE4B-7ED316CE8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842" y="1553872"/>
            <a:ext cx="8916316" cy="469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7428CA7-21C4-810E-BF5C-493953DB761A}"/>
              </a:ext>
            </a:extLst>
          </p:cNvPr>
          <p:cNvSpPr txBox="1"/>
          <p:nvPr/>
        </p:nvSpPr>
        <p:spPr>
          <a:xfrm>
            <a:off x="2840173" y="6415560"/>
            <a:ext cx="6824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Figure source: https://</a:t>
            </a:r>
            <a:r>
              <a:rPr kumimoji="1" lang="en" altLang="zh-TW" sz="1400" dirty="0" err="1"/>
              <a:t>chinai.substack.com</a:t>
            </a:r>
            <a:r>
              <a:rPr kumimoji="1" lang="en" altLang="zh-TW" sz="1400" dirty="0"/>
              <a:t>/p/chinai-264-superclue-april-2024-report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94961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361CB8-84D9-946E-C105-1276DE98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SuperCLUE</a:t>
            </a:r>
            <a:r>
              <a:rPr kumimoji="1" lang="en-US" altLang="zh-TW" dirty="0"/>
              <a:t> Leaderboard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5F9F34-422A-D7DB-451B-EBEB02B8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8990C1E-057F-A0CD-6545-397A2874AF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60"/>
          <a:stretch/>
        </p:blipFill>
        <p:spPr>
          <a:xfrm>
            <a:off x="2045510" y="1484178"/>
            <a:ext cx="8100977" cy="501773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4D90181-5863-FE40-09C0-183B07DF40C8}"/>
              </a:ext>
            </a:extLst>
          </p:cNvPr>
          <p:cNvSpPr txBox="1"/>
          <p:nvPr/>
        </p:nvSpPr>
        <p:spPr>
          <a:xfrm>
            <a:off x="4087308" y="6503686"/>
            <a:ext cx="4017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200" dirty="0"/>
              <a:t>Figure source: https://</a:t>
            </a:r>
            <a:r>
              <a:rPr kumimoji="1" lang="en" altLang="zh-TW" sz="1200" dirty="0" err="1"/>
              <a:t>www.superclueai.com</a:t>
            </a:r>
            <a:r>
              <a:rPr kumimoji="1" lang="en" altLang="zh-TW" sz="1200" dirty="0"/>
              <a:t>/</a:t>
            </a:r>
            <a:endParaRPr kumimoji="1" lang="zh-TW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246A11-4A3B-1CB8-B458-CEB7B9BED9FB}"/>
              </a:ext>
            </a:extLst>
          </p:cNvPr>
          <p:cNvSpPr/>
          <p:nvPr/>
        </p:nvSpPr>
        <p:spPr>
          <a:xfrm>
            <a:off x="2028732" y="2843868"/>
            <a:ext cx="8172281" cy="243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AE33E9-6DEE-E7B6-7477-6E89623A04B0}"/>
              </a:ext>
            </a:extLst>
          </p:cNvPr>
          <p:cNvSpPr/>
          <p:nvPr/>
        </p:nvSpPr>
        <p:spPr>
          <a:xfrm>
            <a:off x="2028732" y="3307359"/>
            <a:ext cx="8172281" cy="13820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740F7C-E965-F8B7-C7E0-FCFB9157901F}"/>
              </a:ext>
            </a:extLst>
          </p:cNvPr>
          <p:cNvSpPr/>
          <p:nvPr/>
        </p:nvSpPr>
        <p:spPr>
          <a:xfrm>
            <a:off x="2028732" y="5598953"/>
            <a:ext cx="8172281" cy="9029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624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E9DA14-CCC4-F52F-7DE8-AAA220B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自然語言處理（廣義）屬於一</a:t>
            </a:r>
            <a:br>
              <a:rPr lang="en-US" altLang="zh-TW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</a:br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機器學習領域的任務</a:t>
            </a:r>
            <a:endParaRPr lang="en" altLang="zh-TW" sz="6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9AE4-BC87-6325-2208-8D96B8FE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5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6D4B0-02E4-793E-FE4E-6D25E074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Venn Diagram about AI, ML, and DL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C076F0-3811-3607-F817-6A0F479C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5A681CEC-7A26-34E9-8E22-2D65D465F7B2}"/>
              </a:ext>
            </a:extLst>
          </p:cNvPr>
          <p:cNvSpPr/>
          <p:nvPr/>
        </p:nvSpPr>
        <p:spPr>
          <a:xfrm>
            <a:off x="1958340" y="1691957"/>
            <a:ext cx="8275320" cy="49061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9FDD10C-8E14-FEC4-42D1-851009836945}"/>
              </a:ext>
            </a:extLst>
          </p:cNvPr>
          <p:cNvSpPr txBox="1"/>
          <p:nvPr/>
        </p:nvSpPr>
        <p:spPr>
          <a:xfrm>
            <a:off x="4781550" y="6057341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Artificial Intelligence (AI)</a:t>
            </a:r>
            <a:endParaRPr kumimoji="1" lang="zh-TW" alt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BA97ABD-BDFB-D48F-143D-42BA03378FA2}"/>
              </a:ext>
            </a:extLst>
          </p:cNvPr>
          <p:cNvSpPr/>
          <p:nvPr/>
        </p:nvSpPr>
        <p:spPr>
          <a:xfrm>
            <a:off x="2373630" y="2598874"/>
            <a:ext cx="5215890" cy="309233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3977E1-0B46-2869-2390-99223CCD2BB9}"/>
              </a:ext>
            </a:extLst>
          </p:cNvPr>
          <p:cNvSpPr txBox="1"/>
          <p:nvPr/>
        </p:nvSpPr>
        <p:spPr>
          <a:xfrm>
            <a:off x="3667125" y="273552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Machine Learning (ML)</a:t>
            </a:r>
            <a:endParaRPr kumimoji="1"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0C23DFF2-3F07-A934-4235-4B27F9AFE382}"/>
              </a:ext>
            </a:extLst>
          </p:cNvPr>
          <p:cNvSpPr/>
          <p:nvPr/>
        </p:nvSpPr>
        <p:spPr>
          <a:xfrm>
            <a:off x="2626995" y="3150073"/>
            <a:ext cx="3669030" cy="20607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4EB2BE-74D7-F15F-79B0-5775C4E502C8}"/>
              </a:ext>
            </a:extLst>
          </p:cNvPr>
          <p:cNvSpPr txBox="1"/>
          <p:nvPr/>
        </p:nvSpPr>
        <p:spPr>
          <a:xfrm>
            <a:off x="3111000" y="3836118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Deep Learning (DL)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F67AFF9-15EA-E737-4290-287B808EB845}"/>
              </a:ext>
            </a:extLst>
          </p:cNvPr>
          <p:cNvSpPr txBox="1"/>
          <p:nvPr/>
        </p:nvSpPr>
        <p:spPr>
          <a:xfrm>
            <a:off x="7961948" y="3764952"/>
            <a:ext cx="1813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</a:t>
            </a:r>
            <a:r>
              <a:rPr kumimoji="1" lang="zh-TW" altLang="en-US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專家系統 </a:t>
            </a:r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(Expert system; Knowledge base)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3F8319D-A7C1-BF2F-A244-BF9B21C475C2}"/>
              </a:ext>
            </a:extLst>
          </p:cNvPr>
          <p:cNvSpPr txBox="1"/>
          <p:nvPr/>
        </p:nvSpPr>
        <p:spPr>
          <a:xfrm>
            <a:off x="6112328" y="3852651"/>
            <a:ext cx="1595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Logistic Regression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A87E0E-B21E-64DD-83DA-4DBACD26BA35}"/>
              </a:ext>
            </a:extLst>
          </p:cNvPr>
          <p:cNvSpPr txBox="1"/>
          <p:nvPr/>
        </p:nvSpPr>
        <p:spPr>
          <a:xfrm>
            <a:off x="3627731" y="4205450"/>
            <a:ext cx="15954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Ex. Multi-layer Perceptron</a:t>
            </a:r>
            <a:endParaRPr kumimoji="1" lang="zh-TW" altLang="en-US" sz="1600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62D3F16-5A92-A8ED-6785-9DC0A6873461}"/>
              </a:ext>
            </a:extLst>
          </p:cNvPr>
          <p:cNvSpPr txBox="1"/>
          <p:nvPr/>
        </p:nvSpPr>
        <p:spPr>
          <a:xfrm>
            <a:off x="5627055" y="4262400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14" name="圖形 13" descr="聊天泡泡 外框">
            <a:extLst>
              <a:ext uri="{FF2B5EF4-FFF2-40B4-BE49-F238E27FC236}">
                <a16:creationId xmlns:a16="http://schemas.microsoft.com/office/drawing/2014/main" id="{821D2D27-C055-5DBC-C919-6E8D56E2A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5110" y="4208072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74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What is Deep Learning?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3B00E6F-FB7E-6C2C-CB88-2CA5416A0A67}"/>
              </a:ext>
            </a:extLst>
          </p:cNvPr>
          <p:cNvSpPr txBox="1"/>
          <p:nvPr/>
        </p:nvSpPr>
        <p:spPr>
          <a:xfrm>
            <a:off x="653143" y="1868198"/>
            <a:ext cx="10918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We start the concepts from machine learning.</a:t>
            </a:r>
          </a:p>
        </p:txBody>
      </p:sp>
      <p:pic>
        <p:nvPicPr>
          <p:cNvPr id="2050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D74245EC-E8C3-AE45-4B1D-2B2F578B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880" y="2838202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B9EB9D7-5382-F76F-9765-F433DC2CE373}"/>
              </a:ext>
            </a:extLst>
          </p:cNvPr>
          <p:cNvSpPr/>
          <p:nvPr/>
        </p:nvSpPr>
        <p:spPr>
          <a:xfrm>
            <a:off x="5017770" y="2983230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Classifier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F08BA-00B9-523D-18E8-E1BEBDE0EF31}"/>
              </a:ext>
            </a:extLst>
          </p:cNvPr>
          <p:cNvCxnSpPr/>
          <p:nvPr/>
        </p:nvCxnSpPr>
        <p:spPr>
          <a:xfrm>
            <a:off x="4091940" y="3474720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7C9E241-B2FD-4AD6-767E-5597A66B9E74}"/>
              </a:ext>
            </a:extLst>
          </p:cNvPr>
          <p:cNvCxnSpPr/>
          <p:nvPr/>
        </p:nvCxnSpPr>
        <p:spPr>
          <a:xfrm>
            <a:off x="7056120" y="3474720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4A82FF-EA22-34EE-B28C-9E8AE6212E90}"/>
              </a:ext>
            </a:extLst>
          </p:cNvPr>
          <p:cNvSpPr txBox="1"/>
          <p:nvPr/>
        </p:nvSpPr>
        <p:spPr>
          <a:xfrm>
            <a:off x="8058150" y="2838202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Cat</a:t>
            </a:r>
            <a:endParaRPr kumimoji="1"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226957-9761-C28C-2424-6053D69286C7}"/>
              </a:ext>
            </a:extLst>
          </p:cNvPr>
          <p:cNvSpPr txBox="1"/>
          <p:nvPr/>
        </p:nvSpPr>
        <p:spPr>
          <a:xfrm>
            <a:off x="8058150" y="3274665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Dog</a:t>
            </a:r>
            <a:endParaRPr kumimoji="1" lang="zh-TW" alt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13029FC-9EB5-49DA-EE75-13E76C5DC486}"/>
              </a:ext>
            </a:extLst>
          </p:cNvPr>
          <p:cNvSpPr txBox="1"/>
          <p:nvPr/>
        </p:nvSpPr>
        <p:spPr>
          <a:xfrm>
            <a:off x="8058150" y="3702477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Apple</a:t>
            </a:r>
            <a:endParaRPr kumimoji="1" lang="zh-TW" altLang="en-US" sz="2000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B23474AF-1033-3A78-09F3-C58B758F58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1124" y="2725584"/>
            <a:ext cx="625345" cy="62534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E83A73E-CD3F-C206-B1CD-BC05FAE6E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8199" y="4663202"/>
            <a:ext cx="1738317" cy="1378188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5F807D-5BE7-1955-53BE-C38722BBE6D5}"/>
              </a:ext>
            </a:extLst>
          </p:cNvPr>
          <p:cNvSpPr/>
          <p:nvPr/>
        </p:nvSpPr>
        <p:spPr>
          <a:xfrm>
            <a:off x="5017770" y="4862915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Classifier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AC885417-3598-7295-B475-74795A16DF5F}"/>
              </a:ext>
            </a:extLst>
          </p:cNvPr>
          <p:cNvCxnSpPr/>
          <p:nvPr/>
        </p:nvCxnSpPr>
        <p:spPr>
          <a:xfrm>
            <a:off x="4091940" y="535440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87EEE14E-9F40-636C-78FD-EB222706A763}"/>
              </a:ext>
            </a:extLst>
          </p:cNvPr>
          <p:cNvCxnSpPr/>
          <p:nvPr/>
        </p:nvCxnSpPr>
        <p:spPr>
          <a:xfrm>
            <a:off x="7056120" y="5354405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0978CE-0560-EE1E-53DC-04957E64B4A7}"/>
              </a:ext>
            </a:extLst>
          </p:cNvPr>
          <p:cNvSpPr txBox="1"/>
          <p:nvPr/>
        </p:nvSpPr>
        <p:spPr>
          <a:xfrm>
            <a:off x="7785608" y="4896096"/>
            <a:ext cx="1368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Malignant</a:t>
            </a:r>
            <a:endParaRPr kumimoji="1" lang="zh-TW" altLang="en-US" sz="20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F62C6BD-3F3F-AFA2-5387-E64DEE696A33}"/>
              </a:ext>
            </a:extLst>
          </p:cNvPr>
          <p:cNvSpPr txBox="1"/>
          <p:nvPr/>
        </p:nvSpPr>
        <p:spPr>
          <a:xfrm>
            <a:off x="7938135" y="5405981"/>
            <a:ext cx="1062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Benign</a:t>
            </a:r>
            <a:endParaRPr kumimoji="1" lang="zh-TW" altLang="en-US" sz="2000" dirty="0"/>
          </a:p>
        </p:txBody>
      </p:sp>
      <p:pic>
        <p:nvPicPr>
          <p:cNvPr id="25" name="圖形 24" descr="核取方塊 (打勾) 以實心填滿">
            <a:extLst>
              <a:ext uri="{FF2B5EF4-FFF2-40B4-BE49-F238E27FC236}">
                <a16:creationId xmlns:a16="http://schemas.microsoft.com/office/drawing/2014/main" id="{39A449E1-BB9A-FDAB-5760-82E133925E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01125" y="5293363"/>
            <a:ext cx="625345" cy="625345"/>
          </a:xfrm>
          <a:prstGeom prst="rect">
            <a:avLst/>
          </a:prstGeom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3CBE440C-FF33-B693-34E7-CC52B1E0CE45}"/>
              </a:ext>
            </a:extLst>
          </p:cNvPr>
          <p:cNvSpPr/>
          <p:nvPr/>
        </p:nvSpPr>
        <p:spPr>
          <a:xfrm>
            <a:off x="4800599" y="2640330"/>
            <a:ext cx="2204397" cy="166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7B3F454-0680-EFE0-39FE-2F93233AE783}"/>
              </a:ext>
            </a:extLst>
          </p:cNvPr>
          <p:cNvSpPr/>
          <p:nvPr/>
        </p:nvSpPr>
        <p:spPr>
          <a:xfrm>
            <a:off x="4770857" y="4517906"/>
            <a:ext cx="2204397" cy="166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37C529E-F9E2-EE5E-891B-2F2CDCFA01E7}"/>
              </a:ext>
            </a:extLst>
          </p:cNvPr>
          <p:cNvSpPr txBox="1"/>
          <p:nvPr/>
        </p:nvSpPr>
        <p:spPr>
          <a:xfrm>
            <a:off x="6672800" y="2400777"/>
            <a:ext cx="295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Machine </a:t>
            </a:r>
            <a:r>
              <a:rPr kumimoji="1" lang="en-US" altLang="zh-TW" dirty="0">
                <a:solidFill>
                  <a:srgbClr val="FF0000"/>
                </a:solidFill>
              </a:rPr>
              <a:t>Learning</a:t>
            </a:r>
            <a:r>
              <a:rPr kumimoji="1" lang="en-US" altLang="zh-TW" dirty="0"/>
              <a:t> function!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311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0" grpId="0"/>
      <p:bldP spid="11" grpId="0"/>
      <p:bldP spid="19" grpId="0" animBg="1"/>
      <p:bldP spid="23" grpId="0"/>
      <p:bldP spid="24" grpId="0"/>
      <p:bldP spid="26" grpId="0" animBg="1"/>
      <p:bldP spid="27" grpId="0" animBg="1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How about DL in Natural Language Processing?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9EB9D7-5382-F76F-9765-F433DC2CE373}"/>
              </a:ext>
            </a:extLst>
          </p:cNvPr>
          <p:cNvSpPr/>
          <p:nvPr/>
        </p:nvSpPr>
        <p:spPr>
          <a:xfrm>
            <a:off x="5384936" y="2421539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Classifier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F08BA-00B9-523D-18E8-E1BEBDE0EF31}"/>
              </a:ext>
            </a:extLst>
          </p:cNvPr>
          <p:cNvCxnSpPr>
            <a:cxnSpLocks/>
          </p:cNvCxnSpPr>
          <p:nvPr/>
        </p:nvCxnSpPr>
        <p:spPr>
          <a:xfrm>
            <a:off x="4592085" y="293599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7C9E241-B2FD-4AD6-767E-5597A66B9E74}"/>
              </a:ext>
            </a:extLst>
          </p:cNvPr>
          <p:cNvCxnSpPr>
            <a:cxnSpLocks/>
          </p:cNvCxnSpPr>
          <p:nvPr/>
        </p:nvCxnSpPr>
        <p:spPr>
          <a:xfrm>
            <a:off x="7289893" y="293599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4A82FF-EA22-34EE-B28C-9E8AE6212E90}"/>
              </a:ext>
            </a:extLst>
          </p:cNvPr>
          <p:cNvSpPr txBox="1"/>
          <p:nvPr/>
        </p:nvSpPr>
        <p:spPr>
          <a:xfrm>
            <a:off x="8121387" y="2479443"/>
            <a:ext cx="11163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Positive</a:t>
            </a:r>
            <a:endParaRPr kumimoji="1"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226957-9761-C28C-2424-6053D69286C7}"/>
              </a:ext>
            </a:extLst>
          </p:cNvPr>
          <p:cNvSpPr txBox="1"/>
          <p:nvPr/>
        </p:nvSpPr>
        <p:spPr>
          <a:xfrm>
            <a:off x="8121388" y="2976717"/>
            <a:ext cx="1342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Negative</a:t>
            </a:r>
            <a:endParaRPr kumimoji="1" lang="zh-TW" altLang="en-US" sz="2000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B23474AF-1033-3A78-09F3-C58B758F58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63665" y="2885861"/>
            <a:ext cx="625345" cy="62534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5F807D-5BE7-1955-53BE-C38722BBE6D5}"/>
              </a:ext>
            </a:extLst>
          </p:cNvPr>
          <p:cNvSpPr/>
          <p:nvPr/>
        </p:nvSpPr>
        <p:spPr>
          <a:xfrm>
            <a:off x="5384937" y="4330045"/>
            <a:ext cx="1778957" cy="11391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Machine Translation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A982891E-49AF-1107-C15A-9CF26665FE06}"/>
              </a:ext>
            </a:extLst>
          </p:cNvPr>
          <p:cNvSpPr/>
          <p:nvPr/>
        </p:nvSpPr>
        <p:spPr>
          <a:xfrm>
            <a:off x="728664" y="2512919"/>
            <a:ext cx="3803949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2000" dirty="0">
                <a:solidFill>
                  <a:schemeClr val="tx1"/>
                </a:solidFill>
              </a:rPr>
              <a:t>This movie was awful. The ending was absolutely horrible.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C3473E-072F-357A-9552-96D6D144B925}"/>
              </a:ext>
            </a:extLst>
          </p:cNvPr>
          <p:cNvSpPr txBox="1"/>
          <p:nvPr/>
        </p:nvSpPr>
        <p:spPr>
          <a:xfrm>
            <a:off x="663685" y="1896895"/>
            <a:ext cx="424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Sentiment Analysis (IMDb dataset </a:t>
            </a:r>
            <a:r>
              <a:rPr kumimoji="1" lang="en-US" altLang="zh-TW" b="1" baseline="30000" dirty="0"/>
              <a:t>[1]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E3FAF670-483D-4B7B-5ED1-BC3C4E534FD7}"/>
              </a:ext>
            </a:extLst>
          </p:cNvPr>
          <p:cNvCxnSpPr>
            <a:cxnSpLocks/>
          </p:cNvCxnSpPr>
          <p:nvPr/>
        </p:nvCxnSpPr>
        <p:spPr>
          <a:xfrm>
            <a:off x="7289893" y="497384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9E178F-9D2C-6576-7190-265F8085553D}"/>
              </a:ext>
            </a:extLst>
          </p:cNvPr>
          <p:cNvSpPr txBox="1"/>
          <p:nvPr/>
        </p:nvSpPr>
        <p:spPr>
          <a:xfrm>
            <a:off x="1204857" y="5951791"/>
            <a:ext cx="6260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[1] https://</a:t>
            </a:r>
            <a:r>
              <a:rPr kumimoji="1" lang="en-US" altLang="zh-TW" dirty="0" err="1"/>
              <a:t>huggingface.co</a:t>
            </a:r>
            <a:r>
              <a:rPr kumimoji="1" lang="en-US" altLang="zh-TW" dirty="0"/>
              <a:t>/datasets/</a:t>
            </a:r>
            <a:r>
              <a:rPr kumimoji="1" lang="en-US" altLang="zh-TW" dirty="0" err="1"/>
              <a:t>stanfordnlp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imdb</a:t>
            </a:r>
            <a:endParaRPr kumimoji="1" lang="en-US" altLang="zh-TW" dirty="0"/>
          </a:p>
          <a:p>
            <a:r>
              <a:rPr kumimoji="1" lang="en-US" altLang="zh-TW" dirty="0"/>
              <a:t>[2] https://</a:t>
            </a:r>
            <a:r>
              <a:rPr kumimoji="1" lang="en-US" altLang="zh-TW" dirty="0" err="1"/>
              <a:t>huggingface.co</a:t>
            </a:r>
            <a:r>
              <a:rPr kumimoji="1" lang="en-US" altLang="zh-TW" dirty="0"/>
              <a:t>/datasets/</a:t>
            </a:r>
            <a:r>
              <a:rPr kumimoji="1" lang="en-US" altLang="zh-TW" dirty="0" err="1"/>
              <a:t>wmt</a:t>
            </a:r>
            <a:r>
              <a:rPr kumimoji="1" lang="en-US" altLang="zh-TW" dirty="0"/>
              <a:t>/wmt19/viewer/</a:t>
            </a:r>
            <a:r>
              <a:rPr kumimoji="1" lang="en-US" altLang="zh-TW" dirty="0" err="1"/>
              <a:t>zh-en</a:t>
            </a:r>
            <a:endParaRPr kumimoji="1" lang="zh-TW" altLang="en-US" dirty="0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69D77DA-D31C-71D1-BD02-F87ACF1F91CD}"/>
              </a:ext>
            </a:extLst>
          </p:cNvPr>
          <p:cNvSpPr/>
          <p:nvPr/>
        </p:nvSpPr>
        <p:spPr>
          <a:xfrm>
            <a:off x="728662" y="4547424"/>
            <a:ext cx="3803951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" altLang="zh-TW" sz="2000" dirty="0">
                <a:solidFill>
                  <a:schemeClr val="tx1"/>
                </a:solidFill>
              </a:rPr>
              <a:t>Yet not nearly enough has been invested in this effort.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6A0EDB81-EC8B-58F3-D3FA-CFA1AF557F8B}"/>
              </a:ext>
            </a:extLst>
          </p:cNvPr>
          <p:cNvSpPr/>
          <p:nvPr/>
        </p:nvSpPr>
        <p:spPr>
          <a:xfrm>
            <a:off x="8121387" y="4569081"/>
            <a:ext cx="3638713" cy="83132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TW" altLang="en-US" sz="2000" dirty="0">
                <a:solidFill>
                  <a:schemeClr val="tx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但目前這方面的投入還遠遠不夠。</a:t>
            </a: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227C6226-B03A-2165-9329-A086E781C41E}"/>
              </a:ext>
            </a:extLst>
          </p:cNvPr>
          <p:cNvCxnSpPr>
            <a:cxnSpLocks/>
          </p:cNvCxnSpPr>
          <p:nvPr/>
        </p:nvCxnSpPr>
        <p:spPr>
          <a:xfrm>
            <a:off x="4592085" y="497384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429DB1A-E286-5F26-1A3C-DD621585FB47}"/>
              </a:ext>
            </a:extLst>
          </p:cNvPr>
          <p:cNvSpPr txBox="1"/>
          <p:nvPr/>
        </p:nvSpPr>
        <p:spPr>
          <a:xfrm>
            <a:off x="663684" y="4043784"/>
            <a:ext cx="45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Translation, EN-ZH (WMT-19 dataset </a:t>
            </a:r>
            <a:r>
              <a:rPr kumimoji="1" lang="en-US" altLang="zh-TW" b="1" baseline="30000" dirty="0"/>
              <a:t>[2]</a:t>
            </a:r>
            <a:r>
              <a:rPr kumimoji="1" lang="en-US" altLang="zh-TW" b="1" dirty="0"/>
              <a:t>)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416450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  <p:bldP spid="10" grpId="0"/>
      <p:bldP spid="19" grpId="0" animBg="1"/>
      <p:bldP spid="14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B84665-D86A-C80D-58E3-A654686F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Why do we need DL in NLP?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C5CB40-D06B-F8F9-3824-6B7FA4C74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5CE15F-FE8F-13E8-99B1-D7C98EA77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518" y="1757140"/>
            <a:ext cx="8419618" cy="410611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B981D53-57DA-6CFB-09F4-D578AF809026}"/>
              </a:ext>
            </a:extLst>
          </p:cNvPr>
          <p:cNvSpPr txBox="1"/>
          <p:nvPr/>
        </p:nvSpPr>
        <p:spPr>
          <a:xfrm>
            <a:off x="2703582" y="6042021"/>
            <a:ext cx="68174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paperswithcode.com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sota</a:t>
            </a:r>
            <a:r>
              <a:rPr kumimoji="1" lang="en" altLang="zh-TW" sz="1400" dirty="0"/>
              <a:t>/sentiment-analysis-on-sst-2-binary</a:t>
            </a:r>
          </a:p>
          <a:p>
            <a:r>
              <a:rPr kumimoji="1" lang="en" altLang="zh-TW" sz="1400" dirty="0"/>
              <a:t>Liu, Qian, et al. "Task-oriented word embedding for text classification." Proceedings of the 27th international conference on computational linguistics. 2018.</a:t>
            </a:r>
            <a:endParaRPr kumimoji="1" lang="zh-TW" altLang="en-US" sz="1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1D3B72-CDCB-F5D9-50A3-F34D1B06522E}"/>
              </a:ext>
            </a:extLst>
          </p:cNvPr>
          <p:cNvSpPr/>
          <p:nvPr/>
        </p:nvSpPr>
        <p:spPr>
          <a:xfrm>
            <a:off x="1902518" y="4656484"/>
            <a:ext cx="8419618" cy="6018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01347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E9DA14-CCC4-F52F-7DE8-AAA220B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電腦是如何學習自然語言呢？</a:t>
            </a:r>
            <a:endParaRPr lang="en" altLang="zh-TW" sz="60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9AE4-BC87-6325-2208-8D96B8FE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75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EDECBF-1CAE-1B26-F24E-4954D182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影像 </a:t>
            </a:r>
            <a:r>
              <a:rPr kumimoji="1" lang="en-US" altLang="zh-TW" dirty="0"/>
              <a:t>vs. </a:t>
            </a:r>
            <a:r>
              <a:rPr kumimoji="1" lang="zh-TW" altLang="en-US" dirty="0"/>
              <a:t>文字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3E92C2-211B-DA29-2BF2-F4DA33472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EBC7127-154F-9C33-52B7-035DCE9B3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022" y="2342347"/>
            <a:ext cx="1469858" cy="1477697"/>
          </a:xfrm>
          <a:prstGeom prst="rect">
            <a:avLst/>
          </a:prstGeom>
        </p:spPr>
      </p:pic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A1FEA643-C81C-3390-7119-7239A186A66C}"/>
              </a:ext>
            </a:extLst>
          </p:cNvPr>
          <p:cNvCxnSpPr>
            <a:cxnSpLocks/>
          </p:cNvCxnSpPr>
          <p:nvPr/>
        </p:nvCxnSpPr>
        <p:spPr>
          <a:xfrm>
            <a:off x="5055287" y="313864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79F864-5932-82AC-74D1-D9567162C935}"/>
              </a:ext>
            </a:extLst>
          </p:cNvPr>
          <p:cNvSpPr txBox="1"/>
          <p:nvPr/>
        </p:nvSpPr>
        <p:spPr>
          <a:xfrm>
            <a:off x="6011516" y="2846259"/>
            <a:ext cx="3151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3200" dirty="0"/>
              <a:t>28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x</a:t>
            </a:r>
            <a:r>
              <a:rPr kumimoji="1" lang="zh-TW" altLang="en-US" sz="3200" dirty="0"/>
              <a:t> </a:t>
            </a:r>
            <a:r>
              <a:rPr kumimoji="1" lang="en-US" altLang="zh-TW" sz="3200" dirty="0"/>
              <a:t>28 </a:t>
            </a:r>
            <a:r>
              <a:rPr kumimoji="1" lang="zh-TW" altLang="en-US" sz="3200" dirty="0"/>
              <a:t>的矩陣</a:t>
            </a: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CD4E822C-A082-FDB9-7FFC-F56ECED87EBE}"/>
              </a:ext>
            </a:extLst>
          </p:cNvPr>
          <p:cNvCxnSpPr>
            <a:cxnSpLocks/>
          </p:cNvCxnSpPr>
          <p:nvPr/>
        </p:nvCxnSpPr>
        <p:spPr>
          <a:xfrm>
            <a:off x="5055287" y="5350667"/>
            <a:ext cx="5634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DCA2D4B-D5DA-3C8A-91AF-0EA090AB03E1}"/>
              </a:ext>
            </a:extLst>
          </p:cNvPr>
          <p:cNvSpPr txBox="1"/>
          <p:nvPr/>
        </p:nvSpPr>
        <p:spPr>
          <a:xfrm>
            <a:off x="5768056" y="5064011"/>
            <a:ext cx="119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200" dirty="0"/>
              <a:t>?</a:t>
            </a:r>
            <a:endParaRPr kumimoji="1" lang="zh-TW" altLang="en-US" sz="32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004EEB-8254-10DC-AAC9-C7AF4929FCAB}"/>
              </a:ext>
            </a:extLst>
          </p:cNvPr>
          <p:cNvSpPr txBox="1"/>
          <p:nvPr/>
        </p:nvSpPr>
        <p:spPr>
          <a:xfrm>
            <a:off x="1495082" y="5064011"/>
            <a:ext cx="3666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dirty="0"/>
              <a:t>I want to study AI</a:t>
            </a:r>
            <a:endParaRPr kumimoji="1" lang="zh-TW" altLang="en-US" sz="28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9843B0F-F742-2B53-19C8-D013759A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9530" y="4563776"/>
            <a:ext cx="2099756" cy="157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8116B2D-5703-6D90-8B7E-88FCD7CB1D33}"/>
              </a:ext>
            </a:extLst>
          </p:cNvPr>
          <p:cNvSpPr txBox="1"/>
          <p:nvPr/>
        </p:nvSpPr>
        <p:spPr>
          <a:xfrm>
            <a:off x="7855802" y="6286468"/>
            <a:ext cx="34131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dirty="0"/>
              <a:t>Figure source: https://</a:t>
            </a:r>
            <a:r>
              <a:rPr kumimoji="1" lang="en-US" altLang="zh-TW" sz="1100" dirty="0" err="1"/>
              <a:t>kopu.chat</a:t>
            </a:r>
            <a:r>
              <a:rPr kumimoji="1" lang="en-US" altLang="zh-TW" sz="1100" dirty="0"/>
              <a:t>/wp-content/uploads/2017/04/binary-507x380.jpeg</a:t>
            </a:r>
            <a:endParaRPr kumimoji="1"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903899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F6BAB6-B4AA-13CD-0AD3-7B7F2FB6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 Representations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EDA3F6-A6A6-8F7F-229B-612A6371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EF35CB33-6AF5-DE8F-55EB-4C367C73DFD8}"/>
              </a:ext>
            </a:extLst>
          </p:cNvPr>
          <p:cNvSpPr/>
          <p:nvPr/>
        </p:nvSpPr>
        <p:spPr>
          <a:xfrm>
            <a:off x="2319962" y="1771513"/>
            <a:ext cx="10254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like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DA033C3C-2D29-BBB2-99C3-93553E76DE6E}"/>
              </a:ext>
            </a:extLst>
          </p:cNvPr>
          <p:cNvSpPr/>
          <p:nvPr/>
        </p:nvSpPr>
        <p:spPr>
          <a:xfrm>
            <a:off x="2319962" y="2396430"/>
            <a:ext cx="10254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apple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6FE083B9-4940-4F58-0E92-038EBCF79F68}"/>
              </a:ext>
            </a:extLst>
          </p:cNvPr>
          <p:cNvCxnSpPr>
            <a:cxnSpLocks/>
          </p:cNvCxnSpPr>
          <p:nvPr/>
        </p:nvCxnSpPr>
        <p:spPr>
          <a:xfrm>
            <a:off x="3615218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CC1213A1-F77A-DB50-E3F7-FEDF7C3D8CCE}"/>
              </a:ext>
            </a:extLst>
          </p:cNvPr>
          <p:cNvSpPr txBox="1"/>
          <p:nvPr/>
        </p:nvSpPr>
        <p:spPr>
          <a:xfrm>
            <a:off x="4914900" y="1771513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8000" dirty="0"/>
              <a:t>🖥️</a:t>
            </a:r>
            <a:endParaRPr kumimoji="1" lang="zh-TW" altLang="en-US" sz="8000" dirty="0"/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E652FD1D-9B44-9613-BCFF-F5D5958E1815}"/>
              </a:ext>
            </a:extLst>
          </p:cNvPr>
          <p:cNvCxnSpPr>
            <a:cxnSpLocks/>
          </p:cNvCxnSpPr>
          <p:nvPr/>
        </p:nvCxnSpPr>
        <p:spPr>
          <a:xfrm>
            <a:off x="6667500" y="2245888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4D98F1-AA3C-9208-3747-5A61BF904007}"/>
              </a:ext>
            </a:extLst>
          </p:cNvPr>
          <p:cNvSpPr txBox="1"/>
          <p:nvPr/>
        </p:nvSpPr>
        <p:spPr>
          <a:xfrm>
            <a:off x="8054340" y="1945326"/>
            <a:ext cx="57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?</a:t>
            </a:r>
            <a:endParaRPr kumimoji="1" lang="zh-TW" altLang="en-US" sz="36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938E0F8-04E3-42A5-80E3-DAC75C6C47CE}"/>
              </a:ext>
            </a:extLst>
          </p:cNvPr>
          <p:cNvSpPr txBox="1"/>
          <p:nvPr/>
        </p:nvSpPr>
        <p:spPr>
          <a:xfrm>
            <a:off x="568132" y="3120496"/>
            <a:ext cx="3032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Basic Approach</a:t>
            </a:r>
            <a:endParaRPr kumimoji="1" lang="zh-TW" altLang="en-US" sz="28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05BD7A1-9CB1-647E-B0A3-31D4B4DF87F9}"/>
              </a:ext>
            </a:extLst>
          </p:cNvPr>
          <p:cNvSpPr txBox="1"/>
          <p:nvPr/>
        </p:nvSpPr>
        <p:spPr>
          <a:xfrm>
            <a:off x="823234" y="3911090"/>
            <a:ext cx="2522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Corpus</a:t>
            </a:r>
            <a:endParaRPr kumimoji="1" lang="zh-TW" altLang="en-US" sz="2400" dirty="0"/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AC773989-B87C-D68A-7E2C-7781270984C4}"/>
              </a:ext>
            </a:extLst>
          </p:cNvPr>
          <p:cNvGrpSpPr/>
          <p:nvPr/>
        </p:nvGrpSpPr>
        <p:grpSpPr>
          <a:xfrm>
            <a:off x="686076" y="4347299"/>
            <a:ext cx="2798910" cy="1178802"/>
            <a:chOff x="653143" y="4097438"/>
            <a:chExt cx="2798910" cy="1178802"/>
          </a:xfrm>
        </p:grpSpPr>
        <p:sp>
          <p:nvSpPr>
            <p:cNvPr id="15" name="圓角矩形 14">
              <a:extLst>
                <a:ext uri="{FF2B5EF4-FFF2-40B4-BE49-F238E27FC236}">
                  <a16:creationId xmlns:a16="http://schemas.microsoft.com/office/drawing/2014/main" id="{16178C76-3E8B-9E4C-AFD2-B955C3270965}"/>
                </a:ext>
              </a:extLst>
            </p:cNvPr>
            <p:cNvSpPr/>
            <p:nvPr/>
          </p:nvSpPr>
          <p:spPr>
            <a:xfrm>
              <a:off x="790303" y="4219072"/>
              <a:ext cx="2522218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I like to eat apple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6" name="圓角矩形 15">
              <a:extLst>
                <a:ext uri="{FF2B5EF4-FFF2-40B4-BE49-F238E27FC236}">
                  <a16:creationId xmlns:a16="http://schemas.microsoft.com/office/drawing/2014/main" id="{00D36C8B-72ED-6DC2-EC8D-74F34886FFA8}"/>
                </a:ext>
              </a:extLst>
            </p:cNvPr>
            <p:cNvSpPr/>
            <p:nvPr/>
          </p:nvSpPr>
          <p:spPr>
            <a:xfrm>
              <a:off x="806587" y="4740816"/>
              <a:ext cx="2522219" cy="400110"/>
            </a:xfrm>
            <a:prstGeom prst="roundRect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TW" sz="2000" dirty="0">
                  <a:solidFill>
                    <a:schemeClr val="tx1"/>
                  </a:solidFill>
                </a:rPr>
                <a:t>You like to watch TV</a:t>
              </a:r>
              <a:endParaRPr kumimoji="1" lang="zh-TW" altLang="en-US" sz="200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664C5D4-C1BD-DA8A-031B-F885F27D33C8}"/>
                </a:ext>
              </a:extLst>
            </p:cNvPr>
            <p:cNvSpPr/>
            <p:nvPr/>
          </p:nvSpPr>
          <p:spPr>
            <a:xfrm>
              <a:off x="653143" y="4097438"/>
              <a:ext cx="2798910" cy="117880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A2D24D-3AA2-E2AE-1D76-D35CFC1E755D}"/>
              </a:ext>
            </a:extLst>
          </p:cNvPr>
          <p:cNvSpPr txBox="1"/>
          <p:nvPr/>
        </p:nvSpPr>
        <p:spPr>
          <a:xfrm>
            <a:off x="3731708" y="4765595"/>
            <a:ext cx="17511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>
                <a:solidFill>
                  <a:srgbClr val="00B050"/>
                </a:solidFill>
              </a:rPr>
              <a:t>Vocabulary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401A8F95-3600-8957-0805-E1F1F2AC90C6}"/>
              </a:ext>
            </a:extLst>
          </p:cNvPr>
          <p:cNvSpPr/>
          <p:nvPr/>
        </p:nvSpPr>
        <p:spPr>
          <a:xfrm>
            <a:off x="5575772" y="3655144"/>
            <a:ext cx="843382" cy="302786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apple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89F2ACED-A2D0-C3C3-68A7-B31F0DA0901C}"/>
              </a:ext>
            </a:extLst>
          </p:cNvPr>
          <p:cNvSpPr/>
          <p:nvPr/>
        </p:nvSpPr>
        <p:spPr>
          <a:xfrm>
            <a:off x="5575772" y="4107460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eat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66070AE8-43B4-F8BF-BEFE-168CAE60C487}"/>
              </a:ext>
            </a:extLst>
          </p:cNvPr>
          <p:cNvSpPr/>
          <p:nvPr/>
        </p:nvSpPr>
        <p:spPr>
          <a:xfrm>
            <a:off x="5575772" y="4549084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圓角矩形 21">
            <a:extLst>
              <a:ext uri="{FF2B5EF4-FFF2-40B4-BE49-F238E27FC236}">
                <a16:creationId xmlns:a16="http://schemas.microsoft.com/office/drawing/2014/main" id="{33600E8E-A145-E547-2303-4EF07FAAF6AF}"/>
              </a:ext>
            </a:extLst>
          </p:cNvPr>
          <p:cNvSpPr/>
          <p:nvPr/>
        </p:nvSpPr>
        <p:spPr>
          <a:xfrm>
            <a:off x="5575772" y="4990708"/>
            <a:ext cx="843382" cy="292094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like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3D0B28C5-A462-85E7-AF9B-A44075CA512D}"/>
              </a:ext>
            </a:extLst>
          </p:cNvPr>
          <p:cNvSpPr/>
          <p:nvPr/>
        </p:nvSpPr>
        <p:spPr>
          <a:xfrm>
            <a:off x="5583392" y="5432332"/>
            <a:ext cx="843382" cy="292095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watch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12619BBF-AB71-9CDC-CDAC-505987D98712}"/>
              </a:ext>
            </a:extLst>
          </p:cNvPr>
          <p:cNvSpPr/>
          <p:nvPr/>
        </p:nvSpPr>
        <p:spPr>
          <a:xfrm>
            <a:off x="5575772" y="5873956"/>
            <a:ext cx="843382" cy="292097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1530FAE0-48A7-4AAB-BF03-0AF1482EDE18}"/>
              </a:ext>
            </a:extLst>
          </p:cNvPr>
          <p:cNvSpPr txBox="1"/>
          <p:nvPr/>
        </p:nvSpPr>
        <p:spPr>
          <a:xfrm rot="5400000">
            <a:off x="5862202" y="6162241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99015AF-A281-FB12-0B4D-7A59691A76B2}"/>
              </a:ext>
            </a:extLst>
          </p:cNvPr>
          <p:cNvSpPr txBox="1"/>
          <p:nvPr/>
        </p:nvSpPr>
        <p:spPr>
          <a:xfrm>
            <a:off x="6472494" y="3611827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[1, 0, 0, 0, 0, 0, 0, 0]</a:t>
            </a:r>
            <a:endParaRPr kumimoji="1" lang="zh-TW" altLang="en-US" sz="2000" dirty="0"/>
          </a:p>
        </p:txBody>
      </p:sp>
      <p:sp>
        <p:nvSpPr>
          <p:cNvPr id="27" name="左中括弧 26">
            <a:extLst>
              <a:ext uri="{FF2B5EF4-FFF2-40B4-BE49-F238E27FC236}">
                <a16:creationId xmlns:a16="http://schemas.microsoft.com/office/drawing/2014/main" id="{7DEA1A3D-ED4C-C615-B6B7-A8E6F6ABFA92}"/>
              </a:ext>
            </a:extLst>
          </p:cNvPr>
          <p:cNvSpPr/>
          <p:nvPr/>
        </p:nvSpPr>
        <p:spPr>
          <a:xfrm>
            <a:off x="5360332" y="3762654"/>
            <a:ext cx="143013" cy="266852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3CF28B0-50E9-FE47-EF65-FE9007E964A1}"/>
              </a:ext>
            </a:extLst>
          </p:cNvPr>
          <p:cNvSpPr txBox="1"/>
          <p:nvPr/>
        </p:nvSpPr>
        <p:spPr>
          <a:xfrm>
            <a:off x="6472494" y="4053452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1, 0, 0, 0, 0, 0, 0]</a:t>
            </a:r>
            <a:endParaRPr kumimoji="1" lang="zh-TW" altLang="en-US" sz="20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9BAE045C-99A9-22BF-F976-7A82B3AEA0AA}"/>
              </a:ext>
            </a:extLst>
          </p:cNvPr>
          <p:cNvSpPr txBox="1"/>
          <p:nvPr/>
        </p:nvSpPr>
        <p:spPr>
          <a:xfrm>
            <a:off x="6472494" y="4495075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1, 0, 0, 0, 0, 0]</a:t>
            </a:r>
            <a:endParaRPr kumimoji="1" lang="zh-TW" altLang="en-US" sz="20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5426A75-33D6-67F2-D0D5-3F11E90CAEF8}"/>
              </a:ext>
            </a:extLst>
          </p:cNvPr>
          <p:cNvSpPr txBox="1"/>
          <p:nvPr/>
        </p:nvSpPr>
        <p:spPr>
          <a:xfrm>
            <a:off x="6472494" y="4936700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0, 1, 0, 0, 0, 0]</a:t>
            </a:r>
            <a:endParaRPr kumimoji="1" lang="zh-TW" altLang="en-US" sz="2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B6EAF12-75B6-27A9-2E3B-49267A795C7B}"/>
              </a:ext>
            </a:extLst>
          </p:cNvPr>
          <p:cNvSpPr txBox="1"/>
          <p:nvPr/>
        </p:nvSpPr>
        <p:spPr>
          <a:xfrm>
            <a:off x="6472494" y="5378324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0, 0, 1, 0, 0, 0]</a:t>
            </a:r>
            <a:endParaRPr kumimoji="1" lang="zh-TW" altLang="en-US" sz="2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6005F137-2959-202F-5E65-77BBE91F906A}"/>
              </a:ext>
            </a:extLst>
          </p:cNvPr>
          <p:cNvSpPr txBox="1"/>
          <p:nvPr/>
        </p:nvSpPr>
        <p:spPr>
          <a:xfrm>
            <a:off x="6472494" y="5819949"/>
            <a:ext cx="2532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[0, 0, 0, 0, 0, 1, 0, 0]</a:t>
            </a:r>
            <a:endParaRPr kumimoji="1" lang="zh-TW" altLang="en-US" sz="2000" dirty="0"/>
          </a:p>
        </p:txBody>
      </p:sp>
      <p:sp>
        <p:nvSpPr>
          <p:cNvPr id="33" name="向右箭號 32">
            <a:extLst>
              <a:ext uri="{FF2B5EF4-FFF2-40B4-BE49-F238E27FC236}">
                <a16:creationId xmlns:a16="http://schemas.microsoft.com/office/drawing/2014/main" id="{3546E0ED-1EAE-77E4-46F3-6CAA06FD63F5}"/>
              </a:ext>
            </a:extLst>
          </p:cNvPr>
          <p:cNvSpPr/>
          <p:nvPr/>
        </p:nvSpPr>
        <p:spPr>
          <a:xfrm>
            <a:off x="3614624" y="4821607"/>
            <a:ext cx="257319" cy="26679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AE8CEF02-5219-F7E1-F8D2-D01EDBB32DA8}"/>
              </a:ext>
            </a:extLst>
          </p:cNvPr>
          <p:cNvSpPr txBox="1"/>
          <p:nvPr/>
        </p:nvSpPr>
        <p:spPr>
          <a:xfrm>
            <a:off x="8989397" y="3631253"/>
            <a:ext cx="3110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One hot encodings with each vector size equal to the vocab size (8 in this case)</a:t>
            </a:r>
            <a:endParaRPr kumimoji="1" lang="zh-TW" altLang="en-US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959437F-0083-D577-939A-673D8133E577}"/>
              </a:ext>
            </a:extLst>
          </p:cNvPr>
          <p:cNvSpPr txBox="1"/>
          <p:nvPr/>
        </p:nvSpPr>
        <p:spPr>
          <a:xfrm>
            <a:off x="8989397" y="4758476"/>
            <a:ext cx="27431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b="1" dirty="0"/>
              <a:t>Pros</a:t>
            </a:r>
            <a:r>
              <a:rPr kumimoji="1" lang="en" altLang="zh-TW" dirty="0"/>
              <a:t>: handy, training-free</a:t>
            </a:r>
          </a:p>
          <a:p>
            <a:r>
              <a:rPr kumimoji="1" lang="en" altLang="zh-TW" b="1" dirty="0"/>
              <a:t>Cons</a:t>
            </a:r>
            <a:r>
              <a:rPr kumimoji="1" lang="en" altLang="zh-TW" dirty="0"/>
              <a:t>: sparse matrix which occupies much memory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7990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D967F-6129-6EEA-EC79-0D5CE8379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詞嵌入：把詞嵌入到向量</a:t>
            </a:r>
            <a:r>
              <a:rPr kumimoji="1" lang="en-US" altLang="zh-TW" dirty="0"/>
              <a:t> </a:t>
            </a:r>
            <a:r>
              <a:rPr kumimoji="1" lang="en" altLang="zh-TW" dirty="0"/>
              <a:t>(Word2Vec)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D7ADE4-3145-5A62-E184-3740A8F6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ABEA6365-DAA5-3D21-15A3-44E21F0B3E90}"/>
              </a:ext>
            </a:extLst>
          </p:cNvPr>
          <p:cNvSpPr/>
          <p:nvPr/>
        </p:nvSpPr>
        <p:spPr>
          <a:xfrm>
            <a:off x="5244998" y="1976138"/>
            <a:ext cx="919582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Steve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47BBC121-29B6-5220-CB78-B4D68370D415}"/>
              </a:ext>
            </a:extLst>
          </p:cNvPr>
          <p:cNvSpPr/>
          <p:nvPr/>
        </p:nvSpPr>
        <p:spPr>
          <a:xfrm>
            <a:off x="5244998" y="2428453"/>
            <a:ext cx="919582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Jobs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1CC73DF7-67C5-E923-B110-F5027E607101}"/>
              </a:ext>
            </a:extLst>
          </p:cNvPr>
          <p:cNvSpPr/>
          <p:nvPr/>
        </p:nvSpPr>
        <p:spPr>
          <a:xfrm>
            <a:off x="5244998" y="2870077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56B8A95F-18DA-D383-DB7E-C39CA36DF52E}"/>
              </a:ext>
            </a:extLst>
          </p:cNvPr>
          <p:cNvSpPr/>
          <p:nvPr/>
        </p:nvSpPr>
        <p:spPr>
          <a:xfrm>
            <a:off x="5244998" y="3311701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Apple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F5E789D0-102E-9899-6B0E-E72F53B56733}"/>
              </a:ext>
            </a:extLst>
          </p:cNvPr>
          <p:cNvSpPr/>
          <p:nvPr/>
        </p:nvSpPr>
        <p:spPr>
          <a:xfrm>
            <a:off x="5252618" y="3753326"/>
            <a:ext cx="91196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Inc.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F8053-1CB6-9280-0786-1F5398B4FB9E}"/>
              </a:ext>
            </a:extLst>
          </p:cNvPr>
          <p:cNvSpPr txBox="1"/>
          <p:nvPr/>
        </p:nvSpPr>
        <p:spPr>
          <a:xfrm>
            <a:off x="5279288" y="1508868"/>
            <a:ext cx="851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Input</a:t>
            </a:r>
            <a:endParaRPr kumimoji="1" lang="zh-TW" altLang="en-US" sz="2000" b="1" dirty="0"/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217AB8D6-2DB3-140E-DF9E-4A5CD8120CB8}"/>
              </a:ext>
            </a:extLst>
          </p:cNvPr>
          <p:cNvSpPr/>
          <p:nvPr/>
        </p:nvSpPr>
        <p:spPr>
          <a:xfrm>
            <a:off x="5244998" y="4456485"/>
            <a:ext cx="919582" cy="36377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C62D52E-CDFE-9BB1-61EF-4CCF984C5F54}"/>
              </a:ext>
            </a:extLst>
          </p:cNvPr>
          <p:cNvSpPr/>
          <p:nvPr/>
        </p:nvSpPr>
        <p:spPr>
          <a:xfrm>
            <a:off x="5244998" y="4908800"/>
            <a:ext cx="919582" cy="363771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5FFE151F-6C37-B885-AA8A-89C81A8E1C02}"/>
              </a:ext>
            </a:extLst>
          </p:cNvPr>
          <p:cNvSpPr/>
          <p:nvPr/>
        </p:nvSpPr>
        <p:spPr>
          <a:xfrm>
            <a:off x="5244998" y="5350424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founded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1E1E2AE5-0D93-DD14-622D-9071BF79245E}"/>
              </a:ext>
            </a:extLst>
          </p:cNvPr>
          <p:cNvSpPr/>
          <p:nvPr/>
        </p:nvSpPr>
        <p:spPr>
          <a:xfrm>
            <a:off x="5244998" y="5792048"/>
            <a:ext cx="91958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A27E94C1-2F27-B39A-D235-3468AFAFFA21}"/>
              </a:ext>
            </a:extLst>
          </p:cNvPr>
          <p:cNvSpPr/>
          <p:nvPr/>
        </p:nvSpPr>
        <p:spPr>
          <a:xfrm>
            <a:off x="5252618" y="6233673"/>
            <a:ext cx="911962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FF0000"/>
                </a:solidFill>
              </a:rPr>
              <a:t>[MASK]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E3AE6E-B645-5F31-3EFE-1ADD783C7660}"/>
              </a:ext>
            </a:extLst>
          </p:cNvPr>
          <p:cNvSpPr/>
          <p:nvPr/>
        </p:nvSpPr>
        <p:spPr>
          <a:xfrm>
            <a:off x="7053942" y="2571436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CBOW</a:t>
            </a:r>
            <a:r>
              <a:rPr kumimoji="1" lang="en-US" altLang="zh-TW" b="1" baseline="30000" dirty="0">
                <a:solidFill>
                  <a:schemeClr val="tx1"/>
                </a:solidFill>
              </a:rPr>
              <a:t> [1]</a:t>
            </a: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(Continuous Bag-of-Words)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756E92-B49D-591B-450F-7D841A4E8E92}"/>
              </a:ext>
            </a:extLst>
          </p:cNvPr>
          <p:cNvSpPr/>
          <p:nvPr/>
        </p:nvSpPr>
        <p:spPr>
          <a:xfrm>
            <a:off x="7053942" y="5051783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Skip-gram</a:t>
            </a:r>
            <a:r>
              <a:rPr kumimoji="1" lang="en-US" altLang="zh-TW" sz="2000" b="1" baseline="30000" dirty="0">
                <a:solidFill>
                  <a:schemeClr val="tx1"/>
                </a:solidFill>
              </a:rPr>
              <a:t> [1]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B6298F9D-954E-9AF2-976C-3D992F35FDEE}"/>
              </a:ext>
            </a:extLst>
          </p:cNvPr>
          <p:cNvSpPr/>
          <p:nvPr/>
        </p:nvSpPr>
        <p:spPr>
          <a:xfrm>
            <a:off x="6411476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向右箭號 19">
            <a:extLst>
              <a:ext uri="{FF2B5EF4-FFF2-40B4-BE49-F238E27FC236}">
                <a16:creationId xmlns:a16="http://schemas.microsoft.com/office/drawing/2014/main" id="{D9D549DC-66E7-886B-30E5-3E0923B9BCA9}"/>
              </a:ext>
            </a:extLst>
          </p:cNvPr>
          <p:cNvSpPr/>
          <p:nvPr/>
        </p:nvSpPr>
        <p:spPr>
          <a:xfrm>
            <a:off x="6411476" y="5350424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51DBA887-8E1F-29F0-817A-C5C7BBB15E7A}"/>
              </a:ext>
            </a:extLst>
          </p:cNvPr>
          <p:cNvSpPr/>
          <p:nvPr/>
        </p:nvSpPr>
        <p:spPr>
          <a:xfrm>
            <a:off x="9022702" y="2870077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3020C1B6-28E3-D523-663B-7878A32C14DC}"/>
              </a:ext>
            </a:extLst>
          </p:cNvPr>
          <p:cNvSpPr/>
          <p:nvPr/>
        </p:nvSpPr>
        <p:spPr>
          <a:xfrm>
            <a:off x="9022702" y="5350422"/>
            <a:ext cx="399870" cy="3637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13408D5A-5F0D-DA91-55E3-75255C645246}"/>
              </a:ext>
            </a:extLst>
          </p:cNvPr>
          <p:cNvSpPr/>
          <p:nvPr/>
        </p:nvSpPr>
        <p:spPr>
          <a:xfrm>
            <a:off x="9665168" y="2870077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founded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A2C0ADAF-4B06-7494-320C-1881B8E359E8}"/>
              </a:ext>
            </a:extLst>
          </p:cNvPr>
          <p:cNvSpPr/>
          <p:nvPr/>
        </p:nvSpPr>
        <p:spPr>
          <a:xfrm>
            <a:off x="9665168" y="4456485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Steve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6F9B7D74-09CA-1873-9999-4DAAAD78ADBE}"/>
              </a:ext>
            </a:extLst>
          </p:cNvPr>
          <p:cNvSpPr/>
          <p:nvPr/>
        </p:nvSpPr>
        <p:spPr>
          <a:xfrm>
            <a:off x="9665168" y="4908800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Jobs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2F53890A-216B-C892-85E2-D557B210F1DD}"/>
              </a:ext>
            </a:extLst>
          </p:cNvPr>
          <p:cNvSpPr/>
          <p:nvPr/>
        </p:nvSpPr>
        <p:spPr>
          <a:xfrm>
            <a:off x="9665168" y="5792047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Apple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9C581A5E-459C-9DB5-1789-60A08665AA6F}"/>
              </a:ext>
            </a:extLst>
          </p:cNvPr>
          <p:cNvSpPr/>
          <p:nvPr/>
        </p:nvSpPr>
        <p:spPr>
          <a:xfrm>
            <a:off x="9665168" y="6233673"/>
            <a:ext cx="1029726" cy="363773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rgbClr val="00B050"/>
                </a:solidFill>
              </a:rPr>
              <a:t>Inc.</a:t>
            </a:r>
            <a:endParaRPr kumimoji="1" lang="zh-TW" altLang="en-US" sz="1600" dirty="0">
              <a:solidFill>
                <a:srgbClr val="00B05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E314A0F9-0710-AAAD-15CA-0C0522C692AA}"/>
              </a:ext>
            </a:extLst>
          </p:cNvPr>
          <p:cNvSpPr txBox="1"/>
          <p:nvPr/>
        </p:nvSpPr>
        <p:spPr>
          <a:xfrm>
            <a:off x="9463560" y="1508868"/>
            <a:ext cx="14375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Prediction</a:t>
            </a:r>
            <a:endParaRPr kumimoji="1" lang="zh-TW" altLang="en-US" sz="2000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436E2F30-73F8-F34A-01D8-F7B6D011A53F}"/>
              </a:ext>
            </a:extLst>
          </p:cNvPr>
          <p:cNvSpPr txBox="1"/>
          <p:nvPr/>
        </p:nvSpPr>
        <p:spPr>
          <a:xfrm>
            <a:off x="653143" y="1999664"/>
            <a:ext cx="414095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[1] </a:t>
            </a:r>
            <a:r>
              <a:rPr kumimoji="1" lang="en" altLang="zh-TW" sz="1400" dirty="0" err="1"/>
              <a:t>Mikolov</a:t>
            </a:r>
            <a:r>
              <a:rPr kumimoji="1" lang="en" altLang="zh-TW" sz="1400" dirty="0"/>
              <a:t> et al. "Distributed representations of words and phrases and their compositionality." </a:t>
            </a:r>
            <a:r>
              <a:rPr kumimoji="1" lang="en" altLang="zh-TW" sz="1400" dirty="0" err="1"/>
              <a:t>NeurIPS</a:t>
            </a:r>
            <a:r>
              <a:rPr kumimoji="1" lang="en" altLang="zh-TW" sz="1400" dirty="0"/>
              <a:t> 2013.</a:t>
            </a:r>
            <a:endParaRPr kumimoji="1" lang="zh-TW" altLang="en-US" sz="14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A274E792-7344-6280-09CA-B877CD7CD5A0}"/>
              </a:ext>
            </a:extLst>
          </p:cNvPr>
          <p:cNvSpPr txBox="1"/>
          <p:nvPr/>
        </p:nvSpPr>
        <p:spPr>
          <a:xfrm>
            <a:off x="943715" y="3458158"/>
            <a:ext cx="3141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800" dirty="0"/>
              <a:t>非常大量的語料庫 </a:t>
            </a:r>
            <a:r>
              <a:rPr kumimoji="1" lang="en-US" altLang="zh-TW" sz="2800" dirty="0"/>
              <a:t>(</a:t>
            </a:r>
            <a:r>
              <a:rPr kumimoji="1" lang="zh-TW" altLang="en-US" sz="2800" dirty="0"/>
              <a:t>例如：</a:t>
            </a:r>
            <a:r>
              <a:rPr kumimoji="1" lang="en-US" altLang="zh-TW" sz="2800" dirty="0"/>
              <a:t>Wikipedia)</a:t>
            </a:r>
            <a:endParaRPr kumimoji="1" lang="zh-TW" altLang="en-US" sz="2800" dirty="0"/>
          </a:p>
        </p:txBody>
      </p:sp>
      <p:pic>
        <p:nvPicPr>
          <p:cNvPr id="34" name="圖形 33" descr="文件 以實心填滿">
            <a:extLst>
              <a:ext uri="{FF2B5EF4-FFF2-40B4-BE49-F238E27FC236}">
                <a16:creationId xmlns:a16="http://schemas.microsoft.com/office/drawing/2014/main" id="{7A94258A-95E1-22E2-2BFB-E5C4551FC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0736" y="4517640"/>
            <a:ext cx="510073" cy="510073"/>
          </a:xfrm>
          <a:prstGeom prst="rect">
            <a:avLst/>
          </a:prstGeom>
        </p:spPr>
      </p:pic>
      <p:pic>
        <p:nvPicPr>
          <p:cNvPr id="35" name="圖形 34" descr="文件 以實心填滿">
            <a:extLst>
              <a:ext uri="{FF2B5EF4-FFF2-40B4-BE49-F238E27FC236}">
                <a16:creationId xmlns:a16="http://schemas.microsoft.com/office/drawing/2014/main" id="{D36976D9-1ED0-257C-AD50-A625D6F5B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4517" y="4519435"/>
            <a:ext cx="510073" cy="510073"/>
          </a:xfrm>
          <a:prstGeom prst="rect">
            <a:avLst/>
          </a:prstGeom>
        </p:spPr>
      </p:pic>
      <p:pic>
        <p:nvPicPr>
          <p:cNvPr id="36" name="圖形 35" descr="文件 以實心填滿">
            <a:extLst>
              <a:ext uri="{FF2B5EF4-FFF2-40B4-BE49-F238E27FC236}">
                <a16:creationId xmlns:a16="http://schemas.microsoft.com/office/drawing/2014/main" id="{6913D729-0EAF-12BB-F4E8-2C0CF758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48298" y="4517639"/>
            <a:ext cx="510073" cy="510073"/>
          </a:xfrm>
          <a:prstGeom prst="rect">
            <a:avLst/>
          </a:prstGeom>
        </p:spPr>
      </p:pic>
      <p:pic>
        <p:nvPicPr>
          <p:cNvPr id="37" name="圖形 36" descr="文件 以實心填滿">
            <a:extLst>
              <a:ext uri="{FF2B5EF4-FFF2-40B4-BE49-F238E27FC236}">
                <a16:creationId xmlns:a16="http://schemas.microsoft.com/office/drawing/2014/main" id="{5F05F6AD-5A45-611C-8D19-EC29E855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52079" y="4517639"/>
            <a:ext cx="510073" cy="510073"/>
          </a:xfrm>
          <a:prstGeom prst="rect">
            <a:avLst/>
          </a:prstGeom>
        </p:spPr>
      </p:pic>
      <p:pic>
        <p:nvPicPr>
          <p:cNvPr id="38" name="圖形 37" descr="文件 以實心填滿">
            <a:extLst>
              <a:ext uri="{FF2B5EF4-FFF2-40B4-BE49-F238E27FC236}">
                <a16:creationId xmlns:a16="http://schemas.microsoft.com/office/drawing/2014/main" id="{519DA7A2-4031-31A8-F0E0-8D2C3C43D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5860" y="4517639"/>
            <a:ext cx="510073" cy="510073"/>
          </a:xfrm>
          <a:prstGeom prst="rect">
            <a:avLst/>
          </a:prstGeom>
        </p:spPr>
      </p:pic>
      <p:pic>
        <p:nvPicPr>
          <p:cNvPr id="39" name="圖形 38" descr="文件 以實心填滿">
            <a:extLst>
              <a:ext uri="{FF2B5EF4-FFF2-40B4-BE49-F238E27FC236}">
                <a16:creationId xmlns:a16="http://schemas.microsoft.com/office/drawing/2014/main" id="{37CDEBF7-B379-DDE6-23A3-1E2848B22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1793" y="5133292"/>
            <a:ext cx="510073" cy="510073"/>
          </a:xfrm>
          <a:prstGeom prst="rect">
            <a:avLst/>
          </a:prstGeom>
        </p:spPr>
      </p:pic>
      <p:pic>
        <p:nvPicPr>
          <p:cNvPr id="40" name="圖形 39" descr="文件 以實心填滿">
            <a:extLst>
              <a:ext uri="{FF2B5EF4-FFF2-40B4-BE49-F238E27FC236}">
                <a16:creationId xmlns:a16="http://schemas.microsoft.com/office/drawing/2014/main" id="{40027F16-03D0-7ABA-5B52-AF4E86B58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55574" y="5135087"/>
            <a:ext cx="510073" cy="510073"/>
          </a:xfrm>
          <a:prstGeom prst="rect">
            <a:avLst/>
          </a:prstGeom>
        </p:spPr>
      </p:pic>
      <p:pic>
        <p:nvPicPr>
          <p:cNvPr id="41" name="圖形 40" descr="文件 以實心填滿">
            <a:extLst>
              <a:ext uri="{FF2B5EF4-FFF2-40B4-BE49-F238E27FC236}">
                <a16:creationId xmlns:a16="http://schemas.microsoft.com/office/drawing/2014/main" id="{4CC14187-67EB-A803-0B66-26EE3B29F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9355" y="5133291"/>
            <a:ext cx="510073" cy="510073"/>
          </a:xfrm>
          <a:prstGeom prst="rect">
            <a:avLst/>
          </a:prstGeom>
        </p:spPr>
      </p:pic>
      <p:pic>
        <p:nvPicPr>
          <p:cNvPr id="42" name="圖形 41" descr="文件 以實心填滿">
            <a:extLst>
              <a:ext uri="{FF2B5EF4-FFF2-40B4-BE49-F238E27FC236}">
                <a16:creationId xmlns:a16="http://schemas.microsoft.com/office/drawing/2014/main" id="{9A001660-6B26-87AD-6D86-BC65CB4AB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3136" y="5133291"/>
            <a:ext cx="510073" cy="510073"/>
          </a:xfrm>
          <a:prstGeom prst="rect">
            <a:avLst/>
          </a:prstGeom>
        </p:spPr>
      </p:pic>
      <p:pic>
        <p:nvPicPr>
          <p:cNvPr id="43" name="圖形 42" descr="文件 以實心填滿">
            <a:extLst>
              <a:ext uri="{FF2B5EF4-FFF2-40B4-BE49-F238E27FC236}">
                <a16:creationId xmlns:a16="http://schemas.microsoft.com/office/drawing/2014/main" id="{ACDF1470-4C07-5F00-8E88-AF1B7A2B9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6917" y="5133291"/>
            <a:ext cx="510073" cy="510073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2F40236C-E5D3-4E83-D4A2-D6106D7B1381}"/>
              </a:ext>
            </a:extLst>
          </p:cNvPr>
          <p:cNvSpPr/>
          <p:nvPr/>
        </p:nvSpPr>
        <p:spPr>
          <a:xfrm>
            <a:off x="1181127" y="4451761"/>
            <a:ext cx="2641437" cy="127784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7834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30758-72D6-A663-4E57-B0B0CEE5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每個字，都是一段向量</a:t>
            </a:r>
            <a:r>
              <a:rPr kumimoji="1" lang="en-US" altLang="zh-TW" dirty="0">
                <a:ea typeface="Microsoft JhengHei" panose="020B0604030504040204" pitchFamily="34" charset="-120"/>
              </a:rPr>
              <a:t> – </a:t>
            </a:r>
            <a:r>
              <a:rPr kumimoji="1" lang="zh-TW" altLang="en-US" dirty="0">
                <a:ea typeface="Microsoft JhengHei" panose="020B0604030504040204" pitchFamily="34" charset="-120"/>
              </a:rPr>
              <a:t>詞向量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93BF6D-5A69-F709-D836-0505A7646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53E6CD1-A702-D7E3-696C-2CE9995BBA31}"/>
              </a:ext>
            </a:extLst>
          </p:cNvPr>
          <p:cNvSpPr txBox="1"/>
          <p:nvPr/>
        </p:nvSpPr>
        <p:spPr>
          <a:xfrm>
            <a:off x="653143" y="1781790"/>
            <a:ext cx="35974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Word2Vec</a:t>
            </a:r>
            <a:r>
              <a:rPr kumimoji="1" lang="zh-TW" altLang="en-US" sz="2400" dirty="0"/>
              <a:t> 的範例長相</a:t>
            </a:r>
            <a:r>
              <a:rPr kumimoji="1" lang="en" altLang="zh-TW" sz="2400" dirty="0"/>
              <a:t>:</a:t>
            </a:r>
            <a:endParaRPr kumimoji="1" lang="zh-TW" altLang="en-US" sz="2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6858132-885D-7727-6337-AD6BEC31EF2C}"/>
              </a:ext>
            </a:extLst>
          </p:cNvPr>
          <p:cNvSpPr txBox="1"/>
          <p:nvPr/>
        </p:nvSpPr>
        <p:spPr>
          <a:xfrm>
            <a:off x="3373907" y="3433713"/>
            <a:ext cx="78950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>
                <a:solidFill>
                  <a:srgbClr val="0070C0"/>
                </a:solidFill>
              </a:rPr>
              <a:t>apple</a:t>
            </a:r>
            <a:r>
              <a:rPr kumimoji="1" lang="en" altLang="zh-TW" sz="2000" dirty="0"/>
              <a:t> -0.110960 0.016115 -0.004809 0.033589 0.121455 …</a:t>
            </a:r>
          </a:p>
          <a:p>
            <a:r>
              <a:rPr kumimoji="1" lang="en" altLang="zh-TW" sz="2000" dirty="0">
                <a:solidFill>
                  <a:srgbClr val="0070C0"/>
                </a:solidFill>
              </a:rPr>
              <a:t>banana</a:t>
            </a:r>
            <a:r>
              <a:rPr kumimoji="1" lang="en" altLang="zh-TW" sz="2000" dirty="0"/>
              <a:t> -0.027713 -0.015676 0.003314 0.077602 0.159718 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</a:p>
          <a:p>
            <a:r>
              <a:rPr kumimoji="1" lang="en" altLang="zh-TW" sz="2000" dirty="0"/>
              <a:t>…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BA952A9-F907-5BC0-7C30-F83FA491B5B9}"/>
              </a:ext>
            </a:extLst>
          </p:cNvPr>
          <p:cNvSpPr txBox="1"/>
          <p:nvPr/>
        </p:nvSpPr>
        <p:spPr>
          <a:xfrm>
            <a:off x="5635632" y="2633384"/>
            <a:ext cx="3371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Dimension size (e.g., 300)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7674488-2D13-83A8-AC9E-A3078CDB63CC}"/>
              </a:ext>
            </a:extLst>
          </p:cNvPr>
          <p:cNvSpPr txBox="1"/>
          <p:nvPr/>
        </p:nvSpPr>
        <p:spPr>
          <a:xfrm>
            <a:off x="920890" y="3987710"/>
            <a:ext cx="2113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Vocabulary size</a:t>
            </a:r>
          </a:p>
          <a:p>
            <a:pPr algn="ctr"/>
            <a:r>
              <a:rPr kumimoji="1" lang="en" altLang="zh-TW" sz="2000" dirty="0">
                <a:solidFill>
                  <a:srgbClr val="00B050"/>
                </a:solidFill>
              </a:rPr>
              <a:t>(e.g., 30,000)</a:t>
            </a:r>
            <a:endParaRPr kumimoji="1" lang="zh-TW" altLang="en-US" sz="2000" dirty="0">
              <a:solidFill>
                <a:srgbClr val="00B050"/>
              </a:solidFill>
            </a:endParaRPr>
          </a:p>
        </p:txBody>
      </p:sp>
      <p:sp>
        <p:nvSpPr>
          <p:cNvPr id="11" name="左中括弧 10">
            <a:extLst>
              <a:ext uri="{FF2B5EF4-FFF2-40B4-BE49-F238E27FC236}">
                <a16:creationId xmlns:a16="http://schemas.microsoft.com/office/drawing/2014/main" id="{3E39DB12-6F05-AF06-BCD3-90104E7F4BB0}"/>
              </a:ext>
            </a:extLst>
          </p:cNvPr>
          <p:cNvSpPr/>
          <p:nvPr/>
        </p:nvSpPr>
        <p:spPr>
          <a:xfrm>
            <a:off x="3104768" y="3615582"/>
            <a:ext cx="127737" cy="165871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左中括弧 11">
            <a:extLst>
              <a:ext uri="{FF2B5EF4-FFF2-40B4-BE49-F238E27FC236}">
                <a16:creationId xmlns:a16="http://schemas.microsoft.com/office/drawing/2014/main" id="{D2B670A4-E9EA-3C02-28E4-7E138B8F19E0}"/>
              </a:ext>
            </a:extLst>
          </p:cNvPr>
          <p:cNvSpPr/>
          <p:nvPr/>
        </p:nvSpPr>
        <p:spPr>
          <a:xfrm rot="5400000">
            <a:off x="7317640" y="-29975"/>
            <a:ext cx="198140" cy="648174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3471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E7E392-00F1-61FC-BF38-B0E28AB40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Word Embeddings </a:t>
            </a:r>
            <a:r>
              <a:rPr kumimoji="1" lang="zh-TW" altLang="en-US" dirty="0">
                <a:ea typeface="Microsoft JhengHei" panose="020B0604030504040204" pitchFamily="34" charset="-120"/>
              </a:rPr>
              <a:t>視覺化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38B8CE-C60A-4A78-2541-F84CEF11B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46151C0-B1BF-7497-8E28-2F7BCC4B0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292" y="1557721"/>
            <a:ext cx="6011384" cy="513318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557E704-125A-EF70-D429-ABC780369747}"/>
              </a:ext>
            </a:extLst>
          </p:cNvPr>
          <p:cNvSpPr txBox="1"/>
          <p:nvPr/>
        </p:nvSpPr>
        <p:spPr>
          <a:xfrm>
            <a:off x="7667928" y="3240812"/>
            <a:ext cx="36010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Word embedding model</a:t>
            </a:r>
            <a:r>
              <a:rPr kumimoji="1" lang="en" altLang="zh-TW" sz="2000" dirty="0"/>
              <a:t>: glove-wiki-gigaword-100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Dimension reduction</a:t>
            </a:r>
            <a:r>
              <a:rPr kumimoji="1" lang="en" altLang="zh-TW" sz="2000" dirty="0"/>
              <a:t>: t-SNE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000" b="1" dirty="0"/>
              <a:t>Dataset</a:t>
            </a:r>
            <a:r>
              <a:rPr kumimoji="1" lang="en" altLang="zh-TW" sz="2000" dirty="0"/>
              <a:t>: </a:t>
            </a:r>
            <a:r>
              <a:rPr kumimoji="1" lang="en" altLang="zh-TW" sz="2000" dirty="0" err="1"/>
              <a:t>Mikolov</a:t>
            </a:r>
            <a:r>
              <a:rPr kumimoji="1" lang="en" altLang="zh-TW" sz="2000" dirty="0"/>
              <a:t> et al., 2013</a:t>
            </a:r>
            <a:endParaRPr kumimoji="1" lang="zh-TW" altLang="en-US" sz="2000" dirty="0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1778C95-37F2-B28D-A2C8-77A90C6E23DE}"/>
              </a:ext>
            </a:extLst>
          </p:cNvPr>
          <p:cNvSpPr/>
          <p:nvPr/>
        </p:nvSpPr>
        <p:spPr>
          <a:xfrm>
            <a:off x="1329179" y="2658359"/>
            <a:ext cx="933254" cy="8955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DCDC302-2CFE-CC16-3AD9-85A53F6AE5AD}"/>
              </a:ext>
            </a:extLst>
          </p:cNvPr>
          <p:cNvSpPr/>
          <p:nvPr/>
        </p:nvSpPr>
        <p:spPr>
          <a:xfrm>
            <a:off x="4922363" y="5702576"/>
            <a:ext cx="771427" cy="6322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55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49B63-0906-DE2C-E515-EF94ED0E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Problems of Traditional Word 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9DF7CD-1D2D-F050-E45E-3726DA23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A89050E-0E96-AC1A-58EA-8669609823A5}"/>
              </a:ext>
            </a:extLst>
          </p:cNvPr>
          <p:cNvSpPr txBox="1"/>
          <p:nvPr/>
        </p:nvSpPr>
        <p:spPr>
          <a:xfrm>
            <a:off x="653143" y="1781790"/>
            <a:ext cx="7802713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zh-TW" sz="2800" dirty="0"/>
              <a:t>Out-of-vocabulary problem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zh-TW" sz="2800" dirty="0"/>
              <a:t>Model architecture for down-stream applications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800" dirty="0"/>
              <a:t>Context-dependent representations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78341E-0E0B-52E4-A6CA-5632A853D7B1}"/>
              </a:ext>
            </a:extLst>
          </p:cNvPr>
          <p:cNvSpPr/>
          <p:nvPr/>
        </p:nvSpPr>
        <p:spPr>
          <a:xfrm>
            <a:off x="653143" y="1890891"/>
            <a:ext cx="4949004" cy="58118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3638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81FC58-1A9A-2F23-B4A2-E754046AB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Out-of-vocabulary Problem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FC44E7-8C89-FA6C-F0BF-EFFB3ED9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A20B6B4-1807-8389-A5CB-27BC507D5588}"/>
              </a:ext>
            </a:extLst>
          </p:cNvPr>
          <p:cNvSpPr txBox="1"/>
          <p:nvPr/>
        </p:nvSpPr>
        <p:spPr>
          <a:xfrm>
            <a:off x="625850" y="1540320"/>
            <a:ext cx="10833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Before training word embeddings, words are split by whitespaces for English corpora</a:t>
            </a:r>
            <a:endParaRPr kumimoji="1" lang="zh-TW" altLang="en-US" sz="24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B9C255-B770-37F7-5B24-CE4C1D4FE58A}"/>
              </a:ext>
            </a:extLst>
          </p:cNvPr>
          <p:cNvSpPr/>
          <p:nvPr/>
        </p:nvSpPr>
        <p:spPr>
          <a:xfrm>
            <a:off x="1727859" y="4326125"/>
            <a:ext cx="1726164" cy="96105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Word2vec</a:t>
            </a:r>
            <a:endParaRPr kumimoji="1" lang="en-US" altLang="zh-TW" sz="2000" b="1" baseline="300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(Embeddings)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284DBC9F-433F-A710-EE84-D367D3DD0E2E}"/>
              </a:ext>
            </a:extLst>
          </p:cNvPr>
          <p:cNvSpPr/>
          <p:nvPr/>
        </p:nvSpPr>
        <p:spPr>
          <a:xfrm>
            <a:off x="5176417" y="3366079"/>
            <a:ext cx="919582" cy="36377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apple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41C09D1-9731-A0D1-F2BB-EEC4097F14EB}"/>
              </a:ext>
            </a:extLst>
          </p:cNvPr>
          <p:cNvSpPr/>
          <p:nvPr/>
        </p:nvSpPr>
        <p:spPr>
          <a:xfrm>
            <a:off x="5176417" y="4105061"/>
            <a:ext cx="919582" cy="36377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jobs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12DADA7B-298B-5DAA-8795-955442324918}"/>
              </a:ext>
            </a:extLst>
          </p:cNvPr>
          <p:cNvSpPr/>
          <p:nvPr/>
        </p:nvSpPr>
        <p:spPr>
          <a:xfrm>
            <a:off x="5176417" y="4844043"/>
            <a:ext cx="919582" cy="363770"/>
          </a:xfrm>
          <a:prstGeom prst="round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jobs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7692D72-1D27-9224-B208-C4B3C77C0881}"/>
              </a:ext>
            </a:extLst>
          </p:cNvPr>
          <p:cNvSpPr/>
          <p:nvPr/>
        </p:nvSpPr>
        <p:spPr>
          <a:xfrm>
            <a:off x="5176417" y="5583025"/>
            <a:ext cx="919582" cy="36377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QAQ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C6B5BFD-843A-1B43-43AB-EDEEDCBEA276}"/>
              </a:ext>
            </a:extLst>
          </p:cNvPr>
          <p:cNvSpPr txBox="1"/>
          <p:nvPr/>
        </p:nvSpPr>
        <p:spPr>
          <a:xfrm rot="5400000">
            <a:off x="5509517" y="3693693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AC02E95-5533-9A6D-5F0C-68AB2AE255C1}"/>
              </a:ext>
            </a:extLst>
          </p:cNvPr>
          <p:cNvSpPr txBox="1"/>
          <p:nvPr/>
        </p:nvSpPr>
        <p:spPr>
          <a:xfrm rot="5400000">
            <a:off x="5509516" y="4435710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2737C1C-0385-84BE-D589-83E36B494849}"/>
              </a:ext>
            </a:extLst>
          </p:cNvPr>
          <p:cNvSpPr txBox="1"/>
          <p:nvPr/>
        </p:nvSpPr>
        <p:spPr>
          <a:xfrm rot="5400000">
            <a:off x="5521597" y="5177727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9B92033-32D7-E517-756B-4FD27EB672AB}"/>
              </a:ext>
            </a:extLst>
          </p:cNvPr>
          <p:cNvSpPr txBox="1"/>
          <p:nvPr/>
        </p:nvSpPr>
        <p:spPr>
          <a:xfrm rot="5400000">
            <a:off x="5509515" y="5946795"/>
            <a:ext cx="46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1A4EA5E-06AF-ECF2-BBC9-1B39273A9C3E}"/>
              </a:ext>
            </a:extLst>
          </p:cNvPr>
          <p:cNvSpPr txBox="1"/>
          <p:nvPr/>
        </p:nvSpPr>
        <p:spPr>
          <a:xfrm>
            <a:off x="4070715" y="2553623"/>
            <a:ext cx="31309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solidFill>
                  <a:srgbClr val="00B050"/>
                </a:solidFill>
                <a:ea typeface="Microsoft JhengHei" panose="020B0604030504040204" pitchFamily="34" charset="-120"/>
              </a:rPr>
              <a:t>Vocabulary</a:t>
            </a:r>
          </a:p>
          <a:p>
            <a:pPr algn="ctr"/>
            <a:r>
              <a:rPr kumimoji="1" lang="en-US" altLang="zh-TW" sz="20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假設字典的內容由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a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排到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z)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A44BBB76-D806-0FCD-B49D-4F640006D916}"/>
              </a:ext>
            </a:extLst>
          </p:cNvPr>
          <p:cNvCxnSpPr>
            <a:cxnSpLocks/>
          </p:cNvCxnSpPr>
          <p:nvPr/>
        </p:nvCxnSpPr>
        <p:spPr>
          <a:xfrm>
            <a:off x="3735092" y="5207813"/>
            <a:ext cx="1224366" cy="969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58E50CE3-802A-3F8A-C777-2EAC37B7908B}"/>
              </a:ext>
            </a:extLst>
          </p:cNvPr>
          <p:cNvCxnSpPr>
            <a:cxnSpLocks/>
          </p:cNvCxnSpPr>
          <p:nvPr/>
        </p:nvCxnSpPr>
        <p:spPr>
          <a:xfrm flipV="1">
            <a:off x="3735092" y="3462865"/>
            <a:ext cx="1224366" cy="9698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575E7BF6-01DE-4112-6CAE-71F1265CBB88}"/>
              </a:ext>
            </a:extLst>
          </p:cNvPr>
          <p:cNvSpPr/>
          <p:nvPr/>
        </p:nvSpPr>
        <p:spPr>
          <a:xfrm>
            <a:off x="6260824" y="3443620"/>
            <a:ext cx="321243" cy="2086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向右箭號 23">
            <a:extLst>
              <a:ext uri="{FF2B5EF4-FFF2-40B4-BE49-F238E27FC236}">
                <a16:creationId xmlns:a16="http://schemas.microsoft.com/office/drawing/2014/main" id="{9AFA1F4A-E587-B7AB-7B03-940B0592EFBF}"/>
              </a:ext>
            </a:extLst>
          </p:cNvPr>
          <p:cNvSpPr/>
          <p:nvPr/>
        </p:nvSpPr>
        <p:spPr>
          <a:xfrm>
            <a:off x="6260824" y="4182602"/>
            <a:ext cx="321243" cy="2086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向右箭號 24">
            <a:extLst>
              <a:ext uri="{FF2B5EF4-FFF2-40B4-BE49-F238E27FC236}">
                <a16:creationId xmlns:a16="http://schemas.microsoft.com/office/drawing/2014/main" id="{26F72D0A-858C-5CDA-25B2-42007FAAF541}"/>
              </a:ext>
            </a:extLst>
          </p:cNvPr>
          <p:cNvSpPr/>
          <p:nvPr/>
        </p:nvSpPr>
        <p:spPr>
          <a:xfrm>
            <a:off x="6260823" y="4921584"/>
            <a:ext cx="321243" cy="2086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向右箭號 25">
            <a:extLst>
              <a:ext uri="{FF2B5EF4-FFF2-40B4-BE49-F238E27FC236}">
                <a16:creationId xmlns:a16="http://schemas.microsoft.com/office/drawing/2014/main" id="{B435D536-DB4E-EA37-C216-6499E5D13156}"/>
              </a:ext>
            </a:extLst>
          </p:cNvPr>
          <p:cNvSpPr/>
          <p:nvPr/>
        </p:nvSpPr>
        <p:spPr>
          <a:xfrm>
            <a:off x="6260822" y="5660566"/>
            <a:ext cx="321243" cy="2086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68382EC7-A705-0C7B-8BC3-52361501A4A3}"/>
              </a:ext>
            </a:extLst>
          </p:cNvPr>
          <p:cNvSpPr/>
          <p:nvPr/>
        </p:nvSpPr>
        <p:spPr>
          <a:xfrm>
            <a:off x="6746891" y="3353613"/>
            <a:ext cx="2651751" cy="3637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300-dimensional vector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圓角矩形 27">
            <a:extLst>
              <a:ext uri="{FF2B5EF4-FFF2-40B4-BE49-F238E27FC236}">
                <a16:creationId xmlns:a16="http://schemas.microsoft.com/office/drawing/2014/main" id="{6FDD4D4B-BF2A-28D5-D8B2-A01CB6474B64}"/>
              </a:ext>
            </a:extLst>
          </p:cNvPr>
          <p:cNvSpPr/>
          <p:nvPr/>
        </p:nvSpPr>
        <p:spPr>
          <a:xfrm>
            <a:off x="6746891" y="4105060"/>
            <a:ext cx="2651751" cy="3637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300-dimensional vector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99600499-FBA6-18FF-2567-D11C6C4E1D13}"/>
              </a:ext>
            </a:extLst>
          </p:cNvPr>
          <p:cNvSpPr/>
          <p:nvPr/>
        </p:nvSpPr>
        <p:spPr>
          <a:xfrm>
            <a:off x="6746891" y="4844043"/>
            <a:ext cx="2651751" cy="3637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300-dimensional vector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5ED99B27-CD5A-F06A-B59E-833EE54018CB}"/>
              </a:ext>
            </a:extLst>
          </p:cNvPr>
          <p:cNvSpPr txBox="1"/>
          <p:nvPr/>
        </p:nvSpPr>
        <p:spPr>
          <a:xfrm>
            <a:off x="7708162" y="5534076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4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?</a:t>
            </a:r>
            <a:endParaRPr kumimoji="1" lang="zh-TW" altLang="en-US" sz="24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01A8149-7937-CCD9-AB39-AB10E190FEC3}"/>
              </a:ext>
            </a:extLst>
          </p:cNvPr>
          <p:cNvSpPr txBox="1"/>
          <p:nvPr/>
        </p:nvSpPr>
        <p:spPr>
          <a:xfrm>
            <a:off x="6421443" y="6030149"/>
            <a:ext cx="45410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如果字沒有出現在字典中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可能此字不存在於訓練資料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，那它就不會有對應的字向量</a:t>
            </a:r>
          </a:p>
        </p:txBody>
      </p:sp>
    </p:spTree>
    <p:extLst>
      <p:ext uri="{BB962C8B-B14F-4D97-AF65-F5344CB8AC3E}">
        <p14:creationId xmlns:p14="http://schemas.microsoft.com/office/powerpoint/2010/main" val="2137922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1AA1CE-18BD-6635-2E86-68D65748D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Sub-word Tokenization (Byte Pair Encoding)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670761-F1E7-79DA-FBA6-851D25099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A554D8D-FB25-AA01-0E70-51169D138089}"/>
              </a:ext>
            </a:extLst>
          </p:cNvPr>
          <p:cNvSpPr txBox="1"/>
          <p:nvPr/>
        </p:nvSpPr>
        <p:spPr>
          <a:xfrm>
            <a:off x="653143" y="1670486"/>
            <a:ext cx="10482389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/>
              <a:t>Byte Pair Encoding (BPE)</a:t>
            </a:r>
            <a:r>
              <a:rPr kumimoji="1" lang="en" altLang="zh-TW" sz="2000" baseline="30000" dirty="0"/>
              <a:t>[</a:t>
            </a:r>
            <a:r>
              <a:rPr kumimoji="1" lang="en-US" altLang="zh-TW" sz="2000" baseline="30000" dirty="0"/>
              <a:t>3</a:t>
            </a:r>
            <a:r>
              <a:rPr kumimoji="1" lang="en" altLang="zh-TW" sz="2000" baseline="30000" dirty="0"/>
              <a:t>] </a:t>
            </a:r>
            <a:r>
              <a:rPr kumimoji="1" lang="en" altLang="zh-TW" sz="2000" dirty="0"/>
              <a:t>is a </a:t>
            </a:r>
            <a:r>
              <a:rPr kumimoji="1" lang="en" altLang="zh-TW" sz="2000" dirty="0">
                <a:solidFill>
                  <a:srgbClr val="FF0000"/>
                </a:solidFill>
              </a:rPr>
              <a:t>sub-word </a:t>
            </a:r>
            <a:r>
              <a:rPr kumimoji="1" lang="en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子詞</a:t>
            </a:r>
            <a:r>
              <a:rPr kumimoji="1" lang="en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r>
              <a:rPr kumimoji="1" lang="en" altLang="zh-TW" sz="2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" altLang="zh-TW" sz="2000" dirty="0"/>
              <a:t>tokenization technique used to handle rare words by breaking them into more frequent sub-word units.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2FCBC4-E604-B1C4-E759-639447BFD646}"/>
              </a:ext>
            </a:extLst>
          </p:cNvPr>
          <p:cNvSpPr txBox="1"/>
          <p:nvPr/>
        </p:nvSpPr>
        <p:spPr>
          <a:xfrm>
            <a:off x="2070353" y="6314135"/>
            <a:ext cx="8051293" cy="375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" altLang="zh-TW" sz="1400" dirty="0"/>
              <a:t>[3] </a:t>
            </a:r>
            <a:r>
              <a:rPr kumimoji="1" lang="en" altLang="zh-TW" sz="1400" dirty="0" err="1"/>
              <a:t>Sennrich</a:t>
            </a:r>
            <a:r>
              <a:rPr kumimoji="1" lang="en" altLang="zh-TW" sz="1400" dirty="0"/>
              <a:t> et al. "Neural Machine Translation of Rare Words with </a:t>
            </a:r>
            <a:r>
              <a:rPr kumimoji="1" lang="en" altLang="zh-TW" sz="1400" dirty="0" err="1"/>
              <a:t>Subword</a:t>
            </a:r>
            <a:r>
              <a:rPr kumimoji="1" lang="en" altLang="zh-TW" sz="1400" dirty="0"/>
              <a:t> Units." ACL 2016.</a:t>
            </a: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D2EC4B6D-7B83-282B-7725-6BE8431BCF9A}"/>
              </a:ext>
            </a:extLst>
          </p:cNvPr>
          <p:cNvSpPr/>
          <p:nvPr/>
        </p:nvSpPr>
        <p:spPr>
          <a:xfrm>
            <a:off x="3142344" y="3048045"/>
            <a:ext cx="2757714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I printed Hello world.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FC0D77-DB1E-2C6E-2AE6-E1E1F48B68DC}"/>
              </a:ext>
            </a:extLst>
          </p:cNvPr>
          <p:cNvSpPr txBox="1"/>
          <p:nvPr/>
        </p:nvSpPr>
        <p:spPr>
          <a:xfrm>
            <a:off x="993220" y="3048045"/>
            <a:ext cx="2154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Example sentence:</a:t>
            </a:r>
            <a:endParaRPr kumimoji="1" lang="zh-TW" altLang="en-US" dirty="0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0710F3F-B1AE-257D-1DEA-E08893562789}"/>
              </a:ext>
            </a:extLst>
          </p:cNvPr>
          <p:cNvSpPr/>
          <p:nvPr/>
        </p:nvSpPr>
        <p:spPr>
          <a:xfrm>
            <a:off x="4162691" y="4682386"/>
            <a:ext cx="884809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world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C63E7CE-5CE2-6B47-AD58-F6605979478D}"/>
              </a:ext>
            </a:extLst>
          </p:cNvPr>
          <p:cNvSpPr/>
          <p:nvPr/>
        </p:nvSpPr>
        <p:spPr>
          <a:xfrm>
            <a:off x="3096891" y="4682386"/>
            <a:ext cx="985301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Hello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6BCE6B6-8832-851A-910E-B58047501D38}"/>
              </a:ext>
            </a:extLst>
          </p:cNvPr>
          <p:cNvSpPr/>
          <p:nvPr/>
        </p:nvSpPr>
        <p:spPr>
          <a:xfrm>
            <a:off x="2031093" y="4682386"/>
            <a:ext cx="985301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printed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8E1AE060-6BEE-CAEC-8FA2-8AD7A62E5C7A}"/>
              </a:ext>
            </a:extLst>
          </p:cNvPr>
          <p:cNvSpPr/>
          <p:nvPr/>
        </p:nvSpPr>
        <p:spPr>
          <a:xfrm>
            <a:off x="9868875" y="4676031"/>
            <a:ext cx="861974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world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79A6B9FE-E44F-B2A4-3AA3-1CBE4ADA6F5D}"/>
              </a:ext>
            </a:extLst>
          </p:cNvPr>
          <p:cNvSpPr/>
          <p:nvPr/>
        </p:nvSpPr>
        <p:spPr>
          <a:xfrm>
            <a:off x="8669567" y="4676031"/>
            <a:ext cx="662185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Hell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F8EB5C4-4912-2D3F-9BFB-2F123F9B5CCD}"/>
              </a:ext>
            </a:extLst>
          </p:cNvPr>
          <p:cNvSpPr/>
          <p:nvPr/>
        </p:nvSpPr>
        <p:spPr>
          <a:xfrm>
            <a:off x="7963673" y="4680268"/>
            <a:ext cx="62452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ted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51B96950-B278-35E0-CA4D-18232BE48534}"/>
              </a:ext>
            </a:extLst>
          </p:cNvPr>
          <p:cNvSpPr/>
          <p:nvPr/>
        </p:nvSpPr>
        <p:spPr>
          <a:xfrm>
            <a:off x="6739641" y="4680268"/>
            <a:ext cx="3992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9BA264D6-7F1A-A3A0-2B39-D0245484EA97}"/>
              </a:ext>
            </a:extLst>
          </p:cNvPr>
          <p:cNvSpPr/>
          <p:nvPr/>
        </p:nvSpPr>
        <p:spPr>
          <a:xfrm>
            <a:off x="9412941" y="4676031"/>
            <a:ext cx="374745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5DD43A7C-5E38-9488-C06B-698D5B042CD9}"/>
              </a:ext>
            </a:extLst>
          </p:cNvPr>
          <p:cNvSpPr/>
          <p:nvPr/>
        </p:nvSpPr>
        <p:spPr>
          <a:xfrm>
            <a:off x="7250685" y="4681548"/>
            <a:ext cx="646828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 err="1">
                <a:solidFill>
                  <a:schemeClr val="tx1"/>
                </a:solidFill>
              </a:rPr>
              <a:t>prin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9436F22A-ADDF-4161-7721-936183CCC16C}"/>
              </a:ext>
            </a:extLst>
          </p:cNvPr>
          <p:cNvSpPr/>
          <p:nvPr/>
        </p:nvSpPr>
        <p:spPr>
          <a:xfrm>
            <a:off x="1520049" y="4678149"/>
            <a:ext cx="399292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I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7C8BBBC-64A7-4B83-FC8F-B0C0B14BCD9E}"/>
              </a:ext>
            </a:extLst>
          </p:cNvPr>
          <p:cNvSpPr txBox="1"/>
          <p:nvPr/>
        </p:nvSpPr>
        <p:spPr>
          <a:xfrm>
            <a:off x="1590487" y="3998700"/>
            <a:ext cx="3317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ea typeface="Microsoft JhengHei" panose="020B0604030504040204" pitchFamily="34" charset="-120"/>
              </a:rPr>
              <a:t>Traditional word tokenization</a:t>
            </a:r>
            <a:endParaRPr kumimoji="1" lang="zh-TW" altLang="en-US" sz="2000" dirty="0">
              <a:ea typeface="Microsoft JhengHei" panose="020B0604030504040204" pitchFamily="34" charset="-12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5409F1C-6D2A-E17A-45EB-EC77C99C2083}"/>
              </a:ext>
            </a:extLst>
          </p:cNvPr>
          <p:cNvSpPr txBox="1"/>
          <p:nvPr/>
        </p:nvSpPr>
        <p:spPr>
          <a:xfrm>
            <a:off x="7506203" y="3998700"/>
            <a:ext cx="23267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TW" sz="2000" b="1" dirty="0">
                <a:ea typeface="Microsoft JhengHei" panose="020B0604030504040204" pitchFamily="34" charset="-120"/>
              </a:rPr>
              <a:t>Traditional with </a:t>
            </a:r>
            <a:r>
              <a:rPr kumimoji="1" lang="en-US" altLang="zh-TW" sz="2000" b="1" dirty="0">
                <a:solidFill>
                  <a:srgbClr val="FF0000"/>
                </a:solidFill>
                <a:ea typeface="Microsoft JhengHei" panose="020B0604030504040204" pitchFamily="34" charset="-120"/>
              </a:rPr>
              <a:t>BPE</a:t>
            </a:r>
            <a:endParaRPr kumimoji="1" lang="zh-TW" altLang="en-US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A278060-DCAC-192E-30B5-649EF4EB1435}"/>
              </a:ext>
            </a:extLst>
          </p:cNvPr>
          <p:cNvSpPr txBox="1"/>
          <p:nvPr/>
        </p:nvSpPr>
        <p:spPr>
          <a:xfrm>
            <a:off x="6910110" y="5391907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分詞方法的決定是無監督式的</a:t>
            </a:r>
            <a:endParaRPr kumimoji="1" lang="en-US" altLang="zh-TW" sz="20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8598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EA340D-7879-2C4E-E64B-AD023FA2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Sub-word Tokenization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的好處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A9576F-3831-E461-28EF-99CFA216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76C2B30-C9DA-6EEB-E4B9-E895FB034CF6}"/>
              </a:ext>
            </a:extLst>
          </p:cNvPr>
          <p:cNvSpPr txBox="1"/>
          <p:nvPr/>
        </p:nvSpPr>
        <p:spPr>
          <a:xfrm>
            <a:off x="653143" y="1670486"/>
            <a:ext cx="10482389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With sub-word tokenization algorithms like BPE, we can handle representations for </a:t>
            </a:r>
            <a:r>
              <a:rPr kumimoji="1" lang="en" altLang="zh-TW" sz="2400" dirty="0">
                <a:solidFill>
                  <a:srgbClr val="FF0000"/>
                </a:solidFill>
              </a:rPr>
              <a:t>unknown words </a:t>
            </a:r>
            <a:r>
              <a:rPr kumimoji="1" lang="en" altLang="zh-TW" sz="2400" dirty="0"/>
              <a:t>(or </a:t>
            </a:r>
            <a:r>
              <a:rPr kumimoji="1" lang="en" altLang="zh-TW" sz="2400" dirty="0">
                <a:solidFill>
                  <a:srgbClr val="FF0000"/>
                </a:solidFill>
              </a:rPr>
              <a:t>mis-spelled</a:t>
            </a:r>
            <a:r>
              <a:rPr kumimoji="1" lang="en" altLang="zh-TW" sz="2400" dirty="0"/>
              <a:t> words).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In machine translation , the compound word issues between source and target languages can be alleviated.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/>
              <a:t>State-of-the-art pre-trained language models (e.g., GPT-3, BERT) adopt sub-word tokenization algorithms before pre-training.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265516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649B63-0906-DE2C-E515-EF94ED0E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Problems of Traditional Word Embeddings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9DF7CD-1D2D-F050-E45E-3726DA23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A89050E-0E96-AC1A-58EA-8669609823A5}"/>
              </a:ext>
            </a:extLst>
          </p:cNvPr>
          <p:cNvSpPr txBox="1"/>
          <p:nvPr/>
        </p:nvSpPr>
        <p:spPr>
          <a:xfrm>
            <a:off x="653143" y="1781790"/>
            <a:ext cx="7802713" cy="1964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zh-TW" sz="2800" dirty="0"/>
              <a:t>Out-of-vocabulary problem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kumimoji="1" lang="en" altLang="zh-TW" sz="2800" dirty="0"/>
              <a:t>Model architecture for down-stream applications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800" dirty="0"/>
              <a:t>Context-dependent representations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78341E-0E0B-52E4-A6CA-5632A853D7B1}"/>
              </a:ext>
            </a:extLst>
          </p:cNvPr>
          <p:cNvSpPr/>
          <p:nvPr/>
        </p:nvSpPr>
        <p:spPr>
          <a:xfrm>
            <a:off x="653142" y="2572718"/>
            <a:ext cx="8317237" cy="11735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7008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2133897" y="2727701"/>
            <a:ext cx="2557219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Pre-training</a:t>
            </a:r>
            <a:endParaRPr kumimoji="1" lang="zh-TW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6956157" y="2727702"/>
            <a:ext cx="2557219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800" b="1" dirty="0">
                <a:solidFill>
                  <a:schemeClr val="tx1"/>
                </a:solidFill>
              </a:rPr>
              <a:t>Fine-tuning</a:t>
            </a:r>
            <a:endParaRPr kumimoji="1" lang="zh-TW" altLang="en-US" sz="2800" dirty="0"/>
          </a:p>
        </p:txBody>
      </p:sp>
      <p:cxnSp>
        <p:nvCxnSpPr>
          <p:cNvPr id="7" name="Google Shape;195;p17">
            <a:extLst>
              <a:ext uri="{FF2B5EF4-FFF2-40B4-BE49-F238E27FC236}">
                <a16:creationId xmlns:a16="http://schemas.microsoft.com/office/drawing/2014/main" id="{A42C9718-A3A1-C827-6BE8-93B311EC9440}"/>
              </a:ext>
            </a:extLst>
          </p:cNvPr>
          <p:cNvCxnSpPr>
            <a:cxnSpLocks/>
          </p:cNvCxnSpPr>
          <p:nvPr/>
        </p:nvCxnSpPr>
        <p:spPr>
          <a:xfrm>
            <a:off x="5176731" y="3399151"/>
            <a:ext cx="1293811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724D3D-D6A7-9A27-68C2-CCD45EB287C3}"/>
              </a:ext>
            </a:extLst>
          </p:cNvPr>
          <p:cNvSpPr txBox="1"/>
          <p:nvPr/>
        </p:nvSpPr>
        <p:spPr>
          <a:xfrm>
            <a:off x="1622452" y="4533254"/>
            <a:ext cx="358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大量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資料上進行訓練，通常是自監督式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(Self-Supervised Training)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AFA3B6E-1EDC-9352-30A0-71896FB0BC66}"/>
              </a:ext>
            </a:extLst>
          </p:cNvPr>
          <p:cNvSpPr txBox="1"/>
          <p:nvPr/>
        </p:nvSpPr>
        <p:spPr>
          <a:xfrm>
            <a:off x="6444712" y="4533254"/>
            <a:ext cx="3580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TW" altLang="en-US" dirty="0">
                <a:ea typeface="Microsoft JhengHei" panose="020B0604030504040204" pitchFamily="34" charset="-120"/>
              </a:rPr>
              <a:t>在</a:t>
            </a:r>
            <a:r>
              <a:rPr kumimoji="1" lang="zh-TW" altLang="en-US" dirty="0">
                <a:solidFill>
                  <a:srgbClr val="FF0000"/>
                </a:solidFill>
                <a:ea typeface="Microsoft JhengHei" panose="020B0604030504040204" pitchFamily="34" charset="-120"/>
              </a:rPr>
              <a:t>目標</a:t>
            </a:r>
            <a:r>
              <a:rPr kumimoji="1" lang="zh-TW" altLang="en-US" dirty="0">
                <a:ea typeface="Microsoft JhengHei" panose="020B0604030504040204" pitchFamily="34" charset="-120"/>
              </a:rPr>
              <a:t>資料上進行訓練，通常是監督式 </a:t>
            </a:r>
            <a:r>
              <a:rPr kumimoji="1" lang="en-US" altLang="zh-TW" dirty="0">
                <a:ea typeface="Microsoft JhengHei" panose="020B0604030504040204" pitchFamily="34" charset="-120"/>
              </a:rPr>
              <a:t>(Supervised Training)</a:t>
            </a:r>
            <a:r>
              <a:rPr kumimoji="1" lang="zh-TW" altLang="en-US" dirty="0">
                <a:ea typeface="Microsoft JhengHei" panose="020B0604030504040204" pitchFamily="34" charset="-120"/>
              </a:rPr>
              <a:t>，也就是需要有標註的資料才能進行模型訓練</a:t>
            </a:r>
          </a:p>
        </p:txBody>
      </p:sp>
    </p:spTree>
    <p:extLst>
      <p:ext uri="{BB962C8B-B14F-4D97-AF65-F5344CB8AC3E}">
        <p14:creationId xmlns:p14="http://schemas.microsoft.com/office/powerpoint/2010/main" val="3023047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851DBE-E0E1-CB64-9282-1E044CF5B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Contextual Word Representations (RNN)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40DE9D-27FC-1F06-AD50-F50C52D7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29</a:t>
            </a:fld>
            <a:endParaRPr kumimoji="1" lang="zh-TW" altLang="en-US" dirty="0"/>
          </a:p>
        </p:txBody>
      </p:sp>
      <p:sp>
        <p:nvSpPr>
          <p:cNvPr id="5" name="Google Shape;187;p17">
            <a:extLst>
              <a:ext uri="{FF2B5EF4-FFF2-40B4-BE49-F238E27FC236}">
                <a16:creationId xmlns:a16="http://schemas.microsoft.com/office/drawing/2014/main" id="{AC30003C-A872-2541-38F2-D99495BC6AC0}"/>
              </a:ext>
            </a:extLst>
          </p:cNvPr>
          <p:cNvSpPr/>
          <p:nvPr/>
        </p:nvSpPr>
        <p:spPr>
          <a:xfrm>
            <a:off x="1718416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Google Shape;193;p17">
            <a:extLst>
              <a:ext uri="{FF2B5EF4-FFF2-40B4-BE49-F238E27FC236}">
                <a16:creationId xmlns:a16="http://schemas.microsoft.com/office/drawing/2014/main" id="{EFEB3EB0-1C93-C495-F927-FBD7B3EA9A20}"/>
              </a:ext>
            </a:extLst>
          </p:cNvPr>
          <p:cNvCxnSpPr>
            <a:cxnSpLocks/>
          </p:cNvCxnSpPr>
          <p:nvPr/>
        </p:nvCxnSpPr>
        <p:spPr>
          <a:xfrm rot="10800000">
            <a:off x="286343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194;p17">
            <a:extLst>
              <a:ext uri="{FF2B5EF4-FFF2-40B4-BE49-F238E27FC236}">
                <a16:creationId xmlns:a16="http://schemas.microsoft.com/office/drawing/2014/main" id="{0E6C7A46-7BF8-5341-C2D7-830E5B38A622}"/>
              </a:ext>
            </a:extLst>
          </p:cNvPr>
          <p:cNvCxnSpPr>
            <a:cxnSpLocks/>
          </p:cNvCxnSpPr>
          <p:nvPr/>
        </p:nvCxnSpPr>
        <p:spPr>
          <a:xfrm rot="10800000">
            <a:off x="3979886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95;p17">
            <a:extLst>
              <a:ext uri="{FF2B5EF4-FFF2-40B4-BE49-F238E27FC236}">
                <a16:creationId xmlns:a16="http://schemas.microsoft.com/office/drawing/2014/main" id="{4FB44663-3152-D330-DF40-EFA78B592F94}"/>
              </a:ext>
            </a:extLst>
          </p:cNvPr>
          <p:cNvCxnSpPr>
            <a:cxnSpLocks/>
          </p:cNvCxnSpPr>
          <p:nvPr/>
        </p:nvCxnSpPr>
        <p:spPr>
          <a:xfrm rot="10800000">
            <a:off x="505761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195;p17">
            <a:extLst>
              <a:ext uri="{FF2B5EF4-FFF2-40B4-BE49-F238E27FC236}">
                <a16:creationId xmlns:a16="http://schemas.microsoft.com/office/drawing/2014/main" id="{6E3B520F-AE0C-B7F0-1B1C-235F37190227}"/>
              </a:ext>
            </a:extLst>
          </p:cNvPr>
          <p:cNvCxnSpPr>
            <a:cxnSpLocks/>
          </p:cNvCxnSpPr>
          <p:nvPr/>
        </p:nvCxnSpPr>
        <p:spPr>
          <a:xfrm rot="10800000">
            <a:off x="1805568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193;p17">
            <a:extLst>
              <a:ext uri="{FF2B5EF4-FFF2-40B4-BE49-F238E27FC236}">
                <a16:creationId xmlns:a16="http://schemas.microsoft.com/office/drawing/2014/main" id="{52498966-AEBD-CC5F-CAE1-61EB7228EF62}"/>
              </a:ext>
            </a:extLst>
          </p:cNvPr>
          <p:cNvCxnSpPr>
            <a:cxnSpLocks/>
          </p:cNvCxnSpPr>
          <p:nvPr/>
        </p:nvCxnSpPr>
        <p:spPr>
          <a:xfrm rot="10800000">
            <a:off x="286343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94;p17">
            <a:extLst>
              <a:ext uri="{FF2B5EF4-FFF2-40B4-BE49-F238E27FC236}">
                <a16:creationId xmlns:a16="http://schemas.microsoft.com/office/drawing/2014/main" id="{5B12045E-BCEB-A305-2E91-2A8700EA4829}"/>
              </a:ext>
            </a:extLst>
          </p:cNvPr>
          <p:cNvCxnSpPr>
            <a:cxnSpLocks/>
          </p:cNvCxnSpPr>
          <p:nvPr/>
        </p:nvCxnSpPr>
        <p:spPr>
          <a:xfrm rot="10800000">
            <a:off x="397359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AC166304-C588-02B0-6F63-BFA41ABBCF73}"/>
              </a:ext>
            </a:extLst>
          </p:cNvPr>
          <p:cNvCxnSpPr>
            <a:cxnSpLocks/>
          </p:cNvCxnSpPr>
          <p:nvPr/>
        </p:nvCxnSpPr>
        <p:spPr>
          <a:xfrm rot="10800000">
            <a:off x="505761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56718BE7-6FF6-0955-B13D-31254E535D39}"/>
              </a:ext>
            </a:extLst>
          </p:cNvPr>
          <p:cNvCxnSpPr>
            <a:cxnSpLocks/>
          </p:cNvCxnSpPr>
          <p:nvPr/>
        </p:nvCxnSpPr>
        <p:spPr>
          <a:xfrm rot="10800000">
            <a:off x="180556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87;p17">
            <a:extLst>
              <a:ext uri="{FF2B5EF4-FFF2-40B4-BE49-F238E27FC236}">
                <a16:creationId xmlns:a16="http://schemas.microsoft.com/office/drawing/2014/main" id="{484822E3-850F-0559-D3B5-BA5BEE902034}"/>
              </a:ext>
            </a:extLst>
          </p:cNvPr>
          <p:cNvSpPr/>
          <p:nvPr/>
        </p:nvSpPr>
        <p:spPr>
          <a:xfrm>
            <a:off x="2776282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87;p17">
            <a:extLst>
              <a:ext uri="{FF2B5EF4-FFF2-40B4-BE49-F238E27FC236}">
                <a16:creationId xmlns:a16="http://schemas.microsoft.com/office/drawing/2014/main" id="{AD00F4FA-686E-E4E5-8AEA-1E288E8CD415}"/>
              </a:ext>
            </a:extLst>
          </p:cNvPr>
          <p:cNvSpPr/>
          <p:nvPr/>
        </p:nvSpPr>
        <p:spPr>
          <a:xfrm>
            <a:off x="3886080" y="3701520"/>
            <a:ext cx="174300" cy="524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E9859D7-4297-7114-78A3-6D86E22AD23F}"/>
              </a:ext>
            </a:extLst>
          </p:cNvPr>
          <p:cNvSpPr txBox="1"/>
          <p:nvPr/>
        </p:nvSpPr>
        <p:spPr>
          <a:xfrm>
            <a:off x="1496635" y="5588750"/>
            <a:ext cx="617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open</a:t>
            </a:r>
            <a:endParaRPr kumimoji="1" lang="zh-TW" altLang="en-US" sz="16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43BA772-6A06-DB3E-7C62-D7D756E3BD0B}"/>
              </a:ext>
            </a:extLst>
          </p:cNvPr>
          <p:cNvSpPr txBox="1"/>
          <p:nvPr/>
        </p:nvSpPr>
        <p:spPr>
          <a:xfrm>
            <a:off x="2554501" y="5588750"/>
            <a:ext cx="617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a</a:t>
            </a:r>
            <a:endParaRPr kumimoji="1" lang="zh-TW" altLang="en-US" sz="16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0682A93-BEF6-E79F-FF55-60199E0F2D88}"/>
              </a:ext>
            </a:extLst>
          </p:cNvPr>
          <p:cNvSpPr txBox="1"/>
          <p:nvPr/>
        </p:nvSpPr>
        <p:spPr>
          <a:xfrm>
            <a:off x="3612367" y="5588750"/>
            <a:ext cx="736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bank</a:t>
            </a:r>
            <a:endParaRPr kumimoji="1" lang="zh-TW" altLang="en-US" sz="16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0DC5CA4-5B3F-A3B3-C5D2-D5380EA5B490}"/>
              </a:ext>
            </a:extLst>
          </p:cNvPr>
          <p:cNvSpPr txBox="1"/>
          <p:nvPr/>
        </p:nvSpPr>
        <p:spPr>
          <a:xfrm>
            <a:off x="4619497" y="5588750"/>
            <a:ext cx="881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account</a:t>
            </a:r>
            <a:endParaRPr kumimoji="1" lang="zh-TW" altLang="en-US" sz="1600" dirty="0"/>
          </a:p>
        </p:txBody>
      </p:sp>
      <p:sp>
        <p:nvSpPr>
          <p:cNvPr id="25" name="Google Shape;204;p17">
            <a:extLst>
              <a:ext uri="{FF2B5EF4-FFF2-40B4-BE49-F238E27FC236}">
                <a16:creationId xmlns:a16="http://schemas.microsoft.com/office/drawing/2014/main" id="{95FD8C3B-2420-4F0A-D600-7CFA4CCCAA83}"/>
              </a:ext>
            </a:extLst>
          </p:cNvPr>
          <p:cNvSpPr/>
          <p:nvPr/>
        </p:nvSpPr>
        <p:spPr>
          <a:xfrm>
            <a:off x="1359769" y="4606374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Recurrent Neural Network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31CB706-FF29-548B-F3A1-E040223E44EC}"/>
              </a:ext>
            </a:extLst>
          </p:cNvPr>
          <p:cNvSpPr txBox="1"/>
          <p:nvPr/>
        </p:nvSpPr>
        <p:spPr>
          <a:xfrm>
            <a:off x="2109334" y="2171685"/>
            <a:ext cx="2609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open a </a:t>
            </a:r>
            <a:r>
              <a:rPr kumimoji="1" lang="en-US" altLang="zh-TW" sz="2000" dirty="0">
                <a:solidFill>
                  <a:srgbClr val="FF0000"/>
                </a:solidFill>
              </a:rPr>
              <a:t>bank</a:t>
            </a:r>
            <a:r>
              <a:rPr kumimoji="1" lang="en-US" altLang="zh-TW" sz="2000" dirty="0"/>
              <a:t> account</a:t>
            </a:r>
            <a:endParaRPr kumimoji="1" lang="zh-TW" altLang="en-US" sz="2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1626B2C-03EC-545B-C2B7-0049AEF0B805}"/>
              </a:ext>
            </a:extLst>
          </p:cNvPr>
          <p:cNvSpPr txBox="1"/>
          <p:nvPr/>
        </p:nvSpPr>
        <p:spPr>
          <a:xfrm>
            <a:off x="6987895" y="2171685"/>
            <a:ext cx="2388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on the river </a:t>
            </a:r>
            <a:r>
              <a:rPr kumimoji="1" lang="en-US" altLang="zh-TW" sz="2000" dirty="0">
                <a:solidFill>
                  <a:srgbClr val="FF0000"/>
                </a:solidFill>
              </a:rPr>
              <a:t>bank</a:t>
            </a:r>
            <a:endParaRPr kumimoji="1" lang="zh-TW" altLang="en-US" sz="2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81567CE-D128-0DF8-99D8-77E1962A0EEF}"/>
              </a:ext>
            </a:extLst>
          </p:cNvPr>
          <p:cNvSpPr txBox="1"/>
          <p:nvPr/>
        </p:nvSpPr>
        <p:spPr>
          <a:xfrm>
            <a:off x="4718564" y="2663450"/>
            <a:ext cx="23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the same word vector</a:t>
            </a:r>
            <a:endParaRPr kumimoji="1" lang="zh-TW" altLang="en-US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E48A33A4-A0F8-4A30-E3D7-0AAA1D371BEF}"/>
              </a:ext>
            </a:extLst>
          </p:cNvPr>
          <p:cNvCxnSpPr>
            <a:endCxn id="30" idx="2"/>
          </p:cNvCxnSpPr>
          <p:nvPr/>
        </p:nvCxnSpPr>
        <p:spPr>
          <a:xfrm flipH="1" flipV="1">
            <a:off x="3413949" y="2571795"/>
            <a:ext cx="1176905" cy="2680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A368A596-20BF-5610-08D4-9FF99FA70BB7}"/>
              </a:ext>
            </a:extLst>
          </p:cNvPr>
          <p:cNvCxnSpPr>
            <a:cxnSpLocks/>
          </p:cNvCxnSpPr>
          <p:nvPr/>
        </p:nvCxnSpPr>
        <p:spPr>
          <a:xfrm flipV="1">
            <a:off x="6987895" y="2541638"/>
            <a:ext cx="1835594" cy="3151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87;p17">
            <a:extLst>
              <a:ext uri="{FF2B5EF4-FFF2-40B4-BE49-F238E27FC236}">
                <a16:creationId xmlns:a16="http://schemas.microsoft.com/office/drawing/2014/main" id="{16D1C3FD-A2F9-3DA2-2435-F00F05D34B06}"/>
              </a:ext>
            </a:extLst>
          </p:cNvPr>
          <p:cNvSpPr/>
          <p:nvPr/>
        </p:nvSpPr>
        <p:spPr>
          <a:xfrm>
            <a:off x="6864136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89;p17">
            <a:extLst>
              <a:ext uri="{FF2B5EF4-FFF2-40B4-BE49-F238E27FC236}">
                <a16:creationId xmlns:a16="http://schemas.microsoft.com/office/drawing/2014/main" id="{E8BB0FAD-9A13-BC84-403C-E3ADFAE851E1}"/>
              </a:ext>
            </a:extLst>
          </p:cNvPr>
          <p:cNvSpPr/>
          <p:nvPr/>
        </p:nvSpPr>
        <p:spPr>
          <a:xfrm>
            <a:off x="10115633" y="3701520"/>
            <a:ext cx="174300" cy="524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193;p17">
            <a:extLst>
              <a:ext uri="{FF2B5EF4-FFF2-40B4-BE49-F238E27FC236}">
                <a16:creationId xmlns:a16="http://schemas.microsoft.com/office/drawing/2014/main" id="{0156B515-0988-2632-7EBB-89C49699242B}"/>
              </a:ext>
            </a:extLst>
          </p:cNvPr>
          <p:cNvCxnSpPr>
            <a:cxnSpLocks/>
          </p:cNvCxnSpPr>
          <p:nvPr/>
        </p:nvCxnSpPr>
        <p:spPr>
          <a:xfrm rot="10800000">
            <a:off x="800915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194;p17">
            <a:extLst>
              <a:ext uri="{FF2B5EF4-FFF2-40B4-BE49-F238E27FC236}">
                <a16:creationId xmlns:a16="http://schemas.microsoft.com/office/drawing/2014/main" id="{48A83194-0D5C-B791-24EC-BA5B02191B42}"/>
              </a:ext>
            </a:extLst>
          </p:cNvPr>
          <p:cNvCxnSpPr>
            <a:cxnSpLocks/>
          </p:cNvCxnSpPr>
          <p:nvPr/>
        </p:nvCxnSpPr>
        <p:spPr>
          <a:xfrm rot="10800000">
            <a:off x="9125606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195;p17">
            <a:extLst>
              <a:ext uri="{FF2B5EF4-FFF2-40B4-BE49-F238E27FC236}">
                <a16:creationId xmlns:a16="http://schemas.microsoft.com/office/drawing/2014/main" id="{1B04B251-659A-3AE9-188F-3E014C826192}"/>
              </a:ext>
            </a:extLst>
          </p:cNvPr>
          <p:cNvCxnSpPr>
            <a:cxnSpLocks/>
          </p:cNvCxnSpPr>
          <p:nvPr/>
        </p:nvCxnSpPr>
        <p:spPr>
          <a:xfrm rot="10800000">
            <a:off x="1020333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195;p17">
            <a:extLst>
              <a:ext uri="{FF2B5EF4-FFF2-40B4-BE49-F238E27FC236}">
                <a16:creationId xmlns:a16="http://schemas.microsoft.com/office/drawing/2014/main" id="{CD9A471E-9A70-5519-33F8-1A8ACF58898A}"/>
              </a:ext>
            </a:extLst>
          </p:cNvPr>
          <p:cNvCxnSpPr>
            <a:cxnSpLocks/>
          </p:cNvCxnSpPr>
          <p:nvPr/>
        </p:nvCxnSpPr>
        <p:spPr>
          <a:xfrm rot="10800000">
            <a:off x="6951288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" name="Google Shape;193;p17">
            <a:extLst>
              <a:ext uri="{FF2B5EF4-FFF2-40B4-BE49-F238E27FC236}">
                <a16:creationId xmlns:a16="http://schemas.microsoft.com/office/drawing/2014/main" id="{42004B3F-0BA9-189D-C230-1B79DC9FA5E2}"/>
              </a:ext>
            </a:extLst>
          </p:cNvPr>
          <p:cNvCxnSpPr>
            <a:cxnSpLocks/>
          </p:cNvCxnSpPr>
          <p:nvPr/>
        </p:nvCxnSpPr>
        <p:spPr>
          <a:xfrm rot="10800000">
            <a:off x="800915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194;p17">
            <a:extLst>
              <a:ext uri="{FF2B5EF4-FFF2-40B4-BE49-F238E27FC236}">
                <a16:creationId xmlns:a16="http://schemas.microsoft.com/office/drawing/2014/main" id="{C15386B3-0192-B5EE-C8F8-74CA07542B4A}"/>
              </a:ext>
            </a:extLst>
          </p:cNvPr>
          <p:cNvCxnSpPr>
            <a:cxnSpLocks/>
          </p:cNvCxnSpPr>
          <p:nvPr/>
        </p:nvCxnSpPr>
        <p:spPr>
          <a:xfrm rot="10800000">
            <a:off x="911931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195;p17">
            <a:extLst>
              <a:ext uri="{FF2B5EF4-FFF2-40B4-BE49-F238E27FC236}">
                <a16:creationId xmlns:a16="http://schemas.microsoft.com/office/drawing/2014/main" id="{9BBB9D2A-7120-F22E-E3B8-265C85B60366}"/>
              </a:ext>
            </a:extLst>
          </p:cNvPr>
          <p:cNvCxnSpPr>
            <a:cxnSpLocks/>
          </p:cNvCxnSpPr>
          <p:nvPr/>
        </p:nvCxnSpPr>
        <p:spPr>
          <a:xfrm rot="10800000">
            <a:off x="1020333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" name="Google Shape;195;p17">
            <a:extLst>
              <a:ext uri="{FF2B5EF4-FFF2-40B4-BE49-F238E27FC236}">
                <a16:creationId xmlns:a16="http://schemas.microsoft.com/office/drawing/2014/main" id="{C02D29BF-6441-A47E-D96E-982B57D6C6AF}"/>
              </a:ext>
            </a:extLst>
          </p:cNvPr>
          <p:cNvCxnSpPr>
            <a:cxnSpLocks/>
          </p:cNvCxnSpPr>
          <p:nvPr/>
        </p:nvCxnSpPr>
        <p:spPr>
          <a:xfrm rot="10800000">
            <a:off x="695128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Google Shape;187;p17">
            <a:extLst>
              <a:ext uri="{FF2B5EF4-FFF2-40B4-BE49-F238E27FC236}">
                <a16:creationId xmlns:a16="http://schemas.microsoft.com/office/drawing/2014/main" id="{8D1B1B58-B0B0-03B2-5B77-03A1D045144E}"/>
              </a:ext>
            </a:extLst>
          </p:cNvPr>
          <p:cNvSpPr/>
          <p:nvPr/>
        </p:nvSpPr>
        <p:spPr>
          <a:xfrm>
            <a:off x="7922002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35E7FF2-0495-765B-965A-16583D3D72B6}"/>
              </a:ext>
            </a:extLst>
          </p:cNvPr>
          <p:cNvSpPr txBox="1"/>
          <p:nvPr/>
        </p:nvSpPr>
        <p:spPr>
          <a:xfrm>
            <a:off x="6642355" y="5588750"/>
            <a:ext cx="617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on</a:t>
            </a:r>
            <a:endParaRPr kumimoji="1" lang="zh-TW" altLang="en-US" sz="16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C04C23A-D8B6-9304-A6EC-232B105956B5}"/>
              </a:ext>
            </a:extLst>
          </p:cNvPr>
          <p:cNvSpPr txBox="1"/>
          <p:nvPr/>
        </p:nvSpPr>
        <p:spPr>
          <a:xfrm>
            <a:off x="7700221" y="5588750"/>
            <a:ext cx="617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the</a:t>
            </a:r>
            <a:endParaRPr kumimoji="1" lang="zh-TW" altLang="en-US" sz="16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973999B-66D1-7992-428F-425BDBE876F3}"/>
              </a:ext>
            </a:extLst>
          </p:cNvPr>
          <p:cNvSpPr txBox="1"/>
          <p:nvPr/>
        </p:nvSpPr>
        <p:spPr>
          <a:xfrm>
            <a:off x="8758087" y="5588750"/>
            <a:ext cx="736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river</a:t>
            </a:r>
            <a:endParaRPr kumimoji="1" lang="zh-TW" altLang="en-US" sz="16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B0E8DE4-00AB-FE85-5265-BBA053A3A7CA}"/>
              </a:ext>
            </a:extLst>
          </p:cNvPr>
          <p:cNvSpPr txBox="1"/>
          <p:nvPr/>
        </p:nvSpPr>
        <p:spPr>
          <a:xfrm>
            <a:off x="9765217" y="5588750"/>
            <a:ext cx="881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bank</a:t>
            </a:r>
            <a:endParaRPr kumimoji="1" lang="zh-TW" altLang="en-US" sz="1600" dirty="0"/>
          </a:p>
        </p:txBody>
      </p:sp>
      <p:sp>
        <p:nvSpPr>
          <p:cNvPr id="54" name="Google Shape;204;p17">
            <a:extLst>
              <a:ext uri="{FF2B5EF4-FFF2-40B4-BE49-F238E27FC236}">
                <a16:creationId xmlns:a16="http://schemas.microsoft.com/office/drawing/2014/main" id="{DC2BF388-E1DC-3DAE-E75F-CC3FCBE65EE7}"/>
              </a:ext>
            </a:extLst>
          </p:cNvPr>
          <p:cNvSpPr/>
          <p:nvPr/>
        </p:nvSpPr>
        <p:spPr>
          <a:xfrm>
            <a:off x="6505489" y="4606374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Recurrent Neural Network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55" name="Google Shape;187;p17">
            <a:extLst>
              <a:ext uri="{FF2B5EF4-FFF2-40B4-BE49-F238E27FC236}">
                <a16:creationId xmlns:a16="http://schemas.microsoft.com/office/drawing/2014/main" id="{C12059AA-F757-8D27-2F6F-03D708299573}"/>
              </a:ext>
            </a:extLst>
          </p:cNvPr>
          <p:cNvSpPr/>
          <p:nvPr/>
        </p:nvSpPr>
        <p:spPr>
          <a:xfrm>
            <a:off x="4979889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87;p17">
            <a:extLst>
              <a:ext uri="{FF2B5EF4-FFF2-40B4-BE49-F238E27FC236}">
                <a16:creationId xmlns:a16="http://schemas.microsoft.com/office/drawing/2014/main" id="{2968AA86-835B-AE02-CE5D-BE1B1D73A053}"/>
              </a:ext>
            </a:extLst>
          </p:cNvPr>
          <p:cNvSpPr/>
          <p:nvPr/>
        </p:nvSpPr>
        <p:spPr>
          <a:xfrm>
            <a:off x="9039342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12B2D575-AF4A-8601-58A3-0374A3830888}"/>
              </a:ext>
            </a:extLst>
          </p:cNvPr>
          <p:cNvSpPr txBox="1"/>
          <p:nvPr/>
        </p:nvSpPr>
        <p:spPr>
          <a:xfrm>
            <a:off x="4540573" y="6092495"/>
            <a:ext cx="3623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>
                <a:solidFill>
                  <a:srgbClr val="FF0000"/>
                </a:solidFill>
              </a:rPr>
              <a:t>How about bi-directional?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57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40DE9D-27FC-1F06-AD50-F50C52D7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30</a:t>
            </a:fld>
            <a:endParaRPr kumimoji="1" lang="zh-TW" altLang="en-US" dirty="0"/>
          </a:p>
        </p:txBody>
      </p:sp>
      <p:sp>
        <p:nvSpPr>
          <p:cNvPr id="5" name="Google Shape;187;p17">
            <a:extLst>
              <a:ext uri="{FF2B5EF4-FFF2-40B4-BE49-F238E27FC236}">
                <a16:creationId xmlns:a16="http://schemas.microsoft.com/office/drawing/2014/main" id="{AC30003C-A872-2541-38F2-D99495BC6AC0}"/>
              </a:ext>
            </a:extLst>
          </p:cNvPr>
          <p:cNvSpPr/>
          <p:nvPr/>
        </p:nvSpPr>
        <p:spPr>
          <a:xfrm>
            <a:off x="1718416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Google Shape;193;p17">
            <a:extLst>
              <a:ext uri="{FF2B5EF4-FFF2-40B4-BE49-F238E27FC236}">
                <a16:creationId xmlns:a16="http://schemas.microsoft.com/office/drawing/2014/main" id="{EFEB3EB0-1C93-C495-F927-FBD7B3EA9A20}"/>
              </a:ext>
            </a:extLst>
          </p:cNvPr>
          <p:cNvCxnSpPr>
            <a:cxnSpLocks/>
          </p:cNvCxnSpPr>
          <p:nvPr/>
        </p:nvCxnSpPr>
        <p:spPr>
          <a:xfrm rot="10800000">
            <a:off x="286343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" name="Google Shape;194;p17">
            <a:extLst>
              <a:ext uri="{FF2B5EF4-FFF2-40B4-BE49-F238E27FC236}">
                <a16:creationId xmlns:a16="http://schemas.microsoft.com/office/drawing/2014/main" id="{0E6C7A46-7BF8-5341-C2D7-830E5B38A622}"/>
              </a:ext>
            </a:extLst>
          </p:cNvPr>
          <p:cNvCxnSpPr>
            <a:cxnSpLocks/>
          </p:cNvCxnSpPr>
          <p:nvPr/>
        </p:nvCxnSpPr>
        <p:spPr>
          <a:xfrm rot="10800000">
            <a:off x="3979886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" name="Google Shape;195;p17">
            <a:extLst>
              <a:ext uri="{FF2B5EF4-FFF2-40B4-BE49-F238E27FC236}">
                <a16:creationId xmlns:a16="http://schemas.microsoft.com/office/drawing/2014/main" id="{4FB44663-3152-D330-DF40-EFA78B592F94}"/>
              </a:ext>
            </a:extLst>
          </p:cNvPr>
          <p:cNvCxnSpPr>
            <a:cxnSpLocks/>
          </p:cNvCxnSpPr>
          <p:nvPr/>
        </p:nvCxnSpPr>
        <p:spPr>
          <a:xfrm rot="10800000">
            <a:off x="505761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Google Shape;195;p17">
            <a:extLst>
              <a:ext uri="{FF2B5EF4-FFF2-40B4-BE49-F238E27FC236}">
                <a16:creationId xmlns:a16="http://schemas.microsoft.com/office/drawing/2014/main" id="{6E3B520F-AE0C-B7F0-1B1C-235F37190227}"/>
              </a:ext>
            </a:extLst>
          </p:cNvPr>
          <p:cNvCxnSpPr>
            <a:cxnSpLocks/>
          </p:cNvCxnSpPr>
          <p:nvPr/>
        </p:nvCxnSpPr>
        <p:spPr>
          <a:xfrm rot="10800000">
            <a:off x="1805568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193;p17">
            <a:extLst>
              <a:ext uri="{FF2B5EF4-FFF2-40B4-BE49-F238E27FC236}">
                <a16:creationId xmlns:a16="http://schemas.microsoft.com/office/drawing/2014/main" id="{52498966-AEBD-CC5F-CAE1-61EB7228EF62}"/>
              </a:ext>
            </a:extLst>
          </p:cNvPr>
          <p:cNvCxnSpPr>
            <a:cxnSpLocks/>
          </p:cNvCxnSpPr>
          <p:nvPr/>
        </p:nvCxnSpPr>
        <p:spPr>
          <a:xfrm rot="10800000">
            <a:off x="286343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94;p17">
            <a:extLst>
              <a:ext uri="{FF2B5EF4-FFF2-40B4-BE49-F238E27FC236}">
                <a16:creationId xmlns:a16="http://schemas.microsoft.com/office/drawing/2014/main" id="{5B12045E-BCEB-A305-2E91-2A8700EA4829}"/>
              </a:ext>
            </a:extLst>
          </p:cNvPr>
          <p:cNvCxnSpPr>
            <a:cxnSpLocks/>
          </p:cNvCxnSpPr>
          <p:nvPr/>
        </p:nvCxnSpPr>
        <p:spPr>
          <a:xfrm rot="10800000">
            <a:off x="397359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AC166304-C588-02B0-6F63-BFA41ABBCF73}"/>
              </a:ext>
            </a:extLst>
          </p:cNvPr>
          <p:cNvCxnSpPr>
            <a:cxnSpLocks/>
          </p:cNvCxnSpPr>
          <p:nvPr/>
        </p:nvCxnSpPr>
        <p:spPr>
          <a:xfrm rot="10800000">
            <a:off x="505761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56718BE7-6FF6-0955-B13D-31254E535D39}"/>
              </a:ext>
            </a:extLst>
          </p:cNvPr>
          <p:cNvCxnSpPr>
            <a:cxnSpLocks/>
          </p:cNvCxnSpPr>
          <p:nvPr/>
        </p:nvCxnSpPr>
        <p:spPr>
          <a:xfrm rot="10800000">
            <a:off x="180556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Google Shape;187;p17">
            <a:extLst>
              <a:ext uri="{FF2B5EF4-FFF2-40B4-BE49-F238E27FC236}">
                <a16:creationId xmlns:a16="http://schemas.microsoft.com/office/drawing/2014/main" id="{484822E3-850F-0559-D3B5-BA5BEE902034}"/>
              </a:ext>
            </a:extLst>
          </p:cNvPr>
          <p:cNvSpPr/>
          <p:nvPr/>
        </p:nvSpPr>
        <p:spPr>
          <a:xfrm>
            <a:off x="2776282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87;p17">
            <a:extLst>
              <a:ext uri="{FF2B5EF4-FFF2-40B4-BE49-F238E27FC236}">
                <a16:creationId xmlns:a16="http://schemas.microsoft.com/office/drawing/2014/main" id="{AD00F4FA-686E-E4E5-8AEA-1E288E8CD415}"/>
              </a:ext>
            </a:extLst>
          </p:cNvPr>
          <p:cNvSpPr/>
          <p:nvPr/>
        </p:nvSpPr>
        <p:spPr>
          <a:xfrm>
            <a:off x="3886080" y="3701520"/>
            <a:ext cx="174300" cy="524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E9859D7-4297-7114-78A3-6D86E22AD23F}"/>
              </a:ext>
            </a:extLst>
          </p:cNvPr>
          <p:cNvSpPr txBox="1"/>
          <p:nvPr/>
        </p:nvSpPr>
        <p:spPr>
          <a:xfrm>
            <a:off x="1461909" y="5588750"/>
            <a:ext cx="676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open</a:t>
            </a:r>
            <a:endParaRPr kumimoji="1" lang="zh-TW" altLang="en-US" sz="16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43BA772-6A06-DB3E-7C62-D7D756E3BD0B}"/>
              </a:ext>
            </a:extLst>
          </p:cNvPr>
          <p:cNvSpPr txBox="1"/>
          <p:nvPr/>
        </p:nvSpPr>
        <p:spPr>
          <a:xfrm>
            <a:off x="2519775" y="5588750"/>
            <a:ext cx="676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a</a:t>
            </a:r>
            <a:endParaRPr kumimoji="1" lang="zh-TW" altLang="en-US" sz="16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0682A93-BEF6-E79F-FF55-60199E0F2D88}"/>
              </a:ext>
            </a:extLst>
          </p:cNvPr>
          <p:cNvSpPr txBox="1"/>
          <p:nvPr/>
        </p:nvSpPr>
        <p:spPr>
          <a:xfrm>
            <a:off x="3577642" y="5588750"/>
            <a:ext cx="8064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bank</a:t>
            </a:r>
            <a:endParaRPr kumimoji="1" lang="zh-TW" altLang="en-US" sz="16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0DC5CA4-5B3F-A3B3-C5D2-D5380EA5B490}"/>
              </a:ext>
            </a:extLst>
          </p:cNvPr>
          <p:cNvSpPr txBox="1"/>
          <p:nvPr/>
        </p:nvSpPr>
        <p:spPr>
          <a:xfrm>
            <a:off x="4584771" y="5588750"/>
            <a:ext cx="964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account</a:t>
            </a:r>
            <a:endParaRPr kumimoji="1" lang="zh-TW" altLang="en-US" sz="1600" dirty="0"/>
          </a:p>
        </p:txBody>
      </p:sp>
      <p:sp>
        <p:nvSpPr>
          <p:cNvPr id="25" name="Google Shape;204;p17">
            <a:extLst>
              <a:ext uri="{FF2B5EF4-FFF2-40B4-BE49-F238E27FC236}">
                <a16:creationId xmlns:a16="http://schemas.microsoft.com/office/drawing/2014/main" id="{95FD8C3B-2420-4F0A-D600-7CFA4CCCAA83}"/>
              </a:ext>
            </a:extLst>
          </p:cNvPr>
          <p:cNvSpPr/>
          <p:nvPr/>
        </p:nvSpPr>
        <p:spPr>
          <a:xfrm>
            <a:off x="1359769" y="4606374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Transformer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</a:t>
            </a:r>
            <a:r>
              <a:rPr lang="zh-TW" b="1" dirty="0">
                <a:solidFill>
                  <a:srgbClr val="4A86E8"/>
                </a:solidFill>
              </a:rPr>
              <a:t>ontex</a:t>
            </a:r>
            <a:r>
              <a:rPr lang="en-US" altLang="zh-TW" b="1" dirty="0">
                <a:solidFill>
                  <a:srgbClr val="4A86E8"/>
                </a:solidFill>
              </a:rPr>
              <a:t>t</a:t>
            </a:r>
            <a:r>
              <a:rPr lang="zh-TW" b="1" dirty="0">
                <a:solidFill>
                  <a:srgbClr val="4A86E8"/>
                </a:solidFill>
              </a:rPr>
              <a:t>ual </a:t>
            </a:r>
            <a:r>
              <a:rPr lang="en-US" altLang="zh-TW" b="1" dirty="0">
                <a:solidFill>
                  <a:srgbClr val="4A86E8"/>
                </a:solidFill>
              </a:rPr>
              <a:t>E</a:t>
            </a:r>
            <a:r>
              <a:rPr lang="zh-TW" b="1" dirty="0">
                <a:solidFill>
                  <a:srgbClr val="4A86E8"/>
                </a:solidFill>
              </a:rPr>
              <a:t>mbedding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31CB706-FF29-548B-F3A1-E040223E44EC}"/>
              </a:ext>
            </a:extLst>
          </p:cNvPr>
          <p:cNvSpPr txBox="1"/>
          <p:nvPr/>
        </p:nvSpPr>
        <p:spPr>
          <a:xfrm>
            <a:off x="2109334" y="2171685"/>
            <a:ext cx="2609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open a </a:t>
            </a:r>
            <a:r>
              <a:rPr kumimoji="1" lang="en-US" altLang="zh-TW" sz="2000" dirty="0">
                <a:solidFill>
                  <a:srgbClr val="FF0000"/>
                </a:solidFill>
              </a:rPr>
              <a:t>bank</a:t>
            </a:r>
            <a:r>
              <a:rPr kumimoji="1" lang="en-US" altLang="zh-TW" sz="2000" dirty="0"/>
              <a:t> account</a:t>
            </a:r>
            <a:endParaRPr kumimoji="1" lang="zh-TW" altLang="en-US" sz="2000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81626B2C-03EC-545B-C2B7-0049AEF0B805}"/>
              </a:ext>
            </a:extLst>
          </p:cNvPr>
          <p:cNvSpPr txBox="1"/>
          <p:nvPr/>
        </p:nvSpPr>
        <p:spPr>
          <a:xfrm>
            <a:off x="6987895" y="2171685"/>
            <a:ext cx="23880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on the river </a:t>
            </a:r>
            <a:r>
              <a:rPr kumimoji="1" lang="en-US" altLang="zh-TW" sz="2000" dirty="0">
                <a:solidFill>
                  <a:srgbClr val="FF0000"/>
                </a:solidFill>
              </a:rPr>
              <a:t>bank</a:t>
            </a:r>
            <a:endParaRPr kumimoji="1" lang="zh-TW" altLang="en-US" sz="2000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81567CE-D128-0DF8-99D8-77E1962A0EEF}"/>
              </a:ext>
            </a:extLst>
          </p:cNvPr>
          <p:cNvSpPr txBox="1"/>
          <p:nvPr/>
        </p:nvSpPr>
        <p:spPr>
          <a:xfrm>
            <a:off x="4718564" y="2663450"/>
            <a:ext cx="238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the same word vector</a:t>
            </a:r>
            <a:endParaRPr kumimoji="1" lang="zh-TW" altLang="en-US" dirty="0"/>
          </a:p>
        </p:txBody>
      </p:sp>
      <p:cxnSp>
        <p:nvCxnSpPr>
          <p:cNvPr id="34" name="直線箭頭接點 33">
            <a:extLst>
              <a:ext uri="{FF2B5EF4-FFF2-40B4-BE49-F238E27FC236}">
                <a16:creationId xmlns:a16="http://schemas.microsoft.com/office/drawing/2014/main" id="{E48A33A4-A0F8-4A30-E3D7-0AAA1D371BEF}"/>
              </a:ext>
            </a:extLst>
          </p:cNvPr>
          <p:cNvCxnSpPr>
            <a:endCxn id="30" idx="2"/>
          </p:cNvCxnSpPr>
          <p:nvPr/>
        </p:nvCxnSpPr>
        <p:spPr>
          <a:xfrm flipH="1" flipV="1">
            <a:off x="3413949" y="2571795"/>
            <a:ext cx="1176905" cy="2680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箭頭接點 34">
            <a:extLst>
              <a:ext uri="{FF2B5EF4-FFF2-40B4-BE49-F238E27FC236}">
                <a16:creationId xmlns:a16="http://schemas.microsoft.com/office/drawing/2014/main" id="{A368A596-20BF-5610-08D4-9FF99FA70BB7}"/>
              </a:ext>
            </a:extLst>
          </p:cNvPr>
          <p:cNvCxnSpPr>
            <a:cxnSpLocks/>
          </p:cNvCxnSpPr>
          <p:nvPr/>
        </p:nvCxnSpPr>
        <p:spPr>
          <a:xfrm flipV="1">
            <a:off x="6987895" y="2541638"/>
            <a:ext cx="1835594" cy="3151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87;p17">
            <a:extLst>
              <a:ext uri="{FF2B5EF4-FFF2-40B4-BE49-F238E27FC236}">
                <a16:creationId xmlns:a16="http://schemas.microsoft.com/office/drawing/2014/main" id="{16D1C3FD-A2F9-3DA2-2435-F00F05D34B06}"/>
              </a:ext>
            </a:extLst>
          </p:cNvPr>
          <p:cNvSpPr/>
          <p:nvPr/>
        </p:nvSpPr>
        <p:spPr>
          <a:xfrm>
            <a:off x="6864136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89;p17">
            <a:extLst>
              <a:ext uri="{FF2B5EF4-FFF2-40B4-BE49-F238E27FC236}">
                <a16:creationId xmlns:a16="http://schemas.microsoft.com/office/drawing/2014/main" id="{E8BB0FAD-9A13-BC84-403C-E3ADFAE851E1}"/>
              </a:ext>
            </a:extLst>
          </p:cNvPr>
          <p:cNvSpPr/>
          <p:nvPr/>
        </p:nvSpPr>
        <p:spPr>
          <a:xfrm>
            <a:off x="10115633" y="3701520"/>
            <a:ext cx="174300" cy="5247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193;p17">
            <a:extLst>
              <a:ext uri="{FF2B5EF4-FFF2-40B4-BE49-F238E27FC236}">
                <a16:creationId xmlns:a16="http://schemas.microsoft.com/office/drawing/2014/main" id="{0156B515-0988-2632-7EBB-89C49699242B}"/>
              </a:ext>
            </a:extLst>
          </p:cNvPr>
          <p:cNvCxnSpPr>
            <a:cxnSpLocks/>
          </p:cNvCxnSpPr>
          <p:nvPr/>
        </p:nvCxnSpPr>
        <p:spPr>
          <a:xfrm rot="10800000">
            <a:off x="800915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" name="Google Shape;194;p17">
            <a:extLst>
              <a:ext uri="{FF2B5EF4-FFF2-40B4-BE49-F238E27FC236}">
                <a16:creationId xmlns:a16="http://schemas.microsoft.com/office/drawing/2014/main" id="{48A83194-0D5C-B791-24EC-BA5B02191B42}"/>
              </a:ext>
            </a:extLst>
          </p:cNvPr>
          <p:cNvCxnSpPr>
            <a:cxnSpLocks/>
          </p:cNvCxnSpPr>
          <p:nvPr/>
        </p:nvCxnSpPr>
        <p:spPr>
          <a:xfrm rot="10800000">
            <a:off x="9125606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" name="Google Shape;195;p17">
            <a:extLst>
              <a:ext uri="{FF2B5EF4-FFF2-40B4-BE49-F238E27FC236}">
                <a16:creationId xmlns:a16="http://schemas.microsoft.com/office/drawing/2014/main" id="{1B04B251-659A-3AE9-188F-3E014C826192}"/>
              </a:ext>
            </a:extLst>
          </p:cNvPr>
          <p:cNvCxnSpPr>
            <a:cxnSpLocks/>
          </p:cNvCxnSpPr>
          <p:nvPr/>
        </p:nvCxnSpPr>
        <p:spPr>
          <a:xfrm rot="10800000">
            <a:off x="10203333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" name="Google Shape;195;p17">
            <a:extLst>
              <a:ext uri="{FF2B5EF4-FFF2-40B4-BE49-F238E27FC236}">
                <a16:creationId xmlns:a16="http://schemas.microsoft.com/office/drawing/2014/main" id="{CD9A471E-9A70-5519-33F8-1A8ACF58898A}"/>
              </a:ext>
            </a:extLst>
          </p:cNvPr>
          <p:cNvCxnSpPr>
            <a:cxnSpLocks/>
          </p:cNvCxnSpPr>
          <p:nvPr/>
        </p:nvCxnSpPr>
        <p:spPr>
          <a:xfrm rot="10800000">
            <a:off x="6951288" y="5418789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4" name="Google Shape;193;p17">
            <a:extLst>
              <a:ext uri="{FF2B5EF4-FFF2-40B4-BE49-F238E27FC236}">
                <a16:creationId xmlns:a16="http://schemas.microsoft.com/office/drawing/2014/main" id="{42004B3F-0BA9-189D-C230-1B79DC9FA5E2}"/>
              </a:ext>
            </a:extLst>
          </p:cNvPr>
          <p:cNvCxnSpPr>
            <a:cxnSpLocks/>
          </p:cNvCxnSpPr>
          <p:nvPr/>
        </p:nvCxnSpPr>
        <p:spPr>
          <a:xfrm rot="10800000">
            <a:off x="800915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" name="Google Shape;194;p17">
            <a:extLst>
              <a:ext uri="{FF2B5EF4-FFF2-40B4-BE49-F238E27FC236}">
                <a16:creationId xmlns:a16="http://schemas.microsoft.com/office/drawing/2014/main" id="{C15386B3-0192-B5EE-C8F8-74CA07542B4A}"/>
              </a:ext>
            </a:extLst>
          </p:cNvPr>
          <p:cNvCxnSpPr>
            <a:cxnSpLocks/>
          </p:cNvCxnSpPr>
          <p:nvPr/>
        </p:nvCxnSpPr>
        <p:spPr>
          <a:xfrm rot="10800000">
            <a:off x="911931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" name="Google Shape;195;p17">
            <a:extLst>
              <a:ext uri="{FF2B5EF4-FFF2-40B4-BE49-F238E27FC236}">
                <a16:creationId xmlns:a16="http://schemas.microsoft.com/office/drawing/2014/main" id="{9BBB9D2A-7120-F22E-E3B8-265C85B60366}"/>
              </a:ext>
            </a:extLst>
          </p:cNvPr>
          <p:cNvCxnSpPr>
            <a:cxnSpLocks/>
          </p:cNvCxnSpPr>
          <p:nvPr/>
        </p:nvCxnSpPr>
        <p:spPr>
          <a:xfrm rot="10800000">
            <a:off x="10203333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" name="Google Shape;195;p17">
            <a:extLst>
              <a:ext uri="{FF2B5EF4-FFF2-40B4-BE49-F238E27FC236}">
                <a16:creationId xmlns:a16="http://schemas.microsoft.com/office/drawing/2014/main" id="{C02D29BF-6441-A47E-D96E-982B57D6C6AF}"/>
              </a:ext>
            </a:extLst>
          </p:cNvPr>
          <p:cNvCxnSpPr>
            <a:cxnSpLocks/>
          </p:cNvCxnSpPr>
          <p:nvPr/>
        </p:nvCxnSpPr>
        <p:spPr>
          <a:xfrm rot="10800000">
            <a:off x="6951287" y="4329902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Google Shape;187;p17">
            <a:extLst>
              <a:ext uri="{FF2B5EF4-FFF2-40B4-BE49-F238E27FC236}">
                <a16:creationId xmlns:a16="http://schemas.microsoft.com/office/drawing/2014/main" id="{8D1B1B58-B0B0-03B2-5B77-03A1D045144E}"/>
              </a:ext>
            </a:extLst>
          </p:cNvPr>
          <p:cNvSpPr/>
          <p:nvPr/>
        </p:nvSpPr>
        <p:spPr>
          <a:xfrm>
            <a:off x="7922002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35E7FF2-0495-765B-965A-16583D3D72B6}"/>
              </a:ext>
            </a:extLst>
          </p:cNvPr>
          <p:cNvSpPr txBox="1"/>
          <p:nvPr/>
        </p:nvSpPr>
        <p:spPr>
          <a:xfrm>
            <a:off x="6642355" y="5588750"/>
            <a:ext cx="617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on</a:t>
            </a:r>
            <a:endParaRPr kumimoji="1" lang="zh-TW" altLang="en-US" sz="16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C04C23A-D8B6-9304-A6EC-232B105956B5}"/>
              </a:ext>
            </a:extLst>
          </p:cNvPr>
          <p:cNvSpPr txBox="1"/>
          <p:nvPr/>
        </p:nvSpPr>
        <p:spPr>
          <a:xfrm>
            <a:off x="7700221" y="5588750"/>
            <a:ext cx="617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the</a:t>
            </a:r>
            <a:endParaRPr kumimoji="1" lang="zh-TW" altLang="en-US" sz="1600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973999B-66D1-7992-428F-425BDBE876F3}"/>
              </a:ext>
            </a:extLst>
          </p:cNvPr>
          <p:cNvSpPr txBox="1"/>
          <p:nvPr/>
        </p:nvSpPr>
        <p:spPr>
          <a:xfrm>
            <a:off x="8758087" y="5588750"/>
            <a:ext cx="7368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river</a:t>
            </a:r>
            <a:endParaRPr kumimoji="1" lang="zh-TW" altLang="en-US" sz="16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1B0E8DE4-00AB-FE85-5265-BBA053A3A7CA}"/>
              </a:ext>
            </a:extLst>
          </p:cNvPr>
          <p:cNvSpPr txBox="1"/>
          <p:nvPr/>
        </p:nvSpPr>
        <p:spPr>
          <a:xfrm>
            <a:off x="9765217" y="5588750"/>
            <a:ext cx="8816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bank</a:t>
            </a:r>
            <a:endParaRPr kumimoji="1" lang="zh-TW" altLang="en-US" sz="1600" dirty="0"/>
          </a:p>
        </p:txBody>
      </p:sp>
      <p:sp>
        <p:nvSpPr>
          <p:cNvPr id="54" name="Google Shape;204;p17">
            <a:extLst>
              <a:ext uri="{FF2B5EF4-FFF2-40B4-BE49-F238E27FC236}">
                <a16:creationId xmlns:a16="http://schemas.microsoft.com/office/drawing/2014/main" id="{DC2BF388-E1DC-3DAE-E75F-CC3FCBE65EE7}"/>
              </a:ext>
            </a:extLst>
          </p:cNvPr>
          <p:cNvSpPr/>
          <p:nvPr/>
        </p:nvSpPr>
        <p:spPr>
          <a:xfrm>
            <a:off x="6505489" y="4606374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Transformer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Contextual Embedding</a:t>
            </a:r>
            <a:r>
              <a:rPr lang="en-US" altLang="zh-TW" dirty="0"/>
              <a:t>)</a:t>
            </a:r>
            <a:endParaRPr lang="en-US" dirty="0"/>
          </a:p>
        </p:txBody>
      </p:sp>
      <p:sp>
        <p:nvSpPr>
          <p:cNvPr id="55" name="Google Shape;187;p17">
            <a:extLst>
              <a:ext uri="{FF2B5EF4-FFF2-40B4-BE49-F238E27FC236}">
                <a16:creationId xmlns:a16="http://schemas.microsoft.com/office/drawing/2014/main" id="{C12059AA-F757-8D27-2F6F-03D708299573}"/>
              </a:ext>
            </a:extLst>
          </p:cNvPr>
          <p:cNvSpPr/>
          <p:nvPr/>
        </p:nvSpPr>
        <p:spPr>
          <a:xfrm>
            <a:off x="4979889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187;p17">
            <a:extLst>
              <a:ext uri="{FF2B5EF4-FFF2-40B4-BE49-F238E27FC236}">
                <a16:creationId xmlns:a16="http://schemas.microsoft.com/office/drawing/2014/main" id="{2968AA86-835B-AE02-CE5D-BE1B1D73A053}"/>
              </a:ext>
            </a:extLst>
          </p:cNvPr>
          <p:cNvSpPr/>
          <p:nvPr/>
        </p:nvSpPr>
        <p:spPr>
          <a:xfrm>
            <a:off x="9039342" y="3701520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" name="曲線接點 32">
            <a:extLst>
              <a:ext uri="{FF2B5EF4-FFF2-40B4-BE49-F238E27FC236}">
                <a16:creationId xmlns:a16="http://schemas.microsoft.com/office/drawing/2014/main" id="{6BD327ED-0A0F-D3F2-80BE-5500749A760D}"/>
              </a:ext>
            </a:extLst>
          </p:cNvPr>
          <p:cNvCxnSpPr>
            <a:cxnSpLocks/>
            <a:stCxn id="18" idx="0"/>
            <a:endCxn id="19" idx="0"/>
          </p:cNvCxnSpPr>
          <p:nvPr/>
        </p:nvCxnSpPr>
        <p:spPr>
          <a:xfrm rot="5400000" flipH="1" flipV="1">
            <a:off x="3418331" y="3146621"/>
            <a:ext cx="12700" cy="1109798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線接點 57">
            <a:extLst>
              <a:ext uri="{FF2B5EF4-FFF2-40B4-BE49-F238E27FC236}">
                <a16:creationId xmlns:a16="http://schemas.microsoft.com/office/drawing/2014/main" id="{38F09849-23E0-C4FA-8FC1-A33846EF6A0D}"/>
              </a:ext>
            </a:extLst>
          </p:cNvPr>
          <p:cNvCxnSpPr>
            <a:cxnSpLocks/>
            <a:stCxn id="5" idx="0"/>
            <a:endCxn id="19" idx="0"/>
          </p:cNvCxnSpPr>
          <p:nvPr/>
        </p:nvCxnSpPr>
        <p:spPr>
          <a:xfrm rot="5400000" flipH="1" flipV="1">
            <a:off x="2889398" y="2617688"/>
            <a:ext cx="12700" cy="2167664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曲線接點 73">
            <a:extLst>
              <a:ext uri="{FF2B5EF4-FFF2-40B4-BE49-F238E27FC236}">
                <a16:creationId xmlns:a16="http://schemas.microsoft.com/office/drawing/2014/main" id="{415B7242-3FFA-224F-4EF6-22C26F7A6998}"/>
              </a:ext>
            </a:extLst>
          </p:cNvPr>
          <p:cNvCxnSpPr>
            <a:cxnSpLocks/>
            <a:stCxn id="19" idx="0"/>
            <a:endCxn id="55" idx="0"/>
          </p:cNvCxnSpPr>
          <p:nvPr/>
        </p:nvCxnSpPr>
        <p:spPr>
          <a:xfrm rot="5400000" flipH="1" flipV="1">
            <a:off x="4520134" y="3154616"/>
            <a:ext cx="12700" cy="1093809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接點 76">
            <a:extLst>
              <a:ext uri="{FF2B5EF4-FFF2-40B4-BE49-F238E27FC236}">
                <a16:creationId xmlns:a16="http://schemas.microsoft.com/office/drawing/2014/main" id="{8ECEE3E8-E143-C65F-AFB8-9722C2A7FC6F}"/>
              </a:ext>
            </a:extLst>
          </p:cNvPr>
          <p:cNvCxnSpPr>
            <a:cxnSpLocks/>
            <a:stCxn id="38" idx="0"/>
            <a:endCxn id="39" idx="0"/>
          </p:cNvCxnSpPr>
          <p:nvPr/>
        </p:nvCxnSpPr>
        <p:spPr>
          <a:xfrm rot="5400000" flipH="1" flipV="1">
            <a:off x="8577034" y="2075772"/>
            <a:ext cx="12700" cy="3251497"/>
          </a:xfrm>
          <a:prstGeom prst="curvedConnector3">
            <a:avLst>
              <a:gd name="adj1" fmla="val 280252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曲線接點 79">
            <a:extLst>
              <a:ext uri="{FF2B5EF4-FFF2-40B4-BE49-F238E27FC236}">
                <a16:creationId xmlns:a16="http://schemas.microsoft.com/office/drawing/2014/main" id="{D36C1C63-5B07-D4F8-84C4-2D2A7AE15E7B}"/>
              </a:ext>
            </a:extLst>
          </p:cNvPr>
          <p:cNvCxnSpPr>
            <a:cxnSpLocks/>
            <a:stCxn id="48" idx="0"/>
            <a:endCxn id="39" idx="0"/>
          </p:cNvCxnSpPr>
          <p:nvPr/>
        </p:nvCxnSpPr>
        <p:spPr>
          <a:xfrm rot="5400000" flipH="1" flipV="1">
            <a:off x="9105967" y="2604705"/>
            <a:ext cx="12700" cy="2193631"/>
          </a:xfrm>
          <a:prstGeom prst="curvedConnector3">
            <a:avLst>
              <a:gd name="adj1" fmla="val 2893669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曲線接點 82">
            <a:extLst>
              <a:ext uri="{FF2B5EF4-FFF2-40B4-BE49-F238E27FC236}">
                <a16:creationId xmlns:a16="http://schemas.microsoft.com/office/drawing/2014/main" id="{7247AB12-EFE6-CCD3-1C2A-CE427FF26DAF}"/>
              </a:ext>
            </a:extLst>
          </p:cNvPr>
          <p:cNvCxnSpPr>
            <a:cxnSpLocks/>
            <a:stCxn id="56" idx="0"/>
            <a:endCxn id="39" idx="0"/>
          </p:cNvCxnSpPr>
          <p:nvPr/>
        </p:nvCxnSpPr>
        <p:spPr>
          <a:xfrm rot="5400000" flipH="1" flipV="1">
            <a:off x="9664637" y="3163375"/>
            <a:ext cx="12700" cy="1076291"/>
          </a:xfrm>
          <a:prstGeom prst="curvedConnector3">
            <a:avLst>
              <a:gd name="adj1" fmla="val 180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字方塊 88">
            <a:extLst>
              <a:ext uri="{FF2B5EF4-FFF2-40B4-BE49-F238E27FC236}">
                <a16:creationId xmlns:a16="http://schemas.microsoft.com/office/drawing/2014/main" id="{ABC076C7-938E-6C6C-D59E-F24D44BBCEA2}"/>
              </a:ext>
            </a:extLst>
          </p:cNvPr>
          <p:cNvSpPr txBox="1"/>
          <p:nvPr/>
        </p:nvSpPr>
        <p:spPr>
          <a:xfrm>
            <a:off x="2676429" y="2969730"/>
            <a:ext cx="172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Self-attention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2CEDCEAA-F844-811E-9EFA-5149DF3D3143}"/>
              </a:ext>
            </a:extLst>
          </p:cNvPr>
          <p:cNvSpPr txBox="1"/>
          <p:nvPr/>
        </p:nvSpPr>
        <p:spPr>
          <a:xfrm>
            <a:off x="7822149" y="2969730"/>
            <a:ext cx="172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Self-attention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CBDB0A82-A38A-01BD-E00E-D9A67BD4F722}"/>
              </a:ext>
            </a:extLst>
          </p:cNvPr>
          <p:cNvSpPr txBox="1">
            <a:spLocks/>
          </p:cNvSpPr>
          <p:nvPr/>
        </p:nvSpPr>
        <p:spPr>
          <a:xfrm>
            <a:off x="653143" y="356088"/>
            <a:ext cx="10918371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TW" dirty="0"/>
              <a:t>Contextual Word Representations (Transformer)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8636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15187-1ECF-1517-4D0A-0E8C6F9D2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Model Training: Pre-training and Fine-Tuning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B922A0-CDE9-84DB-12F2-296E5B0B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31</a:t>
            </a:fld>
            <a:endParaRPr kumimoji="1" lang="zh-TW" altLang="en-US"/>
          </a:p>
        </p:txBody>
      </p:sp>
      <p:sp>
        <p:nvSpPr>
          <p:cNvPr id="6" name="Google Shape;225;p17">
            <a:extLst>
              <a:ext uri="{FF2B5EF4-FFF2-40B4-BE49-F238E27FC236}">
                <a16:creationId xmlns:a16="http://schemas.microsoft.com/office/drawing/2014/main" id="{13CE5B6C-303C-7FF7-B5E8-EF5D97750445}"/>
              </a:ext>
            </a:extLst>
          </p:cNvPr>
          <p:cNvSpPr txBox="1"/>
          <p:nvPr/>
        </p:nvSpPr>
        <p:spPr>
          <a:xfrm>
            <a:off x="1965207" y="6308224"/>
            <a:ext cx="827704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1200" dirty="0">
                <a:latin typeface="Roboto"/>
                <a:ea typeface="Roboto"/>
                <a:cs typeface="Roboto"/>
                <a:sym typeface="Roboto"/>
              </a:rPr>
              <a:t>Devlin, Jacob, et al. "BERT: Pre-training of Deep Bidirectional Transformers for Language Understanding." NAACL 2019.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204;p17">
            <a:extLst>
              <a:ext uri="{FF2B5EF4-FFF2-40B4-BE49-F238E27FC236}">
                <a16:creationId xmlns:a16="http://schemas.microsoft.com/office/drawing/2014/main" id="{200D5F7D-EC92-A047-C243-0E6078703D15}"/>
              </a:ext>
            </a:extLst>
          </p:cNvPr>
          <p:cNvSpPr/>
          <p:nvPr/>
        </p:nvSpPr>
        <p:spPr>
          <a:xfrm>
            <a:off x="4720541" y="2754280"/>
            <a:ext cx="3171707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zh-TW" dirty="0"/>
              <a:t>Model (e.g., </a:t>
            </a:r>
            <a:r>
              <a:rPr lang="en" altLang="zh-TW" dirty="0"/>
              <a:t>Word2vec, </a:t>
            </a:r>
            <a:r>
              <a:rPr lang="en-US" altLang="zh-TW" dirty="0"/>
              <a:t>BERT)</a:t>
            </a:r>
            <a:endParaRPr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112DF0D-0BA1-095A-B277-7580512D5E6A}"/>
              </a:ext>
            </a:extLst>
          </p:cNvPr>
          <p:cNvSpPr txBox="1"/>
          <p:nvPr/>
        </p:nvSpPr>
        <p:spPr>
          <a:xfrm>
            <a:off x="914396" y="2003011"/>
            <a:ext cx="71657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00B050"/>
                </a:solidFill>
              </a:rPr>
              <a:t>Step1: Pre-training</a:t>
            </a:r>
            <a:r>
              <a:rPr kumimoji="1" lang="zh-TW" altLang="en-US" sz="2400" b="1" dirty="0">
                <a:solidFill>
                  <a:srgbClr val="00B050"/>
                </a:solidFill>
              </a:rPr>
              <a:t> </a:t>
            </a:r>
            <a:r>
              <a:rPr kumimoji="1" lang="en-US" altLang="zh-TW" sz="2400" b="1" dirty="0">
                <a:solidFill>
                  <a:srgbClr val="00B050"/>
                </a:solidFill>
              </a:rPr>
              <a:t>(use large-scale corpora)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A926759D-295A-C5E6-4913-BCC77A64AD1F}"/>
              </a:ext>
            </a:extLst>
          </p:cNvPr>
          <p:cNvCxnSpPr>
            <a:cxnSpLocks/>
          </p:cNvCxnSpPr>
          <p:nvPr/>
        </p:nvCxnSpPr>
        <p:spPr>
          <a:xfrm>
            <a:off x="3710867" y="3141580"/>
            <a:ext cx="745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2DC1D34-6D1E-E412-F777-90823B5401B9}"/>
              </a:ext>
            </a:extLst>
          </p:cNvPr>
          <p:cNvSpPr txBox="1"/>
          <p:nvPr/>
        </p:nvSpPr>
        <p:spPr>
          <a:xfrm>
            <a:off x="914398" y="2920446"/>
            <a:ext cx="2700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Open a [MASK] account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F71563FB-461F-EC3F-320E-1AE1052EBF76}"/>
              </a:ext>
            </a:extLst>
          </p:cNvPr>
          <p:cNvCxnSpPr>
            <a:cxnSpLocks/>
          </p:cNvCxnSpPr>
          <p:nvPr/>
        </p:nvCxnSpPr>
        <p:spPr>
          <a:xfrm>
            <a:off x="8080160" y="3159703"/>
            <a:ext cx="745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8D08123-F6A8-895C-3D2B-E66D57D158AD}"/>
              </a:ext>
            </a:extLst>
          </p:cNvPr>
          <p:cNvSpPr txBox="1"/>
          <p:nvPr/>
        </p:nvSpPr>
        <p:spPr>
          <a:xfrm>
            <a:off x="9145478" y="2959648"/>
            <a:ext cx="924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bank</a:t>
            </a:r>
            <a:endParaRPr kumimoji="1" lang="zh-TW" altLang="en-US" sz="20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33B8DF6-DDC7-9DAF-2BA7-7C94D299822E}"/>
              </a:ext>
            </a:extLst>
          </p:cNvPr>
          <p:cNvSpPr txBox="1"/>
          <p:nvPr/>
        </p:nvSpPr>
        <p:spPr>
          <a:xfrm>
            <a:off x="914397" y="4089868"/>
            <a:ext cx="777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>
                <a:solidFill>
                  <a:srgbClr val="00B050"/>
                </a:solidFill>
              </a:rPr>
              <a:t>Step2: Fine-Tuning (use datasets from target tasks)</a:t>
            </a:r>
            <a:endParaRPr kumimoji="1" lang="zh-TW" altLang="en-US" sz="2400" b="1" dirty="0">
              <a:solidFill>
                <a:srgbClr val="00B050"/>
              </a:solidFill>
            </a:endParaRPr>
          </a:p>
        </p:txBody>
      </p:sp>
      <p:sp>
        <p:nvSpPr>
          <p:cNvPr id="16" name="Google Shape;204;p17">
            <a:extLst>
              <a:ext uri="{FF2B5EF4-FFF2-40B4-BE49-F238E27FC236}">
                <a16:creationId xmlns:a16="http://schemas.microsoft.com/office/drawing/2014/main" id="{44BB08D8-3D70-2669-A344-B6D6D79FD871}"/>
              </a:ext>
            </a:extLst>
          </p:cNvPr>
          <p:cNvSpPr/>
          <p:nvPr/>
        </p:nvSpPr>
        <p:spPr>
          <a:xfrm>
            <a:off x="4720541" y="4749817"/>
            <a:ext cx="3171707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altLang="zh-TW" dirty="0"/>
              <a:t>Model (e.g., </a:t>
            </a:r>
            <a:r>
              <a:rPr lang="en" altLang="zh-TW" dirty="0"/>
              <a:t>Word2vec + RNN; </a:t>
            </a:r>
            <a:r>
              <a:rPr lang="en-US" altLang="zh-TW" dirty="0"/>
              <a:t>BERT + Classifier)</a:t>
            </a:r>
            <a:endParaRPr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49A09B0D-8277-6DF3-968C-29593DE5FA32}"/>
              </a:ext>
            </a:extLst>
          </p:cNvPr>
          <p:cNvCxnSpPr>
            <a:cxnSpLocks/>
          </p:cNvCxnSpPr>
          <p:nvPr/>
        </p:nvCxnSpPr>
        <p:spPr>
          <a:xfrm>
            <a:off x="3710867" y="5137117"/>
            <a:ext cx="745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178F6AA-4DCE-4234-8B7A-0987A6383CC1}"/>
              </a:ext>
            </a:extLst>
          </p:cNvPr>
          <p:cNvSpPr txBox="1"/>
          <p:nvPr/>
        </p:nvSpPr>
        <p:spPr>
          <a:xfrm>
            <a:off x="914398" y="4915983"/>
            <a:ext cx="27002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It was a good movie!</a:t>
            </a:r>
            <a:endParaRPr kumimoji="1" lang="zh-TW" altLang="en-US" sz="2000" dirty="0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E19908D8-0CAC-1259-B1A5-9DF525F8A467}"/>
              </a:ext>
            </a:extLst>
          </p:cNvPr>
          <p:cNvCxnSpPr>
            <a:cxnSpLocks/>
          </p:cNvCxnSpPr>
          <p:nvPr/>
        </p:nvCxnSpPr>
        <p:spPr>
          <a:xfrm>
            <a:off x="8541799" y="5155240"/>
            <a:ext cx="745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645E61B6-C37C-3465-C508-3B216C5BD09B}"/>
              </a:ext>
            </a:extLst>
          </p:cNvPr>
          <p:cNvSpPr txBox="1"/>
          <p:nvPr/>
        </p:nvSpPr>
        <p:spPr>
          <a:xfrm>
            <a:off x="9473211" y="4979452"/>
            <a:ext cx="121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Positive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7BC3C1-050B-4641-2D87-8A9B0B56134E}"/>
              </a:ext>
            </a:extLst>
          </p:cNvPr>
          <p:cNvSpPr/>
          <p:nvPr/>
        </p:nvSpPr>
        <p:spPr>
          <a:xfrm>
            <a:off x="7901133" y="4758338"/>
            <a:ext cx="255066" cy="7746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6615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/>
      <p:bldP spid="14" grpId="0"/>
      <p:bldP spid="15" grpId="0"/>
      <p:bldP spid="16" grpId="0" animBg="1"/>
      <p:bldP spid="18" grpId="0"/>
      <p:bldP spid="20" grpId="0"/>
      <p:bldP spid="2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ECFD3-9F9E-D486-2DC7-84073400A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C0D99D-1E40-8E98-9837-A229A457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>
                <a:ea typeface="新細明體"/>
                <a:cs typeface="Calibri Light"/>
              </a:rPr>
              <a:t>BERT (</a:t>
            </a:r>
            <a:r>
              <a:rPr lang="en" altLang="zh-TW" dirty="0">
                <a:solidFill>
                  <a:srgbClr val="FF0000"/>
                </a:solidFill>
                <a:ea typeface="新細明體"/>
                <a:cs typeface="Calibri Light"/>
              </a:rPr>
              <a:t>Bidirectional </a:t>
            </a:r>
            <a:r>
              <a:rPr lang="en" altLang="zh-TW" dirty="0">
                <a:solidFill>
                  <a:schemeClr val="tx1"/>
                </a:solidFill>
                <a:ea typeface="新細明體"/>
                <a:cs typeface="Calibri Light"/>
              </a:rPr>
              <a:t>Encoder Representations from Transformers</a:t>
            </a:r>
            <a:r>
              <a:rPr lang="en-US" altLang="zh-TW" dirty="0">
                <a:ea typeface="新細明體"/>
                <a:cs typeface="Calibri Light"/>
              </a:rPr>
              <a:t>)</a:t>
            </a:r>
            <a:endParaRPr 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44121A3-4B88-E98F-8D6C-0396D775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32</a:t>
            </a:fld>
            <a:endParaRPr lang="zh-TW" altLang="en-US"/>
          </a:p>
        </p:txBody>
      </p:sp>
      <p:sp>
        <p:nvSpPr>
          <p:cNvPr id="78" name="Google Shape;187;p17">
            <a:extLst>
              <a:ext uri="{FF2B5EF4-FFF2-40B4-BE49-F238E27FC236}">
                <a16:creationId xmlns:a16="http://schemas.microsoft.com/office/drawing/2014/main" id="{12078826-8F85-944B-ADBB-9FD846B897DC}"/>
              </a:ext>
            </a:extLst>
          </p:cNvPr>
          <p:cNvSpPr/>
          <p:nvPr/>
        </p:nvSpPr>
        <p:spPr>
          <a:xfrm>
            <a:off x="240884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88;p17">
            <a:extLst>
              <a:ext uri="{FF2B5EF4-FFF2-40B4-BE49-F238E27FC236}">
                <a16:creationId xmlns:a16="http://schemas.microsoft.com/office/drawing/2014/main" id="{C5EB92C9-179D-21A5-A8B1-A959D1399419}"/>
              </a:ext>
            </a:extLst>
          </p:cNvPr>
          <p:cNvSpPr/>
          <p:nvPr/>
        </p:nvSpPr>
        <p:spPr>
          <a:xfrm>
            <a:off x="169876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89;p17">
            <a:extLst>
              <a:ext uri="{FF2B5EF4-FFF2-40B4-BE49-F238E27FC236}">
                <a16:creationId xmlns:a16="http://schemas.microsoft.com/office/drawing/2014/main" id="{BD6637FB-70DE-4DEE-362A-B3E116F08900}"/>
              </a:ext>
            </a:extLst>
          </p:cNvPr>
          <p:cNvSpPr/>
          <p:nvPr/>
        </p:nvSpPr>
        <p:spPr>
          <a:xfrm>
            <a:off x="4538547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1" name="Google Shape;192;p17">
            <a:extLst>
              <a:ext uri="{FF2B5EF4-FFF2-40B4-BE49-F238E27FC236}">
                <a16:creationId xmlns:a16="http://schemas.microsoft.com/office/drawing/2014/main" id="{572F978B-DB27-932D-EBBB-25910B7F0C71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" name="Google Shape;193;p17">
            <a:extLst>
              <a:ext uri="{FF2B5EF4-FFF2-40B4-BE49-F238E27FC236}">
                <a16:creationId xmlns:a16="http://schemas.microsoft.com/office/drawing/2014/main" id="{DE52FF4E-4D57-718C-A568-E103C0C28ABD}"/>
              </a:ext>
            </a:extLst>
          </p:cNvPr>
          <p:cNvCxnSpPr>
            <a:cxnSpLocks/>
          </p:cNvCxnSpPr>
          <p:nvPr/>
        </p:nvCxnSpPr>
        <p:spPr>
          <a:xfrm rot="10800000">
            <a:off x="3206079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194;p17">
            <a:extLst>
              <a:ext uri="{FF2B5EF4-FFF2-40B4-BE49-F238E27FC236}">
                <a16:creationId xmlns:a16="http://schemas.microsoft.com/office/drawing/2014/main" id="{9E1B86D0-167B-F82B-4971-C1294716FF23}"/>
              </a:ext>
            </a:extLst>
          </p:cNvPr>
          <p:cNvCxnSpPr>
            <a:cxnSpLocks/>
          </p:cNvCxnSpPr>
          <p:nvPr/>
        </p:nvCxnSpPr>
        <p:spPr>
          <a:xfrm rot="10800000">
            <a:off x="391616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195;p17">
            <a:extLst>
              <a:ext uri="{FF2B5EF4-FFF2-40B4-BE49-F238E27FC236}">
                <a16:creationId xmlns:a16="http://schemas.microsoft.com/office/drawing/2014/main" id="{C91EDADF-2EF4-0682-E7C1-A612A6B98835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" name="Google Shape;200;p17">
            <a:extLst>
              <a:ext uri="{FF2B5EF4-FFF2-40B4-BE49-F238E27FC236}">
                <a16:creationId xmlns:a16="http://schemas.microsoft.com/office/drawing/2014/main" id="{08EE0E68-9D18-DAEC-6E65-313766CEBCE7}"/>
              </a:ext>
            </a:extLst>
          </p:cNvPr>
          <p:cNvSpPr txBox="1"/>
          <p:nvPr/>
        </p:nvSpPr>
        <p:spPr>
          <a:xfrm>
            <a:off x="3524904" y="2546158"/>
            <a:ext cx="754871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bank</a:t>
            </a:r>
            <a:endParaRPr sz="16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202;p17">
            <a:extLst>
              <a:ext uri="{FF2B5EF4-FFF2-40B4-BE49-F238E27FC236}">
                <a16:creationId xmlns:a16="http://schemas.microsoft.com/office/drawing/2014/main" id="{BFAD6294-3106-25E9-8AA3-AAE0FC3A1DBE}"/>
              </a:ext>
            </a:extLst>
          </p:cNvPr>
          <p:cNvSpPr txBox="1"/>
          <p:nvPr/>
        </p:nvSpPr>
        <p:spPr>
          <a:xfrm>
            <a:off x="2042139" y="2047434"/>
            <a:ext cx="315321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Masked Language Modelling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203;p17">
            <a:extLst>
              <a:ext uri="{FF2B5EF4-FFF2-40B4-BE49-F238E27FC236}">
                <a16:creationId xmlns:a16="http://schemas.microsoft.com/office/drawing/2014/main" id="{DAF192C6-ADD0-689F-D3D2-95114000BF88}"/>
              </a:ext>
            </a:extLst>
          </p:cNvPr>
          <p:cNvSpPr txBox="1"/>
          <p:nvPr/>
        </p:nvSpPr>
        <p:spPr>
          <a:xfrm>
            <a:off x="7225343" y="2047433"/>
            <a:ext cx="29845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Roboto"/>
                <a:ea typeface="Roboto"/>
                <a:cs typeface="Roboto"/>
                <a:sym typeface="Roboto"/>
              </a:rPr>
              <a:t>Next Sentence Prediction</a:t>
            </a: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" name="Google Shape;218;p17">
            <a:extLst>
              <a:ext uri="{FF2B5EF4-FFF2-40B4-BE49-F238E27FC236}">
                <a16:creationId xmlns:a16="http://schemas.microsoft.com/office/drawing/2014/main" id="{89487FEF-8D42-11B8-9126-1E705AD9B8EA}"/>
              </a:ext>
            </a:extLst>
          </p:cNvPr>
          <p:cNvCxnSpPr>
            <a:cxnSpLocks/>
          </p:cNvCxnSpPr>
          <p:nvPr/>
        </p:nvCxnSpPr>
        <p:spPr>
          <a:xfrm flipV="1">
            <a:off x="6926968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" name="Google Shape;224;p17">
            <a:extLst>
              <a:ext uri="{FF2B5EF4-FFF2-40B4-BE49-F238E27FC236}">
                <a16:creationId xmlns:a16="http://schemas.microsoft.com/office/drawing/2014/main" id="{9C2B0B34-C579-B13F-2C97-862E5EC79054}"/>
              </a:ext>
            </a:extLst>
          </p:cNvPr>
          <p:cNvSpPr txBox="1"/>
          <p:nvPr/>
        </p:nvSpPr>
        <p:spPr>
          <a:xfrm>
            <a:off x="6331918" y="2438925"/>
            <a:ext cx="1190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dirty="0">
                <a:solidFill>
                  <a:srgbClr val="4A86E8"/>
                </a:solidFill>
                <a:latin typeface="Roboto"/>
                <a:ea typeface="Roboto"/>
                <a:cs typeface="Roboto"/>
                <a:sym typeface="Roboto"/>
              </a:rPr>
              <a:t>binary classification</a:t>
            </a:r>
            <a:endParaRPr sz="1300" dirty="0">
              <a:solidFill>
                <a:srgbClr val="4A86E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225;p17">
            <a:extLst>
              <a:ext uri="{FF2B5EF4-FFF2-40B4-BE49-F238E27FC236}">
                <a16:creationId xmlns:a16="http://schemas.microsoft.com/office/drawing/2014/main" id="{D2598E16-928B-F8ED-B1BC-08D08E1361F3}"/>
              </a:ext>
            </a:extLst>
          </p:cNvPr>
          <p:cNvSpPr txBox="1"/>
          <p:nvPr/>
        </p:nvSpPr>
        <p:spPr>
          <a:xfrm>
            <a:off x="1965207" y="6308224"/>
            <a:ext cx="827704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TW" sz="1200" dirty="0">
                <a:latin typeface="Roboto"/>
                <a:ea typeface="Roboto"/>
                <a:cs typeface="Roboto"/>
                <a:sym typeface="Roboto"/>
              </a:rPr>
              <a:t>Devlin, Jacob, et al. "BERT: Pre-training of Deep Bidirectional Transformers for Language Understanding." NAACL 2019.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" name="Google Shape;195;p17">
            <a:extLst>
              <a:ext uri="{FF2B5EF4-FFF2-40B4-BE49-F238E27FC236}">
                <a16:creationId xmlns:a16="http://schemas.microsoft.com/office/drawing/2014/main" id="{66CA495A-19E6-1812-1E75-1E6512F61A5C}"/>
              </a:ext>
            </a:extLst>
          </p:cNvPr>
          <p:cNvCxnSpPr>
            <a:cxnSpLocks/>
          </p:cNvCxnSpPr>
          <p:nvPr/>
        </p:nvCxnSpPr>
        <p:spPr>
          <a:xfrm rot="10800000">
            <a:off x="2495994" y="538441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192;p17">
            <a:extLst>
              <a:ext uri="{FF2B5EF4-FFF2-40B4-BE49-F238E27FC236}">
                <a16:creationId xmlns:a16="http://schemas.microsoft.com/office/drawing/2014/main" id="{778DFAAD-6C8A-361E-FB33-A4D796293694}"/>
              </a:ext>
            </a:extLst>
          </p:cNvPr>
          <p:cNvCxnSpPr>
            <a:cxnSpLocks/>
          </p:cNvCxnSpPr>
          <p:nvPr/>
        </p:nvCxnSpPr>
        <p:spPr>
          <a:xfrm rot="10800000">
            <a:off x="1785909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3" name="Google Shape;193;p17">
            <a:extLst>
              <a:ext uri="{FF2B5EF4-FFF2-40B4-BE49-F238E27FC236}">
                <a16:creationId xmlns:a16="http://schemas.microsoft.com/office/drawing/2014/main" id="{C1E80CEC-50C0-7A87-E961-F4BBEA568B72}"/>
              </a:ext>
            </a:extLst>
          </p:cNvPr>
          <p:cNvCxnSpPr>
            <a:cxnSpLocks/>
          </p:cNvCxnSpPr>
          <p:nvPr/>
        </p:nvCxnSpPr>
        <p:spPr>
          <a:xfrm rot="10800000">
            <a:off x="320607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" name="Google Shape;194;p17">
            <a:extLst>
              <a:ext uri="{FF2B5EF4-FFF2-40B4-BE49-F238E27FC236}">
                <a16:creationId xmlns:a16="http://schemas.microsoft.com/office/drawing/2014/main" id="{65861D38-33A3-6511-151B-CF27648E78AB}"/>
              </a:ext>
            </a:extLst>
          </p:cNvPr>
          <p:cNvCxnSpPr>
            <a:cxnSpLocks/>
          </p:cNvCxnSpPr>
          <p:nvPr/>
        </p:nvCxnSpPr>
        <p:spPr>
          <a:xfrm rot="10800000">
            <a:off x="3916161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195;p17">
            <a:extLst>
              <a:ext uri="{FF2B5EF4-FFF2-40B4-BE49-F238E27FC236}">
                <a16:creationId xmlns:a16="http://schemas.microsoft.com/office/drawing/2014/main" id="{C5C110D0-DF8E-4BD4-7DEB-66571C28E076}"/>
              </a:ext>
            </a:extLst>
          </p:cNvPr>
          <p:cNvCxnSpPr>
            <a:cxnSpLocks/>
          </p:cNvCxnSpPr>
          <p:nvPr/>
        </p:nvCxnSpPr>
        <p:spPr>
          <a:xfrm rot="10800000">
            <a:off x="4626247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6" name="Google Shape;195;p17">
            <a:extLst>
              <a:ext uri="{FF2B5EF4-FFF2-40B4-BE49-F238E27FC236}">
                <a16:creationId xmlns:a16="http://schemas.microsoft.com/office/drawing/2014/main" id="{EFD06827-5649-BA80-52DA-0012BF5383FF}"/>
              </a:ext>
            </a:extLst>
          </p:cNvPr>
          <p:cNvCxnSpPr>
            <a:cxnSpLocks/>
          </p:cNvCxnSpPr>
          <p:nvPr/>
        </p:nvCxnSpPr>
        <p:spPr>
          <a:xfrm rot="10800000">
            <a:off x="2495993" y="429552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" name="Google Shape;187;p17">
            <a:extLst>
              <a:ext uri="{FF2B5EF4-FFF2-40B4-BE49-F238E27FC236}">
                <a16:creationId xmlns:a16="http://schemas.microsoft.com/office/drawing/2014/main" id="{558102B0-D487-A2C1-EF09-57DC0FCD8CBC}"/>
              </a:ext>
            </a:extLst>
          </p:cNvPr>
          <p:cNvSpPr/>
          <p:nvPr/>
        </p:nvSpPr>
        <p:spPr>
          <a:xfrm>
            <a:off x="312085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187;p17">
            <a:extLst>
              <a:ext uri="{FF2B5EF4-FFF2-40B4-BE49-F238E27FC236}">
                <a16:creationId xmlns:a16="http://schemas.microsoft.com/office/drawing/2014/main" id="{24679670-27FD-5658-45B2-3EDC97809CFD}"/>
              </a:ext>
            </a:extLst>
          </p:cNvPr>
          <p:cNvSpPr/>
          <p:nvPr/>
        </p:nvSpPr>
        <p:spPr>
          <a:xfrm>
            <a:off x="3819502" y="3667141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88D790F2-302A-1D31-CB9E-A2BBC2A7909D}"/>
              </a:ext>
            </a:extLst>
          </p:cNvPr>
          <p:cNvSpPr txBox="1"/>
          <p:nvPr/>
        </p:nvSpPr>
        <p:spPr>
          <a:xfrm>
            <a:off x="1476977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98762416-0669-652B-27F1-64287FEE488B}"/>
              </a:ext>
            </a:extLst>
          </p:cNvPr>
          <p:cNvSpPr txBox="1"/>
          <p:nvPr/>
        </p:nvSpPr>
        <p:spPr>
          <a:xfrm>
            <a:off x="218706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open</a:t>
            </a:r>
            <a:endParaRPr kumimoji="1" lang="zh-TW" altLang="en-US" sz="1300" dirty="0"/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CF1689B9-BC07-370F-3C26-2995578C7B6F}"/>
              </a:ext>
            </a:extLst>
          </p:cNvPr>
          <p:cNvSpPr txBox="1"/>
          <p:nvPr/>
        </p:nvSpPr>
        <p:spPr>
          <a:xfrm>
            <a:off x="289642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</a:t>
            </a:r>
            <a:endParaRPr kumimoji="1" lang="zh-TW" altLang="en-US" sz="1300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D3C6A9AC-925C-665B-DDA9-E28F39928D95}"/>
              </a:ext>
            </a:extLst>
          </p:cNvPr>
          <p:cNvSpPr txBox="1"/>
          <p:nvPr/>
        </p:nvSpPr>
        <p:spPr>
          <a:xfrm>
            <a:off x="3503432" y="5573410"/>
            <a:ext cx="82444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>
                <a:solidFill>
                  <a:srgbClr val="FF0000"/>
                </a:solidFill>
              </a:rPr>
              <a:t>[MASK]</a:t>
            </a:r>
            <a:endParaRPr kumimoji="1" lang="zh-TW" altLang="en-US" sz="1300" dirty="0">
              <a:solidFill>
                <a:srgbClr val="FF0000"/>
              </a:solidFill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E621D8CB-3C9C-42D1-B506-AA87DFFB7C9B}"/>
              </a:ext>
            </a:extLst>
          </p:cNvPr>
          <p:cNvSpPr txBox="1"/>
          <p:nvPr/>
        </p:nvSpPr>
        <p:spPr>
          <a:xfrm>
            <a:off x="4188131" y="5554371"/>
            <a:ext cx="88161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account</a:t>
            </a:r>
            <a:endParaRPr kumimoji="1" lang="zh-TW" altLang="en-US" sz="1300" dirty="0"/>
          </a:p>
        </p:txBody>
      </p:sp>
      <p:sp>
        <p:nvSpPr>
          <p:cNvPr id="104" name="Google Shape;187;p17">
            <a:extLst>
              <a:ext uri="{FF2B5EF4-FFF2-40B4-BE49-F238E27FC236}">
                <a16:creationId xmlns:a16="http://schemas.microsoft.com/office/drawing/2014/main" id="{59572B40-01A3-7EAF-C5B8-000D6904EBBD}"/>
              </a:ext>
            </a:extLst>
          </p:cNvPr>
          <p:cNvSpPr/>
          <p:nvPr/>
        </p:nvSpPr>
        <p:spPr>
          <a:xfrm>
            <a:off x="754990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88;p17">
            <a:extLst>
              <a:ext uri="{FF2B5EF4-FFF2-40B4-BE49-F238E27FC236}">
                <a16:creationId xmlns:a16="http://schemas.microsoft.com/office/drawing/2014/main" id="{A2138C0A-D63F-B196-E393-70D87DEBF3E6}"/>
              </a:ext>
            </a:extLst>
          </p:cNvPr>
          <p:cNvSpPr/>
          <p:nvPr/>
        </p:nvSpPr>
        <p:spPr>
          <a:xfrm>
            <a:off x="683982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89;p17">
            <a:extLst>
              <a:ext uri="{FF2B5EF4-FFF2-40B4-BE49-F238E27FC236}">
                <a16:creationId xmlns:a16="http://schemas.microsoft.com/office/drawing/2014/main" id="{653CD364-19D7-3745-8D3E-F906F3D8C516}"/>
              </a:ext>
            </a:extLst>
          </p:cNvPr>
          <p:cNvSpPr/>
          <p:nvPr/>
        </p:nvSpPr>
        <p:spPr>
          <a:xfrm>
            <a:off x="9679607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7" name="Google Shape;192;p17">
            <a:extLst>
              <a:ext uri="{FF2B5EF4-FFF2-40B4-BE49-F238E27FC236}">
                <a16:creationId xmlns:a16="http://schemas.microsoft.com/office/drawing/2014/main" id="{E1AB6907-4E04-C4D0-827C-2C448E29DF72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8" name="Google Shape;193;p17">
            <a:extLst>
              <a:ext uri="{FF2B5EF4-FFF2-40B4-BE49-F238E27FC236}">
                <a16:creationId xmlns:a16="http://schemas.microsoft.com/office/drawing/2014/main" id="{85141E47-534E-96C2-550D-CF8B36FAA3B5}"/>
              </a:ext>
            </a:extLst>
          </p:cNvPr>
          <p:cNvCxnSpPr>
            <a:cxnSpLocks/>
          </p:cNvCxnSpPr>
          <p:nvPr/>
        </p:nvCxnSpPr>
        <p:spPr>
          <a:xfrm rot="10800000">
            <a:off x="8347139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Google Shape;194;p17">
            <a:extLst>
              <a:ext uri="{FF2B5EF4-FFF2-40B4-BE49-F238E27FC236}">
                <a16:creationId xmlns:a16="http://schemas.microsoft.com/office/drawing/2014/main" id="{9EB206F7-D6E3-A3B7-26CB-534F2D72CD4D}"/>
              </a:ext>
            </a:extLst>
          </p:cNvPr>
          <p:cNvCxnSpPr>
            <a:cxnSpLocks/>
          </p:cNvCxnSpPr>
          <p:nvPr/>
        </p:nvCxnSpPr>
        <p:spPr>
          <a:xfrm rot="10800000">
            <a:off x="905722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0" name="Google Shape;195;p17">
            <a:extLst>
              <a:ext uri="{FF2B5EF4-FFF2-40B4-BE49-F238E27FC236}">
                <a16:creationId xmlns:a16="http://schemas.microsoft.com/office/drawing/2014/main" id="{E2165EF3-15EC-4C88-F0C1-E70DD258E1FB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" name="Google Shape;204;p17">
            <a:extLst>
              <a:ext uri="{FF2B5EF4-FFF2-40B4-BE49-F238E27FC236}">
                <a16:creationId xmlns:a16="http://schemas.microsoft.com/office/drawing/2014/main" id="{E0DB81CE-AB87-EF79-D2CC-9D1E585D8EC8}"/>
              </a:ext>
            </a:extLst>
          </p:cNvPr>
          <p:cNvSpPr/>
          <p:nvPr/>
        </p:nvSpPr>
        <p:spPr>
          <a:xfrm>
            <a:off x="6607739" y="4567753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lvl="0" algn="ctr"/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Transformer Encoder</a:t>
            </a:r>
            <a:r>
              <a:rPr lang="zh-TW" dirty="0"/>
              <a:t>)</a:t>
            </a:r>
            <a:endParaRPr dirty="0"/>
          </a:p>
        </p:txBody>
      </p:sp>
      <p:cxnSp>
        <p:nvCxnSpPr>
          <p:cNvPr id="112" name="Google Shape;195;p17">
            <a:extLst>
              <a:ext uri="{FF2B5EF4-FFF2-40B4-BE49-F238E27FC236}">
                <a16:creationId xmlns:a16="http://schemas.microsoft.com/office/drawing/2014/main" id="{35D8230C-B91F-711F-F2F2-C9C3CA150681}"/>
              </a:ext>
            </a:extLst>
          </p:cNvPr>
          <p:cNvCxnSpPr>
            <a:cxnSpLocks/>
          </p:cNvCxnSpPr>
          <p:nvPr/>
        </p:nvCxnSpPr>
        <p:spPr>
          <a:xfrm rot="10800000">
            <a:off x="763705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92;p17">
            <a:extLst>
              <a:ext uri="{FF2B5EF4-FFF2-40B4-BE49-F238E27FC236}">
                <a16:creationId xmlns:a16="http://schemas.microsoft.com/office/drawing/2014/main" id="{3FC8E1FA-890E-BD73-CC1E-A0F28B7F5261}"/>
              </a:ext>
            </a:extLst>
          </p:cNvPr>
          <p:cNvCxnSpPr>
            <a:cxnSpLocks/>
          </p:cNvCxnSpPr>
          <p:nvPr/>
        </p:nvCxnSpPr>
        <p:spPr>
          <a:xfrm rot="10800000">
            <a:off x="6926969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93;p17">
            <a:extLst>
              <a:ext uri="{FF2B5EF4-FFF2-40B4-BE49-F238E27FC236}">
                <a16:creationId xmlns:a16="http://schemas.microsoft.com/office/drawing/2014/main" id="{D9F59E43-A1E2-FB62-B95E-A3943CF664A6}"/>
              </a:ext>
            </a:extLst>
          </p:cNvPr>
          <p:cNvCxnSpPr>
            <a:cxnSpLocks/>
          </p:cNvCxnSpPr>
          <p:nvPr/>
        </p:nvCxnSpPr>
        <p:spPr>
          <a:xfrm rot="10800000">
            <a:off x="834713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94;p17">
            <a:extLst>
              <a:ext uri="{FF2B5EF4-FFF2-40B4-BE49-F238E27FC236}">
                <a16:creationId xmlns:a16="http://schemas.microsoft.com/office/drawing/2014/main" id="{7CD6648E-DC1C-EC0E-53D1-38F1C2C2B0C0}"/>
              </a:ext>
            </a:extLst>
          </p:cNvPr>
          <p:cNvCxnSpPr>
            <a:cxnSpLocks/>
          </p:cNvCxnSpPr>
          <p:nvPr/>
        </p:nvCxnSpPr>
        <p:spPr>
          <a:xfrm rot="10800000">
            <a:off x="9057221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95;p17">
            <a:extLst>
              <a:ext uri="{FF2B5EF4-FFF2-40B4-BE49-F238E27FC236}">
                <a16:creationId xmlns:a16="http://schemas.microsoft.com/office/drawing/2014/main" id="{25DA74D1-FAC8-57CA-5039-88343815ADEE}"/>
              </a:ext>
            </a:extLst>
          </p:cNvPr>
          <p:cNvCxnSpPr>
            <a:cxnSpLocks/>
          </p:cNvCxnSpPr>
          <p:nvPr/>
        </p:nvCxnSpPr>
        <p:spPr>
          <a:xfrm rot="10800000">
            <a:off x="9767307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95;p17">
            <a:extLst>
              <a:ext uri="{FF2B5EF4-FFF2-40B4-BE49-F238E27FC236}">
                <a16:creationId xmlns:a16="http://schemas.microsoft.com/office/drawing/2014/main" id="{2C14B876-1C4A-636F-4EE8-28AD25172CFC}"/>
              </a:ext>
            </a:extLst>
          </p:cNvPr>
          <p:cNvCxnSpPr>
            <a:cxnSpLocks/>
          </p:cNvCxnSpPr>
          <p:nvPr/>
        </p:nvCxnSpPr>
        <p:spPr>
          <a:xfrm rot="10800000">
            <a:off x="7637053" y="429979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87;p17">
            <a:extLst>
              <a:ext uri="{FF2B5EF4-FFF2-40B4-BE49-F238E27FC236}">
                <a16:creationId xmlns:a16="http://schemas.microsoft.com/office/drawing/2014/main" id="{DE2EE9E7-1DA0-658F-48D0-84B8CBAA5820}"/>
              </a:ext>
            </a:extLst>
          </p:cNvPr>
          <p:cNvSpPr/>
          <p:nvPr/>
        </p:nvSpPr>
        <p:spPr>
          <a:xfrm>
            <a:off x="826191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87;p17">
            <a:extLst>
              <a:ext uri="{FF2B5EF4-FFF2-40B4-BE49-F238E27FC236}">
                <a16:creationId xmlns:a16="http://schemas.microsoft.com/office/drawing/2014/main" id="{27C9A567-27DF-2703-3BF3-DC70801965ED}"/>
              </a:ext>
            </a:extLst>
          </p:cNvPr>
          <p:cNvSpPr/>
          <p:nvPr/>
        </p:nvSpPr>
        <p:spPr>
          <a:xfrm>
            <a:off x="8960562" y="3671414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文字方塊 119">
            <a:extLst>
              <a:ext uri="{FF2B5EF4-FFF2-40B4-BE49-F238E27FC236}">
                <a16:creationId xmlns:a16="http://schemas.microsoft.com/office/drawing/2014/main" id="{02A8C332-AC64-C148-8283-2BA88D80B94A}"/>
              </a:ext>
            </a:extLst>
          </p:cNvPr>
          <p:cNvSpPr txBox="1"/>
          <p:nvPr/>
        </p:nvSpPr>
        <p:spPr>
          <a:xfrm>
            <a:off x="6607481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[CLS]</a:t>
            </a:r>
            <a:endParaRPr kumimoji="1" lang="zh-TW" altLang="en-US" sz="1300" dirty="0"/>
          </a:p>
        </p:txBody>
      </p:sp>
      <p:sp>
        <p:nvSpPr>
          <p:cNvPr id="121" name="文字方塊 120">
            <a:extLst>
              <a:ext uri="{FF2B5EF4-FFF2-40B4-BE49-F238E27FC236}">
                <a16:creationId xmlns:a16="http://schemas.microsoft.com/office/drawing/2014/main" id="{A9FE2F54-4A09-A1D9-4463-BE47C826E83B}"/>
              </a:ext>
            </a:extLst>
          </p:cNvPr>
          <p:cNvSpPr txBox="1"/>
          <p:nvPr/>
        </p:nvSpPr>
        <p:spPr>
          <a:xfrm>
            <a:off x="725528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study</a:t>
            </a:r>
            <a:endParaRPr kumimoji="1" lang="zh-TW" altLang="en-US" sz="1300" dirty="0"/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52805FBA-C031-BF0B-948B-2D3A3E19D0A7}"/>
              </a:ext>
            </a:extLst>
          </p:cNvPr>
          <p:cNvSpPr txBox="1"/>
          <p:nvPr/>
        </p:nvSpPr>
        <p:spPr>
          <a:xfrm>
            <a:off x="7992096" y="5554371"/>
            <a:ext cx="73681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hard</a:t>
            </a:r>
            <a:endParaRPr kumimoji="1" lang="zh-TW" altLang="en-US" sz="1300" dirty="0"/>
          </a:p>
        </p:txBody>
      </p: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E670CD33-E05E-D383-6E36-D3851C6E858B}"/>
              </a:ext>
            </a:extLst>
          </p:cNvPr>
          <p:cNvSpPr txBox="1"/>
          <p:nvPr/>
        </p:nvSpPr>
        <p:spPr>
          <a:xfrm>
            <a:off x="874829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9F09B156-E611-6D2A-68C9-3807FB3C3501}"/>
              </a:ext>
            </a:extLst>
          </p:cNvPr>
          <p:cNvSpPr txBox="1"/>
          <p:nvPr/>
        </p:nvSpPr>
        <p:spPr>
          <a:xfrm>
            <a:off x="9408044" y="5554371"/>
            <a:ext cx="7174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 err="1"/>
              <a:t>plz</a:t>
            </a:r>
            <a:endParaRPr kumimoji="1" lang="zh-TW" altLang="en-US" sz="1300" dirty="0"/>
          </a:p>
        </p:txBody>
      </p:sp>
      <p:cxnSp>
        <p:nvCxnSpPr>
          <p:cNvPr id="125" name="Google Shape;218;p17">
            <a:extLst>
              <a:ext uri="{FF2B5EF4-FFF2-40B4-BE49-F238E27FC236}">
                <a16:creationId xmlns:a16="http://schemas.microsoft.com/office/drawing/2014/main" id="{473F3D53-6A24-7B28-C5D9-F387152D36A1}"/>
              </a:ext>
            </a:extLst>
          </p:cNvPr>
          <p:cNvCxnSpPr>
            <a:cxnSpLocks/>
          </p:cNvCxnSpPr>
          <p:nvPr/>
        </p:nvCxnSpPr>
        <p:spPr>
          <a:xfrm flipV="1">
            <a:off x="3914227" y="3023925"/>
            <a:ext cx="0" cy="59361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" name="Google Shape;189;p17">
            <a:extLst>
              <a:ext uri="{FF2B5EF4-FFF2-40B4-BE49-F238E27FC236}">
                <a16:creationId xmlns:a16="http://schemas.microsoft.com/office/drawing/2014/main" id="{A1CB2C50-C879-6546-B45C-B7784D8B87C0}"/>
              </a:ext>
            </a:extLst>
          </p:cNvPr>
          <p:cNvSpPr/>
          <p:nvPr/>
        </p:nvSpPr>
        <p:spPr>
          <a:xfrm>
            <a:off x="10398652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" name="Google Shape;195;p17">
            <a:extLst>
              <a:ext uri="{FF2B5EF4-FFF2-40B4-BE49-F238E27FC236}">
                <a16:creationId xmlns:a16="http://schemas.microsoft.com/office/drawing/2014/main" id="{478D83BA-C7D3-C707-A342-E3BF7F033E88}"/>
              </a:ext>
            </a:extLst>
          </p:cNvPr>
          <p:cNvCxnSpPr>
            <a:cxnSpLocks/>
          </p:cNvCxnSpPr>
          <p:nvPr/>
        </p:nvCxnSpPr>
        <p:spPr>
          <a:xfrm rot="10800000">
            <a:off x="10486352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" name="Google Shape;194;p17">
            <a:extLst>
              <a:ext uri="{FF2B5EF4-FFF2-40B4-BE49-F238E27FC236}">
                <a16:creationId xmlns:a16="http://schemas.microsoft.com/office/drawing/2014/main" id="{258C40FA-1A10-5F0B-C970-982009A09BBF}"/>
              </a:ext>
            </a:extLst>
          </p:cNvPr>
          <p:cNvCxnSpPr>
            <a:cxnSpLocks/>
          </p:cNvCxnSpPr>
          <p:nvPr/>
        </p:nvCxnSpPr>
        <p:spPr>
          <a:xfrm rot="10800000">
            <a:off x="10457064" y="5388683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7BA7909F-BD6D-9EFB-1E5E-5241672DFBEC}"/>
              </a:ext>
            </a:extLst>
          </p:cNvPr>
          <p:cNvSpPr txBox="1"/>
          <p:nvPr/>
        </p:nvSpPr>
        <p:spPr>
          <a:xfrm>
            <a:off x="10148130" y="5554371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0" name="Google Shape;204;p17">
            <a:extLst>
              <a:ext uri="{FF2B5EF4-FFF2-40B4-BE49-F238E27FC236}">
                <a16:creationId xmlns:a16="http://schemas.microsoft.com/office/drawing/2014/main" id="{B7E77234-E015-E8B0-DEEA-AC759BA87B22}"/>
              </a:ext>
            </a:extLst>
          </p:cNvPr>
          <p:cNvSpPr/>
          <p:nvPr/>
        </p:nvSpPr>
        <p:spPr>
          <a:xfrm>
            <a:off x="1409171" y="4571995"/>
            <a:ext cx="4210222" cy="774600"/>
          </a:xfrm>
          <a:prstGeom prst="rect">
            <a:avLst/>
          </a:prstGeom>
          <a:noFill/>
          <a:ln w="19050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BERT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(</a:t>
            </a:r>
            <a:r>
              <a:rPr lang="en-US" altLang="zh-TW" b="1" dirty="0">
                <a:solidFill>
                  <a:srgbClr val="4A86E8"/>
                </a:solidFill>
              </a:rPr>
              <a:t>Transformer Encoder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131" name="Google Shape;189;p17">
            <a:extLst>
              <a:ext uri="{FF2B5EF4-FFF2-40B4-BE49-F238E27FC236}">
                <a16:creationId xmlns:a16="http://schemas.microsoft.com/office/drawing/2014/main" id="{A7D052AC-D463-C5AF-A591-99C18CB61E86}"/>
              </a:ext>
            </a:extLst>
          </p:cNvPr>
          <p:cNvSpPr/>
          <p:nvPr/>
        </p:nvSpPr>
        <p:spPr>
          <a:xfrm>
            <a:off x="5238170" y="3665353"/>
            <a:ext cx="174300" cy="524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2" name="Google Shape;195;p17">
            <a:extLst>
              <a:ext uri="{FF2B5EF4-FFF2-40B4-BE49-F238E27FC236}">
                <a16:creationId xmlns:a16="http://schemas.microsoft.com/office/drawing/2014/main" id="{60600E89-5453-EF68-D985-38A317C2F7A4}"/>
              </a:ext>
            </a:extLst>
          </p:cNvPr>
          <p:cNvCxnSpPr>
            <a:cxnSpLocks/>
          </p:cNvCxnSpPr>
          <p:nvPr/>
        </p:nvCxnSpPr>
        <p:spPr>
          <a:xfrm rot="10800000">
            <a:off x="5325870" y="429373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3" name="Google Shape;194;p17">
            <a:extLst>
              <a:ext uri="{FF2B5EF4-FFF2-40B4-BE49-F238E27FC236}">
                <a16:creationId xmlns:a16="http://schemas.microsoft.com/office/drawing/2014/main" id="{B96111B0-6497-73D3-60AD-97486643F3EC}"/>
              </a:ext>
            </a:extLst>
          </p:cNvPr>
          <p:cNvCxnSpPr>
            <a:cxnSpLocks/>
          </p:cNvCxnSpPr>
          <p:nvPr/>
        </p:nvCxnSpPr>
        <p:spPr>
          <a:xfrm rot="10800000">
            <a:off x="5304033" y="5391784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9FFE0A9B-BCD2-39C8-0172-6FC6CA736A8A}"/>
              </a:ext>
            </a:extLst>
          </p:cNvPr>
          <p:cNvSpPr txBox="1"/>
          <p:nvPr/>
        </p:nvSpPr>
        <p:spPr>
          <a:xfrm>
            <a:off x="4995099" y="5557472"/>
            <a:ext cx="61786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300" dirty="0"/>
              <a:t>[SEP]</a:t>
            </a:r>
            <a:endParaRPr kumimoji="1" lang="zh-TW" altLang="en-US" sz="1300" dirty="0"/>
          </a:p>
        </p:txBody>
      </p:sp>
      <p:sp>
        <p:nvSpPr>
          <p:cNvPr id="135" name="橢圓 134">
            <a:extLst>
              <a:ext uri="{FF2B5EF4-FFF2-40B4-BE49-F238E27FC236}">
                <a16:creationId xmlns:a16="http://schemas.microsoft.com/office/drawing/2014/main" id="{0E02166C-27AB-9A44-EE56-993C9EC6D96B}"/>
              </a:ext>
            </a:extLst>
          </p:cNvPr>
          <p:cNvSpPr/>
          <p:nvPr/>
        </p:nvSpPr>
        <p:spPr>
          <a:xfrm>
            <a:off x="6569567" y="5442805"/>
            <a:ext cx="712443" cy="5850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AB7628-2F91-9C65-3980-4BC58D1E4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92" y="1574318"/>
            <a:ext cx="10058400" cy="1244437"/>
          </a:xfrm>
        </p:spPr>
        <p:txBody>
          <a:bodyPr vert="horz" lIns="0" tIns="45720" rIns="0" bIns="45720" rtlCol="0" anchor="t">
            <a:normAutofit/>
          </a:bodyPr>
          <a:lstStyle/>
          <a:p>
            <a:pPr indent="-360000"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TW" dirty="0">
                <a:ea typeface="Microsoft JhengHei" panose="020B0604030504040204" pitchFamily="34" charset="-120"/>
                <a:cs typeface="+mn-lt"/>
              </a:rPr>
              <a:t>BERT</a:t>
            </a:r>
            <a:r>
              <a:rPr lang="zh-TW" altLang="en-US" dirty="0">
                <a:ea typeface="Microsoft JhengHei" panose="020B0604030504040204" pitchFamily="34" charset="-120"/>
                <a:cs typeface="+mn-lt"/>
              </a:rPr>
              <a:t> 有兩種預訓練任務：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04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80" grpId="0" animBg="1"/>
      <p:bldP spid="85" grpId="0"/>
      <p:bldP spid="86" grpId="0"/>
      <p:bldP spid="87" grpId="0"/>
      <p:bldP spid="89" grpId="0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  <p:bldP spid="104" grpId="0" animBg="1"/>
      <p:bldP spid="105" grpId="0" animBg="1"/>
      <p:bldP spid="106" grpId="0" animBg="1"/>
      <p:bldP spid="111" grpId="0" animBg="1"/>
      <p:bldP spid="118" grpId="0" animBg="1"/>
      <p:bldP spid="119" grpId="0" animBg="1"/>
      <p:bldP spid="120" grpId="0"/>
      <p:bldP spid="121" grpId="0"/>
      <p:bldP spid="122" grpId="0"/>
      <p:bldP spid="123" grpId="0"/>
      <p:bldP spid="124" grpId="0"/>
      <p:bldP spid="126" grpId="0" animBg="1"/>
      <p:bldP spid="129" grpId="0"/>
      <p:bldP spid="130" grpId="0" animBg="1"/>
      <p:bldP spid="131" grpId="0" animBg="1"/>
      <p:bldP spid="134" grpId="0"/>
      <p:bldP spid="13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9FE73D-5B2D-B8CD-50E9-CC6C33FD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Generative Pre-Training (GPT)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304D16-0AA5-9C81-2FB8-20AAE2840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33</a:t>
            </a:fld>
            <a:endParaRPr kumimoji="1" lang="zh-TW" altLang="en-US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82E09C04-0713-AE29-192A-8A9D169B0217}"/>
              </a:ext>
            </a:extLst>
          </p:cNvPr>
          <p:cNvSpPr/>
          <p:nvPr/>
        </p:nvSpPr>
        <p:spPr>
          <a:xfrm>
            <a:off x="1100435" y="3493519"/>
            <a:ext cx="4055873" cy="94155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Language Model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AE072C59-3E7B-42F2-FB53-1A5CD1A1F3B6}"/>
              </a:ext>
            </a:extLst>
          </p:cNvPr>
          <p:cNvSpPr/>
          <p:nvPr/>
        </p:nvSpPr>
        <p:spPr>
          <a:xfrm>
            <a:off x="1182166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AD303DF3-F222-93FC-F627-A26E622E0420}"/>
              </a:ext>
            </a:extLst>
          </p:cNvPr>
          <p:cNvSpPr/>
          <p:nvPr/>
        </p:nvSpPr>
        <p:spPr>
          <a:xfrm>
            <a:off x="4096741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6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FDBEF7E5-B49E-5948-ED12-705648F46D1F}"/>
              </a:ext>
            </a:extLst>
          </p:cNvPr>
          <p:cNvSpPr/>
          <p:nvPr/>
        </p:nvSpPr>
        <p:spPr>
          <a:xfrm>
            <a:off x="4679658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B92F711C-34F0-700F-A5AA-46A96E794D2B}"/>
              </a:ext>
            </a:extLst>
          </p:cNvPr>
          <p:cNvSpPr/>
          <p:nvPr/>
        </p:nvSpPr>
        <p:spPr>
          <a:xfrm>
            <a:off x="1765081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2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BA88721C-EF06-2916-9750-B4A4DA6A2342}"/>
              </a:ext>
            </a:extLst>
          </p:cNvPr>
          <p:cNvSpPr/>
          <p:nvPr/>
        </p:nvSpPr>
        <p:spPr>
          <a:xfrm>
            <a:off x="2347996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59F9E098-78CD-3626-16F6-03C6220DE918}"/>
              </a:ext>
            </a:extLst>
          </p:cNvPr>
          <p:cNvSpPr/>
          <p:nvPr/>
        </p:nvSpPr>
        <p:spPr>
          <a:xfrm>
            <a:off x="2930911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4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C8FFD321-BF3A-3041-E3A6-A7AD2E8D6753}"/>
              </a:ext>
            </a:extLst>
          </p:cNvPr>
          <p:cNvSpPr/>
          <p:nvPr/>
        </p:nvSpPr>
        <p:spPr>
          <a:xfrm>
            <a:off x="3513826" y="4808137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760F4616-037C-9CFE-EA60-6F0CF446161B}"/>
              </a:ext>
            </a:extLst>
          </p:cNvPr>
          <p:cNvCxnSpPr>
            <a:cxnSpLocks/>
          </p:cNvCxnSpPr>
          <p:nvPr/>
        </p:nvCxnSpPr>
        <p:spPr>
          <a:xfrm flipV="1">
            <a:off x="1414094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87D06402-93F0-A6AA-B9CF-0DFFBDDCAF85}"/>
              </a:ext>
            </a:extLst>
          </p:cNvPr>
          <p:cNvCxnSpPr>
            <a:cxnSpLocks/>
          </p:cNvCxnSpPr>
          <p:nvPr/>
        </p:nvCxnSpPr>
        <p:spPr>
          <a:xfrm flipV="1">
            <a:off x="1994288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5D1048EB-AD1E-D6E4-7123-17F19442E07F}"/>
              </a:ext>
            </a:extLst>
          </p:cNvPr>
          <p:cNvCxnSpPr>
            <a:cxnSpLocks/>
          </p:cNvCxnSpPr>
          <p:nvPr/>
        </p:nvCxnSpPr>
        <p:spPr>
          <a:xfrm flipV="1">
            <a:off x="2574482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B5672EE7-10D6-3F62-81E0-B14C108F3EBF}"/>
              </a:ext>
            </a:extLst>
          </p:cNvPr>
          <p:cNvCxnSpPr>
            <a:cxnSpLocks/>
          </p:cNvCxnSpPr>
          <p:nvPr/>
        </p:nvCxnSpPr>
        <p:spPr>
          <a:xfrm flipV="1">
            <a:off x="3154676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F8576736-BFE0-E51A-0302-F6A7FC4B57E3}"/>
              </a:ext>
            </a:extLst>
          </p:cNvPr>
          <p:cNvCxnSpPr>
            <a:cxnSpLocks/>
          </p:cNvCxnSpPr>
          <p:nvPr/>
        </p:nvCxnSpPr>
        <p:spPr>
          <a:xfrm flipV="1">
            <a:off x="3734870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12CE8A7-EE5A-D65A-401B-F98FADB290E2}"/>
              </a:ext>
            </a:extLst>
          </p:cNvPr>
          <p:cNvCxnSpPr>
            <a:cxnSpLocks/>
          </p:cNvCxnSpPr>
          <p:nvPr/>
        </p:nvCxnSpPr>
        <p:spPr>
          <a:xfrm flipV="1">
            <a:off x="4315064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3C9410EF-5F92-3345-7830-4A146EEBDF2B}"/>
              </a:ext>
            </a:extLst>
          </p:cNvPr>
          <p:cNvCxnSpPr>
            <a:cxnSpLocks/>
          </p:cNvCxnSpPr>
          <p:nvPr/>
        </p:nvCxnSpPr>
        <p:spPr>
          <a:xfrm flipV="1">
            <a:off x="4895257" y="4496676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圓角矩形 19">
            <a:extLst>
              <a:ext uri="{FF2B5EF4-FFF2-40B4-BE49-F238E27FC236}">
                <a16:creationId xmlns:a16="http://schemas.microsoft.com/office/drawing/2014/main" id="{B8C8C6DE-EDB9-8B42-A287-196D4C6769D9}"/>
              </a:ext>
            </a:extLst>
          </p:cNvPr>
          <p:cNvSpPr/>
          <p:nvPr/>
        </p:nvSpPr>
        <p:spPr>
          <a:xfrm>
            <a:off x="4679658" y="2762426"/>
            <a:ext cx="448780" cy="375953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y</a:t>
            </a:r>
            <a:r>
              <a:rPr kumimoji="1" lang="en-US" altLang="zh-TW" baseline="-25000" dirty="0">
                <a:solidFill>
                  <a:schemeClr val="tx1"/>
                </a:solidFill>
              </a:rPr>
              <a:t>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4E010BAA-6EE8-D4F0-2F66-CB6C43458D42}"/>
              </a:ext>
            </a:extLst>
          </p:cNvPr>
          <p:cNvCxnSpPr>
            <a:cxnSpLocks/>
          </p:cNvCxnSpPr>
          <p:nvPr/>
        </p:nvCxnSpPr>
        <p:spPr>
          <a:xfrm flipV="1">
            <a:off x="4908864" y="3189049"/>
            <a:ext cx="0" cy="2639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">
            <a:extLst>
              <a:ext uri="{FF2B5EF4-FFF2-40B4-BE49-F238E27FC236}">
                <a16:creationId xmlns:a16="http://schemas.microsoft.com/office/drawing/2014/main" id="{6699E37F-2785-8189-58D7-DE16EB83185E}"/>
              </a:ext>
            </a:extLst>
          </p:cNvPr>
          <p:cNvSpPr txBox="1"/>
          <p:nvPr/>
        </p:nvSpPr>
        <p:spPr>
          <a:xfrm>
            <a:off x="4049820" y="2288218"/>
            <a:ext cx="17027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1600" b="1" dirty="0">
                <a:solidFill>
                  <a:srgbClr val="00B050"/>
                </a:solidFill>
              </a:rPr>
              <a:t>(The next word)</a:t>
            </a:r>
            <a:endParaRPr kumimoji="1" lang="zh-TW" altLang="en-US" sz="1600" b="1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4349DF0-0E4A-DF6C-17BA-FE61B367034A}"/>
                  </a:ext>
                </a:extLst>
              </p:cNvPr>
              <p:cNvSpPr txBox="1"/>
              <p:nvPr/>
            </p:nvSpPr>
            <p:spPr>
              <a:xfrm>
                <a:off x="6096000" y="2636822"/>
                <a:ext cx="34622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kumimoji="1" lang="en-US" altLang="zh-TW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4349DF0-0E4A-DF6C-17BA-FE61B3670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636822"/>
                <a:ext cx="3462292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>
            <a:extLst>
              <a:ext uri="{FF2B5EF4-FFF2-40B4-BE49-F238E27FC236}">
                <a16:creationId xmlns:a16="http://schemas.microsoft.com/office/drawing/2014/main" id="{8C1F141C-7EC8-12D3-B09A-05F2A01AC8A2}"/>
              </a:ext>
            </a:extLst>
          </p:cNvPr>
          <p:cNvSpPr txBox="1"/>
          <p:nvPr/>
        </p:nvSpPr>
        <p:spPr>
          <a:xfrm>
            <a:off x="5800590" y="3493519"/>
            <a:ext cx="59970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 model that assigns probabilities to upcoming words is called </a:t>
            </a:r>
            <a:r>
              <a:rPr kumimoji="1" lang="en-US" altLang="zh-TW" sz="2400" b="1" dirty="0"/>
              <a:t>a language model</a:t>
            </a:r>
            <a:r>
              <a:rPr kumimoji="1" lang="en-US" altLang="zh-TW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The task involving predictions of upcoming words is </a:t>
            </a:r>
            <a:r>
              <a:rPr kumimoji="1" lang="en-US" altLang="zh-TW" sz="2400" b="1" dirty="0"/>
              <a:t>language modeling</a:t>
            </a:r>
            <a:r>
              <a:rPr kumimoji="1" lang="en-US" altLang="zh-TW" sz="2400" dirty="0"/>
              <a:t>.</a:t>
            </a:r>
            <a:endParaRPr kumimoji="1" lang="zh-TW" altLang="en-US" sz="2400" dirty="0"/>
          </a:p>
        </p:txBody>
      </p:sp>
      <p:pic>
        <p:nvPicPr>
          <p:cNvPr id="25" name="圖形 24" descr="書本 以實心填滿">
            <a:extLst>
              <a:ext uri="{FF2B5EF4-FFF2-40B4-BE49-F238E27FC236}">
                <a16:creationId xmlns:a16="http://schemas.microsoft.com/office/drawing/2014/main" id="{5DA3141A-2D81-5F52-A510-EE32AC8154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9426" y="52315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9C1CA-7917-2BE2-465A-677A71A8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GPT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系列作品（有透露細節的）時間線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F44DE6-C0A7-9422-B69D-EA16ECC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4AC5B4B8-3085-A898-55F9-3CAF218C72DA}"/>
              </a:ext>
            </a:extLst>
          </p:cNvPr>
          <p:cNvCxnSpPr/>
          <p:nvPr/>
        </p:nvCxnSpPr>
        <p:spPr>
          <a:xfrm>
            <a:off x="2300630" y="1978848"/>
            <a:ext cx="0" cy="41989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橢圓 4">
            <a:extLst>
              <a:ext uri="{FF2B5EF4-FFF2-40B4-BE49-F238E27FC236}">
                <a16:creationId xmlns:a16="http://schemas.microsoft.com/office/drawing/2014/main" id="{439AFCA8-6D14-D3F8-6EF7-A75FEEFEE48F}"/>
              </a:ext>
            </a:extLst>
          </p:cNvPr>
          <p:cNvSpPr/>
          <p:nvPr/>
        </p:nvSpPr>
        <p:spPr>
          <a:xfrm>
            <a:off x="2157983" y="2286086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5ADBF2B-0BD9-EB83-CA81-A376629983EC}"/>
              </a:ext>
            </a:extLst>
          </p:cNvPr>
          <p:cNvSpPr txBox="1"/>
          <p:nvPr/>
        </p:nvSpPr>
        <p:spPr>
          <a:xfrm>
            <a:off x="2637128" y="2247637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(GPT-1) Improving language understanding by generative pre-training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2CE923-D0F8-94AC-DAF7-DD41B064D9D3}"/>
              </a:ext>
            </a:extLst>
          </p:cNvPr>
          <p:cNvSpPr txBox="1"/>
          <p:nvPr/>
        </p:nvSpPr>
        <p:spPr>
          <a:xfrm>
            <a:off x="701042" y="2247637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2018/06/11</a:t>
            </a:r>
            <a:endParaRPr kumimoji="1" lang="zh-TW" altLang="en-US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722DC01-D93C-7658-52E2-0FA76CB8B32D}"/>
              </a:ext>
            </a:extLst>
          </p:cNvPr>
          <p:cNvSpPr/>
          <p:nvPr/>
        </p:nvSpPr>
        <p:spPr>
          <a:xfrm>
            <a:off x="2157983" y="3063666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9A618C-1B07-2183-EF2B-65850BDFD006}"/>
              </a:ext>
            </a:extLst>
          </p:cNvPr>
          <p:cNvSpPr txBox="1"/>
          <p:nvPr/>
        </p:nvSpPr>
        <p:spPr>
          <a:xfrm>
            <a:off x="2637127" y="3021646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(GPT-2) Language models are multi-task learners</a:t>
            </a:r>
            <a:endParaRPr kumimoji="1"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09AFD01-D628-26AA-2D6C-43A9BB5053B8}"/>
              </a:ext>
            </a:extLst>
          </p:cNvPr>
          <p:cNvSpPr txBox="1"/>
          <p:nvPr/>
        </p:nvSpPr>
        <p:spPr>
          <a:xfrm>
            <a:off x="2637127" y="4036290"/>
            <a:ext cx="679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(GPT-3) Language models are few-shot learners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46AF2BF-58D3-1570-FB62-3EB7CE798199}"/>
              </a:ext>
            </a:extLst>
          </p:cNvPr>
          <p:cNvSpPr txBox="1"/>
          <p:nvPr/>
        </p:nvSpPr>
        <p:spPr>
          <a:xfrm>
            <a:off x="701042" y="3021646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2019/02/14</a:t>
            </a:r>
            <a:endParaRPr kumimoji="1"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01F6822-C57B-6B62-01E8-50977809A3E0}"/>
              </a:ext>
            </a:extLst>
          </p:cNvPr>
          <p:cNvSpPr txBox="1"/>
          <p:nvPr/>
        </p:nvSpPr>
        <p:spPr>
          <a:xfrm>
            <a:off x="701042" y="4032719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2020/05/28</a:t>
            </a:r>
            <a:endParaRPr kumimoji="1"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5D634AA5-7FEE-B0A4-2BD6-A10F32DDE57B}"/>
              </a:ext>
            </a:extLst>
          </p:cNvPr>
          <p:cNvSpPr/>
          <p:nvPr/>
        </p:nvSpPr>
        <p:spPr>
          <a:xfrm>
            <a:off x="2157982" y="4078310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47978BA-139F-775B-A5BA-EFE52818C134}"/>
              </a:ext>
            </a:extLst>
          </p:cNvPr>
          <p:cNvSpPr txBox="1"/>
          <p:nvPr/>
        </p:nvSpPr>
        <p:spPr>
          <a:xfrm>
            <a:off x="2637126" y="5403013"/>
            <a:ext cx="8853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(</a:t>
            </a:r>
            <a:r>
              <a:rPr kumimoji="1" lang="en-US" altLang="zh-TW" dirty="0" err="1"/>
              <a:t>InstructGPT</a:t>
            </a:r>
            <a:r>
              <a:rPr kumimoji="1" lang="en-US" altLang="zh-TW" dirty="0"/>
              <a:t>) Training language models to follow instructions with human feedback</a:t>
            </a:r>
            <a:endParaRPr kumimoji="1"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71A8752-0CC8-5A0A-FC45-4E9F832B382A}"/>
              </a:ext>
            </a:extLst>
          </p:cNvPr>
          <p:cNvSpPr txBox="1"/>
          <p:nvPr/>
        </p:nvSpPr>
        <p:spPr>
          <a:xfrm>
            <a:off x="701042" y="5399442"/>
            <a:ext cx="14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2022/05/04</a:t>
            </a:r>
            <a:endParaRPr kumimoji="1" lang="zh-TW" altLang="en-US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7E64C07-F418-9242-01C1-14C1433BE614}"/>
              </a:ext>
            </a:extLst>
          </p:cNvPr>
          <p:cNvSpPr/>
          <p:nvPr/>
        </p:nvSpPr>
        <p:spPr>
          <a:xfrm>
            <a:off x="2157982" y="5445033"/>
            <a:ext cx="285293" cy="285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50176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8BCDA0-487C-1827-E408-A70A1FFD6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以前的 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有口吃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139575A-6C29-1E98-B79E-387E71BC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16C1DD5-97DE-81CF-FCD5-B617DB2D1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05" y="2082990"/>
            <a:ext cx="10155190" cy="391048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1A4BF0C-9016-F054-3F01-09E4E7DF534E}"/>
              </a:ext>
            </a:extLst>
          </p:cNvPr>
          <p:cNvSpPr txBox="1"/>
          <p:nvPr/>
        </p:nvSpPr>
        <p:spPr>
          <a:xfrm>
            <a:off x="749807" y="1536192"/>
            <a:ext cx="4566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 err="1"/>
              <a:t>InstructGPT</a:t>
            </a:r>
            <a:r>
              <a:rPr kumimoji="1" lang="en-US" altLang="zh-TW" sz="2000" dirty="0"/>
              <a:t>: </a:t>
            </a:r>
            <a:r>
              <a:rPr kumimoji="1" lang="en-US" altLang="zh-TW" sz="2000" dirty="0" err="1"/>
              <a:t>ChatGPT</a:t>
            </a:r>
            <a:r>
              <a:rPr kumimoji="1" lang="en-US" altLang="zh-TW" sz="2000" dirty="0"/>
              <a:t> </a:t>
            </a:r>
            <a:r>
              <a:rPr kumimoji="1" lang="zh-TW" altLang="en-US" sz="2000" dirty="0"/>
              <a:t>的前身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C72633A-D4F5-4FBB-4D43-FD390B8BEDCA}"/>
              </a:ext>
            </a:extLst>
          </p:cNvPr>
          <p:cNvSpPr txBox="1"/>
          <p:nvPr/>
        </p:nvSpPr>
        <p:spPr>
          <a:xfrm>
            <a:off x="2642616" y="6257465"/>
            <a:ext cx="798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openai.com</a:t>
            </a:r>
            <a:r>
              <a:rPr kumimoji="1" lang="en-US" altLang="zh-TW" sz="1200" dirty="0"/>
              <a:t>/index/instruction-following/</a:t>
            </a:r>
          </a:p>
          <a:p>
            <a:r>
              <a:rPr kumimoji="1" lang="en" altLang="zh-TW" sz="1200" dirty="0"/>
              <a:t>Ouyang, Long, et al. “Training language models to follow instructions with human feedback.” </a:t>
            </a:r>
            <a:r>
              <a:rPr kumimoji="1" lang="en" altLang="zh-TW" sz="1200" dirty="0" err="1"/>
              <a:t>NeurIPS</a:t>
            </a:r>
            <a:r>
              <a:rPr kumimoji="1" lang="en" altLang="zh-TW" sz="1200" dirty="0"/>
              <a:t> 2022.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5317818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72867D-BAE7-FE54-26EC-B7975F91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Pre-training then Fine-tuning Paradigm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4A643A-0C0A-2628-AAD2-9D4FEF8F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圓角矩形 4">
            <a:extLst>
              <a:ext uri="{FF2B5EF4-FFF2-40B4-BE49-F238E27FC236}">
                <a16:creationId xmlns:a16="http://schemas.microsoft.com/office/drawing/2014/main" id="{CB61D7AC-56C0-E3AD-F8C1-D0E6E1FFCDA0}"/>
              </a:ext>
            </a:extLst>
          </p:cNvPr>
          <p:cNvSpPr/>
          <p:nvPr/>
        </p:nvSpPr>
        <p:spPr>
          <a:xfrm>
            <a:off x="1904933" y="3058726"/>
            <a:ext cx="2281415" cy="1325105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文字接龍</a:t>
            </a:r>
            <a:endParaRPr kumimoji="1" lang="en-US" altLang="zh-TW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2400" b="1" dirty="0">
                <a:solidFill>
                  <a:schemeClr val="tx1"/>
                </a:solidFill>
              </a:rPr>
              <a:t>(Pre-training)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7C80630-6F48-071F-F928-16865BD1E686}"/>
              </a:ext>
            </a:extLst>
          </p:cNvPr>
          <p:cNvSpPr/>
          <p:nvPr/>
        </p:nvSpPr>
        <p:spPr>
          <a:xfrm>
            <a:off x="4806394" y="3058726"/>
            <a:ext cx="2281415" cy="1325105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指令微調 </a:t>
            </a:r>
            <a:r>
              <a:rPr kumimoji="1" lang="en-US" altLang="zh-TW" b="1" dirty="0">
                <a:solidFill>
                  <a:schemeClr val="tx1"/>
                </a:solidFill>
              </a:rPr>
              <a:t>(Supervised Fine-tuning, SFT)</a:t>
            </a:r>
            <a:endParaRPr kumimoji="1" lang="zh-TW" altLang="en-US" sz="2400" dirty="0"/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E6387E0F-7E78-B0D0-35DE-5C79C7A2D010}"/>
              </a:ext>
            </a:extLst>
          </p:cNvPr>
          <p:cNvSpPr/>
          <p:nvPr/>
        </p:nvSpPr>
        <p:spPr>
          <a:xfrm>
            <a:off x="7707855" y="3058726"/>
            <a:ext cx="2281415" cy="132510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2400" b="1" dirty="0">
                <a:solidFill>
                  <a:schemeClr val="tx1"/>
                </a:solidFill>
              </a:rPr>
              <a:t>人類反饋學習</a:t>
            </a:r>
            <a:r>
              <a:rPr kumimoji="1" lang="en-US" altLang="zh-TW" sz="2400" b="1" dirty="0">
                <a:solidFill>
                  <a:schemeClr val="tx1"/>
                </a:solidFill>
              </a:rPr>
              <a:t> (RLHF)</a:t>
            </a:r>
            <a:endParaRPr kumimoji="1" lang="zh-TW" altLang="en-US" sz="2800" b="1" dirty="0">
              <a:solidFill>
                <a:schemeClr val="tx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283759-49BA-F7EF-0EB5-F66921D1FBD6}"/>
              </a:ext>
            </a:extLst>
          </p:cNvPr>
          <p:cNvSpPr txBox="1"/>
          <p:nvPr/>
        </p:nvSpPr>
        <p:spPr>
          <a:xfrm>
            <a:off x="7507511" y="4584541"/>
            <a:ext cx="2682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讓模型的回答貼近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人類想要</a:t>
            </a:r>
            <a:r>
              <a:rPr kumimoji="1" lang="zh-TW" altLang="en-US" dirty="0">
                <a:ea typeface="Microsoft JhengHei" panose="020B0604030504040204" pitchFamily="34" charset="-120"/>
              </a:rPr>
              <a:t>的回答</a:t>
            </a:r>
            <a:endParaRPr kumimoji="1" lang="en-US" altLang="zh-TW" dirty="0">
              <a:ea typeface="Microsoft JhengHei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9DD720-71BD-EAF5-E170-08884EF0D442}"/>
              </a:ext>
            </a:extLst>
          </p:cNvPr>
          <p:cNvSpPr txBox="1"/>
          <p:nvPr/>
        </p:nvSpPr>
        <p:spPr>
          <a:xfrm>
            <a:off x="4674162" y="4584541"/>
            <a:ext cx="254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>
                <a:ea typeface="Microsoft JhengHei" panose="020B0604030504040204" pitchFamily="34" charset="-120"/>
              </a:rPr>
              <a:t>讓模型</a:t>
            </a:r>
            <a:r>
              <a:rPr kumimoji="1" lang="zh-TW" altLang="en-US" b="1" dirty="0">
                <a:ea typeface="Microsoft JhengHei" panose="020B0604030504040204" pitchFamily="34" charset="-120"/>
              </a:rPr>
              <a:t>學會回答</a:t>
            </a:r>
          </a:p>
        </p:txBody>
      </p:sp>
      <p:cxnSp>
        <p:nvCxnSpPr>
          <p:cNvPr id="10" name="Google Shape;195;p17">
            <a:extLst>
              <a:ext uri="{FF2B5EF4-FFF2-40B4-BE49-F238E27FC236}">
                <a16:creationId xmlns:a16="http://schemas.microsoft.com/office/drawing/2014/main" id="{26274ECB-E6CD-8FC2-A8C1-1449A7F5DF09}"/>
              </a:ext>
            </a:extLst>
          </p:cNvPr>
          <p:cNvCxnSpPr>
            <a:cxnSpLocks/>
          </p:cNvCxnSpPr>
          <p:nvPr/>
        </p:nvCxnSpPr>
        <p:spPr>
          <a:xfrm>
            <a:off x="4246458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070D00C3-7D37-77A8-0FBF-9E155273777A}"/>
              </a:ext>
            </a:extLst>
          </p:cNvPr>
          <p:cNvSpPr txBox="1"/>
          <p:nvPr/>
        </p:nvSpPr>
        <p:spPr>
          <a:xfrm>
            <a:off x="248362" y="3536612"/>
            <a:ext cx="1298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GPT-3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cxnSp>
        <p:nvCxnSpPr>
          <p:cNvPr id="15" name="Google Shape;195;p17">
            <a:extLst>
              <a:ext uri="{FF2B5EF4-FFF2-40B4-BE49-F238E27FC236}">
                <a16:creationId xmlns:a16="http://schemas.microsoft.com/office/drawing/2014/main" id="{4D605540-B534-397B-3EFB-A2477014F113}"/>
              </a:ext>
            </a:extLst>
          </p:cNvPr>
          <p:cNvCxnSpPr>
            <a:cxnSpLocks/>
          </p:cNvCxnSpPr>
          <p:nvPr/>
        </p:nvCxnSpPr>
        <p:spPr>
          <a:xfrm>
            <a:off x="1348524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195;p17">
            <a:extLst>
              <a:ext uri="{FF2B5EF4-FFF2-40B4-BE49-F238E27FC236}">
                <a16:creationId xmlns:a16="http://schemas.microsoft.com/office/drawing/2014/main" id="{DE43FE05-EC1E-831F-61BF-C50C19040AA6}"/>
              </a:ext>
            </a:extLst>
          </p:cNvPr>
          <p:cNvCxnSpPr>
            <a:cxnSpLocks/>
          </p:cNvCxnSpPr>
          <p:nvPr/>
        </p:nvCxnSpPr>
        <p:spPr>
          <a:xfrm>
            <a:off x="716470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195;p17">
            <a:extLst>
              <a:ext uri="{FF2B5EF4-FFF2-40B4-BE49-F238E27FC236}">
                <a16:creationId xmlns:a16="http://schemas.microsoft.com/office/drawing/2014/main" id="{BEF5FAFA-A835-55DD-70F3-C7B7BCD2B2DA}"/>
              </a:ext>
            </a:extLst>
          </p:cNvPr>
          <p:cNvCxnSpPr>
            <a:cxnSpLocks/>
          </p:cNvCxnSpPr>
          <p:nvPr/>
        </p:nvCxnSpPr>
        <p:spPr>
          <a:xfrm>
            <a:off x="10051616" y="3721278"/>
            <a:ext cx="499826" cy="0"/>
          </a:xfrm>
          <a:prstGeom prst="straightConnector1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B55605-64A4-0610-71E8-7AE9D95C90FC}"/>
              </a:ext>
            </a:extLst>
          </p:cNvPr>
          <p:cNvSpPr txBox="1"/>
          <p:nvPr/>
        </p:nvSpPr>
        <p:spPr>
          <a:xfrm>
            <a:off x="10500702" y="3536612"/>
            <a:ext cx="1497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 err="1">
                <a:ea typeface="Microsoft JhengHei" panose="020B0604030504040204" pitchFamily="34" charset="-120"/>
              </a:rPr>
              <a:t>InstructGPT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50930E8-6BBA-7D52-1097-4C6C3DEA3EFF}"/>
              </a:ext>
            </a:extLst>
          </p:cNvPr>
          <p:cNvSpPr txBox="1"/>
          <p:nvPr/>
        </p:nvSpPr>
        <p:spPr>
          <a:xfrm>
            <a:off x="5479311" y="2243847"/>
            <a:ext cx="38706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b="1" dirty="0"/>
              <a:t>Fine-tuning</a:t>
            </a:r>
            <a:endParaRPr lang="zh-TW" altLang="en-US" sz="2800" b="1" dirty="0"/>
          </a:p>
        </p:txBody>
      </p:sp>
      <p:sp>
        <p:nvSpPr>
          <p:cNvPr id="21" name="左中括弧 20">
            <a:extLst>
              <a:ext uri="{FF2B5EF4-FFF2-40B4-BE49-F238E27FC236}">
                <a16:creationId xmlns:a16="http://schemas.microsoft.com/office/drawing/2014/main" id="{84B174B6-451B-F7BC-6670-F94555EE66A8}"/>
              </a:ext>
            </a:extLst>
          </p:cNvPr>
          <p:cNvSpPr/>
          <p:nvPr/>
        </p:nvSpPr>
        <p:spPr>
          <a:xfrm rot="5400000">
            <a:off x="7329357" y="1056238"/>
            <a:ext cx="170522" cy="3633745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3DAE9B4-46C9-EBD6-7618-ED9E13994E6A}"/>
              </a:ext>
            </a:extLst>
          </p:cNvPr>
          <p:cNvSpPr txBox="1"/>
          <p:nvPr/>
        </p:nvSpPr>
        <p:spPr>
          <a:xfrm>
            <a:off x="5869858" y="6132580"/>
            <a:ext cx="6077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RLHF: Reinforcement Learning with Human Feedback</a:t>
            </a:r>
          </a:p>
        </p:txBody>
      </p:sp>
    </p:spTree>
    <p:extLst>
      <p:ext uri="{BB962C8B-B14F-4D97-AF65-F5344CB8AC3E}">
        <p14:creationId xmlns:p14="http://schemas.microsoft.com/office/powerpoint/2010/main" val="94090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0" grpId="0"/>
      <p:bldP spid="2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52A645-1D17-C035-3A04-8EF3A7FD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37</a:t>
            </a:fld>
            <a:endParaRPr kumimoji="1" lang="zh-TW" alt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7D96219-B686-82C6-7860-DEBDCEF4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RLHF</a:t>
            </a:r>
            <a:r>
              <a:rPr kumimoji="1" lang="zh-TW" altLang="en-US" sz="4800" dirty="0">
                <a:solidFill>
                  <a:schemeClr val="tx1"/>
                </a:solidFill>
              </a:rPr>
              <a:t> 的進行過程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EE785D6-BA7F-3F3D-D121-805180561CD0}"/>
              </a:ext>
            </a:extLst>
          </p:cNvPr>
          <p:cNvSpPr txBox="1"/>
          <p:nvPr/>
        </p:nvSpPr>
        <p:spPr>
          <a:xfrm>
            <a:off x="1033506" y="2859020"/>
            <a:ext cx="16281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Supervised Fine-Tuning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B2362DC-F5C7-D8BE-8B7C-3C3F3806EA5F}"/>
              </a:ext>
            </a:extLst>
          </p:cNvPr>
          <p:cNvSpPr txBox="1"/>
          <p:nvPr/>
        </p:nvSpPr>
        <p:spPr>
          <a:xfrm>
            <a:off x="426027" y="4459793"/>
            <a:ext cx="26189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" altLang="zh-TW" b="1" dirty="0"/>
              <a:t>Reinforcement Learning with Human Feedback (</a:t>
            </a:r>
            <a:r>
              <a:rPr kumimoji="1" lang="en" altLang="zh-TW" b="1" dirty="0">
                <a:solidFill>
                  <a:srgbClr val="FF0000"/>
                </a:solidFill>
              </a:rPr>
              <a:t>RLHF</a:t>
            </a:r>
            <a:r>
              <a:rPr kumimoji="1" lang="en" altLang="zh-TW" b="1" dirty="0"/>
              <a:t>)</a:t>
            </a:r>
            <a:endParaRPr lang="zh-TW" altLang="en-US" b="1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28FDD7F6-E298-DC0E-C274-3D0B84A5D918}"/>
              </a:ext>
            </a:extLst>
          </p:cNvPr>
          <p:cNvSpPr/>
          <p:nvPr/>
        </p:nvSpPr>
        <p:spPr>
          <a:xfrm>
            <a:off x="3017398" y="2800222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D3E4AFA2-5A59-FBA5-30C5-75DE6772E083}"/>
              </a:ext>
            </a:extLst>
          </p:cNvPr>
          <p:cNvSpPr/>
          <p:nvPr/>
        </p:nvSpPr>
        <p:spPr>
          <a:xfrm>
            <a:off x="5598134" y="2764991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2DDA9110-3E05-8099-F28B-50950C80FBA5}"/>
              </a:ext>
            </a:extLst>
          </p:cNvPr>
          <p:cNvSpPr/>
          <p:nvPr/>
        </p:nvSpPr>
        <p:spPr>
          <a:xfrm>
            <a:off x="8792144" y="2800222"/>
            <a:ext cx="2170634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Julius Robert Oppenheimer is …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28FC139-E290-46BD-6B72-6FF703ADFC9F}"/>
              </a:ext>
            </a:extLst>
          </p:cNvPr>
          <p:cNvSpPr txBox="1"/>
          <p:nvPr/>
        </p:nvSpPr>
        <p:spPr>
          <a:xfrm>
            <a:off x="8382794" y="2153891"/>
            <a:ext cx="29848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close to </a:t>
            </a:r>
            <a:r>
              <a:rPr kumimoji="1" lang="en-US" altLang="zh-TW" dirty="0"/>
              <a:t>human-written ground-truths </a:t>
            </a:r>
            <a:r>
              <a:rPr kumimoji="1" lang="en-US" altLang="zh-TW" dirty="0">
                <a:solidFill>
                  <a:srgbClr val="FF0000"/>
                </a:solidFill>
              </a:rPr>
              <a:t>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E93C4B3B-5864-37B0-EA3D-A244F5DD94FD}"/>
              </a:ext>
            </a:extLst>
          </p:cNvPr>
          <p:cNvSpPr/>
          <p:nvPr/>
        </p:nvSpPr>
        <p:spPr>
          <a:xfrm>
            <a:off x="5598134" y="4504265"/>
            <a:ext cx="1965960" cy="834390"/>
          </a:xfrm>
          <a:prstGeom prst="roundRect">
            <a:avLst/>
          </a:prstGeom>
          <a:solidFill>
            <a:srgbClr val="FFEBC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語言模型</a:t>
            </a:r>
            <a:endParaRPr kumimoji="1" lang="en-US" altLang="zh-TW" sz="16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(e.g., </a:t>
            </a:r>
            <a:r>
              <a:rPr kumimoji="1" lang="en-US" altLang="zh-TW" sz="1600" dirty="0" err="1">
                <a:solidFill>
                  <a:schemeClr val="tx1"/>
                </a:solidFill>
              </a:rPr>
              <a:t>InstructGPT</a:t>
            </a:r>
            <a:r>
              <a:rPr kumimoji="1" lang="en-US" altLang="zh-TW" sz="1600" dirty="0">
                <a:solidFill>
                  <a:schemeClr val="tx1"/>
                </a:solidFill>
              </a:rPr>
              <a:t>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圓角矩形 13">
            <a:extLst>
              <a:ext uri="{FF2B5EF4-FFF2-40B4-BE49-F238E27FC236}">
                <a16:creationId xmlns:a16="http://schemas.microsoft.com/office/drawing/2014/main" id="{9CF54F18-114F-5E47-3388-B570DC8FA7C7}"/>
              </a:ext>
            </a:extLst>
          </p:cNvPr>
          <p:cNvSpPr/>
          <p:nvPr/>
        </p:nvSpPr>
        <p:spPr>
          <a:xfrm>
            <a:off x="3017397" y="4539495"/>
            <a:ext cx="1965961" cy="763929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Tell me who is Oppenheimer?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8917E547-7AFD-D0ED-E45C-A17E29A258B3}"/>
              </a:ext>
            </a:extLst>
          </p:cNvPr>
          <p:cNvSpPr/>
          <p:nvPr/>
        </p:nvSpPr>
        <p:spPr>
          <a:xfrm>
            <a:off x="9034371" y="5236059"/>
            <a:ext cx="1769112" cy="574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Reward Model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B05220E0-11D2-F1F3-C531-DCF75DEAB595}"/>
              </a:ext>
            </a:extLst>
          </p:cNvPr>
          <p:cNvSpPr/>
          <p:nvPr/>
        </p:nvSpPr>
        <p:spPr>
          <a:xfrm>
            <a:off x="9093984" y="4424695"/>
            <a:ext cx="1649885" cy="488952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1600" b="1" dirty="0">
                <a:solidFill>
                  <a:schemeClr val="tx1"/>
                </a:solidFill>
              </a:rPr>
              <a:t>Score (Scalar)</a:t>
            </a:r>
            <a:endParaRPr kumimoji="1" lang="zh-TW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B981A80-EB9F-E098-C986-E936B0244D69}"/>
              </a:ext>
            </a:extLst>
          </p:cNvPr>
          <p:cNvSpPr txBox="1"/>
          <p:nvPr/>
        </p:nvSpPr>
        <p:spPr>
          <a:xfrm>
            <a:off x="8792144" y="4036381"/>
            <a:ext cx="2309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As high as possible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DA986F20-427D-C6A0-15F9-F1EE1C88DEF7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7715519" y="4204249"/>
            <a:ext cx="184447" cy="245325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B8F2F779-9619-6C68-A88E-F965AC12213B}"/>
              </a:ext>
            </a:extLst>
          </p:cNvPr>
          <p:cNvCxnSpPr>
            <a:cxnSpLocks/>
            <a:stCxn id="15" idx="0"/>
            <a:endCxn id="16" idx="2"/>
          </p:cNvCxnSpPr>
          <p:nvPr/>
        </p:nvCxnSpPr>
        <p:spPr>
          <a:xfrm flipV="1">
            <a:off x="9918927" y="4913647"/>
            <a:ext cx="0" cy="3224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96FD90A1-ABA7-7C71-1AA2-D510C7973F7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4983359" y="3182186"/>
            <a:ext cx="61477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7E9067B3-A29B-9439-3B47-7F4C082C8C33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>
            <a:off x="4983358" y="4921460"/>
            <a:ext cx="61477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箭頭接點 29">
            <a:extLst>
              <a:ext uri="{FF2B5EF4-FFF2-40B4-BE49-F238E27FC236}">
                <a16:creationId xmlns:a16="http://schemas.microsoft.com/office/drawing/2014/main" id="{BAC6BB84-D418-A868-9174-D17903E5FE20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7564094" y="3182186"/>
            <a:ext cx="12280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C2F8BA38-4201-16D6-5EE8-7460641B8990}"/>
              </a:ext>
            </a:extLst>
          </p:cNvPr>
          <p:cNvCxnSpPr>
            <a:cxnSpLocks/>
            <a:stCxn id="17" idx="1"/>
            <a:endCxn id="13" idx="0"/>
          </p:cNvCxnSpPr>
          <p:nvPr/>
        </p:nvCxnSpPr>
        <p:spPr>
          <a:xfrm rot="10800000" flipV="1">
            <a:off x="6581114" y="4221047"/>
            <a:ext cx="2211030" cy="283218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接點 38">
            <a:extLst>
              <a:ext uri="{FF2B5EF4-FFF2-40B4-BE49-F238E27FC236}">
                <a16:creationId xmlns:a16="http://schemas.microsoft.com/office/drawing/2014/main" id="{639114D3-6B4C-166A-DB5B-F74ABAECFB25}"/>
              </a:ext>
            </a:extLst>
          </p:cNvPr>
          <p:cNvCxnSpPr>
            <a:cxnSpLocks/>
            <a:stCxn id="12" idx="1"/>
            <a:endCxn id="9" idx="0"/>
          </p:cNvCxnSpPr>
          <p:nvPr/>
        </p:nvCxnSpPr>
        <p:spPr>
          <a:xfrm rot="10800000" flipV="1">
            <a:off x="6581114" y="2477057"/>
            <a:ext cx="1801680" cy="287934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911DABC-7E2C-76C9-8860-32244B2399DF}"/>
              </a:ext>
            </a:extLst>
          </p:cNvPr>
          <p:cNvSpPr txBox="1"/>
          <p:nvPr/>
        </p:nvSpPr>
        <p:spPr>
          <a:xfrm>
            <a:off x="6472172" y="217590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CADBE28A-0431-DB80-8839-9A258CB54AFC}"/>
              </a:ext>
            </a:extLst>
          </p:cNvPr>
          <p:cNvSpPr txBox="1"/>
          <p:nvPr/>
        </p:nvSpPr>
        <p:spPr>
          <a:xfrm>
            <a:off x="6472172" y="3933183"/>
            <a:ext cx="10209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Optimize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365630B7-FDF0-EB17-230C-746EFBF89241}"/>
              </a:ext>
            </a:extLst>
          </p:cNvPr>
          <p:cNvSpPr txBox="1"/>
          <p:nvPr/>
        </p:nvSpPr>
        <p:spPr>
          <a:xfrm>
            <a:off x="3321349" y="2501971"/>
            <a:ext cx="1358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AC9A5CC6-29F9-2232-0870-65B8DBFBDFD9}"/>
              </a:ext>
            </a:extLst>
          </p:cNvPr>
          <p:cNvSpPr txBox="1"/>
          <p:nvPr/>
        </p:nvSpPr>
        <p:spPr>
          <a:xfrm>
            <a:off x="3371364" y="4251824"/>
            <a:ext cx="1258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Input Prompt</a:t>
            </a:r>
            <a:endParaRPr kumimoji="1" lang="zh-TW" altLang="en-US" sz="1400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64A55741-2FC2-58A4-A089-3BFC949F9D8F}"/>
              </a:ext>
            </a:extLst>
          </p:cNvPr>
          <p:cNvSpPr txBox="1"/>
          <p:nvPr/>
        </p:nvSpPr>
        <p:spPr>
          <a:xfrm>
            <a:off x="1121440" y="6323468"/>
            <a:ext cx="60067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100" dirty="0"/>
              <a:t>Ouyang, Long, et al. "Training language models to follow instructions with human feedback." </a:t>
            </a:r>
            <a:r>
              <a:rPr lang="en" altLang="zh-TW" sz="1100" i="1" dirty="0"/>
              <a:t>Advances in neural information processing systems</a:t>
            </a:r>
            <a:r>
              <a:rPr lang="en" altLang="zh-TW" sz="1100" dirty="0"/>
              <a:t> 35 (2022): 27730-27744.</a:t>
            </a:r>
            <a:endParaRPr lang="zh-TW" altLang="en-US" sz="11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FC6EAA-925D-FEDA-CB6D-4DEC5ED8594F}"/>
              </a:ext>
            </a:extLst>
          </p:cNvPr>
          <p:cNvSpPr txBox="1"/>
          <p:nvPr/>
        </p:nvSpPr>
        <p:spPr>
          <a:xfrm>
            <a:off x="8587467" y="5820588"/>
            <a:ext cx="2514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(Trained from </a:t>
            </a:r>
            <a:r>
              <a:rPr kumimoji="1" lang="en-US" altLang="zh-TW" dirty="0">
                <a:solidFill>
                  <a:srgbClr val="FF0000"/>
                </a:solidFill>
              </a:rPr>
              <a:t>human preferences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154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 animBg="1"/>
      <p:bldP spid="14" grpId="0" animBg="1"/>
      <p:bldP spid="15" grpId="0" animBg="1"/>
      <p:bldP spid="16" grpId="0" animBg="1"/>
      <p:bldP spid="17" grpId="0"/>
      <p:bldP spid="43" grpId="0"/>
      <p:bldP spid="4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DEB9A-29CE-E7BE-5A64-D104EB85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Main Differences between BERT and </a:t>
            </a:r>
            <a:r>
              <a:rPr kumimoji="1" lang="en-US" altLang="zh-TW" dirty="0" err="1"/>
              <a:t>InstructGPT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C9A4D8-28BB-FD7B-7A52-681ABEF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49C3-EFAD-D94E-864A-24510FCA3FE0}" type="slidenum">
              <a:rPr kumimoji="1" lang="zh-TW" altLang="en-US" smtClean="0"/>
              <a:t>38</a:t>
            </a:fld>
            <a:endParaRPr kumimoji="1"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D35043C-68EE-CAE6-1440-0F8080C3F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4"/>
            <a:ext cx="10515600" cy="492328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1800" dirty="0"/>
              <a:t>Model size: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110 million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175 billion (~=BERT</a:t>
            </a:r>
            <a:r>
              <a:rPr kumimoji="1" lang="en-US" altLang="zh-TW" dirty="0">
                <a:solidFill>
                  <a:srgbClr val="FF0000"/>
                </a:solidFill>
              </a:rPr>
              <a:t>*1590 times</a:t>
            </a:r>
            <a:r>
              <a:rPr kumimoji="1" lang="en-US" altLang="zh-TW" dirty="0"/>
              <a:t>)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dirty="0"/>
              <a:t>Training: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Masked-language modeling, Next-sentence Prediction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Language Modeling, Supervised Fine-Tuning, </a:t>
            </a:r>
            <a:r>
              <a:rPr kumimoji="1" lang="en-US" altLang="zh-TW" dirty="0">
                <a:solidFill>
                  <a:schemeClr val="accent6"/>
                </a:solidFill>
              </a:rPr>
              <a:t>Reinforcement Learning by Human Feedback</a:t>
            </a:r>
          </a:p>
          <a:p>
            <a:pPr>
              <a:lnSpc>
                <a:spcPct val="150000"/>
              </a:lnSpc>
            </a:pPr>
            <a:r>
              <a:rPr kumimoji="1" lang="en-US" altLang="zh-TW" sz="1800" dirty="0"/>
              <a:t>NLP Tasks: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/>
              <a:t>BERT: Natural Language Understanding (E.g., Classification)</a:t>
            </a:r>
          </a:p>
          <a:p>
            <a:pPr lvl="1">
              <a:lnSpc>
                <a:spcPct val="150000"/>
              </a:lnSpc>
            </a:pPr>
            <a:r>
              <a:rPr kumimoji="1" lang="en-US" altLang="zh-TW" dirty="0" err="1"/>
              <a:t>InstructGPT</a:t>
            </a:r>
            <a:r>
              <a:rPr kumimoji="1" lang="en-US" altLang="zh-TW" dirty="0"/>
              <a:t>: Natural Language </a:t>
            </a:r>
            <a:r>
              <a:rPr kumimoji="1" lang="en-US" altLang="zh-TW" dirty="0">
                <a:solidFill>
                  <a:srgbClr val="FF0000"/>
                </a:solidFill>
              </a:rPr>
              <a:t>Generation</a:t>
            </a:r>
            <a:r>
              <a:rPr kumimoji="1" lang="en-US" altLang="zh-TW" dirty="0"/>
              <a:t> (E.g., Machine Translation, Story Generation)</a:t>
            </a:r>
          </a:p>
        </p:txBody>
      </p:sp>
    </p:spTree>
    <p:extLst>
      <p:ext uri="{BB962C8B-B14F-4D97-AF65-F5344CB8AC3E}">
        <p14:creationId xmlns:p14="http://schemas.microsoft.com/office/powerpoint/2010/main" val="419508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CE769A-E8A8-2117-57F5-8A9F5922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+mj-lt"/>
                <a:cs typeface="Times New Roman"/>
              </a:rPr>
              <a:t>NLP </a:t>
            </a:r>
            <a:r>
              <a:rPr lang="en-US" altLang="zh-TW" dirty="0">
                <a:ea typeface="+mj-lt"/>
                <a:cs typeface="Times New Roman"/>
              </a:rPr>
              <a:t>Model </a:t>
            </a:r>
            <a:r>
              <a:rPr lang="en-US" altLang="zh-TW" sz="4800" dirty="0">
                <a:ea typeface="+mj-lt"/>
                <a:cs typeface="Times New Roman"/>
              </a:rPr>
              <a:t>Sizes (2018 – 2025)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E4A54C-F7AA-7493-444D-BD6FA398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6" name="圖片 5" descr="一張含有 文字, 行, 繪圖, 數字 的圖片&#10;&#10;AI 產生的內容可能不正確。">
            <a:extLst>
              <a:ext uri="{FF2B5EF4-FFF2-40B4-BE49-F238E27FC236}">
                <a16:creationId xmlns:a16="http://schemas.microsoft.com/office/drawing/2014/main" id="{9327E867-45B1-7122-4696-DE563E508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214" y="2036854"/>
            <a:ext cx="9867069" cy="4183637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B999603-C87E-8FDB-9B00-0D869C77C558}"/>
              </a:ext>
            </a:extLst>
          </p:cNvPr>
          <p:cNvSpPr txBox="1"/>
          <p:nvPr/>
        </p:nvSpPr>
        <p:spPr>
          <a:xfrm>
            <a:off x="653143" y="2349909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2025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EBE7AFF-1B48-84B0-F6B5-CFBBCFEF434A}"/>
              </a:ext>
            </a:extLst>
          </p:cNvPr>
          <p:cNvSpPr txBox="1"/>
          <p:nvPr/>
        </p:nvSpPr>
        <p:spPr>
          <a:xfrm>
            <a:off x="653143" y="5392993"/>
            <a:ext cx="7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2018</a:t>
            </a:r>
            <a:endParaRPr kumimoji="1" lang="zh-TW" altLang="en-US" dirty="0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E4C60897-BF57-3F4C-C90B-5AD99C0E277C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1024662" y="2719241"/>
            <a:ext cx="0" cy="26737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F97C908-6F94-661D-132A-C0C6C4231402}"/>
              </a:ext>
            </a:extLst>
          </p:cNvPr>
          <p:cNvSpPr txBox="1"/>
          <p:nvPr/>
        </p:nvSpPr>
        <p:spPr>
          <a:xfrm>
            <a:off x="7322103" y="1390523"/>
            <a:ext cx="3132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3600" dirty="0"/>
              <a:t>💰💰💰💰💰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406BF29-CDFF-984D-98B4-2F791E2EB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168" y="872796"/>
            <a:ext cx="1343045" cy="136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0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0868FB-6F6F-35BC-A23D-E0A4D525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The Revolution of </a:t>
            </a:r>
            <a:r>
              <a:rPr kumimoji="1" lang="en-US" altLang="zh-TW" dirty="0" err="1"/>
              <a:t>ChatGPT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D7684D-DA0F-B6F8-7ABC-6110B2CE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9E07DDE-D011-6299-A807-ED42ACC99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013" y="2080805"/>
            <a:ext cx="7060629" cy="397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6E1A2F0-2B3B-1E98-C744-317CE2B4F219}"/>
              </a:ext>
            </a:extLst>
          </p:cNvPr>
          <p:cNvSpPr txBox="1"/>
          <p:nvPr/>
        </p:nvSpPr>
        <p:spPr>
          <a:xfrm>
            <a:off x="2477765" y="6257465"/>
            <a:ext cx="7269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poole.ncsu.edu</a:t>
            </a:r>
            <a:r>
              <a:rPr kumimoji="1" lang="en-US" altLang="zh-TW" sz="1400" dirty="0"/>
              <a:t>/thought-leadership/article/lets-chat-about-</a:t>
            </a:r>
            <a:r>
              <a:rPr kumimoji="1" lang="en-US" altLang="zh-TW" sz="1400" dirty="0" err="1"/>
              <a:t>chatgpt</a:t>
            </a:r>
            <a:r>
              <a:rPr kumimoji="1" lang="en-US" altLang="zh-TW" sz="1400" dirty="0"/>
              <a:t>/</a:t>
            </a:r>
          </a:p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openai.com</a:t>
            </a:r>
            <a:r>
              <a:rPr kumimoji="1" lang="en" altLang="zh-TW" sz="1400" dirty="0"/>
              <a:t>/index/</a:t>
            </a:r>
            <a:r>
              <a:rPr kumimoji="1" lang="en" altLang="zh-TW" sz="1400" dirty="0" err="1"/>
              <a:t>chatgpt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C202C2-0880-D4B3-31EA-6667DAC9DEA5}"/>
              </a:ext>
            </a:extLst>
          </p:cNvPr>
          <p:cNvSpPr txBox="1"/>
          <p:nvPr/>
        </p:nvSpPr>
        <p:spPr>
          <a:xfrm>
            <a:off x="653142" y="1586711"/>
            <a:ext cx="48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ChatGPT</a:t>
            </a:r>
            <a:r>
              <a:rPr kumimoji="1" lang="en" altLang="zh-TW" dirty="0"/>
              <a:t> came out in November, 2022.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1790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A7C6-9F70-219A-318F-F32D21D5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DEF1E4-B5DA-3D4B-3E7E-131CFE24B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4400" dirty="0">
                <a:ea typeface="+mj-lt"/>
                <a:cs typeface="Times New Roman"/>
              </a:rPr>
              <a:t>LLM Size Highlights</a:t>
            </a:r>
            <a:endParaRPr lang="zh-TW" sz="4400" dirty="0">
              <a:cs typeface="Calibri Light" panose="020F0302020204030204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A04BFE5-B0C4-E657-EEE6-9A68B2BBB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>
                <a:latin typeface="Times New Roman"/>
                <a:cs typeface="Times New Roman"/>
              </a:rPr>
              <a:t>41</a:t>
            </a:fld>
            <a:endParaRPr lang="zh-TW" altLang="en-US">
              <a:latin typeface="Times New Roman"/>
              <a:cs typeface="Times New Roman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63FD86-0398-1538-EB83-4F7B80B3B37A}"/>
              </a:ext>
            </a:extLst>
          </p:cNvPr>
          <p:cNvSpPr txBox="1"/>
          <p:nvPr/>
        </p:nvSpPr>
        <p:spPr>
          <a:xfrm>
            <a:off x="1" y="6112042"/>
            <a:ext cx="1219199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000" dirty="0">
                <a:cs typeface="Times New Roman" panose="02020603050405020304" pitchFamily="18" charset="0"/>
              </a:rPr>
              <a:t>Source: </a:t>
            </a:r>
            <a:r>
              <a:rPr lang="en-US" altLang="zh-TW" sz="1000" dirty="0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Inside language models (from GPT-4 to </a:t>
            </a:r>
            <a:r>
              <a:rPr lang="en-US" altLang="zh-TW" sz="1000" dirty="0" err="1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PaLM</a:t>
            </a:r>
            <a:r>
              <a:rPr lang="en-US" altLang="zh-TW" sz="1000" dirty="0"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– Dr Alan D. Thompson – Life Architect</a:t>
            </a:r>
            <a:endParaRPr lang="zh-TW" sz="1000" dirty="0">
              <a:ea typeface="新細明體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文字, 螢幕擷取畫面, 軟體, 標誌 的圖片&#10;&#10;自動產生的描述">
            <a:extLst>
              <a:ext uri="{FF2B5EF4-FFF2-40B4-BE49-F238E27FC236}">
                <a16:creationId xmlns:a16="http://schemas.microsoft.com/office/drawing/2014/main" id="{D8F126BF-6952-C188-D57C-1B23A05696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20"/>
          <a:stretch/>
        </p:blipFill>
        <p:spPr>
          <a:xfrm>
            <a:off x="1664127" y="1489340"/>
            <a:ext cx="8863745" cy="4521180"/>
          </a:xfrm>
          <a:prstGeom prst="rect">
            <a:avLst/>
          </a:prstGeom>
        </p:spPr>
      </p:pic>
      <p:sp>
        <p:nvSpPr>
          <p:cNvPr id="3" name="向右箭號 2">
            <a:extLst>
              <a:ext uri="{FF2B5EF4-FFF2-40B4-BE49-F238E27FC236}">
                <a16:creationId xmlns:a16="http://schemas.microsoft.com/office/drawing/2014/main" id="{B6CCF0CB-FB9B-EECE-F461-18EF6745B5E2}"/>
              </a:ext>
            </a:extLst>
          </p:cNvPr>
          <p:cNvSpPr/>
          <p:nvPr/>
        </p:nvSpPr>
        <p:spPr>
          <a:xfrm>
            <a:off x="4928839" y="4794729"/>
            <a:ext cx="260196" cy="15611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E5F47408-FA00-620C-FE86-8E33321ECC12}"/>
              </a:ext>
            </a:extLst>
          </p:cNvPr>
          <p:cNvSpPr/>
          <p:nvPr/>
        </p:nvSpPr>
        <p:spPr>
          <a:xfrm>
            <a:off x="4928839" y="5075948"/>
            <a:ext cx="260196" cy="15611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FA6265BD-A409-53F1-2458-7F0925059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3002" y="4609949"/>
            <a:ext cx="2597808" cy="1731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8F81ABF-208D-D178-FEA6-48A11F0C2E62}"/>
              </a:ext>
            </a:extLst>
          </p:cNvPr>
          <p:cNvSpPr txBox="1"/>
          <p:nvPr/>
        </p:nvSpPr>
        <p:spPr>
          <a:xfrm>
            <a:off x="7421138" y="6459785"/>
            <a:ext cx="416683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1000" dirty="0" err="1">
                <a:cs typeface="Times New Roman" panose="02020603050405020304" pitchFamily="18" charset="0"/>
              </a:rPr>
              <a:t>Source:https</a:t>
            </a:r>
            <a:r>
              <a:rPr lang="en-US" altLang="zh-TW" sz="1000" dirty="0">
                <a:cs typeface="Times New Roman" panose="02020603050405020304" pitchFamily="18" charset="0"/>
              </a:rPr>
              <a:t>://</a:t>
            </a:r>
            <a:r>
              <a:rPr lang="en-US" altLang="zh-TW" sz="1000" dirty="0" err="1">
                <a:cs typeface="Times New Roman" panose="02020603050405020304" pitchFamily="18" charset="0"/>
              </a:rPr>
              <a:t>commons.wikimedia.org</a:t>
            </a:r>
            <a:r>
              <a:rPr lang="en-US" altLang="zh-TW" sz="1000" dirty="0">
                <a:cs typeface="Times New Roman" panose="02020603050405020304" pitchFamily="18" charset="0"/>
              </a:rPr>
              <a:t>/wiki/</a:t>
            </a:r>
            <a:r>
              <a:rPr lang="en-US" altLang="zh-TW" sz="1000" dirty="0" err="1">
                <a:cs typeface="Times New Roman" panose="02020603050405020304" pitchFamily="18" charset="0"/>
              </a:rPr>
              <a:t>File:Llama_lying_down.jpg</a:t>
            </a:r>
            <a:endParaRPr lang="zh-TW" sz="1000" dirty="0">
              <a:ea typeface="新細明體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6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DFF94-A242-C744-529C-435DA4ED6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很多厲害的</a:t>
            </a:r>
            <a:r>
              <a:rPr kumimoji="1" lang="en-US" altLang="zh-TW" dirty="0"/>
              <a:t>LLMs</a:t>
            </a:r>
            <a:r>
              <a:rPr kumimoji="1" lang="zh-TW" altLang="en-US" dirty="0"/>
              <a:t>都需要上網且不公開</a:t>
            </a:r>
            <a:r>
              <a:rPr kumimoji="1" lang="en-US" altLang="zh-TW" dirty="0"/>
              <a:t>...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037C42-39C2-67D3-8C2F-5489F702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048765-01F4-B795-0585-E166D3B33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3473" y="2466500"/>
            <a:ext cx="3317240" cy="33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F63747A-4941-F05E-3069-5E7824DDC51A}"/>
              </a:ext>
            </a:extLst>
          </p:cNvPr>
          <p:cNvSpPr txBox="1"/>
          <p:nvPr/>
        </p:nvSpPr>
        <p:spPr>
          <a:xfrm>
            <a:off x="3130301" y="2021324"/>
            <a:ext cx="4003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Llama (7B - 65B) by Meta (2023)</a:t>
            </a:r>
            <a:endParaRPr kumimoji="1" lang="zh-TW" altLang="en-US" dirty="0"/>
          </a:p>
        </p:txBody>
      </p:sp>
      <p:pic>
        <p:nvPicPr>
          <p:cNvPr id="3" name="Picture 2" descr="掌控社群媒體的隱形力量 一文看懂Meta AI">
            <a:extLst>
              <a:ext uri="{FF2B5EF4-FFF2-40B4-BE49-F238E27FC236}">
                <a16:creationId xmlns:a16="http://schemas.microsoft.com/office/drawing/2014/main" id="{CFBBCF11-AB49-D6AB-9D2E-3CC05EFD2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28" y="3137860"/>
            <a:ext cx="2681681" cy="140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B8A041B-CFC9-EA5E-8D2C-14D083FC7145}"/>
              </a:ext>
            </a:extLst>
          </p:cNvPr>
          <p:cNvSpPr txBox="1"/>
          <p:nvPr/>
        </p:nvSpPr>
        <p:spPr>
          <a:xfrm>
            <a:off x="7443588" y="2910987"/>
            <a:ext cx="38253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Llama1: 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/abs/2302.13971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Llama2: 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/abs/2307.09288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Llama3: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" altLang="zh-TW" dirty="0"/>
              <a:t>https://</a:t>
            </a:r>
            <a:r>
              <a:rPr kumimoji="1" lang="en" altLang="zh-TW" dirty="0" err="1"/>
              <a:t>arxiv.org</a:t>
            </a:r>
            <a:r>
              <a:rPr kumimoji="1" lang="en" altLang="zh-TW" dirty="0"/>
              <a:t>/abs/2407.21783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0122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BCEB49-EF16-8B2E-3829-6177A48A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大型語言模型會思考？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D8B8F5-2A97-D04E-AAC7-51AD673C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510F26-8735-684D-44CB-4F1A8E8B4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659" y="1553263"/>
            <a:ext cx="8396681" cy="513502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2BC246A-492A-9C57-E588-51775D506701}"/>
              </a:ext>
            </a:extLst>
          </p:cNvPr>
          <p:cNvSpPr/>
          <p:nvPr/>
        </p:nvSpPr>
        <p:spPr>
          <a:xfrm>
            <a:off x="2063692" y="4077050"/>
            <a:ext cx="1191236" cy="2432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30411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CEA227-4004-C8AF-FEA5-39744574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Chain-of-Thought (</a:t>
            </a:r>
            <a:r>
              <a:rPr kumimoji="1" lang="en-US" altLang="zh-TW" dirty="0" err="1"/>
              <a:t>CoT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EC98A-9825-802B-4362-7817E871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AB150C-6B48-F1CD-EA60-CEFFD1E22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65" y="1976363"/>
            <a:ext cx="7720320" cy="420632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32DC38D4-E182-5566-54EF-B206EFBC14A5}"/>
              </a:ext>
            </a:extLst>
          </p:cNvPr>
          <p:cNvSpPr txBox="1"/>
          <p:nvPr/>
        </p:nvSpPr>
        <p:spPr>
          <a:xfrm>
            <a:off x="5644848" y="4009830"/>
            <a:ext cx="1829743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TW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en-US" altLang="zh-TW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</a:t>
            </a:r>
            <a:r>
              <a:rPr lang="zh-TW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think step by step.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94FFA4-4DD9-5EE2-B17F-745F603DB968}"/>
              </a:ext>
            </a:extLst>
          </p:cNvPr>
          <p:cNvSpPr txBox="1"/>
          <p:nvPr/>
        </p:nvSpPr>
        <p:spPr>
          <a:xfrm>
            <a:off x="8392986" y="1976363"/>
            <a:ext cx="3162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 err="1"/>
              <a:t>CoT</a:t>
            </a:r>
            <a:r>
              <a:rPr kumimoji="1" lang="en" altLang="zh-TW" sz="1600" dirty="0"/>
              <a:t>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/abs/2201.11903</a:t>
            </a:r>
          </a:p>
          <a:p>
            <a:r>
              <a:rPr kumimoji="1" lang="en" altLang="zh-TW" sz="1600" dirty="0"/>
              <a:t>Zero-shot-</a:t>
            </a:r>
            <a:r>
              <a:rPr kumimoji="1" lang="en" altLang="zh-TW" sz="1600" dirty="0" err="1"/>
              <a:t>CoT</a:t>
            </a:r>
            <a:r>
              <a:rPr kumimoji="1" lang="en" altLang="zh-TW" sz="1600" dirty="0"/>
              <a:t>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/abs/2205.11916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68348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ED9A60-DB01-B843-4F15-7D0CA8FF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Training with Reasoning Tasks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F39F1F-AE8C-F70D-A0F5-89241CAD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7" name="圖片 6" descr="一張含有 文字, 字型, 行, 螢幕擷取畫面 的圖片&#10;&#10;自動產生的描述">
            <a:extLst>
              <a:ext uri="{FF2B5EF4-FFF2-40B4-BE49-F238E27FC236}">
                <a16:creationId xmlns:a16="http://schemas.microsoft.com/office/drawing/2014/main" id="{FED1D3A2-537B-0062-84A5-614D7C319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" y="2010762"/>
            <a:ext cx="7772400" cy="318080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539EC04-EAA1-05AD-012F-5556F7DA9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727" y="2435044"/>
            <a:ext cx="5603240" cy="406686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FA5F10D-83CE-FACB-CC13-AFEC96AD81AC}"/>
              </a:ext>
            </a:extLst>
          </p:cNvPr>
          <p:cNvSpPr txBox="1"/>
          <p:nvPr/>
        </p:nvSpPr>
        <p:spPr>
          <a:xfrm>
            <a:off x="1156444" y="5424694"/>
            <a:ext cx="31626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600" dirty="0"/>
              <a:t>Let’s Verify Step by Step: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/abs/2305.20050DeepSeek-R1: https://</a:t>
            </a:r>
            <a:r>
              <a:rPr kumimoji="1" lang="en" altLang="zh-TW" sz="1600" dirty="0" err="1"/>
              <a:t>arxiv.org</a:t>
            </a:r>
            <a:r>
              <a:rPr kumimoji="1" lang="en" altLang="zh-TW" sz="1600" dirty="0"/>
              <a:t>/abs/2501.12948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889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8E9DA14-CCC4-F52F-7DE8-AAA220B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我們這學期要學什麼？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319AE4-BC87-6325-2208-8D96B8FE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476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2C22F4-AB73-4862-0BA7-240A46EFD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這門課的目標 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C54EBC-563B-92AB-0474-6DA551CBC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20C074D-3B69-C53F-449F-2381E6A38A0F}"/>
              </a:ext>
            </a:extLst>
          </p:cNvPr>
          <p:cNvSpPr txBox="1"/>
          <p:nvPr/>
        </p:nvSpPr>
        <p:spPr>
          <a:xfrm>
            <a:off x="715107" y="1827856"/>
            <a:ext cx="10761785" cy="3915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能夠「理解」主流 </a:t>
            </a:r>
            <a:r>
              <a:rPr kumimoji="1" lang="en-US" altLang="zh-TW" sz="2400" dirty="0"/>
              <a:t>NLP / LLM </a:t>
            </a:r>
            <a:r>
              <a:rPr kumimoji="1" lang="zh-TW" altLang="en-US" sz="2400" dirty="0"/>
              <a:t>方法在做什麼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不是只會背名詞、不是只會看別人的部落格</a:t>
            </a:r>
            <a:r>
              <a:rPr kumimoji="1" lang="en-US" altLang="zh-TW" sz="2400" dirty="0"/>
              <a:t> / </a:t>
            </a:r>
            <a:r>
              <a:rPr kumimoji="1" lang="zh-TW" altLang="en-US" sz="2400" dirty="0"/>
              <a:t>重點整理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能夠運用現成工具（尤其是 🤗 </a:t>
            </a:r>
            <a:r>
              <a:rPr kumimoji="1" lang="en-US" altLang="zh-TW" sz="2400" dirty="0"/>
              <a:t>Transformers </a:t>
            </a:r>
            <a:r>
              <a:rPr kumimoji="1" lang="zh-TW" altLang="en-US" sz="2400" dirty="0"/>
              <a:t>生態）把模型跑起來、改得動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知道如何進階 ➡️ 評估、幻覺、安全性、</a:t>
            </a:r>
            <a:r>
              <a:rPr kumimoji="1" lang="en-US" altLang="zh-TW" sz="2400" dirty="0"/>
              <a:t>RAG</a:t>
            </a:r>
          </a:p>
          <a:p>
            <a:pPr>
              <a:lnSpc>
                <a:spcPct val="150000"/>
              </a:lnSpc>
            </a:pP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如果你曾經覺得「</a:t>
            </a:r>
            <a:r>
              <a:rPr kumimoji="1" lang="en-US" altLang="zh-TW" sz="2400" dirty="0"/>
              <a:t>LLM </a:t>
            </a:r>
            <a:r>
              <a:rPr kumimoji="1" lang="zh-TW" altLang="en-US" sz="2400" dirty="0"/>
              <a:t>很神，但我不知道它到底在神什麼」</a:t>
            </a:r>
            <a:endParaRPr kumimoji="1" lang="en-US" altLang="zh-TW" sz="2400" dirty="0"/>
          </a:p>
          <a:p>
            <a:pPr>
              <a:lnSpc>
                <a:spcPct val="150000"/>
              </a:lnSpc>
            </a:pPr>
            <a:r>
              <a:rPr kumimoji="1" lang="zh-TW" altLang="en-US" sz="2400" dirty="0"/>
              <a:t>    </a:t>
            </a:r>
            <a:r>
              <a:rPr kumimoji="1" lang="en-US" altLang="zh-TW" sz="2400" dirty="0"/>
              <a:t>——</a:t>
            </a:r>
            <a:r>
              <a:rPr kumimoji="1" lang="zh-TW" altLang="en-US" sz="2400" dirty="0"/>
              <a:t> 那這門課就是你的解謎本 </a:t>
            </a:r>
            <a:r>
              <a:rPr kumimoji="1" lang="en-US" altLang="zh-TW" sz="2400" dirty="0"/>
              <a:t>📚🧩</a:t>
            </a:r>
          </a:p>
        </p:txBody>
      </p:sp>
    </p:spTree>
    <p:extLst>
      <p:ext uri="{BB962C8B-B14F-4D97-AF65-F5344CB8AC3E}">
        <p14:creationId xmlns:p14="http://schemas.microsoft.com/office/powerpoint/2010/main" val="32668168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8C9F6-BEB5-F736-7564-E6B31963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1.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自然語言處理基本功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如何表達字詞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0B37D4-3CE3-A10B-27BE-C4CECB2F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7C62DA-BDF2-0D01-1A6C-2EA30B3A18CA}"/>
              </a:ext>
            </a:extLst>
          </p:cNvPr>
          <p:cNvSpPr txBox="1"/>
          <p:nvPr/>
        </p:nvSpPr>
        <p:spPr>
          <a:xfrm>
            <a:off x="653143" y="1627979"/>
            <a:ext cx="10918370" cy="259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Week 1 – Week 3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自然語言處理介紹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文字向量基礎與詞嵌入模型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遞迴神經網路與長短期記憶網絡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</p:txBody>
      </p: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1135353C-63E6-6D06-5C9A-8B405614E540}"/>
              </a:ext>
            </a:extLst>
          </p:cNvPr>
          <p:cNvSpPr/>
          <p:nvPr/>
        </p:nvSpPr>
        <p:spPr>
          <a:xfrm>
            <a:off x="2523281" y="4955107"/>
            <a:ext cx="944863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like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BD57AB49-226D-73F3-1115-AFAA58A8E7BE}"/>
              </a:ext>
            </a:extLst>
          </p:cNvPr>
          <p:cNvSpPr/>
          <p:nvPr/>
        </p:nvSpPr>
        <p:spPr>
          <a:xfrm>
            <a:off x="2523281" y="5580024"/>
            <a:ext cx="944863" cy="400110"/>
          </a:xfrm>
          <a:prstGeom prst="roundRect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apple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E57CA09-BC5C-EE30-BBA3-81B0F4F5851C}"/>
              </a:ext>
            </a:extLst>
          </p:cNvPr>
          <p:cNvCxnSpPr>
            <a:cxnSpLocks/>
          </p:cNvCxnSpPr>
          <p:nvPr/>
        </p:nvCxnSpPr>
        <p:spPr>
          <a:xfrm>
            <a:off x="3920018" y="5429482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666B8FD-D70C-1485-F936-FD28F806117D}"/>
              </a:ext>
            </a:extLst>
          </p:cNvPr>
          <p:cNvSpPr txBox="1"/>
          <p:nvPr/>
        </p:nvSpPr>
        <p:spPr>
          <a:xfrm>
            <a:off x="5219700" y="4955107"/>
            <a:ext cx="175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8000" dirty="0"/>
              <a:t>🖥️</a:t>
            </a:r>
            <a:endParaRPr kumimoji="1" lang="zh-TW" altLang="en-US" sz="8000" dirty="0"/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B1105409-1E6A-3729-D011-75BAB14C9CF7}"/>
              </a:ext>
            </a:extLst>
          </p:cNvPr>
          <p:cNvCxnSpPr>
            <a:cxnSpLocks/>
          </p:cNvCxnSpPr>
          <p:nvPr/>
        </p:nvCxnSpPr>
        <p:spPr>
          <a:xfrm>
            <a:off x="6972300" y="5429482"/>
            <a:ext cx="1198485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9A0E081-97B4-CD62-17E2-773BCD6A2DC4}"/>
              </a:ext>
            </a:extLst>
          </p:cNvPr>
          <p:cNvSpPr txBox="1"/>
          <p:nvPr/>
        </p:nvSpPr>
        <p:spPr>
          <a:xfrm>
            <a:off x="8359140" y="5128920"/>
            <a:ext cx="57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3600" b="1" dirty="0"/>
              <a:t>?</a:t>
            </a:r>
            <a:endParaRPr kumimoji="1" lang="zh-TW" altLang="en-US" sz="36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5A83115-48EC-CFEC-E38C-FBCDA54D035D}"/>
              </a:ext>
            </a:extLst>
          </p:cNvPr>
          <p:cNvSpPr txBox="1"/>
          <p:nvPr/>
        </p:nvSpPr>
        <p:spPr>
          <a:xfrm>
            <a:off x="7683516" y="342536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962407-20DB-B7AC-0ED5-68FAA56EBD7B}"/>
              </a:ext>
            </a:extLst>
          </p:cNvPr>
          <p:cNvSpPr txBox="1"/>
          <p:nvPr/>
        </p:nvSpPr>
        <p:spPr>
          <a:xfrm>
            <a:off x="8410296" y="342536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10AB42-12A2-67A1-D211-FB0B5E572A44}"/>
              </a:ext>
            </a:extLst>
          </p:cNvPr>
          <p:cNvSpPr txBox="1"/>
          <p:nvPr/>
        </p:nvSpPr>
        <p:spPr>
          <a:xfrm>
            <a:off x="9081574" y="342536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E103FA0-D49D-0F5E-3DAD-56C4F8D8F5D0}"/>
              </a:ext>
            </a:extLst>
          </p:cNvPr>
          <p:cNvSpPr txBox="1"/>
          <p:nvPr/>
        </p:nvSpPr>
        <p:spPr>
          <a:xfrm>
            <a:off x="9731339" y="342536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720EFA8A-E0F3-3BE8-5B0A-0E1387AC894F}"/>
              </a:ext>
            </a:extLst>
          </p:cNvPr>
          <p:cNvSpPr/>
          <p:nvPr/>
        </p:nvSpPr>
        <p:spPr>
          <a:xfrm>
            <a:off x="7830309" y="274491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52CEF527-8AE9-3F89-EEF9-A2B86F171E5A}"/>
              </a:ext>
            </a:extLst>
          </p:cNvPr>
          <p:cNvSpPr/>
          <p:nvPr/>
        </p:nvSpPr>
        <p:spPr>
          <a:xfrm>
            <a:off x="8554007" y="274791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3DAB5AD8-39F9-A45E-3553-7158B324CE11}"/>
              </a:ext>
            </a:extLst>
          </p:cNvPr>
          <p:cNvSpPr/>
          <p:nvPr/>
        </p:nvSpPr>
        <p:spPr>
          <a:xfrm>
            <a:off x="9277705" y="274850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75ADD485-37E2-D7CF-0361-9FB28C2C1559}"/>
              </a:ext>
            </a:extLst>
          </p:cNvPr>
          <p:cNvSpPr/>
          <p:nvPr/>
        </p:nvSpPr>
        <p:spPr>
          <a:xfrm>
            <a:off x="10001403" y="274491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9" name="Google Shape;193;p17">
            <a:extLst>
              <a:ext uri="{FF2B5EF4-FFF2-40B4-BE49-F238E27FC236}">
                <a16:creationId xmlns:a16="http://schemas.microsoft.com/office/drawing/2014/main" id="{073A724D-8684-F041-51D2-62FBAC29313E}"/>
              </a:ext>
            </a:extLst>
          </p:cNvPr>
          <p:cNvCxnSpPr>
            <a:cxnSpLocks/>
          </p:cNvCxnSpPr>
          <p:nvPr/>
        </p:nvCxnSpPr>
        <p:spPr>
          <a:xfrm rot="10800000">
            <a:off x="8720442" y="317698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194;p17">
            <a:extLst>
              <a:ext uri="{FF2B5EF4-FFF2-40B4-BE49-F238E27FC236}">
                <a16:creationId xmlns:a16="http://schemas.microsoft.com/office/drawing/2014/main" id="{BA3EE186-72F5-179B-7427-AFD8AD3E06A6}"/>
              </a:ext>
            </a:extLst>
          </p:cNvPr>
          <p:cNvCxnSpPr>
            <a:cxnSpLocks/>
          </p:cNvCxnSpPr>
          <p:nvPr/>
        </p:nvCxnSpPr>
        <p:spPr>
          <a:xfrm rot="10800000">
            <a:off x="9441992" y="317698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" name="Google Shape;195;p17">
            <a:extLst>
              <a:ext uri="{FF2B5EF4-FFF2-40B4-BE49-F238E27FC236}">
                <a16:creationId xmlns:a16="http://schemas.microsoft.com/office/drawing/2014/main" id="{4DC3CD52-A0F8-7F77-1775-252AD9B39CB2}"/>
              </a:ext>
            </a:extLst>
          </p:cNvPr>
          <p:cNvCxnSpPr>
            <a:cxnSpLocks/>
          </p:cNvCxnSpPr>
          <p:nvPr/>
        </p:nvCxnSpPr>
        <p:spPr>
          <a:xfrm rot="10800000">
            <a:off x="10163542" y="317698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" name="Google Shape;195;p17">
            <a:extLst>
              <a:ext uri="{FF2B5EF4-FFF2-40B4-BE49-F238E27FC236}">
                <a16:creationId xmlns:a16="http://schemas.microsoft.com/office/drawing/2014/main" id="{5C670BFC-A982-E5A9-958D-4AEAE88072F3}"/>
              </a:ext>
            </a:extLst>
          </p:cNvPr>
          <p:cNvCxnSpPr>
            <a:cxnSpLocks/>
          </p:cNvCxnSpPr>
          <p:nvPr/>
        </p:nvCxnSpPr>
        <p:spPr>
          <a:xfrm rot="10800000">
            <a:off x="7998892" y="317698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" name="Google Shape;193;p17">
            <a:extLst>
              <a:ext uri="{FF2B5EF4-FFF2-40B4-BE49-F238E27FC236}">
                <a16:creationId xmlns:a16="http://schemas.microsoft.com/office/drawing/2014/main" id="{742670AD-66FC-0628-7C31-A35CBF619899}"/>
              </a:ext>
            </a:extLst>
          </p:cNvPr>
          <p:cNvCxnSpPr>
            <a:cxnSpLocks/>
          </p:cNvCxnSpPr>
          <p:nvPr/>
        </p:nvCxnSpPr>
        <p:spPr>
          <a:xfrm rot="16200000">
            <a:off x="8361935" y="282490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193;p17">
            <a:extLst>
              <a:ext uri="{FF2B5EF4-FFF2-40B4-BE49-F238E27FC236}">
                <a16:creationId xmlns:a16="http://schemas.microsoft.com/office/drawing/2014/main" id="{8712453A-0D18-8860-2E8D-B40534651561}"/>
              </a:ext>
            </a:extLst>
          </p:cNvPr>
          <p:cNvCxnSpPr>
            <a:cxnSpLocks/>
          </p:cNvCxnSpPr>
          <p:nvPr/>
        </p:nvCxnSpPr>
        <p:spPr>
          <a:xfrm rot="16200000">
            <a:off x="9077994" y="282490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193;p17">
            <a:extLst>
              <a:ext uri="{FF2B5EF4-FFF2-40B4-BE49-F238E27FC236}">
                <a16:creationId xmlns:a16="http://schemas.microsoft.com/office/drawing/2014/main" id="{743A8835-D55C-4C70-49C6-7AA480B4FA0B}"/>
              </a:ext>
            </a:extLst>
          </p:cNvPr>
          <p:cNvCxnSpPr>
            <a:cxnSpLocks/>
          </p:cNvCxnSpPr>
          <p:nvPr/>
        </p:nvCxnSpPr>
        <p:spPr>
          <a:xfrm rot="16200000">
            <a:off x="9798807" y="282490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5831554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8C9F6-BEB5-F736-7564-E6B319637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2.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現代自然語言處理基本功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0B37D4-3CE3-A10B-27BE-C4CECB2F6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C7C62DA-BDF2-0D01-1A6C-2EA30B3A18CA}"/>
              </a:ext>
            </a:extLst>
          </p:cNvPr>
          <p:cNvSpPr txBox="1"/>
          <p:nvPr/>
        </p:nvSpPr>
        <p:spPr>
          <a:xfrm>
            <a:off x="636815" y="1627495"/>
            <a:ext cx="10918370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Week 4 – Week 5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注意力機制以及 </a:t>
            </a:r>
            <a:r>
              <a:rPr kumimoji="1" lang="en" altLang="zh-TW" sz="2800" dirty="0">
                <a:ea typeface="Microsoft JhengHei" panose="020B0604030504040204" pitchFamily="34" charset="-120"/>
              </a:rPr>
              <a:t>Sub-word 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分詞法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Transformer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 架構</a:t>
            </a:r>
            <a:endParaRPr kumimoji="1" lang="en" altLang="zh-TW" sz="2800" dirty="0">
              <a:ea typeface="Microsoft JhengHei" panose="020B0604030504040204" pitchFamily="34" charset="-120"/>
            </a:endParaRPr>
          </a:p>
        </p:txBody>
      </p:sp>
      <p:sp>
        <p:nvSpPr>
          <p:cNvPr id="3" name="圓角矩形 2">
            <a:extLst>
              <a:ext uri="{FF2B5EF4-FFF2-40B4-BE49-F238E27FC236}">
                <a16:creationId xmlns:a16="http://schemas.microsoft.com/office/drawing/2014/main" id="{9DF83CD4-2F27-79BE-9831-4BE356FB9D31}"/>
              </a:ext>
            </a:extLst>
          </p:cNvPr>
          <p:cNvSpPr/>
          <p:nvPr/>
        </p:nvSpPr>
        <p:spPr>
          <a:xfrm>
            <a:off x="2668652" y="5836117"/>
            <a:ext cx="372490" cy="207951"/>
          </a:xfrm>
          <a:prstGeom prst="roundRect">
            <a:avLst/>
          </a:prstGeom>
          <a:solidFill>
            <a:srgbClr val="00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A399ACA-D0EB-2970-08EB-1BC6AEFEE554}"/>
              </a:ext>
            </a:extLst>
          </p:cNvPr>
          <p:cNvSpPr/>
          <p:nvPr/>
        </p:nvSpPr>
        <p:spPr>
          <a:xfrm>
            <a:off x="5569199" y="5836117"/>
            <a:ext cx="372490" cy="207951"/>
          </a:xfrm>
          <a:prstGeom prst="roundRect">
            <a:avLst/>
          </a:prstGeom>
          <a:solidFill>
            <a:srgbClr val="00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4D3DD98-80F0-7C9C-3C0A-931AF09BE7BD}"/>
              </a:ext>
            </a:extLst>
          </p:cNvPr>
          <p:cNvSpPr/>
          <p:nvPr/>
        </p:nvSpPr>
        <p:spPr>
          <a:xfrm>
            <a:off x="1701803" y="5836117"/>
            <a:ext cx="372490" cy="207951"/>
          </a:xfrm>
          <a:prstGeom prst="roundRect">
            <a:avLst/>
          </a:prstGeom>
          <a:solidFill>
            <a:srgbClr val="C1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9FDD36C2-7145-C233-D358-B235354BFDB2}"/>
              </a:ext>
            </a:extLst>
          </p:cNvPr>
          <p:cNvSpPr/>
          <p:nvPr/>
        </p:nvSpPr>
        <p:spPr>
          <a:xfrm>
            <a:off x="3605367" y="5836117"/>
            <a:ext cx="372490" cy="207951"/>
          </a:xfrm>
          <a:prstGeom prst="roundRect">
            <a:avLst/>
          </a:prstGeom>
          <a:solidFill>
            <a:srgbClr val="C1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34E24EB8-7BF2-1298-B431-0989F32053A3}"/>
              </a:ext>
            </a:extLst>
          </p:cNvPr>
          <p:cNvSpPr/>
          <p:nvPr/>
        </p:nvSpPr>
        <p:spPr>
          <a:xfrm>
            <a:off x="4598564" y="5836117"/>
            <a:ext cx="372490" cy="207951"/>
          </a:xfrm>
          <a:prstGeom prst="roundRect">
            <a:avLst/>
          </a:prstGeom>
          <a:solidFill>
            <a:srgbClr val="C1EED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A5578B6F-D640-AF78-D5DA-073607548C39}"/>
              </a:ext>
            </a:extLst>
          </p:cNvPr>
          <p:cNvCxnSpPr>
            <a:cxnSpLocks/>
          </p:cNvCxnSpPr>
          <p:nvPr/>
        </p:nvCxnSpPr>
        <p:spPr>
          <a:xfrm flipV="1">
            <a:off x="1888048" y="4750915"/>
            <a:ext cx="1621151" cy="9810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836FC4BB-585A-037A-6449-ED5B648663F9}"/>
              </a:ext>
            </a:extLst>
          </p:cNvPr>
          <p:cNvCxnSpPr>
            <a:cxnSpLocks/>
          </p:cNvCxnSpPr>
          <p:nvPr/>
        </p:nvCxnSpPr>
        <p:spPr>
          <a:xfrm flipH="1" flipV="1">
            <a:off x="4826715" y="4750915"/>
            <a:ext cx="920640" cy="10393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E708AF77-7F65-96BC-B81F-840358BC5F7F}"/>
              </a:ext>
            </a:extLst>
          </p:cNvPr>
          <p:cNvCxnSpPr>
            <a:cxnSpLocks/>
          </p:cNvCxnSpPr>
          <p:nvPr/>
        </p:nvCxnSpPr>
        <p:spPr>
          <a:xfrm flipH="1" flipV="1">
            <a:off x="4476813" y="4769786"/>
            <a:ext cx="313059" cy="10663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59A8AF7-35F5-4D76-A2FD-C24CD7A2FB4A}"/>
              </a:ext>
            </a:extLst>
          </p:cNvPr>
          <p:cNvCxnSpPr>
            <a:cxnSpLocks/>
          </p:cNvCxnSpPr>
          <p:nvPr/>
        </p:nvCxnSpPr>
        <p:spPr>
          <a:xfrm flipV="1">
            <a:off x="2937122" y="4763850"/>
            <a:ext cx="846986" cy="10452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6FB4A6F7-84E3-AB1C-697B-9502E3EF2E76}"/>
              </a:ext>
            </a:extLst>
          </p:cNvPr>
          <p:cNvCxnSpPr>
            <a:cxnSpLocks/>
          </p:cNvCxnSpPr>
          <p:nvPr/>
        </p:nvCxnSpPr>
        <p:spPr>
          <a:xfrm flipV="1">
            <a:off x="3820358" y="4803439"/>
            <a:ext cx="287386" cy="9927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CD9FBF6C-3A4E-6275-9F58-A02F30488736}"/>
              </a:ext>
            </a:extLst>
          </p:cNvPr>
          <p:cNvSpPr/>
          <p:nvPr/>
        </p:nvSpPr>
        <p:spPr>
          <a:xfrm>
            <a:off x="4181665" y="4111486"/>
            <a:ext cx="249382" cy="53439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29194D6-8E49-837A-295D-9FA56CC456B8}"/>
              </a:ext>
            </a:extLst>
          </p:cNvPr>
          <p:cNvSpPr txBox="1"/>
          <p:nvPr/>
        </p:nvSpPr>
        <p:spPr>
          <a:xfrm>
            <a:off x="3413897" y="4146568"/>
            <a:ext cx="79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Context vector</a:t>
            </a:r>
            <a:endParaRPr kumimoji="1" lang="zh-TW" altLang="en-US" sz="1400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18052D9A-82CE-6A33-00CB-3174CDAC2F6A}"/>
              </a:ext>
            </a:extLst>
          </p:cNvPr>
          <p:cNvCxnSpPr>
            <a:cxnSpLocks/>
          </p:cNvCxnSpPr>
          <p:nvPr/>
        </p:nvCxnSpPr>
        <p:spPr>
          <a:xfrm>
            <a:off x="8418715" y="5924904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959DF220-4673-4DEF-FBED-74E6553B93FF}"/>
              </a:ext>
            </a:extLst>
          </p:cNvPr>
          <p:cNvSpPr/>
          <p:nvPr/>
        </p:nvSpPr>
        <p:spPr>
          <a:xfrm>
            <a:off x="7995497" y="5834099"/>
            <a:ext cx="372490" cy="2055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821FA276-9200-18BB-473F-6D8378EE0CC4}"/>
              </a:ext>
            </a:extLst>
          </p:cNvPr>
          <p:cNvSpPr/>
          <p:nvPr/>
        </p:nvSpPr>
        <p:spPr>
          <a:xfrm>
            <a:off x="8844242" y="5834099"/>
            <a:ext cx="372490" cy="20552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AC4CDD1-8616-95F0-8D6F-677F0C5DC7B6}"/>
                  </a:ext>
                </a:extLst>
              </p:cNvPr>
              <p:cNvSpPr txBox="1"/>
              <p:nvPr/>
            </p:nvSpPr>
            <p:spPr>
              <a:xfrm>
                <a:off x="8888946" y="6074116"/>
                <a:ext cx="307392" cy="2860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AC4CDD1-8616-95F0-8D6F-677F0C5DC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8946" y="6074116"/>
                <a:ext cx="307392" cy="286040"/>
              </a:xfrm>
              <a:prstGeom prst="rect">
                <a:avLst/>
              </a:prstGeom>
              <a:blipFill>
                <a:blip r:embed="rId2"/>
                <a:stretch>
                  <a:fillRect l="-15385" r="-3846" b="-173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839299A-3A5D-5329-8EB6-C6FEB8C353AC}"/>
                  </a:ext>
                </a:extLst>
              </p:cNvPr>
              <p:cNvSpPr txBox="1"/>
              <p:nvPr/>
            </p:nvSpPr>
            <p:spPr>
              <a:xfrm>
                <a:off x="7995497" y="6072455"/>
                <a:ext cx="488532" cy="288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bSup>
                    </m:oMath>
                  </m:oMathPara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839299A-3A5D-5329-8EB6-C6FEB8C35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497" y="6072455"/>
                <a:ext cx="488532" cy="288862"/>
              </a:xfrm>
              <a:prstGeom prst="rect">
                <a:avLst/>
              </a:prstGeom>
              <a:blipFill>
                <a:blip r:embed="rId3"/>
                <a:stretch>
                  <a:fillRect l="-12500" t="-4167" r="-2500" b="-125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B7294E9D-70AE-0914-CF15-CC0297182BD1}"/>
              </a:ext>
            </a:extLst>
          </p:cNvPr>
          <p:cNvCxnSpPr>
            <a:cxnSpLocks/>
          </p:cNvCxnSpPr>
          <p:nvPr/>
        </p:nvCxnSpPr>
        <p:spPr>
          <a:xfrm>
            <a:off x="7542080" y="5938428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182166DF-E70B-14E3-DB57-F504E07C47E8}"/>
              </a:ext>
            </a:extLst>
          </p:cNvPr>
          <p:cNvCxnSpPr>
            <a:cxnSpLocks/>
          </p:cNvCxnSpPr>
          <p:nvPr/>
        </p:nvCxnSpPr>
        <p:spPr>
          <a:xfrm>
            <a:off x="9250518" y="5938428"/>
            <a:ext cx="39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線接點 23">
            <a:extLst>
              <a:ext uri="{FF2B5EF4-FFF2-40B4-BE49-F238E27FC236}">
                <a16:creationId xmlns:a16="http://schemas.microsoft.com/office/drawing/2014/main" id="{00E2C3EA-0C88-B646-627B-455B0220A06E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4431047" y="4378681"/>
            <a:ext cx="4164978" cy="1507606"/>
          </a:xfrm>
          <a:prstGeom prst="curvedConnector3">
            <a:avLst>
              <a:gd name="adj1" fmla="val 998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3553E97-B333-560C-E94C-527DB76A05F4}"/>
              </a:ext>
            </a:extLst>
          </p:cNvPr>
          <p:cNvSpPr txBox="1"/>
          <p:nvPr/>
        </p:nvSpPr>
        <p:spPr>
          <a:xfrm>
            <a:off x="7253986" y="5697634"/>
            <a:ext cx="22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…</a:t>
            </a:r>
            <a:endParaRPr kumimoji="1" lang="zh-TW" altLang="en-US" dirty="0"/>
          </a:p>
        </p:txBody>
      </p: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C76AAFC-8FFA-FCAD-4106-92F96C8903DF}"/>
              </a:ext>
            </a:extLst>
          </p:cNvPr>
          <p:cNvCxnSpPr/>
          <p:nvPr/>
        </p:nvCxnSpPr>
        <p:spPr>
          <a:xfrm>
            <a:off x="6260593" y="3736873"/>
            <a:ext cx="0" cy="2658906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352AF36-4C46-8475-6234-0C95BA60353E}"/>
              </a:ext>
            </a:extLst>
          </p:cNvPr>
          <p:cNvGrpSpPr/>
          <p:nvPr/>
        </p:nvGrpSpPr>
        <p:grpSpPr>
          <a:xfrm>
            <a:off x="2185220" y="5905725"/>
            <a:ext cx="398515" cy="95121"/>
            <a:chOff x="1557538" y="4722048"/>
            <a:chExt cx="398515" cy="95121"/>
          </a:xfrm>
        </p:grpSpPr>
        <p:cxnSp>
          <p:nvCxnSpPr>
            <p:cNvPr id="28" name="直線箭頭接點 27">
              <a:extLst>
                <a:ext uri="{FF2B5EF4-FFF2-40B4-BE49-F238E27FC236}">
                  <a16:creationId xmlns:a16="http://schemas.microsoft.com/office/drawing/2014/main" id="{3270C5E6-3905-7ABE-DD13-9F88B429A40B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箭頭接點 28">
              <a:extLst>
                <a:ext uri="{FF2B5EF4-FFF2-40B4-BE49-F238E27FC236}">
                  <a16:creationId xmlns:a16="http://schemas.microsoft.com/office/drawing/2014/main" id="{82E56E54-2927-8EEB-360B-7D56693F9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8CBA68F0-BCDF-6B13-2811-79018A791C7B}"/>
              </a:ext>
            </a:extLst>
          </p:cNvPr>
          <p:cNvGrpSpPr/>
          <p:nvPr/>
        </p:nvGrpSpPr>
        <p:grpSpPr>
          <a:xfrm>
            <a:off x="3124874" y="5901550"/>
            <a:ext cx="398515" cy="95121"/>
            <a:chOff x="1557538" y="4722048"/>
            <a:chExt cx="398515" cy="95121"/>
          </a:xfrm>
        </p:grpSpPr>
        <p:cxnSp>
          <p:nvCxnSpPr>
            <p:cNvPr id="31" name="直線箭頭接點 30">
              <a:extLst>
                <a:ext uri="{FF2B5EF4-FFF2-40B4-BE49-F238E27FC236}">
                  <a16:creationId xmlns:a16="http://schemas.microsoft.com/office/drawing/2014/main" id="{5583236E-D0FB-8963-2AF6-59082A00964A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箭頭接點 31">
              <a:extLst>
                <a:ext uri="{FF2B5EF4-FFF2-40B4-BE49-F238E27FC236}">
                  <a16:creationId xmlns:a16="http://schemas.microsoft.com/office/drawing/2014/main" id="{CB6E88CE-E389-A9D3-3C2C-06E9769F49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B7C367C0-1D4B-EA39-1FF4-2AD2C509D473}"/>
              </a:ext>
            </a:extLst>
          </p:cNvPr>
          <p:cNvGrpSpPr/>
          <p:nvPr/>
        </p:nvGrpSpPr>
        <p:grpSpPr>
          <a:xfrm>
            <a:off x="4061589" y="5900203"/>
            <a:ext cx="398515" cy="95121"/>
            <a:chOff x="1557538" y="4722048"/>
            <a:chExt cx="398515" cy="95121"/>
          </a:xfrm>
        </p:grpSpPr>
        <p:cxnSp>
          <p:nvCxnSpPr>
            <p:cNvPr id="34" name="直線箭頭接點 33">
              <a:extLst>
                <a:ext uri="{FF2B5EF4-FFF2-40B4-BE49-F238E27FC236}">
                  <a16:creationId xmlns:a16="http://schemas.microsoft.com/office/drawing/2014/main" id="{0CE961F5-B0BE-25DD-544A-D7E045D6444A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箭頭接點 34">
              <a:extLst>
                <a:ext uri="{FF2B5EF4-FFF2-40B4-BE49-F238E27FC236}">
                  <a16:creationId xmlns:a16="http://schemas.microsoft.com/office/drawing/2014/main" id="{8BD900CE-2244-005E-1A07-D001D35363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11FF93D5-8D9D-213E-BC84-B3A515A865C5}"/>
              </a:ext>
            </a:extLst>
          </p:cNvPr>
          <p:cNvGrpSpPr/>
          <p:nvPr/>
        </p:nvGrpSpPr>
        <p:grpSpPr>
          <a:xfrm>
            <a:off x="5067943" y="5899559"/>
            <a:ext cx="398515" cy="95121"/>
            <a:chOff x="1557538" y="4722048"/>
            <a:chExt cx="398515" cy="95121"/>
          </a:xfrm>
        </p:grpSpPr>
        <p:cxnSp>
          <p:nvCxnSpPr>
            <p:cNvPr id="37" name="直線箭頭接點 36">
              <a:extLst>
                <a:ext uri="{FF2B5EF4-FFF2-40B4-BE49-F238E27FC236}">
                  <a16:creationId xmlns:a16="http://schemas.microsoft.com/office/drawing/2014/main" id="{9DD3F403-70D3-3725-AEDD-362D5F759658}"/>
                </a:ext>
              </a:extLst>
            </p:cNvPr>
            <p:cNvCxnSpPr>
              <a:cxnSpLocks/>
            </p:cNvCxnSpPr>
            <p:nvPr/>
          </p:nvCxnSpPr>
          <p:spPr>
            <a:xfrm>
              <a:off x="1557538" y="4722048"/>
              <a:ext cx="3985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箭頭接點 37">
              <a:extLst>
                <a:ext uri="{FF2B5EF4-FFF2-40B4-BE49-F238E27FC236}">
                  <a16:creationId xmlns:a16="http://schemas.microsoft.com/office/drawing/2014/main" id="{06E7132B-BB9C-8D16-984D-0680EBA559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57539" y="4817169"/>
              <a:ext cx="3985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00D7E94-4A4F-F413-06B9-89725C286DC6}"/>
              </a:ext>
            </a:extLst>
          </p:cNvPr>
          <p:cNvSpPr txBox="1"/>
          <p:nvPr/>
        </p:nvSpPr>
        <p:spPr>
          <a:xfrm>
            <a:off x="2660898" y="6373948"/>
            <a:ext cx="245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Encoder time steps</a:t>
            </a:r>
            <a:endParaRPr kumimoji="1"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21E6543-D941-AE6A-6B34-8E8955F6589F}"/>
              </a:ext>
            </a:extLst>
          </p:cNvPr>
          <p:cNvSpPr txBox="1"/>
          <p:nvPr/>
        </p:nvSpPr>
        <p:spPr>
          <a:xfrm>
            <a:off x="7415749" y="6373948"/>
            <a:ext cx="245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Decoder time steps</a:t>
            </a:r>
            <a:endParaRPr kumimoji="1"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9EB9FC7-39F4-527E-C9B8-5E105C0299DC}"/>
              </a:ext>
            </a:extLst>
          </p:cNvPr>
          <p:cNvSpPr txBox="1"/>
          <p:nvPr/>
        </p:nvSpPr>
        <p:spPr>
          <a:xfrm>
            <a:off x="8091249" y="338677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1C6BF24-1E87-2E9E-D72F-55AC175E9BA7}"/>
              </a:ext>
            </a:extLst>
          </p:cNvPr>
          <p:cNvSpPr txBox="1"/>
          <p:nvPr/>
        </p:nvSpPr>
        <p:spPr>
          <a:xfrm>
            <a:off x="8818029" y="338677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9D63A4D0-2D9A-949B-56CC-1BDB7F7E2F1E}"/>
              </a:ext>
            </a:extLst>
          </p:cNvPr>
          <p:cNvSpPr txBox="1"/>
          <p:nvPr/>
        </p:nvSpPr>
        <p:spPr>
          <a:xfrm>
            <a:off x="9489307" y="338677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2B12A0A8-56E4-AE60-D383-30233137D583}"/>
              </a:ext>
            </a:extLst>
          </p:cNvPr>
          <p:cNvSpPr txBox="1"/>
          <p:nvPr/>
        </p:nvSpPr>
        <p:spPr>
          <a:xfrm>
            <a:off x="10139072" y="338677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45" name="圓角矩形 44">
            <a:extLst>
              <a:ext uri="{FF2B5EF4-FFF2-40B4-BE49-F238E27FC236}">
                <a16:creationId xmlns:a16="http://schemas.microsoft.com/office/drawing/2014/main" id="{F1EA2E62-62EF-871C-C0D0-A6330156E9A7}"/>
              </a:ext>
            </a:extLst>
          </p:cNvPr>
          <p:cNvSpPr/>
          <p:nvPr/>
        </p:nvSpPr>
        <p:spPr>
          <a:xfrm>
            <a:off x="8238042" y="270632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6" name="圓角矩形 45">
            <a:extLst>
              <a:ext uri="{FF2B5EF4-FFF2-40B4-BE49-F238E27FC236}">
                <a16:creationId xmlns:a16="http://schemas.microsoft.com/office/drawing/2014/main" id="{6022375C-FD06-DF47-18B2-5485FADE5987}"/>
              </a:ext>
            </a:extLst>
          </p:cNvPr>
          <p:cNvSpPr/>
          <p:nvPr/>
        </p:nvSpPr>
        <p:spPr>
          <a:xfrm>
            <a:off x="8961740" y="270932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圓角矩形 46">
            <a:extLst>
              <a:ext uri="{FF2B5EF4-FFF2-40B4-BE49-F238E27FC236}">
                <a16:creationId xmlns:a16="http://schemas.microsoft.com/office/drawing/2014/main" id="{A1491165-3E17-8AB6-5FDA-A9FE701D4AD1}"/>
              </a:ext>
            </a:extLst>
          </p:cNvPr>
          <p:cNvSpPr/>
          <p:nvPr/>
        </p:nvSpPr>
        <p:spPr>
          <a:xfrm>
            <a:off x="9685438" y="270991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圓角矩形 47">
            <a:extLst>
              <a:ext uri="{FF2B5EF4-FFF2-40B4-BE49-F238E27FC236}">
                <a16:creationId xmlns:a16="http://schemas.microsoft.com/office/drawing/2014/main" id="{B25F291C-7245-D639-5CAE-F8085633EEE0}"/>
              </a:ext>
            </a:extLst>
          </p:cNvPr>
          <p:cNvSpPr/>
          <p:nvPr/>
        </p:nvSpPr>
        <p:spPr>
          <a:xfrm>
            <a:off x="10409136" y="270632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49" name="Google Shape;193;p17">
            <a:extLst>
              <a:ext uri="{FF2B5EF4-FFF2-40B4-BE49-F238E27FC236}">
                <a16:creationId xmlns:a16="http://schemas.microsoft.com/office/drawing/2014/main" id="{84AC4C84-4546-7289-55B0-FD1CCB3E8189}"/>
              </a:ext>
            </a:extLst>
          </p:cNvPr>
          <p:cNvCxnSpPr>
            <a:cxnSpLocks/>
          </p:cNvCxnSpPr>
          <p:nvPr/>
        </p:nvCxnSpPr>
        <p:spPr>
          <a:xfrm rot="10800000">
            <a:off x="912817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0" name="Google Shape;194;p17">
            <a:extLst>
              <a:ext uri="{FF2B5EF4-FFF2-40B4-BE49-F238E27FC236}">
                <a16:creationId xmlns:a16="http://schemas.microsoft.com/office/drawing/2014/main" id="{FAF0CB16-85B9-9BA6-E0B6-287B9EB09C42}"/>
              </a:ext>
            </a:extLst>
          </p:cNvPr>
          <p:cNvCxnSpPr>
            <a:cxnSpLocks/>
          </p:cNvCxnSpPr>
          <p:nvPr/>
        </p:nvCxnSpPr>
        <p:spPr>
          <a:xfrm rot="10800000">
            <a:off x="984972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" name="Google Shape;195;p17">
            <a:extLst>
              <a:ext uri="{FF2B5EF4-FFF2-40B4-BE49-F238E27FC236}">
                <a16:creationId xmlns:a16="http://schemas.microsoft.com/office/drawing/2014/main" id="{89AD0ADF-A9EF-8411-A6CB-EF76D308B0FC}"/>
              </a:ext>
            </a:extLst>
          </p:cNvPr>
          <p:cNvCxnSpPr>
            <a:cxnSpLocks/>
          </p:cNvCxnSpPr>
          <p:nvPr/>
        </p:nvCxnSpPr>
        <p:spPr>
          <a:xfrm rot="10800000">
            <a:off x="1057127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195;p17">
            <a:extLst>
              <a:ext uri="{FF2B5EF4-FFF2-40B4-BE49-F238E27FC236}">
                <a16:creationId xmlns:a16="http://schemas.microsoft.com/office/drawing/2014/main" id="{F49DBC0C-DDFE-4C40-D282-CFF12CDE5E24}"/>
              </a:ext>
            </a:extLst>
          </p:cNvPr>
          <p:cNvCxnSpPr>
            <a:cxnSpLocks/>
          </p:cNvCxnSpPr>
          <p:nvPr/>
        </p:nvCxnSpPr>
        <p:spPr>
          <a:xfrm rot="10800000">
            <a:off x="8406625" y="313839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193;p17">
            <a:extLst>
              <a:ext uri="{FF2B5EF4-FFF2-40B4-BE49-F238E27FC236}">
                <a16:creationId xmlns:a16="http://schemas.microsoft.com/office/drawing/2014/main" id="{401CD49E-5237-921E-1A82-C34DC79F6894}"/>
              </a:ext>
            </a:extLst>
          </p:cNvPr>
          <p:cNvCxnSpPr>
            <a:cxnSpLocks/>
          </p:cNvCxnSpPr>
          <p:nvPr/>
        </p:nvCxnSpPr>
        <p:spPr>
          <a:xfrm rot="16200000">
            <a:off x="8769668" y="278631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" name="Google Shape;193;p17">
            <a:extLst>
              <a:ext uri="{FF2B5EF4-FFF2-40B4-BE49-F238E27FC236}">
                <a16:creationId xmlns:a16="http://schemas.microsoft.com/office/drawing/2014/main" id="{C55F814C-4359-F270-7985-C1A1F08C4079}"/>
              </a:ext>
            </a:extLst>
          </p:cNvPr>
          <p:cNvCxnSpPr>
            <a:cxnSpLocks/>
          </p:cNvCxnSpPr>
          <p:nvPr/>
        </p:nvCxnSpPr>
        <p:spPr>
          <a:xfrm rot="16200000">
            <a:off x="9485727" y="278631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193;p17">
            <a:extLst>
              <a:ext uri="{FF2B5EF4-FFF2-40B4-BE49-F238E27FC236}">
                <a16:creationId xmlns:a16="http://schemas.microsoft.com/office/drawing/2014/main" id="{BD367D88-65CA-EDAD-3694-85AE22547031}"/>
              </a:ext>
            </a:extLst>
          </p:cNvPr>
          <p:cNvCxnSpPr>
            <a:cxnSpLocks/>
          </p:cNvCxnSpPr>
          <p:nvPr/>
        </p:nvCxnSpPr>
        <p:spPr>
          <a:xfrm rot="16200000">
            <a:off x="10206540" y="278631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曲線接點 55">
            <a:extLst>
              <a:ext uri="{FF2B5EF4-FFF2-40B4-BE49-F238E27FC236}">
                <a16:creationId xmlns:a16="http://schemas.microsoft.com/office/drawing/2014/main" id="{3FECCC39-9BA6-0AAF-3B5F-14773F696A30}"/>
              </a:ext>
            </a:extLst>
          </p:cNvPr>
          <p:cNvCxnSpPr>
            <a:stCxn id="45" idx="0"/>
            <a:endCxn id="46" idx="0"/>
          </p:cNvCxnSpPr>
          <p:nvPr/>
        </p:nvCxnSpPr>
        <p:spPr>
          <a:xfrm rot="16200000" flipH="1">
            <a:off x="8760529" y="234597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曲線接點 56">
            <a:extLst>
              <a:ext uri="{FF2B5EF4-FFF2-40B4-BE49-F238E27FC236}">
                <a16:creationId xmlns:a16="http://schemas.microsoft.com/office/drawing/2014/main" id="{2E98C6F7-80A7-0599-652C-8103CED4D9B2}"/>
              </a:ext>
            </a:extLst>
          </p:cNvPr>
          <p:cNvCxnSpPr>
            <a:cxnSpLocks/>
            <a:stCxn id="46" idx="0"/>
            <a:endCxn id="47" idx="0"/>
          </p:cNvCxnSpPr>
          <p:nvPr/>
        </p:nvCxnSpPr>
        <p:spPr>
          <a:xfrm rot="16200000" flipH="1">
            <a:off x="9485429" y="234776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曲線接點 57">
            <a:extLst>
              <a:ext uri="{FF2B5EF4-FFF2-40B4-BE49-F238E27FC236}">
                <a16:creationId xmlns:a16="http://schemas.microsoft.com/office/drawing/2014/main" id="{21043AA4-2778-0282-81DC-D65F6AC6E9BA}"/>
              </a:ext>
            </a:extLst>
          </p:cNvPr>
          <p:cNvCxnSpPr>
            <a:cxnSpLocks/>
            <a:stCxn id="47" idx="0"/>
            <a:endCxn id="48" idx="0"/>
          </p:cNvCxnSpPr>
          <p:nvPr/>
        </p:nvCxnSpPr>
        <p:spPr>
          <a:xfrm rot="5400000" flipH="1" flipV="1">
            <a:off x="10207627" y="234626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曲線接點 58">
            <a:extLst>
              <a:ext uri="{FF2B5EF4-FFF2-40B4-BE49-F238E27FC236}">
                <a16:creationId xmlns:a16="http://schemas.microsoft.com/office/drawing/2014/main" id="{2C18CE4C-0392-3598-ED35-C5C9ED9617EB}"/>
              </a:ext>
            </a:extLst>
          </p:cNvPr>
          <p:cNvCxnSpPr>
            <a:cxnSpLocks/>
            <a:stCxn id="45" idx="0"/>
            <a:endCxn id="47" idx="0"/>
          </p:cNvCxnSpPr>
          <p:nvPr/>
        </p:nvCxnSpPr>
        <p:spPr>
          <a:xfrm rot="16200000" flipH="1">
            <a:off x="9122080" y="198442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曲線接點 59">
            <a:extLst>
              <a:ext uri="{FF2B5EF4-FFF2-40B4-BE49-F238E27FC236}">
                <a16:creationId xmlns:a16="http://schemas.microsoft.com/office/drawing/2014/main" id="{6DB09659-86F6-5970-D7D5-3CBEA609687C}"/>
              </a:ext>
            </a:extLst>
          </p:cNvPr>
          <p:cNvCxnSpPr>
            <a:cxnSpLocks/>
            <a:stCxn id="45" idx="0"/>
            <a:endCxn id="48" idx="0"/>
          </p:cNvCxnSpPr>
          <p:nvPr/>
        </p:nvCxnSpPr>
        <p:spPr>
          <a:xfrm rot="5400000" flipH="1" flipV="1">
            <a:off x="9485727" y="162077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曲線接點 60">
            <a:extLst>
              <a:ext uri="{FF2B5EF4-FFF2-40B4-BE49-F238E27FC236}">
                <a16:creationId xmlns:a16="http://schemas.microsoft.com/office/drawing/2014/main" id="{9B738E07-EF0F-302D-47FF-FB744EB00FE2}"/>
              </a:ext>
            </a:extLst>
          </p:cNvPr>
          <p:cNvCxnSpPr>
            <a:cxnSpLocks/>
            <a:stCxn id="46" idx="0"/>
            <a:endCxn id="48" idx="0"/>
          </p:cNvCxnSpPr>
          <p:nvPr/>
        </p:nvCxnSpPr>
        <p:spPr>
          <a:xfrm rot="5400000" flipH="1" flipV="1">
            <a:off x="9846076" y="198412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4566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B1793-7A3D-40AB-F838-E5CF9ABB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進階自然語言處理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97BCB-6472-382C-E708-39C3709D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F4B1D9-55D5-8A1F-167F-54E085AFF2F6}"/>
              </a:ext>
            </a:extLst>
          </p:cNvPr>
          <p:cNvSpPr txBox="1"/>
          <p:nvPr/>
        </p:nvSpPr>
        <p:spPr>
          <a:xfrm>
            <a:off x="636223" y="1750592"/>
            <a:ext cx="5622989" cy="3348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6 – Week 11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BERT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。  、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GPT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、文字生成策略</a:t>
            </a:r>
            <a:endParaRPr kumimoji="1" lang="en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 err="1">
                <a:ea typeface="Microsoft JhengHei" panose="020B0604030504040204" pitchFamily="34" charset="-120"/>
              </a:rPr>
              <a:t>HuggingFace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函式庫實作教學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 err="1">
                <a:ea typeface="Microsoft JhengHei" panose="020B0604030504040204" pitchFamily="34" charset="-120"/>
              </a:rPr>
              <a:t>InstructGPT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, RLHF, LLM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PPO, GRPO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Retrieval-augmented Generation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0E8E5AEA-2D22-1D34-15BF-A89B694AC8FB}"/>
              </a:ext>
            </a:extLst>
          </p:cNvPr>
          <p:cNvSpPr/>
          <p:nvPr/>
        </p:nvSpPr>
        <p:spPr>
          <a:xfrm>
            <a:off x="6756735" y="3840533"/>
            <a:ext cx="4433985" cy="991359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Decoder</a:t>
            </a:r>
            <a:endParaRPr kumimoji="1" lang="zh-TW" altLang="en-US" sz="1500" dirty="0">
              <a:solidFill>
                <a:schemeClr val="tx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2B76EA4-6988-2FEA-C53B-C3F68A90FB4D}"/>
              </a:ext>
            </a:extLst>
          </p:cNvPr>
          <p:cNvSpPr txBox="1"/>
          <p:nvPr/>
        </p:nvSpPr>
        <p:spPr>
          <a:xfrm>
            <a:off x="6808264" y="5642922"/>
            <a:ext cx="5891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200" dirty="0"/>
              <a:t>(Start)</a:t>
            </a:r>
            <a:endParaRPr kumimoji="1" lang="zh-TW" altLang="en-US" sz="1200" dirty="0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56707729-20DC-59B1-86F4-C4710B6134F1}"/>
              </a:ext>
            </a:extLst>
          </p:cNvPr>
          <p:cNvCxnSpPr>
            <a:cxnSpLocks/>
          </p:cNvCxnSpPr>
          <p:nvPr/>
        </p:nvCxnSpPr>
        <p:spPr>
          <a:xfrm flipV="1">
            <a:off x="7120776" y="352719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DCC2962A-D774-D811-1C66-05AFED876CEF}"/>
              </a:ext>
            </a:extLst>
          </p:cNvPr>
          <p:cNvCxnSpPr>
            <a:cxnSpLocks/>
          </p:cNvCxnSpPr>
          <p:nvPr/>
        </p:nvCxnSpPr>
        <p:spPr>
          <a:xfrm flipV="1">
            <a:off x="7843191" y="352719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810253EE-CC9B-5B36-8C38-685ED4709B7B}"/>
              </a:ext>
            </a:extLst>
          </p:cNvPr>
          <p:cNvCxnSpPr>
            <a:cxnSpLocks/>
          </p:cNvCxnSpPr>
          <p:nvPr/>
        </p:nvCxnSpPr>
        <p:spPr>
          <a:xfrm flipV="1">
            <a:off x="10770466" y="352719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4FA7F4F1-9F06-95BC-AD8C-B47941D1F2B2}"/>
              </a:ext>
            </a:extLst>
          </p:cNvPr>
          <p:cNvCxnSpPr>
            <a:cxnSpLocks/>
          </p:cNvCxnSpPr>
          <p:nvPr/>
        </p:nvCxnSpPr>
        <p:spPr>
          <a:xfrm flipV="1">
            <a:off x="10048051" y="3527198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DD554422-19EE-3652-85BC-5DCF9CF121D0}"/>
              </a:ext>
            </a:extLst>
          </p:cNvPr>
          <p:cNvSpPr/>
          <p:nvPr/>
        </p:nvSpPr>
        <p:spPr>
          <a:xfrm>
            <a:off x="6843172" y="5184949"/>
            <a:ext cx="555205" cy="465107"/>
          </a:xfrm>
          <a:prstGeom prst="roundRect">
            <a:avLst/>
          </a:prstGeom>
          <a:solidFill>
            <a:srgbClr val="C5E0B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_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3B689479-3868-CE87-6B0E-97EA0D025AB3}"/>
              </a:ext>
            </a:extLst>
          </p:cNvPr>
          <p:cNvCxnSpPr>
            <a:cxnSpLocks/>
          </p:cNvCxnSpPr>
          <p:nvPr/>
        </p:nvCxnSpPr>
        <p:spPr>
          <a:xfrm flipV="1">
            <a:off x="7120776" y="488338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7E08CCA1-BDA2-1257-6A0A-69BC5FAC2189}"/>
              </a:ext>
            </a:extLst>
          </p:cNvPr>
          <p:cNvCxnSpPr>
            <a:cxnSpLocks/>
          </p:cNvCxnSpPr>
          <p:nvPr/>
        </p:nvCxnSpPr>
        <p:spPr>
          <a:xfrm flipV="1">
            <a:off x="7843190" y="4883384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563439CA-7793-5F38-D5CF-18A15884B575}"/>
              </a:ext>
            </a:extLst>
          </p:cNvPr>
          <p:cNvCxnSpPr>
            <a:cxnSpLocks/>
          </p:cNvCxnSpPr>
          <p:nvPr/>
        </p:nvCxnSpPr>
        <p:spPr>
          <a:xfrm flipV="1">
            <a:off x="10048050" y="48798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04556F3F-E5E8-CA77-3304-F19B2EB775AF}"/>
              </a:ext>
            </a:extLst>
          </p:cNvPr>
          <p:cNvCxnSpPr>
            <a:cxnSpLocks/>
          </p:cNvCxnSpPr>
          <p:nvPr/>
        </p:nvCxnSpPr>
        <p:spPr>
          <a:xfrm flipV="1">
            <a:off x="10770464" y="4879889"/>
            <a:ext cx="0" cy="2420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B67A7A8-B6EE-761C-7BD4-08A93D95BD4A}"/>
              </a:ext>
            </a:extLst>
          </p:cNvPr>
          <p:cNvSpPr txBox="1"/>
          <p:nvPr/>
        </p:nvSpPr>
        <p:spPr>
          <a:xfrm>
            <a:off x="8622131" y="5076165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E4BBB5E-9400-130F-633F-9AA9BFF9BD13}"/>
                  </a:ext>
                </a:extLst>
              </p:cNvPr>
              <p:cNvSpPr/>
              <p:nvPr/>
            </p:nvSpPr>
            <p:spPr>
              <a:xfrm>
                <a:off x="9773140" y="3015270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圓角矩形 17">
                <a:extLst>
                  <a:ext uri="{FF2B5EF4-FFF2-40B4-BE49-F238E27FC236}">
                    <a16:creationId xmlns:a16="http://schemas.microsoft.com/office/drawing/2014/main" id="{6E4BBB5E-9400-130F-633F-9AA9BFF9BD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140" y="3015270"/>
                <a:ext cx="555203" cy="465105"/>
              </a:xfrm>
              <a:prstGeom prst="roundRect">
                <a:avLst/>
              </a:prstGeom>
              <a:blipFill>
                <a:blip r:embed="rId2"/>
                <a:stretch>
                  <a:fillRect l="-6383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92A6A248-2C28-27B9-1D9B-6CA19DE0A032}"/>
                  </a:ext>
                </a:extLst>
              </p:cNvPr>
              <p:cNvSpPr/>
              <p:nvPr/>
            </p:nvSpPr>
            <p:spPr>
              <a:xfrm>
                <a:off x="10495554" y="3013205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圓角矩形 18">
                <a:extLst>
                  <a:ext uri="{FF2B5EF4-FFF2-40B4-BE49-F238E27FC236}">
                    <a16:creationId xmlns:a16="http://schemas.microsoft.com/office/drawing/2014/main" id="{92A6A248-2C28-27B9-1D9B-6CA19DE0A0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5554" y="3013205"/>
                <a:ext cx="555203" cy="46510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DFEEBC35-8073-6EE2-57F2-1AB8C0CF2E87}"/>
                  </a:ext>
                </a:extLst>
              </p:cNvPr>
              <p:cNvSpPr/>
              <p:nvPr/>
            </p:nvSpPr>
            <p:spPr>
              <a:xfrm>
                <a:off x="6843172" y="3002613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圓角矩形 19">
                <a:extLst>
                  <a:ext uri="{FF2B5EF4-FFF2-40B4-BE49-F238E27FC236}">
                    <a16:creationId xmlns:a16="http://schemas.microsoft.com/office/drawing/2014/main" id="{DFEEBC35-8073-6EE2-57F2-1AB8C0CF2E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172" y="3002613"/>
                <a:ext cx="555203" cy="46510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D5AA812D-F5C9-D8A5-F2E7-5392FBD5CFAB}"/>
                  </a:ext>
                </a:extLst>
              </p:cNvPr>
              <p:cNvSpPr/>
              <p:nvPr/>
            </p:nvSpPr>
            <p:spPr>
              <a:xfrm>
                <a:off x="7572226" y="301242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圓角矩形 20">
                <a:extLst>
                  <a:ext uri="{FF2B5EF4-FFF2-40B4-BE49-F238E27FC236}">
                    <a16:creationId xmlns:a16="http://schemas.microsoft.com/office/drawing/2014/main" id="{D5AA812D-F5C9-D8A5-F2E7-5392FBD5CF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2226" y="3012429"/>
                <a:ext cx="555203" cy="46510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8D4D096-7592-F83A-8AAD-99B79FB784EE}"/>
                  </a:ext>
                </a:extLst>
              </p:cNvPr>
              <p:cNvSpPr/>
              <p:nvPr/>
            </p:nvSpPr>
            <p:spPr>
              <a:xfrm>
                <a:off x="7562367" y="5184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圓角矩形 21">
                <a:extLst>
                  <a:ext uri="{FF2B5EF4-FFF2-40B4-BE49-F238E27FC236}">
                    <a16:creationId xmlns:a16="http://schemas.microsoft.com/office/drawing/2014/main" id="{48D4D096-7592-F83A-8AAD-99B79FB78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2367" y="5184949"/>
                <a:ext cx="555203" cy="46510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261824C1-94B6-BD59-0F04-B393DB111443}"/>
                  </a:ext>
                </a:extLst>
              </p:cNvPr>
              <p:cNvSpPr/>
              <p:nvPr/>
            </p:nvSpPr>
            <p:spPr>
              <a:xfrm>
                <a:off x="9765333" y="5184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圓角矩形 22">
                <a:extLst>
                  <a:ext uri="{FF2B5EF4-FFF2-40B4-BE49-F238E27FC236}">
                    <a16:creationId xmlns:a16="http://schemas.microsoft.com/office/drawing/2014/main" id="{261824C1-94B6-BD59-0F04-B393DB1114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5333" y="5184949"/>
                <a:ext cx="555203" cy="465105"/>
              </a:xfrm>
              <a:prstGeom prst="roundRect">
                <a:avLst/>
              </a:prstGeom>
              <a:blipFill>
                <a:blip r:embed="rId7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4AEBE544-DC31-5F4B-FFEF-44F39329ACB3}"/>
                  </a:ext>
                </a:extLst>
              </p:cNvPr>
              <p:cNvSpPr/>
              <p:nvPr/>
            </p:nvSpPr>
            <p:spPr>
              <a:xfrm>
                <a:off x="10487745" y="5184949"/>
                <a:ext cx="555203" cy="465105"/>
              </a:xfrm>
              <a:prstGeom prst="roundRect">
                <a:avLst/>
              </a:prstGeom>
              <a:solidFill>
                <a:srgbClr val="C5E0B4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zh-TW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TW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kumimoji="1"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圓角矩形 23">
                <a:extLst>
                  <a:ext uri="{FF2B5EF4-FFF2-40B4-BE49-F238E27FC236}">
                    <a16:creationId xmlns:a16="http://schemas.microsoft.com/office/drawing/2014/main" id="{4AEBE544-DC31-5F4B-FFEF-44F39329AC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7745" y="5184949"/>
                <a:ext cx="555203" cy="465105"/>
              </a:xfrm>
              <a:prstGeom prst="roundRect">
                <a:avLst/>
              </a:prstGeom>
              <a:blipFill>
                <a:blip r:embed="rId8"/>
                <a:stretch>
                  <a:fillRect l="-8696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270EEEC3-9398-9EAF-1E2B-361EB7F68F39}"/>
              </a:ext>
            </a:extLst>
          </p:cNvPr>
          <p:cNvCxnSpPr/>
          <p:nvPr/>
        </p:nvCxnSpPr>
        <p:spPr>
          <a:xfrm>
            <a:off x="7389090" y="3535780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8D5A0339-6F64-A66D-D14C-CCFAFAF3A5AF}"/>
              </a:ext>
            </a:extLst>
          </p:cNvPr>
          <p:cNvCxnSpPr/>
          <p:nvPr/>
        </p:nvCxnSpPr>
        <p:spPr>
          <a:xfrm>
            <a:off x="8107811" y="3581589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044E1EA3-F61B-814B-EBCD-D0FFBFEBBBC7}"/>
              </a:ext>
            </a:extLst>
          </p:cNvPr>
          <p:cNvCxnSpPr/>
          <p:nvPr/>
        </p:nvCxnSpPr>
        <p:spPr>
          <a:xfrm>
            <a:off x="9539416" y="3535779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3D1DCD9-9146-11DC-6ADA-F3721F721D62}"/>
              </a:ext>
            </a:extLst>
          </p:cNvPr>
          <p:cNvCxnSpPr/>
          <p:nvPr/>
        </p:nvCxnSpPr>
        <p:spPr>
          <a:xfrm>
            <a:off x="10317637" y="3569961"/>
            <a:ext cx="278214" cy="15489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0E633A5-A681-EEC5-61FD-ED23D25BA179}"/>
              </a:ext>
            </a:extLst>
          </p:cNvPr>
          <p:cNvSpPr txBox="1"/>
          <p:nvPr/>
        </p:nvSpPr>
        <p:spPr>
          <a:xfrm>
            <a:off x="8619749" y="2935744"/>
            <a:ext cx="84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……</a:t>
            </a:r>
            <a:endParaRPr kumimoji="1" lang="zh-TW" altLang="en-US" sz="2400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535EF62-B2F6-3917-8BBF-012365F9C44B}"/>
              </a:ext>
            </a:extLst>
          </p:cNvPr>
          <p:cNvSpPr txBox="1"/>
          <p:nvPr/>
        </p:nvSpPr>
        <p:spPr>
          <a:xfrm>
            <a:off x="8069473" y="2365712"/>
            <a:ext cx="182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b="1" dirty="0"/>
              <a:t>Output sequence</a:t>
            </a:r>
            <a:endParaRPr kumimoji="1" lang="zh-TW" altLang="en-US" b="1" dirty="0"/>
          </a:p>
        </p:txBody>
      </p:sp>
      <p:pic>
        <p:nvPicPr>
          <p:cNvPr id="32" name="圖片 31" descr="一張含有 微笑, 美工圖案, 微笑的, 圖畫 的圖片&#10;&#10;自動產生的描述">
            <a:extLst>
              <a:ext uri="{FF2B5EF4-FFF2-40B4-BE49-F238E27FC236}">
                <a16:creationId xmlns:a16="http://schemas.microsoft.com/office/drawing/2014/main" id="{930C59DB-4644-1C98-9E72-CB72200AA7E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40" y="2327914"/>
            <a:ext cx="386413" cy="574837"/>
          </a:xfrm>
          <a:prstGeom prst="rect">
            <a:avLst/>
          </a:prstGeom>
        </p:spPr>
      </p:pic>
      <p:pic>
        <p:nvPicPr>
          <p:cNvPr id="3080" name="Picture 8" descr="undefined">
            <a:extLst>
              <a:ext uri="{FF2B5EF4-FFF2-40B4-BE49-F238E27FC236}">
                <a16:creationId xmlns:a16="http://schemas.microsoft.com/office/drawing/2014/main" id="{F0084F82-2BC6-DDC9-ADBA-D025C4C65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3316" y="635189"/>
            <a:ext cx="1749589" cy="47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27022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3B1793-7A3D-40AB-F838-E5CF9ABB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自然語言處理應用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297BCB-6472-382C-E708-39C3709D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F4B1D9-55D5-8A1F-167F-54E085AFF2F6}"/>
              </a:ext>
            </a:extLst>
          </p:cNvPr>
          <p:cNvSpPr txBox="1"/>
          <p:nvPr/>
        </p:nvSpPr>
        <p:spPr>
          <a:xfrm>
            <a:off x="636223" y="1750592"/>
            <a:ext cx="7123594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12 – Week 14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NLP Evaluations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Hallucinations? Safety?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如何省力訓練大模型？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➡️ Test-time Compute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State Space Models and Mamba</a:t>
            </a:r>
            <a:endParaRPr kumimoji="1" lang="zh-TW" altLang="en-US" sz="2400" dirty="0">
              <a:ea typeface="Microsoft JhengHei" panose="020B0604030504040204" pitchFamily="34" charset="-120"/>
            </a:endParaRPr>
          </a:p>
        </p:txBody>
      </p:sp>
      <p:pic>
        <p:nvPicPr>
          <p:cNvPr id="6" name="Picture 6" descr="DeepSeek Logo">
            <a:extLst>
              <a:ext uri="{FF2B5EF4-FFF2-40B4-BE49-F238E27FC236}">
                <a16:creationId xmlns:a16="http://schemas.microsoft.com/office/drawing/2014/main" id="{EA929701-8544-2A25-4DC1-208B6BBBB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5941" y="638224"/>
            <a:ext cx="2246464" cy="47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/png">
            <a:extLst>
              <a:ext uri="{FF2B5EF4-FFF2-40B4-BE49-F238E27FC236}">
                <a16:creationId xmlns:a16="http://schemas.microsoft.com/office/drawing/2014/main" id="{50C209B6-CBA1-C95E-44E1-D6FEB3A1F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30" y="4905522"/>
            <a:ext cx="4770004" cy="1863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3F41A84-0351-F9A1-1022-8DCA7F27E317}"/>
              </a:ext>
            </a:extLst>
          </p:cNvPr>
          <p:cNvSpPr txBox="1"/>
          <p:nvPr/>
        </p:nvSpPr>
        <p:spPr>
          <a:xfrm>
            <a:off x="6263624" y="5869608"/>
            <a:ext cx="3568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⬅️ Figure source: https://</a:t>
            </a:r>
            <a:r>
              <a:rPr kumimoji="1" lang="en-US" altLang="zh-TW" sz="1600" dirty="0" err="1"/>
              <a:t>huggingface.co</a:t>
            </a:r>
            <a:r>
              <a:rPr kumimoji="1" lang="en-US" altLang="zh-TW" sz="1600" dirty="0"/>
              <a:t>/blog/</a:t>
            </a:r>
            <a:r>
              <a:rPr kumimoji="1" lang="en-US" altLang="zh-TW" sz="1600" dirty="0" err="1"/>
              <a:t>lbourdois</a:t>
            </a:r>
            <a:r>
              <a:rPr kumimoji="1" lang="en-US" altLang="zh-TW" sz="1600" dirty="0"/>
              <a:t>/get-on-the-</a:t>
            </a:r>
            <a:r>
              <a:rPr kumimoji="1" lang="en-US" altLang="zh-TW" sz="1600" dirty="0" err="1"/>
              <a:t>ssm</a:t>
            </a:r>
            <a:r>
              <a:rPr kumimoji="1" lang="en-US" altLang="zh-TW" sz="1600" dirty="0"/>
              <a:t>-train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4970786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D103B-E119-C79D-16A1-79D3649D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Common NLP tasks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170A5-1B84-3BEF-58FC-7DDD7897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8" name="圓角矩形 7">
            <a:extLst>
              <a:ext uri="{FF2B5EF4-FFF2-40B4-BE49-F238E27FC236}">
                <a16:creationId xmlns:a16="http://schemas.microsoft.com/office/drawing/2014/main" id="{69D08875-A439-962D-F676-FA1038BB3F25}"/>
              </a:ext>
            </a:extLst>
          </p:cNvPr>
          <p:cNvSpPr/>
          <p:nvPr/>
        </p:nvSpPr>
        <p:spPr>
          <a:xfrm>
            <a:off x="1360925" y="2133665"/>
            <a:ext cx="1990846" cy="914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Text Classification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41FE60FA-E812-9223-28F6-534962316F8D}"/>
              </a:ext>
            </a:extLst>
          </p:cNvPr>
          <p:cNvSpPr/>
          <p:nvPr/>
        </p:nvSpPr>
        <p:spPr>
          <a:xfrm>
            <a:off x="3764600" y="2133665"/>
            <a:ext cx="1990846" cy="914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Text Generation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1573CC-6F00-32AF-8BA1-4B8397996321}"/>
              </a:ext>
            </a:extLst>
          </p:cNvPr>
          <p:cNvSpPr/>
          <p:nvPr/>
        </p:nvSpPr>
        <p:spPr>
          <a:xfrm>
            <a:off x="1360925" y="3386624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Sentiment Analysis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AC1423-E301-3F87-10E0-A9FC00404BDE}"/>
              </a:ext>
            </a:extLst>
          </p:cNvPr>
          <p:cNvSpPr/>
          <p:nvPr/>
        </p:nvSpPr>
        <p:spPr>
          <a:xfrm>
            <a:off x="1360925" y="435889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Natural Language Inference (NLI)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4D9B6B-A75A-EC7A-0875-817E3C2D5FCA}"/>
              </a:ext>
            </a:extLst>
          </p:cNvPr>
          <p:cNvSpPr/>
          <p:nvPr/>
        </p:nvSpPr>
        <p:spPr>
          <a:xfrm>
            <a:off x="3764600" y="340832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Machine Translation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6999CA-A0F8-D562-A82A-F55CAF70FA3C}"/>
              </a:ext>
            </a:extLst>
          </p:cNvPr>
          <p:cNvSpPr/>
          <p:nvPr/>
        </p:nvSpPr>
        <p:spPr>
          <a:xfrm>
            <a:off x="3780928" y="435889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Summarization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D505889B-7EE2-F726-4585-F104537EB7D8}"/>
              </a:ext>
            </a:extLst>
          </p:cNvPr>
          <p:cNvSpPr/>
          <p:nvPr/>
        </p:nvSpPr>
        <p:spPr>
          <a:xfrm>
            <a:off x="6168275" y="2133665"/>
            <a:ext cx="1990846" cy="914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Sequence Tagging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2B09D2-6885-AB02-FD28-F06D158362F0}"/>
              </a:ext>
            </a:extLst>
          </p:cNvPr>
          <p:cNvSpPr/>
          <p:nvPr/>
        </p:nvSpPr>
        <p:spPr>
          <a:xfrm>
            <a:off x="6168275" y="340832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Part-of-speech tagging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08C1BD-30BA-F177-2A7D-3D028CF81D36}"/>
              </a:ext>
            </a:extLst>
          </p:cNvPr>
          <p:cNvSpPr/>
          <p:nvPr/>
        </p:nvSpPr>
        <p:spPr>
          <a:xfrm>
            <a:off x="6168275" y="435889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Named Entity Recognition (NER)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C28ACA-A7B8-2CD4-468B-CFE688F003FC}"/>
              </a:ext>
            </a:extLst>
          </p:cNvPr>
          <p:cNvSpPr/>
          <p:nvPr/>
        </p:nvSpPr>
        <p:spPr>
          <a:xfrm>
            <a:off x="6168275" y="530946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Word Segmentation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1C1E5A1-E34F-2158-2CAC-D478CE78DD9E}"/>
              </a:ext>
            </a:extLst>
          </p:cNvPr>
          <p:cNvSpPr/>
          <p:nvPr/>
        </p:nvSpPr>
        <p:spPr>
          <a:xfrm>
            <a:off x="3764600" y="530946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Dialogue Generation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7DCBAD03-92F0-3286-2C3E-9AD5E3002FE7}"/>
              </a:ext>
            </a:extLst>
          </p:cNvPr>
          <p:cNvSpPr/>
          <p:nvPr/>
        </p:nvSpPr>
        <p:spPr>
          <a:xfrm>
            <a:off x="8622109" y="2133665"/>
            <a:ext cx="1990846" cy="914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b="1" dirty="0">
                <a:solidFill>
                  <a:schemeClr val="tx1"/>
                </a:solidFill>
              </a:rPr>
              <a:t>Text Matching</a:t>
            </a:r>
            <a:endParaRPr kumimoji="1" lang="zh-TW" altLang="en-US" sz="2000" b="1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91366E7-3474-D7C1-CD10-97B329E2465E}"/>
              </a:ext>
            </a:extLst>
          </p:cNvPr>
          <p:cNvSpPr/>
          <p:nvPr/>
        </p:nvSpPr>
        <p:spPr>
          <a:xfrm>
            <a:off x="8622109" y="3432923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Semantic Textual Similarity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110321E-241C-146B-36A8-76D65BE282E2}"/>
              </a:ext>
            </a:extLst>
          </p:cNvPr>
          <p:cNvSpPr/>
          <p:nvPr/>
        </p:nvSpPr>
        <p:spPr>
          <a:xfrm>
            <a:off x="8622109" y="4358897"/>
            <a:ext cx="1990846" cy="63371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>
                <a:solidFill>
                  <a:schemeClr val="tx1"/>
                </a:solidFill>
              </a:rPr>
              <a:t>Retrieval</a:t>
            </a:r>
            <a:endParaRPr kumimoji="1" lang="zh-TW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6681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90FCA1-F939-B242-684A-32A4A365A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我可以修這門課嗎？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3A40D-9D88-A6F5-CD4F-6AC8163E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B491DF6-DD99-FF7F-CEDC-3C03F06F8BEB}"/>
              </a:ext>
            </a:extLst>
          </p:cNvPr>
          <p:cNvSpPr txBox="1"/>
          <p:nvPr/>
        </p:nvSpPr>
        <p:spPr>
          <a:xfrm>
            <a:off x="715107" y="1702021"/>
            <a:ext cx="10761785" cy="279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建議有以下基礎：</a:t>
            </a:r>
            <a:endParaRPr kumimoji="1" lang="en-US" altLang="zh-TW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✅</a:t>
            </a:r>
            <a:r>
              <a:rPr kumimoji="1" lang="zh-TW" altLang="en-US" sz="2400" dirty="0"/>
              <a:t> 基礎 </a:t>
            </a:r>
            <a:r>
              <a:rPr kumimoji="1" lang="en-US" altLang="zh-TW" sz="2400" dirty="0"/>
              <a:t>Deep Learning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✅</a:t>
            </a:r>
            <a:r>
              <a:rPr kumimoji="1" lang="zh-TW" altLang="en-US" sz="2400" dirty="0"/>
              <a:t> 基礎 </a:t>
            </a:r>
            <a:r>
              <a:rPr kumimoji="1" lang="en-US" altLang="zh-TW" sz="2400" dirty="0"/>
              <a:t>Python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✅ </a:t>
            </a:r>
            <a:r>
              <a:rPr kumimoji="1" lang="zh-TW" altLang="en-US" sz="2400" dirty="0"/>
              <a:t>一點點機率</a:t>
            </a:r>
            <a:r>
              <a:rPr kumimoji="1" lang="en-US" altLang="zh-TW" sz="2400" dirty="0"/>
              <a:t>/</a:t>
            </a:r>
            <a:r>
              <a:rPr kumimoji="1" lang="zh-TW" altLang="en-US" sz="2400" dirty="0"/>
              <a:t>線代概念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願意花時間學習知識、學習除錯、學習驗證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4909946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87CCC4-6756-17B8-0ADC-5B1E358DD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Syllabus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7850D3-5A9D-9C49-07A1-DC82B394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8278" y="6415560"/>
            <a:ext cx="1312025" cy="365125"/>
          </a:xfrm>
        </p:spPr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84477576-BF69-89E3-E7BE-BC162193F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87199"/>
              </p:ext>
            </p:extLst>
          </p:nvPr>
        </p:nvGraphicFramePr>
        <p:xfrm>
          <a:off x="3123726" y="377639"/>
          <a:ext cx="8578682" cy="621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421">
                  <a:extLst>
                    <a:ext uri="{9D8B030D-6E8A-4147-A177-3AD203B41FA5}">
                      <a16:colId xmlns:a16="http://schemas.microsoft.com/office/drawing/2014/main" val="3076894454"/>
                    </a:ext>
                  </a:extLst>
                </a:gridCol>
                <a:gridCol w="6400431">
                  <a:extLst>
                    <a:ext uri="{9D8B030D-6E8A-4147-A177-3AD203B41FA5}">
                      <a16:colId xmlns:a16="http://schemas.microsoft.com/office/drawing/2014/main" val="1401030743"/>
                    </a:ext>
                  </a:extLst>
                </a:gridCol>
                <a:gridCol w="1449830">
                  <a:extLst>
                    <a:ext uri="{9D8B030D-6E8A-4147-A177-3AD203B41FA5}">
                      <a16:colId xmlns:a16="http://schemas.microsoft.com/office/drawing/2014/main" val="1365662866"/>
                    </a:ext>
                  </a:extLst>
                </a:gridCol>
              </a:tblGrid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Week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Topic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Note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523333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自然語言處理介紹以及本課程綱要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8546245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文字向量基礎與詞嵌入模型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HW1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657496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遞迴神經網路與長短期記憶網絡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0293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注意力機制與現代字詞分割演算法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265958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Transformer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模型架構介紹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HW2 (HW1 due)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189724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BERT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與它的好夥伴：基於編碼器架構的 </a:t>
                      </a: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Transformer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6447151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清明連假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213422"/>
                  </a:ext>
                </a:extLst>
              </a:tr>
              <a:tr h="4825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GPT-1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到 </a:t>
                      </a: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GPT-3</a:t>
                      </a:r>
                      <a:r>
                        <a:rPr lang="zh-TW" altLang="en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基於解碼器架構的 </a:t>
                      </a:r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Transformer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模型</a:t>
                      </a:r>
                      <a:endParaRPr lang="en-US" altLang="zh-TW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文字生成策略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HW3 (HW2 due)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065701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期中考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39107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sz="1400" dirty="0" err="1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HuggingFace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函式庫實作教學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88195"/>
                  </a:ext>
                </a:extLst>
              </a:tr>
              <a:tr h="4825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大型語言模型專題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：指令微調與基於人類回饋的強化學習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&amp;</a:t>
                      </a:r>
                    </a:p>
                    <a:p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Retrieval Augmented Generation (RAG)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HW4 (HW3 due)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699219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大型語言模型專題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2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：如何評量模型的成效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幻覺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/ 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安全性？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13664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大型語言模型專題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3</a:t>
                      </a:r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：如何訓練大模型？輕量化微調方法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5934813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State Space Models and Mamba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(HW4 due)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4880228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小組實作成果報告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(1)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5649311"/>
                  </a:ext>
                </a:extLst>
              </a:tr>
              <a:tr h="3453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小組實作成果報告 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(2)</a:t>
                      </a:r>
                      <a:endParaRPr lang="zh-TW" altLang="en-US" sz="140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01191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18EEE11-D3FB-6121-2C89-430FAA87CA15}"/>
              </a:ext>
            </a:extLst>
          </p:cNvPr>
          <p:cNvSpPr/>
          <p:nvPr/>
        </p:nvSpPr>
        <p:spPr>
          <a:xfrm>
            <a:off x="709379" y="2140421"/>
            <a:ext cx="1097280" cy="39803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Tutorial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8A8CCC-6656-256A-8917-C49975112F97}"/>
              </a:ext>
            </a:extLst>
          </p:cNvPr>
          <p:cNvSpPr/>
          <p:nvPr/>
        </p:nvSpPr>
        <p:spPr>
          <a:xfrm>
            <a:off x="709379" y="2733885"/>
            <a:ext cx="1097280" cy="3980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Exam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C37BB2-CA8E-87A0-9B51-1C422D1EB418}"/>
              </a:ext>
            </a:extLst>
          </p:cNvPr>
          <p:cNvSpPr/>
          <p:nvPr/>
        </p:nvSpPr>
        <p:spPr>
          <a:xfrm>
            <a:off x="709379" y="3283616"/>
            <a:ext cx="1097280" cy="3980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Report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1451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8BC5A5-DD0A-8876-CFCD-CDF8515A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PyTorch</a:t>
            </a:r>
            <a:r>
              <a:rPr kumimoji="1" lang="en-US" altLang="zh-TW" dirty="0"/>
              <a:t> Tutorial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A9EEB-A3DE-9AE1-F772-D1E14E3F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1076D88-857B-EEC4-5B89-B86E761314BA}"/>
              </a:ext>
            </a:extLst>
          </p:cNvPr>
          <p:cNvSpPr txBox="1"/>
          <p:nvPr/>
        </p:nvSpPr>
        <p:spPr>
          <a:xfrm>
            <a:off x="636223" y="1750592"/>
            <a:ext cx="10403484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PyTorch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Basics: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youtu.be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nJpkmWbteTU?si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=Ay2EEiXlWHDL9D-K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PyTorch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Modeling: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youtu.be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/NEBJqya2IDs?si=-xX7dC_T3mDSAqjf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youtu.be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/41r4nmeGitk?si=veztiILno9PUZuex</a:t>
            </a:r>
          </a:p>
        </p:txBody>
      </p:sp>
    </p:spTree>
    <p:extLst>
      <p:ext uri="{BB962C8B-B14F-4D97-AF65-F5344CB8AC3E}">
        <p14:creationId xmlns:p14="http://schemas.microsoft.com/office/powerpoint/2010/main" val="260895224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18442-FBB1-5E24-04F6-192F31E6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Scoring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658498-0966-3C4B-79C5-1F5DB131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6C7959F-5569-A1D4-440E-7379A3E01969}"/>
              </a:ext>
            </a:extLst>
          </p:cNvPr>
          <p:cNvSpPr txBox="1"/>
          <p:nvPr/>
        </p:nvSpPr>
        <p:spPr>
          <a:xfrm>
            <a:off x="636815" y="1692636"/>
            <a:ext cx="10918370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Assignments (4 times): 30%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/>
              <a:t>Quizzes: 1% x 10 times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Mid-term Exam: 30%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Term Project: 30%</a:t>
            </a:r>
          </a:p>
        </p:txBody>
      </p:sp>
    </p:spTree>
    <p:extLst>
      <p:ext uri="{BB962C8B-B14F-4D97-AF65-F5344CB8AC3E}">
        <p14:creationId xmlns:p14="http://schemas.microsoft.com/office/powerpoint/2010/main" val="4642070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6916B-EAAF-D437-C7A4-C73DDCE0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About the Quizzes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8F924D-CAE9-5AE9-56B3-6EE2EEA0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259F0D-EA59-588B-2B3F-7C28345C14AC}"/>
              </a:ext>
            </a:extLst>
          </p:cNvPr>
          <p:cNvSpPr txBox="1"/>
          <p:nvPr/>
        </p:nvSpPr>
        <p:spPr>
          <a:xfrm>
            <a:off x="653143" y="1868198"/>
            <a:ext cx="10918370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不定時，代表出席分數，若多於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10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次即僅採計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10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次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與當週的上課內容有關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Feel free to search the Internet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8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42693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6916B-EAAF-D437-C7A4-C73DDCE0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About the Assignments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D8F924D-CAE9-5AE9-56B3-6EE2EEA0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8259F0D-EA59-588B-2B3F-7C28345C14AC}"/>
              </a:ext>
            </a:extLst>
          </p:cNvPr>
          <p:cNvSpPr txBox="1"/>
          <p:nvPr/>
        </p:nvSpPr>
        <p:spPr>
          <a:xfrm>
            <a:off x="653143" y="1868198"/>
            <a:ext cx="10918370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與當週的上課內容有關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作業一定都會有範例程式碼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(Sample Code)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8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256198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80A37B-A650-FC82-C7CC-996F10EB9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ea typeface="Microsoft JhengHei" panose="020B0604030504040204" pitchFamily="34" charset="-120"/>
              </a:rPr>
              <a:t>Final Project </a:t>
            </a:r>
            <a:r>
              <a:rPr kumimoji="1" lang="zh-TW" altLang="en-US" dirty="0">
                <a:ea typeface="Microsoft JhengHei" panose="020B0604030504040204" pitchFamily="34" charset="-120"/>
              </a:rPr>
              <a:t>是什麼？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93246F-627F-DCD7-1FA8-BD91683B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45A8DC7-59F3-D80C-57D3-40F6F0437FA6}"/>
              </a:ext>
            </a:extLst>
          </p:cNvPr>
          <p:cNvSpPr txBox="1"/>
          <p:nvPr/>
        </p:nvSpPr>
        <p:spPr>
          <a:xfrm>
            <a:off x="653143" y="1868198"/>
            <a:ext cx="10918370" cy="3903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Final Project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 是一種完整的訓練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你將自行從頭到尾做完一個題目，包含：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資料前處理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(Data Pre-processing)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模型訓練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 (Model Training)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模型評估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 (Evaluations)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--&gt;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了解問題並改進模型</a:t>
            </a:r>
            <a:endParaRPr kumimoji="1" lang="en-US" altLang="zh-TW" sz="28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每組人數待修課同學總數訂定，原則上最多</a:t>
            </a:r>
            <a:r>
              <a:rPr kumimoji="1" lang="en-US" altLang="zh-TW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 4 </a:t>
            </a:r>
            <a:r>
              <a:rPr kumimoji="1" lang="zh-TW" altLang="en-US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人</a:t>
            </a:r>
            <a:r>
              <a:rPr kumimoji="1" lang="en-US" altLang="zh-TW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/</a:t>
            </a:r>
            <a:r>
              <a:rPr kumimoji="1" lang="zh-TW" altLang="en-US" sz="2800" dirty="0">
                <a:solidFill>
                  <a:srgbClr val="FF0000"/>
                </a:solidFill>
                <a:ea typeface="Microsoft JhengHei" panose="020B0604030504040204" pitchFamily="34" charset="-120"/>
              </a:rPr>
              <a:t>組</a:t>
            </a:r>
            <a:endParaRPr kumimoji="1" lang="en-US" altLang="zh-TW" sz="2800" dirty="0">
              <a:solidFill>
                <a:srgbClr val="FF0000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23672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E637EB-4183-FAB1-3778-205A433DE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Textbook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C1380C-E643-4BE5-C0A3-81B69BCD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EE94A0-5A24-56AD-60E9-1DE93F2F8580}"/>
              </a:ext>
            </a:extLst>
          </p:cNvPr>
          <p:cNvSpPr txBox="1"/>
          <p:nvPr/>
        </p:nvSpPr>
        <p:spPr>
          <a:xfrm>
            <a:off x="776151" y="5468496"/>
            <a:ext cx="5336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/>
              <a:t>Speech and Language Processing (3rd ed. draft) Dan </a:t>
            </a:r>
            <a:r>
              <a:rPr kumimoji="1" lang="en" altLang="zh-TW" sz="2000" dirty="0" err="1"/>
              <a:t>Jurafsky</a:t>
            </a:r>
            <a:r>
              <a:rPr kumimoji="1" lang="en" altLang="zh-TW" sz="2000" dirty="0"/>
              <a:t> and James H. Martin.</a:t>
            </a:r>
            <a:endParaRPr kumimoji="1" lang="zh-TW" altLang="en-US" sz="20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D4C630-48A2-8637-9AC7-75EFEA0C3E50}"/>
              </a:ext>
            </a:extLst>
          </p:cNvPr>
          <p:cNvSpPr txBox="1"/>
          <p:nvPr/>
        </p:nvSpPr>
        <p:spPr>
          <a:xfrm>
            <a:off x="6404359" y="5415441"/>
            <a:ext cx="48646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2000" dirty="0"/>
              <a:t>Free Online book (Jan 2026 version):</a:t>
            </a:r>
          </a:p>
          <a:p>
            <a:r>
              <a:rPr kumimoji="1" lang="en" altLang="zh-TW" sz="2000" dirty="0">
                <a:hlinkClick r:id="rId2"/>
              </a:rPr>
              <a:t>https://web.stanford.edu/~jurafsky/slp3/</a:t>
            </a:r>
            <a:endParaRPr kumimoji="1" lang="en" altLang="zh-TW" sz="20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AB73EB6-AE77-D8C2-71CD-8A248AB95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73" y="1734791"/>
            <a:ext cx="10165254" cy="3388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949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C1E882-8BB1-C473-9DBE-D61CEE02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Reference book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3E05D3-97DC-5690-C650-BDE861D7A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18BE072-ECCD-9904-B22C-F8535D64C0B1}"/>
              </a:ext>
            </a:extLst>
          </p:cNvPr>
          <p:cNvSpPr txBox="1"/>
          <p:nvPr/>
        </p:nvSpPr>
        <p:spPr>
          <a:xfrm>
            <a:off x="4382842" y="2366266"/>
            <a:ext cx="69099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Deep Learning 2</a:t>
            </a:r>
            <a:r>
              <a:rPr lang="zh-TW" altLang="en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｜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用</a:t>
            </a:r>
            <a:r>
              <a:rPr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Python</a:t>
            </a:r>
            <a:r>
              <a:rPr lang="zh-TW" altLang="en-US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進行自然語言處理的基礎理論實作，歐萊禮 </a:t>
            </a:r>
            <a:r>
              <a:rPr lang="en-US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lang="en" altLang="zh-TW" sz="24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ISBN: 9789865020675)</a:t>
            </a:r>
            <a:endParaRPr lang="zh-TW" altLang="en-US" sz="24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AFB006E-8CA0-CA20-E6AF-AE1D97901B95}"/>
              </a:ext>
            </a:extLst>
          </p:cNvPr>
          <p:cNvSpPr txBox="1"/>
          <p:nvPr/>
        </p:nvSpPr>
        <p:spPr>
          <a:xfrm>
            <a:off x="4389120" y="3703705"/>
            <a:ext cx="6223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GitHub of this book:</a:t>
            </a:r>
          </a:p>
          <a:p>
            <a:r>
              <a:rPr kumimoji="1" lang="en-US" altLang="zh-TW" sz="2400" dirty="0">
                <a:hlinkClick r:id="rId2"/>
              </a:rPr>
              <a:t>https://github.com/oreilly-japan/deep-learning-from-scratch-2</a:t>
            </a:r>
            <a:endParaRPr kumimoji="1" lang="en-US" altLang="zh-TW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EA3047-5567-5C4F-0B18-AC7712725F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011" y="1982292"/>
            <a:ext cx="2840355" cy="38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11096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8E6BA-4E4F-DE65-00DE-368911D7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生成式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AI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融合教學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581F625-E01E-4B8C-E831-E19CD5486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48FEA43-D83F-4345-23E5-1DF319D79D48}"/>
              </a:ext>
            </a:extLst>
          </p:cNvPr>
          <p:cNvSpPr txBox="1"/>
          <p:nvPr/>
        </p:nvSpPr>
        <p:spPr>
          <a:xfrm>
            <a:off x="653143" y="1868198"/>
            <a:ext cx="10918370" cy="3244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以組為單位</a:t>
            </a:r>
            <a:endParaRPr kumimoji="1" lang="en" altLang="zh-TW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800" strike="sngStrike" dirty="0" err="1">
                <a:ea typeface="Microsoft JhengHei" panose="020B0604030504040204" pitchFamily="34" charset="-120"/>
              </a:rPr>
              <a:t>ChatGPT</a:t>
            </a:r>
            <a:r>
              <a:rPr kumimoji="1" lang="en" altLang="zh-TW" sz="2800" strike="sngStrike" dirty="0">
                <a:ea typeface="Microsoft JhengHei" panose="020B0604030504040204" pitchFamily="34" charset="-120"/>
              </a:rPr>
              <a:t> Plus </a:t>
            </a:r>
            <a:r>
              <a:rPr kumimoji="1" lang="en" altLang="zh-TW" sz="2800" dirty="0">
                <a:ea typeface="Microsoft JhengHei" panose="020B0604030504040204" pitchFamily="34" charset="-120"/>
              </a:rPr>
              <a:t>Claude Pro</a:t>
            </a:r>
            <a:endParaRPr kumimoji="1" lang="zh-TW" altLang="en-US" sz="28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800" dirty="0">
                <a:ea typeface="Microsoft JhengHei" panose="020B0604030504040204" pitchFamily="34" charset="-120"/>
              </a:rPr>
              <a:t>Google </a:t>
            </a:r>
            <a:r>
              <a:rPr kumimoji="1" lang="en" altLang="zh-TW" sz="2800" dirty="0" err="1">
                <a:ea typeface="Microsoft JhengHei" panose="020B0604030504040204" pitchFamily="34" charset="-120"/>
              </a:rPr>
              <a:t>Colab</a:t>
            </a:r>
            <a:r>
              <a:rPr kumimoji="1" lang="en" altLang="zh-TW" sz="2800" dirty="0">
                <a:ea typeface="Microsoft JhengHei" panose="020B0604030504040204" pitchFamily="34" charset="-120"/>
              </a:rPr>
              <a:t> Pro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 雲端運算付費服務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800" dirty="0" err="1">
                <a:ea typeface="Microsoft JhengHei" panose="020B0604030504040204" pitchFamily="34" charset="-120"/>
              </a:rPr>
              <a:t>OpenAI</a:t>
            </a:r>
            <a:r>
              <a:rPr kumimoji="1" lang="en" altLang="zh-TW" sz="2800" dirty="0">
                <a:ea typeface="Microsoft JhengHei" panose="020B0604030504040204" pitchFamily="34" charset="-120"/>
              </a:rPr>
              <a:t> /Gemini API</a:t>
            </a:r>
            <a:r>
              <a:rPr kumimoji="1" lang="zh-TW" altLang="en-US" sz="2800" dirty="0">
                <a:ea typeface="Microsoft JhengHei" panose="020B0604030504040204" pitchFamily="34" charset="-120"/>
              </a:rPr>
              <a:t> 呼叫大型語言模型進行生成式服務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8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42821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AA0B4B-ABFF-FCA7-4534-8E2B1818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Contact Information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07594D-B641-5475-EC6E-9FE715C6F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🕘 Office Hour: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歡迎來信預約，一定沒問題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寄信前請在主旨加註記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[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自然語言處理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]</a:t>
            </a:r>
            <a:endParaRPr kumimoji="1" lang="zh-TW" altLang="en-US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4EA2A4-BE16-FFFE-624C-875C7C251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149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44681662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1619</TotalTime>
  <Words>3244</Words>
  <Application>Microsoft Macintosh PowerPoint</Application>
  <PresentationFormat>寬螢幕</PresentationFormat>
  <Paragraphs>626</Paragraphs>
  <Slides>64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64</vt:i4>
      </vt:variant>
    </vt:vector>
  </HeadingPairs>
  <TitlesOfParts>
    <vt:vector size="72" baseType="lpstr">
      <vt:lpstr>Microsoft JhengHei</vt:lpstr>
      <vt:lpstr>BiauKaiTC Regular</vt:lpstr>
      <vt:lpstr>Arial</vt:lpstr>
      <vt:lpstr>Calibri</vt:lpstr>
      <vt:lpstr>Cambria Math</vt:lpstr>
      <vt:lpstr>Roboto</vt:lpstr>
      <vt:lpstr>Times New Roman</vt:lpstr>
      <vt:lpstr>回顧</vt:lpstr>
      <vt:lpstr>Course Website</vt:lpstr>
      <vt:lpstr>自然語言處理與應用 Natural Language Processing and Applications</vt:lpstr>
      <vt:lpstr>About Me</vt:lpstr>
      <vt:lpstr>Outline</vt:lpstr>
      <vt:lpstr>什麼是自然語言處理（Natural Language Processing, NLP）？</vt:lpstr>
      <vt:lpstr>程式語言 vs. 自然語言</vt:lpstr>
      <vt:lpstr>什麼是自然語言處理？</vt:lpstr>
      <vt:lpstr>The Revolution of ChatGPT</vt:lpstr>
      <vt:lpstr>大型語言模型的演化樹</vt:lpstr>
      <vt:lpstr>Chinese LLMs</vt:lpstr>
      <vt:lpstr>SuperCLUE Leaderboard</vt:lpstr>
      <vt:lpstr>自然語言處理（廣義）屬於一 機器學習領域的任務</vt:lpstr>
      <vt:lpstr>Venn Diagram about AI, ML, and DL</vt:lpstr>
      <vt:lpstr>What is Deep Learning? </vt:lpstr>
      <vt:lpstr>How about DL in Natural Language Processing? </vt:lpstr>
      <vt:lpstr>Why do we need DL in NLP?</vt:lpstr>
      <vt:lpstr>電腦是如何學習自然語言呢？</vt:lpstr>
      <vt:lpstr>影像 vs. 文字</vt:lpstr>
      <vt:lpstr>Word Representations</vt:lpstr>
      <vt:lpstr>詞嵌入：把詞嵌入到向量 (Word2Vec)</vt:lpstr>
      <vt:lpstr>每個字，都是一段向量 – 詞向量</vt:lpstr>
      <vt:lpstr>Word Embeddings 視覺化</vt:lpstr>
      <vt:lpstr>Problems of Traditional Word Embeddings</vt:lpstr>
      <vt:lpstr>The Out-of-vocabulary Problem</vt:lpstr>
      <vt:lpstr>Sub-word Tokenization (Byte Pair Encoding)</vt:lpstr>
      <vt:lpstr>Sub-word Tokenization 的好處</vt:lpstr>
      <vt:lpstr>Problems of Traditional Word Embeddings</vt:lpstr>
      <vt:lpstr>The Pre-training then Fine-tuning Paradigm</vt:lpstr>
      <vt:lpstr>Contextual Word Representations (RNN)</vt:lpstr>
      <vt:lpstr>PowerPoint 簡報</vt:lpstr>
      <vt:lpstr>Model Training: Pre-training and Fine-Tuning</vt:lpstr>
      <vt:lpstr>BERT (Bidirectional Encoder Representations from Transformers)</vt:lpstr>
      <vt:lpstr>Generative Pre-Training (GPT)</vt:lpstr>
      <vt:lpstr>GPT 系列作品（有透露細節的）時間線</vt:lpstr>
      <vt:lpstr>以前的 GPT 有口吃</vt:lpstr>
      <vt:lpstr>The Pre-training then Fine-tuning Paradigm</vt:lpstr>
      <vt:lpstr>RLHF 的進行過程</vt:lpstr>
      <vt:lpstr>Main Differences between BERT and InstructGPT</vt:lpstr>
      <vt:lpstr>NLP Model Sizes (2018 – 2025)</vt:lpstr>
      <vt:lpstr>The Revolution of ChatGPT</vt:lpstr>
      <vt:lpstr>LLM Size Highlights</vt:lpstr>
      <vt:lpstr>很多厲害的LLMs都需要上網且不公開...</vt:lpstr>
      <vt:lpstr>大型語言模型會思考？</vt:lpstr>
      <vt:lpstr>Chain-of-Thought (CoT)</vt:lpstr>
      <vt:lpstr>Training with Reasoning Tasks</vt:lpstr>
      <vt:lpstr>我們這學期要學什麼？</vt:lpstr>
      <vt:lpstr>這門課的目標 🎯</vt:lpstr>
      <vt:lpstr>1. 自然語言處理基本功 (如何表達字詞)</vt:lpstr>
      <vt:lpstr>2. 現代自然語言處理基本功</vt:lpstr>
      <vt:lpstr>進階自然語言處理 (1)</vt:lpstr>
      <vt:lpstr>自然語言處理應用</vt:lpstr>
      <vt:lpstr>Common NLP tasks</vt:lpstr>
      <vt:lpstr>我可以修這門課嗎？</vt:lpstr>
      <vt:lpstr>Syllabus</vt:lpstr>
      <vt:lpstr>PyTorch Tutorial</vt:lpstr>
      <vt:lpstr>Scoring</vt:lpstr>
      <vt:lpstr>About the Quizzes</vt:lpstr>
      <vt:lpstr>About the Assignments</vt:lpstr>
      <vt:lpstr>Final Project 是什麼？</vt:lpstr>
      <vt:lpstr>Textbook</vt:lpstr>
      <vt:lpstr>Reference book</vt:lpstr>
      <vt:lpstr>生成式AI融合教學</vt:lpstr>
      <vt:lpstr>Contact Information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271</cp:revision>
  <dcterms:created xsi:type="dcterms:W3CDTF">2025-02-07T09:05:59Z</dcterms:created>
  <dcterms:modified xsi:type="dcterms:W3CDTF">2026-02-23T04:46:02Z</dcterms:modified>
</cp:coreProperties>
</file>